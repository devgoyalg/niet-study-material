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8"/>
  </p:notesMasterIdLst>
  <p:sldIdLst>
    <p:sldId id="257" r:id="rId5"/>
    <p:sldId id="344" r:id="rId6"/>
    <p:sldId id="258" r:id="rId7"/>
    <p:sldId id="322" r:id="rId8"/>
    <p:sldId id="303" r:id="rId9"/>
    <p:sldId id="260" r:id="rId10"/>
    <p:sldId id="349" r:id="rId11"/>
    <p:sldId id="261" r:id="rId12"/>
    <p:sldId id="345" r:id="rId13"/>
    <p:sldId id="262" r:id="rId14"/>
    <p:sldId id="346" r:id="rId15"/>
    <p:sldId id="321" r:id="rId16"/>
    <p:sldId id="348" r:id="rId17"/>
    <p:sldId id="263" r:id="rId18"/>
    <p:sldId id="264" r:id="rId19"/>
    <p:sldId id="324" r:id="rId20"/>
    <p:sldId id="325" r:id="rId21"/>
    <p:sldId id="265" r:id="rId22"/>
    <p:sldId id="266" r:id="rId23"/>
    <p:sldId id="267" r:id="rId24"/>
    <p:sldId id="304" r:id="rId25"/>
    <p:sldId id="305" r:id="rId26"/>
    <p:sldId id="327" r:id="rId27"/>
    <p:sldId id="328" r:id="rId28"/>
    <p:sldId id="268" r:id="rId29"/>
    <p:sldId id="306" r:id="rId30"/>
    <p:sldId id="330" r:id="rId31"/>
    <p:sldId id="331" r:id="rId32"/>
    <p:sldId id="270" r:id="rId33"/>
    <p:sldId id="307" r:id="rId34"/>
    <p:sldId id="308" r:id="rId35"/>
    <p:sldId id="333" r:id="rId36"/>
    <p:sldId id="334" r:id="rId37"/>
    <p:sldId id="271" r:id="rId38"/>
    <p:sldId id="311" r:id="rId39"/>
    <p:sldId id="309" r:id="rId40"/>
    <p:sldId id="336" r:id="rId41"/>
    <p:sldId id="337" r:id="rId42"/>
    <p:sldId id="272" r:id="rId43"/>
    <p:sldId id="313" r:id="rId44"/>
    <p:sldId id="312" r:id="rId45"/>
    <p:sldId id="339" r:id="rId46"/>
    <p:sldId id="340" r:id="rId47"/>
    <p:sldId id="273" r:id="rId48"/>
    <p:sldId id="314" r:id="rId49"/>
    <p:sldId id="315" r:id="rId50"/>
    <p:sldId id="316" r:id="rId51"/>
    <p:sldId id="317" r:id="rId52"/>
    <p:sldId id="342" r:id="rId53"/>
    <p:sldId id="343" r:id="rId54"/>
    <p:sldId id="276" r:id="rId55"/>
    <p:sldId id="318" r:id="rId56"/>
    <p:sldId id="319" r:id="rId57"/>
    <p:sldId id="350" r:id="rId58"/>
    <p:sldId id="353" r:id="rId59"/>
    <p:sldId id="354" r:id="rId60"/>
    <p:sldId id="356" r:id="rId61"/>
    <p:sldId id="355" r:id="rId62"/>
    <p:sldId id="357" r:id="rId63"/>
    <p:sldId id="358" r:id="rId64"/>
    <p:sldId id="359" r:id="rId65"/>
    <p:sldId id="378" r:id="rId66"/>
    <p:sldId id="379" r:id="rId67"/>
    <p:sldId id="380" r:id="rId68"/>
    <p:sldId id="381" r:id="rId69"/>
    <p:sldId id="382" r:id="rId70"/>
    <p:sldId id="383" r:id="rId71"/>
    <p:sldId id="360" r:id="rId72"/>
    <p:sldId id="361" r:id="rId73"/>
    <p:sldId id="364" r:id="rId74"/>
    <p:sldId id="384" r:id="rId75"/>
    <p:sldId id="385" r:id="rId76"/>
    <p:sldId id="386" r:id="rId77"/>
    <p:sldId id="387" r:id="rId78"/>
    <p:sldId id="388" r:id="rId79"/>
    <p:sldId id="389" r:id="rId80"/>
    <p:sldId id="390" r:id="rId81"/>
    <p:sldId id="391" r:id="rId82"/>
    <p:sldId id="365" r:id="rId83"/>
    <p:sldId id="366" r:id="rId84"/>
    <p:sldId id="367" r:id="rId85"/>
    <p:sldId id="368" r:id="rId86"/>
    <p:sldId id="369" r:id="rId87"/>
    <p:sldId id="370" r:id="rId88"/>
    <p:sldId id="371" r:id="rId89"/>
    <p:sldId id="372" r:id="rId90"/>
    <p:sldId id="373" r:id="rId91"/>
    <p:sldId id="374" r:id="rId92"/>
    <p:sldId id="375" r:id="rId93"/>
    <p:sldId id="376" r:id="rId94"/>
    <p:sldId id="377" r:id="rId95"/>
    <p:sldId id="392" r:id="rId96"/>
    <p:sldId id="393" r:id="rId97"/>
    <p:sldId id="396" r:id="rId98"/>
    <p:sldId id="397" r:id="rId99"/>
    <p:sldId id="398" r:id="rId100"/>
    <p:sldId id="400" r:id="rId101"/>
    <p:sldId id="401" r:id="rId102"/>
    <p:sldId id="402" r:id="rId103"/>
    <p:sldId id="403" r:id="rId104"/>
    <p:sldId id="404" r:id="rId105"/>
    <p:sldId id="399" r:id="rId106"/>
    <p:sldId id="405" r:id="rId107"/>
    <p:sldId id="286" r:id="rId108"/>
    <p:sldId id="288" r:id="rId109"/>
    <p:sldId id="289" r:id="rId110"/>
    <p:sldId id="290" r:id="rId111"/>
    <p:sldId id="291" r:id="rId112"/>
    <p:sldId id="292" r:id="rId113"/>
    <p:sldId id="293" r:id="rId114"/>
    <p:sldId id="320" r:id="rId115"/>
    <p:sldId id="406" r:id="rId116"/>
    <p:sldId id="407" r:id="rId117"/>
    <p:sldId id="408" r:id="rId118"/>
    <p:sldId id="409" r:id="rId119"/>
    <p:sldId id="410" r:id="rId120"/>
    <p:sldId id="411" r:id="rId121"/>
    <p:sldId id="412" r:id="rId122"/>
    <p:sldId id="297" r:id="rId123"/>
    <p:sldId id="299" r:id="rId124"/>
    <p:sldId id="300" r:id="rId125"/>
    <p:sldId id="347" r:id="rId126"/>
    <p:sldId id="302" r:id="rId1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E7BE5C-51CB-48D7-B04E-23F60CC9E304}" v="4" dt="2024-01-08T02:50:34.3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4660"/>
  </p:normalViewPr>
  <p:slideViewPr>
    <p:cSldViewPr>
      <p:cViewPr varScale="1">
        <p:scale>
          <a:sx n="78" d="100"/>
          <a:sy n="78" d="100"/>
        </p:scale>
        <p:origin x="2035"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microsoft.com/office/2015/10/relationships/revisionInfo" Target="revisionInfo.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presProps" Target="pres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viewProps" Target="view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tableStyles" Target="tableStyle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NEETA SINGH" userId="ba487e41d220043c" providerId="LiveId" clId="{F2E2D8C3-5C22-4FAE-80AD-39A918A2DF4B}"/>
    <pc:docChg chg="undo custSel modSld">
      <pc:chgData name="MADNEETA SINGH" userId="ba487e41d220043c" providerId="LiveId" clId="{F2E2D8C3-5C22-4FAE-80AD-39A918A2DF4B}" dt="2022-12-27T09:46:07.788" v="187" actId="20577"/>
      <pc:docMkLst>
        <pc:docMk/>
      </pc:docMkLst>
      <pc:sldChg chg="addSp delSp modSp mod">
        <pc:chgData name="MADNEETA SINGH" userId="ba487e41d220043c" providerId="LiveId" clId="{F2E2D8C3-5C22-4FAE-80AD-39A918A2DF4B}" dt="2022-12-27T09:46:07.788" v="187" actId="20577"/>
        <pc:sldMkLst>
          <pc:docMk/>
          <pc:sldMk cId="0" sldId="257"/>
        </pc:sldMkLst>
        <pc:spChg chg="mod">
          <ac:chgData name="MADNEETA SINGH" userId="ba487e41d220043c" providerId="LiveId" clId="{F2E2D8C3-5C22-4FAE-80AD-39A918A2DF4B}" dt="2022-12-27T09:45:45.572" v="182" actId="20577"/>
          <ac:spMkLst>
            <pc:docMk/>
            <pc:sldMk cId="0" sldId="257"/>
            <ac:spMk id="2" creationId="{00000000-0000-0000-0000-000000000000}"/>
          </ac:spMkLst>
        </pc:spChg>
        <pc:spChg chg="mod">
          <ac:chgData name="MADNEETA SINGH" userId="ba487e41d220043c" providerId="LiveId" clId="{F2E2D8C3-5C22-4FAE-80AD-39A918A2DF4B}" dt="2022-12-23T17:20:56.501" v="28" actId="255"/>
          <ac:spMkLst>
            <pc:docMk/>
            <pc:sldMk cId="0" sldId="257"/>
            <ac:spMk id="3" creationId="{00000000-0000-0000-0000-000000000000}"/>
          </ac:spMkLst>
        </pc:spChg>
        <pc:spChg chg="mod">
          <ac:chgData name="MADNEETA SINGH" userId="ba487e41d220043c" providerId="LiveId" clId="{F2E2D8C3-5C22-4FAE-80AD-39A918A2DF4B}" dt="2022-12-23T17:19:07.570" v="20" actId="20577"/>
          <ac:spMkLst>
            <pc:docMk/>
            <pc:sldMk cId="0" sldId="257"/>
            <ac:spMk id="6" creationId="{00000000-0000-0000-0000-000000000000}"/>
          </ac:spMkLst>
        </pc:spChg>
        <pc:spChg chg="mod">
          <ac:chgData name="MADNEETA SINGH" userId="ba487e41d220043c" providerId="LiveId" clId="{F2E2D8C3-5C22-4FAE-80AD-39A918A2DF4B}" dt="2022-12-27T09:46:07.788" v="187" actId="20577"/>
          <ac:spMkLst>
            <pc:docMk/>
            <pc:sldMk cId="0" sldId="257"/>
            <ac:spMk id="15" creationId="{00000000-0000-0000-0000-000000000000}"/>
          </ac:spMkLst>
        </pc:spChg>
        <pc:picChg chg="add mod">
          <ac:chgData name="MADNEETA SINGH" userId="ba487e41d220043c" providerId="LiveId" clId="{F2E2D8C3-5C22-4FAE-80AD-39A918A2DF4B}" dt="2022-12-23T17:19:47.645" v="27" actId="1076"/>
          <ac:picMkLst>
            <pc:docMk/>
            <pc:sldMk cId="0" sldId="257"/>
            <ac:picMk id="5" creationId="{0BF84919-F956-7CB1-CC31-C2474638BC1B}"/>
          </ac:picMkLst>
        </pc:picChg>
        <pc:picChg chg="del">
          <ac:chgData name="MADNEETA SINGH" userId="ba487e41d220043c" providerId="LiveId" clId="{F2E2D8C3-5C22-4FAE-80AD-39A918A2DF4B}" dt="2022-12-23T17:19:35.863" v="23" actId="478"/>
          <ac:picMkLst>
            <pc:docMk/>
            <pc:sldMk cId="0" sldId="257"/>
            <ac:picMk id="16" creationId="{930D611E-C963-4D65-9CBC-7E3B5BC747B9}"/>
          </ac:picMkLst>
        </pc:picChg>
      </pc:sldChg>
      <pc:sldChg chg="modSp mod">
        <pc:chgData name="MADNEETA SINGH" userId="ba487e41d220043c" providerId="LiveId" clId="{F2E2D8C3-5C22-4FAE-80AD-39A918A2DF4B}" dt="2022-12-23T17:24:53.478" v="67" actId="20577"/>
        <pc:sldMkLst>
          <pc:docMk/>
          <pc:sldMk cId="4192245201" sldId="263"/>
        </pc:sldMkLst>
        <pc:spChg chg="mod">
          <ac:chgData name="MADNEETA SINGH" userId="ba487e41d220043c" providerId="LiveId" clId="{F2E2D8C3-5C22-4FAE-80AD-39A918A2DF4B}" dt="2022-12-23T17:24:53.478" v="67" actId="20577"/>
          <ac:spMkLst>
            <pc:docMk/>
            <pc:sldMk cId="4192245201" sldId="263"/>
            <ac:spMk id="3" creationId="{00000000-0000-0000-0000-000000000000}"/>
          </ac:spMkLst>
        </pc:spChg>
      </pc:sldChg>
      <pc:sldChg chg="modSp mod">
        <pc:chgData name="MADNEETA SINGH" userId="ba487e41d220043c" providerId="LiveId" clId="{F2E2D8C3-5C22-4FAE-80AD-39A918A2DF4B}" dt="2022-12-23T17:25:01.388" v="68" actId="20577"/>
        <pc:sldMkLst>
          <pc:docMk/>
          <pc:sldMk cId="3919311891" sldId="264"/>
        </pc:sldMkLst>
        <pc:spChg chg="mod">
          <ac:chgData name="MADNEETA SINGH" userId="ba487e41d220043c" providerId="LiveId" clId="{F2E2D8C3-5C22-4FAE-80AD-39A918A2DF4B}" dt="2022-12-23T17:25:01.388" v="68" actId="20577"/>
          <ac:spMkLst>
            <pc:docMk/>
            <pc:sldMk cId="3919311891" sldId="264"/>
            <ac:spMk id="3" creationId="{00000000-0000-0000-0000-000000000000}"/>
          </ac:spMkLst>
        </pc:spChg>
      </pc:sldChg>
      <pc:sldChg chg="modSp mod">
        <pc:chgData name="MADNEETA SINGH" userId="ba487e41d220043c" providerId="LiveId" clId="{F2E2D8C3-5C22-4FAE-80AD-39A918A2DF4B}" dt="2022-12-24T10:26:16.264" v="179" actId="20577"/>
        <pc:sldMkLst>
          <pc:docMk/>
          <pc:sldMk cId="3919311891" sldId="289"/>
        </pc:sldMkLst>
        <pc:spChg chg="mod">
          <ac:chgData name="MADNEETA SINGH" userId="ba487e41d220043c" providerId="LiveId" clId="{F2E2D8C3-5C22-4FAE-80AD-39A918A2DF4B}" dt="2022-12-24T10:26:16.264" v="179" actId="20577"/>
          <ac:spMkLst>
            <pc:docMk/>
            <pc:sldMk cId="3919311891" sldId="289"/>
            <ac:spMk id="3" creationId="{00000000-0000-0000-0000-000000000000}"/>
          </ac:spMkLst>
        </pc:spChg>
      </pc:sldChg>
      <pc:sldChg chg="modSp mod">
        <pc:chgData name="MADNEETA SINGH" userId="ba487e41d220043c" providerId="LiveId" clId="{F2E2D8C3-5C22-4FAE-80AD-39A918A2DF4B}" dt="2022-12-23T17:27:52.098" v="99" actId="20577"/>
        <pc:sldMkLst>
          <pc:docMk/>
          <pc:sldMk cId="3919311891" sldId="290"/>
        </pc:sldMkLst>
        <pc:spChg chg="mod">
          <ac:chgData name="MADNEETA SINGH" userId="ba487e41d220043c" providerId="LiveId" clId="{F2E2D8C3-5C22-4FAE-80AD-39A918A2DF4B}" dt="2022-12-23T17:27:52.098" v="99" actId="20577"/>
          <ac:spMkLst>
            <pc:docMk/>
            <pc:sldMk cId="3919311891" sldId="290"/>
            <ac:spMk id="3" creationId="{00000000-0000-0000-0000-000000000000}"/>
          </ac:spMkLst>
        </pc:spChg>
      </pc:sldChg>
      <pc:sldChg chg="modSp mod">
        <pc:chgData name="MADNEETA SINGH" userId="ba487e41d220043c" providerId="LiveId" clId="{F2E2D8C3-5C22-4FAE-80AD-39A918A2DF4B}" dt="2022-12-23T17:28:58.628" v="153" actId="20577"/>
        <pc:sldMkLst>
          <pc:docMk/>
          <pc:sldMk cId="3919311891" sldId="291"/>
        </pc:sldMkLst>
        <pc:spChg chg="mod">
          <ac:chgData name="MADNEETA SINGH" userId="ba487e41d220043c" providerId="LiveId" clId="{F2E2D8C3-5C22-4FAE-80AD-39A918A2DF4B}" dt="2022-12-23T17:28:58.628" v="153" actId="20577"/>
          <ac:spMkLst>
            <pc:docMk/>
            <pc:sldMk cId="3919311891" sldId="291"/>
            <ac:spMk id="3" creationId="{00000000-0000-0000-0000-000000000000}"/>
          </ac:spMkLst>
        </pc:spChg>
      </pc:sldChg>
      <pc:sldChg chg="modSp mod">
        <pc:chgData name="MADNEETA SINGH" userId="ba487e41d220043c" providerId="LiveId" clId="{F2E2D8C3-5C22-4FAE-80AD-39A918A2DF4B}" dt="2022-12-23T17:28:14.528" v="119" actId="20577"/>
        <pc:sldMkLst>
          <pc:docMk/>
          <pc:sldMk cId="3919311891" sldId="292"/>
        </pc:sldMkLst>
        <pc:spChg chg="mod">
          <ac:chgData name="MADNEETA SINGH" userId="ba487e41d220043c" providerId="LiveId" clId="{F2E2D8C3-5C22-4FAE-80AD-39A918A2DF4B}" dt="2022-12-23T17:28:14.528" v="119" actId="20577"/>
          <ac:spMkLst>
            <pc:docMk/>
            <pc:sldMk cId="3919311891" sldId="292"/>
            <ac:spMk id="3" creationId="{00000000-0000-0000-0000-000000000000}"/>
          </ac:spMkLst>
        </pc:spChg>
      </pc:sldChg>
      <pc:sldChg chg="modSp mod">
        <pc:chgData name="MADNEETA SINGH" userId="ba487e41d220043c" providerId="LiveId" clId="{F2E2D8C3-5C22-4FAE-80AD-39A918A2DF4B}" dt="2022-12-23T17:28:43.321" v="141" actId="113"/>
        <pc:sldMkLst>
          <pc:docMk/>
          <pc:sldMk cId="3919311891" sldId="293"/>
        </pc:sldMkLst>
        <pc:spChg chg="mod">
          <ac:chgData name="MADNEETA SINGH" userId="ba487e41d220043c" providerId="LiveId" clId="{F2E2D8C3-5C22-4FAE-80AD-39A918A2DF4B}" dt="2022-12-23T17:28:43.321" v="141" actId="113"/>
          <ac:spMkLst>
            <pc:docMk/>
            <pc:sldMk cId="3919311891" sldId="293"/>
            <ac:spMk id="3" creationId="{00000000-0000-0000-0000-000000000000}"/>
          </ac:spMkLst>
        </pc:spChg>
      </pc:sldChg>
      <pc:sldChg chg="modSp mod">
        <pc:chgData name="MADNEETA SINGH" userId="ba487e41d220043c" providerId="LiveId" clId="{F2E2D8C3-5C22-4FAE-80AD-39A918A2DF4B}" dt="2022-12-24T10:26:33.475" v="180" actId="20577"/>
        <pc:sldMkLst>
          <pc:docMk/>
          <pc:sldMk cId="3919311891" sldId="300"/>
        </pc:sldMkLst>
        <pc:spChg chg="mod">
          <ac:chgData name="MADNEETA SINGH" userId="ba487e41d220043c" providerId="LiveId" clId="{F2E2D8C3-5C22-4FAE-80AD-39A918A2DF4B}" dt="2022-12-24T10:26:33.475" v="180" actId="20577"/>
          <ac:spMkLst>
            <pc:docMk/>
            <pc:sldMk cId="3919311891" sldId="300"/>
            <ac:spMk id="3" creationId="{00000000-0000-0000-0000-000000000000}"/>
          </ac:spMkLst>
        </pc:spChg>
      </pc:sldChg>
      <pc:sldChg chg="modSp mod">
        <pc:chgData name="MADNEETA SINGH" userId="ba487e41d220043c" providerId="LiveId" clId="{F2E2D8C3-5C22-4FAE-80AD-39A918A2DF4B}" dt="2022-12-23T17:29:16.579" v="159" actId="20577"/>
        <pc:sldMkLst>
          <pc:docMk/>
          <pc:sldMk cId="3919311891" sldId="320"/>
        </pc:sldMkLst>
        <pc:spChg chg="mod">
          <ac:chgData name="MADNEETA SINGH" userId="ba487e41d220043c" providerId="LiveId" clId="{F2E2D8C3-5C22-4FAE-80AD-39A918A2DF4B}" dt="2022-12-23T17:29:16.579" v="159" actId="20577"/>
          <ac:spMkLst>
            <pc:docMk/>
            <pc:sldMk cId="3919311891" sldId="320"/>
            <ac:spMk id="3" creationId="{00000000-0000-0000-0000-000000000000}"/>
          </ac:spMkLst>
        </pc:spChg>
      </pc:sldChg>
      <pc:sldChg chg="modSp mod">
        <pc:chgData name="MADNEETA SINGH" userId="ba487e41d220043c" providerId="LiveId" clId="{F2E2D8C3-5C22-4FAE-80AD-39A918A2DF4B}" dt="2022-12-23T17:25:43.868" v="73" actId="20577"/>
        <pc:sldMkLst>
          <pc:docMk/>
          <pc:sldMk cId="3919311891" sldId="325"/>
        </pc:sldMkLst>
        <pc:spChg chg="mod">
          <ac:chgData name="MADNEETA SINGH" userId="ba487e41d220043c" providerId="LiveId" clId="{F2E2D8C3-5C22-4FAE-80AD-39A918A2DF4B}" dt="2022-12-23T17:25:43.868" v="73" actId="20577"/>
          <ac:spMkLst>
            <pc:docMk/>
            <pc:sldMk cId="3919311891" sldId="325"/>
            <ac:spMk id="7" creationId="{00000000-0000-0000-0000-000000000000}"/>
          </ac:spMkLst>
        </pc:spChg>
        <pc:spChg chg="mod">
          <ac:chgData name="MADNEETA SINGH" userId="ba487e41d220043c" providerId="LiveId" clId="{F2E2D8C3-5C22-4FAE-80AD-39A918A2DF4B}" dt="2022-12-23T17:25:15.742" v="71" actId="1076"/>
          <ac:spMkLst>
            <pc:docMk/>
            <pc:sldMk cId="3919311891" sldId="325"/>
            <ac:spMk id="10" creationId="{00000000-0000-0000-0000-000000000000}"/>
          </ac:spMkLst>
        </pc:spChg>
      </pc:sldChg>
      <pc:sldChg chg="modSp mod">
        <pc:chgData name="MADNEETA SINGH" userId="ba487e41d220043c" providerId="LiveId" clId="{F2E2D8C3-5C22-4FAE-80AD-39A918A2DF4B}" dt="2022-12-23T17:25:56.512" v="75" actId="20577"/>
        <pc:sldMkLst>
          <pc:docMk/>
          <pc:sldMk cId="3919311891" sldId="328"/>
        </pc:sldMkLst>
        <pc:spChg chg="mod">
          <ac:chgData name="MADNEETA SINGH" userId="ba487e41d220043c" providerId="LiveId" clId="{F2E2D8C3-5C22-4FAE-80AD-39A918A2DF4B}" dt="2022-12-23T17:25:56.512" v="75" actId="20577"/>
          <ac:spMkLst>
            <pc:docMk/>
            <pc:sldMk cId="3919311891" sldId="328"/>
            <ac:spMk id="7" creationId="{00000000-0000-0000-0000-000000000000}"/>
          </ac:spMkLst>
        </pc:spChg>
      </pc:sldChg>
      <pc:sldChg chg="modSp mod">
        <pc:chgData name="MADNEETA SINGH" userId="ba487e41d220043c" providerId="LiveId" clId="{F2E2D8C3-5C22-4FAE-80AD-39A918A2DF4B}" dt="2022-12-23T17:26:14.078" v="80" actId="20577"/>
        <pc:sldMkLst>
          <pc:docMk/>
          <pc:sldMk cId="3919311891" sldId="331"/>
        </pc:sldMkLst>
        <pc:spChg chg="mod">
          <ac:chgData name="MADNEETA SINGH" userId="ba487e41d220043c" providerId="LiveId" clId="{F2E2D8C3-5C22-4FAE-80AD-39A918A2DF4B}" dt="2022-12-23T17:26:14.078" v="80" actId="20577"/>
          <ac:spMkLst>
            <pc:docMk/>
            <pc:sldMk cId="3919311891" sldId="331"/>
            <ac:spMk id="7" creationId="{00000000-0000-0000-0000-000000000000}"/>
          </ac:spMkLst>
        </pc:spChg>
        <pc:spChg chg="mod">
          <ac:chgData name="MADNEETA SINGH" userId="ba487e41d220043c" providerId="LiveId" clId="{F2E2D8C3-5C22-4FAE-80AD-39A918A2DF4B}" dt="2022-12-23T17:26:10.168" v="76" actId="1076"/>
          <ac:spMkLst>
            <pc:docMk/>
            <pc:sldMk cId="3919311891" sldId="331"/>
            <ac:spMk id="10" creationId="{00000000-0000-0000-0000-000000000000}"/>
          </ac:spMkLst>
        </pc:spChg>
      </pc:sldChg>
      <pc:sldChg chg="modSp mod">
        <pc:chgData name="MADNEETA SINGH" userId="ba487e41d220043c" providerId="LiveId" clId="{F2E2D8C3-5C22-4FAE-80AD-39A918A2DF4B}" dt="2022-12-23T17:26:31.048" v="82" actId="20577"/>
        <pc:sldMkLst>
          <pc:docMk/>
          <pc:sldMk cId="3919311891" sldId="334"/>
        </pc:sldMkLst>
        <pc:spChg chg="mod">
          <ac:chgData name="MADNEETA SINGH" userId="ba487e41d220043c" providerId="LiveId" clId="{F2E2D8C3-5C22-4FAE-80AD-39A918A2DF4B}" dt="2022-12-23T17:26:31.048" v="82" actId="20577"/>
          <ac:spMkLst>
            <pc:docMk/>
            <pc:sldMk cId="3919311891" sldId="334"/>
            <ac:spMk id="7" creationId="{00000000-0000-0000-0000-000000000000}"/>
          </ac:spMkLst>
        </pc:spChg>
      </pc:sldChg>
      <pc:sldChg chg="modSp mod">
        <pc:chgData name="MADNEETA SINGH" userId="ba487e41d220043c" providerId="LiveId" clId="{F2E2D8C3-5C22-4FAE-80AD-39A918A2DF4B}" dt="2022-12-23T17:26:45.718" v="84" actId="20577"/>
        <pc:sldMkLst>
          <pc:docMk/>
          <pc:sldMk cId="3919311891" sldId="337"/>
        </pc:sldMkLst>
        <pc:spChg chg="mod">
          <ac:chgData name="MADNEETA SINGH" userId="ba487e41d220043c" providerId="LiveId" clId="{F2E2D8C3-5C22-4FAE-80AD-39A918A2DF4B}" dt="2022-12-23T17:26:45.718" v="84" actId="20577"/>
          <ac:spMkLst>
            <pc:docMk/>
            <pc:sldMk cId="3919311891" sldId="337"/>
            <ac:spMk id="7" creationId="{00000000-0000-0000-0000-000000000000}"/>
          </ac:spMkLst>
        </pc:spChg>
      </pc:sldChg>
      <pc:sldChg chg="modSp mod">
        <pc:chgData name="MADNEETA SINGH" userId="ba487e41d220043c" providerId="LiveId" clId="{F2E2D8C3-5C22-4FAE-80AD-39A918A2DF4B}" dt="2022-12-23T17:26:56.478" v="86" actId="20577"/>
        <pc:sldMkLst>
          <pc:docMk/>
          <pc:sldMk cId="3919311891" sldId="340"/>
        </pc:sldMkLst>
        <pc:spChg chg="mod">
          <ac:chgData name="MADNEETA SINGH" userId="ba487e41d220043c" providerId="LiveId" clId="{F2E2D8C3-5C22-4FAE-80AD-39A918A2DF4B}" dt="2022-12-23T17:26:56.478" v="86" actId="20577"/>
          <ac:spMkLst>
            <pc:docMk/>
            <pc:sldMk cId="3919311891" sldId="340"/>
            <ac:spMk id="7" creationId="{00000000-0000-0000-0000-000000000000}"/>
          </ac:spMkLst>
        </pc:spChg>
      </pc:sldChg>
      <pc:sldChg chg="modSp mod">
        <pc:chgData name="MADNEETA SINGH" userId="ba487e41d220043c" providerId="LiveId" clId="{F2E2D8C3-5C22-4FAE-80AD-39A918A2DF4B}" dt="2022-12-23T17:27:09.611" v="88" actId="20577"/>
        <pc:sldMkLst>
          <pc:docMk/>
          <pc:sldMk cId="3919311891" sldId="343"/>
        </pc:sldMkLst>
        <pc:spChg chg="mod">
          <ac:chgData name="MADNEETA SINGH" userId="ba487e41d220043c" providerId="LiveId" clId="{F2E2D8C3-5C22-4FAE-80AD-39A918A2DF4B}" dt="2022-12-23T17:27:09.611" v="88" actId="20577"/>
          <ac:spMkLst>
            <pc:docMk/>
            <pc:sldMk cId="3919311891" sldId="343"/>
            <ac:spMk id="7" creationId="{00000000-0000-0000-0000-000000000000}"/>
          </ac:spMkLst>
        </pc:spChg>
      </pc:sldChg>
      <pc:sldChg chg="modSp mod">
        <pc:chgData name="MADNEETA SINGH" userId="ba487e41d220043c" providerId="LiveId" clId="{F2E2D8C3-5C22-4FAE-80AD-39A918A2DF4B}" dt="2022-12-23T17:21:56.100" v="29" actId="20577"/>
        <pc:sldMkLst>
          <pc:docMk/>
          <pc:sldMk cId="2790813631" sldId="345"/>
        </pc:sldMkLst>
        <pc:spChg chg="mod">
          <ac:chgData name="MADNEETA SINGH" userId="ba487e41d220043c" providerId="LiveId" clId="{F2E2D8C3-5C22-4FAE-80AD-39A918A2DF4B}" dt="2022-12-23T17:21:56.100" v="29" actId="20577"/>
          <ac:spMkLst>
            <pc:docMk/>
            <pc:sldMk cId="2790813631" sldId="345"/>
            <ac:spMk id="5122" creationId="{5B1A7B65-C597-49B6-A05A-EDB96458B673}"/>
          </ac:spMkLst>
        </pc:spChg>
      </pc:sldChg>
      <pc:sldChg chg="modSp mod">
        <pc:chgData name="MADNEETA SINGH" userId="ba487e41d220043c" providerId="LiveId" clId="{F2E2D8C3-5C22-4FAE-80AD-39A918A2DF4B}" dt="2022-12-23T17:22:27.384" v="33" actId="255"/>
        <pc:sldMkLst>
          <pc:docMk/>
          <pc:sldMk cId="2966671984" sldId="346"/>
        </pc:sldMkLst>
        <pc:spChg chg="mod">
          <ac:chgData name="MADNEETA SINGH" userId="ba487e41d220043c" providerId="LiveId" clId="{F2E2D8C3-5C22-4FAE-80AD-39A918A2DF4B}" dt="2022-12-23T17:22:27.384" v="33" actId="255"/>
          <ac:spMkLst>
            <pc:docMk/>
            <pc:sldMk cId="2966671984" sldId="346"/>
            <ac:spMk id="11" creationId="{726A2084-274C-41B1-8454-558D0521AB91}"/>
          </ac:spMkLst>
        </pc:spChg>
      </pc:sldChg>
      <pc:sldChg chg="modSp mod">
        <pc:chgData name="MADNEETA SINGH" userId="ba487e41d220043c" providerId="LiveId" clId="{F2E2D8C3-5C22-4FAE-80AD-39A918A2DF4B}" dt="2022-12-24T10:24:16.875" v="161" actId="2711"/>
        <pc:sldMkLst>
          <pc:docMk/>
          <pc:sldMk cId="3085087493" sldId="348"/>
        </pc:sldMkLst>
        <pc:spChg chg="mod">
          <ac:chgData name="MADNEETA SINGH" userId="ba487e41d220043c" providerId="LiveId" clId="{F2E2D8C3-5C22-4FAE-80AD-39A918A2DF4B}" dt="2022-12-24T10:24:16.875" v="161" actId="2711"/>
          <ac:spMkLst>
            <pc:docMk/>
            <pc:sldMk cId="3085087493" sldId="348"/>
            <ac:spMk id="3" creationId="{00000000-0000-0000-0000-000000000000}"/>
          </ac:spMkLst>
        </pc:spChg>
        <pc:spChg chg="mod">
          <ac:chgData name="MADNEETA SINGH" userId="ba487e41d220043c" providerId="LiveId" clId="{F2E2D8C3-5C22-4FAE-80AD-39A918A2DF4B}" dt="2022-12-24T10:24:16.875" v="161" actId="2711"/>
          <ac:spMkLst>
            <pc:docMk/>
            <pc:sldMk cId="3085087493" sldId="348"/>
            <ac:spMk id="4" creationId="{2708BBE5-2643-4F5D-9408-C65C8A01CF17}"/>
          </ac:spMkLst>
        </pc:spChg>
        <pc:spChg chg="mod">
          <ac:chgData name="MADNEETA SINGH" userId="ba487e41d220043c" providerId="LiveId" clId="{F2E2D8C3-5C22-4FAE-80AD-39A918A2DF4B}" dt="2022-12-24T10:24:16.875" v="161" actId="2711"/>
          <ac:spMkLst>
            <pc:docMk/>
            <pc:sldMk cId="3085087493" sldId="348"/>
            <ac:spMk id="6" creationId="{D6BB4067-E2E4-4311-8E0F-C9B41D37465E}"/>
          </ac:spMkLst>
        </pc:spChg>
        <pc:spChg chg="mod">
          <ac:chgData name="MADNEETA SINGH" userId="ba487e41d220043c" providerId="LiveId" clId="{F2E2D8C3-5C22-4FAE-80AD-39A918A2DF4B}" dt="2022-12-24T10:24:16.875" v="161" actId="2711"/>
          <ac:spMkLst>
            <pc:docMk/>
            <pc:sldMk cId="3085087493" sldId="348"/>
            <ac:spMk id="7" creationId="{EE8848A3-4949-45B2-8CCF-B3ECA21DE740}"/>
          </ac:spMkLst>
        </pc:spChg>
        <pc:spChg chg="mod">
          <ac:chgData name="MADNEETA SINGH" userId="ba487e41d220043c" providerId="LiveId" clId="{F2E2D8C3-5C22-4FAE-80AD-39A918A2DF4B}" dt="2022-12-24T10:24:16.875" v="161" actId="2711"/>
          <ac:spMkLst>
            <pc:docMk/>
            <pc:sldMk cId="3085087493" sldId="348"/>
            <ac:spMk id="8" creationId="{6FA00553-970E-4494-8393-F217E60B36B8}"/>
          </ac:spMkLst>
        </pc:spChg>
        <pc:spChg chg="mod">
          <ac:chgData name="MADNEETA SINGH" userId="ba487e41d220043c" providerId="LiveId" clId="{F2E2D8C3-5C22-4FAE-80AD-39A918A2DF4B}" dt="2022-12-24T10:24:16.875" v="161" actId="2711"/>
          <ac:spMkLst>
            <pc:docMk/>
            <pc:sldMk cId="3085087493" sldId="348"/>
            <ac:spMk id="5122" creationId="{5B1A7B65-C597-49B6-A05A-EDB96458B673}"/>
          </ac:spMkLst>
        </pc:spChg>
        <pc:picChg chg="mod">
          <ac:chgData name="MADNEETA SINGH" userId="ba487e41d220043c" providerId="LiveId" clId="{F2E2D8C3-5C22-4FAE-80AD-39A918A2DF4B}" dt="2022-12-24T10:24:16.875" v="161" actId="2711"/>
          <ac:picMkLst>
            <pc:docMk/>
            <pc:sldMk cId="3085087493" sldId="348"/>
            <ac:picMk id="9" creationId="{DF246A64-8781-491F-87B5-A9819E4B7880}"/>
          </ac:picMkLst>
        </pc:picChg>
        <pc:picChg chg="mod">
          <ac:chgData name="MADNEETA SINGH" userId="ba487e41d220043c" providerId="LiveId" clId="{F2E2D8C3-5C22-4FAE-80AD-39A918A2DF4B}" dt="2022-12-24T10:24:16.875" v="161" actId="2711"/>
          <ac:picMkLst>
            <pc:docMk/>
            <pc:sldMk cId="3085087493" sldId="348"/>
            <ac:picMk id="5126" creationId="{346322A1-7256-40E3-AFE2-4816C2A9946E}"/>
          </ac:picMkLst>
        </pc:picChg>
      </pc:sldChg>
      <pc:sldChg chg="modSp mod">
        <pc:chgData name="MADNEETA SINGH" userId="ba487e41d220043c" providerId="LiveId" clId="{F2E2D8C3-5C22-4FAE-80AD-39A918A2DF4B}" dt="2022-12-24T10:24:07.213" v="160" actId="2711"/>
        <pc:sldMkLst>
          <pc:docMk/>
          <pc:sldMk cId="1673301265" sldId="349"/>
        </pc:sldMkLst>
        <pc:spChg chg="mod">
          <ac:chgData name="MADNEETA SINGH" userId="ba487e41d220043c" providerId="LiveId" clId="{F2E2D8C3-5C22-4FAE-80AD-39A918A2DF4B}" dt="2022-12-24T10:24:07.213" v="160" actId="2711"/>
          <ac:spMkLst>
            <pc:docMk/>
            <pc:sldMk cId="1673301265" sldId="349"/>
            <ac:spMk id="2" creationId="{00000000-0000-0000-0000-000000000000}"/>
          </ac:spMkLst>
        </pc:spChg>
        <pc:spChg chg="mod">
          <ac:chgData name="MADNEETA SINGH" userId="ba487e41d220043c" providerId="LiveId" clId="{F2E2D8C3-5C22-4FAE-80AD-39A918A2DF4B}" dt="2022-12-24T10:24:07.213" v="160" actId="2711"/>
          <ac:spMkLst>
            <pc:docMk/>
            <pc:sldMk cId="1673301265" sldId="349"/>
            <ac:spMk id="4" creationId="{00000000-0000-0000-0000-000000000000}"/>
          </ac:spMkLst>
        </pc:spChg>
        <pc:spChg chg="mod">
          <ac:chgData name="MADNEETA SINGH" userId="ba487e41d220043c" providerId="LiveId" clId="{F2E2D8C3-5C22-4FAE-80AD-39A918A2DF4B}" dt="2022-12-24T10:24:07.213" v="160" actId="2711"/>
          <ac:spMkLst>
            <pc:docMk/>
            <pc:sldMk cId="1673301265" sldId="349"/>
            <ac:spMk id="5" creationId="{00000000-0000-0000-0000-000000000000}"/>
          </ac:spMkLst>
        </pc:spChg>
        <pc:spChg chg="mod">
          <ac:chgData name="MADNEETA SINGH" userId="ba487e41d220043c" providerId="LiveId" clId="{F2E2D8C3-5C22-4FAE-80AD-39A918A2DF4B}" dt="2022-12-24T10:24:07.213" v="160" actId="2711"/>
          <ac:spMkLst>
            <pc:docMk/>
            <pc:sldMk cId="1673301265" sldId="349"/>
            <ac:spMk id="6" creationId="{00000000-0000-0000-0000-000000000000}"/>
          </ac:spMkLst>
        </pc:spChg>
        <pc:spChg chg="mod">
          <ac:chgData name="MADNEETA SINGH" userId="ba487e41d220043c" providerId="LiveId" clId="{F2E2D8C3-5C22-4FAE-80AD-39A918A2DF4B}" dt="2022-12-24T10:24:07.213" v="160" actId="2711"/>
          <ac:spMkLst>
            <pc:docMk/>
            <pc:sldMk cId="1673301265" sldId="349"/>
            <ac:spMk id="7" creationId="{00000000-0000-0000-0000-000000000000}"/>
          </ac:spMkLst>
        </pc:spChg>
        <pc:spChg chg="mod">
          <ac:chgData name="MADNEETA SINGH" userId="ba487e41d220043c" providerId="LiveId" clId="{F2E2D8C3-5C22-4FAE-80AD-39A918A2DF4B}" dt="2022-12-24T10:24:07.213" v="160" actId="2711"/>
          <ac:spMkLst>
            <pc:docMk/>
            <pc:sldMk cId="1673301265" sldId="349"/>
            <ac:spMk id="8" creationId="{00000000-0000-0000-0000-000000000000}"/>
          </ac:spMkLst>
        </pc:spChg>
        <pc:spChg chg="mod">
          <ac:chgData name="MADNEETA SINGH" userId="ba487e41d220043c" providerId="LiveId" clId="{F2E2D8C3-5C22-4FAE-80AD-39A918A2DF4B}" dt="2022-12-24T10:24:07.213" v="160" actId="2711"/>
          <ac:spMkLst>
            <pc:docMk/>
            <pc:sldMk cId="1673301265" sldId="349"/>
            <ac:spMk id="9" creationId="{00000000-0000-0000-0000-000000000000}"/>
          </ac:spMkLst>
        </pc:spChg>
        <pc:spChg chg="mod">
          <ac:chgData name="MADNEETA SINGH" userId="ba487e41d220043c" providerId="LiveId" clId="{F2E2D8C3-5C22-4FAE-80AD-39A918A2DF4B}" dt="2022-12-24T10:24:07.213" v="160" actId="2711"/>
          <ac:spMkLst>
            <pc:docMk/>
            <pc:sldMk cId="1673301265" sldId="349"/>
            <ac:spMk id="10" creationId="{00000000-0000-0000-0000-000000000000}"/>
          </ac:spMkLst>
        </pc:spChg>
        <pc:spChg chg="mod">
          <ac:chgData name="MADNEETA SINGH" userId="ba487e41d220043c" providerId="LiveId" clId="{F2E2D8C3-5C22-4FAE-80AD-39A918A2DF4B}" dt="2022-12-24T10:24:07.213" v="160" actId="2711"/>
          <ac:spMkLst>
            <pc:docMk/>
            <pc:sldMk cId="1673301265" sldId="349"/>
            <ac:spMk id="11" creationId="{00000000-0000-0000-0000-000000000000}"/>
          </ac:spMkLst>
        </pc:spChg>
        <pc:spChg chg="mod">
          <ac:chgData name="MADNEETA SINGH" userId="ba487e41d220043c" providerId="LiveId" clId="{F2E2D8C3-5C22-4FAE-80AD-39A918A2DF4B}" dt="2022-12-24T10:24:07.213" v="160" actId="2711"/>
          <ac:spMkLst>
            <pc:docMk/>
            <pc:sldMk cId="1673301265" sldId="349"/>
            <ac:spMk id="12" creationId="{00000000-0000-0000-0000-000000000000}"/>
          </ac:spMkLst>
        </pc:spChg>
        <pc:spChg chg="mod">
          <ac:chgData name="MADNEETA SINGH" userId="ba487e41d220043c" providerId="LiveId" clId="{F2E2D8C3-5C22-4FAE-80AD-39A918A2DF4B}" dt="2022-12-24T10:24:07.213" v="160" actId="2711"/>
          <ac:spMkLst>
            <pc:docMk/>
            <pc:sldMk cId="1673301265" sldId="349"/>
            <ac:spMk id="13" creationId="{00000000-0000-0000-0000-000000000000}"/>
          </ac:spMkLst>
        </pc:spChg>
        <pc:spChg chg="mod">
          <ac:chgData name="MADNEETA SINGH" userId="ba487e41d220043c" providerId="LiveId" clId="{F2E2D8C3-5C22-4FAE-80AD-39A918A2DF4B}" dt="2022-12-24T10:24:07.213" v="160" actId="2711"/>
          <ac:spMkLst>
            <pc:docMk/>
            <pc:sldMk cId="1673301265" sldId="349"/>
            <ac:spMk id="14" creationId="{00000000-0000-0000-0000-000000000000}"/>
          </ac:spMkLst>
        </pc:spChg>
        <pc:spChg chg="mod">
          <ac:chgData name="MADNEETA SINGH" userId="ba487e41d220043c" providerId="LiveId" clId="{F2E2D8C3-5C22-4FAE-80AD-39A918A2DF4B}" dt="2022-12-24T10:24:07.213" v="160" actId="2711"/>
          <ac:spMkLst>
            <pc:docMk/>
            <pc:sldMk cId="1673301265" sldId="349"/>
            <ac:spMk id="15" creationId="{00000000-0000-0000-0000-000000000000}"/>
          </ac:spMkLst>
        </pc:spChg>
      </pc:sldChg>
    </pc:docChg>
  </pc:docChgLst>
  <pc:docChgLst>
    <pc:chgData name="MADNEETA SINGH" userId="ba487e41d220043c" providerId="LiveId" clId="{30E7BE5C-51CB-48D7-B04E-23F60CC9E304}"/>
    <pc:docChg chg="custSel modSld modMainMaster">
      <pc:chgData name="MADNEETA SINGH" userId="ba487e41d220043c" providerId="LiveId" clId="{30E7BE5C-51CB-48D7-B04E-23F60CC9E304}" dt="2024-01-08T02:57:07.366" v="52" actId="20577"/>
      <pc:docMkLst>
        <pc:docMk/>
      </pc:docMkLst>
      <pc:sldChg chg="modSp mod">
        <pc:chgData name="MADNEETA SINGH" userId="ba487e41d220043c" providerId="LiveId" clId="{30E7BE5C-51CB-48D7-B04E-23F60CC9E304}" dt="2024-01-08T02:57:07.366" v="52" actId="20577"/>
        <pc:sldMkLst>
          <pc:docMk/>
          <pc:sldMk cId="0" sldId="257"/>
        </pc:sldMkLst>
        <pc:spChg chg="mod">
          <ac:chgData name="MADNEETA SINGH" userId="ba487e41d220043c" providerId="LiveId" clId="{30E7BE5C-51CB-48D7-B04E-23F60CC9E304}" dt="2024-01-08T02:57:07.366" v="52" actId="20577"/>
          <ac:spMkLst>
            <pc:docMk/>
            <pc:sldMk cId="0" sldId="257"/>
            <ac:spMk id="3" creationId="{00000000-0000-0000-0000-000000000000}"/>
          </ac:spMkLst>
        </pc:spChg>
        <pc:spChg chg="mod">
          <ac:chgData name="MADNEETA SINGH" userId="ba487e41d220043c" providerId="LiveId" clId="{30E7BE5C-51CB-48D7-B04E-23F60CC9E304}" dt="2024-01-08T02:50:34.351" v="4"/>
          <ac:spMkLst>
            <pc:docMk/>
            <pc:sldMk cId="0" sldId="257"/>
            <ac:spMk id="13" creationId="{00000000-0000-0000-0000-000000000000}"/>
          </ac:spMkLst>
        </pc:spChg>
      </pc:sldChg>
      <pc:sldChg chg="modSp">
        <pc:chgData name="MADNEETA SINGH" userId="ba487e41d220043c" providerId="LiveId" clId="{30E7BE5C-51CB-48D7-B04E-23F60CC9E304}" dt="2024-01-08T02:50:34.351" v="4"/>
        <pc:sldMkLst>
          <pc:docMk/>
          <pc:sldMk cId="0" sldId="258"/>
        </pc:sldMkLst>
        <pc:spChg chg="mod">
          <ac:chgData name="MADNEETA SINGH" userId="ba487e41d220043c" providerId="LiveId" clId="{30E7BE5C-51CB-48D7-B04E-23F60CC9E304}" dt="2024-01-08T02:50:34.351" v="4"/>
          <ac:spMkLst>
            <pc:docMk/>
            <pc:sldMk cId="0" sldId="258"/>
            <ac:spMk id="13" creationId="{00000000-0000-0000-0000-000000000000}"/>
          </ac:spMkLst>
        </pc:spChg>
      </pc:sldChg>
      <pc:sldChg chg="modSp">
        <pc:chgData name="MADNEETA SINGH" userId="ba487e41d220043c" providerId="LiveId" clId="{30E7BE5C-51CB-48D7-B04E-23F60CC9E304}" dt="2024-01-08T02:50:34.351" v="4"/>
        <pc:sldMkLst>
          <pc:docMk/>
          <pc:sldMk cId="0" sldId="260"/>
        </pc:sldMkLst>
        <pc:spChg chg="mod">
          <ac:chgData name="MADNEETA SINGH" userId="ba487e41d220043c" providerId="LiveId" clId="{30E7BE5C-51CB-48D7-B04E-23F60CC9E304}" dt="2024-01-08T02:50:34.351" v="4"/>
          <ac:spMkLst>
            <pc:docMk/>
            <pc:sldMk cId="0" sldId="260"/>
            <ac:spMk id="10" creationId="{00000000-0000-0000-0000-000000000000}"/>
          </ac:spMkLst>
        </pc:spChg>
        <pc:graphicFrameChg chg="mod">
          <ac:chgData name="MADNEETA SINGH" userId="ba487e41d220043c" providerId="LiveId" clId="{30E7BE5C-51CB-48D7-B04E-23F60CC9E304}" dt="2024-01-08T02:50:34.351" v="4"/>
          <ac:graphicFrameMkLst>
            <pc:docMk/>
            <pc:sldMk cId="0" sldId="260"/>
            <ac:graphicFrameMk id="9" creationId="{00000000-0000-0000-0000-000000000000}"/>
          </ac:graphicFrameMkLst>
        </pc:graphicFrameChg>
      </pc:sldChg>
      <pc:sldChg chg="modSp">
        <pc:chgData name="MADNEETA SINGH" userId="ba487e41d220043c" providerId="LiveId" clId="{30E7BE5C-51CB-48D7-B04E-23F60CC9E304}" dt="2024-01-08T02:50:34.351" v="4"/>
        <pc:sldMkLst>
          <pc:docMk/>
          <pc:sldMk cId="0" sldId="261"/>
        </pc:sldMkLst>
        <pc:spChg chg="mod">
          <ac:chgData name="MADNEETA SINGH" userId="ba487e41d220043c" providerId="LiveId" clId="{30E7BE5C-51CB-48D7-B04E-23F60CC9E304}" dt="2024-01-08T02:50:34.351" v="4"/>
          <ac:spMkLst>
            <pc:docMk/>
            <pc:sldMk cId="0" sldId="261"/>
            <ac:spMk id="10" creationId="{00000000-0000-0000-0000-000000000000}"/>
          </ac:spMkLst>
        </pc:spChg>
        <pc:graphicFrameChg chg="mod">
          <ac:chgData name="MADNEETA SINGH" userId="ba487e41d220043c" providerId="LiveId" clId="{30E7BE5C-51CB-48D7-B04E-23F60CC9E304}" dt="2024-01-08T02:50:34.351" v="4"/>
          <ac:graphicFrameMkLst>
            <pc:docMk/>
            <pc:sldMk cId="0" sldId="261"/>
            <ac:graphicFrameMk id="9" creationId="{00000000-0000-0000-0000-000000000000}"/>
          </ac:graphicFrameMkLst>
        </pc:graphicFrameChg>
      </pc:sldChg>
      <pc:sldChg chg="modSp">
        <pc:chgData name="MADNEETA SINGH" userId="ba487e41d220043c" providerId="LiveId" clId="{30E7BE5C-51CB-48D7-B04E-23F60CC9E304}" dt="2024-01-08T02:50:34.351" v="4"/>
        <pc:sldMkLst>
          <pc:docMk/>
          <pc:sldMk cId="0" sldId="262"/>
        </pc:sldMkLst>
        <pc:spChg chg="mod">
          <ac:chgData name="MADNEETA SINGH" userId="ba487e41d220043c" providerId="LiveId" clId="{30E7BE5C-51CB-48D7-B04E-23F60CC9E304}" dt="2024-01-08T02:50:34.351" v="4"/>
          <ac:spMkLst>
            <pc:docMk/>
            <pc:sldMk cId="0" sldId="262"/>
            <ac:spMk id="5" creationId="{00000000-0000-0000-0000-000000000000}"/>
          </ac:spMkLst>
        </pc:spChg>
        <pc:graphicFrameChg chg="mod">
          <ac:chgData name="MADNEETA SINGH" userId="ba487e41d220043c" providerId="LiveId" clId="{30E7BE5C-51CB-48D7-B04E-23F60CC9E304}" dt="2024-01-08T02:50:34.351" v="4"/>
          <ac:graphicFrameMkLst>
            <pc:docMk/>
            <pc:sldMk cId="0" sldId="262"/>
            <ac:graphicFrameMk id="12" creationId="{00000000-0000-0000-0000-000000000000}"/>
          </ac:graphicFrameMkLst>
        </pc:graphicFrameChg>
      </pc:sldChg>
      <pc:sldChg chg="modSp">
        <pc:chgData name="MADNEETA SINGH" userId="ba487e41d220043c" providerId="LiveId" clId="{30E7BE5C-51CB-48D7-B04E-23F60CC9E304}" dt="2024-01-08T02:50:34.351" v="4"/>
        <pc:sldMkLst>
          <pc:docMk/>
          <pc:sldMk cId="4192245201" sldId="263"/>
        </pc:sldMkLst>
        <pc:spChg chg="mod">
          <ac:chgData name="MADNEETA SINGH" userId="ba487e41d220043c" providerId="LiveId" clId="{30E7BE5C-51CB-48D7-B04E-23F60CC9E304}" dt="2024-01-08T02:50:34.351" v="4"/>
          <ac:spMkLst>
            <pc:docMk/>
            <pc:sldMk cId="4192245201" sldId="263"/>
            <ac:spMk id="12" creationId="{00000000-0000-0000-0000-000000000000}"/>
          </ac:spMkLst>
        </pc:spChg>
      </pc:sldChg>
      <pc:sldChg chg="modSp">
        <pc:chgData name="MADNEETA SINGH" userId="ba487e41d220043c" providerId="LiveId" clId="{30E7BE5C-51CB-48D7-B04E-23F60CC9E304}" dt="2024-01-08T02:50:34.351" v="4"/>
        <pc:sldMkLst>
          <pc:docMk/>
          <pc:sldMk cId="3919311891" sldId="264"/>
        </pc:sldMkLst>
        <pc:spChg chg="mod">
          <ac:chgData name="MADNEETA SINGH" userId="ba487e41d220043c" providerId="LiveId" clId="{30E7BE5C-51CB-48D7-B04E-23F60CC9E304}" dt="2024-01-08T02:50:34.351" v="4"/>
          <ac:spMkLst>
            <pc:docMk/>
            <pc:sldMk cId="3919311891" sldId="264"/>
            <ac:spMk id="9" creationId="{00000000-0000-0000-0000-000000000000}"/>
          </ac:spMkLst>
        </pc:spChg>
      </pc:sldChg>
      <pc:sldChg chg="modSp">
        <pc:chgData name="MADNEETA SINGH" userId="ba487e41d220043c" providerId="LiveId" clId="{30E7BE5C-51CB-48D7-B04E-23F60CC9E304}" dt="2024-01-08T02:50:34.351" v="4"/>
        <pc:sldMkLst>
          <pc:docMk/>
          <pc:sldMk cId="3919311891" sldId="265"/>
        </pc:sldMkLst>
        <pc:spChg chg="mod">
          <ac:chgData name="MADNEETA SINGH" userId="ba487e41d220043c" providerId="LiveId" clId="{30E7BE5C-51CB-48D7-B04E-23F60CC9E304}" dt="2024-01-08T02:50:34.351" v="4"/>
          <ac:spMkLst>
            <pc:docMk/>
            <pc:sldMk cId="3919311891" sldId="265"/>
            <ac:spMk id="9" creationId="{00000000-0000-0000-0000-000000000000}"/>
          </ac:spMkLst>
        </pc:spChg>
      </pc:sldChg>
      <pc:sldChg chg="modSp">
        <pc:chgData name="MADNEETA SINGH" userId="ba487e41d220043c" providerId="LiveId" clId="{30E7BE5C-51CB-48D7-B04E-23F60CC9E304}" dt="2024-01-08T02:50:34.351" v="4"/>
        <pc:sldMkLst>
          <pc:docMk/>
          <pc:sldMk cId="3919311891" sldId="266"/>
        </pc:sldMkLst>
        <pc:spChg chg="mod">
          <ac:chgData name="MADNEETA SINGH" userId="ba487e41d220043c" providerId="LiveId" clId="{30E7BE5C-51CB-48D7-B04E-23F60CC9E304}" dt="2024-01-08T02:50:34.351" v="4"/>
          <ac:spMkLst>
            <pc:docMk/>
            <pc:sldMk cId="3919311891" sldId="266"/>
            <ac:spMk id="9" creationId="{00000000-0000-0000-0000-000000000000}"/>
          </ac:spMkLst>
        </pc:spChg>
      </pc:sldChg>
      <pc:sldChg chg="modSp">
        <pc:chgData name="MADNEETA SINGH" userId="ba487e41d220043c" providerId="LiveId" clId="{30E7BE5C-51CB-48D7-B04E-23F60CC9E304}" dt="2024-01-08T02:50:34.351" v="4"/>
        <pc:sldMkLst>
          <pc:docMk/>
          <pc:sldMk cId="3919311891" sldId="267"/>
        </pc:sldMkLst>
        <pc:spChg chg="mod">
          <ac:chgData name="MADNEETA SINGH" userId="ba487e41d220043c" providerId="LiveId" clId="{30E7BE5C-51CB-48D7-B04E-23F60CC9E304}" dt="2024-01-08T02:50:34.351" v="4"/>
          <ac:spMkLst>
            <pc:docMk/>
            <pc:sldMk cId="3919311891" sldId="267"/>
            <ac:spMk id="9" creationId="{00000000-0000-0000-0000-000000000000}"/>
          </ac:spMkLst>
        </pc:spChg>
      </pc:sldChg>
      <pc:sldChg chg="modSp">
        <pc:chgData name="MADNEETA SINGH" userId="ba487e41d220043c" providerId="LiveId" clId="{30E7BE5C-51CB-48D7-B04E-23F60CC9E304}" dt="2024-01-08T02:50:34.351" v="4"/>
        <pc:sldMkLst>
          <pc:docMk/>
          <pc:sldMk cId="3919311891" sldId="268"/>
        </pc:sldMkLst>
        <pc:spChg chg="mod">
          <ac:chgData name="MADNEETA SINGH" userId="ba487e41d220043c" providerId="LiveId" clId="{30E7BE5C-51CB-48D7-B04E-23F60CC9E304}" dt="2024-01-08T02:50:34.351" v="4"/>
          <ac:spMkLst>
            <pc:docMk/>
            <pc:sldMk cId="3919311891" sldId="268"/>
            <ac:spMk id="9" creationId="{00000000-0000-0000-0000-000000000000}"/>
          </ac:spMkLst>
        </pc:spChg>
      </pc:sldChg>
      <pc:sldChg chg="modSp">
        <pc:chgData name="MADNEETA SINGH" userId="ba487e41d220043c" providerId="LiveId" clId="{30E7BE5C-51CB-48D7-B04E-23F60CC9E304}" dt="2024-01-08T02:50:34.351" v="4"/>
        <pc:sldMkLst>
          <pc:docMk/>
          <pc:sldMk cId="3919311891" sldId="270"/>
        </pc:sldMkLst>
        <pc:spChg chg="mod">
          <ac:chgData name="MADNEETA SINGH" userId="ba487e41d220043c" providerId="LiveId" clId="{30E7BE5C-51CB-48D7-B04E-23F60CC9E304}" dt="2024-01-08T02:50:34.351" v="4"/>
          <ac:spMkLst>
            <pc:docMk/>
            <pc:sldMk cId="3919311891" sldId="270"/>
            <ac:spMk id="9" creationId="{00000000-0000-0000-0000-000000000000}"/>
          </ac:spMkLst>
        </pc:spChg>
      </pc:sldChg>
      <pc:sldChg chg="modSp">
        <pc:chgData name="MADNEETA SINGH" userId="ba487e41d220043c" providerId="LiveId" clId="{30E7BE5C-51CB-48D7-B04E-23F60CC9E304}" dt="2024-01-08T02:50:34.351" v="4"/>
        <pc:sldMkLst>
          <pc:docMk/>
          <pc:sldMk cId="3919311891" sldId="271"/>
        </pc:sldMkLst>
        <pc:spChg chg="mod">
          <ac:chgData name="MADNEETA SINGH" userId="ba487e41d220043c" providerId="LiveId" clId="{30E7BE5C-51CB-48D7-B04E-23F60CC9E304}" dt="2024-01-08T02:50:34.351" v="4"/>
          <ac:spMkLst>
            <pc:docMk/>
            <pc:sldMk cId="3919311891" sldId="271"/>
            <ac:spMk id="9" creationId="{00000000-0000-0000-0000-000000000000}"/>
          </ac:spMkLst>
        </pc:spChg>
      </pc:sldChg>
      <pc:sldChg chg="modSp">
        <pc:chgData name="MADNEETA SINGH" userId="ba487e41d220043c" providerId="LiveId" clId="{30E7BE5C-51CB-48D7-B04E-23F60CC9E304}" dt="2024-01-08T02:50:34.351" v="4"/>
        <pc:sldMkLst>
          <pc:docMk/>
          <pc:sldMk cId="3919311891" sldId="272"/>
        </pc:sldMkLst>
        <pc:spChg chg="mod">
          <ac:chgData name="MADNEETA SINGH" userId="ba487e41d220043c" providerId="LiveId" clId="{30E7BE5C-51CB-48D7-B04E-23F60CC9E304}" dt="2024-01-08T02:50:34.351" v="4"/>
          <ac:spMkLst>
            <pc:docMk/>
            <pc:sldMk cId="3919311891" sldId="272"/>
            <ac:spMk id="9" creationId="{00000000-0000-0000-0000-000000000000}"/>
          </ac:spMkLst>
        </pc:spChg>
      </pc:sldChg>
      <pc:sldChg chg="modSp">
        <pc:chgData name="MADNEETA SINGH" userId="ba487e41d220043c" providerId="LiveId" clId="{30E7BE5C-51CB-48D7-B04E-23F60CC9E304}" dt="2024-01-08T02:50:34.351" v="4"/>
        <pc:sldMkLst>
          <pc:docMk/>
          <pc:sldMk cId="3919311891" sldId="273"/>
        </pc:sldMkLst>
        <pc:spChg chg="mod">
          <ac:chgData name="MADNEETA SINGH" userId="ba487e41d220043c" providerId="LiveId" clId="{30E7BE5C-51CB-48D7-B04E-23F60CC9E304}" dt="2024-01-08T02:50:34.351" v="4"/>
          <ac:spMkLst>
            <pc:docMk/>
            <pc:sldMk cId="3919311891" sldId="273"/>
            <ac:spMk id="9" creationId="{00000000-0000-0000-0000-000000000000}"/>
          </ac:spMkLst>
        </pc:spChg>
      </pc:sldChg>
      <pc:sldChg chg="modSp">
        <pc:chgData name="MADNEETA SINGH" userId="ba487e41d220043c" providerId="LiveId" clId="{30E7BE5C-51CB-48D7-B04E-23F60CC9E304}" dt="2024-01-08T02:50:34.351" v="4"/>
        <pc:sldMkLst>
          <pc:docMk/>
          <pc:sldMk cId="3919311891" sldId="276"/>
        </pc:sldMkLst>
        <pc:spChg chg="mod">
          <ac:chgData name="MADNEETA SINGH" userId="ba487e41d220043c" providerId="LiveId" clId="{30E7BE5C-51CB-48D7-B04E-23F60CC9E304}" dt="2024-01-08T02:50:34.351" v="4"/>
          <ac:spMkLst>
            <pc:docMk/>
            <pc:sldMk cId="3919311891" sldId="276"/>
            <ac:spMk id="9" creationId="{00000000-0000-0000-0000-000000000000}"/>
          </ac:spMkLst>
        </pc:spChg>
      </pc:sldChg>
      <pc:sldChg chg="modSp">
        <pc:chgData name="MADNEETA SINGH" userId="ba487e41d220043c" providerId="LiveId" clId="{30E7BE5C-51CB-48D7-B04E-23F60CC9E304}" dt="2024-01-08T02:50:34.351" v="4"/>
        <pc:sldMkLst>
          <pc:docMk/>
          <pc:sldMk cId="3919311891" sldId="286"/>
        </pc:sldMkLst>
        <pc:spChg chg="mod">
          <ac:chgData name="MADNEETA SINGH" userId="ba487e41d220043c" providerId="LiveId" clId="{30E7BE5C-51CB-48D7-B04E-23F60CC9E304}" dt="2024-01-08T02:50:34.351" v="4"/>
          <ac:spMkLst>
            <pc:docMk/>
            <pc:sldMk cId="3919311891" sldId="286"/>
            <ac:spMk id="9" creationId="{00000000-0000-0000-0000-000000000000}"/>
          </ac:spMkLst>
        </pc:spChg>
      </pc:sldChg>
      <pc:sldChg chg="modSp">
        <pc:chgData name="MADNEETA SINGH" userId="ba487e41d220043c" providerId="LiveId" clId="{30E7BE5C-51CB-48D7-B04E-23F60CC9E304}" dt="2024-01-08T02:50:34.351" v="4"/>
        <pc:sldMkLst>
          <pc:docMk/>
          <pc:sldMk cId="3919311891" sldId="288"/>
        </pc:sldMkLst>
        <pc:spChg chg="mod">
          <ac:chgData name="MADNEETA SINGH" userId="ba487e41d220043c" providerId="LiveId" clId="{30E7BE5C-51CB-48D7-B04E-23F60CC9E304}" dt="2024-01-08T02:50:34.351" v="4"/>
          <ac:spMkLst>
            <pc:docMk/>
            <pc:sldMk cId="3919311891" sldId="288"/>
            <ac:spMk id="9" creationId="{00000000-0000-0000-0000-000000000000}"/>
          </ac:spMkLst>
        </pc:spChg>
      </pc:sldChg>
      <pc:sldChg chg="modSp">
        <pc:chgData name="MADNEETA SINGH" userId="ba487e41d220043c" providerId="LiveId" clId="{30E7BE5C-51CB-48D7-B04E-23F60CC9E304}" dt="2024-01-08T02:50:34.351" v="4"/>
        <pc:sldMkLst>
          <pc:docMk/>
          <pc:sldMk cId="3919311891" sldId="289"/>
        </pc:sldMkLst>
        <pc:spChg chg="mod">
          <ac:chgData name="MADNEETA SINGH" userId="ba487e41d220043c" providerId="LiveId" clId="{30E7BE5C-51CB-48D7-B04E-23F60CC9E304}" dt="2024-01-08T02:50:34.351" v="4"/>
          <ac:spMkLst>
            <pc:docMk/>
            <pc:sldMk cId="3919311891" sldId="289"/>
            <ac:spMk id="9" creationId="{00000000-0000-0000-0000-000000000000}"/>
          </ac:spMkLst>
        </pc:spChg>
      </pc:sldChg>
      <pc:sldChg chg="modSp">
        <pc:chgData name="MADNEETA SINGH" userId="ba487e41d220043c" providerId="LiveId" clId="{30E7BE5C-51CB-48D7-B04E-23F60CC9E304}" dt="2024-01-08T02:50:34.351" v="4"/>
        <pc:sldMkLst>
          <pc:docMk/>
          <pc:sldMk cId="3919311891" sldId="290"/>
        </pc:sldMkLst>
        <pc:spChg chg="mod">
          <ac:chgData name="MADNEETA SINGH" userId="ba487e41d220043c" providerId="LiveId" clId="{30E7BE5C-51CB-48D7-B04E-23F60CC9E304}" dt="2024-01-08T02:50:34.351" v="4"/>
          <ac:spMkLst>
            <pc:docMk/>
            <pc:sldMk cId="3919311891" sldId="290"/>
            <ac:spMk id="9" creationId="{00000000-0000-0000-0000-000000000000}"/>
          </ac:spMkLst>
        </pc:spChg>
      </pc:sldChg>
      <pc:sldChg chg="modSp">
        <pc:chgData name="MADNEETA SINGH" userId="ba487e41d220043c" providerId="LiveId" clId="{30E7BE5C-51CB-48D7-B04E-23F60CC9E304}" dt="2024-01-08T02:50:34.351" v="4"/>
        <pc:sldMkLst>
          <pc:docMk/>
          <pc:sldMk cId="3919311891" sldId="291"/>
        </pc:sldMkLst>
        <pc:spChg chg="mod">
          <ac:chgData name="MADNEETA SINGH" userId="ba487e41d220043c" providerId="LiveId" clId="{30E7BE5C-51CB-48D7-B04E-23F60CC9E304}" dt="2024-01-08T02:50:34.351" v="4"/>
          <ac:spMkLst>
            <pc:docMk/>
            <pc:sldMk cId="3919311891" sldId="291"/>
            <ac:spMk id="9" creationId="{00000000-0000-0000-0000-000000000000}"/>
          </ac:spMkLst>
        </pc:spChg>
      </pc:sldChg>
      <pc:sldChg chg="modSp">
        <pc:chgData name="MADNEETA SINGH" userId="ba487e41d220043c" providerId="LiveId" clId="{30E7BE5C-51CB-48D7-B04E-23F60CC9E304}" dt="2024-01-08T02:50:34.351" v="4"/>
        <pc:sldMkLst>
          <pc:docMk/>
          <pc:sldMk cId="3919311891" sldId="292"/>
        </pc:sldMkLst>
        <pc:spChg chg="mod">
          <ac:chgData name="MADNEETA SINGH" userId="ba487e41d220043c" providerId="LiveId" clId="{30E7BE5C-51CB-48D7-B04E-23F60CC9E304}" dt="2024-01-08T02:50:34.351" v="4"/>
          <ac:spMkLst>
            <pc:docMk/>
            <pc:sldMk cId="3919311891" sldId="292"/>
            <ac:spMk id="9" creationId="{00000000-0000-0000-0000-000000000000}"/>
          </ac:spMkLst>
        </pc:spChg>
      </pc:sldChg>
      <pc:sldChg chg="modSp">
        <pc:chgData name="MADNEETA SINGH" userId="ba487e41d220043c" providerId="LiveId" clId="{30E7BE5C-51CB-48D7-B04E-23F60CC9E304}" dt="2024-01-08T02:50:34.351" v="4"/>
        <pc:sldMkLst>
          <pc:docMk/>
          <pc:sldMk cId="3919311891" sldId="293"/>
        </pc:sldMkLst>
        <pc:spChg chg="mod">
          <ac:chgData name="MADNEETA SINGH" userId="ba487e41d220043c" providerId="LiveId" clId="{30E7BE5C-51CB-48D7-B04E-23F60CC9E304}" dt="2024-01-08T02:50:34.351" v="4"/>
          <ac:spMkLst>
            <pc:docMk/>
            <pc:sldMk cId="3919311891" sldId="293"/>
            <ac:spMk id="9" creationId="{00000000-0000-0000-0000-000000000000}"/>
          </ac:spMkLst>
        </pc:spChg>
      </pc:sldChg>
      <pc:sldChg chg="modSp">
        <pc:chgData name="MADNEETA SINGH" userId="ba487e41d220043c" providerId="LiveId" clId="{30E7BE5C-51CB-48D7-B04E-23F60CC9E304}" dt="2024-01-08T02:50:34.351" v="4"/>
        <pc:sldMkLst>
          <pc:docMk/>
          <pc:sldMk cId="3919311891" sldId="294"/>
        </pc:sldMkLst>
        <pc:spChg chg="mod">
          <ac:chgData name="MADNEETA SINGH" userId="ba487e41d220043c" providerId="LiveId" clId="{30E7BE5C-51CB-48D7-B04E-23F60CC9E304}" dt="2024-01-08T02:50:34.351" v="4"/>
          <ac:spMkLst>
            <pc:docMk/>
            <pc:sldMk cId="3919311891" sldId="294"/>
            <ac:spMk id="9" creationId="{00000000-0000-0000-0000-000000000000}"/>
          </ac:spMkLst>
        </pc:spChg>
      </pc:sldChg>
      <pc:sldChg chg="modSp">
        <pc:chgData name="MADNEETA SINGH" userId="ba487e41d220043c" providerId="LiveId" clId="{30E7BE5C-51CB-48D7-B04E-23F60CC9E304}" dt="2024-01-08T02:50:34.351" v="4"/>
        <pc:sldMkLst>
          <pc:docMk/>
          <pc:sldMk cId="3919311891" sldId="295"/>
        </pc:sldMkLst>
        <pc:spChg chg="mod">
          <ac:chgData name="MADNEETA SINGH" userId="ba487e41d220043c" providerId="LiveId" clId="{30E7BE5C-51CB-48D7-B04E-23F60CC9E304}" dt="2024-01-08T02:50:34.351" v="4"/>
          <ac:spMkLst>
            <pc:docMk/>
            <pc:sldMk cId="3919311891" sldId="295"/>
            <ac:spMk id="9" creationId="{00000000-0000-0000-0000-000000000000}"/>
          </ac:spMkLst>
        </pc:spChg>
      </pc:sldChg>
      <pc:sldChg chg="modSp">
        <pc:chgData name="MADNEETA SINGH" userId="ba487e41d220043c" providerId="LiveId" clId="{30E7BE5C-51CB-48D7-B04E-23F60CC9E304}" dt="2024-01-08T02:50:34.351" v="4"/>
        <pc:sldMkLst>
          <pc:docMk/>
          <pc:sldMk cId="3919311891" sldId="296"/>
        </pc:sldMkLst>
        <pc:spChg chg="mod">
          <ac:chgData name="MADNEETA SINGH" userId="ba487e41d220043c" providerId="LiveId" clId="{30E7BE5C-51CB-48D7-B04E-23F60CC9E304}" dt="2024-01-08T02:50:34.351" v="4"/>
          <ac:spMkLst>
            <pc:docMk/>
            <pc:sldMk cId="3919311891" sldId="296"/>
            <ac:spMk id="9" creationId="{00000000-0000-0000-0000-000000000000}"/>
          </ac:spMkLst>
        </pc:spChg>
      </pc:sldChg>
      <pc:sldChg chg="modSp">
        <pc:chgData name="MADNEETA SINGH" userId="ba487e41d220043c" providerId="LiveId" clId="{30E7BE5C-51CB-48D7-B04E-23F60CC9E304}" dt="2024-01-08T02:50:34.351" v="4"/>
        <pc:sldMkLst>
          <pc:docMk/>
          <pc:sldMk cId="3919311891" sldId="297"/>
        </pc:sldMkLst>
        <pc:spChg chg="mod">
          <ac:chgData name="MADNEETA SINGH" userId="ba487e41d220043c" providerId="LiveId" clId="{30E7BE5C-51CB-48D7-B04E-23F60CC9E304}" dt="2024-01-08T02:50:34.351" v="4"/>
          <ac:spMkLst>
            <pc:docMk/>
            <pc:sldMk cId="3919311891" sldId="297"/>
            <ac:spMk id="9" creationId="{00000000-0000-0000-0000-000000000000}"/>
          </ac:spMkLst>
        </pc:spChg>
      </pc:sldChg>
      <pc:sldChg chg="modSp">
        <pc:chgData name="MADNEETA SINGH" userId="ba487e41d220043c" providerId="LiveId" clId="{30E7BE5C-51CB-48D7-B04E-23F60CC9E304}" dt="2024-01-08T02:50:34.351" v="4"/>
        <pc:sldMkLst>
          <pc:docMk/>
          <pc:sldMk cId="3919311891" sldId="299"/>
        </pc:sldMkLst>
        <pc:spChg chg="mod">
          <ac:chgData name="MADNEETA SINGH" userId="ba487e41d220043c" providerId="LiveId" clId="{30E7BE5C-51CB-48D7-B04E-23F60CC9E304}" dt="2024-01-08T02:50:34.351" v="4"/>
          <ac:spMkLst>
            <pc:docMk/>
            <pc:sldMk cId="3919311891" sldId="299"/>
            <ac:spMk id="9" creationId="{00000000-0000-0000-0000-000000000000}"/>
          </ac:spMkLst>
        </pc:spChg>
      </pc:sldChg>
      <pc:sldChg chg="modSp">
        <pc:chgData name="MADNEETA SINGH" userId="ba487e41d220043c" providerId="LiveId" clId="{30E7BE5C-51CB-48D7-B04E-23F60CC9E304}" dt="2024-01-08T02:50:34.351" v="4"/>
        <pc:sldMkLst>
          <pc:docMk/>
          <pc:sldMk cId="3919311891" sldId="300"/>
        </pc:sldMkLst>
        <pc:spChg chg="mod">
          <ac:chgData name="MADNEETA SINGH" userId="ba487e41d220043c" providerId="LiveId" clId="{30E7BE5C-51CB-48D7-B04E-23F60CC9E304}" dt="2024-01-08T02:50:34.351" v="4"/>
          <ac:spMkLst>
            <pc:docMk/>
            <pc:sldMk cId="3919311891" sldId="300"/>
            <ac:spMk id="9" creationId="{00000000-0000-0000-0000-000000000000}"/>
          </ac:spMkLst>
        </pc:spChg>
      </pc:sldChg>
      <pc:sldChg chg="modSp">
        <pc:chgData name="MADNEETA SINGH" userId="ba487e41d220043c" providerId="LiveId" clId="{30E7BE5C-51CB-48D7-B04E-23F60CC9E304}" dt="2024-01-08T02:50:34.351" v="4"/>
        <pc:sldMkLst>
          <pc:docMk/>
          <pc:sldMk cId="4102396168" sldId="302"/>
        </pc:sldMkLst>
        <pc:spChg chg="mod">
          <ac:chgData name="MADNEETA SINGH" userId="ba487e41d220043c" providerId="LiveId" clId="{30E7BE5C-51CB-48D7-B04E-23F60CC9E304}" dt="2024-01-08T02:50:34.351" v="4"/>
          <ac:spMkLst>
            <pc:docMk/>
            <pc:sldMk cId="4102396168" sldId="302"/>
            <ac:spMk id="10" creationId="{00000000-0000-0000-0000-000000000000}"/>
          </ac:spMkLst>
        </pc:spChg>
      </pc:sldChg>
      <pc:sldChg chg="modSp">
        <pc:chgData name="MADNEETA SINGH" userId="ba487e41d220043c" providerId="LiveId" clId="{30E7BE5C-51CB-48D7-B04E-23F60CC9E304}" dt="2024-01-08T02:50:34.351" v="4"/>
        <pc:sldMkLst>
          <pc:docMk/>
          <pc:sldMk cId="0" sldId="303"/>
        </pc:sldMkLst>
        <pc:spChg chg="mod">
          <ac:chgData name="MADNEETA SINGH" userId="ba487e41d220043c" providerId="LiveId" clId="{30E7BE5C-51CB-48D7-B04E-23F60CC9E304}" dt="2024-01-08T02:50:34.351" v="4"/>
          <ac:spMkLst>
            <pc:docMk/>
            <pc:sldMk cId="0" sldId="303"/>
            <ac:spMk id="13" creationId="{00000000-0000-0000-0000-000000000000}"/>
          </ac:spMkLst>
        </pc:spChg>
      </pc:sldChg>
      <pc:sldChg chg="modSp">
        <pc:chgData name="MADNEETA SINGH" userId="ba487e41d220043c" providerId="LiveId" clId="{30E7BE5C-51CB-48D7-B04E-23F60CC9E304}" dt="2024-01-08T02:50:34.351" v="4"/>
        <pc:sldMkLst>
          <pc:docMk/>
          <pc:sldMk cId="3919311891" sldId="304"/>
        </pc:sldMkLst>
        <pc:spChg chg="mod">
          <ac:chgData name="MADNEETA SINGH" userId="ba487e41d220043c" providerId="LiveId" clId="{30E7BE5C-51CB-48D7-B04E-23F60CC9E304}" dt="2024-01-08T02:50:34.351" v="4"/>
          <ac:spMkLst>
            <pc:docMk/>
            <pc:sldMk cId="3919311891" sldId="304"/>
            <ac:spMk id="9" creationId="{00000000-0000-0000-0000-000000000000}"/>
          </ac:spMkLst>
        </pc:spChg>
      </pc:sldChg>
      <pc:sldChg chg="modSp">
        <pc:chgData name="MADNEETA SINGH" userId="ba487e41d220043c" providerId="LiveId" clId="{30E7BE5C-51CB-48D7-B04E-23F60CC9E304}" dt="2024-01-08T02:50:34.351" v="4"/>
        <pc:sldMkLst>
          <pc:docMk/>
          <pc:sldMk cId="3919311891" sldId="305"/>
        </pc:sldMkLst>
        <pc:spChg chg="mod">
          <ac:chgData name="MADNEETA SINGH" userId="ba487e41d220043c" providerId="LiveId" clId="{30E7BE5C-51CB-48D7-B04E-23F60CC9E304}" dt="2024-01-08T02:50:34.351" v="4"/>
          <ac:spMkLst>
            <pc:docMk/>
            <pc:sldMk cId="3919311891" sldId="305"/>
            <ac:spMk id="9" creationId="{00000000-0000-0000-0000-000000000000}"/>
          </ac:spMkLst>
        </pc:spChg>
      </pc:sldChg>
      <pc:sldChg chg="modSp">
        <pc:chgData name="MADNEETA SINGH" userId="ba487e41d220043c" providerId="LiveId" clId="{30E7BE5C-51CB-48D7-B04E-23F60CC9E304}" dt="2024-01-08T02:50:34.351" v="4"/>
        <pc:sldMkLst>
          <pc:docMk/>
          <pc:sldMk cId="3919311891" sldId="306"/>
        </pc:sldMkLst>
        <pc:spChg chg="mod">
          <ac:chgData name="MADNEETA SINGH" userId="ba487e41d220043c" providerId="LiveId" clId="{30E7BE5C-51CB-48D7-B04E-23F60CC9E304}" dt="2024-01-08T02:50:34.351" v="4"/>
          <ac:spMkLst>
            <pc:docMk/>
            <pc:sldMk cId="3919311891" sldId="306"/>
            <ac:spMk id="9" creationId="{00000000-0000-0000-0000-000000000000}"/>
          </ac:spMkLst>
        </pc:spChg>
      </pc:sldChg>
      <pc:sldChg chg="modSp">
        <pc:chgData name="MADNEETA SINGH" userId="ba487e41d220043c" providerId="LiveId" clId="{30E7BE5C-51CB-48D7-B04E-23F60CC9E304}" dt="2024-01-08T02:50:34.351" v="4"/>
        <pc:sldMkLst>
          <pc:docMk/>
          <pc:sldMk cId="3919311891" sldId="307"/>
        </pc:sldMkLst>
        <pc:spChg chg="mod">
          <ac:chgData name="MADNEETA SINGH" userId="ba487e41d220043c" providerId="LiveId" clId="{30E7BE5C-51CB-48D7-B04E-23F60CC9E304}" dt="2024-01-08T02:50:34.351" v="4"/>
          <ac:spMkLst>
            <pc:docMk/>
            <pc:sldMk cId="3919311891" sldId="307"/>
            <ac:spMk id="9" creationId="{00000000-0000-0000-0000-000000000000}"/>
          </ac:spMkLst>
        </pc:spChg>
      </pc:sldChg>
      <pc:sldChg chg="modSp">
        <pc:chgData name="MADNEETA SINGH" userId="ba487e41d220043c" providerId="LiveId" clId="{30E7BE5C-51CB-48D7-B04E-23F60CC9E304}" dt="2024-01-08T02:50:34.351" v="4"/>
        <pc:sldMkLst>
          <pc:docMk/>
          <pc:sldMk cId="3919311891" sldId="308"/>
        </pc:sldMkLst>
        <pc:spChg chg="mod">
          <ac:chgData name="MADNEETA SINGH" userId="ba487e41d220043c" providerId="LiveId" clId="{30E7BE5C-51CB-48D7-B04E-23F60CC9E304}" dt="2024-01-08T02:50:34.351" v="4"/>
          <ac:spMkLst>
            <pc:docMk/>
            <pc:sldMk cId="3919311891" sldId="308"/>
            <ac:spMk id="9" creationId="{00000000-0000-0000-0000-000000000000}"/>
          </ac:spMkLst>
        </pc:spChg>
      </pc:sldChg>
      <pc:sldChg chg="modSp">
        <pc:chgData name="MADNEETA SINGH" userId="ba487e41d220043c" providerId="LiveId" clId="{30E7BE5C-51CB-48D7-B04E-23F60CC9E304}" dt="2024-01-08T02:50:34.351" v="4"/>
        <pc:sldMkLst>
          <pc:docMk/>
          <pc:sldMk cId="3919311891" sldId="309"/>
        </pc:sldMkLst>
        <pc:spChg chg="mod">
          <ac:chgData name="MADNEETA SINGH" userId="ba487e41d220043c" providerId="LiveId" clId="{30E7BE5C-51CB-48D7-B04E-23F60CC9E304}" dt="2024-01-08T02:50:34.351" v="4"/>
          <ac:spMkLst>
            <pc:docMk/>
            <pc:sldMk cId="3919311891" sldId="309"/>
            <ac:spMk id="9" creationId="{00000000-0000-0000-0000-000000000000}"/>
          </ac:spMkLst>
        </pc:spChg>
      </pc:sldChg>
      <pc:sldChg chg="modSp">
        <pc:chgData name="MADNEETA SINGH" userId="ba487e41d220043c" providerId="LiveId" clId="{30E7BE5C-51CB-48D7-B04E-23F60CC9E304}" dt="2024-01-08T02:50:34.351" v="4"/>
        <pc:sldMkLst>
          <pc:docMk/>
          <pc:sldMk cId="3919311891" sldId="311"/>
        </pc:sldMkLst>
        <pc:spChg chg="mod">
          <ac:chgData name="MADNEETA SINGH" userId="ba487e41d220043c" providerId="LiveId" clId="{30E7BE5C-51CB-48D7-B04E-23F60CC9E304}" dt="2024-01-08T02:50:34.351" v="4"/>
          <ac:spMkLst>
            <pc:docMk/>
            <pc:sldMk cId="3919311891" sldId="311"/>
            <ac:spMk id="9" creationId="{00000000-0000-0000-0000-000000000000}"/>
          </ac:spMkLst>
        </pc:spChg>
      </pc:sldChg>
      <pc:sldChg chg="modSp">
        <pc:chgData name="MADNEETA SINGH" userId="ba487e41d220043c" providerId="LiveId" clId="{30E7BE5C-51CB-48D7-B04E-23F60CC9E304}" dt="2024-01-08T02:50:34.351" v="4"/>
        <pc:sldMkLst>
          <pc:docMk/>
          <pc:sldMk cId="3919311891" sldId="312"/>
        </pc:sldMkLst>
        <pc:spChg chg="mod">
          <ac:chgData name="MADNEETA SINGH" userId="ba487e41d220043c" providerId="LiveId" clId="{30E7BE5C-51CB-48D7-B04E-23F60CC9E304}" dt="2024-01-08T02:50:34.351" v="4"/>
          <ac:spMkLst>
            <pc:docMk/>
            <pc:sldMk cId="3919311891" sldId="312"/>
            <ac:spMk id="9" creationId="{00000000-0000-0000-0000-000000000000}"/>
          </ac:spMkLst>
        </pc:spChg>
      </pc:sldChg>
      <pc:sldChg chg="modSp">
        <pc:chgData name="MADNEETA SINGH" userId="ba487e41d220043c" providerId="LiveId" clId="{30E7BE5C-51CB-48D7-B04E-23F60CC9E304}" dt="2024-01-08T02:50:34.351" v="4"/>
        <pc:sldMkLst>
          <pc:docMk/>
          <pc:sldMk cId="3919311891" sldId="313"/>
        </pc:sldMkLst>
        <pc:spChg chg="mod">
          <ac:chgData name="MADNEETA SINGH" userId="ba487e41d220043c" providerId="LiveId" clId="{30E7BE5C-51CB-48D7-B04E-23F60CC9E304}" dt="2024-01-08T02:50:34.351" v="4"/>
          <ac:spMkLst>
            <pc:docMk/>
            <pc:sldMk cId="3919311891" sldId="313"/>
            <ac:spMk id="9" creationId="{00000000-0000-0000-0000-000000000000}"/>
          </ac:spMkLst>
        </pc:spChg>
      </pc:sldChg>
      <pc:sldChg chg="modSp">
        <pc:chgData name="MADNEETA SINGH" userId="ba487e41d220043c" providerId="LiveId" clId="{30E7BE5C-51CB-48D7-B04E-23F60CC9E304}" dt="2024-01-08T02:50:34.351" v="4"/>
        <pc:sldMkLst>
          <pc:docMk/>
          <pc:sldMk cId="3919311891" sldId="314"/>
        </pc:sldMkLst>
        <pc:spChg chg="mod">
          <ac:chgData name="MADNEETA SINGH" userId="ba487e41d220043c" providerId="LiveId" clId="{30E7BE5C-51CB-48D7-B04E-23F60CC9E304}" dt="2024-01-08T02:50:34.351" v="4"/>
          <ac:spMkLst>
            <pc:docMk/>
            <pc:sldMk cId="3919311891" sldId="314"/>
            <ac:spMk id="9" creationId="{00000000-0000-0000-0000-000000000000}"/>
          </ac:spMkLst>
        </pc:spChg>
      </pc:sldChg>
      <pc:sldChg chg="modSp">
        <pc:chgData name="MADNEETA SINGH" userId="ba487e41d220043c" providerId="LiveId" clId="{30E7BE5C-51CB-48D7-B04E-23F60CC9E304}" dt="2024-01-08T02:50:34.351" v="4"/>
        <pc:sldMkLst>
          <pc:docMk/>
          <pc:sldMk cId="3919311891" sldId="315"/>
        </pc:sldMkLst>
        <pc:spChg chg="mod">
          <ac:chgData name="MADNEETA SINGH" userId="ba487e41d220043c" providerId="LiveId" clId="{30E7BE5C-51CB-48D7-B04E-23F60CC9E304}" dt="2024-01-08T02:50:34.351" v="4"/>
          <ac:spMkLst>
            <pc:docMk/>
            <pc:sldMk cId="3919311891" sldId="315"/>
            <ac:spMk id="9" creationId="{00000000-0000-0000-0000-000000000000}"/>
          </ac:spMkLst>
        </pc:spChg>
      </pc:sldChg>
      <pc:sldChg chg="modSp">
        <pc:chgData name="MADNEETA SINGH" userId="ba487e41d220043c" providerId="LiveId" clId="{30E7BE5C-51CB-48D7-B04E-23F60CC9E304}" dt="2024-01-08T02:50:34.351" v="4"/>
        <pc:sldMkLst>
          <pc:docMk/>
          <pc:sldMk cId="3919311891" sldId="316"/>
        </pc:sldMkLst>
        <pc:spChg chg="mod">
          <ac:chgData name="MADNEETA SINGH" userId="ba487e41d220043c" providerId="LiveId" clId="{30E7BE5C-51CB-48D7-B04E-23F60CC9E304}" dt="2024-01-08T02:50:34.351" v="4"/>
          <ac:spMkLst>
            <pc:docMk/>
            <pc:sldMk cId="3919311891" sldId="316"/>
            <ac:spMk id="9" creationId="{00000000-0000-0000-0000-000000000000}"/>
          </ac:spMkLst>
        </pc:spChg>
      </pc:sldChg>
      <pc:sldChg chg="modSp">
        <pc:chgData name="MADNEETA SINGH" userId="ba487e41d220043c" providerId="LiveId" clId="{30E7BE5C-51CB-48D7-B04E-23F60CC9E304}" dt="2024-01-08T02:50:34.351" v="4"/>
        <pc:sldMkLst>
          <pc:docMk/>
          <pc:sldMk cId="3919311891" sldId="317"/>
        </pc:sldMkLst>
        <pc:spChg chg="mod">
          <ac:chgData name="MADNEETA SINGH" userId="ba487e41d220043c" providerId="LiveId" clId="{30E7BE5C-51CB-48D7-B04E-23F60CC9E304}" dt="2024-01-08T02:50:34.351" v="4"/>
          <ac:spMkLst>
            <pc:docMk/>
            <pc:sldMk cId="3919311891" sldId="317"/>
            <ac:spMk id="9" creationId="{00000000-0000-0000-0000-000000000000}"/>
          </ac:spMkLst>
        </pc:spChg>
      </pc:sldChg>
      <pc:sldChg chg="modSp">
        <pc:chgData name="MADNEETA SINGH" userId="ba487e41d220043c" providerId="LiveId" clId="{30E7BE5C-51CB-48D7-B04E-23F60CC9E304}" dt="2024-01-08T02:50:34.351" v="4"/>
        <pc:sldMkLst>
          <pc:docMk/>
          <pc:sldMk cId="3919311891" sldId="318"/>
        </pc:sldMkLst>
        <pc:spChg chg="mod">
          <ac:chgData name="MADNEETA SINGH" userId="ba487e41d220043c" providerId="LiveId" clId="{30E7BE5C-51CB-48D7-B04E-23F60CC9E304}" dt="2024-01-08T02:50:34.351" v="4"/>
          <ac:spMkLst>
            <pc:docMk/>
            <pc:sldMk cId="3919311891" sldId="318"/>
            <ac:spMk id="9" creationId="{00000000-0000-0000-0000-000000000000}"/>
          </ac:spMkLst>
        </pc:spChg>
      </pc:sldChg>
      <pc:sldChg chg="modSp">
        <pc:chgData name="MADNEETA SINGH" userId="ba487e41d220043c" providerId="LiveId" clId="{30E7BE5C-51CB-48D7-B04E-23F60CC9E304}" dt="2024-01-08T02:50:34.351" v="4"/>
        <pc:sldMkLst>
          <pc:docMk/>
          <pc:sldMk cId="3919311891" sldId="319"/>
        </pc:sldMkLst>
        <pc:spChg chg="mod">
          <ac:chgData name="MADNEETA SINGH" userId="ba487e41d220043c" providerId="LiveId" clId="{30E7BE5C-51CB-48D7-B04E-23F60CC9E304}" dt="2024-01-08T02:50:34.351" v="4"/>
          <ac:spMkLst>
            <pc:docMk/>
            <pc:sldMk cId="3919311891" sldId="319"/>
            <ac:spMk id="9" creationId="{00000000-0000-0000-0000-000000000000}"/>
          </ac:spMkLst>
        </pc:spChg>
      </pc:sldChg>
      <pc:sldChg chg="modSp">
        <pc:chgData name="MADNEETA SINGH" userId="ba487e41d220043c" providerId="LiveId" clId="{30E7BE5C-51CB-48D7-B04E-23F60CC9E304}" dt="2024-01-08T02:50:34.351" v="4"/>
        <pc:sldMkLst>
          <pc:docMk/>
          <pc:sldMk cId="3919311891" sldId="320"/>
        </pc:sldMkLst>
        <pc:spChg chg="mod">
          <ac:chgData name="MADNEETA SINGH" userId="ba487e41d220043c" providerId="LiveId" clId="{30E7BE5C-51CB-48D7-B04E-23F60CC9E304}" dt="2024-01-08T02:50:34.351" v="4"/>
          <ac:spMkLst>
            <pc:docMk/>
            <pc:sldMk cId="3919311891" sldId="320"/>
            <ac:spMk id="9" creationId="{00000000-0000-0000-0000-000000000000}"/>
          </ac:spMkLst>
        </pc:spChg>
      </pc:sldChg>
      <pc:sldChg chg="modSp">
        <pc:chgData name="MADNEETA SINGH" userId="ba487e41d220043c" providerId="LiveId" clId="{30E7BE5C-51CB-48D7-B04E-23F60CC9E304}" dt="2024-01-08T02:50:34.351" v="4"/>
        <pc:sldMkLst>
          <pc:docMk/>
          <pc:sldMk cId="0" sldId="321"/>
        </pc:sldMkLst>
        <pc:spChg chg="mod">
          <ac:chgData name="MADNEETA SINGH" userId="ba487e41d220043c" providerId="LiveId" clId="{30E7BE5C-51CB-48D7-B04E-23F60CC9E304}" dt="2024-01-08T02:50:34.351" v="4"/>
          <ac:spMkLst>
            <pc:docMk/>
            <pc:sldMk cId="0" sldId="321"/>
            <ac:spMk id="5" creationId="{00000000-0000-0000-0000-000000000000}"/>
          </ac:spMkLst>
        </pc:spChg>
        <pc:graphicFrameChg chg="mod">
          <ac:chgData name="MADNEETA SINGH" userId="ba487e41d220043c" providerId="LiveId" clId="{30E7BE5C-51CB-48D7-B04E-23F60CC9E304}" dt="2024-01-08T02:50:34.351" v="4"/>
          <ac:graphicFrameMkLst>
            <pc:docMk/>
            <pc:sldMk cId="0" sldId="321"/>
            <ac:graphicFrameMk id="9" creationId="{00000000-0000-0000-0000-000000000000}"/>
          </ac:graphicFrameMkLst>
        </pc:graphicFrameChg>
      </pc:sldChg>
      <pc:sldChg chg="modSp">
        <pc:chgData name="MADNEETA SINGH" userId="ba487e41d220043c" providerId="LiveId" clId="{30E7BE5C-51CB-48D7-B04E-23F60CC9E304}" dt="2024-01-08T02:50:34.351" v="4"/>
        <pc:sldMkLst>
          <pc:docMk/>
          <pc:sldMk cId="0" sldId="322"/>
        </pc:sldMkLst>
        <pc:spChg chg="mod">
          <ac:chgData name="MADNEETA SINGH" userId="ba487e41d220043c" providerId="LiveId" clId="{30E7BE5C-51CB-48D7-B04E-23F60CC9E304}" dt="2024-01-08T02:50:34.351" v="4"/>
          <ac:spMkLst>
            <pc:docMk/>
            <pc:sldMk cId="0" sldId="322"/>
            <ac:spMk id="13" creationId="{00000000-0000-0000-0000-000000000000}"/>
          </ac:spMkLst>
        </pc:spChg>
      </pc:sldChg>
      <pc:sldChg chg="modSp">
        <pc:chgData name="MADNEETA SINGH" userId="ba487e41d220043c" providerId="LiveId" clId="{30E7BE5C-51CB-48D7-B04E-23F60CC9E304}" dt="2024-01-08T02:50:34.351" v="4"/>
        <pc:sldMkLst>
          <pc:docMk/>
          <pc:sldMk cId="3919311891" sldId="324"/>
        </pc:sldMkLst>
        <pc:spChg chg="mod">
          <ac:chgData name="MADNEETA SINGH" userId="ba487e41d220043c" providerId="LiveId" clId="{30E7BE5C-51CB-48D7-B04E-23F60CC9E304}" dt="2024-01-08T02:50:34.351" v="4"/>
          <ac:spMkLst>
            <pc:docMk/>
            <pc:sldMk cId="3919311891" sldId="324"/>
            <ac:spMk id="9" creationId="{00000000-0000-0000-0000-000000000000}"/>
          </ac:spMkLst>
        </pc:spChg>
      </pc:sldChg>
      <pc:sldChg chg="modSp">
        <pc:chgData name="MADNEETA SINGH" userId="ba487e41d220043c" providerId="LiveId" clId="{30E7BE5C-51CB-48D7-B04E-23F60CC9E304}" dt="2024-01-08T02:50:34.351" v="4"/>
        <pc:sldMkLst>
          <pc:docMk/>
          <pc:sldMk cId="3919311891" sldId="325"/>
        </pc:sldMkLst>
        <pc:spChg chg="mod">
          <ac:chgData name="MADNEETA SINGH" userId="ba487e41d220043c" providerId="LiveId" clId="{30E7BE5C-51CB-48D7-B04E-23F60CC9E304}" dt="2024-01-08T02:50:34.351" v="4"/>
          <ac:spMkLst>
            <pc:docMk/>
            <pc:sldMk cId="3919311891" sldId="325"/>
            <ac:spMk id="9" creationId="{00000000-0000-0000-0000-000000000000}"/>
          </ac:spMkLst>
        </pc:spChg>
      </pc:sldChg>
      <pc:sldChg chg="modSp">
        <pc:chgData name="MADNEETA SINGH" userId="ba487e41d220043c" providerId="LiveId" clId="{30E7BE5C-51CB-48D7-B04E-23F60CC9E304}" dt="2024-01-08T02:50:34.351" v="4"/>
        <pc:sldMkLst>
          <pc:docMk/>
          <pc:sldMk cId="3919311891" sldId="327"/>
        </pc:sldMkLst>
        <pc:spChg chg="mod">
          <ac:chgData name="MADNEETA SINGH" userId="ba487e41d220043c" providerId="LiveId" clId="{30E7BE5C-51CB-48D7-B04E-23F60CC9E304}" dt="2024-01-08T02:50:34.351" v="4"/>
          <ac:spMkLst>
            <pc:docMk/>
            <pc:sldMk cId="3919311891" sldId="327"/>
            <ac:spMk id="9" creationId="{00000000-0000-0000-0000-000000000000}"/>
          </ac:spMkLst>
        </pc:spChg>
      </pc:sldChg>
      <pc:sldChg chg="modSp">
        <pc:chgData name="MADNEETA SINGH" userId="ba487e41d220043c" providerId="LiveId" clId="{30E7BE5C-51CB-48D7-B04E-23F60CC9E304}" dt="2024-01-08T02:50:34.351" v="4"/>
        <pc:sldMkLst>
          <pc:docMk/>
          <pc:sldMk cId="3919311891" sldId="328"/>
        </pc:sldMkLst>
        <pc:spChg chg="mod">
          <ac:chgData name="MADNEETA SINGH" userId="ba487e41d220043c" providerId="LiveId" clId="{30E7BE5C-51CB-48D7-B04E-23F60CC9E304}" dt="2024-01-08T02:50:34.351" v="4"/>
          <ac:spMkLst>
            <pc:docMk/>
            <pc:sldMk cId="3919311891" sldId="328"/>
            <ac:spMk id="9" creationId="{00000000-0000-0000-0000-000000000000}"/>
          </ac:spMkLst>
        </pc:spChg>
      </pc:sldChg>
      <pc:sldChg chg="modSp">
        <pc:chgData name="MADNEETA SINGH" userId="ba487e41d220043c" providerId="LiveId" clId="{30E7BE5C-51CB-48D7-B04E-23F60CC9E304}" dt="2024-01-08T02:50:34.351" v="4"/>
        <pc:sldMkLst>
          <pc:docMk/>
          <pc:sldMk cId="3919311891" sldId="330"/>
        </pc:sldMkLst>
        <pc:spChg chg="mod">
          <ac:chgData name="MADNEETA SINGH" userId="ba487e41d220043c" providerId="LiveId" clId="{30E7BE5C-51CB-48D7-B04E-23F60CC9E304}" dt="2024-01-08T02:50:34.351" v="4"/>
          <ac:spMkLst>
            <pc:docMk/>
            <pc:sldMk cId="3919311891" sldId="330"/>
            <ac:spMk id="9" creationId="{00000000-0000-0000-0000-000000000000}"/>
          </ac:spMkLst>
        </pc:spChg>
      </pc:sldChg>
      <pc:sldChg chg="modSp">
        <pc:chgData name="MADNEETA SINGH" userId="ba487e41d220043c" providerId="LiveId" clId="{30E7BE5C-51CB-48D7-B04E-23F60CC9E304}" dt="2024-01-08T02:50:34.351" v="4"/>
        <pc:sldMkLst>
          <pc:docMk/>
          <pc:sldMk cId="3919311891" sldId="331"/>
        </pc:sldMkLst>
        <pc:spChg chg="mod">
          <ac:chgData name="MADNEETA SINGH" userId="ba487e41d220043c" providerId="LiveId" clId="{30E7BE5C-51CB-48D7-B04E-23F60CC9E304}" dt="2024-01-08T02:50:34.351" v="4"/>
          <ac:spMkLst>
            <pc:docMk/>
            <pc:sldMk cId="3919311891" sldId="331"/>
            <ac:spMk id="9" creationId="{00000000-0000-0000-0000-000000000000}"/>
          </ac:spMkLst>
        </pc:spChg>
      </pc:sldChg>
      <pc:sldChg chg="modSp">
        <pc:chgData name="MADNEETA SINGH" userId="ba487e41d220043c" providerId="LiveId" clId="{30E7BE5C-51CB-48D7-B04E-23F60CC9E304}" dt="2024-01-08T02:50:34.351" v="4"/>
        <pc:sldMkLst>
          <pc:docMk/>
          <pc:sldMk cId="3919311891" sldId="333"/>
        </pc:sldMkLst>
        <pc:spChg chg="mod">
          <ac:chgData name="MADNEETA SINGH" userId="ba487e41d220043c" providerId="LiveId" clId="{30E7BE5C-51CB-48D7-B04E-23F60CC9E304}" dt="2024-01-08T02:50:34.351" v="4"/>
          <ac:spMkLst>
            <pc:docMk/>
            <pc:sldMk cId="3919311891" sldId="333"/>
            <ac:spMk id="9" creationId="{00000000-0000-0000-0000-000000000000}"/>
          </ac:spMkLst>
        </pc:spChg>
      </pc:sldChg>
      <pc:sldChg chg="modSp">
        <pc:chgData name="MADNEETA SINGH" userId="ba487e41d220043c" providerId="LiveId" clId="{30E7BE5C-51CB-48D7-B04E-23F60CC9E304}" dt="2024-01-08T02:50:34.351" v="4"/>
        <pc:sldMkLst>
          <pc:docMk/>
          <pc:sldMk cId="3919311891" sldId="334"/>
        </pc:sldMkLst>
        <pc:spChg chg="mod">
          <ac:chgData name="MADNEETA SINGH" userId="ba487e41d220043c" providerId="LiveId" clId="{30E7BE5C-51CB-48D7-B04E-23F60CC9E304}" dt="2024-01-08T02:50:34.351" v="4"/>
          <ac:spMkLst>
            <pc:docMk/>
            <pc:sldMk cId="3919311891" sldId="334"/>
            <ac:spMk id="9" creationId="{00000000-0000-0000-0000-000000000000}"/>
          </ac:spMkLst>
        </pc:spChg>
      </pc:sldChg>
      <pc:sldChg chg="modSp">
        <pc:chgData name="MADNEETA SINGH" userId="ba487e41d220043c" providerId="LiveId" clId="{30E7BE5C-51CB-48D7-B04E-23F60CC9E304}" dt="2024-01-08T02:50:34.351" v="4"/>
        <pc:sldMkLst>
          <pc:docMk/>
          <pc:sldMk cId="3919311891" sldId="336"/>
        </pc:sldMkLst>
        <pc:spChg chg="mod">
          <ac:chgData name="MADNEETA SINGH" userId="ba487e41d220043c" providerId="LiveId" clId="{30E7BE5C-51CB-48D7-B04E-23F60CC9E304}" dt="2024-01-08T02:50:34.351" v="4"/>
          <ac:spMkLst>
            <pc:docMk/>
            <pc:sldMk cId="3919311891" sldId="336"/>
            <ac:spMk id="9" creationId="{00000000-0000-0000-0000-000000000000}"/>
          </ac:spMkLst>
        </pc:spChg>
      </pc:sldChg>
      <pc:sldChg chg="modSp">
        <pc:chgData name="MADNEETA SINGH" userId="ba487e41d220043c" providerId="LiveId" clId="{30E7BE5C-51CB-48D7-B04E-23F60CC9E304}" dt="2024-01-08T02:50:34.351" v="4"/>
        <pc:sldMkLst>
          <pc:docMk/>
          <pc:sldMk cId="3919311891" sldId="337"/>
        </pc:sldMkLst>
        <pc:spChg chg="mod">
          <ac:chgData name="MADNEETA SINGH" userId="ba487e41d220043c" providerId="LiveId" clId="{30E7BE5C-51CB-48D7-B04E-23F60CC9E304}" dt="2024-01-08T02:50:34.351" v="4"/>
          <ac:spMkLst>
            <pc:docMk/>
            <pc:sldMk cId="3919311891" sldId="337"/>
            <ac:spMk id="9" creationId="{00000000-0000-0000-0000-000000000000}"/>
          </ac:spMkLst>
        </pc:spChg>
      </pc:sldChg>
      <pc:sldChg chg="modSp">
        <pc:chgData name="MADNEETA SINGH" userId="ba487e41d220043c" providerId="LiveId" clId="{30E7BE5C-51CB-48D7-B04E-23F60CC9E304}" dt="2024-01-08T02:50:34.351" v="4"/>
        <pc:sldMkLst>
          <pc:docMk/>
          <pc:sldMk cId="3919311891" sldId="339"/>
        </pc:sldMkLst>
        <pc:spChg chg="mod">
          <ac:chgData name="MADNEETA SINGH" userId="ba487e41d220043c" providerId="LiveId" clId="{30E7BE5C-51CB-48D7-B04E-23F60CC9E304}" dt="2024-01-08T02:50:34.351" v="4"/>
          <ac:spMkLst>
            <pc:docMk/>
            <pc:sldMk cId="3919311891" sldId="339"/>
            <ac:spMk id="9" creationId="{00000000-0000-0000-0000-000000000000}"/>
          </ac:spMkLst>
        </pc:spChg>
      </pc:sldChg>
      <pc:sldChg chg="modSp">
        <pc:chgData name="MADNEETA SINGH" userId="ba487e41d220043c" providerId="LiveId" clId="{30E7BE5C-51CB-48D7-B04E-23F60CC9E304}" dt="2024-01-08T02:50:34.351" v="4"/>
        <pc:sldMkLst>
          <pc:docMk/>
          <pc:sldMk cId="3919311891" sldId="340"/>
        </pc:sldMkLst>
        <pc:spChg chg="mod">
          <ac:chgData name="MADNEETA SINGH" userId="ba487e41d220043c" providerId="LiveId" clId="{30E7BE5C-51CB-48D7-B04E-23F60CC9E304}" dt="2024-01-08T02:50:34.351" v="4"/>
          <ac:spMkLst>
            <pc:docMk/>
            <pc:sldMk cId="3919311891" sldId="340"/>
            <ac:spMk id="9" creationId="{00000000-0000-0000-0000-000000000000}"/>
          </ac:spMkLst>
        </pc:spChg>
      </pc:sldChg>
      <pc:sldChg chg="modSp">
        <pc:chgData name="MADNEETA SINGH" userId="ba487e41d220043c" providerId="LiveId" clId="{30E7BE5C-51CB-48D7-B04E-23F60CC9E304}" dt="2024-01-08T02:50:34.351" v="4"/>
        <pc:sldMkLst>
          <pc:docMk/>
          <pc:sldMk cId="3919311891" sldId="342"/>
        </pc:sldMkLst>
        <pc:spChg chg="mod">
          <ac:chgData name="MADNEETA SINGH" userId="ba487e41d220043c" providerId="LiveId" clId="{30E7BE5C-51CB-48D7-B04E-23F60CC9E304}" dt="2024-01-08T02:50:34.351" v="4"/>
          <ac:spMkLst>
            <pc:docMk/>
            <pc:sldMk cId="3919311891" sldId="342"/>
            <ac:spMk id="9" creationId="{00000000-0000-0000-0000-000000000000}"/>
          </ac:spMkLst>
        </pc:spChg>
      </pc:sldChg>
      <pc:sldChg chg="modSp">
        <pc:chgData name="MADNEETA SINGH" userId="ba487e41d220043c" providerId="LiveId" clId="{30E7BE5C-51CB-48D7-B04E-23F60CC9E304}" dt="2024-01-08T02:50:34.351" v="4"/>
        <pc:sldMkLst>
          <pc:docMk/>
          <pc:sldMk cId="3919311891" sldId="343"/>
        </pc:sldMkLst>
        <pc:spChg chg="mod">
          <ac:chgData name="MADNEETA SINGH" userId="ba487e41d220043c" providerId="LiveId" clId="{30E7BE5C-51CB-48D7-B04E-23F60CC9E304}" dt="2024-01-08T02:50:34.351" v="4"/>
          <ac:spMkLst>
            <pc:docMk/>
            <pc:sldMk cId="3919311891" sldId="343"/>
            <ac:spMk id="9" creationId="{00000000-0000-0000-0000-000000000000}"/>
          </ac:spMkLst>
        </pc:spChg>
      </pc:sldChg>
      <pc:sldChg chg="addSp delSp modSp mod">
        <pc:chgData name="MADNEETA SINGH" userId="ba487e41d220043c" providerId="LiveId" clId="{30E7BE5C-51CB-48D7-B04E-23F60CC9E304}" dt="2024-01-08T02:50:34.351" v="4"/>
        <pc:sldMkLst>
          <pc:docMk/>
          <pc:sldMk cId="3157954392" sldId="344"/>
        </pc:sldMkLst>
        <pc:spChg chg="mod">
          <ac:chgData name="MADNEETA SINGH" userId="ba487e41d220043c" providerId="LiveId" clId="{30E7BE5C-51CB-48D7-B04E-23F60CC9E304}" dt="2024-01-08T02:50:34.351" v="4"/>
          <ac:spMkLst>
            <pc:docMk/>
            <pc:sldMk cId="3157954392" sldId="344"/>
            <ac:spMk id="13" creationId="{00000000-0000-0000-0000-000000000000}"/>
          </ac:spMkLst>
        </pc:spChg>
        <pc:picChg chg="del">
          <ac:chgData name="MADNEETA SINGH" userId="ba487e41d220043c" providerId="LiveId" clId="{30E7BE5C-51CB-48D7-B04E-23F60CC9E304}" dt="2023-12-30T11:15:52.806" v="0" actId="478"/>
          <ac:picMkLst>
            <pc:docMk/>
            <pc:sldMk cId="3157954392" sldId="344"/>
            <ac:picMk id="2" creationId="{00000000-0000-0000-0000-000000000000}"/>
          </ac:picMkLst>
        </pc:picChg>
        <pc:picChg chg="add mod">
          <ac:chgData name="MADNEETA SINGH" userId="ba487e41d220043c" providerId="LiveId" clId="{30E7BE5C-51CB-48D7-B04E-23F60CC9E304}" dt="2023-12-30T11:15:53.605" v="1"/>
          <ac:picMkLst>
            <pc:docMk/>
            <pc:sldMk cId="3157954392" sldId="344"/>
            <ac:picMk id="4" creationId="{55FE0C49-4CAC-069B-3BA7-5B0EDD68A78D}"/>
          </ac:picMkLst>
        </pc:picChg>
      </pc:sldChg>
      <pc:sldChg chg="modSp">
        <pc:chgData name="MADNEETA SINGH" userId="ba487e41d220043c" providerId="LiveId" clId="{30E7BE5C-51CB-48D7-B04E-23F60CC9E304}" dt="2024-01-08T02:50:34.351" v="4"/>
        <pc:sldMkLst>
          <pc:docMk/>
          <pc:sldMk cId="2790813631" sldId="345"/>
        </pc:sldMkLst>
        <pc:spChg chg="mod">
          <ac:chgData name="MADNEETA SINGH" userId="ba487e41d220043c" providerId="LiveId" clId="{30E7BE5C-51CB-48D7-B04E-23F60CC9E304}" dt="2024-01-08T02:50:34.351" v="4"/>
          <ac:spMkLst>
            <pc:docMk/>
            <pc:sldMk cId="2790813631" sldId="345"/>
            <ac:spMk id="8" creationId="{6FA00553-970E-4494-8393-F217E60B36B8}"/>
          </ac:spMkLst>
        </pc:spChg>
      </pc:sldChg>
      <pc:sldChg chg="modSp">
        <pc:chgData name="MADNEETA SINGH" userId="ba487e41d220043c" providerId="LiveId" clId="{30E7BE5C-51CB-48D7-B04E-23F60CC9E304}" dt="2024-01-08T02:50:34.351" v="4"/>
        <pc:sldMkLst>
          <pc:docMk/>
          <pc:sldMk cId="2966671984" sldId="346"/>
        </pc:sldMkLst>
        <pc:spChg chg="mod">
          <ac:chgData name="MADNEETA SINGH" userId="ba487e41d220043c" providerId="LiveId" clId="{30E7BE5C-51CB-48D7-B04E-23F60CC9E304}" dt="2024-01-08T02:50:34.351" v="4"/>
          <ac:spMkLst>
            <pc:docMk/>
            <pc:sldMk cId="2966671984" sldId="346"/>
            <ac:spMk id="8" creationId="{6FA00553-970E-4494-8393-F217E60B36B8}"/>
          </ac:spMkLst>
        </pc:spChg>
      </pc:sldChg>
      <pc:sldChg chg="modSp">
        <pc:chgData name="MADNEETA SINGH" userId="ba487e41d220043c" providerId="LiveId" clId="{30E7BE5C-51CB-48D7-B04E-23F60CC9E304}" dt="2024-01-08T02:50:34.351" v="4"/>
        <pc:sldMkLst>
          <pc:docMk/>
          <pc:sldMk cId="3551514136" sldId="347"/>
        </pc:sldMkLst>
        <pc:spChg chg="mod">
          <ac:chgData name="MADNEETA SINGH" userId="ba487e41d220043c" providerId="LiveId" clId="{30E7BE5C-51CB-48D7-B04E-23F60CC9E304}" dt="2024-01-08T02:50:34.351" v="4"/>
          <ac:spMkLst>
            <pc:docMk/>
            <pc:sldMk cId="3551514136" sldId="347"/>
            <ac:spMk id="9" creationId="{00000000-0000-0000-0000-000000000000}"/>
          </ac:spMkLst>
        </pc:spChg>
      </pc:sldChg>
      <pc:sldChg chg="modSp">
        <pc:chgData name="MADNEETA SINGH" userId="ba487e41d220043c" providerId="LiveId" clId="{30E7BE5C-51CB-48D7-B04E-23F60CC9E304}" dt="2024-01-08T02:50:34.351" v="4"/>
        <pc:sldMkLst>
          <pc:docMk/>
          <pc:sldMk cId="3085087493" sldId="348"/>
        </pc:sldMkLst>
        <pc:spChg chg="mod">
          <ac:chgData name="MADNEETA SINGH" userId="ba487e41d220043c" providerId="LiveId" clId="{30E7BE5C-51CB-48D7-B04E-23F60CC9E304}" dt="2024-01-08T02:50:34.351" v="4"/>
          <ac:spMkLst>
            <pc:docMk/>
            <pc:sldMk cId="3085087493" sldId="348"/>
            <ac:spMk id="8" creationId="{6FA00553-970E-4494-8393-F217E60B36B8}"/>
          </ac:spMkLst>
        </pc:spChg>
      </pc:sldChg>
      <pc:sldChg chg="modSp">
        <pc:chgData name="MADNEETA SINGH" userId="ba487e41d220043c" providerId="LiveId" clId="{30E7BE5C-51CB-48D7-B04E-23F60CC9E304}" dt="2024-01-08T02:50:34.351" v="4"/>
        <pc:sldMkLst>
          <pc:docMk/>
          <pc:sldMk cId="1673301265" sldId="349"/>
        </pc:sldMkLst>
        <pc:spChg chg="mod">
          <ac:chgData name="MADNEETA SINGH" userId="ba487e41d220043c" providerId="LiveId" clId="{30E7BE5C-51CB-48D7-B04E-23F60CC9E304}" dt="2024-01-08T02:50:34.351" v="4"/>
          <ac:spMkLst>
            <pc:docMk/>
            <pc:sldMk cId="1673301265" sldId="349"/>
            <ac:spMk id="15" creationId="{00000000-0000-0000-0000-000000000000}"/>
          </ac:spMkLst>
        </pc:spChg>
      </pc:sldChg>
      <pc:sldMasterChg chg="modSp modSldLayout">
        <pc:chgData name="MADNEETA SINGH" userId="ba487e41d220043c" providerId="LiveId" clId="{30E7BE5C-51CB-48D7-B04E-23F60CC9E304}" dt="2024-01-08T02:50:34.351" v="4"/>
        <pc:sldMasterMkLst>
          <pc:docMk/>
          <pc:sldMasterMk cId="0" sldId="2147483648"/>
        </pc:sldMasterMkLst>
        <pc:spChg chg="mod">
          <ac:chgData name="MADNEETA SINGH" userId="ba487e41d220043c" providerId="LiveId" clId="{30E7BE5C-51CB-48D7-B04E-23F60CC9E304}" dt="2024-01-08T02:50:34.351" v="4"/>
          <ac:spMkLst>
            <pc:docMk/>
            <pc:sldMasterMk cId="0" sldId="2147483648"/>
            <ac:spMk id="5" creationId="{00000000-0000-0000-0000-000000000000}"/>
          </ac:spMkLst>
        </pc:spChg>
        <pc:sldLayoutChg chg="modSp">
          <pc:chgData name="MADNEETA SINGH" userId="ba487e41d220043c" providerId="LiveId" clId="{30E7BE5C-51CB-48D7-B04E-23F60CC9E304}" dt="2024-01-08T02:50:34.351" v="4"/>
          <pc:sldLayoutMkLst>
            <pc:docMk/>
            <pc:sldMasterMk cId="0" sldId="2147483648"/>
            <pc:sldLayoutMk cId="0" sldId="2147483649"/>
          </pc:sldLayoutMkLst>
          <pc:spChg chg="mod">
            <ac:chgData name="MADNEETA SINGH" userId="ba487e41d220043c" providerId="LiveId" clId="{30E7BE5C-51CB-48D7-B04E-23F60CC9E304}" dt="2024-01-08T02:50:34.351" v="4"/>
            <ac:spMkLst>
              <pc:docMk/>
              <pc:sldMasterMk cId="0" sldId="2147483648"/>
              <pc:sldLayoutMk cId="0" sldId="2147483649"/>
              <ac:spMk id="5" creationId="{00000000-0000-0000-0000-000000000000}"/>
            </ac:spMkLst>
          </pc:spChg>
        </pc:sldLayoutChg>
        <pc:sldLayoutChg chg="modSp">
          <pc:chgData name="MADNEETA SINGH" userId="ba487e41d220043c" providerId="LiveId" clId="{30E7BE5C-51CB-48D7-B04E-23F60CC9E304}" dt="2024-01-08T02:50:34.351" v="4"/>
          <pc:sldLayoutMkLst>
            <pc:docMk/>
            <pc:sldMasterMk cId="0" sldId="2147483648"/>
            <pc:sldLayoutMk cId="0" sldId="2147483650"/>
          </pc:sldLayoutMkLst>
          <pc:spChg chg="mod">
            <ac:chgData name="MADNEETA SINGH" userId="ba487e41d220043c" providerId="LiveId" clId="{30E7BE5C-51CB-48D7-B04E-23F60CC9E304}" dt="2024-01-08T02:50:34.351" v="4"/>
            <ac:spMkLst>
              <pc:docMk/>
              <pc:sldMasterMk cId="0" sldId="2147483648"/>
              <pc:sldLayoutMk cId="0" sldId="2147483650"/>
              <ac:spMk id="5" creationId="{00000000-0000-0000-0000-000000000000}"/>
            </ac:spMkLst>
          </pc:spChg>
        </pc:sldLayoutChg>
        <pc:sldLayoutChg chg="modSp">
          <pc:chgData name="MADNEETA SINGH" userId="ba487e41d220043c" providerId="LiveId" clId="{30E7BE5C-51CB-48D7-B04E-23F60CC9E304}" dt="2024-01-08T02:50:34.351" v="4"/>
          <pc:sldLayoutMkLst>
            <pc:docMk/>
            <pc:sldMasterMk cId="0" sldId="2147483648"/>
            <pc:sldLayoutMk cId="0" sldId="2147483651"/>
          </pc:sldLayoutMkLst>
          <pc:spChg chg="mod">
            <ac:chgData name="MADNEETA SINGH" userId="ba487e41d220043c" providerId="LiveId" clId="{30E7BE5C-51CB-48D7-B04E-23F60CC9E304}" dt="2024-01-08T02:50:34.351" v="4"/>
            <ac:spMkLst>
              <pc:docMk/>
              <pc:sldMasterMk cId="0" sldId="2147483648"/>
              <pc:sldLayoutMk cId="0" sldId="2147483651"/>
              <ac:spMk id="5" creationId="{00000000-0000-0000-0000-000000000000}"/>
            </ac:spMkLst>
          </pc:spChg>
        </pc:sldLayoutChg>
        <pc:sldLayoutChg chg="modSp">
          <pc:chgData name="MADNEETA SINGH" userId="ba487e41d220043c" providerId="LiveId" clId="{30E7BE5C-51CB-48D7-B04E-23F60CC9E304}" dt="2024-01-08T02:50:34.351" v="4"/>
          <pc:sldLayoutMkLst>
            <pc:docMk/>
            <pc:sldMasterMk cId="0" sldId="2147483648"/>
            <pc:sldLayoutMk cId="0" sldId="2147483652"/>
          </pc:sldLayoutMkLst>
          <pc:spChg chg="mod">
            <ac:chgData name="MADNEETA SINGH" userId="ba487e41d220043c" providerId="LiveId" clId="{30E7BE5C-51CB-48D7-B04E-23F60CC9E304}" dt="2024-01-08T02:50:34.351" v="4"/>
            <ac:spMkLst>
              <pc:docMk/>
              <pc:sldMasterMk cId="0" sldId="2147483648"/>
              <pc:sldLayoutMk cId="0" sldId="2147483652"/>
              <ac:spMk id="6" creationId="{00000000-0000-0000-0000-000000000000}"/>
            </ac:spMkLst>
          </pc:spChg>
        </pc:sldLayoutChg>
        <pc:sldLayoutChg chg="modSp">
          <pc:chgData name="MADNEETA SINGH" userId="ba487e41d220043c" providerId="LiveId" clId="{30E7BE5C-51CB-48D7-B04E-23F60CC9E304}" dt="2024-01-08T02:50:34.351" v="4"/>
          <pc:sldLayoutMkLst>
            <pc:docMk/>
            <pc:sldMasterMk cId="0" sldId="2147483648"/>
            <pc:sldLayoutMk cId="0" sldId="2147483653"/>
          </pc:sldLayoutMkLst>
          <pc:spChg chg="mod">
            <ac:chgData name="MADNEETA SINGH" userId="ba487e41d220043c" providerId="LiveId" clId="{30E7BE5C-51CB-48D7-B04E-23F60CC9E304}" dt="2024-01-08T02:50:34.351" v="4"/>
            <ac:spMkLst>
              <pc:docMk/>
              <pc:sldMasterMk cId="0" sldId="2147483648"/>
              <pc:sldLayoutMk cId="0" sldId="2147483653"/>
              <ac:spMk id="8" creationId="{00000000-0000-0000-0000-000000000000}"/>
            </ac:spMkLst>
          </pc:spChg>
        </pc:sldLayoutChg>
        <pc:sldLayoutChg chg="modSp">
          <pc:chgData name="MADNEETA SINGH" userId="ba487e41d220043c" providerId="LiveId" clId="{30E7BE5C-51CB-48D7-B04E-23F60CC9E304}" dt="2024-01-08T02:50:34.351" v="4"/>
          <pc:sldLayoutMkLst>
            <pc:docMk/>
            <pc:sldMasterMk cId="0" sldId="2147483648"/>
            <pc:sldLayoutMk cId="0" sldId="2147483654"/>
          </pc:sldLayoutMkLst>
          <pc:spChg chg="mod">
            <ac:chgData name="MADNEETA SINGH" userId="ba487e41d220043c" providerId="LiveId" clId="{30E7BE5C-51CB-48D7-B04E-23F60CC9E304}" dt="2024-01-08T02:50:34.351" v="4"/>
            <ac:spMkLst>
              <pc:docMk/>
              <pc:sldMasterMk cId="0" sldId="2147483648"/>
              <pc:sldLayoutMk cId="0" sldId="2147483654"/>
              <ac:spMk id="4" creationId="{00000000-0000-0000-0000-000000000000}"/>
            </ac:spMkLst>
          </pc:spChg>
        </pc:sldLayoutChg>
        <pc:sldLayoutChg chg="modSp">
          <pc:chgData name="MADNEETA SINGH" userId="ba487e41d220043c" providerId="LiveId" clId="{30E7BE5C-51CB-48D7-B04E-23F60CC9E304}" dt="2024-01-08T02:50:34.351" v="4"/>
          <pc:sldLayoutMkLst>
            <pc:docMk/>
            <pc:sldMasterMk cId="0" sldId="2147483648"/>
            <pc:sldLayoutMk cId="0" sldId="2147483655"/>
          </pc:sldLayoutMkLst>
          <pc:spChg chg="mod">
            <ac:chgData name="MADNEETA SINGH" userId="ba487e41d220043c" providerId="LiveId" clId="{30E7BE5C-51CB-48D7-B04E-23F60CC9E304}" dt="2024-01-08T02:50:34.351" v="4"/>
            <ac:spMkLst>
              <pc:docMk/>
              <pc:sldMasterMk cId="0" sldId="2147483648"/>
              <pc:sldLayoutMk cId="0" sldId="2147483655"/>
              <ac:spMk id="3" creationId="{00000000-0000-0000-0000-000000000000}"/>
            </ac:spMkLst>
          </pc:spChg>
        </pc:sldLayoutChg>
        <pc:sldLayoutChg chg="modSp">
          <pc:chgData name="MADNEETA SINGH" userId="ba487e41d220043c" providerId="LiveId" clId="{30E7BE5C-51CB-48D7-B04E-23F60CC9E304}" dt="2024-01-08T02:50:34.351" v="4"/>
          <pc:sldLayoutMkLst>
            <pc:docMk/>
            <pc:sldMasterMk cId="0" sldId="2147483648"/>
            <pc:sldLayoutMk cId="0" sldId="2147483656"/>
          </pc:sldLayoutMkLst>
          <pc:spChg chg="mod">
            <ac:chgData name="MADNEETA SINGH" userId="ba487e41d220043c" providerId="LiveId" clId="{30E7BE5C-51CB-48D7-B04E-23F60CC9E304}" dt="2024-01-08T02:50:34.351" v="4"/>
            <ac:spMkLst>
              <pc:docMk/>
              <pc:sldMasterMk cId="0" sldId="2147483648"/>
              <pc:sldLayoutMk cId="0" sldId="2147483656"/>
              <ac:spMk id="6" creationId="{00000000-0000-0000-0000-000000000000}"/>
            </ac:spMkLst>
          </pc:spChg>
        </pc:sldLayoutChg>
        <pc:sldLayoutChg chg="modSp">
          <pc:chgData name="MADNEETA SINGH" userId="ba487e41d220043c" providerId="LiveId" clId="{30E7BE5C-51CB-48D7-B04E-23F60CC9E304}" dt="2024-01-08T02:50:34.351" v="4"/>
          <pc:sldLayoutMkLst>
            <pc:docMk/>
            <pc:sldMasterMk cId="0" sldId="2147483648"/>
            <pc:sldLayoutMk cId="0" sldId="2147483657"/>
          </pc:sldLayoutMkLst>
          <pc:spChg chg="mod">
            <ac:chgData name="MADNEETA SINGH" userId="ba487e41d220043c" providerId="LiveId" clId="{30E7BE5C-51CB-48D7-B04E-23F60CC9E304}" dt="2024-01-08T02:50:34.351" v="4"/>
            <ac:spMkLst>
              <pc:docMk/>
              <pc:sldMasterMk cId="0" sldId="2147483648"/>
              <pc:sldLayoutMk cId="0" sldId="2147483657"/>
              <ac:spMk id="6" creationId="{00000000-0000-0000-0000-000000000000}"/>
            </ac:spMkLst>
          </pc:spChg>
        </pc:sldLayoutChg>
        <pc:sldLayoutChg chg="modSp">
          <pc:chgData name="MADNEETA SINGH" userId="ba487e41d220043c" providerId="LiveId" clId="{30E7BE5C-51CB-48D7-B04E-23F60CC9E304}" dt="2024-01-08T02:50:34.351" v="4"/>
          <pc:sldLayoutMkLst>
            <pc:docMk/>
            <pc:sldMasterMk cId="0" sldId="2147483648"/>
            <pc:sldLayoutMk cId="0" sldId="2147483658"/>
          </pc:sldLayoutMkLst>
          <pc:spChg chg="mod">
            <ac:chgData name="MADNEETA SINGH" userId="ba487e41d220043c" providerId="LiveId" clId="{30E7BE5C-51CB-48D7-B04E-23F60CC9E304}" dt="2024-01-08T02:50:34.351" v="4"/>
            <ac:spMkLst>
              <pc:docMk/>
              <pc:sldMasterMk cId="0" sldId="2147483648"/>
              <pc:sldLayoutMk cId="0" sldId="2147483658"/>
              <ac:spMk id="5" creationId="{00000000-0000-0000-0000-000000000000}"/>
            </ac:spMkLst>
          </pc:spChg>
        </pc:sldLayoutChg>
        <pc:sldLayoutChg chg="modSp">
          <pc:chgData name="MADNEETA SINGH" userId="ba487e41d220043c" providerId="LiveId" clId="{30E7BE5C-51CB-48D7-B04E-23F60CC9E304}" dt="2024-01-08T02:50:34.351" v="4"/>
          <pc:sldLayoutMkLst>
            <pc:docMk/>
            <pc:sldMasterMk cId="0" sldId="2147483648"/>
            <pc:sldLayoutMk cId="0" sldId="2147483659"/>
          </pc:sldLayoutMkLst>
          <pc:spChg chg="mod">
            <ac:chgData name="MADNEETA SINGH" userId="ba487e41d220043c" providerId="LiveId" clId="{30E7BE5C-51CB-48D7-B04E-23F60CC9E304}" dt="2024-01-08T02:50:34.351" v="4"/>
            <ac:spMkLst>
              <pc:docMk/>
              <pc:sldMasterMk cId="0" sldId="2147483648"/>
              <pc:sldLayoutMk cId="0" sldId="2147483659"/>
              <ac:spMk id="5"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67353C-2CA3-45F7-A9E1-840DC3A5C112}" type="datetimeFigureOut">
              <a:rPr lang="en-US" smtClean="0"/>
              <a:pPr/>
              <a:t>5/1/2026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38B7A7-F0EB-43BF-8A13-E89728DFA5B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5800"/>
            <a:ext cx="4570412"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2430885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extLst>
      <p:ext uri="{BB962C8B-B14F-4D97-AF65-F5344CB8AC3E}">
        <p14:creationId xmlns:p14="http://schemas.microsoft.com/office/powerpoint/2010/main" val="1752121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11</a:t>
            </a:fld>
            <a:endParaRPr lang="en-US" altLang="en-US">
              <a:latin typeface="Calibri" panose="020F0502020204030204" pitchFamily="34" charset="0"/>
            </a:endParaRPr>
          </a:p>
        </p:txBody>
      </p:sp>
    </p:spTree>
    <p:extLst>
      <p:ext uri="{BB962C8B-B14F-4D97-AF65-F5344CB8AC3E}">
        <p14:creationId xmlns:p14="http://schemas.microsoft.com/office/powerpoint/2010/main" val="455918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13</a:t>
            </a:fld>
            <a:endParaRPr lang="en-US" altLang="en-US">
              <a:latin typeface="Calibri" panose="020F0502020204030204" pitchFamily="34" charset="0"/>
            </a:endParaRPr>
          </a:p>
        </p:txBody>
      </p:sp>
    </p:spTree>
    <p:extLst>
      <p:ext uri="{BB962C8B-B14F-4D97-AF65-F5344CB8AC3E}">
        <p14:creationId xmlns:p14="http://schemas.microsoft.com/office/powerpoint/2010/main" val="2381579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14</a:t>
            </a:fld>
            <a:endParaRPr lang="en-US"/>
          </a:p>
        </p:txBody>
      </p:sp>
    </p:spTree>
    <p:extLst>
      <p:ext uri="{BB962C8B-B14F-4D97-AF65-F5344CB8AC3E}">
        <p14:creationId xmlns:p14="http://schemas.microsoft.com/office/powerpoint/2010/main" val="2210545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9B1642F-E42A-48FA-B34C-37F2223A5ED7}" type="slidenum">
              <a:rPr lang="en-US" smtClean="0"/>
              <a:pPr/>
              <a:t>112</a:t>
            </a:fld>
            <a:endParaRPr lang="en-US"/>
          </a:p>
        </p:txBody>
      </p:sp>
    </p:spTree>
    <p:extLst>
      <p:ext uri="{BB962C8B-B14F-4D97-AF65-F5344CB8AC3E}">
        <p14:creationId xmlns:p14="http://schemas.microsoft.com/office/powerpoint/2010/main" val="1597163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C38B7A7-F0EB-43BF-8A13-E89728DFA5B9}" type="slidenum">
              <a:rPr lang="en-US" smtClean="0"/>
              <a:pPr/>
              <a:t>123</a:t>
            </a:fld>
            <a:endParaRPr lang="en-US"/>
          </a:p>
        </p:txBody>
      </p:sp>
    </p:spTree>
    <p:extLst>
      <p:ext uri="{BB962C8B-B14F-4D97-AF65-F5344CB8AC3E}">
        <p14:creationId xmlns:p14="http://schemas.microsoft.com/office/powerpoint/2010/main" val="1842205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2464CB4-74B1-4A52-9BFA-6CD459BF15F7}" type="datetime1">
              <a:rPr lang="en-US" smtClean="0"/>
              <a:t>5/1/2026</a:t>
            </a:fld>
            <a:endParaRPr lang="en-US"/>
          </a:p>
        </p:txBody>
      </p:sp>
      <p:sp>
        <p:nvSpPr>
          <p:cNvPr id="5" name="Footer Placeholder 4"/>
          <p:cNvSpPr>
            <a:spLocks noGrp="1"/>
          </p:cNvSpPr>
          <p:nvPr>
            <p:ph type="ftr" sz="quarter" idx="11"/>
          </p:nvPr>
        </p:nvSpPr>
        <p:spPr/>
        <p:txBody>
          <a:bodyPr/>
          <a:lstStyle/>
          <a:p>
            <a:r>
              <a:rPr lang="en-US"/>
              <a:t>Mr. Minhaj Nezami     AOE0861    TQM      Unit 3</a:t>
            </a:r>
            <a:endParaRPr lang="en-US" dirty="0"/>
          </a:p>
        </p:txBody>
      </p:sp>
      <p:sp>
        <p:nvSpPr>
          <p:cNvPr id="6" name="Slide Number Placeholder 5"/>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4CD5D0-BC54-4AAB-98EE-FAA7666AAF2C}" type="datetime1">
              <a:rPr lang="en-US" smtClean="0"/>
              <a:t>5/1/2026</a:t>
            </a:fld>
            <a:endParaRPr lang="en-US"/>
          </a:p>
        </p:txBody>
      </p:sp>
      <p:sp>
        <p:nvSpPr>
          <p:cNvPr id="5" name="Footer Placeholder 4"/>
          <p:cNvSpPr>
            <a:spLocks noGrp="1"/>
          </p:cNvSpPr>
          <p:nvPr>
            <p:ph type="ftr" sz="quarter" idx="11"/>
          </p:nvPr>
        </p:nvSpPr>
        <p:spPr/>
        <p:txBody>
          <a:bodyPr/>
          <a:lstStyle/>
          <a:p>
            <a:r>
              <a:rPr lang="en-US"/>
              <a:t>Mr. Minhaj Nezami     AOE0861    TQM      Unit 3</a:t>
            </a:r>
            <a:endParaRPr lang="en-US" dirty="0"/>
          </a:p>
        </p:txBody>
      </p:sp>
      <p:sp>
        <p:nvSpPr>
          <p:cNvPr id="6" name="Slide Number Placeholder 5"/>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91C7FC-661E-4C77-8700-7F0FBE6ECB7E}" type="datetime1">
              <a:rPr lang="en-US" smtClean="0"/>
              <a:t>5/1/2026</a:t>
            </a:fld>
            <a:endParaRPr lang="en-US"/>
          </a:p>
        </p:txBody>
      </p:sp>
      <p:sp>
        <p:nvSpPr>
          <p:cNvPr id="5" name="Footer Placeholder 4"/>
          <p:cNvSpPr>
            <a:spLocks noGrp="1"/>
          </p:cNvSpPr>
          <p:nvPr>
            <p:ph type="ftr" sz="quarter" idx="11"/>
          </p:nvPr>
        </p:nvSpPr>
        <p:spPr/>
        <p:txBody>
          <a:bodyPr/>
          <a:lstStyle/>
          <a:p>
            <a:r>
              <a:rPr lang="en-US"/>
              <a:t>Mr. Minhaj Nezami     AOE0861    TQM      Unit 3</a:t>
            </a:r>
            <a:endParaRPr lang="en-US" dirty="0"/>
          </a:p>
        </p:txBody>
      </p:sp>
      <p:sp>
        <p:nvSpPr>
          <p:cNvPr id="6" name="Slide Number Placeholder 5"/>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391808-D734-420D-B157-3878CDFFB226}" type="datetime1">
              <a:rPr lang="en-US" smtClean="0"/>
              <a:t>5/1/2026</a:t>
            </a:fld>
            <a:endParaRPr lang="en-US"/>
          </a:p>
        </p:txBody>
      </p:sp>
      <p:sp>
        <p:nvSpPr>
          <p:cNvPr id="6" name="Footer Placeholder 5"/>
          <p:cNvSpPr>
            <a:spLocks noGrp="1"/>
          </p:cNvSpPr>
          <p:nvPr>
            <p:ph type="ftr" sz="quarter" idx="11"/>
          </p:nvPr>
        </p:nvSpPr>
        <p:spPr/>
        <p:txBody>
          <a:bodyPr/>
          <a:lstStyle/>
          <a:p>
            <a:r>
              <a:rPr lang="en-US"/>
              <a:t>Mr. Minhaj Nezami     AOE0861    TQM      Unit 3</a:t>
            </a:r>
            <a:endParaRPr lang="en-US" dirty="0"/>
          </a:p>
        </p:txBody>
      </p:sp>
      <p:sp>
        <p:nvSpPr>
          <p:cNvPr id="7" name="Slide Number Placeholder 6"/>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647903-309D-47E7-B6B9-DB92268E9603}" type="datetime1">
              <a:rPr lang="en-US" smtClean="0"/>
              <a:t>5/1/2026</a:t>
            </a:fld>
            <a:endParaRPr lang="en-US"/>
          </a:p>
        </p:txBody>
      </p:sp>
      <p:sp>
        <p:nvSpPr>
          <p:cNvPr id="8" name="Footer Placeholder 7"/>
          <p:cNvSpPr>
            <a:spLocks noGrp="1"/>
          </p:cNvSpPr>
          <p:nvPr>
            <p:ph type="ftr" sz="quarter" idx="11"/>
          </p:nvPr>
        </p:nvSpPr>
        <p:spPr/>
        <p:txBody>
          <a:bodyPr/>
          <a:lstStyle/>
          <a:p>
            <a:r>
              <a:rPr lang="en-US"/>
              <a:t>Mr. Minhaj Nezami     AOE0861    TQM      Unit 3</a:t>
            </a:r>
            <a:endParaRPr lang="en-US" dirty="0"/>
          </a:p>
        </p:txBody>
      </p:sp>
      <p:sp>
        <p:nvSpPr>
          <p:cNvPr id="9" name="Slide Number Placeholder 8"/>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AEC3BB9-CC2C-4E94-88D3-EDE7B7E42BEC}" type="datetime1">
              <a:rPr lang="en-US" smtClean="0"/>
              <a:t>5/1/2026</a:t>
            </a:fld>
            <a:endParaRPr lang="en-US"/>
          </a:p>
        </p:txBody>
      </p:sp>
      <p:sp>
        <p:nvSpPr>
          <p:cNvPr id="4" name="Footer Placeholder 3"/>
          <p:cNvSpPr>
            <a:spLocks noGrp="1"/>
          </p:cNvSpPr>
          <p:nvPr>
            <p:ph type="ftr" sz="quarter" idx="11"/>
          </p:nvPr>
        </p:nvSpPr>
        <p:spPr/>
        <p:txBody>
          <a:bodyPr/>
          <a:lstStyle/>
          <a:p>
            <a:r>
              <a:rPr lang="en-US"/>
              <a:t>Mr. Minhaj Nezami     AOE0861    TQM      Unit 3</a:t>
            </a:r>
            <a:endParaRPr lang="en-US" dirty="0"/>
          </a:p>
        </p:txBody>
      </p:sp>
      <p:sp>
        <p:nvSpPr>
          <p:cNvPr id="5" name="Slide Number Placeholder 4"/>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4D513E-320D-4702-BE5C-2F8BC1BD751E}" type="datetime1">
              <a:rPr lang="en-US" smtClean="0"/>
              <a:t>5/1/2026</a:t>
            </a:fld>
            <a:endParaRPr lang="en-US"/>
          </a:p>
        </p:txBody>
      </p:sp>
      <p:sp>
        <p:nvSpPr>
          <p:cNvPr id="3" name="Footer Placeholder 2"/>
          <p:cNvSpPr>
            <a:spLocks noGrp="1"/>
          </p:cNvSpPr>
          <p:nvPr>
            <p:ph type="ftr" sz="quarter" idx="11"/>
          </p:nvPr>
        </p:nvSpPr>
        <p:spPr/>
        <p:txBody>
          <a:bodyPr/>
          <a:lstStyle/>
          <a:p>
            <a:r>
              <a:rPr lang="en-US"/>
              <a:t>Mr. Minhaj Nezami     AOE0861    TQM      Unit 3</a:t>
            </a:r>
            <a:endParaRPr lang="en-US" dirty="0"/>
          </a:p>
        </p:txBody>
      </p:sp>
      <p:sp>
        <p:nvSpPr>
          <p:cNvPr id="4" name="Slide Number Placeholder 3"/>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AF2595-1903-45C5-9433-58EA21DBA418}" type="datetime1">
              <a:rPr lang="en-US" smtClean="0"/>
              <a:t>5/1/2026</a:t>
            </a:fld>
            <a:endParaRPr lang="en-US"/>
          </a:p>
        </p:txBody>
      </p:sp>
      <p:sp>
        <p:nvSpPr>
          <p:cNvPr id="6" name="Footer Placeholder 5"/>
          <p:cNvSpPr>
            <a:spLocks noGrp="1"/>
          </p:cNvSpPr>
          <p:nvPr>
            <p:ph type="ftr" sz="quarter" idx="11"/>
          </p:nvPr>
        </p:nvSpPr>
        <p:spPr/>
        <p:txBody>
          <a:bodyPr/>
          <a:lstStyle/>
          <a:p>
            <a:r>
              <a:rPr lang="en-US"/>
              <a:t>Mr. Minhaj Nezami     AOE0861    TQM      Unit 3</a:t>
            </a:r>
            <a:endParaRPr lang="en-US" dirty="0"/>
          </a:p>
        </p:txBody>
      </p:sp>
      <p:sp>
        <p:nvSpPr>
          <p:cNvPr id="7" name="Slide Number Placeholder 6"/>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3A9174-FF49-446E-9C22-11B5E03978D2}" type="datetime1">
              <a:rPr lang="en-US" smtClean="0"/>
              <a:t>5/1/2026</a:t>
            </a:fld>
            <a:endParaRPr lang="en-US"/>
          </a:p>
        </p:txBody>
      </p:sp>
      <p:sp>
        <p:nvSpPr>
          <p:cNvPr id="6" name="Footer Placeholder 5"/>
          <p:cNvSpPr>
            <a:spLocks noGrp="1"/>
          </p:cNvSpPr>
          <p:nvPr>
            <p:ph type="ftr" sz="quarter" idx="11"/>
          </p:nvPr>
        </p:nvSpPr>
        <p:spPr/>
        <p:txBody>
          <a:bodyPr/>
          <a:lstStyle/>
          <a:p>
            <a:r>
              <a:rPr lang="en-US"/>
              <a:t>Mr. Minhaj Nezami     AOE0861    TQM      Unit 3</a:t>
            </a:r>
            <a:endParaRPr lang="en-US" dirty="0"/>
          </a:p>
        </p:txBody>
      </p:sp>
      <p:sp>
        <p:nvSpPr>
          <p:cNvPr id="7" name="Slide Number Placeholder 6"/>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66A7C9-400E-4AF2-948D-CCEBF006EEBF}" type="datetime1">
              <a:rPr lang="en-US" smtClean="0"/>
              <a:t>5/1/2026</a:t>
            </a:fld>
            <a:endParaRPr lang="en-US"/>
          </a:p>
        </p:txBody>
      </p:sp>
      <p:sp>
        <p:nvSpPr>
          <p:cNvPr id="5" name="Footer Placeholder 4"/>
          <p:cNvSpPr>
            <a:spLocks noGrp="1"/>
          </p:cNvSpPr>
          <p:nvPr>
            <p:ph type="ftr" sz="quarter" idx="11"/>
          </p:nvPr>
        </p:nvSpPr>
        <p:spPr/>
        <p:txBody>
          <a:bodyPr/>
          <a:lstStyle/>
          <a:p>
            <a:r>
              <a:rPr lang="en-US"/>
              <a:t>Mr. Minhaj Nezami     AOE0861    TQM      Unit 3</a:t>
            </a:r>
            <a:endParaRPr lang="en-US" dirty="0"/>
          </a:p>
        </p:txBody>
      </p:sp>
      <p:sp>
        <p:nvSpPr>
          <p:cNvPr id="6" name="Slide Number Placeholder 5"/>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6BAB72-A226-4FBA-B847-A0B31F8EC705}" type="datetime1">
              <a:rPr lang="en-US" smtClean="0"/>
              <a:t>5/1/2026</a:t>
            </a:fld>
            <a:endParaRPr lang="en-US"/>
          </a:p>
        </p:txBody>
      </p:sp>
      <p:sp>
        <p:nvSpPr>
          <p:cNvPr id="5" name="Footer Placeholder 4"/>
          <p:cNvSpPr>
            <a:spLocks noGrp="1"/>
          </p:cNvSpPr>
          <p:nvPr>
            <p:ph type="ftr" sz="quarter" idx="11"/>
          </p:nvPr>
        </p:nvSpPr>
        <p:spPr/>
        <p:txBody>
          <a:bodyPr/>
          <a:lstStyle/>
          <a:p>
            <a:r>
              <a:rPr lang="en-US"/>
              <a:t>Mr. Minhaj Nezami     AOE0861    TQM      Unit 3</a:t>
            </a:r>
            <a:endParaRPr lang="en-US" dirty="0"/>
          </a:p>
        </p:txBody>
      </p:sp>
      <p:sp>
        <p:nvSpPr>
          <p:cNvPr id="6" name="Slide Number Placeholder 5"/>
          <p:cNvSpPr>
            <a:spLocks noGrp="1"/>
          </p:cNvSpPr>
          <p:nvPr>
            <p:ph type="sldNum" sz="quarter" idx="12"/>
          </p:nvPr>
        </p:nvSpPr>
        <p:spPr/>
        <p:txBody>
          <a:bodyPr/>
          <a:lstStyle/>
          <a:p>
            <a:fld id="{C1E006E6-D70E-49E1-83B5-61376BAEBD8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2E05AA-2970-4174-A0DD-5C7A3B28305F}" type="datetime1">
              <a:rPr lang="en-US" smtClean="0"/>
              <a:t>5/1/2026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Mr. Minhaj Nezami     AOE0861    TQM      Unit 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E006E6-D70E-49E1-83B5-61376BAEBD8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hyperlink" Target="https://www.researchgate.net/publication/318654507_Total_Quality_Management_Notes" TargetMode="External"/><Relationship Id="rId3" Type="http://schemas.openxmlformats.org/officeDocument/2006/relationships/hyperlink" Target="https://www.youtube.com/watch?v=yWlAOFs04go" TargetMode="External"/><Relationship Id="rId7" Type="http://schemas.openxmlformats.org/officeDocument/2006/relationships/hyperlink" Target="https://www.youtube.com/watch?v=HkdoR-NNEoI" TargetMode="External"/><Relationship Id="rId2" Type="http://schemas.openxmlformats.org/officeDocument/2006/relationships/hyperlink" Target="https://www.youtube.com/watch?v=Q3EOCAuExJU" TargetMode="External"/><Relationship Id="rId1" Type="http://schemas.openxmlformats.org/officeDocument/2006/relationships/slideLayout" Target="../slideLayouts/slideLayout2.xml"/><Relationship Id="rId6" Type="http://schemas.openxmlformats.org/officeDocument/2006/relationships/hyperlink" Target="https://www.youtube.com/watch?v=2ePeXePNLrs" TargetMode="External"/><Relationship Id="rId5" Type="http://schemas.openxmlformats.org/officeDocument/2006/relationships/hyperlink" Target="https://www.youtube.com/watch?v=qb3mvJ1gb9g" TargetMode="External"/><Relationship Id="rId10" Type="http://schemas.openxmlformats.org/officeDocument/2006/relationships/image" Target="../media/image2.png"/><Relationship Id="rId4" Type="http://schemas.openxmlformats.org/officeDocument/2006/relationships/hyperlink" Target="https://www.youtube.com/watch?v=QifqIoUNTJM" TargetMode="External"/><Relationship Id="rId9" Type="http://schemas.openxmlformats.org/officeDocument/2006/relationships/hyperlink" Target="http://www.mescenter.ru/images/abook_file/Total_Quality_Management_and_Six_Sigma.pdf" TargetMode="External"/></Relationships>
</file>

<file path=ppt/slides/_rels/slide10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researchgate.net/publication/318654507_Total_Quality_Management_Notes" TargetMode="Externa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1143000"/>
            <a:ext cx="5638800" cy="1100449"/>
          </a:xfrm>
        </p:spPr>
        <p:style>
          <a:lnRef idx="2">
            <a:schemeClr val="accent5"/>
          </a:lnRef>
          <a:fillRef idx="1">
            <a:schemeClr val="lt1"/>
          </a:fillRef>
          <a:effectRef idx="0">
            <a:schemeClr val="accent5"/>
          </a:effectRef>
          <a:fontRef idx="minor">
            <a:schemeClr val="dk1"/>
          </a:fontRef>
        </p:style>
        <p:txBody>
          <a:bodyPr>
            <a:normAutofit lnSpcReduction="10000"/>
          </a:bodyPr>
          <a:lstStyle/>
          <a:p>
            <a:r>
              <a:rPr lang="en-US" b="1" dirty="0">
                <a:solidFill>
                  <a:schemeClr val="tx1"/>
                </a:solidFill>
              </a:rPr>
              <a:t>Tools and Techniques for </a:t>
            </a:r>
          </a:p>
          <a:p>
            <a:r>
              <a:rPr lang="en-US" b="1" dirty="0">
                <a:solidFill>
                  <a:schemeClr val="tx1"/>
                </a:solidFill>
              </a:rPr>
              <a:t>Quality Management</a:t>
            </a:r>
          </a:p>
        </p:txBody>
      </p:sp>
      <p:sp>
        <p:nvSpPr>
          <p:cNvPr id="6" name="Subtitle 2"/>
          <p:cNvSpPr txBox="1">
            <a:spLocks/>
          </p:cNvSpPr>
          <p:nvPr/>
        </p:nvSpPr>
        <p:spPr>
          <a:xfrm>
            <a:off x="4343400" y="3810001"/>
            <a:ext cx="4648200" cy="1904999"/>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sz="2400" dirty="0">
                <a:solidFill>
                  <a:schemeClr val="tx1"/>
                </a:solidFill>
                <a:latin typeface="Times New Roman" pitchFamily="18" charset="0"/>
                <a:cs typeface="Times New Roman" pitchFamily="18" charset="0"/>
              </a:rPr>
              <a:t>Faculty Name – Mr. Minhaj Nezami</a:t>
            </a:r>
          </a:p>
          <a:p>
            <a:pPr lvl="0" algn="ctr">
              <a:spcBef>
                <a:spcPct val="20000"/>
              </a:spcBef>
              <a:defRPr/>
            </a:pPr>
            <a:r>
              <a:rPr lang="en-US" sz="2400" dirty="0">
                <a:solidFill>
                  <a:schemeClr val="tx1"/>
                </a:solidFill>
                <a:latin typeface="Times New Roman" pitchFamily="18" charset="0"/>
                <a:cs typeface="Times New Roman" pitchFamily="18" charset="0"/>
              </a:rPr>
              <a:t>Assistant Professor </a:t>
            </a:r>
          </a:p>
          <a:p>
            <a:pPr lvl="0" algn="ctr">
              <a:spcBef>
                <a:spcPct val="20000"/>
              </a:spcBef>
              <a:defRPr/>
            </a:pPr>
            <a:r>
              <a:rPr lang="en-US" sz="2400" dirty="0">
                <a:solidFill>
                  <a:schemeClr val="tx1"/>
                </a:solidFill>
                <a:latin typeface="Times New Roman" pitchFamily="18" charset="0"/>
                <a:cs typeface="Times New Roman" pitchFamily="18" charset="0"/>
              </a:rPr>
              <a:t>Department - IT</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90"/>
            <a:ext cx="2133600" cy="365125"/>
          </a:xfrm>
        </p:spPr>
        <p:txBody>
          <a:bodyPr/>
          <a:lstStyle/>
          <a:p>
            <a:fld id="{8A326AC3-CD94-4050-8D01-C88C3C60EF60}" type="datetime1">
              <a:rPr lang="en-US" smtClean="0"/>
              <a:t>5/1/2026</a:t>
            </a:fld>
            <a:endParaRPr lang="en-US" dirty="0"/>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Unit:</a:t>
            </a:r>
            <a:r>
              <a:rPr kumimoji="0" lang="en-US" sz="2400" b="0" i="0" u="none" strike="noStrike" kern="1200" cap="none" spc="0" normalizeH="0" noProof="0" dirty="0">
                <a:ln>
                  <a:noFill/>
                </a:ln>
                <a:solidFill>
                  <a:schemeClr val="tx1"/>
                </a:solidFill>
                <a:effectLst/>
                <a:uLnTx/>
                <a:uFillTx/>
                <a:latin typeface="+mn-lt"/>
                <a:ea typeface="+mn-ea"/>
                <a:cs typeface="+mn-cs"/>
              </a:rPr>
              <a:t> 3</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1676400" y="6248415"/>
            <a:ext cx="5638800" cy="365125"/>
          </a:xfrm>
        </p:spPr>
        <p:txBody>
          <a:bodyPr/>
          <a:lstStyle/>
          <a:p>
            <a:r>
              <a:rPr lang="en-US" sz="2000"/>
              <a:t>Mr. Minhaj Nezami     AOE0861    TQM      Unit 3</a:t>
            </a:r>
            <a:endParaRPr lang="en-US" sz="2000" dirty="0"/>
          </a:p>
        </p:txBody>
      </p:sp>
      <p:sp>
        <p:nvSpPr>
          <p:cNvPr id="14" name="Subtitle 2"/>
          <p:cNvSpPr txBox="1">
            <a:spLocks/>
          </p:cNvSpPr>
          <p:nvPr/>
        </p:nvSpPr>
        <p:spPr>
          <a:xfrm>
            <a:off x="152400" y="3810001"/>
            <a:ext cx="40386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Subject</a:t>
            </a:r>
            <a:r>
              <a:rPr kumimoji="0" lang="en-US" sz="2400" b="0" i="0" u="none" strike="noStrike" kern="1200" cap="none" spc="0" normalizeH="0" noProof="0" dirty="0">
                <a:ln>
                  <a:noFill/>
                </a:ln>
                <a:solidFill>
                  <a:schemeClr val="tx1"/>
                </a:solidFill>
                <a:effectLst/>
                <a:uLnTx/>
                <a:uFillTx/>
                <a:latin typeface="+mn-lt"/>
                <a:ea typeface="+mn-ea"/>
                <a:cs typeface="+mn-cs"/>
              </a:rPr>
              <a:t> Name – </a:t>
            </a:r>
            <a:r>
              <a:rPr lang="en-US" sz="2400" noProof="0" dirty="0">
                <a:solidFill>
                  <a:schemeClr val="tx1"/>
                </a:solidFill>
              </a:rPr>
              <a:t>T</a:t>
            </a:r>
            <a:r>
              <a:rPr kumimoji="0" lang="en-US" sz="2400" b="0" i="0" u="none" strike="noStrike" kern="1200" cap="none" spc="0" normalizeH="0" noProof="0" dirty="0">
                <a:ln>
                  <a:noFill/>
                </a:ln>
                <a:solidFill>
                  <a:schemeClr val="tx1"/>
                </a:solidFill>
                <a:effectLst/>
                <a:uLnTx/>
                <a:uFillTx/>
                <a:latin typeface="+mn-lt"/>
                <a:ea typeface="+mn-ea"/>
                <a:cs typeface="+mn-cs"/>
              </a:rPr>
              <a:t>otal Quality Management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39624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Course</a:t>
            </a:r>
            <a:r>
              <a:rPr kumimoji="0" lang="en-US" sz="2400" b="0" i="0" u="none" strike="noStrike" kern="1200" cap="none" spc="0" normalizeH="0" noProof="0" dirty="0">
                <a:ln>
                  <a:noFill/>
                </a:ln>
                <a:solidFill>
                  <a:schemeClr val="tx1"/>
                </a:solidFill>
                <a:effectLst/>
                <a:uLnTx/>
                <a:uFillTx/>
                <a:latin typeface="+mn-lt"/>
                <a:ea typeface="+mn-ea"/>
                <a:cs typeface="+mn-cs"/>
              </a:rPr>
              <a:t> – </a:t>
            </a:r>
            <a:r>
              <a:rPr lang="en-US" sz="2400" noProof="0" dirty="0">
                <a:solidFill>
                  <a:schemeClr val="tx1"/>
                </a:solidFill>
              </a:rPr>
              <a:t>B</a:t>
            </a:r>
            <a:r>
              <a:rPr kumimoji="0" lang="en-US" sz="2400" b="0" i="0" u="none" strike="noStrike" kern="1200" cap="none" spc="0" normalizeH="0" noProof="0" dirty="0">
                <a:ln>
                  <a:noFill/>
                </a:ln>
                <a:solidFill>
                  <a:schemeClr val="tx1"/>
                </a:solidFill>
                <a:effectLst/>
                <a:uLnTx/>
                <a:uFillTx/>
                <a:latin typeface="+mn-lt"/>
                <a:ea typeface="+mn-ea"/>
                <a:cs typeface="+mn-cs"/>
              </a:rPr>
              <a:t>. Tech  </a:t>
            </a:r>
            <a:r>
              <a:rPr lang="en-US" sz="2400" dirty="0">
                <a:solidFill>
                  <a:schemeClr val="tx1"/>
                </a:solidFill>
              </a:rPr>
              <a:t>8</a:t>
            </a:r>
            <a:r>
              <a:rPr kumimoji="0" lang="en-US" sz="2400" b="0" i="0" u="none" strike="noStrike" kern="1200" cap="none" spc="0" normalizeH="0" baseline="30000" noProof="0" dirty="0" err="1">
                <a:ln>
                  <a:noFill/>
                </a:ln>
                <a:solidFill>
                  <a:schemeClr val="tx1"/>
                </a:solidFill>
                <a:effectLst/>
                <a:uLnTx/>
                <a:uFillTx/>
                <a:latin typeface="+mn-lt"/>
                <a:ea typeface="+mn-ea"/>
                <a:cs typeface="+mn-cs"/>
              </a:rPr>
              <a:t>th</a:t>
            </a:r>
            <a:r>
              <a:rPr kumimoji="0" lang="en-US" sz="2400" b="0" i="0" u="none" strike="noStrike" kern="1200" cap="none" spc="0" normalizeH="0" noProof="0" dirty="0">
                <a:ln>
                  <a:noFill/>
                </a:ln>
                <a:solidFill>
                  <a:schemeClr val="tx1"/>
                </a:solidFill>
                <a:effectLst/>
                <a:uLnTx/>
                <a:uFillTx/>
                <a:latin typeface="+mn-lt"/>
                <a:ea typeface="+mn-ea"/>
                <a:cs typeface="+mn-cs"/>
              </a:rPr>
              <a:t> </a:t>
            </a:r>
            <a:r>
              <a:rPr lang="en-US" sz="2400" dirty="0">
                <a:solidFill>
                  <a:schemeClr val="tx1"/>
                </a:solidFill>
              </a:rPr>
              <a:t>S</a:t>
            </a:r>
            <a:r>
              <a:rPr kumimoji="0" lang="en-US" sz="2400" b="0" i="0" u="none" strike="noStrike" kern="1200" cap="none" spc="0" normalizeH="0" noProof="0" dirty="0" err="1">
                <a:ln>
                  <a:noFill/>
                </a:ln>
                <a:solidFill>
                  <a:schemeClr val="tx1"/>
                </a:solidFill>
                <a:effectLst/>
                <a:uLnTx/>
                <a:uFillTx/>
                <a:latin typeface="+mn-lt"/>
                <a:ea typeface="+mn-ea"/>
                <a:cs typeface="+mn-cs"/>
              </a:rPr>
              <a:t>emester</a:t>
            </a:r>
            <a:r>
              <a:rPr kumimoji="0" lang="en-US" sz="2400" b="0" i="0" u="none" strike="noStrike" kern="1200" cap="none" spc="0" normalizeH="0" noProof="0" dirty="0">
                <a:ln>
                  <a:noFill/>
                </a:ln>
                <a:solidFill>
                  <a:schemeClr val="tx1"/>
                </a:solidFill>
                <a:effectLst/>
                <a:uLnTx/>
                <a:uFillTx/>
                <a:latin typeface="+mn-lt"/>
                <a:ea typeface="+mn-ea"/>
                <a:cs typeface="+mn-cs"/>
              </a:rPr>
              <a:t> </a:t>
            </a:r>
            <a:br>
              <a:rPr kumimoji="0" lang="en-US" sz="2000" b="0" i="0" u="none" strike="noStrike" kern="1200" cap="none" spc="0" normalizeH="0" noProof="0" dirty="0">
                <a:ln>
                  <a:noFill/>
                </a:ln>
                <a:solidFill>
                  <a:schemeClr val="tx1"/>
                </a:solidFill>
                <a:effectLst/>
                <a:uLnTx/>
                <a:uFillTx/>
                <a:latin typeface="+mn-lt"/>
                <a:ea typeface="+mn-ea"/>
                <a:cs typeface="+mn-cs"/>
              </a:rPr>
            </a:b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4" name="Picture 3"/>
          <p:cNvPicPr>
            <a:picLocks noChangeAspect="1"/>
          </p:cNvPicPr>
          <p:nvPr/>
        </p:nvPicPr>
        <p:blipFill>
          <a:blip r:embed="rId4"/>
          <a:stretch>
            <a:fillRect/>
          </a:stretch>
        </p:blipFill>
        <p:spPr>
          <a:xfrm>
            <a:off x="36500" y="0"/>
            <a:ext cx="1755800" cy="1024217"/>
          </a:xfrm>
          <a:prstGeom prst="rect">
            <a:avLst/>
          </a:prstGeom>
        </p:spPr>
      </p:pic>
      <p:pic>
        <p:nvPicPr>
          <p:cNvPr id="5" name="Picture 4"/>
          <p:cNvPicPr>
            <a:picLocks noChangeAspect="1"/>
          </p:cNvPicPr>
          <p:nvPr/>
        </p:nvPicPr>
        <p:blipFill>
          <a:blip r:embed="rId5"/>
          <a:stretch>
            <a:fillRect/>
          </a:stretch>
        </p:blipFill>
        <p:spPr>
          <a:xfrm>
            <a:off x="1718428" y="-41217"/>
            <a:ext cx="7425572" cy="1146147"/>
          </a:xfrm>
          <a:prstGeom prst="rect">
            <a:avLst/>
          </a:prstGeom>
        </p:spPr>
      </p:pic>
      <p:pic>
        <p:nvPicPr>
          <p:cNvPr id="2" name="Picture 1">
            <a:extLst>
              <a:ext uri="{FF2B5EF4-FFF2-40B4-BE49-F238E27FC236}">
                <a16:creationId xmlns:a16="http://schemas.microsoft.com/office/drawing/2014/main" id="{68844803-826C-0659-E330-101658A2E9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972300" y="2238018"/>
            <a:ext cx="1295400" cy="15437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305800" cy="5181600"/>
          </a:xfrm>
        </p:spPr>
        <p:txBody>
          <a:bodyPr>
            <a:normAutofit/>
          </a:bodyPr>
          <a:lstStyle/>
          <a:p>
            <a:pPr>
              <a:buNone/>
            </a:pPr>
            <a:r>
              <a:rPr lang="en-US" sz="2200" dirty="0">
                <a:solidFill>
                  <a:schemeClr val="dk1"/>
                </a:solidFill>
                <a:latin typeface="Times New Roman" panose="02020603050405020304" pitchFamily="18" charset="0"/>
                <a:cs typeface="Times New Roman" panose="02020603050405020304" pitchFamily="18" charset="0"/>
              </a:rPr>
              <a:t>            </a:t>
            </a:r>
            <a:endParaRPr lang="en-US" sz="2400" spc="-5" dirty="0">
              <a:solidFill>
                <a:srgbClr val="000000"/>
              </a:solidFill>
              <a:latin typeface="Georgia"/>
              <a:cs typeface="Georgia"/>
            </a:endParaRPr>
          </a:p>
          <a:p>
            <a:endParaRPr lang="en-US" sz="2400" dirty="0">
              <a:solidFill>
                <a:schemeClr val="dk1"/>
              </a:solidFill>
              <a:latin typeface="Times New Roman" panose="02020603050405020304" pitchFamily="18" charset="0"/>
              <a:cs typeface="Times New Roman" panose="02020603050405020304" pitchFamily="18" charset="0"/>
            </a:endParaRPr>
          </a:p>
          <a:p>
            <a:pPr lvl="0"/>
            <a:endParaRPr lang="en-US" sz="2400" spc="-5" dirty="0">
              <a:solidFill>
                <a:srgbClr val="000000"/>
              </a:solidFill>
              <a:latin typeface="Georgia"/>
              <a:cs typeface="Georgia"/>
            </a:endParaRPr>
          </a:p>
          <a:p>
            <a:pPr lvl="0"/>
            <a:endParaRPr lang="en-US" sz="2200" dirty="0">
              <a:solidFill>
                <a:schemeClr val="dk1"/>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2AAB4E32-9DB4-4255-82CE-FC6BEFFF638F}" type="datetime1">
              <a:rPr lang="en-US" smtClean="0"/>
              <a:t>5/1/2026</a:t>
            </a:fld>
            <a:endParaRPr lang="en-US"/>
          </a:p>
        </p:txBody>
      </p:sp>
      <p:sp>
        <p:nvSpPr>
          <p:cNvPr id="13" name="Footer Placeholder 12"/>
          <p:cNvSpPr>
            <a:spLocks noGrp="1"/>
          </p:cNvSpPr>
          <p:nvPr>
            <p:ph type="ftr" sz="quarter" idx="11"/>
          </p:nvPr>
        </p:nvSpPr>
        <p:spPr>
          <a:xfrm>
            <a:off x="1907378" y="6224985"/>
            <a:ext cx="5255422" cy="344090"/>
          </a:xfrm>
        </p:spPr>
        <p:txBody>
          <a:bodyPr/>
          <a:lstStyle/>
          <a:p>
            <a:r>
              <a:rPr lang="sv-SE" sz="2000"/>
              <a:t>Mr. Minhaj Nezami     AOE0861    TQM      Unit 3</a:t>
            </a:r>
            <a:endParaRPr lang="en-US" sz="2000" dirty="0"/>
          </a:p>
        </p:txBody>
      </p:sp>
      <p:pic>
        <p:nvPicPr>
          <p:cNvPr id="10" name="Picture 2">
            <a:extLst>
              <a:ext uri="{FF2B5EF4-FFF2-40B4-BE49-F238E27FC236}">
                <a16:creationId xmlns:a16="http://schemas.microsoft.com/office/drawing/2014/main" id="{DF246A64-8781-491F-87B5-A9819E4B78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1"/>
            <a:ext cx="1335878" cy="783037"/>
          </a:xfrm>
          <a:prstGeom prst="rect">
            <a:avLst/>
          </a:prstGeom>
          <a:noFill/>
        </p:spPr>
      </p:pic>
      <p:pic>
        <p:nvPicPr>
          <p:cNvPr id="2" name="Picture 1"/>
          <p:cNvPicPr>
            <a:picLocks noChangeAspect="1"/>
          </p:cNvPicPr>
          <p:nvPr/>
        </p:nvPicPr>
        <p:blipFill>
          <a:blip r:embed="rId4"/>
          <a:stretch>
            <a:fillRect/>
          </a:stretch>
        </p:blipFill>
        <p:spPr>
          <a:xfrm>
            <a:off x="151578" y="-1"/>
            <a:ext cx="1755800" cy="1024217"/>
          </a:xfrm>
          <a:prstGeom prst="rect">
            <a:avLst/>
          </a:prstGeom>
        </p:spPr>
      </p:pic>
      <p:pic>
        <p:nvPicPr>
          <p:cNvPr id="5" name="Picture 4"/>
          <p:cNvPicPr>
            <a:picLocks noChangeAspect="1"/>
          </p:cNvPicPr>
          <p:nvPr/>
        </p:nvPicPr>
        <p:blipFill>
          <a:blip r:embed="rId5"/>
          <a:stretch>
            <a:fillRect/>
          </a:stretch>
        </p:blipFill>
        <p:spPr>
          <a:xfrm>
            <a:off x="1907378" y="-36580"/>
            <a:ext cx="7236622" cy="1060796"/>
          </a:xfrm>
          <a:prstGeom prst="rect">
            <a:avLst/>
          </a:prstGeom>
        </p:spPr>
      </p:pic>
      <p:pic>
        <p:nvPicPr>
          <p:cNvPr id="9" name="Picture 8"/>
          <p:cNvPicPr>
            <a:picLocks noChangeAspect="1"/>
          </p:cNvPicPr>
          <p:nvPr/>
        </p:nvPicPr>
        <p:blipFill>
          <a:blip r:embed="rId6"/>
          <a:stretch>
            <a:fillRect/>
          </a:stretch>
        </p:blipFill>
        <p:spPr>
          <a:xfrm>
            <a:off x="533400" y="827095"/>
            <a:ext cx="8077200" cy="5203810"/>
          </a:xfrm>
          <a:prstGeom prst="rect">
            <a:avLst/>
          </a:prstGeom>
        </p:spPr>
      </p:pic>
    </p:spTree>
    <p:extLst>
      <p:ext uri="{BB962C8B-B14F-4D97-AF65-F5344CB8AC3E}">
        <p14:creationId xmlns:p14="http://schemas.microsoft.com/office/powerpoint/2010/main" val="3157954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r>
              <a:rPr lang="en-US" dirty="0"/>
              <a:t>Course objectives		</a:t>
            </a:r>
          </a:p>
          <a:p>
            <a:r>
              <a:rPr lang="en-US" dirty="0"/>
              <a:t>Course outcomes</a:t>
            </a:r>
          </a:p>
          <a:p>
            <a:r>
              <a:rPr lang="en-US" dirty="0"/>
              <a:t>Program Outcome</a:t>
            </a:r>
          </a:p>
          <a:p>
            <a:pPr lvl="0"/>
            <a:r>
              <a:rPr lang="en-US" dirty="0"/>
              <a:t>CO-PO Mapping</a:t>
            </a:r>
          </a:p>
          <a:p>
            <a:pPr lvl="0"/>
            <a:r>
              <a:rPr lang="en-US" dirty="0"/>
              <a:t>Program Specific outcome</a:t>
            </a:r>
          </a:p>
          <a:p>
            <a:pPr lvl="0"/>
            <a:r>
              <a:rPr lang="en-US" dirty="0"/>
              <a:t>CO-PSO Mapping</a:t>
            </a:r>
          </a:p>
          <a:p>
            <a:pPr lvl="0"/>
            <a:r>
              <a:rPr lang="en-US" dirty="0"/>
              <a:t>Program Educational Objectives</a:t>
            </a:r>
          </a:p>
          <a:p>
            <a:pPr lvl="0"/>
            <a:r>
              <a:rPr lang="en-US" dirty="0"/>
              <a:t>Recap  and precap</a:t>
            </a:r>
          </a:p>
          <a:p>
            <a:pPr lvl="0"/>
            <a:r>
              <a:rPr lang="en-US" dirty="0"/>
              <a:t>Syllabus of Unit 3</a:t>
            </a:r>
          </a:p>
          <a:p>
            <a:pPr lvl="0"/>
            <a:r>
              <a:rPr lang="en-US" dirty="0"/>
              <a:t>Recap of team</a:t>
            </a:r>
          </a:p>
          <a:p>
            <a:pPr lvl="0"/>
            <a:r>
              <a:rPr lang="en-US" dirty="0"/>
              <a:t>Objective of histogram</a:t>
            </a:r>
          </a:p>
          <a:p>
            <a:r>
              <a:rPr lang="en-US" dirty="0"/>
              <a:t>Histogram</a:t>
            </a:r>
          </a:p>
          <a:p>
            <a:pPr lvl="0"/>
            <a:r>
              <a:rPr lang="en-US" dirty="0"/>
              <a:t>Recap of histogram</a:t>
            </a:r>
          </a:p>
          <a:p>
            <a:pPr lvl="0"/>
            <a:r>
              <a:rPr lang="en-US" dirty="0"/>
              <a:t>Objective of check sheet</a:t>
            </a:r>
          </a:p>
          <a:p>
            <a:r>
              <a:rPr lang="en-US" dirty="0"/>
              <a:t>Check sheet </a:t>
            </a:r>
          </a:p>
          <a:p>
            <a:pPr lvl="0"/>
            <a:endParaRPr lang="en-US" dirty="0"/>
          </a:p>
        </p:txBody>
      </p:sp>
      <p:sp>
        <p:nvSpPr>
          <p:cNvPr id="6" name="Date Placeholder 5"/>
          <p:cNvSpPr>
            <a:spLocks noGrp="1"/>
          </p:cNvSpPr>
          <p:nvPr>
            <p:ph type="dt" sz="half" idx="10"/>
          </p:nvPr>
        </p:nvSpPr>
        <p:spPr/>
        <p:txBody>
          <a:bodyPr/>
          <a:lstStyle/>
          <a:p>
            <a:fld id="{B58251A9-2E48-45A8-9629-9D144512AE5D}" type="datetime1">
              <a:rPr lang="en-US" smtClean="0"/>
              <a:t>5/1/2026</a:t>
            </a:fld>
            <a:endParaRPr lang="en-US"/>
          </a:p>
        </p:txBody>
      </p:sp>
      <p:sp>
        <p:nvSpPr>
          <p:cNvPr id="13" name="Footer Placeholder 12"/>
          <p:cNvSpPr>
            <a:spLocks noGrp="1"/>
          </p:cNvSpPr>
          <p:nvPr>
            <p:ph type="ftr" sz="quarter" idx="11"/>
          </p:nvPr>
        </p:nvSpPr>
        <p:spPr>
          <a:xfrm>
            <a:off x="2209800" y="6173787"/>
            <a:ext cx="5257800" cy="365125"/>
          </a:xfrm>
        </p:spPr>
        <p:txBody>
          <a:bodyPr/>
          <a:lstStyle/>
          <a:p>
            <a:r>
              <a:rPr lang="en-US" sz="2000"/>
              <a:t>Mr. Minhaj Nezami     AOE0861    TQM      Unit 3</a:t>
            </a:r>
            <a:endParaRPr lang="en-US" sz="2000" dirty="0"/>
          </a:p>
        </p:txBody>
      </p:sp>
      <p:pic>
        <p:nvPicPr>
          <p:cNvPr id="7" name="Picture 6"/>
          <p:cNvPicPr>
            <a:picLocks noChangeAspect="1"/>
          </p:cNvPicPr>
          <p:nvPr/>
        </p:nvPicPr>
        <p:blipFill>
          <a:blip r:embed="rId3"/>
          <a:stretch>
            <a:fillRect/>
          </a:stretch>
        </p:blipFill>
        <p:spPr>
          <a:xfrm>
            <a:off x="36500" y="0"/>
            <a:ext cx="1755800" cy="1024217"/>
          </a:xfrm>
          <a:prstGeom prst="rect">
            <a:avLst/>
          </a:prstGeom>
        </p:spPr>
      </p:pic>
      <p:sp>
        <p:nvSpPr>
          <p:cNvPr id="15" name="Title 1">
            <a:extLst>
              <a:ext uri="{FF2B5EF4-FFF2-40B4-BE49-F238E27FC236}">
                <a16:creationId xmlns:a16="http://schemas.microsoft.com/office/drawing/2014/main" id="{1C7BBAA3-263A-8FE5-5AA3-E40EF73A5AE9}"/>
              </a:ext>
            </a:extLst>
          </p:cNvPr>
          <p:cNvSpPr txBox="1">
            <a:spLocks noGrp="1"/>
          </p:cNvSpPr>
          <p:nvPr>
            <p:ph type="title"/>
          </p:nvPr>
        </p:nvSpPr>
        <p:spPr>
          <a:xfrm>
            <a:off x="1778445"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CONTENTS</a:t>
            </a:r>
            <a:br>
              <a:rPr lang="en-US" sz="2800" b="1" dirty="0">
                <a:latin typeface="Times New Roman" panose="02020603050405020304" pitchFamily="18" charset="0"/>
                <a:cs typeface="Times New Roman" panose="02020603050405020304" pitchFamily="18" charset="0"/>
              </a:rPr>
            </a:b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4216"/>
            <a:ext cx="8305800" cy="5071783"/>
          </a:xfrm>
        </p:spPr>
        <p:txBody>
          <a:bodyPr>
            <a:normAutofit/>
          </a:bodyPr>
          <a:lstStyle/>
          <a:p>
            <a:pPr lvl="0"/>
            <a:r>
              <a:rPr lang="en-US" sz="1800" dirty="0">
                <a:solidFill>
                  <a:schemeClr val="dk1"/>
                </a:solidFill>
                <a:cs typeface="Times New Roman" panose="02020603050405020304" pitchFamily="18" charset="0"/>
              </a:rPr>
              <a:t>Recap of check sheet</a:t>
            </a:r>
          </a:p>
          <a:p>
            <a:pPr lvl="0"/>
            <a:r>
              <a:rPr lang="en-US" sz="1800" dirty="0">
                <a:solidFill>
                  <a:schemeClr val="dk1"/>
                </a:solidFill>
                <a:cs typeface="Times New Roman" panose="02020603050405020304" pitchFamily="18" charset="0"/>
              </a:rPr>
              <a:t>Objective of Ishikawa diagram</a:t>
            </a:r>
          </a:p>
          <a:p>
            <a:r>
              <a:rPr lang="en-US" sz="1800" dirty="0"/>
              <a:t>Ishikawa diagram </a:t>
            </a:r>
          </a:p>
          <a:p>
            <a:r>
              <a:rPr lang="en-US" sz="1800" dirty="0">
                <a:solidFill>
                  <a:schemeClr val="dk1"/>
                </a:solidFill>
                <a:cs typeface="Times New Roman" panose="02020603050405020304" pitchFamily="18" charset="0"/>
              </a:rPr>
              <a:t>Recap of </a:t>
            </a:r>
            <a:r>
              <a:rPr lang="en-US" sz="1800" dirty="0"/>
              <a:t>Ishikawa diagram </a:t>
            </a:r>
            <a:endParaRPr lang="en-US" sz="1800" dirty="0">
              <a:solidFill>
                <a:schemeClr val="dk1"/>
              </a:solidFill>
              <a:cs typeface="Times New Roman" panose="02020603050405020304" pitchFamily="18" charset="0"/>
            </a:endParaRPr>
          </a:p>
          <a:p>
            <a:r>
              <a:rPr lang="en-US" sz="1800" dirty="0">
                <a:solidFill>
                  <a:schemeClr val="dk1"/>
                </a:solidFill>
                <a:cs typeface="Times New Roman" panose="02020603050405020304" pitchFamily="18" charset="0"/>
              </a:rPr>
              <a:t>Objective of </a:t>
            </a:r>
            <a:r>
              <a:rPr lang="en-US" sz="1800" dirty="0"/>
              <a:t>Pareto chart</a:t>
            </a:r>
            <a:endParaRPr lang="en-US" sz="1800" dirty="0">
              <a:solidFill>
                <a:schemeClr val="dk1"/>
              </a:solidFill>
              <a:cs typeface="Times New Roman" panose="02020603050405020304" pitchFamily="18" charset="0"/>
            </a:endParaRPr>
          </a:p>
          <a:p>
            <a:r>
              <a:rPr lang="en-US" sz="1800" dirty="0"/>
              <a:t>Pareto chart</a:t>
            </a:r>
          </a:p>
          <a:p>
            <a:r>
              <a:rPr lang="en-US" sz="1800" dirty="0">
                <a:solidFill>
                  <a:schemeClr val="dk1"/>
                </a:solidFill>
                <a:cs typeface="Times New Roman" panose="02020603050405020304" pitchFamily="18" charset="0"/>
              </a:rPr>
              <a:t>Recap of </a:t>
            </a:r>
            <a:r>
              <a:rPr lang="en-US" sz="1800" dirty="0"/>
              <a:t>Pareto chart</a:t>
            </a:r>
            <a:endParaRPr lang="en-US" sz="1800" dirty="0">
              <a:solidFill>
                <a:schemeClr val="dk1"/>
              </a:solidFill>
              <a:cs typeface="Times New Roman" panose="02020603050405020304" pitchFamily="18" charset="0"/>
            </a:endParaRPr>
          </a:p>
          <a:p>
            <a:r>
              <a:rPr lang="en-US" sz="1800" dirty="0">
                <a:solidFill>
                  <a:schemeClr val="dk1"/>
                </a:solidFill>
                <a:cs typeface="Times New Roman" panose="02020603050405020304" pitchFamily="18" charset="0"/>
              </a:rPr>
              <a:t>Objective of </a:t>
            </a:r>
            <a:r>
              <a:rPr lang="en-US" sz="1800" dirty="0"/>
              <a:t>Scatter diagram </a:t>
            </a:r>
            <a:endParaRPr lang="en-US" sz="1800" dirty="0">
              <a:solidFill>
                <a:schemeClr val="dk1"/>
              </a:solidFill>
              <a:cs typeface="Times New Roman" panose="02020603050405020304" pitchFamily="18" charset="0"/>
            </a:endParaRPr>
          </a:p>
          <a:p>
            <a:r>
              <a:rPr lang="en-US" sz="1800" dirty="0"/>
              <a:t>Scatter diagram </a:t>
            </a:r>
          </a:p>
          <a:p>
            <a:r>
              <a:rPr lang="en-US" sz="1800" dirty="0">
                <a:solidFill>
                  <a:schemeClr val="dk1"/>
                </a:solidFill>
                <a:cs typeface="Times New Roman" panose="02020603050405020304" pitchFamily="18" charset="0"/>
              </a:rPr>
              <a:t>Recap of </a:t>
            </a:r>
            <a:r>
              <a:rPr lang="en-US" sz="1800" dirty="0"/>
              <a:t>Scatter diagram </a:t>
            </a:r>
            <a:endParaRPr lang="en-US" sz="1800" dirty="0">
              <a:solidFill>
                <a:schemeClr val="dk1"/>
              </a:solidFill>
              <a:cs typeface="Times New Roman" panose="02020603050405020304" pitchFamily="18" charset="0"/>
            </a:endParaRPr>
          </a:p>
          <a:p>
            <a:r>
              <a:rPr lang="en-US" sz="1800" dirty="0">
                <a:solidFill>
                  <a:schemeClr val="dk1"/>
                </a:solidFill>
                <a:cs typeface="Times New Roman" panose="02020603050405020304" pitchFamily="18" charset="0"/>
              </a:rPr>
              <a:t>Objective of </a:t>
            </a:r>
            <a:r>
              <a:rPr lang="en-US" sz="1800" dirty="0"/>
              <a:t>Control chart </a:t>
            </a:r>
            <a:endParaRPr lang="en-US" sz="1800" dirty="0">
              <a:solidFill>
                <a:schemeClr val="dk1"/>
              </a:solidFill>
              <a:cs typeface="Times New Roman" panose="02020603050405020304" pitchFamily="18" charset="0"/>
            </a:endParaRPr>
          </a:p>
          <a:p>
            <a:r>
              <a:rPr lang="en-US" sz="1800" dirty="0"/>
              <a:t>Control chart </a:t>
            </a:r>
          </a:p>
          <a:p>
            <a:r>
              <a:rPr lang="en-US" sz="1800" dirty="0">
                <a:solidFill>
                  <a:schemeClr val="dk1"/>
                </a:solidFill>
                <a:cs typeface="Times New Roman" panose="02020603050405020304" pitchFamily="18" charset="0"/>
              </a:rPr>
              <a:t>Recap of Control</a:t>
            </a:r>
            <a:r>
              <a:rPr lang="en-US" sz="1800" dirty="0"/>
              <a:t> chart </a:t>
            </a:r>
          </a:p>
          <a:p>
            <a:pPr lvl="0"/>
            <a:endParaRPr lang="en-US" sz="2000" dirty="0">
              <a:solidFill>
                <a:schemeClr val="dk1"/>
              </a:solidFill>
              <a:cs typeface="Times New Roman" panose="02020603050405020304" pitchFamily="18" charset="0"/>
            </a:endParaRPr>
          </a:p>
          <a:p>
            <a:endParaRPr lang="en-US" sz="2200" dirty="0"/>
          </a:p>
          <a:p>
            <a:endParaRPr lang="en-US" sz="2000" dirty="0"/>
          </a:p>
          <a:p>
            <a:pPr marL="355600">
              <a:spcBef>
                <a:spcPts val="370"/>
              </a:spcBef>
              <a:tabLst>
                <a:tab pos="354965" algn="l"/>
                <a:tab pos="355600" algn="l"/>
              </a:tabLst>
            </a:pPr>
            <a:endParaRPr lang="en-US" sz="2200" dirty="0">
              <a:cs typeface="Century"/>
            </a:endParaRPr>
          </a:p>
        </p:txBody>
      </p:sp>
      <p:sp>
        <p:nvSpPr>
          <p:cNvPr id="6" name="Date Placeholder 5"/>
          <p:cNvSpPr>
            <a:spLocks noGrp="1"/>
          </p:cNvSpPr>
          <p:nvPr>
            <p:ph type="dt" sz="half" idx="10"/>
          </p:nvPr>
        </p:nvSpPr>
        <p:spPr/>
        <p:txBody>
          <a:bodyPr/>
          <a:lstStyle/>
          <a:p>
            <a:fld id="{9064EEA5-84DD-4A7D-864F-3F7647B5BD1F}" type="datetime1">
              <a:rPr lang="en-US" smtClean="0"/>
              <a:t>5/1/2026</a:t>
            </a:fld>
            <a:endParaRPr lang="en-US"/>
          </a:p>
        </p:txBody>
      </p:sp>
      <p:sp>
        <p:nvSpPr>
          <p:cNvPr id="13" name="Footer Placeholder 12"/>
          <p:cNvSpPr>
            <a:spLocks noGrp="1"/>
          </p:cNvSpPr>
          <p:nvPr>
            <p:ph type="ftr" sz="quarter" idx="11"/>
          </p:nvPr>
        </p:nvSpPr>
        <p:spPr>
          <a:xfrm>
            <a:off x="1676400" y="6053247"/>
            <a:ext cx="5562600" cy="303103"/>
          </a:xfrm>
        </p:spPr>
        <p:txBody>
          <a:bodyPr/>
          <a:lstStyle/>
          <a:p>
            <a:r>
              <a:rPr lang="en-US" sz="2000"/>
              <a:t>Mr. Minhaj Nezami     AOE0861    TQM      Unit 3</a:t>
            </a:r>
            <a:endParaRPr lang="en-US" sz="2000" dirty="0"/>
          </a:p>
        </p:txBody>
      </p:sp>
      <p:pic>
        <p:nvPicPr>
          <p:cNvPr id="7" name="Picture 6"/>
          <p:cNvPicPr>
            <a:picLocks noChangeAspect="1"/>
          </p:cNvPicPr>
          <p:nvPr/>
        </p:nvPicPr>
        <p:blipFill>
          <a:blip r:embed="rId3"/>
          <a:stretch>
            <a:fillRect/>
          </a:stretch>
        </p:blipFill>
        <p:spPr>
          <a:xfrm>
            <a:off x="36500" y="0"/>
            <a:ext cx="1755800" cy="1024217"/>
          </a:xfrm>
          <a:prstGeom prst="rect">
            <a:avLst/>
          </a:prstGeom>
        </p:spPr>
      </p:pic>
      <p:sp>
        <p:nvSpPr>
          <p:cNvPr id="9" name="Title 1">
            <a:extLst>
              <a:ext uri="{FF2B5EF4-FFF2-40B4-BE49-F238E27FC236}">
                <a16:creationId xmlns:a16="http://schemas.microsoft.com/office/drawing/2014/main" id="{1C7BBAA3-263A-8FE5-5AA3-E40EF73A5AE9}"/>
              </a:ext>
            </a:extLst>
          </p:cNvPr>
          <p:cNvSpPr txBox="1">
            <a:spLocks noGrp="1"/>
          </p:cNvSpPr>
          <p:nvPr>
            <p:ph type="title"/>
          </p:nvPr>
        </p:nvSpPr>
        <p:spPr>
          <a:xfrm>
            <a:off x="1785373"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CONTENTS</a:t>
            </a:r>
            <a:br>
              <a:rPr lang="en-US" sz="2800" b="1" dirty="0">
                <a:latin typeface="Times New Roman" panose="02020603050405020304" pitchFamily="18" charset="0"/>
                <a:cs typeface="Times New Roman" panose="02020603050405020304" pitchFamily="18" charset="0"/>
              </a:rPr>
            </a:b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305800" cy="5105400"/>
          </a:xfrm>
        </p:spPr>
        <p:txBody>
          <a:bodyPr>
            <a:normAutofit/>
          </a:bodyPr>
          <a:lstStyle/>
          <a:p>
            <a:r>
              <a:rPr lang="en-US" sz="1800" dirty="0">
                <a:solidFill>
                  <a:schemeClr val="dk1"/>
                </a:solidFill>
                <a:latin typeface="Calibri (Body)"/>
                <a:cs typeface="Times New Roman" panose="02020603050405020304" pitchFamily="18" charset="0"/>
              </a:rPr>
              <a:t>Objective of </a:t>
            </a:r>
            <a:r>
              <a:rPr lang="en-US" sz="1800" dirty="0">
                <a:latin typeface="Calibri (Body)"/>
              </a:rPr>
              <a:t>Flow chart</a:t>
            </a:r>
            <a:endParaRPr lang="en-US" sz="1800" dirty="0">
              <a:solidFill>
                <a:schemeClr val="dk1"/>
              </a:solidFill>
              <a:latin typeface="Calibri (Body)"/>
              <a:cs typeface="Times New Roman" panose="02020603050405020304" pitchFamily="18" charset="0"/>
            </a:endParaRPr>
          </a:p>
          <a:p>
            <a:r>
              <a:rPr lang="en-US" sz="1800" dirty="0">
                <a:latin typeface="Calibri (Body)"/>
              </a:rPr>
              <a:t>Flow chart</a:t>
            </a:r>
          </a:p>
          <a:p>
            <a:r>
              <a:rPr lang="en-US" sz="1800" dirty="0">
                <a:latin typeface="Calibri (Body)"/>
                <a:cs typeface="Times New Roman" panose="02020603050405020304" pitchFamily="18" charset="0"/>
              </a:rPr>
              <a:t>New Management Tools</a:t>
            </a:r>
          </a:p>
          <a:p>
            <a:r>
              <a:rPr lang="en-US" sz="1800" dirty="0">
                <a:latin typeface="Calibri (Body)"/>
                <a:cs typeface="Times New Roman" panose="02020603050405020304" pitchFamily="18" charset="0"/>
              </a:rPr>
              <a:t>Six Sigma</a:t>
            </a:r>
          </a:p>
          <a:p>
            <a:r>
              <a:rPr lang="en-US" sz="1800" dirty="0">
                <a:latin typeface="Calibri (Body)"/>
                <a:cs typeface="Times New Roman" panose="02020603050405020304" pitchFamily="18" charset="0"/>
              </a:rPr>
              <a:t>Benchmarking</a:t>
            </a:r>
            <a:endParaRPr lang="en-US" sz="1800" dirty="0">
              <a:latin typeface="Calibri (Body)"/>
            </a:endParaRPr>
          </a:p>
          <a:p>
            <a:r>
              <a:rPr lang="en-US" sz="1800" dirty="0">
                <a:latin typeface="Calibri (Body)"/>
                <a:cs typeface="Times New Roman" panose="02020603050405020304" pitchFamily="18" charset="0"/>
              </a:rPr>
              <a:t>Video links</a:t>
            </a:r>
          </a:p>
          <a:p>
            <a:r>
              <a:rPr lang="en-US" sz="1800" dirty="0">
                <a:latin typeface="Calibri (Body)"/>
                <a:cs typeface="Times New Roman" panose="02020603050405020304" pitchFamily="18" charset="0"/>
              </a:rPr>
              <a:t>Daily quiz</a:t>
            </a:r>
          </a:p>
          <a:p>
            <a:r>
              <a:rPr lang="en-US" sz="1800" dirty="0">
                <a:latin typeface="Calibri (Body)"/>
                <a:cs typeface="Times New Roman" panose="02020603050405020304" pitchFamily="18" charset="0"/>
              </a:rPr>
              <a:t>Weekly assignments</a:t>
            </a:r>
          </a:p>
          <a:p>
            <a:r>
              <a:rPr lang="en-US" sz="1800" dirty="0">
                <a:latin typeface="Calibri (Body)"/>
                <a:cs typeface="Times New Roman" panose="02020603050405020304" pitchFamily="18" charset="0"/>
              </a:rPr>
              <a:t>MCQs</a:t>
            </a:r>
          </a:p>
          <a:p>
            <a:r>
              <a:rPr lang="en-US" sz="1800" dirty="0">
                <a:latin typeface="Calibri (Body)"/>
                <a:cs typeface="Times New Roman" panose="02020603050405020304" pitchFamily="18" charset="0"/>
              </a:rPr>
              <a:t>Old question papers</a:t>
            </a:r>
          </a:p>
          <a:p>
            <a:r>
              <a:rPr lang="en-US" sz="1800" dirty="0">
                <a:latin typeface="Calibri (Body)"/>
                <a:cs typeface="Times New Roman" panose="02020603050405020304" pitchFamily="18" charset="0"/>
              </a:rPr>
              <a:t>Expected questions for university exam</a:t>
            </a:r>
          </a:p>
          <a:p>
            <a:r>
              <a:rPr lang="en-US" sz="1800" dirty="0">
                <a:latin typeface="Calibri (Body)"/>
                <a:cs typeface="Times New Roman" panose="02020603050405020304" pitchFamily="18" charset="0"/>
              </a:rPr>
              <a:t>Summary</a:t>
            </a:r>
          </a:p>
          <a:p>
            <a:endParaRPr lang="en-US" sz="2200" dirty="0">
              <a:latin typeface="Calibri (Body)"/>
              <a:cs typeface="Century"/>
            </a:endParaRPr>
          </a:p>
          <a:p>
            <a:pPr marL="355600">
              <a:spcBef>
                <a:spcPts val="265"/>
              </a:spcBef>
              <a:buFont typeface="Arial"/>
              <a:buChar char="•"/>
              <a:tabLst>
                <a:tab pos="354965" algn="l"/>
                <a:tab pos="355600" algn="l"/>
              </a:tabLst>
            </a:pPr>
            <a:endParaRPr lang="en-US" sz="2200" dirty="0">
              <a:latin typeface="Calibri (Body)"/>
              <a:cs typeface="Century"/>
            </a:endParaRPr>
          </a:p>
        </p:txBody>
      </p:sp>
      <p:sp>
        <p:nvSpPr>
          <p:cNvPr id="6" name="Date Placeholder 5"/>
          <p:cNvSpPr>
            <a:spLocks noGrp="1"/>
          </p:cNvSpPr>
          <p:nvPr>
            <p:ph type="dt" sz="half" idx="10"/>
          </p:nvPr>
        </p:nvSpPr>
        <p:spPr/>
        <p:txBody>
          <a:bodyPr/>
          <a:lstStyle/>
          <a:p>
            <a:fld id="{76483734-CA97-4D8F-BEE5-FB78FFAC038B}" type="datetime1">
              <a:rPr lang="en-US" smtClean="0"/>
              <a:t>5/1/2026</a:t>
            </a:fld>
            <a:endParaRPr lang="en-US"/>
          </a:p>
        </p:txBody>
      </p:sp>
      <p:sp>
        <p:nvSpPr>
          <p:cNvPr id="13" name="Footer Placeholder 12"/>
          <p:cNvSpPr>
            <a:spLocks noGrp="1"/>
          </p:cNvSpPr>
          <p:nvPr>
            <p:ph type="ftr" sz="quarter" idx="11"/>
          </p:nvPr>
        </p:nvSpPr>
        <p:spPr>
          <a:xfrm>
            <a:off x="2286000" y="6096001"/>
            <a:ext cx="5410200" cy="304800"/>
          </a:xfrm>
        </p:spPr>
        <p:txBody>
          <a:bodyPr/>
          <a:lstStyle/>
          <a:p>
            <a:r>
              <a:rPr lang="en-US" sz="2000"/>
              <a:t>Mr. Minhaj Nezami     AOE0861    TQM      Unit 3</a:t>
            </a:r>
            <a:endParaRPr lang="en-US" sz="2000" dirty="0"/>
          </a:p>
        </p:txBody>
      </p:sp>
      <p:pic>
        <p:nvPicPr>
          <p:cNvPr id="7" name="Picture 6"/>
          <p:cNvPicPr>
            <a:picLocks noChangeAspect="1"/>
          </p:cNvPicPr>
          <p:nvPr/>
        </p:nvPicPr>
        <p:blipFill>
          <a:blip r:embed="rId3"/>
          <a:stretch>
            <a:fillRect/>
          </a:stretch>
        </p:blipFill>
        <p:spPr>
          <a:xfrm>
            <a:off x="36500" y="0"/>
            <a:ext cx="1755800" cy="1024217"/>
          </a:xfrm>
          <a:prstGeom prst="rect">
            <a:avLst/>
          </a:prstGeom>
        </p:spPr>
      </p:pic>
      <p:sp>
        <p:nvSpPr>
          <p:cNvPr id="9"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5863"/>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CONTENTS</a:t>
            </a:r>
            <a:br>
              <a:rPr lang="en-US" sz="2800" b="1" dirty="0">
                <a:latin typeface="Times New Roman" panose="02020603050405020304" pitchFamily="18" charset="0"/>
                <a:cs typeface="Times New Roman" panose="02020603050405020304" pitchFamily="18" charset="0"/>
              </a:rPr>
            </a:b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38BF3F-9978-400E-A5DC-FC8ADE01A598}" type="datetime1">
              <a:rPr lang="en-US" smtClean="0"/>
              <a:t>5/1/2026</a:t>
            </a:fld>
            <a:endParaRPr lang="en-US"/>
          </a:p>
        </p:txBody>
      </p:sp>
      <p:graphicFrame>
        <p:nvGraphicFramePr>
          <p:cNvPr id="9" name="Content Placeholder 1"/>
          <p:cNvGraphicFramePr>
            <a:graphicFrameLocks/>
          </p:cNvGraphicFramePr>
          <p:nvPr>
            <p:extLst>
              <p:ext uri="{D42A27DB-BD31-4B8C-83A1-F6EECF244321}">
                <p14:modId xmlns:p14="http://schemas.microsoft.com/office/powerpoint/2010/main" val="2509933864"/>
              </p:ext>
            </p:extLst>
          </p:nvPr>
        </p:nvGraphicFramePr>
        <p:xfrm>
          <a:off x="479685" y="1066800"/>
          <a:ext cx="8229600" cy="4647901"/>
        </p:xfrm>
        <a:graphic>
          <a:graphicData uri="http://schemas.openxmlformats.org/drawingml/2006/table">
            <a:tbl>
              <a:tblPr>
                <a:tableStyleId>{93296810-A885-4BE3-A3E7-6D5BEEA58F35}</a:tableStyleId>
              </a:tblPr>
              <a:tblGrid>
                <a:gridCol w="1591380">
                  <a:extLst>
                    <a:ext uri="{9D8B030D-6E8A-4147-A177-3AD203B41FA5}">
                      <a16:colId xmlns:a16="http://schemas.microsoft.com/office/drawing/2014/main" val="20000"/>
                    </a:ext>
                  </a:extLst>
                </a:gridCol>
                <a:gridCol w="6638220">
                  <a:extLst>
                    <a:ext uri="{9D8B030D-6E8A-4147-A177-3AD203B41FA5}">
                      <a16:colId xmlns:a16="http://schemas.microsoft.com/office/drawing/2014/main" val="20001"/>
                    </a:ext>
                  </a:extLst>
                </a:gridCol>
              </a:tblGrid>
              <a:tr h="821101">
                <a:tc>
                  <a:txBody>
                    <a:bodyPr/>
                    <a:lstStyle/>
                    <a:p>
                      <a:r>
                        <a:rPr lang="en-US" sz="2200" dirty="0"/>
                        <a:t>AOE0861.1</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just">
                        <a:lnSpc>
                          <a:spcPct val="115000"/>
                        </a:lnSpc>
                        <a:spcBef>
                          <a:spcPts val="0"/>
                        </a:spcBef>
                        <a:spcAft>
                          <a:spcPts val="0"/>
                        </a:spcAft>
                        <a:buFont typeface="+mj-lt"/>
                        <a:buNone/>
                      </a:pPr>
                      <a:r>
                        <a:rPr lang="en-US" sz="2200" dirty="0"/>
                        <a:t>To learn about common term Quality Concepts</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AOE0861.2</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t>To know TQM principle</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AOE0861.3</a:t>
                      </a:r>
                    </a:p>
                    <a:p>
                      <a:endParaRPr lang="en-US" u="none" dirty="0">
                        <a:solidFill>
                          <a:srgbClr val="FF0000"/>
                        </a:solidFill>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u="none" dirty="0"/>
                        <a:t>To understand the importance of different chart like P-charts and C-charts</a:t>
                      </a:r>
                      <a:endParaRPr lang="en-US" sz="2200" u="none" dirty="0">
                        <a:solidFill>
                          <a:srgbClr val="FF0000"/>
                        </a:solidFill>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2"/>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AOE0861.4</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t>To know new term PDCE cycle, 5S,Kaizen</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AOE0861.5</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t>To be aware about different ISO standards and JIT</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Footer Placeholder 12"/>
          <p:cNvSpPr>
            <a:spLocks noGrp="1"/>
          </p:cNvSpPr>
          <p:nvPr>
            <p:ph type="ftr" sz="quarter" idx="11"/>
          </p:nvPr>
        </p:nvSpPr>
        <p:spPr>
          <a:xfrm>
            <a:off x="2286000" y="6248415"/>
            <a:ext cx="5638800" cy="473060"/>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COURSE OBJECTIVES</a:t>
            </a:r>
            <a:br>
              <a:rPr lang="en-US" sz="2800" b="1" dirty="0">
                <a:latin typeface="Times New Roman" panose="02020603050405020304" pitchFamily="18" charset="0"/>
                <a:cs typeface="Times New Roman" panose="02020603050405020304" pitchFamily="18" charset="0"/>
              </a:rPr>
            </a:b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834042" y="1127895"/>
            <a:ext cx="7922492" cy="4742800"/>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latin typeface="+mj-lt"/>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latin typeface="+mj-lt"/>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latin typeface="+mj-lt"/>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latin typeface="+mj-lt"/>
              </a:endParaRPr>
            </a:p>
          </p:txBody>
        </p:sp>
      </p:grpSp>
      <p:sp>
        <p:nvSpPr>
          <p:cNvPr id="11" name="object 11"/>
          <p:cNvSpPr txBox="1"/>
          <p:nvPr/>
        </p:nvSpPr>
        <p:spPr>
          <a:xfrm>
            <a:off x="4419600" y="2427965"/>
            <a:ext cx="4191000" cy="760823"/>
          </a:xfrm>
          <a:prstGeom prst="rect">
            <a:avLst/>
          </a:prstGeom>
        </p:spPr>
        <p:txBody>
          <a:bodyPr vert="horz" wrap="square" lIns="0" tIns="52425" rIns="0" bIns="0" rtlCol="0">
            <a:spAutoFit/>
          </a:bodyPr>
          <a:lstStyle/>
          <a:p>
            <a:pPr lvl="0">
              <a:defRPr/>
            </a:pPr>
            <a:r>
              <a:rPr lang="en-US" sz="2200" dirty="0">
                <a:latin typeface="+mj-lt"/>
                <a:cs typeface="Times New Roman" pitchFamily="18" charset="0"/>
              </a:rPr>
              <a:t>To learn about control charts</a:t>
            </a:r>
          </a:p>
          <a:p>
            <a:endParaRPr lang="en-US" sz="2400" dirty="0">
              <a:solidFill>
                <a:schemeClr val="bg1"/>
              </a:solidFill>
              <a:latin typeface="+mj-lt"/>
              <a:cs typeface="Times New Roman" pitchFamily="18" charset="0"/>
            </a:endParaRPr>
          </a:p>
        </p:txBody>
      </p:sp>
      <p:sp>
        <p:nvSpPr>
          <p:cNvPr id="12" name="object 12"/>
          <p:cNvSpPr/>
          <p:nvPr/>
        </p:nvSpPr>
        <p:spPr>
          <a:xfrm>
            <a:off x="3951316" y="3439538"/>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latin typeface="+mj-lt"/>
            </a:endParaRPr>
          </a:p>
        </p:txBody>
      </p:sp>
      <p:sp>
        <p:nvSpPr>
          <p:cNvPr id="13" name="Date Placeholder 12"/>
          <p:cNvSpPr>
            <a:spLocks noGrp="1"/>
          </p:cNvSpPr>
          <p:nvPr>
            <p:ph type="dt" sz="half" idx="10"/>
          </p:nvPr>
        </p:nvSpPr>
        <p:spPr/>
        <p:txBody>
          <a:bodyPr/>
          <a:lstStyle/>
          <a:p>
            <a:fld id="{B626705A-BFF6-43CE-948D-EC2CD03300B4}" type="datetime1">
              <a:rPr lang="en-US" smtClean="0">
                <a:latin typeface="+mj-lt"/>
              </a:rPr>
              <a:t>5/1/2026</a:t>
            </a:fld>
            <a:endParaRPr lang="en-US">
              <a:latin typeface="+mj-lt"/>
            </a:endParaRPr>
          </a:p>
        </p:txBody>
      </p:sp>
      <p:sp>
        <p:nvSpPr>
          <p:cNvPr id="15" name="Footer Placeholder 14"/>
          <p:cNvSpPr>
            <a:spLocks noGrp="1"/>
          </p:cNvSpPr>
          <p:nvPr>
            <p:ph type="ftr" sz="quarter" idx="11"/>
          </p:nvPr>
        </p:nvSpPr>
        <p:spPr>
          <a:xfrm>
            <a:off x="2478115" y="6166939"/>
            <a:ext cx="5651963" cy="365125"/>
          </a:xfrm>
        </p:spPr>
        <p:txBody>
          <a:bodyPr/>
          <a:lstStyle/>
          <a:p>
            <a:r>
              <a:rPr lang="sv-SE" sz="2000">
                <a:latin typeface="+mj-lt"/>
              </a:rPr>
              <a:t>Mr. Minhaj Nezami     AOE0861    TQM      Unit 3</a:t>
            </a:r>
            <a:endParaRPr lang="en-US" sz="2000" dirty="0">
              <a:latin typeface="+mj-lt"/>
            </a:endParaRPr>
          </a:p>
        </p:txBody>
      </p:sp>
      <p:pic>
        <p:nvPicPr>
          <p:cNvPr id="16" name="Picture 15"/>
          <p:cNvPicPr>
            <a:picLocks noChangeAspect="1"/>
          </p:cNvPicPr>
          <p:nvPr/>
        </p:nvPicPr>
        <p:blipFill>
          <a:blip r:embed="rId6"/>
          <a:stretch>
            <a:fillRect/>
          </a:stretch>
        </p:blipFill>
        <p:spPr>
          <a:xfrm>
            <a:off x="36500" y="0"/>
            <a:ext cx="1755800" cy="1024217"/>
          </a:xfrm>
          <a:prstGeom prst="rect">
            <a:avLst/>
          </a:prstGeom>
        </p:spPr>
      </p:pic>
      <p:sp>
        <p:nvSpPr>
          <p:cNvPr id="17" name="Title 1">
            <a:extLst>
              <a:ext uri="{FF2B5EF4-FFF2-40B4-BE49-F238E27FC236}">
                <a16:creationId xmlns:a16="http://schemas.microsoft.com/office/drawing/2014/main" id="{1C7BBAA3-263A-8FE5-5AA3-E40EF73A5AE9}"/>
              </a:ext>
            </a:extLst>
          </p:cNvPr>
          <p:cNvSpPr txBox="1">
            <a:spLocks/>
          </p:cNvSpPr>
          <p:nvPr/>
        </p:nvSpPr>
        <p:spPr>
          <a:xfrm>
            <a:off x="1752600" y="0"/>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endParaRPr lang="en-US" sz="2800" b="1" dirty="0">
              <a:latin typeface="Times New Roman" panose="02020603050405020304" pitchFamily="18" charset="0"/>
              <a:cs typeface="Times New Roman" panose="02020603050405020304" pitchFamily="18" charset="0"/>
            </a:endParaRPr>
          </a:p>
          <a:p>
            <a:pPr>
              <a:defRPr/>
            </a:pPr>
            <a:r>
              <a:rPr lang="en-US" sz="2800" b="1" dirty="0">
                <a:latin typeface="Times New Roman" panose="02020603050405020304" pitchFamily="18" charset="0"/>
                <a:cs typeface="Times New Roman" panose="02020603050405020304" pitchFamily="18" charset="0"/>
              </a:rPr>
              <a:t>UNIT OBJECTIVE</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1673301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B19B3F9-872A-4E9C-A815-2F065E8D3CAB}" type="datetime1">
              <a:rPr lang="en-US" smtClean="0"/>
              <a:t>5/1/2026</a:t>
            </a:fld>
            <a:endParaRPr lang="en-US"/>
          </a:p>
        </p:txBody>
      </p:sp>
      <p:graphicFrame>
        <p:nvGraphicFramePr>
          <p:cNvPr id="9" name="Content Placeholder 1"/>
          <p:cNvGraphicFramePr>
            <a:graphicFrameLocks/>
          </p:cNvGraphicFramePr>
          <p:nvPr>
            <p:extLst>
              <p:ext uri="{D42A27DB-BD31-4B8C-83A1-F6EECF244321}">
                <p14:modId xmlns:p14="http://schemas.microsoft.com/office/powerpoint/2010/main" val="2185466887"/>
              </p:ext>
            </p:extLst>
          </p:nvPr>
        </p:nvGraphicFramePr>
        <p:xfrm>
          <a:off x="479685" y="1066800"/>
          <a:ext cx="8229600" cy="4647901"/>
        </p:xfrm>
        <a:graphic>
          <a:graphicData uri="http://schemas.openxmlformats.org/drawingml/2006/table">
            <a:tbl>
              <a:tblPr>
                <a:tableStyleId>{93296810-A885-4BE3-A3E7-6D5BEEA58F35}</a:tableStyleId>
              </a:tblPr>
              <a:tblGrid>
                <a:gridCol w="1591380">
                  <a:extLst>
                    <a:ext uri="{9D8B030D-6E8A-4147-A177-3AD203B41FA5}">
                      <a16:colId xmlns:a16="http://schemas.microsoft.com/office/drawing/2014/main" val="20000"/>
                    </a:ext>
                  </a:extLst>
                </a:gridCol>
                <a:gridCol w="6638220">
                  <a:extLst>
                    <a:ext uri="{9D8B030D-6E8A-4147-A177-3AD203B41FA5}">
                      <a16:colId xmlns:a16="http://schemas.microsoft.com/office/drawing/2014/main" val="20001"/>
                    </a:ext>
                  </a:extLst>
                </a:gridCol>
              </a:tblGrid>
              <a:tr h="821101">
                <a:tc>
                  <a:txBody>
                    <a:bodyPr/>
                    <a:lstStyle/>
                    <a:p>
                      <a:r>
                        <a:rPr lang="en-US" sz="2200" dirty="0"/>
                        <a:t>AOE0861.1</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Define the Quality Concepts and Manufacturing Quality</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AOE0861.2</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 Conceptualize the term Quality Management and relate to this various TQM Principles</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AOE0861.3</a:t>
                      </a:r>
                    </a:p>
                    <a:p>
                      <a:endParaRPr lang="en-US" u="none" dirty="0">
                        <a:solidFill>
                          <a:srgbClr val="FF0000"/>
                        </a:solidFill>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just">
                        <a:spcBef>
                          <a:spcPts val="0"/>
                        </a:spcBef>
                        <a:spcAft>
                          <a:spcPts val="0"/>
                        </a:spcAft>
                      </a:pPr>
                      <a:r>
                        <a:rPr lang="en-US" sz="2200" u="none" dirty="0"/>
                        <a:t> Analyze the different Tools and Techniques and Control Charts</a:t>
                      </a:r>
                      <a:endParaRPr lang="en-US" sz="2200" b="0" u="none" dirty="0">
                        <a:solidFill>
                          <a:srgbClr val="FF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2"/>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AOE0861.4</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 Distinguish between Defects Diagnosis and Prevention term</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AOE0861.5</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 Coordinate IS0 and its concept to Quality Management</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Footer Placeholder 12"/>
          <p:cNvSpPr>
            <a:spLocks noGrp="1"/>
          </p:cNvSpPr>
          <p:nvPr>
            <p:ph type="ftr" sz="quarter" idx="11"/>
          </p:nvPr>
        </p:nvSpPr>
        <p:spPr>
          <a:xfrm>
            <a:off x="2286000" y="6248415"/>
            <a:ext cx="5943600" cy="30478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COURSE OUTCOMES</a:t>
            </a:r>
            <a:br>
              <a:rPr lang="en-US" sz="2800" b="1" dirty="0">
                <a:latin typeface="Times New Roman" panose="02020603050405020304" pitchFamily="18" charset="0"/>
                <a:cs typeface="Times New Roman" panose="02020603050405020304" pitchFamily="18" charset="0"/>
              </a:rPr>
            </a:b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533400" y="1004100"/>
            <a:ext cx="8229600" cy="5202636"/>
          </a:xfrm>
        </p:spPr>
        <p:txBody>
          <a:bodyPr>
            <a:normAutofit lnSpcReduction="10000"/>
          </a:bodyPr>
          <a:lstStyle/>
          <a:p>
            <a:pPr eaLnBrk="1" hangingPunct="1">
              <a:buNone/>
            </a:pPr>
            <a:r>
              <a:rPr lang="en-US" sz="2400" dirty="0"/>
              <a:t>1. Engineering knowledge</a:t>
            </a:r>
          </a:p>
          <a:p>
            <a:pPr eaLnBrk="1" hangingPunct="1">
              <a:buNone/>
            </a:pPr>
            <a:r>
              <a:rPr lang="en-US" altLang="en-US" sz="2400" dirty="0"/>
              <a:t>2.</a:t>
            </a:r>
            <a:r>
              <a:rPr lang="en-US" sz="2400" dirty="0"/>
              <a:t> Problem analysis</a:t>
            </a:r>
          </a:p>
          <a:p>
            <a:pPr eaLnBrk="1" hangingPunct="1">
              <a:buNone/>
            </a:pPr>
            <a:r>
              <a:rPr lang="en-US" altLang="en-US" sz="2400" dirty="0"/>
              <a:t>3.</a:t>
            </a:r>
            <a:r>
              <a:rPr lang="en-US" sz="2400" dirty="0"/>
              <a:t> Design/development of solutions</a:t>
            </a:r>
          </a:p>
          <a:p>
            <a:pPr eaLnBrk="1" hangingPunct="1">
              <a:buNone/>
            </a:pPr>
            <a:r>
              <a:rPr lang="en-US" altLang="en-US" sz="2400" dirty="0"/>
              <a:t>4.</a:t>
            </a:r>
            <a:r>
              <a:rPr lang="en-US" sz="2400" dirty="0"/>
              <a:t> Conduct investigations of complex problems</a:t>
            </a:r>
          </a:p>
          <a:p>
            <a:pPr eaLnBrk="1" hangingPunct="1">
              <a:buNone/>
            </a:pPr>
            <a:r>
              <a:rPr lang="en-US" altLang="en-US" sz="2400" dirty="0"/>
              <a:t>5.</a:t>
            </a:r>
            <a:r>
              <a:rPr lang="en-US" sz="2400" dirty="0"/>
              <a:t> Modern tool usage</a:t>
            </a:r>
          </a:p>
          <a:p>
            <a:pPr eaLnBrk="1" hangingPunct="1">
              <a:buNone/>
            </a:pPr>
            <a:r>
              <a:rPr lang="en-US" altLang="en-US" sz="2400" dirty="0"/>
              <a:t>6.</a:t>
            </a:r>
            <a:r>
              <a:rPr lang="en-US" sz="2400" dirty="0"/>
              <a:t> The engineer and society</a:t>
            </a:r>
          </a:p>
          <a:p>
            <a:pPr eaLnBrk="1" hangingPunct="1">
              <a:buNone/>
            </a:pPr>
            <a:r>
              <a:rPr lang="en-US" altLang="en-US" sz="2400" dirty="0"/>
              <a:t>7.</a:t>
            </a:r>
            <a:r>
              <a:rPr lang="en-US" sz="2400" dirty="0"/>
              <a:t> Environment and sustainability</a:t>
            </a:r>
          </a:p>
          <a:p>
            <a:pPr eaLnBrk="1" hangingPunct="1">
              <a:buNone/>
            </a:pPr>
            <a:r>
              <a:rPr lang="en-US" altLang="en-US" sz="2400" dirty="0"/>
              <a:t>8.</a:t>
            </a:r>
            <a:r>
              <a:rPr lang="en-US" sz="2400" dirty="0"/>
              <a:t> Ethics</a:t>
            </a:r>
          </a:p>
          <a:p>
            <a:pPr eaLnBrk="1" hangingPunct="1">
              <a:buNone/>
            </a:pPr>
            <a:r>
              <a:rPr lang="en-US" altLang="en-US" sz="2400" dirty="0"/>
              <a:t>9.</a:t>
            </a:r>
            <a:r>
              <a:rPr lang="en-US" sz="2400" dirty="0"/>
              <a:t> Individual and team work</a:t>
            </a:r>
          </a:p>
          <a:p>
            <a:pPr eaLnBrk="1" hangingPunct="1">
              <a:buNone/>
            </a:pPr>
            <a:r>
              <a:rPr lang="en-US" altLang="en-US" sz="2400" dirty="0"/>
              <a:t>10.</a:t>
            </a:r>
            <a:r>
              <a:rPr lang="en-US" sz="2400" dirty="0"/>
              <a:t> Communication</a:t>
            </a:r>
          </a:p>
          <a:p>
            <a:pPr eaLnBrk="1" hangingPunct="1">
              <a:buNone/>
            </a:pPr>
            <a:r>
              <a:rPr lang="en-US" altLang="en-US" sz="2400" dirty="0"/>
              <a:t>11.</a:t>
            </a:r>
            <a:r>
              <a:rPr lang="en-US" sz="2400" dirty="0"/>
              <a:t> Project management and finance</a:t>
            </a:r>
          </a:p>
          <a:p>
            <a:pPr eaLnBrk="1" hangingPunct="1">
              <a:buNone/>
            </a:pPr>
            <a:r>
              <a:rPr lang="en-US" altLang="en-US" sz="2400" dirty="0"/>
              <a:t>12.</a:t>
            </a:r>
            <a:r>
              <a:rPr lang="en-US" sz="2400" dirty="0"/>
              <a:t> Life-long learning</a:t>
            </a:r>
            <a:endParaRPr lang="en-US" altLang="en-US" sz="2200" dirty="0"/>
          </a:p>
          <a:p>
            <a:pPr eaLnBrk="1" hangingPunct="1"/>
            <a:endParaRPr lang="en-US" altLang="en-US" sz="2200" dirty="0"/>
          </a:p>
          <a:p>
            <a:pPr eaLnBrk="1" hangingPunct="1">
              <a:buFont typeface="Arial" panose="020B0604020202020204" pitchFamily="34" charset="0"/>
              <a:buNone/>
            </a:pPr>
            <a:endParaRPr lang="en-US" altLang="en-US" sz="2200" dirty="0"/>
          </a:p>
          <a:p>
            <a:pPr eaLnBrk="1" hangingPunct="1">
              <a:buFont typeface="Arial" panose="020B0604020202020204" pitchFamily="34" charset="0"/>
              <a:buNone/>
            </a:pPr>
            <a:endParaRPr lang="en-US" altLang="en-US" sz="2200" dirty="0"/>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DC53B753-5CD1-4F33-A2FA-ACB46966BD92}" type="datetime1">
              <a:rPr lang="en-US" smtClean="0"/>
              <a:t>5/1/2026</a:t>
            </a:fld>
            <a:endParaRPr lang="en-US"/>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1981200" y="6248400"/>
            <a:ext cx="5867400" cy="365125"/>
          </a:xfrm>
        </p:spPr>
        <p:txBody>
          <a:bodyPr/>
          <a:lstStyle/>
          <a:p>
            <a:pPr>
              <a:defRPr/>
            </a:pPr>
            <a:r>
              <a:rPr lang="pt-BR" sz="2000"/>
              <a:t>Mr. Minhaj Nezami     AOE0861    TQM      Unit 3</a:t>
            </a:r>
            <a:endParaRPr lang="en-US" sz="2000" dirty="0"/>
          </a:p>
        </p:txBody>
      </p:sp>
      <p:pic>
        <p:nvPicPr>
          <p:cNvPr id="10" name="Picture 9"/>
          <p:cNvPicPr>
            <a:picLocks noChangeAspect="1"/>
          </p:cNvPicPr>
          <p:nvPr/>
        </p:nvPicPr>
        <p:blipFill>
          <a:blip r:embed="rId3"/>
          <a:stretch>
            <a:fillRect/>
          </a:stretch>
        </p:blipFill>
        <p:spPr>
          <a:xfrm>
            <a:off x="36500" y="0"/>
            <a:ext cx="1755800" cy="1024217"/>
          </a:xfrm>
          <a:prstGeom prst="rect">
            <a:avLst/>
          </a:prstGeom>
        </p:spPr>
      </p:pic>
      <p:sp>
        <p:nvSpPr>
          <p:cNvPr id="9"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0291" y="4618"/>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PROGRAM OUTCOME</a:t>
            </a:r>
            <a:br>
              <a:rPr lang="en-US" sz="2800" b="1" dirty="0"/>
            </a:br>
            <a:endParaRPr lang="en-US" sz="2800" dirty="0"/>
          </a:p>
        </p:txBody>
      </p:sp>
    </p:spTree>
    <p:extLst>
      <p:ext uri="{BB962C8B-B14F-4D97-AF65-F5344CB8AC3E}">
        <p14:creationId xmlns:p14="http://schemas.microsoft.com/office/powerpoint/2010/main" val="2790813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D425305-0613-4B46-9AD7-A87E63E2C56B}" type="datetime1">
              <a:rPr lang="en-US" smtClean="0"/>
              <a:t>5/1/2026</a:t>
            </a:fld>
            <a:endParaRPr lang="en-US" dirty="0"/>
          </a:p>
        </p:txBody>
      </p:sp>
      <p:sp>
        <p:nvSpPr>
          <p:cNvPr id="5" name="Footer Placeholder 4"/>
          <p:cNvSpPr>
            <a:spLocks noGrp="1"/>
          </p:cNvSpPr>
          <p:nvPr>
            <p:ph type="ftr" sz="quarter" idx="11"/>
          </p:nvPr>
        </p:nvSpPr>
        <p:spPr>
          <a:xfrm>
            <a:off x="2590800" y="6324600"/>
            <a:ext cx="5486400" cy="533400"/>
          </a:xfrm>
        </p:spPr>
        <p:txBody>
          <a:bodyPr/>
          <a:lstStyle/>
          <a:p>
            <a:r>
              <a:rPr lang="en-US" sz="2000"/>
              <a:t>Mr. Minhaj Nezami     AOE0861    TQM      Unit 3</a:t>
            </a:r>
            <a:endParaRPr lang="en-US" sz="2000" dirty="0"/>
          </a:p>
        </p:txBody>
      </p:sp>
      <p:graphicFrame>
        <p:nvGraphicFramePr>
          <p:cNvPr id="12" name="Table 11"/>
          <p:cNvGraphicFramePr>
            <a:graphicFrameLocks noGrp="1"/>
          </p:cNvGraphicFramePr>
          <p:nvPr>
            <p:extLst>
              <p:ext uri="{D42A27DB-BD31-4B8C-83A1-F6EECF244321}">
                <p14:modId xmlns:p14="http://schemas.microsoft.com/office/powerpoint/2010/main" val="588371880"/>
              </p:ext>
            </p:extLst>
          </p:nvPr>
        </p:nvGraphicFramePr>
        <p:xfrm>
          <a:off x="152400" y="1219199"/>
          <a:ext cx="8915400" cy="4952997"/>
        </p:xfrm>
        <a:graphic>
          <a:graphicData uri="http://schemas.openxmlformats.org/drawingml/2006/table">
            <a:tbl>
              <a:tblPr>
                <a:tableStyleId>{93296810-A885-4BE3-A3E7-6D5BEEA58F35}</a:tableStyleId>
              </a:tblPr>
              <a:tblGrid>
                <a:gridCol w="1219200">
                  <a:extLst>
                    <a:ext uri="{9D8B030D-6E8A-4147-A177-3AD203B41FA5}">
                      <a16:colId xmlns:a16="http://schemas.microsoft.com/office/drawing/2014/main" val="20000"/>
                    </a:ext>
                  </a:extLst>
                </a:gridCol>
                <a:gridCol w="688110">
                  <a:extLst>
                    <a:ext uri="{9D8B030D-6E8A-4147-A177-3AD203B41FA5}">
                      <a16:colId xmlns:a16="http://schemas.microsoft.com/office/drawing/2014/main" val="20001"/>
                    </a:ext>
                  </a:extLst>
                </a:gridCol>
                <a:gridCol w="544945">
                  <a:extLst>
                    <a:ext uri="{9D8B030D-6E8A-4147-A177-3AD203B41FA5}">
                      <a16:colId xmlns:a16="http://schemas.microsoft.com/office/drawing/2014/main" val="20002"/>
                    </a:ext>
                  </a:extLst>
                </a:gridCol>
                <a:gridCol w="595745">
                  <a:extLst>
                    <a:ext uri="{9D8B030D-6E8A-4147-A177-3AD203B41FA5}">
                      <a16:colId xmlns:a16="http://schemas.microsoft.com/office/drawing/2014/main" val="20003"/>
                    </a:ext>
                  </a:extLst>
                </a:gridCol>
                <a:gridCol w="584970">
                  <a:extLst>
                    <a:ext uri="{9D8B030D-6E8A-4147-A177-3AD203B41FA5}">
                      <a16:colId xmlns:a16="http://schemas.microsoft.com/office/drawing/2014/main" val="20004"/>
                    </a:ext>
                  </a:extLst>
                </a:gridCol>
                <a:gridCol w="669829">
                  <a:extLst>
                    <a:ext uri="{9D8B030D-6E8A-4147-A177-3AD203B41FA5}">
                      <a16:colId xmlns:a16="http://schemas.microsoft.com/office/drawing/2014/main" val="20005"/>
                    </a:ext>
                  </a:extLst>
                </a:gridCol>
                <a:gridCol w="669829">
                  <a:extLst>
                    <a:ext uri="{9D8B030D-6E8A-4147-A177-3AD203B41FA5}">
                      <a16:colId xmlns:a16="http://schemas.microsoft.com/office/drawing/2014/main" val="20006"/>
                    </a:ext>
                  </a:extLst>
                </a:gridCol>
                <a:gridCol w="669829">
                  <a:extLst>
                    <a:ext uri="{9D8B030D-6E8A-4147-A177-3AD203B41FA5}">
                      <a16:colId xmlns:a16="http://schemas.microsoft.com/office/drawing/2014/main" val="20007"/>
                    </a:ext>
                  </a:extLst>
                </a:gridCol>
                <a:gridCol w="669829">
                  <a:extLst>
                    <a:ext uri="{9D8B030D-6E8A-4147-A177-3AD203B41FA5}">
                      <a16:colId xmlns:a16="http://schemas.microsoft.com/office/drawing/2014/main" val="20008"/>
                    </a:ext>
                  </a:extLst>
                </a:gridCol>
                <a:gridCol w="669829">
                  <a:extLst>
                    <a:ext uri="{9D8B030D-6E8A-4147-A177-3AD203B41FA5}">
                      <a16:colId xmlns:a16="http://schemas.microsoft.com/office/drawing/2014/main" val="20009"/>
                    </a:ext>
                  </a:extLst>
                </a:gridCol>
                <a:gridCol w="669829">
                  <a:extLst>
                    <a:ext uri="{9D8B030D-6E8A-4147-A177-3AD203B41FA5}">
                      <a16:colId xmlns:a16="http://schemas.microsoft.com/office/drawing/2014/main" val="20010"/>
                    </a:ext>
                  </a:extLst>
                </a:gridCol>
                <a:gridCol w="669829">
                  <a:extLst>
                    <a:ext uri="{9D8B030D-6E8A-4147-A177-3AD203B41FA5}">
                      <a16:colId xmlns:a16="http://schemas.microsoft.com/office/drawing/2014/main" val="20011"/>
                    </a:ext>
                  </a:extLst>
                </a:gridCol>
                <a:gridCol w="593627">
                  <a:extLst>
                    <a:ext uri="{9D8B030D-6E8A-4147-A177-3AD203B41FA5}">
                      <a16:colId xmlns:a16="http://schemas.microsoft.com/office/drawing/2014/main" val="20012"/>
                    </a:ext>
                  </a:extLst>
                </a:gridCol>
              </a:tblGrid>
              <a:tr h="707571">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PO6</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PO7</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PO8</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PO9</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PO10</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571">
                <a:tc>
                  <a:txBody>
                    <a:bodyPr/>
                    <a:lstStyle/>
                    <a:p>
                      <a:pPr marL="0" marR="0" algn="ctr">
                        <a:lnSpc>
                          <a:spcPct val="115000"/>
                        </a:lnSpc>
                        <a:spcBef>
                          <a:spcPts val="0"/>
                        </a:spcBef>
                        <a:spcAft>
                          <a:spcPts val="1000"/>
                        </a:spcAft>
                      </a:pPr>
                      <a:r>
                        <a:rPr lang="en-US" sz="1800" dirty="0"/>
                        <a:t>AOE0861.1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07571">
                <a:tc>
                  <a:txBody>
                    <a:bodyPr/>
                    <a:lstStyle/>
                    <a:p>
                      <a:pPr marL="0" marR="0" algn="ctr">
                        <a:lnSpc>
                          <a:spcPct val="115000"/>
                        </a:lnSpc>
                        <a:spcBef>
                          <a:spcPts val="0"/>
                        </a:spcBef>
                        <a:spcAft>
                          <a:spcPts val="1000"/>
                        </a:spcAft>
                      </a:pPr>
                      <a:r>
                        <a:rPr lang="en-US" sz="1800" dirty="0"/>
                        <a:t>AOE0861.2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07571">
                <a:tc>
                  <a:txBody>
                    <a:bodyPr/>
                    <a:lstStyle/>
                    <a:p>
                      <a:pPr marL="0" marR="0" algn="ctr">
                        <a:lnSpc>
                          <a:spcPct val="115000"/>
                        </a:lnSpc>
                        <a:spcBef>
                          <a:spcPts val="0"/>
                        </a:spcBef>
                        <a:spcAft>
                          <a:spcPts val="1000"/>
                        </a:spcAft>
                      </a:pPr>
                      <a:r>
                        <a:rPr lang="en-US" sz="1800" dirty="0"/>
                        <a:t>AOE0861.3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3"/>
                  </a:ext>
                </a:extLst>
              </a:tr>
              <a:tr h="707571">
                <a:tc>
                  <a:txBody>
                    <a:bodyPr/>
                    <a:lstStyle/>
                    <a:p>
                      <a:pPr marL="0" marR="0" algn="ctr">
                        <a:lnSpc>
                          <a:spcPct val="115000"/>
                        </a:lnSpc>
                        <a:spcBef>
                          <a:spcPts val="0"/>
                        </a:spcBef>
                        <a:spcAft>
                          <a:spcPts val="1000"/>
                        </a:spcAft>
                      </a:pPr>
                      <a:r>
                        <a:rPr lang="en-US" sz="1800" dirty="0"/>
                        <a:t>AOE0861.4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07571">
                <a:tc>
                  <a:txBody>
                    <a:bodyPr/>
                    <a:lstStyle/>
                    <a:p>
                      <a:pPr marL="0" marR="0" algn="ctr">
                        <a:lnSpc>
                          <a:spcPct val="115000"/>
                        </a:lnSpc>
                        <a:spcBef>
                          <a:spcPts val="0"/>
                        </a:spcBef>
                        <a:spcAft>
                          <a:spcPts val="1000"/>
                        </a:spcAft>
                      </a:pPr>
                      <a:r>
                        <a:rPr lang="en-US" sz="1800" dirty="0"/>
                        <a:t>AOE0861.5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07571">
                <a:tc>
                  <a:txBody>
                    <a:bodyPr/>
                    <a:lstStyle/>
                    <a:p>
                      <a:pPr marL="0" marR="0" algn="ctr">
                        <a:lnSpc>
                          <a:spcPct val="115000"/>
                        </a:lnSpc>
                        <a:spcBef>
                          <a:spcPts val="0"/>
                        </a:spcBef>
                        <a:spcAft>
                          <a:spcPts val="0"/>
                        </a:spcAft>
                      </a:pPr>
                      <a:r>
                        <a:rPr lang="en-US" sz="1800"/>
                        <a:t>Avg</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3</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2.6</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2.6</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2.4</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2</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2</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2</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1</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1.6</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1</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2.2</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3</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9" name="Title 1">
            <a:extLst>
              <a:ext uri="{FF2B5EF4-FFF2-40B4-BE49-F238E27FC236}">
                <a16:creationId xmlns:a16="http://schemas.microsoft.com/office/drawing/2014/main" id="{1C7BBAA3-263A-8FE5-5AA3-E40EF73A5AE9}"/>
              </a:ext>
            </a:extLst>
          </p:cNvPr>
          <p:cNvSpPr txBox="1">
            <a:spLocks/>
          </p:cNvSpPr>
          <p:nvPr/>
        </p:nvSpPr>
        <p:spPr>
          <a:xfrm>
            <a:off x="1752600" y="0"/>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800" b="1"/>
              <a:t>CO-PO Mapping</a:t>
            </a:r>
            <a:endParaRPr lang="en-US" sz="28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533400" y="1004100"/>
            <a:ext cx="8229600" cy="5202636"/>
          </a:xfrm>
        </p:spPr>
        <p:txBody>
          <a:bodyPr>
            <a:normAutofit/>
          </a:bodyPr>
          <a:lstStyle/>
          <a:p>
            <a:pPr eaLnBrk="1" hangingPunct="1">
              <a:buFont typeface="Arial" panose="020B0604020202020204" pitchFamily="34" charset="0"/>
              <a:buNone/>
            </a:pPr>
            <a:endParaRPr lang="en-US" altLang="en-US" sz="2200" dirty="0"/>
          </a:p>
          <a:p>
            <a:pPr eaLnBrk="1" hangingPunct="1">
              <a:buFont typeface="Arial" panose="020B0604020202020204" pitchFamily="34" charset="0"/>
              <a:buNone/>
            </a:pPr>
            <a:endParaRPr lang="en-US" altLang="en-US" sz="2200" dirty="0"/>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2E89D35E-DEAC-423D-B5E4-EC1C50FF275E}" type="datetime1">
              <a:rPr lang="en-US" smtClean="0"/>
              <a:t>5/1/2026</a:t>
            </a:fld>
            <a:endParaRPr lang="en-US"/>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090055"/>
            <a:ext cx="5334000" cy="365125"/>
          </a:xfrm>
        </p:spPr>
        <p:txBody>
          <a:bodyPr/>
          <a:lstStyle/>
          <a:p>
            <a:pPr>
              <a:defRPr/>
            </a:pPr>
            <a:r>
              <a:rPr lang="pt-BR" sz="2000"/>
              <a:t>Mr. Minhaj Nezami     AOE0861    TQM      Unit 3</a:t>
            </a:r>
            <a:endParaRPr lang="en-US" sz="2000" dirty="0"/>
          </a:p>
        </p:txBody>
      </p:sp>
      <p:sp>
        <p:nvSpPr>
          <p:cNvPr id="11" name="Content Placeholder 2">
            <a:extLst>
              <a:ext uri="{FF2B5EF4-FFF2-40B4-BE49-F238E27FC236}">
                <a16:creationId xmlns:a16="http://schemas.microsoft.com/office/drawing/2014/main" id="{726A2084-274C-41B1-8454-558D0521AB91}"/>
              </a:ext>
            </a:extLst>
          </p:cNvPr>
          <p:cNvSpPr txBox="1">
            <a:spLocks/>
          </p:cNvSpPr>
          <p:nvPr/>
        </p:nvSpPr>
        <p:spPr bwMode="auto">
          <a:xfrm>
            <a:off x="381000" y="1143000"/>
            <a:ext cx="8531506" cy="5081587"/>
          </a:xfrm>
          <a:prstGeom prst="rect">
            <a:avLst/>
          </a:prstGeom>
          <a:noFill/>
          <a:ln w="9525">
            <a:noFill/>
            <a:miter lim="800000"/>
            <a:headEnd/>
            <a:tailEnd/>
          </a:ln>
        </p:spPr>
        <p:txBody>
          <a:bodyPr>
            <a:normAutofit/>
          </a:bodyPr>
          <a:lstStyle/>
          <a:p>
            <a:pPr algn="just"/>
            <a:r>
              <a:rPr lang="en-US" dirty="0"/>
              <a:t>On successful completion of graduation degree, The computer Science &amp; Engineering graduates will be able to:</a:t>
            </a:r>
          </a:p>
          <a:p>
            <a:pPr algn="just"/>
            <a:r>
              <a:rPr lang="en-US" dirty="0"/>
              <a:t> </a:t>
            </a:r>
          </a:p>
          <a:p>
            <a:pPr algn="just"/>
            <a:r>
              <a:rPr lang="en-US" sz="2000" b="1" dirty="0"/>
              <a:t>PSO1: </a:t>
            </a:r>
            <a:r>
              <a:rPr lang="en-US" sz="2000" dirty="0"/>
              <a:t> </a:t>
            </a:r>
            <a:r>
              <a:rPr lang="en-US" dirty="0"/>
              <a:t>identify, analyze real world problems and design their ethical solutions using artificial intelligence, robotics, virtual/augmented reality, data analytics, block chain technology, and cloud computing.</a:t>
            </a:r>
          </a:p>
          <a:p>
            <a:pPr algn="just"/>
            <a:r>
              <a:rPr lang="en-US" b="1" dirty="0"/>
              <a:t> </a:t>
            </a:r>
            <a:endParaRPr lang="en-US" dirty="0"/>
          </a:p>
          <a:p>
            <a:pPr algn="just"/>
            <a:r>
              <a:rPr lang="en-US" sz="2000" b="1" dirty="0"/>
              <a:t>PSO2: </a:t>
            </a:r>
            <a:r>
              <a:rPr lang="en-US" sz="2000" dirty="0"/>
              <a:t> </a:t>
            </a:r>
            <a:r>
              <a:rPr lang="en-US" dirty="0"/>
              <a:t>design and develop the hardware sensor devices and related interfacing software systems for solving complex engineering problems.</a:t>
            </a:r>
          </a:p>
          <a:p>
            <a:pPr algn="just"/>
            <a:r>
              <a:rPr lang="en-US" b="1" dirty="0"/>
              <a:t> </a:t>
            </a:r>
            <a:endParaRPr lang="en-US" dirty="0"/>
          </a:p>
          <a:p>
            <a:pPr algn="just"/>
            <a:r>
              <a:rPr lang="en-US" sz="2000" b="1" dirty="0"/>
              <a:t>PSO 3: </a:t>
            </a:r>
            <a:r>
              <a:rPr lang="en-US" dirty="0"/>
              <a:t>understand inter-disciplinary computing techniques and to apply them in the design of advanced computing.</a:t>
            </a:r>
          </a:p>
          <a:p>
            <a:pPr algn="just"/>
            <a:r>
              <a:rPr lang="en-US" b="1" dirty="0"/>
              <a:t> </a:t>
            </a:r>
            <a:endParaRPr lang="en-US" dirty="0"/>
          </a:p>
          <a:p>
            <a:pPr algn="just"/>
            <a:r>
              <a:rPr lang="en-US" sz="2000" b="1" dirty="0"/>
              <a:t>PSO 4</a:t>
            </a:r>
            <a:r>
              <a:rPr lang="en-US" b="1" dirty="0"/>
              <a:t>:</a:t>
            </a:r>
            <a:r>
              <a:rPr lang="en-US" dirty="0"/>
              <a:t> conduct investigation of complex problem with the help of technical, managerial, leadership qualities, and modern engineering tools provided by industry sponsored laboratories.</a:t>
            </a:r>
          </a:p>
          <a:p>
            <a:r>
              <a:rPr lang="en-US" dirty="0"/>
              <a:t> </a:t>
            </a:r>
          </a:p>
        </p:txBody>
      </p:sp>
      <p:pic>
        <p:nvPicPr>
          <p:cNvPr id="10" name="Picture 9"/>
          <p:cNvPicPr>
            <a:picLocks noChangeAspect="1"/>
          </p:cNvPicPr>
          <p:nvPr/>
        </p:nvPicPr>
        <p:blipFill>
          <a:blip r:embed="rId3"/>
          <a:stretch>
            <a:fillRect/>
          </a:stretch>
        </p:blipFill>
        <p:spPr>
          <a:xfrm>
            <a:off x="36500" y="0"/>
            <a:ext cx="1755800" cy="1024217"/>
          </a:xfrm>
          <a:prstGeom prst="rect">
            <a:avLst/>
          </a:prstGeom>
        </p:spPr>
      </p:pic>
      <p:sp>
        <p:nvSpPr>
          <p:cNvPr id="9"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PROGRAM SPECIFIC OUTCOME</a:t>
            </a:r>
            <a:br>
              <a:rPr lang="en-US" sz="2800" b="1" dirty="0"/>
            </a:br>
            <a:endParaRPr lang="en-US" sz="2800" dirty="0"/>
          </a:p>
        </p:txBody>
      </p:sp>
    </p:spTree>
    <p:extLst>
      <p:ext uri="{BB962C8B-B14F-4D97-AF65-F5344CB8AC3E}">
        <p14:creationId xmlns:p14="http://schemas.microsoft.com/office/powerpoint/2010/main" val="2966671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B1AE26C-6D0E-4F85-9AFE-9B771AEE5634}" type="datetime1">
              <a:rPr lang="en-US" smtClean="0"/>
              <a:t>5/1/2026</a:t>
            </a:fld>
            <a:endParaRPr lang="en-US" dirty="0"/>
          </a:p>
        </p:txBody>
      </p:sp>
      <p:sp>
        <p:nvSpPr>
          <p:cNvPr id="5" name="Footer Placeholder 4"/>
          <p:cNvSpPr>
            <a:spLocks noGrp="1"/>
          </p:cNvSpPr>
          <p:nvPr>
            <p:ph type="ftr" sz="quarter" idx="11"/>
          </p:nvPr>
        </p:nvSpPr>
        <p:spPr>
          <a:xfrm>
            <a:off x="2209800" y="6224605"/>
            <a:ext cx="5486400" cy="533400"/>
          </a:xfrm>
        </p:spPr>
        <p:txBody>
          <a:bodyPr/>
          <a:lstStyle/>
          <a:p>
            <a:r>
              <a:rPr lang="en-US" sz="2000"/>
              <a:t>Mr. Minhaj Nezami     AOE0861    TQM      Unit 3</a:t>
            </a:r>
            <a:endParaRPr lang="en-US" sz="2000" dirty="0"/>
          </a:p>
        </p:txBody>
      </p:sp>
      <p:graphicFrame>
        <p:nvGraphicFramePr>
          <p:cNvPr id="9" name="Table 8"/>
          <p:cNvGraphicFramePr>
            <a:graphicFrameLocks noGrp="1"/>
          </p:cNvGraphicFramePr>
          <p:nvPr>
            <p:extLst>
              <p:ext uri="{D42A27DB-BD31-4B8C-83A1-F6EECF244321}">
                <p14:modId xmlns:p14="http://schemas.microsoft.com/office/powerpoint/2010/main" val="3563536819"/>
              </p:ext>
            </p:extLst>
          </p:nvPr>
        </p:nvGraphicFramePr>
        <p:xfrm>
          <a:off x="609600" y="1066802"/>
          <a:ext cx="8001000" cy="4876795"/>
        </p:xfrm>
        <a:graphic>
          <a:graphicData uri="http://schemas.openxmlformats.org/drawingml/2006/table">
            <a:tbl>
              <a:tblPr>
                <a:tableStyleId>{93296810-A885-4BE3-A3E7-6D5BEEA58F35}</a:tableStyleId>
              </a:tblPr>
              <a:tblGrid>
                <a:gridCol w="2000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tblGrid>
              <a:tr h="696685">
                <a:tc>
                  <a:txBody>
                    <a:bodyPr/>
                    <a:lstStyle/>
                    <a:p>
                      <a:pPr marL="0" marR="0">
                        <a:lnSpc>
                          <a:spcPct val="115000"/>
                        </a:lnSpc>
                        <a:spcBef>
                          <a:spcPts val="0"/>
                        </a:spcBef>
                        <a:spcAft>
                          <a:spcPts val="0"/>
                        </a:spcAft>
                      </a:pPr>
                      <a:r>
                        <a:rPr lang="en-US" sz="2200" dirty="0"/>
                        <a:t>CO</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PSO1</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PSO2</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PSO3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96685">
                <a:tc>
                  <a:txBody>
                    <a:bodyPr/>
                    <a:lstStyle/>
                    <a:p>
                      <a:pPr marL="0" marR="0">
                        <a:lnSpc>
                          <a:spcPct val="115000"/>
                        </a:lnSpc>
                        <a:spcBef>
                          <a:spcPts val="0"/>
                        </a:spcBef>
                        <a:spcAft>
                          <a:spcPts val="1000"/>
                        </a:spcAft>
                      </a:pPr>
                      <a:r>
                        <a:rPr lang="en-US" sz="2200" dirty="0"/>
                        <a:t>AOE0861.1</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2</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96685">
                <a:tc>
                  <a:txBody>
                    <a:bodyPr/>
                    <a:lstStyle/>
                    <a:p>
                      <a:pPr marL="0" marR="0">
                        <a:lnSpc>
                          <a:spcPct val="115000"/>
                        </a:lnSpc>
                        <a:spcBef>
                          <a:spcPts val="0"/>
                        </a:spcBef>
                        <a:spcAft>
                          <a:spcPts val="1000"/>
                        </a:spcAft>
                      </a:pPr>
                      <a:r>
                        <a:rPr lang="en-US" sz="2200" dirty="0"/>
                        <a:t>AOE0861.2</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2</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2</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96685">
                <a:tc>
                  <a:txBody>
                    <a:bodyPr/>
                    <a:lstStyle/>
                    <a:p>
                      <a:pPr marL="0" marR="0">
                        <a:lnSpc>
                          <a:spcPct val="115000"/>
                        </a:lnSpc>
                        <a:spcBef>
                          <a:spcPts val="0"/>
                        </a:spcBef>
                        <a:spcAft>
                          <a:spcPts val="1000"/>
                        </a:spcAft>
                      </a:pPr>
                      <a:r>
                        <a:rPr lang="en-US" sz="2200" dirty="0"/>
                        <a:t>AOE0861.3</a:t>
                      </a:r>
                      <a:endParaRPr lang="en-US" sz="2200" dirty="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t>3</a:t>
                      </a:r>
                      <a:endParaRPr lang="en-US" sz="2200" dirty="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t>2</a:t>
                      </a:r>
                      <a:endParaRPr lang="en-US" sz="2200" dirty="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t>3</a:t>
                      </a:r>
                      <a:endParaRPr lang="en-US" sz="2200" dirty="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3"/>
                  </a:ext>
                </a:extLst>
              </a:tr>
              <a:tr h="696685">
                <a:tc>
                  <a:txBody>
                    <a:bodyPr/>
                    <a:lstStyle/>
                    <a:p>
                      <a:pPr marL="0" marR="0">
                        <a:lnSpc>
                          <a:spcPct val="115000"/>
                        </a:lnSpc>
                        <a:spcBef>
                          <a:spcPts val="0"/>
                        </a:spcBef>
                        <a:spcAft>
                          <a:spcPts val="1000"/>
                        </a:spcAft>
                      </a:pPr>
                      <a:r>
                        <a:rPr lang="en-US" sz="2200" dirty="0"/>
                        <a:t>AOE0861.4</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96685">
                <a:tc>
                  <a:txBody>
                    <a:bodyPr/>
                    <a:lstStyle/>
                    <a:p>
                      <a:pPr marL="0" marR="0">
                        <a:lnSpc>
                          <a:spcPct val="115000"/>
                        </a:lnSpc>
                        <a:spcBef>
                          <a:spcPts val="0"/>
                        </a:spcBef>
                        <a:spcAft>
                          <a:spcPts val="1000"/>
                        </a:spcAft>
                      </a:pPr>
                      <a:r>
                        <a:rPr lang="en-US" sz="2200" dirty="0"/>
                        <a:t>AOE0861.5</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2</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96685">
                <a:tc>
                  <a:txBody>
                    <a:bodyPr/>
                    <a:lstStyle/>
                    <a:p>
                      <a:pPr marL="0" marR="0">
                        <a:lnSpc>
                          <a:spcPct val="115000"/>
                        </a:lnSpc>
                        <a:spcBef>
                          <a:spcPts val="0"/>
                        </a:spcBef>
                        <a:spcAft>
                          <a:spcPts val="0"/>
                        </a:spcAft>
                      </a:pPr>
                      <a:r>
                        <a:rPr lang="en-US" sz="2200"/>
                        <a:t>Avg</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dirty="0"/>
                        <a:t>3</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dirty="0"/>
                        <a:t>2.2</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dirty="0"/>
                        <a:t>2.8</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0"/>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endParaRPr lang="en-US" sz="2800" b="1" dirty="0"/>
          </a:p>
          <a:p>
            <a:pPr>
              <a:defRPr/>
            </a:pPr>
            <a:r>
              <a:rPr lang="en-US" sz="2800" b="1" dirty="0"/>
              <a:t>CO-PSO Mapping</a:t>
            </a:r>
            <a:br>
              <a:rPr lang="en-US" sz="2800" b="1" dirty="0"/>
            </a:b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208344" y="1142999"/>
            <a:ext cx="8554656" cy="5081587"/>
          </a:xfrm>
        </p:spPr>
        <p:txBody>
          <a:bodyPr/>
          <a:lstStyle/>
          <a:p>
            <a:pPr eaLnBrk="1" hangingPunct="1">
              <a:buFont typeface="Arial" panose="020B0604020202020204" pitchFamily="34" charset="0"/>
              <a:buNone/>
            </a:pPr>
            <a:endParaRPr lang="en-US" altLang="en-US" sz="2200" dirty="0">
              <a:latin typeface="+mj-lt"/>
            </a:endParaRPr>
          </a:p>
          <a:p>
            <a:pPr eaLnBrk="1" hangingPunct="1"/>
            <a:endParaRPr lang="en-US" altLang="en-US" sz="2200" dirty="0">
              <a:latin typeface="+mj-lt"/>
            </a:endParaRPr>
          </a:p>
          <a:p>
            <a:pPr eaLnBrk="1" hangingPunct="1">
              <a:buFont typeface="Arial" panose="020B0604020202020204" pitchFamily="34" charset="0"/>
              <a:buNone/>
            </a:pPr>
            <a:endParaRPr lang="en-US" altLang="en-US" sz="2200" dirty="0">
              <a:latin typeface="+mj-lt"/>
            </a:endParaRPr>
          </a:p>
          <a:p>
            <a:pPr eaLnBrk="1" hangingPunct="1">
              <a:buFont typeface="Arial" panose="020B0604020202020204" pitchFamily="34" charset="0"/>
              <a:buNone/>
            </a:pPr>
            <a:endParaRPr lang="en-US" altLang="en-US" sz="2200" dirty="0">
              <a:latin typeface="+mj-lt"/>
            </a:endParaRP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54409D5E-BEF1-42B0-84C8-42B217C61644}" type="datetime1">
              <a:rPr lang="en-US" smtClean="0">
                <a:latin typeface="+mj-lt"/>
              </a:rPr>
              <a:t>5/1/2026</a:t>
            </a:fld>
            <a:endParaRPr lang="en-US">
              <a:latin typeface="+mj-lt"/>
            </a:endParaRPr>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257800" cy="365125"/>
          </a:xfrm>
        </p:spPr>
        <p:txBody>
          <a:bodyPr/>
          <a:lstStyle/>
          <a:p>
            <a:pPr>
              <a:defRPr/>
            </a:pPr>
            <a:r>
              <a:rPr lang="pt-BR" sz="2000">
                <a:latin typeface="+mj-lt"/>
              </a:rPr>
              <a:t>Mr. Minhaj Nezami     AOE0861    TQM      Unit 3</a:t>
            </a:r>
            <a:endParaRPr lang="en-US" sz="2000" dirty="0">
              <a:latin typeface="+mj-lt"/>
            </a:endParaRPr>
          </a:p>
        </p:txBody>
      </p:sp>
      <p:sp>
        <p:nvSpPr>
          <p:cNvPr id="3" name="Rectangle 2"/>
          <p:cNvSpPr/>
          <p:nvPr/>
        </p:nvSpPr>
        <p:spPr>
          <a:xfrm>
            <a:off x="457200" y="849086"/>
            <a:ext cx="8582628" cy="5386090"/>
          </a:xfrm>
          <a:prstGeom prst="rect">
            <a:avLst/>
          </a:prstGeom>
        </p:spPr>
        <p:txBody>
          <a:bodyPr wrap="square">
            <a:spAutoFit/>
          </a:bodyPr>
          <a:lstStyle/>
          <a:p>
            <a:pPr marL="0" marR="0" algn="just">
              <a:lnSpc>
                <a:spcPct val="150000"/>
              </a:lnSpc>
              <a:spcBef>
                <a:spcPts val="0"/>
              </a:spcBef>
              <a:spcAft>
                <a:spcPts val="0"/>
              </a:spcAft>
            </a:pPr>
            <a:r>
              <a:rPr lang="en-US" sz="2000" b="1" dirty="0">
                <a:latin typeface="+mj-lt"/>
                <a:ea typeface="Times New Roman" panose="02020603050405020304" pitchFamily="18" charset="0"/>
                <a:cs typeface="Times New Roman" panose="02020603050405020304" pitchFamily="18" charset="0"/>
              </a:rPr>
              <a:t>PEO 1: </a:t>
            </a:r>
            <a:r>
              <a:rPr lang="en-US" dirty="0">
                <a:latin typeface="+mj-lt"/>
                <a:ea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a:t>
            </a:r>
          </a:p>
          <a:p>
            <a:pPr marL="0" marR="0" algn="just">
              <a:lnSpc>
                <a:spcPct val="150000"/>
              </a:lnSpc>
              <a:spcBef>
                <a:spcPts val="0"/>
              </a:spcBef>
              <a:spcAft>
                <a:spcPts val="0"/>
              </a:spcAft>
            </a:pPr>
            <a:r>
              <a:rPr lang="en-US" b="1" dirty="0">
                <a:latin typeface="+mj-lt"/>
                <a:ea typeface="Times New Roman" panose="02020603050405020304" pitchFamily="18" charset="0"/>
                <a:cs typeface="Times New Roman" panose="02020603050405020304" pitchFamily="18" charset="0"/>
              </a:rPr>
              <a:t> </a:t>
            </a:r>
            <a:endParaRPr lang="en-US" dirty="0">
              <a:latin typeface="+mj-lt"/>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b="1" dirty="0">
                <a:latin typeface="+mj-lt"/>
                <a:ea typeface="Times New Roman" panose="02020603050405020304" pitchFamily="18" charset="0"/>
                <a:cs typeface="Times New Roman" panose="02020603050405020304" pitchFamily="18" charset="0"/>
              </a:rPr>
              <a:t> </a:t>
            </a:r>
            <a:r>
              <a:rPr lang="en-US" sz="2000" b="1" dirty="0">
                <a:latin typeface="+mj-lt"/>
                <a:ea typeface="Times New Roman" panose="02020603050405020304" pitchFamily="18" charset="0"/>
                <a:cs typeface="Times New Roman" panose="02020603050405020304" pitchFamily="18" charset="0"/>
              </a:rPr>
              <a:t>PEO 2: </a:t>
            </a:r>
            <a:r>
              <a:rPr lang="en-US" dirty="0">
                <a:latin typeface="+mj-lt"/>
                <a:ea typeface="Times New Roman" panose="02020603050405020304" pitchFamily="18" charset="0"/>
                <a:cs typeface="Times New Roman" panose="02020603050405020304" pitchFamily="18" charset="0"/>
              </a:rPr>
              <a:t>To have a successful career in industries, to pursue higher studies or to support entrepreneurial endeavors and to face the global challenges.</a:t>
            </a:r>
          </a:p>
          <a:p>
            <a:pPr marL="0" marR="0" algn="just">
              <a:lnSpc>
                <a:spcPct val="150000"/>
              </a:lnSpc>
              <a:spcBef>
                <a:spcPts val="0"/>
              </a:spcBef>
              <a:spcAft>
                <a:spcPts val="0"/>
              </a:spcAft>
            </a:pPr>
            <a:r>
              <a:rPr lang="en-US" b="1" dirty="0">
                <a:latin typeface="+mj-lt"/>
                <a:ea typeface="Times New Roman" panose="02020603050405020304" pitchFamily="18" charset="0"/>
                <a:cs typeface="Times New Roman" panose="02020603050405020304" pitchFamily="18" charset="0"/>
              </a:rPr>
              <a:t> </a:t>
            </a:r>
            <a:endParaRPr lang="en-US" dirty="0">
              <a:latin typeface="+mj-lt"/>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2000" b="1" dirty="0">
                <a:latin typeface="+mj-lt"/>
                <a:ea typeface="Times New Roman" panose="02020603050405020304" pitchFamily="18" charset="0"/>
                <a:cs typeface="Times New Roman" panose="02020603050405020304" pitchFamily="18" charset="0"/>
              </a:rPr>
              <a:t>PEO 3: </a:t>
            </a:r>
            <a:r>
              <a:rPr lang="en-US" dirty="0">
                <a:latin typeface="+mj-lt"/>
                <a:ea typeface="Times New Roman" panose="02020603050405020304" pitchFamily="18" charset="0"/>
                <a:cs typeface="Times New Roman" panose="02020603050405020304" pitchFamily="18" charset="0"/>
              </a:rPr>
              <a:t>To have an effective communication skills, professional attitude, ethical values and a desire to learn specific knowledge in emerging trends, technologies for research, innovation and product development and contribution to society.</a:t>
            </a:r>
          </a:p>
          <a:p>
            <a:pPr marL="0" marR="0" algn="just">
              <a:lnSpc>
                <a:spcPct val="150000"/>
              </a:lnSpc>
              <a:spcBef>
                <a:spcPts val="0"/>
              </a:spcBef>
              <a:spcAft>
                <a:spcPts val="0"/>
              </a:spcAft>
            </a:pPr>
            <a:r>
              <a:rPr lang="en-US" b="1" dirty="0">
                <a:latin typeface="+mj-lt"/>
                <a:ea typeface="Times New Roman" panose="02020603050405020304" pitchFamily="18" charset="0"/>
                <a:cs typeface="Times New Roman" panose="02020603050405020304" pitchFamily="18" charset="0"/>
              </a:rPr>
              <a:t> </a:t>
            </a:r>
            <a:endParaRPr lang="en-US" dirty="0">
              <a:latin typeface="+mj-lt"/>
              <a:ea typeface="Times New Roman" panose="02020603050405020304" pitchFamily="18" charset="0"/>
              <a:cs typeface="Times New Roman" panose="02020603050405020304" pitchFamily="18" charset="0"/>
            </a:endParaRPr>
          </a:p>
          <a:p>
            <a:pPr algn="just"/>
            <a:r>
              <a:rPr lang="en-US" sz="2000" b="1" dirty="0">
                <a:latin typeface="+mj-lt"/>
                <a:ea typeface="Times New Roman" panose="02020603050405020304" pitchFamily="18" charset="0"/>
              </a:rPr>
              <a:t>PEO 4: </a:t>
            </a:r>
            <a:r>
              <a:rPr lang="en-US" dirty="0">
                <a:latin typeface="+mj-lt"/>
                <a:ea typeface="Times New Roman" panose="02020603050405020304" pitchFamily="18" charset="0"/>
              </a:rPr>
              <a:t>To have life-long learning for up-skilling and re-skilling for successful professional career as engineer, scientist, entrepreneur and bureaucrat for betterment of society.</a:t>
            </a:r>
            <a:endParaRPr lang="en-US" dirty="0">
              <a:latin typeface="+mj-lt"/>
            </a:endParaRPr>
          </a:p>
        </p:txBody>
      </p:sp>
      <p:pic>
        <p:nvPicPr>
          <p:cNvPr id="10" name="Picture 9"/>
          <p:cNvPicPr>
            <a:picLocks noChangeAspect="1"/>
          </p:cNvPicPr>
          <p:nvPr/>
        </p:nvPicPr>
        <p:blipFill>
          <a:blip r:embed="rId3"/>
          <a:stretch>
            <a:fillRect/>
          </a:stretch>
        </p:blipFill>
        <p:spPr>
          <a:xfrm>
            <a:off x="36500" y="0"/>
            <a:ext cx="1755800" cy="1024217"/>
          </a:xfrm>
          <a:prstGeom prst="rect">
            <a:avLst/>
          </a:prstGeom>
        </p:spPr>
      </p:pic>
      <p:sp>
        <p:nvSpPr>
          <p:cNvPr id="9"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Program Educational Objectives</a:t>
            </a:r>
            <a:br>
              <a:rPr lang="en-US" sz="2800" b="1" dirty="0"/>
            </a:br>
            <a:endParaRPr lang="en-US" sz="2800" dirty="0"/>
          </a:p>
        </p:txBody>
      </p:sp>
    </p:spTree>
    <p:extLst>
      <p:ext uri="{BB962C8B-B14F-4D97-AF65-F5344CB8AC3E}">
        <p14:creationId xmlns:p14="http://schemas.microsoft.com/office/powerpoint/2010/main" val="3085087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305800" cy="5105400"/>
          </a:xfrm>
        </p:spPr>
        <p:txBody>
          <a:bodyPr>
            <a:normAutofit lnSpcReduction="10000"/>
          </a:bodyPr>
          <a:lstStyle/>
          <a:p>
            <a:r>
              <a:rPr lang="en-US" sz="2400" b="1" dirty="0">
                <a:cs typeface="Times New Roman" panose="02020603050405020304" pitchFamily="18" charset="0"/>
              </a:rPr>
              <a:t>RECAP</a:t>
            </a:r>
          </a:p>
          <a:p>
            <a:pPr marL="457200" indent="-457200">
              <a:buNone/>
            </a:pPr>
            <a:r>
              <a:rPr lang="en-US" sz="2200" dirty="0">
                <a:cs typeface="Times New Roman" panose="02020603050405020304" pitchFamily="18" charset="0"/>
              </a:rPr>
              <a:t>     1. What is TQM?</a:t>
            </a:r>
          </a:p>
          <a:p>
            <a:pPr marL="457200" indent="-457200">
              <a:buNone/>
            </a:pPr>
            <a:r>
              <a:rPr lang="en-US" sz="2200" dirty="0">
                <a:cs typeface="Times New Roman" panose="02020603050405020304" pitchFamily="18" charset="0"/>
              </a:rPr>
              <a:t>     2. Modern approach</a:t>
            </a:r>
          </a:p>
          <a:p>
            <a:pPr marL="457200" indent="-457200">
              <a:buNone/>
            </a:pPr>
            <a:r>
              <a:rPr lang="en-US" sz="2200" dirty="0">
                <a:cs typeface="Times New Roman" panose="02020603050405020304" pitchFamily="18" charset="0"/>
              </a:rPr>
              <a:t>     3. Principles </a:t>
            </a:r>
          </a:p>
          <a:p>
            <a:pPr marL="457200" indent="-457200">
              <a:buNone/>
            </a:pPr>
            <a:endParaRPr lang="en-US" sz="2200" dirty="0">
              <a:cs typeface="Times New Roman" panose="02020603050405020304" pitchFamily="18" charset="0"/>
            </a:endParaRPr>
          </a:p>
          <a:p>
            <a:pPr marL="457200" indent="-457200"/>
            <a:r>
              <a:rPr lang="en-US" sz="2400" b="1" dirty="0">
                <a:cs typeface="Times New Roman" panose="02020603050405020304" pitchFamily="18" charset="0"/>
              </a:rPr>
              <a:t>PRECAP</a:t>
            </a:r>
            <a:r>
              <a:rPr lang="en-US" sz="2400" dirty="0">
                <a:cs typeface="Times New Roman" panose="02020603050405020304" pitchFamily="18" charset="0"/>
              </a:rPr>
              <a:t> </a:t>
            </a:r>
          </a:p>
          <a:p>
            <a:pPr marL="0" indent="0">
              <a:buNone/>
            </a:pPr>
            <a:r>
              <a:rPr lang="en-US" sz="2200" dirty="0">
                <a:cs typeface="Times New Roman" panose="02020603050405020304" pitchFamily="18" charset="0"/>
              </a:rPr>
              <a:t>       1. Quality control tools</a:t>
            </a:r>
          </a:p>
          <a:p>
            <a:pPr marL="0" indent="0">
              <a:buNone/>
            </a:pPr>
            <a:r>
              <a:rPr lang="en-US" sz="2200" dirty="0">
                <a:cs typeface="Times New Roman" panose="02020603050405020304" pitchFamily="18" charset="0"/>
              </a:rPr>
              <a:t>       2.  </a:t>
            </a:r>
            <a:r>
              <a:rPr lang="en-US" sz="2200" dirty="0"/>
              <a:t>Histogram</a:t>
            </a:r>
          </a:p>
          <a:p>
            <a:pPr marL="0" indent="0">
              <a:buNone/>
            </a:pPr>
            <a:r>
              <a:rPr lang="en-US" sz="2200" dirty="0"/>
              <a:t>       3.  Check sheet </a:t>
            </a:r>
          </a:p>
          <a:p>
            <a:pPr marL="0" indent="0">
              <a:buNone/>
            </a:pPr>
            <a:r>
              <a:rPr lang="en-US" sz="2200" dirty="0"/>
              <a:t>       4. Ishikawa diagram </a:t>
            </a:r>
          </a:p>
          <a:p>
            <a:pPr marL="0" indent="0">
              <a:buNone/>
            </a:pPr>
            <a:r>
              <a:rPr lang="en-US" sz="2200" dirty="0"/>
              <a:t>       5. Pareto chart</a:t>
            </a:r>
          </a:p>
          <a:p>
            <a:pPr marL="457200" indent="-457200">
              <a:buNone/>
            </a:pPr>
            <a:endParaRPr lang="en-US" sz="2400" dirty="0">
              <a:latin typeface="Times New Roman" panose="02020603050405020304" pitchFamily="18" charset="0"/>
              <a:cs typeface="Times New Roman" panose="02020603050405020304" pitchFamily="18" charset="0"/>
            </a:endParaRPr>
          </a:p>
          <a:p>
            <a:pPr marL="457200" indent="-457200">
              <a:buNone/>
            </a:pPr>
            <a:r>
              <a:rPr lang="en-US" sz="2400" dirty="0">
                <a:latin typeface="Times New Roman" panose="02020603050405020304" pitchFamily="18" charset="0"/>
                <a:cs typeface="Times New Roman" panose="02020603050405020304" pitchFamily="18" charset="0"/>
              </a:rPr>
              <a:t>      </a:t>
            </a:r>
          </a:p>
        </p:txBody>
      </p:sp>
      <p:sp>
        <p:nvSpPr>
          <p:cNvPr id="6" name="Date Placeholder 5"/>
          <p:cNvSpPr>
            <a:spLocks noGrp="1"/>
          </p:cNvSpPr>
          <p:nvPr>
            <p:ph type="dt" sz="half" idx="10"/>
          </p:nvPr>
        </p:nvSpPr>
        <p:spPr/>
        <p:txBody>
          <a:bodyPr/>
          <a:lstStyle/>
          <a:p>
            <a:fld id="{5ACFD1E6-6DF3-4E2A-A4EF-FFD50BC60221}" type="datetime1">
              <a:rPr lang="en-US" smtClean="0"/>
              <a:t>5/1/2026</a:t>
            </a:fld>
            <a:endParaRPr lang="en-US"/>
          </a:p>
        </p:txBody>
      </p:sp>
      <p:sp>
        <p:nvSpPr>
          <p:cNvPr id="12" name="Footer Placeholder 12"/>
          <p:cNvSpPr>
            <a:spLocks noGrp="1"/>
          </p:cNvSpPr>
          <p:nvPr>
            <p:ph type="ftr" sz="quarter" idx="11"/>
          </p:nvPr>
        </p:nvSpPr>
        <p:spPr>
          <a:xfrm>
            <a:off x="2286000" y="6248415"/>
            <a:ext cx="5638800" cy="380985"/>
          </a:xfrm>
        </p:spPr>
        <p:txBody>
          <a:bodyPr/>
          <a:lstStyle/>
          <a:p>
            <a:r>
              <a:rPr lang="en-US" sz="2000"/>
              <a:t>Mr. Minhaj Nezami     AOE0861    TQM      Unit 3</a:t>
            </a:r>
            <a:endParaRPr lang="en-US" sz="2000" dirty="0"/>
          </a:p>
        </p:txBody>
      </p:sp>
      <p:pic>
        <p:nvPicPr>
          <p:cNvPr id="7" name="Picture 6"/>
          <p:cNvPicPr>
            <a:picLocks noChangeAspect="1"/>
          </p:cNvPicPr>
          <p:nvPr/>
        </p:nvPicPr>
        <p:blipFill>
          <a:blip r:embed="rId3"/>
          <a:stretch>
            <a:fillRect/>
          </a:stretch>
        </p:blipFill>
        <p:spPr>
          <a:xfrm>
            <a:off x="36500" y="0"/>
            <a:ext cx="1755800" cy="1024217"/>
          </a:xfrm>
          <a:prstGeom prst="rect">
            <a:avLst/>
          </a:prstGeom>
        </p:spPr>
      </p:pic>
      <p:sp>
        <p:nvSpPr>
          <p:cNvPr id="9"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RECAP AND PRECAP</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4192245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038600"/>
          </a:xfrm>
        </p:spPr>
        <p:txBody>
          <a:bodyPr>
            <a:normAutofit/>
          </a:bodyPr>
          <a:lstStyle/>
          <a:p>
            <a:r>
              <a:rPr lang="en-US" sz="2600" b="1" dirty="0"/>
              <a:t>Tools and Techniques for Quality Management</a:t>
            </a:r>
          </a:p>
          <a:p>
            <a:pPr algn="just">
              <a:buNone/>
            </a:pPr>
            <a:r>
              <a:rPr lang="en-US" sz="2800" dirty="0"/>
              <a:t>    </a:t>
            </a:r>
            <a:r>
              <a:rPr lang="en-US" sz="2400" dirty="0"/>
              <a:t>The seven traditional tools of quality – New management tools – Six sigma: Concepts, Methodology, DMAIC, applications to manufacturing, service sector including IT –Bench marking process</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3E0C03F-47BE-44AC-8573-F03B1F73DFF5}" type="datetime1">
              <a:rPr lang="en-US" smtClean="0"/>
              <a:t>5/1/2026</a:t>
            </a:fld>
            <a:endParaRPr lang="en-US"/>
          </a:p>
        </p:txBody>
      </p:sp>
      <p:sp>
        <p:nvSpPr>
          <p:cNvPr id="9" name="Footer Placeholder 12"/>
          <p:cNvSpPr>
            <a:spLocks noGrp="1"/>
          </p:cNvSpPr>
          <p:nvPr>
            <p:ph type="ftr" sz="quarter" idx="11"/>
          </p:nvPr>
        </p:nvSpPr>
        <p:spPr>
          <a:xfrm>
            <a:off x="2133600" y="6062383"/>
            <a:ext cx="5562600" cy="38098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12264"/>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SYLLABUS OF UNIT 3</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296329"/>
            <a:ext cx="2133600" cy="365125"/>
          </a:xfrm>
        </p:spPr>
        <p:txBody>
          <a:bodyPr/>
          <a:lstStyle/>
          <a:p>
            <a:fld id="{C62B875C-B983-450A-BDF2-EE8654B5E3FB}" type="datetime1">
              <a:rPr lang="en-US" smtClean="0"/>
              <a:t>5/1/2026</a:t>
            </a:fld>
            <a:endParaRPr lang="en-US"/>
          </a:p>
        </p:txBody>
      </p:sp>
      <p:sp>
        <p:nvSpPr>
          <p:cNvPr id="9" name="Footer Placeholder 12"/>
          <p:cNvSpPr>
            <a:spLocks noGrp="1"/>
          </p:cNvSpPr>
          <p:nvPr>
            <p:ph type="ftr" sz="quarter" idx="11"/>
          </p:nvPr>
        </p:nvSpPr>
        <p:spPr>
          <a:xfrm>
            <a:off x="2286000" y="6248415"/>
            <a:ext cx="5486400" cy="304785"/>
          </a:xfrm>
        </p:spPr>
        <p:txBody>
          <a:bodyPr/>
          <a:lstStyle/>
          <a:p>
            <a:r>
              <a:rPr lang="en-US" sz="2000"/>
              <a:t>Mr. Minhaj Nezami     AOE0861    TQM      Unit 3</a:t>
            </a:r>
            <a:endParaRPr lang="en-US" sz="2000" dirty="0"/>
          </a:p>
        </p:txBody>
      </p:sp>
      <p:sp>
        <p:nvSpPr>
          <p:cNvPr id="10" name="Rectangle 9"/>
          <p:cNvSpPr/>
          <p:nvPr/>
        </p:nvSpPr>
        <p:spPr>
          <a:xfrm>
            <a:off x="914400" y="2667000"/>
            <a:ext cx="7391400" cy="1295400"/>
          </a:xfrm>
          <a:prstGeom prst="rect">
            <a:avLst/>
          </a:prstGeom>
          <a:solidFill>
            <a:schemeClr val="tx2">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t>The main advantage is that a team brings together different people with diverse skills and allows them to make something that nobody could do alone.</a:t>
            </a: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Recap of  Team</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4106567-A9EB-478C-B371-388746537598}" type="datetime1">
              <a:rPr lang="en-US" smtClean="0"/>
              <a:t>5/1/2026</a:t>
            </a:fld>
            <a:endParaRPr lang="en-US"/>
          </a:p>
        </p:txBody>
      </p:sp>
      <p:sp>
        <p:nvSpPr>
          <p:cNvPr id="9" name="Footer Placeholder 12"/>
          <p:cNvSpPr>
            <a:spLocks noGrp="1"/>
          </p:cNvSpPr>
          <p:nvPr>
            <p:ph type="ftr" sz="quarter" idx="11"/>
          </p:nvPr>
        </p:nvSpPr>
        <p:spPr>
          <a:xfrm>
            <a:off x="2362200" y="6085944"/>
            <a:ext cx="5486400" cy="391056"/>
          </a:xfrm>
        </p:spPr>
        <p:txBody>
          <a:bodyPr/>
          <a:lstStyle/>
          <a:p>
            <a:r>
              <a:rPr lang="en-US" sz="2000"/>
              <a:t>Mr. Minhaj Nezami     AOE0861    TQM      Unit 3</a:t>
            </a:r>
            <a:endParaRPr lang="en-US" sz="2000" dirty="0"/>
          </a:p>
        </p:txBody>
      </p:sp>
      <p:sp>
        <p:nvSpPr>
          <p:cNvPr id="10" name="Rectangle 9"/>
          <p:cNvSpPr/>
          <p:nvPr/>
        </p:nvSpPr>
        <p:spPr>
          <a:xfrm>
            <a:off x="876300" y="2013958"/>
            <a:ext cx="7391400" cy="14478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Bar chart pictures of data that shows patterns that fall within typical process conditions</a:t>
            </a: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Objective  of  Histogram</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gn="just"/>
            <a:r>
              <a:rPr lang="en-US" sz="2200" dirty="0"/>
              <a:t>Many organizations use quality tools to help monitor and manage their quality initiatives.</a:t>
            </a:r>
          </a:p>
          <a:p>
            <a:pPr algn="just"/>
            <a:r>
              <a:rPr lang="en-US" sz="2200" dirty="0"/>
              <a:t>There are several types of tools that can be used.  However, there are seven management tools for quality control that are the most common.</a:t>
            </a:r>
          </a:p>
          <a:p>
            <a:pPr algn="just"/>
            <a:r>
              <a:rPr lang="en-US" sz="2200" dirty="0"/>
              <a:t>Different tools are used for different problem-solving opportunities, and many of the tools can be used in different ways.</a:t>
            </a:r>
          </a:p>
          <a:p>
            <a:pPr algn="just"/>
            <a:r>
              <a:rPr lang="en-US" sz="2200" dirty="0"/>
              <a:t>The trick is to become familiar and comfortable with all of these quality tools so you can pull the appropriate one out of your toolbox when there is a problem that needs to be solved</a:t>
            </a:r>
          </a:p>
        </p:txBody>
      </p:sp>
      <p:sp>
        <p:nvSpPr>
          <p:cNvPr id="4" name="Date Placeholder 3"/>
          <p:cNvSpPr>
            <a:spLocks noGrp="1"/>
          </p:cNvSpPr>
          <p:nvPr>
            <p:ph type="dt" sz="half" idx="10"/>
          </p:nvPr>
        </p:nvSpPr>
        <p:spPr/>
        <p:txBody>
          <a:bodyPr/>
          <a:lstStyle/>
          <a:p>
            <a:fld id="{CFB7948A-7562-43F3-8189-E7BF56E4AF5B}" type="datetime1">
              <a:rPr lang="en-US" smtClean="0"/>
              <a:t>5/1/2026</a:t>
            </a:fld>
            <a:endParaRPr lang="en-US"/>
          </a:p>
        </p:txBody>
      </p:sp>
      <p:sp>
        <p:nvSpPr>
          <p:cNvPr id="9" name="Footer Placeholder 12"/>
          <p:cNvSpPr>
            <a:spLocks noGrp="1"/>
          </p:cNvSpPr>
          <p:nvPr>
            <p:ph type="ftr" sz="quarter" idx="11"/>
          </p:nvPr>
        </p:nvSpPr>
        <p:spPr>
          <a:xfrm>
            <a:off x="2286000" y="6248415"/>
            <a:ext cx="5638800" cy="22858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6927"/>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solidFill>
                  <a:schemeClr val="tx1"/>
                </a:solidFill>
              </a:rPr>
            </a:br>
            <a:r>
              <a:rPr lang="en-US" sz="2800" b="1" dirty="0">
                <a:solidFill>
                  <a:schemeClr val="tx1"/>
                </a:solidFill>
              </a:rPr>
              <a:t>Introduc</a:t>
            </a:r>
            <a:r>
              <a:rPr lang="en-US" sz="2800" b="1" spc="10" dirty="0">
                <a:solidFill>
                  <a:schemeClr val="tx1"/>
                </a:solidFill>
              </a:rPr>
              <a:t>t</a:t>
            </a:r>
            <a:r>
              <a:rPr lang="en-US" sz="2800" b="1" dirty="0">
                <a:solidFill>
                  <a:schemeClr val="tx1"/>
                </a:solidFill>
              </a:rPr>
              <a:t>ion (CO3)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589CC3-62BA-4030-853D-9480DDCDE3EC}" type="datetime1">
              <a:rPr lang="en-US" smtClean="0"/>
              <a:t>5/1/2026</a:t>
            </a:fld>
            <a:endParaRPr lang="en-US"/>
          </a:p>
        </p:txBody>
      </p:sp>
      <p:sp>
        <p:nvSpPr>
          <p:cNvPr id="9" name="Footer Placeholder 12"/>
          <p:cNvSpPr>
            <a:spLocks noGrp="1"/>
          </p:cNvSpPr>
          <p:nvPr>
            <p:ph type="ftr" sz="quarter" idx="11"/>
          </p:nvPr>
        </p:nvSpPr>
        <p:spPr>
          <a:xfrm>
            <a:off x="2286000" y="6248415"/>
            <a:ext cx="5715000" cy="473060"/>
          </a:xfrm>
        </p:spPr>
        <p:txBody>
          <a:bodyPr/>
          <a:lstStyle/>
          <a:p>
            <a:r>
              <a:rPr lang="en-US" sz="2000"/>
              <a:t>Mr. Minhaj Nezami     AOE0861    TQM      Unit 3</a:t>
            </a:r>
            <a:endParaRPr lang="en-US" sz="2000" dirty="0"/>
          </a:p>
        </p:txBody>
      </p:sp>
      <p:pic>
        <p:nvPicPr>
          <p:cNvPr id="10" name="Image"/>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1219200"/>
            <a:ext cx="7696199" cy="4572000"/>
          </a:xfrm>
          <a:prstGeom prst="rect">
            <a:avLst/>
          </a:prstGeom>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25346"/>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Tools For Quality Control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lnSpcReduction="10000"/>
          </a:bodyPr>
          <a:lstStyle/>
          <a:p>
            <a:pPr algn="just">
              <a:lnSpc>
                <a:spcPct val="150000"/>
              </a:lnSpc>
            </a:pPr>
            <a:r>
              <a:rPr lang="en-US" sz="2200" dirty="0"/>
              <a:t>Histograms are bar chart pictures of data that shows patterns that fall within typical process conditions.</a:t>
            </a:r>
          </a:p>
          <a:p>
            <a:pPr algn="just">
              <a:lnSpc>
                <a:spcPct val="150000"/>
              </a:lnSpc>
            </a:pPr>
            <a:r>
              <a:rPr lang="en-US" sz="2200" dirty="0"/>
              <a:t>Changes in a process should trigger new collection of data.</a:t>
            </a:r>
          </a:p>
          <a:p>
            <a:pPr algn="just">
              <a:lnSpc>
                <a:spcPct val="150000"/>
              </a:lnSpc>
            </a:pPr>
            <a:r>
              <a:rPr lang="en-US" sz="2200" dirty="0"/>
              <a:t>A minimum of 50-75 data points should be gathered to ensure an adequate number of data points have been collected.</a:t>
            </a:r>
          </a:p>
          <a:p>
            <a:pPr algn="just">
              <a:lnSpc>
                <a:spcPct val="150000"/>
              </a:lnSpc>
            </a:pPr>
            <a:r>
              <a:rPr lang="en-US" sz="2200" dirty="0"/>
              <a:t>The patterns that are detected demonstrate an analysis that helps understand variation.</a:t>
            </a:r>
          </a:p>
          <a:p>
            <a:pPr algn="just">
              <a:lnSpc>
                <a:spcPct val="150000"/>
              </a:lnSpc>
            </a:pPr>
            <a:r>
              <a:rPr lang="en-US" sz="2200" dirty="0"/>
              <a:t>In this example, it shows that the receptionist received the most phone calls about contribution statements for that period.</a:t>
            </a:r>
          </a:p>
          <a:p>
            <a:pPr marL="354965" marR="5080" algn="just">
              <a:spcBef>
                <a:spcPts val="100"/>
              </a:spcBef>
              <a:buNone/>
              <a:tabLst>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D7E14939-87F8-4C04-9404-601872EE8C76}" type="datetime1">
              <a:rPr lang="en-US" smtClean="0"/>
              <a:t>5/1/2026</a:t>
            </a:fld>
            <a:endParaRPr lang="en-US"/>
          </a:p>
        </p:txBody>
      </p:sp>
      <p:sp>
        <p:nvSpPr>
          <p:cNvPr id="9" name="Footer Placeholder 12"/>
          <p:cNvSpPr>
            <a:spLocks noGrp="1"/>
          </p:cNvSpPr>
          <p:nvPr>
            <p:ph type="ftr" sz="quarter" idx="11"/>
          </p:nvPr>
        </p:nvSpPr>
        <p:spPr>
          <a:xfrm>
            <a:off x="2286000" y="6248415"/>
            <a:ext cx="5638800" cy="30478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spc="10" dirty="0">
                <a:solidFill>
                  <a:schemeClr val="tx1"/>
                </a:solidFill>
                <a:cs typeface="Franklin Gothic Medium"/>
              </a:rPr>
            </a:br>
            <a:r>
              <a:rPr lang="en-US" sz="2800" b="1" spc="10" dirty="0">
                <a:solidFill>
                  <a:schemeClr val="tx1"/>
                </a:solidFill>
                <a:cs typeface="Franklin Gothic Medium"/>
              </a:rPr>
              <a:t>HISTOGRAMS </a:t>
            </a:r>
            <a:r>
              <a:rPr lang="en-US" sz="2800" b="1" dirty="0">
                <a:solidFill>
                  <a:schemeClr val="tx1"/>
                </a:solidFill>
              </a:rPr>
              <a:t>(CO3)</a:t>
            </a:r>
            <a:br>
              <a:rPr lang="en-US" sz="2800" b="1" dirty="0">
                <a:solidFill>
                  <a:schemeClr val="tx1"/>
                </a:solidFill>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3BCF426-0FB7-41A0-9B86-A2E9909DD1C1}" type="datetime1">
              <a:rPr lang="en-US" smtClean="0"/>
              <a:t>5/1/2026</a:t>
            </a:fld>
            <a:endParaRPr lang="en-US"/>
          </a:p>
        </p:txBody>
      </p:sp>
      <p:sp>
        <p:nvSpPr>
          <p:cNvPr id="9" name="Footer Placeholder 12"/>
          <p:cNvSpPr>
            <a:spLocks noGrp="1"/>
          </p:cNvSpPr>
          <p:nvPr>
            <p:ph type="ftr" sz="quarter" idx="11"/>
          </p:nvPr>
        </p:nvSpPr>
        <p:spPr>
          <a:xfrm>
            <a:off x="2286000" y="6248415"/>
            <a:ext cx="5715000" cy="380985"/>
          </a:xfrm>
        </p:spPr>
        <p:txBody>
          <a:bodyPr/>
          <a:lstStyle/>
          <a:p>
            <a:r>
              <a:rPr lang="en-US" sz="2000"/>
              <a:t>Mr. Minhaj Nezami     AOE0861    TQM      Unit 3</a:t>
            </a:r>
            <a:endParaRPr lang="en-US" sz="2000" dirty="0"/>
          </a:p>
        </p:txBody>
      </p:sp>
      <p:pic>
        <p:nvPicPr>
          <p:cNvPr id="10" name="Image"/>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06643"/>
            <a:ext cx="7467600" cy="4811448"/>
          </a:xfrm>
          <a:prstGeom prst="rect">
            <a:avLst/>
          </a:prstGeom>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spc="10" dirty="0">
                <a:solidFill>
                  <a:schemeClr val="tx1"/>
                </a:solidFill>
                <a:cs typeface="Franklin Gothic Medium"/>
              </a:rPr>
            </a:br>
            <a:r>
              <a:rPr lang="en-US" sz="2800" b="1" spc="10" dirty="0">
                <a:solidFill>
                  <a:schemeClr val="tx1"/>
                </a:solidFill>
                <a:cs typeface="Franklin Gothic Medium"/>
              </a:rPr>
              <a:t>HISTOGRAMS </a:t>
            </a:r>
            <a:r>
              <a:rPr lang="en-US" sz="2800" b="1" dirty="0">
                <a:solidFill>
                  <a:schemeClr val="tx1"/>
                </a:solidFill>
              </a:rPr>
              <a:t>(CO3)</a:t>
            </a:r>
            <a:br>
              <a:rPr lang="en-US" sz="2800" b="1" dirty="0">
                <a:solidFill>
                  <a:schemeClr val="tx1"/>
                </a:solidFill>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3156EC-C692-420B-AF49-2C8E302B5F22}" type="datetime1">
              <a:rPr lang="en-US" smtClean="0"/>
              <a:t>5/1/2026</a:t>
            </a:fld>
            <a:endParaRPr lang="en-US"/>
          </a:p>
        </p:txBody>
      </p:sp>
      <p:sp>
        <p:nvSpPr>
          <p:cNvPr id="9" name="Footer Placeholder 12"/>
          <p:cNvSpPr>
            <a:spLocks noGrp="1"/>
          </p:cNvSpPr>
          <p:nvPr>
            <p:ph type="ftr" sz="quarter" idx="11"/>
          </p:nvPr>
        </p:nvSpPr>
        <p:spPr>
          <a:xfrm>
            <a:off x="2286000" y="6248415"/>
            <a:ext cx="5715000" cy="304785"/>
          </a:xfrm>
        </p:spPr>
        <p:txBody>
          <a:bodyPr/>
          <a:lstStyle/>
          <a:p>
            <a:r>
              <a:rPr lang="en-US" sz="2000"/>
              <a:t>Mr. Minhaj Nezami     AOE0861    TQM      Unit 3</a:t>
            </a:r>
            <a:endParaRPr lang="en-US" sz="2000" dirty="0"/>
          </a:p>
        </p:txBody>
      </p:sp>
      <p:pic>
        <p:nvPicPr>
          <p:cNvPr id="1026" name="Picture 2" descr="C:\Users\ndc\Desktop\New folder\example-histogram.jpg"/>
          <p:cNvPicPr>
            <a:picLocks noGrp="1" noChangeAspect="1" noChangeArrowheads="1"/>
          </p:cNvPicPr>
          <p:nvPr>
            <p:ph idx="1"/>
          </p:nvPr>
        </p:nvPicPr>
        <p:blipFill>
          <a:blip r:embed="rId2"/>
          <a:srcRect/>
          <a:stretch>
            <a:fillRect/>
          </a:stretch>
        </p:blipFill>
        <p:spPr bwMode="auto">
          <a:xfrm>
            <a:off x="609600" y="1162170"/>
            <a:ext cx="7924800" cy="4800600"/>
          </a:xfrm>
          <a:prstGeom prst="rect">
            <a:avLst/>
          </a:prstGeom>
          <a:noFill/>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45673" y="14531"/>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spc="10" dirty="0">
                <a:solidFill>
                  <a:schemeClr val="tx1"/>
                </a:solidFill>
                <a:cs typeface="Franklin Gothic Medium"/>
              </a:rPr>
            </a:br>
            <a:r>
              <a:rPr lang="en-US" sz="2800" b="1" spc="10" dirty="0">
                <a:solidFill>
                  <a:schemeClr val="tx1"/>
                </a:solidFill>
                <a:cs typeface="Franklin Gothic Medium"/>
              </a:rPr>
              <a:t>HISTOGRAMS </a:t>
            </a:r>
            <a:r>
              <a:rPr lang="en-US" sz="2800" b="1" dirty="0">
                <a:solidFill>
                  <a:schemeClr val="tx1"/>
                </a:solidFill>
              </a:rPr>
              <a:t>(CO3)</a:t>
            </a:r>
            <a:br>
              <a:rPr lang="en-US" sz="2800" b="1" dirty="0">
                <a:solidFill>
                  <a:schemeClr val="tx1"/>
                </a:solidFill>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C379F15-B3EA-466D-9033-86687A85F05B}" type="datetime1">
              <a:rPr lang="en-US" smtClean="0"/>
              <a:t>5/1/2026</a:t>
            </a:fld>
            <a:endParaRPr lang="en-US"/>
          </a:p>
        </p:txBody>
      </p:sp>
      <p:sp>
        <p:nvSpPr>
          <p:cNvPr id="9" name="Footer Placeholder 12"/>
          <p:cNvSpPr>
            <a:spLocks noGrp="1"/>
          </p:cNvSpPr>
          <p:nvPr>
            <p:ph type="ftr" sz="quarter" idx="11"/>
          </p:nvPr>
        </p:nvSpPr>
        <p:spPr>
          <a:xfrm>
            <a:off x="2286000" y="6248415"/>
            <a:ext cx="5486400" cy="473060"/>
          </a:xfrm>
        </p:spPr>
        <p:txBody>
          <a:bodyPr/>
          <a:lstStyle/>
          <a:p>
            <a:r>
              <a:rPr lang="en-US" sz="2000"/>
              <a:t>Mr. Minhaj Nezami     AOE0861    TQM      Unit 3</a:t>
            </a:r>
            <a:endParaRPr lang="en-US" sz="2000" dirty="0"/>
          </a:p>
        </p:txBody>
      </p:sp>
      <p:sp>
        <p:nvSpPr>
          <p:cNvPr id="10" name="Rectangle 9"/>
          <p:cNvSpPr/>
          <p:nvPr/>
        </p:nvSpPr>
        <p:spPr>
          <a:xfrm>
            <a:off x="914400" y="2667000"/>
            <a:ext cx="7391400" cy="12954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The patterns that are detected demonstrate an analysis that helps understand variation</a:t>
            </a:r>
            <a:endParaRPr lang="en-US" sz="24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Recap of Histogram</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6584397-F6EB-4EC7-BB13-EE67817F2176}" type="datetime1">
              <a:rPr lang="en-US" smtClean="0"/>
              <a:t>5/1/2026</a:t>
            </a:fld>
            <a:endParaRPr lang="en-US"/>
          </a:p>
        </p:txBody>
      </p:sp>
      <p:sp>
        <p:nvSpPr>
          <p:cNvPr id="9" name="Footer Placeholder 12"/>
          <p:cNvSpPr>
            <a:spLocks noGrp="1"/>
          </p:cNvSpPr>
          <p:nvPr>
            <p:ph type="ftr" sz="quarter" idx="11"/>
          </p:nvPr>
        </p:nvSpPr>
        <p:spPr>
          <a:xfrm>
            <a:off x="2286000" y="6248415"/>
            <a:ext cx="5562600" cy="304785"/>
          </a:xfrm>
        </p:spPr>
        <p:txBody>
          <a:bodyPr/>
          <a:lstStyle/>
          <a:p>
            <a:r>
              <a:rPr lang="en-US" sz="2000"/>
              <a:t>Mr. Minhaj Nezami     AOE0861    TQM      Unit 3</a:t>
            </a:r>
            <a:endParaRPr lang="en-US" sz="2000" dirty="0"/>
          </a:p>
        </p:txBody>
      </p:sp>
      <p:sp>
        <p:nvSpPr>
          <p:cNvPr id="10" name="Rectangle 9"/>
          <p:cNvSpPr/>
          <p:nvPr/>
        </p:nvSpPr>
        <p:spPr>
          <a:xfrm>
            <a:off x="914400" y="2743200"/>
            <a:ext cx="7391400" cy="14478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Check sheet is a basic quality tool that is used to collect data</a:t>
            </a: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5355"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Objective  of  check sheet</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fontScale="85000" lnSpcReduction="20000"/>
          </a:bodyPr>
          <a:lstStyle/>
          <a:p>
            <a:pPr marL="354965" marR="5080" algn="just">
              <a:lnSpc>
                <a:spcPct val="150000"/>
              </a:lnSpc>
              <a:spcBef>
                <a:spcPts val="100"/>
              </a:spcBef>
              <a:tabLst>
                <a:tab pos="355600" algn="l"/>
                <a:tab pos="1948180" algn="l"/>
                <a:tab pos="2800350" algn="l"/>
              </a:tabLst>
            </a:pPr>
            <a:r>
              <a:rPr lang="en-US" sz="2600" dirty="0"/>
              <a:t>A check sheet is a basic quality tool that is used to collect data. A check sheet might be used to track the number of times a certain incident happens.</a:t>
            </a:r>
          </a:p>
          <a:p>
            <a:pPr algn="just">
              <a:lnSpc>
                <a:spcPct val="150000"/>
              </a:lnSpc>
            </a:pPr>
            <a:r>
              <a:rPr lang="en-US" sz="2600" dirty="0"/>
              <a:t>As an example, a human resource department may track the number of questions by employees, per category, per day.</a:t>
            </a:r>
          </a:p>
          <a:p>
            <a:pPr algn="just">
              <a:lnSpc>
                <a:spcPct val="150000"/>
              </a:lnSpc>
            </a:pPr>
            <a:r>
              <a:rPr lang="en-US" sz="2600" dirty="0"/>
              <a:t>In this particular check sheet the tool shows the total number of questions received by the human resources department.</a:t>
            </a:r>
          </a:p>
          <a:p>
            <a:pPr algn="just">
              <a:lnSpc>
                <a:spcPct val="150000"/>
              </a:lnSpc>
            </a:pPr>
            <a:r>
              <a:rPr lang="en-US" sz="2600" dirty="0"/>
              <a:t>This information helps that department identify opportunities to proactively share information with employees in an effort to reduce the numbers of questions asked.</a:t>
            </a:r>
          </a:p>
          <a:p>
            <a:pPr marL="354965" marR="5080">
              <a:spcBef>
                <a:spcPts val="100"/>
              </a:spcBef>
              <a:tabLst>
                <a:tab pos="355600" algn="l"/>
                <a:tab pos="1948180" algn="l"/>
                <a:tab pos="2800350" algn="l"/>
              </a:tabLst>
            </a:pPr>
            <a:endParaRPr lang="en-US" sz="2200" dirty="0">
              <a:cs typeface="Georgia"/>
            </a:endParaRPr>
          </a:p>
        </p:txBody>
      </p:sp>
      <p:sp>
        <p:nvSpPr>
          <p:cNvPr id="4" name="Date Placeholder 3"/>
          <p:cNvSpPr>
            <a:spLocks noGrp="1"/>
          </p:cNvSpPr>
          <p:nvPr>
            <p:ph type="dt" sz="half" idx="10"/>
          </p:nvPr>
        </p:nvSpPr>
        <p:spPr/>
        <p:txBody>
          <a:bodyPr/>
          <a:lstStyle/>
          <a:p>
            <a:fld id="{B09B20F6-D3A5-4088-9340-EF6637BB113B}" type="datetime1">
              <a:rPr lang="en-US" smtClean="0"/>
              <a:t>5/1/2026</a:t>
            </a:fld>
            <a:endParaRPr lang="en-US"/>
          </a:p>
        </p:txBody>
      </p:sp>
      <p:sp>
        <p:nvSpPr>
          <p:cNvPr id="9" name="Footer Placeholder 12"/>
          <p:cNvSpPr>
            <a:spLocks noGrp="1"/>
          </p:cNvSpPr>
          <p:nvPr>
            <p:ph type="ftr" sz="quarter" idx="11"/>
          </p:nvPr>
        </p:nvSpPr>
        <p:spPr>
          <a:xfrm>
            <a:off x="2286000" y="6248415"/>
            <a:ext cx="5486400" cy="30478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0291" y="0"/>
            <a:ext cx="7391400" cy="8620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Check sheet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0BA88B1-CAC2-4A4D-BCDA-017FE677D868}" type="datetime1">
              <a:rPr lang="en-US" smtClean="0"/>
              <a:t>5/1/2026</a:t>
            </a:fld>
            <a:endParaRPr lang="en-US"/>
          </a:p>
        </p:txBody>
      </p:sp>
      <p:sp>
        <p:nvSpPr>
          <p:cNvPr id="9" name="Footer Placeholder 12"/>
          <p:cNvSpPr>
            <a:spLocks noGrp="1"/>
          </p:cNvSpPr>
          <p:nvPr>
            <p:ph type="ftr" sz="quarter" idx="11"/>
          </p:nvPr>
        </p:nvSpPr>
        <p:spPr>
          <a:xfrm>
            <a:off x="2286000" y="6248415"/>
            <a:ext cx="5562600" cy="304785"/>
          </a:xfrm>
        </p:spPr>
        <p:txBody>
          <a:bodyPr/>
          <a:lstStyle/>
          <a:p>
            <a:r>
              <a:rPr lang="en-US" sz="2000"/>
              <a:t>Mr. Minhaj Nezami     AOE0861    TQM      Unit 3</a:t>
            </a:r>
            <a:endParaRPr lang="en-US" sz="2000" dirty="0"/>
          </a:p>
        </p:txBody>
      </p:sp>
      <p:pic>
        <p:nvPicPr>
          <p:cNvPr id="2050" name="Picture 2" descr="C:\Users\ndc\Desktop\New folder\example-check-seet.jpg"/>
          <p:cNvPicPr>
            <a:picLocks noGrp="1" noChangeAspect="1" noChangeArrowheads="1"/>
          </p:cNvPicPr>
          <p:nvPr>
            <p:ph idx="1"/>
          </p:nvPr>
        </p:nvPicPr>
        <p:blipFill>
          <a:blip r:embed="rId2"/>
          <a:srcRect/>
          <a:stretch>
            <a:fillRect/>
          </a:stretch>
        </p:blipFill>
        <p:spPr bwMode="auto">
          <a:xfrm>
            <a:off x="381000" y="1143000"/>
            <a:ext cx="8305800" cy="4648200"/>
          </a:xfrm>
          <a:prstGeom prst="rect">
            <a:avLst/>
          </a:prstGeom>
          <a:noFill/>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29509"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Check sheet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13CA065-DF70-44CD-BD2D-BE99E402CA14}" type="datetime1">
              <a:rPr lang="en-US" smtClean="0"/>
              <a:t>5/1/2026</a:t>
            </a:fld>
            <a:endParaRPr lang="en-US"/>
          </a:p>
        </p:txBody>
      </p:sp>
      <p:sp>
        <p:nvSpPr>
          <p:cNvPr id="9" name="Footer Placeholder 12"/>
          <p:cNvSpPr>
            <a:spLocks noGrp="1"/>
          </p:cNvSpPr>
          <p:nvPr>
            <p:ph type="ftr" sz="quarter" idx="11"/>
          </p:nvPr>
        </p:nvSpPr>
        <p:spPr>
          <a:xfrm>
            <a:off x="2286000" y="6248415"/>
            <a:ext cx="5715000" cy="304785"/>
          </a:xfrm>
        </p:spPr>
        <p:txBody>
          <a:bodyPr/>
          <a:lstStyle/>
          <a:p>
            <a:r>
              <a:rPr lang="en-US" sz="2000"/>
              <a:t>Mr. Minhaj Nezami     AOE0861    TQM      Unit 3</a:t>
            </a:r>
            <a:endParaRPr lang="en-US" sz="2000" dirty="0"/>
          </a:p>
        </p:txBody>
      </p:sp>
      <p:sp>
        <p:nvSpPr>
          <p:cNvPr id="10" name="Rectangle 9"/>
          <p:cNvSpPr/>
          <p:nvPr/>
        </p:nvSpPr>
        <p:spPr>
          <a:xfrm>
            <a:off x="914400" y="2667000"/>
            <a:ext cx="7391400" cy="12954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 check sheet might be used to track the number of times a certain incident happens.</a:t>
            </a: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Recap of  check sheet</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56B95A4-2060-42C1-B5B2-A6988470F86C}" type="datetime1">
              <a:rPr lang="en-US" smtClean="0"/>
              <a:t>5/1/2026</a:t>
            </a:fld>
            <a:endParaRPr lang="en-US"/>
          </a:p>
        </p:txBody>
      </p:sp>
      <p:sp>
        <p:nvSpPr>
          <p:cNvPr id="9" name="Footer Placeholder 12"/>
          <p:cNvSpPr>
            <a:spLocks noGrp="1"/>
          </p:cNvSpPr>
          <p:nvPr>
            <p:ph type="ftr" sz="quarter" idx="11"/>
          </p:nvPr>
        </p:nvSpPr>
        <p:spPr>
          <a:xfrm>
            <a:off x="2286000" y="6248415"/>
            <a:ext cx="5562600" cy="380985"/>
          </a:xfrm>
        </p:spPr>
        <p:txBody>
          <a:bodyPr/>
          <a:lstStyle/>
          <a:p>
            <a:r>
              <a:rPr lang="en-US" sz="2000"/>
              <a:t>Mr. Minhaj Nezami     AOE0861    TQM      Unit 3</a:t>
            </a:r>
            <a:endParaRPr lang="en-US" sz="2000" dirty="0"/>
          </a:p>
        </p:txBody>
      </p:sp>
      <p:sp>
        <p:nvSpPr>
          <p:cNvPr id="10" name="Rectangle 9"/>
          <p:cNvSpPr/>
          <p:nvPr/>
        </p:nvSpPr>
        <p:spPr>
          <a:xfrm>
            <a:off x="876300" y="2116544"/>
            <a:ext cx="7391400" cy="14478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Shows the many possible causes of a problem</a:t>
            </a: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Objective  of  Ishikawa</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00600"/>
          </a:xfrm>
        </p:spPr>
        <p:txBody>
          <a:bodyPr>
            <a:normAutofit lnSpcReduction="10000"/>
          </a:bodyPr>
          <a:lstStyle/>
          <a:p>
            <a:pPr algn="just"/>
            <a:r>
              <a:rPr lang="en-US" sz="2200" dirty="0"/>
              <a:t>Ishikawa diagram also known as a ,cause and effect diagram, fish-bone diagram shows the many possible causes of a problem.</a:t>
            </a:r>
          </a:p>
          <a:p>
            <a:pPr algn="just"/>
            <a:r>
              <a:rPr lang="en-US" sz="2200" dirty="0"/>
              <a:t>To use this tool, you need to first identify the problem you are trying to solve and simply write it in the box (head of the fish) to the right.</a:t>
            </a:r>
          </a:p>
          <a:p>
            <a:pPr algn="just"/>
            <a:r>
              <a:rPr lang="en-US" sz="2200" dirty="0"/>
              <a:t>Next, you will list the major causes of the problem on the spine of the fish.</a:t>
            </a:r>
          </a:p>
          <a:p>
            <a:pPr algn="just"/>
            <a:r>
              <a:rPr lang="en-US" sz="2200" dirty="0"/>
              <a:t>Causes are typically separated into categories of people, process, materials and equipment.</a:t>
            </a:r>
          </a:p>
          <a:p>
            <a:pPr algn="just"/>
            <a:r>
              <a:rPr lang="en-US" sz="2200" dirty="0"/>
              <a:t>Causes are then identified through brainstorming with a group familiar with the problem.</a:t>
            </a:r>
          </a:p>
          <a:p>
            <a:pPr algn="just"/>
            <a:r>
              <a:rPr lang="en-US" sz="2200" dirty="0"/>
              <a:t>Once all of the possible causes are identified, they can be used to develop an improvement plan to help resolve the identified problem.</a:t>
            </a:r>
          </a:p>
          <a:p>
            <a:pPr marL="300355" indent="-288290">
              <a:lnSpc>
                <a:spcPct val="100000"/>
              </a:lnSpc>
              <a:spcBef>
                <a:spcPts val="100"/>
              </a:spcBef>
              <a:buNone/>
              <a:tabLst>
                <a:tab pos="300990" algn="l"/>
              </a:tabLst>
            </a:pPr>
            <a:endParaRPr lang="en-US" sz="2200" dirty="0">
              <a:cs typeface="Georgia"/>
            </a:endParaRPr>
          </a:p>
        </p:txBody>
      </p:sp>
      <p:sp>
        <p:nvSpPr>
          <p:cNvPr id="4" name="Date Placeholder 3"/>
          <p:cNvSpPr>
            <a:spLocks noGrp="1"/>
          </p:cNvSpPr>
          <p:nvPr>
            <p:ph type="dt" sz="half" idx="10"/>
          </p:nvPr>
        </p:nvSpPr>
        <p:spPr/>
        <p:txBody>
          <a:bodyPr/>
          <a:lstStyle/>
          <a:p>
            <a:fld id="{4CB04821-8543-4694-8715-4081F3B31B3A}" type="datetime1">
              <a:rPr lang="en-US" smtClean="0"/>
              <a:t>5/1/2026</a:t>
            </a:fld>
            <a:endParaRPr lang="en-US"/>
          </a:p>
        </p:txBody>
      </p:sp>
      <p:sp>
        <p:nvSpPr>
          <p:cNvPr id="9" name="Footer Placeholder 12"/>
          <p:cNvSpPr>
            <a:spLocks noGrp="1"/>
          </p:cNvSpPr>
          <p:nvPr>
            <p:ph type="ftr" sz="quarter" idx="11"/>
          </p:nvPr>
        </p:nvSpPr>
        <p:spPr>
          <a:xfrm>
            <a:off x="2286000" y="6248415"/>
            <a:ext cx="5562600" cy="30478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t>Ishikawa diagram </a:t>
            </a:r>
            <a:r>
              <a:rPr lang="en-US" sz="2800" b="1" dirty="0">
                <a:solidFill>
                  <a:schemeClr val="tx1"/>
                </a:solidFill>
              </a:rPr>
              <a:t>(CO3)</a:t>
            </a:r>
            <a:endParaRPr lang="en-US" sz="2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311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0AC3DA3-CE31-4F61-BBA7-476CD55BB044}" type="datetime1">
              <a:rPr lang="en-US" smtClean="0"/>
              <a:t>5/1/2026</a:t>
            </a:fld>
            <a:endParaRPr lang="en-US"/>
          </a:p>
        </p:txBody>
      </p:sp>
      <p:sp>
        <p:nvSpPr>
          <p:cNvPr id="9" name="Footer Placeholder 12"/>
          <p:cNvSpPr>
            <a:spLocks noGrp="1"/>
          </p:cNvSpPr>
          <p:nvPr>
            <p:ph type="ftr" sz="quarter" idx="11"/>
          </p:nvPr>
        </p:nvSpPr>
        <p:spPr>
          <a:xfrm>
            <a:off x="2286000" y="6248415"/>
            <a:ext cx="5486400" cy="304785"/>
          </a:xfrm>
        </p:spPr>
        <p:txBody>
          <a:bodyPr/>
          <a:lstStyle/>
          <a:p>
            <a:r>
              <a:rPr lang="en-US" sz="2000"/>
              <a:t>Mr. Minhaj Nezami     AOE0861    TQM      Unit 3</a:t>
            </a:r>
            <a:endParaRPr lang="en-US" sz="2000" dirty="0"/>
          </a:p>
        </p:txBody>
      </p:sp>
      <p:pic>
        <p:nvPicPr>
          <p:cNvPr id="10" name="Image"/>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9547" y="1143000"/>
            <a:ext cx="7744906" cy="4648200"/>
          </a:xfrm>
          <a:prstGeom prst="rect">
            <a:avLst/>
          </a:prstGeom>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300" y="-1569"/>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t>Ishikawa diagram </a:t>
            </a:r>
            <a:r>
              <a:rPr lang="en-US" sz="2800" b="1" dirty="0">
                <a:solidFill>
                  <a:schemeClr val="tx1"/>
                </a:solidFill>
              </a:rPr>
              <a:t>(CO3)</a:t>
            </a:r>
            <a:endParaRPr lang="en-US" sz="2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311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EE8B35-05F9-46CD-961A-A0DABDAF6E94}" type="datetime1">
              <a:rPr lang="en-US" smtClean="0"/>
              <a:t>5/1/2026</a:t>
            </a:fld>
            <a:endParaRPr lang="en-US"/>
          </a:p>
        </p:txBody>
      </p:sp>
      <p:sp>
        <p:nvSpPr>
          <p:cNvPr id="9" name="Footer Placeholder 12"/>
          <p:cNvSpPr>
            <a:spLocks noGrp="1"/>
          </p:cNvSpPr>
          <p:nvPr>
            <p:ph type="ftr" sz="quarter" idx="11"/>
          </p:nvPr>
        </p:nvSpPr>
        <p:spPr>
          <a:xfrm>
            <a:off x="2286000" y="6248415"/>
            <a:ext cx="5486400" cy="304785"/>
          </a:xfrm>
        </p:spPr>
        <p:txBody>
          <a:bodyPr/>
          <a:lstStyle/>
          <a:p>
            <a:r>
              <a:rPr lang="en-US" sz="2000"/>
              <a:t>Mr. Minhaj Nezami     AOE0861    TQM      Unit 3</a:t>
            </a:r>
            <a:endParaRPr lang="en-US" sz="2000" dirty="0"/>
          </a:p>
        </p:txBody>
      </p:sp>
      <p:pic>
        <p:nvPicPr>
          <p:cNvPr id="3074" name="Picture 2" descr="C:\Users\ndc\Desktop\New folder\Fish-Bone-Diagram.jpg"/>
          <p:cNvPicPr>
            <a:picLocks noGrp="1" noChangeAspect="1" noChangeArrowheads="1"/>
          </p:cNvPicPr>
          <p:nvPr>
            <p:ph idx="1"/>
          </p:nvPr>
        </p:nvPicPr>
        <p:blipFill>
          <a:blip r:embed="rId2"/>
          <a:srcRect/>
          <a:stretch>
            <a:fillRect/>
          </a:stretch>
        </p:blipFill>
        <p:spPr bwMode="auto">
          <a:xfrm>
            <a:off x="152400" y="1219200"/>
            <a:ext cx="8762999" cy="4906963"/>
          </a:xfrm>
          <a:prstGeom prst="rect">
            <a:avLst/>
          </a:prstGeom>
          <a:noFill/>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15655"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t>Ishikawa diagram </a:t>
            </a:r>
            <a:r>
              <a:rPr lang="en-US" sz="2800" b="1" dirty="0">
                <a:solidFill>
                  <a:schemeClr val="tx1"/>
                </a:solidFill>
              </a:rPr>
              <a:t>(CO3)</a:t>
            </a:r>
            <a:endParaRPr lang="en-US" sz="2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311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94A9646-7F34-4539-8A90-85E660522927}" type="datetime1">
              <a:rPr lang="en-US" smtClean="0"/>
              <a:t>5/1/2026</a:t>
            </a:fld>
            <a:endParaRPr lang="en-US"/>
          </a:p>
        </p:txBody>
      </p:sp>
      <p:sp>
        <p:nvSpPr>
          <p:cNvPr id="9" name="Footer Placeholder 12"/>
          <p:cNvSpPr>
            <a:spLocks noGrp="1"/>
          </p:cNvSpPr>
          <p:nvPr>
            <p:ph type="ftr" sz="quarter" idx="11"/>
          </p:nvPr>
        </p:nvSpPr>
        <p:spPr>
          <a:xfrm>
            <a:off x="2286000" y="6248415"/>
            <a:ext cx="5486400" cy="304785"/>
          </a:xfrm>
        </p:spPr>
        <p:txBody>
          <a:bodyPr/>
          <a:lstStyle/>
          <a:p>
            <a:r>
              <a:rPr lang="en-US" sz="2000"/>
              <a:t>Mr. Minhaj Nezami     AOE0861    TQM      Unit 3</a:t>
            </a:r>
            <a:endParaRPr lang="en-US" sz="2000" dirty="0"/>
          </a:p>
        </p:txBody>
      </p:sp>
      <p:sp>
        <p:nvSpPr>
          <p:cNvPr id="10" name="Rectangle 9"/>
          <p:cNvSpPr/>
          <p:nvPr/>
        </p:nvSpPr>
        <p:spPr>
          <a:xfrm>
            <a:off x="914400" y="2667000"/>
            <a:ext cx="7391400" cy="12954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t>Once all of the possible causes are identified, they can be used to develop an improvement plan to help resolve the identified problem.</a:t>
            </a: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Recap of Ishikawa</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FFD242-64B3-4F20-8CCC-64D9EAF8B202}" type="datetime1">
              <a:rPr lang="en-US" smtClean="0"/>
              <a:t>5/1/2026</a:t>
            </a:fld>
            <a:endParaRPr lang="en-US"/>
          </a:p>
        </p:txBody>
      </p:sp>
      <p:sp>
        <p:nvSpPr>
          <p:cNvPr id="9" name="Footer Placeholder 12"/>
          <p:cNvSpPr>
            <a:spLocks noGrp="1"/>
          </p:cNvSpPr>
          <p:nvPr>
            <p:ph type="ftr" sz="quarter" idx="11"/>
          </p:nvPr>
        </p:nvSpPr>
        <p:spPr>
          <a:xfrm>
            <a:off x="2286000" y="6248415"/>
            <a:ext cx="5562600" cy="304785"/>
          </a:xfrm>
        </p:spPr>
        <p:txBody>
          <a:bodyPr/>
          <a:lstStyle/>
          <a:p>
            <a:r>
              <a:rPr lang="en-US" sz="2000"/>
              <a:t>Mr. Minhaj Nezami     AOE0861    TQM      Unit 3</a:t>
            </a:r>
            <a:endParaRPr lang="en-US" sz="2000" dirty="0"/>
          </a:p>
        </p:txBody>
      </p:sp>
      <p:sp>
        <p:nvSpPr>
          <p:cNvPr id="10" name="Rectangle 9"/>
          <p:cNvSpPr/>
          <p:nvPr/>
        </p:nvSpPr>
        <p:spPr>
          <a:xfrm>
            <a:off x="914400" y="2743200"/>
            <a:ext cx="7391400" cy="14478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cs typeface="Georgia"/>
              </a:rPr>
              <a:t>Showing how many results were generated by the type or category of the identified cause</a:t>
            </a:r>
            <a:endParaRPr lang="en-US" sz="24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Objective  of  Pareto chart</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32152"/>
            <a:ext cx="8229600" cy="4963848"/>
          </a:xfrm>
        </p:spPr>
        <p:txBody>
          <a:bodyPr>
            <a:normAutofit fontScale="92500" lnSpcReduction="10000"/>
          </a:bodyPr>
          <a:lstStyle/>
          <a:p>
            <a:pPr marL="355600" algn="just">
              <a:spcBef>
                <a:spcPts val="100"/>
              </a:spcBef>
              <a:tabLst>
                <a:tab pos="355600" algn="l"/>
              </a:tabLst>
            </a:pPr>
            <a:r>
              <a:rPr lang="en-US" sz="2400" dirty="0">
                <a:cs typeface="Georgia"/>
              </a:rPr>
              <a:t>The Pareto Chart is a histogram ordered by the frequency of result occurrences, showing how many results were generated by the type or category of the identified cause.</a:t>
            </a:r>
          </a:p>
          <a:p>
            <a:pPr marL="355600" algn="just">
              <a:spcBef>
                <a:spcPts val="100"/>
              </a:spcBef>
              <a:tabLst>
                <a:tab pos="355600" algn="l"/>
              </a:tabLst>
            </a:pPr>
            <a:r>
              <a:rPr lang="en-US" sz="2400" dirty="0">
                <a:cs typeface="Georgia"/>
              </a:rPr>
              <a:t>The relative position of the occurrences is used to guide corrective actions</a:t>
            </a:r>
          </a:p>
          <a:p>
            <a:pPr marL="355600" algn="just">
              <a:spcBef>
                <a:spcPts val="100"/>
              </a:spcBef>
              <a:tabLst>
                <a:tab pos="355600" algn="l"/>
              </a:tabLst>
            </a:pPr>
            <a:r>
              <a:rPr lang="en-US" sz="2400" dirty="0">
                <a:cs typeface="Georgia"/>
              </a:rPr>
              <a:t>The corrective actions must initially focus on the problems that are causing the majority of defects.</a:t>
            </a:r>
          </a:p>
          <a:p>
            <a:pPr marL="355600" algn="just">
              <a:spcBef>
                <a:spcPts val="100"/>
              </a:spcBef>
              <a:tabLst>
                <a:tab pos="355600" algn="l"/>
              </a:tabLst>
            </a:pPr>
            <a:r>
              <a:rPr lang="en-US" sz="2400" dirty="0"/>
              <a:t>A Pareto chart is a bar graph of data showing the largest number of frequencies to the smallest</a:t>
            </a:r>
          </a:p>
          <a:p>
            <a:pPr algn="just"/>
            <a:r>
              <a:rPr lang="en-US" sz="2400" dirty="0"/>
              <a:t>In this example, we are looking at the number of product defects in each of the listed categories.</a:t>
            </a:r>
          </a:p>
          <a:p>
            <a:pPr algn="just"/>
            <a:r>
              <a:rPr lang="en-US" sz="2400" dirty="0"/>
              <a:t>When you look at the number of defects from the largest to the smallest occurrences, it is easy to see how to prioritize improvements efforts.</a:t>
            </a:r>
          </a:p>
          <a:p>
            <a:pPr algn="just"/>
            <a:r>
              <a:rPr lang="en-US" sz="2400" dirty="0"/>
              <a:t>The most significant problems stand out and can be targeted first</a:t>
            </a:r>
          </a:p>
          <a:p>
            <a:pPr marL="355600">
              <a:spcBef>
                <a:spcPts val="100"/>
              </a:spcBef>
              <a:tabLst>
                <a:tab pos="355600" algn="l"/>
              </a:tabLst>
            </a:pPr>
            <a:endParaRPr lang="en-US" sz="2200" dirty="0">
              <a:latin typeface="+mj-lt"/>
              <a:cs typeface="Georgia"/>
            </a:endParaRPr>
          </a:p>
          <a:p>
            <a:pPr marL="355600">
              <a:spcBef>
                <a:spcPts val="100"/>
              </a:spcBef>
              <a:tabLst>
                <a:tab pos="355600" algn="l"/>
              </a:tabLst>
            </a:pPr>
            <a:endParaRPr lang="en-US" sz="2200" dirty="0">
              <a:latin typeface="+mj-lt"/>
              <a:cs typeface="Georgia"/>
            </a:endParaRPr>
          </a:p>
          <a:p>
            <a:pPr marL="355600">
              <a:spcBef>
                <a:spcPts val="100"/>
              </a:spcBef>
              <a:buNone/>
              <a:tabLst>
                <a:tab pos="355600" algn="l"/>
              </a:tabLst>
            </a:pPr>
            <a:endParaRPr lang="en-US" sz="2200" dirty="0">
              <a:latin typeface="+mj-lt"/>
              <a:cs typeface="Georgia"/>
            </a:endParaRPr>
          </a:p>
        </p:txBody>
      </p:sp>
      <p:sp>
        <p:nvSpPr>
          <p:cNvPr id="4" name="Date Placeholder 3"/>
          <p:cNvSpPr>
            <a:spLocks noGrp="1"/>
          </p:cNvSpPr>
          <p:nvPr>
            <p:ph type="dt" sz="half" idx="10"/>
          </p:nvPr>
        </p:nvSpPr>
        <p:spPr/>
        <p:txBody>
          <a:bodyPr/>
          <a:lstStyle/>
          <a:p>
            <a:fld id="{874152CD-EB48-436D-AB34-D220BFC88D10}" type="datetime1">
              <a:rPr lang="en-US" smtClean="0"/>
              <a:t>5/1/2026</a:t>
            </a:fld>
            <a:endParaRPr lang="en-US"/>
          </a:p>
        </p:txBody>
      </p:sp>
      <p:sp>
        <p:nvSpPr>
          <p:cNvPr id="9" name="Footer Placeholder 12"/>
          <p:cNvSpPr>
            <a:spLocks noGrp="1"/>
          </p:cNvSpPr>
          <p:nvPr>
            <p:ph type="ftr" sz="quarter" idx="11"/>
          </p:nvPr>
        </p:nvSpPr>
        <p:spPr>
          <a:xfrm>
            <a:off x="1828800" y="6248415"/>
            <a:ext cx="54864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9808"/>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lgn="l">
              <a:defRPr/>
            </a:pPr>
            <a:br>
              <a:rPr lang="en-US" sz="2800" b="1" dirty="0">
                <a:solidFill>
                  <a:schemeClr val="tx1"/>
                </a:solidFill>
              </a:rPr>
            </a:br>
            <a:r>
              <a:rPr lang="en-US" sz="2800" b="1" dirty="0">
                <a:solidFill>
                  <a:schemeClr val="tx1"/>
                </a:solidFill>
              </a:rPr>
              <a:t>                              Pareto chart (CO3)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181600"/>
          </a:xfrm>
        </p:spPr>
        <p:txBody>
          <a:bodyPr>
            <a:normAutofit/>
          </a:bodyPr>
          <a:lstStyle/>
          <a:p>
            <a:pPr marL="355600">
              <a:spcBef>
                <a:spcPts val="100"/>
              </a:spcBef>
              <a:buNone/>
              <a:tabLst>
                <a:tab pos="355600" algn="l"/>
              </a:tabLst>
            </a:pPr>
            <a:endParaRPr lang="en-US" sz="2200" dirty="0">
              <a:latin typeface="+mj-lt"/>
              <a:cs typeface="Georgia"/>
            </a:endParaRPr>
          </a:p>
          <a:p>
            <a:pPr marL="355600">
              <a:spcBef>
                <a:spcPts val="100"/>
              </a:spcBef>
              <a:tabLst>
                <a:tab pos="355600" algn="l"/>
              </a:tabLst>
            </a:pPr>
            <a:endParaRPr lang="en-US" sz="2200" dirty="0">
              <a:latin typeface="+mj-lt"/>
              <a:cs typeface="Georgia"/>
            </a:endParaRPr>
          </a:p>
          <a:p>
            <a:pPr marL="355600">
              <a:spcBef>
                <a:spcPts val="100"/>
              </a:spcBef>
              <a:buNone/>
              <a:tabLst>
                <a:tab pos="355600" algn="l"/>
              </a:tabLst>
            </a:pPr>
            <a:endParaRPr lang="en-US" sz="2200" dirty="0">
              <a:latin typeface="+mj-lt"/>
              <a:cs typeface="Georgia"/>
            </a:endParaRPr>
          </a:p>
        </p:txBody>
      </p:sp>
      <p:sp>
        <p:nvSpPr>
          <p:cNvPr id="4" name="Date Placeholder 3"/>
          <p:cNvSpPr>
            <a:spLocks noGrp="1"/>
          </p:cNvSpPr>
          <p:nvPr>
            <p:ph type="dt" sz="half" idx="10"/>
          </p:nvPr>
        </p:nvSpPr>
        <p:spPr/>
        <p:txBody>
          <a:bodyPr/>
          <a:lstStyle/>
          <a:p>
            <a:fld id="{311EEC5E-5D32-4CF6-991A-4D97F4318DDF}"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pic>
        <p:nvPicPr>
          <p:cNvPr id="4098" name="Picture 2" descr="C:\Users\ndc\Desktop\New folder\example-parato.jpg"/>
          <p:cNvPicPr>
            <a:picLocks noChangeAspect="1" noChangeArrowheads="1"/>
          </p:cNvPicPr>
          <p:nvPr/>
        </p:nvPicPr>
        <p:blipFill>
          <a:blip r:embed="rId2"/>
          <a:srcRect/>
          <a:stretch>
            <a:fillRect/>
          </a:stretch>
        </p:blipFill>
        <p:spPr bwMode="auto">
          <a:xfrm>
            <a:off x="609600" y="914400"/>
            <a:ext cx="8001000" cy="5105400"/>
          </a:xfrm>
          <a:prstGeom prst="rect">
            <a:avLst/>
          </a:prstGeom>
          <a:noFill/>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1561"/>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solidFill>
                  <a:schemeClr val="tx1"/>
                </a:solidFill>
              </a:rPr>
            </a:br>
            <a:r>
              <a:rPr lang="en-US" sz="2800" b="1" dirty="0">
                <a:solidFill>
                  <a:schemeClr val="tx1"/>
                </a:solidFill>
              </a:rPr>
              <a:t>Pareto chart (CO3)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181600"/>
          </a:xfrm>
        </p:spPr>
        <p:txBody>
          <a:bodyPr>
            <a:normAutofit/>
          </a:bodyPr>
          <a:lstStyle/>
          <a:p>
            <a:pPr marL="355600">
              <a:spcBef>
                <a:spcPts val="100"/>
              </a:spcBef>
              <a:buNone/>
              <a:tabLst>
                <a:tab pos="355600" algn="l"/>
              </a:tabLst>
            </a:pPr>
            <a:endParaRPr lang="en-US" sz="2200" dirty="0">
              <a:latin typeface="+mj-lt"/>
              <a:cs typeface="Georgia"/>
            </a:endParaRPr>
          </a:p>
          <a:p>
            <a:pPr marL="355600">
              <a:spcBef>
                <a:spcPts val="100"/>
              </a:spcBef>
              <a:tabLst>
                <a:tab pos="355600" algn="l"/>
              </a:tabLst>
            </a:pPr>
            <a:endParaRPr lang="en-US" sz="2200" dirty="0">
              <a:latin typeface="+mj-lt"/>
              <a:cs typeface="Georgia"/>
            </a:endParaRPr>
          </a:p>
          <a:p>
            <a:pPr marL="355600">
              <a:spcBef>
                <a:spcPts val="100"/>
              </a:spcBef>
              <a:buNone/>
              <a:tabLst>
                <a:tab pos="355600" algn="l"/>
              </a:tabLst>
            </a:pPr>
            <a:endParaRPr lang="en-US" sz="2200" dirty="0">
              <a:latin typeface="+mj-lt"/>
              <a:cs typeface="Georgia"/>
            </a:endParaRPr>
          </a:p>
        </p:txBody>
      </p:sp>
      <p:sp>
        <p:nvSpPr>
          <p:cNvPr id="4" name="Date Placeholder 3"/>
          <p:cNvSpPr>
            <a:spLocks noGrp="1"/>
          </p:cNvSpPr>
          <p:nvPr>
            <p:ph type="dt" sz="half" idx="10"/>
          </p:nvPr>
        </p:nvSpPr>
        <p:spPr/>
        <p:txBody>
          <a:bodyPr/>
          <a:lstStyle/>
          <a:p>
            <a:fld id="{92939272-3403-420D-A9A7-E9007D8F638E}"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pic>
        <p:nvPicPr>
          <p:cNvPr id="10" name="Imag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252818"/>
            <a:ext cx="8305800" cy="4843182"/>
          </a:xfrm>
          <a:prstGeom prst="rect">
            <a:avLst/>
          </a:prstGeom>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0291" y="803"/>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solidFill>
                  <a:schemeClr val="tx1"/>
                </a:solidFill>
              </a:rPr>
            </a:br>
            <a:r>
              <a:rPr lang="en-US" sz="2800" b="1" dirty="0">
                <a:solidFill>
                  <a:schemeClr val="tx1"/>
                </a:solidFill>
              </a:rPr>
              <a:t>Pareto chart (CO3)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FEC333-945A-404E-B9FC-C09216913F54}"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sp>
        <p:nvSpPr>
          <p:cNvPr id="10" name="Rectangle 9"/>
          <p:cNvSpPr/>
          <p:nvPr/>
        </p:nvSpPr>
        <p:spPr>
          <a:xfrm>
            <a:off x="914400" y="2667000"/>
            <a:ext cx="7391400" cy="12954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5600">
              <a:spcBef>
                <a:spcPts val="100"/>
              </a:spcBef>
              <a:tabLst>
                <a:tab pos="355600" algn="l"/>
              </a:tabLst>
            </a:pPr>
            <a:r>
              <a:rPr lang="en-US" sz="2400" dirty="0"/>
              <a:t>A Pareto chart is a bar graph of data showing the largest number of frequencies to the smallest</a:t>
            </a: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Recap of Pareto chart</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49A1377-110E-41C8-9C0E-D66BB0252C2C}"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sp>
        <p:nvSpPr>
          <p:cNvPr id="10" name="Rectangle 9"/>
          <p:cNvSpPr/>
          <p:nvPr/>
        </p:nvSpPr>
        <p:spPr>
          <a:xfrm>
            <a:off x="914400" y="2743200"/>
            <a:ext cx="7391400" cy="14478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Show the relationship between variables through graph. Variables often represent possible causes and effect</a:t>
            </a: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24891" y="20782"/>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Objective  of  scatter diagram</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gn="just"/>
            <a:r>
              <a:rPr lang="en-US" sz="2200" dirty="0"/>
              <a:t>Scatter diagrams are graphs that show the relationship between variables. Variables often represent possible causes and effect.</a:t>
            </a:r>
          </a:p>
          <a:p>
            <a:pPr algn="just"/>
            <a:r>
              <a:rPr lang="en-US" sz="2200" dirty="0"/>
              <a:t>As an example, a scatter diagram might show the relationship between how satisfied volunteers are that attend orientation training.</a:t>
            </a:r>
          </a:p>
          <a:p>
            <a:pPr algn="just"/>
            <a:r>
              <a:rPr lang="en-US" sz="2200" dirty="0"/>
              <a:t>The diagram shows the relationship between volunteer satisfaction scores and volunteer orientation training.</a:t>
            </a:r>
          </a:p>
          <a:p>
            <a:pPr algn="just"/>
            <a:r>
              <a:rPr lang="en-US" sz="2200" spc="10" dirty="0">
                <a:cs typeface="Arial"/>
              </a:rPr>
              <a:t>Scatter Diagrams are used to study and identify the possible relationship between the changes observed in two different sets of variables</a:t>
            </a:r>
            <a:endParaRPr lang="en-US" sz="2200" dirty="0">
              <a:cs typeface="Arial"/>
            </a:endParaRPr>
          </a:p>
          <a:p>
            <a:endParaRPr lang="en-US" sz="2400" dirty="0"/>
          </a:p>
          <a:p>
            <a:pPr marL="355600">
              <a:spcBef>
                <a:spcPts val="100"/>
              </a:spcBef>
              <a:buFont typeface="Arial"/>
              <a:buChar char="•"/>
              <a:tabLst>
                <a:tab pos="354965" algn="l"/>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DA40E1EC-978F-48FF-8B7C-E849B66CB6DF}" type="datetime1">
              <a:rPr lang="en-US" smtClean="0"/>
              <a:t>5/1/2026</a:t>
            </a:fld>
            <a:endParaRPr lang="en-US"/>
          </a:p>
        </p:txBody>
      </p:sp>
      <p:sp>
        <p:nvSpPr>
          <p:cNvPr id="9" name="Footer Placeholder 12"/>
          <p:cNvSpPr>
            <a:spLocks noGrp="1"/>
          </p:cNvSpPr>
          <p:nvPr>
            <p:ph type="ftr" sz="quarter" idx="11"/>
          </p:nvPr>
        </p:nvSpPr>
        <p:spPr>
          <a:xfrm>
            <a:off x="1981200" y="6248415"/>
            <a:ext cx="53340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20273" y="-12264"/>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Scatter diagram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400" dirty="0"/>
          </a:p>
          <a:p>
            <a:pPr marL="355600">
              <a:spcBef>
                <a:spcPts val="100"/>
              </a:spcBef>
              <a:buFont typeface="Arial"/>
              <a:buChar char="•"/>
              <a:tabLst>
                <a:tab pos="354965" algn="l"/>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C1CD06D8-E8CB-4427-9162-E770AAA77335}" type="datetime1">
              <a:rPr lang="en-US" smtClean="0"/>
              <a:t>5/1/2026</a:t>
            </a:fld>
            <a:endParaRPr lang="en-US"/>
          </a:p>
        </p:txBody>
      </p:sp>
      <p:sp>
        <p:nvSpPr>
          <p:cNvPr id="9" name="Footer Placeholder 12"/>
          <p:cNvSpPr>
            <a:spLocks noGrp="1"/>
          </p:cNvSpPr>
          <p:nvPr>
            <p:ph type="ftr" sz="quarter" idx="11"/>
          </p:nvPr>
        </p:nvSpPr>
        <p:spPr>
          <a:xfrm>
            <a:off x="2133600" y="6248415"/>
            <a:ext cx="5181600" cy="365125"/>
          </a:xfrm>
        </p:spPr>
        <p:txBody>
          <a:bodyPr/>
          <a:lstStyle/>
          <a:p>
            <a:r>
              <a:rPr lang="en-US" sz="2000"/>
              <a:t>Mr. Minhaj Nezami     AOE0861    TQM      Unit 3</a:t>
            </a:r>
            <a:endParaRPr lang="en-US" sz="2000" dirty="0"/>
          </a:p>
        </p:txBody>
      </p:sp>
      <p:pic>
        <p:nvPicPr>
          <p:cNvPr id="5122" name="Picture 2" descr="C:\Users\ndc\Desktop\New folder\example-scatter-diagram.jpg"/>
          <p:cNvPicPr>
            <a:picLocks noChangeAspect="1" noChangeArrowheads="1"/>
          </p:cNvPicPr>
          <p:nvPr/>
        </p:nvPicPr>
        <p:blipFill>
          <a:blip r:embed="rId2"/>
          <a:srcRect/>
          <a:stretch>
            <a:fillRect/>
          </a:stretch>
        </p:blipFill>
        <p:spPr bwMode="auto">
          <a:xfrm>
            <a:off x="381000" y="1066800"/>
            <a:ext cx="8382000" cy="4876800"/>
          </a:xfrm>
          <a:prstGeom prst="rect">
            <a:avLst/>
          </a:prstGeom>
          <a:noFill/>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39973"/>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Scatter diagram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400" dirty="0"/>
          </a:p>
          <a:p>
            <a:pPr marL="355600">
              <a:spcBef>
                <a:spcPts val="100"/>
              </a:spcBef>
              <a:buFont typeface="Arial"/>
              <a:buChar char="•"/>
              <a:tabLst>
                <a:tab pos="354965" algn="l"/>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3D21EAB9-EF4A-4B8C-8043-D9FB1DFC9D33}"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pic>
        <p:nvPicPr>
          <p:cNvPr id="10" name="Imag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90600"/>
            <a:ext cx="8458200" cy="5181600"/>
          </a:xfrm>
          <a:prstGeom prst="rect">
            <a:avLst/>
          </a:prstGeom>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78445" y="2309"/>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t>Scatter diagram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030BDA5-477A-4558-8098-356099A352E5}"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sp>
        <p:nvSpPr>
          <p:cNvPr id="10" name="Rectangle 9"/>
          <p:cNvSpPr/>
          <p:nvPr/>
        </p:nvSpPr>
        <p:spPr>
          <a:xfrm>
            <a:off x="914400" y="2667000"/>
            <a:ext cx="7391400" cy="12954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spc="10" dirty="0">
                <a:cs typeface="Arial"/>
              </a:rPr>
              <a:t>Scatter Diagrams are used to study and identify the possible relationship between the changes observed in two different sets of variables</a:t>
            </a:r>
            <a:endParaRPr lang="en-US" sz="2400" dirty="0">
              <a:cs typeface="Arial"/>
            </a:endParaRP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Recap of Scatter diagram </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D8400D-B728-4380-BFEB-489BA193AE12}" type="datetime1">
              <a:rPr lang="en-US" smtClean="0"/>
              <a:t>5/1/2026</a:t>
            </a:fld>
            <a:endParaRPr lang="en-US"/>
          </a:p>
        </p:txBody>
      </p:sp>
      <p:sp>
        <p:nvSpPr>
          <p:cNvPr id="9" name="Footer Placeholder 12"/>
          <p:cNvSpPr>
            <a:spLocks noGrp="1"/>
          </p:cNvSpPr>
          <p:nvPr>
            <p:ph type="ftr" sz="quarter" idx="11"/>
          </p:nvPr>
        </p:nvSpPr>
        <p:spPr>
          <a:xfrm>
            <a:off x="2133600" y="6248415"/>
            <a:ext cx="5181600" cy="365125"/>
          </a:xfrm>
        </p:spPr>
        <p:txBody>
          <a:bodyPr/>
          <a:lstStyle/>
          <a:p>
            <a:r>
              <a:rPr lang="en-US" sz="2000"/>
              <a:t>Mr. Minhaj Nezami     AOE0861    TQM      Unit 3</a:t>
            </a:r>
            <a:endParaRPr lang="en-US" sz="2000" dirty="0"/>
          </a:p>
        </p:txBody>
      </p:sp>
      <p:sp>
        <p:nvSpPr>
          <p:cNvPr id="10" name="Rectangle 9"/>
          <p:cNvSpPr/>
          <p:nvPr/>
        </p:nvSpPr>
        <p:spPr>
          <a:xfrm>
            <a:off x="914400" y="2743200"/>
            <a:ext cx="7391400" cy="14478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To plot data points over time and give a picture of the movement of that data.</a:t>
            </a: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Objective  of  control chart</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gn="just">
              <a:lnSpc>
                <a:spcPct val="150000"/>
              </a:lnSpc>
            </a:pPr>
            <a:r>
              <a:rPr lang="en-US" sz="2200" dirty="0"/>
              <a:t>Control charts or run charts are used to plot data points over time and give a picture of the movement of that data.</a:t>
            </a:r>
          </a:p>
          <a:p>
            <a:pPr algn="just">
              <a:lnSpc>
                <a:spcPct val="150000"/>
              </a:lnSpc>
            </a:pPr>
            <a:r>
              <a:rPr lang="en-US" sz="2200" dirty="0"/>
              <a:t>These charts demonstrate when data is consistent or when there are high or low outliers in the occurrences of data.</a:t>
            </a:r>
          </a:p>
          <a:p>
            <a:pPr algn="just">
              <a:lnSpc>
                <a:spcPct val="150000"/>
              </a:lnSpc>
            </a:pPr>
            <a:r>
              <a:rPr lang="en-US" sz="2200" dirty="0"/>
              <a:t>Control charts present the results of a process over time</a:t>
            </a:r>
          </a:p>
          <a:p>
            <a:pPr algn="just">
              <a:lnSpc>
                <a:spcPct val="150000"/>
              </a:lnSpc>
            </a:pPr>
            <a:r>
              <a:rPr lang="en-US" sz="2200" dirty="0"/>
              <a:t>They are used to determine if the process is under control</a:t>
            </a:r>
          </a:p>
          <a:p>
            <a:pPr algn="just">
              <a:lnSpc>
                <a:spcPct val="150000"/>
              </a:lnSpc>
            </a:pPr>
            <a:r>
              <a:rPr lang="en-US" sz="2200" dirty="0"/>
              <a:t>They are used to monitor any type of variable output</a:t>
            </a:r>
          </a:p>
        </p:txBody>
      </p:sp>
      <p:sp>
        <p:nvSpPr>
          <p:cNvPr id="4" name="Date Placeholder 3"/>
          <p:cNvSpPr>
            <a:spLocks noGrp="1"/>
          </p:cNvSpPr>
          <p:nvPr>
            <p:ph type="dt" sz="half" idx="10"/>
          </p:nvPr>
        </p:nvSpPr>
        <p:spPr/>
        <p:txBody>
          <a:bodyPr/>
          <a:lstStyle/>
          <a:p>
            <a:fld id="{18838D35-FAD2-45D8-8DB3-BB56DA3A99A2}" type="datetime1">
              <a:rPr lang="en-US" smtClean="0"/>
              <a:t>5/1/2026</a:t>
            </a:fld>
            <a:endParaRPr lang="en-US"/>
          </a:p>
        </p:txBody>
      </p:sp>
      <p:sp>
        <p:nvSpPr>
          <p:cNvPr id="9" name="Footer Placeholder 12"/>
          <p:cNvSpPr>
            <a:spLocks noGrp="1"/>
          </p:cNvSpPr>
          <p:nvPr>
            <p:ph type="ftr" sz="quarter" idx="11"/>
          </p:nvPr>
        </p:nvSpPr>
        <p:spPr>
          <a:xfrm>
            <a:off x="1981200" y="6248415"/>
            <a:ext cx="53340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11545"/>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Control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gn="just"/>
            <a:r>
              <a:rPr lang="en-US" sz="2200" dirty="0"/>
              <a:t>It focuses on monitoring performance over time by looking at the variation in data points. And it distinguishes between common cause and special cause variations. The Dow Jones Industrial Average is a good example of a control chart.</a:t>
            </a:r>
          </a:p>
          <a:p>
            <a:pPr algn="just"/>
            <a:r>
              <a:rPr lang="en-US" sz="2200" dirty="0"/>
              <a:t>The control chart is a graph used to study how a process changes over time. Data are plotted in time order. A control chart always has a central line for the average, an upper line for the upper control limit, and a lower line for the lower control limit. </a:t>
            </a:r>
          </a:p>
          <a:p>
            <a:pPr algn="just"/>
            <a:r>
              <a:rPr lang="en-US" sz="2200" dirty="0"/>
              <a:t>These lines are determined from historical data. By comparing current data to these lines, you can draw conclusions about whether the process variation is consistent (in control) or is unpredictable (out of control, affected by special causes of variation).</a:t>
            </a:r>
            <a:r>
              <a:rPr lang="en-US" sz="2400" dirty="0"/>
              <a:t> </a:t>
            </a:r>
          </a:p>
        </p:txBody>
      </p:sp>
      <p:sp>
        <p:nvSpPr>
          <p:cNvPr id="4" name="Date Placeholder 3"/>
          <p:cNvSpPr>
            <a:spLocks noGrp="1"/>
          </p:cNvSpPr>
          <p:nvPr>
            <p:ph type="dt" sz="half" idx="10"/>
          </p:nvPr>
        </p:nvSpPr>
        <p:spPr/>
        <p:txBody>
          <a:bodyPr/>
          <a:lstStyle/>
          <a:p>
            <a:fld id="{97A164D8-6A79-40F2-B426-8E9B61315DF2}" type="datetime1">
              <a:rPr lang="en-US" smtClean="0"/>
              <a:t>5/1/2026</a:t>
            </a:fld>
            <a:endParaRPr lang="en-US"/>
          </a:p>
        </p:txBody>
      </p:sp>
      <p:sp>
        <p:nvSpPr>
          <p:cNvPr id="9" name="Footer Placeholder 12"/>
          <p:cNvSpPr>
            <a:spLocks noGrp="1"/>
          </p:cNvSpPr>
          <p:nvPr>
            <p:ph type="ftr" sz="quarter" idx="11"/>
          </p:nvPr>
        </p:nvSpPr>
        <p:spPr>
          <a:xfrm>
            <a:off x="2133600" y="6248415"/>
            <a:ext cx="51816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38745" y="20782"/>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Control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nSpc>
                <a:spcPct val="150000"/>
              </a:lnSpc>
            </a:pPr>
            <a:r>
              <a:rPr lang="en-US" sz="2200" dirty="0"/>
              <a:t>Control charts are at the heart of statistical process control (SPC). So maybe we should start with answering what a process is. A process is simply what we do. It can be filling out an expense report, checking a person into a hospital, driving to work, filling a prescription, etc.</a:t>
            </a:r>
          </a:p>
          <a:p>
            <a:pPr>
              <a:lnSpc>
                <a:spcPct val="150000"/>
              </a:lnSpc>
            </a:pPr>
            <a:r>
              <a:rPr lang="en-US" sz="2200" dirty="0"/>
              <a:t> All these processes generate an output - either a product or service. In addition, the processes generate data. SPC is simply taking that data the process generates and using it to control and improve the process.</a:t>
            </a:r>
          </a:p>
          <a:p>
            <a:pPr marL="355600">
              <a:lnSpc>
                <a:spcPct val="100000"/>
              </a:lnSpc>
              <a:spcBef>
                <a:spcPts val="100"/>
              </a:spcBef>
            </a:pPr>
            <a:endParaRPr lang="en-US" sz="2200" spc="-5" dirty="0"/>
          </a:p>
        </p:txBody>
      </p:sp>
      <p:sp>
        <p:nvSpPr>
          <p:cNvPr id="4" name="Date Placeholder 3"/>
          <p:cNvSpPr>
            <a:spLocks noGrp="1"/>
          </p:cNvSpPr>
          <p:nvPr>
            <p:ph type="dt" sz="half" idx="10"/>
          </p:nvPr>
        </p:nvSpPr>
        <p:spPr/>
        <p:txBody>
          <a:bodyPr/>
          <a:lstStyle/>
          <a:p>
            <a:fld id="{5E7BE897-1166-4486-992B-40B755F176CE}"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17964" y="-5336"/>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Control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7487393-340E-47DB-81B1-F74773270A8A}"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pic>
        <p:nvPicPr>
          <p:cNvPr id="6146" name="Picture 2" descr="C:\Users\ndc\Desktop\New folder\example-control-chart.jpg"/>
          <p:cNvPicPr>
            <a:picLocks noGrp="1" noChangeAspect="1" noChangeArrowheads="1"/>
          </p:cNvPicPr>
          <p:nvPr>
            <p:ph idx="1"/>
          </p:nvPr>
        </p:nvPicPr>
        <p:blipFill>
          <a:blip r:embed="rId2"/>
          <a:srcRect/>
          <a:stretch>
            <a:fillRect/>
          </a:stretch>
        </p:blipFill>
        <p:spPr bwMode="auto">
          <a:xfrm>
            <a:off x="381000" y="1143000"/>
            <a:ext cx="8534400" cy="4800600"/>
          </a:xfrm>
          <a:prstGeom prst="rect">
            <a:avLst/>
          </a:prstGeom>
          <a:noFill/>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Control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FC0787E-F22C-499E-A249-F0D2F3858AE0}" type="datetime1">
              <a:rPr lang="en-US" smtClean="0"/>
              <a:t>5/1/2026</a:t>
            </a:fld>
            <a:endParaRPr lang="en-US"/>
          </a:p>
        </p:txBody>
      </p:sp>
      <p:sp>
        <p:nvSpPr>
          <p:cNvPr id="9" name="Footer Placeholder 12"/>
          <p:cNvSpPr>
            <a:spLocks noGrp="1"/>
          </p:cNvSpPr>
          <p:nvPr>
            <p:ph type="ftr" sz="quarter" idx="11"/>
          </p:nvPr>
        </p:nvSpPr>
        <p:spPr>
          <a:xfrm>
            <a:off x="2133600" y="6248415"/>
            <a:ext cx="5181600" cy="365125"/>
          </a:xfrm>
        </p:spPr>
        <p:txBody>
          <a:bodyPr/>
          <a:lstStyle/>
          <a:p>
            <a:r>
              <a:rPr lang="en-US" sz="2000"/>
              <a:t>Mr. Minhaj Nezami     AOE0861    TQM      Unit 3</a:t>
            </a:r>
            <a:endParaRPr lang="en-US" sz="2000" dirty="0"/>
          </a:p>
        </p:txBody>
      </p:sp>
      <p:pic>
        <p:nvPicPr>
          <p:cNvPr id="7170" name="Picture 2" descr="C:\Users\ndc\Desktop\New folder\drive-to-work-chart.png"/>
          <p:cNvPicPr>
            <a:picLocks noGrp="1" noChangeAspect="1" noChangeArrowheads="1"/>
          </p:cNvPicPr>
          <p:nvPr>
            <p:ph idx="1"/>
          </p:nvPr>
        </p:nvPicPr>
        <p:blipFill>
          <a:blip r:embed="rId2"/>
          <a:srcRect/>
          <a:stretch>
            <a:fillRect/>
          </a:stretch>
        </p:blipFill>
        <p:spPr bwMode="auto">
          <a:xfrm>
            <a:off x="457200" y="990600"/>
            <a:ext cx="8077201" cy="5029200"/>
          </a:xfrm>
          <a:prstGeom prst="rect">
            <a:avLst/>
          </a:prstGeom>
          <a:noFill/>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43364" y="20671"/>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Control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4FA8F16-C898-4395-84D4-C33EEE89B4B0}" type="datetime1">
              <a:rPr lang="en-US" smtClean="0"/>
              <a:t>5/1/2026</a:t>
            </a:fld>
            <a:endParaRPr lang="en-US"/>
          </a:p>
        </p:txBody>
      </p:sp>
      <p:sp>
        <p:nvSpPr>
          <p:cNvPr id="9" name="Footer Placeholder 12"/>
          <p:cNvSpPr>
            <a:spLocks noGrp="1"/>
          </p:cNvSpPr>
          <p:nvPr>
            <p:ph type="ftr" sz="quarter" idx="11"/>
          </p:nvPr>
        </p:nvSpPr>
        <p:spPr>
          <a:xfrm>
            <a:off x="1905000" y="6248415"/>
            <a:ext cx="5410200" cy="365125"/>
          </a:xfrm>
        </p:spPr>
        <p:txBody>
          <a:bodyPr/>
          <a:lstStyle/>
          <a:p>
            <a:r>
              <a:rPr lang="en-US" sz="2000"/>
              <a:t>Mr. Minhaj Nezami     AOE0861    TQM      Unit 3</a:t>
            </a:r>
            <a:endParaRPr lang="en-US" sz="2000" dirty="0"/>
          </a:p>
        </p:txBody>
      </p:sp>
      <p:sp>
        <p:nvSpPr>
          <p:cNvPr id="10" name="Rectangle 9"/>
          <p:cNvSpPr/>
          <p:nvPr/>
        </p:nvSpPr>
        <p:spPr>
          <a:xfrm>
            <a:off x="914400" y="2667000"/>
            <a:ext cx="7391400" cy="12954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Control charts are at the heart of statistical process control (SPC). So maybe we should start with answering what a process is</a:t>
            </a:r>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br>
            <a:r>
              <a:rPr lang="en-US" sz="2800" b="1" dirty="0"/>
              <a:t>Control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94D8E9-E39E-46CD-A6D6-B8DCD6093B20}" type="datetime1">
              <a:rPr lang="en-US" smtClean="0"/>
              <a:t>5/1/2026</a:t>
            </a:fld>
            <a:endParaRPr lang="en-US"/>
          </a:p>
        </p:txBody>
      </p:sp>
      <p:sp>
        <p:nvSpPr>
          <p:cNvPr id="9" name="Footer Placeholder 12"/>
          <p:cNvSpPr>
            <a:spLocks noGrp="1"/>
          </p:cNvSpPr>
          <p:nvPr>
            <p:ph type="ftr" sz="quarter" idx="11"/>
          </p:nvPr>
        </p:nvSpPr>
        <p:spPr>
          <a:xfrm>
            <a:off x="1600200" y="6248415"/>
            <a:ext cx="5715000" cy="365125"/>
          </a:xfrm>
        </p:spPr>
        <p:txBody>
          <a:bodyPr/>
          <a:lstStyle/>
          <a:p>
            <a:r>
              <a:rPr lang="en-US" sz="2000"/>
              <a:t>Mr. Minhaj Nezami     AOE0861    TQM      Unit 3</a:t>
            </a:r>
            <a:endParaRPr lang="en-US" sz="2000" dirty="0"/>
          </a:p>
        </p:txBody>
      </p:sp>
      <p:sp>
        <p:nvSpPr>
          <p:cNvPr id="10" name="Rectangle 9"/>
          <p:cNvSpPr/>
          <p:nvPr/>
        </p:nvSpPr>
        <p:spPr>
          <a:xfrm>
            <a:off x="914400" y="2743200"/>
            <a:ext cx="7391400" cy="14478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cs typeface="Georgia"/>
              </a:rPr>
              <a:t>Depicts how several elements interact with each other</a:t>
            </a:r>
            <a:endParaRPr lang="en-US" sz="24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Objective  of  Flow chart</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5600" marR="5715" algn="just">
              <a:spcBef>
                <a:spcPts val="100"/>
              </a:spcBef>
              <a:tabLst>
                <a:tab pos="355600" algn="l"/>
              </a:tabLst>
            </a:pPr>
            <a:r>
              <a:rPr lang="en-US" sz="2200" dirty="0">
                <a:cs typeface="Georgia"/>
              </a:rPr>
              <a:t>A flowchart is any chart that depicts how several elements interact with each other</a:t>
            </a:r>
          </a:p>
          <a:p>
            <a:pPr algn="just"/>
            <a:r>
              <a:rPr lang="en-US" sz="2200" dirty="0"/>
              <a:t>Flowcharts are also used to document work process flows.</a:t>
            </a:r>
          </a:p>
          <a:p>
            <a:pPr algn="just"/>
            <a:r>
              <a:rPr lang="en-US" sz="2200" dirty="0"/>
              <a:t>This tool is used when trying to determine where the bottlenecks or breakdowns are in work processes.</a:t>
            </a:r>
          </a:p>
          <a:p>
            <a:pPr algn="just"/>
            <a:r>
              <a:rPr lang="en-US" sz="2200" dirty="0"/>
              <a:t>Flow-charting the steps of a process provides a picture of what the process looks like and can shed light on issues within the process.</a:t>
            </a:r>
          </a:p>
          <a:p>
            <a:pPr algn="just"/>
            <a:r>
              <a:rPr lang="en-US" sz="2200" dirty="0"/>
              <a:t>Flowcharts are also used to show changes in a process when improvements are made or to show a new workflow process.</a:t>
            </a:r>
          </a:p>
          <a:p>
            <a:pPr algn="just"/>
            <a:r>
              <a:rPr lang="en-US" sz="2200" dirty="0"/>
              <a:t>This example provides a picture so those checking children in will know the steps each takes depending on whether it is their first time or a child who has been there before.</a:t>
            </a:r>
          </a:p>
          <a:p>
            <a:endParaRPr lang="en-US" sz="2400" dirty="0"/>
          </a:p>
          <a:p>
            <a:pPr marL="355600" marR="5715" algn="just">
              <a:spcBef>
                <a:spcPts val="100"/>
              </a:spcBef>
              <a:tabLst>
                <a:tab pos="355600" algn="l"/>
              </a:tabLst>
            </a:pPr>
            <a:endParaRPr lang="en-US" sz="2200" dirty="0">
              <a:cs typeface="Georgia"/>
            </a:endParaRPr>
          </a:p>
          <a:p>
            <a:pPr marL="355600" marR="5715" algn="just">
              <a:spcBef>
                <a:spcPts val="100"/>
              </a:spcBef>
              <a:buNone/>
              <a:tabLst>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BDF167CB-D951-4072-9490-6F2D3543AA7D}" type="datetime1">
              <a:rPr lang="en-US" smtClean="0"/>
              <a:t>5/1/2026</a:t>
            </a:fld>
            <a:endParaRPr lang="en-US"/>
          </a:p>
        </p:txBody>
      </p:sp>
      <p:sp>
        <p:nvSpPr>
          <p:cNvPr id="9" name="Footer Placeholder 12"/>
          <p:cNvSpPr>
            <a:spLocks noGrp="1"/>
          </p:cNvSpPr>
          <p:nvPr>
            <p:ph type="ftr" sz="quarter" idx="11"/>
          </p:nvPr>
        </p:nvSpPr>
        <p:spPr>
          <a:xfrm>
            <a:off x="1981200" y="6248415"/>
            <a:ext cx="53340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5336"/>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spc="-5" dirty="0">
                <a:solidFill>
                  <a:schemeClr val="tx1"/>
                </a:solidFill>
              </a:rPr>
            </a:br>
            <a:r>
              <a:rPr lang="en-US" sz="2800" b="1" spc="-5" dirty="0">
                <a:solidFill>
                  <a:schemeClr val="tx1"/>
                </a:solidFill>
              </a:rPr>
              <a:t>Flow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400" dirty="0"/>
          </a:p>
          <a:p>
            <a:pPr marL="355600" marR="5715" algn="just">
              <a:spcBef>
                <a:spcPts val="100"/>
              </a:spcBef>
              <a:tabLst>
                <a:tab pos="355600" algn="l"/>
              </a:tabLst>
            </a:pPr>
            <a:endParaRPr lang="en-US" sz="2200" dirty="0">
              <a:cs typeface="Georgia"/>
            </a:endParaRPr>
          </a:p>
          <a:p>
            <a:pPr marL="355600" marR="5715" algn="just">
              <a:spcBef>
                <a:spcPts val="100"/>
              </a:spcBef>
              <a:buNone/>
              <a:tabLst>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ACACDB6D-A02F-49C4-A102-830A1382134F}"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pic>
        <p:nvPicPr>
          <p:cNvPr id="8194" name="Picture 2" descr="C:\Users\ndc\Desktop\New folder\Flow-chart-2.jpg"/>
          <p:cNvPicPr>
            <a:picLocks noChangeAspect="1" noChangeArrowheads="1"/>
          </p:cNvPicPr>
          <p:nvPr/>
        </p:nvPicPr>
        <p:blipFill>
          <a:blip r:embed="rId2"/>
          <a:srcRect/>
          <a:stretch>
            <a:fillRect/>
          </a:stretch>
        </p:blipFill>
        <p:spPr bwMode="auto">
          <a:xfrm>
            <a:off x="609600" y="990600"/>
            <a:ext cx="8077200" cy="4953000"/>
          </a:xfrm>
          <a:prstGeom prst="rect">
            <a:avLst/>
          </a:prstGeom>
          <a:noFill/>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47982"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spc="-5" dirty="0">
                <a:solidFill>
                  <a:schemeClr val="tx1"/>
                </a:solidFill>
              </a:rPr>
            </a:br>
            <a:r>
              <a:rPr lang="en-US" sz="2800" b="1" spc="-5" dirty="0">
                <a:solidFill>
                  <a:schemeClr val="tx1"/>
                </a:solidFill>
              </a:rPr>
              <a:t>Flow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400" dirty="0"/>
          </a:p>
          <a:p>
            <a:pPr marL="355600" marR="5715" algn="just">
              <a:spcBef>
                <a:spcPts val="100"/>
              </a:spcBef>
              <a:tabLst>
                <a:tab pos="355600" algn="l"/>
              </a:tabLst>
            </a:pPr>
            <a:endParaRPr lang="en-US" sz="2200" dirty="0">
              <a:cs typeface="Georgia"/>
            </a:endParaRPr>
          </a:p>
          <a:p>
            <a:pPr marL="355600" marR="5715" algn="just">
              <a:spcBef>
                <a:spcPts val="100"/>
              </a:spcBef>
              <a:buNone/>
              <a:tabLst>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FA68D974-9E96-49CA-8884-6C9BDC52B365}" type="datetime1">
              <a:rPr lang="en-US" smtClean="0"/>
              <a:t>5/1/2026</a:t>
            </a:fld>
            <a:endParaRPr lang="en-US"/>
          </a:p>
        </p:txBody>
      </p:sp>
      <p:sp>
        <p:nvSpPr>
          <p:cNvPr id="9" name="Footer Placeholder 12"/>
          <p:cNvSpPr>
            <a:spLocks noGrp="1"/>
          </p:cNvSpPr>
          <p:nvPr>
            <p:ph type="ftr" sz="quarter" idx="11"/>
          </p:nvPr>
        </p:nvSpPr>
        <p:spPr>
          <a:xfrm>
            <a:off x="1792300" y="6248415"/>
            <a:ext cx="5522900" cy="365125"/>
          </a:xfrm>
        </p:spPr>
        <p:txBody>
          <a:bodyPr/>
          <a:lstStyle/>
          <a:p>
            <a:r>
              <a:rPr lang="en-US" sz="2000"/>
              <a:t>Mr. Minhaj Nezami     AOE0861    TQM      Unit 3</a:t>
            </a:r>
            <a:endParaRPr lang="en-US" sz="2000" dirty="0"/>
          </a:p>
        </p:txBody>
      </p:sp>
      <p:pic>
        <p:nvPicPr>
          <p:cNvPr id="10" name="Imag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0601"/>
            <a:ext cx="8915400" cy="5105400"/>
          </a:xfrm>
          <a:prstGeom prst="rect">
            <a:avLst/>
          </a:prstGeom>
        </p:spPr>
      </p:pic>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71518"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spc="-5" dirty="0">
                <a:solidFill>
                  <a:schemeClr val="tx1"/>
                </a:solidFill>
              </a:rPr>
            </a:br>
            <a:r>
              <a:rPr lang="en-US" sz="2800" b="1" spc="-5" dirty="0">
                <a:solidFill>
                  <a:schemeClr val="tx1"/>
                </a:solidFill>
              </a:rPr>
              <a:t>Flow chart </a:t>
            </a:r>
            <a:r>
              <a:rPr lang="en-US" sz="2800" b="1" dirty="0">
                <a:solidFill>
                  <a:schemeClr val="tx1"/>
                </a:solidFill>
              </a:rPr>
              <a:t>(CO3)</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587ECBB-A26E-4028-85ED-D31972DCA3ED}" type="datetime1">
              <a:rPr lang="en-US" smtClean="0"/>
              <a:t>5/1/2026</a:t>
            </a:fld>
            <a:endParaRPr lang="en-US"/>
          </a:p>
        </p:txBody>
      </p:sp>
      <p:sp>
        <p:nvSpPr>
          <p:cNvPr id="5" name="Footer Placeholder 4"/>
          <p:cNvSpPr>
            <a:spLocks noGrp="1"/>
          </p:cNvSpPr>
          <p:nvPr>
            <p:ph type="ftr" sz="quarter" idx="11"/>
          </p:nvPr>
        </p:nvSpPr>
        <p:spPr>
          <a:xfrm>
            <a:off x="1828800" y="6356350"/>
            <a:ext cx="55626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solidFill>
                  <a:schemeClr val="tx1"/>
                </a:solidFill>
                <a:latin typeface="Times New Roman" panose="02020603050405020304" pitchFamily="18" charset="0"/>
                <a:cs typeface="Times New Roman" panose="02020603050405020304" pitchFamily="18" charset="0"/>
              </a:rPr>
              <a:t>New Management Tools</a:t>
            </a: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9" name="Rectangle 8"/>
          <p:cNvSpPr/>
          <p:nvPr/>
        </p:nvSpPr>
        <p:spPr>
          <a:xfrm>
            <a:off x="529936" y="1295400"/>
            <a:ext cx="8385464" cy="769441"/>
          </a:xfrm>
          <a:prstGeom prst="rect">
            <a:avLst/>
          </a:prstGeom>
        </p:spPr>
        <p:txBody>
          <a:bodyPr wrap="square">
            <a:spAutoFit/>
          </a:bodyPr>
          <a:lstStyle/>
          <a:p>
            <a:r>
              <a:rPr lang="en-US" sz="2200" dirty="0">
                <a:latin typeface="Calibri (Body)"/>
              </a:rPr>
              <a:t>1. Affinity diagram: organizes a large number of ideas into their natural relationships.</a:t>
            </a:r>
            <a:endParaRPr lang="en-IN" sz="2200" dirty="0">
              <a:latin typeface="Calibri (Body)"/>
            </a:endParaRPr>
          </a:p>
        </p:txBody>
      </p:sp>
      <p:pic>
        <p:nvPicPr>
          <p:cNvPr id="10" name="Picture 9"/>
          <p:cNvPicPr>
            <a:picLocks noChangeAspect="1"/>
          </p:cNvPicPr>
          <p:nvPr/>
        </p:nvPicPr>
        <p:blipFill>
          <a:blip r:embed="rId3"/>
          <a:stretch>
            <a:fillRect/>
          </a:stretch>
        </p:blipFill>
        <p:spPr>
          <a:xfrm>
            <a:off x="2895600" y="2064841"/>
            <a:ext cx="3581400" cy="1592758"/>
          </a:xfrm>
          <a:prstGeom prst="rect">
            <a:avLst/>
          </a:prstGeom>
        </p:spPr>
      </p:pic>
      <p:sp>
        <p:nvSpPr>
          <p:cNvPr id="11" name="Rectangle 10"/>
          <p:cNvSpPr/>
          <p:nvPr/>
        </p:nvSpPr>
        <p:spPr>
          <a:xfrm>
            <a:off x="529936" y="3657599"/>
            <a:ext cx="8080664" cy="1107996"/>
          </a:xfrm>
          <a:prstGeom prst="rect">
            <a:avLst/>
          </a:prstGeom>
        </p:spPr>
        <p:txBody>
          <a:bodyPr wrap="square">
            <a:spAutoFit/>
          </a:bodyPr>
          <a:lstStyle/>
          <a:p>
            <a:pPr marL="12700">
              <a:lnSpc>
                <a:spcPct val="100000"/>
              </a:lnSpc>
              <a:spcBef>
                <a:spcPts val="100"/>
              </a:spcBef>
            </a:pPr>
            <a:r>
              <a:rPr lang="en-US" sz="2200" dirty="0">
                <a:latin typeface="Calibri (Body)"/>
                <a:cs typeface="Times New Roman"/>
              </a:rPr>
              <a:t>2. Inter Relations</a:t>
            </a:r>
            <a:r>
              <a:rPr lang="en-US" sz="2200" spc="-20" dirty="0">
                <a:latin typeface="Calibri (Body)"/>
                <a:cs typeface="Times New Roman"/>
              </a:rPr>
              <a:t> </a:t>
            </a:r>
            <a:r>
              <a:rPr lang="en-US" sz="2200" spc="-10" dirty="0">
                <a:latin typeface="Calibri (Body)"/>
                <a:cs typeface="Times New Roman"/>
              </a:rPr>
              <a:t>diagram: </a:t>
            </a:r>
            <a:r>
              <a:rPr lang="en-US" sz="2200" dirty="0">
                <a:latin typeface="Calibri (Body)"/>
                <a:cs typeface="Times New Roman"/>
              </a:rPr>
              <a:t>Shows</a:t>
            </a:r>
            <a:r>
              <a:rPr lang="en-US" sz="2200" spc="50" dirty="0">
                <a:latin typeface="Calibri (Body)"/>
                <a:cs typeface="Times New Roman"/>
              </a:rPr>
              <a:t> </a:t>
            </a:r>
            <a:r>
              <a:rPr lang="en-US" sz="2200" spc="-10" dirty="0">
                <a:latin typeface="Calibri (Body)"/>
                <a:cs typeface="Times New Roman"/>
              </a:rPr>
              <a:t>cause-</a:t>
            </a:r>
            <a:r>
              <a:rPr lang="en-US" sz="2200" dirty="0">
                <a:latin typeface="Calibri (Body)"/>
                <a:cs typeface="Times New Roman"/>
              </a:rPr>
              <a:t>and-effect</a:t>
            </a:r>
            <a:r>
              <a:rPr lang="en-US" sz="2200" spc="30" dirty="0">
                <a:latin typeface="Calibri (Body)"/>
                <a:cs typeface="Times New Roman"/>
              </a:rPr>
              <a:t> </a:t>
            </a:r>
            <a:r>
              <a:rPr lang="en-US" sz="2200" dirty="0">
                <a:latin typeface="Calibri (Body)"/>
                <a:cs typeface="Times New Roman"/>
              </a:rPr>
              <a:t>relationships</a:t>
            </a:r>
            <a:r>
              <a:rPr lang="en-US" sz="2200" spc="30" dirty="0">
                <a:latin typeface="Calibri (Body)"/>
                <a:cs typeface="Times New Roman"/>
              </a:rPr>
              <a:t> </a:t>
            </a:r>
            <a:r>
              <a:rPr lang="en-US" sz="2200" dirty="0">
                <a:latin typeface="Calibri (Body)"/>
                <a:cs typeface="Times New Roman"/>
              </a:rPr>
              <a:t>and helps</a:t>
            </a:r>
            <a:r>
              <a:rPr lang="en-US" sz="2200" spc="30" dirty="0">
                <a:latin typeface="Calibri (Body)"/>
                <a:cs typeface="Times New Roman"/>
              </a:rPr>
              <a:t> </a:t>
            </a:r>
            <a:r>
              <a:rPr lang="en-US" sz="2200" dirty="0">
                <a:latin typeface="Calibri (Body)"/>
                <a:cs typeface="Times New Roman"/>
              </a:rPr>
              <a:t>you</a:t>
            </a:r>
            <a:r>
              <a:rPr lang="en-US" sz="2200" spc="45" dirty="0">
                <a:latin typeface="Calibri (Body)"/>
                <a:cs typeface="Times New Roman"/>
              </a:rPr>
              <a:t> </a:t>
            </a:r>
            <a:r>
              <a:rPr lang="en-US" sz="2200" dirty="0">
                <a:latin typeface="Calibri (Body)"/>
                <a:cs typeface="Times New Roman"/>
              </a:rPr>
              <a:t>analyze</a:t>
            </a:r>
            <a:r>
              <a:rPr lang="en-US" sz="2200" spc="229" dirty="0">
                <a:latin typeface="Calibri (Body)"/>
                <a:cs typeface="Times New Roman"/>
              </a:rPr>
              <a:t> </a:t>
            </a:r>
            <a:r>
              <a:rPr lang="en-US" sz="2200" dirty="0">
                <a:latin typeface="Calibri (Body)"/>
                <a:cs typeface="Times New Roman"/>
              </a:rPr>
              <a:t>the</a:t>
            </a:r>
            <a:r>
              <a:rPr lang="en-US" sz="2200" spc="245" dirty="0">
                <a:latin typeface="Calibri (Body)"/>
                <a:cs typeface="Times New Roman"/>
              </a:rPr>
              <a:t> </a:t>
            </a:r>
            <a:r>
              <a:rPr lang="en-US" sz="2200" dirty="0">
                <a:latin typeface="Calibri (Body)"/>
                <a:cs typeface="Times New Roman"/>
              </a:rPr>
              <a:t>natural</a:t>
            </a:r>
            <a:r>
              <a:rPr lang="en-US" sz="2200" spc="-10" dirty="0">
                <a:latin typeface="Calibri (Body)"/>
                <a:cs typeface="Times New Roman"/>
              </a:rPr>
              <a:t> </a:t>
            </a:r>
            <a:r>
              <a:rPr lang="en-US" sz="2200" dirty="0">
                <a:latin typeface="Calibri (Body)"/>
                <a:cs typeface="Times New Roman"/>
              </a:rPr>
              <a:t>links</a:t>
            </a:r>
            <a:r>
              <a:rPr lang="en-US" sz="2200" spc="25" dirty="0">
                <a:latin typeface="Calibri (Body)"/>
                <a:cs typeface="Times New Roman"/>
              </a:rPr>
              <a:t> </a:t>
            </a:r>
            <a:r>
              <a:rPr lang="en-US" sz="2200" dirty="0">
                <a:latin typeface="Calibri (Body)"/>
                <a:cs typeface="Times New Roman"/>
              </a:rPr>
              <a:t>between</a:t>
            </a:r>
            <a:r>
              <a:rPr lang="en-US" sz="2200" spc="30" dirty="0">
                <a:latin typeface="Calibri (Body)"/>
                <a:cs typeface="Times New Roman"/>
              </a:rPr>
              <a:t> </a:t>
            </a:r>
            <a:r>
              <a:rPr lang="en-US" sz="2200" spc="-10" dirty="0">
                <a:latin typeface="Calibri (Body)"/>
                <a:cs typeface="Times New Roman"/>
              </a:rPr>
              <a:t>different </a:t>
            </a:r>
            <a:r>
              <a:rPr lang="en-US" sz="2200" dirty="0">
                <a:latin typeface="Calibri (Body)"/>
                <a:cs typeface="Times New Roman"/>
              </a:rPr>
              <a:t>aspects</a:t>
            </a:r>
            <a:r>
              <a:rPr lang="en-US" sz="2200" spc="-15" dirty="0">
                <a:latin typeface="Calibri (Body)"/>
                <a:cs typeface="Times New Roman"/>
              </a:rPr>
              <a:t> </a:t>
            </a:r>
            <a:r>
              <a:rPr lang="en-US" sz="2200" dirty="0">
                <a:latin typeface="Calibri (Body)"/>
                <a:cs typeface="Times New Roman"/>
              </a:rPr>
              <a:t>of</a:t>
            </a:r>
            <a:r>
              <a:rPr lang="en-US" sz="2200" spc="-25" dirty="0">
                <a:latin typeface="Calibri (Body)"/>
                <a:cs typeface="Times New Roman"/>
              </a:rPr>
              <a:t> </a:t>
            </a:r>
            <a:r>
              <a:rPr lang="en-US" sz="2200" dirty="0">
                <a:latin typeface="Calibri (Body)"/>
                <a:cs typeface="Times New Roman"/>
              </a:rPr>
              <a:t>a</a:t>
            </a:r>
            <a:r>
              <a:rPr lang="en-US" sz="2200" spc="20" dirty="0">
                <a:latin typeface="Calibri (Body)"/>
                <a:cs typeface="Times New Roman"/>
              </a:rPr>
              <a:t> </a:t>
            </a:r>
            <a:r>
              <a:rPr lang="en-US" sz="2200" dirty="0">
                <a:latin typeface="Calibri (Body)"/>
                <a:cs typeface="Times New Roman"/>
              </a:rPr>
              <a:t>complex</a:t>
            </a:r>
            <a:r>
              <a:rPr lang="en-US" sz="2200" spc="-15" dirty="0">
                <a:latin typeface="Calibri (Body)"/>
                <a:cs typeface="Times New Roman"/>
              </a:rPr>
              <a:t> </a:t>
            </a:r>
            <a:r>
              <a:rPr lang="en-US" sz="2200" spc="-10" dirty="0">
                <a:latin typeface="Calibri (Body)"/>
                <a:cs typeface="Times New Roman"/>
              </a:rPr>
              <a:t>situation.</a:t>
            </a:r>
            <a:endParaRPr lang="en-US" sz="2200" dirty="0">
              <a:latin typeface="Calibri (Body)"/>
              <a:cs typeface="Times New Roman"/>
            </a:endParaRPr>
          </a:p>
        </p:txBody>
      </p:sp>
      <p:pic>
        <p:nvPicPr>
          <p:cNvPr id="13" name="Picture 12"/>
          <p:cNvPicPr>
            <a:picLocks noChangeAspect="1"/>
          </p:cNvPicPr>
          <p:nvPr/>
        </p:nvPicPr>
        <p:blipFill>
          <a:blip r:embed="rId4"/>
          <a:stretch>
            <a:fillRect/>
          </a:stretch>
        </p:blipFill>
        <p:spPr>
          <a:xfrm>
            <a:off x="2895600" y="4929999"/>
            <a:ext cx="3276600" cy="1426351"/>
          </a:xfrm>
          <a:prstGeom prst="rect">
            <a:avLst/>
          </a:prstGeom>
        </p:spPr>
      </p:pic>
    </p:spTree>
    <p:extLst>
      <p:ext uri="{BB962C8B-B14F-4D97-AF65-F5344CB8AC3E}">
        <p14:creationId xmlns:p14="http://schemas.microsoft.com/office/powerpoint/2010/main" val="18579828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F520836-0AE2-4BB5-8408-9D9E73273170}" type="datetime1">
              <a:rPr lang="en-US" smtClean="0"/>
              <a:t>5/1/2026</a:t>
            </a:fld>
            <a:endParaRPr lang="en-US"/>
          </a:p>
        </p:txBody>
      </p:sp>
      <p:sp>
        <p:nvSpPr>
          <p:cNvPr id="5" name="Footer Placeholder 4"/>
          <p:cNvSpPr>
            <a:spLocks noGrp="1"/>
          </p:cNvSpPr>
          <p:nvPr>
            <p:ph type="ftr" sz="quarter" idx="11"/>
          </p:nvPr>
        </p:nvSpPr>
        <p:spPr>
          <a:xfrm>
            <a:off x="2209800" y="5992957"/>
            <a:ext cx="51816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solidFill>
                  <a:schemeClr val="tx1"/>
                </a:solidFill>
                <a:latin typeface="Times New Roman" panose="02020603050405020304" pitchFamily="18" charset="0"/>
                <a:cs typeface="Times New Roman" panose="02020603050405020304" pitchFamily="18" charset="0"/>
              </a:rPr>
              <a:t>New Management Tools</a:t>
            </a: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506844" y="1219200"/>
            <a:ext cx="8179955" cy="1190006"/>
          </a:xfrm>
          <a:prstGeom prst="rect">
            <a:avLst/>
          </a:prstGeom>
        </p:spPr>
        <p:txBody>
          <a:bodyPr wrap="square">
            <a:spAutoFit/>
          </a:bodyPr>
          <a:lstStyle/>
          <a:p>
            <a:pPr marL="12700" marR="5080">
              <a:lnSpc>
                <a:spcPct val="110900"/>
              </a:lnSpc>
              <a:spcBef>
                <a:spcPts val="100"/>
              </a:spcBef>
            </a:pPr>
            <a:r>
              <a:rPr lang="en-US" sz="2200" dirty="0">
                <a:latin typeface="Calibri (Body)"/>
                <a:cs typeface="Times New Roman"/>
              </a:rPr>
              <a:t>3.</a:t>
            </a:r>
            <a:r>
              <a:rPr lang="en-US" sz="2200" spc="10" dirty="0">
                <a:latin typeface="Calibri (Body)"/>
                <a:cs typeface="Times New Roman"/>
              </a:rPr>
              <a:t> </a:t>
            </a:r>
            <a:r>
              <a:rPr lang="en-US" sz="2200" dirty="0">
                <a:latin typeface="Calibri (Body)"/>
                <a:cs typeface="Times New Roman"/>
              </a:rPr>
              <a:t>Tree</a:t>
            </a:r>
            <a:r>
              <a:rPr lang="en-US" sz="2200" spc="10" dirty="0">
                <a:latin typeface="Calibri (Body)"/>
                <a:cs typeface="Times New Roman"/>
              </a:rPr>
              <a:t> </a:t>
            </a:r>
            <a:r>
              <a:rPr lang="en-US" sz="2200" dirty="0">
                <a:latin typeface="Calibri (Body)"/>
                <a:cs typeface="Times New Roman"/>
              </a:rPr>
              <a:t>diagram:</a:t>
            </a:r>
            <a:r>
              <a:rPr lang="en-US" sz="2200" spc="25" dirty="0">
                <a:latin typeface="Calibri (Body)"/>
                <a:cs typeface="Times New Roman"/>
              </a:rPr>
              <a:t> </a:t>
            </a:r>
            <a:r>
              <a:rPr lang="en-US" sz="2200" dirty="0">
                <a:latin typeface="Calibri (Body)"/>
                <a:cs typeface="Times New Roman"/>
              </a:rPr>
              <a:t>breaks</a:t>
            </a:r>
            <a:r>
              <a:rPr lang="en-US" sz="2200" spc="45" dirty="0">
                <a:latin typeface="Calibri (Body)"/>
                <a:cs typeface="Times New Roman"/>
              </a:rPr>
              <a:t> </a:t>
            </a:r>
            <a:r>
              <a:rPr lang="en-US" sz="2200" dirty="0">
                <a:latin typeface="Calibri (Body)"/>
                <a:cs typeface="Times New Roman"/>
              </a:rPr>
              <a:t>down</a:t>
            </a:r>
            <a:r>
              <a:rPr lang="en-US" sz="2200" spc="20" dirty="0">
                <a:latin typeface="Calibri (Body)"/>
                <a:cs typeface="Times New Roman"/>
              </a:rPr>
              <a:t> </a:t>
            </a:r>
            <a:r>
              <a:rPr lang="en-US" sz="2200" dirty="0">
                <a:latin typeface="Calibri (Body)"/>
                <a:cs typeface="Times New Roman"/>
              </a:rPr>
              <a:t>broad</a:t>
            </a:r>
            <a:r>
              <a:rPr lang="en-US" sz="2200" spc="20" dirty="0">
                <a:latin typeface="Calibri (Body)"/>
                <a:cs typeface="Times New Roman"/>
              </a:rPr>
              <a:t> </a:t>
            </a:r>
            <a:r>
              <a:rPr lang="en-US" sz="2200" dirty="0">
                <a:latin typeface="Calibri (Body)"/>
                <a:cs typeface="Times New Roman"/>
              </a:rPr>
              <a:t>categories</a:t>
            </a:r>
            <a:r>
              <a:rPr lang="en-US" sz="2200" spc="45" dirty="0">
                <a:latin typeface="Calibri (Body)"/>
                <a:cs typeface="Times New Roman"/>
              </a:rPr>
              <a:t> </a:t>
            </a:r>
            <a:r>
              <a:rPr lang="en-US" sz="2200" dirty="0">
                <a:latin typeface="Calibri (Body)"/>
                <a:cs typeface="Times New Roman"/>
              </a:rPr>
              <a:t>into</a:t>
            </a:r>
            <a:r>
              <a:rPr lang="en-US" sz="2200" spc="20" dirty="0">
                <a:latin typeface="Calibri (Body)"/>
                <a:cs typeface="Times New Roman"/>
              </a:rPr>
              <a:t> </a:t>
            </a:r>
            <a:r>
              <a:rPr lang="en-US" sz="2200" dirty="0">
                <a:latin typeface="Calibri (Body)"/>
                <a:cs typeface="Times New Roman"/>
              </a:rPr>
              <a:t>finer</a:t>
            </a:r>
            <a:r>
              <a:rPr lang="en-US" sz="2200" spc="60" dirty="0">
                <a:latin typeface="Calibri (Body)"/>
                <a:cs typeface="Times New Roman"/>
              </a:rPr>
              <a:t> </a:t>
            </a:r>
            <a:r>
              <a:rPr lang="en-US" sz="2200" dirty="0">
                <a:latin typeface="Calibri (Body)"/>
                <a:cs typeface="Times New Roman"/>
              </a:rPr>
              <a:t>and</a:t>
            </a:r>
            <a:r>
              <a:rPr lang="en-US" sz="2200" spc="20" dirty="0">
                <a:latin typeface="Calibri (Body)"/>
                <a:cs typeface="Times New Roman"/>
              </a:rPr>
              <a:t> </a:t>
            </a:r>
            <a:r>
              <a:rPr lang="en-US" sz="2200" dirty="0">
                <a:latin typeface="Calibri (Body)"/>
                <a:cs typeface="Times New Roman"/>
              </a:rPr>
              <a:t>finer</a:t>
            </a:r>
            <a:r>
              <a:rPr lang="en-US" sz="2200" spc="55" dirty="0">
                <a:latin typeface="Calibri (Body)"/>
                <a:cs typeface="Times New Roman"/>
              </a:rPr>
              <a:t> </a:t>
            </a:r>
            <a:r>
              <a:rPr lang="en-US" sz="2200" dirty="0">
                <a:latin typeface="Calibri (Body)"/>
                <a:cs typeface="Times New Roman"/>
              </a:rPr>
              <a:t>levels</a:t>
            </a:r>
            <a:r>
              <a:rPr lang="en-US" sz="2200" spc="45" dirty="0">
                <a:latin typeface="Calibri (Body)"/>
                <a:cs typeface="Times New Roman"/>
              </a:rPr>
              <a:t> </a:t>
            </a:r>
            <a:r>
              <a:rPr lang="en-US" sz="2200" dirty="0">
                <a:latin typeface="Calibri (Body)"/>
                <a:cs typeface="Times New Roman"/>
              </a:rPr>
              <a:t>of</a:t>
            </a:r>
            <a:r>
              <a:rPr lang="en-US" sz="2200" spc="35" dirty="0">
                <a:latin typeface="Calibri (Body)"/>
                <a:cs typeface="Times New Roman"/>
              </a:rPr>
              <a:t> </a:t>
            </a:r>
            <a:r>
              <a:rPr lang="en-US" sz="2200" dirty="0">
                <a:latin typeface="Calibri (Body)"/>
                <a:cs typeface="Times New Roman"/>
              </a:rPr>
              <a:t>detail,</a:t>
            </a:r>
            <a:r>
              <a:rPr lang="en-US" sz="2200" spc="55" dirty="0">
                <a:latin typeface="Calibri (Body)"/>
                <a:cs typeface="Times New Roman"/>
              </a:rPr>
              <a:t> </a:t>
            </a:r>
            <a:r>
              <a:rPr lang="en-US" sz="2200" dirty="0">
                <a:latin typeface="Calibri (Body)"/>
                <a:cs typeface="Times New Roman"/>
              </a:rPr>
              <a:t>helping</a:t>
            </a:r>
            <a:r>
              <a:rPr lang="en-US" sz="2200" spc="20" dirty="0">
                <a:latin typeface="Calibri (Body)"/>
                <a:cs typeface="Times New Roman"/>
              </a:rPr>
              <a:t> </a:t>
            </a:r>
            <a:r>
              <a:rPr lang="en-US" sz="2200" dirty="0">
                <a:latin typeface="Calibri (Body)"/>
                <a:cs typeface="Times New Roman"/>
              </a:rPr>
              <a:t>you</a:t>
            </a:r>
            <a:r>
              <a:rPr lang="en-US" sz="2200" spc="65" dirty="0">
                <a:latin typeface="Calibri (Body)"/>
                <a:cs typeface="Times New Roman"/>
              </a:rPr>
              <a:t> </a:t>
            </a:r>
            <a:r>
              <a:rPr lang="en-US" sz="2200" spc="-20" dirty="0">
                <a:latin typeface="Calibri (Body)"/>
                <a:cs typeface="Times New Roman"/>
              </a:rPr>
              <a:t>move </a:t>
            </a:r>
            <a:r>
              <a:rPr lang="en-US" sz="2200" dirty="0">
                <a:latin typeface="Calibri (Body)"/>
                <a:cs typeface="Times New Roman"/>
              </a:rPr>
              <a:t>your</a:t>
            </a:r>
            <a:r>
              <a:rPr lang="en-US" sz="2200" spc="45" dirty="0">
                <a:latin typeface="Calibri (Body)"/>
                <a:cs typeface="Times New Roman"/>
              </a:rPr>
              <a:t> </a:t>
            </a:r>
            <a:r>
              <a:rPr lang="en-US" sz="2200" dirty="0">
                <a:latin typeface="Calibri (Body)"/>
                <a:cs typeface="Times New Roman"/>
              </a:rPr>
              <a:t>thinking</a:t>
            </a:r>
            <a:r>
              <a:rPr lang="en-US" sz="2200" spc="-40" dirty="0">
                <a:latin typeface="Calibri (Body)"/>
                <a:cs typeface="Times New Roman"/>
              </a:rPr>
              <a:t> </a:t>
            </a:r>
            <a:r>
              <a:rPr lang="en-US" sz="2200" dirty="0">
                <a:latin typeface="Calibri (Body)"/>
                <a:cs typeface="Times New Roman"/>
              </a:rPr>
              <a:t>step</a:t>
            </a:r>
            <a:r>
              <a:rPr lang="en-US" sz="2200" spc="10" dirty="0">
                <a:latin typeface="Calibri (Body)"/>
                <a:cs typeface="Times New Roman"/>
              </a:rPr>
              <a:t> </a:t>
            </a:r>
            <a:r>
              <a:rPr lang="en-US" sz="2200" dirty="0">
                <a:latin typeface="Calibri (Body)"/>
                <a:cs typeface="Times New Roman"/>
              </a:rPr>
              <a:t>by</a:t>
            </a:r>
            <a:r>
              <a:rPr lang="en-US" sz="2200" spc="-40" dirty="0">
                <a:latin typeface="Calibri (Body)"/>
                <a:cs typeface="Times New Roman"/>
              </a:rPr>
              <a:t> </a:t>
            </a:r>
            <a:r>
              <a:rPr lang="en-US" sz="2200" dirty="0">
                <a:latin typeface="Calibri (Body)"/>
                <a:cs typeface="Times New Roman"/>
              </a:rPr>
              <a:t>step</a:t>
            </a:r>
            <a:r>
              <a:rPr lang="en-US" sz="2200" spc="5" dirty="0">
                <a:latin typeface="Calibri (Body)"/>
                <a:cs typeface="Times New Roman"/>
              </a:rPr>
              <a:t> </a:t>
            </a:r>
            <a:r>
              <a:rPr lang="en-US" sz="2200" dirty="0">
                <a:latin typeface="Calibri (Body)"/>
                <a:cs typeface="Times New Roman"/>
              </a:rPr>
              <a:t>from</a:t>
            </a:r>
            <a:r>
              <a:rPr lang="en-US" sz="2200" spc="-10" dirty="0">
                <a:latin typeface="Calibri (Body)"/>
                <a:cs typeface="Times New Roman"/>
              </a:rPr>
              <a:t> </a:t>
            </a:r>
            <a:r>
              <a:rPr lang="en-US" sz="2200" dirty="0">
                <a:latin typeface="Calibri (Body)"/>
                <a:cs typeface="Times New Roman"/>
              </a:rPr>
              <a:t>generalities</a:t>
            </a:r>
            <a:r>
              <a:rPr lang="en-US" sz="2200" spc="15" dirty="0">
                <a:latin typeface="Calibri (Body)"/>
                <a:cs typeface="Times New Roman"/>
              </a:rPr>
              <a:t> </a:t>
            </a:r>
            <a:r>
              <a:rPr lang="en-US" sz="2200" dirty="0">
                <a:latin typeface="Calibri (Body)"/>
                <a:cs typeface="Times New Roman"/>
              </a:rPr>
              <a:t>to</a:t>
            </a:r>
            <a:r>
              <a:rPr lang="en-US" sz="2200" spc="-40" dirty="0">
                <a:latin typeface="Calibri (Body)"/>
                <a:cs typeface="Times New Roman"/>
              </a:rPr>
              <a:t> </a:t>
            </a:r>
            <a:r>
              <a:rPr lang="en-US" sz="2200" spc="-10" dirty="0">
                <a:latin typeface="Calibri (Body)"/>
                <a:cs typeface="Times New Roman"/>
              </a:rPr>
              <a:t>specifics.</a:t>
            </a:r>
            <a:endParaRPr lang="en-US" sz="2200" dirty="0">
              <a:latin typeface="Calibri (Body)"/>
              <a:cs typeface="Times New Roman"/>
            </a:endParaRPr>
          </a:p>
        </p:txBody>
      </p:sp>
      <p:pic>
        <p:nvPicPr>
          <p:cNvPr id="3" name="Picture 2"/>
          <p:cNvPicPr>
            <a:picLocks noChangeAspect="1"/>
          </p:cNvPicPr>
          <p:nvPr/>
        </p:nvPicPr>
        <p:blipFill>
          <a:blip r:embed="rId3"/>
          <a:stretch>
            <a:fillRect/>
          </a:stretch>
        </p:blipFill>
        <p:spPr>
          <a:xfrm>
            <a:off x="3352800" y="2898602"/>
            <a:ext cx="2590800" cy="1060796"/>
          </a:xfrm>
          <a:prstGeom prst="rect">
            <a:avLst/>
          </a:prstGeom>
        </p:spPr>
      </p:pic>
    </p:spTree>
    <p:extLst>
      <p:ext uri="{BB962C8B-B14F-4D97-AF65-F5344CB8AC3E}">
        <p14:creationId xmlns:p14="http://schemas.microsoft.com/office/powerpoint/2010/main" val="8757146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60E8D9-DAE3-46D5-98D6-CB118335950E}" type="datetime1">
              <a:rPr lang="en-US" smtClean="0"/>
              <a:t>5/1/2026</a:t>
            </a:fld>
            <a:endParaRPr lang="en-US"/>
          </a:p>
        </p:txBody>
      </p:sp>
      <p:sp>
        <p:nvSpPr>
          <p:cNvPr id="5" name="Footer Placeholder 4"/>
          <p:cNvSpPr>
            <a:spLocks noGrp="1"/>
          </p:cNvSpPr>
          <p:nvPr>
            <p:ph type="ftr" sz="quarter" idx="11"/>
          </p:nvPr>
        </p:nvSpPr>
        <p:spPr>
          <a:xfrm>
            <a:off x="1981200" y="6120976"/>
            <a:ext cx="54864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a:solidFill>
                  <a:schemeClr val="tx1"/>
                </a:solidFill>
                <a:latin typeface="Times New Roman" panose="02020603050405020304" pitchFamily="18" charset="0"/>
                <a:cs typeface="Times New Roman" panose="02020603050405020304" pitchFamily="18" charset="0"/>
              </a:rPr>
              <a:t>New Management Tools</a:t>
            </a: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371600"/>
            <a:ext cx="8001000" cy="1565813"/>
          </a:xfrm>
          <a:prstGeom prst="rect">
            <a:avLst/>
          </a:prstGeom>
        </p:spPr>
        <p:txBody>
          <a:bodyPr wrap="square">
            <a:spAutoFit/>
          </a:bodyPr>
          <a:lstStyle/>
          <a:p>
            <a:pPr marL="12700" marR="5080" algn="just">
              <a:lnSpc>
                <a:spcPct val="110900"/>
              </a:lnSpc>
              <a:spcBef>
                <a:spcPts val="100"/>
              </a:spcBef>
            </a:pPr>
            <a:r>
              <a:rPr lang="en-US" sz="2200" dirty="0">
                <a:latin typeface="Calibri (Body)"/>
                <a:cs typeface="Times New Roman"/>
              </a:rPr>
              <a:t>4.</a:t>
            </a:r>
            <a:r>
              <a:rPr lang="en-US" sz="2200" spc="70" dirty="0">
                <a:latin typeface="Calibri (Body)"/>
                <a:cs typeface="Times New Roman"/>
              </a:rPr>
              <a:t> </a:t>
            </a:r>
            <a:r>
              <a:rPr lang="en-US" sz="2200" dirty="0">
                <a:latin typeface="Calibri (Body)"/>
                <a:cs typeface="Times New Roman"/>
              </a:rPr>
              <a:t>Matrix</a:t>
            </a:r>
            <a:r>
              <a:rPr lang="en-US" sz="2200" spc="85" dirty="0">
                <a:latin typeface="Calibri (Body)"/>
                <a:cs typeface="Times New Roman"/>
              </a:rPr>
              <a:t> </a:t>
            </a:r>
            <a:r>
              <a:rPr lang="en-US" sz="2200" dirty="0">
                <a:latin typeface="Calibri (Body)"/>
                <a:cs typeface="Times New Roman"/>
              </a:rPr>
              <a:t>diagram:</a:t>
            </a:r>
            <a:r>
              <a:rPr lang="en-US" sz="2200" spc="65" dirty="0">
                <a:latin typeface="Calibri (Body)"/>
                <a:cs typeface="Times New Roman"/>
              </a:rPr>
              <a:t> </a:t>
            </a:r>
            <a:r>
              <a:rPr lang="en-US" sz="2200" dirty="0">
                <a:latin typeface="Calibri (Body)"/>
                <a:cs typeface="Times New Roman"/>
              </a:rPr>
              <a:t>shows</a:t>
            </a:r>
            <a:r>
              <a:rPr lang="en-US" sz="2200" spc="85" dirty="0">
                <a:latin typeface="Calibri (Body)"/>
                <a:cs typeface="Times New Roman"/>
              </a:rPr>
              <a:t> </a:t>
            </a:r>
            <a:r>
              <a:rPr lang="en-US" sz="2200" dirty="0">
                <a:latin typeface="Calibri (Body)"/>
                <a:cs typeface="Times New Roman"/>
              </a:rPr>
              <a:t>the</a:t>
            </a:r>
            <a:r>
              <a:rPr lang="en-US" sz="2200" spc="50" dirty="0">
                <a:latin typeface="Calibri (Body)"/>
                <a:cs typeface="Times New Roman"/>
              </a:rPr>
              <a:t> </a:t>
            </a:r>
            <a:r>
              <a:rPr lang="en-US" sz="2200" dirty="0">
                <a:latin typeface="Calibri (Body)"/>
                <a:cs typeface="Times New Roman"/>
              </a:rPr>
              <a:t>relationship</a:t>
            </a:r>
            <a:r>
              <a:rPr lang="en-US" sz="2200" spc="80" dirty="0">
                <a:latin typeface="Calibri (Body)"/>
                <a:cs typeface="Times New Roman"/>
              </a:rPr>
              <a:t> </a:t>
            </a:r>
            <a:r>
              <a:rPr lang="en-US" sz="2200" dirty="0">
                <a:latin typeface="Calibri (Body)"/>
                <a:cs typeface="Times New Roman"/>
              </a:rPr>
              <a:t>between</a:t>
            </a:r>
            <a:r>
              <a:rPr lang="en-US" sz="2200" spc="60" dirty="0">
                <a:latin typeface="Calibri (Body)"/>
                <a:cs typeface="Times New Roman"/>
              </a:rPr>
              <a:t> </a:t>
            </a:r>
            <a:r>
              <a:rPr lang="en-US" sz="2200" dirty="0">
                <a:latin typeface="Calibri (Body)"/>
                <a:cs typeface="Times New Roman"/>
              </a:rPr>
              <a:t>two,</a:t>
            </a:r>
            <a:r>
              <a:rPr lang="en-US" sz="2200" spc="70" dirty="0">
                <a:latin typeface="Calibri (Body)"/>
                <a:cs typeface="Times New Roman"/>
              </a:rPr>
              <a:t> </a:t>
            </a:r>
            <a:r>
              <a:rPr lang="en-US" sz="2200" dirty="0">
                <a:latin typeface="Calibri (Body)"/>
                <a:cs typeface="Times New Roman"/>
              </a:rPr>
              <a:t>three</a:t>
            </a:r>
            <a:r>
              <a:rPr lang="en-US" sz="2200" spc="75" dirty="0">
                <a:latin typeface="Calibri (Body)"/>
                <a:cs typeface="Times New Roman"/>
              </a:rPr>
              <a:t> </a:t>
            </a:r>
            <a:r>
              <a:rPr lang="en-US" sz="2200" dirty="0">
                <a:latin typeface="Calibri (Body)"/>
                <a:cs typeface="Times New Roman"/>
              </a:rPr>
              <a:t>or</a:t>
            </a:r>
            <a:r>
              <a:rPr lang="en-US" sz="2200" spc="95" dirty="0">
                <a:latin typeface="Calibri (Body)"/>
                <a:cs typeface="Times New Roman"/>
              </a:rPr>
              <a:t> </a:t>
            </a:r>
            <a:r>
              <a:rPr lang="en-US" sz="2200" dirty="0">
                <a:latin typeface="Calibri (Body)"/>
                <a:cs typeface="Times New Roman"/>
              </a:rPr>
              <a:t>four</a:t>
            </a:r>
            <a:r>
              <a:rPr lang="en-US" sz="2200" spc="80" dirty="0">
                <a:latin typeface="Calibri (Body)"/>
                <a:cs typeface="Times New Roman"/>
              </a:rPr>
              <a:t> </a:t>
            </a:r>
            <a:r>
              <a:rPr lang="en-US" sz="2200" dirty="0">
                <a:latin typeface="Calibri (Body)"/>
                <a:cs typeface="Times New Roman"/>
              </a:rPr>
              <a:t>groups</a:t>
            </a:r>
            <a:r>
              <a:rPr lang="en-US" sz="2200" spc="85" dirty="0">
                <a:latin typeface="Calibri (Body)"/>
                <a:cs typeface="Times New Roman"/>
              </a:rPr>
              <a:t> </a:t>
            </a:r>
            <a:r>
              <a:rPr lang="en-US" sz="2200" dirty="0">
                <a:latin typeface="Calibri (Body)"/>
                <a:cs typeface="Times New Roman"/>
              </a:rPr>
              <a:t>of</a:t>
            </a:r>
            <a:r>
              <a:rPr lang="en-US" sz="2200" spc="80" dirty="0">
                <a:latin typeface="Calibri (Body)"/>
                <a:cs typeface="Times New Roman"/>
              </a:rPr>
              <a:t> </a:t>
            </a:r>
            <a:r>
              <a:rPr lang="en-US" sz="2200" dirty="0">
                <a:latin typeface="Calibri (Body)"/>
                <a:cs typeface="Times New Roman"/>
              </a:rPr>
              <a:t>information</a:t>
            </a:r>
            <a:r>
              <a:rPr lang="en-US" sz="2200" spc="60" dirty="0">
                <a:latin typeface="Calibri (Body)"/>
                <a:cs typeface="Times New Roman"/>
              </a:rPr>
              <a:t> </a:t>
            </a:r>
            <a:r>
              <a:rPr lang="en-US" sz="2200" dirty="0">
                <a:latin typeface="Calibri (Body)"/>
                <a:cs typeface="Times New Roman"/>
              </a:rPr>
              <a:t>and</a:t>
            </a:r>
            <a:r>
              <a:rPr lang="en-US" sz="2200" spc="55" dirty="0">
                <a:latin typeface="Calibri (Body)"/>
                <a:cs typeface="Times New Roman"/>
              </a:rPr>
              <a:t> </a:t>
            </a:r>
            <a:r>
              <a:rPr lang="en-US" sz="2200" spc="-25" dirty="0">
                <a:latin typeface="Calibri (Body)"/>
                <a:cs typeface="Times New Roman"/>
              </a:rPr>
              <a:t>can </a:t>
            </a:r>
            <a:r>
              <a:rPr lang="en-US" sz="2200" dirty="0">
                <a:latin typeface="Calibri (Body)"/>
                <a:cs typeface="Times New Roman"/>
              </a:rPr>
              <a:t>give</a:t>
            </a:r>
            <a:r>
              <a:rPr lang="en-US" sz="2200" spc="-35" dirty="0">
                <a:latin typeface="Calibri (Body)"/>
                <a:cs typeface="Times New Roman"/>
              </a:rPr>
              <a:t> </a:t>
            </a:r>
            <a:r>
              <a:rPr lang="en-US" sz="2200" dirty="0">
                <a:latin typeface="Calibri (Body)"/>
                <a:cs typeface="Times New Roman"/>
              </a:rPr>
              <a:t>information</a:t>
            </a:r>
            <a:r>
              <a:rPr lang="en-US" sz="2200" spc="-25" dirty="0">
                <a:latin typeface="Calibri (Body)"/>
                <a:cs typeface="Times New Roman"/>
              </a:rPr>
              <a:t> </a:t>
            </a:r>
            <a:r>
              <a:rPr lang="en-US" sz="2200" dirty="0">
                <a:latin typeface="Calibri (Body)"/>
                <a:cs typeface="Times New Roman"/>
              </a:rPr>
              <a:t>about</a:t>
            </a:r>
            <a:r>
              <a:rPr lang="en-US" sz="2200" spc="10" dirty="0">
                <a:latin typeface="Calibri (Body)"/>
                <a:cs typeface="Times New Roman"/>
              </a:rPr>
              <a:t> </a:t>
            </a:r>
            <a:r>
              <a:rPr lang="en-US" sz="2200" dirty="0">
                <a:latin typeface="Calibri (Body)"/>
                <a:cs typeface="Times New Roman"/>
              </a:rPr>
              <a:t>the</a:t>
            </a:r>
            <a:r>
              <a:rPr lang="en-US" sz="2200" spc="-35" dirty="0">
                <a:latin typeface="Calibri (Body)"/>
                <a:cs typeface="Times New Roman"/>
              </a:rPr>
              <a:t> </a:t>
            </a:r>
            <a:r>
              <a:rPr lang="en-US" sz="2200" dirty="0">
                <a:latin typeface="Calibri (Body)"/>
                <a:cs typeface="Times New Roman"/>
              </a:rPr>
              <a:t>relationship,</a:t>
            </a:r>
            <a:r>
              <a:rPr lang="en-US" sz="2200" spc="10" dirty="0">
                <a:latin typeface="Calibri (Body)"/>
                <a:cs typeface="Times New Roman"/>
              </a:rPr>
              <a:t> </a:t>
            </a:r>
            <a:r>
              <a:rPr lang="en-US" sz="2200" dirty="0">
                <a:latin typeface="Calibri (Body)"/>
                <a:cs typeface="Times New Roman"/>
              </a:rPr>
              <a:t>such</a:t>
            </a:r>
            <a:r>
              <a:rPr lang="en-US" sz="2200" spc="-20" dirty="0">
                <a:latin typeface="Calibri (Body)"/>
                <a:cs typeface="Times New Roman"/>
              </a:rPr>
              <a:t> </a:t>
            </a:r>
            <a:r>
              <a:rPr lang="en-US" sz="2200" dirty="0">
                <a:latin typeface="Calibri (Body)"/>
                <a:cs typeface="Times New Roman"/>
              </a:rPr>
              <a:t>as its strength,</a:t>
            </a:r>
            <a:r>
              <a:rPr lang="en-US" sz="2200" spc="15" dirty="0">
                <a:latin typeface="Calibri (Body)"/>
                <a:cs typeface="Times New Roman"/>
              </a:rPr>
              <a:t> </a:t>
            </a:r>
            <a:r>
              <a:rPr lang="en-US" sz="2200" dirty="0">
                <a:latin typeface="Calibri (Body)"/>
                <a:cs typeface="Times New Roman"/>
              </a:rPr>
              <a:t>the</a:t>
            </a:r>
            <a:r>
              <a:rPr lang="en-US" sz="2200" spc="-35" dirty="0">
                <a:latin typeface="Calibri (Body)"/>
                <a:cs typeface="Times New Roman"/>
              </a:rPr>
              <a:t> </a:t>
            </a:r>
            <a:r>
              <a:rPr lang="en-US" sz="2200" dirty="0">
                <a:latin typeface="Calibri (Body)"/>
                <a:cs typeface="Times New Roman"/>
              </a:rPr>
              <a:t>roles played</a:t>
            </a:r>
            <a:r>
              <a:rPr lang="en-US" sz="2200" spc="-20" dirty="0">
                <a:latin typeface="Calibri (Body)"/>
                <a:cs typeface="Times New Roman"/>
              </a:rPr>
              <a:t> </a:t>
            </a:r>
            <a:r>
              <a:rPr lang="en-US" sz="2200" dirty="0">
                <a:latin typeface="Calibri (Body)"/>
                <a:cs typeface="Times New Roman"/>
              </a:rPr>
              <a:t>by various individuals,</a:t>
            </a:r>
            <a:r>
              <a:rPr lang="en-US" sz="2200" spc="20" dirty="0">
                <a:latin typeface="Calibri (Body)"/>
                <a:cs typeface="Times New Roman"/>
              </a:rPr>
              <a:t> </a:t>
            </a:r>
            <a:r>
              <a:rPr lang="en-US" sz="2200" spc="-25" dirty="0">
                <a:latin typeface="Calibri (Body)"/>
                <a:cs typeface="Times New Roman"/>
              </a:rPr>
              <a:t>or </a:t>
            </a:r>
            <a:r>
              <a:rPr lang="en-US" sz="2200" spc="-10" dirty="0">
                <a:latin typeface="Calibri (Body)"/>
                <a:cs typeface="Times New Roman"/>
              </a:rPr>
              <a:t>measurements.</a:t>
            </a:r>
            <a:endParaRPr lang="en-US" sz="2200" dirty="0">
              <a:latin typeface="Calibri (Body)"/>
              <a:cs typeface="Times New Roman"/>
            </a:endParaRPr>
          </a:p>
        </p:txBody>
      </p:sp>
      <p:pic>
        <p:nvPicPr>
          <p:cNvPr id="3" name="Picture 2"/>
          <p:cNvPicPr>
            <a:picLocks noChangeAspect="1"/>
          </p:cNvPicPr>
          <p:nvPr/>
        </p:nvPicPr>
        <p:blipFill>
          <a:blip r:embed="rId3"/>
          <a:stretch>
            <a:fillRect/>
          </a:stretch>
        </p:blipFill>
        <p:spPr>
          <a:xfrm>
            <a:off x="2895600" y="3166013"/>
            <a:ext cx="3200400" cy="1295400"/>
          </a:xfrm>
          <a:prstGeom prst="rect">
            <a:avLst/>
          </a:prstGeom>
        </p:spPr>
      </p:pic>
    </p:spTree>
    <p:extLst>
      <p:ext uri="{BB962C8B-B14F-4D97-AF65-F5344CB8AC3E}">
        <p14:creationId xmlns:p14="http://schemas.microsoft.com/office/powerpoint/2010/main" val="15297173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0F589E-2B05-42BE-A062-4916A2DDD42B}" type="datetime1">
              <a:rPr lang="en-US" smtClean="0"/>
              <a:t>5/1/2026</a:t>
            </a:fld>
            <a:endParaRPr lang="en-US"/>
          </a:p>
        </p:txBody>
      </p:sp>
      <p:sp>
        <p:nvSpPr>
          <p:cNvPr id="5" name="Footer Placeholder 4"/>
          <p:cNvSpPr>
            <a:spLocks noGrp="1"/>
          </p:cNvSpPr>
          <p:nvPr>
            <p:ph type="ftr" sz="quarter" idx="11"/>
          </p:nvPr>
        </p:nvSpPr>
        <p:spPr>
          <a:xfrm>
            <a:off x="2133600" y="6356350"/>
            <a:ext cx="54864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a:solidFill>
                  <a:schemeClr val="tx1"/>
                </a:solidFill>
                <a:latin typeface="Times New Roman" panose="02020603050405020304" pitchFamily="18" charset="0"/>
                <a:cs typeface="Times New Roman" panose="02020603050405020304" pitchFamily="18" charset="0"/>
              </a:rPr>
              <a:t>New Management Tools</a:t>
            </a: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85800" y="1295400"/>
            <a:ext cx="8077200" cy="2670283"/>
          </a:xfrm>
          <a:prstGeom prst="rect">
            <a:avLst/>
          </a:prstGeom>
        </p:spPr>
        <p:txBody>
          <a:bodyPr wrap="square">
            <a:spAutoFit/>
          </a:bodyPr>
          <a:lstStyle/>
          <a:p>
            <a:pPr marL="12700" marR="5080" algn="just">
              <a:lnSpc>
                <a:spcPct val="110400"/>
              </a:lnSpc>
              <a:spcBef>
                <a:spcPts val="105"/>
              </a:spcBef>
            </a:pPr>
            <a:r>
              <a:rPr lang="en-US" sz="2200" dirty="0">
                <a:latin typeface="Calibri (Body)"/>
                <a:cs typeface="Times New Roman"/>
              </a:rPr>
              <a:t>5.</a:t>
            </a:r>
            <a:r>
              <a:rPr lang="en-US" sz="2200" spc="75" dirty="0">
                <a:latin typeface="Calibri (Body)"/>
                <a:cs typeface="Times New Roman"/>
              </a:rPr>
              <a:t> </a:t>
            </a:r>
            <a:r>
              <a:rPr lang="en-US" sz="2200" dirty="0">
                <a:latin typeface="Calibri (Body)"/>
                <a:cs typeface="Times New Roman"/>
              </a:rPr>
              <a:t>Matrix</a:t>
            </a:r>
            <a:r>
              <a:rPr lang="en-US" sz="2200" spc="90" dirty="0">
                <a:latin typeface="Calibri (Body)"/>
                <a:cs typeface="Times New Roman"/>
              </a:rPr>
              <a:t> </a:t>
            </a:r>
            <a:r>
              <a:rPr lang="en-US" sz="2200" dirty="0">
                <a:latin typeface="Calibri (Body)"/>
                <a:cs typeface="Times New Roman"/>
              </a:rPr>
              <a:t>data</a:t>
            </a:r>
            <a:r>
              <a:rPr lang="en-US" sz="2200" spc="50" dirty="0">
                <a:latin typeface="Calibri (Body)"/>
                <a:cs typeface="Times New Roman"/>
              </a:rPr>
              <a:t> </a:t>
            </a:r>
            <a:r>
              <a:rPr lang="en-US" sz="2200" dirty="0">
                <a:latin typeface="Calibri (Body)"/>
                <a:cs typeface="Times New Roman"/>
              </a:rPr>
              <a:t>analysis:</a:t>
            </a:r>
            <a:r>
              <a:rPr lang="en-US" sz="2200" spc="75" dirty="0">
                <a:latin typeface="Calibri (Body)"/>
                <a:cs typeface="Times New Roman"/>
              </a:rPr>
              <a:t> </a:t>
            </a:r>
            <a:r>
              <a:rPr lang="en-US" sz="2200" dirty="0">
                <a:latin typeface="Calibri (Body)"/>
                <a:cs typeface="Times New Roman"/>
              </a:rPr>
              <a:t>a</a:t>
            </a:r>
            <a:r>
              <a:rPr lang="en-US" sz="2200" spc="105" dirty="0">
                <a:latin typeface="Calibri (Body)"/>
                <a:cs typeface="Times New Roman"/>
              </a:rPr>
              <a:t> </a:t>
            </a:r>
            <a:r>
              <a:rPr lang="en-US" sz="2200" dirty="0">
                <a:latin typeface="Calibri (Body)"/>
                <a:cs typeface="Times New Roman"/>
              </a:rPr>
              <a:t>complex</a:t>
            </a:r>
            <a:r>
              <a:rPr lang="en-US" sz="2200" spc="110" dirty="0">
                <a:latin typeface="Calibri (Body)"/>
                <a:cs typeface="Times New Roman"/>
              </a:rPr>
              <a:t> </a:t>
            </a:r>
            <a:r>
              <a:rPr lang="en-US" sz="2200" dirty="0">
                <a:latin typeface="Calibri (Body)"/>
                <a:cs typeface="Times New Roman"/>
              </a:rPr>
              <a:t>mathematical</a:t>
            </a:r>
            <a:r>
              <a:rPr lang="en-US" sz="2200" spc="70" dirty="0">
                <a:latin typeface="Calibri (Body)"/>
                <a:cs typeface="Times New Roman"/>
              </a:rPr>
              <a:t> </a:t>
            </a:r>
            <a:r>
              <a:rPr lang="en-US" sz="2200" dirty="0">
                <a:latin typeface="Calibri (Body)"/>
                <a:cs typeface="Times New Roman"/>
              </a:rPr>
              <a:t>technique</a:t>
            </a:r>
            <a:r>
              <a:rPr lang="en-US" sz="2200" spc="50" dirty="0">
                <a:latin typeface="Calibri (Body)"/>
                <a:cs typeface="Times New Roman"/>
              </a:rPr>
              <a:t> </a:t>
            </a:r>
            <a:r>
              <a:rPr lang="en-US" sz="2200" dirty="0">
                <a:latin typeface="Calibri (Body)"/>
                <a:cs typeface="Times New Roman"/>
              </a:rPr>
              <a:t>for</a:t>
            </a:r>
            <a:r>
              <a:rPr lang="en-US" sz="2200" spc="105" dirty="0">
                <a:latin typeface="Calibri (Body)"/>
                <a:cs typeface="Times New Roman"/>
              </a:rPr>
              <a:t> </a:t>
            </a:r>
            <a:r>
              <a:rPr lang="en-US" sz="2200" dirty="0">
                <a:latin typeface="Calibri (Body)"/>
                <a:cs typeface="Times New Roman"/>
              </a:rPr>
              <a:t>analyzing</a:t>
            </a:r>
            <a:r>
              <a:rPr lang="en-US" sz="2200" spc="85" dirty="0">
                <a:latin typeface="Calibri (Body)"/>
                <a:cs typeface="Times New Roman"/>
              </a:rPr>
              <a:t> </a:t>
            </a:r>
            <a:r>
              <a:rPr lang="en-US" sz="2200" dirty="0">
                <a:latin typeface="Calibri (Body)"/>
                <a:cs typeface="Times New Roman"/>
              </a:rPr>
              <a:t>matrices,</a:t>
            </a:r>
            <a:r>
              <a:rPr lang="en-US" sz="2200" spc="105" dirty="0">
                <a:latin typeface="Calibri (Body)"/>
                <a:cs typeface="Times New Roman"/>
              </a:rPr>
              <a:t> </a:t>
            </a:r>
            <a:r>
              <a:rPr lang="en-US" sz="2200" dirty="0">
                <a:latin typeface="Calibri (Body)"/>
                <a:cs typeface="Times New Roman"/>
              </a:rPr>
              <a:t>often</a:t>
            </a:r>
            <a:r>
              <a:rPr lang="en-US" sz="2200" spc="60" dirty="0">
                <a:latin typeface="Calibri (Body)"/>
                <a:cs typeface="Times New Roman"/>
              </a:rPr>
              <a:t> </a:t>
            </a:r>
            <a:r>
              <a:rPr lang="en-US" sz="2200" dirty="0">
                <a:latin typeface="Calibri (Body)"/>
                <a:cs typeface="Times New Roman"/>
              </a:rPr>
              <a:t>replaced</a:t>
            </a:r>
            <a:r>
              <a:rPr lang="en-US" sz="2200" spc="65" dirty="0">
                <a:latin typeface="Calibri (Body)"/>
                <a:cs typeface="Times New Roman"/>
              </a:rPr>
              <a:t> </a:t>
            </a:r>
            <a:r>
              <a:rPr lang="en-US" sz="2200" spc="-25" dirty="0">
                <a:latin typeface="Calibri (Body)"/>
                <a:cs typeface="Times New Roman"/>
              </a:rPr>
              <a:t>in </a:t>
            </a:r>
            <a:r>
              <a:rPr lang="en-US" sz="2200" dirty="0">
                <a:latin typeface="Calibri (Body)"/>
                <a:cs typeface="Times New Roman"/>
              </a:rPr>
              <a:t>this</a:t>
            </a:r>
            <a:r>
              <a:rPr lang="en-US" sz="2200" spc="80" dirty="0">
                <a:latin typeface="Calibri (Body)"/>
                <a:cs typeface="Times New Roman"/>
              </a:rPr>
              <a:t> </a:t>
            </a:r>
            <a:r>
              <a:rPr lang="en-US" sz="2200" dirty="0">
                <a:latin typeface="Calibri (Body)"/>
                <a:cs typeface="Times New Roman"/>
              </a:rPr>
              <a:t>list</a:t>
            </a:r>
            <a:r>
              <a:rPr lang="en-US" sz="2200" spc="60" dirty="0">
                <a:latin typeface="Calibri (Body)"/>
                <a:cs typeface="Times New Roman"/>
              </a:rPr>
              <a:t> </a:t>
            </a:r>
            <a:r>
              <a:rPr lang="en-US" sz="2200" dirty="0">
                <a:latin typeface="Calibri (Body)"/>
                <a:cs typeface="Times New Roman"/>
              </a:rPr>
              <a:t>by</a:t>
            </a:r>
            <a:r>
              <a:rPr lang="en-US" sz="2200" spc="35" dirty="0">
                <a:latin typeface="Calibri (Body)"/>
                <a:cs typeface="Times New Roman"/>
              </a:rPr>
              <a:t> </a:t>
            </a:r>
            <a:r>
              <a:rPr lang="en-US" sz="2200" dirty="0">
                <a:latin typeface="Calibri (Body)"/>
                <a:cs typeface="Times New Roman"/>
              </a:rPr>
              <a:t>the</a:t>
            </a:r>
            <a:r>
              <a:rPr lang="en-US" sz="2200" spc="40" dirty="0">
                <a:latin typeface="Calibri (Body)"/>
                <a:cs typeface="Times New Roman"/>
              </a:rPr>
              <a:t> </a:t>
            </a:r>
            <a:r>
              <a:rPr lang="en-US" sz="2200" dirty="0">
                <a:latin typeface="Calibri (Body)"/>
                <a:cs typeface="Times New Roman"/>
              </a:rPr>
              <a:t>similar</a:t>
            </a:r>
            <a:r>
              <a:rPr lang="en-US" sz="2200" spc="75" dirty="0">
                <a:latin typeface="Calibri (Body)"/>
                <a:cs typeface="Times New Roman"/>
              </a:rPr>
              <a:t> </a:t>
            </a:r>
            <a:r>
              <a:rPr lang="en-US" sz="2200" dirty="0">
                <a:latin typeface="Calibri (Body)"/>
                <a:cs typeface="Times New Roman"/>
              </a:rPr>
              <a:t>prioritization</a:t>
            </a:r>
            <a:r>
              <a:rPr lang="en-US" sz="2200" spc="50" dirty="0">
                <a:latin typeface="Calibri (Body)"/>
                <a:cs typeface="Times New Roman"/>
              </a:rPr>
              <a:t> </a:t>
            </a:r>
            <a:r>
              <a:rPr lang="en-US" sz="2200" dirty="0">
                <a:latin typeface="Calibri (Body)"/>
                <a:cs typeface="Times New Roman"/>
              </a:rPr>
              <a:t>matrix.</a:t>
            </a:r>
            <a:r>
              <a:rPr lang="en-US" sz="2200" spc="65" dirty="0">
                <a:latin typeface="Calibri (Body)"/>
                <a:cs typeface="Times New Roman"/>
              </a:rPr>
              <a:t> </a:t>
            </a:r>
            <a:r>
              <a:rPr lang="en-US" sz="2200" dirty="0">
                <a:latin typeface="Calibri (Body)"/>
                <a:cs typeface="Times New Roman"/>
              </a:rPr>
              <a:t>One</a:t>
            </a:r>
            <a:r>
              <a:rPr lang="en-US" sz="2200" spc="45" dirty="0">
                <a:latin typeface="Calibri (Body)"/>
                <a:cs typeface="Times New Roman"/>
              </a:rPr>
              <a:t> </a:t>
            </a:r>
            <a:r>
              <a:rPr lang="en-US" sz="2200" dirty="0">
                <a:latin typeface="Calibri (Body)"/>
                <a:cs typeface="Times New Roman"/>
              </a:rPr>
              <a:t>of</a:t>
            </a:r>
            <a:r>
              <a:rPr lang="en-US" sz="2200" spc="45" dirty="0">
                <a:latin typeface="Calibri (Body)"/>
                <a:cs typeface="Times New Roman"/>
              </a:rPr>
              <a:t> </a:t>
            </a:r>
            <a:r>
              <a:rPr lang="en-US" sz="2200" dirty="0">
                <a:latin typeface="Calibri (Body)"/>
                <a:cs typeface="Times New Roman"/>
              </a:rPr>
              <a:t>the</a:t>
            </a:r>
            <a:r>
              <a:rPr lang="en-US" sz="2200" spc="70" dirty="0">
                <a:latin typeface="Calibri (Body)"/>
                <a:cs typeface="Times New Roman"/>
              </a:rPr>
              <a:t> </a:t>
            </a:r>
            <a:r>
              <a:rPr lang="en-US" sz="2200" dirty="0">
                <a:latin typeface="Calibri (Body)"/>
                <a:cs typeface="Times New Roman"/>
              </a:rPr>
              <a:t>most</a:t>
            </a:r>
            <a:r>
              <a:rPr lang="en-US" sz="2200" spc="60" dirty="0">
                <a:latin typeface="Calibri (Body)"/>
                <a:cs typeface="Times New Roman"/>
              </a:rPr>
              <a:t> </a:t>
            </a:r>
            <a:r>
              <a:rPr lang="en-US" sz="2200" dirty="0">
                <a:latin typeface="Calibri (Body)"/>
                <a:cs typeface="Times New Roman"/>
              </a:rPr>
              <a:t>rigorous,</a:t>
            </a:r>
            <a:r>
              <a:rPr lang="en-US" sz="2200" spc="65" dirty="0">
                <a:latin typeface="Calibri (Body)"/>
                <a:cs typeface="Times New Roman"/>
              </a:rPr>
              <a:t> </a:t>
            </a:r>
            <a:r>
              <a:rPr lang="en-US" sz="2200" dirty="0">
                <a:latin typeface="Calibri (Body)"/>
                <a:cs typeface="Times New Roman"/>
              </a:rPr>
              <a:t>careful</a:t>
            </a:r>
            <a:r>
              <a:rPr lang="en-US" sz="2200" spc="40" dirty="0">
                <a:latin typeface="Calibri (Body)"/>
                <a:cs typeface="Times New Roman"/>
              </a:rPr>
              <a:t> </a:t>
            </a:r>
            <a:r>
              <a:rPr lang="en-US" sz="2200" dirty="0">
                <a:latin typeface="Calibri (Body)"/>
                <a:cs typeface="Times New Roman"/>
              </a:rPr>
              <a:t>and</a:t>
            </a:r>
            <a:r>
              <a:rPr lang="en-US" sz="2200" spc="30" dirty="0">
                <a:latin typeface="Calibri (Body)"/>
                <a:cs typeface="Times New Roman"/>
              </a:rPr>
              <a:t> </a:t>
            </a:r>
            <a:r>
              <a:rPr lang="en-US" sz="2200" dirty="0">
                <a:latin typeface="Calibri (Body)"/>
                <a:cs typeface="Times New Roman"/>
              </a:rPr>
              <a:t>time-consuming</a:t>
            </a:r>
            <a:r>
              <a:rPr lang="en-US" sz="2200" spc="55" dirty="0">
                <a:latin typeface="Calibri (Body)"/>
                <a:cs typeface="Times New Roman"/>
              </a:rPr>
              <a:t> </a:t>
            </a:r>
            <a:r>
              <a:rPr lang="en-US" sz="2200" spc="-25" dirty="0">
                <a:latin typeface="Calibri (Body)"/>
                <a:cs typeface="Times New Roman"/>
              </a:rPr>
              <a:t>of </a:t>
            </a:r>
            <a:r>
              <a:rPr lang="en-US" sz="2200" spc="-10" dirty="0">
                <a:latin typeface="Calibri (Body)"/>
                <a:cs typeface="Times New Roman"/>
              </a:rPr>
              <a:t>decision-</a:t>
            </a:r>
            <a:r>
              <a:rPr lang="en-US" sz="2200" dirty="0">
                <a:latin typeface="Calibri (Body)"/>
                <a:cs typeface="Times New Roman"/>
              </a:rPr>
              <a:t>making</a:t>
            </a:r>
            <a:r>
              <a:rPr lang="en-US" sz="2200" spc="-25" dirty="0">
                <a:latin typeface="Calibri (Body)"/>
                <a:cs typeface="Times New Roman"/>
              </a:rPr>
              <a:t> </a:t>
            </a:r>
            <a:r>
              <a:rPr lang="en-US" sz="2200" dirty="0">
                <a:latin typeface="Calibri (Body)"/>
                <a:cs typeface="Times New Roman"/>
              </a:rPr>
              <a:t>tools,</a:t>
            </a:r>
            <a:r>
              <a:rPr lang="en-US" sz="2200" spc="15" dirty="0">
                <a:latin typeface="Calibri (Body)"/>
                <a:cs typeface="Times New Roman"/>
              </a:rPr>
              <a:t> </a:t>
            </a:r>
            <a:r>
              <a:rPr lang="en-US" sz="2200" dirty="0">
                <a:latin typeface="Calibri (Body)"/>
                <a:cs typeface="Times New Roman"/>
              </a:rPr>
              <a:t>a</a:t>
            </a:r>
            <a:r>
              <a:rPr lang="en-US" sz="2200" spc="15" dirty="0">
                <a:latin typeface="Calibri (Body)"/>
                <a:cs typeface="Times New Roman"/>
              </a:rPr>
              <a:t> </a:t>
            </a:r>
            <a:r>
              <a:rPr lang="en-US" sz="2200" dirty="0">
                <a:latin typeface="Calibri (Body)"/>
                <a:cs typeface="Times New Roman"/>
              </a:rPr>
              <a:t>prioritization matrix</a:t>
            </a:r>
            <a:r>
              <a:rPr lang="en-US" sz="2200" spc="5" dirty="0">
                <a:latin typeface="Calibri (Body)"/>
                <a:cs typeface="Times New Roman"/>
              </a:rPr>
              <a:t> </a:t>
            </a:r>
            <a:r>
              <a:rPr lang="en-US" sz="2200" dirty="0">
                <a:latin typeface="Calibri (Body)"/>
                <a:cs typeface="Times New Roman"/>
              </a:rPr>
              <a:t>is</a:t>
            </a:r>
            <a:r>
              <a:rPr lang="en-US" sz="2200" spc="30" dirty="0">
                <a:latin typeface="Calibri (Body)"/>
                <a:cs typeface="Times New Roman"/>
              </a:rPr>
              <a:t> </a:t>
            </a:r>
            <a:r>
              <a:rPr lang="en-US" sz="2200" dirty="0">
                <a:latin typeface="Calibri (Body)"/>
                <a:cs typeface="Times New Roman"/>
              </a:rPr>
              <a:t>an</a:t>
            </a:r>
            <a:r>
              <a:rPr lang="en-US" sz="2200" spc="-25" dirty="0">
                <a:latin typeface="Calibri (Body)"/>
                <a:cs typeface="Times New Roman"/>
              </a:rPr>
              <a:t> </a:t>
            </a:r>
            <a:r>
              <a:rPr lang="en-US" sz="2200" spc="-10" dirty="0">
                <a:latin typeface="Calibri (Body)"/>
                <a:cs typeface="Times New Roman"/>
              </a:rPr>
              <a:t>L-</a:t>
            </a:r>
            <a:r>
              <a:rPr lang="en-US" sz="2200" dirty="0">
                <a:latin typeface="Calibri (Body)"/>
                <a:cs typeface="Times New Roman"/>
              </a:rPr>
              <a:t>shaped matrix that</a:t>
            </a:r>
            <a:r>
              <a:rPr lang="en-US" sz="2200" spc="5" dirty="0">
                <a:latin typeface="Calibri (Body)"/>
                <a:cs typeface="Times New Roman"/>
              </a:rPr>
              <a:t> </a:t>
            </a:r>
            <a:r>
              <a:rPr lang="en-US" sz="2200" dirty="0">
                <a:latin typeface="Calibri (Body)"/>
                <a:cs typeface="Times New Roman"/>
              </a:rPr>
              <a:t>uses</a:t>
            </a:r>
            <a:r>
              <a:rPr lang="en-US" sz="2200" spc="5" dirty="0">
                <a:latin typeface="Calibri (Body)"/>
                <a:cs typeface="Times New Roman"/>
              </a:rPr>
              <a:t> </a:t>
            </a:r>
            <a:r>
              <a:rPr lang="en-US" sz="2200" dirty="0">
                <a:latin typeface="Calibri (Body)"/>
                <a:cs typeface="Times New Roman"/>
              </a:rPr>
              <a:t>pair</a:t>
            </a:r>
            <a:r>
              <a:rPr lang="en-US" sz="2200" spc="15" dirty="0">
                <a:latin typeface="Calibri (Body)"/>
                <a:cs typeface="Times New Roman"/>
              </a:rPr>
              <a:t> </a:t>
            </a:r>
            <a:r>
              <a:rPr lang="en-US" sz="2200" dirty="0">
                <a:latin typeface="Calibri (Body)"/>
                <a:cs typeface="Times New Roman"/>
              </a:rPr>
              <a:t>wise</a:t>
            </a:r>
            <a:r>
              <a:rPr lang="en-US" sz="2200" spc="-35" dirty="0">
                <a:latin typeface="Calibri (Body)"/>
                <a:cs typeface="Times New Roman"/>
              </a:rPr>
              <a:t> </a:t>
            </a:r>
            <a:r>
              <a:rPr lang="en-US" sz="2200" dirty="0">
                <a:latin typeface="Calibri (Body)"/>
                <a:cs typeface="Times New Roman"/>
              </a:rPr>
              <a:t>comparisons </a:t>
            </a:r>
            <a:r>
              <a:rPr lang="en-US" sz="2200" spc="-25" dirty="0">
                <a:latin typeface="Calibri (Body)"/>
                <a:cs typeface="Times New Roman"/>
              </a:rPr>
              <a:t>of </a:t>
            </a:r>
            <a:r>
              <a:rPr lang="en-US" sz="2200" dirty="0">
                <a:latin typeface="Calibri (Body)"/>
                <a:cs typeface="Times New Roman"/>
              </a:rPr>
              <a:t>a</a:t>
            </a:r>
            <a:r>
              <a:rPr lang="en-US" sz="2200" spc="35" dirty="0">
                <a:latin typeface="Calibri (Body)"/>
                <a:cs typeface="Times New Roman"/>
              </a:rPr>
              <a:t> </a:t>
            </a:r>
            <a:r>
              <a:rPr lang="en-US" sz="2200" dirty="0">
                <a:latin typeface="Calibri (Body)"/>
                <a:cs typeface="Times New Roman"/>
              </a:rPr>
              <a:t>list</a:t>
            </a:r>
            <a:r>
              <a:rPr lang="en-US" sz="2200" spc="10" dirty="0">
                <a:latin typeface="Calibri (Body)"/>
                <a:cs typeface="Times New Roman"/>
              </a:rPr>
              <a:t> </a:t>
            </a:r>
            <a:r>
              <a:rPr lang="en-US" sz="2200" dirty="0">
                <a:latin typeface="Calibri (Body)"/>
                <a:cs typeface="Times New Roman"/>
              </a:rPr>
              <a:t>of</a:t>
            </a:r>
            <a:r>
              <a:rPr lang="en-US" sz="2200" spc="-5" dirty="0">
                <a:latin typeface="Calibri (Body)"/>
                <a:cs typeface="Times New Roman"/>
              </a:rPr>
              <a:t> </a:t>
            </a:r>
            <a:r>
              <a:rPr lang="en-US" sz="2200" dirty="0">
                <a:latin typeface="Calibri (Body)"/>
                <a:cs typeface="Times New Roman"/>
              </a:rPr>
              <a:t>options to</a:t>
            </a:r>
            <a:r>
              <a:rPr lang="en-US" sz="2200" spc="-45" dirty="0">
                <a:latin typeface="Calibri (Body)"/>
                <a:cs typeface="Times New Roman"/>
              </a:rPr>
              <a:t> </a:t>
            </a:r>
            <a:r>
              <a:rPr lang="en-US" sz="2200" dirty="0">
                <a:latin typeface="Calibri (Body)"/>
                <a:cs typeface="Times New Roman"/>
              </a:rPr>
              <a:t>a</a:t>
            </a:r>
            <a:r>
              <a:rPr lang="en-US" sz="2200" spc="40" dirty="0">
                <a:latin typeface="Calibri (Body)"/>
                <a:cs typeface="Times New Roman"/>
              </a:rPr>
              <a:t> </a:t>
            </a:r>
            <a:r>
              <a:rPr lang="en-US" sz="2200" dirty="0">
                <a:latin typeface="Calibri (Body)"/>
                <a:cs typeface="Times New Roman"/>
              </a:rPr>
              <a:t>set</a:t>
            </a:r>
            <a:r>
              <a:rPr lang="en-US" sz="2200" spc="25" dirty="0">
                <a:latin typeface="Calibri (Body)"/>
                <a:cs typeface="Times New Roman"/>
              </a:rPr>
              <a:t> </a:t>
            </a:r>
            <a:r>
              <a:rPr lang="en-US" sz="2200" dirty="0">
                <a:latin typeface="Calibri (Body)"/>
                <a:cs typeface="Times New Roman"/>
              </a:rPr>
              <a:t>of</a:t>
            </a:r>
            <a:r>
              <a:rPr lang="en-US" sz="2200" spc="-5" dirty="0">
                <a:latin typeface="Calibri (Body)"/>
                <a:cs typeface="Times New Roman"/>
              </a:rPr>
              <a:t> </a:t>
            </a:r>
            <a:r>
              <a:rPr lang="en-US" sz="2200" dirty="0">
                <a:latin typeface="Calibri (Body)"/>
                <a:cs typeface="Times New Roman"/>
              </a:rPr>
              <a:t>criteria</a:t>
            </a:r>
            <a:r>
              <a:rPr lang="en-US" sz="2200" spc="45" dirty="0">
                <a:latin typeface="Calibri (Body)"/>
                <a:cs typeface="Times New Roman"/>
              </a:rPr>
              <a:t> </a:t>
            </a:r>
            <a:r>
              <a:rPr lang="en-US" sz="2200" dirty="0">
                <a:latin typeface="Calibri (Body)"/>
                <a:cs typeface="Times New Roman"/>
              </a:rPr>
              <a:t>in</a:t>
            </a:r>
            <a:r>
              <a:rPr lang="en-US" sz="2200" spc="-25" dirty="0">
                <a:latin typeface="Calibri (Body)"/>
                <a:cs typeface="Times New Roman"/>
              </a:rPr>
              <a:t> </a:t>
            </a:r>
            <a:r>
              <a:rPr lang="en-US" sz="2200" dirty="0">
                <a:latin typeface="Calibri (Body)"/>
                <a:cs typeface="Times New Roman"/>
              </a:rPr>
              <a:t>order</a:t>
            </a:r>
            <a:r>
              <a:rPr lang="en-US" sz="2200" spc="35" dirty="0">
                <a:latin typeface="Calibri (Body)"/>
                <a:cs typeface="Times New Roman"/>
              </a:rPr>
              <a:t> </a:t>
            </a:r>
            <a:r>
              <a:rPr lang="en-US" sz="2200" dirty="0">
                <a:latin typeface="Calibri (Body)"/>
                <a:cs typeface="Times New Roman"/>
              </a:rPr>
              <a:t>to</a:t>
            </a:r>
            <a:r>
              <a:rPr lang="en-US" sz="2200" spc="-45" dirty="0">
                <a:latin typeface="Calibri (Body)"/>
                <a:cs typeface="Times New Roman"/>
              </a:rPr>
              <a:t> </a:t>
            </a:r>
            <a:r>
              <a:rPr lang="en-US" sz="2200" dirty="0">
                <a:latin typeface="Calibri (Body)"/>
                <a:cs typeface="Times New Roman"/>
              </a:rPr>
              <a:t>choose</a:t>
            </a:r>
            <a:r>
              <a:rPr lang="en-US" sz="2200" spc="-55" dirty="0">
                <a:latin typeface="Calibri (Body)"/>
                <a:cs typeface="Times New Roman"/>
              </a:rPr>
              <a:t> </a:t>
            </a:r>
            <a:r>
              <a:rPr lang="en-US" sz="2200" dirty="0">
                <a:latin typeface="Calibri (Body)"/>
                <a:cs typeface="Times New Roman"/>
              </a:rPr>
              <a:t>the</a:t>
            </a:r>
            <a:r>
              <a:rPr lang="en-US" sz="2200" spc="-50" dirty="0">
                <a:latin typeface="Calibri (Body)"/>
                <a:cs typeface="Times New Roman"/>
              </a:rPr>
              <a:t> </a:t>
            </a:r>
            <a:r>
              <a:rPr lang="en-US" sz="2200" dirty="0">
                <a:latin typeface="Calibri (Body)"/>
                <a:cs typeface="Times New Roman"/>
              </a:rPr>
              <a:t>best</a:t>
            </a:r>
            <a:r>
              <a:rPr lang="en-US" sz="2200" spc="5" dirty="0">
                <a:latin typeface="Calibri (Body)"/>
                <a:cs typeface="Times New Roman"/>
              </a:rPr>
              <a:t> </a:t>
            </a:r>
            <a:r>
              <a:rPr lang="en-US" sz="2200" spc="-10" dirty="0">
                <a:latin typeface="Calibri (Body)"/>
                <a:cs typeface="Times New Roman"/>
              </a:rPr>
              <a:t>option(s).</a:t>
            </a:r>
            <a:endParaRPr lang="en-US" sz="2200" dirty="0">
              <a:latin typeface="Calibri (Body)"/>
              <a:cs typeface="Times New Roman"/>
            </a:endParaRPr>
          </a:p>
        </p:txBody>
      </p:sp>
      <p:pic>
        <p:nvPicPr>
          <p:cNvPr id="3" name="Picture 2"/>
          <p:cNvPicPr>
            <a:picLocks noChangeAspect="1"/>
          </p:cNvPicPr>
          <p:nvPr/>
        </p:nvPicPr>
        <p:blipFill>
          <a:blip r:embed="rId3"/>
          <a:stretch>
            <a:fillRect/>
          </a:stretch>
        </p:blipFill>
        <p:spPr>
          <a:xfrm>
            <a:off x="3200400" y="4038600"/>
            <a:ext cx="2667000" cy="1713821"/>
          </a:xfrm>
          <a:prstGeom prst="rect">
            <a:avLst/>
          </a:prstGeom>
        </p:spPr>
      </p:pic>
    </p:spTree>
    <p:extLst>
      <p:ext uri="{BB962C8B-B14F-4D97-AF65-F5344CB8AC3E}">
        <p14:creationId xmlns:p14="http://schemas.microsoft.com/office/powerpoint/2010/main" val="33672955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CBE401D-A782-42D3-96EF-372F553E4805}" type="datetime1">
              <a:rPr lang="en-US" smtClean="0"/>
              <a:t>5/1/2026</a:t>
            </a:fld>
            <a:endParaRPr lang="en-US"/>
          </a:p>
        </p:txBody>
      </p:sp>
      <p:sp>
        <p:nvSpPr>
          <p:cNvPr id="5" name="Footer Placeholder 4"/>
          <p:cNvSpPr>
            <a:spLocks noGrp="1"/>
          </p:cNvSpPr>
          <p:nvPr>
            <p:ph type="ftr" sz="quarter" idx="11"/>
          </p:nvPr>
        </p:nvSpPr>
        <p:spPr>
          <a:xfrm>
            <a:off x="2133600" y="6120976"/>
            <a:ext cx="57150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a:solidFill>
                  <a:schemeClr val="tx1"/>
                </a:solidFill>
                <a:latin typeface="Times New Roman" panose="02020603050405020304" pitchFamily="18" charset="0"/>
                <a:cs typeface="Times New Roman" panose="02020603050405020304" pitchFamily="18" charset="0"/>
              </a:rPr>
              <a:t>New Management Tools</a:t>
            </a: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533400" y="1371600"/>
            <a:ext cx="8153400" cy="1199367"/>
          </a:xfrm>
          <a:prstGeom prst="rect">
            <a:avLst/>
          </a:prstGeom>
        </p:spPr>
        <p:txBody>
          <a:bodyPr wrap="square">
            <a:spAutoFit/>
          </a:bodyPr>
          <a:lstStyle/>
          <a:p>
            <a:pPr marL="12700" marR="5080">
              <a:lnSpc>
                <a:spcPct val="109100"/>
              </a:lnSpc>
              <a:spcBef>
                <a:spcPts val="100"/>
              </a:spcBef>
            </a:pPr>
            <a:r>
              <a:rPr lang="en-US" sz="2200" dirty="0">
                <a:latin typeface="Calibri (Body)"/>
                <a:cs typeface="Times New Roman"/>
              </a:rPr>
              <a:t>6.</a:t>
            </a:r>
            <a:r>
              <a:rPr lang="en-US" sz="2200" spc="30" dirty="0">
                <a:latin typeface="Calibri (Body)"/>
                <a:cs typeface="Times New Roman"/>
              </a:rPr>
              <a:t> </a:t>
            </a:r>
            <a:r>
              <a:rPr lang="en-US" sz="2200" dirty="0">
                <a:latin typeface="Calibri (Body)"/>
                <a:cs typeface="Times New Roman"/>
              </a:rPr>
              <a:t>Arrow</a:t>
            </a:r>
            <a:r>
              <a:rPr lang="en-US" sz="2200" spc="20" dirty="0">
                <a:latin typeface="Calibri (Body)"/>
                <a:cs typeface="Times New Roman"/>
              </a:rPr>
              <a:t> </a:t>
            </a:r>
            <a:r>
              <a:rPr lang="en-US" sz="2200" dirty="0">
                <a:latin typeface="Calibri (Body)"/>
                <a:cs typeface="Times New Roman"/>
              </a:rPr>
              <a:t>diagram:</a:t>
            </a:r>
            <a:r>
              <a:rPr lang="en-US" sz="2200" spc="30" dirty="0">
                <a:latin typeface="Calibri (Body)"/>
                <a:cs typeface="Times New Roman"/>
              </a:rPr>
              <a:t> </a:t>
            </a:r>
            <a:r>
              <a:rPr lang="en-US" sz="2200" dirty="0">
                <a:latin typeface="Calibri (Body)"/>
                <a:cs typeface="Times New Roman"/>
              </a:rPr>
              <a:t>shows</a:t>
            </a:r>
            <a:r>
              <a:rPr lang="en-US" sz="2200" spc="50" dirty="0">
                <a:latin typeface="Calibri (Body)"/>
                <a:cs typeface="Times New Roman"/>
              </a:rPr>
              <a:t> </a:t>
            </a:r>
            <a:r>
              <a:rPr lang="en-US" sz="2200" dirty="0">
                <a:latin typeface="Calibri (Body)"/>
                <a:cs typeface="Times New Roman"/>
              </a:rPr>
              <a:t>the</a:t>
            </a:r>
            <a:r>
              <a:rPr lang="en-US" sz="2200" spc="15" dirty="0">
                <a:latin typeface="Calibri (Body)"/>
                <a:cs typeface="Times New Roman"/>
              </a:rPr>
              <a:t> </a:t>
            </a:r>
            <a:r>
              <a:rPr lang="en-US" sz="2200" dirty="0">
                <a:latin typeface="Calibri (Body)"/>
                <a:cs typeface="Times New Roman"/>
              </a:rPr>
              <a:t>required</a:t>
            </a:r>
            <a:r>
              <a:rPr lang="en-US" sz="2200" spc="40" dirty="0">
                <a:latin typeface="Calibri (Body)"/>
                <a:cs typeface="Times New Roman"/>
              </a:rPr>
              <a:t> </a:t>
            </a:r>
            <a:r>
              <a:rPr lang="en-US" sz="2200" dirty="0">
                <a:latin typeface="Calibri (Body)"/>
                <a:cs typeface="Times New Roman"/>
              </a:rPr>
              <a:t>order</a:t>
            </a:r>
            <a:r>
              <a:rPr lang="en-US" sz="2200" spc="65" dirty="0">
                <a:latin typeface="Calibri (Body)"/>
                <a:cs typeface="Times New Roman"/>
              </a:rPr>
              <a:t> </a:t>
            </a:r>
            <a:r>
              <a:rPr lang="en-US" sz="2200" dirty="0">
                <a:latin typeface="Calibri (Body)"/>
                <a:cs typeface="Times New Roman"/>
              </a:rPr>
              <a:t>of</a:t>
            </a:r>
            <a:r>
              <a:rPr lang="en-US" sz="2200" spc="40" dirty="0">
                <a:latin typeface="Calibri (Body)"/>
                <a:cs typeface="Times New Roman"/>
              </a:rPr>
              <a:t> </a:t>
            </a:r>
            <a:r>
              <a:rPr lang="en-US" sz="2200" dirty="0">
                <a:latin typeface="Calibri (Body)"/>
                <a:cs typeface="Times New Roman"/>
              </a:rPr>
              <a:t>tasks</a:t>
            </a:r>
            <a:r>
              <a:rPr lang="en-US" sz="2200" spc="45" dirty="0">
                <a:latin typeface="Calibri (Body)"/>
                <a:cs typeface="Times New Roman"/>
              </a:rPr>
              <a:t> </a:t>
            </a:r>
            <a:r>
              <a:rPr lang="en-US" sz="2200" dirty="0">
                <a:latin typeface="Calibri (Body)"/>
                <a:cs typeface="Times New Roman"/>
              </a:rPr>
              <a:t>in</a:t>
            </a:r>
            <a:r>
              <a:rPr lang="en-US" sz="2200" spc="25" dirty="0">
                <a:latin typeface="Calibri (Body)"/>
                <a:cs typeface="Times New Roman"/>
              </a:rPr>
              <a:t> </a:t>
            </a:r>
            <a:r>
              <a:rPr lang="en-US" sz="2200" dirty="0">
                <a:latin typeface="Calibri (Body)"/>
                <a:cs typeface="Times New Roman"/>
              </a:rPr>
              <a:t>a</a:t>
            </a:r>
            <a:r>
              <a:rPr lang="en-US" sz="2200" spc="60" dirty="0">
                <a:latin typeface="Calibri (Body)"/>
                <a:cs typeface="Times New Roman"/>
              </a:rPr>
              <a:t> </a:t>
            </a:r>
            <a:r>
              <a:rPr lang="en-US" sz="2200" dirty="0">
                <a:latin typeface="Calibri (Body)"/>
                <a:cs typeface="Times New Roman"/>
              </a:rPr>
              <a:t>project</a:t>
            </a:r>
            <a:r>
              <a:rPr lang="en-US" sz="2200" spc="70" dirty="0">
                <a:latin typeface="Calibri (Body)"/>
                <a:cs typeface="Times New Roman"/>
              </a:rPr>
              <a:t> </a:t>
            </a:r>
            <a:r>
              <a:rPr lang="en-US" sz="2200" dirty="0">
                <a:latin typeface="Calibri (Body)"/>
                <a:cs typeface="Times New Roman"/>
              </a:rPr>
              <a:t>or</a:t>
            </a:r>
            <a:r>
              <a:rPr lang="en-US" sz="2200" spc="65" dirty="0">
                <a:latin typeface="Calibri (Body)"/>
                <a:cs typeface="Times New Roman"/>
              </a:rPr>
              <a:t> </a:t>
            </a:r>
            <a:r>
              <a:rPr lang="en-US" sz="2200" dirty="0">
                <a:latin typeface="Calibri (Body)"/>
                <a:cs typeface="Times New Roman"/>
              </a:rPr>
              <a:t>process,</a:t>
            </a:r>
            <a:r>
              <a:rPr lang="en-US" sz="2200" spc="55" dirty="0">
                <a:latin typeface="Calibri (Body)"/>
                <a:cs typeface="Times New Roman"/>
              </a:rPr>
              <a:t> </a:t>
            </a:r>
            <a:r>
              <a:rPr lang="en-US" sz="2200" dirty="0">
                <a:latin typeface="Calibri (Body)"/>
                <a:cs typeface="Times New Roman"/>
              </a:rPr>
              <a:t>the</a:t>
            </a:r>
            <a:r>
              <a:rPr lang="en-US" sz="2200" spc="15" dirty="0">
                <a:latin typeface="Calibri (Body)"/>
                <a:cs typeface="Times New Roman"/>
              </a:rPr>
              <a:t> </a:t>
            </a:r>
            <a:r>
              <a:rPr lang="en-US" sz="2200" dirty="0">
                <a:latin typeface="Calibri (Body)"/>
                <a:cs typeface="Times New Roman"/>
              </a:rPr>
              <a:t>best</a:t>
            </a:r>
            <a:r>
              <a:rPr lang="en-US" sz="2200" spc="55" dirty="0">
                <a:latin typeface="Calibri (Body)"/>
                <a:cs typeface="Times New Roman"/>
              </a:rPr>
              <a:t> </a:t>
            </a:r>
            <a:r>
              <a:rPr lang="en-US" sz="2200" dirty="0">
                <a:latin typeface="Calibri (Body)"/>
                <a:cs typeface="Times New Roman"/>
              </a:rPr>
              <a:t>schedule</a:t>
            </a:r>
            <a:r>
              <a:rPr lang="en-US" sz="2200" spc="15" dirty="0">
                <a:latin typeface="Calibri (Body)"/>
                <a:cs typeface="Times New Roman"/>
              </a:rPr>
              <a:t> </a:t>
            </a:r>
            <a:r>
              <a:rPr lang="en-US" sz="2200" dirty="0">
                <a:latin typeface="Calibri (Body)"/>
                <a:cs typeface="Times New Roman"/>
              </a:rPr>
              <a:t>for</a:t>
            </a:r>
            <a:r>
              <a:rPr lang="en-US" sz="2200" spc="60" dirty="0">
                <a:latin typeface="Calibri (Body)"/>
                <a:cs typeface="Times New Roman"/>
              </a:rPr>
              <a:t> </a:t>
            </a:r>
            <a:r>
              <a:rPr lang="en-US" sz="2200" spc="-25" dirty="0">
                <a:latin typeface="Calibri (Body)"/>
                <a:cs typeface="Times New Roman"/>
              </a:rPr>
              <a:t>the </a:t>
            </a:r>
            <a:r>
              <a:rPr lang="en-US" sz="2200" dirty="0">
                <a:latin typeface="Calibri (Body)"/>
                <a:cs typeface="Times New Roman"/>
              </a:rPr>
              <a:t>entire</a:t>
            </a:r>
            <a:r>
              <a:rPr lang="en-US" sz="2200" spc="-45" dirty="0">
                <a:latin typeface="Calibri (Body)"/>
                <a:cs typeface="Times New Roman"/>
              </a:rPr>
              <a:t> </a:t>
            </a:r>
            <a:r>
              <a:rPr lang="en-US" sz="2200" dirty="0">
                <a:latin typeface="Calibri (Body)"/>
                <a:cs typeface="Times New Roman"/>
              </a:rPr>
              <a:t>project,</a:t>
            </a:r>
            <a:r>
              <a:rPr lang="en-US" sz="2200" spc="40" dirty="0">
                <a:latin typeface="Calibri (Body)"/>
                <a:cs typeface="Times New Roman"/>
              </a:rPr>
              <a:t> </a:t>
            </a:r>
            <a:r>
              <a:rPr lang="en-US" sz="2200" dirty="0">
                <a:latin typeface="Calibri (Body)"/>
                <a:cs typeface="Times New Roman"/>
              </a:rPr>
              <a:t>and</a:t>
            </a:r>
            <a:r>
              <a:rPr lang="en-US" sz="2200" spc="-40" dirty="0">
                <a:latin typeface="Calibri (Body)"/>
                <a:cs typeface="Times New Roman"/>
              </a:rPr>
              <a:t> </a:t>
            </a:r>
            <a:r>
              <a:rPr lang="en-US" sz="2200" dirty="0">
                <a:latin typeface="Calibri (Body)"/>
                <a:cs typeface="Times New Roman"/>
              </a:rPr>
              <a:t>potential</a:t>
            </a:r>
            <a:r>
              <a:rPr lang="en-US" sz="2200" spc="-10" dirty="0">
                <a:latin typeface="Calibri (Body)"/>
                <a:cs typeface="Times New Roman"/>
              </a:rPr>
              <a:t> </a:t>
            </a:r>
            <a:r>
              <a:rPr lang="en-US" sz="2200" dirty="0">
                <a:latin typeface="Calibri (Body)"/>
                <a:cs typeface="Times New Roman"/>
              </a:rPr>
              <a:t>scheduling</a:t>
            </a:r>
            <a:r>
              <a:rPr lang="en-US" sz="2200" spc="-35" dirty="0">
                <a:latin typeface="Calibri (Body)"/>
                <a:cs typeface="Times New Roman"/>
              </a:rPr>
              <a:t> </a:t>
            </a:r>
            <a:r>
              <a:rPr lang="en-US" sz="2200" dirty="0">
                <a:latin typeface="Calibri (Body)"/>
                <a:cs typeface="Times New Roman"/>
              </a:rPr>
              <a:t>and</a:t>
            </a:r>
            <a:r>
              <a:rPr lang="en-US" sz="2200" spc="-40" dirty="0">
                <a:latin typeface="Calibri (Body)"/>
                <a:cs typeface="Times New Roman"/>
              </a:rPr>
              <a:t> </a:t>
            </a:r>
            <a:r>
              <a:rPr lang="en-US" sz="2200" dirty="0">
                <a:latin typeface="Calibri (Body)"/>
                <a:cs typeface="Times New Roman"/>
              </a:rPr>
              <a:t>resource</a:t>
            </a:r>
            <a:r>
              <a:rPr lang="en-US" sz="2200" spc="-50" dirty="0">
                <a:latin typeface="Calibri (Body)"/>
                <a:cs typeface="Times New Roman"/>
              </a:rPr>
              <a:t> </a:t>
            </a:r>
            <a:r>
              <a:rPr lang="en-US" sz="2200" dirty="0">
                <a:latin typeface="Calibri (Body)"/>
                <a:cs typeface="Times New Roman"/>
              </a:rPr>
              <a:t>problems</a:t>
            </a:r>
            <a:r>
              <a:rPr lang="en-US" sz="2200" spc="15" dirty="0">
                <a:latin typeface="Calibri (Body)"/>
                <a:cs typeface="Times New Roman"/>
              </a:rPr>
              <a:t> </a:t>
            </a:r>
            <a:r>
              <a:rPr lang="en-US" sz="2200" dirty="0">
                <a:latin typeface="Calibri (Body)"/>
                <a:cs typeface="Times New Roman"/>
              </a:rPr>
              <a:t>and</a:t>
            </a:r>
            <a:r>
              <a:rPr lang="en-US" sz="2200" spc="-40" dirty="0">
                <a:latin typeface="Calibri (Body)"/>
                <a:cs typeface="Times New Roman"/>
              </a:rPr>
              <a:t> </a:t>
            </a:r>
            <a:r>
              <a:rPr lang="en-US" sz="2200" dirty="0">
                <a:latin typeface="Calibri (Body)"/>
                <a:cs typeface="Times New Roman"/>
              </a:rPr>
              <a:t>their</a:t>
            </a:r>
            <a:r>
              <a:rPr lang="en-US" sz="2200" spc="50" dirty="0">
                <a:latin typeface="Calibri (Body)"/>
                <a:cs typeface="Times New Roman"/>
              </a:rPr>
              <a:t> </a:t>
            </a:r>
            <a:r>
              <a:rPr lang="en-US" sz="2200" spc="-10" dirty="0">
                <a:latin typeface="Calibri (Body)"/>
                <a:cs typeface="Times New Roman"/>
              </a:rPr>
              <a:t>solutions</a:t>
            </a:r>
            <a:endParaRPr lang="en-US" sz="2200" dirty="0">
              <a:latin typeface="Calibri (Body)"/>
              <a:cs typeface="Times New Roman"/>
            </a:endParaRPr>
          </a:p>
        </p:txBody>
      </p:sp>
      <p:pic>
        <p:nvPicPr>
          <p:cNvPr id="3" name="Picture 2"/>
          <p:cNvPicPr>
            <a:picLocks noChangeAspect="1"/>
          </p:cNvPicPr>
          <p:nvPr/>
        </p:nvPicPr>
        <p:blipFill>
          <a:blip r:embed="rId3"/>
          <a:stretch>
            <a:fillRect/>
          </a:stretch>
        </p:blipFill>
        <p:spPr>
          <a:xfrm>
            <a:off x="2895600" y="3171610"/>
            <a:ext cx="3124200" cy="1476590"/>
          </a:xfrm>
          <a:prstGeom prst="rect">
            <a:avLst/>
          </a:prstGeom>
        </p:spPr>
      </p:pic>
    </p:spTree>
    <p:extLst>
      <p:ext uri="{BB962C8B-B14F-4D97-AF65-F5344CB8AC3E}">
        <p14:creationId xmlns:p14="http://schemas.microsoft.com/office/powerpoint/2010/main" val="16267784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16BC86F-CE9D-4FAD-A04D-5CABB4746E04}" type="datetime1">
              <a:rPr lang="en-US" smtClean="0"/>
              <a:t>5/1/2026</a:t>
            </a:fld>
            <a:endParaRPr lang="en-US"/>
          </a:p>
        </p:txBody>
      </p:sp>
      <p:sp>
        <p:nvSpPr>
          <p:cNvPr id="5" name="Footer Placeholder 4"/>
          <p:cNvSpPr>
            <a:spLocks noGrp="1"/>
          </p:cNvSpPr>
          <p:nvPr>
            <p:ph type="ftr" sz="quarter" idx="11"/>
          </p:nvPr>
        </p:nvSpPr>
        <p:spPr>
          <a:xfrm>
            <a:off x="1676400" y="6356350"/>
            <a:ext cx="56388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a:solidFill>
                  <a:schemeClr val="tx1"/>
                </a:solidFill>
                <a:latin typeface="Times New Roman" panose="02020603050405020304" pitchFamily="18" charset="0"/>
                <a:cs typeface="Times New Roman" panose="02020603050405020304" pitchFamily="18" charset="0"/>
              </a:rPr>
              <a:t>New Management Tools</a:t>
            </a: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pic>
        <p:nvPicPr>
          <p:cNvPr id="8" name="Picture 7"/>
          <p:cNvPicPr>
            <a:picLocks noChangeAspect="1"/>
          </p:cNvPicPr>
          <p:nvPr/>
        </p:nvPicPr>
        <p:blipFill>
          <a:blip r:embed="rId3"/>
          <a:stretch>
            <a:fillRect/>
          </a:stretch>
        </p:blipFill>
        <p:spPr>
          <a:xfrm>
            <a:off x="3276600" y="2273828"/>
            <a:ext cx="2590800" cy="1688572"/>
          </a:xfrm>
          <a:prstGeom prst="rect">
            <a:avLst/>
          </a:prstGeom>
        </p:spPr>
      </p:pic>
      <p:sp>
        <p:nvSpPr>
          <p:cNvPr id="9" name="Rectangle 8"/>
          <p:cNvSpPr/>
          <p:nvPr/>
        </p:nvSpPr>
        <p:spPr>
          <a:xfrm>
            <a:off x="514350" y="1280533"/>
            <a:ext cx="8115300" cy="843949"/>
          </a:xfrm>
          <a:prstGeom prst="rect">
            <a:avLst/>
          </a:prstGeom>
        </p:spPr>
        <p:txBody>
          <a:bodyPr wrap="square">
            <a:spAutoFit/>
          </a:bodyPr>
          <a:lstStyle/>
          <a:p>
            <a:pPr marL="12700" marR="5080">
              <a:lnSpc>
                <a:spcPct val="111300"/>
              </a:lnSpc>
              <a:spcBef>
                <a:spcPts val="100"/>
              </a:spcBef>
            </a:pPr>
            <a:r>
              <a:rPr lang="en-US" sz="2200" dirty="0">
                <a:latin typeface="Calibri (Body)"/>
                <a:cs typeface="Times New Roman"/>
              </a:rPr>
              <a:t>7.Process</a:t>
            </a:r>
            <a:r>
              <a:rPr lang="en-US" sz="2200" spc="30" dirty="0">
                <a:latin typeface="Calibri (Body)"/>
                <a:cs typeface="Times New Roman"/>
              </a:rPr>
              <a:t> </a:t>
            </a:r>
            <a:r>
              <a:rPr lang="en-US" sz="2200" dirty="0">
                <a:latin typeface="Calibri (Body)"/>
                <a:cs typeface="Times New Roman"/>
              </a:rPr>
              <a:t>decision</a:t>
            </a:r>
            <a:r>
              <a:rPr lang="en-US" sz="2200" spc="15" dirty="0">
                <a:latin typeface="Calibri (Body)"/>
                <a:cs typeface="Times New Roman"/>
              </a:rPr>
              <a:t> </a:t>
            </a:r>
            <a:r>
              <a:rPr lang="en-US" sz="2200" dirty="0">
                <a:latin typeface="Calibri (Body)"/>
                <a:cs typeface="Times New Roman"/>
              </a:rPr>
              <a:t>program</a:t>
            </a:r>
            <a:r>
              <a:rPr lang="en-US" sz="2200" spc="50" dirty="0">
                <a:latin typeface="Calibri (Body)"/>
                <a:cs typeface="Times New Roman"/>
              </a:rPr>
              <a:t> </a:t>
            </a:r>
            <a:r>
              <a:rPr lang="en-US" sz="2200" dirty="0">
                <a:latin typeface="Calibri (Body)"/>
                <a:cs typeface="Times New Roman"/>
              </a:rPr>
              <a:t>chart</a:t>
            </a:r>
            <a:r>
              <a:rPr lang="en-US" sz="2200" spc="30" dirty="0">
                <a:latin typeface="Calibri (Body)"/>
                <a:cs typeface="Times New Roman"/>
              </a:rPr>
              <a:t> </a:t>
            </a:r>
            <a:r>
              <a:rPr lang="en-US" sz="2200" dirty="0">
                <a:latin typeface="Calibri (Body)"/>
                <a:cs typeface="Times New Roman"/>
              </a:rPr>
              <a:t>(PDPC):</a:t>
            </a:r>
            <a:r>
              <a:rPr lang="en-US" sz="2200" spc="20" dirty="0">
                <a:latin typeface="Calibri (Body)"/>
                <a:cs typeface="Times New Roman"/>
              </a:rPr>
              <a:t> </a:t>
            </a:r>
            <a:r>
              <a:rPr lang="en-US" sz="2200" dirty="0">
                <a:latin typeface="Calibri (Body)"/>
                <a:cs typeface="Times New Roman"/>
              </a:rPr>
              <a:t>systematically</a:t>
            </a:r>
            <a:r>
              <a:rPr lang="en-US" sz="2200" spc="10" dirty="0">
                <a:latin typeface="Calibri (Body)"/>
                <a:cs typeface="Times New Roman"/>
              </a:rPr>
              <a:t> </a:t>
            </a:r>
            <a:r>
              <a:rPr lang="en-US" sz="2200" dirty="0">
                <a:latin typeface="Calibri (Body)"/>
                <a:cs typeface="Times New Roman"/>
              </a:rPr>
              <a:t>identifies</a:t>
            </a:r>
            <a:r>
              <a:rPr lang="en-US" sz="2200" spc="30" dirty="0">
                <a:latin typeface="Calibri (Body)"/>
                <a:cs typeface="Times New Roman"/>
              </a:rPr>
              <a:t> </a:t>
            </a:r>
            <a:r>
              <a:rPr lang="en-US" sz="2200" dirty="0">
                <a:latin typeface="Calibri (Body)"/>
                <a:cs typeface="Times New Roman"/>
              </a:rPr>
              <a:t>what</a:t>
            </a:r>
            <a:r>
              <a:rPr lang="en-US" sz="2200" spc="20" dirty="0">
                <a:latin typeface="Calibri (Body)"/>
                <a:cs typeface="Times New Roman"/>
              </a:rPr>
              <a:t> </a:t>
            </a:r>
            <a:r>
              <a:rPr lang="en-US" sz="2200" dirty="0">
                <a:latin typeface="Calibri (Body)"/>
                <a:cs typeface="Times New Roman"/>
              </a:rPr>
              <a:t>might</a:t>
            </a:r>
            <a:r>
              <a:rPr lang="en-US" sz="2200" spc="20" dirty="0">
                <a:latin typeface="Calibri (Body)"/>
                <a:cs typeface="Times New Roman"/>
              </a:rPr>
              <a:t> </a:t>
            </a:r>
            <a:r>
              <a:rPr lang="en-US" sz="2200" dirty="0">
                <a:latin typeface="Calibri (Body)"/>
                <a:cs typeface="Times New Roman"/>
              </a:rPr>
              <a:t>go</a:t>
            </a:r>
            <a:r>
              <a:rPr lang="en-US" sz="2200" spc="5" dirty="0">
                <a:latin typeface="Calibri (Body)"/>
                <a:cs typeface="Times New Roman"/>
              </a:rPr>
              <a:t> </a:t>
            </a:r>
            <a:r>
              <a:rPr lang="en-US" sz="2200" dirty="0">
                <a:latin typeface="Calibri (Body)"/>
                <a:cs typeface="Times New Roman"/>
              </a:rPr>
              <a:t>wrong</a:t>
            </a:r>
            <a:r>
              <a:rPr lang="en-US" sz="2200" spc="50" dirty="0">
                <a:latin typeface="Calibri (Body)"/>
                <a:cs typeface="Times New Roman"/>
              </a:rPr>
              <a:t> </a:t>
            </a:r>
            <a:r>
              <a:rPr lang="en-US" sz="2200" dirty="0">
                <a:latin typeface="Calibri (Body)"/>
                <a:cs typeface="Times New Roman"/>
              </a:rPr>
              <a:t>in</a:t>
            </a:r>
            <a:r>
              <a:rPr lang="en-US" sz="2200" spc="5" dirty="0">
                <a:latin typeface="Calibri (Body)"/>
                <a:cs typeface="Times New Roman"/>
              </a:rPr>
              <a:t> </a:t>
            </a:r>
            <a:r>
              <a:rPr lang="en-US" sz="2200" spc="-50" dirty="0">
                <a:latin typeface="Calibri (Body)"/>
                <a:cs typeface="Times New Roman"/>
              </a:rPr>
              <a:t>a </a:t>
            </a:r>
            <a:r>
              <a:rPr lang="en-US" sz="2200" spc="-10" dirty="0">
                <a:latin typeface="Calibri (Body)"/>
                <a:cs typeface="Times New Roman"/>
              </a:rPr>
              <a:t>plan</a:t>
            </a:r>
            <a:r>
              <a:rPr lang="en-US" sz="2200" spc="-65" dirty="0">
                <a:latin typeface="Calibri (Body)"/>
                <a:cs typeface="Times New Roman"/>
              </a:rPr>
              <a:t> </a:t>
            </a:r>
            <a:r>
              <a:rPr lang="en-US" sz="2200" dirty="0">
                <a:latin typeface="Calibri (Body)"/>
                <a:cs typeface="Times New Roman"/>
              </a:rPr>
              <a:t>under</a:t>
            </a:r>
            <a:r>
              <a:rPr lang="en-US" sz="2200" spc="-10" dirty="0">
                <a:latin typeface="Calibri (Body)"/>
                <a:cs typeface="Times New Roman"/>
              </a:rPr>
              <a:t> development.</a:t>
            </a:r>
            <a:endParaRPr lang="en-US" sz="2200" dirty="0">
              <a:latin typeface="Calibri (Body)"/>
              <a:cs typeface="Times New Roman"/>
            </a:endParaRPr>
          </a:p>
        </p:txBody>
      </p:sp>
    </p:spTree>
    <p:extLst>
      <p:ext uri="{BB962C8B-B14F-4D97-AF65-F5344CB8AC3E}">
        <p14:creationId xmlns:p14="http://schemas.microsoft.com/office/powerpoint/2010/main" val="12243702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585E6A-B36D-4F4A-B96A-B0D846490EEC}" type="datetime1">
              <a:rPr lang="en-US" smtClean="0"/>
              <a:t>5/1/2026</a:t>
            </a:fld>
            <a:endParaRPr lang="en-US"/>
          </a:p>
        </p:txBody>
      </p:sp>
      <p:sp>
        <p:nvSpPr>
          <p:cNvPr id="5" name="Footer Placeholder 4"/>
          <p:cNvSpPr>
            <a:spLocks noGrp="1"/>
          </p:cNvSpPr>
          <p:nvPr>
            <p:ph type="ftr" sz="quarter" idx="11"/>
          </p:nvPr>
        </p:nvSpPr>
        <p:spPr>
          <a:xfrm>
            <a:off x="2057400" y="6166282"/>
            <a:ext cx="57150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solidFill>
                  <a:schemeClr val="tx1"/>
                </a:solidFill>
                <a:latin typeface="Times New Roman" panose="02020603050405020304" pitchFamily="18" charset="0"/>
                <a:cs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SIX SIGMA</a:t>
            </a:r>
            <a:br>
              <a:rPr lang="en-US" sz="2800" b="1" dirty="0">
                <a:solidFill>
                  <a:schemeClr val="tx1"/>
                </a:solidFill>
                <a:latin typeface="Times New Roman" panose="02020603050405020304" pitchFamily="18" charset="0"/>
                <a:cs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762000" y="1219200"/>
            <a:ext cx="7848600" cy="3477875"/>
          </a:xfrm>
          <a:prstGeom prst="rect">
            <a:avLst/>
          </a:prstGeom>
        </p:spPr>
        <p:txBody>
          <a:bodyPr wrap="square">
            <a:spAutoFit/>
          </a:bodyPr>
          <a:lstStyle/>
          <a:p>
            <a:r>
              <a:rPr lang="en-IN" sz="2000" b="1" dirty="0">
                <a:latin typeface="Calibri (Body)"/>
              </a:rPr>
              <a:t>SIX SIGMA</a:t>
            </a:r>
          </a:p>
          <a:p>
            <a:r>
              <a:rPr lang="en-US" sz="2000" dirty="0">
                <a:latin typeface="Calibri (Body)"/>
              </a:rPr>
              <a:t>This is quality improvement initiatives which include – Clear focus on achieving measurable and quantifiable financial returns from any project. etc. to lead and implement the Six Sigma approach.</a:t>
            </a:r>
          </a:p>
          <a:p>
            <a:r>
              <a:rPr lang="en-IN" sz="2000" dirty="0">
                <a:latin typeface="Calibri (Body)"/>
              </a:rPr>
              <a:t>Assumptions and guesswork:</a:t>
            </a:r>
          </a:p>
          <a:p>
            <a:r>
              <a:rPr lang="en-US" sz="2000" dirty="0">
                <a:latin typeface="Calibri (Body)"/>
              </a:rPr>
              <a:t>At Motorola University, we think about Six Sigma at three different levels:</a:t>
            </a:r>
          </a:p>
          <a:p>
            <a:r>
              <a:rPr lang="en-IN" sz="2000" dirty="0">
                <a:latin typeface="Calibri (Body)"/>
              </a:rPr>
              <a:t>As a metric</a:t>
            </a:r>
          </a:p>
          <a:p>
            <a:r>
              <a:rPr lang="en-IN" sz="2000" dirty="0">
                <a:latin typeface="Calibri (Body)"/>
              </a:rPr>
              <a:t>As a methodology</a:t>
            </a:r>
          </a:p>
          <a:p>
            <a:r>
              <a:rPr lang="en-IN" sz="2000" dirty="0">
                <a:latin typeface="Calibri (Body)"/>
              </a:rPr>
              <a:t>As a management system</a:t>
            </a:r>
          </a:p>
          <a:p>
            <a:r>
              <a:rPr lang="en-US" sz="2000" dirty="0">
                <a:latin typeface="Calibri (Body)"/>
              </a:rPr>
              <a:t>Essentially, Six Sigma is all three at the same time.</a:t>
            </a:r>
            <a:endParaRPr lang="en-IN" sz="2000" dirty="0">
              <a:latin typeface="Calibri (Body)"/>
            </a:endParaRPr>
          </a:p>
        </p:txBody>
      </p:sp>
    </p:spTree>
    <p:extLst>
      <p:ext uri="{BB962C8B-B14F-4D97-AF65-F5344CB8AC3E}">
        <p14:creationId xmlns:p14="http://schemas.microsoft.com/office/powerpoint/2010/main" val="17008267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F0BFA7-97E1-493C-8325-2268C4E7548F}" type="datetime1">
              <a:rPr lang="en-US" smtClean="0"/>
              <a:t>5/1/2026</a:t>
            </a:fld>
            <a:endParaRPr lang="en-US"/>
          </a:p>
        </p:txBody>
      </p:sp>
      <p:sp>
        <p:nvSpPr>
          <p:cNvPr id="5" name="Footer Placeholder 4"/>
          <p:cNvSpPr>
            <a:spLocks noGrp="1"/>
          </p:cNvSpPr>
          <p:nvPr>
            <p:ph type="ftr" sz="quarter" idx="11"/>
          </p:nvPr>
        </p:nvSpPr>
        <p:spPr>
          <a:xfrm>
            <a:off x="2209800" y="6173787"/>
            <a:ext cx="52578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solidFill>
                  <a:schemeClr val="tx1"/>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SIX SIGMA</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533400" y="1295400"/>
            <a:ext cx="8001000" cy="3970318"/>
          </a:xfrm>
          <a:prstGeom prst="rect">
            <a:avLst/>
          </a:prstGeom>
        </p:spPr>
        <p:txBody>
          <a:bodyPr wrap="square">
            <a:spAutoFit/>
          </a:bodyPr>
          <a:lstStyle/>
          <a:p>
            <a:r>
              <a:rPr lang="en-IN" b="1" dirty="0">
                <a:latin typeface="Calibri (Body)"/>
              </a:rPr>
              <a:t>Six Sigma as a Metric</a:t>
            </a:r>
          </a:p>
          <a:p>
            <a:endParaRPr lang="en-IN" b="1" dirty="0">
              <a:latin typeface="Calibri (Body)"/>
            </a:endParaRPr>
          </a:p>
          <a:p>
            <a:r>
              <a:rPr lang="en-US" dirty="0">
                <a:latin typeface="Calibri (Body)"/>
              </a:rPr>
              <a:t>The term "Sigma" is often used as a scale for levels of "goodness" or quality. Using this </a:t>
            </a:r>
            <a:r>
              <a:rPr lang="en-US" dirty="0" err="1">
                <a:latin typeface="Calibri (Body)"/>
              </a:rPr>
              <a:t>scale,"Six</a:t>
            </a:r>
            <a:r>
              <a:rPr lang="en-US" dirty="0">
                <a:latin typeface="Calibri (Body)"/>
              </a:rPr>
              <a:t> Sigma" equates to 3.4 Defects Per Million Opportunities (DPMO). Six Sigma started as a defect reduction effort in manufacturing and then applied to other business processes for the same purpose. Taking the 1.5 sigma shift into account, short-term sigma levels correspond to the following long-term DPMO values (one-sided):</a:t>
            </a:r>
          </a:p>
          <a:p>
            <a:r>
              <a:rPr lang="en-US" dirty="0">
                <a:latin typeface="Calibri (Body)"/>
              </a:rPr>
              <a:t>One Sigma = 690,000 DPMO =&gt; efficiency 31% </a:t>
            </a:r>
          </a:p>
          <a:p>
            <a:r>
              <a:rPr lang="en-US" dirty="0">
                <a:latin typeface="Calibri (Body)"/>
              </a:rPr>
              <a:t>Two Sigma = 308,000 DPMO =&gt;efficiency 69.2% </a:t>
            </a:r>
          </a:p>
          <a:p>
            <a:r>
              <a:rPr lang="en-US" dirty="0">
                <a:latin typeface="Calibri (Body)"/>
              </a:rPr>
              <a:t>Three Sigma = 66,800 DPMO =&gt; efficiency 93.32% </a:t>
            </a:r>
          </a:p>
          <a:p>
            <a:r>
              <a:rPr lang="en-US" dirty="0">
                <a:latin typeface="Calibri (Body)"/>
              </a:rPr>
              <a:t>Four Sigma =6,210 DPMO =&gt; efficiency 99.379%</a:t>
            </a:r>
          </a:p>
          <a:p>
            <a:r>
              <a:rPr lang="en-US" dirty="0">
                <a:latin typeface="Calibri (Body)"/>
              </a:rPr>
              <a:t>Five Sigma = 230 DPMO =&gt; efficiency </a:t>
            </a:r>
            <a:r>
              <a:rPr lang="en-IN" dirty="0">
                <a:latin typeface="Calibri (Body)"/>
              </a:rPr>
              <a:t>99.977%</a:t>
            </a:r>
          </a:p>
          <a:p>
            <a:r>
              <a:rPr lang="en-IN" dirty="0">
                <a:latin typeface="Calibri (Body)"/>
              </a:rPr>
              <a:t>Six Sigma = 3.4 DPMO =&gt; efficiency 99.9997%</a:t>
            </a:r>
          </a:p>
        </p:txBody>
      </p:sp>
    </p:spTree>
    <p:extLst>
      <p:ext uri="{BB962C8B-B14F-4D97-AF65-F5344CB8AC3E}">
        <p14:creationId xmlns:p14="http://schemas.microsoft.com/office/powerpoint/2010/main" val="38210302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DFDBE6-45C1-4763-ADAA-E92978666176}" type="datetime1">
              <a:rPr lang="en-US" smtClean="0"/>
              <a:t>5/1/2026</a:t>
            </a:fld>
            <a:endParaRPr lang="en-US"/>
          </a:p>
        </p:txBody>
      </p:sp>
      <p:sp>
        <p:nvSpPr>
          <p:cNvPr id="5" name="Footer Placeholder 4"/>
          <p:cNvSpPr>
            <a:spLocks noGrp="1"/>
          </p:cNvSpPr>
          <p:nvPr>
            <p:ph type="ftr" sz="quarter" idx="11"/>
          </p:nvPr>
        </p:nvSpPr>
        <p:spPr>
          <a:xfrm>
            <a:off x="1905000" y="6172200"/>
            <a:ext cx="5867400" cy="54927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solidFill>
                  <a:schemeClr val="tx1"/>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SIX SIGMA</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762000" y="1305342"/>
            <a:ext cx="7620000" cy="4154984"/>
          </a:xfrm>
          <a:prstGeom prst="rect">
            <a:avLst/>
          </a:prstGeom>
        </p:spPr>
        <p:txBody>
          <a:bodyPr wrap="square">
            <a:spAutoFit/>
          </a:bodyPr>
          <a:lstStyle/>
          <a:p>
            <a:r>
              <a:rPr lang="en-US" sz="2200" b="1" dirty="0">
                <a:latin typeface="Calibri (Body)"/>
              </a:rPr>
              <a:t>Six Sigma as a Methodology</a:t>
            </a:r>
          </a:p>
          <a:p>
            <a:r>
              <a:rPr lang="en-US" sz="2200" dirty="0">
                <a:latin typeface="Times New RCalibri (Body)oman"/>
              </a:rPr>
              <a:t>As Six Sigma has evolved, there has been less emphasis on the literal definition of 3.4 DPMO, or counting defects in products and processes. Six Sigma is a business improvement methodology that focuses an organization on:</a:t>
            </a:r>
          </a:p>
          <a:p>
            <a:pPr algn="just"/>
            <a:r>
              <a:rPr lang="en-US" sz="2200" dirty="0">
                <a:latin typeface="Times New RCalibri (Body)oman"/>
              </a:rPr>
              <a:t>Understanding and managing customer requirements</a:t>
            </a:r>
          </a:p>
          <a:p>
            <a:pPr algn="just"/>
            <a:r>
              <a:rPr lang="en-US" sz="2200" dirty="0">
                <a:latin typeface="Times New RCalibri (Body)oman"/>
              </a:rPr>
              <a:t>Aligning key business processes to achieve those requirements</a:t>
            </a:r>
          </a:p>
          <a:p>
            <a:pPr algn="just"/>
            <a:r>
              <a:rPr lang="en-US" sz="2200" dirty="0">
                <a:latin typeface="Times New RCalibri (Body)oman"/>
              </a:rPr>
              <a:t>Utilizing rigorous data analysis to minimize variation in those processes</a:t>
            </a:r>
          </a:p>
          <a:p>
            <a:pPr algn="just"/>
            <a:r>
              <a:rPr lang="en-US" sz="2200" dirty="0">
                <a:latin typeface="Times New RCalibri (Body)oman"/>
              </a:rPr>
              <a:t>Driving rapid and sustainable improvement to business processes</a:t>
            </a:r>
            <a:endParaRPr lang="en-IN" sz="2200" dirty="0">
              <a:latin typeface="Times New RCalibri (Body)oman"/>
            </a:endParaRPr>
          </a:p>
        </p:txBody>
      </p:sp>
    </p:spTree>
    <p:extLst>
      <p:ext uri="{BB962C8B-B14F-4D97-AF65-F5344CB8AC3E}">
        <p14:creationId xmlns:p14="http://schemas.microsoft.com/office/powerpoint/2010/main" val="1759952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5886491-6815-4474-AC66-44CE07A3CCD1}" type="datetime1">
              <a:rPr lang="en-US" smtClean="0"/>
              <a:t>5/1/2026</a:t>
            </a:fld>
            <a:endParaRPr lang="en-US"/>
          </a:p>
        </p:txBody>
      </p:sp>
      <p:sp>
        <p:nvSpPr>
          <p:cNvPr id="5" name="Footer Placeholder 4"/>
          <p:cNvSpPr>
            <a:spLocks noGrp="1"/>
          </p:cNvSpPr>
          <p:nvPr>
            <p:ph type="ftr" sz="quarter" idx="11"/>
          </p:nvPr>
        </p:nvSpPr>
        <p:spPr>
          <a:xfrm>
            <a:off x="2286000" y="6183024"/>
            <a:ext cx="5334000" cy="357620"/>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solidFill>
                  <a:schemeClr val="tx1"/>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SIX SIGMA</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371600"/>
            <a:ext cx="8077200" cy="3970318"/>
          </a:xfrm>
          <a:prstGeom prst="rect">
            <a:avLst/>
          </a:prstGeom>
        </p:spPr>
        <p:txBody>
          <a:bodyPr wrap="square">
            <a:spAutoFit/>
          </a:bodyPr>
          <a:lstStyle/>
          <a:p>
            <a:pPr algn="just"/>
            <a:r>
              <a:rPr lang="en-US" dirty="0">
                <a:latin typeface="Calibri (Body)"/>
              </a:rPr>
              <a:t>At the heart of the methodology is the DMAIC model for process improvement. DMAIC is</a:t>
            </a:r>
          </a:p>
          <a:p>
            <a:pPr algn="just"/>
            <a:r>
              <a:rPr lang="en-US" dirty="0">
                <a:latin typeface="Calibri (Body)"/>
              </a:rPr>
              <a:t>commonly used by Six Sigma project teams and is an acronym for:</a:t>
            </a:r>
          </a:p>
          <a:p>
            <a:pPr algn="just"/>
            <a:r>
              <a:rPr lang="en-US" b="1" dirty="0">
                <a:latin typeface="Calibri (Body)"/>
              </a:rPr>
              <a:t>DMAIC - </a:t>
            </a:r>
            <a:r>
              <a:rPr lang="en-US" dirty="0">
                <a:latin typeface="Calibri (Body)"/>
              </a:rPr>
              <a:t>The basic methodology consists of the following five steps:</a:t>
            </a:r>
          </a:p>
          <a:p>
            <a:pPr algn="just"/>
            <a:r>
              <a:rPr lang="en-US" b="1" dirty="0">
                <a:latin typeface="Calibri (Body)"/>
              </a:rPr>
              <a:t>Define </a:t>
            </a:r>
            <a:r>
              <a:rPr lang="en-US" dirty="0">
                <a:latin typeface="Calibri (Body)"/>
              </a:rPr>
              <a:t>process improvement goals that are consistent with customer demands and the </a:t>
            </a:r>
            <a:r>
              <a:rPr lang="en-IN" dirty="0">
                <a:latin typeface="Calibri (Body)"/>
              </a:rPr>
              <a:t>enterprise strategy.</a:t>
            </a:r>
          </a:p>
          <a:p>
            <a:pPr algn="just"/>
            <a:r>
              <a:rPr lang="en-US" b="1" dirty="0">
                <a:latin typeface="Calibri (Body)"/>
              </a:rPr>
              <a:t>Measure </a:t>
            </a:r>
            <a:r>
              <a:rPr lang="en-US" dirty="0">
                <a:latin typeface="Calibri (Body)"/>
              </a:rPr>
              <a:t>key aspects of the current process and collect relevant data.</a:t>
            </a:r>
          </a:p>
          <a:p>
            <a:pPr algn="just"/>
            <a:r>
              <a:rPr lang="en-US" b="1" dirty="0">
                <a:latin typeface="Calibri (Body)"/>
              </a:rPr>
              <a:t>Analyze </a:t>
            </a:r>
            <a:r>
              <a:rPr lang="en-US" dirty="0">
                <a:latin typeface="Calibri (Body)"/>
              </a:rPr>
              <a:t>the data to verify cause-and-effect relationships. Determine what the</a:t>
            </a:r>
          </a:p>
          <a:p>
            <a:pPr algn="just"/>
            <a:r>
              <a:rPr lang="en-US" dirty="0">
                <a:latin typeface="Calibri (Body)"/>
              </a:rPr>
              <a:t>relationships are, and attempt to ensure that all factors have been considered.</a:t>
            </a:r>
          </a:p>
          <a:p>
            <a:pPr algn="just"/>
            <a:r>
              <a:rPr lang="en-US" b="1" dirty="0">
                <a:latin typeface="Calibri (Body)"/>
              </a:rPr>
              <a:t>Improve </a:t>
            </a:r>
            <a:r>
              <a:rPr lang="en-US" dirty="0">
                <a:latin typeface="Calibri (Body)"/>
              </a:rPr>
              <a:t>or optimize the process based upon data analysis using techniques like </a:t>
            </a:r>
            <a:r>
              <a:rPr lang="en-IN" dirty="0">
                <a:latin typeface="Calibri (Body)"/>
              </a:rPr>
              <a:t>Design of Experiments.</a:t>
            </a:r>
          </a:p>
          <a:p>
            <a:pPr algn="just"/>
            <a:r>
              <a:rPr lang="en-US" b="1" dirty="0">
                <a:latin typeface="Calibri (Body)"/>
              </a:rPr>
              <a:t>Control </a:t>
            </a:r>
            <a:r>
              <a:rPr lang="en-US" dirty="0">
                <a:latin typeface="Calibri (Body)"/>
              </a:rPr>
              <a:t>to ensure that any deviations from target are corrected before they result in defects. Set up pilot runs to establish process capability, move on to production, set up control mechanisms and continuously monitor the process.</a:t>
            </a:r>
            <a:endParaRPr lang="en-IN" dirty="0">
              <a:latin typeface="Calibri (Body)"/>
            </a:endParaRPr>
          </a:p>
        </p:txBody>
      </p:sp>
    </p:spTree>
    <p:extLst>
      <p:ext uri="{BB962C8B-B14F-4D97-AF65-F5344CB8AC3E}">
        <p14:creationId xmlns:p14="http://schemas.microsoft.com/office/powerpoint/2010/main" val="15466723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6331CFB-D703-4BC1-A054-784FFDC4FDC5}"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solidFill>
                  <a:schemeClr val="tx1"/>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SIX SIGMA</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85800" y="1447800"/>
            <a:ext cx="7687409" cy="4093428"/>
          </a:xfrm>
          <a:prstGeom prst="rect">
            <a:avLst/>
          </a:prstGeom>
        </p:spPr>
        <p:txBody>
          <a:bodyPr wrap="square">
            <a:spAutoFit/>
          </a:bodyPr>
          <a:lstStyle/>
          <a:p>
            <a:r>
              <a:rPr lang="en-IN" sz="2000" b="1" dirty="0">
                <a:latin typeface="Calibri (Body)"/>
              </a:rPr>
              <a:t>DMADV</a:t>
            </a:r>
          </a:p>
          <a:p>
            <a:r>
              <a:rPr lang="en-US" sz="2000" dirty="0">
                <a:latin typeface="Calibri (Body)"/>
              </a:rPr>
              <a:t>The basic methodology consists of the following five steps:</a:t>
            </a:r>
          </a:p>
          <a:p>
            <a:r>
              <a:rPr lang="en-US" sz="2000" b="1" dirty="0">
                <a:latin typeface="Calibri (Body)"/>
              </a:rPr>
              <a:t>Define </a:t>
            </a:r>
            <a:r>
              <a:rPr lang="en-US" sz="2000" dirty="0">
                <a:latin typeface="Calibri (Body)"/>
              </a:rPr>
              <a:t>design goals that are consistent with customer demands and the enterprise </a:t>
            </a:r>
            <a:r>
              <a:rPr lang="en-IN" sz="2000" dirty="0">
                <a:latin typeface="Calibri (Body)"/>
              </a:rPr>
              <a:t>strategy.</a:t>
            </a:r>
          </a:p>
          <a:p>
            <a:r>
              <a:rPr lang="en-US" sz="2000" b="1" dirty="0">
                <a:latin typeface="Calibri (Body)"/>
              </a:rPr>
              <a:t>Measure </a:t>
            </a:r>
            <a:r>
              <a:rPr lang="en-US" sz="2000" dirty="0">
                <a:latin typeface="Calibri (Body)"/>
              </a:rPr>
              <a:t>and identify CTQs (characteristics that are </a:t>
            </a:r>
            <a:r>
              <a:rPr lang="en-US" sz="2000" b="1" dirty="0">
                <a:latin typeface="Calibri (Body)"/>
              </a:rPr>
              <a:t>C</a:t>
            </a:r>
            <a:r>
              <a:rPr lang="en-US" sz="2000" dirty="0">
                <a:latin typeface="Calibri (Body)"/>
              </a:rPr>
              <a:t>ritical </a:t>
            </a:r>
            <a:r>
              <a:rPr lang="en-US" sz="2000" b="1" dirty="0">
                <a:latin typeface="Calibri (Body)"/>
              </a:rPr>
              <a:t>T</a:t>
            </a:r>
            <a:r>
              <a:rPr lang="en-US" sz="2000" dirty="0">
                <a:latin typeface="Calibri (Body)"/>
              </a:rPr>
              <a:t>o </a:t>
            </a:r>
            <a:r>
              <a:rPr lang="en-US" sz="2000" b="1" dirty="0">
                <a:latin typeface="Calibri (Body)"/>
              </a:rPr>
              <a:t>Q</a:t>
            </a:r>
            <a:r>
              <a:rPr lang="en-US" sz="2000" dirty="0">
                <a:latin typeface="Calibri (Body)"/>
              </a:rPr>
              <a:t>uality), product capabilities, production process capability, and risks.</a:t>
            </a:r>
          </a:p>
          <a:p>
            <a:r>
              <a:rPr lang="en-US" sz="2000" b="1" dirty="0">
                <a:latin typeface="Calibri (Body)"/>
              </a:rPr>
              <a:t>Analyze </a:t>
            </a:r>
            <a:r>
              <a:rPr lang="en-US" sz="2000" dirty="0">
                <a:latin typeface="Calibri (Body)"/>
              </a:rPr>
              <a:t>to develop and design alternatives, create a high-level design and evaluate design capability to select the best design.</a:t>
            </a:r>
          </a:p>
          <a:p>
            <a:r>
              <a:rPr lang="en-US" sz="2000" b="1" dirty="0">
                <a:latin typeface="Calibri (Body)"/>
              </a:rPr>
              <a:t>Design </a:t>
            </a:r>
            <a:r>
              <a:rPr lang="en-US" sz="2000" dirty="0">
                <a:latin typeface="Calibri (Body)"/>
              </a:rPr>
              <a:t>details, optimize the design, and plan for design verification. This phase may </a:t>
            </a:r>
            <a:r>
              <a:rPr lang="en-IN" sz="2000" dirty="0">
                <a:latin typeface="Calibri (Body)"/>
              </a:rPr>
              <a:t>require simulations.</a:t>
            </a:r>
          </a:p>
          <a:p>
            <a:r>
              <a:rPr lang="en-US" sz="2000" b="1" dirty="0">
                <a:latin typeface="Calibri (Body)"/>
              </a:rPr>
              <a:t>Verify </a:t>
            </a:r>
            <a:r>
              <a:rPr lang="en-US" sz="2000" dirty="0">
                <a:latin typeface="Calibri (Body)"/>
              </a:rPr>
              <a:t>the design, set up pilot runs, implement the production process and hand it over to the process owners.</a:t>
            </a:r>
            <a:endParaRPr lang="en-IN" sz="2000" dirty="0">
              <a:latin typeface="Calibri (Body)"/>
            </a:endParaRPr>
          </a:p>
        </p:txBody>
      </p:sp>
      <p:pic>
        <p:nvPicPr>
          <p:cNvPr id="3" name="Picture 2"/>
          <p:cNvPicPr>
            <a:picLocks noChangeAspect="1"/>
          </p:cNvPicPr>
          <p:nvPr/>
        </p:nvPicPr>
        <p:blipFill>
          <a:blip r:embed="rId3"/>
          <a:stretch>
            <a:fillRect/>
          </a:stretch>
        </p:blipFill>
        <p:spPr>
          <a:xfrm>
            <a:off x="1701338" y="6002418"/>
            <a:ext cx="5334462" cy="536494"/>
          </a:xfrm>
          <a:prstGeom prst="rect">
            <a:avLst/>
          </a:prstGeom>
        </p:spPr>
      </p:pic>
      <p:sp>
        <p:nvSpPr>
          <p:cNvPr id="5" name="Footer Placeholder 4">
            <a:extLst>
              <a:ext uri="{FF2B5EF4-FFF2-40B4-BE49-F238E27FC236}">
                <a16:creationId xmlns:a16="http://schemas.microsoft.com/office/drawing/2014/main" id="{2A72E174-4881-F98A-F60D-0BB4600460E9}"/>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6343445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0D49B7-9723-42E2-A2DB-A7E475F594AB}" type="datetime1">
              <a:rPr lang="en-US" smtClean="0"/>
              <a:t>5/1/2026</a:t>
            </a:fld>
            <a:endParaRPr lang="en-US"/>
          </a:p>
        </p:txBody>
      </p:sp>
      <p:sp>
        <p:nvSpPr>
          <p:cNvPr id="5" name="Footer Placeholder 4"/>
          <p:cNvSpPr>
            <a:spLocks noGrp="1"/>
          </p:cNvSpPr>
          <p:nvPr>
            <p:ph type="ftr" sz="quarter" idx="11"/>
          </p:nvPr>
        </p:nvSpPr>
        <p:spPr>
          <a:xfrm>
            <a:off x="1905000" y="6248400"/>
            <a:ext cx="5638800" cy="47307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US" sz="2800" b="1" dirty="0">
                <a:solidFill>
                  <a:schemeClr val="tx1"/>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SIX SIGMA</a:t>
            </a: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295400"/>
            <a:ext cx="7772400" cy="2862322"/>
          </a:xfrm>
          <a:prstGeom prst="rect">
            <a:avLst/>
          </a:prstGeom>
        </p:spPr>
        <p:txBody>
          <a:bodyPr wrap="square">
            <a:spAutoFit/>
          </a:bodyPr>
          <a:lstStyle/>
          <a:p>
            <a:r>
              <a:rPr lang="en-IN" sz="2000" b="1" dirty="0">
                <a:latin typeface="Calibri (Body)"/>
              </a:rPr>
              <a:t>Implementation roles –</a:t>
            </a:r>
          </a:p>
          <a:p>
            <a:endParaRPr lang="en-IN" sz="2000" b="1" dirty="0">
              <a:latin typeface="Calibri (Body)"/>
            </a:endParaRPr>
          </a:p>
          <a:p>
            <a:pPr algn="just"/>
            <a:r>
              <a:rPr lang="en-US" sz="2000" dirty="0">
                <a:latin typeface="Calibri (Body)"/>
              </a:rPr>
              <a:t>One of the key innovations of Six Sigma is the professionalizing of quality management functions. Prior to Six Sigma, quality management in practice was largely relegated to the production floor and to statisticians in a separate quality department. Six Sigma borrows martial arts ranking terminology to define a hierarchy (and career path) that cuts across all business functions and a promotion path straight into the </a:t>
            </a:r>
            <a:r>
              <a:rPr lang="en-IN" sz="2000" dirty="0">
                <a:latin typeface="Calibri (Body)"/>
              </a:rPr>
              <a:t>executive suite.</a:t>
            </a:r>
          </a:p>
        </p:txBody>
      </p:sp>
    </p:spTree>
    <p:extLst>
      <p:ext uri="{BB962C8B-B14F-4D97-AF65-F5344CB8AC3E}">
        <p14:creationId xmlns:p14="http://schemas.microsoft.com/office/powerpoint/2010/main" val="16976752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1E3898-AAE3-4FCD-99AB-269EF9107C78}" type="datetime1">
              <a:rPr lang="en-US" smtClean="0"/>
              <a:t>5/1/2026</a:t>
            </a:fld>
            <a:endParaRPr lang="en-US"/>
          </a:p>
        </p:txBody>
      </p:sp>
      <p:sp>
        <p:nvSpPr>
          <p:cNvPr id="5" name="Footer Placeholder 4"/>
          <p:cNvSpPr>
            <a:spLocks noGrp="1"/>
          </p:cNvSpPr>
          <p:nvPr>
            <p:ph type="ftr" sz="quarter" idx="11"/>
          </p:nvPr>
        </p:nvSpPr>
        <p:spPr>
          <a:xfrm>
            <a:off x="1905000" y="6175519"/>
            <a:ext cx="57912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457200" y="1295400"/>
            <a:ext cx="8077200" cy="3754874"/>
          </a:xfrm>
          <a:prstGeom prst="rect">
            <a:avLst/>
          </a:prstGeom>
        </p:spPr>
        <p:txBody>
          <a:bodyPr wrap="square">
            <a:spAutoFit/>
          </a:bodyPr>
          <a:lstStyle/>
          <a:p>
            <a:r>
              <a:rPr lang="en-IN" sz="2000" b="1" dirty="0">
                <a:latin typeface="Calibri (Body)"/>
              </a:rPr>
              <a:t>BENCHMARKING</a:t>
            </a:r>
          </a:p>
          <a:p>
            <a:endParaRPr lang="en-IN" sz="2000" b="1" dirty="0">
              <a:latin typeface="Calibri (Body)"/>
            </a:endParaRPr>
          </a:p>
          <a:p>
            <a:pPr algn="just"/>
            <a:r>
              <a:rPr lang="en-US" b="1" dirty="0">
                <a:latin typeface="Calibri (Body)"/>
              </a:rPr>
              <a:t>"Benchmarking</a:t>
            </a:r>
            <a:r>
              <a:rPr lang="en-US" dirty="0">
                <a:latin typeface="Calibri (Body)"/>
              </a:rPr>
              <a:t>: A continuous, systematic process of evaluating and comparing the capability of one organization with others normally recognized as industry leaders, for insights for optimizing the organizations processes." </a:t>
            </a:r>
          </a:p>
          <a:p>
            <a:pPr algn="just"/>
            <a:endParaRPr lang="en-US" b="1" dirty="0">
              <a:latin typeface="Calibri (Body)"/>
            </a:endParaRPr>
          </a:p>
          <a:p>
            <a:pPr algn="just"/>
            <a:r>
              <a:rPr lang="en-US" b="1" dirty="0">
                <a:latin typeface="Calibri (Body)"/>
              </a:rPr>
              <a:t>Benchmarking </a:t>
            </a:r>
            <a:r>
              <a:rPr lang="en-US" dirty="0">
                <a:latin typeface="Calibri (Body)"/>
              </a:rPr>
              <a:t>is the process of comparing the cost, time or quality of what one organization does against what another organization does. The result is often a business case for making changes in order to make improvements. The systematic process of comparing an organization’s products, services and practices against those of competitor organizations or other industry leaders to determine what it is they do that allows them to achieve high levels of performance. (Society for Human Resources Management)</a:t>
            </a:r>
            <a:endParaRPr lang="en-IN" dirty="0">
              <a:latin typeface="Calibri (Body)"/>
            </a:endParaRPr>
          </a:p>
        </p:txBody>
      </p:sp>
    </p:spTree>
    <p:extLst>
      <p:ext uri="{BB962C8B-B14F-4D97-AF65-F5344CB8AC3E}">
        <p14:creationId xmlns:p14="http://schemas.microsoft.com/office/powerpoint/2010/main" val="13397759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C09571F-B5D0-4E04-B3C7-44834BABCAD8}" type="datetime1">
              <a:rPr lang="en-US" smtClean="0"/>
              <a:t>5/1/2026</a:t>
            </a:fld>
            <a:endParaRPr lang="en-US"/>
          </a:p>
        </p:txBody>
      </p:sp>
      <p:sp>
        <p:nvSpPr>
          <p:cNvPr id="5" name="Footer Placeholder 4"/>
          <p:cNvSpPr>
            <a:spLocks noGrp="1"/>
          </p:cNvSpPr>
          <p:nvPr>
            <p:ph type="ftr" sz="quarter" idx="11"/>
          </p:nvPr>
        </p:nvSpPr>
        <p:spPr>
          <a:xfrm>
            <a:off x="2057400" y="6110008"/>
            <a:ext cx="51816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0436"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3" name="Rectangle 2"/>
          <p:cNvSpPr/>
          <p:nvPr/>
        </p:nvSpPr>
        <p:spPr>
          <a:xfrm>
            <a:off x="685800" y="1582341"/>
            <a:ext cx="7772400" cy="3785652"/>
          </a:xfrm>
          <a:prstGeom prst="rect">
            <a:avLst/>
          </a:prstGeom>
        </p:spPr>
        <p:txBody>
          <a:bodyPr wrap="square">
            <a:spAutoFit/>
          </a:bodyPr>
          <a:lstStyle/>
          <a:p>
            <a:r>
              <a:rPr lang="en-IN" sz="2000" b="1" dirty="0">
                <a:latin typeface="Calibri (Body)"/>
              </a:rPr>
              <a:t>Advantages of benchmarking</a:t>
            </a:r>
          </a:p>
          <a:p>
            <a:endParaRPr lang="en-IN" sz="2000" b="1" dirty="0">
              <a:latin typeface="Calibri (Body)"/>
            </a:endParaRPr>
          </a:p>
          <a:p>
            <a:pPr algn="just"/>
            <a:r>
              <a:rPr lang="en-US" sz="2000" dirty="0">
                <a:latin typeface="Calibri (Body)"/>
              </a:rPr>
              <a:t>Benchmarking is a powerful management tool because it overcomes "paradigm blindness." Benchmarking opens organizations to new methods, ideas and tools to improve their</a:t>
            </a:r>
          </a:p>
          <a:p>
            <a:pPr algn="just"/>
            <a:r>
              <a:rPr lang="en-US" sz="2000" dirty="0">
                <a:latin typeface="Calibri (Body)"/>
              </a:rPr>
              <a:t>effectiveness. </a:t>
            </a:r>
          </a:p>
          <a:p>
            <a:pPr algn="just"/>
            <a:r>
              <a:rPr lang="en-US" sz="2000" dirty="0">
                <a:latin typeface="Calibri (Body)"/>
              </a:rPr>
              <a:t>It helps crack through resistance to change by demonstrating other methods.</a:t>
            </a:r>
          </a:p>
          <a:p>
            <a:pPr algn="just"/>
            <a:r>
              <a:rPr lang="en-US" sz="2000" dirty="0">
                <a:latin typeface="Calibri (Body)"/>
              </a:rPr>
              <a:t>Allows employees to visualize the improvement which can be a strong motivator for change.</a:t>
            </a:r>
          </a:p>
          <a:p>
            <a:pPr algn="just"/>
            <a:r>
              <a:rPr lang="en-US" sz="2000" dirty="0">
                <a:latin typeface="Calibri (Body)"/>
              </a:rPr>
              <a:t>Helps to identify weak areas and indicates what needs to be done to improve.</a:t>
            </a:r>
            <a:endParaRPr lang="en-IN" sz="2000" dirty="0">
              <a:latin typeface="Calibri (Body)"/>
            </a:endParaRPr>
          </a:p>
        </p:txBody>
      </p:sp>
    </p:spTree>
    <p:extLst>
      <p:ext uri="{BB962C8B-B14F-4D97-AF65-F5344CB8AC3E}">
        <p14:creationId xmlns:p14="http://schemas.microsoft.com/office/powerpoint/2010/main" val="9154115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E63FCB-F7D3-42CA-A28B-BE1CCC177941}" type="datetime1">
              <a:rPr lang="en-US" smtClean="0"/>
              <a:t>5/1/2026</a:t>
            </a:fld>
            <a:endParaRPr lang="en-US"/>
          </a:p>
        </p:txBody>
      </p:sp>
      <p:sp>
        <p:nvSpPr>
          <p:cNvPr id="5" name="Footer Placeholder 4"/>
          <p:cNvSpPr>
            <a:spLocks noGrp="1"/>
          </p:cNvSpPr>
          <p:nvPr>
            <p:ph type="ftr" sz="quarter" idx="11"/>
          </p:nvPr>
        </p:nvSpPr>
        <p:spPr>
          <a:xfrm>
            <a:off x="1905000" y="6120976"/>
            <a:ext cx="57150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pic>
        <p:nvPicPr>
          <p:cNvPr id="2" name="Picture 1"/>
          <p:cNvPicPr>
            <a:picLocks noChangeAspect="1"/>
          </p:cNvPicPr>
          <p:nvPr/>
        </p:nvPicPr>
        <p:blipFill>
          <a:blip r:embed="rId3"/>
          <a:stretch>
            <a:fillRect/>
          </a:stretch>
        </p:blipFill>
        <p:spPr>
          <a:xfrm>
            <a:off x="838200" y="1447800"/>
            <a:ext cx="7620000" cy="4191000"/>
          </a:xfrm>
          <a:prstGeom prst="rect">
            <a:avLst/>
          </a:prstGeom>
        </p:spPr>
      </p:pic>
    </p:spTree>
    <p:extLst>
      <p:ext uri="{BB962C8B-B14F-4D97-AF65-F5344CB8AC3E}">
        <p14:creationId xmlns:p14="http://schemas.microsoft.com/office/powerpoint/2010/main" val="40037613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11AA42D-25A8-410B-BE20-E7EA8EC7B29D}" type="datetime1">
              <a:rPr lang="en-US" smtClean="0"/>
              <a:t>5/1/2026</a:t>
            </a:fld>
            <a:endParaRPr lang="en-US"/>
          </a:p>
        </p:txBody>
      </p:sp>
      <p:sp>
        <p:nvSpPr>
          <p:cNvPr id="5" name="Footer Placeholder 4"/>
          <p:cNvSpPr>
            <a:spLocks noGrp="1"/>
          </p:cNvSpPr>
          <p:nvPr>
            <p:ph type="ftr" sz="quarter" idx="11"/>
          </p:nvPr>
        </p:nvSpPr>
        <p:spPr>
          <a:xfrm>
            <a:off x="1981200" y="6356350"/>
            <a:ext cx="56388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371600"/>
            <a:ext cx="7696200" cy="3170099"/>
          </a:xfrm>
          <a:prstGeom prst="rect">
            <a:avLst/>
          </a:prstGeom>
        </p:spPr>
        <p:txBody>
          <a:bodyPr wrap="square">
            <a:spAutoFit/>
          </a:bodyPr>
          <a:lstStyle/>
          <a:p>
            <a:r>
              <a:rPr lang="en-IN" sz="2000" b="1" dirty="0">
                <a:latin typeface="Calibri (Body)"/>
              </a:rPr>
              <a:t>THE BENCHMARKING PROCESS</a:t>
            </a:r>
          </a:p>
          <a:p>
            <a:endParaRPr lang="en-IN" sz="2000" b="1" dirty="0">
              <a:latin typeface="Calibri (Body)"/>
            </a:endParaRPr>
          </a:p>
          <a:p>
            <a:pPr algn="just"/>
            <a:r>
              <a:rPr lang="en-US" sz="2000" dirty="0">
                <a:latin typeface="Calibri (Body)"/>
              </a:rPr>
              <a:t>The formal 10-step benchmarking process is shown in outline below:</a:t>
            </a:r>
          </a:p>
          <a:p>
            <a:pPr algn="just"/>
            <a:r>
              <a:rPr lang="en-IN" sz="2000" dirty="0">
                <a:latin typeface="Calibri (Body)"/>
              </a:rPr>
              <a:t>1. PLANNING</a:t>
            </a:r>
          </a:p>
          <a:p>
            <a:pPr algn="just"/>
            <a:r>
              <a:rPr lang="en-US" sz="2000" dirty="0">
                <a:latin typeface="Calibri (Body)"/>
              </a:rPr>
              <a:t>The essential steps are those of any plan development: what, who and how. Every function of an organization has or delivers a product or output. Benchmarking is appropriate for any output of a process or function, whether it is a physical good, an order, a Shipment, an invoice, a service or a report.</a:t>
            </a:r>
            <a:endParaRPr lang="en-IN" sz="2000" dirty="0">
              <a:latin typeface="Calibri (Body)"/>
            </a:endParaRPr>
          </a:p>
        </p:txBody>
      </p:sp>
    </p:spTree>
    <p:extLst>
      <p:ext uri="{BB962C8B-B14F-4D97-AF65-F5344CB8AC3E}">
        <p14:creationId xmlns:p14="http://schemas.microsoft.com/office/powerpoint/2010/main" val="1993304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F542513-4EE0-408D-8DC9-A4404DB2B557}" type="datetime1">
              <a:rPr lang="en-US" smtClean="0"/>
              <a:t>5/1/2026</a:t>
            </a:fld>
            <a:endParaRPr lang="en-US"/>
          </a:p>
        </p:txBody>
      </p:sp>
      <p:sp>
        <p:nvSpPr>
          <p:cNvPr id="5" name="Footer Placeholder 4"/>
          <p:cNvSpPr>
            <a:spLocks noGrp="1"/>
          </p:cNvSpPr>
          <p:nvPr>
            <p:ph type="ftr" sz="quarter" idx="11"/>
          </p:nvPr>
        </p:nvSpPr>
        <p:spPr>
          <a:xfrm>
            <a:off x="1981200" y="6356350"/>
            <a:ext cx="56388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457200" y="1600200"/>
            <a:ext cx="8001000" cy="4524315"/>
          </a:xfrm>
          <a:prstGeom prst="rect">
            <a:avLst/>
          </a:prstGeom>
        </p:spPr>
        <p:txBody>
          <a:bodyPr wrap="square">
            <a:spAutoFit/>
          </a:bodyPr>
          <a:lstStyle/>
          <a:p>
            <a:r>
              <a:rPr lang="en-US" dirty="0">
                <a:latin typeface="Calibri (Body)"/>
              </a:rPr>
              <a:t>To whom or what will we compare?</a:t>
            </a:r>
          </a:p>
          <a:p>
            <a:endParaRPr lang="en-US" dirty="0">
              <a:latin typeface="Calibri (Body)"/>
            </a:endParaRPr>
          </a:p>
          <a:p>
            <a:pPr algn="just"/>
            <a:r>
              <a:rPr lang="en-US" dirty="0">
                <a:latin typeface="Calibri (Body)"/>
              </a:rPr>
              <a:t>Business-to-business, direct competitors are certainly prime candidates to benchmark, but they are not the only targets. Benchmarking must be conducted against the best companies and business functions regardless of where they exist. </a:t>
            </a:r>
          </a:p>
          <a:p>
            <a:pPr algn="just"/>
            <a:endParaRPr lang="en-US" dirty="0">
              <a:latin typeface="Calibri (Body)"/>
            </a:endParaRPr>
          </a:p>
          <a:p>
            <a:pPr algn="just"/>
            <a:r>
              <a:rPr lang="en-US" dirty="0">
                <a:latin typeface="Calibri (Body)"/>
              </a:rPr>
              <a:t>How will the data be </a:t>
            </a:r>
            <a:r>
              <a:rPr lang="en-IN" dirty="0">
                <a:latin typeface="Calibri (Body)"/>
              </a:rPr>
              <a:t>collected?</a:t>
            </a:r>
          </a:p>
          <a:p>
            <a:pPr algn="just"/>
            <a:endParaRPr lang="en-IN" dirty="0">
              <a:latin typeface="Calibri (Body)"/>
            </a:endParaRPr>
          </a:p>
          <a:p>
            <a:pPr algn="just"/>
            <a:r>
              <a:rPr lang="en-US" dirty="0">
                <a:latin typeface="Calibri (Body)"/>
              </a:rPr>
              <a:t>There is no one way to conduct benchmarking investigations. </a:t>
            </a:r>
          </a:p>
          <a:p>
            <a:pPr algn="just"/>
            <a:r>
              <a:rPr lang="en-US" dirty="0">
                <a:latin typeface="Calibri (Body)"/>
              </a:rPr>
              <a:t>There is an infinite variety of ways to obtain required data – and most of the data you will need are readily and publicly available. </a:t>
            </a:r>
          </a:p>
          <a:p>
            <a:pPr algn="just"/>
            <a:r>
              <a:rPr lang="en-US" dirty="0">
                <a:latin typeface="Calibri (Body)"/>
              </a:rPr>
              <a:t>Recognize that benchmarking is a process not only of deriving quantifiable goals and targets, but more importantly, it is the process of investigating and documenting the best industry practices, which can help you achieve goals and targets.</a:t>
            </a:r>
            <a:endParaRPr lang="en-IN" dirty="0">
              <a:latin typeface="Calibri (Body)"/>
            </a:endParaRPr>
          </a:p>
        </p:txBody>
      </p:sp>
    </p:spTree>
    <p:extLst>
      <p:ext uri="{BB962C8B-B14F-4D97-AF65-F5344CB8AC3E}">
        <p14:creationId xmlns:p14="http://schemas.microsoft.com/office/powerpoint/2010/main" val="36812944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050EAC5-80BE-45D0-805C-FC618A69423B}" type="datetime1">
              <a:rPr lang="en-US" smtClean="0"/>
              <a:t>5/1/2026</a:t>
            </a:fld>
            <a:endParaRPr lang="en-US"/>
          </a:p>
        </p:txBody>
      </p:sp>
      <p:sp>
        <p:nvSpPr>
          <p:cNvPr id="5" name="Footer Placeholder 4"/>
          <p:cNvSpPr>
            <a:spLocks noGrp="1"/>
          </p:cNvSpPr>
          <p:nvPr>
            <p:ph type="ftr" sz="quarter" idx="11"/>
          </p:nvPr>
        </p:nvSpPr>
        <p:spPr>
          <a:xfrm>
            <a:off x="2057400" y="6173787"/>
            <a:ext cx="5562600"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533400" y="1371600"/>
            <a:ext cx="8001000" cy="1754326"/>
          </a:xfrm>
          <a:prstGeom prst="rect">
            <a:avLst/>
          </a:prstGeom>
        </p:spPr>
        <p:txBody>
          <a:bodyPr wrap="square">
            <a:spAutoFit/>
          </a:bodyPr>
          <a:lstStyle/>
          <a:p>
            <a:pPr algn="just"/>
            <a:r>
              <a:rPr lang="en-IN" dirty="0">
                <a:latin typeface="Calibri (Body)"/>
              </a:rPr>
              <a:t>2. ANALYSIS</a:t>
            </a:r>
          </a:p>
          <a:p>
            <a:pPr algn="just"/>
            <a:endParaRPr lang="en-IN" dirty="0">
              <a:latin typeface="Calibri (Body)"/>
            </a:endParaRPr>
          </a:p>
          <a:p>
            <a:pPr algn="just"/>
            <a:r>
              <a:rPr lang="en-US" dirty="0">
                <a:latin typeface="Calibri (Body)"/>
              </a:rPr>
              <a:t>The analysis phase must involve a careful understanding of your current process and practices, as well as those of the organizations being benchmarked. What is desired is an understanding of internal performance on which to assess strengths and weaknesses.</a:t>
            </a:r>
            <a:endParaRPr lang="en-IN" dirty="0">
              <a:latin typeface="Calibri (Body)"/>
            </a:endParaRPr>
          </a:p>
        </p:txBody>
      </p:sp>
    </p:spTree>
    <p:extLst>
      <p:ext uri="{BB962C8B-B14F-4D97-AF65-F5344CB8AC3E}">
        <p14:creationId xmlns:p14="http://schemas.microsoft.com/office/powerpoint/2010/main" val="38420382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8A203EE-92D0-4077-A3C5-10AA6019E502}" type="datetime1">
              <a:rPr lang="en-US" smtClean="0"/>
              <a:t>5/1/2026</a:t>
            </a:fld>
            <a:endParaRPr lang="en-US"/>
          </a:p>
        </p:txBody>
      </p:sp>
      <p:sp>
        <p:nvSpPr>
          <p:cNvPr id="5" name="Footer Placeholder 4"/>
          <p:cNvSpPr>
            <a:spLocks noGrp="1"/>
          </p:cNvSpPr>
          <p:nvPr>
            <p:ph type="ftr" sz="quarter" idx="11"/>
          </p:nvPr>
        </p:nvSpPr>
        <p:spPr>
          <a:xfrm>
            <a:off x="1792745" y="6356350"/>
            <a:ext cx="5522455"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447800"/>
            <a:ext cx="7543800" cy="4093428"/>
          </a:xfrm>
          <a:prstGeom prst="rect">
            <a:avLst/>
          </a:prstGeom>
        </p:spPr>
        <p:txBody>
          <a:bodyPr wrap="square">
            <a:spAutoFit/>
          </a:bodyPr>
          <a:lstStyle/>
          <a:p>
            <a:pPr algn="just"/>
            <a:r>
              <a:rPr lang="en-IN" sz="2000" dirty="0">
                <a:latin typeface="Calibri (Body)"/>
              </a:rPr>
              <a:t>3. INTEGRATION</a:t>
            </a:r>
          </a:p>
          <a:p>
            <a:pPr algn="just"/>
            <a:r>
              <a:rPr lang="en-US" sz="2000" dirty="0">
                <a:latin typeface="Calibri (Body)"/>
              </a:rPr>
              <a:t>Integration is the process of using benchmark findings to set operational targets for change. It involves careful planning to incorporate new practices in the operation and to ensure benchmark findings are incorporated in all formal planning processes. </a:t>
            </a:r>
          </a:p>
          <a:p>
            <a:pPr algn="just"/>
            <a:endParaRPr lang="en-US" sz="2000" dirty="0">
              <a:latin typeface="Calibri (Body)"/>
            </a:endParaRPr>
          </a:p>
          <a:p>
            <a:pPr algn="just"/>
            <a:r>
              <a:rPr lang="en-US" sz="2000" dirty="0">
                <a:latin typeface="Calibri (Body)"/>
              </a:rPr>
              <a:t>Steps include:</a:t>
            </a:r>
          </a:p>
          <a:p>
            <a:pPr algn="just"/>
            <a:r>
              <a:rPr lang="en-US" sz="2000" dirty="0">
                <a:latin typeface="Calibri (Body)"/>
              </a:rPr>
              <a:t>Gain operational and management acceptance of benchmark findings. Clearly and convincingly demonstrate findings as correct and based on substantive data. Develop action </a:t>
            </a:r>
            <a:r>
              <a:rPr lang="en-IN" sz="2000" dirty="0">
                <a:latin typeface="Calibri (Body)"/>
              </a:rPr>
              <a:t>plans.</a:t>
            </a:r>
          </a:p>
          <a:p>
            <a:pPr algn="just"/>
            <a:r>
              <a:rPr lang="en-US" sz="2000" dirty="0">
                <a:latin typeface="Calibri (Body)"/>
              </a:rPr>
              <a:t>Communicate findings to all organizational levels to obtain support, commitment and </a:t>
            </a:r>
            <a:r>
              <a:rPr lang="en-IN" sz="2000" dirty="0">
                <a:latin typeface="Calibri (Body)"/>
              </a:rPr>
              <a:t>ownership.</a:t>
            </a:r>
          </a:p>
        </p:txBody>
      </p:sp>
    </p:spTree>
    <p:extLst>
      <p:ext uri="{BB962C8B-B14F-4D97-AF65-F5344CB8AC3E}">
        <p14:creationId xmlns:p14="http://schemas.microsoft.com/office/powerpoint/2010/main" val="3875272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A8895A6-4C9D-4906-B268-E1A9A13B8702}" type="datetime1">
              <a:rPr lang="en-US" smtClean="0"/>
              <a:t>5/1/2026</a:t>
            </a:fld>
            <a:endParaRPr lang="en-US"/>
          </a:p>
        </p:txBody>
      </p:sp>
      <p:sp>
        <p:nvSpPr>
          <p:cNvPr id="5" name="Footer Placeholder 4"/>
          <p:cNvSpPr>
            <a:spLocks noGrp="1"/>
          </p:cNvSpPr>
          <p:nvPr>
            <p:ph type="ftr" sz="quarter" idx="11"/>
          </p:nvPr>
        </p:nvSpPr>
        <p:spPr>
          <a:xfrm>
            <a:off x="2133600" y="6173787"/>
            <a:ext cx="5217655"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85800" y="1371600"/>
            <a:ext cx="7772400" cy="3970318"/>
          </a:xfrm>
          <a:prstGeom prst="rect">
            <a:avLst/>
          </a:prstGeom>
        </p:spPr>
        <p:txBody>
          <a:bodyPr wrap="square">
            <a:spAutoFit/>
          </a:bodyPr>
          <a:lstStyle/>
          <a:p>
            <a:r>
              <a:rPr lang="en-IN" dirty="0">
                <a:latin typeface="Calibri (Body)"/>
              </a:rPr>
              <a:t>4. ACTION</a:t>
            </a:r>
          </a:p>
          <a:p>
            <a:pPr algn="just"/>
            <a:r>
              <a:rPr lang="en-US" dirty="0">
                <a:latin typeface="Calibri (Body)"/>
              </a:rPr>
              <a:t>Convert benchmark findings, and operational principles based on them, to specific actions to be taken. Put in place a periodic measurement and assessment of achievement. Use the creative talents of the people who actually perform work tasks to determine how the findings can be incorporated into the work processes. Any plan for change also should contain milestones for updating the benchmark findings, and an ongoing reporting mechanism. Progress toward benchmark findings must be reported to all employees. </a:t>
            </a:r>
          </a:p>
          <a:p>
            <a:pPr algn="just"/>
            <a:endParaRPr lang="en-US" dirty="0">
              <a:latin typeface="Calibri (Body)"/>
            </a:endParaRPr>
          </a:p>
          <a:p>
            <a:pPr algn="just"/>
            <a:r>
              <a:rPr lang="en-US" dirty="0">
                <a:latin typeface="Calibri (Body)"/>
              </a:rPr>
              <a:t>5. Maturity: Maturity will be reached when best industry practices are incorporated in all business processes, thus ensuring superiority. Tests for superiority: If the now-changed process were to be made available to others, would a knowledgeable </a:t>
            </a:r>
            <a:r>
              <a:rPr lang="en-IN" dirty="0">
                <a:latin typeface="Calibri (Body)"/>
              </a:rPr>
              <a:t>business person prefer it?</a:t>
            </a:r>
          </a:p>
        </p:txBody>
      </p:sp>
    </p:spTree>
    <p:extLst>
      <p:ext uri="{BB962C8B-B14F-4D97-AF65-F5344CB8AC3E}">
        <p14:creationId xmlns:p14="http://schemas.microsoft.com/office/powerpoint/2010/main" val="29518078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5583D4-546F-489F-A141-CE5FE53E7E87}" type="datetime1">
              <a:rPr lang="en-US" smtClean="0"/>
              <a:t>5/1/2026</a:t>
            </a:fld>
            <a:endParaRPr lang="en-US"/>
          </a:p>
        </p:txBody>
      </p:sp>
      <p:sp>
        <p:nvSpPr>
          <p:cNvPr id="5" name="Footer Placeholder 4"/>
          <p:cNvSpPr>
            <a:spLocks noGrp="1"/>
          </p:cNvSpPr>
          <p:nvPr>
            <p:ph type="ftr" sz="quarter" idx="11"/>
          </p:nvPr>
        </p:nvSpPr>
        <p:spPr>
          <a:xfrm>
            <a:off x="2133600" y="6029902"/>
            <a:ext cx="5217655" cy="365125"/>
          </a:xfrm>
        </p:spPr>
        <p:txBody>
          <a:bodyPr/>
          <a:lstStyle/>
          <a:p>
            <a:r>
              <a:rPr lang="en-US" sz="2000"/>
              <a:t>Mr. Minhaj Nezami     AOE0861    TQM      Unit 3</a:t>
            </a:r>
            <a:endParaRPr lang="en-US" sz="2000" dirty="0"/>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762000" y="1524000"/>
            <a:ext cx="7772400" cy="1938992"/>
          </a:xfrm>
          <a:prstGeom prst="rect">
            <a:avLst/>
          </a:prstGeom>
        </p:spPr>
        <p:txBody>
          <a:bodyPr wrap="square">
            <a:spAutoFit/>
          </a:bodyPr>
          <a:lstStyle/>
          <a:p>
            <a:pPr algn="just"/>
            <a:r>
              <a:rPr lang="en-US" sz="2000" dirty="0">
                <a:latin typeface="Calibri (Body)"/>
              </a:rPr>
              <a:t>Do other organizations benchmark your internal operations?</a:t>
            </a:r>
          </a:p>
          <a:p>
            <a:pPr algn="just"/>
            <a:endParaRPr lang="en-US" sz="2000" dirty="0">
              <a:latin typeface="Calibri (Body)"/>
            </a:endParaRPr>
          </a:p>
          <a:p>
            <a:pPr algn="just"/>
            <a:r>
              <a:rPr lang="en-US" sz="2000" dirty="0">
                <a:latin typeface="Calibri (Body)"/>
              </a:rPr>
              <a:t>Maturity also is achieved when benchmarking becomes an ongoing, essential and self-initiated facet of the management process. Benchmarking becomes institutionalized and is done at all appropriate levels of the organization, not by specialists.</a:t>
            </a:r>
            <a:endParaRPr lang="en-IN" sz="2000" dirty="0">
              <a:latin typeface="Calibri (Body)"/>
            </a:endParaRPr>
          </a:p>
        </p:txBody>
      </p:sp>
    </p:spTree>
    <p:extLst>
      <p:ext uri="{BB962C8B-B14F-4D97-AF65-F5344CB8AC3E}">
        <p14:creationId xmlns:p14="http://schemas.microsoft.com/office/powerpoint/2010/main" val="33704628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4A5C610-FB1D-49BD-96C9-1B0CC1E1522C}"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85800" y="1447800"/>
            <a:ext cx="7467600" cy="2862322"/>
          </a:xfrm>
          <a:prstGeom prst="rect">
            <a:avLst/>
          </a:prstGeom>
        </p:spPr>
        <p:txBody>
          <a:bodyPr wrap="square">
            <a:spAutoFit/>
          </a:bodyPr>
          <a:lstStyle/>
          <a:p>
            <a:r>
              <a:rPr lang="en-IN" sz="2000" b="1" dirty="0">
                <a:latin typeface="Calibri (Body)"/>
              </a:rPr>
              <a:t>Types of Benchmarking</a:t>
            </a:r>
          </a:p>
          <a:p>
            <a:endParaRPr lang="en-IN" sz="2000" b="1" dirty="0">
              <a:latin typeface="Calibri (Body)"/>
            </a:endParaRPr>
          </a:p>
          <a:p>
            <a:pPr algn="just"/>
            <a:r>
              <a:rPr lang="en-US" sz="2000" dirty="0">
                <a:latin typeface="Calibri (Body)"/>
              </a:rPr>
              <a:t>Process benchmarking - the initiating firm focuses its observation and investigation of business processes with a goal of identifying and observing the best practices from one or more benchmark firms. Activity analysis will be required where the objective is to benchmark cost and efficiency; increasingly applied to back-office processes where outsourcing may be a consideration.</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84421A7B-9AF3-37F3-9EB8-FEA4E25F14E7}"/>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9696630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44EB4E4-F898-4988-BC6D-2401086FDB11}"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838200" y="1582341"/>
            <a:ext cx="7696200" cy="3170099"/>
          </a:xfrm>
          <a:prstGeom prst="rect">
            <a:avLst/>
          </a:prstGeom>
        </p:spPr>
        <p:txBody>
          <a:bodyPr wrap="square">
            <a:spAutoFit/>
          </a:bodyPr>
          <a:lstStyle/>
          <a:p>
            <a:pPr algn="just"/>
            <a:r>
              <a:rPr lang="en-US" sz="2000" dirty="0">
                <a:latin typeface="Calibri (Body)"/>
              </a:rPr>
              <a:t>Financial benchmarking - performing a financial analysis and comparing the results in an effort to assess your overall competitiveness.</a:t>
            </a:r>
          </a:p>
          <a:p>
            <a:pPr algn="just"/>
            <a:r>
              <a:rPr lang="en-US" sz="2000" dirty="0">
                <a:latin typeface="Calibri (Body)"/>
              </a:rPr>
              <a:t>Performance benchmarking - allows the initiator firm to assess their competitive position by comparing products and services with those of target firms.</a:t>
            </a:r>
          </a:p>
          <a:p>
            <a:pPr algn="just"/>
            <a:r>
              <a:rPr lang="en-US" sz="2000" dirty="0">
                <a:latin typeface="Calibri (Body)"/>
              </a:rPr>
              <a:t>Product benchmarking - the process of designing new products or upgrades to current ones. This process can sometimes involve reverse engineering which is taking apart competitors products to find strengths and weaknesses.</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B89FDE83-CD8B-75F1-035D-A52F22A37307}"/>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28656628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0543401-21EA-469D-A6DD-A24F376A1C8F}"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371600"/>
            <a:ext cx="7696200" cy="3477875"/>
          </a:xfrm>
          <a:prstGeom prst="rect">
            <a:avLst/>
          </a:prstGeom>
        </p:spPr>
        <p:txBody>
          <a:bodyPr wrap="square">
            <a:spAutoFit/>
          </a:bodyPr>
          <a:lstStyle/>
          <a:p>
            <a:pPr algn="just"/>
            <a:r>
              <a:rPr lang="en-US" sz="2000" dirty="0">
                <a:latin typeface="Calibri (Body)"/>
              </a:rPr>
              <a:t>Strategic benchmarking - involves observing how others compete. This type is usually not industry specific meaning it is best to look at other industries.</a:t>
            </a:r>
          </a:p>
          <a:p>
            <a:pPr algn="just"/>
            <a:endParaRPr lang="en-US" sz="2000" dirty="0">
              <a:latin typeface="Calibri (Body)"/>
            </a:endParaRPr>
          </a:p>
          <a:p>
            <a:pPr algn="just"/>
            <a:r>
              <a:rPr lang="en-US" sz="2000" dirty="0">
                <a:latin typeface="Calibri (Body)"/>
              </a:rPr>
              <a:t>Functional benchmarking - a company will focus its benchmarking on a single function in order to improve the operation of that particular function. Complex functions such as Human Resources, Finance and Accounting and Information and Communication Technology are unlikely to be directly comparable in cost and</a:t>
            </a:r>
          </a:p>
          <a:p>
            <a:pPr algn="just"/>
            <a:r>
              <a:rPr lang="en-US" sz="2000" dirty="0">
                <a:latin typeface="Calibri (Body)"/>
              </a:rPr>
              <a:t>efficiency terms and may need to be disaggregated into processes to make valid </a:t>
            </a:r>
            <a:r>
              <a:rPr lang="en-IN" sz="2000" dirty="0">
                <a:latin typeface="Calibri (Body)"/>
              </a:rPr>
              <a:t>comparison</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0A58BCC3-4D4C-9E8A-5E25-F2BE9A229209}"/>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22530439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BEB047-99EF-4189-BF51-2ABADBEB8F31}"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838200" y="1524000"/>
            <a:ext cx="7391400" cy="2862322"/>
          </a:xfrm>
          <a:prstGeom prst="rect">
            <a:avLst/>
          </a:prstGeom>
        </p:spPr>
        <p:txBody>
          <a:bodyPr wrap="square">
            <a:spAutoFit/>
          </a:bodyPr>
          <a:lstStyle/>
          <a:p>
            <a:pPr algn="just"/>
            <a:r>
              <a:rPr lang="en-IN" sz="2000" b="1" dirty="0">
                <a:latin typeface="Calibri (Body)"/>
              </a:rPr>
              <a:t>Implementation in manufacturing</a:t>
            </a:r>
          </a:p>
          <a:p>
            <a:pPr algn="just"/>
            <a:endParaRPr lang="en-IN" sz="2000" b="1" dirty="0">
              <a:latin typeface="Calibri (Body)"/>
            </a:endParaRPr>
          </a:p>
          <a:p>
            <a:pPr algn="just"/>
            <a:r>
              <a:rPr lang="en-US" sz="2000" dirty="0" err="1">
                <a:latin typeface="Calibri (Body)"/>
              </a:rPr>
              <a:t>Poka</a:t>
            </a:r>
            <a:r>
              <a:rPr lang="en-US" sz="2000" dirty="0">
                <a:latin typeface="Calibri (Body)"/>
              </a:rPr>
              <a:t>-yoke can be implemented at any step of a manufacturing process where something can go wrong or an error can be made. For example, a jig that holds pieces for processing might</a:t>
            </a:r>
          </a:p>
          <a:p>
            <a:pPr algn="just"/>
            <a:r>
              <a:rPr lang="en-US" sz="2000" dirty="0">
                <a:latin typeface="Calibri (Body)"/>
              </a:rPr>
              <a:t>be modified to only allow pieces to be held in the correct orientation, or a digital counter might </a:t>
            </a:r>
            <a:r>
              <a:rPr lang="en-IN" sz="2000" dirty="0">
                <a:latin typeface="Calibri (Body)"/>
              </a:rPr>
              <a:t>track </a:t>
            </a:r>
            <a:r>
              <a:rPr lang="en-US" sz="2000" dirty="0">
                <a:latin typeface="Calibri (Body)"/>
              </a:rPr>
              <a:t>the number of spot welds on each piece to ensure that the worker executes the correct number of </a:t>
            </a:r>
            <a:r>
              <a:rPr lang="en-IN" sz="2000" dirty="0">
                <a:latin typeface="Calibri (Body)"/>
              </a:rPr>
              <a:t>welds.</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9ABA6910-2173-E042-E2D5-E423B543A237}"/>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30623850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CAFDBF3-1232-4384-9ABA-8C35E90EF856}"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62345" y="0"/>
            <a:ext cx="1755800" cy="1024217"/>
          </a:xfrm>
          <a:prstGeom prst="rect">
            <a:avLst/>
          </a:prstGeom>
        </p:spPr>
      </p:pic>
      <p:sp>
        <p:nvSpPr>
          <p:cNvPr id="2" name="Rectangle 1"/>
          <p:cNvSpPr/>
          <p:nvPr/>
        </p:nvSpPr>
        <p:spPr>
          <a:xfrm>
            <a:off x="685800" y="1269910"/>
            <a:ext cx="8001000" cy="5016758"/>
          </a:xfrm>
          <a:prstGeom prst="rect">
            <a:avLst/>
          </a:prstGeom>
        </p:spPr>
        <p:txBody>
          <a:bodyPr wrap="square">
            <a:spAutoFit/>
          </a:bodyPr>
          <a:lstStyle/>
          <a:p>
            <a:r>
              <a:rPr lang="en-US" sz="2000" dirty="0">
                <a:latin typeface="Calibri (Body)"/>
              </a:rPr>
              <a:t>Shigeo Shingo recognized three types of </a:t>
            </a:r>
            <a:r>
              <a:rPr lang="en-US" sz="2000" dirty="0" err="1">
                <a:latin typeface="Calibri (Body)"/>
              </a:rPr>
              <a:t>poka</a:t>
            </a:r>
            <a:r>
              <a:rPr lang="en-US" sz="2000" dirty="0">
                <a:latin typeface="Calibri (Body)"/>
              </a:rPr>
              <a:t>-yoke for detecting and preventing errors in a mass </a:t>
            </a:r>
            <a:r>
              <a:rPr lang="en-IN" sz="2000" dirty="0">
                <a:latin typeface="Calibri (Body)"/>
              </a:rPr>
              <a:t>production system:</a:t>
            </a:r>
          </a:p>
          <a:p>
            <a:endParaRPr lang="en-IN" sz="2000" dirty="0">
              <a:latin typeface="Calibri (Body)"/>
            </a:endParaRPr>
          </a:p>
          <a:p>
            <a:pPr marL="457200" indent="-457200">
              <a:buAutoNum type="arabicPeriod"/>
            </a:pPr>
            <a:r>
              <a:rPr lang="en-US" sz="2000" dirty="0">
                <a:latin typeface="Calibri (Body)"/>
              </a:rPr>
              <a:t>The contact method identifies product defects by testing the product's shape, size, color, or </a:t>
            </a:r>
            <a:r>
              <a:rPr lang="en-IN" sz="2000" dirty="0">
                <a:latin typeface="Calibri (Body)"/>
              </a:rPr>
              <a:t>other physical attributes.</a:t>
            </a:r>
          </a:p>
          <a:p>
            <a:endParaRPr lang="en-IN" sz="2000" dirty="0">
              <a:latin typeface="Calibri (Body)"/>
            </a:endParaRPr>
          </a:p>
          <a:p>
            <a:r>
              <a:rPr lang="en-US" sz="2000" dirty="0">
                <a:latin typeface="Calibri (Body)"/>
              </a:rPr>
              <a:t>2.   The fixed-value (or constant number) method alerts the operator if   </a:t>
            </a:r>
          </a:p>
          <a:p>
            <a:r>
              <a:rPr lang="en-US" sz="2000" dirty="0">
                <a:latin typeface="Calibri (Body)"/>
              </a:rPr>
              <a:t>      a certain number of </a:t>
            </a:r>
            <a:r>
              <a:rPr lang="en-IN" sz="2000" dirty="0">
                <a:latin typeface="Calibri (Body)"/>
              </a:rPr>
              <a:t>movements are not made.</a:t>
            </a:r>
          </a:p>
          <a:p>
            <a:endParaRPr lang="en-IN" sz="2000" dirty="0">
              <a:latin typeface="Calibri (Body)"/>
            </a:endParaRPr>
          </a:p>
          <a:p>
            <a:r>
              <a:rPr lang="en-US" sz="2000" dirty="0">
                <a:latin typeface="Calibri (Body)"/>
              </a:rPr>
              <a:t>3. The motion-step (or sequence) method determines whether the </a:t>
            </a:r>
          </a:p>
          <a:p>
            <a:r>
              <a:rPr lang="en-US" sz="2000" dirty="0">
                <a:latin typeface="Calibri (Body)"/>
              </a:rPr>
              <a:t>    prescribed steps of the process </a:t>
            </a:r>
            <a:r>
              <a:rPr lang="en-IN" sz="2000" dirty="0">
                <a:latin typeface="Calibri (Body)"/>
              </a:rPr>
              <a:t>have been followed.</a:t>
            </a:r>
          </a:p>
          <a:p>
            <a:r>
              <a:rPr lang="en-US" sz="2000" dirty="0">
                <a:latin typeface="Calibri (Body)"/>
              </a:rPr>
              <a:t>    Either the operator is alerted when a mistake is about to be made,     </a:t>
            </a:r>
          </a:p>
          <a:p>
            <a:r>
              <a:rPr lang="en-US" sz="2000" dirty="0">
                <a:latin typeface="Calibri (Body)"/>
              </a:rPr>
              <a:t>    or the </a:t>
            </a:r>
            <a:r>
              <a:rPr lang="en-US" sz="2000" dirty="0" err="1">
                <a:latin typeface="Calibri (Body)"/>
              </a:rPr>
              <a:t>poka</a:t>
            </a:r>
            <a:r>
              <a:rPr lang="en-US" sz="2000" dirty="0">
                <a:latin typeface="Calibri (Body)"/>
              </a:rPr>
              <a:t>-yoke device actually prevents the mistake from being   </a:t>
            </a:r>
          </a:p>
          <a:p>
            <a:r>
              <a:rPr lang="en-US" sz="2000" dirty="0">
                <a:latin typeface="Calibri (Body)"/>
              </a:rPr>
              <a:t>    made. In Shingo's lexicon, the former implementation would be </a:t>
            </a:r>
          </a:p>
          <a:p>
            <a:r>
              <a:rPr lang="en-US" sz="2000" dirty="0">
                <a:latin typeface="Calibri (Body)"/>
              </a:rPr>
              <a:t>    called a warning </a:t>
            </a:r>
            <a:r>
              <a:rPr lang="en-US" sz="2000" dirty="0" err="1">
                <a:latin typeface="Calibri (Body)"/>
              </a:rPr>
              <a:t>poka</a:t>
            </a:r>
            <a:r>
              <a:rPr lang="en-US" sz="2000" dirty="0">
                <a:latin typeface="Calibri (Body)"/>
              </a:rPr>
              <a:t>-yoke, while the latter would be referred to as   </a:t>
            </a:r>
          </a:p>
          <a:p>
            <a:r>
              <a:rPr lang="en-US" sz="2000" dirty="0">
                <a:latin typeface="Calibri (Body)"/>
              </a:rPr>
              <a:t>    a control </a:t>
            </a:r>
            <a:r>
              <a:rPr lang="en-US" sz="2000" dirty="0" err="1">
                <a:latin typeface="Calibri (Body)"/>
              </a:rPr>
              <a:t>pokayoke</a:t>
            </a:r>
            <a:r>
              <a:rPr lang="en-US" dirty="0">
                <a:latin typeface="Times New Roman" panose="02020603050405020304" pitchFamily="18" charset="0"/>
              </a:rPr>
              <a:t>.</a:t>
            </a:r>
            <a:endParaRPr lang="en-IN" dirty="0"/>
          </a:p>
        </p:txBody>
      </p:sp>
      <p:sp>
        <p:nvSpPr>
          <p:cNvPr id="8" name="Footer Placeholder 4"/>
          <p:cNvSpPr txBox="1">
            <a:spLocks/>
          </p:cNvSpPr>
          <p:nvPr/>
        </p:nvSpPr>
        <p:spPr>
          <a:xfrm>
            <a:off x="2209800" y="6292570"/>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8B2BA0F4-7590-0CEC-8F34-F3E22E41E27E}"/>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3677118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C49156C-873D-4F36-AACF-B16D8124AD7E}"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762000" y="1028343"/>
            <a:ext cx="7772400" cy="3785652"/>
          </a:xfrm>
          <a:prstGeom prst="rect">
            <a:avLst/>
          </a:prstGeom>
        </p:spPr>
        <p:txBody>
          <a:bodyPr wrap="square">
            <a:spAutoFit/>
          </a:bodyPr>
          <a:lstStyle/>
          <a:p>
            <a:r>
              <a:rPr lang="en-IN" sz="2000" b="1" dirty="0">
                <a:latin typeface="Calibri (Body)"/>
              </a:rPr>
              <a:t>FMEA</a:t>
            </a:r>
          </a:p>
          <a:p>
            <a:endParaRPr lang="en-IN" sz="2000" b="1" dirty="0">
              <a:latin typeface="Calibri (Body)"/>
            </a:endParaRPr>
          </a:p>
          <a:p>
            <a:pPr algn="just"/>
            <a:r>
              <a:rPr lang="en-US" sz="2000" b="1" dirty="0">
                <a:latin typeface="Calibri (Body)"/>
              </a:rPr>
              <a:t>Failure modes and effects analysis (FMEA) </a:t>
            </a:r>
            <a:r>
              <a:rPr lang="en-US" sz="2000" dirty="0">
                <a:latin typeface="Calibri (Body)"/>
              </a:rPr>
              <a:t>is a procedure for analysis of potential failure modes within a system for the classification by severity or determination of the failures effect upon the system.</a:t>
            </a:r>
          </a:p>
          <a:p>
            <a:pPr algn="just"/>
            <a:r>
              <a:rPr lang="en-US" sz="2000" dirty="0">
                <a:latin typeface="Calibri (Body)"/>
              </a:rPr>
              <a:t>It is widely used in the manufacturing industries in various phases of the product life cycle and is now increasingly finding use in the service industry as well. Failure causes are any errors or defects in process, design, or item especially ones that affect the customer, and can be potential or actual. </a:t>
            </a:r>
            <a:r>
              <a:rPr lang="en-US" sz="2000" i="1" dirty="0">
                <a:latin typeface="Calibri (Body)"/>
              </a:rPr>
              <a:t>Effects analysis </a:t>
            </a:r>
            <a:r>
              <a:rPr lang="en-US" sz="2000" dirty="0">
                <a:latin typeface="Calibri (Body)"/>
              </a:rPr>
              <a:t>refers to studying the consequences of </a:t>
            </a:r>
            <a:r>
              <a:rPr lang="en-IN" sz="2000" dirty="0">
                <a:latin typeface="Calibri (Body)"/>
              </a:rPr>
              <a:t>those failures.</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99395036-F670-4A8F-CAB5-6B84C9FE8665}"/>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30793729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D721ED-B1CD-4BA2-A532-4F90097CBBA8}"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600200"/>
            <a:ext cx="7620000" cy="2862322"/>
          </a:xfrm>
          <a:prstGeom prst="rect">
            <a:avLst/>
          </a:prstGeom>
        </p:spPr>
        <p:txBody>
          <a:bodyPr wrap="square">
            <a:spAutoFit/>
          </a:bodyPr>
          <a:lstStyle/>
          <a:p>
            <a:pPr algn="just"/>
            <a:r>
              <a:rPr lang="en-IN" sz="2000" b="1" dirty="0">
                <a:latin typeface="Calibri (Body)"/>
              </a:rPr>
              <a:t>Step 1: Severity</a:t>
            </a:r>
          </a:p>
          <a:p>
            <a:pPr algn="just"/>
            <a:r>
              <a:rPr lang="en-US" sz="2000" dirty="0">
                <a:latin typeface="Calibri (Body)"/>
              </a:rPr>
              <a:t>Determine all failure modes based on the functional requirements and their effects.</a:t>
            </a:r>
          </a:p>
          <a:p>
            <a:pPr algn="just"/>
            <a:r>
              <a:rPr lang="en-US" sz="2000" dirty="0">
                <a:latin typeface="Calibri (Body)"/>
              </a:rPr>
              <a:t>Examples of failure modes are: Electrical short-circuiting, corrosion or deformation. It is important to note that a failure mode in one component can lead to a failure mode in another component. Therefore each failure mode should be listed in technical terms and for function. Hereafter the ultimate effect of each failure mode needs to be considered.</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6B728CDB-8D86-A117-935A-BD2C84AAF2A9}"/>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22331781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5918EB2-C3A9-475E-B9E0-4EBDD8D46412}"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762000" y="1524000"/>
            <a:ext cx="7772400" cy="1631216"/>
          </a:xfrm>
          <a:prstGeom prst="rect">
            <a:avLst/>
          </a:prstGeom>
        </p:spPr>
        <p:txBody>
          <a:bodyPr wrap="square">
            <a:spAutoFit/>
          </a:bodyPr>
          <a:lstStyle/>
          <a:p>
            <a:r>
              <a:rPr lang="en-US" sz="2000" dirty="0">
                <a:latin typeface="Calibri (Body)"/>
              </a:rPr>
              <a:t>A failure effect is defined as the result of a failure mode on the function of the system as perceived by the user. In this way it is convenient to write these effects down in terms of what the user might see or experience. Examples of failure effects are: degraded performance, noise or even injury to a user.</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72236727-CFA9-7D66-0970-A82DE7F46E21}"/>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3541573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E4CC73-7FBB-450C-AB7D-9FD727D6CF50}"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85800" y="1752600"/>
            <a:ext cx="7467600" cy="2246769"/>
          </a:xfrm>
          <a:prstGeom prst="rect">
            <a:avLst/>
          </a:prstGeom>
        </p:spPr>
        <p:txBody>
          <a:bodyPr wrap="square">
            <a:spAutoFit/>
          </a:bodyPr>
          <a:lstStyle/>
          <a:p>
            <a:pPr algn="just"/>
            <a:r>
              <a:rPr lang="en-US" sz="2000" dirty="0">
                <a:cs typeface="Times New Roman" panose="02020603050405020304" pitchFamily="18" charset="0"/>
              </a:rPr>
              <a:t>Each effect is given a </a:t>
            </a:r>
            <a:r>
              <a:rPr lang="en-US" sz="2000" b="1" dirty="0">
                <a:cs typeface="Times New Roman" panose="02020603050405020304" pitchFamily="18" charset="0"/>
              </a:rPr>
              <a:t>severity number</a:t>
            </a:r>
            <a:r>
              <a:rPr lang="en-US" sz="2000" dirty="0">
                <a:cs typeface="Times New Roman" panose="02020603050405020304" pitchFamily="18" charset="0"/>
              </a:rPr>
              <a:t>(S) from 1(no danger) to 10(important). These numbers help an engineer to prioritize. If the severity of an effect has a number 9 or 10, actions are considered to change the design by eliminating the failure mode, if possible, or protecting the user from the effect. A severity rating of 9 or 10 is generally reserved for those effects which would cause injury to a user or otherwise result in litigation.</a:t>
            </a:r>
            <a:endParaRPr lang="en-IN" sz="2000" dirty="0">
              <a:cs typeface="Times New Roman" panose="02020603050405020304" pitchFamily="18" charset="0"/>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0211A202-646D-1951-C5F5-B4383F3824A0}"/>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30065445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E37B89B-20EF-4938-8AF4-D35D24FC331C}"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838200" y="1443841"/>
            <a:ext cx="7620000" cy="3170099"/>
          </a:xfrm>
          <a:prstGeom prst="rect">
            <a:avLst/>
          </a:prstGeom>
        </p:spPr>
        <p:txBody>
          <a:bodyPr wrap="square">
            <a:spAutoFit/>
          </a:bodyPr>
          <a:lstStyle/>
          <a:p>
            <a:pPr algn="just"/>
            <a:r>
              <a:rPr lang="en-IN" sz="2000" b="1" dirty="0">
                <a:latin typeface="Calibri (Body)"/>
              </a:rPr>
              <a:t>Step 2: Occurrence</a:t>
            </a:r>
          </a:p>
          <a:p>
            <a:pPr algn="just"/>
            <a:r>
              <a:rPr lang="en-US" sz="2000" dirty="0">
                <a:latin typeface="Calibri (Body)"/>
              </a:rPr>
              <a:t>In this step it is necessary to look at the cause of a failure and how many times it occurs. This can be done by looking at similar products or processes and the failures that have been documented for them. </a:t>
            </a:r>
          </a:p>
          <a:p>
            <a:pPr algn="just"/>
            <a:r>
              <a:rPr lang="en-US" sz="2000" dirty="0">
                <a:latin typeface="Calibri (Body)"/>
              </a:rPr>
              <a:t>A failure cause is looked upon as a design weakness. All the potential causes for a failure mode should be identified and documented. Again this should be in technical terms. Examples of causes are: erroneous algorithms, excessive voltage or improper operating </a:t>
            </a:r>
            <a:r>
              <a:rPr lang="en-IN" sz="2000" dirty="0">
                <a:latin typeface="Calibri (Body)"/>
              </a:rPr>
              <a:t>conditions.</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F26A2854-BC38-4193-B6BF-390676A9D42E}"/>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7504529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7154A44-AF8D-4600-AF69-831AD7A6F261}"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85800" y="1600200"/>
            <a:ext cx="7543800" cy="1631216"/>
          </a:xfrm>
          <a:prstGeom prst="rect">
            <a:avLst/>
          </a:prstGeom>
        </p:spPr>
        <p:txBody>
          <a:bodyPr wrap="square">
            <a:spAutoFit/>
          </a:bodyPr>
          <a:lstStyle/>
          <a:p>
            <a:pPr algn="just"/>
            <a:r>
              <a:rPr lang="en-US" sz="2000" dirty="0">
                <a:latin typeface="Calibri (Body)"/>
              </a:rPr>
              <a:t>A failure mode is given a </a:t>
            </a:r>
            <a:r>
              <a:rPr lang="en-US" sz="2000" b="1" dirty="0">
                <a:latin typeface="Calibri (Body)"/>
              </a:rPr>
              <a:t>probability number </a:t>
            </a:r>
            <a:r>
              <a:rPr lang="en-US" sz="2000" dirty="0">
                <a:latin typeface="Calibri (Body)"/>
              </a:rPr>
              <a:t>(O), again 1-10. Actions need to be determined if the occurrence is high (meaning &gt;4 for non safety failure modes and &gt;1 when the severity-number from step 1 is 9 or 10). This step is called the detailed development section of </a:t>
            </a:r>
            <a:r>
              <a:rPr lang="en-IN" sz="2000" dirty="0">
                <a:latin typeface="Calibri (Body)"/>
              </a:rPr>
              <a:t>the FMEA process.</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2052AFAE-69D8-5009-4D47-81B2EE282E61}"/>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03874912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A4DA4E-84F4-472D-A3C8-E0374AA9712F}"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990600" y="1524001"/>
            <a:ext cx="7315200" cy="2554545"/>
          </a:xfrm>
          <a:prstGeom prst="rect">
            <a:avLst/>
          </a:prstGeom>
        </p:spPr>
        <p:txBody>
          <a:bodyPr wrap="square">
            <a:spAutoFit/>
          </a:bodyPr>
          <a:lstStyle/>
          <a:p>
            <a:r>
              <a:rPr lang="en-IN" sz="2000" b="1" dirty="0">
                <a:latin typeface="Calibri (Body)"/>
              </a:rPr>
              <a:t>Step 3: Detection</a:t>
            </a:r>
          </a:p>
          <a:p>
            <a:endParaRPr lang="en-IN" sz="2000" b="1" dirty="0">
              <a:latin typeface="Calibri (Body)"/>
            </a:endParaRPr>
          </a:p>
          <a:p>
            <a:pPr algn="just"/>
            <a:r>
              <a:rPr lang="en-US" sz="2000" dirty="0">
                <a:latin typeface="Calibri (Body)"/>
              </a:rPr>
              <a:t>When appropriate actions are determined, it is necessary to test their efficiency. Also design verification is needed. The proper inspection methods need to be chosen. First, an engineer should look at the current controls of the system, that prevent failure modes from occurring or which detect the failure before it reaches the customer.</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FFB6246E-44B2-E79A-9236-F083D4B0E9F2}"/>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27624905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B86DB66-40BF-424B-B513-AD44716CB90B}"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676400"/>
            <a:ext cx="7772400" cy="2554545"/>
          </a:xfrm>
          <a:prstGeom prst="rect">
            <a:avLst/>
          </a:prstGeom>
        </p:spPr>
        <p:txBody>
          <a:bodyPr wrap="square">
            <a:spAutoFit/>
          </a:bodyPr>
          <a:lstStyle/>
          <a:p>
            <a:pPr algn="just"/>
            <a:r>
              <a:rPr lang="en-US" sz="2000" dirty="0">
                <a:latin typeface="Calibri (Body)"/>
              </a:rPr>
              <a:t>Hereafter one should identify testing, analysis, monitoring and other techniques that can be or have been used on similar systems to detect failures. From these controls an engineer can learn how likely it is for a failure to be identified or detected. Each combination from the previous 2 steps, receives a </a:t>
            </a:r>
            <a:r>
              <a:rPr lang="en-US" sz="2000" b="1" dirty="0">
                <a:latin typeface="Calibri (Body)"/>
              </a:rPr>
              <a:t>detection number</a:t>
            </a:r>
            <a:r>
              <a:rPr lang="en-US" sz="2000" dirty="0">
                <a:latin typeface="Calibri (Body)"/>
              </a:rPr>
              <a:t>(D). This number represents the ability of planned tests and inspections at removing defects or detecting failure modes. After these 3 basic steps, Risk Priority Numbers (RPN) is calculated.</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AA11CEFC-98EB-4B3D-5EC5-6BFFBB297D89}"/>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1400767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441A962-0C6F-4307-AC0C-58E34FE1AB19}"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85800" y="1428126"/>
            <a:ext cx="7696200" cy="4093428"/>
          </a:xfrm>
          <a:prstGeom prst="rect">
            <a:avLst/>
          </a:prstGeom>
        </p:spPr>
        <p:txBody>
          <a:bodyPr wrap="square">
            <a:spAutoFit/>
          </a:bodyPr>
          <a:lstStyle/>
          <a:p>
            <a:pPr algn="just"/>
            <a:r>
              <a:rPr lang="en-US" sz="2000" dirty="0">
                <a:latin typeface="Calibri (Body)"/>
              </a:rPr>
              <a:t>Risk Priority Numbers RPN does not play an important part in the choice of an action against failure modes. They are more threshold values in the evaluation of these actions. After ranking the severity, occurrence and detectability the RPN can be easily calculated by</a:t>
            </a:r>
          </a:p>
          <a:p>
            <a:pPr algn="just"/>
            <a:r>
              <a:rPr lang="en-US" sz="2000" dirty="0">
                <a:latin typeface="Calibri (Body)"/>
              </a:rPr>
              <a:t>multiplying these 3 numbers: RPN = S x O x D .</a:t>
            </a:r>
          </a:p>
          <a:p>
            <a:pPr algn="just"/>
            <a:endParaRPr lang="en-US" sz="2000" dirty="0">
              <a:latin typeface="Calibri (Body)"/>
            </a:endParaRPr>
          </a:p>
          <a:p>
            <a:pPr algn="just"/>
            <a:r>
              <a:rPr lang="en-US" sz="2000" dirty="0">
                <a:latin typeface="Calibri (Body)"/>
              </a:rPr>
              <a:t>This has to be done for the entire process and/or design. Once this is done it is easy to determine the areas of greatest concern. The failure modes that have the highest RPN should be given the highest priority for corrective action. This means it is not always the failure modes with the highest severity numbers that should be treated first. There could be less severe failures, but which occur more often and are less detectable.</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7C59D7B3-70E9-77D0-CCBB-EFDE94341E12}"/>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9833946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ABB40E-3B46-403F-8E4E-53DF1E2E3F1C}"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85800" y="1447800"/>
            <a:ext cx="7772400" cy="4093428"/>
          </a:xfrm>
          <a:prstGeom prst="rect">
            <a:avLst/>
          </a:prstGeom>
        </p:spPr>
        <p:txBody>
          <a:bodyPr wrap="square">
            <a:spAutoFit/>
          </a:bodyPr>
          <a:lstStyle/>
          <a:p>
            <a:pPr algn="just"/>
            <a:r>
              <a:rPr lang="en-IN" sz="2000" b="1" dirty="0">
                <a:latin typeface="Calibri (Body)"/>
              </a:rPr>
              <a:t>Uses of FMEA</a:t>
            </a:r>
          </a:p>
          <a:p>
            <a:pPr algn="just"/>
            <a:r>
              <a:rPr lang="en-US" sz="2000" dirty="0">
                <a:latin typeface="Calibri (Body)"/>
              </a:rPr>
              <a:t>Development of system requirements that minimize the likelihood of failures.</a:t>
            </a:r>
          </a:p>
          <a:p>
            <a:pPr algn="just"/>
            <a:r>
              <a:rPr lang="en-US" sz="2000" dirty="0">
                <a:latin typeface="Calibri (Body)"/>
              </a:rPr>
              <a:t>Development of methods to design and test systems to ensure that the failures have been eliminated. Evaluation of the requirements of the customer to ensure that those do not give rise to potential failures. Identification of certain design characteristics that contribute to failures, and minimize or eliminate those effects. Tracking and managing potential risks in the design.</a:t>
            </a:r>
          </a:p>
          <a:p>
            <a:pPr algn="just"/>
            <a:endParaRPr lang="en-US" sz="2000" dirty="0">
              <a:latin typeface="Calibri (Body)"/>
            </a:endParaRPr>
          </a:p>
          <a:p>
            <a:pPr algn="just"/>
            <a:r>
              <a:rPr lang="en-US" sz="2000" dirty="0">
                <a:latin typeface="Calibri (Body)"/>
              </a:rPr>
              <a:t>This helps avoid the same failures in future projects. Ensuring that any failure that could occur will not injure the customer or seriously impact a system.</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BFFADCF6-5161-8164-77FE-002C246E046A}"/>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41911446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94AAFE6-88D9-4C20-8BEE-9C3DC19D828E}"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762000" y="1305342"/>
            <a:ext cx="7696200" cy="3785652"/>
          </a:xfrm>
          <a:prstGeom prst="rect">
            <a:avLst/>
          </a:prstGeom>
        </p:spPr>
        <p:txBody>
          <a:bodyPr wrap="square">
            <a:spAutoFit/>
          </a:bodyPr>
          <a:lstStyle/>
          <a:p>
            <a:r>
              <a:rPr lang="en-IN" sz="2000" b="1" dirty="0">
                <a:latin typeface="Calibri (Body)"/>
              </a:rPr>
              <a:t>Advantages</a:t>
            </a:r>
          </a:p>
          <a:p>
            <a:endParaRPr lang="en-IN" sz="2000" b="1" dirty="0">
              <a:latin typeface="Calibri (Body)"/>
            </a:endParaRPr>
          </a:p>
          <a:p>
            <a:pPr algn="just"/>
            <a:r>
              <a:rPr lang="en-US" sz="2000" dirty="0">
                <a:latin typeface="Calibri (Body)"/>
              </a:rPr>
              <a:t> Improve the quality, reliability and safety of a product/process Improve company image </a:t>
            </a:r>
            <a:r>
              <a:rPr lang="en-IN" sz="2000" dirty="0">
                <a:latin typeface="Calibri (Body)"/>
              </a:rPr>
              <a:t>and competitiveness</a:t>
            </a:r>
          </a:p>
          <a:p>
            <a:pPr algn="just"/>
            <a:r>
              <a:rPr lang="en-US" sz="2000" dirty="0">
                <a:latin typeface="Calibri (Body)"/>
              </a:rPr>
              <a:t> Increase user satisfaction Reduce system development timing and cost Collect information </a:t>
            </a:r>
            <a:r>
              <a:rPr lang="en-IN" sz="2000" dirty="0">
                <a:latin typeface="Calibri (Body)"/>
              </a:rPr>
              <a:t>to reduce future failures</a:t>
            </a:r>
          </a:p>
          <a:p>
            <a:pPr algn="just"/>
            <a:r>
              <a:rPr lang="en-US" sz="2000" dirty="0">
                <a:latin typeface="Calibri (Body)"/>
              </a:rPr>
              <a:t> capture engineering knowledge Reduce the potential for warranty concerns</a:t>
            </a:r>
          </a:p>
          <a:p>
            <a:pPr algn="just"/>
            <a:r>
              <a:rPr lang="en-US" sz="2000" dirty="0">
                <a:latin typeface="Calibri (Body)"/>
              </a:rPr>
              <a:t> Early identification and elimination of potential failure modes Emphasis problem prevention Minimize late changes and associated cost Catalyst for teamwork and idea </a:t>
            </a:r>
            <a:r>
              <a:rPr lang="en-IN" sz="2000" dirty="0">
                <a:latin typeface="Calibri (Body)"/>
              </a:rPr>
              <a:t>exchange between functions</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979446AF-0C5D-314D-AF37-A478EA3108C7}"/>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9426184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0EB7281-BFE6-494B-A58D-67499B175E43}"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524000"/>
            <a:ext cx="7620000" cy="2554545"/>
          </a:xfrm>
          <a:prstGeom prst="rect">
            <a:avLst/>
          </a:prstGeom>
        </p:spPr>
        <p:txBody>
          <a:bodyPr wrap="square">
            <a:spAutoFit/>
          </a:bodyPr>
          <a:lstStyle/>
          <a:p>
            <a:r>
              <a:rPr lang="en-IN" sz="2000" b="1" dirty="0">
                <a:latin typeface="Calibri (Body)"/>
              </a:rPr>
              <a:t>Disadvantages</a:t>
            </a:r>
          </a:p>
          <a:p>
            <a:endParaRPr lang="en-IN" sz="2000" b="1" dirty="0">
              <a:latin typeface="Calibri (Body)"/>
            </a:endParaRPr>
          </a:p>
          <a:p>
            <a:pPr algn="just"/>
            <a:r>
              <a:rPr lang="en-US" sz="2000" dirty="0">
                <a:latin typeface="Calibri (Body)"/>
              </a:rPr>
              <a:t>If used as a top-down tool,</a:t>
            </a:r>
          </a:p>
          <a:p>
            <a:pPr algn="just"/>
            <a:r>
              <a:rPr lang="en-US" sz="2000" dirty="0">
                <a:latin typeface="Calibri (Body)"/>
              </a:rPr>
              <a:t>FMEA may only identify major failure modes in a system.</a:t>
            </a:r>
          </a:p>
          <a:p>
            <a:pPr algn="just"/>
            <a:r>
              <a:rPr lang="en-US" sz="2000" dirty="0">
                <a:latin typeface="Calibri (Body)"/>
              </a:rPr>
              <a:t>Fault tree analysis (FTA) is better suited for "top-down" analysis. When used as a "bottom up“ tool FMEA can augment or complement FTA and identify many more causes and failure</a:t>
            </a:r>
          </a:p>
          <a:p>
            <a:pPr algn="just"/>
            <a:r>
              <a:rPr lang="en-US" sz="2000" dirty="0">
                <a:latin typeface="Calibri (Body)"/>
              </a:rPr>
              <a:t>modes resulting in top-level symptoms.</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871DC92C-B87E-C271-3951-2DCC6465222C}"/>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25673106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DA1D025-6E66-4BB5-BC2B-F93B2BB0BE7C}"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60418"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3" name="Rectangle 2"/>
          <p:cNvSpPr/>
          <p:nvPr/>
        </p:nvSpPr>
        <p:spPr>
          <a:xfrm>
            <a:off x="609600" y="1371600"/>
            <a:ext cx="7772400" cy="4401205"/>
          </a:xfrm>
          <a:prstGeom prst="rect">
            <a:avLst/>
          </a:prstGeom>
        </p:spPr>
        <p:txBody>
          <a:bodyPr wrap="square">
            <a:spAutoFit/>
          </a:bodyPr>
          <a:lstStyle/>
          <a:p>
            <a:pPr algn="just"/>
            <a:r>
              <a:rPr lang="en-US" sz="2000" dirty="0">
                <a:latin typeface="Calibri (Body)"/>
              </a:rPr>
              <a:t>It is not able to discover complex failure modes involving multiple failures within a subsystem, or to report expected failure intervals of particular failure modes up to the upper level subsystem or system. Additionally, the multiplication of the severity, occurrence and detection. Rankings may result in rank </a:t>
            </a:r>
            <a:r>
              <a:rPr lang="en-US" sz="2000" dirty="0" err="1">
                <a:latin typeface="Calibri (Body)"/>
              </a:rPr>
              <a:t>reversals,where</a:t>
            </a:r>
            <a:r>
              <a:rPr lang="en-US" sz="2000" dirty="0">
                <a:latin typeface="Calibri (Body)"/>
              </a:rPr>
              <a:t> a less serious failure mode receives a higher RPN than a more serious failure mode. The reason for this is that the rankings are ordinal scale numbers, and multiplication is not a valid operation on them. </a:t>
            </a:r>
          </a:p>
          <a:p>
            <a:pPr algn="just"/>
            <a:endParaRPr lang="en-US" sz="2000" dirty="0">
              <a:latin typeface="Calibri (Body)"/>
            </a:endParaRPr>
          </a:p>
          <a:p>
            <a:pPr algn="just"/>
            <a:r>
              <a:rPr lang="en-US" sz="2000" dirty="0">
                <a:latin typeface="Calibri (Body)"/>
              </a:rPr>
              <a:t>The ordinal rankings only say that one ranking is better or worse than another, but not by how much. For instance, a ranking of "2“ may not be twice as bad as a ranking of "1," or an "8" may not be twice as bad as a "4," but multiplication treats them as though they are.</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2" name="Footer Placeholder 1">
            <a:extLst>
              <a:ext uri="{FF2B5EF4-FFF2-40B4-BE49-F238E27FC236}">
                <a16:creationId xmlns:a16="http://schemas.microsoft.com/office/drawing/2014/main" id="{C6ABEBD0-5191-BC53-940D-A137E1EB4418}"/>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9960957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AEF2DF-B481-4242-A9A8-C01E750209E1}"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3" name="Rectangle 2"/>
          <p:cNvSpPr/>
          <p:nvPr/>
        </p:nvSpPr>
        <p:spPr>
          <a:xfrm>
            <a:off x="838200" y="1524000"/>
            <a:ext cx="7620000" cy="1938992"/>
          </a:xfrm>
          <a:prstGeom prst="rect">
            <a:avLst/>
          </a:prstGeom>
        </p:spPr>
        <p:txBody>
          <a:bodyPr wrap="square">
            <a:spAutoFit/>
          </a:bodyPr>
          <a:lstStyle/>
          <a:p>
            <a:r>
              <a:rPr lang="en-IN" sz="2000" b="1" dirty="0">
                <a:latin typeface="Calibri (Body)"/>
              </a:rPr>
              <a:t>BENCHMARKING</a:t>
            </a:r>
          </a:p>
          <a:p>
            <a:endParaRPr lang="en-IN" sz="2000" b="1" dirty="0">
              <a:latin typeface="Calibri (Body)"/>
            </a:endParaRPr>
          </a:p>
          <a:p>
            <a:r>
              <a:rPr lang="en-US" sz="2000" dirty="0">
                <a:latin typeface="Calibri (Body)"/>
              </a:rPr>
              <a:t>Benchmarking is a systematic method by which organizations can measure themselves against </a:t>
            </a:r>
            <a:r>
              <a:rPr lang="en-IN" sz="2000" dirty="0">
                <a:latin typeface="Calibri (Body)"/>
              </a:rPr>
              <a:t>the best industry practices.</a:t>
            </a:r>
          </a:p>
          <a:p>
            <a:r>
              <a:rPr lang="en-US" sz="2000" dirty="0">
                <a:latin typeface="Calibri (Body)"/>
              </a:rPr>
              <a:t> Benchmarking is a systematic search for the best practices, innovative ideas, and highly </a:t>
            </a:r>
            <a:r>
              <a:rPr lang="en-IN" sz="2000" dirty="0">
                <a:latin typeface="Calibri (Body)"/>
              </a:rPr>
              <a:t>effective operating procedures.</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2" name="Footer Placeholder 1">
            <a:extLst>
              <a:ext uri="{FF2B5EF4-FFF2-40B4-BE49-F238E27FC236}">
                <a16:creationId xmlns:a16="http://schemas.microsoft.com/office/drawing/2014/main" id="{4A4E2A21-DEB0-AAA5-837F-BC586D3CBBB6}"/>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38880957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2EF410-2EF6-4CC8-B1F5-C365D0C68AFF}"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457200" y="1371600"/>
            <a:ext cx="3653564" cy="400110"/>
          </a:xfrm>
          <a:prstGeom prst="rect">
            <a:avLst/>
          </a:prstGeom>
        </p:spPr>
        <p:txBody>
          <a:bodyPr wrap="none">
            <a:spAutoFit/>
          </a:bodyPr>
          <a:lstStyle/>
          <a:p>
            <a:r>
              <a:rPr lang="en-IN" sz="2000" b="1" dirty="0">
                <a:latin typeface="Calibri (Body)"/>
              </a:rPr>
              <a:t>BENCHMARKING CONCEPT</a:t>
            </a:r>
            <a:endParaRPr lang="en-IN" sz="2000" dirty="0">
              <a:latin typeface="Calibri (Body)"/>
            </a:endParaRPr>
          </a:p>
        </p:txBody>
      </p:sp>
      <p:pic>
        <p:nvPicPr>
          <p:cNvPr id="3" name="Picture 2"/>
          <p:cNvPicPr>
            <a:picLocks noChangeAspect="1"/>
          </p:cNvPicPr>
          <p:nvPr/>
        </p:nvPicPr>
        <p:blipFill>
          <a:blip r:embed="rId3"/>
          <a:stretch>
            <a:fillRect/>
          </a:stretch>
        </p:blipFill>
        <p:spPr>
          <a:xfrm>
            <a:off x="533400" y="1969532"/>
            <a:ext cx="7877175" cy="3933825"/>
          </a:xfrm>
          <a:prstGeom prst="rect">
            <a:avLst/>
          </a:prstGeom>
        </p:spPr>
      </p:pic>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5" name="Footer Placeholder 4">
            <a:extLst>
              <a:ext uri="{FF2B5EF4-FFF2-40B4-BE49-F238E27FC236}">
                <a16:creationId xmlns:a16="http://schemas.microsoft.com/office/drawing/2014/main" id="{D24F4268-AF2F-41A6-4E1B-0B9E5745B83D}"/>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696646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7D60939-0C1A-4D8D-9469-31DB1B8F92D5}"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533400" y="1752600"/>
            <a:ext cx="7924800" cy="2862322"/>
          </a:xfrm>
          <a:prstGeom prst="rect">
            <a:avLst/>
          </a:prstGeom>
        </p:spPr>
        <p:txBody>
          <a:bodyPr wrap="square">
            <a:spAutoFit/>
          </a:bodyPr>
          <a:lstStyle/>
          <a:p>
            <a:r>
              <a:rPr lang="en-IN" sz="2000" b="1" dirty="0">
                <a:latin typeface="Calibri (Body)"/>
              </a:rPr>
              <a:t>REASONS TO BENCHMARK :</a:t>
            </a:r>
          </a:p>
          <a:p>
            <a:endParaRPr lang="en-IN" sz="2000" b="1" dirty="0">
              <a:latin typeface="Calibri (Body)"/>
            </a:endParaRPr>
          </a:p>
          <a:p>
            <a:r>
              <a:rPr lang="en-US" sz="2000" dirty="0">
                <a:latin typeface="Calibri (Body)"/>
              </a:rPr>
              <a:t> It is a tool to achieve business and competitive objectives</a:t>
            </a:r>
          </a:p>
          <a:p>
            <a:r>
              <a:rPr lang="en-US" sz="2000" dirty="0">
                <a:latin typeface="Calibri (Body)"/>
              </a:rPr>
              <a:t> It can inspire managers (and Organizations) to compete</a:t>
            </a:r>
          </a:p>
          <a:p>
            <a:r>
              <a:rPr lang="en-US" sz="2000" dirty="0">
                <a:latin typeface="Calibri (Body)"/>
              </a:rPr>
              <a:t> It is time and cost effective</a:t>
            </a:r>
          </a:p>
          <a:p>
            <a:r>
              <a:rPr lang="en-US" sz="2000" dirty="0">
                <a:latin typeface="Calibri (Body)"/>
              </a:rPr>
              <a:t> It constantly scans the external environment to improve the  </a:t>
            </a:r>
          </a:p>
          <a:p>
            <a:r>
              <a:rPr lang="en-US" sz="2000" dirty="0">
                <a:latin typeface="Calibri (Body)"/>
              </a:rPr>
              <a:t>    process</a:t>
            </a:r>
          </a:p>
          <a:p>
            <a:r>
              <a:rPr lang="en-US" sz="2000" dirty="0">
                <a:latin typeface="Calibri (Body)"/>
              </a:rPr>
              <a:t> Potential and useful technological breakthroughs can be located </a:t>
            </a:r>
          </a:p>
          <a:p>
            <a:r>
              <a:rPr lang="en-US" sz="2000" dirty="0">
                <a:latin typeface="Calibri (Body)"/>
              </a:rPr>
              <a:t>   and adopted early</a:t>
            </a:r>
            <a:endParaRPr lang="en-IN" sz="2000"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1CB21530-146E-2524-AFBF-61EB3E9C9AF6}"/>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5110158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DB65C0-2C37-49B4-BED7-05B6A0D4935D}"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471435" y="1600200"/>
            <a:ext cx="7471342" cy="3139321"/>
          </a:xfrm>
          <a:prstGeom prst="rect">
            <a:avLst/>
          </a:prstGeom>
        </p:spPr>
        <p:txBody>
          <a:bodyPr wrap="square">
            <a:spAutoFit/>
          </a:bodyPr>
          <a:lstStyle/>
          <a:p>
            <a:r>
              <a:rPr lang="en-IN" b="1" dirty="0">
                <a:latin typeface="Calibri (Body)"/>
              </a:rPr>
              <a:t>PROCESS OF BENCHMARKING</a:t>
            </a:r>
          </a:p>
          <a:p>
            <a:endParaRPr lang="en-IN" b="1" dirty="0">
              <a:latin typeface="Calibri (Body)"/>
            </a:endParaRPr>
          </a:p>
          <a:p>
            <a:r>
              <a:rPr lang="en-US" dirty="0">
                <a:latin typeface="Calibri (Body)"/>
              </a:rPr>
              <a:t>The following six steps contain the core techniques of Benchmarking</a:t>
            </a:r>
          </a:p>
          <a:p>
            <a:r>
              <a:rPr lang="en-US" b="1" dirty="0">
                <a:latin typeface="Calibri (Body)"/>
              </a:rPr>
              <a:t>1. Decide what to benchmark</a:t>
            </a:r>
          </a:p>
          <a:p>
            <a:r>
              <a:rPr lang="en-US" dirty="0">
                <a:latin typeface="Calibri (Body)"/>
              </a:rPr>
              <a:t> Benchmarking can be applied to any business or production process</a:t>
            </a:r>
          </a:p>
          <a:p>
            <a:r>
              <a:rPr lang="en-US" dirty="0">
                <a:latin typeface="Calibri (Body)"/>
              </a:rPr>
              <a:t> The strategy is usually expressed in terms of mission and vision statements</a:t>
            </a:r>
          </a:p>
          <a:p>
            <a:r>
              <a:rPr lang="en-US" dirty="0">
                <a:latin typeface="Calibri (Body)"/>
              </a:rPr>
              <a:t> Best to begin with the mission and critical factors</a:t>
            </a:r>
          </a:p>
          <a:p>
            <a:r>
              <a:rPr lang="en-US" dirty="0">
                <a:latin typeface="Calibri (Body)"/>
              </a:rPr>
              <a:t> Choosing the scope of the Benchmarking study</a:t>
            </a:r>
          </a:p>
          <a:p>
            <a:r>
              <a:rPr lang="en-US" dirty="0">
                <a:latin typeface="Calibri (Body)"/>
              </a:rPr>
              <a:t> Pareto analysis – what process to investigate</a:t>
            </a:r>
          </a:p>
          <a:p>
            <a:r>
              <a:rPr lang="en-US" dirty="0">
                <a:latin typeface="Calibri (Body)"/>
              </a:rPr>
              <a:t> Cause and Effect diagram – for tracing outputs back</a:t>
            </a:r>
            <a:endParaRPr lang="en-IN"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9E1A60A7-14CB-C488-B86D-7FB9D92F06E6}"/>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2265589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601262-8A9B-4D0C-874D-6C5B2BB6F214}"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371600"/>
            <a:ext cx="8077200" cy="4001095"/>
          </a:xfrm>
          <a:prstGeom prst="rect">
            <a:avLst/>
          </a:prstGeom>
        </p:spPr>
        <p:txBody>
          <a:bodyPr wrap="square">
            <a:spAutoFit/>
          </a:bodyPr>
          <a:lstStyle/>
          <a:p>
            <a:r>
              <a:rPr lang="en-IN" b="1" dirty="0">
                <a:latin typeface="Calibri (Body)"/>
              </a:rPr>
              <a:t>2. Understand current performance</a:t>
            </a:r>
          </a:p>
          <a:p>
            <a:r>
              <a:rPr lang="en-IN" dirty="0">
                <a:latin typeface="Calibri (Body)"/>
              </a:rPr>
              <a:t>Creative</a:t>
            </a:r>
          </a:p>
          <a:p>
            <a:r>
              <a:rPr lang="en-IN" dirty="0">
                <a:latin typeface="Calibri (Body)"/>
              </a:rPr>
              <a:t>Adaptation</a:t>
            </a:r>
          </a:p>
          <a:p>
            <a:r>
              <a:rPr lang="en-IN" dirty="0">
                <a:latin typeface="Calibri (Body)"/>
              </a:rPr>
              <a:t>What is our performance level ?</a:t>
            </a:r>
          </a:p>
          <a:p>
            <a:r>
              <a:rPr lang="en-US" dirty="0">
                <a:latin typeface="Calibri (Body)"/>
              </a:rPr>
              <a:t>How do we do it ? </a:t>
            </a:r>
          </a:p>
          <a:p>
            <a:r>
              <a:rPr lang="en-IN" dirty="0">
                <a:latin typeface="Calibri (Body)"/>
              </a:rPr>
              <a:t>What are others performance levels ?</a:t>
            </a:r>
          </a:p>
          <a:p>
            <a:r>
              <a:rPr lang="en-US" dirty="0">
                <a:latin typeface="Calibri (Body)"/>
              </a:rPr>
              <a:t>How did they get there ?</a:t>
            </a:r>
          </a:p>
          <a:p>
            <a:endParaRPr lang="en-US" dirty="0">
              <a:latin typeface="Calibri (Body)"/>
            </a:endParaRPr>
          </a:p>
          <a:p>
            <a:r>
              <a:rPr lang="en-IN" sz="2000" b="1" i="1" dirty="0">
                <a:latin typeface="Calibri (Body)"/>
              </a:rPr>
              <a:t>Breakthrough Performance</a:t>
            </a:r>
          </a:p>
          <a:p>
            <a:r>
              <a:rPr lang="en-US" dirty="0">
                <a:latin typeface="Calibri (Body)"/>
              </a:rPr>
              <a:t> Understand and document the current process</a:t>
            </a:r>
          </a:p>
          <a:p>
            <a:r>
              <a:rPr lang="en-US" dirty="0">
                <a:latin typeface="Calibri (Body)"/>
              </a:rPr>
              <a:t> Those working in the process are the most capable of identifying and </a:t>
            </a:r>
          </a:p>
          <a:p>
            <a:r>
              <a:rPr lang="en-US" dirty="0">
                <a:latin typeface="Calibri (Body)"/>
              </a:rPr>
              <a:t>    correcting </a:t>
            </a:r>
            <a:r>
              <a:rPr lang="en-IN" dirty="0">
                <a:latin typeface="Calibri (Body)"/>
              </a:rPr>
              <a:t>problems</a:t>
            </a:r>
          </a:p>
          <a:p>
            <a:r>
              <a:rPr lang="en-US" dirty="0">
                <a:latin typeface="Calibri (Body)"/>
              </a:rPr>
              <a:t> While documenting, it is important to quantify</a:t>
            </a:r>
          </a:p>
          <a:p>
            <a:r>
              <a:rPr lang="en-US" dirty="0">
                <a:latin typeface="Calibri (Body)"/>
              </a:rPr>
              <a:t> Care should be taken during accounting information</a:t>
            </a:r>
            <a:endParaRPr lang="en-IN"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56CA3A75-1FD5-F884-8B08-2E666E6BF107}"/>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39781004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90A0E77-5986-4AE1-A44D-DCDA2461842F}"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533400" y="1371600"/>
            <a:ext cx="8001000" cy="2862322"/>
          </a:xfrm>
          <a:prstGeom prst="rect">
            <a:avLst/>
          </a:prstGeom>
        </p:spPr>
        <p:txBody>
          <a:bodyPr wrap="square">
            <a:spAutoFit/>
          </a:bodyPr>
          <a:lstStyle/>
          <a:p>
            <a:r>
              <a:rPr lang="en-IN" b="1" dirty="0">
                <a:latin typeface="Calibri (Body)"/>
              </a:rPr>
              <a:t>3. Plan</a:t>
            </a:r>
          </a:p>
          <a:p>
            <a:endParaRPr lang="en-IN" b="1" dirty="0">
              <a:latin typeface="Calibri (Body)"/>
            </a:endParaRPr>
          </a:p>
          <a:p>
            <a:r>
              <a:rPr lang="en-US" dirty="0">
                <a:latin typeface="Calibri (Body)"/>
              </a:rPr>
              <a:t> A benchmarking team should be chosen</a:t>
            </a:r>
          </a:p>
          <a:p>
            <a:r>
              <a:rPr lang="en-US" dirty="0">
                <a:latin typeface="Calibri (Body)"/>
              </a:rPr>
              <a:t> Organizations to serve as the benchmark need to be identified</a:t>
            </a:r>
          </a:p>
          <a:p>
            <a:r>
              <a:rPr lang="en-US" dirty="0">
                <a:latin typeface="Calibri (Body)"/>
              </a:rPr>
              <a:t> Time frame should be agreed upon for each of the benchmarking tasks</a:t>
            </a:r>
          </a:p>
          <a:p>
            <a:endParaRPr lang="en-US" dirty="0">
              <a:latin typeface="Calibri (Body)"/>
            </a:endParaRPr>
          </a:p>
          <a:p>
            <a:r>
              <a:rPr lang="en-US" dirty="0">
                <a:latin typeface="Calibri (Body)"/>
              </a:rPr>
              <a:t>There are three types of benchmarking</a:t>
            </a:r>
          </a:p>
          <a:p>
            <a:r>
              <a:rPr lang="en-IN" dirty="0">
                <a:latin typeface="Calibri (Body)"/>
              </a:rPr>
              <a:t>a. Internal</a:t>
            </a:r>
          </a:p>
          <a:p>
            <a:r>
              <a:rPr lang="en-IN" dirty="0">
                <a:latin typeface="Calibri (Body)"/>
              </a:rPr>
              <a:t>b. Competitive</a:t>
            </a:r>
          </a:p>
          <a:p>
            <a:r>
              <a:rPr lang="en-IN" dirty="0">
                <a:latin typeface="Calibri (Body)"/>
              </a:rPr>
              <a:t>c. Process</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B6CC4FE3-A92C-DACA-0A3D-91A9598F4AA3}"/>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25736483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3AC244D-C2C6-42DD-A733-E84EA624454A}"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295400"/>
            <a:ext cx="7924800" cy="2862322"/>
          </a:xfrm>
          <a:prstGeom prst="rect">
            <a:avLst/>
          </a:prstGeom>
        </p:spPr>
        <p:txBody>
          <a:bodyPr wrap="square">
            <a:spAutoFit/>
          </a:bodyPr>
          <a:lstStyle/>
          <a:p>
            <a:r>
              <a:rPr lang="en-IN" b="1" dirty="0">
                <a:latin typeface="Calibri (Body)"/>
              </a:rPr>
              <a:t>4. Study Others</a:t>
            </a:r>
          </a:p>
          <a:p>
            <a:endParaRPr lang="en-IN" b="1" dirty="0">
              <a:latin typeface="Calibri (Body)"/>
            </a:endParaRPr>
          </a:p>
          <a:p>
            <a:r>
              <a:rPr lang="en-US" dirty="0">
                <a:latin typeface="Calibri (Body)"/>
              </a:rPr>
              <a:t>Benchmarking studies look for two types of information</a:t>
            </a:r>
          </a:p>
          <a:p>
            <a:r>
              <a:rPr lang="en-US" dirty="0">
                <a:latin typeface="Calibri (Body)"/>
              </a:rPr>
              <a:t> How best the processes are practiced</a:t>
            </a:r>
          </a:p>
          <a:p>
            <a:r>
              <a:rPr lang="en-US" dirty="0">
                <a:latin typeface="Calibri (Body)"/>
              </a:rPr>
              <a:t> Measurable results of these practices</a:t>
            </a:r>
          </a:p>
          <a:p>
            <a:endParaRPr lang="en-US" dirty="0">
              <a:latin typeface="Calibri (Body)"/>
            </a:endParaRPr>
          </a:p>
          <a:p>
            <a:r>
              <a:rPr lang="en-US" dirty="0">
                <a:latin typeface="Calibri (Body)"/>
              </a:rPr>
              <a:t>Three techniques for conducting the research are</a:t>
            </a:r>
          </a:p>
          <a:p>
            <a:r>
              <a:rPr lang="en-IN" dirty="0">
                <a:latin typeface="Calibri (Body)"/>
              </a:rPr>
              <a:t> Questionnaires</a:t>
            </a:r>
          </a:p>
          <a:p>
            <a:r>
              <a:rPr lang="en-IN" dirty="0">
                <a:latin typeface="Calibri (Body)"/>
              </a:rPr>
              <a:t> Site visits</a:t>
            </a:r>
          </a:p>
          <a:p>
            <a:r>
              <a:rPr lang="en-IN" dirty="0">
                <a:latin typeface="Calibri (Body)"/>
              </a:rPr>
              <a:t> Focus groups</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2F20D35E-E308-264D-78E9-EABFB3C02D05}"/>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31639528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7848B4-17C7-49E4-8F1B-5EE23EF01ABF}"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09600" y="1166843"/>
            <a:ext cx="8001000" cy="3970318"/>
          </a:xfrm>
          <a:prstGeom prst="rect">
            <a:avLst/>
          </a:prstGeom>
        </p:spPr>
        <p:txBody>
          <a:bodyPr wrap="square">
            <a:spAutoFit/>
          </a:bodyPr>
          <a:lstStyle/>
          <a:p>
            <a:r>
              <a:rPr lang="en-US" b="1" dirty="0">
                <a:latin typeface="Calibri (Body)"/>
              </a:rPr>
              <a:t>5. Learn from the data</a:t>
            </a:r>
          </a:p>
          <a:p>
            <a:endParaRPr lang="en-US" b="1" dirty="0">
              <a:latin typeface="Calibri (Body)"/>
            </a:endParaRPr>
          </a:p>
          <a:p>
            <a:r>
              <a:rPr lang="en-US" dirty="0">
                <a:latin typeface="Calibri (Body)"/>
              </a:rPr>
              <a:t>Answering a series of questions like</a:t>
            </a:r>
          </a:p>
          <a:p>
            <a:r>
              <a:rPr lang="en-US" dirty="0">
                <a:latin typeface="Calibri (Body)"/>
              </a:rPr>
              <a:t> Is there a gap between the organization’s performance and the </a:t>
            </a:r>
          </a:p>
          <a:p>
            <a:r>
              <a:rPr lang="en-US" dirty="0">
                <a:latin typeface="Calibri (Body)"/>
              </a:rPr>
              <a:t>   performance of the best-in-class </a:t>
            </a:r>
            <a:r>
              <a:rPr lang="en-IN" dirty="0">
                <a:latin typeface="Calibri (Body)"/>
              </a:rPr>
              <a:t>organizations?</a:t>
            </a:r>
          </a:p>
          <a:p>
            <a:r>
              <a:rPr lang="en-US" dirty="0">
                <a:latin typeface="Calibri (Body)"/>
              </a:rPr>
              <a:t> What is the gap? How much is it?</a:t>
            </a:r>
          </a:p>
          <a:p>
            <a:r>
              <a:rPr lang="en-US" dirty="0">
                <a:latin typeface="Calibri (Body)"/>
              </a:rPr>
              <a:t> Why is there a gap? What does the best-in-class do differently that is </a:t>
            </a:r>
          </a:p>
          <a:p>
            <a:r>
              <a:rPr lang="en-US" dirty="0">
                <a:latin typeface="Calibri (Body)"/>
              </a:rPr>
              <a:t>    better?</a:t>
            </a:r>
          </a:p>
          <a:p>
            <a:r>
              <a:rPr lang="en-US" dirty="0">
                <a:latin typeface="Calibri (Body)"/>
              </a:rPr>
              <a:t> If best-in-class practices were adopted, what would be the resulting </a:t>
            </a:r>
          </a:p>
          <a:p>
            <a:r>
              <a:rPr lang="en-US" dirty="0">
                <a:latin typeface="Calibri (Body)"/>
              </a:rPr>
              <a:t>    improvement?</a:t>
            </a:r>
          </a:p>
          <a:p>
            <a:r>
              <a:rPr lang="en-US" dirty="0">
                <a:latin typeface="Calibri (Body)"/>
              </a:rPr>
              <a:t>    Benchmarking studies can reveal three different outcomes</a:t>
            </a:r>
          </a:p>
          <a:p>
            <a:r>
              <a:rPr lang="en-IN" dirty="0">
                <a:latin typeface="Calibri (Body)"/>
              </a:rPr>
              <a:t> Negative gap</a:t>
            </a:r>
          </a:p>
          <a:p>
            <a:r>
              <a:rPr lang="en-IN" dirty="0">
                <a:latin typeface="Calibri (Body)"/>
              </a:rPr>
              <a:t> Parity</a:t>
            </a:r>
          </a:p>
          <a:p>
            <a:r>
              <a:rPr lang="en-IN" dirty="0">
                <a:latin typeface="Calibri (Body)"/>
              </a:rPr>
              <a:t> Positive gap</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E7E96374-97A0-D360-F39C-7A8BDB8E8EDA}"/>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8984047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F62B07C-C8B8-4ECC-B156-5BDDDFBCD173}"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685800" y="1447800"/>
            <a:ext cx="7467600" cy="2308324"/>
          </a:xfrm>
          <a:prstGeom prst="rect">
            <a:avLst/>
          </a:prstGeom>
        </p:spPr>
        <p:txBody>
          <a:bodyPr wrap="square">
            <a:spAutoFit/>
          </a:bodyPr>
          <a:lstStyle/>
          <a:p>
            <a:r>
              <a:rPr lang="en-IN" b="1" dirty="0">
                <a:latin typeface="Calibri (Body)"/>
              </a:rPr>
              <a:t>6. Using the findings</a:t>
            </a:r>
          </a:p>
          <a:p>
            <a:endParaRPr lang="en-IN" b="1" dirty="0">
              <a:latin typeface="Calibri (Body)"/>
            </a:endParaRPr>
          </a:p>
          <a:p>
            <a:r>
              <a:rPr lang="en-US" dirty="0">
                <a:latin typeface="Calibri (Body)"/>
              </a:rPr>
              <a:t>The objective is to close the gap. For this</a:t>
            </a:r>
          </a:p>
          <a:p>
            <a:r>
              <a:rPr lang="en-US" dirty="0">
                <a:latin typeface="Calibri (Body)"/>
              </a:rPr>
              <a:t> Findings must be communicated to the people within the organization</a:t>
            </a:r>
          </a:p>
          <a:p>
            <a:r>
              <a:rPr lang="en-US" dirty="0">
                <a:latin typeface="Calibri (Body)"/>
              </a:rPr>
              <a:t> Action plans must be developed to implement new processes </a:t>
            </a:r>
          </a:p>
          <a:p>
            <a:r>
              <a:rPr lang="en-US" dirty="0">
                <a:latin typeface="Calibri (Body)"/>
              </a:rPr>
              <a:t>Groups that must agree on the change</a:t>
            </a:r>
          </a:p>
          <a:p>
            <a:r>
              <a:rPr lang="en-IN" dirty="0">
                <a:latin typeface="Calibri (Body)"/>
              </a:rPr>
              <a:t> Process owners</a:t>
            </a:r>
          </a:p>
          <a:p>
            <a:r>
              <a:rPr lang="en-IN" dirty="0">
                <a:latin typeface="Calibri (Body)"/>
              </a:rPr>
              <a:t> Upper management</a:t>
            </a: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DD4F4237-19B9-C047-921E-04EA013C390A}"/>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1077644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FA3992-C04A-4B23-85EC-512799F7CDD8}"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838200" y="1447800"/>
            <a:ext cx="7620000" cy="2308324"/>
          </a:xfrm>
          <a:prstGeom prst="rect">
            <a:avLst/>
          </a:prstGeom>
        </p:spPr>
        <p:txBody>
          <a:bodyPr wrap="square">
            <a:spAutoFit/>
          </a:bodyPr>
          <a:lstStyle/>
          <a:p>
            <a:r>
              <a:rPr lang="en-US" dirty="0">
                <a:latin typeface="Calibri (Body)"/>
              </a:rPr>
              <a:t>Steps for the development and execution of action plans are:</a:t>
            </a:r>
          </a:p>
          <a:p>
            <a:r>
              <a:rPr lang="en-IN" dirty="0">
                <a:latin typeface="Calibri (Body)"/>
              </a:rPr>
              <a:t>1. Specify tasks</a:t>
            </a:r>
          </a:p>
          <a:p>
            <a:r>
              <a:rPr lang="en-IN" dirty="0">
                <a:latin typeface="Calibri (Body)"/>
              </a:rPr>
              <a:t>2. Sequence tasks</a:t>
            </a:r>
          </a:p>
          <a:p>
            <a:r>
              <a:rPr lang="en-IN" dirty="0">
                <a:latin typeface="Calibri (Body)"/>
              </a:rPr>
              <a:t>3. Determine resources needs</a:t>
            </a:r>
          </a:p>
          <a:p>
            <a:r>
              <a:rPr lang="en-IN" dirty="0">
                <a:latin typeface="Calibri (Body)"/>
              </a:rPr>
              <a:t>4. Establish task schedule</a:t>
            </a:r>
          </a:p>
          <a:p>
            <a:r>
              <a:rPr lang="en-US" dirty="0">
                <a:latin typeface="Calibri (Body)"/>
              </a:rPr>
              <a:t>5. Assign responsibility for each task</a:t>
            </a:r>
          </a:p>
          <a:p>
            <a:r>
              <a:rPr lang="en-IN" dirty="0">
                <a:latin typeface="Calibri (Body)"/>
              </a:rPr>
              <a:t>6. Describe expected results</a:t>
            </a:r>
          </a:p>
          <a:p>
            <a:r>
              <a:rPr lang="en-US" dirty="0">
                <a:latin typeface="Calibri (Body)"/>
              </a:rPr>
              <a:t>7. Specify methods for monitoring results</a:t>
            </a:r>
            <a:endParaRPr lang="en-IN"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7907205C-7019-DCA5-08F0-9FC6C1CC1395}"/>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68776415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08DDDED-A1AB-4100-AF26-DEC65199BFFF}" type="datetime1">
              <a:rPr lang="en-US" smtClean="0"/>
              <a:t>5/1/2026</a:t>
            </a:fld>
            <a:endParaRPr lang="en-US"/>
          </a:p>
        </p:txBody>
      </p:sp>
      <p:sp>
        <p:nvSpPr>
          <p:cNvPr id="6" name="Title 1">
            <a:extLst>
              <a:ext uri="{FF2B5EF4-FFF2-40B4-BE49-F238E27FC236}">
                <a16:creationId xmlns:a16="http://schemas.microsoft.com/office/drawing/2014/main" id="{1C7BBAA3-263A-8FE5-5AA3-E40EF73A5AE9}"/>
              </a:ext>
            </a:extLst>
          </p:cNvPr>
          <p:cNvSpPr txBox="1">
            <a:spLocks noGrp="1"/>
          </p:cNvSpPr>
          <p:nvPr>
            <p:ph type="title"/>
          </p:nvPr>
        </p:nvSpPr>
        <p:spPr>
          <a:xfrm>
            <a:off x="1792745" y="0"/>
            <a:ext cx="7351255" cy="1143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br>
              <a:rPr lang="en-IN" sz="2800" b="1" dirty="0">
                <a:latin typeface="Times New Roman" panose="02020603050405020304" pitchFamily="18" charset="0"/>
              </a:rPr>
            </a:br>
            <a:br>
              <a:rPr lang="en-IN" sz="2800" b="1" dirty="0">
                <a:latin typeface="Times New Roman" panose="02020603050405020304" pitchFamily="18" charset="0"/>
              </a:rPr>
            </a:br>
            <a:r>
              <a:rPr lang="en-IN" sz="2800" b="1" dirty="0">
                <a:latin typeface="Times New Roman" panose="02020603050405020304" pitchFamily="18" charset="0"/>
              </a:rPr>
              <a:t>BENCHMARKING</a:t>
            </a:r>
            <a:br>
              <a:rPr lang="en-IN" sz="2800" b="1" dirty="0">
                <a:latin typeface="Times New Roman" panose="02020603050405020304" pitchFamily="18" charset="0"/>
              </a:rPr>
            </a:br>
            <a:br>
              <a:rPr lang="en-US" sz="2800" b="1" dirty="0">
                <a:solidFill>
                  <a:schemeClr val="tx1"/>
                </a:solidFill>
                <a:latin typeface="Times New Roman" panose="02020603050405020304" pitchFamily="18" charset="0"/>
                <a:cs typeface="Times New Roman" panose="02020603050405020304" pitchFamily="18" charset="0"/>
              </a:rPr>
            </a:br>
            <a:endParaRPr lang="en-US" sz="2800" dirty="0"/>
          </a:p>
        </p:txBody>
      </p:sp>
      <p:pic>
        <p:nvPicPr>
          <p:cNvPr id="7" name="Picture 6"/>
          <p:cNvPicPr>
            <a:picLocks noChangeAspect="1"/>
          </p:cNvPicPr>
          <p:nvPr/>
        </p:nvPicPr>
        <p:blipFill>
          <a:blip r:embed="rId2"/>
          <a:stretch>
            <a:fillRect/>
          </a:stretch>
        </p:blipFill>
        <p:spPr>
          <a:xfrm>
            <a:off x="36945" y="0"/>
            <a:ext cx="1755800" cy="1024217"/>
          </a:xfrm>
          <a:prstGeom prst="rect">
            <a:avLst/>
          </a:prstGeom>
        </p:spPr>
      </p:pic>
      <p:sp>
        <p:nvSpPr>
          <p:cNvPr id="2" name="Rectangle 1"/>
          <p:cNvSpPr/>
          <p:nvPr/>
        </p:nvSpPr>
        <p:spPr>
          <a:xfrm>
            <a:off x="762000" y="1371600"/>
            <a:ext cx="7696200" cy="1754326"/>
          </a:xfrm>
          <a:prstGeom prst="rect">
            <a:avLst/>
          </a:prstGeom>
        </p:spPr>
        <p:txBody>
          <a:bodyPr wrap="square">
            <a:spAutoFit/>
          </a:bodyPr>
          <a:lstStyle/>
          <a:p>
            <a:r>
              <a:rPr lang="en-US" b="1" dirty="0">
                <a:latin typeface="Calibri (Body)"/>
              </a:rPr>
              <a:t>PITFALLS AND CRITICISMS OF BENCHMARKING :</a:t>
            </a:r>
          </a:p>
          <a:p>
            <a:endParaRPr lang="en-US" b="1" dirty="0">
              <a:latin typeface="Calibri (Body)"/>
            </a:endParaRPr>
          </a:p>
          <a:p>
            <a:r>
              <a:rPr lang="en-IN" dirty="0">
                <a:latin typeface="Calibri (Body)"/>
              </a:rPr>
              <a:t> Idea of copying others</a:t>
            </a:r>
          </a:p>
          <a:p>
            <a:r>
              <a:rPr lang="en-US" dirty="0">
                <a:latin typeface="Calibri (Body)"/>
              </a:rPr>
              <a:t> It is not a cure or a business philosophy</a:t>
            </a:r>
          </a:p>
          <a:p>
            <a:r>
              <a:rPr lang="en-US" dirty="0">
                <a:latin typeface="Calibri (Body)"/>
              </a:rPr>
              <a:t> Some process have to be benchmarked repeatedly</a:t>
            </a:r>
          </a:p>
          <a:p>
            <a:r>
              <a:rPr lang="en-US" dirty="0">
                <a:latin typeface="Calibri (Body)"/>
              </a:rPr>
              <a:t> It is not a substitute for innovation</a:t>
            </a:r>
            <a:endParaRPr lang="en-IN" dirty="0">
              <a:latin typeface="Calibri (Body)"/>
            </a:endParaRPr>
          </a:p>
        </p:txBody>
      </p:sp>
      <p:sp>
        <p:nvSpPr>
          <p:cNvPr id="8" name="Footer Placeholder 4"/>
          <p:cNvSpPr txBox="1">
            <a:spLocks/>
          </p:cNvSpPr>
          <p:nvPr/>
        </p:nvSpPr>
        <p:spPr>
          <a:xfrm>
            <a:off x="2133600" y="6029902"/>
            <a:ext cx="521765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Dr. Karamjeet Kaur      AOE0861    TQM      Unit 3</a:t>
            </a:r>
          </a:p>
        </p:txBody>
      </p:sp>
      <p:sp>
        <p:nvSpPr>
          <p:cNvPr id="3" name="Footer Placeholder 2">
            <a:extLst>
              <a:ext uri="{FF2B5EF4-FFF2-40B4-BE49-F238E27FC236}">
                <a16:creationId xmlns:a16="http://schemas.microsoft.com/office/drawing/2014/main" id="{45264531-2C00-B114-5385-13066F3E6486}"/>
              </a:ext>
            </a:extLst>
          </p:cNvPr>
          <p:cNvSpPr>
            <a:spLocks noGrp="1"/>
          </p:cNvSpPr>
          <p:nvPr>
            <p:ph type="ftr" sz="quarter" idx="11"/>
          </p:nvPr>
        </p:nvSpPr>
        <p:spPr/>
        <p:txBody>
          <a:bodyPr/>
          <a:lstStyle/>
          <a:p>
            <a:r>
              <a:rPr lang="en-US"/>
              <a:t>Mr. Minhaj Nezami     AOE0861    TQM      Unit 3</a:t>
            </a:r>
            <a:endParaRPr lang="en-US" dirty="0"/>
          </a:p>
        </p:txBody>
      </p:sp>
    </p:spTree>
    <p:extLst>
      <p:ext uri="{BB962C8B-B14F-4D97-AF65-F5344CB8AC3E}">
        <p14:creationId xmlns:p14="http://schemas.microsoft.com/office/powerpoint/2010/main" val="18962727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lvl="0">
              <a:defRPr/>
            </a:pPr>
            <a:r>
              <a:rPr lang="en-US" sz="2400" dirty="0">
                <a:hlinkClick r:id="rId2"/>
              </a:rPr>
              <a:t>https://www.youtube.com/watch?v=Q3EOCAuExJU</a:t>
            </a:r>
            <a:endParaRPr lang="en-US" sz="2400" dirty="0"/>
          </a:p>
          <a:p>
            <a:pPr lvl="0">
              <a:defRPr/>
            </a:pPr>
            <a:r>
              <a:rPr lang="en-US" sz="2400" dirty="0">
                <a:hlinkClick r:id="rId3"/>
              </a:rPr>
              <a:t>https://www.youtube.com/watch?v=yWlAOFs04go</a:t>
            </a:r>
            <a:endParaRPr lang="en-US" sz="2400" dirty="0"/>
          </a:p>
          <a:p>
            <a:pPr lvl="0">
              <a:defRPr/>
            </a:pPr>
            <a:r>
              <a:rPr lang="en-US" sz="2400" dirty="0">
                <a:hlinkClick r:id="rId4"/>
              </a:rPr>
              <a:t>https://www.youtube.com/watch?v=QifqIoUNTJM</a:t>
            </a:r>
            <a:endParaRPr lang="en-US" sz="2400" dirty="0"/>
          </a:p>
          <a:p>
            <a:pPr lvl="0">
              <a:defRPr/>
            </a:pPr>
            <a:r>
              <a:rPr lang="en-US" sz="2400" dirty="0">
                <a:hlinkClick r:id="rId5"/>
              </a:rPr>
              <a:t>https://www.youtube.com/watch?v=qb3mvJ1gb9g</a:t>
            </a:r>
            <a:endParaRPr lang="en-US" sz="2400" dirty="0"/>
          </a:p>
          <a:p>
            <a:pPr lvl="0">
              <a:defRPr/>
            </a:pPr>
            <a:r>
              <a:rPr lang="en-US" sz="2400" dirty="0">
                <a:hlinkClick r:id="rId6"/>
              </a:rPr>
              <a:t>https://www.youtube.com/watch?v=2ePeXePNLrs</a:t>
            </a:r>
            <a:endParaRPr lang="en-US" sz="2400" dirty="0"/>
          </a:p>
          <a:p>
            <a:pPr lvl="0">
              <a:defRPr/>
            </a:pPr>
            <a:r>
              <a:rPr lang="en-US" sz="2400" dirty="0">
                <a:hlinkClick r:id="rId7"/>
              </a:rPr>
              <a:t>https://www.youtube.com/watch?v=HkdoR-NNEoI</a:t>
            </a:r>
            <a:endParaRPr lang="en-US" sz="2400" dirty="0"/>
          </a:p>
          <a:p>
            <a:pPr lvl="0">
              <a:defRPr/>
            </a:pPr>
            <a:r>
              <a:rPr lang="en-US" sz="2400" dirty="0">
                <a:hlinkClick r:id="rId8"/>
              </a:rPr>
              <a:t>https://www.researchgate.net/publication/318654507_Total_Quality_Management_Notes</a:t>
            </a:r>
            <a:endParaRPr lang="en-US" sz="2400" dirty="0"/>
          </a:p>
          <a:p>
            <a:pPr lvl="0">
              <a:defRPr/>
            </a:pPr>
            <a:r>
              <a:rPr lang="en-US" sz="2400" dirty="0">
                <a:hlinkClick r:id="rId9"/>
              </a:rPr>
              <a:t>http://www.mescenter.ru/images/abook_file/Total_Quality_Management_and_Six_Sigma.pdf</a:t>
            </a:r>
            <a:endParaRPr lang="en-US" sz="24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EE090E1-6CFF-490E-A83D-589CD14BBD22}" type="datetime1">
              <a:rPr lang="en-US" smtClean="0"/>
              <a:t>5/1/2026</a:t>
            </a:fld>
            <a:endParaRPr lang="en-US"/>
          </a:p>
        </p:txBody>
      </p:sp>
      <p:sp>
        <p:nvSpPr>
          <p:cNvPr id="9" name="Footer Placeholder 12"/>
          <p:cNvSpPr>
            <a:spLocks noGrp="1"/>
          </p:cNvSpPr>
          <p:nvPr>
            <p:ph type="ftr" sz="quarter" idx="11"/>
          </p:nvPr>
        </p:nvSpPr>
        <p:spPr>
          <a:xfrm>
            <a:off x="1981200" y="6248415"/>
            <a:ext cx="53340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10"/>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82618" y="-12264"/>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000" b="1" dirty="0">
                <a:solidFill>
                  <a:prstClr val="black"/>
                </a:solidFill>
                <a:latin typeface="Times New Roman" panose="02020603050405020304" pitchFamily="18" charset="0"/>
                <a:cs typeface="Times New Roman" panose="02020603050405020304" pitchFamily="18" charset="0"/>
              </a:rPr>
            </a:br>
            <a:r>
              <a:rPr lang="en-US" sz="2000" b="1" dirty="0">
                <a:solidFill>
                  <a:prstClr val="black"/>
                </a:solidFill>
                <a:latin typeface="Times New Roman" panose="02020603050405020304" pitchFamily="18" charset="0"/>
                <a:cs typeface="Times New Roman" panose="02020603050405020304" pitchFamily="18" charset="0"/>
              </a:rPr>
              <a:t>FACULTY VIDEO LINKS, YOUTUBE &amp; NPTEL VIDEO LINKS AND ONLINE COURSES DETAILS  </a:t>
            </a:r>
            <a:br>
              <a:rPr lang="en-US" sz="2000" b="1" dirty="0">
                <a:solidFill>
                  <a:prstClr val="black"/>
                </a:solidFill>
                <a:latin typeface="Times New Roman" panose="02020603050405020304" pitchFamily="18" charset="0"/>
                <a:cs typeface="Times New Roman" panose="02020603050405020304" pitchFamily="18" charset="0"/>
              </a:rPr>
            </a:br>
            <a:endParaRPr lang="en-US" sz="2000" dirty="0"/>
          </a:p>
        </p:txBody>
      </p:sp>
    </p:spTree>
    <p:extLst>
      <p:ext uri="{BB962C8B-B14F-4D97-AF65-F5344CB8AC3E}">
        <p14:creationId xmlns:p14="http://schemas.microsoft.com/office/powerpoint/2010/main" val="39193118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nSpc>
                <a:spcPct val="150000"/>
              </a:lnSpc>
            </a:pPr>
            <a:r>
              <a:rPr lang="en-US" sz="2200" dirty="0"/>
              <a:t>What is histogram?</a:t>
            </a:r>
          </a:p>
          <a:p>
            <a:pPr>
              <a:lnSpc>
                <a:spcPct val="150000"/>
              </a:lnSpc>
            </a:pPr>
            <a:r>
              <a:rPr lang="en-US" sz="2200" dirty="0"/>
              <a:t>Briefly explain </a:t>
            </a:r>
            <a:r>
              <a:rPr lang="en-US" sz="2200" dirty="0" err="1"/>
              <a:t>pareto</a:t>
            </a:r>
            <a:r>
              <a:rPr lang="en-US" sz="2200" dirty="0"/>
              <a:t> chart?</a:t>
            </a:r>
          </a:p>
          <a:p>
            <a:pPr>
              <a:lnSpc>
                <a:spcPct val="150000"/>
              </a:lnSpc>
            </a:pPr>
            <a:r>
              <a:rPr lang="en-US" sz="2200" dirty="0"/>
              <a:t>Explain the check sheet?</a:t>
            </a:r>
          </a:p>
          <a:p>
            <a:pPr>
              <a:lnSpc>
                <a:spcPct val="150000"/>
              </a:lnSpc>
            </a:pPr>
            <a:r>
              <a:rPr lang="en-US" sz="2200" dirty="0"/>
              <a:t>Give the example of control chart?</a:t>
            </a:r>
          </a:p>
          <a:p>
            <a:pPr>
              <a:lnSpc>
                <a:spcPct val="150000"/>
              </a:lnSpc>
            </a:pPr>
            <a:r>
              <a:rPr lang="en-US" sz="2200" dirty="0"/>
              <a:t>What is use of control chart?</a:t>
            </a:r>
          </a:p>
          <a:p>
            <a:pPr>
              <a:lnSpc>
                <a:spcPct val="150000"/>
              </a:lnSpc>
            </a:pPr>
            <a:endParaRPr lang="en-US" sz="2200" dirty="0"/>
          </a:p>
        </p:txBody>
      </p:sp>
      <p:sp>
        <p:nvSpPr>
          <p:cNvPr id="4" name="Date Placeholder 3"/>
          <p:cNvSpPr>
            <a:spLocks noGrp="1"/>
          </p:cNvSpPr>
          <p:nvPr>
            <p:ph type="dt" sz="half" idx="10"/>
          </p:nvPr>
        </p:nvSpPr>
        <p:spPr/>
        <p:txBody>
          <a:bodyPr/>
          <a:lstStyle/>
          <a:p>
            <a:fld id="{53990F93-90BD-472A-9835-36B70048848D}" type="datetime1">
              <a:rPr lang="en-US" smtClean="0"/>
              <a:t>5/1/2026</a:t>
            </a:fld>
            <a:endParaRPr lang="en-US"/>
          </a:p>
        </p:txBody>
      </p:sp>
      <p:sp>
        <p:nvSpPr>
          <p:cNvPr id="9" name="Footer Placeholder 12"/>
          <p:cNvSpPr>
            <a:spLocks noGrp="1"/>
          </p:cNvSpPr>
          <p:nvPr>
            <p:ph type="ftr" sz="quarter" idx="11"/>
          </p:nvPr>
        </p:nvSpPr>
        <p:spPr>
          <a:xfrm>
            <a:off x="1981200" y="6248415"/>
            <a:ext cx="53340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36436" y="-2372"/>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DAILY QUIZ</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04807"/>
            <a:ext cx="8305800" cy="5257800"/>
          </a:xfrm>
        </p:spPr>
        <p:txBody>
          <a:bodyPr>
            <a:normAutofit fontScale="25000" lnSpcReduction="20000"/>
          </a:bodyPr>
          <a:lstStyle/>
          <a:p>
            <a:pPr marL="514350" indent="-514350">
              <a:lnSpc>
                <a:spcPct val="120000"/>
              </a:lnSpc>
              <a:buNone/>
            </a:pPr>
            <a:r>
              <a:rPr lang="en-US" sz="6800" dirty="0"/>
              <a:t>						</a:t>
            </a:r>
          </a:p>
          <a:p>
            <a:pPr marL="1143000" indent="-1143000">
              <a:lnSpc>
                <a:spcPct val="120000"/>
              </a:lnSpc>
              <a:buNone/>
            </a:pPr>
            <a:r>
              <a:rPr lang="en-US" sz="8800" dirty="0"/>
              <a:t>1. Discuss Pareto Charts.					</a:t>
            </a:r>
          </a:p>
          <a:p>
            <a:pPr marL="1371600" indent="-1371600">
              <a:lnSpc>
                <a:spcPct val="120000"/>
              </a:lnSpc>
              <a:buNone/>
            </a:pPr>
            <a:r>
              <a:rPr lang="en-US" sz="8800" dirty="0"/>
              <a:t>2. Discuss fishbone diagrams. 				</a:t>
            </a:r>
          </a:p>
          <a:p>
            <a:pPr marL="1371600" indent="-1371600">
              <a:lnSpc>
                <a:spcPct val="120000"/>
              </a:lnSpc>
              <a:buNone/>
            </a:pPr>
            <a:r>
              <a:rPr lang="en-US" sz="8800" dirty="0"/>
              <a:t>3. Discuss Histogram. 						</a:t>
            </a:r>
          </a:p>
          <a:p>
            <a:pPr marL="1371600" indent="-1371600">
              <a:lnSpc>
                <a:spcPct val="120000"/>
              </a:lnSpc>
              <a:buNone/>
            </a:pPr>
            <a:r>
              <a:rPr lang="en-US" sz="8800" dirty="0"/>
              <a:t>4. Discuss control charts for variables. 				</a:t>
            </a:r>
          </a:p>
          <a:p>
            <a:pPr marL="1371600" indent="-1371600">
              <a:lnSpc>
                <a:spcPct val="120000"/>
              </a:lnSpc>
              <a:buNone/>
            </a:pPr>
            <a:r>
              <a:rPr lang="en-US" sz="8800" dirty="0"/>
              <a:t>5. Discuss flowcharts and give a simple example.			</a:t>
            </a:r>
          </a:p>
          <a:p>
            <a:pPr marL="1371600" indent="-1371600">
              <a:lnSpc>
                <a:spcPct val="120000"/>
              </a:lnSpc>
              <a:buNone/>
            </a:pPr>
            <a:r>
              <a:rPr lang="en-US" sz="8800" dirty="0"/>
              <a:t>6. Provide an overview of the Toyota practical problem solving process.</a:t>
            </a:r>
          </a:p>
          <a:p>
            <a:pPr marL="1371600" indent="-1371600">
              <a:lnSpc>
                <a:spcPct val="120000"/>
              </a:lnSpc>
              <a:buNone/>
            </a:pPr>
            <a:r>
              <a:rPr lang="en-US" sz="8800" dirty="0"/>
              <a:t>7. Explain a total quality decision making process.</a:t>
            </a:r>
          </a:p>
          <a:p>
            <a:pPr marL="1371600" indent="-1371600">
              <a:lnSpc>
                <a:spcPct val="120000"/>
              </a:lnSpc>
              <a:buNone/>
            </a:pPr>
            <a:r>
              <a:rPr lang="en-US" sz="8800" dirty="0"/>
              <a:t>8. Explain why quality tools are important. 			</a:t>
            </a:r>
          </a:p>
          <a:p>
            <a:pPr marL="1371600" indent="-1371600">
              <a:lnSpc>
                <a:spcPct val="120000"/>
              </a:lnSpc>
              <a:buNone/>
            </a:pPr>
            <a:r>
              <a:rPr lang="en-US" sz="3300" dirty="0"/>
              <a:t>			</a:t>
            </a:r>
          </a:p>
          <a:p>
            <a:pPr marL="514350" lvl="0" indent="-514350" algn="just">
              <a:buNone/>
            </a:pPr>
            <a:r>
              <a:rPr lang="en-US" dirty="0"/>
              <a:t>	</a:t>
            </a:r>
            <a:r>
              <a:rPr lang="en-US" sz="1600" dirty="0"/>
              <a:t>	</a:t>
            </a:r>
            <a:endParaRPr lang="en-US" sz="1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BFFF815-A964-4A4D-99E1-0BC271A9D096}" type="datetime1">
              <a:rPr lang="en-US" smtClean="0"/>
              <a:t>5/1/2026</a:t>
            </a:fld>
            <a:endParaRPr lang="en-US"/>
          </a:p>
        </p:txBody>
      </p:sp>
      <p:sp>
        <p:nvSpPr>
          <p:cNvPr id="9" name="Footer Placeholder 12"/>
          <p:cNvSpPr>
            <a:spLocks noGrp="1"/>
          </p:cNvSpPr>
          <p:nvPr>
            <p:ph type="ftr" sz="quarter" idx="11"/>
          </p:nvPr>
        </p:nvSpPr>
        <p:spPr>
          <a:xfrm>
            <a:off x="2133600" y="6248415"/>
            <a:ext cx="51816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34127" y="8352"/>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WEEKLY ASSIGNMENT</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32152"/>
            <a:ext cx="8229600" cy="4963848"/>
          </a:xfrm>
        </p:spPr>
        <p:txBody>
          <a:bodyPr>
            <a:normAutofit/>
          </a:bodyPr>
          <a:lstStyle/>
          <a:p>
            <a:r>
              <a:rPr lang="en-US" sz="2400" b="1" dirty="0"/>
              <a:t> Fish bone diagram is also known as?</a:t>
            </a:r>
            <a:br>
              <a:rPr lang="en-US" sz="2400" dirty="0"/>
            </a:br>
            <a:r>
              <a:rPr lang="en-US" sz="2400" dirty="0"/>
              <a:t>a. Cause and effect chart</a:t>
            </a:r>
          </a:p>
          <a:p>
            <a:pPr>
              <a:buNone/>
            </a:pPr>
            <a:r>
              <a:rPr lang="en-US" sz="2400" dirty="0"/>
              <a:t>     b. Ishikawa diagram</a:t>
            </a:r>
          </a:p>
          <a:p>
            <a:pPr>
              <a:buNone/>
            </a:pPr>
            <a:r>
              <a:rPr lang="en-US" sz="2400" dirty="0"/>
              <a:t>     c. Both a and b</a:t>
            </a:r>
          </a:p>
          <a:p>
            <a:pPr>
              <a:buNone/>
            </a:pPr>
            <a:r>
              <a:rPr lang="en-US" sz="2400" dirty="0"/>
              <a:t>     d. None of the above</a:t>
            </a:r>
          </a:p>
          <a:p>
            <a:pPr>
              <a:buNone/>
            </a:pPr>
            <a:endParaRPr lang="en-US" sz="2400" dirty="0"/>
          </a:p>
          <a:p>
            <a:r>
              <a:rPr lang="en-US" sz="2400" b="1" dirty="0"/>
              <a:t>Control chart is a</a:t>
            </a:r>
          </a:p>
          <a:p>
            <a:pPr marL="457200" lvl="0" indent="-457200">
              <a:buFont typeface="+mj-lt"/>
              <a:buAutoNum type="alphaLcParenR"/>
            </a:pPr>
            <a:r>
              <a:rPr lang="en-US" sz="2400" dirty="0"/>
              <a:t>Process monitoring tool</a:t>
            </a:r>
          </a:p>
          <a:p>
            <a:pPr marL="457200" lvl="0" indent="-457200">
              <a:buFont typeface="+mj-lt"/>
              <a:buAutoNum type="alphaLcParenR"/>
            </a:pPr>
            <a:r>
              <a:rPr lang="en-US" sz="2400" dirty="0"/>
              <a:t>Process control tool</a:t>
            </a:r>
          </a:p>
          <a:p>
            <a:pPr marL="457200" lvl="0" indent="-457200">
              <a:buFont typeface="+mj-lt"/>
              <a:buAutoNum type="alphaLcParenR"/>
            </a:pPr>
            <a:r>
              <a:rPr lang="en-US" sz="2400" dirty="0"/>
              <a:t>Both (a) and (b)</a:t>
            </a:r>
          </a:p>
          <a:p>
            <a:pPr marL="457200" lvl="0" indent="-457200">
              <a:buNone/>
            </a:pPr>
            <a:r>
              <a:rPr lang="en-US" sz="2400" dirty="0"/>
              <a:t>d)   None of the above</a:t>
            </a:r>
          </a:p>
          <a:p>
            <a:endParaRPr lang="en-US" sz="24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40F844B-6386-41CD-97D1-6394FBFE703B}"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9808"/>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MCQs</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400" b="1" dirty="0"/>
              <a:t>  Rectangle represents ________ While plotting flow chart.</a:t>
            </a:r>
            <a:endParaRPr lang="en-US" sz="2400" dirty="0"/>
          </a:p>
          <a:p>
            <a:pPr marL="457200" lvl="0" indent="-457200">
              <a:buFont typeface="+mj-lt"/>
              <a:buAutoNum type="alphaLcPeriod"/>
            </a:pPr>
            <a:r>
              <a:rPr lang="en-US" sz="2200" dirty="0"/>
              <a:t>Step in activity</a:t>
            </a:r>
          </a:p>
          <a:p>
            <a:pPr marL="457200" lvl="0" indent="-457200">
              <a:buFont typeface="+mj-lt"/>
              <a:buAutoNum type="alphaLcPeriod"/>
            </a:pPr>
            <a:r>
              <a:rPr lang="en-US" sz="2200" dirty="0"/>
              <a:t>Decision making</a:t>
            </a:r>
          </a:p>
          <a:p>
            <a:pPr marL="457200" lvl="0" indent="-457200">
              <a:buFont typeface="+mj-lt"/>
              <a:buAutoNum type="alphaLcPeriod"/>
            </a:pPr>
            <a:r>
              <a:rPr lang="en-US" sz="2200" dirty="0"/>
              <a:t>Direction of flow</a:t>
            </a:r>
          </a:p>
          <a:p>
            <a:pPr lvl="0">
              <a:buNone/>
            </a:pPr>
            <a:r>
              <a:rPr lang="en-US" sz="2200" dirty="0"/>
              <a:t>d.    None of the above</a:t>
            </a:r>
          </a:p>
          <a:p>
            <a:r>
              <a:rPr lang="en-US" sz="2400" b="1" dirty="0"/>
              <a:t> __________ is used to collect data</a:t>
            </a:r>
            <a:endParaRPr lang="en-US" sz="2400" dirty="0"/>
          </a:p>
          <a:p>
            <a:pPr>
              <a:buNone/>
            </a:pPr>
            <a:r>
              <a:rPr lang="en-US" sz="2200" dirty="0"/>
              <a:t>a. Check sheets</a:t>
            </a:r>
          </a:p>
          <a:p>
            <a:pPr>
              <a:buNone/>
            </a:pPr>
            <a:r>
              <a:rPr lang="en-US" sz="2200" dirty="0"/>
              <a:t>b. Histogram </a:t>
            </a:r>
          </a:p>
          <a:p>
            <a:pPr>
              <a:buNone/>
            </a:pPr>
            <a:r>
              <a:rPr lang="en-US" sz="2200" dirty="0"/>
              <a:t>c. Scatter diagram</a:t>
            </a:r>
          </a:p>
          <a:p>
            <a:pPr>
              <a:buNone/>
            </a:pPr>
            <a:r>
              <a:rPr lang="en-US" sz="2200" dirty="0"/>
              <a:t>d. Control chart</a:t>
            </a:r>
          </a:p>
          <a:p>
            <a:endParaRPr lang="en-US" sz="24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188B4AD-178E-42B4-8697-6250A20D3F14}"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44591"/>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MCQs</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400" b="1" dirty="0"/>
              <a:t>__________represent the data graphically</a:t>
            </a:r>
            <a:endParaRPr lang="en-US" sz="2400" dirty="0"/>
          </a:p>
          <a:p>
            <a:pPr>
              <a:buNone/>
            </a:pPr>
            <a:r>
              <a:rPr lang="en-US" sz="2400" dirty="0"/>
              <a:t> </a:t>
            </a:r>
            <a:r>
              <a:rPr lang="en-US" sz="2200" dirty="0"/>
              <a:t>a. Check sheets</a:t>
            </a:r>
          </a:p>
          <a:p>
            <a:pPr>
              <a:buNone/>
            </a:pPr>
            <a:r>
              <a:rPr lang="en-US" sz="2200" dirty="0"/>
              <a:t>b. Histogram </a:t>
            </a:r>
          </a:p>
          <a:p>
            <a:pPr>
              <a:buNone/>
            </a:pPr>
            <a:r>
              <a:rPr lang="en-US" sz="2200" dirty="0"/>
              <a:t>c. Scatter diagram</a:t>
            </a:r>
          </a:p>
          <a:p>
            <a:pPr>
              <a:buNone/>
            </a:pPr>
            <a:r>
              <a:rPr lang="en-US" sz="2200" dirty="0"/>
              <a:t>d. Control chart</a:t>
            </a:r>
          </a:p>
          <a:p>
            <a:r>
              <a:rPr lang="en-US" sz="2400" b="1" dirty="0"/>
              <a:t>__________  shows the relationship between two variables</a:t>
            </a:r>
            <a:endParaRPr lang="en-US" sz="2400" dirty="0"/>
          </a:p>
          <a:p>
            <a:pPr>
              <a:buNone/>
            </a:pPr>
            <a:r>
              <a:rPr lang="en-US" sz="2200" dirty="0"/>
              <a:t>a. Check sheets</a:t>
            </a:r>
          </a:p>
          <a:p>
            <a:pPr>
              <a:buNone/>
            </a:pPr>
            <a:r>
              <a:rPr lang="en-US" sz="2200" dirty="0"/>
              <a:t>b. Histogram </a:t>
            </a:r>
          </a:p>
          <a:p>
            <a:pPr>
              <a:buNone/>
            </a:pPr>
            <a:r>
              <a:rPr lang="en-US" sz="2200" dirty="0"/>
              <a:t>c. Scatter diagram</a:t>
            </a:r>
          </a:p>
          <a:p>
            <a:pPr>
              <a:buNone/>
            </a:pPr>
            <a:r>
              <a:rPr lang="en-US" sz="2200" dirty="0"/>
              <a:t>d. Control chart</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FAD9A9E-2F83-452C-A9CC-35CD60F66D67}" type="datetime1">
              <a:rPr lang="en-US" smtClean="0"/>
              <a:t>5/1/2026</a:t>
            </a:fld>
            <a:endParaRPr lang="en-US"/>
          </a:p>
        </p:txBody>
      </p:sp>
      <p:sp>
        <p:nvSpPr>
          <p:cNvPr id="9" name="Footer Placeholder 12"/>
          <p:cNvSpPr>
            <a:spLocks noGrp="1"/>
          </p:cNvSpPr>
          <p:nvPr>
            <p:ph type="ftr" sz="quarter" idx="11"/>
          </p:nvPr>
        </p:nvSpPr>
        <p:spPr>
          <a:xfrm>
            <a:off x="1981200" y="6248415"/>
            <a:ext cx="53340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MCQs</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400" b="1" dirty="0"/>
              <a:t> __________  explains if process under control or not</a:t>
            </a:r>
            <a:endParaRPr lang="en-US" sz="2400" dirty="0"/>
          </a:p>
          <a:p>
            <a:pPr>
              <a:buNone/>
            </a:pPr>
            <a:r>
              <a:rPr lang="en-US" sz="2200" dirty="0"/>
              <a:t>a. Check sheets</a:t>
            </a:r>
          </a:p>
          <a:p>
            <a:pPr>
              <a:buNone/>
            </a:pPr>
            <a:r>
              <a:rPr lang="en-US" sz="2200" dirty="0"/>
              <a:t>b. Histogram </a:t>
            </a:r>
          </a:p>
          <a:p>
            <a:pPr>
              <a:buNone/>
            </a:pPr>
            <a:r>
              <a:rPr lang="en-US" sz="2200" dirty="0"/>
              <a:t>c. Scatter diagram</a:t>
            </a:r>
          </a:p>
          <a:p>
            <a:pPr>
              <a:buNone/>
            </a:pPr>
            <a:r>
              <a:rPr lang="en-US" sz="2200" dirty="0"/>
              <a:t>d. Control chart</a:t>
            </a:r>
          </a:p>
          <a:p>
            <a:r>
              <a:rPr lang="en-US" sz="2400" b="1" dirty="0"/>
              <a:t>___________helps in identifying the main cause of problem</a:t>
            </a:r>
            <a:endParaRPr lang="en-US" sz="2400" dirty="0"/>
          </a:p>
          <a:p>
            <a:pPr>
              <a:buNone/>
            </a:pPr>
            <a:r>
              <a:rPr lang="en-US" sz="2200" dirty="0"/>
              <a:t>a. Histogram</a:t>
            </a:r>
          </a:p>
          <a:p>
            <a:pPr>
              <a:buNone/>
            </a:pPr>
            <a:r>
              <a:rPr lang="en-US" sz="2200" dirty="0"/>
              <a:t>b. Pareto chart</a:t>
            </a:r>
          </a:p>
          <a:p>
            <a:pPr>
              <a:buNone/>
            </a:pPr>
            <a:r>
              <a:rPr lang="en-US" sz="2200" dirty="0"/>
              <a:t>c. cause and effect diagram</a:t>
            </a:r>
          </a:p>
          <a:p>
            <a:pPr>
              <a:buNone/>
            </a:pPr>
            <a:r>
              <a:rPr lang="en-US" sz="2200" dirty="0"/>
              <a:t>d.  Flow chart       </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9255036-23C7-49C6-870A-F12DBEF5BCBB}" type="datetime1">
              <a:rPr lang="en-US" smtClean="0"/>
              <a:t>5/1/2026</a:t>
            </a:fld>
            <a:endParaRPr lang="en-US"/>
          </a:p>
        </p:txBody>
      </p:sp>
      <p:sp>
        <p:nvSpPr>
          <p:cNvPr id="9" name="Footer Placeholder 12"/>
          <p:cNvSpPr>
            <a:spLocks noGrp="1"/>
          </p:cNvSpPr>
          <p:nvPr>
            <p:ph type="ftr" sz="quarter" idx="11"/>
          </p:nvPr>
        </p:nvSpPr>
        <p:spPr>
          <a:xfrm>
            <a:off x="1905000" y="6248415"/>
            <a:ext cx="54102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4909" y="32327"/>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MCQs</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400" b="1" dirty="0"/>
              <a:t>Which identify the root cause of problem and their effect</a:t>
            </a:r>
            <a:endParaRPr lang="en-US" sz="2400" dirty="0"/>
          </a:p>
          <a:p>
            <a:pPr>
              <a:buNone/>
            </a:pPr>
            <a:r>
              <a:rPr lang="en-US" sz="2200" dirty="0"/>
              <a:t>a. Histogram</a:t>
            </a:r>
          </a:p>
          <a:p>
            <a:pPr>
              <a:buNone/>
            </a:pPr>
            <a:r>
              <a:rPr lang="en-US" sz="2200" dirty="0"/>
              <a:t>b. Pareto chart</a:t>
            </a:r>
          </a:p>
          <a:p>
            <a:pPr>
              <a:buNone/>
            </a:pPr>
            <a:r>
              <a:rPr lang="en-US" sz="2200" dirty="0"/>
              <a:t>c. cause and effect diagram</a:t>
            </a:r>
          </a:p>
          <a:p>
            <a:pPr>
              <a:buNone/>
            </a:pPr>
            <a:r>
              <a:rPr lang="en-US" sz="2200" dirty="0"/>
              <a:t>d.  Flow chart       </a:t>
            </a:r>
          </a:p>
          <a:p>
            <a:r>
              <a:rPr lang="en-US" sz="2400" b="1" dirty="0"/>
              <a:t>Which is used to represent graphically different process and work flow</a:t>
            </a:r>
            <a:endParaRPr lang="en-US" sz="2400" dirty="0"/>
          </a:p>
          <a:p>
            <a:pPr>
              <a:buNone/>
            </a:pPr>
            <a:r>
              <a:rPr lang="en-US" sz="2200" dirty="0"/>
              <a:t>a. Histogram</a:t>
            </a:r>
          </a:p>
          <a:p>
            <a:pPr>
              <a:buNone/>
            </a:pPr>
            <a:r>
              <a:rPr lang="en-US" sz="2200" dirty="0"/>
              <a:t>b. Pareto chart</a:t>
            </a:r>
          </a:p>
          <a:p>
            <a:pPr>
              <a:buNone/>
            </a:pPr>
            <a:r>
              <a:rPr lang="en-US" sz="2200" dirty="0"/>
              <a:t>c. cause and effect diagram</a:t>
            </a:r>
          </a:p>
          <a:p>
            <a:pPr>
              <a:buNone/>
            </a:pPr>
            <a:r>
              <a:rPr lang="en-US" sz="2200" dirty="0"/>
              <a:t>d. Flow chart       </a:t>
            </a:r>
          </a:p>
          <a:p>
            <a:pPr>
              <a:buNone/>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9B1EC8B-6F38-4AF0-8C91-34AAA9FF75F3}" type="datetime1">
              <a:rPr lang="en-US" smtClean="0"/>
              <a:t>5/1/2026</a:t>
            </a:fld>
            <a:endParaRPr lang="en-US"/>
          </a:p>
        </p:txBody>
      </p:sp>
      <p:sp>
        <p:nvSpPr>
          <p:cNvPr id="9" name="Footer Placeholder 12"/>
          <p:cNvSpPr>
            <a:spLocks noGrp="1"/>
          </p:cNvSpPr>
          <p:nvPr>
            <p:ph type="ftr" sz="quarter" idx="11"/>
          </p:nvPr>
        </p:nvSpPr>
        <p:spPr>
          <a:xfrm>
            <a:off x="1981200" y="6248415"/>
            <a:ext cx="53340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MCQs</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A13EFC9-3496-44EE-85B2-12C7D0A8251E}"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3</a:t>
            </a:r>
            <a:endParaRPr lang="en-US" sz="2000" dirty="0"/>
          </a:p>
        </p:txBody>
      </p:sp>
      <p:pic>
        <p:nvPicPr>
          <p:cNvPr id="14" name="Picture 13"/>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4"/>
          <a:stretch>
            <a:fillRect/>
          </a:stretch>
        </p:blipFill>
        <p:spPr>
          <a:xfrm>
            <a:off x="835429" y="1220597"/>
            <a:ext cx="7564582" cy="4728707"/>
          </a:xfrm>
          <a:prstGeom prst="rect">
            <a:avLst/>
          </a:prstGeom>
        </p:spPr>
      </p:pic>
    </p:spTree>
    <p:extLst>
      <p:ext uri="{BB962C8B-B14F-4D97-AF65-F5344CB8AC3E}">
        <p14:creationId xmlns:p14="http://schemas.microsoft.com/office/powerpoint/2010/main" val="400599859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18" y="1135222"/>
            <a:ext cx="9000772"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4312078-53EB-4794-84E5-7005DA7FA04F}"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3</a:t>
            </a:r>
            <a:endParaRPr lang="en-US" sz="2000" dirty="0"/>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0" y="1038499"/>
            <a:ext cx="9144000" cy="5091907"/>
          </a:xfrm>
          <a:prstGeom prst="rect">
            <a:avLst/>
          </a:prstGeom>
        </p:spPr>
      </p:pic>
    </p:spTree>
    <p:extLst>
      <p:ext uri="{BB962C8B-B14F-4D97-AF65-F5344CB8AC3E}">
        <p14:creationId xmlns:p14="http://schemas.microsoft.com/office/powerpoint/2010/main" val="109567519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C496F13-8FA2-4C90-A4EF-4E6FAE6DBF6E}"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3</a:t>
            </a:r>
            <a:endParaRPr lang="en-US" sz="2000" dirty="0"/>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8" y="1143000"/>
            <a:ext cx="9113982" cy="4997480"/>
          </a:xfrm>
          <a:prstGeom prst="rect">
            <a:avLst/>
          </a:prstGeom>
        </p:spPr>
      </p:pic>
    </p:spTree>
    <p:extLst>
      <p:ext uri="{BB962C8B-B14F-4D97-AF65-F5344CB8AC3E}">
        <p14:creationId xmlns:p14="http://schemas.microsoft.com/office/powerpoint/2010/main" val="305414951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E94B64C-5241-446B-83EA-5084949E1401}"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3</a:t>
            </a:r>
            <a:endParaRPr lang="en-US" sz="2000" dirty="0"/>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8" y="1049617"/>
            <a:ext cx="9113982" cy="5090863"/>
          </a:xfrm>
          <a:prstGeom prst="rect">
            <a:avLst/>
          </a:prstGeom>
        </p:spPr>
      </p:pic>
    </p:spTree>
    <p:extLst>
      <p:ext uri="{BB962C8B-B14F-4D97-AF65-F5344CB8AC3E}">
        <p14:creationId xmlns:p14="http://schemas.microsoft.com/office/powerpoint/2010/main" val="241492860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2132FCB-B21F-4C5C-ADF7-B4E2D9AC2F4E}"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3</a:t>
            </a:r>
            <a:endParaRPr lang="en-US" sz="2000" dirty="0"/>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5" name="Picture 4"/>
          <p:cNvPicPr>
            <a:picLocks noChangeAspect="1"/>
          </p:cNvPicPr>
          <p:nvPr/>
        </p:nvPicPr>
        <p:blipFill>
          <a:blip r:embed="rId3"/>
          <a:stretch>
            <a:fillRect/>
          </a:stretch>
        </p:blipFill>
        <p:spPr>
          <a:xfrm>
            <a:off x="0" y="1042987"/>
            <a:ext cx="9143999" cy="5097493"/>
          </a:xfrm>
          <a:prstGeom prst="rect">
            <a:avLst/>
          </a:prstGeom>
        </p:spPr>
      </p:pic>
    </p:spTree>
    <p:extLst>
      <p:ext uri="{BB962C8B-B14F-4D97-AF65-F5344CB8AC3E}">
        <p14:creationId xmlns:p14="http://schemas.microsoft.com/office/powerpoint/2010/main" val="34313391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800F6FF-AFF5-496A-ACE4-63EBC75A72FF}"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3</a:t>
            </a:r>
            <a:endParaRPr lang="en-US" sz="2000" dirty="0"/>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5" name="Picture 4"/>
          <p:cNvPicPr>
            <a:picLocks noChangeAspect="1"/>
          </p:cNvPicPr>
          <p:nvPr/>
        </p:nvPicPr>
        <p:blipFill>
          <a:blip r:embed="rId3"/>
          <a:stretch>
            <a:fillRect/>
          </a:stretch>
        </p:blipFill>
        <p:spPr>
          <a:xfrm>
            <a:off x="30018" y="930564"/>
            <a:ext cx="9113982" cy="5317851"/>
          </a:xfrm>
          <a:prstGeom prst="rect">
            <a:avLst/>
          </a:prstGeom>
        </p:spPr>
      </p:pic>
    </p:spTree>
    <p:extLst>
      <p:ext uri="{BB962C8B-B14F-4D97-AF65-F5344CB8AC3E}">
        <p14:creationId xmlns:p14="http://schemas.microsoft.com/office/powerpoint/2010/main" val="237772311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2025E49-D731-438A-8AB1-0BB57A75C264}"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3</a:t>
            </a:r>
            <a:endParaRPr lang="en-US" sz="2000" dirty="0"/>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9" y="1157552"/>
            <a:ext cx="8974644" cy="4879431"/>
          </a:xfrm>
          <a:prstGeom prst="rect">
            <a:avLst/>
          </a:prstGeom>
        </p:spPr>
      </p:pic>
    </p:spTree>
    <p:extLst>
      <p:ext uri="{BB962C8B-B14F-4D97-AF65-F5344CB8AC3E}">
        <p14:creationId xmlns:p14="http://schemas.microsoft.com/office/powerpoint/2010/main" val="35723296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nSpc>
                <a:spcPct val="150000"/>
              </a:lnSpc>
            </a:pPr>
            <a:r>
              <a:rPr lang="en-US" sz="2200" dirty="0"/>
              <a:t>Explain the concepts of Six Sigma?</a:t>
            </a:r>
          </a:p>
          <a:p>
            <a:pPr>
              <a:lnSpc>
                <a:spcPct val="150000"/>
              </a:lnSpc>
            </a:pPr>
            <a:r>
              <a:rPr lang="en-US" sz="2200" dirty="0"/>
              <a:t>Explain any four tools of quality control?</a:t>
            </a:r>
          </a:p>
          <a:p>
            <a:pPr>
              <a:lnSpc>
                <a:spcPct val="150000"/>
              </a:lnSpc>
            </a:pPr>
            <a:r>
              <a:rPr lang="en-US" sz="2200" dirty="0"/>
              <a:t>What are the new seven management tools?</a:t>
            </a:r>
          </a:p>
          <a:p>
            <a:pPr>
              <a:lnSpc>
                <a:spcPct val="150000"/>
              </a:lnSpc>
            </a:pPr>
            <a:r>
              <a:rPr lang="en-US" sz="2200" dirty="0"/>
              <a:t>List out the types of cause and effect diagram?</a:t>
            </a:r>
          </a:p>
          <a:p>
            <a:pPr>
              <a:lnSpc>
                <a:spcPct val="150000"/>
              </a:lnSpc>
            </a:pPr>
            <a:r>
              <a:rPr lang="en-US" sz="2200" dirty="0"/>
              <a:t>What is a measure of central tendency?</a:t>
            </a:r>
          </a:p>
          <a:p>
            <a:pPr>
              <a:lnSpc>
                <a:spcPct val="150000"/>
              </a:lnSpc>
            </a:pPr>
            <a:r>
              <a:rPr lang="en-US" sz="2200" dirty="0"/>
              <a:t>What is the use of the control chart?</a:t>
            </a:r>
          </a:p>
          <a:p>
            <a:endParaRPr lang="en-US" sz="2200" dirty="0"/>
          </a:p>
        </p:txBody>
      </p:sp>
      <p:sp>
        <p:nvSpPr>
          <p:cNvPr id="4" name="Date Placeholder 3"/>
          <p:cNvSpPr>
            <a:spLocks noGrp="1"/>
          </p:cNvSpPr>
          <p:nvPr>
            <p:ph type="dt" sz="half" idx="10"/>
          </p:nvPr>
        </p:nvSpPr>
        <p:spPr/>
        <p:txBody>
          <a:bodyPr/>
          <a:lstStyle/>
          <a:p>
            <a:fld id="{AF7E3F8F-DC12-41DB-AB27-91BCB098580E}" type="datetime1">
              <a:rPr lang="en-US" smtClean="0"/>
              <a:t>5/1/2026</a:t>
            </a:fld>
            <a:endParaRPr lang="en-US"/>
          </a:p>
        </p:txBody>
      </p:sp>
      <p:sp>
        <p:nvSpPr>
          <p:cNvPr id="9" name="Footer Placeholder 12"/>
          <p:cNvSpPr>
            <a:spLocks noGrp="1"/>
          </p:cNvSpPr>
          <p:nvPr>
            <p:ph type="ftr" sz="quarter" idx="11"/>
          </p:nvPr>
        </p:nvSpPr>
        <p:spPr>
          <a:xfrm>
            <a:off x="1981200" y="6248415"/>
            <a:ext cx="53340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11545"/>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EXPECTED QUESTIONS FOR UNIVERSITY EXAM </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lnSpcReduction="10000"/>
          </a:bodyPr>
          <a:lstStyle/>
          <a:p>
            <a:pPr>
              <a:lnSpc>
                <a:spcPct val="150000"/>
              </a:lnSpc>
            </a:pPr>
            <a:r>
              <a:rPr lang="en-US" sz="2200" dirty="0"/>
              <a:t>Each of these quality tools has unique advantages for certain situations. And, not all tools are used for all problem-solving.</a:t>
            </a:r>
          </a:p>
          <a:p>
            <a:pPr>
              <a:lnSpc>
                <a:spcPct val="150000"/>
              </a:lnSpc>
            </a:pPr>
            <a:r>
              <a:rPr lang="en-US" sz="2200" dirty="0"/>
              <a:t>Once a tool is learned, it can be adapted to different problem-solving opportunities.</a:t>
            </a:r>
          </a:p>
          <a:p>
            <a:pPr>
              <a:lnSpc>
                <a:spcPct val="150000"/>
              </a:lnSpc>
            </a:pPr>
            <a:r>
              <a:rPr lang="en-US" sz="2200" dirty="0"/>
              <a:t>Additionally, as with anything else, using tools properly takes practice and experience. Simply start using each of the tools, and over time, you will become proficient and a great problem solver!</a:t>
            </a:r>
          </a:p>
          <a:p>
            <a:pPr>
              <a:lnSpc>
                <a:spcPct val="150000"/>
              </a:lnSpc>
            </a:pPr>
            <a:r>
              <a:rPr lang="en-US" sz="2200" dirty="0"/>
              <a:t>What problems does your organization have that could benefit from one of these tools?</a:t>
            </a:r>
          </a:p>
          <a:p>
            <a:pPr marL="354965" marR="6350" algn="just">
              <a:spcBef>
                <a:spcPts val="105"/>
              </a:spcBef>
              <a:buFont typeface="Arial"/>
              <a:buChar char="•"/>
              <a:tabLst>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9D525303-4231-40C7-99F9-8CEA57372353}" type="datetime1">
              <a:rPr lang="en-US" smtClean="0"/>
              <a:t>5/1/2026</a:t>
            </a:fld>
            <a:endParaRPr lang="en-US"/>
          </a:p>
        </p:txBody>
      </p:sp>
      <p:sp>
        <p:nvSpPr>
          <p:cNvPr id="9" name="Footer Placeholder 12"/>
          <p:cNvSpPr>
            <a:spLocks noGrp="1"/>
          </p:cNvSpPr>
          <p:nvPr>
            <p:ph type="ftr" sz="quarter" idx="11"/>
          </p:nvPr>
        </p:nvSpPr>
        <p:spPr>
          <a:xfrm>
            <a:off x="1981200" y="6248415"/>
            <a:ext cx="53340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20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latin typeface="Times New Roman" panose="02020603050405020304" pitchFamily="18" charset="0"/>
                <a:cs typeface="Times New Roman" panose="02020603050405020304" pitchFamily="18" charset="0"/>
              </a:rPr>
              <a:t>SUMMARY</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4965" marR="5080" algn="just">
              <a:lnSpc>
                <a:spcPct val="150000"/>
              </a:lnSpc>
              <a:spcBef>
                <a:spcPts val="480"/>
              </a:spcBef>
              <a:tabLst>
                <a:tab pos="355600" algn="l"/>
              </a:tabLst>
            </a:pPr>
            <a:r>
              <a:rPr lang="en-US" sz="2200" dirty="0"/>
              <a:t>The </a:t>
            </a:r>
            <a:r>
              <a:rPr lang="en-US" sz="2200" b="1" dirty="0"/>
              <a:t>seven basic tools of quality</a:t>
            </a:r>
            <a:r>
              <a:rPr lang="en-US" sz="2200" dirty="0"/>
              <a:t> is a designation given to a fixed set of graphical techniques identified as being most helpful in troubleshooting issues related to quality. They are called </a:t>
            </a:r>
            <a:r>
              <a:rPr lang="en-US" sz="2200" i="1" dirty="0"/>
              <a:t>basic</a:t>
            </a:r>
            <a:r>
              <a:rPr lang="en-US" sz="2200" dirty="0"/>
              <a:t> because they are suitable for people with little formal training in statistics and because they can be used to solve the vast majority of quality-related issues</a:t>
            </a:r>
            <a:endParaRPr lang="en-US" sz="2200" dirty="0">
              <a:cs typeface="Times New Roman" panose="02020603050405020304" pitchFamily="18" charset="0"/>
            </a:endParaRPr>
          </a:p>
        </p:txBody>
      </p:sp>
      <p:sp>
        <p:nvSpPr>
          <p:cNvPr id="4" name="Date Placeholder 3"/>
          <p:cNvSpPr>
            <a:spLocks noGrp="1"/>
          </p:cNvSpPr>
          <p:nvPr>
            <p:ph type="dt" sz="half" idx="10"/>
          </p:nvPr>
        </p:nvSpPr>
        <p:spPr/>
        <p:txBody>
          <a:bodyPr/>
          <a:lstStyle/>
          <a:p>
            <a:fld id="{B349C259-D56D-48FD-87A5-F8AE203E97FF}" type="datetime1">
              <a:rPr lang="en-US" smtClean="0"/>
              <a:t>5/1/2026</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2"/>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16164"/>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US" sz="2800" b="1" dirty="0">
                <a:latin typeface="Times New Roman" panose="02020603050405020304" pitchFamily="18" charset="0"/>
                <a:cs typeface="Times New Roman" panose="02020603050405020304" pitchFamily="18" charset="0"/>
              </a:rPr>
              <a:t>SUMMARY</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fontScale="92500"/>
          </a:bodyPr>
          <a:lstStyle/>
          <a:p>
            <a:pPr marL="0" lvl="0" indent="0">
              <a:buNone/>
            </a:pPr>
            <a:r>
              <a:rPr lang="en-US" sz="2400" dirty="0"/>
              <a:t>Text Book</a:t>
            </a:r>
          </a:p>
          <a:p>
            <a:pPr lvl="0"/>
            <a:r>
              <a:rPr lang="en-US" sz="2400" dirty="0"/>
              <a:t>Lt. Gen. H. Lal, “Total Quality Management”, Eastern Limited</a:t>
            </a:r>
          </a:p>
          <a:p>
            <a:pPr lvl="0"/>
            <a:r>
              <a:rPr lang="en-US" sz="2400" dirty="0"/>
              <a:t> Greg Bounds, “Beyond Total Quality Management”, McGraw Hill </a:t>
            </a:r>
          </a:p>
          <a:p>
            <a:pPr lvl="0"/>
            <a:r>
              <a:rPr lang="en-US" sz="2400" dirty="0"/>
              <a:t>Menon, H.G, “TQM in New Product manufacturing”, McGraw Hill</a:t>
            </a:r>
          </a:p>
          <a:p>
            <a:pPr marL="0" lvl="0" indent="0">
              <a:buNone/>
            </a:pPr>
            <a:r>
              <a:rPr lang="en-US" sz="2400" dirty="0"/>
              <a:t>Reference Book </a:t>
            </a:r>
            <a:endParaRPr lang="en-US" sz="2400" i="1" dirty="0"/>
          </a:p>
          <a:p>
            <a:r>
              <a:rPr lang="en-US" sz="2400" i="1" dirty="0"/>
              <a:t>Total Quality Management” by </a:t>
            </a:r>
            <a:r>
              <a:rPr lang="en-US" sz="2400" i="1" dirty="0" err="1"/>
              <a:t>Besterfield</a:t>
            </a:r>
            <a:endParaRPr lang="en-US" sz="2400" i="1" dirty="0"/>
          </a:p>
          <a:p>
            <a:r>
              <a:rPr lang="en-US" sz="2400" i="1" dirty="0"/>
              <a:t>“Total Quality Management” by </a:t>
            </a:r>
            <a:r>
              <a:rPr lang="en-US" sz="2400" i="1" dirty="0" err="1"/>
              <a:t>Mukherjee</a:t>
            </a:r>
            <a:endParaRPr lang="en-US" sz="2400" i="1" dirty="0"/>
          </a:p>
          <a:p>
            <a:r>
              <a:rPr lang="en-US" sz="2400" i="1" dirty="0"/>
              <a:t>Total Quality Management” by </a:t>
            </a:r>
            <a:r>
              <a:rPr lang="en-US" sz="2400" i="1" dirty="0" err="1"/>
              <a:t>Vijayan</a:t>
            </a:r>
            <a:endParaRPr lang="en-US" sz="2400" i="1" dirty="0"/>
          </a:p>
          <a:p>
            <a:r>
              <a:rPr lang="en-US" sz="2400" i="1" dirty="0"/>
              <a:t>“Total Quality Management- Text and Cases” by </a:t>
            </a:r>
            <a:r>
              <a:rPr lang="en-US" sz="2400" i="1" dirty="0" err="1"/>
              <a:t>Janakiraman</a:t>
            </a:r>
            <a:r>
              <a:rPr lang="en-US" sz="2400" i="1" dirty="0"/>
              <a:t> B and </a:t>
            </a:r>
            <a:r>
              <a:rPr lang="en-US" sz="2400" i="1" dirty="0" err="1"/>
              <a:t>Gopal</a:t>
            </a:r>
            <a:r>
              <a:rPr lang="en-US" sz="2400" i="1" dirty="0"/>
              <a:t> R K</a:t>
            </a:r>
          </a:p>
          <a:p>
            <a:pPr lvl="0"/>
            <a:r>
              <a:rPr lang="en-US" sz="2400" dirty="0">
                <a:hlinkClick r:id="rId2"/>
              </a:rPr>
              <a:t>https://www.researchgate.net/publication/318654507_Total_Quality_Management_Notes</a:t>
            </a:r>
            <a:endParaRPr lang="en-US" sz="2400" dirty="0"/>
          </a:p>
          <a:p>
            <a:endParaRPr lang="en-US" sz="2200" i="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A5B9A43-2733-4817-B8AC-54111828C58A}" type="datetime1">
              <a:rPr lang="en-US" smtClean="0"/>
              <a:t>5/1/2026</a:t>
            </a:fld>
            <a:endParaRPr lang="en-US"/>
          </a:p>
        </p:txBody>
      </p:sp>
      <p:sp>
        <p:nvSpPr>
          <p:cNvPr id="9" name="Footer Placeholder 12"/>
          <p:cNvSpPr>
            <a:spLocks noGrp="1"/>
          </p:cNvSpPr>
          <p:nvPr>
            <p:ph type="ftr" sz="quarter" idx="11"/>
          </p:nvPr>
        </p:nvSpPr>
        <p:spPr>
          <a:xfrm>
            <a:off x="1752600" y="6248415"/>
            <a:ext cx="5562600" cy="365125"/>
          </a:xfrm>
        </p:spPr>
        <p:txBody>
          <a:bodyPr/>
          <a:lstStyle/>
          <a:p>
            <a:r>
              <a:rPr lang="sv-SE" sz="2000"/>
              <a:t>Mr. Minhaj Nezami     AOE0861    TQM      Unit 3</a:t>
            </a:r>
            <a:endParaRPr lang="en-US" sz="2000" dirty="0"/>
          </a:p>
        </p:txBody>
      </p:sp>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REFERENCES</a:t>
            </a:r>
            <a:br>
              <a:rPr lang="en-US" sz="2800" b="1" dirty="0">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5515141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E2F32B2-FD67-41D6-B1B8-9242617D78C5}" type="datetime1">
              <a:rPr lang="en-US" smtClean="0"/>
              <a:t>5/1/2026</a:t>
            </a:fld>
            <a:endParaRPr lang="en-US"/>
          </a:p>
        </p:txBody>
      </p:sp>
      <p:sp>
        <p:nvSpPr>
          <p:cNvPr id="9" name="Content Placeholder 8"/>
          <p:cNvSpPr>
            <a:spLocks noGrp="1"/>
          </p:cNvSpPr>
          <p:nvPr>
            <p:ph idx="1"/>
          </p:nvPr>
        </p:nvSpPr>
        <p:spPr>
          <a:xfrm>
            <a:off x="713664" y="2133600"/>
            <a:ext cx="7762125" cy="2215991"/>
          </a:xfrm>
          <a:prstGeom prst="rect">
            <a:avLst/>
          </a:prstGeom>
          <a:noFill/>
        </p:spPr>
        <p:txBody>
          <a:bodyPr wrap="none" lIns="91440" tIns="45720" rIns="91440" bIns="45720">
            <a:spAutoFit/>
          </a:bodyPr>
          <a:lstStyle/>
          <a:p>
            <a:pPr algn="ctr">
              <a:buNone/>
            </a:pPr>
            <a:r>
              <a:rPr lang="en-US" sz="13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12"/>
          <p:cNvSpPr>
            <a:spLocks noGrp="1"/>
          </p:cNvSpPr>
          <p:nvPr>
            <p:ph type="ftr" sz="quarter" idx="11"/>
          </p:nvPr>
        </p:nvSpPr>
        <p:spPr>
          <a:xfrm>
            <a:off x="1905000" y="6248415"/>
            <a:ext cx="5410200" cy="365125"/>
          </a:xfrm>
        </p:spPr>
        <p:txBody>
          <a:bodyPr/>
          <a:lstStyle/>
          <a:p>
            <a:r>
              <a:rPr lang="en-US" sz="2000"/>
              <a:t>Mr. Minhaj Nezami     AOE0861    TQM      Unit 3</a:t>
            </a:r>
            <a:endParaRPr lang="en-US" sz="2000" dirty="0"/>
          </a:p>
        </p:txBody>
      </p:sp>
      <p:pic>
        <p:nvPicPr>
          <p:cNvPr id="8" name="Picture 7"/>
          <p:cNvPicPr>
            <a:picLocks noChangeAspect="1"/>
          </p:cNvPicPr>
          <p:nvPr/>
        </p:nvPicPr>
        <p:blipFill>
          <a:blip r:embed="rId3"/>
          <a:stretch>
            <a:fillRect/>
          </a:stretch>
        </p:blipFill>
        <p:spPr>
          <a:xfrm>
            <a:off x="36500" y="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0"/>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endParaRPr lang="en-US" sz="2800" dirty="0"/>
          </a:p>
        </p:txBody>
      </p:sp>
      <p:sp>
        <p:nvSpPr>
          <p:cNvPr id="2" name="TextBox 1"/>
          <p:cNvSpPr txBox="1"/>
          <p:nvPr/>
        </p:nvSpPr>
        <p:spPr>
          <a:xfrm>
            <a:off x="4800600" y="1752600"/>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4102396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0EB66973E9294FAC88E302AED0D4BB" ma:contentTypeVersion="5" ma:contentTypeDescription="Create a new document." ma:contentTypeScope="" ma:versionID="a86ab2d4ba2caba11e26356378a7097c">
  <xsd:schema xmlns:xsd="http://www.w3.org/2001/XMLSchema" xmlns:xs="http://www.w3.org/2001/XMLSchema" xmlns:p="http://schemas.microsoft.com/office/2006/metadata/properties" xmlns:ns2="e932ca28-9566-489e-9fb7-fd3ef7d89fed" targetNamespace="http://schemas.microsoft.com/office/2006/metadata/properties" ma:root="true" ma:fieldsID="eb63a5825f1f3d8e91dff0465dfe6477" ns2:_="">
    <xsd:import namespace="e932ca28-9566-489e-9fb7-fd3ef7d89fe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2ca28-9566-489e-9fb7-fd3ef7d8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C0F35D-7809-4E95-B837-4CA4ED180B6E}">
  <ds:schemaRefs>
    <ds:schemaRef ds:uri="http://schemas.microsoft.com/sharepoint/v3/contenttype/forms"/>
  </ds:schemaRefs>
</ds:datastoreItem>
</file>

<file path=customXml/itemProps2.xml><?xml version="1.0" encoding="utf-8"?>
<ds:datastoreItem xmlns:ds="http://schemas.openxmlformats.org/officeDocument/2006/customXml" ds:itemID="{567E00AE-DBF7-41DC-AF99-2AC77E5AE299}">
  <ds:schemaRef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schemas.microsoft.com/office/infopath/2007/PartnerControls"/>
    <ds:schemaRef ds:uri="http://purl.org/dc/elements/1.1/"/>
    <ds:schemaRef ds:uri="http://purl.org/dc/terms/"/>
    <ds:schemaRef ds:uri="e932ca28-9566-489e-9fb7-fd3ef7d89fed"/>
    <ds:schemaRef ds:uri="http://purl.org/dc/dcmitype/"/>
  </ds:schemaRefs>
</ds:datastoreItem>
</file>

<file path=customXml/itemProps3.xml><?xml version="1.0" encoding="utf-8"?>
<ds:datastoreItem xmlns:ds="http://schemas.openxmlformats.org/officeDocument/2006/customXml" ds:itemID="{61689278-191D-422A-95BC-1A448997F5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32ca28-9566-489e-9fb7-fd3ef7d89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1592</TotalTime>
  <Words>8548</Words>
  <Application>Microsoft Office PowerPoint</Application>
  <PresentationFormat>On-screen Show (4:3)</PresentationFormat>
  <Paragraphs>1084</Paragraphs>
  <Slides>123</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123</vt:i4>
      </vt:variant>
    </vt:vector>
  </HeadingPairs>
  <TitlesOfParts>
    <vt:vector size="132" baseType="lpstr">
      <vt:lpstr>Arial</vt:lpstr>
      <vt:lpstr>Calibri</vt:lpstr>
      <vt:lpstr>Calibri (Body)</vt:lpstr>
      <vt:lpstr>Century</vt:lpstr>
      <vt:lpstr>Franklin Gothic Medium</vt:lpstr>
      <vt:lpstr>Georgia</vt:lpstr>
      <vt:lpstr>Times New RCalibri (Body)oman</vt:lpstr>
      <vt:lpstr>Times New Roman</vt:lpstr>
      <vt:lpstr>Office Theme</vt:lpstr>
      <vt:lpstr>PowerPoint Presentation</vt:lpstr>
      <vt:lpstr>PowerPoint Presentation</vt:lpstr>
      <vt:lpstr> CONTENTS </vt:lpstr>
      <vt:lpstr> CONTENTS </vt:lpstr>
      <vt:lpstr> CONTENTS </vt:lpstr>
      <vt:lpstr> COURSE OBJECTIVES </vt:lpstr>
      <vt:lpstr>PowerPoint Presentation</vt:lpstr>
      <vt:lpstr> COURSE OUTCOMES </vt:lpstr>
      <vt:lpstr> PROGRAM OUTCOME </vt:lpstr>
      <vt:lpstr>PowerPoint Presentation</vt:lpstr>
      <vt:lpstr> PROGRAM SPECIFIC OUTCOME </vt:lpstr>
      <vt:lpstr>PowerPoint Presentation</vt:lpstr>
      <vt:lpstr> Program Educational Objectives </vt:lpstr>
      <vt:lpstr> RECAP AND PRECAP </vt:lpstr>
      <vt:lpstr> SYLLABUS OF UNIT 3 </vt:lpstr>
      <vt:lpstr> Recap of  Team </vt:lpstr>
      <vt:lpstr> Objective  of  Histogram </vt:lpstr>
      <vt:lpstr> Introduction (CO3) </vt:lpstr>
      <vt:lpstr> Tools For Quality Control (CO3) </vt:lpstr>
      <vt:lpstr> HISTOGRAMS (CO3) </vt:lpstr>
      <vt:lpstr> HISTOGRAMS (CO3) </vt:lpstr>
      <vt:lpstr> HISTOGRAMS (CO3) </vt:lpstr>
      <vt:lpstr> Recap of Histogram </vt:lpstr>
      <vt:lpstr> Objective  of  check sheet </vt:lpstr>
      <vt:lpstr> Check sheet (CO3) </vt:lpstr>
      <vt:lpstr> Check sheet (CO3) </vt:lpstr>
      <vt:lpstr> Recap of  check sheet </vt:lpstr>
      <vt:lpstr> Objective  of  Ishikawa </vt:lpstr>
      <vt:lpstr>Ishikawa diagram (CO3)</vt:lpstr>
      <vt:lpstr>Ishikawa diagram (CO3)</vt:lpstr>
      <vt:lpstr>Ishikawa diagram (CO3)</vt:lpstr>
      <vt:lpstr> Recap of Ishikawa </vt:lpstr>
      <vt:lpstr> Objective  of  Pareto chart </vt:lpstr>
      <vt:lpstr>                               Pareto chart (CO3) </vt:lpstr>
      <vt:lpstr> Pareto chart (CO3) </vt:lpstr>
      <vt:lpstr> Pareto chart (CO3) </vt:lpstr>
      <vt:lpstr> Recap of Pareto chart </vt:lpstr>
      <vt:lpstr> Objective  of  scatter diagram </vt:lpstr>
      <vt:lpstr> Scatter diagram (CO3) </vt:lpstr>
      <vt:lpstr> Scatter diagram (CO3) </vt:lpstr>
      <vt:lpstr>Scatter diagram (CO3) </vt:lpstr>
      <vt:lpstr> Recap of Scatter diagram  </vt:lpstr>
      <vt:lpstr> Objective  of  control chart </vt:lpstr>
      <vt:lpstr> Control chart (CO3) </vt:lpstr>
      <vt:lpstr> Control chart (CO3) </vt:lpstr>
      <vt:lpstr> Control chart (CO3) </vt:lpstr>
      <vt:lpstr> Control chart (CO3) </vt:lpstr>
      <vt:lpstr> Control chart (CO3) </vt:lpstr>
      <vt:lpstr> Control chart (CO3) </vt:lpstr>
      <vt:lpstr> Objective  of  Flow chart </vt:lpstr>
      <vt:lpstr> Flow chart (CO3) </vt:lpstr>
      <vt:lpstr> Flow chart (CO3) </vt:lpstr>
      <vt:lpstr> Flow chart (CO3) </vt:lpstr>
      <vt:lpstr>New Management Tools</vt:lpstr>
      <vt:lpstr>New Management Tools</vt:lpstr>
      <vt:lpstr>New Management Tools</vt:lpstr>
      <vt:lpstr>New Management Tools</vt:lpstr>
      <vt:lpstr>New Management Tools</vt:lpstr>
      <vt:lpstr>New Management Tools</vt:lpstr>
      <vt:lpstr>  SIX SIGMA  </vt:lpstr>
      <vt:lpstr> SIX SIGMA </vt:lpstr>
      <vt:lpstr> SIX SIGMA </vt:lpstr>
      <vt:lpstr> SIX SIGMA </vt:lpstr>
      <vt:lpstr> SIX SIGMA </vt:lpstr>
      <vt:lpstr> SIX SIGMA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BENCHMARKING  </vt:lpstr>
      <vt:lpstr> FACULTY VIDEO LINKS, YOUTUBE &amp; NPTEL VIDEO LINKS AND ONLINE COURSES DETAILS   </vt:lpstr>
      <vt:lpstr> DAILY QUIZ </vt:lpstr>
      <vt:lpstr> WEEKLY ASSIGNMENT </vt:lpstr>
      <vt:lpstr> MCQs </vt:lpstr>
      <vt:lpstr> MCQs </vt:lpstr>
      <vt:lpstr> MCQs </vt:lpstr>
      <vt:lpstr> MCQs </vt:lpstr>
      <vt:lpstr> MCQs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EXPECTED QUESTIONS FOR UNIVERSITY EXAM  </vt:lpstr>
      <vt:lpstr>SUMMARY</vt:lpstr>
      <vt:lpstr>SUMMARY</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ndc</dc:creator>
  <cp:lastModifiedBy>Mr. Minhaj Nezami</cp:lastModifiedBy>
  <cp:revision>232</cp:revision>
  <dcterms:created xsi:type="dcterms:W3CDTF">2020-05-17T16:59:18Z</dcterms:created>
  <dcterms:modified xsi:type="dcterms:W3CDTF">2026-05-01T06:33:20Z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0x010100810EB66973E9294FAC88E302AED0D4BB</vt:lpwstr>
  </property>
</Properties>
</file>