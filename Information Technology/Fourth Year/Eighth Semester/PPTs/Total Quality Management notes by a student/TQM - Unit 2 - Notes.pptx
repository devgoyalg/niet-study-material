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332" r:id="rId5"/>
    <p:sldId id="340" r:id="rId6"/>
    <p:sldId id="310" r:id="rId7"/>
    <p:sldId id="321" r:id="rId8"/>
    <p:sldId id="347" r:id="rId9"/>
    <p:sldId id="317" r:id="rId10"/>
    <p:sldId id="349" r:id="rId11"/>
    <p:sldId id="352" r:id="rId12"/>
    <p:sldId id="365" r:id="rId13"/>
    <p:sldId id="376" r:id="rId14"/>
    <p:sldId id="375" r:id="rId15"/>
    <p:sldId id="383" r:id="rId16"/>
    <p:sldId id="389" r:id="rId17"/>
    <p:sldId id="39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3B9D"/>
    <a:srgbClr val="03010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82443B-C9EC-4E90-9B5E-7A9485DD1C05}" v="3" dt="2024-01-08T02:51:07.172"/>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25" autoAdjust="0"/>
    <p:restoredTop sz="94660"/>
  </p:normalViewPr>
  <p:slideViewPr>
    <p:cSldViewPr>
      <p:cViewPr varScale="1">
        <p:scale>
          <a:sx n="59" d="100"/>
          <a:sy n="59" d="100"/>
        </p:scale>
        <p:origin x="18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B35570-DFD5-4BDA-8470-AEBFA7DC3F8D}" type="datetimeFigureOut">
              <a:rPr lang="en-US" smtClean="0"/>
              <a:pPr/>
              <a:t>5/10/2026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230C76-717D-4A6D-87B8-9099E11C51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8230C76-717D-4A6D-87B8-9099E11C513A}" type="slidenum">
              <a:rPr lang="en-US" smtClean="0"/>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8230C76-717D-4A6D-87B8-9099E11C513A}" type="slidenum">
              <a:rPr lang="en-US" smtClean="0"/>
              <a:pPr/>
              <a:t>11</a:t>
            </a:fld>
            <a:endParaRPr lang="en-US"/>
          </a:p>
        </p:txBody>
      </p:sp>
    </p:spTree>
    <p:extLst>
      <p:ext uri="{BB962C8B-B14F-4D97-AF65-F5344CB8AC3E}">
        <p14:creationId xmlns:p14="http://schemas.microsoft.com/office/powerpoint/2010/main" val="165743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0C9392B-8678-4C29-B884-E6B11277D058}"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0D17A9-DBAC-489F-9850-D8D164EB6093}"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087299-BF41-4F51-9C33-A483F840CC5F}"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2887C2-9EA0-4FFA-8AD9-372ED4234CF8}" type="datetime1">
              <a:rPr lang="en-US" smtClean="0"/>
              <a:t>5/10/2026</a:t>
            </a:fld>
            <a:endParaRPr lang="en-US"/>
          </a:p>
        </p:txBody>
      </p:sp>
      <p:sp>
        <p:nvSpPr>
          <p:cNvPr id="6" name="Footer Placeholder 5"/>
          <p:cNvSpPr>
            <a:spLocks noGrp="1"/>
          </p:cNvSpPr>
          <p:nvPr>
            <p:ph type="ftr" sz="quarter" idx="11"/>
          </p:nvPr>
        </p:nvSpPr>
        <p:spPr/>
        <p:txBody>
          <a:bodyPr/>
          <a:lstStyle/>
          <a:p>
            <a:r>
              <a:rPr lang="sv-SE"/>
              <a:t>Mr. Minhaj Nezami   AOE0861    TQM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ED04B6-8FBB-412B-8FEB-43E9430673FA}" type="datetime1">
              <a:rPr lang="en-US" smtClean="0"/>
              <a:t>5/10/2026</a:t>
            </a:fld>
            <a:endParaRPr lang="en-US"/>
          </a:p>
        </p:txBody>
      </p:sp>
      <p:sp>
        <p:nvSpPr>
          <p:cNvPr id="8" name="Footer Placeholder 7"/>
          <p:cNvSpPr>
            <a:spLocks noGrp="1"/>
          </p:cNvSpPr>
          <p:nvPr>
            <p:ph type="ftr" sz="quarter" idx="11"/>
          </p:nvPr>
        </p:nvSpPr>
        <p:spPr/>
        <p:txBody>
          <a:bodyPr/>
          <a:lstStyle/>
          <a:p>
            <a:r>
              <a:rPr lang="sv-SE"/>
              <a:t>Mr. Minhaj Nezami   AOE0861    TQM    Unit-2                         </a:t>
            </a:r>
            <a:endParaRPr lang="en-US" dirty="0"/>
          </a:p>
        </p:txBody>
      </p:sp>
      <p:sp>
        <p:nvSpPr>
          <p:cNvPr id="9" name="Slide Number Placeholder 8"/>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2AD577-4F88-4B04-B2A6-99F36C75669D}" type="datetime1">
              <a:rPr lang="en-US" smtClean="0"/>
              <a:t>5/10/2026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413B02-75C3-44D4-8E5A-216DEEA5E66F}" type="datetime1">
              <a:rPr lang="en-US" smtClean="0"/>
              <a:t>5/10/2026</a:t>
            </a:fld>
            <a:endParaRPr lang="en-US"/>
          </a:p>
        </p:txBody>
      </p:sp>
      <p:sp>
        <p:nvSpPr>
          <p:cNvPr id="3" name="Footer Placeholder 2"/>
          <p:cNvSpPr>
            <a:spLocks noGrp="1"/>
          </p:cNvSpPr>
          <p:nvPr>
            <p:ph type="ftr" sz="quarter" idx="11"/>
          </p:nvPr>
        </p:nvSpPr>
        <p:spPr/>
        <p:txBody>
          <a:bodyPr/>
          <a:lstStyle/>
          <a:p>
            <a:r>
              <a:rPr lang="sv-SE"/>
              <a:t>Mr. Minhaj Nezami   AOE0861    TQM    Unit-2                         </a:t>
            </a:r>
            <a:endParaRPr lang="en-US" dirty="0"/>
          </a:p>
        </p:txBody>
      </p:sp>
      <p:sp>
        <p:nvSpPr>
          <p:cNvPr id="4" name="Slide Number Placeholder 3"/>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95D769-5427-43B5-A6D3-2D390DE49D66}" type="datetime1">
              <a:rPr lang="en-US" smtClean="0"/>
              <a:t>5/10/2026</a:t>
            </a:fld>
            <a:endParaRPr lang="en-US"/>
          </a:p>
        </p:txBody>
      </p:sp>
      <p:sp>
        <p:nvSpPr>
          <p:cNvPr id="6" name="Footer Placeholder 5"/>
          <p:cNvSpPr>
            <a:spLocks noGrp="1"/>
          </p:cNvSpPr>
          <p:nvPr>
            <p:ph type="ftr" sz="quarter" idx="11"/>
          </p:nvPr>
        </p:nvSpPr>
        <p:spPr/>
        <p:txBody>
          <a:bodyPr/>
          <a:lstStyle/>
          <a:p>
            <a:r>
              <a:rPr lang="sv-SE"/>
              <a:t>Mr. Minhaj Nezami   AOE0861    TQM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E13732-51F4-4958-A9F2-7250C4A01C43}" type="datetime1">
              <a:rPr lang="en-US" smtClean="0"/>
              <a:t>5/10/2026</a:t>
            </a:fld>
            <a:endParaRPr lang="en-US"/>
          </a:p>
        </p:txBody>
      </p:sp>
      <p:sp>
        <p:nvSpPr>
          <p:cNvPr id="6" name="Footer Placeholder 5"/>
          <p:cNvSpPr>
            <a:spLocks noGrp="1"/>
          </p:cNvSpPr>
          <p:nvPr>
            <p:ph type="ftr" sz="quarter" idx="11"/>
          </p:nvPr>
        </p:nvSpPr>
        <p:spPr/>
        <p:txBody>
          <a:bodyPr/>
          <a:lstStyle/>
          <a:p>
            <a:r>
              <a:rPr lang="sv-SE"/>
              <a:t>Mr. Minhaj Nezami   AOE0861    TQM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02D46F-06A2-45A1-8710-7D0513D197BB}"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94A9FB-0057-4361-8F7A-7977ADEFCED5}" type="datetime1">
              <a:rPr lang="en-US" smtClean="0"/>
              <a:t>5/10/2026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C01622-499E-40B6-A11E-F3845CE30521}" type="datetime1">
              <a:rPr lang="en-US" smtClean="0"/>
              <a:t>5/10/2026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Mr. Minhaj Nezami   AOE0861    TQM    Unit-2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942D1A-943E-4A86-8308-2F95E8B419B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0E41D12A-678E-4105-B1BF-33248ADA4824}" type="datetime1">
              <a:rPr lang="en-US" smtClean="0"/>
              <a:t>5/10/2026</a:t>
            </a:fld>
            <a:endParaRPr lang="en-US"/>
          </a:p>
        </p:txBody>
      </p:sp>
      <p:pic>
        <p:nvPicPr>
          <p:cNvPr id="3" name="Picture 2"/>
          <p:cNvPicPr>
            <a:picLocks noChangeAspect="1"/>
          </p:cNvPicPr>
          <p:nvPr/>
        </p:nvPicPr>
        <p:blipFill>
          <a:blip r:embed="rId2"/>
          <a:stretch>
            <a:fillRect/>
          </a:stretch>
        </p:blipFill>
        <p:spPr>
          <a:xfrm>
            <a:off x="456843" y="3124200"/>
            <a:ext cx="8230313" cy="3728018"/>
          </a:xfrm>
          <a:prstGeom prst="rect">
            <a:avLst/>
          </a:prstGeom>
        </p:spPr>
      </p:pic>
      <p:pic>
        <p:nvPicPr>
          <p:cNvPr id="10" name="Picture 9"/>
          <p:cNvPicPr>
            <a:picLocks noChangeAspect="1"/>
          </p:cNvPicPr>
          <p:nvPr/>
        </p:nvPicPr>
        <p:blipFill>
          <a:blip r:embed="rId3"/>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876300" y="2144371"/>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Models of TQM (CO2)</a:t>
            </a:r>
            <a:endParaRPr lang="en-US" sz="2800" dirty="0"/>
          </a:p>
        </p:txBody>
      </p:sp>
      <p:sp>
        <p:nvSpPr>
          <p:cNvPr id="4" name="Title 1">
            <a:extLst>
              <a:ext uri="{FF2B5EF4-FFF2-40B4-BE49-F238E27FC236}">
                <a16:creationId xmlns:a16="http://schemas.microsoft.com/office/drawing/2014/main" id="{6F16DADD-4004-84A8-0425-5368391A18DE}"/>
              </a:ext>
            </a:extLst>
          </p:cNvPr>
          <p:cNvSpPr txBox="1">
            <a:spLocks/>
          </p:cNvSpPr>
          <p:nvPr/>
        </p:nvSpPr>
        <p:spPr>
          <a:xfrm>
            <a:off x="1752600" y="169182"/>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SYLLABUS OF UNIT 2</a:t>
            </a:r>
            <a:endParaRPr lang="en-US" sz="2800" dirty="0"/>
          </a:p>
        </p:txBody>
      </p:sp>
      <p:sp>
        <p:nvSpPr>
          <p:cNvPr id="7" name="TextBox 6">
            <a:extLst>
              <a:ext uri="{FF2B5EF4-FFF2-40B4-BE49-F238E27FC236}">
                <a16:creationId xmlns:a16="http://schemas.microsoft.com/office/drawing/2014/main" id="{00183B67-0328-3311-A80F-FED1B304723C}"/>
              </a:ext>
            </a:extLst>
          </p:cNvPr>
          <p:cNvSpPr txBox="1"/>
          <p:nvPr/>
        </p:nvSpPr>
        <p:spPr>
          <a:xfrm>
            <a:off x="1213758" y="965767"/>
            <a:ext cx="7625442" cy="954107"/>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TQM Thinkers and Thoughts:</a:t>
            </a:r>
          </a:p>
          <a:p>
            <a:pPr algn="just">
              <a:buNone/>
            </a:pPr>
            <a:r>
              <a:rPr lang="en-US" sz="1800" dirty="0">
                <a:latin typeface="Times New Roman" panose="02020603050405020304" pitchFamily="18" charset="0"/>
                <a:cs typeface="Times New Roman" panose="02020603050405020304" pitchFamily="18" charset="0"/>
              </a:rPr>
              <a:t>     Quality Councils – Employee involvement –Team and Teamwork- Recognition and Reward- PDCA cycle, 5S-Kaizen- TQM Gurus</a:t>
            </a:r>
          </a:p>
        </p:txBody>
      </p:sp>
    </p:spTree>
    <p:extLst>
      <p:ext uri="{BB962C8B-B14F-4D97-AF65-F5344CB8AC3E}">
        <p14:creationId xmlns:p14="http://schemas.microsoft.com/office/powerpoint/2010/main" val="3919311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
        <p:nvSpPr>
          <p:cNvPr id="10" name="Rectangle 9"/>
          <p:cNvSpPr/>
          <p:nvPr/>
        </p:nvSpPr>
        <p:spPr>
          <a:xfrm>
            <a:off x="228600" y="2371813"/>
            <a:ext cx="7848600" cy="102453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Develop the strategic long-term plan with goals and the annual quality improvement program with objectives</a:t>
            </a:r>
          </a:p>
        </p:txBody>
      </p:sp>
      <p:sp>
        <p:nvSpPr>
          <p:cNvPr id="2" name="Date Placeholder 1"/>
          <p:cNvSpPr>
            <a:spLocks noGrp="1"/>
          </p:cNvSpPr>
          <p:nvPr>
            <p:ph type="dt" sz="half" idx="10"/>
          </p:nvPr>
        </p:nvSpPr>
        <p:spPr/>
        <p:txBody>
          <a:bodyPr/>
          <a:lstStyle/>
          <a:p>
            <a:fld id="{7274A7FE-E1AC-46F0-A1F2-E8E02C0536B1}" type="datetime1">
              <a:rPr lang="en-US" smtClean="0">
                <a:latin typeface="Times New Roman" panose="02020603050405020304" pitchFamily="18" charset="0"/>
                <a:cs typeface="Times New Roman" panose="02020603050405020304" pitchFamily="18" charset="0"/>
              </a:rPr>
              <a:t>5/10/2026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2618"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TOPIC 1: QUALITY COUNCILS</a:t>
            </a:r>
          </a:p>
        </p:txBody>
      </p:sp>
      <p:sp>
        <p:nvSpPr>
          <p:cNvPr id="4" name="TextBox 3">
            <a:extLst>
              <a:ext uri="{FF2B5EF4-FFF2-40B4-BE49-F238E27FC236}">
                <a16:creationId xmlns:a16="http://schemas.microsoft.com/office/drawing/2014/main" id="{75FE79FD-7C45-82D6-55F8-EF613F8A7FA5}"/>
              </a:ext>
            </a:extLst>
          </p:cNvPr>
          <p:cNvSpPr txBox="1"/>
          <p:nvPr/>
        </p:nvSpPr>
        <p:spPr>
          <a:xfrm>
            <a:off x="76200" y="1112211"/>
            <a:ext cx="7696200" cy="5078313"/>
          </a:xfrm>
          <a:prstGeom prst="rect">
            <a:avLst/>
          </a:prstGeom>
          <a:noFill/>
        </p:spPr>
        <p:txBody>
          <a:bodyPr wrap="square">
            <a:spAutoFit/>
          </a:bodyPr>
          <a:lstStyle/>
          <a:p>
            <a:pPr>
              <a:buNone/>
            </a:pPr>
            <a:r>
              <a:rPr lang="en-US" b="1" dirty="0"/>
              <a:t>Quality Councils</a:t>
            </a:r>
          </a:p>
          <a:p>
            <a:pPr>
              <a:buNone/>
            </a:pPr>
            <a:r>
              <a:rPr lang="en-US" b="1" dirty="0"/>
              <a:t>Definition</a:t>
            </a:r>
          </a:p>
          <a:p>
            <a:pPr>
              <a:buNone/>
            </a:pPr>
            <a:r>
              <a:rPr lang="en-US" dirty="0">
                <a:solidFill>
                  <a:srgbClr val="FF0000"/>
                </a:solidFill>
              </a:rPr>
              <a:t>A Quality Council is a group of managers and employees responsible for planning and monitoring quality improvement activities. OR..</a:t>
            </a:r>
          </a:p>
          <a:p>
            <a:pPr>
              <a:buNone/>
            </a:pPr>
            <a:endParaRPr lang="en-US" dirty="0">
              <a:solidFill>
                <a:srgbClr val="FF0000"/>
              </a:solidFill>
            </a:endParaRPr>
          </a:p>
          <a:p>
            <a:pPr>
              <a:buNone/>
            </a:pPr>
            <a:endParaRPr lang="en-US" dirty="0">
              <a:solidFill>
                <a:srgbClr val="FF0000"/>
              </a:solidFill>
            </a:endParaRPr>
          </a:p>
          <a:p>
            <a:pPr>
              <a:buNone/>
            </a:pPr>
            <a:endParaRPr lang="en-US" dirty="0">
              <a:solidFill>
                <a:srgbClr val="FF0000"/>
              </a:solidFill>
            </a:endParaRPr>
          </a:p>
          <a:p>
            <a:pPr>
              <a:buNone/>
            </a:pPr>
            <a:endParaRPr lang="en-US" dirty="0">
              <a:solidFill>
                <a:srgbClr val="FF0000"/>
              </a:solidFill>
            </a:endParaRPr>
          </a:p>
          <a:p>
            <a:pPr>
              <a:buNone/>
            </a:pPr>
            <a:endParaRPr lang="en-US" dirty="0">
              <a:solidFill>
                <a:srgbClr val="FF0000"/>
              </a:solidFill>
            </a:endParaRPr>
          </a:p>
          <a:p>
            <a:pPr>
              <a:buNone/>
            </a:pPr>
            <a:r>
              <a:rPr lang="en-US" b="1" dirty="0"/>
              <a:t>Functions</a:t>
            </a:r>
          </a:p>
          <a:p>
            <a:pPr>
              <a:buFont typeface="+mj-lt"/>
              <a:buAutoNum type="arabicPeriod"/>
            </a:pPr>
            <a:r>
              <a:rPr lang="en-US" dirty="0"/>
              <a:t>Develop quality policies </a:t>
            </a:r>
          </a:p>
          <a:p>
            <a:pPr>
              <a:buFont typeface="+mj-lt"/>
              <a:buAutoNum type="arabicPeriod"/>
            </a:pPr>
            <a:r>
              <a:rPr lang="en-US" dirty="0"/>
              <a:t>Set quality goals </a:t>
            </a:r>
          </a:p>
          <a:p>
            <a:pPr>
              <a:buFont typeface="+mj-lt"/>
              <a:buAutoNum type="arabicPeriod"/>
            </a:pPr>
            <a:r>
              <a:rPr lang="en-US" dirty="0"/>
              <a:t>Monitor TQM implementation </a:t>
            </a:r>
          </a:p>
          <a:p>
            <a:pPr>
              <a:buFont typeface="+mj-lt"/>
              <a:buAutoNum type="arabicPeriod"/>
            </a:pPr>
            <a:r>
              <a:rPr lang="en-US" dirty="0"/>
              <a:t>Review quality performance </a:t>
            </a:r>
          </a:p>
          <a:p>
            <a:pPr>
              <a:buNone/>
            </a:pPr>
            <a:r>
              <a:rPr lang="en-US" b="1" dirty="0"/>
              <a:t>Benefits</a:t>
            </a:r>
          </a:p>
          <a:p>
            <a:pPr>
              <a:buFont typeface="Arial" panose="020B0604020202020204" pitchFamily="34" charset="0"/>
              <a:buChar char="•"/>
            </a:pPr>
            <a:r>
              <a:rPr lang="en-US" dirty="0"/>
              <a:t>Better coordination </a:t>
            </a:r>
          </a:p>
          <a:p>
            <a:pPr>
              <a:buFont typeface="Arial" panose="020B0604020202020204" pitchFamily="34" charset="0"/>
              <a:buChar char="•"/>
            </a:pPr>
            <a:r>
              <a:rPr lang="en-US" dirty="0"/>
              <a:t>Continuous improvement </a:t>
            </a:r>
          </a:p>
          <a:p>
            <a:pPr>
              <a:buFont typeface="Arial" panose="020B0604020202020204" pitchFamily="34" charset="0"/>
              <a:buChar char="•"/>
            </a:pPr>
            <a:r>
              <a:rPr lang="en-US" dirty="0"/>
              <a:t>Employee participation</a:t>
            </a:r>
          </a:p>
        </p:txBody>
      </p:sp>
      <p:sp>
        <p:nvSpPr>
          <p:cNvPr id="7" name="TextBox 6">
            <a:extLst>
              <a:ext uri="{FF2B5EF4-FFF2-40B4-BE49-F238E27FC236}">
                <a16:creationId xmlns:a16="http://schemas.microsoft.com/office/drawing/2014/main" id="{7CC5F6FF-9F88-0F40-4460-816FA5F36E16}"/>
              </a:ext>
            </a:extLst>
          </p:cNvPr>
          <p:cNvSpPr txBox="1"/>
          <p:nvPr/>
        </p:nvSpPr>
        <p:spPr>
          <a:xfrm>
            <a:off x="3276601" y="3562169"/>
            <a:ext cx="5562600" cy="3518912"/>
          </a:xfrm>
          <a:prstGeom prst="rect">
            <a:avLst/>
          </a:prstGeom>
          <a:noFill/>
        </p:spPr>
        <p:txBody>
          <a:bodyPr wrap="square">
            <a:spAutoFit/>
          </a:bodyPr>
          <a:lstStyle/>
          <a:p>
            <a:pPr marL="12065" indent="0">
              <a:spcBef>
                <a:spcPts val="100"/>
              </a:spcBef>
              <a:buNone/>
              <a:tabLst>
                <a:tab pos="355600" algn="l"/>
                <a:tab pos="356235" algn="l"/>
              </a:tabLst>
            </a:pPr>
            <a:r>
              <a:rPr lang="en-US" sz="1800" b="1" dirty="0">
                <a:latin typeface="Times New Roman" pitchFamily="18" charset="0"/>
                <a:cs typeface="Times New Roman" pitchFamily="18" charset="0"/>
              </a:rPr>
              <a:t>STRUCTURE OF QC: </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Quality council is composed of,</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1.Chief Executive Officer</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2.Senior managers of functional areas (marketing, finance, HR, </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   Quality)</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3.Coordinator/consultant (big organizations prefer coordinator</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   while small organizations prefer consultant)</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4.Union representative</a:t>
            </a:r>
          </a:p>
          <a:p>
            <a:pPr marL="355600" indent="-343535">
              <a:spcBef>
                <a:spcPts val="100"/>
              </a:spcBef>
              <a:buNone/>
              <a:tabLst>
                <a:tab pos="355600" algn="l"/>
                <a:tab pos="356235" algn="l"/>
              </a:tabLst>
            </a:pPr>
            <a:r>
              <a:rPr lang="en-US" sz="1800" dirty="0">
                <a:latin typeface="Times New Roman" pitchFamily="18" charset="0"/>
                <a:cs typeface="Times New Roman" pitchFamily="18" charset="0"/>
              </a:rPr>
              <a:t>5.Front-line representatives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19483"/>
            <a:ext cx="8915400" cy="2638117"/>
          </a:xfrm>
        </p:spPr>
        <p:txBody>
          <a:bodyPr>
            <a:noAutofit/>
          </a:bodyPr>
          <a:lstStyle/>
          <a:p>
            <a:pPr algn="just" fontAlgn="base">
              <a:buNone/>
            </a:pPr>
            <a:r>
              <a:rPr lang="en-US" sz="1600" b="1" dirty="0">
                <a:latin typeface="Times New Roman" pitchFamily="18" charset="0"/>
                <a:cs typeface="Times New Roman" pitchFamily="18" charset="0"/>
              </a:rPr>
              <a:t>COORDINATOR</a:t>
            </a:r>
          </a:p>
          <a:p>
            <a:pPr marL="0" indent="0" algn="just" fontAlgn="base">
              <a:buNone/>
            </a:pPr>
            <a:r>
              <a:rPr lang="en-US" sz="1600" dirty="0">
                <a:latin typeface="Times New Roman" pitchFamily="18" charset="0"/>
                <a:cs typeface="Times New Roman" pitchFamily="18" charset="0"/>
              </a:rPr>
              <a:t>Coordinator is necessary to perform some of the important duties. The person selected for this position should be social, active and resourceful. He will report to CEO.</a:t>
            </a:r>
          </a:p>
          <a:p>
            <a:pPr algn="just" fontAlgn="base">
              <a:buNone/>
            </a:pPr>
            <a:r>
              <a:rPr lang="en-US" sz="1600" b="1" dirty="0">
                <a:latin typeface="Times New Roman" pitchFamily="18" charset="0"/>
                <a:cs typeface="Times New Roman" pitchFamily="18" charset="0"/>
              </a:rPr>
              <a:t>Duties of coordinator </a:t>
            </a:r>
          </a:p>
          <a:p>
            <a:pPr algn="just" fontAlgn="base"/>
            <a:r>
              <a:rPr lang="en-US" sz="1600" dirty="0">
                <a:latin typeface="Times New Roman" pitchFamily="18" charset="0"/>
                <a:cs typeface="Times New Roman" pitchFamily="18" charset="0"/>
              </a:rPr>
              <a:t>Coordinator's duties are to, build two way trust convey team needs to the council and convey expectations of council to teams brief the council on progress of teams ensure that the teams are empowered and know their duties assist the team leaders share the lessons learned among the teams</a:t>
            </a:r>
          </a:p>
          <a:p>
            <a:pPr algn="just"/>
            <a:r>
              <a:rPr lang="en-US" sz="1600" dirty="0">
                <a:latin typeface="Times New Roman" pitchFamily="18" charset="0"/>
                <a:cs typeface="Times New Roman" pitchFamily="18" charset="0"/>
              </a:rPr>
              <a:t>In smaller organizations where managers may be responsible for more than one functional area, the number of members will be smaller. Also, a consultant would most likely be employed rather than a coordinator.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2" name="Date Placeholder 1"/>
          <p:cNvSpPr>
            <a:spLocks noGrp="1"/>
          </p:cNvSpPr>
          <p:nvPr>
            <p:ph type="dt" sz="half" idx="10"/>
          </p:nvPr>
        </p:nvSpPr>
        <p:spPr/>
        <p:txBody>
          <a:bodyPr/>
          <a:lstStyle/>
          <a:p>
            <a:fld id="{2C6C93C8-3F1F-4F00-B94C-A7EB7621788A}" type="datetime1">
              <a:rPr lang="en-US" smtClean="0"/>
              <a:t>5/10/2026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113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Councils (CO2)</a:t>
            </a:r>
          </a:p>
        </p:txBody>
      </p:sp>
      <p:sp>
        <p:nvSpPr>
          <p:cNvPr id="5" name="TextBox 4">
            <a:extLst>
              <a:ext uri="{FF2B5EF4-FFF2-40B4-BE49-F238E27FC236}">
                <a16:creationId xmlns:a16="http://schemas.microsoft.com/office/drawing/2014/main" id="{5FC6646E-563F-7C71-F71D-78FC6C69BF37}"/>
              </a:ext>
            </a:extLst>
          </p:cNvPr>
          <p:cNvSpPr txBox="1"/>
          <p:nvPr/>
        </p:nvSpPr>
        <p:spPr>
          <a:xfrm>
            <a:off x="228600" y="3657600"/>
            <a:ext cx="8915400" cy="2510303"/>
          </a:xfrm>
          <a:prstGeom prst="rect">
            <a:avLst/>
          </a:prstGeom>
          <a:noFill/>
        </p:spPr>
        <p:txBody>
          <a:bodyPr wrap="square">
            <a:spAutoFit/>
          </a:bodyPr>
          <a:lstStyle/>
          <a:p>
            <a:pPr algn="just">
              <a:buNone/>
            </a:pPr>
            <a:r>
              <a:rPr lang="en-US" sz="1600" b="1" dirty="0">
                <a:latin typeface="Times New Roman" pitchFamily="18" charset="0"/>
                <a:cs typeface="Times New Roman" pitchFamily="18" charset="0"/>
              </a:rPr>
              <a:t>In general, the duties of the quality council are to:</a:t>
            </a:r>
          </a:p>
          <a:p>
            <a:pPr marL="285750" indent="-285750" algn="just">
              <a:lnSpc>
                <a:spcPct val="150000"/>
              </a:lnSpc>
              <a:buFont typeface="Arial" panose="020B0604020202020204" pitchFamily="34" charset="0"/>
              <a:buChar char="•"/>
            </a:pPr>
            <a:r>
              <a:rPr lang="en-US" sz="1600" dirty="0">
                <a:latin typeface="Times New Roman" pitchFamily="18" charset="0"/>
                <a:cs typeface="Times New Roman" pitchFamily="18" charset="0"/>
              </a:rPr>
              <a:t>Develop, with input from all personnel, the core values, vision statement, mission statement, and quality policy statement.</a:t>
            </a:r>
          </a:p>
          <a:p>
            <a:pPr marL="285750" indent="-285750" algn="just">
              <a:lnSpc>
                <a:spcPct val="150000"/>
              </a:lnSpc>
              <a:buFont typeface="Arial" panose="020B0604020202020204" pitchFamily="34" charset="0"/>
              <a:buChar char="•"/>
            </a:pPr>
            <a:r>
              <a:rPr lang="en-US" sz="1600" dirty="0">
                <a:latin typeface="Times New Roman" pitchFamily="18" charset="0"/>
                <a:cs typeface="Times New Roman" pitchFamily="18" charset="0"/>
              </a:rPr>
              <a:t>Develop the strategic long-term plan with goals and the annual quality improvement program with objectives.</a:t>
            </a:r>
          </a:p>
          <a:p>
            <a:pPr marL="285750" indent="-285750" algn="just">
              <a:lnSpc>
                <a:spcPct val="150000"/>
              </a:lnSpc>
              <a:buFont typeface="Arial" panose="020B0604020202020204" pitchFamily="34" charset="0"/>
              <a:buChar char="•"/>
            </a:pPr>
            <a:r>
              <a:rPr lang="en-US" sz="1600" dirty="0">
                <a:latin typeface="Times New Roman" pitchFamily="18" charset="0"/>
                <a:cs typeface="Times New Roman" pitchFamily="18" charset="0"/>
              </a:rPr>
              <a:t>Create the total education and training plan.</a:t>
            </a:r>
          </a:p>
          <a:p>
            <a:pPr marL="285750" indent="-285750" algn="just">
              <a:lnSpc>
                <a:spcPct val="150000"/>
              </a:lnSpc>
              <a:buFont typeface="Arial" panose="020B0604020202020204" pitchFamily="34" charset="0"/>
              <a:buChar char="•"/>
            </a:pPr>
            <a:r>
              <a:rPr lang="en-US" sz="1600" dirty="0">
                <a:latin typeface="Times New Roman" pitchFamily="18" charset="0"/>
                <a:cs typeface="Times New Roman" pitchFamily="18" charset="0"/>
              </a:rPr>
              <a:t>Determine and continually monitor the cost of poor quality.</a:t>
            </a:r>
          </a:p>
        </p:txBody>
      </p:sp>
    </p:spTree>
    <p:extLst>
      <p:ext uri="{BB962C8B-B14F-4D97-AF65-F5344CB8AC3E}">
        <p14:creationId xmlns:p14="http://schemas.microsoft.com/office/powerpoint/2010/main" val="391931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800600"/>
          </a:xfrm>
        </p:spPr>
        <p:txBody>
          <a:bodyPr>
            <a:normAutofit/>
          </a:bodyPr>
          <a:lstStyle/>
          <a:p>
            <a:pPr algn="just"/>
            <a:r>
              <a:rPr lang="en-US" sz="1600" dirty="0">
                <a:latin typeface="Times New Roman" pitchFamily="18" charset="0"/>
                <a:cs typeface="Times New Roman" pitchFamily="18" charset="0"/>
              </a:rPr>
              <a:t>Empowerment means giving people authority to make decisions based on what they feel is right, have control over their work, take risks and learn from mistakes, and promote change.</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Empowerment is the process of enabling or authorizing an individual to think, behaves, take action, and control work and decision making in autonomous ways. This means leaders and managers relinquishing some of their powers that they previously held in terms of decision-making.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Empowerment diffuses decision making to employees so that employees make decisions regarding what they do and how they do it. Empowering employees is giving employees ‘ownership of their job.</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4412B484-1965-4562-B059-F37784D4F1D6}" type="datetime1">
              <a:rPr lang="en-US" smtClean="0"/>
              <a:t>5/10/2026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26761"/>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Topic 2:EMPLOYEE EMPOWERMENT</a:t>
            </a:r>
            <a:r>
              <a:rPr lang="en-US" sz="2800" dirty="0">
                <a:solidFill>
                  <a:schemeClr val="tx1"/>
                </a:solidFill>
                <a:latin typeface="Times New Roman" panose="02020603050405020304" pitchFamily="18" charset="0"/>
                <a:cs typeface="Times New Roman" panose="02020603050405020304" pitchFamily="18" charset="0"/>
              </a:rPr>
              <a:t>(CO2)</a:t>
            </a:r>
          </a:p>
        </p:txBody>
      </p:sp>
      <p:sp>
        <p:nvSpPr>
          <p:cNvPr id="5" name="TextBox 4">
            <a:extLst>
              <a:ext uri="{FF2B5EF4-FFF2-40B4-BE49-F238E27FC236}">
                <a16:creationId xmlns:a16="http://schemas.microsoft.com/office/drawing/2014/main" id="{58E8676E-7950-6B04-6D45-BCDE7D0C716E}"/>
              </a:ext>
            </a:extLst>
          </p:cNvPr>
          <p:cNvSpPr txBox="1"/>
          <p:nvPr/>
        </p:nvSpPr>
        <p:spPr>
          <a:xfrm>
            <a:off x="228600" y="4238861"/>
            <a:ext cx="8534400" cy="2031325"/>
          </a:xfrm>
          <a:prstGeom prst="rect">
            <a:avLst/>
          </a:prstGeom>
          <a:noFill/>
        </p:spPr>
        <p:txBody>
          <a:bodyPr wrap="square">
            <a:spAutoFit/>
          </a:bodyPr>
          <a:lstStyle/>
          <a:p>
            <a:pPr>
              <a:buNone/>
            </a:pPr>
            <a:r>
              <a:rPr lang="en-US" b="1" dirty="0"/>
              <a:t>Definition(</a:t>
            </a:r>
            <a:r>
              <a:rPr lang="en-US" b="1" dirty="0" err="1"/>
              <a:t>Employement</a:t>
            </a:r>
            <a:r>
              <a:rPr lang="en-US" b="1" dirty="0"/>
              <a:t> Involvement)</a:t>
            </a:r>
          </a:p>
          <a:p>
            <a:pPr>
              <a:buNone/>
            </a:pPr>
            <a:r>
              <a:rPr lang="en-US" dirty="0">
                <a:solidFill>
                  <a:srgbClr val="FF0000"/>
                </a:solidFill>
              </a:rPr>
              <a:t>Participation of employees in decision-making and quality improvement activities.</a:t>
            </a:r>
          </a:p>
          <a:p>
            <a:pPr>
              <a:buNone/>
            </a:pPr>
            <a:r>
              <a:rPr lang="en-US" b="1" dirty="0"/>
              <a:t>Importance</a:t>
            </a:r>
          </a:p>
          <a:p>
            <a:pPr>
              <a:buFont typeface="+mj-lt"/>
              <a:buAutoNum type="arabicPeriod"/>
            </a:pPr>
            <a:r>
              <a:rPr lang="en-US" dirty="0"/>
              <a:t>Improves productivity </a:t>
            </a:r>
          </a:p>
          <a:p>
            <a:pPr>
              <a:buFont typeface="+mj-lt"/>
              <a:buAutoNum type="arabicPeriod"/>
            </a:pPr>
            <a:r>
              <a:rPr lang="en-US" dirty="0"/>
              <a:t>Increases job satisfaction </a:t>
            </a:r>
          </a:p>
          <a:p>
            <a:pPr>
              <a:buFont typeface="+mj-lt"/>
              <a:buAutoNum type="arabicPeriod"/>
            </a:pPr>
            <a:r>
              <a:rPr lang="en-US" dirty="0"/>
              <a:t>Encourages teamwork </a:t>
            </a:r>
          </a:p>
          <a:p>
            <a:pPr>
              <a:buFont typeface="+mj-lt"/>
              <a:buAutoNum type="arabicPeriod"/>
            </a:pPr>
            <a:r>
              <a:rPr lang="en-US" dirty="0"/>
              <a:t>Reduces errors </a:t>
            </a:r>
          </a:p>
        </p:txBody>
      </p:sp>
      <p:sp>
        <p:nvSpPr>
          <p:cNvPr id="8" name="TextBox 7">
            <a:extLst>
              <a:ext uri="{FF2B5EF4-FFF2-40B4-BE49-F238E27FC236}">
                <a16:creationId xmlns:a16="http://schemas.microsoft.com/office/drawing/2014/main" id="{6D408762-6F56-BCBD-615B-B8AC12B0ED0E}"/>
              </a:ext>
            </a:extLst>
          </p:cNvPr>
          <p:cNvSpPr txBox="1"/>
          <p:nvPr/>
        </p:nvSpPr>
        <p:spPr>
          <a:xfrm>
            <a:off x="3733800" y="4929265"/>
            <a:ext cx="4599214" cy="1200329"/>
          </a:xfrm>
          <a:prstGeom prst="rect">
            <a:avLst/>
          </a:prstGeom>
          <a:noFill/>
        </p:spPr>
        <p:txBody>
          <a:bodyPr wrap="square">
            <a:spAutoFit/>
          </a:bodyPr>
          <a:lstStyle/>
          <a:p>
            <a:pPr>
              <a:buNone/>
            </a:pPr>
            <a:r>
              <a:rPr lang="en-US" b="1" dirty="0"/>
              <a:t>Methods</a:t>
            </a:r>
          </a:p>
          <a:p>
            <a:pPr>
              <a:buFont typeface="Arial" panose="020B0604020202020204" pitchFamily="34" charset="0"/>
              <a:buChar char="•"/>
            </a:pPr>
            <a:r>
              <a:rPr lang="en-US" dirty="0"/>
              <a:t>Suggestion schemes </a:t>
            </a:r>
          </a:p>
          <a:p>
            <a:pPr>
              <a:buFont typeface="Arial" panose="020B0604020202020204" pitchFamily="34" charset="0"/>
              <a:buChar char="•"/>
            </a:pPr>
            <a:r>
              <a:rPr lang="en-US" dirty="0"/>
              <a:t>Quality circles </a:t>
            </a:r>
          </a:p>
          <a:p>
            <a:pPr>
              <a:buFont typeface="Arial" panose="020B0604020202020204" pitchFamily="34" charset="0"/>
              <a:buChar char="•"/>
            </a:pPr>
            <a:r>
              <a:rPr lang="en-US" dirty="0"/>
              <a:t>Team meetings</a:t>
            </a:r>
            <a:endParaRPr lang="en-IN" dirty="0"/>
          </a:p>
        </p:txBody>
      </p:sp>
    </p:spTree>
    <p:extLst>
      <p:ext uri="{BB962C8B-B14F-4D97-AF65-F5344CB8AC3E}">
        <p14:creationId xmlns:p14="http://schemas.microsoft.com/office/powerpoint/2010/main" val="391931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6"/>
          <p:cNvSpPr>
            <a:spLocks noGrp="1"/>
          </p:cNvSpPr>
          <p:nvPr>
            <p:ph type="sldNum" sz="quarter" idx="12"/>
          </p:nvPr>
        </p:nvSpPr>
        <p:spPr/>
        <p:txBody>
          <a:bodyPr/>
          <a:lstStyle/>
          <a:p>
            <a:fld id="{98942D1A-943E-4A86-8308-2F95E8B419B7}" type="slidenum">
              <a:rPr lang="en-US" smtClean="0"/>
              <a:pPr/>
              <a:t>5</a:t>
            </a:fld>
            <a:endParaRPr lang="en-US"/>
          </a:p>
        </p:txBody>
      </p:sp>
      <p:sp>
        <p:nvSpPr>
          <p:cNvPr id="12" name="Date Placeholder 11"/>
          <p:cNvSpPr>
            <a:spLocks noGrp="1"/>
          </p:cNvSpPr>
          <p:nvPr>
            <p:ph type="dt" sz="half" idx="10"/>
          </p:nvPr>
        </p:nvSpPr>
        <p:spPr/>
        <p:txBody>
          <a:bodyPr/>
          <a:lstStyle/>
          <a:p>
            <a:fld id="{FABF7FD2-5155-44EB-B154-66FBCE26549F}" type="datetime1">
              <a:rPr lang="en-US" smtClean="0"/>
              <a:t>5/10/2026</a:t>
            </a:fld>
            <a:endParaRPr lang="en-US"/>
          </a:p>
        </p:txBody>
      </p:sp>
      <p:pic>
        <p:nvPicPr>
          <p:cNvPr id="15" name="Picture 14"/>
          <p:cNvPicPr>
            <a:picLocks noChangeAspect="1"/>
          </p:cNvPicPr>
          <p:nvPr/>
        </p:nvPicPr>
        <p:blipFill>
          <a:blip r:embed="rId3"/>
          <a:stretch>
            <a:fillRect/>
          </a:stretch>
        </p:blipFill>
        <p:spPr>
          <a:xfrm>
            <a:off x="0" y="-5047"/>
            <a:ext cx="1752600" cy="1024530"/>
          </a:xfrm>
          <a:prstGeom prst="rect">
            <a:avLst/>
          </a:prstGeom>
        </p:spPr>
      </p:pic>
      <p:pic>
        <p:nvPicPr>
          <p:cNvPr id="9" name="Picture 8"/>
          <p:cNvPicPr>
            <a:picLocks noChangeAspect="1"/>
          </p:cNvPicPr>
          <p:nvPr/>
        </p:nvPicPr>
        <p:blipFill>
          <a:blip r:embed="rId4"/>
          <a:stretch>
            <a:fillRect/>
          </a:stretch>
        </p:blipFill>
        <p:spPr>
          <a:xfrm>
            <a:off x="1722996" y="0"/>
            <a:ext cx="7462151" cy="944962"/>
          </a:xfrm>
          <a:prstGeom prst="rect">
            <a:avLst/>
          </a:prstGeom>
        </p:spPr>
      </p:pic>
      <p:sp>
        <p:nvSpPr>
          <p:cNvPr id="4" name="TextBox 3">
            <a:extLst>
              <a:ext uri="{FF2B5EF4-FFF2-40B4-BE49-F238E27FC236}">
                <a16:creationId xmlns:a16="http://schemas.microsoft.com/office/drawing/2014/main" id="{34B691E7-4AC0-8E59-6F7A-CB94A19E023C}"/>
              </a:ext>
            </a:extLst>
          </p:cNvPr>
          <p:cNvSpPr txBox="1"/>
          <p:nvPr/>
        </p:nvSpPr>
        <p:spPr>
          <a:xfrm>
            <a:off x="268286" y="1114182"/>
            <a:ext cx="8723314" cy="5170646"/>
          </a:xfrm>
          <a:prstGeom prst="rect">
            <a:avLst/>
          </a:prstGeom>
          <a:noFill/>
        </p:spPr>
        <p:txBody>
          <a:bodyPr wrap="square">
            <a:spAutoFit/>
          </a:bodyPr>
          <a:lstStyle/>
          <a:p>
            <a:pPr>
              <a:buNone/>
            </a:pPr>
            <a:r>
              <a:rPr lang="en-US" sz="2200" b="1" dirty="0"/>
              <a:t>Quality Cost and Its Categories</a:t>
            </a:r>
          </a:p>
          <a:p>
            <a:pPr>
              <a:buNone/>
            </a:pPr>
            <a:r>
              <a:rPr lang="en-US" sz="2200" dirty="0"/>
              <a:t>Quality cost is the cost incurred to maintain good product quality and avoid defects.</a:t>
            </a:r>
          </a:p>
          <a:p>
            <a:pPr>
              <a:buNone/>
            </a:pPr>
            <a:endParaRPr lang="en-US" sz="2200" dirty="0"/>
          </a:p>
          <a:p>
            <a:pPr>
              <a:buFont typeface="+mj-lt"/>
              <a:buAutoNum type="arabicPeriod"/>
            </a:pPr>
            <a:r>
              <a:rPr lang="en-US" sz="2200" b="1" dirty="0"/>
              <a:t>Prevention Cost</a:t>
            </a:r>
            <a:r>
              <a:rPr lang="en-US" sz="2200" dirty="0"/>
              <a:t> – Cost to prevent defects before production.</a:t>
            </a:r>
            <a:br>
              <a:rPr lang="en-US" sz="2200" dirty="0"/>
            </a:br>
            <a:r>
              <a:rPr lang="en-US" sz="2200" dirty="0"/>
              <a:t>	</a:t>
            </a:r>
            <a:r>
              <a:rPr lang="en-US" sz="2200" b="1" dirty="0"/>
              <a:t>Example:</a:t>
            </a:r>
            <a:r>
              <a:rPr lang="en-US" sz="2200" dirty="0"/>
              <a:t> Employee training. ‘</a:t>
            </a:r>
          </a:p>
          <a:p>
            <a:endParaRPr lang="en-US" sz="2200" dirty="0"/>
          </a:p>
          <a:p>
            <a:r>
              <a:rPr lang="en-US" sz="2200" b="1" dirty="0"/>
              <a:t>2.Appraisal Cost</a:t>
            </a:r>
            <a:r>
              <a:rPr lang="en-US" sz="2200" dirty="0"/>
              <a:t> – Cost for inspection and testing of products.</a:t>
            </a:r>
            <a:br>
              <a:rPr lang="en-US" sz="2200" dirty="0"/>
            </a:br>
            <a:r>
              <a:rPr lang="en-US" sz="2200" dirty="0"/>
              <a:t>	</a:t>
            </a:r>
            <a:r>
              <a:rPr lang="en-US" sz="2200" b="1" dirty="0"/>
              <a:t>Example:</a:t>
            </a:r>
            <a:r>
              <a:rPr lang="en-US" sz="2200" dirty="0"/>
              <a:t> Quality checking. </a:t>
            </a:r>
          </a:p>
          <a:p>
            <a:pPr>
              <a:buFont typeface="+mj-lt"/>
              <a:buAutoNum type="arabicPeriod"/>
            </a:pPr>
            <a:endParaRPr lang="en-US" sz="2200" dirty="0"/>
          </a:p>
          <a:p>
            <a:r>
              <a:rPr lang="en-US" sz="2200" b="1" dirty="0"/>
              <a:t>3.Internal Failure Cost</a:t>
            </a:r>
            <a:r>
              <a:rPr lang="en-US" sz="2200" dirty="0"/>
              <a:t> – Cost of defects found before delivery.</a:t>
            </a:r>
            <a:br>
              <a:rPr lang="en-US" sz="2200" dirty="0"/>
            </a:br>
            <a:r>
              <a:rPr lang="en-US" sz="2200" dirty="0"/>
              <a:t> 	</a:t>
            </a:r>
            <a:r>
              <a:rPr lang="en-US" sz="2200" b="1" dirty="0"/>
              <a:t>Example:</a:t>
            </a:r>
            <a:r>
              <a:rPr lang="en-US" sz="2200" dirty="0"/>
              <a:t> Rework of defective products. </a:t>
            </a:r>
          </a:p>
          <a:p>
            <a:endParaRPr lang="en-US" sz="2200" dirty="0"/>
          </a:p>
          <a:p>
            <a:r>
              <a:rPr lang="en-US" sz="2200" dirty="0"/>
              <a:t>4.</a:t>
            </a:r>
            <a:r>
              <a:rPr lang="en-US" sz="2200" b="1" dirty="0"/>
              <a:t>External Failure Cost</a:t>
            </a:r>
            <a:r>
              <a:rPr lang="en-US" sz="2200" dirty="0"/>
              <a:t> – Cost of defects found after delivery.</a:t>
            </a:r>
            <a:br>
              <a:rPr lang="en-US" sz="2200" dirty="0"/>
            </a:br>
            <a:r>
              <a:rPr lang="en-US" sz="2200" dirty="0"/>
              <a:t>	</a:t>
            </a:r>
            <a:r>
              <a:rPr lang="en-US" sz="2200" b="1" dirty="0"/>
              <a:t>Example:</a:t>
            </a:r>
            <a:r>
              <a:rPr lang="en-US" sz="2200" dirty="0"/>
              <a:t> Warranty and product replacement.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6474D75-03A1-4328-BB61-B80DF63B1BA6}" type="datetime1">
              <a:rPr lang="en-US" smtClean="0"/>
              <a:t>5/10/2026</a:t>
            </a:fld>
            <a:endParaRPr lang="en-US" b="1" dirty="0"/>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Topic 3:Team and Teamwork</a:t>
            </a:r>
          </a:p>
        </p:txBody>
      </p:sp>
      <p:sp>
        <p:nvSpPr>
          <p:cNvPr id="7" name="Rectangle 6">
            <a:extLst>
              <a:ext uri="{FF2B5EF4-FFF2-40B4-BE49-F238E27FC236}">
                <a16:creationId xmlns:a16="http://schemas.microsoft.com/office/drawing/2014/main" id="{D8FF5540-C6F0-42D1-7DC1-2E6D916DDCEE}"/>
              </a:ext>
            </a:extLst>
          </p:cNvPr>
          <p:cNvSpPr/>
          <p:nvPr/>
        </p:nvSpPr>
        <p:spPr>
          <a:xfrm>
            <a:off x="304800" y="899344"/>
            <a:ext cx="8763000" cy="1158056"/>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latin typeface="Times New Roman" panose="02020603050405020304" pitchFamily="18" charset="0"/>
                <a:cs typeface="Times New Roman" panose="02020603050405020304" pitchFamily="18" charset="0"/>
              </a:rPr>
              <a:t>Teamwork is a fundamental element of total quality because it is organizations not individuals that produce products and provide services which makes peak performance and continual improvements.</a:t>
            </a:r>
          </a:p>
        </p:txBody>
      </p:sp>
      <p:sp>
        <p:nvSpPr>
          <p:cNvPr id="10" name="TextBox 9">
            <a:extLst>
              <a:ext uri="{FF2B5EF4-FFF2-40B4-BE49-F238E27FC236}">
                <a16:creationId xmlns:a16="http://schemas.microsoft.com/office/drawing/2014/main" id="{357284B8-55B0-ECC8-4BB6-82FA422BB6E7}"/>
              </a:ext>
            </a:extLst>
          </p:cNvPr>
          <p:cNvSpPr txBox="1"/>
          <p:nvPr/>
        </p:nvSpPr>
        <p:spPr>
          <a:xfrm>
            <a:off x="152400" y="2238536"/>
            <a:ext cx="5856514" cy="4031873"/>
          </a:xfrm>
          <a:prstGeom prst="rect">
            <a:avLst/>
          </a:prstGeom>
          <a:noFill/>
        </p:spPr>
        <p:txBody>
          <a:bodyPr wrap="square">
            <a:spAutoFit/>
          </a:bodyPr>
          <a:lstStyle/>
          <a:p>
            <a:pPr>
              <a:buNone/>
            </a:pPr>
            <a:r>
              <a:rPr lang="en-US" sz="1600" b="1" dirty="0"/>
              <a:t>Team</a:t>
            </a:r>
          </a:p>
          <a:p>
            <a:pPr>
              <a:buNone/>
            </a:pPr>
            <a:r>
              <a:rPr lang="en-US" sz="1600" dirty="0"/>
              <a:t>A group of people working together to achieve a </a:t>
            </a:r>
          </a:p>
          <a:p>
            <a:pPr>
              <a:buNone/>
            </a:pPr>
            <a:r>
              <a:rPr lang="en-US" sz="1600" dirty="0"/>
              <a:t>common goal.</a:t>
            </a:r>
          </a:p>
          <a:p>
            <a:pPr>
              <a:buNone/>
            </a:pPr>
            <a:endParaRPr lang="en-US" sz="1600" dirty="0"/>
          </a:p>
          <a:p>
            <a:pPr>
              <a:buNone/>
            </a:pPr>
            <a:r>
              <a:rPr lang="en-US" sz="1600" b="1" dirty="0"/>
              <a:t>Teamwork</a:t>
            </a:r>
          </a:p>
          <a:p>
            <a:pPr>
              <a:buNone/>
            </a:pPr>
            <a:r>
              <a:rPr lang="en-US" sz="1600" dirty="0"/>
              <a:t>Cooperation among employees for better quality </a:t>
            </a:r>
          </a:p>
          <a:p>
            <a:pPr>
              <a:buNone/>
            </a:pPr>
            <a:r>
              <a:rPr lang="en-US" sz="1600" dirty="0"/>
              <a:t>and productivity.</a:t>
            </a:r>
          </a:p>
          <a:p>
            <a:pPr>
              <a:buNone/>
            </a:pPr>
            <a:r>
              <a:rPr lang="en-US" sz="1600" b="1" dirty="0"/>
              <a:t>Advantages</a:t>
            </a:r>
          </a:p>
          <a:p>
            <a:pPr>
              <a:buFont typeface="+mj-lt"/>
              <a:buAutoNum type="arabicPeriod"/>
            </a:pPr>
            <a:r>
              <a:rPr lang="en-US" sz="1600" dirty="0"/>
              <a:t>Better problem solving </a:t>
            </a:r>
          </a:p>
          <a:p>
            <a:pPr>
              <a:buFont typeface="+mj-lt"/>
              <a:buAutoNum type="arabicPeriod"/>
            </a:pPr>
            <a:r>
              <a:rPr lang="en-US" sz="1600" dirty="0"/>
              <a:t>Increased creativity </a:t>
            </a:r>
          </a:p>
          <a:p>
            <a:pPr>
              <a:buFont typeface="+mj-lt"/>
              <a:buAutoNum type="arabicPeriod"/>
            </a:pPr>
            <a:r>
              <a:rPr lang="en-US" sz="1600" dirty="0"/>
              <a:t>Improved communication </a:t>
            </a:r>
          </a:p>
          <a:p>
            <a:pPr>
              <a:buFont typeface="+mj-lt"/>
              <a:buAutoNum type="arabicPeriod"/>
            </a:pPr>
            <a:r>
              <a:rPr lang="en-US" sz="1600" dirty="0"/>
              <a:t>Higher efficiency </a:t>
            </a:r>
          </a:p>
          <a:p>
            <a:pPr>
              <a:buNone/>
            </a:pPr>
            <a:r>
              <a:rPr lang="en-US" sz="1600" b="1" dirty="0"/>
              <a:t>Types of Teams</a:t>
            </a:r>
          </a:p>
          <a:p>
            <a:pPr>
              <a:buFont typeface="Arial" panose="020B0604020202020204" pitchFamily="34" charset="0"/>
              <a:buChar char="•"/>
            </a:pPr>
            <a:r>
              <a:rPr lang="en-US" sz="1600" dirty="0"/>
              <a:t>Quality improvement teams </a:t>
            </a:r>
          </a:p>
          <a:p>
            <a:pPr>
              <a:buFont typeface="Arial" panose="020B0604020202020204" pitchFamily="34" charset="0"/>
              <a:buChar char="•"/>
            </a:pPr>
            <a:r>
              <a:rPr lang="en-US" sz="1600" dirty="0"/>
              <a:t>Cross-functional teams </a:t>
            </a:r>
          </a:p>
          <a:p>
            <a:pPr>
              <a:buFont typeface="Arial" panose="020B0604020202020204" pitchFamily="34" charset="0"/>
              <a:buChar char="•"/>
            </a:pPr>
            <a:r>
              <a:rPr lang="en-US" sz="1600" dirty="0"/>
              <a:t>Self-managed teams</a:t>
            </a:r>
          </a:p>
        </p:txBody>
      </p:sp>
      <p:sp>
        <p:nvSpPr>
          <p:cNvPr id="14" name="TextBox 13">
            <a:extLst>
              <a:ext uri="{FF2B5EF4-FFF2-40B4-BE49-F238E27FC236}">
                <a16:creationId xmlns:a16="http://schemas.microsoft.com/office/drawing/2014/main" id="{C92E2636-78D1-7BE8-236E-94D911993DDA}"/>
              </a:ext>
            </a:extLst>
          </p:cNvPr>
          <p:cNvSpPr txBox="1"/>
          <p:nvPr/>
        </p:nvSpPr>
        <p:spPr>
          <a:xfrm>
            <a:off x="4724399" y="2361647"/>
            <a:ext cx="4267201" cy="3539430"/>
          </a:xfrm>
          <a:prstGeom prst="rect">
            <a:avLst/>
          </a:prstGeom>
          <a:noFill/>
        </p:spPr>
        <p:txBody>
          <a:bodyPr wrap="square">
            <a:spAutoFit/>
          </a:bodyPr>
          <a:lstStyle/>
          <a:p>
            <a:pPr algn="just">
              <a:buNone/>
            </a:pPr>
            <a:r>
              <a:rPr lang="en-US" sz="1600" b="1" dirty="0">
                <a:latin typeface="Times New Roman" panose="02020603050405020304" pitchFamily="18" charset="0"/>
                <a:cs typeface="Times New Roman" panose="02020603050405020304" pitchFamily="18" charset="0"/>
              </a:rPr>
              <a:t>Types of team</a:t>
            </a:r>
          </a:p>
          <a:p>
            <a:pPr algn="just">
              <a:buNone/>
            </a:pPr>
            <a:endParaRPr lang="en-US" sz="1600" b="1"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mj-lt"/>
              <a:buAutoNum type="arabicPeriod"/>
            </a:pPr>
            <a:r>
              <a:rPr lang="en-US" altLang="en-US" sz="1600" b="1" dirty="0">
                <a:latin typeface="Arial" panose="020B0604020202020204" pitchFamily="34" charset="0"/>
              </a:rPr>
              <a:t>Functional Team</a:t>
            </a:r>
            <a:r>
              <a:rPr lang="en-US" altLang="en-US" sz="1600" dirty="0">
                <a:latin typeface="Arial" panose="020B0604020202020204" pitchFamily="34" charset="0"/>
              </a:rPr>
              <a:t> – Members from the same department working under one manager. </a:t>
            </a:r>
          </a:p>
          <a:p>
            <a:pPr marL="457200" lvl="0" indent="-457200" eaLnBrk="0" fontAlgn="base" hangingPunct="0">
              <a:spcBef>
                <a:spcPct val="0"/>
              </a:spcBef>
              <a:spcAft>
                <a:spcPct val="0"/>
              </a:spcAft>
              <a:buFont typeface="+mj-lt"/>
              <a:buAutoNum type="arabicPeriod"/>
            </a:pPr>
            <a:r>
              <a:rPr lang="en-US" altLang="en-US" sz="1600" b="1" dirty="0">
                <a:latin typeface="Arial" panose="020B0604020202020204" pitchFamily="34" charset="0"/>
              </a:rPr>
              <a:t>Cross-Functional Team</a:t>
            </a:r>
            <a:r>
              <a:rPr lang="en-US" altLang="en-US" sz="1600" dirty="0">
                <a:latin typeface="Arial" panose="020B0604020202020204" pitchFamily="34" charset="0"/>
              </a:rPr>
              <a:t> – Members from different departments working for a common task. </a:t>
            </a:r>
          </a:p>
          <a:p>
            <a:pPr marL="457200" lvl="0" indent="-457200" eaLnBrk="0" fontAlgn="base" hangingPunct="0">
              <a:spcBef>
                <a:spcPct val="0"/>
              </a:spcBef>
              <a:spcAft>
                <a:spcPct val="0"/>
              </a:spcAft>
              <a:buFont typeface="+mj-lt"/>
              <a:buAutoNum type="arabicPeriod"/>
            </a:pPr>
            <a:r>
              <a:rPr lang="en-US" altLang="en-US" sz="1600" b="1" dirty="0">
                <a:latin typeface="Arial" panose="020B0604020202020204" pitchFamily="34" charset="0"/>
              </a:rPr>
              <a:t>Matrix Team</a:t>
            </a:r>
            <a:r>
              <a:rPr lang="en-US" altLang="en-US" sz="1600" dirty="0">
                <a:latin typeface="Arial" panose="020B0604020202020204" pitchFamily="34" charset="0"/>
              </a:rPr>
              <a:t> – Employees report to more than one manager. </a:t>
            </a:r>
          </a:p>
          <a:p>
            <a:pPr marL="457200" lvl="0" indent="-457200" eaLnBrk="0" fontAlgn="base" hangingPunct="0">
              <a:spcBef>
                <a:spcPct val="0"/>
              </a:spcBef>
              <a:spcAft>
                <a:spcPct val="0"/>
              </a:spcAft>
              <a:buFont typeface="+mj-lt"/>
              <a:buAutoNum type="arabicPeriod"/>
            </a:pPr>
            <a:r>
              <a:rPr lang="en-US" altLang="en-US" sz="1600" b="1" dirty="0">
                <a:latin typeface="Arial" panose="020B0604020202020204" pitchFamily="34" charset="0"/>
              </a:rPr>
              <a:t>Contract Team</a:t>
            </a:r>
            <a:r>
              <a:rPr lang="en-US" altLang="en-US" sz="1600" dirty="0">
                <a:latin typeface="Arial" panose="020B0604020202020204" pitchFamily="34" charset="0"/>
              </a:rPr>
              <a:t> – Outsourced team working on a contract basis. </a:t>
            </a:r>
          </a:p>
          <a:p>
            <a:pPr marL="457200" lvl="0" indent="-457200" eaLnBrk="0" fontAlgn="base" hangingPunct="0">
              <a:spcBef>
                <a:spcPct val="0"/>
              </a:spcBef>
              <a:spcAft>
                <a:spcPct val="0"/>
              </a:spcAft>
              <a:buFont typeface="+mj-lt"/>
              <a:buAutoNum type="arabicPeriod"/>
            </a:pPr>
            <a:r>
              <a:rPr lang="en-US" altLang="en-US" sz="1600" b="1" dirty="0">
                <a:latin typeface="Arial" panose="020B0604020202020204" pitchFamily="34" charset="0"/>
              </a:rPr>
              <a:t>Operational Team</a:t>
            </a:r>
            <a:r>
              <a:rPr lang="en-US" altLang="en-US" sz="1600" dirty="0">
                <a:latin typeface="Arial" panose="020B0604020202020204" pitchFamily="34" charset="0"/>
              </a:rPr>
              <a:t> – Team responsible for smooth daily operations</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9394" y="1219200"/>
            <a:ext cx="8758406" cy="3233449"/>
          </a:xfrm>
          <a:prstGeom prst="rect">
            <a:avLst/>
          </a:prstGeom>
        </p:spPr>
        <p:txBody>
          <a:bodyPr vert="horz" wrap="square" lIns="0" tIns="49530" rIns="0" bIns="0" rtlCol="0">
            <a:spAutoFit/>
          </a:bodyPr>
          <a:lstStyle/>
          <a:p>
            <a:pPr marL="12700" marR="5080" algn="just">
              <a:lnSpc>
                <a:spcPct val="90000"/>
              </a:lnSpc>
              <a:spcBef>
                <a:spcPts val="390"/>
              </a:spcBef>
            </a:pPr>
            <a:r>
              <a:rPr sz="1600" dirty="0">
                <a:latin typeface="Times New Roman" panose="02020603050405020304" pitchFamily="18" charset="0"/>
                <a:cs typeface="Times New Roman" panose="02020603050405020304" pitchFamily="18" charset="0"/>
              </a:rPr>
              <a:t>Quality </a:t>
            </a:r>
            <a:r>
              <a:rPr sz="1600" spc="-25" dirty="0">
                <a:latin typeface="Times New Roman" panose="02020603050405020304" pitchFamily="18" charset="0"/>
                <a:cs typeface="Times New Roman" panose="02020603050405020304" pitchFamily="18" charset="0"/>
              </a:rPr>
              <a:t>Circle </a:t>
            </a:r>
            <a:r>
              <a:rPr sz="1600" dirty="0">
                <a:latin typeface="Times New Roman" panose="02020603050405020304" pitchFamily="18" charset="0"/>
                <a:cs typeface="Times New Roman" panose="02020603050405020304" pitchFamily="18" charset="0"/>
              </a:rPr>
              <a:t>is a </a:t>
            </a:r>
            <a:r>
              <a:rPr sz="1600" spc="-10" dirty="0">
                <a:latin typeface="Times New Roman" panose="02020603050405020304" pitchFamily="18" charset="0"/>
                <a:cs typeface="Times New Roman" panose="02020603050405020304" pitchFamily="18" charset="0"/>
              </a:rPr>
              <a:t>small </a:t>
            </a:r>
            <a:r>
              <a:rPr sz="1600" spc="-25" dirty="0">
                <a:latin typeface="Times New Roman" panose="02020603050405020304" pitchFamily="18" charset="0"/>
                <a:cs typeface="Times New Roman" panose="02020603050405020304" pitchFamily="18" charset="0"/>
              </a:rPr>
              <a:t>group </a:t>
            </a:r>
            <a:r>
              <a:rPr sz="1600" spc="-5" dirty="0">
                <a:latin typeface="Times New Roman" panose="02020603050405020304" pitchFamily="18" charset="0"/>
                <a:cs typeface="Times New Roman" panose="02020603050405020304" pitchFamily="18" charset="0"/>
              </a:rPr>
              <a:t>of </a:t>
            </a:r>
            <a:r>
              <a:rPr sz="1600" spc="-10" dirty="0">
                <a:latin typeface="Times New Roman" panose="02020603050405020304" pitchFamily="18" charset="0"/>
                <a:cs typeface="Times New Roman" panose="02020603050405020304" pitchFamily="18" charset="0"/>
              </a:rPr>
              <a:t>employees working </a:t>
            </a:r>
            <a:r>
              <a:rPr sz="1600" dirty="0">
                <a:latin typeface="Times New Roman" panose="02020603050405020304" pitchFamily="18" charset="0"/>
                <a:cs typeface="Times New Roman" panose="02020603050405020304" pitchFamily="18" charset="0"/>
              </a:rPr>
              <a:t>in the </a:t>
            </a:r>
            <a:r>
              <a:rPr sz="1600" spc="-10" dirty="0">
                <a:latin typeface="Times New Roman" panose="02020603050405020304" pitchFamily="18" charset="0"/>
                <a:cs typeface="Times New Roman" panose="02020603050405020304" pitchFamily="18" charset="0"/>
              </a:rPr>
              <a:t>same </a:t>
            </a:r>
            <a:r>
              <a:rPr sz="1600" spc="-5" dirty="0">
                <a:latin typeface="Times New Roman" panose="02020603050405020304" pitchFamily="18" charset="0"/>
                <a:cs typeface="Times New Roman" panose="02020603050405020304" pitchFamily="18" charset="0"/>
              </a:rPr>
              <a:t> </a:t>
            </a:r>
            <a:r>
              <a:rPr sz="1600" spc="-20" dirty="0">
                <a:latin typeface="Times New Roman" panose="02020603050405020304" pitchFamily="18" charset="0"/>
                <a:cs typeface="Times New Roman" panose="02020603050405020304" pitchFamily="18" charset="0"/>
              </a:rPr>
              <a:t>work </a:t>
            </a:r>
            <a:r>
              <a:rPr sz="1600" spc="-35" dirty="0">
                <a:latin typeface="Times New Roman" panose="02020603050405020304" pitchFamily="18" charset="0"/>
                <a:cs typeface="Times New Roman" panose="02020603050405020304" pitchFamily="18" charset="0"/>
              </a:rPr>
              <a:t>area </a:t>
            </a:r>
            <a:r>
              <a:rPr sz="1600" spc="35" dirty="0">
                <a:latin typeface="Times New Roman" panose="02020603050405020304" pitchFamily="18" charset="0"/>
                <a:cs typeface="Times New Roman" panose="02020603050405020304" pitchFamily="18" charset="0"/>
              </a:rPr>
              <a:t>or </a:t>
            </a:r>
            <a:r>
              <a:rPr sz="1600" dirty="0">
                <a:latin typeface="Times New Roman" panose="02020603050405020304" pitchFamily="18" charset="0"/>
                <a:cs typeface="Times New Roman" panose="02020603050405020304" pitchFamily="18" charset="0"/>
              </a:rPr>
              <a:t>doing a </a:t>
            </a:r>
            <a:r>
              <a:rPr sz="1600" spc="-5" dirty="0">
                <a:latin typeface="Times New Roman" panose="02020603050405020304" pitchFamily="18" charset="0"/>
                <a:cs typeface="Times New Roman" panose="02020603050405020304" pitchFamily="18" charset="0"/>
              </a:rPr>
              <a:t>similar type </a:t>
            </a:r>
            <a:r>
              <a:rPr sz="1600" dirty="0">
                <a:latin typeface="Times New Roman" panose="02020603050405020304" pitchFamily="18" charset="0"/>
                <a:cs typeface="Times New Roman" panose="02020603050405020304" pitchFamily="18" charset="0"/>
              </a:rPr>
              <a:t>of </a:t>
            </a:r>
            <a:r>
              <a:rPr sz="1600" spc="-35" dirty="0">
                <a:latin typeface="Times New Roman" panose="02020603050405020304" pitchFamily="18" charset="0"/>
                <a:cs typeface="Times New Roman" panose="02020603050405020304" pitchFamily="18" charset="0"/>
              </a:rPr>
              <a:t>work who </a:t>
            </a:r>
            <a:r>
              <a:rPr sz="1600" dirty="0">
                <a:latin typeface="Times New Roman" panose="02020603050405020304" pitchFamily="18" charset="0"/>
                <a:cs typeface="Times New Roman" panose="02020603050405020304" pitchFamily="18" charset="0"/>
              </a:rPr>
              <a:t>voluntarily </a:t>
            </a:r>
            <a:r>
              <a:rPr sz="1600" spc="-10" dirty="0">
                <a:latin typeface="Times New Roman" panose="02020603050405020304" pitchFamily="18" charset="0"/>
                <a:cs typeface="Times New Roman" panose="02020603050405020304" pitchFamily="18" charset="0"/>
              </a:rPr>
              <a:t>meet </a:t>
            </a:r>
            <a:r>
              <a:rPr sz="1600" spc="-5" dirty="0">
                <a:latin typeface="Times New Roman" panose="02020603050405020304" pitchFamily="18" charset="0"/>
                <a:cs typeface="Times New Roman" panose="02020603050405020304" pitchFamily="18" charset="0"/>
              </a:rPr>
              <a:t> </a:t>
            </a:r>
            <a:r>
              <a:rPr sz="1600" spc="-20" dirty="0">
                <a:latin typeface="Times New Roman" panose="02020603050405020304" pitchFamily="18" charset="0"/>
                <a:cs typeface="Times New Roman" panose="02020603050405020304" pitchFamily="18" charset="0"/>
              </a:rPr>
              <a:t>regularly </a:t>
            </a:r>
            <a:r>
              <a:rPr sz="1600" dirty="0">
                <a:latin typeface="Times New Roman" panose="02020603050405020304" pitchFamily="18" charset="0"/>
                <a:cs typeface="Times New Roman" panose="02020603050405020304" pitchFamily="18" charset="0"/>
              </a:rPr>
              <a:t>to </a:t>
            </a:r>
            <a:r>
              <a:rPr sz="1600" spc="-20" dirty="0">
                <a:latin typeface="Times New Roman" panose="02020603050405020304" pitchFamily="18" charset="0"/>
                <a:cs typeface="Times New Roman" panose="02020603050405020304" pitchFamily="18" charset="0"/>
              </a:rPr>
              <a:t>identify, </a:t>
            </a:r>
            <a:r>
              <a:rPr sz="1600" dirty="0">
                <a:latin typeface="Times New Roman" panose="02020603050405020304" pitchFamily="18" charset="0"/>
                <a:cs typeface="Times New Roman" panose="02020603050405020304" pitchFamily="18" charset="0"/>
              </a:rPr>
              <a:t>analyze </a:t>
            </a:r>
            <a:r>
              <a:rPr sz="1600" spc="-5" dirty="0">
                <a:latin typeface="Times New Roman" panose="02020603050405020304" pitchFamily="18" charset="0"/>
                <a:cs typeface="Times New Roman" panose="02020603050405020304" pitchFamily="18" charset="0"/>
              </a:rPr>
              <a:t>and </a:t>
            </a:r>
            <a:r>
              <a:rPr sz="1600" spc="-15" dirty="0">
                <a:latin typeface="Times New Roman" panose="02020603050405020304" pitchFamily="18" charset="0"/>
                <a:cs typeface="Times New Roman" panose="02020603050405020304" pitchFamily="18" charset="0"/>
              </a:rPr>
              <a:t>resolve work-related </a:t>
            </a:r>
            <a:r>
              <a:rPr sz="1600" spc="-10" dirty="0">
                <a:latin typeface="Times New Roman" panose="02020603050405020304" pitchFamily="18" charset="0"/>
                <a:cs typeface="Times New Roman" panose="02020603050405020304" pitchFamily="18" charset="0"/>
              </a:rPr>
              <a:t>problems, </a:t>
            </a:r>
            <a:r>
              <a:rPr sz="1600" spc="-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leading</a:t>
            </a:r>
            <a:r>
              <a:rPr sz="1600" spc="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to</a:t>
            </a:r>
            <a:r>
              <a:rPr sz="1600" spc="5" dirty="0">
                <a:latin typeface="Times New Roman" panose="02020603050405020304" pitchFamily="18" charset="0"/>
                <a:cs typeface="Times New Roman" panose="02020603050405020304" pitchFamily="18" charset="0"/>
              </a:rPr>
              <a:t> </a:t>
            </a:r>
            <a:r>
              <a:rPr sz="1600" spc="-20" dirty="0">
                <a:latin typeface="Times New Roman" panose="02020603050405020304" pitchFamily="18" charset="0"/>
                <a:cs typeface="Times New Roman" panose="02020603050405020304" pitchFamily="18" charset="0"/>
              </a:rPr>
              <a:t>improvement</a:t>
            </a:r>
            <a:r>
              <a:rPr sz="1600" spc="-1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in</a:t>
            </a:r>
            <a:r>
              <a:rPr sz="1600" spc="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their</a:t>
            </a:r>
            <a:r>
              <a:rPr sz="1600" dirty="0">
                <a:latin typeface="Times New Roman" panose="02020603050405020304" pitchFamily="18" charset="0"/>
                <a:cs typeface="Times New Roman" panose="02020603050405020304" pitchFamily="18" charset="0"/>
              </a:rPr>
              <a:t> total</a:t>
            </a:r>
            <a:r>
              <a:rPr sz="1600" spc="5"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performance,</a:t>
            </a:r>
            <a:r>
              <a:rPr sz="1600" spc="57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and </a:t>
            </a:r>
            <a:r>
              <a:rPr sz="160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enrichment</a:t>
            </a:r>
            <a:r>
              <a:rPr sz="1600" spc="70"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of</a:t>
            </a:r>
            <a:r>
              <a:rPr sz="1600" spc="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their</a:t>
            </a:r>
            <a:r>
              <a:rPr sz="1600" spc="-25" dirty="0">
                <a:latin typeface="Times New Roman" panose="02020603050405020304" pitchFamily="18" charset="0"/>
                <a:cs typeface="Times New Roman" panose="02020603050405020304" pitchFamily="18" charset="0"/>
              </a:rPr>
              <a:t> </a:t>
            </a:r>
            <a:r>
              <a:rPr sz="1600" spc="-40" dirty="0">
                <a:latin typeface="Times New Roman" panose="02020603050405020304" pitchFamily="18" charset="0"/>
                <a:cs typeface="Times New Roman" panose="02020603050405020304" pitchFamily="18" charset="0"/>
              </a:rPr>
              <a:t>work</a:t>
            </a:r>
            <a:r>
              <a:rPr sz="1600" spc="13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life.</a:t>
            </a:r>
          </a:p>
          <a:p>
            <a:pPr>
              <a:lnSpc>
                <a:spcPct val="100000"/>
              </a:lnSpc>
            </a:pPr>
            <a:endParaRPr sz="1600" dirty="0">
              <a:latin typeface="Times New Roman" panose="02020603050405020304" pitchFamily="18" charset="0"/>
              <a:cs typeface="Times New Roman" panose="02020603050405020304" pitchFamily="18" charset="0"/>
            </a:endParaRPr>
          </a:p>
          <a:p>
            <a:pPr marL="12700">
              <a:lnSpc>
                <a:spcPct val="100000"/>
              </a:lnSpc>
            </a:pPr>
            <a:r>
              <a:rPr sz="1600" b="1" spc="-10" dirty="0">
                <a:latin typeface="Times New Roman" panose="02020603050405020304" pitchFamily="18" charset="0"/>
                <a:cs typeface="Times New Roman" panose="02020603050405020304" pitchFamily="18" charset="0"/>
              </a:rPr>
              <a:t>Features:</a:t>
            </a:r>
            <a:endParaRPr sz="1600" dirty="0">
              <a:latin typeface="Times New Roman" panose="02020603050405020304" pitchFamily="18" charset="0"/>
              <a:cs typeface="Times New Roman" panose="02020603050405020304" pitchFamily="18" charset="0"/>
            </a:endParaRPr>
          </a:p>
          <a:p>
            <a:pPr marL="355600" indent="-343535">
              <a:lnSpc>
                <a:spcPct val="100000"/>
              </a:lnSpc>
              <a:spcBef>
                <a:spcPts val="944"/>
              </a:spcBef>
              <a:buFont typeface="Arial MT"/>
              <a:buChar char="•"/>
              <a:tabLst>
                <a:tab pos="355600" algn="l"/>
                <a:tab pos="356235" algn="l"/>
              </a:tabLst>
            </a:pPr>
            <a:r>
              <a:rPr sz="1600" spc="-15" dirty="0">
                <a:latin typeface="Times New Roman" panose="02020603050405020304" pitchFamily="18" charset="0"/>
                <a:cs typeface="Times New Roman" panose="02020603050405020304" pitchFamily="18" charset="0"/>
              </a:rPr>
              <a:t>Quality</a:t>
            </a:r>
            <a:r>
              <a:rPr sz="1600" spc="80"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circle</a:t>
            </a:r>
            <a:r>
              <a:rPr sz="1600" spc="2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is</a:t>
            </a:r>
            <a:r>
              <a:rPr sz="1600" spc="4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a</a:t>
            </a:r>
            <a:r>
              <a:rPr sz="1600" spc="25"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small</a:t>
            </a:r>
            <a:r>
              <a:rPr sz="1600" spc="100"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group</a:t>
            </a:r>
            <a:r>
              <a:rPr sz="1600" spc="7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of </a:t>
            </a:r>
            <a:r>
              <a:rPr sz="1600" spc="-10" dirty="0">
                <a:latin typeface="Times New Roman" panose="02020603050405020304" pitchFamily="18" charset="0"/>
                <a:cs typeface="Times New Roman" panose="02020603050405020304" pitchFamily="18" charset="0"/>
              </a:rPr>
              <a:t>employees.</a:t>
            </a:r>
            <a:endParaRPr sz="1600" dirty="0">
              <a:latin typeface="Times New Roman" panose="02020603050405020304" pitchFamily="18" charset="0"/>
              <a:cs typeface="Times New Roman" panose="02020603050405020304" pitchFamily="18" charset="0"/>
            </a:endParaRPr>
          </a:p>
          <a:p>
            <a:pPr marL="355600" indent="-343535">
              <a:lnSpc>
                <a:spcPct val="100000"/>
              </a:lnSpc>
              <a:spcBef>
                <a:spcPts val="1295"/>
              </a:spcBef>
              <a:buFont typeface="Arial MT"/>
              <a:buChar char="•"/>
              <a:tabLst>
                <a:tab pos="355600" algn="l"/>
                <a:tab pos="356235" algn="l"/>
              </a:tabLst>
            </a:pPr>
            <a:r>
              <a:rPr sz="1600" spc="-15" dirty="0">
                <a:latin typeface="Times New Roman" panose="02020603050405020304" pitchFamily="18" charset="0"/>
                <a:cs typeface="Times New Roman" panose="02020603050405020304" pitchFamily="18" charset="0"/>
              </a:rPr>
              <a:t>Quality</a:t>
            </a:r>
            <a:r>
              <a:rPr sz="1600" spc="80"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circle</a:t>
            </a:r>
            <a:r>
              <a:rPr sz="1600" spc="30" dirty="0">
                <a:latin typeface="Times New Roman" panose="02020603050405020304" pitchFamily="18" charset="0"/>
                <a:cs typeface="Times New Roman" panose="02020603050405020304" pitchFamily="18" charset="0"/>
              </a:rPr>
              <a:t> </a:t>
            </a:r>
            <a:r>
              <a:rPr sz="1600" spc="-25" dirty="0">
                <a:latin typeface="Times New Roman" panose="02020603050405020304" pitchFamily="18" charset="0"/>
                <a:cs typeface="Times New Roman" panose="02020603050405020304" pitchFamily="18" charset="0"/>
              </a:rPr>
              <a:t>is</a:t>
            </a:r>
            <a:r>
              <a:rPr sz="1600" spc="50" dirty="0">
                <a:latin typeface="Times New Roman" panose="02020603050405020304" pitchFamily="18" charset="0"/>
                <a:cs typeface="Times New Roman" panose="02020603050405020304" pitchFamily="18" charset="0"/>
              </a:rPr>
              <a:t> </a:t>
            </a:r>
            <a:r>
              <a:rPr sz="1600" spc="-20" dirty="0">
                <a:latin typeface="Times New Roman" panose="02020603050405020304" pitchFamily="18" charset="0"/>
                <a:cs typeface="Times New Roman" panose="02020603050405020304" pitchFamily="18" charset="0"/>
              </a:rPr>
              <a:t>organized</a:t>
            </a:r>
            <a:r>
              <a:rPr sz="1600" spc="160" dirty="0">
                <a:latin typeface="Times New Roman" panose="02020603050405020304" pitchFamily="18" charset="0"/>
                <a:cs typeface="Times New Roman" panose="02020603050405020304" pitchFamily="18" charset="0"/>
              </a:rPr>
              <a:t> </a:t>
            </a:r>
            <a:r>
              <a:rPr sz="1600" spc="-30" dirty="0">
                <a:latin typeface="Times New Roman" panose="02020603050405020304" pitchFamily="18" charset="0"/>
                <a:cs typeface="Times New Roman" panose="02020603050405020304" pitchFamily="18" charset="0"/>
              </a:rPr>
              <a:t>in</a:t>
            </a:r>
            <a:r>
              <a:rPr sz="1600"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the</a:t>
            </a:r>
            <a:r>
              <a:rPr sz="1600" spc="30"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same</a:t>
            </a:r>
            <a:r>
              <a:rPr sz="1600" spc="35"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work</a:t>
            </a:r>
            <a:endParaRPr lang="en-IN" sz="1600" spc="-10" dirty="0">
              <a:latin typeface="Times New Roman" panose="02020603050405020304" pitchFamily="18" charset="0"/>
              <a:cs typeface="Times New Roman" panose="02020603050405020304" pitchFamily="18" charset="0"/>
            </a:endParaRPr>
          </a:p>
          <a:p>
            <a:pPr marL="12065">
              <a:lnSpc>
                <a:spcPct val="100000"/>
              </a:lnSpc>
              <a:spcBef>
                <a:spcPts val="1295"/>
              </a:spcBef>
              <a:tabLst>
                <a:tab pos="355600" algn="l"/>
                <a:tab pos="356235" algn="l"/>
              </a:tabLst>
            </a:pPr>
            <a:r>
              <a:rPr sz="160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area</a:t>
            </a:r>
            <a:r>
              <a:rPr sz="1600" spc="-4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or</a:t>
            </a:r>
            <a:r>
              <a:rPr sz="160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doing</a:t>
            </a:r>
            <a:r>
              <a:rPr sz="1600" spc="80" dirty="0">
                <a:latin typeface="Times New Roman" panose="02020603050405020304" pitchFamily="18" charset="0"/>
                <a:cs typeface="Times New Roman" panose="02020603050405020304" pitchFamily="18" charset="0"/>
              </a:rPr>
              <a:t> </a:t>
            </a:r>
            <a:r>
              <a:rPr sz="1600" spc="-35" dirty="0">
                <a:latin typeface="Times New Roman" panose="02020603050405020304" pitchFamily="18" charset="0"/>
                <a:cs typeface="Times New Roman" panose="02020603050405020304" pitchFamily="18" charset="0"/>
              </a:rPr>
              <a:t>similar</a:t>
            </a:r>
            <a:r>
              <a:rPr sz="1600" spc="23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type</a:t>
            </a:r>
            <a:r>
              <a:rPr sz="1600" spc="-4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of </a:t>
            </a:r>
            <a:r>
              <a:rPr sz="1600" spc="-5" dirty="0">
                <a:latin typeface="Times New Roman" panose="02020603050405020304" pitchFamily="18" charset="0"/>
                <a:cs typeface="Times New Roman" panose="02020603050405020304" pitchFamily="18" charset="0"/>
              </a:rPr>
              <a:t>work.</a:t>
            </a:r>
            <a:endParaRPr sz="1600" dirty="0">
              <a:latin typeface="Times New Roman" panose="02020603050405020304" pitchFamily="18" charset="0"/>
              <a:cs typeface="Times New Roman" panose="02020603050405020304" pitchFamily="18" charset="0"/>
            </a:endParaRPr>
          </a:p>
          <a:p>
            <a:pPr marL="355600" indent="-343535">
              <a:lnSpc>
                <a:spcPct val="100000"/>
              </a:lnSpc>
              <a:spcBef>
                <a:spcPts val="1295"/>
              </a:spcBef>
              <a:buFont typeface="Arial MT"/>
              <a:buChar char="•"/>
              <a:tabLst>
                <a:tab pos="355600" algn="l"/>
                <a:tab pos="356235" algn="l"/>
              </a:tabLst>
            </a:pPr>
            <a:r>
              <a:rPr sz="1600" spc="-15" dirty="0">
                <a:latin typeface="Times New Roman" panose="02020603050405020304" pitchFamily="18" charset="0"/>
                <a:cs typeface="Times New Roman" panose="02020603050405020304" pitchFamily="18" charset="0"/>
              </a:rPr>
              <a:t>Quality</a:t>
            </a:r>
            <a:r>
              <a:rPr sz="1600" spc="65"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circles</a:t>
            </a:r>
            <a:r>
              <a:rPr sz="1600" spc="45"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are</a:t>
            </a:r>
            <a:r>
              <a:rPr sz="1600" spc="-60"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voluntary.</a:t>
            </a:r>
            <a:endParaRPr sz="1600" dirty="0">
              <a:latin typeface="Times New Roman" panose="02020603050405020304" pitchFamily="18" charset="0"/>
              <a:cs typeface="Times New Roman" panose="02020603050405020304" pitchFamily="18" charset="0"/>
            </a:endParaRPr>
          </a:p>
          <a:p>
            <a:pPr marL="355600" indent="-343535">
              <a:lnSpc>
                <a:spcPct val="100000"/>
              </a:lnSpc>
              <a:spcBef>
                <a:spcPts val="1370"/>
              </a:spcBef>
              <a:buFont typeface="Arial MT"/>
              <a:buChar char="•"/>
              <a:tabLst>
                <a:tab pos="355600" algn="l"/>
                <a:tab pos="356235" algn="l"/>
              </a:tabLst>
            </a:pPr>
            <a:r>
              <a:rPr sz="1600" spc="-15" dirty="0">
                <a:latin typeface="Times New Roman" panose="02020603050405020304" pitchFamily="18" charset="0"/>
                <a:cs typeface="Times New Roman" panose="02020603050405020304" pitchFamily="18" charset="0"/>
              </a:rPr>
              <a:t>Quality</a:t>
            </a:r>
            <a:r>
              <a:rPr sz="1600" spc="80" dirty="0">
                <a:latin typeface="Times New Roman" panose="02020603050405020304" pitchFamily="18" charset="0"/>
                <a:cs typeface="Times New Roman" panose="02020603050405020304" pitchFamily="18" charset="0"/>
              </a:rPr>
              <a:t> </a:t>
            </a:r>
            <a:r>
              <a:rPr sz="1600" spc="-15" dirty="0">
                <a:latin typeface="Times New Roman" panose="02020603050405020304" pitchFamily="18" charset="0"/>
                <a:cs typeface="Times New Roman" panose="02020603050405020304" pitchFamily="18" charset="0"/>
              </a:rPr>
              <a:t>circle</a:t>
            </a:r>
            <a:r>
              <a:rPr sz="1600" spc="30"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leads</a:t>
            </a:r>
            <a:r>
              <a:rPr sz="1600" spc="45"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to</a:t>
            </a:r>
            <a:r>
              <a:rPr sz="1600" spc="-70" dirty="0">
                <a:latin typeface="Times New Roman" panose="02020603050405020304" pitchFamily="18" charset="0"/>
                <a:cs typeface="Times New Roman" panose="02020603050405020304" pitchFamily="18" charset="0"/>
              </a:rPr>
              <a:t> </a:t>
            </a:r>
            <a:r>
              <a:rPr sz="1600" spc="10" dirty="0">
                <a:latin typeface="Times New Roman" panose="02020603050405020304" pitchFamily="18" charset="0"/>
                <a:cs typeface="Times New Roman" panose="02020603050405020304" pitchFamily="18" charset="0"/>
              </a:rPr>
              <a:t>total</a:t>
            </a:r>
            <a:r>
              <a:rPr sz="1600" spc="-45" dirty="0">
                <a:latin typeface="Times New Roman" panose="02020603050405020304" pitchFamily="18" charset="0"/>
                <a:cs typeface="Times New Roman" panose="02020603050405020304" pitchFamily="18" charset="0"/>
              </a:rPr>
              <a:t> </a:t>
            </a:r>
            <a:r>
              <a:rPr sz="1600" dirty="0">
                <a:latin typeface="Times New Roman" panose="02020603050405020304" pitchFamily="18" charset="0"/>
                <a:cs typeface="Times New Roman" panose="02020603050405020304" pitchFamily="18" charset="0"/>
              </a:rPr>
              <a:t>performance.</a:t>
            </a:r>
          </a:p>
        </p:txBody>
      </p:sp>
      <p:sp>
        <p:nvSpPr>
          <p:cNvPr id="10" name="object 10"/>
          <p:cNvSpPr txBox="1">
            <a:spLocks noGrp="1"/>
          </p:cNvSpPr>
          <p:nvPr>
            <p:ph type="ftr" sz="quarter" idx="4294967295"/>
          </p:nvPr>
        </p:nvSpPr>
        <p:spPr>
          <a:xfrm>
            <a:off x="691030" y="6356350"/>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F0483EDD-6D17-4CE0-8BDE-DBF969EEFA37}" type="datetime1">
              <a:rPr lang="en-US" smtClean="0">
                <a:latin typeface="Times New Roman" panose="02020603050405020304" pitchFamily="18" charset="0"/>
                <a:cs typeface="Times New Roman" panose="02020603050405020304" pitchFamily="18" charset="0"/>
              </a:rPr>
              <a:t>5/10/2026</a:t>
            </a:fld>
            <a:endParaRPr lang="en-US">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circle (CO2)</a:t>
            </a:r>
          </a:p>
        </p:txBody>
      </p:sp>
      <p:pic>
        <p:nvPicPr>
          <p:cNvPr id="6" name="Picture 5">
            <a:extLst>
              <a:ext uri="{FF2B5EF4-FFF2-40B4-BE49-F238E27FC236}">
                <a16:creationId xmlns:a16="http://schemas.microsoft.com/office/drawing/2014/main" id="{E7190FF0-058F-2452-9315-395D9B7C0106}"/>
              </a:ext>
            </a:extLst>
          </p:cNvPr>
          <p:cNvPicPr>
            <a:picLocks noChangeAspect="1"/>
          </p:cNvPicPr>
          <p:nvPr/>
        </p:nvPicPr>
        <p:blipFill>
          <a:blip r:embed="rId3"/>
          <a:stretch>
            <a:fillRect/>
          </a:stretch>
        </p:blipFill>
        <p:spPr>
          <a:xfrm>
            <a:off x="4636687" y="2098912"/>
            <a:ext cx="4050113" cy="2168288"/>
          </a:xfrm>
          <a:prstGeom prst="rect">
            <a:avLst/>
          </a:prstGeom>
        </p:spPr>
      </p:pic>
      <p:pic>
        <p:nvPicPr>
          <p:cNvPr id="7" name="object 2">
            <a:extLst>
              <a:ext uri="{FF2B5EF4-FFF2-40B4-BE49-F238E27FC236}">
                <a16:creationId xmlns:a16="http://schemas.microsoft.com/office/drawing/2014/main" id="{19DBD4B5-FE61-34FD-1781-9F95A8F72142}"/>
              </a:ext>
            </a:extLst>
          </p:cNvPr>
          <p:cNvPicPr/>
          <p:nvPr/>
        </p:nvPicPr>
        <p:blipFill>
          <a:blip r:embed="rId4" cstate="print"/>
          <a:stretch>
            <a:fillRect/>
          </a:stretch>
        </p:blipFill>
        <p:spPr>
          <a:xfrm>
            <a:off x="228600" y="4452648"/>
            <a:ext cx="8606006" cy="2268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1600" y="1000125"/>
            <a:ext cx="7343775" cy="5172075"/>
          </a:xfrm>
          <a:prstGeom prst="rect">
            <a:avLst/>
          </a:prstGeom>
        </p:spPr>
      </p:pic>
      <p:sp>
        <p:nvSpPr>
          <p:cNvPr id="10" name="object 10"/>
          <p:cNvSpPr txBox="1">
            <a:spLocks noGrp="1"/>
          </p:cNvSpPr>
          <p:nvPr>
            <p:ph type="ftr" sz="quarter" idx="4294967295"/>
          </p:nvPr>
        </p:nvSpPr>
        <p:spPr>
          <a:xfrm>
            <a:off x="941388" y="6393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12014F76-AEDC-4955-8986-983245806C6F}" type="datetime1">
              <a:rPr lang="en-US" smtClean="0">
                <a:latin typeface="Times New Roman" panose="02020603050405020304" pitchFamily="18" charset="0"/>
                <a:cs typeface="Times New Roman" panose="02020603050405020304" pitchFamily="18" charset="0"/>
              </a:rPr>
              <a:t>5/10/2026</a:t>
            </a:fld>
            <a:endParaRPr lang="en-US">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2600" y="1436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circle (TQM Circle) (CO2)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15988" y="6339879"/>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2FC22E37-6E7C-4EF2-9343-7F24FB128431}" type="datetime1">
              <a:rPr lang="en-US" smtClean="0">
                <a:latin typeface="Times New Roman" panose="02020603050405020304" pitchFamily="18" charset="0"/>
                <a:cs typeface="Times New Roman" panose="02020603050405020304" pitchFamily="18" charset="0"/>
              </a:rPr>
              <a:t>5/10/2026</a:t>
            </a:fld>
            <a:endParaRPr lang="en-US">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2"/>
          <a:stretch>
            <a:fillRect/>
          </a:stretch>
        </p:blipFill>
        <p:spPr>
          <a:xfrm>
            <a:off x="0" y="-5047"/>
            <a:ext cx="1752600" cy="1024530"/>
          </a:xfrm>
          <a:prstGeom prst="rect">
            <a:avLst/>
          </a:prstGeom>
        </p:spPr>
      </p:pic>
      <p:sp>
        <p:nvSpPr>
          <p:cNvPr id="17" name="Title 1">
            <a:extLst>
              <a:ext uri="{FF2B5EF4-FFF2-40B4-BE49-F238E27FC236}">
                <a16:creationId xmlns:a16="http://schemas.microsoft.com/office/drawing/2014/main" id="{1C7BBAA3-263A-8FE5-5AA3-E40EF73A5AE9}"/>
              </a:ext>
            </a:extLst>
          </p:cNvPr>
          <p:cNvSpPr txBox="1">
            <a:spLocks/>
          </p:cNvSpPr>
          <p:nvPr/>
        </p:nvSpPr>
        <p:spPr>
          <a:xfrm>
            <a:off x="1780309" y="-5047"/>
            <a:ext cx="33250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Topic 4:Recognition and Reward (CO2)</a:t>
            </a:r>
          </a:p>
        </p:txBody>
      </p:sp>
      <p:sp>
        <p:nvSpPr>
          <p:cNvPr id="2" name="Rectangle 1"/>
          <p:cNvSpPr/>
          <p:nvPr/>
        </p:nvSpPr>
        <p:spPr>
          <a:xfrm>
            <a:off x="228600" y="1219201"/>
            <a:ext cx="4953000" cy="5262979"/>
          </a:xfrm>
          <a:prstGeom prst="rect">
            <a:avLst/>
          </a:prstGeom>
        </p:spPr>
        <p:txBody>
          <a:bodyPr wrap="square">
            <a:spAutoFit/>
          </a:bodyPr>
          <a:lstStyle/>
          <a:p>
            <a:r>
              <a:rPr lang="en-US" sz="2400" b="1" dirty="0"/>
              <a:t>Definition</a:t>
            </a:r>
          </a:p>
          <a:p>
            <a:r>
              <a:rPr lang="en-US" sz="2400" dirty="0"/>
              <a:t>Recognizing and rewarding employees for good performance and quality </a:t>
            </a:r>
          </a:p>
          <a:p>
            <a:r>
              <a:rPr lang="en-US" sz="2400" dirty="0"/>
              <a:t>improvement.</a:t>
            </a:r>
          </a:p>
          <a:p>
            <a:r>
              <a:rPr lang="en-US" sz="2400" b="1" dirty="0"/>
              <a:t>Types of Rewards</a:t>
            </a:r>
          </a:p>
          <a:p>
            <a:r>
              <a:rPr lang="en-US" sz="2400" dirty="0"/>
              <a:t>Financial rewards </a:t>
            </a:r>
          </a:p>
          <a:p>
            <a:r>
              <a:rPr lang="en-US" sz="2400" dirty="0"/>
              <a:t>Promotions </a:t>
            </a:r>
          </a:p>
          <a:p>
            <a:r>
              <a:rPr lang="en-US" sz="2400" dirty="0"/>
              <a:t>Certificates and awards </a:t>
            </a:r>
          </a:p>
          <a:p>
            <a:r>
              <a:rPr lang="en-US" sz="2400" dirty="0"/>
              <a:t>Appreciation and recognition </a:t>
            </a:r>
          </a:p>
          <a:p>
            <a:r>
              <a:rPr lang="en-US" sz="2400" b="1" dirty="0"/>
              <a:t>Benefits</a:t>
            </a:r>
          </a:p>
          <a:p>
            <a:r>
              <a:rPr lang="en-US" sz="2400" dirty="0"/>
              <a:t>Employee motivation </a:t>
            </a:r>
          </a:p>
          <a:p>
            <a:r>
              <a:rPr lang="en-US" sz="2400" dirty="0"/>
              <a:t>Better performance </a:t>
            </a:r>
          </a:p>
          <a:p>
            <a:r>
              <a:rPr lang="en-US" sz="2400" dirty="0"/>
              <a:t>Increased commitment</a:t>
            </a:r>
          </a:p>
          <a:p>
            <a:pPr algn="just"/>
            <a:endParaRPr lang="en-IN" sz="24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202D9CA2-14C3-F27C-CF82-9871045477C6}"/>
              </a:ext>
            </a:extLst>
          </p:cNvPr>
          <p:cNvSpPr txBox="1">
            <a:spLocks/>
          </p:cNvSpPr>
          <p:nvPr/>
        </p:nvSpPr>
        <p:spPr>
          <a:xfrm>
            <a:off x="5410200" y="11599"/>
            <a:ext cx="3715327"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Topic 5:5S-Kaizen</a:t>
            </a:r>
          </a:p>
        </p:txBody>
      </p:sp>
      <p:sp>
        <p:nvSpPr>
          <p:cNvPr id="4" name="Rectangle 3">
            <a:extLst>
              <a:ext uri="{FF2B5EF4-FFF2-40B4-BE49-F238E27FC236}">
                <a16:creationId xmlns:a16="http://schemas.microsoft.com/office/drawing/2014/main" id="{F4704344-7032-D3C3-2AA5-1462281985ED}"/>
              </a:ext>
            </a:extLst>
          </p:cNvPr>
          <p:cNvSpPr/>
          <p:nvPr/>
        </p:nvSpPr>
        <p:spPr>
          <a:xfrm>
            <a:off x="5066804" y="1091267"/>
            <a:ext cx="4047837" cy="5447645"/>
          </a:xfrm>
          <a:prstGeom prst="rect">
            <a:avLst/>
          </a:prstGeom>
        </p:spPr>
        <p:txBody>
          <a:bodyPr wrap="square">
            <a:spAutoFit/>
          </a:bodyPr>
          <a:lstStyle/>
          <a:p>
            <a:r>
              <a:rPr lang="en-IN" b="1" dirty="0"/>
              <a:t>Definition</a:t>
            </a:r>
          </a:p>
          <a:p>
            <a:r>
              <a:rPr lang="en-IN" dirty="0"/>
              <a:t> A Japanese workplace management technique for cleanliness and efficiency.</a:t>
            </a:r>
          </a:p>
          <a:p>
            <a:r>
              <a:rPr lang="en-IN" b="1" dirty="0"/>
              <a:t>Five S’s</a:t>
            </a:r>
          </a:p>
          <a:p>
            <a:pPr marL="285750" indent="-285750">
              <a:buFont typeface="Arial" panose="020B0604020202020204" pitchFamily="34" charset="0"/>
              <a:buChar char="•"/>
            </a:pPr>
            <a:r>
              <a:rPr lang="en-IN" b="1" dirty="0" err="1"/>
              <a:t>Seiri</a:t>
            </a:r>
            <a:r>
              <a:rPr lang="en-IN" b="1" dirty="0"/>
              <a:t> (Sort)</a:t>
            </a:r>
            <a:r>
              <a:rPr lang="en-IN" dirty="0"/>
              <a:t> – Remove unnecessary items </a:t>
            </a:r>
          </a:p>
          <a:p>
            <a:pPr marL="285750" indent="-285750">
              <a:buFont typeface="Arial" panose="020B0604020202020204" pitchFamily="34" charset="0"/>
              <a:buChar char="•"/>
            </a:pPr>
            <a:r>
              <a:rPr lang="en-IN" b="1" dirty="0" err="1"/>
              <a:t>Seiton</a:t>
            </a:r>
            <a:r>
              <a:rPr lang="en-IN" b="1" dirty="0"/>
              <a:t> (Set in Order)</a:t>
            </a:r>
            <a:r>
              <a:rPr lang="en-IN" dirty="0"/>
              <a:t> – Arrange items properly </a:t>
            </a:r>
          </a:p>
          <a:p>
            <a:pPr marL="285750" indent="-285750">
              <a:buFont typeface="Arial" panose="020B0604020202020204" pitchFamily="34" charset="0"/>
              <a:buChar char="•"/>
            </a:pPr>
            <a:r>
              <a:rPr lang="en-IN" b="1" dirty="0"/>
              <a:t>Seiso (Shine)</a:t>
            </a:r>
            <a:r>
              <a:rPr lang="en-IN" dirty="0"/>
              <a:t> – Clean workplace regularly </a:t>
            </a:r>
          </a:p>
          <a:p>
            <a:pPr marL="285750" indent="-285750">
              <a:buFont typeface="Arial" panose="020B0604020202020204" pitchFamily="34" charset="0"/>
              <a:buChar char="•"/>
            </a:pPr>
            <a:r>
              <a:rPr lang="en-IN" b="1" dirty="0" err="1"/>
              <a:t>Seiketsu</a:t>
            </a:r>
            <a:r>
              <a:rPr lang="en-IN" b="1" dirty="0"/>
              <a:t> (Standardize)</a:t>
            </a:r>
            <a:r>
              <a:rPr lang="en-IN" dirty="0"/>
              <a:t> – Maintain standards </a:t>
            </a:r>
          </a:p>
          <a:p>
            <a:pPr marL="285750" indent="-285750">
              <a:buFont typeface="Arial" panose="020B0604020202020204" pitchFamily="34" charset="0"/>
              <a:buChar char="•"/>
            </a:pPr>
            <a:r>
              <a:rPr lang="en-IN" b="1" dirty="0" err="1"/>
              <a:t>Shitsuke</a:t>
            </a:r>
            <a:r>
              <a:rPr lang="en-IN" b="1" dirty="0"/>
              <a:t> (Sustain)</a:t>
            </a:r>
            <a:r>
              <a:rPr lang="en-IN" dirty="0"/>
              <a:t> – Follow discipline continuously </a:t>
            </a:r>
          </a:p>
          <a:p>
            <a:r>
              <a:rPr lang="en-IN" b="1" dirty="0"/>
              <a:t>Benefits</a:t>
            </a:r>
          </a:p>
          <a:p>
            <a:r>
              <a:rPr lang="en-IN" dirty="0"/>
              <a:t>Safe workplace </a:t>
            </a:r>
          </a:p>
          <a:p>
            <a:r>
              <a:rPr lang="en-IN" dirty="0"/>
              <a:t>Better productivity </a:t>
            </a:r>
          </a:p>
          <a:p>
            <a:r>
              <a:rPr lang="en-IN" dirty="0"/>
              <a:t>Reduced waste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950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21830" y="6384730"/>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10</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48A2297E-9C64-4B14-90DF-2A7F84F9B5B9}" type="datetime1">
              <a:rPr lang="en-US" smtClean="0">
                <a:latin typeface="Times New Roman" panose="02020603050405020304" pitchFamily="18" charset="0"/>
                <a:cs typeface="Times New Roman" panose="02020603050405020304" pitchFamily="18" charset="0"/>
              </a:rPr>
              <a:t>5/10/2026</a:t>
            </a:fld>
            <a:endParaRPr lang="en-US"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TOPIC 6: TQM Gurus</a:t>
            </a:r>
          </a:p>
        </p:txBody>
      </p:sp>
      <p:sp>
        <p:nvSpPr>
          <p:cNvPr id="16" name="Rectangle 3"/>
          <p:cNvSpPr txBox="1">
            <a:spLocks noChangeArrowheads="1"/>
          </p:cNvSpPr>
          <p:nvPr/>
        </p:nvSpPr>
        <p:spPr bwMode="auto">
          <a:xfrm>
            <a:off x="463042" y="1221438"/>
            <a:ext cx="517575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222250" marR="0" lvl="0" indent="-222250"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Quality Gurus</a:t>
            </a:r>
          </a:p>
          <a:p>
            <a:pPr marL="515938" marR="0" lvl="1"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Individuals who have been identified as making a significant contribution to improving the quality of goods and services.</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Walter A. Shewhart</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 Edwards </a:t>
            </a: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Deming</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Joseph M. </a:t>
            </a: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Juran</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Armand Feigenbaum</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Philip </a:t>
            </a: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Crosby</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Genichi Taguchi</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Kaoru Ishikawa</a:t>
            </a:r>
          </a:p>
        </p:txBody>
      </p:sp>
      <p:sp>
        <p:nvSpPr>
          <p:cNvPr id="9" name="TextBox 8">
            <a:extLst>
              <a:ext uri="{FF2B5EF4-FFF2-40B4-BE49-F238E27FC236}">
                <a16:creationId xmlns:a16="http://schemas.microsoft.com/office/drawing/2014/main" id="{3F08468D-DB1F-2B35-50FF-7BEF0C382692}"/>
              </a:ext>
            </a:extLst>
          </p:cNvPr>
          <p:cNvSpPr txBox="1"/>
          <p:nvPr/>
        </p:nvSpPr>
        <p:spPr>
          <a:xfrm>
            <a:off x="5029201" y="1345010"/>
            <a:ext cx="4114800" cy="4893647"/>
          </a:xfrm>
          <a:prstGeom prst="rect">
            <a:avLst/>
          </a:prstGeom>
          <a:noFill/>
        </p:spPr>
        <p:txBody>
          <a:bodyPr wrap="square">
            <a:spAutoFit/>
          </a:bodyPr>
          <a:lstStyle/>
          <a:p>
            <a:pPr>
              <a:buNone/>
            </a:pPr>
            <a:r>
              <a:rPr lang="en-IN" sz="1200" b="1" dirty="0"/>
              <a:t>TQM Gurus</a:t>
            </a:r>
          </a:p>
          <a:p>
            <a:pPr>
              <a:buNone/>
            </a:pPr>
            <a:r>
              <a:rPr lang="en-IN" sz="1400" b="1" dirty="0">
                <a:solidFill>
                  <a:srgbClr val="FF0000"/>
                </a:solidFill>
              </a:rPr>
              <a:t>a) W. Edwards Deming</a:t>
            </a:r>
          </a:p>
          <a:p>
            <a:pPr>
              <a:buFont typeface="Arial" panose="020B0604020202020204" pitchFamily="34" charset="0"/>
              <a:buChar char="•"/>
            </a:pPr>
            <a:r>
              <a:rPr lang="en-IN" sz="1200" dirty="0"/>
              <a:t>Developed 14 points of quality management </a:t>
            </a:r>
          </a:p>
          <a:p>
            <a:pPr>
              <a:buFont typeface="Arial" panose="020B0604020202020204" pitchFamily="34" charset="0"/>
              <a:buChar char="•"/>
            </a:pPr>
            <a:r>
              <a:rPr lang="en-IN" sz="1200" dirty="0"/>
              <a:t>Introduced PDCA cycle </a:t>
            </a:r>
          </a:p>
          <a:p>
            <a:r>
              <a:rPr lang="en-US" sz="1200" b="1" dirty="0"/>
              <a:t>Definition</a:t>
            </a:r>
          </a:p>
          <a:p>
            <a:r>
              <a:rPr lang="en-US" sz="1200" dirty="0"/>
              <a:t>A continuous improvement cycle developed by W. Edwards Deming.</a:t>
            </a:r>
          </a:p>
          <a:p>
            <a:r>
              <a:rPr lang="en-US" sz="1200" b="1" dirty="0"/>
              <a:t>Steps of PDCA</a:t>
            </a:r>
          </a:p>
          <a:p>
            <a:r>
              <a:rPr lang="en-US" sz="1200" b="1" dirty="0"/>
              <a:t>P – Plan</a:t>
            </a:r>
          </a:p>
          <a:p>
            <a:r>
              <a:rPr lang="en-US" sz="1200" dirty="0"/>
              <a:t>Identify problems and plan improvements.</a:t>
            </a:r>
          </a:p>
          <a:p>
            <a:r>
              <a:rPr lang="en-US" sz="1200" b="1" dirty="0"/>
              <a:t>D – Do</a:t>
            </a:r>
          </a:p>
          <a:p>
            <a:r>
              <a:rPr lang="en-US" sz="1200" dirty="0"/>
              <a:t>Implement the plan.</a:t>
            </a:r>
          </a:p>
          <a:p>
            <a:r>
              <a:rPr lang="en-US" sz="1200" b="1" dirty="0"/>
              <a:t>C – Check</a:t>
            </a:r>
          </a:p>
          <a:p>
            <a:r>
              <a:rPr lang="en-US" sz="1200" dirty="0"/>
              <a:t>Check and measure results.</a:t>
            </a:r>
          </a:p>
          <a:p>
            <a:r>
              <a:rPr lang="en-US" sz="1200" b="1" dirty="0"/>
              <a:t>A – Act</a:t>
            </a:r>
          </a:p>
          <a:p>
            <a:r>
              <a:rPr lang="en-US" sz="1200" dirty="0"/>
              <a:t>Take corrective action and standardize improvements.</a:t>
            </a:r>
          </a:p>
          <a:p>
            <a:pPr>
              <a:buFont typeface="Arial" panose="020B0604020202020204" pitchFamily="34" charset="0"/>
              <a:buChar char="•"/>
            </a:pPr>
            <a:endParaRPr lang="en-IN" sz="1200" dirty="0"/>
          </a:p>
          <a:p>
            <a:pPr>
              <a:buNone/>
            </a:pPr>
            <a:r>
              <a:rPr lang="en-IN" sz="1200" b="1" dirty="0">
                <a:solidFill>
                  <a:srgbClr val="FF0000"/>
                </a:solidFill>
              </a:rPr>
              <a:t>b</a:t>
            </a:r>
            <a:r>
              <a:rPr lang="en-IN" sz="1400" b="1" dirty="0">
                <a:solidFill>
                  <a:srgbClr val="FF0000"/>
                </a:solidFill>
              </a:rPr>
              <a:t>) Joseph M. Juran</a:t>
            </a:r>
          </a:p>
          <a:p>
            <a:pPr>
              <a:buFont typeface="Arial" panose="020B0604020202020204" pitchFamily="34" charset="0"/>
              <a:buChar char="•"/>
            </a:pPr>
            <a:r>
              <a:rPr lang="en-IN" sz="1400" dirty="0"/>
              <a:t>Defined quality as “Fitness for use” </a:t>
            </a:r>
          </a:p>
          <a:p>
            <a:pPr>
              <a:buFont typeface="Arial" panose="020B0604020202020204" pitchFamily="34" charset="0"/>
              <a:buChar char="•"/>
            </a:pPr>
            <a:r>
              <a:rPr lang="en-IN" sz="1400" dirty="0"/>
              <a:t>Developed Juran Trilogy </a:t>
            </a:r>
          </a:p>
          <a:p>
            <a:pPr>
              <a:buFont typeface="Arial" panose="020B0604020202020204" pitchFamily="34" charset="0"/>
              <a:buChar char="•"/>
            </a:pPr>
            <a:endParaRPr lang="en-IN" sz="1200" dirty="0"/>
          </a:p>
          <a:p>
            <a:endParaRPr lang="en-IN" sz="1200" dirty="0"/>
          </a:p>
          <a:p>
            <a:pPr>
              <a:buNone/>
            </a:pPr>
            <a:r>
              <a:rPr lang="en-IN" sz="1200" b="1" dirty="0">
                <a:solidFill>
                  <a:srgbClr val="FF0000"/>
                </a:solidFill>
              </a:rPr>
              <a:t>c) </a:t>
            </a:r>
            <a:r>
              <a:rPr lang="en-IN" sz="1400" b="1" dirty="0">
                <a:solidFill>
                  <a:srgbClr val="FF0000"/>
                </a:solidFill>
              </a:rPr>
              <a:t>Philip Crosby</a:t>
            </a:r>
          </a:p>
          <a:p>
            <a:pPr>
              <a:buFont typeface="Arial" panose="020B0604020202020204" pitchFamily="34" charset="0"/>
              <a:buChar char="•"/>
            </a:pPr>
            <a:r>
              <a:rPr lang="en-IN" sz="1400" dirty="0"/>
              <a:t>Concept of “Zero Defects” </a:t>
            </a:r>
          </a:p>
          <a:p>
            <a:pPr>
              <a:buFont typeface="Arial" panose="020B0604020202020204" pitchFamily="34" charset="0"/>
              <a:buChar char="•"/>
            </a:pPr>
            <a:r>
              <a:rPr lang="en-IN" sz="1400" dirty="0"/>
              <a:t>Quality means conformance to requirements</a:t>
            </a:r>
          </a:p>
        </p:txBody>
      </p:sp>
      <p:pic>
        <p:nvPicPr>
          <p:cNvPr id="13" name="Picture 12">
            <a:extLst>
              <a:ext uri="{FF2B5EF4-FFF2-40B4-BE49-F238E27FC236}">
                <a16:creationId xmlns:a16="http://schemas.microsoft.com/office/drawing/2014/main" id="{B180844C-1FD5-895F-262A-9882623552D0}"/>
              </a:ext>
            </a:extLst>
          </p:cNvPr>
          <p:cNvPicPr>
            <a:picLocks noChangeAspect="1"/>
          </p:cNvPicPr>
          <p:nvPr/>
        </p:nvPicPr>
        <p:blipFill>
          <a:blip r:embed="rId6"/>
          <a:stretch>
            <a:fillRect/>
          </a:stretch>
        </p:blipFill>
        <p:spPr>
          <a:xfrm>
            <a:off x="7683135" y="3047999"/>
            <a:ext cx="1084119" cy="1084119"/>
          </a:xfrm>
          <a:prstGeom prst="rect">
            <a:avLst/>
          </a:prstGeom>
        </p:spPr>
      </p:pic>
    </p:spTree>
    <p:extLst>
      <p:ext uri="{BB962C8B-B14F-4D97-AF65-F5344CB8AC3E}">
        <p14:creationId xmlns:p14="http://schemas.microsoft.com/office/powerpoint/2010/main" val="3095471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41388" y="630657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29480235-CF2F-4BA4-A9BB-BDDAEE8F0F55}" type="datetime1">
              <a:rPr lang="en-US" smtClean="0">
                <a:latin typeface="Times New Roman" panose="02020603050405020304" pitchFamily="18" charset="0"/>
                <a:cs typeface="Times New Roman" panose="02020603050405020304" pitchFamily="18" charset="0"/>
              </a:rPr>
              <a:t>5/10/2026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73382" y="4"/>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anose="02020603050405020304" pitchFamily="18" charset="0"/>
                <a:cs typeface="Times New Roman" panose="02020603050405020304" pitchFamily="18" charset="0"/>
              </a:rPr>
              <a:t>Three of the Quality Gurus Compared</a:t>
            </a:r>
          </a:p>
        </p:txBody>
      </p:sp>
      <p:graphicFrame>
        <p:nvGraphicFramePr>
          <p:cNvPr id="3" name="Table 2">
            <a:extLst>
              <a:ext uri="{FF2B5EF4-FFF2-40B4-BE49-F238E27FC236}">
                <a16:creationId xmlns:a16="http://schemas.microsoft.com/office/drawing/2014/main" id="{9F4F7EA9-2819-DEAA-4D2A-4D830D775C41}"/>
              </a:ext>
            </a:extLst>
          </p:cNvPr>
          <p:cNvGraphicFramePr>
            <a:graphicFrameLocks noGrp="1"/>
          </p:cNvGraphicFramePr>
          <p:nvPr>
            <p:extLst>
              <p:ext uri="{D42A27DB-BD31-4B8C-83A1-F6EECF244321}">
                <p14:modId xmlns:p14="http://schemas.microsoft.com/office/powerpoint/2010/main" val="3909132533"/>
              </p:ext>
            </p:extLst>
          </p:nvPr>
        </p:nvGraphicFramePr>
        <p:xfrm>
          <a:off x="228600" y="1233034"/>
          <a:ext cx="8686800" cy="5411412"/>
        </p:xfrm>
        <a:graphic>
          <a:graphicData uri="http://schemas.openxmlformats.org/drawingml/2006/table">
            <a:tbl>
              <a:tblPr>
                <a:tableStyleId>{21E4AEA4-8DFA-4A89-87EB-49C32662AFE0}</a:tableStyleId>
              </a:tblPr>
              <a:tblGrid>
                <a:gridCol w="2114550">
                  <a:extLst>
                    <a:ext uri="{9D8B030D-6E8A-4147-A177-3AD203B41FA5}">
                      <a16:colId xmlns:a16="http://schemas.microsoft.com/office/drawing/2014/main" val="285318727"/>
                    </a:ext>
                  </a:extLst>
                </a:gridCol>
                <a:gridCol w="2114550">
                  <a:extLst>
                    <a:ext uri="{9D8B030D-6E8A-4147-A177-3AD203B41FA5}">
                      <a16:colId xmlns:a16="http://schemas.microsoft.com/office/drawing/2014/main" val="3798362000"/>
                    </a:ext>
                  </a:extLst>
                </a:gridCol>
                <a:gridCol w="2114550">
                  <a:extLst>
                    <a:ext uri="{9D8B030D-6E8A-4147-A177-3AD203B41FA5}">
                      <a16:colId xmlns:a16="http://schemas.microsoft.com/office/drawing/2014/main" val="267581883"/>
                    </a:ext>
                  </a:extLst>
                </a:gridCol>
                <a:gridCol w="2343150">
                  <a:extLst>
                    <a:ext uri="{9D8B030D-6E8A-4147-A177-3AD203B41FA5}">
                      <a16:colId xmlns:a16="http://schemas.microsoft.com/office/drawing/2014/main" val="1393245493"/>
                    </a:ext>
                  </a:extLst>
                </a:gridCol>
              </a:tblGrid>
              <a:tr h="773792">
                <a:tc>
                  <a:txBody>
                    <a:bodyPr/>
                    <a:lstStyle/>
                    <a:p>
                      <a:pPr>
                        <a:buNone/>
                      </a:pPr>
                      <a:r>
                        <a:rPr lang="en-IN" b="1" dirty="0"/>
                        <a:t>Basis</a:t>
                      </a:r>
                    </a:p>
                  </a:txBody>
                  <a:tcPr anchor="ctr"/>
                </a:tc>
                <a:tc>
                  <a:txBody>
                    <a:bodyPr/>
                    <a:lstStyle/>
                    <a:p>
                      <a:pPr>
                        <a:buNone/>
                      </a:pPr>
                      <a:r>
                        <a:rPr lang="en-IN" b="1" dirty="0"/>
                        <a:t>Philip Crosby</a:t>
                      </a:r>
                    </a:p>
                  </a:txBody>
                  <a:tcPr anchor="ctr"/>
                </a:tc>
                <a:tc>
                  <a:txBody>
                    <a:bodyPr/>
                    <a:lstStyle/>
                    <a:p>
                      <a:pPr>
                        <a:buNone/>
                      </a:pPr>
                      <a:r>
                        <a:rPr lang="en-IN" b="1"/>
                        <a:t>W. Edwards Deming</a:t>
                      </a:r>
                    </a:p>
                  </a:txBody>
                  <a:tcPr anchor="ctr"/>
                </a:tc>
                <a:tc>
                  <a:txBody>
                    <a:bodyPr/>
                    <a:lstStyle/>
                    <a:p>
                      <a:pPr>
                        <a:buNone/>
                      </a:pPr>
                      <a:r>
                        <a:rPr lang="en-IN" b="1" dirty="0"/>
                        <a:t>Joseph M. Juran</a:t>
                      </a:r>
                    </a:p>
                  </a:txBody>
                  <a:tcPr anchor="ctr"/>
                </a:tc>
                <a:extLst>
                  <a:ext uri="{0D108BD9-81ED-4DB2-BD59-A6C34878D82A}">
                    <a16:rowId xmlns:a16="http://schemas.microsoft.com/office/drawing/2014/main" val="738439542"/>
                  </a:ext>
                </a:extLst>
              </a:tr>
              <a:tr h="927524">
                <a:tc>
                  <a:txBody>
                    <a:bodyPr/>
                    <a:lstStyle/>
                    <a:p>
                      <a:pPr>
                        <a:buNone/>
                      </a:pPr>
                      <a:r>
                        <a:rPr lang="en-IN"/>
                        <a:t>Main Idea</a:t>
                      </a:r>
                    </a:p>
                  </a:txBody>
                  <a:tcPr anchor="ctr"/>
                </a:tc>
                <a:tc>
                  <a:txBody>
                    <a:bodyPr/>
                    <a:lstStyle/>
                    <a:p>
                      <a:pPr>
                        <a:buNone/>
                      </a:pPr>
                      <a:r>
                        <a:rPr lang="en-IN"/>
                        <a:t>Zero Defects</a:t>
                      </a:r>
                    </a:p>
                  </a:txBody>
                  <a:tcPr anchor="ctr"/>
                </a:tc>
                <a:tc>
                  <a:txBody>
                    <a:bodyPr/>
                    <a:lstStyle/>
                    <a:p>
                      <a:pPr>
                        <a:buNone/>
                      </a:pPr>
                      <a:r>
                        <a:rPr lang="en-IN"/>
                        <a:t>Continuous Improvement</a:t>
                      </a:r>
                    </a:p>
                  </a:txBody>
                  <a:tcPr anchor="ctr"/>
                </a:tc>
                <a:tc>
                  <a:txBody>
                    <a:bodyPr/>
                    <a:lstStyle/>
                    <a:p>
                      <a:pPr>
                        <a:buNone/>
                      </a:pPr>
                      <a:r>
                        <a:rPr lang="en-IN"/>
                        <a:t>Fitness for Use</a:t>
                      </a:r>
                    </a:p>
                  </a:txBody>
                  <a:tcPr anchor="ctr"/>
                </a:tc>
                <a:extLst>
                  <a:ext uri="{0D108BD9-81ED-4DB2-BD59-A6C34878D82A}">
                    <a16:rowId xmlns:a16="http://schemas.microsoft.com/office/drawing/2014/main" val="2800798617"/>
                  </a:ext>
                </a:extLst>
              </a:tr>
              <a:tr h="927524">
                <a:tc>
                  <a:txBody>
                    <a:bodyPr/>
                    <a:lstStyle/>
                    <a:p>
                      <a:pPr>
                        <a:buNone/>
                      </a:pPr>
                      <a:r>
                        <a:rPr lang="en-IN"/>
                        <a:t>Focus</a:t>
                      </a:r>
                    </a:p>
                  </a:txBody>
                  <a:tcPr anchor="ctr"/>
                </a:tc>
                <a:tc>
                  <a:txBody>
                    <a:bodyPr/>
                    <a:lstStyle/>
                    <a:p>
                      <a:pPr>
                        <a:buNone/>
                      </a:pPr>
                      <a:r>
                        <a:rPr lang="en-IN"/>
                        <a:t>Conformance to requirements</a:t>
                      </a:r>
                    </a:p>
                  </a:txBody>
                  <a:tcPr anchor="ctr"/>
                </a:tc>
                <a:tc>
                  <a:txBody>
                    <a:bodyPr/>
                    <a:lstStyle/>
                    <a:p>
                      <a:pPr>
                        <a:buNone/>
                      </a:pPr>
                      <a:r>
                        <a:rPr lang="en-IN" dirty="0"/>
                        <a:t>Process improvement</a:t>
                      </a:r>
                    </a:p>
                  </a:txBody>
                  <a:tcPr anchor="ctr"/>
                </a:tc>
                <a:tc>
                  <a:txBody>
                    <a:bodyPr/>
                    <a:lstStyle/>
                    <a:p>
                      <a:pPr>
                        <a:buNone/>
                      </a:pPr>
                      <a:r>
                        <a:rPr lang="en-IN"/>
                        <a:t>Customer satisfaction</a:t>
                      </a:r>
                    </a:p>
                  </a:txBody>
                  <a:tcPr anchor="ctr"/>
                </a:tc>
                <a:extLst>
                  <a:ext uri="{0D108BD9-81ED-4DB2-BD59-A6C34878D82A}">
                    <a16:rowId xmlns:a16="http://schemas.microsoft.com/office/drawing/2014/main" val="1345329117"/>
                  </a:ext>
                </a:extLst>
              </a:tr>
              <a:tr h="927524">
                <a:tc>
                  <a:txBody>
                    <a:bodyPr/>
                    <a:lstStyle/>
                    <a:p>
                      <a:pPr>
                        <a:buNone/>
                      </a:pPr>
                      <a:r>
                        <a:rPr lang="en-IN"/>
                        <a:t>Famous Concept</a:t>
                      </a:r>
                    </a:p>
                  </a:txBody>
                  <a:tcPr anchor="ctr"/>
                </a:tc>
                <a:tc>
                  <a:txBody>
                    <a:bodyPr/>
                    <a:lstStyle/>
                    <a:p>
                      <a:pPr>
                        <a:buNone/>
                      </a:pPr>
                      <a:r>
                        <a:rPr lang="en-IN"/>
                        <a:t>Zero Defects</a:t>
                      </a:r>
                    </a:p>
                  </a:txBody>
                  <a:tcPr anchor="ctr"/>
                </a:tc>
                <a:tc>
                  <a:txBody>
                    <a:bodyPr/>
                    <a:lstStyle/>
                    <a:p>
                      <a:pPr>
                        <a:buNone/>
                      </a:pPr>
                      <a:r>
                        <a:rPr lang="en-IN"/>
                        <a:t>14 Points &amp; PDCA Cycle</a:t>
                      </a:r>
                    </a:p>
                  </a:txBody>
                  <a:tcPr anchor="ctr"/>
                </a:tc>
                <a:tc>
                  <a:txBody>
                    <a:bodyPr/>
                    <a:lstStyle/>
                    <a:p>
                      <a:pPr>
                        <a:buNone/>
                      </a:pPr>
                      <a:r>
                        <a:rPr lang="en-IN"/>
                        <a:t>Juran Trilogy</a:t>
                      </a:r>
                    </a:p>
                  </a:txBody>
                  <a:tcPr anchor="ctr"/>
                </a:tc>
                <a:extLst>
                  <a:ext uri="{0D108BD9-81ED-4DB2-BD59-A6C34878D82A}">
                    <a16:rowId xmlns:a16="http://schemas.microsoft.com/office/drawing/2014/main" val="1298708637"/>
                  </a:ext>
                </a:extLst>
              </a:tr>
              <a:tr h="927524">
                <a:tc>
                  <a:txBody>
                    <a:bodyPr/>
                    <a:lstStyle/>
                    <a:p>
                      <a:pPr>
                        <a:buNone/>
                      </a:pPr>
                      <a:r>
                        <a:rPr lang="en-IN"/>
                        <a:t>Quality Responsibility</a:t>
                      </a:r>
                    </a:p>
                  </a:txBody>
                  <a:tcPr anchor="ctr"/>
                </a:tc>
                <a:tc>
                  <a:txBody>
                    <a:bodyPr/>
                    <a:lstStyle/>
                    <a:p>
                      <a:pPr>
                        <a:buNone/>
                      </a:pPr>
                      <a:r>
                        <a:rPr lang="en-IN"/>
                        <a:t>Everyone in organization</a:t>
                      </a:r>
                    </a:p>
                  </a:txBody>
                  <a:tcPr anchor="ctr"/>
                </a:tc>
                <a:tc>
                  <a:txBody>
                    <a:bodyPr/>
                    <a:lstStyle/>
                    <a:p>
                      <a:pPr>
                        <a:buNone/>
                      </a:pPr>
                      <a:r>
                        <a:rPr lang="en-IN"/>
                        <a:t>Management leadership</a:t>
                      </a:r>
                    </a:p>
                  </a:txBody>
                  <a:tcPr anchor="ctr"/>
                </a:tc>
                <a:tc>
                  <a:txBody>
                    <a:bodyPr/>
                    <a:lstStyle/>
                    <a:p>
                      <a:pPr>
                        <a:buNone/>
                      </a:pPr>
                      <a:r>
                        <a:rPr lang="en-IN"/>
                        <a:t>Management and planning</a:t>
                      </a:r>
                    </a:p>
                  </a:txBody>
                  <a:tcPr anchor="ctr"/>
                </a:tc>
                <a:extLst>
                  <a:ext uri="{0D108BD9-81ED-4DB2-BD59-A6C34878D82A}">
                    <a16:rowId xmlns:a16="http://schemas.microsoft.com/office/drawing/2014/main" val="3828910327"/>
                  </a:ext>
                </a:extLst>
              </a:tr>
              <a:tr h="927524">
                <a:tc>
                  <a:txBody>
                    <a:bodyPr/>
                    <a:lstStyle/>
                    <a:p>
                      <a:pPr>
                        <a:buNone/>
                      </a:pPr>
                      <a:r>
                        <a:rPr lang="en-IN"/>
                        <a:t>Goal</a:t>
                      </a:r>
                    </a:p>
                  </a:txBody>
                  <a:tcPr anchor="ctr"/>
                </a:tc>
                <a:tc>
                  <a:txBody>
                    <a:bodyPr/>
                    <a:lstStyle/>
                    <a:p>
                      <a:pPr>
                        <a:buNone/>
                      </a:pPr>
                      <a:r>
                        <a:rPr lang="en-IN"/>
                        <a:t>Defect-free products</a:t>
                      </a:r>
                    </a:p>
                  </a:txBody>
                  <a:tcPr anchor="ctr"/>
                </a:tc>
                <a:tc>
                  <a:txBody>
                    <a:bodyPr/>
                    <a:lstStyle/>
                    <a:p>
                      <a:pPr>
                        <a:buNone/>
                      </a:pPr>
                      <a:r>
                        <a:rPr lang="en-IN"/>
                        <a:t>Continuous quality improvement</a:t>
                      </a:r>
                    </a:p>
                  </a:txBody>
                  <a:tcPr anchor="ctr"/>
                </a:tc>
                <a:tc>
                  <a:txBody>
                    <a:bodyPr/>
                    <a:lstStyle/>
                    <a:p>
                      <a:pPr>
                        <a:buNone/>
                      </a:pPr>
                      <a:r>
                        <a:rPr lang="en-IN" dirty="0"/>
                        <a:t>Meeting customer needs</a:t>
                      </a:r>
                    </a:p>
                  </a:txBody>
                  <a:tcPr anchor="ctr"/>
                </a:tc>
                <a:extLst>
                  <a:ext uri="{0D108BD9-81ED-4DB2-BD59-A6C34878D82A}">
                    <a16:rowId xmlns:a16="http://schemas.microsoft.com/office/drawing/2014/main" val="3836890745"/>
                  </a:ext>
                </a:extLst>
              </a:tr>
            </a:tbl>
          </a:graphicData>
        </a:graphic>
      </p:graphicFrame>
    </p:spTree>
    <p:extLst>
      <p:ext uri="{BB962C8B-B14F-4D97-AF65-F5344CB8AC3E}">
        <p14:creationId xmlns:p14="http://schemas.microsoft.com/office/powerpoint/2010/main" val="514171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29C596FF-1310-4DCE-9014-85CD6616A3ED}" type="datetime1">
              <a:rPr lang="en-US" smtClean="0">
                <a:latin typeface="Times New Roman" panose="02020603050405020304" pitchFamily="18" charset="0"/>
                <a:cs typeface="Times New Roman" panose="02020603050405020304" pitchFamily="18" charset="0"/>
              </a:rPr>
              <a:t>5/10/2026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3"/>
          <p:cNvSpPr txBox="1">
            <a:spLocks noChangeArrowheads="1"/>
          </p:cNvSpPr>
          <p:nvPr/>
        </p:nvSpPr>
        <p:spPr bwMode="auto">
          <a:xfrm>
            <a:off x="228600" y="1166019"/>
            <a:ext cx="8229600" cy="294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None/>
              <a:tabLst/>
              <a:defRPr/>
            </a:pPr>
            <a:r>
              <a:rPr kumimoji="0" lang="en-US" altLang="en-US" sz="20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1</a:t>
            </a:r>
            <a:r>
              <a:rPr kumimoji="0" lang="en-US" altLang="en-US" sz="1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.W. Edwards Deming</a:t>
            </a:r>
          </a:p>
          <a:p>
            <a:pPr marL="515938" marR="0" lvl="1"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Advocated Statistical Process Control (SPC)</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Methods which signal shifts in a process that will likely lead to products and/or services not meeting customer requirements.</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Emphasized an overall organizational approach to managing quality.</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Demonstrated that quality products are less costly than poor quality products.</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Identified 14 points critical for improving quality.</a:t>
            </a:r>
          </a:p>
          <a:p>
            <a:pPr marL="515938" marR="0" lvl="1"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The Deming Prize</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Highest award for industrial excellence in Japan.</a:t>
            </a:r>
          </a:p>
        </p:txBody>
      </p:sp>
      <p:sp>
        <p:nvSpPr>
          <p:cNvPr id="3" name="TextBox 2">
            <a:extLst>
              <a:ext uri="{FF2B5EF4-FFF2-40B4-BE49-F238E27FC236}">
                <a16:creationId xmlns:a16="http://schemas.microsoft.com/office/drawing/2014/main" id="{EBD79020-D7A3-9832-5F43-A354D300873D}"/>
              </a:ext>
            </a:extLst>
          </p:cNvPr>
          <p:cNvSpPr txBox="1"/>
          <p:nvPr/>
        </p:nvSpPr>
        <p:spPr>
          <a:xfrm>
            <a:off x="228600" y="3503235"/>
            <a:ext cx="8458200" cy="2616101"/>
          </a:xfrm>
          <a:prstGeom prst="rect">
            <a:avLst/>
          </a:prstGeom>
          <a:noFill/>
        </p:spPr>
        <p:txBody>
          <a:bodyPr wrap="square">
            <a:spAutoFit/>
          </a:bodyPr>
          <a:lstStyle/>
          <a:p>
            <a:pPr marL="0" indent="0">
              <a:buNone/>
              <a:tabLst>
                <a:tab pos="2511425" algn="l"/>
                <a:tab pos="3376613" algn="l"/>
                <a:tab pos="3773488" algn="l"/>
              </a:tabLst>
            </a:pPr>
            <a:r>
              <a:rPr lang="en-US" altLang="en-US" sz="2000" dirty="0">
                <a:solidFill>
                  <a:srgbClr val="FF0000"/>
                </a:solidFill>
                <a:latin typeface="Times New Roman" panose="02020603050405020304" pitchFamily="18" charset="0"/>
                <a:cs typeface="Times New Roman" panose="02020603050405020304" pitchFamily="18" charset="0"/>
              </a:rPr>
              <a:t>2.</a:t>
            </a:r>
            <a:r>
              <a:rPr lang="en-US" altLang="en-US" sz="1600" dirty="0">
                <a:solidFill>
                  <a:srgbClr val="FF0000"/>
                </a:solidFill>
                <a:latin typeface="Times New Roman" panose="02020603050405020304" pitchFamily="18" charset="0"/>
                <a:cs typeface="Times New Roman" panose="02020603050405020304" pitchFamily="18" charset="0"/>
              </a:rPr>
              <a:t>Joseph M. Juran</a:t>
            </a:r>
          </a:p>
          <a:p>
            <a:pPr marL="628650" lvl="1"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Emphasized the importance of producing quality products through an approach focused on quality planning, control, and improvement.</a:t>
            </a:r>
          </a:p>
          <a:p>
            <a:pPr marL="628650" lvl="1"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Defined product quality as “fitness for use” as viewed by the customer in:</a:t>
            </a:r>
          </a:p>
          <a:p>
            <a:pPr marL="915987" lvl="2"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Quality of design	• Quality of conformance</a:t>
            </a:r>
          </a:p>
          <a:p>
            <a:pPr marL="915987" lvl="2"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Availability	• Safety	• Field use</a:t>
            </a:r>
          </a:p>
          <a:p>
            <a:pPr marL="628650" lvl="1"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Categorized the cost of quality as:</a:t>
            </a:r>
          </a:p>
          <a:p>
            <a:pPr marL="915987" lvl="2"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Cost of prevention</a:t>
            </a:r>
          </a:p>
          <a:p>
            <a:pPr marL="915987" lvl="2"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Cost of detection/appraisal</a:t>
            </a:r>
          </a:p>
          <a:p>
            <a:pPr marL="915987" lvl="2" indent="-285750">
              <a:buFont typeface="Arial" panose="020B0604020202020204" pitchFamily="34" charset="0"/>
              <a:buChar char="•"/>
              <a:tabLst>
                <a:tab pos="2511425" algn="l"/>
                <a:tab pos="3376613" algn="l"/>
                <a:tab pos="3773488" algn="l"/>
              </a:tabLst>
            </a:pPr>
            <a:r>
              <a:rPr lang="en-US" altLang="en-US" sz="1600" dirty="0">
                <a:latin typeface="Times New Roman" panose="02020603050405020304" pitchFamily="18" charset="0"/>
                <a:cs typeface="Times New Roman" panose="02020603050405020304" pitchFamily="18" charset="0"/>
              </a:rPr>
              <a:t>Cost of failure</a:t>
            </a:r>
            <a:endParaRPr lang="en-IN" sz="1600" dirty="0"/>
          </a:p>
        </p:txBody>
      </p:sp>
    </p:spTree>
    <p:extLst>
      <p:ext uri="{BB962C8B-B14F-4D97-AF65-F5344CB8AC3E}">
        <p14:creationId xmlns:p14="http://schemas.microsoft.com/office/powerpoint/2010/main" val="4217076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EB18DC5-BA04-4669-98FA-A2AB6DCAC866}" type="datetime1">
              <a:rPr lang="en-US" smtClean="0"/>
              <a:t>5/10/2026</a:t>
            </a:fld>
            <a:endParaRPr lang="en-US"/>
          </a:p>
        </p:txBody>
      </p:sp>
      <p:sp>
        <p:nvSpPr>
          <p:cNvPr id="5" name="Slide Number Placeholder 4"/>
          <p:cNvSpPr>
            <a:spLocks noGrp="1"/>
          </p:cNvSpPr>
          <p:nvPr>
            <p:ph type="sldNum" sz="quarter" idx="12"/>
          </p:nvPr>
        </p:nvSpPr>
        <p:spPr/>
        <p:txBody>
          <a:bodyPr/>
          <a:lstStyle/>
          <a:p>
            <a:fld id="{98942D1A-943E-4A86-8308-2F95E8B419B7}" type="slidenum">
              <a:rPr lang="en-US" smtClean="0"/>
              <a:pPr/>
              <a:t>13</a:t>
            </a:fld>
            <a:endParaRPr lang="en-US"/>
          </a:p>
        </p:txBody>
      </p:sp>
      <p:pic>
        <p:nvPicPr>
          <p:cNvPr id="6" name="Picture 5"/>
          <p:cNvPicPr>
            <a:picLocks noChangeAspect="1"/>
          </p:cNvPicPr>
          <p:nvPr/>
        </p:nvPicPr>
        <p:blipFill>
          <a:blip r:embed="rId2"/>
          <a:stretch>
            <a:fillRect/>
          </a:stretch>
        </p:blipFill>
        <p:spPr>
          <a:xfrm>
            <a:off x="27709" y="97335"/>
            <a:ext cx="1752600" cy="1024530"/>
          </a:xfrm>
          <a:prstGeom prst="rect">
            <a:avLst/>
          </a:prstGeom>
        </p:spPr>
      </p:pic>
      <p:sp>
        <p:nvSpPr>
          <p:cNvPr id="8" name="Rectangle 2"/>
          <p:cNvSpPr>
            <a:spLocks noGrp="1" noChangeArrowheads="1"/>
          </p:cNvSpPr>
          <p:nvPr>
            <p:ph type="title"/>
          </p:nvPr>
        </p:nvSpPr>
        <p:spPr>
          <a:xfrm>
            <a:off x="228600" y="0"/>
            <a:ext cx="8229600" cy="609600"/>
          </a:xfrm>
        </p:spPr>
        <p:txBody>
          <a:bodyPr>
            <a:normAutofit fontScale="90000"/>
          </a:bodyPr>
          <a:lstStyle/>
          <a:p>
            <a:pPr eaLnBrk="1" hangingPunct="1"/>
            <a:r>
              <a:rPr lang="en-US" altLang="en-US" sz="3600" dirty="0">
                <a:solidFill>
                  <a:srgbClr val="FF0000"/>
                </a:solidFill>
                <a:latin typeface="Times New Roman" panose="02020603050405020304" pitchFamily="18" charset="0"/>
                <a:cs typeface="Times New Roman" panose="02020603050405020304" pitchFamily="18" charset="0"/>
              </a:rPr>
              <a:t>The Juran philosophy</a:t>
            </a:r>
          </a:p>
        </p:txBody>
      </p:sp>
      <p:sp>
        <p:nvSpPr>
          <p:cNvPr id="9" name="Rectangle 3"/>
          <p:cNvSpPr txBox="1">
            <a:spLocks noChangeArrowheads="1"/>
          </p:cNvSpPr>
          <p:nvPr/>
        </p:nvSpPr>
        <p:spPr>
          <a:xfrm>
            <a:off x="1219201" y="632008"/>
            <a:ext cx="7239000" cy="1828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nSpc>
                <a:spcPct val="80000"/>
              </a:lnSpc>
            </a:pPr>
            <a:r>
              <a:rPr lang="en-US" altLang="en-US" sz="2000" dirty="0">
                <a:latin typeface="Times New Roman" panose="02020603050405020304" pitchFamily="18" charset="0"/>
              </a:rPr>
              <a:t>Pursue quality on two levels:</a:t>
            </a:r>
          </a:p>
          <a:p>
            <a:pPr marL="609600" indent="-609600">
              <a:lnSpc>
                <a:spcPct val="80000"/>
              </a:lnSpc>
              <a:buClr>
                <a:schemeClr val="tx1"/>
              </a:buClr>
              <a:buFontTx/>
              <a:buAutoNum type="arabicPeriod"/>
            </a:pPr>
            <a:r>
              <a:rPr lang="en-US" altLang="en-US" sz="2000" dirty="0">
                <a:latin typeface="Times New Roman" panose="02020603050405020304" pitchFamily="18" charset="0"/>
              </a:rPr>
              <a:t>The </a:t>
            </a:r>
            <a:r>
              <a:rPr lang="en-US" altLang="en-US" sz="2000" i="1" dirty="0">
                <a:solidFill>
                  <a:srgbClr val="5B6BFF"/>
                </a:solidFill>
                <a:latin typeface="Times New Roman" panose="02020603050405020304" pitchFamily="18" charset="0"/>
              </a:rPr>
              <a:t>mission of the firm</a:t>
            </a:r>
            <a:r>
              <a:rPr lang="en-US" altLang="en-US" sz="2000" dirty="0">
                <a:latin typeface="Times New Roman" panose="02020603050405020304" pitchFamily="18" charset="0"/>
              </a:rPr>
              <a:t> as a whole is to achieve high </a:t>
            </a:r>
            <a:r>
              <a:rPr lang="en-US" altLang="en-US" sz="2000" i="1" dirty="0">
                <a:solidFill>
                  <a:srgbClr val="5B6BFF"/>
                </a:solidFill>
                <a:latin typeface="Times New Roman" panose="02020603050405020304" pitchFamily="18" charset="0"/>
              </a:rPr>
              <a:t>product quality</a:t>
            </a:r>
            <a:r>
              <a:rPr lang="en-US" altLang="en-US" sz="2000" dirty="0">
                <a:latin typeface="Times New Roman" panose="02020603050405020304" pitchFamily="18" charset="0"/>
              </a:rPr>
              <a:t>.</a:t>
            </a:r>
          </a:p>
          <a:p>
            <a:pPr marL="609600" indent="-609600">
              <a:lnSpc>
                <a:spcPct val="80000"/>
              </a:lnSpc>
              <a:buClr>
                <a:schemeClr val="tx1"/>
              </a:buClr>
              <a:buFontTx/>
              <a:buAutoNum type="arabicPeriod"/>
            </a:pPr>
            <a:r>
              <a:rPr lang="en-US" altLang="en-US" sz="2000" dirty="0">
                <a:latin typeface="Times New Roman" panose="02020603050405020304" pitchFamily="18" charset="0"/>
              </a:rPr>
              <a:t>The </a:t>
            </a:r>
            <a:r>
              <a:rPr lang="en-US" altLang="en-US" sz="2000" i="1" dirty="0">
                <a:solidFill>
                  <a:srgbClr val="5B6BFF"/>
                </a:solidFill>
                <a:latin typeface="Times New Roman" panose="02020603050405020304" pitchFamily="18" charset="0"/>
              </a:rPr>
              <a:t>mission of each individual department</a:t>
            </a:r>
            <a:r>
              <a:rPr lang="en-US" altLang="en-US" sz="2000" dirty="0">
                <a:latin typeface="Times New Roman" panose="02020603050405020304" pitchFamily="18" charset="0"/>
              </a:rPr>
              <a:t> is to achieve high </a:t>
            </a:r>
            <a:r>
              <a:rPr lang="en-US" altLang="en-US" sz="2000" i="1" dirty="0">
                <a:solidFill>
                  <a:srgbClr val="5B6BFF"/>
                </a:solidFill>
                <a:latin typeface="Times New Roman" panose="02020603050405020304" pitchFamily="18" charset="0"/>
              </a:rPr>
              <a:t>production quality</a:t>
            </a:r>
            <a:r>
              <a:rPr lang="en-US" altLang="en-US" sz="2000" dirty="0">
                <a:latin typeface="Times New Roman" panose="02020603050405020304" pitchFamily="18" charset="0"/>
              </a:rPr>
              <a:t>.</a:t>
            </a:r>
          </a:p>
          <a:p>
            <a:pPr marL="0" indent="0">
              <a:lnSpc>
                <a:spcPct val="80000"/>
              </a:lnSpc>
              <a:buNone/>
            </a:pPr>
            <a:r>
              <a:rPr lang="en-US" altLang="en-US" sz="2000" dirty="0">
                <a:latin typeface="Times New Roman" panose="02020603050405020304" pitchFamily="18" charset="0"/>
              </a:rPr>
              <a:t>Quality should be talked about in a language senior management understands: </a:t>
            </a:r>
            <a:r>
              <a:rPr lang="en-US" altLang="en-US" sz="2000" dirty="0">
                <a:solidFill>
                  <a:srgbClr val="FF3300"/>
                </a:solidFill>
                <a:latin typeface="Times New Roman" panose="02020603050405020304" pitchFamily="18" charset="0"/>
              </a:rPr>
              <a:t>money (cost of poor quality)</a:t>
            </a:r>
            <a:r>
              <a:rPr lang="en-US" altLang="en-US" sz="2000" dirty="0">
                <a:latin typeface="Times New Roman" panose="02020603050405020304" pitchFamily="18" charset="0"/>
              </a:rPr>
              <a:t>.</a:t>
            </a:r>
          </a:p>
        </p:txBody>
      </p:sp>
      <p:sp>
        <p:nvSpPr>
          <p:cNvPr id="10" name="TextBox 9">
            <a:extLst>
              <a:ext uri="{FF2B5EF4-FFF2-40B4-BE49-F238E27FC236}">
                <a16:creationId xmlns:a16="http://schemas.microsoft.com/office/drawing/2014/main" id="{BE92E66F-0180-6CC1-909E-58A93DC77A35}"/>
              </a:ext>
            </a:extLst>
          </p:cNvPr>
          <p:cNvSpPr txBox="1"/>
          <p:nvPr/>
        </p:nvSpPr>
        <p:spPr>
          <a:xfrm>
            <a:off x="195943" y="2574059"/>
            <a:ext cx="8730343" cy="2308324"/>
          </a:xfrm>
          <a:prstGeom prst="rect">
            <a:avLst/>
          </a:prstGeom>
          <a:noFill/>
        </p:spPr>
        <p:txBody>
          <a:bodyPr wrap="square">
            <a:spAutoFit/>
          </a:bodyPr>
          <a:lstStyle/>
          <a:p>
            <a:pPr marL="609600" indent="-609600" algn="just">
              <a:buFontTx/>
              <a:buNone/>
            </a:pPr>
            <a:r>
              <a:rPr lang="en-US" altLang="en-US" sz="1800" b="1" dirty="0">
                <a:latin typeface="Times New Roman" panose="02020603050405020304" pitchFamily="18" charset="0"/>
              </a:rPr>
              <a:t>Quality Trilogy – </a:t>
            </a:r>
          </a:p>
          <a:p>
            <a:pPr marL="609600" indent="-609600" algn="just">
              <a:buClr>
                <a:schemeClr val="tx1"/>
              </a:buClr>
              <a:buFontTx/>
              <a:buAutoNum type="arabicPeriod"/>
            </a:pPr>
            <a:r>
              <a:rPr lang="en-US" altLang="en-US" sz="1800" i="1" dirty="0">
                <a:solidFill>
                  <a:srgbClr val="5B6BFF"/>
                </a:solidFill>
                <a:latin typeface="Times New Roman" panose="02020603050405020304" pitchFamily="18" charset="0"/>
              </a:rPr>
              <a:t>Quality planning</a:t>
            </a:r>
            <a:r>
              <a:rPr lang="en-US" altLang="en-US" sz="1800" dirty="0">
                <a:latin typeface="Times New Roman" panose="02020603050405020304" pitchFamily="18" charset="0"/>
              </a:rPr>
              <a:t>: Process of preparing to meet quality goals. Involves understanding customer needs and developing product features.</a:t>
            </a:r>
          </a:p>
          <a:p>
            <a:pPr marL="609600" indent="-609600" algn="just">
              <a:buClr>
                <a:schemeClr val="tx1"/>
              </a:buClr>
              <a:buFontTx/>
              <a:buAutoNum type="arabicPeriod"/>
            </a:pPr>
            <a:r>
              <a:rPr lang="en-US" altLang="en-US" sz="1800" i="1" dirty="0">
                <a:solidFill>
                  <a:srgbClr val="5B6BFF"/>
                </a:solidFill>
                <a:latin typeface="Times New Roman" panose="02020603050405020304" pitchFamily="18" charset="0"/>
              </a:rPr>
              <a:t>Quality control</a:t>
            </a:r>
            <a:r>
              <a:rPr lang="en-US" altLang="en-US" sz="1800" dirty="0">
                <a:latin typeface="Times New Roman" panose="02020603050405020304" pitchFamily="18" charset="0"/>
              </a:rPr>
              <a:t>: Process of meeting quality goals during operations. Control parameters. Measuring the deviation and taking action.</a:t>
            </a:r>
          </a:p>
          <a:p>
            <a:pPr marL="609600" indent="-609600" algn="just">
              <a:buClr>
                <a:schemeClr val="tx1"/>
              </a:buClr>
              <a:buFontTx/>
              <a:buAutoNum type="arabicPeriod"/>
            </a:pPr>
            <a:r>
              <a:rPr lang="en-US" altLang="en-US" sz="1800" i="1" dirty="0">
                <a:solidFill>
                  <a:srgbClr val="5B6BFF"/>
                </a:solidFill>
                <a:latin typeface="Times New Roman" panose="02020603050405020304" pitchFamily="18" charset="0"/>
              </a:rPr>
              <a:t>Quality improvement</a:t>
            </a:r>
            <a:r>
              <a:rPr lang="en-US" altLang="en-US" sz="1800" dirty="0">
                <a:latin typeface="Times New Roman" panose="02020603050405020304" pitchFamily="18" charset="0"/>
              </a:rPr>
              <a:t>: Process for breaking through to unprecedented levels of performance. Identify areas of improvement and get the right people to bring about the change.</a:t>
            </a:r>
          </a:p>
        </p:txBody>
      </p:sp>
      <p:sp>
        <p:nvSpPr>
          <p:cNvPr id="12" name="TextBox 11">
            <a:extLst>
              <a:ext uri="{FF2B5EF4-FFF2-40B4-BE49-F238E27FC236}">
                <a16:creationId xmlns:a16="http://schemas.microsoft.com/office/drawing/2014/main" id="{9AE83217-7B15-6B60-A64C-CB9B6E1146AF}"/>
              </a:ext>
            </a:extLst>
          </p:cNvPr>
          <p:cNvSpPr txBox="1"/>
          <p:nvPr/>
        </p:nvSpPr>
        <p:spPr>
          <a:xfrm>
            <a:off x="457200" y="4918582"/>
            <a:ext cx="8600704" cy="1692771"/>
          </a:xfrm>
          <a:prstGeom prst="rect">
            <a:avLst/>
          </a:prstGeom>
          <a:noFill/>
        </p:spPr>
        <p:txBody>
          <a:bodyPr wrap="square">
            <a:spAutoFit/>
          </a:bodyPr>
          <a:lstStyle/>
          <a:p>
            <a:pPr marL="0" indent="0">
              <a:buNone/>
            </a:pPr>
            <a:r>
              <a:rPr lang="en-US" altLang="en-US" sz="2400" dirty="0">
                <a:solidFill>
                  <a:srgbClr val="FF0000"/>
                </a:solidFill>
                <a:latin typeface="Times New Roman" panose="02020603050405020304" pitchFamily="18" charset="0"/>
                <a:cs typeface="Times New Roman" panose="02020603050405020304" pitchFamily="18" charset="0"/>
              </a:rPr>
              <a:t>3.Armand Feigenbaum</a:t>
            </a:r>
          </a:p>
          <a:p>
            <a:pPr marL="515938" lvl="1" indent="-173038"/>
            <a:r>
              <a:rPr lang="en-US" altLang="en-US" sz="2000" dirty="0">
                <a:latin typeface="Times New Roman" panose="02020603050405020304" pitchFamily="18" charset="0"/>
                <a:cs typeface="Times New Roman" panose="02020603050405020304" pitchFamily="18" charset="0"/>
              </a:rPr>
              <a:t>Proposed the concept of “total quality control,” making quality everyone’s responsibility.</a:t>
            </a:r>
          </a:p>
          <a:p>
            <a:pPr marL="803275" lvl="2" indent="-173038"/>
            <a:r>
              <a:rPr lang="en-US" altLang="en-US" sz="2000" dirty="0">
                <a:latin typeface="Times New Roman" panose="02020603050405020304" pitchFamily="18" charset="0"/>
                <a:cs typeface="Times New Roman" panose="02020603050405020304" pitchFamily="18" charset="0"/>
              </a:rPr>
              <a:t>Stressed interdepartmental communication.</a:t>
            </a:r>
          </a:p>
          <a:p>
            <a:pPr marL="803275" lvl="2" indent="-173038"/>
            <a:r>
              <a:rPr lang="en-US" altLang="en-US" sz="2000" dirty="0">
                <a:latin typeface="Times New Roman" panose="02020603050405020304" pitchFamily="18" charset="0"/>
                <a:cs typeface="Times New Roman" panose="02020603050405020304" pitchFamily="18" charset="0"/>
              </a:rPr>
              <a:t>Emphasized careful measurement and report of quality costs</a:t>
            </a:r>
          </a:p>
        </p:txBody>
      </p:sp>
    </p:spTree>
    <p:extLst>
      <p:ext uri="{BB962C8B-B14F-4D97-AF65-F5344CB8AC3E}">
        <p14:creationId xmlns:p14="http://schemas.microsoft.com/office/powerpoint/2010/main" val="1635581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7505BAC-F36D-4566-9F34-B7D4FA3C2EDF}" type="datetime1">
              <a:rPr lang="en-US" smtClean="0"/>
              <a:t>5/10/2026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14</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80309" y="-2540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9" name="Rectangle 3"/>
          <p:cNvSpPr txBox="1">
            <a:spLocks noChangeArrowheads="1"/>
          </p:cNvSpPr>
          <p:nvPr/>
        </p:nvSpPr>
        <p:spPr>
          <a:xfrm>
            <a:off x="631372" y="2353808"/>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Tx/>
              <a:buNone/>
            </a:pPr>
            <a:r>
              <a:rPr lang="en-US" altLang="en-US" sz="2000" dirty="0">
                <a:solidFill>
                  <a:srgbClr val="FF3300"/>
                </a:solidFill>
                <a:latin typeface="Times New Roman" panose="02020603050405020304" pitchFamily="18" charset="0"/>
              </a:rPr>
              <a:t>Basic Elements of Improvement</a:t>
            </a:r>
            <a:r>
              <a:rPr lang="en-US" altLang="en-US" sz="2000" dirty="0">
                <a:latin typeface="Times New Roman" panose="02020603050405020304" pitchFamily="18" charset="0"/>
              </a:rPr>
              <a:t> </a:t>
            </a:r>
          </a:p>
          <a:p>
            <a:pPr>
              <a:lnSpc>
                <a:spcPct val="90000"/>
              </a:lnSpc>
            </a:pPr>
            <a:r>
              <a:rPr lang="en-US" altLang="en-US" sz="2000" i="1" dirty="0">
                <a:solidFill>
                  <a:srgbClr val="5B6BFF"/>
                </a:solidFill>
                <a:latin typeface="Times New Roman" panose="02020603050405020304" pitchFamily="18" charset="0"/>
              </a:rPr>
              <a:t>Determination</a:t>
            </a:r>
            <a:r>
              <a:rPr lang="en-US" altLang="en-US" sz="2000" dirty="0">
                <a:solidFill>
                  <a:srgbClr val="5B6BFF"/>
                </a:solidFill>
                <a:latin typeface="Times New Roman" panose="02020603050405020304" pitchFamily="18" charset="0"/>
              </a:rPr>
              <a:t> </a:t>
            </a:r>
            <a:r>
              <a:rPr lang="en-US" altLang="en-US" sz="2000" dirty="0">
                <a:latin typeface="Times New Roman" panose="02020603050405020304" pitchFamily="18" charset="0"/>
              </a:rPr>
              <a:t>(commitment by the top management)</a:t>
            </a:r>
          </a:p>
          <a:p>
            <a:pPr>
              <a:lnSpc>
                <a:spcPct val="90000"/>
              </a:lnSpc>
            </a:pPr>
            <a:r>
              <a:rPr lang="en-US" altLang="en-US" sz="2000" i="1" dirty="0">
                <a:solidFill>
                  <a:srgbClr val="5B6BFF"/>
                </a:solidFill>
                <a:latin typeface="Times New Roman" panose="02020603050405020304" pitchFamily="18" charset="0"/>
              </a:rPr>
              <a:t>Education</a:t>
            </a:r>
            <a:r>
              <a:rPr lang="en-US" altLang="en-US" sz="2000" dirty="0">
                <a:latin typeface="Times New Roman" panose="02020603050405020304" pitchFamily="18" charset="0"/>
              </a:rPr>
              <a:t> (of the employees towards Zero Defects (ZD))</a:t>
            </a:r>
          </a:p>
          <a:p>
            <a:pPr>
              <a:lnSpc>
                <a:spcPct val="90000"/>
              </a:lnSpc>
            </a:pPr>
            <a:r>
              <a:rPr lang="en-US" altLang="en-US" sz="2000" i="1" dirty="0">
                <a:solidFill>
                  <a:srgbClr val="5B6BFF"/>
                </a:solidFill>
                <a:latin typeface="Times New Roman" panose="02020603050405020304" pitchFamily="18" charset="0"/>
              </a:rPr>
              <a:t>Implementation</a:t>
            </a:r>
            <a:r>
              <a:rPr lang="en-US" altLang="en-US" sz="2000" dirty="0">
                <a:latin typeface="Times New Roman" panose="02020603050405020304" pitchFamily="18" charset="0"/>
              </a:rPr>
              <a:t> (of the organizational processes towards ZD)</a:t>
            </a:r>
          </a:p>
        </p:txBody>
      </p:sp>
      <p:sp>
        <p:nvSpPr>
          <p:cNvPr id="10" name="TextBox 9">
            <a:extLst>
              <a:ext uri="{FF2B5EF4-FFF2-40B4-BE49-F238E27FC236}">
                <a16:creationId xmlns:a16="http://schemas.microsoft.com/office/drawing/2014/main" id="{FE5CA49D-AC9D-06D1-767D-3620FB1CB4B7}"/>
              </a:ext>
            </a:extLst>
          </p:cNvPr>
          <p:cNvSpPr txBox="1"/>
          <p:nvPr/>
        </p:nvSpPr>
        <p:spPr>
          <a:xfrm>
            <a:off x="283028" y="1195668"/>
            <a:ext cx="8235043" cy="1323439"/>
          </a:xfrm>
          <a:prstGeom prst="rect">
            <a:avLst/>
          </a:prstGeom>
          <a:noFill/>
        </p:spPr>
        <p:txBody>
          <a:bodyPr wrap="square">
            <a:spAutoFit/>
          </a:bodyPr>
          <a:lstStyle/>
          <a:p>
            <a:pPr marL="0" indent="0">
              <a:buNone/>
            </a:pPr>
            <a:r>
              <a:rPr lang="en-US" altLang="en-US" sz="2000" dirty="0">
                <a:solidFill>
                  <a:srgbClr val="FF0000"/>
                </a:solidFill>
                <a:latin typeface="Times New Roman" panose="02020603050405020304" pitchFamily="18" charset="0"/>
                <a:cs typeface="Times New Roman" panose="02020603050405020304" pitchFamily="18" charset="0"/>
              </a:rPr>
              <a:t>4.Philip Crosby</a:t>
            </a:r>
          </a:p>
          <a:p>
            <a:pPr marL="685800" lvl="1"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Preached that “quality is free.”</a:t>
            </a:r>
          </a:p>
          <a:p>
            <a:pPr marL="685800" lvl="1"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Believed that an organization can reduce overall costs by improving the overall quality of its processes.</a:t>
            </a:r>
          </a:p>
        </p:txBody>
      </p:sp>
      <p:sp>
        <p:nvSpPr>
          <p:cNvPr id="14" name="TextBox 13">
            <a:extLst>
              <a:ext uri="{FF2B5EF4-FFF2-40B4-BE49-F238E27FC236}">
                <a16:creationId xmlns:a16="http://schemas.microsoft.com/office/drawing/2014/main" id="{E4552381-63BF-17C2-F3B5-A5AB13F68961}"/>
              </a:ext>
            </a:extLst>
          </p:cNvPr>
          <p:cNvSpPr txBox="1"/>
          <p:nvPr/>
        </p:nvSpPr>
        <p:spPr>
          <a:xfrm>
            <a:off x="283028" y="3677247"/>
            <a:ext cx="8860972" cy="2554545"/>
          </a:xfrm>
          <a:prstGeom prst="rect">
            <a:avLst/>
          </a:prstGeom>
          <a:noFill/>
        </p:spPr>
        <p:txBody>
          <a:bodyPr wrap="square">
            <a:spAutoFit/>
          </a:bodyPr>
          <a:lstStyle/>
          <a:p>
            <a:pPr marL="222250" indent="-222250"/>
            <a:r>
              <a:rPr lang="en-US" altLang="en-US" sz="2000" dirty="0">
                <a:solidFill>
                  <a:srgbClr val="FF0000"/>
                </a:solidFill>
                <a:latin typeface="Times New Roman" panose="02020603050405020304" pitchFamily="18" charset="0"/>
                <a:cs typeface="Times New Roman" panose="02020603050405020304" pitchFamily="18" charset="0"/>
              </a:rPr>
              <a:t>5.Genichi Taguchi</a:t>
            </a:r>
          </a:p>
          <a:p>
            <a:pPr marL="685800" lvl="1"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Emphasized the minimization of variation.</a:t>
            </a:r>
          </a:p>
          <a:p>
            <a:pPr marL="973137" lvl="2"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Concerned with the cost of quality to society.</a:t>
            </a:r>
          </a:p>
          <a:p>
            <a:pPr marL="973137" lvl="2"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Extended Juran’s concept of external failure.</a:t>
            </a:r>
          </a:p>
          <a:p>
            <a:pPr marL="222250" indent="-222250"/>
            <a:r>
              <a:rPr lang="en-US" altLang="en-US" sz="2000" dirty="0">
                <a:solidFill>
                  <a:srgbClr val="FF0000"/>
                </a:solidFill>
                <a:latin typeface="Times New Roman" panose="02020603050405020304" pitchFamily="18" charset="0"/>
                <a:cs typeface="Times New Roman" panose="02020603050405020304" pitchFamily="18" charset="0"/>
              </a:rPr>
              <a:t>6.Kaoru Ishikawa</a:t>
            </a:r>
          </a:p>
          <a:p>
            <a:pPr marL="685800" lvl="1"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Developed problem-solving tools such as the cause-and-effect (</a:t>
            </a:r>
            <a:r>
              <a:rPr lang="en-US" altLang="en-US" sz="2000" i="1" dirty="0">
                <a:latin typeface="Times New Roman" panose="02020603050405020304" pitchFamily="18" charset="0"/>
                <a:cs typeface="Times New Roman" panose="02020603050405020304" pitchFamily="18" charset="0"/>
              </a:rPr>
              <a:t>fishbone</a:t>
            </a:r>
            <a:r>
              <a:rPr lang="en-US" altLang="en-US" sz="2000" dirty="0">
                <a:latin typeface="Times New Roman" panose="02020603050405020304" pitchFamily="18" charset="0"/>
                <a:cs typeface="Times New Roman" panose="02020603050405020304" pitchFamily="18" charset="0"/>
              </a:rPr>
              <a:t>) diagram.</a:t>
            </a:r>
          </a:p>
          <a:p>
            <a:pPr marL="685800" lvl="1"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Called the father of quality circles.</a:t>
            </a:r>
          </a:p>
        </p:txBody>
      </p:sp>
    </p:spTree>
    <p:extLst>
      <p:ext uri="{BB962C8B-B14F-4D97-AF65-F5344CB8AC3E}">
        <p14:creationId xmlns:p14="http://schemas.microsoft.com/office/powerpoint/2010/main" val="29001752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992BE4-E921-4DE0-9966-88328CBCE839}">
  <ds:schemaRefs>
    <ds:schemaRef ds:uri="http://schemas.microsoft.com/sharepoint/v3/contenttype/forms"/>
  </ds:schemaRefs>
</ds:datastoreItem>
</file>

<file path=customXml/itemProps2.xml><?xml version="1.0" encoding="utf-8"?>
<ds:datastoreItem xmlns:ds="http://schemas.openxmlformats.org/officeDocument/2006/customXml" ds:itemID="{BBDA7B5F-4D1B-4135-A7D6-829BF435DD90}">
  <ds:schemaRefs>
    <ds:schemaRef ds:uri="http://schemas.microsoft.com/office/2006/metadata/properties"/>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http://purl.org/dc/elements/1.1/"/>
    <ds:schemaRef ds:uri="http://purl.org/dc/terms/"/>
    <ds:schemaRef ds:uri="e932ca28-9566-489e-9fb7-fd3ef7d89fed"/>
  </ds:schemaRefs>
</ds:datastoreItem>
</file>

<file path=customXml/itemProps3.xml><?xml version="1.0" encoding="utf-8"?>
<ds:datastoreItem xmlns:ds="http://schemas.openxmlformats.org/officeDocument/2006/customXml" ds:itemID="{CB3E8F31-30F6-401F-AD12-455BC94F4F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3498</TotalTime>
  <Words>1705</Words>
  <Application>Microsoft Office PowerPoint</Application>
  <PresentationFormat>On-screen Show (4:3)</PresentationFormat>
  <Paragraphs>278</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MT</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Quality circle (TQM Circle) (CO2)</vt:lpstr>
      <vt:lpstr>Quality circle (TQM Circle) (CO2)</vt:lpstr>
      <vt:lpstr>PowerPoint Presentation</vt:lpstr>
      <vt:lpstr>The Juran philosophy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ganga soni</cp:lastModifiedBy>
  <cp:revision>243</cp:revision>
  <dcterms:created xsi:type="dcterms:W3CDTF">2020-05-17T04:03:04Z</dcterms:created>
  <dcterms:modified xsi:type="dcterms:W3CDTF">2026-05-10T09:02:31Z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