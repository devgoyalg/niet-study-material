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71" r:id="rId5"/>
    <p:sldId id="324" r:id="rId6"/>
    <p:sldId id="331" r:id="rId7"/>
    <p:sldId id="355" r:id="rId8"/>
    <p:sldId id="386" r:id="rId9"/>
    <p:sldId id="363" r:id="rId10"/>
    <p:sldId id="365" r:id="rId11"/>
    <p:sldId id="367" r:id="rId12"/>
    <p:sldId id="320" r:id="rId13"/>
    <p:sldId id="296" r:id="rId14"/>
    <p:sldId id="38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0108A8-CFD9-4E5E-8C48-253C6B8C1017}" v="4" dt="2024-01-08T02:46:42.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03" autoAdjust="0"/>
    <p:restoredTop sz="94660"/>
  </p:normalViewPr>
  <p:slideViewPr>
    <p:cSldViewPr>
      <p:cViewPr varScale="1">
        <p:scale>
          <a:sx n="59" d="100"/>
          <a:sy n="59" d="100"/>
        </p:scale>
        <p:origin x="131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9B5B96-5302-4F4C-B078-C68F721F132E}" type="datetimeFigureOut">
              <a:rPr lang="en-US" smtClean="0"/>
              <a:pPr/>
              <a:t>5/10/2026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20503D-0AF0-4B2F-98EE-D9EEBBF86C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420503D-0AF0-4B2F-98EE-D9EEBBF86CB4}" type="slidenum">
              <a:rPr lang="en-US" smtClean="0"/>
              <a:pPr/>
              <a:t>5</a:t>
            </a:fld>
            <a:endParaRPr lang="en-US"/>
          </a:p>
        </p:txBody>
      </p:sp>
    </p:spTree>
    <p:extLst>
      <p:ext uri="{BB962C8B-B14F-4D97-AF65-F5344CB8AC3E}">
        <p14:creationId xmlns:p14="http://schemas.microsoft.com/office/powerpoint/2010/main" val="307887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C10785-C2FA-427C-9C3A-3904A9AB10EA}"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1"/>
            </a:lvl1pPr>
          </a:lstStyle>
          <a:p>
            <a:r>
              <a:rPr lang="en-US" dirty="0"/>
              <a:t>Click to edit Master title style</a:t>
            </a:r>
          </a:p>
        </p:txBody>
      </p:sp>
      <p:sp>
        <p:nvSpPr>
          <p:cNvPr id="3" name="Content Placeholder 2"/>
          <p:cNvSpPr>
            <a:spLocks noGrp="1"/>
          </p:cNvSpPr>
          <p:nvPr>
            <p:ph idx="1"/>
          </p:nvPr>
        </p:nvSpPr>
        <p:spPr/>
        <p:txBody>
          <a:bodyPr/>
          <a:lstStyle>
            <a:lvl1pPr>
              <a:defRPr sz="22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p:txBody>
          <a:bodyPr/>
          <a:lstStyle/>
          <a:p>
            <a:fld id="{4F8960D2-C873-4C8C-9812-4F03A57F31A7}"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843D0-CD43-4E6C-9BAE-609AE27CD98E}"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A5A886-8DEB-47E5-BC6F-7E7012DA3D22}" type="datetime1">
              <a:rPr lang="en-US" smtClean="0"/>
              <a:t>5/10/2026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92A84D-B947-437F-B6A8-0B27915E179E}" type="datetime1">
              <a:rPr lang="en-US" smtClean="0"/>
              <a:t>5/10/2026</a:t>
            </a:fld>
            <a:endParaRPr lang="en-US"/>
          </a:p>
        </p:txBody>
      </p:sp>
      <p:sp>
        <p:nvSpPr>
          <p:cNvPr id="8" name="Footer Placeholder 7"/>
          <p:cNvSpPr>
            <a:spLocks noGrp="1"/>
          </p:cNvSpPr>
          <p:nvPr>
            <p:ph type="ftr" sz="quarter" idx="11"/>
          </p:nvPr>
        </p:nvSpPr>
        <p:spPr/>
        <p:txBody>
          <a:bodyPr/>
          <a:lstStyle/>
          <a:p>
            <a:r>
              <a:rPr lang="fi-FI"/>
              <a:t>Mr. Minhaj Nezami    AOE0861    TQM    Unit-1                         </a:t>
            </a:r>
            <a:endParaRPr lang="en-US" dirty="0"/>
          </a:p>
        </p:txBody>
      </p:sp>
      <p:sp>
        <p:nvSpPr>
          <p:cNvPr id="9" name="Slide Number Placeholder 8"/>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42FD10-B44E-4E03-88D4-2A318080B0F0}" type="datetime1">
              <a:rPr lang="en-US" smtClean="0"/>
              <a:t>5/10/2026</a:t>
            </a:fld>
            <a:endParaRPr lang="en-US"/>
          </a:p>
        </p:txBody>
      </p:sp>
      <p:sp>
        <p:nvSpPr>
          <p:cNvPr id="4" name="Footer Placeholder 3"/>
          <p:cNvSpPr>
            <a:spLocks noGrp="1"/>
          </p:cNvSpPr>
          <p:nvPr>
            <p:ph type="ftr" sz="quarter" idx="11"/>
          </p:nvPr>
        </p:nvSpPr>
        <p:spPr/>
        <p:txBody>
          <a:bodyPr/>
          <a:lstStyle/>
          <a:p>
            <a:r>
              <a:rPr lang="fi-FI"/>
              <a:t>Mr. Minhaj Nezami    AOE0861    TQM    Unit-1                         </a:t>
            </a:r>
            <a:endParaRPr lang="en-US" dirty="0"/>
          </a:p>
        </p:txBody>
      </p:sp>
      <p:sp>
        <p:nvSpPr>
          <p:cNvPr id="5" name="Slide Number Placeholder 4"/>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B4D429-E9CD-4877-AF0A-5FB8D654873B}" type="datetime1">
              <a:rPr lang="en-US" smtClean="0"/>
              <a:t>5/10/2026</a:t>
            </a:fld>
            <a:endParaRPr lang="en-US"/>
          </a:p>
        </p:txBody>
      </p:sp>
      <p:sp>
        <p:nvSpPr>
          <p:cNvPr id="3" name="Footer Placeholder 2"/>
          <p:cNvSpPr>
            <a:spLocks noGrp="1"/>
          </p:cNvSpPr>
          <p:nvPr>
            <p:ph type="ftr" sz="quarter" idx="11"/>
          </p:nvPr>
        </p:nvSpPr>
        <p:spPr/>
        <p:txBody>
          <a:bodyPr/>
          <a:lstStyle/>
          <a:p>
            <a:r>
              <a:rPr lang="fi-FI"/>
              <a:t>Mr. Minhaj Nezami    AOE0861    TQM    Unit-1                         </a:t>
            </a:r>
            <a:endParaRPr lang="en-US" dirty="0"/>
          </a:p>
        </p:txBody>
      </p:sp>
      <p:sp>
        <p:nvSpPr>
          <p:cNvPr id="4" name="Slide Number Placeholder 3"/>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69194-45DE-4F0E-A79C-445FF7B7D9CE}" type="datetime1">
              <a:rPr lang="en-US" smtClean="0"/>
              <a:t>5/10/2026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308DA-3E13-4DFE-B5FA-D44DB560DB22}" type="datetime1">
              <a:rPr lang="en-US" smtClean="0"/>
              <a:t>5/10/2026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FAF8F8-412F-476C-95A8-4DC73B8CCCE8}"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A603A4-8C32-45D9-B946-38A3F98208E6}"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B6E465-4265-4883-9763-44116B05F9CB}" type="datetime1">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Mr. Minhaj Nezami    AOE0861    TQM    Unit-1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B34E6-0086-427D-A404-3B2A6BB81F1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169540"/>
            <a:ext cx="8305800" cy="1927240"/>
          </a:xfrm>
        </p:spPr>
        <p:txBody>
          <a:bodyPr>
            <a:noAutofit/>
          </a:bodyPr>
          <a:lstStyle/>
          <a:p>
            <a:pPr algn="just"/>
            <a:r>
              <a:rPr lang="en-US" sz="2000" dirty="0">
                <a:latin typeface="Times New Roman" panose="02020603050405020304" pitchFamily="18" charset="0"/>
                <a:cs typeface="Times New Roman" pitchFamily="18" charset="0"/>
              </a:rPr>
              <a:t>Quality is meeting the customer's needs in a way that exceeds the customer's expectations. </a:t>
            </a:r>
          </a:p>
          <a:p>
            <a:pPr algn="just"/>
            <a:r>
              <a:rPr lang="en-US" sz="2000" b="0" i="0" dirty="0">
                <a:effectLst/>
                <a:latin typeface="Times New Roman" panose="02020603050405020304" pitchFamily="18" charset="0"/>
                <a:cs typeface="Times New Roman" panose="02020603050405020304" pitchFamily="18" charset="0"/>
              </a:rPr>
              <a:t>Quality could be defined as a basic tool for a natural property of any good or service that allows it to be compared with any other good or service of its kind. The word quality refers to the set of inherent properties of an object that allows satisfying stated or implied needs.</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9C92398-53F6-42EE-8377-12CDA695DD69}" type="datetime1">
              <a:rPr lang="en-US" smtClean="0"/>
              <a:t>5/10/2026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
        <p:nvSpPr>
          <p:cNvPr id="9" name="Footer Placeholder 12"/>
          <p:cNvSpPr>
            <a:spLocks noGrp="1"/>
          </p:cNvSpPr>
          <p:nvPr>
            <p:ph type="ftr" sz="quarter" idx="11"/>
          </p:nvPr>
        </p:nvSpPr>
        <p:spPr>
          <a:xfrm>
            <a:off x="2286000" y="6248415"/>
            <a:ext cx="5791200" cy="365125"/>
          </a:xfrm>
        </p:spPr>
        <p:txBody>
          <a:bodyPr/>
          <a:lstStyle/>
          <a:p>
            <a:r>
              <a:rPr lang="fi-FI" sz="2000"/>
              <a:t>Mr. Minhaj Nezami    AOE0861    TQM    Unit-1                         </a:t>
            </a:r>
            <a:endParaRPr lang="en-US" sz="2000" dirty="0"/>
          </a:p>
        </p:txBody>
      </p:sp>
      <p:sp>
        <p:nvSpPr>
          <p:cNvPr id="11" name="Title 1">
            <a:extLst>
              <a:ext uri="{FF2B5EF4-FFF2-40B4-BE49-F238E27FC236}">
                <a16:creationId xmlns:a16="http://schemas.microsoft.com/office/drawing/2014/main" id="{1C7BBAA3-263A-8FE5-5AA3-E40EF73A5AE9}"/>
              </a:ext>
            </a:extLst>
          </p:cNvPr>
          <p:cNvSpPr txBox="1">
            <a:spLocks/>
          </p:cNvSpPr>
          <p:nvPr/>
        </p:nvSpPr>
        <p:spPr>
          <a:xfrm>
            <a:off x="1066800" y="1049617"/>
            <a:ext cx="7391400" cy="55398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 INTRODUCTION Quality Concept (CO1)</a:t>
            </a:r>
          </a:p>
        </p:txBody>
      </p:sp>
      <p:sp>
        <p:nvSpPr>
          <p:cNvPr id="2" name="Rectangle 1">
            <a:extLst>
              <a:ext uri="{FF2B5EF4-FFF2-40B4-BE49-F238E27FC236}">
                <a16:creationId xmlns:a16="http://schemas.microsoft.com/office/drawing/2014/main" id="{B2ACD705-3612-9E78-DE25-CFA2CFE8F260}"/>
              </a:ext>
            </a:extLst>
          </p:cNvPr>
          <p:cNvSpPr/>
          <p:nvPr/>
        </p:nvSpPr>
        <p:spPr>
          <a:xfrm>
            <a:off x="2057400" y="1636222"/>
            <a:ext cx="4648200" cy="591841"/>
          </a:xfrm>
          <a:prstGeom prst="rect">
            <a:avLst/>
          </a:prstGeom>
          <a:solidFill>
            <a:schemeClr val="accent6">
              <a:lumMod val="40000"/>
              <a:lumOff val="60000"/>
            </a:schemeClr>
          </a:solidFill>
          <a:ln>
            <a:solidFill>
              <a:schemeClr val="accent5">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1.QUALITY AND ITS TYPES</a:t>
            </a:r>
          </a:p>
        </p:txBody>
      </p:sp>
      <p:sp>
        <p:nvSpPr>
          <p:cNvPr id="7" name="TextBox 6">
            <a:extLst>
              <a:ext uri="{FF2B5EF4-FFF2-40B4-BE49-F238E27FC236}">
                <a16:creationId xmlns:a16="http://schemas.microsoft.com/office/drawing/2014/main" id="{A086615B-342E-0DB2-1EA8-E236BB989CA2}"/>
              </a:ext>
            </a:extLst>
          </p:cNvPr>
          <p:cNvSpPr txBox="1"/>
          <p:nvPr/>
        </p:nvSpPr>
        <p:spPr>
          <a:xfrm>
            <a:off x="30018" y="4217886"/>
            <a:ext cx="4653642" cy="2308324"/>
          </a:xfrm>
          <a:prstGeom prst="rect">
            <a:avLst/>
          </a:prstGeom>
          <a:noFill/>
        </p:spPr>
        <p:txBody>
          <a:bodyPr wrap="square">
            <a:spAutoFit/>
          </a:bodyPr>
          <a:lstStyle/>
          <a:p>
            <a:pPr marL="0" indent="0">
              <a:buNone/>
            </a:pPr>
            <a:r>
              <a:rPr lang="en-US" sz="1800" b="1" dirty="0">
                <a:solidFill>
                  <a:srgbClr val="FF0000"/>
                </a:solidFill>
                <a:latin typeface="Times New Roman" pitchFamily="18" charset="0"/>
                <a:cs typeface="Times New Roman" pitchFamily="18" charset="0"/>
              </a:rPr>
              <a:t>The following are types of quality</a:t>
            </a:r>
            <a:endParaRPr lang="en-US" sz="1800" dirty="0">
              <a:solidFill>
                <a:srgbClr val="FF0000"/>
              </a:solidFill>
              <a:latin typeface="Times New Roman" pitchFamily="18" charset="0"/>
              <a:cs typeface="Times New Roman" pitchFamily="18" charset="0"/>
            </a:endParaRPr>
          </a:p>
          <a:p>
            <a:pPr marL="342900" indent="-342900" algn="just">
              <a:buFont typeface="+mj-lt"/>
              <a:buAutoNum type="arabicPeriod"/>
            </a:pPr>
            <a:r>
              <a:rPr lang="en-US" sz="1800" dirty="0">
                <a:latin typeface="Times New Roman" pitchFamily="18" charset="0"/>
                <a:cs typeface="Times New Roman" pitchFamily="18" charset="0"/>
              </a:rPr>
              <a:t>Product Quality</a:t>
            </a:r>
          </a:p>
          <a:p>
            <a:pPr marL="342900" indent="-342900" algn="just">
              <a:buFont typeface="+mj-lt"/>
              <a:buAutoNum type="arabicPeriod"/>
            </a:pPr>
            <a:r>
              <a:rPr lang="en-US" sz="1800" dirty="0">
                <a:latin typeface="Times New Roman" pitchFamily="18" charset="0"/>
                <a:cs typeface="Times New Roman" pitchFamily="18" charset="0"/>
              </a:rPr>
              <a:t>Service Quality</a:t>
            </a:r>
          </a:p>
          <a:p>
            <a:pPr marL="342900" indent="-342900" algn="just">
              <a:buFont typeface="+mj-lt"/>
              <a:buAutoNum type="arabicPeriod"/>
            </a:pPr>
            <a:r>
              <a:rPr lang="en-US" sz="1800" dirty="0">
                <a:latin typeface="Times New Roman" pitchFamily="18" charset="0"/>
                <a:cs typeface="Times New Roman" pitchFamily="18" charset="0"/>
              </a:rPr>
              <a:t>Experience Quality</a:t>
            </a:r>
          </a:p>
          <a:p>
            <a:pPr marL="342900" indent="-342900" algn="just">
              <a:buFont typeface="+mj-lt"/>
              <a:buAutoNum type="arabicPeriod"/>
            </a:pPr>
            <a:r>
              <a:rPr lang="en-US" sz="1800" dirty="0">
                <a:latin typeface="Times New Roman" pitchFamily="18" charset="0"/>
                <a:cs typeface="Times New Roman" pitchFamily="18" charset="0"/>
              </a:rPr>
              <a:t>IT Quality</a:t>
            </a:r>
          </a:p>
          <a:p>
            <a:pPr marL="342900" indent="-342900" algn="just">
              <a:buFont typeface="+mj-lt"/>
              <a:buAutoNum type="arabicPeriod"/>
            </a:pPr>
            <a:r>
              <a:rPr lang="en-US" sz="1800" dirty="0">
                <a:latin typeface="Times New Roman" pitchFamily="18" charset="0"/>
                <a:cs typeface="Times New Roman" pitchFamily="18" charset="0"/>
              </a:rPr>
              <a:t>Data Quality</a:t>
            </a:r>
          </a:p>
          <a:p>
            <a:pPr marL="342900" indent="-342900" algn="just">
              <a:buFont typeface="+mj-lt"/>
              <a:buAutoNum type="arabicPeriod"/>
            </a:pPr>
            <a:r>
              <a:rPr lang="en-US" sz="1800" dirty="0">
                <a:latin typeface="Times New Roman" pitchFamily="18" charset="0"/>
                <a:cs typeface="Times New Roman" pitchFamily="18" charset="0"/>
              </a:rPr>
              <a:t>Information Quality</a:t>
            </a:r>
          </a:p>
          <a:p>
            <a:pPr marL="342900" indent="-342900" algn="just">
              <a:buFont typeface="+mj-lt"/>
              <a:buAutoNum type="arabicPeriod"/>
            </a:pPr>
            <a:r>
              <a:rPr lang="en-US" sz="1800" dirty="0">
                <a:latin typeface="Times New Roman" pitchFamily="18" charset="0"/>
                <a:cs typeface="Times New Roman" pitchFamily="18" charset="0"/>
              </a:rPr>
              <a:t>Quality of life</a:t>
            </a:r>
          </a:p>
        </p:txBody>
      </p:sp>
      <p:sp>
        <p:nvSpPr>
          <p:cNvPr id="12" name="TextBox 11">
            <a:extLst>
              <a:ext uri="{FF2B5EF4-FFF2-40B4-BE49-F238E27FC236}">
                <a16:creationId xmlns:a16="http://schemas.microsoft.com/office/drawing/2014/main" id="{30CD046C-1657-5B06-1EA9-652BA2F92320}"/>
              </a:ext>
            </a:extLst>
          </p:cNvPr>
          <p:cNvSpPr txBox="1"/>
          <p:nvPr/>
        </p:nvSpPr>
        <p:spPr>
          <a:xfrm>
            <a:off x="2035629" y="136525"/>
            <a:ext cx="6879771" cy="830997"/>
          </a:xfrm>
          <a:prstGeom prst="rect">
            <a:avLst/>
          </a:prstGeom>
          <a:noFill/>
        </p:spPr>
        <p:txBody>
          <a:bodyPr wrap="square">
            <a:spAutoFit/>
          </a:bodyPr>
          <a:lstStyle/>
          <a:p>
            <a:pPr algn="just"/>
            <a:r>
              <a:rPr lang="en-US" sz="1600" dirty="0">
                <a:latin typeface="Times" panose="02020603050405020304" pitchFamily="18" charset="0"/>
                <a:cs typeface="Times" panose="02020603050405020304" pitchFamily="18" charset="0"/>
              </a:rPr>
              <a:t>Introduction ,Need for quality ,Definitions of quality ,Basic concepts of TQM ,</a:t>
            </a:r>
            <a:r>
              <a:rPr lang="en-US" sz="1600" dirty="0" err="1">
                <a:latin typeface="Times" panose="02020603050405020304" pitchFamily="18" charset="0"/>
                <a:cs typeface="Times" panose="02020603050405020304" pitchFamily="18" charset="0"/>
              </a:rPr>
              <a:t>TQMFramework</a:t>
            </a:r>
            <a:r>
              <a:rPr lang="en-US" sz="1600" dirty="0">
                <a:latin typeface="Times" panose="02020603050405020304" pitchFamily="18" charset="0"/>
                <a:cs typeface="Times" panose="02020603050405020304" pitchFamily="18" charset="0"/>
              </a:rPr>
              <a:t> ,Barriers to TQM  ,Customer </a:t>
            </a:r>
            <a:r>
              <a:rPr lang="en-US" sz="1600" dirty="0" err="1">
                <a:latin typeface="Times" panose="02020603050405020304" pitchFamily="18" charset="0"/>
                <a:cs typeface="Times" panose="02020603050405020304" pitchFamily="18" charset="0"/>
              </a:rPr>
              <a:t>focus,Customer</a:t>
            </a:r>
            <a:r>
              <a:rPr lang="en-US" sz="1600" dirty="0">
                <a:latin typeface="Times" panose="02020603050405020304" pitchFamily="18" charset="0"/>
                <a:cs typeface="Times" panose="02020603050405020304" pitchFamily="18" charset="0"/>
              </a:rPr>
              <a:t> orientation ,Customer </a:t>
            </a:r>
            <a:r>
              <a:rPr lang="en-US" sz="1600" dirty="0" err="1">
                <a:latin typeface="Times" panose="02020603050405020304" pitchFamily="18" charset="0"/>
                <a:cs typeface="Times" panose="02020603050405020304" pitchFamily="18" charset="0"/>
              </a:rPr>
              <a:t>satisfaction,Customer</a:t>
            </a:r>
            <a:r>
              <a:rPr lang="en-US" sz="1600" dirty="0">
                <a:latin typeface="Times" panose="02020603050405020304" pitchFamily="18" charset="0"/>
                <a:cs typeface="Times" panose="02020603050405020304" pitchFamily="18" charset="0"/>
              </a:rPr>
              <a:t> </a:t>
            </a:r>
            <a:r>
              <a:rPr lang="en-US" sz="1600" dirty="0" err="1">
                <a:latin typeface="Times" panose="02020603050405020304" pitchFamily="18" charset="0"/>
                <a:cs typeface="Times" panose="02020603050405020304" pitchFamily="18" charset="0"/>
              </a:rPr>
              <a:t>complaints,Customer</a:t>
            </a:r>
            <a:r>
              <a:rPr lang="en-US" sz="1600" dirty="0">
                <a:latin typeface="Times" panose="02020603050405020304" pitchFamily="18" charset="0"/>
                <a:cs typeface="Times" panose="02020603050405020304" pitchFamily="18" charset="0"/>
              </a:rPr>
              <a:t> retention</a:t>
            </a:r>
            <a:endParaRPr lang="en-IN" sz="1600" dirty="0"/>
          </a:p>
        </p:txBody>
      </p:sp>
      <p:sp>
        <p:nvSpPr>
          <p:cNvPr id="13" name="Title 1">
            <a:extLst>
              <a:ext uri="{FF2B5EF4-FFF2-40B4-BE49-F238E27FC236}">
                <a16:creationId xmlns:a16="http://schemas.microsoft.com/office/drawing/2014/main" id="{EB848BCB-D2AB-D453-5E59-36AEAFE606F7}"/>
              </a:ext>
            </a:extLst>
          </p:cNvPr>
          <p:cNvSpPr txBox="1">
            <a:spLocks/>
          </p:cNvSpPr>
          <p:nvPr/>
        </p:nvSpPr>
        <p:spPr>
          <a:xfrm>
            <a:off x="152400" y="104288"/>
            <a:ext cx="18288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Syllabus of Unit 1</a:t>
            </a:r>
          </a:p>
        </p:txBody>
      </p:sp>
    </p:spTree>
    <p:extLst>
      <p:ext uri="{BB962C8B-B14F-4D97-AF65-F5344CB8AC3E}">
        <p14:creationId xmlns:p14="http://schemas.microsoft.com/office/powerpoint/2010/main" val="391931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31905" y="1023209"/>
            <a:ext cx="1063495" cy="1131910"/>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909188" y="986664"/>
            <a:ext cx="3418024" cy="1887285"/>
          </a:xfrm>
          <a:prstGeom prst="rect">
            <a:avLst/>
          </a:prstGeom>
        </p:spPr>
        <p:txBody>
          <a:bodyPr vert="horz" wrap="square" lIns="0" tIns="52425" rIns="0" bIns="0" rtlCol="0">
            <a:spAutoFit/>
          </a:bodyPr>
          <a:lstStyle/>
          <a:p>
            <a:pPr marL="342900" lvl="0" indent="-342900">
              <a:spcBef>
                <a:spcPct val="20000"/>
              </a:spcBef>
              <a:buFont typeface="Arial" pitchFamily="34" charset="0"/>
              <a:buChar char="•"/>
            </a:pPr>
            <a:endParaRPr lang="en-US" sz="1600" dirty="0">
              <a:latin typeface="Times New Roman" pitchFamily="18" charset="0"/>
              <a:cs typeface="Times New Roman" pitchFamily="18" charset="0"/>
            </a:endParaRPr>
          </a:p>
          <a:p>
            <a:pPr marL="342900" lvl="0" indent="-342900">
              <a:spcBef>
                <a:spcPct val="20000"/>
              </a:spcBef>
              <a:buFont typeface="Arial" pitchFamily="34" charset="0"/>
              <a:buChar char="•"/>
            </a:pPr>
            <a:r>
              <a:rPr lang="en-US" sz="1600" dirty="0">
                <a:latin typeface="Times New Roman" pitchFamily="18" charset="0"/>
                <a:cs typeface="Times New Roman" pitchFamily="18" charset="0"/>
              </a:rPr>
              <a:t>External customer </a:t>
            </a:r>
          </a:p>
          <a:p>
            <a:pPr marL="342900" lvl="0" indent="-342900">
              <a:spcBef>
                <a:spcPct val="20000"/>
              </a:spcBef>
              <a:buFont typeface="Arial" pitchFamily="34" charset="0"/>
              <a:buChar char="•"/>
            </a:pPr>
            <a:r>
              <a:rPr lang="en-US" sz="1600" dirty="0">
                <a:latin typeface="Times New Roman" pitchFamily="18" charset="0"/>
                <a:cs typeface="Times New Roman" pitchFamily="18" charset="0"/>
              </a:rPr>
              <a:t>Internal customer</a:t>
            </a:r>
          </a:p>
          <a:p>
            <a:pPr marL="342900" lvl="0" indent="-342900">
              <a:spcBef>
                <a:spcPct val="20000"/>
              </a:spcBef>
              <a:buFont typeface="Arial" pitchFamily="34" charset="0"/>
              <a:buChar char="•"/>
            </a:pPr>
            <a:r>
              <a:rPr lang="en-US" sz="1600" dirty="0">
                <a:latin typeface="Times New Roman" pitchFamily="18" charset="0"/>
                <a:cs typeface="Times New Roman" pitchFamily="18" charset="0"/>
              </a:rPr>
              <a:t>Fulfill customer expectations </a:t>
            </a:r>
          </a:p>
          <a:p>
            <a:pPr marL="342900" lvl="0" indent="-342900">
              <a:spcBef>
                <a:spcPct val="20000"/>
              </a:spcBef>
              <a:buFont typeface="Arial" pitchFamily="34" charset="0"/>
              <a:buChar char="•"/>
            </a:pPr>
            <a:r>
              <a:rPr lang="en-US" sz="1600" dirty="0">
                <a:latin typeface="Times New Roman" pitchFamily="18" charset="0"/>
                <a:cs typeface="Times New Roman" pitchFamily="18" charset="0"/>
              </a:rPr>
              <a:t>Customer's expectations</a:t>
            </a:r>
          </a:p>
          <a:p>
            <a:pPr marL="342900" lvl="0" indent="-342900">
              <a:spcBef>
                <a:spcPct val="20000"/>
              </a:spcBef>
              <a:buFont typeface="Arial" pitchFamily="34" charset="0"/>
              <a:buChar char="•"/>
            </a:pP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12" name="object 12"/>
          <p:cNvSpPr/>
          <p:nvPr/>
        </p:nvSpPr>
        <p:spPr>
          <a:xfrm>
            <a:off x="658171" y="2010687"/>
            <a:ext cx="3352800" cy="65913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dirty="0"/>
          </a:p>
        </p:txBody>
      </p:sp>
      <p:sp>
        <p:nvSpPr>
          <p:cNvPr id="13" name="Date Placeholder 12"/>
          <p:cNvSpPr>
            <a:spLocks noGrp="1"/>
          </p:cNvSpPr>
          <p:nvPr>
            <p:ph type="dt" sz="half" idx="10"/>
          </p:nvPr>
        </p:nvSpPr>
        <p:spPr/>
        <p:txBody>
          <a:bodyPr/>
          <a:lstStyle/>
          <a:p>
            <a:fld id="{2D15C332-6B94-496E-86BB-D52072785D2F}" type="datetime1">
              <a:rPr lang="en-US" smtClean="0"/>
              <a:t>5/10/2026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2</a:t>
            </a:fld>
            <a:endParaRPr lang="en-US"/>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27200" y="-4240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Precap of Quality</a:t>
            </a:r>
          </a:p>
        </p:txBody>
      </p:sp>
      <p:sp>
        <p:nvSpPr>
          <p:cNvPr id="16" name="Title 1">
            <a:extLst>
              <a:ext uri="{FF2B5EF4-FFF2-40B4-BE49-F238E27FC236}">
                <a16:creationId xmlns:a16="http://schemas.microsoft.com/office/drawing/2014/main" id="{0A296BD9-2F8C-6A20-B876-059A53BDB2F7}"/>
              </a:ext>
            </a:extLst>
          </p:cNvPr>
          <p:cNvSpPr txBox="1">
            <a:spLocks/>
          </p:cNvSpPr>
          <p:nvPr/>
        </p:nvSpPr>
        <p:spPr>
          <a:xfrm>
            <a:off x="5108414" y="963575"/>
            <a:ext cx="3803681" cy="54100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a:t>
            </a:r>
          </a:p>
        </p:txBody>
      </p:sp>
      <p:sp>
        <p:nvSpPr>
          <p:cNvPr id="20" name="TextBox 19">
            <a:extLst>
              <a:ext uri="{FF2B5EF4-FFF2-40B4-BE49-F238E27FC236}">
                <a16:creationId xmlns:a16="http://schemas.microsoft.com/office/drawing/2014/main" id="{B2BE98D1-AF91-F776-18FC-0D13A6A46B61}"/>
              </a:ext>
            </a:extLst>
          </p:cNvPr>
          <p:cNvSpPr txBox="1"/>
          <p:nvPr/>
        </p:nvSpPr>
        <p:spPr>
          <a:xfrm>
            <a:off x="5108414" y="1648387"/>
            <a:ext cx="3661454" cy="2585323"/>
          </a:xfrm>
          <a:prstGeom prst="rect">
            <a:avLst/>
          </a:prstGeom>
          <a:noFill/>
        </p:spPr>
        <p:txBody>
          <a:bodyPr wrap="square">
            <a:spAutoFit/>
          </a:bodyPr>
          <a:lstStyle/>
          <a:p>
            <a:pPr marL="0" indent="0" algn="just">
              <a:buNone/>
            </a:pPr>
            <a:r>
              <a:rPr lang="en-US" sz="1800" dirty="0">
                <a:solidFill>
                  <a:srgbClr val="FF0000"/>
                </a:solidFill>
                <a:latin typeface="Times New Roman" pitchFamily="18" charset="0"/>
                <a:cs typeface="Times New Roman" pitchFamily="18" charset="0"/>
              </a:rPr>
              <a:t>In sales, commerce and economics, a customer (sometimes known as a client, buyer, or purchaser) is the recipient of a good service, product or an idea - obtained from a seller, vendor, or supplier via a financial transaction or exchange for money or some other valuable consideration</a:t>
            </a:r>
          </a:p>
        </p:txBody>
      </p:sp>
      <p:sp>
        <p:nvSpPr>
          <p:cNvPr id="28" name="TextBox 27">
            <a:extLst>
              <a:ext uri="{FF2B5EF4-FFF2-40B4-BE49-F238E27FC236}">
                <a16:creationId xmlns:a16="http://schemas.microsoft.com/office/drawing/2014/main" id="{7D7CB388-B754-ED1E-8525-1CCCBC7CD869}"/>
              </a:ext>
            </a:extLst>
          </p:cNvPr>
          <p:cNvSpPr txBox="1"/>
          <p:nvPr/>
        </p:nvSpPr>
        <p:spPr>
          <a:xfrm>
            <a:off x="231905" y="2757604"/>
            <a:ext cx="4752326" cy="3416320"/>
          </a:xfrm>
          <a:prstGeom prst="rect">
            <a:avLst/>
          </a:prstGeom>
          <a:noFill/>
        </p:spPr>
        <p:txBody>
          <a:bodyPr wrap="square">
            <a:spAutoFit/>
          </a:bodyPr>
          <a:lstStyle/>
          <a:p>
            <a:pPr>
              <a:buNone/>
            </a:pPr>
            <a:r>
              <a:rPr lang="en-US" b="1" dirty="0"/>
              <a:t>1. External Customer</a:t>
            </a:r>
          </a:p>
          <a:p>
            <a:pPr>
              <a:buNone/>
            </a:pPr>
            <a:r>
              <a:rPr lang="en-US" dirty="0"/>
              <a:t>People outside the organization who buy or use the product/service.</a:t>
            </a:r>
          </a:p>
          <a:p>
            <a:pPr>
              <a:buNone/>
            </a:pPr>
            <a:r>
              <a:rPr lang="en-US" b="1" dirty="0"/>
              <a:t>2. Internal Customer</a:t>
            </a:r>
          </a:p>
          <a:p>
            <a:pPr>
              <a:buNone/>
            </a:pPr>
            <a:r>
              <a:rPr lang="en-US" dirty="0"/>
              <a:t>Employees or departments inside the organization who depend on each other’s work.</a:t>
            </a:r>
          </a:p>
          <a:p>
            <a:pPr>
              <a:buNone/>
            </a:pPr>
            <a:r>
              <a:rPr lang="en-US" b="1" dirty="0"/>
              <a:t>3. Fulfill Customer Expectations</a:t>
            </a:r>
          </a:p>
          <a:p>
            <a:pPr>
              <a:buNone/>
            </a:pPr>
            <a:r>
              <a:rPr lang="en-US" dirty="0"/>
              <a:t>Providing products/services according to customer needs and satisfaction.</a:t>
            </a:r>
          </a:p>
          <a:p>
            <a:pPr>
              <a:buNone/>
            </a:pPr>
            <a:r>
              <a:rPr lang="en-US" b="1" dirty="0"/>
              <a:t>4. Customer Expectations</a:t>
            </a:r>
          </a:p>
          <a:p>
            <a:pPr>
              <a:buNone/>
            </a:pPr>
            <a:r>
              <a:rPr lang="en-US" dirty="0"/>
              <a:t>The quality, price, service, and performance customers expect from a product or service.</a:t>
            </a:r>
          </a:p>
        </p:txBody>
      </p:sp>
      <p:pic>
        <p:nvPicPr>
          <p:cNvPr id="29" name="Picture 28">
            <a:extLst>
              <a:ext uri="{FF2B5EF4-FFF2-40B4-BE49-F238E27FC236}">
                <a16:creationId xmlns:a16="http://schemas.microsoft.com/office/drawing/2014/main" id="{A8D96306-7656-8BF0-3151-1E46A3F87754}"/>
              </a:ext>
            </a:extLst>
          </p:cNvPr>
          <p:cNvPicPr>
            <a:picLocks noChangeAspect="1"/>
          </p:cNvPicPr>
          <p:nvPr/>
        </p:nvPicPr>
        <p:blipFill>
          <a:blip r:embed="rId7"/>
          <a:stretch>
            <a:fillRect/>
          </a:stretch>
        </p:blipFill>
        <p:spPr>
          <a:xfrm>
            <a:off x="5108414" y="4233710"/>
            <a:ext cx="4019421" cy="23956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3" name="TextBox 2">
            <a:extLst>
              <a:ext uri="{FF2B5EF4-FFF2-40B4-BE49-F238E27FC236}">
                <a16:creationId xmlns:a16="http://schemas.microsoft.com/office/drawing/2014/main" id="{1D83F488-FE05-84A8-212D-1D009B2C0B74}"/>
              </a:ext>
            </a:extLst>
          </p:cNvPr>
          <p:cNvSpPr txBox="1"/>
          <p:nvPr/>
        </p:nvSpPr>
        <p:spPr>
          <a:xfrm>
            <a:off x="228600" y="1076392"/>
            <a:ext cx="3657600" cy="4370427"/>
          </a:xfrm>
          <a:prstGeom prst="rect">
            <a:avLst/>
          </a:prstGeom>
          <a:noFill/>
        </p:spPr>
        <p:txBody>
          <a:bodyPr wrap="square">
            <a:spAutoFit/>
          </a:bodyPr>
          <a:lstStyle/>
          <a:p>
            <a:r>
              <a:rPr lang="en-US" sz="1600" b="1" dirty="0">
                <a:solidFill>
                  <a:srgbClr val="FF0000"/>
                </a:solidFill>
              </a:rPr>
              <a:t>Introduction to TQM</a:t>
            </a:r>
          </a:p>
          <a:p>
            <a:r>
              <a:rPr lang="en-US" sz="1600" b="1" dirty="0"/>
              <a:t>Total Quality Management (TQM)</a:t>
            </a:r>
            <a:r>
              <a:rPr lang="en-US" sz="1600" dirty="0"/>
              <a:t> is a management approach focused on continuous improvement of products, services, and processes to achieve customer satisfaction.</a:t>
            </a:r>
          </a:p>
          <a:p>
            <a:r>
              <a:rPr lang="en-US" sz="1600" b="1" dirty="0">
                <a:solidFill>
                  <a:srgbClr val="FF0000"/>
                </a:solidFill>
              </a:rPr>
              <a:t>Key Points</a:t>
            </a:r>
          </a:p>
          <a:p>
            <a:pPr marL="285750" indent="-285750">
              <a:buFont typeface="Arial" panose="020B0604020202020204" pitchFamily="34" charset="0"/>
              <a:buChar char="•"/>
            </a:pPr>
            <a:r>
              <a:rPr lang="en-US" sz="1600" dirty="0"/>
              <a:t>Involves all employees. </a:t>
            </a:r>
          </a:p>
          <a:p>
            <a:pPr marL="285750" indent="-285750">
              <a:buFont typeface="Arial" panose="020B0604020202020204" pitchFamily="34" charset="0"/>
              <a:buChar char="•"/>
            </a:pPr>
            <a:r>
              <a:rPr lang="en-US" sz="1600" dirty="0"/>
              <a:t>Focuses on customer needs. </a:t>
            </a:r>
          </a:p>
          <a:p>
            <a:pPr marL="285750" indent="-285750">
              <a:buFont typeface="Arial" panose="020B0604020202020204" pitchFamily="34" charset="0"/>
              <a:buChar char="•"/>
            </a:pPr>
            <a:r>
              <a:rPr lang="en-US" sz="1600" dirty="0"/>
              <a:t>Emphasizes continuous improvement. </a:t>
            </a:r>
          </a:p>
          <a:p>
            <a:pPr marL="285750" indent="-285750">
              <a:buFont typeface="Arial" panose="020B0604020202020204" pitchFamily="34" charset="0"/>
              <a:buChar char="•"/>
            </a:pPr>
            <a:r>
              <a:rPr lang="en-US" sz="1600" dirty="0"/>
              <a:t>Improves productivity and quality. </a:t>
            </a:r>
          </a:p>
          <a:p>
            <a:r>
              <a:rPr lang="en-US" sz="1600" b="1" dirty="0">
                <a:solidFill>
                  <a:srgbClr val="FF0000"/>
                </a:solidFill>
              </a:rPr>
              <a:t>Objectives</a:t>
            </a:r>
          </a:p>
          <a:p>
            <a:pPr marL="285750" indent="-285750">
              <a:buFont typeface="Arial" panose="020B0604020202020204" pitchFamily="34" charset="0"/>
              <a:buChar char="•"/>
            </a:pPr>
            <a:r>
              <a:rPr lang="en-US" sz="1600" dirty="0"/>
              <a:t>Customer satisfaction </a:t>
            </a:r>
          </a:p>
          <a:p>
            <a:pPr marL="285750" indent="-285750">
              <a:buFont typeface="Arial" panose="020B0604020202020204" pitchFamily="34" charset="0"/>
              <a:buChar char="•"/>
            </a:pPr>
            <a:r>
              <a:rPr lang="en-US" sz="1600" dirty="0"/>
              <a:t>Defect prevention </a:t>
            </a:r>
          </a:p>
          <a:p>
            <a:pPr marL="285750" indent="-285750">
              <a:buFont typeface="Arial" panose="020B0604020202020204" pitchFamily="34" charset="0"/>
              <a:buChar char="•"/>
            </a:pPr>
            <a:r>
              <a:rPr lang="en-US" sz="1600" dirty="0"/>
              <a:t>Cost reduction </a:t>
            </a:r>
          </a:p>
          <a:p>
            <a:pPr marL="285750" indent="-285750">
              <a:buFont typeface="Arial" panose="020B0604020202020204" pitchFamily="34" charset="0"/>
              <a:buChar char="•"/>
            </a:pPr>
            <a:r>
              <a:rPr lang="en-US" sz="1600" dirty="0"/>
              <a:t>Employee involvement</a:t>
            </a:r>
          </a:p>
          <a:p>
            <a:pPr algn="l"/>
            <a:endParaRPr lang="en-US" sz="2200" b="0" i="0" dirty="0">
              <a:effectLst/>
              <a:latin typeface="Times" panose="02020603050405020304" pitchFamily="18" charset="0"/>
              <a:cs typeface="Times" panose="02020603050405020304" pitchFamily="18" charset="0"/>
            </a:endParaRPr>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Basic Concept of TQM </a:t>
            </a:r>
          </a:p>
        </p:txBody>
      </p:sp>
      <p:sp>
        <p:nvSpPr>
          <p:cNvPr id="2" name="Title 1">
            <a:extLst>
              <a:ext uri="{FF2B5EF4-FFF2-40B4-BE49-F238E27FC236}">
                <a16:creationId xmlns:a16="http://schemas.microsoft.com/office/drawing/2014/main" id="{0322CE93-99C9-3C2A-7B05-A390DB93CB3C}"/>
              </a:ext>
            </a:extLst>
          </p:cNvPr>
          <p:cNvSpPr txBox="1">
            <a:spLocks/>
          </p:cNvSpPr>
          <p:nvPr/>
        </p:nvSpPr>
        <p:spPr>
          <a:xfrm>
            <a:off x="4000500" y="1130821"/>
            <a:ext cx="5105400" cy="9144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200" b="1" dirty="0">
                <a:latin typeface="Times" panose="02020603050405020304" pitchFamily="18" charset="0"/>
                <a:cs typeface="Times" panose="02020603050405020304" pitchFamily="18" charset="0"/>
              </a:rPr>
              <a:t>Implementation principles and processes</a:t>
            </a:r>
          </a:p>
          <a:p>
            <a:pPr>
              <a:defRPr/>
            </a:pPr>
            <a:r>
              <a:rPr lang="en-US" sz="2200" b="1" dirty="0">
                <a:latin typeface="Times New Roman" panose="02020603050405020304" pitchFamily="18" charset="0"/>
                <a:cs typeface="Times New Roman" panose="02020603050405020304" pitchFamily="18" charset="0"/>
              </a:rPr>
              <a:t>of TQM</a:t>
            </a:r>
          </a:p>
        </p:txBody>
      </p:sp>
      <p:sp>
        <p:nvSpPr>
          <p:cNvPr id="7" name="TextBox 6">
            <a:extLst>
              <a:ext uri="{FF2B5EF4-FFF2-40B4-BE49-F238E27FC236}">
                <a16:creationId xmlns:a16="http://schemas.microsoft.com/office/drawing/2014/main" id="{F045586E-37C8-112D-4A09-421A129A943B}"/>
              </a:ext>
            </a:extLst>
          </p:cNvPr>
          <p:cNvSpPr txBox="1"/>
          <p:nvPr/>
        </p:nvSpPr>
        <p:spPr>
          <a:xfrm>
            <a:off x="3886200" y="2156863"/>
            <a:ext cx="4599214" cy="1323439"/>
          </a:xfrm>
          <a:prstGeom prst="rect">
            <a:avLst/>
          </a:prstGeom>
          <a:noFill/>
        </p:spPr>
        <p:txBody>
          <a:bodyPr wrap="square">
            <a:spAutoFit/>
          </a:bodyPr>
          <a:lstStyle/>
          <a:p>
            <a:pPr>
              <a:buNone/>
            </a:pPr>
            <a:r>
              <a:rPr lang="en-US" sz="1600" b="1" dirty="0">
                <a:solidFill>
                  <a:srgbClr val="FF0000"/>
                </a:solidFill>
              </a:rPr>
              <a:t>Implementation Principles of TQM :</a:t>
            </a:r>
          </a:p>
          <a:p>
            <a:pPr>
              <a:buFont typeface="+mj-lt"/>
              <a:buAutoNum type="arabicPeriod"/>
            </a:pPr>
            <a:r>
              <a:rPr lang="en-US" sz="1600" b="1" dirty="0"/>
              <a:t>Customer Focus</a:t>
            </a:r>
            <a:r>
              <a:rPr lang="en-US" sz="1600" dirty="0"/>
              <a:t> </a:t>
            </a:r>
          </a:p>
          <a:p>
            <a:pPr>
              <a:buFont typeface="+mj-lt"/>
              <a:buAutoNum type="arabicPeriod"/>
            </a:pPr>
            <a:r>
              <a:rPr lang="en-US" sz="1600" b="1" dirty="0"/>
              <a:t>Employee Involvement</a:t>
            </a:r>
            <a:r>
              <a:rPr lang="en-US" sz="1600" dirty="0"/>
              <a:t> . </a:t>
            </a:r>
          </a:p>
          <a:p>
            <a:pPr>
              <a:buFont typeface="+mj-lt"/>
              <a:buAutoNum type="arabicPeriod"/>
            </a:pPr>
            <a:r>
              <a:rPr lang="en-US" sz="1600" b="1" dirty="0"/>
              <a:t>Continuous Improvement</a:t>
            </a:r>
            <a:r>
              <a:rPr lang="en-US" sz="1600" dirty="0"/>
              <a:t> </a:t>
            </a:r>
          </a:p>
          <a:p>
            <a:pPr>
              <a:buFont typeface="+mj-lt"/>
              <a:buAutoNum type="arabicPeriod"/>
            </a:pPr>
            <a:r>
              <a:rPr lang="en-US" sz="1600" b="1" dirty="0"/>
              <a:t>Leadership Commitment</a:t>
            </a:r>
            <a:r>
              <a:rPr lang="en-US" sz="1600" dirty="0"/>
              <a:t> </a:t>
            </a:r>
          </a:p>
        </p:txBody>
      </p:sp>
      <p:sp>
        <p:nvSpPr>
          <p:cNvPr id="12" name="TextBox 11">
            <a:extLst>
              <a:ext uri="{FF2B5EF4-FFF2-40B4-BE49-F238E27FC236}">
                <a16:creationId xmlns:a16="http://schemas.microsoft.com/office/drawing/2014/main" id="{AF5E8661-8B3A-521C-B0A7-845BEBEF6D8A}"/>
              </a:ext>
            </a:extLst>
          </p:cNvPr>
          <p:cNvSpPr txBox="1"/>
          <p:nvPr/>
        </p:nvSpPr>
        <p:spPr>
          <a:xfrm>
            <a:off x="3886200" y="3391100"/>
            <a:ext cx="5029200" cy="1569660"/>
          </a:xfrm>
          <a:prstGeom prst="rect">
            <a:avLst/>
          </a:prstGeom>
          <a:noFill/>
        </p:spPr>
        <p:txBody>
          <a:bodyPr wrap="square">
            <a:spAutoFit/>
          </a:bodyPr>
          <a:lstStyle/>
          <a:p>
            <a:pPr>
              <a:buNone/>
            </a:pPr>
            <a:r>
              <a:rPr lang="en-US" sz="1600" b="1" dirty="0">
                <a:solidFill>
                  <a:srgbClr val="FF0000"/>
                </a:solidFill>
              </a:rPr>
              <a:t>Process of TQM :</a:t>
            </a:r>
          </a:p>
          <a:p>
            <a:pPr>
              <a:buFont typeface="+mj-lt"/>
              <a:buAutoNum type="arabicPeriod"/>
            </a:pPr>
            <a:r>
              <a:rPr lang="en-US" sz="1600" b="1" dirty="0"/>
              <a:t>Planning</a:t>
            </a:r>
            <a:r>
              <a:rPr lang="en-US" sz="1600" dirty="0"/>
              <a:t> – Set quality goals and objectives. </a:t>
            </a:r>
          </a:p>
          <a:p>
            <a:pPr>
              <a:buFont typeface="+mj-lt"/>
              <a:buAutoNum type="arabicPeriod"/>
            </a:pPr>
            <a:r>
              <a:rPr lang="en-US" sz="1600" b="1" dirty="0"/>
              <a:t>Implementation</a:t>
            </a:r>
            <a:r>
              <a:rPr lang="en-US" sz="1600" dirty="0"/>
              <a:t> – Apply quality practices and training. </a:t>
            </a:r>
          </a:p>
          <a:p>
            <a:pPr>
              <a:buFont typeface="+mj-lt"/>
              <a:buAutoNum type="arabicPeriod"/>
            </a:pPr>
            <a:r>
              <a:rPr lang="en-US" sz="1600" b="1" dirty="0"/>
              <a:t>Evaluation</a:t>
            </a:r>
            <a:r>
              <a:rPr lang="en-US" sz="1600" dirty="0"/>
              <a:t> – Monitor and measure performance. </a:t>
            </a:r>
          </a:p>
          <a:p>
            <a:pPr>
              <a:buFont typeface="+mj-lt"/>
              <a:buAutoNum type="arabicPeriod"/>
            </a:pPr>
            <a:r>
              <a:rPr lang="en-US" sz="1600" b="1" dirty="0"/>
              <a:t>Improvement</a:t>
            </a:r>
            <a:r>
              <a:rPr lang="en-US" sz="1600" dirty="0"/>
              <a:t> – Take corrective actions for continuous improvement. </a:t>
            </a:r>
          </a:p>
        </p:txBody>
      </p:sp>
      <p:sp>
        <p:nvSpPr>
          <p:cNvPr id="13" name="Title 1">
            <a:extLst>
              <a:ext uri="{FF2B5EF4-FFF2-40B4-BE49-F238E27FC236}">
                <a16:creationId xmlns:a16="http://schemas.microsoft.com/office/drawing/2014/main" id="{54C05DAC-36F3-D511-F62C-DC8A301755AA}"/>
              </a:ext>
            </a:extLst>
          </p:cNvPr>
          <p:cNvSpPr txBox="1">
            <a:spLocks/>
          </p:cNvSpPr>
          <p:nvPr/>
        </p:nvSpPr>
        <p:spPr>
          <a:xfrm>
            <a:off x="-21771" y="5029201"/>
            <a:ext cx="3450771" cy="47723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1200" b="1" dirty="0">
                <a:latin typeface="Times New Roman" panose="02020603050405020304" pitchFamily="18" charset="0"/>
                <a:cs typeface="Times New Roman" panose="02020603050405020304" pitchFamily="18" charset="0"/>
              </a:rPr>
              <a:t>Benefits of TQM</a:t>
            </a:r>
          </a:p>
        </p:txBody>
      </p:sp>
      <p:sp>
        <p:nvSpPr>
          <p:cNvPr id="15" name="TextBox 14">
            <a:extLst>
              <a:ext uri="{FF2B5EF4-FFF2-40B4-BE49-F238E27FC236}">
                <a16:creationId xmlns:a16="http://schemas.microsoft.com/office/drawing/2014/main" id="{B93BF38B-4093-EDA8-BB42-5CCBAB65853E}"/>
              </a:ext>
            </a:extLst>
          </p:cNvPr>
          <p:cNvSpPr txBox="1"/>
          <p:nvPr/>
        </p:nvSpPr>
        <p:spPr>
          <a:xfrm>
            <a:off x="274866" y="5563327"/>
            <a:ext cx="4631870" cy="1200329"/>
          </a:xfrm>
          <a:prstGeom prst="rect">
            <a:avLst/>
          </a:prstGeom>
          <a:noFill/>
        </p:spPr>
        <p:txBody>
          <a:bodyPr wrap="square">
            <a:spAutoFit/>
          </a:bodyPr>
          <a:lstStyle/>
          <a:p>
            <a:pPr>
              <a:buFont typeface="+mj-lt"/>
              <a:buAutoNum type="arabicPeriod"/>
            </a:pPr>
            <a:r>
              <a:rPr lang="en-US" dirty="0"/>
              <a:t>Improves product quality </a:t>
            </a:r>
          </a:p>
          <a:p>
            <a:pPr>
              <a:buFont typeface="+mj-lt"/>
              <a:buAutoNum type="arabicPeriod"/>
            </a:pPr>
            <a:r>
              <a:rPr lang="en-US" dirty="0"/>
              <a:t>Increases customer satisfaction </a:t>
            </a:r>
          </a:p>
          <a:p>
            <a:pPr>
              <a:buFont typeface="+mj-lt"/>
              <a:buAutoNum type="arabicPeriod"/>
            </a:pPr>
            <a:r>
              <a:rPr lang="en-US" dirty="0"/>
              <a:t>Reduces defects and wastage </a:t>
            </a:r>
          </a:p>
          <a:p>
            <a:pPr>
              <a:buFont typeface="+mj-lt"/>
              <a:buAutoNum type="arabicPeriod"/>
            </a:pPr>
            <a:r>
              <a:rPr lang="en-US" dirty="0"/>
              <a:t>Increases productivity and profit </a:t>
            </a:r>
          </a:p>
        </p:txBody>
      </p:sp>
      <p:sp>
        <p:nvSpPr>
          <p:cNvPr id="16" name="Title 1">
            <a:extLst>
              <a:ext uri="{FF2B5EF4-FFF2-40B4-BE49-F238E27FC236}">
                <a16:creationId xmlns:a16="http://schemas.microsoft.com/office/drawing/2014/main" id="{EC5A5B8D-FF3D-0175-FC3C-C265CA4F068C}"/>
              </a:ext>
            </a:extLst>
          </p:cNvPr>
          <p:cNvSpPr txBox="1">
            <a:spLocks/>
          </p:cNvSpPr>
          <p:nvPr/>
        </p:nvSpPr>
        <p:spPr>
          <a:xfrm>
            <a:off x="4136571" y="4937179"/>
            <a:ext cx="4348843" cy="59770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1200" b="1" dirty="0">
                <a:latin typeface="Times New Roman" panose="02020603050405020304" pitchFamily="18" charset="0"/>
                <a:cs typeface="Times New Roman" panose="02020603050405020304" pitchFamily="18" charset="0"/>
              </a:rPr>
              <a:t>Disadvantages of TQM</a:t>
            </a:r>
          </a:p>
        </p:txBody>
      </p:sp>
      <p:sp>
        <p:nvSpPr>
          <p:cNvPr id="18" name="TextBox 17">
            <a:extLst>
              <a:ext uri="{FF2B5EF4-FFF2-40B4-BE49-F238E27FC236}">
                <a16:creationId xmlns:a16="http://schemas.microsoft.com/office/drawing/2014/main" id="{9BB5BADC-C351-A34E-C327-AE2A3AEAE97C}"/>
              </a:ext>
            </a:extLst>
          </p:cNvPr>
          <p:cNvSpPr txBox="1"/>
          <p:nvPr/>
        </p:nvSpPr>
        <p:spPr>
          <a:xfrm>
            <a:off x="4011386" y="5541556"/>
            <a:ext cx="4631870" cy="1200329"/>
          </a:xfrm>
          <a:prstGeom prst="rect">
            <a:avLst/>
          </a:prstGeom>
          <a:noFill/>
        </p:spPr>
        <p:txBody>
          <a:bodyPr wrap="square">
            <a:spAutoFit/>
          </a:bodyPr>
          <a:lstStyle/>
          <a:p>
            <a:pPr>
              <a:buFont typeface="+mj-lt"/>
              <a:buAutoNum type="arabicPeriod"/>
            </a:pPr>
            <a:r>
              <a:rPr lang="en-US" dirty="0"/>
              <a:t>High implementation cost </a:t>
            </a:r>
          </a:p>
          <a:p>
            <a:pPr>
              <a:buFont typeface="+mj-lt"/>
              <a:buAutoNum type="arabicPeriod"/>
            </a:pPr>
            <a:r>
              <a:rPr lang="en-US" dirty="0"/>
              <a:t>Requires more time and training </a:t>
            </a:r>
          </a:p>
          <a:p>
            <a:pPr>
              <a:buFont typeface="+mj-lt"/>
              <a:buAutoNum type="arabicPeriod"/>
            </a:pPr>
            <a:r>
              <a:rPr lang="en-US" dirty="0"/>
              <a:t>Resistance to change by employees </a:t>
            </a:r>
          </a:p>
          <a:p>
            <a:pPr>
              <a:buFont typeface="+mj-lt"/>
              <a:buAutoNum type="arabicPeriod"/>
            </a:pPr>
            <a:r>
              <a:rPr lang="en-US" dirty="0"/>
              <a:t>Continuous monitoring is difficult </a:t>
            </a:r>
          </a:p>
        </p:txBody>
      </p:sp>
    </p:spTree>
    <p:extLst>
      <p:ext uri="{BB962C8B-B14F-4D97-AF65-F5344CB8AC3E}">
        <p14:creationId xmlns:p14="http://schemas.microsoft.com/office/powerpoint/2010/main" val="391931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4</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0" y="1049617"/>
            <a:ext cx="9144000" cy="1661993"/>
          </a:xfrm>
          <a:prstGeom prst="rect">
            <a:avLst/>
          </a:prstGeom>
          <a:noFill/>
        </p:spPr>
        <p:txBody>
          <a:bodyPr wrap="square">
            <a:spAutoFit/>
          </a:bodyPr>
          <a:lstStyle/>
          <a:p>
            <a:pPr algn="just"/>
            <a:r>
              <a:rPr lang="en-US" sz="1600" b="0" i="0" dirty="0">
                <a:effectLst/>
                <a:latin typeface="Times" panose="02020603050405020304" pitchFamily="18" charset="0"/>
                <a:cs typeface="Times" panose="02020603050405020304" pitchFamily="18" charset="0"/>
              </a:rPr>
              <a:t>The eight guiding principles that TQM uses to improve quality include the following:</a:t>
            </a:r>
          </a:p>
          <a:p>
            <a:pPr algn="just">
              <a:buFont typeface="+mj-lt"/>
              <a:buAutoNum type="arabicPeriod"/>
            </a:pPr>
            <a:r>
              <a:rPr lang="en-US" sz="1600" b="1" i="0" dirty="0">
                <a:solidFill>
                  <a:srgbClr val="FF0000"/>
                </a:solidFill>
                <a:effectLst/>
                <a:latin typeface="Times" panose="02020603050405020304" pitchFamily="18" charset="0"/>
                <a:cs typeface="Times" panose="02020603050405020304" pitchFamily="18" charset="0"/>
              </a:rPr>
              <a:t> Customer focus.</a:t>
            </a:r>
            <a:r>
              <a:rPr lang="en-US" sz="1600" b="0" i="0" dirty="0">
                <a:solidFill>
                  <a:srgbClr val="FF0000"/>
                </a:solidFill>
                <a:effectLst/>
                <a:latin typeface="Times" panose="02020603050405020304" pitchFamily="18" charset="0"/>
                <a:cs typeface="Times" panose="02020603050405020304" pitchFamily="18" charset="0"/>
              </a:rPr>
              <a:t> </a:t>
            </a:r>
            <a:r>
              <a:rPr lang="en-US" sz="1600" b="0" i="0" dirty="0">
                <a:effectLst/>
                <a:latin typeface="Times" panose="02020603050405020304" pitchFamily="18" charset="0"/>
                <a:cs typeface="Times" panose="02020603050405020304" pitchFamily="18" charset="0"/>
              </a:rPr>
              <a:t>The customer determines the quality level of the products and services. Customer input is valued, as it provides a better understanding of what the customer needs.</a:t>
            </a:r>
          </a:p>
          <a:p>
            <a:pPr algn="just">
              <a:buFont typeface="+mj-lt"/>
              <a:buAutoNum type="arabicPeriod"/>
            </a:pPr>
            <a:r>
              <a:rPr lang="en-US" sz="1600" b="1" i="0" dirty="0">
                <a:solidFill>
                  <a:srgbClr val="FF0000"/>
                </a:solidFill>
                <a:effectLst/>
                <a:latin typeface="Times" panose="02020603050405020304" pitchFamily="18" charset="0"/>
                <a:cs typeface="Times" panose="02020603050405020304" pitchFamily="18" charset="0"/>
              </a:rPr>
              <a:t> Employee involvement. </a:t>
            </a:r>
            <a:r>
              <a:rPr lang="en-US" sz="1600" b="0" i="0" dirty="0">
                <a:effectLst/>
                <a:latin typeface="Times" panose="02020603050405020304" pitchFamily="18" charset="0"/>
                <a:cs typeface="Times" panose="02020603050405020304" pitchFamily="18" charset="0"/>
              </a:rPr>
              <a:t>All employees must participate in the processes and system. They must be properly trained and given the needed resources to complete their tasks on time.</a:t>
            </a:r>
          </a:p>
          <a:p>
            <a:pPr algn="just"/>
            <a:endParaRPr lang="en-US" sz="2200" b="0" i="0" dirty="0">
              <a:effectLst/>
              <a:latin typeface="Times" panose="02020603050405020304" pitchFamily="18" charset="0"/>
              <a:cs typeface="Times" panose="02020603050405020304" pitchFamily="18" charset="0"/>
            </a:endParaRP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26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Principles of TQM- 8 principles</a:t>
            </a:r>
          </a:p>
        </p:txBody>
      </p:sp>
      <p:sp>
        <p:nvSpPr>
          <p:cNvPr id="6" name="TextBox 5">
            <a:extLst>
              <a:ext uri="{FF2B5EF4-FFF2-40B4-BE49-F238E27FC236}">
                <a16:creationId xmlns:a16="http://schemas.microsoft.com/office/drawing/2014/main" id="{333CC802-3659-4B80-9619-0D0C9180311B}"/>
              </a:ext>
            </a:extLst>
          </p:cNvPr>
          <p:cNvSpPr txBox="1"/>
          <p:nvPr/>
        </p:nvSpPr>
        <p:spPr>
          <a:xfrm>
            <a:off x="30018" y="2286000"/>
            <a:ext cx="8961582" cy="1754326"/>
          </a:xfrm>
          <a:prstGeom prst="rect">
            <a:avLst/>
          </a:prstGeom>
          <a:noFill/>
        </p:spPr>
        <p:txBody>
          <a:bodyPr wrap="square">
            <a:spAutoFit/>
          </a:bodyPr>
          <a:lstStyle/>
          <a:p>
            <a:pPr algn="just"/>
            <a:r>
              <a:rPr lang="en-US" sz="1800" b="1" i="0" dirty="0">
                <a:solidFill>
                  <a:srgbClr val="FF0000"/>
                </a:solidFill>
                <a:effectLst/>
                <a:latin typeface="Times" panose="02020603050405020304" pitchFamily="18" charset="0"/>
                <a:cs typeface="Times" panose="02020603050405020304" pitchFamily="18" charset="0"/>
              </a:rPr>
              <a:t>3. Focus on process</a:t>
            </a:r>
            <a:r>
              <a:rPr lang="en-US" sz="1800" b="1" i="0" dirty="0">
                <a:effectLst/>
                <a:latin typeface="Times" panose="02020603050405020304" pitchFamily="18" charset="0"/>
                <a:cs typeface="Times" panose="02020603050405020304" pitchFamily="18" charset="0"/>
              </a:rPr>
              <a:t>.</a:t>
            </a:r>
            <a:r>
              <a:rPr lang="en-US" sz="1800" b="0" i="0" dirty="0">
                <a:effectLst/>
                <a:latin typeface="Times" panose="02020603050405020304" pitchFamily="18" charset="0"/>
                <a:cs typeface="Times" panose="02020603050405020304" pitchFamily="18" charset="0"/>
              </a:rPr>
              <a:t> Processes must be continually analyzed to identify weaknesses. Every employee who takes part in the process should be properly educated in their contributions, ensuring the right steps are taken at the right time.</a:t>
            </a:r>
          </a:p>
          <a:p>
            <a:pPr algn="just"/>
            <a:r>
              <a:rPr lang="en-US" sz="1800" b="1" dirty="0">
                <a:solidFill>
                  <a:srgbClr val="FF0000"/>
                </a:solidFill>
                <a:latin typeface="Times" panose="02020603050405020304" pitchFamily="18" charset="0"/>
                <a:cs typeface="Times" panose="02020603050405020304" pitchFamily="18" charset="0"/>
              </a:rPr>
              <a:t>4. </a:t>
            </a:r>
            <a:r>
              <a:rPr lang="en-US" sz="1800" b="1" i="0" dirty="0">
                <a:solidFill>
                  <a:srgbClr val="FF0000"/>
                </a:solidFill>
                <a:effectLst/>
                <a:latin typeface="Times" panose="02020603050405020304" pitchFamily="18" charset="0"/>
                <a:cs typeface="Times" panose="02020603050405020304" pitchFamily="18" charset="0"/>
              </a:rPr>
              <a:t>Integrated business systems</a:t>
            </a:r>
            <a:r>
              <a:rPr lang="en-US" sz="1800" b="1" i="0" dirty="0">
                <a:effectLst/>
                <a:latin typeface="Times" panose="02020603050405020304" pitchFamily="18" charset="0"/>
                <a:cs typeface="Times" panose="02020603050405020304" pitchFamily="18" charset="0"/>
              </a:rPr>
              <a:t>.</a:t>
            </a:r>
            <a:r>
              <a:rPr lang="en-US" sz="1800" b="0" i="0" dirty="0">
                <a:effectLst/>
                <a:latin typeface="Times" panose="02020603050405020304" pitchFamily="18" charset="0"/>
                <a:cs typeface="Times" panose="02020603050405020304" pitchFamily="18" charset="0"/>
              </a:rPr>
              <a:t> All TQM processes should be integrated into a business process. Integrated systems convey potentially useful data across departments, enabling everyone to be on the same page.</a:t>
            </a:r>
          </a:p>
        </p:txBody>
      </p:sp>
      <p:sp>
        <p:nvSpPr>
          <p:cNvPr id="11" name="TextBox 10">
            <a:extLst>
              <a:ext uri="{FF2B5EF4-FFF2-40B4-BE49-F238E27FC236}">
                <a16:creationId xmlns:a16="http://schemas.microsoft.com/office/drawing/2014/main" id="{00837083-BE07-D204-73DD-EF0CA723FC48}"/>
              </a:ext>
            </a:extLst>
          </p:cNvPr>
          <p:cNvSpPr txBox="1"/>
          <p:nvPr/>
        </p:nvSpPr>
        <p:spPr>
          <a:xfrm>
            <a:off x="100611" y="3896821"/>
            <a:ext cx="8991600" cy="1200329"/>
          </a:xfrm>
          <a:prstGeom prst="rect">
            <a:avLst/>
          </a:prstGeom>
          <a:noFill/>
        </p:spPr>
        <p:txBody>
          <a:bodyPr wrap="square">
            <a:spAutoFit/>
          </a:bodyPr>
          <a:lstStyle/>
          <a:p>
            <a:pPr algn="just"/>
            <a:r>
              <a:rPr lang="en-US" sz="1800" b="1" dirty="0">
                <a:solidFill>
                  <a:srgbClr val="FF0000"/>
                </a:solidFill>
                <a:latin typeface="Times" panose="02020603050405020304" pitchFamily="18" charset="0"/>
                <a:cs typeface="Times" panose="02020603050405020304" pitchFamily="18" charset="0"/>
              </a:rPr>
              <a:t>5</a:t>
            </a:r>
            <a:r>
              <a:rPr lang="en-US" sz="1800" b="1" i="0" dirty="0">
                <a:solidFill>
                  <a:srgbClr val="FF0000"/>
                </a:solidFill>
                <a:effectLst/>
                <a:latin typeface="Times" panose="02020603050405020304" pitchFamily="18" charset="0"/>
                <a:cs typeface="Times" panose="02020603050405020304" pitchFamily="18" charset="0"/>
              </a:rPr>
              <a:t>.Strategic and systematic approach.</a:t>
            </a:r>
            <a:r>
              <a:rPr lang="en-US" sz="1800" b="0" i="0" dirty="0">
                <a:solidFill>
                  <a:srgbClr val="FF0000"/>
                </a:solidFill>
                <a:effectLst/>
                <a:latin typeface="Times" panose="02020603050405020304" pitchFamily="18" charset="0"/>
                <a:cs typeface="Times" panose="02020603050405020304" pitchFamily="18" charset="0"/>
              </a:rPr>
              <a:t> </a:t>
            </a:r>
            <a:r>
              <a:rPr lang="en-US" sz="1800" b="0" i="0" dirty="0">
                <a:effectLst/>
                <a:latin typeface="Times" panose="02020603050405020304" pitchFamily="18" charset="0"/>
                <a:cs typeface="Times" panose="02020603050405020304" pitchFamily="18" charset="0"/>
              </a:rPr>
              <a:t>Planning and management are required using a strategic plan with quality as a base component.</a:t>
            </a:r>
          </a:p>
          <a:p>
            <a:pPr algn="just"/>
            <a:r>
              <a:rPr lang="en-US" sz="1800" b="1" dirty="0">
                <a:solidFill>
                  <a:srgbClr val="FF0000"/>
                </a:solidFill>
                <a:latin typeface="Times" panose="02020603050405020304" pitchFamily="18" charset="0"/>
                <a:cs typeface="Times" panose="02020603050405020304" pitchFamily="18" charset="0"/>
              </a:rPr>
              <a:t>6.</a:t>
            </a:r>
            <a:r>
              <a:rPr lang="en-US" sz="1800" b="1" i="0" dirty="0">
                <a:solidFill>
                  <a:srgbClr val="FF0000"/>
                </a:solidFill>
                <a:effectLst/>
                <a:latin typeface="Times" panose="02020603050405020304" pitchFamily="18" charset="0"/>
                <a:cs typeface="Times" panose="02020603050405020304" pitchFamily="18" charset="0"/>
              </a:rPr>
              <a:t>Continual improvement.</a:t>
            </a:r>
            <a:r>
              <a:rPr lang="en-US" sz="1800" b="0" i="0" dirty="0">
                <a:solidFill>
                  <a:srgbClr val="FF0000"/>
                </a:solidFill>
                <a:effectLst/>
                <a:latin typeface="Times" panose="02020603050405020304" pitchFamily="18" charset="0"/>
                <a:cs typeface="Times" panose="02020603050405020304" pitchFamily="18" charset="0"/>
              </a:rPr>
              <a:t> </a:t>
            </a:r>
            <a:r>
              <a:rPr lang="en-US" sz="1800" b="0" i="0" dirty="0">
                <a:effectLst/>
                <a:latin typeface="Times" panose="02020603050405020304" pitchFamily="18" charset="0"/>
                <a:cs typeface="Times" panose="02020603050405020304" pitchFamily="18" charset="0"/>
              </a:rPr>
              <a:t>A focus on continually improving quality helps an organization adapt to changing markets and achieve competitive advantages.</a:t>
            </a:r>
          </a:p>
        </p:txBody>
      </p:sp>
      <p:sp>
        <p:nvSpPr>
          <p:cNvPr id="13" name="TextBox 12">
            <a:extLst>
              <a:ext uri="{FF2B5EF4-FFF2-40B4-BE49-F238E27FC236}">
                <a16:creationId xmlns:a16="http://schemas.microsoft.com/office/drawing/2014/main" id="{43A163E6-47B0-FE47-B24C-8A9B80E55B81}"/>
              </a:ext>
            </a:extLst>
          </p:cNvPr>
          <p:cNvSpPr txBox="1"/>
          <p:nvPr/>
        </p:nvSpPr>
        <p:spPr>
          <a:xfrm>
            <a:off x="133268" y="5042118"/>
            <a:ext cx="9029536" cy="1569660"/>
          </a:xfrm>
          <a:prstGeom prst="rect">
            <a:avLst/>
          </a:prstGeom>
          <a:noFill/>
        </p:spPr>
        <p:txBody>
          <a:bodyPr wrap="square">
            <a:spAutoFit/>
          </a:bodyPr>
          <a:lstStyle/>
          <a:p>
            <a:pPr algn="just"/>
            <a:r>
              <a:rPr lang="en-US" sz="1600" b="1" dirty="0">
                <a:solidFill>
                  <a:srgbClr val="FF0000"/>
                </a:solidFill>
                <a:latin typeface="Times" panose="02020603050405020304" pitchFamily="18" charset="0"/>
                <a:cs typeface="Times" panose="02020603050405020304" pitchFamily="18" charset="0"/>
              </a:rPr>
              <a:t>7</a:t>
            </a:r>
            <a:r>
              <a:rPr lang="en-US" sz="1600" b="1" i="0" dirty="0">
                <a:solidFill>
                  <a:srgbClr val="FF0000"/>
                </a:solidFill>
                <a:effectLst/>
                <a:latin typeface="Times" panose="02020603050405020304" pitchFamily="18" charset="0"/>
                <a:cs typeface="Times" panose="02020603050405020304" pitchFamily="18" charset="0"/>
              </a:rPr>
              <a:t>. Focus on data. </a:t>
            </a:r>
            <a:r>
              <a:rPr lang="en-US" sz="1600" b="0" i="0" dirty="0">
                <a:effectLst/>
                <a:latin typeface="Times" panose="02020603050405020304" pitchFamily="18" charset="0"/>
                <a:cs typeface="Times" panose="02020603050405020304" pitchFamily="18" charset="0"/>
              </a:rPr>
              <a:t>Data should be collected, documented and analyzed to improve decision-making accuracy and to predict trends based on previous history.</a:t>
            </a:r>
          </a:p>
          <a:p>
            <a:pPr algn="just"/>
            <a:endParaRPr lang="en-US" sz="1600" b="1" i="0" dirty="0">
              <a:effectLst/>
              <a:latin typeface="Times" panose="02020603050405020304" pitchFamily="18" charset="0"/>
              <a:cs typeface="Times" panose="02020603050405020304" pitchFamily="18" charset="0"/>
            </a:endParaRPr>
          </a:p>
          <a:p>
            <a:pPr algn="just"/>
            <a:r>
              <a:rPr lang="en-US" sz="1600" b="1" dirty="0">
                <a:solidFill>
                  <a:srgbClr val="FF0000"/>
                </a:solidFill>
                <a:latin typeface="Times" panose="02020603050405020304" pitchFamily="18" charset="0"/>
                <a:cs typeface="Times" panose="02020603050405020304" pitchFamily="18" charset="0"/>
              </a:rPr>
              <a:t>8</a:t>
            </a:r>
            <a:r>
              <a:rPr lang="en-US" sz="1600" b="1" i="0" dirty="0">
                <a:solidFill>
                  <a:srgbClr val="FF0000"/>
                </a:solidFill>
                <a:effectLst/>
                <a:latin typeface="Times" panose="02020603050405020304" pitchFamily="18" charset="0"/>
                <a:cs typeface="Times" panose="02020603050405020304" pitchFamily="18" charset="0"/>
              </a:rPr>
              <a:t>.Communication</a:t>
            </a:r>
            <a:r>
              <a:rPr lang="en-US" sz="1600" b="1" i="0" dirty="0">
                <a:effectLst/>
                <a:latin typeface="Times" panose="02020603050405020304" pitchFamily="18" charset="0"/>
                <a:cs typeface="Times" panose="02020603050405020304" pitchFamily="18" charset="0"/>
              </a:rPr>
              <a:t>. </a:t>
            </a:r>
            <a:r>
              <a:rPr lang="en-US" sz="1600" b="0" i="0" dirty="0">
                <a:effectLst/>
                <a:latin typeface="Times" panose="02020603050405020304" pitchFamily="18" charset="0"/>
                <a:cs typeface="Times" panose="02020603050405020304" pitchFamily="18" charset="0"/>
              </a:rPr>
              <a:t>Communication between teams with information such as strategies, methodologies or timeliness is essential to improving operations. Good communication can also motivate employees and improve morale.</a:t>
            </a:r>
          </a:p>
        </p:txBody>
      </p:sp>
    </p:spTree>
    <p:extLst>
      <p:ext uri="{BB962C8B-B14F-4D97-AF65-F5344CB8AC3E}">
        <p14:creationId xmlns:p14="http://schemas.microsoft.com/office/powerpoint/2010/main" val="3762596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8E571-B6AE-37F9-5AF6-C505E003C24A}"/>
              </a:ext>
            </a:extLst>
          </p:cNvPr>
          <p:cNvSpPr>
            <a:spLocks noGrp="1"/>
          </p:cNvSpPr>
          <p:nvPr>
            <p:ph idx="1"/>
          </p:nvPr>
        </p:nvSpPr>
        <p:spPr>
          <a:xfrm>
            <a:off x="685800" y="1125724"/>
            <a:ext cx="7391400" cy="4964730"/>
          </a:xfrm>
        </p:spPr>
        <p:txBody>
          <a:bodyPr>
            <a:normAutofit/>
          </a:bodyPr>
          <a:lstStyle/>
          <a:p>
            <a:pPr marL="0" indent="0" algn="just">
              <a:buNone/>
            </a:pPr>
            <a:r>
              <a:rPr lang="en-US" sz="2000" i="0" dirty="0">
                <a:solidFill>
                  <a:srgbClr val="FF0000"/>
                </a:solidFill>
                <a:effectLst/>
                <a:latin typeface="Times" panose="02020603050405020304" pitchFamily="18" charset="0"/>
                <a:cs typeface="Times" panose="02020603050405020304" pitchFamily="18" charset="0"/>
              </a:rPr>
              <a:t>Quality management is the act of overseeing all activities and tasks needed to maintain a desired level of excellence. Quality management includes the determination of a quality policy, creating and implementing quality planning and assurance, and quality control and quality improvement.</a:t>
            </a:r>
          </a:p>
          <a:p>
            <a:pPr marL="457200" lvl="1" indent="0" algn="just">
              <a:buNone/>
            </a:pPr>
            <a:endParaRPr lang="en-US" sz="2800" dirty="0">
              <a:latin typeface="Times New Roman" pitchFamily="18" charset="0"/>
              <a:cs typeface="Times New Roman" pitchFamily="18" charset="0"/>
            </a:endParaRPr>
          </a:p>
          <a:p>
            <a:pPr marL="457200" lvl="1" indent="0">
              <a:buNone/>
            </a:pPr>
            <a:endParaRPr lang="en-US" b="0" i="0" dirty="0">
              <a:solidFill>
                <a:srgbClr val="17494D"/>
              </a:solidFill>
              <a:effectLst/>
              <a:latin typeface="Proxima Nova"/>
            </a:endParaRPr>
          </a:p>
          <a:p>
            <a:pPr marL="457200" lvl="1" indent="0">
              <a:buNone/>
            </a:pPr>
            <a:endParaRPr lang="en-US" b="0" i="0" dirty="0">
              <a:solidFill>
                <a:srgbClr val="17494D"/>
              </a:solidFill>
              <a:effectLst/>
              <a:latin typeface="Proxima Nova"/>
            </a:endParaRPr>
          </a:p>
          <a:p>
            <a:pPr marL="457200" lvl="1" indent="0">
              <a:buNone/>
            </a:pPr>
            <a:endParaRPr lang="en-US" dirty="0"/>
          </a:p>
        </p:txBody>
      </p:sp>
      <p:sp>
        <p:nvSpPr>
          <p:cNvPr id="4" name="Date Placeholder 3">
            <a:extLst>
              <a:ext uri="{FF2B5EF4-FFF2-40B4-BE49-F238E27FC236}">
                <a16:creationId xmlns:a16="http://schemas.microsoft.com/office/drawing/2014/main" id="{2FE786B3-6B5B-EED1-D878-D4B7EFBAF31C}"/>
              </a:ext>
            </a:extLst>
          </p:cNvPr>
          <p:cNvSpPr>
            <a:spLocks noGrp="1"/>
          </p:cNvSpPr>
          <p:nvPr>
            <p:ph type="dt" sz="half" idx="10"/>
          </p:nvPr>
        </p:nvSpPr>
        <p:spPr/>
        <p:txBody>
          <a:bodyPr/>
          <a:lstStyle/>
          <a:p>
            <a:fld id="{411324DE-9806-4F84-84CB-402A77758B64}" type="datetime1">
              <a:rPr lang="en-US" smtClean="0"/>
              <a:t>5/10/2026</a:t>
            </a:fld>
            <a:endParaRPr lang="en-US"/>
          </a:p>
        </p:txBody>
      </p:sp>
      <p:sp>
        <p:nvSpPr>
          <p:cNvPr id="5" name="Footer Placeholder 4">
            <a:extLst>
              <a:ext uri="{FF2B5EF4-FFF2-40B4-BE49-F238E27FC236}">
                <a16:creationId xmlns:a16="http://schemas.microsoft.com/office/drawing/2014/main" id="{53837D02-FA32-164F-7AEB-81CDA9D839E0}"/>
              </a:ext>
            </a:extLst>
          </p:cNvPr>
          <p:cNvSpPr>
            <a:spLocks noGrp="1"/>
          </p:cNvSpPr>
          <p:nvPr>
            <p:ph type="ftr" sz="quarter" idx="11"/>
          </p:nvPr>
        </p:nvSpPr>
        <p:spPr/>
        <p:txBody>
          <a:bodyPr/>
          <a:lstStyle/>
          <a:p>
            <a:r>
              <a:rPr lang="fi-FI"/>
              <a:t>Mr. Minhaj Nezami    AOE0861    TQM    Unit-1                         </a:t>
            </a:r>
            <a:endParaRPr lang="en-US" dirty="0"/>
          </a:p>
        </p:txBody>
      </p:sp>
      <p:sp>
        <p:nvSpPr>
          <p:cNvPr id="6" name="Slide Number Placeholder 5">
            <a:extLst>
              <a:ext uri="{FF2B5EF4-FFF2-40B4-BE49-F238E27FC236}">
                <a16:creationId xmlns:a16="http://schemas.microsoft.com/office/drawing/2014/main" id="{4F945305-2E80-5E1F-3D56-24E3745869CB}"/>
              </a:ext>
            </a:extLst>
          </p:cNvPr>
          <p:cNvSpPr>
            <a:spLocks noGrp="1"/>
          </p:cNvSpPr>
          <p:nvPr>
            <p:ph type="sldNum" sz="quarter" idx="12"/>
          </p:nvPr>
        </p:nvSpPr>
        <p:spPr/>
        <p:txBody>
          <a:bodyPr/>
          <a:lstStyle/>
          <a:p>
            <a:fld id="{201B34E6-0086-427D-A404-3B2A6BB81F11}" type="slidenum">
              <a:rPr lang="en-US" smtClean="0"/>
              <a:pPr/>
              <a:t>5</a:t>
            </a:fld>
            <a:endParaRPr lang="en-US"/>
          </a:p>
        </p:txBody>
      </p:sp>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5655" y="154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QM Modern Concept</a:t>
            </a:r>
          </a:p>
        </p:txBody>
      </p:sp>
      <p:sp>
        <p:nvSpPr>
          <p:cNvPr id="7" name="TextBox 6">
            <a:extLst>
              <a:ext uri="{FF2B5EF4-FFF2-40B4-BE49-F238E27FC236}">
                <a16:creationId xmlns:a16="http://schemas.microsoft.com/office/drawing/2014/main" id="{88FB74F5-9ACD-9D28-03B3-343C19E4958D}"/>
              </a:ext>
            </a:extLst>
          </p:cNvPr>
          <p:cNvSpPr txBox="1"/>
          <p:nvPr/>
        </p:nvSpPr>
        <p:spPr>
          <a:xfrm>
            <a:off x="157843" y="2749819"/>
            <a:ext cx="8828314" cy="3508653"/>
          </a:xfrm>
          <a:prstGeom prst="rect">
            <a:avLst/>
          </a:prstGeom>
          <a:noFill/>
        </p:spPr>
        <p:txBody>
          <a:bodyPr wrap="square">
            <a:spAutoFit/>
          </a:bodyPr>
          <a:lstStyle/>
          <a:p>
            <a:pPr algn="just"/>
            <a:r>
              <a:rPr lang="en-US" sz="2200" b="1" dirty="0">
                <a:latin typeface="Times" panose="02020603050405020304" pitchFamily="18" charset="0"/>
                <a:cs typeface="Times" panose="02020603050405020304" pitchFamily="18" charset="0"/>
              </a:rPr>
              <a:t>Customer-oriented process</a:t>
            </a:r>
          </a:p>
          <a:p>
            <a:pPr marL="0" indent="0" algn="just">
              <a:buNone/>
            </a:pPr>
            <a:r>
              <a:rPr lang="en-US" sz="2000" i="0" dirty="0">
                <a:effectLst/>
                <a:latin typeface="Times" panose="02020603050405020304" pitchFamily="18" charset="0"/>
                <a:cs typeface="Times" panose="02020603050405020304" pitchFamily="18" charset="0"/>
              </a:rPr>
              <a:t>Customer orientation is a business approach that puts the needs of the customer over the needs of the business. Customer-oriented companies understand that the business won't thrive unless it consistently improves customer focus. It's a way of thinking that aligns your business goals with your customers' goals.</a:t>
            </a:r>
          </a:p>
          <a:p>
            <a:pPr algn="just"/>
            <a:r>
              <a:rPr lang="en-US" sz="2200" b="1" dirty="0">
                <a:latin typeface="Times" panose="02020603050405020304" pitchFamily="18" charset="0"/>
                <a:cs typeface="Times" panose="02020603050405020304" pitchFamily="18" charset="0"/>
              </a:rPr>
              <a:t>Continuous improvement</a:t>
            </a:r>
          </a:p>
          <a:p>
            <a:pPr marL="0" indent="0" algn="just">
              <a:buNone/>
            </a:pPr>
            <a:r>
              <a:rPr lang="en-US" sz="2000" i="0" dirty="0">
                <a:effectLst/>
                <a:latin typeface="Times" panose="02020603050405020304" pitchFamily="18" charset="0"/>
                <a:cs typeface="Times" panose="02020603050405020304" pitchFamily="18" charset="0"/>
              </a:rPr>
              <a:t>Continuous improvement, sometimes called continual improvement, is the ongoing improvement of products, services or processes through incremental and breakthrough improvements. These efforts can seek "incremental" improvement over time or "breakthrough" improvement all at once.</a:t>
            </a:r>
          </a:p>
          <a:p>
            <a:pPr marL="457200" lvl="1" indent="0">
              <a:buNone/>
            </a:pPr>
            <a:endParaRPr lang="en-US" b="0" i="0" dirty="0">
              <a:solidFill>
                <a:srgbClr val="17494D"/>
              </a:solidFill>
              <a:effectLst/>
              <a:latin typeface="Proxima Nova"/>
            </a:endParaRPr>
          </a:p>
        </p:txBody>
      </p:sp>
    </p:spTree>
    <p:extLst>
      <p:ext uri="{BB962C8B-B14F-4D97-AF65-F5344CB8AC3E}">
        <p14:creationId xmlns:p14="http://schemas.microsoft.com/office/powerpoint/2010/main" val="3579991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711727-D8FB-4AA1-86D3-BECD9CC7543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5/10/2026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1200" b="0" i="0" u="none" strike="noStrike" kern="1200" cap="none" spc="0" normalizeH="0" baseline="0" noProof="0">
                <a:ln>
                  <a:noFill/>
                </a:ln>
                <a:solidFill>
                  <a:prstClr val="black">
                    <a:tint val="75000"/>
                  </a:prstClr>
                </a:solidFill>
                <a:effectLst/>
                <a:uLnTx/>
                <a:uFillTx/>
                <a:latin typeface="Calibri"/>
                <a:ea typeface="+mn-ea"/>
                <a:cs typeface="+mn-cs"/>
              </a:rPr>
              <a:t>Mr. Minhaj Nezami    AOE0861    TQM    Unit-1                         </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B34E6-0086-427D-A404-3B2A6BB81F1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2446086"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Barriers to TQM</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152400" y="1099397"/>
            <a:ext cx="8839200" cy="2923877"/>
          </a:xfrm>
          <a:prstGeom prst="rect">
            <a:avLst/>
          </a:prstGeom>
        </p:spPr>
        <p:txBody>
          <a:bodyPr wrap="square">
            <a:spAutoFit/>
          </a:bodyPr>
          <a:lstStyle/>
          <a:p>
            <a:r>
              <a:rPr lang="en-US" sz="2000" b="1" dirty="0">
                <a:solidFill>
                  <a:srgbClr val="FF0000"/>
                </a:solidFill>
              </a:rPr>
              <a:t>Common Barriers</a:t>
            </a:r>
          </a:p>
          <a:p>
            <a:pPr marL="342900" indent="-342900">
              <a:buFont typeface="Arial" panose="020B0604020202020204" pitchFamily="34" charset="0"/>
              <a:buChar char="•"/>
            </a:pPr>
            <a:r>
              <a:rPr lang="en-US" sz="2000" dirty="0"/>
              <a:t>Lack of top management support </a:t>
            </a:r>
          </a:p>
          <a:p>
            <a:pPr marL="342900" indent="-342900">
              <a:buFont typeface="Arial" panose="020B0604020202020204" pitchFamily="34" charset="0"/>
              <a:buChar char="•"/>
            </a:pPr>
            <a:r>
              <a:rPr lang="en-US" sz="2000" dirty="0"/>
              <a:t>Resistance to change </a:t>
            </a:r>
          </a:p>
          <a:p>
            <a:pPr marL="342900" indent="-342900">
              <a:buFont typeface="Arial" panose="020B0604020202020204" pitchFamily="34" charset="0"/>
              <a:buChar char="•"/>
            </a:pPr>
            <a:r>
              <a:rPr lang="en-US" sz="2000" dirty="0"/>
              <a:t>Poor communication </a:t>
            </a:r>
          </a:p>
          <a:p>
            <a:pPr marL="342900" indent="-342900">
              <a:buFont typeface="Arial" panose="020B0604020202020204" pitchFamily="34" charset="0"/>
              <a:buChar char="•"/>
            </a:pPr>
            <a:r>
              <a:rPr lang="en-US" sz="2000" dirty="0"/>
              <a:t>Lack of employee training </a:t>
            </a:r>
          </a:p>
          <a:p>
            <a:pPr marL="342900" indent="-342900">
              <a:buFont typeface="Arial" panose="020B0604020202020204" pitchFamily="34" charset="0"/>
              <a:buChar char="•"/>
            </a:pPr>
            <a:r>
              <a:rPr lang="en-US" sz="2000" dirty="0"/>
              <a:t>Insufficient resources </a:t>
            </a:r>
          </a:p>
          <a:p>
            <a:pPr marL="342900" indent="-342900">
              <a:buFont typeface="Arial" panose="020B0604020202020204" pitchFamily="34" charset="0"/>
              <a:buChar char="•"/>
            </a:pPr>
            <a:r>
              <a:rPr lang="en-US" sz="2000" dirty="0"/>
              <a:t>Fear of new methods </a:t>
            </a:r>
          </a:p>
          <a:p>
            <a:pPr marL="342900" indent="-342900">
              <a:buFont typeface="Arial" panose="020B0604020202020204" pitchFamily="34" charset="0"/>
              <a:buChar char="•"/>
            </a:pPr>
            <a:r>
              <a:rPr lang="en-US" sz="2000" dirty="0"/>
              <a:t>Improper planning</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96FBAB1E-505B-A350-1048-7A58B4272235}"/>
              </a:ext>
            </a:extLst>
          </p:cNvPr>
          <p:cNvSpPr txBox="1">
            <a:spLocks/>
          </p:cNvSpPr>
          <p:nvPr/>
        </p:nvSpPr>
        <p:spPr>
          <a:xfrm>
            <a:off x="1066800" y="3672739"/>
            <a:ext cx="6248400" cy="45933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a:latin typeface="Times New Roman" panose="02020603050405020304" pitchFamily="18" charset="0"/>
                <a:cs typeface="Times New Roman" panose="02020603050405020304" pitchFamily="18" charset="0"/>
              </a:rPr>
              <a:t>Customer Focus</a:t>
            </a:r>
            <a:endParaRPr lang="en-US"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C7340CD-2652-4FE1-E2B0-5ED73BA9026C}"/>
              </a:ext>
            </a:extLst>
          </p:cNvPr>
          <p:cNvSpPr txBox="1"/>
          <p:nvPr/>
        </p:nvSpPr>
        <p:spPr>
          <a:xfrm>
            <a:off x="152400" y="4345276"/>
            <a:ext cx="8119143" cy="1754326"/>
          </a:xfrm>
          <a:prstGeom prst="rect">
            <a:avLst/>
          </a:prstGeom>
          <a:noFill/>
        </p:spPr>
        <p:txBody>
          <a:bodyPr wrap="square">
            <a:spAutoFit/>
          </a:bodyPr>
          <a:lstStyle/>
          <a:p>
            <a:pPr>
              <a:buNone/>
            </a:pPr>
            <a:r>
              <a:rPr lang="en-US" dirty="0"/>
              <a:t>Customer focus means understanding and meeting customer needs and expectations.</a:t>
            </a:r>
          </a:p>
          <a:p>
            <a:pPr>
              <a:buNone/>
            </a:pPr>
            <a:r>
              <a:rPr lang="en-US" b="1" dirty="0"/>
              <a:t>Features</a:t>
            </a:r>
          </a:p>
          <a:p>
            <a:pPr>
              <a:buFont typeface="Arial" panose="020B0604020202020204" pitchFamily="34" charset="0"/>
              <a:buChar char="•"/>
            </a:pPr>
            <a:r>
              <a:rPr lang="en-US" dirty="0"/>
              <a:t>Identify customer requirements </a:t>
            </a:r>
          </a:p>
          <a:p>
            <a:pPr>
              <a:buFont typeface="Arial" panose="020B0604020202020204" pitchFamily="34" charset="0"/>
              <a:buChar char="•"/>
            </a:pPr>
            <a:r>
              <a:rPr lang="en-US" dirty="0"/>
              <a:t>Deliver quality products </a:t>
            </a:r>
          </a:p>
          <a:p>
            <a:pPr>
              <a:buFont typeface="Arial" panose="020B0604020202020204" pitchFamily="34" charset="0"/>
              <a:buChar char="•"/>
            </a:pPr>
            <a:r>
              <a:rPr lang="en-US" dirty="0"/>
              <a:t>Collect feedback </a:t>
            </a:r>
          </a:p>
        </p:txBody>
      </p:sp>
      <p:sp>
        <p:nvSpPr>
          <p:cNvPr id="12" name="TextBox 11">
            <a:extLst>
              <a:ext uri="{FF2B5EF4-FFF2-40B4-BE49-F238E27FC236}">
                <a16:creationId xmlns:a16="http://schemas.microsoft.com/office/drawing/2014/main" id="{116E38F4-6F9A-8640-03F4-0376F14EC11A}"/>
              </a:ext>
            </a:extLst>
          </p:cNvPr>
          <p:cNvSpPr txBox="1"/>
          <p:nvPr/>
        </p:nvSpPr>
        <p:spPr>
          <a:xfrm>
            <a:off x="4201886" y="4899273"/>
            <a:ext cx="4599214" cy="1200329"/>
          </a:xfrm>
          <a:prstGeom prst="rect">
            <a:avLst/>
          </a:prstGeom>
          <a:noFill/>
        </p:spPr>
        <p:txBody>
          <a:bodyPr wrap="square">
            <a:spAutoFit/>
          </a:bodyPr>
          <a:lstStyle/>
          <a:p>
            <a:pPr>
              <a:buNone/>
            </a:pPr>
            <a:r>
              <a:rPr lang="en-US" b="1" dirty="0"/>
              <a:t>Benefits</a:t>
            </a:r>
          </a:p>
          <a:p>
            <a:pPr>
              <a:buFont typeface="Arial" panose="020B0604020202020204" pitchFamily="34" charset="0"/>
              <a:buChar char="•"/>
            </a:pPr>
            <a:r>
              <a:rPr lang="en-US" dirty="0"/>
              <a:t>Customer loyalty </a:t>
            </a:r>
          </a:p>
          <a:p>
            <a:pPr>
              <a:buFont typeface="Arial" panose="020B0604020202020204" pitchFamily="34" charset="0"/>
              <a:buChar char="•"/>
            </a:pPr>
            <a:r>
              <a:rPr lang="en-US" dirty="0"/>
              <a:t>Increased sales </a:t>
            </a:r>
          </a:p>
          <a:p>
            <a:pPr>
              <a:buFont typeface="Arial" panose="020B0604020202020204" pitchFamily="34" charset="0"/>
              <a:buChar char="•"/>
            </a:pPr>
            <a:r>
              <a:rPr lang="en-US" dirty="0"/>
              <a:t>Better reputation </a:t>
            </a:r>
            <a:endParaRPr lang="en-IN" dirty="0"/>
          </a:p>
        </p:txBody>
      </p:sp>
      <p:sp>
        <p:nvSpPr>
          <p:cNvPr id="14" name="TextBox 13">
            <a:extLst>
              <a:ext uri="{FF2B5EF4-FFF2-40B4-BE49-F238E27FC236}">
                <a16:creationId xmlns:a16="http://schemas.microsoft.com/office/drawing/2014/main" id="{A9932B8B-C693-7FBB-CB61-568ED3E71362}"/>
              </a:ext>
            </a:extLst>
          </p:cNvPr>
          <p:cNvSpPr txBox="1"/>
          <p:nvPr/>
        </p:nvSpPr>
        <p:spPr>
          <a:xfrm>
            <a:off x="4724400" y="29292"/>
            <a:ext cx="4572000" cy="2585323"/>
          </a:xfrm>
          <a:prstGeom prst="rect">
            <a:avLst/>
          </a:prstGeom>
          <a:noFill/>
        </p:spPr>
        <p:txBody>
          <a:bodyPr wrap="square">
            <a:spAutoFit/>
          </a:bodyPr>
          <a:lstStyle/>
          <a:p>
            <a:pPr>
              <a:buNone/>
            </a:pPr>
            <a:r>
              <a:rPr lang="en-US" b="1" dirty="0">
                <a:solidFill>
                  <a:srgbClr val="FF0000"/>
                </a:solidFill>
              </a:rPr>
              <a:t>TQM Framework</a:t>
            </a:r>
          </a:p>
          <a:p>
            <a:pPr>
              <a:buNone/>
            </a:pPr>
            <a:r>
              <a:rPr lang="en-US" dirty="0"/>
              <a:t>The TQM framework includes the following elements:</a:t>
            </a:r>
          </a:p>
          <a:p>
            <a:pPr>
              <a:buFont typeface="+mj-lt"/>
              <a:buAutoNum type="arabicPeriod"/>
            </a:pPr>
            <a:r>
              <a:rPr lang="en-US" dirty="0"/>
              <a:t>Customer Focus </a:t>
            </a:r>
          </a:p>
          <a:p>
            <a:pPr>
              <a:buFont typeface="+mj-lt"/>
              <a:buAutoNum type="arabicPeriod"/>
            </a:pPr>
            <a:r>
              <a:rPr lang="en-US" dirty="0"/>
              <a:t>Employee Participation </a:t>
            </a:r>
          </a:p>
          <a:p>
            <a:pPr>
              <a:buFont typeface="+mj-lt"/>
              <a:buAutoNum type="arabicPeriod"/>
            </a:pPr>
            <a:r>
              <a:rPr lang="en-US" dirty="0"/>
              <a:t>Continuous Improvement </a:t>
            </a:r>
          </a:p>
          <a:p>
            <a:pPr>
              <a:buFont typeface="+mj-lt"/>
              <a:buAutoNum type="arabicPeriod"/>
            </a:pPr>
            <a:r>
              <a:rPr lang="en-US" dirty="0"/>
              <a:t>Process Management </a:t>
            </a:r>
          </a:p>
          <a:p>
            <a:pPr>
              <a:buFont typeface="+mj-lt"/>
              <a:buAutoNum type="arabicPeriod"/>
            </a:pPr>
            <a:r>
              <a:rPr lang="en-US" dirty="0"/>
              <a:t>Supplier Quality Management </a:t>
            </a:r>
          </a:p>
          <a:p>
            <a:pPr>
              <a:buFont typeface="+mj-lt"/>
              <a:buAutoNum type="arabicPeriod"/>
            </a:pPr>
            <a:r>
              <a:rPr lang="en-US" dirty="0"/>
              <a:t>Performance Measurement</a:t>
            </a:r>
          </a:p>
        </p:txBody>
      </p:sp>
    </p:spTree>
    <p:extLst>
      <p:ext uri="{BB962C8B-B14F-4D97-AF65-F5344CB8AC3E}">
        <p14:creationId xmlns:p14="http://schemas.microsoft.com/office/powerpoint/2010/main" val="1410374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66019"/>
            <a:ext cx="9067800" cy="2491582"/>
          </a:xfrm>
        </p:spPr>
        <p:txBody>
          <a:bodyPr>
            <a:normAutofit/>
          </a:bodyPr>
          <a:lstStyle/>
          <a:p>
            <a:r>
              <a:rPr lang="en-US" sz="1800" dirty="0"/>
              <a:t>Customer orientation is the practice of placing customer needs at the center of business decisions.</a:t>
            </a:r>
          </a:p>
          <a:p>
            <a:r>
              <a:rPr lang="en-US" sz="1800" b="1" dirty="0"/>
              <a:t>Characteristics</a:t>
            </a:r>
          </a:p>
          <a:p>
            <a:r>
              <a:rPr lang="en-US" sz="1800" dirty="0"/>
              <a:t>Quick response to customers </a:t>
            </a:r>
          </a:p>
          <a:p>
            <a:r>
              <a:rPr lang="en-US" sz="1800" dirty="0"/>
              <a:t>Understanding customer expectations </a:t>
            </a:r>
          </a:p>
          <a:p>
            <a:r>
              <a:rPr lang="en-US" sz="1800" dirty="0"/>
              <a:t>Providing after-sales service </a:t>
            </a:r>
          </a:p>
          <a:p>
            <a:r>
              <a:rPr lang="en-US" sz="1800" dirty="0"/>
              <a:t>Building long-term relationships </a:t>
            </a:r>
          </a:p>
        </p:txBody>
      </p:sp>
      <p:sp>
        <p:nvSpPr>
          <p:cNvPr id="4" name="Date Placeholder 3"/>
          <p:cNvSpPr>
            <a:spLocks noGrp="1"/>
          </p:cNvSpPr>
          <p:nvPr>
            <p:ph type="dt" sz="half" idx="10"/>
          </p:nvPr>
        </p:nvSpPr>
        <p:spPr/>
        <p:txBody>
          <a:bodyPr/>
          <a:lstStyle/>
          <a:p>
            <a:fld id="{C8F1D507-3080-4204-AD63-A80977B7C016}" type="datetime1">
              <a:rPr lang="en-US" smtClean="0"/>
              <a:t>5/10/2026</a:t>
            </a:fld>
            <a:endParaRPr lang="en-US"/>
          </a:p>
        </p:txBody>
      </p:sp>
      <p:sp>
        <p:nvSpPr>
          <p:cNvPr id="5" name="Footer Placeholder 4"/>
          <p:cNvSpPr>
            <a:spLocks noGrp="1"/>
          </p:cNvSpPr>
          <p:nvPr>
            <p:ph type="ftr" sz="quarter" idx="11"/>
          </p:nvPr>
        </p:nvSpPr>
        <p:spPr/>
        <p:txBody>
          <a:bodyPr/>
          <a:lstStyle/>
          <a:p>
            <a:r>
              <a:rPr lang="fi-FI" dirty="0"/>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7</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Orientation</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9" name="TextBox 8">
            <a:extLst>
              <a:ext uri="{FF2B5EF4-FFF2-40B4-BE49-F238E27FC236}">
                <a16:creationId xmlns:a16="http://schemas.microsoft.com/office/drawing/2014/main" id="{36F622EC-8166-9790-2DB8-79BE3A719D88}"/>
              </a:ext>
            </a:extLst>
          </p:cNvPr>
          <p:cNvSpPr txBox="1"/>
          <p:nvPr/>
        </p:nvSpPr>
        <p:spPr>
          <a:xfrm>
            <a:off x="4457700" y="1811645"/>
            <a:ext cx="4686300" cy="1200329"/>
          </a:xfrm>
          <a:prstGeom prst="rect">
            <a:avLst/>
          </a:prstGeom>
          <a:noFill/>
        </p:spPr>
        <p:txBody>
          <a:bodyPr wrap="square">
            <a:spAutoFit/>
          </a:bodyPr>
          <a:lstStyle/>
          <a:p>
            <a:r>
              <a:rPr lang="en-US" sz="1800" b="1" dirty="0"/>
              <a:t>Advantages</a:t>
            </a:r>
          </a:p>
          <a:p>
            <a:r>
              <a:rPr lang="en-US" sz="1800" dirty="0"/>
              <a:t>Higher customer trust </a:t>
            </a:r>
          </a:p>
          <a:p>
            <a:r>
              <a:rPr lang="en-US" sz="1800" dirty="0"/>
              <a:t>Better business growth </a:t>
            </a:r>
          </a:p>
          <a:p>
            <a:r>
              <a:rPr lang="en-US" sz="1800" dirty="0"/>
              <a:t>Increased competitiveness</a:t>
            </a:r>
          </a:p>
        </p:txBody>
      </p:sp>
      <p:sp>
        <p:nvSpPr>
          <p:cNvPr id="11" name="TextBox 10">
            <a:extLst>
              <a:ext uri="{FF2B5EF4-FFF2-40B4-BE49-F238E27FC236}">
                <a16:creationId xmlns:a16="http://schemas.microsoft.com/office/drawing/2014/main" id="{4CCADBCF-03EC-1D15-4D44-F658330178D7}"/>
              </a:ext>
            </a:extLst>
          </p:cNvPr>
          <p:cNvSpPr txBox="1"/>
          <p:nvPr/>
        </p:nvSpPr>
        <p:spPr>
          <a:xfrm>
            <a:off x="304800" y="4037141"/>
            <a:ext cx="8763000" cy="1815882"/>
          </a:xfrm>
          <a:prstGeom prst="rect">
            <a:avLst/>
          </a:prstGeom>
          <a:noFill/>
        </p:spPr>
        <p:txBody>
          <a:bodyPr wrap="square">
            <a:spAutoFit/>
          </a:bodyPr>
          <a:lstStyle/>
          <a:p>
            <a:pPr>
              <a:buNone/>
            </a:pPr>
            <a:r>
              <a:rPr lang="en-US" sz="1600" dirty="0"/>
              <a:t>Customer satisfaction is the feeling of happiness when </a:t>
            </a:r>
          </a:p>
          <a:p>
            <a:pPr>
              <a:buNone/>
            </a:pPr>
            <a:r>
              <a:rPr lang="en-US" sz="1600" dirty="0"/>
              <a:t>customer expectations are met.</a:t>
            </a:r>
          </a:p>
          <a:p>
            <a:pPr>
              <a:buNone/>
            </a:pPr>
            <a:r>
              <a:rPr lang="en-US" sz="1600" b="1" dirty="0"/>
              <a:t>Factors Affecting Satisfaction</a:t>
            </a:r>
          </a:p>
          <a:p>
            <a:pPr>
              <a:buFont typeface="Arial" panose="020B0604020202020204" pitchFamily="34" charset="0"/>
              <a:buChar char="•"/>
            </a:pPr>
            <a:r>
              <a:rPr lang="en-US" sz="1600" dirty="0"/>
              <a:t>Product quality </a:t>
            </a:r>
          </a:p>
          <a:p>
            <a:pPr>
              <a:buFont typeface="Arial" panose="020B0604020202020204" pitchFamily="34" charset="0"/>
              <a:buChar char="•"/>
            </a:pPr>
            <a:r>
              <a:rPr lang="en-US" sz="1600" dirty="0"/>
              <a:t>Price </a:t>
            </a:r>
          </a:p>
          <a:p>
            <a:pPr>
              <a:buFont typeface="Arial" panose="020B0604020202020204" pitchFamily="34" charset="0"/>
              <a:buChar char="•"/>
            </a:pPr>
            <a:r>
              <a:rPr lang="en-US" sz="1600" dirty="0"/>
              <a:t>Service quality </a:t>
            </a:r>
          </a:p>
          <a:p>
            <a:pPr>
              <a:buFont typeface="Arial" panose="020B0604020202020204" pitchFamily="34" charset="0"/>
              <a:buChar char="•"/>
            </a:pPr>
            <a:r>
              <a:rPr lang="en-US" sz="1600" dirty="0"/>
              <a:t>Employee behavior </a:t>
            </a:r>
          </a:p>
        </p:txBody>
      </p:sp>
      <p:sp>
        <p:nvSpPr>
          <p:cNvPr id="13" name="TextBox 12">
            <a:extLst>
              <a:ext uri="{FF2B5EF4-FFF2-40B4-BE49-F238E27FC236}">
                <a16:creationId xmlns:a16="http://schemas.microsoft.com/office/drawing/2014/main" id="{D3992FE0-BEF1-0E69-9E9B-1DE044055583}"/>
              </a:ext>
            </a:extLst>
          </p:cNvPr>
          <p:cNvSpPr txBox="1"/>
          <p:nvPr/>
        </p:nvSpPr>
        <p:spPr>
          <a:xfrm>
            <a:off x="5449900" y="4037141"/>
            <a:ext cx="3028950" cy="2308324"/>
          </a:xfrm>
          <a:prstGeom prst="rect">
            <a:avLst/>
          </a:prstGeom>
          <a:noFill/>
        </p:spPr>
        <p:txBody>
          <a:bodyPr wrap="square">
            <a:spAutoFit/>
          </a:bodyPr>
          <a:lstStyle/>
          <a:p>
            <a:pPr>
              <a:buNone/>
            </a:pPr>
            <a:r>
              <a:rPr lang="en-US" sz="1600" b="1" dirty="0"/>
              <a:t>Measurement Methods</a:t>
            </a:r>
          </a:p>
          <a:p>
            <a:pPr>
              <a:buFont typeface="Arial" panose="020B0604020202020204" pitchFamily="34" charset="0"/>
              <a:buChar char="•"/>
            </a:pPr>
            <a:r>
              <a:rPr lang="en-US" sz="1600" dirty="0"/>
              <a:t>Surveys </a:t>
            </a:r>
          </a:p>
          <a:p>
            <a:pPr>
              <a:buFont typeface="Arial" panose="020B0604020202020204" pitchFamily="34" charset="0"/>
              <a:buChar char="•"/>
            </a:pPr>
            <a:r>
              <a:rPr lang="en-US" sz="1600" dirty="0"/>
              <a:t>Feedback forms </a:t>
            </a:r>
          </a:p>
          <a:p>
            <a:pPr>
              <a:buFont typeface="Arial" panose="020B0604020202020204" pitchFamily="34" charset="0"/>
              <a:buChar char="•"/>
            </a:pPr>
            <a:r>
              <a:rPr lang="en-US" sz="1600" dirty="0"/>
              <a:t>Reviews and ratings </a:t>
            </a:r>
          </a:p>
          <a:p>
            <a:pPr>
              <a:buFont typeface="Arial" panose="020B0604020202020204" pitchFamily="34" charset="0"/>
              <a:buChar char="•"/>
            </a:pPr>
            <a:r>
              <a:rPr lang="en-US" sz="1600" dirty="0"/>
              <a:t>Complaint analysis </a:t>
            </a:r>
          </a:p>
          <a:p>
            <a:pPr>
              <a:buNone/>
            </a:pPr>
            <a:r>
              <a:rPr lang="en-US" sz="1600" b="1" dirty="0"/>
              <a:t>Benefits</a:t>
            </a:r>
          </a:p>
          <a:p>
            <a:pPr>
              <a:buFont typeface="Arial" panose="020B0604020202020204" pitchFamily="34" charset="0"/>
              <a:buChar char="•"/>
            </a:pPr>
            <a:r>
              <a:rPr lang="en-US" sz="1600" dirty="0"/>
              <a:t>Repeat customers </a:t>
            </a:r>
          </a:p>
          <a:p>
            <a:pPr>
              <a:buFont typeface="Arial" panose="020B0604020202020204" pitchFamily="34" charset="0"/>
              <a:buChar char="•"/>
            </a:pPr>
            <a:r>
              <a:rPr lang="en-US" sz="1600" dirty="0"/>
              <a:t>Positive word of mouth </a:t>
            </a:r>
          </a:p>
          <a:p>
            <a:pPr>
              <a:buFont typeface="Arial" panose="020B0604020202020204" pitchFamily="34" charset="0"/>
              <a:buChar char="•"/>
            </a:pPr>
            <a:r>
              <a:rPr lang="en-US" sz="1600" dirty="0"/>
              <a:t>Higher profits</a:t>
            </a:r>
          </a:p>
        </p:txBody>
      </p:sp>
      <p:sp>
        <p:nvSpPr>
          <p:cNvPr id="14" name="Title 1">
            <a:extLst>
              <a:ext uri="{FF2B5EF4-FFF2-40B4-BE49-F238E27FC236}">
                <a16:creationId xmlns:a16="http://schemas.microsoft.com/office/drawing/2014/main" id="{1AEF24B0-32BE-BE3B-CED0-8C48ADEBAA27}"/>
              </a:ext>
            </a:extLst>
          </p:cNvPr>
          <p:cNvSpPr txBox="1">
            <a:spLocks/>
          </p:cNvSpPr>
          <p:nvPr/>
        </p:nvSpPr>
        <p:spPr>
          <a:xfrm>
            <a:off x="2897200" y="3446186"/>
            <a:ext cx="5105400" cy="59095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a:latin typeface="Times New Roman" panose="02020603050405020304" pitchFamily="18" charset="0"/>
                <a:cs typeface="Times New Roman" panose="02020603050405020304" pitchFamily="18" charset="0"/>
              </a:rPr>
              <a:t>Customer Satisfaction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9675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8C3931-5470-45B4-BDE5-D3A3198317C2}" type="datetime1">
              <a:rPr lang="en-US" smtClean="0"/>
              <a:t>5/10/2026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8</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29686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Complaints</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152400" y="1077626"/>
            <a:ext cx="8763000" cy="3662541"/>
          </a:xfrm>
          <a:prstGeom prst="rect">
            <a:avLst/>
          </a:prstGeom>
        </p:spPr>
        <p:txBody>
          <a:bodyPr wrap="square">
            <a:spAutoFit/>
          </a:bodyPr>
          <a:lstStyle/>
          <a:p>
            <a:r>
              <a:rPr lang="en-US" sz="1600" dirty="0">
                <a:solidFill>
                  <a:srgbClr val="FF0000"/>
                </a:solidFill>
              </a:rPr>
              <a:t>Customer complaints are expressions of </a:t>
            </a:r>
          </a:p>
          <a:p>
            <a:r>
              <a:rPr lang="en-US" sz="1600" dirty="0">
                <a:solidFill>
                  <a:srgbClr val="FF0000"/>
                </a:solidFill>
              </a:rPr>
              <a:t>dissatisfaction</a:t>
            </a:r>
          </a:p>
          <a:p>
            <a:r>
              <a:rPr lang="en-US" sz="1600" dirty="0">
                <a:solidFill>
                  <a:srgbClr val="FF0000"/>
                </a:solidFill>
              </a:rPr>
              <a:t>about products or services.</a:t>
            </a:r>
          </a:p>
          <a:p>
            <a:r>
              <a:rPr lang="en-US" sz="1600" b="1" dirty="0">
                <a:solidFill>
                  <a:srgbClr val="FF0000"/>
                </a:solidFill>
              </a:rPr>
              <a:t>Causes</a:t>
            </a:r>
          </a:p>
          <a:p>
            <a:pPr marL="285750" indent="-285750">
              <a:buFont typeface="Arial" panose="020B0604020202020204" pitchFamily="34" charset="0"/>
              <a:buChar char="•"/>
            </a:pPr>
            <a:r>
              <a:rPr lang="en-US" sz="1600" dirty="0"/>
              <a:t>Poor quality </a:t>
            </a:r>
          </a:p>
          <a:p>
            <a:pPr marL="285750" indent="-285750">
              <a:buFont typeface="Arial" panose="020B0604020202020204" pitchFamily="34" charset="0"/>
              <a:buChar char="•"/>
            </a:pPr>
            <a:r>
              <a:rPr lang="en-US" sz="1600" dirty="0"/>
              <a:t>Late delivery </a:t>
            </a:r>
          </a:p>
          <a:p>
            <a:pPr marL="285750" indent="-285750">
              <a:buFont typeface="Arial" panose="020B0604020202020204" pitchFamily="34" charset="0"/>
              <a:buChar char="•"/>
            </a:pPr>
            <a:r>
              <a:rPr lang="en-US" sz="1600" dirty="0"/>
              <a:t>Bad service </a:t>
            </a:r>
          </a:p>
          <a:p>
            <a:pPr marL="285750" indent="-285750">
              <a:buFont typeface="Arial" panose="020B0604020202020204" pitchFamily="34" charset="0"/>
              <a:buChar char="•"/>
            </a:pPr>
            <a:r>
              <a:rPr lang="en-US" sz="1600" dirty="0"/>
              <a:t>Defective products </a:t>
            </a:r>
          </a:p>
          <a:p>
            <a:r>
              <a:rPr lang="en-US" sz="1600" b="1" dirty="0"/>
              <a:t>Complaint Handling Steps</a:t>
            </a:r>
          </a:p>
          <a:p>
            <a:pPr marL="285750" indent="-285750">
              <a:buFont typeface="Arial" panose="020B0604020202020204" pitchFamily="34" charset="0"/>
              <a:buChar char="•"/>
            </a:pPr>
            <a:r>
              <a:rPr lang="en-US" sz="1600" dirty="0"/>
              <a:t>Listen carefully </a:t>
            </a:r>
          </a:p>
          <a:p>
            <a:pPr marL="285750" indent="-285750">
              <a:buFont typeface="Arial" panose="020B0604020202020204" pitchFamily="34" charset="0"/>
              <a:buChar char="•"/>
            </a:pPr>
            <a:r>
              <a:rPr lang="en-US" sz="1600" dirty="0"/>
              <a:t>Identify the problem </a:t>
            </a:r>
          </a:p>
          <a:p>
            <a:pPr marL="285750" indent="-285750">
              <a:buFont typeface="Arial" panose="020B0604020202020204" pitchFamily="34" charset="0"/>
              <a:buChar char="•"/>
            </a:pPr>
            <a:r>
              <a:rPr lang="en-US" sz="1600" dirty="0"/>
              <a:t>Provide solution </a:t>
            </a:r>
          </a:p>
          <a:p>
            <a:pPr marL="285750" indent="-285750">
              <a:buFont typeface="Arial" panose="020B0604020202020204" pitchFamily="34" charset="0"/>
              <a:buChar char="•"/>
            </a:pPr>
            <a:r>
              <a:rPr lang="en-US" sz="1600" dirty="0"/>
              <a:t>Follow up with customer</a:t>
            </a:r>
          </a:p>
          <a:p>
            <a:pPr algn="just"/>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83F810A-83BA-53B7-581C-F6488FEEE28A}"/>
              </a:ext>
            </a:extLst>
          </p:cNvPr>
          <p:cNvSpPr txBox="1"/>
          <p:nvPr/>
        </p:nvSpPr>
        <p:spPr>
          <a:xfrm>
            <a:off x="291193" y="4461289"/>
            <a:ext cx="4599214" cy="1200329"/>
          </a:xfrm>
          <a:prstGeom prst="rect">
            <a:avLst/>
          </a:prstGeom>
          <a:noFill/>
        </p:spPr>
        <p:txBody>
          <a:bodyPr wrap="square">
            <a:spAutoFit/>
          </a:bodyPr>
          <a:lstStyle/>
          <a:p>
            <a:pPr>
              <a:buNone/>
            </a:pPr>
            <a:r>
              <a:rPr lang="en-US" b="1" dirty="0"/>
              <a:t>Importance</a:t>
            </a:r>
          </a:p>
          <a:p>
            <a:pPr>
              <a:buFont typeface="Arial" panose="020B0604020202020204" pitchFamily="34" charset="0"/>
              <a:buChar char="•"/>
            </a:pPr>
            <a:r>
              <a:rPr lang="en-US" dirty="0"/>
              <a:t>Helps improve quality </a:t>
            </a:r>
          </a:p>
          <a:p>
            <a:pPr>
              <a:buFont typeface="Arial" panose="020B0604020202020204" pitchFamily="34" charset="0"/>
              <a:buChar char="•"/>
            </a:pPr>
            <a:r>
              <a:rPr lang="en-US" dirty="0"/>
              <a:t>Identifies weaknesses </a:t>
            </a:r>
          </a:p>
          <a:p>
            <a:pPr>
              <a:buFont typeface="Arial" panose="020B0604020202020204" pitchFamily="34" charset="0"/>
              <a:buChar char="•"/>
            </a:pPr>
            <a:r>
              <a:rPr lang="en-US" dirty="0"/>
              <a:t>Builds customer trust</a:t>
            </a:r>
          </a:p>
        </p:txBody>
      </p:sp>
      <p:sp>
        <p:nvSpPr>
          <p:cNvPr id="11" name="TextBox 10">
            <a:extLst>
              <a:ext uri="{FF2B5EF4-FFF2-40B4-BE49-F238E27FC236}">
                <a16:creationId xmlns:a16="http://schemas.microsoft.com/office/drawing/2014/main" id="{9CF96055-EF85-7EC3-3492-EC7FA7E0757D}"/>
              </a:ext>
            </a:extLst>
          </p:cNvPr>
          <p:cNvSpPr txBox="1"/>
          <p:nvPr/>
        </p:nvSpPr>
        <p:spPr>
          <a:xfrm>
            <a:off x="4419600" y="1600846"/>
            <a:ext cx="4267200" cy="3139321"/>
          </a:xfrm>
          <a:prstGeom prst="rect">
            <a:avLst/>
          </a:prstGeom>
          <a:noFill/>
        </p:spPr>
        <p:txBody>
          <a:bodyPr wrap="square">
            <a:spAutoFit/>
          </a:bodyPr>
          <a:lstStyle/>
          <a:p>
            <a:pPr>
              <a:buNone/>
            </a:pPr>
            <a:r>
              <a:rPr lang="en-US" b="1" dirty="0"/>
              <a:t>Customer Retention</a:t>
            </a:r>
          </a:p>
          <a:p>
            <a:pPr>
              <a:buNone/>
            </a:pPr>
            <a:r>
              <a:rPr lang="en-US" dirty="0">
                <a:solidFill>
                  <a:srgbClr val="FF0000"/>
                </a:solidFill>
              </a:rPr>
              <a:t>Customer retention means keeping existing customers for a long period</a:t>
            </a:r>
            <a:r>
              <a:rPr lang="en-US" dirty="0"/>
              <a:t>.</a:t>
            </a:r>
          </a:p>
          <a:p>
            <a:pPr>
              <a:buNone/>
            </a:pPr>
            <a:r>
              <a:rPr lang="en-US" b="1" dirty="0"/>
              <a:t>Methods to Retain Customers</a:t>
            </a:r>
          </a:p>
          <a:p>
            <a:pPr>
              <a:buFont typeface="Arial" panose="020B0604020202020204" pitchFamily="34" charset="0"/>
              <a:buChar char="•"/>
            </a:pPr>
            <a:r>
              <a:rPr lang="en-US" dirty="0"/>
              <a:t>Provide good quality </a:t>
            </a:r>
          </a:p>
          <a:p>
            <a:pPr>
              <a:buFont typeface="Arial" panose="020B0604020202020204" pitchFamily="34" charset="0"/>
              <a:buChar char="•"/>
            </a:pPr>
            <a:r>
              <a:rPr lang="en-US" dirty="0"/>
              <a:t>Offer excellent service </a:t>
            </a:r>
          </a:p>
          <a:p>
            <a:pPr>
              <a:buFont typeface="Arial" panose="020B0604020202020204" pitchFamily="34" charset="0"/>
              <a:buChar char="•"/>
            </a:pPr>
            <a:r>
              <a:rPr lang="en-US" dirty="0"/>
              <a:t>Handle complaints quickly </a:t>
            </a:r>
          </a:p>
          <a:p>
            <a:pPr>
              <a:buFont typeface="Arial" panose="020B0604020202020204" pitchFamily="34" charset="0"/>
              <a:buChar char="•"/>
            </a:pPr>
            <a:r>
              <a:rPr lang="en-US" dirty="0"/>
              <a:t>Maintain good relationships </a:t>
            </a:r>
          </a:p>
          <a:p>
            <a:pPr>
              <a:buNone/>
            </a:pPr>
            <a:r>
              <a:rPr lang="en-US" b="1" dirty="0"/>
              <a:t>Advantages</a:t>
            </a:r>
          </a:p>
          <a:p>
            <a:pPr>
              <a:buFont typeface="Arial" panose="020B0604020202020204" pitchFamily="34" charset="0"/>
              <a:buChar char="•"/>
            </a:pPr>
            <a:r>
              <a:rPr lang="en-US" dirty="0"/>
              <a:t>Stable profits </a:t>
            </a:r>
          </a:p>
          <a:p>
            <a:pPr>
              <a:buFont typeface="Arial" panose="020B0604020202020204" pitchFamily="34" charset="0"/>
              <a:buChar char="•"/>
            </a:pPr>
            <a:r>
              <a:rPr lang="en-US" dirty="0"/>
              <a:t>Strong customer loyalty</a:t>
            </a:r>
          </a:p>
        </p:txBody>
      </p:sp>
      <p:sp>
        <p:nvSpPr>
          <p:cNvPr id="12" name="Title 1">
            <a:extLst>
              <a:ext uri="{FF2B5EF4-FFF2-40B4-BE49-F238E27FC236}">
                <a16:creationId xmlns:a16="http://schemas.microsoft.com/office/drawing/2014/main" id="{AFFB85CC-1D78-1851-32C0-3EBADE91AA72}"/>
              </a:ext>
            </a:extLst>
          </p:cNvPr>
          <p:cNvSpPr txBox="1">
            <a:spLocks/>
          </p:cNvSpPr>
          <p:nvPr/>
        </p:nvSpPr>
        <p:spPr>
          <a:xfrm>
            <a:off x="5334000" y="277298"/>
            <a:ext cx="29686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Customer Retention</a:t>
            </a:r>
          </a:p>
        </p:txBody>
      </p:sp>
    </p:spTree>
    <p:extLst>
      <p:ext uri="{BB962C8B-B14F-4D97-AF65-F5344CB8AC3E}">
        <p14:creationId xmlns:p14="http://schemas.microsoft.com/office/powerpoint/2010/main" val="542865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11" name="object 3"/>
          <p:cNvSpPr txBox="1"/>
          <p:nvPr/>
        </p:nvSpPr>
        <p:spPr>
          <a:xfrm>
            <a:off x="535940" y="1066800"/>
            <a:ext cx="7941945" cy="1201611"/>
          </a:xfrm>
          <a:prstGeom prst="rect">
            <a:avLst/>
          </a:prstGeom>
        </p:spPr>
        <p:txBody>
          <a:bodyPr vert="horz" wrap="square" lIns="0" tIns="95250" rIns="0" bIns="0" rtlCol="0">
            <a:spAutoFit/>
          </a:bodyPr>
          <a:lstStyle/>
          <a:p>
            <a:pPr marL="285115" indent="-273050">
              <a:lnSpc>
                <a:spcPct val="100000"/>
              </a:lnSpc>
              <a:spcBef>
                <a:spcPts val="750"/>
              </a:spcBef>
              <a:buClr>
                <a:srgbClr val="D16248"/>
              </a:buClr>
              <a:buSzPct val="85185"/>
              <a:buFont typeface="Segoe UI Symbol"/>
              <a:buChar char="⚫"/>
              <a:tabLst>
                <a:tab pos="285750" algn="l"/>
              </a:tabLst>
            </a:pPr>
            <a:r>
              <a:rPr sz="2200" dirty="0">
                <a:latin typeface="Times New Roman" pitchFamily="18" charset="0"/>
                <a:cs typeface="Times New Roman" pitchFamily="18" charset="0"/>
              </a:rPr>
              <a:t>The</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Deming</a:t>
            </a:r>
            <a:r>
              <a:rPr sz="2200" spc="-35" dirty="0">
                <a:latin typeface="Times New Roman" pitchFamily="18" charset="0"/>
                <a:cs typeface="Times New Roman" pitchFamily="18" charset="0"/>
              </a:rPr>
              <a:t> </a:t>
            </a:r>
            <a:r>
              <a:rPr sz="2200" spc="-5" dirty="0">
                <a:latin typeface="Times New Roman" pitchFamily="18" charset="0"/>
                <a:cs typeface="Times New Roman" pitchFamily="18" charset="0"/>
              </a:rPr>
              <a:t>Philosophy</a:t>
            </a:r>
            <a:endParaRPr sz="2200" dirty="0">
              <a:latin typeface="Times New Roman" pitchFamily="18" charset="0"/>
              <a:cs typeface="Times New Roman" pitchFamily="18" charset="0"/>
            </a:endParaRPr>
          </a:p>
          <a:p>
            <a:pPr marL="285115" marR="5080" indent="-273050">
              <a:lnSpc>
                <a:spcPct val="100000"/>
              </a:lnSpc>
              <a:spcBef>
                <a:spcPts val="650"/>
              </a:spcBef>
              <a:buClr>
                <a:srgbClr val="D16248"/>
              </a:buClr>
              <a:buSzPct val="85185"/>
              <a:buFont typeface="Segoe UI Symbol"/>
              <a:buChar char="⚫"/>
              <a:tabLst>
                <a:tab pos="285750" algn="l"/>
              </a:tabLst>
            </a:pPr>
            <a:r>
              <a:rPr sz="2200" spc="-5" dirty="0">
                <a:latin typeface="Times New Roman" pitchFamily="18" charset="0"/>
                <a:cs typeface="Times New Roman" pitchFamily="18" charset="0"/>
              </a:rPr>
              <a:t>Definition of quality, “A product or </a:t>
            </a:r>
            <a:r>
              <a:rPr sz="2200" dirty="0">
                <a:latin typeface="Times New Roman" pitchFamily="18" charset="0"/>
                <a:cs typeface="Times New Roman" pitchFamily="18" charset="0"/>
              </a:rPr>
              <a:t>a </a:t>
            </a:r>
            <a:r>
              <a:rPr sz="2200" spc="-10" dirty="0">
                <a:latin typeface="Times New Roman" pitchFamily="18" charset="0"/>
                <a:cs typeface="Times New Roman" pitchFamily="18" charset="0"/>
              </a:rPr>
              <a:t>service </a:t>
            </a:r>
            <a:r>
              <a:rPr sz="2200" spc="-5" dirty="0">
                <a:latin typeface="Times New Roman" pitchFamily="18" charset="0"/>
                <a:cs typeface="Times New Roman" pitchFamily="18" charset="0"/>
              </a:rPr>
              <a:t> possesses</a:t>
            </a:r>
            <a:r>
              <a:rPr sz="2200" spc="-55" dirty="0">
                <a:latin typeface="Times New Roman" pitchFamily="18" charset="0"/>
                <a:cs typeface="Times New Roman" pitchFamily="18" charset="0"/>
              </a:rPr>
              <a:t> </a:t>
            </a:r>
            <a:r>
              <a:rPr sz="2200" spc="-5" dirty="0">
                <a:latin typeface="Times New Roman" pitchFamily="18" charset="0"/>
                <a:cs typeface="Times New Roman" pitchFamily="18" charset="0"/>
              </a:rPr>
              <a:t>quality </a:t>
            </a:r>
            <a:r>
              <a:rPr sz="2200" dirty="0">
                <a:latin typeface="Times New Roman" pitchFamily="18" charset="0"/>
                <a:cs typeface="Times New Roman" pitchFamily="18" charset="0"/>
              </a:rPr>
              <a:t>if</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it</a:t>
            </a:r>
            <a:r>
              <a:rPr sz="2200" spc="-20" dirty="0">
                <a:latin typeface="Times New Roman" pitchFamily="18" charset="0"/>
                <a:cs typeface="Times New Roman" pitchFamily="18" charset="0"/>
              </a:rPr>
              <a:t> </a:t>
            </a:r>
            <a:r>
              <a:rPr sz="2200" spc="-5" dirty="0">
                <a:latin typeface="Times New Roman" pitchFamily="18" charset="0"/>
                <a:cs typeface="Times New Roman" pitchFamily="18" charset="0"/>
              </a:rPr>
              <a:t>helps</a:t>
            </a:r>
            <a:r>
              <a:rPr sz="2200" spc="-15" dirty="0">
                <a:latin typeface="Times New Roman" pitchFamily="18" charset="0"/>
                <a:cs typeface="Times New Roman" pitchFamily="18" charset="0"/>
              </a:rPr>
              <a:t> </a:t>
            </a:r>
            <a:r>
              <a:rPr sz="2200" spc="-5" dirty="0">
                <a:latin typeface="Times New Roman" pitchFamily="18" charset="0"/>
                <a:cs typeface="Times New Roman" pitchFamily="18" charset="0"/>
              </a:rPr>
              <a:t>somebody</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enjoys</a:t>
            </a:r>
            <a:r>
              <a:rPr sz="2200" spc="-35" dirty="0">
                <a:latin typeface="Times New Roman" pitchFamily="18" charset="0"/>
                <a:cs typeface="Times New Roman" pitchFamily="18" charset="0"/>
              </a:rPr>
              <a:t> </a:t>
            </a:r>
            <a:r>
              <a:rPr sz="2200" dirty="0">
                <a:latin typeface="Times New Roman" pitchFamily="18" charset="0"/>
                <a:cs typeface="Times New Roman" pitchFamily="18" charset="0"/>
              </a:rPr>
              <a:t>a </a:t>
            </a:r>
            <a:r>
              <a:rPr sz="2200" spc="-635" dirty="0">
                <a:latin typeface="Times New Roman" pitchFamily="18" charset="0"/>
                <a:cs typeface="Times New Roman" pitchFamily="18" charset="0"/>
              </a:rPr>
              <a:t> </a:t>
            </a:r>
            <a:r>
              <a:rPr sz="2200" spc="-5" dirty="0">
                <a:latin typeface="Times New Roman" pitchFamily="18" charset="0"/>
                <a:cs typeface="Times New Roman" pitchFamily="18" charset="0"/>
              </a:rPr>
              <a:t>good</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and</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sustainable</a:t>
            </a:r>
            <a:r>
              <a:rPr sz="2200" spc="5" dirty="0">
                <a:latin typeface="Times New Roman" pitchFamily="18" charset="0"/>
                <a:cs typeface="Times New Roman" pitchFamily="18" charset="0"/>
              </a:rPr>
              <a:t> </a:t>
            </a:r>
            <a:r>
              <a:rPr sz="2200" dirty="0">
                <a:latin typeface="Times New Roman" pitchFamily="18" charset="0"/>
                <a:cs typeface="Times New Roman" pitchFamily="18" charset="0"/>
              </a:rPr>
              <a:t>market.”</a:t>
            </a:r>
          </a:p>
        </p:txBody>
      </p:sp>
      <p:pic>
        <p:nvPicPr>
          <p:cNvPr id="24" name="Picture 23"/>
          <p:cNvPicPr>
            <a:picLocks noChangeAspect="1"/>
          </p:cNvPicPr>
          <p:nvPr/>
        </p:nvPicPr>
        <p:blipFill>
          <a:blip r:embed="rId2"/>
          <a:stretch>
            <a:fillRect/>
          </a:stretch>
        </p:blipFill>
        <p:spPr>
          <a:xfrm>
            <a:off x="30018" y="25400"/>
            <a:ext cx="1755800" cy="1024217"/>
          </a:xfrm>
          <a:prstGeom prst="rect">
            <a:avLst/>
          </a:prstGeom>
        </p:spPr>
      </p:pic>
      <p:sp>
        <p:nvSpPr>
          <p:cNvPr id="25" name="Title 1">
            <a:extLst>
              <a:ext uri="{FF2B5EF4-FFF2-40B4-BE49-F238E27FC236}">
                <a16:creationId xmlns:a16="http://schemas.microsoft.com/office/drawing/2014/main" id="{1C7BBAA3-263A-8FE5-5AA3-E40EF73A5AE9}"/>
              </a:ext>
            </a:extLst>
          </p:cNvPr>
          <p:cNvSpPr txBox="1">
            <a:spLocks/>
          </p:cNvSpPr>
          <p:nvPr/>
        </p:nvSpPr>
        <p:spPr>
          <a:xfrm>
            <a:off x="1752600" y="359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Evolution of QM Philosophies (CO1)</a:t>
            </a:r>
          </a:p>
        </p:txBody>
      </p:sp>
      <p:pic>
        <p:nvPicPr>
          <p:cNvPr id="3" name="Picture 2">
            <a:extLst>
              <a:ext uri="{FF2B5EF4-FFF2-40B4-BE49-F238E27FC236}">
                <a16:creationId xmlns:a16="http://schemas.microsoft.com/office/drawing/2014/main" id="{50BBDDE5-F322-1601-FDA4-D903340439E7}"/>
              </a:ext>
            </a:extLst>
          </p:cNvPr>
          <p:cNvPicPr>
            <a:picLocks noChangeAspect="1"/>
          </p:cNvPicPr>
          <p:nvPr/>
        </p:nvPicPr>
        <p:blipFill>
          <a:blip r:embed="rId3"/>
          <a:stretch>
            <a:fillRect/>
          </a:stretch>
        </p:blipFill>
        <p:spPr>
          <a:xfrm>
            <a:off x="228600" y="2207061"/>
            <a:ext cx="8458200" cy="2105319"/>
          </a:xfrm>
          <a:prstGeom prst="rect">
            <a:avLst/>
          </a:prstGeom>
        </p:spPr>
      </p:pic>
      <p:pic>
        <p:nvPicPr>
          <p:cNvPr id="10" name="Picture 9">
            <a:extLst>
              <a:ext uri="{FF2B5EF4-FFF2-40B4-BE49-F238E27FC236}">
                <a16:creationId xmlns:a16="http://schemas.microsoft.com/office/drawing/2014/main" id="{51B1D827-44F9-D4EC-5999-7C5C2FEA3489}"/>
              </a:ext>
            </a:extLst>
          </p:cNvPr>
          <p:cNvPicPr>
            <a:picLocks noChangeAspect="1"/>
          </p:cNvPicPr>
          <p:nvPr/>
        </p:nvPicPr>
        <p:blipFill>
          <a:blip r:embed="rId4"/>
          <a:stretch>
            <a:fillRect/>
          </a:stretch>
        </p:blipFill>
        <p:spPr>
          <a:xfrm>
            <a:off x="1981200" y="4312380"/>
            <a:ext cx="6705600" cy="2483473"/>
          </a:xfrm>
          <a:prstGeom prst="rect">
            <a:avLst/>
          </a:prstGeom>
        </p:spPr>
      </p:pic>
      <p:sp>
        <p:nvSpPr>
          <p:cNvPr id="23" name="Rectangle 22">
            <a:extLst>
              <a:ext uri="{FF2B5EF4-FFF2-40B4-BE49-F238E27FC236}">
                <a16:creationId xmlns:a16="http://schemas.microsoft.com/office/drawing/2014/main" id="{1EFB19C7-3D36-4B4F-0D27-C08713BD5B1B}"/>
              </a:ext>
            </a:extLst>
          </p:cNvPr>
          <p:cNvSpPr/>
          <p:nvPr/>
        </p:nvSpPr>
        <p:spPr>
          <a:xfrm>
            <a:off x="228600" y="4648200"/>
            <a:ext cx="1557218"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Prerequisite of Deeming </a:t>
            </a:r>
          </a:p>
        </p:txBody>
      </p:sp>
    </p:spTree>
    <p:extLst>
      <p:ext uri="{BB962C8B-B14F-4D97-AF65-F5344CB8AC3E}">
        <p14:creationId xmlns:p14="http://schemas.microsoft.com/office/powerpoint/2010/main" val="391931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6" y="1524259"/>
            <a:ext cx="8229600" cy="4953000"/>
          </a:xfrm>
        </p:spPr>
        <p:txBody>
          <a:bodyPr>
            <a:normAutofit/>
          </a:bodyPr>
          <a:lstStyle/>
          <a:p>
            <a:pPr algn="just">
              <a:lnSpc>
                <a:spcPct val="150000"/>
              </a:lnSpc>
            </a:pPr>
            <a:r>
              <a:rPr lang="en-US" sz="1600" dirty="0">
                <a:latin typeface="Times New Roman" pitchFamily="18" charset="0"/>
                <a:cs typeface="Times New Roman" pitchFamily="18" charset="0"/>
              </a:rPr>
              <a:t>Deming’s 14 points for Management were first presented in his book </a:t>
            </a:r>
            <a:r>
              <a:rPr lang="en-US" sz="1600" i="1" dirty="0">
                <a:latin typeface="Times New Roman" pitchFamily="18" charset="0"/>
                <a:cs typeface="Times New Roman" pitchFamily="18" charset="0"/>
              </a:rPr>
              <a:t>Out of the Crisis</a:t>
            </a:r>
            <a:r>
              <a:rPr lang="en-US" sz="1600" dirty="0">
                <a:latin typeface="Times New Roman" pitchFamily="18" charset="0"/>
                <a:cs typeface="Times New Roman" pitchFamily="18" charset="0"/>
              </a:rPr>
              <a:t>. With the 14 important management principles he offered a way to drastically improve the company’s effectiveness. Many of these management principles are philosophical in nature, and some are more programmatic.</a:t>
            </a:r>
          </a:p>
          <a:p>
            <a:pPr algn="just">
              <a:lnSpc>
                <a:spcPct val="150000"/>
              </a:lnSpc>
            </a:pPr>
            <a:r>
              <a:rPr lang="en-US" sz="1600" dirty="0">
                <a:latin typeface="Times New Roman" pitchFamily="18" charset="0"/>
                <a:cs typeface="Times New Roman" pitchFamily="18" charset="0"/>
              </a:rPr>
              <a:t>All Deming’s 14 points for Management can bring about transformation. Below you will find a short description of the 14 points:</a:t>
            </a:r>
          </a:p>
          <a:p>
            <a:pPr marL="0" indent="0">
              <a:lnSpc>
                <a:spcPct val="150000"/>
              </a:lnSpc>
              <a:buNone/>
            </a:pPr>
            <a:endParaRPr lang="en-US" sz="2200" b="1" u="sng"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44F1CC2-68C4-4B44-97C8-B4CC1FC2324D}" type="datetime1">
              <a:rPr lang="en-US" smtClean="0"/>
              <a:t>5/10/2026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
        <p:nvSpPr>
          <p:cNvPr id="2" name="object 5">
            <a:extLst>
              <a:ext uri="{FF2B5EF4-FFF2-40B4-BE49-F238E27FC236}">
                <a16:creationId xmlns:a16="http://schemas.microsoft.com/office/drawing/2014/main" id="{D4438F51-D976-0ADF-F3C9-C0105121FC65}"/>
              </a:ext>
            </a:extLst>
          </p:cNvPr>
          <p:cNvSpPr txBox="1"/>
          <p:nvPr/>
        </p:nvSpPr>
        <p:spPr>
          <a:xfrm>
            <a:off x="38100" y="3845705"/>
            <a:ext cx="4800600" cy="1868460"/>
          </a:xfrm>
          <a:prstGeom prst="rect">
            <a:avLst/>
          </a:prstGeom>
          <a:ln w="9144">
            <a:solidFill>
              <a:srgbClr val="D16248"/>
            </a:solidFill>
          </a:ln>
        </p:spPr>
        <p:txBody>
          <a:bodyPr vert="horz" wrap="square" lIns="0" tIns="3810" rIns="0" bIns="0" rtlCol="0">
            <a:spAutoFit/>
          </a:bodyPr>
          <a:lstStyle/>
          <a:p>
            <a:pPr marL="154940">
              <a:lnSpc>
                <a:spcPts val="2145"/>
              </a:lnSpc>
              <a:spcBef>
                <a:spcPts val="30"/>
              </a:spcBef>
              <a:tabLst>
                <a:tab pos="359410" algn="l"/>
              </a:tabLst>
            </a:pPr>
            <a:r>
              <a:rPr sz="1800" dirty="0">
                <a:solidFill>
                  <a:srgbClr val="333333"/>
                </a:solidFill>
                <a:latin typeface="Arial MT"/>
                <a:cs typeface="Arial MT"/>
              </a:rPr>
              <a:t>”	</a:t>
            </a:r>
            <a:r>
              <a:rPr sz="1800" spc="-5" dirty="0">
                <a:solidFill>
                  <a:srgbClr val="333333"/>
                </a:solidFill>
                <a:latin typeface="Tahoma"/>
                <a:cs typeface="Tahoma"/>
              </a:rPr>
              <a:t>father</a:t>
            </a:r>
            <a:r>
              <a:rPr sz="1800" spc="-20" dirty="0">
                <a:solidFill>
                  <a:srgbClr val="333333"/>
                </a:solidFill>
                <a:latin typeface="Tahoma"/>
                <a:cs typeface="Tahoma"/>
              </a:rPr>
              <a:t> </a:t>
            </a:r>
            <a:r>
              <a:rPr sz="1800" dirty="0">
                <a:solidFill>
                  <a:srgbClr val="333333"/>
                </a:solidFill>
                <a:latin typeface="Tahoma"/>
                <a:cs typeface="Tahoma"/>
              </a:rPr>
              <a:t>of</a:t>
            </a:r>
            <a:r>
              <a:rPr sz="1800" spc="-15" dirty="0">
                <a:solidFill>
                  <a:srgbClr val="333333"/>
                </a:solidFill>
                <a:latin typeface="Tahoma"/>
                <a:cs typeface="Tahoma"/>
              </a:rPr>
              <a:t> </a:t>
            </a:r>
            <a:r>
              <a:rPr sz="1800" spc="-5" dirty="0">
                <a:solidFill>
                  <a:srgbClr val="333333"/>
                </a:solidFill>
                <a:latin typeface="Tahoma"/>
                <a:cs typeface="Tahoma"/>
              </a:rPr>
              <a:t>statistical</a:t>
            </a:r>
            <a:r>
              <a:rPr sz="1800" spc="-15" dirty="0">
                <a:solidFill>
                  <a:srgbClr val="333333"/>
                </a:solidFill>
                <a:latin typeface="Tahoma"/>
                <a:cs typeface="Tahoma"/>
              </a:rPr>
              <a:t> </a:t>
            </a:r>
            <a:r>
              <a:rPr sz="1800" spc="-5" dirty="0">
                <a:solidFill>
                  <a:srgbClr val="333333"/>
                </a:solidFill>
                <a:latin typeface="Tahoma"/>
                <a:cs typeface="Tahoma"/>
              </a:rPr>
              <a:t>quality</a:t>
            </a:r>
            <a:r>
              <a:rPr sz="1800" spc="-15" dirty="0">
                <a:solidFill>
                  <a:srgbClr val="333333"/>
                </a:solidFill>
                <a:latin typeface="Tahoma"/>
                <a:cs typeface="Tahoma"/>
              </a:rPr>
              <a:t> </a:t>
            </a:r>
            <a:r>
              <a:rPr sz="1800" spc="-5" dirty="0">
                <a:solidFill>
                  <a:srgbClr val="333333"/>
                </a:solidFill>
                <a:latin typeface="Tahoma"/>
                <a:cs typeface="Tahoma"/>
              </a:rPr>
              <a:t>control</a:t>
            </a:r>
            <a:r>
              <a:rPr sz="1800" spc="-80" dirty="0">
                <a:solidFill>
                  <a:srgbClr val="333333"/>
                </a:solidFill>
                <a:latin typeface="Tahoma"/>
                <a:cs typeface="Tahoma"/>
              </a:rPr>
              <a:t> </a:t>
            </a:r>
            <a:r>
              <a:rPr sz="1800" spc="-5" dirty="0">
                <a:solidFill>
                  <a:srgbClr val="333333"/>
                </a:solidFill>
                <a:latin typeface="Arial MT"/>
                <a:cs typeface="Arial MT"/>
              </a:rPr>
              <a:t>.".</a:t>
            </a:r>
            <a:endParaRPr sz="1800" dirty="0">
              <a:latin typeface="Arial MT"/>
              <a:cs typeface="Arial MT"/>
            </a:endParaRPr>
          </a:p>
          <a:p>
            <a:pPr marL="91440">
              <a:lnSpc>
                <a:spcPts val="3825"/>
              </a:lnSpc>
            </a:pPr>
            <a:r>
              <a:rPr sz="3200" b="1" spc="-5" dirty="0">
                <a:solidFill>
                  <a:srgbClr val="333333"/>
                </a:solidFill>
                <a:latin typeface="Tahoma"/>
                <a:cs typeface="Tahoma"/>
              </a:rPr>
              <a:t>PDCA</a:t>
            </a:r>
            <a:r>
              <a:rPr sz="3200" b="1" spc="-95" dirty="0">
                <a:solidFill>
                  <a:srgbClr val="333333"/>
                </a:solidFill>
                <a:latin typeface="Tahoma"/>
                <a:cs typeface="Tahoma"/>
              </a:rPr>
              <a:t> </a:t>
            </a:r>
            <a:r>
              <a:rPr sz="3200" b="1" dirty="0">
                <a:solidFill>
                  <a:srgbClr val="333333"/>
                </a:solidFill>
                <a:latin typeface="Tahoma"/>
                <a:cs typeface="Tahoma"/>
              </a:rPr>
              <a:t>:</a:t>
            </a:r>
            <a:endParaRPr sz="3200" dirty="0">
              <a:latin typeface="Tahoma"/>
              <a:cs typeface="Tahoma"/>
            </a:endParaRPr>
          </a:p>
          <a:p>
            <a:pPr marL="309245" indent="-218440">
              <a:lnSpc>
                <a:spcPct val="100000"/>
              </a:lnSpc>
              <a:spcBef>
                <a:spcPts val="30"/>
              </a:spcBef>
              <a:buSzPct val="94444"/>
              <a:buAutoNum type="arabicPeriod"/>
              <a:tabLst>
                <a:tab pos="309880" algn="l"/>
              </a:tabLst>
            </a:pPr>
            <a:r>
              <a:rPr sz="1800" b="1" dirty="0">
                <a:latin typeface="Tahoma"/>
                <a:cs typeface="Tahoma"/>
              </a:rPr>
              <a:t>P</a:t>
            </a:r>
            <a:r>
              <a:rPr sz="1800" dirty="0">
                <a:latin typeface="Tahoma"/>
                <a:cs typeface="Tahoma"/>
              </a:rPr>
              <a:t>lan</a:t>
            </a:r>
            <a:r>
              <a:rPr sz="1800" spc="-85" dirty="0">
                <a:latin typeface="Tahoma"/>
                <a:cs typeface="Tahoma"/>
              </a:rPr>
              <a:t> </a:t>
            </a:r>
            <a:r>
              <a:rPr sz="1800" spc="-5" dirty="0">
                <a:latin typeface="Tahoma"/>
                <a:cs typeface="Tahoma"/>
              </a:rPr>
              <a:t>the</a:t>
            </a:r>
            <a:r>
              <a:rPr sz="1800" spc="-35" dirty="0">
                <a:latin typeface="Tahoma"/>
                <a:cs typeface="Tahoma"/>
              </a:rPr>
              <a:t> </a:t>
            </a:r>
            <a:r>
              <a:rPr sz="1800" spc="-5" dirty="0">
                <a:latin typeface="Tahoma"/>
                <a:cs typeface="Tahoma"/>
              </a:rPr>
              <a:t>improvement</a:t>
            </a:r>
            <a:endParaRPr sz="1800" dirty="0">
              <a:latin typeface="Tahoma"/>
              <a:cs typeface="Tahoma"/>
            </a:endParaRPr>
          </a:p>
          <a:p>
            <a:pPr marL="345440" indent="-254635">
              <a:lnSpc>
                <a:spcPct val="100000"/>
              </a:lnSpc>
              <a:buFont typeface="Arial MT"/>
              <a:buAutoNum type="arabicPeriod"/>
              <a:tabLst>
                <a:tab pos="346075" algn="l"/>
              </a:tabLst>
            </a:pPr>
            <a:r>
              <a:rPr sz="1800" b="1" dirty="0">
                <a:latin typeface="Tahoma"/>
                <a:cs typeface="Tahoma"/>
              </a:rPr>
              <a:t>D</a:t>
            </a:r>
            <a:r>
              <a:rPr sz="1800" dirty="0">
                <a:latin typeface="Tahoma"/>
                <a:cs typeface="Tahoma"/>
              </a:rPr>
              <a:t>o</a:t>
            </a:r>
            <a:r>
              <a:rPr sz="1800" spc="-85" dirty="0">
                <a:latin typeface="Tahoma"/>
                <a:cs typeface="Tahoma"/>
              </a:rPr>
              <a:t> </a:t>
            </a:r>
            <a:r>
              <a:rPr sz="1800" dirty="0">
                <a:latin typeface="Tahoma"/>
                <a:cs typeface="Tahoma"/>
              </a:rPr>
              <a:t>and</a:t>
            </a:r>
            <a:r>
              <a:rPr sz="1800" spc="-10" dirty="0">
                <a:latin typeface="Tahoma"/>
                <a:cs typeface="Tahoma"/>
              </a:rPr>
              <a:t> </a:t>
            </a:r>
            <a:r>
              <a:rPr sz="1800" spc="-5" dirty="0">
                <a:latin typeface="Tahoma"/>
                <a:cs typeface="Tahoma"/>
              </a:rPr>
              <a:t>start</a:t>
            </a:r>
            <a:r>
              <a:rPr sz="1800" spc="-15" dirty="0">
                <a:latin typeface="Tahoma"/>
                <a:cs typeface="Tahoma"/>
              </a:rPr>
              <a:t> </a:t>
            </a:r>
            <a:r>
              <a:rPr sz="1800" spc="-5" dirty="0">
                <a:latin typeface="Tahoma"/>
                <a:cs typeface="Tahoma"/>
              </a:rPr>
              <a:t>the</a:t>
            </a:r>
            <a:r>
              <a:rPr sz="1800" spc="-10" dirty="0">
                <a:latin typeface="Tahoma"/>
                <a:cs typeface="Tahoma"/>
              </a:rPr>
              <a:t> </a:t>
            </a:r>
            <a:r>
              <a:rPr sz="1800" spc="-5" dirty="0">
                <a:latin typeface="Tahoma"/>
                <a:cs typeface="Tahoma"/>
              </a:rPr>
              <a:t>change</a:t>
            </a:r>
            <a:endParaRPr sz="1800" dirty="0">
              <a:latin typeface="Tahoma"/>
              <a:cs typeface="Tahoma"/>
            </a:endParaRPr>
          </a:p>
          <a:p>
            <a:pPr marL="350520" indent="-259079">
              <a:lnSpc>
                <a:spcPct val="100000"/>
              </a:lnSpc>
              <a:spcBef>
                <a:spcPts val="5"/>
              </a:spcBef>
              <a:buFont typeface="Tahoma"/>
              <a:buAutoNum type="arabicPeriod"/>
              <a:tabLst>
                <a:tab pos="350520" algn="l"/>
              </a:tabLst>
            </a:pPr>
            <a:r>
              <a:rPr sz="1800" b="1" spc="-5" dirty="0">
                <a:latin typeface="Tahoma"/>
                <a:cs typeface="Tahoma"/>
              </a:rPr>
              <a:t>C</a:t>
            </a:r>
            <a:r>
              <a:rPr sz="1800" spc="-5" dirty="0">
                <a:latin typeface="Tahoma"/>
                <a:cs typeface="Tahoma"/>
              </a:rPr>
              <a:t>heck</a:t>
            </a:r>
            <a:r>
              <a:rPr sz="1800" spc="-10" dirty="0">
                <a:latin typeface="Tahoma"/>
                <a:cs typeface="Tahoma"/>
              </a:rPr>
              <a:t> </a:t>
            </a:r>
            <a:r>
              <a:rPr sz="1800" spc="-5" dirty="0">
                <a:latin typeface="Tahoma"/>
                <a:cs typeface="Tahoma"/>
              </a:rPr>
              <a:t>the</a:t>
            </a:r>
            <a:r>
              <a:rPr sz="1800" spc="-15" dirty="0">
                <a:latin typeface="Tahoma"/>
                <a:cs typeface="Tahoma"/>
              </a:rPr>
              <a:t> </a:t>
            </a:r>
            <a:r>
              <a:rPr sz="1800" spc="-5" dirty="0">
                <a:latin typeface="Tahoma"/>
                <a:cs typeface="Tahoma"/>
              </a:rPr>
              <a:t>results</a:t>
            </a:r>
            <a:r>
              <a:rPr sz="1800" spc="-10" dirty="0">
                <a:latin typeface="Tahoma"/>
                <a:cs typeface="Tahoma"/>
              </a:rPr>
              <a:t> </a:t>
            </a:r>
            <a:r>
              <a:rPr sz="1800" spc="-5" dirty="0">
                <a:latin typeface="Tahoma"/>
                <a:cs typeface="Tahoma"/>
              </a:rPr>
              <a:t>of</a:t>
            </a:r>
            <a:r>
              <a:rPr sz="1800" spc="-15" dirty="0">
                <a:latin typeface="Tahoma"/>
                <a:cs typeface="Tahoma"/>
              </a:rPr>
              <a:t> </a:t>
            </a:r>
            <a:r>
              <a:rPr sz="1800" spc="-5" dirty="0">
                <a:latin typeface="Tahoma"/>
                <a:cs typeface="Tahoma"/>
              </a:rPr>
              <a:t>improvement</a:t>
            </a:r>
            <a:endParaRPr sz="1800" dirty="0">
              <a:latin typeface="Tahoma"/>
              <a:cs typeface="Tahoma"/>
            </a:endParaRPr>
          </a:p>
          <a:p>
            <a:pPr marL="414020" indent="-323215">
              <a:lnSpc>
                <a:spcPct val="100000"/>
              </a:lnSpc>
              <a:buFont typeface="Tahoma"/>
              <a:buAutoNum type="arabicPeriod"/>
              <a:tabLst>
                <a:tab pos="414020" algn="l"/>
                <a:tab pos="414655" algn="l"/>
              </a:tabLst>
            </a:pPr>
            <a:r>
              <a:rPr sz="1800" b="1" dirty="0">
                <a:latin typeface="Tahoma"/>
                <a:cs typeface="Tahoma"/>
              </a:rPr>
              <a:t>A</a:t>
            </a:r>
            <a:r>
              <a:rPr sz="1800" dirty="0">
                <a:latin typeface="Tahoma"/>
                <a:cs typeface="Tahoma"/>
              </a:rPr>
              <a:t>ct</a:t>
            </a:r>
            <a:r>
              <a:rPr sz="1800" spc="-15" dirty="0">
                <a:latin typeface="Tahoma"/>
                <a:cs typeface="Tahoma"/>
              </a:rPr>
              <a:t> </a:t>
            </a:r>
            <a:r>
              <a:rPr sz="1800" spc="-5" dirty="0">
                <a:latin typeface="Tahoma"/>
                <a:cs typeface="Tahoma"/>
              </a:rPr>
              <a:t>to</a:t>
            </a:r>
            <a:r>
              <a:rPr sz="1800" spc="-15" dirty="0">
                <a:latin typeface="Tahoma"/>
                <a:cs typeface="Tahoma"/>
              </a:rPr>
              <a:t> </a:t>
            </a:r>
            <a:r>
              <a:rPr sz="1800" dirty="0">
                <a:latin typeface="Tahoma"/>
                <a:cs typeface="Tahoma"/>
              </a:rPr>
              <a:t>hold</a:t>
            </a:r>
            <a:r>
              <a:rPr sz="1800" spc="-10" dirty="0">
                <a:latin typeface="Tahoma"/>
                <a:cs typeface="Tahoma"/>
              </a:rPr>
              <a:t> </a:t>
            </a:r>
            <a:r>
              <a:rPr sz="1800" spc="-5" dirty="0">
                <a:latin typeface="Tahoma"/>
                <a:cs typeface="Tahoma"/>
              </a:rPr>
              <a:t>the </a:t>
            </a:r>
            <a:r>
              <a:rPr sz="1800" dirty="0">
                <a:latin typeface="Tahoma"/>
                <a:cs typeface="Tahoma"/>
              </a:rPr>
              <a:t>gain</a:t>
            </a:r>
            <a:r>
              <a:rPr sz="1800" spc="-10" dirty="0">
                <a:latin typeface="Tahoma"/>
                <a:cs typeface="Tahoma"/>
              </a:rPr>
              <a:t> </a:t>
            </a:r>
            <a:r>
              <a:rPr sz="1800" dirty="0">
                <a:latin typeface="Tahoma"/>
                <a:cs typeface="Tahoma"/>
              </a:rPr>
              <a:t>or</a:t>
            </a:r>
            <a:r>
              <a:rPr sz="1800" spc="-5" dirty="0">
                <a:latin typeface="Tahoma"/>
                <a:cs typeface="Tahoma"/>
              </a:rPr>
              <a:t> start</a:t>
            </a:r>
            <a:r>
              <a:rPr sz="1800" spc="-15" dirty="0">
                <a:latin typeface="Tahoma"/>
                <a:cs typeface="Tahoma"/>
              </a:rPr>
              <a:t> </a:t>
            </a:r>
            <a:r>
              <a:rPr sz="1800" spc="-5" dirty="0">
                <a:latin typeface="Tahoma"/>
                <a:cs typeface="Tahoma"/>
              </a:rPr>
              <a:t>again</a:t>
            </a:r>
            <a:r>
              <a:rPr sz="1800" spc="-5" dirty="0">
                <a:latin typeface="Arial MT"/>
                <a:cs typeface="Arial MT"/>
              </a:rPr>
              <a:t>.</a:t>
            </a:r>
            <a:endParaRPr sz="1800" dirty="0">
              <a:latin typeface="Arial MT"/>
              <a:cs typeface="Arial MT"/>
            </a:endParaRPr>
          </a:p>
        </p:txBody>
      </p:sp>
      <p:pic>
        <p:nvPicPr>
          <p:cNvPr id="5" name="object 7">
            <a:extLst>
              <a:ext uri="{FF2B5EF4-FFF2-40B4-BE49-F238E27FC236}">
                <a16:creationId xmlns:a16="http://schemas.microsoft.com/office/drawing/2014/main" id="{3B86A121-F6A7-6079-4622-EAB976F04D52}"/>
              </a:ext>
            </a:extLst>
          </p:cNvPr>
          <p:cNvPicPr/>
          <p:nvPr/>
        </p:nvPicPr>
        <p:blipFill>
          <a:blip r:embed="rId3" cstate="print"/>
          <a:stretch>
            <a:fillRect/>
          </a:stretch>
        </p:blipFill>
        <p:spPr>
          <a:xfrm>
            <a:off x="5265882" y="3200400"/>
            <a:ext cx="3573318" cy="2681308"/>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6BABB1-9237-AA8C-45EA-ECB89D0494EE}"/>
              </a:ext>
            </a:extLst>
          </p:cNvPr>
          <p:cNvSpPr>
            <a:spLocks noGrp="1"/>
          </p:cNvSpPr>
          <p:nvPr>
            <p:ph type="dt" sz="half" idx="10"/>
          </p:nvPr>
        </p:nvSpPr>
        <p:spPr/>
        <p:txBody>
          <a:bodyPr/>
          <a:lstStyle/>
          <a:p>
            <a:fld id="{51B4D429-E9CD-4877-AF0A-5FB8D654873B}" type="datetime1">
              <a:rPr lang="en-US" smtClean="0"/>
              <a:t>5/10/2026</a:t>
            </a:fld>
            <a:endParaRPr lang="en-US"/>
          </a:p>
        </p:txBody>
      </p:sp>
      <p:sp>
        <p:nvSpPr>
          <p:cNvPr id="3" name="Footer Placeholder 2">
            <a:extLst>
              <a:ext uri="{FF2B5EF4-FFF2-40B4-BE49-F238E27FC236}">
                <a16:creationId xmlns:a16="http://schemas.microsoft.com/office/drawing/2014/main" id="{913B016B-3A1D-B331-F9C5-A085BF30A9BD}"/>
              </a:ext>
            </a:extLst>
          </p:cNvPr>
          <p:cNvSpPr>
            <a:spLocks noGrp="1"/>
          </p:cNvSpPr>
          <p:nvPr>
            <p:ph type="ftr" sz="quarter" idx="11"/>
          </p:nvPr>
        </p:nvSpPr>
        <p:spPr/>
        <p:txBody>
          <a:bodyPr/>
          <a:lstStyle/>
          <a:p>
            <a:r>
              <a:rPr lang="fi-FI"/>
              <a:t>Mr. Minhaj Nezami    AOE0861    TQM    Unit-1                         </a:t>
            </a:r>
            <a:endParaRPr lang="en-US" dirty="0"/>
          </a:p>
        </p:txBody>
      </p:sp>
      <p:sp>
        <p:nvSpPr>
          <p:cNvPr id="4" name="Slide Number Placeholder 3">
            <a:extLst>
              <a:ext uri="{FF2B5EF4-FFF2-40B4-BE49-F238E27FC236}">
                <a16:creationId xmlns:a16="http://schemas.microsoft.com/office/drawing/2014/main" id="{F49EF9B8-E238-0C8C-559C-0F6037842471}"/>
              </a:ext>
            </a:extLst>
          </p:cNvPr>
          <p:cNvSpPr>
            <a:spLocks noGrp="1"/>
          </p:cNvSpPr>
          <p:nvPr>
            <p:ph type="sldNum" sz="quarter" idx="12"/>
          </p:nvPr>
        </p:nvSpPr>
        <p:spPr/>
        <p:txBody>
          <a:bodyPr/>
          <a:lstStyle/>
          <a:p>
            <a:fld id="{201B34E6-0086-427D-A404-3B2A6BB81F11}" type="slidenum">
              <a:rPr lang="en-US" smtClean="0"/>
              <a:pPr/>
              <a:t>11</a:t>
            </a:fld>
            <a:endParaRPr lang="en-US"/>
          </a:p>
        </p:txBody>
      </p:sp>
      <p:sp>
        <p:nvSpPr>
          <p:cNvPr id="5" name="Rectangle 1">
            <a:extLst>
              <a:ext uri="{FF2B5EF4-FFF2-40B4-BE49-F238E27FC236}">
                <a16:creationId xmlns:a16="http://schemas.microsoft.com/office/drawing/2014/main" id="{BD1A2995-3150-F940-ABEF-F7F43512E5A2}"/>
              </a:ext>
            </a:extLst>
          </p:cNvPr>
          <p:cNvSpPr>
            <a:spLocks noChangeArrowheads="1"/>
          </p:cNvSpPr>
          <p:nvPr/>
        </p:nvSpPr>
        <p:spPr bwMode="auto">
          <a:xfrm>
            <a:off x="304799" y="1090881"/>
            <a:ext cx="853440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Create constancy of purpose</a:t>
            </a:r>
            <a:r>
              <a:rPr lang="en-US" altLang="en-US" dirty="0">
                <a:latin typeface="Arial" panose="020B0604020202020204" pitchFamily="34" charset="0"/>
              </a:rPr>
              <a:t> – Focus on continuous improvement of products and services.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Adopt new philosophy</a:t>
            </a:r>
            <a:r>
              <a:rPr lang="en-US" altLang="en-US" dirty="0">
                <a:latin typeface="Arial" panose="020B0604020202020204" pitchFamily="34" charset="0"/>
              </a:rPr>
              <a:t> – Accept change and modern quality methods.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Cease dependence on inspection</a:t>
            </a:r>
            <a:r>
              <a:rPr lang="en-US" altLang="en-US" dirty="0">
                <a:latin typeface="Arial" panose="020B0604020202020204" pitchFamily="34" charset="0"/>
              </a:rPr>
              <a:t> – Improve quality during the process itself.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End lowest tender contracts</a:t>
            </a:r>
            <a:r>
              <a:rPr lang="en-US" altLang="en-US" dirty="0">
                <a:latin typeface="Arial" panose="020B0604020202020204" pitchFamily="34" charset="0"/>
              </a:rPr>
              <a:t> – Build long-term relationships with suppliers.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Continually improve processes</a:t>
            </a:r>
            <a:r>
              <a:rPr lang="en-US" altLang="en-US" dirty="0">
                <a:latin typeface="Arial" panose="020B0604020202020204" pitchFamily="34" charset="0"/>
              </a:rPr>
              <a:t> – Always seek ways to improve quality and productivity.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Institute training on the job</a:t>
            </a:r>
            <a:r>
              <a:rPr lang="en-US" altLang="en-US" dirty="0">
                <a:latin typeface="Arial" panose="020B0604020202020204" pitchFamily="34" charset="0"/>
              </a:rPr>
              <a:t> – Provide proper employee training regularly.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Institute leadership</a:t>
            </a:r>
            <a:r>
              <a:rPr lang="en-US" altLang="en-US" dirty="0">
                <a:latin typeface="Arial" panose="020B0604020202020204" pitchFamily="34" charset="0"/>
              </a:rPr>
              <a:t> – Managers should guide and support employees effectively.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Drive out fear</a:t>
            </a:r>
            <a:r>
              <a:rPr lang="en-US" altLang="en-US" dirty="0">
                <a:latin typeface="Arial" panose="020B0604020202020204" pitchFamily="34" charset="0"/>
              </a:rPr>
              <a:t> – Create a safe and open work environment.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Break down barriers</a:t>
            </a:r>
            <a:r>
              <a:rPr lang="en-US" altLang="en-US" dirty="0">
                <a:latin typeface="Arial" panose="020B0604020202020204" pitchFamily="34" charset="0"/>
              </a:rPr>
              <a:t> – Encourage teamwork between departments.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Eliminate slogans</a:t>
            </a:r>
            <a:r>
              <a:rPr lang="en-US" altLang="en-US" dirty="0">
                <a:latin typeface="Arial" panose="020B0604020202020204" pitchFamily="34" charset="0"/>
              </a:rPr>
              <a:t> – Avoid unrealistic targets and pressure slogans.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Eliminate numerical targets</a:t>
            </a:r>
            <a:r>
              <a:rPr lang="en-US" altLang="en-US" dirty="0">
                <a:latin typeface="Arial" panose="020B0604020202020204" pitchFamily="34" charset="0"/>
              </a:rPr>
              <a:t> – Focus on quality instead of only numbers.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Permit pride of workmanship</a:t>
            </a:r>
            <a:r>
              <a:rPr lang="en-US" altLang="en-US" dirty="0">
                <a:latin typeface="Arial" panose="020B0604020202020204" pitchFamily="34" charset="0"/>
              </a:rPr>
              <a:t> – Allow employees to take pride in their work.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Institute education and self-improvement</a:t>
            </a:r>
            <a:r>
              <a:rPr lang="en-US" altLang="en-US" dirty="0">
                <a:latin typeface="Arial" panose="020B0604020202020204" pitchFamily="34" charset="0"/>
              </a:rPr>
              <a:t> – Encourage learning and development. </a:t>
            </a:r>
          </a:p>
          <a:p>
            <a:pPr marL="342900" lvl="0" indent="-342900" eaLnBrk="0" fontAlgn="base" hangingPunct="0">
              <a:spcBef>
                <a:spcPct val="0"/>
              </a:spcBef>
              <a:spcAft>
                <a:spcPct val="0"/>
              </a:spcAft>
              <a:buFont typeface="+mj-lt"/>
              <a:buAutoNum type="arabicPeriod"/>
            </a:pPr>
            <a:r>
              <a:rPr lang="en-US" altLang="en-US" b="1" dirty="0">
                <a:latin typeface="Arial" panose="020B0604020202020204" pitchFamily="34" charset="0"/>
              </a:rPr>
              <a:t>Transformation is everyone’s job</a:t>
            </a:r>
            <a:r>
              <a:rPr lang="en-US" altLang="en-US" dirty="0">
                <a:latin typeface="Arial" panose="020B0604020202020204" pitchFamily="34" charset="0"/>
              </a:rPr>
              <a:t> – Every employee should participate in quality improvement. </a:t>
            </a:r>
          </a:p>
        </p:txBody>
      </p:sp>
      <p:sp>
        <p:nvSpPr>
          <p:cNvPr id="7" name="TextBox 6">
            <a:extLst>
              <a:ext uri="{FF2B5EF4-FFF2-40B4-BE49-F238E27FC236}">
                <a16:creationId xmlns:a16="http://schemas.microsoft.com/office/drawing/2014/main" id="{0B16EFB5-1EB0-61CA-D973-E2435C5C9F21}"/>
              </a:ext>
            </a:extLst>
          </p:cNvPr>
          <p:cNvSpPr txBox="1"/>
          <p:nvPr/>
        </p:nvSpPr>
        <p:spPr>
          <a:xfrm>
            <a:off x="1981200" y="598438"/>
            <a:ext cx="4800600" cy="492443"/>
          </a:xfrm>
          <a:prstGeom prst="rect">
            <a:avLst/>
          </a:prstGeom>
          <a:noFill/>
        </p:spPr>
        <p:txBody>
          <a:bodyPr wrap="square">
            <a:spAutoFit/>
          </a:bodyPr>
          <a:lstStyle/>
          <a:p>
            <a:r>
              <a:rPr lang="en-US" sz="2600" b="1" dirty="0">
                <a:solidFill>
                  <a:srgbClr val="FF0000"/>
                </a:solidFill>
              </a:rPr>
              <a:t>W. Edwards Deming 14 Points</a:t>
            </a:r>
            <a:endParaRPr lang="en-IN" sz="2600" b="1" dirty="0">
              <a:solidFill>
                <a:srgbClr val="FF0000"/>
              </a:solidFill>
            </a:endParaRPr>
          </a:p>
        </p:txBody>
      </p:sp>
    </p:spTree>
    <p:extLst>
      <p:ext uri="{BB962C8B-B14F-4D97-AF65-F5344CB8AC3E}">
        <p14:creationId xmlns:p14="http://schemas.microsoft.com/office/powerpoint/2010/main" val="3659998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052C685-5AEC-41C4-BD7F-02B1FED6CD2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681811A-0EC6-4124-9281-C5A3D815C9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629DB86-9426-4848-AB8B-FE714E05BF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2117</TotalTime>
  <Words>1479</Words>
  <Application>Microsoft Office PowerPoint</Application>
  <PresentationFormat>On-screen Show (4:3)</PresentationFormat>
  <Paragraphs>223</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 MT</vt:lpstr>
      <vt:lpstr>Calibri</vt:lpstr>
      <vt:lpstr>Proxima Nova</vt:lpstr>
      <vt:lpstr>Segoe UI Symbol</vt:lpstr>
      <vt:lpstr>Tahoma</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Barriers to TQM</vt:lpstr>
      <vt:lpstr>Customer Orientation</vt:lpstr>
      <vt:lpstr>Customer Complaints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ndc</dc:creator>
  <cp:lastModifiedBy>ganga soni</cp:lastModifiedBy>
  <cp:revision>288</cp:revision>
  <dcterms:created xsi:type="dcterms:W3CDTF">2020-05-17T00:08:26Z</dcterms:created>
  <dcterms:modified xsi:type="dcterms:W3CDTF">2026-05-10T08:01:05Z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