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324" r:id="rId5"/>
    <p:sldId id="325" r:id="rId6"/>
    <p:sldId id="270" r:id="rId7"/>
    <p:sldId id="337" r:id="rId8"/>
    <p:sldId id="318" r:id="rId9"/>
    <p:sldId id="350" r:id="rId10"/>
    <p:sldId id="353" r:id="rId11"/>
    <p:sldId id="358" r:id="rId12"/>
    <p:sldId id="380" r:id="rId13"/>
    <p:sldId id="382" r:id="rId14"/>
    <p:sldId id="360" r:id="rId15"/>
    <p:sldId id="361" r:id="rId16"/>
    <p:sldId id="38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7BE5C-51CB-48D7-B04E-23F60CC9E304}" v="4" dt="2024-01-08T02:50:34.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4660"/>
  </p:normalViewPr>
  <p:slideViewPr>
    <p:cSldViewPr>
      <p:cViewPr varScale="1">
        <p:scale>
          <a:sx n="59" d="100"/>
          <a:sy n="59" d="100"/>
        </p:scale>
        <p:origin x="188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67353C-2CA3-45F7-A9E1-840DC3A5C112}" type="datetimeFigureOut">
              <a:rPr lang="en-US" smtClean="0"/>
              <a:pPr/>
              <a:t>5/10/2026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38B7A7-F0EB-43BF-8A13-E89728DFA5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2464CB4-74B1-4A52-9BFA-6CD459BF15F7}" type="datetime1">
              <a:rPr lang="en-US" smtClean="0"/>
              <a:t>5/10/2026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4CD5D0-BC54-4AAB-98EE-FAA7666AAF2C}" type="datetime1">
              <a:rPr lang="en-US" smtClean="0"/>
              <a:t>5/10/2026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91C7FC-661E-4C77-8700-7F0FBE6ECB7E}" type="datetime1">
              <a:rPr lang="en-US" smtClean="0"/>
              <a:t>5/10/2026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391808-D734-420D-B157-3878CDFFB226}" type="datetime1">
              <a:rPr lang="en-US" smtClean="0"/>
              <a:t>5/10/2026</a:t>
            </a:fld>
            <a:endParaRPr lang="en-US"/>
          </a:p>
        </p:txBody>
      </p:sp>
      <p:sp>
        <p:nvSpPr>
          <p:cNvPr id="6" name="Footer Placeholder 5"/>
          <p:cNvSpPr>
            <a:spLocks noGrp="1"/>
          </p:cNvSpPr>
          <p:nvPr>
            <p:ph type="ftr" sz="quarter" idx="11"/>
          </p:nvPr>
        </p:nvSpPr>
        <p:spPr/>
        <p:txBody>
          <a:bodyPr/>
          <a:lstStyle/>
          <a:p>
            <a:r>
              <a:rPr lang="en-US"/>
              <a:t>Mr. Minhaj Nezami     AOE0861    TQM      Unit 3</a:t>
            </a:r>
            <a:endParaRPr lang="en-US" dirty="0"/>
          </a:p>
        </p:txBody>
      </p:sp>
      <p:sp>
        <p:nvSpPr>
          <p:cNvPr id="7" name="Slide Number Placeholder 6"/>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647903-309D-47E7-B6B9-DB92268E9603}" type="datetime1">
              <a:rPr lang="en-US" smtClean="0"/>
              <a:t>5/10/2026</a:t>
            </a:fld>
            <a:endParaRPr lang="en-US"/>
          </a:p>
        </p:txBody>
      </p:sp>
      <p:sp>
        <p:nvSpPr>
          <p:cNvPr id="8" name="Footer Placeholder 7"/>
          <p:cNvSpPr>
            <a:spLocks noGrp="1"/>
          </p:cNvSpPr>
          <p:nvPr>
            <p:ph type="ftr" sz="quarter" idx="11"/>
          </p:nvPr>
        </p:nvSpPr>
        <p:spPr/>
        <p:txBody>
          <a:bodyPr/>
          <a:lstStyle/>
          <a:p>
            <a:r>
              <a:rPr lang="en-US"/>
              <a:t>Mr. Minhaj Nezami     AOE0861    TQM      Unit 3</a:t>
            </a:r>
            <a:endParaRPr lang="en-US" dirty="0"/>
          </a:p>
        </p:txBody>
      </p:sp>
      <p:sp>
        <p:nvSpPr>
          <p:cNvPr id="9" name="Slide Number Placeholder 8"/>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EC3BB9-CC2C-4E94-88D3-EDE7B7E42BEC}" type="datetime1">
              <a:rPr lang="en-US" smtClean="0"/>
              <a:t>5/10/2026</a:t>
            </a:fld>
            <a:endParaRPr lang="en-US"/>
          </a:p>
        </p:txBody>
      </p:sp>
      <p:sp>
        <p:nvSpPr>
          <p:cNvPr id="4" name="Footer Placeholder 3"/>
          <p:cNvSpPr>
            <a:spLocks noGrp="1"/>
          </p:cNvSpPr>
          <p:nvPr>
            <p:ph type="ftr" sz="quarter" idx="11"/>
          </p:nvPr>
        </p:nvSpPr>
        <p:spPr/>
        <p:txBody>
          <a:bodyPr/>
          <a:lstStyle/>
          <a:p>
            <a:r>
              <a:rPr lang="en-US"/>
              <a:t>Mr. Minhaj Nezami     AOE0861    TQM      Unit 3</a:t>
            </a:r>
            <a:endParaRPr lang="en-US" dirty="0"/>
          </a:p>
        </p:txBody>
      </p:sp>
      <p:sp>
        <p:nvSpPr>
          <p:cNvPr id="5" name="Slide Number Placeholder 4"/>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D513E-320D-4702-BE5C-2F8BC1BD751E}" type="datetime1">
              <a:rPr lang="en-US" smtClean="0"/>
              <a:t>5/10/2026</a:t>
            </a:fld>
            <a:endParaRPr lang="en-US"/>
          </a:p>
        </p:txBody>
      </p:sp>
      <p:sp>
        <p:nvSpPr>
          <p:cNvPr id="3" name="Footer Placeholder 2"/>
          <p:cNvSpPr>
            <a:spLocks noGrp="1"/>
          </p:cNvSpPr>
          <p:nvPr>
            <p:ph type="ftr" sz="quarter" idx="11"/>
          </p:nvPr>
        </p:nvSpPr>
        <p:spPr/>
        <p:txBody>
          <a:bodyPr/>
          <a:lstStyle/>
          <a:p>
            <a:r>
              <a:rPr lang="en-US"/>
              <a:t>Mr. Minhaj Nezami     AOE0861    TQM      Unit 3</a:t>
            </a:r>
            <a:endParaRPr lang="en-US" dirty="0"/>
          </a:p>
        </p:txBody>
      </p:sp>
      <p:sp>
        <p:nvSpPr>
          <p:cNvPr id="4" name="Slide Number Placeholder 3"/>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AF2595-1903-45C5-9433-58EA21DBA418}" type="datetime1">
              <a:rPr lang="en-US" smtClean="0"/>
              <a:t>5/10/2026</a:t>
            </a:fld>
            <a:endParaRPr lang="en-US"/>
          </a:p>
        </p:txBody>
      </p:sp>
      <p:sp>
        <p:nvSpPr>
          <p:cNvPr id="6" name="Footer Placeholder 5"/>
          <p:cNvSpPr>
            <a:spLocks noGrp="1"/>
          </p:cNvSpPr>
          <p:nvPr>
            <p:ph type="ftr" sz="quarter" idx="11"/>
          </p:nvPr>
        </p:nvSpPr>
        <p:spPr/>
        <p:txBody>
          <a:bodyPr/>
          <a:lstStyle/>
          <a:p>
            <a:r>
              <a:rPr lang="en-US"/>
              <a:t>Mr. Minhaj Nezami     AOE0861    TQM      Unit 3</a:t>
            </a:r>
            <a:endParaRPr lang="en-US" dirty="0"/>
          </a:p>
        </p:txBody>
      </p:sp>
      <p:sp>
        <p:nvSpPr>
          <p:cNvPr id="7" name="Slide Number Placeholder 6"/>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3A9174-FF49-446E-9C22-11B5E03978D2}" type="datetime1">
              <a:rPr lang="en-US" smtClean="0"/>
              <a:t>5/10/2026</a:t>
            </a:fld>
            <a:endParaRPr lang="en-US"/>
          </a:p>
        </p:txBody>
      </p:sp>
      <p:sp>
        <p:nvSpPr>
          <p:cNvPr id="6" name="Footer Placeholder 5"/>
          <p:cNvSpPr>
            <a:spLocks noGrp="1"/>
          </p:cNvSpPr>
          <p:nvPr>
            <p:ph type="ftr" sz="quarter" idx="11"/>
          </p:nvPr>
        </p:nvSpPr>
        <p:spPr/>
        <p:txBody>
          <a:bodyPr/>
          <a:lstStyle/>
          <a:p>
            <a:r>
              <a:rPr lang="en-US"/>
              <a:t>Mr. Minhaj Nezami     AOE0861    TQM      Unit 3</a:t>
            </a:r>
            <a:endParaRPr lang="en-US" dirty="0"/>
          </a:p>
        </p:txBody>
      </p:sp>
      <p:sp>
        <p:nvSpPr>
          <p:cNvPr id="7" name="Slide Number Placeholder 6"/>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66A7C9-400E-4AF2-948D-CCEBF006EEBF}" type="datetime1">
              <a:rPr lang="en-US" smtClean="0"/>
              <a:t>5/10/2026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6BAB72-A226-4FBA-B847-A0B31F8EC705}" type="datetime1">
              <a:rPr lang="en-US" smtClean="0"/>
              <a:t>5/10/2026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2E05AA-2970-4174-A0DD-5C7A3B28305F}" type="datetime1">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Mr. Minhaj Nezami     AOE0861    TQM      Unit 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E006E6-D70E-49E1-83B5-61376BAEBD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296329"/>
            <a:ext cx="2133600" cy="365125"/>
          </a:xfrm>
        </p:spPr>
        <p:txBody>
          <a:bodyPr/>
          <a:lstStyle/>
          <a:p>
            <a:fld id="{C62B875C-B983-450A-BDF2-EE8654B5E3FB}" type="datetime1">
              <a:rPr lang="en-US" smtClean="0"/>
              <a:t>5/10/2026</a:t>
            </a:fld>
            <a:endParaRPr lang="en-US"/>
          </a:p>
        </p:txBody>
      </p:sp>
      <p:sp>
        <p:nvSpPr>
          <p:cNvPr id="9" name="Footer Placeholder 12"/>
          <p:cNvSpPr>
            <a:spLocks noGrp="1"/>
          </p:cNvSpPr>
          <p:nvPr>
            <p:ph type="ftr" sz="quarter" idx="11"/>
          </p:nvPr>
        </p:nvSpPr>
        <p:spPr>
          <a:xfrm>
            <a:off x="2286000" y="6248415"/>
            <a:ext cx="5486400" cy="3047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UNIT 3</a:t>
            </a:r>
            <a:br>
              <a:rPr lang="en-US" sz="2800" b="1" dirty="0">
                <a:latin typeface="Times New Roman" panose="02020603050405020304" pitchFamily="18" charset="0"/>
                <a:cs typeface="Times New Roman" panose="02020603050405020304" pitchFamily="18" charset="0"/>
              </a:rPr>
            </a:br>
            <a:endParaRPr lang="en-US" sz="2800" dirty="0"/>
          </a:p>
        </p:txBody>
      </p:sp>
      <p:sp>
        <p:nvSpPr>
          <p:cNvPr id="3" name="TextBox 2">
            <a:extLst>
              <a:ext uri="{FF2B5EF4-FFF2-40B4-BE49-F238E27FC236}">
                <a16:creationId xmlns:a16="http://schemas.microsoft.com/office/drawing/2014/main" id="{A0511DCD-C153-68B9-7041-78CB178C1971}"/>
              </a:ext>
            </a:extLst>
          </p:cNvPr>
          <p:cNvSpPr txBox="1"/>
          <p:nvPr/>
        </p:nvSpPr>
        <p:spPr>
          <a:xfrm>
            <a:off x="381000" y="1104788"/>
            <a:ext cx="8077200" cy="1261884"/>
          </a:xfrm>
          <a:prstGeom prst="rect">
            <a:avLst/>
          </a:prstGeom>
          <a:noFill/>
        </p:spPr>
        <p:txBody>
          <a:bodyPr wrap="square">
            <a:spAutoFit/>
          </a:bodyPr>
          <a:lstStyle/>
          <a:p>
            <a:r>
              <a:rPr lang="en-US" sz="2000" b="1" dirty="0"/>
              <a:t>SYLLABUS: Tools and Techniques for Quality Management</a:t>
            </a:r>
          </a:p>
          <a:p>
            <a:pPr algn="just">
              <a:buNone/>
            </a:pPr>
            <a:r>
              <a:rPr lang="en-US" sz="2000" dirty="0"/>
              <a:t>    </a:t>
            </a:r>
            <a:r>
              <a:rPr lang="en-US" sz="1800" dirty="0"/>
              <a:t>The seven traditional tools of quality – New management tools – Six sigma: Concepts, Methodology, DMAIC, applications to manufacturing, service sector including IT –Bench marking process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4106567-A9EB-478C-B371-388746537598}" type="datetime1">
              <a:rPr lang="en-US" smtClean="0"/>
              <a:t>5/10/2026</a:t>
            </a:fld>
            <a:endParaRPr lang="en-US"/>
          </a:p>
        </p:txBody>
      </p:sp>
      <p:sp>
        <p:nvSpPr>
          <p:cNvPr id="9" name="Footer Placeholder 12"/>
          <p:cNvSpPr>
            <a:spLocks noGrp="1"/>
          </p:cNvSpPr>
          <p:nvPr>
            <p:ph type="ftr" sz="quarter" idx="11"/>
          </p:nvPr>
        </p:nvSpPr>
        <p:spPr>
          <a:xfrm>
            <a:off x="2362200" y="6085944"/>
            <a:ext cx="5486400" cy="391056"/>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dirty="0"/>
              <a:t>TOPIC 1:The seven traditional tools of quality</a:t>
            </a:r>
            <a:br>
              <a:rPr lang="en-US" sz="2800" b="1" dirty="0">
                <a:latin typeface="Times New Roman" panose="02020603050405020304" pitchFamily="18" charset="0"/>
                <a:cs typeface="Times New Roman" panose="02020603050405020304" pitchFamily="18" charset="0"/>
              </a:rPr>
            </a:br>
            <a:endParaRPr lang="en-US" sz="2800" dirty="0"/>
          </a:p>
        </p:txBody>
      </p:sp>
      <p:sp>
        <p:nvSpPr>
          <p:cNvPr id="3" name="TextBox 2">
            <a:extLst>
              <a:ext uri="{FF2B5EF4-FFF2-40B4-BE49-F238E27FC236}">
                <a16:creationId xmlns:a16="http://schemas.microsoft.com/office/drawing/2014/main" id="{66DD235F-DC79-6294-70DB-C56D57762637}"/>
              </a:ext>
            </a:extLst>
          </p:cNvPr>
          <p:cNvSpPr txBox="1"/>
          <p:nvPr/>
        </p:nvSpPr>
        <p:spPr>
          <a:xfrm>
            <a:off x="291193" y="1132400"/>
            <a:ext cx="3442607" cy="3139321"/>
          </a:xfrm>
          <a:prstGeom prst="rect">
            <a:avLst/>
          </a:prstGeom>
          <a:noFill/>
        </p:spPr>
        <p:txBody>
          <a:bodyPr wrap="square">
            <a:spAutoFit/>
          </a:bodyPr>
          <a:lstStyle/>
          <a:p>
            <a:pPr>
              <a:buNone/>
            </a:pPr>
            <a:r>
              <a:rPr lang="en-US" b="1" dirty="0"/>
              <a:t>1.. Check Sheet</a:t>
            </a:r>
          </a:p>
          <a:p>
            <a:pPr>
              <a:buNone/>
            </a:pPr>
            <a:r>
              <a:rPr lang="en-US" dirty="0"/>
              <a:t>A check sheet is a simple form used for collecting and analyzing data systematically.</a:t>
            </a:r>
          </a:p>
          <a:p>
            <a:pPr>
              <a:buNone/>
            </a:pPr>
            <a:r>
              <a:rPr lang="en-US" b="1" dirty="0"/>
              <a:t>Uses</a:t>
            </a:r>
          </a:p>
          <a:p>
            <a:pPr>
              <a:buFont typeface="Arial" panose="020B0604020202020204" pitchFamily="34" charset="0"/>
              <a:buChar char="•"/>
            </a:pPr>
            <a:r>
              <a:rPr lang="en-US" dirty="0"/>
              <a:t>Collect defect data </a:t>
            </a:r>
          </a:p>
          <a:p>
            <a:pPr>
              <a:buFont typeface="Arial" panose="020B0604020202020204" pitchFamily="34" charset="0"/>
              <a:buChar char="•"/>
            </a:pPr>
            <a:r>
              <a:rPr lang="en-US" dirty="0"/>
              <a:t>Record frequency of problems </a:t>
            </a:r>
          </a:p>
          <a:p>
            <a:pPr>
              <a:buFont typeface="Arial" panose="020B0604020202020204" pitchFamily="34" charset="0"/>
              <a:buChar char="•"/>
            </a:pPr>
            <a:r>
              <a:rPr lang="en-US" dirty="0"/>
              <a:t>Easy data gathering </a:t>
            </a:r>
          </a:p>
          <a:p>
            <a:pPr>
              <a:buNone/>
            </a:pPr>
            <a:r>
              <a:rPr lang="en-US" b="1" dirty="0"/>
              <a:t>Example</a:t>
            </a:r>
          </a:p>
          <a:p>
            <a:pPr>
              <a:buNone/>
            </a:pPr>
            <a:r>
              <a:rPr lang="en-US" dirty="0"/>
              <a:t>Recording number of defective products produced each day.</a:t>
            </a:r>
          </a:p>
        </p:txBody>
      </p:sp>
      <p:sp>
        <p:nvSpPr>
          <p:cNvPr id="6" name="TextBox 5">
            <a:extLst>
              <a:ext uri="{FF2B5EF4-FFF2-40B4-BE49-F238E27FC236}">
                <a16:creationId xmlns:a16="http://schemas.microsoft.com/office/drawing/2014/main" id="{F188BDF8-D589-0650-5034-10F1C8BD3AC7}"/>
              </a:ext>
            </a:extLst>
          </p:cNvPr>
          <p:cNvSpPr txBox="1"/>
          <p:nvPr/>
        </p:nvSpPr>
        <p:spPr>
          <a:xfrm>
            <a:off x="3701143" y="1245056"/>
            <a:ext cx="4599214" cy="2862322"/>
          </a:xfrm>
          <a:prstGeom prst="rect">
            <a:avLst/>
          </a:prstGeom>
          <a:noFill/>
        </p:spPr>
        <p:txBody>
          <a:bodyPr wrap="square">
            <a:spAutoFit/>
          </a:bodyPr>
          <a:lstStyle/>
          <a:p>
            <a:pPr>
              <a:buNone/>
            </a:pPr>
            <a:r>
              <a:rPr lang="en-US" b="1" dirty="0"/>
              <a:t>2. Histogram</a:t>
            </a:r>
          </a:p>
          <a:p>
            <a:pPr>
              <a:buNone/>
            </a:pPr>
            <a:r>
              <a:rPr lang="en-US" dirty="0"/>
              <a:t>A histogram is a bar graph showing frequency distribution of data.</a:t>
            </a:r>
          </a:p>
          <a:p>
            <a:pPr>
              <a:buNone/>
            </a:pPr>
            <a:r>
              <a:rPr lang="en-US" b="1" dirty="0"/>
              <a:t>Uses</a:t>
            </a:r>
          </a:p>
          <a:p>
            <a:pPr>
              <a:buFont typeface="Arial" panose="020B0604020202020204" pitchFamily="34" charset="0"/>
              <a:buChar char="•"/>
            </a:pPr>
            <a:r>
              <a:rPr lang="en-US" dirty="0"/>
              <a:t>Understand variation </a:t>
            </a:r>
          </a:p>
          <a:p>
            <a:pPr>
              <a:buFont typeface="Arial" panose="020B0604020202020204" pitchFamily="34" charset="0"/>
              <a:buChar char="•"/>
            </a:pPr>
            <a:r>
              <a:rPr lang="en-US" dirty="0"/>
              <a:t>Identify process performance </a:t>
            </a:r>
          </a:p>
          <a:p>
            <a:pPr>
              <a:buFont typeface="Arial" panose="020B0604020202020204" pitchFamily="34" charset="0"/>
              <a:buChar char="•"/>
            </a:pPr>
            <a:r>
              <a:rPr lang="en-US" dirty="0"/>
              <a:t>Analyze distribution pattern </a:t>
            </a:r>
          </a:p>
          <a:p>
            <a:pPr>
              <a:buNone/>
            </a:pPr>
            <a:r>
              <a:rPr lang="en-US" b="1" dirty="0"/>
              <a:t>Example</a:t>
            </a:r>
          </a:p>
          <a:p>
            <a:pPr>
              <a:buNone/>
            </a:pPr>
            <a:r>
              <a:rPr lang="en-US" dirty="0"/>
              <a:t>Distribution of product weights in manufacturing.</a:t>
            </a:r>
          </a:p>
        </p:txBody>
      </p:sp>
      <p:pic>
        <p:nvPicPr>
          <p:cNvPr id="7" name="Image">
            <a:extLst>
              <a:ext uri="{FF2B5EF4-FFF2-40B4-BE49-F238E27FC236}">
                <a16:creationId xmlns:a16="http://schemas.microsoft.com/office/drawing/2014/main" id="{AD741491-5DE4-B890-D56A-BB36B0CCCAA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20886" y="4107377"/>
            <a:ext cx="5323114" cy="2614098"/>
          </a:xfrm>
          <a:prstGeom prst="rect">
            <a:avLst/>
          </a:prstGeom>
        </p:spPr>
      </p:pic>
      <p:pic>
        <p:nvPicPr>
          <p:cNvPr id="12" name="Picture 2" descr="C:\Users\ndc\Desktop\New folder\example-check-seet.jpg">
            <a:extLst>
              <a:ext uri="{FF2B5EF4-FFF2-40B4-BE49-F238E27FC236}">
                <a16:creationId xmlns:a16="http://schemas.microsoft.com/office/drawing/2014/main" id="{E1AFF257-0E02-7BCF-8B2A-D2E098535471}"/>
              </a:ext>
            </a:extLst>
          </p:cNvPr>
          <p:cNvPicPr>
            <a:picLocks noChangeAspect="1" noChangeArrowheads="1"/>
          </p:cNvPicPr>
          <p:nvPr/>
        </p:nvPicPr>
        <p:blipFill>
          <a:blip r:embed="rId4"/>
          <a:srcRect/>
          <a:stretch>
            <a:fillRect/>
          </a:stretch>
        </p:blipFill>
        <p:spPr bwMode="auto">
          <a:xfrm>
            <a:off x="174171" y="4271721"/>
            <a:ext cx="3439886" cy="2599806"/>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979" y="1187465"/>
            <a:ext cx="4612821" cy="4800600"/>
          </a:xfrm>
        </p:spPr>
        <p:txBody>
          <a:bodyPr>
            <a:normAutofit/>
          </a:bodyPr>
          <a:lstStyle/>
          <a:p>
            <a:pPr algn="just"/>
            <a:r>
              <a:rPr lang="en-US" sz="1600" dirty="0"/>
              <a:t>Ishikawa diagram also known as a ,cause and effect diagram, fish-bone diagram shows the many possible causes of a problem.</a:t>
            </a:r>
          </a:p>
          <a:p>
            <a:pPr algn="just"/>
            <a:r>
              <a:rPr lang="en-US" sz="1600" dirty="0"/>
              <a:t>To use this tool, you need to first identify the problem you are trying to solve and simply write it in the box (head of the fish) to the right.</a:t>
            </a:r>
          </a:p>
          <a:p>
            <a:pPr marL="300355" indent="-288290">
              <a:lnSpc>
                <a:spcPct val="100000"/>
              </a:lnSpc>
              <a:spcBef>
                <a:spcPts val="100"/>
              </a:spcBef>
              <a:buNone/>
              <a:tabLst>
                <a:tab pos="300990" algn="l"/>
              </a:tabLst>
            </a:pPr>
            <a:endParaRPr lang="en-US" sz="2200" dirty="0">
              <a:cs typeface="Georgia"/>
            </a:endParaRPr>
          </a:p>
        </p:txBody>
      </p:sp>
      <p:sp>
        <p:nvSpPr>
          <p:cNvPr id="4" name="Date Placeholder 3"/>
          <p:cNvSpPr>
            <a:spLocks noGrp="1"/>
          </p:cNvSpPr>
          <p:nvPr>
            <p:ph type="dt" sz="half" idx="10"/>
          </p:nvPr>
        </p:nvSpPr>
        <p:spPr/>
        <p:txBody>
          <a:bodyPr/>
          <a:lstStyle/>
          <a:p>
            <a:fld id="{4CB04821-8543-4694-8715-4081F3B31B3A}" type="datetime1">
              <a:rPr lang="en-US" smtClean="0"/>
              <a:t>5/10/2026</a:t>
            </a:fld>
            <a:endParaRPr lang="en-US"/>
          </a:p>
        </p:txBody>
      </p:sp>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285750" y="173056"/>
            <a:ext cx="24765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t>3.Ishikawa diagram </a:t>
            </a:r>
            <a:r>
              <a:rPr lang="en-US" sz="2800" b="1" dirty="0">
                <a:solidFill>
                  <a:schemeClr val="tx1"/>
                </a:solidFill>
              </a:rPr>
              <a:t>(CO3)</a:t>
            </a:r>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2" name="Image">
            <a:extLst>
              <a:ext uri="{FF2B5EF4-FFF2-40B4-BE49-F238E27FC236}">
                <a16:creationId xmlns:a16="http://schemas.microsoft.com/office/drawing/2014/main" id="{21BFFA19-CF5F-E2ED-D772-8AFC8C170D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9457" y="272142"/>
            <a:ext cx="3948653" cy="2775857"/>
          </a:xfrm>
          <a:prstGeom prst="rect">
            <a:avLst/>
          </a:prstGeom>
        </p:spPr>
      </p:pic>
      <p:sp>
        <p:nvSpPr>
          <p:cNvPr id="6" name="TextBox 5">
            <a:extLst>
              <a:ext uri="{FF2B5EF4-FFF2-40B4-BE49-F238E27FC236}">
                <a16:creationId xmlns:a16="http://schemas.microsoft.com/office/drawing/2014/main" id="{A829B2B4-5D9A-B173-58D4-1BB7D5EB4DBC}"/>
              </a:ext>
            </a:extLst>
          </p:cNvPr>
          <p:cNvSpPr txBox="1"/>
          <p:nvPr/>
        </p:nvSpPr>
        <p:spPr>
          <a:xfrm>
            <a:off x="198665" y="3429000"/>
            <a:ext cx="4572000" cy="3046988"/>
          </a:xfrm>
          <a:prstGeom prst="rect">
            <a:avLst/>
          </a:prstGeom>
          <a:noFill/>
        </p:spPr>
        <p:txBody>
          <a:bodyPr wrap="square">
            <a:spAutoFit/>
          </a:bodyPr>
          <a:lstStyle/>
          <a:p>
            <a:pPr>
              <a:buNone/>
            </a:pPr>
            <a:r>
              <a:rPr lang="en-US" sz="1600" b="1" dirty="0"/>
              <a:t>Pareto Chart</a:t>
            </a:r>
          </a:p>
          <a:p>
            <a:pPr>
              <a:buNone/>
            </a:pPr>
            <a:r>
              <a:rPr lang="en-US" sz="1600" dirty="0"/>
              <a:t>Based on the 80/20 rule developed by Vilfredo Pareto. It shows major causes contributing to most problems.</a:t>
            </a:r>
          </a:p>
          <a:p>
            <a:pPr>
              <a:buNone/>
            </a:pPr>
            <a:r>
              <a:rPr lang="en-US" sz="1600" b="1" dirty="0"/>
              <a:t>Uses</a:t>
            </a:r>
          </a:p>
          <a:p>
            <a:pPr>
              <a:buFont typeface="Arial" panose="020B0604020202020204" pitchFamily="34" charset="0"/>
              <a:buChar char="•"/>
            </a:pPr>
            <a:r>
              <a:rPr lang="en-US" sz="1600" dirty="0"/>
              <a:t>Identify major defects </a:t>
            </a:r>
          </a:p>
          <a:p>
            <a:pPr>
              <a:buFont typeface="Arial" panose="020B0604020202020204" pitchFamily="34" charset="0"/>
              <a:buChar char="•"/>
            </a:pPr>
            <a:r>
              <a:rPr lang="en-US" sz="1600" dirty="0"/>
              <a:t>Prioritize problems </a:t>
            </a:r>
          </a:p>
          <a:p>
            <a:pPr>
              <a:buFont typeface="Arial" panose="020B0604020202020204" pitchFamily="34" charset="0"/>
              <a:buChar char="•"/>
            </a:pPr>
            <a:r>
              <a:rPr lang="en-US" sz="1600" dirty="0"/>
              <a:t>Improve decision making </a:t>
            </a:r>
          </a:p>
          <a:p>
            <a:pPr>
              <a:buNone/>
            </a:pPr>
            <a:r>
              <a:rPr lang="en-US" sz="1600" b="1" dirty="0"/>
              <a:t>Principle</a:t>
            </a:r>
          </a:p>
          <a:p>
            <a:pPr>
              <a:buNone/>
            </a:pPr>
            <a:r>
              <a:rPr lang="en-US" sz="1600" dirty="0"/>
              <a:t>80% problems are caused by 20% causes.</a:t>
            </a:r>
          </a:p>
          <a:p>
            <a:pPr>
              <a:buNone/>
            </a:pPr>
            <a:r>
              <a:rPr lang="en-US" sz="1600" b="1" dirty="0"/>
              <a:t>Example</a:t>
            </a:r>
          </a:p>
          <a:p>
            <a:pPr>
              <a:buNone/>
            </a:pPr>
            <a:r>
              <a:rPr lang="en-US" sz="1600" dirty="0"/>
              <a:t>Most customer complaints are due to late delivery.</a:t>
            </a:r>
          </a:p>
        </p:txBody>
      </p:sp>
      <p:pic>
        <p:nvPicPr>
          <p:cNvPr id="7" name="Picture 2" descr="C:\Users\ndc\Desktop\New folder\example-parato.jpg">
            <a:extLst>
              <a:ext uri="{FF2B5EF4-FFF2-40B4-BE49-F238E27FC236}">
                <a16:creationId xmlns:a16="http://schemas.microsoft.com/office/drawing/2014/main" id="{CB3B6386-9ADC-A9B1-E626-375B5568408D}"/>
              </a:ext>
            </a:extLst>
          </p:cNvPr>
          <p:cNvPicPr>
            <a:picLocks noChangeAspect="1" noChangeArrowheads="1"/>
          </p:cNvPicPr>
          <p:nvPr/>
        </p:nvPicPr>
        <p:blipFill>
          <a:blip r:embed="rId3"/>
          <a:srcRect/>
          <a:stretch>
            <a:fillRect/>
          </a:stretch>
        </p:blipFill>
        <p:spPr bwMode="auto">
          <a:xfrm>
            <a:off x="4661319" y="3762444"/>
            <a:ext cx="4444927" cy="2836287"/>
          </a:xfrm>
          <a:prstGeom prst="rect">
            <a:avLst/>
          </a:prstGeom>
          <a:noFill/>
        </p:spPr>
      </p:pic>
      <p:sp>
        <p:nvSpPr>
          <p:cNvPr id="11" name="Title 1">
            <a:extLst>
              <a:ext uri="{FF2B5EF4-FFF2-40B4-BE49-F238E27FC236}">
                <a16:creationId xmlns:a16="http://schemas.microsoft.com/office/drawing/2014/main" id="{B12906CE-159F-90B8-9179-53AA6440B1F8}"/>
              </a:ext>
            </a:extLst>
          </p:cNvPr>
          <p:cNvSpPr txBox="1">
            <a:spLocks/>
          </p:cNvSpPr>
          <p:nvPr/>
        </p:nvSpPr>
        <p:spPr>
          <a:xfrm>
            <a:off x="190500" y="2651689"/>
            <a:ext cx="3390900" cy="70110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b="1" dirty="0">
                <a:solidFill>
                  <a:schemeClr val="tx1"/>
                </a:solidFill>
              </a:rPr>
            </a:br>
            <a:r>
              <a:rPr lang="en-US" sz="2800" b="1" dirty="0">
                <a:solidFill>
                  <a:schemeClr val="tx1"/>
                </a:solidFill>
              </a:rPr>
              <a:t>4.Pareto chart (CO3)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9A1377-110E-41C8-9C0E-D66BB0252C2C}" type="datetime1">
              <a:rPr lang="en-US" smtClean="0"/>
              <a:t>5/10/2026</a:t>
            </a:fld>
            <a:endParaRPr lang="en-US"/>
          </a:p>
        </p:txBody>
      </p:sp>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52400" y="147411"/>
            <a:ext cx="36576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5.Scatter diagram</a:t>
            </a:r>
            <a:br>
              <a:rPr lang="en-US" sz="2800" b="1" dirty="0">
                <a:latin typeface="Times New Roman" panose="02020603050405020304" pitchFamily="18" charset="0"/>
                <a:cs typeface="Times New Roman" panose="02020603050405020304" pitchFamily="18" charset="0"/>
              </a:rPr>
            </a:br>
            <a:endParaRPr lang="en-US" sz="2800" dirty="0"/>
          </a:p>
        </p:txBody>
      </p:sp>
      <p:sp>
        <p:nvSpPr>
          <p:cNvPr id="3" name="TextBox 2">
            <a:extLst>
              <a:ext uri="{FF2B5EF4-FFF2-40B4-BE49-F238E27FC236}">
                <a16:creationId xmlns:a16="http://schemas.microsoft.com/office/drawing/2014/main" id="{59FFFFD3-796C-A0D9-181D-8D8D948BBE01}"/>
              </a:ext>
            </a:extLst>
          </p:cNvPr>
          <p:cNvSpPr txBox="1"/>
          <p:nvPr/>
        </p:nvSpPr>
        <p:spPr>
          <a:xfrm>
            <a:off x="146957" y="1117340"/>
            <a:ext cx="4572000" cy="2031325"/>
          </a:xfrm>
          <a:prstGeom prst="rect">
            <a:avLst/>
          </a:prstGeom>
          <a:noFill/>
        </p:spPr>
        <p:txBody>
          <a:bodyPr wrap="square">
            <a:spAutoFit/>
          </a:bodyPr>
          <a:lstStyle/>
          <a:p>
            <a:pPr>
              <a:buNone/>
            </a:pPr>
            <a:r>
              <a:rPr lang="en-US" dirty="0"/>
              <a:t>Shows relationship between two variables.</a:t>
            </a:r>
          </a:p>
          <a:p>
            <a:pPr>
              <a:buNone/>
            </a:pPr>
            <a:r>
              <a:rPr lang="en-US" b="1" dirty="0"/>
              <a:t>Uses</a:t>
            </a:r>
          </a:p>
          <a:p>
            <a:pPr>
              <a:buFont typeface="Arial" panose="020B0604020202020204" pitchFamily="34" charset="0"/>
              <a:buChar char="•"/>
            </a:pPr>
            <a:r>
              <a:rPr lang="en-US" dirty="0"/>
              <a:t>Identify correlation </a:t>
            </a:r>
          </a:p>
          <a:p>
            <a:pPr>
              <a:buFont typeface="Arial" panose="020B0604020202020204" pitchFamily="34" charset="0"/>
              <a:buChar char="•"/>
            </a:pPr>
            <a:r>
              <a:rPr lang="en-US" dirty="0"/>
              <a:t>Analyze cause-effect relationship </a:t>
            </a:r>
          </a:p>
          <a:p>
            <a:pPr>
              <a:buNone/>
            </a:pPr>
            <a:r>
              <a:rPr lang="en-US" b="1" dirty="0"/>
              <a:t>Example</a:t>
            </a:r>
          </a:p>
          <a:p>
            <a:pPr>
              <a:buNone/>
            </a:pPr>
            <a:r>
              <a:rPr lang="en-US" dirty="0"/>
              <a:t>Relation between training hours and employee performance.</a:t>
            </a:r>
          </a:p>
        </p:txBody>
      </p:sp>
      <p:pic>
        <p:nvPicPr>
          <p:cNvPr id="5" name="Picture 2" descr="C:\Users\ndc\Desktop\New folder\example-scatter-diagram.jpg">
            <a:extLst>
              <a:ext uri="{FF2B5EF4-FFF2-40B4-BE49-F238E27FC236}">
                <a16:creationId xmlns:a16="http://schemas.microsoft.com/office/drawing/2014/main" id="{F4EBD658-0F44-E245-3046-5AF85AA0F642}"/>
              </a:ext>
            </a:extLst>
          </p:cNvPr>
          <p:cNvPicPr>
            <a:picLocks noChangeAspect="1" noChangeArrowheads="1"/>
          </p:cNvPicPr>
          <p:nvPr/>
        </p:nvPicPr>
        <p:blipFill>
          <a:blip r:embed="rId2"/>
          <a:srcRect/>
          <a:stretch>
            <a:fillRect/>
          </a:stretch>
        </p:blipFill>
        <p:spPr bwMode="auto">
          <a:xfrm>
            <a:off x="4718956" y="147411"/>
            <a:ext cx="4425044" cy="3200400"/>
          </a:xfrm>
          <a:prstGeom prst="rect">
            <a:avLst/>
          </a:prstGeom>
          <a:noFill/>
        </p:spPr>
      </p:pic>
      <p:sp>
        <p:nvSpPr>
          <p:cNvPr id="6" name="Title 1">
            <a:extLst>
              <a:ext uri="{FF2B5EF4-FFF2-40B4-BE49-F238E27FC236}">
                <a16:creationId xmlns:a16="http://schemas.microsoft.com/office/drawing/2014/main" id="{EAE36F96-E658-0EE7-3241-BFDAA663EA7D}"/>
              </a:ext>
            </a:extLst>
          </p:cNvPr>
          <p:cNvSpPr txBox="1">
            <a:spLocks/>
          </p:cNvSpPr>
          <p:nvPr/>
        </p:nvSpPr>
        <p:spPr>
          <a:xfrm>
            <a:off x="0" y="3148665"/>
            <a:ext cx="41148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b="1" dirty="0"/>
            </a:br>
            <a:r>
              <a:rPr lang="en-US" sz="2800" b="1" dirty="0"/>
              <a:t>6.Control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
        <p:nvSpPr>
          <p:cNvPr id="12" name="TextBox 11">
            <a:extLst>
              <a:ext uri="{FF2B5EF4-FFF2-40B4-BE49-F238E27FC236}">
                <a16:creationId xmlns:a16="http://schemas.microsoft.com/office/drawing/2014/main" id="{969C247B-3D15-317D-FF6C-D0C4CA1484A8}"/>
              </a:ext>
            </a:extLst>
          </p:cNvPr>
          <p:cNvSpPr txBox="1"/>
          <p:nvPr/>
        </p:nvSpPr>
        <p:spPr>
          <a:xfrm>
            <a:off x="125186" y="4109155"/>
            <a:ext cx="4446814" cy="2308324"/>
          </a:xfrm>
          <a:prstGeom prst="rect">
            <a:avLst/>
          </a:prstGeom>
          <a:noFill/>
        </p:spPr>
        <p:txBody>
          <a:bodyPr wrap="square">
            <a:spAutoFit/>
          </a:bodyPr>
          <a:lstStyle/>
          <a:p>
            <a:r>
              <a:rPr lang="en-US" sz="1800" dirty="0"/>
              <a:t>Developed by Walter A. Shewhart. It monitors process variation over time.</a:t>
            </a:r>
          </a:p>
          <a:p>
            <a:r>
              <a:rPr lang="en-US" sz="1800" b="1" dirty="0"/>
              <a:t>Components</a:t>
            </a:r>
          </a:p>
          <a:p>
            <a:r>
              <a:rPr lang="en-US" sz="1800" dirty="0"/>
              <a:t>Upper Control Limit (UCL) </a:t>
            </a:r>
          </a:p>
          <a:p>
            <a:r>
              <a:rPr lang="en-US" sz="1800" dirty="0"/>
              <a:t>Lower Control Limit (LCL) </a:t>
            </a:r>
          </a:p>
          <a:p>
            <a:r>
              <a:rPr lang="en-US" sz="1800" dirty="0"/>
              <a:t>Central Line </a:t>
            </a:r>
          </a:p>
          <a:p>
            <a:r>
              <a:rPr lang="en-US" sz="1800" b="1" dirty="0"/>
              <a:t>Uses</a:t>
            </a:r>
          </a:p>
          <a:p>
            <a:r>
              <a:rPr lang="en-US" sz="1800" dirty="0"/>
              <a:t>Process control </a:t>
            </a:r>
          </a:p>
        </p:txBody>
      </p:sp>
      <p:pic>
        <p:nvPicPr>
          <p:cNvPr id="13" name="Picture 2" descr="C:\Users\ndc\Desktop\New folder\example-control-chart.jpg">
            <a:extLst>
              <a:ext uri="{FF2B5EF4-FFF2-40B4-BE49-F238E27FC236}">
                <a16:creationId xmlns:a16="http://schemas.microsoft.com/office/drawing/2014/main" id="{BE3430F2-37E9-8F9D-A640-DE1E600533DC}"/>
              </a:ext>
            </a:extLst>
          </p:cNvPr>
          <p:cNvPicPr>
            <a:picLocks noChangeAspect="1" noChangeArrowheads="1"/>
          </p:cNvPicPr>
          <p:nvPr/>
        </p:nvPicPr>
        <p:blipFill>
          <a:blip r:embed="rId3"/>
          <a:srcRect/>
          <a:stretch>
            <a:fillRect/>
          </a:stretch>
        </p:blipFill>
        <p:spPr bwMode="auto">
          <a:xfrm>
            <a:off x="4038600" y="4109155"/>
            <a:ext cx="4648200" cy="2612319"/>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400" dirty="0"/>
          </a:p>
          <a:p>
            <a:pPr marL="355600" marR="5715" algn="just">
              <a:spcBef>
                <a:spcPts val="100"/>
              </a:spcBef>
              <a:tabLst>
                <a:tab pos="355600" algn="l"/>
              </a:tabLst>
            </a:pPr>
            <a:endParaRPr lang="en-US" sz="2200" dirty="0">
              <a:cs typeface="Georgia"/>
            </a:endParaRPr>
          </a:p>
          <a:p>
            <a:pPr marL="355600" marR="5715" algn="just">
              <a:spcBef>
                <a:spcPts val="100"/>
              </a:spcBef>
              <a:buNone/>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ACACDB6D-A02F-49C4-A102-830A1382134F}" type="datetime1">
              <a:rPr lang="en-US" smtClean="0"/>
              <a:t>5/10/2026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8194" name="Picture 2" descr="C:\Users\ndc\Desktop\New folder\Flow-chart-2.jpg"/>
          <p:cNvPicPr>
            <a:picLocks noChangeAspect="1" noChangeArrowheads="1"/>
          </p:cNvPicPr>
          <p:nvPr/>
        </p:nvPicPr>
        <p:blipFill>
          <a:blip r:embed="rId2"/>
          <a:srcRect/>
          <a:stretch>
            <a:fillRect/>
          </a:stretch>
        </p:blipFill>
        <p:spPr bwMode="auto">
          <a:xfrm>
            <a:off x="32657" y="2438401"/>
            <a:ext cx="8654143" cy="4283074"/>
          </a:xfrm>
          <a:prstGeom prst="rect">
            <a:avLst/>
          </a:prstGeom>
          <a:noFill/>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32657" y="106835"/>
            <a:ext cx="6596743"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5" dirty="0">
                <a:solidFill>
                  <a:schemeClr val="tx1"/>
                </a:solidFill>
              </a:rPr>
            </a:br>
            <a:r>
              <a:rPr lang="en-US" sz="2800" b="1" spc="-5" dirty="0">
                <a:solidFill>
                  <a:schemeClr val="tx1"/>
                </a:solidFill>
              </a:rPr>
              <a:t>7.Flow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
        <p:nvSpPr>
          <p:cNvPr id="5" name="TextBox 4">
            <a:extLst>
              <a:ext uri="{FF2B5EF4-FFF2-40B4-BE49-F238E27FC236}">
                <a16:creationId xmlns:a16="http://schemas.microsoft.com/office/drawing/2014/main" id="{F8754B11-D878-940E-A442-EE772E898688}"/>
              </a:ext>
            </a:extLst>
          </p:cNvPr>
          <p:cNvSpPr txBox="1"/>
          <p:nvPr/>
        </p:nvSpPr>
        <p:spPr>
          <a:xfrm>
            <a:off x="38100" y="1091700"/>
            <a:ext cx="7658099" cy="1477328"/>
          </a:xfrm>
          <a:prstGeom prst="rect">
            <a:avLst/>
          </a:prstGeom>
          <a:noFill/>
        </p:spPr>
        <p:txBody>
          <a:bodyPr wrap="square">
            <a:spAutoFit/>
          </a:bodyPr>
          <a:lstStyle/>
          <a:p>
            <a:pPr>
              <a:buNone/>
            </a:pPr>
            <a:r>
              <a:rPr lang="en-US" dirty="0"/>
              <a:t>A graphical representation of process steps.</a:t>
            </a:r>
          </a:p>
          <a:p>
            <a:pPr>
              <a:buNone/>
            </a:pPr>
            <a:r>
              <a:rPr lang="en-US" b="1" dirty="0"/>
              <a:t>Uses</a:t>
            </a:r>
          </a:p>
          <a:p>
            <a:pPr>
              <a:buFont typeface="Arial" panose="020B0604020202020204" pitchFamily="34" charset="0"/>
              <a:buChar char="•"/>
            </a:pPr>
            <a:r>
              <a:rPr lang="en-US" dirty="0"/>
              <a:t>Understand workflow </a:t>
            </a:r>
          </a:p>
          <a:p>
            <a:pPr>
              <a:buFont typeface="Arial" panose="020B0604020202020204" pitchFamily="34" charset="0"/>
              <a:buChar char="•"/>
            </a:pPr>
            <a:r>
              <a:rPr lang="en-US" dirty="0"/>
              <a:t>Identify bottlenecks </a:t>
            </a:r>
          </a:p>
          <a:p>
            <a:pPr>
              <a:buFont typeface="Arial" panose="020B0604020202020204" pitchFamily="34" charset="0"/>
              <a:buChar char="•"/>
            </a:pPr>
            <a:r>
              <a:rPr lang="en-US" dirty="0"/>
              <a:t>Improve process efficiency </a:t>
            </a:r>
          </a:p>
        </p:txBody>
      </p:sp>
    </p:spTree>
    <p:extLst>
      <p:ext uri="{BB962C8B-B14F-4D97-AF65-F5344CB8AC3E}">
        <p14:creationId xmlns:p14="http://schemas.microsoft.com/office/powerpoint/2010/main" val="391931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587ECBB-A26E-4028-85ED-D31972DCA3ED}" type="datetime1">
              <a:rPr lang="en-US" smtClean="0"/>
              <a:t>5/10/2026</a:t>
            </a:fld>
            <a:endParaRPr lang="en-US"/>
          </a:p>
        </p:txBody>
      </p:sp>
      <p:sp>
        <p:nvSpPr>
          <p:cNvPr id="5" name="Footer Placeholder 4"/>
          <p:cNvSpPr>
            <a:spLocks noGrp="1"/>
          </p:cNvSpPr>
          <p:nvPr>
            <p:ph type="ftr" sz="quarter" idx="11"/>
          </p:nvPr>
        </p:nvSpPr>
        <p:spPr>
          <a:xfrm>
            <a:off x="1828800" y="6356350"/>
            <a:ext cx="55626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solidFill>
                  <a:schemeClr val="tx1"/>
                </a:solidFill>
                <a:latin typeface="Times New Roman" panose="02020603050405020304" pitchFamily="18" charset="0"/>
                <a:cs typeface="Times New Roman" panose="02020603050405020304" pitchFamily="18" charset="0"/>
              </a:rPr>
              <a:t>TOPIC 2:New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9" name="Rectangle 8"/>
          <p:cNvSpPr/>
          <p:nvPr/>
        </p:nvSpPr>
        <p:spPr>
          <a:xfrm>
            <a:off x="214250" y="1284514"/>
            <a:ext cx="8385464" cy="769441"/>
          </a:xfrm>
          <a:prstGeom prst="rect">
            <a:avLst/>
          </a:prstGeom>
        </p:spPr>
        <p:txBody>
          <a:bodyPr wrap="square">
            <a:spAutoFit/>
          </a:bodyPr>
          <a:lstStyle/>
          <a:p>
            <a:r>
              <a:rPr lang="en-US" sz="2200" dirty="0">
                <a:latin typeface="Calibri (Body)"/>
              </a:rPr>
              <a:t>1. </a:t>
            </a:r>
            <a:r>
              <a:rPr lang="en-US" sz="2200" dirty="0">
                <a:solidFill>
                  <a:srgbClr val="FF0000"/>
                </a:solidFill>
                <a:latin typeface="Calibri (Body)"/>
              </a:rPr>
              <a:t>Affinity diagram: </a:t>
            </a:r>
            <a:r>
              <a:rPr lang="en-US" sz="2200" dirty="0">
                <a:latin typeface="Calibri (Body)"/>
              </a:rPr>
              <a:t>organizes a large number of ideas into their natural relationships.</a:t>
            </a:r>
            <a:endParaRPr lang="en-IN" sz="2200" dirty="0">
              <a:latin typeface="Calibri (Body)"/>
            </a:endParaRPr>
          </a:p>
        </p:txBody>
      </p:sp>
      <p:pic>
        <p:nvPicPr>
          <p:cNvPr id="10" name="Picture 9"/>
          <p:cNvPicPr>
            <a:picLocks noChangeAspect="1"/>
          </p:cNvPicPr>
          <p:nvPr/>
        </p:nvPicPr>
        <p:blipFill>
          <a:blip r:embed="rId3"/>
          <a:stretch>
            <a:fillRect/>
          </a:stretch>
        </p:blipFill>
        <p:spPr>
          <a:xfrm>
            <a:off x="2895600" y="2064841"/>
            <a:ext cx="3581400" cy="1592758"/>
          </a:xfrm>
          <a:prstGeom prst="rect">
            <a:avLst/>
          </a:prstGeom>
        </p:spPr>
      </p:pic>
      <p:sp>
        <p:nvSpPr>
          <p:cNvPr id="11" name="Rectangle 10"/>
          <p:cNvSpPr/>
          <p:nvPr/>
        </p:nvSpPr>
        <p:spPr>
          <a:xfrm>
            <a:off x="529936" y="3657599"/>
            <a:ext cx="8080664" cy="1107996"/>
          </a:xfrm>
          <a:prstGeom prst="rect">
            <a:avLst/>
          </a:prstGeom>
        </p:spPr>
        <p:txBody>
          <a:bodyPr wrap="square">
            <a:spAutoFit/>
          </a:bodyPr>
          <a:lstStyle/>
          <a:p>
            <a:pPr marL="12700">
              <a:lnSpc>
                <a:spcPct val="100000"/>
              </a:lnSpc>
              <a:spcBef>
                <a:spcPts val="100"/>
              </a:spcBef>
            </a:pPr>
            <a:r>
              <a:rPr lang="en-US" sz="2200" dirty="0">
                <a:solidFill>
                  <a:srgbClr val="FF0000"/>
                </a:solidFill>
                <a:latin typeface="Calibri (Body)"/>
                <a:cs typeface="Times New Roman"/>
              </a:rPr>
              <a:t>2. Inter Relations</a:t>
            </a:r>
            <a:r>
              <a:rPr lang="en-US" sz="2200" spc="-20" dirty="0">
                <a:solidFill>
                  <a:srgbClr val="FF0000"/>
                </a:solidFill>
                <a:latin typeface="Calibri (Body)"/>
                <a:cs typeface="Times New Roman"/>
              </a:rPr>
              <a:t> </a:t>
            </a:r>
            <a:r>
              <a:rPr lang="en-US" sz="2200" spc="-10" dirty="0">
                <a:solidFill>
                  <a:srgbClr val="FF0000"/>
                </a:solidFill>
                <a:latin typeface="Calibri (Body)"/>
                <a:cs typeface="Times New Roman"/>
              </a:rPr>
              <a:t>diagram</a:t>
            </a:r>
            <a:r>
              <a:rPr lang="en-US" sz="2200" spc="-10" dirty="0">
                <a:latin typeface="Calibri (Body)"/>
                <a:cs typeface="Times New Roman"/>
              </a:rPr>
              <a:t>: </a:t>
            </a:r>
            <a:r>
              <a:rPr lang="en-US" sz="2200" dirty="0">
                <a:latin typeface="Calibri (Body)"/>
                <a:cs typeface="Times New Roman"/>
              </a:rPr>
              <a:t>Shows</a:t>
            </a:r>
            <a:r>
              <a:rPr lang="en-US" sz="2200" spc="50" dirty="0">
                <a:latin typeface="Calibri (Body)"/>
                <a:cs typeface="Times New Roman"/>
              </a:rPr>
              <a:t> </a:t>
            </a:r>
            <a:r>
              <a:rPr lang="en-US" sz="2200" spc="-10" dirty="0">
                <a:latin typeface="Calibri (Body)"/>
                <a:cs typeface="Times New Roman"/>
              </a:rPr>
              <a:t>cause-</a:t>
            </a:r>
            <a:r>
              <a:rPr lang="en-US" sz="2200" dirty="0">
                <a:latin typeface="Calibri (Body)"/>
                <a:cs typeface="Times New Roman"/>
              </a:rPr>
              <a:t>and-effect</a:t>
            </a:r>
            <a:r>
              <a:rPr lang="en-US" sz="2200" spc="30" dirty="0">
                <a:latin typeface="Calibri (Body)"/>
                <a:cs typeface="Times New Roman"/>
              </a:rPr>
              <a:t> </a:t>
            </a:r>
            <a:r>
              <a:rPr lang="en-US" sz="2200" dirty="0">
                <a:latin typeface="Calibri (Body)"/>
                <a:cs typeface="Times New Roman"/>
              </a:rPr>
              <a:t>relationships</a:t>
            </a:r>
            <a:r>
              <a:rPr lang="en-US" sz="2200" spc="30" dirty="0">
                <a:latin typeface="Calibri (Body)"/>
                <a:cs typeface="Times New Roman"/>
              </a:rPr>
              <a:t> </a:t>
            </a:r>
            <a:r>
              <a:rPr lang="en-US" sz="2200" dirty="0">
                <a:latin typeface="Calibri (Body)"/>
                <a:cs typeface="Times New Roman"/>
              </a:rPr>
              <a:t>and helps</a:t>
            </a:r>
            <a:r>
              <a:rPr lang="en-US" sz="2200" spc="30" dirty="0">
                <a:latin typeface="Calibri (Body)"/>
                <a:cs typeface="Times New Roman"/>
              </a:rPr>
              <a:t> </a:t>
            </a:r>
            <a:r>
              <a:rPr lang="en-US" sz="2200" dirty="0">
                <a:latin typeface="Calibri (Body)"/>
                <a:cs typeface="Times New Roman"/>
              </a:rPr>
              <a:t>you</a:t>
            </a:r>
            <a:r>
              <a:rPr lang="en-US" sz="2200" spc="45" dirty="0">
                <a:latin typeface="Calibri (Body)"/>
                <a:cs typeface="Times New Roman"/>
              </a:rPr>
              <a:t> </a:t>
            </a:r>
            <a:r>
              <a:rPr lang="en-US" sz="2200" dirty="0">
                <a:latin typeface="Calibri (Body)"/>
                <a:cs typeface="Times New Roman"/>
              </a:rPr>
              <a:t>analyze</a:t>
            </a:r>
            <a:r>
              <a:rPr lang="en-US" sz="2200" spc="229" dirty="0">
                <a:latin typeface="Calibri (Body)"/>
                <a:cs typeface="Times New Roman"/>
              </a:rPr>
              <a:t> </a:t>
            </a:r>
            <a:r>
              <a:rPr lang="en-US" sz="2200" dirty="0">
                <a:latin typeface="Calibri (Body)"/>
                <a:cs typeface="Times New Roman"/>
              </a:rPr>
              <a:t>the</a:t>
            </a:r>
            <a:r>
              <a:rPr lang="en-US" sz="2200" spc="245" dirty="0">
                <a:latin typeface="Calibri (Body)"/>
                <a:cs typeface="Times New Roman"/>
              </a:rPr>
              <a:t> </a:t>
            </a:r>
            <a:r>
              <a:rPr lang="en-US" sz="2200" dirty="0">
                <a:latin typeface="Calibri (Body)"/>
                <a:cs typeface="Times New Roman"/>
              </a:rPr>
              <a:t>natural</a:t>
            </a:r>
            <a:r>
              <a:rPr lang="en-US" sz="2200" spc="-10" dirty="0">
                <a:latin typeface="Calibri (Body)"/>
                <a:cs typeface="Times New Roman"/>
              </a:rPr>
              <a:t> </a:t>
            </a:r>
            <a:r>
              <a:rPr lang="en-US" sz="2200" dirty="0">
                <a:latin typeface="Calibri (Body)"/>
                <a:cs typeface="Times New Roman"/>
              </a:rPr>
              <a:t>links</a:t>
            </a:r>
            <a:r>
              <a:rPr lang="en-US" sz="2200" spc="25" dirty="0">
                <a:latin typeface="Calibri (Body)"/>
                <a:cs typeface="Times New Roman"/>
              </a:rPr>
              <a:t> </a:t>
            </a:r>
            <a:r>
              <a:rPr lang="en-US" sz="2200" dirty="0">
                <a:latin typeface="Calibri (Body)"/>
                <a:cs typeface="Times New Roman"/>
              </a:rPr>
              <a:t>between</a:t>
            </a:r>
            <a:r>
              <a:rPr lang="en-US" sz="2200" spc="30" dirty="0">
                <a:latin typeface="Calibri (Body)"/>
                <a:cs typeface="Times New Roman"/>
              </a:rPr>
              <a:t> </a:t>
            </a:r>
            <a:r>
              <a:rPr lang="en-US" sz="2200" spc="-10" dirty="0">
                <a:latin typeface="Calibri (Body)"/>
                <a:cs typeface="Times New Roman"/>
              </a:rPr>
              <a:t>different </a:t>
            </a:r>
            <a:r>
              <a:rPr lang="en-US" sz="2200" dirty="0">
                <a:latin typeface="Calibri (Body)"/>
                <a:cs typeface="Times New Roman"/>
              </a:rPr>
              <a:t>aspects</a:t>
            </a:r>
            <a:r>
              <a:rPr lang="en-US" sz="2200" spc="-15" dirty="0">
                <a:latin typeface="Calibri (Body)"/>
                <a:cs typeface="Times New Roman"/>
              </a:rPr>
              <a:t> </a:t>
            </a:r>
            <a:r>
              <a:rPr lang="en-US" sz="2200" dirty="0">
                <a:latin typeface="Calibri (Body)"/>
                <a:cs typeface="Times New Roman"/>
              </a:rPr>
              <a:t>of</a:t>
            </a:r>
            <a:r>
              <a:rPr lang="en-US" sz="2200" spc="-25" dirty="0">
                <a:latin typeface="Calibri (Body)"/>
                <a:cs typeface="Times New Roman"/>
              </a:rPr>
              <a:t> </a:t>
            </a:r>
            <a:r>
              <a:rPr lang="en-US" sz="2200" dirty="0">
                <a:latin typeface="Calibri (Body)"/>
                <a:cs typeface="Times New Roman"/>
              </a:rPr>
              <a:t>a</a:t>
            </a:r>
            <a:r>
              <a:rPr lang="en-US" sz="2200" spc="20" dirty="0">
                <a:latin typeface="Calibri (Body)"/>
                <a:cs typeface="Times New Roman"/>
              </a:rPr>
              <a:t> </a:t>
            </a:r>
            <a:r>
              <a:rPr lang="en-US" sz="2200" dirty="0">
                <a:latin typeface="Calibri (Body)"/>
                <a:cs typeface="Times New Roman"/>
              </a:rPr>
              <a:t>complex</a:t>
            </a:r>
            <a:r>
              <a:rPr lang="en-US" sz="2200" spc="-15" dirty="0">
                <a:latin typeface="Calibri (Body)"/>
                <a:cs typeface="Times New Roman"/>
              </a:rPr>
              <a:t> </a:t>
            </a:r>
            <a:r>
              <a:rPr lang="en-US" sz="2200" spc="-10" dirty="0">
                <a:latin typeface="Calibri (Body)"/>
                <a:cs typeface="Times New Roman"/>
              </a:rPr>
              <a:t>situation.</a:t>
            </a:r>
            <a:endParaRPr lang="en-US" sz="2200" dirty="0">
              <a:latin typeface="Calibri (Body)"/>
              <a:cs typeface="Times New Roman"/>
            </a:endParaRPr>
          </a:p>
        </p:txBody>
      </p:sp>
      <p:pic>
        <p:nvPicPr>
          <p:cNvPr id="13" name="Picture 12"/>
          <p:cNvPicPr>
            <a:picLocks noChangeAspect="1"/>
          </p:cNvPicPr>
          <p:nvPr/>
        </p:nvPicPr>
        <p:blipFill>
          <a:blip r:embed="rId4"/>
          <a:stretch>
            <a:fillRect/>
          </a:stretch>
        </p:blipFill>
        <p:spPr>
          <a:xfrm>
            <a:off x="2895600" y="4929999"/>
            <a:ext cx="3276600" cy="1426351"/>
          </a:xfrm>
          <a:prstGeom prst="rect">
            <a:avLst/>
          </a:prstGeom>
        </p:spPr>
      </p:pic>
    </p:spTree>
    <p:extLst>
      <p:ext uri="{BB962C8B-B14F-4D97-AF65-F5344CB8AC3E}">
        <p14:creationId xmlns:p14="http://schemas.microsoft.com/office/powerpoint/2010/main" val="1857982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520836-0AE2-4BB5-8408-9D9E73273170}" type="datetime1">
              <a:rPr lang="en-US" smtClean="0"/>
              <a:t>5/10/2026</a:t>
            </a:fld>
            <a:endParaRPr lang="en-US"/>
          </a:p>
        </p:txBody>
      </p:sp>
      <p:sp>
        <p:nvSpPr>
          <p:cNvPr id="5" name="Footer Placeholder 4"/>
          <p:cNvSpPr>
            <a:spLocks noGrp="1"/>
          </p:cNvSpPr>
          <p:nvPr>
            <p:ph type="ftr" sz="quarter" idx="11"/>
          </p:nvPr>
        </p:nvSpPr>
        <p:spPr>
          <a:xfrm>
            <a:off x="2209800" y="5992957"/>
            <a:ext cx="5181600" cy="365125"/>
          </a:xfrm>
        </p:spPr>
        <p:txBody>
          <a:bodyPr/>
          <a:lstStyle/>
          <a:p>
            <a:r>
              <a:rPr lang="en-US" sz="2000"/>
              <a:t>Mr. Minhaj Nezami     AOE0861    TQM      Unit 3</a:t>
            </a:r>
            <a:endParaRPr lang="en-US" sz="2000" dirty="0"/>
          </a:p>
        </p:txBody>
      </p:sp>
      <p:sp>
        <p:nvSpPr>
          <p:cNvPr id="2" name="Rectangle 1"/>
          <p:cNvSpPr/>
          <p:nvPr/>
        </p:nvSpPr>
        <p:spPr>
          <a:xfrm>
            <a:off x="0" y="40595"/>
            <a:ext cx="8179955" cy="903902"/>
          </a:xfrm>
          <a:prstGeom prst="rect">
            <a:avLst/>
          </a:prstGeom>
        </p:spPr>
        <p:txBody>
          <a:bodyPr wrap="square">
            <a:spAutoFit/>
          </a:bodyPr>
          <a:lstStyle/>
          <a:p>
            <a:pPr marL="12700" marR="5080">
              <a:lnSpc>
                <a:spcPct val="110900"/>
              </a:lnSpc>
              <a:spcBef>
                <a:spcPts val="100"/>
              </a:spcBef>
            </a:pPr>
            <a:r>
              <a:rPr lang="en-US" sz="2200" dirty="0">
                <a:latin typeface="Calibri (Body)"/>
                <a:cs typeface="Times New Roman"/>
              </a:rPr>
              <a:t>3.</a:t>
            </a:r>
            <a:r>
              <a:rPr lang="en-US" sz="2200" spc="10" dirty="0">
                <a:latin typeface="Calibri (Body)"/>
                <a:cs typeface="Times New Roman"/>
              </a:rPr>
              <a:t> </a:t>
            </a:r>
            <a:r>
              <a:rPr lang="en-US" sz="2200" dirty="0">
                <a:solidFill>
                  <a:srgbClr val="FF0000"/>
                </a:solidFill>
                <a:latin typeface="Calibri (Body)"/>
                <a:cs typeface="Times New Roman"/>
              </a:rPr>
              <a:t>Tree</a:t>
            </a:r>
            <a:r>
              <a:rPr lang="en-US" sz="2200" spc="10" dirty="0">
                <a:solidFill>
                  <a:srgbClr val="FF0000"/>
                </a:solidFill>
                <a:latin typeface="Calibri (Body)"/>
                <a:cs typeface="Times New Roman"/>
              </a:rPr>
              <a:t> </a:t>
            </a:r>
            <a:r>
              <a:rPr lang="en-US" sz="2200" dirty="0" err="1">
                <a:solidFill>
                  <a:srgbClr val="FF0000"/>
                </a:solidFill>
                <a:latin typeface="Calibri (Body)"/>
                <a:cs typeface="Times New Roman"/>
              </a:rPr>
              <a:t>diagram</a:t>
            </a:r>
            <a:r>
              <a:rPr lang="en-US" sz="2200" dirty="0" err="1">
                <a:latin typeface="Calibri (Body)"/>
                <a:cs typeface="Times New Roman"/>
              </a:rPr>
              <a:t>:</a:t>
            </a:r>
            <a:r>
              <a:rPr lang="en-US" sz="2400" dirty="0" err="1"/>
              <a:t>Breaks</a:t>
            </a:r>
            <a:r>
              <a:rPr lang="en-US" sz="2400" dirty="0"/>
              <a:t> objectives </a:t>
            </a:r>
          </a:p>
          <a:p>
            <a:pPr marL="12700" marR="5080">
              <a:lnSpc>
                <a:spcPct val="110900"/>
              </a:lnSpc>
              <a:spcBef>
                <a:spcPts val="100"/>
              </a:spcBef>
            </a:pPr>
            <a:r>
              <a:rPr lang="en-US" sz="2400" dirty="0"/>
              <a:t>into smaller tasks.</a:t>
            </a:r>
            <a:r>
              <a:rPr lang="en-US" sz="2200" spc="-10" dirty="0">
                <a:latin typeface="Calibri (Body)"/>
                <a:cs typeface="Times New Roman"/>
              </a:rPr>
              <a:t>.</a:t>
            </a:r>
            <a:endParaRPr lang="en-US" sz="2200" dirty="0">
              <a:latin typeface="Calibri (Body)"/>
              <a:cs typeface="Times New Roman"/>
            </a:endParaRPr>
          </a:p>
        </p:txBody>
      </p:sp>
      <p:pic>
        <p:nvPicPr>
          <p:cNvPr id="3" name="Picture 2"/>
          <p:cNvPicPr>
            <a:picLocks noChangeAspect="1"/>
          </p:cNvPicPr>
          <p:nvPr/>
        </p:nvPicPr>
        <p:blipFill>
          <a:blip r:embed="rId2"/>
          <a:stretch>
            <a:fillRect/>
          </a:stretch>
        </p:blipFill>
        <p:spPr>
          <a:xfrm>
            <a:off x="4322989" y="91598"/>
            <a:ext cx="3624943" cy="1060796"/>
          </a:xfrm>
          <a:prstGeom prst="rect">
            <a:avLst/>
          </a:prstGeom>
        </p:spPr>
      </p:pic>
      <p:sp>
        <p:nvSpPr>
          <p:cNvPr id="9" name="TextBox 8">
            <a:extLst>
              <a:ext uri="{FF2B5EF4-FFF2-40B4-BE49-F238E27FC236}">
                <a16:creationId xmlns:a16="http://schemas.microsoft.com/office/drawing/2014/main" id="{C108F2C5-A298-E366-DACC-9BA5DD7F4267}"/>
              </a:ext>
            </a:extLst>
          </p:cNvPr>
          <p:cNvSpPr txBox="1"/>
          <p:nvPr/>
        </p:nvSpPr>
        <p:spPr>
          <a:xfrm>
            <a:off x="10885" y="1086981"/>
            <a:ext cx="6085115" cy="2308324"/>
          </a:xfrm>
          <a:prstGeom prst="rect">
            <a:avLst/>
          </a:prstGeom>
          <a:noFill/>
        </p:spPr>
        <p:txBody>
          <a:bodyPr wrap="square">
            <a:spAutoFit/>
          </a:bodyPr>
          <a:lstStyle/>
          <a:p>
            <a:r>
              <a:rPr lang="en-US" sz="1800" dirty="0">
                <a:solidFill>
                  <a:srgbClr val="FF0000"/>
                </a:solidFill>
                <a:latin typeface="Calibri (Body)"/>
                <a:cs typeface="Times New Roman"/>
              </a:rPr>
              <a:t>4.</a:t>
            </a:r>
            <a:r>
              <a:rPr lang="en-US" sz="1800" spc="70" dirty="0">
                <a:solidFill>
                  <a:srgbClr val="FF0000"/>
                </a:solidFill>
                <a:latin typeface="Calibri (Body)"/>
                <a:cs typeface="Times New Roman"/>
              </a:rPr>
              <a:t> </a:t>
            </a:r>
            <a:r>
              <a:rPr lang="en-US" sz="1800" dirty="0">
                <a:solidFill>
                  <a:srgbClr val="FF0000"/>
                </a:solidFill>
                <a:latin typeface="Calibri (Body)"/>
                <a:cs typeface="Times New Roman"/>
              </a:rPr>
              <a:t>Matrix</a:t>
            </a:r>
            <a:r>
              <a:rPr lang="en-US" sz="1800" spc="85" dirty="0">
                <a:solidFill>
                  <a:srgbClr val="FF0000"/>
                </a:solidFill>
                <a:latin typeface="Calibri (Body)"/>
                <a:cs typeface="Times New Roman"/>
              </a:rPr>
              <a:t> </a:t>
            </a:r>
            <a:r>
              <a:rPr lang="en-US" sz="1800" dirty="0">
                <a:solidFill>
                  <a:srgbClr val="FF0000"/>
                </a:solidFill>
                <a:latin typeface="Calibri (Body)"/>
                <a:cs typeface="Times New Roman"/>
              </a:rPr>
              <a:t>diagram</a:t>
            </a:r>
            <a:r>
              <a:rPr lang="en-US" sz="1800" dirty="0">
                <a:latin typeface="Calibri (Body)"/>
                <a:cs typeface="Times New Roman"/>
              </a:rPr>
              <a:t>:</a:t>
            </a:r>
            <a:r>
              <a:rPr lang="en-US" sz="1800" spc="65" dirty="0">
                <a:latin typeface="Calibri (Body)"/>
                <a:cs typeface="Times New Roman"/>
              </a:rPr>
              <a:t> </a:t>
            </a:r>
            <a:r>
              <a:rPr lang="en-US" sz="1800" dirty="0">
                <a:latin typeface="Calibri (Body)"/>
                <a:cs typeface="Times New Roman"/>
              </a:rPr>
              <a:t>shows</a:t>
            </a:r>
            <a:r>
              <a:rPr lang="en-US" sz="1800" spc="85" dirty="0">
                <a:latin typeface="Calibri (Body)"/>
                <a:cs typeface="Times New Roman"/>
              </a:rPr>
              <a:t> </a:t>
            </a:r>
            <a:r>
              <a:rPr lang="en-US" sz="1800" dirty="0">
                <a:latin typeface="Calibri (Body)"/>
                <a:cs typeface="Times New Roman"/>
              </a:rPr>
              <a:t>the</a:t>
            </a:r>
            <a:r>
              <a:rPr lang="en-US" sz="1800" spc="50" dirty="0">
                <a:latin typeface="Calibri (Body)"/>
                <a:cs typeface="Times New Roman"/>
              </a:rPr>
              <a:t> </a:t>
            </a:r>
            <a:r>
              <a:rPr lang="en-US" sz="1800" dirty="0">
                <a:latin typeface="Calibri (Body)"/>
                <a:cs typeface="Times New Roman"/>
              </a:rPr>
              <a:t>relationship</a:t>
            </a:r>
            <a:r>
              <a:rPr lang="en-US" sz="1800" spc="80" dirty="0">
                <a:latin typeface="Calibri (Body)"/>
                <a:cs typeface="Times New Roman"/>
              </a:rPr>
              <a:t> </a:t>
            </a:r>
            <a:r>
              <a:rPr lang="en-US" sz="1800" dirty="0">
                <a:latin typeface="Calibri (Body)"/>
                <a:cs typeface="Times New Roman"/>
              </a:rPr>
              <a:t>between</a:t>
            </a:r>
            <a:r>
              <a:rPr lang="en-US" sz="1800" spc="60" dirty="0">
                <a:latin typeface="Calibri (Body)"/>
                <a:cs typeface="Times New Roman"/>
              </a:rPr>
              <a:t> </a:t>
            </a:r>
            <a:r>
              <a:rPr lang="en-US" sz="1800" dirty="0">
                <a:latin typeface="Calibri (Body)"/>
                <a:cs typeface="Times New Roman"/>
              </a:rPr>
              <a:t>two,</a:t>
            </a:r>
            <a:r>
              <a:rPr lang="en-US" sz="1800" spc="70" dirty="0">
                <a:latin typeface="Calibri (Body)"/>
                <a:cs typeface="Times New Roman"/>
              </a:rPr>
              <a:t> </a:t>
            </a:r>
            <a:r>
              <a:rPr lang="en-US" sz="1800" dirty="0">
                <a:latin typeface="Calibri (Body)"/>
                <a:cs typeface="Times New Roman"/>
              </a:rPr>
              <a:t>three</a:t>
            </a:r>
            <a:r>
              <a:rPr lang="en-US" sz="1800" spc="75" dirty="0">
                <a:latin typeface="Calibri (Body)"/>
                <a:cs typeface="Times New Roman"/>
              </a:rPr>
              <a:t> </a:t>
            </a:r>
            <a:r>
              <a:rPr lang="en-US" sz="1800" dirty="0">
                <a:latin typeface="Calibri (Body)"/>
                <a:cs typeface="Times New Roman"/>
              </a:rPr>
              <a:t>or</a:t>
            </a:r>
          </a:p>
          <a:p>
            <a:r>
              <a:rPr lang="en-US" sz="1800" spc="95" dirty="0">
                <a:latin typeface="Calibri (Body)"/>
                <a:cs typeface="Times New Roman"/>
              </a:rPr>
              <a:t> </a:t>
            </a:r>
            <a:r>
              <a:rPr lang="en-US" sz="1800" dirty="0">
                <a:latin typeface="Calibri (Body)"/>
                <a:cs typeface="Times New Roman"/>
              </a:rPr>
              <a:t>four</a:t>
            </a:r>
            <a:r>
              <a:rPr lang="en-US" sz="1800" spc="80" dirty="0">
                <a:latin typeface="Calibri (Body)"/>
                <a:cs typeface="Times New Roman"/>
              </a:rPr>
              <a:t> </a:t>
            </a:r>
            <a:r>
              <a:rPr lang="en-US" sz="1800" dirty="0">
                <a:latin typeface="Calibri (Body)"/>
                <a:cs typeface="Times New Roman"/>
              </a:rPr>
              <a:t>groups</a:t>
            </a:r>
            <a:r>
              <a:rPr lang="en-US" sz="1800" spc="85" dirty="0">
                <a:latin typeface="Calibri (Body)"/>
                <a:cs typeface="Times New Roman"/>
              </a:rPr>
              <a:t> </a:t>
            </a:r>
            <a:r>
              <a:rPr lang="en-US" sz="1800" dirty="0">
                <a:latin typeface="Calibri (Body)"/>
                <a:cs typeface="Times New Roman"/>
              </a:rPr>
              <a:t>of</a:t>
            </a:r>
            <a:r>
              <a:rPr lang="en-US" sz="1800" spc="80" dirty="0">
                <a:latin typeface="Calibri (Body)"/>
                <a:cs typeface="Times New Roman"/>
              </a:rPr>
              <a:t> </a:t>
            </a:r>
            <a:r>
              <a:rPr lang="en-US" sz="1800" dirty="0">
                <a:latin typeface="Calibri (Body)"/>
                <a:cs typeface="Times New Roman"/>
              </a:rPr>
              <a:t>information</a:t>
            </a:r>
            <a:r>
              <a:rPr lang="en-US" sz="1800" spc="60" dirty="0">
                <a:latin typeface="Calibri (Body)"/>
                <a:cs typeface="Times New Roman"/>
              </a:rPr>
              <a:t> </a:t>
            </a:r>
            <a:r>
              <a:rPr lang="en-US" sz="1800" dirty="0">
                <a:latin typeface="Calibri (Body)"/>
                <a:cs typeface="Times New Roman"/>
              </a:rPr>
              <a:t>and</a:t>
            </a:r>
            <a:r>
              <a:rPr lang="en-US" sz="1800" spc="55" dirty="0">
                <a:latin typeface="Calibri (Body)"/>
                <a:cs typeface="Times New Roman"/>
              </a:rPr>
              <a:t> </a:t>
            </a:r>
            <a:r>
              <a:rPr lang="en-US" sz="1800" spc="-25" dirty="0">
                <a:latin typeface="Calibri (Body)"/>
                <a:cs typeface="Times New Roman"/>
              </a:rPr>
              <a:t>can </a:t>
            </a:r>
            <a:r>
              <a:rPr lang="en-US" sz="1800" dirty="0">
                <a:latin typeface="Calibri (Body)"/>
                <a:cs typeface="Times New Roman"/>
              </a:rPr>
              <a:t>give</a:t>
            </a:r>
            <a:r>
              <a:rPr lang="en-US" sz="1800" spc="-35" dirty="0">
                <a:latin typeface="Calibri (Body)"/>
                <a:cs typeface="Times New Roman"/>
              </a:rPr>
              <a:t> </a:t>
            </a:r>
            <a:r>
              <a:rPr lang="en-US" sz="1800" dirty="0">
                <a:latin typeface="Calibri (Body)"/>
                <a:cs typeface="Times New Roman"/>
              </a:rPr>
              <a:t>information</a:t>
            </a:r>
            <a:r>
              <a:rPr lang="en-US" sz="1800" spc="-25" dirty="0">
                <a:latin typeface="Calibri (Body)"/>
                <a:cs typeface="Times New Roman"/>
              </a:rPr>
              <a:t> </a:t>
            </a:r>
            <a:r>
              <a:rPr lang="en-US" sz="1800" dirty="0">
                <a:latin typeface="Calibri (Body)"/>
                <a:cs typeface="Times New Roman"/>
              </a:rPr>
              <a:t>about</a:t>
            </a:r>
            <a:r>
              <a:rPr lang="en-US" sz="1800" spc="10" dirty="0">
                <a:latin typeface="Calibri (Body)"/>
                <a:cs typeface="Times New Roman"/>
              </a:rPr>
              <a:t> </a:t>
            </a:r>
            <a:r>
              <a:rPr lang="en-US" sz="1800" dirty="0">
                <a:latin typeface="Calibri (Body)"/>
                <a:cs typeface="Times New Roman"/>
              </a:rPr>
              <a:t>the</a:t>
            </a:r>
          </a:p>
          <a:p>
            <a:r>
              <a:rPr lang="en-US" sz="1800" spc="-35" dirty="0">
                <a:latin typeface="Calibri (Body)"/>
                <a:cs typeface="Times New Roman"/>
              </a:rPr>
              <a:t> </a:t>
            </a:r>
            <a:r>
              <a:rPr lang="en-US" sz="1800" dirty="0">
                <a:latin typeface="Calibri (Body)"/>
                <a:cs typeface="Times New Roman"/>
              </a:rPr>
              <a:t>relationship,</a:t>
            </a:r>
            <a:r>
              <a:rPr lang="en-US" sz="1800" spc="10" dirty="0">
                <a:latin typeface="Calibri (Body)"/>
                <a:cs typeface="Times New Roman"/>
              </a:rPr>
              <a:t> </a:t>
            </a:r>
            <a:r>
              <a:rPr lang="en-US" sz="1800" dirty="0">
                <a:latin typeface="Calibri (Body)"/>
                <a:cs typeface="Times New Roman"/>
              </a:rPr>
              <a:t>such</a:t>
            </a:r>
            <a:r>
              <a:rPr lang="en-US" sz="1800" spc="-20" dirty="0">
                <a:latin typeface="Calibri (Body)"/>
                <a:cs typeface="Times New Roman"/>
              </a:rPr>
              <a:t> </a:t>
            </a:r>
            <a:r>
              <a:rPr lang="en-US" sz="1800" dirty="0">
                <a:latin typeface="Calibri (Body)"/>
                <a:cs typeface="Times New Roman"/>
              </a:rPr>
              <a:t>as its strength,</a:t>
            </a:r>
            <a:r>
              <a:rPr lang="en-US" sz="1800" spc="15" dirty="0">
                <a:latin typeface="Calibri (Body)"/>
                <a:cs typeface="Times New Roman"/>
              </a:rPr>
              <a:t> </a:t>
            </a:r>
            <a:r>
              <a:rPr lang="en-US" sz="1800" dirty="0">
                <a:latin typeface="Calibri (Body)"/>
                <a:cs typeface="Times New Roman"/>
              </a:rPr>
              <a:t>the</a:t>
            </a:r>
            <a:r>
              <a:rPr lang="en-US" sz="1800" spc="-35" dirty="0">
                <a:latin typeface="Calibri (Body)"/>
                <a:cs typeface="Times New Roman"/>
              </a:rPr>
              <a:t> </a:t>
            </a:r>
            <a:r>
              <a:rPr lang="en-US" sz="1800" dirty="0">
                <a:latin typeface="Calibri (Body)"/>
                <a:cs typeface="Times New Roman"/>
              </a:rPr>
              <a:t>roles played</a:t>
            </a:r>
            <a:r>
              <a:rPr lang="en-US" sz="1800" spc="-20" dirty="0">
                <a:latin typeface="Calibri (Body)"/>
                <a:cs typeface="Times New Roman"/>
              </a:rPr>
              <a:t> </a:t>
            </a:r>
            <a:r>
              <a:rPr lang="en-US" sz="1800" dirty="0">
                <a:latin typeface="Calibri (Body)"/>
                <a:cs typeface="Times New Roman"/>
              </a:rPr>
              <a:t>by various individuals,</a:t>
            </a:r>
            <a:r>
              <a:rPr lang="en-US" sz="1800" spc="20" dirty="0">
                <a:latin typeface="Calibri (Body)"/>
                <a:cs typeface="Times New Roman"/>
              </a:rPr>
              <a:t> </a:t>
            </a:r>
          </a:p>
          <a:p>
            <a:r>
              <a:rPr lang="en-US" sz="1800" spc="-25" dirty="0">
                <a:latin typeface="Calibri (Body)"/>
                <a:cs typeface="Times New Roman"/>
              </a:rPr>
              <a:t>or </a:t>
            </a:r>
            <a:r>
              <a:rPr lang="en-US" sz="1800" spc="-10" dirty="0">
                <a:latin typeface="Calibri (Body)"/>
                <a:cs typeface="Times New Roman"/>
              </a:rPr>
              <a:t>measurements</a:t>
            </a:r>
          </a:p>
          <a:p>
            <a:endParaRPr lang="en-US" sz="1800" spc="-10" dirty="0">
              <a:latin typeface="Calibri (Body)"/>
              <a:cs typeface="Times New Roman"/>
            </a:endParaRPr>
          </a:p>
          <a:p>
            <a:endParaRPr lang="en-IN" dirty="0"/>
          </a:p>
        </p:txBody>
      </p:sp>
      <p:pic>
        <p:nvPicPr>
          <p:cNvPr id="10" name="Picture 9">
            <a:extLst>
              <a:ext uri="{FF2B5EF4-FFF2-40B4-BE49-F238E27FC236}">
                <a16:creationId xmlns:a16="http://schemas.microsoft.com/office/drawing/2014/main" id="{4EF2A124-0370-9B7D-F0CB-11C71E379107}"/>
              </a:ext>
            </a:extLst>
          </p:cNvPr>
          <p:cNvPicPr>
            <a:picLocks noChangeAspect="1"/>
          </p:cNvPicPr>
          <p:nvPr/>
        </p:nvPicPr>
        <p:blipFill>
          <a:blip r:embed="rId3"/>
          <a:stretch>
            <a:fillRect/>
          </a:stretch>
        </p:blipFill>
        <p:spPr>
          <a:xfrm>
            <a:off x="6259966" y="1256644"/>
            <a:ext cx="2154714" cy="1364287"/>
          </a:xfrm>
          <a:prstGeom prst="rect">
            <a:avLst/>
          </a:prstGeom>
        </p:spPr>
      </p:pic>
      <p:sp>
        <p:nvSpPr>
          <p:cNvPr id="14" name="TextBox 13">
            <a:extLst>
              <a:ext uri="{FF2B5EF4-FFF2-40B4-BE49-F238E27FC236}">
                <a16:creationId xmlns:a16="http://schemas.microsoft.com/office/drawing/2014/main" id="{2C416581-9D19-AFEE-2E3D-922BC73F1B60}"/>
              </a:ext>
            </a:extLst>
          </p:cNvPr>
          <p:cNvSpPr txBox="1"/>
          <p:nvPr/>
        </p:nvSpPr>
        <p:spPr>
          <a:xfrm>
            <a:off x="10885" y="2881804"/>
            <a:ext cx="4604656" cy="1285545"/>
          </a:xfrm>
          <a:prstGeom prst="rect">
            <a:avLst/>
          </a:prstGeom>
          <a:noFill/>
        </p:spPr>
        <p:txBody>
          <a:bodyPr wrap="square">
            <a:spAutoFit/>
          </a:bodyPr>
          <a:lstStyle/>
          <a:p>
            <a:pPr marL="12700" marR="5080">
              <a:lnSpc>
                <a:spcPct val="109100"/>
              </a:lnSpc>
              <a:spcBef>
                <a:spcPts val="100"/>
              </a:spcBef>
            </a:pPr>
            <a:r>
              <a:rPr lang="en-US" sz="1800" dirty="0">
                <a:solidFill>
                  <a:srgbClr val="FF0000"/>
                </a:solidFill>
                <a:latin typeface="Calibri (Body)"/>
                <a:cs typeface="Times New Roman"/>
              </a:rPr>
              <a:t>6.</a:t>
            </a:r>
            <a:r>
              <a:rPr lang="en-US" sz="1800" spc="30" dirty="0">
                <a:solidFill>
                  <a:srgbClr val="FF0000"/>
                </a:solidFill>
                <a:latin typeface="Calibri (Body)"/>
                <a:cs typeface="Times New Roman"/>
              </a:rPr>
              <a:t> </a:t>
            </a:r>
            <a:r>
              <a:rPr lang="en-US" sz="1800" dirty="0">
                <a:solidFill>
                  <a:srgbClr val="FF0000"/>
                </a:solidFill>
                <a:latin typeface="Calibri (Body)"/>
                <a:cs typeface="Times New Roman"/>
              </a:rPr>
              <a:t>Arrow</a:t>
            </a:r>
            <a:r>
              <a:rPr lang="en-US" sz="1800" spc="20" dirty="0">
                <a:solidFill>
                  <a:srgbClr val="FF0000"/>
                </a:solidFill>
                <a:latin typeface="Calibri (Body)"/>
                <a:cs typeface="Times New Roman"/>
              </a:rPr>
              <a:t> </a:t>
            </a:r>
            <a:r>
              <a:rPr lang="en-US" sz="1800" dirty="0">
                <a:solidFill>
                  <a:srgbClr val="FF0000"/>
                </a:solidFill>
                <a:latin typeface="Calibri (Body)"/>
                <a:cs typeface="Times New Roman"/>
              </a:rPr>
              <a:t>diagram</a:t>
            </a:r>
            <a:r>
              <a:rPr lang="en-US" sz="1800" dirty="0">
                <a:latin typeface="Calibri (Body)"/>
                <a:cs typeface="Times New Roman"/>
              </a:rPr>
              <a:t>:</a:t>
            </a:r>
            <a:r>
              <a:rPr lang="en-US" sz="1800" spc="30" dirty="0">
                <a:latin typeface="Calibri (Body)"/>
                <a:cs typeface="Times New Roman"/>
              </a:rPr>
              <a:t> </a:t>
            </a:r>
            <a:r>
              <a:rPr lang="en-US" sz="1800" dirty="0">
                <a:latin typeface="Calibri (Body)"/>
                <a:cs typeface="Times New Roman"/>
              </a:rPr>
              <a:t>shows</a:t>
            </a:r>
            <a:r>
              <a:rPr lang="en-US" sz="1800" spc="50" dirty="0">
                <a:latin typeface="Calibri (Body)"/>
                <a:cs typeface="Times New Roman"/>
              </a:rPr>
              <a:t> </a:t>
            </a:r>
            <a:r>
              <a:rPr lang="en-US" sz="1800" dirty="0">
                <a:latin typeface="Calibri (Body)"/>
                <a:cs typeface="Times New Roman"/>
              </a:rPr>
              <a:t>the</a:t>
            </a:r>
            <a:r>
              <a:rPr lang="en-US" sz="1800" spc="15" dirty="0">
                <a:latin typeface="Calibri (Body)"/>
                <a:cs typeface="Times New Roman"/>
              </a:rPr>
              <a:t> </a:t>
            </a:r>
            <a:r>
              <a:rPr lang="en-US" sz="1800" dirty="0">
                <a:latin typeface="Calibri (Body)"/>
                <a:cs typeface="Times New Roman"/>
              </a:rPr>
              <a:t>required</a:t>
            </a:r>
            <a:r>
              <a:rPr lang="en-US" sz="1800" spc="40" dirty="0">
                <a:latin typeface="Calibri (Body)"/>
                <a:cs typeface="Times New Roman"/>
              </a:rPr>
              <a:t> </a:t>
            </a:r>
            <a:r>
              <a:rPr lang="en-US" sz="1800" dirty="0">
                <a:latin typeface="Calibri (Body)"/>
                <a:cs typeface="Times New Roman"/>
              </a:rPr>
              <a:t>order</a:t>
            </a:r>
            <a:r>
              <a:rPr lang="en-US" sz="1800" spc="65" dirty="0">
                <a:latin typeface="Calibri (Body)"/>
                <a:cs typeface="Times New Roman"/>
              </a:rPr>
              <a:t> </a:t>
            </a:r>
            <a:r>
              <a:rPr lang="en-US" sz="1800" dirty="0">
                <a:latin typeface="Calibri (Body)"/>
                <a:cs typeface="Times New Roman"/>
              </a:rPr>
              <a:t>of</a:t>
            </a:r>
            <a:r>
              <a:rPr lang="en-US" sz="1800" spc="40" dirty="0">
                <a:latin typeface="Calibri (Body)"/>
                <a:cs typeface="Times New Roman"/>
              </a:rPr>
              <a:t> </a:t>
            </a:r>
            <a:r>
              <a:rPr lang="en-US" sz="1800" dirty="0">
                <a:latin typeface="Calibri (Body)"/>
                <a:cs typeface="Times New Roman"/>
              </a:rPr>
              <a:t>tasks</a:t>
            </a:r>
            <a:r>
              <a:rPr lang="en-US" sz="1800" spc="45" dirty="0">
                <a:latin typeface="Calibri (Body)"/>
                <a:cs typeface="Times New Roman"/>
              </a:rPr>
              <a:t> </a:t>
            </a:r>
            <a:r>
              <a:rPr lang="en-US" sz="1800" dirty="0">
                <a:latin typeface="Calibri (Body)"/>
                <a:cs typeface="Times New Roman"/>
              </a:rPr>
              <a:t>in</a:t>
            </a:r>
            <a:r>
              <a:rPr lang="en-US" sz="1800" spc="25" dirty="0">
                <a:latin typeface="Calibri (Body)"/>
                <a:cs typeface="Times New Roman"/>
              </a:rPr>
              <a:t> </a:t>
            </a:r>
            <a:r>
              <a:rPr lang="en-US" sz="1800" dirty="0">
                <a:latin typeface="Calibri (Body)"/>
                <a:cs typeface="Times New Roman"/>
              </a:rPr>
              <a:t>a</a:t>
            </a:r>
            <a:r>
              <a:rPr lang="en-US" sz="1800" spc="60" dirty="0">
                <a:latin typeface="Calibri (Body)"/>
                <a:cs typeface="Times New Roman"/>
              </a:rPr>
              <a:t> </a:t>
            </a:r>
            <a:r>
              <a:rPr lang="en-US" sz="1800" dirty="0">
                <a:latin typeface="Calibri (Body)"/>
                <a:cs typeface="Times New Roman"/>
              </a:rPr>
              <a:t>project</a:t>
            </a:r>
            <a:r>
              <a:rPr lang="en-US" sz="1800" spc="70" dirty="0">
                <a:latin typeface="Calibri (Body)"/>
                <a:cs typeface="Times New Roman"/>
              </a:rPr>
              <a:t> </a:t>
            </a:r>
            <a:r>
              <a:rPr lang="en-US" sz="1800" dirty="0">
                <a:latin typeface="Calibri (Body)"/>
                <a:cs typeface="Times New Roman"/>
              </a:rPr>
              <a:t>or</a:t>
            </a:r>
            <a:r>
              <a:rPr lang="en-US" sz="1800" spc="65" dirty="0">
                <a:latin typeface="Calibri (Body)"/>
                <a:cs typeface="Times New Roman"/>
              </a:rPr>
              <a:t> </a:t>
            </a:r>
            <a:r>
              <a:rPr lang="en-US" sz="1800" dirty="0">
                <a:latin typeface="Calibri (Body)"/>
                <a:cs typeface="Times New Roman"/>
              </a:rPr>
              <a:t>process,</a:t>
            </a:r>
            <a:r>
              <a:rPr lang="en-US" sz="1800" spc="55" dirty="0">
                <a:latin typeface="Calibri (Body)"/>
                <a:cs typeface="Times New Roman"/>
              </a:rPr>
              <a:t> </a:t>
            </a:r>
            <a:r>
              <a:rPr lang="en-US" sz="1800" dirty="0">
                <a:latin typeface="Calibri (Body)"/>
                <a:cs typeface="Times New Roman"/>
              </a:rPr>
              <a:t>the</a:t>
            </a:r>
            <a:r>
              <a:rPr lang="en-US" sz="1800" spc="15" dirty="0">
                <a:latin typeface="Calibri (Body)"/>
                <a:cs typeface="Times New Roman"/>
              </a:rPr>
              <a:t> </a:t>
            </a:r>
            <a:r>
              <a:rPr lang="en-US" sz="1800" dirty="0">
                <a:latin typeface="Calibri (Body)"/>
                <a:cs typeface="Times New Roman"/>
              </a:rPr>
              <a:t>best</a:t>
            </a:r>
            <a:r>
              <a:rPr lang="en-US" sz="1800" spc="55" dirty="0">
                <a:latin typeface="Calibri (Body)"/>
                <a:cs typeface="Times New Roman"/>
              </a:rPr>
              <a:t> </a:t>
            </a:r>
            <a:r>
              <a:rPr lang="en-US" sz="1800" dirty="0">
                <a:latin typeface="Calibri (Body)"/>
                <a:cs typeface="Times New Roman"/>
              </a:rPr>
              <a:t>schedule</a:t>
            </a:r>
            <a:r>
              <a:rPr lang="en-US" sz="1800" spc="15" dirty="0">
                <a:latin typeface="Calibri (Body)"/>
                <a:cs typeface="Times New Roman"/>
              </a:rPr>
              <a:t> </a:t>
            </a:r>
            <a:r>
              <a:rPr lang="en-US" sz="1800" dirty="0">
                <a:latin typeface="Calibri (Body)"/>
                <a:cs typeface="Times New Roman"/>
              </a:rPr>
              <a:t>for</a:t>
            </a:r>
            <a:r>
              <a:rPr lang="en-US" sz="1800" spc="60" dirty="0">
                <a:latin typeface="Calibri (Body)"/>
                <a:cs typeface="Times New Roman"/>
              </a:rPr>
              <a:t> </a:t>
            </a:r>
            <a:r>
              <a:rPr lang="en-US" sz="1800" spc="-25" dirty="0">
                <a:latin typeface="Calibri (Body)"/>
                <a:cs typeface="Times New Roman"/>
              </a:rPr>
              <a:t>the </a:t>
            </a:r>
            <a:r>
              <a:rPr lang="en-US" sz="1800" dirty="0">
                <a:latin typeface="Calibri (Body)"/>
                <a:cs typeface="Times New Roman"/>
              </a:rPr>
              <a:t>entire</a:t>
            </a:r>
            <a:r>
              <a:rPr lang="en-US" sz="1800" spc="-45" dirty="0">
                <a:latin typeface="Calibri (Body)"/>
                <a:cs typeface="Times New Roman"/>
              </a:rPr>
              <a:t> </a:t>
            </a:r>
            <a:r>
              <a:rPr lang="en-US" sz="1800" dirty="0">
                <a:latin typeface="Calibri (Body)"/>
                <a:cs typeface="Times New Roman"/>
              </a:rPr>
              <a:t>project,</a:t>
            </a:r>
            <a:r>
              <a:rPr lang="en-US" sz="1800" spc="40" dirty="0">
                <a:latin typeface="Calibri (Body)"/>
                <a:cs typeface="Times New Roman"/>
              </a:rPr>
              <a:t> </a:t>
            </a:r>
            <a:r>
              <a:rPr lang="en-US" sz="1800" dirty="0">
                <a:latin typeface="Calibri (Body)"/>
                <a:cs typeface="Times New Roman"/>
              </a:rPr>
              <a:t>and</a:t>
            </a:r>
            <a:r>
              <a:rPr lang="en-US" sz="1800" spc="-40" dirty="0">
                <a:latin typeface="Calibri (Body)"/>
                <a:cs typeface="Times New Roman"/>
              </a:rPr>
              <a:t> </a:t>
            </a:r>
            <a:r>
              <a:rPr lang="en-US" sz="1800" dirty="0">
                <a:latin typeface="Calibri (Body)"/>
                <a:cs typeface="Times New Roman"/>
              </a:rPr>
              <a:t>potential</a:t>
            </a:r>
            <a:r>
              <a:rPr lang="en-US" sz="1800" spc="-10" dirty="0">
                <a:latin typeface="Calibri (Body)"/>
                <a:cs typeface="Times New Roman"/>
              </a:rPr>
              <a:t> </a:t>
            </a:r>
            <a:r>
              <a:rPr lang="en-US" sz="1800" dirty="0">
                <a:latin typeface="Calibri (Body)"/>
                <a:cs typeface="Times New Roman"/>
              </a:rPr>
              <a:t>scheduling</a:t>
            </a:r>
            <a:r>
              <a:rPr lang="en-US" sz="1800" spc="-35" dirty="0">
                <a:latin typeface="Calibri (Body)"/>
                <a:cs typeface="Times New Roman"/>
              </a:rPr>
              <a:t> </a:t>
            </a:r>
            <a:r>
              <a:rPr lang="en-US" sz="1800" dirty="0">
                <a:latin typeface="Calibri (Body)"/>
                <a:cs typeface="Times New Roman"/>
              </a:rPr>
              <a:t>and</a:t>
            </a:r>
            <a:r>
              <a:rPr lang="en-US" sz="1800" spc="-40" dirty="0">
                <a:latin typeface="Calibri (Body)"/>
                <a:cs typeface="Times New Roman"/>
              </a:rPr>
              <a:t> </a:t>
            </a:r>
            <a:r>
              <a:rPr lang="en-US" sz="1800" dirty="0">
                <a:latin typeface="Calibri (Body)"/>
                <a:cs typeface="Times New Roman"/>
              </a:rPr>
              <a:t>resource</a:t>
            </a:r>
            <a:r>
              <a:rPr lang="en-US" sz="1800" spc="-50" dirty="0">
                <a:latin typeface="Calibri (Body)"/>
                <a:cs typeface="Times New Roman"/>
              </a:rPr>
              <a:t> </a:t>
            </a:r>
            <a:r>
              <a:rPr lang="en-US" sz="1800" dirty="0">
                <a:latin typeface="Calibri (Body)"/>
                <a:cs typeface="Times New Roman"/>
              </a:rPr>
              <a:t>problems</a:t>
            </a:r>
            <a:r>
              <a:rPr lang="en-US" sz="1800" spc="15" dirty="0">
                <a:latin typeface="Calibri (Body)"/>
                <a:cs typeface="Times New Roman"/>
              </a:rPr>
              <a:t> </a:t>
            </a:r>
            <a:r>
              <a:rPr lang="en-US" sz="1800" dirty="0">
                <a:latin typeface="Calibri (Body)"/>
                <a:cs typeface="Times New Roman"/>
              </a:rPr>
              <a:t>and</a:t>
            </a:r>
            <a:r>
              <a:rPr lang="en-US" sz="1800" spc="-40" dirty="0">
                <a:latin typeface="Calibri (Body)"/>
                <a:cs typeface="Times New Roman"/>
              </a:rPr>
              <a:t> </a:t>
            </a:r>
            <a:r>
              <a:rPr lang="en-US" sz="1800" dirty="0">
                <a:latin typeface="Calibri (Body)"/>
                <a:cs typeface="Times New Roman"/>
              </a:rPr>
              <a:t>their</a:t>
            </a:r>
            <a:r>
              <a:rPr lang="en-US" sz="1800" spc="50" dirty="0">
                <a:latin typeface="Calibri (Body)"/>
                <a:cs typeface="Times New Roman"/>
              </a:rPr>
              <a:t> </a:t>
            </a:r>
            <a:r>
              <a:rPr lang="en-US" sz="1800" spc="-10" dirty="0">
                <a:latin typeface="Calibri (Body)"/>
                <a:cs typeface="Times New Roman"/>
              </a:rPr>
              <a:t>solutions</a:t>
            </a:r>
            <a:endParaRPr lang="en-US" sz="1800" dirty="0">
              <a:latin typeface="Calibri (Body)"/>
              <a:cs typeface="Times New Roman"/>
            </a:endParaRPr>
          </a:p>
        </p:txBody>
      </p:sp>
      <p:pic>
        <p:nvPicPr>
          <p:cNvPr id="15" name="Picture 14">
            <a:extLst>
              <a:ext uri="{FF2B5EF4-FFF2-40B4-BE49-F238E27FC236}">
                <a16:creationId xmlns:a16="http://schemas.microsoft.com/office/drawing/2014/main" id="{4355E001-2256-C33C-2038-81FE0028F8ED}"/>
              </a:ext>
            </a:extLst>
          </p:cNvPr>
          <p:cNvPicPr>
            <a:picLocks noChangeAspect="1"/>
          </p:cNvPicPr>
          <p:nvPr/>
        </p:nvPicPr>
        <p:blipFill>
          <a:blip r:embed="rId4"/>
          <a:stretch>
            <a:fillRect/>
          </a:stretch>
        </p:blipFill>
        <p:spPr>
          <a:xfrm>
            <a:off x="4719637" y="2786281"/>
            <a:ext cx="3124200" cy="1476590"/>
          </a:xfrm>
          <a:prstGeom prst="rect">
            <a:avLst/>
          </a:prstGeom>
        </p:spPr>
      </p:pic>
      <p:sp>
        <p:nvSpPr>
          <p:cNvPr id="17" name="TextBox 16">
            <a:extLst>
              <a:ext uri="{FF2B5EF4-FFF2-40B4-BE49-F238E27FC236}">
                <a16:creationId xmlns:a16="http://schemas.microsoft.com/office/drawing/2014/main" id="{007C517C-DC9D-E7B2-1FB0-E80FF330939D}"/>
              </a:ext>
            </a:extLst>
          </p:cNvPr>
          <p:cNvSpPr txBox="1"/>
          <p:nvPr/>
        </p:nvSpPr>
        <p:spPr>
          <a:xfrm>
            <a:off x="104095" y="4245329"/>
            <a:ext cx="4615542" cy="1306255"/>
          </a:xfrm>
          <a:prstGeom prst="rect">
            <a:avLst/>
          </a:prstGeom>
          <a:noFill/>
        </p:spPr>
        <p:txBody>
          <a:bodyPr wrap="square">
            <a:spAutoFit/>
          </a:bodyPr>
          <a:lstStyle/>
          <a:p>
            <a:pPr marL="12700" marR="5080">
              <a:lnSpc>
                <a:spcPct val="111300"/>
              </a:lnSpc>
              <a:spcBef>
                <a:spcPts val="100"/>
              </a:spcBef>
            </a:pPr>
            <a:r>
              <a:rPr lang="en-US" sz="1800" dirty="0">
                <a:solidFill>
                  <a:srgbClr val="FF0000"/>
                </a:solidFill>
                <a:latin typeface="Calibri (Body)"/>
                <a:cs typeface="Times New Roman"/>
              </a:rPr>
              <a:t>7.Process</a:t>
            </a:r>
            <a:r>
              <a:rPr lang="en-US" sz="1800" spc="30" dirty="0">
                <a:solidFill>
                  <a:srgbClr val="FF0000"/>
                </a:solidFill>
                <a:latin typeface="Calibri (Body)"/>
                <a:cs typeface="Times New Roman"/>
              </a:rPr>
              <a:t> </a:t>
            </a:r>
            <a:r>
              <a:rPr lang="en-US" sz="1800" dirty="0">
                <a:solidFill>
                  <a:srgbClr val="FF0000"/>
                </a:solidFill>
                <a:latin typeface="Calibri (Body)"/>
                <a:cs typeface="Times New Roman"/>
              </a:rPr>
              <a:t>decision</a:t>
            </a:r>
            <a:r>
              <a:rPr lang="en-US" sz="1800" spc="15" dirty="0">
                <a:solidFill>
                  <a:srgbClr val="FF0000"/>
                </a:solidFill>
                <a:latin typeface="Calibri (Body)"/>
                <a:cs typeface="Times New Roman"/>
              </a:rPr>
              <a:t> </a:t>
            </a:r>
            <a:r>
              <a:rPr lang="en-US" sz="1800" dirty="0">
                <a:solidFill>
                  <a:srgbClr val="FF0000"/>
                </a:solidFill>
                <a:latin typeface="Calibri (Body)"/>
                <a:cs typeface="Times New Roman"/>
              </a:rPr>
              <a:t>program</a:t>
            </a:r>
            <a:r>
              <a:rPr lang="en-US" sz="1800" spc="50" dirty="0">
                <a:solidFill>
                  <a:srgbClr val="FF0000"/>
                </a:solidFill>
                <a:latin typeface="Calibri (Body)"/>
                <a:cs typeface="Times New Roman"/>
              </a:rPr>
              <a:t> </a:t>
            </a:r>
            <a:r>
              <a:rPr lang="en-US" sz="1800" dirty="0">
                <a:solidFill>
                  <a:srgbClr val="FF0000"/>
                </a:solidFill>
                <a:latin typeface="Calibri (Body)"/>
                <a:cs typeface="Times New Roman"/>
              </a:rPr>
              <a:t>chart</a:t>
            </a:r>
            <a:r>
              <a:rPr lang="en-US" sz="1800" spc="30" dirty="0">
                <a:solidFill>
                  <a:srgbClr val="FF0000"/>
                </a:solidFill>
                <a:latin typeface="Calibri (Body)"/>
                <a:cs typeface="Times New Roman"/>
              </a:rPr>
              <a:t> </a:t>
            </a:r>
            <a:r>
              <a:rPr lang="en-US" sz="1800" dirty="0">
                <a:solidFill>
                  <a:srgbClr val="FF0000"/>
                </a:solidFill>
                <a:latin typeface="Calibri (Body)"/>
                <a:cs typeface="Times New Roman"/>
              </a:rPr>
              <a:t>(PDPC):</a:t>
            </a:r>
            <a:r>
              <a:rPr lang="en-US" sz="1800" spc="20" dirty="0">
                <a:solidFill>
                  <a:srgbClr val="FF0000"/>
                </a:solidFill>
                <a:latin typeface="Calibri (Body)"/>
                <a:cs typeface="Times New Roman"/>
              </a:rPr>
              <a:t> </a:t>
            </a:r>
            <a:r>
              <a:rPr lang="en-US" sz="1800" dirty="0">
                <a:latin typeface="Calibri (Body)"/>
                <a:cs typeface="Times New Roman"/>
              </a:rPr>
              <a:t>systematically</a:t>
            </a:r>
            <a:r>
              <a:rPr lang="en-US" sz="1800" spc="10" dirty="0">
                <a:latin typeface="Calibri (Body)"/>
                <a:cs typeface="Times New Roman"/>
              </a:rPr>
              <a:t> </a:t>
            </a:r>
            <a:r>
              <a:rPr lang="en-US" sz="1800" dirty="0">
                <a:latin typeface="Calibri (Body)"/>
                <a:cs typeface="Times New Roman"/>
              </a:rPr>
              <a:t>identifies</a:t>
            </a:r>
            <a:r>
              <a:rPr lang="en-US" sz="1800" spc="30" dirty="0">
                <a:latin typeface="Calibri (Body)"/>
                <a:cs typeface="Times New Roman"/>
              </a:rPr>
              <a:t> </a:t>
            </a:r>
            <a:r>
              <a:rPr lang="en-US" sz="1800" dirty="0">
                <a:latin typeface="Calibri (Body)"/>
                <a:cs typeface="Times New Roman"/>
              </a:rPr>
              <a:t>what</a:t>
            </a:r>
            <a:r>
              <a:rPr lang="en-US" sz="1800" spc="20" dirty="0">
                <a:latin typeface="Calibri (Body)"/>
                <a:cs typeface="Times New Roman"/>
              </a:rPr>
              <a:t> </a:t>
            </a:r>
            <a:r>
              <a:rPr lang="en-US" sz="1800" dirty="0">
                <a:latin typeface="Calibri (Body)"/>
                <a:cs typeface="Times New Roman"/>
              </a:rPr>
              <a:t>might</a:t>
            </a:r>
            <a:r>
              <a:rPr lang="en-US" sz="1800" spc="20" dirty="0">
                <a:latin typeface="Calibri (Body)"/>
                <a:cs typeface="Times New Roman"/>
              </a:rPr>
              <a:t> </a:t>
            </a:r>
            <a:r>
              <a:rPr lang="en-US" sz="1800" dirty="0">
                <a:latin typeface="Calibri (Body)"/>
                <a:cs typeface="Times New Roman"/>
              </a:rPr>
              <a:t>go</a:t>
            </a:r>
            <a:r>
              <a:rPr lang="en-US" sz="1800" spc="5" dirty="0">
                <a:latin typeface="Calibri (Body)"/>
                <a:cs typeface="Times New Roman"/>
              </a:rPr>
              <a:t> </a:t>
            </a:r>
            <a:r>
              <a:rPr lang="en-US" sz="1800" dirty="0">
                <a:latin typeface="Calibri (Body)"/>
                <a:cs typeface="Times New Roman"/>
              </a:rPr>
              <a:t>wrong</a:t>
            </a:r>
            <a:r>
              <a:rPr lang="en-US" sz="1800" spc="50" dirty="0">
                <a:latin typeface="Calibri (Body)"/>
                <a:cs typeface="Times New Roman"/>
              </a:rPr>
              <a:t> </a:t>
            </a:r>
            <a:r>
              <a:rPr lang="en-US" sz="1800" dirty="0">
                <a:latin typeface="Calibri (Body)"/>
                <a:cs typeface="Times New Roman"/>
              </a:rPr>
              <a:t>in</a:t>
            </a:r>
            <a:r>
              <a:rPr lang="en-US" sz="1800" spc="5" dirty="0">
                <a:latin typeface="Calibri (Body)"/>
                <a:cs typeface="Times New Roman"/>
              </a:rPr>
              <a:t> </a:t>
            </a:r>
            <a:r>
              <a:rPr lang="en-US" sz="1800" spc="-50" dirty="0">
                <a:latin typeface="Calibri (Body)"/>
                <a:cs typeface="Times New Roman"/>
              </a:rPr>
              <a:t>a </a:t>
            </a:r>
            <a:r>
              <a:rPr lang="en-US" sz="1800" spc="-10" dirty="0">
                <a:latin typeface="Calibri (Body)"/>
                <a:cs typeface="Times New Roman"/>
              </a:rPr>
              <a:t>plan</a:t>
            </a:r>
            <a:r>
              <a:rPr lang="en-US" sz="1800" spc="-65" dirty="0">
                <a:latin typeface="Calibri (Body)"/>
                <a:cs typeface="Times New Roman"/>
              </a:rPr>
              <a:t> </a:t>
            </a:r>
            <a:r>
              <a:rPr lang="en-US" sz="1800" dirty="0">
                <a:latin typeface="Calibri (Body)"/>
                <a:cs typeface="Times New Roman"/>
              </a:rPr>
              <a:t>under</a:t>
            </a:r>
            <a:r>
              <a:rPr lang="en-US" sz="1800" spc="-10" dirty="0">
                <a:latin typeface="Calibri (Body)"/>
                <a:cs typeface="Times New Roman"/>
              </a:rPr>
              <a:t> development.</a:t>
            </a:r>
            <a:r>
              <a:rPr lang="en-US" dirty="0"/>
              <a:t> Identifies possible risks and countermeasures in a plan</a:t>
            </a:r>
            <a:endParaRPr lang="en-US" sz="1800" dirty="0">
              <a:latin typeface="Calibri (Body)"/>
              <a:cs typeface="Times New Roman"/>
            </a:endParaRPr>
          </a:p>
        </p:txBody>
      </p:sp>
      <p:pic>
        <p:nvPicPr>
          <p:cNvPr id="18" name="Picture 17">
            <a:extLst>
              <a:ext uri="{FF2B5EF4-FFF2-40B4-BE49-F238E27FC236}">
                <a16:creationId xmlns:a16="http://schemas.microsoft.com/office/drawing/2014/main" id="{D5F90AD5-887E-0B4A-CD05-3A8460FC3ADB}"/>
              </a:ext>
            </a:extLst>
          </p:cNvPr>
          <p:cNvPicPr>
            <a:picLocks noChangeAspect="1"/>
          </p:cNvPicPr>
          <p:nvPr/>
        </p:nvPicPr>
        <p:blipFill>
          <a:blip r:embed="rId5"/>
          <a:stretch>
            <a:fillRect/>
          </a:stretch>
        </p:blipFill>
        <p:spPr>
          <a:xfrm>
            <a:off x="4872717" y="4462644"/>
            <a:ext cx="3026229" cy="1426063"/>
          </a:xfrm>
          <a:prstGeom prst="rect">
            <a:avLst/>
          </a:prstGeom>
        </p:spPr>
      </p:pic>
    </p:spTree>
    <p:extLst>
      <p:ext uri="{BB962C8B-B14F-4D97-AF65-F5344CB8AC3E}">
        <p14:creationId xmlns:p14="http://schemas.microsoft.com/office/powerpoint/2010/main" val="875714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585E6A-B36D-4F4A-B96A-B0D846490EEC}" type="datetime1">
              <a:rPr lang="en-US" smtClean="0"/>
              <a:t>5/10/2026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TOPIC 3:SIX SIGMA</a:t>
            </a:r>
            <a:br>
              <a:rPr lang="en-US" sz="2800" b="1" dirty="0">
                <a:solidFill>
                  <a:schemeClr val="tx1"/>
                </a:solidFill>
                <a:latin typeface="Times New Roman" panose="02020603050405020304" pitchFamily="18" charset="0"/>
                <a:cs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304800" y="1143000"/>
            <a:ext cx="8763000" cy="1323439"/>
          </a:xfrm>
          <a:prstGeom prst="rect">
            <a:avLst/>
          </a:prstGeom>
        </p:spPr>
        <p:txBody>
          <a:bodyPr wrap="square">
            <a:spAutoFit/>
          </a:bodyPr>
          <a:lstStyle/>
          <a:p>
            <a:r>
              <a:rPr lang="en-IN" sz="2000" b="1" dirty="0">
                <a:latin typeface="Calibri (Body)"/>
              </a:rPr>
              <a:t>SIX SIGMA</a:t>
            </a:r>
          </a:p>
          <a:p>
            <a:r>
              <a:rPr lang="en-US" sz="2000" dirty="0">
                <a:latin typeface="Calibri (Body)"/>
              </a:rPr>
              <a:t>This is quality improvement initiatives which include – Clear focus on achieving measurable and quantifiable financial returns from any project. etc. to lead and implement the Six Sigma approach.</a:t>
            </a:r>
          </a:p>
        </p:txBody>
      </p:sp>
      <p:sp>
        <p:nvSpPr>
          <p:cNvPr id="8" name="TextBox 7">
            <a:extLst>
              <a:ext uri="{FF2B5EF4-FFF2-40B4-BE49-F238E27FC236}">
                <a16:creationId xmlns:a16="http://schemas.microsoft.com/office/drawing/2014/main" id="{BA9ED538-EDFB-86C4-4CD6-A013CE305203}"/>
              </a:ext>
            </a:extLst>
          </p:cNvPr>
          <p:cNvSpPr txBox="1"/>
          <p:nvPr/>
        </p:nvSpPr>
        <p:spPr>
          <a:xfrm>
            <a:off x="43543" y="2466439"/>
            <a:ext cx="8991600" cy="3970318"/>
          </a:xfrm>
          <a:prstGeom prst="rect">
            <a:avLst/>
          </a:prstGeom>
          <a:noFill/>
        </p:spPr>
        <p:txBody>
          <a:bodyPr wrap="square">
            <a:spAutoFit/>
          </a:bodyPr>
          <a:lstStyle/>
          <a:p>
            <a:pPr algn="just"/>
            <a:r>
              <a:rPr lang="en-US" dirty="0">
                <a:latin typeface="Calibri (Body)"/>
              </a:rPr>
              <a:t>At the heart of the methodology is the DMAIC model for process improvement. DMAIC is</a:t>
            </a:r>
          </a:p>
          <a:p>
            <a:pPr algn="just"/>
            <a:r>
              <a:rPr lang="en-US" dirty="0">
                <a:latin typeface="Calibri (Body)"/>
              </a:rPr>
              <a:t>commonly used by Six Sigma project teams and is an acronym for:</a:t>
            </a:r>
          </a:p>
          <a:p>
            <a:pPr algn="just"/>
            <a:r>
              <a:rPr lang="en-US" b="1" dirty="0">
                <a:latin typeface="Calibri (Body)"/>
              </a:rPr>
              <a:t>DMAIC - </a:t>
            </a:r>
            <a:r>
              <a:rPr lang="en-US" dirty="0">
                <a:latin typeface="Calibri (Body)"/>
              </a:rPr>
              <a:t>The basic methodology consists of the following five steps:</a:t>
            </a:r>
          </a:p>
          <a:p>
            <a:pPr algn="just"/>
            <a:endParaRPr lang="en-US" dirty="0">
              <a:latin typeface="Calibri (Body)"/>
            </a:endParaRPr>
          </a:p>
          <a:p>
            <a:pPr marL="342900" indent="-342900" algn="just">
              <a:buFont typeface="+mj-lt"/>
              <a:buAutoNum type="arabicPeriod"/>
            </a:pPr>
            <a:r>
              <a:rPr lang="en-US" b="1" dirty="0">
                <a:latin typeface="Calibri (Body)"/>
              </a:rPr>
              <a:t>Define </a:t>
            </a:r>
            <a:r>
              <a:rPr lang="en-US" dirty="0">
                <a:latin typeface="Calibri (Body)"/>
              </a:rPr>
              <a:t>process improvement goals that are consistent with customer demands and the </a:t>
            </a:r>
            <a:r>
              <a:rPr lang="en-IN" dirty="0">
                <a:latin typeface="Calibri (Body)"/>
              </a:rPr>
              <a:t>enterprise strategy.</a:t>
            </a:r>
          </a:p>
          <a:p>
            <a:pPr marL="342900" indent="-342900" algn="just">
              <a:buFont typeface="+mj-lt"/>
              <a:buAutoNum type="arabicPeriod"/>
            </a:pPr>
            <a:r>
              <a:rPr lang="en-US" b="1" dirty="0">
                <a:latin typeface="Calibri (Body)"/>
              </a:rPr>
              <a:t>Measure </a:t>
            </a:r>
            <a:r>
              <a:rPr lang="en-US" dirty="0">
                <a:latin typeface="Calibri (Body)"/>
              </a:rPr>
              <a:t>key aspects of the current process and collect relevant data.</a:t>
            </a:r>
          </a:p>
          <a:p>
            <a:pPr marL="342900" indent="-342900" algn="just">
              <a:buFont typeface="+mj-lt"/>
              <a:buAutoNum type="arabicPeriod"/>
            </a:pPr>
            <a:r>
              <a:rPr lang="en-US" b="1" dirty="0">
                <a:latin typeface="Calibri (Body)"/>
              </a:rPr>
              <a:t>Analyze </a:t>
            </a:r>
            <a:r>
              <a:rPr lang="en-US" dirty="0">
                <a:latin typeface="Calibri (Body)"/>
              </a:rPr>
              <a:t>the data to verify cause-and-effect relationships. Determine what the</a:t>
            </a:r>
          </a:p>
          <a:p>
            <a:pPr algn="just"/>
            <a:r>
              <a:rPr lang="en-US" dirty="0">
                <a:latin typeface="Calibri (Body)"/>
              </a:rPr>
              <a:t>      relationships are, and attempt to ensure that all factors have been considered.</a:t>
            </a:r>
          </a:p>
          <a:p>
            <a:pPr marL="342900" indent="-342900" algn="just">
              <a:buAutoNum type="arabicPeriod" startAt="4"/>
            </a:pPr>
            <a:r>
              <a:rPr lang="en-US" b="1" dirty="0">
                <a:latin typeface="Calibri (Body)"/>
              </a:rPr>
              <a:t>Improve </a:t>
            </a:r>
            <a:r>
              <a:rPr lang="en-US" dirty="0">
                <a:latin typeface="Calibri (Body)"/>
              </a:rPr>
              <a:t>or optimize the process based upon data analysis using techniques like </a:t>
            </a:r>
            <a:r>
              <a:rPr lang="en-IN" dirty="0">
                <a:latin typeface="Calibri (Body)"/>
              </a:rPr>
              <a:t>Design of Experiments.</a:t>
            </a:r>
          </a:p>
          <a:p>
            <a:pPr marL="342900" indent="-342900" algn="just">
              <a:buAutoNum type="arabicPeriod" startAt="4"/>
            </a:pPr>
            <a:r>
              <a:rPr lang="en-US" b="1" dirty="0">
                <a:latin typeface="Calibri (Body)"/>
              </a:rPr>
              <a:t>Control </a:t>
            </a:r>
            <a:r>
              <a:rPr lang="en-US" dirty="0">
                <a:latin typeface="Calibri (Body)"/>
              </a:rPr>
              <a:t>to ensure that any deviations from target are corrected before they result in defects. Set up pilot runs to establish process capability, move on to production, set up control mechanisms and continuously monitor the process.</a:t>
            </a:r>
            <a:endParaRPr lang="en-IN" dirty="0">
              <a:latin typeface="Calibri (Body)"/>
            </a:endParaRPr>
          </a:p>
        </p:txBody>
      </p:sp>
    </p:spTree>
    <p:extLst>
      <p:ext uri="{BB962C8B-B14F-4D97-AF65-F5344CB8AC3E}">
        <p14:creationId xmlns:p14="http://schemas.microsoft.com/office/powerpoint/2010/main" val="1700826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331CFB-D703-4BC1-A054-784FFDC4FDC5}" type="datetime1">
              <a:rPr lang="en-US" smtClean="0"/>
              <a:t>5/10/2026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181964" y="1219200"/>
            <a:ext cx="8962036" cy="2862322"/>
          </a:xfrm>
          <a:prstGeom prst="rect">
            <a:avLst/>
          </a:prstGeom>
        </p:spPr>
        <p:txBody>
          <a:bodyPr wrap="square">
            <a:spAutoFit/>
          </a:bodyPr>
          <a:lstStyle/>
          <a:p>
            <a:r>
              <a:rPr lang="en-IN" sz="2000" b="1" dirty="0">
                <a:solidFill>
                  <a:srgbClr val="FF0000"/>
                </a:solidFill>
                <a:latin typeface="Calibri (Body)"/>
              </a:rPr>
              <a:t>DMADV</a:t>
            </a:r>
          </a:p>
          <a:p>
            <a:r>
              <a:rPr lang="en-US" sz="1600" dirty="0">
                <a:latin typeface="Calibri (Body)"/>
              </a:rPr>
              <a:t>The basic methodology consists of the following five steps:</a:t>
            </a:r>
          </a:p>
          <a:p>
            <a:pPr marL="457200" indent="-457200">
              <a:buFont typeface="+mj-lt"/>
              <a:buAutoNum type="arabicPeriod"/>
            </a:pPr>
            <a:r>
              <a:rPr lang="en-US" sz="1600" b="1" dirty="0">
                <a:latin typeface="Calibri (Body)"/>
              </a:rPr>
              <a:t>Define </a:t>
            </a:r>
            <a:r>
              <a:rPr lang="en-US" sz="1600" dirty="0">
                <a:latin typeface="Calibri (Body)"/>
              </a:rPr>
              <a:t>design goals that are consistent with customer demands and the enterprise </a:t>
            </a:r>
            <a:r>
              <a:rPr lang="en-IN" sz="1600" dirty="0">
                <a:latin typeface="Calibri (Body)"/>
              </a:rPr>
              <a:t>strategy.</a:t>
            </a:r>
          </a:p>
          <a:p>
            <a:pPr marL="457200" indent="-457200">
              <a:buFont typeface="+mj-lt"/>
              <a:buAutoNum type="arabicPeriod"/>
            </a:pPr>
            <a:r>
              <a:rPr lang="en-US" sz="1600" b="1" dirty="0">
                <a:latin typeface="Calibri (Body)"/>
              </a:rPr>
              <a:t>Measure </a:t>
            </a:r>
            <a:r>
              <a:rPr lang="en-US" sz="1600" dirty="0">
                <a:latin typeface="Calibri (Body)"/>
              </a:rPr>
              <a:t>and identify CTQs (characteristics that are </a:t>
            </a:r>
            <a:r>
              <a:rPr lang="en-US" sz="1600" b="1" dirty="0">
                <a:latin typeface="Calibri (Body)"/>
              </a:rPr>
              <a:t>C</a:t>
            </a:r>
            <a:r>
              <a:rPr lang="en-US" sz="1600" dirty="0">
                <a:latin typeface="Calibri (Body)"/>
              </a:rPr>
              <a:t>ritical </a:t>
            </a:r>
            <a:r>
              <a:rPr lang="en-US" sz="1600" b="1" dirty="0">
                <a:latin typeface="Calibri (Body)"/>
              </a:rPr>
              <a:t>T</a:t>
            </a:r>
            <a:r>
              <a:rPr lang="en-US" sz="1600" dirty="0">
                <a:latin typeface="Calibri (Body)"/>
              </a:rPr>
              <a:t>o </a:t>
            </a:r>
            <a:r>
              <a:rPr lang="en-US" sz="1600" b="1" dirty="0">
                <a:latin typeface="Calibri (Body)"/>
              </a:rPr>
              <a:t>Q</a:t>
            </a:r>
            <a:r>
              <a:rPr lang="en-US" sz="1600" dirty="0">
                <a:latin typeface="Calibri (Body)"/>
              </a:rPr>
              <a:t>uality), product capabilities, production process capability, and risks.</a:t>
            </a:r>
          </a:p>
          <a:p>
            <a:pPr marL="457200" indent="-457200">
              <a:buFont typeface="+mj-lt"/>
              <a:buAutoNum type="arabicPeriod"/>
            </a:pPr>
            <a:r>
              <a:rPr lang="en-US" sz="1600" b="1" dirty="0">
                <a:latin typeface="Calibri (Body)"/>
              </a:rPr>
              <a:t>Analyze </a:t>
            </a:r>
            <a:r>
              <a:rPr lang="en-US" sz="1600" dirty="0">
                <a:latin typeface="Calibri (Body)"/>
              </a:rPr>
              <a:t>to develop and design alternatives, create a high-level design and evaluate design capability to select the best design.</a:t>
            </a:r>
          </a:p>
          <a:p>
            <a:pPr marL="457200" indent="-457200">
              <a:buFont typeface="+mj-lt"/>
              <a:buAutoNum type="arabicPeriod"/>
            </a:pPr>
            <a:r>
              <a:rPr lang="en-US" sz="1600" b="1" dirty="0">
                <a:latin typeface="Calibri (Body)"/>
              </a:rPr>
              <a:t>Design </a:t>
            </a:r>
            <a:r>
              <a:rPr lang="en-US" sz="1600" dirty="0">
                <a:latin typeface="Calibri (Body)"/>
              </a:rPr>
              <a:t>details, optimize the design, and plan for design verification. This phase may </a:t>
            </a:r>
            <a:r>
              <a:rPr lang="en-IN" sz="1600" dirty="0">
                <a:latin typeface="Calibri (Body)"/>
              </a:rPr>
              <a:t>require simulations.</a:t>
            </a:r>
          </a:p>
          <a:p>
            <a:pPr marL="457200" indent="-457200">
              <a:buFont typeface="+mj-lt"/>
              <a:buAutoNum type="arabicPeriod"/>
            </a:pPr>
            <a:r>
              <a:rPr lang="en-US" sz="1600" b="1" dirty="0">
                <a:latin typeface="Calibri (Body)"/>
              </a:rPr>
              <a:t>Verify </a:t>
            </a:r>
            <a:r>
              <a:rPr lang="en-US" sz="1600" dirty="0">
                <a:latin typeface="Calibri (Body)"/>
              </a:rPr>
              <a:t>the design, set up pilot runs, implement the production process and hand it over to the process owners.</a:t>
            </a:r>
            <a:endParaRPr lang="en-IN" sz="1600" dirty="0">
              <a:latin typeface="Calibri (Body)"/>
            </a:endParaRPr>
          </a:p>
        </p:txBody>
      </p:sp>
      <p:pic>
        <p:nvPicPr>
          <p:cNvPr id="3" name="Picture 2"/>
          <p:cNvPicPr>
            <a:picLocks noChangeAspect="1"/>
          </p:cNvPicPr>
          <p:nvPr/>
        </p:nvPicPr>
        <p:blipFill>
          <a:blip r:embed="rId3"/>
          <a:stretch>
            <a:fillRect/>
          </a:stretch>
        </p:blipFill>
        <p:spPr>
          <a:xfrm>
            <a:off x="1701338" y="6002418"/>
            <a:ext cx="5334462" cy="536494"/>
          </a:xfrm>
          <a:prstGeom prst="rect">
            <a:avLst/>
          </a:prstGeom>
        </p:spPr>
      </p:pic>
      <p:sp>
        <p:nvSpPr>
          <p:cNvPr id="5" name="Footer Placeholder 4">
            <a:extLst>
              <a:ext uri="{FF2B5EF4-FFF2-40B4-BE49-F238E27FC236}">
                <a16:creationId xmlns:a16="http://schemas.microsoft.com/office/drawing/2014/main" id="{2A72E174-4881-F98A-F60D-0BB4600460E9}"/>
              </a:ext>
            </a:extLst>
          </p:cNvPr>
          <p:cNvSpPr>
            <a:spLocks noGrp="1"/>
          </p:cNvSpPr>
          <p:nvPr>
            <p:ph type="ftr" sz="quarter" idx="11"/>
          </p:nvPr>
        </p:nvSpPr>
        <p:spPr/>
        <p:txBody>
          <a:bodyPr/>
          <a:lstStyle/>
          <a:p>
            <a:r>
              <a:rPr lang="en-US"/>
              <a:t>Mr. Minhaj Nezami     AOE0861    TQM      Unit 3</a:t>
            </a:r>
            <a:endParaRPr lang="en-US" dirty="0"/>
          </a:p>
        </p:txBody>
      </p:sp>
      <p:sp>
        <p:nvSpPr>
          <p:cNvPr id="9" name="TextBox 8">
            <a:extLst>
              <a:ext uri="{FF2B5EF4-FFF2-40B4-BE49-F238E27FC236}">
                <a16:creationId xmlns:a16="http://schemas.microsoft.com/office/drawing/2014/main" id="{458E9D5B-3A6A-A637-290D-67164FF1ED81}"/>
              </a:ext>
            </a:extLst>
          </p:cNvPr>
          <p:cNvSpPr txBox="1"/>
          <p:nvPr/>
        </p:nvSpPr>
        <p:spPr>
          <a:xfrm>
            <a:off x="181964" y="3971093"/>
            <a:ext cx="8708571" cy="2031325"/>
          </a:xfrm>
          <a:prstGeom prst="rect">
            <a:avLst/>
          </a:prstGeom>
          <a:noFill/>
        </p:spPr>
        <p:txBody>
          <a:bodyPr wrap="square">
            <a:spAutoFit/>
          </a:bodyPr>
          <a:lstStyle/>
          <a:p>
            <a:r>
              <a:rPr lang="en-IN" sz="1800" b="1" dirty="0">
                <a:solidFill>
                  <a:srgbClr val="FF0000"/>
                </a:solidFill>
                <a:latin typeface="Calibri (Body)"/>
              </a:rPr>
              <a:t>Implementation roles –</a:t>
            </a:r>
          </a:p>
          <a:p>
            <a:endParaRPr lang="en-IN" sz="1800" b="1" dirty="0">
              <a:latin typeface="Calibri (Body)"/>
            </a:endParaRPr>
          </a:p>
          <a:p>
            <a:pPr algn="just"/>
            <a:r>
              <a:rPr lang="en-US" sz="1800" dirty="0">
                <a:latin typeface="Calibri (Body)"/>
              </a:rPr>
              <a:t>One of the key innovations of Six Sigma is the professionalizing of quality management functions. Prior to Six Sigma, quality management in practice was largely relegated to the production floor and to statisticians in a separate quality department. Six Sigma borrows martial arts ranking terminology to define a hierarchy (and career path) that cuts across all business functions and a promotion path straight into the </a:t>
            </a:r>
            <a:r>
              <a:rPr lang="en-IN" sz="1800" dirty="0">
                <a:latin typeface="Calibri (Body)"/>
              </a:rPr>
              <a:t>executive suite.</a:t>
            </a:r>
          </a:p>
        </p:txBody>
      </p:sp>
    </p:spTree>
    <p:extLst>
      <p:ext uri="{BB962C8B-B14F-4D97-AF65-F5344CB8AC3E}">
        <p14:creationId xmlns:p14="http://schemas.microsoft.com/office/powerpoint/2010/main" val="634344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1E3898-AAE3-4FCD-99AB-269EF9107C78}" type="datetime1">
              <a:rPr lang="en-US" smtClean="0"/>
              <a:t>5/10/2026</a:t>
            </a:fld>
            <a:endParaRPr lang="en-US"/>
          </a:p>
        </p:txBody>
      </p:sp>
      <p:sp>
        <p:nvSpPr>
          <p:cNvPr id="5" name="Footer Placeholder 4"/>
          <p:cNvSpPr>
            <a:spLocks noGrp="1"/>
          </p:cNvSpPr>
          <p:nvPr>
            <p:ph type="ftr" sz="quarter" idx="11"/>
          </p:nvPr>
        </p:nvSpPr>
        <p:spPr>
          <a:xfrm>
            <a:off x="1905000" y="6175519"/>
            <a:ext cx="57912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TOPIC 4:BENCHMARKING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228600" y="1205048"/>
            <a:ext cx="8686800" cy="2460232"/>
          </a:xfrm>
          <a:prstGeom prst="rect">
            <a:avLst/>
          </a:prstGeom>
        </p:spPr>
        <p:txBody>
          <a:bodyPr wrap="square">
            <a:spAutoFit/>
          </a:bodyPr>
          <a:lstStyle/>
          <a:p>
            <a:r>
              <a:rPr lang="en-IN" sz="2000" b="1" dirty="0">
                <a:latin typeface="Calibri (Body)"/>
              </a:rPr>
              <a:t>BENCHMARKING</a:t>
            </a:r>
          </a:p>
          <a:p>
            <a:endParaRPr lang="en-IN" sz="2000" b="1" dirty="0">
              <a:latin typeface="Calibri (Body)"/>
            </a:endParaRPr>
          </a:p>
          <a:p>
            <a:pPr marL="285750" indent="-285750" algn="just">
              <a:buFont typeface="Arial" panose="020B0604020202020204" pitchFamily="34" charset="0"/>
              <a:buChar char="•"/>
            </a:pPr>
            <a:r>
              <a:rPr lang="en-US" b="1" dirty="0">
                <a:latin typeface="Calibri (Body)"/>
              </a:rPr>
              <a:t>"Benchmarking</a:t>
            </a:r>
            <a:r>
              <a:rPr lang="en-US" dirty="0">
                <a:latin typeface="Calibri (Body)"/>
              </a:rPr>
              <a:t>: A continuous, systematic process of evaluating and comparing the capability of one organization with others normally recognized as industry leaders, for insights for optimizing the organizations processes." </a:t>
            </a:r>
          </a:p>
          <a:p>
            <a:pPr marL="285750" indent="-285750" algn="just">
              <a:buFont typeface="Arial" panose="020B0604020202020204" pitchFamily="34" charset="0"/>
              <a:buChar char="•"/>
            </a:pPr>
            <a:endParaRPr lang="en-US" dirty="0">
              <a:latin typeface="Calibri (Body)"/>
            </a:endParaRPr>
          </a:p>
          <a:p>
            <a:pPr marL="285750" indent="-285750" algn="just">
              <a:buFont typeface="Arial" panose="020B0604020202020204" pitchFamily="34" charset="0"/>
              <a:buChar char="•"/>
            </a:pPr>
            <a:r>
              <a:rPr lang="en-US" dirty="0"/>
              <a:t>Benchmarking is the process of comparing organizational performance with best-performing organizations to improve quality and efficiency.</a:t>
            </a:r>
            <a:endParaRPr lang="en-US" dirty="0">
              <a:latin typeface="Calibri (Body)"/>
            </a:endParaRPr>
          </a:p>
        </p:txBody>
      </p:sp>
      <p:sp>
        <p:nvSpPr>
          <p:cNvPr id="8" name="TextBox 7">
            <a:extLst>
              <a:ext uri="{FF2B5EF4-FFF2-40B4-BE49-F238E27FC236}">
                <a16:creationId xmlns:a16="http://schemas.microsoft.com/office/drawing/2014/main" id="{3474C258-E566-25B5-F3BD-6CB478DDDCFE}"/>
              </a:ext>
            </a:extLst>
          </p:cNvPr>
          <p:cNvSpPr txBox="1"/>
          <p:nvPr/>
        </p:nvSpPr>
        <p:spPr>
          <a:xfrm>
            <a:off x="69602" y="3590196"/>
            <a:ext cx="6477000" cy="2585323"/>
          </a:xfrm>
          <a:prstGeom prst="rect">
            <a:avLst/>
          </a:prstGeom>
          <a:noFill/>
        </p:spPr>
        <p:txBody>
          <a:bodyPr wrap="square">
            <a:spAutoFit/>
          </a:bodyPr>
          <a:lstStyle/>
          <a:p>
            <a:pPr>
              <a:buNone/>
            </a:pPr>
            <a:r>
              <a:rPr lang="en-US" b="1" dirty="0">
                <a:solidFill>
                  <a:srgbClr val="FF0000"/>
                </a:solidFill>
              </a:rPr>
              <a:t>Types of Benchmarking</a:t>
            </a:r>
          </a:p>
          <a:p>
            <a:pPr>
              <a:buNone/>
            </a:pPr>
            <a:r>
              <a:rPr lang="en-US" b="1" dirty="0"/>
              <a:t>1. Internal Benchmarking</a:t>
            </a:r>
          </a:p>
          <a:p>
            <a:pPr>
              <a:buNone/>
            </a:pPr>
            <a:r>
              <a:rPr lang="en-US" dirty="0"/>
              <a:t>Comparison within same organization.</a:t>
            </a:r>
          </a:p>
          <a:p>
            <a:pPr>
              <a:buNone/>
            </a:pPr>
            <a:r>
              <a:rPr lang="en-US" b="1" dirty="0"/>
              <a:t>2. Competitive Benchmarking</a:t>
            </a:r>
          </a:p>
          <a:p>
            <a:pPr>
              <a:buNone/>
            </a:pPr>
            <a:r>
              <a:rPr lang="en-US" dirty="0"/>
              <a:t>Comparison with competitors.</a:t>
            </a:r>
          </a:p>
          <a:p>
            <a:pPr>
              <a:buNone/>
            </a:pPr>
            <a:r>
              <a:rPr lang="en-US" b="1" dirty="0"/>
              <a:t>3. Functional Benchmarking</a:t>
            </a:r>
          </a:p>
          <a:p>
            <a:pPr>
              <a:buNone/>
            </a:pPr>
            <a:r>
              <a:rPr lang="en-US" dirty="0"/>
              <a:t>Comparison with organizations having similar functions.</a:t>
            </a:r>
          </a:p>
          <a:p>
            <a:pPr>
              <a:buNone/>
            </a:pPr>
            <a:r>
              <a:rPr lang="en-US" b="1" dirty="0"/>
              <a:t>4. Generic Benchmarking</a:t>
            </a:r>
          </a:p>
          <a:p>
            <a:pPr>
              <a:buNone/>
            </a:pPr>
            <a:r>
              <a:rPr lang="en-US" dirty="0"/>
              <a:t>Comparison of general business processes.</a:t>
            </a:r>
          </a:p>
        </p:txBody>
      </p:sp>
      <p:sp>
        <p:nvSpPr>
          <p:cNvPr id="10" name="TextBox 9">
            <a:extLst>
              <a:ext uri="{FF2B5EF4-FFF2-40B4-BE49-F238E27FC236}">
                <a16:creationId xmlns:a16="http://schemas.microsoft.com/office/drawing/2014/main" id="{4E6532EE-E5E2-4F3C-832C-CA03E7410145}"/>
              </a:ext>
            </a:extLst>
          </p:cNvPr>
          <p:cNvSpPr txBox="1"/>
          <p:nvPr/>
        </p:nvSpPr>
        <p:spPr>
          <a:xfrm>
            <a:off x="4572000" y="3665280"/>
            <a:ext cx="4599214" cy="1477328"/>
          </a:xfrm>
          <a:prstGeom prst="rect">
            <a:avLst/>
          </a:prstGeom>
          <a:noFill/>
        </p:spPr>
        <p:txBody>
          <a:bodyPr wrap="square">
            <a:spAutoFit/>
          </a:bodyPr>
          <a:lstStyle/>
          <a:p>
            <a:pPr>
              <a:buNone/>
            </a:pPr>
            <a:r>
              <a:rPr lang="en-US" b="1" dirty="0">
                <a:solidFill>
                  <a:srgbClr val="FF0000"/>
                </a:solidFill>
              </a:rPr>
              <a:t>Advantages of Benchmarking</a:t>
            </a:r>
          </a:p>
          <a:p>
            <a:pPr>
              <a:buFont typeface="Arial" panose="020B0604020202020204" pitchFamily="34" charset="0"/>
              <a:buChar char="•"/>
            </a:pPr>
            <a:r>
              <a:rPr lang="en-US" dirty="0"/>
              <a:t>Improves quality </a:t>
            </a:r>
          </a:p>
          <a:p>
            <a:pPr>
              <a:buFont typeface="Arial" panose="020B0604020202020204" pitchFamily="34" charset="0"/>
              <a:buChar char="•"/>
            </a:pPr>
            <a:r>
              <a:rPr lang="en-US" dirty="0"/>
              <a:t>Increases efficiency </a:t>
            </a:r>
          </a:p>
          <a:p>
            <a:pPr>
              <a:buFont typeface="Arial" panose="020B0604020202020204" pitchFamily="34" charset="0"/>
              <a:buChar char="•"/>
            </a:pPr>
            <a:r>
              <a:rPr lang="en-US" dirty="0"/>
              <a:t>Encourages innovation </a:t>
            </a:r>
          </a:p>
          <a:p>
            <a:pPr>
              <a:buFont typeface="Arial" panose="020B0604020202020204" pitchFamily="34" charset="0"/>
              <a:buChar char="•"/>
            </a:pPr>
            <a:r>
              <a:rPr lang="en-US" dirty="0"/>
              <a:t>Enhances customer satisfaction</a:t>
            </a:r>
          </a:p>
        </p:txBody>
      </p:sp>
    </p:spTree>
    <p:extLst>
      <p:ext uri="{BB962C8B-B14F-4D97-AF65-F5344CB8AC3E}">
        <p14:creationId xmlns:p14="http://schemas.microsoft.com/office/powerpoint/2010/main" val="1339775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E63FCB-F7D3-42CA-A28B-BE1CCC177941}" type="datetime1">
              <a:rPr lang="en-US" smtClean="0"/>
              <a:t>5/10/2026</a:t>
            </a:fld>
            <a:endParaRPr lang="en-US"/>
          </a:p>
        </p:txBody>
      </p:sp>
      <p:sp>
        <p:nvSpPr>
          <p:cNvPr id="5" name="Footer Placeholder 4"/>
          <p:cNvSpPr>
            <a:spLocks noGrp="1"/>
          </p:cNvSpPr>
          <p:nvPr>
            <p:ph type="ftr" sz="quarter" idx="11"/>
          </p:nvPr>
        </p:nvSpPr>
        <p:spPr>
          <a:xfrm>
            <a:off x="1905000" y="6120976"/>
            <a:ext cx="57150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STEPS IN 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pic>
        <p:nvPicPr>
          <p:cNvPr id="2" name="Picture 1"/>
          <p:cNvPicPr>
            <a:picLocks noChangeAspect="1"/>
          </p:cNvPicPr>
          <p:nvPr/>
        </p:nvPicPr>
        <p:blipFill>
          <a:blip r:embed="rId3"/>
          <a:stretch>
            <a:fillRect/>
          </a:stretch>
        </p:blipFill>
        <p:spPr>
          <a:xfrm>
            <a:off x="228600" y="1281362"/>
            <a:ext cx="5943600" cy="4839614"/>
          </a:xfrm>
          <a:prstGeom prst="rect">
            <a:avLst/>
          </a:prstGeom>
        </p:spPr>
      </p:pic>
      <p:sp>
        <p:nvSpPr>
          <p:cNvPr id="8" name="TextBox 7">
            <a:extLst>
              <a:ext uri="{FF2B5EF4-FFF2-40B4-BE49-F238E27FC236}">
                <a16:creationId xmlns:a16="http://schemas.microsoft.com/office/drawing/2014/main" id="{36B563C3-3704-B17E-AF7A-BB07DBE33D11}"/>
              </a:ext>
            </a:extLst>
          </p:cNvPr>
          <p:cNvSpPr txBox="1"/>
          <p:nvPr/>
        </p:nvSpPr>
        <p:spPr>
          <a:xfrm>
            <a:off x="6096000" y="1508329"/>
            <a:ext cx="2846614" cy="4247317"/>
          </a:xfrm>
          <a:prstGeom prst="rect">
            <a:avLst/>
          </a:prstGeom>
          <a:noFill/>
        </p:spPr>
        <p:txBody>
          <a:bodyPr wrap="square">
            <a:spAutoFit/>
          </a:bodyPr>
          <a:lstStyle/>
          <a:p>
            <a:pPr>
              <a:buNone/>
            </a:pPr>
            <a:r>
              <a:rPr lang="en-US" b="1" dirty="0"/>
              <a:t>1. Planning</a:t>
            </a:r>
          </a:p>
          <a:p>
            <a:pPr>
              <a:buNone/>
            </a:pPr>
            <a:r>
              <a:rPr lang="en-US" dirty="0"/>
              <a:t>Identify process to benchmark.</a:t>
            </a:r>
          </a:p>
          <a:p>
            <a:pPr>
              <a:buNone/>
            </a:pPr>
            <a:r>
              <a:rPr lang="en-US" b="1" dirty="0"/>
              <a:t>2. Data Collection</a:t>
            </a:r>
          </a:p>
          <a:p>
            <a:pPr>
              <a:buNone/>
            </a:pPr>
            <a:r>
              <a:rPr lang="en-US" dirty="0"/>
              <a:t>Collect information from best organizations.</a:t>
            </a:r>
          </a:p>
          <a:p>
            <a:pPr>
              <a:buNone/>
            </a:pPr>
            <a:r>
              <a:rPr lang="en-US" b="1" dirty="0"/>
              <a:t>3. Analysis</a:t>
            </a:r>
          </a:p>
          <a:p>
            <a:pPr>
              <a:buNone/>
            </a:pPr>
            <a:r>
              <a:rPr lang="en-US" dirty="0"/>
              <a:t>Compare performance gaps.</a:t>
            </a:r>
          </a:p>
          <a:p>
            <a:pPr>
              <a:buNone/>
            </a:pPr>
            <a:r>
              <a:rPr lang="en-US" b="1" dirty="0"/>
              <a:t>4. Integration</a:t>
            </a:r>
          </a:p>
          <a:p>
            <a:pPr>
              <a:buNone/>
            </a:pPr>
            <a:r>
              <a:rPr lang="en-US" dirty="0"/>
              <a:t>Set improvement goals.</a:t>
            </a:r>
          </a:p>
          <a:p>
            <a:pPr>
              <a:buNone/>
            </a:pPr>
            <a:r>
              <a:rPr lang="en-US" b="1" dirty="0"/>
              <a:t>5. Implementation</a:t>
            </a:r>
          </a:p>
          <a:p>
            <a:pPr>
              <a:buNone/>
            </a:pPr>
            <a:r>
              <a:rPr lang="en-US" dirty="0"/>
              <a:t>Apply best practices.</a:t>
            </a:r>
          </a:p>
          <a:p>
            <a:pPr>
              <a:buNone/>
            </a:pPr>
            <a:r>
              <a:rPr lang="en-US" b="1" dirty="0"/>
              <a:t>6. Review</a:t>
            </a:r>
          </a:p>
          <a:p>
            <a:pPr>
              <a:buNone/>
            </a:pPr>
            <a:r>
              <a:rPr lang="en-US" dirty="0"/>
              <a:t>Monitor results continuously.</a:t>
            </a:r>
          </a:p>
        </p:txBody>
      </p:sp>
    </p:spTree>
    <p:extLst>
      <p:ext uri="{BB962C8B-B14F-4D97-AF65-F5344CB8AC3E}">
        <p14:creationId xmlns:p14="http://schemas.microsoft.com/office/powerpoint/2010/main" val="4003761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11AA42D-25A8-410B-BE20-E7EA8EC7B29D}" type="datetime1">
              <a:rPr lang="en-US" smtClean="0"/>
              <a:t>5/10/2026</a:t>
            </a:fld>
            <a:endParaRPr lang="en-US"/>
          </a:p>
        </p:txBody>
      </p:sp>
      <p:sp>
        <p:nvSpPr>
          <p:cNvPr id="5" name="Footer Placeholder 4"/>
          <p:cNvSpPr>
            <a:spLocks noGrp="1"/>
          </p:cNvSpPr>
          <p:nvPr>
            <p:ph type="ftr" sz="quarter" idx="11"/>
          </p:nvPr>
        </p:nvSpPr>
        <p:spPr>
          <a:xfrm>
            <a:off x="1981200" y="6356350"/>
            <a:ext cx="5638800" cy="365125"/>
          </a:xfrm>
        </p:spPr>
        <p:txBody>
          <a:bodyPr/>
          <a:lstStyle/>
          <a:p>
            <a:r>
              <a:rPr lang="en-US" sz="2000"/>
              <a:t>Mr. Minhaj Nezami     AOE0861    TQM      Unit 3</a:t>
            </a:r>
            <a:endParaRPr lang="en-US" sz="2000" dirty="0"/>
          </a:p>
        </p:txBody>
      </p:sp>
      <p:sp>
        <p:nvSpPr>
          <p:cNvPr id="2" name="Rectangle 1"/>
          <p:cNvSpPr/>
          <p:nvPr/>
        </p:nvSpPr>
        <p:spPr>
          <a:xfrm>
            <a:off x="1" y="200807"/>
            <a:ext cx="6208256" cy="1631216"/>
          </a:xfrm>
          <a:prstGeom prst="rect">
            <a:avLst/>
          </a:prstGeom>
        </p:spPr>
        <p:txBody>
          <a:bodyPr wrap="square">
            <a:spAutoFit/>
          </a:bodyPr>
          <a:lstStyle/>
          <a:p>
            <a:r>
              <a:rPr lang="en-IN" sz="2000" b="1" dirty="0">
                <a:solidFill>
                  <a:srgbClr val="FF0000"/>
                </a:solidFill>
                <a:latin typeface="Calibri (Body)"/>
              </a:rPr>
              <a:t>THE BENCHMARKING PROCESS</a:t>
            </a:r>
          </a:p>
          <a:p>
            <a:endParaRPr lang="en-IN" sz="2000" b="1" dirty="0">
              <a:latin typeface="Calibri (Body)"/>
            </a:endParaRPr>
          </a:p>
          <a:p>
            <a:pPr algn="just"/>
            <a:r>
              <a:rPr lang="en-US" sz="2000" dirty="0">
                <a:latin typeface="Calibri (Body)"/>
              </a:rPr>
              <a:t>The formal 10-step benchmarking process is shown in outline below:</a:t>
            </a:r>
          </a:p>
          <a:p>
            <a:pPr algn="just"/>
            <a:endParaRPr lang="en-US" sz="2000" dirty="0">
              <a:latin typeface="Calibri (Body)"/>
            </a:endParaRPr>
          </a:p>
        </p:txBody>
      </p:sp>
      <p:sp>
        <p:nvSpPr>
          <p:cNvPr id="10" name="TextBox 9">
            <a:extLst>
              <a:ext uri="{FF2B5EF4-FFF2-40B4-BE49-F238E27FC236}">
                <a16:creationId xmlns:a16="http://schemas.microsoft.com/office/drawing/2014/main" id="{4D1A36AF-2F33-028B-6E17-2A8CECF04BE6}"/>
              </a:ext>
            </a:extLst>
          </p:cNvPr>
          <p:cNvSpPr txBox="1"/>
          <p:nvPr/>
        </p:nvSpPr>
        <p:spPr>
          <a:xfrm>
            <a:off x="228600" y="1295400"/>
            <a:ext cx="6208256" cy="313932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dirty="0">
                <a:latin typeface="Arial" panose="020B0604020202020204" pitchFamily="34" charset="0"/>
              </a:rPr>
              <a:t>I</a:t>
            </a:r>
            <a:r>
              <a:rPr kumimoji="0" lang="en-US" altLang="en-US" sz="1800" b="0" i="0" u="none" strike="noStrike" cap="none" normalizeH="0" baseline="0" dirty="0">
                <a:ln>
                  <a:noFill/>
                </a:ln>
                <a:solidFill>
                  <a:schemeClr val="tx1"/>
                </a:solidFill>
                <a:effectLst/>
                <a:latin typeface="Arial" panose="020B0604020202020204" pitchFamily="34" charset="0"/>
              </a:rPr>
              <a:t>dentify the Process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Identify Benchmarking Partners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Determine Data Collection Method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Collect Data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Analyze Performance Gap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Identify Best Practices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Set Improvement Goals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Develop Action Plans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Implement Improvements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Review and Monitor Results </a:t>
            </a:r>
          </a:p>
        </p:txBody>
      </p:sp>
      <p:sp>
        <p:nvSpPr>
          <p:cNvPr id="14" name="TextBox 13">
            <a:extLst>
              <a:ext uri="{FF2B5EF4-FFF2-40B4-BE49-F238E27FC236}">
                <a16:creationId xmlns:a16="http://schemas.microsoft.com/office/drawing/2014/main" id="{43CB4E95-E1D8-BCE8-CF8B-889364ABD479}"/>
              </a:ext>
            </a:extLst>
          </p:cNvPr>
          <p:cNvSpPr txBox="1"/>
          <p:nvPr/>
        </p:nvSpPr>
        <p:spPr>
          <a:xfrm>
            <a:off x="4833257" y="1295400"/>
            <a:ext cx="3091543" cy="369332"/>
          </a:xfrm>
          <a:prstGeom prst="rect">
            <a:avLst/>
          </a:prstGeom>
          <a:noFill/>
        </p:spPr>
        <p:txBody>
          <a:bodyPr wrap="square">
            <a:spAutoFit/>
          </a:bodyPr>
          <a:lstStyle/>
          <a:p>
            <a:r>
              <a:rPr lang="en-IN" sz="1800" b="1" dirty="0">
                <a:solidFill>
                  <a:srgbClr val="FF0000"/>
                </a:solidFill>
                <a:latin typeface="Calibri (Body)"/>
              </a:rPr>
              <a:t>BENCHMARKING CONCEPT</a:t>
            </a:r>
            <a:endParaRPr lang="en-IN" sz="1800" dirty="0">
              <a:solidFill>
                <a:srgbClr val="FF0000"/>
              </a:solidFill>
              <a:latin typeface="Calibri (Body)"/>
            </a:endParaRPr>
          </a:p>
        </p:txBody>
      </p:sp>
      <p:pic>
        <p:nvPicPr>
          <p:cNvPr id="15" name="Picture 14">
            <a:extLst>
              <a:ext uri="{FF2B5EF4-FFF2-40B4-BE49-F238E27FC236}">
                <a16:creationId xmlns:a16="http://schemas.microsoft.com/office/drawing/2014/main" id="{551C434A-3E14-0EAC-19F6-6703C59807ED}"/>
              </a:ext>
            </a:extLst>
          </p:cNvPr>
          <p:cNvPicPr>
            <a:picLocks noChangeAspect="1"/>
          </p:cNvPicPr>
          <p:nvPr/>
        </p:nvPicPr>
        <p:blipFill>
          <a:blip r:embed="rId2"/>
          <a:stretch>
            <a:fillRect/>
          </a:stretch>
        </p:blipFill>
        <p:spPr>
          <a:xfrm>
            <a:off x="4188955" y="1832023"/>
            <a:ext cx="4953000" cy="2976741"/>
          </a:xfrm>
          <a:prstGeom prst="rect">
            <a:avLst/>
          </a:prstGeom>
        </p:spPr>
      </p:pic>
    </p:spTree>
    <p:extLst>
      <p:ext uri="{BB962C8B-B14F-4D97-AF65-F5344CB8AC3E}">
        <p14:creationId xmlns:p14="http://schemas.microsoft.com/office/powerpoint/2010/main" val="199330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E6801C-DF58-D191-EBEC-93EA6178235D}"/>
              </a:ext>
            </a:extLst>
          </p:cNvPr>
          <p:cNvSpPr>
            <a:spLocks noGrp="1"/>
          </p:cNvSpPr>
          <p:nvPr>
            <p:ph type="dt" sz="half" idx="10"/>
          </p:nvPr>
        </p:nvSpPr>
        <p:spPr/>
        <p:txBody>
          <a:bodyPr/>
          <a:lstStyle/>
          <a:p>
            <a:fld id="{A24D513E-320D-4702-BE5C-2F8BC1BD751E}" type="datetime1">
              <a:rPr lang="en-US" smtClean="0"/>
              <a:t>5/10/2026</a:t>
            </a:fld>
            <a:endParaRPr lang="en-US"/>
          </a:p>
        </p:txBody>
      </p:sp>
      <p:sp>
        <p:nvSpPr>
          <p:cNvPr id="3" name="Footer Placeholder 2">
            <a:extLst>
              <a:ext uri="{FF2B5EF4-FFF2-40B4-BE49-F238E27FC236}">
                <a16:creationId xmlns:a16="http://schemas.microsoft.com/office/drawing/2014/main" id="{2E457981-D4A6-7A79-8C14-1BEBB42C8EE6}"/>
              </a:ext>
            </a:extLst>
          </p:cNvPr>
          <p:cNvSpPr>
            <a:spLocks noGrp="1"/>
          </p:cNvSpPr>
          <p:nvPr>
            <p:ph type="ftr" sz="quarter" idx="11"/>
          </p:nvPr>
        </p:nvSpPr>
        <p:spPr/>
        <p:txBody>
          <a:bodyPr/>
          <a:lstStyle/>
          <a:p>
            <a:r>
              <a:rPr lang="en-US"/>
              <a:t>Mr. Minhaj Nezami     AOE0861    TQM      Unit 3</a:t>
            </a:r>
            <a:endParaRPr lang="en-US" dirty="0"/>
          </a:p>
        </p:txBody>
      </p:sp>
      <p:pic>
        <p:nvPicPr>
          <p:cNvPr id="5" name="Picture 4">
            <a:extLst>
              <a:ext uri="{FF2B5EF4-FFF2-40B4-BE49-F238E27FC236}">
                <a16:creationId xmlns:a16="http://schemas.microsoft.com/office/drawing/2014/main" id="{22EF46B4-6234-FAEA-1135-2A6289E8834F}"/>
              </a:ext>
            </a:extLst>
          </p:cNvPr>
          <p:cNvPicPr>
            <a:picLocks noChangeAspect="1"/>
          </p:cNvPicPr>
          <p:nvPr/>
        </p:nvPicPr>
        <p:blipFill>
          <a:blip r:embed="rId2"/>
          <a:stretch>
            <a:fillRect/>
          </a:stretch>
        </p:blipFill>
        <p:spPr>
          <a:xfrm>
            <a:off x="0" y="533400"/>
            <a:ext cx="9144000" cy="6290603"/>
          </a:xfrm>
          <a:prstGeom prst="rect">
            <a:avLst/>
          </a:prstGeom>
        </p:spPr>
      </p:pic>
      <p:sp>
        <p:nvSpPr>
          <p:cNvPr id="6" name="Rectangle 5">
            <a:extLst>
              <a:ext uri="{FF2B5EF4-FFF2-40B4-BE49-F238E27FC236}">
                <a16:creationId xmlns:a16="http://schemas.microsoft.com/office/drawing/2014/main" id="{872BCCCF-E7C5-2E72-1696-C2D157973684}"/>
              </a:ext>
            </a:extLst>
          </p:cNvPr>
          <p:cNvSpPr/>
          <p:nvPr/>
        </p:nvSpPr>
        <p:spPr>
          <a:xfrm>
            <a:off x="1219200" y="76200"/>
            <a:ext cx="5638800"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 TOPIC GIVEN THA</a:t>
            </a:r>
          </a:p>
        </p:txBody>
      </p:sp>
    </p:spTree>
    <p:extLst>
      <p:ext uri="{BB962C8B-B14F-4D97-AF65-F5344CB8AC3E}">
        <p14:creationId xmlns:p14="http://schemas.microsoft.com/office/powerpoint/2010/main" val="2403222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C0F35D-7809-4E95-B837-4CA4ED180B6E}">
  <ds:schemaRefs>
    <ds:schemaRef ds:uri="http://schemas.microsoft.com/sharepoint/v3/contenttype/forms"/>
  </ds:schemaRefs>
</ds:datastoreItem>
</file>

<file path=customXml/itemProps2.xml><?xml version="1.0" encoding="utf-8"?>
<ds:datastoreItem xmlns:ds="http://schemas.openxmlformats.org/officeDocument/2006/customXml" ds:itemID="{567E00AE-DBF7-41DC-AF99-2AC77E5AE299}">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http://purl.org/dc/elements/1.1/"/>
    <ds:schemaRef ds:uri="http://purl.org/dc/terms/"/>
    <ds:schemaRef ds:uri="e932ca28-9566-489e-9fb7-fd3ef7d89fed"/>
    <ds:schemaRef ds:uri="http://purl.org/dc/dcmitype/"/>
  </ds:schemaRefs>
</ds:datastoreItem>
</file>

<file path=customXml/itemProps3.xml><?xml version="1.0" encoding="utf-8"?>
<ds:datastoreItem xmlns:ds="http://schemas.openxmlformats.org/officeDocument/2006/customXml" ds:itemID="{61689278-191D-422A-95BC-1A448997F5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1633</TotalTime>
  <Words>1191</Words>
  <Application>Microsoft Office PowerPoint</Application>
  <PresentationFormat>On-screen Show (4:3)</PresentationFormat>
  <Paragraphs>163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(Body)</vt:lpstr>
      <vt:lpstr>Georgia</vt:lpstr>
      <vt:lpstr>Times New Roman</vt:lpstr>
      <vt:lpstr>Office Theme</vt:lpstr>
      <vt:lpstr> UNIT 3 </vt:lpstr>
      <vt:lpstr>TOPIC 1:The seven traditional tools of quality </vt:lpstr>
      <vt:lpstr>3.Ishikawa diagram (CO3)</vt:lpstr>
      <vt:lpstr> 5.Scatter diagram </vt:lpstr>
      <vt:lpstr> 7.Flow chart (CO3) </vt:lpstr>
      <vt:lpstr>TOPIC 2:New Management Tools</vt:lpstr>
      <vt:lpstr>PowerPoint Presentation</vt:lpstr>
      <vt:lpstr>  TOPIC 3:SIX SIGMA  </vt:lpstr>
      <vt:lpstr>SIX SIGMA </vt:lpstr>
      <vt:lpstr>  TOPIC 4:BENCHMARKING  </vt:lpstr>
      <vt:lpstr> STEPS IN BENCHMARKING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ganga soni</cp:lastModifiedBy>
  <cp:revision>233</cp:revision>
  <dcterms:created xsi:type="dcterms:W3CDTF">2020-05-17T16:59:18Z</dcterms:created>
  <dcterms:modified xsi:type="dcterms:W3CDTF">2026-05-10T13:17:38Z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