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66" r:id="rId3"/>
    <p:sldId id="267" r:id="rId4"/>
    <p:sldId id="268" r:id="rId5"/>
    <p:sldId id="269" r:id="rId6"/>
    <p:sldId id="270" r:id="rId7"/>
    <p:sldId id="272" r:id="rId8"/>
    <p:sldId id="273" r:id="rId9"/>
    <p:sldId id="271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6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>
      <p:cViewPr varScale="1">
        <p:scale>
          <a:sx n="79" d="100"/>
          <a:sy n="79" d="100"/>
        </p:scale>
        <p:origin x="109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8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894EF-B93C-4B6D-8FB8-8960BCB5A26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A4A95-7A0B-4549-9352-6E6525D64E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07A98-9A18-4E47-AF94-789022A0201E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5F52E-BA8C-4FAB-BCFA-C67A14D9CE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70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3A55-D983-4FB3-9580-AA4BF4FA7A3B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C273-0129-4A6B-861E-53B44AC791D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EBC8-1A3E-4424-8821-AA3D1B3576A3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2996-3BD3-4869-AF5E-276047418C71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6720-6425-4981-BB91-39ED03B69D0E}" type="datetime1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79B8-F65D-45BB-8F09-B81AF47D78A7}" type="datetime1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CE85C-6D16-4A7B-B206-4729A30ED7F3}" type="datetime1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D621-AFF3-4317-8258-8256DFFA2E8F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EF024-1CD7-4E8A-8D8C-5210B72A06BD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8403-09A5-4590-B118-B4D8BF078047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FCDD4-383D-46C3-A822-9DD0081BF51B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8E0C9-6445-45C2-9275-A60A0D26B585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0"/>
            <a:ext cx="9982200" cy="909036"/>
          </a:xfr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Greater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Noida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1213837"/>
            <a:ext cx="9372600" cy="1049938"/>
          </a:xfr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 Management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(AOE0865)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8382000" y="4351938"/>
            <a:ext cx="3200400" cy="129222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Rachna Sharma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CSE(DS)Department</a:t>
            </a:r>
          </a:p>
          <a:p>
            <a:pPr algn="ctr">
              <a:spcBef>
                <a:spcPct val="20000"/>
              </a:spcBef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027" name="Picture 3" descr="C:\Users\Manks\Downloads\128_calendar-schedule-credit-mortgage-date-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1905000" y="5943600"/>
            <a:ext cx="533400" cy="533400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1905000" y="6492876"/>
            <a:ext cx="2133600" cy="365125"/>
          </a:xfrm>
        </p:spPr>
        <p:txBody>
          <a:bodyPr/>
          <a:lstStyle/>
          <a:p>
            <a:fld id="{C0168FCC-424E-4AAC-AB34-BF0DCF42C414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1" name="Picture 4" descr="C:\Users\Manks\Downloads\speak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77400" y="2508250"/>
            <a:ext cx="1524000" cy="1524000"/>
          </a:xfrm>
          <a:prstGeom prst="rect">
            <a:avLst/>
          </a:prstGeom>
          <a:noFill/>
        </p:spPr>
      </p:pic>
      <p:sp>
        <p:nvSpPr>
          <p:cNvPr id="12" name="Subtitle 2"/>
          <p:cNvSpPr txBox="1">
            <a:spLocks/>
          </p:cNvSpPr>
          <p:nvPr/>
        </p:nvSpPr>
        <p:spPr>
          <a:xfrm>
            <a:off x="379771" y="2856532"/>
            <a:ext cx="2057400" cy="5334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Unit: 5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01"/>
            <a:ext cx="5029200" cy="365125"/>
          </a:xfrm>
        </p:spPr>
        <p:txBody>
          <a:bodyPr/>
          <a:lstStyle/>
          <a:p>
            <a:r>
              <a:rPr lang="nl-NL"/>
              <a:t>Ms.Rachna             AOE0865 &amp; CRM                5</a:t>
            </a:r>
            <a:endParaRPr lang="en-US" dirty="0"/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41670" y="3749675"/>
            <a:ext cx="5144730" cy="104993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25000" lnSpcReduction="20000"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1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5: </a:t>
            </a:r>
            <a:r>
              <a:rPr lang="en-IN" sz="1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Emerging Dimensions of</a:t>
            </a:r>
          </a:p>
          <a:p>
            <a:pPr algn="ctr">
              <a:spcBef>
                <a:spcPct val="20000"/>
              </a:spcBef>
              <a:defRPr/>
            </a:pPr>
            <a:r>
              <a:rPr lang="en-IN" sz="1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CRM</a:t>
            </a:r>
          </a:p>
          <a:p>
            <a:pPr algn="ctr">
              <a:spcBef>
                <a:spcPct val="20000"/>
              </a:spcBef>
              <a:defRPr/>
            </a:pPr>
            <a:r>
              <a:rPr lang="en-IN" sz="2400" b="1" dirty="0">
                <a:solidFill>
                  <a:schemeClr val="tx1"/>
                </a:solidFill>
              </a:rPr>
              <a:t> 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457200" y="5066182"/>
            <a:ext cx="4191000" cy="838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Tech  8th Sem</a:t>
            </a:r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1AB1F46-F1A3-2DF2-5EE0-F05547C4DD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8EEDF-2940-BAF7-09C0-6097AC121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5A30-ABA3-48F8-8659-1FB26EAFE23B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0464-A4CC-6262-BBDE-D74722C1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07C26-A1AE-047B-9CB7-F58BAA85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6C86620E-CA84-CACA-0B07-8B7C9C7695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D23094E-AECE-5737-A20D-727207607633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0A03F-6DCA-73EC-4740-2AA4FA84794E}"/>
              </a:ext>
            </a:extLst>
          </p:cNvPr>
          <p:cNvSpPr txBox="1"/>
          <p:nvPr/>
        </p:nvSpPr>
        <p:spPr>
          <a:xfrm>
            <a:off x="1104900" y="1353328"/>
            <a:ext cx="76220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Emerging CRM Dimensions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7890B-A7F1-8A5C-49F8-81EB61BD87D1}"/>
              </a:ext>
            </a:extLst>
          </p:cNvPr>
          <p:cNvSpPr txBox="1"/>
          <p:nvPr/>
        </p:nvSpPr>
        <p:spPr>
          <a:xfrm>
            <a:off x="1104900" y="1916599"/>
            <a:ext cx="89095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is evolving with advancements in technology and changing customer expectations.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customer experience, AI, cloud computing, and real-time tools.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 the emerging dimensions and their impact on business.</a:t>
            </a:r>
          </a:p>
        </p:txBody>
      </p:sp>
    </p:spTree>
    <p:extLst>
      <p:ext uri="{BB962C8B-B14F-4D97-AF65-F5344CB8AC3E}">
        <p14:creationId xmlns:p14="http://schemas.microsoft.com/office/powerpoint/2010/main" val="12259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11939-CCE0-D91C-CE75-F6512CE6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8258-EB95-4881-9282-47A4B82D845B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5C49D-D934-64E5-4BD9-E06944B7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977C0-40F0-71D2-9DE1-140D4697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DD1AED99-6255-9F51-137B-FE0DF3F5DA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4D9469F-3C7D-23DD-6012-57B2483F7EE4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48C82-F95A-8C97-828B-6C8941EAD4F5}"/>
              </a:ext>
            </a:extLst>
          </p:cNvPr>
          <p:cNvSpPr txBox="1"/>
          <p:nvPr/>
        </p:nvSpPr>
        <p:spPr>
          <a:xfrm>
            <a:off x="1099984" y="1524000"/>
            <a:ext cx="6123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Experience Concepts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28DA0-447E-BF3C-1895-4FC29427DD58}"/>
              </a:ext>
            </a:extLst>
          </p:cNvPr>
          <p:cNvSpPr txBox="1"/>
          <p:nvPr/>
        </p:nvSpPr>
        <p:spPr>
          <a:xfrm>
            <a:off x="1129481" y="2251471"/>
            <a:ext cx="84332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experience (CX) is the overall perception customers have of a company based on interactions.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across channels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support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loyalty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brand reputation</a:t>
            </a:r>
          </a:p>
        </p:txBody>
      </p:sp>
    </p:spTree>
    <p:extLst>
      <p:ext uri="{BB962C8B-B14F-4D97-AF65-F5344CB8AC3E}">
        <p14:creationId xmlns:p14="http://schemas.microsoft.com/office/powerpoint/2010/main" val="233734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1A60B-8414-FD41-FB7B-E01CBD93E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7F86-5699-4068-A40C-116692B1D62B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600ED-F92A-8B6F-FB06-51944F120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828CD-417B-D5B9-3A57-16D9E62E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A139F706-FC6C-446A-40CF-7B439046C5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F42B097-0946-BFC0-F854-34F1FF7472A2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07CC9-3B2D-21E8-6174-65731895A532}"/>
              </a:ext>
            </a:extLst>
          </p:cNvPr>
          <p:cNvSpPr txBox="1"/>
          <p:nvPr/>
        </p:nvSpPr>
        <p:spPr>
          <a:xfrm>
            <a:off x="1139313" y="1828800"/>
            <a:ext cx="822668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Customer Experience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customer feedback to improve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customer journeys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data analytics for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platforms with CX features (e.g., Salesforce, HubSpot)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485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2C6BC-A402-AF35-6E0B-69ADD750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B9B2C-904E-47C1-9AFD-B7BAA08205C7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3D68C-FBCD-F334-2F55-5C994A8D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8E0AB-3FD7-5335-587B-AB09DA4F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B967F-2C72-F84D-CACA-F116EA995568}"/>
              </a:ext>
            </a:extLst>
          </p:cNvPr>
          <p:cNvSpPr txBox="1"/>
          <p:nvPr/>
        </p:nvSpPr>
        <p:spPr>
          <a:xfrm>
            <a:off x="1219200" y="1828800"/>
            <a:ext cx="8178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CRM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social media platforms into CRM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listening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tracking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stronger customer relationships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feedback</a:t>
            </a:r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76645981-BB54-7541-BE2D-E7606B788A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F606373-6AE7-F0C3-6CCC-EBEE99ECE3F7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928487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B1C32-4685-13A9-D3DB-8AFD66E6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E08FC-5575-4401-9F92-5D900C91947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97CF3-0AFF-D03A-2808-BDDB6AEE0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0255C-9192-30F3-F9B9-230B3315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A45640A3-6121-E26C-2DB8-FB6AEF0AE3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75FB3A9-21DC-ADB8-7C71-C61E61F6BCB8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57D0BB-B961-42D2-D8D5-E379C8BCD191}"/>
              </a:ext>
            </a:extLst>
          </p:cNvPr>
          <p:cNvSpPr txBox="1"/>
          <p:nvPr/>
        </p:nvSpPr>
        <p:spPr>
          <a:xfrm>
            <a:off x="1077418" y="1916599"/>
            <a:ext cx="61234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CRM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managing customer relationships to achieve long-term business goals.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Portfolio Management (CPM)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Tools and Strategies</a:t>
            </a:r>
          </a:p>
        </p:txBody>
      </p:sp>
    </p:spTree>
    <p:extLst>
      <p:ext uri="{BB962C8B-B14F-4D97-AF65-F5344CB8AC3E}">
        <p14:creationId xmlns:p14="http://schemas.microsoft.com/office/powerpoint/2010/main" val="291294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FF065-0001-8866-A826-74248400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CDE4-3954-488C-82FE-8CEE417BD5C2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8E633-CDD0-B7A4-E365-6F32761C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7F04E-5E25-D3A0-8553-FBBA9E4E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 descr="What Is Social CRM? : Social Media Examiner">
            <a:extLst>
              <a:ext uri="{FF2B5EF4-FFF2-40B4-BE49-F238E27FC236}">
                <a16:creationId xmlns:a16="http://schemas.microsoft.com/office/drawing/2014/main" id="{1FCE7EDF-1EB8-86EC-746A-5E7DA715F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5" y="1295400"/>
            <a:ext cx="636905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1F97D71-3D0C-7887-3BCA-29D9064F95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EBD2DBA-A0A5-B711-CD6C-7A7EC838925B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819559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262F-D5AB-F7E7-24AC-61CE40531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CB61-BCE1-4E37-A14D-4B2A03C5EE13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CC8E3-052D-3A40-CBE9-B00FA5DA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8D84D-E6AE-A650-64D0-0AFB28DD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 descr="What Is Social CRM and Why Do Businesses Need It? - CRM Masters">
            <a:extLst>
              <a:ext uri="{FF2B5EF4-FFF2-40B4-BE49-F238E27FC236}">
                <a16:creationId xmlns:a16="http://schemas.microsoft.com/office/drawing/2014/main" id="{13F29A03-9B55-2531-A12C-69FCAB871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066800"/>
            <a:ext cx="8934450" cy="508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74DE008A-E068-F453-A2DD-89D18480F6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161EE5D-A580-CF03-CC25-70D2B3E5D146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988710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B15B0-4567-1360-BB63-4B544FA8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C2EC4-B433-4C2B-A546-2A62BE5E78F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890C2-09E1-4F3F-67E4-F8DAD88D9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A3FFF-E3D5-4856-5617-0376A8F1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95D76FEE-115B-6B0C-621A-CF4AD8997D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2F64F8E-5A09-6A1F-9165-D55F0D927668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C677E5-C987-60D0-6438-8DA9598A9A03}"/>
              </a:ext>
            </a:extLst>
          </p:cNvPr>
          <p:cNvSpPr txBox="1"/>
          <p:nvPr/>
        </p:nvSpPr>
        <p:spPr>
          <a:xfrm>
            <a:off x="1219200" y="1752600"/>
            <a:ext cx="612348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CRM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Applications in CRM: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for customer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for sales and marketing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 through 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tools like Einstein (Salesforce AI), Dynamics 365 AI</a:t>
            </a:r>
          </a:p>
        </p:txBody>
      </p:sp>
    </p:spTree>
    <p:extLst>
      <p:ext uri="{BB962C8B-B14F-4D97-AF65-F5344CB8AC3E}">
        <p14:creationId xmlns:p14="http://schemas.microsoft.com/office/powerpoint/2010/main" val="258342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F7E49-4777-FBD0-CC1A-570FC456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6333F-7DD4-469B-9924-1656B7890FF9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5AEE0-181D-41E3-E9B8-8611355E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9F92F-896C-997E-6B4A-17F60B34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074" name="Picture 2" descr="The Role of Machine Learning and Artificial Intelligence in CRM Software |  Go Wombat OU">
            <a:extLst>
              <a:ext uri="{FF2B5EF4-FFF2-40B4-BE49-F238E27FC236}">
                <a16:creationId xmlns:a16="http://schemas.microsoft.com/office/drawing/2014/main" id="{643F5870-4838-1EF8-943D-BB32658D5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1295400"/>
            <a:ext cx="10598149" cy="5060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35BC832F-02AD-CCC8-9C9B-B102023D33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D5ABF06-91ED-A10E-4CF0-8E5E4317FAD7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1841339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C11A6-DEEA-165A-8DF9-39E15576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DCEA6-7992-425F-9130-9853899F4BD9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BCE4D-8827-EF31-BFB2-C649C5B6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673AB-619A-93F2-394E-F4031F3C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DC694C-0CC0-2459-5D30-94724397D5A9}"/>
              </a:ext>
            </a:extLst>
          </p:cNvPr>
          <p:cNvSpPr txBox="1"/>
          <p:nvPr/>
        </p:nvSpPr>
        <p:spPr>
          <a:xfrm>
            <a:off x="1276555" y="1828800"/>
            <a:ext cx="8915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CRM and Big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CRM: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CRM hosted on cloud platforms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Scalability, flexibility, remote access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Zoho CRM, Salesforce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in CRM: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Customer segmentation, personalized marketing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Hadoop, Spark, AWS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BECA640F-374C-4C0C-9250-8206B0ABD7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3350D1A-819C-213C-F9F1-A4243C016528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57966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96BF8-B3E9-023B-2A6F-D00DEDB2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AAB83-9EE4-44F1-8F9E-491855A5EE2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A0AA1-6776-1E57-FCC2-547B15E57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25900-EDB3-7187-7F21-0734FCDE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098" name="Picture 2" descr="Cloud Big Data">
            <a:extLst>
              <a:ext uri="{FF2B5EF4-FFF2-40B4-BE49-F238E27FC236}">
                <a16:creationId xmlns:a16="http://schemas.microsoft.com/office/drawing/2014/main" id="{47F87E6C-A4F2-AADE-664D-3FD1C8FB6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10972800" cy="426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F751BF56-D36F-2A73-C43E-207EBF9FB3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CA2B85D-69DD-2699-4F40-04693EA409D3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769654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701C2-CC13-1A54-CCA3-4408FA5A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32F4-E399-40EC-B9D9-CB33B726604F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BC4F3-F307-6C81-85E3-89F78485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36F5E-1959-434B-9768-4E39BEB5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31AA1-6275-603A-2C90-FD00A158B26F}"/>
              </a:ext>
            </a:extLst>
          </p:cNvPr>
          <p:cNvSpPr txBox="1"/>
          <p:nvPr/>
        </p:nvSpPr>
        <p:spPr>
          <a:xfrm>
            <a:off x="1104900" y="1676400"/>
            <a:ext cx="89408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CRM Technologies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(Anything-as-a-Service)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 (Platform-as-a-Service)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(Infrastructure-as-a-Service)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infrastructure costs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system integration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6A98E974-D5B8-31CB-169A-40C1DE80F8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67E3DB-DF97-BC44-A22A-285742FEA1C3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1516928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63944-5BB8-7666-9927-AF6EFE502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498-3F5A-4670-AF84-08793D32B73A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E81C6-50E5-CA41-B047-0E5965DD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64849-DEE1-5AAA-8A80-E786F54DC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122" name="Picture 2" descr="CRM in 2024: Future Trends and Technologies Reshaping business">
            <a:extLst>
              <a:ext uri="{FF2B5EF4-FFF2-40B4-BE49-F238E27FC236}">
                <a16:creationId xmlns:a16="http://schemas.microsoft.com/office/drawing/2014/main" id="{A09B12E5-CDF5-EC2A-3691-511654CD2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143000"/>
            <a:ext cx="9829800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8832BC6-4460-3C6D-8E02-63096BF3CF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BACC472-5735-9369-95C9-374F78FB6D72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610555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BE7EA-0CF9-85CD-85AD-159B69DB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80EFD-A087-414A-96B6-0D242469414E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B57A1-1DF2-79F3-696B-7042047C1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D2011-72F1-0EB2-64D4-4E91A1E2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148" name="Picture 4" descr="The Future of CRM: Emerging Trends and Technologies | by Sagar Wani | Medium">
            <a:extLst>
              <a:ext uri="{FF2B5EF4-FFF2-40B4-BE49-F238E27FC236}">
                <a16:creationId xmlns:a16="http://schemas.microsoft.com/office/drawing/2014/main" id="{0094286E-2F1F-3B09-1983-A80110EF6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175" y="1219200"/>
            <a:ext cx="8810625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FE301B4-6195-5A2D-8491-0F1EC464D2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A1E3DF2-C12B-8687-FAE3-B8D8C6D0B49A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40545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9F927-B21B-1F4F-DE94-5E691792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15A6D-EBAD-4827-8C53-208E1A8D771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1A6B0-56E2-6BDF-966B-A3C7AF0B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C37FE-458C-FFA2-461E-9F899D0C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93564-EE99-BAB7-B088-396F178D9BF2}"/>
              </a:ext>
            </a:extLst>
          </p:cNvPr>
          <p:cNvSpPr txBox="1"/>
          <p:nvPr/>
        </p:nvSpPr>
        <p:spPr>
          <a:xfrm>
            <a:off x="1219200" y="1752600"/>
            <a:ext cx="60935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CRM Technologies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(Anything-as-a-Service)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 (Platform-as-a-Service)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 (Infrastructure-as-a-Service)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infrastructure costs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system integration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C0E48CAC-89DA-32F3-6FF0-E284DBCCB9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A37C2C9-D905-4C10-FB53-A683C1B7A147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385952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BA1A1-EF30-B2D8-C471-58D94F66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907B9-EA23-41AA-8079-CCFD11EFDFD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9E4FB-947E-6890-6566-D1698027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52395-CECA-5896-B668-0EB86144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5E7326A0-064E-3D3D-941E-CBDD89A5C8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3453A12-0D9B-8215-25D6-4ABE226267AB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678C6A-480C-CA77-F88B-AA76CEE3E4B6}"/>
              </a:ext>
            </a:extLst>
          </p:cNvPr>
          <p:cNvSpPr txBox="1"/>
          <p:nvPr/>
        </p:nvSpPr>
        <p:spPr>
          <a:xfrm>
            <a:off x="1219200" y="1447800"/>
            <a:ext cx="612348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CRM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 accessible via mobile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On-the-go access to customer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mobile apps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Zoho Mobile CRM, HubSpot Mobile CRM</a:t>
            </a:r>
          </a:p>
        </p:txBody>
      </p:sp>
    </p:spTree>
    <p:extLst>
      <p:ext uri="{BB962C8B-B14F-4D97-AF65-F5344CB8AC3E}">
        <p14:creationId xmlns:p14="http://schemas.microsoft.com/office/powerpoint/2010/main" val="4160993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111C4-EB03-8181-5C25-26FCDFE3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D2B81-60B1-4DCB-8903-C880D040E5C5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FA9DE-C41A-753E-2016-2D00AF35D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0B333-FC59-E71E-4C80-9544BA21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34C4FE-C9DF-D1AD-F0D7-B7AE31F45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17" y="1295400"/>
            <a:ext cx="9766366" cy="5060951"/>
          </a:xfrm>
          <a:prstGeom prst="rect">
            <a:avLst/>
          </a:prstGeom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943EA199-B628-673E-E5B0-AB93E244F1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8C355B0-3D7E-D7A4-4C54-655D4B78AEAC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730657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ACDF7-6978-C538-6326-AD1E9C18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955C2-A13C-442E-B050-B9040F7BCE0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04EB4-094E-9792-12C6-6883E1CC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E48F8-D714-A13A-7B4A-6A90C652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AD913522-D075-6BAE-645D-982D3B30E8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9C0ED4E-317D-29EE-5D7F-2FF01B0B4379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F61AC-5A1B-3D4A-B92F-0085082BE3B8}"/>
              </a:ext>
            </a:extLst>
          </p:cNvPr>
          <p:cNvSpPr txBox="1"/>
          <p:nvPr/>
        </p:nvSpPr>
        <p:spPr>
          <a:xfrm>
            <a:off x="1295400" y="1428452"/>
            <a:ext cx="851916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CRM Tools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Zoho CRM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NetSuite CRM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EBS CRM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workflows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other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decision-making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responsiveness</a:t>
            </a:r>
          </a:p>
        </p:txBody>
      </p:sp>
    </p:spTree>
    <p:extLst>
      <p:ext uri="{BB962C8B-B14F-4D97-AF65-F5344CB8AC3E}">
        <p14:creationId xmlns:p14="http://schemas.microsoft.com/office/powerpoint/2010/main" val="3719522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A218E-615C-438A-A8E4-97792E8E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CE2-FACF-47E0-A5E5-ED6DFE5EF6D3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27B8F-BF1A-3A9C-85A3-3DC7633C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E5DBC-EF84-5E91-0BC2-F7453326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FE30D-CE1E-287C-D47B-3FEE0E764BAE}"/>
              </a:ext>
            </a:extLst>
          </p:cNvPr>
          <p:cNvSpPr txBox="1"/>
          <p:nvPr/>
        </p:nvSpPr>
        <p:spPr>
          <a:xfrm>
            <a:off x="1104900" y="1752600"/>
            <a:ext cx="95504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CRM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and privacy concerns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legacy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implementation costs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up with rapid technology changes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4E066273-C331-EEBE-E129-A35E635F1F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77FD796-A72E-B175-C7AF-BDAD2FEED19A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782740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09246-EE02-9E8B-24FA-C7483C88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5EA8E-72CA-41A4-A5B1-80E20B036EC7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8EEFE-C94F-D7B9-881C-77D958CE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45F80-7E66-1108-44E6-BF10FB1F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170" name="Picture 2" descr="Challenges Of CRM: A Comprehensive Guide">
            <a:extLst>
              <a:ext uri="{FF2B5EF4-FFF2-40B4-BE49-F238E27FC236}">
                <a16:creationId xmlns:a16="http://schemas.microsoft.com/office/drawing/2014/main" id="{D94839AB-0761-5FAD-6F26-48D21A5AF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399608"/>
            <a:ext cx="714375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CC831C0B-40FC-26AD-9F27-2FF9DCE618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7F304E8-0C06-655A-2B85-AA05AD8483F6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4199534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5EBD3-4773-C66B-3DA3-EDD9B2FF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F7B07-E8D2-4CB5-B9E8-BFC8E2961A47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70DD7-23A9-6A64-A7ED-44439FD8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CAE32-1957-8727-4D23-BAAC08C9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14FBA4-89C8-0493-5B6A-E18B3B5FD546}"/>
              </a:ext>
            </a:extLst>
          </p:cNvPr>
          <p:cNvSpPr txBox="1"/>
          <p:nvPr/>
        </p:nvSpPr>
        <p:spPr>
          <a:xfrm>
            <a:off x="1295400" y="1676400"/>
            <a:ext cx="89916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of CRM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Opportunities: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personalization with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reach through social CRM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 via cloud technologies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decision-making with real-time tools</a:t>
            </a:r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D6AAB55D-255A-E29F-4F91-3886648799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823CCBF-24AE-236A-87AD-39DF82892501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2697147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1FBCF-55D9-E4EB-88F5-E0446E63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EB7E-E32D-4A61-AB1D-FCC0D16EBE99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B2735-F772-D8B9-4D37-8F9A18BD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4B82E-B7BB-9972-91DA-0350CD9A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8194" name="Picture 2" descr="Top 26 Opportunity Management CRM Software in 2024 - Reviews, Features,  Pricing, Comparison - PAT RESEARCH: B2B Reviews, Buying Guides &amp; Best  Practices">
            <a:extLst>
              <a:ext uri="{FF2B5EF4-FFF2-40B4-BE49-F238E27FC236}">
                <a16:creationId xmlns:a16="http://schemas.microsoft.com/office/drawing/2014/main" id="{1E7239DE-21FF-E7EF-6A03-CBC040FCC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1295400"/>
            <a:ext cx="10085387" cy="5060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6149D050-9535-F8D4-ABDE-323AEA2B58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96A7D96-90BF-4AAB-15BB-D2D8A665BC43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3025381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33844-513B-2645-0B4C-9B6616F8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FD93-5BC0-44B0-885A-168870774191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2A4FC-F28C-C66F-2228-D44233C3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51840-F0AA-C4AC-7282-659D8496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94487-6003-EE73-EFB5-9DBA8F88BF3B}"/>
              </a:ext>
            </a:extLst>
          </p:cNvPr>
          <p:cNvSpPr txBox="1"/>
          <p:nvPr/>
        </p:nvSpPr>
        <p:spPr>
          <a:xfrm>
            <a:off x="1219200" y="1066800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MCQs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does CRM stand for?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A.Customer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Client Retention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Customer Resource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Consumer Retention Methods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Which of the following is an example of a Real-Time CRM Tool?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Adobe Photoshop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Zoho CRM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Microsoft Word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Canva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is the primary focus of Social CRM?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Data Warehousing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Financial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Engaging with customers through social media platforms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Manufacturing and supply chain management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342900" indent="-342900">
              <a:buAutoNum type="alphaUcPeriod"/>
            </a:pPr>
            <a:endParaRPr lang="en-US" dirty="0"/>
          </a:p>
          <a:p>
            <a:endParaRPr lang="en-US" dirty="0"/>
          </a:p>
        </p:txBody>
      </p:sp>
      <p:pic>
        <p:nvPicPr>
          <p:cNvPr id="9" name="Picture 8" descr="A black and red logo&#10;&#10;Description automatically generated">
            <a:extLst>
              <a:ext uri="{FF2B5EF4-FFF2-40B4-BE49-F238E27FC236}">
                <a16:creationId xmlns:a16="http://schemas.microsoft.com/office/drawing/2014/main" id="{62EB7BCC-83BE-5BD3-6D52-021459072D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35B2D97-BAEF-E2E8-58AC-CC04970D08D6}"/>
              </a:ext>
            </a:extLst>
          </p:cNvPr>
          <p:cNvSpPr txBox="1">
            <a:spLocks/>
          </p:cNvSpPr>
          <p:nvPr/>
        </p:nvSpPr>
        <p:spPr>
          <a:xfrm>
            <a:off x="2222910" y="2274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and Technology, Greater Noida</a:t>
            </a:r>
          </a:p>
        </p:txBody>
      </p:sp>
    </p:spTree>
    <p:extLst>
      <p:ext uri="{BB962C8B-B14F-4D97-AF65-F5344CB8AC3E}">
        <p14:creationId xmlns:p14="http://schemas.microsoft.com/office/powerpoint/2010/main" val="2343592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5C87-9F1F-8C0B-9876-5A73C662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D341-1F79-4442-A4D9-7BCD621BF643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5F9A6-FBC7-D8A1-FCE2-13D0863BE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12A17-5A3D-B769-E308-31BB4EFD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FD0CD-33E8-3E0A-3771-A6529D044CC8}"/>
              </a:ext>
            </a:extLst>
          </p:cNvPr>
          <p:cNvSpPr txBox="1"/>
          <p:nvPr/>
        </p:nvSpPr>
        <p:spPr>
          <a:xfrm>
            <a:off x="1117600" y="533400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technology is most commonly associated with Cloud CRM?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Hadoop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SaaS (Software-as-a-Service)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Blockchain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AR (Augmented Reality)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is NOT a feature of Artificial Intelligence in CRM?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Predictive Analytics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Automating mundane tasks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Static, unchangeable customer profiles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Chatbots for customer support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Which of these is NOT an emerging CRM technology?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IaaS (Infrastructure-as-a-Service)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PaaS (Platform-as-a-Service)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ERP (Enterprise Resource Planning)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(Anything-as-a-Service)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208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CBEBF-146D-0887-A5BA-0114D79D6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DC331-AB65-4049-BF3D-0C54D9BC3407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9AE5D-776B-3519-3D49-68B543F56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Ms.Rachna             AOE0865 &amp; CRM                5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AE2EE-8E21-5475-ACD3-F572A2E8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1E9E6F5D-1E2F-8609-0D72-799ACE2427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9C4D145-DA93-10C2-A22A-DE30D27B91F2}"/>
              </a:ext>
            </a:extLst>
          </p:cNvPr>
          <p:cNvSpPr txBox="1">
            <a:spLocks/>
          </p:cNvSpPr>
          <p:nvPr/>
        </p:nvSpPr>
        <p:spPr>
          <a:xfrm>
            <a:off x="2209800" y="0"/>
            <a:ext cx="9982200" cy="90903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8415F-81D0-281E-A19E-868B029ECF49}"/>
              </a:ext>
            </a:extLst>
          </p:cNvPr>
          <p:cNvSpPr txBox="1"/>
          <p:nvPr/>
        </p:nvSpPr>
        <p:spPr>
          <a:xfrm>
            <a:off x="1104900" y="1481996"/>
            <a:ext cx="9601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highly recommended books on the subject of Customer Relationship Management: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"Customer Relationship Management: Concepts and Technologies" – by Francis Buttle &amp; Stan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Maklan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Customer Relationship Management: A Strategic Approach" – by 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Shainesh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Jagdish N. Sheth W. Stallings, Data and Computer Communication, Macmillan Press </a:t>
            </a:r>
          </a:p>
          <a:p>
            <a:pPr marL="342900" indent="-342900" algn="just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CRM Handbook: A Business Guide to Customer Relationship Management" – by Jill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Dyché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Managing Customer Experience and Relationships: A Strategic Framework" – by Don Peppers &amp; Martha Rogers Bhavneet Sidhu, An Integrated approach to Computer Networks, Khanna Publishing House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Coursera – "Customer Relationship Management" (by IE Business School)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935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1E0C9-7AD7-434F-9AB1-5F97C3089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319" y="1365887"/>
            <a:ext cx="5369160" cy="3939959"/>
          </a:xfrm>
          <a:prstGeom prst="rect">
            <a:avLst/>
          </a:prstGeom>
        </p:spPr>
      </p:pic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52497" y="1056640"/>
            <a:ext cx="3197660" cy="31257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-2377440" y="3246120"/>
            <a:ext cx="5605272" cy="3657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nl-NL" sz="11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Ms.Rachna             AOE0865 &amp; CRM                5</a:t>
            </a:r>
            <a:endParaRPr lang="en-US" sz="1150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84796" y="5769149"/>
            <a:ext cx="2169006" cy="36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Aft>
                <a:spcPts val="600"/>
              </a:spcAft>
            </a:pPr>
            <a:fld id="{5FE3F0AE-B5B4-406C-8633-FCE5810B584B}" type="datetime1">
              <a:rPr lang="en-US" sz="1150" smtClean="0">
                <a:solidFill>
                  <a:srgbClr val="FFFFFF"/>
                </a:solidFill>
              </a:rPr>
              <a:t>5/1/2025</a:t>
            </a:fld>
            <a:endParaRPr lang="en-US" sz="115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84689" y="4887261"/>
            <a:ext cx="1669112" cy="100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6F15528-21DE-4FAA-801E-634DDDAF4B2B}" type="slidenum">
              <a:rPr lang="en-US" sz="66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en-US" sz="6600">
              <a:solidFill>
                <a:srgbClr val="FFFFFF"/>
              </a:solidFill>
            </a:endParaRPr>
          </a:p>
        </p:txBody>
      </p:sp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id="{4A0BCFEA-07AE-8123-A635-D4BA5CABA9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09800" cy="947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2733</TotalTime>
  <Words>1263</Words>
  <Application>Microsoft Office PowerPoint</Application>
  <PresentationFormat>Widescreen</PresentationFormat>
  <Paragraphs>258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Noida Institute of Engineering and Technology, Greater Noida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Manks</dc:creator>
  <cp:lastModifiedBy>Ms. Rachna Sharma</cp:lastModifiedBy>
  <cp:revision>79</cp:revision>
  <dcterms:created xsi:type="dcterms:W3CDTF">2006-08-16T00:00:00Z</dcterms:created>
  <dcterms:modified xsi:type="dcterms:W3CDTF">2025-05-01T04:19:24Z</dcterms:modified>
</cp:coreProperties>
</file>