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6" r:id="rId3"/>
    <p:sldId id="267" r:id="rId4"/>
    <p:sldId id="272" r:id="rId5"/>
    <p:sldId id="268" r:id="rId6"/>
    <p:sldId id="273" r:id="rId7"/>
    <p:sldId id="269" r:id="rId8"/>
    <p:sldId id="270" r:id="rId9"/>
    <p:sldId id="271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>
      <p:cViewPr varScale="1">
        <p:scale>
          <a:sx n="79" d="100"/>
          <a:sy n="79" d="100"/>
        </p:scale>
        <p:origin x="109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8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894EF-B93C-4B6D-8FB8-8960BCB5A26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A4A95-7A0B-4549-9352-6E6525D64E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07A98-9A18-4E47-AF94-789022A0201E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5F52E-BA8C-4FAB-BCFA-C67A14D9CE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F95F6-E0DD-4694-B64A-CE5337CF04E2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C602-506C-45B3-BA41-8E4D9E22FB2A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CE0A-835B-4927-91BA-E83D8A6365B7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D4D5F-40B9-4B2D-811E-F608ACE5E3B1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6D47-C04B-45A4-989A-EC0EB9CACFFE}" type="datetime1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9078-4439-41B0-ACD3-3DEF41C8CEE7}" type="datetime1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8D0F-41FB-4E1E-9ECB-877A885C7A6B}" type="datetime1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69D-A5E3-402B-8AB7-61D0B7848695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F700-11F7-4522-8FB6-A21CDD79E769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751-F7C5-4769-9447-E3A3E3F6CFC6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F94A-CA7E-4381-8693-995984C97083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19B74-49BD-43B3-AA1C-1D3C405C87A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0"/>
            <a:ext cx="9982200" cy="909036"/>
          </a:xfr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Greater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Noida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1213837"/>
            <a:ext cx="9372600" cy="1049938"/>
          </a:xfr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Relationship Management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(AOE0865)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8525656" y="4351937"/>
            <a:ext cx="2844800" cy="1363583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Rachna Sharma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CSE(DS) Department</a:t>
            </a:r>
          </a:p>
          <a:p>
            <a:pPr algn="ctr">
              <a:spcBef>
                <a:spcPct val="20000"/>
              </a:spcBef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027" name="Picture 3" descr="C:\Users\Manks\Downloads\128_calendar-schedule-credit-mortgage-date-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1905000" y="5943600"/>
            <a:ext cx="533400" cy="533400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1905000" y="6492876"/>
            <a:ext cx="2133600" cy="365125"/>
          </a:xfrm>
        </p:spPr>
        <p:txBody>
          <a:bodyPr/>
          <a:lstStyle/>
          <a:p>
            <a:fld id="{376514F3-FDF3-4C10-9104-AE4E732FE213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1" name="Picture 4" descr="C:\Users\Manks\Downloads\speak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77400" y="2508250"/>
            <a:ext cx="1524000" cy="1524000"/>
          </a:xfrm>
          <a:prstGeom prst="rect">
            <a:avLst/>
          </a:prstGeom>
          <a:noFill/>
        </p:spPr>
      </p:pic>
      <p:sp>
        <p:nvSpPr>
          <p:cNvPr id="12" name="Subtitle 2"/>
          <p:cNvSpPr txBox="1">
            <a:spLocks/>
          </p:cNvSpPr>
          <p:nvPr/>
        </p:nvSpPr>
        <p:spPr>
          <a:xfrm>
            <a:off x="341671" y="2895600"/>
            <a:ext cx="2057400" cy="5334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Unit: 4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01"/>
            <a:ext cx="5029200" cy="365125"/>
          </a:xfrm>
        </p:spPr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 dirty="0"/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341671" y="3749675"/>
            <a:ext cx="4191000" cy="8382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4: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CRM Analytics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341671" y="4805963"/>
            <a:ext cx="4191000" cy="8382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Tech  8th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8EEDF-2940-BAF7-09C0-6097AC121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7528-E408-4549-90E7-E5AA790A556E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0464-A4CC-6262-BBDE-D74722C1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07C26-A1AE-047B-9CB7-F58BAA85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6C86620E-CA84-CACA-0B07-8B7C9C7695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D23094E-AECE-5737-A20D-727207607633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5321C-773D-385C-0051-54E48D03A8B4}"/>
              </a:ext>
            </a:extLst>
          </p:cNvPr>
          <p:cNvSpPr txBox="1"/>
          <p:nvPr/>
        </p:nvSpPr>
        <p:spPr>
          <a:xfrm>
            <a:off x="1127023" y="1600200"/>
            <a:ext cx="61234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Analytical CRM</a:t>
            </a:r>
            <a:r>
              <a:rPr lang="en-IN" sz="2800" b="1" dirty="0"/>
              <a:t>?</a:t>
            </a:r>
            <a:endParaRPr lang="en-IN" sz="2800" dirty="0"/>
          </a:p>
          <a:p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18047-A35F-B2EC-8D6C-1AC37C44BA63}"/>
              </a:ext>
            </a:extLst>
          </p:cNvPr>
          <p:cNvSpPr txBox="1"/>
          <p:nvPr/>
        </p:nvSpPr>
        <p:spPr>
          <a:xfrm>
            <a:off x="1104900" y="2239764"/>
            <a:ext cx="61234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Analytical CRM focuses on analyzing customer data to improve business strategies, enhance customer satisfaction, and boost sales.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customer behavior and trends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customer needs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decision-making with data insights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 customer relationships and drive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122598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11939-CCE0-D91C-CE75-F6512CE6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DFF5-E8D2-48E9-82AA-D3EF7BB53AD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5C49D-D934-64E5-4BD9-E06944B7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977C0-40F0-71D2-9DE1-140D4697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DD1AED99-6255-9F51-137B-FE0DF3F5DA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4D9469F-3C7D-23DD-6012-57B2483F7EE4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pic>
        <p:nvPicPr>
          <p:cNvPr id="1026" name="Picture 2" descr="Analytical CRM : Benefits, Features and Top Tools Reviewed">
            <a:extLst>
              <a:ext uri="{FF2B5EF4-FFF2-40B4-BE49-F238E27FC236}">
                <a16:creationId xmlns:a16="http://schemas.microsoft.com/office/drawing/2014/main" id="{BAD2CB56-4550-926D-7233-16CEC47BC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09496"/>
            <a:ext cx="11430000" cy="499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34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0453D-8A94-19B3-8BDC-098970AED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FF05-13BE-45C2-9043-9B4A12616BAD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8FE02-3356-F4AF-74B3-0537216A3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FFD51-5C29-5A22-32CC-90721ABB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78C57C9B-3EE4-EB24-DA6C-0790F0F694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DBF5711-CA37-C5A0-2EEA-7471375FF174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A169B0-25B3-A28E-3B1B-6E6B4630BDE2}"/>
              </a:ext>
            </a:extLst>
          </p:cNvPr>
          <p:cNvSpPr txBox="1"/>
          <p:nvPr/>
        </p:nvSpPr>
        <p:spPr>
          <a:xfrm>
            <a:off x="1370559" y="1741534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for CRM Strategy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C923FE-192B-EE32-B6BE-DFA21D7D7A54}"/>
              </a:ext>
            </a:extLst>
          </p:cNvPr>
          <p:cNvSpPr txBox="1"/>
          <p:nvPr/>
        </p:nvSpPr>
        <p:spPr>
          <a:xfrm>
            <a:off x="1370559" y="2590800"/>
            <a:ext cx="94508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Analytics in CRM: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various customer touchpoints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and profiling of customers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for anticipating customer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Lifetime Value (CLV)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Promoter Score (NPS)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R, Power BI, Tableau</a:t>
            </a:r>
          </a:p>
        </p:txBody>
      </p:sp>
    </p:spTree>
    <p:extLst>
      <p:ext uri="{BB962C8B-B14F-4D97-AF65-F5344CB8AC3E}">
        <p14:creationId xmlns:p14="http://schemas.microsoft.com/office/powerpoint/2010/main" val="3943164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1A60B-8414-FD41-FB7B-E01CBD93E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85CAD-AE85-4099-8503-9174BF4B26FE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600ED-F92A-8B6F-FB06-51944F12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828CD-417B-D5B9-3A57-16D9E62E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A139F706-FC6C-446A-40CF-7B439046C5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F42B097-0946-BFC0-F854-34F1FF7472A2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7F1F8-A190-7F0C-4C5C-B3295A14D3EB}"/>
              </a:ext>
            </a:extLst>
          </p:cNvPr>
          <p:cNvSpPr txBox="1"/>
          <p:nvPr/>
        </p:nvSpPr>
        <p:spPr>
          <a:xfrm>
            <a:off x="1219200" y="1675289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in CRM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C1E644-466B-8906-61D8-B947F3D56623}"/>
              </a:ext>
            </a:extLst>
          </p:cNvPr>
          <p:cNvSpPr txBox="1"/>
          <p:nvPr/>
        </p:nvSpPr>
        <p:spPr>
          <a:xfrm>
            <a:off x="1219200" y="2667000"/>
            <a:ext cx="84856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Big Data?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Large, complex datasets from multiple sources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structured and unstructured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for CRM: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personalization and customer experiences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insights into customer behavior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predictive modeling for targeted marketing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Hadoop, Spark, AWS, Azure</a:t>
            </a:r>
          </a:p>
        </p:txBody>
      </p:sp>
    </p:spTree>
    <p:extLst>
      <p:ext uri="{BB962C8B-B14F-4D97-AF65-F5344CB8AC3E}">
        <p14:creationId xmlns:p14="http://schemas.microsoft.com/office/powerpoint/2010/main" val="1864851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C6A71-F044-CED4-EE51-E56F00D65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DB45-E9EC-487F-98D2-B2948D0659CD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17B91-AB45-4436-8CC9-36569F8F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3ADA4-68ED-2402-9628-37642CBA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 descr="Customer relationship management and big data enabled: Personalization &amp;  customization of services - ScienceDirect">
            <a:extLst>
              <a:ext uri="{FF2B5EF4-FFF2-40B4-BE49-F238E27FC236}">
                <a16:creationId xmlns:a16="http://schemas.microsoft.com/office/drawing/2014/main" id="{9165911A-E505-4ACD-2E55-ADB2A64F2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8991600" cy="434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50B6CB9-3111-8AEB-D820-AA87486809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427792A-62B3-C20C-E9AC-33569436B55F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3417764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2C6BC-A402-AF35-6E0B-69ADD7509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777C-7D0E-46CA-B277-0491B7E62E4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3D68C-FBCD-F334-2F55-5C994A8D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8E0AB-3FD7-5335-587B-AB09DA4F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6E93BEE-C27F-B4C1-A029-6C4A8C7494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4FD5C06-0EB5-6EC8-1462-042BFAE581D9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9AFC6F-5825-F428-C910-AE790BCC188F}"/>
              </a:ext>
            </a:extLst>
          </p:cNvPr>
          <p:cNvSpPr txBox="1"/>
          <p:nvPr/>
        </p:nvSpPr>
        <p:spPr>
          <a:xfrm>
            <a:off x="2241755" y="1731466"/>
            <a:ext cx="6123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Technology: Database Management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36D252-B4E2-271F-3825-64C98DBAAAF3}"/>
              </a:ext>
            </a:extLst>
          </p:cNvPr>
          <p:cNvSpPr txBox="1"/>
          <p:nvPr/>
        </p:nvSpPr>
        <p:spPr>
          <a:xfrm>
            <a:off x="2209800" y="2394600"/>
            <a:ext cx="78485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Storing and organizing customer data systematically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 and integrity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access for all stakeholders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security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SQL, MongoDB, PostgreSQL</a:t>
            </a:r>
          </a:p>
        </p:txBody>
      </p:sp>
    </p:spTree>
    <p:extLst>
      <p:ext uri="{BB962C8B-B14F-4D97-AF65-F5344CB8AC3E}">
        <p14:creationId xmlns:p14="http://schemas.microsoft.com/office/powerpoint/2010/main" val="928487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B1C32-4685-13A9-D3DB-8AFD66E6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4265-1748-4426-9085-F7B0C1E1FDA6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97CF3-0AFF-D03A-2808-BDDB6AEE0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0255C-9192-30F3-F9B9-230B3315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A45640A3-6121-E26C-2DB8-FB6AEF0AE3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75FB3A9-21DC-ADB8-7C71-C61E61F6BCB8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pic>
        <p:nvPicPr>
          <p:cNvPr id="4100" name="Picture 4" descr="Different types of CRM Databases - CRM Salesforce Training">
            <a:extLst>
              <a:ext uri="{FF2B5EF4-FFF2-40B4-BE49-F238E27FC236}">
                <a16:creationId xmlns:a16="http://schemas.microsoft.com/office/drawing/2014/main" id="{A4D38DA9-2AFF-49C8-7308-142BC93F1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295400"/>
            <a:ext cx="8915400" cy="4876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40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B15B0-4567-1360-BB63-4B544FA8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97BBD-5803-4B0D-B16A-32CE8300E43C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890C2-09E1-4F3F-67E4-F8DAD88D9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A3FFF-E3D5-4856-5617-0376A8F1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95D76FEE-115B-6B0C-621A-CF4AD8997D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2F64F8E-5A09-6A1F-9165-D55F0D927668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D5685-5E68-456A-C490-EBAF42F544D7}"/>
              </a:ext>
            </a:extLst>
          </p:cNvPr>
          <p:cNvSpPr txBox="1"/>
          <p:nvPr/>
        </p:nvSpPr>
        <p:spPr>
          <a:xfrm>
            <a:off x="1295400" y="163321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in CRM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7418A0-C0A6-70F1-9382-C7F5CDFCDD41}"/>
              </a:ext>
            </a:extLst>
          </p:cNvPr>
          <p:cNvSpPr txBox="1"/>
          <p:nvPr/>
        </p:nvSpPr>
        <p:spPr>
          <a:xfrm>
            <a:off x="1285568" y="2274838"/>
            <a:ext cx="61234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centralized repository for storing large volumes of data from multiple sources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CRM: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advanced analytics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single source of truth for customer data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decision-making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Snowflake, Amazon Redshift, Google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422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80B8-0F36-AD4A-AC82-DA110F6E7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BA09F-B528-4306-ABC1-DCDB19DE380D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114C0-5C7B-D928-D212-476A8AC4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CEAF5-C83D-F41C-4F83-6180BA02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146" name="Picture 2" descr="Introduction to Data Warehousing in CRM">
            <a:extLst>
              <a:ext uri="{FF2B5EF4-FFF2-40B4-BE49-F238E27FC236}">
                <a16:creationId xmlns:a16="http://schemas.microsoft.com/office/drawing/2014/main" id="{BEA5C38D-F220-6EC1-8945-A9FA1458A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9667875" cy="4529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E8872752-91EA-28FB-985C-5BFE628F38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3BC0664-8707-F47B-C3F1-CB17449A65F9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395140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1ECDE-9FAA-2A6A-BE39-CCC0845A8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4DF1B-38FA-4F54-B84D-F0023D9D36D5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B1598-B730-C780-FD12-DF594CBA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96CCB-D950-2A12-DDFE-48326B4E9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156ED420-0467-01BE-8030-1B6537AFB7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1E253D4-D2BD-ECA6-6CCD-A31DDCEB0407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987D9-E23B-734B-733E-1B6D278E8BDF}"/>
              </a:ext>
            </a:extLst>
          </p:cNvPr>
          <p:cNvSpPr txBox="1"/>
          <p:nvPr/>
        </p:nvSpPr>
        <p:spPr>
          <a:xfrm>
            <a:off x="1344561" y="1751454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in CRM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22FEA9-16BB-49E4-29F8-1ED73C25FABD}"/>
              </a:ext>
            </a:extLst>
          </p:cNvPr>
          <p:cNvSpPr txBox="1"/>
          <p:nvPr/>
        </p:nvSpPr>
        <p:spPr>
          <a:xfrm>
            <a:off x="1328174" y="2667000"/>
            <a:ext cx="8839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Extracting valuable insights from large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clustering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CRM: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customer churn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Cross-selling and upselling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Personalizing marketing campaigns</a:t>
            </a:r>
          </a:p>
        </p:txBody>
      </p:sp>
    </p:spTree>
    <p:extLst>
      <p:ext uri="{BB962C8B-B14F-4D97-AF65-F5344CB8AC3E}">
        <p14:creationId xmlns:p14="http://schemas.microsoft.com/office/powerpoint/2010/main" val="287242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EDC91-1206-72E2-E238-FC39CE8B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F8750-6B55-4137-849F-061ED72C1CC1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E2969-7272-5590-1CE0-C02C378DA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C0ABF-A752-0212-6922-6445F2F0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1B1AF9-1116-A356-521F-63DEDEBE0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337168"/>
            <a:ext cx="9753600" cy="4591050"/>
          </a:xfrm>
          <a:prstGeom prst="rect">
            <a:avLst/>
          </a:prstGeom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0F20ECC-B268-42E8-F837-09529499BB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5262C15-A012-CC6C-0D4E-BC4CD535CD20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900924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05259-1C70-ABA0-9A5E-116505AF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34E6-0F21-4D6C-A2FF-FFEECC0BCA41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7142-FC0D-4977-4640-E90697742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82266-CDCC-74D9-D535-3FE10B34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D1471-0477-5360-F4EF-6B539167C04D}"/>
              </a:ext>
            </a:extLst>
          </p:cNvPr>
          <p:cNvSpPr txBox="1"/>
          <p:nvPr/>
        </p:nvSpPr>
        <p:spPr>
          <a:xfrm>
            <a:off x="1447800" y="2334032"/>
            <a:ext cx="89166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IT Tools in Customer Care: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support processes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customer communication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Streamlining issue resolution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Tools: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and Virtual Assistants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platforms like Salesforce, HubSpot, Zoho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Helpdesk software like Zendesk, Freshdesk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36ED39CB-631E-0686-C1A5-17208EB936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9D0A902-C40C-DEDB-2587-D1BB197D814B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AA447B-2DF6-3E4B-B7AF-0D2521486264}"/>
              </a:ext>
            </a:extLst>
          </p:cNvPr>
          <p:cNvSpPr txBox="1"/>
          <p:nvPr/>
        </p:nvSpPr>
        <p:spPr>
          <a:xfrm>
            <a:off x="1295400" y="1474522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Care Management Through IT Tools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886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C1B0A-437C-4A6B-E65C-F58A7D00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A6146-A648-42A3-9595-6A0BEE5B96B8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35805-28F3-AF2E-B33C-3FF7FBF9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DF525-774A-C824-0575-C5707D3E6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E2F384E5-8C46-F53D-8E2A-C5CA455BC0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E79CCAD-5DB0-5A0D-74D5-E2F99E27347E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2290CA-EF24-AD48-96D4-85A9F14936AF}"/>
              </a:ext>
            </a:extLst>
          </p:cNvPr>
          <p:cNvSpPr txBox="1"/>
          <p:nvPr/>
        </p:nvSpPr>
        <p:spPr>
          <a:xfrm>
            <a:off x="1447800" y="167640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E-CRM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2F1C6E-81A2-293D-BCB5-2FDD2294A16A}"/>
              </a:ext>
            </a:extLst>
          </p:cNvPr>
          <p:cNvSpPr txBox="1"/>
          <p:nvPr/>
        </p:nvSpPr>
        <p:spPr>
          <a:xfrm>
            <a:off x="1447800" y="2589992"/>
            <a:ext cx="8991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E-CRM extends traditional CRM strategies by leveraging the internet and digital technologies.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customer interaction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and reporting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social media and mobile platforms</a:t>
            </a:r>
          </a:p>
        </p:txBody>
      </p:sp>
    </p:spTree>
    <p:extLst>
      <p:ext uri="{BB962C8B-B14F-4D97-AF65-F5344CB8AC3E}">
        <p14:creationId xmlns:p14="http://schemas.microsoft.com/office/powerpoint/2010/main" val="21435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5AB5D-EF54-D973-BD84-4ADC75A1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0D078-2FDB-4937-A8C2-6C6AE79BFA51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C4635-0114-35C9-8536-E8462096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D0EF9-0FBC-2FF1-0D65-082DBA97A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9218" name="Picture 2" descr="What is ECRM? Benefits, Features And Challenges in 2024">
            <a:extLst>
              <a:ext uri="{FF2B5EF4-FFF2-40B4-BE49-F238E27FC236}">
                <a16:creationId xmlns:a16="http://schemas.microsoft.com/office/drawing/2014/main" id="{0CFC6231-E946-8C4E-5072-DF1B702D9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114300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C83992F-753A-C154-7A35-A19FC4F669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049917C-23B7-C52C-F66D-2B8B1A7FDBC9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1216216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8C90B-F3DB-0F4E-A25E-6EEC66BB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30DE5-33C6-4906-9E60-401E802D70FD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C8D4E-65FB-D289-9A18-821509D0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CA124-75E0-38D9-BE10-AB6078EF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6B2C5E2F-6097-5B7C-A1C3-9C3810CA22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C1BEB81-E34E-C0BF-0624-5D375943FE7B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B4704B-880B-3A42-5AB6-47B5A7D4811A}"/>
              </a:ext>
            </a:extLst>
          </p:cNvPr>
          <p:cNvSpPr txBox="1"/>
          <p:nvPr/>
        </p:nvSpPr>
        <p:spPr>
          <a:xfrm>
            <a:off x="1295400" y="1828800"/>
            <a:ext cx="87400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E-CRM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Businesses: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engagement and satisfaction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efficiency through automation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customer relationship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Customers: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and faster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accessibility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multichannel experience</a:t>
            </a:r>
          </a:p>
        </p:txBody>
      </p:sp>
    </p:spTree>
    <p:extLst>
      <p:ext uri="{BB962C8B-B14F-4D97-AF65-F5344CB8AC3E}">
        <p14:creationId xmlns:p14="http://schemas.microsoft.com/office/powerpoint/2010/main" val="2418040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379AE-4C06-EF36-1248-4F2585620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0478-A10F-40B4-A404-9C7111C714C1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D9EB9-59C2-BECD-52F7-082F39E6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359B9-EEF3-B5DE-F2F0-8D0A91EC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38D03-0228-53E5-A7FF-D4164E04FBD1}"/>
              </a:ext>
            </a:extLst>
          </p:cNvPr>
          <p:cNvSpPr txBox="1"/>
          <p:nvPr/>
        </p:nvSpPr>
        <p:spPr>
          <a:xfrm>
            <a:off x="1104900" y="1981200"/>
            <a:ext cx="84836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in E-CRM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Integration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CRM Apps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Platforms: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Salesforce, Oracle CRM, Microsoft Dynamics 365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EE93B286-FC30-57D3-16A0-E4A41BAA10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7ABA01D-9E5F-4781-463A-E7FF450ACE75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69311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6ED8F-A34D-13AF-90BA-37F27947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5A0BF-6FCD-41D5-826F-8B846FF7B01F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CF179-203C-D26E-D7F1-8A594810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831FC-F468-DA93-E8F0-5A8EF2F9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50B096-4EDD-69A7-D2D7-C6AEE591ADDD}"/>
              </a:ext>
            </a:extLst>
          </p:cNvPr>
          <p:cNvSpPr txBox="1"/>
          <p:nvPr/>
        </p:nvSpPr>
        <p:spPr>
          <a:xfrm>
            <a:off x="1143000" y="1600200"/>
            <a:ext cx="838445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E-CRM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Industries Leveraging E-CRM: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Retail: Personalized offers and loyalty programs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 Patient engagement platforms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Banking: Streamlined customer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Travel: Real-time updates and customer interactions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89F0B88-F80A-D3AB-1101-DE27B9D3FB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3351EEE-C518-5984-FBF7-46F91527AFF3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856336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E83A4-6B8F-FBDE-5D13-FFFAC41A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A9D26-D25A-45C9-9649-2E45AC1C561C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5C10B-8231-06AC-BA3F-4760D8E9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59D0C-5CA4-224E-2E20-B85267906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0D65BA1-074F-BD29-11A0-206C524DB0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95E12E3-1E8D-5F1D-A5CE-F8B6B29B2C9D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C708D1-0EE0-1DCF-17B7-FFE859B8EE43}"/>
              </a:ext>
            </a:extLst>
          </p:cNvPr>
          <p:cNvSpPr txBox="1"/>
          <p:nvPr/>
        </p:nvSpPr>
        <p:spPr>
          <a:xfrm>
            <a:off x="1371600" y="1524000"/>
            <a:ext cx="89916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Amazon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CRM Strategies: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personalization through data analytics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customer service via chatbots and AI tools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marketing using predictive modeling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customer retention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293864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6E688-10D5-0A64-0A2A-CB11369E5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3080-FEBB-434D-8B9E-AA5A30B115C3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0BA64-FE90-F2DB-31E5-4968F816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41EBE-6B67-6874-3875-F51DE71B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AC14AE7E-A5CB-E117-4EA2-3A63504C67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0D8E876-33BC-A7CA-4BDF-884F445CBA9D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791CB-3102-BE90-BE9B-99E96A4A5FF1}"/>
              </a:ext>
            </a:extLst>
          </p:cNvPr>
          <p:cNvSpPr txBox="1"/>
          <p:nvPr/>
        </p:nvSpPr>
        <p:spPr>
          <a:xfrm>
            <a:off x="1371600" y="1143000"/>
            <a:ext cx="61254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1.What is the primary goal of Customer Experience (CX) management in CRM?</a:t>
            </a:r>
            <a:br>
              <a:rPr lang="en-US" dirty="0"/>
            </a:br>
            <a:r>
              <a:rPr lang="en-US" dirty="0"/>
              <a:t>a) Reducing customer interactions</a:t>
            </a:r>
            <a:br>
              <a:rPr lang="en-US" dirty="0"/>
            </a:br>
            <a:r>
              <a:rPr lang="en-US" dirty="0"/>
              <a:t>b) Enhancing customer satisfaction and loyalty</a:t>
            </a:r>
            <a:br>
              <a:rPr lang="en-US" dirty="0"/>
            </a:br>
            <a:r>
              <a:rPr lang="en-US" dirty="0"/>
              <a:t>c) Increasing product costs</a:t>
            </a:r>
            <a:br>
              <a:rPr lang="en-US" dirty="0"/>
            </a:br>
            <a:r>
              <a:rPr lang="en-US" dirty="0"/>
              <a:t>d) Limiting marketing campaigns</a:t>
            </a:r>
          </a:p>
          <a:p>
            <a:endParaRPr lang="en-US" dirty="0"/>
          </a:p>
          <a:p>
            <a:r>
              <a:rPr lang="en-US" dirty="0"/>
              <a:t>2.Which factor is most important for a positive customer experience?</a:t>
            </a:r>
            <a:br>
              <a:rPr lang="en-US" dirty="0"/>
            </a:br>
            <a:r>
              <a:rPr lang="en-US" dirty="0"/>
              <a:t>a) High product price</a:t>
            </a:r>
            <a:br>
              <a:rPr lang="en-US" dirty="0"/>
            </a:br>
            <a:r>
              <a:rPr lang="en-US" dirty="0"/>
              <a:t>b) Consistent and personalized interactions</a:t>
            </a:r>
            <a:br>
              <a:rPr lang="en-US" dirty="0"/>
            </a:br>
            <a:r>
              <a:rPr lang="en-US" dirty="0"/>
              <a:t>c) Delayed responses to queries</a:t>
            </a:r>
            <a:br>
              <a:rPr lang="en-US" dirty="0"/>
            </a:br>
            <a:r>
              <a:rPr lang="en-US" dirty="0"/>
              <a:t>d) Reducing customer feedback</a:t>
            </a:r>
          </a:p>
          <a:p>
            <a:endParaRPr lang="en-US" dirty="0"/>
          </a:p>
          <a:p>
            <a:r>
              <a:rPr lang="en-US" dirty="0"/>
              <a:t>3.Social CRM integrates traditional CRM with:</a:t>
            </a:r>
            <a:br>
              <a:rPr lang="en-US" dirty="0"/>
            </a:br>
            <a:r>
              <a:rPr lang="en-US" dirty="0"/>
              <a:t>a) Social media platforms</a:t>
            </a:r>
            <a:br>
              <a:rPr lang="en-US" dirty="0"/>
            </a:br>
            <a:r>
              <a:rPr lang="en-US" dirty="0"/>
              <a:t>b) Manufacturing processes</a:t>
            </a:r>
            <a:br>
              <a:rPr lang="en-US" dirty="0"/>
            </a:br>
            <a:r>
              <a:rPr lang="en-US" dirty="0"/>
              <a:t>c) Supply chain management</a:t>
            </a:r>
            <a:br>
              <a:rPr lang="en-US" dirty="0"/>
            </a:br>
            <a:r>
              <a:rPr lang="en-US" dirty="0"/>
              <a:t>d) ERP software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8459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8D6E3-3AD4-DE1B-335D-227C4DD7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42C-A910-43C2-AE44-53DFF8BA18A9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6DDC8-EDBB-3830-2643-251B51C6F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2538D-8339-A5C5-3436-F11DF1FE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E27E546C-E741-04A9-00B5-203FF79D9C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E1EEA51-6625-FD89-6A29-D37F119226D0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02F1C-8240-A35A-49EC-245D683F33C5}"/>
              </a:ext>
            </a:extLst>
          </p:cNvPr>
          <p:cNvSpPr txBox="1"/>
          <p:nvPr/>
        </p:nvSpPr>
        <p:spPr>
          <a:xfrm>
            <a:off x="990600" y="1143000"/>
            <a:ext cx="612549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4.What is a major advantage of Social CRM?</a:t>
            </a:r>
            <a:br>
              <a:rPr lang="en-US" dirty="0"/>
            </a:br>
            <a:r>
              <a:rPr lang="en-US" dirty="0"/>
              <a:t>a) Reducing customer engagement</a:t>
            </a:r>
            <a:br>
              <a:rPr lang="en-US" dirty="0"/>
            </a:br>
            <a:r>
              <a:rPr lang="en-US" dirty="0"/>
              <a:t>b) Enabling real-time customer interactions on social media</a:t>
            </a:r>
            <a:br>
              <a:rPr lang="en-US" dirty="0"/>
            </a:br>
            <a:r>
              <a:rPr lang="en-US" dirty="0"/>
              <a:t>c) Eliminating the need for a CRM system</a:t>
            </a:r>
            <a:br>
              <a:rPr lang="en-US" dirty="0"/>
            </a:br>
            <a:r>
              <a:rPr lang="en-US" dirty="0"/>
              <a:t>d) Ignoring customer feedback</a:t>
            </a:r>
          </a:p>
          <a:p>
            <a:endParaRPr lang="en-US" dirty="0"/>
          </a:p>
          <a:p>
            <a:r>
              <a:rPr lang="en-US" dirty="0"/>
              <a:t>5.How does AI enhance CRM functionality?</a:t>
            </a:r>
            <a:br>
              <a:rPr lang="en-US" dirty="0"/>
            </a:br>
            <a:r>
              <a:rPr lang="en-US" dirty="0"/>
              <a:t>a) By automating customer interactions and personalizing services</a:t>
            </a:r>
            <a:br>
              <a:rPr lang="en-US" dirty="0"/>
            </a:br>
            <a:r>
              <a:rPr lang="en-US" dirty="0"/>
              <a:t>b) By replacing all human interactions with bots</a:t>
            </a:r>
            <a:br>
              <a:rPr lang="en-US" dirty="0"/>
            </a:br>
            <a:r>
              <a:rPr lang="en-US" dirty="0"/>
              <a:t>c) By increasing manual data entry tasks</a:t>
            </a:r>
            <a:br>
              <a:rPr lang="en-US" dirty="0"/>
            </a:br>
            <a:r>
              <a:rPr lang="en-US" dirty="0"/>
              <a:t>d) By limiting customer support availability</a:t>
            </a:r>
          </a:p>
          <a:p>
            <a:endParaRPr lang="en-US" dirty="0"/>
          </a:p>
          <a:p>
            <a:r>
              <a:rPr lang="en-US" dirty="0"/>
              <a:t>6.Which AI technology is commonly used in CRM for customer support?</a:t>
            </a:r>
            <a:br>
              <a:rPr lang="en-US" dirty="0"/>
            </a:br>
            <a:r>
              <a:rPr lang="en-US" dirty="0"/>
              <a:t>a) Blockchain</a:t>
            </a:r>
            <a:br>
              <a:rPr lang="en-US" dirty="0"/>
            </a:br>
            <a:r>
              <a:rPr lang="en-US" dirty="0"/>
              <a:t>b) Chatbots and Virtual Assistants</a:t>
            </a:r>
            <a:br>
              <a:rPr lang="en-US" dirty="0"/>
            </a:br>
            <a:r>
              <a:rPr lang="en-US" dirty="0"/>
              <a:t>c) CAD Software</a:t>
            </a:r>
            <a:br>
              <a:rPr lang="en-US" dirty="0"/>
            </a:br>
            <a:r>
              <a:rPr lang="en-US" dirty="0"/>
              <a:t>d) ERP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626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C2BEE-F3DA-135E-BFA4-F93D2CDB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C2F0-8E9C-4B8D-98AE-91281C846EAD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C8DC7-6F90-7629-5245-87CF4061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 Rachna                            AOE0865  &amp;  CRM                                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ADB6A-6F00-07B9-59D5-2D1E1C28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62B93064-20A6-E774-5546-6F407C8A5D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7307EB2-E07F-325A-DE8D-6BED7A432498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597599-B1A1-5C1D-7A22-C0E214CEE253}"/>
              </a:ext>
            </a:extLst>
          </p:cNvPr>
          <p:cNvSpPr txBox="1"/>
          <p:nvPr/>
        </p:nvSpPr>
        <p:spPr>
          <a:xfrm>
            <a:off x="1104900" y="1219200"/>
            <a:ext cx="612549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7.What is a key benefit of Cloud CRM?</a:t>
            </a:r>
            <a:br>
              <a:rPr lang="en-US" dirty="0"/>
            </a:br>
            <a:r>
              <a:rPr lang="en-US" dirty="0"/>
              <a:t>a) Requires high maintenance costs</a:t>
            </a:r>
            <a:br>
              <a:rPr lang="en-US" dirty="0"/>
            </a:br>
            <a:r>
              <a:rPr lang="en-US" dirty="0"/>
              <a:t>b) Provides remote access to CRM data</a:t>
            </a:r>
            <a:br>
              <a:rPr lang="en-US" dirty="0"/>
            </a:br>
            <a:r>
              <a:rPr lang="en-US" dirty="0"/>
              <a:t>c) Works only in offline mode</a:t>
            </a:r>
            <a:br>
              <a:rPr lang="en-US" dirty="0"/>
            </a:br>
            <a:r>
              <a:rPr lang="en-US" dirty="0"/>
              <a:t>d) Increases dependency on local servers</a:t>
            </a:r>
          </a:p>
          <a:p>
            <a:endParaRPr lang="en-US" dirty="0"/>
          </a:p>
          <a:p>
            <a:r>
              <a:rPr lang="en-US" dirty="0"/>
              <a:t>8.How does Big Data benefit CRM?</a:t>
            </a:r>
            <a:br>
              <a:rPr lang="en-US" dirty="0"/>
            </a:br>
            <a:r>
              <a:rPr lang="en-US" dirty="0"/>
              <a:t>a) It helps analyze large volumes of customer data for better decision-making</a:t>
            </a:r>
            <a:br>
              <a:rPr lang="en-US" dirty="0"/>
            </a:br>
            <a:r>
              <a:rPr lang="en-US" dirty="0"/>
              <a:t>b) It eliminates customer personalization</a:t>
            </a:r>
            <a:br>
              <a:rPr lang="en-US" dirty="0"/>
            </a:br>
            <a:r>
              <a:rPr lang="en-US" dirty="0"/>
              <a:t>c) It slows down CRM operations</a:t>
            </a:r>
            <a:br>
              <a:rPr lang="en-US" dirty="0"/>
            </a:br>
            <a:r>
              <a:rPr lang="en-US" dirty="0"/>
              <a:t>d) It reduces the amount of stored customer information</a:t>
            </a:r>
          </a:p>
          <a:p>
            <a:endParaRPr lang="en-US" dirty="0"/>
          </a:p>
          <a:p>
            <a:r>
              <a:rPr lang="en-US" dirty="0"/>
              <a:t>9.What does </a:t>
            </a:r>
            <a:r>
              <a:rPr lang="en-US" dirty="0" err="1"/>
              <a:t>XaaS</a:t>
            </a:r>
            <a:r>
              <a:rPr lang="en-US" dirty="0"/>
              <a:t> stand for in CRM technology?</a:t>
            </a:r>
            <a:br>
              <a:rPr lang="en-US" dirty="0"/>
            </a:br>
            <a:r>
              <a:rPr lang="en-US" dirty="0"/>
              <a:t>a) Xtreme Application Software</a:t>
            </a:r>
            <a:br>
              <a:rPr lang="en-US" dirty="0"/>
            </a:br>
            <a:r>
              <a:rPr lang="en-US" dirty="0"/>
              <a:t>b) Anything as a Service</a:t>
            </a:r>
            <a:br>
              <a:rPr lang="en-US" dirty="0"/>
            </a:br>
            <a:r>
              <a:rPr lang="en-US" dirty="0"/>
              <a:t>c) XML as a Service</a:t>
            </a:r>
            <a:br>
              <a:rPr lang="en-US" dirty="0"/>
            </a:br>
            <a:r>
              <a:rPr lang="en-US" dirty="0"/>
              <a:t>d) Exclusive Application Software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773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1E0C9-7AD7-434F-9AB1-5F97C3089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319" y="1365887"/>
            <a:ext cx="5369160" cy="3939959"/>
          </a:xfrm>
          <a:prstGeom prst="rect">
            <a:avLst/>
          </a:prstGeom>
        </p:spPr>
      </p:pic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52497" y="1056640"/>
            <a:ext cx="3197660" cy="31257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-2377440" y="3246120"/>
            <a:ext cx="5605272" cy="3657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nl-NL" sz="11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Ms. Rachna                            AOE0865  &amp;  CRM                                4</a:t>
            </a:r>
            <a:endParaRPr lang="en-US" sz="1150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84796" y="5769149"/>
            <a:ext cx="2169006" cy="3657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Aft>
                <a:spcPts val="600"/>
              </a:spcAft>
            </a:pPr>
            <a:fld id="{F763395E-2AE4-4A0C-BF5E-399D33ACAC28}" type="datetime1">
              <a:rPr lang="en-US" sz="1150" smtClean="0">
                <a:solidFill>
                  <a:srgbClr val="FFFFFF"/>
                </a:solidFill>
              </a:rPr>
              <a:t>5/1/2025</a:t>
            </a:fld>
            <a:endParaRPr lang="en-US" sz="115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84689" y="4887261"/>
            <a:ext cx="1669112" cy="10082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6F15528-21DE-4FAA-801E-634DDDAF4B2B}" type="slidenum">
              <a:rPr lang="en-US" sz="66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23</a:t>
            </a:fld>
            <a:endParaRPr lang="en-US" sz="6600">
              <a:solidFill>
                <a:srgbClr val="FFFFFF"/>
              </a:solidFill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A0BCFEA-07AE-8123-A635-D4BA5CABA9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2520</TotalTime>
  <Words>1286</Words>
  <Application>Microsoft Office PowerPoint</Application>
  <PresentationFormat>Widescreen</PresentationFormat>
  <Paragraphs>215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Noida Institute of Engineering and Technology, Greater Noida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Manks</dc:creator>
  <cp:lastModifiedBy>Ms. Rachna Sharma</cp:lastModifiedBy>
  <cp:revision>78</cp:revision>
  <dcterms:created xsi:type="dcterms:W3CDTF">2006-08-16T00:00:00Z</dcterms:created>
  <dcterms:modified xsi:type="dcterms:W3CDTF">2025-05-01T04:17:11Z</dcterms:modified>
</cp:coreProperties>
</file>