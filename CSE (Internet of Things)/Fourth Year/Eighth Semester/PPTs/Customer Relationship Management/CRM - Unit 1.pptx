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308" r:id="rId3"/>
    <p:sldId id="309" r:id="rId4"/>
    <p:sldId id="257" r:id="rId5"/>
    <p:sldId id="258" r:id="rId6"/>
    <p:sldId id="288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9" r:id="rId16"/>
    <p:sldId id="300" r:id="rId17"/>
    <p:sldId id="298" r:id="rId18"/>
    <p:sldId id="301" r:id="rId19"/>
    <p:sldId id="302" r:id="rId20"/>
    <p:sldId id="303" r:id="rId21"/>
    <p:sldId id="304" r:id="rId22"/>
    <p:sldId id="305" r:id="rId23"/>
    <p:sldId id="306" r:id="rId24"/>
    <p:sldId id="26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0" autoAdjust="0"/>
    <p:restoredTop sz="94660"/>
  </p:normalViewPr>
  <p:slideViewPr>
    <p:cSldViewPr>
      <p:cViewPr varScale="1">
        <p:scale>
          <a:sx n="79" d="100"/>
          <a:sy n="79" d="100"/>
        </p:scale>
        <p:origin x="99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8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894EF-B93C-4B6D-8FB8-8960BCB5A26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A4A95-7A0B-4549-9352-6E6525D64E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07A98-9A18-4E47-AF94-789022A0201E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5F52E-BA8C-4FAB-BCFA-C67A14D9CE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97914-45FE-6CEE-ED97-BD0D0943BA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3D8B2D8-3BBC-73FB-9378-B4314DB072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F87C-EC65-C6C1-7CEC-ED0CB5C976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33E0F29-1376-F1DC-AE5A-9ACBA0FA1BD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652B1-13DE-4BA5-8897-4D3312099578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4F39-41D4-444B-91A2-975A24512351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2F94AE00-6355-D25A-F832-477BFCE21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3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C417649-453C-D98C-AADA-E8C5A7540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0"/>
            <a:ext cx="9982200" cy="909036"/>
          </a:xfr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err="1"/>
              <a:t>Noida</a:t>
            </a:r>
            <a:r>
              <a:rPr lang="en-US" sz="2800" dirty="0"/>
              <a:t> Institute of Engineering and Technology, Greater </a:t>
            </a:r>
            <a:r>
              <a:rPr lang="en-US" sz="2800" dirty="0" err="1"/>
              <a:t>Noida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D1EA-674B-49F0-86A3-A8A0CD2BB5A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2F94AE00-6355-D25A-F832-477BFCE21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3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C417649-453C-D98C-AADA-E8C5A7540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0"/>
            <a:ext cx="9982200" cy="909036"/>
          </a:xfr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err="1"/>
              <a:t>Noida</a:t>
            </a:r>
            <a:r>
              <a:rPr lang="en-US" sz="2800" dirty="0"/>
              <a:t> Institute of Engineering and Technology, Greater </a:t>
            </a:r>
            <a:r>
              <a:rPr lang="en-US" sz="2800" dirty="0" err="1"/>
              <a:t>Noida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47358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94113-CFAC-4A1A-8160-AC9DC578C42D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43433-9AED-4C4D-B53C-62A7FFBAC891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E9FD-3D76-47ED-A9F6-6826B93DECAC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DEB8-C641-4E5E-970E-22F4CFAB85F3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D967-C5B6-4B8E-A069-B5E7B8C014FD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EAE4F-B8AF-4F54-B242-48BC612BC2A3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6512-94ED-4E55-87E3-65443215C937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37B97-CBB7-4ADB-8C88-E5AB3121A61D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EFBA-58FD-4225-8FBD-276A6981BE31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4155F-6171-430D-83CB-D740F69EBC17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/>
              <a:t>Ms.Rachna                                  AOE0865 &amp; CRM          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0"/>
            <a:ext cx="9982200" cy="909036"/>
          </a:xfr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1122397"/>
            <a:ext cx="9372600" cy="1049938"/>
          </a:xfr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Customer Relationship Management</a:t>
            </a:r>
            <a:br>
              <a:rPr lang="en-US" sz="2500" dirty="0">
                <a:solidFill>
                  <a:schemeClr val="tx1"/>
                </a:solidFill>
              </a:rPr>
            </a:br>
            <a:r>
              <a:rPr lang="en-US" sz="2500" b="1" dirty="0">
                <a:solidFill>
                  <a:schemeClr val="tx1"/>
                </a:solidFill>
              </a:rPr>
              <a:t>(AOE0865)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8525656" y="4351937"/>
            <a:ext cx="2844800" cy="1363583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b="1" dirty="0">
                <a:solidFill>
                  <a:schemeClr val="tx1"/>
                </a:solidFill>
              </a:rPr>
              <a:t>Ms. Rachna Sharma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2400" b="1" dirty="0">
                <a:solidFill>
                  <a:schemeClr val="tx1"/>
                </a:solidFill>
              </a:rPr>
              <a:t>CSE(DS) Department</a:t>
            </a:r>
          </a:p>
          <a:p>
            <a:pPr algn="ctr">
              <a:spcBef>
                <a:spcPct val="20000"/>
              </a:spcBef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027" name="Picture 3" descr="C:\Users\Manks\Downloads\128_calendar-schedule-credit-mortgage-date-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1905000" y="5943600"/>
            <a:ext cx="533400" cy="533400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1905000" y="6492876"/>
            <a:ext cx="2133600" cy="365125"/>
          </a:xfrm>
        </p:spPr>
        <p:txBody>
          <a:bodyPr/>
          <a:lstStyle/>
          <a:p>
            <a:fld id="{B5DD3985-487E-463B-9DAD-7EC104EB6EDE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1" name="Picture 4" descr="C:\Users\Manks\Downloads\speak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77400" y="2508250"/>
            <a:ext cx="1524000" cy="1524000"/>
          </a:xfrm>
          <a:prstGeom prst="rect">
            <a:avLst/>
          </a:prstGeom>
          <a:noFill/>
        </p:spPr>
      </p:pic>
      <p:sp>
        <p:nvSpPr>
          <p:cNvPr id="12" name="Subtitle 2"/>
          <p:cNvSpPr txBox="1">
            <a:spLocks/>
          </p:cNvSpPr>
          <p:nvPr/>
        </p:nvSpPr>
        <p:spPr>
          <a:xfrm>
            <a:off x="341671" y="2895600"/>
            <a:ext cx="2057400" cy="5334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500" b="1" dirty="0">
                <a:solidFill>
                  <a:schemeClr val="tx1"/>
                </a:solidFill>
              </a:rPr>
              <a:t>Unit: 1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01"/>
            <a:ext cx="5029200" cy="365125"/>
          </a:xfrm>
        </p:spPr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341671" y="3749675"/>
            <a:ext cx="4191000" cy="8382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Unit 1: Introduction to Customer Relationship Management</a:t>
            </a: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341671" y="4877321"/>
            <a:ext cx="4191000" cy="8382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B Tech 8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sem</a:t>
            </a:r>
            <a:endParaRPr lang="en-US" sz="2000" b="1" dirty="0">
              <a:solidFill>
                <a:schemeClr val="tx1"/>
              </a:solidFill>
            </a:endParaRPr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" y="-37152"/>
            <a:ext cx="2209800" cy="9472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6DAF86-80C5-7D25-FA84-DCD9C9DF4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22F8D-35E0-488F-9796-1D1226DA82E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D1858-9ED8-E406-D613-75301042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A5951-FFA2-09C3-8047-6EE78CCF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F78AC6-6063-ED8D-1201-6F3435CD2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br>
              <a:rPr lang="en-US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Vision &amp; Mission of Institute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E658D-C467-72D2-EC1D-4FA3F0BBF681}"/>
              </a:ext>
            </a:extLst>
          </p:cNvPr>
          <p:cNvSpPr txBox="1"/>
          <p:nvPr/>
        </p:nvSpPr>
        <p:spPr>
          <a:xfrm>
            <a:off x="2052320" y="1221344"/>
            <a:ext cx="9144000" cy="44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Vision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To be an institute of academic excellence in digital arena with global outreach delivering socially responsible professionals to become a university and an entrepreneurial hub.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Mission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To impart quality education and hone students' skills and competencies making them future ready.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To foster an ecosystem for research, product development, innovation, incubation, and entrepreneurship.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To instill values and ethics to produce socially responsible technocrats addressing global problems.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To develop an environment for sharing and exchange of resources globally for lifelong learning.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95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CB1F7-2DFA-D60B-5241-5A5FA4C1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841B1-3F09-4082-8426-B1C455FCB10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6668A-9340-0681-7A7E-508E0D57C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CFC40-8075-3B17-0957-32C99BA0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FB0916-ED87-1490-DAD4-499975DC6E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32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Vision and Mission of the Department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59E078-3095-93EF-304D-43605A8A3F97}"/>
              </a:ext>
            </a:extLst>
          </p:cNvPr>
          <p:cNvSpPr txBox="1"/>
          <p:nvPr/>
        </p:nvSpPr>
        <p:spPr>
          <a:xfrm>
            <a:off x="1828800" y="1066800"/>
            <a:ext cx="9083040" cy="4865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Vision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To attain worldwide acclaim as an Information Technology department fostering skilled IT professionals and entrepreneurs committed to strong societal values amidst the swiftly changing digital environment.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Mission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 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To cultivate proficient IT professionals and entrepreneurs by providing top-tier education.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2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To nurture an environment encouraging collaborative research and innovation among both faculty and students, utilizing state-of-the-art IT technologies.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3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To impart moral principles and values, molding socially conscientious technocrats equipped to tackle global challenges.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4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To create a global exchange platform that provides lifetime ongoing learning opportunities.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73355" indent="-118745" algn="just">
              <a:lnSpc>
                <a:spcPct val="150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088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00200" y="1366375"/>
            <a:ext cx="6324600" cy="3886200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/>
              <a:t>Introduction of CRM</a:t>
            </a:r>
          </a:p>
          <a:p>
            <a:r>
              <a:rPr lang="en-IN" sz="2000" b="1" dirty="0"/>
              <a:t>Emergence of CRM</a:t>
            </a:r>
          </a:p>
          <a:p>
            <a:r>
              <a:rPr lang="en-IN" sz="2000" b="1" dirty="0"/>
              <a:t>Models of CRM</a:t>
            </a:r>
          </a:p>
          <a:p>
            <a:r>
              <a:rPr lang="en-IN" sz="2000" b="1" dirty="0"/>
              <a:t>Importance of CRM</a:t>
            </a:r>
          </a:p>
          <a:p>
            <a:r>
              <a:rPr lang="en-IN" sz="2000" b="1" dirty="0"/>
              <a:t>CRM Cycle</a:t>
            </a:r>
          </a:p>
          <a:p>
            <a:r>
              <a:rPr lang="en-IN" sz="2000" b="1" dirty="0"/>
              <a:t>CRM in Modern Context</a:t>
            </a:r>
          </a:p>
          <a:p>
            <a:r>
              <a:rPr lang="en-IN" sz="2000" b="1" dirty="0"/>
              <a:t>Understanding Relationships</a:t>
            </a:r>
          </a:p>
          <a:p>
            <a:r>
              <a:rPr lang="en-IN" sz="2000" b="1" dirty="0"/>
              <a:t>Need for Relationships</a:t>
            </a:r>
          </a:p>
          <a:p>
            <a:r>
              <a:rPr lang="en-IN" sz="2000" b="1" dirty="0"/>
              <a:t>Building Customer Relationships</a:t>
            </a:r>
          </a:p>
          <a:p>
            <a:r>
              <a:rPr lang="en-US" sz="2000" b="1" dirty="0"/>
              <a:t>Evolution of Relationships as a Marketing Tool</a:t>
            </a:r>
          </a:p>
          <a:p>
            <a:r>
              <a:rPr lang="en-US" sz="2000" b="1" dirty="0"/>
              <a:t>Customer Satisfaction, Value, and Loyalty</a:t>
            </a:r>
          </a:p>
          <a:p>
            <a:r>
              <a:rPr lang="en-IN" sz="2000" b="1" dirty="0"/>
              <a:t>Relationship Management Theories</a:t>
            </a:r>
          </a:p>
          <a:p>
            <a:endParaRPr lang="en-IN" sz="1400" b="1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56BF-88B0-44CE-A4A0-7C561BE99682}" type="datetime1">
              <a:rPr lang="en-US" smtClean="0"/>
              <a:t>4/1/2026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5029200" cy="365125"/>
          </a:xfrm>
        </p:spPr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0FE3D31-D8EE-48C8-60A1-49FE37AD37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pic>
        <p:nvPicPr>
          <p:cNvPr id="4098" name="Picture 2" descr="Customer Relationship Management Icon ...">
            <a:extLst>
              <a:ext uri="{FF2B5EF4-FFF2-40B4-BE49-F238E27FC236}">
                <a16:creationId xmlns:a16="http://schemas.microsoft.com/office/drawing/2014/main" id="{26991949-5E0C-B709-75FA-B3787BBCF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497" y="1295400"/>
            <a:ext cx="3733800" cy="311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61FDC08-C98E-F440-EF0A-7767C0139B97}"/>
              </a:ext>
            </a:extLst>
          </p:cNvPr>
          <p:cNvSpPr txBox="1">
            <a:spLocks/>
          </p:cNvSpPr>
          <p:nvPr/>
        </p:nvSpPr>
        <p:spPr>
          <a:xfrm>
            <a:off x="2895600" y="2"/>
            <a:ext cx="7772400" cy="94726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dirty="0"/>
              <a:t> </a:t>
            </a:r>
            <a:r>
              <a:rPr lang="en-US" b="1" dirty="0"/>
              <a:t>Customer Relationship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057400" y="1143001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 the need for maintaining relations with the customers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Familiarize students with the concept of Customer Relationship marketing.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Acquaint the students with the terminology of Customer Relationship Marketing.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 students to the various technologies and emerging trends in CRM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09BDE-FDCA-475E-8982-38343D51517E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3400" y="6248401"/>
            <a:ext cx="4724400" cy="365125"/>
          </a:xfrm>
        </p:spPr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BDB0671-FC93-5C9E-75A2-ED46EE3FB8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895600" y="2"/>
            <a:ext cx="7772400" cy="68579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dirty="0"/>
              <a:t>Course Objective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1C3E-79A8-4243-96FA-B6FB44B771EC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3400" y="6248401"/>
            <a:ext cx="4724400" cy="365125"/>
          </a:xfrm>
        </p:spPr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2"/>
            <a:ext cx="7772400" cy="68579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dirty="0"/>
              <a:t>Parameters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6339FA-8C21-49A1-A04D-DE274CC2A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138698"/>
              </p:ext>
            </p:extLst>
          </p:nvPr>
        </p:nvGraphicFramePr>
        <p:xfrm>
          <a:off x="304800" y="1232899"/>
          <a:ext cx="11277601" cy="417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2259">
                  <a:extLst>
                    <a:ext uri="{9D8B030D-6E8A-4147-A177-3AD203B41FA5}">
                      <a16:colId xmlns:a16="http://schemas.microsoft.com/office/drawing/2014/main" val="407660024"/>
                    </a:ext>
                  </a:extLst>
                </a:gridCol>
                <a:gridCol w="2122093">
                  <a:extLst>
                    <a:ext uri="{9D8B030D-6E8A-4147-A177-3AD203B41FA5}">
                      <a16:colId xmlns:a16="http://schemas.microsoft.com/office/drawing/2014/main" val="242324541"/>
                    </a:ext>
                  </a:extLst>
                </a:gridCol>
                <a:gridCol w="2384048">
                  <a:extLst>
                    <a:ext uri="{9D8B030D-6E8A-4147-A177-3AD203B41FA5}">
                      <a16:colId xmlns:a16="http://schemas.microsoft.com/office/drawing/2014/main" val="360327729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11553715"/>
                    </a:ext>
                  </a:extLst>
                </a:gridCol>
                <a:gridCol w="1821166">
                  <a:extLst>
                    <a:ext uri="{9D8B030D-6E8A-4147-A177-3AD203B41FA5}">
                      <a16:colId xmlns:a16="http://schemas.microsoft.com/office/drawing/2014/main" val="3286573211"/>
                    </a:ext>
                  </a:extLst>
                </a:gridCol>
                <a:gridCol w="1836435">
                  <a:extLst>
                    <a:ext uri="{9D8B030D-6E8A-4147-A177-3AD203B41FA5}">
                      <a16:colId xmlns:a16="http://schemas.microsoft.com/office/drawing/2014/main" val="2147573239"/>
                    </a:ext>
                  </a:extLst>
                </a:gridCol>
              </a:tblGrid>
              <a:tr h="2550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P1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P2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P3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P4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P5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P6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075099"/>
                  </a:ext>
                </a:extLst>
              </a:tr>
              <a:tr h="12522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Subject and faculty profile with photograph</a:t>
                      </a: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Evaluation Scheme,</a:t>
                      </a:r>
                      <a:r>
                        <a:rPr lang="en-IN" sz="1800" u="none" strike="noStrike" dirty="0">
                          <a:effectLst/>
                        </a:rPr>
                        <a:t> Subject Syllabus  </a:t>
                      </a:r>
                      <a:br>
                        <a:rPr lang="en-IN" sz="1800" u="none" strike="noStrike" dirty="0">
                          <a:effectLst/>
                        </a:rPr>
                      </a:br>
                      <a:r>
                        <a:rPr lang="en-IN" sz="1800" u="none" strike="noStrike" dirty="0">
                          <a:effectLst/>
                        </a:rPr>
                        <a:t>and branch wise applications(Content wise)*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Course Objectives*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l-PL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CO-PO</a:t>
                      </a:r>
                      <a:br>
                        <a:rPr lang="en-I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pl-PL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CO-PSO</a:t>
                      </a:r>
                      <a:br>
                        <a:rPr lang="en-I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pl-PL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and Mappings*</a:t>
                      </a:r>
                      <a:endParaRPr lang="pl-PL" sz="18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Result Analysis</a:t>
                      </a:r>
                      <a:r>
                        <a:rPr lang="en-IN" sz="1800" u="none" strike="noStrike" dirty="0">
                          <a:effectLst/>
                        </a:rPr>
                        <a:t>*</a:t>
                      </a:r>
                      <a:br>
                        <a:rPr lang="en-IN" sz="1800" u="none" strike="noStrike" dirty="0">
                          <a:effectLst/>
                        </a:rPr>
                      </a:br>
                      <a:r>
                        <a:rPr lang="en-IN" sz="1800" u="none" strike="noStrike" dirty="0">
                          <a:effectLst/>
                        </a:rPr>
                        <a:t>(Average Subject Marks</a:t>
                      </a:r>
                      <a:br>
                        <a:rPr lang="en-IN" sz="1800" u="none" strike="noStrike" dirty="0">
                          <a:effectLst/>
                        </a:rPr>
                      </a:br>
                      <a:r>
                        <a:rPr lang="en-IN" sz="1800" u="none" strike="noStrike" dirty="0">
                          <a:effectLst/>
                        </a:rPr>
                        <a:t>Pass Percentage)</a:t>
                      </a:r>
                      <a:br>
                        <a:rPr lang="en-IN" sz="1800" u="none" strike="noStrike" dirty="0">
                          <a:effectLst/>
                        </a:rPr>
                      </a:b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End Sem Question Paper template</a:t>
                      </a:r>
                      <a:r>
                        <a:rPr lang="en-US" sz="1800" u="none" strike="noStrike" dirty="0">
                          <a:effectLst/>
                        </a:rPr>
                        <a:t>*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351127"/>
                  </a:ext>
                </a:extLst>
              </a:tr>
              <a:tr h="3283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P7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P8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P9</a:t>
                      </a:r>
                      <a:endParaRPr lang="en-IN" sz="18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P10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P11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P12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931196"/>
                  </a:ext>
                </a:extLst>
              </a:tr>
              <a:tr h="218926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>
                          <a:effectLst/>
                        </a:rPr>
                        <a:t>Prerequisite/ Recap* </a:t>
                      </a:r>
                      <a:br>
                        <a:rPr lang="en-IN" sz="1800" u="none" strike="noStrike" dirty="0">
                          <a:effectLst/>
                        </a:rPr>
                      </a:br>
                      <a:r>
                        <a:rPr lang="en-IN" sz="1800" u="none" strike="noStrike" dirty="0">
                          <a:effectLst/>
                        </a:rPr>
                        <a:t>(Content Wise)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Brief subject introduction with video</a:t>
                      </a:r>
                      <a:r>
                        <a:rPr lang="en-US" sz="1800" u="none" strike="noStrike" dirty="0">
                          <a:effectLst/>
                        </a:rPr>
                        <a:t>*(Unit wise)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>
                          <a:effectLst/>
                        </a:rPr>
                        <a:t>Unit Content</a:t>
                      </a:r>
                    </a:p>
                    <a:p>
                      <a:pPr algn="l" fontAlgn="ctr"/>
                      <a:r>
                        <a:rPr lang="en-IN" sz="1800" u="none" strike="noStrike" dirty="0">
                          <a:effectLst/>
                        </a:rPr>
                        <a:t>Add Use cases and applications Videos PBL/ABL etc. as per required,</a:t>
                      </a:r>
                    </a:p>
                    <a:p>
                      <a:pPr algn="l" fontAlgn="ctr"/>
                      <a:r>
                        <a:rPr lang="en-IN" sz="1800" u="none" strike="noStrike" dirty="0">
                          <a:effectLst/>
                        </a:rPr>
                        <a:t>objectives and topic objective*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Daily Quiz,MCQs,Glossary and Weekly Assignment*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Old Exam Question Papers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/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Expected Questions for University Exam*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>
                          <a:effectLst/>
                        </a:rPr>
                        <a:t>Recap of Unit*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531850"/>
                  </a:ext>
                </a:extLst>
              </a:tr>
            </a:tbl>
          </a:graphicData>
        </a:graphic>
      </p:graphicFrame>
      <p:pic>
        <p:nvPicPr>
          <p:cNvPr id="3" name="Picture 2" descr="A black and red logo&#10;&#10;Description automatically generated">
            <a:extLst>
              <a:ext uri="{FF2B5EF4-FFF2-40B4-BE49-F238E27FC236}">
                <a16:creationId xmlns:a16="http://schemas.microsoft.com/office/drawing/2014/main" id="{1031CDC9-A15C-5FA6-BEB3-FAC8C829E8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9D0BF7-243A-4FFC-45E2-774B9670BE1D}"/>
              </a:ext>
            </a:extLst>
          </p:cNvPr>
          <p:cNvSpPr txBox="1"/>
          <p:nvPr/>
        </p:nvSpPr>
        <p:spPr>
          <a:xfrm>
            <a:off x="1752600" y="5943600"/>
            <a:ext cx="558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(Red Highlighted texts should be for Only 1 Unit)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CF9A-382F-C59A-8132-2234B8DE7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5B26A-19F1-C80B-5F4F-BACDB264F3A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600201"/>
            <a:ext cx="66294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Introduction of CRM</a:t>
            </a:r>
          </a:p>
          <a:p>
            <a:r>
              <a:rPr lang="en-US" dirty="0"/>
              <a:t>A system and strategy for managing a company’s interactions with current and potential customers.</a:t>
            </a:r>
          </a:p>
          <a:p>
            <a:r>
              <a:rPr lang="en-US" dirty="0"/>
              <a:t>Combines data analysis, marketing, sales, and service practices.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9D3C3-A881-7F52-E6ED-B66D8AAA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D6DF-9FC9-4ECB-A27F-54D84CC039B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2A0F5-62F2-604C-B84E-27D5A341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D74DA-0399-F5BD-326E-01308E93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DD75E28E-5FFD-3153-0CC9-094E61F9DB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E8169D7-1D45-8476-147F-592E01E6A6C9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pic>
        <p:nvPicPr>
          <p:cNvPr id="2050" name="Picture 2" descr="Customer Relationship Management">
            <a:extLst>
              <a:ext uri="{FF2B5EF4-FFF2-40B4-BE49-F238E27FC236}">
                <a16:creationId xmlns:a16="http://schemas.microsoft.com/office/drawing/2014/main" id="{3910F0F5-BF10-4133-3A96-91691AF2C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947268"/>
            <a:ext cx="4997674" cy="4920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22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9330-FF53-75FF-9805-3C457EF7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22DF7-E44F-96EB-7C00-E7AD30AD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76E31-AD6E-4298-B057-61DF50F5CF0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FE2C0-D139-CAEE-8849-14A59359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2848E-E5A8-2F67-2715-F778A6C2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E41DD600-66F3-34F1-F9CC-2FF82F79C5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B26B64F-9CA7-7814-B3E3-EAE668CB2619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CFA5C-CEA2-2749-A91D-8DC0EB0A332E}"/>
              </a:ext>
            </a:extLst>
          </p:cNvPr>
          <p:cNvSpPr txBox="1"/>
          <p:nvPr/>
        </p:nvSpPr>
        <p:spPr>
          <a:xfrm>
            <a:off x="2362200" y="1451207"/>
            <a:ext cx="612648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Emergence of CRM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Historical Background: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Originated from sales automation systems in the 1980s.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Shift from transactional marketing to relationship marketing in the 1990s.</a:t>
            </a:r>
          </a:p>
          <a:p>
            <a:pPr lvl="1"/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Drivers of CRM Emergence: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Increased competition.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Technological advancements.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Customer-centric business strategies.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71176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FAA40-D3F9-904D-F04A-925490E7B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37864-3394-A77A-1B6F-3810EEAB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82C0-1722-4EA2-AEDF-231879A50AE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11BC7-4808-6BA9-F042-440A0EC9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373B4-4295-1612-1873-6D9B2FD66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4568304A-717F-ABE6-7672-037E583DFE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EFCA9C8-6BE2-F368-6C78-3C49F525B91F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8CC10-D865-77FD-1704-19B3ED8B9DC5}"/>
              </a:ext>
            </a:extLst>
          </p:cNvPr>
          <p:cNvSpPr txBox="1"/>
          <p:nvPr/>
        </p:nvSpPr>
        <p:spPr>
          <a:xfrm>
            <a:off x="746760" y="1143000"/>
            <a:ext cx="847344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Models of CRM</a:t>
            </a:r>
          </a:p>
          <a:p>
            <a:pPr marL="457200" indent="-457200">
              <a:buAutoNum type="arabicPeriod"/>
            </a:pPr>
            <a:r>
              <a:rPr lang="en-IN" sz="2400" b="1" dirty="0"/>
              <a:t>Operational CRM: </a:t>
            </a:r>
            <a:r>
              <a:rPr lang="en-US" sz="2800" dirty="0"/>
              <a:t>Focuses on automation of sales, marketing, and customer service processes.</a:t>
            </a:r>
          </a:p>
          <a:p>
            <a:endParaRPr lang="en-US" sz="2800" dirty="0"/>
          </a:p>
          <a:p>
            <a:r>
              <a:rPr lang="en-IN" sz="2400" b="1" dirty="0"/>
              <a:t>2.   Analytical CRM:</a:t>
            </a:r>
          </a:p>
          <a:p>
            <a:r>
              <a:rPr lang="en-US" sz="2800" dirty="0"/>
              <a:t>      Analyzes customer data to improve decision-making.</a:t>
            </a:r>
          </a:p>
          <a:p>
            <a:endParaRPr lang="en-US" sz="2800" dirty="0"/>
          </a:p>
          <a:p>
            <a:r>
              <a:rPr lang="en-IN" sz="2400" b="1" dirty="0"/>
              <a:t>3.   Collaborative CRM:</a:t>
            </a:r>
            <a:endParaRPr lang="en-IN" sz="2400" dirty="0"/>
          </a:p>
          <a:p>
            <a:r>
              <a:rPr lang="en-US" sz="2800" dirty="0"/>
              <a:t>      Enhances communication between businesses and           customers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pic>
        <p:nvPicPr>
          <p:cNvPr id="3076" name="Picture 4" descr="Crm Vector Art, Icons, and Graphics for ...">
            <a:extLst>
              <a:ext uri="{FF2B5EF4-FFF2-40B4-BE49-F238E27FC236}">
                <a16:creationId xmlns:a16="http://schemas.microsoft.com/office/drawing/2014/main" id="{A3442FEC-F9DE-FB04-E6AB-4FA6CB2F5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087" y="947268"/>
            <a:ext cx="3160713" cy="527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733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0DF1-4BF4-F7C1-7B3C-A07318629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FF67E-6D33-3604-0EF6-D78BA30F3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84C9-C542-4AF8-A582-31C678C668FC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7694C-A9DB-F199-5131-952DD8EC3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29B01-74C7-E486-77EE-51EE830C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39D198F1-DD50-C373-442D-B27BDB250C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98B8DC-FCFA-9CD9-43B6-57A9BBCAEC09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52A2F6-F03B-A0B4-3BA2-0F9F732D8D36}"/>
              </a:ext>
            </a:extLst>
          </p:cNvPr>
          <p:cNvSpPr txBox="1"/>
          <p:nvPr/>
        </p:nvSpPr>
        <p:spPr>
          <a:xfrm>
            <a:off x="609600" y="1295400"/>
            <a:ext cx="60188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Importance of CRM</a:t>
            </a:r>
          </a:p>
          <a:p>
            <a:endParaRPr lang="en-IN" b="1" dirty="0"/>
          </a:p>
          <a:p>
            <a:r>
              <a:rPr lang="en-US" sz="2400" dirty="0"/>
              <a:t>1. Improves customer satisfaction and loyalty.</a:t>
            </a:r>
          </a:p>
          <a:p>
            <a:r>
              <a:rPr lang="en-US" sz="2400" dirty="0"/>
              <a:t>2. Streamlines sales and marketing efforts.</a:t>
            </a:r>
          </a:p>
          <a:p>
            <a:r>
              <a:rPr lang="en-US" sz="2400" dirty="0"/>
              <a:t>3. Provides actionable insights through data   analytics.</a:t>
            </a:r>
          </a:p>
          <a:p>
            <a:r>
              <a:rPr lang="en-IN" sz="2400" dirty="0"/>
              <a:t>4. Enhances communication across teams.</a:t>
            </a:r>
          </a:p>
          <a:p>
            <a:r>
              <a:rPr lang="en-US" sz="2400" dirty="0"/>
              <a:t>5. Drives business growth and profitability.</a:t>
            </a:r>
          </a:p>
          <a:p>
            <a:endParaRPr lang="en-US" dirty="0"/>
          </a:p>
          <a:p>
            <a:endParaRPr lang="en-IN" b="1" dirty="0"/>
          </a:p>
        </p:txBody>
      </p:sp>
      <p:pic>
        <p:nvPicPr>
          <p:cNvPr id="5126" name="Picture 6" descr="of CRM in Modern Business ...">
            <a:extLst>
              <a:ext uri="{FF2B5EF4-FFF2-40B4-BE49-F238E27FC236}">
                <a16:creationId xmlns:a16="http://schemas.microsoft.com/office/drawing/2014/main" id="{2B647AB3-C3D3-8D11-F09A-2B2245E6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524000"/>
            <a:ext cx="5181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934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7F7EA-C372-8849-69EC-5DE25697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3CC2B-C98B-03CC-CDBC-DF3FE6341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9AF60-EC8A-4AD8-8A7C-69E22C4A91D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BADBA-39E4-6FC3-6AED-39A723EB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71120-2A85-E294-CF50-8E9DF0E64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8F6F905B-326D-808B-6C1B-A886CEE88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84AED51-5E84-C22E-2F96-54BE8402A152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6B9F2-6B2D-4EAC-B7C7-977CB3AE64F9}"/>
              </a:ext>
            </a:extLst>
          </p:cNvPr>
          <p:cNvSpPr txBox="1"/>
          <p:nvPr/>
        </p:nvSpPr>
        <p:spPr>
          <a:xfrm>
            <a:off x="5456904" y="1447800"/>
            <a:ext cx="6125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CRM Cycle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2A2927-78DC-4805-1A1E-D4C488E4204D}"/>
              </a:ext>
            </a:extLst>
          </p:cNvPr>
          <p:cNvSpPr txBox="1"/>
          <p:nvPr/>
        </p:nvSpPr>
        <p:spPr>
          <a:xfrm>
            <a:off x="685800" y="2032572"/>
            <a:ext cx="61254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Phases of CRM Cycle: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Acquisition:</a:t>
            </a:r>
            <a:r>
              <a:rPr lang="en-US" sz="2400" dirty="0"/>
              <a:t> Attracting new customers.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Retention:</a:t>
            </a:r>
            <a:r>
              <a:rPr lang="en-US" sz="2400" dirty="0"/>
              <a:t> Keeping existing customers satisfied.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Extension:</a:t>
            </a:r>
            <a:r>
              <a:rPr lang="en-US" sz="2400" dirty="0"/>
              <a:t> Upselling, cross-selling, and building loyalty.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Key Activities:</a:t>
            </a:r>
            <a:r>
              <a:rPr lang="en-US" sz="2400" dirty="0"/>
              <a:t> Data collection, segmentation, interaction, and feedback.</a:t>
            </a:r>
          </a:p>
        </p:txBody>
      </p:sp>
      <p:pic>
        <p:nvPicPr>
          <p:cNvPr id="1030" name="Picture 6" descr="CRM cycle">
            <a:extLst>
              <a:ext uri="{FF2B5EF4-FFF2-40B4-BE49-F238E27FC236}">
                <a16:creationId xmlns:a16="http://schemas.microsoft.com/office/drawing/2014/main" id="{9F07D242-8835-777A-18E9-FB5A45ABA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180949"/>
            <a:ext cx="4648200" cy="396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17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30BDC-94A0-1FEE-04D9-B16F9ED6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4CE10-3F49-EB23-E835-B31BF9F8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3C7C-CAFF-4A7A-9F6D-9E9A1E55012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063AB-8287-34EA-CBE9-42D5B5397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F327B-77B1-6F63-8FEC-DF62676E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B2152412-07E3-4C9C-2A63-83B768842F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F65A349-CCE9-1A3D-1157-F1B0929D8189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0E3DD-1267-2C80-3025-152712D64F51}"/>
              </a:ext>
            </a:extLst>
          </p:cNvPr>
          <p:cNvSpPr txBox="1"/>
          <p:nvPr/>
        </p:nvSpPr>
        <p:spPr>
          <a:xfrm>
            <a:off x="3352800" y="1447800"/>
            <a:ext cx="6125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CRM in Modern Context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DF904B-AC6E-AF08-8044-E727151CCFA2}"/>
              </a:ext>
            </a:extLst>
          </p:cNvPr>
          <p:cNvSpPr txBox="1"/>
          <p:nvPr/>
        </p:nvSpPr>
        <p:spPr>
          <a:xfrm>
            <a:off x="2209800" y="2133600"/>
            <a:ext cx="97917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Cloud-based CRM solutions (e.g., Salesforce, HubSpot).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 of AI and machine learning in customer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Integration with social media and omnichannel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Personalization and predictive analytics for enhanced engagement.</a:t>
            </a:r>
          </a:p>
        </p:txBody>
      </p:sp>
    </p:spTree>
    <p:extLst>
      <p:ext uri="{BB962C8B-B14F-4D97-AF65-F5344CB8AC3E}">
        <p14:creationId xmlns:p14="http://schemas.microsoft.com/office/powerpoint/2010/main" val="1833153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D5ED-751F-A64B-833C-60C2027B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B233C-EB47-0F73-4678-A93FF661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C674-4C7B-41E0-8F7F-11EDD832C5E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901EE-888A-484C-C333-19C934DC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B9ED9-E6C6-9CBF-1EA3-429388FC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9FF21E0F-1245-8543-F3A0-A43EF1298B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D523F7B-CF6E-44E9-28EB-947E570B2118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67EBF-F31F-5A1B-DF12-F54B0726FF97}"/>
              </a:ext>
            </a:extLst>
          </p:cNvPr>
          <p:cNvSpPr txBox="1"/>
          <p:nvPr/>
        </p:nvSpPr>
        <p:spPr>
          <a:xfrm>
            <a:off x="4034504" y="1524000"/>
            <a:ext cx="6125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Understanding Relationships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A5F40F3-E3D5-71C7-D09E-0096CA64E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9670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 of Customers and Relationships: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Customers: Individuals or organizations that buy products/services.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Relationships: Ongoing interactions between businesses and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2" name="Picture 4" descr="Customer relationship marketing ...">
            <a:extLst>
              <a:ext uri="{FF2B5EF4-FFF2-40B4-BE49-F238E27FC236}">
                <a16:creationId xmlns:a16="http://schemas.microsoft.com/office/drawing/2014/main" id="{0EC41D45-CC86-99DA-FF64-65638948F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00" y="2176463"/>
            <a:ext cx="2549525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66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F395-646B-996E-3D1E-5B828C4DD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8CEB3-158F-70BE-FCDF-A10DE8FA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8651-8597-4120-B194-CAE3B2F663E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2F19B-F36F-1D20-F7D6-CE84B766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AEECB-A2F2-CB56-6C57-51B00528E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1810A978-16FD-EBC4-F3FA-2F674C6BA4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FB129F1-6200-A93F-4F6D-78AA565903DE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CCBFE2-0047-338E-5B78-EE4B6F85B1A0}"/>
              </a:ext>
            </a:extLst>
          </p:cNvPr>
          <p:cNvSpPr txBox="1"/>
          <p:nvPr/>
        </p:nvSpPr>
        <p:spPr>
          <a:xfrm>
            <a:off x="4495800" y="1371600"/>
            <a:ext cx="6125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Need for Relationships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92416C-DAFF-3730-7811-838F04ED96F3}"/>
              </a:ext>
            </a:extLst>
          </p:cNvPr>
          <p:cNvSpPr txBox="1"/>
          <p:nvPr/>
        </p:nvSpPr>
        <p:spPr>
          <a:xfrm>
            <a:off x="1900904" y="2133600"/>
            <a:ext cx="61254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Build trust and rapport with customers.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Create long-term business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Gain competitive advantage in the market.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Foster customer advocacy and referrals.</a:t>
            </a:r>
          </a:p>
        </p:txBody>
      </p:sp>
    </p:spTree>
    <p:extLst>
      <p:ext uri="{BB962C8B-B14F-4D97-AF65-F5344CB8AC3E}">
        <p14:creationId xmlns:p14="http://schemas.microsoft.com/office/powerpoint/2010/main" val="3650374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E44C6-74FE-B7A2-173B-3ABDCD94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B5AB6-86E5-5F3F-9DBD-59AAF9EFE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B195B-23F1-4FF2-BC09-3621311833B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9F241-75B5-89A1-E079-66CB4002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B6337-C6CE-F120-D703-0D1DA6DA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A3F59C2B-A584-A607-498A-877AA94066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D8F702E-CDB9-17ED-5048-CD96FEFAD585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219A4-3B8F-94EE-CF48-0C8527FD91C0}"/>
              </a:ext>
            </a:extLst>
          </p:cNvPr>
          <p:cNvSpPr txBox="1"/>
          <p:nvPr/>
        </p:nvSpPr>
        <p:spPr>
          <a:xfrm>
            <a:off x="4024672" y="1235436"/>
            <a:ext cx="6125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Building Customer Relationships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620734-01BA-0F4A-55DA-E913218C3FD1}"/>
              </a:ext>
            </a:extLst>
          </p:cNvPr>
          <p:cNvSpPr txBox="1"/>
          <p:nvPr/>
        </p:nvSpPr>
        <p:spPr>
          <a:xfrm>
            <a:off x="2214716" y="1828800"/>
            <a:ext cx="61254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Strategies: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Personalized communication and offerings.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Proactive customer service.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Consistent engagement through loyalty programs.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Tools: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CRM software, email marketing, and social media platforms.</a:t>
            </a:r>
          </a:p>
        </p:txBody>
      </p:sp>
    </p:spTree>
    <p:extLst>
      <p:ext uri="{BB962C8B-B14F-4D97-AF65-F5344CB8AC3E}">
        <p14:creationId xmlns:p14="http://schemas.microsoft.com/office/powerpoint/2010/main" val="2982062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762D9-5AB5-F187-8D50-004520BA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6CC95-C1E6-BB56-9F71-B839828E6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BCDE-7038-41D7-AB7D-37E1B9BB733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6E55E-EB88-4AF2-363B-7E90275F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82C67-7FCD-655C-CC0B-D687ABBD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C3202E0-2AEE-4CCF-5521-0F9077B290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FA8F9DF-3345-134D-58B5-D50FE4EBD510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B4344-2585-6552-CB03-61D2FC9FCA27}"/>
              </a:ext>
            </a:extLst>
          </p:cNvPr>
          <p:cNvSpPr txBox="1"/>
          <p:nvPr/>
        </p:nvSpPr>
        <p:spPr>
          <a:xfrm>
            <a:off x="3657600" y="1295400"/>
            <a:ext cx="6125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Evolution of Relationships as a Marketing Tool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891BCE0-3CA2-B82F-67B5-6950BB21D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477" y="2190649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1082167-0213-6C79-F238-C1E5A1DA1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477" y="252968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80" name="Picture 8" descr="Customer Relationship Marketing Keynote Template | Nulivo Market">
            <a:extLst>
              <a:ext uri="{FF2B5EF4-FFF2-40B4-BE49-F238E27FC236}">
                <a16:creationId xmlns:a16="http://schemas.microsoft.com/office/drawing/2014/main" id="{1CA705D2-388A-B30E-9482-394110945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951" y="1860553"/>
            <a:ext cx="6743697" cy="4495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432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586EB-7735-ABDA-40FD-9A603213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0C610-A2E6-0AE5-6B40-A070BF8A4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E0D9-CED6-4BE3-9A4C-00A6BAEBF36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57384-96F0-354C-A3E1-69432CB3F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D7F02-348D-B8A2-4781-FFE83090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2A464AF4-FAD4-8B01-A06F-B33F49F30D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49F7D25-7B8F-68D4-9558-10D9DD738F35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21353-8C81-B79E-B277-685340B32BB0}"/>
              </a:ext>
            </a:extLst>
          </p:cNvPr>
          <p:cNvSpPr txBox="1"/>
          <p:nvPr/>
        </p:nvSpPr>
        <p:spPr>
          <a:xfrm>
            <a:off x="2239297" y="2290112"/>
            <a:ext cx="78338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Transactional to Relational: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from one-time sales to ongoing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Customer Experience: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Tailoring interactions to meet customer needs and preferences.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83E77-6883-1531-1CB9-39C4F5BA8107}"/>
              </a:ext>
            </a:extLst>
          </p:cNvPr>
          <p:cNvSpPr txBox="1"/>
          <p:nvPr/>
        </p:nvSpPr>
        <p:spPr>
          <a:xfrm>
            <a:off x="2895600" y="1640193"/>
            <a:ext cx="6297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Evolution of Relationships as a Marketing Tool</a:t>
            </a:r>
          </a:p>
        </p:txBody>
      </p:sp>
    </p:spTree>
    <p:extLst>
      <p:ext uri="{BB962C8B-B14F-4D97-AF65-F5344CB8AC3E}">
        <p14:creationId xmlns:p14="http://schemas.microsoft.com/office/powerpoint/2010/main" val="3942021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2293D9-F2AE-C992-DE6E-B815E4DE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F7FD-316E-4C71-A652-D1DB0C61CD72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A6DF4-A035-54FB-C815-34CD74773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C7DB6-BB27-1BBC-196F-F24BF9EF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B4434B5-26DF-34AB-4227-AA3A8662C5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/>
              <a:t>Noida Institute of Engineering and Technology, Greater Noida</a:t>
            </a:r>
            <a:br>
              <a:rPr lang="en-US" sz="4400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8BB1E-B3FC-60F6-44DF-EE326966F777}"/>
              </a:ext>
            </a:extLst>
          </p:cNvPr>
          <p:cNvSpPr txBox="1"/>
          <p:nvPr/>
        </p:nvSpPr>
        <p:spPr>
          <a:xfrm>
            <a:off x="3810000" y="1295400"/>
            <a:ext cx="6125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Customer Satisfaction, Value, and Loyalty</a:t>
            </a:r>
          </a:p>
        </p:txBody>
      </p:sp>
      <p:pic>
        <p:nvPicPr>
          <p:cNvPr id="4098" name="Picture 2" descr="Interdependence Between Customer Value Customer Satisfaction and Customer  Loyalty - Academic Mentor Online">
            <a:extLst>
              <a:ext uri="{FF2B5EF4-FFF2-40B4-BE49-F238E27FC236}">
                <a16:creationId xmlns:a16="http://schemas.microsoft.com/office/drawing/2014/main" id="{F7693C53-7D1A-81D0-2790-931EDE26D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417444" y="1785945"/>
            <a:ext cx="4672311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554DA2-AD7E-F8C1-AAC7-C7872DE5AC29}"/>
              </a:ext>
            </a:extLst>
          </p:cNvPr>
          <p:cNvSpPr txBox="1"/>
          <p:nvPr/>
        </p:nvSpPr>
        <p:spPr>
          <a:xfrm>
            <a:off x="1524000" y="2413337"/>
            <a:ext cx="61254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Satisfaction: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Meeting or exceeding customer expectations.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Value: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Delivering quality products and services at fair prices.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Loyalty: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Building trust and emotional connection with customers.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E7C9E80-2A98-59BF-807B-D50A2B3EFFD4}"/>
              </a:ext>
            </a:extLst>
          </p:cNvPr>
          <p:cNvSpPr txBox="1">
            <a:spLocks/>
          </p:cNvSpPr>
          <p:nvPr/>
        </p:nvSpPr>
        <p:spPr>
          <a:xfrm>
            <a:off x="2209800" y="-2350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32532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C3A146-DA12-EB11-D88F-C5B5AD46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279E-0FC6-409D-8ECF-755FD21180A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E72F2-430F-2729-94AF-6BEF8E00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8B41E-F055-E9F0-26AD-4CD5BCCE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FFCF2-9FE0-9287-76A0-626878E42BBD}"/>
              </a:ext>
            </a:extLst>
          </p:cNvPr>
          <p:cNvSpPr txBox="1"/>
          <p:nvPr/>
        </p:nvSpPr>
        <p:spPr>
          <a:xfrm>
            <a:off x="3810000" y="1371600"/>
            <a:ext cx="6125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Relationship Management Theories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EA52E7-30B9-CF0C-5AD5-CA344CA80451}"/>
              </a:ext>
            </a:extLst>
          </p:cNvPr>
          <p:cNvSpPr txBox="1"/>
          <p:nvPr/>
        </p:nvSpPr>
        <p:spPr>
          <a:xfrm>
            <a:off x="914400" y="2109199"/>
            <a:ext cx="61254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Social Exchange Theory: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Focuses on reciprocal benefits in relationships.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Commitment-Trust Theory: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Emphasizes trust and commitment as key relationship drivers.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Customer Loyalty Ladder: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Stages from prospects to advocates.</a:t>
            </a:r>
          </a:p>
        </p:txBody>
      </p:sp>
      <p:pic>
        <p:nvPicPr>
          <p:cNvPr id="5122" name="Picture 2" descr="Management Theories">
            <a:extLst>
              <a:ext uri="{FF2B5EF4-FFF2-40B4-BE49-F238E27FC236}">
                <a16:creationId xmlns:a16="http://schemas.microsoft.com/office/drawing/2014/main" id="{92229C97-9945-6B14-030D-D8C43E33B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894820"/>
            <a:ext cx="5334000" cy="403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2AC6205-6B74-B9A3-6490-C25428B716E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09800" y="0"/>
            <a:ext cx="9982200" cy="90963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82630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4869C-652C-0E18-E0FE-F820D5CED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67E8C-87FB-4AF2-9A64-F5790A7BA9F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55FB7-BFC0-A69C-3554-10F3A0F1D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9D35-CC5A-A7F6-3276-0CE060ED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0A9301-3976-8170-AF6E-03C74B9B501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09800" y="0"/>
            <a:ext cx="9982200" cy="90963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5B580-9DD1-A684-589E-8DB8B1057427}"/>
              </a:ext>
            </a:extLst>
          </p:cNvPr>
          <p:cNvSpPr txBox="1"/>
          <p:nvPr/>
        </p:nvSpPr>
        <p:spPr>
          <a:xfrm>
            <a:off x="2819400" y="1219200"/>
            <a:ext cx="6125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1800" dirty="0"/>
              <a:t>MCQ 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097473-D47E-639E-D016-34AE6828873C}"/>
              </a:ext>
            </a:extLst>
          </p:cNvPr>
          <p:cNvSpPr txBox="1"/>
          <p:nvPr/>
        </p:nvSpPr>
        <p:spPr>
          <a:xfrm>
            <a:off x="1676400" y="1588532"/>
            <a:ext cx="6126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What does CRM stand for?</a:t>
            </a:r>
          </a:p>
          <a:p>
            <a:r>
              <a:rPr lang="en-US" dirty="0"/>
              <a:t>a) Customer Retention Management</a:t>
            </a:r>
            <a:br>
              <a:rPr lang="en-US" dirty="0"/>
            </a:br>
            <a:r>
              <a:rPr lang="en-US" dirty="0"/>
              <a:t>b) Customer Relationship Management</a:t>
            </a:r>
            <a:br>
              <a:rPr lang="en-US" dirty="0"/>
            </a:br>
            <a:r>
              <a:rPr lang="en-US" dirty="0"/>
              <a:t>c) Client Resource Management</a:t>
            </a:r>
            <a:br>
              <a:rPr lang="en-US" dirty="0"/>
            </a:br>
            <a:r>
              <a:rPr lang="en-US" dirty="0"/>
              <a:t>d) Customer Response Mechanism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148391-1230-CFAD-690E-21E79FEE56AA}"/>
              </a:ext>
            </a:extLst>
          </p:cNvPr>
          <p:cNvSpPr txBox="1"/>
          <p:nvPr/>
        </p:nvSpPr>
        <p:spPr>
          <a:xfrm>
            <a:off x="1676400" y="3113227"/>
            <a:ext cx="6126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Which of the following is NOT a type of CRM?</a:t>
            </a:r>
          </a:p>
          <a:p>
            <a:r>
              <a:rPr lang="en-US" dirty="0"/>
              <a:t>a) Operational CRM</a:t>
            </a:r>
            <a:br>
              <a:rPr lang="en-US" dirty="0"/>
            </a:br>
            <a:r>
              <a:rPr lang="en-US" dirty="0"/>
              <a:t>b) Analytical CRM</a:t>
            </a:r>
            <a:br>
              <a:rPr lang="en-US" dirty="0"/>
            </a:br>
            <a:r>
              <a:rPr lang="en-US" dirty="0"/>
              <a:t>c) Collaborative CRM</a:t>
            </a:r>
            <a:br>
              <a:rPr lang="en-US" dirty="0"/>
            </a:br>
            <a:r>
              <a:rPr lang="en-US" dirty="0"/>
              <a:t>d) Transformational CRM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9C71F2-0357-CC5F-EE4A-BB05E3FA09D5}"/>
              </a:ext>
            </a:extLst>
          </p:cNvPr>
          <p:cNvSpPr txBox="1"/>
          <p:nvPr/>
        </p:nvSpPr>
        <p:spPr>
          <a:xfrm>
            <a:off x="1615440" y="4637923"/>
            <a:ext cx="6126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The CRM cycle includes which of the following phases?</a:t>
            </a:r>
          </a:p>
          <a:p>
            <a:r>
              <a:rPr lang="en-US" dirty="0"/>
              <a:t>a) Acquisition, Retention, Extension</a:t>
            </a:r>
            <a:br>
              <a:rPr lang="en-US" dirty="0"/>
            </a:br>
            <a:r>
              <a:rPr lang="en-US" dirty="0"/>
              <a:t>b) Planning, Implementation, Review</a:t>
            </a:r>
            <a:br>
              <a:rPr lang="en-US" dirty="0"/>
            </a:br>
            <a:r>
              <a:rPr lang="en-US" dirty="0"/>
              <a:t>c) Onboarding, Analysis, Feedback</a:t>
            </a:r>
            <a:br>
              <a:rPr lang="en-US" dirty="0"/>
            </a:br>
            <a:r>
              <a:rPr lang="en-US" dirty="0"/>
              <a:t>d) Engagement, Forecasting, Reporting</a:t>
            </a:r>
          </a:p>
        </p:txBody>
      </p:sp>
    </p:spTree>
    <p:extLst>
      <p:ext uri="{BB962C8B-B14F-4D97-AF65-F5344CB8AC3E}">
        <p14:creationId xmlns:p14="http://schemas.microsoft.com/office/powerpoint/2010/main" val="589088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919F4-D77F-2247-C894-A96F27E6B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BEB8-C636-4913-B1B9-CBD67EC10AC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2D2A-312E-4E9D-64CD-BD3385F9D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98511-3253-7546-A3AB-0435D42C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C50813-1795-FD53-EB78-EE8F81F99A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/>
              <a:t>Noida Institute of Engineering and Technology, Greater Noida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18845-79FA-9E78-1E39-252F6A083C78}"/>
              </a:ext>
            </a:extLst>
          </p:cNvPr>
          <p:cNvSpPr txBox="1"/>
          <p:nvPr/>
        </p:nvSpPr>
        <p:spPr>
          <a:xfrm>
            <a:off x="2062480" y="1066800"/>
            <a:ext cx="6126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What is the main purpose of Analytical CRM?</a:t>
            </a:r>
          </a:p>
          <a:p>
            <a:r>
              <a:rPr lang="en-US" dirty="0"/>
              <a:t>a) Automating customer service processes</a:t>
            </a:r>
            <a:br>
              <a:rPr lang="en-US" dirty="0"/>
            </a:br>
            <a:r>
              <a:rPr lang="en-US" dirty="0"/>
              <a:t>b) Enhancing customer communication</a:t>
            </a:r>
            <a:br>
              <a:rPr lang="en-US" dirty="0"/>
            </a:br>
            <a:r>
              <a:rPr lang="en-US" dirty="0"/>
              <a:t>c) Analyzing customer data for better decision-making</a:t>
            </a:r>
            <a:br>
              <a:rPr lang="en-US" dirty="0"/>
            </a:br>
            <a:r>
              <a:rPr lang="en-US" dirty="0"/>
              <a:t>d) Personalizing customer interactions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C8CA8-0D7B-8100-29BA-C8C317F1A0DF}"/>
              </a:ext>
            </a:extLst>
          </p:cNvPr>
          <p:cNvSpPr txBox="1"/>
          <p:nvPr/>
        </p:nvSpPr>
        <p:spPr>
          <a:xfrm>
            <a:off x="2062480" y="2544128"/>
            <a:ext cx="6126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Which CRM model focuses on improving communication across teams?</a:t>
            </a:r>
          </a:p>
          <a:p>
            <a:r>
              <a:rPr lang="en-US" dirty="0"/>
              <a:t>a) Operational CRM</a:t>
            </a:r>
            <a:br>
              <a:rPr lang="en-US" dirty="0"/>
            </a:br>
            <a:r>
              <a:rPr lang="en-US" dirty="0"/>
              <a:t>b) Analytical CRM</a:t>
            </a:r>
            <a:br>
              <a:rPr lang="en-US" dirty="0"/>
            </a:br>
            <a:r>
              <a:rPr lang="en-US" dirty="0"/>
              <a:t>c) Collaborative CRM</a:t>
            </a:r>
            <a:br>
              <a:rPr lang="en-US" dirty="0"/>
            </a:br>
            <a:r>
              <a:rPr lang="en-US" dirty="0"/>
              <a:t>d) Strategic CRM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03FAB-E523-8A06-41EC-21AF235E515C}"/>
              </a:ext>
            </a:extLst>
          </p:cNvPr>
          <p:cNvSpPr txBox="1"/>
          <p:nvPr/>
        </p:nvSpPr>
        <p:spPr>
          <a:xfrm>
            <a:off x="2062480" y="4298454"/>
            <a:ext cx="6126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The evolution of CRM began with which of the following systems?</a:t>
            </a:r>
          </a:p>
          <a:p>
            <a:r>
              <a:rPr lang="en-US" dirty="0"/>
              <a:t>a) Relationship marketing systems</a:t>
            </a:r>
            <a:br>
              <a:rPr lang="en-US" dirty="0"/>
            </a:br>
            <a:r>
              <a:rPr lang="en-US" dirty="0"/>
              <a:t>b) Cloud-based CRM platforms</a:t>
            </a:r>
            <a:br>
              <a:rPr lang="en-US" dirty="0"/>
            </a:br>
            <a:r>
              <a:rPr lang="en-US" dirty="0"/>
              <a:t>c) Sales automation systems</a:t>
            </a:r>
            <a:br>
              <a:rPr lang="en-US" dirty="0"/>
            </a:br>
            <a:r>
              <a:rPr lang="en-US" dirty="0"/>
              <a:t>d) Predictive analytics</a:t>
            </a:r>
          </a:p>
        </p:txBody>
      </p:sp>
    </p:spTree>
    <p:extLst>
      <p:ext uri="{BB962C8B-B14F-4D97-AF65-F5344CB8AC3E}">
        <p14:creationId xmlns:p14="http://schemas.microsoft.com/office/powerpoint/2010/main" val="1107164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82BA3D-2BF4-B509-37B3-21E0F57C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29E-1E78-4468-A84A-F5155BA03FF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6371EF-8A25-AB31-CCE3-9F4D07D31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B115A-FCF2-8763-42D3-A616E7EC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4EF76E-926F-0FCD-9296-080F1DCE5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/>
              <a:t>Noida Institute of Engineering and Technology, Greater Noida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6A5942-CB75-6BF1-2A8F-3045725F1107}"/>
              </a:ext>
            </a:extLst>
          </p:cNvPr>
          <p:cNvSpPr txBox="1"/>
          <p:nvPr/>
        </p:nvSpPr>
        <p:spPr>
          <a:xfrm>
            <a:off x="2209800" y="1031684"/>
            <a:ext cx="6126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7. What is a key benefit of implementing CRM in an organization?</a:t>
            </a:r>
          </a:p>
          <a:p>
            <a:r>
              <a:rPr lang="en-US" dirty="0"/>
              <a:t>a) Reduced operational costs only</a:t>
            </a:r>
            <a:br>
              <a:rPr lang="en-US" dirty="0"/>
            </a:br>
            <a:r>
              <a:rPr lang="en-US" dirty="0"/>
              <a:t>b) Improved customer satisfaction and loyalty</a:t>
            </a:r>
            <a:br>
              <a:rPr lang="en-US" dirty="0"/>
            </a:br>
            <a:r>
              <a:rPr lang="en-US" dirty="0"/>
              <a:t>c) Faster product development</a:t>
            </a:r>
            <a:br>
              <a:rPr lang="en-US" dirty="0"/>
            </a:br>
            <a:r>
              <a:rPr lang="en-US" dirty="0"/>
              <a:t>d) Elimination of human resources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FEE239-AF07-FB55-5FCD-279B3DDDC8C7}"/>
              </a:ext>
            </a:extLst>
          </p:cNvPr>
          <p:cNvSpPr txBox="1"/>
          <p:nvPr/>
        </p:nvSpPr>
        <p:spPr>
          <a:xfrm>
            <a:off x="2209800" y="2698433"/>
            <a:ext cx="6126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8. Customer satisfaction primarily involves:</a:t>
            </a:r>
          </a:p>
          <a:p>
            <a:r>
              <a:rPr lang="en-US" dirty="0"/>
              <a:t>a) Offering the lowest price in the market</a:t>
            </a:r>
            <a:br>
              <a:rPr lang="en-US" dirty="0"/>
            </a:br>
            <a:r>
              <a:rPr lang="en-US" dirty="0"/>
              <a:t>b) Meeting or exceeding customer expectations</a:t>
            </a:r>
            <a:br>
              <a:rPr lang="en-US" dirty="0"/>
            </a:br>
            <a:r>
              <a:rPr lang="en-US" dirty="0"/>
              <a:t>c) Following up with every customer daily</a:t>
            </a:r>
            <a:br>
              <a:rPr lang="en-US" dirty="0"/>
            </a:br>
            <a:r>
              <a:rPr lang="en-US" dirty="0"/>
              <a:t>d) Using only automated customer service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C03305-B0C2-31A9-4843-56C1153E81FB}"/>
              </a:ext>
            </a:extLst>
          </p:cNvPr>
          <p:cNvSpPr txBox="1"/>
          <p:nvPr/>
        </p:nvSpPr>
        <p:spPr>
          <a:xfrm>
            <a:off x="2209800" y="4264884"/>
            <a:ext cx="6126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9. The social exchange theory in relationship management emphasizes:</a:t>
            </a:r>
          </a:p>
          <a:p>
            <a:r>
              <a:rPr lang="en-US" dirty="0"/>
              <a:t>a) Building customer loyalty programs</a:t>
            </a:r>
            <a:br>
              <a:rPr lang="en-US" dirty="0"/>
            </a:br>
            <a:r>
              <a:rPr lang="en-US" dirty="0"/>
              <a:t>b) Reciprocal benefits in relationships</a:t>
            </a:r>
            <a:br>
              <a:rPr lang="en-US" dirty="0"/>
            </a:br>
            <a:r>
              <a:rPr lang="en-US" dirty="0"/>
              <a:t>c) Cross-selling and upselling opportunities</a:t>
            </a:r>
            <a:br>
              <a:rPr lang="en-US" dirty="0"/>
            </a:br>
            <a:r>
              <a:rPr lang="en-US" dirty="0"/>
              <a:t>d) Automating all customer interactions</a:t>
            </a:r>
          </a:p>
        </p:txBody>
      </p:sp>
    </p:spTree>
    <p:extLst>
      <p:ext uri="{BB962C8B-B14F-4D97-AF65-F5344CB8AC3E}">
        <p14:creationId xmlns:p14="http://schemas.microsoft.com/office/powerpoint/2010/main" val="2237957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49D0E4-67E6-1480-8FF4-45B85EF7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02E8-3901-4181-967C-B496936B640C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50715-6FFF-1257-7E22-98768D3AF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                     AOE0865 &amp; CRM                                 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A84ED-FF99-01ED-BE55-DC09A385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0439CE-DAB6-EF3F-BCB1-37DB3930F1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/>
              <a:t>Noida Institute of Engineering and Technology, Greater Noida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62F81-BC12-9421-14A6-9FDE4F960612}"/>
              </a:ext>
            </a:extLst>
          </p:cNvPr>
          <p:cNvSpPr txBox="1"/>
          <p:nvPr/>
        </p:nvSpPr>
        <p:spPr>
          <a:xfrm>
            <a:off x="2056581" y="1219200"/>
            <a:ext cx="61254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10. Which of the following technologies is increasingly used in modern CRM systems?</a:t>
            </a:r>
          </a:p>
          <a:p>
            <a:r>
              <a:rPr lang="en-US" dirty="0"/>
              <a:t>a) Typewriters</a:t>
            </a:r>
            <a:br>
              <a:rPr lang="en-US" dirty="0"/>
            </a:br>
            <a:r>
              <a:rPr lang="en-US" dirty="0"/>
              <a:t>b) Cloud computing and AI</a:t>
            </a:r>
            <a:br>
              <a:rPr lang="en-US" dirty="0"/>
            </a:br>
            <a:r>
              <a:rPr lang="en-US" dirty="0"/>
              <a:t>c) Traditional filing systems</a:t>
            </a:r>
            <a:br>
              <a:rPr lang="en-US" dirty="0"/>
            </a:br>
            <a:r>
              <a:rPr lang="en-US" dirty="0"/>
              <a:t>d) Manual ledgers</a:t>
            </a:r>
          </a:p>
        </p:txBody>
      </p:sp>
    </p:spTree>
    <p:extLst>
      <p:ext uri="{BB962C8B-B14F-4D97-AF65-F5344CB8AC3E}">
        <p14:creationId xmlns:p14="http://schemas.microsoft.com/office/powerpoint/2010/main" val="2839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1E0C9-7AD7-434F-9AB1-5F97C3089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319" y="1365887"/>
            <a:ext cx="5369160" cy="3939959"/>
          </a:xfrm>
          <a:prstGeom prst="rect">
            <a:avLst/>
          </a:prstGeom>
        </p:spPr>
      </p:pic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52497" y="1056640"/>
            <a:ext cx="3197660" cy="31257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-2377440" y="3246120"/>
            <a:ext cx="5605272" cy="3657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nl-NL" sz="11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Ms.Rachna                                  AOE0865 &amp; CRM                                  1</a:t>
            </a:r>
            <a:endParaRPr lang="en-US" sz="1150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84796" y="5769149"/>
            <a:ext cx="2169006" cy="365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Aft>
                <a:spcPts val="600"/>
              </a:spcAft>
            </a:pPr>
            <a:fld id="{0A955529-8C41-44BD-A0E2-D6140AB107F2}" type="datetime1">
              <a:rPr lang="en-US" sz="1150" smtClean="0">
                <a:solidFill>
                  <a:srgbClr val="FFFFFF"/>
                </a:solidFill>
              </a:rPr>
              <a:t>4/1/2026</a:t>
            </a:fld>
            <a:endParaRPr lang="en-US" sz="115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84689" y="4887261"/>
            <a:ext cx="1669112" cy="1008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6F15528-21DE-4FAA-801E-634DDDAF4B2B}" type="slidenum">
              <a:rPr lang="en-US" sz="66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24</a:t>
            </a:fld>
            <a:endParaRPr lang="en-US" sz="6600">
              <a:solidFill>
                <a:srgbClr val="FFFFFF"/>
              </a:solidFill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A0BCFEA-07AE-8123-A635-D4BA5CABA9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4655</TotalTime>
  <Words>1668</Words>
  <Application>Microsoft Office PowerPoint</Application>
  <PresentationFormat>Widescreen</PresentationFormat>
  <Paragraphs>262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Noida Institute of Engineering and Technology, Greater Noida</vt:lpstr>
      <vt:lpstr>  Vision &amp; Mission of Institute </vt:lpstr>
      <vt:lpstr> Vision and Mission of the Department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Noida Institute of Engineering and Technology, Greater Noida </vt:lpstr>
      <vt:lpstr>Noida Institute of Engineering and Technology, Greater Noida</vt:lpstr>
      <vt:lpstr>Noida Institute of Engineering and Technology, Greater Noida</vt:lpstr>
      <vt:lpstr>Noida Institute of Engineering and Technology, Greater Noida</vt:lpstr>
      <vt:lpstr>Noida Institute of Engineering and Technology, Greater Noida</vt:lpstr>
      <vt:lpstr>Noida Institute of Engineering and Technology, Greater Noida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Manks</dc:creator>
  <cp:lastModifiedBy>Ms. Rachna Sharma</cp:lastModifiedBy>
  <cp:revision>98</cp:revision>
  <dcterms:created xsi:type="dcterms:W3CDTF">2006-08-16T00:00:00Z</dcterms:created>
  <dcterms:modified xsi:type="dcterms:W3CDTF">2026-04-01T06:59:36Z</dcterms:modified>
</cp:coreProperties>
</file>