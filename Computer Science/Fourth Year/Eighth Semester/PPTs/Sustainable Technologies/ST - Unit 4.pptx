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61"/>
  </p:notesMasterIdLst>
  <p:handoutMasterIdLst>
    <p:handoutMasterId r:id="rId62"/>
  </p:handoutMasterIdLst>
  <p:sldIdLst>
    <p:sldId id="411" r:id="rId2"/>
    <p:sldId id="413" r:id="rId3"/>
    <p:sldId id="414" r:id="rId4"/>
    <p:sldId id="394" r:id="rId5"/>
    <p:sldId id="258" r:id="rId6"/>
    <p:sldId id="298" r:id="rId7"/>
    <p:sldId id="299" r:id="rId8"/>
    <p:sldId id="300" r:id="rId9"/>
    <p:sldId id="395" r:id="rId10"/>
    <p:sldId id="420" r:id="rId11"/>
    <p:sldId id="421" r:id="rId12"/>
    <p:sldId id="422" r:id="rId13"/>
    <p:sldId id="400" r:id="rId14"/>
    <p:sldId id="423" r:id="rId15"/>
    <p:sldId id="424" r:id="rId16"/>
    <p:sldId id="425" r:id="rId17"/>
    <p:sldId id="426" r:id="rId18"/>
    <p:sldId id="427" r:id="rId19"/>
    <p:sldId id="428" r:id="rId20"/>
    <p:sldId id="429" r:id="rId21"/>
    <p:sldId id="430" r:id="rId22"/>
    <p:sldId id="431" r:id="rId23"/>
    <p:sldId id="432" r:id="rId24"/>
    <p:sldId id="433" r:id="rId25"/>
    <p:sldId id="434" r:id="rId26"/>
    <p:sldId id="435" r:id="rId27"/>
    <p:sldId id="436" r:id="rId28"/>
    <p:sldId id="437" r:id="rId29"/>
    <p:sldId id="438" r:id="rId30"/>
    <p:sldId id="467" r:id="rId31"/>
    <p:sldId id="439" r:id="rId32"/>
    <p:sldId id="440" r:id="rId33"/>
    <p:sldId id="441" r:id="rId34"/>
    <p:sldId id="442" r:id="rId35"/>
    <p:sldId id="443" r:id="rId36"/>
    <p:sldId id="444" r:id="rId37"/>
    <p:sldId id="445" r:id="rId38"/>
    <p:sldId id="446" r:id="rId39"/>
    <p:sldId id="447" r:id="rId40"/>
    <p:sldId id="448" r:id="rId41"/>
    <p:sldId id="449" r:id="rId42"/>
    <p:sldId id="450" r:id="rId43"/>
    <p:sldId id="451" r:id="rId44"/>
    <p:sldId id="452" r:id="rId45"/>
    <p:sldId id="453" r:id="rId46"/>
    <p:sldId id="454" r:id="rId47"/>
    <p:sldId id="455" r:id="rId48"/>
    <p:sldId id="456" r:id="rId49"/>
    <p:sldId id="457" r:id="rId50"/>
    <p:sldId id="458" r:id="rId51"/>
    <p:sldId id="459" r:id="rId52"/>
    <p:sldId id="460" r:id="rId53"/>
    <p:sldId id="461" r:id="rId54"/>
    <p:sldId id="462" r:id="rId55"/>
    <p:sldId id="463" r:id="rId56"/>
    <p:sldId id="464" r:id="rId57"/>
    <p:sldId id="465" r:id="rId58"/>
    <p:sldId id="466" r:id="rId59"/>
    <p:sldId id="358"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80" autoAdjust="0"/>
  </p:normalViewPr>
  <p:slideViewPr>
    <p:cSldViewPr>
      <p:cViewPr varScale="1">
        <p:scale>
          <a:sx n="73" d="100"/>
          <a:sy n="73" d="100"/>
        </p:scale>
        <p:origin x="1320" y="78"/>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2/5/2026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5948679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2/5/2026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576402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1614250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1569577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smtClean="0"/>
              <a:t>JAN 1, 2023</a:t>
            </a:r>
            <a:endParaRPr lang="en-US"/>
          </a:p>
        </p:txBody>
      </p:sp>
      <p:sp>
        <p:nvSpPr>
          <p:cNvPr id="6" name="Footer Placeholder 5"/>
          <p:cNvSpPr>
            <a:spLocks noGrp="1"/>
          </p:cNvSpPr>
          <p:nvPr>
            <p:ph type="ftr" sz="quarter" idx="11"/>
          </p:nvPr>
        </p:nvSpPr>
        <p:spPr/>
        <p:txBody>
          <a:bodyPr/>
          <a:lstStyle/>
          <a:p>
            <a:r>
              <a:rPr lang="en-US" smtClean="0"/>
              <a:t>Mini Jain                AOE 0866 ST                Unit 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smtClean="0"/>
              <a:t>JAN 1, 2023</a:t>
            </a:r>
            <a:endParaRPr lang="en-US"/>
          </a:p>
        </p:txBody>
      </p:sp>
      <p:sp>
        <p:nvSpPr>
          <p:cNvPr id="8" name="Footer Placeholder 7"/>
          <p:cNvSpPr>
            <a:spLocks noGrp="1"/>
          </p:cNvSpPr>
          <p:nvPr>
            <p:ph type="ftr" sz="quarter" idx="11"/>
          </p:nvPr>
        </p:nvSpPr>
        <p:spPr/>
        <p:txBody>
          <a:bodyPr/>
          <a:lstStyle/>
          <a:p>
            <a:r>
              <a:rPr lang="en-US" smtClean="0"/>
              <a:t>Mini Jain                AOE 0866 ST                Unit 4</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smtClean="0"/>
              <a:t>JAN 1, 2023</a:t>
            </a:r>
            <a:endParaRPr lang="en-US"/>
          </a:p>
        </p:txBody>
      </p:sp>
      <p:sp>
        <p:nvSpPr>
          <p:cNvPr id="4" name="Footer Placeholder 3"/>
          <p:cNvSpPr>
            <a:spLocks noGrp="1"/>
          </p:cNvSpPr>
          <p:nvPr>
            <p:ph type="ftr" sz="quarter" idx="11"/>
          </p:nvPr>
        </p:nvSpPr>
        <p:spPr/>
        <p:txBody>
          <a:bodyPr/>
          <a:lstStyle/>
          <a:p>
            <a:r>
              <a:rPr lang="en-US" smtClean="0"/>
              <a:t>Mini Jain                AOE 0866 ST                Unit 4</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JAN 1, 2023</a:t>
            </a:r>
            <a:endParaRPr lang="en-US"/>
          </a:p>
        </p:txBody>
      </p:sp>
      <p:sp>
        <p:nvSpPr>
          <p:cNvPr id="3" name="Footer Placeholder 2"/>
          <p:cNvSpPr>
            <a:spLocks noGrp="1"/>
          </p:cNvSpPr>
          <p:nvPr>
            <p:ph type="ftr" sz="quarter" idx="11"/>
          </p:nvPr>
        </p:nvSpPr>
        <p:spPr/>
        <p:txBody>
          <a:bodyPr/>
          <a:lstStyle/>
          <a:p>
            <a:r>
              <a:rPr lang="en-US" smtClean="0"/>
              <a:t>Mini Jain                AOE 0866 ST                Unit 4</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smtClean="0"/>
              <a:t>JAN 1, 2023</a:t>
            </a:r>
            <a:endParaRPr lang="en-US"/>
          </a:p>
        </p:txBody>
      </p:sp>
      <p:sp>
        <p:nvSpPr>
          <p:cNvPr id="6" name="Footer Placeholder 5"/>
          <p:cNvSpPr>
            <a:spLocks noGrp="1"/>
          </p:cNvSpPr>
          <p:nvPr>
            <p:ph type="ftr" sz="quarter" idx="11"/>
          </p:nvPr>
        </p:nvSpPr>
        <p:spPr/>
        <p:txBody>
          <a:bodyPr/>
          <a:lstStyle/>
          <a:p>
            <a:r>
              <a:rPr lang="en-US" smtClean="0"/>
              <a:t>Mini Jain                AOE 0866 ST                Unit 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smtClean="0"/>
              <a:t>JAN 1, 2023</a:t>
            </a:r>
            <a:endParaRPr lang="en-US"/>
          </a:p>
        </p:txBody>
      </p:sp>
      <p:sp>
        <p:nvSpPr>
          <p:cNvPr id="6" name="Footer Placeholder 5"/>
          <p:cNvSpPr>
            <a:spLocks noGrp="1"/>
          </p:cNvSpPr>
          <p:nvPr>
            <p:ph type="ftr" sz="quarter" idx="11"/>
          </p:nvPr>
        </p:nvSpPr>
        <p:spPr/>
        <p:txBody>
          <a:bodyPr/>
          <a:lstStyle/>
          <a:p>
            <a:r>
              <a:rPr lang="en-US" smtClean="0"/>
              <a:t>Mini Jain                AOE 0866 ST                Unit 4</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JAN 1, 2023</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Mini Jain                AOE 0866 ST                Unit 4</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unece.org/sites/default/files/2021-10/LCA-2.pdf" TargetMode="External"/><Relationship Id="rId2" Type="http://schemas.openxmlformats.org/officeDocument/2006/relationships/hyperlink" Target="https://unece.org/DAM/energy/se/pdfs/comm25/ECE_ENERGY_2016_4.pdf"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ipcc.ch/site/assets/uploads/2018/03/Chapter-3-Direct-Solar-Energy-1.pdf"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ipcc.ch/site/assets/uploads/2018/03/Chapter-7-Wind-Energy-1.pdf"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ipcc.ch/site/assets/uploads/2018/03/Chapter-4-Geothermal-Energy-1.pdf"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ipcc.ch/site/assets/uploads/2018/03/Chapter-5-Hydropower-1.pdf"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ipcc.ch/site/assets/uploads/2018/03/Chapter-6-Ocean-Energy-1.pdf"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ipcc.ch/site/assets/uploads/2018/03/Chapter-2-Bioenergy-1.pdf"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eqseis.geosc.psu.edu/~cammon/HTML/Classes/IntroQuakes/Notes/plate_tect01.html"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en.wikipedia.org/wiki/Biomass"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www.accuweather.com/en/weather-blogs/climatechange/low-carbon-energy-the-benefits/53959770" TargetMode="External"/><Relationship Id="rId2" Type="http://schemas.openxmlformats.org/officeDocument/2006/relationships/hyperlink" Target="https://www.sciencedaily.com/releases/2015/11/151130125019.htm"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www.sciencenewsline.com/news/2015120100270043.html" TargetMode="External"/><Relationship Id="rId2" Type="http://schemas.openxmlformats.org/officeDocument/2006/relationships/hyperlink" Target="http://www.nrdc.org/energy/renewables/"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www.sciencenewsline.com/news/2015120100270043.html" TargetMode="External"/><Relationship Id="rId2" Type="http://schemas.openxmlformats.org/officeDocument/2006/relationships/hyperlink" Target="http://www.accuweather.com/en/weather-blogs/climatechange/low-carbon-energy-the-benefits/53959770"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www.accuweather.com/en/weather-blogs/climatechange/low-carbon-energy-the-benefits/53959770" TargetMode="External"/><Relationship Id="rId2" Type="http://schemas.openxmlformats.org/officeDocument/2006/relationships/hyperlink" Target="http://environment.nationalgeographic.com/environment/global-warming/solar-power-profile/"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a:t>Noida Institute of Engineering and Technology, Greater Noida</a:t>
            </a:r>
          </a:p>
        </p:txBody>
      </p:sp>
      <p:sp>
        <p:nvSpPr>
          <p:cNvPr id="3" name="Subtitle 2"/>
          <p:cNvSpPr>
            <a:spLocks noGrp="1"/>
          </p:cNvSpPr>
          <p:nvPr>
            <p:ph type="subTitle" idx="1"/>
          </p:nvPr>
        </p:nvSpPr>
        <p:spPr>
          <a:xfrm>
            <a:off x="1524000" y="879186"/>
            <a:ext cx="6400800" cy="1752600"/>
          </a:xfrm>
        </p:spPr>
        <p:style>
          <a:lnRef idx="2">
            <a:schemeClr val="accent5"/>
          </a:lnRef>
          <a:fillRef idx="1">
            <a:schemeClr val="lt1"/>
          </a:fillRef>
          <a:effectRef idx="0">
            <a:schemeClr val="accent5"/>
          </a:effectRef>
          <a:fontRef idx="minor">
            <a:schemeClr val="dk1"/>
          </a:fontRef>
        </p:style>
        <p:txBody>
          <a:bodyPr>
            <a:normAutofit/>
          </a:bodyPr>
          <a:lstStyle/>
          <a:p>
            <a:endParaRPr lang="en-US" sz="2800" b="1" dirty="0">
              <a:solidFill>
                <a:schemeClr val="tx1"/>
              </a:solidFill>
            </a:endParaRPr>
          </a:p>
          <a:p>
            <a:pPr>
              <a:defRPr/>
            </a:pPr>
            <a:r>
              <a:rPr lang="en-US" sz="2800" b="1" dirty="0" smtClean="0">
                <a:solidFill>
                  <a:schemeClr val="tx1"/>
                </a:solidFill>
              </a:rPr>
              <a:t>Applied Renewable Energy Technologies</a:t>
            </a:r>
            <a:endParaRPr lang="en-US" sz="2800" b="1" dirty="0">
              <a:solidFill>
                <a:schemeClr val="tx1"/>
              </a:solidFill>
            </a:endParaRPr>
          </a:p>
        </p:txBody>
      </p:sp>
      <p:sp>
        <p:nvSpPr>
          <p:cNvPr id="6" name="Subtitle 2"/>
          <p:cNvSpPr txBox="1">
            <a:spLocks/>
          </p:cNvSpPr>
          <p:nvPr/>
        </p:nvSpPr>
        <p:spPr>
          <a:xfrm>
            <a:off x="57912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lvl="0" algn="ctr">
              <a:spcBef>
                <a:spcPct val="20000"/>
              </a:spcBef>
              <a:defRPr/>
            </a:pPr>
            <a:r>
              <a:rPr lang="en-US" sz="2400" dirty="0">
                <a:solidFill>
                  <a:schemeClr val="tx1"/>
                </a:solidFill>
              </a:rPr>
              <a:t>Dr. Deepak Uprety</a:t>
            </a:r>
          </a:p>
          <a:p>
            <a:pPr lvl="0" algn="ctr">
              <a:spcBef>
                <a:spcPct val="20000"/>
              </a:spcBef>
              <a:defRPr/>
            </a:pPr>
            <a:r>
              <a:rPr lang="en-US" sz="2400" dirty="0">
                <a:solidFill>
                  <a:schemeClr val="tx1"/>
                </a:solidFill>
              </a:rPr>
              <a:t>Associate Professor   </a:t>
            </a:r>
          </a:p>
          <a:p>
            <a:pPr lvl="0" algn="ctr">
              <a:spcBef>
                <a:spcPct val="20000"/>
              </a:spcBef>
              <a:defRPr/>
            </a:pPr>
            <a:r>
              <a:rPr lang="en-US" sz="2400" dirty="0">
                <a:solidFill>
                  <a:schemeClr val="tx1"/>
                </a:solidFill>
              </a:rPr>
              <a:t>CS</a:t>
            </a:r>
          </a:p>
        </p:txBody>
      </p:sp>
      <p:sp>
        <p:nvSpPr>
          <p:cNvPr id="9" name="Date Placeholder 8"/>
          <p:cNvSpPr>
            <a:spLocks noGrp="1"/>
          </p:cNvSpPr>
          <p:nvPr>
            <p:ph type="dt" sz="half" idx="10"/>
          </p:nvPr>
        </p:nvSpPr>
        <p:spPr>
          <a:xfrm>
            <a:off x="381000" y="6492875"/>
            <a:ext cx="2133600" cy="365125"/>
          </a:xfrm>
        </p:spPr>
        <p:txBody>
          <a:bodyPr/>
          <a:lstStyle/>
          <a:p>
            <a:r>
              <a:rPr lang="en-US" dirty="0" smtClean="0"/>
              <a:t>JAN 12, 2026</a:t>
            </a:r>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1" i="0" u="none" strike="noStrike" kern="1200" cap="none" spc="0" normalizeH="0" baseline="0" noProof="0" dirty="0">
                <a:ln>
                  <a:noFill/>
                </a:ln>
                <a:solidFill>
                  <a:schemeClr val="tx1"/>
                </a:solidFill>
                <a:effectLst/>
                <a:uLnTx/>
                <a:uFillTx/>
                <a:latin typeface="+mn-lt"/>
                <a:ea typeface="+mn-ea"/>
                <a:cs typeface="+mn-cs"/>
              </a:rPr>
              <a:t>Unit:</a:t>
            </a:r>
            <a:r>
              <a:rPr kumimoji="0" lang="en-US" sz="2500" b="1" i="0" u="none" strike="noStrike" kern="1200" cap="none" spc="0" normalizeH="0" noProof="0" dirty="0">
                <a:ln>
                  <a:noFill/>
                </a:ln>
                <a:solidFill>
                  <a:schemeClr val="tx1"/>
                </a:solidFill>
                <a:effectLst/>
                <a:uLnTx/>
                <a:uFillTx/>
                <a:latin typeface="+mn-lt"/>
                <a:ea typeface="+mn-ea"/>
                <a:cs typeface="+mn-cs"/>
              </a:rPr>
              <a:t> </a:t>
            </a:r>
            <a:r>
              <a:rPr lang="en-US" sz="2500" b="1" dirty="0">
                <a:solidFill>
                  <a:schemeClr val="tx1"/>
                </a:solidFill>
              </a:rPr>
              <a:t>4</a:t>
            </a:r>
            <a:endParaRPr kumimoji="0" lang="en-US" sz="2500" b="1"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fi-FI" dirty="0"/>
              <a:t>Dr.Deepak Uprety</a:t>
            </a:r>
            <a:r>
              <a:rPr lang="en-US" dirty="0" smtClean="0"/>
              <a:t>               AOE 0866 ST                Unit 4</a:t>
            </a:r>
            <a:endParaRPr lang="en-US" dirty="0"/>
          </a:p>
        </p:txBody>
      </p:sp>
      <p:sp>
        <p:nvSpPr>
          <p:cNvPr id="14" name="Subtitle 2"/>
          <p:cNvSpPr txBox="1">
            <a:spLocks/>
          </p:cNvSpPr>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smtClean="0">
                <a:solidFill>
                  <a:schemeClr val="tx1"/>
                </a:solidFill>
              </a:rPr>
              <a:t>Sustainable Technologies</a:t>
            </a:r>
            <a:endParaRPr kumimoji="0" lang="en-US" sz="2000" b="1"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smtClean="0">
                <a:solidFill>
                  <a:schemeClr val="tx1"/>
                </a:solidFill>
              </a:rPr>
              <a:t>AOE 0866</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noProof="0" dirty="0">
                <a:ln>
                  <a:noFill/>
                </a:ln>
                <a:solidFill>
                  <a:schemeClr val="tx1"/>
                </a:solidFill>
                <a:effectLst/>
                <a:uLnTx/>
                <a:uFillTx/>
                <a:latin typeface="+mn-lt"/>
                <a:ea typeface="+mn-ea"/>
                <a:cs typeface="+mn-cs"/>
              </a:rPr>
              <a:t/>
            </a:r>
            <a:br>
              <a:rPr kumimoji="0" lang="en-US" sz="2000" b="0" i="0" u="none" strike="noStrike" kern="1200" cap="none" spc="0" normalizeH="0" noProof="0" dirty="0">
                <a:ln>
                  <a:noFill/>
                </a:ln>
                <a:solidFill>
                  <a:schemeClr val="tx1"/>
                </a:solidFill>
                <a:effectLst/>
                <a:uLnTx/>
                <a:uFillTx/>
                <a:latin typeface="+mn-lt"/>
                <a:ea typeface="+mn-ea"/>
                <a:cs typeface="+mn-cs"/>
              </a:rPr>
            </a:br>
            <a:r>
              <a:rPr lang="en-US" sz="2000" dirty="0" smtClean="0">
                <a:solidFill>
                  <a:schemeClr val="tx1"/>
                </a:solidFill>
              </a:rPr>
              <a:t>CS 8</a:t>
            </a:r>
            <a:r>
              <a:rPr lang="en-US" sz="2000" baseline="30000" dirty="0" smtClean="0">
                <a:solidFill>
                  <a:schemeClr val="tx1"/>
                </a:solidFill>
              </a:rPr>
              <a:t>TH</a:t>
            </a:r>
            <a:r>
              <a:rPr lang="en-US" sz="2000" dirty="0" smtClean="0">
                <a:solidFill>
                  <a:schemeClr val="tx1"/>
                </a:solidFill>
              </a:rPr>
              <a:t> SEM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16" name="Picture 15"/>
          <p:cNvPicPr>
            <a:picLocks noChangeAspect="1"/>
          </p:cNvPicPr>
          <p:nvPr/>
        </p:nvPicPr>
        <p:blipFill>
          <a:blip r:embed="rId3"/>
          <a:stretch>
            <a:fillRect/>
          </a:stretch>
        </p:blipFill>
        <p:spPr>
          <a:xfrm>
            <a:off x="1" y="1"/>
            <a:ext cx="1371600" cy="685799"/>
          </a:xfrm>
          <a:prstGeom prst="rect">
            <a:avLst/>
          </a:prstGeom>
        </p:spPr>
      </p:pic>
    </p:spTree>
    <p:extLst>
      <p:ext uri="{BB962C8B-B14F-4D97-AF65-F5344CB8AC3E}">
        <p14:creationId xmlns:p14="http://schemas.microsoft.com/office/powerpoint/2010/main" val="1723469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a:xfrm>
            <a:off x="2895600" y="6356350"/>
            <a:ext cx="4419600" cy="365125"/>
          </a:xfrm>
        </p:spPr>
        <p:txBody>
          <a:bodyPr/>
          <a:lstStyle/>
          <a:p>
            <a:pPr>
              <a:defRPr/>
            </a:pPr>
            <a:r>
              <a:rPr lang="fi-FI" dirty="0"/>
              <a:t>Dr.Deepak Uprety</a:t>
            </a:r>
            <a:r>
              <a:rPr lang="en-US" dirty="0" smtClean="0"/>
              <a:t>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9" name="Title 1"/>
          <p:cNvSpPr txBox="1">
            <a:spLocks/>
          </p:cNvSpPr>
          <p:nvPr/>
        </p:nvSpPr>
        <p:spPr>
          <a:xfrm>
            <a:off x="1295400" y="1"/>
            <a:ext cx="7848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solidFill>
                  <a:schemeClr val="tx1"/>
                </a:solidFill>
                <a:latin typeface="Times New Roman" panose="02020603050405020304" pitchFamily="18" charset="0"/>
                <a:cs typeface="Times New Roman" panose="02020603050405020304" pitchFamily="18" charset="0"/>
              </a:rPr>
              <a:t>Evaluation Scheme</a:t>
            </a:r>
          </a:p>
        </p:txBody>
      </p:sp>
      <p:pic>
        <p:nvPicPr>
          <p:cNvPr id="2" name="Picture 1"/>
          <p:cNvPicPr>
            <a:picLocks noChangeAspect="1"/>
          </p:cNvPicPr>
          <p:nvPr/>
        </p:nvPicPr>
        <p:blipFill>
          <a:blip r:embed="rId2"/>
          <a:stretch>
            <a:fillRect/>
          </a:stretch>
        </p:blipFill>
        <p:spPr>
          <a:xfrm>
            <a:off x="942468" y="1466576"/>
            <a:ext cx="7259063" cy="3924848"/>
          </a:xfrm>
          <a:prstGeom prst="rect">
            <a:avLst/>
          </a:prstGeom>
        </p:spPr>
      </p:pic>
      <p:pic>
        <p:nvPicPr>
          <p:cNvPr id="8" name="Picture 7"/>
          <p:cNvPicPr>
            <a:picLocks noChangeAspect="1"/>
          </p:cNvPicPr>
          <p:nvPr/>
        </p:nvPicPr>
        <p:blipFill>
          <a:blip r:embed="rId3"/>
          <a:stretch>
            <a:fillRect/>
          </a:stretch>
        </p:blipFill>
        <p:spPr>
          <a:xfrm>
            <a:off x="1" y="1"/>
            <a:ext cx="1371600" cy="685799"/>
          </a:xfrm>
          <a:prstGeom prst="rect">
            <a:avLst/>
          </a:prstGeom>
        </p:spPr>
      </p:pic>
    </p:spTree>
    <p:extLst>
      <p:ext uri="{BB962C8B-B14F-4D97-AF65-F5344CB8AC3E}">
        <p14:creationId xmlns:p14="http://schemas.microsoft.com/office/powerpoint/2010/main" val="209974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fi-FI" dirty="0"/>
              <a:t>Dr.Deepak Uprety</a:t>
            </a:r>
            <a:r>
              <a:rPr lang="en-US" dirty="0" smtClean="0"/>
              <a:t>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smtClean="0"/>
              <a:t>Syllabus</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2" name="Picture 1"/>
          <p:cNvPicPr>
            <a:picLocks noChangeAspect="1"/>
          </p:cNvPicPr>
          <p:nvPr/>
        </p:nvPicPr>
        <p:blipFill>
          <a:blip r:embed="rId2"/>
          <a:stretch>
            <a:fillRect/>
          </a:stretch>
        </p:blipFill>
        <p:spPr>
          <a:xfrm>
            <a:off x="1071074" y="966444"/>
            <a:ext cx="7001852" cy="4925112"/>
          </a:xfrm>
          <a:prstGeom prst="rect">
            <a:avLst/>
          </a:prstGeom>
        </p:spPr>
      </p:pic>
      <p:pic>
        <p:nvPicPr>
          <p:cNvPr id="9" name="Picture 8"/>
          <p:cNvPicPr>
            <a:picLocks noChangeAspect="1"/>
          </p:cNvPicPr>
          <p:nvPr/>
        </p:nvPicPr>
        <p:blipFill>
          <a:blip r:embed="rId3"/>
          <a:stretch>
            <a:fillRect/>
          </a:stretch>
        </p:blipFill>
        <p:spPr>
          <a:xfrm>
            <a:off x="1" y="1"/>
            <a:ext cx="1371600" cy="685799"/>
          </a:xfrm>
          <a:prstGeom prst="rect">
            <a:avLst/>
          </a:prstGeom>
        </p:spPr>
      </p:pic>
    </p:spTree>
    <p:extLst>
      <p:ext uri="{BB962C8B-B14F-4D97-AF65-F5344CB8AC3E}">
        <p14:creationId xmlns:p14="http://schemas.microsoft.com/office/powerpoint/2010/main" val="7755999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037" y="1166018"/>
            <a:ext cx="8382000" cy="4525963"/>
          </a:xfrm>
        </p:spPr>
        <p:txBody>
          <a:bodyPr>
            <a:normAutofit fontScale="77500" lnSpcReduction="20000"/>
          </a:bodyPr>
          <a:lstStyle/>
          <a:p>
            <a:pPr algn="just"/>
            <a:r>
              <a:rPr lang="en-US" sz="2300" dirty="0"/>
              <a:t>First, we will start with the internet which is very much important for our daily life and we cannot even imagine our life without the internet and it is the outcome of clever and creative algorithms. Numerous sites on the internet can operate and falsify this huge number of data only with the help of these algorithms.</a:t>
            </a:r>
          </a:p>
          <a:p>
            <a:pPr marL="0" indent="0" algn="just">
              <a:buNone/>
            </a:pPr>
            <a:r>
              <a:rPr lang="en-US" sz="2300" dirty="0"/>
              <a:t> </a:t>
            </a:r>
          </a:p>
          <a:p>
            <a:pPr algn="just"/>
            <a:r>
              <a:rPr lang="en-US" sz="2300" dirty="0"/>
              <a:t>The everyday electronic commerce activities are massively subject to our data, for example, credit or debit card numbers, passwords, OTPs, and many more. The </a:t>
            </a:r>
            <a:r>
              <a:rPr lang="en-US" sz="2300" dirty="0" err="1"/>
              <a:t>centre</a:t>
            </a:r>
            <a:r>
              <a:rPr lang="en-US" sz="2300" dirty="0"/>
              <a:t> technologies used incorporate public-key </a:t>
            </a:r>
            <a:r>
              <a:rPr lang="en-US" sz="2300" dirty="0" err="1" smtClean="0"/>
              <a:t>cryptocurrency</a:t>
            </a:r>
            <a:r>
              <a:rPr lang="en-US" sz="2300" dirty="0"/>
              <a:t> and digital signatures which depend on mathematical algorithms.</a:t>
            </a:r>
          </a:p>
          <a:p>
            <a:pPr marL="0" indent="0" algn="just">
              <a:buNone/>
            </a:pPr>
            <a:endParaRPr lang="en-US" sz="2300" dirty="0"/>
          </a:p>
          <a:p>
            <a:pPr algn="just"/>
            <a:r>
              <a:rPr lang="en-US" sz="2300" dirty="0"/>
              <a:t>Even an application that doesn't need algorithm content at the application level depends vigorously on the algorithm as the application relies upon hardware, GUI, networking, or object direction and all of these create a substantial use of algorithms.</a:t>
            </a:r>
          </a:p>
          <a:p>
            <a:pPr marL="0" indent="0" algn="just">
              <a:buNone/>
            </a:pPr>
            <a:endParaRPr lang="en-US" sz="2300" dirty="0"/>
          </a:p>
          <a:p>
            <a:pPr algn="just"/>
            <a:r>
              <a:rPr lang="en-US" sz="2300" dirty="0"/>
              <a:t>There are some other vital use cases where the algorithm has been used such as if we watch any video on YouTube then next time we will get related-type advice as recommended videos for us. </a:t>
            </a:r>
          </a:p>
          <a:p>
            <a:pPr marL="0" indent="0">
              <a:buNone/>
            </a:pPr>
            <a:endParaRPr lang="en-US" sz="2200" dirty="0"/>
          </a:p>
        </p:txBody>
      </p:sp>
      <p:sp>
        <p:nvSpPr>
          <p:cNvPr id="6" name="Date Placeholder 5"/>
          <p:cNvSpPr>
            <a:spLocks noGrp="1"/>
          </p:cNvSpPr>
          <p:nvPr>
            <p:ph type="dt" sz="half" idx="10"/>
          </p:nvPr>
        </p:nvSpPr>
        <p:spPr/>
        <p:txBody>
          <a:bodyPr/>
          <a:lstStyle/>
          <a:p>
            <a:r>
              <a:rPr lang="en-US" dirty="0" smtClean="0"/>
              <a:t>JAN 12, 2026</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a:p>
        </p:txBody>
      </p:sp>
      <p:sp>
        <p:nvSpPr>
          <p:cNvPr id="8" name="Title 1"/>
          <p:cNvSpPr txBox="1">
            <a:spLocks/>
          </p:cNvSpPr>
          <p:nvPr/>
        </p:nvSpPr>
        <p:spPr>
          <a:xfrm>
            <a:off x="1350818"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dk1"/>
                </a:solidFill>
                <a:effectLst/>
                <a:uLnTx/>
                <a:uFillTx/>
                <a:latin typeface="Times New Roman" panose="02020603050405020304" pitchFamily="18" charset="0"/>
                <a:cs typeface="Times New Roman" panose="02020603050405020304" pitchFamily="18" charset="0"/>
              </a:rPr>
              <a:t>Branch</a:t>
            </a:r>
            <a:r>
              <a:rPr kumimoji="0" lang="en-US" sz="3000" b="0" i="0" u="none" strike="noStrike" kern="1200" cap="none" spc="0" normalizeH="0" noProof="0" dirty="0" smtClean="0">
                <a:ln>
                  <a:noFill/>
                </a:ln>
                <a:solidFill>
                  <a:schemeClr val="dk1"/>
                </a:solidFill>
                <a:effectLst/>
                <a:uLnTx/>
                <a:uFillTx/>
                <a:latin typeface="Times New Roman" panose="02020603050405020304" pitchFamily="18" charset="0"/>
                <a:cs typeface="Times New Roman" panose="02020603050405020304" pitchFamily="18" charset="0"/>
              </a:rPr>
              <a:t> wise Application</a:t>
            </a:r>
            <a:endPar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Footer Placeholder 9"/>
          <p:cNvSpPr>
            <a:spLocks noGrp="1"/>
          </p:cNvSpPr>
          <p:nvPr>
            <p:ph type="ftr" sz="quarter" idx="11"/>
          </p:nvPr>
        </p:nvSpPr>
        <p:spPr>
          <a:xfrm>
            <a:off x="2514600" y="6356350"/>
            <a:ext cx="5029200" cy="365125"/>
          </a:xfrm>
        </p:spPr>
        <p:txBody>
          <a:bodyPr/>
          <a:lstStyle/>
          <a:p>
            <a:r>
              <a:rPr lang="fi-FI" dirty="0"/>
              <a:t>Dr.Deepak Uprety</a:t>
            </a:r>
            <a:r>
              <a:rPr lang="en-US" dirty="0" smtClean="0"/>
              <a:t>                AOE 0866 ST                Unit 4</a:t>
            </a:r>
            <a:endParaRPr lang="en-US" dirty="0"/>
          </a:p>
        </p:txBody>
      </p:sp>
      <p:pic>
        <p:nvPicPr>
          <p:cNvPr id="11" name="Picture 10"/>
          <p:cNvPicPr>
            <a:picLocks noChangeAspect="1"/>
          </p:cNvPicPr>
          <p:nvPr/>
        </p:nvPicPr>
        <p:blipFill>
          <a:blip r:embed="rId3"/>
          <a:stretch>
            <a:fillRect/>
          </a:stretch>
        </p:blipFill>
        <p:spPr>
          <a:xfrm>
            <a:off x="1" y="1"/>
            <a:ext cx="1371600" cy="685799"/>
          </a:xfrm>
          <a:prstGeom prst="rect">
            <a:avLst/>
          </a:prstGeom>
        </p:spPr>
      </p:pic>
    </p:spTree>
    <p:extLst>
      <p:ext uri="{BB962C8B-B14F-4D97-AF65-F5344CB8AC3E}">
        <p14:creationId xmlns:p14="http://schemas.microsoft.com/office/powerpoint/2010/main" val="21835103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200" dirty="0"/>
              <a:t>Upon completion of this course, students will be able to do the following:</a:t>
            </a:r>
          </a:p>
          <a:p>
            <a:pPr lvl="0" algn="just"/>
            <a:r>
              <a:rPr lang="en-US" sz="2200" dirty="0"/>
              <a:t>Analyze the asymptotic performance of algorithms.</a:t>
            </a:r>
          </a:p>
          <a:p>
            <a:pPr lvl="0" algn="just"/>
            <a:r>
              <a:rPr lang="en-US" sz="2200" dirty="0"/>
              <a:t>Write rigorous correctness proofs for algorithms.</a:t>
            </a:r>
          </a:p>
          <a:p>
            <a:pPr lvl="0" algn="just"/>
            <a:r>
              <a:rPr lang="en-US" sz="2200" dirty="0"/>
              <a:t>Demonstrate a familiarity with major algorithms and data structures.</a:t>
            </a:r>
          </a:p>
          <a:p>
            <a:pPr lvl="0" algn="just"/>
            <a:r>
              <a:rPr lang="en-US" sz="2200" dirty="0"/>
              <a:t>Apply important algorithmic design paradigms and methods of analysis.</a:t>
            </a:r>
          </a:p>
          <a:p>
            <a:pPr lvl="0" algn="just"/>
            <a:r>
              <a:rPr lang="en-US" sz="2200" dirty="0"/>
              <a:t>Synthesize efficient algorithms in common engineering design situations.</a:t>
            </a:r>
          </a:p>
        </p:txBody>
      </p:sp>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fi-FI" dirty="0"/>
              <a:t>Dr.Deepak Uprety</a:t>
            </a:r>
            <a:r>
              <a:rPr lang="en-US" dirty="0" smtClean="0"/>
              <a:t>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1" y="1"/>
            <a:ext cx="1371600" cy="6857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C52CD1B4-CBE6-4C86-91E5-F19A2479A621}"/>
              </a:ext>
            </a:extLst>
          </p:cNvPr>
          <p:cNvGraphicFramePr>
            <a:graphicFrameLocks noGrp="1"/>
          </p:cNvGraphicFramePr>
          <p:nvPr>
            <p:ph idx="1"/>
            <p:extLst>
              <p:ext uri="{D42A27DB-BD31-4B8C-83A1-F6EECF244321}">
                <p14:modId xmlns:p14="http://schemas.microsoft.com/office/powerpoint/2010/main" val="1539540859"/>
              </p:ext>
            </p:extLst>
          </p:nvPr>
        </p:nvGraphicFramePr>
        <p:xfrm>
          <a:off x="685800" y="1366800"/>
          <a:ext cx="7772400" cy="4994910"/>
        </p:xfrm>
        <a:graphic>
          <a:graphicData uri="http://schemas.openxmlformats.org/drawingml/2006/table">
            <a:tbl>
              <a:tblPr firstRow="1" firstCol="1" bandRow="1">
                <a:tableStyleId>{5C22544A-7EE6-4342-B048-85BDC9FD1C3A}</a:tableStyleId>
              </a:tblPr>
              <a:tblGrid>
                <a:gridCol w="489075">
                  <a:extLst>
                    <a:ext uri="{9D8B030D-6E8A-4147-A177-3AD203B41FA5}">
                      <a16:colId xmlns:a16="http://schemas.microsoft.com/office/drawing/2014/main" val="1779417915"/>
                    </a:ext>
                  </a:extLst>
                </a:gridCol>
                <a:gridCol w="5116529">
                  <a:extLst>
                    <a:ext uri="{9D8B030D-6E8A-4147-A177-3AD203B41FA5}">
                      <a16:colId xmlns:a16="http://schemas.microsoft.com/office/drawing/2014/main" val="4036850883"/>
                    </a:ext>
                  </a:extLst>
                </a:gridCol>
                <a:gridCol w="2166796">
                  <a:extLst>
                    <a:ext uri="{9D8B030D-6E8A-4147-A177-3AD203B41FA5}">
                      <a16:colId xmlns:a16="http://schemas.microsoft.com/office/drawing/2014/main" val="3465314929"/>
                    </a:ext>
                  </a:extLst>
                </a:gridCol>
              </a:tblGrid>
              <a:tr h="254428">
                <a:tc>
                  <a:txBody>
                    <a:bodyPr/>
                    <a:lstStyle/>
                    <a:p>
                      <a:pPr>
                        <a:lnSpc>
                          <a:spcPct val="115000"/>
                        </a:lnSpc>
                        <a:spcAft>
                          <a:spcPts val="0"/>
                        </a:spcAft>
                      </a:pPr>
                      <a:r>
                        <a:rPr lang="en-US" sz="1500">
                          <a:effectLst/>
                        </a:rPr>
                        <a:t> </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Description</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Bloom’s Taxonomy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4629727"/>
                  </a:ext>
                </a:extLst>
              </a:tr>
              <a:tr h="1012787">
                <a:tc>
                  <a:txBody>
                    <a:bodyPr/>
                    <a:lstStyle/>
                    <a:p>
                      <a:pPr>
                        <a:lnSpc>
                          <a:spcPct val="115000"/>
                        </a:lnSpc>
                        <a:spcAft>
                          <a:spcPts val="0"/>
                        </a:spcAft>
                      </a:pPr>
                      <a:r>
                        <a:rPr lang="en-US" sz="1500">
                          <a:effectLst/>
                        </a:rPr>
                        <a:t>CO1</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To have knowledge of basic principles of algorithm design and Analysis, asymptotic notations and growth of functions for time and space complexity analysis and applying the same in different sorting algorithms</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Knowledge, analysis</a:t>
                      </a:r>
                      <a:endParaRPr lang="en-IN" sz="1500" dirty="0">
                        <a:solidFill>
                          <a:srgbClr val="FF0000"/>
                        </a:solidFill>
                        <a:effectLst/>
                      </a:endParaRPr>
                    </a:p>
                    <a:p>
                      <a:pPr>
                        <a:lnSpc>
                          <a:spcPct val="115000"/>
                        </a:lnSpc>
                        <a:spcAft>
                          <a:spcPts val="0"/>
                        </a:spcAft>
                      </a:pPr>
                      <a:r>
                        <a:rPr lang="en-US" sz="1500" dirty="0">
                          <a:solidFill>
                            <a:srgbClr val="FF0000"/>
                          </a:solidFill>
                          <a:effectLst/>
                        </a:rPr>
                        <a:t>And design</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2112578"/>
                  </a:ext>
                </a:extLst>
              </a:tr>
              <a:tr h="498852">
                <a:tc>
                  <a:txBody>
                    <a:bodyPr/>
                    <a:lstStyle/>
                    <a:p>
                      <a:pPr>
                        <a:lnSpc>
                          <a:spcPct val="115000"/>
                        </a:lnSpc>
                        <a:spcAft>
                          <a:spcPts val="0"/>
                        </a:spcAft>
                      </a:pPr>
                      <a:r>
                        <a:rPr lang="en-US" sz="1500">
                          <a:effectLst/>
                        </a:rPr>
                        <a:t>CO2</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different problem-solving approaches for advanced data structures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a:t>
                      </a:r>
                      <a:endParaRPr lang="en-IN" sz="1500">
                        <a:effectLst/>
                      </a:endParaRPr>
                    </a:p>
                    <a:p>
                      <a:pPr>
                        <a:lnSpc>
                          <a:spcPct val="115000"/>
                        </a:lnSpc>
                        <a:spcAft>
                          <a:spcPts val="0"/>
                        </a:spcAft>
                      </a:pPr>
                      <a:r>
                        <a:rPr lang="en-US" sz="1500">
                          <a:effectLst/>
                        </a:rPr>
                        <a:t>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93814104"/>
                  </a:ext>
                </a:extLst>
              </a:tr>
              <a:tr h="1012787">
                <a:tc>
                  <a:txBody>
                    <a:bodyPr/>
                    <a:lstStyle/>
                    <a:p>
                      <a:pPr>
                        <a:lnSpc>
                          <a:spcPct val="115000"/>
                        </a:lnSpc>
                        <a:spcAft>
                          <a:spcPts val="0"/>
                        </a:spcAft>
                      </a:pPr>
                      <a:r>
                        <a:rPr lang="en-US" sz="1500">
                          <a:effectLst/>
                        </a:rPr>
                        <a:t>CO3</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divide and conquer method for solving merge sort, quick sort, matrix multiplication and  Greedy Algorithm for solving different Graph  Problem.</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9095310"/>
                  </a:ext>
                </a:extLst>
              </a:tr>
              <a:tr h="755819">
                <a:tc>
                  <a:txBody>
                    <a:bodyPr/>
                    <a:lstStyle/>
                    <a:p>
                      <a:pPr>
                        <a:lnSpc>
                          <a:spcPct val="115000"/>
                        </a:lnSpc>
                        <a:spcAft>
                          <a:spcPts val="0"/>
                        </a:spcAft>
                      </a:pPr>
                      <a:r>
                        <a:rPr lang="en-US" sz="1500">
                          <a:effectLst/>
                        </a:rPr>
                        <a:t>CO4</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analyze and apply different optimization techniques like dynamic programming, backtracking and Branch &amp; Bound to solve the complex problems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41387003"/>
                  </a:ext>
                </a:extLst>
              </a:tr>
              <a:tr h="1269754">
                <a:tc>
                  <a:txBody>
                    <a:bodyPr/>
                    <a:lstStyle/>
                    <a:p>
                      <a:pPr>
                        <a:lnSpc>
                          <a:spcPct val="115000"/>
                        </a:lnSpc>
                        <a:spcAft>
                          <a:spcPts val="0"/>
                        </a:spcAft>
                      </a:pPr>
                      <a:r>
                        <a:rPr lang="en-US" sz="1500">
                          <a:effectLst/>
                        </a:rPr>
                        <a:t>CO5</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understand the advanced concepts like NP Completeness and Fast Fourier Transform, to analyze and apply String Matching, Approximation and Randomized Algorithms to solve the complex problems</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Knowledge,  Analysis and Apply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9547450"/>
                  </a:ext>
                </a:extLst>
              </a:tr>
            </a:tbl>
          </a:graphicData>
        </a:graphic>
      </p:graphicFrame>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smtClean="0"/>
              <a:t>Mini Jain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41E00FF-D043-46A6-B039-CD5B92081618}"/>
              </a:ext>
            </a:extLst>
          </p:cNvPr>
          <p:cNvSpPr/>
          <p:nvPr/>
        </p:nvSpPr>
        <p:spPr>
          <a:xfrm>
            <a:off x="784860" y="928405"/>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1" y="1"/>
            <a:ext cx="1384662" cy="6857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smtClean="0"/>
              <a:t>Mini Jain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noProof="0" dirty="0" smtClean="0">
                <a:ln>
                  <a:noFill/>
                </a:ln>
                <a:solidFill>
                  <a:schemeClr val="dk1"/>
                </a:solidFill>
                <a:effectLst/>
                <a:uLnTx/>
                <a:uFillTx/>
                <a:latin typeface="Times New Roman" panose="02020603050405020304" pitchFamily="18" charset="0"/>
                <a:cs typeface="Times New Roman" panose="02020603050405020304" pitchFamily="18" charset="0"/>
              </a:rPr>
              <a:t>Program </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41E00FF-D043-46A6-B039-CD5B92081618}"/>
              </a:ext>
            </a:extLst>
          </p:cNvPr>
          <p:cNvSpPr/>
          <p:nvPr/>
        </p:nvSpPr>
        <p:spPr>
          <a:xfrm>
            <a:off x="838200" y="1107707"/>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Content Placeholder 8">
            <a:extLst>
              <a:ext uri="{FF2B5EF4-FFF2-40B4-BE49-F238E27FC236}">
                <a16:creationId xmlns:a16="http://schemas.microsoft.com/office/drawing/2014/main" id="{0975EA2E-9AA8-4F60-B278-BDBF39596728}"/>
              </a:ext>
            </a:extLst>
          </p:cNvPr>
          <p:cNvGraphicFramePr>
            <a:graphicFrameLocks noGrp="1"/>
          </p:cNvGraphicFramePr>
          <p:nvPr>
            <p:ph idx="1"/>
            <p:extLst>
              <p:ext uri="{D42A27DB-BD31-4B8C-83A1-F6EECF244321}">
                <p14:modId xmlns:p14="http://schemas.microsoft.com/office/powerpoint/2010/main" val="982377854"/>
              </p:ext>
            </p:extLst>
          </p:nvPr>
        </p:nvGraphicFramePr>
        <p:xfrm>
          <a:off x="838200" y="1676399"/>
          <a:ext cx="7620000" cy="4073888"/>
        </p:xfrm>
        <a:graphic>
          <a:graphicData uri="http://schemas.openxmlformats.org/drawingml/2006/table">
            <a:tbl>
              <a:tblPr firstRow="1" firstCol="1" bandRow="1">
                <a:tableStyleId>{5C22544A-7EE6-4342-B048-85BDC9FD1C3A}</a:tableStyleId>
              </a:tblPr>
              <a:tblGrid>
                <a:gridCol w="1426280">
                  <a:extLst>
                    <a:ext uri="{9D8B030D-6E8A-4147-A177-3AD203B41FA5}">
                      <a16:colId xmlns:a16="http://schemas.microsoft.com/office/drawing/2014/main" val="730212534"/>
                    </a:ext>
                  </a:extLst>
                </a:gridCol>
                <a:gridCol w="6193720">
                  <a:extLst>
                    <a:ext uri="{9D8B030D-6E8A-4147-A177-3AD203B41FA5}">
                      <a16:colId xmlns:a16="http://schemas.microsoft.com/office/drawing/2014/main" val="3901585434"/>
                    </a:ext>
                  </a:extLst>
                </a:gridCol>
              </a:tblGrid>
              <a:tr h="313376">
                <a:tc>
                  <a:txBody>
                    <a:bodyPr/>
                    <a:lstStyle/>
                    <a:p>
                      <a:pPr>
                        <a:lnSpc>
                          <a:spcPct val="107000"/>
                        </a:lnSpc>
                        <a:spcAft>
                          <a:spcPts val="0"/>
                        </a:spcAft>
                      </a:pPr>
                      <a:r>
                        <a:rPr lang="en-IN" sz="1400">
                          <a:effectLst/>
                        </a:rPr>
                        <a:t>POs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Graduates will be able to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7662473"/>
                  </a:ext>
                </a:extLst>
              </a:tr>
              <a:tr h="313376">
                <a:tc>
                  <a:txBody>
                    <a:bodyPr/>
                    <a:lstStyle/>
                    <a:p>
                      <a:pPr>
                        <a:lnSpc>
                          <a:spcPct val="107000"/>
                        </a:lnSpc>
                        <a:spcAft>
                          <a:spcPts val="0"/>
                        </a:spcAft>
                      </a:pPr>
                      <a:r>
                        <a:rPr lang="en-IN" sz="1400">
                          <a:effectLst/>
                        </a:rPr>
                        <a:t>PO1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Knowledge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6962074"/>
                  </a:ext>
                </a:extLst>
              </a:tr>
              <a:tr h="313376">
                <a:tc>
                  <a:txBody>
                    <a:bodyPr/>
                    <a:lstStyle/>
                    <a:p>
                      <a:pPr>
                        <a:lnSpc>
                          <a:spcPct val="107000"/>
                        </a:lnSpc>
                        <a:spcAft>
                          <a:spcPts val="0"/>
                        </a:spcAft>
                      </a:pPr>
                      <a:r>
                        <a:rPr lang="en-IN" sz="1400">
                          <a:effectLst/>
                        </a:rPr>
                        <a:t>PO2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Problem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3383004"/>
                  </a:ext>
                </a:extLst>
              </a:tr>
              <a:tr h="313376">
                <a:tc>
                  <a:txBody>
                    <a:bodyPr/>
                    <a:lstStyle/>
                    <a:p>
                      <a:pPr>
                        <a:lnSpc>
                          <a:spcPct val="107000"/>
                        </a:lnSpc>
                        <a:spcAft>
                          <a:spcPts val="0"/>
                        </a:spcAft>
                      </a:pPr>
                      <a:r>
                        <a:rPr lang="en-IN" sz="1400">
                          <a:effectLst/>
                        </a:rPr>
                        <a:t>PO3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Design &amp; Development of solutions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302825"/>
                  </a:ext>
                </a:extLst>
              </a:tr>
              <a:tr h="313376">
                <a:tc>
                  <a:txBody>
                    <a:bodyPr/>
                    <a:lstStyle/>
                    <a:p>
                      <a:pPr>
                        <a:lnSpc>
                          <a:spcPct val="107000"/>
                        </a:lnSpc>
                        <a:spcAft>
                          <a:spcPts val="0"/>
                        </a:spcAft>
                      </a:pPr>
                      <a:r>
                        <a:rPr lang="en-IN" sz="1400">
                          <a:effectLst/>
                        </a:rPr>
                        <a:t>PO4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Conduct Investigation of complex problems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1366988"/>
                  </a:ext>
                </a:extLst>
              </a:tr>
              <a:tr h="313376">
                <a:tc>
                  <a:txBody>
                    <a:bodyPr/>
                    <a:lstStyle/>
                    <a:p>
                      <a:pPr>
                        <a:lnSpc>
                          <a:spcPct val="107000"/>
                        </a:lnSpc>
                        <a:spcAft>
                          <a:spcPts val="0"/>
                        </a:spcAft>
                      </a:pPr>
                      <a:r>
                        <a:rPr lang="en-IN" sz="1400">
                          <a:effectLst/>
                        </a:rPr>
                        <a:t>PO5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Modern Tool Usage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4335665"/>
                  </a:ext>
                </a:extLst>
              </a:tr>
              <a:tr h="313376">
                <a:tc>
                  <a:txBody>
                    <a:bodyPr/>
                    <a:lstStyle/>
                    <a:p>
                      <a:pPr>
                        <a:lnSpc>
                          <a:spcPct val="107000"/>
                        </a:lnSpc>
                        <a:spcAft>
                          <a:spcPts val="0"/>
                        </a:spcAft>
                      </a:pPr>
                      <a:r>
                        <a:rPr lang="en-IN" sz="1400">
                          <a:effectLst/>
                        </a:rPr>
                        <a:t>PO6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The Engineer and Society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6071200"/>
                  </a:ext>
                </a:extLst>
              </a:tr>
              <a:tr h="313376">
                <a:tc>
                  <a:txBody>
                    <a:bodyPr/>
                    <a:lstStyle/>
                    <a:p>
                      <a:pPr>
                        <a:lnSpc>
                          <a:spcPct val="107000"/>
                        </a:lnSpc>
                        <a:spcAft>
                          <a:spcPts val="0"/>
                        </a:spcAft>
                      </a:pPr>
                      <a:r>
                        <a:rPr lang="en-IN" sz="1400">
                          <a:effectLst/>
                        </a:rPr>
                        <a:t>PO7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Environment and sustainability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7868391"/>
                  </a:ext>
                </a:extLst>
              </a:tr>
              <a:tr h="313376">
                <a:tc>
                  <a:txBody>
                    <a:bodyPr/>
                    <a:lstStyle/>
                    <a:p>
                      <a:pPr>
                        <a:lnSpc>
                          <a:spcPct val="107000"/>
                        </a:lnSpc>
                        <a:spcAft>
                          <a:spcPts val="0"/>
                        </a:spcAft>
                      </a:pPr>
                      <a:r>
                        <a:rPr lang="en-IN" sz="1400">
                          <a:effectLst/>
                        </a:rPr>
                        <a:t>PO8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Ethics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2099741"/>
                  </a:ext>
                </a:extLst>
              </a:tr>
              <a:tr h="313376">
                <a:tc>
                  <a:txBody>
                    <a:bodyPr/>
                    <a:lstStyle/>
                    <a:p>
                      <a:pPr>
                        <a:lnSpc>
                          <a:spcPct val="107000"/>
                        </a:lnSpc>
                        <a:spcAft>
                          <a:spcPts val="0"/>
                        </a:spcAft>
                      </a:pPr>
                      <a:r>
                        <a:rPr lang="en-IN" sz="1400">
                          <a:effectLst/>
                        </a:rPr>
                        <a:t>PO9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Individual &amp; Team 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1395007"/>
                  </a:ext>
                </a:extLst>
              </a:tr>
              <a:tr h="313376">
                <a:tc>
                  <a:txBody>
                    <a:bodyPr/>
                    <a:lstStyle/>
                    <a:p>
                      <a:pPr>
                        <a:lnSpc>
                          <a:spcPct val="107000"/>
                        </a:lnSpc>
                        <a:spcAft>
                          <a:spcPts val="0"/>
                        </a:spcAft>
                      </a:pPr>
                      <a:r>
                        <a:rPr lang="en-IN" sz="1400">
                          <a:effectLst/>
                        </a:rPr>
                        <a:t>PO10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Communication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1081910"/>
                  </a:ext>
                </a:extLst>
              </a:tr>
              <a:tr h="313376">
                <a:tc>
                  <a:txBody>
                    <a:bodyPr/>
                    <a:lstStyle/>
                    <a:p>
                      <a:pPr>
                        <a:lnSpc>
                          <a:spcPct val="107000"/>
                        </a:lnSpc>
                        <a:spcAft>
                          <a:spcPts val="0"/>
                        </a:spcAft>
                      </a:pPr>
                      <a:r>
                        <a:rPr lang="en-IN" sz="1400">
                          <a:effectLst/>
                        </a:rPr>
                        <a:t>PO11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Project management and Finance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1012516"/>
                  </a:ext>
                </a:extLst>
              </a:tr>
              <a:tr h="313376">
                <a:tc>
                  <a:txBody>
                    <a:bodyPr/>
                    <a:lstStyle/>
                    <a:p>
                      <a:pPr>
                        <a:lnSpc>
                          <a:spcPct val="107000"/>
                        </a:lnSpc>
                        <a:spcAft>
                          <a:spcPts val="0"/>
                        </a:spcAft>
                      </a:pPr>
                      <a:r>
                        <a:rPr lang="en-IN" sz="1400">
                          <a:effectLst/>
                        </a:rPr>
                        <a:t>PO12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Life Long Learning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69303712"/>
                  </a:ext>
                </a:extLst>
              </a:tr>
            </a:tbl>
          </a:graphicData>
        </a:graphic>
      </p:graphicFrame>
      <p:pic>
        <p:nvPicPr>
          <p:cNvPr id="11" name="Picture 10"/>
          <p:cNvPicPr>
            <a:picLocks noChangeAspect="1"/>
          </p:cNvPicPr>
          <p:nvPr/>
        </p:nvPicPr>
        <p:blipFill>
          <a:blip r:embed="rId2"/>
          <a:stretch>
            <a:fillRect/>
          </a:stretch>
        </p:blipFill>
        <p:spPr>
          <a:xfrm>
            <a:off x="1" y="1"/>
            <a:ext cx="1345473" cy="685799"/>
          </a:xfrm>
          <a:prstGeom prst="rect">
            <a:avLst/>
          </a:prstGeom>
        </p:spPr>
      </p:pic>
    </p:spTree>
    <p:extLst>
      <p:ext uri="{BB962C8B-B14F-4D97-AF65-F5344CB8AC3E}">
        <p14:creationId xmlns:p14="http://schemas.microsoft.com/office/powerpoint/2010/main" val="3587025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smtClean="0"/>
              <a:t>Mini Jain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CO-PO and PSO Mapping</a:t>
            </a:r>
          </a:p>
        </p:txBody>
      </p:sp>
      <p:graphicFrame>
        <p:nvGraphicFramePr>
          <p:cNvPr id="12" name="Content Placeholder 11">
            <a:extLst>
              <a:ext uri="{FF2B5EF4-FFF2-40B4-BE49-F238E27FC236}">
                <a16:creationId xmlns:a16="http://schemas.microsoft.com/office/drawing/2014/main" id="{97E10CFE-F886-4849-8ED2-2A4FB0811591}"/>
              </a:ext>
            </a:extLst>
          </p:cNvPr>
          <p:cNvGraphicFramePr>
            <a:graphicFrameLocks noGrp="1"/>
          </p:cNvGraphicFramePr>
          <p:nvPr>
            <p:ph idx="1"/>
            <p:extLst>
              <p:ext uri="{D42A27DB-BD31-4B8C-83A1-F6EECF244321}">
                <p14:modId xmlns:p14="http://schemas.microsoft.com/office/powerpoint/2010/main" val="2237323160"/>
              </p:ext>
            </p:extLst>
          </p:nvPr>
        </p:nvGraphicFramePr>
        <p:xfrm>
          <a:off x="152402" y="1219200"/>
          <a:ext cx="8305800" cy="4572000"/>
        </p:xfrm>
        <a:graphic>
          <a:graphicData uri="http://schemas.openxmlformats.org/drawingml/2006/table">
            <a:tbl>
              <a:tblPr>
                <a:tableStyleId>{5C22544A-7EE6-4342-B048-85BDC9FD1C3A}</a:tableStyleId>
              </a:tblPr>
              <a:tblGrid>
                <a:gridCol w="1523998">
                  <a:extLst>
                    <a:ext uri="{9D8B030D-6E8A-4147-A177-3AD203B41FA5}">
                      <a16:colId xmlns:a16="http://schemas.microsoft.com/office/drawing/2014/main" val="336454987"/>
                    </a:ext>
                  </a:extLst>
                </a:gridCol>
                <a:gridCol w="382551">
                  <a:extLst>
                    <a:ext uri="{9D8B030D-6E8A-4147-A177-3AD203B41FA5}">
                      <a16:colId xmlns:a16="http://schemas.microsoft.com/office/drawing/2014/main" val="2419786324"/>
                    </a:ext>
                  </a:extLst>
                </a:gridCol>
                <a:gridCol w="436631">
                  <a:extLst>
                    <a:ext uri="{9D8B030D-6E8A-4147-A177-3AD203B41FA5}">
                      <a16:colId xmlns:a16="http://schemas.microsoft.com/office/drawing/2014/main" val="2116179407"/>
                    </a:ext>
                  </a:extLst>
                </a:gridCol>
                <a:gridCol w="604150">
                  <a:extLst>
                    <a:ext uri="{9D8B030D-6E8A-4147-A177-3AD203B41FA5}">
                      <a16:colId xmlns:a16="http://schemas.microsoft.com/office/drawing/2014/main" val="4150870881"/>
                    </a:ext>
                  </a:extLst>
                </a:gridCol>
                <a:gridCol w="604150">
                  <a:extLst>
                    <a:ext uri="{9D8B030D-6E8A-4147-A177-3AD203B41FA5}">
                      <a16:colId xmlns:a16="http://schemas.microsoft.com/office/drawing/2014/main" val="1959501051"/>
                    </a:ext>
                  </a:extLst>
                </a:gridCol>
                <a:gridCol w="604150">
                  <a:extLst>
                    <a:ext uri="{9D8B030D-6E8A-4147-A177-3AD203B41FA5}">
                      <a16:colId xmlns:a16="http://schemas.microsoft.com/office/drawing/2014/main" val="714186528"/>
                    </a:ext>
                  </a:extLst>
                </a:gridCol>
                <a:gridCol w="604150">
                  <a:extLst>
                    <a:ext uri="{9D8B030D-6E8A-4147-A177-3AD203B41FA5}">
                      <a16:colId xmlns:a16="http://schemas.microsoft.com/office/drawing/2014/main" val="1947496999"/>
                    </a:ext>
                  </a:extLst>
                </a:gridCol>
                <a:gridCol w="604150">
                  <a:extLst>
                    <a:ext uri="{9D8B030D-6E8A-4147-A177-3AD203B41FA5}">
                      <a16:colId xmlns:a16="http://schemas.microsoft.com/office/drawing/2014/main" val="1278955555"/>
                    </a:ext>
                  </a:extLst>
                </a:gridCol>
                <a:gridCol w="604150">
                  <a:extLst>
                    <a:ext uri="{9D8B030D-6E8A-4147-A177-3AD203B41FA5}">
                      <a16:colId xmlns:a16="http://schemas.microsoft.com/office/drawing/2014/main" val="293989632"/>
                    </a:ext>
                  </a:extLst>
                </a:gridCol>
                <a:gridCol w="526694">
                  <a:extLst>
                    <a:ext uri="{9D8B030D-6E8A-4147-A177-3AD203B41FA5}">
                      <a16:colId xmlns:a16="http://schemas.microsoft.com/office/drawing/2014/main" val="2587493755"/>
                    </a:ext>
                  </a:extLst>
                </a:gridCol>
                <a:gridCol w="604150">
                  <a:extLst>
                    <a:ext uri="{9D8B030D-6E8A-4147-A177-3AD203B41FA5}">
                      <a16:colId xmlns:a16="http://schemas.microsoft.com/office/drawing/2014/main" val="3619800553"/>
                    </a:ext>
                  </a:extLst>
                </a:gridCol>
                <a:gridCol w="526694">
                  <a:extLst>
                    <a:ext uri="{9D8B030D-6E8A-4147-A177-3AD203B41FA5}">
                      <a16:colId xmlns:a16="http://schemas.microsoft.com/office/drawing/2014/main" val="3634469593"/>
                    </a:ext>
                  </a:extLst>
                </a:gridCol>
                <a:gridCol w="644604">
                  <a:extLst>
                    <a:ext uri="{9D8B030D-6E8A-4147-A177-3AD203B41FA5}">
                      <a16:colId xmlns:a16="http://schemas.microsoft.com/office/drawing/2014/main" val="1787714184"/>
                    </a:ext>
                  </a:extLst>
                </a:gridCol>
                <a:gridCol w="35578">
                  <a:extLst>
                    <a:ext uri="{9D8B030D-6E8A-4147-A177-3AD203B41FA5}">
                      <a16:colId xmlns:a16="http://schemas.microsoft.com/office/drawing/2014/main" val="2421800470"/>
                    </a:ext>
                  </a:extLst>
                </a:gridCol>
              </a:tblGrid>
              <a:tr h="688113">
                <a:tc gridSpan="14">
                  <a:txBody>
                    <a:bodyPr/>
                    <a:lstStyle/>
                    <a:p>
                      <a:pPr algn="ctr">
                        <a:lnSpc>
                          <a:spcPct val="106000"/>
                        </a:lnSpc>
                        <a:spcAft>
                          <a:spcPts val="0"/>
                        </a:spcAft>
                      </a:pPr>
                      <a:r>
                        <a:rPr lang="en-US" sz="1800" b="1" kern="1200" dirty="0">
                          <a:effectLst/>
                          <a:latin typeface="+mn-lt"/>
                          <a:cs typeface="Times New Roman" panose="02020603050405020304" pitchFamily="18" charset="0"/>
                        </a:rPr>
                        <a:t>Design and Analysis of Algorithm </a:t>
                      </a:r>
                      <a:r>
                        <a:rPr lang="en-US" sz="1800" b="1" kern="1200" dirty="0" smtClean="0">
                          <a:effectLst/>
                          <a:latin typeface="+mn-lt"/>
                          <a:cs typeface="Times New Roman" panose="02020603050405020304" pitchFamily="18" charset="0"/>
                        </a:rPr>
                        <a:t>(kCS-502</a:t>
                      </a:r>
                      <a:r>
                        <a:rPr lang="en-US" sz="1800" b="1" kern="1200" dirty="0">
                          <a:effectLst/>
                          <a:latin typeface="+mn-lt"/>
                          <a:cs typeface="Times New Roman" panose="02020603050405020304" pitchFamily="18" charset="0"/>
                        </a:rPr>
                        <a:t>)</a:t>
                      </a:r>
                      <a:endParaRPr lang="en-IN" sz="1800" b="1" dirty="0">
                        <a:effectLst/>
                        <a:latin typeface="+mn-lt"/>
                        <a:ea typeface="Calibri" panose="020F0502020204030204" pitchFamily="34" charset="0"/>
                        <a:cs typeface="Times New Roman" panose="02020603050405020304" pitchFamily="18" charset="0"/>
                      </a:endParaRPr>
                    </a:p>
                  </a:txBody>
                  <a:tcPr marL="9525" marR="9525" marT="9525"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07401935"/>
                  </a:ext>
                </a:extLst>
              </a:tr>
              <a:tr h="782978">
                <a:tc>
                  <a:txBody>
                    <a:bodyPr/>
                    <a:lstStyle/>
                    <a:p>
                      <a:pPr algn="ctr">
                        <a:lnSpc>
                          <a:spcPct val="106000"/>
                        </a:lnSpc>
                        <a:spcAft>
                          <a:spcPts val="0"/>
                        </a:spcAft>
                      </a:pPr>
                      <a:r>
                        <a:rPr lang="en-US" sz="1800" b="0" kern="1200" dirty="0">
                          <a:effectLst/>
                        </a:rPr>
                        <a:t>CO.K</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PO5</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PO7</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PO9</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PO10</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403446412"/>
                  </a:ext>
                </a:extLst>
              </a:tr>
              <a:tr h="510040">
                <a:tc>
                  <a:txBody>
                    <a:bodyPr/>
                    <a:lstStyle/>
                    <a:p>
                      <a:pPr algn="ctr">
                        <a:lnSpc>
                          <a:spcPct val="106000"/>
                        </a:lnSpc>
                        <a:spcAft>
                          <a:spcPts val="0"/>
                        </a:spcAft>
                      </a:pPr>
                      <a:r>
                        <a:rPr lang="en-US" sz="1800" b="0" kern="1200" dirty="0" smtClean="0">
                          <a:solidFill>
                            <a:srgbClr val="FF0000"/>
                          </a:solidFill>
                          <a:effectLst/>
                        </a:rPr>
                        <a:t>ACSE0401.1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2</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85205472"/>
                  </a:ext>
                </a:extLst>
              </a:tr>
              <a:tr h="499048">
                <a:tc>
                  <a:txBody>
                    <a:bodyPr/>
                    <a:lstStyle/>
                    <a:p>
                      <a:pPr algn="ctr">
                        <a:lnSpc>
                          <a:spcPct val="106000"/>
                        </a:lnSpc>
                        <a:spcAft>
                          <a:spcPts val="0"/>
                        </a:spcAft>
                      </a:pPr>
                      <a:r>
                        <a:rPr lang="en-US" sz="1800" b="0" kern="1200" dirty="0" smtClean="0">
                          <a:solidFill>
                            <a:schemeClr val="tx1"/>
                          </a:solidFill>
                          <a:effectLst/>
                        </a:rPr>
                        <a:t>ACSE0401.2</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71837788"/>
                  </a:ext>
                </a:extLst>
              </a:tr>
              <a:tr h="488054">
                <a:tc>
                  <a:txBody>
                    <a:bodyPr/>
                    <a:lstStyle/>
                    <a:p>
                      <a:pPr algn="ctr">
                        <a:lnSpc>
                          <a:spcPct val="106000"/>
                        </a:lnSpc>
                        <a:spcAft>
                          <a:spcPts val="0"/>
                        </a:spcAft>
                      </a:pPr>
                      <a:r>
                        <a:rPr lang="en-US" sz="1800" b="0" kern="1200" dirty="0" smtClean="0">
                          <a:solidFill>
                            <a:schemeClr val="tx1"/>
                          </a:solidFill>
                          <a:effectLst/>
                        </a:rPr>
                        <a:t>ACSE0401.3</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653856071"/>
                  </a:ext>
                </a:extLst>
              </a:tr>
              <a:tr h="510040">
                <a:tc>
                  <a:txBody>
                    <a:bodyPr/>
                    <a:lstStyle/>
                    <a:p>
                      <a:pPr algn="ctr">
                        <a:lnSpc>
                          <a:spcPct val="106000"/>
                        </a:lnSpc>
                        <a:spcAft>
                          <a:spcPts val="0"/>
                        </a:spcAft>
                      </a:pPr>
                      <a:r>
                        <a:rPr lang="en-US" sz="1800" b="0" kern="1200" dirty="0" smtClean="0">
                          <a:solidFill>
                            <a:schemeClr val="tx1"/>
                          </a:solidFill>
                          <a:effectLst/>
                        </a:rPr>
                        <a:t>ACSE0401.4</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433960778"/>
                  </a:ext>
                </a:extLst>
              </a:tr>
              <a:tr h="499048">
                <a:tc>
                  <a:txBody>
                    <a:bodyPr/>
                    <a:lstStyle/>
                    <a:p>
                      <a:pPr algn="ctr">
                        <a:lnSpc>
                          <a:spcPct val="106000"/>
                        </a:lnSpc>
                        <a:spcAft>
                          <a:spcPts val="0"/>
                        </a:spcAft>
                      </a:pPr>
                      <a:r>
                        <a:rPr lang="en-US" sz="1800" b="0" kern="1200" dirty="0" smtClean="0">
                          <a:solidFill>
                            <a:schemeClr val="tx1"/>
                          </a:solidFill>
                          <a:effectLst/>
                        </a:rPr>
                        <a:t>ACSE0401.5</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56706185"/>
                  </a:ext>
                </a:extLst>
              </a:tr>
              <a:tr h="594679">
                <a:tc>
                  <a:txBody>
                    <a:bodyPr/>
                    <a:lstStyle/>
                    <a:p>
                      <a:pPr algn="ctr">
                        <a:lnSpc>
                          <a:spcPct val="106000"/>
                        </a:lnSpc>
                        <a:spcAft>
                          <a:spcPts val="0"/>
                        </a:spcAft>
                      </a:pPr>
                      <a:r>
                        <a:rPr lang="en-US" sz="1800" b="0" kern="1200">
                          <a:effectLst/>
                        </a:rPr>
                        <a:t>Average</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2.6</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63174887"/>
                  </a:ext>
                </a:extLst>
              </a:tr>
            </a:tbl>
          </a:graphicData>
        </a:graphic>
      </p:graphicFrame>
      <p:pic>
        <p:nvPicPr>
          <p:cNvPr id="9" name="Picture 8"/>
          <p:cNvPicPr>
            <a:picLocks noChangeAspect="1"/>
          </p:cNvPicPr>
          <p:nvPr/>
        </p:nvPicPr>
        <p:blipFill>
          <a:blip r:embed="rId2"/>
          <a:stretch>
            <a:fillRect/>
          </a:stretch>
        </p:blipFill>
        <p:spPr>
          <a:xfrm>
            <a:off x="1" y="1"/>
            <a:ext cx="1371600" cy="6857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smtClean="0"/>
              <a:t>Mini Jain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smtClean="0">
                <a:ln>
                  <a:noFill/>
                </a:ln>
                <a:solidFill>
                  <a:schemeClr val="dk1"/>
                </a:solidFill>
                <a:effectLst/>
                <a:uLnTx/>
                <a:uFillTx/>
                <a:latin typeface="Times New Roman" panose="02020603050405020304" pitchFamily="18" charset="0"/>
                <a:cs typeface="Times New Roman" panose="02020603050405020304" pitchFamily="18" charset="0"/>
              </a:rPr>
              <a:t>Program</a:t>
            </a:r>
            <a:r>
              <a:rPr kumimoji="0" lang="en-US" sz="2400" b="0" i="0" u="none" strike="noStrike" kern="1200" cap="none" spc="0" normalizeH="0" noProof="0" dirty="0" smtClean="0">
                <a:ln>
                  <a:noFill/>
                </a:ln>
                <a:solidFill>
                  <a:schemeClr val="dk1"/>
                </a:solidFill>
                <a:effectLst/>
                <a:uLnTx/>
                <a:uFillTx/>
                <a:latin typeface="Times New Roman" panose="02020603050405020304" pitchFamily="18" charset="0"/>
                <a:cs typeface="Times New Roman" panose="02020603050405020304" pitchFamily="18" charset="0"/>
              </a:rPr>
              <a:t> Educational Objectives(PEOs)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10D0E64F-BB5C-4A30-8895-5CCE8F366BE7}"/>
              </a:ext>
            </a:extLst>
          </p:cNvPr>
          <p:cNvSpPr txBox="1">
            <a:spLocks noGrp="1"/>
          </p:cNvSpPr>
          <p:nvPr>
            <p:ph idx="1"/>
          </p:nvPr>
        </p:nvSpPr>
        <p:spPr>
          <a:xfrm>
            <a:off x="533400" y="1214438"/>
            <a:ext cx="8001000" cy="4271962"/>
          </a:xfrm>
        </p:spPr>
        <p:txBody>
          <a:bodyPr/>
          <a:lstStyle/>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PEO1: </a:t>
            </a:r>
            <a:r>
              <a:rPr lang="en-US" altLang="en-US" sz="2000" dirty="0">
                <a:latin typeface="Times New Roman" panose="02020603050405020304" pitchFamily="18" charset="0"/>
                <a:cs typeface="Times New Roman" panose="02020603050405020304" pitchFamily="18" charset="0"/>
              </a:rPr>
              <a:t>To have an excellent scientific and engineering breadth so as to</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comprehend, analyze, design and provide sustainable solutions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real-life problems using state-of-the-art technologies.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PEO2:</a:t>
            </a:r>
            <a:r>
              <a:rPr lang="en-US" altLang="en-US" sz="2000" dirty="0">
                <a:latin typeface="Times New Roman" panose="02020603050405020304" pitchFamily="18" charset="0"/>
                <a:cs typeface="Times New Roman" panose="02020603050405020304" pitchFamily="18" charset="0"/>
              </a:rPr>
              <a:t>To have a successful career in industries, to pursue higher studies 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to support </a:t>
            </a:r>
            <a:r>
              <a:rPr lang="en-US" altLang="en-US" sz="2000" dirty="0" err="1">
                <a:latin typeface="Times New Roman" panose="02020603050405020304" pitchFamily="18" charset="0"/>
                <a:cs typeface="Times New Roman" panose="02020603050405020304" pitchFamily="18" charset="0"/>
              </a:rPr>
              <a:t>enterpreneurial</a:t>
            </a:r>
            <a:r>
              <a:rPr lang="en-US" altLang="en-US" sz="2000" dirty="0">
                <a:latin typeface="Times New Roman" panose="02020603050405020304" pitchFamily="18" charset="0"/>
                <a:cs typeface="Times New Roman" panose="02020603050405020304" pitchFamily="18" charset="0"/>
              </a:rPr>
              <a:t> endeavors and to face global challenges.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PEO3:</a:t>
            </a:r>
            <a:r>
              <a:rPr lang="en-US" altLang="en-US" sz="2000" dirty="0">
                <a:latin typeface="Times New Roman" panose="02020603050405020304" pitchFamily="18" charset="0"/>
                <a:cs typeface="Times New Roman" panose="02020603050405020304" pitchFamily="18" charset="0"/>
              </a:rPr>
              <a:t>To have an effective communication skills, professional attitude,</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ethical values and a desire to learn specific knowledge in emerging</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trends, technologies for  research, innovation and product</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development and contribution to society.</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PEO4: </a:t>
            </a:r>
            <a:r>
              <a:rPr lang="en-US" altLang="en-US" sz="2000" dirty="0">
                <a:latin typeface="Times New Roman" panose="02020603050405020304" pitchFamily="18" charset="0"/>
                <a:cs typeface="Times New Roman" panose="02020603050405020304" pitchFamily="18" charset="0"/>
              </a:rPr>
              <a:t>To have life-long learning for up-skilling and re-skilling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successful professional career as engineer, scientist, </a:t>
            </a:r>
            <a:r>
              <a:rPr lang="en-US" altLang="en-US" sz="2000" dirty="0" err="1">
                <a:latin typeface="Times New Roman" panose="02020603050405020304" pitchFamily="18" charset="0"/>
                <a:cs typeface="Times New Roman" panose="02020603050405020304" pitchFamily="18" charset="0"/>
              </a:rPr>
              <a:t>enterpreneur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and bureaucrat for betterment of society</a:t>
            </a:r>
            <a:endParaRPr lang="en-IN" altLang="en-US" sz="2000"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2"/>
          <a:stretch>
            <a:fillRect/>
          </a:stretch>
        </p:blipFill>
        <p:spPr>
          <a:xfrm>
            <a:off x="1" y="1"/>
            <a:ext cx="1371600" cy="685799"/>
          </a:xfrm>
          <a:prstGeom prst="rect">
            <a:avLst/>
          </a:prstGeom>
        </p:spPr>
      </p:pic>
    </p:spTree>
    <p:extLst>
      <p:ext uri="{BB962C8B-B14F-4D97-AF65-F5344CB8AC3E}">
        <p14:creationId xmlns:p14="http://schemas.microsoft.com/office/powerpoint/2010/main" val="2724037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Date Placeholder 3">
            <a:extLst>
              <a:ext uri="{FF2B5EF4-FFF2-40B4-BE49-F238E27FC236}">
                <a16:creationId xmlns:a16="http://schemas.microsoft.com/office/drawing/2014/main" id="{F07DA384-37D6-4169-B171-F551AFB58F28}"/>
              </a:ext>
            </a:extLst>
          </p:cNvPr>
          <p:cNvSpPr>
            <a:spLocks noGrp="1"/>
          </p:cNvSpPr>
          <p:nvPr>
            <p:ph type="dt" sz="quarter" idx="11"/>
          </p:nvPr>
        </p:nvSpPr>
        <p:spPr>
          <a:xfrm flipH="1">
            <a:off x="609600" y="6356350"/>
            <a:ext cx="1371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JAN 1, 2023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CB647E03-879D-4188-B9F7-4A741850D4F7}"/>
              </a:ext>
            </a:extLst>
          </p:cNvPr>
          <p:cNvSpPr txBox="1">
            <a:spLocks/>
          </p:cNvSpPr>
          <p:nvPr/>
        </p:nvSpPr>
        <p:spPr>
          <a:xfrm>
            <a:off x="1371600" y="1"/>
            <a:ext cx="7543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 </a:t>
            </a:r>
            <a:endParaRPr lang="en-US" sz="3200" dirty="0">
              <a:latin typeface="Times New Roman" pitchFamily="18" charset="0"/>
              <a:cs typeface="Times New Roman" pitchFamily="18" charset="0"/>
              <a:sym typeface="Arial" charset="0"/>
            </a:endParaRPr>
          </a:p>
        </p:txBody>
      </p:sp>
      <p:sp>
        <p:nvSpPr>
          <p:cNvPr id="53253" name="Rectangle 2">
            <a:extLst>
              <a:ext uri="{FF2B5EF4-FFF2-40B4-BE49-F238E27FC236}">
                <a16:creationId xmlns:a16="http://schemas.microsoft.com/office/drawing/2014/main" id="{81D28AA1-B034-491D-9D7C-81CF11EE533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a:t/>
            </a:r>
            <a:br>
              <a:rPr lang="en-US" altLang="en-US"/>
            </a:br>
            <a:endParaRPr lang="en-US" altLang="en-US"/>
          </a:p>
          <a:p>
            <a:pPr eaLnBrk="1" hangingPunct="1"/>
            <a:endParaRPr lang="en-US" altLang="en-US"/>
          </a:p>
        </p:txBody>
      </p:sp>
      <p:sp>
        <p:nvSpPr>
          <p:cNvPr id="2" name="Content Placeholder 1">
            <a:extLst>
              <a:ext uri="{FF2B5EF4-FFF2-40B4-BE49-F238E27FC236}">
                <a16:creationId xmlns:a16="http://schemas.microsoft.com/office/drawing/2014/main" id="{8222434C-AD44-4A72-A6D6-FCA4D781430A}"/>
              </a:ext>
            </a:extLst>
          </p:cNvPr>
          <p:cNvSpPr>
            <a:spLocks noGrp="1"/>
          </p:cNvSpPr>
          <p:nvPr>
            <p:ph idx="1"/>
          </p:nvPr>
        </p:nvSpPr>
        <p:spPr>
          <a:xfrm>
            <a:off x="457200" y="1225550"/>
            <a:ext cx="8229600" cy="4754563"/>
          </a:xfrm>
        </p:spPr>
        <p:txBody>
          <a:bodyPr/>
          <a:lstStyle/>
          <a:p>
            <a:pPr marL="0" indent="0" algn="ctr">
              <a:buFont typeface="Arial" panose="020B0604020202020204" pitchFamily="34" charset="0"/>
              <a:buNone/>
              <a:defRPr/>
            </a:pPr>
            <a:r>
              <a:rPr lang="en-IN" sz="2000" dirty="0">
                <a:sym typeface="Arial" charset="0"/>
              </a:rPr>
              <a:t>B TECH </a:t>
            </a:r>
          </a:p>
          <a:p>
            <a:pPr marL="0" indent="0" algn="ctr">
              <a:buFont typeface="Arial" panose="020B0604020202020204" pitchFamily="34" charset="0"/>
              <a:buNone/>
              <a:defRPr/>
            </a:pPr>
            <a:r>
              <a:rPr lang="en-IN" sz="2000" dirty="0">
                <a:sym typeface="Arial" charset="0"/>
              </a:rPr>
              <a:t>(SEM-V) THEORY EXAMINATION 20__-20__</a:t>
            </a:r>
          </a:p>
          <a:p>
            <a:pPr marL="0" indent="0" algn="ctr">
              <a:buFont typeface="Arial" panose="020B0604020202020204" pitchFamily="34" charset="0"/>
              <a:buNone/>
              <a:defRPr/>
            </a:pPr>
            <a:r>
              <a:rPr lang="en-IN" sz="2000" dirty="0" smtClean="0">
                <a:sym typeface="Arial" charset="0"/>
              </a:rPr>
              <a:t>DESIGN AND ANALYSIS OF ALGORITHMS</a:t>
            </a:r>
          </a:p>
          <a:p>
            <a:pPr marL="0" indent="0">
              <a:buFont typeface="Arial" panose="020B0604020202020204" pitchFamily="34" charset="0"/>
              <a:buNone/>
              <a:defRPr/>
            </a:pPr>
            <a:r>
              <a:rPr lang="en-IN" sz="2000" b="1" dirty="0" smtClean="0">
                <a:sym typeface="Arial" charset="0"/>
              </a:rPr>
              <a:t>Time: 3 Hours                                                                                    Total Marks: 100 </a:t>
            </a:r>
          </a:p>
          <a:p>
            <a:pPr marL="0" indent="0" algn="just">
              <a:buFont typeface="Arial" panose="020B0604020202020204" pitchFamily="34" charset="0"/>
              <a:buNone/>
              <a:defRPr/>
            </a:pPr>
            <a:r>
              <a:rPr lang="en-IN" sz="2000" b="1" i="1" dirty="0" smtClean="0">
                <a:sym typeface="Arial" charset="0"/>
              </a:rPr>
              <a:t>Note</a:t>
            </a:r>
            <a:r>
              <a:rPr lang="en-IN" sz="2000" b="1" i="1" dirty="0">
                <a:sym typeface="Arial" charset="0"/>
              </a:rPr>
              <a:t>: 1. Attempt all Sections. If require any missing data; then choose suitably.</a:t>
            </a:r>
          </a:p>
          <a:p>
            <a:pPr marL="0" indent="0" algn="ctr">
              <a:buFont typeface="Arial" panose="020B0604020202020204" pitchFamily="34" charset="0"/>
              <a:buNone/>
              <a:defRPr/>
            </a:pPr>
            <a:r>
              <a:rPr lang="en-IN" sz="2000" b="1" dirty="0">
                <a:sym typeface="Arial" charset="0"/>
              </a:rPr>
              <a:t>SECTION A </a:t>
            </a:r>
          </a:p>
          <a:p>
            <a:pPr indent="-457200">
              <a:buFont typeface="Arial" panose="020B0604020202020204" pitchFamily="34" charset="0"/>
              <a:buAutoNum type="arabicPeriod"/>
              <a:defRPr/>
            </a:pPr>
            <a:r>
              <a:rPr lang="en-IN" sz="2000" b="1" dirty="0">
                <a:sym typeface="Arial" charset="0"/>
              </a:rPr>
              <a:t>Attempt all questions in brief.                                                        2 x 10 = 20</a:t>
            </a:r>
          </a:p>
          <a:p>
            <a:pPr marL="0" indent="0">
              <a:buFont typeface="Arial" panose="020B0604020202020204" pitchFamily="34" charset="0"/>
              <a:buNone/>
              <a:defRPr/>
            </a:pPr>
            <a:endParaRPr lang="en-IN" sz="2000" b="1" i="1" dirty="0">
              <a:sym typeface="Arial" charset="0"/>
            </a:endParaRPr>
          </a:p>
        </p:txBody>
      </p:sp>
      <p:graphicFrame>
        <p:nvGraphicFramePr>
          <p:cNvPr id="3" name="Table 2">
            <a:extLst>
              <a:ext uri="{FF2B5EF4-FFF2-40B4-BE49-F238E27FC236}">
                <a16:creationId xmlns:a16="http://schemas.microsoft.com/office/drawing/2014/main" id="{6EE6E332-3563-4688-A211-4CE181CFE2C2}"/>
              </a:ext>
            </a:extLst>
          </p:cNvPr>
          <p:cNvGraphicFramePr>
            <a:graphicFrameLocks noGrp="1"/>
          </p:cNvGraphicFramePr>
          <p:nvPr/>
        </p:nvGraphicFramePr>
        <p:xfrm>
          <a:off x="609600" y="4114800"/>
          <a:ext cx="7924800" cy="18288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3287" name="Footer Placeholder 11">
            <a:extLst>
              <a:ext uri="{FF2B5EF4-FFF2-40B4-BE49-F238E27FC236}">
                <a16:creationId xmlns:a16="http://schemas.microsoft.com/office/drawing/2014/main" id="{60EB482F-3255-4322-ADE7-B556E8FD0605}"/>
              </a:ext>
            </a:extLst>
          </p:cNvPr>
          <p:cNvSpPr>
            <a:spLocks noGrp="1"/>
          </p:cNvSpPr>
          <p:nvPr>
            <p:ph type="ftr" sz="quarter" idx="12"/>
          </p:nvPr>
        </p:nvSpPr>
        <p:spPr>
          <a:xfrm>
            <a:off x="2349500" y="6384925"/>
            <a:ext cx="4508500" cy="336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Mini Jain                AOE 0866 ST                Unit 4</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8" name="Slide Number Placeholder 12">
            <a:extLst>
              <a:ext uri="{FF2B5EF4-FFF2-40B4-BE49-F238E27FC236}">
                <a16:creationId xmlns:a16="http://schemas.microsoft.com/office/drawing/2014/main" id="{286F4104-4FCD-4E25-A149-B64C3FFC358D}"/>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10</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1" name="Picture 10"/>
          <p:cNvPicPr>
            <a:picLocks noChangeAspect="1"/>
          </p:cNvPicPr>
          <p:nvPr/>
        </p:nvPicPr>
        <p:blipFill>
          <a:blip r:embed="rId2"/>
          <a:stretch>
            <a:fillRect/>
          </a:stretch>
        </p:blipFill>
        <p:spPr>
          <a:xfrm>
            <a:off x="1" y="1"/>
            <a:ext cx="1371600" cy="685799"/>
          </a:xfrm>
          <a:prstGeom prst="rect">
            <a:avLst/>
          </a:prstGeom>
        </p:spPr>
      </p:pic>
    </p:spTree>
    <p:extLst>
      <p:ext uri="{BB962C8B-B14F-4D97-AF65-F5344CB8AC3E}">
        <p14:creationId xmlns:p14="http://schemas.microsoft.com/office/powerpoint/2010/main" val="2981493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3">
            <a:extLst>
              <a:ext uri="{FF2B5EF4-FFF2-40B4-BE49-F238E27FC236}">
                <a16:creationId xmlns:a16="http://schemas.microsoft.com/office/drawing/2014/main" id="{1583C611-A80D-43ED-8102-CB220BA542E2}"/>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JAN 1, 2023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DF84A163-333C-46E8-8954-FD528A9C5648}"/>
              </a:ext>
            </a:extLst>
          </p:cNvPr>
          <p:cNvSpPr txBox="1">
            <a:spLocks/>
          </p:cNvSpPr>
          <p:nvPr/>
        </p:nvSpPr>
        <p:spPr>
          <a:xfrm>
            <a:off x="1371600" y="1"/>
            <a:ext cx="7543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4277" name="Rectangle 2">
            <a:extLst>
              <a:ext uri="{FF2B5EF4-FFF2-40B4-BE49-F238E27FC236}">
                <a16:creationId xmlns:a16="http://schemas.microsoft.com/office/drawing/2014/main" id="{3A045F03-F311-4777-895A-D2C18E4EA0F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a:t/>
            </a:r>
            <a:br>
              <a:rPr lang="en-US" altLang="en-US"/>
            </a:br>
            <a:endParaRPr lang="en-US" altLang="en-US"/>
          </a:p>
          <a:p>
            <a:pPr eaLnBrk="1" hangingPunct="1"/>
            <a:endParaRPr lang="en-US" altLang="en-US"/>
          </a:p>
        </p:txBody>
      </p:sp>
      <p:sp>
        <p:nvSpPr>
          <p:cNvPr id="54278" name="Content Placeholder 1">
            <a:extLst>
              <a:ext uri="{FF2B5EF4-FFF2-40B4-BE49-F238E27FC236}">
                <a16:creationId xmlns:a16="http://schemas.microsoft.com/office/drawing/2014/main" id="{597B8432-DFF0-4DDA-84BD-CD565D4BFC2B}"/>
              </a:ext>
            </a:extLst>
          </p:cNvPr>
          <p:cNvSpPr txBox="1">
            <a:spLocks noGrp="1"/>
          </p:cNvSpPr>
          <p:nvPr>
            <p:ph idx="1"/>
          </p:nvPr>
        </p:nvSpPr>
        <p:spPr>
          <a:xfrm>
            <a:off x="457200" y="1225550"/>
            <a:ext cx="8229600" cy="4754563"/>
          </a:xfrm>
        </p:spPr>
        <p:txBody>
          <a:bodyPr/>
          <a:lstStyle/>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2. Attempt any three of the following:                               3 x 10 = 30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3. Attempt any one part of the following:                          1 x 10 = 10    </a:t>
            </a:r>
            <a:endParaRPr lang="en-IN" altLang="en-US" sz="2000" b="1" i="1">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3BD8A6D9-09A0-45D8-BC21-C175B99CE0F0}"/>
              </a:ext>
            </a:extLst>
          </p:cNvPr>
          <p:cNvGraphicFramePr>
            <a:graphicFrameLocks noGrp="1"/>
          </p:cNvGraphicFramePr>
          <p:nvPr/>
        </p:nvGraphicFramePr>
        <p:xfrm>
          <a:off x="835025" y="2365375"/>
          <a:ext cx="7839075" cy="2103120"/>
        </p:xfrm>
        <a:graphic>
          <a:graphicData uri="http://schemas.openxmlformats.org/drawingml/2006/table">
            <a:tbl>
              <a:tblPr firstRow="1" bandRow="1">
                <a:tableStyleId>{5C22544A-7EE6-4342-B048-85BDC9FD1C3A}</a:tableStyleId>
              </a:tblPr>
              <a:tblGrid>
                <a:gridCol w="904509">
                  <a:extLst>
                    <a:ext uri="{9D8B030D-6E8A-4147-A177-3AD203B41FA5}">
                      <a16:colId xmlns:a16="http://schemas.microsoft.com/office/drawing/2014/main" val="20000"/>
                    </a:ext>
                  </a:extLst>
                </a:gridCol>
                <a:gridCol w="5276300">
                  <a:extLst>
                    <a:ext uri="{9D8B030D-6E8A-4147-A177-3AD203B41FA5}">
                      <a16:colId xmlns:a16="http://schemas.microsoft.com/office/drawing/2014/main" val="20001"/>
                    </a:ext>
                  </a:extLst>
                </a:gridCol>
                <a:gridCol w="829133">
                  <a:extLst>
                    <a:ext uri="{9D8B030D-6E8A-4147-A177-3AD203B41FA5}">
                      <a16:colId xmlns:a16="http://schemas.microsoft.com/office/drawing/2014/main" val="20002"/>
                    </a:ext>
                  </a:extLst>
                </a:gridCol>
                <a:gridCol w="829133">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E72EFC8D-CA57-40F5-AD3E-D559506685CE}"/>
              </a:ext>
            </a:extLst>
          </p:cNvPr>
          <p:cNvGraphicFramePr>
            <a:graphicFrameLocks noGrp="1"/>
          </p:cNvGraphicFramePr>
          <p:nvPr/>
        </p:nvGraphicFramePr>
        <p:xfrm>
          <a:off x="928688" y="4960669"/>
          <a:ext cx="7986712" cy="1387475"/>
        </p:xfrm>
        <a:graphic>
          <a:graphicData uri="http://schemas.openxmlformats.org/drawingml/2006/table">
            <a:tbl>
              <a:tblPr firstRow="1" bandRow="1">
                <a:tableStyleId>{5C22544A-7EE6-4342-B048-85BDC9FD1C3A}</a:tableStyleId>
              </a:tblPr>
              <a:tblGrid>
                <a:gridCol w="921544">
                  <a:extLst>
                    <a:ext uri="{9D8B030D-6E8A-4147-A177-3AD203B41FA5}">
                      <a16:colId xmlns:a16="http://schemas.microsoft.com/office/drawing/2014/main" val="20000"/>
                    </a:ext>
                  </a:extLst>
                </a:gridCol>
                <a:gridCol w="5375672">
                  <a:extLst>
                    <a:ext uri="{9D8B030D-6E8A-4147-A177-3AD203B41FA5}">
                      <a16:colId xmlns:a16="http://schemas.microsoft.com/office/drawing/2014/main" val="20001"/>
                    </a:ext>
                  </a:extLst>
                </a:gridCol>
                <a:gridCol w="844748">
                  <a:extLst>
                    <a:ext uri="{9D8B030D-6E8A-4147-A177-3AD203B41FA5}">
                      <a16:colId xmlns:a16="http://schemas.microsoft.com/office/drawing/2014/main" val="20002"/>
                    </a:ext>
                  </a:extLst>
                </a:gridCol>
                <a:gridCol w="844748">
                  <a:extLst>
                    <a:ext uri="{9D8B030D-6E8A-4147-A177-3AD203B41FA5}">
                      <a16:colId xmlns:a16="http://schemas.microsoft.com/office/drawing/2014/main" val="20003"/>
                    </a:ext>
                  </a:extLst>
                </a:gridCol>
              </a:tblGrid>
              <a:tr h="647521">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77">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77">
                <a:tc>
                  <a:txBody>
                    <a:bodyPr/>
                    <a:lstStyle/>
                    <a:p>
                      <a:r>
                        <a:rPr lang="en-IN" sz="1800" dirty="0"/>
                        <a:t>2</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4333" name="Footer Placeholder 10">
            <a:extLst>
              <a:ext uri="{FF2B5EF4-FFF2-40B4-BE49-F238E27FC236}">
                <a16:creationId xmlns:a16="http://schemas.microsoft.com/office/drawing/2014/main" id="{9BF3E96D-C40D-48C4-B41D-E4E0DF60ED3B}"/>
              </a:ext>
            </a:extLst>
          </p:cNvPr>
          <p:cNvSpPr>
            <a:spLocks noGrp="1"/>
          </p:cNvSpPr>
          <p:nvPr>
            <p:ph type="ftr" sz="quarter" idx="12"/>
          </p:nvPr>
        </p:nvSpPr>
        <p:spPr>
          <a:xfrm>
            <a:off x="304800" y="6356350"/>
            <a:ext cx="7026275" cy="501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Mini Jain                AOE 0866 ST                Unit 4</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4" name="Slide Number Placeholder 11">
            <a:extLst>
              <a:ext uri="{FF2B5EF4-FFF2-40B4-BE49-F238E27FC236}">
                <a16:creationId xmlns:a16="http://schemas.microsoft.com/office/drawing/2014/main" id="{1426CA00-1A1C-4FFA-92B2-E5EB35553F59}"/>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11</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2" name="Picture 11"/>
          <p:cNvPicPr>
            <a:picLocks noChangeAspect="1"/>
          </p:cNvPicPr>
          <p:nvPr/>
        </p:nvPicPr>
        <p:blipFill>
          <a:blip r:embed="rId2"/>
          <a:stretch>
            <a:fillRect/>
          </a:stretch>
        </p:blipFill>
        <p:spPr>
          <a:xfrm>
            <a:off x="1" y="1"/>
            <a:ext cx="1371600" cy="685799"/>
          </a:xfrm>
          <a:prstGeom prst="rect">
            <a:avLst/>
          </a:prstGeom>
        </p:spPr>
      </p:pic>
    </p:spTree>
    <p:extLst>
      <p:ext uri="{BB962C8B-B14F-4D97-AF65-F5344CB8AC3E}">
        <p14:creationId xmlns:p14="http://schemas.microsoft.com/office/powerpoint/2010/main" val="901349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a:extLst>
              <a:ext uri="{FF2B5EF4-FFF2-40B4-BE49-F238E27FC236}">
                <a16:creationId xmlns:a16="http://schemas.microsoft.com/office/drawing/2014/main" id="{12272BC1-981B-462C-8FCD-ACAF5146F8A5}"/>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JAN 1, 2023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088450A4-FBEE-4806-BD4D-F699B6D492FF}"/>
              </a:ext>
            </a:extLst>
          </p:cNvPr>
          <p:cNvSpPr txBox="1">
            <a:spLocks/>
          </p:cNvSpPr>
          <p:nvPr/>
        </p:nvSpPr>
        <p:spPr>
          <a:xfrm>
            <a:off x="1371600" y="1"/>
            <a:ext cx="7543800" cy="722314"/>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5301" name="Rectangle 2">
            <a:extLst>
              <a:ext uri="{FF2B5EF4-FFF2-40B4-BE49-F238E27FC236}">
                <a16:creationId xmlns:a16="http://schemas.microsoft.com/office/drawing/2014/main" id="{A612872F-F8D3-45AF-BE40-48AB30776AA4}"/>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a:t/>
            </a:r>
            <a:br>
              <a:rPr lang="en-US" altLang="en-US"/>
            </a:br>
            <a:endParaRPr lang="en-US" altLang="en-US"/>
          </a:p>
          <a:p>
            <a:pPr eaLnBrk="1" hangingPunct="1"/>
            <a:endParaRPr lang="en-US" altLang="en-US"/>
          </a:p>
        </p:txBody>
      </p:sp>
      <p:sp>
        <p:nvSpPr>
          <p:cNvPr id="55302" name="Content Placeholder 1">
            <a:extLst>
              <a:ext uri="{FF2B5EF4-FFF2-40B4-BE49-F238E27FC236}">
                <a16:creationId xmlns:a16="http://schemas.microsoft.com/office/drawing/2014/main" id="{D0DC9025-1B33-491C-A346-19931EA741AB}"/>
              </a:ext>
            </a:extLst>
          </p:cNvPr>
          <p:cNvSpPr txBox="1">
            <a:spLocks noGrp="1"/>
          </p:cNvSpPr>
          <p:nvPr>
            <p:ph idx="1"/>
          </p:nvPr>
        </p:nvSpPr>
        <p:spPr>
          <a:xfrm>
            <a:off x="536575" y="914400"/>
            <a:ext cx="8150225" cy="4745038"/>
          </a:xfrm>
        </p:spPr>
        <p:txBody>
          <a:bodyPr/>
          <a:lstStyle/>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4.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6. Attempt any one part of the following:                        1 x 10 = 10    </a:t>
            </a: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graphicFrame>
        <p:nvGraphicFramePr>
          <p:cNvPr id="10" name="Table 9">
            <a:extLst>
              <a:ext uri="{FF2B5EF4-FFF2-40B4-BE49-F238E27FC236}">
                <a16:creationId xmlns:a16="http://schemas.microsoft.com/office/drawing/2014/main" id="{4DA1E7C7-2C1F-4962-9713-F429CA005D47}"/>
              </a:ext>
            </a:extLst>
          </p:cNvPr>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2CF2D1EB-4D07-4C49-A9CB-87B0C4FF9707}"/>
              </a:ext>
            </a:extLst>
          </p:cNvPr>
          <p:cNvGraphicFramePr>
            <a:graphicFrameLocks noGrp="1"/>
          </p:cNvGraphicFramePr>
          <p:nvPr/>
        </p:nvGraphicFramePr>
        <p:xfrm>
          <a:off x="773113" y="3059113"/>
          <a:ext cx="7977188" cy="1097022"/>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2">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5F1EC372-AAF8-429E-B03B-B778AFB8E3E2}"/>
              </a:ext>
            </a:extLst>
          </p:cNvPr>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extLst>
                    <a:ext uri="{9D8B030D-6E8A-4147-A177-3AD203B41FA5}">
                      <a16:colId xmlns:a16="http://schemas.microsoft.com/office/drawing/2014/main" val="20000"/>
                    </a:ext>
                  </a:extLst>
                </a:gridCol>
                <a:gridCol w="5210054">
                  <a:extLst>
                    <a:ext uri="{9D8B030D-6E8A-4147-A177-3AD203B41FA5}">
                      <a16:colId xmlns:a16="http://schemas.microsoft.com/office/drawing/2014/main" val="20001"/>
                    </a:ext>
                  </a:extLst>
                </a:gridCol>
                <a:gridCol w="818722">
                  <a:extLst>
                    <a:ext uri="{9D8B030D-6E8A-4147-A177-3AD203B41FA5}">
                      <a16:colId xmlns:a16="http://schemas.microsoft.com/office/drawing/2014/main" val="20002"/>
                    </a:ext>
                  </a:extLst>
                </a:gridCol>
                <a:gridCol w="818722">
                  <a:extLst>
                    <a:ext uri="{9D8B030D-6E8A-4147-A177-3AD203B41FA5}">
                      <a16:colId xmlns:a16="http://schemas.microsoft.com/office/drawing/2014/main" val="20003"/>
                    </a:ext>
                  </a:extLst>
                </a:gridCol>
              </a:tblGrid>
              <a:tr h="728276">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611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611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5369" name="Slide Number Placeholder 12">
            <a:extLst>
              <a:ext uri="{FF2B5EF4-FFF2-40B4-BE49-F238E27FC236}">
                <a16:creationId xmlns:a16="http://schemas.microsoft.com/office/drawing/2014/main" id="{264DA7A1-76AA-4330-98E5-BFF1B6CC4D6C}"/>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12</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5370" name="Footer Placeholder 13">
            <a:extLst>
              <a:ext uri="{FF2B5EF4-FFF2-40B4-BE49-F238E27FC236}">
                <a16:creationId xmlns:a16="http://schemas.microsoft.com/office/drawing/2014/main" id="{E036CA6C-5FDC-483C-8442-0121141EF882}"/>
              </a:ext>
            </a:extLst>
          </p:cNvPr>
          <p:cNvSpPr>
            <a:spLocks noGrp="1"/>
          </p:cNvSpPr>
          <p:nvPr>
            <p:ph type="ftr" sz="quarter" idx="12"/>
          </p:nvPr>
        </p:nvSpPr>
        <p:spPr>
          <a:xfrm>
            <a:off x="3124200" y="6369050"/>
            <a:ext cx="3829050" cy="3524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Mini Jain                AOE 0866 ST                Unit 4</a:t>
            </a:r>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14" name="Picture 13"/>
          <p:cNvPicPr>
            <a:picLocks noChangeAspect="1"/>
          </p:cNvPicPr>
          <p:nvPr/>
        </p:nvPicPr>
        <p:blipFill>
          <a:blip r:embed="rId2"/>
          <a:stretch>
            <a:fillRect/>
          </a:stretch>
        </p:blipFill>
        <p:spPr>
          <a:xfrm>
            <a:off x="1" y="1"/>
            <a:ext cx="1371600" cy="685799"/>
          </a:xfrm>
          <a:prstGeom prst="rect">
            <a:avLst/>
          </a:prstGeom>
        </p:spPr>
      </p:pic>
    </p:spTree>
    <p:extLst>
      <p:ext uri="{BB962C8B-B14F-4D97-AF65-F5344CB8AC3E}">
        <p14:creationId xmlns:p14="http://schemas.microsoft.com/office/powerpoint/2010/main" val="2457498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818" y="1166018"/>
            <a:ext cx="8229600" cy="4525963"/>
          </a:xfrm>
        </p:spPr>
        <p:txBody>
          <a:bodyPr>
            <a:normAutofit/>
          </a:bodyPr>
          <a:lstStyle/>
          <a:p>
            <a:pPr marL="0" indent="0" algn="just">
              <a:buNone/>
            </a:pPr>
            <a:r>
              <a:rPr lang="en-US" sz="1800" dirty="0"/>
              <a:t>Renewable resources include solar energy, wind, falling water, the heat of the earth (geothermal), plant materials (biomass), waves, ocean currents, temperature differences in the oceans and the energy of the tides. Renewable energy technologies produce power, heat or mechanical energy by converting those resources either to electricity or to motive power. The policy maker concerned with development of the national grid system will focus on those resources that have established themselves commercially and are cost effective for on-grid applications. Such commercial technologies include hydroelectric power, solar energy, fuels derived from biomass, wind energy and geothermal energy. Wave, ocean current, ocean thermal and other technologies that are in the research or early commercial stage, as well as non-electric renewable energy technologies, such as solar water heaters and geothermal heat pumps, are also based on renewable resources, but outside the scope of this </a:t>
            </a:r>
            <a:r>
              <a:rPr lang="en-US" sz="1800" i="1" dirty="0"/>
              <a:t>Manual.</a:t>
            </a:r>
            <a:endParaRPr lang="en-US"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smtClean="0"/>
              <a:t>Mini Jain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smtClean="0">
                <a:latin typeface="Times New Roman" panose="02020603050405020304" pitchFamily="18" charset="0"/>
                <a:cs typeface="Times New Roman" panose="02020603050405020304" pitchFamily="18" charset="0"/>
              </a:rPr>
              <a:t>Unit Objective</a:t>
            </a:r>
            <a:endParaRPr lang="en-US" sz="3000" dirty="0">
              <a:latin typeface="Times New Roman" panose="02020603050405020304" pitchFamily="18" charset="0"/>
              <a:cs typeface="Times New Roman" panose="02020603050405020304" pitchFamily="18" charset="0"/>
            </a:endParaRPr>
          </a:p>
        </p:txBody>
      </p:sp>
      <p:sp>
        <p:nvSpPr>
          <p:cNvPr id="2" name="Rectangle 1"/>
          <p:cNvSpPr/>
          <p:nvPr/>
        </p:nvSpPr>
        <p:spPr>
          <a:xfrm>
            <a:off x="1219200" y="1297382"/>
            <a:ext cx="7492218" cy="369332"/>
          </a:xfrm>
          <a:prstGeom prst="rect">
            <a:avLst/>
          </a:prstGeom>
        </p:spPr>
        <p:txBody>
          <a:bodyPr wrap="square">
            <a:spAutoFit/>
          </a:bodyPr>
          <a:lstStyle/>
          <a:p>
            <a:pPr algn="just"/>
            <a:r>
              <a:rPr lang="en-US" dirty="0" smtClean="0"/>
              <a:t>.  </a:t>
            </a:r>
            <a:endParaRPr lang="en-US" dirty="0"/>
          </a:p>
        </p:txBody>
      </p:sp>
      <p:pic>
        <p:nvPicPr>
          <p:cNvPr id="9" name="Picture 8"/>
          <p:cNvPicPr>
            <a:picLocks noChangeAspect="1"/>
          </p:cNvPicPr>
          <p:nvPr/>
        </p:nvPicPr>
        <p:blipFill>
          <a:blip r:embed="rId2"/>
          <a:stretch>
            <a:fillRect/>
          </a:stretch>
        </p:blipFill>
        <p:spPr>
          <a:xfrm>
            <a:off x="1" y="1"/>
            <a:ext cx="1371600" cy="685799"/>
          </a:xfrm>
          <a:prstGeom prst="rect">
            <a:avLst/>
          </a:prstGeom>
        </p:spPr>
      </p:pic>
    </p:spTree>
    <p:extLst>
      <p:ext uri="{BB962C8B-B14F-4D97-AF65-F5344CB8AC3E}">
        <p14:creationId xmlns:p14="http://schemas.microsoft.com/office/powerpoint/2010/main" val="2359965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Basics Of Renewable Energy</a:t>
            </a:r>
            <a:endParaRPr lang="en-IN" sz="2800" dirty="0"/>
          </a:p>
        </p:txBody>
      </p:sp>
      <p:sp>
        <p:nvSpPr>
          <p:cNvPr id="3" name="Content Placeholder 2"/>
          <p:cNvSpPr>
            <a:spLocks noGrp="1"/>
          </p:cNvSpPr>
          <p:nvPr>
            <p:ph idx="1"/>
          </p:nvPr>
        </p:nvSpPr>
        <p:spPr/>
        <p:txBody>
          <a:bodyPr>
            <a:normAutofit fontScale="85000" lnSpcReduction="20000"/>
          </a:bodyPr>
          <a:lstStyle/>
          <a:p>
            <a:pPr algn="just"/>
            <a:r>
              <a:rPr lang="en-US" sz="2600" dirty="0"/>
              <a:t>Renewable energy is </a:t>
            </a:r>
            <a:r>
              <a:rPr lang="en-US" sz="2600" dirty="0">
                <a:hlinkClick r:id="rId2"/>
              </a:rPr>
              <a:t>energy derived from natural sources </a:t>
            </a:r>
            <a:r>
              <a:rPr lang="en-US" sz="2600" dirty="0"/>
              <a:t>that are replenished at a higher rate than they are consumed. Sunlight and wind, for example, are such sources that are constantly being replenished. Renewable energy sources are plentiful and all around us.</a:t>
            </a:r>
          </a:p>
          <a:p>
            <a:pPr algn="just"/>
            <a:r>
              <a:rPr lang="en-US" sz="2600" dirty="0"/>
              <a:t>Fossil fuels - coal, oil and gas - on the other hand, are non-renewable resources that take hundreds of millions of years to form. Fossil fuels, when burned to produce energy, cause harmful greenhouse gas emissions, such as carbon dioxide.</a:t>
            </a:r>
          </a:p>
          <a:p>
            <a:pPr algn="just"/>
            <a:r>
              <a:rPr lang="en-US" sz="2600" dirty="0"/>
              <a:t>Generating renewable energy </a:t>
            </a:r>
            <a:r>
              <a:rPr lang="en-US" sz="2600" dirty="0">
                <a:hlinkClick r:id="rId3"/>
              </a:rPr>
              <a:t>creates far lower emissions</a:t>
            </a:r>
            <a:r>
              <a:rPr lang="en-US" sz="2600" dirty="0"/>
              <a:t> than burning fossil fuels. Transitioning from fossil fuels, which currently account for the lion’s share of emissions, to renewable energy is key to addressing the climate crisis.</a:t>
            </a:r>
          </a:p>
          <a:p>
            <a:pPr algn="just"/>
            <a:r>
              <a:rPr lang="en-US" sz="2600" dirty="0"/>
              <a:t>Renewables are now cheaper in most countries, and generate three times more jobs than fossil fuels.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3306322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Basics Of Renewable Energy</a:t>
            </a:r>
          </a:p>
        </p:txBody>
      </p:sp>
      <p:sp>
        <p:nvSpPr>
          <p:cNvPr id="3" name="Content Placeholder 2"/>
          <p:cNvSpPr>
            <a:spLocks noGrp="1"/>
          </p:cNvSpPr>
          <p:nvPr>
            <p:ph idx="1"/>
          </p:nvPr>
        </p:nvSpPr>
        <p:spPr/>
        <p:txBody>
          <a:bodyPr>
            <a:normAutofit fontScale="70000" lnSpcReduction="20000"/>
          </a:bodyPr>
          <a:lstStyle/>
          <a:p>
            <a:pPr algn="just"/>
            <a:r>
              <a:rPr lang="en-US" sz="2900" b="1" dirty="0"/>
              <a:t>Here are a few common sources of renewable energy</a:t>
            </a:r>
            <a:r>
              <a:rPr lang="en-US" sz="2900" b="1" dirty="0" smtClean="0"/>
              <a:t>:</a:t>
            </a:r>
          </a:p>
          <a:p>
            <a:pPr algn="just"/>
            <a:r>
              <a:rPr lang="en-US" sz="2900" b="1" dirty="0"/>
              <a:t>SOLAR ENERGY</a:t>
            </a:r>
          </a:p>
          <a:p>
            <a:pPr algn="just"/>
            <a:r>
              <a:rPr lang="en-US" sz="2900" dirty="0"/>
              <a:t>Solar energy is the most abundant of all energy resources and can even be harnessed in cloudy weather. The rate at which solar energy is intercepted by the Earth is about </a:t>
            </a:r>
            <a:r>
              <a:rPr lang="en-US" sz="2900" dirty="0">
                <a:hlinkClick r:id="rId2"/>
              </a:rPr>
              <a:t>10,000 times greater</a:t>
            </a:r>
            <a:r>
              <a:rPr lang="en-US" sz="2900" dirty="0"/>
              <a:t> than the rate at which humankind consumes energy.</a:t>
            </a:r>
          </a:p>
          <a:p>
            <a:pPr algn="just"/>
            <a:r>
              <a:rPr lang="en-US" sz="2900" dirty="0"/>
              <a:t>Solar technologies can deliver heat, cooling, natural lighting, electricity, and fuels for a host of applications. Solar technologies convert sunlight into electrical energy either through photovoltaic panels or through mirrors that concentrate solar radiation.</a:t>
            </a:r>
          </a:p>
          <a:p>
            <a:pPr algn="just"/>
            <a:r>
              <a:rPr lang="en-US" sz="2900" dirty="0"/>
              <a:t>Although not all countries are equally endowed with solar energy, a significant contribution to the energy mix from direct solar energy is possible for every country.</a:t>
            </a:r>
          </a:p>
          <a:p>
            <a:endParaRPr lang="en-US" b="1" dirty="0"/>
          </a:p>
          <a:p>
            <a:r>
              <a:rPr lang="en-US" dirty="0"/>
              <a:t/>
            </a:r>
            <a:br>
              <a:rPr lang="en-US" dirty="0"/>
            </a:b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3696364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Basics Of Renewable Energy</a:t>
            </a:r>
          </a:p>
        </p:txBody>
      </p:sp>
      <p:sp>
        <p:nvSpPr>
          <p:cNvPr id="3" name="Content Placeholder 2"/>
          <p:cNvSpPr>
            <a:spLocks noGrp="1"/>
          </p:cNvSpPr>
          <p:nvPr>
            <p:ph idx="1"/>
          </p:nvPr>
        </p:nvSpPr>
        <p:spPr/>
        <p:txBody>
          <a:bodyPr>
            <a:normAutofit/>
          </a:bodyPr>
          <a:lstStyle/>
          <a:p>
            <a:pPr algn="just"/>
            <a:r>
              <a:rPr lang="en-US" sz="1800" b="1" dirty="0"/>
              <a:t>WIND ENERGY</a:t>
            </a:r>
          </a:p>
          <a:p>
            <a:pPr algn="just"/>
            <a:r>
              <a:rPr lang="en-US" sz="1800" dirty="0"/>
              <a:t>Wind energy harnesses the kinetic energy of moving air by using large wind turbines located on land (onshore) or in sea- or freshwater (offshore). Wind energy has been used for millennia, but onshore and offshore wind energy technologies have evolved over the last few years to maximize the electricity produced - with taller turbines and larger rotor diameters.</a:t>
            </a:r>
          </a:p>
          <a:p>
            <a:pPr algn="just"/>
            <a:r>
              <a:rPr lang="en-US" sz="1800" dirty="0"/>
              <a:t>Though average wind speeds vary considerably by location, the world’s </a:t>
            </a:r>
            <a:r>
              <a:rPr lang="en-US" sz="1800" dirty="0">
                <a:hlinkClick r:id="rId2"/>
              </a:rPr>
              <a:t>technical potential for wind energy</a:t>
            </a:r>
            <a:r>
              <a:rPr lang="en-US" sz="1800" dirty="0"/>
              <a:t> exceeds global electricity production, and ample potential exists in most regions of the world to enable significant wind energy deployment.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2430585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Basics Of Renewable Energy</a:t>
            </a:r>
          </a:p>
        </p:txBody>
      </p:sp>
      <p:sp>
        <p:nvSpPr>
          <p:cNvPr id="3" name="Content Placeholder 2"/>
          <p:cNvSpPr>
            <a:spLocks noGrp="1"/>
          </p:cNvSpPr>
          <p:nvPr>
            <p:ph idx="1"/>
          </p:nvPr>
        </p:nvSpPr>
        <p:spPr/>
        <p:txBody>
          <a:bodyPr>
            <a:normAutofit/>
          </a:bodyPr>
          <a:lstStyle/>
          <a:p>
            <a:pPr algn="just"/>
            <a:r>
              <a:rPr lang="en-US" sz="1800" b="1" dirty="0"/>
              <a:t>GEOTHERMAL ENERGY</a:t>
            </a:r>
          </a:p>
          <a:p>
            <a:pPr algn="just"/>
            <a:r>
              <a:rPr lang="en-US" sz="1800" dirty="0"/>
              <a:t>Geothermal energy utilizes the accessible thermal energy from the Earth’s interior. Heat is extracted from geothermal reservoirs using wells or other means.</a:t>
            </a:r>
          </a:p>
          <a:p>
            <a:pPr algn="just"/>
            <a:r>
              <a:rPr lang="en-US" sz="1800" dirty="0"/>
              <a:t>Reservoirs that are naturally sufficiently hot and permeable are called hydrothermal reservoirs, whereas reservoirs that are sufficiently hot but that are improved with hydraulic stimulation are called enhanced geothermal systems.</a:t>
            </a:r>
          </a:p>
          <a:p>
            <a:pPr algn="just"/>
            <a:r>
              <a:rPr lang="en-US" sz="1800" dirty="0"/>
              <a:t>Once at the surface, fluids of various temperatures can be used to generate electricity. The technology for electricity generation from hydrothermal reservoirs is mature and reliable, and has been operating for </a:t>
            </a:r>
            <a:r>
              <a:rPr lang="en-US" sz="1800" dirty="0">
                <a:hlinkClick r:id="rId2"/>
              </a:rPr>
              <a:t>more than 100 years</a:t>
            </a:r>
            <a:r>
              <a:rPr lang="en-US" sz="1800" dirty="0"/>
              <a: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2937719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Basics Of Renewable Energy</a:t>
            </a:r>
          </a:p>
        </p:txBody>
      </p:sp>
      <p:sp>
        <p:nvSpPr>
          <p:cNvPr id="3" name="Content Placeholder 2"/>
          <p:cNvSpPr>
            <a:spLocks noGrp="1"/>
          </p:cNvSpPr>
          <p:nvPr>
            <p:ph idx="1"/>
          </p:nvPr>
        </p:nvSpPr>
        <p:spPr/>
        <p:txBody>
          <a:bodyPr>
            <a:normAutofit/>
          </a:bodyPr>
          <a:lstStyle/>
          <a:p>
            <a:pPr algn="just"/>
            <a:r>
              <a:rPr lang="en-US" sz="1800" b="1" dirty="0"/>
              <a:t>HYDROPOWER</a:t>
            </a:r>
          </a:p>
          <a:p>
            <a:pPr algn="just"/>
            <a:r>
              <a:rPr lang="en-US" sz="1800" dirty="0"/>
              <a:t>Hydropower harnesses the energy of water moving from higher to lower elevations. It can be generated from reservoirs and rivers. Reservoir hydropower plants rely on stored water in a reservoir, while run-of-river hydropower plants harness energy from the available flow of the river.</a:t>
            </a:r>
          </a:p>
          <a:p>
            <a:pPr algn="just"/>
            <a:r>
              <a:rPr lang="en-US" sz="1800" dirty="0"/>
              <a:t>Hydropower reservoirs often have multiple uses - providing drinking water, water for irrigation, flood and drought control, navigation services, as well as energy supply.</a:t>
            </a:r>
          </a:p>
          <a:p>
            <a:pPr algn="just"/>
            <a:r>
              <a:rPr lang="en-US" sz="1800" dirty="0"/>
              <a:t>Hydropower currently is the </a:t>
            </a:r>
            <a:r>
              <a:rPr lang="en-US" sz="1800" dirty="0">
                <a:hlinkClick r:id="rId2"/>
              </a:rPr>
              <a:t>largest source of renewable energy</a:t>
            </a:r>
            <a:r>
              <a:rPr lang="en-US" sz="1800" dirty="0"/>
              <a:t> in the electricity sector. It relies on generally stable rainfall patterns, and can be negatively impacted by climate-induced droughts or changes to ecosystems which impact rainfall patterns.</a:t>
            </a:r>
          </a:p>
          <a:p>
            <a:pPr algn="just"/>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2148571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Basics Of Renewable Energy</a:t>
            </a:r>
          </a:p>
        </p:txBody>
      </p:sp>
      <p:sp>
        <p:nvSpPr>
          <p:cNvPr id="3" name="Content Placeholder 2"/>
          <p:cNvSpPr>
            <a:spLocks noGrp="1"/>
          </p:cNvSpPr>
          <p:nvPr>
            <p:ph idx="1"/>
          </p:nvPr>
        </p:nvSpPr>
        <p:spPr/>
        <p:txBody>
          <a:bodyPr>
            <a:normAutofit/>
          </a:bodyPr>
          <a:lstStyle/>
          <a:p>
            <a:pPr algn="just"/>
            <a:r>
              <a:rPr lang="en-US" sz="2100" b="1" dirty="0"/>
              <a:t>OCEAN ENERGY</a:t>
            </a:r>
          </a:p>
          <a:p>
            <a:pPr algn="just"/>
            <a:r>
              <a:rPr lang="en-US" sz="2100" dirty="0"/>
              <a:t>Ocean energy derives from technologies that use the kinetic and thermal energy of seawater - waves or currents for instance -  to produce electricity or heat.</a:t>
            </a:r>
          </a:p>
          <a:p>
            <a:pPr algn="just"/>
            <a:r>
              <a:rPr lang="en-US" sz="2100" dirty="0"/>
              <a:t>Ocean energy systems are still at an early stage of development, with a number of prototype wave and tidal current devices being explored. The theoretical potential for ocean energy easily </a:t>
            </a:r>
            <a:r>
              <a:rPr lang="en-US" sz="2100" dirty="0">
                <a:hlinkClick r:id="rId2"/>
              </a:rPr>
              <a:t>exceeds present human energy </a:t>
            </a:r>
            <a:r>
              <a:rPr lang="en-US" sz="2100" dirty="0"/>
              <a:t>requirements.</a:t>
            </a:r>
          </a:p>
          <a:p>
            <a:r>
              <a:rPr lang="en-US" dirty="0"/>
              <a:t/>
            </a:r>
            <a:br>
              <a:rPr lang="en-US" dirty="0"/>
            </a:b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1919536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Basics Of Renewable Energy</a:t>
            </a:r>
          </a:p>
        </p:txBody>
      </p:sp>
      <p:sp>
        <p:nvSpPr>
          <p:cNvPr id="3" name="Content Placeholder 2"/>
          <p:cNvSpPr>
            <a:spLocks noGrp="1"/>
          </p:cNvSpPr>
          <p:nvPr>
            <p:ph idx="1"/>
          </p:nvPr>
        </p:nvSpPr>
        <p:spPr/>
        <p:txBody>
          <a:bodyPr>
            <a:normAutofit lnSpcReduction="10000"/>
          </a:bodyPr>
          <a:lstStyle/>
          <a:p>
            <a:pPr algn="just"/>
            <a:r>
              <a:rPr lang="en-US" sz="2100" b="1" dirty="0"/>
              <a:t>BIOENERGY</a:t>
            </a:r>
          </a:p>
          <a:p>
            <a:pPr algn="just"/>
            <a:r>
              <a:rPr lang="en-US" sz="2100" dirty="0"/>
              <a:t>Bioenergy is produced from a variety of organic materials, called biomass, such as wood, charcoal, dung and other manures for heat and power production, and agricultural crops for liquid biofuels. Most biomass is used in rural areas for cooking, lighting and space heating, generally by poorer populations in developing countries.</a:t>
            </a:r>
          </a:p>
          <a:p>
            <a:pPr algn="just"/>
            <a:r>
              <a:rPr lang="en-US" sz="2100" dirty="0">
                <a:hlinkClick r:id="rId2"/>
              </a:rPr>
              <a:t>Modern biomass systems</a:t>
            </a:r>
            <a:r>
              <a:rPr lang="en-US" sz="2100" dirty="0"/>
              <a:t> include dedicated crops or trees, residues from agriculture and forestry, and various organic waste streams.</a:t>
            </a:r>
          </a:p>
          <a:p>
            <a:pPr algn="just"/>
            <a:r>
              <a:rPr lang="en-US" sz="2100" dirty="0"/>
              <a:t>Energy created by burning biomass creates greenhouse gas emissions, but at lower levels than burning fossil fuels like coal, oil or gas. However, bioenergy should only be used in limited applications, given potential negative environmental impacts related to large-scale increases in forest and bioenergy plantations, and resulting deforestation and land-use change</a:t>
            </a:r>
            <a:r>
              <a:rPr lang="en-US" dirty="0"/>
              <a: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2560316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Building Integrated Solar Energy  Technologies</a:t>
            </a:r>
            <a:endParaRPr lang="en-IN" sz="2800" dirty="0"/>
          </a:p>
        </p:txBody>
      </p:sp>
      <p:sp>
        <p:nvSpPr>
          <p:cNvPr id="3" name="Content Placeholder 2"/>
          <p:cNvSpPr>
            <a:spLocks noGrp="1"/>
          </p:cNvSpPr>
          <p:nvPr>
            <p:ph idx="1"/>
          </p:nvPr>
        </p:nvSpPr>
        <p:spPr/>
        <p:txBody>
          <a:bodyPr>
            <a:normAutofit fontScale="85000" lnSpcReduction="20000"/>
          </a:bodyPr>
          <a:lstStyle/>
          <a:p>
            <a:pPr algn="just" fontAlgn="base"/>
            <a:r>
              <a:rPr lang="en-US" sz="2600" dirty="0"/>
              <a:t>Solar energy conversion is a large topic. The key technologies to mention here include:</a:t>
            </a:r>
          </a:p>
          <a:p>
            <a:pPr algn="just" fontAlgn="base"/>
            <a:r>
              <a:rPr lang="en-US" sz="2600" dirty="0"/>
              <a:t>Photovoltaics (PV, optoelectronic systems) - convert solar visible radiation into electricity;</a:t>
            </a:r>
          </a:p>
          <a:p>
            <a:pPr algn="just" fontAlgn="base"/>
            <a:r>
              <a:rPr lang="en-US" sz="2600" dirty="0"/>
              <a:t>Concentrating Solar Power (CSP, solar thermal, or </a:t>
            </a:r>
            <a:r>
              <a:rPr lang="en-US" sz="2600" dirty="0" err="1"/>
              <a:t>optocaloric</a:t>
            </a:r>
            <a:r>
              <a:rPr lang="en-US" sz="2600" dirty="0"/>
              <a:t> systems) - convert solar thermal radiation into electricity;</a:t>
            </a:r>
          </a:p>
          <a:p>
            <a:pPr algn="just" fontAlgn="base"/>
            <a:r>
              <a:rPr lang="en-US" sz="2600" dirty="0"/>
              <a:t>Solar heating systems - utilize solar heat (concentrated or not) without conversion.</a:t>
            </a:r>
          </a:p>
          <a:p>
            <a:pPr algn="just" fontAlgn="base"/>
            <a:r>
              <a:rPr lang="en-US" sz="2600" dirty="0"/>
              <a:t>You can learn these technologies in depth, taking some of the courses in the Solar Energy Option of RESS. Here in this lesson, we will turn to one of the application examples of PV technology to study the factors that affect the practical implementation of solar panels in buildings. But before doing that, let us review the basic principles by which photovoltaic systems operate.</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3894954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sp>
        <p:nvSpPr>
          <p:cNvPr id="3" name="Content Placeholder 2"/>
          <p:cNvSpPr>
            <a:spLocks noGrp="1"/>
          </p:cNvSpPr>
          <p:nvPr>
            <p:ph idx="1"/>
          </p:nvPr>
        </p:nvSpPr>
        <p:spPr/>
        <p:txBody>
          <a:bodyPr>
            <a:normAutofit fontScale="62500" lnSpcReduction="20000"/>
          </a:bodyPr>
          <a:lstStyle/>
          <a:p>
            <a:pPr algn="just" fontAlgn="base"/>
            <a:r>
              <a:rPr lang="en-US" dirty="0"/>
              <a:t>PV Basics</a:t>
            </a:r>
          </a:p>
          <a:p>
            <a:pPr algn="just" fontAlgn="base"/>
            <a:r>
              <a:rPr lang="en-US" dirty="0"/>
              <a:t>Photovoltaic (PV) technology is one of the ways to convert solar resource into usable energy - specifically sunlight to electricity. Photovoltaic conversion is enabled by certain semiconductor materials, which have a property to generate electric current when they absorb incident photons. The physics of the photovoltaic effect can be schematically envisioned as three step process [</a:t>
            </a:r>
            <a:r>
              <a:rPr lang="en-US" dirty="0" err="1"/>
              <a:t>Brownson</a:t>
            </a:r>
            <a:r>
              <a:rPr lang="en-US" dirty="0"/>
              <a:t>, 2014]:</a:t>
            </a:r>
          </a:p>
          <a:p>
            <a:pPr algn="just" fontAlgn="base"/>
            <a:r>
              <a:rPr lang="en-US" dirty="0"/>
              <a:t>absorption of light;</a:t>
            </a:r>
          </a:p>
          <a:p>
            <a:pPr algn="just" fontAlgn="base"/>
            <a:r>
              <a:rPr lang="en-US" dirty="0"/>
              <a:t>generation of charge carriers (electrons and holes);</a:t>
            </a:r>
          </a:p>
          <a:p>
            <a:pPr algn="just" fontAlgn="base"/>
            <a:r>
              <a:rPr lang="en-US" dirty="0"/>
              <a:t>separation of charge carriers (so that they can perform work).</a:t>
            </a:r>
          </a:p>
          <a:p>
            <a:pPr algn="just" fontAlgn="base"/>
            <a:r>
              <a:rPr lang="en-US" dirty="0"/>
              <a:t>This effect is physically realized in certain semiconductor materials  - for example, monocrystalline silicon, polycrystalline silicon, amorphous silicon, cadmium telluride, and copper indium gallium selenide/sulfide and some others, all of which can be potentially used for making the PV cells. </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29091614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sp>
        <p:nvSpPr>
          <p:cNvPr id="3" name="Content Placeholder 2"/>
          <p:cNvSpPr>
            <a:spLocks noGrp="1"/>
          </p:cNvSpPr>
          <p:nvPr>
            <p:ph idx="1"/>
          </p:nvPr>
        </p:nvSpPr>
        <p:spPr/>
        <p:txBody>
          <a:bodyPr>
            <a:normAutofit/>
          </a:bodyPr>
          <a:lstStyle/>
          <a:p>
            <a:pPr algn="just" fontAlgn="base"/>
            <a:r>
              <a:rPr lang="en-US" sz="1800" dirty="0"/>
              <a:t>PV Application in Buildings</a:t>
            </a:r>
          </a:p>
          <a:p>
            <a:pPr algn="just" fontAlgn="base"/>
            <a:r>
              <a:rPr lang="en-US" sz="1800" dirty="0"/>
              <a:t>Current applications of solar photovoltaics are adapted to the following scales:</a:t>
            </a:r>
          </a:p>
          <a:p>
            <a:pPr algn="just" fontAlgn="base"/>
            <a:r>
              <a:rPr lang="en-US" sz="1800" dirty="0"/>
              <a:t>portable (small electronics - e.g., calculators, computers, etc.);</a:t>
            </a:r>
          </a:p>
          <a:p>
            <a:pPr algn="just" fontAlgn="base"/>
            <a:r>
              <a:rPr lang="en-US" sz="1800" dirty="0"/>
              <a:t>distributed power generation (homes, isolated equipment);</a:t>
            </a:r>
          </a:p>
          <a:p>
            <a:pPr algn="just" fontAlgn="base"/>
            <a:r>
              <a:rPr lang="en-US" sz="1800" dirty="0"/>
              <a:t>utility scale power (solar farms).</a:t>
            </a:r>
          </a:p>
          <a:p>
            <a:pPr algn="just" fontAlgn="base"/>
            <a:r>
              <a:rPr lang="en-US" sz="1800" dirty="0"/>
              <a:t>In the scale-up process, the single PV cells are combined to modules, and modules can be arranged into arrays: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2000979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pic>
        <p:nvPicPr>
          <p:cNvPr id="7" name="Content Placeholder 6"/>
          <p:cNvPicPr>
            <a:picLocks noGrp="1" noChangeAspect="1"/>
          </p:cNvPicPr>
          <p:nvPr>
            <p:ph idx="1"/>
          </p:nvPr>
        </p:nvPicPr>
        <p:blipFill>
          <a:blip r:embed="rId2"/>
          <a:stretch>
            <a:fillRect/>
          </a:stretch>
        </p:blipFill>
        <p:spPr>
          <a:xfrm>
            <a:off x="1071074" y="2472337"/>
            <a:ext cx="7001852" cy="2781688"/>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191178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sp>
        <p:nvSpPr>
          <p:cNvPr id="3" name="Content Placeholder 2"/>
          <p:cNvSpPr>
            <a:spLocks noGrp="1"/>
          </p:cNvSpPr>
          <p:nvPr>
            <p:ph idx="1"/>
          </p:nvPr>
        </p:nvSpPr>
        <p:spPr/>
        <p:txBody>
          <a:bodyPr>
            <a:normAutofit/>
          </a:bodyPr>
          <a:lstStyle/>
          <a:p>
            <a:pPr algn="just" fontAlgn="base"/>
            <a:r>
              <a:rPr lang="en-US" sz="1900" dirty="0"/>
              <a:t>In this lesson, we choose one of the applications – the </a:t>
            </a:r>
            <a:r>
              <a:rPr lang="en-US" sz="1900" i="1" dirty="0"/>
              <a:t>building integrated photovoltaics</a:t>
            </a:r>
            <a:r>
              <a:rPr lang="en-US" sz="1900" dirty="0"/>
              <a:t> (BIPV) – for more detailed consideration as an interesting example of sustainable technology implementation.</a:t>
            </a:r>
          </a:p>
          <a:p>
            <a:pPr algn="just" fontAlgn="base"/>
            <a:r>
              <a:rPr lang="en-US" sz="1900" dirty="0"/>
              <a:t>The building-integrated photovoltaics (BIPV) are multifunctional materials that are both structure-supporting and power-generating at the same time. There are some advantages and challenges associated with this technology, which are summarized in table below:</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17226896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pic>
        <p:nvPicPr>
          <p:cNvPr id="7" name="Content Placeholder 6"/>
          <p:cNvPicPr>
            <a:picLocks noGrp="1" noChangeAspect="1"/>
          </p:cNvPicPr>
          <p:nvPr>
            <p:ph idx="1"/>
          </p:nvPr>
        </p:nvPicPr>
        <p:blipFill>
          <a:blip r:embed="rId2"/>
          <a:stretch>
            <a:fillRect/>
          </a:stretch>
        </p:blipFill>
        <p:spPr>
          <a:xfrm>
            <a:off x="690021" y="1729283"/>
            <a:ext cx="7763958" cy="4267796"/>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812654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sp>
        <p:nvSpPr>
          <p:cNvPr id="3" name="Content Placeholder 2"/>
          <p:cNvSpPr>
            <a:spLocks noGrp="1"/>
          </p:cNvSpPr>
          <p:nvPr>
            <p:ph idx="1"/>
          </p:nvPr>
        </p:nvSpPr>
        <p:spPr/>
        <p:txBody>
          <a:bodyPr>
            <a:normAutofit/>
          </a:bodyPr>
          <a:lstStyle/>
          <a:p>
            <a:pPr algn="just" fontAlgn="base"/>
            <a:r>
              <a:rPr lang="en-US" sz="1800" dirty="0"/>
              <a:t>While the main function of a conventional PV system is efficient power generation, the building integrated PV systems, which become the components of the building envelope must satisfy a number of additional requirements, such as:</a:t>
            </a:r>
          </a:p>
          <a:p>
            <a:pPr algn="just" fontAlgn="base"/>
            <a:r>
              <a:rPr lang="en-US" sz="1800" dirty="0"/>
              <a:t>appearance: color, image, size;</a:t>
            </a:r>
          </a:p>
          <a:p>
            <a:pPr algn="just" fontAlgn="base"/>
            <a:r>
              <a:rPr lang="en-US" sz="1800" dirty="0"/>
              <a:t>weather-tightness;</a:t>
            </a:r>
          </a:p>
          <a:p>
            <a:pPr algn="just" fontAlgn="base"/>
            <a:r>
              <a:rPr lang="en-US" sz="1800" dirty="0"/>
              <a:t>wind loading;</a:t>
            </a:r>
          </a:p>
          <a:p>
            <a:pPr algn="just" fontAlgn="base"/>
            <a:r>
              <a:rPr lang="en-US" sz="1800" dirty="0"/>
              <a:t>durability and maintenance;</a:t>
            </a:r>
          </a:p>
          <a:p>
            <a:pPr algn="just" fontAlgn="base"/>
            <a:r>
              <a:rPr lang="en-US" sz="1800" dirty="0"/>
              <a:t>safety during construction and in use (fire, electrical, structure stability);</a:t>
            </a:r>
          </a:p>
          <a:p>
            <a:pPr algn="just" fontAlgn="base"/>
            <a:r>
              <a:rPr lang="en-US" sz="1800" dirty="0"/>
              <a:t>cost.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2853579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sp>
        <p:nvSpPr>
          <p:cNvPr id="3" name="Content Placeholder 2"/>
          <p:cNvSpPr>
            <a:spLocks noGrp="1"/>
          </p:cNvSpPr>
          <p:nvPr>
            <p:ph idx="1"/>
          </p:nvPr>
        </p:nvSpPr>
        <p:spPr/>
        <p:txBody>
          <a:bodyPr>
            <a:normAutofit fontScale="47500" lnSpcReduction="20000"/>
          </a:bodyPr>
          <a:lstStyle/>
          <a:p>
            <a:pPr algn="just" fontAlgn="base"/>
            <a:r>
              <a:rPr lang="en-US" sz="3800" dirty="0"/>
              <a:t>In order to address all the necessary factors, the PV integration should be discussed early in the beginning of the design process. There are following PV integration options [Robert and </a:t>
            </a:r>
            <a:r>
              <a:rPr lang="en-US" sz="3800" dirty="0" err="1"/>
              <a:t>Guariento</a:t>
            </a:r>
            <a:r>
              <a:rPr lang="en-US" sz="3800" dirty="0"/>
              <a:t>, 2009]:</a:t>
            </a:r>
          </a:p>
          <a:p>
            <a:pPr algn="just" fontAlgn="base"/>
            <a:r>
              <a:rPr lang="en-US" sz="3800" dirty="0"/>
              <a:t>(a) </a:t>
            </a:r>
            <a:r>
              <a:rPr lang="en-US" sz="3800" i="1" dirty="0"/>
              <a:t>Shading systems</a:t>
            </a:r>
            <a:endParaRPr lang="en-US" sz="3800" dirty="0"/>
          </a:p>
          <a:p>
            <a:pPr algn="just" fontAlgn="base"/>
            <a:r>
              <a:rPr lang="en-US" sz="3800" dirty="0"/>
              <a:t>These include louvers, either horizontal or vertical, which may be mounted outside the building over windows or balconies. Their function is to shade the windows from excessive light. The main issue with these structures is to make them resistant to wind load and easily accessible for maintenance. These </a:t>
            </a:r>
            <a:r>
              <a:rPr lang="en-US" sz="3800" dirty="0" err="1"/>
              <a:t>subscreens</a:t>
            </a:r>
            <a:r>
              <a:rPr lang="en-US" sz="3800" dirty="0"/>
              <a:t> can be made adjustable to maximize the sunlight gain.</a:t>
            </a:r>
          </a:p>
          <a:p>
            <a:pPr algn="just" fontAlgn="base"/>
            <a:r>
              <a:rPr lang="en-US" sz="3800" dirty="0"/>
              <a:t>(b) </a:t>
            </a:r>
            <a:r>
              <a:rPr lang="en-US" sz="3800" i="1" dirty="0" err="1"/>
              <a:t>Rainscreen</a:t>
            </a:r>
            <a:r>
              <a:rPr lang="en-US" sz="3800" i="1" dirty="0"/>
              <a:t> systems</a:t>
            </a:r>
            <a:endParaRPr lang="en-US" sz="3800" dirty="0"/>
          </a:p>
          <a:p>
            <a:pPr algn="just" fontAlgn="base"/>
            <a:r>
              <a:rPr lang="en-US" sz="3800" dirty="0"/>
              <a:t>Cladding panels can be used to protect the load-bearing external walls from rain water (especially masonry and concrete). PV panels can perform the function of such cladding and tiles. These structures are usually vertical. The ventilated cavity between the exterior cladding and the main wall help keep down the operating temperature of PV cells, enhancing their performance and provide space for cables. PV rain screens have moderate power output due to vertical orientation</a:t>
            </a:r>
            <a:r>
              <a:rPr lang="en-US" sz="3800" dirty="0" smtClean="0"/>
              <a:t>.</a:t>
            </a:r>
            <a:endParaRPr lang="en-US" sz="3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9143313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sp>
        <p:nvSpPr>
          <p:cNvPr id="3" name="Content Placeholder 2"/>
          <p:cNvSpPr>
            <a:spLocks noGrp="1"/>
          </p:cNvSpPr>
          <p:nvPr>
            <p:ph idx="1"/>
          </p:nvPr>
        </p:nvSpPr>
        <p:spPr/>
        <p:txBody>
          <a:bodyPr>
            <a:normAutofit fontScale="47500" lnSpcReduction="20000"/>
          </a:bodyPr>
          <a:lstStyle/>
          <a:p>
            <a:pPr fontAlgn="base"/>
            <a:endParaRPr lang="en-US" dirty="0" smtClean="0"/>
          </a:p>
          <a:p>
            <a:pPr algn="just" fontAlgn="base"/>
            <a:r>
              <a:rPr lang="en-US" dirty="0"/>
              <a:t>(c) </a:t>
            </a:r>
            <a:r>
              <a:rPr lang="en-US" i="1" dirty="0"/>
              <a:t>Stick-system curtain walls</a:t>
            </a:r>
            <a:endParaRPr lang="en-US" dirty="0"/>
          </a:p>
          <a:p>
            <a:pPr algn="just" fontAlgn="base"/>
            <a:r>
              <a:rPr lang="en-US" dirty="0"/>
              <a:t>Curtain walls are used in those buildings that have internal columns or structural steel to support the main loads. Curtain walls are not weight-bearing and their main function is to resist air and moisture infiltration; also, building insulation is often attached to them (warm facade). A popular solution is to build the curtain walls from aluminum and steel framing filled with glass panels. PV panels can be sealed into curtain wall structures in both vision area or opaque area of the facade instead of regular glass.</a:t>
            </a:r>
          </a:p>
          <a:p>
            <a:pPr algn="just"/>
            <a:endParaRPr lang="en-IN" dirty="0"/>
          </a:p>
          <a:p>
            <a:pPr algn="just" fontAlgn="base"/>
            <a:r>
              <a:rPr lang="en-US" dirty="0" smtClean="0"/>
              <a:t>(</a:t>
            </a:r>
            <a:r>
              <a:rPr lang="en-US" dirty="0"/>
              <a:t>d) </a:t>
            </a:r>
            <a:r>
              <a:rPr lang="en-US" i="1" dirty="0"/>
              <a:t>Unitized curtain walls</a:t>
            </a:r>
            <a:endParaRPr lang="en-US" dirty="0"/>
          </a:p>
          <a:p>
            <a:pPr algn="just" fontAlgn="base"/>
            <a:r>
              <a:rPr lang="en-US" dirty="0"/>
              <a:t>The unitized wall segments are pre-assembled at a factory and then are delivered to the building site. The controlled industrial environment provides more precision and quality for sealing the PV panels into the wall framework and making cable connections.</a:t>
            </a:r>
          </a:p>
          <a:p>
            <a:pPr algn="just" fontAlgn="base"/>
            <a:r>
              <a:rPr lang="en-US" dirty="0"/>
              <a:t>(e) </a:t>
            </a:r>
            <a:r>
              <a:rPr lang="en-US" i="1" dirty="0"/>
              <a:t>Double-skin facades</a:t>
            </a:r>
            <a:endParaRPr lang="en-US" dirty="0"/>
          </a:p>
          <a:p>
            <a:pPr algn="just" fontAlgn="base"/>
            <a:r>
              <a:rPr lang="en-US" dirty="0"/>
              <a:t>Glass facades are often designed as  "double-skin", i.e., when there is significant air space between the internal and external glass walls. This helps to reduce heat transfer losses through the walls. PV modules can be readily integrated into the external facade. Ventilation through the double-skin structure provides valuable cooling on the back of the panels.   </a:t>
            </a:r>
          </a:p>
          <a:p>
            <a:pPr algn="just"/>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22632558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sp>
        <p:nvSpPr>
          <p:cNvPr id="3" name="Content Placeholder 2"/>
          <p:cNvSpPr>
            <a:spLocks noGrp="1"/>
          </p:cNvSpPr>
          <p:nvPr>
            <p:ph idx="1"/>
          </p:nvPr>
        </p:nvSpPr>
        <p:spPr/>
        <p:txBody>
          <a:bodyPr/>
          <a:lstStyle/>
          <a:p>
            <a:pPr algn="just" fontAlgn="base"/>
            <a:r>
              <a:rPr lang="en-US" sz="1800" dirty="0"/>
              <a:t>(f) </a:t>
            </a:r>
            <a:r>
              <a:rPr lang="en-US" sz="1800" i="1" dirty="0"/>
              <a:t>Atria and canopies</a:t>
            </a:r>
            <a:endParaRPr lang="en-US" sz="1800" dirty="0"/>
          </a:p>
          <a:p>
            <a:pPr algn="just" fontAlgn="base"/>
            <a:r>
              <a:rPr lang="en-US" sz="1800" dirty="0"/>
              <a:t>For the highest performance, PV are best integrated into horizontal or tilted elements, such as atria and canopies. These structures are usually free from overshadowing and are easy to ventilate. However, these structures may be more prone to heat transfer losses compared to plain opaque or insulated.</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23809899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Solar Thermal </a:t>
            </a:r>
            <a:r>
              <a:rPr lang="en-IN" sz="2800" dirty="0" err="1" smtClean="0"/>
              <a:t>ElectricPower</a:t>
            </a:r>
            <a:r>
              <a:rPr lang="en-IN" sz="2800" dirty="0" smtClean="0"/>
              <a:t> Generation</a:t>
            </a:r>
            <a:endParaRPr lang="en-IN" sz="2800" dirty="0"/>
          </a:p>
        </p:txBody>
      </p:sp>
      <p:sp>
        <p:nvSpPr>
          <p:cNvPr id="3" name="Content Placeholder 2"/>
          <p:cNvSpPr>
            <a:spLocks noGrp="1"/>
          </p:cNvSpPr>
          <p:nvPr>
            <p:ph idx="1"/>
          </p:nvPr>
        </p:nvSpPr>
        <p:spPr/>
        <p:txBody>
          <a:bodyPr>
            <a:normAutofit/>
          </a:bodyPr>
          <a:lstStyle/>
          <a:p>
            <a:pPr algn="just"/>
            <a:r>
              <a:rPr lang="en-US" sz="1900" dirty="0"/>
              <a:t>Solar thermal technologies are designed to convert the incident solar radiation into usable heat. The process of solar heat conversion implies using energy collectors - the specially designed mirrors, lenses, heat exchangers, which would concentrate the radiant energy from the sun and transfer it to a carrier fluid. The fluid passes through the sunlight collector and becomes very hot. Typical heat carrier fluids are water/steam, oil, or molten salt. Then the fluid is transferred to the heat engine, which converts the heat to electricity</a:t>
            </a:r>
            <a:r>
              <a:rPr lang="en-US" dirty="0"/>
              <a:t>.</a:t>
            </a: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3433903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Thermal </a:t>
            </a:r>
            <a:r>
              <a:rPr lang="en-IN" sz="2800" dirty="0" err="1"/>
              <a:t>ElectricPower</a:t>
            </a:r>
            <a:r>
              <a:rPr lang="en-IN" sz="2800" dirty="0"/>
              <a:t> Generation</a:t>
            </a:r>
          </a:p>
        </p:txBody>
      </p:sp>
      <p:sp>
        <p:nvSpPr>
          <p:cNvPr id="3" name="Content Placeholder 2"/>
          <p:cNvSpPr>
            <a:spLocks noGrp="1"/>
          </p:cNvSpPr>
          <p:nvPr>
            <p:ph idx="1"/>
          </p:nvPr>
        </p:nvSpPr>
        <p:spPr/>
        <p:txBody>
          <a:bodyPr>
            <a:normAutofit/>
          </a:bodyPr>
          <a:lstStyle/>
          <a:p>
            <a:pPr algn="just" fontAlgn="base"/>
            <a:r>
              <a:rPr lang="en-US" sz="2000" dirty="0"/>
              <a:t>There are several different kinds of solar collectors, which are described below. These collectors are only functional with the direct beam of sunlight and would also benefit from sun tracking - the technology that keeps the reflectors at an optimal angle to the sun.</a:t>
            </a:r>
          </a:p>
          <a:p>
            <a:pPr algn="just" fontAlgn="base"/>
            <a:r>
              <a:rPr lang="en-US" sz="2000" dirty="0"/>
              <a:t>Flat plate collectors</a:t>
            </a:r>
          </a:p>
          <a:p>
            <a:pPr algn="just" fontAlgn="base"/>
            <a:r>
              <a:rPr lang="en-US" sz="2000" dirty="0"/>
              <a:t>Flat plate collector is the simplest technology of this kind, which is typically used for reaching temperatures usually no more than 100 degrees above ambient.</a:t>
            </a:r>
          </a:p>
          <a:p>
            <a:pPr algn="just"/>
            <a:r>
              <a:rPr lang="en-US" sz="2000" dirty="0"/>
              <a:t/>
            </a:r>
            <a:br>
              <a:rPr lang="en-US" sz="2000" dirty="0"/>
            </a:br>
            <a:endParaRPr lang="en-IN" sz="20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41907556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Thermal </a:t>
            </a:r>
            <a:r>
              <a:rPr lang="en-IN" sz="2800" dirty="0" err="1"/>
              <a:t>ElectricPower</a:t>
            </a:r>
            <a:r>
              <a:rPr lang="en-IN" sz="2800" dirty="0"/>
              <a:t> Generation</a:t>
            </a:r>
          </a:p>
        </p:txBody>
      </p:sp>
      <p:pic>
        <p:nvPicPr>
          <p:cNvPr id="7" name="Content Placeholder 6"/>
          <p:cNvPicPr>
            <a:picLocks noGrp="1" noChangeAspect="1"/>
          </p:cNvPicPr>
          <p:nvPr>
            <p:ph idx="1"/>
          </p:nvPr>
        </p:nvPicPr>
        <p:blipFill>
          <a:blip r:embed="rId2"/>
          <a:stretch>
            <a:fillRect/>
          </a:stretch>
        </p:blipFill>
        <p:spPr>
          <a:xfrm>
            <a:off x="966284" y="1743573"/>
            <a:ext cx="7211431" cy="4239217"/>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35114660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Thermal </a:t>
            </a:r>
            <a:r>
              <a:rPr lang="en-IN" sz="2800" dirty="0" err="1"/>
              <a:t>ElectricPower</a:t>
            </a:r>
            <a:r>
              <a:rPr lang="en-IN" sz="2800" dirty="0"/>
              <a:t> Generation</a:t>
            </a:r>
          </a:p>
        </p:txBody>
      </p:sp>
      <p:pic>
        <p:nvPicPr>
          <p:cNvPr id="7" name="Content Placeholder 6"/>
          <p:cNvPicPr>
            <a:picLocks noGrp="1" noChangeAspect="1"/>
          </p:cNvPicPr>
          <p:nvPr>
            <p:ph idx="1"/>
          </p:nvPr>
        </p:nvPicPr>
        <p:blipFill>
          <a:blip r:embed="rId2"/>
          <a:stretch>
            <a:fillRect/>
          </a:stretch>
        </p:blipFill>
        <p:spPr>
          <a:xfrm>
            <a:off x="1040654" y="1600200"/>
            <a:ext cx="7062692" cy="45259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16868543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Thermal </a:t>
            </a:r>
            <a:r>
              <a:rPr lang="en-IN" sz="2800" dirty="0" err="1"/>
              <a:t>ElectricPower</a:t>
            </a:r>
            <a:r>
              <a:rPr lang="en-IN" sz="2800" dirty="0"/>
              <a:t> Generation</a:t>
            </a:r>
          </a:p>
        </p:txBody>
      </p:sp>
      <p:sp>
        <p:nvSpPr>
          <p:cNvPr id="3" name="Content Placeholder 2"/>
          <p:cNvSpPr>
            <a:spLocks noGrp="1"/>
          </p:cNvSpPr>
          <p:nvPr>
            <p:ph idx="1"/>
          </p:nvPr>
        </p:nvSpPr>
        <p:spPr/>
        <p:txBody>
          <a:bodyPr>
            <a:normAutofit/>
          </a:bodyPr>
          <a:lstStyle/>
          <a:p>
            <a:pPr algn="just" fontAlgn="base"/>
            <a:r>
              <a:rPr lang="en-US" sz="2100" dirty="0"/>
              <a:t>The above collectors are combined to a bigger energy conversion system. The larger scale solar thermal systems have higher efficiency than small systems.</a:t>
            </a:r>
          </a:p>
          <a:p>
            <a:pPr algn="just" fontAlgn="base"/>
            <a:r>
              <a:rPr lang="en-US" sz="2100" dirty="0"/>
              <a:t>The utility scale solar thermal systems include the following designs:</a:t>
            </a:r>
          </a:p>
          <a:p>
            <a:pPr algn="just" fontAlgn="base"/>
            <a:r>
              <a:rPr lang="en-US" sz="2100" dirty="0"/>
              <a:t>linear reflectors (heating temperatures ~280 </a:t>
            </a:r>
            <a:r>
              <a:rPr lang="en-US" sz="2100" baseline="30000" dirty="0" err="1"/>
              <a:t>o</a:t>
            </a:r>
            <a:r>
              <a:rPr lang="en-US" sz="2100" dirty="0" err="1"/>
              <a:t>C</a:t>
            </a:r>
            <a:r>
              <a:rPr lang="en-US" sz="2100" dirty="0"/>
              <a:t>);</a:t>
            </a:r>
          </a:p>
          <a:p>
            <a:pPr algn="just" fontAlgn="base"/>
            <a:r>
              <a:rPr lang="en-US" sz="2100" dirty="0"/>
              <a:t>parabolic trough (heating temperatures ~400 </a:t>
            </a:r>
            <a:r>
              <a:rPr lang="en-US" sz="2100" baseline="30000" dirty="0" err="1"/>
              <a:t>o</a:t>
            </a:r>
            <a:r>
              <a:rPr lang="en-US" sz="2100" dirty="0" err="1"/>
              <a:t>C</a:t>
            </a:r>
            <a:r>
              <a:rPr lang="en-US" sz="2100" dirty="0"/>
              <a:t>);</a:t>
            </a:r>
          </a:p>
          <a:p>
            <a:pPr algn="just" fontAlgn="base"/>
            <a:r>
              <a:rPr lang="en-US" sz="2100" dirty="0"/>
              <a:t>dish / engine systems (heating temperatures ~650 </a:t>
            </a:r>
            <a:r>
              <a:rPr lang="en-US" sz="2100" baseline="30000" dirty="0" err="1"/>
              <a:t>o</a:t>
            </a:r>
            <a:r>
              <a:rPr lang="en-US" sz="2100" dirty="0" err="1"/>
              <a:t>C</a:t>
            </a:r>
            <a:r>
              <a:rPr lang="en-US" sz="2100" dirty="0"/>
              <a:t>);</a:t>
            </a:r>
          </a:p>
          <a:p>
            <a:pPr algn="just" fontAlgn="base"/>
            <a:r>
              <a:rPr lang="en-US" sz="2100" dirty="0"/>
              <a:t>solar tower (heating temperatures ~&gt;1000 </a:t>
            </a:r>
            <a:r>
              <a:rPr lang="en-US" sz="2100" baseline="30000" dirty="0" err="1"/>
              <a:t>o</a:t>
            </a:r>
            <a:r>
              <a:rPr lang="en-US" sz="2100" dirty="0" err="1"/>
              <a:t>C</a:t>
            </a:r>
            <a:r>
              <a:rPr lang="en-US" sz="2100" dirty="0"/>
              <a: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5431040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Utility Scale Geothermal Energy Systems</a:t>
            </a:r>
            <a:endParaRPr lang="en-IN" sz="2800" dirty="0"/>
          </a:p>
        </p:txBody>
      </p:sp>
      <p:sp>
        <p:nvSpPr>
          <p:cNvPr id="3" name="Content Placeholder 2"/>
          <p:cNvSpPr>
            <a:spLocks noGrp="1"/>
          </p:cNvSpPr>
          <p:nvPr>
            <p:ph idx="1"/>
          </p:nvPr>
        </p:nvSpPr>
        <p:spPr/>
        <p:txBody>
          <a:bodyPr>
            <a:normAutofit/>
          </a:bodyPr>
          <a:lstStyle/>
          <a:p>
            <a:pPr algn="just"/>
            <a:r>
              <a:rPr lang="en-US" sz="1800" dirty="0"/>
              <a:t>There is a vast amount of heat contained by the earth interior. This internal heat is mainly comprised of the residual heat of planetary accretion and radioactive heat (from radioactive element decay). The hottest part of the earth is the core, a big part of which is in molten state. Heat radiates and gets transferred from the core to the outer layers of the planet by interior fluids and melts. The general geothermal profile of the earth (Figure 8.6) provides an idea of the scale of the thermal resource and the gradual change of the earth temperature at different depths. Because the earth structure is not uniform, heat is more readily transferred in some zones than in others. High heat transfer is usually associated with fracture zones and major faults, which are often located at the boundaries of tectonic plates</a:t>
            </a:r>
            <a:r>
              <a:rPr lang="en-US" dirty="0"/>
              <a:t>.</a:t>
            </a: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2290446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Utility Scale Geothermal Energy Systems</a:t>
            </a:r>
          </a:p>
        </p:txBody>
      </p:sp>
      <p:pic>
        <p:nvPicPr>
          <p:cNvPr id="7" name="Content Placeholder 6"/>
          <p:cNvPicPr>
            <a:picLocks noGrp="1" noChangeAspect="1"/>
          </p:cNvPicPr>
          <p:nvPr>
            <p:ph idx="1"/>
          </p:nvPr>
        </p:nvPicPr>
        <p:blipFill>
          <a:blip r:embed="rId2"/>
          <a:stretch>
            <a:fillRect/>
          </a:stretch>
        </p:blipFill>
        <p:spPr>
          <a:xfrm>
            <a:off x="1880480" y="1600200"/>
            <a:ext cx="5383039" cy="45259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10882327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Utility Scale Geothermal Energy Systems</a:t>
            </a:r>
          </a:p>
        </p:txBody>
      </p:sp>
      <p:sp>
        <p:nvSpPr>
          <p:cNvPr id="3" name="Content Placeholder 2"/>
          <p:cNvSpPr>
            <a:spLocks noGrp="1"/>
          </p:cNvSpPr>
          <p:nvPr>
            <p:ph idx="1"/>
          </p:nvPr>
        </p:nvSpPr>
        <p:spPr/>
        <p:txBody>
          <a:bodyPr>
            <a:normAutofit fontScale="70000" lnSpcReduction="20000"/>
          </a:bodyPr>
          <a:lstStyle/>
          <a:p>
            <a:pPr algn="just" fontAlgn="base"/>
            <a:r>
              <a:rPr lang="en-US" sz="2900" dirty="0"/>
              <a:t>The temperature change rate with depth depends on the density and thermal conductivity of rocks. Subdivision of the earth structure into layers is made according to the rock composition and rheological properties, so we see that the thermal profile within each layer can be quite different. The drastic change in temperature pattern around the boundary between the lower mantle and outer core is apparently related to the transition of the molten state.</a:t>
            </a:r>
          </a:p>
          <a:p>
            <a:pPr algn="just" fontAlgn="base"/>
            <a:r>
              <a:rPr lang="en-US" sz="2900" dirty="0"/>
              <a:t>The heat flux within the crust (the thin top layer) is highly variable due to the existence of large unified fragments of the crust (plates) divided by plate boundaries, the more mobile zones, where plates collide, spread out, or move relative to one another. Increased mobility of the plate boundary zones may cause creation of faults of various depth, which favor heat transfer to the surface. If you want more background about plate tectonic theory, you will be able to find a lot of resource on the web. For example, </a:t>
            </a:r>
            <a:r>
              <a:rPr lang="en-US" sz="2900" u="sng" dirty="0">
                <a:hlinkClick r:id="rId2"/>
              </a:rPr>
              <a:t>An Introduction to Plate Tectonics</a:t>
            </a:r>
            <a:r>
              <a:rPr lang="en-US" sz="2900" dirty="0"/>
              <a:t> provides a nice and concise illustrated introduction to this whole idea.</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3918745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Wind Energy Application And Technologies</a:t>
            </a:r>
            <a:endParaRPr lang="en-IN" sz="2800" dirty="0"/>
          </a:p>
        </p:txBody>
      </p:sp>
      <p:sp>
        <p:nvSpPr>
          <p:cNvPr id="3" name="Content Placeholder 2"/>
          <p:cNvSpPr>
            <a:spLocks noGrp="1"/>
          </p:cNvSpPr>
          <p:nvPr>
            <p:ph idx="1"/>
          </p:nvPr>
        </p:nvSpPr>
        <p:spPr/>
        <p:txBody>
          <a:bodyPr>
            <a:normAutofit fontScale="55000" lnSpcReduction="20000"/>
          </a:bodyPr>
          <a:lstStyle/>
          <a:p>
            <a:pPr algn="just" fontAlgn="base"/>
            <a:r>
              <a:rPr lang="en-US" b="1" dirty="0"/>
              <a:t>Wind Energy</a:t>
            </a:r>
          </a:p>
          <a:p>
            <a:pPr algn="just" fontAlgn="base"/>
            <a:r>
              <a:rPr lang="en-US" dirty="0"/>
              <a:t>Air is the basic necessity of life. Man cannot live without air for more than three minutes Air is a mechanical mixture of various gases like oxygen, Nitrogen, Carbon dioxide, water </a:t>
            </a:r>
            <a:r>
              <a:rPr lang="en-US" dirty="0" err="1"/>
              <a:t>vapour</a:t>
            </a:r>
            <a:r>
              <a:rPr lang="en-US" dirty="0"/>
              <a:t>, ozone and other gases. Oxygen is needed by the body for many of vital functions Oxygen, Nitrogen Carbon dioxide water </a:t>
            </a:r>
            <a:r>
              <a:rPr lang="en-US" dirty="0" err="1"/>
              <a:t>vapour</a:t>
            </a:r>
            <a:r>
              <a:rPr lang="en-US" dirty="0"/>
              <a:t>, ozone and other gases. Oxygen is needed by the body for many of its vital functions.</a:t>
            </a:r>
          </a:p>
          <a:p>
            <a:pPr algn="just" fontAlgn="base"/>
            <a:r>
              <a:rPr lang="en-US" dirty="0"/>
              <a:t>Air is an important natural resource. In order to utilize air as a good resource we have to control the Air Pollution, which is due to industry, thermal power stations, automobiles, and domestic combustion etc. There are always additions of a number of harmful gases to atmosphere. These adversely affect air quality and make it unfit for living organisms.</a:t>
            </a:r>
          </a:p>
          <a:p>
            <a:pPr algn="just" fontAlgn="base"/>
            <a:r>
              <a:rPr lang="en-US" dirty="0"/>
              <a:t>Moving air is known as wind which produces energy. Like solar energy, wind energy is a very important non-conventional source of energy. In India, the wind power is of great significance as there are large coastal, hill, and desert where wind energy can be carefully exploited for generation of electricity and water pumping. Wind energy may be converted into mechanical and electrical energies. Wind energy in India is generally utilized in wind pumps, wind battery charges, wind electricity generators etc.</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14564495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Wind Energy Application And Technologies</a:t>
            </a:r>
          </a:p>
        </p:txBody>
      </p:sp>
      <p:sp>
        <p:nvSpPr>
          <p:cNvPr id="3" name="Content Placeholder 2"/>
          <p:cNvSpPr>
            <a:spLocks noGrp="1"/>
          </p:cNvSpPr>
          <p:nvPr>
            <p:ph idx="1"/>
          </p:nvPr>
        </p:nvSpPr>
        <p:spPr/>
        <p:txBody>
          <a:bodyPr>
            <a:normAutofit fontScale="85000" lnSpcReduction="10000"/>
          </a:bodyPr>
          <a:lstStyle/>
          <a:p>
            <a:pPr algn="just" fontAlgn="base"/>
            <a:r>
              <a:rPr lang="en-US" sz="2600" b="1" dirty="0"/>
              <a:t>Application of Wind Energy:</a:t>
            </a:r>
          </a:p>
          <a:p>
            <a:pPr algn="just" fontAlgn="base"/>
            <a:r>
              <a:rPr lang="en-US" sz="2600" dirty="0"/>
              <a:t>1. The wind energy is used to propel the sailboats in river and seas to transport men and materials from one place to another.</a:t>
            </a:r>
          </a:p>
          <a:p>
            <a:pPr algn="just" fontAlgn="base"/>
            <a:r>
              <a:rPr lang="en-US" sz="2600" dirty="0"/>
              <a:t>2. Wind energy is used to run pumps to draw water from the grounds through wind mills.</a:t>
            </a:r>
          </a:p>
          <a:p>
            <a:pPr algn="just" fontAlgn="base"/>
            <a:r>
              <a:rPr lang="en-US" sz="2600" dirty="0"/>
              <a:t>3. Wind energy has also been used to run flourmills to grind the grains like wheat and corn into flour</a:t>
            </a:r>
            <a:r>
              <a:rPr lang="en-US" sz="2600" dirty="0" smtClean="0"/>
              <a:t>.</a:t>
            </a:r>
          </a:p>
          <a:p>
            <a:pPr algn="just" fontAlgn="base"/>
            <a:r>
              <a:rPr lang="en-US" sz="2600" dirty="0"/>
              <a:t>4. Now-a-days wind energy is being used to generate electricity.</a:t>
            </a:r>
          </a:p>
          <a:p>
            <a:pPr algn="just" fontAlgn="base"/>
            <a:r>
              <a:rPr lang="en-US" sz="2600" dirty="0"/>
              <a:t>Wind energy may be considered as the world’s fastest growing energy source.</a:t>
            </a:r>
          </a:p>
          <a:p>
            <a:pPr algn="just" fontAlgn="base"/>
            <a:r>
              <a:rPr lang="en-US" sz="2600" dirty="0"/>
              <a:t>By the development of technology, wind power may become most economical and environmental friendly source of electricity in many countries in the coming 10 to 20 years.</a:t>
            </a:r>
          </a:p>
          <a:p>
            <a:pPr fontAlgn="base"/>
            <a:endParaRPr lang="en-US" dirty="0"/>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21397242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Bio-mass Fuelled Combined Heat And Power Systems</a:t>
            </a:r>
            <a:endParaRPr lang="en-IN" sz="2800" dirty="0"/>
          </a:p>
        </p:txBody>
      </p:sp>
      <p:sp>
        <p:nvSpPr>
          <p:cNvPr id="3" name="Content Placeholder 2"/>
          <p:cNvSpPr>
            <a:spLocks noGrp="1"/>
          </p:cNvSpPr>
          <p:nvPr>
            <p:ph idx="1"/>
          </p:nvPr>
        </p:nvSpPr>
        <p:spPr/>
        <p:txBody>
          <a:bodyPr>
            <a:normAutofit/>
          </a:bodyPr>
          <a:lstStyle/>
          <a:p>
            <a:pPr algn="just" fontAlgn="base"/>
            <a:r>
              <a:rPr lang="en-US" sz="1800" dirty="0"/>
              <a:t>Biomass as a source of fuel has been part of the global energy economy throughout human history. Using biomass as fuel (via combustion) may help solve the fuel supply issue, since biomass is renewable, but does not help solve the global carbon emission and pollution problem: burning biomass produces CO, CO</a:t>
            </a:r>
            <a:r>
              <a:rPr lang="en-US" sz="1800" baseline="-25000" dirty="0"/>
              <a:t>2</a:t>
            </a:r>
            <a:r>
              <a:rPr lang="en-US" sz="1800" dirty="0"/>
              <a:t>, NO</a:t>
            </a:r>
            <a:r>
              <a:rPr lang="en-US" sz="1800" baseline="-25000" dirty="0"/>
              <a:t>x</a:t>
            </a:r>
            <a:r>
              <a:rPr lang="en-US" sz="1800" dirty="0"/>
              <a:t>, and other gases at the levels exceeding those from traditional fossil fuels (e.g., oil, gas).</a:t>
            </a:r>
          </a:p>
          <a:p>
            <a:pPr algn="just" fontAlgn="base"/>
            <a:r>
              <a:rPr lang="en-US" sz="1800" dirty="0"/>
              <a:t>Indirect utilization of biomass implies the production of various biofuels (for example, ethanol), which can be converted to energy in a cleaner way. Types of biomass currently on market and ways to produce them are well described in the </a:t>
            </a:r>
            <a:r>
              <a:rPr lang="en-US" sz="1800" u="sng" dirty="0">
                <a:hlinkClick r:id="rId2"/>
              </a:rPr>
              <a:t>Biomass Wikipedia</a:t>
            </a:r>
            <a:r>
              <a:rPr lang="en-US" sz="1800" dirty="0">
                <a:hlinkClick r:id="rId2"/>
              </a:rPr>
              <a:t>(link is external)</a:t>
            </a:r>
            <a:r>
              <a:rPr lang="en-US" sz="1800" dirty="0"/>
              <a:t> article</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35748742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2800" dirty="0"/>
              <a:t>Bio-mass Fuelled Combined Heat And Power Systems</a:t>
            </a:r>
          </a:p>
        </p:txBody>
      </p:sp>
      <p:sp>
        <p:nvSpPr>
          <p:cNvPr id="3" name="Content Placeholder 2"/>
          <p:cNvSpPr>
            <a:spLocks noGrp="1"/>
          </p:cNvSpPr>
          <p:nvPr>
            <p:ph idx="1"/>
          </p:nvPr>
        </p:nvSpPr>
        <p:spPr/>
        <p:txBody>
          <a:bodyPr>
            <a:normAutofit fontScale="47500" lnSpcReduction="20000"/>
          </a:bodyPr>
          <a:lstStyle/>
          <a:p>
            <a:pPr fontAlgn="base"/>
            <a:r>
              <a:rPr lang="en-US" dirty="0"/>
              <a:t>Biomass combined heat and power (CHP)</a:t>
            </a:r>
          </a:p>
          <a:p>
            <a:pPr fontAlgn="base"/>
            <a:r>
              <a:rPr lang="en-US" dirty="0"/>
              <a:t>Biomass-fueled CHP or cogeneration is one of the applied technologies developed as a cost-effective method of energy recovery. Because the by-product heat generated in electricity generation is not wasted, but rather utilized as thermal energy, the total efficiency of such systems reaches 60-80%.</a:t>
            </a:r>
          </a:p>
          <a:p>
            <a:pPr fontAlgn="base"/>
            <a:r>
              <a:rPr lang="en-US" dirty="0"/>
              <a:t>There are three main stages in the biomass-fueled CHP process:</a:t>
            </a:r>
          </a:p>
          <a:p>
            <a:pPr fontAlgn="base"/>
            <a:r>
              <a:rPr lang="en-US" dirty="0"/>
              <a:t>biomass collection and preparation</a:t>
            </a:r>
          </a:p>
          <a:p>
            <a:pPr fontAlgn="base"/>
            <a:r>
              <a:rPr lang="en-US" dirty="0"/>
              <a:t>biomass conversion: (</a:t>
            </a:r>
            <a:r>
              <a:rPr lang="en-US" dirty="0" err="1"/>
              <a:t>i</a:t>
            </a:r>
            <a:r>
              <a:rPr lang="en-US" dirty="0"/>
              <a:t>) to steam or (ii) to biogas</a:t>
            </a:r>
          </a:p>
          <a:p>
            <a:pPr fontAlgn="base"/>
            <a:r>
              <a:rPr lang="en-US" dirty="0"/>
              <a:t>power and heat generation</a:t>
            </a:r>
          </a:p>
          <a:p>
            <a:pPr fontAlgn="base"/>
            <a:r>
              <a:rPr lang="en-US" dirty="0"/>
              <a:t>These three stages are integrated in one installation.</a:t>
            </a:r>
          </a:p>
          <a:p>
            <a:pPr fontAlgn="base"/>
            <a:r>
              <a:rPr lang="en-US" dirty="0"/>
              <a:t>The following bio resources are considered for energy recovery:</a:t>
            </a:r>
          </a:p>
          <a:p>
            <a:pPr fontAlgn="base"/>
            <a:r>
              <a:rPr lang="en-US" dirty="0"/>
              <a:t>energy crops and crop residues</a:t>
            </a:r>
          </a:p>
          <a:p>
            <a:pPr fontAlgn="base"/>
            <a:r>
              <a:rPr lang="en-US" dirty="0"/>
              <a:t>forest residues and wood waste</a:t>
            </a:r>
          </a:p>
          <a:p>
            <a:pPr fontAlgn="base"/>
            <a:r>
              <a:rPr lang="en-US" dirty="0"/>
              <a:t>manure biogas and wastewater treatment biogas</a:t>
            </a:r>
          </a:p>
          <a:p>
            <a:pPr fontAlgn="base"/>
            <a:r>
              <a:rPr lang="en-US" dirty="0"/>
              <a:t>food processing residue</a:t>
            </a:r>
          </a:p>
          <a:p>
            <a:pPr fontAlgn="base"/>
            <a:r>
              <a:rPr lang="en-US" dirty="0"/>
              <a:t>municipal solid waste (MSW)</a:t>
            </a:r>
          </a:p>
          <a:p>
            <a:pPr fontAlgn="base"/>
            <a:r>
              <a:rPr lang="en-US" dirty="0"/>
              <a:t>landfill gas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37684641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Bio-mass Fuelled Combined Heat And Power Systems</a:t>
            </a:r>
          </a:p>
        </p:txBody>
      </p:sp>
      <p:pic>
        <p:nvPicPr>
          <p:cNvPr id="7" name="Content Placeholder 6"/>
          <p:cNvPicPr>
            <a:picLocks noGrp="1" noChangeAspect="1"/>
          </p:cNvPicPr>
          <p:nvPr>
            <p:ph idx="1"/>
          </p:nvPr>
        </p:nvPicPr>
        <p:blipFill>
          <a:blip r:embed="rId2"/>
          <a:stretch>
            <a:fillRect/>
          </a:stretch>
        </p:blipFill>
        <p:spPr>
          <a:xfrm>
            <a:off x="1184330" y="1600200"/>
            <a:ext cx="6775339" cy="45259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1875265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Bio-mass Fuelled Combined Heat And Power Systems</a:t>
            </a:r>
          </a:p>
        </p:txBody>
      </p:sp>
      <p:pic>
        <p:nvPicPr>
          <p:cNvPr id="7" name="Content Placeholder 6"/>
          <p:cNvPicPr>
            <a:picLocks noGrp="1" noChangeAspect="1"/>
          </p:cNvPicPr>
          <p:nvPr>
            <p:ph idx="1"/>
          </p:nvPr>
        </p:nvPicPr>
        <p:blipFill>
          <a:blip r:embed="rId2"/>
          <a:stretch>
            <a:fillRect/>
          </a:stretch>
        </p:blipFill>
        <p:spPr>
          <a:xfrm>
            <a:off x="1769474" y="1600200"/>
            <a:ext cx="5605052" cy="45259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9424122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 name="Content Placeholder 6"/>
          <p:cNvPicPr>
            <a:picLocks noGrp="1" noChangeAspect="1"/>
          </p:cNvPicPr>
          <p:nvPr>
            <p:ph idx="1"/>
          </p:nvPr>
        </p:nvPicPr>
        <p:blipFill>
          <a:blip r:embed="rId2"/>
          <a:stretch>
            <a:fillRect/>
          </a:stretch>
        </p:blipFill>
        <p:spPr>
          <a:xfrm>
            <a:off x="1579660" y="1600200"/>
            <a:ext cx="5984679" cy="45259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pic>
        <p:nvPicPr>
          <p:cNvPr id="8" name="Picture 7"/>
          <p:cNvPicPr>
            <a:picLocks noChangeAspect="1"/>
          </p:cNvPicPr>
          <p:nvPr/>
        </p:nvPicPr>
        <p:blipFill>
          <a:blip r:embed="rId3"/>
          <a:stretch>
            <a:fillRect/>
          </a:stretch>
        </p:blipFill>
        <p:spPr>
          <a:xfrm>
            <a:off x="1109179" y="418680"/>
            <a:ext cx="6925642" cy="6020640"/>
          </a:xfrm>
          <a:prstGeom prst="rect">
            <a:avLst/>
          </a:prstGeom>
        </p:spPr>
      </p:pic>
    </p:spTree>
    <p:extLst>
      <p:ext uri="{BB962C8B-B14F-4D97-AF65-F5344CB8AC3E}">
        <p14:creationId xmlns:p14="http://schemas.microsoft.com/office/powerpoint/2010/main" val="20110470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Bio-mass Fuelled Combined Heat And Power Systems</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pic>
        <p:nvPicPr>
          <p:cNvPr id="9" name="Content Placeholder 8"/>
          <p:cNvPicPr>
            <a:picLocks noGrp="1" noChangeAspect="1"/>
          </p:cNvPicPr>
          <p:nvPr>
            <p:ph idx="1"/>
          </p:nvPr>
        </p:nvPicPr>
        <p:blipFill>
          <a:blip r:embed="rId2"/>
          <a:stretch>
            <a:fillRect/>
          </a:stretch>
        </p:blipFill>
        <p:spPr>
          <a:xfrm>
            <a:off x="1161574" y="2234179"/>
            <a:ext cx="6820852" cy="3258005"/>
          </a:xfrm>
          <a:prstGeom prst="rect">
            <a:avLst/>
          </a:prstGeom>
        </p:spPr>
      </p:pic>
    </p:spTree>
    <p:extLst>
      <p:ext uri="{BB962C8B-B14F-4D97-AF65-F5344CB8AC3E}">
        <p14:creationId xmlns:p14="http://schemas.microsoft.com/office/powerpoint/2010/main" val="34332412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Bio-mass Fuelled Combined Heat And Power Systems</a:t>
            </a:r>
          </a:p>
        </p:txBody>
      </p:sp>
      <p:pic>
        <p:nvPicPr>
          <p:cNvPr id="7" name="Content Placeholder 6"/>
          <p:cNvPicPr>
            <a:picLocks noGrp="1" noChangeAspect="1"/>
          </p:cNvPicPr>
          <p:nvPr>
            <p:ph idx="1"/>
          </p:nvPr>
        </p:nvPicPr>
        <p:blipFill>
          <a:blip r:embed="rId2"/>
          <a:stretch>
            <a:fillRect/>
          </a:stretch>
        </p:blipFill>
        <p:spPr>
          <a:xfrm>
            <a:off x="1797325" y="1600200"/>
            <a:ext cx="5549349" cy="45259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32732951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Bio-mass Fuelled Combined Heat And Power Systems</a:t>
            </a:r>
          </a:p>
        </p:txBody>
      </p:sp>
      <p:pic>
        <p:nvPicPr>
          <p:cNvPr id="7" name="Content Placeholder 6"/>
          <p:cNvPicPr>
            <a:picLocks noGrp="1" noChangeAspect="1"/>
          </p:cNvPicPr>
          <p:nvPr>
            <p:ph idx="1"/>
          </p:nvPr>
        </p:nvPicPr>
        <p:blipFill>
          <a:blip r:embed="rId2"/>
          <a:stretch>
            <a:fillRect/>
          </a:stretch>
        </p:blipFill>
        <p:spPr>
          <a:xfrm>
            <a:off x="1071074" y="3391628"/>
            <a:ext cx="7001852" cy="943107"/>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30236365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Bio-mass Fuelled Combined Heat And Power Systems</a:t>
            </a:r>
          </a:p>
        </p:txBody>
      </p:sp>
      <p:sp>
        <p:nvSpPr>
          <p:cNvPr id="3" name="Content Placeholder 2"/>
          <p:cNvSpPr>
            <a:spLocks noGrp="1"/>
          </p:cNvSpPr>
          <p:nvPr>
            <p:ph idx="1"/>
          </p:nvPr>
        </p:nvSpPr>
        <p:spPr>
          <a:xfrm>
            <a:off x="457200" y="1417638"/>
            <a:ext cx="8229600" cy="4525963"/>
          </a:xfrm>
        </p:spPr>
        <p:txBody>
          <a:bodyPr>
            <a:normAutofit fontScale="92500" lnSpcReduction="10000"/>
          </a:bodyPr>
          <a:lstStyle/>
          <a:p>
            <a:pPr algn="just" fontAlgn="base"/>
            <a:r>
              <a:rPr lang="en-US" sz="2300" dirty="0"/>
              <a:t>Social considerations</a:t>
            </a:r>
          </a:p>
          <a:p>
            <a:pPr algn="just" fontAlgn="base"/>
            <a:r>
              <a:rPr lang="en-US" sz="2300" dirty="0"/>
              <a:t>While the biomass energy offers benefits in terms of sustainable fuel supply, it can potentially aggravate the air pollution problem. Except for a very narrow range of applications of biofuels in no-combustion devices, such as fuel cells (which can generate electricity electrochemically with bio-hydrogen and syngas), most of the biomass energy technologies involve burning the fuel and result in greenhouse gas emissions. This drives public opinion away from biomass options towards such alternatives as solar and wind energy. The second issue debated is the potential competition for land use between the energy and food crops</a:t>
            </a:r>
            <a:r>
              <a:rPr lang="en-US" dirty="0"/>
              <a:t>.</a:t>
            </a:r>
          </a:p>
          <a:p>
            <a:r>
              <a:rPr lang="en-US" dirty="0"/>
              <a:t/>
            </a:r>
            <a:br>
              <a:rPr lang="en-US" dirty="0"/>
            </a:b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14241471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Environmental Impact Of Renewable Energy</a:t>
            </a:r>
            <a:endParaRPr lang="en-IN" sz="2800" dirty="0"/>
          </a:p>
        </p:txBody>
      </p:sp>
      <p:sp>
        <p:nvSpPr>
          <p:cNvPr id="3" name="Content Placeholder 2"/>
          <p:cNvSpPr>
            <a:spLocks noGrp="1"/>
          </p:cNvSpPr>
          <p:nvPr>
            <p:ph idx="1"/>
          </p:nvPr>
        </p:nvSpPr>
        <p:spPr/>
        <p:txBody>
          <a:bodyPr>
            <a:normAutofit/>
          </a:bodyPr>
          <a:lstStyle/>
          <a:p>
            <a:pPr algn="just"/>
            <a:r>
              <a:rPr lang="en-US" sz="2100" dirty="0"/>
              <a:t>Over the next 20 years, policymakers, industry and government officials will need to </a:t>
            </a:r>
            <a:r>
              <a:rPr lang="en-US" sz="2100" dirty="0">
                <a:hlinkClick r:id="rId2"/>
              </a:rPr>
              <a:t>invest US $2.5 trillion for electricity generation</a:t>
            </a:r>
            <a:r>
              <a:rPr lang="en-US" sz="2100" dirty="0"/>
              <a:t>. Electricity from </a:t>
            </a:r>
            <a:r>
              <a:rPr lang="en-US" sz="2100" dirty="0">
                <a:hlinkClick r:id="rId3"/>
              </a:rPr>
              <a:t>renewable energy sources</a:t>
            </a:r>
            <a:r>
              <a:rPr lang="en-US" sz="2100" dirty="0"/>
              <a:t> produces between 90-99% less greenhouse gases (GHGs) compared with coal-fired plants and causes 70-90% less pollution.</a:t>
            </a:r>
          </a:p>
          <a:p>
            <a:pPr algn="just"/>
            <a:r>
              <a:rPr lang="en-US" sz="2100" dirty="0"/>
              <a:t>Focusing on renewable energy sources other than fossil fuels and coals might help in avoiding environmental impacts, specifically from air pollution and GHGs. Nevertheless, all forms of </a:t>
            </a:r>
            <a:r>
              <a:rPr lang="en-US" sz="2100" dirty="0">
                <a:hlinkClick r:id="rId2"/>
              </a:rPr>
              <a:t>electricity generation have their impacts</a:t>
            </a:r>
            <a:r>
              <a:rPr lang="en-US" sz="2100" dirty="0"/>
              <a:t>. To achieve a low-carbon future, we need to understand the effects of different renewable energy resources.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20716910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Environmental Impact Of Renewable Energy</a:t>
            </a:r>
          </a:p>
        </p:txBody>
      </p:sp>
      <p:sp>
        <p:nvSpPr>
          <p:cNvPr id="3" name="Content Placeholder 2"/>
          <p:cNvSpPr>
            <a:spLocks noGrp="1"/>
          </p:cNvSpPr>
          <p:nvPr>
            <p:ph idx="1"/>
          </p:nvPr>
        </p:nvSpPr>
        <p:spPr/>
        <p:txBody>
          <a:bodyPr>
            <a:normAutofit/>
          </a:bodyPr>
          <a:lstStyle/>
          <a:p>
            <a:pPr algn="just"/>
            <a:r>
              <a:rPr lang="en-US" sz="1900" dirty="0"/>
              <a:t>Where does renewable energy come from?</a:t>
            </a:r>
          </a:p>
          <a:p>
            <a:pPr algn="just"/>
            <a:r>
              <a:rPr lang="en-US" sz="1900" dirty="0"/>
              <a:t>Renewable energy is derived from natural sources that are </a:t>
            </a:r>
            <a:r>
              <a:rPr lang="en-US" sz="1900" dirty="0">
                <a:hlinkClick r:id="rId2"/>
              </a:rPr>
              <a:t>continuously and sustainably replenished</a:t>
            </a:r>
            <a:r>
              <a:rPr lang="en-US" sz="1900" dirty="0"/>
              <a:t>. Renewable energy comes from wind energy, solar energy, biomass energy, biogas energy, geothermal energy, hydro power and offshore wind, wave, and tidal energy. A wind turbine may have a lifespan of 20-25 years, </a:t>
            </a:r>
            <a:r>
              <a:rPr lang="en-US" sz="1900" dirty="0">
                <a:hlinkClick r:id="rId3"/>
              </a:rPr>
              <a:t>according to Thomas </a:t>
            </a:r>
            <a:r>
              <a:rPr lang="en-US" sz="1900" dirty="0" err="1">
                <a:hlinkClick r:id="rId3"/>
              </a:rPr>
              <a:t>Gibon</a:t>
            </a:r>
            <a:r>
              <a:rPr lang="en-US" sz="1900" dirty="0"/>
              <a:t>, meaning the material investments may last for 20-25 years before needing to be replaced.</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25908671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Environmental Impact Of Renewable Energy</a:t>
            </a:r>
          </a:p>
        </p:txBody>
      </p:sp>
      <p:sp>
        <p:nvSpPr>
          <p:cNvPr id="3" name="Content Placeholder 2"/>
          <p:cNvSpPr>
            <a:spLocks noGrp="1"/>
          </p:cNvSpPr>
          <p:nvPr>
            <p:ph idx="1"/>
          </p:nvPr>
        </p:nvSpPr>
        <p:spPr/>
        <p:txBody>
          <a:bodyPr>
            <a:normAutofit fontScale="77500" lnSpcReduction="20000"/>
          </a:bodyPr>
          <a:lstStyle/>
          <a:p>
            <a:pPr algn="just"/>
            <a:r>
              <a:rPr lang="en-US" sz="2600" dirty="0"/>
              <a:t>What environmental impacts do renewable energy installations have?</a:t>
            </a:r>
          </a:p>
          <a:p>
            <a:pPr algn="just"/>
            <a:r>
              <a:rPr lang="en-US" sz="2600" dirty="0"/>
              <a:t>The materials used in creating renewable energy installations include neodymium, dysprosium, cadmium, tellurium, gallium, indium and selenium. These materials have been used only recently, which means that there are </a:t>
            </a:r>
            <a:r>
              <a:rPr lang="en-US" sz="2600" dirty="0">
                <a:hlinkClick r:id="rId2"/>
              </a:rPr>
              <a:t>limited or no recycling systems yet</a:t>
            </a:r>
            <a:r>
              <a:rPr lang="en-US" sz="2600" dirty="0"/>
              <a:t>. A solution to facilitate the large-scale recycling of these materials needs to be designed to avoid problems in the future. There are not currently enough renewable power plants to be retired that could be studied to address this issue empirically.</a:t>
            </a:r>
          </a:p>
          <a:p>
            <a:pPr algn="just"/>
            <a:r>
              <a:rPr lang="en-US" sz="2600" dirty="0"/>
              <a:t>Hydropower’s environmental impacts depend on where the installation is located. For instance, a </a:t>
            </a:r>
            <a:r>
              <a:rPr lang="en-US" sz="2600" dirty="0">
                <a:hlinkClick r:id="rId3"/>
              </a:rPr>
              <a:t>tropical hydropower installation</a:t>
            </a:r>
            <a:r>
              <a:rPr lang="en-US" sz="2600" dirty="0"/>
              <a:t> that is big and shallow can result in GHG emissions when it swamps and kills vegetation. Carbon dioxide (CO2) is released in such instances, as well as methane (CH4), a GHG that is about 30 times more powerful than CO2 at trapping heat within the atmosphere.</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23077793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Environmental Impact Of Renewable Energy</a:t>
            </a:r>
          </a:p>
        </p:txBody>
      </p:sp>
      <p:sp>
        <p:nvSpPr>
          <p:cNvPr id="3" name="Content Placeholder 2"/>
          <p:cNvSpPr>
            <a:spLocks noGrp="1"/>
          </p:cNvSpPr>
          <p:nvPr>
            <p:ph idx="1"/>
          </p:nvPr>
        </p:nvSpPr>
        <p:spPr/>
        <p:txBody>
          <a:bodyPr>
            <a:normAutofit/>
          </a:bodyPr>
          <a:lstStyle/>
          <a:p>
            <a:pPr algn="just"/>
            <a:r>
              <a:rPr lang="en-US" sz="1800" dirty="0"/>
              <a:t>Solar panels, designed to absorb the sun’s rays as a source of energy to be used for electricity or heating, must be evaluated as well. Solar energy does not operate at night without a storage device such as a battery, and cloudy weather can lead to </a:t>
            </a:r>
            <a:r>
              <a:rPr lang="en-US" sz="1800" dirty="0">
                <a:hlinkClick r:id="rId2"/>
              </a:rPr>
              <a:t>unreliability </a:t>
            </a:r>
            <a:r>
              <a:rPr lang="en-US" sz="1800" dirty="0"/>
              <a:t>during the day. Solar energy remains useful, but further research must be done in order to have a fuller understanding of how to maximize its benefits.</a:t>
            </a:r>
          </a:p>
          <a:p>
            <a:pPr algn="just"/>
            <a:r>
              <a:rPr lang="en-US" sz="1800" dirty="0"/>
              <a:t> </a:t>
            </a:r>
          </a:p>
          <a:p>
            <a:pPr algn="just"/>
            <a:r>
              <a:rPr lang="en-US" sz="1800" dirty="0"/>
              <a:t>In sum, renewable energy installations are </a:t>
            </a:r>
            <a:r>
              <a:rPr lang="en-US" sz="1800" dirty="0">
                <a:hlinkClick r:id="rId3"/>
              </a:rPr>
              <a:t>critical to keeping global warming under 2°C</a:t>
            </a:r>
            <a:r>
              <a:rPr lang="en-US" sz="1800" dirty="0"/>
              <a:t>, and their environmental impacts should be studied as rigorously as we evaluate non-renewables to realize their maximum potential.</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42692537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MCQS</a:t>
            </a: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14" name="Content Placeholder 13"/>
          <p:cNvSpPr>
            <a:spLocks noGrp="1"/>
          </p:cNvSpPr>
          <p:nvPr>
            <p:ph idx="1"/>
          </p:nvPr>
        </p:nvSpPr>
        <p:spPr/>
        <p:txBody>
          <a:bodyPr/>
          <a:lstStyle/>
          <a:p>
            <a:endParaRPr lang="en-IN" dirty="0"/>
          </a:p>
        </p:txBody>
      </p:sp>
      <p:pic>
        <p:nvPicPr>
          <p:cNvPr id="15" name="Picture 14"/>
          <p:cNvPicPr>
            <a:picLocks noChangeAspect="1"/>
          </p:cNvPicPr>
          <p:nvPr/>
        </p:nvPicPr>
        <p:blipFill>
          <a:blip r:embed="rId2"/>
          <a:stretch>
            <a:fillRect/>
          </a:stretch>
        </p:blipFill>
        <p:spPr>
          <a:xfrm>
            <a:off x="1575969" y="1314155"/>
            <a:ext cx="5992061" cy="4229690"/>
          </a:xfrm>
          <a:prstGeom prst="rect">
            <a:avLst/>
          </a:prstGeom>
        </p:spPr>
      </p:pic>
    </p:spTree>
    <p:extLst>
      <p:ext uri="{BB962C8B-B14F-4D97-AF65-F5344CB8AC3E}">
        <p14:creationId xmlns:p14="http://schemas.microsoft.com/office/powerpoint/2010/main" val="356320359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pic>
        <p:nvPicPr>
          <p:cNvPr id="7" name="Content Placeholder 6"/>
          <p:cNvPicPr>
            <a:picLocks noGrp="1" noChangeAspect="1"/>
          </p:cNvPicPr>
          <p:nvPr>
            <p:ph idx="1"/>
          </p:nvPr>
        </p:nvPicPr>
        <p:blipFill>
          <a:blip r:embed="rId2"/>
          <a:stretch>
            <a:fillRect/>
          </a:stretch>
        </p:blipFill>
        <p:spPr>
          <a:xfrm>
            <a:off x="2085628" y="2034126"/>
            <a:ext cx="4972744" cy="3658111"/>
          </a:xfrm>
          <a:prstGeom prst="rect">
            <a:avLst/>
          </a:prstGeom>
        </p:spPr>
      </p:pic>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p:txBody>
          <a:bodyPr/>
          <a:lstStyle/>
          <a:p>
            <a:r>
              <a:rPr lang="fi-FI" dirty="0"/>
              <a:t>Dr.Deepak Uprety</a:t>
            </a:r>
            <a:r>
              <a:rPr lang="en-US" dirty="0" smtClean="0"/>
              <a:t>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37117529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pic>
        <p:nvPicPr>
          <p:cNvPr id="7" name="Content Placeholder 6"/>
          <p:cNvPicPr>
            <a:picLocks noGrp="1" noChangeAspect="1"/>
          </p:cNvPicPr>
          <p:nvPr>
            <p:ph idx="1"/>
          </p:nvPr>
        </p:nvPicPr>
        <p:blipFill>
          <a:blip r:embed="rId2"/>
          <a:stretch>
            <a:fillRect/>
          </a:stretch>
        </p:blipFill>
        <p:spPr>
          <a:xfrm>
            <a:off x="1933206" y="1929336"/>
            <a:ext cx="5277587" cy="3867690"/>
          </a:xfrm>
          <a:prstGeom prst="rect">
            <a:avLst/>
          </a:prstGeom>
        </p:spPr>
      </p:pic>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p:txBody>
          <a:bodyPr/>
          <a:lstStyle/>
          <a:p>
            <a:r>
              <a:rPr lang="fi-FI" dirty="0"/>
              <a:t>Dr.Deepak Uprety</a:t>
            </a:r>
            <a:r>
              <a:rPr lang="en-US" dirty="0" smtClean="0"/>
              <a:t>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4806109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pic>
        <p:nvPicPr>
          <p:cNvPr id="7" name="Content Placeholder 6"/>
          <p:cNvPicPr>
            <a:picLocks noGrp="1" noChangeAspect="1"/>
          </p:cNvPicPr>
          <p:nvPr>
            <p:ph idx="1"/>
          </p:nvPr>
        </p:nvPicPr>
        <p:blipFill>
          <a:blip r:embed="rId2"/>
          <a:stretch>
            <a:fillRect/>
          </a:stretch>
        </p:blipFill>
        <p:spPr>
          <a:xfrm>
            <a:off x="1599785" y="1886468"/>
            <a:ext cx="5944430" cy="3953427"/>
          </a:xfrm>
          <a:prstGeom prst="rect">
            <a:avLst/>
          </a:prstGeom>
        </p:spPr>
      </p:pic>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p:txBody>
          <a:bodyPr/>
          <a:lstStyle/>
          <a:p>
            <a:r>
              <a:rPr lang="fi-FI" dirty="0"/>
              <a:t>Dr.Deepak Uprety</a:t>
            </a:r>
            <a:r>
              <a:rPr lang="en-US" dirty="0" smtClean="0"/>
              <a:t>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28416281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MCQS</a:t>
            </a:r>
            <a:endParaRPr lang="en-IN" dirty="0"/>
          </a:p>
        </p:txBody>
      </p:sp>
      <p:pic>
        <p:nvPicPr>
          <p:cNvPr id="7" name="Content Placeholder 6"/>
          <p:cNvPicPr>
            <a:picLocks noGrp="1" noChangeAspect="1"/>
          </p:cNvPicPr>
          <p:nvPr>
            <p:ph idx="1"/>
          </p:nvPr>
        </p:nvPicPr>
        <p:blipFill>
          <a:blip r:embed="rId2"/>
          <a:stretch>
            <a:fillRect/>
          </a:stretch>
        </p:blipFill>
        <p:spPr>
          <a:xfrm>
            <a:off x="2566707" y="1791205"/>
            <a:ext cx="4010585" cy="4143953"/>
          </a:xfrm>
          <a:prstGeom prst="rect">
            <a:avLst/>
          </a:prstGeom>
        </p:spPr>
      </p:pic>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p:txBody>
          <a:bodyPr/>
          <a:lstStyle/>
          <a:p>
            <a:r>
              <a:rPr lang="fi-FI" dirty="0"/>
              <a:t>Dr.Deepak Uprety</a:t>
            </a:r>
            <a:r>
              <a:rPr lang="en-US" dirty="0" smtClean="0"/>
              <a:t>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25172655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a:xfrm>
            <a:off x="2209800" y="6356350"/>
            <a:ext cx="5562600" cy="365125"/>
          </a:xfrm>
        </p:spPr>
        <p:txBody>
          <a:bodyPr/>
          <a:lstStyle/>
          <a:p>
            <a:r>
              <a:rPr lang="fi-FI" dirty="0"/>
              <a:t>Dr.Deepak Uprety</a:t>
            </a:r>
            <a:r>
              <a:rPr lang="en-US" dirty="0" smtClean="0"/>
              <a:t>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sp>
        <p:nvSpPr>
          <p:cNvPr id="9" name="Content Placeholder 8"/>
          <p:cNvSpPr>
            <a:spLocks noGrp="1"/>
          </p:cNvSpPr>
          <p:nvPr>
            <p:ph idx="1"/>
          </p:nvPr>
        </p:nvSpPr>
        <p:spPr>
          <a:xfrm>
            <a:off x="533400" y="1143000"/>
            <a:ext cx="8229600" cy="4525963"/>
          </a:xfrm>
          <a:prstGeom prst="rect">
            <a:avLst/>
          </a:prstGeom>
          <a:noFill/>
        </p:spPr>
        <p:txBody>
          <a:bodyPr wrap="none" lIns="91440" tIns="45720" rIns="91440" bIns="45720">
            <a:spAutoFit/>
          </a:bodyPr>
          <a:lstStyle/>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pic>
        <p:nvPicPr>
          <p:cNvPr id="10" name="Picture 9"/>
          <p:cNvPicPr>
            <a:picLocks noChangeAspect="1"/>
          </p:cNvPicPr>
          <p:nvPr/>
        </p:nvPicPr>
        <p:blipFill>
          <a:blip r:embed="rId2"/>
          <a:stretch>
            <a:fillRect/>
          </a:stretch>
        </p:blipFill>
        <p:spPr>
          <a:xfrm>
            <a:off x="0" y="88065"/>
            <a:ext cx="1388790" cy="711242"/>
          </a:xfrm>
          <a:prstGeom prst="rect">
            <a:avLst/>
          </a:prstGeom>
        </p:spPr>
      </p:pic>
    </p:spTree>
    <p:extLst>
      <p:ext uri="{BB962C8B-B14F-4D97-AF65-F5344CB8AC3E}">
        <p14:creationId xmlns:p14="http://schemas.microsoft.com/office/powerpoint/2010/main" val="359841618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1562</TotalTime>
  <Words>4078</Words>
  <Application>Microsoft Office PowerPoint</Application>
  <PresentationFormat>On-screen Show (4:3)</PresentationFormat>
  <Paragraphs>633</Paragraphs>
  <Slides>59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59</vt:i4>
      </vt:variant>
    </vt:vector>
  </HeadingPairs>
  <TitlesOfParts>
    <vt:vector size="63" baseType="lpstr">
      <vt:lpstr>Arial</vt:lpstr>
      <vt:lpstr>Calibri</vt:lpstr>
      <vt:lpstr>Times New Roman</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Basics Of Renewable Energy</vt:lpstr>
      <vt:lpstr>Basics Of Renewable Energy</vt:lpstr>
      <vt:lpstr>Basics Of Renewable Energy</vt:lpstr>
      <vt:lpstr>Basics Of Renewable Energy</vt:lpstr>
      <vt:lpstr>Basics Of Renewable Energy</vt:lpstr>
      <vt:lpstr>Basics Of Renewable Energy</vt:lpstr>
      <vt:lpstr>Basics Of Renewable Energy</vt:lpstr>
      <vt:lpstr>Building Integrated Solar Energy  Technologies</vt:lpstr>
      <vt:lpstr>Building Integrated Solar Energy  Technologies</vt:lpstr>
      <vt:lpstr>Building Integrated Solar Energy  Technologies</vt:lpstr>
      <vt:lpstr>Building Integrated Solar Energy  Technologies</vt:lpstr>
      <vt:lpstr>Building Integrated Solar Energy  Technologies</vt:lpstr>
      <vt:lpstr>Building Integrated Solar Energy  Technologies</vt:lpstr>
      <vt:lpstr>Building Integrated Solar Energy  Technologies</vt:lpstr>
      <vt:lpstr>Building Integrated Solar Energy  Technologies</vt:lpstr>
      <vt:lpstr>Building Integrated Solar Energy  Technologies</vt:lpstr>
      <vt:lpstr>Building Integrated Solar Energy  Technologies</vt:lpstr>
      <vt:lpstr>Solar Thermal ElectricPower Generation</vt:lpstr>
      <vt:lpstr>Solar Thermal ElectricPower Generation</vt:lpstr>
      <vt:lpstr>Solar Thermal ElectricPower Generation</vt:lpstr>
      <vt:lpstr>Solar Thermal ElectricPower Generation</vt:lpstr>
      <vt:lpstr>Solar Thermal ElectricPower Generation</vt:lpstr>
      <vt:lpstr>Utility Scale Geothermal Energy Systems</vt:lpstr>
      <vt:lpstr>Utility Scale Geothermal Energy Systems</vt:lpstr>
      <vt:lpstr>Utility Scale Geothermal Energy Systems</vt:lpstr>
      <vt:lpstr>Wind Energy Application And Technologies</vt:lpstr>
      <vt:lpstr>Wind Energy Application And Technologies</vt:lpstr>
      <vt:lpstr>Bio-mass Fuelled Combined Heat And Power Systems</vt:lpstr>
      <vt:lpstr>Bio-mass Fuelled Combined Heat And Power Systems</vt:lpstr>
      <vt:lpstr>Bio-mass Fuelled Combined Heat And Power Systems</vt:lpstr>
      <vt:lpstr>Bio-mass Fuelled Combined Heat And Power Systems</vt:lpstr>
      <vt:lpstr>PowerPoint Presentation</vt:lpstr>
      <vt:lpstr>Bio-mass Fuelled Combined Heat And Power Systems</vt:lpstr>
      <vt:lpstr>Bio-mass Fuelled Combined Heat And Power Systems</vt:lpstr>
      <vt:lpstr>Bio-mass Fuelled Combined Heat And Power Systems</vt:lpstr>
      <vt:lpstr>Bio-mass Fuelled Combined Heat And Power Systems</vt:lpstr>
      <vt:lpstr>Environmental Impact Of Renewable Energy</vt:lpstr>
      <vt:lpstr>Environmental Impact Of Renewable Energy</vt:lpstr>
      <vt:lpstr>Environmental Impact Of Renewable Energy</vt:lpstr>
      <vt:lpstr>Environmental Impact Of Renewable Energy</vt:lpstr>
      <vt:lpstr>MCQS</vt:lpstr>
      <vt:lpstr>MCQS</vt:lpstr>
      <vt:lpstr>MCQS</vt:lpstr>
      <vt:lpstr>MCQS</vt:lpstr>
      <vt:lpstr>MCQS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admin</cp:lastModifiedBy>
  <cp:revision>299</cp:revision>
  <dcterms:created xsi:type="dcterms:W3CDTF">2006-08-16T00:00:00Z</dcterms:created>
  <dcterms:modified xsi:type="dcterms:W3CDTF">2026-02-05T06:40:25Z</dcterms:modified>
</cp:coreProperties>
</file>