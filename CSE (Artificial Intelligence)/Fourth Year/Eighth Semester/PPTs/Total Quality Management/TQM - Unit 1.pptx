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7" r:id="rId2"/>
    <p:sldId id="259" r:id="rId3"/>
    <p:sldId id="263" r:id="rId4"/>
    <p:sldId id="264" r:id="rId5"/>
    <p:sldId id="348" r:id="rId6"/>
    <p:sldId id="266" r:id="rId7"/>
    <p:sldId id="349" r:id="rId8"/>
    <p:sldId id="307" r:id="rId9"/>
    <p:sldId id="350" r:id="rId10"/>
    <p:sldId id="270" r:id="rId11"/>
    <p:sldId id="366" r:id="rId12"/>
    <p:sldId id="367" r:id="rId13"/>
    <p:sldId id="370" r:id="rId14"/>
    <p:sldId id="368" r:id="rId15"/>
    <p:sldId id="369" r:id="rId16"/>
    <p:sldId id="295" r:id="rId17"/>
    <p:sldId id="325" r:id="rId18"/>
    <p:sldId id="331" r:id="rId19"/>
    <p:sldId id="395" r:id="rId20"/>
    <p:sldId id="356" r:id="rId21"/>
    <p:sldId id="398" r:id="rId22"/>
    <p:sldId id="357" r:id="rId23"/>
    <p:sldId id="360" r:id="rId24"/>
    <p:sldId id="359" r:id="rId25"/>
    <p:sldId id="358" r:id="rId26"/>
    <p:sldId id="318" r:id="rId27"/>
    <p:sldId id="374" r:id="rId28"/>
    <p:sldId id="379" r:id="rId29"/>
    <p:sldId id="380" r:id="rId30"/>
    <p:sldId id="382" r:id="rId31"/>
    <p:sldId id="383" r:id="rId32"/>
    <p:sldId id="399" r:id="rId33"/>
    <p:sldId id="384" r:id="rId34"/>
    <p:sldId id="385" r:id="rId35"/>
    <p:sldId id="386" r:id="rId36"/>
    <p:sldId id="389" r:id="rId37"/>
    <p:sldId id="390" r:id="rId38"/>
    <p:sldId id="391" r:id="rId39"/>
    <p:sldId id="392" r:id="rId40"/>
    <p:sldId id="393" r:id="rId41"/>
    <p:sldId id="276" r:id="rId42"/>
    <p:sldId id="278" r:id="rId43"/>
    <p:sldId id="277" r:id="rId44"/>
    <p:sldId id="281" r:id="rId45"/>
    <p:sldId id="282" r:id="rId46"/>
    <p:sldId id="280" r:id="rId47"/>
    <p:sldId id="283" r:id="rId48"/>
    <p:sldId id="286" r:id="rId49"/>
    <p:sldId id="288" r:id="rId50"/>
    <p:sldId id="289" r:id="rId51"/>
    <p:sldId id="290" r:id="rId52"/>
    <p:sldId id="291" r:id="rId53"/>
    <p:sldId id="305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114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C18D4-68EA-4F7F-B030-0E0A73B01CC2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46150-BB5F-4C83-B554-997FF63B9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40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4412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35F52E-BA8C-4FAB-BCFA-C67A14D9CE2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10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25EDD236-6ACD-4BD3-9643-C20D99489A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5339968E-0A7C-4154-8923-E51F4CC8E1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9DDB5042-1B09-45B7-9D40-FE9915B86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E45C94D-BF6E-4DCE-8F3E-049AB8CDF9D0}" type="slidenum">
              <a:rPr lang="en-US" altLang="en-US">
                <a:latin typeface="Calibri" panose="020F0502020204030204" pitchFamily="34" charset="0"/>
              </a:rPr>
              <a:pPr eaLnBrk="1" hangingPunct="1"/>
              <a:t>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619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25EDD236-6ACD-4BD3-9643-C20D99489A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5339968E-0A7C-4154-8923-E51F4CC8E1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9DDB5042-1B09-45B7-9D40-FE9915B86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E45C94D-BF6E-4DCE-8F3E-049AB8CDF9D0}" type="slidenum">
              <a:rPr lang="en-US" altLang="en-US">
                <a:latin typeface="Calibri" panose="020F0502020204030204" pitchFamily="34" charset="0"/>
              </a:rPr>
              <a:pPr eaLnBrk="1" hangingPunct="1"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335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25EDD236-6ACD-4BD3-9643-C20D99489A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5339968E-0A7C-4154-8923-E51F4CC8E1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9DDB5042-1B09-45B7-9D40-FE9915B86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E45C94D-BF6E-4DCE-8F3E-049AB8CDF9D0}" type="slidenum">
              <a:rPr lang="en-US" altLang="en-US"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139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72EE7-06D9-4532-9A66-5E58E007D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D0A93E-E404-6C92-EA9A-F0718F420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1230B-5B2A-7D34-0D8E-33D260C11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FAD91-08DB-491B-9BAB-E9AB8302002B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52D6C-751E-4950-9CD0-62FBFFB1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EE5A0-9062-1D0C-6AF7-C1A9B9EC4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CFD1-9BD3-4B05-9986-EB0069ED3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00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50A27-F4D9-326B-C124-5D32F9061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F21C7-416F-67D5-0A7B-32881A52A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4C6EB-FE82-E12D-0153-D52A34355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A565-17C7-40C2-9FCB-BE95F04B79F7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5C76D-8858-7E38-46BD-180CC9C84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3B79A-08DD-2D84-8CAE-327DD99D8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CFD1-9BD3-4B05-9986-EB0069ED3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373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AD6D9-2E16-6058-F01E-18852BFD4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1CCBB-7C04-CB48-E3FC-AF4BAB160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C6410-743C-6FB8-3D86-FE90FFCDF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8CA3-343E-4B34-9B96-0728BBD238E1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8EC6E-A452-ECF6-E476-2D090EA41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5B4B9-BA4F-9F0F-F7D2-7DFAFD417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CFD1-9BD3-4B05-9986-EB0069ED3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38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91000-9914-D6C0-CB11-94A3278D0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A04A1-C6AB-5EF9-A5BC-2FA51C8A63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BC6A6E-C85C-1C8E-FF70-00A7078FE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81B89-9193-155D-09D0-EB2C1D700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EA2C1-235D-435F-AF4D-704783E550F1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3637D-4896-0D4B-E1F1-B8D4F678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776CF-3D78-2E34-1DCC-12571C156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CFD1-9BD3-4B05-9986-EB0069ED3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572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B7E34-4D17-10AE-2A52-E42FB169C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460AF-7BA3-8726-2890-41854F62C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5B441-C1A9-359A-DC17-395829121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71A748-835B-8B8A-15D5-41E5647ED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353032-3BB1-C3F5-D89C-A4F633ED92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598696-1586-4136-96D8-1B4950AEB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DF13-8880-4F14-BD52-41C9D9EEC151}" type="datetime1">
              <a:rPr lang="en-US" smtClean="0"/>
              <a:t>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ECD063-D213-030B-8702-11647F14A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047675-FB77-60D2-6D59-115F9B219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CFD1-9BD3-4B05-9986-EB0069ED3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967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5933D-A52F-98AD-6620-E9F69FF95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43105F-D4F8-89B7-2C1B-CA70FD46B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4563-B311-4D0F-9B6A-8141B3EE7C34}" type="datetime1">
              <a:rPr lang="en-US" smtClean="0"/>
              <a:t>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4EFD1E-DF69-352E-AF32-1FEB25996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1310E-A61D-6A36-6C62-9D17ADA9F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CFD1-9BD3-4B05-9986-EB0069ED3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08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3803AD-D87D-3949-4057-97D0CD47A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3FB8-8CA7-4172-99CE-21899BE79DF0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94C3D4-46A6-8B0C-A6E7-C23EB71E4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9C665-CE65-97A7-F256-754FD2C45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CFD1-9BD3-4B05-9986-EB0069ED3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45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3FE37-4F72-42AE-CB6F-24DDEF533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29310-4A6C-6A41-FD95-28B05C80A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076C5D-7AF0-350A-3489-F589053CB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18E56-2EA6-4066-3876-60D0428E7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CA3-68BE-4060-8EE0-E2160BF709CF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74D47-BF36-774A-C6F3-1B25095C5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083DA-4656-9EDD-18E4-D547A12B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CFD1-9BD3-4B05-9986-EB0069ED3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921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6B963-C9F9-397A-D705-ED28AE30B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3E7436-39E5-50A6-4791-24BAC6527B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A8D6F-300F-1C77-B109-E33F7D2CD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D5329-37F6-E21F-8300-4BE29F566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E3816-8327-4EF7-AAA2-1815B87B1352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4109C-C213-9687-90E3-F551C99B5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5482E-CDD5-A43C-687B-870C5070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CFD1-9BD3-4B05-9986-EB0069ED3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21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E45A7-A048-6FBD-933D-E6A424AB5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D618E2-3AE6-84F2-947D-93E5173FC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04C37-AB24-B664-1C67-FE97C1C83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459F-5A54-4692-A5EC-00E99472B7C9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49B49-2796-B7D7-BF4D-8C4703F9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F68C2-1F61-8E59-5321-1407AE766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CFD1-9BD3-4B05-9986-EB0069ED3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9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78C496-ADB5-9FF5-5899-5062A26405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34A26D-AD15-2EFA-7C8E-B83B0AA90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EF6A3-1BA0-BA6F-103F-C59E1D11F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172B-8145-4DB1-A77D-A0CE776C98AA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23EEF-84C4-96B7-2F2C-C8FE78F7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A66EE-683E-BDB4-6280-4DC43632F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CFD1-9BD3-4B05-9986-EB0069ED3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00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A4CB7D-3F02-7B95-C630-8AFFC5757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FAC33-B85B-2781-2962-42F5A4079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AE5FA-1B8F-1871-C219-B132DB4C99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04D26-1F20-46D6-989C-ECA87BB836FD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8773D-06D4-C7CE-83C8-61700F73F4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Dheeraj   AOE0861    TQM     Unit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D89EA-E15E-C705-1613-DB35D7DC68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1CFD1-9BD3-4B05-9986-EB0069ED3E4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ack and red logo&#10;&#10;Description automatically generated">
            <a:extLst>
              <a:ext uri="{FF2B5EF4-FFF2-40B4-BE49-F238E27FC236}">
                <a16:creationId xmlns:a16="http://schemas.microsoft.com/office/drawing/2014/main" id="{3CF5CB11-557B-4B81-2002-1CB34016A95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71600" cy="94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436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target.com/whatis/definition/customer-satisfaction-CSAT" TargetMode="External"/><Relationship Id="rId2" Type="http://schemas.openxmlformats.org/officeDocument/2006/relationships/hyperlink" Target="https://www.techtarget.com/whatis/definition/framework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echtarget.com/searcherp/definition/kaizen-or-continuous-improvement" TargetMode="External"/><Relationship Id="rId4" Type="http://schemas.openxmlformats.org/officeDocument/2006/relationships/hyperlink" Target="https://www.techtarget.com/whatis/definition/supply-chain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ucidchart.com/blog/how-to-efficiently-pivot-business-processes" TargetMode="Externa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zendesk.com/in/blog/what-is-customer-focus/" TargetMode="Externa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target.com/searchcustomerexperience/feature/10-customer-service-best-practices-to-follow" TargetMode="External"/><Relationship Id="rId2" Type="http://schemas.openxmlformats.org/officeDocument/2006/relationships/hyperlink" Target="https://www.techtarget.com/searchcustomerexperience/feature/13-customer-retention-strategies-that-work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techtarget.com/searchcustomerexperience/definition/brand-ambassador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chtarget.com/searchcustomerexperience/feature/5-examples-of-bad-customer-service-and-how-to-avoid-them" TargetMode="Externa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chtarget.com/whatis/definition/customer-base" TargetMode="Externa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chtarget.com/searchcustomerexperience/feature/8-tips-to-build-and-manage-a-customer-service-team" TargetMode="Externa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318654507_Total_Quality_Management_Notes" TargetMode="External"/><Relationship Id="rId3" Type="http://schemas.openxmlformats.org/officeDocument/2006/relationships/hyperlink" Target="https://www.youtube.com/watch?v=yWlAOFs04go" TargetMode="External"/><Relationship Id="rId7" Type="http://schemas.openxmlformats.org/officeDocument/2006/relationships/hyperlink" Target="https://www.youtube.com/watch?v=HkdoR-NNEoI" TargetMode="External"/><Relationship Id="rId2" Type="http://schemas.openxmlformats.org/officeDocument/2006/relationships/hyperlink" Target="https://www.youtube.com/watch?v=Q3EOCAuExJU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2ePeXePNLrs" TargetMode="External"/><Relationship Id="rId5" Type="http://schemas.openxmlformats.org/officeDocument/2006/relationships/hyperlink" Target="https://www.youtube.com/watch?v=qb3mvJ1gb9g" TargetMode="External"/><Relationship Id="rId4" Type="http://schemas.openxmlformats.org/officeDocument/2006/relationships/hyperlink" Target="https://www.youtube.com/watch?v=QifqIoUNTJM" TargetMode="External"/><Relationship Id="rId9" Type="http://schemas.openxmlformats.org/officeDocument/2006/relationships/hyperlink" Target="http://www.mescenter.ru/images/abook_file/Total_Quality_Management_and_Six_Sigma.pdf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searchgate.net/publication/318654507_Total_Quality_Management_Notes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95600" y="17"/>
            <a:ext cx="7772400" cy="685799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Noida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Institute of Engineering and Technology, Greater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Noida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800" y="914400"/>
            <a:ext cx="6400800" cy="175260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Introduction to Quality Management 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6324600" y="3962400"/>
            <a:ext cx="4038600" cy="17526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Name –Dheeraj Tripathi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Assistant professor 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Department-ECE</a:t>
            </a:r>
          </a:p>
        </p:txBody>
      </p:sp>
      <p:pic>
        <p:nvPicPr>
          <p:cNvPr id="1027" name="Picture 3" descr="C:\Users\Manks\Downloads\128_calendar-schedule-credit-mortgage-date-5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1905000" y="5943600"/>
            <a:ext cx="533400" cy="533400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1905000" y="6492891"/>
            <a:ext cx="2133600" cy="365125"/>
          </a:xfrm>
        </p:spPr>
        <p:txBody>
          <a:bodyPr/>
          <a:lstStyle/>
          <a:p>
            <a:fld id="{1E62B5FE-0107-477C-94D6-29E71E68727B}" type="datetime1">
              <a:rPr lang="en-US" smtClean="0"/>
              <a:t>1/6/2025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1" name="Picture 4" descr="C:\Users\Manks\Downloads\speak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01000" y="2590800"/>
            <a:ext cx="1524000" cy="1524000"/>
          </a:xfrm>
          <a:prstGeom prst="rect">
            <a:avLst/>
          </a:prstGeom>
          <a:noFill/>
        </p:spPr>
      </p:pic>
      <p:sp>
        <p:nvSpPr>
          <p:cNvPr id="12" name="Subtitle 2"/>
          <p:cNvSpPr txBox="1">
            <a:spLocks/>
          </p:cNvSpPr>
          <p:nvPr/>
        </p:nvSpPr>
        <p:spPr>
          <a:xfrm>
            <a:off x="1676400" y="2971800"/>
            <a:ext cx="2057400" cy="533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Unit: 1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16"/>
            <a:ext cx="5715000" cy="365125"/>
          </a:xfrm>
        </p:spPr>
        <p:txBody>
          <a:bodyPr/>
          <a:lstStyle/>
          <a:p>
            <a:r>
              <a:rPr lang="en-US" sz="2000" dirty="0"/>
              <a:t>Dheeraj   AOE0861    TQM     Unit 1</a:t>
            </a:r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1676400" y="3810001"/>
            <a:ext cx="4191000" cy="8382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Subject Name – Total Quality Management</a:t>
            </a:r>
          </a:p>
        </p:txBody>
      </p:sp>
      <p:sp>
        <p:nvSpPr>
          <p:cNvPr id="15" name="Subtitle 2"/>
          <p:cNvSpPr txBox="1">
            <a:spLocks/>
          </p:cNvSpPr>
          <p:nvPr/>
        </p:nvSpPr>
        <p:spPr>
          <a:xfrm>
            <a:off x="1676400" y="4876800"/>
            <a:ext cx="4191000" cy="8382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Course –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B.Tech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8th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sem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914400"/>
            <a:ext cx="8305800" cy="518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endParaRPr lang="en-US" sz="2400" spc="-5" dirty="0">
              <a:solidFill>
                <a:srgbClr val="000000"/>
              </a:solidFill>
              <a:latin typeface="Georgia"/>
              <a:cs typeface="Georgia"/>
            </a:endParaRPr>
          </a:p>
          <a:p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400" spc="-5" dirty="0">
              <a:solidFill>
                <a:srgbClr val="000000"/>
              </a:solidFill>
              <a:latin typeface="Georgia"/>
              <a:cs typeface="Georgia"/>
            </a:endParaRPr>
          </a:p>
          <a:p>
            <a:pPr lvl="0"/>
            <a:endParaRPr lang="en-US" sz="2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F77D-BCF8-4C1C-B984-1E7CA37F22E8}" type="datetime1">
              <a:rPr lang="en-US" smtClean="0"/>
              <a:t>1/6/2025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895600" y="2"/>
            <a:ext cx="7772400" cy="6857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SYLLABUS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16"/>
            <a:ext cx="5029200" cy="365125"/>
          </a:xfrm>
        </p:spPr>
        <p:txBody>
          <a:bodyPr/>
          <a:lstStyle/>
          <a:p>
            <a:r>
              <a:rPr lang="en-US" sz="2000"/>
              <a:t>Dheeraj   AOE0861    TQM     Unit 1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FE0C49-4CAC-069B-3BA7-5B0EDD68A7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648"/>
          <a:stretch/>
        </p:blipFill>
        <p:spPr>
          <a:xfrm>
            <a:off x="2667000" y="629063"/>
            <a:ext cx="8001000" cy="58019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304A-4696-47A6-AFA1-6CB0B95DB52D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906486" y="44452"/>
            <a:ext cx="7772400" cy="6857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OBJECTIVES</a:t>
            </a:r>
          </a:p>
        </p:txBody>
      </p:sp>
      <p:graphicFrame>
        <p:nvGraphicFramePr>
          <p:cNvPr id="9" name="Content Placeholder 1"/>
          <p:cNvGraphicFramePr>
            <a:graphicFrameLocks/>
          </p:cNvGraphicFramePr>
          <p:nvPr/>
        </p:nvGraphicFramePr>
        <p:xfrm>
          <a:off x="2003685" y="1066800"/>
          <a:ext cx="8359515" cy="495300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616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3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5000">
                <a:tc>
                  <a:txBody>
                    <a:bodyPr/>
                    <a:lstStyle/>
                    <a:p>
                      <a:r>
                        <a:rPr lang="en-US" sz="2200" u="none" dirty="0">
                          <a:latin typeface="Times New Roman" pitchFamily="18" charset="0"/>
                          <a:cs typeface="Times New Roman" pitchFamily="18" charset="0"/>
                        </a:rPr>
                        <a:t>AOE 0861.1</a:t>
                      </a:r>
                      <a:endParaRPr lang="en-US" sz="2200" b="0" u="none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200" u="none" dirty="0">
                          <a:latin typeface="Times New Roman" pitchFamily="18" charset="0"/>
                          <a:cs typeface="Times New Roman" pitchFamily="18" charset="0"/>
                        </a:rPr>
                        <a:t>To learn about common term Quality Concepts</a:t>
                      </a:r>
                    </a:p>
                    <a:p>
                      <a:endParaRPr lang="en-US" b="0" u="none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itchFamily="18" charset="0"/>
                          <a:cs typeface="Times New Roman" pitchFamily="18" charset="0"/>
                        </a:rPr>
                        <a:t>AOE0861.2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 dirty="0">
                          <a:latin typeface="Times New Roman" pitchFamily="18" charset="0"/>
                          <a:cs typeface="Times New Roman" pitchFamily="18" charset="0"/>
                        </a:rPr>
                        <a:t>To know QM principle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9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itchFamily="18" charset="0"/>
                          <a:cs typeface="Times New Roman" pitchFamily="18" charset="0"/>
                        </a:rPr>
                        <a:t>AOE0861.3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To understand the importance of different chart like P-charts and C-charts</a:t>
                      </a: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9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itchFamily="18" charset="0"/>
                          <a:cs typeface="Times New Roman" pitchFamily="18" charset="0"/>
                        </a:rPr>
                        <a:t>AOE0861.4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 dirty="0">
                          <a:latin typeface="Times New Roman" pitchFamily="18" charset="0"/>
                          <a:cs typeface="Times New Roman" pitchFamily="18" charset="0"/>
                        </a:rPr>
                        <a:t>To know new term PDCE cycle, 5S,Kaizen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9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itchFamily="18" charset="0"/>
                          <a:cs typeface="Times New Roman" pitchFamily="18" charset="0"/>
                        </a:rPr>
                        <a:t>AOE0861.5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 dirty="0">
                          <a:latin typeface="Times New Roman" pitchFamily="18" charset="0"/>
                          <a:cs typeface="Times New Roman" pitchFamily="18" charset="0"/>
                        </a:rPr>
                        <a:t>To be aware about different ISO standards and JIT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16"/>
            <a:ext cx="5029200" cy="365125"/>
          </a:xfrm>
        </p:spPr>
        <p:txBody>
          <a:bodyPr/>
          <a:lstStyle/>
          <a:p>
            <a:r>
              <a:rPr lang="en-US" sz="2000"/>
              <a:t>Dheeraj   AOE0861    TQM     Unit 1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DC3A9-5ADD-47E2-9843-6457DBF49576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95600" y="-65313"/>
            <a:ext cx="7772400" cy="6857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OUTCOMES</a:t>
            </a:r>
          </a:p>
        </p:txBody>
      </p:sp>
      <p:graphicFrame>
        <p:nvGraphicFramePr>
          <p:cNvPr id="9" name="Content Placeholder 1"/>
          <p:cNvGraphicFramePr>
            <a:graphicFrameLocks/>
          </p:cNvGraphicFramePr>
          <p:nvPr/>
        </p:nvGraphicFramePr>
        <p:xfrm>
          <a:off x="2003685" y="1066800"/>
          <a:ext cx="8359515" cy="495300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616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3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5000">
                <a:tc>
                  <a:txBody>
                    <a:bodyPr/>
                    <a:lstStyle/>
                    <a:p>
                      <a:pPr algn="l"/>
                      <a:r>
                        <a:rPr lang="en-US" sz="2200" u="none" dirty="0">
                          <a:latin typeface="Times New Roman" pitchFamily="18" charset="0"/>
                          <a:cs typeface="Times New Roman" pitchFamily="18" charset="0"/>
                        </a:rPr>
                        <a:t>AOE0861.1</a:t>
                      </a:r>
                      <a:endParaRPr lang="en-US" sz="2200" u="none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dirty="0">
                          <a:latin typeface="Times New Roman" pitchFamily="18" charset="0"/>
                          <a:cs typeface="Times New Roman" pitchFamily="18" charset="0"/>
                        </a:rPr>
                        <a:t>Define the Quality Concepts and Manufacturing Quality</a:t>
                      </a:r>
                      <a:endParaRPr lang="en-US" sz="2200" b="0" u="none" dirty="0">
                        <a:solidFill>
                          <a:schemeClr val="bg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itchFamily="18" charset="0"/>
                          <a:cs typeface="Times New Roman" pitchFamily="18" charset="0"/>
                        </a:rPr>
                        <a:t>AOE0861.2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 Conceptualize the term Quality Management and relate to this various QM Principles</a:t>
                      </a:r>
                      <a:endParaRPr lang="en-US" sz="2200" b="0" dirty="0">
                        <a:solidFill>
                          <a:srgbClr val="00000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9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itchFamily="18" charset="0"/>
                          <a:cs typeface="Times New Roman" pitchFamily="18" charset="0"/>
                        </a:rPr>
                        <a:t>AOE0861.3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 Analyze the different Tools and Techniques and Control Charts</a:t>
                      </a:r>
                      <a:endParaRPr lang="en-US" sz="2200" b="0" dirty="0">
                        <a:solidFill>
                          <a:srgbClr val="00000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9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itchFamily="18" charset="0"/>
                          <a:cs typeface="Times New Roman" pitchFamily="18" charset="0"/>
                        </a:rPr>
                        <a:t>AOE0861.4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 Distinguish between Defects Diagnosis and Prevention term</a:t>
                      </a:r>
                      <a:endParaRPr lang="en-US" sz="2200" b="0" dirty="0">
                        <a:solidFill>
                          <a:srgbClr val="00000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9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itchFamily="18" charset="0"/>
                          <a:cs typeface="Times New Roman" pitchFamily="18" charset="0"/>
                        </a:rPr>
                        <a:t>AOE0861.5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 Coordinate IS0 and its concept to Quality Management</a:t>
                      </a:r>
                      <a:endParaRPr lang="en-US" sz="2200" b="0" dirty="0">
                        <a:solidFill>
                          <a:srgbClr val="000000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16"/>
            <a:ext cx="5029200" cy="365125"/>
          </a:xfrm>
        </p:spPr>
        <p:txBody>
          <a:bodyPr/>
          <a:lstStyle/>
          <a:p>
            <a:r>
              <a:rPr lang="en-US" sz="2000"/>
              <a:t>Dheeraj   AOE0861    TQM     Unit 1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>
            <a:extLst>
              <a:ext uri="{FF2B5EF4-FFF2-40B4-BE49-F238E27FC236}">
                <a16:creationId xmlns:a16="http://schemas.microsoft.com/office/drawing/2014/main" id="{5B1A7B65-C597-49B6-A05A-EDB96458B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0" y="1004100"/>
            <a:ext cx="8229600" cy="5202636"/>
          </a:xfrm>
        </p:spPr>
        <p:txBody>
          <a:bodyPr>
            <a:normAutofit/>
          </a:bodyPr>
          <a:lstStyle/>
          <a:p>
            <a:pPr eaLnBrk="1" hangingPunct="1">
              <a:buNone/>
            </a:pP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1. Engineering knowledge</a:t>
            </a:r>
          </a:p>
          <a:p>
            <a:pPr eaLnBrk="1" hangingPunct="1">
              <a:buNone/>
            </a:pPr>
            <a:r>
              <a:rPr lang="en-US" altLang="en-US" sz="2200" dirty="0">
                <a:latin typeface="Times" panose="02020603050405020304" pitchFamily="18" charset="0"/>
                <a:cs typeface="Times" panose="02020603050405020304" pitchFamily="18" charset="0"/>
              </a:rPr>
              <a:t>2.</a:t>
            </a: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 Problem analysis</a:t>
            </a:r>
          </a:p>
          <a:p>
            <a:pPr eaLnBrk="1" hangingPunct="1">
              <a:buNone/>
            </a:pPr>
            <a:r>
              <a:rPr lang="en-US" altLang="en-US" sz="2200" dirty="0">
                <a:latin typeface="Times" panose="02020603050405020304" pitchFamily="18" charset="0"/>
                <a:cs typeface="Times" panose="02020603050405020304" pitchFamily="18" charset="0"/>
              </a:rPr>
              <a:t>3.</a:t>
            </a: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 Design/development of solutions</a:t>
            </a:r>
          </a:p>
          <a:p>
            <a:pPr eaLnBrk="1" hangingPunct="1">
              <a:buNone/>
            </a:pPr>
            <a:r>
              <a:rPr lang="en-US" altLang="en-US" sz="2200" dirty="0">
                <a:latin typeface="Times" panose="02020603050405020304" pitchFamily="18" charset="0"/>
                <a:cs typeface="Times" panose="02020603050405020304" pitchFamily="18" charset="0"/>
              </a:rPr>
              <a:t>4.</a:t>
            </a: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 Conduct investigations of complex problems</a:t>
            </a:r>
          </a:p>
          <a:p>
            <a:pPr eaLnBrk="1" hangingPunct="1">
              <a:buNone/>
            </a:pPr>
            <a:r>
              <a:rPr lang="en-US" altLang="en-US" sz="2200" dirty="0">
                <a:latin typeface="Times" panose="02020603050405020304" pitchFamily="18" charset="0"/>
                <a:cs typeface="Times" panose="02020603050405020304" pitchFamily="18" charset="0"/>
              </a:rPr>
              <a:t>5.</a:t>
            </a: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 Modern tool usage</a:t>
            </a:r>
          </a:p>
          <a:p>
            <a:pPr eaLnBrk="1" hangingPunct="1">
              <a:buNone/>
            </a:pPr>
            <a:r>
              <a:rPr lang="en-US" altLang="en-US" sz="2200" dirty="0">
                <a:latin typeface="Times" panose="02020603050405020304" pitchFamily="18" charset="0"/>
                <a:cs typeface="Times" panose="02020603050405020304" pitchFamily="18" charset="0"/>
              </a:rPr>
              <a:t>6.</a:t>
            </a: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 The engineer and society</a:t>
            </a:r>
          </a:p>
          <a:p>
            <a:pPr eaLnBrk="1" hangingPunct="1">
              <a:buNone/>
            </a:pPr>
            <a:r>
              <a:rPr lang="en-US" altLang="en-US" sz="2200" dirty="0">
                <a:latin typeface="Times" panose="02020603050405020304" pitchFamily="18" charset="0"/>
                <a:cs typeface="Times" panose="02020603050405020304" pitchFamily="18" charset="0"/>
              </a:rPr>
              <a:t>7.</a:t>
            </a: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 Environment and sustainability</a:t>
            </a:r>
          </a:p>
          <a:p>
            <a:pPr eaLnBrk="1" hangingPunct="1">
              <a:buNone/>
            </a:pPr>
            <a:r>
              <a:rPr lang="en-US" altLang="en-US" sz="2200" dirty="0">
                <a:latin typeface="Times" panose="02020603050405020304" pitchFamily="18" charset="0"/>
                <a:cs typeface="Times" panose="02020603050405020304" pitchFamily="18" charset="0"/>
              </a:rPr>
              <a:t>8.</a:t>
            </a: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 Ethics</a:t>
            </a:r>
          </a:p>
          <a:p>
            <a:pPr eaLnBrk="1" hangingPunct="1">
              <a:buNone/>
            </a:pPr>
            <a:r>
              <a:rPr lang="en-US" altLang="en-US" sz="2200" dirty="0">
                <a:latin typeface="Times" panose="02020603050405020304" pitchFamily="18" charset="0"/>
                <a:cs typeface="Times" panose="02020603050405020304" pitchFamily="18" charset="0"/>
              </a:rPr>
              <a:t>9.</a:t>
            </a: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 Individual and team work</a:t>
            </a:r>
          </a:p>
          <a:p>
            <a:pPr eaLnBrk="1" hangingPunct="1">
              <a:buNone/>
            </a:pPr>
            <a:r>
              <a:rPr lang="en-US" altLang="en-US" sz="2200" dirty="0">
                <a:latin typeface="Times" panose="02020603050405020304" pitchFamily="18" charset="0"/>
                <a:cs typeface="Times" panose="02020603050405020304" pitchFamily="18" charset="0"/>
              </a:rPr>
              <a:t>10.</a:t>
            </a: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 Communication</a:t>
            </a:r>
          </a:p>
          <a:p>
            <a:pPr eaLnBrk="1" hangingPunct="1">
              <a:buNone/>
            </a:pPr>
            <a:r>
              <a:rPr lang="en-US" altLang="en-US" sz="2200" dirty="0">
                <a:latin typeface="Times" panose="02020603050405020304" pitchFamily="18" charset="0"/>
                <a:cs typeface="Times" panose="02020603050405020304" pitchFamily="18" charset="0"/>
              </a:rPr>
              <a:t>11.</a:t>
            </a: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 Project management and finance</a:t>
            </a:r>
          </a:p>
          <a:p>
            <a:pPr eaLnBrk="1" hangingPunct="1">
              <a:buNone/>
            </a:pPr>
            <a:r>
              <a:rPr lang="en-US" altLang="en-US" sz="2200" dirty="0">
                <a:latin typeface="Times" panose="02020603050405020304" pitchFamily="18" charset="0"/>
                <a:cs typeface="Times" panose="02020603050405020304" pitchFamily="18" charset="0"/>
              </a:rPr>
              <a:t>12.</a:t>
            </a: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 Life-long learning</a:t>
            </a:r>
            <a:endParaRPr lang="en-US" alt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eaLnBrk="1" hangingPunct="1"/>
            <a:endParaRPr lang="en-US" alt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8BBE5-2643-4F5D-9408-C65C8A01CF1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7F16E16-DE19-45EF-9BD6-1F9912D032FF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B4067-E2E4-4311-8E0F-C9B41D374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DB4F6E4-3803-42DB-B2BF-0D92B52FBCDF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E8848A3-4949-45B2-8CCF-B3ECA21DE740}"/>
              </a:ext>
            </a:extLst>
          </p:cNvPr>
          <p:cNvSpPr txBox="1">
            <a:spLocks/>
          </p:cNvSpPr>
          <p:nvPr/>
        </p:nvSpPr>
        <p:spPr>
          <a:xfrm>
            <a:off x="2895600" y="-65315"/>
            <a:ext cx="777240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PROGRAM OUTCOME</a:t>
            </a:r>
          </a:p>
        </p:txBody>
      </p:sp>
      <p:sp>
        <p:nvSpPr>
          <p:cNvPr id="8" name="Footer Placeholder 12">
            <a:extLst>
              <a:ext uri="{FF2B5EF4-FFF2-40B4-BE49-F238E27FC236}">
                <a16:creationId xmlns:a16="http://schemas.microsoft.com/office/drawing/2014/main" id="{6FA00553-970E-4494-8393-F217E60B3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0" y="6248401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en-US"/>
              <a:t>Dheeraj   AOE0861    TQM     Unit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36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EA460-7BAB-4B8B-8C92-313E79C6E379}" type="datetime1">
              <a:rPr lang="en-US" smtClean="0"/>
              <a:t>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14800" y="6324600"/>
            <a:ext cx="5486400" cy="533400"/>
          </a:xfrm>
        </p:spPr>
        <p:txBody>
          <a:bodyPr/>
          <a:lstStyle/>
          <a:p>
            <a:r>
              <a:rPr lang="en-US" sz="2000"/>
              <a:t>Dheeraj   AOE0861    TQM     Unit 1</a:t>
            </a: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917371" y="92078"/>
            <a:ext cx="7772400" cy="6857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CO-PO MAPPING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0" y="906464"/>
          <a:ext cx="8915400" cy="5257798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9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98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9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98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98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98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982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6982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362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7511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PO1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PO2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PO3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PO4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PO5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PO6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PO7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PO8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PO9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PO10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PO11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PO12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1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u="none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AOE0861.1</a:t>
                      </a:r>
                      <a:endParaRPr lang="en-US" sz="1800" u="none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 u="none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 u="none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 u="none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 u="none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sz="1800" u="none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 u="none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 u="none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sz="1800" u="none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sz="1800" u="none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sz="1800" u="none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 u="none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 u="none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1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AOE0861.2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11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AOE0861.3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11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AOE0861.4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11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AOE0861.5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11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Avg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2.6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2.6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2.4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8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1.6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2.2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8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>
            <a:extLst>
              <a:ext uri="{FF2B5EF4-FFF2-40B4-BE49-F238E27FC236}">
                <a16:creationId xmlns:a16="http://schemas.microsoft.com/office/drawing/2014/main" id="{5B1A7B65-C597-49B6-A05A-EDB96458B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0" y="1004100"/>
            <a:ext cx="8229600" cy="5202636"/>
          </a:xfrm>
        </p:spPr>
        <p:txBody>
          <a:bodyPr>
            <a:norm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endParaRPr lang="en-US" alt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8BBE5-2643-4F5D-9408-C65C8A01CF1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F7F0D3E-4C38-465D-AC14-3BA968BAB711}" type="datetime1">
              <a:rPr lang="en-US" smtClean="0">
                <a:latin typeface="Times" panose="02020603050405020304" pitchFamily="18" charset="0"/>
                <a:cs typeface="Times" panose="02020603050405020304" pitchFamily="18" charset="0"/>
              </a:rPr>
              <a:t>1/6/2025</a:t>
            </a:fld>
            <a:endParaRPr lang="en-US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B4067-E2E4-4311-8E0F-C9B41D374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DB4F6E4-3803-42DB-B2BF-0D92B52FBCDF}" type="slidenum">
              <a:rPr lang="en-US" altLang="en-US">
                <a:solidFill>
                  <a:srgbClr val="898989"/>
                </a:solidFill>
                <a:latin typeface="Times" panose="02020603050405020304" pitchFamily="18" charset="0"/>
                <a:cs typeface="Times" panose="02020603050405020304" pitchFamily="18" charset="0"/>
              </a:rPr>
              <a:pPr eaLnBrk="1" hangingPunct="1"/>
              <a:t>7</a:t>
            </a:fld>
            <a:endParaRPr lang="en-US" altLang="en-US">
              <a:solidFill>
                <a:srgbClr val="898989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E8848A3-4949-45B2-8CCF-B3ECA21DE740}"/>
              </a:ext>
            </a:extLst>
          </p:cNvPr>
          <p:cNvSpPr txBox="1">
            <a:spLocks/>
          </p:cNvSpPr>
          <p:nvPr/>
        </p:nvSpPr>
        <p:spPr>
          <a:xfrm>
            <a:off x="2827221" y="65881"/>
            <a:ext cx="777240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PROGRAM SPECIFIC OUTCOME</a:t>
            </a:r>
          </a:p>
        </p:txBody>
      </p:sp>
      <p:sp>
        <p:nvSpPr>
          <p:cNvPr id="8" name="Footer Placeholder 12">
            <a:extLst>
              <a:ext uri="{FF2B5EF4-FFF2-40B4-BE49-F238E27FC236}">
                <a16:creationId xmlns:a16="http://schemas.microsoft.com/office/drawing/2014/main" id="{6FA00553-970E-4494-8393-F217E60B3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0" y="6248401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en-US">
                <a:latin typeface="Times" panose="02020603050405020304" pitchFamily="18" charset="0"/>
                <a:cs typeface="Times" panose="02020603050405020304" pitchFamily="18" charset="0"/>
              </a:rPr>
              <a:t>Dheeraj   AOE0861    TQM     Unit 1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26A2084-274C-41B1-8454-558D0521AB91}"/>
              </a:ext>
            </a:extLst>
          </p:cNvPr>
          <p:cNvSpPr txBox="1">
            <a:spLocks/>
          </p:cNvSpPr>
          <p:nvPr/>
        </p:nvSpPr>
        <p:spPr bwMode="auto">
          <a:xfrm>
            <a:off x="1905000" y="1143001"/>
            <a:ext cx="8531506" cy="5081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On successful completion of graduation degree, The computer Science &amp; Engineering graduates will be able to:</a:t>
            </a:r>
          </a:p>
          <a:p>
            <a:pPr algn="just"/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 </a:t>
            </a:r>
          </a:p>
          <a:p>
            <a:pPr algn="just"/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PSO1: 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identify, analyze real world problems and design their ethical solutions using artificial intelligence, robotics, virtual/augmented reality, data analytics, block chain technology, and cloud computing.</a:t>
            </a:r>
          </a:p>
          <a:p>
            <a:pPr algn="just"/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 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/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PSO2: 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design and develop the hardware sensor devices and related interfacing software systems for solving complex engineering problems.</a:t>
            </a:r>
          </a:p>
          <a:p>
            <a:pPr algn="just"/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 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/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PSO 3: 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understand inter-disciplinary computing techniques and to apply them in the design of advanced computing.</a:t>
            </a:r>
          </a:p>
          <a:p>
            <a:pPr algn="just"/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 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/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PSO 4:</a:t>
            </a: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conduct investigation of complex problem with the help of technical, managerial, leadership qualities, and modern engineering tools provided by industry sponsored laboratories.</a:t>
            </a:r>
          </a:p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257477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F6887-4FFF-465E-9086-B27705E68717}" type="datetime1">
              <a:rPr lang="en-US" smtClean="0">
                <a:latin typeface="Times" panose="02020603050405020304" pitchFamily="18" charset="0"/>
                <a:cs typeface="Times" panose="02020603050405020304" pitchFamily="18" charset="0"/>
              </a:rPr>
              <a:t>1/6/2025</a:t>
            </a:fld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14800" y="6324600"/>
            <a:ext cx="5486400" cy="533400"/>
          </a:xfrm>
        </p:spPr>
        <p:txBody>
          <a:bodyPr/>
          <a:lstStyle/>
          <a:p>
            <a:r>
              <a:rPr lang="en-US" sz="2000">
                <a:latin typeface="Times" panose="02020603050405020304" pitchFamily="18" charset="0"/>
                <a:cs typeface="Times" panose="02020603050405020304" pitchFamily="18" charset="0"/>
              </a:rPr>
              <a:t>Dheeraj   AOE0861    TQM     Unit 1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Times" panose="02020603050405020304" pitchFamily="18" charset="0"/>
                <a:cs typeface="Times" panose="02020603050405020304" pitchFamily="18" charset="0"/>
              </a:rPr>
              <a:pPr/>
              <a:t>8</a:t>
            </a:fld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95600" y="97238"/>
            <a:ext cx="7772400" cy="6857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CO- PSO MAPPING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133600" y="1066803"/>
          <a:ext cx="8001000" cy="4876795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66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</a:t>
                      </a:r>
                      <a:endParaRPr lang="en-US" sz="22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PSO1</a:t>
                      </a:r>
                      <a:endParaRPr lang="en-US" sz="22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PSO2</a:t>
                      </a:r>
                      <a:endParaRPr lang="en-US" sz="22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PSO3</a:t>
                      </a:r>
                      <a:endParaRPr lang="en-US" sz="22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6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 u="none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AOE0861.1</a:t>
                      </a:r>
                      <a:endParaRPr lang="en-US" sz="2200" u="none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2200" u="none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2200" u="none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u="none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2200" u="none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6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AOE0861.2</a:t>
                      </a:r>
                      <a:endParaRPr lang="en-US" sz="22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22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22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22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6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AOE0861.3</a:t>
                      </a:r>
                      <a:endParaRPr lang="en-US" sz="2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2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2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2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6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AOE0861.4</a:t>
                      </a:r>
                      <a:endParaRPr lang="en-US" sz="22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22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22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22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66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AOE0861.5</a:t>
                      </a:r>
                      <a:endParaRPr lang="en-US" sz="22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22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22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22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66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Avg</a:t>
                      </a:r>
                      <a:endParaRPr lang="en-US" sz="22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220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2.2</a:t>
                      </a:r>
                      <a:endParaRPr lang="en-US" sz="22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2.8</a:t>
                      </a:r>
                      <a:endParaRPr lang="en-US" sz="2200" dirty="0">
                        <a:latin typeface="Times" panose="02020603050405020304" pitchFamily="18" charset="0"/>
                        <a:ea typeface="Calibri"/>
                        <a:cs typeface="Times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>
            <a:extLst>
              <a:ext uri="{FF2B5EF4-FFF2-40B4-BE49-F238E27FC236}">
                <a16:creationId xmlns:a16="http://schemas.microsoft.com/office/drawing/2014/main" id="{5B1A7B65-C597-49B6-A05A-EDB96458B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2344" y="1143000"/>
            <a:ext cx="8554656" cy="5081587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endParaRPr lang="en-US" altLang="en-US" sz="2200" dirty="0"/>
          </a:p>
          <a:p>
            <a:pPr eaLnBrk="1" hangingPunct="1"/>
            <a:endParaRPr lang="en-US" altLang="en-US" sz="2200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200" dirty="0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8BBE5-2643-4F5D-9408-C65C8A01CF1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DFC04B8-9B6D-4C52-BD98-D50D8A9157E7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B4067-E2E4-4311-8E0F-C9B41D374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DB4F6E4-3803-42DB-B2BF-0D92B52FBCDF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E8848A3-4949-45B2-8CCF-B3ECA21DE740}"/>
              </a:ext>
            </a:extLst>
          </p:cNvPr>
          <p:cNvSpPr txBox="1">
            <a:spLocks/>
          </p:cNvSpPr>
          <p:nvPr/>
        </p:nvSpPr>
        <p:spPr>
          <a:xfrm>
            <a:off x="2895600" y="-65314"/>
            <a:ext cx="7772400" cy="6858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Program Educational Objectives</a:t>
            </a:r>
          </a:p>
        </p:txBody>
      </p:sp>
      <p:sp>
        <p:nvSpPr>
          <p:cNvPr id="8" name="Footer Placeholder 12">
            <a:extLst>
              <a:ext uri="{FF2B5EF4-FFF2-40B4-BE49-F238E27FC236}">
                <a16:creationId xmlns:a16="http://schemas.microsoft.com/office/drawing/2014/main" id="{6FA00553-970E-4494-8393-F217E60B3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0" y="6248401"/>
            <a:ext cx="5029200" cy="365125"/>
          </a:xfrm>
        </p:spPr>
        <p:txBody>
          <a:bodyPr/>
          <a:lstStyle/>
          <a:p>
            <a:pPr>
              <a:defRPr/>
            </a:pPr>
            <a:r>
              <a:rPr lang="en-US"/>
              <a:t>Dheeraj   AOE0861    TQM     Unit 1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981200" y="849087"/>
            <a:ext cx="8582628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PEO 1: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have an excellent scientific and engineering breadth so as to comprehend, analyze, design and provide sustainable solutions for real-life problems using state-of-the-art technologies.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PEO 2: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have a successful career in industries, to pursue higher studies or to support entrepreneurial endeavors and to face the global challenges.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PEO 3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have an effective communication skills, professional attitude, ethical values and a desire to learn specific knowledge in emerging trends, technologies for research, innovation and product development and contribution to society.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PEO 4: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 have life-long learning for up-skilling and re-skilling for successful professional career as engineer, scientist, entrepreneur and bureaucrat for betterment of society.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99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90600"/>
            <a:ext cx="8229600" cy="4953000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Introduction </a:t>
            </a:r>
          </a:p>
          <a:p>
            <a:pPr algn="just"/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Need for quality </a:t>
            </a:r>
          </a:p>
          <a:p>
            <a:pPr algn="just"/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Definitions of quality </a:t>
            </a:r>
          </a:p>
          <a:p>
            <a:pPr algn="just"/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Basic concepts of TQM </a:t>
            </a:r>
          </a:p>
          <a:p>
            <a:pPr algn="just"/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TQM Framework </a:t>
            </a:r>
          </a:p>
          <a:p>
            <a:pPr algn="just"/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Barriers to TQM  </a:t>
            </a:r>
          </a:p>
          <a:p>
            <a:pPr algn="just"/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Customer focus  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Customer orientation 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Customer satisfaction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Customer complaints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" panose="02020603050405020304" pitchFamily="18" charset="0"/>
                <a:cs typeface="Times" panose="02020603050405020304" pitchFamily="18" charset="0"/>
              </a:rPr>
              <a:t>Customer retention.</a:t>
            </a:r>
            <a:endParaRPr lang="en-US" sz="24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62CD2-7983-41A3-A979-4C8CEB488332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95600" y="-65314"/>
            <a:ext cx="7772400" cy="6857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SYLLABUS OF UNIT 1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16"/>
            <a:ext cx="5029200" cy="365125"/>
          </a:xfrm>
        </p:spPr>
        <p:txBody>
          <a:bodyPr/>
          <a:lstStyle/>
          <a:p>
            <a:r>
              <a:rPr lang="en-US" sz="2000"/>
              <a:t>Dheeraj   AOE0861    TQM     Unit 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19311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D04D6-20BC-E11D-45EA-DF9B4817F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" panose="02020603050405020304" pitchFamily="18" charset="0"/>
                <a:cs typeface="Times" panose="02020603050405020304" pitchFamily="18" charset="0"/>
              </a:rPr>
              <a:t>QUALITY (INTRODUCTION)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1AC0C-A0BD-E9DA-03B6-20C93C575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Quality 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means “Performance upon expectations” and “fit for functions.”</a:t>
            </a:r>
          </a:p>
          <a:p>
            <a:pPr algn="l" fontAlgn="base"/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 fontAlgn="base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A product is said to be of good quality if it satisfies the customer requirements in terms of performance, grade, durability, appearance and intended use/purpose, etc.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14E8C-0ECD-C335-4A8E-2CB96C5C5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F35A-EA68-4AD7-9DBB-EE9AEDE0593A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27BB1-8B69-B788-70B1-EB653941B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A3C1E-F77E-1CDB-6930-D2FA299D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39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50CB-7E16-2819-0851-F331FC28B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9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" panose="02020603050405020304" pitchFamily="18" charset="0"/>
                <a:cs typeface="Times" panose="02020603050405020304" pitchFamily="18" charset="0"/>
              </a:rPr>
              <a:t>DEFINITIONS OF QUALTIY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A0FCC-DCB6-E092-3068-2B5D6A9BC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F379-A4AC-4ABC-AC44-4FA26A22328D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4DAD6-DE6F-48CC-927E-C4A447D0F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670B1-BA1E-F575-001D-15C0C3660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CF597A-E423-420A-A190-12B10605D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601" y="731837"/>
            <a:ext cx="8352798" cy="612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119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F442D-4627-0433-DD5D-5F5073F66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054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latin typeface="Times" panose="02020603050405020304" pitchFamily="18" charset="0"/>
                <a:cs typeface="Times" panose="02020603050405020304" pitchFamily="18" charset="0"/>
              </a:rPr>
              <a:t>NEED FOR QUALITY</a:t>
            </a:r>
            <a:r>
              <a:rPr lang="en-US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2013D-DF56-04BF-A59C-13C274332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417639"/>
            <a:ext cx="8534400" cy="4708525"/>
          </a:xfrm>
        </p:spPr>
        <p:txBody>
          <a:bodyPr/>
          <a:lstStyle/>
          <a:p>
            <a:pPr marL="0" indent="0" algn="l" fontAlgn="auto">
              <a:buNone/>
            </a:pPr>
            <a:endParaRPr lang="en-US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 fontAlgn="auto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Customer Expectations</a:t>
            </a:r>
          </a:p>
          <a:p>
            <a:pPr algn="l" fontAlgn="auto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Reputation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Meeting Standards</a:t>
            </a:r>
          </a:p>
          <a:p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Costs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9F614-A2C5-3A76-A926-B587EE53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29B3E-9A0A-4108-B723-BF6C59C39D7D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EB5A4-052D-0236-E57A-F8879FC71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7D266-F04A-3A03-8A2E-8D713843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428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B2E641-E938-F326-7DC6-24D7AA30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2641-8622-474E-A90C-2FEEA98F4FE9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0DB63-C201-11A7-023B-FEF74081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2DF5B-C268-13FB-0F3D-7E63A740C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2A3A03-757F-F9C2-B0F2-EBD4646553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67" r="7500" b="14445"/>
          <a:stretch/>
        </p:blipFill>
        <p:spPr>
          <a:xfrm>
            <a:off x="1679039" y="533400"/>
            <a:ext cx="8833922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503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324606-29F3-EB3D-CB5C-6FA566AB1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518F-9830-4D52-8B9F-AEE3D0B6B487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C1B850-AF50-0990-F16C-0B9394078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A3E39-5E6B-D61F-1F6C-8194A1C50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0F43D0-4DC4-7673-C120-2D4A73E245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99" r="10001" b="12963"/>
          <a:stretch/>
        </p:blipFill>
        <p:spPr>
          <a:xfrm>
            <a:off x="1535674" y="457200"/>
            <a:ext cx="9132327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010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8229600" cy="4800600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 sales, commerce and economics, a customer (sometimes known as a client, buyer, or purchaser) is the recipient of a good service, product or an idea - obtained from a seller, vendor, or supplier via a financial transaction or exchange for money or some other valuable consideration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 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external customer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of an organization is a customer who is not directly connected to that organization.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 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internal customer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is a customer who is directly connected to an organization, and is usually (but not necessarily) internal to the organization. 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Internal customers are usually stakeholders, employees, or shareholders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10C0-6308-4A5F-B042-6688FB958580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95600" y="-65314"/>
            <a:ext cx="7772400" cy="6857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CUSTOMER(CO1)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16"/>
            <a:ext cx="5638800" cy="365125"/>
          </a:xfrm>
        </p:spPr>
        <p:txBody>
          <a:bodyPr/>
          <a:lstStyle/>
          <a:p>
            <a:r>
              <a:rPr lang="en-US" sz="2000"/>
              <a:t>Dheeraj   AOE0861    TQM     Unit 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53736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8229600" cy="4800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1.  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How will you quantify the term quality?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2.    What do you understand by quality audit?</a:t>
            </a:r>
          </a:p>
          <a:p>
            <a:pPr lvl="0" algn="just"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3.    What is customer's expectations?</a:t>
            </a:r>
          </a:p>
          <a:p>
            <a:pPr marL="457200" indent="-457200" algn="just">
              <a:lnSpc>
                <a:spcPct val="150000"/>
              </a:lnSpc>
              <a:buAutoNum type="arabicPeriod" startAt="4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What is external customer ?</a:t>
            </a:r>
          </a:p>
          <a:p>
            <a:pPr marL="457200" indent="-457200" algn="just">
              <a:lnSpc>
                <a:spcPct val="150000"/>
              </a:lnSpc>
              <a:buFont typeface="Arial" pitchFamily="34" charset="0"/>
              <a:buAutoNum type="arabicPeriod" startAt="4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What is Internal customer?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3D5E5-2BD9-4CE3-BC4D-3359CFA2B6E8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95600" y="-65314"/>
            <a:ext cx="7772400" cy="6857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QUIZ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16"/>
            <a:ext cx="5029200" cy="365125"/>
          </a:xfrm>
        </p:spPr>
        <p:txBody>
          <a:bodyPr/>
          <a:lstStyle/>
          <a:p>
            <a:r>
              <a:rPr lang="en-US" sz="2000"/>
              <a:t>Dheeraj   AOE0861    TQM     Unit 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7458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CE01E-C62E-4D6D-9022-F64AD94306E2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95600" y="0"/>
            <a:ext cx="7772400" cy="9144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 OF TQM 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16"/>
            <a:ext cx="5029200" cy="365125"/>
          </a:xfrm>
        </p:spPr>
        <p:txBody>
          <a:bodyPr/>
          <a:lstStyle/>
          <a:p>
            <a:r>
              <a:rPr lang="en-US" sz="2000"/>
              <a:t>Dheeraj   AOE0861    TQM     Unit 1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83F488-FE05-84A8-212D-1D009B2C0B74}"/>
              </a:ext>
            </a:extLst>
          </p:cNvPr>
          <p:cNvSpPr txBox="1"/>
          <p:nvPr/>
        </p:nvSpPr>
        <p:spPr>
          <a:xfrm>
            <a:off x="944880" y="1441517"/>
            <a:ext cx="105054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latin typeface="Times" panose="02020603050405020304" pitchFamily="18" charset="0"/>
                <a:cs typeface="Times" panose="02020603050405020304" pitchFamily="18" charset="0"/>
              </a:rPr>
              <a:t>What is Total Quality Management (TQM)?</a:t>
            </a:r>
          </a:p>
          <a:p>
            <a:pPr algn="l"/>
            <a:endParaRPr lang="en-US" sz="28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Total Quality Management (TQM) is a management </a:t>
            </a:r>
            <a:r>
              <a:rPr lang="en-US" sz="2400" u="sng" dirty="0">
                <a:latin typeface="Times" panose="02020603050405020304" pitchFamily="18" charset="0"/>
                <a:cs typeface="Times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framework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 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It is based on the belief that an organization can build long-term success by having all its members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TQM focus on improving quality and, delivering </a:t>
            </a:r>
            <a:r>
              <a:rPr lang="en-US" sz="2400" u="sng" dirty="0">
                <a:latin typeface="Times" panose="02020603050405020304" pitchFamily="18" charset="0"/>
                <a:cs typeface="Times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customer satisfaction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used to simplify </a:t>
            </a:r>
            <a:r>
              <a:rPr lang="en-US" sz="2400" u="sng" dirty="0">
                <a:latin typeface="Times" panose="02020603050405020304" pitchFamily="18" charset="0"/>
                <a:cs typeface="Times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supply chain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 management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detect, reduce or remove errors.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u="sng" dirty="0">
                <a:latin typeface="Times" panose="02020603050405020304" pitchFamily="18" charset="0"/>
                <a:cs typeface="Times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Kaizen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41818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774D5B6-D936-F57A-42CD-02B20AE1FC0D}"/>
              </a:ext>
            </a:extLst>
          </p:cNvPr>
          <p:cNvSpPr txBox="1">
            <a:spLocks/>
          </p:cNvSpPr>
          <p:nvPr/>
        </p:nvSpPr>
        <p:spPr>
          <a:xfrm>
            <a:off x="2895600" y="0"/>
            <a:ext cx="7772400" cy="9144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 OF TQM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53DA83-3A22-1037-BCF9-2B9B18AA0C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658" y="1239520"/>
            <a:ext cx="8619102" cy="478166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2A17F-9504-5139-712C-A56CD5B5F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A7189-92AF-4FCC-ABA0-2F0F05506013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B55C0-599A-BB84-CE5C-9236C9F95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7918A-F329-7CE6-8847-06110D77C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CFD1-9BD3-4B05-9986-EB0069ED3E4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62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F9970-BF55-DA8A-CACB-9E24BE15C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15DC9-BBA9-4240-953D-2BAB00750AC3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68AD7A-17C8-46BB-232F-C7A948BA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FAF8C-BEF1-CEA8-8C1C-73221240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DA6675-6BCA-056D-0672-1073020F099C}"/>
              </a:ext>
            </a:extLst>
          </p:cNvPr>
          <p:cNvSpPr txBox="1">
            <a:spLocks/>
          </p:cNvSpPr>
          <p:nvPr/>
        </p:nvSpPr>
        <p:spPr>
          <a:xfrm>
            <a:off x="2895600" y="0"/>
            <a:ext cx="7772400" cy="9144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 OF TQM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C56CB9-8484-5953-E25A-8FE607CEB84D}"/>
              </a:ext>
            </a:extLst>
          </p:cNvPr>
          <p:cNvSpPr txBox="1"/>
          <p:nvPr/>
        </p:nvSpPr>
        <p:spPr>
          <a:xfrm>
            <a:off x="838200" y="1017456"/>
            <a:ext cx="1066292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latin typeface="Times" panose="02020603050405020304" pitchFamily="18" charset="0"/>
                <a:cs typeface="Times" panose="02020603050405020304" pitchFamily="18" charset="0"/>
              </a:rPr>
              <a:t>Principles of TQM</a:t>
            </a:r>
          </a:p>
          <a:p>
            <a:pPr algn="l"/>
            <a:endParaRPr lang="en-US" sz="22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The eight guiding principles that TQM uses to improve quality include the following:</a:t>
            </a:r>
          </a:p>
          <a:p>
            <a:pPr algn="l"/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Customer focus</a:t>
            </a:r>
          </a:p>
          <a:p>
            <a:pPr algn="l">
              <a:buFont typeface="+mj-lt"/>
              <a:buAutoNum type="arabicPeriod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Employee involvement</a:t>
            </a:r>
          </a:p>
          <a:p>
            <a:pPr algn="l">
              <a:buFont typeface="+mj-lt"/>
              <a:buAutoNum type="arabicPeriod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Focus on process</a:t>
            </a:r>
          </a:p>
          <a:p>
            <a:pPr algn="l">
              <a:buFont typeface="+mj-lt"/>
              <a:buAutoNum type="arabicPeriod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Integrated business systems</a:t>
            </a:r>
          </a:p>
          <a:p>
            <a:pPr algn="l">
              <a:buFont typeface="+mj-lt"/>
              <a:buAutoNum type="arabicPeriod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Strategic and systematic approach</a:t>
            </a:r>
          </a:p>
          <a:p>
            <a:pPr algn="l">
              <a:buFont typeface="+mj-lt"/>
              <a:buAutoNum type="arabicPeriod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Continual improvement</a:t>
            </a:r>
          </a:p>
          <a:p>
            <a:pPr algn="l">
              <a:buFont typeface="+mj-lt"/>
              <a:buAutoNum type="arabicPeriod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Focus on data</a:t>
            </a:r>
          </a:p>
          <a:p>
            <a:pPr algn="l">
              <a:buFont typeface="+mj-lt"/>
              <a:buAutoNum type="arabicPeriod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Communication</a:t>
            </a:r>
          </a:p>
          <a:p>
            <a:pPr algn="l"/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3211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D067D-4F17-7BCC-2380-B5516A9A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7662F95-2838-43B5-ABBD-386A89BF3DD6}"/>
              </a:ext>
            </a:extLst>
          </p:cNvPr>
          <p:cNvSpPr txBox="1">
            <a:spLocks/>
          </p:cNvSpPr>
          <p:nvPr/>
        </p:nvSpPr>
        <p:spPr>
          <a:xfrm>
            <a:off x="2895600" y="0"/>
            <a:ext cx="7772400" cy="9144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 OF TQM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4CEF65-FFB5-755C-BEB2-239BF916F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230" y="1004548"/>
            <a:ext cx="9783540" cy="516257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CE9EC-816B-68B4-3A46-25008EC8E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A0AF-CAD5-46A9-B6DF-09BE322235FF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1230F-9BA6-38DD-004E-71B32FBB0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68E79-1001-3D6A-ADFE-17DF8BF66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CFD1-9BD3-4B05-9986-EB0069ED3E4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14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F9970-BF55-DA8A-CACB-9E24BE15C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EC5A-19E2-42C7-A7BC-0974B72E1F6B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68AD7A-17C8-46BB-232F-C7A948BA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FAF8C-BEF1-CEA8-8C1C-73221240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DA6675-6BCA-056D-0672-1073020F099C}"/>
              </a:ext>
            </a:extLst>
          </p:cNvPr>
          <p:cNvSpPr txBox="1">
            <a:spLocks/>
          </p:cNvSpPr>
          <p:nvPr/>
        </p:nvSpPr>
        <p:spPr>
          <a:xfrm>
            <a:off x="2895600" y="0"/>
            <a:ext cx="7772400" cy="9144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 OF TQM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F85706-3854-EFFE-6547-B186FC5EBAC1}"/>
              </a:ext>
            </a:extLst>
          </p:cNvPr>
          <p:cNvSpPr txBox="1"/>
          <p:nvPr/>
        </p:nvSpPr>
        <p:spPr>
          <a:xfrm>
            <a:off x="1709057" y="711499"/>
            <a:ext cx="8458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/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EE1975-4A9D-1D18-CA8B-5402A0526C5B}"/>
              </a:ext>
            </a:extLst>
          </p:cNvPr>
          <p:cNvSpPr txBox="1"/>
          <p:nvPr/>
        </p:nvSpPr>
        <p:spPr>
          <a:xfrm>
            <a:off x="1524000" y="1158240"/>
            <a:ext cx="933704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dirty="0">
                <a:latin typeface="Times" panose="02020603050405020304" pitchFamily="18" charset="0"/>
                <a:cs typeface="Times" panose="02020603050405020304" pitchFamily="18" charset="0"/>
              </a:rPr>
              <a:t>Implementation principles and processes</a:t>
            </a:r>
          </a:p>
          <a:p>
            <a:pPr algn="l"/>
            <a:endParaRPr lang="en-US" sz="24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The general process of implementing TQM follows these steps:</a:t>
            </a:r>
          </a:p>
          <a:p>
            <a:pPr algn="just"/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The organization assesses its current culture and quality management systems and identifies core values.</a:t>
            </a:r>
          </a:p>
          <a:p>
            <a:pPr algn="just">
              <a:buFont typeface="+mj-lt"/>
              <a:buAutoNum type="arabicPeriod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Management decides to commit to TQM and develops a TQM master plan.</a:t>
            </a:r>
          </a:p>
          <a:p>
            <a:pPr algn="just">
              <a:buFont typeface="+mj-lt"/>
              <a:buAutoNum type="arabicPeriod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The organization identifies and prioritizes customer demands.</a:t>
            </a:r>
          </a:p>
          <a:p>
            <a:pPr algn="just">
              <a:buFont typeface="+mj-lt"/>
              <a:buAutoNum type="arabicPeriod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Management maps the processes needed to meet customer needs.</a:t>
            </a:r>
          </a:p>
          <a:p>
            <a:pPr algn="just">
              <a:buFont typeface="+mj-lt"/>
              <a:buAutoNum type="arabicPeriod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Management creates a team to oversee efforts to improve processes.</a:t>
            </a:r>
          </a:p>
        </p:txBody>
      </p:sp>
    </p:spTree>
    <p:extLst>
      <p:ext uri="{BB962C8B-B14F-4D97-AF65-F5344CB8AC3E}">
        <p14:creationId xmlns:p14="http://schemas.microsoft.com/office/powerpoint/2010/main" val="3603280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F9970-BF55-DA8A-CACB-9E24BE15C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19C13-0FB3-41BE-8C7A-41F1280E0EB0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68AD7A-17C8-46BB-232F-C7A948BA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FAF8C-BEF1-CEA8-8C1C-73221240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DA6675-6BCA-056D-0672-1073020F099C}"/>
              </a:ext>
            </a:extLst>
          </p:cNvPr>
          <p:cNvSpPr txBox="1">
            <a:spLocks/>
          </p:cNvSpPr>
          <p:nvPr/>
        </p:nvSpPr>
        <p:spPr>
          <a:xfrm>
            <a:off x="2895600" y="0"/>
            <a:ext cx="7772400" cy="9144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 OF TQM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F85706-3854-EFFE-6547-B186FC5EBAC1}"/>
              </a:ext>
            </a:extLst>
          </p:cNvPr>
          <p:cNvSpPr txBox="1"/>
          <p:nvPr/>
        </p:nvSpPr>
        <p:spPr>
          <a:xfrm>
            <a:off x="1709057" y="711499"/>
            <a:ext cx="8458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/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0F8488-5F0C-278D-A28C-1313AE253B9D}"/>
              </a:ext>
            </a:extLst>
          </p:cNvPr>
          <p:cNvSpPr txBox="1"/>
          <p:nvPr/>
        </p:nvSpPr>
        <p:spPr>
          <a:xfrm>
            <a:off x="1643743" y="933325"/>
            <a:ext cx="88392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6. Management starts contributing to the process by providing additional planning and training.</a:t>
            </a:r>
          </a:p>
          <a:p>
            <a:pPr algn="just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7. Management creates a process to standardize daily process management.</a:t>
            </a:r>
          </a:p>
          <a:p>
            <a:pPr algn="just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8.Management continually asks employees for feedback.</a:t>
            </a:r>
          </a:p>
          <a:p>
            <a:pPr algn="just"/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Implementing TQM is a long-term commitment, and the length of time needed for planning, development and implementation varies by organization.</a:t>
            </a:r>
          </a:p>
          <a:p>
            <a:pPr algn="l">
              <a:buFont typeface="+mj-lt"/>
              <a:buAutoNum type="arabicPeriod"/>
            </a:pPr>
            <a:endParaRPr lang="en-US" dirty="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5062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F9970-BF55-DA8A-CACB-9E24BE15C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C955-33D0-4D0D-B6D8-DFB819204917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68AD7A-17C8-46BB-232F-C7A948BA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FAF8C-BEF1-CEA8-8C1C-73221240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DA6675-6BCA-056D-0672-1073020F099C}"/>
              </a:ext>
            </a:extLst>
          </p:cNvPr>
          <p:cNvSpPr txBox="1">
            <a:spLocks/>
          </p:cNvSpPr>
          <p:nvPr/>
        </p:nvSpPr>
        <p:spPr>
          <a:xfrm>
            <a:off x="2895600" y="0"/>
            <a:ext cx="7772400" cy="9144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 OF TQM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F85706-3854-EFFE-6547-B186FC5EBAC1}"/>
              </a:ext>
            </a:extLst>
          </p:cNvPr>
          <p:cNvSpPr txBox="1"/>
          <p:nvPr/>
        </p:nvSpPr>
        <p:spPr>
          <a:xfrm>
            <a:off x="1709057" y="711499"/>
            <a:ext cx="8458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/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9ADA08-4CAF-42F8-4BD9-7D77F580E3DA}"/>
              </a:ext>
            </a:extLst>
          </p:cNvPr>
          <p:cNvSpPr txBox="1"/>
          <p:nvPr/>
        </p:nvSpPr>
        <p:spPr>
          <a:xfrm>
            <a:off x="1524001" y="942924"/>
            <a:ext cx="9187543" cy="4303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22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/>
            <a:endParaRPr lang="en-US" sz="22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/>
            <a:r>
              <a:rPr lang="en-US" sz="3200" b="1" dirty="0">
                <a:latin typeface="Times" panose="02020603050405020304" pitchFamily="18" charset="0"/>
                <a:cs typeface="Times" panose="02020603050405020304" pitchFamily="18" charset="0"/>
              </a:rPr>
              <a:t>Benefits of TQM</a:t>
            </a:r>
          </a:p>
          <a:p>
            <a:pPr algn="l"/>
            <a:endParaRPr lang="en-US" sz="22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TQM offers the following benefits: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Less product defects 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Satisfied customers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Lower costs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Well-defined cultural values</a:t>
            </a:r>
            <a:endParaRPr lang="en-US" sz="2400" dirty="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9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F9970-BF55-DA8A-CACB-9E24BE15C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CD59E-5117-471E-B9AC-A7C21EE673DB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68AD7A-17C8-46BB-232F-C7A948BA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FAF8C-BEF1-CEA8-8C1C-73221240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DA6675-6BCA-056D-0672-1073020F099C}"/>
              </a:ext>
            </a:extLst>
          </p:cNvPr>
          <p:cNvSpPr txBox="1">
            <a:spLocks/>
          </p:cNvSpPr>
          <p:nvPr/>
        </p:nvSpPr>
        <p:spPr>
          <a:xfrm>
            <a:off x="2895600" y="0"/>
            <a:ext cx="7772400" cy="9144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 OF TQM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F85706-3854-EFFE-6547-B186FC5EBAC1}"/>
              </a:ext>
            </a:extLst>
          </p:cNvPr>
          <p:cNvSpPr txBox="1"/>
          <p:nvPr/>
        </p:nvSpPr>
        <p:spPr>
          <a:xfrm>
            <a:off x="1709057" y="711499"/>
            <a:ext cx="8458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/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1AA782-CA02-C7A7-26EA-CD1AD4F89925}"/>
              </a:ext>
            </a:extLst>
          </p:cNvPr>
          <p:cNvSpPr txBox="1"/>
          <p:nvPr/>
        </p:nvSpPr>
        <p:spPr>
          <a:xfrm>
            <a:off x="1807028" y="1323135"/>
            <a:ext cx="8577943" cy="4211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dirty="0">
                <a:latin typeface="Times" panose="02020603050405020304" pitchFamily="18" charset="0"/>
                <a:cs typeface="Times" panose="02020603050405020304" pitchFamily="18" charset="0"/>
              </a:rPr>
              <a:t>Disadvantages of TQM</a:t>
            </a:r>
          </a:p>
          <a:p>
            <a:pPr algn="l"/>
            <a:endParaRPr lang="en-US" sz="24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The downsides of TQM include the following: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Planning and resources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Companywide commitment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Added costs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Time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Partial efforts</a:t>
            </a:r>
          </a:p>
        </p:txBody>
      </p:sp>
    </p:spTree>
    <p:extLst>
      <p:ext uri="{BB962C8B-B14F-4D97-AF65-F5344CB8AC3E}">
        <p14:creationId xmlns:p14="http://schemas.microsoft.com/office/powerpoint/2010/main" val="13443433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5343" y="-65315"/>
            <a:ext cx="7620000" cy="674916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 OF TQM </a:t>
            </a:r>
            <a:endParaRPr lang="en-US" sz="24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853E8-0C33-4916-AF64-49414F2F22FD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774466-3421-A9B8-67EE-E1114BE58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344" y="670480"/>
            <a:ext cx="6589173" cy="57962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8AE9F-4907-F92C-3316-7A184F795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AB50C8-C17B-AF26-D197-9040A5874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D037-F1F8-46CC-A2A5-B71E0648FA4C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CD33EF-BCB8-C2A1-0C1D-5134AAE21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7BC34-3196-2683-6AC3-7AD038200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0B8EFD-C36D-D2DA-D795-35121D7F9542}"/>
              </a:ext>
            </a:extLst>
          </p:cNvPr>
          <p:cNvSpPr txBox="1"/>
          <p:nvPr/>
        </p:nvSpPr>
        <p:spPr>
          <a:xfrm>
            <a:off x="3484880" y="414123"/>
            <a:ext cx="4439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" panose="02020603050405020304" pitchFamily="18" charset="0"/>
                <a:cs typeface="Times" panose="02020603050405020304" pitchFamily="18" charset="0"/>
              </a:rPr>
              <a:t>BARRIERS TO TQM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0FEFC8-6B42-1F96-7603-719433C3A0D7}"/>
              </a:ext>
            </a:extLst>
          </p:cNvPr>
          <p:cNvSpPr txBox="1"/>
          <p:nvPr/>
        </p:nvSpPr>
        <p:spPr>
          <a:xfrm>
            <a:off x="2017901" y="1219200"/>
            <a:ext cx="8520281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Implementation of Quality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Competitive Markets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Bad attitudes of Management/infallibility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Lack of leadership for quality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Deficiency of cultural dynamism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Inadequate resources for TQM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Lack of customer focus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Lack of effective measurement of quality improvement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Poor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Lack of Management commitment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Resistance to the work force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Lack of proper training/Inadequate human resource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32817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523038-8631-1DF5-D743-02DB8F8EE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9C081-4445-4B73-8126-0215643A1805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BA6ACF-E80D-FB3F-CB42-A10F05B09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D5524-937F-BB69-F2AA-A5E254AFE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F367B1-49F4-3C0B-17BE-D101C46CC0D6}"/>
              </a:ext>
            </a:extLst>
          </p:cNvPr>
          <p:cNvSpPr txBox="1"/>
          <p:nvPr/>
        </p:nvSpPr>
        <p:spPr>
          <a:xfrm>
            <a:off x="1600200" y="659940"/>
            <a:ext cx="9067800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00000"/>
              </a:solidFill>
              <a:latin typeface="KievIt"/>
            </a:endParaRPr>
          </a:p>
          <a:p>
            <a:pPr marL="342900" indent="-342900" algn="just" rtl="0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Having a customer focus ensures that your customer receives the benefit of a product or service you are offering. </a:t>
            </a:r>
          </a:p>
          <a:p>
            <a:pPr marL="342900" indent="-342900" algn="just" rtl="0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If your product fulfills a need and lasts as long or longer than expected, customers know that they have spent their money on a quality product.</a:t>
            </a:r>
          </a:p>
          <a:p>
            <a:pPr algn="just" rtl="0"/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 rtl="0"/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To implement this: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Research and understand your customers’ needs and expectations.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Align your organization’s objectives with customer needs.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Communicate with customers, measure satisfaction, and use the results to find ways to 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improve processes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Manage customer relationships.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Find a balance for satisfying customers and other interested parties (such as owners, employees, suppliers, and investors).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45EB69-B0D4-0EEF-4846-2723CFC15B10}"/>
              </a:ext>
            </a:extLst>
          </p:cNvPr>
          <p:cNvSpPr txBox="1"/>
          <p:nvPr/>
        </p:nvSpPr>
        <p:spPr>
          <a:xfrm>
            <a:off x="4077159" y="99954"/>
            <a:ext cx="4042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" panose="02020603050405020304" pitchFamily="18" charset="0"/>
                <a:cs typeface="Times" panose="02020603050405020304" pitchFamily="18" charset="0"/>
              </a:rPr>
              <a:t>CUSTOMER FOCUS</a:t>
            </a:r>
          </a:p>
        </p:txBody>
      </p:sp>
    </p:spTree>
    <p:extLst>
      <p:ext uri="{BB962C8B-B14F-4D97-AF65-F5344CB8AC3E}">
        <p14:creationId xmlns:p14="http://schemas.microsoft.com/office/powerpoint/2010/main" val="20470983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619B22-CFC3-6330-355A-01AA95136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735DC-4460-40F5-97A9-A54CEE091EA4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8A446D-116C-A1B8-7C8A-178FFF84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9FA52-AF87-6993-F565-111B9B4C2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21A6AD-2E4D-EE29-7F80-2D849A70A6C6}"/>
              </a:ext>
            </a:extLst>
          </p:cNvPr>
          <p:cNvSpPr txBox="1"/>
          <p:nvPr/>
        </p:nvSpPr>
        <p:spPr>
          <a:xfrm>
            <a:off x="1600200" y="1219201"/>
            <a:ext cx="8991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Customer orientation is a business approach that puts the needs of the customer over the needs of the business.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Customer-oriented companies understand that the business won't thrive unless it consistently improves </a:t>
            </a:r>
            <a:r>
              <a:rPr lang="en-US" sz="2400" u="sng" dirty="0">
                <a:latin typeface="Times" panose="02020603050405020304" pitchFamily="18" charset="0"/>
                <a:cs typeface="Times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customer focus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. Building a customer-oriented culture means recognizing that customers are the business.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Customer orientation is a business approach in which a company solves for the customer first. For customer service, this means your support team is focused on meeting customer needs.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2D6F78-170C-91A9-9B91-204B70EBA77A}"/>
              </a:ext>
            </a:extLst>
          </p:cNvPr>
          <p:cNvSpPr txBox="1"/>
          <p:nvPr/>
        </p:nvSpPr>
        <p:spPr>
          <a:xfrm>
            <a:off x="3316745" y="220288"/>
            <a:ext cx="55585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" panose="02020603050405020304" pitchFamily="18" charset="0"/>
                <a:cs typeface="Times" panose="02020603050405020304" pitchFamily="18" charset="0"/>
              </a:rPr>
              <a:t>CUSTOMER ORIENTATION</a:t>
            </a:r>
          </a:p>
        </p:txBody>
      </p:sp>
    </p:spTree>
    <p:extLst>
      <p:ext uri="{BB962C8B-B14F-4D97-AF65-F5344CB8AC3E}">
        <p14:creationId xmlns:p14="http://schemas.microsoft.com/office/powerpoint/2010/main" val="37325601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1B859-E7B0-6B92-6AC7-C6CF6838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CA9BA-3196-426A-B1D5-A11EC64E23B1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A2E299-58F4-1288-A38E-5FC4552DE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7AA6E-0DFD-D8FC-FC30-DEDD308AA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20769D-0934-4E23-C1CF-3D6C6BB98E5C}"/>
              </a:ext>
            </a:extLst>
          </p:cNvPr>
          <p:cNvSpPr txBox="1"/>
          <p:nvPr/>
        </p:nvSpPr>
        <p:spPr>
          <a:xfrm>
            <a:off x="1593850" y="797510"/>
            <a:ext cx="8801100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800" b="1" dirty="0">
                <a:latin typeface="Times" panose="02020603050405020304" pitchFamily="18" charset="0"/>
                <a:cs typeface="Times" panose="02020603050405020304" pitchFamily="18" charset="0"/>
              </a:rPr>
              <a:t>How To Implement Customer Orientation</a:t>
            </a:r>
          </a:p>
          <a:p>
            <a:pPr algn="l" fontAlgn="base"/>
            <a:endParaRPr lang="en-US" sz="2400" dirty="0">
              <a:solidFill>
                <a:srgbClr val="213343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 fontAlgn="base">
              <a:lnSpc>
                <a:spcPct val="150000"/>
              </a:lnSpc>
            </a:pPr>
            <a:r>
              <a:rPr lang="en-US" sz="2400" dirty="0">
                <a:solidFill>
                  <a:srgbClr val="213343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1. 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Recruit the right people.</a:t>
            </a:r>
          </a:p>
          <a:p>
            <a:pPr algn="just" fontAlgn="base">
              <a:lnSpc>
                <a:spcPct val="15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2. Value your employees.</a:t>
            </a:r>
          </a:p>
          <a:p>
            <a:pPr algn="just" fontAlgn="base">
              <a:lnSpc>
                <a:spcPct val="15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3. Provide excellent training.</a:t>
            </a:r>
          </a:p>
          <a:p>
            <a:pPr algn="just" fontAlgn="base">
              <a:lnSpc>
                <a:spcPct val="15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4. Lead by example.</a:t>
            </a:r>
          </a:p>
          <a:p>
            <a:pPr algn="just" fontAlgn="base">
              <a:lnSpc>
                <a:spcPct val="15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5. Understand the customer.</a:t>
            </a:r>
          </a:p>
          <a:p>
            <a:pPr algn="just" fontAlgn="base">
              <a:lnSpc>
                <a:spcPct val="15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6. Iterate your process.</a:t>
            </a:r>
          </a:p>
          <a:p>
            <a:pPr algn="just" fontAlgn="base">
              <a:lnSpc>
                <a:spcPct val="15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7. Empower your staff.</a:t>
            </a:r>
          </a:p>
          <a:p>
            <a:pPr algn="just" fontAlgn="base">
              <a:lnSpc>
                <a:spcPct val="15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8. Receive feedback.</a:t>
            </a:r>
          </a:p>
          <a:p>
            <a:pPr fontAlgn="base"/>
            <a:endParaRPr lang="en-US" sz="2400" b="1" dirty="0">
              <a:latin typeface="Lexend Deca"/>
            </a:endParaRPr>
          </a:p>
          <a:p>
            <a:pPr algn="l" fontAlgn="base"/>
            <a:endParaRPr lang="en-US" sz="2400" b="1" dirty="0">
              <a:latin typeface="Lexend Deca"/>
            </a:endParaRPr>
          </a:p>
          <a:p>
            <a:pPr fontAlgn="base"/>
            <a:endParaRPr lang="en-US" sz="2400" b="1" dirty="0">
              <a:latin typeface="Lexend Deca"/>
            </a:endParaRPr>
          </a:p>
          <a:p>
            <a:pPr algn="l" fontAlgn="base"/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500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A33C93-83CF-A792-7FBE-8ACDB6649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6B02A-EF42-43E7-9A08-EFB4BB45EAD3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0F4CC5-0A0A-C69E-E7B4-74DD889D3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54F45-F63D-93DF-0C8A-BF76AFF0E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D15F62-8ADC-4B21-3621-6F15F97D6807}"/>
              </a:ext>
            </a:extLst>
          </p:cNvPr>
          <p:cNvSpPr txBox="1"/>
          <p:nvPr/>
        </p:nvSpPr>
        <p:spPr>
          <a:xfrm>
            <a:off x="1036320" y="136525"/>
            <a:ext cx="10119360" cy="660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cap="all" dirty="0">
                <a:latin typeface="Times" panose="02020603050405020304" pitchFamily="18" charset="0"/>
                <a:cs typeface="Times" panose="02020603050405020304" pitchFamily="18" charset="0"/>
              </a:rPr>
              <a:t>WHAT IS CUSTOMER SATISFACTION?</a:t>
            </a:r>
          </a:p>
          <a:p>
            <a:pPr algn="ctr"/>
            <a:endParaRPr lang="en-US" sz="900" dirty="0">
              <a:solidFill>
                <a:srgbClr val="090909"/>
              </a:solidFill>
              <a:latin typeface="Helvetica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Customer satisfaction is defined as a measurement that determines how happy customers are with a company’s products, services, and capabilities.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Customer satisfaction information, including surveys and ratings, can help a company determine how to best improve or changes its products and services.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Within organizations, customer satisfaction ratings can have powerful effects.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They focus employees on the importance of fulfilling customers’ expectations.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When these ratings dip, they warn of problems that can affect sales and profitability.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When a brand has loyal customers, it gains positive word-of-mouth marketing, which is both free and highly effective.</a:t>
            </a:r>
            <a:br>
              <a:rPr lang="en-US" sz="2200" dirty="0"/>
            </a:b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7448097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889B8B-8777-CAF2-6086-AF7DEC476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560" y="862782"/>
            <a:ext cx="10026629" cy="585869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AF9BA1-A9BC-3331-3B4D-B7441412D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1D1BD-F611-4521-A8A4-3C71139F019E}" type="datetime1">
              <a:rPr lang="en-US" smtClean="0"/>
              <a:t>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0352E2-157F-7974-1843-30BAA1577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13E7F2-F8C2-0E74-B685-3BE9103E1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1CFD1-9BD3-4B05-9986-EB0069ED3E4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331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325D3E-7D60-857C-C360-AA1DFAC37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EBF16-62DB-44B1-B0CE-846160BF0A44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D2608-43F7-5E5F-08F2-8B5F3211D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2B0BB-B28D-E604-A082-B247B54B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4B9AC-D917-9FE3-7F30-843FD361F6C0}"/>
              </a:ext>
            </a:extLst>
          </p:cNvPr>
          <p:cNvSpPr txBox="1"/>
          <p:nvPr/>
        </p:nvSpPr>
        <p:spPr>
          <a:xfrm>
            <a:off x="1524000" y="762001"/>
            <a:ext cx="8991600" cy="4642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latin typeface="Times" panose="02020603050405020304" pitchFamily="18" charset="0"/>
                <a:cs typeface="Times" panose="02020603050405020304" pitchFamily="18" charset="0"/>
              </a:rPr>
              <a:t>APPROACHES OF CUSTOMER SATISFACTION</a:t>
            </a:r>
          </a:p>
          <a:p>
            <a:pPr algn="l"/>
            <a:endParaRPr lang="en-US" sz="20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Regular customer feedback system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Market research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New or last customer survey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Focus groups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Customer visits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Front line personnel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Critical incidents technique</a:t>
            </a:r>
          </a:p>
        </p:txBody>
      </p:sp>
    </p:spTree>
    <p:extLst>
      <p:ext uri="{BB962C8B-B14F-4D97-AF65-F5344CB8AC3E}">
        <p14:creationId xmlns:p14="http://schemas.microsoft.com/office/powerpoint/2010/main" val="7703417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83575E-3871-C616-E3EC-2725FA7D5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05183-078B-4F1B-A36E-52E92A4E2AE7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F0581-26FB-73F0-1841-9B4445A7E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71D58-FA97-CF0A-315B-2C3B692A8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611F99-A8B3-D699-7DBC-817956FF9790}"/>
              </a:ext>
            </a:extLst>
          </p:cNvPr>
          <p:cNvSpPr txBox="1"/>
          <p:nvPr/>
        </p:nvSpPr>
        <p:spPr>
          <a:xfrm>
            <a:off x="1107440" y="136526"/>
            <a:ext cx="10353040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" panose="02020603050405020304" pitchFamily="18" charset="0"/>
                <a:cs typeface="Times" panose="02020603050405020304" pitchFamily="18" charset="0"/>
              </a:rPr>
              <a:t>CUSTOMER COMPLAINTS    </a:t>
            </a:r>
          </a:p>
          <a:p>
            <a:pPr algn="l"/>
            <a:endParaRPr lang="en-US" sz="900" b="1" dirty="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Customer complaints are negative pieces of feedback consumers provide about a company’s product, service, or support experience.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Customers can privately submit this type of feedback by completing a survey or emailing the support team.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They can also publicly submit complaints via social media reviews, community forums, or online review sites.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Below are a few common customer complaints you can expect your service team to encounter.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Long wait times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Automated phone loops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Unsupportive agents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Inconsistent information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 Inconvenient customer service hours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Lack of self-service options</a:t>
            </a:r>
          </a:p>
          <a:p>
            <a:endParaRPr lang="en-US" sz="2400" b="1" dirty="0">
              <a:solidFill>
                <a:srgbClr val="03363D"/>
              </a:solidFill>
              <a:latin typeface="sharp sans"/>
            </a:endParaRPr>
          </a:p>
          <a:p>
            <a:pPr algn="l"/>
            <a:endParaRPr lang="en-US" sz="2400" dirty="0">
              <a:latin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3186861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31F6B8-C86E-3C2E-609F-13D1A7135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00C11-D2F9-4746-A9FD-047F75BF3033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F6C8A-2100-CF09-65C4-160D56D4E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95834-8B12-D9C6-09F4-CFEF092CF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C26E4-0199-3F2B-F646-B1BC486DA1C5}"/>
              </a:ext>
            </a:extLst>
          </p:cNvPr>
          <p:cNvSpPr txBox="1"/>
          <p:nvPr/>
        </p:nvSpPr>
        <p:spPr>
          <a:xfrm>
            <a:off x="2621554" y="136525"/>
            <a:ext cx="69488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dirty="0">
                <a:latin typeface="Times" panose="02020603050405020304" pitchFamily="18" charset="0"/>
                <a:cs typeface="Times" panose="02020603050405020304" pitchFamily="18" charset="0"/>
              </a:rPr>
              <a:t>How to handle customer complaints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82E264-BFD8-4EE4-67E9-14BA4D3B0260}"/>
              </a:ext>
            </a:extLst>
          </p:cNvPr>
          <p:cNvSpPr txBox="1"/>
          <p:nvPr/>
        </p:nvSpPr>
        <p:spPr>
          <a:xfrm>
            <a:off x="1554755" y="1136810"/>
            <a:ext cx="9082489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Review key customer details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Check common complaints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Understand the customer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Cultivate the right tone of voice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Practice reflective listening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Acknowledge frustrations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Set realistic expectations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Present a solution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Follow up with the customer</a:t>
            </a:r>
          </a:p>
        </p:txBody>
      </p:sp>
    </p:spTree>
    <p:extLst>
      <p:ext uri="{BB962C8B-B14F-4D97-AF65-F5344CB8AC3E}">
        <p14:creationId xmlns:p14="http://schemas.microsoft.com/office/powerpoint/2010/main" val="40258719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E12D99-E684-FE3E-18D0-74AFC6E93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44C53-790B-41EA-AD91-6905F825E456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BC19FC-DB79-8D43-90C3-13C521FC7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D8F34-6CA1-EADE-F10B-97242E45A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7C977C-0198-A742-6287-BD13AAC3C8DB}"/>
              </a:ext>
            </a:extLst>
          </p:cNvPr>
          <p:cNvSpPr txBox="1"/>
          <p:nvPr/>
        </p:nvSpPr>
        <p:spPr>
          <a:xfrm>
            <a:off x="3403578" y="192511"/>
            <a:ext cx="51176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" panose="02020603050405020304" pitchFamily="18" charset="0"/>
                <a:cs typeface="Times" panose="02020603050405020304" pitchFamily="18" charset="0"/>
              </a:rPr>
              <a:t>CUSTOMER RETENTION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71B26A-2130-FDCA-3573-0F580C107930}"/>
              </a:ext>
            </a:extLst>
          </p:cNvPr>
          <p:cNvSpPr txBox="1"/>
          <p:nvPr/>
        </p:nvSpPr>
        <p:spPr>
          <a:xfrm>
            <a:off x="838200" y="970968"/>
            <a:ext cx="11049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Customer retention is a metric that measures customer loyalty, or the ability for an organization to </a:t>
            </a:r>
            <a:r>
              <a:rPr lang="en-US" sz="2400" u="sng" dirty="0">
                <a:latin typeface="Times" panose="02020603050405020304" pitchFamily="18" charset="0"/>
                <a:cs typeface="Times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keep its customers over time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Customer retention can reflect or predict customer satisfaction, repurchase behavior, customer engagement and emotional ties to a brand.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While </a:t>
            </a:r>
            <a:r>
              <a:rPr lang="en-US" sz="2400" u="sng" dirty="0">
                <a:latin typeface="Times" panose="02020603050405020304" pitchFamily="18" charset="0"/>
                <a:cs typeface="Times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customer relationships typically begin with an initial interaction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, customer retention metrics are related to the first purchase made by a customer and include all subsequent interactions.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Customer retention is critical because the cost of acquiring new customers is much higher than retaining existing customers.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Retained customers are also more likely to engage in word-of-mouth marketing or become </a:t>
            </a:r>
            <a:r>
              <a:rPr lang="en-US" sz="2400" u="sng" dirty="0">
                <a:latin typeface="Times" panose="02020603050405020304" pitchFamily="18" charset="0"/>
                <a:cs typeface="Times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brand ambassadors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79634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5C8211-7BC2-A370-D7C5-A0CBD5DDD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F0A77-F932-4B8A-92D2-C2592CD83B7A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C6FC74-BE5B-E5D7-8D47-1E137CB78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EF5A4-F3B4-C9A3-9596-63B05A9CE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A392B-A5EA-C4E4-9BE9-0C22EA032F3D}"/>
              </a:ext>
            </a:extLst>
          </p:cNvPr>
          <p:cNvSpPr txBox="1"/>
          <p:nvPr/>
        </p:nvSpPr>
        <p:spPr>
          <a:xfrm>
            <a:off x="944880" y="513080"/>
            <a:ext cx="10408920" cy="5442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" panose="02020603050405020304" pitchFamily="18" charset="0"/>
                <a:cs typeface="Times" panose="02020603050405020304" pitchFamily="18" charset="0"/>
              </a:rPr>
              <a:t>Why is customer retention important for businesses?</a:t>
            </a:r>
          </a:p>
          <a:p>
            <a:pPr algn="l"/>
            <a:endParaRPr lang="en-US" sz="2800" b="1" dirty="0">
              <a:latin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If an organization does not focus on customer retention but instead focuses solely on expanding its customer base, it is </a:t>
            </a:r>
            <a:r>
              <a:rPr lang="en-US" sz="2400" u="sng" dirty="0">
                <a:latin typeface="Times" panose="02020603050405020304" pitchFamily="18" charset="0"/>
                <a:cs typeface="Times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potentially losing out on repeat customers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While the process of gaining new customers, or customer acquisition, is important, it is also much more expensive.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Maintaining customers and transitioning them into recurring customers is just as important of a process as gaining new ones.</a:t>
            </a:r>
          </a:p>
        </p:txBody>
      </p:sp>
    </p:spTree>
    <p:extLst>
      <p:ext uri="{BB962C8B-B14F-4D97-AF65-F5344CB8AC3E}">
        <p14:creationId xmlns:p14="http://schemas.microsoft.com/office/powerpoint/2010/main" val="40291869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0C2E36-958A-1023-756E-D20D65CAF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FC7A8-95FA-4699-BE13-95D8D1606C12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EBDCBC-C559-F767-4B1C-BEDCDE542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3C25A-A06D-8FCD-B939-CDBC4F650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883B57-5C9C-249D-00C0-48C001958E0A}"/>
              </a:ext>
            </a:extLst>
          </p:cNvPr>
          <p:cNvSpPr txBox="1"/>
          <p:nvPr/>
        </p:nvSpPr>
        <p:spPr>
          <a:xfrm>
            <a:off x="1076960" y="304801"/>
            <a:ext cx="10109199" cy="5935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" panose="02020603050405020304" pitchFamily="18" charset="0"/>
                <a:cs typeface="Times" panose="02020603050405020304" pitchFamily="18" charset="0"/>
              </a:rPr>
              <a:t>How to measure customer retention and key metrics?</a:t>
            </a:r>
          </a:p>
          <a:p>
            <a:pPr algn="l"/>
            <a:endParaRPr lang="en-US" sz="2800" b="1" dirty="0">
              <a:solidFill>
                <a:srgbClr val="323232"/>
              </a:solidFill>
              <a:latin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Customer retention is typically measured in terms of retention rate and should be monitored continuously.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The first step to determining this rate is to identify the period of time an organization wants to record.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This can range from a month to a fiscal year or beyond.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Other factors used to determine the retention rate include the following: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the number of customers in the </a:t>
            </a:r>
            <a:r>
              <a:rPr lang="en-US" sz="2400" u="sng" dirty="0">
                <a:latin typeface="Times" panose="02020603050405020304" pitchFamily="18" charset="0"/>
                <a:cs typeface="Times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customer base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 at the start of the period (S);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the number of customers at the end (E); and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the number of new customers acquired over time (N).</a:t>
            </a:r>
          </a:p>
        </p:txBody>
      </p:sp>
    </p:spTree>
    <p:extLst>
      <p:ext uri="{BB962C8B-B14F-4D97-AF65-F5344CB8AC3E}">
        <p14:creationId xmlns:p14="http://schemas.microsoft.com/office/powerpoint/2010/main" val="23682772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A81F47-E0F7-7949-3114-EFE79DE8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E5D0-5B96-46CF-9DB3-FA2D3B8E1C99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7D2DF9-908A-4387-6067-3D5DEC428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D9808-2E6F-30A8-46AD-349DFBB6F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3A3B90-4383-AA1E-F556-C27F3CEC0003}"/>
              </a:ext>
            </a:extLst>
          </p:cNvPr>
          <p:cNvSpPr txBox="1"/>
          <p:nvPr/>
        </p:nvSpPr>
        <p:spPr>
          <a:xfrm>
            <a:off x="1828800" y="1143000"/>
            <a:ext cx="85344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These metrics should be recorded. Once retrieved, the formula is applied as follows:</a:t>
            </a:r>
          </a:p>
          <a:p>
            <a:pPr algn="l"/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/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(E-N)/S x 100 = retention rate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/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For example, if an organization starts with 750 customers and ends with 950, but acquires 625 over the period of time, the customer retention rate would be 43.3%.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8420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0801BB-18F9-57E8-50D6-3328B57C8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1CE51-45C7-404C-A97F-25EB6BA0836F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DDF9E-0733-EBBC-09AC-B5EFA8CE8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Dheeraj   AOE0861    TQM     Unit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7A442-53C4-8AC8-E1D0-B84B01EAE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B34E6-0086-427D-A404-3B2A6BB81F11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E3C34-CCB0-D81F-58B0-9DFEDBA28841}"/>
              </a:ext>
            </a:extLst>
          </p:cNvPr>
          <p:cNvSpPr txBox="1"/>
          <p:nvPr/>
        </p:nvSpPr>
        <p:spPr>
          <a:xfrm>
            <a:off x="1524000" y="136525"/>
            <a:ext cx="9652000" cy="5933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" panose="02020603050405020304" pitchFamily="18" charset="0"/>
                <a:cs typeface="Times" panose="02020603050405020304" pitchFamily="18" charset="0"/>
              </a:rPr>
              <a:t>Customer retention strategies</a:t>
            </a:r>
          </a:p>
          <a:p>
            <a:pPr algn="l"/>
            <a:endParaRPr lang="en-US" sz="2800" b="1" dirty="0">
              <a:latin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Some best practices and strategies to follow when </a:t>
            </a:r>
            <a:r>
              <a:rPr lang="en-US" sz="2400" u="sng" dirty="0">
                <a:latin typeface="Times" panose="02020603050405020304" pitchFamily="18" charset="0"/>
                <a:cs typeface="Times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considering customer retention strategies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 include the following: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Offer personalized service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Use data to provide personalized support interactions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Use social media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Incentivize loyalty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Gather customer feedback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Build trust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Improve customer support services</a:t>
            </a:r>
          </a:p>
        </p:txBody>
      </p:sp>
    </p:spTree>
    <p:extLst>
      <p:ext uri="{BB962C8B-B14F-4D97-AF65-F5344CB8AC3E}">
        <p14:creationId xmlns:p14="http://schemas.microsoft.com/office/powerpoint/2010/main" val="455384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8229600" cy="4800600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  <a:hlinkClick r:id="rId2"/>
              </a:rPr>
              <a:t>https://www.youtube.com/watch?v=Q3EOCAuExJU</a:t>
            </a: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0">
              <a:defRPr/>
            </a:pP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  <a:hlinkClick r:id="rId3"/>
              </a:rPr>
              <a:t>https://www.youtube.com/watch?v=yWlAOFs04go</a:t>
            </a: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0">
              <a:defRPr/>
            </a:pP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  <a:hlinkClick r:id="rId4"/>
              </a:rPr>
              <a:t>https://www.youtube.com/watch?v=QifqIoUNTJM</a:t>
            </a: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0">
              <a:defRPr/>
            </a:pP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  <a:hlinkClick r:id="rId5"/>
              </a:rPr>
              <a:t>https://www.youtube.com/watch?v=qb3mvJ1gb9g</a:t>
            </a: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0">
              <a:defRPr/>
            </a:pP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  <a:hlinkClick r:id="rId6"/>
              </a:rPr>
              <a:t>https://www.youtube.com/watch?v=2ePeXePNLrs</a:t>
            </a: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0">
              <a:defRPr/>
            </a:pP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  <a:hlinkClick r:id="rId7"/>
              </a:rPr>
              <a:t>https://www.youtube.com/watch?v=HkdoR-NNEoI</a:t>
            </a: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0">
              <a:defRPr/>
            </a:pP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  <a:hlinkClick r:id="rId8"/>
              </a:rPr>
              <a:t>https://www.researchgate.net/publication/318654507_Total_Quality_Management_Notes</a:t>
            </a: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0">
              <a:defRPr/>
            </a:pP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  <a:hlinkClick r:id="rId9"/>
              </a:rPr>
              <a:t>http://www.mescenter.ru/images/abook_file/Total_Quality_Management_and_Six_Sigma.pdf</a:t>
            </a:r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22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72259-9D2D-4104-8154-74EC81764EE7}" type="datetime1">
              <a:rPr lang="en-US" smtClean="0">
                <a:latin typeface="Times" panose="02020603050405020304" pitchFamily="18" charset="0"/>
                <a:cs typeface="Times" panose="02020603050405020304" pitchFamily="18" charset="0"/>
              </a:rPr>
              <a:t>1/6/2025</a:t>
            </a:fld>
            <a:endParaRPr lang="en-US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Times" panose="02020603050405020304" pitchFamily="18" charset="0"/>
                <a:cs typeface="Times" panose="02020603050405020304" pitchFamily="18" charset="0"/>
              </a:rPr>
              <a:pPr/>
              <a:t>41</a:t>
            </a:fld>
            <a:endParaRPr lang="en-US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95600" y="1"/>
            <a:ext cx="7772400" cy="6857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b="1" dirty="0">
                <a:solidFill>
                  <a:prstClr val="black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FACULTY VIDEO LINKS, YOUTUBE &amp; NPTEL VIDEO LINKS AND ONLINE COURSES DETAILS  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16"/>
            <a:ext cx="5029200" cy="365125"/>
          </a:xfrm>
        </p:spPr>
        <p:txBody>
          <a:bodyPr/>
          <a:lstStyle/>
          <a:p>
            <a:r>
              <a:rPr lang="en-US" sz="2000">
                <a:latin typeface="Times" panose="02020603050405020304" pitchFamily="18" charset="0"/>
                <a:cs typeface="Times" panose="02020603050405020304" pitchFamily="18" charset="0"/>
              </a:rPr>
              <a:t>Dheeraj   AOE0861    TQM     Unit 1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4081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838200"/>
            <a:ext cx="9144000" cy="5257800"/>
          </a:xfrm>
        </p:spPr>
        <p:txBody>
          <a:bodyPr>
            <a:normAutofit fontScale="55000" lnSpcReduction="20000"/>
          </a:bodyPr>
          <a:lstStyle/>
          <a:p>
            <a:pPr marL="1428750" lvl="2" indent="-51435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500" dirty="0">
                <a:latin typeface="Times New Roman" pitchFamily="18" charset="0"/>
                <a:cs typeface="Times New Roman" pitchFamily="18" charset="0"/>
              </a:rPr>
              <a:t>1. What is quality?									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500" dirty="0">
                <a:latin typeface="Times New Roman" pitchFamily="18" charset="0"/>
                <a:cs typeface="Times New Roman" pitchFamily="18" charset="0"/>
              </a:rPr>
              <a:t>2. What is QM?									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500" dirty="0">
                <a:latin typeface="Times New Roman" pitchFamily="18" charset="0"/>
                <a:cs typeface="Times New Roman" pitchFamily="18" charset="0"/>
              </a:rPr>
              <a:t>3. How can we achieve organizational excellence with quality?			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500" dirty="0">
                <a:latin typeface="Times New Roman" pitchFamily="18" charset="0"/>
                <a:cs typeface="Times New Roman" pitchFamily="18" charset="0"/>
              </a:rPr>
              <a:t>4. What is the Deming cycle?							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500" dirty="0">
                <a:latin typeface="Times New Roman" pitchFamily="18" charset="0"/>
                <a:cs typeface="Times New Roman" pitchFamily="18" charset="0"/>
              </a:rPr>
              <a:t>5. What are the most common errors when starting quality initiatives?		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500" dirty="0">
                <a:latin typeface="Times New Roman" pitchFamily="18" charset="0"/>
                <a:cs typeface="Times New Roman" pitchFamily="18" charset="0"/>
              </a:rPr>
              <a:t>6. Explain the cost of poor quality.						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500" dirty="0">
                <a:latin typeface="Times New Roman" pitchFamily="18" charset="0"/>
                <a:cs typeface="Times New Roman" pitchFamily="18" charset="0"/>
              </a:rPr>
              <a:t>7. What are the quality characteristics of world-class organizations?                    						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500" dirty="0">
                <a:latin typeface="Times New Roman" pitchFamily="18" charset="0"/>
                <a:cs typeface="Times New Roman" pitchFamily="18" charset="0"/>
              </a:rPr>
              <a:t>8.  Discuss some models for ethical quality decisions.				</a:t>
            </a:r>
          </a:p>
          <a:p>
            <a:pPr marL="914400" lvl="2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500" dirty="0">
                <a:latin typeface="Times New Roman" pitchFamily="18" charset="0"/>
                <a:cs typeface="Times New Roman" pitchFamily="18" charset="0"/>
              </a:rPr>
              <a:t>9. What is the engineering manager’s role in quality ethics?</a:t>
            </a:r>
            <a:r>
              <a:rPr lang="en-US" sz="1600" dirty="0"/>
              <a:t>	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C7BC-4F9D-4223-80CD-FA55F49D8AF0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95600" y="-98440"/>
            <a:ext cx="7772400" cy="6857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ASSIGNMENT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16"/>
            <a:ext cx="5029200" cy="365125"/>
          </a:xfrm>
        </p:spPr>
        <p:txBody>
          <a:bodyPr/>
          <a:lstStyle/>
          <a:p>
            <a:r>
              <a:rPr lang="en-US" sz="2000"/>
              <a:t>Dheeraj   AOE0861    TQM     Unit 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35466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14400"/>
            <a:ext cx="8229600" cy="50292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b="1" dirty="0"/>
              <a:t>1.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  What is the aim of fool proof technique used for total quality management?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  a.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to achieve zero defects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to specify time schedules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c. to specify targets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d. none of the above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2.   Quality improvement planning is related to which category of cost?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Cost of failure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Cost of appraisal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c.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Cost of prevention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All of the above</a:t>
            </a:r>
          </a:p>
          <a:p>
            <a:endParaRPr lang="en-US" sz="2400" dirty="0"/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BB6F8-ADD4-4191-983C-6AD452EE4F9F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95600" y="-65314"/>
            <a:ext cx="7772400" cy="6857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MCQs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16"/>
            <a:ext cx="5029200" cy="365125"/>
          </a:xfrm>
        </p:spPr>
        <p:txBody>
          <a:bodyPr/>
          <a:lstStyle/>
          <a:p>
            <a:r>
              <a:rPr lang="en-US" sz="2000"/>
              <a:t>Dheeraj   AOE0861    TQM     Unit 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967983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8229600" cy="48006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3 .   Match the following group 1 items (Authors) with group 2 items (Definitions)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Juran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------------------------------------------------- A. Quality is conformance to requirements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Crossby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---------------------------------------------  B. Quality in essence is a way of managing the organization  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Hoshin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----------------------------------------------- C. Quality is fitness for use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Feigenbaum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----------------------------------------- D. Quality is correcting and preventing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loss,not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living with loss</a:t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1 – A, 2 – D, 3 – B, 4 – C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b.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1 – C, 2 – A, 3 – D, 4 - B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1 – B, 2 – A, 3 – C, 4 - D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1 – D, 2 – A, 3 – B, 4 - C</a:t>
            </a:r>
          </a:p>
          <a:p>
            <a:endParaRPr lang="en-US" sz="2400" dirty="0"/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17538-A646-4F00-8829-9AB77B37FD9A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95600" y="-65315"/>
            <a:ext cx="7772400" cy="6857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MCQs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16"/>
            <a:ext cx="5029200" cy="365125"/>
          </a:xfrm>
        </p:spPr>
        <p:txBody>
          <a:bodyPr/>
          <a:lstStyle/>
          <a:p>
            <a:r>
              <a:rPr lang="en-US" sz="2000"/>
              <a:t>Dheeraj   AOE0861    TQM     Unit 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22546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8229600" cy="4800600"/>
          </a:xfrm>
        </p:spPr>
        <p:txBody>
          <a:bodyPr>
            <a:normAutofit/>
          </a:bodyPr>
          <a:lstStyle/>
          <a:p>
            <a:pPr fontAlgn="base">
              <a:buNone/>
            </a:pPr>
            <a:r>
              <a:rPr lang="en-US" sz="2400" b="1" dirty="0"/>
              <a:t>4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 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According to Deming, Quality problems are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fontAlgn="base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Due to management</a:t>
            </a:r>
          </a:p>
          <a:p>
            <a:pPr fontAlgn="base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b. Due to method</a:t>
            </a:r>
          </a:p>
          <a:p>
            <a:pPr fontAlgn="base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c. Due to machine</a:t>
            </a:r>
          </a:p>
          <a:p>
            <a:pPr fontAlgn="base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d. Due to material</a:t>
            </a:r>
          </a:p>
          <a:p>
            <a:pPr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5.  quality planning, quality control and quality improvement are called ------------- trilogy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a.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shingo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b.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crosby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c.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deming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d.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juran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  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63E1-C813-4324-82C1-00A341F0D60D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95600" y="-65314"/>
            <a:ext cx="7772400" cy="6857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MCQs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16"/>
            <a:ext cx="5029200" cy="365125"/>
          </a:xfrm>
        </p:spPr>
        <p:txBody>
          <a:bodyPr/>
          <a:lstStyle/>
          <a:p>
            <a:r>
              <a:rPr lang="en-US" sz="2000"/>
              <a:t>Dheeraj   AOE0861    TQM     Unit 1</a:t>
            </a:r>
            <a:endParaRPr lang="en-US" sz="2000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DF246A64-8781-491F-87B5-A9819E4B7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24000" y="-1"/>
            <a:ext cx="1335878" cy="7830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358819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783036"/>
            <a:ext cx="8229600" cy="516056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6.  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Which of the following strategies of Deming's fourteen points is included into category of Management commitment?  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Institute leadership</a:t>
            </a:r>
          </a:p>
          <a:p>
            <a:pPr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Encouraging education</a:t>
            </a:r>
          </a:p>
          <a:p>
            <a:pPr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Eliminating exhortations</a:t>
            </a:r>
          </a:p>
          <a:p>
            <a:pPr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d. Adopting new philosophy</a:t>
            </a:r>
          </a:p>
          <a:p>
            <a:pPr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7. The concepts of quality planning, quality control, quality improvement known as ‘Trilogy of quality’ was introduced by ………………….</a:t>
            </a:r>
          </a:p>
          <a:p>
            <a:pPr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A. Philip B. Crosby</a:t>
            </a:r>
          </a:p>
          <a:p>
            <a:pPr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B. Edward Deming</a:t>
            </a:r>
          </a:p>
          <a:p>
            <a:pPr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C. A.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Shewhart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D. Dr.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Juran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200" dirty="0"/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3490-4402-4451-9872-4C82267518E9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95600" y="-65314"/>
            <a:ext cx="7772400" cy="6857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MCQs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16"/>
            <a:ext cx="5029200" cy="365125"/>
          </a:xfrm>
        </p:spPr>
        <p:txBody>
          <a:bodyPr/>
          <a:lstStyle/>
          <a:p>
            <a:r>
              <a:rPr lang="en-US" sz="2000"/>
              <a:t>Dheeraj   AOE0861    TQM     Unit 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451132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8229600" cy="48006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200" dirty="0"/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96E58-9184-45A7-B541-03AAE5E7DB93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95600" y="-98440"/>
            <a:ext cx="7772400" cy="6857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QUESTION PAPERS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16"/>
            <a:ext cx="5029200" cy="365125"/>
          </a:xfrm>
        </p:spPr>
        <p:txBody>
          <a:bodyPr/>
          <a:lstStyle/>
          <a:p>
            <a:r>
              <a:rPr lang="en-US" sz="2000"/>
              <a:t>Dheeraj   AOE0861    TQM     Unit 1</a:t>
            </a:r>
            <a:endParaRPr lang="en-US" sz="2000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838200"/>
            <a:ext cx="80010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937920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8229600" cy="48006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200" dirty="0"/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BC61F-CFB5-4D57-A41D-A3F1083FFED4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95600" y="-65314"/>
            <a:ext cx="7772400" cy="6857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QUESTION PAPERS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16"/>
            <a:ext cx="5029200" cy="365125"/>
          </a:xfrm>
        </p:spPr>
        <p:txBody>
          <a:bodyPr/>
          <a:lstStyle/>
          <a:p>
            <a:r>
              <a:rPr lang="en-US" sz="2000"/>
              <a:t>Dheeraj   AOE0861    TQM     Unit 1</a:t>
            </a:r>
            <a:endParaRPr lang="en-US" sz="2000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838201"/>
            <a:ext cx="8458200" cy="5334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656756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8229600" cy="4800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1. How will you quantify the term quality?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2. What do you understand by quality audit?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3. Briefly explain the term QM?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4. State the good characteristics of a supplier.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5. Discuss the several dimensions of product and service quality.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6. What do you mean by warranty and guarantee? How are they being analyzed and set?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CD69-BB7A-47B5-9751-A4B312FF6F94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95600" y="1"/>
            <a:ext cx="7772400" cy="6857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QUESTIONS FOR UNIVERSITY EXAM 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16"/>
            <a:ext cx="5029200" cy="365125"/>
          </a:xfrm>
        </p:spPr>
        <p:txBody>
          <a:bodyPr/>
          <a:lstStyle/>
          <a:p>
            <a:r>
              <a:rPr lang="en-US" sz="2000"/>
              <a:t>Dheeraj   AOE0861    TQM     Unit 1</a:t>
            </a:r>
            <a:endParaRPr lang="en-US" sz="2000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DF246A64-8781-491F-87B5-A9819E4B7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24000" y="-1"/>
            <a:ext cx="1335878" cy="7830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600987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8229600" cy="4800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7. What is the important role of senior management?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8. What are the various quality statements?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9. What is a quality policy?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10. Give the need for a feedback in an organization?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11. What are the elements of customer service?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12. State Frederick Herzberg’s Two-factor theory?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13. What does an employee want?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9C9C-D482-4693-B897-B2B8D05370E9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667000" y="1"/>
            <a:ext cx="8001000" cy="6857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EXPECTED QUESTIONS FOR UNIVERSITY EXAM 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16"/>
            <a:ext cx="5029200" cy="365125"/>
          </a:xfrm>
        </p:spPr>
        <p:txBody>
          <a:bodyPr/>
          <a:lstStyle/>
          <a:p>
            <a:r>
              <a:rPr lang="en-US" sz="2000"/>
              <a:t>Dheeraj   AOE0861    TQM     Unit 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189980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8229600" cy="4800600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is customer satisfaction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is the centre point for product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of modern approach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Deming point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B5B6D-18C6-4D56-BCF1-75CAED2993D0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95600" y="-65314"/>
            <a:ext cx="7772400" cy="6857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16"/>
            <a:ext cx="5029200" cy="365125"/>
          </a:xfrm>
        </p:spPr>
        <p:txBody>
          <a:bodyPr/>
          <a:lstStyle/>
          <a:p>
            <a:r>
              <a:rPr lang="en-US" sz="2000"/>
              <a:t>Dheeraj   AOE0861    TQM     Unit 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606797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8229600" cy="4800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Text Book</a:t>
            </a:r>
          </a:p>
          <a:p>
            <a:pPr lvl="0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Lt. Gen. H. Lal, “Total Quality Management”, New Age International Publishers</a:t>
            </a:r>
          </a:p>
          <a:p>
            <a:pPr lvl="0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Greg Bounds, “Beyond Total Quality Management”, McGraw Hill </a:t>
            </a:r>
          </a:p>
          <a:p>
            <a:pPr lvl="0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Menon, H.G, “TQM in New Product manufacturing”, McGraw Hill</a:t>
            </a:r>
          </a:p>
          <a:p>
            <a:pPr marL="0" indent="0">
              <a:buNone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Reference Book </a:t>
            </a:r>
            <a:endParaRPr lang="en-US" sz="2400" i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2400" i="1" dirty="0">
                <a:latin typeface="Times" panose="02020603050405020304" pitchFamily="18" charset="0"/>
                <a:cs typeface="Times" panose="02020603050405020304" pitchFamily="18" charset="0"/>
              </a:rPr>
              <a:t>Total Quality Management” by </a:t>
            </a:r>
            <a:r>
              <a:rPr lang="en-US" sz="2400" i="1" dirty="0" err="1">
                <a:latin typeface="Times" panose="02020603050405020304" pitchFamily="18" charset="0"/>
                <a:cs typeface="Times" panose="02020603050405020304" pitchFamily="18" charset="0"/>
              </a:rPr>
              <a:t>Besterfield</a:t>
            </a:r>
            <a:endParaRPr lang="en-US" sz="2400" i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2400" i="1" dirty="0">
                <a:latin typeface="Times" panose="02020603050405020304" pitchFamily="18" charset="0"/>
                <a:cs typeface="Times" panose="02020603050405020304" pitchFamily="18" charset="0"/>
              </a:rPr>
              <a:t>“Total Quality Management” by </a:t>
            </a:r>
            <a:r>
              <a:rPr lang="en-US" sz="2400" i="1" dirty="0" err="1">
                <a:latin typeface="Times" panose="02020603050405020304" pitchFamily="18" charset="0"/>
                <a:cs typeface="Times" panose="02020603050405020304" pitchFamily="18" charset="0"/>
              </a:rPr>
              <a:t>Mukherjee</a:t>
            </a:r>
            <a:endParaRPr lang="en-US" sz="2400" i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2400" i="1" dirty="0">
                <a:latin typeface="Times" panose="02020603050405020304" pitchFamily="18" charset="0"/>
                <a:cs typeface="Times" panose="02020603050405020304" pitchFamily="18" charset="0"/>
              </a:rPr>
              <a:t>Total Quality Management” by </a:t>
            </a:r>
            <a:r>
              <a:rPr lang="en-US" sz="2400" i="1" dirty="0" err="1">
                <a:latin typeface="Times" panose="02020603050405020304" pitchFamily="18" charset="0"/>
                <a:cs typeface="Times" panose="02020603050405020304" pitchFamily="18" charset="0"/>
              </a:rPr>
              <a:t>Vijayan</a:t>
            </a:r>
            <a:endParaRPr lang="en-US" sz="2400" i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2400" i="1" dirty="0">
                <a:latin typeface="Times" panose="02020603050405020304" pitchFamily="18" charset="0"/>
                <a:cs typeface="Times" panose="02020603050405020304" pitchFamily="18" charset="0"/>
              </a:rPr>
              <a:t>“Total Quality Management- Text and Cases” by </a:t>
            </a:r>
            <a:r>
              <a:rPr lang="en-US" sz="2400" i="1" dirty="0" err="1">
                <a:latin typeface="Times" panose="02020603050405020304" pitchFamily="18" charset="0"/>
                <a:cs typeface="Times" panose="02020603050405020304" pitchFamily="18" charset="0"/>
              </a:rPr>
              <a:t>Janakiraman</a:t>
            </a:r>
            <a:r>
              <a:rPr lang="en-US" sz="2400" i="1" dirty="0">
                <a:latin typeface="Times" panose="02020603050405020304" pitchFamily="18" charset="0"/>
                <a:cs typeface="Times" panose="02020603050405020304" pitchFamily="18" charset="0"/>
              </a:rPr>
              <a:t> B and </a:t>
            </a:r>
            <a:r>
              <a:rPr lang="en-US" sz="2400" i="1" dirty="0" err="1">
                <a:latin typeface="Times" panose="02020603050405020304" pitchFamily="18" charset="0"/>
                <a:cs typeface="Times" panose="02020603050405020304" pitchFamily="18" charset="0"/>
              </a:rPr>
              <a:t>Gopal</a:t>
            </a:r>
            <a:r>
              <a:rPr lang="en-US" sz="2400" i="1" dirty="0">
                <a:latin typeface="Times" panose="02020603050405020304" pitchFamily="18" charset="0"/>
                <a:cs typeface="Times" panose="02020603050405020304" pitchFamily="18" charset="0"/>
              </a:rPr>
              <a:t> R K</a:t>
            </a:r>
          </a:p>
          <a:p>
            <a:pPr lvl="0"/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  <a:hlinkClick r:id="rId2"/>
              </a:rPr>
              <a:t>https://www.researchgate.net/publication/318654507_Total_Quality_Management_Notes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2200" i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A018A-4218-46F3-B61C-BE3233E2703B}" type="datetime1">
              <a:rPr lang="en-US" smtClean="0">
                <a:latin typeface="Times" panose="02020603050405020304" pitchFamily="18" charset="0"/>
                <a:cs typeface="Times" panose="02020603050405020304" pitchFamily="18" charset="0"/>
              </a:rPr>
              <a:t>1/6/2025</a:t>
            </a:fld>
            <a:endParaRPr lang="en-US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Times" panose="02020603050405020304" pitchFamily="18" charset="0"/>
                <a:cs typeface="Times" panose="02020603050405020304" pitchFamily="18" charset="0"/>
              </a:rPr>
              <a:pPr/>
              <a:t>52</a:t>
            </a:fld>
            <a:endParaRPr lang="en-US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95600" y="-65314"/>
            <a:ext cx="7772400" cy="6857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REFERENCES</a:t>
            </a:r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16"/>
            <a:ext cx="5029200" cy="365125"/>
          </a:xfrm>
        </p:spPr>
        <p:txBody>
          <a:bodyPr/>
          <a:lstStyle/>
          <a:p>
            <a:r>
              <a:rPr lang="en-US" sz="2000">
                <a:latin typeface="Times" panose="02020603050405020304" pitchFamily="18" charset="0"/>
                <a:cs typeface="Times" panose="02020603050405020304" pitchFamily="18" charset="0"/>
              </a:rPr>
              <a:t>Dheeraj   AOE0861    TQM     Unit 1</a:t>
            </a:r>
            <a:endParaRPr 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3249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51BF6-5811-4969-859B-1348AF6491E9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2237665" y="2133601"/>
            <a:ext cx="7762125" cy="2003625"/>
          </a:xfrm>
          <a:prstGeom prst="rect">
            <a:avLst/>
          </a:prstGeom>
          <a:noFill/>
        </p:spPr>
        <p:txBody>
          <a:bodyPr vert="horz" wrap="none" lIns="91440" tIns="45720" rIns="91440" bIns="45720" rtlCol="0">
            <a:spAutoFit/>
          </a:bodyPr>
          <a:lstStyle/>
          <a:p>
            <a:pPr algn="ctr">
              <a:buNone/>
            </a:pPr>
            <a:r>
              <a:rPr lang="en-US" sz="138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Thank You</a:t>
            </a:r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3810000" y="6248416"/>
            <a:ext cx="5029200" cy="365125"/>
          </a:xfrm>
        </p:spPr>
        <p:txBody>
          <a:bodyPr/>
          <a:lstStyle/>
          <a:p>
            <a:r>
              <a:rPr lang="en-US" sz="2000"/>
              <a:t>Dheeraj   AOE0861    TQM     Unit 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02396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3425</Words>
  <Application>Microsoft Office PowerPoint</Application>
  <PresentationFormat>Widescreen</PresentationFormat>
  <Paragraphs>670</Paragraphs>
  <Slides>53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6" baseType="lpstr">
      <vt:lpstr>Arial</vt:lpstr>
      <vt:lpstr>Calibri</vt:lpstr>
      <vt:lpstr>Calibri Light</vt:lpstr>
      <vt:lpstr>Courier New</vt:lpstr>
      <vt:lpstr>Georgia</vt:lpstr>
      <vt:lpstr>Helvetica</vt:lpstr>
      <vt:lpstr>KievIt</vt:lpstr>
      <vt:lpstr>Lexend Deca</vt:lpstr>
      <vt:lpstr>Proxima Nova</vt:lpstr>
      <vt:lpstr>sharp sans</vt:lpstr>
      <vt:lpstr>Times</vt:lpstr>
      <vt:lpstr>Times New Roman</vt:lpstr>
      <vt:lpstr>Office Theme</vt:lpstr>
      <vt:lpstr>Noida Institute of Engineering and Technology, Greater Noida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QUALITY (INTRODUCTION)</vt:lpstr>
      <vt:lpstr>DEFINITIONS OF QUALTIY</vt:lpstr>
      <vt:lpstr>NEED FOR QUALITY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BASIC CONCEPTS OF TQM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Noida Institute of Engineering and Technology, Greater Noida</dc:title>
  <dc:creator>MADNEETA SINGH</dc:creator>
  <cp:lastModifiedBy>Dheeraj Tripathi</cp:lastModifiedBy>
  <cp:revision>2</cp:revision>
  <dcterms:created xsi:type="dcterms:W3CDTF">2024-02-26T06:16:31Z</dcterms:created>
  <dcterms:modified xsi:type="dcterms:W3CDTF">2025-01-06T07:58:57Z</dcterms:modified>
</cp:coreProperties>
</file>