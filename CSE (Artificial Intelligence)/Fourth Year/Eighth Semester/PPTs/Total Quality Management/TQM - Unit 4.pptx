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sldIdLst>
    <p:sldId id="657" r:id="rId2"/>
    <p:sldId id="349" r:id="rId3"/>
    <p:sldId id="614" r:id="rId4"/>
    <p:sldId id="351" r:id="rId5"/>
    <p:sldId id="352" r:id="rId6"/>
    <p:sldId id="353" r:id="rId7"/>
    <p:sldId id="354" r:id="rId8"/>
    <p:sldId id="355" r:id="rId9"/>
    <p:sldId id="365" r:id="rId10"/>
    <p:sldId id="366" r:id="rId11"/>
    <p:sldId id="356" r:id="rId12"/>
    <p:sldId id="358" r:id="rId13"/>
    <p:sldId id="359" r:id="rId14"/>
    <p:sldId id="360" r:id="rId15"/>
    <p:sldId id="361" r:id="rId16"/>
    <p:sldId id="362" r:id="rId17"/>
    <p:sldId id="493" r:id="rId18"/>
    <p:sldId id="616" r:id="rId19"/>
    <p:sldId id="617" r:id="rId20"/>
    <p:sldId id="618" r:id="rId21"/>
    <p:sldId id="619" r:id="rId22"/>
    <p:sldId id="620" r:id="rId23"/>
    <p:sldId id="621" r:id="rId24"/>
    <p:sldId id="622" r:id="rId25"/>
    <p:sldId id="623" r:id="rId26"/>
    <p:sldId id="624" r:id="rId27"/>
    <p:sldId id="625" r:id="rId28"/>
    <p:sldId id="626" r:id="rId29"/>
    <p:sldId id="627" r:id="rId30"/>
    <p:sldId id="628" r:id="rId31"/>
    <p:sldId id="629" r:id="rId32"/>
    <p:sldId id="630" r:id="rId33"/>
    <p:sldId id="631" r:id="rId34"/>
    <p:sldId id="632" r:id="rId35"/>
    <p:sldId id="633" r:id="rId36"/>
    <p:sldId id="634" r:id="rId37"/>
    <p:sldId id="635" r:id="rId38"/>
    <p:sldId id="638" r:id="rId39"/>
    <p:sldId id="636" r:id="rId40"/>
    <p:sldId id="637" r:id="rId41"/>
    <p:sldId id="639" r:id="rId42"/>
    <p:sldId id="640" r:id="rId43"/>
    <p:sldId id="641" r:id="rId44"/>
    <p:sldId id="642" r:id="rId45"/>
    <p:sldId id="643" r:id="rId46"/>
    <p:sldId id="644" r:id="rId47"/>
    <p:sldId id="645" r:id="rId48"/>
    <p:sldId id="646" r:id="rId49"/>
    <p:sldId id="647" r:id="rId50"/>
    <p:sldId id="648" r:id="rId51"/>
    <p:sldId id="650" r:id="rId52"/>
    <p:sldId id="651" r:id="rId53"/>
    <p:sldId id="652" r:id="rId54"/>
    <p:sldId id="653" r:id="rId55"/>
    <p:sldId id="654" r:id="rId56"/>
    <p:sldId id="655" r:id="rId57"/>
    <p:sldId id="656" r:id="rId58"/>
    <p:sldId id="571" r:id="rId59"/>
    <p:sldId id="601" r:id="rId60"/>
    <p:sldId id="602" r:id="rId61"/>
    <p:sldId id="575" r:id="rId62"/>
    <p:sldId id="576" r:id="rId63"/>
    <p:sldId id="577" r:id="rId64"/>
    <p:sldId id="578" r:id="rId65"/>
    <p:sldId id="612" r:id="rId66"/>
    <p:sldId id="579" r:id="rId67"/>
    <p:sldId id="580" r:id="rId68"/>
    <p:sldId id="581" r:id="rId69"/>
    <p:sldId id="582" r:id="rId70"/>
    <p:sldId id="583" r:id="rId71"/>
    <p:sldId id="584" r:id="rId72"/>
    <p:sldId id="585" r:id="rId73"/>
    <p:sldId id="586" r:id="rId74"/>
    <p:sldId id="613" r:id="rId75"/>
    <p:sldId id="588" r:id="rId7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72" d="100"/>
          <a:sy n="72" d="100"/>
        </p:scale>
        <p:origin x="135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9B5B96-5302-4F4C-B078-C68F721F132E}" type="datetimeFigureOut">
              <a:rPr lang="en-US" smtClean="0"/>
              <a:pPr/>
              <a:t>3/11/2024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20503D-0AF0-4B2F-98EE-D9EEBBF86CB4}" type="slidenum">
              <a:rPr lang="en-US" smtClean="0"/>
              <a:pPr/>
              <a:t>‹#›</a:t>
            </a:fld>
            <a:endParaRPr lang="en-US"/>
          </a:p>
        </p:txBody>
      </p:sp>
    </p:spTree>
    <p:extLst>
      <p:ext uri="{BB962C8B-B14F-4D97-AF65-F5344CB8AC3E}">
        <p14:creationId xmlns:p14="http://schemas.microsoft.com/office/powerpoint/2010/main" val="1805707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2430888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7D86F805-E13D-4C31-9D4B-012F4457693B}" type="slidenum">
              <a:rPr lang="en-US" smtClean="0"/>
              <a:pPr>
                <a:defRPr/>
              </a:pPr>
              <a:t>3</a:t>
            </a:fld>
            <a:endParaRPr lang="en-US"/>
          </a:p>
        </p:txBody>
      </p:sp>
    </p:spTree>
    <p:extLst>
      <p:ext uri="{BB962C8B-B14F-4D97-AF65-F5344CB8AC3E}">
        <p14:creationId xmlns:p14="http://schemas.microsoft.com/office/powerpoint/2010/main" val="63413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714016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46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1E57618D-9B38-439C-8AB0-22E3972D1723}" type="slidenum">
              <a:rPr lang="en-US" altLang="en-US">
                <a:latin typeface="Calibri" pitchFamily="34" charset="0"/>
              </a:rPr>
              <a:pPr/>
              <a:t>6</a:t>
            </a:fld>
            <a:endParaRPr lang="en-US" altLang="en-US">
              <a:latin typeface="Calibri"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50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89B60BC1-7C06-4B27-ACDF-75DBB01784C9}" type="slidenum">
              <a:rPr lang="en-US" altLang="en-US">
                <a:latin typeface="Calibri" pitchFamily="34" charset="0"/>
              </a:rPr>
              <a:pPr/>
              <a:t>7</a:t>
            </a:fld>
            <a:endParaRPr lang="en-US" altLang="en-US">
              <a:latin typeface="Calibri"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5378976C-42B0-4EC3-9B62-62FF4D49CF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FB85005D-8B09-464D-9985-FE9A309DFB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807C3B4B-C270-408A-8F42-BE5F10D6EA6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5CF1010-48E5-479B-9F46-8AD8083ED7B2}"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5378976C-42B0-4EC3-9B62-62FF4D49CF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FB85005D-8B09-464D-9985-FE9A309DFB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807C3B4B-C270-408A-8F42-BE5F10D6EA6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5CF1010-48E5-479B-9F46-8AD8083ED7B2}"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56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CECCC817-BA6C-4871-BE58-95B1986CAD55}" type="slidenum">
              <a:rPr lang="en-US" altLang="en-US">
                <a:latin typeface="Calibri" pitchFamily="34" charset="0"/>
              </a:rPr>
              <a:pPr/>
              <a:t>12</a:t>
            </a:fld>
            <a:endParaRPr lang="en-US" altLang="en-US">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A7CB8A8-765C-4B68-801C-EF3FC69B4B41}" type="datetime1">
              <a:rPr lang="en-US" smtClean="0"/>
              <a:t>3/11/2024</a:t>
            </a:fld>
            <a:endParaRPr lang="en-US"/>
          </a:p>
        </p:txBody>
      </p:sp>
      <p:sp>
        <p:nvSpPr>
          <p:cNvPr id="5" name="Footer Placeholder 4"/>
          <p:cNvSpPr>
            <a:spLocks noGrp="1"/>
          </p:cNvSpPr>
          <p:nvPr>
            <p:ph type="ftr" sz="quarter" idx="11"/>
          </p:nvPr>
        </p:nvSpPr>
        <p:spPr/>
        <p:txBody>
          <a:bodyPr/>
          <a:lstStyle/>
          <a:p>
            <a:r>
              <a:rPr lang="en-US"/>
              <a:t>Dheeraj     TQM           Unit4</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AAC16F-A55B-4398-9D49-7177D717CE90}" type="datetime1">
              <a:rPr lang="en-US" smtClean="0"/>
              <a:t>3/11/2024</a:t>
            </a:fld>
            <a:endParaRPr lang="en-US"/>
          </a:p>
        </p:txBody>
      </p:sp>
      <p:sp>
        <p:nvSpPr>
          <p:cNvPr id="5" name="Footer Placeholder 4"/>
          <p:cNvSpPr>
            <a:spLocks noGrp="1"/>
          </p:cNvSpPr>
          <p:nvPr>
            <p:ph type="ftr" sz="quarter" idx="11"/>
          </p:nvPr>
        </p:nvSpPr>
        <p:spPr/>
        <p:txBody>
          <a:bodyPr/>
          <a:lstStyle/>
          <a:p>
            <a:r>
              <a:rPr lang="en-US"/>
              <a:t>Dheeraj     TQM           Unit4</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D7504C-3EF8-4CD2-8428-ED0EA6608D2D}" type="datetime1">
              <a:rPr lang="en-US" smtClean="0"/>
              <a:t>3/11/2024</a:t>
            </a:fld>
            <a:endParaRPr lang="en-US"/>
          </a:p>
        </p:txBody>
      </p:sp>
      <p:sp>
        <p:nvSpPr>
          <p:cNvPr id="5" name="Footer Placeholder 4"/>
          <p:cNvSpPr>
            <a:spLocks noGrp="1"/>
          </p:cNvSpPr>
          <p:nvPr>
            <p:ph type="ftr" sz="quarter" idx="11"/>
          </p:nvPr>
        </p:nvSpPr>
        <p:spPr/>
        <p:txBody>
          <a:bodyPr/>
          <a:lstStyle/>
          <a:p>
            <a:r>
              <a:rPr lang="en-US"/>
              <a:t>Dheeraj     TQM           Unit4</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B4ECF51-EE6A-41E2-BA1F-9AF49EE4EED1}" type="datetime1">
              <a:rPr lang="en-US" smtClean="0"/>
              <a:t>3/11/2024</a:t>
            </a:fld>
            <a:endParaRPr lang="en-US"/>
          </a:p>
        </p:txBody>
      </p:sp>
      <p:sp>
        <p:nvSpPr>
          <p:cNvPr id="6" name="Footer Placeholder 5"/>
          <p:cNvSpPr>
            <a:spLocks noGrp="1"/>
          </p:cNvSpPr>
          <p:nvPr>
            <p:ph type="ftr" sz="quarter" idx="11"/>
          </p:nvPr>
        </p:nvSpPr>
        <p:spPr/>
        <p:txBody>
          <a:bodyPr/>
          <a:lstStyle/>
          <a:p>
            <a:r>
              <a:rPr lang="en-US"/>
              <a:t>Dheeraj     TQM           Unit4</a:t>
            </a:r>
            <a:endParaRPr lang="en-US" dirty="0"/>
          </a:p>
        </p:txBody>
      </p:sp>
      <p:sp>
        <p:nvSpPr>
          <p:cNvPr id="7" name="Slide Number Placeholder 6"/>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43FAE05-A566-42D8-9A24-F8A98638DE8A}" type="datetime1">
              <a:rPr lang="en-US" smtClean="0"/>
              <a:t>3/11/2024</a:t>
            </a:fld>
            <a:endParaRPr lang="en-US"/>
          </a:p>
        </p:txBody>
      </p:sp>
      <p:sp>
        <p:nvSpPr>
          <p:cNvPr id="8" name="Footer Placeholder 7"/>
          <p:cNvSpPr>
            <a:spLocks noGrp="1"/>
          </p:cNvSpPr>
          <p:nvPr>
            <p:ph type="ftr" sz="quarter" idx="11"/>
          </p:nvPr>
        </p:nvSpPr>
        <p:spPr/>
        <p:txBody>
          <a:bodyPr/>
          <a:lstStyle/>
          <a:p>
            <a:r>
              <a:rPr lang="en-US"/>
              <a:t>Dheeraj     TQM           Unit4</a:t>
            </a:r>
            <a:endParaRPr lang="en-US" dirty="0"/>
          </a:p>
        </p:txBody>
      </p:sp>
      <p:sp>
        <p:nvSpPr>
          <p:cNvPr id="9" name="Slide Number Placeholder 8"/>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316E94-F9BD-4D20-92D7-80B712E66858}" type="datetime1">
              <a:rPr lang="en-US" smtClean="0"/>
              <a:t>3/11/2024</a:t>
            </a:fld>
            <a:endParaRPr lang="en-US"/>
          </a:p>
        </p:txBody>
      </p:sp>
      <p:sp>
        <p:nvSpPr>
          <p:cNvPr id="4" name="Footer Placeholder 3"/>
          <p:cNvSpPr>
            <a:spLocks noGrp="1"/>
          </p:cNvSpPr>
          <p:nvPr>
            <p:ph type="ftr" sz="quarter" idx="11"/>
          </p:nvPr>
        </p:nvSpPr>
        <p:spPr/>
        <p:txBody>
          <a:bodyPr/>
          <a:lstStyle/>
          <a:p>
            <a:r>
              <a:rPr lang="en-US"/>
              <a:t>Dheeraj     TQM           Unit4</a:t>
            </a:r>
            <a:endParaRPr lang="en-US" dirty="0"/>
          </a:p>
        </p:txBody>
      </p:sp>
      <p:sp>
        <p:nvSpPr>
          <p:cNvPr id="5" name="Slide Number Placeholder 4"/>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E23012-2389-4A98-B5D0-4917C07ED18B}" type="datetime1">
              <a:rPr lang="en-US" smtClean="0"/>
              <a:t>3/11/2024</a:t>
            </a:fld>
            <a:endParaRPr lang="en-US"/>
          </a:p>
        </p:txBody>
      </p:sp>
      <p:sp>
        <p:nvSpPr>
          <p:cNvPr id="3" name="Footer Placeholder 2"/>
          <p:cNvSpPr>
            <a:spLocks noGrp="1"/>
          </p:cNvSpPr>
          <p:nvPr>
            <p:ph type="ftr" sz="quarter" idx="11"/>
          </p:nvPr>
        </p:nvSpPr>
        <p:spPr/>
        <p:txBody>
          <a:bodyPr/>
          <a:lstStyle/>
          <a:p>
            <a:r>
              <a:rPr lang="en-US"/>
              <a:t>Dheeraj     TQM           Unit4</a:t>
            </a:r>
            <a:endParaRPr lang="en-US" dirty="0"/>
          </a:p>
        </p:txBody>
      </p:sp>
      <p:sp>
        <p:nvSpPr>
          <p:cNvPr id="4" name="Slide Number Placeholder 3"/>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0C19C8-DA34-4851-A25C-75D348A916F5}" type="datetime1">
              <a:rPr lang="en-US" smtClean="0"/>
              <a:t>3/11/2024</a:t>
            </a:fld>
            <a:endParaRPr lang="en-US"/>
          </a:p>
        </p:txBody>
      </p:sp>
      <p:sp>
        <p:nvSpPr>
          <p:cNvPr id="6" name="Footer Placeholder 5"/>
          <p:cNvSpPr>
            <a:spLocks noGrp="1"/>
          </p:cNvSpPr>
          <p:nvPr>
            <p:ph type="ftr" sz="quarter" idx="11"/>
          </p:nvPr>
        </p:nvSpPr>
        <p:spPr/>
        <p:txBody>
          <a:bodyPr/>
          <a:lstStyle/>
          <a:p>
            <a:r>
              <a:rPr lang="en-US"/>
              <a:t>Dheeraj     TQM           Unit4</a:t>
            </a:r>
            <a:endParaRPr lang="en-US" dirty="0"/>
          </a:p>
        </p:txBody>
      </p:sp>
      <p:sp>
        <p:nvSpPr>
          <p:cNvPr id="7" name="Slide Number Placeholder 6"/>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859B03-15FD-45FD-A4AA-40F316E7F225}" type="datetime1">
              <a:rPr lang="en-US" smtClean="0"/>
              <a:t>3/11/2024</a:t>
            </a:fld>
            <a:endParaRPr lang="en-US"/>
          </a:p>
        </p:txBody>
      </p:sp>
      <p:sp>
        <p:nvSpPr>
          <p:cNvPr id="6" name="Footer Placeholder 5"/>
          <p:cNvSpPr>
            <a:spLocks noGrp="1"/>
          </p:cNvSpPr>
          <p:nvPr>
            <p:ph type="ftr" sz="quarter" idx="11"/>
          </p:nvPr>
        </p:nvSpPr>
        <p:spPr/>
        <p:txBody>
          <a:bodyPr/>
          <a:lstStyle/>
          <a:p>
            <a:r>
              <a:rPr lang="en-US"/>
              <a:t>Dheeraj     TQM           Unit4</a:t>
            </a:r>
            <a:endParaRPr lang="en-US" dirty="0"/>
          </a:p>
        </p:txBody>
      </p:sp>
      <p:sp>
        <p:nvSpPr>
          <p:cNvPr id="7" name="Slide Number Placeholder 6"/>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064209-2650-47DE-A472-62A96D0C20E7}" type="datetime1">
              <a:rPr lang="en-US" smtClean="0"/>
              <a:t>3/11/2024</a:t>
            </a:fld>
            <a:endParaRPr lang="en-US"/>
          </a:p>
        </p:txBody>
      </p:sp>
      <p:sp>
        <p:nvSpPr>
          <p:cNvPr id="5" name="Footer Placeholder 4"/>
          <p:cNvSpPr>
            <a:spLocks noGrp="1"/>
          </p:cNvSpPr>
          <p:nvPr>
            <p:ph type="ftr" sz="quarter" idx="11"/>
          </p:nvPr>
        </p:nvSpPr>
        <p:spPr/>
        <p:txBody>
          <a:bodyPr/>
          <a:lstStyle/>
          <a:p>
            <a:r>
              <a:rPr lang="en-US"/>
              <a:t>Dheeraj     TQM           Unit4</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41F892-3FEB-4ADB-AF7F-75E2368B40BC}" type="datetime1">
              <a:rPr lang="en-US" smtClean="0"/>
              <a:t>3/11/2024</a:t>
            </a:fld>
            <a:endParaRPr lang="en-US"/>
          </a:p>
        </p:txBody>
      </p:sp>
      <p:sp>
        <p:nvSpPr>
          <p:cNvPr id="5" name="Footer Placeholder 4"/>
          <p:cNvSpPr>
            <a:spLocks noGrp="1"/>
          </p:cNvSpPr>
          <p:nvPr>
            <p:ph type="ftr" sz="quarter" idx="11"/>
          </p:nvPr>
        </p:nvSpPr>
        <p:spPr/>
        <p:txBody>
          <a:bodyPr/>
          <a:lstStyle/>
          <a:p>
            <a:r>
              <a:rPr lang="en-US"/>
              <a:t>Dheeraj     TQM           Unit4</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B9A1B0-01DC-42F9-A928-0B05AC79E891}" type="datetime1">
              <a:rPr lang="en-US" smtClean="0"/>
              <a:t>3/11/2024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Dheeraj     TQM           Unit4</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1B34E6-0086-427D-A404-3B2A6BB81F1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nptel.ac.in/courses/117/106/11710686" TargetMode="External"/><Relationship Id="rId7" Type="http://schemas.openxmlformats.org/officeDocument/2006/relationships/hyperlink" Target="https://www.youtube.com/watch?v=2ePeXePNLr" TargetMode="External"/><Relationship Id="rId2" Type="http://schemas.openxmlformats.org/officeDocument/2006/relationships/hyperlink" Target="https://www.youtube.com/watch?v=Iecj9xmIfXM&amp;ab/channel=nptelhrd" TargetMode="External"/><Relationship Id="rId1" Type="http://schemas.openxmlformats.org/officeDocument/2006/relationships/slideLayout" Target="../slideLayouts/slideLayout2.xml"/><Relationship Id="rId6" Type="http://schemas.openxmlformats.org/officeDocument/2006/relationships/hyperlink" Target="https://www.youtube.com/watch?v=qb3mvJ1gb9g" TargetMode="External"/><Relationship Id="rId5" Type="http://schemas.openxmlformats.org/officeDocument/2006/relationships/hyperlink" Target="https://www.youtube.com/watch?v=QifqIoUNTJl" TargetMode="External"/><Relationship Id="rId4" Type="http://schemas.openxmlformats.org/officeDocument/2006/relationships/hyperlink" Target="https://www.youtube.com/watch?v=yWlAOFs04gk"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www.youtube.com/watch?v=yWlAOFs04go" TargetMode="External"/><Relationship Id="rId7" Type="http://schemas.openxmlformats.org/officeDocument/2006/relationships/image" Target="../media/image1.png"/><Relationship Id="rId2" Type="http://schemas.openxmlformats.org/officeDocument/2006/relationships/hyperlink" Target="https://www.youtube.com/watch?v=QEOCAuExJU" TargetMode="External"/><Relationship Id="rId1" Type="http://schemas.openxmlformats.org/officeDocument/2006/relationships/slideLayout" Target="../slideLayouts/slideLayout2.xml"/><Relationship Id="rId6" Type="http://schemas.openxmlformats.org/officeDocument/2006/relationships/hyperlink" Target="https://www.youtube.com/watch?v=2ePeXePNLrs" TargetMode="External"/><Relationship Id="rId5" Type="http://schemas.openxmlformats.org/officeDocument/2006/relationships/hyperlink" Target="https://www.youtube.com/watch?v=qb3mvJ1gb9g" TargetMode="External"/><Relationship Id="rId4" Type="http://schemas.openxmlformats.org/officeDocument/2006/relationships/hyperlink" Target="https://www.youtube.com/watch?v\=QifqIoUNTJM" TargetMode="External"/></Relationships>
</file>

<file path=ppt/slides/_rels/slide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researchgate.net/publication/318654507_Total_Quality_Management_Notes"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817162"/>
          </a:xfrm>
        </p:spPr>
        <p:style>
          <a:lnRef idx="1">
            <a:schemeClr val="accent5"/>
          </a:lnRef>
          <a:fillRef idx="2">
            <a:schemeClr val="accent5"/>
          </a:fillRef>
          <a:effectRef idx="1">
            <a:schemeClr val="accent5"/>
          </a:effectRef>
          <a:fontRef idx="minor">
            <a:schemeClr val="dk1"/>
          </a:fontRef>
        </p:style>
        <p:txBody>
          <a:bodyPr>
            <a:noAutofit/>
          </a:bodyPr>
          <a:lstStyle/>
          <a:p>
            <a:r>
              <a:rPr lang="en-US" sz="2800" b="1" dirty="0">
                <a:latin typeface="Times New Roman" panose="02020603050405020304" pitchFamily="18" charset="0"/>
                <a:cs typeface="Times New Roman" panose="02020603050405020304" pitchFamily="18" charset="0"/>
              </a:rPr>
              <a:t>Noida Institute of Engineering and Technology, Greater Noida</a:t>
            </a:r>
          </a:p>
        </p:txBody>
      </p:sp>
      <p:sp>
        <p:nvSpPr>
          <p:cNvPr id="3" name="Subtitle 2"/>
          <p:cNvSpPr>
            <a:spLocks noGrp="1"/>
          </p:cNvSpPr>
          <p:nvPr>
            <p:ph type="subTitle" idx="1"/>
          </p:nvPr>
        </p:nvSpPr>
        <p:spPr>
          <a:xfrm>
            <a:off x="1447800" y="1027280"/>
            <a:ext cx="6400800" cy="1265148"/>
          </a:xfrm>
        </p:spPr>
        <p:style>
          <a:lnRef idx="2">
            <a:schemeClr val="accent5"/>
          </a:lnRef>
          <a:fillRef idx="1">
            <a:schemeClr val="lt1"/>
          </a:fillRef>
          <a:effectRef idx="0">
            <a:schemeClr val="accent5"/>
          </a:effectRef>
          <a:fontRef idx="minor">
            <a:schemeClr val="dk1"/>
          </a:fontRef>
        </p:style>
        <p:txBody>
          <a:bodyPr>
            <a:normAutofit/>
          </a:bodyPr>
          <a:lstStyle/>
          <a:p>
            <a:r>
              <a:rPr lang="en-GB" sz="2500" dirty="0">
                <a:solidFill>
                  <a:schemeClr val="tx1"/>
                </a:solidFill>
                <a:latin typeface="Times New Roman" panose="02020603050405020304" pitchFamily="18" charset="0"/>
                <a:cs typeface="Times New Roman" panose="02020603050405020304" pitchFamily="18" charset="0"/>
              </a:rPr>
              <a:t>     </a:t>
            </a:r>
          </a:p>
          <a:p>
            <a:r>
              <a:rPr lang="en-GB" sz="3000" b="1" dirty="0">
                <a:solidFill>
                  <a:schemeClr val="tx1"/>
                </a:solidFill>
                <a:latin typeface="Times New Roman" panose="02020603050405020304" pitchFamily="18" charset="0"/>
                <a:cs typeface="Times New Roman" panose="02020603050405020304" pitchFamily="18" charset="0"/>
              </a:rPr>
              <a:t>Quality Concepts</a:t>
            </a:r>
            <a:endParaRPr lang="en-US" sz="3000" b="1" dirty="0">
              <a:solidFill>
                <a:schemeClr val="tx1"/>
              </a:solidFill>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a:xfrm>
            <a:off x="381000" y="6492875"/>
            <a:ext cx="2133600" cy="365125"/>
          </a:xfrm>
        </p:spPr>
        <p:txBody>
          <a:bodyPr/>
          <a:lstStyle/>
          <a:p>
            <a:fld id="{3F700E0E-D892-4E13-99DE-F2492097F73A}" type="datetime1">
              <a:rPr lang="en-US" smtClean="0">
                <a:latin typeface="Times New Roman" panose="02020603050405020304" pitchFamily="18" charset="0"/>
                <a:cs typeface="Times New Roman" panose="02020603050405020304" pitchFamily="18" charset="0"/>
              </a:rPr>
              <a:t>3/11/2024</a:t>
            </a:fld>
            <a:endParaRPr lang="en-US">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3124199" y="6356350"/>
            <a:ext cx="3463987" cy="365125"/>
          </a:xfrm>
        </p:spPr>
        <p:txBody>
          <a:bodyPr/>
          <a:lstStyle/>
          <a:p>
            <a:r>
              <a:rPr lang="en-US">
                <a:latin typeface="Times New Roman" panose="02020603050405020304" pitchFamily="18" charset="0"/>
                <a:cs typeface="Times New Roman" panose="02020603050405020304" pitchFamily="18" charset="0"/>
              </a:rPr>
              <a:t>Dheeraj     TQM           Unit4</a:t>
            </a:r>
            <a:endParaRPr lang="en-US" dirty="0">
              <a:latin typeface="Times New Roman" panose="02020603050405020304" pitchFamily="18" charset="0"/>
              <a:cs typeface="Times New Roman" panose="02020603050405020304" pitchFamily="18" charset="0"/>
            </a:endParaRPr>
          </a:p>
        </p:txBody>
      </p:sp>
      <p:pic>
        <p:nvPicPr>
          <p:cNvPr id="1026" name="Picture 2" descr="E:\NIET\Project\xLogo11.png.pagespeed.ic.pydHLuCQEZ.png"/>
          <p:cNvPicPr>
            <a:picLocks noChangeAspect="1" noChangeArrowheads="1"/>
          </p:cNvPicPr>
          <p:nvPr/>
        </p:nvPicPr>
        <p:blipFill>
          <a:blip r:embed="rId3" cstate="print"/>
          <a:srcRect/>
          <a:stretch>
            <a:fillRect/>
          </a:stretch>
        </p:blipFill>
        <p:spPr bwMode="auto">
          <a:xfrm>
            <a:off x="0" y="0"/>
            <a:ext cx="1447800" cy="817163"/>
          </a:xfrm>
          <a:prstGeom prst="rect">
            <a:avLst/>
          </a:prstGeom>
          <a:noFill/>
        </p:spPr>
      </p:pic>
      <p:sp>
        <p:nvSpPr>
          <p:cNvPr id="6" name="Subtitle 2"/>
          <p:cNvSpPr txBox="1">
            <a:spLocks/>
          </p:cNvSpPr>
          <p:nvPr/>
        </p:nvSpPr>
        <p:spPr>
          <a:xfrm>
            <a:off x="5791200" y="4025590"/>
            <a:ext cx="3048000" cy="168941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lvl="0" algn="ctr">
              <a:spcBef>
                <a:spcPct val="20000"/>
              </a:spcBef>
              <a:defRPr/>
            </a:pPr>
            <a:r>
              <a:rPr lang="en-US" b="1" dirty="0">
                <a:solidFill>
                  <a:schemeClr val="tx1"/>
                </a:solidFill>
                <a:latin typeface="Times New Roman" panose="02020603050405020304" pitchFamily="18" charset="0"/>
                <a:cs typeface="Times New Roman" panose="02020603050405020304" pitchFamily="18" charset="0"/>
              </a:rPr>
              <a:t>DHEERAJ TRIPATHI</a:t>
            </a:r>
          </a:p>
          <a:p>
            <a:pPr lvl="0" algn="ctr">
              <a:spcBef>
                <a:spcPct val="20000"/>
              </a:spcBef>
              <a:defRPr/>
            </a:pPr>
            <a:r>
              <a:rPr lang="en-US" b="1" dirty="0">
                <a:solidFill>
                  <a:schemeClr val="tx1"/>
                </a:solidFill>
                <a:latin typeface="Times New Roman" panose="02020603050405020304" pitchFamily="18" charset="0"/>
                <a:cs typeface="Times New Roman" panose="02020603050405020304" pitchFamily="18" charset="0"/>
              </a:rPr>
              <a:t>Assistant Professor</a:t>
            </a:r>
          </a:p>
          <a:p>
            <a:pPr lvl="0" algn="ctr">
              <a:spcBef>
                <a:spcPct val="20000"/>
              </a:spcBef>
              <a:defRPr/>
            </a:pPr>
            <a:endParaRPr lang="en-US" dirty="0">
              <a:solidFill>
                <a:schemeClr val="tx1"/>
              </a:solidFill>
              <a:latin typeface="Times New Roman" panose="02020603050405020304" pitchFamily="18" charset="0"/>
              <a:cs typeface="Times New Roman" panose="02020603050405020304" pitchFamily="18" charset="0"/>
            </a:endParaRPr>
          </a:p>
          <a:p>
            <a:pPr lvl="0" algn="ctr">
              <a:spcBef>
                <a:spcPct val="20000"/>
              </a:spcBef>
              <a:defRPr/>
            </a:pPr>
            <a:r>
              <a:rPr lang="en-US" dirty="0">
                <a:solidFill>
                  <a:schemeClr val="tx1"/>
                </a:solidFill>
                <a:latin typeface="Times New Roman" panose="02020603050405020304" pitchFamily="18" charset="0"/>
                <a:cs typeface="Times New Roman" panose="02020603050405020304" pitchFamily="18" charset="0"/>
              </a:rPr>
              <a:t>Department of Electronics and Communication Engineering</a:t>
            </a:r>
          </a:p>
        </p:txBody>
      </p:sp>
      <p:pic>
        <p:nvPicPr>
          <p:cNvPr id="1027" name="Picture 3" descr="C:\Users\Manks\Downloads\128_calendar-schedule-credit-mortgage-date-512.png"/>
          <p:cNvPicPr>
            <a:picLocks noChangeAspect="1" noChangeArrowheads="1"/>
          </p:cNvPicPr>
          <p:nvPr/>
        </p:nvPicPr>
        <p:blipFill>
          <a:blip r:embed="rId4" cstate="print"/>
          <a:srcRect/>
          <a:stretch>
            <a:fillRect/>
          </a:stretch>
        </p:blipFill>
        <p:spPr bwMode="auto">
          <a:xfrm flipH="1">
            <a:off x="381000" y="5943600"/>
            <a:ext cx="533400" cy="533400"/>
          </a:xfrm>
          <a:prstGeom prst="rect">
            <a:avLst/>
          </a:prstGeom>
          <a:noFill/>
        </p:spPr>
      </p:pic>
      <p:pic>
        <p:nvPicPr>
          <p:cNvPr id="11" name="Picture 4" descr="C:\Users\Manks\Downloads\speak.png"/>
          <p:cNvPicPr>
            <a:picLocks noChangeAspect="1" noChangeArrowheads="1"/>
          </p:cNvPicPr>
          <p:nvPr/>
        </p:nvPicPr>
        <p:blipFill>
          <a:blip r:embed="rId5" cstate="print"/>
          <a:srcRect/>
          <a:stretch>
            <a:fillRect/>
          </a:stretch>
        </p:blipFill>
        <p:spPr bwMode="auto">
          <a:xfrm>
            <a:off x="6477000" y="2590800"/>
            <a:ext cx="1524000" cy="1524000"/>
          </a:xfrm>
          <a:prstGeom prst="rect">
            <a:avLst/>
          </a:prstGeom>
          <a:noFill/>
        </p:spPr>
      </p:pic>
      <p:sp>
        <p:nvSpPr>
          <p:cNvPr id="12" name="Subtitle 2"/>
          <p:cNvSpPr txBox="1">
            <a:spLocks/>
          </p:cNvSpPr>
          <p:nvPr/>
        </p:nvSpPr>
        <p:spPr>
          <a:xfrm>
            <a:off x="971550" y="2625609"/>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Unit:</a:t>
            </a:r>
            <a:r>
              <a:rPr kumimoji="0" lang="en-US" sz="25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lang="en-GB" sz="2500" dirty="0">
                <a:solidFill>
                  <a:schemeClr val="tx1"/>
                </a:solidFill>
                <a:latin typeface="Times New Roman" panose="02020603050405020304" pitchFamily="18" charset="0"/>
                <a:cs typeface="Times New Roman" panose="02020603050405020304" pitchFamily="18" charset="0"/>
              </a:rPr>
              <a:t>01</a:t>
            </a:r>
            <a:endParaRPr kumimoji="0" lang="en-US" sz="25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14" name="Subtitle 2"/>
          <p:cNvSpPr txBox="1">
            <a:spLocks/>
          </p:cNvSpPr>
          <p:nvPr/>
        </p:nvSpPr>
        <p:spPr>
          <a:xfrm>
            <a:off x="138830" y="3276600"/>
            <a:ext cx="48006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lvl="0" algn="ctr">
              <a:spcBef>
                <a:spcPct val="20000"/>
              </a:spcBef>
              <a:defRPr/>
            </a:pPr>
            <a:r>
              <a:rPr lang="en-IN" sz="2000" dirty="0">
                <a:latin typeface="Times New Roman" panose="02020603050405020304" pitchFamily="18" charset="0"/>
                <a:cs typeface="Times New Roman" panose="02020603050405020304" pitchFamily="18" charset="0"/>
              </a:rPr>
              <a:t>TOTAL QUALITY MANAGEMENT</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5" name="Subtitle 2"/>
          <p:cNvSpPr txBox="1">
            <a:spLocks/>
          </p:cNvSpPr>
          <p:nvPr/>
        </p:nvSpPr>
        <p:spPr>
          <a:xfrm>
            <a:off x="304800" y="5197476"/>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br>
              <a:rPr kumimoji="0" lang="en-US" sz="20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br>
            <a:r>
              <a:rPr kumimoji="0" lang="en-US" sz="20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B Tech V</a:t>
            </a:r>
            <a:r>
              <a:rPr kumimoji="0" lang="en-GB" sz="20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III</a:t>
            </a:r>
            <a:r>
              <a:rPr kumimoji="0" lang="en-US" sz="20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000" b="0" i="0" u="none" strike="noStrike" kern="1200" cap="none" spc="0" normalizeH="0" noProof="0" dirty="0" err="1">
                <a:ln>
                  <a:noFill/>
                </a:ln>
                <a:solidFill>
                  <a:schemeClr val="tx1"/>
                </a:solidFill>
                <a:effectLst/>
                <a:uLnTx/>
                <a:uFillTx/>
                <a:latin typeface="Times New Roman" panose="02020603050405020304" pitchFamily="18" charset="0"/>
                <a:cs typeface="Times New Roman" panose="02020603050405020304" pitchFamily="18" charset="0"/>
              </a:rPr>
              <a:t>Sem</a:t>
            </a:r>
            <a:r>
              <a:rPr lang="en-GB" sz="2000" dirty="0">
                <a:solidFill>
                  <a:schemeClr val="tx1"/>
                </a:solidFill>
                <a:latin typeface="Times New Roman" panose="02020603050405020304" pitchFamily="18" charset="0"/>
                <a:cs typeface="Times New Roman" panose="02020603050405020304" pitchFamily="18" charset="0"/>
              </a:rPr>
              <a:t> </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17" name="Subtitle 2">
            <a:extLst>
              <a:ext uri="{FF2B5EF4-FFF2-40B4-BE49-F238E27FC236}">
                <a16:creationId xmlns:a16="http://schemas.microsoft.com/office/drawing/2014/main" id="{96EA64DF-A4CC-4A31-9B15-A36060969557}"/>
              </a:ext>
            </a:extLst>
          </p:cNvPr>
          <p:cNvSpPr txBox="1">
            <a:spLocks/>
          </p:cNvSpPr>
          <p:nvPr/>
        </p:nvSpPr>
        <p:spPr>
          <a:xfrm>
            <a:off x="202580" y="4346027"/>
            <a:ext cx="4191000" cy="605632"/>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r>
              <a:rPr lang="en-US" sz="2000" dirty="0">
                <a:solidFill>
                  <a:schemeClr val="tx1"/>
                </a:solidFill>
                <a:latin typeface="Times New Roman" panose="02020603050405020304" pitchFamily="18" charset="0"/>
                <a:cs typeface="Times New Roman" panose="02020603050405020304" pitchFamily="18" charset="0"/>
              </a:rPr>
              <a:t>SUBJECT CODE</a:t>
            </a:r>
            <a:r>
              <a:rPr lang="en-US" sz="2000">
                <a:solidFill>
                  <a:schemeClr val="tx1"/>
                </a:solidFill>
                <a:latin typeface="Times New Roman" panose="02020603050405020304" pitchFamily="18" charset="0"/>
                <a:cs typeface="Times New Roman" panose="02020603050405020304" pitchFamily="18" charset="0"/>
              </a:rPr>
              <a:t>: AOE0861</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8CC63BC5-33D2-4DA8-ADD6-EF9E4D905906}"/>
              </a:ext>
            </a:extLst>
          </p:cNvPr>
          <p:cNvPicPr>
            <a:picLocks noChangeAspect="1"/>
          </p:cNvPicPr>
          <p:nvPr/>
        </p:nvPicPr>
        <p:blipFill>
          <a:blip r:embed="rId6" cstate="print"/>
          <a:stretch>
            <a:fillRect/>
          </a:stretch>
        </p:blipFill>
        <p:spPr>
          <a:xfrm>
            <a:off x="0" y="-1"/>
            <a:ext cx="1371600" cy="879475"/>
          </a:xfrm>
          <a:prstGeom prst="rect">
            <a:avLst/>
          </a:prstGeom>
        </p:spPr>
      </p:pic>
      <p:pic>
        <p:nvPicPr>
          <p:cNvPr id="8" name="Picture 4" descr="C:\Users\Manks\Downloads\speak.png">
            <a:extLst>
              <a:ext uri="{FF2B5EF4-FFF2-40B4-BE49-F238E27FC236}">
                <a16:creationId xmlns:a16="http://schemas.microsoft.com/office/drawing/2014/main" id="{AC98BC0D-800C-58E6-6505-D49B685CC728}"/>
              </a:ext>
            </a:extLst>
          </p:cNvPr>
          <p:cNvPicPr>
            <a:picLocks noChangeAspect="1" noChangeArrowheads="1"/>
          </p:cNvPicPr>
          <p:nvPr/>
        </p:nvPicPr>
        <p:blipFill>
          <a:blip r:embed="rId7"/>
          <a:stretch>
            <a:fillRect/>
          </a:stretch>
        </p:blipFill>
        <p:spPr bwMode="auto">
          <a:xfrm>
            <a:off x="6641353" y="2397009"/>
            <a:ext cx="1195294" cy="1524000"/>
          </a:xfrm>
          <a:prstGeom prst="rect">
            <a:avLst/>
          </a:prstGeom>
          <a:noFill/>
        </p:spPr>
      </p:pic>
    </p:spTree>
    <p:extLst>
      <p:ext uri="{BB962C8B-B14F-4D97-AF65-F5344CB8AC3E}">
        <p14:creationId xmlns:p14="http://schemas.microsoft.com/office/powerpoint/2010/main" val="2470956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1835BC6C-DEB5-4708-95C9-DF486F19D6E4}" type="datetime1">
              <a:rPr lang="en-US" smtClean="0"/>
              <a:t>3/11/2024</a:t>
            </a:fld>
            <a:endParaRPr lang="en-US"/>
          </a:p>
        </p:txBody>
      </p:sp>
      <p:sp>
        <p:nvSpPr>
          <p:cNvPr id="6" name="Slide Number Placeholder 5"/>
          <p:cNvSpPr>
            <a:spLocks noGrp="1"/>
          </p:cNvSpPr>
          <p:nvPr>
            <p:ph type="sldNum" sz="quarter" idx="12"/>
          </p:nvPr>
        </p:nvSpPr>
        <p:spPr/>
        <p:txBody>
          <a:bodyPr/>
          <a:lstStyle/>
          <a:p>
            <a:pPr>
              <a:defRPr/>
            </a:pPr>
            <a:fld id="{D0FE1173-937A-497F-9834-FDABE88A4187}" type="slidenum">
              <a:rPr lang="en-US" smtClean="0"/>
              <a:pPr>
                <a:defRPr/>
              </a:pPr>
              <a:t>2</a:t>
            </a:fld>
            <a:endParaRPr lang="en-US"/>
          </a:p>
        </p:txBody>
      </p:sp>
      <p:sp>
        <p:nvSpPr>
          <p:cNvPr id="10" name="Title 1"/>
          <p:cNvSpPr>
            <a:spLocks noGrp="1"/>
          </p:cNvSpPr>
          <p:nvPr>
            <p:ph type="title"/>
          </p:nvPr>
        </p:nvSpPr>
        <p:spPr>
          <a:xfrm>
            <a:off x="1600200" y="0"/>
            <a:ext cx="7543800" cy="868362"/>
          </a:xfrm>
        </p:spPr>
        <p:style>
          <a:lnRef idx="1">
            <a:schemeClr val="accent5"/>
          </a:lnRef>
          <a:fillRef idx="2">
            <a:schemeClr val="accent5"/>
          </a:fillRef>
          <a:effectRef idx="1">
            <a:schemeClr val="accent5"/>
          </a:effectRef>
          <a:fontRef idx="minor">
            <a:schemeClr val="dk1"/>
          </a:fontRef>
        </p:style>
        <p:txBody>
          <a:bodyPr>
            <a:noAutofit/>
          </a:bodyPr>
          <a:lstStyle/>
          <a:p>
            <a:pPr>
              <a:defRPr/>
            </a:pPr>
            <a:r>
              <a:rPr lang="en-US" sz="2400" b="1" dirty="0">
                <a:latin typeface="Times New Roman" pitchFamily="18" charset="0"/>
                <a:cs typeface="Times New Roman" pitchFamily="18" charset="0"/>
              </a:rPr>
              <a:t>NOIDA INSTITUTE OF ENGINEERING AND TECHNOLOGY, GREATER NOIDA</a:t>
            </a:r>
          </a:p>
        </p:txBody>
      </p:sp>
      <p:sp>
        <p:nvSpPr>
          <p:cNvPr id="8" name="Rectangle 7"/>
          <p:cNvSpPr/>
          <p:nvPr/>
        </p:nvSpPr>
        <p:spPr>
          <a:xfrm>
            <a:off x="3485805" y="990600"/>
            <a:ext cx="2565126" cy="461665"/>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r>
              <a:rPr lang="en-US" sz="2400" dirty="0">
                <a:latin typeface="Times New Roman" panose="02020603050405020304" pitchFamily="18" charset="0"/>
                <a:cs typeface="Times New Roman" panose="02020603050405020304" pitchFamily="18" charset="0"/>
              </a:rPr>
              <a:t>Evaluation Scheme</a:t>
            </a:r>
          </a:p>
        </p:txBody>
      </p:sp>
      <p:pic>
        <p:nvPicPr>
          <p:cNvPr id="12" name="Picture 11"/>
          <p:cNvPicPr>
            <a:picLocks noChangeAspect="1"/>
          </p:cNvPicPr>
          <p:nvPr/>
        </p:nvPicPr>
        <p:blipFill>
          <a:blip r:embed="rId2" cstate="print"/>
          <a:stretch>
            <a:fillRect/>
          </a:stretch>
        </p:blipFill>
        <p:spPr>
          <a:xfrm>
            <a:off x="0" y="-1"/>
            <a:ext cx="1371600" cy="879475"/>
          </a:xfrm>
          <a:prstGeom prst="rect">
            <a:avLst/>
          </a:prstGeom>
        </p:spPr>
      </p:pic>
      <p:sp>
        <p:nvSpPr>
          <p:cNvPr id="13" name="Footer Placeholder 12"/>
          <p:cNvSpPr>
            <a:spLocks noGrp="1"/>
          </p:cNvSpPr>
          <p:nvPr>
            <p:ph type="ftr" sz="quarter" idx="11"/>
          </p:nvPr>
        </p:nvSpPr>
        <p:spPr>
          <a:xfrm>
            <a:off x="2209800" y="6248400"/>
            <a:ext cx="5105400" cy="914400"/>
          </a:xfrm>
        </p:spPr>
        <p:txBody>
          <a:bodyPr/>
          <a:lstStyle/>
          <a:p>
            <a:r>
              <a:rPr lang="en-US">
                <a:latin typeface="Times New Roman" panose="02020603050405020304" pitchFamily="18" charset="0"/>
                <a:cs typeface="Times New Roman" panose="02020603050405020304" pitchFamily="18" charset="0"/>
              </a:rPr>
              <a:t>Dheeraj     TQM           Unit4</a:t>
            </a:r>
            <a:endParaRPr lang="en-US" dirty="0">
              <a:latin typeface="Times New Roman" panose="02020603050405020304" pitchFamily="18" charset="0"/>
              <a:cs typeface="Times New Roman" panose="02020603050405020304" pitchFamily="18" charset="0"/>
            </a:endParaRPr>
          </a:p>
        </p:txBody>
      </p:sp>
      <p:pic>
        <p:nvPicPr>
          <p:cNvPr id="2" name="Picture 1" descr="A document with text and numbers&#10;&#10;Description automatically generated">
            <a:extLst>
              <a:ext uri="{FF2B5EF4-FFF2-40B4-BE49-F238E27FC236}">
                <a16:creationId xmlns:a16="http://schemas.microsoft.com/office/drawing/2014/main" id="{F52B1722-BCFF-C0BC-139C-3C774CB131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766" y="938798"/>
            <a:ext cx="7777673" cy="5046890"/>
          </a:xfrm>
          <a:prstGeom prst="rect">
            <a:avLst/>
          </a:prstGeom>
        </p:spPr>
      </p:pic>
    </p:spTree>
    <p:extLst>
      <p:ext uri="{BB962C8B-B14F-4D97-AF65-F5344CB8AC3E}">
        <p14:creationId xmlns:p14="http://schemas.microsoft.com/office/powerpoint/2010/main" val="3952387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0"/>
            <a:ext cx="7804150" cy="908049"/>
          </a:xfrm>
          <a:solidFill>
            <a:schemeClr val="accent5">
              <a:lumMod val="40000"/>
              <a:lumOff val="60000"/>
            </a:schemeClr>
          </a:solidFill>
        </p:spPr>
        <p:style>
          <a:lnRef idx="1">
            <a:schemeClr val="accent1"/>
          </a:lnRef>
          <a:fillRef idx="2">
            <a:schemeClr val="accent1"/>
          </a:fillRef>
          <a:effectRef idx="1">
            <a:schemeClr val="accent1"/>
          </a:effectRef>
          <a:fontRef idx="minor">
            <a:schemeClr val="dk1"/>
          </a:fontRef>
        </p:style>
        <p:txBody>
          <a:bodyPr>
            <a:noAutofit/>
          </a:bodyPr>
          <a:lstStyle/>
          <a:p>
            <a:pPr algn="ctr">
              <a:defRPr/>
            </a:pPr>
            <a:r>
              <a:rPr lang="en-IN" sz="3200" b="1" dirty="0">
                <a:latin typeface="Times New Roman" panose="02020603050405020304" pitchFamily="18" charset="0"/>
                <a:cs typeface="Times New Roman" panose="02020603050405020304" pitchFamily="18" charset="0"/>
              </a:rPr>
              <a:t>Subject Syllabus</a:t>
            </a:r>
          </a:p>
        </p:txBody>
      </p:sp>
      <p:sp>
        <p:nvSpPr>
          <p:cNvPr id="3" name="Date Placeholder 2"/>
          <p:cNvSpPr>
            <a:spLocks noGrp="1"/>
          </p:cNvSpPr>
          <p:nvPr>
            <p:ph type="dt" sz="quarter" idx="10"/>
          </p:nvPr>
        </p:nvSpPr>
        <p:spPr>
          <a:xfrm>
            <a:off x="405161" y="6492875"/>
            <a:ext cx="2133600" cy="365125"/>
          </a:xfrm>
        </p:spPr>
        <p:txBody>
          <a:bodyPr/>
          <a:lstStyle/>
          <a:p>
            <a:pPr>
              <a:defRPr/>
            </a:pPr>
            <a:fld id="{410FF6FF-117A-44E5-9C07-BA5F866473DE}" type="datetime1">
              <a:rPr lang="en-US" smtClean="0">
                <a:solidFill>
                  <a:prstClr val="black">
                    <a:tint val="75000"/>
                  </a:prstClr>
                </a:solidFill>
              </a:rPr>
              <a:t>3/11/2024</a:t>
            </a:fld>
            <a:endParaRPr lang="en-IN" dirty="0">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4DF8709E-D52B-4E50-83C6-3B1E81CF4273}" type="slidenum">
              <a:rPr lang="en-IN" smtClean="0">
                <a:solidFill>
                  <a:prstClr val="black">
                    <a:tint val="75000"/>
                  </a:prstClr>
                </a:solidFill>
              </a:rPr>
              <a:pPr>
                <a:defRPr/>
              </a:pPr>
              <a:t>3</a:t>
            </a:fld>
            <a:endParaRPr lang="en-IN">
              <a:solidFill>
                <a:prstClr val="black">
                  <a:tint val="75000"/>
                </a:prstClr>
              </a:solidFill>
            </a:endParaRPr>
          </a:p>
        </p:txBody>
      </p:sp>
      <p:pic>
        <p:nvPicPr>
          <p:cNvPr id="6" name="Picture 5"/>
          <p:cNvPicPr>
            <a:picLocks noChangeAspect="1"/>
          </p:cNvPicPr>
          <p:nvPr/>
        </p:nvPicPr>
        <p:blipFill>
          <a:blip r:embed="rId3" cstate="print"/>
          <a:stretch>
            <a:fillRect/>
          </a:stretch>
        </p:blipFill>
        <p:spPr>
          <a:xfrm>
            <a:off x="0" y="-1"/>
            <a:ext cx="1371600" cy="879475"/>
          </a:xfrm>
          <a:prstGeom prst="rect">
            <a:avLst/>
          </a:prstGeom>
        </p:spPr>
      </p:pic>
      <p:sp>
        <p:nvSpPr>
          <p:cNvPr id="15" name="Footer Placeholder 12"/>
          <p:cNvSpPr txBox="1">
            <a:spLocks/>
          </p:cNvSpPr>
          <p:nvPr/>
        </p:nvSpPr>
        <p:spPr>
          <a:xfrm>
            <a:off x="2209800" y="6248400"/>
            <a:ext cx="5105400" cy="9144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dirty="0">
                <a:latin typeface="Times New Roman" panose="02020603050405020304" pitchFamily="18" charset="0"/>
                <a:cs typeface="Times New Roman" panose="02020603050405020304" pitchFamily="18" charset="0"/>
              </a:rPr>
              <a:t>MD.Raza     DL&amp;CD             Unit1</a:t>
            </a:r>
            <a:endParaRPr lang="en-US"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7C05387-EF3E-7612-9F92-C11AE79A6EBE}"/>
              </a:ext>
            </a:extLst>
          </p:cNvPr>
          <p:cNvSpPr>
            <a:spLocks noGrp="1"/>
          </p:cNvSpPr>
          <p:nvPr>
            <p:ph type="ftr" sz="quarter" idx="11"/>
          </p:nvPr>
        </p:nvSpPr>
        <p:spPr/>
        <p:txBody>
          <a:bodyPr/>
          <a:lstStyle/>
          <a:p>
            <a:r>
              <a:rPr lang="en-US"/>
              <a:t>Dheeraj     TQM           Unit4</a:t>
            </a:r>
            <a:endParaRPr lang="en-US" dirty="0"/>
          </a:p>
        </p:txBody>
      </p:sp>
      <p:pic>
        <p:nvPicPr>
          <p:cNvPr id="7" name="Picture 6">
            <a:extLst>
              <a:ext uri="{FF2B5EF4-FFF2-40B4-BE49-F238E27FC236}">
                <a16:creationId xmlns:a16="http://schemas.microsoft.com/office/drawing/2014/main" id="{C407A760-4CCE-417E-E975-416841D1BB68}"/>
              </a:ext>
            </a:extLst>
          </p:cNvPr>
          <p:cNvPicPr>
            <a:picLocks noChangeAspect="1"/>
          </p:cNvPicPr>
          <p:nvPr/>
        </p:nvPicPr>
        <p:blipFill>
          <a:blip r:embed="rId4"/>
          <a:stretch>
            <a:fillRect/>
          </a:stretch>
        </p:blipFill>
        <p:spPr>
          <a:xfrm>
            <a:off x="571500" y="479425"/>
            <a:ext cx="8001000" cy="5899150"/>
          </a:xfrm>
          <a:prstGeom prst="rect">
            <a:avLst/>
          </a:prstGeom>
        </p:spPr>
      </p:pic>
    </p:spTree>
    <p:extLst>
      <p:ext uri="{BB962C8B-B14F-4D97-AF65-F5344CB8AC3E}">
        <p14:creationId xmlns:p14="http://schemas.microsoft.com/office/powerpoint/2010/main" val="2285898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0AC03D9C-81C7-4B48-8CE3-F337D95251DE}" type="datetime1">
              <a:rPr lang="en-US" sz="1200" smtClean="0"/>
              <a:t>3/11/2024</a:t>
            </a:fld>
            <a:endParaRPr lang="en-US" sz="1200"/>
          </a:p>
        </p:txBody>
      </p:sp>
      <p:sp>
        <p:nvSpPr>
          <p:cNvPr id="2" name="Footer Placeholder 1"/>
          <p:cNvSpPr>
            <a:spLocks noGrp="1"/>
          </p:cNvSpPr>
          <p:nvPr>
            <p:ph type="ftr" sz="quarter" idx="11"/>
          </p:nvPr>
        </p:nvSpPr>
        <p:spPr>
          <a:xfrm>
            <a:off x="3028949" y="6356351"/>
            <a:ext cx="3589201" cy="365125"/>
          </a:xfrm>
        </p:spPr>
        <p:txBody>
          <a:bodyPr/>
          <a:lstStyle/>
          <a:p>
            <a:r>
              <a:rPr lang="en-US" sz="1200"/>
              <a:t>Dheeraj     TQM           Unit4</a:t>
            </a:r>
            <a:endParaRPr lang="en-US" sz="1200" dirty="0"/>
          </a:p>
        </p:txBody>
      </p:sp>
      <p:sp>
        <p:nvSpPr>
          <p:cNvPr id="8" name="Title 1"/>
          <p:cNvSpPr txBox="1">
            <a:spLocks/>
          </p:cNvSpPr>
          <p:nvPr/>
        </p:nvSpPr>
        <p:spPr>
          <a:xfrm>
            <a:off x="1371600" y="1"/>
            <a:ext cx="7772400" cy="107482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Branch wise Applications</a:t>
            </a:r>
            <a:endParaRPr kumimoji="0" lang="en-US" sz="32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z="1200" smtClean="0"/>
              <a:pPr/>
              <a:t>4</a:t>
            </a:fld>
            <a:endParaRPr lang="en-US" sz="1200"/>
          </a:p>
        </p:txBody>
      </p:sp>
      <p:sp>
        <p:nvSpPr>
          <p:cNvPr id="3" name="Rectangle 2"/>
          <p:cNvSpPr/>
          <p:nvPr/>
        </p:nvSpPr>
        <p:spPr>
          <a:xfrm>
            <a:off x="313149" y="1353803"/>
            <a:ext cx="8354862" cy="3170099"/>
          </a:xfrm>
          <a:prstGeom prst="rect">
            <a:avLst/>
          </a:prstGeom>
        </p:spPr>
        <p:txBody>
          <a:bodyPr wrap="square">
            <a:spAutoFit/>
          </a:bodyPr>
          <a:lstStyle/>
          <a:p>
            <a:pPr marL="285750" indent="-28575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For all Braches of engineering the Total Quality Management is used to </a:t>
            </a:r>
          </a:p>
          <a:p>
            <a:pPr marL="285750" indent="-28575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fault detection on production level</a:t>
            </a:r>
          </a:p>
          <a:p>
            <a:pPr marL="285750" indent="-28575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Quality functions in services</a:t>
            </a:r>
          </a:p>
          <a:p>
            <a:pPr marL="285750" indent="-28575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Total productive maintenance</a:t>
            </a:r>
          </a:p>
          <a:p>
            <a:pPr marL="285750" indent="-28575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Leadership in quality control</a:t>
            </a:r>
          </a:p>
        </p:txBody>
      </p:sp>
      <p:pic>
        <p:nvPicPr>
          <p:cNvPr id="7" name="Picture 6"/>
          <p:cNvPicPr>
            <a:picLocks noChangeAspect="1"/>
          </p:cNvPicPr>
          <p:nvPr/>
        </p:nvPicPr>
        <p:blipFill>
          <a:blip r:embed="rId3"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3975758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19200"/>
            <a:ext cx="8229600" cy="4525963"/>
          </a:xfrm>
        </p:spPr>
        <p:txBody>
          <a:bodyPr>
            <a:normAutofit fontScale="25000" lnSpcReduction="20000"/>
          </a:bodyPr>
          <a:lstStyle/>
          <a:p>
            <a:pPr marL="0" indent="0" algn="justLow">
              <a:lnSpc>
                <a:spcPct val="170000"/>
              </a:lnSpc>
              <a:buNone/>
            </a:pPr>
            <a:r>
              <a:rPr lang="en-IN" sz="8800" dirty="0">
                <a:latin typeface="Times New Roman" panose="02020603050405020304" pitchFamily="18" charset="0"/>
                <a:cs typeface="Times New Roman" panose="02020603050405020304" pitchFamily="18" charset="0"/>
              </a:rPr>
              <a:t>The intended objectives of this course are given as follows: </a:t>
            </a:r>
          </a:p>
          <a:p>
            <a:pPr algn="just">
              <a:lnSpc>
                <a:spcPct val="120000"/>
              </a:lnSpc>
            </a:pPr>
            <a:r>
              <a:rPr lang="en-IN" sz="8800" dirty="0">
                <a:latin typeface="Times New Roman" panose="02020603050405020304" pitchFamily="18" charset="0"/>
                <a:cs typeface="Times New Roman" panose="02020603050405020304" pitchFamily="18" charset="0"/>
              </a:rPr>
              <a:t>Study about evolution of Total Quality Management, inspection and control of a product.</a:t>
            </a:r>
          </a:p>
          <a:p>
            <a:pPr algn="just">
              <a:lnSpc>
                <a:spcPct val="120000"/>
              </a:lnSpc>
            </a:pPr>
            <a:r>
              <a:rPr lang="en-IN" sz="8800" dirty="0">
                <a:latin typeface="Times New Roman" panose="02020603050405020304" pitchFamily="18" charset="0"/>
                <a:cs typeface="Times New Roman" panose="02020603050405020304" pitchFamily="18" charset="0"/>
              </a:rPr>
              <a:t>Study about organization structure , design and quality function</a:t>
            </a:r>
          </a:p>
          <a:p>
            <a:pPr algn="just">
              <a:lnSpc>
                <a:spcPct val="120000"/>
              </a:lnSpc>
            </a:pPr>
            <a:r>
              <a:rPr lang="en-IN" sz="8800" dirty="0">
                <a:latin typeface="Times New Roman" panose="02020603050405020304" pitchFamily="18" charset="0"/>
                <a:cs typeface="Times New Roman" panose="02020603050405020304" pitchFamily="18" charset="0"/>
              </a:rPr>
              <a:t>Analysis of control chart and its application </a:t>
            </a:r>
          </a:p>
          <a:p>
            <a:pPr algn="just">
              <a:lnSpc>
                <a:spcPct val="120000"/>
              </a:lnSpc>
            </a:pPr>
            <a:r>
              <a:rPr lang="en-IN" sz="8800" dirty="0">
                <a:latin typeface="Times New Roman" panose="02020603050405020304" pitchFamily="18" charset="0"/>
                <a:cs typeface="Times New Roman" panose="02020603050405020304" pitchFamily="18" charset="0"/>
              </a:rPr>
              <a:t>Study of defects diagnosis and its prevention</a:t>
            </a:r>
          </a:p>
          <a:p>
            <a:pPr algn="just">
              <a:lnSpc>
                <a:spcPct val="120000"/>
              </a:lnSpc>
            </a:pPr>
            <a:r>
              <a:rPr lang="en-IN" sz="8800" dirty="0">
                <a:latin typeface="Times New Roman" panose="02020603050405020304" pitchFamily="18" charset="0"/>
                <a:cs typeface="Times New Roman" panose="02020603050405020304" pitchFamily="18" charset="0"/>
              </a:rPr>
              <a:t>Study about various standards and  its concepts</a:t>
            </a:r>
            <a:endParaRPr lang="en-IN" sz="6000" dirty="0">
              <a:latin typeface="Times New Roman" panose="02020603050405020304" pitchFamily="18" charset="0"/>
              <a:cs typeface="Times New Roman" panose="02020603050405020304" pitchFamily="18" charset="0"/>
            </a:endParaRPr>
          </a:p>
          <a:p>
            <a:pPr algn="ctr">
              <a:buNone/>
            </a:pP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17B272C-3B38-4F27-BD92-347CBD255834}" type="datetime1">
              <a:rPr lang="en-US" smtClean="0"/>
              <a:t>3/11/2024</a:t>
            </a:fld>
            <a:endParaRPr lang="en-US"/>
          </a:p>
        </p:txBody>
      </p:sp>
      <p:sp>
        <p:nvSpPr>
          <p:cNvPr id="2" name="Footer Placeholder 9">
            <a:extLst>
              <a:ext uri="{FF2B5EF4-FFF2-40B4-BE49-F238E27FC236}">
                <a16:creationId xmlns:a16="http://schemas.microsoft.com/office/drawing/2014/main" id="{F75A9204-A89D-6240-90E7-FEB6E7FE0408}"/>
              </a:ext>
            </a:extLst>
          </p:cNvPr>
          <p:cNvSpPr>
            <a:spLocks noGrp="1"/>
          </p:cNvSpPr>
          <p:nvPr>
            <p:ph type="ftr" sz="quarter" idx="11"/>
          </p:nvPr>
        </p:nvSpPr>
        <p:spPr>
          <a:xfrm>
            <a:off x="2514600" y="6356350"/>
            <a:ext cx="5029200" cy="365125"/>
          </a:xfrm>
        </p:spPr>
        <p:txBody>
          <a:bodyPr/>
          <a:lstStyle/>
          <a:p>
            <a:r>
              <a:rPr lang="en-US"/>
              <a:t>Dheeraj     TQM           Unit4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30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30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3723442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quarter" idx="10"/>
          </p:nvPr>
        </p:nvSpPr>
        <p:spPr/>
        <p:txBody>
          <a:bodyPr/>
          <a:lstStyle/>
          <a:p>
            <a:pPr>
              <a:defRPr/>
            </a:pPr>
            <a:fld id="{4813F435-5866-47B2-B614-D376C7EDEC64}" type="datetime1">
              <a:rPr lang="en-US" smtClean="0"/>
              <a:t>3/11/2024</a:t>
            </a:fld>
            <a:endParaRPr lang="en-US"/>
          </a:p>
        </p:txBody>
      </p:sp>
      <p:sp>
        <p:nvSpPr>
          <p:cNvPr id="18435"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pPr>
            <a:fld id="{B79BC9A5-13AF-441B-8742-0B06E73E3B5E}" type="slidenum">
              <a:rPr lang="en-US" altLang="en-US" sz="1200">
                <a:solidFill>
                  <a:srgbClr val="898989"/>
                </a:solidFill>
              </a:rPr>
              <a:pPr>
                <a:spcBef>
                  <a:spcPct val="0"/>
                </a:spcBef>
                <a:buFontTx/>
                <a:buNone/>
              </a:pPr>
              <a:t>6</a:t>
            </a:fld>
            <a:endParaRPr lang="en-US" altLang="en-US" sz="1200">
              <a:solidFill>
                <a:srgbClr val="898989"/>
              </a:solidFill>
            </a:endParaRPr>
          </a:p>
        </p:txBody>
      </p:sp>
      <p:sp>
        <p:nvSpPr>
          <p:cNvPr id="8" name="Title 1"/>
          <p:cNvSpPr txBox="1">
            <a:spLocks/>
          </p:cNvSpPr>
          <p:nvPr/>
        </p:nvSpPr>
        <p:spPr>
          <a:xfrm>
            <a:off x="1371600" y="0"/>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dirty="0">
                <a:latin typeface="Times New Roman" panose="02020603050405020304" pitchFamily="18" charset="0"/>
                <a:cs typeface="Times New Roman" panose="02020603050405020304" pitchFamily="18" charset="0"/>
              </a:rPr>
              <a:t>Course Outcomes</a:t>
            </a:r>
          </a:p>
        </p:txBody>
      </p:sp>
      <p:pic>
        <p:nvPicPr>
          <p:cNvPr id="18437" name="Picture 2" descr="E:\NIET\Project\xLogo11.png.pagespeed.ic.pydHLuCQEZ.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4478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ooter Placeholder 12"/>
          <p:cNvSpPr>
            <a:spLocks noGrp="1"/>
          </p:cNvSpPr>
          <p:nvPr>
            <p:ph type="ftr" sz="quarter" idx="11"/>
          </p:nvPr>
        </p:nvSpPr>
        <p:spPr>
          <a:xfrm>
            <a:off x="2286000" y="6248400"/>
            <a:ext cx="5029200" cy="365125"/>
          </a:xfrm>
        </p:spPr>
        <p:txBody>
          <a:bodyPr/>
          <a:lstStyle/>
          <a:p>
            <a:pPr>
              <a:defRPr/>
            </a:pPr>
            <a:r>
              <a:rPr lang="en-US"/>
              <a:t>Dheeraj     TQM           Unit4</a:t>
            </a:r>
            <a:endParaRPr lang="en-US" dirty="0"/>
          </a:p>
        </p:txBody>
      </p:sp>
      <p:graphicFrame>
        <p:nvGraphicFramePr>
          <p:cNvPr id="10" name="Table 9"/>
          <p:cNvGraphicFramePr>
            <a:graphicFrameLocks noGrp="1"/>
          </p:cNvGraphicFramePr>
          <p:nvPr>
            <p:extLst>
              <p:ext uri="{D42A27DB-BD31-4B8C-83A1-F6EECF244321}">
                <p14:modId xmlns:p14="http://schemas.microsoft.com/office/powerpoint/2010/main" val="2253175225"/>
              </p:ext>
            </p:extLst>
          </p:nvPr>
        </p:nvGraphicFramePr>
        <p:xfrm>
          <a:off x="990600" y="1524000"/>
          <a:ext cx="7848600" cy="3794124"/>
        </p:xfrm>
        <a:graphic>
          <a:graphicData uri="http://schemas.openxmlformats.org/drawingml/2006/table">
            <a:tbl>
              <a:tblPr firstRow="1" firstCol="1" bandRow="1">
                <a:tableStyleId>{BDBED569-4797-4DF1-A0F4-6AAB3CD982D8}</a:tableStyleId>
              </a:tblPr>
              <a:tblGrid>
                <a:gridCol w="881519">
                  <a:extLst>
                    <a:ext uri="{9D8B030D-6E8A-4147-A177-3AD203B41FA5}">
                      <a16:colId xmlns:a16="http://schemas.microsoft.com/office/drawing/2014/main" val="20000"/>
                    </a:ext>
                  </a:extLst>
                </a:gridCol>
                <a:gridCol w="5608895">
                  <a:extLst>
                    <a:ext uri="{9D8B030D-6E8A-4147-A177-3AD203B41FA5}">
                      <a16:colId xmlns:a16="http://schemas.microsoft.com/office/drawing/2014/main" val="20001"/>
                    </a:ext>
                  </a:extLst>
                </a:gridCol>
                <a:gridCol w="1358186">
                  <a:extLst>
                    <a:ext uri="{9D8B030D-6E8A-4147-A177-3AD203B41FA5}">
                      <a16:colId xmlns:a16="http://schemas.microsoft.com/office/drawing/2014/main" val="20002"/>
                    </a:ext>
                  </a:extLst>
                </a:gridCol>
              </a:tblGrid>
              <a:tr h="731649">
                <a:tc>
                  <a:txBody>
                    <a:bodyPr/>
                    <a:lstStyle/>
                    <a:p>
                      <a:pPr marL="0" marR="0" algn="ctr">
                        <a:lnSpc>
                          <a:spcPct val="115000"/>
                        </a:lnSpc>
                        <a:spcBef>
                          <a:spcPts val="0"/>
                        </a:spcBef>
                        <a:spcAft>
                          <a:spcPts val="0"/>
                        </a:spcAft>
                      </a:pPr>
                      <a:r>
                        <a:rPr lang="en-US" sz="1600" b="0" dirty="0">
                          <a:solidFill>
                            <a:schemeClr val="tx1"/>
                          </a:solidFill>
                          <a:effectLst/>
                          <a:latin typeface="Times New Roman" panose="02020603050405020304" pitchFamily="18" charset="0"/>
                          <a:cs typeface="Times New Roman" panose="02020603050405020304" pitchFamily="18" charset="0"/>
                        </a:rPr>
                        <a:t>CO 1</a:t>
                      </a:r>
                      <a:endParaRPr lang="en-US" sz="16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1"/>
                    </a:solidFill>
                  </a:tcPr>
                </a:tc>
                <a:tc>
                  <a:txBody>
                    <a:bodyPr/>
                    <a:lstStyle/>
                    <a:p>
                      <a:pPr marL="0" marR="0" indent="0" algn="just" defTabSz="685800" rtl="0" eaLnBrk="1" fontAlgn="auto" latinLnBrk="0" hangingPunct="1">
                        <a:lnSpc>
                          <a:spcPct val="150000"/>
                        </a:lnSpc>
                        <a:spcBef>
                          <a:spcPts val="0"/>
                        </a:spcBef>
                        <a:spcAft>
                          <a:spcPts val="1000"/>
                        </a:spcAft>
                        <a:buClrTx/>
                        <a:buSzTx/>
                        <a:buFontTx/>
                        <a:buNone/>
                        <a:tabLst/>
                        <a:defRPr/>
                      </a:pPr>
                      <a:r>
                        <a:rPr lang="en-IN" sz="1600" b="0" dirty="0">
                          <a:latin typeface="Times New Roman" panose="02020603050405020304" pitchFamily="18" charset="0"/>
                          <a:cs typeface="Times New Roman" panose="02020603050405020304" pitchFamily="18" charset="0"/>
                        </a:rPr>
                        <a:t>Study about evolution of Total Quality Management, inspection and control of a product.</a:t>
                      </a:r>
                      <a:r>
                        <a:rPr lang="en-US" sz="1600" dirty="0">
                          <a:latin typeface="Times New Roman" panose="02020603050405020304" pitchFamily="18" charset="0"/>
                          <a:cs typeface="Times New Roman" panose="02020603050405020304" pitchFamily="18" charset="0"/>
                        </a:rPr>
                        <a:t>. </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a:t>
                      </a:r>
                      <a:endParaRPr lang="en-IN" sz="16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solidFill>
                      <a:schemeClr val="bg1"/>
                    </a:solidFill>
                  </a:tcPr>
                </a:tc>
                <a:tc>
                  <a:txBody>
                    <a:bodyPr/>
                    <a:lstStyle/>
                    <a:p>
                      <a:pPr marL="0" marR="0" algn="ctr">
                        <a:lnSpc>
                          <a:spcPct val="115000"/>
                        </a:lnSpc>
                        <a:spcBef>
                          <a:spcPts val="0"/>
                        </a:spcBef>
                        <a:spcAft>
                          <a:spcPts val="0"/>
                        </a:spcAft>
                      </a:pPr>
                      <a:r>
                        <a:rPr lang="en-US" sz="1600" dirty="0">
                          <a:solidFill>
                            <a:schemeClr val="tx1"/>
                          </a:solidFill>
                          <a:effectLst/>
                        </a:rPr>
                        <a:t>K1, K2</a:t>
                      </a:r>
                      <a:endPar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10000"/>
                  </a:ext>
                </a:extLst>
              </a:tr>
              <a:tr h="731649">
                <a:tc>
                  <a:txBody>
                    <a:bodyPr/>
                    <a:lstStyle/>
                    <a:p>
                      <a:pPr marL="0" marR="0" algn="ctr">
                        <a:lnSpc>
                          <a:spcPct val="115000"/>
                        </a:lnSpc>
                        <a:spcBef>
                          <a:spcPts val="0"/>
                        </a:spcBef>
                        <a:spcAft>
                          <a:spcPts val="0"/>
                        </a:spcAft>
                      </a:pPr>
                      <a:r>
                        <a:rPr lang="en-US" sz="1600" b="0" dirty="0">
                          <a:solidFill>
                            <a:schemeClr val="tx1"/>
                          </a:solidFill>
                          <a:effectLst/>
                          <a:latin typeface="Times New Roman" panose="02020603050405020304" pitchFamily="18" charset="0"/>
                          <a:cs typeface="Times New Roman" panose="02020603050405020304" pitchFamily="18" charset="0"/>
                        </a:rPr>
                        <a:t>CO 2</a:t>
                      </a:r>
                      <a:endParaRPr lang="en-US" sz="16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gn="just">
                        <a:lnSpc>
                          <a:spcPct val="150000"/>
                        </a:lnSpc>
                        <a:spcBef>
                          <a:spcPts val="0"/>
                        </a:spcBef>
                        <a:spcAft>
                          <a:spcPts val="1000"/>
                        </a:spcAft>
                      </a:pPr>
                      <a:r>
                        <a:rPr lang="en-IN" sz="1600" dirty="0">
                          <a:latin typeface="Times New Roman" panose="02020603050405020304" pitchFamily="18" charset="0"/>
                          <a:cs typeface="Times New Roman" panose="02020603050405020304" pitchFamily="18" charset="0"/>
                        </a:rPr>
                        <a:t>Study about organization structure , design and quality function</a:t>
                      </a:r>
                      <a:endParaRPr lang="en-US" sz="1600" b="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gn="ctr">
                        <a:lnSpc>
                          <a:spcPct val="115000"/>
                        </a:lnSpc>
                        <a:spcBef>
                          <a:spcPts val="0"/>
                        </a:spcBef>
                        <a:spcAft>
                          <a:spcPts val="0"/>
                        </a:spcAft>
                      </a:pPr>
                      <a:r>
                        <a:rPr lang="en-US" sz="1600" b="1" dirty="0">
                          <a:solidFill>
                            <a:schemeClr val="tx1"/>
                          </a:solidFill>
                          <a:effectLst/>
                        </a:rPr>
                        <a:t>K1, K4</a:t>
                      </a:r>
                      <a:endParaRPr lang="en-US" sz="1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r h="731649">
                <a:tc>
                  <a:txBody>
                    <a:bodyPr/>
                    <a:lstStyle/>
                    <a:p>
                      <a:pPr marL="0" marR="0" algn="ctr">
                        <a:lnSpc>
                          <a:spcPct val="115000"/>
                        </a:lnSpc>
                        <a:spcBef>
                          <a:spcPts val="0"/>
                        </a:spcBef>
                        <a:spcAft>
                          <a:spcPts val="0"/>
                        </a:spcAft>
                      </a:pPr>
                      <a:r>
                        <a:rPr lang="en-US" sz="1600" b="0" dirty="0">
                          <a:solidFill>
                            <a:schemeClr val="tx1"/>
                          </a:solidFill>
                          <a:effectLst/>
                          <a:latin typeface="Times New Roman" panose="02020603050405020304" pitchFamily="18" charset="0"/>
                          <a:cs typeface="Times New Roman" panose="02020603050405020304" pitchFamily="18" charset="0"/>
                        </a:rPr>
                        <a:t>CO 3</a:t>
                      </a:r>
                      <a:endParaRPr lang="en-US" sz="16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solidFill>
                  </a:tcPr>
                </a:tc>
                <a:tc>
                  <a:txBody>
                    <a:bodyPr/>
                    <a:lstStyle/>
                    <a:p>
                      <a:pPr marL="0" marR="0" algn="just">
                        <a:lnSpc>
                          <a:spcPct val="150000"/>
                        </a:lnSpc>
                        <a:spcBef>
                          <a:spcPts val="0"/>
                        </a:spcBef>
                        <a:spcAft>
                          <a:spcPts val="1000"/>
                        </a:spcAft>
                      </a:pPr>
                      <a:r>
                        <a:rPr lang="en-IN" sz="1600" dirty="0">
                          <a:solidFill>
                            <a:schemeClr val="tx1"/>
                          </a:solidFill>
                          <a:latin typeface="Times New Roman" panose="02020603050405020304" pitchFamily="18" charset="0"/>
                          <a:cs typeface="Times New Roman" panose="02020603050405020304" pitchFamily="18" charset="0"/>
                        </a:rPr>
                        <a:t>Analysis of control chart and its application </a:t>
                      </a:r>
                      <a:endParaRPr lang="en-US" sz="16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solidFill>
                  </a:tcPr>
                </a:tc>
                <a:tc>
                  <a:txBody>
                    <a:bodyPr/>
                    <a:lstStyle/>
                    <a:p>
                      <a:pPr marL="0" marR="0" algn="ctr">
                        <a:lnSpc>
                          <a:spcPct val="115000"/>
                        </a:lnSpc>
                        <a:spcBef>
                          <a:spcPts val="0"/>
                        </a:spcBef>
                        <a:spcAft>
                          <a:spcPts val="0"/>
                        </a:spcAft>
                      </a:pPr>
                      <a:r>
                        <a:rPr lang="en-US" sz="1600" b="1" dirty="0">
                          <a:solidFill>
                            <a:schemeClr val="tx1"/>
                          </a:solidFill>
                          <a:effectLst/>
                        </a:rPr>
                        <a:t>K3</a:t>
                      </a:r>
                      <a:endParaRPr lang="en-US" sz="1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bg2"/>
                    </a:solidFill>
                  </a:tcPr>
                </a:tc>
                <a:extLst>
                  <a:ext uri="{0D108BD9-81ED-4DB2-BD59-A6C34878D82A}">
                    <a16:rowId xmlns:a16="http://schemas.microsoft.com/office/drawing/2014/main" val="10002"/>
                  </a:ext>
                </a:extLst>
              </a:tr>
              <a:tr h="731649">
                <a:tc>
                  <a:txBody>
                    <a:bodyPr/>
                    <a:lstStyle/>
                    <a:p>
                      <a:pPr marL="0" marR="0" algn="ctr">
                        <a:lnSpc>
                          <a:spcPct val="115000"/>
                        </a:lnSpc>
                        <a:spcBef>
                          <a:spcPts val="0"/>
                        </a:spcBef>
                        <a:spcAft>
                          <a:spcPts val="0"/>
                        </a:spcAft>
                      </a:pPr>
                      <a:r>
                        <a:rPr lang="en-US" sz="1600" b="0" dirty="0">
                          <a:solidFill>
                            <a:schemeClr val="tx1"/>
                          </a:solidFill>
                          <a:effectLst/>
                          <a:latin typeface="Times New Roman" panose="02020603050405020304" pitchFamily="18" charset="0"/>
                          <a:cs typeface="Times New Roman" panose="02020603050405020304" pitchFamily="18" charset="0"/>
                        </a:rPr>
                        <a:t>CO 4</a:t>
                      </a:r>
                      <a:endParaRPr lang="en-US" sz="16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FFFF00">
                        <a:alpha val="67000"/>
                      </a:srgbClr>
                    </a:solidFill>
                  </a:tcPr>
                </a:tc>
                <a:tc>
                  <a:txBody>
                    <a:bodyPr/>
                    <a:lstStyle/>
                    <a:p>
                      <a:pPr algn="just">
                        <a:lnSpc>
                          <a:spcPct val="100000"/>
                        </a:lnSpc>
                      </a:pPr>
                      <a:r>
                        <a:rPr lang="en-IN" sz="1600" dirty="0">
                          <a:latin typeface="Times New Roman" panose="02020603050405020304" pitchFamily="18" charset="0"/>
                          <a:cs typeface="Times New Roman" panose="02020603050405020304" pitchFamily="18" charset="0"/>
                        </a:rPr>
                        <a:t>Study of defects diagnosis and its prevention</a:t>
                      </a:r>
                      <a:endParaRPr lang="en-US" sz="1600" dirty="0">
                        <a:latin typeface="Times New Roman" panose="02020603050405020304" pitchFamily="18" charset="0"/>
                        <a:cs typeface="Times New Roman" panose="02020603050405020304" pitchFamily="18" charset="0"/>
                      </a:endParaRPr>
                    </a:p>
                  </a:txBody>
                  <a:tcPr marL="68580" marR="68580" marT="0" marB="0">
                    <a:solidFill>
                      <a:srgbClr val="FFFF00">
                        <a:alpha val="67000"/>
                      </a:srgbClr>
                    </a:solidFill>
                  </a:tcPr>
                </a:tc>
                <a:tc>
                  <a:txBody>
                    <a:bodyPr/>
                    <a:lstStyle/>
                    <a:p>
                      <a:pPr marL="0" marR="0" algn="ctr">
                        <a:lnSpc>
                          <a:spcPct val="115000"/>
                        </a:lnSpc>
                        <a:spcBef>
                          <a:spcPts val="0"/>
                        </a:spcBef>
                        <a:spcAft>
                          <a:spcPts val="0"/>
                        </a:spcAft>
                      </a:pPr>
                      <a:r>
                        <a:rPr lang="en-US" sz="1600" b="1" dirty="0">
                          <a:solidFill>
                            <a:schemeClr val="tx1"/>
                          </a:solidFill>
                          <a:effectLst/>
                        </a:rPr>
                        <a:t>K2</a:t>
                      </a:r>
                      <a:endParaRPr lang="en-US" sz="1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FFFF00">
                        <a:alpha val="67000"/>
                      </a:srgbClr>
                    </a:solidFill>
                  </a:tcPr>
                </a:tc>
                <a:extLst>
                  <a:ext uri="{0D108BD9-81ED-4DB2-BD59-A6C34878D82A}">
                    <a16:rowId xmlns:a16="http://schemas.microsoft.com/office/drawing/2014/main" val="10003"/>
                  </a:ext>
                </a:extLst>
              </a:tr>
              <a:tr h="867528">
                <a:tc>
                  <a:txBody>
                    <a:bodyPr/>
                    <a:lstStyle/>
                    <a:p>
                      <a:pPr marL="0" marR="0" algn="ctr">
                        <a:lnSpc>
                          <a:spcPct val="115000"/>
                        </a:lnSpc>
                        <a:spcBef>
                          <a:spcPts val="0"/>
                        </a:spcBef>
                        <a:spcAft>
                          <a:spcPts val="0"/>
                        </a:spcAft>
                      </a:pPr>
                      <a:r>
                        <a:rPr lang="en-US" sz="1600" b="0" dirty="0">
                          <a:solidFill>
                            <a:schemeClr val="tx1"/>
                          </a:solidFill>
                          <a:effectLst/>
                          <a:latin typeface="Times New Roman" panose="02020603050405020304" pitchFamily="18" charset="0"/>
                          <a:cs typeface="Times New Roman" panose="02020603050405020304" pitchFamily="18" charset="0"/>
                        </a:rPr>
                        <a:t>CO 5</a:t>
                      </a:r>
                      <a:endParaRPr lang="en-US" sz="16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0000"/>
                        </a:lnSpc>
                      </a:pPr>
                      <a:r>
                        <a:rPr lang="en-IN" sz="1600" dirty="0">
                          <a:latin typeface="Times New Roman" panose="02020603050405020304" pitchFamily="18" charset="0"/>
                          <a:cs typeface="Times New Roman" panose="02020603050405020304" pitchFamily="18" charset="0"/>
                        </a:rPr>
                        <a:t>Study about various ISO standards and  its concepts</a:t>
                      </a:r>
                      <a:endParaRPr lang="en-US" sz="1600" dirty="0">
                        <a:latin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600" b="1" dirty="0">
                          <a:solidFill>
                            <a:schemeClr val="tx1"/>
                          </a:solidFill>
                          <a:effectLst/>
                        </a:rPr>
                        <a:t>K2</a:t>
                      </a:r>
                      <a:endParaRPr lang="en-US" sz="1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3614961580"/>
              </p:ext>
            </p:extLst>
          </p:nvPr>
        </p:nvGraphicFramePr>
        <p:xfrm>
          <a:off x="990600" y="914400"/>
          <a:ext cx="7848600" cy="617537"/>
        </p:xfrm>
        <a:graphic>
          <a:graphicData uri="http://schemas.openxmlformats.org/drawingml/2006/table">
            <a:tbl>
              <a:tblPr firstRow="1" firstCol="1" bandRow="1">
                <a:tableStyleId>{BDBED569-4797-4DF1-A0F4-6AAB3CD982D8}</a:tableStyleId>
              </a:tblPr>
              <a:tblGrid>
                <a:gridCol w="7848600">
                  <a:extLst>
                    <a:ext uri="{9D8B030D-6E8A-4147-A177-3AD203B41FA5}">
                      <a16:colId xmlns:a16="http://schemas.microsoft.com/office/drawing/2014/main" val="20000"/>
                    </a:ext>
                  </a:extLst>
                </a:gridCol>
              </a:tblGrid>
              <a:tr h="617537">
                <a:tc>
                  <a:txBody>
                    <a:bodyPr/>
                    <a:lstStyle/>
                    <a:p>
                      <a:pPr marL="0" marR="0" algn="ctr">
                        <a:lnSpc>
                          <a:spcPct val="115000"/>
                        </a:lnSpc>
                        <a:spcBef>
                          <a:spcPts val="1200"/>
                        </a:spcBef>
                        <a:spcAft>
                          <a:spcPts val="1200"/>
                        </a:spcAft>
                      </a:pPr>
                      <a:r>
                        <a:rPr lang="en-US" sz="1600" b="1" dirty="0">
                          <a:effectLst/>
                          <a:latin typeface="Times New Roman" panose="02020603050405020304" pitchFamily="18" charset="0"/>
                          <a:cs typeface="Times New Roman" panose="02020603050405020304" pitchFamily="18" charset="0"/>
                        </a:rPr>
                        <a:t>Course outcomes :  After completion of this course students will be able to</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bl>
          </a:graphicData>
        </a:graphic>
      </p:graphicFrame>
      <p:pic>
        <p:nvPicPr>
          <p:cNvPr id="18471" name="Picture 8" descr="Untitled.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65881"/>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8285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quarter" idx="10"/>
          </p:nvPr>
        </p:nvSpPr>
        <p:spPr/>
        <p:txBody>
          <a:bodyPr/>
          <a:lstStyle/>
          <a:p>
            <a:pPr>
              <a:defRPr/>
            </a:pPr>
            <a:fld id="{C32A6F96-5BBE-403A-846A-7DA01F020DCD}" type="datetime1">
              <a:rPr lang="en-US" smtClean="0"/>
              <a:t>3/11/2024</a:t>
            </a:fld>
            <a:endParaRPr lang="en-US"/>
          </a:p>
        </p:txBody>
      </p:sp>
      <p:sp>
        <p:nvSpPr>
          <p:cNvPr id="20483"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pPr>
            <a:fld id="{10598334-2CEE-4720-9D9D-2272708A2E0F}" type="slidenum">
              <a:rPr lang="en-US" altLang="en-US" sz="1200">
                <a:solidFill>
                  <a:srgbClr val="898989"/>
                </a:solidFill>
              </a:rPr>
              <a:pPr>
                <a:spcBef>
                  <a:spcPct val="0"/>
                </a:spcBef>
                <a:buFontTx/>
                <a:buNone/>
              </a:pPr>
              <a:t>7</a:t>
            </a:fld>
            <a:endParaRPr lang="en-US" altLang="en-US" sz="1200">
              <a:solidFill>
                <a:srgbClr val="898989"/>
              </a:solidFill>
            </a:endParaRPr>
          </a:p>
        </p:txBody>
      </p:sp>
      <p:sp>
        <p:nvSpPr>
          <p:cNvPr id="8" name="Title 1"/>
          <p:cNvSpPr txBox="1">
            <a:spLocks/>
          </p:cNvSpPr>
          <p:nvPr/>
        </p:nvSpPr>
        <p:spPr>
          <a:xfrm>
            <a:off x="1371600" y="0"/>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dirty="0">
                <a:latin typeface="Times New Roman" panose="02020603050405020304" pitchFamily="18" charset="0"/>
                <a:cs typeface="Times New Roman" panose="02020603050405020304" pitchFamily="18" charset="0"/>
              </a:rPr>
              <a:t>Program</a:t>
            </a:r>
            <a:r>
              <a:rPr lang="en-US" sz="3200" b="1" dirty="0"/>
              <a:t> Outcomes</a:t>
            </a:r>
          </a:p>
        </p:txBody>
      </p:sp>
      <p:sp>
        <p:nvSpPr>
          <p:cNvPr id="9" name="Footer Placeholder 12"/>
          <p:cNvSpPr>
            <a:spLocks noGrp="1"/>
          </p:cNvSpPr>
          <p:nvPr>
            <p:ph type="ftr" sz="quarter" idx="11"/>
          </p:nvPr>
        </p:nvSpPr>
        <p:spPr>
          <a:xfrm>
            <a:off x="2286000" y="6248400"/>
            <a:ext cx="5029200" cy="365125"/>
          </a:xfrm>
        </p:spPr>
        <p:txBody>
          <a:bodyPr/>
          <a:lstStyle/>
          <a:p>
            <a:pPr>
              <a:defRPr/>
            </a:pPr>
            <a:r>
              <a:rPr lang="en-US"/>
              <a:t>Dheeraj     TQM           Unit4</a:t>
            </a:r>
            <a:endParaRPr lang="en-US" dirty="0"/>
          </a:p>
        </p:txBody>
      </p:sp>
      <p:sp>
        <p:nvSpPr>
          <p:cNvPr id="7" name="Rectangle 6"/>
          <p:cNvSpPr/>
          <p:nvPr/>
        </p:nvSpPr>
        <p:spPr>
          <a:xfrm>
            <a:off x="304800" y="990600"/>
            <a:ext cx="8305800" cy="1938338"/>
          </a:xfrm>
          <a:prstGeom prst="rect">
            <a:avLst/>
          </a:prstGeom>
        </p:spPr>
        <p:txBody>
          <a:bodyPr>
            <a:spAutoFit/>
          </a:bodyPr>
          <a:lstStyle/>
          <a:p>
            <a:pPr marL="341280" indent="-340920" algn="just">
              <a:buClr>
                <a:srgbClr val="000000"/>
              </a:buClr>
              <a:buFont typeface="Arial"/>
              <a:buChar char="•"/>
              <a:defRPr/>
            </a:pPr>
            <a:r>
              <a:rPr lang="en-US" sz="2000" b="1" spc="-1" dirty="0">
                <a:solidFill>
                  <a:srgbClr val="000000"/>
                </a:solidFill>
                <a:latin typeface="Times New Roman" pitchFamily="18" charset="0"/>
                <a:cs typeface="Times New Roman" pitchFamily="18" charset="0"/>
              </a:rPr>
              <a:t>Program Outcomes</a:t>
            </a:r>
            <a:r>
              <a:rPr lang="en-US" sz="2000" spc="-1" dirty="0">
                <a:solidFill>
                  <a:srgbClr val="000000"/>
                </a:solidFill>
                <a:latin typeface="Times New Roman" pitchFamily="18" charset="0"/>
                <a:cs typeface="Times New Roman" pitchFamily="18" charset="0"/>
              </a:rPr>
              <a:t> are narrow statements that describe what the students are expected to know and would be able to do upon the graduation. </a:t>
            </a:r>
            <a:endParaRPr lang="en-US" sz="2000" spc="-1" dirty="0">
              <a:latin typeface="Times New Roman" pitchFamily="18" charset="0"/>
              <a:cs typeface="Times New Roman" pitchFamily="18" charset="0"/>
            </a:endParaRPr>
          </a:p>
          <a:p>
            <a:pPr algn="just">
              <a:defRPr/>
            </a:pPr>
            <a:endParaRPr lang="en-US" sz="2000" spc="-1" dirty="0">
              <a:latin typeface="Times New Roman" pitchFamily="18" charset="0"/>
              <a:cs typeface="Times New Roman" pitchFamily="18" charset="0"/>
            </a:endParaRPr>
          </a:p>
          <a:p>
            <a:pPr marL="341280" indent="-340920" algn="just">
              <a:buClr>
                <a:srgbClr val="000000"/>
              </a:buClr>
              <a:buFont typeface="Arial"/>
              <a:buChar char="•"/>
              <a:defRPr/>
            </a:pPr>
            <a:r>
              <a:rPr lang="en-US" sz="2000" spc="-1" dirty="0">
                <a:solidFill>
                  <a:srgbClr val="000000"/>
                </a:solidFill>
                <a:latin typeface="Times New Roman" pitchFamily="18" charset="0"/>
                <a:cs typeface="Times New Roman" pitchFamily="18" charset="0"/>
              </a:rPr>
              <a:t>These relate to the skills, knowledge, and behavior that students acquire through the programmed.</a:t>
            </a:r>
          </a:p>
          <a:p>
            <a:pPr marL="341280" indent="-340920" algn="just">
              <a:buClr>
                <a:srgbClr val="000000"/>
              </a:buClr>
              <a:buFont typeface="Arial"/>
              <a:buChar char="•"/>
              <a:defRPr/>
            </a:pPr>
            <a:endParaRPr lang="en-US" sz="2000" spc="-1" dirty="0">
              <a:latin typeface="Times New Roman" pitchFamily="18" charset="0"/>
              <a:cs typeface="Times New Roman" pitchFamily="18" charset="0"/>
            </a:endParaRPr>
          </a:p>
        </p:txBody>
      </p:sp>
      <p:sp>
        <p:nvSpPr>
          <p:cNvPr id="10" name="Rectangle 9"/>
          <p:cNvSpPr/>
          <p:nvPr/>
        </p:nvSpPr>
        <p:spPr>
          <a:xfrm>
            <a:off x="381000" y="2895600"/>
            <a:ext cx="4572000" cy="2862263"/>
          </a:xfrm>
          <a:prstGeom prst="rect">
            <a:avLst/>
          </a:prstGeom>
        </p:spPr>
        <p:txBody>
          <a:bodyPr>
            <a:spAutoFit/>
          </a:bodyPr>
          <a:lstStyle/>
          <a:p>
            <a:pPr marL="457200" indent="-456840" algn="just">
              <a:buClr>
                <a:srgbClr val="000000"/>
              </a:buClr>
              <a:buFont typeface="Calibri"/>
              <a:buAutoNum type="arabicPeriod"/>
              <a:defRPr/>
            </a:pPr>
            <a:r>
              <a:rPr lang="en-US" sz="2000" spc="-1" dirty="0">
                <a:solidFill>
                  <a:srgbClr val="000000"/>
                </a:solidFill>
                <a:latin typeface="Times New Roman" pitchFamily="18" charset="0"/>
                <a:cs typeface="Times New Roman" pitchFamily="18" charset="0"/>
              </a:rPr>
              <a:t>Engineering knowledge</a:t>
            </a:r>
            <a:endParaRPr lang="en-US" sz="2000" spc="-1" dirty="0">
              <a:latin typeface="Times New Roman" pitchFamily="18" charset="0"/>
              <a:cs typeface="Times New Roman" pitchFamily="18" charset="0"/>
            </a:endParaRPr>
          </a:p>
          <a:p>
            <a:pPr marL="457200" indent="-456840" algn="just">
              <a:buClr>
                <a:srgbClr val="000000"/>
              </a:buClr>
              <a:buFont typeface="Calibri"/>
              <a:buAutoNum type="arabicPeriod"/>
              <a:defRPr/>
            </a:pPr>
            <a:r>
              <a:rPr lang="en-US" sz="2000" spc="-1" dirty="0">
                <a:solidFill>
                  <a:srgbClr val="000000"/>
                </a:solidFill>
                <a:latin typeface="Times New Roman" pitchFamily="18" charset="0"/>
                <a:cs typeface="Times New Roman" pitchFamily="18" charset="0"/>
              </a:rPr>
              <a:t>Problem analysis</a:t>
            </a:r>
            <a:endParaRPr lang="en-US" sz="2000" spc="-1" dirty="0">
              <a:latin typeface="Times New Roman" pitchFamily="18" charset="0"/>
              <a:cs typeface="Times New Roman" pitchFamily="18" charset="0"/>
            </a:endParaRPr>
          </a:p>
          <a:p>
            <a:pPr marL="457200" indent="-456840" algn="just">
              <a:buClr>
                <a:srgbClr val="000000"/>
              </a:buClr>
              <a:buFont typeface="Calibri"/>
              <a:buAutoNum type="arabicPeriod"/>
              <a:defRPr/>
            </a:pPr>
            <a:r>
              <a:rPr lang="en-US" sz="2000" spc="-1" dirty="0">
                <a:solidFill>
                  <a:srgbClr val="000000"/>
                </a:solidFill>
                <a:latin typeface="Times New Roman" pitchFamily="18" charset="0"/>
                <a:cs typeface="Times New Roman" pitchFamily="18" charset="0"/>
              </a:rPr>
              <a:t>Design/development of solutions</a:t>
            </a:r>
            <a:endParaRPr lang="en-US" sz="2000" spc="-1" dirty="0">
              <a:latin typeface="Times New Roman" pitchFamily="18" charset="0"/>
              <a:cs typeface="Times New Roman" pitchFamily="18" charset="0"/>
            </a:endParaRPr>
          </a:p>
          <a:p>
            <a:pPr marL="457200" indent="-456840" algn="just">
              <a:buClr>
                <a:srgbClr val="000000"/>
              </a:buClr>
              <a:buFont typeface="Calibri"/>
              <a:buAutoNum type="arabicPeriod"/>
              <a:defRPr/>
            </a:pPr>
            <a:r>
              <a:rPr lang="en-US" sz="2000" spc="-1" dirty="0">
                <a:solidFill>
                  <a:srgbClr val="000000"/>
                </a:solidFill>
                <a:latin typeface="Times New Roman" pitchFamily="18" charset="0"/>
                <a:cs typeface="Times New Roman" pitchFamily="18" charset="0"/>
              </a:rPr>
              <a:t>Conduct investigations of complex problems</a:t>
            </a:r>
            <a:endParaRPr lang="en-US" sz="2000" spc="-1" dirty="0">
              <a:latin typeface="Times New Roman" pitchFamily="18" charset="0"/>
              <a:cs typeface="Times New Roman" pitchFamily="18" charset="0"/>
            </a:endParaRPr>
          </a:p>
          <a:p>
            <a:pPr marL="457200" indent="-456840" algn="just">
              <a:buClr>
                <a:srgbClr val="000000"/>
              </a:buClr>
              <a:buFont typeface="Calibri"/>
              <a:buAutoNum type="arabicPeriod"/>
              <a:defRPr/>
            </a:pPr>
            <a:r>
              <a:rPr lang="en-US" sz="2000" spc="-1" dirty="0">
                <a:solidFill>
                  <a:srgbClr val="000000"/>
                </a:solidFill>
                <a:latin typeface="Times New Roman" pitchFamily="18" charset="0"/>
                <a:cs typeface="Times New Roman" pitchFamily="18" charset="0"/>
              </a:rPr>
              <a:t>Modern tool usage</a:t>
            </a:r>
            <a:endParaRPr lang="en-US" sz="2000" spc="-1" dirty="0">
              <a:latin typeface="Times New Roman" pitchFamily="18" charset="0"/>
              <a:cs typeface="Times New Roman" pitchFamily="18" charset="0"/>
            </a:endParaRPr>
          </a:p>
          <a:p>
            <a:pPr marL="457200" indent="-456840" algn="just">
              <a:buClr>
                <a:srgbClr val="000000"/>
              </a:buClr>
              <a:buFont typeface="Calibri"/>
              <a:buAutoNum type="arabicPeriod"/>
              <a:defRPr/>
            </a:pPr>
            <a:r>
              <a:rPr lang="en-US" sz="2000" spc="-1" dirty="0">
                <a:solidFill>
                  <a:srgbClr val="000000"/>
                </a:solidFill>
                <a:latin typeface="Times New Roman" pitchFamily="18" charset="0"/>
                <a:cs typeface="Times New Roman" pitchFamily="18" charset="0"/>
              </a:rPr>
              <a:t>The engineer and society</a:t>
            </a:r>
            <a:endParaRPr lang="en-US" sz="2000" spc="-1" dirty="0">
              <a:latin typeface="Times New Roman" pitchFamily="18" charset="0"/>
              <a:cs typeface="Times New Roman" pitchFamily="18" charset="0"/>
            </a:endParaRPr>
          </a:p>
          <a:p>
            <a:pPr marL="457200" indent="-456840" algn="just">
              <a:buClr>
                <a:srgbClr val="000000"/>
              </a:buClr>
              <a:buFont typeface="Calibri"/>
              <a:buAutoNum type="arabicPeriod"/>
              <a:defRPr/>
            </a:pPr>
            <a:r>
              <a:rPr lang="en-US" sz="2000" spc="-1" dirty="0">
                <a:solidFill>
                  <a:srgbClr val="000000"/>
                </a:solidFill>
                <a:latin typeface="Times New Roman" pitchFamily="18" charset="0"/>
                <a:cs typeface="Times New Roman" pitchFamily="18" charset="0"/>
              </a:rPr>
              <a:t>Environment and sustainability</a:t>
            </a:r>
            <a:endParaRPr lang="en-US" sz="2000" spc="-1" dirty="0">
              <a:latin typeface="Times New Roman" pitchFamily="18" charset="0"/>
              <a:cs typeface="Times New Roman" pitchFamily="18" charset="0"/>
            </a:endParaRPr>
          </a:p>
          <a:p>
            <a:pPr marL="457200" indent="-456840" algn="just">
              <a:buClr>
                <a:srgbClr val="000000"/>
              </a:buClr>
              <a:buFont typeface="Calibri"/>
              <a:buAutoNum type="arabicPeriod"/>
              <a:defRPr/>
            </a:pPr>
            <a:r>
              <a:rPr lang="en-US" sz="2000" spc="-1" dirty="0">
                <a:solidFill>
                  <a:srgbClr val="000000"/>
                </a:solidFill>
                <a:latin typeface="Times New Roman" pitchFamily="18" charset="0"/>
                <a:cs typeface="Times New Roman" pitchFamily="18" charset="0"/>
              </a:rPr>
              <a:t>Ethics</a:t>
            </a:r>
            <a:endParaRPr lang="en-US" sz="2000" spc="-1" dirty="0">
              <a:latin typeface="Times New Roman" pitchFamily="18" charset="0"/>
              <a:cs typeface="Times New Roman" pitchFamily="18" charset="0"/>
            </a:endParaRPr>
          </a:p>
        </p:txBody>
      </p:sp>
      <p:sp>
        <p:nvSpPr>
          <p:cNvPr id="11" name="CustomShape 3"/>
          <p:cNvSpPr/>
          <p:nvPr/>
        </p:nvSpPr>
        <p:spPr>
          <a:xfrm>
            <a:off x="5105400" y="2895600"/>
            <a:ext cx="3505200" cy="193675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pPr marL="457560" indent="-457200" algn="just">
              <a:buClr>
                <a:srgbClr val="000000"/>
              </a:buClr>
              <a:buFontTx/>
              <a:buAutoNum type="arabicPeriod" startAt="9"/>
              <a:defRPr/>
            </a:pPr>
            <a:r>
              <a:rPr lang="en-US" sz="2000" spc="-1" dirty="0">
                <a:solidFill>
                  <a:srgbClr val="000000"/>
                </a:solidFill>
                <a:latin typeface="Times New Roman" pitchFamily="18" charset="0"/>
                <a:cs typeface="Times New Roman" pitchFamily="18" charset="0"/>
              </a:rPr>
              <a:t>Individual and team work</a:t>
            </a:r>
            <a:endParaRPr lang="en-US" sz="2000" spc="-1" dirty="0">
              <a:latin typeface="Times New Roman" pitchFamily="18" charset="0"/>
              <a:cs typeface="Times New Roman" pitchFamily="18" charset="0"/>
            </a:endParaRPr>
          </a:p>
          <a:p>
            <a:pPr marL="457560" indent="-457200" algn="just">
              <a:buClr>
                <a:srgbClr val="000000"/>
              </a:buClr>
              <a:buFontTx/>
              <a:buAutoNum type="arabicPeriod" startAt="9"/>
              <a:defRPr/>
            </a:pPr>
            <a:r>
              <a:rPr lang="en-US" sz="2000" spc="-1" dirty="0">
                <a:solidFill>
                  <a:srgbClr val="000000"/>
                </a:solidFill>
                <a:latin typeface="Times New Roman" pitchFamily="18" charset="0"/>
                <a:cs typeface="Times New Roman" pitchFamily="18" charset="0"/>
              </a:rPr>
              <a:t>Communication</a:t>
            </a:r>
            <a:endParaRPr lang="en-US" sz="2000" spc="-1" dirty="0">
              <a:latin typeface="Times New Roman" pitchFamily="18" charset="0"/>
              <a:cs typeface="Times New Roman" pitchFamily="18" charset="0"/>
            </a:endParaRPr>
          </a:p>
          <a:p>
            <a:pPr marL="457560" indent="-457200" algn="just">
              <a:buClr>
                <a:srgbClr val="000000"/>
              </a:buClr>
              <a:buFontTx/>
              <a:buAutoNum type="arabicPeriod" startAt="9"/>
              <a:defRPr/>
            </a:pPr>
            <a:r>
              <a:rPr lang="en-US" sz="2000" spc="-1" dirty="0">
                <a:solidFill>
                  <a:srgbClr val="000000"/>
                </a:solidFill>
                <a:latin typeface="Times New Roman" pitchFamily="18" charset="0"/>
                <a:cs typeface="Times New Roman" pitchFamily="18" charset="0"/>
              </a:rPr>
              <a:t>Project management and finance</a:t>
            </a:r>
            <a:endParaRPr lang="en-US" sz="2000" spc="-1" dirty="0">
              <a:latin typeface="Times New Roman" pitchFamily="18" charset="0"/>
              <a:cs typeface="Times New Roman" pitchFamily="18" charset="0"/>
            </a:endParaRPr>
          </a:p>
          <a:p>
            <a:pPr marL="457560" indent="-457200" algn="just">
              <a:buClr>
                <a:srgbClr val="000000"/>
              </a:buClr>
              <a:buFontTx/>
              <a:buAutoNum type="arabicPeriod" startAt="9"/>
              <a:defRPr/>
            </a:pPr>
            <a:r>
              <a:rPr lang="en-US" sz="2000" spc="-1" dirty="0">
                <a:solidFill>
                  <a:srgbClr val="000000"/>
                </a:solidFill>
                <a:latin typeface="Times New Roman" pitchFamily="18" charset="0"/>
                <a:cs typeface="Times New Roman" pitchFamily="18" charset="0"/>
              </a:rPr>
              <a:t>Life-long learning</a:t>
            </a:r>
            <a:endParaRPr lang="en-US" sz="2000" spc="-1" dirty="0">
              <a:latin typeface="Times New Roman" pitchFamily="18" charset="0"/>
              <a:cs typeface="Times New Roman" pitchFamily="18" charset="0"/>
            </a:endParaRPr>
          </a:p>
          <a:p>
            <a:pPr marL="457200" indent="-456840" algn="just">
              <a:buClr>
                <a:srgbClr val="000000"/>
              </a:buClr>
              <a:buFont typeface="Calibri"/>
              <a:buAutoNum type="arabicPeriod"/>
              <a:defRPr/>
            </a:pPr>
            <a:endParaRPr lang="en-US" sz="2000" spc="-1" dirty="0">
              <a:latin typeface="Times New Roman" pitchFamily="18" charset="0"/>
              <a:cs typeface="Times New Roman" pitchFamily="18" charset="0"/>
            </a:endParaRPr>
          </a:p>
        </p:txBody>
      </p:sp>
      <p:pic>
        <p:nvPicPr>
          <p:cNvPr id="20490" name="Picture 8" descr="Untitled.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100" y="76200"/>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2689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625314056"/>
              </p:ext>
            </p:extLst>
          </p:nvPr>
        </p:nvGraphicFramePr>
        <p:xfrm>
          <a:off x="1447801" y="990600"/>
          <a:ext cx="6857998" cy="3810000"/>
        </p:xfrm>
        <a:graphic>
          <a:graphicData uri="http://schemas.openxmlformats.org/drawingml/2006/table">
            <a:tbl>
              <a:tblPr firstRow="1" firstCol="1" bandRow="1">
                <a:tableStyleId>{5C22544A-7EE6-4342-B048-85BDC9FD1C3A}</a:tableStyleId>
              </a:tblPr>
              <a:tblGrid>
                <a:gridCol w="989428">
                  <a:extLst>
                    <a:ext uri="{9D8B030D-6E8A-4147-A177-3AD203B41FA5}">
                      <a16:colId xmlns:a16="http://schemas.microsoft.com/office/drawing/2014/main" val="20000"/>
                    </a:ext>
                  </a:extLst>
                </a:gridCol>
                <a:gridCol w="468154">
                  <a:extLst>
                    <a:ext uri="{9D8B030D-6E8A-4147-A177-3AD203B41FA5}">
                      <a16:colId xmlns:a16="http://schemas.microsoft.com/office/drawing/2014/main" val="20001"/>
                    </a:ext>
                  </a:extLst>
                </a:gridCol>
                <a:gridCol w="468154">
                  <a:extLst>
                    <a:ext uri="{9D8B030D-6E8A-4147-A177-3AD203B41FA5}">
                      <a16:colId xmlns:a16="http://schemas.microsoft.com/office/drawing/2014/main" val="20002"/>
                    </a:ext>
                  </a:extLst>
                </a:gridCol>
                <a:gridCol w="468154">
                  <a:extLst>
                    <a:ext uri="{9D8B030D-6E8A-4147-A177-3AD203B41FA5}">
                      <a16:colId xmlns:a16="http://schemas.microsoft.com/office/drawing/2014/main" val="20003"/>
                    </a:ext>
                  </a:extLst>
                </a:gridCol>
                <a:gridCol w="468154">
                  <a:extLst>
                    <a:ext uri="{9D8B030D-6E8A-4147-A177-3AD203B41FA5}">
                      <a16:colId xmlns:a16="http://schemas.microsoft.com/office/drawing/2014/main" val="20004"/>
                    </a:ext>
                  </a:extLst>
                </a:gridCol>
                <a:gridCol w="468154">
                  <a:extLst>
                    <a:ext uri="{9D8B030D-6E8A-4147-A177-3AD203B41FA5}">
                      <a16:colId xmlns:a16="http://schemas.microsoft.com/office/drawing/2014/main" val="20005"/>
                    </a:ext>
                  </a:extLst>
                </a:gridCol>
                <a:gridCol w="468154">
                  <a:extLst>
                    <a:ext uri="{9D8B030D-6E8A-4147-A177-3AD203B41FA5}">
                      <a16:colId xmlns:a16="http://schemas.microsoft.com/office/drawing/2014/main" val="20006"/>
                    </a:ext>
                  </a:extLst>
                </a:gridCol>
                <a:gridCol w="468154">
                  <a:extLst>
                    <a:ext uri="{9D8B030D-6E8A-4147-A177-3AD203B41FA5}">
                      <a16:colId xmlns:a16="http://schemas.microsoft.com/office/drawing/2014/main" val="20007"/>
                    </a:ext>
                  </a:extLst>
                </a:gridCol>
                <a:gridCol w="468154">
                  <a:extLst>
                    <a:ext uri="{9D8B030D-6E8A-4147-A177-3AD203B41FA5}">
                      <a16:colId xmlns:a16="http://schemas.microsoft.com/office/drawing/2014/main" val="20008"/>
                    </a:ext>
                  </a:extLst>
                </a:gridCol>
                <a:gridCol w="468154">
                  <a:extLst>
                    <a:ext uri="{9D8B030D-6E8A-4147-A177-3AD203B41FA5}">
                      <a16:colId xmlns:a16="http://schemas.microsoft.com/office/drawing/2014/main" val="20009"/>
                    </a:ext>
                  </a:extLst>
                </a:gridCol>
                <a:gridCol w="551728">
                  <a:extLst>
                    <a:ext uri="{9D8B030D-6E8A-4147-A177-3AD203B41FA5}">
                      <a16:colId xmlns:a16="http://schemas.microsoft.com/office/drawing/2014/main" val="20010"/>
                    </a:ext>
                  </a:extLst>
                </a:gridCol>
                <a:gridCol w="551728">
                  <a:extLst>
                    <a:ext uri="{9D8B030D-6E8A-4147-A177-3AD203B41FA5}">
                      <a16:colId xmlns:a16="http://schemas.microsoft.com/office/drawing/2014/main" val="20011"/>
                    </a:ext>
                  </a:extLst>
                </a:gridCol>
                <a:gridCol w="551728">
                  <a:extLst>
                    <a:ext uri="{9D8B030D-6E8A-4147-A177-3AD203B41FA5}">
                      <a16:colId xmlns:a16="http://schemas.microsoft.com/office/drawing/2014/main" val="20012"/>
                    </a:ext>
                  </a:extLst>
                </a:gridCol>
              </a:tblGrid>
              <a:tr h="440604">
                <a:tc>
                  <a:txBody>
                    <a:bodyPr/>
                    <a:lstStyle/>
                    <a:p>
                      <a:pPr marL="0" marR="0" algn="ctr">
                        <a:lnSpc>
                          <a:spcPct val="150000"/>
                        </a:lnSpc>
                        <a:spcBef>
                          <a:spcPts val="0"/>
                        </a:spcBef>
                        <a:spcAft>
                          <a:spcPts val="0"/>
                        </a:spcAft>
                      </a:pPr>
                      <a:r>
                        <a:rPr lang="en-US" sz="1200" dirty="0">
                          <a:effectLst/>
                        </a:rPr>
                        <a:t>COs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200">
                          <a:effectLst/>
                        </a:rPr>
                        <a:t>PO1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200">
                          <a:effectLst/>
                        </a:rPr>
                        <a:t>PO2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200">
                          <a:effectLst/>
                        </a:rPr>
                        <a:t>PO3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200">
                          <a:effectLst/>
                        </a:rPr>
                        <a:t>PO4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200">
                          <a:effectLst/>
                        </a:rPr>
                        <a:t>PO5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200" dirty="0">
                          <a:effectLst/>
                        </a:rPr>
                        <a:t>PO6</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200">
                          <a:effectLst/>
                        </a:rPr>
                        <a:t>PO7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200">
                          <a:effectLst/>
                        </a:rPr>
                        <a:t>PO8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200">
                          <a:effectLst/>
                        </a:rPr>
                        <a:t>PO9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200">
                          <a:effectLst/>
                        </a:rPr>
                        <a:t>PO10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200">
                          <a:effectLst/>
                        </a:rPr>
                        <a:t>PO11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200">
                          <a:effectLst/>
                        </a:rPr>
                        <a:t>PO12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482420">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a:ea typeface="+mn-ea"/>
                          <a:cs typeface="+mn-cs"/>
                        </a:rPr>
                        <a:t>AOE0861.1</a:t>
                      </a:r>
                      <a:endParaRPr kumimoji="0" lang="en-US" sz="11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3</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2</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latin typeface="+mn-lt"/>
                          <a:ea typeface="+mn-ea"/>
                          <a:cs typeface="+mn-cs"/>
                        </a:rPr>
                        <a:t>1</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latin typeface="+mn-lt"/>
                          <a:ea typeface="+mn-ea"/>
                          <a:cs typeface="+mn-cs"/>
                        </a:rPr>
                        <a:t>2</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2</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601139">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a:ea typeface="+mn-ea"/>
                          <a:cs typeface="+mn-cs"/>
                        </a:rPr>
                        <a:t>AOE0861.2</a:t>
                      </a:r>
                      <a:endParaRPr kumimoji="0" lang="en-US" sz="11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tx2">
                        <a:lumMod val="60000"/>
                        <a:lumOff val="40000"/>
                      </a:schemeClr>
                    </a:solidFill>
                  </a:tcPr>
                </a:tc>
                <a:tc>
                  <a:txBody>
                    <a:bodyPr/>
                    <a:lstStyle/>
                    <a:p>
                      <a:pPr marL="0" marR="0" algn="ctr">
                        <a:lnSpc>
                          <a:spcPct val="150000"/>
                        </a:lnSpc>
                        <a:spcBef>
                          <a:spcPts val="500"/>
                        </a:spcBef>
                        <a:spcAft>
                          <a:spcPts val="500"/>
                        </a:spcAft>
                      </a:pPr>
                      <a:r>
                        <a:rPr lang="en-US" sz="1100" dirty="0">
                          <a:solidFill>
                            <a:schemeClr val="tx1"/>
                          </a:solidFill>
                          <a:effectLst/>
                        </a:rPr>
                        <a:t>3</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50000"/>
                        </a:lnSpc>
                        <a:spcBef>
                          <a:spcPts val="500"/>
                        </a:spcBef>
                        <a:spcAft>
                          <a:spcPts val="500"/>
                        </a:spcAft>
                      </a:pPr>
                      <a:r>
                        <a:rPr lang="en-US" sz="1100" dirty="0">
                          <a:solidFill>
                            <a:schemeClr val="tx1"/>
                          </a:solidFill>
                          <a:effectLst/>
                        </a:rPr>
                        <a:t>3</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50000"/>
                        </a:lnSpc>
                        <a:spcBef>
                          <a:spcPts val="500"/>
                        </a:spcBef>
                        <a:spcAft>
                          <a:spcPts val="500"/>
                        </a:spcAft>
                      </a:pPr>
                      <a:r>
                        <a:rPr lang="en-US" sz="1100" dirty="0">
                          <a:solidFill>
                            <a:schemeClr val="tx1"/>
                          </a:solidFill>
                          <a:effectLst/>
                        </a:rPr>
                        <a:t>2</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tc>
                  <a:txBody>
                    <a:bodyPr/>
                    <a:lstStyle/>
                    <a:p>
                      <a:pPr marL="0" marR="0" algn="ctr">
                        <a:lnSpc>
                          <a:spcPct val="150000"/>
                        </a:lnSpc>
                        <a:spcBef>
                          <a:spcPts val="500"/>
                        </a:spcBef>
                        <a:spcAft>
                          <a:spcPts val="500"/>
                        </a:spcAft>
                      </a:pPr>
                      <a:r>
                        <a:rPr lang="en-US" sz="1100" dirty="0">
                          <a:solidFill>
                            <a:schemeClr val="tx1"/>
                          </a:solidFill>
                          <a:effectLst/>
                        </a:rPr>
                        <a:t>2</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2"/>
                    </a:solidFill>
                  </a:tcPr>
                </a:tc>
                <a:extLst>
                  <a:ext uri="{0D108BD9-81ED-4DB2-BD59-A6C34878D82A}">
                    <a16:rowId xmlns:a16="http://schemas.microsoft.com/office/drawing/2014/main" val="10002"/>
                  </a:ext>
                </a:extLst>
              </a:tr>
              <a:tr h="601139">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a:ea typeface="+mn-ea"/>
                          <a:cs typeface="+mn-cs"/>
                        </a:rPr>
                        <a:t>AOE0861.3</a:t>
                      </a:r>
                      <a:endParaRPr kumimoji="0" lang="en-US" sz="11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tx2">
                        <a:lumMod val="60000"/>
                        <a:lumOff val="40000"/>
                      </a:schemeClr>
                    </a:solidFill>
                  </a:tcPr>
                </a:tc>
                <a:tc>
                  <a:txBody>
                    <a:bodyPr/>
                    <a:lstStyle/>
                    <a:p>
                      <a:pPr marL="0" marR="0" algn="ctr">
                        <a:lnSpc>
                          <a:spcPct val="150000"/>
                        </a:lnSpc>
                        <a:spcBef>
                          <a:spcPts val="500"/>
                        </a:spcBef>
                        <a:spcAft>
                          <a:spcPts val="500"/>
                        </a:spcAft>
                      </a:pPr>
                      <a:r>
                        <a:rPr lang="en-US" sz="1100" dirty="0">
                          <a:solidFill>
                            <a:schemeClr val="tx1"/>
                          </a:solidFill>
                          <a:effectLst/>
                        </a:rPr>
                        <a:t>2</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lnSpc>
                          <a:spcPct val="150000"/>
                        </a:lnSpc>
                        <a:spcBef>
                          <a:spcPts val="500"/>
                        </a:spcBef>
                        <a:spcAft>
                          <a:spcPts val="500"/>
                        </a:spcAft>
                      </a:pPr>
                      <a:r>
                        <a:rPr lang="en-US" sz="1100" dirty="0">
                          <a:solidFill>
                            <a:schemeClr val="tx1"/>
                          </a:solidFill>
                          <a:effectLst/>
                        </a:rPr>
                        <a:t>3</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lnSpc>
                          <a:spcPct val="150000"/>
                        </a:lnSpc>
                        <a:spcBef>
                          <a:spcPts val="500"/>
                        </a:spcBef>
                        <a:spcAft>
                          <a:spcPts val="500"/>
                        </a:spcAft>
                      </a:pPr>
                      <a:r>
                        <a:rPr lang="en-US" sz="1100" dirty="0">
                          <a:solidFill>
                            <a:schemeClr val="tx1"/>
                          </a:solidFill>
                          <a:effectLst/>
                        </a:rPr>
                        <a:t>2</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lnSpc>
                          <a:spcPct val="150000"/>
                        </a:lnSpc>
                        <a:spcBef>
                          <a:spcPts val="500"/>
                        </a:spcBef>
                        <a:spcAft>
                          <a:spcPts val="500"/>
                        </a:spcAft>
                      </a:pPr>
                      <a:r>
                        <a:rPr lang="en-US" sz="1100" dirty="0">
                          <a:solidFill>
                            <a:schemeClr val="tx1"/>
                          </a:solidFill>
                          <a:effectLst/>
                        </a:rPr>
                        <a:t>2</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lnSpc>
                          <a:spcPct val="150000"/>
                        </a:lnSpc>
                        <a:spcBef>
                          <a:spcPts val="500"/>
                        </a:spcBef>
                        <a:spcAft>
                          <a:spcPts val="500"/>
                        </a:spcAft>
                      </a:pPr>
                      <a:r>
                        <a:rPr lang="en-US" sz="1100" dirty="0">
                          <a:solidFill>
                            <a:schemeClr val="tx1"/>
                          </a:solidFill>
                          <a:effectLst/>
                        </a:rPr>
                        <a:t>2</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10003"/>
                  </a:ext>
                </a:extLst>
              </a:tr>
              <a:tr h="601139">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a:ea typeface="+mn-ea"/>
                          <a:cs typeface="+mn-cs"/>
                        </a:rPr>
                        <a:t>AOE0861.4</a:t>
                      </a:r>
                      <a:endParaRPr kumimoji="0" lang="en-US" sz="11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FF00"/>
                    </a:solidFill>
                  </a:tcPr>
                </a:tc>
                <a:tc>
                  <a:txBody>
                    <a:bodyPr/>
                    <a:lstStyle/>
                    <a:p>
                      <a:pPr marL="0" marR="0" algn="ctr">
                        <a:lnSpc>
                          <a:spcPct val="150000"/>
                        </a:lnSpc>
                        <a:spcBef>
                          <a:spcPts val="500"/>
                        </a:spcBef>
                        <a:spcAft>
                          <a:spcPts val="500"/>
                        </a:spcAft>
                      </a:pPr>
                      <a:r>
                        <a:rPr lang="en-US" sz="1100" dirty="0">
                          <a:solidFill>
                            <a:schemeClr val="tx1"/>
                          </a:solidFill>
                          <a:effectLst/>
                        </a:rPr>
                        <a:t>3</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FF00"/>
                    </a:solidFill>
                  </a:tcPr>
                </a:tc>
                <a:tc>
                  <a:txBody>
                    <a:bodyPr/>
                    <a:lstStyle/>
                    <a:p>
                      <a:pPr marL="0" marR="0" algn="ctr">
                        <a:lnSpc>
                          <a:spcPct val="150000"/>
                        </a:lnSpc>
                        <a:spcBef>
                          <a:spcPts val="500"/>
                        </a:spcBef>
                        <a:spcAft>
                          <a:spcPts val="500"/>
                        </a:spcAft>
                      </a:pPr>
                      <a:r>
                        <a:rPr lang="en-US" sz="1100" dirty="0">
                          <a:solidFill>
                            <a:schemeClr val="tx1"/>
                          </a:solidFill>
                          <a:effectLst/>
                        </a:rPr>
                        <a:t>3</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FF00"/>
                    </a:solidFill>
                  </a:tcPr>
                </a:tc>
                <a:tc>
                  <a:txBody>
                    <a:bodyPr/>
                    <a:lstStyle/>
                    <a:p>
                      <a:pPr marL="0" marR="0" algn="ctr">
                        <a:lnSpc>
                          <a:spcPct val="150000"/>
                        </a:lnSpc>
                        <a:spcBef>
                          <a:spcPts val="500"/>
                        </a:spcBef>
                        <a:spcAft>
                          <a:spcPts val="500"/>
                        </a:spcAft>
                      </a:pPr>
                      <a:r>
                        <a:rPr lang="en-US" sz="1100" dirty="0">
                          <a:solidFill>
                            <a:schemeClr val="tx1"/>
                          </a:solidFill>
                          <a:effectLst/>
                        </a:rPr>
                        <a:t>3</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FF00"/>
                    </a:solidFill>
                  </a:tcPr>
                </a:tc>
                <a:tc>
                  <a:txBody>
                    <a:bodyPr/>
                    <a:lstStyle/>
                    <a:p>
                      <a:pPr marL="0" marR="0" algn="ctr">
                        <a:lnSpc>
                          <a:spcPct val="150000"/>
                        </a:lnSpc>
                        <a:spcBef>
                          <a:spcPts val="500"/>
                        </a:spcBef>
                        <a:spcAft>
                          <a:spcPts val="500"/>
                        </a:spcAft>
                      </a:pPr>
                      <a:r>
                        <a:rPr lang="en-US" sz="1100" dirty="0">
                          <a:solidFill>
                            <a:schemeClr val="tx1"/>
                          </a:solidFill>
                          <a:effectLst/>
                        </a:rPr>
                        <a:t>2</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FF00"/>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FF00"/>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FF00"/>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FF00"/>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FF00"/>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FF00"/>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FF00"/>
                    </a:solidFill>
                  </a:tcP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FF00"/>
                    </a:solidFill>
                  </a:tcPr>
                </a:tc>
                <a:tc>
                  <a:txBody>
                    <a:bodyPr/>
                    <a:lstStyle/>
                    <a:p>
                      <a:pPr marL="0" marR="0" algn="ctr">
                        <a:lnSpc>
                          <a:spcPct val="150000"/>
                        </a:lnSpc>
                        <a:spcBef>
                          <a:spcPts val="500"/>
                        </a:spcBef>
                        <a:spcAft>
                          <a:spcPts val="500"/>
                        </a:spcAft>
                      </a:pPr>
                      <a:r>
                        <a:rPr lang="en-US" sz="1100" dirty="0">
                          <a:solidFill>
                            <a:schemeClr val="tx1"/>
                          </a:solidFill>
                          <a:effectLst/>
                        </a:rPr>
                        <a:t>2</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FF00"/>
                    </a:solidFill>
                  </a:tcPr>
                </a:tc>
                <a:extLst>
                  <a:ext uri="{0D108BD9-81ED-4DB2-BD59-A6C34878D82A}">
                    <a16:rowId xmlns:a16="http://schemas.microsoft.com/office/drawing/2014/main" val="10004"/>
                  </a:ext>
                </a:extLst>
              </a:tr>
              <a:tr h="601139">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a:ea typeface="+mn-ea"/>
                          <a:cs typeface="+mn-cs"/>
                        </a:rPr>
                        <a:t>AOE0861.5</a:t>
                      </a:r>
                      <a:endParaRPr kumimoji="0" lang="en-US" sz="11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3</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2</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a:solidFill>
                            <a:schemeClr val="tx1"/>
                          </a:solidFill>
                          <a:effectLst/>
                        </a:rPr>
                        <a:t>1</a:t>
                      </a:r>
                      <a:endParaRPr lang="en-US"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a:solidFill>
                            <a:schemeClr val="tx1"/>
                          </a:solidFill>
                          <a:effectLst/>
                        </a:rPr>
                        <a:t>-</a:t>
                      </a:r>
                      <a:endParaRPr lang="en-US"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2</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482420">
                <a:tc>
                  <a:txBody>
                    <a:bodyPr/>
                    <a:lstStyle/>
                    <a:p>
                      <a:pPr marL="0" marR="0" algn="ctr">
                        <a:lnSpc>
                          <a:spcPct val="150000"/>
                        </a:lnSpc>
                        <a:spcBef>
                          <a:spcPts val="0"/>
                        </a:spcBef>
                        <a:spcAft>
                          <a:spcPts val="0"/>
                        </a:spcAft>
                      </a:pPr>
                      <a:r>
                        <a:rPr lang="en-US" sz="1200" dirty="0">
                          <a:solidFill>
                            <a:schemeClr val="bg1"/>
                          </a:solidFill>
                          <a:effectLst/>
                        </a:rPr>
                        <a:t>AVERAGE</a:t>
                      </a:r>
                      <a:endParaRPr lang="en-US" sz="1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2.8</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2.6</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latin typeface="+mn-lt"/>
                          <a:ea typeface="+mn-ea"/>
                          <a:cs typeface="+mn-cs"/>
                        </a:rPr>
                        <a:t>2</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2</a:t>
                      </a: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a:solidFill>
                            <a:schemeClr val="tx1"/>
                          </a:solidFill>
                          <a:effectLst/>
                        </a:rPr>
                        <a:t>-</a:t>
                      </a:r>
                      <a:endParaRPr lang="en-US"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a:solidFill>
                            <a:schemeClr val="tx1"/>
                          </a:solidFill>
                          <a:effectLst/>
                        </a:rPr>
                        <a:t>-</a:t>
                      </a:r>
                      <a:endParaRPr lang="en-US"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a:solidFill>
                            <a:schemeClr val="tx1"/>
                          </a:solidFill>
                          <a:effectLst/>
                        </a:rPr>
                        <a:t>-</a:t>
                      </a:r>
                      <a:endParaRPr lang="en-US"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500"/>
                        </a:spcBef>
                        <a:spcAft>
                          <a:spcPts val="500"/>
                        </a:spcAft>
                      </a:pPr>
                      <a:r>
                        <a:rPr lang="en-US" sz="1100" dirty="0">
                          <a:solidFill>
                            <a:schemeClr val="tx1"/>
                          </a:solidFill>
                          <a:effectLst/>
                        </a:rPr>
                        <a:t>2</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sp>
        <p:nvSpPr>
          <p:cNvPr id="4" name="Date Placeholder 3"/>
          <p:cNvSpPr>
            <a:spLocks noGrp="1"/>
          </p:cNvSpPr>
          <p:nvPr>
            <p:ph type="dt" sz="half" idx="10"/>
          </p:nvPr>
        </p:nvSpPr>
        <p:spPr/>
        <p:txBody>
          <a:bodyPr/>
          <a:lstStyle/>
          <a:p>
            <a:fld id="{23903A94-76A2-4B48-8F66-479FFA99995A}" type="datetime1">
              <a:rPr lang="en-US" smtClean="0"/>
              <a:t>3/11/2024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Dheeraj     TQM           Unit4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1" i="0" u="none" strike="noStrike" kern="1200" cap="none" spc="0" normalizeH="0" baseline="0" noProof="0" dirty="0">
                <a:ln>
                  <a:noFill/>
                </a:ln>
                <a:solidFill>
                  <a:schemeClr val="dk1"/>
                </a:solidFill>
                <a:effectLst/>
                <a:uLnTx/>
                <a:uFillTx/>
                <a:cs typeface="Times New Roman" panose="02020603050405020304" pitchFamily="18" charset="0"/>
              </a:rPr>
              <a:t>CO-PO Mapping</a:t>
            </a:r>
          </a:p>
        </p:txBody>
      </p:sp>
      <p:sp>
        <p:nvSpPr>
          <p:cNvPr id="9" name="Rectangle 1"/>
          <p:cNvSpPr>
            <a:spLocks noChangeArrowheads="1"/>
          </p:cNvSpPr>
          <p:nvPr/>
        </p:nvSpPr>
        <p:spPr bwMode="auto">
          <a:xfrm>
            <a:off x="2591436" y="411426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 name="Picture 7"/>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3639485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52073-25D8-4B3E-A40F-67C8A99DA56B}"/>
              </a:ext>
            </a:extLst>
          </p:cNvPr>
          <p:cNvSpPr>
            <a:spLocks noGrp="1"/>
          </p:cNvSpPr>
          <p:nvPr>
            <p:ph type="ctrTitle"/>
          </p:nvPr>
        </p:nvSpPr>
        <p:spPr>
          <a:xfrm>
            <a:off x="0" y="0"/>
            <a:ext cx="9144000" cy="685800"/>
          </a:xfrm>
        </p:spPr>
        <p:style>
          <a:lnRef idx="1">
            <a:schemeClr val="accent5"/>
          </a:lnRef>
          <a:fillRef idx="2">
            <a:schemeClr val="accent5"/>
          </a:fillRef>
          <a:effectRef idx="1">
            <a:schemeClr val="accent5"/>
          </a:effectRef>
          <a:fontRef idx="minor">
            <a:schemeClr val="dk1"/>
          </a:fontRef>
        </p:style>
        <p:txBody>
          <a:bodyPr rtlCol="0">
            <a:noAutofit/>
          </a:bodyPr>
          <a:lstStyle/>
          <a:p>
            <a:pPr eaLnBrk="1" fontAlgn="auto" hangingPunct="1">
              <a:spcAft>
                <a:spcPts val="0"/>
              </a:spcAft>
              <a:defRPr/>
            </a:pPr>
            <a:r>
              <a:rPr lang="en-US" sz="3200" b="1" dirty="0">
                <a:latin typeface="Times New Roman" pitchFamily="18" charset="0"/>
                <a:ea typeface="新細明體" pitchFamily="18" charset="-120"/>
                <a:cs typeface="Times New Roman" pitchFamily="18" charset="0"/>
              </a:rPr>
              <a:t>Program Specific Outcomes</a:t>
            </a:r>
            <a:endParaRPr lang="en-US" sz="3200" b="1" dirty="0">
              <a:latin typeface="Times New Roman" pitchFamily="18" charset="0"/>
              <a:cs typeface="Times New Roman" pitchFamily="18" charset="0"/>
            </a:endParaRPr>
          </a:p>
        </p:txBody>
      </p:sp>
      <p:pic>
        <p:nvPicPr>
          <p:cNvPr id="25603" name="Picture 2">
            <a:extLst>
              <a:ext uri="{FF2B5EF4-FFF2-40B4-BE49-F238E27FC236}">
                <a16:creationId xmlns:a16="http://schemas.microsoft.com/office/drawing/2014/main" id="{EC47A29C-1A28-4103-A633-6BF643ECB4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5875"/>
            <a:ext cx="12096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Rectangle 11">
            <a:extLst>
              <a:ext uri="{FF2B5EF4-FFF2-40B4-BE49-F238E27FC236}">
                <a16:creationId xmlns:a16="http://schemas.microsoft.com/office/drawing/2014/main" id="{58316569-59D5-4AC0-A595-7F5254E78724}"/>
              </a:ext>
            </a:extLst>
          </p:cNvPr>
          <p:cNvSpPr>
            <a:spLocks noChangeArrowheads="1"/>
          </p:cNvSpPr>
          <p:nvPr/>
        </p:nvSpPr>
        <p:spPr bwMode="auto">
          <a:xfrm>
            <a:off x="0" y="828675"/>
            <a:ext cx="9144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1313" indent="-341313">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1313" marR="0" lvl="0" indent="-341313"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1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Program Specific Outcomes (PSOs) </a:t>
            </a:r>
            <a:r>
              <a:rPr kumimoji="0" lang="en-US" alt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are what the students should be able to do at the time of graduation. The PSOs are program specific. PSOs are written by the department offering the program. </a:t>
            </a:r>
          </a:p>
        </p:txBody>
      </p:sp>
      <p:sp>
        <p:nvSpPr>
          <p:cNvPr id="11" name="Rectangle 1">
            <a:extLst>
              <a:ext uri="{FF2B5EF4-FFF2-40B4-BE49-F238E27FC236}">
                <a16:creationId xmlns:a16="http://schemas.microsoft.com/office/drawing/2014/main" id="{C3632E4D-4F91-438F-930B-1FEE5618061E}"/>
              </a:ext>
            </a:extLst>
          </p:cNvPr>
          <p:cNvSpPr>
            <a:spLocks noChangeArrowheads="1"/>
          </p:cNvSpPr>
          <p:nvPr/>
        </p:nvSpPr>
        <p:spPr bwMode="auto">
          <a:xfrm>
            <a:off x="0" y="1676400"/>
            <a:ext cx="9144000" cy="4746625"/>
          </a:xfrm>
          <a:prstGeom prst="rect">
            <a:avLst/>
          </a:prstGeom>
          <a:noFill/>
          <a:ln w="9525">
            <a:noFill/>
            <a:miter lim="800000"/>
            <a:headEnd/>
            <a:tailEnd/>
          </a:ln>
        </p:spPr>
        <p:txBody>
          <a:bodyPr anchor="ctr">
            <a:spAutoFit/>
          </a:bodyPr>
          <a:lstStyle/>
          <a:p>
            <a:pPr marL="341313" marR="0" lvl="0" indent="-341313"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On successful completion of B. Tech. (EC) Program, the Electronics and Communication engineering graduates will be able to:</a:t>
            </a:r>
          </a:p>
          <a:p>
            <a:pPr marL="0" marR="0" lvl="0" indent="0" algn="just" defTabSz="914400" rtl="0" eaLnBrk="1" fontAlgn="auto" latinLnBrk="0" hangingPunct="1">
              <a:lnSpc>
                <a:spcPct val="100000"/>
              </a:lnSpc>
              <a:spcBef>
                <a:spcPts val="0"/>
              </a:spcBef>
              <a:spcAft>
                <a:spcPts val="0"/>
              </a:spcAft>
              <a:buClrTx/>
              <a:buSzTx/>
              <a:buFont typeface="Arial" charset="0"/>
              <a:buChar char="•"/>
              <a:tabLst/>
              <a:defRPr/>
            </a:pPr>
            <a:endParaRPr kumimoji="0" lang="en-US"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742950" marR="0" lvl="0" indent="-742950" algn="just" defTabSz="914400" rtl="0" eaLnBrk="1" fontAlgn="auto" latinLnBrk="0" hangingPunct="1">
              <a:lnSpc>
                <a:spcPct val="115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a:ea typeface="Times New Roman"/>
                <a:cs typeface="Times New Roman"/>
              </a:rPr>
              <a:t>PSO1</a:t>
            </a:r>
            <a:r>
              <a:rPr kumimoji="0" lang="en-US" sz="1800" b="1" i="0" u="none" strike="noStrike" kern="1200" cap="none" spc="0" normalizeH="0" baseline="0" noProof="0" dirty="0">
                <a:ln>
                  <a:noFill/>
                </a:ln>
                <a:solidFill>
                  <a:prstClr val="black"/>
                </a:solidFill>
                <a:effectLst/>
                <a:uLnTx/>
                <a:uFillTx/>
                <a:latin typeface="Times New Roman" pitchFamily="18" charset="0"/>
                <a:ea typeface="Times New Roman"/>
                <a:cs typeface="Times New Roman" pitchFamily="18" charset="0"/>
              </a:rPr>
              <a:t>: </a:t>
            </a:r>
            <a:r>
              <a:rPr kumimoji="0" lang="en-US" sz="1800" b="0" i="0" u="none" strike="noStrike" kern="1200" cap="none" spc="0" normalizeH="0" baseline="0" noProof="0" dirty="0">
                <a:ln>
                  <a:noFill/>
                </a:ln>
                <a:solidFill>
                  <a:prstClr val="black"/>
                </a:solidFill>
                <a:effectLst/>
                <a:uLnTx/>
                <a:uFillTx/>
                <a:latin typeface="Times New Roman" pitchFamily="18" charset="0"/>
                <a:ea typeface="Times New Roman"/>
                <a:cs typeface="Times New Roman" pitchFamily="18" charset="0"/>
              </a:rPr>
              <a:t>To apply the knowledge of mathematics, science and electronics &amp; communication engineering to work effectively in the industry based on same or related area.</a:t>
            </a:r>
          </a:p>
          <a:p>
            <a:pPr marL="742950" marR="0" lvl="0" indent="-742950" algn="just" defTabSz="914400" rtl="0" eaLnBrk="1" fontAlgn="auto" latinLnBrk="0" hangingPunct="1">
              <a:lnSpc>
                <a:spcPct val="115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itchFamily="18" charset="0"/>
              <a:ea typeface="Times New Roman"/>
              <a:cs typeface="Times New Roman" pitchFamily="18" charset="0"/>
            </a:endParaRPr>
          </a:p>
          <a:p>
            <a:pPr marL="742950" marR="0" lvl="0" indent="-742950" algn="just" defTabSz="914400" rtl="0" eaLnBrk="1" fontAlgn="auto" latinLnBrk="0" hangingPunct="1">
              <a:lnSpc>
                <a:spcPct val="115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itchFamily="18" charset="0"/>
                <a:ea typeface="Times New Roman"/>
                <a:cs typeface="Times New Roman" pitchFamily="18" charset="0"/>
              </a:rPr>
              <a:t>PSO2: </a:t>
            </a:r>
            <a:r>
              <a:rPr kumimoji="0" lang="en-US" sz="1800" b="0" i="0" u="none" strike="noStrike" kern="1200" cap="none" spc="0" normalizeH="0" baseline="0" noProof="0" dirty="0">
                <a:ln>
                  <a:noFill/>
                </a:ln>
                <a:solidFill>
                  <a:prstClr val="black"/>
                </a:solidFill>
                <a:effectLst/>
                <a:uLnTx/>
                <a:uFillTx/>
                <a:latin typeface="Times New Roman" pitchFamily="18" charset="0"/>
                <a:ea typeface="Times New Roman"/>
                <a:cs typeface="Times New Roman" pitchFamily="18" charset="0"/>
              </a:rPr>
              <a:t>To use their skills to work in modern electronics &amp; communication engineering tools, software and equipments to design solutions for complex problems in the related field that meet the specified needs of the society.</a:t>
            </a:r>
          </a:p>
          <a:p>
            <a:pPr marL="742950" marR="0" lvl="0" indent="-742950" algn="just" defTabSz="914400" rtl="0" eaLnBrk="1" fontAlgn="auto" latinLnBrk="0" hangingPunct="1">
              <a:lnSpc>
                <a:spcPct val="115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itchFamily="18" charset="0"/>
              <a:ea typeface="Times New Roman"/>
              <a:cs typeface="Times New Roman" pitchFamily="18" charset="0"/>
            </a:endParaRPr>
          </a:p>
          <a:p>
            <a:pPr marL="742950" marR="0" lvl="0" indent="-742950" algn="just" defTabSz="914400" rtl="0" eaLnBrk="1" fontAlgn="auto" latinLnBrk="0" hangingPunct="1">
              <a:lnSpc>
                <a:spcPct val="115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itchFamily="18" charset="0"/>
                <a:ea typeface="Times New Roman"/>
                <a:cs typeface="Times New Roman" pitchFamily="18" charset="0"/>
              </a:rPr>
              <a:t>PSO3: </a:t>
            </a:r>
            <a:r>
              <a:rPr kumimoji="0" lang="en-US" sz="1800" b="0" i="0" u="none" strike="noStrike" kern="1200" cap="none" spc="0" normalizeH="0" baseline="0" noProof="0" dirty="0">
                <a:ln>
                  <a:noFill/>
                </a:ln>
                <a:solidFill>
                  <a:prstClr val="black"/>
                </a:solidFill>
                <a:effectLst/>
                <a:uLnTx/>
                <a:uFillTx/>
                <a:latin typeface="Times New Roman" pitchFamily="18" charset="0"/>
                <a:ea typeface="Times New Roman"/>
                <a:cs typeface="Times New Roman" pitchFamily="18" charset="0"/>
              </a:rPr>
              <a:t>To function effectively as an individual and as a member or leader of a team by qualifying through examinations like GATE (Graduate Aptitude Test in Engineering), IES (Indian Engineering Services), PSUs (Public Sector Undertakings), TOEFL (Test of English as a Foreign Language), GMAT (Graduate Management Admission Test) and GRE (Graduate Record Examinations in US) etc.</a:t>
            </a:r>
          </a:p>
        </p:txBody>
      </p:sp>
      <p:sp>
        <p:nvSpPr>
          <p:cNvPr id="3" name="Footer Placeholder 2">
            <a:extLst>
              <a:ext uri="{FF2B5EF4-FFF2-40B4-BE49-F238E27FC236}">
                <a16:creationId xmlns:a16="http://schemas.microsoft.com/office/drawing/2014/main" id="{5ABDA359-EE99-4AD6-90D1-59B163338513}"/>
              </a:ext>
            </a:extLst>
          </p:cNvPr>
          <p:cNvSpPr>
            <a:spLocks noGrp="1"/>
          </p:cNvSpPr>
          <p:nvPr>
            <p:ph type="ftr" sz="quarter" idx="11"/>
          </p:nvPr>
        </p:nvSpPr>
        <p:spPr>
          <a:xfrm>
            <a:off x="2133600" y="6389688"/>
            <a:ext cx="6019800" cy="331787"/>
          </a:xfrm>
        </p:spPr>
        <p:txBody>
          <a:bodyPr/>
          <a:lstStyle/>
          <a:p>
            <a:pPr lvl="0">
              <a:spcBef>
                <a:spcPct val="20000"/>
              </a:spcBef>
              <a:defRPr/>
            </a:pPr>
            <a:r>
              <a:rPr lang="en-US"/>
              <a:t>Dheeraj     TQM           Unit4</a:t>
            </a:r>
            <a:endParaRPr lang="en-US" dirty="0"/>
          </a:p>
        </p:txBody>
      </p:sp>
      <p:sp>
        <p:nvSpPr>
          <p:cNvPr id="25607" name="Slide Number Placeholder 3">
            <a:extLst>
              <a:ext uri="{FF2B5EF4-FFF2-40B4-BE49-F238E27FC236}">
                <a16:creationId xmlns:a16="http://schemas.microsoft.com/office/drawing/2014/main" id="{1DF96689-4ADD-439D-9E43-A70F2D66E1B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F56FD38-3074-4085-BD8A-0522BBEDB0A9}"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5" name="Date Placeholder 4">
            <a:extLst>
              <a:ext uri="{FF2B5EF4-FFF2-40B4-BE49-F238E27FC236}">
                <a16:creationId xmlns:a16="http://schemas.microsoft.com/office/drawing/2014/main" id="{1E5F2723-2ECF-4FFC-B392-E73A36C76D87}"/>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24FB2C1-61FF-430B-8FBF-ED962D82D06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3/11/2024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79005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52073-25D8-4B3E-A40F-67C8A99DA56B}"/>
              </a:ext>
            </a:extLst>
          </p:cNvPr>
          <p:cNvSpPr>
            <a:spLocks noGrp="1"/>
          </p:cNvSpPr>
          <p:nvPr>
            <p:ph type="ctrTitle"/>
          </p:nvPr>
        </p:nvSpPr>
        <p:spPr>
          <a:xfrm>
            <a:off x="0" y="0"/>
            <a:ext cx="9144000" cy="685800"/>
          </a:xfrm>
        </p:spPr>
        <p:style>
          <a:lnRef idx="1">
            <a:schemeClr val="accent5"/>
          </a:lnRef>
          <a:fillRef idx="2">
            <a:schemeClr val="accent5"/>
          </a:fillRef>
          <a:effectRef idx="1">
            <a:schemeClr val="accent5"/>
          </a:effectRef>
          <a:fontRef idx="minor">
            <a:schemeClr val="dk1"/>
          </a:fontRef>
        </p:style>
        <p:txBody>
          <a:bodyPr rtlCol="0">
            <a:noAutofit/>
          </a:bodyPr>
          <a:lstStyle/>
          <a:p>
            <a:pPr lvl="0">
              <a:defRPr/>
            </a:pPr>
            <a:r>
              <a:rPr lang="en-US" sz="3200" b="1" dirty="0">
                <a:cs typeface="Times New Roman" panose="02020603050405020304" pitchFamily="18" charset="0"/>
              </a:rPr>
              <a:t>CO-PSO Mapping</a:t>
            </a:r>
          </a:p>
        </p:txBody>
      </p:sp>
      <p:pic>
        <p:nvPicPr>
          <p:cNvPr id="25603" name="Picture 2">
            <a:extLst>
              <a:ext uri="{FF2B5EF4-FFF2-40B4-BE49-F238E27FC236}">
                <a16:creationId xmlns:a16="http://schemas.microsoft.com/office/drawing/2014/main" id="{EC47A29C-1A28-4103-A633-6BF643ECB4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5875"/>
            <a:ext cx="12096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a:extLst>
              <a:ext uri="{FF2B5EF4-FFF2-40B4-BE49-F238E27FC236}">
                <a16:creationId xmlns:a16="http://schemas.microsoft.com/office/drawing/2014/main" id="{5ABDA359-EE99-4AD6-90D1-59B163338513}"/>
              </a:ext>
            </a:extLst>
          </p:cNvPr>
          <p:cNvSpPr>
            <a:spLocks noGrp="1"/>
          </p:cNvSpPr>
          <p:nvPr>
            <p:ph type="ftr" sz="quarter" idx="11"/>
          </p:nvPr>
        </p:nvSpPr>
        <p:spPr>
          <a:xfrm>
            <a:off x="2133600" y="6389688"/>
            <a:ext cx="6019800" cy="331787"/>
          </a:xfrm>
        </p:spPr>
        <p:txBody>
          <a:bodyPr/>
          <a:lstStyle/>
          <a:p>
            <a:pPr lvl="0">
              <a:spcBef>
                <a:spcPct val="20000"/>
              </a:spcBef>
              <a:defRPr/>
            </a:pPr>
            <a:r>
              <a:rPr lang="en-US"/>
              <a:t>Dheeraj     TQM           Unit4</a:t>
            </a:r>
            <a:endParaRPr lang="en-US" dirty="0"/>
          </a:p>
        </p:txBody>
      </p:sp>
      <p:sp>
        <p:nvSpPr>
          <p:cNvPr id="25607" name="Slide Number Placeholder 3">
            <a:extLst>
              <a:ext uri="{FF2B5EF4-FFF2-40B4-BE49-F238E27FC236}">
                <a16:creationId xmlns:a16="http://schemas.microsoft.com/office/drawing/2014/main" id="{1DF96689-4ADD-439D-9E43-A70F2D66E1B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F56FD38-3074-4085-BD8A-0522BBEDB0A9}"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dirty="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5" name="Date Placeholder 4">
            <a:extLst>
              <a:ext uri="{FF2B5EF4-FFF2-40B4-BE49-F238E27FC236}">
                <a16:creationId xmlns:a16="http://schemas.microsoft.com/office/drawing/2014/main" id="{1E5F2723-2ECF-4FFC-B392-E73A36C76D87}"/>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8654E4-8575-4E96-B380-F1E4E7D11EA9}"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3/11/2024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graphicFrame>
        <p:nvGraphicFramePr>
          <p:cNvPr id="4" name="Table 3"/>
          <p:cNvGraphicFramePr>
            <a:graphicFrameLocks noGrp="1"/>
          </p:cNvGraphicFramePr>
          <p:nvPr>
            <p:extLst>
              <p:ext uri="{D42A27DB-BD31-4B8C-83A1-F6EECF244321}">
                <p14:modId xmlns:p14="http://schemas.microsoft.com/office/powerpoint/2010/main" val="4205288725"/>
              </p:ext>
            </p:extLst>
          </p:nvPr>
        </p:nvGraphicFramePr>
        <p:xfrm>
          <a:off x="838200" y="1295404"/>
          <a:ext cx="7696199" cy="3962398"/>
        </p:xfrm>
        <a:graphic>
          <a:graphicData uri="http://schemas.openxmlformats.org/drawingml/2006/table">
            <a:tbl>
              <a:tblPr firstRow="1" firstCol="1" bandRow="1">
                <a:tableStyleId>{5C22544A-7EE6-4342-B048-85BDC9FD1C3A}</a:tableStyleId>
              </a:tblPr>
              <a:tblGrid>
                <a:gridCol w="2233437">
                  <a:extLst>
                    <a:ext uri="{9D8B030D-6E8A-4147-A177-3AD203B41FA5}">
                      <a16:colId xmlns:a16="http://schemas.microsoft.com/office/drawing/2014/main" val="20000"/>
                    </a:ext>
                  </a:extLst>
                </a:gridCol>
                <a:gridCol w="1979462">
                  <a:extLst>
                    <a:ext uri="{9D8B030D-6E8A-4147-A177-3AD203B41FA5}">
                      <a16:colId xmlns:a16="http://schemas.microsoft.com/office/drawing/2014/main" val="20001"/>
                    </a:ext>
                  </a:extLst>
                </a:gridCol>
                <a:gridCol w="1973306">
                  <a:extLst>
                    <a:ext uri="{9D8B030D-6E8A-4147-A177-3AD203B41FA5}">
                      <a16:colId xmlns:a16="http://schemas.microsoft.com/office/drawing/2014/main" val="20002"/>
                    </a:ext>
                  </a:extLst>
                </a:gridCol>
                <a:gridCol w="1509994">
                  <a:extLst>
                    <a:ext uri="{9D8B030D-6E8A-4147-A177-3AD203B41FA5}">
                      <a16:colId xmlns:a16="http://schemas.microsoft.com/office/drawing/2014/main" val="20003"/>
                    </a:ext>
                  </a:extLst>
                </a:gridCol>
              </a:tblGrid>
              <a:tr h="551496">
                <a:tc>
                  <a:txBody>
                    <a:bodyPr/>
                    <a:lstStyle/>
                    <a:p>
                      <a:pPr marL="0" marR="0" algn="ctr">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COs</a:t>
                      </a:r>
                      <a:endParaRPr lang="en-IN" sz="1800" dirty="0">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PSO 1</a:t>
                      </a:r>
                      <a:endParaRPr lang="en-IN" sz="1800">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PSO 2</a:t>
                      </a:r>
                      <a:endParaRPr lang="en-IN" sz="1800">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PSO 3</a:t>
                      </a:r>
                      <a:endParaRPr lang="en-IN" sz="1800">
                        <a:effectLst/>
                        <a:latin typeface="Times New Roman" panose="02020603050405020304" pitchFamily="18" charset="0"/>
                        <a:ea typeface="Calibri"/>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51496">
                <a:tc>
                  <a:txBody>
                    <a:bodyPr/>
                    <a:lstStyle/>
                    <a:p>
                      <a:pPr marL="0" marR="0" algn="l">
                        <a:lnSpc>
                          <a:spcPct val="107000"/>
                        </a:lnSpc>
                        <a:spcBef>
                          <a:spcPts val="0"/>
                        </a:spcBef>
                        <a:spcAft>
                          <a:spcPts val="0"/>
                        </a:spcAft>
                      </a:pPr>
                      <a:r>
                        <a:rPr lang="en-US" sz="1800" dirty="0">
                          <a:solidFill>
                            <a:schemeClr val="tx1"/>
                          </a:solidFill>
                          <a:effectLst/>
                          <a:latin typeface="Times New Roman" panose="02020603050405020304" pitchFamily="18" charset="0"/>
                          <a:ea typeface="+mn-ea"/>
                          <a:cs typeface="Times New Roman" panose="02020603050405020304" pitchFamily="18" charset="0"/>
                        </a:rPr>
                        <a:t>AOE0861.1</a:t>
                      </a:r>
                      <a:endParaRPr lang="en-IN" sz="18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nchor="ctr"/>
                </a:tc>
                <a:tc>
                  <a:txBody>
                    <a:bodyPr/>
                    <a:lstStyle/>
                    <a:p>
                      <a:pPr marL="0" marR="0" algn="ctr" fontAlgn="ctr">
                        <a:spcBef>
                          <a:spcPts val="0"/>
                        </a:spcBef>
                        <a:spcAft>
                          <a:spcPts val="0"/>
                        </a:spcAft>
                      </a:pPr>
                      <a:r>
                        <a:rPr lang="en-US" sz="1800" kern="12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Times New Roman"/>
                        <a:cs typeface="Times New Roman" panose="02020603050405020304" pitchFamily="18" charset="0"/>
                      </a:endParaRPr>
                    </a:p>
                  </a:txBody>
                  <a:tcPr marL="68580" marR="68580" marT="0" marB="0" anchor="ctr"/>
                </a:tc>
                <a:tc>
                  <a:txBody>
                    <a:bodyPr/>
                    <a:lstStyle/>
                    <a:p>
                      <a:pPr marL="0" marR="0" algn="ctr" fontAlgn="ctr">
                        <a:spcBef>
                          <a:spcPts val="0"/>
                        </a:spcBef>
                        <a:spcAft>
                          <a:spcPts val="0"/>
                        </a:spcAft>
                      </a:pPr>
                      <a:r>
                        <a:rPr lang="en-US" sz="1800" kern="12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Times New Roman"/>
                        <a:cs typeface="Times New Roman" panose="02020603050405020304" pitchFamily="18" charset="0"/>
                      </a:endParaRPr>
                    </a:p>
                  </a:txBody>
                  <a:tcPr marL="68580" marR="68580" marT="0" marB="0" anchor="ctr"/>
                </a:tc>
                <a:tc>
                  <a:txBody>
                    <a:bodyPr/>
                    <a:lstStyle/>
                    <a:p>
                      <a:pPr marL="0" marR="0" algn="ctr" fontAlgn="ctr">
                        <a:spcBef>
                          <a:spcPts val="0"/>
                        </a:spcBef>
                        <a:spcAft>
                          <a:spcPts val="0"/>
                        </a:spcAft>
                      </a:pPr>
                      <a:r>
                        <a:rPr lang="en-US" sz="1800" kern="12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Times New Roman"/>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551496">
                <a:tc>
                  <a:txBody>
                    <a:bodyPr/>
                    <a:lstStyle/>
                    <a:p>
                      <a:pPr marL="0" marR="0" algn="l">
                        <a:lnSpc>
                          <a:spcPct val="107000"/>
                        </a:lnSpc>
                        <a:spcBef>
                          <a:spcPts val="0"/>
                        </a:spcBef>
                        <a:spcAft>
                          <a:spcPts val="0"/>
                        </a:spcAft>
                      </a:pPr>
                      <a:r>
                        <a:rPr lang="en-US" sz="1800" dirty="0">
                          <a:solidFill>
                            <a:schemeClr val="tx1"/>
                          </a:solidFill>
                          <a:effectLst/>
                          <a:latin typeface="Times New Roman" panose="02020603050405020304" pitchFamily="18" charset="0"/>
                          <a:ea typeface="+mn-ea"/>
                          <a:cs typeface="Times New Roman" panose="02020603050405020304" pitchFamily="18" charset="0"/>
                        </a:rPr>
                        <a:t>AOE0861.2</a:t>
                      </a:r>
                      <a:endParaRPr lang="en-IN" sz="18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solidFill>
                      <a:schemeClr val="tx2">
                        <a:lumMod val="60000"/>
                        <a:lumOff val="40000"/>
                      </a:schemeClr>
                    </a:solidFill>
                  </a:tcPr>
                </a:tc>
                <a:tc>
                  <a:txBody>
                    <a:bodyPr/>
                    <a:lstStyle/>
                    <a:p>
                      <a:pPr marL="0" marR="0" algn="ctr" fontAlgn="ctr">
                        <a:spcBef>
                          <a:spcPts val="0"/>
                        </a:spcBef>
                        <a:spcAft>
                          <a:spcPts val="0"/>
                        </a:spcAft>
                      </a:pPr>
                      <a:r>
                        <a:rPr lang="en-US" sz="1800" kern="1200" dirty="0">
                          <a:effectLst/>
                          <a:latin typeface="Times New Roman" panose="02020603050405020304" pitchFamily="18" charset="0"/>
                          <a:cs typeface="Times New Roman" panose="02020603050405020304" pitchFamily="18" charset="0"/>
                        </a:rPr>
                        <a:t>3</a:t>
                      </a:r>
                      <a:endParaRPr lang="en-IN"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fontAlgn="ctr">
                        <a:spcBef>
                          <a:spcPts val="0"/>
                        </a:spcBef>
                        <a:spcAft>
                          <a:spcPts val="0"/>
                        </a:spcAft>
                      </a:pPr>
                      <a:r>
                        <a:rPr lang="en-US" sz="1800" kern="1200" dirty="0">
                          <a:effectLst/>
                          <a:latin typeface="Times New Roman" panose="02020603050405020304" pitchFamily="18" charset="0"/>
                          <a:cs typeface="Times New Roman" panose="02020603050405020304" pitchFamily="18" charset="0"/>
                        </a:rPr>
                        <a:t>3</a:t>
                      </a:r>
                      <a:endParaRPr lang="en-IN"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fontAlgn="ctr">
                        <a:spcBef>
                          <a:spcPts val="0"/>
                        </a:spcBef>
                        <a:spcAft>
                          <a:spcPts val="0"/>
                        </a:spcAft>
                      </a:pPr>
                      <a:r>
                        <a:rPr lang="en-US" sz="1800" kern="1200" dirty="0">
                          <a:effectLst/>
                          <a:latin typeface="Times New Roman" panose="02020603050405020304" pitchFamily="18" charset="0"/>
                          <a:cs typeface="Times New Roman" panose="02020603050405020304" pitchFamily="18" charset="0"/>
                        </a:rPr>
                        <a:t>3</a:t>
                      </a:r>
                      <a:endParaRPr lang="en-IN"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10002"/>
                  </a:ext>
                </a:extLst>
              </a:tr>
              <a:tr h="551496">
                <a:tc>
                  <a:txBody>
                    <a:bodyPr/>
                    <a:lstStyle/>
                    <a:p>
                      <a:pPr marL="0" marR="0" algn="l">
                        <a:lnSpc>
                          <a:spcPct val="107000"/>
                        </a:lnSpc>
                        <a:spcBef>
                          <a:spcPts val="0"/>
                        </a:spcBef>
                        <a:spcAft>
                          <a:spcPts val="0"/>
                        </a:spcAft>
                      </a:pPr>
                      <a:r>
                        <a:rPr lang="en-US" sz="1800" dirty="0">
                          <a:solidFill>
                            <a:schemeClr val="tx1"/>
                          </a:solidFill>
                          <a:effectLst/>
                          <a:latin typeface="Times New Roman" panose="02020603050405020304" pitchFamily="18" charset="0"/>
                          <a:ea typeface="+mn-ea"/>
                          <a:cs typeface="Times New Roman" panose="02020603050405020304" pitchFamily="18" charset="0"/>
                        </a:rPr>
                        <a:t>AOE0861.3</a:t>
                      </a:r>
                      <a:endParaRPr lang="en-IN" sz="18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marL="0" marR="0" algn="ctr" fontAlgn="ctr">
                        <a:spcBef>
                          <a:spcPts val="0"/>
                        </a:spcBef>
                        <a:spcAft>
                          <a:spcPts val="0"/>
                        </a:spcAft>
                      </a:pPr>
                      <a:r>
                        <a:rPr lang="en-US" sz="1800" kern="1200" dirty="0">
                          <a:effectLst/>
                          <a:latin typeface="Times New Roman" panose="02020603050405020304" pitchFamily="18" charset="0"/>
                          <a:cs typeface="Times New Roman" panose="02020603050405020304" pitchFamily="18" charset="0"/>
                        </a:rPr>
                        <a:t>3</a:t>
                      </a:r>
                      <a:endParaRPr lang="en-IN"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tc>
                <a:tc>
                  <a:txBody>
                    <a:bodyPr/>
                    <a:lstStyle/>
                    <a:p>
                      <a:pPr marL="0" marR="0" algn="ctr" fontAlgn="ctr">
                        <a:spcBef>
                          <a:spcPts val="0"/>
                        </a:spcBef>
                        <a:spcAft>
                          <a:spcPts val="0"/>
                        </a:spcAft>
                      </a:pPr>
                      <a:r>
                        <a:rPr lang="en-US" sz="1800" kern="12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Times New Roman"/>
                        <a:cs typeface="Times New Roman" panose="02020603050405020304" pitchFamily="18" charset="0"/>
                      </a:endParaRPr>
                    </a:p>
                  </a:txBody>
                  <a:tcPr marL="68580" marR="68580" marT="0" marB="0" anchor="ctr"/>
                </a:tc>
                <a:tc>
                  <a:txBody>
                    <a:bodyPr/>
                    <a:lstStyle/>
                    <a:p>
                      <a:pPr marL="0" marR="0" algn="ctr" fontAlgn="ctr">
                        <a:spcBef>
                          <a:spcPts val="0"/>
                        </a:spcBef>
                        <a:spcAft>
                          <a:spcPts val="0"/>
                        </a:spcAft>
                      </a:pPr>
                      <a:r>
                        <a:rPr lang="en-US" sz="1800" kern="12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Times New Roman"/>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551496">
                <a:tc>
                  <a:txBody>
                    <a:bodyPr/>
                    <a:lstStyle/>
                    <a:p>
                      <a:pPr marL="0" marR="0" algn="l">
                        <a:lnSpc>
                          <a:spcPct val="107000"/>
                        </a:lnSpc>
                        <a:spcBef>
                          <a:spcPts val="0"/>
                        </a:spcBef>
                        <a:spcAft>
                          <a:spcPts val="0"/>
                        </a:spcAft>
                      </a:pPr>
                      <a:r>
                        <a:rPr lang="en-US" sz="1800" dirty="0">
                          <a:solidFill>
                            <a:schemeClr val="tx1"/>
                          </a:solidFill>
                          <a:effectLst/>
                          <a:latin typeface="Times New Roman" panose="02020603050405020304" pitchFamily="18" charset="0"/>
                          <a:ea typeface="+mn-ea"/>
                          <a:cs typeface="Times New Roman" panose="02020603050405020304" pitchFamily="18" charset="0"/>
                        </a:rPr>
                        <a:t>AOE0861.4</a:t>
                      </a:r>
                      <a:endParaRPr lang="en-IN" sz="18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solidFill>
                      <a:srgbClr val="FFFF00"/>
                    </a:solidFill>
                  </a:tcPr>
                </a:tc>
                <a:tc>
                  <a:txBody>
                    <a:bodyPr/>
                    <a:lstStyle/>
                    <a:p>
                      <a:pPr marL="0" marR="0" algn="ctr" fontAlgn="ctr">
                        <a:spcBef>
                          <a:spcPts val="0"/>
                        </a:spcBef>
                        <a:spcAft>
                          <a:spcPts val="0"/>
                        </a:spcAft>
                      </a:pPr>
                      <a:r>
                        <a:rPr lang="en-US" sz="1800" kern="1200" dirty="0">
                          <a:effectLst/>
                          <a:latin typeface="Times New Roman" panose="02020603050405020304" pitchFamily="18" charset="0"/>
                          <a:cs typeface="Times New Roman" panose="02020603050405020304" pitchFamily="18" charset="0"/>
                        </a:rPr>
                        <a:t>3</a:t>
                      </a:r>
                      <a:endParaRPr lang="en-IN"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solidFill>
                      <a:srgbClr val="FFFF00"/>
                    </a:solidFill>
                  </a:tcPr>
                </a:tc>
                <a:tc>
                  <a:txBody>
                    <a:bodyPr/>
                    <a:lstStyle/>
                    <a:p>
                      <a:pPr marL="0" marR="0" algn="ctr" fontAlgn="ctr">
                        <a:spcBef>
                          <a:spcPts val="0"/>
                        </a:spcBef>
                        <a:spcAft>
                          <a:spcPts val="0"/>
                        </a:spcAft>
                      </a:pPr>
                      <a:r>
                        <a:rPr lang="en-US" sz="1800" kern="1200" dirty="0">
                          <a:effectLst/>
                          <a:latin typeface="Times New Roman" panose="02020603050405020304" pitchFamily="18" charset="0"/>
                          <a:cs typeface="Times New Roman" panose="02020603050405020304" pitchFamily="18" charset="0"/>
                        </a:rPr>
                        <a:t>3</a:t>
                      </a:r>
                      <a:endParaRPr lang="en-IN"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solidFill>
                      <a:srgbClr val="FFFF00"/>
                    </a:solidFill>
                  </a:tcPr>
                </a:tc>
                <a:tc>
                  <a:txBody>
                    <a:bodyPr/>
                    <a:lstStyle/>
                    <a:p>
                      <a:pPr marL="0" marR="0" algn="ctr" fontAlgn="ctr">
                        <a:spcBef>
                          <a:spcPts val="0"/>
                        </a:spcBef>
                        <a:spcAft>
                          <a:spcPts val="0"/>
                        </a:spcAft>
                      </a:pPr>
                      <a:r>
                        <a:rPr lang="en-US" sz="1800" kern="1200" dirty="0">
                          <a:effectLst/>
                          <a:latin typeface="Times New Roman" panose="02020603050405020304" pitchFamily="18" charset="0"/>
                          <a:cs typeface="Times New Roman" panose="02020603050405020304" pitchFamily="18" charset="0"/>
                        </a:rPr>
                        <a:t>3</a:t>
                      </a:r>
                      <a:endParaRPr lang="en-IN"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solidFill>
                      <a:srgbClr val="FFFF00"/>
                    </a:solidFill>
                  </a:tcPr>
                </a:tc>
                <a:extLst>
                  <a:ext uri="{0D108BD9-81ED-4DB2-BD59-A6C34878D82A}">
                    <a16:rowId xmlns:a16="http://schemas.microsoft.com/office/drawing/2014/main" val="10004"/>
                  </a:ext>
                </a:extLst>
              </a:tr>
              <a:tr h="551496">
                <a:tc>
                  <a:txBody>
                    <a:bodyPr/>
                    <a:lstStyle/>
                    <a:p>
                      <a:pPr marL="0" marR="0" algn="l">
                        <a:lnSpc>
                          <a:spcPct val="107000"/>
                        </a:lnSpc>
                        <a:spcBef>
                          <a:spcPts val="0"/>
                        </a:spcBef>
                        <a:spcAft>
                          <a:spcPts val="0"/>
                        </a:spcAft>
                      </a:pPr>
                      <a:r>
                        <a:rPr lang="en-US" sz="1800" dirty="0">
                          <a:solidFill>
                            <a:schemeClr val="tx1"/>
                          </a:solidFill>
                          <a:effectLst/>
                          <a:latin typeface="Times New Roman" panose="02020603050405020304" pitchFamily="18" charset="0"/>
                          <a:ea typeface="+mn-ea"/>
                          <a:cs typeface="Times New Roman" panose="02020603050405020304" pitchFamily="18" charset="0"/>
                        </a:rPr>
                        <a:t>AOE0861.5</a:t>
                      </a:r>
                      <a:endParaRPr lang="en-IN" sz="18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marL="0" marR="0" algn="ctr" fontAlgn="ctr">
                        <a:spcBef>
                          <a:spcPts val="0"/>
                        </a:spcBef>
                        <a:spcAft>
                          <a:spcPts val="0"/>
                        </a:spcAft>
                      </a:pPr>
                      <a:r>
                        <a:rPr lang="en-US" sz="1800" kern="1200" dirty="0">
                          <a:effectLst/>
                          <a:latin typeface="Times New Roman" panose="02020603050405020304" pitchFamily="18" charset="0"/>
                          <a:cs typeface="Times New Roman" panose="02020603050405020304" pitchFamily="18" charset="0"/>
                        </a:rPr>
                        <a:t>3</a:t>
                      </a:r>
                      <a:endParaRPr lang="en-IN"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tc>
                <a:tc>
                  <a:txBody>
                    <a:bodyPr/>
                    <a:lstStyle/>
                    <a:p>
                      <a:pPr marL="0" marR="0" algn="ctr" fontAlgn="ctr">
                        <a:spcBef>
                          <a:spcPts val="0"/>
                        </a:spcBef>
                        <a:spcAft>
                          <a:spcPts val="0"/>
                        </a:spcAft>
                      </a:pPr>
                      <a:r>
                        <a:rPr lang="en-US" sz="1800" kern="1200" dirty="0">
                          <a:effectLst/>
                          <a:latin typeface="Times New Roman" panose="02020603050405020304" pitchFamily="18" charset="0"/>
                          <a:cs typeface="Times New Roman" panose="02020603050405020304" pitchFamily="18" charset="0"/>
                        </a:rPr>
                        <a:t>3</a:t>
                      </a:r>
                      <a:endParaRPr lang="en-IN"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tc>
                <a:tc>
                  <a:txBody>
                    <a:bodyPr/>
                    <a:lstStyle/>
                    <a:p>
                      <a:pPr marL="0" marR="0" algn="ctr" fontAlgn="ctr">
                        <a:spcBef>
                          <a:spcPts val="0"/>
                        </a:spcBef>
                        <a:spcAft>
                          <a:spcPts val="0"/>
                        </a:spcAft>
                      </a:pPr>
                      <a:r>
                        <a:rPr lang="en-US" sz="1800" kern="12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Times New Roman"/>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653422">
                <a:tc>
                  <a:txBody>
                    <a:bodyPr/>
                    <a:lstStyle/>
                    <a:p>
                      <a:pPr marL="0" marR="0" algn="ctr">
                        <a:lnSpc>
                          <a:spcPct val="107000"/>
                        </a:lnSpc>
                        <a:spcBef>
                          <a:spcPts val="0"/>
                        </a:spcBef>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Avg.</a:t>
                      </a:r>
                      <a:endParaRPr lang="en-IN" sz="18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tc>
                <a:tc>
                  <a:txBody>
                    <a:bodyPr/>
                    <a:lstStyle/>
                    <a:p>
                      <a:pPr marL="0" marR="0" algn="ctr" fontAlgn="ctr">
                        <a:spcBef>
                          <a:spcPts val="0"/>
                        </a:spcBef>
                        <a:spcAft>
                          <a:spcPts val="0"/>
                        </a:spcAft>
                      </a:pPr>
                      <a:r>
                        <a:rPr lang="en-US" sz="1800" kern="1200" dirty="0">
                          <a:effectLst/>
                          <a:latin typeface="Times New Roman" panose="02020603050405020304" pitchFamily="18" charset="0"/>
                          <a:cs typeface="Times New Roman" panose="02020603050405020304" pitchFamily="18" charset="0"/>
                        </a:rPr>
                        <a:t>3</a:t>
                      </a:r>
                      <a:endParaRPr lang="en-IN"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tc>
                <a:tc>
                  <a:txBody>
                    <a:bodyPr/>
                    <a:lstStyle/>
                    <a:p>
                      <a:pPr marL="0" marR="0" algn="ctr" fontAlgn="ctr">
                        <a:spcBef>
                          <a:spcPts val="0"/>
                        </a:spcBef>
                        <a:spcAft>
                          <a:spcPts val="0"/>
                        </a:spcAft>
                      </a:pPr>
                      <a:r>
                        <a:rPr lang="en-US" sz="1800" kern="1200" dirty="0">
                          <a:effectLst/>
                          <a:latin typeface="Times New Roman" panose="02020603050405020304" pitchFamily="18" charset="0"/>
                          <a:cs typeface="Times New Roman" panose="02020603050405020304" pitchFamily="18" charset="0"/>
                        </a:rPr>
                        <a:t>3</a:t>
                      </a:r>
                      <a:endParaRPr lang="en-IN"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tc>
                <a:tc>
                  <a:txBody>
                    <a:bodyPr/>
                    <a:lstStyle/>
                    <a:p>
                      <a:pPr marL="0" marR="0" algn="ctr" fontAlgn="ctr">
                        <a:spcBef>
                          <a:spcPts val="0"/>
                        </a:spcBef>
                        <a:spcAft>
                          <a:spcPts val="0"/>
                        </a:spcAft>
                      </a:pPr>
                      <a:r>
                        <a:rPr lang="en-US" sz="1800" kern="1200" dirty="0">
                          <a:effectLst/>
                          <a:latin typeface="Times New Roman" panose="02020603050405020304" pitchFamily="18" charset="0"/>
                          <a:cs typeface="Times New Roman" panose="02020603050405020304" pitchFamily="18" charset="0"/>
                        </a:rPr>
                        <a:t>3</a:t>
                      </a:r>
                      <a:endParaRPr lang="en-IN"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51808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05422"/>
            <a:ext cx="8229600" cy="4525963"/>
          </a:xfrm>
        </p:spPr>
        <p:txBody>
          <a:bodyPr>
            <a:noAutofit/>
          </a:bodyPr>
          <a:lstStyle/>
          <a:p>
            <a:pPr marL="0" indent="0" algn="justLow">
              <a:lnSpc>
                <a:spcPct val="150000"/>
              </a:lnSpc>
              <a:buNone/>
            </a:pPr>
            <a:r>
              <a:rPr lang="en-IN" sz="2200" dirty="0">
                <a:latin typeface="Times New Roman" panose="02020603050405020304" pitchFamily="18" charset="0"/>
                <a:cs typeface="Times New Roman" panose="02020603050405020304" pitchFamily="18" charset="0"/>
              </a:rPr>
              <a:t>Not applicable</a:t>
            </a:r>
          </a:p>
        </p:txBody>
      </p:sp>
      <p:sp>
        <p:nvSpPr>
          <p:cNvPr id="4" name="Date Placeholder 3"/>
          <p:cNvSpPr>
            <a:spLocks noGrp="1"/>
          </p:cNvSpPr>
          <p:nvPr>
            <p:ph type="dt" sz="half" idx="10"/>
          </p:nvPr>
        </p:nvSpPr>
        <p:spPr/>
        <p:txBody>
          <a:bodyPr/>
          <a:lstStyle/>
          <a:p>
            <a:fld id="{CF83199B-FAC7-49BE-9510-D95749EB99B5}"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000" b="1" dirty="0">
                <a:latin typeface="Times New Roman" panose="02020603050405020304" pitchFamily="18" charset="0"/>
                <a:cs typeface="Times New Roman" panose="02020603050405020304" pitchFamily="18" charset="0"/>
              </a:rPr>
              <a:t>Program Educational Objectives (PEOs)</a:t>
            </a:r>
            <a:endParaRPr kumimoji="0" lang="en-US" sz="30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1" name="Footer Placeholder 9">
            <a:extLst>
              <a:ext uri="{FF2B5EF4-FFF2-40B4-BE49-F238E27FC236}">
                <a16:creationId xmlns:a16="http://schemas.microsoft.com/office/drawing/2014/main" id="{7913D736-CA4F-F144-9E81-FEAD8F55B451}"/>
              </a:ext>
            </a:extLst>
          </p:cNvPr>
          <p:cNvSpPr>
            <a:spLocks noGrp="1"/>
          </p:cNvSpPr>
          <p:nvPr>
            <p:ph type="ftr" sz="quarter" idx="11"/>
          </p:nvPr>
        </p:nvSpPr>
        <p:spPr>
          <a:xfrm>
            <a:off x="2514600" y="6356350"/>
            <a:ext cx="5029200" cy="365125"/>
          </a:xfrm>
        </p:spPr>
        <p:txBody>
          <a:bodyPr/>
          <a:lstStyle/>
          <a:p>
            <a:r>
              <a:rPr lang="en-US"/>
              <a:t>Dheeraj     TQM           Unit4</a:t>
            </a:r>
            <a:endParaRPr lang="en-US" dirty="0"/>
          </a:p>
        </p:txBody>
      </p:sp>
      <p:pic>
        <p:nvPicPr>
          <p:cNvPr id="8" name="Picture 2">
            <a:extLst>
              <a:ext uri="{FF2B5EF4-FFF2-40B4-BE49-F238E27FC236}">
                <a16:creationId xmlns:a16="http://schemas.microsoft.com/office/drawing/2014/main" id="{EC47A29C-1A28-4103-A633-6BF643ECB4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25" y="15875"/>
            <a:ext cx="12096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4734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quarter" idx="10"/>
          </p:nvPr>
        </p:nvSpPr>
        <p:spPr/>
        <p:txBody>
          <a:bodyPr/>
          <a:lstStyle/>
          <a:p>
            <a:pPr>
              <a:defRPr/>
            </a:pPr>
            <a:fld id="{C33C5A40-104F-4432-BD2F-7111AF29E2F9}" type="datetime1">
              <a:rPr lang="en-US" smtClean="0"/>
              <a:t>3/11/2024</a:t>
            </a:fld>
            <a:endParaRPr lang="en-US"/>
          </a:p>
        </p:txBody>
      </p:sp>
      <p:sp>
        <p:nvSpPr>
          <p:cNvPr id="24579"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pPr>
            <a:fld id="{F8BE2BE7-6FC7-49E0-AA64-D26AE395FC8D}" type="slidenum">
              <a:rPr lang="en-US" altLang="en-US" sz="1200">
                <a:solidFill>
                  <a:srgbClr val="898989"/>
                </a:solidFill>
              </a:rPr>
              <a:pPr>
                <a:spcBef>
                  <a:spcPct val="0"/>
                </a:spcBef>
                <a:buFontTx/>
                <a:buNone/>
              </a:pPr>
              <a:t>12</a:t>
            </a:fld>
            <a:endParaRPr lang="en-US" altLang="en-US" sz="1200">
              <a:solidFill>
                <a:srgbClr val="898989"/>
              </a:solidFill>
            </a:endParaRPr>
          </a:p>
        </p:txBody>
      </p:sp>
      <p:pic>
        <p:nvPicPr>
          <p:cNvPr id="24580" name="Picture 2" descr="E:\NIET\Project\xLogo11.png.pagespeed.ic.pydHLuCQEZ.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4478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ooter Placeholder 12"/>
          <p:cNvSpPr>
            <a:spLocks noGrp="1"/>
          </p:cNvSpPr>
          <p:nvPr>
            <p:ph type="ftr" sz="quarter" idx="11"/>
          </p:nvPr>
        </p:nvSpPr>
        <p:spPr>
          <a:xfrm>
            <a:off x="2286000" y="6248400"/>
            <a:ext cx="5029200" cy="365125"/>
          </a:xfrm>
        </p:spPr>
        <p:txBody>
          <a:bodyPr/>
          <a:lstStyle/>
          <a:p>
            <a:pPr>
              <a:defRPr/>
            </a:pPr>
            <a:r>
              <a:rPr lang="en-US"/>
              <a:t>Dheeraj     TQM           Unit4</a:t>
            </a:r>
            <a:endParaRPr lang="en-US" dirty="0"/>
          </a:p>
        </p:txBody>
      </p:sp>
      <p:sp>
        <p:nvSpPr>
          <p:cNvPr id="8" name="Title 1"/>
          <p:cNvSpPr txBox="1">
            <a:spLocks/>
          </p:cNvSpPr>
          <p:nvPr/>
        </p:nvSpPr>
        <p:spPr>
          <a:xfrm>
            <a:off x="1371600" y="0"/>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b="1" dirty="0">
                <a:latin typeface="Times New Roman" panose="02020603050405020304" pitchFamily="18" charset="0"/>
                <a:cs typeface="Times New Roman" panose="02020603050405020304" pitchFamily="18" charset="0"/>
              </a:rPr>
              <a:t>End Semester Question Paper Template</a:t>
            </a:r>
          </a:p>
        </p:txBody>
      </p:sp>
      <p:graphicFrame>
        <p:nvGraphicFramePr>
          <p:cNvPr id="11" name="Table 10"/>
          <p:cNvGraphicFramePr>
            <a:graphicFrameLocks noGrp="1"/>
          </p:cNvGraphicFramePr>
          <p:nvPr>
            <p:extLst>
              <p:ext uri="{D42A27DB-BD31-4B8C-83A1-F6EECF244321}">
                <p14:modId xmlns:p14="http://schemas.microsoft.com/office/powerpoint/2010/main" val="805339142"/>
              </p:ext>
            </p:extLst>
          </p:nvPr>
        </p:nvGraphicFramePr>
        <p:xfrm>
          <a:off x="231775" y="762000"/>
          <a:ext cx="8683625" cy="5562600"/>
        </p:xfrm>
        <a:graphic>
          <a:graphicData uri="http://schemas.openxmlformats.org/drawingml/2006/table">
            <a:tbl>
              <a:tblPr firstRow="1" bandRow="1">
                <a:tableStyleId>{BC89EF96-8CEA-46FF-86C4-4CE0E7609802}</a:tableStyleId>
              </a:tblPr>
              <a:tblGrid>
                <a:gridCol w="1302544">
                  <a:extLst>
                    <a:ext uri="{9D8B030D-6E8A-4147-A177-3AD203B41FA5}">
                      <a16:colId xmlns:a16="http://schemas.microsoft.com/office/drawing/2014/main" val="20000"/>
                    </a:ext>
                  </a:extLst>
                </a:gridCol>
                <a:gridCol w="5535810">
                  <a:extLst>
                    <a:ext uri="{9D8B030D-6E8A-4147-A177-3AD203B41FA5}">
                      <a16:colId xmlns:a16="http://schemas.microsoft.com/office/drawing/2014/main" val="20001"/>
                    </a:ext>
                  </a:extLst>
                </a:gridCol>
                <a:gridCol w="1085454">
                  <a:extLst>
                    <a:ext uri="{9D8B030D-6E8A-4147-A177-3AD203B41FA5}">
                      <a16:colId xmlns:a16="http://schemas.microsoft.com/office/drawing/2014/main" val="20002"/>
                    </a:ext>
                  </a:extLst>
                </a:gridCol>
                <a:gridCol w="759817">
                  <a:extLst>
                    <a:ext uri="{9D8B030D-6E8A-4147-A177-3AD203B41FA5}">
                      <a16:colId xmlns:a16="http://schemas.microsoft.com/office/drawing/2014/main" val="20003"/>
                    </a:ext>
                  </a:extLst>
                </a:gridCol>
              </a:tblGrid>
              <a:tr h="370840">
                <a:tc gridSpan="4">
                  <a:txBody>
                    <a:bodyPr/>
                    <a:lstStyle/>
                    <a:p>
                      <a:r>
                        <a:rPr lang="en-US" sz="1600" dirty="0">
                          <a:latin typeface="Times New Roman" panose="02020603050405020304" pitchFamily="18" charset="0"/>
                          <a:cs typeface="Times New Roman" panose="02020603050405020304" pitchFamily="18" charset="0"/>
                        </a:rPr>
                        <a:t>B.Tech</a:t>
                      </a:r>
                      <a:r>
                        <a:rPr lang="en-US" sz="1600" baseline="0" dirty="0">
                          <a:latin typeface="Times New Roman" panose="02020603050405020304" pitchFamily="18" charset="0"/>
                          <a:cs typeface="Times New Roman" panose="02020603050405020304" pitchFamily="18" charset="0"/>
                        </a:rPr>
                        <a:t> (Semester -Theory Examination 2021-22)                                       Total Marks : 100</a:t>
                      </a:r>
                      <a:endParaRPr lang="en-US" sz="1600" dirty="0">
                        <a:latin typeface="Times New Roman" panose="02020603050405020304" pitchFamily="18" charset="0"/>
                        <a:cs typeface="Times New Roman" panose="02020603050405020304" pitchFamily="18" charset="0"/>
                      </a:endParaRPr>
                    </a:p>
                  </a:txBody>
                  <a:tcPr marL="91443" marR="91443"/>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0840">
                <a:tc gridSpan="4">
                  <a:txBody>
                    <a:bodyPr/>
                    <a:lstStyle/>
                    <a:p>
                      <a:r>
                        <a:rPr lang="en-US" sz="1600" b="1" dirty="0">
                          <a:latin typeface="Times New Roman" panose="02020603050405020304" pitchFamily="18" charset="0"/>
                          <a:cs typeface="Times New Roman" panose="02020603050405020304" pitchFamily="18" charset="0"/>
                        </a:rPr>
                        <a:t>Note: </a:t>
                      </a:r>
                      <a:r>
                        <a:rPr lang="en-US" sz="1600" b="0" dirty="0">
                          <a:latin typeface="Times New Roman" panose="02020603050405020304" pitchFamily="18" charset="0"/>
                          <a:cs typeface="Times New Roman" panose="02020603050405020304" pitchFamily="18" charset="0"/>
                        </a:rPr>
                        <a:t>Attempt all sections. If require any</a:t>
                      </a:r>
                      <a:r>
                        <a:rPr lang="en-US" sz="1600" b="0" baseline="0" dirty="0">
                          <a:latin typeface="Times New Roman" panose="02020603050405020304" pitchFamily="18" charset="0"/>
                          <a:cs typeface="Times New Roman" panose="02020603050405020304" pitchFamily="18" charset="0"/>
                        </a:rPr>
                        <a:t> missing data, then choose suitably. </a:t>
                      </a:r>
                      <a:r>
                        <a:rPr lang="en-US" sz="1600" b="1" baseline="0" dirty="0">
                          <a:latin typeface="Times New Roman" panose="02020603050405020304" pitchFamily="18" charset="0"/>
                          <a:cs typeface="Times New Roman" panose="02020603050405020304" pitchFamily="18" charset="0"/>
                        </a:rPr>
                        <a:t>Time: 3 hours</a:t>
                      </a:r>
                      <a:endParaRPr lang="en-US" sz="1600" b="1" dirty="0">
                        <a:latin typeface="Times New Roman" panose="02020603050405020304" pitchFamily="18" charset="0"/>
                        <a:cs typeface="Times New Roman" panose="02020603050405020304" pitchFamily="18" charset="0"/>
                      </a:endParaRPr>
                    </a:p>
                  </a:txBody>
                  <a:tcPr marL="91443" marR="91443"/>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0840">
                <a:tc gridSpan="4">
                  <a:txBody>
                    <a:bodyPr/>
                    <a:lstStyle/>
                    <a:p>
                      <a:r>
                        <a:rPr lang="en-US" sz="1600" dirty="0">
                          <a:latin typeface="Times New Roman" panose="02020603050405020304" pitchFamily="18" charset="0"/>
                          <a:cs typeface="Times New Roman" panose="02020603050405020304" pitchFamily="18" charset="0"/>
                        </a:rPr>
                        <a:t>Section A</a:t>
                      </a:r>
                    </a:p>
                  </a:txBody>
                  <a:tcPr marL="91443" marR="91443"/>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2"/>
                  </a:ext>
                </a:extLst>
              </a:tr>
              <a:tr h="370840">
                <a:tc gridSpan="4">
                  <a:txBody>
                    <a:bodyPr/>
                    <a:lstStyle/>
                    <a:p>
                      <a:r>
                        <a:rPr lang="en-US" sz="1600" dirty="0">
                          <a:latin typeface="Times New Roman" panose="02020603050405020304" pitchFamily="18" charset="0"/>
                          <a:cs typeface="Times New Roman" panose="02020603050405020304" pitchFamily="18" charset="0"/>
                        </a:rPr>
                        <a:t>1. Attempt all questions in brief.                                                                                     2 X</a:t>
                      </a:r>
                      <a:r>
                        <a:rPr lang="en-US" sz="1600" baseline="0" dirty="0">
                          <a:latin typeface="Times New Roman" panose="02020603050405020304" pitchFamily="18" charset="0"/>
                          <a:cs typeface="Times New Roman" panose="02020603050405020304" pitchFamily="18" charset="0"/>
                        </a:rPr>
                        <a:t> 10 = 20</a:t>
                      </a:r>
                      <a:endParaRPr lang="en-US" sz="1600" dirty="0">
                        <a:latin typeface="Times New Roman" panose="02020603050405020304" pitchFamily="18" charset="0"/>
                        <a:cs typeface="Times New Roman" panose="02020603050405020304" pitchFamily="18" charset="0"/>
                      </a:endParaRPr>
                    </a:p>
                  </a:txBody>
                  <a:tcPr marL="91443" marR="91443"/>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3"/>
                  </a:ext>
                </a:extLst>
              </a:tr>
              <a:tr h="370840">
                <a:tc>
                  <a:txBody>
                    <a:bodyPr/>
                    <a:lstStyle/>
                    <a:p>
                      <a:r>
                        <a:rPr lang="en-US" sz="1600" dirty="0">
                          <a:latin typeface="Times New Roman" panose="02020603050405020304" pitchFamily="18" charset="0"/>
                          <a:cs typeface="Times New Roman" panose="02020603050405020304" pitchFamily="18" charset="0"/>
                        </a:rPr>
                        <a:t>Q. No. </a:t>
                      </a:r>
                    </a:p>
                  </a:txBody>
                  <a:tcPr marL="91443" marR="91443"/>
                </a:tc>
                <a:tc>
                  <a:txBody>
                    <a:bodyPr/>
                    <a:lstStyle/>
                    <a:p>
                      <a:r>
                        <a:rPr lang="en-US" sz="1600" dirty="0">
                          <a:latin typeface="Times New Roman" panose="02020603050405020304" pitchFamily="18" charset="0"/>
                          <a:cs typeface="Times New Roman" panose="02020603050405020304" pitchFamily="18" charset="0"/>
                        </a:rPr>
                        <a:t>Question</a:t>
                      </a:r>
                    </a:p>
                  </a:txBody>
                  <a:tcPr marL="91443" marR="91443"/>
                </a:tc>
                <a:tc>
                  <a:txBody>
                    <a:bodyPr/>
                    <a:lstStyle/>
                    <a:p>
                      <a:r>
                        <a:rPr lang="en-US" sz="1600" dirty="0">
                          <a:latin typeface="Times New Roman" panose="02020603050405020304" pitchFamily="18" charset="0"/>
                          <a:cs typeface="Times New Roman" panose="02020603050405020304" pitchFamily="18" charset="0"/>
                        </a:rPr>
                        <a:t>Marks</a:t>
                      </a:r>
                    </a:p>
                  </a:txBody>
                  <a:tcPr marL="91443" marR="91443"/>
                </a:tc>
                <a:tc>
                  <a:txBody>
                    <a:bodyPr/>
                    <a:lstStyle/>
                    <a:p>
                      <a:r>
                        <a:rPr lang="en-US" sz="1600" dirty="0">
                          <a:latin typeface="Times New Roman" panose="02020603050405020304" pitchFamily="18" charset="0"/>
                          <a:cs typeface="Times New Roman" panose="02020603050405020304" pitchFamily="18" charset="0"/>
                        </a:rPr>
                        <a:t>CO</a:t>
                      </a:r>
                    </a:p>
                  </a:txBody>
                  <a:tcPr marL="91443" marR="91443"/>
                </a:tc>
                <a:extLst>
                  <a:ext uri="{0D108BD9-81ED-4DB2-BD59-A6C34878D82A}">
                    <a16:rowId xmlns:a16="http://schemas.microsoft.com/office/drawing/2014/main" val="10004"/>
                  </a:ext>
                </a:extLst>
              </a:tr>
              <a:tr h="370840">
                <a:tc>
                  <a:txBody>
                    <a:bodyPr/>
                    <a:lstStyle/>
                    <a:p>
                      <a:r>
                        <a:rPr lang="en-US" sz="1600" dirty="0">
                          <a:latin typeface="Times New Roman" panose="02020603050405020304" pitchFamily="18" charset="0"/>
                          <a:cs typeface="Times New Roman" panose="02020603050405020304" pitchFamily="18" charset="0"/>
                        </a:rPr>
                        <a:t>a. to j</a:t>
                      </a:r>
                    </a:p>
                  </a:txBody>
                  <a:tcPr marL="91443" marR="91443"/>
                </a:tc>
                <a:tc>
                  <a:txBody>
                    <a:bodyPr/>
                    <a:lstStyle/>
                    <a:p>
                      <a:endParaRPr lang="en-US" sz="1600" dirty="0">
                        <a:latin typeface="Times New Roman" panose="02020603050405020304" pitchFamily="18" charset="0"/>
                        <a:cs typeface="Times New Roman" panose="02020603050405020304" pitchFamily="18" charset="0"/>
                      </a:endParaRPr>
                    </a:p>
                  </a:txBody>
                  <a:tcPr marL="91443" marR="91443"/>
                </a:tc>
                <a:tc>
                  <a:txBody>
                    <a:bodyPr/>
                    <a:lstStyle/>
                    <a:p>
                      <a:r>
                        <a:rPr lang="en-US" sz="1600" dirty="0">
                          <a:latin typeface="Times New Roman" panose="02020603050405020304" pitchFamily="18" charset="0"/>
                          <a:cs typeface="Times New Roman" panose="02020603050405020304" pitchFamily="18" charset="0"/>
                        </a:rPr>
                        <a:t>2</a:t>
                      </a:r>
                    </a:p>
                  </a:txBody>
                  <a:tcPr marL="91443" marR="91443"/>
                </a:tc>
                <a:tc>
                  <a:txBody>
                    <a:bodyPr/>
                    <a:lstStyle/>
                    <a:p>
                      <a:endParaRPr lang="en-US" sz="1600">
                        <a:latin typeface="Times New Roman" panose="02020603050405020304" pitchFamily="18" charset="0"/>
                        <a:cs typeface="Times New Roman" panose="02020603050405020304" pitchFamily="18" charset="0"/>
                      </a:endParaRPr>
                    </a:p>
                  </a:txBody>
                  <a:tcPr marL="91443" marR="91443"/>
                </a:tc>
                <a:extLst>
                  <a:ext uri="{0D108BD9-81ED-4DB2-BD59-A6C34878D82A}">
                    <a16:rowId xmlns:a16="http://schemas.microsoft.com/office/drawing/2014/main" val="10005"/>
                  </a:ext>
                </a:extLst>
              </a:tr>
              <a:tr h="370840">
                <a:tc gridSpan="4">
                  <a:txBody>
                    <a:bodyPr/>
                    <a:lstStyle/>
                    <a:p>
                      <a:r>
                        <a:rPr lang="en-US" sz="1600" dirty="0">
                          <a:latin typeface="Times New Roman" panose="02020603050405020304" pitchFamily="18" charset="0"/>
                          <a:cs typeface="Times New Roman" panose="02020603050405020304" pitchFamily="18" charset="0"/>
                        </a:rPr>
                        <a:t>Section B</a:t>
                      </a:r>
                    </a:p>
                  </a:txBody>
                  <a:tcPr marL="91443" marR="91443"/>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6"/>
                  </a:ext>
                </a:extLst>
              </a:tr>
              <a:tr h="370840">
                <a:tc gridSpan="4">
                  <a:txBody>
                    <a:bodyPr/>
                    <a:lstStyle/>
                    <a:p>
                      <a:r>
                        <a:rPr lang="en-US" sz="1600" dirty="0">
                          <a:latin typeface="Times New Roman" panose="02020603050405020304" pitchFamily="18" charset="0"/>
                          <a:cs typeface="Times New Roman" panose="02020603050405020304" pitchFamily="18" charset="0"/>
                        </a:rPr>
                        <a:t>2. Attempt any three of the following                                                                          3 X 10</a:t>
                      </a:r>
                      <a:r>
                        <a:rPr lang="en-US" sz="1600" baseline="0" dirty="0">
                          <a:latin typeface="Times New Roman" panose="02020603050405020304" pitchFamily="18" charset="0"/>
                          <a:cs typeface="Times New Roman" panose="02020603050405020304" pitchFamily="18" charset="0"/>
                        </a:rPr>
                        <a:t> = 30</a:t>
                      </a:r>
                      <a:endParaRPr lang="en-US" sz="1600" dirty="0">
                        <a:latin typeface="Times New Roman" panose="02020603050405020304" pitchFamily="18" charset="0"/>
                        <a:cs typeface="Times New Roman" panose="02020603050405020304" pitchFamily="18" charset="0"/>
                      </a:endParaRPr>
                    </a:p>
                  </a:txBody>
                  <a:tcPr marL="91443" marR="91443"/>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7"/>
                  </a:ext>
                </a:extLst>
              </a:tr>
              <a:tr h="370840">
                <a:tc>
                  <a:txBody>
                    <a:bodyPr/>
                    <a:lstStyle/>
                    <a:p>
                      <a:r>
                        <a:rPr lang="en-US" sz="1600" dirty="0">
                          <a:latin typeface="Times New Roman" panose="02020603050405020304" pitchFamily="18" charset="0"/>
                          <a:cs typeface="Times New Roman" panose="02020603050405020304" pitchFamily="18" charset="0"/>
                        </a:rPr>
                        <a:t>Q. No. </a:t>
                      </a:r>
                    </a:p>
                  </a:txBody>
                  <a:tcPr marL="91443" marR="91443"/>
                </a:tc>
                <a:tc>
                  <a:txBody>
                    <a:bodyPr/>
                    <a:lstStyle/>
                    <a:p>
                      <a:r>
                        <a:rPr lang="en-US" sz="1600" dirty="0">
                          <a:latin typeface="Times New Roman" panose="02020603050405020304" pitchFamily="18" charset="0"/>
                          <a:cs typeface="Times New Roman" panose="02020603050405020304" pitchFamily="18" charset="0"/>
                        </a:rPr>
                        <a:t>Question</a:t>
                      </a:r>
                    </a:p>
                  </a:txBody>
                  <a:tcPr marL="91443" marR="91443"/>
                </a:tc>
                <a:tc>
                  <a:txBody>
                    <a:bodyPr/>
                    <a:lstStyle/>
                    <a:p>
                      <a:r>
                        <a:rPr lang="en-US" sz="1600" dirty="0">
                          <a:latin typeface="Times New Roman" panose="02020603050405020304" pitchFamily="18" charset="0"/>
                          <a:cs typeface="Times New Roman" panose="02020603050405020304" pitchFamily="18" charset="0"/>
                        </a:rPr>
                        <a:t>Marks</a:t>
                      </a:r>
                    </a:p>
                  </a:txBody>
                  <a:tcPr marL="91443" marR="91443"/>
                </a:tc>
                <a:tc>
                  <a:txBody>
                    <a:bodyPr/>
                    <a:lstStyle/>
                    <a:p>
                      <a:r>
                        <a:rPr lang="en-US" sz="1600" dirty="0">
                          <a:latin typeface="Times New Roman" panose="02020603050405020304" pitchFamily="18" charset="0"/>
                          <a:cs typeface="Times New Roman" panose="02020603050405020304" pitchFamily="18" charset="0"/>
                        </a:rPr>
                        <a:t>CO</a:t>
                      </a:r>
                    </a:p>
                  </a:txBody>
                  <a:tcPr marL="91443" marR="91443"/>
                </a:tc>
                <a:extLst>
                  <a:ext uri="{0D108BD9-81ED-4DB2-BD59-A6C34878D82A}">
                    <a16:rowId xmlns:a16="http://schemas.microsoft.com/office/drawing/2014/main" val="10008"/>
                  </a:ext>
                </a:extLst>
              </a:tr>
              <a:tr h="370840">
                <a:tc>
                  <a:txBody>
                    <a:bodyPr/>
                    <a:lstStyle/>
                    <a:p>
                      <a:r>
                        <a:rPr lang="en-US" sz="1600" dirty="0">
                          <a:latin typeface="Times New Roman" panose="02020603050405020304" pitchFamily="18" charset="0"/>
                          <a:cs typeface="Times New Roman" panose="02020603050405020304" pitchFamily="18" charset="0"/>
                        </a:rPr>
                        <a:t>a to e</a:t>
                      </a:r>
                    </a:p>
                  </a:txBody>
                  <a:tcPr marL="91443" marR="91443"/>
                </a:tc>
                <a:tc>
                  <a:txBody>
                    <a:bodyPr/>
                    <a:lstStyle/>
                    <a:p>
                      <a:endParaRPr lang="en-US" sz="1600" dirty="0">
                        <a:latin typeface="Times New Roman" panose="02020603050405020304" pitchFamily="18" charset="0"/>
                        <a:cs typeface="Times New Roman" panose="02020603050405020304" pitchFamily="18" charset="0"/>
                      </a:endParaRPr>
                    </a:p>
                  </a:txBody>
                  <a:tcPr marL="91443" marR="91443"/>
                </a:tc>
                <a:tc>
                  <a:txBody>
                    <a:bodyPr/>
                    <a:lstStyle/>
                    <a:p>
                      <a:r>
                        <a:rPr lang="en-US" sz="1600" dirty="0">
                          <a:latin typeface="Times New Roman" panose="02020603050405020304" pitchFamily="18" charset="0"/>
                          <a:cs typeface="Times New Roman" panose="02020603050405020304" pitchFamily="18" charset="0"/>
                        </a:rPr>
                        <a:t>10</a:t>
                      </a:r>
                    </a:p>
                  </a:txBody>
                  <a:tcPr marL="91443" marR="91443"/>
                </a:tc>
                <a:tc>
                  <a:txBody>
                    <a:bodyPr/>
                    <a:lstStyle/>
                    <a:p>
                      <a:endParaRPr lang="en-US" sz="1600" dirty="0">
                        <a:latin typeface="Times New Roman" panose="02020603050405020304" pitchFamily="18" charset="0"/>
                        <a:cs typeface="Times New Roman" panose="02020603050405020304" pitchFamily="18" charset="0"/>
                      </a:endParaRPr>
                    </a:p>
                  </a:txBody>
                  <a:tcPr marL="91443" marR="91443"/>
                </a:tc>
                <a:extLst>
                  <a:ext uri="{0D108BD9-81ED-4DB2-BD59-A6C34878D82A}">
                    <a16:rowId xmlns:a16="http://schemas.microsoft.com/office/drawing/2014/main" val="10009"/>
                  </a:ext>
                </a:extLst>
              </a:tr>
              <a:tr h="370840">
                <a:tc gridSpan="4">
                  <a:txBody>
                    <a:bodyPr/>
                    <a:lstStyle/>
                    <a:p>
                      <a:r>
                        <a:rPr lang="en-US" sz="1600" dirty="0">
                          <a:latin typeface="Times New Roman" panose="02020603050405020304" pitchFamily="18" charset="0"/>
                          <a:cs typeface="Times New Roman" panose="02020603050405020304" pitchFamily="18" charset="0"/>
                        </a:rPr>
                        <a:t>Section</a:t>
                      </a:r>
                      <a:r>
                        <a:rPr lang="en-US" sz="1600" baseline="0" dirty="0">
                          <a:latin typeface="Times New Roman" panose="02020603050405020304" pitchFamily="18" charset="0"/>
                          <a:cs typeface="Times New Roman" panose="02020603050405020304" pitchFamily="18" charset="0"/>
                        </a:rPr>
                        <a:t> C</a:t>
                      </a:r>
                      <a:endParaRPr lang="en-US" sz="1600" dirty="0">
                        <a:latin typeface="Times New Roman" panose="02020603050405020304" pitchFamily="18" charset="0"/>
                        <a:cs typeface="Times New Roman" panose="02020603050405020304" pitchFamily="18" charset="0"/>
                      </a:endParaRPr>
                    </a:p>
                  </a:txBody>
                  <a:tcPr marL="91443" marR="91443"/>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10"/>
                  </a:ext>
                </a:extLst>
              </a:tr>
              <a:tr h="370840">
                <a:tc gridSpan="4">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Question</a:t>
                      </a:r>
                      <a:r>
                        <a:rPr lang="en-US" sz="1600" baseline="0" dirty="0">
                          <a:latin typeface="Times New Roman" panose="02020603050405020304" pitchFamily="18" charset="0"/>
                          <a:cs typeface="Times New Roman" panose="02020603050405020304" pitchFamily="18" charset="0"/>
                        </a:rPr>
                        <a:t> no. </a:t>
                      </a:r>
                      <a:r>
                        <a:rPr lang="en-US" sz="1600" dirty="0">
                          <a:latin typeface="Times New Roman" panose="02020603050405020304" pitchFamily="18" charset="0"/>
                          <a:cs typeface="Times New Roman" panose="02020603050405020304" pitchFamily="18" charset="0"/>
                        </a:rPr>
                        <a:t>3,4,5,6,7.  Attempt any one of the following                             </a:t>
                      </a:r>
                      <a:r>
                        <a:rPr lang="en-US" sz="1600" baseline="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1 X 10</a:t>
                      </a:r>
                      <a:r>
                        <a:rPr lang="en-US" sz="1600" baseline="0" dirty="0">
                          <a:latin typeface="Times New Roman" panose="02020603050405020304" pitchFamily="18" charset="0"/>
                          <a:cs typeface="Times New Roman" panose="02020603050405020304" pitchFamily="18" charset="0"/>
                        </a:rPr>
                        <a:t> = 10 </a:t>
                      </a:r>
                      <a:endParaRPr lang="en-US" sz="1600" dirty="0">
                        <a:latin typeface="Times New Roman" panose="02020603050405020304" pitchFamily="18" charset="0"/>
                        <a:cs typeface="Times New Roman" panose="02020603050405020304" pitchFamily="18" charset="0"/>
                      </a:endParaRPr>
                    </a:p>
                  </a:txBody>
                  <a:tcPr marL="91443" marR="91443"/>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11"/>
                  </a:ext>
                </a:extLst>
              </a:tr>
              <a:tr h="370840">
                <a:tc>
                  <a:txBody>
                    <a:bodyPr/>
                    <a:lstStyle/>
                    <a:p>
                      <a:r>
                        <a:rPr lang="en-US" sz="1600" dirty="0">
                          <a:latin typeface="Times New Roman" panose="02020603050405020304" pitchFamily="18" charset="0"/>
                          <a:cs typeface="Times New Roman" panose="02020603050405020304" pitchFamily="18" charset="0"/>
                        </a:rPr>
                        <a:t>a</a:t>
                      </a:r>
                    </a:p>
                  </a:txBody>
                  <a:tcPr marL="91443" marR="91443"/>
                </a:tc>
                <a:tc>
                  <a:txBody>
                    <a:bodyPr/>
                    <a:lstStyle/>
                    <a:p>
                      <a:endParaRPr lang="en-US" sz="1600" dirty="0">
                        <a:latin typeface="Times New Roman" panose="02020603050405020304" pitchFamily="18" charset="0"/>
                        <a:cs typeface="Times New Roman" panose="02020603050405020304" pitchFamily="18" charset="0"/>
                      </a:endParaRPr>
                    </a:p>
                  </a:txBody>
                  <a:tcPr marL="91443" marR="91443"/>
                </a:tc>
                <a:tc>
                  <a:txBody>
                    <a:bodyPr/>
                    <a:lstStyle/>
                    <a:p>
                      <a:r>
                        <a:rPr lang="en-US" sz="1600" dirty="0">
                          <a:latin typeface="Times New Roman" panose="02020603050405020304" pitchFamily="18" charset="0"/>
                          <a:cs typeface="Times New Roman" panose="02020603050405020304" pitchFamily="18" charset="0"/>
                        </a:rPr>
                        <a:t>10</a:t>
                      </a:r>
                    </a:p>
                  </a:txBody>
                  <a:tcPr marL="91443" marR="91443"/>
                </a:tc>
                <a:tc>
                  <a:txBody>
                    <a:bodyPr/>
                    <a:lstStyle/>
                    <a:p>
                      <a:endParaRPr lang="en-US" sz="1600" dirty="0">
                        <a:latin typeface="Times New Roman" panose="02020603050405020304" pitchFamily="18" charset="0"/>
                        <a:cs typeface="Times New Roman" panose="02020603050405020304" pitchFamily="18" charset="0"/>
                      </a:endParaRPr>
                    </a:p>
                  </a:txBody>
                  <a:tcPr marL="91443" marR="91443"/>
                </a:tc>
                <a:extLst>
                  <a:ext uri="{0D108BD9-81ED-4DB2-BD59-A6C34878D82A}">
                    <a16:rowId xmlns:a16="http://schemas.microsoft.com/office/drawing/2014/main" val="10012"/>
                  </a:ext>
                </a:extLst>
              </a:tr>
              <a:tr h="370840">
                <a:tc>
                  <a:txBody>
                    <a:bodyPr/>
                    <a:lstStyle/>
                    <a:p>
                      <a:r>
                        <a:rPr lang="en-US" sz="1600" dirty="0">
                          <a:latin typeface="Times New Roman" panose="02020603050405020304" pitchFamily="18" charset="0"/>
                          <a:cs typeface="Times New Roman" panose="02020603050405020304" pitchFamily="18" charset="0"/>
                        </a:rPr>
                        <a:t>b</a:t>
                      </a:r>
                    </a:p>
                  </a:txBody>
                  <a:tcPr marL="91443" marR="91443"/>
                </a:tc>
                <a:tc>
                  <a:txBody>
                    <a:bodyPr/>
                    <a:lstStyle/>
                    <a:p>
                      <a:endParaRPr lang="en-US" sz="1600" dirty="0">
                        <a:latin typeface="Times New Roman" panose="02020603050405020304" pitchFamily="18" charset="0"/>
                        <a:cs typeface="Times New Roman" panose="02020603050405020304" pitchFamily="18" charset="0"/>
                      </a:endParaRPr>
                    </a:p>
                  </a:txBody>
                  <a:tcPr marL="91443" marR="91443"/>
                </a:tc>
                <a:tc>
                  <a:txBody>
                    <a:bodyPr/>
                    <a:lstStyle/>
                    <a:p>
                      <a:r>
                        <a:rPr lang="en-US" sz="1600" dirty="0">
                          <a:latin typeface="Times New Roman" panose="02020603050405020304" pitchFamily="18" charset="0"/>
                          <a:cs typeface="Times New Roman" panose="02020603050405020304" pitchFamily="18" charset="0"/>
                        </a:rPr>
                        <a:t>10</a:t>
                      </a:r>
                    </a:p>
                  </a:txBody>
                  <a:tcPr marL="91443" marR="91443"/>
                </a:tc>
                <a:tc>
                  <a:txBody>
                    <a:bodyPr/>
                    <a:lstStyle/>
                    <a:p>
                      <a:endParaRPr lang="en-US" sz="1600" dirty="0">
                        <a:latin typeface="Times New Roman" panose="02020603050405020304" pitchFamily="18" charset="0"/>
                        <a:cs typeface="Times New Roman" panose="02020603050405020304" pitchFamily="18" charset="0"/>
                      </a:endParaRPr>
                    </a:p>
                  </a:txBody>
                  <a:tcPr marL="91443" marR="91443"/>
                </a:tc>
                <a:extLst>
                  <a:ext uri="{0D108BD9-81ED-4DB2-BD59-A6C34878D82A}">
                    <a16:rowId xmlns:a16="http://schemas.microsoft.com/office/drawing/2014/main" val="10013"/>
                  </a:ext>
                </a:extLst>
              </a:tr>
              <a:tr h="370840">
                <a:tc gridSpan="4">
                  <a:txBody>
                    <a:bodyPr/>
                    <a:lstStyle/>
                    <a:p>
                      <a:endParaRPr lang="en-US" sz="1600" dirty="0">
                        <a:latin typeface="Times New Roman" panose="02020603050405020304" pitchFamily="18" charset="0"/>
                        <a:cs typeface="Times New Roman" panose="02020603050405020304" pitchFamily="18" charset="0"/>
                      </a:endParaRPr>
                    </a:p>
                  </a:txBody>
                  <a:tcPr marL="91443" marR="91443"/>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14"/>
                  </a:ext>
                </a:extLst>
              </a:tr>
            </a:tbl>
          </a:graphicData>
        </a:graphic>
      </p:graphicFrame>
      <p:pic>
        <p:nvPicPr>
          <p:cNvPr id="24644" name="Picture 8" descr="Untitled.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2170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a:prstGeom prst="rect">
            <a:avLst/>
          </a:prstGeom>
        </p:spPr>
        <p:txBody>
          <a:bodyPr>
            <a:normAutofit/>
          </a:bodyPr>
          <a:lstStyle/>
          <a:p>
            <a:pPr marL="0" indent="0" algn="justLow">
              <a:buNone/>
            </a:pPr>
            <a:r>
              <a:rPr lang="en-US" sz="2400" b="1" dirty="0">
                <a:solidFill>
                  <a:schemeClr val="dk1"/>
                </a:solidFill>
                <a:latin typeface="Times New Roman" panose="02020603050405020304" pitchFamily="18" charset="0"/>
                <a:cs typeface="Times New Roman" panose="02020603050405020304" pitchFamily="18" charset="0"/>
              </a:rPr>
              <a:t>Prerequisite:</a:t>
            </a:r>
          </a:p>
          <a:p>
            <a:pPr algn="justLow"/>
            <a:r>
              <a:rPr lang="en-US" sz="2200" dirty="0">
                <a:solidFill>
                  <a:schemeClr val="dk1"/>
                </a:solidFill>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Basic knowledge of </a:t>
            </a:r>
            <a:r>
              <a:rPr lang="en-GB" sz="2200" dirty="0">
                <a:latin typeface="Times New Roman" panose="02020603050405020304" pitchFamily="18" charset="0"/>
                <a:cs typeface="Times New Roman" panose="02020603050405020304" pitchFamily="18" charset="0"/>
              </a:rPr>
              <a:t>Statistical  Analysis.</a:t>
            </a:r>
            <a:endParaRPr lang="en-US" sz="2200" dirty="0">
              <a:latin typeface="Times New Roman" panose="02020603050405020304" pitchFamily="18" charset="0"/>
              <a:cs typeface="Times New Roman" panose="02020603050405020304" pitchFamily="18" charset="0"/>
            </a:endParaRPr>
          </a:p>
          <a:p>
            <a:pPr algn="justLow"/>
            <a:r>
              <a:rPr lang="en-US" sz="2200" dirty="0">
                <a:latin typeface="Times New Roman" panose="02020603050405020304" pitchFamily="18" charset="0"/>
                <a:cs typeface="Times New Roman" panose="02020603050405020304" pitchFamily="18" charset="0"/>
              </a:rPr>
              <a:t> Knowledge </a:t>
            </a:r>
            <a:r>
              <a:rPr lang="en-GB" sz="2200" dirty="0">
                <a:latin typeface="Times New Roman" panose="02020603050405020304" pitchFamily="18" charset="0"/>
                <a:cs typeface="Times New Roman" panose="02020603050405020304" pitchFamily="18" charset="0"/>
              </a:rPr>
              <a:t>of Production process.</a:t>
            </a:r>
          </a:p>
          <a:p>
            <a:pPr algn="justLow"/>
            <a:r>
              <a:rPr lang="en-GB" sz="2200" dirty="0">
                <a:latin typeface="Times New Roman" panose="02020603050405020304" pitchFamily="18" charset="0"/>
                <a:cs typeface="Times New Roman" panose="02020603050405020304" pitchFamily="18" charset="0"/>
              </a:rPr>
              <a:t>Basic Knowledge of Management policy</a:t>
            </a:r>
            <a:endParaRPr lang="en-US" sz="2200" dirty="0">
              <a:latin typeface="Times New Roman" panose="02020603050405020304" pitchFamily="18" charset="0"/>
              <a:cs typeface="Times New Roman" panose="02020603050405020304" pitchFamily="18" charset="0"/>
            </a:endParaRPr>
          </a:p>
          <a:p>
            <a:pPr>
              <a:buNone/>
            </a:pPr>
            <a:endParaRPr lang="en-US" sz="2400" dirty="0">
              <a:cs typeface="Times New Roman" pitchFamily="18" charset="0"/>
            </a:endParaRPr>
          </a:p>
        </p:txBody>
      </p:sp>
      <p:sp>
        <p:nvSpPr>
          <p:cNvPr id="4" name="Date Placeholder 3"/>
          <p:cNvSpPr>
            <a:spLocks noGrp="1"/>
          </p:cNvSpPr>
          <p:nvPr>
            <p:ph type="dt" sz="half" idx="10"/>
          </p:nvPr>
        </p:nvSpPr>
        <p:spPr/>
        <p:txBody>
          <a:bodyPr/>
          <a:lstStyle/>
          <a:p>
            <a:fld id="{8627BEC2-1951-47F3-A6B0-278860279E56}" type="datetime1">
              <a:rPr lang="en-US" smtClean="0"/>
              <a:t>3/11/2024</a:t>
            </a:fld>
            <a:endParaRPr lang="en-US"/>
          </a:p>
        </p:txBody>
      </p:sp>
      <p:sp>
        <p:nvSpPr>
          <p:cNvPr id="2" name="Footer Placeholder 1"/>
          <p:cNvSpPr>
            <a:spLocks noGrp="1"/>
          </p:cNvSpPr>
          <p:nvPr>
            <p:ph type="ftr" sz="quarter" idx="11"/>
          </p:nvPr>
        </p:nvSpPr>
        <p:spPr/>
        <p:txBody>
          <a:bodyPr/>
          <a:lstStyle/>
          <a:p>
            <a:r>
              <a:rPr lang="en-US"/>
              <a:t>Dheeraj     TQM           Unit4</a:t>
            </a:r>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dirty="0">
                <a:latin typeface="Times New Roman" panose="02020603050405020304" pitchFamily="18" charset="0"/>
                <a:cs typeface="Times New Roman" panose="02020603050405020304" pitchFamily="18" charset="0"/>
              </a:rPr>
              <a:t>Prerequisite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a:p>
        </p:txBody>
      </p:sp>
      <p:pic>
        <p:nvPicPr>
          <p:cNvPr id="8" name="Picture 7"/>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1179901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29200"/>
          </a:xfrm>
          <a:prstGeom prst="rect">
            <a:avLst/>
          </a:prstGeom>
        </p:spPr>
        <p:txBody>
          <a:bodyPr>
            <a:normAutofit fontScale="92500" lnSpcReduction="10000"/>
          </a:bodyPr>
          <a:lstStyle/>
          <a:p>
            <a:pPr marL="0" indent="0" algn="justLow">
              <a:lnSpc>
                <a:spcPct val="150000"/>
              </a:lnSpc>
              <a:buNone/>
            </a:pPr>
            <a:r>
              <a:rPr lang="en-IN" sz="2200" dirty="0">
                <a:latin typeface="Times New Roman" panose="02020603050405020304" pitchFamily="18" charset="0"/>
                <a:cs typeface="Times New Roman" panose="02020603050405020304" pitchFamily="18" charset="0"/>
              </a:rPr>
              <a:t>This course is intended to provide the students with a comprehensive all essential quality control techniques needed for designers, engineers, manufacturing plants and service sectors. It gives details of quality concepts, control on purchased product, manufacturing quality, Total Quality Management, human factor in quality, control charts, defects diagnosis and prevention, quality standards</a:t>
            </a:r>
            <a:endParaRPr lang="en-GB" sz="2200" dirty="0">
              <a:latin typeface="Times New Roman" panose="02020603050405020304" pitchFamily="18" charset="0"/>
              <a:cs typeface="Times New Roman" panose="02020603050405020304" pitchFamily="18" charset="0"/>
            </a:endParaRPr>
          </a:p>
          <a:p>
            <a:pPr marL="0" indent="0" algn="justLow">
              <a:buNone/>
            </a:pPr>
            <a:r>
              <a:rPr lang="en-GB" sz="2200" b="1" dirty="0">
                <a:latin typeface="Times New Roman" panose="02020603050405020304" pitchFamily="18" charset="0"/>
                <a:cs typeface="Times New Roman" panose="02020603050405020304" pitchFamily="18" charset="0"/>
              </a:rPr>
              <a:t>Video Link</a:t>
            </a:r>
          </a:p>
          <a:p>
            <a:pPr algn="justLow"/>
            <a:r>
              <a:rPr lang="en-US" sz="2000" dirty="0">
                <a:hlinkClick r:id="rId2"/>
              </a:rPr>
              <a:t>https://www.youtube.com/watch?v=Iecj9xmIfXM&amp;ab/channel=nptelhrd</a:t>
            </a:r>
            <a:endParaRPr lang="en-US" sz="2000" dirty="0"/>
          </a:p>
          <a:p>
            <a:pPr algn="justLow"/>
            <a:r>
              <a:rPr lang="en-US" sz="2000" dirty="0">
                <a:hlinkClick r:id="rId3"/>
              </a:rPr>
              <a:t>https://nptel.ac.in/courses/117/106/11710686</a:t>
            </a:r>
            <a:r>
              <a:rPr lang="en-US" sz="2000" dirty="0"/>
              <a:t> </a:t>
            </a:r>
          </a:p>
          <a:p>
            <a:pPr lvl="0">
              <a:defRPr/>
            </a:pPr>
            <a:r>
              <a:rPr lang="en-US" sz="2000" dirty="0">
                <a:hlinkClick r:id="rId4"/>
              </a:rPr>
              <a:t>https://www.youtube.com/watch?v=yWlAOFs04gk</a:t>
            </a:r>
            <a:r>
              <a:rPr lang="en-US" sz="2000" dirty="0"/>
              <a:t> </a:t>
            </a:r>
          </a:p>
          <a:p>
            <a:pPr lvl="0">
              <a:defRPr/>
            </a:pPr>
            <a:r>
              <a:rPr lang="en-US" sz="2000" dirty="0">
                <a:hlinkClick r:id="rId5"/>
              </a:rPr>
              <a:t>https://www.youtube.com/watch?v=QifqIoUNTJl</a:t>
            </a:r>
            <a:r>
              <a:rPr lang="en-US" sz="2000" dirty="0"/>
              <a:t> </a:t>
            </a:r>
          </a:p>
          <a:p>
            <a:pPr lvl="0">
              <a:defRPr/>
            </a:pPr>
            <a:r>
              <a:rPr lang="en-US" sz="2000" dirty="0">
                <a:hlinkClick r:id="rId6"/>
              </a:rPr>
              <a:t>https://www.youtube.com/watch?v=qb3mvJ1gb9g</a:t>
            </a:r>
            <a:endParaRPr lang="en-US" sz="2000" dirty="0"/>
          </a:p>
          <a:p>
            <a:pPr lvl="0">
              <a:defRPr/>
            </a:pPr>
            <a:r>
              <a:rPr lang="en-US" sz="2000" dirty="0">
                <a:hlinkClick r:id="rId7"/>
              </a:rPr>
              <a:t>https://www.youtube.com/watch?v=2ePeXePNLr</a:t>
            </a:r>
            <a:r>
              <a:rPr lang="en-US" sz="2000" dirty="0"/>
              <a:t> </a:t>
            </a:r>
          </a:p>
          <a:p>
            <a:pPr algn="justLow"/>
            <a:endParaRPr lang="en-US" sz="2000" dirty="0"/>
          </a:p>
          <a:p>
            <a:pPr algn="justLow"/>
            <a:endParaRPr lang="en-US" sz="2200" dirty="0">
              <a:latin typeface="Times New Roman" panose="02020603050405020304" pitchFamily="18" charset="0"/>
              <a:cs typeface="Times New Roman" panose="02020603050405020304" pitchFamily="18" charset="0"/>
            </a:endParaRPr>
          </a:p>
          <a:p>
            <a:pPr>
              <a:buNone/>
            </a:pPr>
            <a:endParaRPr lang="en-US" sz="2400" dirty="0">
              <a:cs typeface="Times New Roman" pitchFamily="18" charset="0"/>
            </a:endParaRPr>
          </a:p>
        </p:txBody>
      </p:sp>
      <p:sp>
        <p:nvSpPr>
          <p:cNvPr id="4" name="Date Placeholder 3"/>
          <p:cNvSpPr>
            <a:spLocks noGrp="1"/>
          </p:cNvSpPr>
          <p:nvPr>
            <p:ph type="dt" sz="half" idx="10"/>
          </p:nvPr>
        </p:nvSpPr>
        <p:spPr/>
        <p:txBody>
          <a:bodyPr/>
          <a:lstStyle/>
          <a:p>
            <a:fld id="{43AA62BD-8689-4538-AA8B-4E62C3C97599}" type="datetime1">
              <a:rPr lang="en-US" smtClean="0"/>
              <a:t>3/11/2024</a:t>
            </a:fld>
            <a:endParaRPr lang="en-US"/>
          </a:p>
        </p:txBody>
      </p:sp>
      <p:sp>
        <p:nvSpPr>
          <p:cNvPr id="2" name="Footer Placeholder 1"/>
          <p:cNvSpPr>
            <a:spLocks noGrp="1"/>
          </p:cNvSpPr>
          <p:nvPr>
            <p:ph type="ftr" sz="quarter" idx="11"/>
          </p:nvPr>
        </p:nvSpPr>
        <p:spPr/>
        <p:txBody>
          <a:bodyPr/>
          <a:lstStyle/>
          <a:p>
            <a:r>
              <a:rPr lang="en-US"/>
              <a:t>Dheeraj     TQM           Unit4</a:t>
            </a:r>
            <a:endParaRPr lang="en-US" dirty="0"/>
          </a:p>
        </p:txBody>
      </p:sp>
      <p:sp>
        <p:nvSpPr>
          <p:cNvPr id="7" name="Title 1"/>
          <p:cNvSpPr txBox="1">
            <a:spLocks/>
          </p:cNvSpPr>
          <p:nvPr/>
        </p:nvSpPr>
        <p:spPr>
          <a:xfrm>
            <a:off x="1371600" y="0"/>
            <a:ext cx="7772400" cy="92692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3200" b="1" dirty="0">
                <a:latin typeface="Times New Roman" panose="02020603050405020304" pitchFamily="18" charset="0"/>
                <a:cs typeface="Times New Roman" panose="02020603050405020304" pitchFamily="18" charset="0"/>
              </a:rPr>
              <a:t>Brief Introduction about the Subject with videos</a:t>
            </a:r>
            <a:endParaRPr lang="en-US" sz="32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a:p>
        </p:txBody>
      </p:sp>
      <p:pic>
        <p:nvPicPr>
          <p:cNvPr id="8" name="Picture 7"/>
          <p:cNvPicPr>
            <a:picLocks noChangeAspect="1"/>
          </p:cNvPicPr>
          <p:nvPr/>
        </p:nvPicPr>
        <p:blipFill>
          <a:blip r:embed="rId8"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1543551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441DC7D-2A6A-455E-A264-13C0FE61F83C}" type="datetime1">
              <a:rPr lang="en-US" smtClean="0">
                <a:solidFill>
                  <a:prstClr val="black">
                    <a:tint val="75000"/>
                  </a:prstClr>
                </a:solidFill>
              </a:rPr>
              <a:t>3/11/2024</a:t>
            </a:fld>
            <a:endParaRPr lang="en-IN"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11E78629-91D8-4F17-847F-C1968CDE2EFD}" type="slidenum">
              <a:rPr lang="en-IN" smtClean="0">
                <a:solidFill>
                  <a:prstClr val="black">
                    <a:tint val="75000"/>
                  </a:prstClr>
                </a:solidFill>
              </a:rPr>
              <a:pPr/>
              <a:t>15</a:t>
            </a:fld>
            <a:endParaRPr lang="en-IN" dirty="0">
              <a:solidFill>
                <a:prstClr val="black">
                  <a:tint val="75000"/>
                </a:prstClr>
              </a:solidFill>
            </a:endParaRPr>
          </a:p>
        </p:txBody>
      </p:sp>
      <p:pic>
        <p:nvPicPr>
          <p:cNvPr id="8" name="Picture 2" descr="C:\Users\Vishal chutia\Downloads\Logo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1371601" cy="838200"/>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txBox="1">
            <a:spLocks/>
          </p:cNvSpPr>
          <p:nvPr/>
        </p:nvSpPr>
        <p:spPr>
          <a:xfrm>
            <a:off x="1623120" y="0"/>
            <a:ext cx="7552629" cy="908049"/>
          </a:xfrm>
          <a:prstGeom prst="rect">
            <a:avLst/>
          </a:prstGeom>
          <a:solidFill>
            <a:schemeClr val="accent5">
              <a:lumMod val="40000"/>
              <a:lumOff val="60000"/>
            </a:schemeClr>
          </a:solidFill>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itchFamily="18" charset="0"/>
                <a:cs typeface="Times New Roman" pitchFamily="18" charset="0"/>
              </a:rPr>
              <a:t>Unit Content</a:t>
            </a:r>
            <a:endParaRPr lang="en-IN" sz="2800" dirty="0"/>
          </a:p>
        </p:txBody>
      </p:sp>
      <p:sp>
        <p:nvSpPr>
          <p:cNvPr id="12" name="Footer Placeholder 4"/>
          <p:cNvSpPr>
            <a:spLocks noGrp="1"/>
          </p:cNvSpPr>
          <p:nvPr>
            <p:ph type="ftr" sz="quarter" idx="11"/>
          </p:nvPr>
        </p:nvSpPr>
        <p:spPr>
          <a:xfrm>
            <a:off x="2514600" y="6356350"/>
            <a:ext cx="5029200" cy="365125"/>
          </a:xfrm>
        </p:spPr>
        <p:txBody>
          <a:bodyPr/>
          <a:lstStyle/>
          <a:p>
            <a:r>
              <a:rPr lang="en-US"/>
              <a:t>Dheeraj     TQM           Unit4</a:t>
            </a:r>
            <a:endParaRPr lang="en-US" dirty="0"/>
          </a:p>
        </p:txBody>
      </p:sp>
      <p:sp>
        <p:nvSpPr>
          <p:cNvPr id="2" name="Content Placeholder 1"/>
          <p:cNvSpPr>
            <a:spLocks noGrp="1"/>
          </p:cNvSpPr>
          <p:nvPr>
            <p:ph idx="1"/>
          </p:nvPr>
        </p:nvSpPr>
        <p:spPr>
          <a:xfrm>
            <a:off x="381000" y="1136692"/>
            <a:ext cx="8610599" cy="5111707"/>
          </a:xfrm>
          <a:noFill/>
          <a:ln>
            <a:noFill/>
          </a:ln>
        </p:spPr>
        <p:txBody>
          <a:bodyPr>
            <a:normAutofit/>
          </a:bodyPr>
          <a:lstStyle/>
          <a:p>
            <a:pPr marL="0" indent="0" algn="just">
              <a:lnSpc>
                <a:spcPct val="200000"/>
              </a:lnSpc>
              <a:buNone/>
            </a:pPr>
            <a:r>
              <a:rPr lang="en-US" sz="2000" b="1" i="0" dirty="0">
                <a:effectLst/>
                <a:latin typeface="Roboto" panose="02000000000000000000" pitchFamily="2" charset="0"/>
              </a:rPr>
              <a:t>Statistical process and Quality control </a:t>
            </a:r>
          </a:p>
          <a:p>
            <a:pPr algn="just">
              <a:lnSpc>
                <a:spcPct val="200000"/>
              </a:lnSpc>
              <a:buFont typeface="Wingdings" panose="05000000000000000000" pitchFamily="2" charset="2"/>
              <a:buChar char="Ø"/>
            </a:pPr>
            <a:r>
              <a:rPr lang="en-US" sz="2000" b="0" i="0" dirty="0">
                <a:effectLst/>
                <a:latin typeface="Roboto" panose="02000000000000000000" pitchFamily="2" charset="0"/>
              </a:rPr>
              <a:t>Introduction to Statistical process control </a:t>
            </a:r>
          </a:p>
          <a:p>
            <a:pPr algn="just">
              <a:lnSpc>
                <a:spcPct val="200000"/>
              </a:lnSpc>
              <a:buFont typeface="Wingdings" panose="05000000000000000000" pitchFamily="2" charset="2"/>
              <a:buChar char="Ø"/>
            </a:pPr>
            <a:r>
              <a:rPr lang="en-US" sz="2000" b="0" i="0" dirty="0">
                <a:effectLst/>
                <a:latin typeface="Roboto" panose="02000000000000000000" pitchFamily="2" charset="0"/>
              </a:rPr>
              <a:t>Quality function deployment (QFD) </a:t>
            </a:r>
          </a:p>
          <a:p>
            <a:pPr algn="just">
              <a:lnSpc>
                <a:spcPct val="200000"/>
              </a:lnSpc>
              <a:buFont typeface="Wingdings" panose="05000000000000000000" pitchFamily="2" charset="2"/>
              <a:buChar char="Ø"/>
            </a:pPr>
            <a:r>
              <a:rPr lang="en-US" sz="2000" b="0" i="0" dirty="0">
                <a:effectLst/>
                <a:latin typeface="Roboto" panose="02000000000000000000" pitchFamily="2" charset="0"/>
              </a:rPr>
              <a:t>Taguchi quality loss function</a:t>
            </a:r>
          </a:p>
          <a:p>
            <a:pPr algn="just">
              <a:lnSpc>
                <a:spcPct val="200000"/>
              </a:lnSpc>
              <a:buFont typeface="Wingdings" panose="05000000000000000000" pitchFamily="2" charset="2"/>
              <a:buChar char="Ø"/>
            </a:pPr>
            <a:r>
              <a:rPr lang="en-US" sz="2000" b="0" i="0" dirty="0">
                <a:effectLst/>
                <a:latin typeface="Roboto" panose="02000000000000000000" pitchFamily="2" charset="0"/>
              </a:rPr>
              <a:t>Total Productive Maintenance (TPM)</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134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r>
              <a:rPr lang="en-IN" sz="2200" dirty="0">
                <a:latin typeface="Times New Roman" panose="02020603050405020304" pitchFamily="18" charset="0"/>
                <a:cs typeface="Times New Roman" panose="02020603050405020304" pitchFamily="18" charset="0"/>
              </a:rPr>
              <a:t>The intended objectives of this unit are the Study of </a:t>
            </a:r>
            <a:r>
              <a:rPr lang="en-US" sz="2200" i="0" dirty="0">
                <a:effectLst/>
                <a:latin typeface="Times New Roman" panose="02020603050405020304" pitchFamily="18" charset="0"/>
                <a:cs typeface="Times New Roman" panose="02020603050405020304" pitchFamily="18" charset="0"/>
              </a:rPr>
              <a:t>Statistical process and Quality control </a:t>
            </a:r>
          </a:p>
          <a:p>
            <a:pPr algn="just">
              <a:lnSpc>
                <a:spcPct val="100000"/>
              </a:lnSpc>
            </a:pPr>
            <a:endParaRPr lang="en-US" sz="2200" dirty="0">
              <a:latin typeface="Times New Roman" panose="02020603050405020304" pitchFamily="18" charset="0"/>
              <a:cs typeface="Times New Roman" panose="02020603050405020304" pitchFamily="18" charset="0"/>
            </a:endParaRPr>
          </a:p>
          <a:p>
            <a:pPr marL="0" indent="0" algn="justLow">
              <a:lnSpc>
                <a:spcPct val="150000"/>
              </a:lnSpc>
              <a:buNone/>
            </a:pP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D6968805-D92F-45FF-8E9C-F99F2255253C}"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Unit</a:t>
            </a:r>
            <a:r>
              <a:rPr kumimoji="0" lang="en-US" sz="30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30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1" name="Footer Placeholder 9">
            <a:extLst>
              <a:ext uri="{FF2B5EF4-FFF2-40B4-BE49-F238E27FC236}">
                <a16:creationId xmlns:a16="http://schemas.microsoft.com/office/drawing/2014/main" id="{7913D736-CA4F-F144-9E81-FEAD8F55B451}"/>
              </a:ext>
            </a:extLst>
          </p:cNvPr>
          <p:cNvSpPr>
            <a:spLocks noGrp="1"/>
          </p:cNvSpPr>
          <p:nvPr>
            <p:ph type="ftr" sz="quarter" idx="11"/>
          </p:nvPr>
        </p:nvSpPr>
        <p:spPr>
          <a:xfrm>
            <a:off x="2514600" y="6356350"/>
            <a:ext cx="5029200" cy="365125"/>
          </a:xfrm>
        </p:spPr>
        <p:txBody>
          <a:bodyPr/>
          <a:lstStyle/>
          <a:p>
            <a:r>
              <a:rPr lang="en-US"/>
              <a:t>Dheeraj     TQM           Unit4</a:t>
            </a:r>
            <a:endParaRPr lang="en-US" dirty="0"/>
          </a:p>
        </p:txBody>
      </p:sp>
      <p:pic>
        <p:nvPicPr>
          <p:cNvPr id="8" name="Picture 7"/>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2985375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a:prstGeom prst="rect">
            <a:avLst/>
          </a:prstGeom>
        </p:spPr>
        <p:txBody>
          <a:bodyPr>
            <a:normAutofit/>
          </a:bodyPr>
          <a:lstStyle/>
          <a:p>
            <a:pPr marL="0" indent="0" algn="justLow">
              <a:buNone/>
            </a:pPr>
            <a:r>
              <a:rPr lang="en-GB" sz="2400" b="1" i="0" dirty="0">
                <a:solidFill>
                  <a:srgbClr val="404041"/>
                </a:solidFill>
                <a:effectLst/>
              </a:rPr>
              <a:t> </a:t>
            </a:r>
            <a:endParaRPr lang="en-US" dirty="0"/>
          </a:p>
        </p:txBody>
      </p:sp>
      <p:sp>
        <p:nvSpPr>
          <p:cNvPr id="4" name="Date Placeholder 3"/>
          <p:cNvSpPr>
            <a:spLocks noGrp="1"/>
          </p:cNvSpPr>
          <p:nvPr>
            <p:ph type="dt" sz="half" idx="10"/>
          </p:nvPr>
        </p:nvSpPr>
        <p:spPr/>
        <p:txBody>
          <a:bodyPr/>
          <a:lstStyle/>
          <a:p>
            <a:fld id="{D62523DC-E12C-4189-AAE1-50B4ECEA9FF9}" type="datetime1">
              <a:rPr lang="en-US" smtClean="0"/>
              <a:t>3/11/2024</a:t>
            </a:fld>
            <a:endParaRPr lang="en-US"/>
          </a:p>
        </p:txBody>
      </p:sp>
      <p:sp>
        <p:nvSpPr>
          <p:cNvPr id="2" name="Footer Placeholder 1"/>
          <p:cNvSpPr>
            <a:spLocks noGrp="1"/>
          </p:cNvSpPr>
          <p:nvPr>
            <p:ph type="ftr" sz="quarter" idx="11"/>
          </p:nvPr>
        </p:nvSpPr>
        <p:spPr/>
        <p:txBody>
          <a:bodyPr/>
          <a:lstStyle/>
          <a:p>
            <a:r>
              <a:rPr lang="en-US"/>
              <a:t>Dheeraj     TQM           Unit4</a:t>
            </a:r>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GB" sz="3000" b="1" dirty="0">
                <a:latin typeface="Times New Roman" panose="02020603050405020304" pitchFamily="18" charset="0"/>
                <a:cs typeface="Times New Roman" panose="02020603050405020304" pitchFamily="18" charset="0"/>
              </a:rPr>
              <a:t>Topic Objective/Topic Outcome</a:t>
            </a:r>
            <a:endParaRPr lang="en-US" sz="3000" b="1"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249166676"/>
              </p:ext>
            </p:extLst>
          </p:nvPr>
        </p:nvGraphicFramePr>
        <p:xfrm>
          <a:off x="723900" y="1414477"/>
          <a:ext cx="7746332" cy="3081020"/>
        </p:xfrm>
        <a:graphic>
          <a:graphicData uri="http://schemas.openxmlformats.org/drawingml/2006/table">
            <a:tbl>
              <a:tblPr firstRow="1" bandRow="1">
                <a:tableStyleId>{5C22544A-7EE6-4342-B048-85BDC9FD1C3A}</a:tableStyleId>
              </a:tblPr>
              <a:tblGrid>
                <a:gridCol w="3376322">
                  <a:extLst>
                    <a:ext uri="{9D8B030D-6E8A-4147-A177-3AD203B41FA5}">
                      <a16:colId xmlns:a16="http://schemas.microsoft.com/office/drawing/2014/main" val="20000"/>
                    </a:ext>
                  </a:extLst>
                </a:gridCol>
                <a:gridCol w="3376322">
                  <a:extLst>
                    <a:ext uri="{9D8B030D-6E8A-4147-A177-3AD203B41FA5}">
                      <a16:colId xmlns:a16="http://schemas.microsoft.com/office/drawing/2014/main" val="20002"/>
                    </a:ext>
                  </a:extLst>
                </a:gridCol>
                <a:gridCol w="993688">
                  <a:extLst>
                    <a:ext uri="{9D8B030D-6E8A-4147-A177-3AD203B41FA5}">
                      <a16:colId xmlns:a16="http://schemas.microsoft.com/office/drawing/2014/main" val="20001"/>
                    </a:ext>
                  </a:extLst>
                </a:gridCol>
              </a:tblGrid>
              <a:tr h="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latin typeface="Times New Roman" panose="02020603050405020304" pitchFamily="18" charset="0"/>
                          <a:cs typeface="Times New Roman" panose="02020603050405020304" pitchFamily="18" charset="0"/>
                        </a:rPr>
                        <a:t>Topic  Objective</a:t>
                      </a:r>
                    </a:p>
                    <a:p>
                      <a:endParaRPr lang="en-US" sz="2200" dirty="0">
                        <a:latin typeface="Times New Roman" panose="02020603050405020304" pitchFamily="18" charset="0"/>
                        <a:cs typeface="Times New Roman" panose="02020603050405020304" pitchFamily="18" charset="0"/>
                      </a:endParaRPr>
                    </a:p>
                  </a:txBody>
                  <a:tcPr/>
                </a:tc>
                <a:tc>
                  <a:txBody>
                    <a:bodyPr/>
                    <a:lstStyle/>
                    <a:p>
                      <a:r>
                        <a:rPr lang="en-US" sz="2200" dirty="0">
                          <a:latin typeface="Times New Roman" panose="02020603050405020304" pitchFamily="18" charset="0"/>
                          <a:cs typeface="Times New Roman" panose="02020603050405020304" pitchFamily="18" charset="0"/>
                        </a:rPr>
                        <a:t>Topic outcome</a:t>
                      </a:r>
                    </a:p>
                  </a:txBody>
                  <a:tcPr/>
                </a:tc>
                <a:tc>
                  <a:txBody>
                    <a:bodyPr/>
                    <a:lstStyle/>
                    <a:p>
                      <a:r>
                        <a:rPr lang="en-US" sz="2200" dirty="0">
                          <a:latin typeface="Times New Roman" panose="02020603050405020304" pitchFamily="18" charset="0"/>
                          <a:cs typeface="Times New Roman" panose="02020603050405020304" pitchFamily="18" charset="0"/>
                        </a:rPr>
                        <a:t>Mapping</a:t>
                      </a:r>
                      <a:r>
                        <a:rPr lang="en-US" sz="2200" baseline="0" dirty="0">
                          <a:latin typeface="Times New Roman" panose="02020603050405020304" pitchFamily="18" charset="0"/>
                          <a:cs typeface="Times New Roman" panose="02020603050405020304" pitchFamily="18" charset="0"/>
                        </a:rPr>
                        <a:t> with CO</a:t>
                      </a:r>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pPr algn="just">
                        <a:lnSpc>
                          <a:spcPct val="200000"/>
                        </a:lnSpc>
                        <a:buFont typeface="Wingdings" panose="05000000000000000000" pitchFamily="2" charset="2"/>
                        <a:buNone/>
                      </a:pPr>
                      <a:r>
                        <a:rPr lang="en-US" sz="2000" b="0" i="0" dirty="0">
                          <a:effectLst/>
                          <a:latin typeface="Roboto" panose="02000000000000000000" pitchFamily="2" charset="0"/>
                        </a:rPr>
                        <a:t>Introduction to Statistical process control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anose="02020603050405020304" pitchFamily="18" charset="0"/>
                          <a:cs typeface="Times New Roman" panose="02020603050405020304" pitchFamily="18" charset="0"/>
                        </a:rPr>
                        <a:t>Student are</a:t>
                      </a:r>
                      <a:r>
                        <a:rPr lang="en-US" sz="2200" baseline="0" dirty="0">
                          <a:latin typeface="Times New Roman" panose="02020603050405020304" pitchFamily="18" charset="0"/>
                          <a:cs typeface="Times New Roman" panose="02020603050405020304" pitchFamily="18" charset="0"/>
                        </a:rPr>
                        <a:t> able to</a:t>
                      </a:r>
                      <a:r>
                        <a:rPr lang="en-US" sz="2200" dirty="0">
                          <a:latin typeface="Times New Roman" panose="02020603050405020304" pitchFamily="18" charset="0"/>
                          <a:cs typeface="Times New Roman" panose="02020603050405020304" pitchFamily="18" charset="0"/>
                        </a:rPr>
                        <a:t> understand basic</a:t>
                      </a:r>
                      <a:r>
                        <a:rPr lang="en-US" sz="2200" baseline="0" dirty="0">
                          <a:latin typeface="Times New Roman" panose="02020603050405020304" pitchFamily="18" charset="0"/>
                          <a:cs typeface="Times New Roman" panose="02020603050405020304" pitchFamily="18" charset="0"/>
                        </a:rPr>
                        <a:t> of </a:t>
                      </a:r>
                      <a:r>
                        <a:rPr lang="en-US" sz="2200" dirty="0">
                          <a:latin typeface="Times New Roman" pitchFamily="18" charset="0"/>
                          <a:cs typeface="Times New Roman" pitchFamily="18" charset="0"/>
                        </a:rPr>
                        <a:t>statistical process control</a:t>
                      </a:r>
                    </a:p>
                  </a:txBody>
                  <a:tcPr/>
                </a:tc>
                <a:tc>
                  <a:txBody>
                    <a:bodyPr/>
                    <a:lstStyle/>
                    <a:p>
                      <a:r>
                        <a:rPr lang="en-US" sz="2200" dirty="0">
                          <a:latin typeface="Times New Roman" panose="02020603050405020304" pitchFamily="18" charset="0"/>
                          <a:cs typeface="Times New Roman" panose="02020603050405020304" pitchFamily="18" charset="0"/>
                        </a:rPr>
                        <a:t>CO4</a:t>
                      </a:r>
                    </a:p>
                  </a:txBody>
                  <a:tcPr/>
                </a:tc>
                <a:extLst>
                  <a:ext uri="{0D108BD9-81ED-4DB2-BD59-A6C34878D82A}">
                    <a16:rowId xmlns:a16="http://schemas.microsoft.com/office/drawing/2014/main" val="10001"/>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2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2200" dirty="0">
                        <a:latin typeface="Times New Roman" panose="02020603050405020304" pitchFamily="18" charset="0"/>
                        <a:cs typeface="Times New Roman" panose="02020603050405020304" pitchFamily="18" charset="0"/>
                      </a:endParaRPr>
                    </a:p>
                  </a:txBody>
                  <a:tcPr/>
                </a:tc>
                <a:tc>
                  <a:txBody>
                    <a:bodyPr/>
                    <a:lstStyle/>
                    <a:p>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pic>
        <p:nvPicPr>
          <p:cNvPr id="8" name="Picture 7"/>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3169822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5FF6E-0CF7-1498-EEB0-64F06F08F70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42BC8CF-C320-72DB-5FB0-143BC968F475}"/>
              </a:ext>
            </a:extLst>
          </p:cNvPr>
          <p:cNvSpPr>
            <a:spLocks noGrp="1"/>
          </p:cNvSpPr>
          <p:nvPr>
            <p:ph type="dt" sz="half" idx="10"/>
          </p:nvPr>
        </p:nvSpPr>
        <p:spPr/>
        <p:txBody>
          <a:bodyPr/>
          <a:lstStyle/>
          <a:p>
            <a:fld id="{DCBF195F-8351-43F2-A2E1-9A2EF713D33E}" type="datetime1">
              <a:rPr lang="en-US" smtClean="0"/>
              <a:t>3/11/2024</a:t>
            </a:fld>
            <a:endParaRPr lang="en-US"/>
          </a:p>
        </p:txBody>
      </p:sp>
      <p:sp>
        <p:nvSpPr>
          <p:cNvPr id="6" name="Slide Number Placeholder 5">
            <a:extLst>
              <a:ext uri="{FF2B5EF4-FFF2-40B4-BE49-F238E27FC236}">
                <a16:creationId xmlns:a16="http://schemas.microsoft.com/office/drawing/2014/main" id="{F817C636-67A7-1BC3-C501-892108D16E0A}"/>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7" name="Title 1">
            <a:extLst>
              <a:ext uri="{FF2B5EF4-FFF2-40B4-BE49-F238E27FC236}">
                <a16:creationId xmlns:a16="http://schemas.microsoft.com/office/drawing/2014/main" id="{D12D5D60-D202-F9E1-D2CD-4466AB5B1213}"/>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INTRODUCTION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9AA9B2C1-20B2-849D-55C6-3772752AD068}"/>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963CEB38-0F58-0A41-E884-D9C5AE2E38EE}"/>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8" name="Title 1">
            <a:extLst>
              <a:ext uri="{FF2B5EF4-FFF2-40B4-BE49-F238E27FC236}">
                <a16:creationId xmlns:a16="http://schemas.microsoft.com/office/drawing/2014/main" id="{7A7B1188-E551-2071-A6CD-893A01FAD48E}"/>
              </a:ext>
            </a:extLst>
          </p:cNvPr>
          <p:cNvSpPr>
            <a:spLocks noGrp="1"/>
          </p:cNvSpPr>
          <p:nvPr>
            <p:ph type="title"/>
          </p:nvPr>
        </p:nvSpPr>
        <p:spPr>
          <a:xfrm>
            <a:off x="304800" y="646112"/>
            <a:ext cx="8839200" cy="1981200"/>
          </a:xfrm>
        </p:spPr>
        <p:txBody>
          <a:bodyPr rtlCol="0">
            <a:noAutofit/>
          </a:bodyPr>
          <a:lstStyle/>
          <a:p>
            <a:pPr eaLnBrk="1" fontAlgn="auto" hangingPunct="1">
              <a:spcAft>
                <a:spcPts val="0"/>
              </a:spcAft>
              <a:defRPr/>
            </a:pPr>
            <a:r>
              <a:rPr lang="en-US" sz="2800" b="1" dirty="0">
                <a:solidFill>
                  <a:schemeClr val="tx2">
                    <a:lumMod val="60000"/>
                    <a:lumOff val="40000"/>
                  </a:schemeClr>
                </a:solidFill>
              </a:rPr>
              <a:t>The most important word in </a:t>
            </a:r>
            <a:br>
              <a:rPr lang="en-US" sz="2800" b="1" dirty="0">
                <a:solidFill>
                  <a:schemeClr val="tx2">
                    <a:lumMod val="60000"/>
                    <a:lumOff val="40000"/>
                  </a:schemeClr>
                </a:solidFill>
              </a:rPr>
            </a:br>
            <a:r>
              <a:rPr lang="en-US" sz="2800" b="1" dirty="0">
                <a:solidFill>
                  <a:schemeClr val="tx2">
                    <a:lumMod val="60000"/>
                    <a:lumOff val="40000"/>
                  </a:schemeClr>
                </a:solidFill>
              </a:rPr>
              <a:t>Statistical Quality control is </a:t>
            </a:r>
            <a:r>
              <a:rPr lang="en-US" sz="2800" b="1" i="1" dirty="0">
                <a:solidFill>
                  <a:srgbClr val="FFC000"/>
                </a:solidFill>
              </a:rPr>
              <a:t>Quality</a:t>
            </a:r>
            <a:br>
              <a:rPr lang="en-US" sz="2800" b="1" i="1" dirty="0">
                <a:solidFill>
                  <a:srgbClr val="FFC000"/>
                </a:solidFill>
              </a:rPr>
            </a:br>
            <a:r>
              <a:rPr lang="en-US" sz="2400" b="1" dirty="0">
                <a:solidFill>
                  <a:srgbClr val="7030A0"/>
                </a:solidFill>
              </a:rPr>
              <a:t>The quality of a product is satisfactory when it is able to satisfy the stated and implied needs of the customer.</a:t>
            </a:r>
          </a:p>
        </p:txBody>
      </p:sp>
      <p:sp>
        <p:nvSpPr>
          <p:cNvPr id="11" name="Content Placeholder 2">
            <a:extLst>
              <a:ext uri="{FF2B5EF4-FFF2-40B4-BE49-F238E27FC236}">
                <a16:creationId xmlns:a16="http://schemas.microsoft.com/office/drawing/2014/main" id="{ADDFDEDE-E448-DFA6-B120-47AD81F48C92}"/>
              </a:ext>
            </a:extLst>
          </p:cNvPr>
          <p:cNvSpPr>
            <a:spLocks noGrp="1"/>
          </p:cNvSpPr>
          <p:nvPr>
            <p:ph idx="1"/>
          </p:nvPr>
        </p:nvSpPr>
        <p:spPr>
          <a:xfrm>
            <a:off x="266700" y="2438400"/>
            <a:ext cx="8610600" cy="4572000"/>
          </a:xfrm>
        </p:spPr>
        <p:txBody>
          <a:bodyPr rtlCol="0">
            <a:normAutofit/>
          </a:bodyPr>
          <a:lstStyle/>
          <a:p>
            <a:pPr algn="just" eaLnBrk="1" fontAlgn="auto" hangingPunct="1">
              <a:spcAft>
                <a:spcPts val="0"/>
              </a:spcAft>
              <a:defRPr/>
            </a:pPr>
            <a:r>
              <a:rPr lang="en-US" sz="2400" b="1" dirty="0">
                <a:solidFill>
                  <a:srgbClr val="00B050"/>
                </a:solidFill>
              </a:rPr>
              <a:t>Customer or consumer is a person or organization that use the product.</a:t>
            </a:r>
          </a:p>
          <a:p>
            <a:pPr algn="just" eaLnBrk="1" fontAlgn="auto" hangingPunct="1">
              <a:spcAft>
                <a:spcPts val="0"/>
              </a:spcAft>
              <a:defRPr/>
            </a:pPr>
            <a:r>
              <a:rPr lang="en-US" sz="2400" b="1" dirty="0">
                <a:solidFill>
                  <a:srgbClr val="0070C0"/>
                </a:solidFill>
              </a:rPr>
              <a:t>Quality doesn’t mean merely the goodness or fitness of a finished product. It is a relative term and is used generally with reference to the end use of the product.</a:t>
            </a:r>
          </a:p>
          <a:p>
            <a:pPr algn="just" eaLnBrk="1" fontAlgn="auto" hangingPunct="1">
              <a:spcAft>
                <a:spcPts val="0"/>
              </a:spcAft>
              <a:defRPr/>
            </a:pPr>
            <a:r>
              <a:rPr lang="en-US" sz="2400" b="1" dirty="0">
                <a:solidFill>
                  <a:schemeClr val="accent6"/>
                </a:solidFill>
              </a:rPr>
              <a:t>Since a product is manufactured for the use of a customer, the requirements of the customer dictates the quality of the product.</a:t>
            </a:r>
          </a:p>
        </p:txBody>
      </p:sp>
      <p:sp>
        <p:nvSpPr>
          <p:cNvPr id="12" name="Rectangle 3">
            <a:extLst>
              <a:ext uri="{FF2B5EF4-FFF2-40B4-BE49-F238E27FC236}">
                <a16:creationId xmlns:a16="http://schemas.microsoft.com/office/drawing/2014/main" id="{9D9259AE-A7F4-5F08-FF8A-C0918CF4ED38}"/>
              </a:ext>
            </a:extLst>
          </p:cNvPr>
          <p:cNvSpPr>
            <a:spLocks noChangeArrowheads="1"/>
          </p:cNvSpPr>
          <p:nvPr/>
        </p:nvSpPr>
        <p:spPr bwMode="auto">
          <a:xfrm>
            <a:off x="228600" y="5486400"/>
            <a:ext cx="8686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dirty="0">
                <a:solidFill>
                  <a:srgbClr val="FF0000"/>
                </a:solidFill>
                <a:latin typeface="Times New Roman" panose="02020603050405020304" pitchFamily="18" charset="0"/>
                <a:cs typeface="Times New Roman" panose="02020603050405020304" pitchFamily="18" charset="0"/>
              </a:rPr>
              <a:t>Quality is to be planned, achieved, controlled  and improved continuously.</a:t>
            </a:r>
          </a:p>
        </p:txBody>
      </p:sp>
    </p:spTree>
    <p:extLst>
      <p:ext uri="{BB962C8B-B14F-4D97-AF65-F5344CB8AC3E}">
        <p14:creationId xmlns:p14="http://schemas.microsoft.com/office/powerpoint/2010/main" val="2060176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13AD-35D6-8467-BCB7-8F12C89A818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3449DA3-CB9E-324C-6793-CB48430D7FA3}"/>
              </a:ext>
            </a:extLst>
          </p:cNvPr>
          <p:cNvSpPr>
            <a:spLocks noGrp="1"/>
          </p:cNvSpPr>
          <p:nvPr>
            <p:ph type="dt" sz="half" idx="10"/>
          </p:nvPr>
        </p:nvSpPr>
        <p:spPr/>
        <p:txBody>
          <a:bodyPr/>
          <a:lstStyle/>
          <a:p>
            <a:fld id="{3E32EF8F-CD05-41C4-9D07-33EE616FFEDE}" type="datetime1">
              <a:rPr lang="en-US" smtClean="0"/>
              <a:t>3/11/2024</a:t>
            </a:fld>
            <a:endParaRPr lang="en-US"/>
          </a:p>
        </p:txBody>
      </p:sp>
      <p:sp>
        <p:nvSpPr>
          <p:cNvPr id="6" name="Slide Number Placeholder 5">
            <a:extLst>
              <a:ext uri="{FF2B5EF4-FFF2-40B4-BE49-F238E27FC236}">
                <a16:creationId xmlns:a16="http://schemas.microsoft.com/office/drawing/2014/main" id="{D6DD3E49-DB8A-CDFC-7926-BF51B0E61FA4}"/>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7" name="Title 1">
            <a:extLst>
              <a:ext uri="{FF2B5EF4-FFF2-40B4-BE49-F238E27FC236}">
                <a16:creationId xmlns:a16="http://schemas.microsoft.com/office/drawing/2014/main" id="{6D7C1A50-DE89-6022-60D3-966893043FCA}"/>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INTRODUCTION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726A2D2B-0688-523C-F274-5F5862DC9FD7}"/>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1F4DB72F-838D-F6EB-2E84-7AC92B0C8832}"/>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14" name="Content Placeholder 2">
            <a:extLst>
              <a:ext uri="{FF2B5EF4-FFF2-40B4-BE49-F238E27FC236}">
                <a16:creationId xmlns:a16="http://schemas.microsoft.com/office/drawing/2014/main" id="{8261D763-0507-7CF0-0731-50682E55C25F}"/>
              </a:ext>
            </a:extLst>
          </p:cNvPr>
          <p:cNvSpPr>
            <a:spLocks noGrp="1"/>
          </p:cNvSpPr>
          <p:nvPr>
            <p:ph idx="1"/>
          </p:nvPr>
        </p:nvSpPr>
        <p:spPr>
          <a:xfrm>
            <a:off x="381000" y="889634"/>
            <a:ext cx="8610600" cy="6324600"/>
          </a:xfrm>
        </p:spPr>
        <p:txBody>
          <a:bodyPr rtlCol="0">
            <a:normAutofit/>
          </a:bodyPr>
          <a:lstStyle/>
          <a:p>
            <a:pPr algn="just" eaLnBrk="1" fontAlgn="auto" hangingPunct="1">
              <a:lnSpc>
                <a:spcPct val="160000"/>
              </a:lnSpc>
              <a:spcAft>
                <a:spcPts val="0"/>
              </a:spcAft>
              <a:defRPr/>
            </a:pPr>
            <a:r>
              <a:rPr lang="en-US" sz="2200" b="1" dirty="0">
                <a:solidFill>
                  <a:schemeClr val="accent6"/>
                </a:solidFill>
              </a:rPr>
              <a:t>Distinct meanings of quality </a:t>
            </a:r>
          </a:p>
          <a:p>
            <a:pPr algn="just" eaLnBrk="1" fontAlgn="auto" hangingPunct="1">
              <a:lnSpc>
                <a:spcPct val="110000"/>
              </a:lnSpc>
              <a:spcAft>
                <a:spcPts val="0"/>
              </a:spcAft>
              <a:buFont typeface="Arial" panose="020B0604020202020204" pitchFamily="34" charset="0"/>
              <a:buNone/>
              <a:defRPr/>
            </a:pPr>
            <a:r>
              <a:rPr lang="en-US" sz="2200" b="1" dirty="0"/>
              <a:t>			- </a:t>
            </a:r>
            <a:r>
              <a:rPr lang="en-US" sz="2200" b="1" dirty="0">
                <a:solidFill>
                  <a:srgbClr val="00B050"/>
                </a:solidFill>
              </a:rPr>
              <a:t>Quality of Design </a:t>
            </a:r>
          </a:p>
          <a:p>
            <a:pPr algn="just" eaLnBrk="1" fontAlgn="auto" hangingPunct="1">
              <a:lnSpc>
                <a:spcPct val="160000"/>
              </a:lnSpc>
              <a:spcAft>
                <a:spcPts val="0"/>
              </a:spcAft>
              <a:buFont typeface="Arial" panose="020B0604020202020204" pitchFamily="34" charset="0"/>
              <a:buNone/>
              <a:defRPr/>
            </a:pPr>
            <a:r>
              <a:rPr lang="en-US" sz="2200" b="1" dirty="0">
                <a:solidFill>
                  <a:srgbClr val="00B050"/>
                </a:solidFill>
              </a:rPr>
              <a:t>			- Quality of Conformance</a:t>
            </a:r>
          </a:p>
          <a:p>
            <a:pPr algn="just" eaLnBrk="1" fontAlgn="auto" hangingPunct="1">
              <a:spcAft>
                <a:spcPts val="0"/>
              </a:spcAft>
              <a:buFont typeface="Arial" panose="020B0604020202020204" pitchFamily="34" charset="0"/>
              <a:buNone/>
              <a:defRPr/>
            </a:pPr>
            <a:r>
              <a:rPr lang="en-US" sz="2200" b="1" dirty="0">
                <a:solidFill>
                  <a:schemeClr val="accent4"/>
                </a:solidFill>
              </a:rPr>
              <a:t>Quality of design refers to the differences in the specifications for products which have the same use.</a:t>
            </a:r>
          </a:p>
          <a:p>
            <a:pPr algn="just" eaLnBrk="1" fontAlgn="auto" hangingPunct="1">
              <a:spcAft>
                <a:spcPts val="0"/>
              </a:spcAft>
              <a:buFont typeface="Arial" panose="020B0604020202020204" pitchFamily="34" charset="0"/>
              <a:buNone/>
              <a:defRPr/>
            </a:pPr>
            <a:r>
              <a:rPr lang="en-US" sz="2200" b="1" i="1" dirty="0" err="1">
                <a:solidFill>
                  <a:srgbClr val="FFC000"/>
                </a:solidFill>
              </a:rPr>
              <a:t>Eg.</a:t>
            </a:r>
            <a:r>
              <a:rPr lang="en-US" sz="2200" b="1" i="1" dirty="0">
                <a:solidFill>
                  <a:srgbClr val="FFC000"/>
                </a:solidFill>
              </a:rPr>
              <a:t>: Different brands of razor blades may differ in their specifications w.r.to the steel used, sharpness, corrosiveness, price etc., though they serve the same functional purpose.</a:t>
            </a:r>
          </a:p>
          <a:p>
            <a:pPr algn="just" eaLnBrk="1" fontAlgn="auto" hangingPunct="1">
              <a:spcAft>
                <a:spcPts val="0"/>
              </a:spcAft>
              <a:buFont typeface="Arial" panose="020B0604020202020204" pitchFamily="34" charset="0"/>
              <a:buNone/>
              <a:defRPr/>
            </a:pPr>
            <a:endParaRPr lang="en-US" sz="2200" b="1" i="1" dirty="0">
              <a:solidFill>
                <a:srgbClr val="FFC000"/>
              </a:solidFill>
            </a:endParaRPr>
          </a:p>
          <a:p>
            <a:pPr algn="just" eaLnBrk="1" fontAlgn="auto" hangingPunct="1">
              <a:spcAft>
                <a:spcPts val="0"/>
              </a:spcAft>
              <a:buFont typeface="Arial" panose="020B0604020202020204" pitchFamily="34" charset="0"/>
              <a:buNone/>
              <a:defRPr/>
            </a:pPr>
            <a:r>
              <a:rPr lang="en-US" sz="2200" b="1" dirty="0">
                <a:solidFill>
                  <a:srgbClr val="00B050"/>
                </a:solidFill>
              </a:rPr>
              <a:t>Quality of design thus refers to the method of construction, processing, material used, style factors, safety factors etc.</a:t>
            </a:r>
          </a:p>
        </p:txBody>
      </p:sp>
    </p:spTree>
    <p:extLst>
      <p:ext uri="{BB962C8B-B14F-4D97-AF65-F5344CB8AC3E}">
        <p14:creationId xmlns:p14="http://schemas.microsoft.com/office/powerpoint/2010/main" val="847075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F2CE9-3744-383E-ABC7-AF7955BA90D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CFED1F9-58B0-339A-9B8A-F1E9A9473D6C}"/>
              </a:ext>
            </a:extLst>
          </p:cNvPr>
          <p:cNvSpPr>
            <a:spLocks noGrp="1"/>
          </p:cNvSpPr>
          <p:nvPr>
            <p:ph type="dt" sz="half" idx="10"/>
          </p:nvPr>
        </p:nvSpPr>
        <p:spPr/>
        <p:txBody>
          <a:bodyPr/>
          <a:lstStyle/>
          <a:p>
            <a:fld id="{72F73196-C118-4908-AEA0-FEB259398996}" type="datetime1">
              <a:rPr lang="en-US" smtClean="0"/>
              <a:t>3/11/2024</a:t>
            </a:fld>
            <a:endParaRPr lang="en-US"/>
          </a:p>
        </p:txBody>
      </p:sp>
      <p:sp>
        <p:nvSpPr>
          <p:cNvPr id="6" name="Slide Number Placeholder 5">
            <a:extLst>
              <a:ext uri="{FF2B5EF4-FFF2-40B4-BE49-F238E27FC236}">
                <a16:creationId xmlns:a16="http://schemas.microsoft.com/office/drawing/2014/main" id="{A4020C42-D8DC-7011-A37F-ECCC3E821F81}"/>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7" name="Title 1">
            <a:extLst>
              <a:ext uri="{FF2B5EF4-FFF2-40B4-BE49-F238E27FC236}">
                <a16:creationId xmlns:a16="http://schemas.microsoft.com/office/drawing/2014/main" id="{C495C7A1-30C2-E638-56AD-BED3591B8F11}"/>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INTRODUCTION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ED377CE2-2B0E-1B0C-17C3-92291EEE6F49}"/>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D06FE5DA-1BCB-F01D-B1A9-3A6AA62205EE}"/>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2" name="Title 1">
            <a:extLst>
              <a:ext uri="{FF2B5EF4-FFF2-40B4-BE49-F238E27FC236}">
                <a16:creationId xmlns:a16="http://schemas.microsoft.com/office/drawing/2014/main" id="{F26CC99C-A4EE-018A-B5F6-7B7E84FFECCD}"/>
              </a:ext>
            </a:extLst>
          </p:cNvPr>
          <p:cNvSpPr>
            <a:spLocks noGrp="1"/>
          </p:cNvSpPr>
          <p:nvPr>
            <p:ph type="title"/>
          </p:nvPr>
        </p:nvSpPr>
        <p:spPr>
          <a:xfrm>
            <a:off x="457200" y="593740"/>
            <a:ext cx="8229600" cy="6019800"/>
          </a:xfrm>
        </p:spPr>
        <p:txBody>
          <a:bodyPr>
            <a:normAutofit/>
          </a:bodyPr>
          <a:lstStyle/>
          <a:p>
            <a:pPr eaLnBrk="1" fontAlgn="auto" hangingPunct="1">
              <a:lnSpc>
                <a:spcPct val="110000"/>
              </a:lnSpc>
              <a:spcAft>
                <a:spcPts val="0"/>
              </a:spcAft>
              <a:defRPr/>
            </a:pPr>
            <a:r>
              <a:rPr lang="en-US" sz="2800" b="1" dirty="0">
                <a:solidFill>
                  <a:schemeClr val="accent6"/>
                </a:solidFill>
              </a:rPr>
              <a:t>Quality control is a name given to the collection of techniques and devices used to manage, monitor and control all the steps in the production of a product of desired quality.</a:t>
            </a:r>
            <a:br>
              <a:rPr lang="en-US" sz="2800" b="1" dirty="0">
                <a:solidFill>
                  <a:schemeClr val="accent6"/>
                </a:solidFill>
              </a:rPr>
            </a:br>
            <a:br>
              <a:rPr lang="en-US" sz="2800" b="1" dirty="0">
                <a:solidFill>
                  <a:schemeClr val="accent6"/>
                </a:solidFill>
              </a:rPr>
            </a:br>
            <a:r>
              <a:rPr lang="en-US" sz="2800" b="1" dirty="0">
                <a:solidFill>
                  <a:srgbClr val="00B0F0"/>
                </a:solidFill>
              </a:rPr>
              <a:t>It is a powerful statistical technique for effective diagnosis of lack of quality (or lack of conformity to settled standards) in any of the materials, processes, machines or end products.</a:t>
            </a:r>
            <a:br>
              <a:rPr lang="en-US" sz="2800" b="1" dirty="0">
                <a:solidFill>
                  <a:srgbClr val="00B0F0"/>
                </a:solidFill>
              </a:rPr>
            </a:br>
            <a:endParaRPr lang="en-US" sz="2800" dirty="0"/>
          </a:p>
        </p:txBody>
      </p:sp>
    </p:spTree>
    <p:extLst>
      <p:ext uri="{BB962C8B-B14F-4D97-AF65-F5344CB8AC3E}">
        <p14:creationId xmlns:p14="http://schemas.microsoft.com/office/powerpoint/2010/main" val="2992594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DEFEB-6961-C6E6-2FB7-27FFCE928A6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9A270B9-48F2-BD0D-DA4E-8EC0330C2796}"/>
              </a:ext>
            </a:extLst>
          </p:cNvPr>
          <p:cNvSpPr>
            <a:spLocks noGrp="1"/>
          </p:cNvSpPr>
          <p:nvPr>
            <p:ph type="dt" sz="half" idx="10"/>
          </p:nvPr>
        </p:nvSpPr>
        <p:spPr/>
        <p:txBody>
          <a:bodyPr/>
          <a:lstStyle/>
          <a:p>
            <a:fld id="{DF99D312-739D-4DE0-B528-09C4D0EF84D0}" type="datetime1">
              <a:rPr lang="en-US" smtClean="0"/>
              <a:t>3/11/2024</a:t>
            </a:fld>
            <a:endParaRPr lang="en-US"/>
          </a:p>
        </p:txBody>
      </p:sp>
      <p:sp>
        <p:nvSpPr>
          <p:cNvPr id="6" name="Slide Number Placeholder 5">
            <a:extLst>
              <a:ext uri="{FF2B5EF4-FFF2-40B4-BE49-F238E27FC236}">
                <a16:creationId xmlns:a16="http://schemas.microsoft.com/office/drawing/2014/main" id="{EF3A7799-E9BA-C886-9B45-395CCC7F6EB4}"/>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7" name="Title 1">
            <a:extLst>
              <a:ext uri="{FF2B5EF4-FFF2-40B4-BE49-F238E27FC236}">
                <a16:creationId xmlns:a16="http://schemas.microsoft.com/office/drawing/2014/main" id="{913A6671-6533-D16B-9FF9-B116BC1799DF}"/>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INTRODUCTION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EA2FD5E7-D343-07F0-57E3-72619A2F0756}"/>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A6E12C69-1571-0E90-3CE2-5A8394A67664}"/>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7171" name="Content Placeholder 2">
            <a:extLst>
              <a:ext uri="{FF2B5EF4-FFF2-40B4-BE49-F238E27FC236}">
                <a16:creationId xmlns:a16="http://schemas.microsoft.com/office/drawing/2014/main" id="{B687AE25-C409-EA6C-7F15-6DA01E068D4F}"/>
              </a:ext>
            </a:extLst>
          </p:cNvPr>
          <p:cNvSpPr>
            <a:spLocks noGrp="1"/>
          </p:cNvSpPr>
          <p:nvPr>
            <p:ph idx="1"/>
          </p:nvPr>
        </p:nvSpPr>
        <p:spPr>
          <a:xfrm>
            <a:off x="152400" y="854075"/>
            <a:ext cx="8839200" cy="5867400"/>
          </a:xfrm>
        </p:spPr>
        <p:txBody>
          <a:bodyPr>
            <a:normAutofit lnSpcReduction="10000"/>
          </a:bodyPr>
          <a:lstStyle/>
          <a:p>
            <a:pPr marL="0" indent="0" algn="just" eaLnBrk="1" hangingPunct="1">
              <a:buNone/>
            </a:pPr>
            <a:r>
              <a:rPr lang="en-US" altLang="en-US" sz="2800" b="1" dirty="0">
                <a:solidFill>
                  <a:srgbClr val="FF0000"/>
                </a:solidFill>
              </a:rPr>
              <a:t>Aims or Objectives of SQC</a:t>
            </a:r>
            <a:endParaRPr lang="en-US" altLang="en-US" sz="2800" b="1" dirty="0">
              <a:solidFill>
                <a:srgbClr val="FFC000"/>
              </a:solidFill>
            </a:endParaRPr>
          </a:p>
          <a:p>
            <a:pPr algn="just" eaLnBrk="1" hangingPunct="1"/>
            <a:r>
              <a:rPr lang="en-US" altLang="en-US" sz="2400" b="1" dirty="0">
                <a:solidFill>
                  <a:srgbClr val="FFC000"/>
                </a:solidFill>
              </a:rPr>
              <a:t>To improve the company's income by manufacturing products more acceptable to the customers, providing long life, greater usefulness, maintainability etc.</a:t>
            </a:r>
          </a:p>
          <a:p>
            <a:pPr algn="just" eaLnBrk="1" hangingPunct="1"/>
            <a:r>
              <a:rPr lang="en-US" altLang="en-US" sz="2400" b="1" dirty="0">
                <a:solidFill>
                  <a:srgbClr val="00B050"/>
                </a:solidFill>
              </a:rPr>
              <a:t>To reduce company’s cost through reduction of the losses due to defects(non conformities), </a:t>
            </a:r>
            <a:r>
              <a:rPr lang="en-US" altLang="en-US" sz="2400" b="1" dirty="0" err="1">
                <a:solidFill>
                  <a:srgbClr val="00B050"/>
                </a:solidFill>
              </a:rPr>
              <a:t>ie</a:t>
            </a:r>
            <a:r>
              <a:rPr lang="en-US" altLang="en-US" sz="2400" b="1" dirty="0">
                <a:solidFill>
                  <a:srgbClr val="00B050"/>
                </a:solidFill>
              </a:rPr>
              <a:t>. to achieve lower scrap, rework, customer returns etc.</a:t>
            </a:r>
          </a:p>
          <a:p>
            <a:pPr algn="just" eaLnBrk="1" hangingPunct="1"/>
            <a:r>
              <a:rPr lang="en-US" altLang="en-US" sz="2400" b="1" dirty="0">
                <a:solidFill>
                  <a:srgbClr val="00B0F0"/>
                </a:solidFill>
              </a:rPr>
              <a:t>To produce optimum quality at minimum cost.</a:t>
            </a:r>
          </a:p>
          <a:p>
            <a:pPr algn="just" eaLnBrk="1" hangingPunct="1"/>
            <a:r>
              <a:rPr lang="en-US" altLang="en-US" sz="2400" b="1" dirty="0">
                <a:solidFill>
                  <a:schemeClr val="accent2"/>
                </a:solidFill>
              </a:rPr>
              <a:t>To ensure satisfaction of consumers with products to build goodwill, confidence, reputation of manufacturers.</a:t>
            </a:r>
          </a:p>
          <a:p>
            <a:pPr algn="just" eaLnBrk="1" hangingPunct="1"/>
            <a:r>
              <a:rPr lang="en-US" altLang="en-US" sz="2400" b="1" dirty="0">
                <a:solidFill>
                  <a:srgbClr val="FFC000"/>
                </a:solidFill>
              </a:rPr>
              <a:t>Judging conformity of the products to the stated standards and taking suitable action where there are non conformities.</a:t>
            </a:r>
          </a:p>
          <a:p>
            <a:pPr algn="just" eaLnBrk="1" hangingPunct="1"/>
            <a:r>
              <a:rPr lang="en-US" altLang="en-US" sz="2400" b="1" dirty="0">
                <a:solidFill>
                  <a:srgbClr val="00B0F0"/>
                </a:solidFill>
              </a:rPr>
              <a:t>Developing quality consciousness in the organization.</a:t>
            </a:r>
          </a:p>
          <a:p>
            <a:pPr algn="just" eaLnBrk="1" hangingPunct="1"/>
            <a:r>
              <a:rPr lang="en-US" altLang="en-US" sz="2400" b="1" dirty="0">
                <a:solidFill>
                  <a:srgbClr val="7030A0"/>
                </a:solidFill>
              </a:rPr>
              <a:t>Provide a running commentary on the performance of machines and operations in the production process.</a:t>
            </a:r>
          </a:p>
        </p:txBody>
      </p:sp>
    </p:spTree>
    <p:extLst>
      <p:ext uri="{BB962C8B-B14F-4D97-AF65-F5344CB8AC3E}">
        <p14:creationId xmlns:p14="http://schemas.microsoft.com/office/powerpoint/2010/main" val="1194186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4E4C6-0986-DADC-7680-321177AC764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372A9E2-7DEF-A7F3-B5FD-A631C64533A6}"/>
              </a:ext>
            </a:extLst>
          </p:cNvPr>
          <p:cNvSpPr>
            <a:spLocks noGrp="1"/>
          </p:cNvSpPr>
          <p:nvPr>
            <p:ph type="dt" sz="half" idx="10"/>
          </p:nvPr>
        </p:nvSpPr>
        <p:spPr/>
        <p:txBody>
          <a:bodyPr/>
          <a:lstStyle/>
          <a:p>
            <a:fld id="{8DAF7117-AB0D-42DE-9BF3-00ECE5A008FE}" type="datetime1">
              <a:rPr lang="en-US" smtClean="0"/>
              <a:t>3/11/2024</a:t>
            </a:fld>
            <a:endParaRPr lang="en-US"/>
          </a:p>
        </p:txBody>
      </p:sp>
      <p:sp>
        <p:nvSpPr>
          <p:cNvPr id="6" name="Slide Number Placeholder 5">
            <a:extLst>
              <a:ext uri="{FF2B5EF4-FFF2-40B4-BE49-F238E27FC236}">
                <a16:creationId xmlns:a16="http://schemas.microsoft.com/office/drawing/2014/main" id="{6A3FCCAF-5FDF-DE7F-C221-BE1C2139D2C8}"/>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7" name="Title 1">
            <a:extLst>
              <a:ext uri="{FF2B5EF4-FFF2-40B4-BE49-F238E27FC236}">
                <a16:creationId xmlns:a16="http://schemas.microsoft.com/office/drawing/2014/main" id="{FC4869B5-96BA-6857-3B10-D98E02E4467B}"/>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INTRODUCTION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48D6E47D-60CA-1989-737D-30BF6A555AEE}"/>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9A7421EA-347F-0238-1B07-9E480309E78C}"/>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5" name="Content Placeholder 2">
            <a:extLst>
              <a:ext uri="{FF2B5EF4-FFF2-40B4-BE49-F238E27FC236}">
                <a16:creationId xmlns:a16="http://schemas.microsoft.com/office/drawing/2014/main" id="{05ED3872-5C9A-7D56-1DAC-A16C79EE4D2A}"/>
              </a:ext>
            </a:extLst>
          </p:cNvPr>
          <p:cNvSpPr>
            <a:spLocks noGrp="1"/>
          </p:cNvSpPr>
          <p:nvPr>
            <p:ph idx="1"/>
          </p:nvPr>
        </p:nvSpPr>
        <p:spPr>
          <a:xfrm>
            <a:off x="304800" y="914400"/>
            <a:ext cx="8610600" cy="5638800"/>
          </a:xfrm>
        </p:spPr>
        <p:txBody>
          <a:bodyPr/>
          <a:lstStyle/>
          <a:p>
            <a:pPr marL="0" indent="0" algn="just" eaLnBrk="1" hangingPunct="1">
              <a:buNone/>
              <a:defRPr/>
            </a:pPr>
            <a:r>
              <a:rPr lang="en-US" sz="2800" b="1" dirty="0">
                <a:solidFill>
                  <a:schemeClr val="accent6">
                    <a:lumMod val="75000"/>
                  </a:schemeClr>
                </a:solidFill>
              </a:rPr>
              <a:t>Quality Characteristics</a:t>
            </a:r>
            <a:endParaRPr lang="en-US" sz="2800" b="1" dirty="0">
              <a:solidFill>
                <a:srgbClr val="00B050"/>
              </a:solidFill>
            </a:endParaRPr>
          </a:p>
          <a:p>
            <a:pPr algn="just" eaLnBrk="1" hangingPunct="1">
              <a:buFont typeface="Arial" charset="0"/>
              <a:buChar char="•"/>
              <a:defRPr/>
            </a:pPr>
            <a:r>
              <a:rPr lang="en-US" sz="2400" b="1" dirty="0">
                <a:solidFill>
                  <a:srgbClr val="00B050"/>
                </a:solidFill>
              </a:rPr>
              <a:t>When quality is considered, it is specified by one or more characteristics and can be studied independently or jointly.</a:t>
            </a:r>
          </a:p>
          <a:p>
            <a:pPr algn="just" eaLnBrk="1" hangingPunct="1">
              <a:buFont typeface="Arial" charset="0"/>
              <a:buChar char="•"/>
              <a:defRPr/>
            </a:pPr>
            <a:r>
              <a:rPr lang="en-US" sz="2400" b="1" dirty="0">
                <a:solidFill>
                  <a:srgbClr val="7030A0"/>
                </a:solidFill>
              </a:rPr>
              <a:t>The quality may be</a:t>
            </a:r>
          </a:p>
          <a:p>
            <a:pPr algn="ctr" eaLnBrk="1" hangingPunct="1">
              <a:buFont typeface="Arial" charset="0"/>
              <a:buChar char="•"/>
              <a:defRPr/>
            </a:pPr>
            <a:r>
              <a:rPr lang="en-US" sz="2000" b="1" dirty="0">
                <a:solidFill>
                  <a:srgbClr val="FFC000"/>
                </a:solidFill>
              </a:rPr>
              <a:t>Technological </a:t>
            </a:r>
          </a:p>
          <a:p>
            <a:pPr algn="ctr" eaLnBrk="1" hangingPunct="1">
              <a:buFont typeface="Arial" charset="0"/>
              <a:buNone/>
              <a:defRPr/>
            </a:pPr>
            <a:r>
              <a:rPr lang="en-US" sz="2000" b="1" dirty="0">
                <a:solidFill>
                  <a:schemeClr val="accent5">
                    <a:lumMod val="75000"/>
                  </a:schemeClr>
                </a:solidFill>
              </a:rPr>
              <a:t>(Strength, Hardness, Diameter, Life length etc.)</a:t>
            </a:r>
          </a:p>
          <a:p>
            <a:pPr algn="ctr" eaLnBrk="1" hangingPunct="1">
              <a:buFont typeface="Arial" charset="0"/>
              <a:buChar char="•"/>
              <a:defRPr/>
            </a:pPr>
            <a:r>
              <a:rPr lang="en-US" sz="2000" b="1" dirty="0">
                <a:solidFill>
                  <a:srgbClr val="FFC000"/>
                </a:solidFill>
              </a:rPr>
              <a:t>Psychological</a:t>
            </a:r>
          </a:p>
          <a:p>
            <a:pPr algn="ctr" eaLnBrk="1" hangingPunct="1">
              <a:buFont typeface="Arial" charset="0"/>
              <a:buNone/>
              <a:defRPr/>
            </a:pPr>
            <a:r>
              <a:rPr lang="en-US" sz="2000" b="1" dirty="0">
                <a:solidFill>
                  <a:schemeClr val="accent5">
                    <a:lumMod val="75000"/>
                  </a:schemeClr>
                </a:solidFill>
              </a:rPr>
              <a:t> (Taste, Beauty, </a:t>
            </a:r>
            <a:r>
              <a:rPr lang="en-US" sz="2000" b="1" dirty="0" err="1">
                <a:solidFill>
                  <a:schemeClr val="accent5">
                    <a:lumMod val="75000"/>
                  </a:schemeClr>
                </a:solidFill>
              </a:rPr>
              <a:t>odour</a:t>
            </a:r>
            <a:r>
              <a:rPr lang="en-US" sz="2000" b="1" dirty="0">
                <a:solidFill>
                  <a:schemeClr val="accent5">
                    <a:lumMod val="75000"/>
                  </a:schemeClr>
                </a:solidFill>
              </a:rPr>
              <a:t> etc.)</a:t>
            </a:r>
          </a:p>
          <a:p>
            <a:pPr algn="ctr" eaLnBrk="1" hangingPunct="1">
              <a:buFont typeface="Arial" charset="0"/>
              <a:buChar char="•"/>
              <a:defRPr/>
            </a:pPr>
            <a:r>
              <a:rPr lang="en-US" sz="2000" b="1" dirty="0">
                <a:solidFill>
                  <a:srgbClr val="FFC000"/>
                </a:solidFill>
              </a:rPr>
              <a:t>Ethical </a:t>
            </a:r>
          </a:p>
          <a:p>
            <a:pPr algn="ctr" eaLnBrk="1" hangingPunct="1">
              <a:buFont typeface="Arial" charset="0"/>
              <a:buNone/>
              <a:defRPr/>
            </a:pPr>
            <a:r>
              <a:rPr lang="en-US" sz="2000" b="1" dirty="0">
                <a:solidFill>
                  <a:schemeClr val="accent5">
                    <a:lumMod val="75000"/>
                  </a:schemeClr>
                </a:solidFill>
              </a:rPr>
              <a:t>(Honesty, Integrity, Incorruptibility etc.)</a:t>
            </a:r>
          </a:p>
          <a:p>
            <a:pPr algn="ctr" eaLnBrk="1" hangingPunct="1">
              <a:buFont typeface="Arial" charset="0"/>
              <a:buChar char="•"/>
              <a:defRPr/>
            </a:pPr>
            <a:r>
              <a:rPr lang="en-US" sz="2000" b="1" dirty="0">
                <a:solidFill>
                  <a:srgbClr val="FFC000"/>
                </a:solidFill>
              </a:rPr>
              <a:t>Contractual</a:t>
            </a:r>
            <a:r>
              <a:rPr lang="en-US" sz="2000" b="1" dirty="0"/>
              <a:t> </a:t>
            </a:r>
          </a:p>
          <a:p>
            <a:pPr algn="ctr" eaLnBrk="1" hangingPunct="1">
              <a:buFont typeface="Arial" charset="0"/>
              <a:buNone/>
              <a:defRPr/>
            </a:pPr>
            <a:r>
              <a:rPr lang="en-US" sz="2000" b="1" dirty="0">
                <a:solidFill>
                  <a:schemeClr val="accent5">
                    <a:lumMod val="75000"/>
                  </a:schemeClr>
                </a:solidFill>
              </a:rPr>
              <a:t>(Guarantee, Safety, Provisions etc.)</a:t>
            </a:r>
          </a:p>
        </p:txBody>
      </p:sp>
    </p:spTree>
    <p:extLst>
      <p:ext uri="{BB962C8B-B14F-4D97-AF65-F5344CB8AC3E}">
        <p14:creationId xmlns:p14="http://schemas.microsoft.com/office/powerpoint/2010/main" val="982545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43B9B-CA2B-8730-C1DA-29E97575F2B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CC529E6-CECF-3AC7-D32E-4E01A057441A}"/>
              </a:ext>
            </a:extLst>
          </p:cNvPr>
          <p:cNvSpPr>
            <a:spLocks noGrp="1"/>
          </p:cNvSpPr>
          <p:nvPr>
            <p:ph type="dt" sz="half" idx="10"/>
          </p:nvPr>
        </p:nvSpPr>
        <p:spPr/>
        <p:txBody>
          <a:bodyPr/>
          <a:lstStyle/>
          <a:p>
            <a:fld id="{90EE1ADC-1D1B-4A09-AA6A-FB0B2F7C4CA9}" type="datetime1">
              <a:rPr lang="en-US" smtClean="0"/>
              <a:t>3/11/2024</a:t>
            </a:fld>
            <a:endParaRPr lang="en-US"/>
          </a:p>
        </p:txBody>
      </p:sp>
      <p:sp>
        <p:nvSpPr>
          <p:cNvPr id="6" name="Slide Number Placeholder 5">
            <a:extLst>
              <a:ext uri="{FF2B5EF4-FFF2-40B4-BE49-F238E27FC236}">
                <a16:creationId xmlns:a16="http://schemas.microsoft.com/office/drawing/2014/main" id="{438AED68-1BA8-B9C6-CE26-252A1A2EC13A}"/>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7" name="Title 1">
            <a:extLst>
              <a:ext uri="{FF2B5EF4-FFF2-40B4-BE49-F238E27FC236}">
                <a16:creationId xmlns:a16="http://schemas.microsoft.com/office/drawing/2014/main" id="{8691B523-EB8B-2EF5-00BE-E33DBA1E59C6}"/>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INTRODUCTION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7331BC2D-7234-69F1-BA71-1CB651AC36EC}"/>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3FB316E5-2557-94F2-902D-1F5C9B825E76}"/>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9219" name="Content Placeholder 2">
            <a:extLst>
              <a:ext uri="{FF2B5EF4-FFF2-40B4-BE49-F238E27FC236}">
                <a16:creationId xmlns:a16="http://schemas.microsoft.com/office/drawing/2014/main" id="{8FD2F91B-51E8-9760-E9E6-47798D9FA2D2}"/>
              </a:ext>
            </a:extLst>
          </p:cNvPr>
          <p:cNvSpPr txBox="1">
            <a:spLocks/>
          </p:cNvSpPr>
          <p:nvPr/>
        </p:nvSpPr>
        <p:spPr>
          <a:xfrm>
            <a:off x="304800" y="987408"/>
            <a:ext cx="8534400" cy="515307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altLang="en-US" sz="2200" b="1" dirty="0">
                <a:solidFill>
                  <a:srgbClr val="0070C0"/>
                </a:solidFill>
              </a:rPr>
              <a:t>The quality characteristics observed in industry may be generally classified into any of the following categories</a:t>
            </a:r>
            <a:endParaRPr lang="en-US" altLang="en-US" sz="2200" b="1" dirty="0">
              <a:solidFill>
                <a:srgbClr val="FFC000"/>
              </a:solidFill>
            </a:endParaRPr>
          </a:p>
          <a:p>
            <a:r>
              <a:rPr lang="en-US" altLang="en-US" sz="2200" b="1" dirty="0">
                <a:solidFill>
                  <a:srgbClr val="FFC000"/>
                </a:solidFill>
              </a:rPr>
              <a:t>Directly measurable (Variable)</a:t>
            </a:r>
          </a:p>
          <a:p>
            <a:pPr>
              <a:buFont typeface="Arial" pitchFamily="34" charset="0"/>
              <a:buNone/>
            </a:pPr>
            <a:r>
              <a:rPr lang="en-US" altLang="en-US" sz="2200" dirty="0"/>
              <a:t>	</a:t>
            </a:r>
            <a:r>
              <a:rPr lang="en-US" altLang="en-US" sz="2200" dirty="0">
                <a:solidFill>
                  <a:srgbClr val="00B050"/>
                </a:solidFill>
              </a:rPr>
              <a:t>( Thickness, life length, temperature, tensile strength etc., producing continuous data)</a:t>
            </a:r>
          </a:p>
          <a:p>
            <a:r>
              <a:rPr lang="en-US" altLang="en-US" sz="2200" b="1" dirty="0">
                <a:solidFill>
                  <a:srgbClr val="FFC000"/>
                </a:solidFill>
              </a:rPr>
              <a:t>Non-measurable (Attributes)</a:t>
            </a:r>
          </a:p>
          <a:p>
            <a:pPr>
              <a:buFont typeface="Arial" pitchFamily="34" charset="0"/>
              <a:buNone/>
            </a:pPr>
            <a:r>
              <a:rPr lang="en-US" altLang="en-US" sz="2200" b="1" dirty="0"/>
              <a:t>		</a:t>
            </a:r>
            <a:r>
              <a:rPr lang="en-US" altLang="en-US" sz="2200" dirty="0">
                <a:solidFill>
                  <a:srgbClr val="00B050"/>
                </a:solidFill>
              </a:rPr>
              <a:t>(Cracks, Breakages, Assembly defects, Air bubbles etc., producing discrete data)</a:t>
            </a:r>
          </a:p>
          <a:p>
            <a:pPr>
              <a:buFont typeface="Arial" pitchFamily="34" charset="0"/>
              <a:buNone/>
            </a:pPr>
            <a:endParaRPr lang="en-US" altLang="en-US" sz="2200" dirty="0">
              <a:solidFill>
                <a:srgbClr val="00B050"/>
              </a:solidFill>
            </a:endParaRPr>
          </a:p>
          <a:p>
            <a:pPr>
              <a:buFont typeface="Arial" pitchFamily="34" charset="0"/>
              <a:buNone/>
            </a:pPr>
            <a:r>
              <a:rPr lang="en-US" altLang="en-US" sz="2200" b="1" dirty="0">
                <a:solidFill>
                  <a:srgbClr val="00B0F0"/>
                </a:solidFill>
              </a:rPr>
              <a:t>The variations affecting a production process are broadly classified   as being due to two causes</a:t>
            </a:r>
            <a:br>
              <a:rPr lang="en-US" altLang="en-US" sz="2200" b="1" dirty="0"/>
            </a:br>
            <a:r>
              <a:rPr lang="en-US" altLang="en-US" sz="2200" b="1" dirty="0"/>
              <a:t>	 – </a:t>
            </a:r>
            <a:r>
              <a:rPr lang="en-US" altLang="en-US" sz="2200" b="1" dirty="0">
                <a:solidFill>
                  <a:srgbClr val="FFC000"/>
                </a:solidFill>
              </a:rPr>
              <a:t>Chance causes (common causes/random causes) </a:t>
            </a:r>
            <a:br>
              <a:rPr lang="en-US" altLang="en-US" sz="2200" b="1" dirty="0"/>
            </a:br>
            <a:r>
              <a:rPr lang="en-US" altLang="en-US" sz="2200" b="1" dirty="0"/>
              <a:t>	 - </a:t>
            </a:r>
            <a:r>
              <a:rPr lang="en-US" altLang="en-US" sz="2200" b="1" dirty="0">
                <a:solidFill>
                  <a:srgbClr val="FFC000"/>
                </a:solidFill>
              </a:rPr>
              <a:t>Assignable causes(non random causes or special causes)</a:t>
            </a:r>
            <a:endParaRPr lang="en-US" altLang="en-US" sz="2200" dirty="0">
              <a:solidFill>
                <a:srgbClr val="00B050"/>
              </a:solidFill>
            </a:endParaRPr>
          </a:p>
          <a:p>
            <a:pPr>
              <a:buFont typeface="Arial" pitchFamily="34" charset="0"/>
              <a:buNone/>
            </a:pPr>
            <a:endParaRPr lang="en-US" altLang="en-US" sz="2200" dirty="0">
              <a:solidFill>
                <a:srgbClr val="00B050"/>
              </a:solidFill>
            </a:endParaRPr>
          </a:p>
          <a:p>
            <a:pPr>
              <a:buFont typeface="Arial" pitchFamily="34" charset="0"/>
              <a:buNone/>
            </a:pPr>
            <a:endParaRPr lang="en-US" altLang="en-US" sz="2200" dirty="0">
              <a:solidFill>
                <a:srgbClr val="00B050"/>
              </a:solidFill>
            </a:endParaRPr>
          </a:p>
        </p:txBody>
      </p:sp>
    </p:spTree>
    <p:extLst>
      <p:ext uri="{BB962C8B-B14F-4D97-AF65-F5344CB8AC3E}">
        <p14:creationId xmlns:p14="http://schemas.microsoft.com/office/powerpoint/2010/main" val="3317241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38CFF-2B45-37EE-1F0B-E96304D13EFA}"/>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AA21DB7D-3C30-C9BE-14C8-1AE0B82CF104}"/>
              </a:ext>
            </a:extLst>
          </p:cNvPr>
          <p:cNvPicPr>
            <a:picLocks noChangeAspect="1"/>
          </p:cNvPicPr>
          <p:nvPr/>
        </p:nvPicPr>
        <p:blipFill>
          <a:blip r:embed="rId2"/>
          <a:stretch>
            <a:fillRect/>
          </a:stretch>
        </p:blipFill>
        <p:spPr>
          <a:xfrm>
            <a:off x="3660236" y="1844658"/>
            <a:ext cx="5331364" cy="4156091"/>
          </a:xfrm>
          <a:prstGeom prst="rect">
            <a:avLst/>
          </a:prstGeom>
        </p:spPr>
      </p:pic>
      <p:sp>
        <p:nvSpPr>
          <p:cNvPr id="4" name="Date Placeholder 3">
            <a:extLst>
              <a:ext uri="{FF2B5EF4-FFF2-40B4-BE49-F238E27FC236}">
                <a16:creationId xmlns:a16="http://schemas.microsoft.com/office/drawing/2014/main" id="{BDE7DD9D-019B-4B02-193B-CC1CCC47889F}"/>
              </a:ext>
            </a:extLst>
          </p:cNvPr>
          <p:cNvSpPr>
            <a:spLocks noGrp="1"/>
          </p:cNvSpPr>
          <p:nvPr>
            <p:ph type="dt" sz="half" idx="10"/>
          </p:nvPr>
        </p:nvSpPr>
        <p:spPr/>
        <p:txBody>
          <a:bodyPr/>
          <a:lstStyle/>
          <a:p>
            <a:fld id="{C1C61A1D-CB87-45EC-B14A-5895053C44F9}" type="datetime1">
              <a:rPr lang="en-US" smtClean="0"/>
              <a:t>3/11/2024</a:t>
            </a:fld>
            <a:endParaRPr lang="en-US"/>
          </a:p>
        </p:txBody>
      </p:sp>
      <p:sp>
        <p:nvSpPr>
          <p:cNvPr id="6" name="Slide Number Placeholder 5">
            <a:extLst>
              <a:ext uri="{FF2B5EF4-FFF2-40B4-BE49-F238E27FC236}">
                <a16:creationId xmlns:a16="http://schemas.microsoft.com/office/drawing/2014/main" id="{1E21B523-3257-7914-7FEC-5E173D42FC29}"/>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7" name="Title 1">
            <a:extLst>
              <a:ext uri="{FF2B5EF4-FFF2-40B4-BE49-F238E27FC236}">
                <a16:creationId xmlns:a16="http://schemas.microsoft.com/office/drawing/2014/main" id="{897CF5E1-F5CF-D44E-A845-66CF2442D2A4}"/>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INTRODUCTION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DD3B43AB-6A28-3E3C-9C5A-F0C8F998F4FF}"/>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476AAC6-6FF1-C4D4-14B8-723412873DEF}"/>
              </a:ext>
            </a:extLst>
          </p:cNvPr>
          <p:cNvPicPr>
            <a:picLocks noChangeAspect="1"/>
          </p:cNvPicPr>
          <p:nvPr/>
        </p:nvPicPr>
        <p:blipFill>
          <a:blip r:embed="rId3" cstate="print"/>
          <a:stretch>
            <a:fillRect/>
          </a:stretch>
        </p:blipFill>
        <p:spPr>
          <a:xfrm>
            <a:off x="0" y="-1"/>
            <a:ext cx="1371600" cy="879475"/>
          </a:xfrm>
          <a:prstGeom prst="rect">
            <a:avLst/>
          </a:prstGeom>
        </p:spPr>
      </p:pic>
      <p:sp>
        <p:nvSpPr>
          <p:cNvPr id="13315" name="Content Placeholder 2">
            <a:extLst>
              <a:ext uri="{FF2B5EF4-FFF2-40B4-BE49-F238E27FC236}">
                <a16:creationId xmlns:a16="http://schemas.microsoft.com/office/drawing/2014/main" id="{0A9605B2-FD98-3B95-CE1A-4537DD3F5F76}"/>
              </a:ext>
            </a:extLst>
          </p:cNvPr>
          <p:cNvSpPr>
            <a:spLocks noGrp="1"/>
          </p:cNvSpPr>
          <p:nvPr>
            <p:ph idx="1"/>
          </p:nvPr>
        </p:nvSpPr>
        <p:spPr>
          <a:xfrm>
            <a:off x="304800" y="987409"/>
            <a:ext cx="8686800" cy="3230563"/>
          </a:xfrm>
          <a:ln>
            <a:solidFill>
              <a:schemeClr val="bg1"/>
            </a:solidFill>
            <a:miter lim="800000"/>
            <a:headEnd/>
            <a:tailEnd/>
          </a:ln>
        </p:spPr>
        <p:txBody>
          <a:bodyPr>
            <a:noAutofit/>
          </a:bodyPr>
          <a:lstStyle/>
          <a:p>
            <a:pPr marL="0" indent="0" algn="just">
              <a:buNone/>
            </a:pPr>
            <a:r>
              <a:rPr lang="en-US" altLang="en-US" sz="2000" b="1" dirty="0">
                <a:solidFill>
                  <a:srgbClr val="00B0F0"/>
                </a:solidFill>
              </a:rPr>
              <a:t>The main purpose of Statistical Quality Control </a:t>
            </a:r>
            <a:r>
              <a:rPr lang="en-US" altLang="en-US" sz="2000" b="1" dirty="0">
                <a:solidFill>
                  <a:srgbClr val="FFC000"/>
                </a:solidFill>
              </a:rPr>
              <a:t>is to derive statistical techniques which would help us in separating the assignable causes of variation from the chance causes of variation, thus enabling to take actions whenever assignable causes are present in the production process.</a:t>
            </a:r>
            <a:endParaRPr lang="en-US" altLang="en-US" sz="2000" b="1" dirty="0">
              <a:solidFill>
                <a:srgbClr val="FF0000"/>
              </a:solidFill>
            </a:endParaRPr>
          </a:p>
        </p:txBody>
      </p:sp>
      <p:sp>
        <p:nvSpPr>
          <p:cNvPr id="24" name="Content Placeholder 2">
            <a:extLst>
              <a:ext uri="{FF2B5EF4-FFF2-40B4-BE49-F238E27FC236}">
                <a16:creationId xmlns:a16="http://schemas.microsoft.com/office/drawing/2014/main" id="{2329ED04-DA04-795E-393E-9C9DADE92545}"/>
              </a:ext>
            </a:extLst>
          </p:cNvPr>
          <p:cNvSpPr txBox="1">
            <a:spLocks/>
          </p:cNvSpPr>
          <p:nvPr/>
        </p:nvSpPr>
        <p:spPr>
          <a:xfrm>
            <a:off x="173336" y="2307423"/>
            <a:ext cx="3255664" cy="3230563"/>
          </a:xfrm>
          <a:prstGeom prst="rect">
            <a:avLst/>
          </a:prstGeom>
          <a:ln>
            <a:solidFill>
              <a:schemeClr val="bg1"/>
            </a:solidFill>
            <a:miter lim="800000"/>
            <a:headEnd/>
            <a:tailEnd/>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altLang="en-US" sz="2000" b="1" dirty="0">
                <a:solidFill>
                  <a:srgbClr val="FF0000"/>
                </a:solidFill>
              </a:rPr>
              <a:t>The elimination of assignable causes is described as bringing a process </a:t>
            </a:r>
            <a:r>
              <a:rPr lang="en-US" altLang="en-US" sz="2000" b="1" i="1" dirty="0">
                <a:solidFill>
                  <a:srgbClr val="7030A0"/>
                </a:solidFill>
              </a:rPr>
              <a:t>under control.</a:t>
            </a:r>
          </a:p>
          <a:p>
            <a:pPr algn="just"/>
            <a:r>
              <a:rPr lang="en-US" altLang="en-US" sz="2000" b="1" dirty="0">
                <a:solidFill>
                  <a:srgbClr val="00B050"/>
                </a:solidFill>
              </a:rPr>
              <a:t>A production process is said to be under </a:t>
            </a:r>
            <a:r>
              <a:rPr lang="en-US" altLang="en-US" sz="2000" b="1" dirty="0">
                <a:solidFill>
                  <a:srgbClr val="00B0F0"/>
                </a:solidFill>
              </a:rPr>
              <a:t>statistical control </a:t>
            </a:r>
          </a:p>
          <a:p>
            <a:pPr algn="just">
              <a:buFont typeface="Arial" pitchFamily="34" charset="0"/>
              <a:buNone/>
            </a:pPr>
            <a:r>
              <a:rPr lang="en-US" altLang="en-US" sz="2000" b="1" dirty="0">
                <a:solidFill>
                  <a:srgbClr val="00B0F0"/>
                </a:solidFill>
              </a:rPr>
              <a:t>	</a:t>
            </a:r>
            <a:r>
              <a:rPr lang="en-US" altLang="en-US" sz="2000" b="1" dirty="0">
                <a:solidFill>
                  <a:srgbClr val="00B050"/>
                </a:solidFill>
              </a:rPr>
              <a:t>( or simply under control), if it is governed by chance causes only, in the absence of assignable causes of variation.</a:t>
            </a:r>
          </a:p>
        </p:txBody>
      </p:sp>
    </p:spTree>
    <p:extLst>
      <p:ext uri="{BB962C8B-B14F-4D97-AF65-F5344CB8AC3E}">
        <p14:creationId xmlns:p14="http://schemas.microsoft.com/office/powerpoint/2010/main" val="33428338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6B489-7D97-754A-D8BE-C10C8BE58F9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76D1BA1-6977-D85B-92DE-8BA35780B782}"/>
              </a:ext>
            </a:extLst>
          </p:cNvPr>
          <p:cNvSpPr>
            <a:spLocks noGrp="1"/>
          </p:cNvSpPr>
          <p:nvPr>
            <p:ph type="dt" sz="half" idx="10"/>
          </p:nvPr>
        </p:nvSpPr>
        <p:spPr/>
        <p:txBody>
          <a:bodyPr/>
          <a:lstStyle/>
          <a:p>
            <a:fld id="{53A32CFA-6A7D-44D5-8D10-E3E3C1D60FA8}" type="datetime1">
              <a:rPr lang="en-US" smtClean="0"/>
              <a:t>3/11/2024</a:t>
            </a:fld>
            <a:endParaRPr lang="en-US"/>
          </a:p>
        </p:txBody>
      </p:sp>
      <p:sp>
        <p:nvSpPr>
          <p:cNvPr id="6" name="Slide Number Placeholder 5">
            <a:extLst>
              <a:ext uri="{FF2B5EF4-FFF2-40B4-BE49-F238E27FC236}">
                <a16:creationId xmlns:a16="http://schemas.microsoft.com/office/drawing/2014/main" id="{08ED04D4-7484-692E-271D-837E64351E7A}"/>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7" name="Title 1">
            <a:extLst>
              <a:ext uri="{FF2B5EF4-FFF2-40B4-BE49-F238E27FC236}">
                <a16:creationId xmlns:a16="http://schemas.microsoft.com/office/drawing/2014/main" id="{AA48E958-3685-F2B2-2F58-81BFA8333292}"/>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INTRODUCTION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FD4DDF86-D964-DAA3-2AC0-8CD9C7CD79BE}"/>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F60D2D3C-5A0B-59D4-40B9-C8C95C17422D}"/>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11" name="Content Placeholder 2">
            <a:extLst>
              <a:ext uri="{FF2B5EF4-FFF2-40B4-BE49-F238E27FC236}">
                <a16:creationId xmlns:a16="http://schemas.microsoft.com/office/drawing/2014/main" id="{59457352-505F-1380-697B-04BEA0429C76}"/>
              </a:ext>
            </a:extLst>
          </p:cNvPr>
          <p:cNvSpPr>
            <a:spLocks noGrp="1"/>
          </p:cNvSpPr>
          <p:nvPr>
            <p:ph idx="1"/>
          </p:nvPr>
        </p:nvSpPr>
        <p:spPr>
          <a:xfrm>
            <a:off x="228600" y="990600"/>
            <a:ext cx="8686800" cy="6096000"/>
          </a:xfrm>
        </p:spPr>
        <p:txBody>
          <a:bodyPr>
            <a:normAutofit/>
          </a:bodyPr>
          <a:lstStyle/>
          <a:p>
            <a:pPr marL="0" indent="0" algn="just">
              <a:buNone/>
              <a:defRPr/>
            </a:pPr>
            <a:r>
              <a:rPr lang="en-US" altLang="en-US" sz="2200" b="1" dirty="0">
                <a:solidFill>
                  <a:srgbClr val="7030A0"/>
                </a:solidFill>
              </a:rPr>
              <a:t>Basic principles of SQC</a:t>
            </a:r>
            <a:endParaRPr lang="en-US" sz="2200" b="1" dirty="0">
              <a:solidFill>
                <a:srgbClr val="00B050"/>
              </a:solidFill>
            </a:endParaRPr>
          </a:p>
          <a:p>
            <a:pPr algn="just">
              <a:buFont typeface="Arial" charset="0"/>
              <a:buChar char="•"/>
              <a:defRPr/>
            </a:pPr>
            <a:r>
              <a:rPr lang="en-US" sz="2000" b="1" dirty="0">
                <a:solidFill>
                  <a:srgbClr val="00B050"/>
                </a:solidFill>
              </a:rPr>
              <a:t>In a production process, we are trying constantly to make products that meet the customers requirements.</a:t>
            </a:r>
          </a:p>
          <a:p>
            <a:pPr algn="just">
              <a:buFont typeface="Arial" charset="0"/>
              <a:buChar char="•"/>
              <a:defRPr/>
            </a:pPr>
            <a:r>
              <a:rPr lang="en-US" sz="2000" b="1" dirty="0">
                <a:solidFill>
                  <a:srgbClr val="00B0F0"/>
                </a:solidFill>
              </a:rPr>
              <a:t>We are also trying to make each items or products as much like as the others as possible.</a:t>
            </a:r>
          </a:p>
          <a:p>
            <a:pPr algn="just">
              <a:buFont typeface="Arial" charset="0"/>
              <a:buChar char="•"/>
              <a:defRPr/>
            </a:pPr>
            <a:r>
              <a:rPr lang="en-US" sz="2000" b="1" dirty="0">
                <a:solidFill>
                  <a:srgbClr val="FFC000"/>
                </a:solidFill>
              </a:rPr>
              <a:t>For this we must keep control of our operations.</a:t>
            </a:r>
          </a:p>
          <a:p>
            <a:pPr algn="just">
              <a:buFont typeface="Arial" charset="0"/>
              <a:buChar char="•"/>
              <a:defRPr/>
            </a:pPr>
            <a:r>
              <a:rPr lang="en-US" sz="2000" b="1" dirty="0">
                <a:solidFill>
                  <a:srgbClr val="7030A0"/>
                </a:solidFill>
              </a:rPr>
              <a:t>Just like a doctor use temperature, pulse rate, blood pressure readings, sugar levels, cholesterol levels etc. to keep track of the patients condition, we use control charts to monitor the condition of our production process .</a:t>
            </a:r>
          </a:p>
          <a:p>
            <a:pPr algn="just">
              <a:buFont typeface="Arial" charset="0"/>
              <a:buChar char="•"/>
              <a:defRPr/>
            </a:pPr>
            <a:r>
              <a:rPr lang="en-US" sz="2000" b="1" dirty="0">
                <a:solidFill>
                  <a:srgbClr val="FF0000"/>
                </a:solidFill>
              </a:rPr>
              <a:t>When properly used, control charts will tell us three things,</a:t>
            </a:r>
          </a:p>
          <a:p>
            <a:pPr algn="just">
              <a:buFont typeface="Arial" charset="0"/>
              <a:buNone/>
              <a:defRPr/>
            </a:pPr>
            <a:r>
              <a:rPr lang="en-US" sz="2000" b="1" dirty="0">
                <a:solidFill>
                  <a:srgbClr val="7030A0"/>
                </a:solidFill>
              </a:rPr>
              <a:t>		- </a:t>
            </a:r>
            <a:r>
              <a:rPr lang="en-US" sz="2000" b="1" dirty="0">
                <a:solidFill>
                  <a:schemeClr val="accent3">
                    <a:lumMod val="50000"/>
                  </a:schemeClr>
                </a:solidFill>
              </a:rPr>
              <a:t>When we are doing some thing we should not</a:t>
            </a:r>
          </a:p>
          <a:p>
            <a:pPr algn="just">
              <a:buFont typeface="Arial" charset="0"/>
              <a:buNone/>
              <a:defRPr/>
            </a:pPr>
            <a:r>
              <a:rPr lang="en-US" sz="2000" b="1" dirty="0">
                <a:solidFill>
                  <a:schemeClr val="accent3">
                    <a:lumMod val="50000"/>
                  </a:schemeClr>
                </a:solidFill>
              </a:rPr>
              <a:t>		- When we are not doing something we should</a:t>
            </a:r>
          </a:p>
          <a:p>
            <a:pPr algn="just">
              <a:buFont typeface="Arial" charset="0"/>
              <a:buNone/>
              <a:defRPr/>
            </a:pPr>
            <a:r>
              <a:rPr lang="en-US" sz="2000" b="1" dirty="0">
                <a:solidFill>
                  <a:schemeClr val="accent3">
                    <a:lumMod val="50000"/>
                  </a:schemeClr>
                </a:solidFill>
              </a:rPr>
              <a:t>		- When we are doing things right</a:t>
            </a:r>
          </a:p>
          <a:p>
            <a:pPr algn="just">
              <a:buFont typeface="Arial" charset="0"/>
              <a:buNone/>
              <a:defRPr/>
            </a:pPr>
            <a:r>
              <a:rPr lang="en-US" sz="2000" b="1" dirty="0">
                <a:solidFill>
                  <a:srgbClr val="FFC000"/>
                </a:solidFill>
                <a:latin typeface="Kristen ITC" pitchFamily="66" charset="0"/>
              </a:rPr>
              <a:t>Generally, control charts will indicate how well our job is. They will provide us with STOP and GO signals.</a:t>
            </a:r>
          </a:p>
        </p:txBody>
      </p:sp>
    </p:spTree>
    <p:extLst>
      <p:ext uri="{BB962C8B-B14F-4D97-AF65-F5344CB8AC3E}">
        <p14:creationId xmlns:p14="http://schemas.microsoft.com/office/powerpoint/2010/main" val="27112580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21E69-C89C-6F9C-6269-70E266B4778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8CD44C2-D7B4-C532-72BE-9D862E96B6AE}"/>
              </a:ext>
            </a:extLst>
          </p:cNvPr>
          <p:cNvSpPr>
            <a:spLocks noGrp="1"/>
          </p:cNvSpPr>
          <p:nvPr>
            <p:ph type="dt" sz="half" idx="10"/>
          </p:nvPr>
        </p:nvSpPr>
        <p:spPr/>
        <p:txBody>
          <a:bodyPr/>
          <a:lstStyle/>
          <a:p>
            <a:fld id="{F1021615-25B8-4CA9-8FED-3B61822F10C1}" type="datetime1">
              <a:rPr lang="en-US" smtClean="0"/>
              <a:t>3/11/2024</a:t>
            </a:fld>
            <a:endParaRPr lang="en-US"/>
          </a:p>
        </p:txBody>
      </p:sp>
      <p:sp>
        <p:nvSpPr>
          <p:cNvPr id="6" name="Slide Number Placeholder 5">
            <a:extLst>
              <a:ext uri="{FF2B5EF4-FFF2-40B4-BE49-F238E27FC236}">
                <a16:creationId xmlns:a16="http://schemas.microsoft.com/office/drawing/2014/main" id="{EB26D3AF-347E-7D0B-A6EC-A1B5DB899063}"/>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7" name="Title 1">
            <a:extLst>
              <a:ext uri="{FF2B5EF4-FFF2-40B4-BE49-F238E27FC236}">
                <a16:creationId xmlns:a16="http://schemas.microsoft.com/office/drawing/2014/main" id="{A7481E31-F47B-21DB-291B-AF9A50825DC4}"/>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INTRODUCTION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C20EF1F6-91AD-8921-E6EF-4F64A7A4BDD7}"/>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C86AC749-65A3-B975-0441-6B504EE5B126}"/>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17411" name="Content Placeholder 2">
            <a:extLst>
              <a:ext uri="{FF2B5EF4-FFF2-40B4-BE49-F238E27FC236}">
                <a16:creationId xmlns:a16="http://schemas.microsoft.com/office/drawing/2014/main" id="{6F84DC08-E5EB-08D3-4DA9-8D4FCA9B7BB7}"/>
              </a:ext>
            </a:extLst>
          </p:cNvPr>
          <p:cNvSpPr>
            <a:spLocks noGrp="1"/>
          </p:cNvSpPr>
          <p:nvPr>
            <p:ph idx="1"/>
          </p:nvPr>
        </p:nvSpPr>
        <p:spPr>
          <a:xfrm>
            <a:off x="152400" y="917573"/>
            <a:ext cx="8839200" cy="5638800"/>
          </a:xfrm>
        </p:spPr>
        <p:txBody>
          <a:bodyPr>
            <a:normAutofit lnSpcReduction="10000"/>
          </a:bodyPr>
          <a:lstStyle/>
          <a:p>
            <a:pPr marL="0" indent="0" algn="just">
              <a:buNone/>
            </a:pPr>
            <a:r>
              <a:rPr lang="en-US" altLang="en-US" sz="2400" b="1" dirty="0">
                <a:solidFill>
                  <a:srgbClr val="FFC000"/>
                </a:solidFill>
              </a:rPr>
              <a:t>The ideas and techniques of statistical process control are based on the following six principles. </a:t>
            </a:r>
            <a:endParaRPr lang="en-US" altLang="en-US" sz="2400" b="1" dirty="0">
              <a:solidFill>
                <a:srgbClr val="0070C0"/>
              </a:solidFill>
            </a:endParaRPr>
          </a:p>
          <a:p>
            <a:pPr marL="457200" indent="-457200" algn="just">
              <a:buFont typeface="Calibri" panose="020F0502020204030204" pitchFamily="34" charset="0"/>
              <a:buAutoNum type="arabicPeriod"/>
            </a:pPr>
            <a:r>
              <a:rPr lang="en-US" altLang="en-US" sz="2400" b="1" dirty="0">
                <a:solidFill>
                  <a:srgbClr val="0070C0"/>
                </a:solidFill>
              </a:rPr>
              <a:t>No two things are exactly alike( </a:t>
            </a:r>
            <a:r>
              <a:rPr lang="en-US" altLang="en-US" sz="2400" b="1" dirty="0" err="1">
                <a:solidFill>
                  <a:srgbClr val="0070C0"/>
                </a:solidFill>
              </a:rPr>
              <a:t>ie</a:t>
            </a:r>
            <a:r>
              <a:rPr lang="en-US" altLang="en-US" sz="2400" b="1" dirty="0">
                <a:solidFill>
                  <a:srgbClr val="0070C0"/>
                </a:solidFill>
              </a:rPr>
              <a:t>. Variability is inherent in all production processes.</a:t>
            </a:r>
          </a:p>
          <a:p>
            <a:pPr marL="457200" indent="-457200" algn="just">
              <a:buFont typeface="Calibri" panose="020F0502020204030204" pitchFamily="34" charset="0"/>
              <a:buAutoNum type="arabicPeriod"/>
            </a:pPr>
            <a:r>
              <a:rPr lang="en-US" altLang="en-US" sz="2400" b="1" dirty="0">
                <a:solidFill>
                  <a:srgbClr val="0070C0"/>
                </a:solidFill>
              </a:rPr>
              <a:t>Variation in a product or process can be measured.</a:t>
            </a:r>
          </a:p>
          <a:p>
            <a:pPr marL="457200" indent="-457200" algn="just">
              <a:buFont typeface="Calibri" panose="020F0502020204030204" pitchFamily="34" charset="0"/>
              <a:buAutoNum type="arabicPeriod"/>
            </a:pPr>
            <a:r>
              <a:rPr lang="en-US" altLang="en-US" sz="2400" b="1" dirty="0">
                <a:solidFill>
                  <a:srgbClr val="0070C0"/>
                </a:solidFill>
              </a:rPr>
              <a:t>Things vary according to a definite pattern</a:t>
            </a:r>
          </a:p>
          <a:p>
            <a:pPr marL="457200" indent="-457200" algn="just">
              <a:buFont typeface="Calibri" panose="020F0502020204030204" pitchFamily="34" charset="0"/>
              <a:buAutoNum type="arabicPeriod"/>
            </a:pPr>
            <a:r>
              <a:rPr lang="en-US" altLang="en-US" sz="2400" b="1" dirty="0">
                <a:solidFill>
                  <a:srgbClr val="0070C0"/>
                </a:solidFill>
              </a:rPr>
              <a:t>Whenever things of the same kind are measured, a large group of the measurements cluster around the middle ( normal curve assumption)</a:t>
            </a:r>
          </a:p>
          <a:p>
            <a:pPr marL="457200" indent="-457200" algn="just">
              <a:buFont typeface="Calibri" panose="020F0502020204030204" pitchFamily="34" charset="0"/>
              <a:buAutoNum type="arabicPeriod"/>
            </a:pPr>
            <a:r>
              <a:rPr lang="en-US" altLang="en-US" sz="2400" b="1" dirty="0">
                <a:solidFill>
                  <a:srgbClr val="0070C0"/>
                </a:solidFill>
              </a:rPr>
              <a:t>It is possible to determine the shape of the distribution curve for products manufactured by any process.</a:t>
            </a:r>
          </a:p>
          <a:p>
            <a:pPr marL="457200" indent="-457200" algn="just">
              <a:buFont typeface="Calibri" panose="020F0502020204030204" pitchFamily="34" charset="0"/>
              <a:buAutoNum type="arabicPeriod"/>
            </a:pPr>
            <a:r>
              <a:rPr lang="en-US" altLang="en-US" sz="2400" b="1" dirty="0">
                <a:solidFill>
                  <a:srgbClr val="0070C0"/>
                </a:solidFill>
              </a:rPr>
              <a:t>Variation due to assignable causes tend to distort the normal distribution curve. </a:t>
            </a:r>
          </a:p>
          <a:p>
            <a:pPr marL="457200" indent="-457200" algn="just">
              <a:buFont typeface="Arial" panose="020B0604020202020204" pitchFamily="34" charset="0"/>
              <a:buNone/>
            </a:pPr>
            <a:r>
              <a:rPr lang="en-US" altLang="en-US" sz="1900" b="1" dirty="0">
                <a:solidFill>
                  <a:srgbClr val="FF0000"/>
                </a:solidFill>
                <a:latin typeface="Arial Black" panose="020B0A04020102020204" pitchFamily="34" charset="0"/>
              </a:rPr>
              <a:t>Statistical methods give us a way to </a:t>
            </a:r>
            <a:r>
              <a:rPr lang="en-US" altLang="en-US" sz="1900" b="1" dirty="0" err="1">
                <a:solidFill>
                  <a:srgbClr val="FF0000"/>
                </a:solidFill>
                <a:latin typeface="Arial Black" panose="020B0A04020102020204" pitchFamily="34" charset="0"/>
              </a:rPr>
              <a:t>picturise</a:t>
            </a:r>
            <a:r>
              <a:rPr lang="en-US" altLang="en-US" sz="1900" b="1" dirty="0">
                <a:solidFill>
                  <a:srgbClr val="FF0000"/>
                </a:solidFill>
                <a:latin typeface="Arial Black" panose="020B0A04020102020204" pitchFamily="34" charset="0"/>
              </a:rPr>
              <a:t> and control quality through use of Histograms and Control charts</a:t>
            </a:r>
          </a:p>
        </p:txBody>
      </p:sp>
    </p:spTree>
    <p:extLst>
      <p:ext uri="{BB962C8B-B14F-4D97-AF65-F5344CB8AC3E}">
        <p14:creationId xmlns:p14="http://schemas.microsoft.com/office/powerpoint/2010/main" val="7538951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F5CB8-CFDB-20D4-43C7-0DCD382105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ABFC9E-A238-D911-07B7-998D0FEEC536}"/>
              </a:ext>
            </a:extLst>
          </p:cNvPr>
          <p:cNvSpPr>
            <a:spLocks noGrp="1"/>
          </p:cNvSpPr>
          <p:nvPr>
            <p:ph idx="1"/>
          </p:nvPr>
        </p:nvSpPr>
        <p:spPr>
          <a:xfrm>
            <a:off x="533400" y="1143000"/>
            <a:ext cx="8229600" cy="4525963"/>
          </a:xfrm>
          <a:prstGeom prst="rect">
            <a:avLst/>
          </a:prstGeom>
        </p:spPr>
        <p:txBody>
          <a:bodyPr>
            <a:normAutofit/>
          </a:bodyPr>
          <a:lstStyle/>
          <a:p>
            <a:pPr marL="0" indent="0" algn="justLow">
              <a:buNone/>
            </a:pPr>
            <a:r>
              <a:rPr lang="en-GB" sz="2400" b="1" i="0" dirty="0">
                <a:solidFill>
                  <a:srgbClr val="404041"/>
                </a:solidFill>
                <a:effectLst/>
              </a:rPr>
              <a:t> </a:t>
            </a:r>
            <a:endParaRPr lang="en-US" dirty="0"/>
          </a:p>
        </p:txBody>
      </p:sp>
      <p:sp>
        <p:nvSpPr>
          <p:cNvPr id="4" name="Date Placeholder 3">
            <a:extLst>
              <a:ext uri="{FF2B5EF4-FFF2-40B4-BE49-F238E27FC236}">
                <a16:creationId xmlns:a16="http://schemas.microsoft.com/office/drawing/2014/main" id="{120364B1-C436-4C30-3F8E-6DA0835CC730}"/>
              </a:ext>
            </a:extLst>
          </p:cNvPr>
          <p:cNvSpPr>
            <a:spLocks noGrp="1"/>
          </p:cNvSpPr>
          <p:nvPr>
            <p:ph type="dt" sz="half" idx="10"/>
          </p:nvPr>
        </p:nvSpPr>
        <p:spPr/>
        <p:txBody>
          <a:bodyPr/>
          <a:lstStyle/>
          <a:p>
            <a:fld id="{40AAAFA3-F458-4517-98B8-2B674DC600A2}" type="datetime1">
              <a:rPr lang="en-US" smtClean="0"/>
              <a:t>3/11/2024</a:t>
            </a:fld>
            <a:endParaRPr lang="en-US"/>
          </a:p>
        </p:txBody>
      </p:sp>
      <p:sp>
        <p:nvSpPr>
          <p:cNvPr id="2" name="Footer Placeholder 1">
            <a:extLst>
              <a:ext uri="{FF2B5EF4-FFF2-40B4-BE49-F238E27FC236}">
                <a16:creationId xmlns:a16="http://schemas.microsoft.com/office/drawing/2014/main" id="{E35777EA-88DD-0E2D-78DC-CF02B2E35823}"/>
              </a:ext>
            </a:extLst>
          </p:cNvPr>
          <p:cNvSpPr>
            <a:spLocks noGrp="1"/>
          </p:cNvSpPr>
          <p:nvPr>
            <p:ph type="ftr" sz="quarter" idx="11"/>
          </p:nvPr>
        </p:nvSpPr>
        <p:spPr/>
        <p:txBody>
          <a:bodyPr/>
          <a:lstStyle/>
          <a:p>
            <a:r>
              <a:rPr lang="en-US"/>
              <a:t>Dheeraj     TQM           Unit4</a:t>
            </a:r>
            <a:endParaRPr lang="en-US" dirty="0"/>
          </a:p>
        </p:txBody>
      </p:sp>
      <p:sp>
        <p:nvSpPr>
          <p:cNvPr id="7" name="Title 1">
            <a:extLst>
              <a:ext uri="{FF2B5EF4-FFF2-40B4-BE49-F238E27FC236}">
                <a16:creationId xmlns:a16="http://schemas.microsoft.com/office/drawing/2014/main" id="{F012F482-301C-DD40-BBDE-540B026BC90D}"/>
              </a:ext>
            </a:extLst>
          </p:cNvPr>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GB" sz="3000" b="1" dirty="0">
                <a:latin typeface="Times New Roman" panose="02020603050405020304" pitchFamily="18" charset="0"/>
                <a:cs typeface="Times New Roman" panose="02020603050405020304" pitchFamily="18" charset="0"/>
              </a:rPr>
              <a:t>Topic Objective/Topic Outcome</a:t>
            </a:r>
            <a:endParaRPr lang="en-US" sz="3000" b="1"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C72B798-C2B2-7D30-1FEA-E8A7B53BB2C3}"/>
              </a:ext>
            </a:extLst>
          </p:cNvPr>
          <p:cNvGraphicFramePr>
            <a:graphicFrameLocks noGrp="1"/>
          </p:cNvGraphicFramePr>
          <p:nvPr>
            <p:extLst>
              <p:ext uri="{D42A27DB-BD31-4B8C-83A1-F6EECF244321}">
                <p14:modId xmlns:p14="http://schemas.microsoft.com/office/powerpoint/2010/main" val="1945402381"/>
              </p:ext>
            </p:extLst>
          </p:nvPr>
        </p:nvGraphicFramePr>
        <p:xfrm>
          <a:off x="723900" y="1414477"/>
          <a:ext cx="7746332" cy="3081020"/>
        </p:xfrm>
        <a:graphic>
          <a:graphicData uri="http://schemas.openxmlformats.org/drawingml/2006/table">
            <a:tbl>
              <a:tblPr firstRow="1" bandRow="1">
                <a:tableStyleId>{5C22544A-7EE6-4342-B048-85BDC9FD1C3A}</a:tableStyleId>
              </a:tblPr>
              <a:tblGrid>
                <a:gridCol w="3376322">
                  <a:extLst>
                    <a:ext uri="{9D8B030D-6E8A-4147-A177-3AD203B41FA5}">
                      <a16:colId xmlns:a16="http://schemas.microsoft.com/office/drawing/2014/main" val="20000"/>
                    </a:ext>
                  </a:extLst>
                </a:gridCol>
                <a:gridCol w="3376322">
                  <a:extLst>
                    <a:ext uri="{9D8B030D-6E8A-4147-A177-3AD203B41FA5}">
                      <a16:colId xmlns:a16="http://schemas.microsoft.com/office/drawing/2014/main" val="20002"/>
                    </a:ext>
                  </a:extLst>
                </a:gridCol>
                <a:gridCol w="993688">
                  <a:extLst>
                    <a:ext uri="{9D8B030D-6E8A-4147-A177-3AD203B41FA5}">
                      <a16:colId xmlns:a16="http://schemas.microsoft.com/office/drawing/2014/main" val="20001"/>
                    </a:ext>
                  </a:extLst>
                </a:gridCol>
              </a:tblGrid>
              <a:tr h="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latin typeface="Times New Roman" panose="02020603050405020304" pitchFamily="18" charset="0"/>
                          <a:cs typeface="Times New Roman" panose="02020603050405020304" pitchFamily="18" charset="0"/>
                        </a:rPr>
                        <a:t>Topic  Objective</a:t>
                      </a:r>
                    </a:p>
                    <a:p>
                      <a:endParaRPr lang="en-US" sz="2200" dirty="0">
                        <a:latin typeface="Times New Roman" panose="02020603050405020304" pitchFamily="18" charset="0"/>
                        <a:cs typeface="Times New Roman" panose="02020603050405020304" pitchFamily="18" charset="0"/>
                      </a:endParaRPr>
                    </a:p>
                  </a:txBody>
                  <a:tcPr/>
                </a:tc>
                <a:tc>
                  <a:txBody>
                    <a:bodyPr/>
                    <a:lstStyle/>
                    <a:p>
                      <a:r>
                        <a:rPr lang="en-US" sz="2200" dirty="0">
                          <a:latin typeface="Times New Roman" panose="02020603050405020304" pitchFamily="18" charset="0"/>
                          <a:cs typeface="Times New Roman" panose="02020603050405020304" pitchFamily="18" charset="0"/>
                        </a:rPr>
                        <a:t>Topic outcome</a:t>
                      </a:r>
                    </a:p>
                  </a:txBody>
                  <a:tcPr/>
                </a:tc>
                <a:tc>
                  <a:txBody>
                    <a:bodyPr/>
                    <a:lstStyle/>
                    <a:p>
                      <a:r>
                        <a:rPr lang="en-US" sz="2200" dirty="0">
                          <a:latin typeface="Times New Roman" panose="02020603050405020304" pitchFamily="18" charset="0"/>
                          <a:cs typeface="Times New Roman" panose="02020603050405020304" pitchFamily="18" charset="0"/>
                        </a:rPr>
                        <a:t>Mapping</a:t>
                      </a:r>
                      <a:r>
                        <a:rPr lang="en-US" sz="2200" baseline="0" dirty="0">
                          <a:latin typeface="Times New Roman" panose="02020603050405020304" pitchFamily="18" charset="0"/>
                          <a:cs typeface="Times New Roman" panose="02020603050405020304" pitchFamily="18" charset="0"/>
                        </a:rPr>
                        <a:t> with CO</a:t>
                      </a:r>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pPr algn="just">
                        <a:lnSpc>
                          <a:spcPct val="200000"/>
                        </a:lnSpc>
                        <a:buFont typeface="Wingdings" panose="05000000000000000000" pitchFamily="2" charset="2"/>
                        <a:buNone/>
                      </a:pPr>
                      <a:r>
                        <a:rPr lang="en-US" sz="2000" b="0" i="0" dirty="0">
                          <a:effectLst/>
                          <a:latin typeface="Roboto" panose="02000000000000000000" pitchFamily="2" charset="0"/>
                        </a:rPr>
                        <a:t>Introduction to Quality function deployment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anose="02020603050405020304" pitchFamily="18" charset="0"/>
                          <a:cs typeface="Times New Roman" panose="02020603050405020304" pitchFamily="18" charset="0"/>
                        </a:rPr>
                        <a:t>Student are</a:t>
                      </a:r>
                      <a:r>
                        <a:rPr lang="en-US" sz="2200" baseline="0" dirty="0">
                          <a:latin typeface="Times New Roman" panose="02020603050405020304" pitchFamily="18" charset="0"/>
                          <a:cs typeface="Times New Roman" panose="02020603050405020304" pitchFamily="18" charset="0"/>
                        </a:rPr>
                        <a:t> able to</a:t>
                      </a:r>
                      <a:r>
                        <a:rPr lang="en-US" sz="2200" dirty="0">
                          <a:latin typeface="Times New Roman" panose="02020603050405020304" pitchFamily="18" charset="0"/>
                          <a:cs typeface="Times New Roman" panose="02020603050405020304" pitchFamily="18" charset="0"/>
                        </a:rPr>
                        <a:t> understand basic</a:t>
                      </a:r>
                      <a:r>
                        <a:rPr lang="en-US" sz="2200" baseline="0" dirty="0">
                          <a:latin typeface="Times New Roman" panose="02020603050405020304" pitchFamily="18" charset="0"/>
                          <a:cs typeface="Times New Roman" panose="02020603050405020304" pitchFamily="18" charset="0"/>
                        </a:rPr>
                        <a:t> of </a:t>
                      </a:r>
                      <a:r>
                        <a:rPr lang="en-US" sz="2200" dirty="0">
                          <a:latin typeface="Times New Roman" pitchFamily="18" charset="0"/>
                          <a:cs typeface="Times New Roman" pitchFamily="18" charset="0"/>
                        </a:rPr>
                        <a:t>QFD</a:t>
                      </a:r>
                    </a:p>
                  </a:txBody>
                  <a:tcPr/>
                </a:tc>
                <a:tc>
                  <a:txBody>
                    <a:bodyPr/>
                    <a:lstStyle/>
                    <a:p>
                      <a:r>
                        <a:rPr lang="en-US" sz="2200" dirty="0">
                          <a:latin typeface="Times New Roman" panose="02020603050405020304" pitchFamily="18" charset="0"/>
                          <a:cs typeface="Times New Roman" panose="02020603050405020304" pitchFamily="18" charset="0"/>
                        </a:rPr>
                        <a:t>CO4</a:t>
                      </a:r>
                    </a:p>
                  </a:txBody>
                  <a:tcPr/>
                </a:tc>
                <a:extLst>
                  <a:ext uri="{0D108BD9-81ED-4DB2-BD59-A6C34878D82A}">
                    <a16:rowId xmlns:a16="http://schemas.microsoft.com/office/drawing/2014/main" val="10001"/>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2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2200" dirty="0">
                        <a:latin typeface="Times New Roman" panose="02020603050405020304" pitchFamily="18" charset="0"/>
                        <a:cs typeface="Times New Roman" panose="02020603050405020304" pitchFamily="18" charset="0"/>
                      </a:endParaRPr>
                    </a:p>
                  </a:txBody>
                  <a:tcPr/>
                </a:tc>
                <a:tc>
                  <a:txBody>
                    <a:bodyPr/>
                    <a:lstStyle/>
                    <a:p>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6" name="Slide Number Placeholder 5">
            <a:extLst>
              <a:ext uri="{FF2B5EF4-FFF2-40B4-BE49-F238E27FC236}">
                <a16:creationId xmlns:a16="http://schemas.microsoft.com/office/drawing/2014/main" id="{41C223C1-54E2-6D60-B953-31D603B0D2FD}"/>
              </a:ext>
            </a:extLst>
          </p:cNvPr>
          <p:cNvSpPr>
            <a:spLocks noGrp="1"/>
          </p:cNvSpPr>
          <p:nvPr>
            <p:ph type="sldNum" sz="quarter" idx="12"/>
          </p:nvPr>
        </p:nvSpPr>
        <p:spPr/>
        <p:txBody>
          <a:bodyPr/>
          <a:lstStyle/>
          <a:p>
            <a:fld id="{B6F15528-21DE-4FAA-801E-634DDDAF4B2B}" type="slidenum">
              <a:rPr lang="en-US" smtClean="0"/>
              <a:pPr/>
              <a:t>27</a:t>
            </a:fld>
            <a:endParaRPr lang="en-US"/>
          </a:p>
        </p:txBody>
      </p:sp>
      <p:pic>
        <p:nvPicPr>
          <p:cNvPr id="8" name="Picture 7">
            <a:extLst>
              <a:ext uri="{FF2B5EF4-FFF2-40B4-BE49-F238E27FC236}">
                <a16:creationId xmlns:a16="http://schemas.microsoft.com/office/drawing/2014/main" id="{25A93B5E-32B5-000E-89EB-22F376C3B559}"/>
              </a:ext>
            </a:extLst>
          </p:cNvPr>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40690442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A62B6-8E62-5A0B-8E5B-42E796EB0B2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2C92162-481E-97DF-932A-D26D8352B176}"/>
              </a:ext>
            </a:extLst>
          </p:cNvPr>
          <p:cNvSpPr>
            <a:spLocks noGrp="1"/>
          </p:cNvSpPr>
          <p:nvPr>
            <p:ph type="dt" sz="half" idx="10"/>
          </p:nvPr>
        </p:nvSpPr>
        <p:spPr/>
        <p:txBody>
          <a:bodyPr/>
          <a:lstStyle/>
          <a:p>
            <a:fld id="{7BC4D512-4EDF-4AC0-BBE9-695BFDF9B418}" type="datetime1">
              <a:rPr lang="en-US" smtClean="0"/>
              <a:t>3/11/2024</a:t>
            </a:fld>
            <a:endParaRPr lang="en-US"/>
          </a:p>
        </p:txBody>
      </p:sp>
      <p:sp>
        <p:nvSpPr>
          <p:cNvPr id="6" name="Slide Number Placeholder 5">
            <a:extLst>
              <a:ext uri="{FF2B5EF4-FFF2-40B4-BE49-F238E27FC236}">
                <a16:creationId xmlns:a16="http://schemas.microsoft.com/office/drawing/2014/main" id="{0E1AB463-BE95-A784-8DD8-F257B0EEF45E}"/>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7" name="Title 1">
            <a:extLst>
              <a:ext uri="{FF2B5EF4-FFF2-40B4-BE49-F238E27FC236}">
                <a16:creationId xmlns:a16="http://schemas.microsoft.com/office/drawing/2014/main" id="{27D29743-70A8-703B-9296-C92B617EAB3C}"/>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INTRODUCTION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A56151C9-0507-6D64-1C97-124C79E1A8B8}"/>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FC70B4B0-44B5-1FDE-E79F-6A162EDFECF8}"/>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31747" name="Rectangle 3">
            <a:extLst>
              <a:ext uri="{FF2B5EF4-FFF2-40B4-BE49-F238E27FC236}">
                <a16:creationId xmlns:a16="http://schemas.microsoft.com/office/drawing/2014/main" id="{24CEBA7D-BE08-71C2-F724-87CD699BCB4A}"/>
              </a:ext>
            </a:extLst>
          </p:cNvPr>
          <p:cNvSpPr>
            <a:spLocks noGrp="1" noChangeArrowheads="1"/>
          </p:cNvSpPr>
          <p:nvPr>
            <p:ph idx="1"/>
          </p:nvPr>
        </p:nvSpPr>
        <p:spPr>
          <a:xfrm>
            <a:off x="381000" y="1071887"/>
            <a:ext cx="8610600" cy="5137150"/>
          </a:xfrm>
        </p:spPr>
        <p:txBody>
          <a:bodyPr>
            <a:normAutofit/>
          </a:bodyPr>
          <a:lstStyle/>
          <a:p>
            <a:pPr>
              <a:lnSpc>
                <a:spcPct val="90000"/>
              </a:lnSpc>
            </a:pPr>
            <a:r>
              <a:rPr lang="en-US" altLang="en-US" sz="2200" dirty="0">
                <a:latin typeface="Times" panose="02020603050405020304" pitchFamily="18" charset="0"/>
              </a:rPr>
              <a:t>Quality function deployment was first developed in Japan in the Kobe Shipyards in 1970.</a:t>
            </a:r>
          </a:p>
          <a:p>
            <a:pPr>
              <a:lnSpc>
                <a:spcPct val="90000"/>
              </a:lnSpc>
            </a:pPr>
            <a:endParaRPr lang="en-US" altLang="en-US" sz="2200" dirty="0">
              <a:latin typeface="Times" panose="02020603050405020304" pitchFamily="18" charset="0"/>
            </a:endParaRPr>
          </a:p>
          <a:p>
            <a:pPr>
              <a:lnSpc>
                <a:spcPct val="90000"/>
              </a:lnSpc>
            </a:pPr>
            <a:r>
              <a:rPr lang="en-US" altLang="en-US" sz="2200" dirty="0">
                <a:latin typeface="Times" panose="02020603050405020304" pitchFamily="18" charset="0"/>
              </a:rPr>
              <a:t>Today more than 10,000 companies in America and West Europe are utilizing the techniques of QFD. </a:t>
            </a:r>
          </a:p>
          <a:p>
            <a:pPr lvl="1">
              <a:lnSpc>
                <a:spcPct val="90000"/>
              </a:lnSpc>
            </a:pPr>
            <a:r>
              <a:rPr lang="en-US" altLang="en-US" sz="2200" dirty="0">
                <a:latin typeface="Times" panose="02020603050405020304" pitchFamily="18" charset="0"/>
              </a:rPr>
              <a:t>Automotive industry the furthest in implementation of QFD</a:t>
            </a:r>
          </a:p>
          <a:p>
            <a:pPr marL="0" indent="0">
              <a:buNone/>
            </a:pPr>
            <a:endParaRPr lang="en-US" altLang="en-US" sz="2200" dirty="0">
              <a:latin typeface="Times" panose="02020603050405020304" pitchFamily="18" charset="0"/>
            </a:endParaRPr>
          </a:p>
          <a:p>
            <a:r>
              <a:rPr lang="en-US" altLang="en-US" sz="2200" dirty="0">
                <a:latin typeface="Times" panose="02020603050405020304" pitchFamily="18" charset="0"/>
              </a:rPr>
              <a:t>QFD is an analytical process which provides an approach to deploying the voice of the customer through all aspects of the product development process.</a:t>
            </a:r>
          </a:p>
          <a:p>
            <a:r>
              <a:rPr lang="en-US" altLang="en-US" sz="2200" dirty="0">
                <a:latin typeface="Times" panose="02020603050405020304" pitchFamily="18" charset="0"/>
              </a:rPr>
              <a:t>It is a planning tool used to fulfill customer expectations.</a:t>
            </a:r>
          </a:p>
          <a:p>
            <a:endParaRPr lang="en-US" altLang="en-US" sz="2200" dirty="0">
              <a:latin typeface="Times" panose="02020603050405020304" pitchFamily="18" charset="0"/>
            </a:endParaRPr>
          </a:p>
          <a:p>
            <a:r>
              <a:rPr lang="en-US" altLang="en-US" sz="2200" dirty="0">
                <a:latin typeface="Times" panose="02020603050405020304" pitchFamily="18" charset="0"/>
              </a:rPr>
              <a:t>A disciplined approach to product design, engineering, and production and provides in-depth evaluation of a product.</a:t>
            </a:r>
          </a:p>
          <a:p>
            <a:endParaRPr lang="en-US" altLang="en-US" sz="2200" dirty="0">
              <a:latin typeface="Times" panose="02020603050405020304" pitchFamily="18" charset="0"/>
            </a:endParaRPr>
          </a:p>
          <a:p>
            <a:pPr>
              <a:lnSpc>
                <a:spcPct val="90000"/>
              </a:lnSpc>
            </a:pPr>
            <a:endParaRPr lang="en-US" altLang="en-US" sz="2200" dirty="0">
              <a:latin typeface="Times" panose="02020603050405020304" pitchFamily="18" charset="0"/>
            </a:endParaRPr>
          </a:p>
          <a:p>
            <a:pPr marL="342900" lvl="1" indent="0">
              <a:lnSpc>
                <a:spcPct val="90000"/>
              </a:lnSpc>
              <a:buNone/>
            </a:pPr>
            <a:endParaRPr lang="en-US" altLang="en-US" sz="2200" dirty="0">
              <a:latin typeface="Times" panose="02020603050405020304" pitchFamily="18" charset="0"/>
            </a:endParaRPr>
          </a:p>
          <a:p>
            <a:pPr marL="342900" lvl="1" indent="0">
              <a:lnSpc>
                <a:spcPct val="90000"/>
              </a:lnSpc>
              <a:buNone/>
            </a:pPr>
            <a:endParaRPr lang="en-US" altLang="en-US" sz="2200" dirty="0">
              <a:latin typeface="Times" panose="02020603050405020304" pitchFamily="18" charset="0"/>
            </a:endParaRPr>
          </a:p>
        </p:txBody>
      </p:sp>
    </p:spTree>
    <p:extLst>
      <p:ext uri="{BB962C8B-B14F-4D97-AF65-F5344CB8AC3E}">
        <p14:creationId xmlns:p14="http://schemas.microsoft.com/office/powerpoint/2010/main" val="2770308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27362-1B11-60D8-20AC-3F5362E2ECD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9028D7E-5872-9572-5A9E-06A5A441C817}"/>
              </a:ext>
            </a:extLst>
          </p:cNvPr>
          <p:cNvSpPr>
            <a:spLocks noGrp="1"/>
          </p:cNvSpPr>
          <p:nvPr>
            <p:ph type="dt" sz="half" idx="10"/>
          </p:nvPr>
        </p:nvSpPr>
        <p:spPr/>
        <p:txBody>
          <a:bodyPr/>
          <a:lstStyle/>
          <a:p>
            <a:fld id="{B36CB64F-FCEA-45D6-9246-C9AE00CCEA0C}" type="datetime1">
              <a:rPr lang="en-US" smtClean="0"/>
              <a:t>3/11/2024</a:t>
            </a:fld>
            <a:endParaRPr lang="en-US"/>
          </a:p>
        </p:txBody>
      </p:sp>
      <p:sp>
        <p:nvSpPr>
          <p:cNvPr id="6" name="Slide Number Placeholder 5">
            <a:extLst>
              <a:ext uri="{FF2B5EF4-FFF2-40B4-BE49-F238E27FC236}">
                <a16:creationId xmlns:a16="http://schemas.microsoft.com/office/drawing/2014/main" id="{55CE5590-D1F2-6151-FCA7-633F4C8705DA}"/>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7" name="Title 1">
            <a:extLst>
              <a:ext uri="{FF2B5EF4-FFF2-40B4-BE49-F238E27FC236}">
                <a16:creationId xmlns:a16="http://schemas.microsoft.com/office/drawing/2014/main" id="{7C3959B5-14BE-3D5D-A603-0BE9134029FE}"/>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INTRODUCTION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17B08C06-FCD7-91BC-1D1E-2E0CEBC942F5}"/>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4AFDC4D5-4526-0A89-76A9-12197BDE3D65}"/>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36867" name="Rectangle 3">
            <a:extLst>
              <a:ext uri="{FF2B5EF4-FFF2-40B4-BE49-F238E27FC236}">
                <a16:creationId xmlns:a16="http://schemas.microsoft.com/office/drawing/2014/main" id="{84744E0B-037D-09A9-EE16-6F94F7E4619D}"/>
              </a:ext>
            </a:extLst>
          </p:cNvPr>
          <p:cNvSpPr>
            <a:spLocks noGrp="1" noChangeArrowheads="1"/>
          </p:cNvSpPr>
          <p:nvPr>
            <p:ph idx="1"/>
          </p:nvPr>
        </p:nvSpPr>
        <p:spPr>
          <a:xfrm>
            <a:off x="152400" y="1011540"/>
            <a:ext cx="8839200" cy="5181615"/>
          </a:xfrm>
        </p:spPr>
        <p:txBody>
          <a:bodyPr>
            <a:noAutofit/>
          </a:bodyPr>
          <a:lstStyle/>
          <a:p>
            <a:pPr algn="just"/>
            <a:r>
              <a:rPr lang="en-US" altLang="en-US" sz="2000" dirty="0">
                <a:latin typeface="Times New Roman" panose="02020603050405020304" pitchFamily="18" charset="0"/>
              </a:rPr>
              <a:t>Using QFD for new product development always involves a cross-functional team with the skills necessary  for designing the product, writing engineering specifications, purchasing materials, and planning the tooling and production work.</a:t>
            </a:r>
          </a:p>
          <a:p>
            <a:pPr algn="just"/>
            <a:r>
              <a:rPr lang="en-US" altLang="en-US" sz="2000" dirty="0">
                <a:latin typeface="Times" panose="02020603050405020304" pitchFamily="18" charset="0"/>
              </a:rPr>
              <a:t>The efforts of these teams eliminate rework and typically reduce development time by as much as 50%.</a:t>
            </a:r>
          </a:p>
          <a:p>
            <a:pPr algn="just"/>
            <a:r>
              <a:rPr lang="en-US" altLang="en-US" sz="2000" dirty="0">
                <a:latin typeface="Times" panose="02020603050405020304" pitchFamily="18" charset="0"/>
              </a:rPr>
              <a:t>QFD helps identify new quality technology and job functions to carry out operations.</a:t>
            </a:r>
          </a:p>
          <a:p>
            <a:pPr algn="just"/>
            <a:r>
              <a:rPr lang="en-US" altLang="en-US" sz="2000" dirty="0">
                <a:latin typeface="Times" panose="02020603050405020304" pitchFamily="18" charset="0"/>
              </a:rPr>
              <a:t>This tool provides a historic reference to enhance future technology and prevent design errors.</a:t>
            </a:r>
          </a:p>
          <a:p>
            <a:pPr algn="just"/>
            <a:r>
              <a:rPr lang="en-US" altLang="en-US" sz="2000" dirty="0">
                <a:latin typeface="Times" panose="02020603050405020304" pitchFamily="18" charset="0"/>
              </a:rPr>
              <a:t>QFD is basically a set of graphically oriented planning matrices that are used as the basis for decisions affecting any phase of the product development cycle.</a:t>
            </a:r>
          </a:p>
          <a:p>
            <a:pPr algn="just"/>
            <a:r>
              <a:rPr lang="en-US" altLang="en-US" sz="2000" dirty="0">
                <a:latin typeface="Times" panose="02020603050405020304" pitchFamily="18" charset="0"/>
              </a:rPr>
              <a:t>QFD results are measured based on the number design and engineering changes, time to market, cost and quality.</a:t>
            </a:r>
          </a:p>
          <a:p>
            <a:pPr algn="just"/>
            <a:r>
              <a:rPr lang="en-US" altLang="en-US" sz="2000" dirty="0">
                <a:latin typeface="Times" panose="02020603050405020304" pitchFamily="18" charset="0"/>
              </a:rPr>
              <a:t>QFD enables the design phase to concentrate on customer requirements, spending less time on redesign and modifications.</a:t>
            </a:r>
          </a:p>
          <a:p>
            <a:pPr marL="0" indent="0" algn="just">
              <a:buNone/>
            </a:pPr>
            <a:endParaRPr lang="en-US" altLang="en-US" sz="2000" dirty="0">
              <a:latin typeface="Times" panose="02020603050405020304" pitchFamily="18" charset="0"/>
            </a:endParaRPr>
          </a:p>
          <a:p>
            <a:pPr marL="0" indent="0" algn="just">
              <a:buNone/>
            </a:pPr>
            <a:endParaRPr lang="en-US" altLang="en-US" sz="2000" dirty="0">
              <a:latin typeface="Times" panose="02020603050405020304" pitchFamily="18" charset="0"/>
            </a:endParaRPr>
          </a:p>
          <a:p>
            <a:pPr algn="just"/>
            <a:endParaRPr lang="en-US" altLang="en-US" sz="2000" dirty="0">
              <a:latin typeface="Times New Roman" panose="02020603050405020304" pitchFamily="18" charset="0"/>
            </a:endParaRPr>
          </a:p>
        </p:txBody>
      </p:sp>
    </p:spTree>
    <p:extLst>
      <p:ext uri="{BB962C8B-B14F-4D97-AF65-F5344CB8AC3E}">
        <p14:creationId xmlns:p14="http://schemas.microsoft.com/office/powerpoint/2010/main" val="17821676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6E423-1965-DE5D-1392-0050D518087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BC336DC-CDCF-C996-44BC-5577DC774361}"/>
              </a:ext>
            </a:extLst>
          </p:cNvPr>
          <p:cNvSpPr>
            <a:spLocks noGrp="1"/>
          </p:cNvSpPr>
          <p:nvPr>
            <p:ph type="dt" sz="half" idx="10"/>
          </p:nvPr>
        </p:nvSpPr>
        <p:spPr/>
        <p:txBody>
          <a:bodyPr/>
          <a:lstStyle/>
          <a:p>
            <a:fld id="{D3C1C3B0-772D-4D22-BB00-5C4FF744D4C5}" type="datetime1">
              <a:rPr lang="en-US" smtClean="0"/>
              <a:t>3/11/2024</a:t>
            </a:fld>
            <a:endParaRPr lang="en-US"/>
          </a:p>
        </p:txBody>
      </p:sp>
      <p:sp>
        <p:nvSpPr>
          <p:cNvPr id="6" name="Slide Number Placeholder 5">
            <a:extLst>
              <a:ext uri="{FF2B5EF4-FFF2-40B4-BE49-F238E27FC236}">
                <a16:creationId xmlns:a16="http://schemas.microsoft.com/office/drawing/2014/main" id="{B7BD4831-206F-1041-8C01-CAB32EE4BD64}"/>
              </a:ext>
            </a:extLst>
          </p:cNvPr>
          <p:cNvSpPr>
            <a:spLocks noGrp="1"/>
          </p:cNvSpPr>
          <p:nvPr>
            <p:ph type="sldNum" sz="quarter" idx="12"/>
          </p:nvPr>
        </p:nvSpPr>
        <p:spPr/>
        <p:txBody>
          <a:bodyPr/>
          <a:lstStyle/>
          <a:p>
            <a:fld id="{B6F15528-21DE-4FAA-801E-634DDDAF4B2B}" type="slidenum">
              <a:rPr lang="en-US" smtClean="0"/>
              <a:pPr/>
              <a:t>30</a:t>
            </a:fld>
            <a:endParaRPr lang="en-US"/>
          </a:p>
        </p:txBody>
      </p:sp>
      <p:sp>
        <p:nvSpPr>
          <p:cNvPr id="7" name="Title 1">
            <a:extLst>
              <a:ext uri="{FF2B5EF4-FFF2-40B4-BE49-F238E27FC236}">
                <a16:creationId xmlns:a16="http://schemas.microsoft.com/office/drawing/2014/main" id="{4A5B1852-3B94-1C54-9B90-624E9CBA609C}"/>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QFD TEAMS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EFD43283-229E-7227-14B1-01BDA14ABE80}"/>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6B9998AF-78E6-C5DF-D8BA-915183AB158B}"/>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41987" name="Rectangle 3">
            <a:extLst>
              <a:ext uri="{FF2B5EF4-FFF2-40B4-BE49-F238E27FC236}">
                <a16:creationId xmlns:a16="http://schemas.microsoft.com/office/drawing/2014/main" id="{D7BFCDBC-9C1C-F24A-1E40-E411E4543A51}"/>
              </a:ext>
            </a:extLst>
          </p:cNvPr>
          <p:cNvSpPr>
            <a:spLocks noGrp="1" noChangeArrowheads="1"/>
          </p:cNvSpPr>
          <p:nvPr>
            <p:ph idx="1"/>
          </p:nvPr>
        </p:nvSpPr>
        <p:spPr>
          <a:xfrm>
            <a:off x="381000" y="1030627"/>
            <a:ext cx="8610600" cy="5217787"/>
          </a:xfrm>
        </p:spPr>
        <p:txBody>
          <a:bodyPr>
            <a:noAutofit/>
          </a:bodyPr>
          <a:lstStyle/>
          <a:p>
            <a:pPr marL="0" indent="0">
              <a:lnSpc>
                <a:spcPct val="90000"/>
              </a:lnSpc>
              <a:spcBef>
                <a:spcPts val="0"/>
              </a:spcBef>
              <a:buNone/>
            </a:pPr>
            <a:r>
              <a:rPr lang="en-US" altLang="en-US" sz="2200" b="1" dirty="0">
                <a:latin typeface="Times New Roman" panose="02020603050405020304" pitchFamily="18" charset="0"/>
                <a:cs typeface="Times New Roman" panose="02020603050405020304" pitchFamily="18" charset="0"/>
              </a:rPr>
              <a:t>TYPES OF TEAMS</a:t>
            </a:r>
          </a:p>
          <a:p>
            <a:pPr>
              <a:lnSpc>
                <a:spcPct val="90000"/>
              </a:lnSpc>
              <a:spcBef>
                <a:spcPts val="0"/>
              </a:spcBef>
            </a:pPr>
            <a:r>
              <a:rPr lang="en-US" altLang="en-US" sz="2200" dirty="0">
                <a:latin typeface="Times New Roman" panose="02020603050405020304" pitchFamily="18" charset="0"/>
                <a:cs typeface="Times New Roman" panose="02020603050405020304" pitchFamily="18" charset="0"/>
              </a:rPr>
              <a:t>A.  New product.</a:t>
            </a:r>
          </a:p>
          <a:p>
            <a:pPr>
              <a:lnSpc>
                <a:spcPct val="90000"/>
              </a:lnSpc>
              <a:spcBef>
                <a:spcPts val="0"/>
              </a:spcBef>
            </a:pPr>
            <a:r>
              <a:rPr lang="en-US" altLang="en-US" sz="2200" dirty="0">
                <a:latin typeface="Times New Roman" panose="02020603050405020304" pitchFamily="18" charset="0"/>
                <a:cs typeface="Times New Roman" panose="02020603050405020304" pitchFamily="18" charset="0"/>
              </a:rPr>
              <a:t>B.  Improving an existing product.</a:t>
            </a:r>
          </a:p>
          <a:p>
            <a:pPr lvl="1">
              <a:lnSpc>
                <a:spcPct val="90000"/>
              </a:lnSpc>
              <a:spcBef>
                <a:spcPts val="0"/>
              </a:spcBef>
            </a:pPr>
            <a:r>
              <a:rPr lang="en-US" altLang="en-US" sz="2200" i="1" dirty="0">
                <a:latin typeface="Times New Roman" panose="02020603050405020304" pitchFamily="18" charset="0"/>
                <a:cs typeface="Times New Roman" panose="02020603050405020304" pitchFamily="18" charset="0"/>
              </a:rPr>
              <a:t>Teams consist of members from marketing, design, quality, finance and production.</a:t>
            </a:r>
          </a:p>
          <a:p>
            <a:pPr marL="342900" lvl="1" indent="0">
              <a:lnSpc>
                <a:spcPct val="90000"/>
              </a:lnSpc>
              <a:spcBef>
                <a:spcPts val="0"/>
              </a:spcBef>
              <a:buNone/>
            </a:pPr>
            <a:endParaRPr lang="en-US" altLang="en-US" sz="2200" i="1" dirty="0">
              <a:latin typeface="Times New Roman" panose="02020603050405020304" pitchFamily="18" charset="0"/>
              <a:cs typeface="Times New Roman" panose="02020603050405020304" pitchFamily="18" charset="0"/>
            </a:endParaRPr>
          </a:p>
          <a:p>
            <a:pPr marL="342900" lvl="1" indent="0">
              <a:lnSpc>
                <a:spcPct val="90000"/>
              </a:lnSpc>
              <a:spcBef>
                <a:spcPts val="0"/>
              </a:spcBef>
              <a:buNone/>
            </a:pPr>
            <a:endParaRPr lang="en-US" altLang="en-US" sz="2200" i="1" dirty="0">
              <a:latin typeface="Times New Roman" panose="02020603050405020304" pitchFamily="18" charset="0"/>
              <a:cs typeface="Times New Roman" panose="02020603050405020304" pitchFamily="18" charset="0"/>
            </a:endParaRPr>
          </a:p>
          <a:p>
            <a:pPr marL="0" indent="0">
              <a:lnSpc>
                <a:spcPct val="90000"/>
              </a:lnSpc>
              <a:spcBef>
                <a:spcPts val="0"/>
              </a:spcBef>
              <a:buNone/>
            </a:pPr>
            <a:r>
              <a:rPr lang="en-US" altLang="en-US" sz="2200" b="1" dirty="0">
                <a:latin typeface="Times New Roman" panose="02020603050405020304" pitchFamily="18" charset="0"/>
                <a:cs typeface="Times New Roman" panose="02020603050405020304" pitchFamily="18" charset="0"/>
              </a:rPr>
              <a:t>TEAM MEETINGS</a:t>
            </a:r>
          </a:p>
          <a:p>
            <a:pPr>
              <a:lnSpc>
                <a:spcPct val="90000"/>
              </a:lnSpc>
              <a:spcBef>
                <a:spcPts val="0"/>
              </a:spcBef>
            </a:pPr>
            <a:r>
              <a:rPr lang="en-US" altLang="en-US" sz="2200" dirty="0">
                <a:latin typeface="Times New Roman" panose="02020603050405020304" pitchFamily="18" charset="0"/>
                <a:cs typeface="Times New Roman" panose="02020603050405020304" pitchFamily="18" charset="0"/>
              </a:rPr>
              <a:t>A.  The project manager and team members need to commit a significant amount of time, especially in the early stages.</a:t>
            </a:r>
          </a:p>
          <a:p>
            <a:pPr>
              <a:lnSpc>
                <a:spcPct val="90000"/>
              </a:lnSpc>
              <a:spcBef>
                <a:spcPts val="0"/>
              </a:spcBef>
            </a:pPr>
            <a:endParaRPr lang="en-US" altLang="en-US" sz="2200" dirty="0">
              <a:latin typeface="Times New Roman" panose="02020603050405020304" pitchFamily="18" charset="0"/>
              <a:cs typeface="Times New Roman" panose="02020603050405020304" pitchFamily="18" charset="0"/>
            </a:endParaRPr>
          </a:p>
          <a:p>
            <a:pPr>
              <a:lnSpc>
                <a:spcPct val="90000"/>
              </a:lnSpc>
              <a:spcBef>
                <a:spcPts val="0"/>
              </a:spcBef>
            </a:pPr>
            <a:r>
              <a:rPr lang="en-US" altLang="en-US" sz="2200" dirty="0">
                <a:latin typeface="Times New Roman" panose="02020603050405020304" pitchFamily="18" charset="0"/>
                <a:cs typeface="Times New Roman" panose="02020603050405020304" pitchFamily="18" charset="0"/>
              </a:rPr>
              <a:t>B.  Priorities and the scope of the project need to be clearly defined and told to all departments within the organization so time can be budgeted appropriately.</a:t>
            </a:r>
          </a:p>
          <a:p>
            <a:pPr>
              <a:lnSpc>
                <a:spcPct val="90000"/>
              </a:lnSpc>
              <a:spcBef>
                <a:spcPts val="0"/>
              </a:spcBef>
            </a:pPr>
            <a:endParaRPr lang="en-US" altLang="en-US" sz="2200" dirty="0">
              <a:latin typeface="Times New Roman" panose="02020603050405020304" pitchFamily="18" charset="0"/>
              <a:cs typeface="Times New Roman" panose="02020603050405020304" pitchFamily="18" charset="0"/>
            </a:endParaRPr>
          </a:p>
          <a:p>
            <a:pPr>
              <a:lnSpc>
                <a:spcPct val="90000"/>
              </a:lnSpc>
              <a:spcBef>
                <a:spcPts val="0"/>
              </a:spcBef>
            </a:pPr>
            <a:r>
              <a:rPr lang="en-US" altLang="en-US" sz="2200" dirty="0">
                <a:latin typeface="Times New Roman" panose="02020603050405020304" pitchFamily="18" charset="0"/>
                <a:cs typeface="Times New Roman" panose="02020603050405020304" pitchFamily="18" charset="0"/>
              </a:rPr>
              <a:t>C.   Duration of meetings vary depending on where team’s members are coming from and what needs to be accomplished. </a:t>
            </a:r>
          </a:p>
          <a:p>
            <a:pPr lvl="1">
              <a:lnSpc>
                <a:spcPct val="90000"/>
              </a:lnSpc>
              <a:spcBef>
                <a:spcPts val="0"/>
              </a:spcBef>
            </a:pPr>
            <a:endParaRPr lang="en-US" altLang="en-US" sz="2200" dirty="0">
              <a:latin typeface="Times New Roman" panose="02020603050405020304" pitchFamily="18" charset="0"/>
              <a:cs typeface="Times New Roman" panose="02020603050405020304" pitchFamily="18" charset="0"/>
            </a:endParaRPr>
          </a:p>
          <a:p>
            <a:pPr>
              <a:lnSpc>
                <a:spcPct val="90000"/>
              </a:lnSpc>
              <a:spcBef>
                <a:spcPts val="0"/>
              </a:spcBef>
            </a:pPr>
            <a:endParaRPr lang="en-US" alt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19224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F4D28-3970-1A1B-4B63-B06C3D9953B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5C3E56A-59CE-A298-C7C5-415E33D38B2E}"/>
              </a:ext>
            </a:extLst>
          </p:cNvPr>
          <p:cNvSpPr>
            <a:spLocks noGrp="1"/>
          </p:cNvSpPr>
          <p:nvPr>
            <p:ph type="dt" sz="half" idx="10"/>
          </p:nvPr>
        </p:nvSpPr>
        <p:spPr/>
        <p:txBody>
          <a:bodyPr/>
          <a:lstStyle/>
          <a:p>
            <a:fld id="{C879A7E7-C092-4765-A07A-27843CA72118}" type="datetime1">
              <a:rPr lang="en-US" smtClean="0"/>
              <a:t>3/11/2024</a:t>
            </a:fld>
            <a:endParaRPr lang="en-US"/>
          </a:p>
        </p:txBody>
      </p:sp>
      <p:sp>
        <p:nvSpPr>
          <p:cNvPr id="6" name="Slide Number Placeholder 5">
            <a:extLst>
              <a:ext uri="{FF2B5EF4-FFF2-40B4-BE49-F238E27FC236}">
                <a16:creationId xmlns:a16="http://schemas.microsoft.com/office/drawing/2014/main" id="{4006DEC3-9512-A368-0054-C926B7A2FDBC}"/>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7" name="Title 1">
            <a:extLst>
              <a:ext uri="{FF2B5EF4-FFF2-40B4-BE49-F238E27FC236}">
                <a16:creationId xmlns:a16="http://schemas.microsoft.com/office/drawing/2014/main" id="{11762CAE-1EFF-A4BB-92C2-85C3669B68D7}"/>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THE VOICE OF CUSTOMER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EB6667A5-1E0A-37FA-53C5-AD63DE9E1AD0}"/>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CED210BD-FDE8-2A79-430F-A726A3C3F0CF}"/>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46083" name="Rectangle 3">
            <a:extLst>
              <a:ext uri="{FF2B5EF4-FFF2-40B4-BE49-F238E27FC236}">
                <a16:creationId xmlns:a16="http://schemas.microsoft.com/office/drawing/2014/main" id="{202AC077-D0D0-D495-2DF7-643C7CDB2E30}"/>
              </a:ext>
            </a:extLst>
          </p:cNvPr>
          <p:cNvSpPr>
            <a:spLocks noGrp="1" noChangeArrowheads="1"/>
          </p:cNvSpPr>
          <p:nvPr>
            <p:ph idx="1"/>
          </p:nvPr>
        </p:nvSpPr>
        <p:spPr>
          <a:xfrm>
            <a:off x="533400" y="1190648"/>
            <a:ext cx="8305800" cy="5165702"/>
          </a:xfrm>
        </p:spPr>
        <p:txBody>
          <a:bodyPr>
            <a:normAutofit/>
          </a:bodyPr>
          <a:lstStyle/>
          <a:p>
            <a:pPr>
              <a:buFont typeface="Wingdings" panose="05000000000000000000" pitchFamily="2" charset="2"/>
              <a:buNone/>
            </a:pPr>
            <a:r>
              <a:rPr lang="en-US" altLang="en-US" sz="2200" i="1" dirty="0">
                <a:latin typeface="Times" panose="02020603050405020304" pitchFamily="18" charset="0"/>
                <a:cs typeface="Times New Roman" panose="02020603050405020304" pitchFamily="18" charset="0"/>
              </a:rPr>
              <a:t>QFD begins with marketing to find out what exactly the customer wants from a product.</a:t>
            </a:r>
          </a:p>
          <a:p>
            <a:pPr>
              <a:buFont typeface="Wingdings" panose="05000000000000000000" pitchFamily="2" charset="2"/>
              <a:buNone/>
            </a:pPr>
            <a:endParaRPr lang="en-US" altLang="en-US" sz="2200" i="1" dirty="0">
              <a:latin typeface="Times" panose="02020603050405020304" pitchFamily="18" charset="0"/>
              <a:cs typeface="Times New Roman" panose="02020603050405020304" pitchFamily="18" charset="0"/>
            </a:endParaRPr>
          </a:p>
          <a:p>
            <a:pPr>
              <a:buNone/>
            </a:pPr>
            <a:r>
              <a:rPr lang="en-US" altLang="en-US" sz="2200" b="1" dirty="0">
                <a:effectLst>
                  <a:outerShdw blurRad="38100" dist="38100" dir="2700000" algn="tl">
                    <a:srgbClr val="000000"/>
                  </a:outerShdw>
                </a:effectLst>
                <a:latin typeface="Times" panose="02020603050405020304" pitchFamily="18" charset="0"/>
                <a:cs typeface="Times New Roman" panose="02020603050405020304" pitchFamily="18" charset="0"/>
              </a:rPr>
              <a:t>Sources for Determining Customer Expectations</a:t>
            </a:r>
            <a:r>
              <a:rPr lang="en-US" altLang="en-US" sz="2200" dirty="0"/>
              <a:t> </a:t>
            </a:r>
            <a:endParaRPr lang="en-US" altLang="en-US" sz="2200" dirty="0">
              <a:latin typeface="Times" panose="02020603050405020304" pitchFamily="18" charset="0"/>
              <a:cs typeface="Times New Roman" panose="02020603050405020304" pitchFamily="18" charset="0"/>
            </a:endParaRPr>
          </a:p>
          <a:p>
            <a:pPr>
              <a:lnSpc>
                <a:spcPct val="90000"/>
              </a:lnSpc>
              <a:buFont typeface="Wingdings" panose="05000000000000000000" pitchFamily="2" charset="2"/>
              <a:buNone/>
            </a:pPr>
            <a:r>
              <a:rPr lang="en-US" altLang="en-US" sz="2200" dirty="0">
                <a:latin typeface="Times" panose="02020603050405020304" pitchFamily="18" charset="0"/>
                <a:cs typeface="Times New Roman" panose="02020603050405020304" pitchFamily="18" charset="0"/>
              </a:rPr>
              <a:t>1.  Focus Groups</a:t>
            </a:r>
          </a:p>
          <a:p>
            <a:pPr>
              <a:lnSpc>
                <a:spcPct val="90000"/>
              </a:lnSpc>
              <a:buFont typeface="Wingdings" panose="05000000000000000000" pitchFamily="2" charset="2"/>
              <a:buNone/>
            </a:pPr>
            <a:r>
              <a:rPr lang="en-US" altLang="en-US" sz="2200" dirty="0">
                <a:latin typeface="Times" panose="02020603050405020304" pitchFamily="18" charset="0"/>
                <a:cs typeface="Times New Roman" panose="02020603050405020304" pitchFamily="18" charset="0"/>
              </a:rPr>
              <a:t>2.  Surveys</a:t>
            </a:r>
          </a:p>
          <a:p>
            <a:pPr>
              <a:lnSpc>
                <a:spcPct val="90000"/>
              </a:lnSpc>
              <a:buFont typeface="Wingdings" panose="05000000000000000000" pitchFamily="2" charset="2"/>
              <a:buNone/>
            </a:pPr>
            <a:r>
              <a:rPr lang="en-US" altLang="en-US" sz="2200" dirty="0">
                <a:latin typeface="Times" panose="02020603050405020304" pitchFamily="18" charset="0"/>
                <a:cs typeface="Times New Roman" panose="02020603050405020304" pitchFamily="18" charset="0"/>
              </a:rPr>
              <a:t>3.  Complaints</a:t>
            </a:r>
          </a:p>
          <a:p>
            <a:pPr>
              <a:lnSpc>
                <a:spcPct val="90000"/>
              </a:lnSpc>
              <a:buFont typeface="Wingdings" panose="05000000000000000000" pitchFamily="2" charset="2"/>
              <a:buNone/>
            </a:pPr>
            <a:r>
              <a:rPr lang="en-US" altLang="en-US" sz="2200" dirty="0">
                <a:latin typeface="Times" panose="02020603050405020304" pitchFamily="18" charset="0"/>
                <a:cs typeface="Times New Roman" panose="02020603050405020304" pitchFamily="18" charset="0"/>
              </a:rPr>
              <a:t>4.  Consultants</a:t>
            </a:r>
          </a:p>
          <a:p>
            <a:pPr>
              <a:lnSpc>
                <a:spcPct val="90000"/>
              </a:lnSpc>
              <a:buFont typeface="Wingdings" panose="05000000000000000000" pitchFamily="2" charset="2"/>
              <a:buNone/>
            </a:pPr>
            <a:r>
              <a:rPr lang="en-US" altLang="en-US" sz="2200" dirty="0">
                <a:latin typeface="Times" panose="02020603050405020304" pitchFamily="18" charset="0"/>
                <a:cs typeface="Times New Roman" panose="02020603050405020304" pitchFamily="18" charset="0"/>
              </a:rPr>
              <a:t>5.  Standards</a:t>
            </a:r>
          </a:p>
          <a:p>
            <a:pPr>
              <a:lnSpc>
                <a:spcPct val="90000"/>
              </a:lnSpc>
              <a:buFont typeface="Wingdings" panose="05000000000000000000" pitchFamily="2" charset="2"/>
              <a:buNone/>
            </a:pPr>
            <a:r>
              <a:rPr lang="en-US" altLang="en-US" sz="2200" dirty="0">
                <a:latin typeface="Times" panose="02020603050405020304" pitchFamily="18" charset="0"/>
                <a:cs typeface="Times New Roman" panose="02020603050405020304" pitchFamily="18" charset="0"/>
              </a:rPr>
              <a:t>6.  Federal Regulations</a:t>
            </a:r>
            <a:r>
              <a:rPr lang="en-US" altLang="en-US" sz="2200" dirty="0">
                <a:latin typeface="Times" panose="02020603050405020304" pitchFamily="18" charset="0"/>
              </a:rPr>
              <a:t> </a:t>
            </a:r>
          </a:p>
          <a:p>
            <a:pPr>
              <a:buFont typeface="Wingdings" panose="05000000000000000000" pitchFamily="2" charset="2"/>
              <a:buNone/>
            </a:pPr>
            <a:endParaRPr lang="en-US" altLang="en-US" sz="2200" dirty="0"/>
          </a:p>
        </p:txBody>
      </p:sp>
    </p:spTree>
    <p:extLst>
      <p:ext uri="{BB962C8B-B14F-4D97-AF65-F5344CB8AC3E}">
        <p14:creationId xmlns:p14="http://schemas.microsoft.com/office/powerpoint/2010/main" val="22930202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F2EA9-D8FC-56F3-B02E-A56A96F88DB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999F3C8-F5AC-271B-0EB0-3B13535F09C0}"/>
              </a:ext>
            </a:extLst>
          </p:cNvPr>
          <p:cNvSpPr>
            <a:spLocks noGrp="1"/>
          </p:cNvSpPr>
          <p:nvPr>
            <p:ph type="dt" sz="half" idx="10"/>
          </p:nvPr>
        </p:nvSpPr>
        <p:spPr/>
        <p:txBody>
          <a:bodyPr/>
          <a:lstStyle/>
          <a:p>
            <a:fld id="{3B72D2D4-1D7B-4E49-82FF-C0AD0CCF0EF2}" type="datetime1">
              <a:rPr lang="en-US" smtClean="0"/>
              <a:t>3/11/2024</a:t>
            </a:fld>
            <a:endParaRPr lang="en-US"/>
          </a:p>
        </p:txBody>
      </p:sp>
      <p:sp>
        <p:nvSpPr>
          <p:cNvPr id="6" name="Slide Number Placeholder 5">
            <a:extLst>
              <a:ext uri="{FF2B5EF4-FFF2-40B4-BE49-F238E27FC236}">
                <a16:creationId xmlns:a16="http://schemas.microsoft.com/office/drawing/2014/main" id="{3175156C-C6DF-4131-6B45-C42306F2E702}"/>
              </a:ext>
            </a:extLst>
          </p:cNvPr>
          <p:cNvSpPr>
            <a:spLocks noGrp="1"/>
          </p:cNvSpPr>
          <p:nvPr>
            <p:ph type="sldNum" sz="quarter" idx="12"/>
          </p:nvPr>
        </p:nvSpPr>
        <p:spPr/>
        <p:txBody>
          <a:bodyPr/>
          <a:lstStyle/>
          <a:p>
            <a:fld id="{B6F15528-21DE-4FAA-801E-634DDDAF4B2B}" type="slidenum">
              <a:rPr lang="en-US" smtClean="0"/>
              <a:pPr/>
              <a:t>32</a:t>
            </a:fld>
            <a:endParaRPr lang="en-US"/>
          </a:p>
        </p:txBody>
      </p:sp>
      <p:sp>
        <p:nvSpPr>
          <p:cNvPr id="7" name="Title 1">
            <a:extLst>
              <a:ext uri="{FF2B5EF4-FFF2-40B4-BE49-F238E27FC236}">
                <a16:creationId xmlns:a16="http://schemas.microsoft.com/office/drawing/2014/main" id="{B4888BB2-6813-D6DF-0F28-D78576B6F0E6}"/>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THE VOICE OF CUSTOMER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21BA19EC-41E9-3446-ED39-4C0C6241783B}"/>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B74ED726-B545-257D-FBBD-BAFB3F1B0364}"/>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48131" name="Rectangle 3">
            <a:extLst>
              <a:ext uri="{FF2B5EF4-FFF2-40B4-BE49-F238E27FC236}">
                <a16:creationId xmlns:a16="http://schemas.microsoft.com/office/drawing/2014/main" id="{11CCD886-EF42-83A4-5471-E2CCC36DB325}"/>
              </a:ext>
            </a:extLst>
          </p:cNvPr>
          <p:cNvSpPr>
            <a:spLocks noGrp="1" noChangeArrowheads="1"/>
          </p:cNvSpPr>
          <p:nvPr>
            <p:ph idx="1"/>
          </p:nvPr>
        </p:nvSpPr>
        <p:spPr>
          <a:xfrm>
            <a:off x="426720" y="1066799"/>
            <a:ext cx="8412480" cy="5181615"/>
          </a:xfrm>
        </p:spPr>
        <p:txBody>
          <a:bodyPr>
            <a:normAutofit fontScale="77500" lnSpcReduction="20000"/>
          </a:bodyPr>
          <a:lstStyle/>
          <a:p>
            <a:pPr>
              <a:buFont typeface="Wingdings" panose="05000000000000000000" pitchFamily="2" charset="2"/>
              <a:buNone/>
            </a:pPr>
            <a:r>
              <a:rPr lang="en-US" altLang="en-US" sz="3200" b="1" dirty="0">
                <a:effectLst>
                  <a:outerShdw blurRad="38100" dist="38100" dir="2700000" algn="tl">
                    <a:srgbClr val="000000"/>
                  </a:outerShdw>
                </a:effectLst>
                <a:latin typeface="Times" panose="02020603050405020304" pitchFamily="18" charset="0"/>
                <a:cs typeface="Times New Roman" panose="02020603050405020304" pitchFamily="18" charset="0"/>
              </a:rPr>
              <a:t>The QFD Team Must Continually Ask:</a:t>
            </a:r>
            <a:r>
              <a:rPr lang="en-US" altLang="en-US" sz="4400" dirty="0"/>
              <a:t> </a:t>
            </a:r>
            <a:endParaRPr lang="en-US" altLang="en-US" sz="3000" dirty="0">
              <a:latin typeface="Times" panose="02020603050405020304" pitchFamily="18" charset="0"/>
              <a:cs typeface="Times New Roman" panose="02020603050405020304" pitchFamily="18" charset="0"/>
            </a:endParaRPr>
          </a:p>
          <a:p>
            <a:pPr>
              <a:buFont typeface="Wingdings" panose="05000000000000000000" pitchFamily="2" charset="2"/>
              <a:buNone/>
            </a:pPr>
            <a:r>
              <a:rPr lang="en-US" altLang="en-US" sz="3000" dirty="0">
                <a:latin typeface="Times" panose="02020603050405020304" pitchFamily="18" charset="0"/>
                <a:cs typeface="Times New Roman" panose="02020603050405020304" pitchFamily="18" charset="0"/>
              </a:rPr>
              <a:t>1.  What does the customer really want?</a:t>
            </a:r>
          </a:p>
          <a:p>
            <a:pPr>
              <a:buFont typeface="Wingdings" panose="05000000000000000000" pitchFamily="2" charset="2"/>
              <a:buNone/>
            </a:pPr>
            <a:r>
              <a:rPr lang="en-US" altLang="en-US" sz="3000" dirty="0">
                <a:latin typeface="Times" panose="02020603050405020304" pitchFamily="18" charset="0"/>
                <a:cs typeface="Times New Roman" panose="02020603050405020304" pitchFamily="18" charset="0"/>
              </a:rPr>
              <a:t>2.  What are the customer’s expectations?</a:t>
            </a:r>
          </a:p>
          <a:p>
            <a:pPr>
              <a:buFont typeface="Wingdings" panose="05000000000000000000" pitchFamily="2" charset="2"/>
              <a:buNone/>
            </a:pPr>
            <a:r>
              <a:rPr lang="en-US" altLang="en-US" sz="3000" dirty="0">
                <a:latin typeface="Times" panose="02020603050405020304" pitchFamily="18" charset="0"/>
                <a:cs typeface="Times New Roman" panose="02020603050405020304" pitchFamily="18" charset="0"/>
              </a:rPr>
              <a:t>3.  Are the customer’s expectations used to drive the design process?</a:t>
            </a:r>
          </a:p>
          <a:p>
            <a:pPr marL="514350" indent="-514350">
              <a:buFont typeface="Wingdings" panose="05000000000000000000" pitchFamily="2" charset="2"/>
              <a:buAutoNum type="arabicPeriod" startAt="4"/>
            </a:pPr>
            <a:r>
              <a:rPr lang="en-US" altLang="en-US" sz="3000" dirty="0">
                <a:latin typeface="Times" panose="02020603050405020304" pitchFamily="18" charset="0"/>
                <a:cs typeface="Times New Roman" panose="02020603050405020304" pitchFamily="18" charset="0"/>
              </a:rPr>
              <a:t>What can the design team do to achieve customer satisfaction?</a:t>
            </a:r>
          </a:p>
          <a:p>
            <a:pPr marL="514350" indent="-514350">
              <a:buFont typeface="Wingdings" panose="05000000000000000000" pitchFamily="2" charset="2"/>
              <a:buAutoNum type="arabicPeriod" startAt="4"/>
            </a:pPr>
            <a:endParaRPr lang="en-US" altLang="en-US" sz="3000" dirty="0">
              <a:latin typeface="Times" panose="02020603050405020304" pitchFamily="18" charset="0"/>
              <a:cs typeface="Times New Roman" panose="02020603050405020304" pitchFamily="18" charset="0"/>
            </a:endParaRPr>
          </a:p>
          <a:p>
            <a:pPr marL="0" indent="0">
              <a:lnSpc>
                <a:spcPct val="90000"/>
              </a:lnSpc>
              <a:buNone/>
            </a:pPr>
            <a:r>
              <a:rPr lang="en-US" altLang="en-US" sz="3200" b="1" dirty="0">
                <a:effectLst>
                  <a:outerShdw blurRad="38100" dist="38100" dir="2700000" algn="tl">
                    <a:srgbClr val="000000"/>
                  </a:outerShdw>
                </a:effectLst>
                <a:latin typeface="Times" panose="02020603050405020304" pitchFamily="18" charset="0"/>
                <a:cs typeface="Times New Roman" panose="02020603050405020304" pitchFamily="18" charset="0"/>
              </a:rPr>
              <a:t>Collecting the Data</a:t>
            </a:r>
            <a:r>
              <a:rPr lang="en-US" altLang="en-US" sz="4400" dirty="0">
                <a:cs typeface="Times New Roman" panose="02020603050405020304" pitchFamily="18" charset="0"/>
              </a:rPr>
              <a:t> </a:t>
            </a:r>
            <a:endParaRPr lang="en-US" altLang="en-US" sz="3200" dirty="0">
              <a:latin typeface="Times" panose="02020603050405020304" pitchFamily="18" charset="0"/>
              <a:cs typeface="Times New Roman" panose="02020603050405020304" pitchFamily="18" charset="0"/>
            </a:endParaRPr>
          </a:p>
          <a:p>
            <a:pPr>
              <a:lnSpc>
                <a:spcPct val="90000"/>
              </a:lnSpc>
            </a:pPr>
            <a:r>
              <a:rPr lang="en-US" altLang="en-US" sz="3200" dirty="0">
                <a:latin typeface="Times" panose="02020603050405020304" pitchFamily="18" charset="0"/>
                <a:cs typeface="Times New Roman" panose="02020603050405020304" pitchFamily="18" charset="0"/>
              </a:rPr>
              <a:t>Solicited </a:t>
            </a:r>
          </a:p>
          <a:p>
            <a:pPr>
              <a:lnSpc>
                <a:spcPct val="90000"/>
              </a:lnSpc>
            </a:pPr>
            <a:r>
              <a:rPr lang="en-US" altLang="en-US" sz="3200" dirty="0">
                <a:latin typeface="Times" panose="02020603050405020304" pitchFamily="18" charset="0"/>
                <a:cs typeface="Times New Roman" panose="02020603050405020304" pitchFamily="18" charset="0"/>
              </a:rPr>
              <a:t>Unsolicited</a:t>
            </a:r>
          </a:p>
          <a:p>
            <a:pPr>
              <a:lnSpc>
                <a:spcPct val="90000"/>
              </a:lnSpc>
            </a:pPr>
            <a:r>
              <a:rPr lang="en-US" altLang="en-US" sz="3200" dirty="0">
                <a:latin typeface="Times" panose="02020603050405020304" pitchFamily="18" charset="0"/>
                <a:cs typeface="Times New Roman" panose="02020603050405020304" pitchFamily="18" charset="0"/>
              </a:rPr>
              <a:t>Quantitative</a:t>
            </a:r>
          </a:p>
          <a:p>
            <a:pPr>
              <a:lnSpc>
                <a:spcPct val="90000"/>
              </a:lnSpc>
            </a:pPr>
            <a:r>
              <a:rPr lang="en-US" altLang="en-US" sz="3200" dirty="0">
                <a:latin typeface="Times" panose="02020603050405020304" pitchFamily="18" charset="0"/>
                <a:cs typeface="Times New Roman" panose="02020603050405020304" pitchFamily="18" charset="0"/>
              </a:rPr>
              <a:t>Qualitative</a:t>
            </a:r>
          </a:p>
          <a:p>
            <a:pPr>
              <a:lnSpc>
                <a:spcPct val="90000"/>
              </a:lnSpc>
            </a:pPr>
            <a:r>
              <a:rPr lang="en-US" altLang="en-US" sz="3200" dirty="0">
                <a:latin typeface="Times" panose="02020603050405020304" pitchFamily="18" charset="0"/>
                <a:cs typeface="Times New Roman" panose="02020603050405020304" pitchFamily="18" charset="0"/>
              </a:rPr>
              <a:t>Structured </a:t>
            </a:r>
          </a:p>
          <a:p>
            <a:pPr>
              <a:lnSpc>
                <a:spcPct val="90000"/>
              </a:lnSpc>
            </a:pPr>
            <a:r>
              <a:rPr lang="en-US" altLang="en-US" sz="3200" dirty="0">
                <a:latin typeface="Times" panose="02020603050405020304" pitchFamily="18" charset="0"/>
                <a:cs typeface="Times New Roman" panose="02020603050405020304" pitchFamily="18" charset="0"/>
              </a:rPr>
              <a:t>Random</a:t>
            </a:r>
            <a:r>
              <a:rPr lang="en-US" altLang="en-US" sz="3200" b="1" dirty="0">
                <a:latin typeface="Times" panose="02020603050405020304" pitchFamily="18" charset="0"/>
              </a:rPr>
              <a:t> </a:t>
            </a:r>
          </a:p>
          <a:p>
            <a:pPr marL="0" indent="0">
              <a:buNone/>
            </a:pPr>
            <a:endParaRPr lang="en-US" altLang="en-US" sz="3000" dirty="0">
              <a:latin typeface="Times" panose="02020603050405020304" pitchFamily="18" charset="0"/>
              <a:cs typeface="Times New Roman" panose="02020603050405020304" pitchFamily="18" charset="0"/>
            </a:endParaRPr>
          </a:p>
          <a:p>
            <a:endParaRPr lang="en-US" altLang="en-US" sz="3000" dirty="0">
              <a:latin typeface="Times" panose="02020603050405020304" pitchFamily="18" charset="0"/>
            </a:endParaRPr>
          </a:p>
          <a:p>
            <a:endParaRPr lang="en-US" altLang="en-US" sz="3000" dirty="0">
              <a:latin typeface="Times" panose="02020603050405020304" pitchFamily="18" charset="0"/>
            </a:endParaRPr>
          </a:p>
        </p:txBody>
      </p:sp>
    </p:spTree>
    <p:extLst>
      <p:ext uri="{BB962C8B-B14F-4D97-AF65-F5344CB8AC3E}">
        <p14:creationId xmlns:p14="http://schemas.microsoft.com/office/powerpoint/2010/main" val="8758195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B1002-D26C-CBAE-400D-2A863F3E40F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D89ECBE-7782-B790-B8EC-E50B68E93C83}"/>
              </a:ext>
            </a:extLst>
          </p:cNvPr>
          <p:cNvSpPr>
            <a:spLocks noGrp="1"/>
          </p:cNvSpPr>
          <p:nvPr>
            <p:ph type="dt" sz="half" idx="10"/>
          </p:nvPr>
        </p:nvSpPr>
        <p:spPr/>
        <p:txBody>
          <a:bodyPr/>
          <a:lstStyle/>
          <a:p>
            <a:fld id="{C1A28F54-8582-4132-87F9-5CF553071E9F}" type="datetime1">
              <a:rPr lang="en-US" smtClean="0"/>
              <a:t>3/11/2024</a:t>
            </a:fld>
            <a:endParaRPr lang="en-US"/>
          </a:p>
        </p:txBody>
      </p:sp>
      <p:sp>
        <p:nvSpPr>
          <p:cNvPr id="6" name="Slide Number Placeholder 5">
            <a:extLst>
              <a:ext uri="{FF2B5EF4-FFF2-40B4-BE49-F238E27FC236}">
                <a16:creationId xmlns:a16="http://schemas.microsoft.com/office/drawing/2014/main" id="{D182B638-1BD1-BCBC-C374-6B71AA59D8F6}"/>
              </a:ext>
            </a:extLst>
          </p:cNvPr>
          <p:cNvSpPr>
            <a:spLocks noGrp="1"/>
          </p:cNvSpPr>
          <p:nvPr>
            <p:ph type="sldNum" sz="quarter" idx="12"/>
          </p:nvPr>
        </p:nvSpPr>
        <p:spPr/>
        <p:txBody>
          <a:bodyPr/>
          <a:lstStyle/>
          <a:p>
            <a:fld id="{B6F15528-21DE-4FAA-801E-634DDDAF4B2B}" type="slidenum">
              <a:rPr lang="en-US" smtClean="0"/>
              <a:pPr/>
              <a:t>33</a:t>
            </a:fld>
            <a:endParaRPr lang="en-US"/>
          </a:p>
        </p:txBody>
      </p:sp>
      <p:sp>
        <p:nvSpPr>
          <p:cNvPr id="7" name="Title 1">
            <a:extLst>
              <a:ext uri="{FF2B5EF4-FFF2-40B4-BE49-F238E27FC236}">
                <a16:creationId xmlns:a16="http://schemas.microsoft.com/office/drawing/2014/main" id="{0BDAC6C8-F47A-36C7-E364-61D9F4B7C867}"/>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THE VOICE OF CUSTOMER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9D862BA2-E50E-5F54-0B0D-301AECA87EAB}"/>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F040D6A-2E07-BA64-157E-34AF544FAA08}"/>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5" name="Rectangle 3">
            <a:extLst>
              <a:ext uri="{FF2B5EF4-FFF2-40B4-BE49-F238E27FC236}">
                <a16:creationId xmlns:a16="http://schemas.microsoft.com/office/drawing/2014/main" id="{44219F0D-C0A5-67DC-F709-6EFD251D251E}"/>
              </a:ext>
            </a:extLst>
          </p:cNvPr>
          <p:cNvSpPr>
            <a:spLocks noGrp="1" noChangeArrowheads="1"/>
          </p:cNvSpPr>
          <p:nvPr>
            <p:ph idx="1"/>
          </p:nvPr>
        </p:nvSpPr>
        <p:spPr>
          <a:xfrm>
            <a:off x="381000" y="987409"/>
            <a:ext cx="8610600" cy="5261006"/>
          </a:xfrm>
        </p:spPr>
        <p:txBody>
          <a:bodyPr>
            <a:normAutofit/>
          </a:bodyPr>
          <a:lstStyle/>
          <a:p>
            <a:pPr>
              <a:buFont typeface="Wingdings" panose="05000000000000000000" pitchFamily="2" charset="2"/>
              <a:buNone/>
            </a:pPr>
            <a:r>
              <a:rPr lang="en-US" altLang="en-US" sz="2200" b="1" dirty="0">
                <a:effectLst>
                  <a:outerShdw blurRad="38100" dist="38100" dir="2700000" algn="tl">
                    <a:srgbClr val="000000"/>
                  </a:outerShdw>
                </a:effectLst>
                <a:latin typeface="Times" panose="02020603050405020304" pitchFamily="18" charset="0"/>
                <a:cs typeface="Times New Roman" panose="02020603050405020304" pitchFamily="18" charset="0"/>
              </a:rPr>
              <a:t>Organizing the Data</a:t>
            </a:r>
            <a:r>
              <a:rPr lang="en-US" altLang="en-US" sz="2200" dirty="0">
                <a:cs typeface="Times New Roman" panose="02020603050405020304" pitchFamily="18" charset="0"/>
              </a:rPr>
              <a:t>	</a:t>
            </a:r>
          </a:p>
          <a:p>
            <a:pPr>
              <a:buFont typeface="Wingdings" panose="05000000000000000000" pitchFamily="2" charset="2"/>
              <a:buNone/>
            </a:pPr>
            <a:r>
              <a:rPr lang="en-US" altLang="en-US" sz="2200" i="1" dirty="0">
                <a:latin typeface="Times" panose="02020603050405020304" pitchFamily="18" charset="0"/>
                <a:cs typeface="Times New Roman" panose="02020603050405020304" pitchFamily="18" charset="0"/>
              </a:rPr>
              <a:t>The Affinity Diagram gathers a large amount of data and organizes the data into groups based on natural interrelationships.</a:t>
            </a:r>
          </a:p>
          <a:p>
            <a:pPr>
              <a:spcBef>
                <a:spcPct val="50000"/>
              </a:spcBef>
            </a:pPr>
            <a:r>
              <a:rPr kumimoji="0" lang="en-US" altLang="en-US" sz="2200" i="1" dirty="0">
                <a:latin typeface="Times" panose="02020603050405020304" pitchFamily="18" charset="0"/>
                <a:cs typeface="Times New Roman" panose="02020603050405020304" pitchFamily="18" charset="0"/>
              </a:rPr>
              <a:t>The Affinity Diagram is ideally suited for most QFD </a:t>
            </a:r>
            <a:r>
              <a:rPr kumimoji="0" lang="en-US" altLang="en-US" sz="2200" i="1" dirty="0" err="1">
                <a:latin typeface="Times" panose="02020603050405020304" pitchFamily="18" charset="0"/>
                <a:cs typeface="Times New Roman" panose="02020603050405020304" pitchFamily="18" charset="0"/>
              </a:rPr>
              <a:t>applications;other</a:t>
            </a:r>
            <a:r>
              <a:rPr kumimoji="0" lang="en-US" altLang="en-US" sz="2200" i="1" dirty="0">
                <a:latin typeface="Times" panose="02020603050405020304" pitchFamily="18" charset="0"/>
                <a:cs typeface="Times New Roman" panose="02020603050405020304" pitchFamily="18" charset="0"/>
              </a:rPr>
              <a:t> data organizers include:  </a:t>
            </a:r>
          </a:p>
          <a:p>
            <a:pPr>
              <a:spcBef>
                <a:spcPct val="50000"/>
              </a:spcBef>
            </a:pPr>
            <a:r>
              <a:rPr kumimoji="0" lang="en-US" altLang="en-US" sz="2200" i="1" dirty="0">
                <a:latin typeface="Times" panose="02020603050405020304" pitchFamily="18" charset="0"/>
                <a:cs typeface="Times New Roman" panose="02020603050405020304" pitchFamily="18" charset="0"/>
              </a:rPr>
              <a:t>Interrelationship Diagrams, Tree Diagrams, Cause and Effect Diagram</a:t>
            </a:r>
          </a:p>
          <a:p>
            <a:pPr>
              <a:spcBef>
                <a:spcPct val="50000"/>
              </a:spcBef>
            </a:pPr>
            <a:endParaRPr kumimoji="0" lang="en-US" altLang="en-US" sz="2200" i="1" dirty="0">
              <a:latin typeface="Times" panose="02020603050405020304" pitchFamily="18" charset="0"/>
              <a:cs typeface="Times New Roman" panose="02020603050405020304" pitchFamily="18" charset="0"/>
            </a:endParaRPr>
          </a:p>
          <a:p>
            <a:pPr marL="533400" indent="-533400" eaLnBrk="0" hangingPunct="0">
              <a:lnSpc>
                <a:spcPct val="90000"/>
              </a:lnSpc>
              <a:spcBef>
                <a:spcPct val="0"/>
              </a:spcBef>
              <a:buClrTx/>
              <a:buSzTx/>
              <a:buFontTx/>
              <a:buNone/>
            </a:pPr>
            <a:r>
              <a:rPr lang="en-US" altLang="en-US" sz="2200" b="1" u="sng" dirty="0">
                <a:latin typeface="Times" panose="02020603050405020304" pitchFamily="18" charset="0"/>
              </a:rPr>
              <a:t>Reasons to implement :</a:t>
            </a:r>
          </a:p>
          <a:p>
            <a:pPr marL="533400" indent="-533400" eaLnBrk="0" hangingPunct="0">
              <a:lnSpc>
                <a:spcPct val="90000"/>
              </a:lnSpc>
              <a:spcBef>
                <a:spcPct val="0"/>
              </a:spcBef>
              <a:buClrTx/>
              <a:buSzTx/>
              <a:buFontTx/>
              <a:buAutoNum type="arabicPeriod"/>
            </a:pPr>
            <a:r>
              <a:rPr lang="en-US" altLang="en-US" sz="2200" dirty="0">
                <a:latin typeface="Times" panose="02020603050405020304" pitchFamily="18" charset="0"/>
              </a:rPr>
              <a:t>Thoughts are too widely dispersed or numerous to organize.</a:t>
            </a:r>
          </a:p>
          <a:p>
            <a:pPr marL="533400" indent="-533400" eaLnBrk="0" hangingPunct="0">
              <a:lnSpc>
                <a:spcPct val="90000"/>
              </a:lnSpc>
              <a:spcBef>
                <a:spcPct val="0"/>
              </a:spcBef>
              <a:buClrTx/>
              <a:buSzTx/>
              <a:buFontTx/>
              <a:buAutoNum type="arabicPeriod"/>
            </a:pPr>
            <a:endParaRPr lang="en-US" altLang="en-US" sz="2200" dirty="0">
              <a:latin typeface="Times" panose="02020603050405020304" pitchFamily="18" charset="0"/>
            </a:endParaRPr>
          </a:p>
          <a:p>
            <a:pPr marL="533400" indent="-533400" eaLnBrk="0" hangingPunct="0">
              <a:lnSpc>
                <a:spcPct val="90000"/>
              </a:lnSpc>
              <a:spcBef>
                <a:spcPct val="0"/>
              </a:spcBef>
              <a:buClrTx/>
              <a:buSzTx/>
              <a:buFontTx/>
              <a:buAutoNum type="arabicPeriod" startAt="2"/>
            </a:pPr>
            <a:r>
              <a:rPr lang="en-US" altLang="en-US" sz="2200" dirty="0">
                <a:latin typeface="Times" panose="02020603050405020304" pitchFamily="18" charset="0"/>
              </a:rPr>
              <a:t>New solutions are needed to circumvent the more traditional ways of                                               problem solving.</a:t>
            </a:r>
          </a:p>
          <a:p>
            <a:pPr marL="533400" indent="-533400" eaLnBrk="0" hangingPunct="0">
              <a:lnSpc>
                <a:spcPct val="90000"/>
              </a:lnSpc>
              <a:spcBef>
                <a:spcPct val="0"/>
              </a:spcBef>
              <a:buClrTx/>
              <a:buSzTx/>
              <a:buFontTx/>
              <a:buAutoNum type="arabicPeriod" startAt="2"/>
            </a:pPr>
            <a:endParaRPr lang="en-US" altLang="en-US" sz="2200" dirty="0">
              <a:latin typeface="Times" panose="02020603050405020304" pitchFamily="18" charset="0"/>
            </a:endParaRPr>
          </a:p>
          <a:p>
            <a:pPr marL="533400" indent="-533400" eaLnBrk="0" hangingPunct="0">
              <a:lnSpc>
                <a:spcPct val="90000"/>
              </a:lnSpc>
              <a:spcBef>
                <a:spcPct val="0"/>
              </a:spcBef>
              <a:buClrTx/>
              <a:buSzTx/>
              <a:buFontTx/>
              <a:buAutoNum type="arabicPeriod" startAt="2"/>
            </a:pPr>
            <a:r>
              <a:rPr lang="en-US" altLang="en-US" sz="2200" dirty="0">
                <a:latin typeface="Times" panose="02020603050405020304" pitchFamily="18" charset="0"/>
                <a:cs typeface="Times New Roman" panose="02020603050405020304" pitchFamily="18" charset="0"/>
              </a:rPr>
              <a:t>Support for a solution is essential for successful implementation.</a:t>
            </a:r>
            <a:endParaRPr lang="en-US" altLang="en-US" sz="2200" dirty="0">
              <a:latin typeface="Times" panose="02020603050405020304" pitchFamily="18" charset="0"/>
            </a:endParaRPr>
          </a:p>
          <a:p>
            <a:pPr>
              <a:spcBef>
                <a:spcPct val="50000"/>
              </a:spcBef>
            </a:pPr>
            <a:endParaRPr kumimoji="0" lang="en-US" altLang="en-US" sz="2200" i="1" dirty="0">
              <a:latin typeface="Times" panose="02020603050405020304" pitchFamily="18" charset="0"/>
              <a:cs typeface="Times New Roman" panose="02020603050405020304" pitchFamily="18" charset="0"/>
            </a:endParaRPr>
          </a:p>
          <a:p>
            <a:pPr>
              <a:spcBef>
                <a:spcPct val="50000"/>
              </a:spcBef>
            </a:pPr>
            <a:endParaRPr kumimoji="0" lang="en-US" altLang="en-US" sz="2200" i="1" dirty="0">
              <a:latin typeface="Times" panose="02020603050405020304" pitchFamily="18" charset="0"/>
              <a:cs typeface="Times New Roman" panose="02020603050405020304" pitchFamily="18" charset="0"/>
            </a:endParaRPr>
          </a:p>
          <a:p>
            <a:endParaRPr lang="en-US" altLang="en-US" sz="2200" i="1" dirty="0">
              <a:latin typeface="Times" panose="02020603050405020304" pitchFamily="18" charset="0"/>
            </a:endParaRPr>
          </a:p>
        </p:txBody>
      </p:sp>
    </p:spTree>
    <p:extLst>
      <p:ext uri="{BB962C8B-B14F-4D97-AF65-F5344CB8AC3E}">
        <p14:creationId xmlns:p14="http://schemas.microsoft.com/office/powerpoint/2010/main" val="11437208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4E29C-E45F-C298-FB48-E98A35E4457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3362C0E-4ADF-129D-6970-7B00A8807491}"/>
              </a:ext>
            </a:extLst>
          </p:cNvPr>
          <p:cNvSpPr>
            <a:spLocks noGrp="1"/>
          </p:cNvSpPr>
          <p:nvPr>
            <p:ph type="dt" sz="half" idx="10"/>
          </p:nvPr>
        </p:nvSpPr>
        <p:spPr/>
        <p:txBody>
          <a:bodyPr/>
          <a:lstStyle/>
          <a:p>
            <a:fld id="{D9234617-8B4C-41B1-8FE0-91C3C1E45619}" type="datetime1">
              <a:rPr lang="en-US" smtClean="0"/>
              <a:t>3/11/2024</a:t>
            </a:fld>
            <a:endParaRPr lang="en-US"/>
          </a:p>
        </p:txBody>
      </p:sp>
      <p:sp>
        <p:nvSpPr>
          <p:cNvPr id="6" name="Slide Number Placeholder 5">
            <a:extLst>
              <a:ext uri="{FF2B5EF4-FFF2-40B4-BE49-F238E27FC236}">
                <a16:creationId xmlns:a16="http://schemas.microsoft.com/office/drawing/2014/main" id="{884E47AE-FD3C-9DCA-164E-3F435BB8D665}"/>
              </a:ext>
            </a:extLst>
          </p:cNvPr>
          <p:cNvSpPr>
            <a:spLocks noGrp="1"/>
          </p:cNvSpPr>
          <p:nvPr>
            <p:ph type="sldNum" sz="quarter" idx="12"/>
          </p:nvPr>
        </p:nvSpPr>
        <p:spPr/>
        <p:txBody>
          <a:bodyPr/>
          <a:lstStyle/>
          <a:p>
            <a:fld id="{B6F15528-21DE-4FAA-801E-634DDDAF4B2B}" type="slidenum">
              <a:rPr lang="en-US" smtClean="0"/>
              <a:pPr/>
              <a:t>34</a:t>
            </a:fld>
            <a:endParaRPr lang="en-US"/>
          </a:p>
        </p:txBody>
      </p:sp>
      <p:sp>
        <p:nvSpPr>
          <p:cNvPr id="7" name="Title 1">
            <a:extLst>
              <a:ext uri="{FF2B5EF4-FFF2-40B4-BE49-F238E27FC236}">
                <a16:creationId xmlns:a16="http://schemas.microsoft.com/office/drawing/2014/main" id="{DA1A8006-EC2B-7803-C839-D4C65EFD5057}"/>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THE VOICE OF CUSTOMER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B5A95350-CCE7-F91B-F6F4-55C9D9B90D8C}"/>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7F385C86-70DF-BFF0-07FC-3BB41828D186}"/>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53251" name="Rectangle 3">
            <a:extLst>
              <a:ext uri="{FF2B5EF4-FFF2-40B4-BE49-F238E27FC236}">
                <a16:creationId xmlns:a16="http://schemas.microsoft.com/office/drawing/2014/main" id="{8202EEA3-A730-8F82-D247-36F890DE85B6}"/>
              </a:ext>
            </a:extLst>
          </p:cNvPr>
          <p:cNvSpPr>
            <a:spLocks noGrp="1" noChangeArrowheads="1"/>
          </p:cNvSpPr>
          <p:nvPr>
            <p:ph idx="1"/>
          </p:nvPr>
        </p:nvSpPr>
        <p:spPr>
          <a:xfrm>
            <a:off x="457200" y="1007729"/>
            <a:ext cx="2971800" cy="3352800"/>
          </a:xfrm>
        </p:spPr>
        <p:txBody>
          <a:bodyPr>
            <a:normAutofit/>
          </a:bodyPr>
          <a:lstStyle/>
          <a:p>
            <a:pPr marL="0" indent="0">
              <a:buNone/>
            </a:pPr>
            <a:r>
              <a:rPr lang="en-US" altLang="en-US" sz="2200" b="1" dirty="0">
                <a:effectLst>
                  <a:outerShdw blurRad="38100" dist="38100" dir="2700000" algn="tl">
                    <a:srgbClr val="000000"/>
                  </a:outerShdw>
                </a:effectLst>
                <a:latin typeface="Times" panose="02020603050405020304" pitchFamily="18" charset="0"/>
                <a:cs typeface="Times New Roman" panose="02020603050405020304" pitchFamily="18" charset="0"/>
              </a:rPr>
              <a:t>Constructing the Affinity Diagram</a:t>
            </a:r>
            <a:r>
              <a:rPr lang="en-US" altLang="en-US" sz="2200" dirty="0"/>
              <a:t> </a:t>
            </a:r>
            <a:endParaRPr lang="en-US" altLang="en-US" sz="2200" dirty="0">
              <a:latin typeface="Times" panose="02020603050405020304" pitchFamily="18" charset="0"/>
              <a:cs typeface="Times New Roman" panose="02020603050405020304" pitchFamily="18" charset="0"/>
            </a:endParaRPr>
          </a:p>
          <a:p>
            <a:r>
              <a:rPr lang="en-US" altLang="en-US" sz="2200" dirty="0">
                <a:latin typeface="Times" panose="02020603050405020304" pitchFamily="18" charset="0"/>
                <a:cs typeface="Times New Roman" panose="02020603050405020304" pitchFamily="18" charset="0"/>
              </a:rPr>
              <a:t>Phrase the objective</a:t>
            </a:r>
          </a:p>
          <a:p>
            <a:r>
              <a:rPr lang="en-US" altLang="en-US" sz="2200" dirty="0">
                <a:latin typeface="Times" panose="02020603050405020304" pitchFamily="18" charset="0"/>
                <a:cs typeface="Times New Roman" panose="02020603050405020304" pitchFamily="18" charset="0"/>
              </a:rPr>
              <a:t>Record all responses</a:t>
            </a:r>
          </a:p>
          <a:p>
            <a:r>
              <a:rPr lang="en-US" altLang="en-US" sz="2200" dirty="0">
                <a:latin typeface="Times" panose="02020603050405020304" pitchFamily="18" charset="0"/>
                <a:cs typeface="Times New Roman" panose="02020603050405020304" pitchFamily="18" charset="0"/>
              </a:rPr>
              <a:t>Group the responses</a:t>
            </a:r>
          </a:p>
          <a:p>
            <a:r>
              <a:rPr lang="en-US" altLang="en-US" sz="2200" dirty="0">
                <a:latin typeface="Times" panose="02020603050405020304" pitchFamily="18" charset="0"/>
                <a:cs typeface="Times New Roman" panose="02020603050405020304" pitchFamily="18" charset="0"/>
              </a:rPr>
              <a:t>Organize groups in an affinity diagram</a:t>
            </a:r>
            <a:r>
              <a:rPr lang="en-US" altLang="en-US" sz="2200" dirty="0"/>
              <a:t> </a:t>
            </a:r>
          </a:p>
        </p:txBody>
      </p:sp>
      <p:pic>
        <p:nvPicPr>
          <p:cNvPr id="1026" name="Picture 2" descr="Total Quality Management | Affinity Diagram | PROBLEM ANALYSIS. Root Cause  Analysis Tree Diagram | Affinity Diagram Examples In Tqm">
            <a:extLst>
              <a:ext uri="{FF2B5EF4-FFF2-40B4-BE49-F238E27FC236}">
                <a16:creationId xmlns:a16="http://schemas.microsoft.com/office/drawing/2014/main" id="{6D0E2B93-DC81-75B0-AB71-CB582B2FBC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793734"/>
            <a:ext cx="4210050" cy="552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97279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75A1F-645B-9FF2-77C1-35B819CAFD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7C9029-8068-2E19-EDB2-3D91EFD8B081}"/>
              </a:ext>
            </a:extLst>
          </p:cNvPr>
          <p:cNvSpPr>
            <a:spLocks noGrp="1"/>
          </p:cNvSpPr>
          <p:nvPr>
            <p:ph idx="1"/>
          </p:nvPr>
        </p:nvSpPr>
        <p:spPr>
          <a:xfrm>
            <a:off x="533400" y="1143000"/>
            <a:ext cx="8229600" cy="4525963"/>
          </a:xfrm>
          <a:prstGeom prst="rect">
            <a:avLst/>
          </a:prstGeom>
        </p:spPr>
        <p:txBody>
          <a:bodyPr>
            <a:normAutofit/>
          </a:bodyPr>
          <a:lstStyle/>
          <a:p>
            <a:pPr marL="0" indent="0" algn="justLow">
              <a:buNone/>
            </a:pPr>
            <a:r>
              <a:rPr lang="en-GB" sz="2400" b="1" i="0" dirty="0">
                <a:solidFill>
                  <a:srgbClr val="404041"/>
                </a:solidFill>
                <a:effectLst/>
              </a:rPr>
              <a:t> </a:t>
            </a:r>
            <a:endParaRPr lang="en-US" dirty="0"/>
          </a:p>
        </p:txBody>
      </p:sp>
      <p:sp>
        <p:nvSpPr>
          <p:cNvPr id="4" name="Date Placeholder 3">
            <a:extLst>
              <a:ext uri="{FF2B5EF4-FFF2-40B4-BE49-F238E27FC236}">
                <a16:creationId xmlns:a16="http://schemas.microsoft.com/office/drawing/2014/main" id="{D8D7409F-DA39-F3C2-234C-7C84CC8323E6}"/>
              </a:ext>
            </a:extLst>
          </p:cNvPr>
          <p:cNvSpPr>
            <a:spLocks noGrp="1"/>
          </p:cNvSpPr>
          <p:nvPr>
            <p:ph type="dt" sz="half" idx="10"/>
          </p:nvPr>
        </p:nvSpPr>
        <p:spPr/>
        <p:txBody>
          <a:bodyPr/>
          <a:lstStyle/>
          <a:p>
            <a:fld id="{2D1C1FFA-7903-411B-8C79-A8BC4A4B8D75}" type="datetime1">
              <a:rPr lang="en-US" smtClean="0"/>
              <a:t>3/11/2024</a:t>
            </a:fld>
            <a:endParaRPr lang="en-US"/>
          </a:p>
        </p:txBody>
      </p:sp>
      <p:sp>
        <p:nvSpPr>
          <p:cNvPr id="2" name="Footer Placeholder 1">
            <a:extLst>
              <a:ext uri="{FF2B5EF4-FFF2-40B4-BE49-F238E27FC236}">
                <a16:creationId xmlns:a16="http://schemas.microsoft.com/office/drawing/2014/main" id="{BB692DC6-EE31-0862-A442-36CB84269AC3}"/>
              </a:ext>
            </a:extLst>
          </p:cNvPr>
          <p:cNvSpPr>
            <a:spLocks noGrp="1"/>
          </p:cNvSpPr>
          <p:nvPr>
            <p:ph type="ftr" sz="quarter" idx="11"/>
          </p:nvPr>
        </p:nvSpPr>
        <p:spPr/>
        <p:txBody>
          <a:bodyPr/>
          <a:lstStyle/>
          <a:p>
            <a:r>
              <a:rPr lang="en-US"/>
              <a:t>Dheeraj     TQM           Unit4</a:t>
            </a:r>
            <a:endParaRPr lang="en-US" dirty="0"/>
          </a:p>
        </p:txBody>
      </p:sp>
      <p:sp>
        <p:nvSpPr>
          <p:cNvPr id="7" name="Title 1">
            <a:extLst>
              <a:ext uri="{FF2B5EF4-FFF2-40B4-BE49-F238E27FC236}">
                <a16:creationId xmlns:a16="http://schemas.microsoft.com/office/drawing/2014/main" id="{E9C4C5B8-95E6-EDD4-03F9-E8966E716915}"/>
              </a:ext>
            </a:extLst>
          </p:cNvPr>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GB" sz="3000" b="1" dirty="0">
                <a:latin typeface="Times New Roman" panose="02020603050405020304" pitchFamily="18" charset="0"/>
                <a:cs typeface="Times New Roman" panose="02020603050405020304" pitchFamily="18" charset="0"/>
              </a:rPr>
              <a:t>Topic Objective/Topic Outcome</a:t>
            </a:r>
            <a:endParaRPr lang="en-US" sz="3000" b="1"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D4217AB9-9735-C132-13FB-66A425E1AB78}"/>
              </a:ext>
            </a:extLst>
          </p:cNvPr>
          <p:cNvGraphicFramePr>
            <a:graphicFrameLocks noGrp="1"/>
          </p:cNvGraphicFramePr>
          <p:nvPr>
            <p:extLst>
              <p:ext uri="{D42A27DB-BD31-4B8C-83A1-F6EECF244321}">
                <p14:modId xmlns:p14="http://schemas.microsoft.com/office/powerpoint/2010/main" val="1219764749"/>
              </p:ext>
            </p:extLst>
          </p:nvPr>
        </p:nvGraphicFramePr>
        <p:xfrm>
          <a:off x="723900" y="1414477"/>
          <a:ext cx="7746332" cy="3690620"/>
        </p:xfrm>
        <a:graphic>
          <a:graphicData uri="http://schemas.openxmlformats.org/drawingml/2006/table">
            <a:tbl>
              <a:tblPr firstRow="1" bandRow="1">
                <a:tableStyleId>{5C22544A-7EE6-4342-B048-85BDC9FD1C3A}</a:tableStyleId>
              </a:tblPr>
              <a:tblGrid>
                <a:gridCol w="3376322">
                  <a:extLst>
                    <a:ext uri="{9D8B030D-6E8A-4147-A177-3AD203B41FA5}">
                      <a16:colId xmlns:a16="http://schemas.microsoft.com/office/drawing/2014/main" val="20000"/>
                    </a:ext>
                  </a:extLst>
                </a:gridCol>
                <a:gridCol w="3376322">
                  <a:extLst>
                    <a:ext uri="{9D8B030D-6E8A-4147-A177-3AD203B41FA5}">
                      <a16:colId xmlns:a16="http://schemas.microsoft.com/office/drawing/2014/main" val="20002"/>
                    </a:ext>
                  </a:extLst>
                </a:gridCol>
                <a:gridCol w="993688">
                  <a:extLst>
                    <a:ext uri="{9D8B030D-6E8A-4147-A177-3AD203B41FA5}">
                      <a16:colId xmlns:a16="http://schemas.microsoft.com/office/drawing/2014/main" val="20001"/>
                    </a:ext>
                  </a:extLst>
                </a:gridCol>
              </a:tblGrid>
              <a:tr h="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latin typeface="Times New Roman" panose="02020603050405020304" pitchFamily="18" charset="0"/>
                          <a:cs typeface="Times New Roman" panose="02020603050405020304" pitchFamily="18" charset="0"/>
                        </a:rPr>
                        <a:t>Topic  Objective</a:t>
                      </a:r>
                    </a:p>
                    <a:p>
                      <a:endParaRPr lang="en-US" sz="2200" dirty="0">
                        <a:latin typeface="Times New Roman" panose="02020603050405020304" pitchFamily="18" charset="0"/>
                        <a:cs typeface="Times New Roman" panose="02020603050405020304" pitchFamily="18" charset="0"/>
                      </a:endParaRPr>
                    </a:p>
                  </a:txBody>
                  <a:tcPr/>
                </a:tc>
                <a:tc>
                  <a:txBody>
                    <a:bodyPr/>
                    <a:lstStyle/>
                    <a:p>
                      <a:r>
                        <a:rPr lang="en-US" sz="2200" dirty="0">
                          <a:latin typeface="Times New Roman" panose="02020603050405020304" pitchFamily="18" charset="0"/>
                          <a:cs typeface="Times New Roman" panose="02020603050405020304" pitchFamily="18" charset="0"/>
                        </a:rPr>
                        <a:t>Topic outcome</a:t>
                      </a:r>
                    </a:p>
                  </a:txBody>
                  <a:tcPr/>
                </a:tc>
                <a:tc>
                  <a:txBody>
                    <a:bodyPr/>
                    <a:lstStyle/>
                    <a:p>
                      <a:r>
                        <a:rPr lang="en-US" sz="2200" dirty="0">
                          <a:latin typeface="Times New Roman" panose="02020603050405020304" pitchFamily="18" charset="0"/>
                          <a:cs typeface="Times New Roman" panose="02020603050405020304" pitchFamily="18" charset="0"/>
                        </a:rPr>
                        <a:t>Mapping</a:t>
                      </a:r>
                      <a:r>
                        <a:rPr lang="en-US" sz="2200" baseline="0" dirty="0">
                          <a:latin typeface="Times New Roman" panose="02020603050405020304" pitchFamily="18" charset="0"/>
                          <a:cs typeface="Times New Roman" panose="02020603050405020304" pitchFamily="18" charset="0"/>
                        </a:rPr>
                        <a:t> with CO</a:t>
                      </a:r>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pPr marL="0" marR="0" lvl="0" indent="0" algn="just" defTabSz="914400" rtl="0" eaLnBrk="1" fontAlgn="auto" latinLnBrk="0" hangingPunct="1">
                        <a:lnSpc>
                          <a:spcPct val="200000"/>
                        </a:lnSpc>
                        <a:spcBef>
                          <a:spcPts val="0"/>
                        </a:spcBef>
                        <a:spcAft>
                          <a:spcPts val="0"/>
                        </a:spcAft>
                        <a:buClrTx/>
                        <a:buSzTx/>
                        <a:buFont typeface="Wingdings" panose="05000000000000000000" pitchFamily="2" charset="2"/>
                        <a:buNone/>
                        <a:tabLst/>
                        <a:defRPr/>
                      </a:pPr>
                      <a:r>
                        <a:rPr lang="en-US" sz="2000" b="0" i="0" dirty="0">
                          <a:effectLst/>
                          <a:latin typeface="Roboto" panose="02000000000000000000" pitchFamily="2" charset="0"/>
                        </a:rPr>
                        <a:t>Introduction to Taguchi quality loss function</a:t>
                      </a:r>
                    </a:p>
                    <a:p>
                      <a:pPr algn="just">
                        <a:lnSpc>
                          <a:spcPct val="200000"/>
                        </a:lnSpc>
                        <a:buFont typeface="Wingdings" panose="05000000000000000000" pitchFamily="2" charset="2"/>
                        <a:buNone/>
                      </a:pPr>
                      <a:endParaRPr lang="en-US" sz="2000" b="0" i="0" dirty="0">
                        <a:effectLst/>
                        <a:latin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anose="02020603050405020304" pitchFamily="18" charset="0"/>
                          <a:cs typeface="Times New Roman" panose="02020603050405020304" pitchFamily="18" charset="0"/>
                        </a:rPr>
                        <a:t>Student are</a:t>
                      </a:r>
                      <a:r>
                        <a:rPr lang="en-US" sz="2200" baseline="0" dirty="0">
                          <a:latin typeface="Times New Roman" panose="02020603050405020304" pitchFamily="18" charset="0"/>
                          <a:cs typeface="Times New Roman" panose="02020603050405020304" pitchFamily="18" charset="0"/>
                        </a:rPr>
                        <a:t> able to</a:t>
                      </a:r>
                      <a:r>
                        <a:rPr lang="en-US" sz="2200" dirty="0">
                          <a:latin typeface="Times New Roman" panose="02020603050405020304" pitchFamily="18" charset="0"/>
                          <a:cs typeface="Times New Roman" panose="02020603050405020304" pitchFamily="18" charset="0"/>
                        </a:rPr>
                        <a:t> understand basic</a:t>
                      </a:r>
                      <a:r>
                        <a:rPr lang="en-US" sz="2200" baseline="0" dirty="0">
                          <a:latin typeface="Times New Roman" panose="02020603050405020304" pitchFamily="18" charset="0"/>
                          <a:cs typeface="Times New Roman" panose="02020603050405020304" pitchFamily="18" charset="0"/>
                        </a:rPr>
                        <a:t> of </a:t>
                      </a:r>
                      <a:r>
                        <a:rPr lang="en-US" sz="2000" b="0" i="0" dirty="0">
                          <a:effectLst/>
                          <a:latin typeface="Roboto" panose="02000000000000000000" pitchFamily="2" charset="0"/>
                        </a:rPr>
                        <a:t>Taguchi quality loss function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200" dirty="0">
                        <a:latin typeface="Times New Roman" pitchFamily="18" charset="0"/>
                        <a:cs typeface="Times New Roman" pitchFamily="18" charset="0"/>
                      </a:endParaRPr>
                    </a:p>
                  </a:txBody>
                  <a:tcPr/>
                </a:tc>
                <a:tc>
                  <a:txBody>
                    <a:bodyPr/>
                    <a:lstStyle/>
                    <a:p>
                      <a:r>
                        <a:rPr lang="en-US" sz="2200" dirty="0">
                          <a:latin typeface="Times New Roman" panose="02020603050405020304" pitchFamily="18" charset="0"/>
                          <a:cs typeface="Times New Roman" panose="02020603050405020304" pitchFamily="18" charset="0"/>
                        </a:rPr>
                        <a:t>CO4</a:t>
                      </a:r>
                    </a:p>
                  </a:txBody>
                  <a:tcPr/>
                </a:tc>
                <a:extLst>
                  <a:ext uri="{0D108BD9-81ED-4DB2-BD59-A6C34878D82A}">
                    <a16:rowId xmlns:a16="http://schemas.microsoft.com/office/drawing/2014/main" val="10001"/>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2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2200" dirty="0">
                        <a:latin typeface="Times New Roman" panose="02020603050405020304" pitchFamily="18" charset="0"/>
                        <a:cs typeface="Times New Roman" panose="02020603050405020304" pitchFamily="18" charset="0"/>
                      </a:endParaRPr>
                    </a:p>
                  </a:txBody>
                  <a:tcPr/>
                </a:tc>
                <a:tc>
                  <a:txBody>
                    <a:bodyPr/>
                    <a:lstStyle/>
                    <a:p>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6" name="Slide Number Placeholder 5">
            <a:extLst>
              <a:ext uri="{FF2B5EF4-FFF2-40B4-BE49-F238E27FC236}">
                <a16:creationId xmlns:a16="http://schemas.microsoft.com/office/drawing/2014/main" id="{5DB299CB-539B-F16C-24D3-AA19CA220798}"/>
              </a:ext>
            </a:extLst>
          </p:cNvPr>
          <p:cNvSpPr>
            <a:spLocks noGrp="1"/>
          </p:cNvSpPr>
          <p:nvPr>
            <p:ph type="sldNum" sz="quarter" idx="12"/>
          </p:nvPr>
        </p:nvSpPr>
        <p:spPr/>
        <p:txBody>
          <a:bodyPr/>
          <a:lstStyle/>
          <a:p>
            <a:fld id="{B6F15528-21DE-4FAA-801E-634DDDAF4B2B}" type="slidenum">
              <a:rPr lang="en-US" smtClean="0"/>
              <a:pPr/>
              <a:t>35</a:t>
            </a:fld>
            <a:endParaRPr lang="en-US"/>
          </a:p>
        </p:txBody>
      </p:sp>
      <p:pic>
        <p:nvPicPr>
          <p:cNvPr id="8" name="Picture 7">
            <a:extLst>
              <a:ext uri="{FF2B5EF4-FFF2-40B4-BE49-F238E27FC236}">
                <a16:creationId xmlns:a16="http://schemas.microsoft.com/office/drawing/2014/main" id="{473C4BB8-D042-0217-7D12-79C22DA6574B}"/>
              </a:ext>
            </a:extLst>
          </p:cNvPr>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41249961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170E0-9D0B-4178-A991-FFEB03D88CA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B586E38-338C-36AA-0353-6974E44EE266}"/>
              </a:ext>
            </a:extLst>
          </p:cNvPr>
          <p:cNvSpPr>
            <a:spLocks noGrp="1"/>
          </p:cNvSpPr>
          <p:nvPr>
            <p:ph type="dt" sz="half" idx="10"/>
          </p:nvPr>
        </p:nvSpPr>
        <p:spPr/>
        <p:txBody>
          <a:bodyPr/>
          <a:lstStyle/>
          <a:p>
            <a:fld id="{62F93593-B3AE-4505-81FF-7146834E33BB}" type="datetime1">
              <a:rPr lang="en-US" smtClean="0"/>
              <a:t>3/11/2024</a:t>
            </a:fld>
            <a:endParaRPr lang="en-US"/>
          </a:p>
        </p:txBody>
      </p:sp>
      <p:sp>
        <p:nvSpPr>
          <p:cNvPr id="6" name="Slide Number Placeholder 5">
            <a:extLst>
              <a:ext uri="{FF2B5EF4-FFF2-40B4-BE49-F238E27FC236}">
                <a16:creationId xmlns:a16="http://schemas.microsoft.com/office/drawing/2014/main" id="{8000A703-00AE-B67F-8963-F24FCC0C9E28}"/>
              </a:ext>
            </a:extLst>
          </p:cNvPr>
          <p:cNvSpPr>
            <a:spLocks noGrp="1"/>
          </p:cNvSpPr>
          <p:nvPr>
            <p:ph type="sldNum" sz="quarter" idx="12"/>
          </p:nvPr>
        </p:nvSpPr>
        <p:spPr/>
        <p:txBody>
          <a:bodyPr/>
          <a:lstStyle/>
          <a:p>
            <a:fld id="{B6F15528-21DE-4FAA-801E-634DDDAF4B2B}" type="slidenum">
              <a:rPr lang="en-US" smtClean="0"/>
              <a:pPr/>
              <a:t>36</a:t>
            </a:fld>
            <a:endParaRPr lang="en-US"/>
          </a:p>
        </p:txBody>
      </p:sp>
      <p:sp>
        <p:nvSpPr>
          <p:cNvPr id="7" name="Title 1">
            <a:extLst>
              <a:ext uri="{FF2B5EF4-FFF2-40B4-BE49-F238E27FC236}">
                <a16:creationId xmlns:a16="http://schemas.microsoft.com/office/drawing/2014/main" id="{85DED32C-5EE1-D4F9-B45E-80891EC0C211}"/>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TAGUCHI LOSS FUNCTION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D492CF11-9855-3053-CC56-7E182DEFD7B3}"/>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B4135D95-8BB3-2629-9B80-02B82C75F23A}"/>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31747" name="Rectangle 3">
            <a:extLst>
              <a:ext uri="{FF2B5EF4-FFF2-40B4-BE49-F238E27FC236}">
                <a16:creationId xmlns:a16="http://schemas.microsoft.com/office/drawing/2014/main" id="{01632FB7-B9F8-EE29-1860-C9E9BAB2B864}"/>
              </a:ext>
            </a:extLst>
          </p:cNvPr>
          <p:cNvSpPr>
            <a:spLocks noGrp="1" noChangeArrowheads="1"/>
          </p:cNvSpPr>
          <p:nvPr>
            <p:ph idx="1"/>
          </p:nvPr>
        </p:nvSpPr>
        <p:spPr>
          <a:xfrm>
            <a:off x="381000" y="1071887"/>
            <a:ext cx="8610600" cy="5137150"/>
          </a:xfrm>
        </p:spPr>
        <p:txBody>
          <a:bodyPr>
            <a:normAutofit/>
          </a:bodyPr>
          <a:lstStyle/>
          <a:p>
            <a:pPr>
              <a:lnSpc>
                <a:spcPct val="90000"/>
              </a:lnSpc>
            </a:pPr>
            <a:r>
              <a:rPr lang="en-US" sz="2200" b="0" i="0" dirty="0">
                <a:effectLst/>
                <a:latin typeface="+mj-lt"/>
                <a:ea typeface="Roboto" panose="02000000000000000000" pitchFamily="2" charset="0"/>
                <a:cs typeface="Roboto" panose="02000000000000000000" pitchFamily="2" charset="0"/>
              </a:rPr>
              <a:t>Taguchi Methods are statistical methods developed largely by GENICHI TAGUCHI to improve quality of manufactured goods.</a:t>
            </a:r>
          </a:p>
          <a:p>
            <a:pPr>
              <a:lnSpc>
                <a:spcPct val="90000"/>
              </a:lnSpc>
            </a:pPr>
            <a:r>
              <a:rPr lang="en-US" sz="2200" b="0" i="0" dirty="0">
                <a:effectLst/>
                <a:latin typeface="+mj-lt"/>
                <a:ea typeface="Roboto" panose="02000000000000000000" pitchFamily="2" charset="0"/>
                <a:cs typeface="Roboto" panose="02000000000000000000" pitchFamily="2" charset="0"/>
              </a:rPr>
              <a:t>The philosophy of off-line quality control.</a:t>
            </a:r>
          </a:p>
          <a:p>
            <a:pPr>
              <a:lnSpc>
                <a:spcPct val="90000"/>
              </a:lnSpc>
            </a:pPr>
            <a:r>
              <a:rPr lang="en-US" sz="2200" b="0" i="0" dirty="0">
                <a:effectLst/>
                <a:latin typeface="+mj-lt"/>
                <a:ea typeface="Roboto" panose="02000000000000000000" pitchFamily="2" charset="0"/>
                <a:cs typeface="Roboto" panose="02000000000000000000" pitchFamily="2" charset="0"/>
              </a:rPr>
              <a:t>Innovations in the design of experiments.</a:t>
            </a:r>
          </a:p>
          <a:p>
            <a:pPr>
              <a:lnSpc>
                <a:spcPct val="90000"/>
              </a:lnSpc>
            </a:pPr>
            <a:endParaRPr lang="en-US" sz="2200" dirty="0">
              <a:latin typeface="+mj-lt"/>
              <a:ea typeface="Roboto" panose="02000000000000000000" pitchFamily="2" charset="0"/>
              <a:cs typeface="Roboto" panose="02000000000000000000" pitchFamily="2" charset="0"/>
            </a:endParaRPr>
          </a:p>
          <a:p>
            <a:pPr marL="0" indent="0">
              <a:lnSpc>
                <a:spcPct val="90000"/>
              </a:lnSpc>
              <a:buNone/>
            </a:pPr>
            <a:r>
              <a:rPr lang="en-US" sz="2200" b="1" i="0" dirty="0">
                <a:effectLst/>
                <a:latin typeface="+mj-lt"/>
                <a:ea typeface="Roboto" panose="02000000000000000000" pitchFamily="2" charset="0"/>
                <a:cs typeface="Roboto" panose="02000000000000000000" pitchFamily="2" charset="0"/>
              </a:rPr>
              <a:t>Taguchi Loss Function Definition</a:t>
            </a:r>
            <a:r>
              <a:rPr lang="en-US" sz="2200" b="0" i="0" dirty="0">
                <a:effectLst/>
                <a:latin typeface="+mj-lt"/>
                <a:ea typeface="Roboto" panose="02000000000000000000" pitchFamily="2" charset="0"/>
                <a:cs typeface="Roboto" panose="02000000000000000000" pitchFamily="2" charset="0"/>
              </a:rPr>
              <a:t> </a:t>
            </a:r>
          </a:p>
          <a:p>
            <a:pPr>
              <a:lnSpc>
                <a:spcPct val="90000"/>
              </a:lnSpc>
            </a:pPr>
            <a:r>
              <a:rPr lang="en-US" sz="2200" b="0" i="0" dirty="0">
                <a:effectLst/>
                <a:latin typeface="+mj-lt"/>
                <a:ea typeface="Roboto" panose="02000000000000000000" pitchFamily="2" charset="0"/>
                <a:cs typeface="Roboto" panose="02000000000000000000" pitchFamily="2" charset="0"/>
              </a:rPr>
              <a:t>Taguchi defines Quality as "the loss imparted by the product to society from the time the product is shipped." </a:t>
            </a:r>
          </a:p>
          <a:p>
            <a:pPr>
              <a:lnSpc>
                <a:spcPct val="90000"/>
              </a:lnSpc>
            </a:pPr>
            <a:r>
              <a:rPr lang="en-US" sz="2200" b="0" i="0" dirty="0">
                <a:effectLst/>
                <a:latin typeface="+mj-lt"/>
                <a:ea typeface="Roboto" panose="02000000000000000000" pitchFamily="2" charset="0"/>
                <a:cs typeface="Roboto" panose="02000000000000000000" pitchFamily="2" charset="0"/>
              </a:rPr>
              <a:t>LOSS = Cost to operate, Failure to function, maintenance and repair cost, customer dissatisfaction, poor design, injury to health, accidents etc. </a:t>
            </a:r>
            <a:endParaRPr lang="en-US" sz="2200" dirty="0">
              <a:latin typeface="+mj-lt"/>
              <a:ea typeface="Roboto" panose="02000000000000000000" pitchFamily="2" charset="0"/>
              <a:cs typeface="Roboto" panose="02000000000000000000" pitchFamily="2" charset="0"/>
            </a:endParaRPr>
          </a:p>
          <a:p>
            <a:pPr>
              <a:lnSpc>
                <a:spcPct val="90000"/>
              </a:lnSpc>
            </a:pPr>
            <a:r>
              <a:rPr lang="en-US" sz="2200" b="0" i="0" dirty="0">
                <a:effectLst/>
                <a:latin typeface="+mj-lt"/>
                <a:ea typeface="Roboto" panose="02000000000000000000" pitchFamily="2" charset="0"/>
                <a:cs typeface="Roboto" panose="02000000000000000000" pitchFamily="2" charset="0"/>
              </a:rPr>
              <a:t>Product to be produced "being within specification“</a:t>
            </a:r>
          </a:p>
          <a:p>
            <a:pPr marL="0" indent="0">
              <a:lnSpc>
                <a:spcPct val="90000"/>
              </a:lnSpc>
              <a:buNone/>
            </a:pPr>
            <a:endParaRPr lang="en-US" sz="2200" dirty="0">
              <a:latin typeface="+mj-lt"/>
              <a:ea typeface="Roboto" panose="02000000000000000000" pitchFamily="2" charset="0"/>
              <a:cs typeface="Roboto" panose="02000000000000000000" pitchFamily="2" charset="0"/>
            </a:endParaRPr>
          </a:p>
          <a:p>
            <a:pPr marL="0" indent="0">
              <a:lnSpc>
                <a:spcPct val="90000"/>
              </a:lnSpc>
              <a:buNone/>
            </a:pPr>
            <a:endParaRPr lang="en-US" sz="2200" b="0" i="0" dirty="0">
              <a:effectLst/>
              <a:latin typeface="+mj-lt"/>
              <a:ea typeface="Roboto" panose="02000000000000000000" pitchFamily="2" charset="0"/>
              <a:cs typeface="Roboto" panose="02000000000000000000" pitchFamily="2" charset="0"/>
            </a:endParaRPr>
          </a:p>
          <a:p>
            <a:pPr>
              <a:lnSpc>
                <a:spcPct val="90000"/>
              </a:lnSpc>
            </a:pPr>
            <a:endParaRPr lang="en-US" sz="2200" b="0" i="0" dirty="0">
              <a:effectLst/>
              <a:latin typeface="+mj-lt"/>
              <a:ea typeface="Roboto" panose="02000000000000000000" pitchFamily="2" charset="0"/>
              <a:cs typeface="Roboto" panose="02000000000000000000" pitchFamily="2" charset="0"/>
            </a:endParaRPr>
          </a:p>
          <a:p>
            <a:pPr>
              <a:lnSpc>
                <a:spcPct val="90000"/>
              </a:lnSpc>
            </a:pPr>
            <a:endParaRPr lang="en-US" altLang="en-US" sz="2200" dirty="0">
              <a:latin typeface="+mj-lt"/>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515716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C33A9-7E40-E34D-48CC-51DEBE227A7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908DCCE-C7F5-CF1F-18D2-49E788C56D0D}"/>
              </a:ext>
            </a:extLst>
          </p:cNvPr>
          <p:cNvSpPr>
            <a:spLocks noGrp="1"/>
          </p:cNvSpPr>
          <p:nvPr>
            <p:ph type="dt" sz="half" idx="10"/>
          </p:nvPr>
        </p:nvSpPr>
        <p:spPr/>
        <p:txBody>
          <a:bodyPr/>
          <a:lstStyle/>
          <a:p>
            <a:fld id="{DBA3042D-4CF0-45A9-9FD5-A77020E8C824}" type="datetime1">
              <a:rPr lang="en-US" smtClean="0"/>
              <a:t>3/11/2024</a:t>
            </a:fld>
            <a:endParaRPr lang="en-US"/>
          </a:p>
        </p:txBody>
      </p:sp>
      <p:sp>
        <p:nvSpPr>
          <p:cNvPr id="6" name="Slide Number Placeholder 5">
            <a:extLst>
              <a:ext uri="{FF2B5EF4-FFF2-40B4-BE49-F238E27FC236}">
                <a16:creationId xmlns:a16="http://schemas.microsoft.com/office/drawing/2014/main" id="{95B25081-AC94-03D7-EE5C-F6E8F3D748CC}"/>
              </a:ext>
            </a:extLst>
          </p:cNvPr>
          <p:cNvSpPr>
            <a:spLocks noGrp="1"/>
          </p:cNvSpPr>
          <p:nvPr>
            <p:ph type="sldNum" sz="quarter" idx="12"/>
          </p:nvPr>
        </p:nvSpPr>
        <p:spPr/>
        <p:txBody>
          <a:bodyPr/>
          <a:lstStyle/>
          <a:p>
            <a:fld id="{B6F15528-21DE-4FAA-801E-634DDDAF4B2B}" type="slidenum">
              <a:rPr lang="en-US" smtClean="0"/>
              <a:pPr/>
              <a:t>37</a:t>
            </a:fld>
            <a:endParaRPr lang="en-US"/>
          </a:p>
        </p:txBody>
      </p:sp>
      <p:sp>
        <p:nvSpPr>
          <p:cNvPr id="7" name="Title 1">
            <a:extLst>
              <a:ext uri="{FF2B5EF4-FFF2-40B4-BE49-F238E27FC236}">
                <a16:creationId xmlns:a16="http://schemas.microsoft.com/office/drawing/2014/main" id="{3C8B55A5-E5AF-D231-C6EF-583A8F1514EA}"/>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TAGUCHI LOSS FUNCTION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7A9F0B43-6C28-9D24-E457-A3596F75C290}"/>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7CE48E94-4504-B738-53E5-1E9602E7BA96}"/>
              </a:ext>
            </a:extLst>
          </p:cNvPr>
          <p:cNvPicPr>
            <a:picLocks noChangeAspect="1"/>
          </p:cNvPicPr>
          <p:nvPr/>
        </p:nvPicPr>
        <p:blipFill>
          <a:blip r:embed="rId2" cstate="print"/>
          <a:stretch>
            <a:fillRect/>
          </a:stretch>
        </p:blipFill>
        <p:spPr>
          <a:xfrm>
            <a:off x="0" y="-1"/>
            <a:ext cx="1371600" cy="879475"/>
          </a:xfrm>
          <a:prstGeom prst="rect">
            <a:avLst/>
          </a:prstGeom>
        </p:spPr>
      </p:pic>
      <p:pic>
        <p:nvPicPr>
          <p:cNvPr id="11" name="Picture 10">
            <a:extLst>
              <a:ext uri="{FF2B5EF4-FFF2-40B4-BE49-F238E27FC236}">
                <a16:creationId xmlns:a16="http://schemas.microsoft.com/office/drawing/2014/main" id="{C3BD4B8E-2239-3BDE-8F42-CB9E08FAAE9C}"/>
              </a:ext>
            </a:extLst>
          </p:cNvPr>
          <p:cNvPicPr>
            <a:picLocks noChangeAspect="1"/>
          </p:cNvPicPr>
          <p:nvPr/>
        </p:nvPicPr>
        <p:blipFill>
          <a:blip r:embed="rId3"/>
          <a:stretch>
            <a:fillRect/>
          </a:stretch>
        </p:blipFill>
        <p:spPr>
          <a:xfrm>
            <a:off x="1219200" y="742950"/>
            <a:ext cx="7162800" cy="5372100"/>
          </a:xfrm>
          <a:prstGeom prst="rect">
            <a:avLst/>
          </a:prstGeom>
        </p:spPr>
      </p:pic>
    </p:spTree>
    <p:extLst>
      <p:ext uri="{BB962C8B-B14F-4D97-AF65-F5344CB8AC3E}">
        <p14:creationId xmlns:p14="http://schemas.microsoft.com/office/powerpoint/2010/main" val="29085068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D4456-26B4-F058-FAAA-5F641DFB058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0094001B-BB33-87E7-2F07-25785DF6AB8B}"/>
              </a:ext>
            </a:extLst>
          </p:cNvPr>
          <p:cNvPicPr>
            <a:picLocks noChangeAspect="1"/>
          </p:cNvPicPr>
          <p:nvPr/>
        </p:nvPicPr>
        <p:blipFill>
          <a:blip r:embed="rId2"/>
          <a:stretch>
            <a:fillRect/>
          </a:stretch>
        </p:blipFill>
        <p:spPr>
          <a:xfrm>
            <a:off x="4052539" y="2789241"/>
            <a:ext cx="4939061" cy="3715624"/>
          </a:xfrm>
          <a:prstGeom prst="rect">
            <a:avLst/>
          </a:prstGeom>
        </p:spPr>
      </p:pic>
      <p:pic>
        <p:nvPicPr>
          <p:cNvPr id="3" name="Picture 2">
            <a:extLst>
              <a:ext uri="{FF2B5EF4-FFF2-40B4-BE49-F238E27FC236}">
                <a16:creationId xmlns:a16="http://schemas.microsoft.com/office/drawing/2014/main" id="{193AAF6A-4C4E-CB99-B3EA-1DE3EA3FEE28}"/>
              </a:ext>
            </a:extLst>
          </p:cNvPr>
          <p:cNvPicPr>
            <a:picLocks noChangeAspect="1"/>
          </p:cNvPicPr>
          <p:nvPr/>
        </p:nvPicPr>
        <p:blipFill rotWithShape="1">
          <a:blip r:embed="rId3"/>
          <a:srcRect r="5261" b="41869"/>
          <a:stretch/>
        </p:blipFill>
        <p:spPr>
          <a:xfrm>
            <a:off x="0" y="667965"/>
            <a:ext cx="5503029" cy="2532435"/>
          </a:xfrm>
          <a:prstGeom prst="rect">
            <a:avLst/>
          </a:prstGeom>
        </p:spPr>
      </p:pic>
      <p:sp>
        <p:nvSpPr>
          <p:cNvPr id="4" name="Date Placeholder 3">
            <a:extLst>
              <a:ext uri="{FF2B5EF4-FFF2-40B4-BE49-F238E27FC236}">
                <a16:creationId xmlns:a16="http://schemas.microsoft.com/office/drawing/2014/main" id="{2C577A5E-4031-1089-B47C-64F7B554AF2F}"/>
              </a:ext>
            </a:extLst>
          </p:cNvPr>
          <p:cNvSpPr>
            <a:spLocks noGrp="1"/>
          </p:cNvSpPr>
          <p:nvPr>
            <p:ph type="dt" sz="half" idx="10"/>
          </p:nvPr>
        </p:nvSpPr>
        <p:spPr/>
        <p:txBody>
          <a:bodyPr/>
          <a:lstStyle/>
          <a:p>
            <a:fld id="{5B40CA49-305A-4827-9235-79BA60BA7273}" type="datetime1">
              <a:rPr lang="en-US" smtClean="0"/>
              <a:t>3/11/2024</a:t>
            </a:fld>
            <a:endParaRPr lang="en-US"/>
          </a:p>
        </p:txBody>
      </p:sp>
      <p:sp>
        <p:nvSpPr>
          <p:cNvPr id="6" name="Slide Number Placeholder 5">
            <a:extLst>
              <a:ext uri="{FF2B5EF4-FFF2-40B4-BE49-F238E27FC236}">
                <a16:creationId xmlns:a16="http://schemas.microsoft.com/office/drawing/2014/main" id="{21BA86E5-AA74-82AD-53B2-28D4DB9F5D77}"/>
              </a:ext>
            </a:extLst>
          </p:cNvPr>
          <p:cNvSpPr>
            <a:spLocks noGrp="1"/>
          </p:cNvSpPr>
          <p:nvPr>
            <p:ph type="sldNum" sz="quarter" idx="12"/>
          </p:nvPr>
        </p:nvSpPr>
        <p:spPr/>
        <p:txBody>
          <a:bodyPr/>
          <a:lstStyle/>
          <a:p>
            <a:fld id="{B6F15528-21DE-4FAA-801E-634DDDAF4B2B}" type="slidenum">
              <a:rPr lang="en-US" smtClean="0"/>
              <a:pPr/>
              <a:t>38</a:t>
            </a:fld>
            <a:endParaRPr lang="en-US"/>
          </a:p>
        </p:txBody>
      </p:sp>
      <p:sp>
        <p:nvSpPr>
          <p:cNvPr id="7" name="Title 1">
            <a:extLst>
              <a:ext uri="{FF2B5EF4-FFF2-40B4-BE49-F238E27FC236}">
                <a16:creationId xmlns:a16="http://schemas.microsoft.com/office/drawing/2014/main" id="{B807F8BC-9146-0B78-3403-B19CDB741D84}"/>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TAGUCHI LOSS FUNCTION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EE2D3CA3-5E8E-BC13-EFF9-D84CC5794360}"/>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D323B706-4DC9-103A-6870-1316D9FBAAF4}"/>
              </a:ext>
            </a:extLst>
          </p:cNvPr>
          <p:cNvPicPr>
            <a:picLocks noChangeAspect="1"/>
          </p:cNvPicPr>
          <p:nvPr/>
        </p:nvPicPr>
        <p:blipFill>
          <a:blip r:embed="rId4"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30495346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40F8A-F5C0-94B6-9E05-CF0973B721B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4CBC6AA-4A58-DA0D-ECD1-9277B15904FA}"/>
              </a:ext>
            </a:extLst>
          </p:cNvPr>
          <p:cNvSpPr>
            <a:spLocks noGrp="1"/>
          </p:cNvSpPr>
          <p:nvPr>
            <p:ph type="dt" sz="half" idx="10"/>
          </p:nvPr>
        </p:nvSpPr>
        <p:spPr/>
        <p:txBody>
          <a:bodyPr/>
          <a:lstStyle/>
          <a:p>
            <a:fld id="{DDBF1F24-FF5D-43F7-829C-99D2E5578A01}" type="datetime1">
              <a:rPr lang="en-US" smtClean="0"/>
              <a:t>3/11/2024</a:t>
            </a:fld>
            <a:endParaRPr lang="en-US"/>
          </a:p>
        </p:txBody>
      </p:sp>
      <p:sp>
        <p:nvSpPr>
          <p:cNvPr id="6" name="Slide Number Placeholder 5">
            <a:extLst>
              <a:ext uri="{FF2B5EF4-FFF2-40B4-BE49-F238E27FC236}">
                <a16:creationId xmlns:a16="http://schemas.microsoft.com/office/drawing/2014/main" id="{59B100C8-FA78-C67F-E418-6155E57FD297}"/>
              </a:ext>
            </a:extLst>
          </p:cNvPr>
          <p:cNvSpPr>
            <a:spLocks noGrp="1"/>
          </p:cNvSpPr>
          <p:nvPr>
            <p:ph type="sldNum" sz="quarter" idx="12"/>
          </p:nvPr>
        </p:nvSpPr>
        <p:spPr/>
        <p:txBody>
          <a:bodyPr/>
          <a:lstStyle/>
          <a:p>
            <a:fld id="{B6F15528-21DE-4FAA-801E-634DDDAF4B2B}" type="slidenum">
              <a:rPr lang="en-US" smtClean="0"/>
              <a:pPr/>
              <a:t>39</a:t>
            </a:fld>
            <a:endParaRPr lang="en-US"/>
          </a:p>
        </p:txBody>
      </p:sp>
      <p:sp>
        <p:nvSpPr>
          <p:cNvPr id="7" name="Title 1">
            <a:extLst>
              <a:ext uri="{FF2B5EF4-FFF2-40B4-BE49-F238E27FC236}">
                <a16:creationId xmlns:a16="http://schemas.microsoft.com/office/drawing/2014/main" id="{73497CEA-038B-3C2B-81F7-4FC43A5E6E14}"/>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TAGUCHI LOSS FUNCTION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B040F5A0-E91A-E511-60F7-FBC2C108F584}"/>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9A070D13-223A-A78B-F6F6-D22A67B3BEC0}"/>
              </a:ext>
            </a:extLst>
          </p:cNvPr>
          <p:cNvPicPr>
            <a:picLocks noChangeAspect="1"/>
          </p:cNvPicPr>
          <p:nvPr/>
        </p:nvPicPr>
        <p:blipFill>
          <a:blip r:embed="rId2" cstate="print"/>
          <a:stretch>
            <a:fillRect/>
          </a:stretch>
        </p:blipFill>
        <p:spPr>
          <a:xfrm>
            <a:off x="0" y="-1"/>
            <a:ext cx="1371600" cy="879475"/>
          </a:xfrm>
          <a:prstGeom prst="rect">
            <a:avLst/>
          </a:prstGeom>
        </p:spPr>
      </p:pic>
      <p:pic>
        <p:nvPicPr>
          <p:cNvPr id="2050" name="Picture 2" descr="Traditional and Taguchi loss function compared. | Download Scientific  Diagram">
            <a:extLst>
              <a:ext uri="{FF2B5EF4-FFF2-40B4-BE49-F238E27FC236}">
                <a16:creationId xmlns:a16="http://schemas.microsoft.com/office/drawing/2014/main" id="{7FD1A755-15FB-EAD9-9DDA-0AA2FD6ADC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3075" y="873617"/>
            <a:ext cx="6115050" cy="264745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aguchi Loss Function | Quality Gurus">
            <a:extLst>
              <a:ext uri="{FF2B5EF4-FFF2-40B4-BE49-F238E27FC236}">
                <a16:creationId xmlns:a16="http://schemas.microsoft.com/office/drawing/2014/main" id="{EA524060-4CBC-8B0B-B1EC-8D7B9482C14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43074" y="3619003"/>
            <a:ext cx="6219825" cy="2683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40053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5E0E4-4B37-499F-4F29-5B3436F42F0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FA45AAD-F4F3-E5E1-9E20-EEA7FC720357}"/>
              </a:ext>
            </a:extLst>
          </p:cNvPr>
          <p:cNvSpPr>
            <a:spLocks noGrp="1"/>
          </p:cNvSpPr>
          <p:nvPr>
            <p:ph type="dt" sz="half" idx="10"/>
          </p:nvPr>
        </p:nvSpPr>
        <p:spPr/>
        <p:txBody>
          <a:bodyPr/>
          <a:lstStyle/>
          <a:p>
            <a:fld id="{6D5164A4-7380-4784-8A1C-D51F315519C6}" type="datetime1">
              <a:rPr lang="en-US" smtClean="0"/>
              <a:t>3/11/2024</a:t>
            </a:fld>
            <a:endParaRPr lang="en-US"/>
          </a:p>
        </p:txBody>
      </p:sp>
      <p:sp>
        <p:nvSpPr>
          <p:cNvPr id="6" name="Slide Number Placeholder 5">
            <a:extLst>
              <a:ext uri="{FF2B5EF4-FFF2-40B4-BE49-F238E27FC236}">
                <a16:creationId xmlns:a16="http://schemas.microsoft.com/office/drawing/2014/main" id="{D01666A4-D8A2-C395-C116-D06DFC1003E8}"/>
              </a:ext>
            </a:extLst>
          </p:cNvPr>
          <p:cNvSpPr>
            <a:spLocks noGrp="1"/>
          </p:cNvSpPr>
          <p:nvPr>
            <p:ph type="sldNum" sz="quarter" idx="12"/>
          </p:nvPr>
        </p:nvSpPr>
        <p:spPr/>
        <p:txBody>
          <a:bodyPr/>
          <a:lstStyle/>
          <a:p>
            <a:fld id="{B6F15528-21DE-4FAA-801E-634DDDAF4B2B}" type="slidenum">
              <a:rPr lang="en-US" smtClean="0"/>
              <a:pPr/>
              <a:t>40</a:t>
            </a:fld>
            <a:endParaRPr lang="en-US"/>
          </a:p>
        </p:txBody>
      </p:sp>
      <p:sp>
        <p:nvSpPr>
          <p:cNvPr id="7" name="Title 1">
            <a:extLst>
              <a:ext uri="{FF2B5EF4-FFF2-40B4-BE49-F238E27FC236}">
                <a16:creationId xmlns:a16="http://schemas.microsoft.com/office/drawing/2014/main" id="{ABFA6A6E-24A0-FE6E-7395-CE5696CC11F8}"/>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TAGUCHI LOSS FUNCTION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CE8652BC-7FFF-6FAD-8CC9-778AD428BFA2}"/>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5FFE9064-C4A4-DCF7-594B-915216470ED2}"/>
              </a:ext>
            </a:extLst>
          </p:cNvPr>
          <p:cNvPicPr>
            <a:picLocks noChangeAspect="1"/>
          </p:cNvPicPr>
          <p:nvPr/>
        </p:nvPicPr>
        <p:blipFill>
          <a:blip r:embed="rId2" cstate="print"/>
          <a:stretch>
            <a:fillRect/>
          </a:stretch>
        </p:blipFill>
        <p:spPr>
          <a:xfrm>
            <a:off x="0" y="-1"/>
            <a:ext cx="1371600" cy="879475"/>
          </a:xfrm>
          <a:prstGeom prst="rect">
            <a:avLst/>
          </a:prstGeom>
        </p:spPr>
      </p:pic>
      <p:pic>
        <p:nvPicPr>
          <p:cNvPr id="8" name="Picture 7">
            <a:extLst>
              <a:ext uri="{FF2B5EF4-FFF2-40B4-BE49-F238E27FC236}">
                <a16:creationId xmlns:a16="http://schemas.microsoft.com/office/drawing/2014/main" id="{99EF3193-F9F6-4097-49DE-4202D3D0490F}"/>
              </a:ext>
            </a:extLst>
          </p:cNvPr>
          <p:cNvPicPr>
            <a:picLocks noChangeAspect="1"/>
          </p:cNvPicPr>
          <p:nvPr/>
        </p:nvPicPr>
        <p:blipFill>
          <a:blip r:embed="rId3"/>
          <a:stretch>
            <a:fillRect/>
          </a:stretch>
        </p:blipFill>
        <p:spPr>
          <a:xfrm>
            <a:off x="985838" y="977106"/>
            <a:ext cx="7172325" cy="5379244"/>
          </a:xfrm>
          <a:prstGeom prst="rect">
            <a:avLst/>
          </a:prstGeom>
        </p:spPr>
      </p:pic>
    </p:spTree>
    <p:extLst>
      <p:ext uri="{BB962C8B-B14F-4D97-AF65-F5344CB8AC3E}">
        <p14:creationId xmlns:p14="http://schemas.microsoft.com/office/powerpoint/2010/main" val="11388261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9C34B-1625-29E3-4006-95EFEF23F71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54E5416-2E29-C435-DD39-C4200ACF5EA5}"/>
              </a:ext>
            </a:extLst>
          </p:cNvPr>
          <p:cNvSpPr>
            <a:spLocks noGrp="1"/>
          </p:cNvSpPr>
          <p:nvPr>
            <p:ph type="dt" sz="half" idx="10"/>
          </p:nvPr>
        </p:nvSpPr>
        <p:spPr/>
        <p:txBody>
          <a:bodyPr/>
          <a:lstStyle/>
          <a:p>
            <a:fld id="{36BECB69-1B7D-4E45-A0E8-CD556879308A}" type="datetime1">
              <a:rPr lang="en-US" smtClean="0"/>
              <a:t>3/11/2024</a:t>
            </a:fld>
            <a:endParaRPr lang="en-US"/>
          </a:p>
        </p:txBody>
      </p:sp>
      <p:sp>
        <p:nvSpPr>
          <p:cNvPr id="6" name="Slide Number Placeholder 5">
            <a:extLst>
              <a:ext uri="{FF2B5EF4-FFF2-40B4-BE49-F238E27FC236}">
                <a16:creationId xmlns:a16="http://schemas.microsoft.com/office/drawing/2014/main" id="{1B71BEE5-5CC7-8D05-A32E-75D18C94AC87}"/>
              </a:ext>
            </a:extLst>
          </p:cNvPr>
          <p:cNvSpPr>
            <a:spLocks noGrp="1"/>
          </p:cNvSpPr>
          <p:nvPr>
            <p:ph type="sldNum" sz="quarter" idx="12"/>
          </p:nvPr>
        </p:nvSpPr>
        <p:spPr/>
        <p:txBody>
          <a:bodyPr/>
          <a:lstStyle/>
          <a:p>
            <a:fld id="{B6F15528-21DE-4FAA-801E-634DDDAF4B2B}" type="slidenum">
              <a:rPr lang="en-US" smtClean="0"/>
              <a:pPr/>
              <a:t>41</a:t>
            </a:fld>
            <a:endParaRPr lang="en-US"/>
          </a:p>
        </p:txBody>
      </p:sp>
      <p:sp>
        <p:nvSpPr>
          <p:cNvPr id="7" name="Title 1">
            <a:extLst>
              <a:ext uri="{FF2B5EF4-FFF2-40B4-BE49-F238E27FC236}">
                <a16:creationId xmlns:a16="http://schemas.microsoft.com/office/drawing/2014/main" id="{0BAEAD06-B6A1-DF36-31A8-4CC94CA1DF4E}"/>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TAGUCHI LOSS FUNCTION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7F844CC2-C28D-F282-EE67-0666417287E6}"/>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22771DD-4200-F95E-72D1-1517EFA1559B}"/>
              </a:ext>
            </a:extLst>
          </p:cNvPr>
          <p:cNvPicPr>
            <a:picLocks noChangeAspect="1"/>
          </p:cNvPicPr>
          <p:nvPr/>
        </p:nvPicPr>
        <p:blipFill>
          <a:blip r:embed="rId2" cstate="print"/>
          <a:stretch>
            <a:fillRect/>
          </a:stretch>
        </p:blipFill>
        <p:spPr>
          <a:xfrm>
            <a:off x="0" y="-1"/>
            <a:ext cx="1371600" cy="879475"/>
          </a:xfrm>
          <a:prstGeom prst="rect">
            <a:avLst/>
          </a:prstGeom>
        </p:spPr>
      </p:pic>
      <p:pic>
        <p:nvPicPr>
          <p:cNvPr id="3" name="Picture 2">
            <a:extLst>
              <a:ext uri="{FF2B5EF4-FFF2-40B4-BE49-F238E27FC236}">
                <a16:creationId xmlns:a16="http://schemas.microsoft.com/office/drawing/2014/main" id="{C4AB437D-BB82-04F8-E01A-45D446C1D6A0}"/>
              </a:ext>
            </a:extLst>
          </p:cNvPr>
          <p:cNvPicPr>
            <a:picLocks noChangeAspect="1"/>
          </p:cNvPicPr>
          <p:nvPr/>
        </p:nvPicPr>
        <p:blipFill>
          <a:blip r:embed="rId3"/>
          <a:stretch>
            <a:fillRect/>
          </a:stretch>
        </p:blipFill>
        <p:spPr>
          <a:xfrm>
            <a:off x="1211094" y="1003307"/>
            <a:ext cx="7086600" cy="5314950"/>
          </a:xfrm>
          <a:prstGeom prst="rect">
            <a:avLst/>
          </a:prstGeom>
        </p:spPr>
      </p:pic>
    </p:spTree>
    <p:extLst>
      <p:ext uri="{BB962C8B-B14F-4D97-AF65-F5344CB8AC3E}">
        <p14:creationId xmlns:p14="http://schemas.microsoft.com/office/powerpoint/2010/main" val="30961802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0FD6A-414D-5B02-2D87-B11EFFDA781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F48467D-2F0C-D702-9188-647E76E193A3}"/>
              </a:ext>
            </a:extLst>
          </p:cNvPr>
          <p:cNvSpPr>
            <a:spLocks noGrp="1"/>
          </p:cNvSpPr>
          <p:nvPr>
            <p:ph type="dt" sz="half" idx="10"/>
          </p:nvPr>
        </p:nvSpPr>
        <p:spPr/>
        <p:txBody>
          <a:bodyPr/>
          <a:lstStyle/>
          <a:p>
            <a:fld id="{2E0043AD-4E91-48AB-AF3D-A7CC86748909}" type="datetime1">
              <a:rPr lang="en-US" smtClean="0"/>
              <a:t>3/11/2024</a:t>
            </a:fld>
            <a:endParaRPr lang="en-US"/>
          </a:p>
        </p:txBody>
      </p:sp>
      <p:sp>
        <p:nvSpPr>
          <p:cNvPr id="6" name="Slide Number Placeholder 5">
            <a:extLst>
              <a:ext uri="{FF2B5EF4-FFF2-40B4-BE49-F238E27FC236}">
                <a16:creationId xmlns:a16="http://schemas.microsoft.com/office/drawing/2014/main" id="{B78C3CA2-D155-425E-2907-01020BBD534A}"/>
              </a:ext>
            </a:extLst>
          </p:cNvPr>
          <p:cNvSpPr>
            <a:spLocks noGrp="1"/>
          </p:cNvSpPr>
          <p:nvPr>
            <p:ph type="sldNum" sz="quarter" idx="12"/>
          </p:nvPr>
        </p:nvSpPr>
        <p:spPr/>
        <p:txBody>
          <a:bodyPr/>
          <a:lstStyle/>
          <a:p>
            <a:fld id="{B6F15528-21DE-4FAA-801E-634DDDAF4B2B}" type="slidenum">
              <a:rPr lang="en-US" smtClean="0"/>
              <a:pPr/>
              <a:t>42</a:t>
            </a:fld>
            <a:endParaRPr lang="en-US"/>
          </a:p>
        </p:txBody>
      </p:sp>
      <p:sp>
        <p:nvSpPr>
          <p:cNvPr id="7" name="Title 1">
            <a:extLst>
              <a:ext uri="{FF2B5EF4-FFF2-40B4-BE49-F238E27FC236}">
                <a16:creationId xmlns:a16="http://schemas.microsoft.com/office/drawing/2014/main" id="{30B2BEF0-75A0-F43C-8621-DC3249371FD3}"/>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TAGUCHI LOSS FUNCTION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4A03B450-D3DB-66BF-E4C2-2A7BFE3477A8}"/>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DD80244D-7036-FD2E-F0DB-4F993FF704D7}"/>
              </a:ext>
            </a:extLst>
          </p:cNvPr>
          <p:cNvPicPr>
            <a:picLocks noChangeAspect="1"/>
          </p:cNvPicPr>
          <p:nvPr/>
        </p:nvPicPr>
        <p:blipFill>
          <a:blip r:embed="rId2" cstate="print"/>
          <a:stretch>
            <a:fillRect/>
          </a:stretch>
        </p:blipFill>
        <p:spPr>
          <a:xfrm>
            <a:off x="0" y="-1"/>
            <a:ext cx="1371600" cy="879475"/>
          </a:xfrm>
          <a:prstGeom prst="rect">
            <a:avLst/>
          </a:prstGeom>
        </p:spPr>
      </p:pic>
      <p:pic>
        <p:nvPicPr>
          <p:cNvPr id="3" name="Picture 2">
            <a:extLst>
              <a:ext uri="{FF2B5EF4-FFF2-40B4-BE49-F238E27FC236}">
                <a16:creationId xmlns:a16="http://schemas.microsoft.com/office/drawing/2014/main" id="{CC23880C-83A5-6D34-4FBE-AAC38D8B9BD9}"/>
              </a:ext>
            </a:extLst>
          </p:cNvPr>
          <p:cNvPicPr>
            <a:picLocks noChangeAspect="1"/>
          </p:cNvPicPr>
          <p:nvPr/>
        </p:nvPicPr>
        <p:blipFill>
          <a:blip r:embed="rId3"/>
          <a:stretch>
            <a:fillRect/>
          </a:stretch>
        </p:blipFill>
        <p:spPr>
          <a:xfrm>
            <a:off x="1143000" y="895687"/>
            <a:ext cx="6858000" cy="5143500"/>
          </a:xfrm>
          <a:prstGeom prst="rect">
            <a:avLst/>
          </a:prstGeom>
        </p:spPr>
      </p:pic>
    </p:spTree>
    <p:extLst>
      <p:ext uri="{BB962C8B-B14F-4D97-AF65-F5344CB8AC3E}">
        <p14:creationId xmlns:p14="http://schemas.microsoft.com/office/powerpoint/2010/main" val="40019315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80075-5925-7644-E824-6688A6143F8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5863957-E17F-C652-8BBB-7F6A3D539952}"/>
              </a:ext>
            </a:extLst>
          </p:cNvPr>
          <p:cNvSpPr>
            <a:spLocks noGrp="1"/>
          </p:cNvSpPr>
          <p:nvPr>
            <p:ph type="dt" sz="half" idx="10"/>
          </p:nvPr>
        </p:nvSpPr>
        <p:spPr/>
        <p:txBody>
          <a:bodyPr/>
          <a:lstStyle/>
          <a:p>
            <a:fld id="{5A03ED8A-0879-4C96-BA72-2C41DC38F518}" type="datetime1">
              <a:rPr lang="en-US" smtClean="0"/>
              <a:t>3/11/2024</a:t>
            </a:fld>
            <a:endParaRPr lang="en-US"/>
          </a:p>
        </p:txBody>
      </p:sp>
      <p:sp>
        <p:nvSpPr>
          <p:cNvPr id="6" name="Slide Number Placeholder 5">
            <a:extLst>
              <a:ext uri="{FF2B5EF4-FFF2-40B4-BE49-F238E27FC236}">
                <a16:creationId xmlns:a16="http://schemas.microsoft.com/office/drawing/2014/main" id="{AB4ED7C5-81AA-C058-7A3D-318F7FA08CCC}"/>
              </a:ext>
            </a:extLst>
          </p:cNvPr>
          <p:cNvSpPr>
            <a:spLocks noGrp="1"/>
          </p:cNvSpPr>
          <p:nvPr>
            <p:ph type="sldNum" sz="quarter" idx="12"/>
          </p:nvPr>
        </p:nvSpPr>
        <p:spPr/>
        <p:txBody>
          <a:bodyPr/>
          <a:lstStyle/>
          <a:p>
            <a:fld id="{B6F15528-21DE-4FAA-801E-634DDDAF4B2B}" type="slidenum">
              <a:rPr lang="en-US" smtClean="0"/>
              <a:pPr/>
              <a:t>43</a:t>
            </a:fld>
            <a:endParaRPr lang="en-US"/>
          </a:p>
        </p:txBody>
      </p:sp>
      <p:sp>
        <p:nvSpPr>
          <p:cNvPr id="7" name="Title 1">
            <a:extLst>
              <a:ext uri="{FF2B5EF4-FFF2-40B4-BE49-F238E27FC236}">
                <a16:creationId xmlns:a16="http://schemas.microsoft.com/office/drawing/2014/main" id="{EE395D31-2127-96FB-793B-E1B28B1A6EE2}"/>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spc="-5" dirty="0">
                <a:cs typeface="Century"/>
              </a:rPr>
              <a:t>TAGUCHI LOSS FUNCTION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26D22DA6-C9B9-CAAD-1358-B5684D3B5554}"/>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70C6827C-4B3D-3C74-8878-4B448453D155}"/>
              </a:ext>
            </a:extLst>
          </p:cNvPr>
          <p:cNvPicPr>
            <a:picLocks noChangeAspect="1"/>
          </p:cNvPicPr>
          <p:nvPr/>
        </p:nvPicPr>
        <p:blipFill>
          <a:blip r:embed="rId2" cstate="print"/>
          <a:stretch>
            <a:fillRect/>
          </a:stretch>
        </p:blipFill>
        <p:spPr>
          <a:xfrm>
            <a:off x="0" y="-1"/>
            <a:ext cx="1371600" cy="879475"/>
          </a:xfrm>
          <a:prstGeom prst="rect">
            <a:avLst/>
          </a:prstGeom>
        </p:spPr>
      </p:pic>
      <p:pic>
        <p:nvPicPr>
          <p:cNvPr id="5" name="Picture 4">
            <a:extLst>
              <a:ext uri="{FF2B5EF4-FFF2-40B4-BE49-F238E27FC236}">
                <a16:creationId xmlns:a16="http://schemas.microsoft.com/office/drawing/2014/main" id="{1111BE75-8783-DFF4-1C78-3BFFD4D245FF}"/>
              </a:ext>
            </a:extLst>
          </p:cNvPr>
          <p:cNvPicPr>
            <a:picLocks noChangeAspect="1"/>
          </p:cNvPicPr>
          <p:nvPr/>
        </p:nvPicPr>
        <p:blipFill>
          <a:blip r:embed="rId3"/>
          <a:stretch>
            <a:fillRect/>
          </a:stretch>
        </p:blipFill>
        <p:spPr>
          <a:xfrm>
            <a:off x="1752600" y="1080476"/>
            <a:ext cx="6705600" cy="5029200"/>
          </a:xfrm>
          <a:prstGeom prst="rect">
            <a:avLst/>
          </a:prstGeom>
        </p:spPr>
      </p:pic>
    </p:spTree>
    <p:extLst>
      <p:ext uri="{BB962C8B-B14F-4D97-AF65-F5344CB8AC3E}">
        <p14:creationId xmlns:p14="http://schemas.microsoft.com/office/powerpoint/2010/main" val="3208164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D5D9B-AB04-D3A2-C77D-F435A2C62F3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75EE08-D345-7982-4982-CCBAFD19BC0C}"/>
              </a:ext>
            </a:extLst>
          </p:cNvPr>
          <p:cNvSpPr>
            <a:spLocks noGrp="1"/>
          </p:cNvSpPr>
          <p:nvPr>
            <p:ph idx="1"/>
          </p:nvPr>
        </p:nvSpPr>
        <p:spPr>
          <a:xfrm>
            <a:off x="533400" y="1143000"/>
            <a:ext cx="8229600" cy="4525963"/>
          </a:xfrm>
          <a:prstGeom prst="rect">
            <a:avLst/>
          </a:prstGeom>
        </p:spPr>
        <p:txBody>
          <a:bodyPr>
            <a:normAutofit/>
          </a:bodyPr>
          <a:lstStyle/>
          <a:p>
            <a:pPr marL="0" indent="0" algn="justLow">
              <a:buNone/>
            </a:pPr>
            <a:r>
              <a:rPr lang="en-GB" sz="2400" b="1" i="0" dirty="0">
                <a:solidFill>
                  <a:srgbClr val="404041"/>
                </a:solidFill>
                <a:effectLst/>
              </a:rPr>
              <a:t> </a:t>
            </a:r>
            <a:endParaRPr lang="en-US" dirty="0"/>
          </a:p>
        </p:txBody>
      </p:sp>
      <p:sp>
        <p:nvSpPr>
          <p:cNvPr id="4" name="Date Placeholder 3">
            <a:extLst>
              <a:ext uri="{FF2B5EF4-FFF2-40B4-BE49-F238E27FC236}">
                <a16:creationId xmlns:a16="http://schemas.microsoft.com/office/drawing/2014/main" id="{5433291B-6F90-69CB-8901-4137AEA68CFE}"/>
              </a:ext>
            </a:extLst>
          </p:cNvPr>
          <p:cNvSpPr>
            <a:spLocks noGrp="1"/>
          </p:cNvSpPr>
          <p:nvPr>
            <p:ph type="dt" sz="half" idx="10"/>
          </p:nvPr>
        </p:nvSpPr>
        <p:spPr/>
        <p:txBody>
          <a:bodyPr/>
          <a:lstStyle/>
          <a:p>
            <a:fld id="{AC347704-2EC3-415F-A484-C308151C11EC}" type="datetime1">
              <a:rPr lang="en-US" smtClean="0"/>
              <a:t>3/11/2024</a:t>
            </a:fld>
            <a:endParaRPr lang="en-US"/>
          </a:p>
        </p:txBody>
      </p:sp>
      <p:sp>
        <p:nvSpPr>
          <p:cNvPr id="2" name="Footer Placeholder 1">
            <a:extLst>
              <a:ext uri="{FF2B5EF4-FFF2-40B4-BE49-F238E27FC236}">
                <a16:creationId xmlns:a16="http://schemas.microsoft.com/office/drawing/2014/main" id="{F9DB5FBF-352D-26E5-8393-1D074641F081}"/>
              </a:ext>
            </a:extLst>
          </p:cNvPr>
          <p:cNvSpPr>
            <a:spLocks noGrp="1"/>
          </p:cNvSpPr>
          <p:nvPr>
            <p:ph type="ftr" sz="quarter" idx="11"/>
          </p:nvPr>
        </p:nvSpPr>
        <p:spPr/>
        <p:txBody>
          <a:bodyPr/>
          <a:lstStyle/>
          <a:p>
            <a:r>
              <a:rPr lang="en-US"/>
              <a:t>Dheeraj     TQM           Unit4</a:t>
            </a:r>
            <a:endParaRPr lang="en-US" dirty="0"/>
          </a:p>
        </p:txBody>
      </p:sp>
      <p:sp>
        <p:nvSpPr>
          <p:cNvPr id="7" name="Title 1">
            <a:extLst>
              <a:ext uri="{FF2B5EF4-FFF2-40B4-BE49-F238E27FC236}">
                <a16:creationId xmlns:a16="http://schemas.microsoft.com/office/drawing/2014/main" id="{6E1CF476-EEA9-A1DE-1C7B-DA9DAF877DF6}"/>
              </a:ext>
            </a:extLst>
          </p:cNvPr>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GB" sz="3000" b="1" dirty="0">
                <a:latin typeface="Times New Roman" panose="02020603050405020304" pitchFamily="18" charset="0"/>
                <a:cs typeface="Times New Roman" panose="02020603050405020304" pitchFamily="18" charset="0"/>
              </a:rPr>
              <a:t>Topic Objective/Topic Outcome</a:t>
            </a:r>
            <a:endParaRPr lang="en-US" sz="3000" b="1"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613DA3F-0E58-E6C8-A85A-52E1E87C4F83}"/>
              </a:ext>
            </a:extLst>
          </p:cNvPr>
          <p:cNvGraphicFramePr>
            <a:graphicFrameLocks noGrp="1"/>
          </p:cNvGraphicFramePr>
          <p:nvPr>
            <p:extLst>
              <p:ext uri="{D42A27DB-BD31-4B8C-83A1-F6EECF244321}">
                <p14:modId xmlns:p14="http://schemas.microsoft.com/office/powerpoint/2010/main" val="3604311588"/>
              </p:ext>
            </p:extLst>
          </p:nvPr>
        </p:nvGraphicFramePr>
        <p:xfrm>
          <a:off x="723900" y="1414477"/>
          <a:ext cx="7746332" cy="4909820"/>
        </p:xfrm>
        <a:graphic>
          <a:graphicData uri="http://schemas.openxmlformats.org/drawingml/2006/table">
            <a:tbl>
              <a:tblPr firstRow="1" bandRow="1">
                <a:tableStyleId>{5C22544A-7EE6-4342-B048-85BDC9FD1C3A}</a:tableStyleId>
              </a:tblPr>
              <a:tblGrid>
                <a:gridCol w="3376322">
                  <a:extLst>
                    <a:ext uri="{9D8B030D-6E8A-4147-A177-3AD203B41FA5}">
                      <a16:colId xmlns:a16="http://schemas.microsoft.com/office/drawing/2014/main" val="20000"/>
                    </a:ext>
                  </a:extLst>
                </a:gridCol>
                <a:gridCol w="3376322">
                  <a:extLst>
                    <a:ext uri="{9D8B030D-6E8A-4147-A177-3AD203B41FA5}">
                      <a16:colId xmlns:a16="http://schemas.microsoft.com/office/drawing/2014/main" val="20002"/>
                    </a:ext>
                  </a:extLst>
                </a:gridCol>
                <a:gridCol w="993688">
                  <a:extLst>
                    <a:ext uri="{9D8B030D-6E8A-4147-A177-3AD203B41FA5}">
                      <a16:colId xmlns:a16="http://schemas.microsoft.com/office/drawing/2014/main" val="20001"/>
                    </a:ext>
                  </a:extLst>
                </a:gridCol>
              </a:tblGrid>
              <a:tr h="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latin typeface="Times New Roman" panose="02020603050405020304" pitchFamily="18" charset="0"/>
                          <a:cs typeface="Times New Roman" panose="02020603050405020304" pitchFamily="18" charset="0"/>
                        </a:rPr>
                        <a:t>Topic  Objective</a:t>
                      </a:r>
                    </a:p>
                    <a:p>
                      <a:endParaRPr lang="en-US" sz="2200" dirty="0">
                        <a:latin typeface="Times New Roman" panose="02020603050405020304" pitchFamily="18" charset="0"/>
                        <a:cs typeface="Times New Roman" panose="02020603050405020304" pitchFamily="18" charset="0"/>
                      </a:endParaRPr>
                    </a:p>
                  </a:txBody>
                  <a:tcPr/>
                </a:tc>
                <a:tc>
                  <a:txBody>
                    <a:bodyPr/>
                    <a:lstStyle/>
                    <a:p>
                      <a:r>
                        <a:rPr lang="en-US" sz="2200" dirty="0">
                          <a:latin typeface="Times New Roman" panose="02020603050405020304" pitchFamily="18" charset="0"/>
                          <a:cs typeface="Times New Roman" panose="02020603050405020304" pitchFamily="18" charset="0"/>
                        </a:rPr>
                        <a:t>Topic outcome</a:t>
                      </a:r>
                    </a:p>
                  </a:txBody>
                  <a:tcPr/>
                </a:tc>
                <a:tc>
                  <a:txBody>
                    <a:bodyPr/>
                    <a:lstStyle/>
                    <a:p>
                      <a:r>
                        <a:rPr lang="en-US" sz="2200" dirty="0">
                          <a:latin typeface="Times New Roman" panose="02020603050405020304" pitchFamily="18" charset="0"/>
                          <a:cs typeface="Times New Roman" panose="02020603050405020304" pitchFamily="18" charset="0"/>
                        </a:rPr>
                        <a:t>Mapping</a:t>
                      </a:r>
                      <a:r>
                        <a:rPr lang="en-US" sz="2200" baseline="0" dirty="0">
                          <a:latin typeface="Times New Roman" panose="02020603050405020304" pitchFamily="18" charset="0"/>
                          <a:cs typeface="Times New Roman" panose="02020603050405020304" pitchFamily="18" charset="0"/>
                        </a:rPr>
                        <a:t> with CO</a:t>
                      </a:r>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pPr marL="0" marR="0" lvl="0" indent="0" algn="just" defTabSz="914400" rtl="0" eaLnBrk="1" fontAlgn="auto" latinLnBrk="0" hangingPunct="1">
                        <a:lnSpc>
                          <a:spcPct val="200000"/>
                        </a:lnSpc>
                        <a:spcBef>
                          <a:spcPts val="0"/>
                        </a:spcBef>
                        <a:spcAft>
                          <a:spcPts val="0"/>
                        </a:spcAft>
                        <a:buClrTx/>
                        <a:buSzTx/>
                        <a:buFont typeface="Wingdings" panose="05000000000000000000" pitchFamily="2" charset="2"/>
                        <a:buNone/>
                        <a:tabLst/>
                        <a:defRPr/>
                      </a:pPr>
                      <a:r>
                        <a:rPr lang="en-US" sz="2000" b="0" i="0" dirty="0">
                          <a:effectLst/>
                          <a:latin typeface="Roboto" panose="02000000000000000000" pitchFamily="2" charset="0"/>
                        </a:rPr>
                        <a:t>Introduction to Total Productive Maintenance (TPM)</a:t>
                      </a:r>
                      <a:endParaRPr lang="en-US" sz="36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200000"/>
                        </a:lnSpc>
                        <a:spcBef>
                          <a:spcPts val="0"/>
                        </a:spcBef>
                        <a:spcAft>
                          <a:spcPts val="0"/>
                        </a:spcAft>
                        <a:buClrTx/>
                        <a:buSzTx/>
                        <a:buFont typeface="Wingdings" panose="05000000000000000000" pitchFamily="2" charset="2"/>
                        <a:buNone/>
                        <a:tabLst/>
                        <a:defRPr/>
                      </a:pPr>
                      <a:endParaRPr lang="en-US" sz="2000" b="0" i="0" dirty="0">
                        <a:effectLst/>
                        <a:latin typeface="Roboto" panose="02000000000000000000" pitchFamily="2" charset="0"/>
                      </a:endParaRPr>
                    </a:p>
                    <a:p>
                      <a:pPr algn="just">
                        <a:lnSpc>
                          <a:spcPct val="200000"/>
                        </a:lnSpc>
                        <a:buFont typeface="Wingdings" panose="05000000000000000000" pitchFamily="2" charset="2"/>
                        <a:buNone/>
                      </a:pPr>
                      <a:endParaRPr lang="en-US" sz="2000" b="0" i="0" dirty="0">
                        <a:effectLst/>
                        <a:latin typeface="Roboto" panose="02000000000000000000" pitchFamily="2" charset="0"/>
                      </a:endParaRPr>
                    </a:p>
                  </a:txBody>
                  <a:tcPr/>
                </a:tc>
                <a:tc>
                  <a:txBody>
                    <a:bodyPr/>
                    <a:lstStyle/>
                    <a:p>
                      <a:pPr algn="just">
                        <a:lnSpc>
                          <a:spcPct val="2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Student are</a:t>
                      </a:r>
                      <a:r>
                        <a:rPr lang="en-US" sz="2200" baseline="0" dirty="0">
                          <a:latin typeface="Times New Roman" panose="02020603050405020304" pitchFamily="18" charset="0"/>
                          <a:cs typeface="Times New Roman" panose="02020603050405020304" pitchFamily="18" charset="0"/>
                        </a:rPr>
                        <a:t> able to</a:t>
                      </a:r>
                      <a:r>
                        <a:rPr lang="en-US" sz="2200" dirty="0">
                          <a:latin typeface="Times New Roman" panose="02020603050405020304" pitchFamily="18" charset="0"/>
                          <a:cs typeface="Times New Roman" panose="02020603050405020304" pitchFamily="18" charset="0"/>
                        </a:rPr>
                        <a:t> understand basic</a:t>
                      </a:r>
                      <a:r>
                        <a:rPr lang="en-US" sz="2200" baseline="0" dirty="0">
                          <a:latin typeface="Times New Roman" panose="02020603050405020304" pitchFamily="18" charset="0"/>
                          <a:cs typeface="Times New Roman" panose="02020603050405020304" pitchFamily="18" charset="0"/>
                        </a:rPr>
                        <a:t> of </a:t>
                      </a:r>
                      <a:r>
                        <a:rPr lang="en-US" sz="2000" b="0" i="0" dirty="0">
                          <a:effectLst/>
                          <a:latin typeface="Roboto" panose="02000000000000000000" pitchFamily="2" charset="0"/>
                        </a:rPr>
                        <a:t>Total Productive Maintenance (TPM)</a:t>
                      </a:r>
                      <a:endParaRPr lang="en-US" sz="36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200" dirty="0">
                        <a:latin typeface="Times New Roman" pitchFamily="18" charset="0"/>
                        <a:cs typeface="Times New Roman" pitchFamily="18" charset="0"/>
                      </a:endParaRPr>
                    </a:p>
                  </a:txBody>
                  <a:tcPr/>
                </a:tc>
                <a:tc>
                  <a:txBody>
                    <a:bodyPr/>
                    <a:lstStyle/>
                    <a:p>
                      <a:r>
                        <a:rPr lang="en-US" sz="2200" dirty="0">
                          <a:latin typeface="Times New Roman" panose="02020603050405020304" pitchFamily="18" charset="0"/>
                          <a:cs typeface="Times New Roman" panose="02020603050405020304" pitchFamily="18" charset="0"/>
                        </a:rPr>
                        <a:t>CO4</a:t>
                      </a:r>
                    </a:p>
                  </a:txBody>
                  <a:tcPr/>
                </a:tc>
                <a:extLst>
                  <a:ext uri="{0D108BD9-81ED-4DB2-BD59-A6C34878D82A}">
                    <a16:rowId xmlns:a16="http://schemas.microsoft.com/office/drawing/2014/main" val="10001"/>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2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2200" dirty="0">
                        <a:latin typeface="Times New Roman" panose="02020603050405020304" pitchFamily="18" charset="0"/>
                        <a:cs typeface="Times New Roman" panose="02020603050405020304" pitchFamily="18" charset="0"/>
                      </a:endParaRPr>
                    </a:p>
                  </a:txBody>
                  <a:tcPr/>
                </a:tc>
                <a:tc>
                  <a:txBody>
                    <a:bodyPr/>
                    <a:lstStyle/>
                    <a:p>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6" name="Slide Number Placeholder 5">
            <a:extLst>
              <a:ext uri="{FF2B5EF4-FFF2-40B4-BE49-F238E27FC236}">
                <a16:creationId xmlns:a16="http://schemas.microsoft.com/office/drawing/2014/main" id="{06069422-2929-E7E3-471E-5DF341EBC0EE}"/>
              </a:ext>
            </a:extLst>
          </p:cNvPr>
          <p:cNvSpPr>
            <a:spLocks noGrp="1"/>
          </p:cNvSpPr>
          <p:nvPr>
            <p:ph type="sldNum" sz="quarter" idx="12"/>
          </p:nvPr>
        </p:nvSpPr>
        <p:spPr/>
        <p:txBody>
          <a:bodyPr/>
          <a:lstStyle/>
          <a:p>
            <a:fld id="{B6F15528-21DE-4FAA-801E-634DDDAF4B2B}" type="slidenum">
              <a:rPr lang="en-US" smtClean="0"/>
              <a:pPr/>
              <a:t>44</a:t>
            </a:fld>
            <a:endParaRPr lang="en-US"/>
          </a:p>
        </p:txBody>
      </p:sp>
      <p:pic>
        <p:nvPicPr>
          <p:cNvPr id="8" name="Picture 7">
            <a:extLst>
              <a:ext uri="{FF2B5EF4-FFF2-40B4-BE49-F238E27FC236}">
                <a16:creationId xmlns:a16="http://schemas.microsoft.com/office/drawing/2014/main" id="{59F1FAB1-C02E-149F-555B-5DC3264E2ADC}"/>
              </a:ext>
            </a:extLst>
          </p:cNvPr>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17540495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3202D-A7CE-1B39-C33B-DEE9FC5E220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F107910-9DD6-F828-A4E5-D982DD107E52}"/>
              </a:ext>
            </a:extLst>
          </p:cNvPr>
          <p:cNvSpPr>
            <a:spLocks noGrp="1"/>
          </p:cNvSpPr>
          <p:nvPr>
            <p:ph type="dt" sz="half" idx="10"/>
          </p:nvPr>
        </p:nvSpPr>
        <p:spPr/>
        <p:txBody>
          <a:bodyPr/>
          <a:lstStyle/>
          <a:p>
            <a:fld id="{EC88A0FB-30C3-4211-BD19-B708678429A4}" type="datetime1">
              <a:rPr lang="en-US" smtClean="0"/>
              <a:t>3/11/2024</a:t>
            </a:fld>
            <a:endParaRPr lang="en-US"/>
          </a:p>
        </p:txBody>
      </p:sp>
      <p:sp>
        <p:nvSpPr>
          <p:cNvPr id="6" name="Slide Number Placeholder 5">
            <a:extLst>
              <a:ext uri="{FF2B5EF4-FFF2-40B4-BE49-F238E27FC236}">
                <a16:creationId xmlns:a16="http://schemas.microsoft.com/office/drawing/2014/main" id="{235D5E31-5CA5-E021-8446-5364FAFE6918}"/>
              </a:ext>
            </a:extLst>
          </p:cNvPr>
          <p:cNvSpPr>
            <a:spLocks noGrp="1"/>
          </p:cNvSpPr>
          <p:nvPr>
            <p:ph type="sldNum" sz="quarter" idx="12"/>
          </p:nvPr>
        </p:nvSpPr>
        <p:spPr/>
        <p:txBody>
          <a:bodyPr/>
          <a:lstStyle/>
          <a:p>
            <a:fld id="{B6F15528-21DE-4FAA-801E-634DDDAF4B2B}" type="slidenum">
              <a:rPr lang="en-US" smtClean="0"/>
              <a:pPr/>
              <a:t>45</a:t>
            </a:fld>
            <a:endParaRPr lang="en-US"/>
          </a:p>
        </p:txBody>
      </p:sp>
      <p:sp>
        <p:nvSpPr>
          <p:cNvPr id="7" name="Title 1">
            <a:extLst>
              <a:ext uri="{FF2B5EF4-FFF2-40B4-BE49-F238E27FC236}">
                <a16:creationId xmlns:a16="http://schemas.microsoft.com/office/drawing/2014/main" id="{5801B8F5-1168-6D49-EE7F-C2912F7EF56B}"/>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0" i="0" dirty="0">
                <a:effectLst/>
                <a:latin typeface="Roboto" panose="02000000000000000000" pitchFamily="2" charset="0"/>
              </a:rPr>
              <a:t>Total Productive Maintenance</a:t>
            </a:r>
            <a:r>
              <a:rPr lang="en-US" sz="3200" b="1" spc="-5" dirty="0">
                <a:cs typeface="Century"/>
              </a:rPr>
              <a:t>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046FD67C-46F0-2360-95C7-6EF09E0064CF}"/>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9D6DDB4A-CDE9-DD85-B9D1-FFE2D3FFF10B}"/>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31747" name="Rectangle 3">
            <a:extLst>
              <a:ext uri="{FF2B5EF4-FFF2-40B4-BE49-F238E27FC236}">
                <a16:creationId xmlns:a16="http://schemas.microsoft.com/office/drawing/2014/main" id="{32B522F1-BBA3-1923-E20E-9521EACB6730}"/>
              </a:ext>
            </a:extLst>
          </p:cNvPr>
          <p:cNvSpPr>
            <a:spLocks noGrp="1" noChangeArrowheads="1"/>
          </p:cNvSpPr>
          <p:nvPr>
            <p:ph idx="1"/>
          </p:nvPr>
        </p:nvSpPr>
        <p:spPr>
          <a:xfrm>
            <a:off x="304800" y="1071887"/>
            <a:ext cx="8686800" cy="5137150"/>
          </a:xfrm>
        </p:spPr>
        <p:txBody>
          <a:bodyPr>
            <a:normAutofit/>
          </a:bodyPr>
          <a:lstStyle/>
          <a:p>
            <a:pPr marL="0" indent="0">
              <a:lnSpc>
                <a:spcPct val="90000"/>
              </a:lnSpc>
              <a:buNone/>
            </a:pPr>
            <a:r>
              <a:rPr lang="en-US" sz="2200" b="1" dirty="0">
                <a:latin typeface="+mj-lt"/>
                <a:ea typeface="Roboto" panose="02000000000000000000" pitchFamily="2" charset="0"/>
                <a:cs typeface="Roboto" panose="02000000000000000000" pitchFamily="2" charset="0"/>
              </a:rPr>
              <a:t>What is Maintenance?</a:t>
            </a:r>
          </a:p>
          <a:p>
            <a:pPr marL="0" indent="0">
              <a:lnSpc>
                <a:spcPct val="90000"/>
              </a:lnSpc>
              <a:buNone/>
            </a:pPr>
            <a:r>
              <a:rPr lang="en-US" sz="2200" dirty="0">
                <a:latin typeface="+mj-lt"/>
                <a:ea typeface="Roboto" panose="02000000000000000000" pitchFamily="2" charset="0"/>
                <a:cs typeface="Roboto" panose="02000000000000000000" pitchFamily="2" charset="0"/>
              </a:rPr>
              <a:t>The </a:t>
            </a:r>
            <a:r>
              <a:rPr lang="en-US" sz="2200" dirty="0" err="1">
                <a:latin typeface="+mj-lt"/>
                <a:ea typeface="Roboto" panose="02000000000000000000" pitchFamily="2" charset="0"/>
                <a:cs typeface="Roboto" panose="02000000000000000000" pitchFamily="2" charset="0"/>
              </a:rPr>
              <a:t>Management,control,execution</a:t>
            </a:r>
            <a:r>
              <a:rPr lang="en-US" sz="2200" dirty="0">
                <a:latin typeface="+mj-lt"/>
                <a:ea typeface="Roboto" panose="02000000000000000000" pitchFamily="2" charset="0"/>
                <a:cs typeface="Roboto" panose="02000000000000000000" pitchFamily="2" charset="0"/>
              </a:rPr>
              <a:t> and  quality assurance of </a:t>
            </a:r>
            <a:r>
              <a:rPr lang="en-US" sz="2200" dirty="0" err="1">
                <a:latin typeface="+mj-lt"/>
                <a:ea typeface="Roboto" panose="02000000000000000000" pitchFamily="2" charset="0"/>
                <a:cs typeface="Roboto" panose="02000000000000000000" pitchFamily="2" charset="0"/>
              </a:rPr>
              <a:t>activitis</a:t>
            </a:r>
            <a:r>
              <a:rPr lang="en-US" sz="2200" dirty="0">
                <a:latin typeface="+mj-lt"/>
                <a:ea typeface="Roboto" panose="02000000000000000000" pitchFamily="2" charset="0"/>
                <a:cs typeface="Roboto" panose="02000000000000000000" pitchFamily="2" charset="0"/>
              </a:rPr>
              <a:t> which  ensure	the achievement of optimum  availability and performance of a plant  in order to meet business objectives.</a:t>
            </a:r>
          </a:p>
          <a:p>
            <a:pPr marL="0" indent="0">
              <a:lnSpc>
                <a:spcPct val="90000"/>
              </a:lnSpc>
              <a:buNone/>
            </a:pPr>
            <a:endParaRPr lang="en-US" sz="2200" dirty="0">
              <a:latin typeface="+mj-lt"/>
              <a:ea typeface="Roboto" panose="02000000000000000000" pitchFamily="2" charset="0"/>
              <a:cs typeface="Roboto" panose="02000000000000000000" pitchFamily="2" charset="0"/>
            </a:endParaRPr>
          </a:p>
          <a:p>
            <a:pPr marL="0" indent="0">
              <a:lnSpc>
                <a:spcPct val="90000"/>
              </a:lnSpc>
              <a:buNone/>
            </a:pPr>
            <a:r>
              <a:rPr lang="en-US" sz="2200" b="1" dirty="0">
                <a:latin typeface="+mj-lt"/>
                <a:ea typeface="Roboto" panose="02000000000000000000" pitchFamily="2" charset="0"/>
                <a:cs typeface="Roboto" panose="02000000000000000000" pitchFamily="2" charset="0"/>
              </a:rPr>
              <a:t>Types of maintenance:</a:t>
            </a:r>
          </a:p>
          <a:p>
            <a:pPr marL="0" indent="0">
              <a:lnSpc>
                <a:spcPct val="90000"/>
              </a:lnSpc>
              <a:buNone/>
            </a:pPr>
            <a:endParaRPr lang="en-US" sz="2200" b="1" dirty="0">
              <a:latin typeface="+mj-lt"/>
              <a:ea typeface="Roboto" panose="02000000000000000000" pitchFamily="2" charset="0"/>
              <a:cs typeface="Roboto" panose="02000000000000000000" pitchFamily="2" charset="0"/>
            </a:endParaRP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Preventive Maintenance</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Predictive Maintenance</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Scheduled Maintenance</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Breakdown Maintenance</a:t>
            </a:r>
          </a:p>
          <a:p>
            <a:pPr marL="0" indent="0">
              <a:lnSpc>
                <a:spcPct val="90000"/>
              </a:lnSpc>
              <a:buNone/>
            </a:pPr>
            <a:endParaRPr lang="en-US" sz="2200" dirty="0">
              <a:latin typeface="+mj-lt"/>
              <a:ea typeface="Roboto" panose="02000000000000000000" pitchFamily="2" charset="0"/>
              <a:cs typeface="Roboto" panose="02000000000000000000" pitchFamily="2" charset="0"/>
            </a:endParaRPr>
          </a:p>
          <a:p>
            <a:pPr marL="0" indent="0">
              <a:lnSpc>
                <a:spcPct val="90000"/>
              </a:lnSpc>
              <a:buNone/>
            </a:pPr>
            <a:endParaRPr lang="en-US" sz="2200" b="0" i="0" dirty="0">
              <a:effectLst/>
              <a:latin typeface="+mj-lt"/>
              <a:ea typeface="Roboto" panose="02000000000000000000" pitchFamily="2" charset="0"/>
              <a:cs typeface="Roboto" panose="02000000000000000000" pitchFamily="2" charset="0"/>
            </a:endParaRPr>
          </a:p>
          <a:p>
            <a:pPr>
              <a:lnSpc>
                <a:spcPct val="90000"/>
              </a:lnSpc>
            </a:pPr>
            <a:endParaRPr lang="en-US" sz="2200" b="0" i="0" dirty="0">
              <a:effectLst/>
              <a:latin typeface="+mj-lt"/>
              <a:ea typeface="Roboto" panose="02000000000000000000" pitchFamily="2" charset="0"/>
              <a:cs typeface="Roboto" panose="02000000000000000000" pitchFamily="2" charset="0"/>
            </a:endParaRPr>
          </a:p>
          <a:p>
            <a:pPr>
              <a:lnSpc>
                <a:spcPct val="90000"/>
              </a:lnSpc>
            </a:pPr>
            <a:endParaRPr lang="en-US" altLang="en-US" sz="2200" dirty="0">
              <a:latin typeface="+mj-lt"/>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401065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84549-8DE2-3340-D623-D65AD07986D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20F858F-791A-0F4F-F2C6-62BAA2769CA0}"/>
              </a:ext>
            </a:extLst>
          </p:cNvPr>
          <p:cNvSpPr>
            <a:spLocks noGrp="1"/>
          </p:cNvSpPr>
          <p:nvPr>
            <p:ph type="dt" sz="half" idx="10"/>
          </p:nvPr>
        </p:nvSpPr>
        <p:spPr/>
        <p:txBody>
          <a:bodyPr/>
          <a:lstStyle/>
          <a:p>
            <a:fld id="{D4C7D842-13A5-47A3-A288-94E83BB9028F}" type="datetime1">
              <a:rPr lang="en-US" smtClean="0"/>
              <a:t>3/11/2024</a:t>
            </a:fld>
            <a:endParaRPr lang="en-US"/>
          </a:p>
        </p:txBody>
      </p:sp>
      <p:sp>
        <p:nvSpPr>
          <p:cNvPr id="6" name="Slide Number Placeholder 5">
            <a:extLst>
              <a:ext uri="{FF2B5EF4-FFF2-40B4-BE49-F238E27FC236}">
                <a16:creationId xmlns:a16="http://schemas.microsoft.com/office/drawing/2014/main" id="{836DADAD-D6EE-9794-DB5E-856A9B7237E9}"/>
              </a:ext>
            </a:extLst>
          </p:cNvPr>
          <p:cNvSpPr>
            <a:spLocks noGrp="1"/>
          </p:cNvSpPr>
          <p:nvPr>
            <p:ph type="sldNum" sz="quarter" idx="12"/>
          </p:nvPr>
        </p:nvSpPr>
        <p:spPr/>
        <p:txBody>
          <a:bodyPr/>
          <a:lstStyle/>
          <a:p>
            <a:fld id="{B6F15528-21DE-4FAA-801E-634DDDAF4B2B}" type="slidenum">
              <a:rPr lang="en-US" smtClean="0"/>
              <a:pPr/>
              <a:t>46</a:t>
            </a:fld>
            <a:endParaRPr lang="en-US"/>
          </a:p>
        </p:txBody>
      </p:sp>
      <p:sp>
        <p:nvSpPr>
          <p:cNvPr id="7" name="Title 1">
            <a:extLst>
              <a:ext uri="{FF2B5EF4-FFF2-40B4-BE49-F238E27FC236}">
                <a16:creationId xmlns:a16="http://schemas.microsoft.com/office/drawing/2014/main" id="{E727AD4E-8225-44A6-ABB4-18293332AA49}"/>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0" i="0" dirty="0">
                <a:effectLst/>
                <a:latin typeface="Roboto" panose="02000000000000000000" pitchFamily="2" charset="0"/>
              </a:rPr>
              <a:t>Total Productive Maintenance</a:t>
            </a:r>
            <a:r>
              <a:rPr lang="en-US" sz="3200" b="1" spc="-5" dirty="0">
                <a:cs typeface="Century"/>
              </a:rPr>
              <a:t>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882C3058-B690-34F4-919D-8C72EF9A8669}"/>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79CABF77-B578-CD6C-9E00-6F18FB328EB9}"/>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31747" name="Rectangle 3">
            <a:extLst>
              <a:ext uri="{FF2B5EF4-FFF2-40B4-BE49-F238E27FC236}">
                <a16:creationId xmlns:a16="http://schemas.microsoft.com/office/drawing/2014/main" id="{E6935E31-BA94-9EEA-597D-5D7756CBE2DA}"/>
              </a:ext>
            </a:extLst>
          </p:cNvPr>
          <p:cNvSpPr>
            <a:spLocks noGrp="1" noChangeArrowheads="1"/>
          </p:cNvSpPr>
          <p:nvPr>
            <p:ph idx="1"/>
          </p:nvPr>
        </p:nvSpPr>
        <p:spPr>
          <a:xfrm>
            <a:off x="304800" y="952499"/>
            <a:ext cx="8686800" cy="5137150"/>
          </a:xfrm>
        </p:spPr>
        <p:txBody>
          <a:bodyPr>
            <a:normAutofit/>
          </a:bodyPr>
          <a:lstStyle/>
          <a:p>
            <a:pPr marL="0" indent="0">
              <a:lnSpc>
                <a:spcPct val="90000"/>
              </a:lnSpc>
              <a:buNone/>
            </a:pPr>
            <a:r>
              <a:rPr lang="en-US" sz="2200" b="1" dirty="0">
                <a:latin typeface="+mj-lt"/>
                <a:ea typeface="Roboto" panose="02000000000000000000" pitchFamily="2" charset="0"/>
                <a:cs typeface="Roboto" panose="02000000000000000000" pitchFamily="2" charset="0"/>
              </a:rPr>
              <a:t>What is Total Productive Maintenance?</a:t>
            </a:r>
          </a:p>
          <a:p>
            <a:pPr marL="0" indent="0">
              <a:lnSpc>
                <a:spcPct val="90000"/>
              </a:lnSpc>
              <a:buNone/>
            </a:pPr>
            <a:endParaRPr lang="en-US" sz="2200" b="1" dirty="0">
              <a:latin typeface="+mj-lt"/>
              <a:ea typeface="Roboto" panose="02000000000000000000" pitchFamily="2" charset="0"/>
              <a:cs typeface="Roboto" panose="02000000000000000000" pitchFamily="2" charset="0"/>
            </a:endParaRPr>
          </a:p>
          <a:p>
            <a:pPr marL="0" indent="0">
              <a:lnSpc>
                <a:spcPct val="90000"/>
              </a:lnSpc>
              <a:buNone/>
            </a:pPr>
            <a:r>
              <a:rPr lang="en-US" sz="2200" b="1" dirty="0">
                <a:latin typeface="+mj-lt"/>
                <a:ea typeface="Roboto" panose="02000000000000000000" pitchFamily="2" charset="0"/>
                <a:cs typeface="Roboto" panose="02000000000000000000" pitchFamily="2" charset="0"/>
              </a:rPr>
              <a:t>T: TOTAL</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Participation of all Employees.</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Include all Departments, operation, equipment and process.</a:t>
            </a:r>
          </a:p>
          <a:p>
            <a:pPr>
              <a:lnSpc>
                <a:spcPct val="90000"/>
              </a:lnSpc>
              <a:buFont typeface="Wingdings" panose="05000000000000000000" pitchFamily="2" charset="2"/>
              <a:buChar char="ü"/>
            </a:pPr>
            <a:endParaRPr lang="en-US" sz="2200" dirty="0">
              <a:latin typeface="+mj-lt"/>
              <a:ea typeface="Roboto" panose="02000000000000000000" pitchFamily="2" charset="0"/>
              <a:cs typeface="Roboto" panose="02000000000000000000" pitchFamily="2" charset="0"/>
            </a:endParaRPr>
          </a:p>
          <a:p>
            <a:pPr marL="0" indent="0">
              <a:lnSpc>
                <a:spcPct val="90000"/>
              </a:lnSpc>
              <a:buNone/>
            </a:pPr>
            <a:r>
              <a:rPr lang="en-US" sz="2200" b="1" dirty="0">
                <a:latin typeface="+mj-lt"/>
                <a:ea typeface="Roboto" panose="02000000000000000000" pitchFamily="2" charset="0"/>
                <a:cs typeface="Roboto" panose="02000000000000000000" pitchFamily="2" charset="0"/>
              </a:rPr>
              <a:t>P: PRODUCTIVE</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Pursue the maximization system of efficiency of the production by making all loses zero.</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Zero accidents Zero defects Zero breakdowns.</a:t>
            </a:r>
          </a:p>
          <a:p>
            <a:pPr>
              <a:lnSpc>
                <a:spcPct val="90000"/>
              </a:lnSpc>
              <a:buFont typeface="Wingdings" panose="05000000000000000000" pitchFamily="2" charset="2"/>
              <a:buChar char="ü"/>
            </a:pPr>
            <a:endParaRPr lang="en-US" sz="2200" dirty="0">
              <a:latin typeface="+mj-lt"/>
              <a:ea typeface="Roboto" panose="02000000000000000000" pitchFamily="2" charset="0"/>
              <a:cs typeface="Roboto" panose="02000000000000000000" pitchFamily="2" charset="0"/>
            </a:endParaRPr>
          </a:p>
          <a:p>
            <a:pPr marL="0" indent="0">
              <a:lnSpc>
                <a:spcPct val="90000"/>
              </a:lnSpc>
              <a:buNone/>
            </a:pPr>
            <a:r>
              <a:rPr lang="en-US" sz="2200" b="1" dirty="0">
                <a:latin typeface="+mj-lt"/>
                <a:ea typeface="Roboto" panose="02000000000000000000" pitchFamily="2" charset="0"/>
                <a:cs typeface="Roboto" panose="02000000000000000000" pitchFamily="2" charset="0"/>
              </a:rPr>
              <a:t>M: MAINTENANCE</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To improve the efficiency of the equipment.</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Maintenance means the entire life cycle of the production system</a:t>
            </a:r>
          </a:p>
          <a:p>
            <a:pPr marL="0" indent="0">
              <a:lnSpc>
                <a:spcPct val="90000"/>
              </a:lnSpc>
              <a:buNone/>
            </a:pPr>
            <a:endParaRPr lang="en-US" sz="2200" b="0" i="0" dirty="0">
              <a:effectLst/>
              <a:latin typeface="+mj-lt"/>
              <a:ea typeface="Roboto" panose="02000000000000000000" pitchFamily="2" charset="0"/>
              <a:cs typeface="Roboto" panose="02000000000000000000" pitchFamily="2" charset="0"/>
            </a:endParaRPr>
          </a:p>
          <a:p>
            <a:pPr>
              <a:lnSpc>
                <a:spcPct val="90000"/>
              </a:lnSpc>
            </a:pPr>
            <a:endParaRPr lang="en-US" sz="2200" b="0" i="0" dirty="0">
              <a:effectLst/>
              <a:latin typeface="+mj-lt"/>
              <a:ea typeface="Roboto" panose="02000000000000000000" pitchFamily="2" charset="0"/>
              <a:cs typeface="Roboto" panose="02000000000000000000" pitchFamily="2" charset="0"/>
            </a:endParaRPr>
          </a:p>
          <a:p>
            <a:pPr>
              <a:lnSpc>
                <a:spcPct val="90000"/>
              </a:lnSpc>
            </a:pPr>
            <a:endParaRPr lang="en-US" altLang="en-US" sz="2200" dirty="0">
              <a:latin typeface="+mj-lt"/>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8782733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7209B-800C-0E12-C1F6-A5004915D83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CC0877D-7A70-F164-65B4-1F60F01296E5}"/>
              </a:ext>
            </a:extLst>
          </p:cNvPr>
          <p:cNvSpPr>
            <a:spLocks noGrp="1"/>
          </p:cNvSpPr>
          <p:nvPr>
            <p:ph type="dt" sz="half" idx="10"/>
          </p:nvPr>
        </p:nvSpPr>
        <p:spPr/>
        <p:txBody>
          <a:bodyPr/>
          <a:lstStyle/>
          <a:p>
            <a:fld id="{3937F70D-DD15-40EE-9AD0-3D2CE4B6A980}" type="datetime1">
              <a:rPr lang="en-US" smtClean="0"/>
              <a:t>3/11/2024</a:t>
            </a:fld>
            <a:endParaRPr lang="en-US"/>
          </a:p>
        </p:txBody>
      </p:sp>
      <p:sp>
        <p:nvSpPr>
          <p:cNvPr id="6" name="Slide Number Placeholder 5">
            <a:extLst>
              <a:ext uri="{FF2B5EF4-FFF2-40B4-BE49-F238E27FC236}">
                <a16:creationId xmlns:a16="http://schemas.microsoft.com/office/drawing/2014/main" id="{03087155-669D-63E6-B7E6-BE7D2145AA14}"/>
              </a:ext>
            </a:extLst>
          </p:cNvPr>
          <p:cNvSpPr>
            <a:spLocks noGrp="1"/>
          </p:cNvSpPr>
          <p:nvPr>
            <p:ph type="sldNum" sz="quarter" idx="12"/>
          </p:nvPr>
        </p:nvSpPr>
        <p:spPr/>
        <p:txBody>
          <a:bodyPr/>
          <a:lstStyle/>
          <a:p>
            <a:fld id="{B6F15528-21DE-4FAA-801E-634DDDAF4B2B}" type="slidenum">
              <a:rPr lang="en-US" smtClean="0"/>
              <a:pPr/>
              <a:t>47</a:t>
            </a:fld>
            <a:endParaRPr lang="en-US"/>
          </a:p>
        </p:txBody>
      </p:sp>
      <p:sp>
        <p:nvSpPr>
          <p:cNvPr id="7" name="Title 1">
            <a:extLst>
              <a:ext uri="{FF2B5EF4-FFF2-40B4-BE49-F238E27FC236}">
                <a16:creationId xmlns:a16="http://schemas.microsoft.com/office/drawing/2014/main" id="{DFA76A08-EAD9-3A2F-637B-49B69F293360}"/>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0" i="0" dirty="0">
                <a:effectLst/>
                <a:latin typeface="Roboto" panose="02000000000000000000" pitchFamily="2" charset="0"/>
              </a:rPr>
              <a:t>Total Productive Maintenance</a:t>
            </a:r>
            <a:r>
              <a:rPr lang="en-US" sz="3200" b="1" spc="-5" dirty="0">
                <a:cs typeface="Century"/>
              </a:rPr>
              <a:t>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875A33C5-8559-D2B8-CE13-96AA97E0514F}"/>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083B8F2A-357D-4BA1-A87A-71143B121D9A}"/>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31747" name="Rectangle 3">
            <a:extLst>
              <a:ext uri="{FF2B5EF4-FFF2-40B4-BE49-F238E27FC236}">
                <a16:creationId xmlns:a16="http://schemas.microsoft.com/office/drawing/2014/main" id="{E6EF0339-6EF9-EF6A-AFEC-5DD96A1BC226}"/>
              </a:ext>
            </a:extLst>
          </p:cNvPr>
          <p:cNvSpPr>
            <a:spLocks noGrp="1" noChangeArrowheads="1"/>
          </p:cNvSpPr>
          <p:nvPr>
            <p:ph idx="1"/>
          </p:nvPr>
        </p:nvSpPr>
        <p:spPr>
          <a:xfrm>
            <a:off x="304800" y="934200"/>
            <a:ext cx="8686800" cy="5137150"/>
          </a:xfrm>
        </p:spPr>
        <p:txBody>
          <a:bodyPr>
            <a:normAutofit/>
          </a:bodyPr>
          <a:lstStyle/>
          <a:p>
            <a:pPr marL="0" indent="0">
              <a:lnSpc>
                <a:spcPct val="90000"/>
              </a:lnSpc>
              <a:buNone/>
            </a:pPr>
            <a:r>
              <a:rPr lang="en-US" sz="2200" b="1" dirty="0">
                <a:latin typeface="+mj-lt"/>
                <a:ea typeface="Roboto" panose="02000000000000000000" pitchFamily="2" charset="0"/>
                <a:cs typeface="Roboto" panose="02000000000000000000" pitchFamily="2" charset="0"/>
              </a:rPr>
              <a:t>IT IS  A JAPANESE APPROACH, AND IT IS ABOUT TO:</a:t>
            </a:r>
          </a:p>
          <a:p>
            <a:pPr marL="0" indent="0">
              <a:lnSpc>
                <a:spcPct val="90000"/>
              </a:lnSpc>
              <a:buNone/>
            </a:pPr>
            <a:endParaRPr lang="en-US" sz="2200" dirty="0">
              <a:latin typeface="+mj-lt"/>
              <a:ea typeface="Roboto" panose="02000000000000000000" pitchFamily="2" charset="0"/>
              <a:cs typeface="Roboto" panose="02000000000000000000" pitchFamily="2" charset="0"/>
            </a:endParaRPr>
          </a:p>
          <a:p>
            <a:pPr>
              <a:lnSpc>
                <a:spcPct val="90000"/>
              </a:lnSpc>
              <a:buFont typeface="Wingdings" panose="05000000000000000000" pitchFamily="2" charset="2"/>
              <a:buChar char="q"/>
            </a:pPr>
            <a:r>
              <a:rPr lang="en-US" sz="2200" dirty="0">
                <a:latin typeface="+mj-lt"/>
                <a:ea typeface="Roboto" panose="02000000000000000000" pitchFamily="2" charset="0"/>
                <a:cs typeface="Roboto" panose="02000000000000000000" pitchFamily="2" charset="0"/>
              </a:rPr>
              <a:t>Creating </a:t>
            </a:r>
            <a:r>
              <a:rPr lang="en-US" sz="2200" b="1" dirty="0">
                <a:latin typeface="+mj-lt"/>
                <a:ea typeface="Roboto" panose="02000000000000000000" pitchFamily="2" charset="0"/>
                <a:cs typeface="Roboto" panose="02000000000000000000" pitchFamily="2" charset="0"/>
              </a:rPr>
              <a:t>company culture </a:t>
            </a:r>
            <a:r>
              <a:rPr lang="en-US" sz="2200" dirty="0">
                <a:latin typeface="+mj-lt"/>
                <a:ea typeface="Roboto" panose="02000000000000000000" pitchFamily="2" charset="0"/>
                <a:cs typeface="Roboto" panose="02000000000000000000" pitchFamily="2" charset="0"/>
              </a:rPr>
              <a:t>for maximum efficiency</a:t>
            </a:r>
          </a:p>
          <a:p>
            <a:pPr>
              <a:lnSpc>
                <a:spcPct val="90000"/>
              </a:lnSpc>
              <a:buFont typeface="Wingdings" panose="05000000000000000000" pitchFamily="2" charset="2"/>
              <a:buChar char="q"/>
            </a:pPr>
            <a:r>
              <a:rPr lang="en-US" sz="2200" dirty="0">
                <a:latin typeface="+mj-lt"/>
                <a:ea typeface="Roboto" panose="02000000000000000000" pitchFamily="2" charset="0"/>
                <a:cs typeface="Roboto" panose="02000000000000000000" pitchFamily="2" charset="0"/>
              </a:rPr>
              <a:t>Striving to </a:t>
            </a:r>
            <a:r>
              <a:rPr lang="en-US" sz="2200" b="1" dirty="0">
                <a:latin typeface="+mj-lt"/>
                <a:ea typeface="Roboto" panose="02000000000000000000" pitchFamily="2" charset="0"/>
                <a:cs typeface="Roboto" panose="02000000000000000000" pitchFamily="2" charset="0"/>
              </a:rPr>
              <a:t>prevent losses </a:t>
            </a:r>
            <a:r>
              <a:rPr lang="en-US" sz="2200" dirty="0">
                <a:latin typeface="+mj-lt"/>
                <a:ea typeface="Roboto" panose="02000000000000000000" pitchFamily="2" charset="0"/>
                <a:cs typeface="Roboto" panose="02000000000000000000" pitchFamily="2" charset="0"/>
              </a:rPr>
              <a:t>with </a:t>
            </a:r>
            <a:r>
              <a:rPr lang="en-US" sz="2200" b="1" dirty="0">
                <a:latin typeface="+mj-lt"/>
                <a:ea typeface="Roboto" panose="02000000000000000000" pitchFamily="2" charset="0"/>
                <a:cs typeface="Roboto" panose="02000000000000000000" pitchFamily="2" charset="0"/>
              </a:rPr>
              <a:t>minimum cost</a:t>
            </a:r>
          </a:p>
          <a:p>
            <a:pPr>
              <a:lnSpc>
                <a:spcPct val="90000"/>
              </a:lnSpc>
              <a:buFont typeface="Wingdings" panose="05000000000000000000" pitchFamily="2" charset="2"/>
              <a:buChar char="q"/>
            </a:pPr>
            <a:r>
              <a:rPr lang="en-US" sz="2200" b="1" dirty="0">
                <a:latin typeface="+mj-lt"/>
                <a:ea typeface="Roboto" panose="02000000000000000000" pitchFamily="2" charset="0"/>
                <a:cs typeface="Roboto" panose="02000000000000000000" pitchFamily="2" charset="0"/>
              </a:rPr>
              <a:t>Zero breakdowns </a:t>
            </a:r>
            <a:r>
              <a:rPr lang="en-US" sz="2200" dirty="0">
                <a:latin typeface="+mj-lt"/>
                <a:ea typeface="Roboto" panose="02000000000000000000" pitchFamily="2" charset="0"/>
                <a:cs typeface="Roboto" panose="02000000000000000000" pitchFamily="2" charset="0"/>
              </a:rPr>
              <a:t>and failures, Zero accident, and  Zero defects etc.</a:t>
            </a:r>
          </a:p>
          <a:p>
            <a:pPr>
              <a:lnSpc>
                <a:spcPct val="90000"/>
              </a:lnSpc>
              <a:buFont typeface="Wingdings" panose="05000000000000000000" pitchFamily="2" charset="2"/>
              <a:buChar char="q"/>
            </a:pPr>
            <a:r>
              <a:rPr lang="en-US" sz="2200" dirty="0">
                <a:latin typeface="+mj-lt"/>
                <a:ea typeface="Roboto" panose="02000000000000000000" pitchFamily="2" charset="0"/>
                <a:cs typeface="Roboto" panose="02000000000000000000" pitchFamily="2" charset="0"/>
              </a:rPr>
              <a:t>The essence of </a:t>
            </a:r>
            <a:r>
              <a:rPr lang="en-US" sz="2200" b="1" dirty="0">
                <a:latin typeface="+mj-lt"/>
                <a:ea typeface="Roboto" panose="02000000000000000000" pitchFamily="2" charset="0"/>
                <a:cs typeface="Roboto" panose="02000000000000000000" pitchFamily="2" charset="0"/>
              </a:rPr>
              <a:t>team work </a:t>
            </a:r>
            <a:r>
              <a:rPr lang="en-US" sz="2200" dirty="0">
                <a:latin typeface="+mj-lt"/>
                <a:ea typeface="Roboto" panose="02000000000000000000" pitchFamily="2" charset="0"/>
                <a:cs typeface="Roboto" panose="02000000000000000000" pitchFamily="2" charset="0"/>
              </a:rPr>
              <a:t>(small group activity) focused  on condition and performance of facilities to achieve zero loss for  improvement</a:t>
            </a:r>
          </a:p>
          <a:p>
            <a:pPr>
              <a:lnSpc>
                <a:spcPct val="90000"/>
              </a:lnSpc>
              <a:buFont typeface="Wingdings" panose="05000000000000000000" pitchFamily="2" charset="2"/>
              <a:buChar char="q"/>
            </a:pPr>
            <a:r>
              <a:rPr lang="en-US" sz="2200" b="1" dirty="0">
                <a:latin typeface="+mj-lt"/>
                <a:ea typeface="Roboto" panose="02000000000000000000" pitchFamily="2" charset="0"/>
                <a:cs typeface="Roboto" panose="02000000000000000000" pitchFamily="2" charset="0"/>
              </a:rPr>
              <a:t>Involvement</a:t>
            </a:r>
            <a:r>
              <a:rPr lang="en-US" sz="2200" dirty="0">
                <a:latin typeface="+mj-lt"/>
                <a:ea typeface="Roboto" panose="02000000000000000000" pitchFamily="2" charset="0"/>
                <a:cs typeface="Roboto" panose="02000000000000000000" pitchFamily="2" charset="0"/>
              </a:rPr>
              <a:t> of all people from top management to  operator</a:t>
            </a:r>
          </a:p>
          <a:p>
            <a:pPr marL="0" indent="0">
              <a:lnSpc>
                <a:spcPct val="90000"/>
              </a:lnSpc>
              <a:buNone/>
            </a:pPr>
            <a:endParaRPr lang="en-US" sz="2200" b="0" i="0" dirty="0">
              <a:effectLst/>
              <a:latin typeface="+mj-lt"/>
              <a:ea typeface="Roboto" panose="02000000000000000000" pitchFamily="2" charset="0"/>
              <a:cs typeface="Roboto" panose="02000000000000000000" pitchFamily="2" charset="0"/>
            </a:endParaRPr>
          </a:p>
          <a:p>
            <a:pPr>
              <a:lnSpc>
                <a:spcPct val="90000"/>
              </a:lnSpc>
              <a:buFont typeface="Wingdings" panose="05000000000000000000" pitchFamily="2" charset="2"/>
              <a:buChar char="Ø"/>
            </a:pPr>
            <a:r>
              <a:rPr lang="en-US" sz="2200" b="0" i="0" dirty="0">
                <a:effectLst/>
                <a:latin typeface="+mj-lt"/>
                <a:ea typeface="Roboto" panose="02000000000000000000" pitchFamily="2" charset="0"/>
                <a:cs typeface="Roboto" panose="02000000000000000000" pitchFamily="2" charset="0"/>
              </a:rPr>
              <a:t>TPM first introduced in Japan 20 years ago and rigorously been applied in past 10 years </a:t>
            </a:r>
          </a:p>
          <a:p>
            <a:pPr>
              <a:lnSpc>
                <a:spcPct val="90000"/>
              </a:lnSpc>
              <a:buFont typeface="Wingdings" panose="05000000000000000000" pitchFamily="2" charset="2"/>
              <a:buChar char="Ø"/>
            </a:pPr>
            <a:endParaRPr lang="en-US" sz="2200" b="0" i="0" dirty="0">
              <a:effectLst/>
              <a:latin typeface="+mj-lt"/>
              <a:ea typeface="Roboto" panose="02000000000000000000" pitchFamily="2" charset="0"/>
              <a:cs typeface="Roboto" panose="02000000000000000000" pitchFamily="2" charset="0"/>
            </a:endParaRPr>
          </a:p>
          <a:p>
            <a:pPr>
              <a:lnSpc>
                <a:spcPct val="90000"/>
              </a:lnSpc>
              <a:buFont typeface="Wingdings" panose="05000000000000000000" pitchFamily="2" charset="2"/>
              <a:buChar char="Ø"/>
            </a:pPr>
            <a:r>
              <a:rPr lang="en-US" sz="2200" b="0" i="0" dirty="0">
                <a:effectLst/>
                <a:latin typeface="+mj-lt"/>
                <a:ea typeface="Roboto" panose="02000000000000000000" pitchFamily="2" charset="0"/>
                <a:cs typeface="Roboto" panose="02000000000000000000" pitchFamily="2" charset="0"/>
              </a:rPr>
              <a:t>TPM planning &amp; implementation in Japanese factories  supported by JIPM (Japan Institute of Plant Maintenance)</a:t>
            </a:r>
          </a:p>
          <a:p>
            <a:pPr>
              <a:lnSpc>
                <a:spcPct val="90000"/>
              </a:lnSpc>
            </a:pPr>
            <a:endParaRPr lang="en-US" sz="2200" b="0" i="0" dirty="0">
              <a:effectLst/>
              <a:latin typeface="+mj-lt"/>
              <a:ea typeface="Roboto" panose="02000000000000000000" pitchFamily="2" charset="0"/>
              <a:cs typeface="Roboto" panose="02000000000000000000" pitchFamily="2" charset="0"/>
            </a:endParaRPr>
          </a:p>
          <a:p>
            <a:pPr>
              <a:lnSpc>
                <a:spcPct val="90000"/>
              </a:lnSpc>
            </a:pPr>
            <a:endParaRPr lang="en-US" altLang="en-US" sz="2200" dirty="0">
              <a:latin typeface="+mj-lt"/>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6159044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CBE72-553E-CF29-D961-1CDB1F1D49B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985ECC4-C20D-2BC8-646D-2907BD08C563}"/>
              </a:ext>
            </a:extLst>
          </p:cNvPr>
          <p:cNvSpPr>
            <a:spLocks noGrp="1"/>
          </p:cNvSpPr>
          <p:nvPr>
            <p:ph type="dt" sz="half" idx="10"/>
          </p:nvPr>
        </p:nvSpPr>
        <p:spPr/>
        <p:txBody>
          <a:bodyPr/>
          <a:lstStyle/>
          <a:p>
            <a:fld id="{B1374F95-5847-44C8-BD21-9B8EDEDAC351}" type="datetime1">
              <a:rPr lang="en-US" smtClean="0"/>
              <a:t>3/11/2024</a:t>
            </a:fld>
            <a:endParaRPr lang="en-US"/>
          </a:p>
        </p:txBody>
      </p:sp>
      <p:sp>
        <p:nvSpPr>
          <p:cNvPr id="6" name="Slide Number Placeholder 5">
            <a:extLst>
              <a:ext uri="{FF2B5EF4-FFF2-40B4-BE49-F238E27FC236}">
                <a16:creationId xmlns:a16="http://schemas.microsoft.com/office/drawing/2014/main" id="{C10D42DB-DDD9-FC33-954B-E34562FE44AA}"/>
              </a:ext>
            </a:extLst>
          </p:cNvPr>
          <p:cNvSpPr>
            <a:spLocks noGrp="1"/>
          </p:cNvSpPr>
          <p:nvPr>
            <p:ph type="sldNum" sz="quarter" idx="12"/>
          </p:nvPr>
        </p:nvSpPr>
        <p:spPr/>
        <p:txBody>
          <a:bodyPr/>
          <a:lstStyle/>
          <a:p>
            <a:fld id="{B6F15528-21DE-4FAA-801E-634DDDAF4B2B}" type="slidenum">
              <a:rPr lang="en-US" smtClean="0"/>
              <a:pPr/>
              <a:t>48</a:t>
            </a:fld>
            <a:endParaRPr lang="en-US"/>
          </a:p>
        </p:txBody>
      </p:sp>
      <p:sp>
        <p:nvSpPr>
          <p:cNvPr id="7" name="Title 1">
            <a:extLst>
              <a:ext uri="{FF2B5EF4-FFF2-40B4-BE49-F238E27FC236}">
                <a16:creationId xmlns:a16="http://schemas.microsoft.com/office/drawing/2014/main" id="{7C80856F-242A-D1C1-94DC-535055D6344C}"/>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0" i="0" dirty="0">
                <a:effectLst/>
                <a:latin typeface="Roboto" panose="02000000000000000000" pitchFamily="2" charset="0"/>
              </a:rPr>
              <a:t>Total Productive Maintenance</a:t>
            </a:r>
            <a:r>
              <a:rPr lang="en-US" sz="3200" b="1" spc="-5" dirty="0">
                <a:cs typeface="Century"/>
              </a:rPr>
              <a:t>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857752D8-5198-A1C4-FFB6-1593FEE79544}"/>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986525A0-C2A7-8936-2EA6-8BCF9032F50A}"/>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31747" name="Rectangle 3">
            <a:extLst>
              <a:ext uri="{FF2B5EF4-FFF2-40B4-BE49-F238E27FC236}">
                <a16:creationId xmlns:a16="http://schemas.microsoft.com/office/drawing/2014/main" id="{B6EEE0C8-2FCB-13FB-551A-7BB0A30E27AF}"/>
              </a:ext>
            </a:extLst>
          </p:cNvPr>
          <p:cNvSpPr>
            <a:spLocks noGrp="1" noChangeArrowheads="1"/>
          </p:cNvSpPr>
          <p:nvPr>
            <p:ph idx="1"/>
          </p:nvPr>
        </p:nvSpPr>
        <p:spPr>
          <a:xfrm>
            <a:off x="304800" y="1071887"/>
            <a:ext cx="8686800" cy="5137150"/>
          </a:xfrm>
        </p:spPr>
        <p:txBody>
          <a:bodyPr>
            <a:normAutofit fontScale="92500" lnSpcReduction="10000"/>
          </a:bodyPr>
          <a:lstStyle/>
          <a:p>
            <a:pPr marL="0" indent="0">
              <a:lnSpc>
                <a:spcPct val="90000"/>
              </a:lnSpc>
              <a:buNone/>
            </a:pPr>
            <a:r>
              <a:rPr lang="en-US" sz="2200" b="1" dirty="0">
                <a:latin typeface="+mj-lt"/>
                <a:ea typeface="Roboto" panose="02000000000000000000" pitchFamily="2" charset="0"/>
                <a:cs typeface="Roboto" panose="02000000000000000000" pitchFamily="2" charset="0"/>
              </a:rPr>
              <a:t>Why need TPM?</a:t>
            </a:r>
          </a:p>
          <a:p>
            <a:pPr marL="0" indent="0">
              <a:lnSpc>
                <a:spcPct val="90000"/>
              </a:lnSpc>
              <a:buNone/>
            </a:pPr>
            <a:endParaRPr lang="en-US" sz="1000" dirty="0">
              <a:latin typeface="+mj-lt"/>
              <a:ea typeface="Roboto" panose="02000000000000000000" pitchFamily="2" charset="0"/>
              <a:cs typeface="Roboto" panose="02000000000000000000" pitchFamily="2" charset="0"/>
            </a:endParaRP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Avoid wastage in a quickly changing economic  environment.</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Producing goods without reducing product  quality.</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Reduce cost.</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Goods send to the customers must be non  defective.</a:t>
            </a:r>
          </a:p>
          <a:p>
            <a:pPr marL="0" indent="0">
              <a:lnSpc>
                <a:spcPct val="90000"/>
              </a:lnSpc>
              <a:buNone/>
            </a:pPr>
            <a:endParaRPr lang="en-US" sz="2200" dirty="0">
              <a:latin typeface="+mj-lt"/>
              <a:ea typeface="Roboto" panose="02000000000000000000" pitchFamily="2" charset="0"/>
              <a:cs typeface="Roboto" panose="02000000000000000000" pitchFamily="2" charset="0"/>
            </a:endParaRPr>
          </a:p>
          <a:p>
            <a:pPr marL="0" indent="0">
              <a:lnSpc>
                <a:spcPct val="90000"/>
              </a:lnSpc>
              <a:buNone/>
            </a:pPr>
            <a:r>
              <a:rPr lang="en-US" sz="2200" b="1" dirty="0">
                <a:latin typeface="+mj-lt"/>
                <a:ea typeface="Roboto" panose="02000000000000000000" pitchFamily="2" charset="0"/>
                <a:cs typeface="Roboto" panose="02000000000000000000" pitchFamily="2" charset="0"/>
              </a:rPr>
              <a:t>TPM Objectives:</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Increase production while, at the same time, increasing  employee morale and job satisfaction.</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Hold emergency &amp; unscheduled maintenance to a  minimum.</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To provide the safe and good working environment to the  worker.</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Achieve Zero Defects, Zero Breakdown and Zero accidents in all functional areas of the organization.</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Involve people in all levels of organization.</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Form different teams to reduce defects and Self  Maintenance.</a:t>
            </a:r>
          </a:p>
          <a:p>
            <a:pPr>
              <a:lnSpc>
                <a:spcPct val="90000"/>
              </a:lnSpc>
              <a:buFont typeface="Wingdings" panose="05000000000000000000" pitchFamily="2" charset="2"/>
              <a:buChar char="ü"/>
            </a:pPr>
            <a:r>
              <a:rPr lang="en-US" sz="2200" dirty="0">
                <a:latin typeface="+mj-lt"/>
                <a:ea typeface="Roboto" panose="02000000000000000000" pitchFamily="2" charset="0"/>
                <a:cs typeface="Roboto" panose="02000000000000000000" pitchFamily="2" charset="0"/>
              </a:rPr>
              <a:t>To fulfill Regulatory compliances.</a:t>
            </a:r>
          </a:p>
          <a:p>
            <a:pPr marL="0" indent="0">
              <a:lnSpc>
                <a:spcPct val="90000"/>
              </a:lnSpc>
              <a:buNone/>
            </a:pPr>
            <a:endParaRPr lang="en-US" sz="2200" dirty="0">
              <a:latin typeface="+mj-lt"/>
              <a:ea typeface="Roboto" panose="02000000000000000000" pitchFamily="2" charset="0"/>
              <a:cs typeface="Roboto" panose="02000000000000000000" pitchFamily="2" charset="0"/>
            </a:endParaRPr>
          </a:p>
          <a:p>
            <a:pPr marL="0" indent="0">
              <a:lnSpc>
                <a:spcPct val="90000"/>
              </a:lnSpc>
              <a:buNone/>
            </a:pPr>
            <a:endParaRPr lang="en-US" sz="2200" b="0" i="0" dirty="0">
              <a:effectLst/>
              <a:latin typeface="+mj-lt"/>
              <a:ea typeface="Roboto" panose="02000000000000000000" pitchFamily="2" charset="0"/>
              <a:cs typeface="Roboto" panose="02000000000000000000" pitchFamily="2" charset="0"/>
            </a:endParaRPr>
          </a:p>
          <a:p>
            <a:pPr>
              <a:lnSpc>
                <a:spcPct val="90000"/>
              </a:lnSpc>
            </a:pPr>
            <a:endParaRPr lang="en-US" sz="2200" b="0" i="0" dirty="0">
              <a:effectLst/>
              <a:latin typeface="+mj-lt"/>
              <a:ea typeface="Roboto" panose="02000000000000000000" pitchFamily="2" charset="0"/>
              <a:cs typeface="Roboto" panose="02000000000000000000" pitchFamily="2" charset="0"/>
            </a:endParaRPr>
          </a:p>
          <a:p>
            <a:pPr>
              <a:lnSpc>
                <a:spcPct val="90000"/>
              </a:lnSpc>
            </a:pPr>
            <a:endParaRPr lang="en-US" altLang="en-US" sz="2200" dirty="0">
              <a:latin typeface="+mj-lt"/>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940388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9CC10-3FC8-CFC6-217D-FE00261B8E7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1F4EED1-153C-2A8C-43A1-6F25EC25E8A4}"/>
              </a:ext>
            </a:extLst>
          </p:cNvPr>
          <p:cNvSpPr>
            <a:spLocks noGrp="1"/>
          </p:cNvSpPr>
          <p:nvPr>
            <p:ph type="dt" sz="half" idx="10"/>
          </p:nvPr>
        </p:nvSpPr>
        <p:spPr/>
        <p:txBody>
          <a:bodyPr/>
          <a:lstStyle/>
          <a:p>
            <a:fld id="{FDC8CF2A-6BE6-49AC-9D75-9FA4EF483793}" type="datetime1">
              <a:rPr lang="en-US" smtClean="0"/>
              <a:t>3/11/2024</a:t>
            </a:fld>
            <a:endParaRPr lang="en-US"/>
          </a:p>
        </p:txBody>
      </p:sp>
      <p:sp>
        <p:nvSpPr>
          <p:cNvPr id="6" name="Slide Number Placeholder 5">
            <a:extLst>
              <a:ext uri="{FF2B5EF4-FFF2-40B4-BE49-F238E27FC236}">
                <a16:creationId xmlns:a16="http://schemas.microsoft.com/office/drawing/2014/main" id="{635958DE-010D-8799-9D93-FB64D62C7122}"/>
              </a:ext>
            </a:extLst>
          </p:cNvPr>
          <p:cNvSpPr>
            <a:spLocks noGrp="1"/>
          </p:cNvSpPr>
          <p:nvPr>
            <p:ph type="sldNum" sz="quarter" idx="12"/>
          </p:nvPr>
        </p:nvSpPr>
        <p:spPr/>
        <p:txBody>
          <a:bodyPr/>
          <a:lstStyle/>
          <a:p>
            <a:fld id="{B6F15528-21DE-4FAA-801E-634DDDAF4B2B}" type="slidenum">
              <a:rPr lang="en-US" smtClean="0"/>
              <a:pPr/>
              <a:t>49</a:t>
            </a:fld>
            <a:endParaRPr lang="en-US"/>
          </a:p>
        </p:txBody>
      </p:sp>
      <p:sp>
        <p:nvSpPr>
          <p:cNvPr id="7" name="Title 1">
            <a:extLst>
              <a:ext uri="{FF2B5EF4-FFF2-40B4-BE49-F238E27FC236}">
                <a16:creationId xmlns:a16="http://schemas.microsoft.com/office/drawing/2014/main" id="{FA17B375-CAB0-C83E-6793-60736DC2B30E}"/>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0" i="0" dirty="0">
                <a:effectLst/>
                <a:latin typeface="Roboto" panose="02000000000000000000" pitchFamily="2" charset="0"/>
              </a:rPr>
              <a:t>Total Productive Maintenance</a:t>
            </a:r>
            <a:r>
              <a:rPr lang="en-US" sz="3200" b="1" spc="-5" dirty="0">
                <a:cs typeface="Century"/>
              </a:rPr>
              <a:t>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1BBB7F89-7050-42F0-8A70-FAEBCC6497EF}"/>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9C5257CC-0E87-B16D-9AF4-6F776E4BC4E1}"/>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31747" name="Rectangle 3">
            <a:extLst>
              <a:ext uri="{FF2B5EF4-FFF2-40B4-BE49-F238E27FC236}">
                <a16:creationId xmlns:a16="http://schemas.microsoft.com/office/drawing/2014/main" id="{98EB33D5-B509-AFF9-B36D-88AEC38D8730}"/>
              </a:ext>
            </a:extLst>
          </p:cNvPr>
          <p:cNvSpPr>
            <a:spLocks noGrp="1" noChangeArrowheads="1"/>
          </p:cNvSpPr>
          <p:nvPr>
            <p:ph idx="1"/>
          </p:nvPr>
        </p:nvSpPr>
        <p:spPr>
          <a:xfrm>
            <a:off x="304800" y="934200"/>
            <a:ext cx="8686800" cy="5137150"/>
          </a:xfrm>
        </p:spPr>
        <p:txBody>
          <a:bodyPr>
            <a:normAutofit fontScale="92500" lnSpcReduction="10000"/>
          </a:bodyPr>
          <a:lstStyle/>
          <a:p>
            <a:pPr marL="0" indent="0">
              <a:lnSpc>
                <a:spcPct val="90000"/>
              </a:lnSpc>
              <a:buNone/>
            </a:pPr>
            <a:r>
              <a:rPr lang="en-US" sz="2200" b="1" i="0" dirty="0">
                <a:effectLst/>
                <a:latin typeface="+mj-lt"/>
                <a:ea typeface="Roboto" panose="02000000000000000000" pitchFamily="2" charset="0"/>
                <a:cs typeface="Roboto" panose="02000000000000000000" pitchFamily="2" charset="0"/>
              </a:rPr>
              <a:t>TPM TARGETS:</a:t>
            </a:r>
          </a:p>
          <a:p>
            <a:pPr marL="0" indent="0">
              <a:lnSpc>
                <a:spcPct val="90000"/>
              </a:lnSpc>
              <a:buNone/>
            </a:pPr>
            <a:endParaRPr lang="en-US" sz="2200" b="1" i="0" dirty="0">
              <a:effectLst/>
              <a:latin typeface="+mj-lt"/>
              <a:ea typeface="Roboto" panose="02000000000000000000" pitchFamily="2" charset="0"/>
              <a:cs typeface="Roboto" panose="02000000000000000000" pitchFamily="2" charset="0"/>
            </a:endParaRPr>
          </a:p>
          <a:p>
            <a:pPr marL="0" indent="0">
              <a:lnSpc>
                <a:spcPct val="90000"/>
              </a:lnSpc>
              <a:buNone/>
            </a:pPr>
            <a:r>
              <a:rPr lang="en-US" sz="2200" b="1" i="0" dirty="0">
                <a:effectLst/>
                <a:latin typeface="+mj-lt"/>
                <a:ea typeface="Roboto" panose="02000000000000000000" pitchFamily="2" charset="0"/>
                <a:cs typeface="Roboto" panose="02000000000000000000" pitchFamily="2" charset="0"/>
              </a:rPr>
              <a:t>1 PRODUCTION</a:t>
            </a:r>
          </a:p>
          <a:p>
            <a:pPr marL="0" indent="0">
              <a:lnSpc>
                <a:spcPct val="90000"/>
              </a:lnSpc>
              <a:buNone/>
            </a:pPr>
            <a:r>
              <a:rPr lang="en-US" sz="2200" dirty="0" err="1">
                <a:latin typeface="+mj-lt"/>
                <a:ea typeface="Roboto" panose="02000000000000000000" pitchFamily="2" charset="0"/>
                <a:cs typeface="Roboto" panose="02000000000000000000" pitchFamily="2" charset="0"/>
              </a:rPr>
              <a:t>i</a:t>
            </a:r>
            <a:r>
              <a:rPr lang="en-US" sz="2200" b="0" i="0" dirty="0">
                <a:effectLst/>
                <a:latin typeface="+mj-lt"/>
                <a:ea typeface="Roboto" panose="02000000000000000000" pitchFamily="2" charset="0"/>
                <a:cs typeface="Roboto" panose="02000000000000000000" pitchFamily="2" charset="0"/>
              </a:rPr>
              <a:t>) Obtain Minimum 80% Overall Production Efficiency</a:t>
            </a:r>
          </a:p>
          <a:p>
            <a:pPr marL="0" indent="0">
              <a:lnSpc>
                <a:spcPct val="90000"/>
              </a:lnSpc>
              <a:buNone/>
            </a:pPr>
            <a:r>
              <a:rPr lang="en-US" sz="2200" b="0" i="0" dirty="0">
                <a:effectLst/>
                <a:latin typeface="+mj-lt"/>
                <a:ea typeface="Roboto" panose="02000000000000000000" pitchFamily="2" charset="0"/>
                <a:cs typeface="Roboto" panose="02000000000000000000" pitchFamily="2" charset="0"/>
              </a:rPr>
              <a:t>ii) Obtain Minimum 90% Overall Equipment Effectiveness</a:t>
            </a:r>
          </a:p>
          <a:p>
            <a:pPr marL="0" indent="0">
              <a:lnSpc>
                <a:spcPct val="90000"/>
              </a:lnSpc>
              <a:buNone/>
            </a:pPr>
            <a:r>
              <a:rPr lang="en-US" sz="2200" b="0" i="0" dirty="0">
                <a:effectLst/>
                <a:latin typeface="+mj-lt"/>
                <a:ea typeface="Roboto" panose="02000000000000000000" pitchFamily="2" charset="0"/>
                <a:cs typeface="Roboto" panose="02000000000000000000" pitchFamily="2" charset="0"/>
              </a:rPr>
              <a:t>iii) Run the Machine during lunchtime</a:t>
            </a:r>
          </a:p>
          <a:p>
            <a:pPr marL="0" indent="0">
              <a:lnSpc>
                <a:spcPct val="90000"/>
              </a:lnSpc>
              <a:buNone/>
            </a:pPr>
            <a:r>
              <a:rPr lang="en-US" sz="2200" b="1" i="0" dirty="0">
                <a:effectLst/>
                <a:latin typeface="+mj-lt"/>
                <a:ea typeface="Roboto" panose="02000000000000000000" pitchFamily="2" charset="0"/>
                <a:cs typeface="Roboto" panose="02000000000000000000" pitchFamily="2" charset="0"/>
              </a:rPr>
              <a:t>2 QUALITY</a:t>
            </a:r>
          </a:p>
          <a:p>
            <a:pPr marL="0" indent="0">
              <a:lnSpc>
                <a:spcPct val="90000"/>
              </a:lnSpc>
              <a:buNone/>
            </a:pPr>
            <a:r>
              <a:rPr lang="en-US" sz="2200" b="0" i="0" dirty="0">
                <a:effectLst/>
                <a:latin typeface="+mj-lt"/>
                <a:ea typeface="Roboto" panose="02000000000000000000" pitchFamily="2" charset="0"/>
                <a:cs typeface="Roboto" panose="02000000000000000000" pitchFamily="2" charset="0"/>
              </a:rPr>
              <a:t>Operate in a manner, so that there are no customer complaint</a:t>
            </a:r>
          </a:p>
          <a:p>
            <a:pPr marL="0" indent="0">
              <a:lnSpc>
                <a:spcPct val="90000"/>
              </a:lnSpc>
              <a:buNone/>
            </a:pPr>
            <a:r>
              <a:rPr lang="en-US" sz="2200" b="1" i="0" dirty="0">
                <a:effectLst/>
                <a:latin typeface="+mj-lt"/>
                <a:ea typeface="Roboto" panose="02000000000000000000" pitchFamily="2" charset="0"/>
                <a:cs typeface="Roboto" panose="02000000000000000000" pitchFamily="2" charset="0"/>
              </a:rPr>
              <a:t>3 COST</a:t>
            </a:r>
          </a:p>
          <a:p>
            <a:pPr marL="0" indent="0">
              <a:lnSpc>
                <a:spcPct val="90000"/>
              </a:lnSpc>
              <a:buNone/>
            </a:pPr>
            <a:r>
              <a:rPr lang="en-US" sz="2200" b="0" i="0" dirty="0">
                <a:effectLst/>
                <a:latin typeface="+mj-lt"/>
                <a:ea typeface="Roboto" panose="02000000000000000000" pitchFamily="2" charset="0"/>
                <a:cs typeface="Roboto" panose="02000000000000000000" pitchFamily="2" charset="0"/>
              </a:rPr>
              <a:t>Reduce the manufacturing cost as much as possible</a:t>
            </a:r>
          </a:p>
          <a:p>
            <a:pPr marL="0" indent="0">
              <a:lnSpc>
                <a:spcPct val="90000"/>
              </a:lnSpc>
              <a:buNone/>
            </a:pPr>
            <a:r>
              <a:rPr lang="en-US" sz="2200" b="1" i="0" dirty="0">
                <a:effectLst/>
                <a:latin typeface="+mj-lt"/>
                <a:ea typeface="Roboto" panose="02000000000000000000" pitchFamily="2" charset="0"/>
                <a:cs typeface="Roboto" panose="02000000000000000000" pitchFamily="2" charset="0"/>
              </a:rPr>
              <a:t>4 DELIVERY</a:t>
            </a:r>
          </a:p>
          <a:p>
            <a:pPr marL="0" indent="0">
              <a:lnSpc>
                <a:spcPct val="90000"/>
              </a:lnSpc>
              <a:buNone/>
            </a:pPr>
            <a:r>
              <a:rPr lang="en-US" sz="2200" b="0" i="0" dirty="0">
                <a:effectLst/>
                <a:latin typeface="+mj-lt"/>
                <a:ea typeface="Roboto" panose="02000000000000000000" pitchFamily="2" charset="0"/>
                <a:cs typeface="Roboto" panose="02000000000000000000" pitchFamily="2" charset="0"/>
              </a:rPr>
              <a:t>Achieve 100% success in delivering the goods as required by the customer</a:t>
            </a:r>
          </a:p>
          <a:p>
            <a:pPr marL="0" indent="0">
              <a:lnSpc>
                <a:spcPct val="90000"/>
              </a:lnSpc>
              <a:buNone/>
            </a:pPr>
            <a:r>
              <a:rPr lang="en-US" sz="2200" b="1" i="0" dirty="0">
                <a:effectLst/>
                <a:latin typeface="+mj-lt"/>
                <a:ea typeface="Roboto" panose="02000000000000000000" pitchFamily="2" charset="0"/>
                <a:cs typeface="Roboto" panose="02000000000000000000" pitchFamily="2" charset="0"/>
              </a:rPr>
              <a:t>5 SAFETY</a:t>
            </a:r>
          </a:p>
          <a:p>
            <a:pPr marL="0" indent="0">
              <a:lnSpc>
                <a:spcPct val="90000"/>
              </a:lnSpc>
              <a:buNone/>
            </a:pPr>
            <a:r>
              <a:rPr lang="en-US" sz="2200" b="0" i="0" dirty="0">
                <a:effectLst/>
                <a:latin typeface="+mj-lt"/>
                <a:ea typeface="Roboto" panose="02000000000000000000" pitchFamily="2" charset="0"/>
                <a:cs typeface="Roboto" panose="02000000000000000000" pitchFamily="2" charset="0"/>
              </a:rPr>
              <a:t>Maintain an accident free environment</a:t>
            </a:r>
          </a:p>
          <a:p>
            <a:pPr marL="0" indent="0">
              <a:lnSpc>
                <a:spcPct val="90000"/>
              </a:lnSpc>
              <a:buNone/>
            </a:pPr>
            <a:r>
              <a:rPr lang="en-US" sz="2200" b="1" i="0" dirty="0">
                <a:effectLst/>
                <a:latin typeface="+mj-lt"/>
                <a:ea typeface="Roboto" panose="02000000000000000000" pitchFamily="2" charset="0"/>
                <a:cs typeface="Roboto" panose="02000000000000000000" pitchFamily="2" charset="0"/>
              </a:rPr>
              <a:t>7 MULTYTASK</a:t>
            </a:r>
          </a:p>
          <a:p>
            <a:pPr marL="0" indent="0">
              <a:lnSpc>
                <a:spcPct val="90000"/>
              </a:lnSpc>
              <a:buNone/>
            </a:pPr>
            <a:r>
              <a:rPr lang="en-US" sz="2200" b="0" i="0" dirty="0">
                <a:effectLst/>
                <a:latin typeface="+mj-lt"/>
                <a:ea typeface="Roboto" panose="02000000000000000000" pitchFamily="2" charset="0"/>
                <a:cs typeface="Roboto" panose="02000000000000000000" pitchFamily="2" charset="0"/>
              </a:rPr>
              <a:t>Develop multiskilled &amp; flexible workers.</a:t>
            </a:r>
          </a:p>
          <a:p>
            <a:pPr>
              <a:lnSpc>
                <a:spcPct val="90000"/>
              </a:lnSpc>
            </a:pPr>
            <a:endParaRPr lang="en-US" altLang="en-US" sz="2200" dirty="0">
              <a:latin typeface="+mj-lt"/>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591216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80191-1037-6D93-95D9-AEA01B9978A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B918621-7FAB-15A5-A552-EBAE5382A953}"/>
              </a:ext>
            </a:extLst>
          </p:cNvPr>
          <p:cNvSpPr>
            <a:spLocks noGrp="1"/>
          </p:cNvSpPr>
          <p:nvPr>
            <p:ph type="dt" sz="half" idx="10"/>
          </p:nvPr>
        </p:nvSpPr>
        <p:spPr/>
        <p:txBody>
          <a:bodyPr/>
          <a:lstStyle/>
          <a:p>
            <a:fld id="{7AE5DC35-3876-41B2-BBE7-F9DA96C7165A}" type="datetime1">
              <a:rPr lang="en-US" smtClean="0"/>
              <a:t>3/11/2024</a:t>
            </a:fld>
            <a:endParaRPr lang="en-US"/>
          </a:p>
        </p:txBody>
      </p:sp>
      <p:sp>
        <p:nvSpPr>
          <p:cNvPr id="6" name="Slide Number Placeholder 5">
            <a:extLst>
              <a:ext uri="{FF2B5EF4-FFF2-40B4-BE49-F238E27FC236}">
                <a16:creationId xmlns:a16="http://schemas.microsoft.com/office/drawing/2014/main" id="{1A9A0487-D78C-3BED-73F7-14514195BB37}"/>
              </a:ext>
            </a:extLst>
          </p:cNvPr>
          <p:cNvSpPr>
            <a:spLocks noGrp="1"/>
          </p:cNvSpPr>
          <p:nvPr>
            <p:ph type="sldNum" sz="quarter" idx="12"/>
          </p:nvPr>
        </p:nvSpPr>
        <p:spPr/>
        <p:txBody>
          <a:bodyPr/>
          <a:lstStyle/>
          <a:p>
            <a:fld id="{B6F15528-21DE-4FAA-801E-634DDDAF4B2B}" type="slidenum">
              <a:rPr lang="en-US" smtClean="0"/>
              <a:pPr/>
              <a:t>50</a:t>
            </a:fld>
            <a:endParaRPr lang="en-US"/>
          </a:p>
        </p:txBody>
      </p:sp>
      <p:sp>
        <p:nvSpPr>
          <p:cNvPr id="7" name="Title 1">
            <a:extLst>
              <a:ext uri="{FF2B5EF4-FFF2-40B4-BE49-F238E27FC236}">
                <a16:creationId xmlns:a16="http://schemas.microsoft.com/office/drawing/2014/main" id="{084236CA-DFF1-CBD1-4E01-2671E2C28428}"/>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0" i="0" dirty="0">
                <a:effectLst/>
                <a:latin typeface="Roboto" panose="02000000000000000000" pitchFamily="2" charset="0"/>
              </a:rPr>
              <a:t>PILLARS OF TPM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32E1B121-3C7F-21E8-2A8A-FD2151122FC9}"/>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1F2A92B-48A3-FC55-2D34-A335B7FDF608}"/>
              </a:ext>
            </a:extLst>
          </p:cNvPr>
          <p:cNvPicPr>
            <a:picLocks noChangeAspect="1"/>
          </p:cNvPicPr>
          <p:nvPr/>
        </p:nvPicPr>
        <p:blipFill>
          <a:blip r:embed="rId2" cstate="print"/>
          <a:stretch>
            <a:fillRect/>
          </a:stretch>
        </p:blipFill>
        <p:spPr>
          <a:xfrm>
            <a:off x="0" y="-1"/>
            <a:ext cx="1371600" cy="879475"/>
          </a:xfrm>
          <a:prstGeom prst="rect">
            <a:avLst/>
          </a:prstGeom>
        </p:spPr>
      </p:pic>
      <p:pic>
        <p:nvPicPr>
          <p:cNvPr id="2050" name="Picture 2" descr="8 Pillars of Total Productive Maintenance">
            <a:extLst>
              <a:ext uri="{FF2B5EF4-FFF2-40B4-BE49-F238E27FC236}">
                <a16:creationId xmlns:a16="http://schemas.microsoft.com/office/drawing/2014/main" id="{71963343-81F9-89A9-26B9-E2A9295756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364" y="990721"/>
            <a:ext cx="7475393" cy="5257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1124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C61BF-9B48-247D-B1BC-E5FA588C7A2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BD2F317-8ACE-0389-0B38-9077630D33B1}"/>
              </a:ext>
            </a:extLst>
          </p:cNvPr>
          <p:cNvSpPr>
            <a:spLocks noGrp="1"/>
          </p:cNvSpPr>
          <p:nvPr>
            <p:ph type="dt" sz="half" idx="10"/>
          </p:nvPr>
        </p:nvSpPr>
        <p:spPr/>
        <p:txBody>
          <a:bodyPr/>
          <a:lstStyle/>
          <a:p>
            <a:fld id="{AC21FC84-0BCD-400C-A051-03A3E3165AC7}" type="datetime1">
              <a:rPr lang="en-US" smtClean="0"/>
              <a:t>3/11/2024</a:t>
            </a:fld>
            <a:endParaRPr lang="en-US"/>
          </a:p>
        </p:txBody>
      </p:sp>
      <p:sp>
        <p:nvSpPr>
          <p:cNvPr id="6" name="Slide Number Placeholder 5">
            <a:extLst>
              <a:ext uri="{FF2B5EF4-FFF2-40B4-BE49-F238E27FC236}">
                <a16:creationId xmlns:a16="http://schemas.microsoft.com/office/drawing/2014/main" id="{CE3C7C38-AC91-A5F4-5A06-18C8F32634F2}"/>
              </a:ext>
            </a:extLst>
          </p:cNvPr>
          <p:cNvSpPr>
            <a:spLocks noGrp="1"/>
          </p:cNvSpPr>
          <p:nvPr>
            <p:ph type="sldNum" sz="quarter" idx="12"/>
          </p:nvPr>
        </p:nvSpPr>
        <p:spPr/>
        <p:txBody>
          <a:bodyPr/>
          <a:lstStyle/>
          <a:p>
            <a:fld id="{B6F15528-21DE-4FAA-801E-634DDDAF4B2B}" type="slidenum">
              <a:rPr lang="en-US" smtClean="0"/>
              <a:pPr/>
              <a:t>51</a:t>
            </a:fld>
            <a:endParaRPr lang="en-US"/>
          </a:p>
        </p:txBody>
      </p:sp>
      <p:sp>
        <p:nvSpPr>
          <p:cNvPr id="7" name="Title 1">
            <a:extLst>
              <a:ext uri="{FF2B5EF4-FFF2-40B4-BE49-F238E27FC236}">
                <a16:creationId xmlns:a16="http://schemas.microsoft.com/office/drawing/2014/main" id="{3E82603B-7AA0-37F0-DECB-4AD7F2318404}"/>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0" i="0" dirty="0">
                <a:effectLst/>
                <a:latin typeface="Roboto" panose="02000000000000000000" pitchFamily="2" charset="0"/>
              </a:rPr>
              <a:t>PILLARS OF TPM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59BFE9D1-7CAA-FF79-8A1F-4E2DDEA39224}"/>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07EB1946-85AA-B13A-816C-2474710FE84F}"/>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31747" name="Rectangle 3">
            <a:extLst>
              <a:ext uri="{FF2B5EF4-FFF2-40B4-BE49-F238E27FC236}">
                <a16:creationId xmlns:a16="http://schemas.microsoft.com/office/drawing/2014/main" id="{1BA7AFEF-C718-4587-5F96-F713320530FB}"/>
              </a:ext>
            </a:extLst>
          </p:cNvPr>
          <p:cNvSpPr>
            <a:spLocks noGrp="1" noChangeArrowheads="1"/>
          </p:cNvSpPr>
          <p:nvPr>
            <p:ph idx="1"/>
          </p:nvPr>
        </p:nvSpPr>
        <p:spPr>
          <a:xfrm>
            <a:off x="304800" y="934200"/>
            <a:ext cx="8686800" cy="5137150"/>
          </a:xfrm>
        </p:spPr>
        <p:txBody>
          <a:bodyPr>
            <a:normAutofit/>
          </a:bodyPr>
          <a:lstStyle/>
          <a:p>
            <a:pPr marL="0" indent="0">
              <a:lnSpc>
                <a:spcPct val="90000"/>
              </a:lnSpc>
              <a:buNone/>
            </a:pPr>
            <a:r>
              <a:rPr lang="en-US" sz="2200" b="1" dirty="0">
                <a:latin typeface="+mj-lt"/>
                <a:ea typeface="Roboto" panose="02000000000000000000" pitchFamily="2" charset="0"/>
                <a:cs typeface="Roboto" panose="02000000000000000000" pitchFamily="2" charset="0"/>
              </a:rPr>
              <a:t>PILLAR 1:</a:t>
            </a:r>
          </a:p>
          <a:p>
            <a:pPr marL="0" indent="0">
              <a:lnSpc>
                <a:spcPct val="90000"/>
              </a:lnSpc>
              <a:buNone/>
            </a:pPr>
            <a:r>
              <a:rPr lang="en-US" sz="2200" b="1" i="0" dirty="0">
                <a:effectLst/>
                <a:latin typeface="+mj-lt"/>
                <a:ea typeface="Roboto" panose="02000000000000000000" pitchFamily="2" charset="0"/>
                <a:cs typeface="Roboto" panose="02000000000000000000" pitchFamily="2" charset="0"/>
              </a:rPr>
              <a:t>Focused improvement   </a:t>
            </a:r>
          </a:p>
          <a:p>
            <a:pPr>
              <a:lnSpc>
                <a:spcPct val="90000"/>
              </a:lnSpc>
            </a:pPr>
            <a:r>
              <a:rPr lang="en-US" sz="2200" b="0" i="0" dirty="0">
                <a:effectLst/>
                <a:latin typeface="+mj-lt"/>
                <a:ea typeface="Roboto" panose="02000000000000000000" pitchFamily="2" charset="0"/>
                <a:cs typeface="Roboto" panose="02000000000000000000" pitchFamily="2" charset="0"/>
              </a:rPr>
              <a:t>The Focused Improvement pillar is basically synonymous with Kaizen, the Japanese organizational philosophy focused on implementing incremental improvements. </a:t>
            </a:r>
          </a:p>
          <a:p>
            <a:pPr>
              <a:lnSpc>
                <a:spcPct val="90000"/>
              </a:lnSpc>
            </a:pPr>
            <a:r>
              <a:rPr lang="en-US" sz="2200" b="0" i="0" dirty="0">
                <a:effectLst/>
                <a:latin typeface="+mj-lt"/>
                <a:ea typeface="Roboto" panose="02000000000000000000" pitchFamily="2" charset="0"/>
                <a:cs typeface="Roboto" panose="02000000000000000000" pitchFamily="2" charset="0"/>
              </a:rPr>
              <a:t>Characteristically of Kaizen, all personnel involved in production are encouraged to pay attention to, look for, and suggest improvements.</a:t>
            </a:r>
          </a:p>
          <a:p>
            <a:pPr>
              <a:lnSpc>
                <a:spcPct val="90000"/>
              </a:lnSpc>
            </a:pPr>
            <a:r>
              <a:rPr lang="en-US" sz="2200" b="0" i="0" dirty="0">
                <a:effectLst/>
                <a:latin typeface="+mj-lt"/>
                <a:ea typeface="Roboto" panose="02000000000000000000" pitchFamily="2" charset="0"/>
                <a:cs typeface="Roboto" panose="02000000000000000000" pitchFamily="2" charset="0"/>
              </a:rPr>
              <a:t>The ultimate goal being, naturally, to reduce production-related issues and keep the line flowing.  </a:t>
            </a:r>
          </a:p>
          <a:p>
            <a:pPr>
              <a:lnSpc>
                <a:spcPct val="90000"/>
              </a:lnSpc>
            </a:pPr>
            <a:r>
              <a:rPr lang="en-US" sz="2200" b="0" i="0" dirty="0">
                <a:effectLst/>
                <a:latin typeface="+mj-lt"/>
                <a:ea typeface="Roboto" panose="02000000000000000000" pitchFamily="2" charset="0"/>
                <a:cs typeface="Roboto" panose="02000000000000000000" pitchFamily="2" charset="0"/>
              </a:rPr>
              <a:t>Practically, Kaizen in TPM entails forming cross-departmental team that brainstorm about how to address issues related to machinery and equipment. </a:t>
            </a:r>
          </a:p>
          <a:p>
            <a:pPr>
              <a:lnSpc>
                <a:spcPct val="90000"/>
              </a:lnSpc>
            </a:pPr>
            <a:r>
              <a:rPr lang="en-US" sz="2200" b="0" i="0" dirty="0">
                <a:effectLst/>
                <a:latin typeface="+mj-lt"/>
                <a:ea typeface="Roboto" panose="02000000000000000000" pitchFamily="2" charset="0"/>
                <a:cs typeface="Roboto" panose="02000000000000000000" pitchFamily="2" charset="0"/>
              </a:rPr>
              <a:t>These are called Kaizen events or Kaizen blitzes. </a:t>
            </a:r>
          </a:p>
          <a:p>
            <a:pPr>
              <a:lnSpc>
                <a:spcPct val="90000"/>
              </a:lnSpc>
            </a:pPr>
            <a:endParaRPr lang="en-US" altLang="en-US" sz="2200" dirty="0">
              <a:latin typeface="+mj-lt"/>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4009473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0F932-DE75-C251-35E0-DD7257E1012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18BCF1F-5E3C-A287-DA13-3D79A4052674}"/>
              </a:ext>
            </a:extLst>
          </p:cNvPr>
          <p:cNvSpPr>
            <a:spLocks noGrp="1"/>
          </p:cNvSpPr>
          <p:nvPr>
            <p:ph type="dt" sz="half" idx="10"/>
          </p:nvPr>
        </p:nvSpPr>
        <p:spPr/>
        <p:txBody>
          <a:bodyPr/>
          <a:lstStyle/>
          <a:p>
            <a:fld id="{4583DE42-1074-47B0-94E3-281128901124}" type="datetime1">
              <a:rPr lang="en-US" smtClean="0"/>
              <a:t>3/11/2024</a:t>
            </a:fld>
            <a:endParaRPr lang="en-US"/>
          </a:p>
        </p:txBody>
      </p:sp>
      <p:sp>
        <p:nvSpPr>
          <p:cNvPr id="6" name="Slide Number Placeholder 5">
            <a:extLst>
              <a:ext uri="{FF2B5EF4-FFF2-40B4-BE49-F238E27FC236}">
                <a16:creationId xmlns:a16="http://schemas.microsoft.com/office/drawing/2014/main" id="{68FA2E4B-3A50-8F9E-21B2-5FF56BF22560}"/>
              </a:ext>
            </a:extLst>
          </p:cNvPr>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a:extLst>
              <a:ext uri="{FF2B5EF4-FFF2-40B4-BE49-F238E27FC236}">
                <a16:creationId xmlns:a16="http://schemas.microsoft.com/office/drawing/2014/main" id="{49B16C86-ECC4-834A-7296-88B2657DC333}"/>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0" i="0" dirty="0">
                <a:effectLst/>
                <a:latin typeface="Roboto" panose="02000000000000000000" pitchFamily="2" charset="0"/>
              </a:rPr>
              <a:t>PILLARS OF TPM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30497A8C-0829-3D73-D97D-65887DDE11A3}"/>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3D912E4A-2D10-BE05-9488-B51BF2F20AE0}"/>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31747" name="Rectangle 3">
            <a:extLst>
              <a:ext uri="{FF2B5EF4-FFF2-40B4-BE49-F238E27FC236}">
                <a16:creationId xmlns:a16="http://schemas.microsoft.com/office/drawing/2014/main" id="{E1EA08E1-1881-34A7-D122-294C28F9AB01}"/>
              </a:ext>
            </a:extLst>
          </p:cNvPr>
          <p:cNvSpPr>
            <a:spLocks noGrp="1" noChangeArrowheads="1"/>
          </p:cNvSpPr>
          <p:nvPr>
            <p:ph idx="1"/>
          </p:nvPr>
        </p:nvSpPr>
        <p:spPr>
          <a:xfrm>
            <a:off x="304800" y="934200"/>
            <a:ext cx="8686800" cy="5137150"/>
          </a:xfrm>
        </p:spPr>
        <p:txBody>
          <a:bodyPr>
            <a:normAutofit/>
          </a:bodyPr>
          <a:lstStyle/>
          <a:p>
            <a:pPr marL="0" indent="0">
              <a:lnSpc>
                <a:spcPct val="90000"/>
              </a:lnSpc>
              <a:buNone/>
            </a:pPr>
            <a:r>
              <a:rPr lang="en-US" sz="2200" b="1" dirty="0">
                <a:latin typeface="+mj-lt"/>
                <a:ea typeface="Roboto" panose="02000000000000000000" pitchFamily="2" charset="0"/>
                <a:cs typeface="Roboto" panose="02000000000000000000" pitchFamily="2" charset="0"/>
              </a:rPr>
              <a:t>PILLAR 2:</a:t>
            </a:r>
          </a:p>
          <a:p>
            <a:pPr marL="0" indent="0">
              <a:lnSpc>
                <a:spcPct val="90000"/>
              </a:lnSpc>
              <a:buNone/>
            </a:pPr>
            <a:r>
              <a:rPr lang="en-US" altLang="en-US" sz="2200" b="1" dirty="0">
                <a:latin typeface="+mj-lt"/>
                <a:ea typeface="Roboto" panose="02000000000000000000" pitchFamily="2" charset="0"/>
                <a:cs typeface="Roboto" panose="02000000000000000000" pitchFamily="2" charset="0"/>
              </a:rPr>
              <a:t>Autonomous Maintenance </a:t>
            </a:r>
          </a:p>
          <a:p>
            <a:pPr>
              <a:lnSpc>
                <a:spcPct val="90000"/>
              </a:lnSpc>
            </a:pPr>
            <a:r>
              <a:rPr lang="en-US" altLang="en-US" sz="2200" dirty="0">
                <a:latin typeface="+mj-lt"/>
                <a:ea typeface="Roboto" panose="02000000000000000000" pitchFamily="2" charset="0"/>
                <a:cs typeface="Roboto" panose="02000000000000000000" pitchFamily="2" charset="0"/>
              </a:rPr>
              <a:t>Autonomous maintenance enables operators to fulfil duties that would normally be performed by maintenance personnel.</a:t>
            </a:r>
          </a:p>
          <a:p>
            <a:pPr>
              <a:lnSpc>
                <a:spcPct val="90000"/>
              </a:lnSpc>
            </a:pPr>
            <a:r>
              <a:rPr lang="en-US" altLang="en-US" sz="2200" dirty="0">
                <a:latin typeface="+mj-lt"/>
                <a:ea typeface="Roboto" panose="02000000000000000000" pitchFamily="2" charset="0"/>
                <a:cs typeface="Roboto" panose="02000000000000000000" pitchFamily="2" charset="0"/>
              </a:rPr>
              <a:t>It stimulates frontline workers to take ownership of their machines and perform routine maintenance practices like cleaning, inspection and lubrication (CIL) tasks.  </a:t>
            </a:r>
          </a:p>
          <a:p>
            <a:pPr>
              <a:lnSpc>
                <a:spcPct val="90000"/>
              </a:lnSpc>
            </a:pPr>
            <a:r>
              <a:rPr lang="en-US" altLang="en-US" sz="2200" dirty="0">
                <a:latin typeface="+mj-lt"/>
                <a:ea typeface="Roboto" panose="02000000000000000000" pitchFamily="2" charset="0"/>
                <a:cs typeface="Roboto" panose="02000000000000000000" pitchFamily="2" charset="0"/>
              </a:rPr>
              <a:t>This pillar connects operators to their machines and allows engineers and maintenance teams to focus on tasks that require a higher level of expertise. </a:t>
            </a:r>
          </a:p>
          <a:p>
            <a:pPr>
              <a:lnSpc>
                <a:spcPct val="90000"/>
              </a:lnSpc>
            </a:pPr>
            <a:r>
              <a:rPr lang="en-US" altLang="en-US" sz="2200" dirty="0">
                <a:latin typeface="+mj-lt"/>
                <a:ea typeface="Roboto" panose="02000000000000000000" pitchFamily="2" charset="0"/>
                <a:cs typeface="Roboto" panose="02000000000000000000" pitchFamily="2" charset="0"/>
              </a:rPr>
              <a:t>Autonomous maintenance enables operators to detect faults early and tackle minor issues before they develop into large problems. </a:t>
            </a:r>
          </a:p>
          <a:p>
            <a:pPr>
              <a:lnSpc>
                <a:spcPct val="90000"/>
              </a:lnSpc>
            </a:pPr>
            <a:r>
              <a:rPr lang="en-US" altLang="en-US" sz="2200" dirty="0">
                <a:latin typeface="+mj-lt"/>
                <a:ea typeface="Roboto" panose="02000000000000000000" pitchFamily="2" charset="0"/>
                <a:cs typeface="Roboto" panose="02000000000000000000" pitchFamily="2" charset="0"/>
              </a:rPr>
              <a:t>Over time, implementing autonomous maintenance will have a big impact on shop floor performance. </a:t>
            </a:r>
          </a:p>
        </p:txBody>
      </p:sp>
    </p:spTree>
    <p:extLst>
      <p:ext uri="{BB962C8B-B14F-4D97-AF65-F5344CB8AC3E}">
        <p14:creationId xmlns:p14="http://schemas.microsoft.com/office/powerpoint/2010/main" val="39289811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30F18-B8EC-2E2E-46D1-E212569BFC7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6915AB5-B416-CFE7-1C26-42236626FBED}"/>
              </a:ext>
            </a:extLst>
          </p:cNvPr>
          <p:cNvSpPr>
            <a:spLocks noGrp="1"/>
          </p:cNvSpPr>
          <p:nvPr>
            <p:ph type="dt" sz="half" idx="10"/>
          </p:nvPr>
        </p:nvSpPr>
        <p:spPr/>
        <p:txBody>
          <a:bodyPr/>
          <a:lstStyle/>
          <a:p>
            <a:fld id="{C1A508AC-C75D-46E6-9108-021D395FE649}" type="datetime1">
              <a:rPr lang="en-US" smtClean="0"/>
              <a:t>3/11/2024</a:t>
            </a:fld>
            <a:endParaRPr lang="en-US"/>
          </a:p>
        </p:txBody>
      </p:sp>
      <p:sp>
        <p:nvSpPr>
          <p:cNvPr id="6" name="Slide Number Placeholder 5">
            <a:extLst>
              <a:ext uri="{FF2B5EF4-FFF2-40B4-BE49-F238E27FC236}">
                <a16:creationId xmlns:a16="http://schemas.microsoft.com/office/drawing/2014/main" id="{DC62CE8F-F468-F130-561C-302B36EE9A51}"/>
              </a:ext>
            </a:extLst>
          </p:cNvPr>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a:extLst>
              <a:ext uri="{FF2B5EF4-FFF2-40B4-BE49-F238E27FC236}">
                <a16:creationId xmlns:a16="http://schemas.microsoft.com/office/drawing/2014/main" id="{92FA2FF1-CEC6-529F-0883-0503B9DCD34F}"/>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0" i="0" dirty="0">
                <a:effectLst/>
                <a:latin typeface="Roboto" panose="02000000000000000000" pitchFamily="2" charset="0"/>
              </a:rPr>
              <a:t>PILLARS OF TPM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1312E0D4-1228-04CA-F1F3-9B608B9D4C98}"/>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4A1D678E-C591-3A02-1701-D1D65D4B09BF}"/>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31747" name="Rectangle 3">
            <a:extLst>
              <a:ext uri="{FF2B5EF4-FFF2-40B4-BE49-F238E27FC236}">
                <a16:creationId xmlns:a16="http://schemas.microsoft.com/office/drawing/2014/main" id="{8152CD13-BF2E-3A87-801A-3D58A9E9F1D2}"/>
              </a:ext>
            </a:extLst>
          </p:cNvPr>
          <p:cNvSpPr>
            <a:spLocks noGrp="1" noChangeArrowheads="1"/>
          </p:cNvSpPr>
          <p:nvPr>
            <p:ph idx="1"/>
          </p:nvPr>
        </p:nvSpPr>
        <p:spPr>
          <a:xfrm>
            <a:off x="304800" y="934199"/>
            <a:ext cx="8686800" cy="5314215"/>
          </a:xfrm>
        </p:spPr>
        <p:txBody>
          <a:bodyPr>
            <a:normAutofit fontScale="92500"/>
          </a:bodyPr>
          <a:lstStyle/>
          <a:p>
            <a:pPr marL="0" indent="0">
              <a:lnSpc>
                <a:spcPct val="90000"/>
              </a:lnSpc>
              <a:buNone/>
            </a:pPr>
            <a:r>
              <a:rPr lang="en-US" sz="2200" b="1" dirty="0">
                <a:latin typeface="+mj-lt"/>
                <a:ea typeface="Roboto" panose="02000000000000000000" pitchFamily="2" charset="0"/>
                <a:cs typeface="Roboto" panose="02000000000000000000" pitchFamily="2" charset="0"/>
              </a:rPr>
              <a:t>PILLAR 3:</a:t>
            </a:r>
          </a:p>
          <a:p>
            <a:pPr marL="0" indent="0">
              <a:lnSpc>
                <a:spcPct val="90000"/>
              </a:lnSpc>
              <a:buNone/>
            </a:pPr>
            <a:r>
              <a:rPr lang="en-US" sz="2200" b="1" i="0" dirty="0">
                <a:effectLst/>
                <a:latin typeface="+mj-lt"/>
                <a:ea typeface="Roboto" panose="02000000000000000000" pitchFamily="2" charset="0"/>
                <a:cs typeface="Roboto" panose="02000000000000000000" pitchFamily="2" charset="0"/>
              </a:rPr>
              <a:t> Quality Maintenance </a:t>
            </a:r>
          </a:p>
          <a:p>
            <a:pPr>
              <a:lnSpc>
                <a:spcPct val="90000"/>
              </a:lnSpc>
            </a:pPr>
            <a:r>
              <a:rPr lang="en-US" sz="2200" b="0" i="0" dirty="0">
                <a:effectLst/>
                <a:latin typeface="+mj-lt"/>
                <a:ea typeface="Roboto" panose="02000000000000000000" pitchFamily="2" charset="0"/>
                <a:cs typeface="Roboto" panose="02000000000000000000" pitchFamily="2" charset="0"/>
              </a:rPr>
              <a:t>This TPM pillar aims to reduce quality defects and, consequently, the need to rework defective products. </a:t>
            </a:r>
          </a:p>
          <a:p>
            <a:pPr>
              <a:lnSpc>
                <a:spcPct val="90000"/>
              </a:lnSpc>
            </a:pPr>
            <a:r>
              <a:rPr lang="en-US" sz="2200" b="0" i="0" dirty="0">
                <a:effectLst/>
                <a:latin typeface="+mj-lt"/>
                <a:ea typeface="Roboto" panose="02000000000000000000" pitchFamily="2" charset="0"/>
                <a:cs typeface="Roboto" panose="02000000000000000000" pitchFamily="2" charset="0"/>
              </a:rPr>
              <a:t>The ultimate goal is to increase production efficiency, eliminate rework-related costs, and improve customer satisfaction. </a:t>
            </a:r>
          </a:p>
          <a:p>
            <a:pPr>
              <a:lnSpc>
                <a:spcPct val="90000"/>
              </a:lnSpc>
            </a:pPr>
            <a:r>
              <a:rPr lang="en-US" sz="2200" b="0" i="0" dirty="0">
                <a:effectLst/>
                <a:latin typeface="+mj-lt"/>
                <a:ea typeface="Roboto" panose="02000000000000000000" pitchFamily="2" charset="0"/>
                <a:cs typeface="Roboto" panose="02000000000000000000" pitchFamily="2" charset="0"/>
              </a:rPr>
              <a:t>Defects can be managed through RCAs and by implementing preventative measures like digital production start-up checklists. </a:t>
            </a:r>
          </a:p>
          <a:p>
            <a:pPr marL="0" indent="0">
              <a:lnSpc>
                <a:spcPct val="90000"/>
              </a:lnSpc>
              <a:buNone/>
            </a:pPr>
            <a:endParaRPr lang="en-US" altLang="en-US" sz="2200" dirty="0">
              <a:latin typeface="+mj-lt"/>
              <a:ea typeface="Roboto" panose="02000000000000000000" pitchFamily="2" charset="0"/>
              <a:cs typeface="Roboto" panose="02000000000000000000" pitchFamily="2" charset="0"/>
            </a:endParaRPr>
          </a:p>
          <a:p>
            <a:pPr marL="0" indent="0">
              <a:lnSpc>
                <a:spcPct val="90000"/>
              </a:lnSpc>
              <a:buNone/>
            </a:pPr>
            <a:r>
              <a:rPr lang="en-US" sz="2200" b="1" dirty="0">
                <a:latin typeface="+mj-lt"/>
                <a:ea typeface="Roboto" panose="02000000000000000000" pitchFamily="2" charset="0"/>
                <a:cs typeface="Roboto" panose="02000000000000000000" pitchFamily="2" charset="0"/>
              </a:rPr>
              <a:t>PILLAR 4:</a:t>
            </a:r>
          </a:p>
          <a:p>
            <a:pPr marL="0" indent="0">
              <a:lnSpc>
                <a:spcPct val="90000"/>
              </a:lnSpc>
              <a:buNone/>
            </a:pPr>
            <a:r>
              <a:rPr lang="en-US" altLang="en-US" sz="2200" b="1" dirty="0">
                <a:latin typeface="+mj-lt"/>
                <a:ea typeface="Roboto" panose="02000000000000000000" pitchFamily="2" charset="0"/>
                <a:cs typeface="Roboto" panose="02000000000000000000" pitchFamily="2" charset="0"/>
              </a:rPr>
              <a:t>Planned Maintenance </a:t>
            </a:r>
          </a:p>
          <a:p>
            <a:pPr>
              <a:lnSpc>
                <a:spcPct val="90000"/>
              </a:lnSpc>
            </a:pPr>
            <a:r>
              <a:rPr lang="en-US" altLang="en-US" sz="2200" dirty="0">
                <a:latin typeface="+mj-lt"/>
                <a:ea typeface="Roboto" panose="02000000000000000000" pitchFamily="2" charset="0"/>
                <a:cs typeface="Roboto" panose="02000000000000000000" pitchFamily="2" charset="0"/>
              </a:rPr>
              <a:t>Breakdowns can be prevented by scheduling maintenance activities when a machine isn’t scheduled for production. </a:t>
            </a:r>
          </a:p>
          <a:p>
            <a:pPr>
              <a:lnSpc>
                <a:spcPct val="90000"/>
              </a:lnSpc>
            </a:pPr>
            <a:r>
              <a:rPr lang="en-US" altLang="en-US" sz="2200" dirty="0">
                <a:latin typeface="+mj-lt"/>
                <a:ea typeface="Roboto" panose="02000000000000000000" pitchFamily="2" charset="0"/>
                <a:cs typeface="Roboto" panose="02000000000000000000" pitchFamily="2" charset="0"/>
              </a:rPr>
              <a:t>This ensures that maintenance has no impact on the flow of production.  </a:t>
            </a:r>
          </a:p>
          <a:p>
            <a:pPr>
              <a:lnSpc>
                <a:spcPct val="90000"/>
              </a:lnSpc>
            </a:pPr>
            <a:r>
              <a:rPr lang="en-US" altLang="en-US" sz="2200" dirty="0">
                <a:latin typeface="+mj-lt"/>
                <a:ea typeface="Roboto" panose="02000000000000000000" pitchFamily="2" charset="0"/>
                <a:cs typeface="Roboto" panose="02000000000000000000" pitchFamily="2" charset="0"/>
              </a:rPr>
              <a:t>Closely related to autonomous maintenance, this pillar lets operators perform maintenance tasks to free up time for maintenance and engineering teams.</a:t>
            </a:r>
          </a:p>
        </p:txBody>
      </p:sp>
    </p:spTree>
    <p:extLst>
      <p:ext uri="{BB962C8B-B14F-4D97-AF65-F5344CB8AC3E}">
        <p14:creationId xmlns:p14="http://schemas.microsoft.com/office/powerpoint/2010/main" val="32009696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529BE-19E6-83A5-F571-1F14241762B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AAA7079-F737-599F-D2C1-0E45397CD0D8}"/>
              </a:ext>
            </a:extLst>
          </p:cNvPr>
          <p:cNvSpPr>
            <a:spLocks noGrp="1"/>
          </p:cNvSpPr>
          <p:nvPr>
            <p:ph type="dt" sz="half" idx="10"/>
          </p:nvPr>
        </p:nvSpPr>
        <p:spPr/>
        <p:txBody>
          <a:bodyPr/>
          <a:lstStyle/>
          <a:p>
            <a:fld id="{D4641815-5608-47A1-B11D-0B5D665F434B}" type="datetime1">
              <a:rPr lang="en-US" smtClean="0"/>
              <a:t>3/11/2024</a:t>
            </a:fld>
            <a:endParaRPr lang="en-US"/>
          </a:p>
        </p:txBody>
      </p:sp>
      <p:sp>
        <p:nvSpPr>
          <p:cNvPr id="6" name="Slide Number Placeholder 5">
            <a:extLst>
              <a:ext uri="{FF2B5EF4-FFF2-40B4-BE49-F238E27FC236}">
                <a16:creationId xmlns:a16="http://schemas.microsoft.com/office/drawing/2014/main" id="{129260C5-EFB8-4AAB-CEA5-736B453A411E}"/>
              </a:ext>
            </a:extLst>
          </p:cNvPr>
          <p:cNvSpPr>
            <a:spLocks noGrp="1"/>
          </p:cNvSpPr>
          <p:nvPr>
            <p:ph type="sldNum" sz="quarter" idx="12"/>
          </p:nvPr>
        </p:nvSpPr>
        <p:spPr/>
        <p:txBody>
          <a:bodyPr/>
          <a:lstStyle/>
          <a:p>
            <a:fld id="{B6F15528-21DE-4FAA-801E-634DDDAF4B2B}" type="slidenum">
              <a:rPr lang="en-US" smtClean="0"/>
              <a:pPr/>
              <a:t>54</a:t>
            </a:fld>
            <a:endParaRPr lang="en-US"/>
          </a:p>
        </p:txBody>
      </p:sp>
      <p:sp>
        <p:nvSpPr>
          <p:cNvPr id="7" name="Title 1">
            <a:extLst>
              <a:ext uri="{FF2B5EF4-FFF2-40B4-BE49-F238E27FC236}">
                <a16:creationId xmlns:a16="http://schemas.microsoft.com/office/drawing/2014/main" id="{2AF5121D-C9BF-D23B-59F6-6B7AB0F6361E}"/>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0" i="0" dirty="0">
                <a:effectLst/>
                <a:latin typeface="Roboto" panose="02000000000000000000" pitchFamily="2" charset="0"/>
              </a:rPr>
              <a:t>PILLARS OF TPM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99E48D77-A052-A7B9-FB02-3500D45B1525}"/>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74972443-7CFD-B2FC-C865-0BDAC3187CBA}"/>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31747" name="Rectangle 3">
            <a:extLst>
              <a:ext uri="{FF2B5EF4-FFF2-40B4-BE49-F238E27FC236}">
                <a16:creationId xmlns:a16="http://schemas.microsoft.com/office/drawing/2014/main" id="{94060DB3-983C-5522-F739-C9041A3B606E}"/>
              </a:ext>
            </a:extLst>
          </p:cNvPr>
          <p:cNvSpPr>
            <a:spLocks noGrp="1" noChangeArrowheads="1"/>
          </p:cNvSpPr>
          <p:nvPr>
            <p:ph idx="1"/>
          </p:nvPr>
        </p:nvSpPr>
        <p:spPr>
          <a:xfrm>
            <a:off x="304800" y="934200"/>
            <a:ext cx="8686800" cy="5507890"/>
          </a:xfrm>
        </p:spPr>
        <p:txBody>
          <a:bodyPr>
            <a:noAutofit/>
          </a:bodyPr>
          <a:lstStyle/>
          <a:p>
            <a:pPr marL="0" indent="0">
              <a:lnSpc>
                <a:spcPct val="90000"/>
              </a:lnSpc>
              <a:buNone/>
            </a:pPr>
            <a:r>
              <a:rPr lang="en-US" sz="2100" b="1" dirty="0">
                <a:latin typeface="+mj-lt"/>
                <a:ea typeface="Roboto" panose="02000000000000000000" pitchFamily="2" charset="0"/>
                <a:cs typeface="Roboto" panose="02000000000000000000" pitchFamily="2" charset="0"/>
              </a:rPr>
              <a:t>PILLAR 5:</a:t>
            </a:r>
          </a:p>
          <a:p>
            <a:pPr marL="0" indent="0">
              <a:lnSpc>
                <a:spcPct val="90000"/>
              </a:lnSpc>
              <a:buNone/>
            </a:pPr>
            <a:r>
              <a:rPr lang="en-US" altLang="en-US" sz="2100" b="1" dirty="0">
                <a:latin typeface="+mj-lt"/>
                <a:ea typeface="Roboto" panose="02000000000000000000" pitchFamily="2" charset="0"/>
                <a:cs typeface="Roboto" panose="02000000000000000000" pitchFamily="2" charset="0"/>
              </a:rPr>
              <a:t>Early Management  </a:t>
            </a:r>
          </a:p>
          <a:p>
            <a:pPr>
              <a:lnSpc>
                <a:spcPct val="90000"/>
              </a:lnSpc>
            </a:pPr>
            <a:r>
              <a:rPr lang="en-US" altLang="en-US" sz="2100" dirty="0">
                <a:latin typeface="+mj-lt"/>
                <a:ea typeface="Roboto" panose="02000000000000000000" pitchFamily="2" charset="0"/>
                <a:cs typeface="Roboto" panose="02000000000000000000" pitchFamily="2" charset="0"/>
              </a:rPr>
              <a:t>This pillar enables a fault-free and smooth implementation of new equipment and machinery. </a:t>
            </a:r>
          </a:p>
          <a:p>
            <a:pPr>
              <a:lnSpc>
                <a:spcPct val="90000"/>
              </a:lnSpc>
            </a:pPr>
            <a:r>
              <a:rPr lang="en-US" altLang="en-US" sz="2100" dirty="0">
                <a:latin typeface="+mj-lt"/>
                <a:ea typeface="Roboto" panose="02000000000000000000" pitchFamily="2" charset="0"/>
                <a:cs typeface="Roboto" panose="02000000000000000000" pitchFamily="2" charset="0"/>
              </a:rPr>
              <a:t>By applying the knowledge gained through the application of other pillars (e.g. autonomous maintenance), the installation and start-up time can be lowered, while maintenance is done properly from the start.  </a:t>
            </a:r>
          </a:p>
          <a:p>
            <a:pPr>
              <a:lnSpc>
                <a:spcPct val="90000"/>
              </a:lnSpc>
            </a:pPr>
            <a:endParaRPr lang="en-US" altLang="en-US" sz="2100" dirty="0">
              <a:latin typeface="+mj-lt"/>
              <a:ea typeface="Roboto" panose="02000000000000000000" pitchFamily="2" charset="0"/>
              <a:cs typeface="Roboto" panose="02000000000000000000" pitchFamily="2" charset="0"/>
            </a:endParaRPr>
          </a:p>
          <a:p>
            <a:pPr marL="0" indent="0">
              <a:lnSpc>
                <a:spcPct val="90000"/>
              </a:lnSpc>
              <a:buNone/>
            </a:pPr>
            <a:r>
              <a:rPr lang="en-US" sz="2100" b="1" dirty="0">
                <a:latin typeface="+mj-lt"/>
                <a:ea typeface="Roboto" panose="02000000000000000000" pitchFamily="2" charset="0"/>
                <a:cs typeface="Roboto" panose="02000000000000000000" pitchFamily="2" charset="0"/>
              </a:rPr>
              <a:t>PILLAR 6:</a:t>
            </a:r>
          </a:p>
          <a:p>
            <a:pPr marL="0" indent="0">
              <a:lnSpc>
                <a:spcPct val="90000"/>
              </a:lnSpc>
              <a:buNone/>
            </a:pPr>
            <a:r>
              <a:rPr lang="en-US" altLang="en-US" sz="2100" b="1" dirty="0">
                <a:latin typeface="+mj-lt"/>
                <a:ea typeface="Roboto" panose="02000000000000000000" pitchFamily="2" charset="0"/>
                <a:cs typeface="Roboto" panose="02000000000000000000" pitchFamily="2" charset="0"/>
              </a:rPr>
              <a:t>Training and Education  </a:t>
            </a:r>
          </a:p>
          <a:p>
            <a:pPr>
              <a:lnSpc>
                <a:spcPct val="90000"/>
              </a:lnSpc>
            </a:pPr>
            <a:r>
              <a:rPr lang="en-US" altLang="en-US" sz="2100" dirty="0">
                <a:latin typeface="+mj-lt"/>
                <a:ea typeface="Roboto" panose="02000000000000000000" pitchFamily="2" charset="0"/>
                <a:cs typeface="Roboto" panose="02000000000000000000" pitchFamily="2" charset="0"/>
              </a:rPr>
              <a:t>Naturally, investing in the continued education of operators and management will enable to manage the increasing complexity of modern machinery. </a:t>
            </a:r>
          </a:p>
          <a:p>
            <a:pPr>
              <a:lnSpc>
                <a:spcPct val="90000"/>
              </a:lnSpc>
            </a:pPr>
            <a:r>
              <a:rPr lang="en-US" altLang="en-US" sz="2100" dirty="0">
                <a:latin typeface="+mj-lt"/>
                <a:ea typeface="Roboto" panose="02000000000000000000" pitchFamily="2" charset="0"/>
                <a:cs typeface="Roboto" panose="02000000000000000000" pitchFamily="2" charset="0"/>
              </a:rPr>
              <a:t>This sixth pillar encourages managers to survey the capabilities in their factory. </a:t>
            </a:r>
          </a:p>
          <a:p>
            <a:pPr>
              <a:lnSpc>
                <a:spcPct val="90000"/>
              </a:lnSpc>
            </a:pPr>
            <a:r>
              <a:rPr lang="en-US" altLang="en-US" sz="2100" dirty="0">
                <a:latin typeface="+mj-lt"/>
                <a:ea typeface="Roboto" panose="02000000000000000000" pitchFamily="2" charset="0"/>
                <a:cs typeface="Roboto" panose="02000000000000000000" pitchFamily="2" charset="0"/>
              </a:rPr>
              <a:t>This gives them an overview of the present skill and enables them to make substantiated investments in training and education. </a:t>
            </a:r>
          </a:p>
        </p:txBody>
      </p:sp>
    </p:spTree>
    <p:extLst>
      <p:ext uri="{BB962C8B-B14F-4D97-AF65-F5344CB8AC3E}">
        <p14:creationId xmlns:p14="http://schemas.microsoft.com/office/powerpoint/2010/main" val="36873034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71135-0CA9-D331-07D8-EDBB44B7DE0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994391E-171E-EC09-390C-71C8E804FED2}"/>
              </a:ext>
            </a:extLst>
          </p:cNvPr>
          <p:cNvSpPr>
            <a:spLocks noGrp="1"/>
          </p:cNvSpPr>
          <p:nvPr>
            <p:ph type="dt" sz="half" idx="10"/>
          </p:nvPr>
        </p:nvSpPr>
        <p:spPr/>
        <p:txBody>
          <a:bodyPr/>
          <a:lstStyle/>
          <a:p>
            <a:fld id="{46BF0175-DA3C-4B97-A80A-66F2EC27AAF7}" type="datetime1">
              <a:rPr lang="en-US" smtClean="0"/>
              <a:t>3/11/2024</a:t>
            </a:fld>
            <a:endParaRPr lang="en-US"/>
          </a:p>
        </p:txBody>
      </p:sp>
      <p:sp>
        <p:nvSpPr>
          <p:cNvPr id="6" name="Slide Number Placeholder 5">
            <a:extLst>
              <a:ext uri="{FF2B5EF4-FFF2-40B4-BE49-F238E27FC236}">
                <a16:creationId xmlns:a16="http://schemas.microsoft.com/office/drawing/2014/main" id="{09B8FD38-F4AE-87CE-3245-92490FE97559}"/>
              </a:ext>
            </a:extLst>
          </p:cNvPr>
          <p:cNvSpPr>
            <a:spLocks noGrp="1"/>
          </p:cNvSpPr>
          <p:nvPr>
            <p:ph type="sldNum" sz="quarter" idx="12"/>
          </p:nvPr>
        </p:nvSpPr>
        <p:spPr/>
        <p:txBody>
          <a:bodyPr/>
          <a:lstStyle/>
          <a:p>
            <a:fld id="{B6F15528-21DE-4FAA-801E-634DDDAF4B2B}" type="slidenum">
              <a:rPr lang="en-US" smtClean="0"/>
              <a:pPr/>
              <a:t>55</a:t>
            </a:fld>
            <a:endParaRPr lang="en-US"/>
          </a:p>
        </p:txBody>
      </p:sp>
      <p:sp>
        <p:nvSpPr>
          <p:cNvPr id="7" name="Title 1">
            <a:extLst>
              <a:ext uri="{FF2B5EF4-FFF2-40B4-BE49-F238E27FC236}">
                <a16:creationId xmlns:a16="http://schemas.microsoft.com/office/drawing/2014/main" id="{D9DB5B1F-0423-2241-00AA-C1EEF942F30F}"/>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0" i="0" dirty="0">
                <a:effectLst/>
                <a:latin typeface="Roboto" panose="02000000000000000000" pitchFamily="2" charset="0"/>
              </a:rPr>
              <a:t>PILLARS OF TPM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B7722C55-EB62-9BAC-8F04-4F3B478407F0}"/>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9A8A9ED6-4DE1-BE03-B22C-35484E8A2AA4}"/>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31747" name="Rectangle 3">
            <a:extLst>
              <a:ext uri="{FF2B5EF4-FFF2-40B4-BE49-F238E27FC236}">
                <a16:creationId xmlns:a16="http://schemas.microsoft.com/office/drawing/2014/main" id="{2C75E511-EE3B-6129-9BC4-AB59BE498200}"/>
              </a:ext>
            </a:extLst>
          </p:cNvPr>
          <p:cNvSpPr>
            <a:spLocks noGrp="1" noChangeArrowheads="1"/>
          </p:cNvSpPr>
          <p:nvPr>
            <p:ph idx="1"/>
          </p:nvPr>
        </p:nvSpPr>
        <p:spPr>
          <a:xfrm>
            <a:off x="304800" y="934200"/>
            <a:ext cx="8686800" cy="5137150"/>
          </a:xfrm>
        </p:spPr>
        <p:txBody>
          <a:bodyPr>
            <a:normAutofit/>
          </a:bodyPr>
          <a:lstStyle/>
          <a:p>
            <a:pPr marL="0" indent="0">
              <a:lnSpc>
                <a:spcPct val="90000"/>
              </a:lnSpc>
              <a:buNone/>
            </a:pPr>
            <a:r>
              <a:rPr lang="en-US" sz="2200" b="1" dirty="0">
                <a:latin typeface="+mj-lt"/>
                <a:ea typeface="Roboto" panose="02000000000000000000" pitchFamily="2" charset="0"/>
                <a:cs typeface="Roboto" panose="02000000000000000000" pitchFamily="2" charset="0"/>
              </a:rPr>
              <a:t>PILLAR 7:</a:t>
            </a:r>
          </a:p>
          <a:p>
            <a:pPr marL="0" indent="0">
              <a:lnSpc>
                <a:spcPct val="90000"/>
              </a:lnSpc>
              <a:buNone/>
            </a:pPr>
            <a:r>
              <a:rPr lang="en-US" altLang="en-US" sz="2200" b="1" dirty="0">
                <a:latin typeface="+mj-lt"/>
                <a:ea typeface="Roboto" panose="02000000000000000000" pitchFamily="2" charset="0"/>
                <a:cs typeface="Roboto" panose="02000000000000000000" pitchFamily="2" charset="0"/>
              </a:rPr>
              <a:t>Safety, Environment, and Health (SHE)  </a:t>
            </a:r>
          </a:p>
          <a:p>
            <a:pPr>
              <a:lnSpc>
                <a:spcPct val="90000"/>
              </a:lnSpc>
            </a:pPr>
            <a:r>
              <a:rPr lang="en-US" altLang="en-US" sz="2200" dirty="0">
                <a:latin typeface="+mj-lt"/>
                <a:ea typeface="Roboto" panose="02000000000000000000" pitchFamily="2" charset="0"/>
                <a:cs typeface="Roboto" panose="02000000000000000000" pitchFamily="2" charset="0"/>
              </a:rPr>
              <a:t>This pillar aims to create a workplace that is free of any hazards and safety risks. </a:t>
            </a:r>
          </a:p>
          <a:p>
            <a:pPr>
              <a:lnSpc>
                <a:spcPct val="90000"/>
              </a:lnSpc>
            </a:pPr>
            <a:r>
              <a:rPr lang="en-US" altLang="en-US" sz="2200" dirty="0">
                <a:latin typeface="+mj-lt"/>
                <a:ea typeface="Roboto" panose="02000000000000000000" pitchFamily="2" charset="0"/>
                <a:cs typeface="Roboto" panose="02000000000000000000" pitchFamily="2" charset="0"/>
              </a:rPr>
              <a:t>It can be </a:t>
            </a:r>
            <a:r>
              <a:rPr lang="en-US" altLang="en-US" sz="2200" b="1" dirty="0">
                <a:latin typeface="+mj-lt"/>
                <a:ea typeface="Roboto" panose="02000000000000000000" pitchFamily="2" charset="0"/>
                <a:cs typeface="Roboto" panose="02000000000000000000" pitchFamily="2" charset="0"/>
              </a:rPr>
              <a:t>corrective</a:t>
            </a:r>
            <a:r>
              <a:rPr lang="en-US" altLang="en-US" sz="2200" dirty="0">
                <a:latin typeface="+mj-lt"/>
                <a:ea typeface="Roboto" panose="02000000000000000000" pitchFamily="2" charset="0"/>
                <a:cs typeface="Roboto" panose="02000000000000000000" pitchFamily="2" charset="0"/>
              </a:rPr>
              <a:t> as well as </a:t>
            </a:r>
            <a:r>
              <a:rPr lang="en-US" altLang="en-US" sz="2200" b="1" dirty="0">
                <a:latin typeface="+mj-lt"/>
                <a:ea typeface="Roboto" panose="02000000000000000000" pitchFamily="2" charset="0"/>
                <a:cs typeface="Roboto" panose="02000000000000000000" pitchFamily="2" charset="0"/>
              </a:rPr>
              <a:t>preventive</a:t>
            </a:r>
            <a:r>
              <a:rPr lang="en-US" altLang="en-US" sz="2200" dirty="0">
                <a:latin typeface="+mj-lt"/>
                <a:ea typeface="Roboto" panose="02000000000000000000" pitchFamily="2" charset="0"/>
                <a:cs typeface="Roboto" panose="02000000000000000000" pitchFamily="2" charset="0"/>
              </a:rPr>
              <a:t>: </a:t>
            </a:r>
          </a:p>
          <a:p>
            <a:pPr lvl="1">
              <a:lnSpc>
                <a:spcPct val="90000"/>
              </a:lnSpc>
            </a:pPr>
            <a:r>
              <a:rPr lang="en-US" altLang="en-US" sz="2200" dirty="0">
                <a:latin typeface="+mj-lt"/>
                <a:ea typeface="Roboto" panose="02000000000000000000" pitchFamily="2" charset="0"/>
                <a:cs typeface="Roboto" panose="02000000000000000000" pitchFamily="2" charset="0"/>
              </a:rPr>
              <a:t>Corrective actions fix something after it has happened, </a:t>
            </a:r>
          </a:p>
          <a:p>
            <a:pPr lvl="1">
              <a:lnSpc>
                <a:spcPct val="90000"/>
              </a:lnSpc>
            </a:pPr>
            <a:r>
              <a:rPr lang="en-US" altLang="en-US" sz="2200" dirty="0">
                <a:latin typeface="+mj-lt"/>
                <a:ea typeface="Roboto" panose="02000000000000000000" pitchFamily="2" charset="0"/>
                <a:cs typeface="Roboto" panose="02000000000000000000" pitchFamily="2" charset="0"/>
              </a:rPr>
              <a:t>while preventive actions proactively look at possibly unsafe situations and mitigate them before they turn into an accident.  </a:t>
            </a:r>
          </a:p>
          <a:p>
            <a:pPr marL="457200" lvl="1" indent="0">
              <a:lnSpc>
                <a:spcPct val="90000"/>
              </a:lnSpc>
              <a:buNone/>
            </a:pPr>
            <a:endParaRPr lang="en-US" altLang="en-US" sz="2200" dirty="0">
              <a:latin typeface="+mj-lt"/>
              <a:ea typeface="Roboto" panose="02000000000000000000" pitchFamily="2" charset="0"/>
              <a:cs typeface="Roboto" panose="02000000000000000000" pitchFamily="2" charset="0"/>
            </a:endParaRPr>
          </a:p>
          <a:p>
            <a:pPr>
              <a:lnSpc>
                <a:spcPct val="90000"/>
              </a:lnSpc>
            </a:pPr>
            <a:r>
              <a:rPr lang="en-US" altLang="en-US" sz="2200" dirty="0">
                <a:latin typeface="+mj-lt"/>
                <a:ea typeface="Roboto" panose="02000000000000000000" pitchFamily="2" charset="0"/>
                <a:cs typeface="Roboto" panose="02000000000000000000" pitchFamily="2" charset="0"/>
              </a:rPr>
              <a:t>Next to the elimination of accidents from the shop floor, this pillar seeks to create a work environment that is healthy for its workers, both physically and mentally. Attention should be paid to issues like air quality, proper workload, available facilities and so on. </a:t>
            </a:r>
          </a:p>
        </p:txBody>
      </p:sp>
    </p:spTree>
    <p:extLst>
      <p:ext uri="{BB962C8B-B14F-4D97-AF65-F5344CB8AC3E}">
        <p14:creationId xmlns:p14="http://schemas.microsoft.com/office/powerpoint/2010/main" val="33046920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9717B-5B77-F8C1-46A9-2B5A7E2847F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071510F-8F9C-922F-2E66-FB9E0DEB3878}"/>
              </a:ext>
            </a:extLst>
          </p:cNvPr>
          <p:cNvSpPr>
            <a:spLocks noGrp="1"/>
          </p:cNvSpPr>
          <p:nvPr>
            <p:ph type="dt" sz="half" idx="10"/>
          </p:nvPr>
        </p:nvSpPr>
        <p:spPr/>
        <p:txBody>
          <a:bodyPr/>
          <a:lstStyle/>
          <a:p>
            <a:fld id="{B4570C4A-6B34-4420-8187-4F1DCA047C8C}" type="datetime1">
              <a:rPr lang="en-US" smtClean="0"/>
              <a:t>3/11/2024</a:t>
            </a:fld>
            <a:endParaRPr lang="en-US"/>
          </a:p>
        </p:txBody>
      </p:sp>
      <p:sp>
        <p:nvSpPr>
          <p:cNvPr id="6" name="Slide Number Placeholder 5">
            <a:extLst>
              <a:ext uri="{FF2B5EF4-FFF2-40B4-BE49-F238E27FC236}">
                <a16:creationId xmlns:a16="http://schemas.microsoft.com/office/drawing/2014/main" id="{C85702CE-D2A9-CA30-8413-D6BE3083DE01}"/>
              </a:ext>
            </a:extLst>
          </p:cNvPr>
          <p:cNvSpPr>
            <a:spLocks noGrp="1"/>
          </p:cNvSpPr>
          <p:nvPr>
            <p:ph type="sldNum" sz="quarter" idx="12"/>
          </p:nvPr>
        </p:nvSpPr>
        <p:spPr/>
        <p:txBody>
          <a:bodyPr/>
          <a:lstStyle/>
          <a:p>
            <a:fld id="{B6F15528-21DE-4FAA-801E-634DDDAF4B2B}" type="slidenum">
              <a:rPr lang="en-US" smtClean="0"/>
              <a:pPr/>
              <a:t>56</a:t>
            </a:fld>
            <a:endParaRPr lang="en-US"/>
          </a:p>
        </p:txBody>
      </p:sp>
      <p:sp>
        <p:nvSpPr>
          <p:cNvPr id="7" name="Title 1">
            <a:extLst>
              <a:ext uri="{FF2B5EF4-FFF2-40B4-BE49-F238E27FC236}">
                <a16:creationId xmlns:a16="http://schemas.microsoft.com/office/drawing/2014/main" id="{93C2243A-6525-CC75-2485-9FBDECD71E7F}"/>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0" i="0" dirty="0">
                <a:effectLst/>
                <a:latin typeface="Roboto" panose="02000000000000000000" pitchFamily="2" charset="0"/>
              </a:rPr>
              <a:t>PILLARS OF TPM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ACA1E3C5-5861-FFCE-5066-6F5E29BFCB5E}"/>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56C6ECB4-0F7F-C54B-5D27-AB7D47EB1927}"/>
              </a:ext>
            </a:extLst>
          </p:cNvPr>
          <p:cNvPicPr>
            <a:picLocks noChangeAspect="1"/>
          </p:cNvPicPr>
          <p:nvPr/>
        </p:nvPicPr>
        <p:blipFill>
          <a:blip r:embed="rId2" cstate="print"/>
          <a:stretch>
            <a:fillRect/>
          </a:stretch>
        </p:blipFill>
        <p:spPr>
          <a:xfrm>
            <a:off x="0" y="-1"/>
            <a:ext cx="1371600" cy="879475"/>
          </a:xfrm>
          <a:prstGeom prst="rect">
            <a:avLst/>
          </a:prstGeom>
        </p:spPr>
      </p:pic>
      <p:sp>
        <p:nvSpPr>
          <p:cNvPr id="31747" name="Rectangle 3">
            <a:extLst>
              <a:ext uri="{FF2B5EF4-FFF2-40B4-BE49-F238E27FC236}">
                <a16:creationId xmlns:a16="http://schemas.microsoft.com/office/drawing/2014/main" id="{65021437-3F19-27A9-9805-2AC0B60B4CBA}"/>
              </a:ext>
            </a:extLst>
          </p:cNvPr>
          <p:cNvSpPr>
            <a:spLocks noGrp="1" noChangeArrowheads="1"/>
          </p:cNvSpPr>
          <p:nvPr>
            <p:ph idx="1"/>
          </p:nvPr>
        </p:nvSpPr>
        <p:spPr>
          <a:xfrm>
            <a:off x="304800" y="934200"/>
            <a:ext cx="8686800" cy="5137150"/>
          </a:xfrm>
        </p:spPr>
        <p:txBody>
          <a:bodyPr>
            <a:normAutofit/>
          </a:bodyPr>
          <a:lstStyle/>
          <a:p>
            <a:pPr marL="0" indent="0">
              <a:lnSpc>
                <a:spcPct val="90000"/>
              </a:lnSpc>
              <a:buNone/>
            </a:pPr>
            <a:r>
              <a:rPr lang="en-US" sz="2200" b="1" dirty="0">
                <a:latin typeface="+mj-lt"/>
                <a:ea typeface="Roboto" panose="02000000000000000000" pitchFamily="2" charset="0"/>
                <a:cs typeface="Roboto" panose="02000000000000000000" pitchFamily="2" charset="0"/>
              </a:rPr>
              <a:t>PILLAR 8:</a:t>
            </a:r>
          </a:p>
          <a:p>
            <a:pPr marL="0" indent="0">
              <a:lnSpc>
                <a:spcPct val="90000"/>
              </a:lnSpc>
              <a:buNone/>
            </a:pPr>
            <a:r>
              <a:rPr lang="en-US" altLang="en-US" sz="2200" b="1" dirty="0">
                <a:latin typeface="+mj-lt"/>
                <a:ea typeface="Roboto" panose="02000000000000000000" pitchFamily="2" charset="0"/>
                <a:cs typeface="Roboto" panose="02000000000000000000" pitchFamily="2" charset="0"/>
              </a:rPr>
              <a:t>Administrative TPM  </a:t>
            </a:r>
          </a:p>
          <a:p>
            <a:pPr>
              <a:lnSpc>
                <a:spcPct val="90000"/>
              </a:lnSpc>
            </a:pPr>
            <a:r>
              <a:rPr lang="en-US" altLang="en-US" sz="2200" dirty="0">
                <a:latin typeface="+mj-lt"/>
                <a:ea typeface="Roboto" panose="02000000000000000000" pitchFamily="2" charset="0"/>
                <a:cs typeface="Roboto" panose="02000000000000000000" pitchFamily="2" charset="0"/>
              </a:rPr>
              <a:t>Last but certainly not least, the Administrative TPM pillar includes aspects of an organization outside of the shop floor, like logistics and planning. </a:t>
            </a:r>
          </a:p>
          <a:p>
            <a:pPr>
              <a:lnSpc>
                <a:spcPct val="90000"/>
              </a:lnSpc>
            </a:pPr>
            <a:r>
              <a:rPr lang="en-US" altLang="en-US" sz="2200" dirty="0">
                <a:latin typeface="+mj-lt"/>
                <a:ea typeface="Roboto" panose="02000000000000000000" pitchFamily="2" charset="0"/>
                <a:cs typeface="Roboto" panose="02000000000000000000" pitchFamily="2" charset="0"/>
              </a:rPr>
              <a:t>It aims to apply the TPM philosophy to other processes within a business to, just like with equipment, eliminate waste and cut costs. </a:t>
            </a:r>
          </a:p>
        </p:txBody>
      </p:sp>
      <p:pic>
        <p:nvPicPr>
          <p:cNvPr id="1026" name="Picture 2" descr="TPM TPM pillars">
            <a:extLst>
              <a:ext uri="{FF2B5EF4-FFF2-40B4-BE49-F238E27FC236}">
                <a16:creationId xmlns:a16="http://schemas.microsoft.com/office/drawing/2014/main" id="{98F94F89-EC1D-01FE-0A28-565C5EE37B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470" y="3142640"/>
            <a:ext cx="8763000" cy="3243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15074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98F7B-AC3D-EC90-25E9-0C5E3A31E9D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41461B5-89EB-3C9D-F466-30243D12D9BE}"/>
              </a:ext>
            </a:extLst>
          </p:cNvPr>
          <p:cNvSpPr>
            <a:spLocks noGrp="1"/>
          </p:cNvSpPr>
          <p:nvPr>
            <p:ph type="dt" sz="half" idx="10"/>
          </p:nvPr>
        </p:nvSpPr>
        <p:spPr/>
        <p:txBody>
          <a:bodyPr/>
          <a:lstStyle/>
          <a:p>
            <a:fld id="{93DC1468-B756-40D3-859D-085298A3A7AE}" type="datetime1">
              <a:rPr lang="en-US" smtClean="0"/>
              <a:t>3/11/2024</a:t>
            </a:fld>
            <a:endParaRPr lang="en-US"/>
          </a:p>
        </p:txBody>
      </p:sp>
      <p:sp>
        <p:nvSpPr>
          <p:cNvPr id="6" name="Slide Number Placeholder 5">
            <a:extLst>
              <a:ext uri="{FF2B5EF4-FFF2-40B4-BE49-F238E27FC236}">
                <a16:creationId xmlns:a16="http://schemas.microsoft.com/office/drawing/2014/main" id="{4B51ED65-CB06-F721-4449-55E6B8A8D1C7}"/>
              </a:ext>
            </a:extLst>
          </p:cNvPr>
          <p:cNvSpPr>
            <a:spLocks noGrp="1"/>
          </p:cNvSpPr>
          <p:nvPr>
            <p:ph type="sldNum" sz="quarter" idx="12"/>
          </p:nvPr>
        </p:nvSpPr>
        <p:spPr/>
        <p:txBody>
          <a:bodyPr/>
          <a:lstStyle/>
          <a:p>
            <a:fld id="{B6F15528-21DE-4FAA-801E-634DDDAF4B2B}" type="slidenum">
              <a:rPr lang="en-US" smtClean="0"/>
              <a:pPr/>
              <a:t>57</a:t>
            </a:fld>
            <a:endParaRPr lang="en-US"/>
          </a:p>
        </p:txBody>
      </p:sp>
      <p:sp>
        <p:nvSpPr>
          <p:cNvPr id="7" name="Title 1">
            <a:extLst>
              <a:ext uri="{FF2B5EF4-FFF2-40B4-BE49-F238E27FC236}">
                <a16:creationId xmlns:a16="http://schemas.microsoft.com/office/drawing/2014/main" id="{140FE3DE-6B66-2A0B-2986-930FEE3379E8}"/>
              </a:ext>
            </a:extLst>
          </p:cNvPr>
          <p:cNvSpPr txBox="1">
            <a:spLocks/>
          </p:cNvSpPr>
          <p:nvPr/>
        </p:nvSpPr>
        <p:spPr>
          <a:xfrm>
            <a:off x="12192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0" i="0" dirty="0">
                <a:effectLst/>
                <a:latin typeface="Roboto" panose="02000000000000000000" pitchFamily="2" charset="0"/>
              </a:rPr>
              <a:t>BENEFITS OF TPM </a:t>
            </a:r>
            <a:r>
              <a:rPr lang="en-US" sz="3200" b="1" dirty="0">
                <a:solidFill>
                  <a:schemeClr val="tx1"/>
                </a:solidFill>
              </a:rPr>
              <a:t>(CO4)</a:t>
            </a:r>
            <a:endParaRPr lang="en-US" sz="3200" b="1" spc="-5" dirty="0">
              <a:cs typeface="Century"/>
            </a:endParaRPr>
          </a:p>
        </p:txBody>
      </p:sp>
      <p:sp>
        <p:nvSpPr>
          <p:cNvPr id="9" name="Footer Placeholder 12">
            <a:extLst>
              <a:ext uri="{FF2B5EF4-FFF2-40B4-BE49-F238E27FC236}">
                <a16:creationId xmlns:a16="http://schemas.microsoft.com/office/drawing/2014/main" id="{120CF97D-B6CC-F57B-ED5A-DD955B8E11A0}"/>
              </a:ext>
            </a:extLst>
          </p:cNvPr>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58BBA2E6-FAB2-9362-BF26-BFB213DC33F4}"/>
              </a:ext>
            </a:extLst>
          </p:cNvPr>
          <p:cNvPicPr>
            <a:picLocks noChangeAspect="1"/>
          </p:cNvPicPr>
          <p:nvPr/>
        </p:nvPicPr>
        <p:blipFill>
          <a:blip r:embed="rId2" cstate="print"/>
          <a:stretch>
            <a:fillRect/>
          </a:stretch>
        </p:blipFill>
        <p:spPr>
          <a:xfrm>
            <a:off x="0" y="-1"/>
            <a:ext cx="1371600" cy="879475"/>
          </a:xfrm>
          <a:prstGeom prst="rect">
            <a:avLst/>
          </a:prstGeom>
        </p:spPr>
      </p:pic>
      <p:pic>
        <p:nvPicPr>
          <p:cNvPr id="3074" name="Picture 2" descr="Direct and Indirect Benefits of TPM. | Download Scientific Diagram">
            <a:extLst>
              <a:ext uri="{FF2B5EF4-FFF2-40B4-BE49-F238E27FC236}">
                <a16:creationId xmlns:a16="http://schemas.microsoft.com/office/drawing/2014/main" id="{A5A68ABC-1E1D-F07E-0125-470B97FEBC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2757" y="1295400"/>
            <a:ext cx="6799603" cy="4083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46633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457200" indent="-457200">
              <a:lnSpc>
                <a:spcPct val="150000"/>
              </a:lnSpc>
              <a:buFont typeface="+mj-lt"/>
              <a:buAutoNum type="arabicPeriod"/>
            </a:pPr>
            <a:r>
              <a:rPr lang="en-US" sz="2200" dirty="0"/>
              <a:t> What Is PDCA?</a:t>
            </a:r>
          </a:p>
          <a:p>
            <a:pPr marL="457200" indent="-457200">
              <a:lnSpc>
                <a:spcPct val="150000"/>
              </a:lnSpc>
              <a:buFont typeface="+mj-lt"/>
              <a:buAutoNum type="arabicPeriod"/>
            </a:pPr>
            <a:r>
              <a:rPr lang="en-US" sz="2200" dirty="0"/>
              <a:t>What is Four Phases of the PDCA Cycle?</a:t>
            </a:r>
          </a:p>
          <a:p>
            <a:pPr marL="457200" indent="-457200">
              <a:lnSpc>
                <a:spcPct val="150000"/>
              </a:lnSpc>
              <a:buFont typeface="+mj-lt"/>
              <a:buAutoNum type="arabicPeriod"/>
            </a:pPr>
            <a:r>
              <a:rPr lang="en-US" sz="2200" dirty="0"/>
              <a:t>When to Use PDCA?</a:t>
            </a:r>
          </a:p>
          <a:p>
            <a:pPr marL="457200" indent="-457200">
              <a:lnSpc>
                <a:spcPct val="150000"/>
              </a:lnSpc>
              <a:buFont typeface="+mj-lt"/>
              <a:buAutoNum type="arabicPeriod"/>
            </a:pPr>
            <a:r>
              <a:rPr lang="en-US" sz="2200" dirty="0"/>
              <a:t>How to Use PDCA in Your Life?</a:t>
            </a:r>
          </a:p>
          <a:p>
            <a:pPr marL="457200" indent="-457200">
              <a:lnSpc>
                <a:spcPct val="150000"/>
              </a:lnSpc>
              <a:buFont typeface="+mj-lt"/>
              <a:buAutoNum type="arabicPeriod"/>
            </a:pPr>
            <a:r>
              <a:rPr lang="en-US" sz="2200" dirty="0"/>
              <a:t>What is the key points of PDCA?</a:t>
            </a:r>
          </a:p>
          <a:p>
            <a:pPr marL="457200" indent="-457200">
              <a:lnSpc>
                <a:spcPct val="150000"/>
              </a:lnSpc>
              <a:buFont typeface="+mj-lt"/>
              <a:buAutoNum type="arabicPeriod"/>
            </a:pPr>
            <a:endParaRPr lang="en-US" sz="2200" dirty="0"/>
          </a:p>
        </p:txBody>
      </p:sp>
      <p:sp>
        <p:nvSpPr>
          <p:cNvPr id="4" name="Date Placeholder 3"/>
          <p:cNvSpPr>
            <a:spLocks noGrp="1"/>
          </p:cNvSpPr>
          <p:nvPr>
            <p:ph type="dt" sz="half" idx="10"/>
          </p:nvPr>
        </p:nvSpPr>
        <p:spPr/>
        <p:txBody>
          <a:bodyPr/>
          <a:lstStyle/>
          <a:p>
            <a:fld id="{765B7931-6B2F-46F9-ABAD-B2685C42CF76}"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DAILY QUIZ</a:t>
            </a:r>
          </a:p>
        </p:txBody>
      </p:sp>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CC63BC5-33D2-4DA8-ADD6-EF9E4D905906}"/>
              </a:ext>
            </a:extLst>
          </p:cNvPr>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348596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305800" cy="5257800"/>
          </a:xfrm>
        </p:spPr>
        <p:txBody>
          <a:bodyPr>
            <a:normAutofit fontScale="55000" lnSpcReduction="20000"/>
          </a:bodyPr>
          <a:lstStyle/>
          <a:p>
            <a:pPr marL="514350" lvl="0" indent="-514350" algn="just">
              <a:buNone/>
            </a:pPr>
            <a:r>
              <a:rPr lang="en-US" sz="3300" dirty="0"/>
              <a:t>			</a:t>
            </a:r>
          </a:p>
          <a:p>
            <a:pPr>
              <a:lnSpc>
                <a:spcPct val="120000"/>
              </a:lnSpc>
            </a:pPr>
            <a:r>
              <a:rPr lang="en-US" sz="4000" dirty="0">
                <a:latin typeface="Times New Roman" panose="02020603050405020304" pitchFamily="18" charset="0"/>
                <a:cs typeface="Times New Roman" panose="02020603050405020304" pitchFamily="18" charset="0"/>
              </a:rPr>
              <a:t>Explain what is QFD, (Quality Function Deployment)?  </a:t>
            </a:r>
          </a:p>
          <a:p>
            <a:pPr>
              <a:lnSpc>
                <a:spcPct val="120000"/>
              </a:lnSpc>
            </a:pPr>
            <a:r>
              <a:rPr lang="en-US" sz="4000" dirty="0">
                <a:latin typeface="Times New Roman" panose="02020603050405020304" pitchFamily="18" charset="0"/>
                <a:cs typeface="Times New Roman" panose="02020603050405020304" pitchFamily="18" charset="0"/>
              </a:rPr>
              <a:t>What is management’s role in continual quality improvement ? </a:t>
            </a:r>
          </a:p>
          <a:p>
            <a:pPr>
              <a:lnSpc>
                <a:spcPct val="120000"/>
              </a:lnSpc>
            </a:pPr>
            <a:r>
              <a:rPr lang="en-US" sz="4000" dirty="0">
                <a:latin typeface="Times New Roman" panose="02020603050405020304" pitchFamily="18" charset="0"/>
                <a:cs typeface="Times New Roman" panose="02020603050405020304" pitchFamily="18" charset="0"/>
              </a:rPr>
              <a:t> Discuss the Kaizen approach. 			               Explain </a:t>
            </a:r>
            <a:r>
              <a:rPr lang="en-US" sz="4000" dirty="0" err="1">
                <a:latin typeface="Times New Roman" panose="02020603050405020304" pitchFamily="18" charset="0"/>
                <a:cs typeface="Times New Roman" panose="02020603050405020304" pitchFamily="18" charset="0"/>
              </a:rPr>
              <a:t>pdca</a:t>
            </a:r>
            <a:r>
              <a:rPr lang="en-US" sz="4000" dirty="0">
                <a:latin typeface="Times New Roman" panose="02020603050405020304" pitchFamily="18" charset="0"/>
                <a:cs typeface="Times New Roman" panose="02020603050405020304" pitchFamily="18" charset="0"/>
              </a:rPr>
              <a:t> cycle	</a:t>
            </a:r>
          </a:p>
          <a:p>
            <a:pPr>
              <a:lnSpc>
                <a:spcPct val="120000"/>
              </a:lnSpc>
            </a:pPr>
            <a:r>
              <a:rPr lang="en-US" sz="4000" dirty="0">
                <a:latin typeface="Times New Roman" panose="02020603050405020304" pitchFamily="18" charset="0"/>
                <a:cs typeface="Times New Roman" panose="02020603050405020304" pitchFamily="18" charset="0"/>
              </a:rPr>
              <a:t>Explain zero defect						</a:t>
            </a:r>
          </a:p>
          <a:p>
            <a:pPr>
              <a:lnSpc>
                <a:spcPct val="120000"/>
              </a:lnSpc>
            </a:pPr>
            <a:r>
              <a:rPr lang="en-US" sz="4000" dirty="0">
                <a:latin typeface="Times New Roman" panose="02020603050405020304" pitchFamily="18" charset="0"/>
                <a:cs typeface="Times New Roman" panose="02020603050405020304" pitchFamily="18" charset="0"/>
              </a:rPr>
              <a:t>Explain 5S	</a:t>
            </a:r>
          </a:p>
          <a:p>
            <a:pPr>
              <a:lnSpc>
                <a:spcPct val="120000"/>
              </a:lnSpc>
            </a:pPr>
            <a:r>
              <a:rPr lang="en-US" sz="4000" dirty="0">
                <a:latin typeface="Times New Roman" panose="02020603050405020304" pitchFamily="18" charset="0"/>
                <a:cs typeface="Times New Roman" panose="02020603050405020304" pitchFamily="18" charset="0"/>
              </a:rPr>
              <a:t>Define benchmarking 				  </a:t>
            </a:r>
          </a:p>
          <a:p>
            <a:pPr>
              <a:lnSpc>
                <a:spcPct val="120000"/>
              </a:lnSpc>
            </a:pPr>
            <a:r>
              <a:rPr lang="en-US" sz="4000" dirty="0">
                <a:latin typeface="Times New Roman" panose="02020603050405020304" pitchFamily="18" charset="0"/>
                <a:cs typeface="Times New Roman" panose="02020603050405020304" pitchFamily="18" charset="0"/>
              </a:rPr>
              <a:t>​How can you apply benchmarking data? </a:t>
            </a:r>
            <a:r>
              <a:rPr lang="en-US" dirty="0">
                <a:latin typeface="Times New Roman" panose="02020603050405020304" pitchFamily="18" charset="0"/>
                <a:cs typeface="Times New Roman" panose="02020603050405020304" pitchFamily="18" charset="0"/>
              </a:rPr>
              <a:t>							</a:t>
            </a:r>
          </a:p>
          <a:p>
            <a:pPr marL="514350" indent="-514350">
              <a:buNone/>
            </a:pPr>
            <a:r>
              <a:rPr lang="en-US" dirty="0"/>
              <a:t>									 	</a:t>
            </a:r>
            <a:r>
              <a:rPr lang="en-US" sz="1600" dirty="0"/>
              <a:t>	</a:t>
            </a:r>
            <a:endParaRPr lang="en-US" sz="1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91899E1-6ED8-42DE-B096-0AC0F4660C4A}"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WEEKLY ASSIGNMENT</a:t>
            </a:r>
          </a:p>
        </p:txBody>
      </p:sp>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CC63BC5-33D2-4DA8-ADD6-EF9E4D905906}"/>
              </a:ext>
            </a:extLst>
          </p:cNvPr>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22446248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305800" cy="5257800"/>
          </a:xfrm>
        </p:spPr>
        <p:txBody>
          <a:bodyPr>
            <a:normAutofit fontScale="70000" lnSpcReduction="20000"/>
          </a:bodyPr>
          <a:lstStyle/>
          <a:p>
            <a:pPr marL="514350" lvl="0" indent="-514350" algn="just">
              <a:buNone/>
            </a:pPr>
            <a:r>
              <a:rPr lang="en-US" sz="3300" dirty="0"/>
              <a:t>			</a:t>
            </a:r>
          </a:p>
          <a:p>
            <a:pPr lvl="0">
              <a:defRPr/>
            </a:pPr>
            <a:r>
              <a:rPr lang="en-US" sz="4000" dirty="0">
                <a:hlinkClick r:id="rId2"/>
              </a:rPr>
              <a:t>https://www.youtube.com/watch?v=QEOCAuExJU</a:t>
            </a:r>
            <a:endParaRPr lang="en-US" sz="4000" dirty="0"/>
          </a:p>
          <a:p>
            <a:pPr lvl="0">
              <a:defRPr/>
            </a:pPr>
            <a:r>
              <a:rPr lang="en-US" sz="4000" dirty="0">
                <a:hlinkClick r:id="rId3"/>
              </a:rPr>
              <a:t>https://www.youtube.com/watch?v=yWlAOFs04go</a:t>
            </a:r>
            <a:endParaRPr lang="en-US" sz="4000" dirty="0"/>
          </a:p>
          <a:p>
            <a:pPr lvl="0">
              <a:defRPr/>
            </a:pPr>
            <a:r>
              <a:rPr lang="en-US" sz="4000" dirty="0">
                <a:hlinkClick r:id="rId4"/>
              </a:rPr>
              <a:t>https://www.youtube.com/watch?v\=QifqIoUNTJM</a:t>
            </a:r>
            <a:endParaRPr lang="en-US" sz="4000" dirty="0"/>
          </a:p>
          <a:p>
            <a:pPr lvl="0">
              <a:defRPr/>
            </a:pPr>
            <a:r>
              <a:rPr lang="en-US" sz="4000" dirty="0">
                <a:hlinkClick r:id="rId5"/>
              </a:rPr>
              <a:t>https://www.youtube.com/watch?v=qb3mvJ1gb9g</a:t>
            </a:r>
            <a:endParaRPr lang="en-US" sz="4000" dirty="0"/>
          </a:p>
          <a:p>
            <a:pPr lvl="0">
              <a:defRPr/>
            </a:pPr>
            <a:r>
              <a:rPr lang="en-US" sz="4000" dirty="0">
                <a:hlinkClick r:id="rId6"/>
              </a:rPr>
              <a:t>https://www.youtube.com/watch?v=ePeXePNLrs </a:t>
            </a:r>
            <a:r>
              <a:rPr lang="en-US" dirty="0">
                <a:latin typeface="Times New Roman" panose="02020603050405020304" pitchFamily="18" charset="0"/>
                <a:cs typeface="Times New Roman" panose="02020603050405020304" pitchFamily="18" charset="0"/>
              </a:rPr>
              <a:t>							</a:t>
            </a:r>
          </a:p>
          <a:p>
            <a:pPr marL="514350" indent="-514350">
              <a:buNone/>
            </a:pPr>
            <a:r>
              <a:rPr lang="en-US" dirty="0"/>
              <a:t>									 	</a:t>
            </a:r>
            <a:r>
              <a:rPr lang="en-US" sz="1600" dirty="0"/>
              <a:t>	</a:t>
            </a:r>
            <a:endParaRPr lang="en-US" sz="1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9348BBB-C243-43D1-8AB5-CCAEF645155C}"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Topic Links</a:t>
            </a:r>
          </a:p>
        </p:txBody>
      </p:sp>
      <p:pic>
        <p:nvPicPr>
          <p:cNvPr id="8" name="Picture 2" descr="E:\NIET\Project\xLogo11.png.pagespeed.ic.pydHLuCQEZ.png"/>
          <p:cNvPicPr>
            <a:picLocks noChangeAspect="1" noChangeArrowheads="1"/>
          </p:cNvPicPr>
          <p:nvPr/>
        </p:nvPicPr>
        <p:blipFill>
          <a:blip r:embed="rId7"/>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CC63BC5-33D2-4DA8-ADD6-EF9E4D905906}"/>
              </a:ext>
            </a:extLst>
          </p:cNvPr>
          <p:cNvPicPr>
            <a:picLocks noChangeAspect="1"/>
          </p:cNvPicPr>
          <p:nvPr/>
        </p:nvPicPr>
        <p:blipFill>
          <a:blip r:embed="rId8"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13459548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57800"/>
          </a:xfrm>
        </p:spPr>
        <p:txBody>
          <a:bodyPr>
            <a:normAutofit fontScale="92500" lnSpcReduction="20000"/>
          </a:bodyPr>
          <a:lstStyle/>
          <a:p>
            <a:pPr>
              <a:buNone/>
            </a:pPr>
            <a:r>
              <a:rPr lang="en-US" sz="2400" b="1" dirty="0"/>
              <a:t>1.  </a:t>
            </a:r>
            <a:r>
              <a:rPr lang="en-US" sz="2600" b="1" dirty="0"/>
              <a:t>What is meant by Kaizen?</a:t>
            </a:r>
            <a:br>
              <a:rPr lang="en-US" sz="2400" dirty="0"/>
            </a:br>
            <a:endParaRPr lang="en-US" sz="2400" dirty="0"/>
          </a:p>
          <a:p>
            <a:pPr>
              <a:buNone/>
            </a:pPr>
            <a:r>
              <a:rPr lang="en-US" sz="2400" b="1" dirty="0"/>
              <a:t>     a.</a:t>
            </a:r>
            <a:r>
              <a:rPr lang="en-US" sz="2400" dirty="0"/>
              <a:t> card signal</a:t>
            </a:r>
            <a:br>
              <a:rPr lang="en-US" sz="2400" dirty="0"/>
            </a:br>
            <a:r>
              <a:rPr lang="en-US" sz="2400" b="1" dirty="0"/>
              <a:t>b.</a:t>
            </a:r>
            <a:r>
              <a:rPr lang="en-US" sz="2400" dirty="0"/>
              <a:t> to avoid inadvertent errors</a:t>
            </a:r>
            <a:br>
              <a:rPr lang="en-US" sz="2400" dirty="0"/>
            </a:br>
            <a:r>
              <a:rPr lang="en-US" sz="2400" b="1" dirty="0"/>
              <a:t>c.</a:t>
            </a:r>
            <a:r>
              <a:rPr lang="en-US" sz="2400" dirty="0"/>
              <a:t> change for better quality</a:t>
            </a:r>
            <a:br>
              <a:rPr lang="en-US" sz="2400" dirty="0"/>
            </a:br>
            <a:r>
              <a:rPr lang="en-US" sz="2400" b="1" dirty="0"/>
              <a:t>d.</a:t>
            </a:r>
            <a:r>
              <a:rPr lang="en-US" sz="2400" dirty="0"/>
              <a:t> none of the above </a:t>
            </a:r>
          </a:p>
          <a:p>
            <a:pPr>
              <a:buNone/>
            </a:pPr>
            <a:r>
              <a:rPr lang="en-US" sz="2600" b="1" dirty="0"/>
              <a:t>2.   Match the following group 1 items with group 2 items</a:t>
            </a:r>
            <a:br>
              <a:rPr lang="en-US" sz="2600" b="1" dirty="0"/>
            </a:br>
            <a:br>
              <a:rPr lang="en-US" sz="2600" b="1" dirty="0"/>
            </a:br>
            <a:r>
              <a:rPr lang="en-US" sz="2600" b="1" dirty="0"/>
              <a:t>1. Sort -------------------------------------------------- A. </a:t>
            </a:r>
            <a:r>
              <a:rPr lang="en-US" sz="2600" b="1" dirty="0" err="1"/>
              <a:t>Seitan</a:t>
            </a:r>
            <a:br>
              <a:rPr lang="en-US" sz="2600" b="1" dirty="0"/>
            </a:br>
            <a:r>
              <a:rPr lang="en-US" sz="2600" b="1" dirty="0"/>
              <a:t>2. Set in order ----------------------------------------- B. </a:t>
            </a:r>
            <a:r>
              <a:rPr lang="en-US" sz="2600" b="1" dirty="0" err="1"/>
              <a:t>Seiketsu</a:t>
            </a:r>
            <a:br>
              <a:rPr lang="en-US" sz="2600" b="1" dirty="0"/>
            </a:br>
            <a:r>
              <a:rPr lang="en-US" sz="2600" b="1" dirty="0"/>
              <a:t>3. Shine ------------------------------------------------ C. </a:t>
            </a:r>
            <a:r>
              <a:rPr lang="en-US" sz="2600" b="1" dirty="0" err="1"/>
              <a:t>Seiri</a:t>
            </a:r>
            <a:br>
              <a:rPr lang="en-US" sz="2600" b="1" dirty="0"/>
            </a:br>
            <a:r>
              <a:rPr lang="en-US" sz="2600" b="1" dirty="0"/>
              <a:t>4. Standardize ---------------------------------------- D. </a:t>
            </a:r>
            <a:r>
              <a:rPr lang="en-US" sz="2600" b="1" dirty="0" err="1"/>
              <a:t>Seiso</a:t>
            </a:r>
            <a:br>
              <a:rPr lang="en-US" sz="2600" dirty="0"/>
            </a:br>
            <a:endParaRPr lang="en-US" sz="2600" dirty="0"/>
          </a:p>
          <a:p>
            <a:r>
              <a:rPr lang="en-US" sz="2600" b="1" dirty="0"/>
              <a:t>a.</a:t>
            </a:r>
            <a:r>
              <a:rPr lang="en-US" sz="2600" dirty="0"/>
              <a:t> 1 – D, 2 – A, 3 – B, 4 – C</a:t>
            </a:r>
            <a:br>
              <a:rPr lang="en-US" sz="2600" dirty="0"/>
            </a:br>
            <a:r>
              <a:rPr lang="en-US" sz="2600" b="1" dirty="0"/>
              <a:t>b.</a:t>
            </a:r>
            <a:r>
              <a:rPr lang="en-US" sz="2600" dirty="0"/>
              <a:t> 1 – C, 2 – A, 3 – D, 4 – B</a:t>
            </a:r>
            <a:br>
              <a:rPr lang="en-US" sz="2600" dirty="0"/>
            </a:br>
            <a:r>
              <a:rPr lang="en-US" sz="2600" b="1" dirty="0"/>
              <a:t>c.</a:t>
            </a:r>
            <a:r>
              <a:rPr lang="en-US" sz="2600" dirty="0"/>
              <a:t> 1 – B, 2 – C, 3 – A, 4 – D</a:t>
            </a:r>
            <a:br>
              <a:rPr lang="en-US" sz="2600" dirty="0"/>
            </a:br>
            <a:r>
              <a:rPr lang="en-US" sz="2600" b="1" dirty="0"/>
              <a:t>d.</a:t>
            </a:r>
            <a:r>
              <a:rPr lang="en-US" sz="2600" dirty="0"/>
              <a:t> 1 –A, 2 – C, 3 – D, 4 – B</a:t>
            </a:r>
          </a:p>
          <a:p>
            <a:endParaRPr lang="en-US" sz="24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F82EB70-275B-4474-8BEC-264CDBA2515F}"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MCQs</a:t>
            </a:r>
          </a:p>
        </p:txBody>
      </p:sp>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CC63BC5-33D2-4DA8-ADD6-EF9E4D905906}"/>
              </a:ext>
            </a:extLst>
          </p:cNvPr>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9834098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r>
              <a:rPr lang="en-US" sz="2200" b="1" dirty="0"/>
              <a:t>3. What is meant by P, D, S and A in PDSA cycle?</a:t>
            </a:r>
            <a:br>
              <a:rPr lang="en-US" sz="2200" dirty="0"/>
            </a:br>
            <a:endParaRPr lang="en-US" sz="2200" dirty="0"/>
          </a:p>
          <a:p>
            <a:pPr>
              <a:buNone/>
            </a:pPr>
            <a:r>
              <a:rPr lang="en-US" sz="2200" b="1" dirty="0"/>
              <a:t>a.</a:t>
            </a:r>
            <a:r>
              <a:rPr lang="en-US" sz="2200" dirty="0"/>
              <a:t> Progress Development Study Act</a:t>
            </a:r>
          </a:p>
          <a:p>
            <a:pPr>
              <a:buNone/>
            </a:pPr>
            <a:r>
              <a:rPr lang="en-US" sz="2200" b="1" dirty="0"/>
              <a:t>b.</a:t>
            </a:r>
            <a:r>
              <a:rPr lang="en-US" sz="2200" dirty="0"/>
              <a:t> Plan Do Study Act</a:t>
            </a:r>
          </a:p>
          <a:p>
            <a:pPr>
              <a:buNone/>
            </a:pPr>
            <a:r>
              <a:rPr lang="en-US" sz="2200" b="1" dirty="0"/>
              <a:t>c.</a:t>
            </a:r>
            <a:r>
              <a:rPr lang="en-US" sz="2200" dirty="0"/>
              <a:t> Project Development Study Act</a:t>
            </a:r>
          </a:p>
          <a:p>
            <a:pPr>
              <a:buNone/>
            </a:pPr>
            <a:r>
              <a:rPr lang="en-US" sz="2200" b="1" dirty="0"/>
              <a:t>d.</a:t>
            </a:r>
            <a:r>
              <a:rPr lang="en-US" sz="2200" dirty="0"/>
              <a:t> Prevention Do Study Act</a:t>
            </a:r>
          </a:p>
          <a:p>
            <a:pPr>
              <a:buNone/>
            </a:pPr>
            <a:r>
              <a:rPr lang="en-US" sz="2200" b="1" dirty="0"/>
              <a:t>4. Plan-Do-Check -Act cycle is related to:</a:t>
            </a:r>
            <a:endParaRPr lang="en-US" sz="2200" dirty="0"/>
          </a:p>
          <a:p>
            <a:pPr>
              <a:buNone/>
            </a:pPr>
            <a:r>
              <a:rPr lang="en-US" sz="2200" b="1" dirty="0"/>
              <a:t>a. </a:t>
            </a:r>
            <a:r>
              <a:rPr lang="en-US" sz="2200" dirty="0"/>
              <a:t>Donabedian</a:t>
            </a:r>
          </a:p>
          <a:p>
            <a:pPr>
              <a:buNone/>
            </a:pPr>
            <a:r>
              <a:rPr lang="en-US" sz="2200" b="1" dirty="0"/>
              <a:t>b. </a:t>
            </a:r>
            <a:r>
              <a:rPr lang="en-US" sz="2200" dirty="0"/>
              <a:t>Deming</a:t>
            </a:r>
          </a:p>
          <a:p>
            <a:pPr>
              <a:buNone/>
            </a:pPr>
            <a:r>
              <a:rPr lang="en-US" sz="2200" b="1" dirty="0"/>
              <a:t>c. </a:t>
            </a:r>
            <a:r>
              <a:rPr lang="en-US" sz="2200" dirty="0"/>
              <a:t>Henry Gantt</a:t>
            </a:r>
          </a:p>
          <a:p>
            <a:pPr>
              <a:buNone/>
            </a:pPr>
            <a:r>
              <a:rPr lang="en-US" sz="2200" b="1" dirty="0"/>
              <a:t>d. </a:t>
            </a:r>
            <a:r>
              <a:rPr lang="en-US" sz="2200" dirty="0"/>
              <a:t>None of these</a:t>
            </a:r>
          </a:p>
          <a:p>
            <a:endParaRPr lang="en-US" sz="24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A84A868-13DA-48C7-9F2B-A6839D604040}"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MCQs</a:t>
            </a:r>
          </a:p>
        </p:txBody>
      </p:sp>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CC63BC5-33D2-4DA8-ADD6-EF9E4D905906}"/>
              </a:ext>
            </a:extLst>
          </p:cNvPr>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6229841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r>
              <a:rPr lang="en-US" sz="2200" b="1" dirty="0"/>
              <a:t>4.  Match The Following</a:t>
            </a:r>
            <a:endParaRPr lang="en-US" sz="2200" dirty="0"/>
          </a:p>
          <a:p>
            <a:r>
              <a:rPr lang="en-US" sz="2200" b="1" dirty="0"/>
              <a:t> A. TQM promotes                        1. Small change</a:t>
            </a:r>
            <a:endParaRPr lang="en-US" sz="2200" dirty="0"/>
          </a:p>
          <a:p>
            <a:r>
              <a:rPr lang="en-US" sz="2200" b="1" dirty="0"/>
              <a:t> B. Kaizen is                                    2. Continuous improvement</a:t>
            </a:r>
            <a:endParaRPr lang="en-US" sz="2200" dirty="0"/>
          </a:p>
          <a:p>
            <a:r>
              <a:rPr lang="en-US" sz="2200" b="1" dirty="0"/>
              <a:t> C. Quality circle can solve         3. Employee participation</a:t>
            </a:r>
            <a:endParaRPr lang="en-US" sz="2200" dirty="0"/>
          </a:p>
          <a:p>
            <a:r>
              <a:rPr lang="en-US" sz="2200" b="1" dirty="0"/>
              <a:t> problem related to</a:t>
            </a:r>
            <a:endParaRPr lang="en-US" sz="2200" dirty="0"/>
          </a:p>
          <a:p>
            <a:r>
              <a:rPr lang="en-US" sz="2200" b="1" dirty="0"/>
              <a:t> D. Quality circle benefit to       4. Employee </a:t>
            </a:r>
            <a:endParaRPr lang="en-US" sz="2200" dirty="0"/>
          </a:p>
          <a:p>
            <a:pPr>
              <a:buNone/>
            </a:pPr>
            <a:r>
              <a:rPr lang="en-US" sz="2200" dirty="0"/>
              <a:t>5. The correct order is</a:t>
            </a:r>
          </a:p>
          <a:p>
            <a:pPr lvl="0"/>
            <a:r>
              <a:rPr lang="en-US" sz="2200" dirty="0"/>
              <a:t>A-3, B-1, C-2, D-4</a:t>
            </a:r>
          </a:p>
          <a:p>
            <a:pPr lvl="0"/>
            <a:r>
              <a:rPr lang="en-US" sz="2200" dirty="0"/>
              <a:t>A-1, B-3, C-2, D-4</a:t>
            </a:r>
          </a:p>
          <a:p>
            <a:pPr lvl="0"/>
            <a:r>
              <a:rPr lang="en-US" sz="2200" dirty="0"/>
              <a:t>A-3, B-1, C-4, D-2</a:t>
            </a:r>
          </a:p>
          <a:p>
            <a:pPr lvl="0"/>
            <a:r>
              <a:rPr lang="en-US" sz="2200" dirty="0"/>
              <a:t>A-3, B-2, C-1, D-4</a:t>
            </a: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1913E53-DC9F-4951-B2EB-ECB7FDF6364F}"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MCQs</a:t>
            </a:r>
          </a:p>
        </p:txBody>
      </p:sp>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CC63BC5-33D2-4DA8-ADD6-EF9E4D905906}"/>
              </a:ext>
            </a:extLst>
          </p:cNvPr>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37620534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029200"/>
          </a:xfrm>
        </p:spPr>
        <p:txBody>
          <a:bodyPr>
            <a:normAutofit fontScale="77500" lnSpcReduction="20000"/>
          </a:bodyPr>
          <a:lstStyle/>
          <a:p>
            <a:pPr>
              <a:buNone/>
            </a:pPr>
            <a:r>
              <a:rPr lang="en-US" sz="2800" b="1" dirty="0"/>
              <a:t>6.  Reliability of product means</a:t>
            </a:r>
            <a:endParaRPr lang="en-US" sz="2800" dirty="0"/>
          </a:p>
          <a:p>
            <a:pPr marL="514350" lvl="0" indent="-514350">
              <a:buFont typeface="+mj-lt"/>
              <a:buAutoNum type="romanUcPeriod"/>
            </a:pPr>
            <a:r>
              <a:rPr lang="en-US" sz="2800" b="1" dirty="0"/>
              <a:t>Consistency of performance</a:t>
            </a:r>
            <a:endParaRPr lang="en-US" sz="2800" dirty="0"/>
          </a:p>
          <a:p>
            <a:pPr marL="514350" lvl="0" indent="-514350">
              <a:buFont typeface="+mj-lt"/>
              <a:buAutoNum type="romanUcPeriod"/>
            </a:pPr>
            <a:r>
              <a:rPr lang="en-US" sz="2800" b="1" dirty="0"/>
              <a:t>Performance over period</a:t>
            </a:r>
            <a:endParaRPr lang="en-US" sz="2800" dirty="0"/>
          </a:p>
          <a:p>
            <a:pPr marL="514350" lvl="0" indent="-514350">
              <a:buFont typeface="+mj-lt"/>
              <a:buAutoNum type="romanUcPeriod"/>
            </a:pPr>
            <a:r>
              <a:rPr lang="en-US" sz="2800" b="1" dirty="0"/>
              <a:t>Free of technical errors</a:t>
            </a:r>
            <a:endParaRPr lang="en-US" sz="2800" dirty="0"/>
          </a:p>
          <a:p>
            <a:r>
              <a:rPr lang="en-US" sz="2800" dirty="0"/>
              <a:t>The correct answer is</a:t>
            </a:r>
          </a:p>
          <a:p>
            <a:pPr marL="457200" lvl="0" indent="-457200">
              <a:buFont typeface="+mj-lt"/>
              <a:buAutoNum type="alphaLcPeriod"/>
            </a:pPr>
            <a:r>
              <a:rPr lang="en-US" sz="2800" dirty="0" err="1"/>
              <a:t>i</a:t>
            </a:r>
            <a:r>
              <a:rPr lang="en-US" sz="2800" dirty="0"/>
              <a:t> &amp; iii</a:t>
            </a:r>
          </a:p>
          <a:p>
            <a:pPr marL="457200" lvl="0" indent="-457200">
              <a:buFont typeface="+mj-lt"/>
              <a:buAutoNum type="alphaLcPeriod"/>
            </a:pPr>
            <a:r>
              <a:rPr lang="en-US" sz="2800" dirty="0" err="1"/>
              <a:t>i</a:t>
            </a:r>
            <a:r>
              <a:rPr lang="en-US" sz="2800" dirty="0"/>
              <a:t> &amp; ii</a:t>
            </a:r>
          </a:p>
          <a:p>
            <a:pPr marL="457200" lvl="0" indent="-457200">
              <a:buFont typeface="+mj-lt"/>
              <a:buAutoNum type="alphaLcPeriod"/>
            </a:pPr>
            <a:r>
              <a:rPr lang="en-US" sz="2800" dirty="0"/>
              <a:t>ii &amp; iii</a:t>
            </a:r>
          </a:p>
          <a:p>
            <a:pPr marL="457200" lvl="0" indent="-457200">
              <a:buFont typeface="+mj-lt"/>
              <a:buAutoNum type="alphaLcPeriod"/>
            </a:pPr>
            <a:r>
              <a:rPr lang="en-US" sz="2800" dirty="0" err="1"/>
              <a:t>i</a:t>
            </a:r>
            <a:r>
              <a:rPr lang="en-US" sz="2800" dirty="0"/>
              <a:t>, ii &amp; iii</a:t>
            </a:r>
          </a:p>
          <a:p>
            <a:pPr>
              <a:buNone/>
            </a:pPr>
            <a:r>
              <a:rPr lang="en-US" sz="2800" dirty="0"/>
              <a:t>7.  </a:t>
            </a:r>
            <a:r>
              <a:rPr lang="en-US" sz="2800" b="1" dirty="0"/>
              <a:t>According to Deming, Quality problems are</a:t>
            </a:r>
            <a:endParaRPr lang="en-US" sz="2800" dirty="0"/>
          </a:p>
          <a:p>
            <a:pPr fontAlgn="base">
              <a:buNone/>
            </a:pPr>
            <a:r>
              <a:rPr lang="en-US" sz="2800" dirty="0"/>
              <a:t> a. Due to management</a:t>
            </a:r>
          </a:p>
          <a:p>
            <a:pPr fontAlgn="base">
              <a:buNone/>
            </a:pPr>
            <a:r>
              <a:rPr lang="en-US" sz="2800" dirty="0"/>
              <a:t> b. Due to method</a:t>
            </a:r>
          </a:p>
          <a:p>
            <a:pPr fontAlgn="base">
              <a:buNone/>
            </a:pPr>
            <a:r>
              <a:rPr lang="en-US" sz="2800" dirty="0"/>
              <a:t>C . Due to machine</a:t>
            </a:r>
          </a:p>
          <a:p>
            <a:pPr fontAlgn="base">
              <a:buNone/>
            </a:pPr>
            <a:r>
              <a:rPr lang="en-US" sz="2800" dirty="0"/>
              <a:t> d. Due to material</a:t>
            </a: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A9966BB-1C44-430F-BF5C-D90BA173198A}"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MCQs</a:t>
            </a:r>
          </a:p>
        </p:txBody>
      </p:sp>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CC63BC5-33D2-4DA8-ADD6-EF9E4D905906}"/>
              </a:ext>
            </a:extLst>
          </p:cNvPr>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36846887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lvl="0">
              <a:buNone/>
            </a:pPr>
            <a:r>
              <a:rPr lang="en-US" sz="2200" dirty="0">
                <a:solidFill>
                  <a:prstClr val="black"/>
                </a:solidFill>
                <a:latin typeface="Times New Roman" panose="02020603050405020304" pitchFamily="18" charset="0"/>
                <a:cs typeface="Times New Roman" panose="02020603050405020304" pitchFamily="18" charset="0"/>
              </a:rPr>
              <a:t>Pick the correct answer from given Glossary</a:t>
            </a:r>
          </a:p>
          <a:p>
            <a:pPr algn="ctr">
              <a:buNone/>
            </a:pPr>
            <a:r>
              <a:rPr lang="en-US" sz="2200" dirty="0">
                <a:latin typeface="Times New Roman" panose="02020603050405020304" pitchFamily="18" charset="0"/>
                <a:cs typeface="Times New Roman" panose="02020603050405020304" pitchFamily="18" charset="0"/>
              </a:rPr>
              <a:t>(Quality Circle, defect, Failure, failure ,Training )</a:t>
            </a:r>
          </a:p>
          <a:p>
            <a:pPr>
              <a:buNone/>
            </a:pPr>
            <a:r>
              <a:rPr lang="en-US" sz="2200" dirty="0">
                <a:latin typeface="Times New Roman" panose="02020603050405020304" pitchFamily="18" charset="0"/>
                <a:cs typeface="Times New Roman" panose="02020603050405020304" pitchFamily="18" charset="0"/>
              </a:rPr>
              <a:t>1. </a:t>
            </a:r>
            <a:r>
              <a:rPr lang="en-IN" sz="2400" dirty="0">
                <a:latin typeface="Times New Roman" panose="02020603050405020304" pitchFamily="18" charset="0"/>
                <a:cs typeface="Times New Roman" panose="02020603050405020304" pitchFamily="18" charset="0"/>
              </a:rPr>
              <a:t>A non-conformance to a requirement is known as _______</a:t>
            </a:r>
          </a:p>
          <a:p>
            <a:pPr>
              <a:buNone/>
            </a:pPr>
            <a:r>
              <a:rPr lang="en-IN" sz="2400" dirty="0">
                <a:latin typeface="Times New Roman" panose="02020603050405020304" pitchFamily="18" charset="0"/>
                <a:cs typeface="Times New Roman" panose="02020603050405020304" pitchFamily="18" charset="0"/>
              </a:rPr>
              <a:t>2.  A _____ is a defect that reaches the customer</a:t>
            </a:r>
          </a:p>
          <a:p>
            <a:pPr>
              <a:buNone/>
            </a:pPr>
            <a:r>
              <a:rPr lang="en-IN" sz="2400" dirty="0">
                <a:latin typeface="Times New Roman" panose="02020603050405020304" pitchFamily="18" charset="0"/>
                <a:cs typeface="Times New Roman" panose="02020603050405020304" pitchFamily="18" charset="0"/>
              </a:rPr>
              <a:t>3.  A group of workers who do the same or similar work is known as _____</a:t>
            </a:r>
          </a:p>
          <a:p>
            <a:pPr>
              <a:buNone/>
            </a:pPr>
            <a:r>
              <a:rPr lang="en-IN" sz="2400" dirty="0">
                <a:latin typeface="Times New Roman" panose="02020603050405020304" pitchFamily="18" charset="0"/>
                <a:cs typeface="Times New Roman" panose="02020603050405020304" pitchFamily="18" charset="0"/>
              </a:rPr>
              <a:t>4. One of the Cause of failure is a lack of ____</a:t>
            </a: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Glossary Questions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CC63BC5-33D2-4DA8-ADD6-EF9E4D905906}"/>
              </a:ext>
            </a:extLst>
          </p:cNvPr>
          <p:cNvPicPr>
            <a:picLocks noChangeAspect="1"/>
          </p:cNvPicPr>
          <p:nvPr/>
        </p:nvPicPr>
        <p:blipFill>
          <a:blip r:embed="rId3" cstate="print"/>
          <a:stretch>
            <a:fillRect/>
          </a:stretch>
        </p:blipFill>
        <p:spPr>
          <a:xfrm>
            <a:off x="0" y="-1"/>
            <a:ext cx="1371600" cy="879475"/>
          </a:xfrm>
          <a:prstGeom prst="rect">
            <a:avLst/>
          </a:prstGeom>
        </p:spPr>
      </p:pic>
      <p:sp>
        <p:nvSpPr>
          <p:cNvPr id="2" name="Date Placeholder 1">
            <a:extLst>
              <a:ext uri="{FF2B5EF4-FFF2-40B4-BE49-F238E27FC236}">
                <a16:creationId xmlns:a16="http://schemas.microsoft.com/office/drawing/2014/main" id="{0368F2D4-DCA8-C9E1-330E-8487614E8FA3}"/>
              </a:ext>
            </a:extLst>
          </p:cNvPr>
          <p:cNvSpPr>
            <a:spLocks noGrp="1"/>
          </p:cNvSpPr>
          <p:nvPr>
            <p:ph type="dt" sz="half" idx="10"/>
          </p:nvPr>
        </p:nvSpPr>
        <p:spPr/>
        <p:txBody>
          <a:bodyPr/>
          <a:lstStyle/>
          <a:p>
            <a:fld id="{7EB9B05A-93C8-4B90-A0F8-5DD4F828E0EB}" type="datetime1">
              <a:rPr lang="en-US" smtClean="0"/>
              <a:t>3/11/2024</a:t>
            </a:fld>
            <a:endParaRPr lang="en-US"/>
          </a:p>
        </p:txBody>
      </p:sp>
    </p:spTree>
    <p:extLst>
      <p:ext uri="{BB962C8B-B14F-4D97-AF65-F5344CB8AC3E}">
        <p14:creationId xmlns:p14="http://schemas.microsoft.com/office/powerpoint/2010/main" val="4491479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520C420-7882-4B51-854E-81CA24FC5517}"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OLD QUESTION PAPERS</a:t>
            </a:r>
          </a:p>
        </p:txBody>
      </p:sp>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2"/>
          <p:cNvPicPr>
            <a:picLocks noChangeAspect="1" noChangeArrowheads="1"/>
          </p:cNvPicPr>
          <p:nvPr/>
        </p:nvPicPr>
        <p:blipFill>
          <a:blip r:embed="rId2"/>
          <a:srcRect/>
          <a:stretch>
            <a:fillRect/>
          </a:stretch>
        </p:blipFill>
        <p:spPr bwMode="auto">
          <a:xfrm>
            <a:off x="685800" y="838200"/>
            <a:ext cx="8001000" cy="5334000"/>
          </a:xfrm>
          <a:prstGeom prst="rect">
            <a:avLst/>
          </a:prstGeom>
          <a:noFill/>
          <a:ln w="9525">
            <a:noFill/>
            <a:miter lim="800000"/>
            <a:headEnd/>
            <a:tailEnd/>
          </a:ln>
          <a:effectLst/>
        </p:spPr>
      </p:pic>
      <p:pic>
        <p:nvPicPr>
          <p:cNvPr id="11" name="Picture 10">
            <a:extLst>
              <a:ext uri="{FF2B5EF4-FFF2-40B4-BE49-F238E27FC236}">
                <a16:creationId xmlns:a16="http://schemas.microsoft.com/office/drawing/2014/main" id="{8CC63BC5-33D2-4DA8-ADD6-EF9E4D905906}"/>
              </a:ext>
            </a:extLst>
          </p:cNvPr>
          <p:cNvPicPr>
            <a:picLocks noChangeAspect="1"/>
          </p:cNvPicPr>
          <p:nvPr/>
        </p:nvPicPr>
        <p:blipFill>
          <a:blip r:embed="rId3"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37087378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06807C6-743F-4A10-8751-9395B33C5CC0}"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OLD QUESTION PAPERS</a:t>
            </a:r>
          </a:p>
        </p:txBody>
      </p:sp>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1" name="Picture 2"/>
          <p:cNvPicPr>
            <a:picLocks noChangeAspect="1" noChangeArrowheads="1"/>
          </p:cNvPicPr>
          <p:nvPr/>
        </p:nvPicPr>
        <p:blipFill>
          <a:blip r:embed="rId2"/>
          <a:srcRect/>
          <a:stretch>
            <a:fillRect/>
          </a:stretch>
        </p:blipFill>
        <p:spPr bwMode="auto">
          <a:xfrm>
            <a:off x="685800" y="838200"/>
            <a:ext cx="8458200" cy="5334005"/>
          </a:xfrm>
          <a:prstGeom prst="rect">
            <a:avLst/>
          </a:prstGeom>
          <a:noFill/>
          <a:ln w="9525">
            <a:noFill/>
            <a:miter lim="800000"/>
            <a:headEnd/>
            <a:tailEnd/>
          </a:ln>
          <a:effectLst/>
        </p:spPr>
      </p:pic>
      <p:pic>
        <p:nvPicPr>
          <p:cNvPr id="10" name="Picture 9">
            <a:extLst>
              <a:ext uri="{FF2B5EF4-FFF2-40B4-BE49-F238E27FC236}">
                <a16:creationId xmlns:a16="http://schemas.microsoft.com/office/drawing/2014/main" id="{8CC63BC5-33D2-4DA8-ADD6-EF9E4D905906}"/>
              </a:ext>
            </a:extLst>
          </p:cNvPr>
          <p:cNvPicPr>
            <a:picLocks noChangeAspect="1"/>
          </p:cNvPicPr>
          <p:nvPr/>
        </p:nvPicPr>
        <p:blipFill>
          <a:blip r:embed="rId3"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4157353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3A86309-B63F-435B-9C95-D8F85F6D170D}"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OLD QUESTION PAPERS</a:t>
            </a:r>
          </a:p>
        </p:txBody>
      </p:sp>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2"/>
          <p:cNvPicPr>
            <a:picLocks noChangeAspect="1" noChangeArrowheads="1"/>
          </p:cNvPicPr>
          <p:nvPr/>
        </p:nvPicPr>
        <p:blipFill>
          <a:blip r:embed="rId2"/>
          <a:srcRect/>
          <a:stretch>
            <a:fillRect/>
          </a:stretch>
        </p:blipFill>
        <p:spPr bwMode="auto">
          <a:xfrm>
            <a:off x="803121" y="838200"/>
            <a:ext cx="7502679" cy="5181600"/>
          </a:xfrm>
          <a:prstGeom prst="rect">
            <a:avLst/>
          </a:prstGeom>
          <a:noFill/>
          <a:ln w="9525">
            <a:noFill/>
            <a:miter lim="800000"/>
            <a:headEnd/>
            <a:tailEnd/>
          </a:ln>
          <a:effectLst/>
        </p:spPr>
      </p:pic>
      <p:pic>
        <p:nvPicPr>
          <p:cNvPr id="11" name="Picture 10">
            <a:extLst>
              <a:ext uri="{FF2B5EF4-FFF2-40B4-BE49-F238E27FC236}">
                <a16:creationId xmlns:a16="http://schemas.microsoft.com/office/drawing/2014/main" id="{8CC63BC5-33D2-4DA8-ADD6-EF9E4D905906}"/>
              </a:ext>
            </a:extLst>
          </p:cNvPr>
          <p:cNvPicPr>
            <a:picLocks noChangeAspect="1"/>
          </p:cNvPicPr>
          <p:nvPr/>
        </p:nvPicPr>
        <p:blipFill>
          <a:blip r:embed="rId3"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19338183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A63BAA5-F0EB-4158-91B7-35DB0CD2E323}"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OLD QUESTION PAPERS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2" name="Picture 2"/>
          <p:cNvPicPr>
            <a:picLocks noChangeAspect="1" noChangeArrowheads="1"/>
          </p:cNvPicPr>
          <p:nvPr/>
        </p:nvPicPr>
        <p:blipFill>
          <a:blip r:embed="rId3"/>
          <a:srcRect/>
          <a:stretch>
            <a:fillRect/>
          </a:stretch>
        </p:blipFill>
        <p:spPr bwMode="auto">
          <a:xfrm>
            <a:off x="381001" y="914400"/>
            <a:ext cx="8763000" cy="5257800"/>
          </a:xfrm>
          <a:prstGeom prst="rect">
            <a:avLst/>
          </a:prstGeom>
          <a:noFill/>
          <a:ln w="9525">
            <a:noFill/>
            <a:miter lim="800000"/>
            <a:headEnd/>
            <a:tailEnd/>
          </a:ln>
          <a:effectLst/>
        </p:spPr>
      </p:pic>
      <p:pic>
        <p:nvPicPr>
          <p:cNvPr id="10" name="Picture 9">
            <a:extLst>
              <a:ext uri="{FF2B5EF4-FFF2-40B4-BE49-F238E27FC236}">
                <a16:creationId xmlns:a16="http://schemas.microsoft.com/office/drawing/2014/main" id="{8CC63BC5-33D2-4DA8-ADD6-EF9E4D905906}"/>
              </a:ext>
            </a:extLst>
          </p:cNvPr>
          <p:cNvPicPr>
            <a:picLocks noChangeAspect="1"/>
          </p:cNvPicPr>
          <p:nvPr/>
        </p:nvPicPr>
        <p:blipFill>
          <a:blip r:embed="rId4"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398689191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457200" indent="-457200">
              <a:lnSpc>
                <a:spcPct val="120000"/>
              </a:lnSpc>
              <a:buFont typeface="+mj-lt"/>
              <a:buAutoNum type="arabicPeriod"/>
            </a:pPr>
            <a:r>
              <a:rPr lang="en-US" sz="2200" dirty="0"/>
              <a:t> Explain the reliability and factors affecting it.</a:t>
            </a:r>
          </a:p>
          <a:p>
            <a:pPr marL="457200" indent="-457200">
              <a:lnSpc>
                <a:spcPct val="120000"/>
              </a:lnSpc>
              <a:buFont typeface="+mj-lt"/>
              <a:buAutoNum type="arabicPeriod"/>
            </a:pPr>
            <a:r>
              <a:rPr lang="en-US" sz="2200" dirty="0"/>
              <a:t>Explain the procedure of calculation of reliability.</a:t>
            </a:r>
          </a:p>
          <a:p>
            <a:pPr marL="457200" indent="-457200">
              <a:lnSpc>
                <a:spcPct val="120000"/>
              </a:lnSpc>
              <a:buFont typeface="+mj-lt"/>
              <a:buAutoNum type="arabicPeriod"/>
            </a:pPr>
            <a:r>
              <a:rPr lang="en-US" sz="2200" dirty="0"/>
              <a:t>Explain quality circle in details.</a:t>
            </a:r>
          </a:p>
          <a:p>
            <a:pPr marL="457200" indent="-457200">
              <a:lnSpc>
                <a:spcPct val="120000"/>
              </a:lnSpc>
              <a:buFont typeface="+mj-lt"/>
              <a:buAutoNum type="arabicPeriod"/>
            </a:pPr>
            <a:r>
              <a:rPr lang="en-US" sz="2200" dirty="0"/>
              <a:t>What do you understand by quality function?</a:t>
            </a:r>
          </a:p>
          <a:p>
            <a:pPr marL="457200" indent="-457200">
              <a:lnSpc>
                <a:spcPct val="120000"/>
              </a:lnSpc>
              <a:buFont typeface="+mj-lt"/>
              <a:buAutoNum type="arabicPeriod"/>
            </a:pPr>
            <a:r>
              <a:rPr lang="en-US" sz="2200" dirty="0"/>
              <a:t>Explain PDCE cycle with example.</a:t>
            </a:r>
          </a:p>
          <a:p>
            <a:pPr marL="457200" indent="-457200">
              <a:lnSpc>
                <a:spcPct val="120000"/>
              </a:lnSpc>
              <a:buFont typeface="+mj-lt"/>
              <a:buAutoNum type="arabicPeriod"/>
            </a:pPr>
            <a:r>
              <a:rPr lang="en-US" sz="2200" dirty="0"/>
              <a:t>What is zero defect</a:t>
            </a:r>
          </a:p>
          <a:p>
            <a:pPr marL="457200" indent="-457200">
              <a:lnSpc>
                <a:spcPct val="120000"/>
              </a:lnSpc>
              <a:buFont typeface="+mj-lt"/>
              <a:buAutoNum type="arabicPeriod"/>
            </a:pPr>
            <a:r>
              <a:rPr lang="en-US" sz="2200" dirty="0"/>
              <a:t>What is MTTF</a:t>
            </a:r>
          </a:p>
          <a:p>
            <a:pPr marL="457200" indent="-457200">
              <a:lnSpc>
                <a:spcPct val="120000"/>
              </a:lnSpc>
              <a:buFont typeface="+mj-lt"/>
              <a:buAutoNum type="arabicPeriod"/>
            </a:pPr>
            <a:r>
              <a:rPr lang="en-US" sz="2200" dirty="0"/>
              <a:t>What are the phases of a Continuous Process Improvement Cycle?</a:t>
            </a:r>
          </a:p>
          <a:p>
            <a:pPr marL="457200" indent="-457200">
              <a:lnSpc>
                <a:spcPct val="120000"/>
              </a:lnSpc>
              <a:buFont typeface="+mj-lt"/>
              <a:buAutoNum type="arabicPeriod"/>
            </a:pPr>
            <a:r>
              <a:rPr lang="en-US" sz="2200" dirty="0"/>
              <a:t>Define 5S?</a:t>
            </a:r>
          </a:p>
          <a:p>
            <a:pPr marL="457200" indent="-457200">
              <a:lnSpc>
                <a:spcPct val="120000"/>
              </a:lnSpc>
              <a:buFont typeface="+mj-lt"/>
              <a:buAutoNum type="arabicPeriod"/>
            </a:pPr>
            <a:r>
              <a:rPr lang="en-US" sz="2200" dirty="0"/>
              <a:t>What is a Kaizen?</a:t>
            </a: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2E21B41-9044-494E-8695-17D80508AB6E}"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EXPECTED QUESTIONS FOR UNIVERSITY EXAM </a:t>
            </a:r>
          </a:p>
        </p:txBody>
      </p:sp>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CC63BC5-33D2-4DA8-ADD6-EF9E4D905906}"/>
              </a:ext>
            </a:extLst>
          </p:cNvPr>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6486184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457200" indent="-457200">
              <a:lnSpc>
                <a:spcPct val="150000"/>
              </a:lnSpc>
              <a:buNone/>
            </a:pPr>
            <a:r>
              <a:rPr lang="en-US" sz="2200" dirty="0"/>
              <a:t>7. What are the types of teams?</a:t>
            </a:r>
          </a:p>
          <a:p>
            <a:pPr marL="457200" indent="-457200">
              <a:lnSpc>
                <a:spcPct val="150000"/>
              </a:lnSpc>
              <a:buNone/>
            </a:pPr>
            <a:r>
              <a:rPr lang="en-US" sz="2200" dirty="0"/>
              <a:t>8. What are the stages of team development?</a:t>
            </a:r>
          </a:p>
          <a:p>
            <a:pPr>
              <a:lnSpc>
                <a:spcPct val="150000"/>
              </a:lnSpc>
              <a:buNone/>
            </a:pPr>
            <a:r>
              <a:rPr lang="en-US" sz="2200" dirty="0"/>
              <a:t>9. Give some common team problems?</a:t>
            </a:r>
          </a:p>
          <a:p>
            <a:pPr>
              <a:lnSpc>
                <a:spcPct val="150000"/>
              </a:lnSpc>
              <a:buNone/>
            </a:pPr>
            <a:r>
              <a:rPr lang="en-US" sz="2200" dirty="0"/>
              <a:t>10. Give the steps involved in training process?</a:t>
            </a:r>
          </a:p>
          <a:p>
            <a:pPr>
              <a:lnSpc>
                <a:spcPct val="150000"/>
              </a:lnSpc>
              <a:buNone/>
            </a:pPr>
            <a:r>
              <a:rPr lang="en-US" sz="2200" dirty="0"/>
              <a:t>11. What are the three components of the </a:t>
            </a:r>
            <a:r>
              <a:rPr lang="en-US" sz="2200" dirty="0" err="1"/>
              <a:t>Juran</a:t>
            </a:r>
            <a:r>
              <a:rPr lang="en-US" sz="2200" dirty="0"/>
              <a:t> Trilogy?</a:t>
            </a:r>
          </a:p>
          <a:p>
            <a:pPr>
              <a:lnSpc>
                <a:spcPct val="150000"/>
              </a:lnSpc>
              <a:buNone/>
            </a:pPr>
            <a:r>
              <a:rPr lang="en-US" sz="2200" dirty="0"/>
              <a:t>12. What are the phases of a Continuous Process Improvement Cycle?</a:t>
            </a: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A4000A0-629B-4D34-91C0-DC7900246CFF}"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EXPECTED QUESTIONS FOR UNIVERSITY EXAM </a:t>
            </a:r>
          </a:p>
        </p:txBody>
      </p:sp>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CC63BC5-33D2-4DA8-ADD6-EF9E4D905906}"/>
              </a:ext>
            </a:extLst>
          </p:cNvPr>
          <p:cNvPicPr>
            <a:picLocks noChangeAspect="1"/>
          </p:cNvPicPr>
          <p:nvPr/>
        </p:nvPicPr>
        <p:blipFill>
          <a:blip r:embed="rId2"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9344900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fontAlgn="t">
              <a:lnSpc>
                <a:spcPct val="150000"/>
              </a:lnSpc>
            </a:pPr>
            <a:r>
              <a:rPr lang="en-US" sz="2200" dirty="0"/>
              <a:t>The MTTF formula is a key part of the overall reliability equation. When failure of an individual component (such as a fan belt) will lead to failure of a motor that will shut down an entire system or production line, being able to predict when that component is likely to fail, and replacing it before the failure occurs, is essential to reduce costly repairs, minimize downtime and maximize equipment lifespan.</a:t>
            </a:r>
          </a:p>
        </p:txBody>
      </p:sp>
      <p:sp>
        <p:nvSpPr>
          <p:cNvPr id="4" name="Date Placeholder 3"/>
          <p:cNvSpPr>
            <a:spLocks noGrp="1"/>
          </p:cNvSpPr>
          <p:nvPr>
            <p:ph type="dt" sz="half" idx="10"/>
          </p:nvPr>
        </p:nvSpPr>
        <p:spPr/>
        <p:txBody>
          <a:bodyPr/>
          <a:lstStyle/>
          <a:p>
            <a:fld id="{3CE10651-9F61-4984-A99C-19D3702912F7}"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Recap of Unit</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CC63BC5-33D2-4DA8-ADD6-EF9E4D905906}"/>
              </a:ext>
            </a:extLst>
          </p:cNvPr>
          <p:cNvPicPr>
            <a:picLocks noChangeAspect="1"/>
          </p:cNvPicPr>
          <p:nvPr/>
        </p:nvPicPr>
        <p:blipFill>
          <a:blip r:embed="rId3"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17009601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fontAlgn="t"/>
            <a:r>
              <a:rPr lang="en-US" sz="2200" dirty="0"/>
              <a:t>Knowing and understanding MTTF can help organizations reduce downtime and develop better maintenance strategies, driven by reduced dependence on reactive maintenance and increased predictive or planned maintenance.</a:t>
            </a:r>
          </a:p>
          <a:p>
            <a:pPr marL="354965" marR="6350" algn="just">
              <a:spcBef>
                <a:spcPts val="105"/>
              </a:spcBef>
              <a:buFont typeface="Arial"/>
              <a:buChar char="•"/>
              <a:tabLst>
                <a:tab pos="355600" algn="l"/>
              </a:tabLst>
            </a:pPr>
            <a:endParaRPr lang="en-US" sz="2200" dirty="0">
              <a:cs typeface="Georgia"/>
            </a:endParaRPr>
          </a:p>
        </p:txBody>
      </p:sp>
      <p:sp>
        <p:nvSpPr>
          <p:cNvPr id="4" name="Date Placeholder 3"/>
          <p:cNvSpPr>
            <a:spLocks noGrp="1"/>
          </p:cNvSpPr>
          <p:nvPr>
            <p:ph type="dt" sz="half" idx="10"/>
          </p:nvPr>
        </p:nvSpPr>
        <p:spPr/>
        <p:txBody>
          <a:bodyPr/>
          <a:lstStyle/>
          <a:p>
            <a:fld id="{686C63F2-C5A1-4A01-B2DD-F0E40BAC058D}"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Recap of Unit</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a:extLst>
              <a:ext uri="{FF2B5EF4-FFF2-40B4-BE49-F238E27FC236}">
                <a16:creationId xmlns:a16="http://schemas.microsoft.com/office/drawing/2014/main" id="{8CC63BC5-33D2-4DA8-ADD6-EF9E4D905906}"/>
              </a:ext>
            </a:extLst>
          </p:cNvPr>
          <p:cNvPicPr>
            <a:picLocks noChangeAspect="1"/>
          </p:cNvPicPr>
          <p:nvPr/>
        </p:nvPicPr>
        <p:blipFill>
          <a:blip r:embed="rId3"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11056976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143000"/>
            <a:ext cx="8915400" cy="4800600"/>
          </a:xfrm>
        </p:spPr>
        <p:txBody>
          <a:bodyPr>
            <a:normAutofit fontScale="92500"/>
          </a:bodyPr>
          <a:lstStyle/>
          <a:p>
            <a:pPr>
              <a:lnSpc>
                <a:spcPct val="200000"/>
              </a:lnSpc>
            </a:pPr>
            <a:r>
              <a:rPr lang="en-IN" sz="2400" dirty="0">
                <a:latin typeface="Times New Roman" panose="02020603050405020304" pitchFamily="18" charset="0"/>
                <a:cs typeface="Times New Roman" panose="02020603050405020304" pitchFamily="18" charset="0"/>
              </a:rPr>
              <a:t> Lt. Gen. H. Lal, “Total </a:t>
            </a:r>
            <a:r>
              <a:rPr lang="en-IN" sz="2400" dirty="0" err="1">
                <a:latin typeface="Times New Roman" panose="02020603050405020304" pitchFamily="18" charset="0"/>
                <a:cs typeface="Times New Roman" panose="02020603050405020304" pitchFamily="18" charset="0"/>
              </a:rPr>
              <a:t>Total</a:t>
            </a:r>
            <a:r>
              <a:rPr lang="en-IN" sz="2400" dirty="0">
                <a:latin typeface="Times New Roman" panose="02020603050405020304" pitchFamily="18" charset="0"/>
                <a:cs typeface="Times New Roman" panose="02020603050405020304" pitchFamily="18" charset="0"/>
              </a:rPr>
              <a:t> Quality Management”, Eastern Limited, .</a:t>
            </a:r>
          </a:p>
          <a:p>
            <a:pPr>
              <a:lnSpc>
                <a:spcPct val="200000"/>
              </a:lnSpc>
            </a:pPr>
            <a:r>
              <a:rPr lang="en-IN" sz="2400" dirty="0">
                <a:latin typeface="Times New Roman" panose="02020603050405020304" pitchFamily="18" charset="0"/>
                <a:cs typeface="Times New Roman" panose="02020603050405020304" pitchFamily="18" charset="0"/>
              </a:rPr>
              <a:t> Greg Bounds, “Beyond Total </a:t>
            </a:r>
            <a:r>
              <a:rPr lang="en-IN" sz="2400" dirty="0" err="1">
                <a:latin typeface="Times New Roman" panose="02020603050405020304" pitchFamily="18" charset="0"/>
                <a:cs typeface="Times New Roman" panose="02020603050405020304" pitchFamily="18" charset="0"/>
              </a:rPr>
              <a:t>Total</a:t>
            </a:r>
            <a:r>
              <a:rPr lang="en-IN" sz="2400" dirty="0">
                <a:latin typeface="Times New Roman" panose="02020603050405020304" pitchFamily="18" charset="0"/>
                <a:cs typeface="Times New Roman" panose="02020603050405020304" pitchFamily="18" charset="0"/>
              </a:rPr>
              <a:t> Quality Management”, McGraw Hill</a:t>
            </a:r>
          </a:p>
          <a:p>
            <a:pPr>
              <a:lnSpc>
                <a:spcPct val="200000"/>
              </a:lnSpc>
            </a:pPr>
            <a:r>
              <a:rPr lang="en-IN" sz="2400" dirty="0">
                <a:latin typeface="Times New Roman" panose="02020603050405020304" pitchFamily="18" charset="0"/>
                <a:cs typeface="Times New Roman" panose="02020603050405020304" pitchFamily="18" charset="0"/>
              </a:rPr>
              <a:t> Menon, H.G, “TQM in New Product manufacturing”, </a:t>
            </a:r>
            <a:r>
              <a:rPr lang="en-IN" sz="2400" dirty="0" err="1">
                <a:latin typeface="Times New Roman" panose="02020603050405020304" pitchFamily="18" charset="0"/>
                <a:cs typeface="Times New Roman" panose="02020603050405020304" pitchFamily="18" charset="0"/>
              </a:rPr>
              <a:t>McGrawHill</a:t>
            </a:r>
            <a:endParaRPr lang="en-IN" sz="2400" dirty="0">
              <a:latin typeface="Times New Roman" panose="02020603050405020304" pitchFamily="18" charset="0"/>
              <a:cs typeface="Times New Roman" panose="02020603050405020304" pitchFamily="18" charset="0"/>
            </a:endParaRPr>
          </a:p>
          <a:p>
            <a:pPr>
              <a:lnSpc>
                <a:spcPct val="200000"/>
              </a:lnSpc>
            </a:pPr>
            <a:r>
              <a:rPr lang="en-US" sz="2400" dirty="0">
                <a:latin typeface="Times New Roman" panose="02020603050405020304" pitchFamily="18" charset="0"/>
                <a:cs typeface="Times New Roman" panose="02020603050405020304" pitchFamily="18" charset="0"/>
                <a:hlinkClick r:id="rId2"/>
              </a:rPr>
              <a:t>https://www.researchgate.net/publication/318654507_Total_Quality_Management_Notes</a:t>
            </a:r>
            <a:endParaRPr lang="en-US" sz="2400" dirty="0">
              <a:latin typeface="Times New Roman" panose="02020603050405020304" pitchFamily="18" charset="0"/>
              <a:cs typeface="Times New Roman" panose="02020603050405020304" pitchFamily="18" charset="0"/>
            </a:endParaRPr>
          </a:p>
          <a:p>
            <a:pPr>
              <a:lnSpc>
                <a:spcPct val="200000"/>
              </a:lnSpc>
            </a:pPr>
            <a:endParaRPr lang="en-US" sz="2200" i="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88064AE-3942-4502-B90D-793553DD8D1B}"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REFERENCES</a:t>
            </a:r>
          </a:p>
        </p:txBody>
      </p:sp>
      <p:sp>
        <p:nvSpPr>
          <p:cNvPr id="9"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0" name="Picture 9"/>
          <p:cNvPicPr>
            <a:picLocks noChangeAspect="1"/>
          </p:cNvPicPr>
          <p:nvPr/>
        </p:nvPicPr>
        <p:blipFill>
          <a:blip r:embed="rId3"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7664930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32B0665-30F1-4A76-803E-62A1F6154AA1}" type="datetime1">
              <a:rPr lang="en-US" smtClean="0"/>
              <a:t>3/11/2024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713664" y="2133600"/>
            <a:ext cx="7762125" cy="2215991"/>
          </a:xfrm>
          <a:prstGeom prst="rect">
            <a:avLst/>
          </a:prstGeom>
          <a:noFill/>
        </p:spPr>
        <p:txBody>
          <a:bodyPr wrap="none" lIns="91440" tIns="45720" rIns="91440" bIns="45720">
            <a:spAutoFit/>
          </a:bodyPr>
          <a:lstStyle/>
          <a:p>
            <a:pPr algn="ctr">
              <a:buNone/>
            </a:pPr>
            <a:r>
              <a:rPr lang="en-US" sz="13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0" name="Footer Placeholder 12"/>
          <p:cNvSpPr>
            <a:spLocks noGrp="1"/>
          </p:cNvSpPr>
          <p:nvPr>
            <p:ph type="ftr" sz="quarter" idx="11"/>
          </p:nvPr>
        </p:nvSpPr>
        <p:spPr>
          <a:xfrm>
            <a:off x="2286000" y="6248415"/>
            <a:ext cx="5029200" cy="365125"/>
          </a:xfrm>
        </p:spPr>
        <p:txBody>
          <a:bodyPr/>
          <a:lstStyle/>
          <a:p>
            <a:r>
              <a:rPr lang="en-US" sz="2000"/>
              <a:t>Dheeraj     TQM           Unit4</a:t>
            </a:r>
            <a:endParaRPr lang="en-US" sz="2000" dirty="0"/>
          </a:p>
        </p:txBody>
      </p:sp>
      <p:pic>
        <p:nvPicPr>
          <p:cNvPr id="11" name="Picture 10">
            <a:extLst>
              <a:ext uri="{FF2B5EF4-FFF2-40B4-BE49-F238E27FC236}">
                <a16:creationId xmlns:a16="http://schemas.microsoft.com/office/drawing/2014/main" id="{8CC63BC5-33D2-4DA8-ADD6-EF9E4D905906}"/>
              </a:ext>
            </a:extLst>
          </p:cNvPr>
          <p:cNvPicPr>
            <a:picLocks noChangeAspect="1"/>
          </p:cNvPicPr>
          <p:nvPr/>
        </p:nvPicPr>
        <p:blipFill>
          <a:blip r:embed="rId3" cstate="print"/>
          <a:stretch>
            <a:fillRect/>
          </a:stretch>
        </p:blipFill>
        <p:spPr>
          <a:xfrm>
            <a:off x="0" y="-1"/>
            <a:ext cx="1371600" cy="879475"/>
          </a:xfrm>
          <a:prstGeom prst="rect">
            <a:avLst/>
          </a:prstGeom>
        </p:spPr>
      </p:pic>
    </p:spTree>
    <p:extLst>
      <p:ext uri="{BB962C8B-B14F-4D97-AF65-F5344CB8AC3E}">
        <p14:creationId xmlns:p14="http://schemas.microsoft.com/office/powerpoint/2010/main" val="12124393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2682</TotalTime>
  <Words>5293</Words>
  <Application>Microsoft Office PowerPoint</Application>
  <PresentationFormat>On-screen Show (4:3)</PresentationFormat>
  <Paragraphs>904</Paragraphs>
  <Slides>75</Slides>
  <Notes>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75</vt:i4>
      </vt:variant>
    </vt:vector>
  </HeadingPairs>
  <TitlesOfParts>
    <vt:vector size="86" baseType="lpstr">
      <vt:lpstr>Arial</vt:lpstr>
      <vt:lpstr>Arial Black</vt:lpstr>
      <vt:lpstr>Calibri</vt:lpstr>
      <vt:lpstr>Century</vt:lpstr>
      <vt:lpstr>Georgia</vt:lpstr>
      <vt:lpstr>Kristen ITC</vt:lpstr>
      <vt:lpstr>Roboto</vt:lpstr>
      <vt:lpstr>Times</vt:lpstr>
      <vt:lpstr>Times New Roman</vt:lpstr>
      <vt:lpstr>Wingdings</vt:lpstr>
      <vt:lpstr>Office Theme</vt:lpstr>
      <vt:lpstr>Noida Institute of Engineering and Technology, Greater Noida</vt:lpstr>
      <vt:lpstr>NOIDA INSTITUTE OF ENGINEERING AND TECHNOLOGY, GREATER NOIDA</vt:lpstr>
      <vt:lpstr>Subject Syllabus</vt:lpstr>
      <vt:lpstr>PowerPoint Presentation</vt:lpstr>
      <vt:lpstr>PowerPoint Presentation</vt:lpstr>
      <vt:lpstr>PowerPoint Presentation</vt:lpstr>
      <vt:lpstr>PowerPoint Presentation</vt:lpstr>
      <vt:lpstr>PowerPoint Presentation</vt:lpstr>
      <vt:lpstr>Program Specific Outcomes</vt:lpstr>
      <vt:lpstr>CO-PSO Mapping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most important word in  Statistical Quality control is Quality The quality of a product is satisfactory when it is able to satisfy the stated and implied needs of the customer.</vt:lpstr>
      <vt:lpstr>PowerPoint Presentation</vt:lpstr>
      <vt:lpstr>Quality control is a name given to the collection of techniques and devices used to manage, monitor and control all the steps in the production of a product of desired quality.  It is a powerful statistical technique for effective diagnosis of lack of quality (or lack of conformity to settled standards) in any of the materials, processes, machines or end products.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ndc</dc:creator>
  <cp:lastModifiedBy>Dheeraj Tripathi</cp:lastModifiedBy>
  <cp:revision>159</cp:revision>
  <dcterms:created xsi:type="dcterms:W3CDTF">2020-05-17T00:08:26Z</dcterms:created>
  <dcterms:modified xsi:type="dcterms:W3CDTF">2024-03-11T03:46:13Z</dcterms:modified>
</cp:coreProperties>
</file>