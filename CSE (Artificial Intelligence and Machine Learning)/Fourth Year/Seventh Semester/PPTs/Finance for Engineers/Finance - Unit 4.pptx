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256" r:id="rId2"/>
    <p:sldId id="400" r:id="rId3"/>
    <p:sldId id="401" r:id="rId4"/>
    <p:sldId id="402" r:id="rId5"/>
    <p:sldId id="406" r:id="rId6"/>
    <p:sldId id="407" r:id="rId7"/>
    <p:sldId id="408" r:id="rId8"/>
    <p:sldId id="409" r:id="rId9"/>
    <p:sldId id="395" r:id="rId10"/>
    <p:sldId id="396" r:id="rId11"/>
    <p:sldId id="399" r:id="rId12"/>
    <p:sldId id="368" r:id="rId13"/>
    <p:sldId id="257" r:id="rId14"/>
    <p:sldId id="285" r:id="rId15"/>
    <p:sldId id="286" r:id="rId16"/>
    <p:sldId id="287" r:id="rId17"/>
    <p:sldId id="288" r:id="rId18"/>
    <p:sldId id="291" r:id="rId19"/>
    <p:sldId id="294" r:id="rId20"/>
    <p:sldId id="293" r:id="rId21"/>
    <p:sldId id="369" r:id="rId22"/>
    <p:sldId id="371" r:id="rId23"/>
    <p:sldId id="292" r:id="rId24"/>
    <p:sldId id="311" r:id="rId25"/>
    <p:sldId id="312" r:id="rId26"/>
    <p:sldId id="301" r:id="rId27"/>
    <p:sldId id="300" r:id="rId28"/>
    <p:sldId id="299" r:id="rId29"/>
    <p:sldId id="297" r:id="rId30"/>
    <p:sldId id="298" r:id="rId31"/>
    <p:sldId id="296" r:id="rId32"/>
    <p:sldId id="410" r:id="rId33"/>
    <p:sldId id="411" r:id="rId34"/>
    <p:sldId id="412" r:id="rId35"/>
    <p:sldId id="413" r:id="rId36"/>
    <p:sldId id="414" r:id="rId37"/>
    <p:sldId id="415"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2" r:id="rId53"/>
    <p:sldId id="433" r:id="rId54"/>
    <p:sldId id="434" r:id="rId55"/>
    <p:sldId id="435" r:id="rId56"/>
    <p:sldId id="436" r:id="rId57"/>
    <p:sldId id="437" r:id="rId58"/>
    <p:sldId id="438" r:id="rId59"/>
    <p:sldId id="439" r:id="rId60"/>
    <p:sldId id="440" r:id="rId61"/>
    <p:sldId id="441" r:id="rId62"/>
    <p:sldId id="442" r:id="rId63"/>
    <p:sldId id="431" r:id="rId64"/>
    <p:sldId id="275" r:id="rId65"/>
    <p:sldId id="270" r:id="rId66"/>
    <p:sldId id="316" r:id="rId67"/>
    <p:sldId id="273" r:id="rId68"/>
    <p:sldId id="264" r:id="rId69"/>
    <p:sldId id="317" r:id="rId70"/>
    <p:sldId id="318" r:id="rId71"/>
    <p:sldId id="364" r:id="rId72"/>
    <p:sldId id="398" r:id="rId73"/>
    <p:sldId id="381" r:id="rId74"/>
    <p:sldId id="382" r:id="rId75"/>
    <p:sldId id="383" r:id="rId76"/>
    <p:sldId id="384" r:id="rId77"/>
    <p:sldId id="385" r:id="rId78"/>
    <p:sldId id="403" r:id="rId79"/>
    <p:sldId id="404" r:id="rId80"/>
    <p:sldId id="405" r:id="rId81"/>
    <p:sldId id="267" r:id="rId82"/>
    <p:sldId id="319" r:id="rId83"/>
    <p:sldId id="320" r:id="rId84"/>
    <p:sldId id="283" r:id="rId85"/>
    <p:sldId id="32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82"/>
      </p:cViewPr>
      <p:guideLst>
        <p:guide orient="horz" pos="2160"/>
        <p:guide pos="3840"/>
      </p:guideLst>
    </p:cSldViewPr>
  </p:slideViewPr>
  <p:notesTextViewPr>
    <p:cViewPr>
      <p:scale>
        <a:sx n="100" d="100"/>
        <a:sy n="100" d="100"/>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23611142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72814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348066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373672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3232713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349430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a:p>
        </p:txBody>
      </p:sp>
    </p:spTree>
    <p:extLst>
      <p:ext uri="{BB962C8B-B14F-4D97-AF65-F5344CB8AC3E}">
        <p14:creationId xmlns:p14="http://schemas.microsoft.com/office/powerpoint/2010/main" val="1214129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33</a:t>
            </a:fld>
            <a:endParaRPr lang="en-US"/>
          </a:p>
        </p:txBody>
      </p:sp>
    </p:spTree>
    <p:extLst>
      <p:ext uri="{BB962C8B-B14F-4D97-AF65-F5344CB8AC3E}">
        <p14:creationId xmlns:p14="http://schemas.microsoft.com/office/powerpoint/2010/main" val="1682603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34</a:t>
            </a:fld>
            <a:endParaRPr lang="en-US"/>
          </a:p>
        </p:txBody>
      </p:sp>
    </p:spTree>
    <p:extLst>
      <p:ext uri="{BB962C8B-B14F-4D97-AF65-F5344CB8AC3E}">
        <p14:creationId xmlns:p14="http://schemas.microsoft.com/office/powerpoint/2010/main" val="1131724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1833985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3269470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210306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40</a:t>
            </a:fld>
            <a:endParaRPr lang="en-US"/>
          </a:p>
        </p:txBody>
      </p:sp>
    </p:spTree>
    <p:extLst>
      <p:ext uri="{BB962C8B-B14F-4D97-AF65-F5344CB8AC3E}">
        <p14:creationId xmlns:p14="http://schemas.microsoft.com/office/powerpoint/2010/main" val="1079322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1386041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a:p>
        </p:txBody>
      </p:sp>
    </p:spTree>
    <p:extLst>
      <p:ext uri="{BB962C8B-B14F-4D97-AF65-F5344CB8AC3E}">
        <p14:creationId xmlns:p14="http://schemas.microsoft.com/office/powerpoint/2010/main" val="3860079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a:p>
        </p:txBody>
      </p:sp>
    </p:spTree>
    <p:extLst>
      <p:ext uri="{BB962C8B-B14F-4D97-AF65-F5344CB8AC3E}">
        <p14:creationId xmlns:p14="http://schemas.microsoft.com/office/powerpoint/2010/main" val="4227360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797462F-1A32-4EDD-A664-D5808761D5C1}" type="datetime1">
              <a:rPr lang="en-US" smtClean="0"/>
              <a:t>8/20/2025</a:t>
            </a:fld>
            <a:endParaRPr lang="en-US"/>
          </a:p>
        </p:txBody>
      </p:sp>
      <p:sp>
        <p:nvSpPr>
          <p:cNvPr id="5" name="Footer Placeholder 4"/>
          <p:cNvSpPr>
            <a:spLocks noGrp="1"/>
          </p:cNvSpPr>
          <p:nvPr>
            <p:ph type="ftr" sz="quarter" idx="11"/>
          </p:nvPr>
        </p:nvSpPr>
        <p:spPr/>
        <p:txBody>
          <a:bodyPr/>
          <a:lstStyle/>
          <a:p>
            <a:r>
              <a:rPr lang="en-US"/>
              <a:t>Amit Kumar        Subject code: AOE0770       Finance for Engineers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257440D6-69C7-55B9-528D-F9CEC23C57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601867" cy="685800"/>
          </a:xfrm>
          <a:prstGeom prst="rect">
            <a:avLst/>
          </a:prstGeom>
        </p:spPr>
      </p:pic>
      <p:cxnSp>
        <p:nvCxnSpPr>
          <p:cNvPr id="9" name="Straight Connector 8">
            <a:extLst>
              <a:ext uri="{FF2B5EF4-FFF2-40B4-BE49-F238E27FC236}">
                <a16:creationId xmlns:a16="http://schemas.microsoft.com/office/drawing/2014/main" id="{AFBB5E68-1BCA-3E1D-7DB0-BDE61FBFAEAD}"/>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mn-lt"/>
              </a:defRPr>
            </a:lvl1pPr>
          </a:lstStyle>
          <a:p>
            <a:fld id="{9B40BB6D-EAC0-476B-B1F9-750F7464B90D}" type="datetime1">
              <a:rPr lang="en-US" smtClean="0"/>
              <a:t>8/20/2025</a:t>
            </a:fld>
            <a:endParaRPr lang="en-US"/>
          </a:p>
        </p:txBody>
      </p:sp>
      <p:sp>
        <p:nvSpPr>
          <p:cNvPr id="5" name="Footer Placeholder 4"/>
          <p:cNvSpPr>
            <a:spLocks noGrp="1"/>
          </p:cNvSpPr>
          <p:nvPr>
            <p:ph type="ftr" sz="quarter" idx="11"/>
          </p:nvPr>
        </p:nvSpPr>
        <p:spPr>
          <a:xfrm>
            <a:off x="2590800" y="6356351"/>
            <a:ext cx="7086600" cy="365125"/>
          </a:xfrm>
        </p:spPr>
        <p:txBody>
          <a:bodyPr/>
          <a:lstStyle>
            <a:lvl1pPr>
              <a:defRPr>
                <a:latin typeface="+mn-lt"/>
              </a:defRPr>
            </a:lvl1pPr>
          </a:lstStyle>
          <a:p>
            <a:r>
              <a:rPr lang="en-US"/>
              <a:t>Amit Kumar        Subject code: AOE0770       Finance for Engineers                 Unit 4</a:t>
            </a:r>
          </a:p>
        </p:txBody>
      </p:sp>
      <p:sp>
        <p:nvSpPr>
          <p:cNvPr id="6" name="Slide Number Placeholder 5"/>
          <p:cNvSpPr>
            <a:spLocks noGrp="1"/>
          </p:cNvSpPr>
          <p:nvPr>
            <p:ph type="sldNum" sz="quarter" idx="12"/>
          </p:nvPr>
        </p:nvSpPr>
        <p:spPr/>
        <p:txBody>
          <a:bodyPr/>
          <a:lstStyle>
            <a:lvl1pPr>
              <a:defRPr>
                <a:latin typeface="+mn-lt"/>
              </a:defRPr>
            </a:lvl1p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0593E34E-BCB2-7891-422D-4AD87C924C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8" name="Straight Connector 7">
            <a:extLst>
              <a:ext uri="{FF2B5EF4-FFF2-40B4-BE49-F238E27FC236}">
                <a16:creationId xmlns:a16="http://schemas.microsoft.com/office/drawing/2014/main" id="{8E35CA2F-F209-9D94-B706-B7F6D674CE38}"/>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686AE9-49CD-4AF5-9AE5-E9789BEBB6A9}" type="datetime1">
              <a:rPr lang="en-US" smtClean="0"/>
              <a:t>8/20/2025</a:t>
            </a:fld>
            <a:endParaRPr lang="en-US"/>
          </a:p>
        </p:txBody>
      </p:sp>
      <p:sp>
        <p:nvSpPr>
          <p:cNvPr id="5" name="Footer Placeholder 4"/>
          <p:cNvSpPr>
            <a:spLocks noGrp="1"/>
          </p:cNvSpPr>
          <p:nvPr>
            <p:ph type="ftr" sz="quarter" idx="11"/>
          </p:nvPr>
        </p:nvSpPr>
        <p:spPr>
          <a:xfrm>
            <a:off x="2286000" y="6356351"/>
            <a:ext cx="7162800" cy="365125"/>
          </a:xfrm>
        </p:spPr>
        <p:txBody>
          <a:bodyPr/>
          <a:lstStyle/>
          <a:p>
            <a:r>
              <a:rPr lang="en-US"/>
              <a:t>Amit Kumar        Subject code: AOE0770       Finance for Engineers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0A8E818B-08CD-532E-41EF-32B261EAF3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7" name="Straight Connector 6">
            <a:extLst>
              <a:ext uri="{FF2B5EF4-FFF2-40B4-BE49-F238E27FC236}">
                <a16:creationId xmlns:a16="http://schemas.microsoft.com/office/drawing/2014/main" id="{2A9A472B-7739-3B8B-6216-D902698212C5}"/>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81B10A-9F38-43E9-AF4F-EAC53BA6C702}" type="datetime1">
              <a:rPr lang="en-US" smtClean="0"/>
              <a:t>8/20/2025</a:t>
            </a:fld>
            <a:endParaRPr lang="en-US"/>
          </a:p>
        </p:txBody>
      </p:sp>
      <p:sp>
        <p:nvSpPr>
          <p:cNvPr id="6" name="Footer Placeholder 5"/>
          <p:cNvSpPr>
            <a:spLocks noGrp="1"/>
          </p:cNvSpPr>
          <p:nvPr>
            <p:ph type="ftr" sz="quarter" idx="11"/>
          </p:nvPr>
        </p:nvSpPr>
        <p:spPr>
          <a:xfrm>
            <a:off x="2438400" y="6356351"/>
            <a:ext cx="7696200" cy="365125"/>
          </a:xfrm>
        </p:spPr>
        <p:txBody>
          <a:bodyPr/>
          <a:lstStyle/>
          <a:p>
            <a:r>
              <a:rPr lang="en-US"/>
              <a:t>Amit Kumar        Subject code: AOE0770       Finance for Engineers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B07D34C3-5EED-72BD-0E3B-83F341BEC58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9" name="Straight Connector 8">
            <a:extLst>
              <a:ext uri="{FF2B5EF4-FFF2-40B4-BE49-F238E27FC236}">
                <a16:creationId xmlns:a16="http://schemas.microsoft.com/office/drawing/2014/main" id="{00A902FE-496D-78F4-C4FF-5C032F57BE90}"/>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5FFCBF7-9572-4CC9-A7C2-AFB8F61551BF}" type="datetime1">
              <a:rPr lang="en-US" smtClean="0"/>
              <a:t>8/20/2025</a:t>
            </a:fld>
            <a:endParaRPr lang="en-US"/>
          </a:p>
        </p:txBody>
      </p:sp>
      <p:sp>
        <p:nvSpPr>
          <p:cNvPr id="8" name="Footer Placeholder 7"/>
          <p:cNvSpPr>
            <a:spLocks noGrp="1"/>
          </p:cNvSpPr>
          <p:nvPr>
            <p:ph type="ftr" sz="quarter" idx="11"/>
          </p:nvPr>
        </p:nvSpPr>
        <p:spPr>
          <a:xfrm>
            <a:off x="2743200" y="6356351"/>
            <a:ext cx="6934200" cy="365125"/>
          </a:xfrm>
        </p:spPr>
        <p:txBody>
          <a:bodyPr/>
          <a:lstStyle/>
          <a:p>
            <a:r>
              <a:rPr lang="en-US"/>
              <a:t>Amit Kumar        Subject code: AOE0770       Finance for Engineers                 Unit 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close-up of a logo&#10;&#10;Description automatically generated">
            <a:extLst>
              <a:ext uri="{FF2B5EF4-FFF2-40B4-BE49-F238E27FC236}">
                <a16:creationId xmlns:a16="http://schemas.microsoft.com/office/drawing/2014/main" id="{180F8B41-5879-2A09-0312-DF95A66355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11" name="Straight Connector 10">
            <a:extLst>
              <a:ext uri="{FF2B5EF4-FFF2-40B4-BE49-F238E27FC236}">
                <a16:creationId xmlns:a16="http://schemas.microsoft.com/office/drawing/2014/main" id="{9F8FE21C-9A4D-BAE5-EBFA-AC71DB4BB395}"/>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E414F6F-A136-4E70-9F24-08E348F84F80}" type="datetime1">
              <a:rPr lang="en-US" smtClean="0"/>
              <a:t>8/20/2025</a:t>
            </a:fld>
            <a:endParaRPr lang="en-US"/>
          </a:p>
        </p:txBody>
      </p:sp>
      <p:sp>
        <p:nvSpPr>
          <p:cNvPr id="4" name="Footer Placeholder 3"/>
          <p:cNvSpPr>
            <a:spLocks noGrp="1"/>
          </p:cNvSpPr>
          <p:nvPr>
            <p:ph type="ftr" sz="quarter" idx="11"/>
          </p:nvPr>
        </p:nvSpPr>
        <p:spPr>
          <a:xfrm>
            <a:off x="2438400" y="6356351"/>
            <a:ext cx="7239000" cy="365125"/>
          </a:xfrm>
        </p:spPr>
        <p:txBody>
          <a:bodyPr/>
          <a:lstStyle/>
          <a:p>
            <a:r>
              <a:rPr lang="en-US"/>
              <a:t>Amit Kumar        Subject code: AOE0770       Finance for Engineers                 Unit 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descr="A close-up of a logo&#10;&#10;Description automatically generated">
            <a:extLst>
              <a:ext uri="{FF2B5EF4-FFF2-40B4-BE49-F238E27FC236}">
                <a16:creationId xmlns:a16="http://schemas.microsoft.com/office/drawing/2014/main" id="{3007570E-3B8F-90EF-7967-1176FA1D90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7" name="Straight Connector 6">
            <a:extLst>
              <a:ext uri="{FF2B5EF4-FFF2-40B4-BE49-F238E27FC236}">
                <a16:creationId xmlns:a16="http://schemas.microsoft.com/office/drawing/2014/main" id="{9392C6C5-A08F-DEB3-010A-85CA06F037C4}"/>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B3B1A1-7374-4148-8AFD-3628EB42BA4E}" type="datetime1">
              <a:rPr lang="en-US" smtClean="0"/>
              <a:t>8/20/2025</a:t>
            </a:fld>
            <a:endParaRPr lang="en-US"/>
          </a:p>
        </p:txBody>
      </p:sp>
      <p:sp>
        <p:nvSpPr>
          <p:cNvPr id="3" name="Footer Placeholder 2"/>
          <p:cNvSpPr>
            <a:spLocks noGrp="1"/>
          </p:cNvSpPr>
          <p:nvPr>
            <p:ph type="ftr" sz="quarter" idx="11"/>
          </p:nvPr>
        </p:nvSpPr>
        <p:spPr>
          <a:xfrm>
            <a:off x="2438400" y="6356351"/>
            <a:ext cx="7086600" cy="365125"/>
          </a:xfrm>
        </p:spPr>
        <p:txBody>
          <a:bodyPr/>
          <a:lstStyle/>
          <a:p>
            <a:r>
              <a:rPr lang="en-US"/>
              <a:t>Amit Kumar        Subject code: AOE0770       Finance for Engineers                 Unit 4</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descr="A close-up of a logo&#10;&#10;Description automatically generated">
            <a:extLst>
              <a:ext uri="{FF2B5EF4-FFF2-40B4-BE49-F238E27FC236}">
                <a16:creationId xmlns:a16="http://schemas.microsoft.com/office/drawing/2014/main" id="{AE269308-7237-E886-E213-EC885D9E1F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6" name="Straight Connector 5">
            <a:extLst>
              <a:ext uri="{FF2B5EF4-FFF2-40B4-BE49-F238E27FC236}">
                <a16:creationId xmlns:a16="http://schemas.microsoft.com/office/drawing/2014/main" id="{D04DEA47-7F1D-ECAA-58E1-D504C6079859}"/>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717E35-0E31-4E80-B848-1D90994BF598}" type="datetime1">
              <a:rPr lang="en-US" smtClean="0"/>
              <a:t>8/20/2025</a:t>
            </a:fld>
            <a:endParaRPr lang="en-US"/>
          </a:p>
        </p:txBody>
      </p:sp>
      <p:sp>
        <p:nvSpPr>
          <p:cNvPr id="6" name="Footer Placeholder 5"/>
          <p:cNvSpPr>
            <a:spLocks noGrp="1"/>
          </p:cNvSpPr>
          <p:nvPr>
            <p:ph type="ftr" sz="quarter" idx="11"/>
          </p:nvPr>
        </p:nvSpPr>
        <p:spPr>
          <a:xfrm>
            <a:off x="2819400" y="6356351"/>
            <a:ext cx="6400800" cy="365125"/>
          </a:xfrm>
        </p:spPr>
        <p:txBody>
          <a:bodyPr/>
          <a:lstStyle/>
          <a:p>
            <a:r>
              <a:rPr lang="en-US"/>
              <a:t>Amit Kumar        Subject code: AOE0770       Finance for Engineers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2C8E9EC2-9772-913B-AB06-602B7297F8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9" name="Straight Connector 8">
            <a:extLst>
              <a:ext uri="{FF2B5EF4-FFF2-40B4-BE49-F238E27FC236}">
                <a16:creationId xmlns:a16="http://schemas.microsoft.com/office/drawing/2014/main" id="{A5ED6988-D336-F959-D0EC-893CAAEDF7B1}"/>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F2ABAC-1917-40BD-8C9E-D6BBACF6446E}" type="datetime1">
              <a:rPr lang="en-US" smtClean="0"/>
              <a:t>8/20/2025</a:t>
            </a:fld>
            <a:endParaRPr lang="en-US"/>
          </a:p>
        </p:txBody>
      </p:sp>
      <p:sp>
        <p:nvSpPr>
          <p:cNvPr id="6" name="Footer Placeholder 5"/>
          <p:cNvSpPr>
            <a:spLocks noGrp="1"/>
          </p:cNvSpPr>
          <p:nvPr>
            <p:ph type="ftr" sz="quarter" idx="11"/>
          </p:nvPr>
        </p:nvSpPr>
        <p:spPr>
          <a:xfrm>
            <a:off x="2389717" y="6356351"/>
            <a:ext cx="7516283" cy="365125"/>
          </a:xfrm>
        </p:spPr>
        <p:txBody>
          <a:bodyPr/>
          <a:lstStyle/>
          <a:p>
            <a:r>
              <a:rPr lang="en-US"/>
              <a:t>Amit Kumar        Subject code: AOE0770       Finance for Engineers                 Unit 4</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334C6FB0-715E-A7BA-A8A4-53132ABDD4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9" name="Straight Connector 8">
            <a:extLst>
              <a:ext uri="{FF2B5EF4-FFF2-40B4-BE49-F238E27FC236}">
                <a16:creationId xmlns:a16="http://schemas.microsoft.com/office/drawing/2014/main" id="{3A7F20AF-7362-9801-0EE4-7F7B1E549779}"/>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6E6246-8401-444D-A428-BA7E7091D890}" type="datetime1">
              <a:rPr lang="en-US" smtClean="0"/>
              <a:t>8/20/2025</a:t>
            </a:fld>
            <a:endParaRPr lang="en-US"/>
          </a:p>
        </p:txBody>
      </p:sp>
      <p:sp>
        <p:nvSpPr>
          <p:cNvPr id="5" name="Footer Placeholder 4"/>
          <p:cNvSpPr>
            <a:spLocks noGrp="1"/>
          </p:cNvSpPr>
          <p:nvPr>
            <p:ph type="ftr" sz="quarter" idx="11"/>
          </p:nvPr>
        </p:nvSpPr>
        <p:spPr>
          <a:xfrm>
            <a:off x="2895600" y="6356351"/>
            <a:ext cx="6553200" cy="365125"/>
          </a:xfrm>
        </p:spPr>
        <p:txBody>
          <a:bodyPr/>
          <a:lstStyle/>
          <a:p>
            <a:r>
              <a:rPr lang="en-US"/>
              <a:t>Amit Kumar        Subject code: AOE0770       Finance for Engineers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FD43CC20-4369-864C-0856-2053F16490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8" name="Straight Connector 7">
            <a:extLst>
              <a:ext uri="{FF2B5EF4-FFF2-40B4-BE49-F238E27FC236}">
                <a16:creationId xmlns:a16="http://schemas.microsoft.com/office/drawing/2014/main" id="{9C866523-9FC7-5A6A-4371-5B662E1D0B8C}"/>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86ACA8-3308-49F5-8DF2-8F85434BD9DB}" type="datetime1">
              <a:rPr lang="en-US" smtClean="0"/>
              <a:t>8/20/2025</a:t>
            </a:fld>
            <a:endParaRPr lang="en-US"/>
          </a:p>
        </p:txBody>
      </p:sp>
      <p:sp>
        <p:nvSpPr>
          <p:cNvPr id="5" name="Footer Placeholder 4"/>
          <p:cNvSpPr>
            <a:spLocks noGrp="1"/>
          </p:cNvSpPr>
          <p:nvPr>
            <p:ph type="ftr" sz="quarter" idx="11"/>
          </p:nvPr>
        </p:nvSpPr>
        <p:spPr>
          <a:xfrm>
            <a:off x="2667000" y="6356351"/>
            <a:ext cx="6934200" cy="365125"/>
          </a:xfrm>
        </p:spPr>
        <p:txBody>
          <a:bodyPr/>
          <a:lstStyle/>
          <a:p>
            <a:r>
              <a:rPr lang="en-US"/>
              <a:t>Amit Kumar        Subject code: AOE0770       Finance for Engineers                 Unit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09A084B8-79FC-40B4-A355-AC05F4B0F7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828800" cy="782955"/>
          </a:xfrm>
          <a:prstGeom prst="rect">
            <a:avLst/>
          </a:prstGeom>
        </p:spPr>
      </p:pic>
      <p:cxnSp>
        <p:nvCxnSpPr>
          <p:cNvPr id="8" name="Straight Connector 7">
            <a:extLst>
              <a:ext uri="{FF2B5EF4-FFF2-40B4-BE49-F238E27FC236}">
                <a16:creationId xmlns:a16="http://schemas.microsoft.com/office/drawing/2014/main" id="{55EF055B-5E7B-2BBC-3F8F-740B61E747CD}"/>
              </a:ext>
            </a:extLst>
          </p:cNvPr>
          <p:cNvCxnSpPr>
            <a:cxnSpLocks/>
          </p:cNvCxnSpPr>
          <p:nvPr userDrawn="1"/>
        </p:nvCxnSpPr>
        <p:spPr>
          <a:xfrm flipV="1">
            <a:off x="0" y="685800"/>
            <a:ext cx="12192000" cy="76200"/>
          </a:xfrm>
          <a:prstGeom prst="line">
            <a:avLst/>
          </a:prstGeom>
          <a:ln>
            <a:solidFill>
              <a:schemeClr val="accent5"/>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6A3D4C-105A-4990-B835-50CA562EC1A4}" type="datetime1">
              <a:rPr lang="en-US" smtClean="0"/>
              <a:t>8/20/2025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Amit Kumar        Subject code: AOE0770       Finance for Engineers                 Unit 4</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727642F1-993C-2B38-95AF-DC84F5272D5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 y="0"/>
            <a:ext cx="1709396" cy="73183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sortly.com/blog/asset-management-syste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youtu.be/XXB08Xbbk1k" TargetMode="External"/><Relationship Id="rId2" Type="http://schemas.openxmlformats.org/officeDocument/2006/relationships/hyperlink" Target="https://youtu.be/zdTqlnSqO48" TargetMode="External"/><Relationship Id="rId1" Type="http://schemas.openxmlformats.org/officeDocument/2006/relationships/slideLayout" Target="../slideLayouts/slideLayout2.xml"/><Relationship Id="rId5" Type="http://schemas.openxmlformats.org/officeDocument/2006/relationships/hyperlink" Target="https://youtu.be/YuyPL_pDuW4" TargetMode="External"/><Relationship Id="rId4" Type="http://schemas.openxmlformats.org/officeDocument/2006/relationships/hyperlink" Target="https://youtu.be/pISQMexnmew"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
            <a:ext cx="105918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2971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r>
              <a:rPr lang="en-IN" sz="2400" b="1" dirty="0">
                <a:solidFill>
                  <a:schemeClr val="tx1"/>
                </a:solidFill>
              </a:rPr>
              <a:t>	Working capital management,</a:t>
            </a:r>
          </a:p>
        </p:txBody>
      </p:sp>
      <p:sp>
        <p:nvSpPr>
          <p:cNvPr id="6" name="Subtitle 2"/>
          <p:cNvSpPr txBox="1">
            <a:spLocks/>
          </p:cNvSpPr>
          <p:nvPr/>
        </p:nvSpPr>
        <p:spPr>
          <a:xfrm>
            <a:off x="7315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Amit Kumar</a:t>
            </a:r>
          </a:p>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Assistant Professor</a:t>
            </a:r>
          </a:p>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Department: School of Management</a:t>
            </a:r>
          </a:p>
          <a:p>
            <a:pPr algn="ctr">
              <a:spcBef>
                <a:spcPct val="20000"/>
              </a:spcBef>
              <a:defRPr/>
            </a:pPr>
            <a:endParaRPr lang="en-US" sz="2400" dirty="0">
              <a:solidFill>
                <a:schemeClr val="tx1"/>
              </a:solidFill>
            </a:endParaRPr>
          </a:p>
        </p:txBody>
      </p:sp>
      <p:sp>
        <p:nvSpPr>
          <p:cNvPr id="9" name="Date Placeholder 8"/>
          <p:cNvSpPr>
            <a:spLocks noGrp="1"/>
          </p:cNvSpPr>
          <p:nvPr>
            <p:ph type="dt" sz="half" idx="10"/>
          </p:nvPr>
        </p:nvSpPr>
        <p:spPr>
          <a:xfrm>
            <a:off x="1905000" y="6492876"/>
            <a:ext cx="2133600" cy="365125"/>
          </a:xfrm>
        </p:spPr>
        <p:txBody>
          <a:bodyPr/>
          <a:lstStyle/>
          <a:p>
            <a:fld id="{9559DA3A-4350-4A91-B064-606AB4994F5F}"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8001000" y="2590800"/>
            <a:ext cx="1524000" cy="1524000"/>
          </a:xfrm>
          <a:prstGeom prst="rect">
            <a:avLst/>
          </a:prstGeom>
          <a:noFill/>
        </p:spPr>
      </p:pic>
      <p:sp>
        <p:nvSpPr>
          <p:cNvPr id="12" name="Subtitle 2"/>
          <p:cNvSpPr txBox="1">
            <a:spLocks/>
          </p:cNvSpPr>
          <p:nvPr/>
        </p:nvSpPr>
        <p:spPr>
          <a:xfrm>
            <a:off x="1676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IV</a:t>
            </a:r>
          </a:p>
        </p:txBody>
      </p:sp>
      <p:sp>
        <p:nvSpPr>
          <p:cNvPr id="14" name="Subtitle 2"/>
          <p:cNvSpPr txBox="1">
            <a:spLocks/>
          </p:cNvSpPr>
          <p:nvPr/>
        </p:nvSpPr>
        <p:spPr>
          <a:xfrm>
            <a:off x="1676400" y="3810000"/>
            <a:ext cx="4191000" cy="1143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Subject Name:</a:t>
            </a:r>
          </a:p>
          <a:p>
            <a:pPr algn="ctr">
              <a:spcBef>
                <a:spcPct val="20000"/>
              </a:spcBef>
              <a:defRPr/>
            </a:pPr>
            <a:r>
              <a:rPr lang="en-IN" sz="2000" dirty="0">
                <a:solidFill>
                  <a:schemeClr val="tx1"/>
                </a:solidFill>
              </a:rPr>
              <a:t>Finance for Engineers</a:t>
            </a:r>
          </a:p>
          <a:p>
            <a:pPr algn="ctr">
              <a:spcBef>
                <a:spcPct val="20000"/>
              </a:spcBef>
              <a:defRPr/>
            </a:pPr>
            <a:r>
              <a:rPr lang="en-IN" sz="2000" dirty="0">
                <a:solidFill>
                  <a:schemeClr val="tx1"/>
                </a:solidFill>
              </a:rPr>
              <a:t>(AOE0770)</a:t>
            </a:r>
            <a:endParaRPr lang="en-US" sz="2000" dirty="0">
              <a:solidFill>
                <a:schemeClr val="tx1"/>
              </a:solidFill>
            </a:endParaRPr>
          </a:p>
          <a:p>
            <a:pPr algn="ctr">
              <a:spcBef>
                <a:spcPct val="20000"/>
              </a:spcBef>
              <a:defRPr/>
            </a:pPr>
            <a:endParaRPr lang="en-US" sz="2000" dirty="0">
              <a:solidFill>
                <a:schemeClr val="tx1"/>
              </a:solidFill>
            </a:endParaRPr>
          </a:p>
        </p:txBody>
      </p:sp>
      <p:sp>
        <p:nvSpPr>
          <p:cNvPr id="15" name="Subtitle 2"/>
          <p:cNvSpPr txBox="1">
            <a:spLocks/>
          </p:cNvSpPr>
          <p:nvPr/>
        </p:nvSpPr>
        <p:spPr>
          <a:xfrm>
            <a:off x="1688690" y="5210995"/>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(MTech Int-VIII Sem)</a:t>
            </a:r>
          </a:p>
        </p:txBody>
      </p:sp>
      <p:sp>
        <p:nvSpPr>
          <p:cNvPr id="13" name="Footer Placeholder 12"/>
          <p:cNvSpPr>
            <a:spLocks noGrp="1"/>
          </p:cNvSpPr>
          <p:nvPr>
            <p:ph type="ftr" sz="quarter" idx="11"/>
          </p:nvPr>
        </p:nvSpPr>
        <p:spPr>
          <a:xfrm>
            <a:off x="3733800" y="6356351"/>
            <a:ext cx="5791200" cy="365125"/>
          </a:xfrm>
        </p:spPr>
        <p:txBody>
          <a:bodyPr/>
          <a:lstStyle/>
          <a:p>
            <a:r>
              <a:rPr lang="en-US"/>
              <a:t>Amit Kumar        Subject code: AOE0770       Finance for Engineers                 Unit 4</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711C87-9E9C-42AD-AA29-81C008FB9711}" type="datetime1">
              <a:rPr lang="en-US" smtClean="0"/>
              <a:t>8/20/2025</a:t>
            </a:fld>
            <a:endParaRPr lang="en-US" dirty="0"/>
          </a:p>
        </p:txBody>
      </p:sp>
      <p:sp>
        <p:nvSpPr>
          <p:cNvPr id="5" name="Footer Placeholder 4"/>
          <p:cNvSpPr>
            <a:spLocks noGrp="1"/>
          </p:cNvSpPr>
          <p:nvPr>
            <p:ph type="ftr" sz="quarter" idx="11"/>
          </p:nvPr>
        </p:nvSpPr>
        <p:spPr>
          <a:xfrm>
            <a:off x="3276600" y="6356353"/>
            <a:ext cx="6400800" cy="365125"/>
          </a:xfrm>
        </p:spPr>
        <p:txBody>
          <a:bodyPr/>
          <a:lstStyle/>
          <a:p>
            <a:r>
              <a:rPr lang="en-US">
                <a:solidFill>
                  <a:schemeClr val="tx1"/>
                </a:solidFill>
              </a:rPr>
              <a:t>Amit Kumar        Subject code: AOE0770       Finance for Engineers                 Unit 4</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752600" y="3"/>
            <a:ext cx="10439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graphicFrame>
        <p:nvGraphicFramePr>
          <p:cNvPr id="12" name="Table 11"/>
          <p:cNvGraphicFramePr>
            <a:graphicFrameLocks noGrp="1"/>
          </p:cNvGraphicFramePr>
          <p:nvPr>
            <p:extLst>
              <p:ext uri="{D42A27DB-BD31-4B8C-83A1-F6EECF244321}">
                <p14:modId xmlns:p14="http://schemas.microsoft.com/office/powerpoint/2010/main" val="2406920747"/>
              </p:ext>
            </p:extLst>
          </p:nvPr>
        </p:nvGraphicFramePr>
        <p:xfrm>
          <a:off x="1066800" y="1066800"/>
          <a:ext cx="10287000" cy="4960848"/>
        </p:xfrm>
        <a:graphic>
          <a:graphicData uri="http://schemas.openxmlformats.org/drawingml/2006/table">
            <a:tbl>
              <a:tblPr firstRow="1" bandRow="1">
                <a:tableStyleId>{7DF18680-E054-41AD-8BC1-D1AEF772440D}</a:tableStyleId>
              </a:tblPr>
              <a:tblGrid>
                <a:gridCol w="19050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377199">
                <a:tc>
                  <a:txBody>
                    <a:bodyPr/>
                    <a:lstStyle/>
                    <a:p>
                      <a:r>
                        <a:rPr lang="en-US" sz="1800" dirty="0"/>
                        <a:t>S. No.</a:t>
                      </a:r>
                      <a:endParaRPr lang="en-US" sz="1800" dirty="0">
                        <a:latin typeface="+mn-lt"/>
                      </a:endParaRPr>
                    </a:p>
                  </a:txBody>
                  <a:tcPr/>
                </a:tc>
                <a:tc>
                  <a:txBody>
                    <a:bodyPr/>
                    <a:lstStyle/>
                    <a:p>
                      <a:pPr algn="l"/>
                      <a:r>
                        <a:rPr lang="en-US" sz="1800" dirty="0"/>
                        <a:t>Index</a:t>
                      </a:r>
                      <a:endParaRPr lang="en-US" sz="1800" dirty="0">
                        <a:latin typeface="+mn-lt"/>
                      </a:endParaRPr>
                    </a:p>
                  </a:txBody>
                  <a:tcPr/>
                </a:tc>
                <a:extLst>
                  <a:ext uri="{0D108BD9-81ED-4DB2-BD59-A6C34878D82A}">
                    <a16:rowId xmlns:a16="http://schemas.microsoft.com/office/drawing/2014/main" val="10000"/>
                  </a:ext>
                </a:extLst>
              </a:tr>
              <a:tr h="735875">
                <a:tc>
                  <a:txBody>
                    <a:bodyPr/>
                    <a:lstStyle/>
                    <a:p>
                      <a:r>
                        <a:rPr lang="en-US" sz="1800" b="0" dirty="0"/>
                        <a:t>1.</a:t>
                      </a:r>
                      <a:endParaRPr lang="en-US" sz="1800" b="0" dirty="0">
                        <a:latin typeface="+mn-lt"/>
                        <a:cs typeface="Times New Roman" pitchFamily="18" charset="0"/>
                      </a:endParaRPr>
                    </a:p>
                  </a:txBody>
                  <a:tcPr/>
                </a:tc>
                <a:tc>
                  <a:txBody>
                    <a:bodyPr/>
                    <a:lstStyle/>
                    <a:p>
                      <a:pPr algn="l" fontAlgn="ctr"/>
                      <a:r>
                        <a:rPr lang="en-US" sz="1800" b="0" u="none" strike="noStrike" dirty="0">
                          <a:solidFill>
                            <a:srgbClr val="000000"/>
                          </a:solidFill>
                        </a:rPr>
                        <a:t>Name of Subject with code, Course and Subject Teacher</a:t>
                      </a:r>
                      <a:endParaRPr lang="en-US" sz="1800" b="0" i="0" u="none" strike="noStrike" dirty="0">
                        <a:solidFill>
                          <a:srgbClr val="000000"/>
                        </a:solidFill>
                        <a:latin typeface="+mn-lt"/>
                      </a:endParaRPr>
                    </a:p>
                  </a:txBody>
                  <a:tcPr marL="9525" marR="9525" marT="9525" marB="0" anchor="ctr"/>
                </a:tc>
                <a:extLst>
                  <a:ext uri="{0D108BD9-81ED-4DB2-BD59-A6C34878D82A}">
                    <a16:rowId xmlns:a16="http://schemas.microsoft.com/office/drawing/2014/main" val="10001"/>
                  </a:ext>
                </a:extLst>
              </a:tr>
              <a:tr h="735875">
                <a:tc>
                  <a:txBody>
                    <a:bodyPr/>
                    <a:lstStyle/>
                    <a:p>
                      <a:r>
                        <a:rPr lang="en-US" sz="1800" b="0" dirty="0"/>
                        <a:t>2.</a:t>
                      </a:r>
                      <a:endParaRPr lang="en-US" sz="1800" b="0" dirty="0">
                        <a:latin typeface="+mn-lt"/>
                        <a:cs typeface="Times New Roman" pitchFamily="18" charset="0"/>
                      </a:endParaRPr>
                    </a:p>
                  </a:txBody>
                  <a:tcPr/>
                </a:tc>
                <a:tc>
                  <a:txBody>
                    <a:bodyPr/>
                    <a:lstStyle/>
                    <a:p>
                      <a:pPr algn="l" fontAlgn="ctr"/>
                      <a:r>
                        <a:rPr lang="en-US" sz="1800" b="0" u="none" strike="noStrike" dirty="0">
                          <a:solidFill>
                            <a:srgbClr val="000000"/>
                          </a:solidFill>
                        </a:rPr>
                        <a:t>Brief Introduction of Faculty member with Photograph</a:t>
                      </a:r>
                      <a:endParaRPr lang="en-US" sz="1800" b="0" i="0" u="none" strike="noStrike" dirty="0">
                        <a:solidFill>
                          <a:srgbClr val="000000"/>
                        </a:solidFill>
                        <a:latin typeface="+mn-lt"/>
                      </a:endParaRPr>
                    </a:p>
                  </a:txBody>
                  <a:tcPr marL="9525" marR="9525" marT="9525" marB="0" anchor="ctr"/>
                </a:tc>
                <a:extLst>
                  <a:ext uri="{0D108BD9-81ED-4DB2-BD59-A6C34878D82A}">
                    <a16:rowId xmlns:a16="http://schemas.microsoft.com/office/drawing/2014/main" val="10002"/>
                  </a:ext>
                </a:extLst>
              </a:tr>
              <a:tr h="444557">
                <a:tc>
                  <a:txBody>
                    <a:bodyPr/>
                    <a:lstStyle/>
                    <a:p>
                      <a:r>
                        <a:rPr lang="en-US" sz="1800" b="0" dirty="0"/>
                        <a:t>3.</a:t>
                      </a:r>
                      <a:endParaRPr lang="en-US" sz="1800" b="0" dirty="0">
                        <a:latin typeface="+mn-lt"/>
                        <a:cs typeface="Times New Roman" pitchFamily="18" charset="0"/>
                      </a:endParaRPr>
                    </a:p>
                  </a:txBody>
                  <a:tcPr/>
                </a:tc>
                <a:tc>
                  <a:txBody>
                    <a:bodyPr/>
                    <a:lstStyle/>
                    <a:p>
                      <a:pPr algn="l" fontAlgn="ctr"/>
                      <a:r>
                        <a:rPr lang="en-US" sz="1800" b="0" u="none" strike="noStrike" dirty="0">
                          <a:solidFill>
                            <a:srgbClr val="000000"/>
                          </a:solidFill>
                        </a:rPr>
                        <a:t>Evaluation Scheme</a:t>
                      </a:r>
                      <a:endParaRPr lang="en-US" sz="1800" b="0" i="0" u="none" strike="noStrike" dirty="0">
                        <a:solidFill>
                          <a:srgbClr val="000000"/>
                        </a:solidFill>
                        <a:latin typeface="+mn-lt"/>
                      </a:endParaRPr>
                    </a:p>
                  </a:txBody>
                  <a:tcPr marL="9525" marR="9525" marT="9525" marB="0" anchor="ctr"/>
                </a:tc>
                <a:extLst>
                  <a:ext uri="{0D108BD9-81ED-4DB2-BD59-A6C34878D82A}">
                    <a16:rowId xmlns:a16="http://schemas.microsoft.com/office/drawing/2014/main" val="10003"/>
                  </a:ext>
                </a:extLst>
              </a:tr>
              <a:tr h="444557">
                <a:tc>
                  <a:txBody>
                    <a:bodyPr/>
                    <a:lstStyle/>
                    <a:p>
                      <a:r>
                        <a:rPr lang="en-US" sz="1800" b="0" dirty="0"/>
                        <a:t>4.</a:t>
                      </a:r>
                      <a:endParaRPr lang="en-US" sz="1800" b="0" dirty="0">
                        <a:latin typeface="+mn-lt"/>
                        <a:cs typeface="Times New Roman" pitchFamily="18" charset="0"/>
                      </a:endParaRPr>
                    </a:p>
                  </a:txBody>
                  <a:tcPr/>
                </a:tc>
                <a:tc>
                  <a:txBody>
                    <a:bodyPr/>
                    <a:lstStyle/>
                    <a:p>
                      <a:r>
                        <a:rPr lang="en-US" sz="1800" b="0" dirty="0"/>
                        <a:t>Syllabus</a:t>
                      </a:r>
                      <a:endParaRPr lang="en-US" sz="1800" b="0" dirty="0">
                        <a:latin typeface="+mn-lt"/>
                        <a:cs typeface="Times New Roman" pitchFamily="18" charset="0"/>
                      </a:endParaRPr>
                    </a:p>
                  </a:txBody>
                  <a:tcPr/>
                </a:tc>
                <a:extLst>
                  <a:ext uri="{0D108BD9-81ED-4DB2-BD59-A6C34878D82A}">
                    <a16:rowId xmlns:a16="http://schemas.microsoft.com/office/drawing/2014/main" val="10004"/>
                  </a:ext>
                </a:extLst>
              </a:tr>
              <a:tr h="444557">
                <a:tc>
                  <a:txBody>
                    <a:bodyPr/>
                    <a:lstStyle/>
                    <a:p>
                      <a:r>
                        <a:rPr lang="en-US" sz="1800" b="0" dirty="0"/>
                        <a:t>5.</a:t>
                      </a:r>
                      <a:endParaRPr lang="en-US" sz="1800" b="0" dirty="0">
                        <a:latin typeface="+mn-lt"/>
                        <a:cs typeface="Times New Roman" pitchFamily="18" charset="0"/>
                      </a:endParaRPr>
                    </a:p>
                  </a:txBody>
                  <a:tcPr/>
                </a:tc>
                <a:tc>
                  <a:txBody>
                    <a:bodyPr/>
                    <a:lstStyle/>
                    <a:p>
                      <a:r>
                        <a:rPr lang="en-US" sz="1800" dirty="0"/>
                        <a:t>Branch wise Application</a:t>
                      </a:r>
                      <a:endParaRPr lang="en-US" sz="1800" dirty="0">
                        <a:latin typeface="+mn-lt"/>
                      </a:endParaRPr>
                    </a:p>
                  </a:txBody>
                  <a:tcPr/>
                </a:tc>
                <a:extLst>
                  <a:ext uri="{0D108BD9-81ED-4DB2-BD59-A6C34878D82A}">
                    <a16:rowId xmlns:a16="http://schemas.microsoft.com/office/drawing/2014/main" val="10005"/>
                  </a:ext>
                </a:extLst>
              </a:tr>
              <a:tr h="444557">
                <a:tc>
                  <a:txBody>
                    <a:bodyPr/>
                    <a:lstStyle/>
                    <a:p>
                      <a:r>
                        <a:rPr lang="en-US" sz="1800" b="0" dirty="0"/>
                        <a:t>6.</a:t>
                      </a:r>
                      <a:endParaRPr lang="en-US" sz="1800" b="0" dirty="0">
                        <a:latin typeface="+mn-lt"/>
                        <a:cs typeface="Times New Roman" pitchFamily="18" charset="0"/>
                      </a:endParaRPr>
                    </a:p>
                  </a:txBody>
                  <a:tcPr/>
                </a:tc>
                <a:tc>
                  <a:txBody>
                    <a:bodyPr/>
                    <a:lstStyle/>
                    <a:p>
                      <a:r>
                        <a:rPr lang="en-US" sz="1800" b="0" dirty="0"/>
                        <a:t>Course Objective(s)</a:t>
                      </a:r>
                      <a:endParaRPr lang="en-US" sz="1800" b="0" dirty="0">
                        <a:latin typeface="+mn-lt"/>
                        <a:cs typeface="Times New Roman" pitchFamily="18" charset="0"/>
                      </a:endParaRPr>
                    </a:p>
                  </a:txBody>
                  <a:tcPr/>
                </a:tc>
                <a:extLst>
                  <a:ext uri="{0D108BD9-81ED-4DB2-BD59-A6C34878D82A}">
                    <a16:rowId xmlns:a16="http://schemas.microsoft.com/office/drawing/2014/main" val="10006"/>
                  </a:ext>
                </a:extLst>
              </a:tr>
              <a:tr h="444557">
                <a:tc>
                  <a:txBody>
                    <a:bodyPr/>
                    <a:lstStyle/>
                    <a:p>
                      <a:r>
                        <a:rPr lang="en-US" sz="1800" b="0" dirty="0"/>
                        <a:t>7.</a:t>
                      </a:r>
                      <a:endParaRPr lang="en-US" sz="1800" b="0" dirty="0">
                        <a:latin typeface="+mn-lt"/>
                        <a:cs typeface="Times New Roman" pitchFamily="18" charset="0"/>
                      </a:endParaRPr>
                    </a:p>
                  </a:txBody>
                  <a:tcPr/>
                </a:tc>
                <a:tc>
                  <a:txBody>
                    <a:bodyPr/>
                    <a:lstStyle/>
                    <a:p>
                      <a:r>
                        <a:rPr lang="en-US" sz="1800" b="0" dirty="0"/>
                        <a:t>Course Outcome(s)</a:t>
                      </a:r>
                      <a:endParaRPr lang="en-US" sz="1800" b="0" dirty="0">
                        <a:latin typeface="+mn-lt"/>
                        <a:cs typeface="Times New Roman" pitchFamily="18" charset="0"/>
                      </a:endParaRPr>
                    </a:p>
                  </a:txBody>
                  <a:tcPr/>
                </a:tc>
                <a:extLst>
                  <a:ext uri="{0D108BD9-81ED-4DB2-BD59-A6C34878D82A}">
                    <a16:rowId xmlns:a16="http://schemas.microsoft.com/office/drawing/2014/main" val="10007"/>
                  </a:ext>
                </a:extLst>
              </a:tr>
              <a:tr h="444557">
                <a:tc>
                  <a:txBody>
                    <a:bodyPr/>
                    <a:lstStyle/>
                    <a:p>
                      <a:r>
                        <a:rPr lang="en-US" sz="1800" b="0" dirty="0"/>
                        <a:t>8.</a:t>
                      </a:r>
                      <a:endParaRPr lang="en-US" sz="1800" b="0" dirty="0">
                        <a:latin typeface="+mn-lt"/>
                        <a:cs typeface="Times New Roman" pitchFamily="18" charset="0"/>
                      </a:endParaRPr>
                    </a:p>
                  </a:txBody>
                  <a:tcPr/>
                </a:tc>
                <a:tc>
                  <a:txBody>
                    <a:bodyPr/>
                    <a:lstStyle/>
                    <a:p>
                      <a:r>
                        <a:rPr lang="en-US" sz="1800" b="0" dirty="0"/>
                        <a:t>Program Outcomes </a:t>
                      </a:r>
                      <a:r>
                        <a:rPr lang="en-US" sz="1800" b="0"/>
                        <a:t>(POs</a:t>
                      </a:r>
                      <a:r>
                        <a:rPr lang="en-US" sz="1800" b="0" dirty="0"/>
                        <a:t>)</a:t>
                      </a:r>
                      <a:endParaRPr lang="en-US" sz="1800" b="0" dirty="0">
                        <a:latin typeface="+mn-lt"/>
                        <a:cs typeface="Times New Roman" pitchFamily="18" charset="0"/>
                      </a:endParaRPr>
                    </a:p>
                  </a:txBody>
                  <a:tcPr/>
                </a:tc>
                <a:extLst>
                  <a:ext uri="{0D108BD9-81ED-4DB2-BD59-A6C34878D82A}">
                    <a16:rowId xmlns:a16="http://schemas.microsoft.com/office/drawing/2014/main" val="10008"/>
                  </a:ext>
                </a:extLst>
              </a:tr>
              <a:tr h="444557">
                <a:tc>
                  <a:txBody>
                    <a:bodyPr/>
                    <a:lstStyle/>
                    <a:p>
                      <a:r>
                        <a:rPr lang="en-US" sz="1800" b="0" dirty="0"/>
                        <a:t>9.</a:t>
                      </a:r>
                      <a:endParaRPr lang="en-US" sz="1800" b="0" dirty="0">
                        <a:latin typeface="+mn-lt"/>
                        <a:cs typeface="Times New Roman" pitchFamily="18" charset="0"/>
                      </a:endParaRPr>
                    </a:p>
                  </a:txBody>
                  <a:tcPr/>
                </a:tc>
                <a:tc>
                  <a:txBody>
                    <a:bodyPr/>
                    <a:lstStyle/>
                    <a:p>
                      <a:r>
                        <a:rPr lang="en-US" sz="1800" dirty="0"/>
                        <a:t>Cos and POs Mapping</a:t>
                      </a:r>
                      <a:endParaRPr lang="en-US" sz="1800" dirty="0">
                        <a:latin typeface="+mn-lt"/>
                      </a:endParaRP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144638741"/>
              </p:ext>
            </p:extLst>
          </p:nvPr>
        </p:nvGraphicFramePr>
        <p:xfrm>
          <a:off x="914400" y="1066800"/>
          <a:ext cx="10439400" cy="4966773"/>
        </p:xfrm>
        <a:graphic>
          <a:graphicData uri="http://schemas.openxmlformats.org/drawingml/2006/table">
            <a:tbl>
              <a:tblPr firstRow="1" bandRow="1">
                <a:tableStyleId>{7DF18680-E054-41AD-8BC1-D1AEF772440D}</a:tableStyleId>
              </a:tblPr>
              <a:tblGrid>
                <a:gridCol w="1933221">
                  <a:extLst>
                    <a:ext uri="{9D8B030D-6E8A-4147-A177-3AD203B41FA5}">
                      <a16:colId xmlns:a16="http://schemas.microsoft.com/office/drawing/2014/main" val="20000"/>
                    </a:ext>
                  </a:extLst>
                </a:gridCol>
                <a:gridCol w="8506179">
                  <a:extLst>
                    <a:ext uri="{9D8B030D-6E8A-4147-A177-3AD203B41FA5}">
                      <a16:colId xmlns:a16="http://schemas.microsoft.com/office/drawing/2014/main" val="20001"/>
                    </a:ext>
                  </a:extLst>
                </a:gridCol>
              </a:tblGrid>
              <a:tr h="388463">
                <a:tc>
                  <a:txBody>
                    <a:bodyPr/>
                    <a:lstStyle/>
                    <a:p>
                      <a:r>
                        <a:rPr lang="en-US" sz="1800" dirty="0"/>
                        <a:t>S. No.</a:t>
                      </a:r>
                      <a:endParaRPr lang="en-US" sz="1800" dirty="0">
                        <a:latin typeface="+mn-lt"/>
                      </a:endParaRPr>
                    </a:p>
                  </a:txBody>
                  <a:tcPr/>
                </a:tc>
                <a:tc>
                  <a:txBody>
                    <a:bodyPr/>
                    <a:lstStyle/>
                    <a:p>
                      <a:pPr algn="l"/>
                      <a:r>
                        <a:rPr lang="en-US" sz="1800" dirty="0"/>
                        <a:t>Index</a:t>
                      </a:r>
                      <a:endParaRPr lang="en-US" sz="1800" dirty="0">
                        <a:latin typeface="+mn-lt"/>
                      </a:endParaRPr>
                    </a:p>
                  </a:txBody>
                  <a:tcPr/>
                </a:tc>
                <a:extLst>
                  <a:ext uri="{0D108BD9-81ED-4DB2-BD59-A6C34878D82A}">
                    <a16:rowId xmlns:a16="http://schemas.microsoft.com/office/drawing/2014/main" val="10000"/>
                  </a:ext>
                </a:extLst>
              </a:tr>
              <a:tr h="457831">
                <a:tc>
                  <a:txBody>
                    <a:bodyPr/>
                    <a:lstStyle/>
                    <a:p>
                      <a:r>
                        <a:rPr lang="en-US" sz="1800" b="0" dirty="0"/>
                        <a:t>10.</a:t>
                      </a:r>
                      <a:endParaRPr lang="en-US" sz="1800" b="0" dirty="0">
                        <a:latin typeface="+mn-lt"/>
                        <a:cs typeface="Times New Roman" pitchFamily="18" charset="0"/>
                      </a:endParaRPr>
                    </a:p>
                  </a:txBody>
                  <a:tcPr/>
                </a:tc>
                <a:tc>
                  <a:txBody>
                    <a:bodyPr/>
                    <a:lstStyle/>
                    <a:p>
                      <a:r>
                        <a:rPr lang="en-US" sz="1800" b="0" dirty="0"/>
                        <a:t>Program Specific  Outcomes (PSOs)</a:t>
                      </a:r>
                      <a:endParaRPr lang="en-US" sz="1800" b="0" dirty="0">
                        <a:latin typeface="+mn-lt"/>
                        <a:cs typeface="Times New Roman" pitchFamily="18" charset="0"/>
                      </a:endParaRPr>
                    </a:p>
                  </a:txBody>
                  <a:tcPr/>
                </a:tc>
                <a:extLst>
                  <a:ext uri="{0D108BD9-81ED-4DB2-BD59-A6C34878D82A}">
                    <a16:rowId xmlns:a16="http://schemas.microsoft.com/office/drawing/2014/main" val="10001"/>
                  </a:ext>
                </a:extLst>
              </a:tr>
              <a:tr h="457831">
                <a:tc>
                  <a:txBody>
                    <a:bodyPr/>
                    <a:lstStyle/>
                    <a:p>
                      <a:r>
                        <a:rPr lang="en-US" sz="1800" b="0" dirty="0"/>
                        <a:t>11.</a:t>
                      </a:r>
                      <a:endParaRPr lang="en-US" sz="1800" b="0" dirty="0">
                        <a:latin typeface="+mn-lt"/>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dk1"/>
                          </a:solidFill>
                          <a:effectLst/>
                          <a:uLnTx/>
                          <a:uFillTx/>
                        </a:rPr>
                        <a:t>Cos and PSOs Mapping</a:t>
                      </a:r>
                      <a:endParaRPr kumimoji="0" lang="en-US" sz="1800" b="0" i="0" u="none" strike="noStrike" kern="1200" cap="none" spc="0" normalizeH="0" baseline="0" noProof="0" dirty="0">
                        <a:ln>
                          <a:noFill/>
                        </a:ln>
                        <a:solidFill>
                          <a:schemeClr val="dk1"/>
                        </a:solidFill>
                        <a:effectLst/>
                        <a:uLnTx/>
                        <a:uFillTx/>
                        <a:latin typeface="+mn-lt"/>
                        <a:cs typeface="Times New Roman" pitchFamily="18" charset="0"/>
                      </a:endParaRPr>
                    </a:p>
                  </a:txBody>
                  <a:tcPr/>
                </a:tc>
                <a:extLst>
                  <a:ext uri="{0D108BD9-81ED-4DB2-BD59-A6C34878D82A}">
                    <a16:rowId xmlns:a16="http://schemas.microsoft.com/office/drawing/2014/main" val="10002"/>
                  </a:ext>
                </a:extLst>
              </a:tr>
              <a:tr h="457831">
                <a:tc>
                  <a:txBody>
                    <a:bodyPr/>
                    <a:lstStyle/>
                    <a:p>
                      <a:r>
                        <a:rPr lang="en-US" sz="1800" b="0" dirty="0"/>
                        <a:t>12.</a:t>
                      </a:r>
                      <a:endParaRPr lang="en-US" sz="1800" b="0" dirty="0">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t>Program Educational Objectives (PEOs)</a:t>
                      </a:r>
                      <a:endParaRPr lang="en-US" sz="1800" b="0" dirty="0">
                        <a:latin typeface="+mn-lt"/>
                        <a:cs typeface="Times New Roman" pitchFamily="18" charset="0"/>
                      </a:endParaRPr>
                    </a:p>
                  </a:txBody>
                  <a:tcPr/>
                </a:tc>
                <a:extLst>
                  <a:ext uri="{0D108BD9-81ED-4DB2-BD59-A6C34878D82A}">
                    <a16:rowId xmlns:a16="http://schemas.microsoft.com/office/drawing/2014/main" val="10003"/>
                  </a:ext>
                </a:extLst>
              </a:tr>
              <a:tr h="457831">
                <a:tc>
                  <a:txBody>
                    <a:bodyPr/>
                    <a:lstStyle/>
                    <a:p>
                      <a:r>
                        <a:rPr lang="en-US" sz="1800" b="0" dirty="0"/>
                        <a:t>13.</a:t>
                      </a:r>
                      <a:endParaRPr lang="en-US" sz="1800" b="0" dirty="0">
                        <a:latin typeface="+mn-lt"/>
                        <a:cs typeface="Times New Roman" pitchFamily="18" charset="0"/>
                      </a:endParaRPr>
                    </a:p>
                  </a:txBody>
                  <a:tcPr/>
                </a:tc>
                <a:tc>
                  <a:txBody>
                    <a:bodyPr/>
                    <a:lstStyle/>
                    <a:p>
                      <a:r>
                        <a:rPr lang="en-US" sz="1800" b="0" dirty="0"/>
                        <a:t>Result Analysis</a:t>
                      </a:r>
                      <a:endParaRPr lang="en-US" sz="1800" b="0" dirty="0">
                        <a:latin typeface="+mn-lt"/>
                        <a:cs typeface="Times New Roman" pitchFamily="18" charset="0"/>
                      </a:endParaRPr>
                    </a:p>
                  </a:txBody>
                  <a:tcPr/>
                </a:tc>
                <a:extLst>
                  <a:ext uri="{0D108BD9-81ED-4DB2-BD59-A6C34878D82A}">
                    <a16:rowId xmlns:a16="http://schemas.microsoft.com/office/drawing/2014/main" val="10004"/>
                  </a:ext>
                </a:extLst>
              </a:tr>
              <a:tr h="457831">
                <a:tc>
                  <a:txBody>
                    <a:bodyPr/>
                    <a:lstStyle/>
                    <a:p>
                      <a:r>
                        <a:rPr lang="en-US" sz="1800" b="0" dirty="0"/>
                        <a:t>14.</a:t>
                      </a:r>
                      <a:endParaRPr lang="en-US" sz="1800" b="0" dirty="0">
                        <a:latin typeface="+mn-lt"/>
                        <a:cs typeface="Times New Roman" pitchFamily="18" charset="0"/>
                      </a:endParaRPr>
                    </a:p>
                  </a:txBody>
                  <a:tcPr/>
                </a:tc>
                <a:tc>
                  <a:txBody>
                    <a:bodyPr/>
                    <a:lstStyle/>
                    <a:p>
                      <a:r>
                        <a:rPr lang="en-US" sz="1800" b="0" dirty="0"/>
                        <a:t>End Semester Question paper Templates</a:t>
                      </a:r>
                      <a:endParaRPr lang="en-US" sz="1800" b="0" dirty="0">
                        <a:latin typeface="+mn-lt"/>
                        <a:cs typeface="Times New Roman" pitchFamily="18" charset="0"/>
                      </a:endParaRPr>
                    </a:p>
                  </a:txBody>
                  <a:tcPr/>
                </a:tc>
                <a:extLst>
                  <a:ext uri="{0D108BD9-81ED-4DB2-BD59-A6C34878D82A}">
                    <a16:rowId xmlns:a16="http://schemas.microsoft.com/office/drawing/2014/main" val="10005"/>
                  </a:ext>
                </a:extLst>
              </a:tr>
              <a:tr h="457831">
                <a:tc>
                  <a:txBody>
                    <a:bodyPr/>
                    <a:lstStyle/>
                    <a:p>
                      <a:r>
                        <a:rPr lang="en-US" sz="1800" b="0" dirty="0"/>
                        <a:t>15.</a:t>
                      </a:r>
                      <a:endParaRPr lang="en-US" sz="1800" b="0" dirty="0">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t>Prequisite/Recap</a:t>
                      </a:r>
                      <a:endParaRPr lang="en-US" sz="1800" b="0" dirty="0">
                        <a:latin typeface="+mn-lt"/>
                        <a:cs typeface="Times New Roman" pitchFamily="18" charset="0"/>
                      </a:endParaRPr>
                    </a:p>
                  </a:txBody>
                  <a:tcPr/>
                </a:tc>
                <a:extLst>
                  <a:ext uri="{0D108BD9-81ED-4DB2-BD59-A6C34878D82A}">
                    <a16:rowId xmlns:a16="http://schemas.microsoft.com/office/drawing/2014/main" val="10006"/>
                  </a:ext>
                </a:extLst>
              </a:tr>
              <a:tr h="457831">
                <a:tc>
                  <a:txBody>
                    <a:bodyPr/>
                    <a:lstStyle/>
                    <a:p>
                      <a:r>
                        <a:rPr lang="en-US" sz="1800" b="0" dirty="0"/>
                        <a:t>16.</a:t>
                      </a:r>
                      <a:endParaRPr lang="en-US" sz="1800" b="0" dirty="0">
                        <a:latin typeface="+mn-lt"/>
                        <a:cs typeface="Times New Roman" pitchFamily="18" charset="0"/>
                      </a:endParaRPr>
                    </a:p>
                  </a:txBody>
                  <a:tcPr/>
                </a:tc>
                <a:tc>
                  <a:txBody>
                    <a:bodyPr/>
                    <a:lstStyle/>
                    <a:p>
                      <a:r>
                        <a:rPr lang="en-US" sz="1800" b="0" dirty="0"/>
                        <a:t>Brief Introduction about the Subject with Videos</a:t>
                      </a:r>
                      <a:endParaRPr lang="en-US" sz="1800" b="0" dirty="0">
                        <a:latin typeface="+mn-lt"/>
                        <a:cs typeface="Times New Roman" pitchFamily="18" charset="0"/>
                      </a:endParaRPr>
                    </a:p>
                  </a:txBody>
                  <a:tcPr/>
                </a:tc>
                <a:extLst>
                  <a:ext uri="{0D108BD9-81ED-4DB2-BD59-A6C34878D82A}">
                    <a16:rowId xmlns:a16="http://schemas.microsoft.com/office/drawing/2014/main" val="10007"/>
                  </a:ext>
                </a:extLst>
              </a:tr>
              <a:tr h="457831">
                <a:tc>
                  <a:txBody>
                    <a:bodyPr/>
                    <a:lstStyle/>
                    <a:p>
                      <a:r>
                        <a:rPr lang="en-US" sz="1800" b="0" dirty="0"/>
                        <a:t>17.</a:t>
                      </a:r>
                      <a:endParaRPr lang="en-US" sz="1800" b="0" dirty="0">
                        <a:latin typeface="+mn-lt"/>
                        <a:cs typeface="Times New Roman" pitchFamily="18" charset="0"/>
                      </a:endParaRPr>
                    </a:p>
                  </a:txBody>
                  <a:tcPr/>
                </a:tc>
                <a:tc>
                  <a:txBody>
                    <a:bodyPr/>
                    <a:lstStyle/>
                    <a:p>
                      <a:r>
                        <a:rPr lang="en-US" sz="1800" b="0" dirty="0"/>
                        <a:t>Unit Contents</a:t>
                      </a:r>
                      <a:endParaRPr lang="en-US" sz="1800" b="0" dirty="0">
                        <a:latin typeface="+mn-lt"/>
                        <a:cs typeface="Times New Roman" pitchFamily="18" charset="0"/>
                      </a:endParaRPr>
                    </a:p>
                  </a:txBody>
                  <a:tcPr/>
                </a:tc>
                <a:extLst>
                  <a:ext uri="{0D108BD9-81ED-4DB2-BD59-A6C34878D82A}">
                    <a16:rowId xmlns:a16="http://schemas.microsoft.com/office/drawing/2014/main" val="10008"/>
                  </a:ext>
                </a:extLst>
              </a:tr>
              <a:tr h="457831">
                <a:tc>
                  <a:txBody>
                    <a:bodyPr/>
                    <a:lstStyle/>
                    <a:p>
                      <a:r>
                        <a:rPr lang="en-US" sz="1800" b="0" dirty="0"/>
                        <a:t>18.</a:t>
                      </a:r>
                      <a:endParaRPr lang="en-US" sz="1800" b="0" dirty="0">
                        <a:latin typeface="+mn-lt"/>
                        <a:cs typeface="Times New Roman" pitchFamily="18" charset="0"/>
                      </a:endParaRPr>
                    </a:p>
                  </a:txBody>
                  <a:tcPr/>
                </a:tc>
                <a:tc>
                  <a:txBody>
                    <a:bodyPr/>
                    <a:lstStyle/>
                    <a:p>
                      <a:r>
                        <a:rPr lang="en-US" sz="1800" b="0" dirty="0"/>
                        <a:t>Unit</a:t>
                      </a:r>
                      <a:r>
                        <a:rPr lang="en-US" sz="1800" b="0" baseline="0" dirty="0"/>
                        <a:t> Objectives</a:t>
                      </a:r>
                      <a:endParaRPr lang="en-US" sz="1800" b="0" dirty="0">
                        <a:latin typeface="+mn-lt"/>
                        <a:cs typeface="Times New Roman" pitchFamily="18" charset="0"/>
                      </a:endParaRPr>
                    </a:p>
                  </a:txBody>
                  <a:tcPr/>
                </a:tc>
                <a:extLst>
                  <a:ext uri="{0D108BD9-81ED-4DB2-BD59-A6C34878D82A}">
                    <a16:rowId xmlns:a16="http://schemas.microsoft.com/office/drawing/2014/main" val="10009"/>
                  </a:ext>
                </a:extLst>
              </a:tr>
              <a:tr h="457831">
                <a:tc>
                  <a:txBody>
                    <a:bodyPr/>
                    <a:lstStyle/>
                    <a:p>
                      <a:r>
                        <a:rPr lang="en-US" sz="1800" b="0" dirty="0"/>
                        <a:t>19.</a:t>
                      </a:r>
                      <a:endParaRPr lang="en-US" sz="1800" b="0" dirty="0">
                        <a:latin typeface="+mn-lt"/>
                        <a:cs typeface="Times New Roman" pitchFamily="18" charset="0"/>
                      </a:endParaRPr>
                    </a:p>
                  </a:txBody>
                  <a:tcPr/>
                </a:tc>
                <a:tc>
                  <a:txBody>
                    <a:bodyPr/>
                    <a:lstStyle/>
                    <a:p>
                      <a:r>
                        <a:rPr lang="en-US" sz="1800" b="0" dirty="0"/>
                        <a:t>Topic Objectives/Topic Outcome</a:t>
                      </a:r>
                      <a:endParaRPr lang="en-US" sz="1800" b="0" dirty="0">
                        <a:latin typeface="+mn-lt"/>
                        <a:cs typeface="Times New Roman" pitchFamily="18" charset="0"/>
                      </a:endParaRPr>
                    </a:p>
                  </a:txBody>
                  <a:tcPr/>
                </a:tc>
                <a:extLst>
                  <a:ext uri="{0D108BD9-81ED-4DB2-BD59-A6C34878D82A}">
                    <a16:rowId xmlns:a16="http://schemas.microsoft.com/office/drawing/2014/main" val="10010"/>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C35B2CA4-6CC6-4442-9283-F363B51694A1}" type="datetime1">
              <a:rPr lang="en-US" smtClean="0"/>
              <a:t>8/20/2025</a:t>
            </a:fld>
            <a:endParaRPr lang="en-US" dirty="0"/>
          </a:p>
        </p:txBody>
      </p:sp>
      <p:sp>
        <p:nvSpPr>
          <p:cNvPr id="11" name="Footer Placeholder 10"/>
          <p:cNvSpPr>
            <a:spLocks noGrp="1"/>
          </p:cNvSpPr>
          <p:nvPr>
            <p:ph type="ftr" sz="quarter" idx="11"/>
          </p:nvPr>
        </p:nvSpPr>
        <p:spPr/>
        <p:txBody>
          <a:bodyPr/>
          <a:lstStyle/>
          <a:p>
            <a:r>
              <a:rPr lang="en-US"/>
              <a:t>Amit Kumar        Subject code: AOE0770       Finance for Engineers                 Unit 4</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614746145"/>
              </p:ext>
            </p:extLst>
          </p:nvPr>
        </p:nvGraphicFramePr>
        <p:xfrm>
          <a:off x="838200" y="1066800"/>
          <a:ext cx="10058400" cy="4592959"/>
        </p:xfrm>
        <a:graphic>
          <a:graphicData uri="http://schemas.openxmlformats.org/drawingml/2006/table">
            <a:tbl>
              <a:tblPr firstRow="1" bandRow="1">
                <a:tableStyleId>{7DF18680-E054-41AD-8BC1-D1AEF772440D}</a:tableStyleId>
              </a:tblPr>
              <a:tblGrid>
                <a:gridCol w="1862666">
                  <a:extLst>
                    <a:ext uri="{9D8B030D-6E8A-4147-A177-3AD203B41FA5}">
                      <a16:colId xmlns:a16="http://schemas.microsoft.com/office/drawing/2014/main" val="20000"/>
                    </a:ext>
                  </a:extLst>
                </a:gridCol>
                <a:gridCol w="8195734">
                  <a:extLst>
                    <a:ext uri="{9D8B030D-6E8A-4147-A177-3AD203B41FA5}">
                      <a16:colId xmlns:a16="http://schemas.microsoft.com/office/drawing/2014/main" val="20001"/>
                    </a:ext>
                  </a:extLst>
                </a:gridCol>
              </a:tblGrid>
              <a:tr h="395701">
                <a:tc>
                  <a:txBody>
                    <a:bodyPr/>
                    <a:lstStyle/>
                    <a:p>
                      <a:r>
                        <a:rPr lang="en-US" sz="1800" dirty="0"/>
                        <a:t>S. No.</a:t>
                      </a:r>
                    </a:p>
                  </a:txBody>
                  <a:tcPr/>
                </a:tc>
                <a:tc>
                  <a:txBody>
                    <a:bodyPr/>
                    <a:lstStyle/>
                    <a:p>
                      <a:pPr algn="l"/>
                      <a:r>
                        <a:rPr lang="en-US" sz="1800" dirty="0"/>
                        <a:t>Index</a:t>
                      </a:r>
                    </a:p>
                  </a:txBody>
                  <a:tcPr/>
                </a:tc>
                <a:extLst>
                  <a:ext uri="{0D108BD9-81ED-4DB2-BD59-A6C34878D82A}">
                    <a16:rowId xmlns:a16="http://schemas.microsoft.com/office/drawing/2014/main" val="10000"/>
                  </a:ext>
                </a:extLst>
              </a:tr>
              <a:tr h="466362">
                <a:tc>
                  <a:txBody>
                    <a:bodyPr/>
                    <a:lstStyle/>
                    <a:p>
                      <a:r>
                        <a:rPr lang="en-US" sz="1800" b="0" dirty="0"/>
                        <a:t>20.</a:t>
                      </a:r>
                      <a:endParaRPr lang="en-US" sz="1800" b="0" dirty="0">
                        <a:latin typeface="Times New Roman" pitchFamily="18" charset="0"/>
                        <a:cs typeface="Times New Roman" pitchFamily="18" charset="0"/>
                      </a:endParaRPr>
                    </a:p>
                  </a:txBody>
                  <a:tcPr/>
                </a:tc>
                <a:tc>
                  <a:txBody>
                    <a:bodyPr/>
                    <a:lstStyle/>
                    <a:p>
                      <a:r>
                        <a:rPr lang="en-US" sz="1800" b="0" dirty="0"/>
                        <a:t>Lecture related to topic</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466362">
                <a:tc>
                  <a:txBody>
                    <a:bodyPr/>
                    <a:lstStyle/>
                    <a:p>
                      <a:r>
                        <a:rPr lang="en-US" sz="1800" b="0" dirty="0"/>
                        <a:t>21.</a:t>
                      </a:r>
                      <a:endParaRPr lang="en-US" sz="1800" b="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dk1"/>
                          </a:solidFill>
                          <a:effectLst/>
                          <a:uLnTx/>
                          <a:uFillTx/>
                        </a:rPr>
                        <a:t>Daily Quiz</a:t>
                      </a:r>
                      <a:endParaRPr kumimoji="0" lang="en-US" sz="18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66362">
                <a:tc>
                  <a:txBody>
                    <a:bodyPr/>
                    <a:lstStyle/>
                    <a:p>
                      <a:r>
                        <a:rPr lang="en-US" sz="1800" b="0" dirty="0"/>
                        <a:t>22.</a:t>
                      </a:r>
                      <a:endParaRPr lang="en-US" sz="18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t>Weekly Assignment</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466362">
                <a:tc>
                  <a:txBody>
                    <a:bodyPr/>
                    <a:lstStyle/>
                    <a:p>
                      <a:r>
                        <a:rPr lang="en-US" sz="1800" b="0" dirty="0"/>
                        <a:t>23.</a:t>
                      </a:r>
                      <a:endParaRPr lang="en-US" sz="1800" b="0" dirty="0">
                        <a:latin typeface="Times New Roman" pitchFamily="18" charset="0"/>
                        <a:cs typeface="Times New Roman" pitchFamily="18" charset="0"/>
                      </a:endParaRPr>
                    </a:p>
                  </a:txBody>
                  <a:tcPr/>
                </a:tc>
                <a:tc>
                  <a:txBody>
                    <a:bodyPr/>
                    <a:lstStyle/>
                    <a:p>
                      <a:r>
                        <a:rPr lang="en-US" sz="1800" b="0" dirty="0"/>
                        <a:t>Topic Links</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466362">
                <a:tc>
                  <a:txBody>
                    <a:bodyPr/>
                    <a:lstStyle/>
                    <a:p>
                      <a:r>
                        <a:rPr lang="en-US" sz="1800" b="0" dirty="0"/>
                        <a:t>24.</a:t>
                      </a:r>
                      <a:endParaRPr lang="en-US" sz="1800" b="0" dirty="0">
                        <a:latin typeface="Times New Roman" pitchFamily="18" charset="0"/>
                        <a:cs typeface="Times New Roman" pitchFamily="18" charset="0"/>
                      </a:endParaRPr>
                    </a:p>
                  </a:txBody>
                  <a:tcPr/>
                </a:tc>
                <a:tc>
                  <a:txBody>
                    <a:bodyPr/>
                    <a:lstStyle/>
                    <a:p>
                      <a:r>
                        <a:rPr lang="en-US" sz="1800" b="0" dirty="0"/>
                        <a:t>MCQs</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466362">
                <a:tc>
                  <a:txBody>
                    <a:bodyPr/>
                    <a:lstStyle/>
                    <a:p>
                      <a:r>
                        <a:rPr lang="en-US" sz="1800" b="0" dirty="0"/>
                        <a:t>25.</a:t>
                      </a:r>
                      <a:endParaRPr lang="en-US" sz="18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a:t>Glossary Questions</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466362">
                <a:tc>
                  <a:txBody>
                    <a:bodyPr/>
                    <a:lstStyle/>
                    <a:p>
                      <a:r>
                        <a:rPr lang="en-US" sz="1800" b="0" dirty="0"/>
                        <a:t>26.</a:t>
                      </a:r>
                      <a:endParaRPr lang="en-US" sz="1800" b="0" dirty="0">
                        <a:latin typeface="Times New Roman" pitchFamily="18" charset="0"/>
                        <a:cs typeface="Times New Roman" pitchFamily="18" charset="0"/>
                      </a:endParaRPr>
                    </a:p>
                  </a:txBody>
                  <a:tcPr/>
                </a:tc>
                <a:tc>
                  <a:txBody>
                    <a:bodyPr/>
                    <a:lstStyle/>
                    <a:p>
                      <a:r>
                        <a:rPr lang="en-US" sz="1800" b="0" dirty="0"/>
                        <a:t>Old question papers</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466362">
                <a:tc>
                  <a:txBody>
                    <a:bodyPr/>
                    <a:lstStyle/>
                    <a:p>
                      <a:r>
                        <a:rPr lang="en-US" sz="1800" b="0" dirty="0"/>
                        <a:t>27.</a:t>
                      </a:r>
                      <a:endParaRPr lang="en-US" sz="1800" b="0" dirty="0">
                        <a:latin typeface="Times New Roman" pitchFamily="18" charset="0"/>
                        <a:cs typeface="Times New Roman" pitchFamily="18" charset="0"/>
                      </a:endParaRPr>
                    </a:p>
                  </a:txBody>
                  <a:tcPr/>
                </a:tc>
                <a:tc>
                  <a:txBody>
                    <a:bodyPr/>
                    <a:lstStyle/>
                    <a:p>
                      <a:r>
                        <a:rPr lang="en-US" sz="1800" b="0" dirty="0"/>
                        <a:t>Expected Questions</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466362">
                <a:tc>
                  <a:txBody>
                    <a:bodyPr/>
                    <a:lstStyle/>
                    <a:p>
                      <a:r>
                        <a:rPr lang="en-US" sz="1800" b="0" dirty="0"/>
                        <a:t>28.</a:t>
                      </a:r>
                      <a:endParaRPr lang="en-US" sz="1800" b="0" dirty="0">
                        <a:latin typeface="Times New Roman" pitchFamily="18" charset="0"/>
                        <a:cs typeface="Times New Roman" pitchFamily="18" charset="0"/>
                      </a:endParaRPr>
                    </a:p>
                  </a:txBody>
                  <a:tcPr/>
                </a:tc>
                <a:tc>
                  <a:txBody>
                    <a:bodyPr/>
                    <a:lstStyle/>
                    <a:p>
                      <a:r>
                        <a:rPr lang="en-US" sz="1800" b="0" dirty="0"/>
                        <a:t>Recap of unit</a:t>
                      </a:r>
                      <a:endParaRPr lang="en-US" sz="1800" b="0" dirty="0">
                        <a:latin typeface="Times New Roman" pitchFamily="18" charset="0"/>
                        <a:cs typeface="Times New Roman" pitchFamily="18" charset="0"/>
                      </a:endParaRP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828800" y="3"/>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47BD7F13-BD33-4CC1-A02A-DA3001FBF2B8}" type="datetime1">
              <a:rPr lang="en-US" smtClean="0"/>
              <a:t>8/20/2025</a:t>
            </a:fld>
            <a:endParaRPr lang="en-US" dirty="0"/>
          </a:p>
        </p:txBody>
      </p:sp>
      <p:sp>
        <p:nvSpPr>
          <p:cNvPr id="11" name="Footer Placeholder 10"/>
          <p:cNvSpPr>
            <a:spLocks noGrp="1"/>
          </p:cNvSpPr>
          <p:nvPr>
            <p:ph type="ftr" sz="quarter" idx="11"/>
          </p:nvPr>
        </p:nvSpPr>
        <p:spPr>
          <a:xfrm>
            <a:off x="3048000" y="6356353"/>
            <a:ext cx="6324600" cy="365125"/>
          </a:xfrm>
        </p:spPr>
        <p:txBody>
          <a:bodyPr/>
          <a:lstStyle/>
          <a:p>
            <a:r>
              <a:rPr lang="en-US"/>
              <a:t>Amit Kumar        Subject code: AOE0770       Finance for Engineers                 Unit 4</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399" y="2"/>
            <a:ext cx="10515601"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6" name="Subtitle 2"/>
          <p:cNvSpPr txBox="1">
            <a:spLocks/>
          </p:cNvSpPr>
          <p:nvPr/>
        </p:nvSpPr>
        <p:spPr>
          <a:xfrm>
            <a:off x="914401" y="1066800"/>
            <a:ext cx="10210800" cy="4800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buNone/>
            </a:pPr>
            <a:r>
              <a:rPr lang="en-IN" sz="2400" dirty="0"/>
              <a:t>Amit Kumar</a:t>
            </a:r>
          </a:p>
          <a:p>
            <a:pPr>
              <a:buNone/>
            </a:pPr>
            <a:r>
              <a:rPr lang="en-IN" sz="2400" dirty="0"/>
              <a:t>Assistant Professor</a:t>
            </a:r>
          </a:p>
          <a:p>
            <a:pPr>
              <a:buNone/>
            </a:pPr>
            <a:r>
              <a:rPr lang="en-IN" sz="2400" dirty="0"/>
              <a:t>Department: Management Studies (MBA)</a:t>
            </a:r>
          </a:p>
          <a:p>
            <a:pPr>
              <a:buNone/>
            </a:pPr>
            <a:r>
              <a:rPr lang="en-IN" sz="2400" dirty="0"/>
              <a:t>Email ID: amitkumar.mba@niet.co.in</a:t>
            </a:r>
          </a:p>
          <a:p>
            <a:pPr>
              <a:buNone/>
            </a:pPr>
            <a:r>
              <a:rPr lang="en-IN" sz="2400" dirty="0"/>
              <a:t>Qualification: </a:t>
            </a:r>
            <a:r>
              <a:rPr lang="en-IN" sz="2400" dirty="0" err="1"/>
              <a:t>B.Com</a:t>
            </a:r>
            <a:r>
              <a:rPr lang="en-IN" sz="2400" dirty="0"/>
              <a:t>, </a:t>
            </a:r>
            <a:r>
              <a:rPr lang="en-IN" sz="2400" dirty="0" err="1"/>
              <a:t>M.Com</a:t>
            </a:r>
            <a:endParaRPr lang="en-IN" sz="2400" dirty="0"/>
          </a:p>
          <a:p>
            <a:pPr>
              <a:buNone/>
            </a:pPr>
            <a:r>
              <a:rPr lang="en-IN" sz="2400" dirty="0"/>
              <a:t>Specialisation: Finance</a:t>
            </a:r>
          </a:p>
          <a:p>
            <a:pPr lvl="0">
              <a:spcBef>
                <a:spcPct val="20000"/>
              </a:spcBef>
              <a:defRPr/>
            </a:pPr>
            <a:endParaRPr lang="en-US" sz="2400" dirty="0">
              <a:solidFill>
                <a:schemeClr val="tx1"/>
              </a:solidFill>
            </a:endParaRPr>
          </a:p>
          <a:p>
            <a:pPr>
              <a:spcBef>
                <a:spcPct val="20000"/>
              </a:spcBef>
              <a:defRPr/>
            </a:pPr>
            <a:endParaRPr lang="en-US" sz="2400" dirty="0">
              <a:solidFill>
                <a:schemeClr val="tx1"/>
              </a:solidFill>
            </a:endParaRPr>
          </a:p>
        </p:txBody>
      </p:sp>
      <p:sp>
        <p:nvSpPr>
          <p:cNvPr id="9" name="Date Placeholder 8"/>
          <p:cNvSpPr>
            <a:spLocks noGrp="1"/>
          </p:cNvSpPr>
          <p:nvPr>
            <p:ph type="dt" sz="half" idx="10"/>
          </p:nvPr>
        </p:nvSpPr>
        <p:spPr>
          <a:xfrm>
            <a:off x="1905000" y="6492876"/>
            <a:ext cx="2133600" cy="365125"/>
          </a:xfrm>
        </p:spPr>
        <p:txBody>
          <a:bodyPr/>
          <a:lstStyle/>
          <a:p>
            <a:fld id="{6FE013B3-447D-4F22-9BB9-A99E5DCE047F}"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5</a:t>
            </a:fld>
            <a:endParaRPr lang="en-US" dirty="0"/>
          </a:p>
        </p:txBody>
      </p:sp>
      <p:sp>
        <p:nvSpPr>
          <p:cNvPr id="13" name="Footer Placeholder 12"/>
          <p:cNvSpPr>
            <a:spLocks noGrp="1"/>
          </p:cNvSpPr>
          <p:nvPr>
            <p:ph type="ftr" sz="quarter" idx="11"/>
          </p:nvPr>
        </p:nvSpPr>
        <p:spPr>
          <a:xfrm>
            <a:off x="3124200" y="6248401"/>
            <a:ext cx="6781800" cy="365125"/>
          </a:xfrm>
        </p:spPr>
        <p:txBody>
          <a:bodyPr/>
          <a:lstStyle/>
          <a:p>
            <a:r>
              <a:rPr lang="en-US">
                <a:solidFill>
                  <a:schemeClr val="tx1"/>
                </a:solidFill>
              </a:rPr>
              <a:t>Amit Kumar        Subject code: AOE0770       Finance for Engineers                 Unit 4</a:t>
            </a:r>
            <a:endParaRPr lang="en-US" dirty="0">
              <a:solidFill>
                <a:schemeClr val="tx1"/>
              </a:solidFill>
            </a:endParaRPr>
          </a:p>
        </p:txBody>
      </p:sp>
      <p:sp>
        <p:nvSpPr>
          <p:cNvPr id="2050" name="AutoShape 2"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244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FCB9B87-FCBE-4FCD-9B29-B54C13C57B15}"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752600" y="2"/>
            <a:ext cx="10439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mj-lt"/>
                <a:cs typeface="Arial" panose="020B0604020202020204" pitchFamily="34" charset="0"/>
              </a:rPr>
              <a:t>Syllabus</a:t>
            </a:r>
          </a:p>
        </p:txBody>
      </p:sp>
      <p:sp>
        <p:nvSpPr>
          <p:cNvPr id="9" name="Content Placeholder 8"/>
          <p:cNvSpPr>
            <a:spLocks noGrp="1"/>
          </p:cNvSpPr>
          <p:nvPr>
            <p:ph idx="1"/>
          </p:nvPr>
        </p:nvSpPr>
        <p:spPr>
          <a:xfrm>
            <a:off x="838200" y="1066800"/>
            <a:ext cx="11125200" cy="3711785"/>
          </a:xfrm>
          <a:prstGeom prst="rect">
            <a:avLst/>
          </a:prstGeom>
          <a:noFill/>
        </p:spPr>
        <p:txBody>
          <a:bodyPr vert="horz" wrap="square" lIns="91440" tIns="45720" rIns="91440" bIns="45720" rtlCol="0">
            <a:spAutoFit/>
          </a:bodyPr>
          <a:lstStyle/>
          <a:p>
            <a:pPr algn="just"/>
            <a:r>
              <a:rPr lang="en-US" sz="2400" b="1" dirty="0"/>
              <a:t>Course Contents / Syllabus</a:t>
            </a:r>
            <a:endParaRPr lang="en-US" sz="2400" dirty="0"/>
          </a:p>
          <a:p>
            <a:pPr>
              <a:buNone/>
            </a:pPr>
            <a:r>
              <a:rPr lang="en-US" sz="2400" b="1" dirty="0"/>
              <a:t>UNIT-I             Basics of Accounting                                   Hours- 9</a:t>
            </a:r>
            <a:endParaRPr lang="en-US" sz="2400" dirty="0"/>
          </a:p>
          <a:p>
            <a:pPr algn="just"/>
            <a:r>
              <a:rPr lang="en-US" sz="2400" dirty="0"/>
              <a:t>Basics of Accounting: Principles of Accounting , Concept of debit &amp; credit, Books of accounts, Journal, Ledgers, Basic Accounting terminologies, Overview to Deprecation (straight line and diminishing method)</a:t>
            </a:r>
          </a:p>
          <a:p>
            <a:pPr>
              <a:buNone/>
            </a:pPr>
            <a:r>
              <a:rPr lang="en-US" sz="2400" b="1" dirty="0"/>
              <a:t>UNIT-II                      Financial Statements Analysis         Hours-9</a:t>
            </a:r>
            <a:endParaRPr lang="en-US" sz="2400" dirty="0"/>
          </a:p>
          <a:p>
            <a:pPr algn="just"/>
            <a:r>
              <a:rPr lang="en-US" sz="2400" dirty="0"/>
              <a:t>Financial Statements: Income statement &amp; Position statement: Preparation and analysis Key financial ratios, their interpretation, comparison of ratio with competition to identify improvement areas</a:t>
            </a:r>
          </a:p>
        </p:txBody>
      </p:sp>
    </p:spTree>
    <p:extLst>
      <p:ext uri="{BB962C8B-B14F-4D97-AF65-F5344CB8AC3E}">
        <p14:creationId xmlns:p14="http://schemas.microsoft.com/office/powerpoint/2010/main" val="3387897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457E33-0BAE-4CCB-B613-AEECF1AA42A7}"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304800" y="990600"/>
            <a:ext cx="11658600" cy="3268587"/>
          </a:xfrm>
          <a:prstGeom prst="rect">
            <a:avLst/>
          </a:prstGeom>
          <a:noFill/>
        </p:spPr>
        <p:txBody>
          <a:bodyPr vert="horz" wrap="square" lIns="91440" tIns="45720" rIns="91440" bIns="45720" rtlCol="0">
            <a:spAutoFit/>
          </a:bodyPr>
          <a:lstStyle/>
          <a:p>
            <a:pPr>
              <a:buNone/>
            </a:pPr>
            <a:r>
              <a:rPr lang="en-US" sz="2400" b="1" dirty="0"/>
              <a:t>UNIT-III                           Project Finance                           Hours-8</a:t>
            </a:r>
            <a:endParaRPr lang="en-US" sz="2400" dirty="0"/>
          </a:p>
          <a:p>
            <a:pPr algn="just"/>
            <a:r>
              <a:rPr lang="en-US" sz="2400" dirty="0"/>
              <a:t>Appraisal of projects: Techniques, Finance for Startups- </a:t>
            </a:r>
            <a:r>
              <a:rPr lang="en-US" sz="2400" dirty="0" err="1"/>
              <a:t>Govt</a:t>
            </a:r>
            <a:r>
              <a:rPr lang="en-US" sz="2400" dirty="0"/>
              <a:t> Schemes / PSU &amp;PSE Bank Finance, Bank Scrutiny for approvals etc., Project Budgeting, </a:t>
            </a:r>
            <a:r>
              <a:rPr lang="en-US" sz="2400" dirty="0" err="1"/>
              <a:t>Capex</a:t>
            </a:r>
            <a:r>
              <a:rPr lang="en-US" sz="2400" dirty="0"/>
              <a:t>, </a:t>
            </a:r>
            <a:r>
              <a:rPr lang="en-US" sz="2400" dirty="0" err="1"/>
              <a:t>Opex</a:t>
            </a:r>
            <a:r>
              <a:rPr lang="en-US" sz="2400" dirty="0"/>
              <a:t> and Importance of tracking cost of projects in execution,	</a:t>
            </a:r>
          </a:p>
          <a:p>
            <a:pPr>
              <a:buNone/>
            </a:pPr>
            <a:r>
              <a:rPr lang="en-US" sz="2400" b="1" dirty="0"/>
              <a:t>UNIT-IV            Working Capital Management                 Hours-8</a:t>
            </a:r>
            <a:endParaRPr lang="en-US" sz="2400" dirty="0"/>
          </a:p>
          <a:p>
            <a:pPr algn="just"/>
            <a:r>
              <a:rPr lang="en-US" sz="2400" dirty="0"/>
              <a:t>Concepts of Working Capital and its types, Approaches to working capital, Inventory management: Nature, Objective, Techniques of inventory management, Cash Management: Objectives, preparation of Cash Flow Statement and its analysis.</a:t>
            </a:r>
          </a:p>
        </p:txBody>
      </p:sp>
    </p:spTree>
    <p:extLst>
      <p:ext uri="{BB962C8B-B14F-4D97-AF65-F5344CB8AC3E}">
        <p14:creationId xmlns:p14="http://schemas.microsoft.com/office/powerpoint/2010/main" val="3980534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343C79-B936-4679-BDC9-971C21A9C0EC}"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304800" y="1085948"/>
            <a:ext cx="11734800" cy="1274195"/>
          </a:xfrm>
          <a:prstGeom prst="rect">
            <a:avLst/>
          </a:prstGeom>
          <a:noFill/>
        </p:spPr>
        <p:txBody>
          <a:bodyPr vert="horz" wrap="square" lIns="91440" tIns="45720" rIns="91440" bIns="45720" rtlCol="0">
            <a:spAutoFit/>
          </a:bodyPr>
          <a:lstStyle/>
          <a:p>
            <a:pPr>
              <a:buNone/>
            </a:pPr>
            <a:r>
              <a:rPr lang="en-US" sz="2400" b="1" dirty="0"/>
              <a:t>UNIT-V                    Financial Products &amp; Services             Hours-6</a:t>
            </a:r>
            <a:endParaRPr lang="en-US" sz="2400" dirty="0"/>
          </a:p>
          <a:p>
            <a:pPr algn="just"/>
            <a:r>
              <a:rPr lang="en-US" sz="2400" dirty="0"/>
              <a:t>Introduction to Personal Financial Portfolio Management, Key Options of Savings &amp;Investment – Debt, Equity, etc. Brief Introduction to Mutual Funds and Stock Market</a:t>
            </a:r>
          </a:p>
        </p:txBody>
      </p:sp>
    </p:spTree>
    <p:extLst>
      <p:ext uri="{BB962C8B-B14F-4D97-AF65-F5344CB8AC3E}">
        <p14:creationId xmlns:p14="http://schemas.microsoft.com/office/powerpoint/2010/main" val="2633750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7FBD2B-3655-49FA-A2C0-FB542A8B0594}"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Branch wise Applications </a:t>
            </a:r>
            <a:endParaRPr lang="en-US" sz="2800" b="1" dirty="0">
              <a:latin typeface="Arial" panose="020B0604020202020204" pitchFamily="34" charset="0"/>
              <a:cs typeface="Arial" panose="020B0604020202020204" pitchFamily="34" charset="0"/>
            </a:endParaRPr>
          </a:p>
        </p:txBody>
      </p:sp>
      <p:sp>
        <p:nvSpPr>
          <p:cNvPr id="9" name="Content Placeholder 8"/>
          <p:cNvSpPr>
            <a:spLocks noGrp="1"/>
          </p:cNvSpPr>
          <p:nvPr>
            <p:ph idx="1"/>
          </p:nvPr>
        </p:nvSpPr>
        <p:spPr>
          <a:xfrm>
            <a:off x="304800" y="926519"/>
            <a:ext cx="11658600" cy="4081117"/>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Financial accounting can be used in short-term and long-term decisions involving the financial health of a company. </a:t>
            </a:r>
          </a:p>
          <a:p>
            <a:pPr marL="285750" indent="-285750" algn="just"/>
            <a:r>
              <a:rPr lang="en-US" sz="2400" dirty="0">
                <a:solidFill>
                  <a:srgbClr val="111111"/>
                </a:solidFill>
              </a:rPr>
              <a:t>Financial accounting helps managers make operational decisions–intended to help increase the company's operational efficiency–which also helps in making long-term investment decisions. </a:t>
            </a:r>
          </a:p>
          <a:p>
            <a:pPr marL="285750" indent="-285750" algn="just"/>
            <a:r>
              <a:rPr lang="en-US" sz="2400" dirty="0">
                <a:solidFill>
                  <a:srgbClr val="111111"/>
                </a:solidFill>
              </a:rPr>
              <a:t>Forecasting, monitoring, and tracking performance is a critical aspect of managerial accounting to ensure actual results meet the budgets and forecasts outlined at the onset.</a:t>
            </a:r>
          </a:p>
          <a:p>
            <a:pPr algn="just"/>
            <a:r>
              <a:rPr lang="en-US" sz="2400" dirty="0">
                <a:solidFill>
                  <a:srgbClr val="111111"/>
                </a:solidFill>
              </a:rPr>
              <a:t> Financial accounting is the type of accounting that provides financial information to top and middle level management in a company.</a:t>
            </a:r>
          </a:p>
          <a:p>
            <a:pPr algn="just">
              <a:buNone/>
            </a:pPr>
            <a:endParaRPr lang="en-US" sz="2400" dirty="0"/>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55522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668EF3-73AB-4C19-B72B-7047745E0EE1}"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Branch wise Applications </a:t>
            </a:r>
            <a:endParaRPr lang="en-US" sz="2800" b="1" dirty="0">
              <a:latin typeface="Arial" panose="020B0604020202020204" pitchFamily="34" charset="0"/>
              <a:cs typeface="Arial" panose="020B0604020202020204" pitchFamily="34" charset="0"/>
            </a:endParaRPr>
          </a:p>
        </p:txBody>
      </p:sp>
      <p:sp>
        <p:nvSpPr>
          <p:cNvPr id="9" name="Content Placeholder 8"/>
          <p:cNvSpPr>
            <a:spLocks noGrp="1"/>
          </p:cNvSpPr>
          <p:nvPr>
            <p:ph idx="1"/>
          </p:nvPr>
        </p:nvSpPr>
        <p:spPr>
          <a:xfrm>
            <a:off x="228600" y="990600"/>
            <a:ext cx="11811000" cy="2086725"/>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Financial accounting often involves various financial metrics, including revenue, sales, operating expenses, and cost controls.</a:t>
            </a:r>
          </a:p>
          <a:p>
            <a:pPr marL="285750" indent="-285750" algn="just"/>
            <a:endParaRPr lang="en-US" sz="2400" dirty="0">
              <a:solidFill>
                <a:srgbClr val="111111"/>
              </a:solidFill>
            </a:endParaRPr>
          </a:p>
          <a:p>
            <a:pPr algn="just"/>
            <a:r>
              <a:rPr lang="en-US" sz="2400" dirty="0">
                <a:solidFill>
                  <a:srgbClr val="111111"/>
                </a:solidFill>
              </a:rPr>
              <a:t> Financial accounting helps companies plan, forecast, and budget at an enterprise-wide level to ensure the company's long-term success.</a:t>
            </a:r>
            <a:endParaRPr lang="en-US" sz="2400" dirty="0"/>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55522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360C51-A7C7-496F-9159-FF8744C52597}"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Result Analysis</a:t>
            </a:r>
            <a:endParaRPr lang="en-US" sz="2800" b="1" dirty="0">
              <a:latin typeface="Arial" panose="020B0604020202020204" pitchFamily="34" charset="0"/>
              <a:cs typeface="Arial" panose="020B0604020202020204" pitchFamily="34" charset="0"/>
            </a:endParaRPr>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graphicFrame>
        <p:nvGraphicFramePr>
          <p:cNvPr id="11" name="Table 10"/>
          <p:cNvGraphicFramePr>
            <a:graphicFrameLocks noGrp="1"/>
          </p:cNvGraphicFramePr>
          <p:nvPr>
            <p:extLst>
              <p:ext uri="{D42A27DB-BD31-4B8C-83A1-F6EECF244321}">
                <p14:modId xmlns:p14="http://schemas.microsoft.com/office/powerpoint/2010/main" val="476380513"/>
              </p:ext>
            </p:extLst>
          </p:nvPr>
        </p:nvGraphicFramePr>
        <p:xfrm>
          <a:off x="1981200" y="1295401"/>
          <a:ext cx="8077200" cy="1374775"/>
        </p:xfrm>
        <a:graphic>
          <a:graphicData uri="http://schemas.openxmlformats.org/drawingml/2006/table">
            <a:tbl>
              <a:tblPr firstRow="1" bandRow="1">
                <a:tableStyleId>{7DF18680-E054-41AD-8BC1-D1AEF772440D}</a:tableStyleId>
              </a:tblPr>
              <a:tblGrid>
                <a:gridCol w="9906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377825">
                <a:tc>
                  <a:txBody>
                    <a:bodyPr/>
                    <a:lstStyle/>
                    <a:p>
                      <a:pPr algn="ctr"/>
                      <a:r>
                        <a:rPr lang="en-US" sz="2400" dirty="0"/>
                        <a:t>S. No.</a:t>
                      </a:r>
                    </a:p>
                  </a:txBody>
                  <a:tcPr/>
                </a:tc>
                <a:tc>
                  <a:txBody>
                    <a:bodyPr/>
                    <a:lstStyle/>
                    <a:p>
                      <a:pPr algn="ctr"/>
                      <a:r>
                        <a:rPr lang="en-US" sz="2400" dirty="0"/>
                        <a:t>Subject &amp; Code</a:t>
                      </a:r>
                    </a:p>
                  </a:txBody>
                  <a:tcPr/>
                </a:tc>
                <a:tc>
                  <a:txBody>
                    <a:bodyPr/>
                    <a:lstStyle/>
                    <a:p>
                      <a:pPr algn="ctr"/>
                      <a:r>
                        <a:rPr lang="en-US" sz="2400" dirty="0"/>
                        <a:t>Batch</a:t>
                      </a:r>
                    </a:p>
                  </a:txBody>
                  <a:tcPr/>
                </a:tc>
                <a:tc>
                  <a:txBody>
                    <a:bodyPr/>
                    <a:lstStyle/>
                    <a:p>
                      <a:pPr algn="ctr"/>
                      <a:r>
                        <a:rPr lang="en-US" sz="2400" dirty="0"/>
                        <a:t>Result(%)</a:t>
                      </a:r>
                    </a:p>
                  </a:txBody>
                  <a:tcPr/>
                </a:tc>
                <a:extLst>
                  <a:ext uri="{0D108BD9-81ED-4DB2-BD59-A6C34878D82A}">
                    <a16:rowId xmlns:a16="http://schemas.microsoft.com/office/drawing/2014/main" val="10000"/>
                  </a:ext>
                </a:extLst>
              </a:tr>
              <a:tr h="917575">
                <a:tc>
                  <a:txBody>
                    <a:bodyPr/>
                    <a:lstStyle/>
                    <a:p>
                      <a:r>
                        <a:rPr lang="en-US" dirty="0"/>
                        <a:t>      </a:t>
                      </a:r>
                    </a:p>
                    <a:p>
                      <a:r>
                        <a:rPr lang="en-US" dirty="0"/>
                        <a:t>     1.</a:t>
                      </a:r>
                    </a:p>
                  </a:txBody>
                  <a:tcPr/>
                </a:tc>
                <a:tc>
                  <a:txBody>
                    <a:bodyPr/>
                    <a:lstStyle/>
                    <a:p>
                      <a:r>
                        <a:rPr lang="en-US" dirty="0"/>
                        <a:t>Finance</a:t>
                      </a:r>
                      <a:r>
                        <a:rPr lang="en-US" baseline="0" dirty="0"/>
                        <a:t> for Engineers(AOE0770)</a:t>
                      </a:r>
                      <a:endParaRPr lang="en-US" dirty="0"/>
                    </a:p>
                  </a:txBody>
                  <a:tcPr/>
                </a:tc>
                <a:tc>
                  <a:txBody>
                    <a:bodyPr/>
                    <a:lstStyle/>
                    <a:p>
                      <a:pPr algn="ctr"/>
                      <a:r>
                        <a:rPr lang="en-US" dirty="0"/>
                        <a:t>2020-24</a:t>
                      </a:r>
                    </a:p>
                  </a:txBody>
                  <a:tcPr/>
                </a:tc>
                <a:tc>
                  <a:txBody>
                    <a:bodyPr/>
                    <a:lstStyle/>
                    <a:p>
                      <a:pPr algn="ctr"/>
                      <a:r>
                        <a:rPr lang="en-US" dirty="0"/>
                        <a:t>Not Available</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5522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1166018"/>
            <a:ext cx="11074400" cy="4525963"/>
          </a:xfrm>
        </p:spPr>
        <p:txBody>
          <a:bodyPr>
            <a:normAutofit/>
          </a:bodyPr>
          <a:lstStyle/>
          <a:p>
            <a:r>
              <a:rPr lang="en-IN" sz="2600" b="1" dirty="0">
                <a:latin typeface="+mj-lt"/>
                <a:cs typeface="Times New Roman" pitchFamily="18" charset="0"/>
              </a:rPr>
              <a:t>Students will be able to know the following concepts:</a:t>
            </a:r>
          </a:p>
          <a:p>
            <a:pPr algn="just"/>
            <a:r>
              <a:rPr lang="en-US" sz="2400" dirty="0">
                <a:latin typeface="Times New Roman" pitchFamily="18" charset="0"/>
                <a:cs typeface="Times New Roman" pitchFamily="18" charset="0"/>
              </a:rPr>
              <a:t>Working Capital</a:t>
            </a:r>
          </a:p>
          <a:p>
            <a:pPr algn="just"/>
            <a:r>
              <a:rPr lang="en-US" sz="2400" cap="all" dirty="0">
                <a:latin typeface="Times New Roman" pitchFamily="18" charset="0"/>
                <a:cs typeface="Times New Roman" pitchFamily="18" charset="0"/>
              </a:rPr>
              <a:t>T</a:t>
            </a:r>
            <a:r>
              <a:rPr lang="en-US" sz="2400" dirty="0">
                <a:latin typeface="Times New Roman" pitchFamily="18" charset="0"/>
                <a:cs typeface="Times New Roman" pitchFamily="18" charset="0"/>
              </a:rPr>
              <a:t>ypes of working capital</a:t>
            </a:r>
            <a:endParaRPr lang="en-US" sz="2400" cap="all"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Importance of Working Capital</a:t>
            </a:r>
          </a:p>
          <a:p>
            <a:pPr algn="just"/>
            <a:r>
              <a:rPr lang="en-US" sz="2400" dirty="0">
                <a:latin typeface="Times New Roman" pitchFamily="18" charset="0"/>
                <a:cs typeface="Times New Roman" pitchFamily="18" charset="0"/>
              </a:rPr>
              <a:t>Operating Cycle of Working Capital</a:t>
            </a:r>
          </a:p>
        </p:txBody>
      </p:sp>
      <p:sp>
        <p:nvSpPr>
          <p:cNvPr id="4" name="Date Placeholder 3"/>
          <p:cNvSpPr>
            <a:spLocks noGrp="1"/>
          </p:cNvSpPr>
          <p:nvPr>
            <p:ph type="dt" sz="half" idx="10"/>
          </p:nvPr>
        </p:nvSpPr>
        <p:spPr/>
        <p:txBody>
          <a:bodyPr/>
          <a:lstStyle/>
          <a:p>
            <a:fld id="{7C3448C9-3B5B-4691-ADC4-FB02E03EFE39}"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latin typeface="+mj-lt"/>
                <a:cs typeface="Times New Roman" pitchFamily="18" charset="0"/>
              </a:rPr>
              <a:t>Session Learning Objectives</a:t>
            </a:r>
          </a:p>
        </p:txBody>
      </p:sp>
      <p:sp>
        <p:nvSpPr>
          <p:cNvPr id="9" name="Footer Placeholder 8"/>
          <p:cNvSpPr>
            <a:spLocks noGrp="1"/>
          </p:cNvSpPr>
          <p:nvPr>
            <p:ph type="ftr" sz="quarter" idx="11"/>
          </p:nvPr>
        </p:nvSpPr>
        <p:spPr>
          <a:xfrm>
            <a:off x="3505200" y="6356351"/>
            <a:ext cx="6096000" cy="365125"/>
          </a:xfrm>
        </p:spPr>
        <p:txBody>
          <a:bodyPr/>
          <a:lstStyle/>
          <a:p>
            <a:r>
              <a:rPr lang="en-US"/>
              <a:t>Amit Kumar        Subject code: AOE0770       Finance for Engineers                 Unit 4</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66018"/>
            <a:ext cx="11734800" cy="4525963"/>
          </a:xfrm>
        </p:spPr>
        <p:txBody>
          <a:bodyPr>
            <a:normAutofit/>
          </a:bodyPr>
          <a:lstStyle/>
          <a:p>
            <a:r>
              <a:rPr lang="en-US" sz="2800" b="1" dirty="0"/>
              <a:t>Working Capital</a:t>
            </a:r>
          </a:p>
          <a:p>
            <a:r>
              <a:rPr lang="en-US" sz="2200" dirty="0"/>
              <a:t>The capital of a business which is used in its day-to-day trading operations, calculated as the current assets minus the current liabilities.</a:t>
            </a:r>
          </a:p>
          <a:p>
            <a:r>
              <a:rPr lang="en-US" sz="2800" b="1" dirty="0"/>
              <a:t>Working Capital Management</a:t>
            </a:r>
          </a:p>
          <a:p>
            <a:r>
              <a:rPr lang="en-US" sz="2200" dirty="0"/>
              <a:t>The goal of </a:t>
            </a:r>
            <a:r>
              <a:rPr lang="en-US" sz="2200" b="1" dirty="0"/>
              <a:t>working capital management</a:t>
            </a:r>
            <a:r>
              <a:rPr lang="en-US" sz="2200" dirty="0"/>
              <a:t> is to ensure that a firm is able to continue its operations and that it has sufficient ability to satisfy both maturing short-term debt and upcoming operational expenses. The </a:t>
            </a:r>
            <a:r>
              <a:rPr lang="en-US" sz="2200" b="1" dirty="0"/>
              <a:t>management</a:t>
            </a:r>
            <a:r>
              <a:rPr lang="en-US" sz="2200" dirty="0"/>
              <a:t> of </a:t>
            </a:r>
            <a:r>
              <a:rPr lang="en-US" sz="2200" b="1" dirty="0"/>
              <a:t>working capital</a:t>
            </a:r>
            <a:r>
              <a:rPr lang="en-US" sz="2200" dirty="0"/>
              <a:t> involves </a:t>
            </a:r>
            <a:r>
              <a:rPr lang="en-US" sz="2200" b="1" dirty="0"/>
              <a:t>managing</a:t>
            </a:r>
            <a:r>
              <a:rPr lang="en-US" sz="2200" dirty="0"/>
              <a:t> inventories, accounts receivable and payable, and cash.</a:t>
            </a:r>
          </a:p>
          <a:p>
            <a:pPr>
              <a:buNone/>
            </a:pPr>
            <a:endParaRPr lang="en-US" sz="2200" dirty="0">
              <a:latin typeface="Arial"/>
              <a:cs typeface="Arial"/>
            </a:endParaRPr>
          </a:p>
          <a:p>
            <a:endParaRPr lang="en-US" sz="2400" dirty="0">
              <a:latin typeface="Arial"/>
              <a:cs typeface="Arial"/>
            </a:endParaRPr>
          </a:p>
          <a:p>
            <a:endParaRPr lang="en-US" sz="2400" dirty="0">
              <a:latin typeface="Arial"/>
              <a:cs typeface="Arial"/>
            </a:endParaRPr>
          </a:p>
        </p:txBody>
      </p:sp>
      <p:sp>
        <p:nvSpPr>
          <p:cNvPr id="6" name="Date Placeholder 5"/>
          <p:cNvSpPr>
            <a:spLocks noGrp="1"/>
          </p:cNvSpPr>
          <p:nvPr>
            <p:ph type="dt" sz="half" idx="10"/>
          </p:nvPr>
        </p:nvSpPr>
        <p:spPr/>
        <p:txBody>
          <a:bodyPr/>
          <a:lstStyle/>
          <a:p>
            <a:fld id="{8A6BC297-7EE9-45E7-B0DC-3486D8C6554E}" type="datetime1">
              <a:rPr lang="en-US" smtClean="0"/>
              <a:t>8/20/2025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
        <p:nvSpPr>
          <p:cNvPr id="8"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t>                                    </a:t>
            </a:r>
            <a:r>
              <a:rPr lang="en-US" sz="3000" dirty="0"/>
              <a:t>Working Capital</a:t>
            </a:r>
          </a:p>
        </p:txBody>
      </p:sp>
      <p:sp>
        <p:nvSpPr>
          <p:cNvPr id="10" name="Footer Placeholder 9"/>
          <p:cNvSpPr>
            <a:spLocks noGrp="1"/>
          </p:cNvSpPr>
          <p:nvPr>
            <p:ph type="ftr" sz="quarter" idx="11"/>
          </p:nvPr>
        </p:nvSpPr>
        <p:spPr>
          <a:xfrm>
            <a:off x="3200400" y="6356351"/>
            <a:ext cx="6400800" cy="365125"/>
          </a:xfrm>
        </p:spPr>
        <p:txBody>
          <a:bodyPr/>
          <a:lstStyle/>
          <a:p>
            <a:r>
              <a:rPr lang="en-US">
                <a:solidFill>
                  <a:schemeClr val="tx1"/>
                </a:solidFill>
              </a:rPr>
              <a:t>Amit Kumar        Subject code: AOE0770       Finance for Engineers                 Unit 4</a:t>
            </a:r>
            <a:endParaRPr lang="en-US"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946151"/>
            <a:ext cx="11760200" cy="5410200"/>
          </a:xfrm>
        </p:spPr>
        <p:txBody>
          <a:bodyPr>
            <a:normAutofit/>
          </a:bodyPr>
          <a:lstStyle/>
          <a:p>
            <a:pPr fontAlgn="base"/>
            <a:r>
              <a:rPr lang="en-US" sz="2400" b="1" cap="all" dirty="0"/>
              <a:t>T</a:t>
            </a:r>
            <a:r>
              <a:rPr lang="en-US" sz="2400" b="1" dirty="0"/>
              <a:t>ypes of working capital</a:t>
            </a:r>
            <a:endParaRPr lang="en-US" sz="2400" b="1" cap="all" dirty="0"/>
          </a:p>
          <a:p>
            <a:pPr fontAlgn="base"/>
            <a:r>
              <a:rPr lang="en-US" sz="2200" dirty="0"/>
              <a:t>Working capital is classified into different types and the classification is based on the following views:</a:t>
            </a:r>
          </a:p>
          <a:p>
            <a:pPr fontAlgn="base"/>
            <a:r>
              <a:rPr lang="en-US" sz="2200" dirty="0"/>
              <a:t>Balance Sheet View</a:t>
            </a:r>
          </a:p>
          <a:p>
            <a:pPr fontAlgn="base"/>
            <a:r>
              <a:rPr lang="en-US" sz="2200" dirty="0"/>
              <a:t>Operating Cycle View</a:t>
            </a:r>
          </a:p>
          <a:p>
            <a:pPr fontAlgn="base"/>
            <a:r>
              <a:rPr lang="en-US" sz="2200" b="1" i="1" dirty="0"/>
              <a:t>On the basis of Balance Sheet View, types of working capital are described below:</a:t>
            </a:r>
            <a:endParaRPr lang="en-US" sz="2200" dirty="0"/>
          </a:p>
          <a:p>
            <a:pPr lvl="0"/>
            <a:endParaRPr lang="en-IN" sz="2200" dirty="0">
              <a:solidFill>
                <a:prstClr val="black"/>
              </a:solidFill>
              <a:cs typeface="Calibri"/>
            </a:endParaRPr>
          </a:p>
          <a:p>
            <a:endParaRPr lang="en-US" sz="2200" b="1" spc="-5" dirty="0"/>
          </a:p>
          <a:p>
            <a:pPr>
              <a:buNone/>
            </a:pPr>
            <a:endParaRPr lang="en-US" sz="1800" dirty="0">
              <a:latin typeface="Arial"/>
              <a:cs typeface="Arial"/>
            </a:endParaRPr>
          </a:p>
          <a:p>
            <a:endParaRPr lang="en-US" sz="2200" spc="-5" dirty="0"/>
          </a:p>
          <a:p>
            <a:endParaRPr lang="en-US" sz="2200" dirty="0"/>
          </a:p>
        </p:txBody>
      </p:sp>
      <p:sp>
        <p:nvSpPr>
          <p:cNvPr id="4" name="Date Placeholder 3"/>
          <p:cNvSpPr>
            <a:spLocks noGrp="1"/>
          </p:cNvSpPr>
          <p:nvPr>
            <p:ph type="dt" sz="half" idx="10"/>
          </p:nvPr>
        </p:nvSpPr>
        <p:spPr/>
        <p:txBody>
          <a:bodyPr/>
          <a:lstStyle/>
          <a:p>
            <a:fld id="{3C1766B8-7922-4165-A2E1-4D249AED4001}"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8" name="Title 1"/>
          <p:cNvSpPr txBox="1">
            <a:spLocks noGrp="1"/>
          </p:cNvSpPr>
          <p:nvPr>
            <p:ph type="title"/>
          </p:nvPr>
        </p:nvSpPr>
        <p:spPr>
          <a:xfrm>
            <a:off x="1828800" y="0"/>
            <a:ext cx="10363200" cy="67842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fontAlgn="base"/>
            <a:r>
              <a:rPr lang="en-US" sz="3000" cap="all" dirty="0"/>
              <a:t>T</a:t>
            </a:r>
            <a:r>
              <a:rPr lang="en-US" sz="3000" dirty="0"/>
              <a:t>ypes of working capital</a:t>
            </a:r>
            <a:endParaRPr lang="en-US" sz="3000" cap="all"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7C63C00-6B6F-41A5-A873-D9AC1300C653}"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9"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fontAlgn="base"/>
            <a:r>
              <a:rPr lang="en-US" sz="2400" cap="all" dirty="0"/>
              <a:t>                     </a:t>
            </a:r>
            <a:r>
              <a:rPr lang="en-US" sz="3000" cap="all" dirty="0"/>
              <a:t>T</a:t>
            </a:r>
            <a:r>
              <a:rPr lang="en-US" sz="3000" dirty="0"/>
              <a:t>ypes of working capital</a:t>
            </a:r>
            <a:endParaRPr lang="en-US" sz="3000" cap="all" dirty="0"/>
          </a:p>
        </p:txBody>
      </p:sp>
      <p:sp>
        <p:nvSpPr>
          <p:cNvPr id="10" name="Content Placeholder 9"/>
          <p:cNvSpPr>
            <a:spLocks noGrp="1"/>
          </p:cNvSpPr>
          <p:nvPr>
            <p:ph idx="1"/>
          </p:nvPr>
        </p:nvSpPr>
        <p:spPr>
          <a:xfrm>
            <a:off x="228600" y="914401"/>
            <a:ext cx="11811000" cy="5211763"/>
          </a:xfrm>
        </p:spPr>
        <p:txBody>
          <a:bodyPr>
            <a:normAutofit/>
          </a:bodyPr>
          <a:lstStyle/>
          <a:p>
            <a:pPr fontAlgn="base">
              <a:buNone/>
            </a:pPr>
            <a:r>
              <a:rPr lang="en-US" sz="2400" b="1" cap="all" dirty="0"/>
              <a:t>1. G</a:t>
            </a:r>
            <a:r>
              <a:rPr lang="en-US" sz="2400" b="1" dirty="0"/>
              <a:t>ross working capital </a:t>
            </a:r>
            <a:r>
              <a:rPr lang="en-US" sz="2400" b="1" cap="all" dirty="0"/>
              <a:t>(GWC)</a:t>
            </a:r>
          </a:p>
          <a:p>
            <a:pPr algn="just" fontAlgn="base"/>
            <a:r>
              <a:rPr lang="en-US" sz="2400" b="1" u="sng" dirty="0"/>
              <a:t>Current assets</a:t>
            </a:r>
            <a:r>
              <a:rPr lang="en-US" sz="1800" dirty="0"/>
              <a:t> </a:t>
            </a:r>
            <a:r>
              <a:rPr lang="en-US" sz="2200" dirty="0"/>
              <a:t>in the balance sheet of a company are known as gross working capital. Current assets are those short-term assets which can be converted into cash within a period of one year. </a:t>
            </a:r>
          </a:p>
          <a:p>
            <a:pPr algn="just" fontAlgn="base">
              <a:buNone/>
            </a:pPr>
            <a:r>
              <a:rPr lang="en-US" sz="2200" dirty="0"/>
              <a:t>     Gross Working Capital=Total Current Assets</a:t>
            </a:r>
          </a:p>
          <a:p>
            <a:pPr algn="just" fontAlgn="base">
              <a:buNone/>
            </a:pPr>
            <a:r>
              <a:rPr lang="en-US" sz="2600" b="1" cap="all" dirty="0"/>
              <a:t>2. N</a:t>
            </a:r>
            <a:r>
              <a:rPr lang="en-US" sz="2600" b="1" dirty="0"/>
              <a:t>et working capital</a:t>
            </a:r>
            <a:endParaRPr lang="en-US" sz="2600" b="1" cap="all" dirty="0"/>
          </a:p>
          <a:p>
            <a:pPr algn="just" fontAlgn="base"/>
            <a:r>
              <a:rPr lang="en-US" sz="2200" dirty="0"/>
              <a:t>Net working capital is a very frequently used term. There are two ways to understand networking capital. First, one says it is simply the difference between current assets and the current liabilities on the balance sheet of a business. The other understanding discloses little deeper or hidden meaning of the term.   </a:t>
            </a:r>
          </a:p>
          <a:p>
            <a:pPr algn="just" fontAlgn="base">
              <a:buNone/>
            </a:pPr>
            <a:r>
              <a:rPr lang="en-US" sz="2200" dirty="0"/>
              <a:t>      Net Working Capital= Current Assets-Current Liabilities</a:t>
            </a:r>
          </a:p>
          <a:p>
            <a:endParaRPr lang="en-US" dirty="0"/>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11000" cy="5334000"/>
          </a:xfrm>
        </p:spPr>
        <p:txBody>
          <a:bodyPr>
            <a:normAutofit/>
          </a:bodyPr>
          <a:lstStyle/>
          <a:p>
            <a:pPr marL="192405"/>
            <a:r>
              <a:rPr lang="en-US" sz="2600" b="1" dirty="0"/>
              <a:t>On the basis of Operating Cycle View, types of working capital are as below:</a:t>
            </a:r>
          </a:p>
          <a:p>
            <a:pPr marL="192405">
              <a:buNone/>
            </a:pPr>
            <a:r>
              <a:rPr lang="en-US" sz="2600" b="1" cap="all" dirty="0"/>
              <a:t>1. </a:t>
            </a:r>
            <a:r>
              <a:rPr lang="en-US" sz="2400" b="1" cap="all" dirty="0"/>
              <a:t> P</a:t>
            </a:r>
            <a:r>
              <a:rPr lang="en-US" sz="2400" b="1" dirty="0"/>
              <a:t>ermanent / fixed working capital</a:t>
            </a:r>
            <a:r>
              <a:rPr lang="en-US" sz="2400" b="1" cap="all" dirty="0"/>
              <a:t>:</a:t>
            </a:r>
          </a:p>
          <a:p>
            <a:pPr>
              <a:buNone/>
            </a:pPr>
            <a:r>
              <a:rPr lang="en-US" sz="2200" dirty="0"/>
              <a:t>       It is  maintained by the company at a fixed level.</a:t>
            </a:r>
          </a:p>
          <a:p>
            <a:pPr>
              <a:buNone/>
            </a:pPr>
            <a:r>
              <a:rPr lang="en-US" sz="2400" b="1" cap="all" dirty="0"/>
              <a:t>2. T</a:t>
            </a:r>
            <a:r>
              <a:rPr lang="en-US" sz="2400" b="1" dirty="0"/>
              <a:t>emporary / variable working capital</a:t>
            </a:r>
            <a:r>
              <a:rPr lang="en-US" sz="2400" b="1" cap="all" dirty="0"/>
              <a:t>:</a:t>
            </a:r>
          </a:p>
          <a:p>
            <a:pPr>
              <a:buNone/>
            </a:pPr>
            <a:r>
              <a:rPr lang="en-US" sz="2200" dirty="0"/>
              <a:t>     It is maintained by the company for very short-term period to meet its seasonal or festival demand of products.</a:t>
            </a:r>
          </a:p>
        </p:txBody>
      </p:sp>
      <p:sp>
        <p:nvSpPr>
          <p:cNvPr id="4" name="Date Placeholder 3"/>
          <p:cNvSpPr>
            <a:spLocks noGrp="1"/>
          </p:cNvSpPr>
          <p:nvPr>
            <p:ph type="dt" sz="half" idx="10"/>
          </p:nvPr>
        </p:nvSpPr>
        <p:spPr/>
        <p:txBody>
          <a:bodyPr/>
          <a:lstStyle/>
          <a:p>
            <a:fld id="{90C2893A-E538-41DD-BAF9-0ABF981FC6B9}"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fontAlgn="base"/>
            <a:r>
              <a:rPr lang="en-US" sz="2400" dirty="0"/>
              <a:t>                                </a:t>
            </a:r>
            <a:r>
              <a:rPr lang="en-US" sz="3000" dirty="0"/>
              <a:t>Types of working capital</a:t>
            </a:r>
            <a:endParaRPr lang="en-US" sz="3000" cap="all"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DF82A076-62BD-4DAB-9AC7-81E0A7293715}" type="datetime1">
              <a:rPr lang="en-US" smtClean="0"/>
              <a:t>8/20/2025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a:t>                     </a:t>
            </a:r>
            <a:r>
              <a:rPr lang="en-US" sz="3000" b="1" dirty="0"/>
              <a:t>Importance of Working Capital</a:t>
            </a:r>
          </a:p>
        </p:txBody>
      </p:sp>
      <p:sp>
        <p:nvSpPr>
          <p:cNvPr id="12" name="Content Placeholder 11"/>
          <p:cNvSpPr>
            <a:spLocks noGrp="1"/>
          </p:cNvSpPr>
          <p:nvPr>
            <p:ph idx="1"/>
          </p:nvPr>
        </p:nvSpPr>
        <p:spPr>
          <a:xfrm>
            <a:off x="304800" y="1120007"/>
            <a:ext cx="11734800" cy="5211763"/>
          </a:xfrm>
        </p:spPr>
        <p:txBody>
          <a:bodyPr>
            <a:normAutofit fontScale="92500" lnSpcReduction="20000"/>
          </a:bodyPr>
          <a:lstStyle/>
          <a:p>
            <a:pPr>
              <a:buNone/>
            </a:pPr>
            <a:r>
              <a:rPr lang="en-US" dirty="0"/>
              <a:t>1</a:t>
            </a:r>
            <a:r>
              <a:rPr lang="en-US" sz="2800" dirty="0"/>
              <a:t>. Smooth Flow of Production</a:t>
            </a:r>
          </a:p>
          <a:p>
            <a:pPr>
              <a:buNone/>
            </a:pPr>
            <a:r>
              <a:rPr lang="en-US" sz="2800" dirty="0"/>
              <a:t>2. Increase in Liquidity and Solvency Position</a:t>
            </a:r>
          </a:p>
          <a:p>
            <a:pPr>
              <a:buNone/>
            </a:pPr>
            <a:r>
              <a:rPr lang="en-US" sz="2800" dirty="0"/>
              <a:t>3. Goodwill</a:t>
            </a:r>
          </a:p>
          <a:p>
            <a:pPr>
              <a:buNone/>
            </a:pPr>
            <a:r>
              <a:rPr lang="en-US" sz="2800" dirty="0"/>
              <a:t>4. Advantages of Cash Discount</a:t>
            </a:r>
          </a:p>
          <a:p>
            <a:pPr>
              <a:buNone/>
            </a:pPr>
            <a:r>
              <a:rPr lang="en-US" sz="2800" dirty="0"/>
              <a:t>5. Easy Loan</a:t>
            </a:r>
          </a:p>
          <a:p>
            <a:pPr>
              <a:buNone/>
            </a:pPr>
            <a:r>
              <a:rPr lang="en-US" sz="2800" dirty="0"/>
              <a:t>6. Regular Payment of Wages and Salaries</a:t>
            </a:r>
          </a:p>
          <a:p>
            <a:pPr>
              <a:buNone/>
            </a:pPr>
            <a:r>
              <a:rPr lang="en-US" sz="2800" dirty="0"/>
              <a:t>7. Security and Confidence</a:t>
            </a:r>
          </a:p>
          <a:p>
            <a:pPr>
              <a:buNone/>
            </a:pPr>
            <a:r>
              <a:rPr lang="en-US" sz="2800" dirty="0"/>
              <a:t>8. Efficient Use of Fixed Assets</a:t>
            </a:r>
          </a:p>
          <a:p>
            <a:pPr>
              <a:buNone/>
            </a:pPr>
            <a:r>
              <a:rPr lang="en-US" sz="2800" dirty="0"/>
              <a:t>9. Meeting of Contingencies</a:t>
            </a:r>
          </a:p>
          <a:p>
            <a:pPr>
              <a:buNone/>
            </a:pPr>
            <a:r>
              <a:rPr lang="en-US" sz="2800" dirty="0"/>
              <a:t>10. Completing operating cycle</a:t>
            </a:r>
          </a:p>
          <a:p>
            <a:pPr>
              <a:buNone/>
            </a:pPr>
            <a:r>
              <a:rPr lang="en-US" sz="2800" dirty="0"/>
              <a:t>11. Timely Payment of Dividend</a:t>
            </a:r>
            <a:br>
              <a:rPr lang="en-US" sz="2800" b="1" dirty="0"/>
            </a:br>
            <a:endParaRPr lang="en-US" sz="2800" dirty="0"/>
          </a:p>
        </p:txBody>
      </p:sp>
      <p:sp>
        <p:nvSpPr>
          <p:cNvPr id="10" name="Footer Placeholder 9"/>
          <p:cNvSpPr>
            <a:spLocks noGrp="1"/>
          </p:cNvSpPr>
          <p:nvPr>
            <p:ph type="ftr" sz="quarter" idx="11"/>
          </p:nvPr>
        </p:nvSpPr>
        <p:spPr>
          <a:xfrm>
            <a:off x="3429000" y="6356351"/>
            <a:ext cx="5715000" cy="365125"/>
          </a:xfrm>
        </p:spPr>
        <p:txBody>
          <a:bodyPr/>
          <a:lstStyle/>
          <a:p>
            <a:r>
              <a:rPr lang="en-US"/>
              <a:t>Amit Kumar        Subject code: AOE0770       Finance for Engineers                 Unit 4</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811000" cy="5287963"/>
          </a:xfrm>
        </p:spPr>
        <p:txBody>
          <a:bodyPr>
            <a:normAutofit/>
          </a:bodyPr>
          <a:lstStyle/>
          <a:p>
            <a:r>
              <a:rPr lang="en-US" sz="2600" b="1" dirty="0"/>
              <a:t>Operating Cycle of Working Capital</a:t>
            </a:r>
          </a:p>
          <a:p>
            <a:r>
              <a:rPr lang="en-US" sz="2400" dirty="0"/>
              <a:t>The </a:t>
            </a:r>
            <a:r>
              <a:rPr lang="en-US" sz="2400" b="1" dirty="0"/>
              <a:t>operating cycle</a:t>
            </a:r>
            <a:r>
              <a:rPr lang="en-US" sz="2400" dirty="0"/>
              <a:t> is the length of time between the company's outlay on raw materials, wages and other expenses and inflow of cash from sale of goods. </a:t>
            </a:r>
            <a:r>
              <a:rPr lang="en-US" sz="2400" b="1" dirty="0"/>
              <a:t>Operating cycle</a:t>
            </a:r>
            <a:r>
              <a:rPr lang="en-US" sz="2400" dirty="0"/>
              <a:t> is an important concept in management of cash and management of </a:t>
            </a:r>
            <a:r>
              <a:rPr lang="en-US" sz="2400" b="1" dirty="0"/>
              <a:t>working capital</a:t>
            </a:r>
            <a:r>
              <a:rPr lang="en-US" sz="2400" dirty="0"/>
              <a:t>.</a:t>
            </a:r>
          </a:p>
          <a:p>
            <a:endParaRPr lang="en-US" sz="2600" b="1" spc="-5" dirty="0"/>
          </a:p>
        </p:txBody>
      </p:sp>
      <p:sp>
        <p:nvSpPr>
          <p:cNvPr id="4" name="Date Placeholder 3"/>
          <p:cNvSpPr>
            <a:spLocks noGrp="1"/>
          </p:cNvSpPr>
          <p:nvPr>
            <p:ph type="dt" sz="half" idx="10"/>
          </p:nvPr>
        </p:nvSpPr>
        <p:spPr/>
        <p:txBody>
          <a:bodyPr/>
          <a:lstStyle/>
          <a:p>
            <a:fld id="{480472AA-CD56-409F-8F46-A7CF1D6A7D6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8"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a:t>                   </a:t>
            </a:r>
            <a:r>
              <a:rPr lang="en-US" sz="3000" b="1" dirty="0"/>
              <a:t>Operating Cycle of Working Capital</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021784-30BD-4A26-AC2F-A7623C97D8B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9"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a:t>                 </a:t>
            </a:r>
            <a:r>
              <a:rPr lang="en-US" sz="3000" b="1" dirty="0"/>
              <a:t>Operating Cycle of Working Capital</a:t>
            </a:r>
          </a:p>
        </p:txBody>
      </p:sp>
      <p:sp>
        <p:nvSpPr>
          <p:cNvPr id="10" name="Subtitle 2"/>
          <p:cNvSpPr txBox="1">
            <a:spLocks/>
          </p:cNvSpPr>
          <p:nvPr/>
        </p:nvSpPr>
        <p:spPr>
          <a:xfrm>
            <a:off x="1524000" y="6096000"/>
            <a:ext cx="28194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a:t>
            </a:r>
            <a:r>
              <a:rPr lang="en-US" sz="2400" dirty="0" err="1">
                <a:solidFill>
                  <a:schemeClr val="tx1"/>
                </a:solidFill>
                <a:latin typeface="Times New Roman" pitchFamily="18" charset="0"/>
                <a:cs typeface="Times New Roman" pitchFamily="18" charset="0"/>
              </a:rPr>
              <a:t>FinSense</a:t>
            </a:r>
            <a:r>
              <a:rPr lang="en-US" sz="2400" dirty="0">
                <a:solidFill>
                  <a:schemeClr val="tx1"/>
                </a:solidFill>
                <a:latin typeface="Times New Roman" pitchFamily="18" charset="0"/>
                <a:cs typeface="Times New Roman" pitchFamily="18" charset="0"/>
              </a:rPr>
              <a:t> Gurukul.com</a:t>
            </a:r>
          </a:p>
        </p:txBody>
      </p:sp>
      <p:sp>
        <p:nvSpPr>
          <p:cNvPr id="8" name="Footer Placeholder 7"/>
          <p:cNvSpPr>
            <a:spLocks noGrp="1"/>
          </p:cNvSpPr>
          <p:nvPr>
            <p:ph type="ftr" sz="quarter" idx="11"/>
          </p:nvPr>
        </p:nvSpPr>
        <p:spPr/>
        <p:txBody>
          <a:bodyPr/>
          <a:lstStyle/>
          <a:p>
            <a:r>
              <a:rPr lang="en-US"/>
              <a:t>Amit Kumar        Subject code: AOE0770       Finance for Engineers                 Unit 4</a:t>
            </a:r>
          </a:p>
        </p:txBody>
      </p:sp>
      <p:pic>
        <p:nvPicPr>
          <p:cNvPr id="2" name="Picture 2" descr="C:\Users\HP\Desktop\EjyXyz9VgAQOSj1.jpg"/>
          <p:cNvPicPr>
            <a:picLocks noChangeAspect="1" noChangeArrowheads="1"/>
          </p:cNvPicPr>
          <p:nvPr/>
        </p:nvPicPr>
        <p:blipFill>
          <a:blip r:embed="rId2"/>
          <a:srcRect/>
          <a:stretch>
            <a:fillRect/>
          </a:stretch>
        </p:blipFill>
        <p:spPr bwMode="auto">
          <a:xfrm>
            <a:off x="1752600" y="1106489"/>
            <a:ext cx="7848599" cy="5089525"/>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11506200" cy="5211763"/>
          </a:xfrm>
        </p:spPr>
        <p:txBody>
          <a:bodyPr>
            <a:normAutofit/>
          </a:bodyPr>
          <a:lstStyle/>
          <a:p>
            <a:pPr algn="just">
              <a:buNone/>
            </a:pPr>
            <a:r>
              <a:rPr lang="en-US" sz="2400" b="1" dirty="0"/>
              <a:t>1.    Conversion of cash into raw material.</a:t>
            </a:r>
          </a:p>
          <a:p>
            <a:pPr marL="514350" indent="-514350" algn="just">
              <a:buAutoNum type="arabicPeriod"/>
            </a:pPr>
            <a:r>
              <a:rPr lang="en-US" sz="2400" dirty="0"/>
              <a:t>Conversion of raw material into work in process/semi finished goods.</a:t>
            </a:r>
          </a:p>
          <a:p>
            <a:pPr marL="514350" indent="-514350" algn="just">
              <a:buAutoNum type="arabicPeriod"/>
            </a:pPr>
            <a:r>
              <a:rPr lang="en-US" sz="2400" dirty="0"/>
              <a:t>Conversion of work in process/semi finished goods into finished goods.</a:t>
            </a:r>
          </a:p>
          <a:p>
            <a:pPr marL="514350" indent="-514350" algn="just">
              <a:buAutoNum type="arabicPeriod"/>
            </a:pPr>
            <a:r>
              <a:rPr lang="en-US" sz="2400" dirty="0"/>
              <a:t>Conversion of finished goods into debtor/Bills receivable.</a:t>
            </a:r>
          </a:p>
          <a:p>
            <a:pPr marL="514350" indent="-514350" algn="just">
              <a:buAutoNum type="arabicPeriod"/>
            </a:pPr>
            <a:r>
              <a:rPr lang="en-US" sz="2400" dirty="0"/>
              <a:t>Conversion of debtor/Bills receivable into cash.</a:t>
            </a:r>
          </a:p>
          <a:p>
            <a:pPr algn="just"/>
            <a:endParaRPr lang="en-US" sz="2600" dirty="0"/>
          </a:p>
        </p:txBody>
      </p:sp>
      <p:sp>
        <p:nvSpPr>
          <p:cNvPr id="4" name="Date Placeholder 3"/>
          <p:cNvSpPr>
            <a:spLocks noGrp="1"/>
          </p:cNvSpPr>
          <p:nvPr>
            <p:ph type="dt" sz="half" idx="10"/>
          </p:nvPr>
        </p:nvSpPr>
        <p:spPr/>
        <p:txBody>
          <a:bodyPr/>
          <a:lstStyle/>
          <a:p>
            <a:fld id="{6FBF9E27-9FE5-4D12-AE5E-E3CB1EF4E261}"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1"/>
          <p:cNvSpPr txBox="1">
            <a:spLocks/>
          </p:cNvSpPr>
          <p:nvPr/>
        </p:nvSpPr>
        <p:spPr>
          <a:xfrm>
            <a:off x="1828800" y="-8959"/>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b="1" dirty="0"/>
              <a:t>                     </a:t>
            </a:r>
            <a:r>
              <a:rPr lang="en-US" sz="3000" b="1" dirty="0"/>
              <a:t>Process of Working Capital Cycle</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1"/>
            <a:ext cx="9982200" cy="4525963"/>
          </a:xfrm>
        </p:spPr>
        <p:txBody>
          <a:bodyPr>
            <a:normAutofit/>
          </a:bodyPr>
          <a:lstStyle/>
          <a:p>
            <a:r>
              <a:rPr lang="en-US" sz="2600" b="1" dirty="0">
                <a:latin typeface="Times New Roman" pitchFamily="18" charset="0"/>
                <a:cs typeface="Times New Roman" pitchFamily="18" charset="0"/>
              </a:rPr>
              <a:t>We have covered the following  topics in this lecture:</a:t>
            </a:r>
          </a:p>
          <a:p>
            <a:pPr algn="just"/>
            <a:r>
              <a:rPr lang="en-US" sz="2400" dirty="0">
                <a:latin typeface="Times New Roman" pitchFamily="18" charset="0"/>
                <a:cs typeface="Times New Roman" pitchFamily="18" charset="0"/>
              </a:rPr>
              <a:t>Working Capital</a:t>
            </a:r>
          </a:p>
          <a:p>
            <a:pPr algn="just"/>
            <a:r>
              <a:rPr lang="en-US" sz="2400" cap="all" dirty="0">
                <a:latin typeface="Times New Roman" pitchFamily="18" charset="0"/>
                <a:cs typeface="Times New Roman" pitchFamily="18" charset="0"/>
              </a:rPr>
              <a:t>T</a:t>
            </a:r>
            <a:r>
              <a:rPr lang="en-US" sz="2400" dirty="0">
                <a:latin typeface="Times New Roman" pitchFamily="18" charset="0"/>
                <a:cs typeface="Times New Roman" pitchFamily="18" charset="0"/>
              </a:rPr>
              <a:t>ypes of working capital</a:t>
            </a:r>
            <a:endParaRPr lang="en-US" sz="2400" cap="all"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Importance of Working Capital</a:t>
            </a:r>
          </a:p>
          <a:p>
            <a:pPr algn="just"/>
            <a:r>
              <a:rPr lang="en-US" sz="2400" dirty="0">
                <a:latin typeface="Times New Roman" pitchFamily="18" charset="0"/>
                <a:cs typeface="Times New Roman" pitchFamily="18" charset="0"/>
              </a:rPr>
              <a:t>Operating Cycle of Working Capital</a:t>
            </a:r>
          </a:p>
          <a:p>
            <a:pPr algn="just">
              <a:buNone/>
            </a:pPr>
            <a:endParaRPr lang="en-US" sz="2400"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5030DF4-D715-448D-916D-E53C876FC87A}"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10"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Summary</a:t>
            </a:r>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11430000" cy="4525963"/>
          </a:xfrm>
        </p:spPr>
        <p:txBody>
          <a:bodyPr>
            <a:normAutofit/>
          </a:bodyPr>
          <a:lstStyle/>
          <a:p>
            <a:r>
              <a:rPr lang="en-IN" sz="2600" b="1" dirty="0">
                <a:latin typeface="Times New Roman" pitchFamily="18" charset="0"/>
                <a:cs typeface="Times New Roman" pitchFamily="18" charset="0"/>
              </a:rPr>
              <a:t>Students will be able to know the following concepts:</a:t>
            </a:r>
          </a:p>
          <a:p>
            <a:pPr algn="just"/>
            <a:r>
              <a:rPr lang="en-US" sz="2400" dirty="0">
                <a:latin typeface="Times New Roman" pitchFamily="18" charset="0"/>
                <a:cs typeface="Times New Roman" pitchFamily="18" charset="0"/>
              </a:rPr>
              <a:t>Approaches to determine financing of working capital.</a:t>
            </a:r>
          </a:p>
          <a:p>
            <a:pPr algn="just"/>
            <a:r>
              <a:rPr lang="en-US" sz="2400" dirty="0">
                <a:latin typeface="Times New Roman" pitchFamily="18" charset="0"/>
                <a:cs typeface="Times New Roman" pitchFamily="18" charset="0"/>
              </a:rPr>
              <a:t>Sources of Finance</a:t>
            </a:r>
          </a:p>
          <a:p>
            <a:pPr algn="just"/>
            <a:r>
              <a:rPr lang="en-US" sz="2400" dirty="0">
                <a:latin typeface="Times New Roman" pitchFamily="18" charset="0"/>
                <a:cs typeface="Times New Roman" pitchFamily="18" charset="0"/>
              </a:rPr>
              <a:t>Format of Profit &amp; Loss Account</a:t>
            </a:r>
          </a:p>
          <a:p>
            <a:pPr algn="just"/>
            <a:r>
              <a:rPr lang="en-IN" sz="2400" dirty="0">
                <a:latin typeface="Times New Roman" pitchFamily="18" charset="0"/>
                <a:cs typeface="Times New Roman" pitchFamily="18" charset="0"/>
              </a:rPr>
              <a:t>Cash flow</a:t>
            </a:r>
          </a:p>
          <a:p>
            <a:pPr algn="just"/>
            <a:r>
              <a:rPr lang="en-IN" sz="2400" dirty="0">
                <a:latin typeface="Times New Roman" pitchFamily="18" charset="0"/>
                <a:cs typeface="Times New Roman" pitchFamily="18" charset="0"/>
              </a:rPr>
              <a:t>Objectives of cash flow statement</a:t>
            </a:r>
          </a:p>
          <a:p>
            <a:pPr algn="just"/>
            <a:r>
              <a:rPr lang="en-IN" sz="2400" dirty="0">
                <a:latin typeface="Times New Roman" pitchFamily="18" charset="0"/>
                <a:cs typeface="Times New Roman" pitchFamily="18" charset="0"/>
              </a:rPr>
              <a:t>Format of cash flow statement</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606E29F-96D0-4EFA-B541-11497DA40584}"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latin typeface="+mj-lt"/>
                <a:cs typeface="Times New Roman" pitchFamily="18" charset="0"/>
              </a:rPr>
              <a:t>Session Learning Objectives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63126"/>
            <a:ext cx="11506200" cy="5135563"/>
          </a:xfrm>
        </p:spPr>
        <p:txBody>
          <a:bodyPr>
            <a:normAutofit/>
          </a:bodyPr>
          <a:lstStyle/>
          <a:p>
            <a:pPr algn="just">
              <a:buNone/>
            </a:pPr>
            <a:r>
              <a:rPr lang="en-US" sz="2600" dirty="0"/>
              <a:t>Approaches to determine financing of working capital.</a:t>
            </a:r>
          </a:p>
          <a:p>
            <a:pPr algn="just">
              <a:buNone/>
            </a:pPr>
            <a:endParaRPr lang="en-US" sz="2400" dirty="0"/>
          </a:p>
          <a:p>
            <a:pPr algn="just">
              <a:buNone/>
            </a:pPr>
            <a:r>
              <a:rPr lang="en-US" sz="2400" dirty="0"/>
              <a:t>There are mainly 3 approaches to determine financing of working capital. Let us discuss them one by one:</a:t>
            </a:r>
          </a:p>
          <a:p>
            <a:pPr algn="just">
              <a:buNone/>
            </a:pPr>
            <a:endParaRPr lang="en-US" sz="2400" dirty="0"/>
          </a:p>
        </p:txBody>
      </p:sp>
      <p:sp>
        <p:nvSpPr>
          <p:cNvPr id="4" name="Date Placeholder 3"/>
          <p:cNvSpPr>
            <a:spLocks noGrp="1"/>
          </p:cNvSpPr>
          <p:nvPr>
            <p:ph type="dt" sz="half" idx="10"/>
          </p:nvPr>
        </p:nvSpPr>
        <p:spPr/>
        <p:txBody>
          <a:bodyPr/>
          <a:lstStyle/>
          <a:p>
            <a:fld id="{4AF99314-E6AC-4EFE-BDE0-24917F23E5D4}"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p:cNvSpPr>
          <p:nvPr/>
        </p:nvSpPr>
        <p:spPr>
          <a:xfrm>
            <a:off x="1905000" y="19665"/>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Approaches to determine financing of working capital</a:t>
            </a:r>
            <a:endParaRPr lang="en-US" sz="28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15ACF6E-45B3-4740-81FD-B7937D39E12C}"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Approaches to determine financing of working capital</a:t>
            </a:r>
            <a:endParaRPr lang="en-US" sz="2800" dirty="0"/>
          </a:p>
        </p:txBody>
      </p:sp>
      <p:pic>
        <p:nvPicPr>
          <p:cNvPr id="9" name="Picture 2" descr="C:\Users\raj\Desktop\fm.png"/>
          <p:cNvPicPr>
            <a:picLocks noGrp="1" noChangeAspect="1" noChangeArrowheads="1"/>
          </p:cNvPicPr>
          <p:nvPr>
            <p:ph idx="1"/>
          </p:nvPr>
        </p:nvPicPr>
        <p:blipFill>
          <a:blip r:embed="rId2"/>
          <a:srcRect/>
          <a:stretch>
            <a:fillRect/>
          </a:stretch>
        </p:blipFill>
        <p:spPr bwMode="auto">
          <a:xfrm>
            <a:off x="1828800" y="1066800"/>
            <a:ext cx="8458200" cy="4953000"/>
          </a:xfrm>
          <a:prstGeom prst="rect">
            <a:avLst/>
          </a:prstGeom>
          <a:noFill/>
        </p:spPr>
      </p:pic>
      <p:sp>
        <p:nvSpPr>
          <p:cNvPr id="11" name="Footer Placeholder 10"/>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87200" cy="5410200"/>
          </a:xfrm>
        </p:spPr>
        <p:txBody>
          <a:bodyPr>
            <a:normAutofit/>
          </a:bodyPr>
          <a:lstStyle/>
          <a:p>
            <a:pPr algn="just"/>
            <a:r>
              <a:rPr lang="en-US" sz="2600" b="1" dirty="0"/>
              <a:t>1) Hedging approach or matching approach:</a:t>
            </a:r>
            <a:r>
              <a:rPr lang="en-US" sz="2400" dirty="0"/>
              <a:t> this approach means matching the maturities of debt with the maturity of financial needs. It means the sources of funds should match with the nature of assets to be financed. There are two types of working capital permanent and temporary working capital. The hedging approach suggests that the permanent working capital requirement should be financed through long term funds, while temporary working capital should be financed through the short term funds. There is low cost, high risk and high profit in this approach.</a:t>
            </a:r>
          </a:p>
          <a:p>
            <a:pPr algn="just"/>
            <a:r>
              <a:rPr lang="en-US" sz="2600" dirty="0"/>
              <a:t> </a:t>
            </a:r>
            <a:r>
              <a:rPr lang="en-US" sz="2600" b="1" dirty="0"/>
              <a:t>2) Conservative approach: </a:t>
            </a:r>
            <a:r>
              <a:rPr lang="en-US" sz="2400" dirty="0"/>
              <a:t>as the name suggests it is a conservative approach which suggests that the entire requirement of current assets should be financed through long term sources and short term sources should be used only in case of emergency. There is high cost, low risk and low profit in this approach.</a:t>
            </a:r>
          </a:p>
          <a:p>
            <a:pPr>
              <a:buNone/>
            </a:pPr>
            <a:endParaRPr lang="en-US" sz="2400" dirty="0"/>
          </a:p>
          <a:p>
            <a:pPr>
              <a:buNone/>
            </a:pPr>
            <a:endParaRPr lang="en-US" sz="2400" dirty="0"/>
          </a:p>
          <a:p>
            <a:endParaRPr lang="en-US" sz="2400" dirty="0"/>
          </a:p>
        </p:txBody>
      </p:sp>
      <p:sp>
        <p:nvSpPr>
          <p:cNvPr id="4" name="Date Placeholder 3"/>
          <p:cNvSpPr>
            <a:spLocks noGrp="1"/>
          </p:cNvSpPr>
          <p:nvPr>
            <p:ph type="dt" sz="half" idx="10"/>
          </p:nvPr>
        </p:nvSpPr>
        <p:spPr/>
        <p:txBody>
          <a:bodyPr/>
          <a:lstStyle/>
          <a:p>
            <a:fld id="{8BA2831C-1316-412E-8AB7-59CED62321F2}"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Approaches to determine financing of working capital</a:t>
            </a:r>
            <a:endParaRPr lang="en-US" sz="28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11734800" cy="5181600"/>
          </a:xfrm>
        </p:spPr>
        <p:txBody>
          <a:bodyPr>
            <a:normAutofit/>
          </a:bodyPr>
          <a:lstStyle/>
          <a:p>
            <a:pPr algn="just">
              <a:spcBef>
                <a:spcPts val="100"/>
              </a:spcBef>
            </a:pPr>
            <a:r>
              <a:rPr lang="en-US" sz="2400" b="1" dirty="0"/>
              <a:t>3) Aggressive approach:</a:t>
            </a:r>
            <a:r>
              <a:rPr lang="en-US" sz="2400" dirty="0"/>
              <a:t> </a:t>
            </a:r>
            <a:r>
              <a:rPr lang="en-US" sz="2200" dirty="0"/>
              <a:t>As the name suggests it is an aggressive approach which suggests that the entire requirement of current assets should be financed through short term sources. There is low cost, high risk and high profit in this approach.</a:t>
            </a:r>
          </a:p>
          <a:p>
            <a:pPr>
              <a:spcBef>
                <a:spcPts val="100"/>
              </a:spcBef>
            </a:pPr>
            <a:endParaRPr lang="en-US" sz="2400" spc="-5" dirty="0"/>
          </a:p>
        </p:txBody>
      </p:sp>
      <p:sp>
        <p:nvSpPr>
          <p:cNvPr id="4" name="Date Placeholder 3"/>
          <p:cNvSpPr>
            <a:spLocks noGrp="1"/>
          </p:cNvSpPr>
          <p:nvPr>
            <p:ph type="dt" sz="half" idx="10"/>
          </p:nvPr>
        </p:nvSpPr>
        <p:spPr/>
        <p:txBody>
          <a:bodyPr/>
          <a:lstStyle/>
          <a:p>
            <a:fld id="{55F840BF-42A7-488E-A026-14FBE34C3899}"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1981200" y="0"/>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Approaches to determine financing of working capital</a:t>
            </a:r>
            <a:endParaRPr lang="en-US" sz="28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B5EB0F5-EA7F-49A4-8F54-313C2176E0F6}"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Sources of Finance</a:t>
            </a:r>
            <a:endParaRPr lang="en-US" sz="30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pic>
        <p:nvPicPr>
          <p:cNvPr id="2051" name="Picture 3" descr="C:\Users\HP\Desktop\Sources-of-Finance.png"/>
          <p:cNvPicPr>
            <a:picLocks noChangeAspect="1" noChangeArrowheads="1"/>
          </p:cNvPicPr>
          <p:nvPr/>
        </p:nvPicPr>
        <p:blipFill>
          <a:blip r:embed="rId2"/>
          <a:srcRect l="2602" t="1515" r="2862"/>
          <a:stretch>
            <a:fillRect/>
          </a:stretch>
        </p:blipFill>
        <p:spPr bwMode="auto">
          <a:xfrm>
            <a:off x="1981200" y="990601"/>
            <a:ext cx="8305800" cy="4952999"/>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1C97C4-9CA5-4C94-AE44-EF2A229A8748}"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9"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Stock</a:t>
            </a:r>
          </a:p>
        </p:txBody>
      </p:sp>
      <p:sp>
        <p:nvSpPr>
          <p:cNvPr id="11" name="Footer Placeholder 10"/>
          <p:cNvSpPr>
            <a:spLocks noGrp="1"/>
          </p:cNvSpPr>
          <p:nvPr>
            <p:ph type="ftr" sz="quarter" idx="11"/>
          </p:nvPr>
        </p:nvSpPr>
        <p:spPr/>
        <p:txBody>
          <a:bodyPr/>
          <a:lstStyle/>
          <a:p>
            <a:r>
              <a:rPr lang="en-US"/>
              <a:t>Amit Kumar        Subject code: AOE0770       Finance for Engineers                 Unit 4</a:t>
            </a:r>
          </a:p>
        </p:txBody>
      </p:sp>
      <p:sp>
        <p:nvSpPr>
          <p:cNvPr id="2" name="Content Placeholder 1"/>
          <p:cNvSpPr>
            <a:spLocks noGrp="1"/>
          </p:cNvSpPr>
          <p:nvPr>
            <p:ph idx="1"/>
          </p:nvPr>
        </p:nvSpPr>
        <p:spPr>
          <a:xfrm>
            <a:off x="304800" y="972959"/>
            <a:ext cx="11506200" cy="5135563"/>
          </a:xfrm>
        </p:spPr>
        <p:txBody>
          <a:bodyPr>
            <a:normAutofit/>
          </a:bodyPr>
          <a:lstStyle/>
          <a:p>
            <a:pPr algn="just"/>
            <a:r>
              <a:rPr lang="en-US" sz="2400" b="1" dirty="0"/>
              <a:t>Stock</a:t>
            </a:r>
          </a:p>
          <a:p>
            <a:pPr algn="just"/>
            <a:r>
              <a:rPr lang="en-US" sz="2400" dirty="0"/>
              <a:t>Stock includes finished products, parts, materials—whatever you sell to customers. The more stock—or products—you sell, the more revenue your business generates.</a:t>
            </a:r>
          </a:p>
          <a:p>
            <a:pPr algn="just"/>
            <a:r>
              <a:rPr lang="en-US" sz="2400" b="1" dirty="0"/>
              <a:t>Inventory</a:t>
            </a:r>
          </a:p>
          <a:p>
            <a:pPr algn="just"/>
            <a:r>
              <a:rPr lang="en-US" sz="2400" dirty="0"/>
              <a:t>Inventory includes finished products and all the </a:t>
            </a:r>
            <a:r>
              <a:rPr lang="en-US" sz="2400" dirty="0">
                <a:hlinkClick r:id="rId2"/>
              </a:rPr>
              <a:t>assets a business owns</a:t>
            </a:r>
            <a:r>
              <a:rPr lang="en-US" sz="2400" dirty="0"/>
              <a:t> or uses to complete production. There are Three main types of inventory.</a:t>
            </a:r>
          </a:p>
          <a:p>
            <a:pPr marL="0" indent="0">
              <a:buNone/>
            </a:pP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70499"/>
            <a:ext cx="11658600" cy="5135563"/>
          </a:xfrm>
        </p:spPr>
        <p:txBody>
          <a:bodyPr>
            <a:normAutofit/>
          </a:bodyPr>
          <a:lstStyle/>
          <a:p>
            <a:pPr algn="just"/>
            <a:r>
              <a:rPr lang="en-US" sz="2800" b="1" dirty="0"/>
              <a:t>Types of Inventory</a:t>
            </a:r>
          </a:p>
          <a:p>
            <a:pPr algn="just"/>
            <a:r>
              <a:rPr lang="en-US" sz="2400" dirty="0"/>
              <a:t>There are three types of inventory</a:t>
            </a:r>
          </a:p>
          <a:p>
            <a:pPr algn="just"/>
            <a:r>
              <a:rPr lang="en-US" sz="2400" b="1" dirty="0"/>
              <a:t>Raw Materials</a:t>
            </a:r>
            <a:r>
              <a:rPr lang="en-US" sz="2400" dirty="0"/>
              <a:t>: The key ingredients required to make the finished good are known as raw materials.</a:t>
            </a:r>
          </a:p>
          <a:p>
            <a:pPr algn="just"/>
            <a:r>
              <a:rPr lang="en-US" sz="2400" b="1" dirty="0"/>
              <a:t>Work In Progress</a:t>
            </a:r>
            <a:r>
              <a:rPr lang="en-US" sz="2400" dirty="0"/>
              <a:t>: Products still being produced on the manufacturing floor are considered work-in-process inventory.</a:t>
            </a:r>
          </a:p>
          <a:p>
            <a:pPr algn="just"/>
            <a:r>
              <a:rPr lang="en-US" sz="2400" b="1" dirty="0"/>
              <a:t>Finished Goods</a:t>
            </a:r>
            <a:r>
              <a:rPr lang="en-US" sz="2400" dirty="0"/>
              <a:t>: Finished goods are items that have reached their full potential and are prepared for sale. The concept of inventory control is essential to corporate management. A business must ensure the right products are available at the right time.</a:t>
            </a:r>
          </a:p>
          <a:p>
            <a:pPr algn="just"/>
            <a:endParaRPr lang="en-IN" sz="2600" dirty="0"/>
          </a:p>
          <a:p>
            <a:pPr algn="just"/>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1981200" y="6492876"/>
            <a:ext cx="2133600" cy="365125"/>
          </a:xfrm>
        </p:spPr>
        <p:txBody>
          <a:bodyPr/>
          <a:lstStyle/>
          <a:p>
            <a:fld id="{1DBCCB94-6470-4772-9680-E5F06207870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8" name="Title 1"/>
          <p:cNvSpPr txBox="1">
            <a:spLocks/>
          </p:cNvSpPr>
          <p:nvPr/>
        </p:nvSpPr>
        <p:spPr>
          <a:xfrm>
            <a:off x="1905000" y="29268"/>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2400" b="1" dirty="0"/>
              <a:t>                                            </a:t>
            </a:r>
            <a:r>
              <a:rPr lang="en-IN" sz="3000" b="1" dirty="0"/>
              <a:t>Stock</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EF3F0E-6276-4812-BDC9-5F18048A909C}"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8" name="Title 1"/>
          <p:cNvSpPr txBox="1">
            <a:spLocks/>
          </p:cNvSpPr>
          <p:nvPr/>
        </p:nvSpPr>
        <p:spPr>
          <a:xfrm>
            <a:off x="1905000" y="19665"/>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Numerical</a:t>
            </a:r>
            <a:r>
              <a:rPr lang="en-US" sz="2400" dirty="0"/>
              <a:t> </a:t>
            </a:r>
          </a:p>
        </p:txBody>
      </p:sp>
      <p:sp>
        <p:nvSpPr>
          <p:cNvPr id="11" name="Footer Placeholder 10"/>
          <p:cNvSpPr>
            <a:spLocks noGrp="1"/>
          </p:cNvSpPr>
          <p:nvPr>
            <p:ph type="ftr" sz="quarter" idx="11"/>
          </p:nvPr>
        </p:nvSpPr>
        <p:spPr/>
        <p:txBody>
          <a:bodyPr/>
          <a:lstStyle/>
          <a:p>
            <a:r>
              <a:rPr lang="en-US"/>
              <a:t>Amit Kumar        Subject code: AOE0770       Finance for Engineers                 Unit 4</a:t>
            </a:r>
          </a:p>
        </p:txBody>
      </p:sp>
      <p:sp>
        <p:nvSpPr>
          <p:cNvPr id="2" name="Content Placeholder 1"/>
          <p:cNvSpPr>
            <a:spLocks noGrp="1"/>
          </p:cNvSpPr>
          <p:nvPr>
            <p:ph idx="1"/>
          </p:nvPr>
        </p:nvSpPr>
        <p:spPr>
          <a:xfrm>
            <a:off x="228600" y="963126"/>
            <a:ext cx="11734800" cy="5135563"/>
          </a:xfrm>
        </p:spPr>
        <p:txBody>
          <a:bodyPr/>
          <a:lstStyle/>
          <a:p>
            <a:r>
              <a:rPr lang="en-IN" b="1" dirty="0"/>
              <a:t>Characteristics of Inventories</a:t>
            </a:r>
          </a:p>
          <a:p>
            <a:pPr algn="just"/>
            <a:r>
              <a:rPr lang="en-US" sz="2400" dirty="0"/>
              <a:t>Belong to current assets. </a:t>
            </a:r>
          </a:p>
          <a:p>
            <a:pPr algn="just"/>
            <a:r>
              <a:rPr lang="en-US" sz="2400" dirty="0"/>
              <a:t>Kept in stock either to be sold to customers or to be consumed by. activities of the accounting entity. </a:t>
            </a:r>
          </a:p>
          <a:p>
            <a:pPr algn="just"/>
            <a:r>
              <a:rPr lang="en-US" sz="2400" dirty="0"/>
              <a:t>Retailer, wholesaler.</a:t>
            </a:r>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11430000" cy="5410200"/>
          </a:xfrm>
        </p:spPr>
        <p:txBody>
          <a:bodyPr>
            <a:normAutofit/>
          </a:bodyPr>
          <a:lstStyle/>
          <a:p>
            <a:pPr marL="0" indent="0">
              <a:buNone/>
            </a:pPr>
            <a:r>
              <a:rPr lang="en-US" sz="2400" b="1" dirty="0"/>
              <a:t>Different methods for stock control management</a:t>
            </a:r>
            <a:endParaRPr lang="en-US" sz="2400" dirty="0"/>
          </a:p>
          <a:p>
            <a:r>
              <a:rPr lang="en-US" sz="2400" dirty="0"/>
              <a:t>Stock reviews. </a:t>
            </a:r>
          </a:p>
          <a:p>
            <a:r>
              <a:rPr lang="en-US" sz="2400" dirty="0"/>
              <a:t>Fixed-time/fixed-level reordering.</a:t>
            </a:r>
          </a:p>
          <a:p>
            <a:r>
              <a:rPr lang="en-US" sz="2400" dirty="0"/>
              <a:t>Just in time (JIT).</a:t>
            </a:r>
          </a:p>
          <a:p>
            <a:r>
              <a:rPr lang="en-US" sz="2400" dirty="0"/>
              <a:t>Economic Order Quantity (EOQ) .</a:t>
            </a:r>
          </a:p>
          <a:p>
            <a:r>
              <a:rPr lang="en-US" sz="2400" dirty="0"/>
              <a:t>First in, first out. </a:t>
            </a:r>
          </a:p>
          <a:p>
            <a:r>
              <a:rPr lang="en-US" sz="2400" dirty="0"/>
              <a:t>Batch control.</a:t>
            </a:r>
          </a:p>
          <a:p>
            <a:r>
              <a:rPr lang="en-US" sz="2400" dirty="0"/>
              <a:t>Vendor-managed inventory (VMI) .</a:t>
            </a:r>
            <a:endParaRPr lang="en-US" sz="2400" b="1" dirty="0">
              <a:latin typeface="Times New Roman"/>
              <a:cs typeface="Times New Roman"/>
            </a:endParaRPr>
          </a:p>
          <a:p>
            <a:pPr algn="just">
              <a:buNone/>
            </a:pPr>
            <a:endParaRPr lang="en-US" sz="2400" b="1" dirty="0">
              <a:latin typeface="Times New Roman"/>
              <a:cs typeface="Times New Roman"/>
            </a:endParaRPr>
          </a:p>
        </p:txBody>
      </p:sp>
      <p:sp>
        <p:nvSpPr>
          <p:cNvPr id="4" name="Date Placeholder 3"/>
          <p:cNvSpPr>
            <a:spLocks noGrp="1"/>
          </p:cNvSpPr>
          <p:nvPr>
            <p:ph type="dt" sz="half" idx="10"/>
          </p:nvPr>
        </p:nvSpPr>
        <p:spPr/>
        <p:txBody>
          <a:bodyPr/>
          <a:lstStyle/>
          <a:p>
            <a:fld id="{DFEC8269-6E55-4351-8D01-16795F7BEBCB}"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000" b="1" dirty="0"/>
              <a:t>Stock</a:t>
            </a:r>
            <a:endParaRPr lang="en-US" sz="30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506200" cy="4525963"/>
          </a:xfrm>
        </p:spPr>
        <p:txBody>
          <a:bodyPr>
            <a:normAutofit/>
          </a:bodyPr>
          <a:lstStyle/>
          <a:p>
            <a:pPr marL="355600" marR="55880" algn="just">
              <a:spcBef>
                <a:spcPts val="100"/>
              </a:spcBef>
              <a:buFont typeface="Arial"/>
              <a:buChar char="•"/>
              <a:tabLst>
                <a:tab pos="355600" algn="l"/>
                <a:tab pos="4763135" algn="l"/>
              </a:tabLst>
            </a:pPr>
            <a:r>
              <a:rPr lang="en-US" sz="2400" dirty="0">
                <a:latin typeface="+mj-lt"/>
                <a:cs typeface="Carlito"/>
              </a:rPr>
              <a:t>Business</a:t>
            </a:r>
            <a:r>
              <a:rPr lang="en-US" sz="2400" spc="15" dirty="0">
                <a:latin typeface="+mj-lt"/>
                <a:cs typeface="Carlito"/>
              </a:rPr>
              <a:t> </a:t>
            </a:r>
            <a:r>
              <a:rPr lang="en-US" sz="2400" spc="-15" dirty="0">
                <a:latin typeface="+mj-lt"/>
                <a:cs typeface="Carlito"/>
              </a:rPr>
              <a:t>organization </a:t>
            </a:r>
            <a:r>
              <a:rPr lang="en-US" sz="2400" spc="-5" dirty="0">
                <a:latin typeface="+mj-lt"/>
                <a:cs typeface="Carlito"/>
              </a:rPr>
              <a:t>desires </a:t>
            </a:r>
            <a:r>
              <a:rPr lang="en-US" sz="2400" spc="-20" dirty="0">
                <a:latin typeface="+mj-lt"/>
                <a:cs typeface="Carlito"/>
              </a:rPr>
              <a:t>to</a:t>
            </a:r>
            <a:r>
              <a:rPr lang="en-US" sz="2400" spc="-95" dirty="0">
                <a:latin typeface="+mj-lt"/>
                <a:cs typeface="Carlito"/>
              </a:rPr>
              <a:t> </a:t>
            </a:r>
            <a:r>
              <a:rPr lang="en-US" sz="2400" dirty="0">
                <a:latin typeface="+mj-lt"/>
                <a:cs typeface="Carlito"/>
              </a:rPr>
              <a:t>utilize  </a:t>
            </a:r>
            <a:r>
              <a:rPr lang="en-US" sz="2400" spc="-15" dirty="0">
                <a:latin typeface="+mj-lt"/>
                <a:cs typeface="Carlito"/>
              </a:rPr>
              <a:t>available </a:t>
            </a:r>
            <a:r>
              <a:rPr lang="en-US" sz="2400" spc="-10" dirty="0">
                <a:latin typeface="+mj-lt"/>
                <a:cs typeface="Carlito"/>
              </a:rPr>
              <a:t>cash </a:t>
            </a:r>
            <a:r>
              <a:rPr lang="en-US" sz="2400" dirty="0">
                <a:latin typeface="+mj-lt"/>
                <a:cs typeface="Carlito"/>
              </a:rPr>
              <a:t>in </a:t>
            </a:r>
            <a:r>
              <a:rPr lang="en-US" sz="2400" spc="-15" dirty="0">
                <a:latin typeface="+mj-lt"/>
                <a:cs typeface="Carlito"/>
              </a:rPr>
              <a:t>most </a:t>
            </a:r>
            <a:r>
              <a:rPr lang="en-US" sz="2400" spc="-20" dirty="0">
                <a:latin typeface="+mj-lt"/>
                <a:cs typeface="Carlito"/>
              </a:rPr>
              <a:t>effective</a:t>
            </a:r>
            <a:r>
              <a:rPr lang="en-US" sz="2400" spc="25" dirty="0">
                <a:latin typeface="+mj-lt"/>
                <a:cs typeface="Carlito"/>
              </a:rPr>
              <a:t> </a:t>
            </a:r>
            <a:r>
              <a:rPr lang="en-US" sz="2400" spc="-30" dirty="0">
                <a:latin typeface="+mj-lt"/>
                <a:cs typeface="Carlito"/>
              </a:rPr>
              <a:t>way</a:t>
            </a:r>
          </a:p>
          <a:p>
            <a:pPr marL="355600" marR="55880" algn="just">
              <a:spcBef>
                <a:spcPts val="100"/>
              </a:spcBef>
              <a:buFont typeface="Arial"/>
              <a:buChar char="•"/>
              <a:tabLst>
                <a:tab pos="355600" algn="l"/>
                <a:tab pos="4763135" algn="l"/>
              </a:tabLst>
            </a:pPr>
            <a:endParaRPr lang="en-US" sz="2400" dirty="0">
              <a:latin typeface="+mj-lt"/>
              <a:cs typeface="Carlito"/>
            </a:endParaRPr>
          </a:p>
          <a:p>
            <a:pPr marL="355600" marR="1185545" algn="just">
              <a:spcBef>
                <a:spcPts val="865"/>
              </a:spcBef>
              <a:buFont typeface="Arial"/>
              <a:buChar char="•"/>
              <a:tabLst>
                <a:tab pos="355600" algn="l"/>
              </a:tabLst>
            </a:pPr>
            <a:r>
              <a:rPr lang="en-US" sz="2400" dirty="0">
                <a:latin typeface="+mj-lt"/>
                <a:cs typeface="Carlito"/>
              </a:rPr>
              <a:t>But </a:t>
            </a:r>
            <a:r>
              <a:rPr lang="en-US" sz="2400" spc="-15" dirty="0">
                <a:latin typeface="+mj-lt"/>
                <a:cs typeface="Carlito"/>
              </a:rPr>
              <a:t>management </a:t>
            </a:r>
            <a:r>
              <a:rPr lang="en-US" sz="2400" dirty="0">
                <a:latin typeface="+mj-lt"/>
                <a:cs typeface="Carlito"/>
              </a:rPr>
              <a:t>of </a:t>
            </a:r>
            <a:r>
              <a:rPr lang="en-US" sz="2400" spc="-10" dirty="0">
                <a:latin typeface="+mj-lt"/>
                <a:cs typeface="Carlito"/>
              </a:rPr>
              <a:t>cash </a:t>
            </a:r>
            <a:r>
              <a:rPr lang="en-US" sz="2400" dirty="0">
                <a:latin typeface="+mj-lt"/>
                <a:cs typeface="Carlito"/>
              </a:rPr>
              <a:t>is not as simple</a:t>
            </a:r>
          </a:p>
          <a:p>
            <a:pPr marL="355600" marR="1185545" algn="just">
              <a:spcBef>
                <a:spcPts val="865"/>
              </a:spcBef>
              <a:buFont typeface="Arial"/>
              <a:buChar char="•"/>
              <a:tabLst>
                <a:tab pos="355600" algn="l"/>
              </a:tabLst>
            </a:pPr>
            <a:endParaRPr lang="en-US" sz="2400" dirty="0">
              <a:latin typeface="+mj-lt"/>
              <a:cs typeface="Carlito"/>
            </a:endParaRPr>
          </a:p>
          <a:p>
            <a:pPr marL="355600" algn="just">
              <a:spcBef>
                <a:spcPts val="869"/>
              </a:spcBef>
              <a:buFont typeface="Arial"/>
              <a:buChar char="•"/>
              <a:tabLst>
                <a:tab pos="355600" algn="l"/>
              </a:tabLst>
            </a:pPr>
            <a:r>
              <a:rPr lang="en-US" sz="2400" dirty="0">
                <a:latin typeface="+mj-lt"/>
                <a:cs typeface="Carlito"/>
              </a:rPr>
              <a:t>It is </a:t>
            </a:r>
            <a:r>
              <a:rPr lang="en-US" sz="2400" spc="-5" dirty="0">
                <a:latin typeface="+mj-lt"/>
                <a:cs typeface="Carlito"/>
              </a:rPr>
              <a:t>challenging </a:t>
            </a:r>
            <a:r>
              <a:rPr lang="en-US" sz="2400" spc="-20" dirty="0">
                <a:latin typeface="+mj-lt"/>
                <a:cs typeface="Carlito"/>
              </a:rPr>
              <a:t>to </a:t>
            </a:r>
            <a:r>
              <a:rPr lang="en-US" sz="2400" dirty="0">
                <a:latin typeface="+mj-lt"/>
                <a:cs typeface="Carlito"/>
              </a:rPr>
              <a:t>decide </a:t>
            </a:r>
            <a:r>
              <a:rPr lang="en-US" sz="2400" spc="-10" dirty="0">
                <a:latin typeface="+mj-lt"/>
                <a:cs typeface="Carlito"/>
              </a:rPr>
              <a:t>how </a:t>
            </a:r>
            <a:r>
              <a:rPr lang="en-US" sz="2400" spc="-5" dirty="0">
                <a:latin typeface="+mj-lt"/>
                <a:cs typeface="Carlito"/>
              </a:rPr>
              <a:t>much  cash </a:t>
            </a:r>
            <a:r>
              <a:rPr lang="en-US" sz="2400" dirty="0">
                <a:latin typeface="+mj-lt"/>
                <a:cs typeface="Carlito"/>
              </a:rPr>
              <a:t>is needed </a:t>
            </a:r>
            <a:r>
              <a:rPr lang="en-US" sz="2400" spc="-20" dirty="0">
                <a:latin typeface="+mj-lt"/>
                <a:cs typeface="Carlito"/>
              </a:rPr>
              <a:t>for day to </a:t>
            </a:r>
            <a:r>
              <a:rPr lang="en-US" sz="2400" spc="-25" dirty="0">
                <a:latin typeface="+mj-lt"/>
                <a:cs typeface="Carlito"/>
              </a:rPr>
              <a:t>day </a:t>
            </a:r>
            <a:r>
              <a:rPr lang="en-US" sz="2400" spc="-15" dirty="0">
                <a:latin typeface="+mj-lt"/>
                <a:cs typeface="Carlito"/>
              </a:rPr>
              <a:t>operation  </a:t>
            </a:r>
            <a:r>
              <a:rPr lang="en-US" sz="2400" dirty="0">
                <a:latin typeface="+mj-lt"/>
                <a:cs typeface="Carlito"/>
              </a:rPr>
              <a:t>and </a:t>
            </a:r>
            <a:r>
              <a:rPr lang="en-US" sz="2400" spc="-5" dirty="0">
                <a:latin typeface="+mj-lt"/>
                <a:cs typeface="Carlito"/>
              </a:rPr>
              <a:t>how much cash </a:t>
            </a:r>
            <a:r>
              <a:rPr lang="en-US" sz="2400" dirty="0">
                <a:latin typeface="+mj-lt"/>
                <a:cs typeface="Carlito"/>
              </a:rPr>
              <a:t>should be put aside  </a:t>
            </a:r>
            <a:r>
              <a:rPr lang="en-US" sz="2400" spc="-20" dirty="0">
                <a:latin typeface="+mj-lt"/>
                <a:cs typeface="Carlito"/>
              </a:rPr>
              <a:t>to </a:t>
            </a:r>
            <a:r>
              <a:rPr lang="en-US" sz="2400" spc="-5" dirty="0">
                <a:latin typeface="+mj-lt"/>
                <a:cs typeface="Carlito"/>
              </a:rPr>
              <a:t>meeting </a:t>
            </a:r>
            <a:r>
              <a:rPr lang="en-US" sz="2400" spc="-25" dirty="0">
                <a:latin typeface="+mj-lt"/>
                <a:cs typeface="Carlito"/>
              </a:rPr>
              <a:t>any</a:t>
            </a:r>
            <a:r>
              <a:rPr lang="en-US" sz="2400" spc="20" dirty="0">
                <a:latin typeface="+mj-lt"/>
                <a:cs typeface="Carlito"/>
              </a:rPr>
              <a:t> </a:t>
            </a:r>
            <a:r>
              <a:rPr lang="en-US" sz="2400" spc="-40" dirty="0">
                <a:latin typeface="+mj-lt"/>
                <a:cs typeface="Carlito"/>
              </a:rPr>
              <a:t>emergency.</a:t>
            </a:r>
            <a:endParaRPr lang="en-US" sz="2400" dirty="0">
              <a:latin typeface="+mj-lt"/>
              <a:cs typeface="Carlito"/>
            </a:endParaRPr>
          </a:p>
          <a:p>
            <a:pPr algn="just">
              <a:buNone/>
            </a:pPr>
            <a:endParaRPr lang="en-US" sz="2400" dirty="0">
              <a:latin typeface="+mj-lt"/>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
        <p:nvSpPr>
          <p:cNvPr id="8" name="Title 1"/>
          <p:cNvSpPr txBox="1">
            <a:spLocks/>
          </p:cNvSpPr>
          <p:nvPr/>
        </p:nvSpPr>
        <p:spPr>
          <a:xfrm>
            <a:off x="1828800" y="2458"/>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spc="-5" dirty="0">
                <a:latin typeface="Carlito"/>
                <a:cs typeface="Carlito"/>
              </a:rPr>
              <a:t>Cash</a:t>
            </a:r>
            <a:r>
              <a:rPr lang="en-US" sz="2800" b="1" spc="-60" dirty="0">
                <a:latin typeface="Carlito"/>
                <a:cs typeface="Carlito"/>
              </a:rPr>
              <a:t> </a:t>
            </a:r>
            <a:r>
              <a:rPr lang="en-US" sz="2800" b="1" spc="-15" dirty="0">
                <a:latin typeface="Carlito"/>
                <a:cs typeface="Carlito"/>
              </a:rPr>
              <a:t>Management</a:t>
            </a:r>
            <a:endParaRPr lang="en-US" sz="2800" dirty="0">
              <a:latin typeface="Arial" panose="020B0604020202020204" pitchFamily="34" charset="0"/>
              <a:cs typeface="Arial" panose="020B0604020202020204" pitchFamily="34" charset="0"/>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2BE35F11-E593-4687-ACC5-F7B3B9BDDC9B}" type="datetime1">
              <a:rPr lang="en-US" smtClean="0"/>
              <a:t>8/20/2025</a:t>
            </a:fld>
            <a:endParaRPr lang="en-US"/>
          </a:p>
        </p:txBody>
      </p:sp>
    </p:spTree>
    <p:extLst>
      <p:ext uri="{BB962C8B-B14F-4D97-AF65-F5344CB8AC3E}">
        <p14:creationId xmlns:p14="http://schemas.microsoft.com/office/powerpoint/2010/main" val="276616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11658600" cy="5410200"/>
          </a:xfrm>
        </p:spPr>
        <p:txBody>
          <a:bodyPr>
            <a:normAutofit/>
          </a:bodyPr>
          <a:lstStyle/>
          <a:p>
            <a:pPr>
              <a:buNone/>
            </a:pPr>
            <a:r>
              <a:rPr lang="en-US" sz="2400" spc="-10" dirty="0">
                <a:cs typeface="Carlito"/>
              </a:rPr>
              <a:t>     Cash </a:t>
            </a:r>
            <a:r>
              <a:rPr lang="en-US" sz="2400" spc="-15" dirty="0">
                <a:cs typeface="Carlito"/>
              </a:rPr>
              <a:t>management </a:t>
            </a:r>
            <a:r>
              <a:rPr lang="en-US" sz="2400" dirty="0">
                <a:cs typeface="Carlito"/>
              </a:rPr>
              <a:t>is process </a:t>
            </a:r>
            <a:r>
              <a:rPr lang="en-US" sz="2400" spc="-25" dirty="0">
                <a:cs typeface="Carlito"/>
              </a:rPr>
              <a:t>to  </a:t>
            </a:r>
            <a:r>
              <a:rPr lang="en-US" sz="2400" spc="-15" dirty="0">
                <a:cs typeface="Carlito"/>
              </a:rPr>
              <a:t>maintain </a:t>
            </a:r>
            <a:r>
              <a:rPr lang="en-US" sz="2400" dirty="0">
                <a:cs typeface="Carlito"/>
              </a:rPr>
              <a:t>sound </a:t>
            </a:r>
            <a:r>
              <a:rPr lang="en-US" sz="2400" spc="-5" dirty="0">
                <a:cs typeface="Carlito"/>
              </a:rPr>
              <a:t>cash </a:t>
            </a:r>
            <a:r>
              <a:rPr lang="en-US" sz="2400" dirty="0">
                <a:cs typeface="Carlito"/>
              </a:rPr>
              <a:t>position which</a:t>
            </a:r>
            <a:r>
              <a:rPr lang="en-US" sz="2400" spc="-20" dirty="0">
                <a:cs typeface="Carlito"/>
              </a:rPr>
              <a:t> </a:t>
            </a:r>
            <a:r>
              <a:rPr lang="en-US" sz="2400" spc="-15" dirty="0">
                <a:cs typeface="Carlito"/>
              </a:rPr>
              <a:t>maintains </a:t>
            </a:r>
            <a:r>
              <a:rPr lang="en-US" sz="2400" dirty="0">
                <a:cs typeface="Carlito"/>
              </a:rPr>
              <a:t>liquidity </a:t>
            </a:r>
            <a:r>
              <a:rPr lang="en-US" sz="2400" spc="-5" dirty="0">
                <a:cs typeface="Carlito"/>
              </a:rPr>
              <a:t>and </a:t>
            </a:r>
            <a:r>
              <a:rPr lang="en-US" sz="2400" dirty="0">
                <a:cs typeface="Carlito"/>
              </a:rPr>
              <a:t>use </a:t>
            </a:r>
            <a:r>
              <a:rPr lang="en-US" sz="2400" spc="-30" dirty="0">
                <a:cs typeface="Carlito"/>
              </a:rPr>
              <a:t>excess </a:t>
            </a:r>
            <a:r>
              <a:rPr lang="en-US" sz="2400" spc="-10" dirty="0">
                <a:cs typeface="Carlito"/>
              </a:rPr>
              <a:t>cash </a:t>
            </a:r>
            <a:r>
              <a:rPr lang="en-US" sz="2400" dirty="0">
                <a:cs typeface="Carlito"/>
              </a:rPr>
              <a:t>in  </a:t>
            </a:r>
            <a:r>
              <a:rPr lang="en-US" sz="2400" spc="-10" dirty="0">
                <a:cs typeface="Carlito"/>
              </a:rPr>
              <a:t>profitable</a:t>
            </a:r>
            <a:r>
              <a:rPr lang="en-US" sz="2400" spc="5" dirty="0">
                <a:cs typeface="Carlito"/>
              </a:rPr>
              <a:t> </a:t>
            </a:r>
            <a:r>
              <a:rPr lang="en-US" sz="2400" spc="-80" dirty="0">
                <a:cs typeface="Carlito"/>
              </a:rPr>
              <a:t>way.</a:t>
            </a:r>
            <a:endParaRPr lang="en-US" sz="2400" dirty="0">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
        <p:nvSpPr>
          <p:cNvPr id="8" name="Title 1"/>
          <p:cNvSpPr txBox="1">
            <a:spLocks/>
          </p:cNvSpPr>
          <p:nvPr/>
        </p:nvSpPr>
        <p:spPr>
          <a:xfrm>
            <a:off x="1828800" y="5162"/>
            <a:ext cx="10363200" cy="68063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IN" sz="2800" b="1" dirty="0"/>
          </a:p>
          <a:p>
            <a:pPr lvl="0" algn="ctr">
              <a:spcBef>
                <a:spcPct val="0"/>
              </a:spcBef>
              <a:defRPr/>
            </a:pPr>
            <a:r>
              <a:rPr lang="en-IN" sz="2800" dirty="0">
                <a:cs typeface="Arial" panose="020B0604020202020204" pitchFamily="34" charset="0"/>
              </a:rPr>
              <a:t>Objectives of Cash Management </a:t>
            </a:r>
            <a:br>
              <a:rPr lang="en-IN" sz="2800" dirty="0">
                <a:cs typeface="Arial" panose="020B0604020202020204" pitchFamily="34" charset="0"/>
              </a:rPr>
            </a:br>
            <a:endParaRPr lang="en-US" sz="2800" dirty="0">
              <a:cs typeface="Arial" panose="020B0604020202020204" pitchFamily="34" charset="0"/>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1CC818AC-F707-49CD-951C-8EAE3954D130}" type="datetime1">
              <a:rPr lang="en-US" smtClean="0"/>
              <a:t>8/20/2025</a:t>
            </a:fld>
            <a:endParaRPr lang="en-US"/>
          </a:p>
        </p:txBody>
      </p:sp>
    </p:spTree>
    <p:extLst>
      <p:ext uri="{BB962C8B-B14F-4D97-AF65-F5344CB8AC3E}">
        <p14:creationId xmlns:p14="http://schemas.microsoft.com/office/powerpoint/2010/main" val="26193275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1166018"/>
            <a:ext cx="11531600" cy="4525963"/>
          </a:xfrm>
        </p:spPr>
        <p:txBody>
          <a:bodyPr>
            <a:normAutofit/>
          </a:bodyPr>
          <a:lstStyle/>
          <a:p>
            <a:pPr marL="355600" marR="5080">
              <a:spcBef>
                <a:spcPts val="100"/>
              </a:spcBef>
              <a:buNone/>
              <a:tabLst>
                <a:tab pos="355600" algn="l"/>
              </a:tabLst>
            </a:pPr>
            <a:r>
              <a:rPr lang="en-IN" sz="1800" dirty="0"/>
              <a:t>  </a:t>
            </a:r>
            <a:r>
              <a:rPr lang="en-US" sz="1800" spc="-10" dirty="0">
                <a:cs typeface="Carlito"/>
              </a:rPr>
              <a:t>Problem </a:t>
            </a:r>
            <a:r>
              <a:rPr lang="en-US" sz="1800" dirty="0">
                <a:cs typeface="Carlito"/>
              </a:rPr>
              <a:t>in </a:t>
            </a:r>
            <a:r>
              <a:rPr lang="en-US" sz="1800" spc="-5" dirty="0">
                <a:cs typeface="Carlito"/>
              </a:rPr>
              <a:t>cash </a:t>
            </a:r>
            <a:r>
              <a:rPr lang="en-US" sz="1800" spc="-15" dirty="0">
                <a:cs typeface="Carlito"/>
              </a:rPr>
              <a:t>management </a:t>
            </a:r>
            <a:r>
              <a:rPr lang="en-US" sz="1800" dirty="0">
                <a:cs typeface="Carlito"/>
              </a:rPr>
              <a:t>has been  </a:t>
            </a:r>
            <a:r>
              <a:rPr lang="en-US" sz="1800" spc="-5" dirty="0">
                <a:cs typeface="Carlito"/>
              </a:rPr>
              <a:t>identified </a:t>
            </a:r>
            <a:r>
              <a:rPr lang="en-US" sz="1800" dirty="0">
                <a:cs typeface="Carlito"/>
              </a:rPr>
              <a:t>in these </a:t>
            </a:r>
            <a:r>
              <a:rPr lang="en-US" sz="1800" spc="-15" dirty="0">
                <a:cs typeface="Carlito"/>
              </a:rPr>
              <a:t>four</a:t>
            </a:r>
            <a:r>
              <a:rPr lang="en-US" sz="1800" spc="30" dirty="0">
                <a:cs typeface="Carlito"/>
              </a:rPr>
              <a:t> </a:t>
            </a:r>
            <a:r>
              <a:rPr lang="en-US" sz="1800" spc="-10" dirty="0">
                <a:cs typeface="Carlito"/>
              </a:rPr>
              <a:t>areas:</a:t>
            </a:r>
            <a:endParaRPr lang="en-US" sz="1800" dirty="0">
              <a:cs typeface="Carlito"/>
            </a:endParaRPr>
          </a:p>
          <a:p>
            <a:pPr marL="469900" indent="-457834">
              <a:spcBef>
                <a:spcPts val="865"/>
              </a:spcBef>
              <a:buAutoNum type="arabicPeriod"/>
              <a:tabLst>
                <a:tab pos="470534" algn="l"/>
              </a:tabLst>
            </a:pPr>
            <a:r>
              <a:rPr lang="en-US" sz="1800" spc="-10" dirty="0">
                <a:cs typeface="Carlito"/>
              </a:rPr>
              <a:t>Controlling </a:t>
            </a:r>
            <a:r>
              <a:rPr lang="en-US" sz="1800" spc="-15" dirty="0">
                <a:cs typeface="Carlito"/>
              </a:rPr>
              <a:t>Level </a:t>
            </a:r>
            <a:r>
              <a:rPr lang="en-US" sz="1800" dirty="0">
                <a:cs typeface="Carlito"/>
              </a:rPr>
              <a:t>of</a:t>
            </a:r>
            <a:r>
              <a:rPr lang="en-US" sz="1800" spc="10" dirty="0">
                <a:cs typeface="Carlito"/>
              </a:rPr>
              <a:t> </a:t>
            </a:r>
            <a:r>
              <a:rPr lang="en-US" sz="1800" spc="-5" dirty="0">
                <a:cs typeface="Carlito"/>
              </a:rPr>
              <a:t>Cash</a:t>
            </a:r>
            <a:endParaRPr lang="en-US" sz="1800" dirty="0">
              <a:cs typeface="Carlito"/>
            </a:endParaRPr>
          </a:p>
          <a:p>
            <a:pPr marL="469900" indent="-457834">
              <a:spcBef>
                <a:spcPts val="865"/>
              </a:spcBef>
              <a:buAutoNum type="arabicPeriod"/>
              <a:tabLst>
                <a:tab pos="470534" algn="l"/>
              </a:tabLst>
            </a:pPr>
            <a:r>
              <a:rPr lang="en-US" sz="1800" spc="-10" dirty="0">
                <a:cs typeface="Carlito"/>
              </a:rPr>
              <a:t>Controlling </a:t>
            </a:r>
            <a:r>
              <a:rPr lang="en-US" sz="1800" spc="-5" dirty="0">
                <a:cs typeface="Carlito"/>
              </a:rPr>
              <a:t>in-flow </a:t>
            </a:r>
            <a:r>
              <a:rPr lang="en-US" sz="1800" dirty="0">
                <a:cs typeface="Carlito"/>
              </a:rPr>
              <a:t>of</a:t>
            </a:r>
            <a:r>
              <a:rPr lang="en-US" sz="1800" spc="30" dirty="0">
                <a:cs typeface="Carlito"/>
              </a:rPr>
              <a:t> </a:t>
            </a:r>
            <a:r>
              <a:rPr lang="en-US" sz="1800" spc="-5" dirty="0">
                <a:cs typeface="Carlito"/>
              </a:rPr>
              <a:t>cash</a:t>
            </a:r>
            <a:endParaRPr lang="en-US" sz="1800" dirty="0">
              <a:cs typeface="Carlito"/>
            </a:endParaRPr>
          </a:p>
          <a:p>
            <a:pPr marL="469900" indent="-457834">
              <a:spcBef>
                <a:spcPts val="870"/>
              </a:spcBef>
              <a:buAutoNum type="arabicPeriod"/>
              <a:tabLst>
                <a:tab pos="470534" algn="l"/>
              </a:tabLst>
            </a:pPr>
            <a:r>
              <a:rPr lang="en-US" sz="1800" spc="-10" dirty="0">
                <a:cs typeface="Carlito"/>
              </a:rPr>
              <a:t>Controlling </a:t>
            </a:r>
            <a:r>
              <a:rPr lang="en-US" sz="1800" spc="-5" dirty="0">
                <a:cs typeface="Carlito"/>
              </a:rPr>
              <a:t>out-flow </a:t>
            </a:r>
            <a:r>
              <a:rPr lang="en-US" sz="1800" dirty="0">
                <a:cs typeface="Carlito"/>
              </a:rPr>
              <a:t>of</a:t>
            </a:r>
            <a:r>
              <a:rPr lang="en-US" sz="1800" spc="15" dirty="0">
                <a:cs typeface="Carlito"/>
              </a:rPr>
              <a:t> </a:t>
            </a:r>
            <a:r>
              <a:rPr lang="en-US" sz="1800" spc="-10" dirty="0">
                <a:cs typeface="Carlito"/>
              </a:rPr>
              <a:t>cash</a:t>
            </a:r>
            <a:endParaRPr lang="en-US" sz="1800" dirty="0">
              <a:cs typeface="Carlito"/>
            </a:endParaRPr>
          </a:p>
          <a:p>
            <a:pPr marL="469900" indent="-457834">
              <a:spcBef>
                <a:spcPts val="860"/>
              </a:spcBef>
              <a:buAutoNum type="arabicPeriod"/>
              <a:tabLst>
                <a:tab pos="470534" algn="l"/>
                <a:tab pos="4941570" algn="l"/>
              </a:tabLst>
            </a:pPr>
            <a:r>
              <a:rPr lang="en-US" sz="1800" spc="-5" dirty="0">
                <a:cs typeface="Carlito"/>
              </a:rPr>
              <a:t>Optimal</a:t>
            </a:r>
            <a:r>
              <a:rPr lang="en-US" sz="1800" spc="10" dirty="0">
                <a:cs typeface="Carlito"/>
              </a:rPr>
              <a:t> </a:t>
            </a:r>
            <a:r>
              <a:rPr lang="en-US" sz="1800" spc="-20" dirty="0">
                <a:cs typeface="Carlito"/>
              </a:rPr>
              <a:t>investment</a:t>
            </a:r>
            <a:r>
              <a:rPr lang="en-US" sz="1800" spc="10" dirty="0">
                <a:cs typeface="Carlito"/>
              </a:rPr>
              <a:t> </a:t>
            </a:r>
            <a:r>
              <a:rPr lang="en-US" sz="1800" dirty="0">
                <a:cs typeface="Carlito"/>
              </a:rPr>
              <a:t>of </a:t>
            </a:r>
            <a:r>
              <a:rPr lang="en-US" sz="1800" spc="-25" dirty="0">
                <a:cs typeface="Carlito"/>
              </a:rPr>
              <a:t>excess</a:t>
            </a:r>
            <a:r>
              <a:rPr lang="en-US" sz="1800" spc="-10" dirty="0">
                <a:cs typeface="Carlito"/>
              </a:rPr>
              <a:t> cash</a:t>
            </a:r>
            <a:endParaRPr lang="en-US" sz="1800" dirty="0">
              <a:cs typeface="Carlito"/>
            </a:endParaRPr>
          </a:p>
          <a:p>
            <a:pPr algn="just">
              <a:buNone/>
            </a:pPr>
            <a:endParaRPr lang="en-US" sz="1800" dirty="0">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34</a:t>
            </a:fld>
            <a:endParaRPr lang="en-US"/>
          </a:p>
        </p:txBody>
      </p:sp>
      <p:sp>
        <p:nvSpPr>
          <p:cNvPr id="8" name="Title 1"/>
          <p:cNvSpPr txBox="1">
            <a:spLocks/>
          </p:cNvSpPr>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spc="-10" dirty="0">
                <a:latin typeface="+mj-lt"/>
                <a:cs typeface="Carlito"/>
              </a:rPr>
              <a:t>Problem in</a:t>
            </a:r>
            <a:r>
              <a:rPr lang="en-US" sz="2800" b="1" spc="-5" dirty="0">
                <a:latin typeface="+mj-lt"/>
                <a:cs typeface="Carlito"/>
              </a:rPr>
              <a:t> Cash</a:t>
            </a:r>
            <a:r>
              <a:rPr lang="en-US" sz="2800" b="1" spc="-30" dirty="0">
                <a:latin typeface="+mj-lt"/>
                <a:cs typeface="Carlito"/>
              </a:rPr>
              <a:t> </a:t>
            </a:r>
            <a:r>
              <a:rPr lang="en-US" sz="2800" b="1" spc="-15" dirty="0">
                <a:latin typeface="+mj-lt"/>
                <a:cs typeface="Carlito"/>
              </a:rPr>
              <a:t>Management</a:t>
            </a:r>
            <a:endParaRPr lang="en-IN" sz="2800" b="1" dirty="0">
              <a:latin typeface="+mj-lt"/>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2DE706E6-AC9E-4F12-84FB-B969CC61C100}" type="datetime1">
              <a:rPr lang="en-US" smtClean="0"/>
              <a:t>8/20/2025</a:t>
            </a:fld>
            <a:endParaRPr lang="en-US"/>
          </a:p>
        </p:txBody>
      </p:sp>
    </p:spTree>
    <p:extLst>
      <p:ext uri="{BB962C8B-B14F-4D97-AF65-F5344CB8AC3E}">
        <p14:creationId xmlns:p14="http://schemas.microsoft.com/office/powerpoint/2010/main" val="16670434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11658600" cy="5257800"/>
          </a:xfrm>
        </p:spPr>
        <p:txBody>
          <a:bodyPr>
            <a:normAutofit/>
          </a:bodyPr>
          <a:lstStyle/>
          <a:p>
            <a:pPr algn="just"/>
            <a:r>
              <a:rPr lang="en-US" sz="2800" dirty="0">
                <a:latin typeface="Times New Roman" pitchFamily="18" charset="0"/>
                <a:cs typeface="Times New Roman" pitchFamily="18" charset="0"/>
              </a:rPr>
              <a:t>Cash is the most vital asset in any organization.</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Cash is like blood in the body of a firm.</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Cash should be managed with the clear understanding of various motives to hold it.</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Firm should critically examine the factors affecting the cash needs.</a:t>
            </a:r>
          </a:p>
          <a:p>
            <a:pPr algn="just"/>
            <a:endParaRPr lang="en-US" sz="28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4038600" y="6356351"/>
            <a:ext cx="50292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981200" y="1"/>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latin typeface="Times New Roman" pitchFamily="18" charset="0"/>
                <a:cs typeface="Times New Roman" pitchFamily="18" charset="0"/>
              </a:rPr>
              <a:t>Summary</a:t>
            </a:r>
          </a:p>
        </p:txBody>
      </p:sp>
      <p:sp>
        <p:nvSpPr>
          <p:cNvPr id="2" name="Date Placeholder 1"/>
          <p:cNvSpPr>
            <a:spLocks noGrp="1"/>
          </p:cNvSpPr>
          <p:nvPr>
            <p:ph type="dt" sz="half" idx="10"/>
          </p:nvPr>
        </p:nvSpPr>
        <p:spPr/>
        <p:txBody>
          <a:bodyPr/>
          <a:lstStyle/>
          <a:p>
            <a:fld id="{571A9FDC-E389-43A9-8A53-69821CF36A9B}" type="datetime1">
              <a:rPr lang="en-US" smtClean="0"/>
              <a:t>8/20/2025</a:t>
            </a:fld>
            <a:endParaRPr lang="en-US"/>
          </a:p>
        </p:txBody>
      </p:sp>
    </p:spTree>
    <p:extLst>
      <p:ext uri="{BB962C8B-B14F-4D97-AF65-F5344CB8AC3E}">
        <p14:creationId xmlns:p14="http://schemas.microsoft.com/office/powerpoint/2010/main" val="581374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626" y="990600"/>
            <a:ext cx="11742174" cy="5257800"/>
          </a:xfrm>
        </p:spPr>
        <p:txBody>
          <a:bodyPr>
            <a:normAutofit/>
          </a:bodyPr>
          <a:lstStyle/>
          <a:p>
            <a:pPr marL="457200" indent="-457200" algn="just">
              <a:buFont typeface="+mj-lt"/>
              <a:buAutoNum type="arabicPeriod"/>
            </a:pPr>
            <a:r>
              <a:rPr lang="en-US" sz="2400" dirty="0">
                <a:latin typeface="Times New Roman" pitchFamily="18" charset="0"/>
                <a:cs typeface="Times New Roman" pitchFamily="18" charset="0"/>
              </a:rPr>
              <a:t>Define the Cash.</a:t>
            </a:r>
          </a:p>
          <a:p>
            <a:pPr marL="457200" indent="-457200" algn="just">
              <a:buFont typeface="+mj-lt"/>
              <a:buAutoNum type="arabicPeriod"/>
            </a:pPr>
            <a:r>
              <a:rPr lang="en-US" sz="2400" dirty="0">
                <a:latin typeface="Times New Roman" pitchFamily="18" charset="0"/>
                <a:cs typeface="Times New Roman" pitchFamily="18" charset="0"/>
              </a:rPr>
              <a:t>Discuss the importance of cash in any firm.</a:t>
            </a:r>
          </a:p>
          <a:p>
            <a:pPr marL="457200" indent="-457200" algn="just">
              <a:buFont typeface="+mj-lt"/>
              <a:buAutoNum type="arabicPeriod"/>
            </a:pPr>
            <a:r>
              <a:rPr lang="en-US" sz="2400" dirty="0">
                <a:latin typeface="Times New Roman" pitchFamily="18" charset="0"/>
                <a:cs typeface="Times New Roman" pitchFamily="18" charset="0"/>
              </a:rPr>
              <a:t>Why cash is needed to managed with great caution?</a:t>
            </a:r>
          </a:p>
          <a:p>
            <a:pPr marL="457200" indent="-457200" algn="just">
              <a:buFont typeface="+mj-lt"/>
              <a:buAutoNum type="arabicPeriod"/>
            </a:pPr>
            <a:r>
              <a:rPr lang="en-US" sz="2400" dirty="0">
                <a:latin typeface="Times New Roman" pitchFamily="18" charset="0"/>
                <a:cs typeface="Times New Roman" pitchFamily="18" charset="0"/>
              </a:rPr>
              <a:t>Explain the difference between profit and cash.</a:t>
            </a:r>
          </a:p>
          <a:p>
            <a:pPr marL="457200" indent="-457200" algn="just">
              <a:buFont typeface="+mj-lt"/>
              <a:buAutoNum type="arabicPeriod"/>
            </a:pPr>
            <a:r>
              <a:rPr lang="en-US" sz="2400" dirty="0">
                <a:latin typeface="Times New Roman" pitchFamily="18" charset="0"/>
                <a:cs typeface="Times New Roman" pitchFamily="18" charset="0"/>
              </a:rPr>
              <a:t>Discus the precautionary motive to hold the cash.</a:t>
            </a:r>
          </a:p>
          <a:p>
            <a:pPr marL="457200" indent="-457200" algn="just">
              <a:buFont typeface="+mj-lt"/>
              <a:buAutoNum type="arabicPeriod"/>
            </a:pPr>
            <a:r>
              <a:rPr lang="en-US" sz="2400" dirty="0">
                <a:latin typeface="Times New Roman" pitchFamily="18" charset="0"/>
                <a:cs typeface="Times New Roman" pitchFamily="18" charset="0"/>
              </a:rPr>
              <a:t>Explain why cash in hand and current account balances produce zero yield.</a:t>
            </a:r>
          </a:p>
          <a:p>
            <a:pPr marL="457200" indent="-457200" algn="just">
              <a:buFont typeface="+mj-lt"/>
              <a:buAutoNum type="arabicPeriod"/>
            </a:pPr>
            <a:r>
              <a:rPr lang="en-US" sz="2400" dirty="0">
                <a:latin typeface="Times New Roman" pitchFamily="18" charset="0"/>
                <a:cs typeface="Times New Roman" pitchFamily="18" charset="0"/>
              </a:rPr>
              <a:t>State the reason to hold the cash under transaction motive.</a:t>
            </a:r>
          </a:p>
          <a:p>
            <a:pPr marL="457200" indent="-457200" algn="just">
              <a:buFont typeface="+mj-lt"/>
              <a:buAutoNum type="arabicPeriod"/>
            </a:pPr>
            <a:r>
              <a:rPr lang="en-US" sz="2400" dirty="0">
                <a:latin typeface="Times New Roman" pitchFamily="18" charset="0"/>
                <a:cs typeface="Times New Roman" pitchFamily="18" charset="0"/>
              </a:rPr>
              <a:t>Describe the significance of liquidity in a firm.</a:t>
            </a:r>
          </a:p>
          <a:p>
            <a:pPr marL="457200" indent="-457200" algn="just">
              <a:buFont typeface="+mj-lt"/>
              <a:buAutoNum type="arabicPeriod"/>
            </a:pPr>
            <a:r>
              <a:rPr lang="en-US" sz="2400" dirty="0">
                <a:latin typeface="Times New Roman" pitchFamily="18" charset="0"/>
                <a:cs typeface="Times New Roman" pitchFamily="18" charset="0"/>
              </a:rPr>
              <a:t>Why firms hold the cash under speculative motive.</a:t>
            </a:r>
          </a:p>
          <a:p>
            <a:pPr marL="457200" indent="-457200" algn="just">
              <a:buFont typeface="+mj-lt"/>
              <a:buAutoNum type="arabicPeriod"/>
            </a:pPr>
            <a:r>
              <a:rPr lang="en-US" sz="2400" dirty="0">
                <a:latin typeface="Times New Roman" pitchFamily="18" charset="0"/>
                <a:cs typeface="Times New Roman" pitchFamily="18" charset="0"/>
              </a:rPr>
              <a:t>Explain the compensation motive to hold the cash.</a:t>
            </a:r>
          </a:p>
          <a:p>
            <a:pPr marL="457200" indent="-457200" algn="just">
              <a:buFont typeface="+mj-lt"/>
              <a:buAutoNum type="arabicPeriod"/>
            </a:pPr>
            <a:endParaRPr lang="en-US" sz="24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4038600" y="6356351"/>
            <a:ext cx="50292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905000" y="19665"/>
            <a:ext cx="10287000" cy="66613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solidFill>
                  <a:schemeClr val="tx1"/>
                </a:solidFill>
              </a:rPr>
              <a:t>Quiz</a:t>
            </a:r>
          </a:p>
        </p:txBody>
      </p:sp>
      <p:sp>
        <p:nvSpPr>
          <p:cNvPr id="2" name="Date Placeholder 1"/>
          <p:cNvSpPr>
            <a:spLocks noGrp="1"/>
          </p:cNvSpPr>
          <p:nvPr>
            <p:ph type="dt" sz="half" idx="10"/>
          </p:nvPr>
        </p:nvSpPr>
        <p:spPr/>
        <p:txBody>
          <a:bodyPr/>
          <a:lstStyle/>
          <a:p>
            <a:fld id="{BB4A4034-DB46-4593-A460-42A8FB09E0E0}" type="datetime1">
              <a:rPr lang="en-US" smtClean="0"/>
              <a:t>8/20/2025</a:t>
            </a:fld>
            <a:endParaRPr lang="en-US"/>
          </a:p>
        </p:txBody>
      </p:sp>
    </p:spTree>
    <p:extLst>
      <p:ext uri="{BB962C8B-B14F-4D97-AF65-F5344CB8AC3E}">
        <p14:creationId xmlns:p14="http://schemas.microsoft.com/office/powerpoint/2010/main" val="4280761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201400" cy="4525963"/>
          </a:xfrm>
        </p:spPr>
        <p:txBody>
          <a:bodyPr>
            <a:normAutofit/>
          </a:bodyPr>
          <a:lstStyle/>
          <a:p>
            <a:pPr marL="0" marR="5080" indent="0">
              <a:spcBef>
                <a:spcPts val="765"/>
              </a:spcBef>
              <a:buNone/>
            </a:pPr>
            <a:r>
              <a:rPr lang="en-US" sz="2400" spc="-5" dirty="0">
                <a:latin typeface="Carlito"/>
                <a:cs typeface="Carlito"/>
              </a:rPr>
              <a:t>Some discrepancies </a:t>
            </a:r>
            <a:r>
              <a:rPr lang="en-US" sz="2400" dirty="0">
                <a:latin typeface="Carlito"/>
                <a:cs typeface="Carlito"/>
              </a:rPr>
              <a:t>in </a:t>
            </a:r>
            <a:r>
              <a:rPr lang="en-US" sz="2400" spc="-5" dirty="0">
                <a:latin typeface="Carlito"/>
                <a:cs typeface="Carlito"/>
              </a:rPr>
              <a:t>business </a:t>
            </a:r>
            <a:r>
              <a:rPr lang="en-US" sz="2400" spc="-15" dirty="0">
                <a:latin typeface="Carlito"/>
                <a:cs typeface="Carlito"/>
              </a:rPr>
              <a:t>organization's  are</a:t>
            </a:r>
            <a:r>
              <a:rPr lang="en-US" sz="2400" spc="-20" dirty="0">
                <a:latin typeface="Carlito"/>
                <a:cs typeface="Carlito"/>
              </a:rPr>
              <a:t> </a:t>
            </a:r>
            <a:r>
              <a:rPr lang="en-US" sz="2400" spc="-10" dirty="0">
                <a:latin typeface="Carlito"/>
                <a:cs typeface="Carlito"/>
              </a:rPr>
              <a:t>predictable</a:t>
            </a:r>
            <a:r>
              <a:rPr lang="en-US" sz="2400" dirty="0">
                <a:latin typeface="Carlito"/>
                <a:cs typeface="Carlito"/>
              </a:rPr>
              <a:t> </a:t>
            </a:r>
            <a:r>
              <a:rPr lang="en-US" sz="2400" spc="-10" dirty="0">
                <a:latin typeface="Carlito"/>
                <a:cs typeface="Carlito"/>
              </a:rPr>
              <a:t>comes </a:t>
            </a:r>
            <a:r>
              <a:rPr lang="en-US" sz="2400" spc="-20" dirty="0">
                <a:latin typeface="Carlito"/>
                <a:cs typeface="Carlito"/>
              </a:rPr>
              <a:t>from </a:t>
            </a:r>
            <a:r>
              <a:rPr lang="en-US" sz="2400" spc="-10" dirty="0">
                <a:latin typeface="Carlito"/>
                <a:cs typeface="Carlito"/>
              </a:rPr>
              <a:t>discrepancy between </a:t>
            </a:r>
            <a:r>
              <a:rPr lang="en-US" sz="2400" spc="-5" dirty="0">
                <a:latin typeface="Carlito"/>
                <a:cs typeface="Carlito"/>
              </a:rPr>
              <a:t>in-flow </a:t>
            </a:r>
            <a:r>
              <a:rPr lang="en-US" sz="2400" dirty="0">
                <a:latin typeface="Carlito"/>
                <a:cs typeface="Carlito"/>
              </a:rPr>
              <a:t>and </a:t>
            </a:r>
            <a:r>
              <a:rPr lang="en-US" sz="2400" spc="-5" dirty="0">
                <a:latin typeface="Carlito"/>
                <a:cs typeface="Carlito"/>
              </a:rPr>
              <a:t>out-flow of</a:t>
            </a:r>
            <a:r>
              <a:rPr lang="en-US" sz="2400" spc="-15" dirty="0">
                <a:latin typeface="Carlito"/>
                <a:cs typeface="Carlito"/>
              </a:rPr>
              <a:t> </a:t>
            </a:r>
            <a:r>
              <a:rPr lang="en-US" sz="2400" spc="-5" dirty="0">
                <a:latin typeface="Carlito"/>
                <a:cs typeface="Carlito"/>
              </a:rPr>
              <a:t>cash</a:t>
            </a:r>
          </a:p>
          <a:p>
            <a:pPr marL="0" marR="215265" indent="0">
              <a:spcBef>
                <a:spcPts val="770"/>
              </a:spcBef>
              <a:buNone/>
            </a:pPr>
            <a:r>
              <a:rPr lang="en-US" sz="2400" b="1" spc="10" dirty="0">
                <a:latin typeface="Times New Roman" pitchFamily="18" charset="0"/>
                <a:cs typeface="Times New Roman" pitchFamily="18" charset="0"/>
              </a:rPr>
              <a:t>A. </a:t>
            </a:r>
            <a:r>
              <a:rPr lang="en-US" sz="2400" b="1" spc="-10" dirty="0">
                <a:latin typeface="Times New Roman" pitchFamily="18" charset="0"/>
                <a:cs typeface="Times New Roman" pitchFamily="18" charset="0"/>
              </a:rPr>
              <a:t>Predictable</a:t>
            </a:r>
            <a:r>
              <a:rPr lang="en-US" sz="2400" b="1" spc="-60" dirty="0">
                <a:latin typeface="Times New Roman" pitchFamily="18" charset="0"/>
                <a:cs typeface="Times New Roman" pitchFamily="18" charset="0"/>
              </a:rPr>
              <a:t> </a:t>
            </a:r>
            <a:r>
              <a:rPr lang="en-US" sz="2400" b="1" spc="-5" dirty="0">
                <a:latin typeface="Times New Roman" pitchFamily="18" charset="0"/>
                <a:cs typeface="Times New Roman" pitchFamily="18" charset="0"/>
              </a:rPr>
              <a:t>Discrepancies</a:t>
            </a:r>
            <a:endParaRPr lang="en-US" sz="2400" dirty="0">
              <a:latin typeface="Times New Roman" pitchFamily="18" charset="0"/>
              <a:cs typeface="Times New Roman" pitchFamily="18" charset="0"/>
            </a:endParaRPr>
          </a:p>
          <a:p>
            <a:pPr marL="0" marR="215265" indent="0">
              <a:spcBef>
                <a:spcPts val="770"/>
              </a:spcBef>
              <a:buNone/>
            </a:pPr>
            <a:r>
              <a:rPr lang="en-US" sz="2400" b="1" dirty="0">
                <a:latin typeface="Times New Roman" pitchFamily="18" charset="0"/>
                <a:cs typeface="Times New Roman" pitchFamily="18" charset="0"/>
              </a:rPr>
              <a:t>B. </a:t>
            </a:r>
            <a:r>
              <a:rPr lang="en-US" sz="2400" b="1" spc="-10" dirty="0">
                <a:latin typeface="Times New Roman" pitchFamily="18" charset="0"/>
                <a:cs typeface="Times New Roman" pitchFamily="18" charset="0"/>
              </a:rPr>
              <a:t>Unpredictable</a:t>
            </a:r>
            <a:r>
              <a:rPr lang="en-US" sz="2400" b="1" spc="-70" dirty="0">
                <a:latin typeface="Times New Roman" pitchFamily="18" charset="0"/>
                <a:cs typeface="Times New Roman" pitchFamily="18" charset="0"/>
              </a:rPr>
              <a:t> </a:t>
            </a:r>
            <a:r>
              <a:rPr lang="en-US" sz="2400" b="1" spc="-5" dirty="0">
                <a:latin typeface="Times New Roman" pitchFamily="18" charset="0"/>
                <a:cs typeface="Times New Roman" pitchFamily="18" charset="0"/>
              </a:rPr>
              <a:t>discrepancy</a:t>
            </a:r>
            <a:r>
              <a:rPr lang="en-US" sz="2400" spc="-5"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marL="225425" marR="215265" indent="-225425">
              <a:spcBef>
                <a:spcPts val="770"/>
              </a:spcBef>
              <a:buNone/>
            </a:pPr>
            <a:r>
              <a:rPr lang="en-US" sz="2400" b="1" spc="-5" dirty="0">
                <a:latin typeface="Times New Roman" pitchFamily="18" charset="0"/>
                <a:cs typeface="Times New Roman" pitchFamily="18" charset="0"/>
              </a:rPr>
              <a:t>C.  </a:t>
            </a:r>
            <a:r>
              <a:rPr lang="en-US" sz="2400" b="1" spc="-15" dirty="0">
                <a:latin typeface="Times New Roman" pitchFamily="18" charset="0"/>
                <a:cs typeface="Times New Roman" pitchFamily="18" charset="0"/>
              </a:rPr>
              <a:t>Source </a:t>
            </a:r>
            <a:r>
              <a:rPr lang="en-US" sz="2400" b="1" spc="-5" dirty="0">
                <a:latin typeface="Times New Roman" pitchFamily="18" charset="0"/>
                <a:cs typeface="Times New Roman" pitchFamily="18" charset="0"/>
              </a:rPr>
              <a:t>of</a:t>
            </a:r>
            <a:r>
              <a:rPr lang="en-US" sz="2400" b="1" spc="-40" dirty="0">
                <a:latin typeface="Times New Roman" pitchFamily="18" charset="0"/>
                <a:cs typeface="Times New Roman" pitchFamily="18" charset="0"/>
              </a:rPr>
              <a:t> </a:t>
            </a:r>
            <a:r>
              <a:rPr lang="en-US" sz="2400" b="1" spc="-5" dirty="0">
                <a:latin typeface="Times New Roman" pitchFamily="18" charset="0"/>
                <a:cs typeface="Times New Roman" pitchFamily="18" charset="0"/>
              </a:rPr>
              <a:t>Fund</a:t>
            </a:r>
          </a:p>
          <a:p>
            <a:pPr marL="225425" marR="215265" indent="-225425">
              <a:spcBef>
                <a:spcPts val="770"/>
              </a:spcBef>
              <a:buNone/>
            </a:pPr>
            <a:r>
              <a:rPr lang="en-US" sz="2400" b="1" spc="-40" dirty="0">
                <a:latin typeface="Times New Roman" pitchFamily="18" charset="0"/>
                <a:cs typeface="Times New Roman" pitchFamily="18" charset="0"/>
              </a:rPr>
              <a:t>D. </a:t>
            </a:r>
            <a:r>
              <a:rPr lang="en-US" sz="2400" b="1" spc="-5" dirty="0">
                <a:latin typeface="Times New Roman" pitchFamily="18" charset="0"/>
                <a:cs typeface="Times New Roman" pitchFamily="18" charset="0"/>
              </a:rPr>
              <a:t>Relationship with bank:</a:t>
            </a:r>
            <a:endParaRPr lang="en-US" sz="2400" dirty="0">
              <a:latin typeface="Times New Roman" pitchFamily="18" charset="0"/>
              <a:cs typeface="Times New Roman" pitchFamily="18" charset="0"/>
            </a:endParaRPr>
          </a:p>
          <a:p>
            <a:pPr marL="225425" marR="215265" indent="-225425">
              <a:spcBef>
                <a:spcPts val="770"/>
              </a:spcBef>
              <a:buNone/>
            </a:pPr>
            <a:endParaRPr lang="en-IN" sz="2400" b="1"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2066" algn="ctr">
              <a:spcBef>
                <a:spcPts val="865"/>
              </a:spcBef>
              <a:tabLst>
                <a:tab pos="470534" algn="l"/>
              </a:tabLst>
            </a:pPr>
            <a:r>
              <a:rPr lang="en-US" sz="2400" b="1" spc="-10" dirty="0">
                <a:latin typeface="+mj-lt"/>
                <a:cs typeface="Carlito"/>
              </a:rPr>
              <a:t>Controlling </a:t>
            </a:r>
            <a:r>
              <a:rPr lang="en-US" sz="2400" b="1" spc="-15" dirty="0">
                <a:latin typeface="+mj-lt"/>
                <a:cs typeface="Carlito"/>
              </a:rPr>
              <a:t>Level </a:t>
            </a:r>
            <a:r>
              <a:rPr lang="en-US" sz="2400" b="1" dirty="0">
                <a:latin typeface="+mj-lt"/>
                <a:cs typeface="Carlito"/>
              </a:rPr>
              <a:t>of</a:t>
            </a:r>
            <a:r>
              <a:rPr lang="en-US" sz="2400" b="1" spc="10" dirty="0">
                <a:latin typeface="+mj-lt"/>
                <a:cs typeface="Carlito"/>
              </a:rPr>
              <a:t> </a:t>
            </a:r>
            <a:r>
              <a:rPr lang="en-US" sz="2400" b="1" spc="-5" dirty="0">
                <a:latin typeface="+mj-lt"/>
                <a:cs typeface="Carlito"/>
              </a:rPr>
              <a:t>Cash</a:t>
            </a:r>
            <a:endParaRPr lang="en-US" sz="2400" dirty="0">
              <a:latin typeface="+mj-lt"/>
              <a:cs typeface="Carlito"/>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18B70349-556C-4A67-929E-48941A41E412}" type="datetime1">
              <a:rPr lang="en-US" smtClean="0"/>
              <a:t>8/20/2025</a:t>
            </a:fld>
            <a:endParaRPr lang="en-US"/>
          </a:p>
        </p:txBody>
      </p:sp>
    </p:spTree>
    <p:extLst>
      <p:ext uri="{BB962C8B-B14F-4D97-AF65-F5344CB8AC3E}">
        <p14:creationId xmlns:p14="http://schemas.microsoft.com/office/powerpoint/2010/main" val="1924797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11658600" cy="5410200"/>
          </a:xfrm>
        </p:spPr>
        <p:txBody>
          <a:bodyPr>
            <a:normAutofit/>
          </a:bodyPr>
          <a:lstStyle/>
          <a:p>
            <a:pPr marL="927100" marR="905510" indent="-730250">
              <a:spcBef>
                <a:spcPts val="765"/>
              </a:spcBef>
              <a:buNone/>
            </a:pPr>
            <a:r>
              <a:rPr lang="en-US" sz="2400" spc="-10" dirty="0">
                <a:cs typeface="Times New Roman" pitchFamily="18" charset="0"/>
              </a:rPr>
              <a:t>Adequate </a:t>
            </a:r>
            <a:r>
              <a:rPr lang="en-US" sz="2400" spc="-15" dirty="0">
                <a:cs typeface="Times New Roman" pitchFamily="18" charset="0"/>
              </a:rPr>
              <a:t>control </a:t>
            </a:r>
            <a:r>
              <a:rPr lang="en-US" sz="2400" spc="-5" dirty="0">
                <a:cs typeface="Times New Roman" pitchFamily="18" charset="0"/>
              </a:rPr>
              <a:t>on cash in-flow </a:t>
            </a:r>
            <a:r>
              <a:rPr lang="en-US" sz="2400" dirty="0">
                <a:cs typeface="Times New Roman" pitchFamily="18" charset="0"/>
              </a:rPr>
              <a:t>is </a:t>
            </a:r>
            <a:r>
              <a:rPr lang="en-US" sz="2400" spc="-5" dirty="0">
                <a:cs typeface="Times New Roman" pitchFamily="18" charset="0"/>
              </a:rPr>
              <a:t>also  </a:t>
            </a:r>
            <a:r>
              <a:rPr lang="en-US" sz="2400" spc="-10" dirty="0">
                <a:cs typeface="Times New Roman" pitchFamily="18" charset="0"/>
              </a:rPr>
              <a:t>problematic</a:t>
            </a:r>
            <a:r>
              <a:rPr lang="en-US" sz="2400" spc="-5" dirty="0">
                <a:cs typeface="Times New Roman" pitchFamily="18" charset="0"/>
              </a:rPr>
              <a:t> </a:t>
            </a:r>
            <a:r>
              <a:rPr lang="en-US" sz="2400" spc="-10" dirty="0">
                <a:cs typeface="Times New Roman" pitchFamily="18" charset="0"/>
              </a:rPr>
              <a:t>area</a:t>
            </a:r>
            <a:r>
              <a:rPr lang="en-US" sz="2400" dirty="0">
                <a:cs typeface="Times New Roman" pitchFamily="18" charset="0"/>
              </a:rPr>
              <a:t> It is </a:t>
            </a:r>
            <a:r>
              <a:rPr lang="en-US" sz="2400" spc="-5" dirty="0">
                <a:cs typeface="Times New Roman" pitchFamily="18" charset="0"/>
              </a:rPr>
              <a:t>concerned </a:t>
            </a:r>
            <a:r>
              <a:rPr lang="en-US" sz="2400" dirty="0">
                <a:cs typeface="Times New Roman" pitchFamily="18" charset="0"/>
              </a:rPr>
              <a:t>with </a:t>
            </a:r>
            <a:r>
              <a:rPr lang="en-US" sz="2400" spc="-5" dirty="0">
                <a:cs typeface="Times New Roman" pitchFamily="18" charset="0"/>
              </a:rPr>
              <a:t>speedy collection of  cash </a:t>
            </a:r>
            <a:r>
              <a:rPr lang="en-US" sz="2400" dirty="0">
                <a:cs typeface="Times New Roman" pitchFamily="18" charset="0"/>
              </a:rPr>
              <a:t>and also with </a:t>
            </a:r>
            <a:r>
              <a:rPr lang="en-US" sz="2400" spc="-15" dirty="0">
                <a:cs typeface="Times New Roman" pitchFamily="18" charset="0"/>
              </a:rPr>
              <a:t>preventing </a:t>
            </a:r>
            <a:r>
              <a:rPr lang="en-US" sz="2400" spc="-10" dirty="0">
                <a:cs typeface="Times New Roman" pitchFamily="18" charset="0"/>
              </a:rPr>
              <a:t>fraudulent  </a:t>
            </a:r>
            <a:r>
              <a:rPr lang="en-US" sz="2400" spc="-15" dirty="0">
                <a:cs typeface="Times New Roman" pitchFamily="18" charset="0"/>
              </a:rPr>
              <a:t>diversion </a:t>
            </a:r>
            <a:r>
              <a:rPr lang="en-US" sz="2400" spc="-5" dirty="0">
                <a:cs typeface="Times New Roman" pitchFamily="18" charset="0"/>
              </a:rPr>
              <a:t>of </a:t>
            </a:r>
            <a:r>
              <a:rPr lang="en-US" sz="2400" spc="-10" dirty="0">
                <a:cs typeface="Times New Roman" pitchFamily="18" charset="0"/>
              </a:rPr>
              <a:t>cash</a:t>
            </a:r>
            <a:r>
              <a:rPr lang="en-US" sz="2400" spc="40" dirty="0">
                <a:cs typeface="Times New Roman" pitchFamily="18" charset="0"/>
              </a:rPr>
              <a:t> </a:t>
            </a:r>
            <a:r>
              <a:rPr lang="en-US" sz="2400" spc="-30" dirty="0">
                <a:cs typeface="Times New Roman" pitchFamily="18" charset="0"/>
              </a:rPr>
              <a:t>in-flow.</a:t>
            </a:r>
          </a:p>
          <a:p>
            <a:pPr marL="927100" marR="5080" indent="-730250">
              <a:spcBef>
                <a:spcPts val="5"/>
              </a:spcBef>
              <a:buNone/>
            </a:pPr>
            <a:endParaRPr lang="en-US" sz="2400" spc="-30" dirty="0">
              <a:cs typeface="Times New Roman" pitchFamily="18" charset="0"/>
            </a:endParaRPr>
          </a:p>
          <a:p>
            <a:pPr marL="355600">
              <a:spcBef>
                <a:spcPts val="965"/>
              </a:spcBef>
              <a:buNone/>
              <a:tabLst>
                <a:tab pos="355600" algn="l"/>
              </a:tabLst>
            </a:pPr>
            <a:r>
              <a:rPr lang="en-US" sz="2400" b="1" spc="-20" dirty="0">
                <a:cs typeface="Times New Roman" pitchFamily="18" charset="0"/>
              </a:rPr>
              <a:t>For </a:t>
            </a:r>
            <a:r>
              <a:rPr lang="en-US" sz="2400" b="1" dirty="0">
                <a:cs typeface="Times New Roman" pitchFamily="18" charset="0"/>
              </a:rPr>
              <a:t>speedy</a:t>
            </a:r>
            <a:r>
              <a:rPr lang="en-US" sz="2400" b="1" spc="5" dirty="0">
                <a:cs typeface="Times New Roman" pitchFamily="18" charset="0"/>
              </a:rPr>
              <a:t> </a:t>
            </a:r>
            <a:r>
              <a:rPr lang="en-US" sz="2400" b="1" spc="-5" dirty="0">
                <a:cs typeface="Times New Roman" pitchFamily="18" charset="0"/>
              </a:rPr>
              <a:t>Collection</a:t>
            </a:r>
            <a:endParaRPr lang="en-US" sz="2400" dirty="0">
              <a:cs typeface="Times New Roman" pitchFamily="18" charset="0"/>
            </a:endParaRPr>
          </a:p>
          <a:p>
            <a:pPr marL="355600" marR="5080">
              <a:spcBef>
                <a:spcPts val="865"/>
              </a:spcBef>
              <a:buFont typeface="Arial"/>
              <a:buChar char="•"/>
              <a:tabLst>
                <a:tab pos="355600" algn="l"/>
              </a:tabLst>
            </a:pPr>
            <a:r>
              <a:rPr lang="en-US" sz="2400" b="1" dirty="0">
                <a:cs typeface="Carlito"/>
              </a:rPr>
              <a:t>Lock- </a:t>
            </a:r>
            <a:r>
              <a:rPr lang="en-US" sz="2400" b="1" spc="-30" dirty="0">
                <a:cs typeface="Carlito"/>
              </a:rPr>
              <a:t>Box</a:t>
            </a:r>
            <a:r>
              <a:rPr lang="en-US" sz="2400" b="1" spc="-15" dirty="0">
                <a:cs typeface="Carlito"/>
              </a:rPr>
              <a:t> </a:t>
            </a:r>
            <a:r>
              <a:rPr lang="en-US" sz="2400" b="1" spc="-25" dirty="0">
                <a:cs typeface="Carlito"/>
              </a:rPr>
              <a:t>System</a:t>
            </a:r>
            <a:r>
              <a:rPr lang="en-US" sz="2400" spc="-25" dirty="0">
                <a:cs typeface="Carlito"/>
              </a:rPr>
              <a:t>:</a:t>
            </a:r>
            <a:r>
              <a:rPr lang="en-US" sz="2800" spc="-5" dirty="0">
                <a:cs typeface="Carlito"/>
              </a:rPr>
              <a:t> </a:t>
            </a:r>
            <a:r>
              <a:rPr lang="en-US" sz="2000" spc="-5" dirty="0">
                <a:cs typeface="Times New Roman" pitchFamily="18" charset="0"/>
              </a:rPr>
              <a:t>This </a:t>
            </a:r>
            <a:r>
              <a:rPr lang="en-US" sz="2000" spc="-35" dirty="0">
                <a:cs typeface="Times New Roman" pitchFamily="18" charset="0"/>
              </a:rPr>
              <a:t>system </a:t>
            </a:r>
            <a:r>
              <a:rPr lang="en-US" sz="2000" spc="-5" dirty="0">
                <a:cs typeface="Times New Roman" pitchFamily="18" charset="0"/>
              </a:rPr>
              <a:t>of </a:t>
            </a:r>
            <a:r>
              <a:rPr lang="en-US" sz="2000" spc="-10" dirty="0">
                <a:cs typeface="Times New Roman" pitchFamily="18" charset="0"/>
              </a:rPr>
              <a:t>collection of </a:t>
            </a:r>
            <a:r>
              <a:rPr lang="en-US" sz="2000" dirty="0">
                <a:cs typeface="Times New Roman" pitchFamily="18" charset="0"/>
              </a:rPr>
              <a:t>in-flow </a:t>
            </a:r>
            <a:r>
              <a:rPr lang="en-US" sz="2000" spc="-10" dirty="0">
                <a:cs typeface="Times New Roman" pitchFamily="18" charset="0"/>
              </a:rPr>
              <a:t>cash  </a:t>
            </a:r>
            <a:r>
              <a:rPr lang="en-US" sz="2000" dirty="0">
                <a:cs typeface="Times New Roman" pitchFamily="18" charset="0"/>
              </a:rPr>
              <a:t>is </a:t>
            </a:r>
            <a:r>
              <a:rPr lang="en-US" sz="2000" spc="-10" dirty="0">
                <a:cs typeface="Times New Roman" pitchFamily="18" charset="0"/>
              </a:rPr>
              <a:t>very </a:t>
            </a:r>
            <a:r>
              <a:rPr lang="en-US" sz="2000" spc="-5" dirty="0">
                <a:cs typeface="Times New Roman" pitchFamily="18" charset="0"/>
              </a:rPr>
              <a:t>popular </a:t>
            </a:r>
            <a:r>
              <a:rPr lang="en-US" sz="2000" dirty="0">
                <a:cs typeface="Times New Roman" pitchFamily="18" charset="0"/>
              </a:rPr>
              <a:t>in</a:t>
            </a:r>
            <a:r>
              <a:rPr lang="en-US" sz="2000" spc="-35" dirty="0">
                <a:cs typeface="Times New Roman" pitchFamily="18" charset="0"/>
              </a:rPr>
              <a:t> </a:t>
            </a:r>
            <a:r>
              <a:rPr lang="en-US" sz="2000" spc="-5" dirty="0">
                <a:cs typeface="Times New Roman" pitchFamily="18" charset="0"/>
              </a:rPr>
              <a:t>USA. C</a:t>
            </a:r>
            <a:r>
              <a:rPr lang="en-US" sz="2000" dirty="0"/>
              <a:t>ompany has opened deposit accounts in several banks in different geographical locations.</a:t>
            </a:r>
            <a:endParaRPr lang="en-US" sz="2000" spc="-10" dirty="0">
              <a:cs typeface="Times New Roman" pitchFamily="18" charset="0"/>
            </a:endParaRPr>
          </a:p>
          <a:p>
            <a:pPr marL="355600" marR="5080">
              <a:spcBef>
                <a:spcPts val="865"/>
              </a:spcBef>
              <a:buFont typeface="Arial"/>
              <a:buChar char="•"/>
              <a:tabLst>
                <a:tab pos="355600" algn="l"/>
              </a:tabLst>
            </a:pPr>
            <a:r>
              <a:rPr lang="en-US" sz="2000" b="1" spc="-5" dirty="0">
                <a:cs typeface="Carlito"/>
              </a:rPr>
              <a:t>Collection through </a:t>
            </a:r>
            <a:r>
              <a:rPr lang="en-US" sz="2000" b="1" spc="-10" dirty="0">
                <a:cs typeface="Carlito"/>
              </a:rPr>
              <a:t>regional </a:t>
            </a:r>
            <a:r>
              <a:rPr lang="en-US" sz="2000" b="1" spc="-15" dirty="0">
                <a:cs typeface="Carlito"/>
              </a:rPr>
              <a:t>branch</a:t>
            </a:r>
            <a:r>
              <a:rPr lang="en-US" sz="2000" b="1" spc="-70" dirty="0">
                <a:cs typeface="Carlito"/>
              </a:rPr>
              <a:t> </a:t>
            </a:r>
            <a:r>
              <a:rPr lang="en-US" sz="2000" b="1" dirty="0">
                <a:cs typeface="Carlito"/>
              </a:rPr>
              <a:t>offices</a:t>
            </a:r>
            <a:r>
              <a:rPr lang="en-US" sz="2000" dirty="0">
                <a:cs typeface="Carlito"/>
              </a:rPr>
              <a:t>:</a:t>
            </a:r>
          </a:p>
          <a:p>
            <a:pPr marL="355600" marR="5080">
              <a:spcBef>
                <a:spcPts val="865"/>
              </a:spcBef>
              <a:buFont typeface="Arial"/>
              <a:buChar char="•"/>
              <a:tabLst>
                <a:tab pos="355600" algn="l"/>
              </a:tabLst>
            </a:pPr>
            <a:endParaRPr lang="en-US" sz="2000" dirty="0">
              <a:cs typeface="Times New Roman" pitchFamily="18" charset="0"/>
            </a:endParaRPr>
          </a:p>
          <a:p>
            <a:pPr marL="927100" marR="5080" indent="-730250">
              <a:spcBef>
                <a:spcPts val="5"/>
              </a:spcBef>
              <a:buNone/>
            </a:pPr>
            <a:endParaRPr lang="en-US" sz="2400" dirty="0">
              <a:cs typeface="Carlito"/>
            </a:endParaRPr>
          </a:p>
          <a:p>
            <a:pPr>
              <a:buNone/>
            </a:pPr>
            <a:endParaRPr lang="en-US" sz="2400" dirty="0">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38</a:t>
            </a:fld>
            <a:endParaRPr lang="en-US"/>
          </a:p>
        </p:txBody>
      </p:sp>
      <p:sp>
        <p:nvSpPr>
          <p:cNvPr id="8"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schemeClr val="tx1"/>
                </a:solidFill>
                <a:latin typeface="+mj-lt"/>
                <a:cs typeface="Carlito"/>
              </a:rPr>
              <a:t> </a:t>
            </a:r>
            <a:r>
              <a:rPr lang="en-US" sz="2800" b="1" spc="-5" dirty="0">
                <a:solidFill>
                  <a:schemeClr val="tx1"/>
                </a:solidFill>
                <a:latin typeface="+mj-lt"/>
                <a:cs typeface="Carlito"/>
              </a:rPr>
              <a:t>Controlling </a:t>
            </a:r>
            <a:r>
              <a:rPr lang="en-US" sz="2800" b="1" dirty="0">
                <a:solidFill>
                  <a:schemeClr val="tx1"/>
                </a:solidFill>
                <a:latin typeface="+mj-lt"/>
                <a:cs typeface="Carlito"/>
              </a:rPr>
              <a:t>of </a:t>
            </a:r>
            <a:r>
              <a:rPr lang="en-US" sz="2800" b="1" spc="-5" dirty="0">
                <a:solidFill>
                  <a:schemeClr val="tx1"/>
                </a:solidFill>
                <a:latin typeface="+mj-lt"/>
                <a:cs typeface="Carlito"/>
              </a:rPr>
              <a:t>In-flow </a:t>
            </a:r>
            <a:r>
              <a:rPr lang="en-US" sz="2800" b="1" dirty="0">
                <a:solidFill>
                  <a:schemeClr val="tx1"/>
                </a:solidFill>
                <a:latin typeface="+mj-lt"/>
                <a:cs typeface="Carlito"/>
              </a:rPr>
              <a:t>of</a:t>
            </a:r>
            <a:r>
              <a:rPr lang="en-US" sz="2800" b="1" spc="-70" dirty="0">
                <a:solidFill>
                  <a:schemeClr val="tx1"/>
                </a:solidFill>
                <a:latin typeface="+mj-lt"/>
                <a:cs typeface="Carlito"/>
              </a:rPr>
              <a:t> </a:t>
            </a:r>
            <a:r>
              <a:rPr lang="en-US" sz="2800" b="1" spc="-5" dirty="0">
                <a:solidFill>
                  <a:schemeClr val="tx1"/>
                </a:solidFill>
                <a:latin typeface="+mj-lt"/>
                <a:cs typeface="Carlito"/>
              </a:rPr>
              <a:t>cash</a:t>
            </a:r>
            <a:endParaRPr lang="en-US" sz="2800" dirty="0">
              <a:solidFill>
                <a:schemeClr val="tx1"/>
              </a:solidFill>
              <a:latin typeface="+mj-lt"/>
              <a:cs typeface="Carlito"/>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A70B6263-64DC-4E1B-8864-9FAF76DE508E}" type="datetime1">
              <a:rPr lang="en-US" smtClean="0"/>
              <a:t>8/20/2025</a:t>
            </a:fld>
            <a:endParaRPr lang="en-US"/>
          </a:p>
        </p:txBody>
      </p:sp>
    </p:spTree>
    <p:extLst>
      <p:ext uri="{BB962C8B-B14F-4D97-AF65-F5344CB8AC3E}">
        <p14:creationId xmlns:p14="http://schemas.microsoft.com/office/powerpoint/2010/main" val="3713944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11277600" cy="4419600"/>
          </a:xfrm>
        </p:spPr>
        <p:txBody>
          <a:bodyPr>
            <a:normAutofit/>
          </a:bodyPr>
          <a:lstStyle/>
          <a:p>
            <a:pPr marL="927100" marR="5080" indent="-730250" algn="just">
              <a:spcBef>
                <a:spcPts val="5"/>
              </a:spcBef>
              <a:buNone/>
            </a:pPr>
            <a:r>
              <a:rPr lang="en-US" sz="2400" dirty="0">
                <a:latin typeface="+mj-lt"/>
                <a:cs typeface="Carlito"/>
              </a:rPr>
              <a:t>All </a:t>
            </a:r>
            <a:r>
              <a:rPr lang="en-US" sz="2400" spc="-15" dirty="0">
                <a:latin typeface="+mj-lt"/>
                <a:cs typeface="Carlito"/>
              </a:rPr>
              <a:t>payments </a:t>
            </a:r>
            <a:r>
              <a:rPr lang="en-US" sz="2400" spc="-20" dirty="0">
                <a:latin typeface="+mj-lt"/>
                <a:cs typeface="Carlito"/>
              </a:rPr>
              <a:t>from </a:t>
            </a:r>
            <a:r>
              <a:rPr lang="en-US" sz="2400" spc="-10" dirty="0">
                <a:latin typeface="+mj-lt"/>
                <a:cs typeface="Carlito"/>
              </a:rPr>
              <a:t>regional </a:t>
            </a:r>
            <a:r>
              <a:rPr lang="en-US" sz="2400" spc="-15" dirty="0">
                <a:latin typeface="+mj-lt"/>
                <a:cs typeface="Carlito"/>
              </a:rPr>
              <a:t>branch</a:t>
            </a:r>
            <a:r>
              <a:rPr lang="en-US" sz="2400" spc="-90" dirty="0">
                <a:latin typeface="+mj-lt"/>
                <a:cs typeface="Carlito"/>
              </a:rPr>
              <a:t> </a:t>
            </a:r>
            <a:r>
              <a:rPr lang="en-US" sz="2400" spc="-10" dirty="0">
                <a:latin typeface="+mj-lt"/>
                <a:cs typeface="Carlito"/>
              </a:rPr>
              <a:t>office  </a:t>
            </a:r>
            <a:r>
              <a:rPr lang="en-US" sz="2400" dirty="0">
                <a:latin typeface="+mj-lt"/>
                <a:cs typeface="Carlito"/>
              </a:rPr>
              <a:t>is </a:t>
            </a:r>
            <a:r>
              <a:rPr lang="en-US" sz="2400" spc="-25" dirty="0">
                <a:latin typeface="+mj-lt"/>
                <a:cs typeface="Carlito"/>
              </a:rPr>
              <a:t>transferred to </a:t>
            </a:r>
            <a:r>
              <a:rPr lang="en-US" sz="2400" spc="-5" dirty="0">
                <a:latin typeface="+mj-lt"/>
                <a:cs typeface="Carlito"/>
              </a:rPr>
              <a:t>head </a:t>
            </a:r>
            <a:r>
              <a:rPr lang="en-US" sz="2400" spc="-10" dirty="0">
                <a:latin typeface="+mj-lt"/>
                <a:cs typeface="Carlito"/>
              </a:rPr>
              <a:t>office </a:t>
            </a:r>
            <a:r>
              <a:rPr lang="en-US" sz="2400" dirty="0">
                <a:latin typeface="+mj-lt"/>
                <a:cs typeface="Carlito"/>
              </a:rPr>
              <a:t>and </a:t>
            </a:r>
            <a:r>
              <a:rPr lang="en-US" sz="2400" spc="-5" dirty="0">
                <a:latin typeface="+mj-lt"/>
                <a:cs typeface="Carlito"/>
              </a:rPr>
              <a:t>head  </a:t>
            </a:r>
            <a:r>
              <a:rPr lang="en-US" sz="2400" spc="-10" dirty="0">
                <a:latin typeface="+mj-lt"/>
                <a:cs typeface="Carlito"/>
              </a:rPr>
              <a:t>office </a:t>
            </a:r>
            <a:r>
              <a:rPr lang="en-US" sz="2400" dirty="0">
                <a:latin typeface="+mj-lt"/>
                <a:cs typeface="Carlito"/>
              </a:rPr>
              <a:t>in </a:t>
            </a:r>
            <a:r>
              <a:rPr lang="en-US" sz="2400" spc="-10" dirty="0">
                <a:latin typeface="+mj-lt"/>
                <a:cs typeface="Carlito"/>
              </a:rPr>
              <a:t>turn </a:t>
            </a:r>
            <a:r>
              <a:rPr lang="en-US" sz="2400" spc="-25" dirty="0">
                <a:latin typeface="+mj-lt"/>
                <a:cs typeface="Carlito"/>
              </a:rPr>
              <a:t>pay </a:t>
            </a:r>
            <a:r>
              <a:rPr lang="en-US" sz="2400" spc="-10" dirty="0">
                <a:latin typeface="+mj-lt"/>
                <a:cs typeface="Carlito"/>
              </a:rPr>
              <a:t>the </a:t>
            </a:r>
            <a:r>
              <a:rPr lang="en-US" sz="2400" spc="-5" dirty="0">
                <a:latin typeface="+mj-lt"/>
                <a:cs typeface="Carlito"/>
              </a:rPr>
              <a:t>bills </a:t>
            </a:r>
            <a:r>
              <a:rPr lang="en-US" sz="2400" spc="-10" dirty="0">
                <a:latin typeface="+mj-lt"/>
                <a:cs typeface="Carlito"/>
              </a:rPr>
              <a:t>directly </a:t>
            </a:r>
            <a:r>
              <a:rPr lang="en-US" sz="2400" spc="-25" dirty="0">
                <a:latin typeface="+mj-lt"/>
                <a:cs typeface="Carlito"/>
              </a:rPr>
              <a:t>to </a:t>
            </a:r>
            <a:r>
              <a:rPr lang="en-US" sz="2400" dirty="0">
                <a:latin typeface="+mj-lt"/>
                <a:cs typeface="Carlito"/>
              </a:rPr>
              <a:t>the  </a:t>
            </a:r>
            <a:r>
              <a:rPr lang="en-US" sz="2400" spc="-5" dirty="0">
                <a:latin typeface="+mj-lt"/>
                <a:cs typeface="Carlito"/>
              </a:rPr>
              <a:t>parties.</a:t>
            </a:r>
            <a:endParaRPr lang="en-US" sz="2400" dirty="0">
              <a:latin typeface="+mj-lt"/>
              <a:cs typeface="Carlito"/>
            </a:endParaRPr>
          </a:p>
          <a:p>
            <a:pPr marL="927100" marR="5080" indent="-730250" algn="just">
              <a:spcBef>
                <a:spcPts val="5"/>
              </a:spcBef>
              <a:buNone/>
            </a:pPr>
            <a:endParaRPr lang="en-US" sz="2400" dirty="0">
              <a:latin typeface="+mj-lt"/>
              <a:cs typeface="Carlito"/>
            </a:endParaRPr>
          </a:p>
          <a:p>
            <a:pPr algn="just">
              <a:buNone/>
            </a:pPr>
            <a:endParaRPr lang="en-US" sz="2400" dirty="0">
              <a:latin typeface="+mj-lt"/>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a:p>
        </p:txBody>
      </p:sp>
      <p:sp>
        <p:nvSpPr>
          <p:cNvPr id="8" name="Title 1"/>
          <p:cNvSpPr txBox="1">
            <a:spLocks/>
          </p:cNvSpPr>
          <p:nvPr/>
        </p:nvSpPr>
        <p:spPr>
          <a:xfrm>
            <a:off x="1905000" y="1"/>
            <a:ext cx="10287000" cy="7619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spc="-10" dirty="0">
                <a:latin typeface="Carlito"/>
                <a:cs typeface="Carlito"/>
              </a:rPr>
              <a:t>Controlling </a:t>
            </a:r>
            <a:r>
              <a:rPr lang="en-US" sz="2800" spc="-5" dirty="0">
                <a:latin typeface="Carlito"/>
                <a:cs typeface="Carlito"/>
              </a:rPr>
              <a:t>Out-flow </a:t>
            </a:r>
            <a:r>
              <a:rPr lang="en-US" sz="2800" dirty="0">
                <a:latin typeface="Carlito"/>
                <a:cs typeface="Carlito"/>
              </a:rPr>
              <a:t>of</a:t>
            </a:r>
            <a:r>
              <a:rPr lang="en-US" sz="2800" spc="30" dirty="0">
                <a:latin typeface="Carlito"/>
                <a:cs typeface="Carlito"/>
              </a:rPr>
              <a:t> </a:t>
            </a:r>
            <a:r>
              <a:rPr lang="en-US" sz="2800" spc="-5" dirty="0">
                <a:latin typeface="Carlito"/>
                <a:cs typeface="Carlito"/>
              </a:rPr>
              <a:t>cash </a:t>
            </a:r>
            <a:endParaRPr lang="en-US" sz="2800" dirty="0">
              <a:latin typeface="Carlito"/>
              <a:cs typeface="Carlito"/>
            </a:endParaRPr>
          </a:p>
          <a:p>
            <a:pPr lvl="0" algn="ctr">
              <a:spcBef>
                <a:spcPct val="0"/>
              </a:spcBef>
              <a:defRPr/>
            </a:pPr>
            <a:endParaRPr lang="en-IN" sz="2800" b="1"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112CEDB5-05F4-4FF6-B0B7-206AAE13E333}" type="datetime1">
              <a:rPr lang="en-US" smtClean="0"/>
              <a:t>8/20/2025</a:t>
            </a:fld>
            <a:endParaRPr lang="en-US"/>
          </a:p>
        </p:txBody>
      </p:sp>
    </p:spTree>
    <p:extLst>
      <p:ext uri="{BB962C8B-B14F-4D97-AF65-F5344CB8AC3E}">
        <p14:creationId xmlns:p14="http://schemas.microsoft.com/office/powerpoint/2010/main" val="2651744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1658600" cy="4419600"/>
          </a:xfrm>
        </p:spPr>
        <p:txBody>
          <a:bodyPr>
            <a:normAutofit/>
          </a:bodyPr>
          <a:lstStyle/>
          <a:p>
            <a:pPr marL="355600" marR="5080" algn="just">
              <a:spcBef>
                <a:spcPts val="765"/>
              </a:spcBef>
              <a:buFont typeface="Arial"/>
              <a:buChar char="•"/>
              <a:tabLst>
                <a:tab pos="446405" algn="l"/>
                <a:tab pos="447040" algn="l"/>
              </a:tabLst>
            </a:pPr>
            <a:r>
              <a:rPr lang="en-US" sz="2400" spc="-5" dirty="0">
                <a:latin typeface="+mj-lt"/>
                <a:cs typeface="Carlito"/>
              </a:rPr>
              <a:t>The </a:t>
            </a:r>
            <a:r>
              <a:rPr lang="en-US" sz="2400" spc="-10" dirty="0">
                <a:latin typeface="+mj-lt"/>
                <a:cs typeface="Carlito"/>
              </a:rPr>
              <a:t>proper </a:t>
            </a:r>
            <a:r>
              <a:rPr lang="en-US" sz="2400" spc="-20" dirty="0">
                <a:latin typeface="+mj-lt"/>
                <a:cs typeface="Carlito"/>
              </a:rPr>
              <a:t>investment </a:t>
            </a:r>
            <a:r>
              <a:rPr lang="en-US" sz="2400" spc="-5" dirty="0">
                <a:latin typeface="+mj-lt"/>
                <a:cs typeface="Carlito"/>
              </a:rPr>
              <a:t>of </a:t>
            </a:r>
            <a:r>
              <a:rPr lang="en-US" sz="2400" spc="-20" dirty="0">
                <a:latin typeface="+mj-lt"/>
                <a:cs typeface="Carlito"/>
              </a:rPr>
              <a:t>excess </a:t>
            </a:r>
            <a:r>
              <a:rPr lang="en-US" sz="2400" spc="-5" dirty="0">
                <a:latin typeface="+mj-lt"/>
                <a:cs typeface="Carlito"/>
              </a:rPr>
              <a:t>cash </a:t>
            </a:r>
            <a:r>
              <a:rPr lang="en-US" sz="2400" dirty="0">
                <a:latin typeface="+mj-lt"/>
                <a:cs typeface="Carlito"/>
              </a:rPr>
              <a:t>in  </a:t>
            </a:r>
            <a:r>
              <a:rPr lang="en-US" sz="2400" spc="-15" dirty="0">
                <a:latin typeface="+mj-lt"/>
                <a:cs typeface="Carlito"/>
              </a:rPr>
              <a:t>company </a:t>
            </a:r>
            <a:r>
              <a:rPr lang="en-US" sz="2400" spc="-10" dirty="0">
                <a:latin typeface="+mj-lt"/>
                <a:cs typeface="Carlito"/>
              </a:rPr>
              <a:t>at </a:t>
            </a:r>
            <a:r>
              <a:rPr lang="en-US" sz="2400" spc="-5" dirty="0">
                <a:latin typeface="+mj-lt"/>
                <a:cs typeface="Carlito"/>
              </a:rPr>
              <a:t>short notice </a:t>
            </a:r>
            <a:r>
              <a:rPr lang="en-US" sz="2400" dirty="0">
                <a:latin typeface="+mj-lt"/>
                <a:cs typeface="Carlito"/>
              </a:rPr>
              <a:t>is also a </a:t>
            </a:r>
            <a:r>
              <a:rPr lang="en-US" sz="2400" spc="-10" dirty="0">
                <a:latin typeface="+mj-lt"/>
                <a:cs typeface="Carlito"/>
              </a:rPr>
              <a:t>problem  area.</a:t>
            </a:r>
            <a:endParaRPr lang="en-US" sz="2400" dirty="0">
              <a:latin typeface="+mj-lt"/>
              <a:cs typeface="Carlito"/>
            </a:endParaRPr>
          </a:p>
          <a:p>
            <a:pPr marL="355600" marR="246379" algn="just">
              <a:spcBef>
                <a:spcPts val="770"/>
              </a:spcBef>
              <a:buFont typeface="Arial"/>
              <a:buChar char="•"/>
              <a:tabLst>
                <a:tab pos="354965" algn="l"/>
                <a:tab pos="355600" algn="l"/>
              </a:tabLst>
            </a:pPr>
            <a:r>
              <a:rPr lang="en-US" sz="2400" spc="-5" dirty="0">
                <a:latin typeface="+mj-lt"/>
                <a:cs typeface="Carlito"/>
              </a:rPr>
              <a:t>Finance manager use its prudence </a:t>
            </a:r>
            <a:r>
              <a:rPr lang="en-US" sz="2400" dirty="0">
                <a:latin typeface="+mj-lt"/>
                <a:cs typeface="Carlito"/>
              </a:rPr>
              <a:t>and  </a:t>
            </a:r>
            <a:r>
              <a:rPr lang="en-US" sz="2400" spc="-10" dirty="0">
                <a:latin typeface="+mj-lt"/>
                <a:cs typeface="Carlito"/>
              </a:rPr>
              <a:t>discretion </a:t>
            </a:r>
            <a:r>
              <a:rPr lang="en-US" sz="2400" spc="-25" dirty="0">
                <a:latin typeface="+mj-lt"/>
                <a:cs typeface="Carlito"/>
              </a:rPr>
              <a:t>for </a:t>
            </a:r>
            <a:r>
              <a:rPr lang="en-US" sz="2400" spc="-20" dirty="0">
                <a:latin typeface="+mj-lt"/>
                <a:cs typeface="Carlito"/>
              </a:rPr>
              <a:t>investment </a:t>
            </a:r>
            <a:r>
              <a:rPr lang="en-US" sz="2400" dirty="0">
                <a:latin typeface="+mj-lt"/>
                <a:cs typeface="Carlito"/>
              </a:rPr>
              <a:t>of </a:t>
            </a:r>
            <a:r>
              <a:rPr lang="en-US" sz="2400" spc="-20" dirty="0">
                <a:latin typeface="+mj-lt"/>
                <a:cs typeface="Carlito"/>
              </a:rPr>
              <a:t>excess</a:t>
            </a:r>
            <a:r>
              <a:rPr lang="en-US" sz="2400" spc="-5" dirty="0">
                <a:latin typeface="+mj-lt"/>
                <a:cs typeface="Carlito"/>
              </a:rPr>
              <a:t> cash.</a:t>
            </a:r>
            <a:endParaRPr lang="en-US" sz="2400" dirty="0">
              <a:latin typeface="+mj-lt"/>
              <a:cs typeface="Carlito"/>
            </a:endParaRPr>
          </a:p>
          <a:p>
            <a:pPr>
              <a:buNone/>
            </a:pPr>
            <a:endParaRPr lang="en-US" sz="2400" dirty="0">
              <a:latin typeface="+mj-lt"/>
              <a:cs typeface="Arial" pitchFamily="34"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1"/>
          <p:cNvSpPr txBox="1">
            <a:spLocks/>
          </p:cNvSpPr>
          <p:nvPr/>
        </p:nvSpPr>
        <p:spPr>
          <a:xfrm>
            <a:off x="1981200" y="1"/>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solidFill>
                  <a:schemeClr val="tx1"/>
                </a:solidFill>
                <a:latin typeface="+mj-lt"/>
                <a:cs typeface="Carlito"/>
              </a:rPr>
              <a:t>Optimal </a:t>
            </a:r>
            <a:r>
              <a:rPr lang="en-US" sz="2800" b="1" spc="-20" dirty="0">
                <a:solidFill>
                  <a:schemeClr val="tx1"/>
                </a:solidFill>
                <a:latin typeface="+mj-lt"/>
                <a:cs typeface="Carlito"/>
              </a:rPr>
              <a:t>Investment </a:t>
            </a:r>
            <a:r>
              <a:rPr lang="en-US" sz="2800" b="1" dirty="0">
                <a:solidFill>
                  <a:schemeClr val="tx1"/>
                </a:solidFill>
                <a:latin typeface="+mj-lt"/>
                <a:cs typeface="Carlito"/>
              </a:rPr>
              <a:t>of </a:t>
            </a:r>
            <a:r>
              <a:rPr lang="en-US" sz="2800" b="1" spc="-15" dirty="0">
                <a:solidFill>
                  <a:schemeClr val="tx1"/>
                </a:solidFill>
                <a:latin typeface="+mj-lt"/>
                <a:cs typeface="Carlito"/>
              </a:rPr>
              <a:t>Excess</a:t>
            </a:r>
            <a:r>
              <a:rPr lang="en-US" sz="2800" b="1" spc="-50" dirty="0">
                <a:solidFill>
                  <a:schemeClr val="tx1"/>
                </a:solidFill>
                <a:latin typeface="+mj-lt"/>
                <a:cs typeface="Carlito"/>
              </a:rPr>
              <a:t> </a:t>
            </a:r>
            <a:r>
              <a:rPr lang="en-US" sz="2800" b="1" spc="-5" dirty="0">
                <a:solidFill>
                  <a:schemeClr val="tx1"/>
                </a:solidFill>
                <a:latin typeface="+mj-lt"/>
                <a:cs typeface="Carlito"/>
              </a:rPr>
              <a:t>cash</a:t>
            </a:r>
            <a:endParaRPr lang="en-US" sz="2800" dirty="0">
              <a:solidFill>
                <a:schemeClr val="tx1"/>
              </a:solidFill>
              <a:latin typeface="+mj-lt"/>
              <a:cs typeface="Carlito"/>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D0412C20-4351-4A71-BFDD-A2EE542909E9}" type="datetime1">
              <a:rPr lang="en-US" smtClean="0"/>
              <a:t>8/20/2025</a:t>
            </a:fld>
            <a:endParaRPr lang="en-US"/>
          </a:p>
        </p:txBody>
      </p:sp>
    </p:spTree>
    <p:extLst>
      <p:ext uri="{BB962C8B-B14F-4D97-AF65-F5344CB8AC3E}">
        <p14:creationId xmlns:p14="http://schemas.microsoft.com/office/powerpoint/2010/main" val="2367526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09270"/>
            <a:ext cx="11353800" cy="4419600"/>
          </a:xfrm>
        </p:spPr>
        <p:txBody>
          <a:bodyPr>
            <a:normAutofit/>
          </a:bodyPr>
          <a:lstStyle/>
          <a:p>
            <a:pPr algn="just">
              <a:buNone/>
            </a:pPr>
            <a:r>
              <a:rPr lang="en-US" sz="2400" b="1" spc="-55" dirty="0">
                <a:latin typeface="Times New Roman" pitchFamily="18" charset="0"/>
                <a:cs typeface="Times New Roman" pitchFamily="18" charset="0"/>
              </a:rPr>
              <a:t>Tools </a:t>
            </a:r>
            <a:r>
              <a:rPr lang="en-US" sz="2400" b="1" spc="-20" dirty="0">
                <a:latin typeface="Times New Roman" pitchFamily="18" charset="0"/>
                <a:cs typeface="Times New Roman" pitchFamily="18" charset="0"/>
              </a:rPr>
              <a:t>for </a:t>
            </a:r>
            <a:r>
              <a:rPr lang="en-US" sz="2400" b="1" spc="-5" dirty="0">
                <a:latin typeface="Times New Roman" pitchFamily="18" charset="0"/>
                <a:cs typeface="Times New Roman" pitchFamily="18" charset="0"/>
              </a:rPr>
              <a:t>cash </a:t>
            </a:r>
            <a:r>
              <a:rPr lang="en-US" sz="2400" b="1" spc="-10" dirty="0">
                <a:latin typeface="Times New Roman" pitchFamily="18" charset="0"/>
                <a:cs typeface="Times New Roman" pitchFamily="18" charset="0"/>
              </a:rPr>
              <a:t>Control:</a:t>
            </a:r>
            <a:endParaRPr lang="en-US" sz="2400" dirty="0">
              <a:latin typeface="Times New Roman" pitchFamily="18" charset="0"/>
              <a:cs typeface="Times New Roman" pitchFamily="18" charset="0"/>
            </a:endParaRPr>
          </a:p>
          <a:p>
            <a:pPr algn="just">
              <a:buNone/>
            </a:pPr>
            <a:r>
              <a:rPr lang="en-US" sz="2400" b="1" dirty="0">
                <a:latin typeface="Times New Roman" pitchFamily="18" charset="0"/>
                <a:cs typeface="Times New Roman" pitchFamily="18" charset="0"/>
              </a:rPr>
              <a:t>A.	</a:t>
            </a:r>
            <a:r>
              <a:rPr lang="en-US" sz="2400" b="1" spc="-5" dirty="0">
                <a:latin typeface="Times New Roman" pitchFamily="18" charset="0"/>
                <a:cs typeface="Times New Roman" pitchFamily="18" charset="0"/>
              </a:rPr>
              <a:t>Cash </a:t>
            </a:r>
            <a:r>
              <a:rPr lang="en-US" sz="2400" b="1" spc="-10" dirty="0">
                <a:latin typeface="Times New Roman" pitchFamily="18" charset="0"/>
                <a:cs typeface="Times New Roman" pitchFamily="18" charset="0"/>
              </a:rPr>
              <a:t>budget</a:t>
            </a:r>
            <a:r>
              <a:rPr lang="en-US" sz="2400" b="1" spc="-90" dirty="0">
                <a:latin typeface="Times New Roman" pitchFamily="18" charset="0"/>
                <a:cs typeface="Times New Roman" pitchFamily="18" charset="0"/>
              </a:rPr>
              <a:t> </a:t>
            </a:r>
            <a:r>
              <a:rPr lang="en-US" sz="2400" b="1" spc="-10" dirty="0">
                <a:latin typeface="Times New Roman" pitchFamily="18" charset="0"/>
                <a:cs typeface="Times New Roman" pitchFamily="18" charset="0"/>
              </a:rPr>
              <a:t>report:</a:t>
            </a:r>
          </a:p>
          <a:p>
            <a:pPr marL="342900" lvl="1" indent="-342900" algn="just">
              <a:buNone/>
            </a:pPr>
            <a:r>
              <a:rPr lang="en-US" sz="2400" b="1" spc="-5" dirty="0">
                <a:latin typeface="Times New Roman" pitchFamily="18" charset="0"/>
                <a:cs typeface="Times New Roman" pitchFamily="18" charset="0"/>
              </a:rPr>
              <a:t>B.Cash Flow</a:t>
            </a:r>
            <a:r>
              <a:rPr lang="en-US" sz="2400" b="1" spc="-70" dirty="0">
                <a:latin typeface="Times New Roman" pitchFamily="18" charset="0"/>
                <a:cs typeface="Times New Roman" pitchFamily="18" charset="0"/>
              </a:rPr>
              <a:t> </a:t>
            </a:r>
            <a:r>
              <a:rPr lang="en-US" sz="2400" b="1" spc="-25" dirty="0">
                <a:latin typeface="Times New Roman" pitchFamily="18" charset="0"/>
                <a:cs typeface="Times New Roman" pitchFamily="18" charset="0"/>
              </a:rPr>
              <a:t>statement</a:t>
            </a:r>
            <a:endParaRPr lang="en-US" sz="2400" b="1" dirty="0">
              <a:latin typeface="Times New Roman" pitchFamily="18" charset="0"/>
              <a:cs typeface="Times New Roman" pitchFamily="18" charset="0"/>
            </a:endParaRPr>
          </a:p>
          <a:p>
            <a:pPr algn="just">
              <a:buNone/>
            </a:pPr>
            <a:r>
              <a:rPr lang="en-US" sz="2400" b="1" spc="-5" dirty="0">
                <a:latin typeface="Times New Roman" pitchFamily="18" charset="0"/>
                <a:cs typeface="Times New Roman" pitchFamily="18" charset="0"/>
              </a:rPr>
              <a:t>C. Ration</a:t>
            </a:r>
            <a:r>
              <a:rPr lang="en-US" sz="2400" b="1" spc="-40" dirty="0">
                <a:latin typeface="Times New Roman" pitchFamily="18" charset="0"/>
                <a:cs typeface="Times New Roman" pitchFamily="18" charset="0"/>
              </a:rPr>
              <a:t> </a:t>
            </a:r>
            <a:r>
              <a:rPr lang="en-US" sz="2400" b="1" spc="-5" dirty="0">
                <a:latin typeface="Times New Roman" pitchFamily="18" charset="0"/>
                <a:cs typeface="Times New Roman" pitchFamily="18" charset="0"/>
              </a:rPr>
              <a:t>Analysis:</a:t>
            </a:r>
            <a:endParaRPr lang="en-US" sz="2400" b="1" dirty="0">
              <a:latin typeface="Times New Roman" pitchFamily="18" charset="0"/>
              <a:cs typeface="Times New Roman" pitchFamily="18" charset="0"/>
            </a:endParaRPr>
          </a:p>
          <a:p>
            <a:pPr algn="just">
              <a:buNone/>
            </a:pPr>
            <a:endParaRPr lang="en-US" sz="2400" b="1"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a:p>
        </p:txBody>
      </p:sp>
      <p:sp>
        <p:nvSpPr>
          <p:cNvPr id="8" name="Title 1"/>
          <p:cNvSpPr txBox="1">
            <a:spLocks/>
          </p:cNvSpPr>
          <p:nvPr/>
        </p:nvSpPr>
        <p:spPr>
          <a:xfrm>
            <a:off x="1828800" y="1"/>
            <a:ext cx="10363200" cy="68178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spc="-5" dirty="0">
                <a:latin typeface="+mj-lt"/>
                <a:cs typeface="Carlito"/>
              </a:rPr>
              <a:t>Cash Planning and Cash</a:t>
            </a:r>
            <a:r>
              <a:rPr lang="en-US" sz="2800" b="1" spc="10" dirty="0">
                <a:latin typeface="+mj-lt"/>
                <a:cs typeface="Carlito"/>
              </a:rPr>
              <a:t> </a:t>
            </a:r>
            <a:r>
              <a:rPr lang="en-US" sz="2800" b="1" spc="-20" dirty="0">
                <a:latin typeface="+mj-lt"/>
                <a:cs typeface="Carlito"/>
              </a:rPr>
              <a:t>Control</a:t>
            </a:r>
            <a:endParaRPr lang="en-IN" sz="2800" b="1" dirty="0">
              <a:latin typeface="+mj-lt"/>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7915B5EF-8D17-45B3-B48A-3497F728800F}" type="datetime1">
              <a:rPr lang="en-US" smtClean="0"/>
              <a:t>8/20/2025</a:t>
            </a:fld>
            <a:endParaRPr lang="en-US"/>
          </a:p>
        </p:txBody>
      </p:sp>
    </p:spTree>
    <p:extLst>
      <p:ext uri="{BB962C8B-B14F-4D97-AF65-F5344CB8AC3E}">
        <p14:creationId xmlns:p14="http://schemas.microsoft.com/office/powerpoint/2010/main" val="10125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500" y="1066800"/>
            <a:ext cx="11518900" cy="4419600"/>
          </a:xfrm>
        </p:spPr>
        <p:txBody>
          <a:bodyPr>
            <a:normAutofit/>
          </a:bodyPr>
          <a:lstStyle/>
          <a:p>
            <a:pPr marL="355600" marR="5080" algn="just">
              <a:spcBef>
                <a:spcPts val="105"/>
              </a:spcBef>
              <a:buFont typeface="Arial"/>
              <a:buChar char="•"/>
              <a:tabLst>
                <a:tab pos="354965" algn="l"/>
                <a:tab pos="355600" algn="l"/>
                <a:tab pos="773430" algn="l"/>
              </a:tabLst>
            </a:pPr>
            <a:r>
              <a:rPr lang="en-US" sz="2400" dirty="0">
                <a:latin typeface="Times New Roman" pitchFamily="18" charset="0"/>
                <a:cs typeface="Times New Roman" pitchFamily="18" charset="0"/>
              </a:rPr>
              <a:t>A	</a:t>
            </a:r>
            <a:r>
              <a:rPr lang="en-US" sz="2400" spc="-5" dirty="0">
                <a:latin typeface="Times New Roman" pitchFamily="18" charset="0"/>
                <a:cs typeface="Times New Roman" pitchFamily="18" charset="0"/>
              </a:rPr>
              <a:t>number of </a:t>
            </a:r>
            <a:r>
              <a:rPr lang="en-US" sz="2400" spc="-10" dirty="0">
                <a:latin typeface="Times New Roman" pitchFamily="18" charset="0"/>
                <a:cs typeface="Times New Roman" pitchFamily="18" charset="0"/>
              </a:rPr>
              <a:t>mathematical </a:t>
            </a:r>
            <a:r>
              <a:rPr lang="en-US" sz="2400" dirty="0">
                <a:latin typeface="Times New Roman" pitchFamily="18" charset="0"/>
                <a:cs typeface="Times New Roman" pitchFamily="18" charset="0"/>
              </a:rPr>
              <a:t>model </a:t>
            </a:r>
            <a:r>
              <a:rPr lang="en-US" sz="2400" spc="-25" dirty="0">
                <a:latin typeface="Times New Roman" pitchFamily="18" charset="0"/>
                <a:cs typeface="Times New Roman" pitchFamily="18" charset="0"/>
              </a:rPr>
              <a:t>have </a:t>
            </a:r>
            <a:r>
              <a:rPr lang="en-US" sz="2400" spc="-5" dirty="0">
                <a:latin typeface="Times New Roman" pitchFamily="18" charset="0"/>
                <a:cs typeface="Times New Roman" pitchFamily="18" charset="0"/>
              </a:rPr>
              <a:t>been  </a:t>
            </a:r>
            <a:r>
              <a:rPr lang="en-US" sz="2400" spc="-20" dirty="0">
                <a:latin typeface="Times New Roman" pitchFamily="18" charset="0"/>
                <a:cs typeface="Times New Roman" pitchFamily="18" charset="0"/>
              </a:rPr>
              <a:t>to </a:t>
            </a:r>
            <a:r>
              <a:rPr lang="en-US" sz="2400" spc="-10" dirty="0">
                <a:latin typeface="Times New Roman" pitchFamily="18" charset="0"/>
                <a:cs typeface="Times New Roman" pitchFamily="18" charset="0"/>
              </a:rPr>
              <a:t>develop </a:t>
            </a:r>
            <a:r>
              <a:rPr lang="en-US" sz="2400" spc="-20" dirty="0">
                <a:latin typeface="Times New Roman" pitchFamily="18" charset="0"/>
                <a:cs typeface="Times New Roman" pitchFamily="18" charset="0"/>
              </a:rPr>
              <a:t>to </a:t>
            </a:r>
            <a:r>
              <a:rPr lang="en-US" sz="2400" spc="-5" dirty="0">
                <a:latin typeface="Times New Roman" pitchFamily="18" charset="0"/>
                <a:cs typeface="Times New Roman" pitchFamily="18" charset="0"/>
              </a:rPr>
              <a:t>determined </a:t>
            </a:r>
            <a:r>
              <a:rPr lang="en-US" sz="2400" dirty="0">
                <a:latin typeface="Times New Roman" pitchFamily="18" charset="0"/>
                <a:cs typeface="Times New Roman" pitchFamily="18" charset="0"/>
              </a:rPr>
              <a:t>the </a:t>
            </a:r>
            <a:r>
              <a:rPr lang="en-US" sz="2400" spc="-5" dirty="0">
                <a:latin typeface="Times New Roman" pitchFamily="18" charset="0"/>
                <a:cs typeface="Times New Roman" pitchFamily="18" charset="0"/>
              </a:rPr>
              <a:t>optimal cash  balance.</a:t>
            </a:r>
            <a:endParaRPr lang="en-US" sz="2400" dirty="0">
              <a:latin typeface="Times New Roman" pitchFamily="18" charset="0"/>
              <a:cs typeface="Times New Roman" pitchFamily="18" charset="0"/>
            </a:endParaRPr>
          </a:p>
          <a:p>
            <a:pPr marL="355600" algn="just">
              <a:spcBef>
                <a:spcPts val="770"/>
              </a:spcBef>
              <a:buFont typeface="Arial"/>
              <a:buChar char="•"/>
              <a:tabLst>
                <a:tab pos="354965" algn="l"/>
                <a:tab pos="355600" algn="l"/>
              </a:tabLst>
            </a:pPr>
            <a:r>
              <a:rPr lang="en-US" sz="2400" spc="-55" dirty="0">
                <a:latin typeface="Times New Roman" pitchFamily="18" charset="0"/>
                <a:cs typeface="Times New Roman" pitchFamily="18" charset="0"/>
              </a:rPr>
              <a:t>Two </a:t>
            </a:r>
            <a:r>
              <a:rPr lang="en-US" sz="2400" spc="-5" dirty="0">
                <a:latin typeface="Times New Roman" pitchFamily="18" charset="0"/>
                <a:cs typeface="Times New Roman" pitchFamily="18" charset="0"/>
              </a:rPr>
              <a:t>of such </a:t>
            </a:r>
            <a:r>
              <a:rPr lang="en-US" sz="2400" dirty="0">
                <a:latin typeface="Times New Roman" pitchFamily="18" charset="0"/>
                <a:cs typeface="Times New Roman" pitchFamily="18" charset="0"/>
              </a:rPr>
              <a:t>model </a:t>
            </a:r>
            <a:r>
              <a:rPr lang="en-US" sz="2400" spc="-15" dirty="0">
                <a:latin typeface="Times New Roman" pitchFamily="18" charset="0"/>
                <a:cs typeface="Times New Roman" pitchFamily="18" charset="0"/>
              </a:rPr>
              <a:t>are </a:t>
            </a:r>
            <a:r>
              <a:rPr lang="en-US" sz="2400" dirty="0">
                <a:latin typeface="Times New Roman" pitchFamily="18" charset="0"/>
                <a:cs typeface="Times New Roman" pitchFamily="18" charset="0"/>
              </a:rPr>
              <a:t>as</a:t>
            </a:r>
            <a:r>
              <a:rPr lang="en-US" sz="2400" spc="30" dirty="0">
                <a:latin typeface="Times New Roman" pitchFamily="18" charset="0"/>
                <a:cs typeface="Times New Roman" pitchFamily="18" charset="0"/>
              </a:rPr>
              <a:t> </a:t>
            </a:r>
            <a:r>
              <a:rPr lang="en-US" sz="2400" spc="-15" dirty="0">
                <a:latin typeface="Times New Roman" pitchFamily="18" charset="0"/>
                <a:cs typeface="Times New Roman" pitchFamily="18" charset="0"/>
              </a:rPr>
              <a:t>follow;</a:t>
            </a:r>
            <a:endParaRPr lang="en-US" sz="2400" dirty="0">
              <a:latin typeface="Times New Roman" pitchFamily="18" charset="0"/>
              <a:cs typeface="Times New Roman" pitchFamily="18" charset="0"/>
            </a:endParaRPr>
          </a:p>
          <a:p>
            <a:pPr marL="885825" lvl="1" indent="-409575" algn="just">
              <a:spcBef>
                <a:spcPts val="770"/>
              </a:spcBef>
              <a:buAutoNum type="alphaLcParenR"/>
              <a:tabLst>
                <a:tab pos="886460" algn="l"/>
              </a:tabLst>
            </a:pPr>
            <a:r>
              <a:rPr lang="en-US" sz="2400" dirty="0">
                <a:latin typeface="Times New Roman" pitchFamily="18" charset="0"/>
                <a:cs typeface="Times New Roman" pitchFamily="18" charset="0"/>
              </a:rPr>
              <a:t>William </a:t>
            </a:r>
            <a:r>
              <a:rPr lang="en-US" sz="2400" spc="-15" dirty="0">
                <a:latin typeface="Times New Roman" pitchFamily="18" charset="0"/>
                <a:cs typeface="Times New Roman" pitchFamily="18" charset="0"/>
              </a:rPr>
              <a:t>J. </a:t>
            </a:r>
            <a:r>
              <a:rPr lang="en-US" sz="2400" spc="-5" dirty="0">
                <a:latin typeface="Times New Roman" pitchFamily="18" charset="0"/>
                <a:cs typeface="Times New Roman" pitchFamily="18" charset="0"/>
              </a:rPr>
              <a:t>Baumol's </a:t>
            </a:r>
            <a:r>
              <a:rPr lang="en-US" sz="2400" spc="-20" dirty="0">
                <a:latin typeface="Times New Roman" pitchFamily="18" charset="0"/>
                <a:cs typeface="Times New Roman" pitchFamily="18" charset="0"/>
              </a:rPr>
              <a:t>inventory</a:t>
            </a:r>
            <a:r>
              <a:rPr lang="en-US" sz="2400" spc="45" dirty="0">
                <a:latin typeface="Times New Roman" pitchFamily="18" charset="0"/>
                <a:cs typeface="Times New Roman" pitchFamily="18" charset="0"/>
              </a:rPr>
              <a:t> </a:t>
            </a:r>
            <a:r>
              <a:rPr lang="en-US" sz="2400" dirty="0">
                <a:latin typeface="Times New Roman" pitchFamily="18" charset="0"/>
                <a:cs typeface="Times New Roman" pitchFamily="18" charset="0"/>
              </a:rPr>
              <a:t>model</a:t>
            </a:r>
          </a:p>
          <a:p>
            <a:pPr marL="869315" marR="478790" lvl="1" indent="-392430" algn="just">
              <a:spcBef>
                <a:spcPts val="765"/>
              </a:spcBef>
              <a:buFont typeface="Carlito"/>
              <a:buAutoNum type="alphaLcParenR"/>
              <a:tabLst>
                <a:tab pos="869950" algn="l"/>
              </a:tabLst>
            </a:pPr>
            <a:r>
              <a:rPr lang="en-US" sz="2400" spc="-5" dirty="0">
                <a:latin typeface="Times New Roman" pitchFamily="18" charset="0"/>
                <a:cs typeface="Times New Roman" pitchFamily="18" charset="0"/>
              </a:rPr>
              <a:t>M. </a:t>
            </a:r>
            <a:r>
              <a:rPr lang="en-US" sz="2400" spc="-200" dirty="0">
                <a:latin typeface="Times New Roman" pitchFamily="18" charset="0"/>
                <a:cs typeface="Times New Roman" pitchFamily="18" charset="0"/>
              </a:rPr>
              <a:t>H. </a:t>
            </a:r>
            <a:r>
              <a:rPr lang="en-US" sz="2400" spc="-5" dirty="0">
                <a:latin typeface="Times New Roman" pitchFamily="18" charset="0"/>
                <a:cs typeface="Times New Roman" pitchFamily="18" charset="0"/>
              </a:rPr>
              <a:t>Miller </a:t>
            </a:r>
            <a:r>
              <a:rPr lang="en-US" sz="2400" spc="-150" dirty="0">
                <a:latin typeface="Times New Roman" pitchFamily="18" charset="0"/>
                <a:cs typeface="Times New Roman" pitchFamily="18" charset="0"/>
              </a:rPr>
              <a:t>and </a:t>
            </a:r>
            <a:r>
              <a:rPr lang="en-US" sz="2400" spc="-145" dirty="0">
                <a:latin typeface="Times New Roman" pitchFamily="18" charset="0"/>
                <a:cs typeface="Times New Roman" pitchFamily="18" charset="0"/>
              </a:rPr>
              <a:t>Daniel </a:t>
            </a:r>
            <a:r>
              <a:rPr lang="en-US" sz="2400" spc="-120" dirty="0">
                <a:latin typeface="Times New Roman" pitchFamily="18" charset="0"/>
                <a:cs typeface="Times New Roman" pitchFamily="18" charset="0"/>
              </a:rPr>
              <a:t>Orr’s</a:t>
            </a:r>
            <a:r>
              <a:rPr lang="en-US" sz="2400" spc="-475" dirty="0">
                <a:latin typeface="Times New Roman" pitchFamily="18" charset="0"/>
                <a:cs typeface="Times New Roman" pitchFamily="18" charset="0"/>
              </a:rPr>
              <a:t> </a:t>
            </a:r>
            <a:r>
              <a:rPr lang="en-US" sz="2400" spc="-170" dirty="0">
                <a:latin typeface="Times New Roman" pitchFamily="18" charset="0"/>
                <a:cs typeface="Times New Roman" pitchFamily="18" charset="0"/>
              </a:rPr>
              <a:t>Stochastic  </a:t>
            </a:r>
            <a:r>
              <a:rPr lang="en-US" sz="2400" dirty="0">
                <a:latin typeface="Times New Roman" pitchFamily="18" charset="0"/>
                <a:cs typeface="Times New Roman" pitchFamily="18" charset="0"/>
              </a:rPr>
              <a:t>model</a:t>
            </a:r>
          </a:p>
          <a:p>
            <a:pPr algn="just">
              <a:buNone/>
            </a:pPr>
            <a:endParaRPr lang="en-US" sz="2400" b="1"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Title 1"/>
          <p:cNvSpPr txBox="1">
            <a:spLocks/>
          </p:cNvSpPr>
          <p:nvPr/>
        </p:nvSpPr>
        <p:spPr>
          <a:xfrm>
            <a:off x="1828800" y="1"/>
            <a:ext cx="10363200" cy="7619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mj-lt"/>
                <a:cs typeface="Carlito"/>
              </a:rPr>
              <a:t>Cash </a:t>
            </a:r>
            <a:r>
              <a:rPr lang="en-US" sz="2800" spc="-5" dirty="0">
                <a:latin typeface="+mj-lt"/>
                <a:cs typeface="Carlito"/>
              </a:rPr>
              <a:t>Management</a:t>
            </a:r>
            <a:r>
              <a:rPr lang="en-US" sz="2800" spc="-95" dirty="0">
                <a:latin typeface="+mj-lt"/>
                <a:cs typeface="Carlito"/>
              </a:rPr>
              <a:t> </a:t>
            </a:r>
            <a:r>
              <a:rPr lang="en-US" sz="2800" spc="5" dirty="0">
                <a:latin typeface="+mj-lt"/>
                <a:cs typeface="Carlito"/>
              </a:rPr>
              <a:t>Model</a:t>
            </a:r>
            <a:endParaRPr lang="en-IN" sz="2800" b="1" dirty="0">
              <a:latin typeface="+mj-lt"/>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3CBF6477-0369-443D-95E7-B0C693240372}" type="datetime1">
              <a:rPr lang="en-US" smtClean="0"/>
              <a:t>8/20/2025</a:t>
            </a:fld>
            <a:endParaRPr lang="en-US"/>
          </a:p>
        </p:txBody>
      </p:sp>
    </p:spTree>
    <p:extLst>
      <p:ext uri="{BB962C8B-B14F-4D97-AF65-F5344CB8AC3E}">
        <p14:creationId xmlns:p14="http://schemas.microsoft.com/office/powerpoint/2010/main" val="758711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11811000" cy="4419600"/>
          </a:xfrm>
        </p:spPr>
        <p:txBody>
          <a:bodyPr>
            <a:normAutofit/>
          </a:bodyPr>
          <a:lstStyle/>
          <a:p>
            <a:pPr marL="12700" algn="just">
              <a:spcBef>
                <a:spcPts val="865"/>
              </a:spcBef>
              <a:buNone/>
            </a:pPr>
            <a:r>
              <a:rPr lang="en-US" sz="2400" b="1" spc="-285" dirty="0">
                <a:latin typeface="Times New Roman" pitchFamily="18" charset="0"/>
                <a:cs typeface="Times New Roman" pitchFamily="18" charset="0"/>
              </a:rPr>
              <a:t>Baumol ’s </a:t>
            </a:r>
            <a:r>
              <a:rPr lang="en-US" sz="2400" b="1" spc="-5" dirty="0">
                <a:latin typeface="Times New Roman" pitchFamily="18" charset="0"/>
                <a:cs typeface="Times New Roman" pitchFamily="18" charset="0"/>
              </a:rPr>
              <a:t>model </a:t>
            </a:r>
            <a:r>
              <a:rPr lang="en-US" sz="2400" b="1" dirty="0">
                <a:latin typeface="Times New Roman" pitchFamily="18" charset="0"/>
                <a:cs typeface="Times New Roman" pitchFamily="18" charset="0"/>
              </a:rPr>
              <a:t>of </a:t>
            </a:r>
            <a:r>
              <a:rPr lang="en-US" sz="2400" b="1" spc="-5" dirty="0">
                <a:latin typeface="Times New Roman" pitchFamily="18" charset="0"/>
                <a:cs typeface="Times New Roman" pitchFamily="18" charset="0"/>
              </a:rPr>
              <a:t>cash</a:t>
            </a:r>
            <a:r>
              <a:rPr lang="en-US" sz="2400" b="1" spc="40" dirty="0">
                <a:latin typeface="Times New Roman" pitchFamily="18" charset="0"/>
                <a:cs typeface="Times New Roman" pitchFamily="18" charset="0"/>
              </a:rPr>
              <a:t> </a:t>
            </a:r>
            <a:r>
              <a:rPr lang="en-US" sz="2400" b="1" spc="-10" dirty="0">
                <a:latin typeface="Times New Roman" pitchFamily="18" charset="0"/>
                <a:cs typeface="Times New Roman" pitchFamily="18" charset="0"/>
              </a:rPr>
              <a:t>management-</a:t>
            </a:r>
            <a:endParaRPr lang="en-US" sz="2400" dirty="0">
              <a:latin typeface="Times New Roman" pitchFamily="18" charset="0"/>
              <a:cs typeface="Times New Roman" pitchFamily="18" charset="0"/>
            </a:endParaRPr>
          </a:p>
          <a:p>
            <a:pPr marL="243840" marR="5080" indent="-231775" algn="just">
              <a:spcBef>
                <a:spcPts val="770"/>
              </a:spcBef>
              <a:buFont typeface="Arial"/>
              <a:buChar char="•"/>
              <a:tabLst>
                <a:tab pos="244475" algn="l"/>
              </a:tabLst>
            </a:pPr>
            <a:r>
              <a:rPr lang="en-US" sz="2400" spc="-45" dirty="0">
                <a:latin typeface="Times New Roman" pitchFamily="18" charset="0"/>
                <a:cs typeface="Times New Roman" pitchFamily="18" charset="0"/>
              </a:rPr>
              <a:t>Trades </a:t>
            </a:r>
            <a:r>
              <a:rPr lang="en-US" sz="2400" spc="-15" dirty="0">
                <a:latin typeface="Times New Roman" pitchFamily="18" charset="0"/>
                <a:cs typeface="Times New Roman" pitchFamily="18" charset="0"/>
              </a:rPr>
              <a:t>off </a:t>
            </a:r>
            <a:r>
              <a:rPr lang="en-US" sz="2400" spc="-10" dirty="0">
                <a:latin typeface="Times New Roman" pitchFamily="18" charset="0"/>
                <a:cs typeface="Times New Roman" pitchFamily="18" charset="0"/>
              </a:rPr>
              <a:t>between </a:t>
            </a:r>
            <a:r>
              <a:rPr lang="en-US" sz="2400" spc="-5" dirty="0">
                <a:latin typeface="Times New Roman" pitchFamily="18" charset="0"/>
                <a:cs typeface="Times New Roman" pitchFamily="18" charset="0"/>
              </a:rPr>
              <a:t>opportunity </a:t>
            </a:r>
            <a:r>
              <a:rPr lang="en-US" sz="2400" spc="-20" dirty="0">
                <a:latin typeface="Times New Roman" pitchFamily="18" charset="0"/>
                <a:cs typeface="Times New Roman" pitchFamily="18" charset="0"/>
              </a:rPr>
              <a:t>cost </a:t>
            </a:r>
            <a:r>
              <a:rPr lang="en-US" sz="2400" dirty="0">
                <a:latin typeface="Times New Roman" pitchFamily="18" charset="0"/>
                <a:cs typeface="Times New Roman" pitchFamily="18" charset="0"/>
              </a:rPr>
              <a:t>or  </a:t>
            </a:r>
            <a:r>
              <a:rPr lang="en-US" sz="2400" spc="-5" dirty="0">
                <a:latin typeface="Times New Roman" pitchFamily="18" charset="0"/>
                <a:cs typeface="Times New Roman" pitchFamily="18" charset="0"/>
              </a:rPr>
              <a:t>carrying </a:t>
            </a:r>
            <a:r>
              <a:rPr lang="en-US" sz="2400" spc="-20" dirty="0">
                <a:latin typeface="Times New Roman" pitchFamily="18" charset="0"/>
                <a:cs typeface="Times New Roman" pitchFamily="18" charset="0"/>
              </a:rPr>
              <a:t>cost </a:t>
            </a:r>
            <a:r>
              <a:rPr lang="en-US" sz="2400" dirty="0">
                <a:latin typeface="Times New Roman" pitchFamily="18" charset="0"/>
                <a:cs typeface="Times New Roman" pitchFamily="18" charset="0"/>
              </a:rPr>
              <a:t>or </a:t>
            </a:r>
            <a:r>
              <a:rPr lang="en-US" sz="2400" spc="-5" dirty="0">
                <a:latin typeface="Times New Roman" pitchFamily="18" charset="0"/>
                <a:cs typeface="Times New Roman" pitchFamily="18" charset="0"/>
              </a:rPr>
              <a:t>holding </a:t>
            </a:r>
            <a:r>
              <a:rPr lang="en-US" sz="2400" spc="-20" dirty="0">
                <a:latin typeface="Times New Roman" pitchFamily="18" charset="0"/>
                <a:cs typeface="Times New Roman" pitchFamily="18" charset="0"/>
              </a:rPr>
              <a:t>cost </a:t>
            </a:r>
            <a:r>
              <a:rPr lang="en-US" sz="2400" dirty="0">
                <a:latin typeface="Times New Roman" pitchFamily="18" charset="0"/>
                <a:cs typeface="Times New Roman" pitchFamily="18" charset="0"/>
              </a:rPr>
              <a:t>&amp; the </a:t>
            </a:r>
            <a:r>
              <a:rPr lang="en-US" sz="2400" spc="-5" dirty="0">
                <a:latin typeface="Times New Roman" pitchFamily="18" charset="0"/>
                <a:cs typeface="Times New Roman" pitchFamily="18" charset="0"/>
              </a:rPr>
              <a:t>transaction  </a:t>
            </a:r>
            <a:r>
              <a:rPr lang="en-US" sz="2400" spc="-15" dirty="0">
                <a:latin typeface="Times New Roman" pitchFamily="18" charset="0"/>
                <a:cs typeface="Times New Roman" pitchFamily="18" charset="0"/>
              </a:rPr>
              <a:t>cost. </a:t>
            </a:r>
            <a:r>
              <a:rPr lang="en-US" sz="2400" spc="-5" dirty="0">
                <a:latin typeface="Times New Roman" pitchFamily="18" charset="0"/>
                <a:cs typeface="Times New Roman" pitchFamily="18" charset="0"/>
              </a:rPr>
              <a:t>As such firm </a:t>
            </a:r>
            <a:r>
              <a:rPr lang="en-US" sz="2400" spc="-15" dirty="0">
                <a:latin typeface="Times New Roman" pitchFamily="18" charset="0"/>
                <a:cs typeface="Times New Roman" pitchFamily="18" charset="0"/>
              </a:rPr>
              <a:t>attempts </a:t>
            </a:r>
            <a:r>
              <a:rPr lang="en-US" sz="2400" spc="-25" dirty="0">
                <a:latin typeface="Times New Roman" pitchFamily="18" charset="0"/>
                <a:cs typeface="Times New Roman" pitchFamily="18" charset="0"/>
              </a:rPr>
              <a:t>to </a:t>
            </a:r>
            <a:r>
              <a:rPr lang="en-US" sz="2400" spc="-10" dirty="0">
                <a:latin typeface="Times New Roman" pitchFamily="18" charset="0"/>
                <a:cs typeface="Times New Roman" pitchFamily="18" charset="0"/>
              </a:rPr>
              <a:t>minimize </a:t>
            </a:r>
            <a:r>
              <a:rPr lang="en-US" sz="2400" dirty="0">
                <a:latin typeface="Times New Roman" pitchFamily="18" charset="0"/>
                <a:cs typeface="Times New Roman" pitchFamily="18" charset="0"/>
              </a:rPr>
              <a:t>the  sum of the holding </a:t>
            </a:r>
            <a:r>
              <a:rPr lang="en-US" sz="2400" spc="-5" dirty="0">
                <a:latin typeface="Times New Roman" pitchFamily="18" charset="0"/>
                <a:cs typeface="Times New Roman" pitchFamily="18" charset="0"/>
              </a:rPr>
              <a:t>cash </a:t>
            </a:r>
            <a:r>
              <a:rPr lang="en-US" sz="2400" dirty="0">
                <a:latin typeface="Times New Roman" pitchFamily="18" charset="0"/>
                <a:cs typeface="Times New Roman" pitchFamily="18" charset="0"/>
              </a:rPr>
              <a:t>&amp; the </a:t>
            </a:r>
            <a:r>
              <a:rPr lang="en-US" sz="2400" spc="-20" dirty="0">
                <a:latin typeface="Times New Roman" pitchFamily="18" charset="0"/>
                <a:cs typeface="Times New Roman" pitchFamily="18" charset="0"/>
              </a:rPr>
              <a:t>cost </a:t>
            </a:r>
            <a:r>
              <a:rPr lang="en-US" sz="2400" dirty="0">
                <a:latin typeface="Times New Roman" pitchFamily="18" charset="0"/>
                <a:cs typeface="Times New Roman" pitchFamily="18" charset="0"/>
              </a:rPr>
              <a:t>of  </a:t>
            </a:r>
            <a:r>
              <a:rPr lang="en-US" sz="2400" spc="-15" dirty="0">
                <a:latin typeface="Times New Roman" pitchFamily="18" charset="0"/>
                <a:cs typeface="Times New Roman" pitchFamily="18" charset="0"/>
              </a:rPr>
              <a:t>converting </a:t>
            </a:r>
            <a:r>
              <a:rPr lang="en-US" sz="2400" spc="-20" dirty="0">
                <a:latin typeface="Times New Roman" pitchFamily="18" charset="0"/>
                <a:cs typeface="Times New Roman" pitchFamily="18" charset="0"/>
              </a:rPr>
              <a:t>marketable </a:t>
            </a:r>
            <a:r>
              <a:rPr lang="en-US" sz="2400" spc="-5" dirty="0">
                <a:latin typeface="Times New Roman" pitchFamily="18" charset="0"/>
                <a:cs typeface="Times New Roman" pitchFamily="18" charset="0"/>
              </a:rPr>
              <a:t>securities in </a:t>
            </a:r>
            <a:r>
              <a:rPr lang="en-US" sz="2400" spc="-25" dirty="0">
                <a:latin typeface="Times New Roman" pitchFamily="18" charset="0"/>
                <a:cs typeface="Times New Roman" pitchFamily="18" charset="0"/>
              </a:rPr>
              <a:t>to</a:t>
            </a:r>
            <a:r>
              <a:rPr lang="en-US" sz="2400" spc="65" dirty="0">
                <a:latin typeface="Times New Roman" pitchFamily="18" charset="0"/>
                <a:cs typeface="Times New Roman" pitchFamily="18" charset="0"/>
              </a:rPr>
              <a:t> </a:t>
            </a:r>
            <a:r>
              <a:rPr lang="en-US" sz="2400" spc="-5" dirty="0">
                <a:latin typeface="Times New Roman" pitchFamily="18" charset="0"/>
                <a:cs typeface="Times New Roman" pitchFamily="18" charset="0"/>
              </a:rPr>
              <a:t>cash.</a:t>
            </a:r>
            <a:endParaRPr lang="en-US" sz="2400" dirty="0">
              <a:latin typeface="Times New Roman" pitchFamily="18" charset="0"/>
              <a:cs typeface="Times New Roman" pitchFamily="18" charset="0"/>
            </a:endParaRPr>
          </a:p>
          <a:p>
            <a:pPr marL="291465" marR="6985" indent="-279400" algn="just">
              <a:spcBef>
                <a:spcPts val="770"/>
              </a:spcBef>
              <a:buFont typeface="Arial"/>
              <a:buChar char="•"/>
              <a:tabLst>
                <a:tab pos="292100" algn="l"/>
              </a:tabLst>
            </a:pPr>
            <a:r>
              <a:rPr lang="en-US" sz="2400" spc="-10" dirty="0">
                <a:latin typeface="Times New Roman" pitchFamily="18" charset="0"/>
                <a:cs typeface="Times New Roman" pitchFamily="18" charset="0"/>
              </a:rPr>
              <a:t>Helps </a:t>
            </a:r>
            <a:r>
              <a:rPr lang="en-US" sz="2400" spc="-5" dirty="0">
                <a:latin typeface="Times New Roman" pitchFamily="18" charset="0"/>
                <a:cs typeface="Times New Roman" pitchFamily="18" charset="0"/>
              </a:rPr>
              <a:t>in determining </a:t>
            </a:r>
            <a:r>
              <a:rPr lang="en-US" sz="2400" dirty="0">
                <a:latin typeface="Times New Roman" pitchFamily="18" charset="0"/>
                <a:cs typeface="Times New Roman" pitchFamily="18" charset="0"/>
              </a:rPr>
              <a:t>a </a:t>
            </a:r>
            <a:r>
              <a:rPr lang="en-US" sz="2400" spc="-5" dirty="0">
                <a:latin typeface="Times New Roman" pitchFamily="18" charset="0"/>
                <a:cs typeface="Times New Roman" pitchFamily="18" charset="0"/>
              </a:rPr>
              <a:t>firm's optimum cash  balance under</a:t>
            </a:r>
            <a:r>
              <a:rPr lang="en-US" sz="2400" spc="10" dirty="0">
                <a:latin typeface="Times New Roman" pitchFamily="18" charset="0"/>
                <a:cs typeface="Times New Roman" pitchFamily="18" charset="0"/>
              </a:rPr>
              <a:t> </a:t>
            </a:r>
            <a:r>
              <a:rPr lang="en-US" sz="2400" spc="-10" dirty="0">
                <a:latin typeface="Times New Roman" pitchFamily="18" charset="0"/>
                <a:cs typeface="Times New Roman" pitchFamily="18" charset="0"/>
              </a:rPr>
              <a:t>certainty</a:t>
            </a:r>
            <a:endParaRPr lang="en-US" sz="2400" dirty="0">
              <a:latin typeface="Times New Roman" pitchFamily="18" charset="0"/>
              <a:cs typeface="Times New Roman" pitchFamily="18" charset="0"/>
            </a:endParaRPr>
          </a:p>
          <a:p>
            <a:pPr>
              <a:buNone/>
            </a:pPr>
            <a:endParaRPr lang="en-US" sz="2400" b="1"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Title 1"/>
          <p:cNvSpPr txBox="1">
            <a:spLocks/>
          </p:cNvSpPr>
          <p:nvPr/>
        </p:nvSpPr>
        <p:spPr>
          <a:xfrm>
            <a:off x="1905000" y="0"/>
            <a:ext cx="102870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latin typeface="+mj-lt"/>
                <a:cs typeface="Carlito"/>
              </a:rPr>
              <a:t>William </a:t>
            </a:r>
            <a:r>
              <a:rPr lang="en-US" sz="2800" spc="-20" dirty="0">
                <a:latin typeface="+mj-lt"/>
                <a:cs typeface="Carlito"/>
              </a:rPr>
              <a:t>J. </a:t>
            </a:r>
            <a:r>
              <a:rPr lang="en-US" sz="2800" dirty="0">
                <a:latin typeface="+mj-lt"/>
                <a:cs typeface="Carlito"/>
              </a:rPr>
              <a:t>Baumol's </a:t>
            </a:r>
            <a:r>
              <a:rPr lang="en-US" sz="2800" spc="-20" dirty="0">
                <a:latin typeface="+mj-lt"/>
                <a:cs typeface="Carlito"/>
              </a:rPr>
              <a:t>Inventory </a:t>
            </a:r>
            <a:r>
              <a:rPr lang="en-US" sz="2800" spc="-5" dirty="0">
                <a:latin typeface="+mj-lt"/>
                <a:cs typeface="Carlito"/>
              </a:rPr>
              <a:t>model</a:t>
            </a:r>
            <a:endParaRPr lang="en-IN" sz="2800" b="1" dirty="0">
              <a:latin typeface="+mj-lt"/>
            </a:endParaRP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E01C5D99-1C49-41B5-A09B-CB731C02E650}" type="datetime1">
              <a:rPr lang="en-US" smtClean="0"/>
              <a:t>8/20/2025</a:t>
            </a:fld>
            <a:endParaRPr lang="en-US"/>
          </a:p>
        </p:txBody>
      </p:sp>
    </p:spTree>
    <p:extLst>
      <p:ext uri="{BB962C8B-B14F-4D97-AF65-F5344CB8AC3E}">
        <p14:creationId xmlns:p14="http://schemas.microsoft.com/office/powerpoint/2010/main" val="7276249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3056256" y="2348674"/>
            <a:ext cx="6849745" cy="3366326"/>
            <a:chOff x="1532255" y="2348674"/>
            <a:chExt cx="6316345" cy="2977515"/>
          </a:xfrm>
        </p:grpSpPr>
        <p:sp>
          <p:nvSpPr>
            <p:cNvPr id="4" name="object 4"/>
            <p:cNvSpPr/>
            <p:nvPr/>
          </p:nvSpPr>
          <p:spPr>
            <a:xfrm>
              <a:off x="1599438" y="2362961"/>
              <a:ext cx="1905" cy="2895600"/>
            </a:xfrm>
            <a:custGeom>
              <a:avLst/>
              <a:gdLst/>
              <a:ahLst/>
              <a:cxnLst/>
              <a:rect l="l" t="t" r="r" b="b"/>
              <a:pathLst>
                <a:path w="1905" h="2895600">
                  <a:moveTo>
                    <a:pt x="1524" y="0"/>
                  </a:moveTo>
                  <a:lnTo>
                    <a:pt x="0" y="2895600"/>
                  </a:lnTo>
                </a:path>
              </a:pathLst>
            </a:custGeom>
            <a:ln w="28575">
              <a:solidFill>
                <a:srgbClr val="000000"/>
              </a:solidFill>
            </a:ln>
          </p:spPr>
          <p:txBody>
            <a:bodyPr wrap="square" lIns="0" tIns="0" rIns="0" bIns="0" rtlCol="0"/>
            <a:lstStyle/>
            <a:p>
              <a:endParaRPr/>
            </a:p>
          </p:txBody>
        </p:sp>
        <p:sp>
          <p:nvSpPr>
            <p:cNvPr id="5" name="object 5"/>
            <p:cNvSpPr/>
            <p:nvPr/>
          </p:nvSpPr>
          <p:spPr>
            <a:xfrm>
              <a:off x="1600200" y="5193029"/>
              <a:ext cx="6248400" cy="132715"/>
            </a:xfrm>
            <a:custGeom>
              <a:avLst/>
              <a:gdLst/>
              <a:ahLst/>
              <a:cxnLst/>
              <a:rect l="l" t="t" r="r" b="b"/>
              <a:pathLst>
                <a:path w="6248400" h="132714">
                  <a:moveTo>
                    <a:pt x="6134734" y="0"/>
                  </a:moveTo>
                  <a:lnTo>
                    <a:pt x="6125972" y="2286"/>
                  </a:lnTo>
                  <a:lnTo>
                    <a:pt x="6122034" y="9144"/>
                  </a:lnTo>
                  <a:lnTo>
                    <a:pt x="6118098" y="15875"/>
                  </a:lnTo>
                  <a:lnTo>
                    <a:pt x="6120383" y="24638"/>
                  </a:lnTo>
                  <a:lnTo>
                    <a:pt x="6167251" y="52055"/>
                  </a:lnTo>
                  <a:lnTo>
                    <a:pt x="6220206" y="52070"/>
                  </a:lnTo>
                  <a:lnTo>
                    <a:pt x="6220206" y="80645"/>
                  </a:lnTo>
                  <a:lnTo>
                    <a:pt x="6167220" y="80645"/>
                  </a:lnTo>
                  <a:lnTo>
                    <a:pt x="6120383" y="107950"/>
                  </a:lnTo>
                  <a:lnTo>
                    <a:pt x="6118098" y="116713"/>
                  </a:lnTo>
                  <a:lnTo>
                    <a:pt x="6122034" y="123571"/>
                  </a:lnTo>
                  <a:lnTo>
                    <a:pt x="6125972" y="130302"/>
                  </a:lnTo>
                  <a:lnTo>
                    <a:pt x="6134734" y="132588"/>
                  </a:lnTo>
                  <a:lnTo>
                    <a:pt x="6223819" y="80645"/>
                  </a:lnTo>
                  <a:lnTo>
                    <a:pt x="6220206" y="80645"/>
                  </a:lnTo>
                  <a:lnTo>
                    <a:pt x="6223843" y="80630"/>
                  </a:lnTo>
                  <a:lnTo>
                    <a:pt x="6248400" y="66294"/>
                  </a:lnTo>
                  <a:lnTo>
                    <a:pt x="6134734" y="0"/>
                  </a:lnTo>
                  <a:close/>
                </a:path>
                <a:path w="6248400" h="132714">
                  <a:moveTo>
                    <a:pt x="6191740" y="66349"/>
                  </a:moveTo>
                  <a:lnTo>
                    <a:pt x="6167244" y="80630"/>
                  </a:lnTo>
                  <a:lnTo>
                    <a:pt x="6220206" y="80645"/>
                  </a:lnTo>
                  <a:lnTo>
                    <a:pt x="6220206" y="78740"/>
                  </a:lnTo>
                  <a:lnTo>
                    <a:pt x="6212967" y="78740"/>
                  </a:lnTo>
                  <a:lnTo>
                    <a:pt x="6191740" y="66349"/>
                  </a:lnTo>
                  <a:close/>
                </a:path>
                <a:path w="6248400" h="132714">
                  <a:moveTo>
                    <a:pt x="0" y="50419"/>
                  </a:moveTo>
                  <a:lnTo>
                    <a:pt x="0" y="78994"/>
                  </a:lnTo>
                  <a:lnTo>
                    <a:pt x="6167244" y="80630"/>
                  </a:lnTo>
                  <a:lnTo>
                    <a:pt x="6191740" y="66349"/>
                  </a:lnTo>
                  <a:lnTo>
                    <a:pt x="6167251" y="52055"/>
                  </a:lnTo>
                  <a:lnTo>
                    <a:pt x="0" y="50419"/>
                  </a:lnTo>
                  <a:close/>
                </a:path>
                <a:path w="6248400" h="132714">
                  <a:moveTo>
                    <a:pt x="6212967" y="53975"/>
                  </a:moveTo>
                  <a:lnTo>
                    <a:pt x="6191740" y="66349"/>
                  </a:lnTo>
                  <a:lnTo>
                    <a:pt x="6212967" y="78740"/>
                  </a:lnTo>
                  <a:lnTo>
                    <a:pt x="6212967" y="53975"/>
                  </a:lnTo>
                  <a:close/>
                </a:path>
                <a:path w="6248400" h="132714">
                  <a:moveTo>
                    <a:pt x="6220206" y="53975"/>
                  </a:moveTo>
                  <a:lnTo>
                    <a:pt x="6212967" y="53975"/>
                  </a:lnTo>
                  <a:lnTo>
                    <a:pt x="6212967" y="78740"/>
                  </a:lnTo>
                  <a:lnTo>
                    <a:pt x="6220206" y="78740"/>
                  </a:lnTo>
                  <a:lnTo>
                    <a:pt x="6220206" y="53975"/>
                  </a:lnTo>
                  <a:close/>
                </a:path>
                <a:path w="6248400" h="132714">
                  <a:moveTo>
                    <a:pt x="6167251" y="52055"/>
                  </a:moveTo>
                  <a:lnTo>
                    <a:pt x="6191740" y="66349"/>
                  </a:lnTo>
                  <a:lnTo>
                    <a:pt x="6212967" y="53975"/>
                  </a:lnTo>
                  <a:lnTo>
                    <a:pt x="6220206" y="53975"/>
                  </a:lnTo>
                  <a:lnTo>
                    <a:pt x="6220206" y="52070"/>
                  </a:lnTo>
                  <a:lnTo>
                    <a:pt x="6167251" y="52055"/>
                  </a:lnTo>
                  <a:close/>
                </a:path>
              </a:pathLst>
            </a:custGeom>
            <a:solidFill>
              <a:srgbClr val="000000"/>
            </a:solidFill>
          </p:spPr>
          <p:txBody>
            <a:bodyPr wrap="square" lIns="0" tIns="0" rIns="0" bIns="0" rtlCol="0"/>
            <a:lstStyle/>
            <a:p>
              <a:endParaRPr/>
            </a:p>
          </p:txBody>
        </p:sp>
        <p:sp>
          <p:nvSpPr>
            <p:cNvPr id="6" name="object 6"/>
            <p:cNvSpPr/>
            <p:nvPr/>
          </p:nvSpPr>
          <p:spPr>
            <a:xfrm>
              <a:off x="1532255" y="2362961"/>
              <a:ext cx="132714" cy="131445"/>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600200" y="3962400"/>
              <a:ext cx="2514600" cy="1295400"/>
            </a:xfrm>
            <a:custGeom>
              <a:avLst/>
              <a:gdLst/>
              <a:ahLst/>
              <a:cxnLst/>
              <a:rect l="l" t="t" r="r" b="b"/>
              <a:pathLst>
                <a:path w="2514600" h="1295400">
                  <a:moveTo>
                    <a:pt x="0" y="1295400"/>
                  </a:moveTo>
                  <a:lnTo>
                    <a:pt x="2514600" y="1295400"/>
                  </a:lnTo>
                  <a:lnTo>
                    <a:pt x="2514600" y="0"/>
                  </a:lnTo>
                  <a:lnTo>
                    <a:pt x="0" y="0"/>
                  </a:lnTo>
                  <a:lnTo>
                    <a:pt x="0" y="1295400"/>
                  </a:lnTo>
                  <a:close/>
                </a:path>
              </a:pathLst>
            </a:custGeom>
            <a:ln w="25400">
              <a:solidFill>
                <a:srgbClr val="000000"/>
              </a:solidFill>
            </a:ln>
          </p:spPr>
          <p:txBody>
            <a:bodyPr wrap="square" lIns="0" tIns="0" rIns="0" bIns="0" rtlCol="0"/>
            <a:lstStyle/>
            <a:p>
              <a:endParaRPr/>
            </a:p>
          </p:txBody>
        </p:sp>
        <p:sp>
          <p:nvSpPr>
            <p:cNvPr id="8" name="object 8"/>
            <p:cNvSpPr/>
            <p:nvPr/>
          </p:nvSpPr>
          <p:spPr>
            <a:xfrm>
              <a:off x="1600200" y="2548508"/>
              <a:ext cx="5791200" cy="2709545"/>
            </a:xfrm>
            <a:custGeom>
              <a:avLst/>
              <a:gdLst/>
              <a:ahLst/>
              <a:cxnLst/>
              <a:rect l="l" t="t" r="r" b="b"/>
              <a:pathLst>
                <a:path w="5791200" h="2709545">
                  <a:moveTo>
                    <a:pt x="4196842" y="963294"/>
                  </a:moveTo>
                  <a:lnTo>
                    <a:pt x="4160240" y="989014"/>
                  </a:lnTo>
                  <a:lnTo>
                    <a:pt x="4123296" y="1013955"/>
                  </a:lnTo>
                  <a:lnTo>
                    <a:pt x="4086017" y="1038119"/>
                  </a:lnTo>
                  <a:lnTo>
                    <a:pt x="4048412" y="1061508"/>
                  </a:lnTo>
                  <a:lnTo>
                    <a:pt x="4010490" y="1084123"/>
                  </a:lnTo>
                  <a:lnTo>
                    <a:pt x="3972257" y="1105968"/>
                  </a:lnTo>
                  <a:lnTo>
                    <a:pt x="3933724" y="1127044"/>
                  </a:lnTo>
                  <a:lnTo>
                    <a:pt x="3894897" y="1147352"/>
                  </a:lnTo>
                  <a:lnTo>
                    <a:pt x="3855785" y="1166895"/>
                  </a:lnTo>
                  <a:lnTo>
                    <a:pt x="3816397" y="1185676"/>
                  </a:lnTo>
                  <a:lnTo>
                    <a:pt x="3776741" y="1203695"/>
                  </a:lnTo>
                  <a:lnTo>
                    <a:pt x="3736825" y="1220955"/>
                  </a:lnTo>
                  <a:lnTo>
                    <a:pt x="3696657" y="1237458"/>
                  </a:lnTo>
                  <a:lnTo>
                    <a:pt x="3656246" y="1253205"/>
                  </a:lnTo>
                  <a:lnTo>
                    <a:pt x="3615599" y="1268200"/>
                  </a:lnTo>
                  <a:lnTo>
                    <a:pt x="3574726" y="1282443"/>
                  </a:lnTo>
                  <a:lnTo>
                    <a:pt x="3533634" y="1295937"/>
                  </a:lnTo>
                  <a:lnTo>
                    <a:pt x="3492331" y="1308683"/>
                  </a:lnTo>
                  <a:lnTo>
                    <a:pt x="3450827" y="1320685"/>
                  </a:lnTo>
                  <a:lnTo>
                    <a:pt x="3409129" y="1331943"/>
                  </a:lnTo>
                  <a:lnTo>
                    <a:pt x="3367245" y="1342460"/>
                  </a:lnTo>
                  <a:lnTo>
                    <a:pt x="3325184" y="1352237"/>
                  </a:lnTo>
                  <a:lnTo>
                    <a:pt x="3282954" y="1361277"/>
                  </a:lnTo>
                  <a:lnTo>
                    <a:pt x="3240563" y="1369582"/>
                  </a:lnTo>
                  <a:lnTo>
                    <a:pt x="3198020" y="1377154"/>
                  </a:lnTo>
                  <a:lnTo>
                    <a:pt x="3155333" y="1383994"/>
                  </a:lnTo>
                  <a:lnTo>
                    <a:pt x="3112510" y="1390104"/>
                  </a:lnTo>
                  <a:lnTo>
                    <a:pt x="3069559" y="1395488"/>
                  </a:lnTo>
                  <a:lnTo>
                    <a:pt x="3026489" y="1400146"/>
                  </a:lnTo>
                  <a:lnTo>
                    <a:pt x="2983308" y="1404080"/>
                  </a:lnTo>
                  <a:lnTo>
                    <a:pt x="2940024" y="1407293"/>
                  </a:lnTo>
                  <a:lnTo>
                    <a:pt x="2896646" y="1409786"/>
                  </a:lnTo>
                  <a:lnTo>
                    <a:pt x="2853181" y="1411562"/>
                  </a:lnTo>
                  <a:lnTo>
                    <a:pt x="2809639" y="1412622"/>
                  </a:lnTo>
                  <a:lnTo>
                    <a:pt x="2766026" y="1412969"/>
                  </a:lnTo>
                  <a:lnTo>
                    <a:pt x="2722353" y="1412605"/>
                  </a:lnTo>
                  <a:lnTo>
                    <a:pt x="2678626" y="1411530"/>
                  </a:lnTo>
                  <a:lnTo>
                    <a:pt x="2634854" y="1409748"/>
                  </a:lnTo>
                  <a:lnTo>
                    <a:pt x="2591046" y="1407261"/>
                  </a:lnTo>
                  <a:lnTo>
                    <a:pt x="2547209" y="1404070"/>
                  </a:lnTo>
                  <a:lnTo>
                    <a:pt x="2503352" y="1400177"/>
                  </a:lnTo>
                  <a:lnTo>
                    <a:pt x="2459484" y="1395585"/>
                  </a:lnTo>
                  <a:lnTo>
                    <a:pt x="2415612" y="1390295"/>
                  </a:lnTo>
                  <a:lnTo>
                    <a:pt x="2371745" y="1384309"/>
                  </a:lnTo>
                  <a:lnTo>
                    <a:pt x="2327890" y="1377630"/>
                  </a:lnTo>
                  <a:lnTo>
                    <a:pt x="2284057" y="1370258"/>
                  </a:lnTo>
                  <a:lnTo>
                    <a:pt x="2240254" y="1362198"/>
                  </a:lnTo>
                  <a:lnTo>
                    <a:pt x="2196489" y="1353449"/>
                  </a:lnTo>
                  <a:lnTo>
                    <a:pt x="2152769" y="1344015"/>
                  </a:lnTo>
                  <a:lnTo>
                    <a:pt x="2109104" y="1333896"/>
                  </a:lnTo>
                  <a:lnTo>
                    <a:pt x="2065502" y="1323096"/>
                  </a:lnTo>
                  <a:lnTo>
                    <a:pt x="2021971" y="1311617"/>
                  </a:lnTo>
                  <a:lnTo>
                    <a:pt x="1978519" y="1299459"/>
                  </a:lnTo>
                  <a:lnTo>
                    <a:pt x="1935154" y="1286626"/>
                  </a:lnTo>
                  <a:lnTo>
                    <a:pt x="1891885" y="1273118"/>
                  </a:lnTo>
                  <a:lnTo>
                    <a:pt x="1848720" y="1258939"/>
                  </a:lnTo>
                  <a:lnTo>
                    <a:pt x="1805668" y="1244090"/>
                  </a:lnTo>
                  <a:lnTo>
                    <a:pt x="1762736" y="1228573"/>
                  </a:lnTo>
                  <a:lnTo>
                    <a:pt x="1719933" y="1212390"/>
                  </a:lnTo>
                  <a:lnTo>
                    <a:pt x="1677267" y="1195543"/>
                  </a:lnTo>
                  <a:lnTo>
                    <a:pt x="1634747" y="1178034"/>
                  </a:lnTo>
                  <a:lnTo>
                    <a:pt x="1592380" y="1159865"/>
                  </a:lnTo>
                  <a:lnTo>
                    <a:pt x="1550175" y="1141038"/>
                  </a:lnTo>
                  <a:lnTo>
                    <a:pt x="1508140" y="1121556"/>
                  </a:lnTo>
                  <a:lnTo>
                    <a:pt x="1466284" y="1101419"/>
                  </a:lnTo>
                  <a:lnTo>
                    <a:pt x="1424615" y="1080630"/>
                  </a:lnTo>
                  <a:lnTo>
                    <a:pt x="1383140" y="1059191"/>
                  </a:lnTo>
                  <a:lnTo>
                    <a:pt x="1341869" y="1037104"/>
                  </a:lnTo>
                  <a:lnTo>
                    <a:pt x="1300810" y="1014370"/>
                  </a:lnTo>
                  <a:lnTo>
                    <a:pt x="1259970" y="990993"/>
                  </a:lnTo>
                  <a:lnTo>
                    <a:pt x="1219359" y="966974"/>
                  </a:lnTo>
                  <a:lnTo>
                    <a:pt x="1178984" y="942314"/>
                  </a:lnTo>
                  <a:lnTo>
                    <a:pt x="1138854" y="917016"/>
                  </a:lnTo>
                  <a:lnTo>
                    <a:pt x="1098976" y="891082"/>
                  </a:lnTo>
                  <a:lnTo>
                    <a:pt x="1059360" y="864514"/>
                  </a:lnTo>
                  <a:lnTo>
                    <a:pt x="1020013" y="837314"/>
                  </a:lnTo>
                  <a:lnTo>
                    <a:pt x="980945" y="809483"/>
                  </a:lnTo>
                  <a:lnTo>
                    <a:pt x="942162" y="781025"/>
                  </a:lnTo>
                  <a:lnTo>
                    <a:pt x="903673" y="751940"/>
                  </a:lnTo>
                  <a:lnTo>
                    <a:pt x="865487" y="722230"/>
                  </a:lnTo>
                  <a:lnTo>
                    <a:pt x="827612" y="691899"/>
                  </a:lnTo>
                  <a:lnTo>
                    <a:pt x="790056" y="660947"/>
                  </a:lnTo>
                  <a:lnTo>
                    <a:pt x="752828" y="629376"/>
                  </a:lnTo>
                  <a:lnTo>
                    <a:pt x="715935" y="597190"/>
                  </a:lnTo>
                  <a:lnTo>
                    <a:pt x="679386" y="564389"/>
                  </a:lnTo>
                  <a:lnTo>
                    <a:pt x="643189" y="530975"/>
                  </a:lnTo>
                  <a:lnTo>
                    <a:pt x="607353" y="496952"/>
                  </a:lnTo>
                  <a:lnTo>
                    <a:pt x="571886" y="462319"/>
                  </a:lnTo>
                  <a:lnTo>
                    <a:pt x="536796" y="427081"/>
                  </a:lnTo>
                  <a:lnTo>
                    <a:pt x="502091" y="391238"/>
                  </a:lnTo>
                  <a:lnTo>
                    <a:pt x="467779" y="354792"/>
                  </a:lnTo>
                  <a:lnTo>
                    <a:pt x="433870" y="317746"/>
                  </a:lnTo>
                  <a:lnTo>
                    <a:pt x="400370" y="280102"/>
                  </a:lnTo>
                  <a:lnTo>
                    <a:pt x="367289" y="241861"/>
                  </a:lnTo>
                  <a:lnTo>
                    <a:pt x="334635" y="203025"/>
                  </a:lnTo>
                  <a:lnTo>
                    <a:pt x="302416" y="163597"/>
                  </a:lnTo>
                  <a:lnTo>
                    <a:pt x="270640" y="123579"/>
                  </a:lnTo>
                  <a:lnTo>
                    <a:pt x="239315" y="82972"/>
                  </a:lnTo>
                  <a:lnTo>
                    <a:pt x="208450" y="41778"/>
                  </a:lnTo>
                  <a:lnTo>
                    <a:pt x="178054" y="0"/>
                  </a:lnTo>
                </a:path>
                <a:path w="5791200" h="2709545">
                  <a:moveTo>
                    <a:pt x="4091940" y="2548890"/>
                  </a:moveTo>
                  <a:lnTo>
                    <a:pt x="4041554" y="2557379"/>
                  </a:lnTo>
                  <a:lnTo>
                    <a:pt x="3991231" y="2565188"/>
                  </a:lnTo>
                  <a:lnTo>
                    <a:pt x="3940977" y="2572320"/>
                  </a:lnTo>
                  <a:lnTo>
                    <a:pt x="3890799" y="2578777"/>
                  </a:lnTo>
                  <a:lnTo>
                    <a:pt x="3840701" y="2584565"/>
                  </a:lnTo>
                  <a:lnTo>
                    <a:pt x="3790690" y="2589686"/>
                  </a:lnTo>
                  <a:lnTo>
                    <a:pt x="3740771" y="2594144"/>
                  </a:lnTo>
                  <a:lnTo>
                    <a:pt x="3690951" y="2597942"/>
                  </a:lnTo>
                  <a:lnTo>
                    <a:pt x="3641235" y="2601085"/>
                  </a:lnTo>
                  <a:lnTo>
                    <a:pt x="3591630" y="2603576"/>
                  </a:lnTo>
                  <a:lnTo>
                    <a:pt x="3542140" y="2605419"/>
                  </a:lnTo>
                  <a:lnTo>
                    <a:pt x="3492773" y="2606616"/>
                  </a:lnTo>
                  <a:lnTo>
                    <a:pt x="3443533" y="2607173"/>
                  </a:lnTo>
                  <a:lnTo>
                    <a:pt x="3394427" y="2607092"/>
                  </a:lnTo>
                  <a:lnTo>
                    <a:pt x="3345461" y="2606377"/>
                  </a:lnTo>
                  <a:lnTo>
                    <a:pt x="3296640" y="2605032"/>
                  </a:lnTo>
                  <a:lnTo>
                    <a:pt x="3247971" y="2603061"/>
                  </a:lnTo>
                  <a:lnTo>
                    <a:pt x="3199459" y="2600466"/>
                  </a:lnTo>
                  <a:lnTo>
                    <a:pt x="3151110" y="2597252"/>
                  </a:lnTo>
                  <a:lnTo>
                    <a:pt x="3102930" y="2593422"/>
                  </a:lnTo>
                  <a:lnTo>
                    <a:pt x="3054924" y="2588980"/>
                  </a:lnTo>
                  <a:lnTo>
                    <a:pt x="3007100" y="2583930"/>
                  </a:lnTo>
                  <a:lnTo>
                    <a:pt x="2959462" y="2578275"/>
                  </a:lnTo>
                  <a:lnTo>
                    <a:pt x="2912017" y="2572018"/>
                  </a:lnTo>
                  <a:lnTo>
                    <a:pt x="2864769" y="2565164"/>
                  </a:lnTo>
                  <a:lnTo>
                    <a:pt x="2817727" y="2557716"/>
                  </a:lnTo>
                  <a:lnTo>
                    <a:pt x="2770894" y="2549678"/>
                  </a:lnTo>
                  <a:lnTo>
                    <a:pt x="2724277" y="2541053"/>
                  </a:lnTo>
                  <a:lnTo>
                    <a:pt x="2677882" y="2531845"/>
                  </a:lnTo>
                  <a:lnTo>
                    <a:pt x="2631715" y="2522057"/>
                  </a:lnTo>
                  <a:lnTo>
                    <a:pt x="2585782" y="2511693"/>
                  </a:lnTo>
                  <a:lnTo>
                    <a:pt x="2540088" y="2500758"/>
                  </a:lnTo>
                  <a:lnTo>
                    <a:pt x="2494639" y="2489253"/>
                  </a:lnTo>
                  <a:lnTo>
                    <a:pt x="2449442" y="2477184"/>
                  </a:lnTo>
                  <a:lnTo>
                    <a:pt x="2404502" y="2464554"/>
                  </a:lnTo>
                  <a:lnTo>
                    <a:pt x="2359825" y="2451366"/>
                  </a:lnTo>
                  <a:lnTo>
                    <a:pt x="2315416" y="2437623"/>
                  </a:lnTo>
                  <a:lnTo>
                    <a:pt x="2271283" y="2423331"/>
                  </a:lnTo>
                  <a:lnTo>
                    <a:pt x="2227430" y="2408491"/>
                  </a:lnTo>
                  <a:lnTo>
                    <a:pt x="2183864" y="2393109"/>
                  </a:lnTo>
                  <a:lnTo>
                    <a:pt x="2140590" y="2377186"/>
                  </a:lnTo>
                  <a:lnTo>
                    <a:pt x="2097614" y="2360728"/>
                  </a:lnTo>
                  <a:lnTo>
                    <a:pt x="2054942" y="2343738"/>
                  </a:lnTo>
                  <a:lnTo>
                    <a:pt x="2012581" y="2326219"/>
                  </a:lnTo>
                  <a:lnTo>
                    <a:pt x="1970535" y="2308175"/>
                  </a:lnTo>
                  <a:lnTo>
                    <a:pt x="1928811" y="2289610"/>
                  </a:lnTo>
                  <a:lnTo>
                    <a:pt x="1887415" y="2270526"/>
                  </a:lnTo>
                  <a:lnTo>
                    <a:pt x="1846352" y="2250929"/>
                  </a:lnTo>
                  <a:lnTo>
                    <a:pt x="1805629" y="2230821"/>
                  </a:lnTo>
                  <a:lnTo>
                    <a:pt x="1765251" y="2210206"/>
                  </a:lnTo>
                  <a:lnTo>
                    <a:pt x="1725224" y="2189088"/>
                  </a:lnTo>
                  <a:lnTo>
                    <a:pt x="1685554" y="2167471"/>
                  </a:lnTo>
                  <a:lnTo>
                    <a:pt x="1646247" y="2145357"/>
                  </a:lnTo>
                  <a:lnTo>
                    <a:pt x="1607309" y="2122751"/>
                  </a:lnTo>
                  <a:lnTo>
                    <a:pt x="1568745" y="2099657"/>
                  </a:lnTo>
                  <a:lnTo>
                    <a:pt x="1530562" y="2076077"/>
                  </a:lnTo>
                  <a:lnTo>
                    <a:pt x="1492766" y="2052016"/>
                  </a:lnTo>
                  <a:lnTo>
                    <a:pt x="1455361" y="2027476"/>
                  </a:lnTo>
                  <a:lnTo>
                    <a:pt x="1418355" y="2002463"/>
                  </a:lnTo>
                  <a:lnTo>
                    <a:pt x="1381753" y="1976979"/>
                  </a:lnTo>
                  <a:lnTo>
                    <a:pt x="1345561" y="1951028"/>
                  </a:lnTo>
                  <a:lnTo>
                    <a:pt x="1309785" y="1924614"/>
                  </a:lnTo>
                  <a:lnTo>
                    <a:pt x="1274430" y="1897740"/>
                  </a:lnTo>
                  <a:lnTo>
                    <a:pt x="1239503" y="1870410"/>
                  </a:lnTo>
                  <a:lnTo>
                    <a:pt x="1205009" y="1842628"/>
                  </a:lnTo>
                  <a:lnTo>
                    <a:pt x="1170955" y="1814396"/>
                  </a:lnTo>
                  <a:lnTo>
                    <a:pt x="1137345" y="1785720"/>
                  </a:lnTo>
                  <a:lnTo>
                    <a:pt x="1104187" y="1756602"/>
                  </a:lnTo>
                  <a:lnTo>
                    <a:pt x="1071486" y="1727046"/>
                  </a:lnTo>
                  <a:lnTo>
                    <a:pt x="1039247" y="1697055"/>
                  </a:lnTo>
                  <a:lnTo>
                    <a:pt x="1007478" y="1666635"/>
                  </a:lnTo>
                  <a:lnTo>
                    <a:pt x="976182" y="1635787"/>
                  </a:lnTo>
                  <a:lnTo>
                    <a:pt x="945368" y="1604515"/>
                  </a:lnTo>
                  <a:lnTo>
                    <a:pt x="915039" y="1572824"/>
                  </a:lnTo>
                  <a:lnTo>
                    <a:pt x="885203" y="1540717"/>
                  </a:lnTo>
                  <a:lnTo>
                    <a:pt x="855865" y="1508197"/>
                  </a:lnTo>
                  <a:lnTo>
                    <a:pt x="827030" y="1475268"/>
                  </a:lnTo>
                  <a:lnTo>
                    <a:pt x="798706" y="1441934"/>
                  </a:lnTo>
                  <a:lnTo>
                    <a:pt x="770897" y="1408198"/>
                  </a:lnTo>
                  <a:lnTo>
                    <a:pt x="743610" y="1374064"/>
                  </a:lnTo>
                  <a:lnTo>
                    <a:pt x="716850" y="1339536"/>
                  </a:lnTo>
                  <a:lnTo>
                    <a:pt x="690624" y="1304617"/>
                  </a:lnTo>
                  <a:lnTo>
                    <a:pt x="664937" y="1269311"/>
                  </a:lnTo>
                  <a:lnTo>
                    <a:pt x="639794" y="1233622"/>
                  </a:lnTo>
                  <a:lnTo>
                    <a:pt x="615203" y="1197553"/>
                  </a:lnTo>
                  <a:lnTo>
                    <a:pt x="591169" y="1161107"/>
                  </a:lnTo>
                  <a:lnTo>
                    <a:pt x="567697" y="1124289"/>
                  </a:lnTo>
                  <a:lnTo>
                    <a:pt x="544794" y="1087102"/>
                  </a:lnTo>
                  <a:lnTo>
                    <a:pt x="522465" y="1049549"/>
                  </a:lnTo>
                  <a:lnTo>
                    <a:pt x="500717" y="1011635"/>
                  </a:lnTo>
                  <a:lnTo>
                    <a:pt x="479555" y="973362"/>
                  </a:lnTo>
                  <a:lnTo>
                    <a:pt x="458985" y="934735"/>
                  </a:lnTo>
                  <a:lnTo>
                    <a:pt x="439013" y="895758"/>
                  </a:lnTo>
                  <a:lnTo>
                    <a:pt x="419645" y="856433"/>
                  </a:lnTo>
                  <a:lnTo>
                    <a:pt x="400886" y="816764"/>
                  </a:lnTo>
                  <a:lnTo>
                    <a:pt x="382743" y="776756"/>
                  </a:lnTo>
                  <a:lnTo>
                    <a:pt x="365222" y="736411"/>
                  </a:lnTo>
                  <a:lnTo>
                    <a:pt x="348328" y="695734"/>
                  </a:lnTo>
                  <a:lnTo>
                    <a:pt x="332067" y="654727"/>
                  </a:lnTo>
                  <a:lnTo>
                    <a:pt x="316445" y="613395"/>
                  </a:lnTo>
                  <a:lnTo>
                    <a:pt x="301469" y="571741"/>
                  </a:lnTo>
                  <a:lnTo>
                    <a:pt x="287143" y="529769"/>
                  </a:lnTo>
                  <a:lnTo>
                    <a:pt x="273474" y="487483"/>
                  </a:lnTo>
                  <a:lnTo>
                    <a:pt x="260467" y="444886"/>
                  </a:lnTo>
                  <a:lnTo>
                    <a:pt x="248129" y="401981"/>
                  </a:lnTo>
                  <a:lnTo>
                    <a:pt x="236465" y="358772"/>
                  </a:lnTo>
                  <a:lnTo>
                    <a:pt x="225482" y="315264"/>
                  </a:lnTo>
                  <a:lnTo>
                    <a:pt x="215184" y="271459"/>
                  </a:lnTo>
                  <a:lnTo>
                    <a:pt x="205579" y="227362"/>
                  </a:lnTo>
                  <a:lnTo>
                    <a:pt x="196671" y="182975"/>
                  </a:lnTo>
                  <a:lnTo>
                    <a:pt x="188468" y="138302"/>
                  </a:lnTo>
                </a:path>
                <a:path w="5791200" h="2709545">
                  <a:moveTo>
                    <a:pt x="0" y="2709291"/>
                  </a:moveTo>
                  <a:lnTo>
                    <a:pt x="5791200" y="728090"/>
                  </a:lnTo>
                </a:path>
              </a:pathLst>
            </a:custGeom>
            <a:ln w="12700">
              <a:solidFill>
                <a:srgbClr val="000000"/>
              </a:solidFill>
            </a:ln>
          </p:spPr>
          <p:txBody>
            <a:bodyPr wrap="square" lIns="0" tIns="0" rIns="0" bIns="0" rtlCol="0"/>
            <a:lstStyle/>
            <a:p>
              <a:endParaRPr/>
            </a:p>
          </p:txBody>
        </p:sp>
      </p:grpSp>
      <p:sp>
        <p:nvSpPr>
          <p:cNvPr id="9" name="object 9"/>
          <p:cNvSpPr txBox="1"/>
          <p:nvPr/>
        </p:nvSpPr>
        <p:spPr>
          <a:xfrm>
            <a:off x="6556375" y="2914016"/>
            <a:ext cx="3147060" cy="558165"/>
          </a:xfrm>
          <a:prstGeom prst="rect">
            <a:avLst/>
          </a:prstGeom>
        </p:spPr>
        <p:txBody>
          <a:bodyPr vert="horz" wrap="square" lIns="0" tIns="12700" rIns="0" bIns="0" rtlCol="0">
            <a:spAutoFit/>
          </a:bodyPr>
          <a:lstStyle/>
          <a:p>
            <a:pPr marL="1536700">
              <a:lnSpc>
                <a:spcPts val="1975"/>
              </a:lnSpc>
              <a:spcBef>
                <a:spcPts val="100"/>
              </a:spcBef>
            </a:pPr>
            <a:r>
              <a:rPr spc="-5" dirty="0">
                <a:latin typeface="Carlito"/>
                <a:cs typeface="Carlito"/>
              </a:rPr>
              <a:t>Opportunity</a:t>
            </a:r>
            <a:r>
              <a:rPr spc="-65" dirty="0">
                <a:latin typeface="Carlito"/>
                <a:cs typeface="Carlito"/>
              </a:rPr>
              <a:t> </a:t>
            </a:r>
            <a:r>
              <a:rPr spc="-10" dirty="0">
                <a:latin typeface="Carlito"/>
                <a:cs typeface="Carlito"/>
              </a:rPr>
              <a:t>Cost</a:t>
            </a:r>
            <a:endParaRPr>
              <a:latin typeface="Carlito"/>
              <a:cs typeface="Carlito"/>
            </a:endParaRPr>
          </a:p>
          <a:p>
            <a:pPr marL="12700">
              <a:lnSpc>
                <a:spcPts val="2215"/>
              </a:lnSpc>
            </a:pPr>
            <a:r>
              <a:rPr sz="2000" spc="-45" dirty="0">
                <a:latin typeface="Carlito"/>
                <a:cs typeface="Carlito"/>
              </a:rPr>
              <a:t>Total</a:t>
            </a:r>
            <a:r>
              <a:rPr sz="2000" spc="-20" dirty="0">
                <a:latin typeface="Carlito"/>
                <a:cs typeface="Carlito"/>
              </a:rPr>
              <a:t> </a:t>
            </a:r>
            <a:r>
              <a:rPr sz="2000" spc="-10" dirty="0">
                <a:latin typeface="Carlito"/>
                <a:cs typeface="Carlito"/>
              </a:rPr>
              <a:t>Cost</a:t>
            </a:r>
            <a:endParaRPr sz="2000">
              <a:latin typeface="Carlito"/>
              <a:cs typeface="Carlito"/>
            </a:endParaRPr>
          </a:p>
        </p:txBody>
      </p:sp>
      <p:sp>
        <p:nvSpPr>
          <p:cNvPr id="10" name="object 10"/>
          <p:cNvSpPr txBox="1"/>
          <p:nvPr/>
        </p:nvSpPr>
        <p:spPr>
          <a:xfrm>
            <a:off x="2746045" y="4666869"/>
            <a:ext cx="7339965" cy="1397000"/>
          </a:xfrm>
          <a:prstGeom prst="rect">
            <a:avLst/>
          </a:prstGeom>
        </p:spPr>
        <p:txBody>
          <a:bodyPr vert="horz" wrap="square" lIns="0" tIns="12700" rIns="0" bIns="0" rtlCol="0">
            <a:spAutoFit/>
          </a:bodyPr>
          <a:lstStyle/>
          <a:p>
            <a:pPr marL="4051300">
              <a:spcBef>
                <a:spcPts val="100"/>
              </a:spcBef>
            </a:pPr>
            <a:r>
              <a:rPr spc="-15" dirty="0">
                <a:latin typeface="Carlito"/>
                <a:cs typeface="Carlito"/>
              </a:rPr>
              <a:t>Transaction</a:t>
            </a:r>
            <a:r>
              <a:rPr spc="-20" dirty="0">
                <a:latin typeface="Carlito"/>
                <a:cs typeface="Carlito"/>
              </a:rPr>
              <a:t> </a:t>
            </a:r>
            <a:r>
              <a:rPr spc="-10" dirty="0">
                <a:latin typeface="Carlito"/>
                <a:cs typeface="Carlito"/>
              </a:rPr>
              <a:t>Cost</a:t>
            </a:r>
            <a:endParaRPr>
              <a:latin typeface="Carlito"/>
              <a:cs typeface="Carlito"/>
            </a:endParaRPr>
          </a:p>
          <a:p>
            <a:pPr>
              <a:spcBef>
                <a:spcPts val="5"/>
              </a:spcBef>
            </a:pPr>
            <a:endParaRPr sz="2650">
              <a:latin typeface="Carlito"/>
              <a:cs typeface="Carlito"/>
            </a:endParaRPr>
          </a:p>
          <a:p>
            <a:pPr marL="1155065"/>
            <a:r>
              <a:rPr spc="-5" dirty="0">
                <a:latin typeface="Carlito"/>
                <a:cs typeface="Carlito"/>
              </a:rPr>
              <a:t>Optimum Cash</a:t>
            </a:r>
            <a:r>
              <a:rPr spc="5" dirty="0">
                <a:latin typeface="Carlito"/>
                <a:cs typeface="Carlito"/>
              </a:rPr>
              <a:t> </a:t>
            </a:r>
            <a:r>
              <a:rPr spc="-5" dirty="0">
                <a:latin typeface="Carlito"/>
                <a:cs typeface="Carlito"/>
              </a:rPr>
              <a:t>Balance</a:t>
            </a:r>
            <a:endParaRPr>
              <a:latin typeface="Carlito"/>
              <a:cs typeface="Carlito"/>
            </a:endParaRPr>
          </a:p>
          <a:p>
            <a:pPr marL="12700">
              <a:spcBef>
                <a:spcPts val="835"/>
              </a:spcBef>
            </a:pPr>
            <a:r>
              <a:rPr sz="2000" spc="-95" dirty="0">
                <a:latin typeface="Carlito"/>
                <a:cs typeface="Carlito"/>
              </a:rPr>
              <a:t>(</a:t>
            </a:r>
            <a:r>
              <a:rPr sz="2000" spc="-95" dirty="0">
                <a:latin typeface="Arial"/>
                <a:cs typeface="Arial"/>
              </a:rPr>
              <a:t>Baumol’s </a:t>
            </a:r>
            <a:r>
              <a:rPr sz="2000" dirty="0">
                <a:latin typeface="Carlito"/>
                <a:cs typeface="Carlito"/>
              </a:rPr>
              <a:t>Model : </a:t>
            </a:r>
            <a:r>
              <a:rPr sz="2000" spc="-25" dirty="0">
                <a:latin typeface="Carlito"/>
                <a:cs typeface="Carlito"/>
              </a:rPr>
              <a:t>Tradeoff </a:t>
            </a:r>
            <a:r>
              <a:rPr sz="2000" spc="-5" dirty="0">
                <a:latin typeface="Carlito"/>
                <a:cs typeface="Carlito"/>
              </a:rPr>
              <a:t>Between Holding </a:t>
            </a:r>
            <a:r>
              <a:rPr sz="2000" spc="-10" dirty="0">
                <a:latin typeface="Carlito"/>
                <a:cs typeface="Carlito"/>
              </a:rPr>
              <a:t>cost </a:t>
            </a:r>
            <a:r>
              <a:rPr sz="2000" dirty="0">
                <a:latin typeface="Carlito"/>
                <a:cs typeface="Carlito"/>
              </a:rPr>
              <a:t>and </a:t>
            </a:r>
            <a:r>
              <a:rPr sz="2000" spc="-5" dirty="0">
                <a:latin typeface="Carlito"/>
                <a:cs typeface="Carlito"/>
              </a:rPr>
              <a:t>transaction</a:t>
            </a:r>
            <a:r>
              <a:rPr sz="2000" spc="-10" dirty="0">
                <a:latin typeface="Carlito"/>
                <a:cs typeface="Carlito"/>
              </a:rPr>
              <a:t> cost)</a:t>
            </a:r>
            <a:endParaRPr sz="2000">
              <a:latin typeface="Carlito"/>
              <a:cs typeface="Carlito"/>
            </a:endParaRPr>
          </a:p>
        </p:txBody>
      </p:sp>
      <p:sp>
        <p:nvSpPr>
          <p:cNvPr id="12" name="Title 1"/>
          <p:cNvSpPr txBox="1">
            <a:spLocks/>
          </p:cNvSpPr>
          <p:nvPr/>
        </p:nvSpPr>
        <p:spPr>
          <a:xfrm>
            <a:off x="1913264" y="0"/>
            <a:ext cx="10278736" cy="70513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latin typeface="+mj-lt"/>
                <a:cs typeface="Carlito"/>
              </a:rPr>
              <a:t>William </a:t>
            </a:r>
            <a:r>
              <a:rPr lang="en-US" sz="2800" spc="-20" dirty="0">
                <a:latin typeface="+mj-lt"/>
                <a:cs typeface="Carlito"/>
              </a:rPr>
              <a:t>J. </a:t>
            </a:r>
            <a:r>
              <a:rPr lang="en-US" sz="2800" dirty="0" err="1">
                <a:latin typeface="+mj-lt"/>
                <a:cs typeface="Carlito"/>
              </a:rPr>
              <a:t>Baumol's</a:t>
            </a:r>
            <a:r>
              <a:rPr lang="en-US" sz="2800" dirty="0">
                <a:latin typeface="+mj-lt"/>
                <a:cs typeface="Carlito"/>
              </a:rPr>
              <a:t> </a:t>
            </a:r>
            <a:r>
              <a:rPr lang="en-US" sz="2800" spc="-20" dirty="0">
                <a:latin typeface="+mj-lt"/>
                <a:cs typeface="Carlito"/>
              </a:rPr>
              <a:t>Inventory </a:t>
            </a:r>
            <a:r>
              <a:rPr lang="en-US" sz="2800" spc="-5" dirty="0">
                <a:latin typeface="+mj-lt"/>
                <a:cs typeface="Carlito"/>
              </a:rPr>
              <a:t>model</a:t>
            </a:r>
            <a:endParaRPr lang="en-IN" sz="2800" b="1" dirty="0">
              <a:latin typeface="+mj-lt"/>
            </a:endParaRPr>
          </a:p>
        </p:txBody>
      </p:sp>
      <p:sp>
        <p:nvSpPr>
          <p:cNvPr id="15" name="Slide Number Placeholder 6"/>
          <p:cNvSpPr>
            <a:spLocks noGrp="1"/>
          </p:cNvSpPr>
          <p:nvPr>
            <p:ph type="sldNum" sz="quarter" idx="12"/>
          </p:nvPr>
        </p:nvSpPr>
        <p:spPr>
          <a:xfrm>
            <a:off x="8077200" y="6356351"/>
            <a:ext cx="2133600" cy="365125"/>
          </a:xfrm>
        </p:spPr>
        <p:txBody>
          <a:bodyPr/>
          <a:lstStyle/>
          <a:p>
            <a:fld id="{B6F15528-21DE-4FAA-801E-634DDDAF4B2B}" type="slidenum">
              <a:rPr lang="en-US" smtClean="0"/>
              <a:pPr/>
              <a:t>44</a:t>
            </a:fld>
            <a:endParaRPr lang="en-US"/>
          </a:p>
        </p:txBody>
      </p:sp>
      <p:sp>
        <p:nvSpPr>
          <p:cNvPr id="17" name="Footer Placeholder 16"/>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53CB1A9B-C7F2-40EF-89DE-00F038BF77A2}" type="datetime1">
              <a:rPr lang="en-US" smtClean="0"/>
              <a:t>8/20/2025</a:t>
            </a:fld>
            <a:endParaRPr lang="en-US"/>
          </a:p>
        </p:txBody>
      </p:sp>
    </p:spTree>
    <p:extLst>
      <p:ext uri="{BB962C8B-B14F-4D97-AF65-F5344CB8AC3E}">
        <p14:creationId xmlns:p14="http://schemas.microsoft.com/office/powerpoint/2010/main" val="3408602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42900" y="1045014"/>
            <a:ext cx="11582400" cy="2383986"/>
          </a:xfrm>
          <a:prstGeom prst="rect">
            <a:avLst/>
          </a:prstGeom>
        </p:spPr>
        <p:txBody>
          <a:bodyPr vert="horz" wrap="square" lIns="0" tIns="125730" rIns="0" bIns="0" rtlCol="0">
            <a:spAutoFit/>
          </a:bodyPr>
          <a:lstStyle/>
          <a:p>
            <a:pPr marL="12700">
              <a:spcBef>
                <a:spcPts val="990"/>
              </a:spcBef>
            </a:pPr>
            <a:r>
              <a:rPr sz="2400" b="1" i="1" u="heavy" spc="-5" dirty="0">
                <a:uFill>
                  <a:solidFill>
                    <a:srgbClr val="000000"/>
                  </a:solidFill>
                </a:uFill>
                <a:latin typeface="Times New Roman" pitchFamily="18" charset="0"/>
                <a:cs typeface="Times New Roman" pitchFamily="18" charset="0"/>
              </a:rPr>
              <a:t>Assumptions</a:t>
            </a:r>
            <a:endParaRPr sz="2400" dirty="0">
              <a:latin typeface="Times New Roman" pitchFamily="18" charset="0"/>
              <a:cs typeface="Times New Roman" pitchFamily="18" charset="0"/>
            </a:endParaRPr>
          </a:p>
          <a:p>
            <a:pPr marL="355600" indent="-342900">
              <a:spcBef>
                <a:spcPts val="795"/>
              </a:spcBef>
              <a:buFont typeface="Arial"/>
              <a:buChar char="•"/>
              <a:tabLst>
                <a:tab pos="354965" algn="l"/>
                <a:tab pos="355600" algn="l"/>
              </a:tabLst>
            </a:pPr>
            <a:r>
              <a:rPr sz="2400" spc="-5" dirty="0">
                <a:latin typeface="Times New Roman" pitchFamily="18" charset="0"/>
                <a:cs typeface="Times New Roman" pitchFamily="18" charset="0"/>
              </a:rPr>
              <a:t>Cash needs </a:t>
            </a:r>
            <a:r>
              <a:rPr sz="2400" dirty="0">
                <a:latin typeface="Times New Roman" pitchFamily="18" charset="0"/>
                <a:cs typeface="Times New Roman" pitchFamily="18" charset="0"/>
              </a:rPr>
              <a:t>of </a:t>
            </a:r>
            <a:r>
              <a:rPr sz="2400" spc="-5" dirty="0">
                <a:latin typeface="Times New Roman" pitchFamily="18" charset="0"/>
                <a:cs typeface="Times New Roman" pitchFamily="18" charset="0"/>
              </a:rPr>
              <a:t>the firm </a:t>
            </a:r>
            <a:r>
              <a:rPr sz="2400" dirty="0">
                <a:latin typeface="Times New Roman" pitchFamily="18" charset="0"/>
                <a:cs typeface="Times New Roman" pitchFamily="18" charset="0"/>
              </a:rPr>
              <a:t>is known with</a:t>
            </a:r>
            <a:r>
              <a:rPr sz="2400" spc="-10" dirty="0">
                <a:latin typeface="Times New Roman" pitchFamily="18" charset="0"/>
                <a:cs typeface="Times New Roman" pitchFamily="18" charset="0"/>
              </a:rPr>
              <a:t> certainty</a:t>
            </a:r>
            <a:endParaRPr sz="2400" dirty="0">
              <a:latin typeface="Times New Roman" pitchFamily="18" charset="0"/>
              <a:cs typeface="Times New Roman" pitchFamily="18" charset="0"/>
            </a:endParaRPr>
          </a:p>
          <a:p>
            <a:pPr marL="355600" marR="577850" indent="-342900">
              <a:spcBef>
                <a:spcPts val="770"/>
              </a:spcBef>
              <a:buFont typeface="Arial"/>
              <a:buChar char="•"/>
              <a:tabLst>
                <a:tab pos="354965" algn="l"/>
                <a:tab pos="355600" algn="l"/>
              </a:tabLst>
            </a:pPr>
            <a:r>
              <a:rPr sz="2400" spc="-5" dirty="0">
                <a:latin typeface="Times New Roman" pitchFamily="18" charset="0"/>
                <a:cs typeface="Times New Roman" pitchFamily="18" charset="0"/>
              </a:rPr>
              <a:t>Cash </a:t>
            </a:r>
            <a:r>
              <a:rPr sz="2400" spc="-15" dirty="0">
                <a:latin typeface="Times New Roman" pitchFamily="18" charset="0"/>
                <a:cs typeface="Times New Roman" pitchFamily="18" charset="0"/>
              </a:rPr>
              <a:t>Disbursement over </a:t>
            </a:r>
            <a:r>
              <a:rPr sz="2400" dirty="0">
                <a:latin typeface="Times New Roman" pitchFamily="18" charset="0"/>
                <a:cs typeface="Times New Roman" pitchFamily="18" charset="0"/>
              </a:rPr>
              <a:t>a </a:t>
            </a:r>
            <a:r>
              <a:rPr sz="2400" spc="-5" dirty="0">
                <a:latin typeface="Times New Roman" pitchFamily="18" charset="0"/>
                <a:cs typeface="Times New Roman" pitchFamily="18" charset="0"/>
              </a:rPr>
              <a:t>period of time </a:t>
            </a:r>
            <a:r>
              <a:rPr sz="2400" dirty="0">
                <a:latin typeface="Times New Roman" pitchFamily="18" charset="0"/>
                <a:cs typeface="Times New Roman" pitchFamily="18" charset="0"/>
              </a:rPr>
              <a:t>is  </a:t>
            </a:r>
            <a:r>
              <a:rPr sz="2400" spc="-5" dirty="0">
                <a:latin typeface="Times New Roman" pitchFamily="18" charset="0"/>
                <a:cs typeface="Times New Roman" pitchFamily="18" charset="0"/>
              </a:rPr>
              <a:t>known with </a:t>
            </a:r>
            <a:r>
              <a:rPr sz="2400" spc="-10" dirty="0">
                <a:latin typeface="Times New Roman" pitchFamily="18" charset="0"/>
                <a:cs typeface="Times New Roman" pitchFamily="18" charset="0"/>
              </a:rPr>
              <a:t>certainty</a:t>
            </a:r>
            <a:endParaRPr sz="2400" dirty="0">
              <a:latin typeface="Times New Roman" pitchFamily="18" charset="0"/>
              <a:cs typeface="Times New Roman" pitchFamily="18" charset="0"/>
            </a:endParaRPr>
          </a:p>
          <a:p>
            <a:pPr marL="355600" marR="8255" indent="-342900">
              <a:spcBef>
                <a:spcPts val="770"/>
              </a:spcBef>
              <a:buFont typeface="Arial"/>
              <a:buChar char="•"/>
              <a:tabLst>
                <a:tab pos="354965" algn="l"/>
                <a:tab pos="355600" algn="l"/>
              </a:tabLst>
            </a:pPr>
            <a:r>
              <a:rPr sz="2400" spc="-5" dirty="0">
                <a:latin typeface="Times New Roman" pitchFamily="18" charset="0"/>
                <a:cs typeface="Times New Roman" pitchFamily="18" charset="0"/>
              </a:rPr>
              <a:t>Opportunity </a:t>
            </a:r>
            <a:r>
              <a:rPr sz="2400" spc="-20" dirty="0">
                <a:latin typeface="Times New Roman" pitchFamily="18" charset="0"/>
                <a:cs typeface="Times New Roman" pitchFamily="18" charset="0"/>
              </a:rPr>
              <a:t>cost </a:t>
            </a:r>
            <a:r>
              <a:rPr sz="2400" spc="-5" dirty="0">
                <a:latin typeface="Times New Roman" pitchFamily="18" charset="0"/>
                <a:cs typeface="Times New Roman" pitchFamily="18" charset="0"/>
              </a:rPr>
              <a:t>of holding cash </a:t>
            </a:r>
            <a:r>
              <a:rPr sz="2400" dirty="0">
                <a:latin typeface="Times New Roman" pitchFamily="18" charset="0"/>
                <a:cs typeface="Times New Roman" pitchFamily="18" charset="0"/>
              </a:rPr>
              <a:t>is </a:t>
            </a:r>
            <a:r>
              <a:rPr sz="2400" spc="-5" dirty="0">
                <a:latin typeface="Times New Roman" pitchFamily="18" charset="0"/>
                <a:cs typeface="Times New Roman" pitchFamily="18" charset="0"/>
              </a:rPr>
              <a:t>known </a:t>
            </a:r>
            <a:r>
              <a:rPr sz="2400" dirty="0">
                <a:latin typeface="Times New Roman" pitchFamily="18" charset="0"/>
                <a:cs typeface="Times New Roman" pitchFamily="18" charset="0"/>
              </a:rPr>
              <a:t>and  </a:t>
            </a:r>
            <a:r>
              <a:rPr sz="2400" spc="-5" dirty="0">
                <a:latin typeface="Times New Roman" pitchFamily="18" charset="0"/>
                <a:cs typeface="Times New Roman" pitchFamily="18" charset="0"/>
              </a:rPr>
              <a:t>remains</a:t>
            </a:r>
            <a:r>
              <a:rPr sz="2400" spc="-20" dirty="0">
                <a:latin typeface="Times New Roman" pitchFamily="18" charset="0"/>
                <a:cs typeface="Times New Roman" pitchFamily="18" charset="0"/>
              </a:rPr>
              <a:t> constant</a:t>
            </a:r>
            <a:endParaRPr sz="2400" dirty="0">
              <a:latin typeface="Times New Roman" pitchFamily="18" charset="0"/>
              <a:cs typeface="Times New Roman" pitchFamily="18" charset="0"/>
            </a:endParaRPr>
          </a:p>
          <a:p>
            <a:pPr marL="355600" marR="321310" indent="-342900">
              <a:spcBef>
                <a:spcPts val="770"/>
              </a:spcBef>
              <a:buFont typeface="Arial"/>
              <a:buChar char="•"/>
              <a:tabLst>
                <a:tab pos="354965" algn="l"/>
                <a:tab pos="355600" algn="l"/>
              </a:tabLst>
            </a:pPr>
            <a:r>
              <a:rPr sz="2400" spc="-25" dirty="0">
                <a:latin typeface="Times New Roman" pitchFamily="18" charset="0"/>
                <a:cs typeface="Times New Roman" pitchFamily="18" charset="0"/>
              </a:rPr>
              <a:t>Transaction </a:t>
            </a:r>
            <a:r>
              <a:rPr sz="2400" spc="-15" dirty="0">
                <a:latin typeface="Times New Roman" pitchFamily="18" charset="0"/>
                <a:cs typeface="Times New Roman" pitchFamily="18" charset="0"/>
              </a:rPr>
              <a:t>cost </a:t>
            </a:r>
            <a:r>
              <a:rPr sz="2400" spc="-5" dirty="0">
                <a:latin typeface="Times New Roman" pitchFamily="18" charset="0"/>
                <a:cs typeface="Times New Roman" pitchFamily="18" charset="0"/>
              </a:rPr>
              <a:t>of </a:t>
            </a:r>
            <a:r>
              <a:rPr sz="2400" spc="-15" dirty="0">
                <a:latin typeface="Times New Roman" pitchFamily="18" charset="0"/>
                <a:cs typeface="Times New Roman" pitchFamily="18" charset="0"/>
              </a:rPr>
              <a:t>converting </a:t>
            </a:r>
            <a:r>
              <a:rPr sz="2400" spc="-5" dirty="0">
                <a:latin typeface="Times New Roman" pitchFamily="18" charset="0"/>
                <a:cs typeface="Times New Roman" pitchFamily="18" charset="0"/>
              </a:rPr>
              <a:t>securities </a:t>
            </a:r>
            <a:r>
              <a:rPr sz="2400" spc="-20" dirty="0">
                <a:latin typeface="Times New Roman" pitchFamily="18" charset="0"/>
                <a:cs typeface="Times New Roman" pitchFamily="18" charset="0"/>
              </a:rPr>
              <a:t>into  </a:t>
            </a:r>
            <a:r>
              <a:rPr sz="2400" spc="-5" dirty="0">
                <a:latin typeface="Times New Roman" pitchFamily="18" charset="0"/>
                <a:cs typeface="Times New Roman" pitchFamily="18" charset="0"/>
              </a:rPr>
              <a:t>cash </a:t>
            </a:r>
            <a:r>
              <a:rPr sz="2400" dirty="0">
                <a:latin typeface="Times New Roman" pitchFamily="18" charset="0"/>
                <a:cs typeface="Times New Roman" pitchFamily="18" charset="0"/>
              </a:rPr>
              <a:t>is known and </a:t>
            </a:r>
            <a:r>
              <a:rPr sz="2400" spc="-5" dirty="0">
                <a:latin typeface="Times New Roman" pitchFamily="18" charset="0"/>
                <a:cs typeface="Times New Roman" pitchFamily="18" charset="0"/>
              </a:rPr>
              <a:t>remains</a:t>
            </a:r>
            <a:r>
              <a:rPr sz="2400" spc="-40" dirty="0">
                <a:latin typeface="Times New Roman" pitchFamily="18" charset="0"/>
                <a:cs typeface="Times New Roman" pitchFamily="18" charset="0"/>
              </a:rPr>
              <a:t> </a:t>
            </a:r>
            <a:r>
              <a:rPr sz="2400" spc="-20" dirty="0">
                <a:latin typeface="Times New Roman" pitchFamily="18" charset="0"/>
                <a:cs typeface="Times New Roman" pitchFamily="18" charset="0"/>
              </a:rPr>
              <a:t>constant</a:t>
            </a:r>
            <a:r>
              <a:rPr lang="en-US" sz="2400" spc="-20" dirty="0">
                <a:latin typeface="Times New Roman" pitchFamily="18" charset="0"/>
                <a:cs typeface="Times New Roman" pitchFamily="18" charset="0"/>
              </a:rPr>
              <a:t>.</a:t>
            </a:r>
            <a:endParaRPr sz="2400" dirty="0">
              <a:latin typeface="Times New Roman" pitchFamily="18" charset="0"/>
              <a:cs typeface="Times New Roman" pitchFamily="18" charset="0"/>
            </a:endParaRPr>
          </a:p>
        </p:txBody>
      </p:sp>
      <p:sp>
        <p:nvSpPr>
          <p:cNvPr id="5" name="Title 1"/>
          <p:cNvSpPr txBox="1">
            <a:spLocks/>
          </p:cNvSpPr>
          <p:nvPr/>
        </p:nvSpPr>
        <p:spPr>
          <a:xfrm>
            <a:off x="1981200" y="0"/>
            <a:ext cx="102108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latin typeface="Carlito"/>
                <a:cs typeface="Carlito"/>
              </a:rPr>
              <a:t>William </a:t>
            </a:r>
            <a:r>
              <a:rPr lang="en-US" sz="2800" spc="-20" dirty="0">
                <a:latin typeface="Carlito"/>
                <a:cs typeface="Carlito"/>
              </a:rPr>
              <a:t>J. </a:t>
            </a:r>
            <a:r>
              <a:rPr lang="en-US" sz="2800" dirty="0" err="1">
                <a:latin typeface="Carlito"/>
                <a:cs typeface="Carlito"/>
              </a:rPr>
              <a:t>Baumol's</a:t>
            </a:r>
            <a:r>
              <a:rPr lang="en-US" sz="2800" dirty="0">
                <a:latin typeface="Carlito"/>
                <a:cs typeface="Carlito"/>
              </a:rPr>
              <a:t> </a:t>
            </a:r>
            <a:r>
              <a:rPr lang="en-US" sz="2800" spc="-20" dirty="0">
                <a:latin typeface="Carlito"/>
                <a:cs typeface="Carlito"/>
              </a:rPr>
              <a:t>Inventory </a:t>
            </a:r>
            <a:r>
              <a:rPr lang="en-US" sz="2800" spc="-5" dirty="0">
                <a:latin typeface="Carlito"/>
                <a:cs typeface="Carlito"/>
              </a:rPr>
              <a:t>model</a:t>
            </a:r>
            <a:endParaRPr lang="en-IN" sz="2800" b="1" dirty="0"/>
          </a:p>
        </p:txBody>
      </p:sp>
      <p:sp>
        <p:nvSpPr>
          <p:cNvPr id="6" name="Slide Number Placeholder 5"/>
          <p:cNvSpPr>
            <a:spLocks noGrp="1"/>
          </p:cNvSpPr>
          <p:nvPr>
            <p:ph type="sldNum" sz="quarter" idx="12"/>
          </p:nvPr>
        </p:nvSpPr>
        <p:spPr/>
        <p:txBody>
          <a:bodyPr/>
          <a:lstStyle/>
          <a:p>
            <a:fld id="{426DE8D6-7EB9-433F-B86C-27E3E6EBFC24}" type="slidenum">
              <a:rPr lang="en-US" smtClean="0"/>
              <a:pPr/>
              <a:t>45</a:t>
            </a:fld>
            <a:endParaRPr lang="en-US"/>
          </a:p>
        </p:txBody>
      </p:sp>
      <p:sp>
        <p:nvSpPr>
          <p:cNvPr id="8" name="Footer Placeholder 7"/>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9A13C7A1-8B3F-4537-BD20-C70EFE33F06A}" type="datetime1">
              <a:rPr lang="en-US" smtClean="0"/>
              <a:t>8/20/2025</a:t>
            </a:fld>
            <a:endParaRPr lang="en-US"/>
          </a:p>
        </p:txBody>
      </p:sp>
    </p:spTree>
    <p:extLst>
      <p:ext uri="{BB962C8B-B14F-4D97-AF65-F5344CB8AC3E}">
        <p14:creationId xmlns:p14="http://schemas.microsoft.com/office/powerpoint/2010/main" val="426741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 y="1219200"/>
            <a:ext cx="11963400" cy="520399"/>
          </a:xfrm>
          <a:prstGeom prst="rect">
            <a:avLst/>
          </a:prstGeom>
        </p:spPr>
        <p:txBody>
          <a:bodyPr vert="horz" wrap="square" lIns="0" tIns="113030" rIns="0" bIns="0" rtlCol="0">
            <a:spAutoFit/>
          </a:bodyPr>
          <a:lstStyle/>
          <a:p>
            <a:pPr marL="1156970" marR="5080" indent="-1144905">
              <a:lnSpc>
                <a:spcPct val="80000"/>
              </a:lnSpc>
              <a:spcBef>
                <a:spcPts val="890"/>
              </a:spcBef>
            </a:pPr>
            <a:r>
              <a:rPr sz="3300" b="1" u="sng" spc="-15" dirty="0">
                <a:uFill>
                  <a:solidFill>
                    <a:srgbClr val="000000"/>
                  </a:solidFill>
                </a:uFill>
                <a:latin typeface="Times New Roman" pitchFamily="18" charset="0"/>
                <a:cs typeface="Times New Roman" pitchFamily="18" charset="0"/>
              </a:rPr>
              <a:t>Algebraic representation </a:t>
            </a:r>
            <a:r>
              <a:rPr sz="3300" b="1" u="sng" dirty="0">
                <a:uFill>
                  <a:solidFill>
                    <a:srgbClr val="000000"/>
                  </a:solidFill>
                </a:uFill>
                <a:latin typeface="Times New Roman" pitchFamily="18" charset="0"/>
                <a:cs typeface="Times New Roman" pitchFamily="18" charset="0"/>
              </a:rPr>
              <a:t>of </a:t>
            </a:r>
            <a:r>
              <a:rPr sz="3300" b="1" u="sng" spc="-5" dirty="0">
                <a:uFill>
                  <a:solidFill>
                    <a:srgbClr val="000000"/>
                  </a:solidFill>
                </a:uFill>
                <a:latin typeface="Times New Roman" pitchFamily="18" charset="0"/>
                <a:cs typeface="Times New Roman" pitchFamily="18" charset="0"/>
              </a:rPr>
              <a:t>William </a:t>
            </a:r>
            <a:r>
              <a:rPr sz="3300" b="1" u="sng" spc="-15" dirty="0">
                <a:uFill>
                  <a:solidFill>
                    <a:srgbClr val="000000"/>
                  </a:solidFill>
                </a:uFill>
                <a:latin typeface="Times New Roman" pitchFamily="18" charset="0"/>
                <a:cs typeface="Times New Roman" pitchFamily="18" charset="0"/>
              </a:rPr>
              <a:t>J. </a:t>
            </a:r>
            <a:r>
              <a:rPr sz="3300" b="1" u="sng" spc="-15" dirty="0">
                <a:latin typeface="Times New Roman" pitchFamily="18" charset="0"/>
                <a:cs typeface="Times New Roman" pitchFamily="18" charset="0"/>
              </a:rPr>
              <a:t> </a:t>
            </a:r>
            <a:r>
              <a:rPr sz="3300" b="1" u="sng" dirty="0">
                <a:uFill>
                  <a:solidFill>
                    <a:srgbClr val="000000"/>
                  </a:solidFill>
                </a:uFill>
                <a:latin typeface="Times New Roman" pitchFamily="18" charset="0"/>
                <a:cs typeface="Times New Roman" pitchFamily="18" charset="0"/>
              </a:rPr>
              <a:t>Baumol's </a:t>
            </a:r>
            <a:r>
              <a:rPr sz="3300" b="1" u="sng" spc="-20" dirty="0">
                <a:uFill>
                  <a:solidFill>
                    <a:srgbClr val="000000"/>
                  </a:solidFill>
                </a:uFill>
                <a:latin typeface="Times New Roman" pitchFamily="18" charset="0"/>
                <a:cs typeface="Times New Roman" pitchFamily="18" charset="0"/>
              </a:rPr>
              <a:t>Inventory</a:t>
            </a:r>
            <a:r>
              <a:rPr sz="3300" b="1" u="sng" spc="-5" dirty="0">
                <a:uFill>
                  <a:solidFill>
                    <a:srgbClr val="000000"/>
                  </a:solidFill>
                </a:uFill>
                <a:latin typeface="Times New Roman" pitchFamily="18" charset="0"/>
                <a:cs typeface="Times New Roman" pitchFamily="18" charset="0"/>
              </a:rPr>
              <a:t> model</a:t>
            </a:r>
            <a:endParaRPr sz="3300" u="sng" dirty="0">
              <a:latin typeface="Times New Roman" pitchFamily="18" charset="0"/>
              <a:cs typeface="Times New Roman" pitchFamily="18" charset="0"/>
            </a:endParaRPr>
          </a:p>
        </p:txBody>
      </p:sp>
      <p:sp>
        <p:nvSpPr>
          <p:cNvPr id="4" name="object 4"/>
          <p:cNvSpPr txBox="1"/>
          <p:nvPr/>
        </p:nvSpPr>
        <p:spPr>
          <a:xfrm>
            <a:off x="5244210" y="2133601"/>
            <a:ext cx="2375790" cy="520655"/>
          </a:xfrm>
          <a:prstGeom prst="rect">
            <a:avLst/>
          </a:prstGeom>
        </p:spPr>
        <p:txBody>
          <a:bodyPr vert="horz" wrap="square" lIns="0" tIns="12700" rIns="0" bIns="0" rtlCol="0">
            <a:spAutoFit/>
          </a:bodyPr>
          <a:lstStyle/>
          <a:p>
            <a:pPr marL="12700">
              <a:spcBef>
                <a:spcPts val="100"/>
              </a:spcBef>
              <a:tabLst>
                <a:tab pos="821690" algn="l"/>
              </a:tabLst>
            </a:pPr>
            <a:r>
              <a:rPr sz="3300" b="1" dirty="0">
                <a:latin typeface="Carlito"/>
                <a:cs typeface="Carlito"/>
              </a:rPr>
              <a:t>C</a:t>
            </a:r>
            <a:r>
              <a:rPr sz="3300" b="1" spc="-5" dirty="0">
                <a:latin typeface="Carlito"/>
                <a:cs typeface="Carlito"/>
              </a:rPr>
              <a:t> </a:t>
            </a:r>
            <a:r>
              <a:rPr sz="3300" b="1" spc="-1130">
                <a:latin typeface="Carlito"/>
                <a:cs typeface="Carlito"/>
              </a:rPr>
              <a:t>=</a:t>
            </a:r>
            <a:r>
              <a:rPr sz="3300" b="1" u="sng">
                <a:uFill>
                  <a:solidFill>
                    <a:srgbClr val="000000"/>
                  </a:solidFill>
                </a:uFill>
                <a:latin typeface="Carlito"/>
                <a:cs typeface="Carlito"/>
              </a:rPr>
              <a:t> </a:t>
            </a:r>
            <a:r>
              <a:rPr lang="en-US" sz="3300" b="1" u="sng" dirty="0">
                <a:uFill>
                  <a:solidFill>
                    <a:srgbClr val="000000"/>
                  </a:solidFill>
                </a:uFill>
                <a:latin typeface="Calibri"/>
                <a:cs typeface="Calibri"/>
              </a:rPr>
              <a:t>√</a:t>
            </a:r>
            <a:r>
              <a:rPr sz="3300" b="1" u="sng" dirty="0">
                <a:uFill>
                  <a:solidFill>
                    <a:srgbClr val="000000"/>
                  </a:solidFill>
                </a:uFill>
                <a:latin typeface="Carlito"/>
                <a:cs typeface="Carlito"/>
              </a:rPr>
              <a:t>	2A*F</a:t>
            </a:r>
            <a:endParaRPr sz="3300">
              <a:latin typeface="Carlito"/>
              <a:cs typeface="Carlito"/>
            </a:endParaRPr>
          </a:p>
        </p:txBody>
      </p:sp>
      <p:sp>
        <p:nvSpPr>
          <p:cNvPr id="5" name="object 5"/>
          <p:cNvSpPr txBox="1"/>
          <p:nvPr/>
        </p:nvSpPr>
        <p:spPr>
          <a:xfrm>
            <a:off x="2059940" y="3778072"/>
            <a:ext cx="6626860" cy="2038350"/>
          </a:xfrm>
          <a:prstGeom prst="rect">
            <a:avLst/>
          </a:prstGeom>
        </p:spPr>
        <p:txBody>
          <a:bodyPr vert="horz" wrap="square" lIns="0" tIns="12700" rIns="0" bIns="0" rtlCol="0">
            <a:spAutoFit/>
          </a:bodyPr>
          <a:lstStyle/>
          <a:p>
            <a:pPr marL="12700">
              <a:spcBef>
                <a:spcPts val="100"/>
              </a:spcBef>
            </a:pPr>
            <a:r>
              <a:rPr sz="3300" b="1" dirty="0">
                <a:latin typeface="Times New Roman" pitchFamily="18" charset="0"/>
                <a:cs typeface="Times New Roman" pitchFamily="18" charset="0"/>
              </a:rPr>
              <a:t>C = </a:t>
            </a:r>
            <a:r>
              <a:rPr sz="3300" spc="-5" dirty="0">
                <a:latin typeface="Times New Roman" pitchFamily="18" charset="0"/>
                <a:cs typeface="Times New Roman" pitchFamily="18" charset="0"/>
              </a:rPr>
              <a:t>Optimum</a:t>
            </a:r>
            <a:r>
              <a:rPr sz="3300" spc="-10" dirty="0">
                <a:latin typeface="Times New Roman" pitchFamily="18" charset="0"/>
                <a:cs typeface="Times New Roman" pitchFamily="18" charset="0"/>
              </a:rPr>
              <a:t> </a:t>
            </a:r>
            <a:r>
              <a:rPr sz="3300" dirty="0">
                <a:latin typeface="Times New Roman" pitchFamily="18" charset="0"/>
                <a:cs typeface="Times New Roman" pitchFamily="18" charset="0"/>
              </a:rPr>
              <a:t>Balance</a:t>
            </a:r>
            <a:endParaRPr sz="3300">
              <a:latin typeface="Times New Roman" pitchFamily="18" charset="0"/>
              <a:cs typeface="Times New Roman" pitchFamily="18" charset="0"/>
            </a:endParaRPr>
          </a:p>
          <a:p>
            <a:pPr marL="12700">
              <a:tabLst>
                <a:tab pos="759460" algn="l"/>
              </a:tabLst>
            </a:pPr>
            <a:r>
              <a:rPr sz="3300" b="1" dirty="0">
                <a:latin typeface="Times New Roman" pitchFamily="18" charset="0"/>
                <a:cs typeface="Times New Roman" pitchFamily="18" charset="0"/>
              </a:rPr>
              <a:t>A =	</a:t>
            </a:r>
            <a:r>
              <a:rPr sz="3300" spc="-5" dirty="0">
                <a:latin typeface="Times New Roman" pitchFamily="18" charset="0"/>
                <a:cs typeface="Times New Roman" pitchFamily="18" charset="0"/>
              </a:rPr>
              <a:t>Annual Cash</a:t>
            </a:r>
            <a:r>
              <a:rPr sz="3300" spc="-10" dirty="0">
                <a:latin typeface="Times New Roman" pitchFamily="18" charset="0"/>
                <a:cs typeface="Times New Roman" pitchFamily="18" charset="0"/>
              </a:rPr>
              <a:t> Distribution</a:t>
            </a:r>
            <a:endParaRPr sz="3300">
              <a:latin typeface="Times New Roman" pitchFamily="18" charset="0"/>
              <a:cs typeface="Times New Roman" pitchFamily="18" charset="0"/>
            </a:endParaRPr>
          </a:p>
          <a:p>
            <a:pPr marL="12700">
              <a:tabLst>
                <a:tab pos="394335" algn="l"/>
              </a:tabLst>
            </a:pPr>
            <a:r>
              <a:rPr sz="3300" b="1" dirty="0">
                <a:latin typeface="Times New Roman" pitchFamily="18" charset="0"/>
                <a:cs typeface="Times New Roman" pitchFamily="18" charset="0"/>
              </a:rPr>
              <a:t>F	= </a:t>
            </a:r>
            <a:r>
              <a:rPr sz="3300" spc="-25" dirty="0">
                <a:latin typeface="Times New Roman" pitchFamily="18" charset="0"/>
                <a:cs typeface="Times New Roman" pitchFamily="18" charset="0"/>
              </a:rPr>
              <a:t>Fixed </a:t>
            </a:r>
            <a:r>
              <a:rPr sz="3300" spc="-10" dirty="0">
                <a:latin typeface="Times New Roman" pitchFamily="18" charset="0"/>
                <a:cs typeface="Times New Roman" pitchFamily="18" charset="0"/>
              </a:rPr>
              <a:t>Cost </a:t>
            </a:r>
            <a:r>
              <a:rPr sz="3300" spc="-25" dirty="0">
                <a:latin typeface="Times New Roman" pitchFamily="18" charset="0"/>
                <a:cs typeface="Times New Roman" pitchFamily="18" charset="0"/>
              </a:rPr>
              <a:t>Per</a:t>
            </a:r>
            <a:r>
              <a:rPr sz="3300" spc="-20" dirty="0">
                <a:latin typeface="Times New Roman" pitchFamily="18" charset="0"/>
                <a:cs typeface="Times New Roman" pitchFamily="18" charset="0"/>
              </a:rPr>
              <a:t> </a:t>
            </a:r>
            <a:r>
              <a:rPr sz="3300" spc="-30" dirty="0">
                <a:latin typeface="Times New Roman" pitchFamily="18" charset="0"/>
                <a:cs typeface="Times New Roman" pitchFamily="18" charset="0"/>
              </a:rPr>
              <a:t>Transaction</a:t>
            </a:r>
            <a:endParaRPr sz="3300">
              <a:latin typeface="Times New Roman" pitchFamily="18" charset="0"/>
              <a:cs typeface="Times New Roman" pitchFamily="18" charset="0"/>
            </a:endParaRPr>
          </a:p>
          <a:p>
            <a:pPr marL="12700">
              <a:spcBef>
                <a:spcPts val="5"/>
              </a:spcBef>
            </a:pPr>
            <a:r>
              <a:rPr sz="3300" b="1" dirty="0">
                <a:latin typeface="Times New Roman" pitchFamily="18" charset="0"/>
                <a:cs typeface="Times New Roman" pitchFamily="18" charset="0"/>
              </a:rPr>
              <a:t>O = </a:t>
            </a:r>
            <a:r>
              <a:rPr sz="3300" spc="-5" dirty="0">
                <a:latin typeface="Times New Roman" pitchFamily="18" charset="0"/>
                <a:cs typeface="Times New Roman" pitchFamily="18" charset="0"/>
              </a:rPr>
              <a:t>Opportunity </a:t>
            </a:r>
            <a:r>
              <a:rPr sz="3300" spc="-10" dirty="0">
                <a:latin typeface="Times New Roman" pitchFamily="18" charset="0"/>
                <a:cs typeface="Times New Roman" pitchFamily="18" charset="0"/>
              </a:rPr>
              <a:t>Cost </a:t>
            </a:r>
            <a:r>
              <a:rPr sz="3300" spc="-5" dirty="0">
                <a:latin typeface="Times New Roman" pitchFamily="18" charset="0"/>
                <a:cs typeface="Times New Roman" pitchFamily="18" charset="0"/>
              </a:rPr>
              <a:t>Of</a:t>
            </a:r>
            <a:r>
              <a:rPr sz="3300" spc="-55" dirty="0">
                <a:latin typeface="Times New Roman" pitchFamily="18" charset="0"/>
                <a:cs typeface="Times New Roman" pitchFamily="18" charset="0"/>
              </a:rPr>
              <a:t> </a:t>
            </a:r>
            <a:r>
              <a:rPr sz="3300" spc="-5" dirty="0">
                <a:latin typeface="Times New Roman" pitchFamily="18" charset="0"/>
                <a:cs typeface="Times New Roman" pitchFamily="18" charset="0"/>
              </a:rPr>
              <a:t>Holding</a:t>
            </a:r>
            <a:endParaRPr sz="3300">
              <a:latin typeface="Times New Roman" pitchFamily="18" charset="0"/>
              <a:cs typeface="Times New Roman" pitchFamily="18" charset="0"/>
            </a:endParaRPr>
          </a:p>
        </p:txBody>
      </p:sp>
      <p:sp>
        <p:nvSpPr>
          <p:cNvPr id="7" name="object 7"/>
          <p:cNvSpPr txBox="1"/>
          <p:nvPr/>
        </p:nvSpPr>
        <p:spPr>
          <a:xfrm>
            <a:off x="5867401" y="2590800"/>
            <a:ext cx="1295399" cy="627736"/>
          </a:xfrm>
          <a:prstGeom prst="rect">
            <a:avLst/>
          </a:prstGeom>
        </p:spPr>
        <p:txBody>
          <a:bodyPr vert="horz" wrap="square" lIns="0" tIns="12065" rIns="0" bIns="0" rtlCol="0">
            <a:spAutoFit/>
          </a:bodyPr>
          <a:lstStyle/>
          <a:p>
            <a:pPr marL="12700">
              <a:spcBef>
                <a:spcPts val="95"/>
              </a:spcBef>
            </a:pPr>
            <a:r>
              <a:rPr lang="en-US" sz="4000" b="1" spc="-5" dirty="0">
                <a:latin typeface="Calibri"/>
                <a:cs typeface="Calibri"/>
              </a:rPr>
              <a:t>√</a:t>
            </a:r>
            <a:r>
              <a:rPr sz="4000" b="1" spc="-5" dirty="0">
                <a:latin typeface="Carlito"/>
                <a:cs typeface="Carlito"/>
              </a:rPr>
              <a:t>o</a:t>
            </a:r>
            <a:endParaRPr sz="4000" dirty="0">
              <a:latin typeface="Carlito"/>
              <a:cs typeface="Carlito"/>
            </a:endParaRPr>
          </a:p>
        </p:txBody>
      </p:sp>
      <p:sp>
        <p:nvSpPr>
          <p:cNvPr id="9" name="Title 1"/>
          <p:cNvSpPr txBox="1">
            <a:spLocks/>
          </p:cNvSpPr>
          <p:nvPr/>
        </p:nvSpPr>
        <p:spPr>
          <a:xfrm>
            <a:off x="1828800" y="0"/>
            <a:ext cx="10363200" cy="7108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latin typeface="+mj-lt"/>
                <a:cs typeface="Carlito"/>
              </a:rPr>
              <a:t>William </a:t>
            </a:r>
            <a:r>
              <a:rPr lang="en-US" sz="2800" spc="-20" dirty="0">
                <a:latin typeface="+mj-lt"/>
                <a:cs typeface="Carlito"/>
              </a:rPr>
              <a:t>J. </a:t>
            </a:r>
            <a:r>
              <a:rPr lang="en-US" sz="2800" dirty="0" err="1">
                <a:latin typeface="+mj-lt"/>
                <a:cs typeface="Carlito"/>
              </a:rPr>
              <a:t>Baumol's</a:t>
            </a:r>
            <a:r>
              <a:rPr lang="en-US" sz="2800" dirty="0">
                <a:latin typeface="+mj-lt"/>
                <a:cs typeface="Carlito"/>
              </a:rPr>
              <a:t> </a:t>
            </a:r>
            <a:r>
              <a:rPr lang="en-US" sz="2800" spc="-20" dirty="0">
                <a:latin typeface="+mj-lt"/>
                <a:cs typeface="Carlito"/>
              </a:rPr>
              <a:t>Inventory </a:t>
            </a:r>
            <a:r>
              <a:rPr lang="en-US" sz="2800" spc="-5" dirty="0">
                <a:latin typeface="+mj-lt"/>
                <a:cs typeface="Carlito"/>
              </a:rPr>
              <a:t>model</a:t>
            </a:r>
            <a:endParaRPr lang="en-IN" sz="2800" b="1" dirty="0">
              <a:latin typeface="+mj-lt"/>
            </a:endParaRPr>
          </a:p>
        </p:txBody>
      </p:sp>
      <p:sp>
        <p:nvSpPr>
          <p:cNvPr id="10" name="Slide Number Placeholder 9"/>
          <p:cNvSpPr>
            <a:spLocks noGrp="1"/>
          </p:cNvSpPr>
          <p:nvPr>
            <p:ph type="sldNum" sz="quarter" idx="12"/>
          </p:nvPr>
        </p:nvSpPr>
        <p:spPr/>
        <p:txBody>
          <a:bodyPr/>
          <a:lstStyle/>
          <a:p>
            <a:fld id="{426DE8D6-7EB9-433F-B86C-27E3E6EBFC24}" type="slidenum">
              <a:rPr lang="en-US" smtClean="0"/>
              <a:pPr/>
              <a:t>46</a:t>
            </a:fld>
            <a:endParaRPr lang="en-US"/>
          </a:p>
        </p:txBody>
      </p:sp>
      <p:sp>
        <p:nvSpPr>
          <p:cNvPr id="11" name="Footer Placeholder 10"/>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57A56F2D-4D43-4EA4-BE9D-5E437DFE8B52}" type="datetime1">
              <a:rPr lang="en-US" smtClean="0"/>
              <a:t>8/20/2025</a:t>
            </a:fld>
            <a:endParaRPr lang="en-US"/>
          </a:p>
        </p:txBody>
      </p:sp>
    </p:spTree>
    <p:extLst>
      <p:ext uri="{BB962C8B-B14F-4D97-AF65-F5344CB8AC3E}">
        <p14:creationId xmlns:p14="http://schemas.microsoft.com/office/powerpoint/2010/main" val="38175050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t>M. </a:t>
            </a:r>
            <a:r>
              <a:rPr lang="en-US" sz="2800" spc="-254" dirty="0"/>
              <a:t>H. </a:t>
            </a:r>
            <a:r>
              <a:rPr lang="en-US" sz="2800" spc="-5" dirty="0"/>
              <a:t>Miller </a:t>
            </a:r>
            <a:r>
              <a:rPr lang="en-US" sz="2800" spc="-190" dirty="0"/>
              <a:t>and </a:t>
            </a:r>
            <a:r>
              <a:rPr lang="en-US" sz="2800" spc="-180" dirty="0"/>
              <a:t>Daniel</a:t>
            </a:r>
            <a:r>
              <a:rPr lang="en-US" sz="2800" spc="-645" dirty="0"/>
              <a:t> </a:t>
            </a:r>
            <a:r>
              <a:rPr lang="en-US" sz="2800" spc="-155" dirty="0"/>
              <a:t>Orr’s  </a:t>
            </a:r>
            <a:r>
              <a:rPr lang="en-US" sz="2800" spc="-10" dirty="0">
                <a:latin typeface="Carlito"/>
                <a:cs typeface="Carlito"/>
              </a:rPr>
              <a:t>Stochastic</a:t>
            </a:r>
            <a:r>
              <a:rPr lang="en-US" sz="2800" spc="-50" dirty="0">
                <a:latin typeface="Carlito"/>
                <a:cs typeface="Carlito"/>
              </a:rPr>
              <a:t> </a:t>
            </a:r>
            <a:r>
              <a:rPr lang="en-US" sz="2800" dirty="0">
                <a:latin typeface="Carlito"/>
                <a:cs typeface="Carlito"/>
              </a:rPr>
              <a:t>Model</a:t>
            </a:r>
            <a:endParaRPr lang="en-IN" sz="2800" b="1" dirty="0"/>
          </a:p>
        </p:txBody>
      </p:sp>
      <p:sp>
        <p:nvSpPr>
          <p:cNvPr id="8" name="Rectangle 7"/>
          <p:cNvSpPr/>
          <p:nvPr/>
        </p:nvSpPr>
        <p:spPr>
          <a:xfrm>
            <a:off x="609600" y="1295400"/>
            <a:ext cx="11430000" cy="1302921"/>
          </a:xfrm>
          <a:prstGeom prst="rect">
            <a:avLst/>
          </a:prstGeom>
        </p:spPr>
        <p:txBody>
          <a:bodyPr wrap="square">
            <a:spAutoFit/>
          </a:bodyPr>
          <a:lstStyle/>
          <a:p>
            <a:pPr marL="12700">
              <a:spcBef>
                <a:spcPts val="865"/>
              </a:spcBef>
            </a:pPr>
            <a:r>
              <a:rPr lang="en-US" b="1" i="1" u="heavy" spc="-5" dirty="0">
                <a:uFill>
                  <a:solidFill>
                    <a:srgbClr val="000000"/>
                  </a:solidFill>
                </a:uFill>
                <a:latin typeface="+mj-lt"/>
                <a:cs typeface="Carlito"/>
              </a:rPr>
              <a:t>Overview</a:t>
            </a:r>
            <a:endParaRPr lang="en-US" dirty="0">
              <a:latin typeface="+mj-lt"/>
              <a:cs typeface="Carlito"/>
            </a:endParaRPr>
          </a:p>
          <a:p>
            <a:pPr marL="291465" marR="5080" indent="-279400">
              <a:spcBef>
                <a:spcPts val="770"/>
              </a:spcBef>
              <a:buFont typeface="Arial"/>
              <a:buChar char="•"/>
              <a:tabLst>
                <a:tab pos="292100" algn="l"/>
              </a:tabLst>
            </a:pPr>
            <a:r>
              <a:rPr lang="en-US" spc="-5" dirty="0">
                <a:latin typeface="+mj-lt"/>
                <a:cs typeface="Carlito"/>
              </a:rPr>
              <a:t>The </a:t>
            </a:r>
            <a:r>
              <a:rPr lang="en-US" b="1" spc="-5" dirty="0">
                <a:latin typeface="+mj-lt"/>
                <a:cs typeface="Carlito"/>
              </a:rPr>
              <a:t>Miller </a:t>
            </a:r>
            <a:r>
              <a:rPr lang="en-US" b="1" dirty="0">
                <a:latin typeface="+mj-lt"/>
                <a:cs typeface="Carlito"/>
              </a:rPr>
              <a:t>and </a:t>
            </a:r>
            <a:r>
              <a:rPr lang="en-US" b="1" spc="-5" dirty="0">
                <a:latin typeface="+mj-lt"/>
                <a:cs typeface="Carlito"/>
              </a:rPr>
              <a:t>Orr model </a:t>
            </a:r>
            <a:r>
              <a:rPr lang="en-US" b="1" dirty="0">
                <a:latin typeface="+mj-lt"/>
                <a:cs typeface="Carlito"/>
              </a:rPr>
              <a:t>of </a:t>
            </a:r>
            <a:r>
              <a:rPr lang="en-US" b="1" spc="-5" dirty="0">
                <a:latin typeface="+mj-lt"/>
                <a:cs typeface="Carlito"/>
              </a:rPr>
              <a:t>cash  </a:t>
            </a:r>
            <a:r>
              <a:rPr lang="en-US" b="1" spc="-10" dirty="0">
                <a:latin typeface="+mj-lt"/>
                <a:cs typeface="Carlito"/>
              </a:rPr>
              <a:t>management </a:t>
            </a:r>
            <a:r>
              <a:rPr lang="en-US" dirty="0">
                <a:latin typeface="+mj-lt"/>
                <a:cs typeface="Carlito"/>
              </a:rPr>
              <a:t>is </a:t>
            </a:r>
            <a:r>
              <a:rPr lang="en-US" spc="-5" dirty="0">
                <a:latin typeface="+mj-lt"/>
                <a:cs typeface="Carlito"/>
              </a:rPr>
              <a:t>one of the various </a:t>
            </a:r>
            <a:r>
              <a:rPr lang="en-US" spc="-10" dirty="0">
                <a:latin typeface="+mj-lt"/>
                <a:cs typeface="Carlito"/>
              </a:rPr>
              <a:t>cash  </a:t>
            </a:r>
            <a:r>
              <a:rPr lang="en-US" spc="-5" dirty="0">
                <a:latin typeface="+mj-lt"/>
                <a:cs typeface="Carlito"/>
              </a:rPr>
              <a:t>management </a:t>
            </a:r>
            <a:r>
              <a:rPr lang="en-US" dirty="0">
                <a:latin typeface="+mj-lt"/>
                <a:cs typeface="Carlito"/>
              </a:rPr>
              <a:t>models in </a:t>
            </a:r>
            <a:r>
              <a:rPr lang="en-US" spc="-15" dirty="0">
                <a:latin typeface="+mj-lt"/>
                <a:cs typeface="Carlito"/>
              </a:rPr>
              <a:t>operation. </a:t>
            </a:r>
            <a:r>
              <a:rPr lang="en-US" dirty="0">
                <a:latin typeface="+mj-lt"/>
                <a:cs typeface="Carlito"/>
              </a:rPr>
              <a:t>It is an  </a:t>
            </a:r>
            <a:r>
              <a:rPr lang="en-US" spc="-10" dirty="0">
                <a:latin typeface="+mj-lt"/>
                <a:cs typeface="Carlito"/>
              </a:rPr>
              <a:t>important </a:t>
            </a:r>
            <a:r>
              <a:rPr lang="en-US" spc="-5" dirty="0">
                <a:latin typeface="+mj-lt"/>
                <a:cs typeface="Carlito"/>
              </a:rPr>
              <a:t>cash management </a:t>
            </a:r>
            <a:r>
              <a:rPr lang="en-US" dirty="0">
                <a:latin typeface="+mj-lt"/>
                <a:cs typeface="Carlito"/>
              </a:rPr>
              <a:t>model as </a:t>
            </a:r>
            <a:r>
              <a:rPr lang="en-US" spc="-10" dirty="0">
                <a:latin typeface="+mj-lt"/>
                <a:cs typeface="Carlito"/>
              </a:rPr>
              <a:t>well. </a:t>
            </a:r>
            <a:r>
              <a:rPr lang="en-US" dirty="0">
                <a:latin typeface="+mj-lt"/>
                <a:cs typeface="Carlito"/>
              </a:rPr>
              <a:t>It  </a:t>
            </a:r>
            <a:r>
              <a:rPr lang="en-US" b="1" spc="-5" dirty="0">
                <a:latin typeface="+mj-lt"/>
                <a:cs typeface="Carlito"/>
              </a:rPr>
              <a:t>helps </a:t>
            </a:r>
            <a:r>
              <a:rPr lang="en-US" dirty="0">
                <a:latin typeface="+mj-lt"/>
                <a:cs typeface="Carlito"/>
              </a:rPr>
              <a:t>the </a:t>
            </a:r>
            <a:r>
              <a:rPr lang="en-US" spc="-10" dirty="0">
                <a:latin typeface="+mj-lt"/>
                <a:cs typeface="Carlito"/>
              </a:rPr>
              <a:t>present </a:t>
            </a:r>
            <a:r>
              <a:rPr lang="en-US" spc="-25" dirty="0">
                <a:latin typeface="+mj-lt"/>
                <a:cs typeface="Carlito"/>
              </a:rPr>
              <a:t>day </a:t>
            </a:r>
            <a:r>
              <a:rPr lang="en-US" b="1" spc="-5" dirty="0">
                <a:latin typeface="+mj-lt"/>
                <a:cs typeface="Carlito"/>
              </a:rPr>
              <a:t>companies </a:t>
            </a:r>
            <a:r>
              <a:rPr lang="en-US" b="1" spc="-20" dirty="0">
                <a:latin typeface="+mj-lt"/>
                <a:cs typeface="Carlito"/>
              </a:rPr>
              <a:t>to </a:t>
            </a:r>
            <a:r>
              <a:rPr lang="en-US" b="1" spc="-10" dirty="0">
                <a:latin typeface="+mj-lt"/>
                <a:cs typeface="Carlito"/>
              </a:rPr>
              <a:t>manage  </a:t>
            </a:r>
            <a:r>
              <a:rPr lang="en-US" spc="-5" dirty="0">
                <a:latin typeface="+mj-lt"/>
                <a:cs typeface="Carlito"/>
              </a:rPr>
              <a:t>their </a:t>
            </a:r>
            <a:r>
              <a:rPr lang="en-US" b="1" spc="-5" dirty="0">
                <a:latin typeface="+mj-lt"/>
                <a:cs typeface="Carlito"/>
              </a:rPr>
              <a:t>cash while taking </a:t>
            </a:r>
            <a:r>
              <a:rPr lang="en-US" b="1" spc="-15" dirty="0">
                <a:latin typeface="+mj-lt"/>
                <a:cs typeface="Carlito"/>
              </a:rPr>
              <a:t>into </a:t>
            </a:r>
            <a:r>
              <a:rPr lang="en-US" b="1" spc="-10" dirty="0">
                <a:latin typeface="+mj-lt"/>
                <a:cs typeface="Carlito"/>
              </a:rPr>
              <a:t>consideration</a:t>
            </a:r>
            <a:r>
              <a:rPr lang="en-US" b="1" spc="-114" dirty="0">
                <a:latin typeface="+mj-lt"/>
                <a:cs typeface="Carlito"/>
              </a:rPr>
              <a:t> </a:t>
            </a:r>
            <a:r>
              <a:rPr lang="en-US" b="1" dirty="0">
                <a:latin typeface="+mj-lt"/>
                <a:cs typeface="Carlito"/>
              </a:rPr>
              <a:t>the  </a:t>
            </a:r>
            <a:r>
              <a:rPr lang="en-US" b="1" spc="-5" dirty="0">
                <a:latin typeface="+mj-lt"/>
                <a:cs typeface="Carlito"/>
              </a:rPr>
              <a:t>fluctuations </a:t>
            </a:r>
            <a:r>
              <a:rPr lang="en-US" b="1" dirty="0">
                <a:latin typeface="+mj-lt"/>
                <a:cs typeface="Carlito"/>
              </a:rPr>
              <a:t>in daily </a:t>
            </a:r>
            <a:r>
              <a:rPr lang="en-US" b="1" spc="-5" dirty="0">
                <a:latin typeface="+mj-lt"/>
                <a:cs typeface="Carlito"/>
              </a:rPr>
              <a:t>cash</a:t>
            </a:r>
            <a:r>
              <a:rPr lang="en-US" b="1" spc="-114" dirty="0">
                <a:latin typeface="+mj-lt"/>
                <a:cs typeface="Carlito"/>
              </a:rPr>
              <a:t> </a:t>
            </a:r>
            <a:r>
              <a:rPr lang="en-US" b="1" spc="-40" dirty="0">
                <a:latin typeface="+mj-lt"/>
                <a:cs typeface="Carlito"/>
              </a:rPr>
              <a:t>flow.</a:t>
            </a:r>
            <a:endParaRPr lang="en-US" dirty="0">
              <a:latin typeface="+mj-lt"/>
              <a:cs typeface="Carlito"/>
            </a:endParaRPr>
          </a:p>
        </p:txBody>
      </p:sp>
      <p:sp>
        <p:nvSpPr>
          <p:cNvPr id="6" name="Slide Number Placeholder 5"/>
          <p:cNvSpPr>
            <a:spLocks noGrp="1"/>
          </p:cNvSpPr>
          <p:nvPr>
            <p:ph type="sldNum" sz="quarter" idx="12"/>
          </p:nvPr>
        </p:nvSpPr>
        <p:spPr/>
        <p:txBody>
          <a:bodyPr/>
          <a:lstStyle/>
          <a:p>
            <a:fld id="{426DE8D6-7EB9-433F-B86C-27E3E6EBFC24}" type="slidenum">
              <a:rPr lang="en-US" smtClean="0"/>
              <a:pPr/>
              <a:t>47</a:t>
            </a:fld>
            <a:endParaRPr lang="en-US"/>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0523933F-7127-4830-9A43-490F1D277818}" type="datetime1">
              <a:rPr lang="en-US" smtClean="0"/>
              <a:t>8/20/2025</a:t>
            </a:fld>
            <a:endParaRPr lang="en-US"/>
          </a:p>
        </p:txBody>
      </p:sp>
    </p:spTree>
    <p:extLst>
      <p:ext uri="{BB962C8B-B14F-4D97-AF65-F5344CB8AC3E}">
        <p14:creationId xmlns:p14="http://schemas.microsoft.com/office/powerpoint/2010/main" val="29488897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905000" y="0"/>
            <a:ext cx="102870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latin typeface="+mj-lt"/>
              </a:rPr>
              <a:t>M. </a:t>
            </a:r>
            <a:r>
              <a:rPr lang="en-US" sz="2800" spc="-254" dirty="0">
                <a:latin typeface="+mj-lt"/>
              </a:rPr>
              <a:t>H. </a:t>
            </a:r>
            <a:r>
              <a:rPr lang="en-US" sz="2800" spc="-5" dirty="0">
                <a:latin typeface="+mj-lt"/>
              </a:rPr>
              <a:t>Miller </a:t>
            </a:r>
            <a:r>
              <a:rPr lang="en-US" sz="2800" spc="-190" dirty="0">
                <a:latin typeface="+mj-lt"/>
              </a:rPr>
              <a:t>and </a:t>
            </a:r>
            <a:r>
              <a:rPr lang="en-US" sz="2800" spc="-180" dirty="0">
                <a:latin typeface="+mj-lt"/>
              </a:rPr>
              <a:t>Daniel</a:t>
            </a:r>
            <a:r>
              <a:rPr lang="en-US" sz="2800" spc="-645" dirty="0">
                <a:latin typeface="+mj-lt"/>
              </a:rPr>
              <a:t> </a:t>
            </a:r>
            <a:r>
              <a:rPr lang="en-US" sz="2800" spc="-155" dirty="0">
                <a:latin typeface="+mj-lt"/>
              </a:rPr>
              <a:t>Orr’s  </a:t>
            </a:r>
            <a:r>
              <a:rPr lang="en-US" sz="2800" spc="-10" dirty="0">
                <a:latin typeface="+mj-lt"/>
                <a:cs typeface="Carlito"/>
              </a:rPr>
              <a:t>Stochastic</a:t>
            </a:r>
            <a:r>
              <a:rPr lang="en-US" sz="2800" spc="-50" dirty="0">
                <a:latin typeface="+mj-lt"/>
                <a:cs typeface="Carlito"/>
              </a:rPr>
              <a:t> </a:t>
            </a:r>
            <a:r>
              <a:rPr lang="en-US" sz="2800" dirty="0">
                <a:latin typeface="+mj-lt"/>
                <a:cs typeface="Carlito"/>
              </a:rPr>
              <a:t>Model</a:t>
            </a:r>
            <a:endParaRPr lang="en-IN" sz="2800" b="1" dirty="0">
              <a:latin typeface="+mj-lt"/>
            </a:endParaRPr>
          </a:p>
        </p:txBody>
      </p:sp>
      <p:sp>
        <p:nvSpPr>
          <p:cNvPr id="8" name="Rectangle 7"/>
          <p:cNvSpPr/>
          <p:nvPr/>
        </p:nvSpPr>
        <p:spPr>
          <a:xfrm>
            <a:off x="381000" y="1295401"/>
            <a:ext cx="11811000" cy="1826141"/>
          </a:xfrm>
          <a:prstGeom prst="rect">
            <a:avLst/>
          </a:prstGeom>
        </p:spPr>
        <p:txBody>
          <a:bodyPr wrap="square">
            <a:spAutoFit/>
          </a:bodyPr>
          <a:lstStyle/>
          <a:p>
            <a:pPr marL="12700">
              <a:spcBef>
                <a:spcPts val="2175"/>
              </a:spcBef>
            </a:pPr>
            <a:r>
              <a:rPr lang="en-US" sz="2000" b="1" i="1" u="heavy" spc="-10" dirty="0">
                <a:uFill>
                  <a:solidFill>
                    <a:srgbClr val="000000"/>
                  </a:solidFill>
                </a:uFill>
                <a:latin typeface="+mj-lt"/>
                <a:cs typeface="Carlito"/>
              </a:rPr>
              <a:t>Description</a:t>
            </a:r>
            <a:endParaRPr lang="en-US" sz="2000" dirty="0">
              <a:latin typeface="+mj-lt"/>
              <a:cs typeface="Carlito"/>
            </a:endParaRPr>
          </a:p>
          <a:p>
            <a:pPr marL="355600" marR="5080" indent="-342900">
              <a:lnSpc>
                <a:spcPct val="90000"/>
              </a:lnSpc>
              <a:spcBef>
                <a:spcPts val="975"/>
              </a:spcBef>
              <a:buFont typeface="Arial"/>
              <a:buChar char="•"/>
              <a:tabLst>
                <a:tab pos="355600" algn="l"/>
              </a:tabLst>
            </a:pPr>
            <a:r>
              <a:rPr lang="en-US" sz="2000" dirty="0">
                <a:latin typeface="+mj-lt"/>
                <a:cs typeface="Carlito"/>
              </a:rPr>
              <a:t>As </a:t>
            </a:r>
            <a:r>
              <a:rPr lang="en-US" sz="2000" spc="-5" dirty="0">
                <a:latin typeface="+mj-lt"/>
                <a:cs typeface="Carlito"/>
              </a:rPr>
              <a:t>per </a:t>
            </a:r>
            <a:r>
              <a:rPr lang="en-US" sz="2000" dirty="0">
                <a:latin typeface="+mj-lt"/>
                <a:cs typeface="Carlito"/>
              </a:rPr>
              <a:t>the </a:t>
            </a:r>
            <a:r>
              <a:rPr lang="en-US" sz="2000" spc="-5" dirty="0">
                <a:latin typeface="+mj-lt"/>
                <a:cs typeface="Carlito"/>
              </a:rPr>
              <a:t>Miller </a:t>
            </a:r>
            <a:r>
              <a:rPr lang="en-US" sz="2000" dirty="0">
                <a:latin typeface="+mj-lt"/>
                <a:cs typeface="Carlito"/>
              </a:rPr>
              <a:t>and </a:t>
            </a:r>
            <a:r>
              <a:rPr lang="en-US" sz="2000" spc="-5" dirty="0">
                <a:latin typeface="+mj-lt"/>
                <a:cs typeface="Carlito"/>
              </a:rPr>
              <a:t>Orr </a:t>
            </a:r>
            <a:r>
              <a:rPr lang="en-US" sz="2000" dirty="0">
                <a:latin typeface="+mj-lt"/>
                <a:cs typeface="Carlito"/>
              </a:rPr>
              <a:t>model</a:t>
            </a:r>
            <a:r>
              <a:rPr lang="en-US" sz="2000" spc="-95" dirty="0">
                <a:latin typeface="+mj-lt"/>
                <a:cs typeface="Carlito"/>
              </a:rPr>
              <a:t> </a:t>
            </a:r>
            <a:r>
              <a:rPr lang="en-US" sz="2000" spc="-5" dirty="0">
                <a:latin typeface="+mj-lt"/>
                <a:cs typeface="Carlito"/>
              </a:rPr>
              <a:t>of  </a:t>
            </a:r>
            <a:r>
              <a:rPr lang="en-US" sz="2000" spc="-10" dirty="0">
                <a:latin typeface="+mj-lt"/>
                <a:cs typeface="Carlito"/>
              </a:rPr>
              <a:t>cash management </a:t>
            </a:r>
            <a:r>
              <a:rPr lang="en-US" sz="2000" dirty="0">
                <a:latin typeface="+mj-lt"/>
                <a:cs typeface="Carlito"/>
              </a:rPr>
              <a:t>the </a:t>
            </a:r>
            <a:r>
              <a:rPr lang="en-US" sz="2000" spc="-5" dirty="0">
                <a:latin typeface="+mj-lt"/>
                <a:cs typeface="Carlito"/>
              </a:rPr>
              <a:t>companies  </a:t>
            </a:r>
            <a:r>
              <a:rPr lang="en-US" sz="2000" spc="-15" dirty="0">
                <a:latin typeface="+mj-lt"/>
                <a:cs typeface="Carlito"/>
              </a:rPr>
              <a:t>let </a:t>
            </a:r>
            <a:r>
              <a:rPr lang="en-US" sz="2000" spc="-5" dirty="0">
                <a:latin typeface="+mj-lt"/>
                <a:cs typeface="Carlito"/>
              </a:rPr>
              <a:t>their </a:t>
            </a:r>
            <a:r>
              <a:rPr lang="en-US" sz="2000" spc="-10" dirty="0">
                <a:latin typeface="+mj-lt"/>
                <a:cs typeface="Carlito"/>
              </a:rPr>
              <a:t>cash </a:t>
            </a:r>
            <a:r>
              <a:rPr lang="en-US" sz="2000" spc="-5" dirty="0">
                <a:latin typeface="+mj-lt"/>
                <a:cs typeface="Carlito"/>
              </a:rPr>
              <a:t>balance </a:t>
            </a:r>
            <a:r>
              <a:rPr lang="en-US" sz="2000" spc="-15" dirty="0">
                <a:latin typeface="+mj-lt"/>
                <a:cs typeface="Carlito"/>
              </a:rPr>
              <a:t>move </a:t>
            </a:r>
            <a:r>
              <a:rPr lang="en-US" sz="2000" spc="-5" dirty="0">
                <a:latin typeface="+mj-lt"/>
                <a:cs typeface="Carlito"/>
              </a:rPr>
              <a:t>within  </a:t>
            </a:r>
            <a:r>
              <a:rPr lang="en-US" sz="2000" spc="-15" dirty="0">
                <a:latin typeface="+mj-lt"/>
                <a:cs typeface="Carlito"/>
              </a:rPr>
              <a:t>two </a:t>
            </a:r>
            <a:r>
              <a:rPr lang="en-US" sz="2000" spc="-5" dirty="0">
                <a:latin typeface="+mj-lt"/>
                <a:cs typeface="Carlito"/>
              </a:rPr>
              <a:t>limits</a:t>
            </a:r>
            <a:endParaRPr lang="en-US" sz="2000" dirty="0">
              <a:latin typeface="+mj-lt"/>
              <a:cs typeface="Carlito"/>
            </a:endParaRPr>
          </a:p>
          <a:p>
            <a:pPr marL="756285" indent="-744220">
              <a:spcBef>
                <a:spcPts val="505"/>
              </a:spcBef>
              <a:buAutoNum type="alphaLcParenR"/>
              <a:tabLst>
                <a:tab pos="756285" algn="l"/>
                <a:tab pos="756920" algn="l"/>
              </a:tabLst>
            </a:pPr>
            <a:r>
              <a:rPr lang="en-US" sz="2000" dirty="0">
                <a:latin typeface="+mj-lt"/>
                <a:cs typeface="Carlito"/>
              </a:rPr>
              <a:t>Upper </a:t>
            </a:r>
            <a:r>
              <a:rPr lang="en-US" sz="2000" spc="-20" dirty="0">
                <a:latin typeface="+mj-lt"/>
                <a:cs typeface="Carlito"/>
              </a:rPr>
              <a:t>Control</a:t>
            </a:r>
            <a:r>
              <a:rPr lang="en-US" sz="2000" spc="-30" dirty="0">
                <a:latin typeface="+mj-lt"/>
                <a:cs typeface="Carlito"/>
              </a:rPr>
              <a:t> </a:t>
            </a:r>
            <a:r>
              <a:rPr lang="en-US" sz="2000" spc="-5" dirty="0">
                <a:latin typeface="+mj-lt"/>
                <a:cs typeface="Carlito"/>
              </a:rPr>
              <a:t>limit</a:t>
            </a:r>
            <a:endParaRPr lang="en-US" sz="2000" dirty="0">
              <a:latin typeface="+mj-lt"/>
              <a:cs typeface="Carlito"/>
            </a:endParaRPr>
          </a:p>
          <a:p>
            <a:pPr marL="756285" indent="-744220">
              <a:spcBef>
                <a:spcPts val="505"/>
              </a:spcBef>
              <a:buAutoNum type="alphaLcParenR"/>
              <a:tabLst>
                <a:tab pos="756285" algn="l"/>
                <a:tab pos="756920" algn="l"/>
              </a:tabLst>
            </a:pPr>
            <a:r>
              <a:rPr lang="en-US" sz="2000" spc="-15" dirty="0">
                <a:latin typeface="+mj-lt"/>
                <a:cs typeface="Carlito"/>
              </a:rPr>
              <a:t>Lower </a:t>
            </a:r>
            <a:r>
              <a:rPr lang="en-US" sz="2000" spc="-20" dirty="0">
                <a:latin typeface="+mj-lt"/>
                <a:cs typeface="Carlito"/>
              </a:rPr>
              <a:t>Control</a:t>
            </a:r>
            <a:r>
              <a:rPr lang="en-US" sz="2000" spc="-40" dirty="0">
                <a:latin typeface="+mj-lt"/>
                <a:cs typeface="Carlito"/>
              </a:rPr>
              <a:t> </a:t>
            </a:r>
            <a:r>
              <a:rPr lang="en-US" sz="2000" spc="-5" dirty="0">
                <a:latin typeface="+mj-lt"/>
                <a:cs typeface="Carlito"/>
              </a:rPr>
              <a:t>Limit</a:t>
            </a:r>
            <a:endParaRPr lang="en-US" sz="2000" dirty="0">
              <a:latin typeface="+mj-lt"/>
              <a:cs typeface="Carlito"/>
            </a:endParaRPr>
          </a:p>
        </p:txBody>
      </p:sp>
      <p:sp>
        <p:nvSpPr>
          <p:cNvPr id="6" name="Slide Number Placeholder 5"/>
          <p:cNvSpPr>
            <a:spLocks noGrp="1"/>
          </p:cNvSpPr>
          <p:nvPr>
            <p:ph type="sldNum" sz="quarter" idx="12"/>
          </p:nvPr>
        </p:nvSpPr>
        <p:spPr/>
        <p:txBody>
          <a:bodyPr/>
          <a:lstStyle/>
          <a:p>
            <a:fld id="{426DE8D6-7EB9-433F-B86C-27E3E6EBFC24}" type="slidenum">
              <a:rPr lang="en-US" smtClean="0"/>
              <a:pPr/>
              <a:t>48</a:t>
            </a:fld>
            <a:endParaRPr lang="en-US"/>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58778148-B9A5-4946-8596-627AACA0D4FC}" type="datetime1">
              <a:rPr lang="en-US" smtClean="0"/>
              <a:t>8/20/2025</a:t>
            </a:fld>
            <a:endParaRPr lang="en-US"/>
          </a:p>
        </p:txBody>
      </p:sp>
    </p:spTree>
    <p:extLst>
      <p:ext uri="{BB962C8B-B14F-4D97-AF65-F5344CB8AC3E}">
        <p14:creationId xmlns:p14="http://schemas.microsoft.com/office/powerpoint/2010/main" val="11346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55140" y="1223517"/>
            <a:ext cx="8455660" cy="566822"/>
          </a:xfrm>
          <a:prstGeom prst="rect">
            <a:avLst/>
          </a:prstGeom>
        </p:spPr>
        <p:txBody>
          <a:bodyPr vert="horz" wrap="square" lIns="0" tIns="12700" rIns="0" bIns="0" rtlCol="0">
            <a:spAutoFit/>
          </a:bodyPr>
          <a:lstStyle/>
          <a:p>
            <a:pPr marL="12700">
              <a:spcBef>
                <a:spcPts val="100"/>
              </a:spcBef>
            </a:pPr>
            <a:r>
              <a:rPr sz="3600" b="1" i="1" u="sng" spc="-5" dirty="0">
                <a:uFill>
                  <a:solidFill>
                    <a:srgbClr val="000000"/>
                  </a:solidFill>
                </a:uFill>
                <a:latin typeface="Times New Roman" pitchFamily="18" charset="0"/>
                <a:cs typeface="Times New Roman" pitchFamily="18" charset="0"/>
              </a:rPr>
              <a:t>Miller </a:t>
            </a:r>
            <a:r>
              <a:rPr sz="3600" b="1" i="1" u="sng" spc="-210" dirty="0">
                <a:uFill>
                  <a:solidFill>
                    <a:srgbClr val="000000"/>
                  </a:solidFill>
                </a:uFill>
                <a:latin typeface="Times New Roman" pitchFamily="18" charset="0"/>
                <a:cs typeface="Times New Roman" pitchFamily="18" charset="0"/>
              </a:rPr>
              <a:t>– </a:t>
            </a:r>
            <a:r>
              <a:rPr sz="3600" b="1" i="1" u="sng" dirty="0">
                <a:uFill>
                  <a:solidFill>
                    <a:srgbClr val="000000"/>
                  </a:solidFill>
                </a:uFill>
                <a:latin typeface="Times New Roman" pitchFamily="18" charset="0"/>
                <a:cs typeface="Times New Roman" pitchFamily="18" charset="0"/>
              </a:rPr>
              <a:t>Orr Cash </a:t>
            </a:r>
            <a:r>
              <a:rPr sz="3600" b="1" i="1" u="sng" spc="-10" dirty="0">
                <a:uFill>
                  <a:solidFill>
                    <a:srgbClr val="000000"/>
                  </a:solidFill>
                </a:uFill>
                <a:latin typeface="Times New Roman" pitchFamily="18" charset="0"/>
                <a:cs typeface="Times New Roman" pitchFamily="18" charset="0"/>
              </a:rPr>
              <a:t>Management</a:t>
            </a:r>
            <a:r>
              <a:rPr sz="3600" b="1" i="1" u="sng" spc="-70" dirty="0">
                <a:uFill>
                  <a:solidFill>
                    <a:srgbClr val="000000"/>
                  </a:solidFill>
                </a:uFill>
                <a:latin typeface="Times New Roman" pitchFamily="18" charset="0"/>
                <a:cs typeface="Times New Roman" pitchFamily="18" charset="0"/>
              </a:rPr>
              <a:t> </a:t>
            </a:r>
            <a:r>
              <a:rPr sz="3600" b="1" i="1" u="sng" spc="-10" dirty="0">
                <a:uFill>
                  <a:solidFill>
                    <a:srgbClr val="000000"/>
                  </a:solidFill>
                </a:uFill>
                <a:latin typeface="Times New Roman" pitchFamily="18" charset="0"/>
                <a:cs typeface="Times New Roman" pitchFamily="18" charset="0"/>
              </a:rPr>
              <a:t>Model</a:t>
            </a:r>
            <a:endParaRPr sz="3600" u="sng">
              <a:latin typeface="Times New Roman" pitchFamily="18" charset="0"/>
              <a:cs typeface="Times New Roman" pitchFamily="18" charset="0"/>
            </a:endParaRPr>
          </a:p>
        </p:txBody>
      </p:sp>
      <p:grpSp>
        <p:nvGrpSpPr>
          <p:cNvPr id="4" name="object 4"/>
          <p:cNvGrpSpPr/>
          <p:nvPr/>
        </p:nvGrpSpPr>
        <p:grpSpPr>
          <a:xfrm>
            <a:off x="2660650" y="2355851"/>
            <a:ext cx="7175500" cy="3215005"/>
            <a:chOff x="1136650" y="2355850"/>
            <a:chExt cx="7175500" cy="3215005"/>
          </a:xfrm>
        </p:grpSpPr>
        <p:sp>
          <p:nvSpPr>
            <p:cNvPr id="5" name="object 5"/>
            <p:cNvSpPr/>
            <p:nvPr/>
          </p:nvSpPr>
          <p:spPr>
            <a:xfrm>
              <a:off x="1143000" y="2362200"/>
              <a:ext cx="7162800" cy="3202305"/>
            </a:xfrm>
            <a:custGeom>
              <a:avLst/>
              <a:gdLst/>
              <a:ahLst/>
              <a:cxnLst/>
              <a:rect l="l" t="t" r="r" b="b"/>
              <a:pathLst>
                <a:path w="7162800" h="3202304">
                  <a:moveTo>
                    <a:pt x="1587" y="0"/>
                  </a:moveTo>
                  <a:lnTo>
                    <a:pt x="0" y="3200400"/>
                  </a:lnTo>
                </a:path>
                <a:path w="7162800" h="3202304">
                  <a:moveTo>
                    <a:pt x="0" y="3200400"/>
                  </a:moveTo>
                  <a:lnTo>
                    <a:pt x="7162800" y="3202051"/>
                  </a:lnTo>
                </a:path>
                <a:path w="7162800" h="3202304">
                  <a:moveTo>
                    <a:pt x="0" y="1524000"/>
                  </a:moveTo>
                  <a:lnTo>
                    <a:pt x="6934200" y="1525651"/>
                  </a:lnTo>
                </a:path>
                <a:path w="7162800" h="3202304">
                  <a:moveTo>
                    <a:pt x="0" y="304800"/>
                  </a:moveTo>
                  <a:lnTo>
                    <a:pt x="6934200" y="306450"/>
                  </a:lnTo>
                </a:path>
              </a:pathLst>
            </a:custGeom>
            <a:ln w="12700">
              <a:solidFill>
                <a:srgbClr val="000000"/>
              </a:solidFill>
            </a:ln>
          </p:spPr>
          <p:txBody>
            <a:bodyPr wrap="square" lIns="0" tIns="0" rIns="0" bIns="0" rtlCol="0"/>
            <a:lstStyle/>
            <a:p>
              <a:endParaRPr/>
            </a:p>
          </p:txBody>
        </p:sp>
        <p:sp>
          <p:nvSpPr>
            <p:cNvPr id="6" name="object 6"/>
            <p:cNvSpPr/>
            <p:nvPr/>
          </p:nvSpPr>
          <p:spPr>
            <a:xfrm>
              <a:off x="4648200" y="2667000"/>
              <a:ext cx="1905" cy="1905"/>
            </a:xfrm>
            <a:custGeom>
              <a:avLst/>
              <a:gdLst/>
              <a:ahLst/>
              <a:cxnLst/>
              <a:rect l="l" t="t" r="r" b="b"/>
              <a:pathLst>
                <a:path w="1904" h="1905">
                  <a:moveTo>
                    <a:pt x="0" y="1650"/>
                  </a:moveTo>
                  <a:lnTo>
                    <a:pt x="1650" y="0"/>
                  </a:lnTo>
                </a:path>
              </a:pathLst>
            </a:custGeom>
            <a:ln w="12700">
              <a:solidFill>
                <a:srgbClr val="497DBA"/>
              </a:solidFill>
            </a:ln>
          </p:spPr>
          <p:txBody>
            <a:bodyPr wrap="square" lIns="0" tIns="0" rIns="0" bIns="0" rtlCol="0"/>
            <a:lstStyle/>
            <a:p>
              <a:endParaRPr/>
            </a:p>
          </p:txBody>
        </p:sp>
        <p:sp>
          <p:nvSpPr>
            <p:cNvPr id="7" name="object 7"/>
            <p:cNvSpPr/>
            <p:nvPr/>
          </p:nvSpPr>
          <p:spPr>
            <a:xfrm>
              <a:off x="1146873" y="2665729"/>
              <a:ext cx="6664325" cy="2898140"/>
            </a:xfrm>
            <a:custGeom>
              <a:avLst/>
              <a:gdLst/>
              <a:ahLst/>
              <a:cxnLst/>
              <a:rect l="l" t="t" r="r" b="b"/>
              <a:pathLst>
                <a:path w="6664325" h="2898140">
                  <a:moveTo>
                    <a:pt x="3471608" y="0"/>
                  </a:moveTo>
                  <a:lnTo>
                    <a:pt x="3501326" y="1220470"/>
                  </a:lnTo>
                </a:path>
                <a:path w="6664325" h="2898140">
                  <a:moveTo>
                    <a:pt x="3502596" y="1224407"/>
                  </a:moveTo>
                  <a:lnTo>
                    <a:pt x="3509617" y="1211927"/>
                  </a:lnTo>
                  <a:lnTo>
                    <a:pt x="3516090" y="1198959"/>
                  </a:lnTo>
                  <a:lnTo>
                    <a:pt x="3523563" y="1187063"/>
                  </a:lnTo>
                  <a:lnTo>
                    <a:pt x="3559790" y="1165669"/>
                  </a:lnTo>
                  <a:lnTo>
                    <a:pt x="3615916" y="1149223"/>
                  </a:lnTo>
                  <a:lnTo>
                    <a:pt x="3626548" y="1146810"/>
                  </a:lnTo>
                  <a:lnTo>
                    <a:pt x="3647694" y="1114015"/>
                  </a:lnTo>
                  <a:lnTo>
                    <a:pt x="3659562" y="1098363"/>
                  </a:lnTo>
                  <a:lnTo>
                    <a:pt x="3673265" y="1091360"/>
                  </a:lnTo>
                  <a:lnTo>
                    <a:pt x="3699915" y="1084517"/>
                  </a:lnTo>
                  <a:lnTo>
                    <a:pt x="3750627" y="1069340"/>
                  </a:lnTo>
                  <a:lnTo>
                    <a:pt x="3797109" y="1053846"/>
                  </a:lnTo>
                  <a:lnTo>
                    <a:pt x="3804433" y="1065805"/>
                  </a:lnTo>
                  <a:lnTo>
                    <a:pt x="3811508" y="1077991"/>
                  </a:lnTo>
                  <a:lnTo>
                    <a:pt x="3819130" y="1089725"/>
                  </a:lnTo>
                  <a:lnTo>
                    <a:pt x="3828097" y="1100328"/>
                  </a:lnTo>
                  <a:lnTo>
                    <a:pt x="3863629" y="1127412"/>
                  </a:lnTo>
                  <a:lnTo>
                    <a:pt x="3894899" y="1132982"/>
                  </a:lnTo>
                  <a:lnTo>
                    <a:pt x="3931503" y="1126099"/>
                  </a:lnTo>
                  <a:lnTo>
                    <a:pt x="3983037" y="1115822"/>
                  </a:lnTo>
                  <a:lnTo>
                    <a:pt x="3999811" y="1093188"/>
                  </a:lnTo>
                  <a:lnTo>
                    <a:pt x="4017406" y="1070959"/>
                  </a:lnTo>
                  <a:lnTo>
                    <a:pt x="4033311" y="1047920"/>
                  </a:lnTo>
                  <a:lnTo>
                    <a:pt x="4045013" y="1022858"/>
                  </a:lnTo>
                  <a:lnTo>
                    <a:pt x="4052972" y="997831"/>
                  </a:lnTo>
                  <a:lnTo>
                    <a:pt x="4061825" y="973232"/>
                  </a:lnTo>
                  <a:lnTo>
                    <a:pt x="4091495" y="929894"/>
                  </a:lnTo>
                  <a:lnTo>
                    <a:pt x="4148566" y="889714"/>
                  </a:lnTo>
                  <a:lnTo>
                    <a:pt x="4184586" y="867918"/>
                  </a:lnTo>
                  <a:lnTo>
                    <a:pt x="4231122" y="871321"/>
                  </a:lnTo>
                  <a:lnTo>
                    <a:pt x="4277693" y="874474"/>
                  </a:lnTo>
                  <a:lnTo>
                    <a:pt x="4324193" y="878222"/>
                  </a:lnTo>
                  <a:lnTo>
                    <a:pt x="4370514" y="883412"/>
                  </a:lnTo>
                  <a:lnTo>
                    <a:pt x="4419092" y="900414"/>
                  </a:lnTo>
                  <a:lnTo>
                    <a:pt x="4436379" y="913612"/>
                  </a:lnTo>
                  <a:lnTo>
                    <a:pt x="4463478" y="929894"/>
                  </a:lnTo>
                  <a:lnTo>
                    <a:pt x="4474723" y="934636"/>
                  </a:lnTo>
                  <a:lnTo>
                    <a:pt x="4486386" y="938403"/>
                  </a:lnTo>
                  <a:lnTo>
                    <a:pt x="4498214" y="941788"/>
                  </a:lnTo>
                  <a:lnTo>
                    <a:pt x="4509960" y="945388"/>
                  </a:lnTo>
                  <a:lnTo>
                    <a:pt x="4510845" y="970647"/>
                  </a:lnTo>
                  <a:lnTo>
                    <a:pt x="4509706" y="997251"/>
                  </a:lnTo>
                  <a:lnTo>
                    <a:pt x="4512567" y="1021165"/>
                  </a:lnTo>
                  <a:lnTo>
                    <a:pt x="4525454" y="1038352"/>
                  </a:lnTo>
                  <a:lnTo>
                    <a:pt x="4550564" y="1045610"/>
                  </a:lnTo>
                  <a:lnTo>
                    <a:pt x="4578223" y="1041844"/>
                  </a:lnTo>
                  <a:lnTo>
                    <a:pt x="4634039" y="1022858"/>
                  </a:lnTo>
                  <a:lnTo>
                    <a:pt x="4683664" y="988361"/>
                  </a:lnTo>
                  <a:lnTo>
                    <a:pt x="4703048" y="966154"/>
                  </a:lnTo>
                  <a:lnTo>
                    <a:pt x="4727003" y="945388"/>
                  </a:lnTo>
                  <a:lnTo>
                    <a:pt x="4748575" y="936992"/>
                  </a:lnTo>
                  <a:lnTo>
                    <a:pt x="4783089" y="927369"/>
                  </a:lnTo>
                  <a:lnTo>
                    <a:pt x="4816675" y="919009"/>
                  </a:lnTo>
                  <a:lnTo>
                    <a:pt x="4835461" y="914400"/>
                  </a:lnTo>
                  <a:lnTo>
                    <a:pt x="4866507" y="905154"/>
                  </a:lnTo>
                  <a:lnTo>
                    <a:pt x="4883896" y="897874"/>
                  </a:lnTo>
                  <a:lnTo>
                    <a:pt x="4900308" y="887235"/>
                  </a:lnTo>
                  <a:lnTo>
                    <a:pt x="4928425" y="867918"/>
                  </a:lnTo>
                  <a:lnTo>
                    <a:pt x="4932489" y="879484"/>
                  </a:lnTo>
                  <a:lnTo>
                    <a:pt x="4947019" y="934184"/>
                  </a:lnTo>
                  <a:lnTo>
                    <a:pt x="4948618" y="954468"/>
                  </a:lnTo>
                  <a:lnTo>
                    <a:pt x="4951741" y="974086"/>
                  </a:lnTo>
                  <a:lnTo>
                    <a:pt x="4959413" y="991870"/>
                  </a:lnTo>
                  <a:lnTo>
                    <a:pt x="4968355" y="999291"/>
                  </a:lnTo>
                  <a:lnTo>
                    <a:pt x="4980273" y="1002760"/>
                  </a:lnTo>
                  <a:lnTo>
                    <a:pt x="4993382" y="1004657"/>
                  </a:lnTo>
                  <a:lnTo>
                    <a:pt x="5005895" y="1007364"/>
                  </a:lnTo>
                  <a:lnTo>
                    <a:pt x="5014239" y="1030462"/>
                  </a:lnTo>
                  <a:lnTo>
                    <a:pt x="5022929" y="1053465"/>
                  </a:lnTo>
                  <a:lnTo>
                    <a:pt x="5030880" y="1076658"/>
                  </a:lnTo>
                  <a:lnTo>
                    <a:pt x="5037010" y="1100328"/>
                  </a:lnTo>
                  <a:lnTo>
                    <a:pt x="5040592" y="1119790"/>
                  </a:lnTo>
                  <a:lnTo>
                    <a:pt x="5044043" y="1139253"/>
                  </a:lnTo>
                  <a:lnTo>
                    <a:pt x="5047851" y="1158621"/>
                  </a:lnTo>
                  <a:lnTo>
                    <a:pt x="5052504" y="1177798"/>
                  </a:lnTo>
                  <a:lnTo>
                    <a:pt x="5057114" y="1203130"/>
                  </a:lnTo>
                  <a:lnTo>
                    <a:pt x="5060997" y="1229391"/>
                  </a:lnTo>
                  <a:lnTo>
                    <a:pt x="5068381" y="1253128"/>
                  </a:lnTo>
                  <a:lnTo>
                    <a:pt x="5083492" y="1270889"/>
                  </a:lnTo>
                  <a:lnTo>
                    <a:pt x="5129974" y="1301877"/>
                  </a:lnTo>
                  <a:lnTo>
                    <a:pt x="5176456" y="1441323"/>
                  </a:lnTo>
                  <a:lnTo>
                    <a:pt x="5180466" y="1452889"/>
                  </a:lnTo>
                  <a:lnTo>
                    <a:pt x="5184632" y="1464421"/>
                  </a:lnTo>
                  <a:lnTo>
                    <a:pt x="5188583" y="1476023"/>
                  </a:lnTo>
                  <a:lnTo>
                    <a:pt x="5191950" y="1487805"/>
                  </a:lnTo>
                  <a:lnTo>
                    <a:pt x="5195710" y="1503364"/>
                  </a:lnTo>
                  <a:lnTo>
                    <a:pt x="5199364" y="1518935"/>
                  </a:lnTo>
                  <a:lnTo>
                    <a:pt x="5203184" y="1534435"/>
                  </a:lnTo>
                  <a:lnTo>
                    <a:pt x="5207444" y="1549781"/>
                  </a:lnTo>
                  <a:lnTo>
                    <a:pt x="5212429" y="1575004"/>
                  </a:lnTo>
                  <a:lnTo>
                    <a:pt x="5216270" y="1601263"/>
                  </a:lnTo>
                  <a:lnTo>
                    <a:pt x="5223446" y="1625022"/>
                  </a:lnTo>
                  <a:lnTo>
                    <a:pt x="5238432" y="1642745"/>
                  </a:lnTo>
                  <a:lnTo>
                    <a:pt x="5331396" y="1704848"/>
                  </a:lnTo>
                  <a:lnTo>
                    <a:pt x="5335531" y="1724150"/>
                  </a:lnTo>
                  <a:lnTo>
                    <a:pt x="5343755" y="1762801"/>
                  </a:lnTo>
                  <a:lnTo>
                    <a:pt x="5349722" y="1821368"/>
                  </a:lnTo>
                  <a:lnTo>
                    <a:pt x="5350589" y="1860788"/>
                  </a:lnTo>
                  <a:lnTo>
                    <a:pt x="5353480" y="1899707"/>
                  </a:lnTo>
                  <a:lnTo>
                    <a:pt x="5362384" y="1937258"/>
                  </a:lnTo>
                  <a:lnTo>
                    <a:pt x="5369825" y="1945429"/>
                  </a:lnTo>
                  <a:lnTo>
                    <a:pt x="5381910" y="1948815"/>
                  </a:lnTo>
                  <a:lnTo>
                    <a:pt x="5395852" y="1950295"/>
                  </a:lnTo>
                  <a:lnTo>
                    <a:pt x="5408866" y="1952752"/>
                  </a:lnTo>
                  <a:lnTo>
                    <a:pt x="5417601" y="1975796"/>
                  </a:lnTo>
                  <a:lnTo>
                    <a:pt x="5426932" y="1998710"/>
                  </a:lnTo>
                  <a:lnTo>
                    <a:pt x="5434976" y="2021885"/>
                  </a:lnTo>
                  <a:lnTo>
                    <a:pt x="5439854" y="2045716"/>
                  </a:lnTo>
                  <a:lnTo>
                    <a:pt x="5440953" y="2081579"/>
                  </a:lnTo>
                  <a:lnTo>
                    <a:pt x="5440171" y="2118121"/>
                  </a:lnTo>
                  <a:lnTo>
                    <a:pt x="5443104" y="2153354"/>
                  </a:lnTo>
                  <a:lnTo>
                    <a:pt x="5477341" y="2201757"/>
                  </a:lnTo>
                  <a:lnTo>
                    <a:pt x="5536376" y="2215310"/>
                  </a:lnTo>
                  <a:lnTo>
                    <a:pt x="5548439" y="2216277"/>
                  </a:lnTo>
                  <a:lnTo>
                    <a:pt x="5543821" y="2266572"/>
                  </a:lnTo>
                  <a:lnTo>
                    <a:pt x="5538739" y="2316892"/>
                  </a:lnTo>
                  <a:lnTo>
                    <a:pt x="5534634" y="2367260"/>
                  </a:lnTo>
                  <a:lnTo>
                    <a:pt x="5532945" y="2417699"/>
                  </a:lnTo>
                  <a:lnTo>
                    <a:pt x="5534455" y="2437358"/>
                  </a:lnTo>
                  <a:lnTo>
                    <a:pt x="5543286" y="2476009"/>
                  </a:lnTo>
                  <a:lnTo>
                    <a:pt x="5560437" y="2532800"/>
                  </a:lnTo>
                  <a:lnTo>
                    <a:pt x="5578411" y="2573242"/>
                  </a:lnTo>
                  <a:lnTo>
                    <a:pt x="5600767" y="2609540"/>
                  </a:lnTo>
                  <a:lnTo>
                    <a:pt x="5672391" y="2665730"/>
                  </a:lnTo>
                  <a:lnTo>
                    <a:pt x="5676384" y="2677314"/>
                  </a:lnTo>
                  <a:lnTo>
                    <a:pt x="5691592" y="2727771"/>
                  </a:lnTo>
                  <a:lnTo>
                    <a:pt x="5694679" y="2743533"/>
                  </a:lnTo>
                  <a:lnTo>
                    <a:pt x="5698243" y="2759128"/>
                  </a:lnTo>
                  <a:lnTo>
                    <a:pt x="5703379" y="2774188"/>
                  </a:lnTo>
                  <a:lnTo>
                    <a:pt x="5710150" y="2786344"/>
                  </a:lnTo>
                  <a:lnTo>
                    <a:pt x="5718492" y="2797619"/>
                  </a:lnTo>
                  <a:lnTo>
                    <a:pt x="5727025" y="2808799"/>
                  </a:lnTo>
                  <a:lnTo>
                    <a:pt x="5734367" y="2820670"/>
                  </a:lnTo>
                  <a:lnTo>
                    <a:pt x="5748845" y="2853830"/>
                  </a:lnTo>
                  <a:lnTo>
                    <a:pt x="5750674" y="2865276"/>
                  </a:lnTo>
                  <a:lnTo>
                    <a:pt x="5749912" y="2867889"/>
                  </a:lnTo>
                  <a:lnTo>
                    <a:pt x="5756617" y="2874550"/>
                  </a:lnTo>
                  <a:lnTo>
                    <a:pt x="5780849" y="2898140"/>
                  </a:lnTo>
                </a:path>
                <a:path w="6664325" h="2898140">
                  <a:moveTo>
                    <a:pt x="5780849" y="2898140"/>
                  </a:moveTo>
                  <a:lnTo>
                    <a:pt x="5787326" y="1220470"/>
                  </a:lnTo>
                </a:path>
                <a:path w="6664325" h="2898140">
                  <a:moveTo>
                    <a:pt x="5780849" y="1224407"/>
                  </a:moveTo>
                  <a:lnTo>
                    <a:pt x="5811837" y="1131316"/>
                  </a:lnTo>
                  <a:lnTo>
                    <a:pt x="5814544" y="1118802"/>
                  </a:lnTo>
                  <a:lnTo>
                    <a:pt x="5816441" y="1105693"/>
                  </a:lnTo>
                  <a:lnTo>
                    <a:pt x="5819909" y="1093775"/>
                  </a:lnTo>
                  <a:lnTo>
                    <a:pt x="5827331" y="1084834"/>
                  </a:lnTo>
                  <a:lnTo>
                    <a:pt x="5849804" y="1067452"/>
                  </a:lnTo>
                  <a:lnTo>
                    <a:pt x="5871765" y="1048845"/>
                  </a:lnTo>
                  <a:lnTo>
                    <a:pt x="5894750" y="1032738"/>
                  </a:lnTo>
                  <a:lnTo>
                    <a:pt x="5920295" y="1022858"/>
                  </a:lnTo>
                  <a:lnTo>
                    <a:pt x="5964193" y="1014173"/>
                  </a:lnTo>
                  <a:lnTo>
                    <a:pt x="5986707" y="1009737"/>
                  </a:lnTo>
                  <a:lnTo>
                    <a:pt x="6001229" y="1006545"/>
                  </a:lnTo>
                  <a:lnTo>
                    <a:pt x="6021151" y="1001591"/>
                  </a:lnTo>
                  <a:lnTo>
                    <a:pt x="6059868" y="991870"/>
                  </a:lnTo>
                  <a:lnTo>
                    <a:pt x="6071935" y="984652"/>
                  </a:lnTo>
                  <a:lnTo>
                    <a:pt x="6084300" y="977757"/>
                  </a:lnTo>
                  <a:lnTo>
                    <a:pt x="6126374" y="934515"/>
                  </a:lnTo>
                  <a:lnTo>
                    <a:pt x="6162089" y="878496"/>
                  </a:lnTo>
                  <a:lnTo>
                    <a:pt x="6175073" y="844200"/>
                  </a:lnTo>
                  <a:lnTo>
                    <a:pt x="6178809" y="832520"/>
                  </a:lnTo>
                  <a:lnTo>
                    <a:pt x="6183820" y="821436"/>
                  </a:lnTo>
                  <a:lnTo>
                    <a:pt x="6198201" y="797478"/>
                  </a:lnTo>
                  <a:lnTo>
                    <a:pt x="6213808" y="774271"/>
                  </a:lnTo>
                  <a:lnTo>
                    <a:pt x="6229915" y="751373"/>
                  </a:lnTo>
                  <a:lnTo>
                    <a:pt x="6245796" y="728345"/>
                  </a:lnTo>
                  <a:lnTo>
                    <a:pt x="6253870" y="716903"/>
                  </a:lnTo>
                  <a:lnTo>
                    <a:pt x="6262100" y="705580"/>
                  </a:lnTo>
                  <a:lnTo>
                    <a:pt x="6269924" y="694019"/>
                  </a:lnTo>
                  <a:lnTo>
                    <a:pt x="6276784" y="681863"/>
                  </a:lnTo>
                  <a:lnTo>
                    <a:pt x="6284001" y="666035"/>
                  </a:lnTo>
                  <a:lnTo>
                    <a:pt x="6290802" y="649922"/>
                  </a:lnTo>
                  <a:lnTo>
                    <a:pt x="6298340" y="634285"/>
                  </a:lnTo>
                  <a:lnTo>
                    <a:pt x="6333890" y="590948"/>
                  </a:lnTo>
                  <a:lnTo>
                    <a:pt x="6364604" y="560593"/>
                  </a:lnTo>
                  <a:lnTo>
                    <a:pt x="6400863" y="526923"/>
                  </a:lnTo>
                  <a:lnTo>
                    <a:pt x="6447345" y="387477"/>
                  </a:lnTo>
                  <a:lnTo>
                    <a:pt x="6462839" y="340995"/>
                  </a:lnTo>
                  <a:lnTo>
                    <a:pt x="6466931" y="286353"/>
                  </a:lnTo>
                  <a:lnTo>
                    <a:pt x="6467720" y="250237"/>
                  </a:lnTo>
                  <a:lnTo>
                    <a:pt x="6472660" y="225936"/>
                  </a:lnTo>
                  <a:lnTo>
                    <a:pt x="6524815" y="185928"/>
                  </a:lnTo>
                  <a:lnTo>
                    <a:pt x="6559551" y="174033"/>
                  </a:lnTo>
                  <a:lnTo>
                    <a:pt x="6571297" y="170434"/>
                  </a:lnTo>
                  <a:lnTo>
                    <a:pt x="6588053" y="147800"/>
                  </a:lnTo>
                  <a:lnTo>
                    <a:pt x="6605619" y="125571"/>
                  </a:lnTo>
                  <a:lnTo>
                    <a:pt x="6621518" y="102532"/>
                  </a:lnTo>
                  <a:lnTo>
                    <a:pt x="6633273" y="77470"/>
                  </a:lnTo>
                  <a:lnTo>
                    <a:pt x="6641812" y="49033"/>
                  </a:lnTo>
                  <a:lnTo>
                    <a:pt x="6645290" y="36576"/>
                  </a:lnTo>
                  <a:lnTo>
                    <a:pt x="6650507" y="29071"/>
                  </a:lnTo>
                  <a:lnTo>
                    <a:pt x="6664261" y="15494"/>
                  </a:lnTo>
                </a:path>
                <a:path w="6664325" h="2898140">
                  <a:moveTo>
                    <a:pt x="0" y="1239901"/>
                  </a:moveTo>
                  <a:lnTo>
                    <a:pt x="23275" y="1236140"/>
                  </a:lnTo>
                  <a:lnTo>
                    <a:pt x="46566" y="1232487"/>
                  </a:lnTo>
                  <a:lnTo>
                    <a:pt x="69821" y="1228667"/>
                  </a:lnTo>
                  <a:lnTo>
                    <a:pt x="92989" y="1224407"/>
                  </a:lnTo>
                  <a:lnTo>
                    <a:pt x="108528" y="1220698"/>
                  </a:lnTo>
                  <a:lnTo>
                    <a:pt x="123925" y="1216358"/>
                  </a:lnTo>
                  <a:lnTo>
                    <a:pt x="139357" y="1212137"/>
                  </a:lnTo>
                  <a:lnTo>
                    <a:pt x="205254" y="1200693"/>
                  </a:lnTo>
                  <a:lnTo>
                    <a:pt x="260520" y="1193132"/>
                  </a:lnTo>
                  <a:lnTo>
                    <a:pt x="271841" y="1192299"/>
                  </a:lnTo>
                  <a:lnTo>
                    <a:pt x="276494" y="1192522"/>
                  </a:lnTo>
                  <a:lnTo>
                    <a:pt x="277629" y="1193117"/>
                  </a:lnTo>
                  <a:lnTo>
                    <a:pt x="278402" y="1193402"/>
                  </a:lnTo>
                  <a:lnTo>
                    <a:pt x="281966" y="1192695"/>
                  </a:lnTo>
                  <a:lnTo>
                    <a:pt x="291473" y="1190314"/>
                  </a:lnTo>
                  <a:lnTo>
                    <a:pt x="310077" y="1185575"/>
                  </a:lnTo>
                  <a:lnTo>
                    <a:pt x="340931" y="1177798"/>
                  </a:lnTo>
                  <a:lnTo>
                    <a:pt x="353016" y="1170598"/>
                  </a:lnTo>
                  <a:lnTo>
                    <a:pt x="365410" y="1163732"/>
                  </a:lnTo>
                  <a:lnTo>
                    <a:pt x="377186" y="1156152"/>
                  </a:lnTo>
                  <a:lnTo>
                    <a:pt x="387413" y="1146810"/>
                  </a:lnTo>
                  <a:lnTo>
                    <a:pt x="419685" y="1102975"/>
                  </a:lnTo>
                  <a:lnTo>
                    <a:pt x="437467" y="1071022"/>
                  </a:lnTo>
                  <a:lnTo>
                    <a:pt x="457368" y="1045975"/>
                  </a:lnTo>
                  <a:lnTo>
                    <a:pt x="495998" y="1022858"/>
                  </a:lnTo>
                  <a:lnTo>
                    <a:pt x="553672" y="1002411"/>
                  </a:lnTo>
                  <a:lnTo>
                    <a:pt x="588962" y="991870"/>
                  </a:lnTo>
                  <a:lnTo>
                    <a:pt x="620759" y="1012723"/>
                  </a:lnTo>
                  <a:lnTo>
                    <a:pt x="638348" y="1023750"/>
                  </a:lnTo>
                  <a:lnTo>
                    <a:pt x="644922" y="1027541"/>
                  </a:lnTo>
                  <a:lnTo>
                    <a:pt x="643678" y="1026692"/>
                  </a:lnTo>
                  <a:lnTo>
                    <a:pt x="637809" y="1023794"/>
                  </a:lnTo>
                  <a:lnTo>
                    <a:pt x="630512" y="1021441"/>
                  </a:lnTo>
                  <a:lnTo>
                    <a:pt x="624982" y="1022226"/>
                  </a:lnTo>
                  <a:lnTo>
                    <a:pt x="624412" y="1028742"/>
                  </a:lnTo>
                  <a:lnTo>
                    <a:pt x="631999" y="1043582"/>
                  </a:lnTo>
                  <a:lnTo>
                    <a:pt x="673957" y="1089443"/>
                  </a:lnTo>
                  <a:lnTo>
                    <a:pt x="730519" y="1109362"/>
                  </a:lnTo>
                  <a:lnTo>
                    <a:pt x="759396" y="1115822"/>
                  </a:lnTo>
                  <a:lnTo>
                    <a:pt x="783048" y="1113240"/>
                  </a:lnTo>
                  <a:lnTo>
                    <a:pt x="806973" y="1111456"/>
                  </a:lnTo>
                  <a:lnTo>
                    <a:pt x="852360" y="1100328"/>
                  </a:lnTo>
                  <a:lnTo>
                    <a:pt x="882173" y="1057513"/>
                  </a:lnTo>
                  <a:lnTo>
                    <a:pt x="890615" y="1030158"/>
                  </a:lnTo>
                  <a:lnTo>
                    <a:pt x="898842" y="1007364"/>
                  </a:lnTo>
                  <a:lnTo>
                    <a:pt x="917199" y="974113"/>
                  </a:lnTo>
                  <a:lnTo>
                    <a:pt x="929878" y="960913"/>
                  </a:lnTo>
                  <a:lnTo>
                    <a:pt x="946437" y="951571"/>
                  </a:lnTo>
                  <a:lnTo>
                    <a:pt x="976439" y="929894"/>
                  </a:lnTo>
                  <a:lnTo>
                    <a:pt x="1007955" y="901283"/>
                  </a:lnTo>
                  <a:lnTo>
                    <a:pt x="1019020" y="888034"/>
                  </a:lnTo>
                  <a:lnTo>
                    <a:pt x="1023622" y="882893"/>
                  </a:lnTo>
                  <a:lnTo>
                    <a:pt x="1035753" y="878606"/>
                  </a:lnTo>
                  <a:lnTo>
                    <a:pt x="1069403" y="867918"/>
                  </a:lnTo>
                  <a:lnTo>
                    <a:pt x="1096922" y="870392"/>
                  </a:lnTo>
                  <a:lnTo>
                    <a:pt x="1124680" y="871997"/>
                  </a:lnTo>
                  <a:lnTo>
                    <a:pt x="1177861" y="883412"/>
                  </a:lnTo>
                  <a:lnTo>
                    <a:pt x="1212722" y="943340"/>
                  </a:lnTo>
                  <a:lnTo>
                    <a:pt x="1220366" y="981370"/>
                  </a:lnTo>
                  <a:lnTo>
                    <a:pt x="1224343" y="1007364"/>
                  </a:lnTo>
                  <a:lnTo>
                    <a:pt x="1228175" y="1030605"/>
                  </a:lnTo>
                  <a:lnTo>
                    <a:pt x="1235362" y="1077229"/>
                  </a:lnTo>
                  <a:lnTo>
                    <a:pt x="1247251" y="1123711"/>
                  </a:lnTo>
                  <a:lnTo>
                    <a:pt x="1251535" y="1135207"/>
                  </a:lnTo>
                  <a:lnTo>
                    <a:pt x="1255331" y="1146810"/>
                  </a:lnTo>
                  <a:lnTo>
                    <a:pt x="1267297" y="1193262"/>
                  </a:lnTo>
                  <a:lnTo>
                    <a:pt x="1278334" y="1247632"/>
                  </a:lnTo>
                  <a:lnTo>
                    <a:pt x="1282023" y="1267061"/>
                  </a:lnTo>
                  <a:lnTo>
                    <a:pt x="1291828" y="1310671"/>
                  </a:lnTo>
                  <a:lnTo>
                    <a:pt x="1327717" y="1361963"/>
                  </a:lnTo>
                  <a:lnTo>
                    <a:pt x="1358455" y="1392301"/>
                  </a:lnTo>
                  <a:lnTo>
                    <a:pt x="1394904" y="1425829"/>
                  </a:lnTo>
                  <a:lnTo>
                    <a:pt x="1425892" y="1518793"/>
                  </a:lnTo>
                  <a:lnTo>
                    <a:pt x="1444307" y="1571132"/>
                  </a:lnTo>
                  <a:lnTo>
                    <a:pt x="1487868" y="1611757"/>
                  </a:lnTo>
                  <a:lnTo>
                    <a:pt x="1522462" y="1623972"/>
                  </a:lnTo>
                  <a:lnTo>
                    <a:pt x="1534350" y="1627251"/>
                  </a:lnTo>
                  <a:lnTo>
                    <a:pt x="1581820" y="1627796"/>
                  </a:lnTo>
                  <a:lnTo>
                    <a:pt x="1630475" y="1632039"/>
                  </a:lnTo>
                  <a:lnTo>
                    <a:pt x="1679130" y="1636268"/>
                  </a:lnTo>
                  <a:lnTo>
                    <a:pt x="1726600" y="1636771"/>
                  </a:lnTo>
                  <a:lnTo>
                    <a:pt x="1771699" y="1629838"/>
                  </a:lnTo>
                  <a:lnTo>
                    <a:pt x="1813242" y="1611757"/>
                  </a:lnTo>
                  <a:lnTo>
                    <a:pt x="1834626" y="1536017"/>
                  </a:lnTo>
                  <a:lnTo>
                    <a:pt x="1828119" y="1487187"/>
                  </a:lnTo>
                  <a:lnTo>
                    <a:pt x="1828863" y="1441323"/>
                  </a:lnTo>
                  <a:lnTo>
                    <a:pt x="1849973" y="1405122"/>
                  </a:lnTo>
                  <a:lnTo>
                    <a:pt x="1888237" y="1372308"/>
                  </a:lnTo>
                  <a:lnTo>
                    <a:pt x="1946630" y="1354675"/>
                  </a:lnTo>
                  <a:lnTo>
                    <a:pt x="1983803" y="1348359"/>
                  </a:lnTo>
                  <a:lnTo>
                    <a:pt x="2004945" y="1316846"/>
                  </a:lnTo>
                  <a:lnTo>
                    <a:pt x="2030285" y="1255395"/>
                  </a:lnTo>
                  <a:lnTo>
                    <a:pt x="2063781" y="1206468"/>
                  </a:lnTo>
                  <a:lnTo>
                    <a:pt x="2081649" y="1190422"/>
                  </a:lnTo>
                  <a:lnTo>
                    <a:pt x="2107755" y="1162304"/>
                  </a:lnTo>
                  <a:lnTo>
                    <a:pt x="2116187" y="1151219"/>
                  </a:lnTo>
                  <a:lnTo>
                    <a:pt x="2123868" y="1139539"/>
                  </a:lnTo>
                  <a:lnTo>
                    <a:pt x="2131240" y="1127621"/>
                  </a:lnTo>
                  <a:lnTo>
                    <a:pt x="2138743" y="1115822"/>
                  </a:lnTo>
                  <a:lnTo>
                    <a:pt x="2139684" y="1062740"/>
                  </a:lnTo>
                  <a:lnTo>
                    <a:pt x="2138436" y="1009225"/>
                  </a:lnTo>
                  <a:lnTo>
                    <a:pt x="2138268" y="955911"/>
                  </a:lnTo>
                  <a:lnTo>
                    <a:pt x="2142445" y="903433"/>
                  </a:lnTo>
                  <a:lnTo>
                    <a:pt x="2154237" y="852424"/>
                  </a:lnTo>
                  <a:lnTo>
                    <a:pt x="2213641" y="803783"/>
                  </a:lnTo>
                  <a:lnTo>
                    <a:pt x="2256571" y="787165"/>
                  </a:lnTo>
                  <a:lnTo>
                    <a:pt x="2293810" y="774954"/>
                  </a:lnTo>
                  <a:lnTo>
                    <a:pt x="2319158" y="757820"/>
                  </a:lnTo>
                  <a:lnTo>
                    <a:pt x="2333739" y="747905"/>
                  </a:lnTo>
                  <a:lnTo>
                    <a:pt x="2341027" y="743539"/>
                  </a:lnTo>
                  <a:lnTo>
                    <a:pt x="2344498" y="743057"/>
                  </a:lnTo>
                  <a:lnTo>
                    <a:pt x="2347626" y="744791"/>
                  </a:lnTo>
                  <a:lnTo>
                    <a:pt x="2353886" y="747073"/>
                  </a:lnTo>
                  <a:lnTo>
                    <a:pt x="2426204" y="740540"/>
                  </a:lnTo>
                  <a:lnTo>
                    <a:pt x="2479738" y="728345"/>
                  </a:lnTo>
                  <a:lnTo>
                    <a:pt x="2514260" y="704681"/>
                  </a:lnTo>
                  <a:lnTo>
                    <a:pt x="2526220" y="697357"/>
                  </a:lnTo>
                  <a:lnTo>
                    <a:pt x="2541279" y="692221"/>
                  </a:lnTo>
                  <a:lnTo>
                    <a:pt x="2556875" y="688657"/>
                  </a:lnTo>
                  <a:lnTo>
                    <a:pt x="2572637" y="685569"/>
                  </a:lnTo>
                  <a:lnTo>
                    <a:pt x="2588196" y="681863"/>
                  </a:lnTo>
                  <a:lnTo>
                    <a:pt x="2599924" y="678299"/>
                  </a:lnTo>
                  <a:lnTo>
                    <a:pt x="2611532" y="674401"/>
                  </a:lnTo>
                  <a:lnTo>
                    <a:pt x="2623093" y="670361"/>
                  </a:lnTo>
                  <a:lnTo>
                    <a:pt x="2634678" y="666369"/>
                  </a:lnTo>
                  <a:lnTo>
                    <a:pt x="2673365" y="608711"/>
                  </a:lnTo>
                  <a:lnTo>
                    <a:pt x="2695989" y="576964"/>
                  </a:lnTo>
                  <a:lnTo>
                    <a:pt x="2734643" y="549021"/>
                  </a:lnTo>
                  <a:lnTo>
                    <a:pt x="2747027" y="546481"/>
                  </a:lnTo>
                  <a:lnTo>
                    <a:pt x="2758757" y="542417"/>
                  </a:lnTo>
                  <a:lnTo>
                    <a:pt x="2770681" y="535217"/>
                  </a:lnTo>
                  <a:lnTo>
                    <a:pt x="2781950" y="526923"/>
                  </a:lnTo>
                  <a:lnTo>
                    <a:pt x="2793243" y="518628"/>
                  </a:lnTo>
                  <a:lnTo>
                    <a:pt x="2845996" y="497264"/>
                  </a:lnTo>
                  <a:lnTo>
                    <a:pt x="2892313" y="488981"/>
                  </a:lnTo>
                  <a:lnTo>
                    <a:pt x="2937702" y="484175"/>
                  </a:lnTo>
                  <a:lnTo>
                    <a:pt x="2975673" y="480441"/>
                  </a:lnTo>
                  <a:lnTo>
                    <a:pt x="2999416" y="444242"/>
                  </a:lnTo>
                  <a:lnTo>
                    <a:pt x="3022171" y="415544"/>
                  </a:lnTo>
                  <a:lnTo>
                    <a:pt x="3052665" y="392179"/>
                  </a:lnTo>
                  <a:lnTo>
                    <a:pt x="3099625" y="371983"/>
                  </a:lnTo>
                  <a:lnTo>
                    <a:pt x="3192589" y="340995"/>
                  </a:lnTo>
                  <a:lnTo>
                    <a:pt x="3195601" y="328801"/>
                  </a:lnTo>
                  <a:lnTo>
                    <a:pt x="3233826" y="273611"/>
                  </a:lnTo>
                  <a:lnTo>
                    <a:pt x="3290345" y="238396"/>
                  </a:lnTo>
                  <a:lnTo>
                    <a:pt x="3301174" y="232410"/>
                  </a:lnTo>
                  <a:lnTo>
                    <a:pt x="3363150" y="139446"/>
                  </a:lnTo>
                  <a:lnTo>
                    <a:pt x="3398980" y="85701"/>
                  </a:lnTo>
                  <a:lnTo>
                    <a:pt x="3417379" y="58102"/>
                  </a:lnTo>
                  <a:lnTo>
                    <a:pt x="3424158" y="47934"/>
                  </a:lnTo>
                  <a:lnTo>
                    <a:pt x="3425126" y="46482"/>
                  </a:lnTo>
                  <a:lnTo>
                    <a:pt x="3456114" y="15494"/>
                  </a:lnTo>
                </a:path>
              </a:pathLst>
            </a:custGeom>
            <a:ln w="12700">
              <a:solidFill>
                <a:srgbClr val="000000"/>
              </a:solidFill>
            </a:ln>
          </p:spPr>
          <p:txBody>
            <a:bodyPr wrap="square" lIns="0" tIns="0" rIns="0" bIns="0" rtlCol="0"/>
            <a:lstStyle/>
            <a:p>
              <a:endParaRPr/>
            </a:p>
          </p:txBody>
        </p:sp>
        <p:sp>
          <p:nvSpPr>
            <p:cNvPr id="8" name="object 8"/>
            <p:cNvSpPr/>
            <p:nvPr/>
          </p:nvSpPr>
          <p:spPr>
            <a:xfrm>
              <a:off x="1980057" y="3270377"/>
              <a:ext cx="1321435" cy="283210"/>
            </a:xfrm>
            <a:custGeom>
              <a:avLst/>
              <a:gdLst/>
              <a:ahLst/>
              <a:cxnLst/>
              <a:rect l="l" t="t" r="r" b="b"/>
              <a:pathLst>
                <a:path w="1321435" h="283210">
                  <a:moveTo>
                    <a:pt x="1284521" y="247492"/>
                  </a:moveTo>
                  <a:lnTo>
                    <a:pt x="1223645" y="269494"/>
                  </a:lnTo>
                  <a:lnTo>
                    <a:pt x="1220343" y="270763"/>
                  </a:lnTo>
                  <a:lnTo>
                    <a:pt x="1218565" y="274320"/>
                  </a:lnTo>
                  <a:lnTo>
                    <a:pt x="1219835" y="277622"/>
                  </a:lnTo>
                  <a:lnTo>
                    <a:pt x="1220978" y="280924"/>
                  </a:lnTo>
                  <a:lnTo>
                    <a:pt x="1224661" y="282701"/>
                  </a:lnTo>
                  <a:lnTo>
                    <a:pt x="1227963" y="281432"/>
                  </a:lnTo>
                  <a:lnTo>
                    <a:pt x="1310164" y="251713"/>
                  </a:lnTo>
                  <a:lnTo>
                    <a:pt x="1307592" y="251713"/>
                  </a:lnTo>
                  <a:lnTo>
                    <a:pt x="1284521" y="247492"/>
                  </a:lnTo>
                  <a:close/>
                </a:path>
                <a:path w="1321435" h="283210">
                  <a:moveTo>
                    <a:pt x="1296291" y="243238"/>
                  </a:moveTo>
                  <a:lnTo>
                    <a:pt x="1284521" y="247492"/>
                  </a:lnTo>
                  <a:lnTo>
                    <a:pt x="1307592" y="251713"/>
                  </a:lnTo>
                  <a:lnTo>
                    <a:pt x="1307848" y="250317"/>
                  </a:lnTo>
                  <a:lnTo>
                    <a:pt x="1304544" y="250317"/>
                  </a:lnTo>
                  <a:lnTo>
                    <a:pt x="1296291" y="243238"/>
                  </a:lnTo>
                  <a:close/>
                </a:path>
                <a:path w="1321435" h="283210">
                  <a:moveTo>
                    <a:pt x="1243203" y="180975"/>
                  </a:moveTo>
                  <a:lnTo>
                    <a:pt x="1239266" y="181228"/>
                  </a:lnTo>
                  <a:lnTo>
                    <a:pt x="1234694" y="186562"/>
                  </a:lnTo>
                  <a:lnTo>
                    <a:pt x="1234948" y="190626"/>
                  </a:lnTo>
                  <a:lnTo>
                    <a:pt x="1286720" y="235030"/>
                  </a:lnTo>
                  <a:lnTo>
                    <a:pt x="1309878" y="239268"/>
                  </a:lnTo>
                  <a:lnTo>
                    <a:pt x="1307592" y="251713"/>
                  </a:lnTo>
                  <a:lnTo>
                    <a:pt x="1310164" y="251713"/>
                  </a:lnTo>
                  <a:lnTo>
                    <a:pt x="1321054" y="247776"/>
                  </a:lnTo>
                  <a:lnTo>
                    <a:pt x="1243203" y="180975"/>
                  </a:lnTo>
                  <a:close/>
                </a:path>
                <a:path w="1321435" h="283210">
                  <a:moveTo>
                    <a:pt x="1306576" y="239522"/>
                  </a:moveTo>
                  <a:lnTo>
                    <a:pt x="1296291" y="243238"/>
                  </a:lnTo>
                  <a:lnTo>
                    <a:pt x="1304544" y="250317"/>
                  </a:lnTo>
                  <a:lnTo>
                    <a:pt x="1306576" y="239522"/>
                  </a:lnTo>
                  <a:close/>
                </a:path>
                <a:path w="1321435" h="283210">
                  <a:moveTo>
                    <a:pt x="1309831" y="239522"/>
                  </a:moveTo>
                  <a:lnTo>
                    <a:pt x="1306576" y="239522"/>
                  </a:lnTo>
                  <a:lnTo>
                    <a:pt x="1304544" y="250317"/>
                  </a:lnTo>
                  <a:lnTo>
                    <a:pt x="1307848" y="250317"/>
                  </a:lnTo>
                  <a:lnTo>
                    <a:pt x="1309831" y="239522"/>
                  </a:lnTo>
                  <a:close/>
                </a:path>
                <a:path w="1321435" h="283210">
                  <a:moveTo>
                    <a:pt x="2286" y="0"/>
                  </a:moveTo>
                  <a:lnTo>
                    <a:pt x="0" y="12446"/>
                  </a:lnTo>
                  <a:lnTo>
                    <a:pt x="1284521" y="247492"/>
                  </a:lnTo>
                  <a:lnTo>
                    <a:pt x="1296291" y="243238"/>
                  </a:lnTo>
                  <a:lnTo>
                    <a:pt x="1286720" y="235030"/>
                  </a:lnTo>
                  <a:lnTo>
                    <a:pt x="2286" y="0"/>
                  </a:lnTo>
                  <a:close/>
                </a:path>
                <a:path w="1321435" h="283210">
                  <a:moveTo>
                    <a:pt x="1286720" y="235030"/>
                  </a:moveTo>
                  <a:lnTo>
                    <a:pt x="1296291" y="243238"/>
                  </a:lnTo>
                  <a:lnTo>
                    <a:pt x="1306576" y="239522"/>
                  </a:lnTo>
                  <a:lnTo>
                    <a:pt x="1309831" y="239522"/>
                  </a:lnTo>
                  <a:lnTo>
                    <a:pt x="1309878" y="239268"/>
                  </a:lnTo>
                  <a:lnTo>
                    <a:pt x="1286720" y="235030"/>
                  </a:lnTo>
                  <a:close/>
                </a:path>
              </a:pathLst>
            </a:custGeom>
            <a:solidFill>
              <a:srgbClr val="000000"/>
            </a:solidFill>
          </p:spPr>
          <p:txBody>
            <a:bodyPr wrap="square" lIns="0" tIns="0" rIns="0" bIns="0" rtlCol="0"/>
            <a:lstStyle/>
            <a:p>
              <a:endParaRPr/>
            </a:p>
          </p:txBody>
        </p:sp>
      </p:grpSp>
      <p:sp>
        <p:nvSpPr>
          <p:cNvPr id="9" name="object 9"/>
          <p:cNvSpPr txBox="1"/>
          <p:nvPr/>
        </p:nvSpPr>
        <p:spPr>
          <a:xfrm>
            <a:off x="2674937" y="2273935"/>
            <a:ext cx="6422390" cy="1061720"/>
          </a:xfrm>
          <a:prstGeom prst="rect">
            <a:avLst/>
          </a:prstGeom>
        </p:spPr>
        <p:txBody>
          <a:bodyPr vert="horz" wrap="square" lIns="0" tIns="119380" rIns="0" bIns="0" rtlCol="0">
            <a:spAutoFit/>
          </a:bodyPr>
          <a:lstStyle/>
          <a:p>
            <a:pPr marL="2065020">
              <a:spcBef>
                <a:spcPts val="940"/>
              </a:spcBef>
            </a:pPr>
            <a:r>
              <a:rPr dirty="0">
                <a:latin typeface="Carlito"/>
                <a:cs typeface="Carlito"/>
              </a:rPr>
              <a:t>Upper </a:t>
            </a:r>
            <a:r>
              <a:rPr spc="-10" dirty="0">
                <a:latin typeface="Carlito"/>
                <a:cs typeface="Carlito"/>
              </a:rPr>
              <a:t>Control </a:t>
            </a:r>
            <a:r>
              <a:rPr spc="-5" dirty="0">
                <a:latin typeface="Carlito"/>
                <a:cs typeface="Carlito"/>
              </a:rPr>
              <a:t>Limit </a:t>
            </a:r>
            <a:r>
              <a:rPr dirty="0">
                <a:latin typeface="Carlito"/>
                <a:cs typeface="Carlito"/>
              </a:rPr>
              <a:t>: Buy</a:t>
            </a:r>
            <a:r>
              <a:rPr spc="5" dirty="0">
                <a:latin typeface="Carlito"/>
                <a:cs typeface="Carlito"/>
              </a:rPr>
              <a:t> </a:t>
            </a:r>
            <a:r>
              <a:rPr spc="-5" dirty="0">
                <a:latin typeface="Carlito"/>
                <a:cs typeface="Carlito"/>
              </a:rPr>
              <a:t>Security</a:t>
            </a:r>
            <a:endParaRPr>
              <a:latin typeface="Carlito"/>
              <a:cs typeface="Carlito"/>
            </a:endParaRPr>
          </a:p>
          <a:p>
            <a:pPr marL="83185" marR="5080">
              <a:spcBef>
                <a:spcPts val="840"/>
              </a:spcBef>
              <a:tabLst>
                <a:tab pos="4046220" algn="l"/>
              </a:tabLst>
            </a:pPr>
            <a:r>
              <a:rPr spc="-5" dirty="0">
                <a:latin typeface="Carlito"/>
                <a:cs typeface="Carlito"/>
              </a:rPr>
              <a:t>Curve</a:t>
            </a:r>
            <a:r>
              <a:rPr spc="5" dirty="0">
                <a:latin typeface="Carlito"/>
                <a:cs typeface="Carlito"/>
              </a:rPr>
              <a:t> </a:t>
            </a:r>
            <a:r>
              <a:rPr spc="-10" dirty="0">
                <a:latin typeface="Carlito"/>
                <a:cs typeface="Carlito"/>
              </a:rPr>
              <a:t>representing</a:t>
            </a:r>
            <a:r>
              <a:rPr spc="30" dirty="0">
                <a:latin typeface="Carlito"/>
                <a:cs typeface="Carlito"/>
              </a:rPr>
              <a:t> </a:t>
            </a:r>
            <a:r>
              <a:rPr spc="-5" dirty="0">
                <a:latin typeface="Carlito"/>
                <a:cs typeface="Carlito"/>
              </a:rPr>
              <a:t>Cash	</a:t>
            </a:r>
            <a:r>
              <a:rPr spc="-10" dirty="0">
                <a:latin typeface="Carlito"/>
                <a:cs typeface="Carlito"/>
              </a:rPr>
              <a:t>Purchase </a:t>
            </a:r>
            <a:r>
              <a:rPr spc="-15" dirty="0">
                <a:latin typeface="Carlito"/>
                <a:cs typeface="Carlito"/>
              </a:rPr>
              <a:t>Market </a:t>
            </a:r>
            <a:r>
              <a:rPr spc="-5" dirty="0">
                <a:latin typeface="Carlito"/>
                <a:cs typeface="Carlito"/>
              </a:rPr>
              <a:t>Security  </a:t>
            </a:r>
            <a:r>
              <a:rPr dirty="0">
                <a:latin typeface="Carlito"/>
                <a:cs typeface="Carlito"/>
              </a:rPr>
              <a:t>Balance</a:t>
            </a:r>
            <a:endParaRPr>
              <a:latin typeface="Carlito"/>
              <a:cs typeface="Carlito"/>
            </a:endParaRPr>
          </a:p>
        </p:txBody>
      </p:sp>
      <p:sp>
        <p:nvSpPr>
          <p:cNvPr id="10" name="object 10"/>
          <p:cNvSpPr/>
          <p:nvPr/>
        </p:nvSpPr>
        <p:spPr>
          <a:xfrm>
            <a:off x="6172200" y="2850261"/>
            <a:ext cx="457834" cy="103505"/>
          </a:xfrm>
          <a:custGeom>
            <a:avLst/>
            <a:gdLst/>
            <a:ahLst/>
            <a:cxnLst/>
            <a:rect l="l" t="t" r="r" b="b"/>
            <a:pathLst>
              <a:path w="457835" h="103505">
                <a:moveTo>
                  <a:pt x="92075" y="0"/>
                </a:moveTo>
                <a:lnTo>
                  <a:pt x="88900" y="1524"/>
                </a:lnTo>
                <a:lnTo>
                  <a:pt x="0" y="45338"/>
                </a:lnTo>
                <a:lnTo>
                  <a:pt x="81787" y="101218"/>
                </a:lnTo>
                <a:lnTo>
                  <a:pt x="84709" y="103124"/>
                </a:lnTo>
                <a:lnTo>
                  <a:pt x="88646" y="102362"/>
                </a:lnTo>
                <a:lnTo>
                  <a:pt x="90677" y="99440"/>
                </a:lnTo>
                <a:lnTo>
                  <a:pt x="92583" y="96647"/>
                </a:lnTo>
                <a:lnTo>
                  <a:pt x="91948" y="92710"/>
                </a:lnTo>
                <a:lnTo>
                  <a:pt x="89026" y="90677"/>
                </a:lnTo>
                <a:lnTo>
                  <a:pt x="35524" y="54233"/>
                </a:lnTo>
                <a:lnTo>
                  <a:pt x="12064" y="52577"/>
                </a:lnTo>
                <a:lnTo>
                  <a:pt x="12953" y="39877"/>
                </a:lnTo>
                <a:lnTo>
                  <a:pt x="39850" y="39877"/>
                </a:lnTo>
                <a:lnTo>
                  <a:pt x="94487" y="12953"/>
                </a:lnTo>
                <a:lnTo>
                  <a:pt x="97662" y="11429"/>
                </a:lnTo>
                <a:lnTo>
                  <a:pt x="98933" y="7619"/>
                </a:lnTo>
                <a:lnTo>
                  <a:pt x="95885" y="1269"/>
                </a:lnTo>
                <a:lnTo>
                  <a:pt x="92075" y="0"/>
                </a:lnTo>
                <a:close/>
              </a:path>
              <a:path w="457835" h="103505">
                <a:moveTo>
                  <a:pt x="36482" y="41537"/>
                </a:moveTo>
                <a:lnTo>
                  <a:pt x="25112" y="47140"/>
                </a:lnTo>
                <a:lnTo>
                  <a:pt x="35524" y="54233"/>
                </a:lnTo>
                <a:lnTo>
                  <a:pt x="456691" y="83947"/>
                </a:lnTo>
                <a:lnTo>
                  <a:pt x="457708" y="71247"/>
                </a:lnTo>
                <a:lnTo>
                  <a:pt x="36482" y="41537"/>
                </a:lnTo>
                <a:close/>
              </a:path>
              <a:path w="457835" h="103505">
                <a:moveTo>
                  <a:pt x="12953" y="39877"/>
                </a:moveTo>
                <a:lnTo>
                  <a:pt x="12064" y="52577"/>
                </a:lnTo>
                <a:lnTo>
                  <a:pt x="35524" y="54233"/>
                </a:lnTo>
                <a:lnTo>
                  <a:pt x="32162" y="51942"/>
                </a:lnTo>
                <a:lnTo>
                  <a:pt x="15366" y="51942"/>
                </a:lnTo>
                <a:lnTo>
                  <a:pt x="16128" y="41021"/>
                </a:lnTo>
                <a:lnTo>
                  <a:pt x="29159" y="41021"/>
                </a:lnTo>
                <a:lnTo>
                  <a:pt x="12953" y="39877"/>
                </a:lnTo>
                <a:close/>
              </a:path>
              <a:path w="457835" h="103505">
                <a:moveTo>
                  <a:pt x="16128" y="41021"/>
                </a:moveTo>
                <a:lnTo>
                  <a:pt x="15366" y="51942"/>
                </a:lnTo>
                <a:lnTo>
                  <a:pt x="25112" y="47140"/>
                </a:lnTo>
                <a:lnTo>
                  <a:pt x="16128" y="41021"/>
                </a:lnTo>
                <a:close/>
              </a:path>
              <a:path w="457835" h="103505">
                <a:moveTo>
                  <a:pt x="25112" y="47140"/>
                </a:moveTo>
                <a:lnTo>
                  <a:pt x="15366" y="51942"/>
                </a:lnTo>
                <a:lnTo>
                  <a:pt x="32162" y="51942"/>
                </a:lnTo>
                <a:lnTo>
                  <a:pt x="25112" y="47140"/>
                </a:lnTo>
                <a:close/>
              </a:path>
              <a:path w="457835" h="103505">
                <a:moveTo>
                  <a:pt x="29159" y="41021"/>
                </a:moveTo>
                <a:lnTo>
                  <a:pt x="16128" y="41021"/>
                </a:lnTo>
                <a:lnTo>
                  <a:pt x="25112" y="47140"/>
                </a:lnTo>
                <a:lnTo>
                  <a:pt x="36482" y="41537"/>
                </a:lnTo>
                <a:lnTo>
                  <a:pt x="29159" y="41021"/>
                </a:lnTo>
                <a:close/>
              </a:path>
              <a:path w="457835" h="103505">
                <a:moveTo>
                  <a:pt x="39850" y="39877"/>
                </a:moveTo>
                <a:lnTo>
                  <a:pt x="12953" y="39877"/>
                </a:lnTo>
                <a:lnTo>
                  <a:pt x="36482" y="41537"/>
                </a:lnTo>
                <a:lnTo>
                  <a:pt x="39850" y="39877"/>
                </a:lnTo>
                <a:close/>
              </a:path>
            </a:pathLst>
          </a:custGeom>
          <a:solidFill>
            <a:srgbClr val="000000"/>
          </a:solidFill>
        </p:spPr>
        <p:txBody>
          <a:bodyPr wrap="square" lIns="0" tIns="0" rIns="0" bIns="0" rtlCol="0"/>
          <a:lstStyle/>
          <a:p>
            <a:endParaRPr/>
          </a:p>
        </p:txBody>
      </p:sp>
      <p:sp>
        <p:nvSpPr>
          <p:cNvPr id="11" name="object 11"/>
          <p:cNvSpPr txBox="1"/>
          <p:nvPr/>
        </p:nvSpPr>
        <p:spPr>
          <a:xfrm>
            <a:off x="8614030" y="4819269"/>
            <a:ext cx="1356995" cy="574040"/>
          </a:xfrm>
          <a:prstGeom prst="rect">
            <a:avLst/>
          </a:prstGeom>
        </p:spPr>
        <p:txBody>
          <a:bodyPr vert="horz" wrap="square" lIns="0" tIns="12700" rIns="0" bIns="0" rtlCol="0">
            <a:spAutoFit/>
          </a:bodyPr>
          <a:lstStyle/>
          <a:p>
            <a:pPr marL="12700" marR="5080">
              <a:spcBef>
                <a:spcPts val="100"/>
              </a:spcBef>
            </a:pPr>
            <a:r>
              <a:rPr spc="-5" dirty="0">
                <a:latin typeface="Carlito"/>
                <a:cs typeface="Carlito"/>
              </a:rPr>
              <a:t>Sale of</a:t>
            </a:r>
            <a:r>
              <a:rPr spc="-80" dirty="0">
                <a:latin typeface="Carlito"/>
                <a:cs typeface="Carlito"/>
              </a:rPr>
              <a:t> </a:t>
            </a:r>
            <a:r>
              <a:rPr spc="-15" dirty="0">
                <a:latin typeface="Carlito"/>
                <a:cs typeface="Carlito"/>
              </a:rPr>
              <a:t>market  </a:t>
            </a:r>
            <a:r>
              <a:rPr spc="-5" dirty="0">
                <a:latin typeface="Carlito"/>
                <a:cs typeface="Carlito"/>
              </a:rPr>
              <a:t>security</a:t>
            </a:r>
            <a:endParaRPr>
              <a:latin typeface="Carlito"/>
              <a:cs typeface="Carlito"/>
            </a:endParaRPr>
          </a:p>
        </p:txBody>
      </p:sp>
      <p:grpSp>
        <p:nvGrpSpPr>
          <p:cNvPr id="12" name="object 12"/>
          <p:cNvGrpSpPr/>
          <p:nvPr/>
        </p:nvGrpSpPr>
        <p:grpSpPr>
          <a:xfrm>
            <a:off x="2614930" y="2319021"/>
            <a:ext cx="7291070" cy="3295015"/>
            <a:chOff x="1090930" y="2319020"/>
            <a:chExt cx="7291070" cy="3295015"/>
          </a:xfrm>
        </p:grpSpPr>
        <p:sp>
          <p:nvSpPr>
            <p:cNvPr id="13" name="object 13"/>
            <p:cNvSpPr/>
            <p:nvPr/>
          </p:nvSpPr>
          <p:spPr>
            <a:xfrm>
              <a:off x="6934200" y="4870196"/>
              <a:ext cx="155194" cy="93345"/>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1090930" y="2319020"/>
              <a:ext cx="103390" cy="120268"/>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8285098" y="5510657"/>
              <a:ext cx="96900" cy="103378"/>
            </a:xfrm>
            <a:prstGeom prst="rect">
              <a:avLst/>
            </a:prstGeom>
            <a:blipFill>
              <a:blip r:embed="rId4" cstate="print"/>
              <a:stretch>
                <a:fillRect/>
              </a:stretch>
            </a:blipFill>
          </p:spPr>
          <p:txBody>
            <a:bodyPr wrap="square" lIns="0" tIns="0" rIns="0" bIns="0" rtlCol="0"/>
            <a:lstStyle/>
            <a:p>
              <a:endParaRPr/>
            </a:p>
          </p:txBody>
        </p:sp>
      </p:grpSp>
      <p:sp>
        <p:nvSpPr>
          <p:cNvPr id="16" name="object 16"/>
          <p:cNvSpPr txBox="1"/>
          <p:nvPr/>
        </p:nvSpPr>
        <p:spPr>
          <a:xfrm>
            <a:off x="9757409" y="3599816"/>
            <a:ext cx="910591" cy="574675"/>
          </a:xfrm>
          <a:prstGeom prst="rect">
            <a:avLst/>
          </a:prstGeom>
        </p:spPr>
        <p:txBody>
          <a:bodyPr vert="horz" wrap="square" lIns="0" tIns="12700" rIns="0" bIns="0" rtlCol="0">
            <a:spAutoFit/>
          </a:bodyPr>
          <a:lstStyle/>
          <a:p>
            <a:pPr marL="12700" marR="5080">
              <a:spcBef>
                <a:spcPts val="100"/>
              </a:spcBef>
            </a:pPr>
            <a:r>
              <a:rPr spc="-45" dirty="0">
                <a:latin typeface="Carlito"/>
                <a:cs typeface="Carlito"/>
              </a:rPr>
              <a:t>R</a:t>
            </a:r>
            <a:r>
              <a:rPr spc="-10" dirty="0">
                <a:latin typeface="Carlito"/>
                <a:cs typeface="Carlito"/>
              </a:rPr>
              <a:t>e</a:t>
            </a:r>
            <a:r>
              <a:rPr dirty="0">
                <a:latin typeface="Carlito"/>
                <a:cs typeface="Carlito"/>
              </a:rPr>
              <a:t>turn  </a:t>
            </a:r>
            <a:r>
              <a:rPr spc="-15" dirty="0">
                <a:latin typeface="Carlito"/>
                <a:cs typeface="Carlito"/>
              </a:rPr>
              <a:t>Point</a:t>
            </a:r>
            <a:endParaRPr>
              <a:latin typeface="Carlito"/>
              <a:cs typeface="Carlito"/>
            </a:endParaRPr>
          </a:p>
        </p:txBody>
      </p:sp>
      <p:sp>
        <p:nvSpPr>
          <p:cNvPr id="17" name="object 17"/>
          <p:cNvSpPr txBox="1"/>
          <p:nvPr/>
        </p:nvSpPr>
        <p:spPr>
          <a:xfrm>
            <a:off x="4803775" y="5581599"/>
            <a:ext cx="3158490" cy="299720"/>
          </a:xfrm>
          <a:prstGeom prst="rect">
            <a:avLst/>
          </a:prstGeom>
        </p:spPr>
        <p:txBody>
          <a:bodyPr vert="horz" wrap="square" lIns="0" tIns="12700" rIns="0" bIns="0" rtlCol="0">
            <a:spAutoFit/>
          </a:bodyPr>
          <a:lstStyle/>
          <a:p>
            <a:pPr marL="12700">
              <a:spcBef>
                <a:spcPts val="100"/>
              </a:spcBef>
            </a:pPr>
            <a:r>
              <a:rPr spc="-10" dirty="0">
                <a:latin typeface="Carlito"/>
                <a:cs typeface="Carlito"/>
              </a:rPr>
              <a:t>Lower Control </a:t>
            </a:r>
            <a:r>
              <a:rPr spc="-5" dirty="0">
                <a:latin typeface="Carlito"/>
                <a:cs typeface="Carlito"/>
              </a:rPr>
              <a:t>Limit </a:t>
            </a:r>
            <a:r>
              <a:rPr dirty="0">
                <a:latin typeface="Carlito"/>
                <a:cs typeface="Carlito"/>
              </a:rPr>
              <a:t>: Buy</a:t>
            </a:r>
            <a:r>
              <a:rPr spc="-20" dirty="0">
                <a:latin typeface="Carlito"/>
                <a:cs typeface="Carlito"/>
              </a:rPr>
              <a:t> </a:t>
            </a:r>
            <a:r>
              <a:rPr spc="-5" dirty="0">
                <a:latin typeface="Carlito"/>
                <a:cs typeface="Carlito"/>
              </a:rPr>
              <a:t>Security</a:t>
            </a:r>
            <a:endParaRPr>
              <a:latin typeface="Carlito"/>
              <a:cs typeface="Carlito"/>
            </a:endParaRPr>
          </a:p>
        </p:txBody>
      </p:sp>
      <p:sp>
        <p:nvSpPr>
          <p:cNvPr id="18" name="object 18"/>
          <p:cNvSpPr txBox="1"/>
          <p:nvPr/>
        </p:nvSpPr>
        <p:spPr>
          <a:xfrm>
            <a:off x="1831340" y="2151712"/>
            <a:ext cx="683260" cy="289823"/>
          </a:xfrm>
          <a:prstGeom prst="rect">
            <a:avLst/>
          </a:prstGeom>
        </p:spPr>
        <p:txBody>
          <a:bodyPr vert="horz" wrap="square" lIns="0" tIns="12700" rIns="0" bIns="0" rtlCol="0">
            <a:spAutoFit/>
          </a:bodyPr>
          <a:lstStyle/>
          <a:p>
            <a:pPr marL="12700">
              <a:spcBef>
                <a:spcPts val="100"/>
              </a:spcBef>
            </a:pPr>
            <a:r>
              <a:rPr spc="-5" dirty="0">
                <a:latin typeface="Carlito"/>
                <a:cs typeface="Carlito"/>
              </a:rPr>
              <a:t>Cash</a:t>
            </a:r>
            <a:endParaRPr>
              <a:latin typeface="Carlito"/>
              <a:cs typeface="Carlito"/>
            </a:endParaRPr>
          </a:p>
        </p:txBody>
      </p:sp>
      <p:sp>
        <p:nvSpPr>
          <p:cNvPr id="19" name="object 19"/>
          <p:cNvSpPr txBox="1"/>
          <p:nvPr/>
        </p:nvSpPr>
        <p:spPr>
          <a:xfrm>
            <a:off x="2482697" y="2533015"/>
            <a:ext cx="146050" cy="299720"/>
          </a:xfrm>
          <a:prstGeom prst="rect">
            <a:avLst/>
          </a:prstGeom>
        </p:spPr>
        <p:txBody>
          <a:bodyPr vert="horz" wrap="square" lIns="0" tIns="12700" rIns="0" bIns="0" rtlCol="0">
            <a:spAutoFit/>
          </a:bodyPr>
          <a:lstStyle/>
          <a:p>
            <a:pPr marL="12700">
              <a:spcBef>
                <a:spcPts val="100"/>
              </a:spcBef>
            </a:pPr>
            <a:r>
              <a:rPr dirty="0">
                <a:latin typeface="Carlito"/>
                <a:cs typeface="Carlito"/>
              </a:rPr>
              <a:t>h</a:t>
            </a:r>
            <a:endParaRPr>
              <a:latin typeface="Carlito"/>
              <a:cs typeface="Carlito"/>
            </a:endParaRPr>
          </a:p>
        </p:txBody>
      </p:sp>
      <p:sp>
        <p:nvSpPr>
          <p:cNvPr id="20" name="object 20"/>
          <p:cNvSpPr txBox="1"/>
          <p:nvPr/>
        </p:nvSpPr>
        <p:spPr>
          <a:xfrm>
            <a:off x="2482698" y="3752165"/>
            <a:ext cx="132715" cy="300355"/>
          </a:xfrm>
          <a:prstGeom prst="rect">
            <a:avLst/>
          </a:prstGeom>
        </p:spPr>
        <p:txBody>
          <a:bodyPr vert="horz" wrap="square" lIns="0" tIns="12700" rIns="0" bIns="0" rtlCol="0">
            <a:spAutoFit/>
          </a:bodyPr>
          <a:lstStyle/>
          <a:p>
            <a:pPr marL="12700">
              <a:spcBef>
                <a:spcPts val="100"/>
              </a:spcBef>
            </a:pPr>
            <a:r>
              <a:rPr dirty="0">
                <a:latin typeface="Carlito"/>
                <a:cs typeface="Carlito"/>
              </a:rPr>
              <a:t>Z</a:t>
            </a:r>
            <a:endParaRPr>
              <a:latin typeface="Carlito"/>
              <a:cs typeface="Carlito"/>
            </a:endParaRPr>
          </a:p>
        </p:txBody>
      </p:sp>
      <p:sp>
        <p:nvSpPr>
          <p:cNvPr id="21" name="object 21"/>
          <p:cNvSpPr txBox="1"/>
          <p:nvPr/>
        </p:nvSpPr>
        <p:spPr>
          <a:xfrm>
            <a:off x="2482698" y="5352695"/>
            <a:ext cx="177165" cy="300355"/>
          </a:xfrm>
          <a:prstGeom prst="rect">
            <a:avLst/>
          </a:prstGeom>
        </p:spPr>
        <p:txBody>
          <a:bodyPr vert="horz" wrap="square" lIns="0" tIns="12700" rIns="0" bIns="0" rtlCol="0">
            <a:spAutoFit/>
          </a:bodyPr>
          <a:lstStyle/>
          <a:p>
            <a:pPr marL="12700">
              <a:spcBef>
                <a:spcPts val="100"/>
              </a:spcBef>
            </a:pPr>
            <a:r>
              <a:rPr dirty="0">
                <a:latin typeface="Carlito"/>
                <a:cs typeface="Carlito"/>
              </a:rPr>
              <a:t>O</a:t>
            </a:r>
            <a:endParaRPr>
              <a:latin typeface="Carlito"/>
              <a:cs typeface="Carlito"/>
            </a:endParaRPr>
          </a:p>
        </p:txBody>
      </p:sp>
      <p:sp>
        <p:nvSpPr>
          <p:cNvPr id="22" name="Title 1"/>
          <p:cNvSpPr txBox="1">
            <a:spLocks/>
          </p:cNvSpPr>
          <p:nvPr/>
        </p:nvSpPr>
        <p:spPr>
          <a:xfrm>
            <a:off x="1831340" y="0"/>
            <a:ext cx="10360660" cy="66809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t>M. </a:t>
            </a:r>
            <a:r>
              <a:rPr lang="en-US" sz="2800" spc="-254" dirty="0"/>
              <a:t>H. </a:t>
            </a:r>
            <a:r>
              <a:rPr lang="en-US" sz="2800" spc="-5" dirty="0"/>
              <a:t>Miller </a:t>
            </a:r>
            <a:r>
              <a:rPr lang="en-US" sz="2800" spc="-190" dirty="0"/>
              <a:t>and </a:t>
            </a:r>
            <a:r>
              <a:rPr lang="en-US" sz="2800" spc="-180" dirty="0"/>
              <a:t>Daniel</a:t>
            </a:r>
            <a:r>
              <a:rPr lang="en-US" sz="2800" spc="-645" dirty="0"/>
              <a:t> </a:t>
            </a:r>
            <a:r>
              <a:rPr lang="en-US" sz="2800" spc="-155" dirty="0"/>
              <a:t>Orr’s  </a:t>
            </a:r>
            <a:r>
              <a:rPr lang="en-US" sz="2800" spc="-10" dirty="0">
                <a:cs typeface="Carlito"/>
              </a:rPr>
              <a:t>Stochastic</a:t>
            </a:r>
            <a:r>
              <a:rPr lang="en-US" sz="2800" spc="-50" dirty="0">
                <a:cs typeface="Carlito"/>
              </a:rPr>
              <a:t> </a:t>
            </a:r>
            <a:r>
              <a:rPr lang="en-US" sz="2800" dirty="0">
                <a:cs typeface="Carlito"/>
              </a:rPr>
              <a:t>Model</a:t>
            </a:r>
            <a:endParaRPr lang="en-IN" sz="2800" b="1" dirty="0"/>
          </a:p>
        </p:txBody>
      </p:sp>
      <p:sp>
        <p:nvSpPr>
          <p:cNvPr id="23" name="Slide Number Placeholder 22"/>
          <p:cNvSpPr>
            <a:spLocks noGrp="1"/>
          </p:cNvSpPr>
          <p:nvPr>
            <p:ph type="sldNum" sz="quarter" idx="12"/>
          </p:nvPr>
        </p:nvSpPr>
        <p:spPr/>
        <p:txBody>
          <a:bodyPr/>
          <a:lstStyle/>
          <a:p>
            <a:fld id="{426DE8D6-7EB9-433F-B86C-27E3E6EBFC24}" type="slidenum">
              <a:rPr lang="en-US" smtClean="0"/>
              <a:pPr/>
              <a:t>49</a:t>
            </a:fld>
            <a:endParaRPr lang="en-US"/>
          </a:p>
        </p:txBody>
      </p:sp>
      <p:sp>
        <p:nvSpPr>
          <p:cNvPr id="25" name="Footer Placeholder 24"/>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0AF86B65-CC70-4446-A5BE-A6F2178159BE}" type="datetime1">
              <a:rPr lang="en-US" smtClean="0"/>
              <a:t>8/20/2025</a:t>
            </a:fld>
            <a:endParaRPr lang="en-US"/>
          </a:p>
        </p:txBody>
      </p:sp>
    </p:spTree>
    <p:extLst>
      <p:ext uri="{BB962C8B-B14F-4D97-AF65-F5344CB8AC3E}">
        <p14:creationId xmlns:p14="http://schemas.microsoft.com/office/powerpoint/2010/main" val="40321939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txBox="1">
            <a:spLocks/>
          </p:cNvSpPr>
          <p:nvPr/>
        </p:nvSpPr>
        <p:spPr>
          <a:xfrm>
            <a:off x="1828800" y="0"/>
            <a:ext cx="103632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t>M. </a:t>
            </a:r>
            <a:r>
              <a:rPr lang="en-US" sz="2800" spc="-254" dirty="0"/>
              <a:t>H. </a:t>
            </a:r>
            <a:r>
              <a:rPr lang="en-US" sz="2800" spc="-5" dirty="0"/>
              <a:t>Miller </a:t>
            </a:r>
            <a:r>
              <a:rPr lang="en-US" sz="2800" spc="-190" dirty="0"/>
              <a:t>and </a:t>
            </a:r>
            <a:r>
              <a:rPr lang="en-US" sz="2800" spc="-180" dirty="0"/>
              <a:t>Daniel</a:t>
            </a:r>
            <a:r>
              <a:rPr lang="en-US" sz="2800" spc="-645" dirty="0"/>
              <a:t> </a:t>
            </a:r>
            <a:r>
              <a:rPr lang="en-US" sz="2800" spc="-155" dirty="0"/>
              <a:t>Orr’s  </a:t>
            </a:r>
            <a:r>
              <a:rPr lang="en-US" sz="2800" spc="-10" dirty="0">
                <a:cs typeface="Carlito"/>
              </a:rPr>
              <a:t>Stochastic</a:t>
            </a:r>
            <a:r>
              <a:rPr lang="en-US" sz="2800" spc="-50" dirty="0">
                <a:cs typeface="Carlito"/>
              </a:rPr>
              <a:t> </a:t>
            </a:r>
            <a:r>
              <a:rPr lang="en-US" sz="2800" dirty="0">
                <a:cs typeface="Carlito"/>
              </a:rPr>
              <a:t>Model</a:t>
            </a:r>
            <a:endParaRPr lang="en-IN" sz="2800" b="1" dirty="0"/>
          </a:p>
        </p:txBody>
      </p:sp>
      <p:sp>
        <p:nvSpPr>
          <p:cNvPr id="24" name="Rectangle 23"/>
          <p:cNvSpPr/>
          <p:nvPr/>
        </p:nvSpPr>
        <p:spPr>
          <a:xfrm>
            <a:off x="381000" y="1066800"/>
            <a:ext cx="11582400" cy="1957972"/>
          </a:xfrm>
          <a:prstGeom prst="rect">
            <a:avLst/>
          </a:prstGeom>
        </p:spPr>
        <p:txBody>
          <a:bodyPr wrap="square">
            <a:spAutoFit/>
          </a:bodyPr>
          <a:lstStyle/>
          <a:p>
            <a:pPr marL="12700">
              <a:spcBef>
                <a:spcPts val="480"/>
              </a:spcBef>
            </a:pPr>
            <a:r>
              <a:rPr lang="en-US" b="1" i="1" u="sng" dirty="0">
                <a:uFill>
                  <a:solidFill>
                    <a:srgbClr val="000000"/>
                  </a:solidFill>
                </a:uFill>
                <a:latin typeface="+mj-lt"/>
                <a:cs typeface="Carlito"/>
              </a:rPr>
              <a:t>Explanation </a:t>
            </a:r>
            <a:r>
              <a:rPr lang="en-US" b="1" i="1" u="sng" spc="-15" dirty="0">
                <a:uFill>
                  <a:solidFill>
                    <a:srgbClr val="000000"/>
                  </a:solidFill>
                </a:uFill>
                <a:latin typeface="+mj-lt"/>
                <a:cs typeface="Carlito"/>
              </a:rPr>
              <a:t>For </a:t>
            </a:r>
            <a:r>
              <a:rPr lang="en-US" b="1" i="1" u="sng" dirty="0">
                <a:uFill>
                  <a:solidFill>
                    <a:srgbClr val="000000"/>
                  </a:solidFill>
                </a:uFill>
                <a:latin typeface="+mj-lt"/>
                <a:cs typeface="Carlito"/>
              </a:rPr>
              <a:t>the</a:t>
            </a:r>
            <a:r>
              <a:rPr lang="en-US" b="1" i="1" u="sng" spc="-45" dirty="0">
                <a:uFill>
                  <a:solidFill>
                    <a:srgbClr val="000000"/>
                  </a:solidFill>
                </a:uFill>
                <a:latin typeface="+mj-lt"/>
                <a:cs typeface="Carlito"/>
              </a:rPr>
              <a:t> </a:t>
            </a:r>
            <a:r>
              <a:rPr lang="en-US" b="1" i="1" u="sng" spc="-5" dirty="0">
                <a:uFill>
                  <a:solidFill>
                    <a:srgbClr val="000000"/>
                  </a:solidFill>
                </a:uFill>
                <a:latin typeface="+mj-lt"/>
                <a:cs typeface="Carlito"/>
              </a:rPr>
              <a:t>Diagram</a:t>
            </a:r>
            <a:endParaRPr lang="en-US" u="sng" dirty="0">
              <a:latin typeface="+mj-lt"/>
              <a:cs typeface="Carlito"/>
            </a:endParaRPr>
          </a:p>
          <a:p>
            <a:pPr marL="355600" marR="5080" indent="-342900">
              <a:lnSpc>
                <a:spcPts val="3460"/>
              </a:lnSpc>
              <a:spcBef>
                <a:spcPts val="819"/>
              </a:spcBef>
              <a:buFont typeface="Arial"/>
              <a:buChar char="•"/>
              <a:tabLst>
                <a:tab pos="354965" algn="l"/>
                <a:tab pos="355600" algn="l"/>
              </a:tabLst>
            </a:pPr>
            <a:r>
              <a:rPr lang="en-US" spc="-5" dirty="0">
                <a:latin typeface="+mj-lt"/>
                <a:cs typeface="Carlito"/>
              </a:rPr>
              <a:t>Along </a:t>
            </a:r>
            <a:r>
              <a:rPr lang="en-US" dirty="0">
                <a:latin typeface="+mj-lt"/>
                <a:cs typeface="Carlito"/>
              </a:rPr>
              <a:t>with a </a:t>
            </a:r>
            <a:r>
              <a:rPr lang="en-US" spc="-10" dirty="0">
                <a:latin typeface="+mj-lt"/>
                <a:cs typeface="Carlito"/>
              </a:rPr>
              <a:t>return point </a:t>
            </a:r>
            <a:r>
              <a:rPr lang="en-US" dirty="0">
                <a:latin typeface="+mj-lt"/>
                <a:cs typeface="Carlito"/>
              </a:rPr>
              <a:t>when the </a:t>
            </a:r>
            <a:r>
              <a:rPr lang="en-US" spc="-5" dirty="0">
                <a:latin typeface="+mj-lt"/>
                <a:cs typeface="Carlito"/>
              </a:rPr>
              <a:t>cash  balance </a:t>
            </a:r>
            <a:r>
              <a:rPr lang="en-US" spc="-10" dirty="0">
                <a:latin typeface="+mj-lt"/>
                <a:cs typeface="Carlito"/>
              </a:rPr>
              <a:t>touches </a:t>
            </a:r>
            <a:r>
              <a:rPr lang="en-US" dirty="0">
                <a:latin typeface="+mj-lt"/>
                <a:cs typeface="Carlito"/>
              </a:rPr>
              <a:t>the </a:t>
            </a:r>
            <a:r>
              <a:rPr lang="en-US" spc="-5" dirty="0">
                <a:latin typeface="+mj-lt"/>
                <a:cs typeface="Carlito"/>
              </a:rPr>
              <a:t>upper </a:t>
            </a:r>
            <a:r>
              <a:rPr lang="en-US" spc="-15" dirty="0">
                <a:latin typeface="+mj-lt"/>
                <a:cs typeface="Carlito"/>
              </a:rPr>
              <a:t>Control </a:t>
            </a:r>
            <a:r>
              <a:rPr lang="en-US" spc="-5" dirty="0">
                <a:latin typeface="+mj-lt"/>
                <a:cs typeface="Carlito"/>
              </a:rPr>
              <a:t>limit (h),  </a:t>
            </a:r>
            <a:r>
              <a:rPr lang="en-US" dirty="0">
                <a:latin typeface="+mj-lt"/>
                <a:cs typeface="Carlito"/>
              </a:rPr>
              <a:t>the </a:t>
            </a:r>
            <a:r>
              <a:rPr lang="en-US" spc="-20" dirty="0">
                <a:latin typeface="+mj-lt"/>
                <a:cs typeface="Carlito"/>
              </a:rPr>
              <a:t>marketable </a:t>
            </a:r>
            <a:r>
              <a:rPr lang="en-US" spc="-5" dirty="0">
                <a:latin typeface="+mj-lt"/>
                <a:cs typeface="Carlito"/>
              </a:rPr>
              <a:t>security </a:t>
            </a:r>
            <a:r>
              <a:rPr lang="en-US" spc="-10" dirty="0">
                <a:latin typeface="+mj-lt"/>
                <a:cs typeface="Carlito"/>
              </a:rPr>
              <a:t>is purchased </a:t>
            </a:r>
            <a:r>
              <a:rPr lang="en-US" spc="-25" dirty="0">
                <a:latin typeface="+mj-lt"/>
                <a:cs typeface="Carlito"/>
              </a:rPr>
              <a:t>to </a:t>
            </a:r>
            <a:r>
              <a:rPr lang="en-US" dirty="0">
                <a:latin typeface="+mj-lt"/>
                <a:cs typeface="Carlito"/>
              </a:rPr>
              <a:t>the  </a:t>
            </a:r>
            <a:r>
              <a:rPr lang="en-US" spc="-15" dirty="0">
                <a:latin typeface="+mj-lt"/>
                <a:cs typeface="Carlito"/>
              </a:rPr>
              <a:t>extend </a:t>
            </a:r>
            <a:r>
              <a:rPr lang="en-US" spc="-5" dirty="0">
                <a:latin typeface="+mj-lt"/>
                <a:cs typeface="Carlito"/>
              </a:rPr>
              <a:t>till </a:t>
            </a:r>
            <a:r>
              <a:rPr lang="en-US" dirty="0">
                <a:latin typeface="+mj-lt"/>
                <a:cs typeface="Carlito"/>
              </a:rPr>
              <a:t>it </a:t>
            </a:r>
            <a:r>
              <a:rPr lang="en-US" spc="-5" dirty="0">
                <a:latin typeface="+mj-lt"/>
                <a:cs typeface="Carlito"/>
              </a:rPr>
              <a:t>reaches normal cash balance</a:t>
            </a:r>
            <a:r>
              <a:rPr lang="en-US" spc="15" dirty="0">
                <a:latin typeface="+mj-lt"/>
                <a:cs typeface="Carlito"/>
              </a:rPr>
              <a:t> </a:t>
            </a:r>
            <a:r>
              <a:rPr lang="en-US" spc="-5" dirty="0">
                <a:latin typeface="+mj-lt"/>
                <a:cs typeface="Carlito"/>
              </a:rPr>
              <a:t>(Z)</a:t>
            </a:r>
            <a:endParaRPr lang="en-US" dirty="0">
              <a:latin typeface="+mj-lt"/>
              <a:cs typeface="Carlito"/>
            </a:endParaRPr>
          </a:p>
          <a:p>
            <a:pPr marL="355600" marR="66675" indent="-342900">
              <a:lnSpc>
                <a:spcPct val="90000"/>
              </a:lnSpc>
              <a:spcBef>
                <a:spcPts val="705"/>
              </a:spcBef>
              <a:buFont typeface="Arial"/>
              <a:buChar char="•"/>
              <a:tabLst>
                <a:tab pos="354965" algn="l"/>
                <a:tab pos="355600" algn="l"/>
              </a:tabLst>
            </a:pPr>
            <a:r>
              <a:rPr lang="en-US" dirty="0">
                <a:latin typeface="+mj-lt"/>
                <a:cs typeface="Carlito"/>
              </a:rPr>
              <a:t>In the </a:t>
            </a:r>
            <a:r>
              <a:rPr lang="en-US" spc="-5" dirty="0">
                <a:latin typeface="+mj-lt"/>
                <a:cs typeface="Carlito"/>
              </a:rPr>
              <a:t>same manner </a:t>
            </a:r>
            <a:r>
              <a:rPr lang="en-US" dirty="0">
                <a:latin typeface="+mj-lt"/>
                <a:cs typeface="Carlito"/>
              </a:rPr>
              <a:t>when </a:t>
            </a:r>
            <a:r>
              <a:rPr lang="en-US" spc="-5" dirty="0">
                <a:latin typeface="+mj-lt"/>
                <a:cs typeface="Carlito"/>
              </a:rPr>
              <a:t>the cash balance  </a:t>
            </a:r>
            <a:r>
              <a:rPr lang="en-US" spc="-10" dirty="0">
                <a:latin typeface="+mj-lt"/>
                <a:cs typeface="Carlito"/>
              </a:rPr>
              <a:t>touches lower </a:t>
            </a:r>
            <a:r>
              <a:rPr lang="en-US" spc="-5" dirty="0">
                <a:latin typeface="+mj-lt"/>
                <a:cs typeface="Carlito"/>
              </a:rPr>
              <a:t>limit (o), </a:t>
            </a:r>
            <a:r>
              <a:rPr lang="en-US" dirty="0">
                <a:latin typeface="+mj-lt"/>
                <a:cs typeface="Carlito"/>
              </a:rPr>
              <a:t>the </a:t>
            </a:r>
            <a:r>
              <a:rPr lang="en-US" spc="-5" dirty="0">
                <a:latin typeface="+mj-lt"/>
                <a:cs typeface="Carlito"/>
              </a:rPr>
              <a:t>firm </a:t>
            </a:r>
            <a:r>
              <a:rPr lang="en-US" dirty="0">
                <a:latin typeface="+mj-lt"/>
                <a:cs typeface="Carlito"/>
              </a:rPr>
              <a:t>Will </a:t>
            </a:r>
            <a:r>
              <a:rPr lang="en-US" spc="-5" dirty="0">
                <a:latin typeface="+mj-lt"/>
                <a:cs typeface="Carlito"/>
              </a:rPr>
              <a:t>Sell </a:t>
            </a:r>
            <a:r>
              <a:rPr lang="en-US" spc="-10" dirty="0">
                <a:latin typeface="+mj-lt"/>
                <a:cs typeface="Carlito"/>
              </a:rPr>
              <a:t>the  </a:t>
            </a:r>
            <a:r>
              <a:rPr lang="en-US" spc="-20" dirty="0">
                <a:latin typeface="+mj-lt"/>
                <a:cs typeface="Carlito"/>
              </a:rPr>
              <a:t>Marketable </a:t>
            </a:r>
            <a:r>
              <a:rPr lang="en-US" spc="-5" dirty="0">
                <a:latin typeface="+mj-lt"/>
                <a:cs typeface="Carlito"/>
              </a:rPr>
              <a:t>security </a:t>
            </a:r>
            <a:r>
              <a:rPr lang="en-US" spc="-20" dirty="0">
                <a:latin typeface="+mj-lt"/>
                <a:cs typeface="Carlito"/>
              </a:rPr>
              <a:t>to </a:t>
            </a:r>
            <a:r>
              <a:rPr lang="en-US" dirty="0">
                <a:latin typeface="+mj-lt"/>
                <a:cs typeface="Carlito"/>
              </a:rPr>
              <a:t>the </a:t>
            </a:r>
            <a:r>
              <a:rPr lang="en-US" spc="-20" dirty="0">
                <a:latin typeface="+mj-lt"/>
                <a:cs typeface="Carlito"/>
              </a:rPr>
              <a:t>extent </a:t>
            </a:r>
            <a:r>
              <a:rPr lang="en-US" spc="-10" dirty="0">
                <a:latin typeface="+mj-lt"/>
                <a:cs typeface="Carlito"/>
              </a:rPr>
              <a:t>till </a:t>
            </a:r>
            <a:r>
              <a:rPr lang="en-US" dirty="0">
                <a:latin typeface="+mj-lt"/>
                <a:cs typeface="Carlito"/>
              </a:rPr>
              <a:t>it  </a:t>
            </a:r>
            <a:r>
              <a:rPr lang="en-US" spc="-5" dirty="0">
                <a:latin typeface="+mj-lt"/>
                <a:cs typeface="Carlito"/>
              </a:rPr>
              <a:t>reaches normal cash </a:t>
            </a:r>
            <a:r>
              <a:rPr lang="en-US" dirty="0">
                <a:latin typeface="+mj-lt"/>
                <a:cs typeface="Carlito"/>
              </a:rPr>
              <a:t>Balance</a:t>
            </a:r>
            <a:r>
              <a:rPr lang="en-US" spc="-35" dirty="0">
                <a:latin typeface="+mj-lt"/>
                <a:cs typeface="Carlito"/>
              </a:rPr>
              <a:t> </a:t>
            </a:r>
            <a:r>
              <a:rPr lang="en-US" spc="-5" dirty="0">
                <a:latin typeface="+mj-lt"/>
                <a:cs typeface="Carlito"/>
              </a:rPr>
              <a:t>(Z)</a:t>
            </a:r>
            <a:endParaRPr lang="en-US" dirty="0">
              <a:latin typeface="+mj-lt"/>
              <a:cs typeface="Carlito"/>
            </a:endParaRPr>
          </a:p>
        </p:txBody>
      </p:sp>
      <p:sp>
        <p:nvSpPr>
          <p:cNvPr id="6" name="Slide Number Placeholder 5"/>
          <p:cNvSpPr>
            <a:spLocks noGrp="1"/>
          </p:cNvSpPr>
          <p:nvPr>
            <p:ph type="sldNum" sz="quarter" idx="12"/>
          </p:nvPr>
        </p:nvSpPr>
        <p:spPr/>
        <p:txBody>
          <a:bodyPr/>
          <a:lstStyle/>
          <a:p>
            <a:fld id="{426DE8D6-7EB9-433F-B86C-27E3E6EBFC24}" type="slidenum">
              <a:rPr lang="en-US" smtClean="0"/>
              <a:pPr/>
              <a:t>50</a:t>
            </a:fld>
            <a:endParaRPr lang="en-US"/>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134B20FC-87CD-4FF4-AB7C-5DC9A85FD83A}" type="datetime1">
              <a:rPr lang="en-US" smtClean="0"/>
              <a:t>8/20/2025</a:t>
            </a:fld>
            <a:endParaRPr lang="en-US"/>
          </a:p>
        </p:txBody>
      </p:sp>
    </p:spTree>
    <p:extLst>
      <p:ext uri="{BB962C8B-B14F-4D97-AF65-F5344CB8AC3E}">
        <p14:creationId xmlns:p14="http://schemas.microsoft.com/office/powerpoint/2010/main" val="3757912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905000" y="1219200"/>
            <a:ext cx="8534400" cy="936154"/>
          </a:xfrm>
          <a:prstGeom prst="rect">
            <a:avLst/>
          </a:prstGeom>
        </p:spPr>
        <p:txBody>
          <a:bodyPr vert="horz" wrap="square" lIns="0" tIns="12700" rIns="0" bIns="0" rtlCol="0">
            <a:spAutoFit/>
          </a:bodyPr>
          <a:lstStyle/>
          <a:p>
            <a:pPr algn="ctr">
              <a:spcBef>
                <a:spcPts val="100"/>
              </a:spcBef>
            </a:pPr>
            <a:r>
              <a:rPr sz="3000" b="1" i="1" u="sng" spc="-5" dirty="0">
                <a:uFill>
                  <a:solidFill>
                    <a:srgbClr val="000000"/>
                  </a:solidFill>
                </a:uFill>
                <a:latin typeface="Carlito"/>
                <a:cs typeface="Carlito"/>
              </a:rPr>
              <a:t>Computation of Miller </a:t>
            </a:r>
            <a:r>
              <a:rPr sz="3000" b="1" i="1" u="sng" spc="-175" dirty="0">
                <a:uFill>
                  <a:solidFill>
                    <a:srgbClr val="000000"/>
                  </a:solidFill>
                </a:uFill>
                <a:latin typeface="Arial"/>
                <a:cs typeface="Arial"/>
              </a:rPr>
              <a:t>– </a:t>
            </a:r>
            <a:r>
              <a:rPr sz="3000" b="1" i="1" u="sng" spc="-5" dirty="0">
                <a:uFill>
                  <a:solidFill>
                    <a:srgbClr val="000000"/>
                  </a:solidFill>
                </a:uFill>
                <a:latin typeface="Carlito"/>
                <a:cs typeface="Carlito"/>
              </a:rPr>
              <a:t>Orr </a:t>
            </a:r>
            <a:r>
              <a:rPr sz="3000" b="1" i="1" u="sng" dirty="0">
                <a:uFill>
                  <a:solidFill>
                    <a:srgbClr val="000000"/>
                  </a:solidFill>
                </a:uFill>
                <a:latin typeface="Carlito"/>
                <a:cs typeface="Carlito"/>
              </a:rPr>
              <a:t>Model </a:t>
            </a:r>
            <a:r>
              <a:rPr sz="3000" b="1" i="1" u="sng" spc="-5" dirty="0">
                <a:uFill>
                  <a:solidFill>
                    <a:srgbClr val="000000"/>
                  </a:solidFill>
                </a:uFill>
                <a:latin typeface="Carlito"/>
                <a:cs typeface="Carlito"/>
              </a:rPr>
              <a:t>of</a:t>
            </a:r>
            <a:r>
              <a:rPr sz="3000" b="1" i="1" u="sng" spc="-40" dirty="0">
                <a:uFill>
                  <a:solidFill>
                    <a:srgbClr val="000000"/>
                  </a:solidFill>
                </a:uFill>
                <a:latin typeface="Carlito"/>
                <a:cs typeface="Carlito"/>
              </a:rPr>
              <a:t> </a:t>
            </a:r>
            <a:r>
              <a:rPr sz="3000" b="1" i="1" u="sng" dirty="0">
                <a:uFill>
                  <a:solidFill>
                    <a:srgbClr val="000000"/>
                  </a:solidFill>
                </a:uFill>
                <a:latin typeface="Carlito"/>
                <a:cs typeface="Carlito"/>
              </a:rPr>
              <a:t>Cash</a:t>
            </a:r>
            <a:endParaRPr sz="3000" u="sng">
              <a:latin typeface="Carlito"/>
              <a:cs typeface="Carlito"/>
            </a:endParaRPr>
          </a:p>
          <a:p>
            <a:pPr marL="344170" algn="ctr"/>
            <a:r>
              <a:rPr sz="3000" b="1" i="1" u="sng" spc="-5" dirty="0">
                <a:uFill>
                  <a:solidFill>
                    <a:srgbClr val="000000"/>
                  </a:solidFill>
                </a:uFill>
                <a:latin typeface="Carlito"/>
                <a:cs typeface="Carlito"/>
              </a:rPr>
              <a:t>Management</a:t>
            </a:r>
            <a:endParaRPr sz="3000" u="sng">
              <a:latin typeface="Carlito"/>
              <a:cs typeface="Carlito"/>
            </a:endParaRPr>
          </a:p>
        </p:txBody>
      </p:sp>
      <p:sp>
        <p:nvSpPr>
          <p:cNvPr id="4" name="object 4"/>
          <p:cNvSpPr txBox="1"/>
          <p:nvPr/>
        </p:nvSpPr>
        <p:spPr>
          <a:xfrm>
            <a:off x="1752600" y="3163952"/>
            <a:ext cx="8915400" cy="474489"/>
          </a:xfrm>
          <a:prstGeom prst="rect">
            <a:avLst/>
          </a:prstGeom>
        </p:spPr>
        <p:txBody>
          <a:bodyPr vert="horz" wrap="square" lIns="0" tIns="12700" rIns="0" bIns="0" rtlCol="0">
            <a:spAutoFit/>
          </a:bodyPr>
          <a:lstStyle/>
          <a:p>
            <a:pPr marL="12700">
              <a:spcBef>
                <a:spcPts val="100"/>
              </a:spcBef>
            </a:pPr>
            <a:r>
              <a:rPr sz="3000" spc="-10" dirty="0">
                <a:latin typeface="Carlito"/>
                <a:cs typeface="Carlito"/>
              </a:rPr>
              <a:t>Spread </a:t>
            </a:r>
            <a:r>
              <a:rPr sz="3000" spc="-5" dirty="0">
                <a:latin typeface="Carlito"/>
                <a:cs typeface="Carlito"/>
              </a:rPr>
              <a:t>(Z)= (</a:t>
            </a:r>
            <a:r>
              <a:rPr sz="2400" spc="-5" dirty="0">
                <a:latin typeface="Carlito"/>
                <a:cs typeface="Carlito"/>
              </a:rPr>
              <a:t>3/4 </a:t>
            </a:r>
            <a:r>
              <a:rPr sz="2400" dirty="0">
                <a:latin typeface="Carlito"/>
                <a:cs typeface="Carlito"/>
              </a:rPr>
              <a:t>* </a:t>
            </a:r>
            <a:r>
              <a:rPr sz="2400" spc="-20" dirty="0">
                <a:latin typeface="Carlito"/>
                <a:cs typeface="Carlito"/>
              </a:rPr>
              <a:t>Transaction </a:t>
            </a:r>
            <a:r>
              <a:rPr sz="2400" spc="-15" dirty="0">
                <a:latin typeface="Carlito"/>
                <a:cs typeface="Carlito"/>
              </a:rPr>
              <a:t>cost </a:t>
            </a:r>
            <a:r>
              <a:rPr sz="2400" spc="-20" dirty="0">
                <a:latin typeface="Carlito"/>
                <a:cs typeface="Carlito"/>
              </a:rPr>
              <a:t>*Variance </a:t>
            </a:r>
            <a:r>
              <a:rPr sz="2400" spc="-5" dirty="0">
                <a:latin typeface="Carlito"/>
                <a:cs typeface="Carlito"/>
              </a:rPr>
              <a:t>of Cash</a:t>
            </a:r>
            <a:r>
              <a:rPr sz="2400" spc="-15" dirty="0">
                <a:latin typeface="Carlito"/>
                <a:cs typeface="Carlito"/>
              </a:rPr>
              <a:t> </a:t>
            </a:r>
            <a:r>
              <a:rPr sz="2400" spc="-5" dirty="0">
                <a:latin typeface="Carlito"/>
                <a:cs typeface="Carlito"/>
              </a:rPr>
              <a:t>Flow</a:t>
            </a:r>
            <a:r>
              <a:rPr sz="3000" spc="-5" dirty="0">
                <a:latin typeface="Carlito"/>
                <a:cs typeface="Carlito"/>
              </a:rPr>
              <a:t>)</a:t>
            </a:r>
            <a:endParaRPr sz="3000">
              <a:latin typeface="Carlito"/>
              <a:cs typeface="Carlito"/>
            </a:endParaRPr>
          </a:p>
        </p:txBody>
      </p:sp>
      <p:sp>
        <p:nvSpPr>
          <p:cNvPr id="5" name="object 5"/>
          <p:cNvSpPr txBox="1"/>
          <p:nvPr/>
        </p:nvSpPr>
        <p:spPr>
          <a:xfrm>
            <a:off x="1371600" y="5358791"/>
            <a:ext cx="9753600" cy="474489"/>
          </a:xfrm>
          <a:prstGeom prst="rect">
            <a:avLst/>
          </a:prstGeom>
        </p:spPr>
        <p:txBody>
          <a:bodyPr vert="horz" wrap="square" lIns="0" tIns="12700" rIns="0" bIns="0" rtlCol="0">
            <a:spAutoFit/>
          </a:bodyPr>
          <a:lstStyle/>
          <a:p>
            <a:pPr marL="12700">
              <a:spcBef>
                <a:spcPts val="100"/>
              </a:spcBef>
              <a:tabLst>
                <a:tab pos="1915795" algn="l"/>
                <a:tab pos="8064500" algn="l"/>
              </a:tabLst>
            </a:pPr>
            <a:r>
              <a:rPr sz="3000" spc="-170" dirty="0">
                <a:latin typeface="Carlito"/>
                <a:cs typeface="Carlito"/>
              </a:rPr>
              <a:t>V</a:t>
            </a:r>
            <a:r>
              <a:rPr sz="3000" dirty="0">
                <a:latin typeface="Carlito"/>
                <a:cs typeface="Carlito"/>
              </a:rPr>
              <a:t>aria</a:t>
            </a:r>
            <a:r>
              <a:rPr sz="3000" spc="-15" dirty="0">
                <a:latin typeface="Carlito"/>
                <a:cs typeface="Carlito"/>
              </a:rPr>
              <a:t>n</a:t>
            </a:r>
            <a:r>
              <a:rPr sz="3000" dirty="0">
                <a:latin typeface="Carlito"/>
                <a:cs typeface="Carlito"/>
              </a:rPr>
              <a:t>ce</a:t>
            </a:r>
            <a:r>
              <a:rPr sz="3000" spc="-25" dirty="0">
                <a:latin typeface="Carlito"/>
                <a:cs typeface="Carlito"/>
              </a:rPr>
              <a:t> </a:t>
            </a:r>
            <a:r>
              <a:rPr sz="3000" spc="-5" dirty="0">
                <a:latin typeface="Carlito"/>
                <a:cs typeface="Carlito"/>
              </a:rPr>
              <a:t>o</a:t>
            </a:r>
            <a:r>
              <a:rPr sz="3000" dirty="0">
                <a:latin typeface="Carlito"/>
                <a:cs typeface="Carlito"/>
              </a:rPr>
              <a:t>f	</a:t>
            </a:r>
            <a:r>
              <a:rPr sz="3000" spc="-5" dirty="0">
                <a:latin typeface="Carlito"/>
                <a:cs typeface="Carlito"/>
              </a:rPr>
              <a:t>Cas</a:t>
            </a:r>
            <a:r>
              <a:rPr sz="3000" dirty="0">
                <a:latin typeface="Carlito"/>
                <a:cs typeface="Carlito"/>
              </a:rPr>
              <a:t>h</a:t>
            </a:r>
            <a:r>
              <a:rPr sz="3000" spc="-20" dirty="0">
                <a:latin typeface="Carlito"/>
                <a:cs typeface="Carlito"/>
              </a:rPr>
              <a:t> </a:t>
            </a:r>
            <a:r>
              <a:rPr sz="3000" spc="-5" dirty="0">
                <a:latin typeface="Carlito"/>
                <a:cs typeface="Carlito"/>
              </a:rPr>
              <a:t>Fl</a:t>
            </a:r>
            <a:r>
              <a:rPr sz="3000" spc="-20" dirty="0">
                <a:latin typeface="Carlito"/>
                <a:cs typeface="Carlito"/>
              </a:rPr>
              <a:t>o</a:t>
            </a:r>
            <a:r>
              <a:rPr sz="3000" dirty="0">
                <a:latin typeface="Carlito"/>
                <a:cs typeface="Carlito"/>
              </a:rPr>
              <a:t>w =</a:t>
            </a:r>
            <a:r>
              <a:rPr sz="3000" spc="5" dirty="0">
                <a:latin typeface="Carlito"/>
                <a:cs typeface="Carlito"/>
              </a:rPr>
              <a:t> </a:t>
            </a:r>
            <a:r>
              <a:rPr sz="3000" spc="-5" dirty="0">
                <a:latin typeface="Carlito"/>
                <a:cs typeface="Carlito"/>
              </a:rPr>
              <a:t>(S</a:t>
            </a:r>
            <a:r>
              <a:rPr sz="3000" spc="-40" dirty="0">
                <a:latin typeface="Carlito"/>
                <a:cs typeface="Carlito"/>
              </a:rPr>
              <a:t>t</a:t>
            </a:r>
            <a:r>
              <a:rPr sz="3000" dirty="0">
                <a:latin typeface="Carlito"/>
                <a:cs typeface="Carlito"/>
              </a:rPr>
              <a:t>anda</a:t>
            </a:r>
            <a:r>
              <a:rPr sz="3000" spc="-45" dirty="0">
                <a:latin typeface="Carlito"/>
                <a:cs typeface="Carlito"/>
              </a:rPr>
              <a:t>r</a:t>
            </a:r>
            <a:r>
              <a:rPr sz="3000" dirty="0">
                <a:latin typeface="Carlito"/>
                <a:cs typeface="Carlito"/>
              </a:rPr>
              <a:t>d</a:t>
            </a:r>
            <a:r>
              <a:rPr sz="3000" spc="-15" dirty="0">
                <a:latin typeface="Carlito"/>
                <a:cs typeface="Carlito"/>
              </a:rPr>
              <a:t> </a:t>
            </a:r>
            <a:r>
              <a:rPr sz="3000" spc="-5" dirty="0">
                <a:latin typeface="Carlito"/>
                <a:cs typeface="Carlito"/>
              </a:rPr>
              <a:t>D</a:t>
            </a:r>
            <a:r>
              <a:rPr sz="3000" spc="-20" dirty="0">
                <a:latin typeface="Carlito"/>
                <a:cs typeface="Carlito"/>
              </a:rPr>
              <a:t>e</a:t>
            </a:r>
            <a:r>
              <a:rPr sz="3000" dirty="0">
                <a:latin typeface="Carlito"/>
                <a:cs typeface="Carlito"/>
              </a:rPr>
              <a:t>vi</a:t>
            </a:r>
            <a:r>
              <a:rPr sz="3000" spc="-30" dirty="0">
                <a:latin typeface="Carlito"/>
                <a:cs typeface="Carlito"/>
              </a:rPr>
              <a:t>a</a:t>
            </a:r>
            <a:r>
              <a:rPr sz="3000" dirty="0">
                <a:latin typeface="Carlito"/>
                <a:cs typeface="Carlito"/>
              </a:rPr>
              <a:t>tion)</a:t>
            </a:r>
            <a:r>
              <a:rPr sz="3000" spc="-25" dirty="0">
                <a:latin typeface="Carlito"/>
                <a:cs typeface="Carlito"/>
              </a:rPr>
              <a:t> </a:t>
            </a:r>
            <a:r>
              <a:rPr sz="3000" spc="-5">
                <a:latin typeface="Carlito"/>
                <a:cs typeface="Carlito"/>
              </a:rPr>
              <a:t>o</a:t>
            </a:r>
            <a:r>
              <a:rPr sz="3000">
                <a:latin typeface="Carlito"/>
                <a:cs typeface="Carlito"/>
              </a:rPr>
              <a:t>r</a:t>
            </a:r>
            <a:r>
              <a:rPr sz="3000" spc="-5">
                <a:latin typeface="Carlito"/>
                <a:cs typeface="Carlito"/>
              </a:rPr>
              <a:t> </a:t>
            </a:r>
            <a:r>
              <a:rPr sz="3000">
                <a:latin typeface="Carlito"/>
                <a:cs typeface="Carlito"/>
              </a:rPr>
              <a:t>(	</a:t>
            </a:r>
            <a:r>
              <a:rPr lang="en-US" sz="3000" dirty="0">
                <a:latin typeface="Carlito"/>
                <a:cs typeface="Carlito"/>
              </a:rPr>
              <a:t>)</a:t>
            </a:r>
            <a:endParaRPr sz="3000">
              <a:latin typeface="Carlito"/>
              <a:cs typeface="Carlito"/>
            </a:endParaRPr>
          </a:p>
        </p:txBody>
      </p:sp>
      <p:sp>
        <p:nvSpPr>
          <p:cNvPr id="6" name="object 6"/>
          <p:cNvSpPr txBox="1"/>
          <p:nvPr/>
        </p:nvSpPr>
        <p:spPr>
          <a:xfrm>
            <a:off x="10214610" y="3066415"/>
            <a:ext cx="346075" cy="299720"/>
          </a:xfrm>
          <a:prstGeom prst="rect">
            <a:avLst/>
          </a:prstGeom>
        </p:spPr>
        <p:txBody>
          <a:bodyPr vert="horz" wrap="square" lIns="0" tIns="12700" rIns="0" bIns="0" rtlCol="0">
            <a:spAutoFit/>
          </a:bodyPr>
          <a:lstStyle/>
          <a:p>
            <a:pPr marL="12700">
              <a:spcBef>
                <a:spcPts val="100"/>
              </a:spcBef>
            </a:pPr>
            <a:r>
              <a:rPr dirty="0">
                <a:latin typeface="Carlito"/>
                <a:cs typeface="Carlito"/>
              </a:rPr>
              <a:t>1/3</a:t>
            </a:r>
            <a:endParaRPr>
              <a:latin typeface="Carlito"/>
              <a:cs typeface="Carlito"/>
            </a:endParaRPr>
          </a:p>
        </p:txBody>
      </p:sp>
      <p:sp>
        <p:nvSpPr>
          <p:cNvPr id="7" name="object 7"/>
          <p:cNvSpPr/>
          <p:nvPr/>
        </p:nvSpPr>
        <p:spPr>
          <a:xfrm>
            <a:off x="4800600" y="3733801"/>
            <a:ext cx="5257800" cy="1905"/>
          </a:xfrm>
          <a:custGeom>
            <a:avLst/>
            <a:gdLst/>
            <a:ahLst/>
            <a:cxnLst/>
            <a:rect l="l" t="t" r="r" b="b"/>
            <a:pathLst>
              <a:path w="5257800" h="1904">
                <a:moveTo>
                  <a:pt x="0" y="0"/>
                </a:moveTo>
                <a:lnTo>
                  <a:pt x="5257800" y="1650"/>
                </a:lnTo>
              </a:path>
            </a:pathLst>
          </a:custGeom>
          <a:ln w="12700">
            <a:solidFill>
              <a:srgbClr val="000000"/>
            </a:solidFill>
          </a:ln>
        </p:spPr>
        <p:txBody>
          <a:bodyPr wrap="square" lIns="0" tIns="0" rIns="0" bIns="0" rtlCol="0"/>
          <a:lstStyle/>
          <a:p>
            <a:endParaRPr/>
          </a:p>
        </p:txBody>
      </p:sp>
      <p:sp>
        <p:nvSpPr>
          <p:cNvPr id="8" name="object 8"/>
          <p:cNvSpPr txBox="1"/>
          <p:nvPr/>
        </p:nvSpPr>
        <p:spPr>
          <a:xfrm>
            <a:off x="1907540" y="3500972"/>
            <a:ext cx="8074660" cy="1243330"/>
          </a:xfrm>
          <a:prstGeom prst="rect">
            <a:avLst/>
          </a:prstGeom>
        </p:spPr>
        <p:txBody>
          <a:bodyPr vert="horz" wrap="square" lIns="0" tIns="182245" rIns="0" bIns="0" rtlCol="0">
            <a:spAutoFit/>
          </a:bodyPr>
          <a:lstStyle/>
          <a:p>
            <a:pPr marL="4585335">
              <a:spcBef>
                <a:spcPts val="1435"/>
              </a:spcBef>
            </a:pPr>
            <a:r>
              <a:rPr sz="2600" spc="-15" dirty="0">
                <a:latin typeface="Carlito"/>
                <a:cs typeface="Carlito"/>
              </a:rPr>
              <a:t>Interest</a:t>
            </a:r>
            <a:r>
              <a:rPr sz="2600" spc="-105" dirty="0">
                <a:latin typeface="Carlito"/>
                <a:cs typeface="Carlito"/>
              </a:rPr>
              <a:t> </a:t>
            </a:r>
            <a:r>
              <a:rPr sz="2600" spc="-10" dirty="0">
                <a:latin typeface="Carlito"/>
                <a:cs typeface="Carlito"/>
              </a:rPr>
              <a:t>Rate</a:t>
            </a:r>
            <a:endParaRPr sz="2600">
              <a:latin typeface="Carlito"/>
              <a:cs typeface="Carlito"/>
            </a:endParaRPr>
          </a:p>
          <a:p>
            <a:pPr marL="12700">
              <a:spcBef>
                <a:spcPts val="1530"/>
              </a:spcBef>
            </a:pPr>
            <a:r>
              <a:rPr sz="3000" spc="-15" dirty="0">
                <a:latin typeface="Carlito"/>
                <a:cs typeface="Carlito"/>
              </a:rPr>
              <a:t>Return </a:t>
            </a:r>
            <a:r>
              <a:rPr sz="3000" spc="-25" dirty="0">
                <a:latin typeface="Carlito"/>
                <a:cs typeface="Carlito"/>
              </a:rPr>
              <a:t>Point </a:t>
            </a:r>
            <a:r>
              <a:rPr sz="3000" dirty="0">
                <a:latin typeface="Carlito"/>
                <a:cs typeface="Carlito"/>
              </a:rPr>
              <a:t>= </a:t>
            </a:r>
            <a:r>
              <a:rPr sz="3000" spc="-10" dirty="0">
                <a:latin typeface="Carlito"/>
                <a:cs typeface="Carlito"/>
              </a:rPr>
              <a:t>Lower </a:t>
            </a:r>
            <a:r>
              <a:rPr sz="3000" spc="-5" dirty="0">
                <a:latin typeface="Carlito"/>
                <a:cs typeface="Carlito"/>
              </a:rPr>
              <a:t>limit </a:t>
            </a:r>
            <a:r>
              <a:rPr sz="3000" dirty="0">
                <a:latin typeface="Carlito"/>
                <a:cs typeface="Carlito"/>
              </a:rPr>
              <a:t>+ </a:t>
            </a:r>
            <a:r>
              <a:rPr sz="3000" spc="-10" dirty="0">
                <a:latin typeface="Carlito"/>
                <a:cs typeface="Carlito"/>
              </a:rPr>
              <a:t>Spread</a:t>
            </a:r>
            <a:r>
              <a:rPr sz="3000" spc="-25" dirty="0">
                <a:latin typeface="Carlito"/>
                <a:cs typeface="Carlito"/>
              </a:rPr>
              <a:t> </a:t>
            </a:r>
            <a:r>
              <a:rPr sz="3000" spc="-5" dirty="0">
                <a:latin typeface="Carlito"/>
                <a:cs typeface="Carlito"/>
              </a:rPr>
              <a:t>(Z)</a:t>
            </a:r>
            <a:endParaRPr sz="3000">
              <a:latin typeface="Carlito"/>
              <a:cs typeface="Carlito"/>
            </a:endParaRPr>
          </a:p>
        </p:txBody>
      </p:sp>
      <p:sp>
        <p:nvSpPr>
          <p:cNvPr id="9" name="object 9"/>
          <p:cNvSpPr/>
          <p:nvPr/>
        </p:nvSpPr>
        <p:spPr>
          <a:xfrm>
            <a:off x="6705600" y="4953001"/>
            <a:ext cx="1447800" cy="1905"/>
          </a:xfrm>
          <a:custGeom>
            <a:avLst/>
            <a:gdLst/>
            <a:ahLst/>
            <a:cxnLst/>
            <a:rect l="l" t="t" r="r" b="b"/>
            <a:pathLst>
              <a:path w="1447800" h="1904">
                <a:moveTo>
                  <a:pt x="0" y="0"/>
                </a:moveTo>
                <a:lnTo>
                  <a:pt x="1447800" y="1524"/>
                </a:lnTo>
              </a:path>
            </a:pathLst>
          </a:custGeom>
          <a:ln w="12700">
            <a:solidFill>
              <a:srgbClr val="000000"/>
            </a:solidFill>
          </a:ln>
        </p:spPr>
        <p:txBody>
          <a:bodyPr wrap="square" lIns="0" tIns="0" rIns="0" bIns="0" rtlCol="0"/>
          <a:lstStyle/>
          <a:p>
            <a:endParaRPr/>
          </a:p>
        </p:txBody>
      </p:sp>
      <p:sp>
        <p:nvSpPr>
          <p:cNvPr id="10" name="object 10"/>
          <p:cNvSpPr txBox="1"/>
          <p:nvPr/>
        </p:nvSpPr>
        <p:spPr>
          <a:xfrm>
            <a:off x="7242428" y="4889373"/>
            <a:ext cx="193040" cy="422275"/>
          </a:xfrm>
          <a:prstGeom prst="rect">
            <a:avLst/>
          </a:prstGeom>
        </p:spPr>
        <p:txBody>
          <a:bodyPr vert="horz" wrap="square" lIns="0" tIns="12700" rIns="0" bIns="0" rtlCol="0">
            <a:spAutoFit/>
          </a:bodyPr>
          <a:lstStyle/>
          <a:p>
            <a:pPr marL="12700">
              <a:spcBef>
                <a:spcPts val="100"/>
              </a:spcBef>
            </a:pPr>
            <a:r>
              <a:rPr sz="2600" dirty="0">
                <a:latin typeface="Carlito"/>
                <a:cs typeface="Carlito"/>
              </a:rPr>
              <a:t>3</a:t>
            </a:r>
            <a:endParaRPr sz="2600">
              <a:latin typeface="Carlito"/>
              <a:cs typeface="Carlito"/>
            </a:endParaRPr>
          </a:p>
        </p:txBody>
      </p:sp>
      <p:grpSp>
        <p:nvGrpSpPr>
          <p:cNvPr id="11" name="object 11"/>
          <p:cNvGrpSpPr/>
          <p:nvPr/>
        </p:nvGrpSpPr>
        <p:grpSpPr>
          <a:xfrm>
            <a:off x="9588500" y="5547550"/>
            <a:ext cx="408940" cy="180340"/>
            <a:chOff x="8064500" y="5547550"/>
            <a:chExt cx="408940" cy="180340"/>
          </a:xfrm>
        </p:grpSpPr>
        <p:sp>
          <p:nvSpPr>
            <p:cNvPr id="12" name="object 12"/>
            <p:cNvSpPr/>
            <p:nvPr/>
          </p:nvSpPr>
          <p:spPr>
            <a:xfrm>
              <a:off x="8064500" y="5549900"/>
              <a:ext cx="177800" cy="177800"/>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8154161" y="5561838"/>
              <a:ext cx="304800" cy="1905"/>
            </a:xfrm>
            <a:custGeom>
              <a:avLst/>
              <a:gdLst/>
              <a:ahLst/>
              <a:cxnLst/>
              <a:rect l="l" t="t" r="r" b="b"/>
              <a:pathLst>
                <a:path w="304800" h="1904">
                  <a:moveTo>
                    <a:pt x="0" y="1524"/>
                  </a:moveTo>
                  <a:lnTo>
                    <a:pt x="304800" y="0"/>
                  </a:lnTo>
                </a:path>
              </a:pathLst>
            </a:custGeom>
            <a:ln w="28575">
              <a:solidFill>
                <a:srgbClr val="000000"/>
              </a:solidFill>
            </a:ln>
          </p:spPr>
          <p:txBody>
            <a:bodyPr wrap="square" lIns="0" tIns="0" rIns="0" bIns="0" rtlCol="0"/>
            <a:lstStyle/>
            <a:p>
              <a:endParaRPr/>
            </a:p>
          </p:txBody>
        </p:sp>
      </p:grpSp>
      <p:sp>
        <p:nvSpPr>
          <p:cNvPr id="14" name="object 14"/>
          <p:cNvSpPr txBox="1"/>
          <p:nvPr/>
        </p:nvSpPr>
        <p:spPr>
          <a:xfrm>
            <a:off x="9998710" y="5118050"/>
            <a:ext cx="168275" cy="422909"/>
          </a:xfrm>
          <a:prstGeom prst="rect">
            <a:avLst/>
          </a:prstGeom>
        </p:spPr>
        <p:txBody>
          <a:bodyPr vert="horz" wrap="square" lIns="0" tIns="13335" rIns="0" bIns="0" rtlCol="0">
            <a:spAutoFit/>
          </a:bodyPr>
          <a:lstStyle/>
          <a:p>
            <a:pPr>
              <a:spcBef>
                <a:spcPts val="105"/>
              </a:spcBef>
            </a:pPr>
            <a:r>
              <a:rPr sz="2600" dirty="0">
                <a:latin typeface="Carlito"/>
                <a:cs typeface="Carlito"/>
              </a:rPr>
              <a:t>2</a:t>
            </a:r>
            <a:endParaRPr sz="2600">
              <a:latin typeface="Carlito"/>
              <a:cs typeface="Carlito"/>
            </a:endParaRPr>
          </a:p>
        </p:txBody>
      </p:sp>
      <p:sp>
        <p:nvSpPr>
          <p:cNvPr id="15" name="object 15"/>
          <p:cNvSpPr txBox="1"/>
          <p:nvPr/>
        </p:nvSpPr>
        <p:spPr>
          <a:xfrm>
            <a:off x="8919210" y="5118050"/>
            <a:ext cx="193675" cy="422909"/>
          </a:xfrm>
          <a:prstGeom prst="rect">
            <a:avLst/>
          </a:prstGeom>
        </p:spPr>
        <p:txBody>
          <a:bodyPr vert="horz" wrap="square" lIns="0" tIns="13335" rIns="0" bIns="0" rtlCol="0">
            <a:spAutoFit/>
          </a:bodyPr>
          <a:lstStyle/>
          <a:p>
            <a:pPr marL="12700">
              <a:spcBef>
                <a:spcPts val="105"/>
              </a:spcBef>
            </a:pPr>
            <a:r>
              <a:rPr sz="2600" dirty="0">
                <a:latin typeface="Carlito"/>
                <a:cs typeface="Carlito"/>
              </a:rPr>
              <a:t>2</a:t>
            </a:r>
            <a:endParaRPr sz="2600">
              <a:latin typeface="Carlito"/>
              <a:cs typeface="Carlito"/>
            </a:endParaRPr>
          </a:p>
        </p:txBody>
      </p:sp>
      <p:sp>
        <p:nvSpPr>
          <p:cNvPr id="17" name="Title 1"/>
          <p:cNvSpPr txBox="1">
            <a:spLocks/>
          </p:cNvSpPr>
          <p:nvPr/>
        </p:nvSpPr>
        <p:spPr>
          <a:xfrm>
            <a:off x="1905000" y="0"/>
            <a:ext cx="10287000" cy="69612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spc="-10" dirty="0"/>
              <a:t>M. </a:t>
            </a:r>
            <a:r>
              <a:rPr lang="en-US" sz="2800" spc="-254" dirty="0"/>
              <a:t>H. </a:t>
            </a:r>
            <a:r>
              <a:rPr lang="en-US" sz="2800" spc="-5" dirty="0"/>
              <a:t>Miller </a:t>
            </a:r>
            <a:r>
              <a:rPr lang="en-US" sz="2800" spc="-190" dirty="0"/>
              <a:t>and </a:t>
            </a:r>
            <a:r>
              <a:rPr lang="en-US" sz="2800" spc="-180" dirty="0"/>
              <a:t>Daniel</a:t>
            </a:r>
            <a:r>
              <a:rPr lang="en-US" sz="2800" spc="-645" dirty="0"/>
              <a:t> </a:t>
            </a:r>
            <a:r>
              <a:rPr lang="en-US" sz="2800" spc="-155" dirty="0"/>
              <a:t>Orr’s  </a:t>
            </a:r>
            <a:r>
              <a:rPr lang="en-US" sz="2800" spc="-10" dirty="0">
                <a:latin typeface="Carlito"/>
                <a:cs typeface="Carlito"/>
              </a:rPr>
              <a:t>Stochastic</a:t>
            </a:r>
            <a:r>
              <a:rPr lang="en-US" sz="2800" spc="-50" dirty="0">
                <a:latin typeface="Carlito"/>
                <a:cs typeface="Carlito"/>
              </a:rPr>
              <a:t> </a:t>
            </a:r>
            <a:r>
              <a:rPr lang="en-US" sz="2800" dirty="0">
                <a:latin typeface="Carlito"/>
                <a:cs typeface="Carlito"/>
              </a:rPr>
              <a:t>Model</a:t>
            </a:r>
            <a:endParaRPr lang="en-IN" sz="2800" b="1" dirty="0"/>
          </a:p>
        </p:txBody>
      </p:sp>
      <p:sp>
        <p:nvSpPr>
          <p:cNvPr id="18" name="Slide Number Placeholder 17"/>
          <p:cNvSpPr>
            <a:spLocks noGrp="1"/>
          </p:cNvSpPr>
          <p:nvPr>
            <p:ph type="sldNum" sz="quarter" idx="12"/>
          </p:nvPr>
        </p:nvSpPr>
        <p:spPr/>
        <p:txBody>
          <a:bodyPr/>
          <a:lstStyle/>
          <a:p>
            <a:fld id="{426DE8D6-7EB9-433F-B86C-27E3E6EBFC24}" type="slidenum">
              <a:rPr lang="en-US" smtClean="0"/>
              <a:pPr/>
              <a:t>51</a:t>
            </a:fld>
            <a:endParaRPr lang="en-US"/>
          </a:p>
        </p:txBody>
      </p:sp>
      <p:sp>
        <p:nvSpPr>
          <p:cNvPr id="20" name="Footer Placeholder 19"/>
          <p:cNvSpPr>
            <a:spLocks noGrp="1"/>
          </p:cNvSpPr>
          <p:nvPr>
            <p:ph type="ftr" sz="quarter" idx="11"/>
          </p:nvPr>
        </p:nvSpPr>
        <p:spPr/>
        <p:txBody>
          <a:bodyPr/>
          <a:lstStyle/>
          <a:p>
            <a:r>
              <a:rPr lang="en-US"/>
              <a:t>Amit Kumar        Subject code: AOE0770       Finance for Engineers                 Unit 4</a:t>
            </a:r>
          </a:p>
        </p:txBody>
      </p:sp>
      <p:sp>
        <p:nvSpPr>
          <p:cNvPr id="2" name="Date Placeholder 1"/>
          <p:cNvSpPr>
            <a:spLocks noGrp="1"/>
          </p:cNvSpPr>
          <p:nvPr>
            <p:ph type="dt" sz="half" idx="10"/>
          </p:nvPr>
        </p:nvSpPr>
        <p:spPr/>
        <p:txBody>
          <a:bodyPr/>
          <a:lstStyle/>
          <a:p>
            <a:fld id="{BC3B3EC1-A3CE-493D-B99A-8CF050CAA169}" type="datetime1">
              <a:rPr lang="en-US" smtClean="0"/>
              <a:t>8/20/2025</a:t>
            </a:fld>
            <a:endParaRPr lang="en-US"/>
          </a:p>
        </p:txBody>
      </p:sp>
    </p:spTree>
    <p:extLst>
      <p:ext uri="{BB962C8B-B14F-4D97-AF65-F5344CB8AC3E}">
        <p14:creationId xmlns:p14="http://schemas.microsoft.com/office/powerpoint/2010/main" val="1028002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1"/>
            <a:ext cx="11430000" cy="5135563"/>
          </a:xfrm>
        </p:spPr>
        <p:txBody>
          <a:bodyPr>
            <a:normAutofit/>
          </a:bodyPr>
          <a:lstStyle/>
          <a:p>
            <a:r>
              <a:rPr lang="en-IN" sz="2600" b="1" dirty="0"/>
              <a:t>Cash flow</a:t>
            </a:r>
          </a:p>
          <a:p>
            <a:endParaRPr lang="en-IN" sz="2600" b="1" dirty="0"/>
          </a:p>
          <a:p>
            <a:pPr marL="0" indent="0" algn="just">
              <a:buNone/>
            </a:pPr>
            <a:r>
              <a:rPr lang="en-IN" sz="2400" dirty="0"/>
              <a:t>Cash flow statement is a statement disclosing the flow of cash during a specific period.</a:t>
            </a:r>
          </a:p>
          <a:p>
            <a:pPr marL="0" indent="0" algn="just">
              <a:buNone/>
            </a:pPr>
            <a:r>
              <a:rPr lang="en-IN" sz="2400" dirty="0"/>
              <a:t> OR</a:t>
            </a:r>
          </a:p>
          <a:p>
            <a:pPr marL="0" indent="0" algn="just">
              <a:buNone/>
            </a:pPr>
            <a:r>
              <a:rPr lang="en-IN" sz="2400" dirty="0"/>
              <a:t> “ It indicates the movement of cash within  a specified period.”</a:t>
            </a:r>
          </a:p>
          <a:p>
            <a:pPr algn="just"/>
            <a:endParaRPr lang="en-IN" sz="2600" dirty="0"/>
          </a:p>
          <a:p>
            <a:pPr algn="just"/>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a:xfrm>
            <a:off x="1981200" y="6492876"/>
            <a:ext cx="2133600" cy="365125"/>
          </a:xfrm>
        </p:spPr>
        <p:txBody>
          <a:bodyPr/>
          <a:lstStyle/>
          <a:p>
            <a:fld id="{5D921D20-250C-4F63-9C83-9525A39DABE9}"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8" name="Title 1"/>
          <p:cNvSpPr txBox="1">
            <a:spLocks/>
          </p:cNvSpPr>
          <p:nvPr/>
        </p:nvSpPr>
        <p:spPr>
          <a:xfrm>
            <a:off x="1828800" y="2"/>
            <a:ext cx="10363200" cy="73183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2400" b="1" dirty="0"/>
              <a:t>                                            Cash flow</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32300589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46151"/>
            <a:ext cx="11506200" cy="5410200"/>
          </a:xfrm>
        </p:spPr>
        <p:txBody>
          <a:bodyPr>
            <a:normAutofit/>
          </a:bodyPr>
          <a:lstStyle/>
          <a:p>
            <a:pPr marL="0" indent="0" algn="just">
              <a:buNone/>
            </a:pPr>
            <a:r>
              <a:rPr lang="en-IN" sz="2400" dirty="0"/>
              <a:t>1. Analysis of cash position</a:t>
            </a:r>
          </a:p>
          <a:p>
            <a:pPr marL="0" indent="0" algn="just">
              <a:buNone/>
            </a:pPr>
            <a:r>
              <a:rPr lang="en-IN" sz="2400" dirty="0"/>
              <a:t>2. Short – Term cash planning and management</a:t>
            </a:r>
          </a:p>
          <a:p>
            <a:pPr marL="0" indent="0" algn="just">
              <a:buNone/>
            </a:pPr>
            <a:r>
              <a:rPr lang="en-IN" sz="2400" dirty="0"/>
              <a:t>3. Evaluation of liquidity </a:t>
            </a:r>
          </a:p>
          <a:p>
            <a:pPr marL="0" indent="0" algn="just">
              <a:buNone/>
            </a:pPr>
            <a:r>
              <a:rPr lang="en-IN" sz="2400" dirty="0"/>
              <a:t>4. Analysis of cash flow from different activities </a:t>
            </a:r>
          </a:p>
          <a:p>
            <a:pPr marL="0" indent="0" algn="just">
              <a:buNone/>
            </a:pPr>
            <a:r>
              <a:rPr lang="en-IN" sz="2400" dirty="0"/>
              <a:t>5. Comparison on operational performance</a:t>
            </a:r>
          </a:p>
          <a:p>
            <a:pPr marL="0" indent="0" algn="just">
              <a:buNone/>
            </a:pPr>
            <a:r>
              <a:rPr lang="en-IN" sz="2400" dirty="0"/>
              <a:t>6. Helpful in formulating the policies</a:t>
            </a:r>
          </a:p>
          <a:p>
            <a:pPr marL="0" indent="0" algn="just">
              <a:buNone/>
            </a:pPr>
            <a:r>
              <a:rPr lang="en-IN" sz="2400" dirty="0"/>
              <a:t>7. Helpful in making future cash flow</a:t>
            </a:r>
          </a:p>
          <a:p>
            <a:pPr marL="0" indent="0" algn="just">
              <a:buNone/>
            </a:pPr>
            <a:r>
              <a:rPr lang="en-IN" sz="2400" dirty="0"/>
              <a:t>8. Useful to outsiders</a:t>
            </a:r>
          </a:p>
          <a:p>
            <a:pPr algn="just"/>
            <a:endParaRPr lang="en-US" sz="2400" b="1" dirty="0">
              <a:latin typeface="Times New Roman"/>
              <a:cs typeface="Times New Roman"/>
            </a:endParaRPr>
          </a:p>
          <a:p>
            <a:pPr algn="just">
              <a:buNone/>
            </a:pPr>
            <a:endParaRPr lang="en-US" sz="2400" b="1" dirty="0">
              <a:latin typeface="Times New Roman"/>
              <a:cs typeface="Times New Roman"/>
            </a:endParaRPr>
          </a:p>
        </p:txBody>
      </p:sp>
      <p:sp>
        <p:nvSpPr>
          <p:cNvPr id="4" name="Date Placeholder 3"/>
          <p:cNvSpPr>
            <a:spLocks noGrp="1"/>
          </p:cNvSpPr>
          <p:nvPr>
            <p:ph type="dt" sz="half" idx="10"/>
          </p:nvPr>
        </p:nvSpPr>
        <p:spPr/>
        <p:txBody>
          <a:bodyPr/>
          <a:lstStyle/>
          <a:p>
            <a:fld id="{B2C824BF-DCBF-4EA3-968D-412BDD2DC8E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b="1" dirty="0"/>
              <a:t>Objectives of cash flow statement</a:t>
            </a:r>
            <a:endParaRPr lang="en-US" sz="2400" dirty="0"/>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6394465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sz="2400" b="1" dirty="0">
              <a:latin typeface="Times New Roman"/>
              <a:cs typeface="Times New Roman"/>
            </a:endParaRPr>
          </a:p>
          <a:p>
            <a:pPr>
              <a:buNone/>
            </a:pPr>
            <a:endParaRPr lang="en-US" b="1" dirty="0"/>
          </a:p>
        </p:txBody>
      </p:sp>
      <p:sp>
        <p:nvSpPr>
          <p:cNvPr id="4" name="Date Placeholder 3"/>
          <p:cNvSpPr>
            <a:spLocks noGrp="1"/>
          </p:cNvSpPr>
          <p:nvPr>
            <p:ph type="dt" sz="half" idx="10"/>
          </p:nvPr>
        </p:nvSpPr>
        <p:spPr/>
        <p:txBody>
          <a:bodyPr/>
          <a:lstStyle/>
          <a:p>
            <a:fld id="{35F17811-D54B-4D75-BD3B-DC96E3DB6B62}"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8"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Format of Cash Flow (AS-3</a:t>
            </a:r>
            <a:r>
              <a:rPr lang="en-US" sz="2400" dirty="0"/>
              <a:t>)</a:t>
            </a:r>
          </a:p>
        </p:txBody>
      </p:sp>
      <p:pic>
        <p:nvPicPr>
          <p:cNvPr id="67588" name="Picture 4"/>
          <p:cNvPicPr>
            <a:picLocks noChangeAspect="1" noChangeArrowheads="1"/>
          </p:cNvPicPr>
          <p:nvPr/>
        </p:nvPicPr>
        <p:blipFill>
          <a:blip r:embed="rId2"/>
          <a:srcRect/>
          <a:stretch>
            <a:fillRect/>
          </a:stretch>
        </p:blipFill>
        <p:spPr bwMode="auto">
          <a:xfrm>
            <a:off x="1752600" y="762000"/>
            <a:ext cx="8686800" cy="5410200"/>
          </a:xfrm>
          <a:prstGeom prst="rect">
            <a:avLst/>
          </a:prstGeom>
          <a:noFill/>
          <a:ln w="9525">
            <a:noFill/>
            <a:miter lim="800000"/>
            <a:headEnd/>
            <a:tailEnd/>
          </a:ln>
          <a:effectLst/>
        </p:spPr>
      </p:pic>
      <p:sp>
        <p:nvSpPr>
          <p:cNvPr id="10" name="Footer Placeholder 9"/>
          <p:cNvSpPr>
            <a:spLocks noGrp="1"/>
          </p:cNvSpPr>
          <p:nvPr>
            <p:ph type="ftr" sz="quarter" idx="11"/>
          </p:nvPr>
        </p:nvSpPr>
        <p:spPr/>
        <p:txBody>
          <a:bodyPr/>
          <a:lstStyle/>
          <a:p>
            <a:r>
              <a:rPr lang="en-US"/>
              <a:t>Amit Kumar        Subject code: AOE0770       Finance for Engineers                 Unit 4</a:t>
            </a:r>
            <a:endParaRPr lang="en-US" dirty="0"/>
          </a:p>
        </p:txBody>
      </p:sp>
    </p:spTree>
    <p:extLst>
      <p:ext uri="{BB962C8B-B14F-4D97-AF65-F5344CB8AC3E}">
        <p14:creationId xmlns:p14="http://schemas.microsoft.com/office/powerpoint/2010/main" val="423390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0A3B9D-E8D2-48E7-A8AD-2945414AB77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8" name="Title 1"/>
          <p:cNvSpPr txBox="1">
            <a:spLocks/>
          </p:cNvSpPr>
          <p:nvPr/>
        </p:nvSpPr>
        <p:spPr>
          <a:xfrm>
            <a:off x="1828800" y="1"/>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Format of Cash Flow (AS-3)</a:t>
            </a:r>
          </a:p>
        </p:txBody>
      </p:sp>
      <p:pic>
        <p:nvPicPr>
          <p:cNvPr id="66563" name="Picture 3"/>
          <p:cNvPicPr>
            <a:picLocks noGrp="1" noChangeAspect="1" noChangeArrowheads="1"/>
          </p:cNvPicPr>
          <p:nvPr>
            <p:ph idx="1"/>
          </p:nvPr>
        </p:nvPicPr>
        <p:blipFill>
          <a:blip r:embed="rId2"/>
          <a:srcRect/>
          <a:stretch>
            <a:fillRect/>
          </a:stretch>
        </p:blipFill>
        <p:spPr bwMode="auto">
          <a:xfrm>
            <a:off x="1752600" y="762000"/>
            <a:ext cx="8915400" cy="5486400"/>
          </a:xfrm>
          <a:prstGeom prst="rect">
            <a:avLst/>
          </a:prstGeom>
          <a:noFill/>
          <a:ln w="9525">
            <a:noFill/>
            <a:miter lim="800000"/>
            <a:headEnd/>
            <a:tailEnd/>
          </a:ln>
          <a:effectLst/>
        </p:spPr>
      </p:pic>
      <p:sp>
        <p:nvSpPr>
          <p:cNvPr id="9" name="Subtitle 2"/>
          <p:cNvSpPr txBox="1">
            <a:spLocks/>
          </p:cNvSpPr>
          <p:nvPr/>
        </p:nvSpPr>
        <p:spPr>
          <a:xfrm>
            <a:off x="1600200" y="6096000"/>
            <a:ext cx="28194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www.theaccounting.org</a:t>
            </a:r>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2775336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37ADEB-F46C-4E95-8831-8FF40BCF37E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8" name="Title 1"/>
          <p:cNvSpPr txBox="1">
            <a:spLocks/>
          </p:cNvSpPr>
          <p:nvPr/>
        </p:nvSpPr>
        <p:spPr>
          <a:xfrm>
            <a:off x="1846006" y="0"/>
            <a:ext cx="103459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Numerical </a:t>
            </a:r>
          </a:p>
        </p:txBody>
      </p:sp>
      <p:pic>
        <p:nvPicPr>
          <p:cNvPr id="65537" name="Picture 1"/>
          <p:cNvPicPr>
            <a:picLocks noGrp="1" noChangeAspect="1" noChangeArrowheads="1"/>
          </p:cNvPicPr>
          <p:nvPr>
            <p:ph sz="half" idx="2"/>
          </p:nvPr>
        </p:nvPicPr>
        <p:blipFill>
          <a:blip r:embed="rId2"/>
          <a:srcRect/>
          <a:stretch>
            <a:fillRect/>
          </a:stretch>
        </p:blipFill>
        <p:spPr bwMode="auto">
          <a:xfrm>
            <a:off x="1492045" y="915988"/>
            <a:ext cx="9144000" cy="5440363"/>
          </a:xfrm>
          <a:prstGeom prst="rect">
            <a:avLst/>
          </a:prstGeom>
          <a:noFill/>
          <a:ln w="9525">
            <a:noFill/>
            <a:miter lim="800000"/>
            <a:headEnd/>
            <a:tailEnd/>
          </a:ln>
          <a:effectLst/>
        </p:spPr>
      </p:pic>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0892733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658600" cy="4525963"/>
          </a:xfrm>
        </p:spPr>
        <p:txBody>
          <a:bodyPr>
            <a:normAutofit/>
          </a:bodyPr>
          <a:lstStyle/>
          <a:p>
            <a:r>
              <a:rPr lang="en-US" sz="2600" b="1" dirty="0">
                <a:latin typeface="Times New Roman" pitchFamily="18" charset="0"/>
                <a:cs typeface="Times New Roman" pitchFamily="18" charset="0"/>
              </a:rPr>
              <a:t>We have covered the following  topics in this lecture:</a:t>
            </a:r>
          </a:p>
          <a:p>
            <a:pPr algn="just"/>
            <a:r>
              <a:rPr lang="en-US" sz="2400" dirty="0">
                <a:latin typeface="Times New Roman" pitchFamily="18" charset="0"/>
                <a:cs typeface="Times New Roman" pitchFamily="18" charset="0"/>
              </a:rPr>
              <a:t>Approaches to determine financing of working capital.</a:t>
            </a:r>
          </a:p>
          <a:p>
            <a:pPr algn="just"/>
            <a:r>
              <a:rPr lang="en-US" sz="2400" dirty="0">
                <a:latin typeface="Times New Roman" pitchFamily="18" charset="0"/>
                <a:cs typeface="Times New Roman" pitchFamily="18" charset="0"/>
              </a:rPr>
              <a:t>Sources of Finance</a:t>
            </a:r>
          </a:p>
          <a:p>
            <a:pPr algn="just"/>
            <a:r>
              <a:rPr lang="en-US" sz="2400" dirty="0">
                <a:latin typeface="Times New Roman" pitchFamily="18" charset="0"/>
                <a:cs typeface="Times New Roman" pitchFamily="18" charset="0"/>
              </a:rPr>
              <a:t>Format of Profit &amp; Loss Account</a:t>
            </a:r>
          </a:p>
          <a:p>
            <a:pPr algn="just"/>
            <a:r>
              <a:rPr lang="en-IN" sz="2400" dirty="0">
                <a:latin typeface="Times New Roman" pitchFamily="18" charset="0"/>
                <a:cs typeface="Times New Roman" pitchFamily="18" charset="0"/>
              </a:rPr>
              <a:t>Cash flow</a:t>
            </a:r>
          </a:p>
          <a:p>
            <a:pPr algn="just"/>
            <a:r>
              <a:rPr lang="en-IN" sz="2400" dirty="0">
                <a:latin typeface="Times New Roman" pitchFamily="18" charset="0"/>
                <a:cs typeface="Times New Roman" pitchFamily="18" charset="0"/>
              </a:rPr>
              <a:t>Objectives of cash flow statement</a:t>
            </a:r>
          </a:p>
          <a:p>
            <a:pPr algn="just"/>
            <a:r>
              <a:rPr lang="en-IN" sz="2400" dirty="0">
                <a:latin typeface="Times New Roman" pitchFamily="18" charset="0"/>
                <a:cs typeface="Times New Roman" pitchFamily="18" charset="0"/>
              </a:rPr>
              <a:t>Format of cash flow statement</a:t>
            </a:r>
            <a:endParaRPr lang="en-US" sz="2400" dirty="0">
              <a:latin typeface="Times New Roman" pitchFamily="18" charset="0"/>
              <a:cs typeface="Times New Roman" pitchFamily="18" charset="0"/>
            </a:endParaRPr>
          </a:p>
          <a:p>
            <a:pPr>
              <a:buNone/>
            </a:pPr>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27E86D6-B089-461F-AE44-EBDD0C5AC761}"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10"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Summary</a:t>
            </a:r>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40916483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66800"/>
            <a:ext cx="8229600" cy="4525963"/>
          </a:xfrm>
        </p:spPr>
        <p:txBody>
          <a:bodyPr>
            <a:normAutofit/>
          </a:bodyPr>
          <a:lstStyle/>
          <a:p>
            <a:pPr algn="just"/>
            <a:r>
              <a:rPr lang="en-US" sz="2400" dirty="0">
                <a:latin typeface="Times New Roman" pitchFamily="18" charset="0"/>
                <a:cs typeface="Times New Roman" pitchFamily="18" charset="0"/>
              </a:rPr>
              <a:t>Working Capital</a:t>
            </a:r>
          </a:p>
          <a:p>
            <a:pPr algn="just"/>
            <a:r>
              <a:rPr lang="en-US" sz="2400" cap="all" dirty="0">
                <a:latin typeface="Times New Roman" pitchFamily="18" charset="0"/>
                <a:cs typeface="Times New Roman" pitchFamily="18" charset="0"/>
              </a:rPr>
              <a:t>T</a:t>
            </a:r>
            <a:r>
              <a:rPr lang="en-US" sz="2400" dirty="0">
                <a:latin typeface="Times New Roman" pitchFamily="18" charset="0"/>
                <a:cs typeface="Times New Roman" pitchFamily="18" charset="0"/>
              </a:rPr>
              <a:t>ypes of working capital</a:t>
            </a:r>
            <a:endParaRPr lang="en-US" sz="2400" cap="all"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Importance of Working Capital</a:t>
            </a:r>
          </a:p>
          <a:p>
            <a:pPr algn="just"/>
            <a:r>
              <a:rPr lang="en-US" sz="2400" dirty="0">
                <a:latin typeface="Times New Roman" pitchFamily="18" charset="0"/>
                <a:cs typeface="Times New Roman" pitchFamily="18" charset="0"/>
              </a:rPr>
              <a:t>Operating Cycle of Working Capital</a:t>
            </a:r>
          </a:p>
        </p:txBody>
      </p:sp>
      <p:sp>
        <p:nvSpPr>
          <p:cNvPr id="4" name="Date Placeholder 3"/>
          <p:cNvSpPr>
            <a:spLocks noGrp="1"/>
          </p:cNvSpPr>
          <p:nvPr>
            <p:ph type="dt" sz="half" idx="10"/>
          </p:nvPr>
        </p:nvSpPr>
        <p:spPr/>
        <p:txBody>
          <a:bodyPr/>
          <a:lstStyle/>
          <a:p>
            <a:fld id="{0E4659D6-9C7F-4CE7-8CBE-A080F9FDF294}"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Prerequisite and Recap</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1075582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1066800"/>
            <a:ext cx="11379200" cy="4525963"/>
          </a:xfrm>
        </p:spPr>
        <p:txBody>
          <a:bodyPr>
            <a:normAutofit/>
          </a:bodyPr>
          <a:lstStyle/>
          <a:p>
            <a:r>
              <a:rPr lang="en-IN" sz="2600" b="1" dirty="0">
                <a:latin typeface="Times New Roman" pitchFamily="18" charset="0"/>
                <a:cs typeface="Times New Roman" pitchFamily="18" charset="0"/>
              </a:rPr>
              <a:t>Students will be able to know the following concepts:</a:t>
            </a:r>
          </a:p>
          <a:p>
            <a:pPr algn="just"/>
            <a:r>
              <a:rPr lang="en-IN" sz="2400" dirty="0">
                <a:latin typeface="Times New Roman" pitchFamily="18" charset="0"/>
                <a:cs typeface="Times New Roman" pitchFamily="18" charset="0"/>
              </a:rPr>
              <a:t>Prepare a cash flow statement (As per AS-3)</a:t>
            </a:r>
          </a:p>
          <a:p>
            <a:pPr algn="just"/>
            <a:r>
              <a:rPr lang="en-IN" sz="2400" dirty="0">
                <a:latin typeface="Times New Roman" pitchFamily="18" charset="0"/>
                <a:cs typeface="Times New Roman" pitchFamily="18" charset="0"/>
              </a:rPr>
              <a:t>Numerical Problem</a:t>
            </a:r>
          </a:p>
          <a:p>
            <a:pPr algn="just"/>
            <a:r>
              <a:rPr lang="en-IN" sz="2400" dirty="0">
                <a:latin typeface="Times New Roman" pitchFamily="18" charset="0"/>
                <a:cs typeface="Times New Roman" pitchFamily="18" charset="0"/>
              </a:rPr>
              <a:t>DuPont analysis</a:t>
            </a:r>
          </a:p>
          <a:p>
            <a:pPr algn="just"/>
            <a:r>
              <a:rPr lang="en-US" sz="2400" dirty="0">
                <a:latin typeface="Times New Roman" pitchFamily="18" charset="0"/>
                <a:cs typeface="Times New Roman" pitchFamily="18" charset="0"/>
              </a:rPr>
              <a:t>Funds Flow Statement</a:t>
            </a:r>
          </a:p>
          <a:p>
            <a:pPr algn="just"/>
            <a:r>
              <a:rPr lang="en-US" sz="2400" dirty="0">
                <a:latin typeface="Times New Roman" pitchFamily="18" charset="0"/>
                <a:cs typeface="Times New Roman" pitchFamily="18" charset="0"/>
              </a:rPr>
              <a:t>Importance of funds flow statement</a:t>
            </a:r>
          </a:p>
          <a:p>
            <a:pPr algn="just"/>
            <a:r>
              <a:rPr lang="en-US" sz="2400" dirty="0">
                <a:latin typeface="Times New Roman" pitchFamily="18" charset="0"/>
                <a:cs typeface="Times New Roman" pitchFamily="18" charset="0"/>
              </a:rPr>
              <a:t>Preparation of funds flow statement</a:t>
            </a:r>
          </a:p>
        </p:txBody>
      </p:sp>
      <p:sp>
        <p:nvSpPr>
          <p:cNvPr id="4" name="Date Placeholder 3"/>
          <p:cNvSpPr>
            <a:spLocks noGrp="1"/>
          </p:cNvSpPr>
          <p:nvPr>
            <p:ph type="dt" sz="half" idx="10"/>
          </p:nvPr>
        </p:nvSpPr>
        <p:spPr/>
        <p:txBody>
          <a:bodyPr/>
          <a:lstStyle/>
          <a:p>
            <a:fld id="{162775D6-54A5-48BE-B475-4D56E4BED673}"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cs typeface="Times New Roman" pitchFamily="18" charset="0"/>
              </a:rPr>
              <a:t>Session Learning Objectives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1806411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C8750F-15F0-4E3F-B79E-A30EDE8E6A8D}"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b="1" dirty="0"/>
              <a:t>Prepare a cash flow statement</a:t>
            </a:r>
            <a:endParaRPr lang="en-US" sz="2400" dirty="0"/>
          </a:p>
        </p:txBody>
      </p:sp>
      <p:sp>
        <p:nvSpPr>
          <p:cNvPr id="9" name="Content Placeholder 8"/>
          <p:cNvSpPr>
            <a:spLocks noGrp="1"/>
          </p:cNvSpPr>
          <p:nvPr>
            <p:ph sz="half" idx="2"/>
          </p:nvPr>
        </p:nvSpPr>
        <p:spPr>
          <a:xfrm>
            <a:off x="304800" y="1191291"/>
            <a:ext cx="11506200" cy="5135563"/>
          </a:xfrm>
        </p:spPr>
        <p:txBody>
          <a:bodyPr/>
          <a:lstStyle/>
          <a:p>
            <a:pPr algn="just"/>
            <a:r>
              <a:rPr lang="en-IN" sz="2600" dirty="0"/>
              <a:t>Prepare a cash flow statement of the company for the period ended 30</a:t>
            </a:r>
            <a:r>
              <a:rPr lang="en-IN" sz="2600" baseline="30000" dirty="0"/>
              <a:t>th</a:t>
            </a:r>
            <a:r>
              <a:rPr lang="en-IN" sz="2600" dirty="0"/>
              <a:t> June-2009 in accordance with AS-3 (Revised method) by Direct Method.</a:t>
            </a:r>
          </a:p>
          <a:p>
            <a:pPr algn="just"/>
            <a:endParaRPr lang="en-US" dirty="0"/>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1984325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7C2AED-2A1C-425D-9262-393A9BAB685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Solution</a:t>
            </a:r>
            <a:r>
              <a:rPr lang="en-US" sz="2400" dirty="0"/>
              <a:t> </a:t>
            </a:r>
          </a:p>
        </p:txBody>
      </p:sp>
      <p:pic>
        <p:nvPicPr>
          <p:cNvPr id="64513" name="Picture 1"/>
          <p:cNvPicPr>
            <a:picLocks noGrp="1" noChangeAspect="1" noChangeArrowheads="1"/>
          </p:cNvPicPr>
          <p:nvPr>
            <p:ph sz="half" idx="1"/>
          </p:nvPr>
        </p:nvPicPr>
        <p:blipFill>
          <a:blip r:embed="rId2"/>
          <a:srcRect/>
          <a:stretch>
            <a:fillRect/>
          </a:stretch>
        </p:blipFill>
        <p:spPr bwMode="auto">
          <a:xfrm>
            <a:off x="1676400" y="808602"/>
            <a:ext cx="9144000" cy="5410200"/>
          </a:xfrm>
          <a:prstGeom prst="rect">
            <a:avLst/>
          </a:prstGeom>
          <a:noFill/>
          <a:ln w="9525">
            <a:noFill/>
            <a:miter lim="800000"/>
            <a:headEnd/>
            <a:tailEnd/>
          </a:ln>
          <a:effectLst/>
        </p:spPr>
      </p:pic>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9853579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A6DA7E-D1E9-4646-BADB-A98ADADAA403}"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Solution</a:t>
            </a:r>
          </a:p>
        </p:txBody>
      </p:sp>
      <p:pic>
        <p:nvPicPr>
          <p:cNvPr id="63489" name="Picture 1"/>
          <p:cNvPicPr>
            <a:picLocks noGrp="1" noChangeAspect="1" noChangeArrowheads="1"/>
          </p:cNvPicPr>
          <p:nvPr>
            <p:ph idx="1"/>
          </p:nvPr>
        </p:nvPicPr>
        <p:blipFill>
          <a:blip r:embed="rId2"/>
          <a:srcRect/>
          <a:stretch>
            <a:fillRect/>
          </a:stretch>
        </p:blipFill>
        <p:spPr bwMode="auto">
          <a:xfrm>
            <a:off x="1638300" y="869951"/>
            <a:ext cx="8991600" cy="5486400"/>
          </a:xfrm>
          <a:prstGeom prst="rect">
            <a:avLst/>
          </a:prstGeom>
          <a:noFill/>
          <a:ln w="9525">
            <a:noFill/>
            <a:miter lim="800000"/>
            <a:headEnd/>
            <a:tailEnd/>
          </a:ln>
          <a:effectLst/>
        </p:spPr>
      </p:pic>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922429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11000" cy="5257800"/>
          </a:xfrm>
        </p:spPr>
        <p:txBody>
          <a:bodyPr>
            <a:normAutofit/>
          </a:bodyPr>
          <a:lstStyle/>
          <a:p>
            <a:pPr marL="457200" indent="-457200" algn="just">
              <a:buFont typeface="+mj-lt"/>
              <a:buAutoNum type="arabicPeriod"/>
            </a:pPr>
            <a:r>
              <a:rPr lang="en-US" sz="2400" dirty="0">
                <a:latin typeface="Times New Roman" pitchFamily="18" charset="0"/>
                <a:cs typeface="Times New Roman" pitchFamily="18" charset="0"/>
              </a:rPr>
              <a:t>Define the Upper control limit.</a:t>
            </a:r>
          </a:p>
          <a:p>
            <a:pPr marL="457200" indent="-457200" algn="just">
              <a:buFont typeface="+mj-lt"/>
              <a:buAutoNum type="arabicPeriod"/>
            </a:pPr>
            <a:r>
              <a:rPr lang="en-US" sz="2400" dirty="0">
                <a:latin typeface="Times New Roman" pitchFamily="18" charset="0"/>
                <a:cs typeface="Times New Roman" pitchFamily="18" charset="0"/>
              </a:rPr>
              <a:t>Discuss the Lower control limit.</a:t>
            </a:r>
          </a:p>
          <a:p>
            <a:pPr marL="457200" indent="-457200" algn="just">
              <a:buFont typeface="+mj-lt"/>
              <a:buAutoNum type="arabicPeriod"/>
            </a:pPr>
            <a:r>
              <a:rPr lang="en-US" sz="2400" dirty="0">
                <a:latin typeface="Times New Roman" pitchFamily="18" charset="0"/>
                <a:cs typeface="Times New Roman" pitchFamily="18" charset="0"/>
              </a:rPr>
              <a:t>Elaborate the holding cost for cash.</a:t>
            </a:r>
          </a:p>
          <a:p>
            <a:pPr marL="457200" indent="-457200" algn="just">
              <a:buFont typeface="+mj-lt"/>
              <a:buAutoNum type="arabicPeriod"/>
            </a:pPr>
            <a:r>
              <a:rPr lang="en-US" sz="2400" dirty="0">
                <a:latin typeface="Times New Roman" pitchFamily="18" charset="0"/>
                <a:cs typeface="Times New Roman" pitchFamily="18" charset="0"/>
              </a:rPr>
              <a:t>Explain the return point for better cash needs determination.</a:t>
            </a:r>
          </a:p>
          <a:p>
            <a:pPr marL="457200" indent="-457200" algn="just">
              <a:buFont typeface="+mj-lt"/>
              <a:buAutoNum type="arabicPeriod"/>
            </a:pPr>
            <a:r>
              <a:rPr lang="en-US" sz="2400" dirty="0">
                <a:latin typeface="Times New Roman" pitchFamily="18" charset="0"/>
                <a:cs typeface="Times New Roman" pitchFamily="18" charset="0"/>
              </a:rPr>
              <a:t>Explain the Miller-Orr concept of cash </a:t>
            </a:r>
            <a:r>
              <a:rPr lang="en-US" sz="2400" dirty="0" err="1">
                <a:latin typeface="Times New Roman" pitchFamily="18" charset="0"/>
                <a:cs typeface="Times New Roman" pitchFamily="18" charset="0"/>
              </a:rPr>
              <a:t>managment</a:t>
            </a:r>
            <a:r>
              <a:rPr lang="en-US" sz="2400" dirty="0">
                <a:latin typeface="Times New Roman" pitchFamily="18" charset="0"/>
                <a:cs typeface="Times New Roman" pitchFamily="18" charset="0"/>
              </a:rPr>
              <a:t>.</a:t>
            </a:r>
          </a:p>
          <a:p>
            <a:pPr marL="457200" indent="-457200" algn="just">
              <a:buFont typeface="+mj-lt"/>
              <a:buAutoNum type="arabicPeriod"/>
            </a:pPr>
            <a:r>
              <a:rPr lang="en-US" sz="2400" dirty="0">
                <a:latin typeface="Times New Roman" pitchFamily="18" charset="0"/>
                <a:cs typeface="Times New Roman" pitchFamily="18" charset="0"/>
              </a:rPr>
              <a:t>What are the distinct features of the Stone’s cash management model?</a:t>
            </a:r>
          </a:p>
          <a:p>
            <a:pPr marL="457200" indent="-457200" algn="just">
              <a:buFont typeface="+mj-lt"/>
              <a:buAutoNum type="arabicPeriod"/>
            </a:pPr>
            <a:r>
              <a:rPr lang="en-US" sz="2400" dirty="0">
                <a:latin typeface="Times New Roman" pitchFamily="18" charset="0"/>
                <a:cs typeface="Times New Roman" pitchFamily="18" charset="0"/>
              </a:rPr>
              <a:t>How optimum cash balance is determined using the </a:t>
            </a:r>
            <a:r>
              <a:rPr lang="en-US" sz="2400" dirty="0" err="1">
                <a:latin typeface="Times New Roman" pitchFamily="18" charset="0"/>
                <a:cs typeface="Times New Roman" pitchFamily="18" charset="0"/>
              </a:rPr>
              <a:t>Baumol’s</a:t>
            </a:r>
            <a:r>
              <a:rPr lang="en-US" sz="2400" dirty="0">
                <a:latin typeface="Times New Roman" pitchFamily="18" charset="0"/>
                <a:cs typeface="Times New Roman" pitchFamily="18" charset="0"/>
              </a:rPr>
              <a:t> model .</a:t>
            </a:r>
          </a:p>
          <a:p>
            <a:pPr marL="457200" indent="-457200" algn="just">
              <a:buFont typeface="+mj-lt"/>
              <a:buAutoNum type="arabicPeriod"/>
            </a:pPr>
            <a:r>
              <a:rPr lang="en-US" sz="2400" dirty="0">
                <a:latin typeface="Times New Roman" pitchFamily="18" charset="0"/>
                <a:cs typeface="Times New Roman" pitchFamily="18" charset="0"/>
              </a:rPr>
              <a:t>What is meant by transaction cost.</a:t>
            </a:r>
          </a:p>
          <a:p>
            <a:pPr marL="457200" indent="-457200" algn="just">
              <a:buFont typeface="+mj-lt"/>
              <a:buAutoNum type="arabicPeriod"/>
            </a:pPr>
            <a:r>
              <a:rPr lang="en-US" sz="2400" dirty="0">
                <a:latin typeface="Times New Roman" pitchFamily="18" charset="0"/>
                <a:cs typeface="Times New Roman" pitchFamily="18" charset="0"/>
              </a:rPr>
              <a:t>Discuss the inner and outer control limits.</a:t>
            </a:r>
          </a:p>
          <a:p>
            <a:pPr marL="457200" indent="-457200" algn="just">
              <a:buFont typeface="+mj-lt"/>
              <a:buAutoNum type="arabicPeriod"/>
            </a:pPr>
            <a:r>
              <a:rPr lang="en-US" sz="2400" dirty="0">
                <a:latin typeface="Times New Roman" pitchFamily="18" charset="0"/>
                <a:cs typeface="Times New Roman" pitchFamily="18" charset="0"/>
              </a:rPr>
              <a:t>How cash cycle is calculated using the cash cycle method?</a:t>
            </a:r>
          </a:p>
          <a:p>
            <a:pPr marL="457200" indent="-457200" algn="just">
              <a:buFont typeface="+mj-lt"/>
              <a:buAutoNum type="arabicPeriod"/>
            </a:pPr>
            <a:endParaRPr lang="en-US" sz="24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209800" y="6356351"/>
            <a:ext cx="7848600" cy="365125"/>
          </a:xfrm>
        </p:spPr>
        <p:txBody>
          <a:bodyPr/>
          <a:lstStyle/>
          <a:p>
            <a:r>
              <a:rPr lang="en-US"/>
              <a:t>Amit Kumar        Subject code: AOE0770       Finance for Engineers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schemeClr val="tx1"/>
                </a:solidFill>
              </a:rPr>
              <a:t>Quiz</a:t>
            </a:r>
          </a:p>
        </p:txBody>
      </p:sp>
      <p:sp>
        <p:nvSpPr>
          <p:cNvPr id="2" name="Date Placeholder 1"/>
          <p:cNvSpPr>
            <a:spLocks noGrp="1"/>
          </p:cNvSpPr>
          <p:nvPr>
            <p:ph type="dt" sz="half" idx="10"/>
          </p:nvPr>
        </p:nvSpPr>
        <p:spPr/>
        <p:txBody>
          <a:bodyPr/>
          <a:lstStyle/>
          <a:p>
            <a:fld id="{317DFA7E-246A-47D0-A6F4-690D7ADFA8E8}" type="datetime1">
              <a:rPr lang="en-US" smtClean="0"/>
              <a:t>8/20/2025</a:t>
            </a:fld>
            <a:endParaRPr lang="en-US"/>
          </a:p>
        </p:txBody>
      </p:sp>
    </p:spTree>
    <p:extLst>
      <p:ext uri="{BB962C8B-B14F-4D97-AF65-F5344CB8AC3E}">
        <p14:creationId xmlns:p14="http://schemas.microsoft.com/office/powerpoint/2010/main" val="31955177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9677400" cy="4525963"/>
          </a:xfrm>
        </p:spPr>
        <p:txBody>
          <a:bodyPr/>
          <a:lstStyle/>
          <a:p>
            <a:pPr>
              <a:buNone/>
            </a:pPr>
            <a:endParaRPr lang="en-US" sz="2000" dirty="0"/>
          </a:p>
          <a:p>
            <a:pPr>
              <a:buNone/>
            </a:pPr>
            <a:endParaRPr lang="en-US" sz="2000" dirty="0"/>
          </a:p>
          <a:p>
            <a:r>
              <a:rPr lang="en-US" sz="2800" b="1" dirty="0" err="1"/>
              <a:t>Youtube</a:t>
            </a:r>
            <a:r>
              <a:rPr lang="en-US" sz="2800" b="1" dirty="0"/>
              <a:t>/other  Video Links</a:t>
            </a:r>
          </a:p>
          <a:p>
            <a:r>
              <a:rPr lang="en-US" sz="2400" dirty="0">
                <a:hlinkClick r:id="rId2"/>
              </a:rPr>
              <a:t>https://youtu.be/zdTqlnSqO48</a:t>
            </a:r>
            <a:endParaRPr lang="en-US" sz="2400" dirty="0"/>
          </a:p>
          <a:p>
            <a:r>
              <a:rPr lang="en-US" sz="2400" dirty="0">
                <a:hlinkClick r:id="rId3"/>
              </a:rPr>
              <a:t>https://youtu.be/XXB08Xbbk1k</a:t>
            </a:r>
            <a:endParaRPr lang="en-US" sz="2400" dirty="0"/>
          </a:p>
          <a:p>
            <a:r>
              <a:rPr lang="en-US" sz="2400" dirty="0">
                <a:hlinkClick r:id="rId4"/>
              </a:rPr>
              <a:t>https://youtu.be/pISQMexnmew</a:t>
            </a:r>
            <a:endParaRPr lang="en-US" sz="2400" dirty="0"/>
          </a:p>
          <a:p>
            <a:r>
              <a:rPr lang="en-US" sz="2400" dirty="0">
                <a:hlinkClick r:id="rId5"/>
              </a:rPr>
              <a:t>https://youtu.be/YuyPL_pDuW4</a:t>
            </a:r>
            <a:endParaRPr lang="en-US" sz="2400" dirty="0"/>
          </a:p>
          <a:p>
            <a:pPr>
              <a:buNone/>
            </a:pPr>
            <a:endParaRPr lang="en-US" sz="2400" dirty="0"/>
          </a:p>
        </p:txBody>
      </p:sp>
      <p:sp>
        <p:nvSpPr>
          <p:cNvPr id="4" name="Date Placeholder 3"/>
          <p:cNvSpPr>
            <a:spLocks noGrp="1"/>
          </p:cNvSpPr>
          <p:nvPr>
            <p:ph type="dt" sz="half" idx="10"/>
          </p:nvPr>
        </p:nvSpPr>
        <p:spPr/>
        <p:txBody>
          <a:bodyPr/>
          <a:lstStyle/>
          <a:p>
            <a:fld id="{F19037E9-9DDD-49F9-ABFB-ADEDB048C6B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Video Links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1"/>
            <a:ext cx="11430000" cy="4525963"/>
          </a:xfrm>
        </p:spPr>
        <p:txBody>
          <a:bodyPr>
            <a:normAutofit/>
          </a:bodyPr>
          <a:lstStyle/>
          <a:p>
            <a:pPr fontAlgn="base">
              <a:buNone/>
            </a:pPr>
            <a:r>
              <a:rPr lang="en-US" sz="2400" b="1" dirty="0"/>
              <a:t>1.What are the aspects of working capital management?</a:t>
            </a:r>
          </a:p>
          <a:p>
            <a:pPr fontAlgn="base"/>
            <a:r>
              <a:rPr lang="en-US" sz="2200" dirty="0"/>
              <a:t> a. Inventory management </a:t>
            </a:r>
          </a:p>
          <a:p>
            <a:pPr fontAlgn="base"/>
            <a:r>
              <a:rPr lang="en-US" sz="2200" dirty="0"/>
              <a:t>b. Receivable management</a:t>
            </a:r>
          </a:p>
          <a:p>
            <a:pPr fontAlgn="base"/>
            <a:r>
              <a:rPr lang="en-US" sz="2200" dirty="0"/>
              <a:t>c. Cash management </a:t>
            </a:r>
          </a:p>
          <a:p>
            <a:pPr fontAlgn="base"/>
            <a:r>
              <a:rPr lang="en-US" sz="2400" b="1" dirty="0"/>
              <a:t>d. All of the above </a:t>
            </a:r>
          </a:p>
          <a:p>
            <a:pPr fontAlgn="base">
              <a:buNone/>
            </a:pPr>
            <a:r>
              <a:rPr lang="en-US" sz="2400" b="1" dirty="0"/>
              <a:t>2._________ function includes a firm’s attempts to balance cash inflows and outflows. </a:t>
            </a:r>
          </a:p>
          <a:p>
            <a:pPr fontAlgn="base"/>
            <a:r>
              <a:rPr lang="en-US" sz="2200" dirty="0"/>
              <a:t>a) Finance </a:t>
            </a:r>
          </a:p>
          <a:p>
            <a:pPr fontAlgn="base"/>
            <a:r>
              <a:rPr lang="en-US" sz="2200" dirty="0"/>
              <a:t>b) Liquidity </a:t>
            </a:r>
          </a:p>
          <a:p>
            <a:pPr fontAlgn="base"/>
            <a:r>
              <a:rPr lang="en-US" sz="2200" dirty="0"/>
              <a:t>c) Investment </a:t>
            </a:r>
          </a:p>
          <a:p>
            <a:pPr fontAlgn="base"/>
            <a:r>
              <a:rPr lang="en-US" sz="2200" b="1" dirty="0"/>
              <a:t>d) Dividend</a:t>
            </a:r>
            <a:endParaRPr lang="en-US" sz="2200" dirty="0"/>
          </a:p>
        </p:txBody>
      </p:sp>
      <p:sp>
        <p:nvSpPr>
          <p:cNvPr id="4" name="Date Placeholder 3"/>
          <p:cNvSpPr>
            <a:spLocks noGrp="1"/>
          </p:cNvSpPr>
          <p:nvPr>
            <p:ph type="dt" sz="half" idx="10"/>
          </p:nvPr>
        </p:nvSpPr>
        <p:spPr/>
        <p:txBody>
          <a:bodyPr/>
          <a:lstStyle/>
          <a:p>
            <a:fld id="{62DCC19D-E8E6-4445-90E4-D1AB64F006D8}"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Daily Quiz</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353800" cy="5486400"/>
          </a:xfrm>
        </p:spPr>
        <p:txBody>
          <a:bodyPr>
            <a:normAutofit fontScale="85000" lnSpcReduction="10000"/>
          </a:bodyPr>
          <a:lstStyle/>
          <a:p>
            <a:pPr>
              <a:buNone/>
            </a:pPr>
            <a:r>
              <a:rPr lang="en-US" sz="2600" b="1" dirty="0"/>
              <a:t>5. Statement of cash flows includes</a:t>
            </a:r>
          </a:p>
          <a:p>
            <a:r>
              <a:rPr lang="en-US" sz="2400" dirty="0"/>
              <a:t>A) Financing Activities</a:t>
            </a:r>
          </a:p>
          <a:p>
            <a:r>
              <a:rPr lang="en-US" sz="2400" dirty="0"/>
              <a:t>B) Operating Activities</a:t>
            </a:r>
          </a:p>
          <a:p>
            <a:r>
              <a:rPr lang="en-US" sz="2400" dirty="0"/>
              <a:t>C) Investing Activities</a:t>
            </a:r>
          </a:p>
          <a:p>
            <a:r>
              <a:rPr lang="en-US" sz="2400" b="1" dirty="0"/>
              <a:t>D) All of the Above</a:t>
            </a:r>
          </a:p>
          <a:p>
            <a:pPr>
              <a:buNone/>
            </a:pPr>
            <a:r>
              <a:rPr lang="en-US" sz="2600" dirty="0"/>
              <a:t>6. In cash flows, when a firm invests in fixed assets and short-term financial investments results in</a:t>
            </a:r>
          </a:p>
          <a:p>
            <a:r>
              <a:rPr lang="en-US" sz="2400" dirty="0"/>
              <a:t>A) Increased Equity</a:t>
            </a:r>
          </a:p>
          <a:p>
            <a:r>
              <a:rPr lang="en-US" sz="2400" dirty="0"/>
              <a:t>B) Increased Liabilities</a:t>
            </a:r>
          </a:p>
          <a:p>
            <a:r>
              <a:rPr lang="en-US" sz="2400" b="1" dirty="0"/>
              <a:t>C) Decreased Cash</a:t>
            </a:r>
          </a:p>
          <a:p>
            <a:r>
              <a:rPr lang="en-US" sz="2400" dirty="0"/>
              <a:t>D) Increased Cash</a:t>
            </a:r>
          </a:p>
          <a:p>
            <a:pPr>
              <a:buNone/>
            </a:pPr>
            <a:r>
              <a:rPr lang="en-US" sz="2600" b="1" dirty="0"/>
              <a:t>7. A firm that issues stocks and bonds to raise funds results in</a:t>
            </a:r>
          </a:p>
          <a:p>
            <a:r>
              <a:rPr lang="en-US" sz="2600" dirty="0"/>
              <a:t>A) Decreases Cash</a:t>
            </a:r>
          </a:p>
          <a:p>
            <a:r>
              <a:rPr lang="en-US" sz="2600" b="1" dirty="0"/>
              <a:t>B) Increases Cash</a:t>
            </a:r>
          </a:p>
          <a:p>
            <a:r>
              <a:rPr lang="en-US" sz="2600" dirty="0"/>
              <a:t>C) Increases Equity</a:t>
            </a:r>
          </a:p>
          <a:p>
            <a:r>
              <a:rPr lang="en-US" sz="2600" dirty="0"/>
              <a:t>D) Increases Liabilities</a:t>
            </a:r>
          </a:p>
        </p:txBody>
      </p:sp>
      <p:sp>
        <p:nvSpPr>
          <p:cNvPr id="4" name="Date Placeholder 3"/>
          <p:cNvSpPr>
            <a:spLocks noGrp="1"/>
          </p:cNvSpPr>
          <p:nvPr>
            <p:ph type="dt" sz="half" idx="10"/>
          </p:nvPr>
        </p:nvSpPr>
        <p:spPr/>
        <p:txBody>
          <a:bodyPr/>
          <a:lstStyle/>
          <a:p>
            <a:fld id="{44816C65-87E2-45CD-A9F0-D90700CDC109}"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Daily Quiz</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1582400" cy="4525963"/>
          </a:xfrm>
        </p:spPr>
        <p:txBody>
          <a:bodyPr/>
          <a:lstStyle/>
          <a:p>
            <a:r>
              <a:rPr lang="en-US" sz="2400" b="1" dirty="0"/>
              <a:t>Q.1 “Working capital is like oxygen for a company.” Prove this statement.</a:t>
            </a:r>
            <a:endParaRPr lang="en-US" sz="2400" dirty="0"/>
          </a:p>
          <a:p>
            <a:r>
              <a:rPr lang="en-US" sz="2400" dirty="0"/>
              <a:t> </a:t>
            </a:r>
            <a:r>
              <a:rPr lang="en-US" sz="2400" b="1" dirty="0"/>
              <a:t>Q.2 How many types of working capital are there?</a:t>
            </a:r>
            <a:endParaRPr lang="en-US" sz="2400" dirty="0"/>
          </a:p>
          <a:p>
            <a:r>
              <a:rPr lang="en-US" sz="2400" b="1" dirty="0"/>
              <a:t>Q.3 Differentiate between cash flow statement and funds flow statement.</a:t>
            </a:r>
            <a:endParaRPr lang="en-US" sz="2400" dirty="0"/>
          </a:p>
          <a:p>
            <a:r>
              <a:rPr lang="en-US" sz="2400" b="1" dirty="0"/>
              <a:t>Q.4 Draw the diagram of sources of working capital for company.</a:t>
            </a:r>
            <a:endParaRPr lang="en-US" sz="2400" dirty="0"/>
          </a:p>
        </p:txBody>
      </p:sp>
      <p:sp>
        <p:nvSpPr>
          <p:cNvPr id="4" name="Date Placeholder 3"/>
          <p:cNvSpPr>
            <a:spLocks noGrp="1"/>
          </p:cNvSpPr>
          <p:nvPr>
            <p:ph type="dt" sz="half" idx="10"/>
          </p:nvPr>
        </p:nvSpPr>
        <p:spPr/>
        <p:txBody>
          <a:bodyPr/>
          <a:lstStyle/>
          <a:p>
            <a:fld id="{F470433C-9F9E-489E-83AF-C2DB362209B1}"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Weekly Assignment</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1734800" cy="5410200"/>
          </a:xfrm>
        </p:spPr>
        <p:txBody>
          <a:bodyPr>
            <a:normAutofit/>
          </a:bodyPr>
          <a:lstStyle/>
          <a:p>
            <a:pPr fontAlgn="base">
              <a:buNone/>
            </a:pPr>
            <a:r>
              <a:rPr lang="en-US" sz="2400" b="1" dirty="0"/>
              <a:t>1.What are the aspects of working capital management?</a:t>
            </a:r>
          </a:p>
          <a:p>
            <a:pPr fontAlgn="base"/>
            <a:r>
              <a:rPr lang="en-US" sz="2200" dirty="0"/>
              <a:t> a. Inventory management </a:t>
            </a:r>
          </a:p>
          <a:p>
            <a:pPr fontAlgn="base"/>
            <a:r>
              <a:rPr lang="en-US" sz="2200" dirty="0"/>
              <a:t>b. Receivable management</a:t>
            </a:r>
          </a:p>
          <a:p>
            <a:pPr fontAlgn="base"/>
            <a:r>
              <a:rPr lang="en-US" sz="2200" dirty="0"/>
              <a:t>c. Cash management </a:t>
            </a:r>
          </a:p>
          <a:p>
            <a:pPr fontAlgn="base"/>
            <a:r>
              <a:rPr lang="en-US" sz="2200" b="1" dirty="0"/>
              <a:t>d. All of the above </a:t>
            </a:r>
          </a:p>
          <a:p>
            <a:pPr fontAlgn="base">
              <a:buNone/>
            </a:pPr>
            <a:r>
              <a:rPr lang="en-US" sz="2400" b="1" dirty="0"/>
              <a:t>2._________ function includes a firm’s attempts to balance cash inflows and outflows. </a:t>
            </a:r>
          </a:p>
          <a:p>
            <a:pPr fontAlgn="base"/>
            <a:r>
              <a:rPr lang="en-US" sz="2200" dirty="0"/>
              <a:t>a) Finance </a:t>
            </a:r>
          </a:p>
          <a:p>
            <a:pPr fontAlgn="base"/>
            <a:r>
              <a:rPr lang="en-US" sz="2200" dirty="0"/>
              <a:t>b) Liquidity </a:t>
            </a:r>
          </a:p>
          <a:p>
            <a:pPr fontAlgn="base"/>
            <a:r>
              <a:rPr lang="en-US" sz="2200" dirty="0"/>
              <a:t>c) Investment </a:t>
            </a:r>
          </a:p>
          <a:p>
            <a:pPr fontAlgn="base"/>
            <a:r>
              <a:rPr lang="en-US" sz="2200" b="1" dirty="0"/>
              <a:t>d) Dividend</a:t>
            </a:r>
          </a:p>
        </p:txBody>
      </p:sp>
      <p:sp>
        <p:nvSpPr>
          <p:cNvPr id="4" name="Date Placeholder 3"/>
          <p:cNvSpPr>
            <a:spLocks noGrp="1"/>
          </p:cNvSpPr>
          <p:nvPr>
            <p:ph type="dt" sz="half" idx="10"/>
          </p:nvPr>
        </p:nvSpPr>
        <p:spPr/>
        <p:txBody>
          <a:bodyPr/>
          <a:lstStyle/>
          <a:p>
            <a:fld id="{53538598-2700-4244-954E-E9EB786322A1}"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MCQ 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11658600" cy="5334000"/>
          </a:xfrm>
        </p:spPr>
        <p:txBody>
          <a:bodyPr>
            <a:noAutofit/>
          </a:bodyPr>
          <a:lstStyle/>
          <a:p>
            <a:pPr fontAlgn="base">
              <a:buNone/>
            </a:pPr>
            <a:r>
              <a:rPr lang="en-US" sz="2400" b="1" dirty="0"/>
              <a:t>3.Firms which are capital intensive rely on _________. </a:t>
            </a:r>
          </a:p>
          <a:p>
            <a:pPr fontAlgn="base"/>
            <a:r>
              <a:rPr lang="en-US" sz="2200" dirty="0"/>
              <a:t>a) Equity </a:t>
            </a:r>
          </a:p>
          <a:p>
            <a:pPr fontAlgn="base"/>
            <a:r>
              <a:rPr lang="en-US" sz="2200" dirty="0"/>
              <a:t>b) Short term debt </a:t>
            </a:r>
          </a:p>
          <a:p>
            <a:pPr fontAlgn="base"/>
            <a:r>
              <a:rPr lang="en-US" sz="2200" dirty="0"/>
              <a:t>c) Debt </a:t>
            </a:r>
          </a:p>
          <a:p>
            <a:pPr fontAlgn="base"/>
            <a:r>
              <a:rPr lang="en-US" sz="2200" b="1" dirty="0"/>
              <a:t>d) Retained earnings</a:t>
            </a:r>
          </a:p>
          <a:p>
            <a:pPr fontAlgn="base">
              <a:buNone/>
            </a:pPr>
            <a:r>
              <a:rPr lang="en-US" sz="2400" b="1" dirty="0"/>
              <a:t>4. To financial analysts, "working capital" means the same thing as __________.</a:t>
            </a:r>
          </a:p>
          <a:p>
            <a:pPr fontAlgn="base"/>
            <a:r>
              <a:rPr lang="en-US" sz="2200" dirty="0"/>
              <a:t>a. total assets</a:t>
            </a:r>
            <a:br>
              <a:rPr lang="en-US" sz="2200" dirty="0"/>
            </a:br>
            <a:r>
              <a:rPr lang="en-US" sz="2200" dirty="0"/>
              <a:t>b. fixed assets</a:t>
            </a:r>
            <a:br>
              <a:rPr lang="en-US" sz="2200" dirty="0"/>
            </a:br>
            <a:r>
              <a:rPr lang="en-US" sz="2200" dirty="0"/>
              <a:t>c. </a:t>
            </a:r>
            <a:r>
              <a:rPr lang="en-US" sz="2200" b="1" dirty="0"/>
              <a:t>current assets</a:t>
            </a:r>
            <a:br>
              <a:rPr lang="en-US" sz="2200" dirty="0"/>
            </a:br>
            <a:r>
              <a:rPr lang="en-US" sz="2200" dirty="0"/>
              <a:t>d. current assets minus current liabilities.</a:t>
            </a:r>
            <a:endParaRPr lang="en-US" sz="2200" b="1" dirty="0"/>
          </a:p>
        </p:txBody>
      </p:sp>
      <p:sp>
        <p:nvSpPr>
          <p:cNvPr id="4" name="Date Placeholder 3"/>
          <p:cNvSpPr>
            <a:spLocks noGrp="1"/>
          </p:cNvSpPr>
          <p:nvPr>
            <p:ph type="dt" sz="half" idx="10"/>
          </p:nvPr>
        </p:nvSpPr>
        <p:spPr/>
        <p:txBody>
          <a:bodyPr/>
          <a:lstStyle/>
          <a:p>
            <a:fld id="{129EEDFE-13EC-4C0C-AD6E-EAF15E968704}"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MCQ 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658600" cy="5257800"/>
          </a:xfrm>
        </p:spPr>
        <p:txBody>
          <a:bodyPr>
            <a:normAutofit fontScale="92500" lnSpcReduction="20000"/>
          </a:bodyPr>
          <a:lstStyle/>
          <a:p>
            <a:pPr>
              <a:buNone/>
            </a:pPr>
            <a:r>
              <a:rPr lang="en-US" sz="2400" b="1" dirty="0"/>
              <a:t>5. Statement of cash flows includes</a:t>
            </a:r>
          </a:p>
          <a:p>
            <a:r>
              <a:rPr lang="en-US" sz="2000" dirty="0"/>
              <a:t>A) Financing Activities</a:t>
            </a:r>
          </a:p>
          <a:p>
            <a:r>
              <a:rPr lang="en-US" sz="2000" dirty="0"/>
              <a:t>B) Operating Activities</a:t>
            </a:r>
          </a:p>
          <a:p>
            <a:r>
              <a:rPr lang="en-US" sz="2000" dirty="0"/>
              <a:t>C) Investing Activities</a:t>
            </a:r>
          </a:p>
          <a:p>
            <a:r>
              <a:rPr lang="en-US" sz="2000" b="1" dirty="0"/>
              <a:t>D) All of the Above</a:t>
            </a:r>
          </a:p>
          <a:p>
            <a:pPr>
              <a:buNone/>
            </a:pPr>
            <a:r>
              <a:rPr lang="en-US" sz="2400" b="1" dirty="0"/>
              <a:t>6. In cash flows, when a firm invests in fixed assets and short-term financial investments results in</a:t>
            </a:r>
          </a:p>
          <a:p>
            <a:r>
              <a:rPr lang="en-US" sz="2000" dirty="0"/>
              <a:t>A) Increased Equity</a:t>
            </a:r>
          </a:p>
          <a:p>
            <a:r>
              <a:rPr lang="en-US" sz="2000" dirty="0"/>
              <a:t>B) Increased Liabilities</a:t>
            </a:r>
          </a:p>
          <a:p>
            <a:r>
              <a:rPr lang="en-US" sz="2000" b="1" dirty="0"/>
              <a:t>C) Decreased Cash</a:t>
            </a:r>
          </a:p>
          <a:p>
            <a:r>
              <a:rPr lang="en-US" sz="2000" dirty="0"/>
              <a:t>D) Increased Cash</a:t>
            </a:r>
          </a:p>
          <a:p>
            <a:pPr>
              <a:buNone/>
            </a:pPr>
            <a:r>
              <a:rPr lang="en-US" sz="2600" b="1" dirty="0"/>
              <a:t>7. A firm that issues stocks and bonds to raise funds results in</a:t>
            </a:r>
          </a:p>
          <a:p>
            <a:r>
              <a:rPr lang="en-US" sz="2000" dirty="0"/>
              <a:t>A) Decreases Cash</a:t>
            </a:r>
          </a:p>
          <a:p>
            <a:r>
              <a:rPr lang="en-US" sz="2000" b="1" dirty="0"/>
              <a:t>B) Increases Cash</a:t>
            </a:r>
          </a:p>
          <a:p>
            <a:r>
              <a:rPr lang="en-US" sz="2000" dirty="0"/>
              <a:t>C) Increases Equity</a:t>
            </a:r>
          </a:p>
          <a:p>
            <a:r>
              <a:rPr lang="en-US" sz="2000" dirty="0"/>
              <a:t>D) Increases Liabilities</a:t>
            </a:r>
          </a:p>
          <a:p>
            <a:endParaRPr lang="en-US" sz="2000" dirty="0"/>
          </a:p>
          <a:p>
            <a:endParaRPr lang="en-US" sz="2000" b="1" dirty="0"/>
          </a:p>
        </p:txBody>
      </p:sp>
      <p:sp>
        <p:nvSpPr>
          <p:cNvPr id="4" name="Date Placeholder 3"/>
          <p:cNvSpPr>
            <a:spLocks noGrp="1"/>
          </p:cNvSpPr>
          <p:nvPr>
            <p:ph type="dt" sz="half" idx="10"/>
          </p:nvPr>
        </p:nvSpPr>
        <p:spPr/>
        <p:txBody>
          <a:bodyPr/>
          <a:lstStyle/>
          <a:p>
            <a:fld id="{3CAF2DE1-6A6A-4687-9E27-6AB61E8B2FF2}"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MCQ 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1811000" cy="5181600"/>
          </a:xfrm>
        </p:spPr>
        <p:txBody>
          <a:bodyPr>
            <a:normAutofit fontScale="85000" lnSpcReduction="20000"/>
          </a:bodyPr>
          <a:lstStyle/>
          <a:p>
            <a:pPr>
              <a:buNone/>
            </a:pPr>
            <a:r>
              <a:rPr lang="en-US" sz="2400" b="1" dirty="0"/>
              <a:t>8. The purchase value of assets over its serviceable life is categorized as</a:t>
            </a:r>
          </a:p>
          <a:p>
            <a:r>
              <a:rPr lang="en-US" sz="2400" dirty="0"/>
              <a:t>A) Appreciated Liabilities</a:t>
            </a:r>
          </a:p>
          <a:p>
            <a:r>
              <a:rPr lang="en-US" sz="2400" dirty="0"/>
              <a:t>B) Appreciated Assets</a:t>
            </a:r>
          </a:p>
          <a:p>
            <a:r>
              <a:rPr lang="en-US" sz="2400" b="1" dirty="0"/>
              <a:t>C) Depreciation</a:t>
            </a:r>
          </a:p>
          <a:p>
            <a:r>
              <a:rPr lang="en-US" sz="2400" dirty="0"/>
              <a:t>D) Appreciation</a:t>
            </a:r>
          </a:p>
          <a:p>
            <a:pPr>
              <a:buNone/>
            </a:pPr>
            <a:r>
              <a:rPr lang="en-US" sz="2600" b="1" dirty="0"/>
              <a:t>9. The statement of cash flow clarifies cash flows according to</a:t>
            </a:r>
          </a:p>
          <a:p>
            <a:r>
              <a:rPr lang="en-US" sz="2400" dirty="0"/>
              <a:t>A) Operating and Non-operating Flows</a:t>
            </a:r>
          </a:p>
          <a:p>
            <a:r>
              <a:rPr lang="en-US" sz="2400" dirty="0"/>
              <a:t>B) Inflow and Outflow</a:t>
            </a:r>
          </a:p>
          <a:p>
            <a:r>
              <a:rPr lang="en-US" sz="2400" dirty="0"/>
              <a:t>C) Investing and Non-operating Flows</a:t>
            </a:r>
          </a:p>
          <a:p>
            <a:r>
              <a:rPr lang="en-US" sz="2400" b="1" dirty="0"/>
              <a:t>D) Operating, Investing, and Financing Activities</a:t>
            </a:r>
          </a:p>
          <a:p>
            <a:pPr>
              <a:buNone/>
            </a:pPr>
            <a:r>
              <a:rPr lang="en-US" sz="2800" b="1" dirty="0"/>
              <a:t>10. Cash flow example from a financial activity is</a:t>
            </a:r>
          </a:p>
          <a:p>
            <a:r>
              <a:rPr lang="en-US" sz="2600" dirty="0"/>
              <a:t>A) Payment of Dividend</a:t>
            </a:r>
          </a:p>
          <a:p>
            <a:r>
              <a:rPr lang="en-US" sz="2600" dirty="0"/>
              <a:t>B) Receipt of Dividend on Investment</a:t>
            </a:r>
          </a:p>
          <a:p>
            <a:r>
              <a:rPr lang="en-US" sz="2600" dirty="0"/>
              <a:t>C) Cash Received from Customers</a:t>
            </a:r>
          </a:p>
          <a:p>
            <a:r>
              <a:rPr lang="en-US" sz="2600" b="1" dirty="0"/>
              <a:t>D) Purchase of Fixed Asset</a:t>
            </a:r>
          </a:p>
          <a:p>
            <a:endParaRPr lang="en-US" sz="2000" b="1" dirty="0"/>
          </a:p>
          <a:p>
            <a:endParaRPr lang="en-US" sz="2000" dirty="0"/>
          </a:p>
          <a:p>
            <a:endParaRPr lang="en-US" sz="2000" b="1" dirty="0"/>
          </a:p>
        </p:txBody>
      </p:sp>
      <p:sp>
        <p:nvSpPr>
          <p:cNvPr id="4" name="Date Placeholder 3"/>
          <p:cNvSpPr>
            <a:spLocks noGrp="1"/>
          </p:cNvSpPr>
          <p:nvPr>
            <p:ph type="dt" sz="half" idx="10"/>
          </p:nvPr>
        </p:nvSpPr>
        <p:spPr/>
        <p:txBody>
          <a:bodyPr/>
          <a:lstStyle/>
          <a:p>
            <a:fld id="{98CE903B-0F44-43A9-BF0A-0EF44A5EB117}"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828800" y="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MCQ s</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811000" cy="5334000"/>
          </a:xfrm>
        </p:spPr>
        <p:txBody>
          <a:bodyPr>
            <a:normAutofit/>
          </a:bodyPr>
          <a:lstStyle/>
          <a:p>
            <a:pPr>
              <a:buFont typeface="Wingdings" pitchFamily="2" charset="2"/>
              <a:buChar char="Ø"/>
            </a:pPr>
            <a:r>
              <a:rPr lang="en-US" sz="2400" dirty="0"/>
              <a:t>Attempt all the parts: please pick the correct option from Glossary:</a:t>
            </a:r>
          </a:p>
          <a:p>
            <a:pPr>
              <a:buNone/>
            </a:pPr>
            <a:endParaRPr lang="en-US" sz="2000" dirty="0"/>
          </a:p>
          <a:p>
            <a:endParaRPr lang="en-US" sz="2000" dirty="0"/>
          </a:p>
          <a:p>
            <a:endParaRPr lang="en-US" sz="2000" dirty="0"/>
          </a:p>
          <a:p>
            <a:endParaRPr lang="en-US" sz="2000" dirty="0"/>
          </a:p>
          <a:p>
            <a:r>
              <a:rPr lang="en-US" sz="2000" dirty="0"/>
              <a:t>1. There exists a close association between sales fluctuations and invested amounts in ......................... </a:t>
            </a:r>
          </a:p>
          <a:p>
            <a:r>
              <a:rPr lang="en-US" sz="2000" dirty="0"/>
              <a:t>2. Institute of Chartered Accountants of India suggests and follows the structure of a ......................... form of balance sheet. </a:t>
            </a:r>
          </a:p>
          <a:p>
            <a:r>
              <a:rPr lang="en-US" sz="2000" dirty="0"/>
              <a:t>3. Under the conventional method, ......................... enters into the calculation of working capital. </a:t>
            </a:r>
          </a:p>
          <a:p>
            <a:r>
              <a:rPr lang="en-US" sz="2000" dirty="0"/>
              <a:t>4. A company’s operating cycle naturally consists of three most important activities: ......................, ....................... and .................... </a:t>
            </a:r>
          </a:p>
          <a:p>
            <a:r>
              <a:rPr lang="en-US" sz="2000" dirty="0"/>
              <a:t>5. The ......................... shows the time period over which additional no impulsive sources of working capital financing must be obtained to carry out the firm’s actions.</a:t>
            </a:r>
          </a:p>
        </p:txBody>
      </p:sp>
      <p:sp>
        <p:nvSpPr>
          <p:cNvPr id="4" name="Date Placeholder 3"/>
          <p:cNvSpPr>
            <a:spLocks noGrp="1"/>
          </p:cNvSpPr>
          <p:nvPr>
            <p:ph type="dt" sz="half" idx="10"/>
          </p:nvPr>
        </p:nvSpPr>
        <p:spPr/>
        <p:txBody>
          <a:bodyPr/>
          <a:lstStyle/>
          <a:p>
            <a:fld id="{A6570C5B-D49D-4ACF-9454-13B885D60082}"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Glossary Questions</a:t>
            </a:r>
          </a:p>
        </p:txBody>
      </p:sp>
      <p:graphicFrame>
        <p:nvGraphicFramePr>
          <p:cNvPr id="9" name="Table 8"/>
          <p:cNvGraphicFramePr>
            <a:graphicFrameLocks noGrp="1"/>
          </p:cNvGraphicFramePr>
          <p:nvPr/>
        </p:nvGraphicFramePr>
        <p:xfrm>
          <a:off x="2133600" y="1828800"/>
          <a:ext cx="7848600" cy="762000"/>
        </p:xfrm>
        <a:graphic>
          <a:graphicData uri="http://schemas.openxmlformats.org/drawingml/2006/table">
            <a:tbl>
              <a:tblPr firstRow="1" bandRow="1">
                <a:tableStyleId>{5940675A-B579-460E-94D1-54222C63F5DA}</a:tableStyleId>
              </a:tblPr>
              <a:tblGrid>
                <a:gridCol w="7848600">
                  <a:extLst>
                    <a:ext uri="{9D8B030D-6E8A-4147-A177-3AD203B41FA5}">
                      <a16:colId xmlns:a16="http://schemas.microsoft.com/office/drawing/2014/main" val="20000"/>
                    </a:ext>
                  </a:extLst>
                </a:gridCol>
              </a:tblGrid>
              <a:tr h="762000">
                <a:tc>
                  <a:txBody>
                    <a:bodyPr/>
                    <a:lstStyle/>
                    <a:p>
                      <a:r>
                        <a:rPr lang="en-US" dirty="0"/>
                        <a:t> Current assets , perpendicular , Cash ,Purchasing resources, producing the product, selling the product , Cash alteration cycle </a:t>
                      </a:r>
                    </a:p>
                  </a:txBody>
                  <a:tcPr/>
                </a:tc>
                <a:extLst>
                  <a:ext uri="{0D108BD9-81ED-4DB2-BD59-A6C34878D82A}">
                    <a16:rowId xmlns:a16="http://schemas.microsoft.com/office/drawing/2014/main" val="10000"/>
                  </a:ext>
                </a:extLst>
              </a:tr>
            </a:tbl>
          </a:graphicData>
        </a:graphic>
      </p:graphicFrame>
      <p:sp>
        <p:nvSpPr>
          <p:cNvPr id="10" name="Footer Placeholder 9"/>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1734800" cy="5410200"/>
          </a:xfrm>
        </p:spPr>
        <p:txBody>
          <a:bodyPr>
            <a:normAutofit/>
          </a:bodyPr>
          <a:lstStyle/>
          <a:p>
            <a:r>
              <a:rPr lang="en-US" sz="1800" b="1" dirty="0"/>
              <a:t>MM:100</a:t>
            </a:r>
          </a:p>
          <a:p>
            <a:r>
              <a:rPr lang="en-US" sz="1800" b="1" dirty="0"/>
              <a:t>SECTION A</a:t>
            </a:r>
            <a:endParaRPr lang="en-US" sz="1800" dirty="0"/>
          </a:p>
          <a:p>
            <a:pPr lvl="0"/>
            <a:r>
              <a:rPr lang="en-US" sz="1800" b="1" dirty="0"/>
              <a:t>Attempt </a:t>
            </a:r>
            <a:r>
              <a:rPr lang="en-US" sz="1800" b="1" i="1" dirty="0"/>
              <a:t>all </a:t>
            </a:r>
            <a:r>
              <a:rPr lang="en-US" sz="1800" b="1" dirty="0"/>
              <a:t>questions in brief.	2 x 10 = 20</a:t>
            </a:r>
          </a:p>
          <a:p>
            <a:pPr lvl="1"/>
            <a:r>
              <a:rPr lang="en-US" sz="1800" dirty="0"/>
              <a:t>What is Financial Accounting?</a:t>
            </a:r>
          </a:p>
          <a:p>
            <a:pPr lvl="1"/>
            <a:r>
              <a:rPr lang="en-US" sz="1800" dirty="0"/>
              <a:t>Define Net Sales and Net Purchases.</a:t>
            </a:r>
          </a:p>
          <a:p>
            <a:pPr lvl="1"/>
            <a:r>
              <a:rPr lang="en-US" sz="1800" dirty="0"/>
              <a:t>Explain Goodwill and Copyright.</a:t>
            </a:r>
          </a:p>
          <a:p>
            <a:pPr lvl="1"/>
            <a:r>
              <a:rPr lang="en-US" sz="1800" dirty="0"/>
              <a:t>What is dividend?</a:t>
            </a:r>
          </a:p>
          <a:p>
            <a:pPr lvl="1"/>
            <a:r>
              <a:rPr lang="en-US" sz="1800" dirty="0"/>
              <a:t>Explain provisions.</a:t>
            </a:r>
          </a:p>
          <a:p>
            <a:pPr lvl="1"/>
            <a:r>
              <a:rPr lang="en-US" sz="1800" dirty="0"/>
              <a:t>What is a Comparative Balance Sheet?</a:t>
            </a:r>
          </a:p>
          <a:p>
            <a:pPr lvl="1"/>
            <a:r>
              <a:rPr lang="en-US" sz="1800" dirty="0"/>
              <a:t>Explain the term solvency of a firm.</a:t>
            </a:r>
          </a:p>
          <a:p>
            <a:pPr lvl="1"/>
            <a:r>
              <a:rPr lang="en-US" sz="1800" dirty="0"/>
              <a:t>What is Schedule of Changes in Working Capital?</a:t>
            </a:r>
          </a:p>
          <a:p>
            <a:pPr lvl="1"/>
            <a:r>
              <a:rPr lang="en-US" sz="1800" dirty="0"/>
              <a:t>Discuss the concept of cash.</a:t>
            </a:r>
          </a:p>
          <a:p>
            <a:pPr lvl="1"/>
            <a:r>
              <a:rPr lang="en-US" sz="1800" dirty="0"/>
              <a:t>What is depreciation?</a:t>
            </a:r>
          </a:p>
          <a:p>
            <a:pPr>
              <a:buNone/>
            </a:pPr>
            <a:endParaRPr lang="en-US" sz="1800" dirty="0"/>
          </a:p>
        </p:txBody>
      </p:sp>
      <p:sp>
        <p:nvSpPr>
          <p:cNvPr id="4" name="Date Placeholder 3"/>
          <p:cNvSpPr>
            <a:spLocks noGrp="1"/>
          </p:cNvSpPr>
          <p:nvPr>
            <p:ph type="dt" sz="half" idx="10"/>
          </p:nvPr>
        </p:nvSpPr>
        <p:spPr/>
        <p:txBody>
          <a:bodyPr/>
          <a:lstStyle/>
          <a:p>
            <a:fld id="{E9BCB544-3526-448A-A651-553CF2028DB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11658600" cy="5105400"/>
          </a:xfrm>
        </p:spPr>
        <p:txBody>
          <a:bodyPr>
            <a:normAutofit/>
          </a:bodyPr>
          <a:lstStyle/>
          <a:p>
            <a:r>
              <a:rPr lang="en-US" sz="1800" b="1" dirty="0"/>
              <a:t>SECTION B</a:t>
            </a:r>
            <a:endParaRPr lang="en-US" sz="1800" dirty="0"/>
          </a:p>
          <a:p>
            <a:pPr lvl="0"/>
            <a:r>
              <a:rPr lang="en-US" sz="1800" b="1" dirty="0"/>
              <a:t>Attempt any </a:t>
            </a:r>
            <a:r>
              <a:rPr lang="en-US" sz="1800" b="1" i="1" dirty="0"/>
              <a:t>three </a:t>
            </a:r>
            <a:r>
              <a:rPr lang="en-US" sz="1800" b="1" dirty="0"/>
              <a:t>of the following:	10 x 3 = 30</a:t>
            </a:r>
          </a:p>
          <a:p>
            <a:pPr lvl="1" algn="just"/>
            <a:r>
              <a:rPr lang="en-US" sz="1800" dirty="0"/>
              <a:t>Discuss various conventions of Accounting.</a:t>
            </a:r>
          </a:p>
          <a:p>
            <a:pPr lvl="1" algn="just"/>
            <a:r>
              <a:rPr lang="en-US" sz="1800" dirty="0"/>
              <a:t>What are	final accounts?	Briefly	discuss	the uses and	limitations	of	final accounts.</a:t>
            </a:r>
          </a:p>
          <a:p>
            <a:pPr lvl="1" algn="just"/>
            <a:r>
              <a:rPr lang="en-US" sz="1800" dirty="0"/>
              <a:t>What do you understand by Analysis and Interpretation? Explain various tools of analysis of financial statements.</a:t>
            </a:r>
          </a:p>
          <a:p>
            <a:pPr lvl="1" algn="just"/>
            <a:r>
              <a:rPr lang="en-US" sz="1800" dirty="0"/>
              <a:t>Explain in brief various statements that are prepared in fund flow Analysis. Show the format of each statement.</a:t>
            </a:r>
          </a:p>
          <a:p>
            <a:pPr lvl="1" algn="just"/>
            <a:r>
              <a:rPr lang="en-US" sz="1800" dirty="0"/>
              <a:t>Differentiate  between  find  flow  and  cash  flow  analysis which one is more beneficial for a firm.</a:t>
            </a:r>
          </a:p>
          <a:p>
            <a:pPr>
              <a:buNone/>
            </a:pPr>
            <a:endParaRPr lang="en-US" sz="1800" dirty="0"/>
          </a:p>
          <a:p>
            <a:pPr>
              <a:buNone/>
            </a:pPr>
            <a:endParaRPr lang="en-US" sz="1800" dirty="0"/>
          </a:p>
        </p:txBody>
      </p:sp>
      <p:sp>
        <p:nvSpPr>
          <p:cNvPr id="4" name="Date Placeholder 3"/>
          <p:cNvSpPr>
            <a:spLocks noGrp="1"/>
          </p:cNvSpPr>
          <p:nvPr>
            <p:ph type="dt" sz="half" idx="10"/>
          </p:nvPr>
        </p:nvSpPr>
        <p:spPr/>
        <p:txBody>
          <a:bodyPr/>
          <a:lstStyle/>
          <a:p>
            <a:fld id="{17124E93-198F-4D60-A949-43103CC80867}"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46152"/>
            <a:ext cx="11582400" cy="5302248"/>
          </a:xfrm>
        </p:spPr>
        <p:txBody>
          <a:bodyPr>
            <a:normAutofit/>
          </a:bodyPr>
          <a:lstStyle/>
          <a:p>
            <a:r>
              <a:rPr lang="en-US" sz="1800" b="1" dirty="0"/>
              <a:t>SECTION C</a:t>
            </a:r>
          </a:p>
          <a:p>
            <a:pPr lvl="0"/>
            <a:r>
              <a:rPr lang="en-US" sz="1800" b="1" dirty="0"/>
              <a:t>Attempt any </a:t>
            </a:r>
            <a:r>
              <a:rPr lang="en-US" sz="1800" b="1" i="1" dirty="0"/>
              <a:t>one </a:t>
            </a:r>
            <a:r>
              <a:rPr lang="en-US" sz="1800" b="1" dirty="0"/>
              <a:t>part of the following: 10 x 1 = 10</a:t>
            </a:r>
            <a:endParaRPr lang="en-US" sz="1800" dirty="0"/>
          </a:p>
          <a:p>
            <a:pPr lvl="0"/>
            <a:r>
              <a:rPr lang="en-US" sz="1800" dirty="0"/>
              <a:t>	What	is the	importance	of Accounting? Also	discuss	various	types	of accounting.</a:t>
            </a:r>
          </a:p>
          <a:p>
            <a:pPr lvl="0"/>
            <a:r>
              <a:rPr lang="en-US" sz="1800" dirty="0"/>
              <a:t>	Discuss	the role and	objectives of	International	and	Indian	Accounting Standards.</a:t>
            </a:r>
          </a:p>
          <a:p>
            <a:pPr lvl="0"/>
            <a:r>
              <a:rPr lang="en-US" sz="1800" b="1" dirty="0"/>
              <a:t>Attempt any </a:t>
            </a:r>
            <a:r>
              <a:rPr lang="en-US" sz="1800" b="1" i="1" dirty="0"/>
              <a:t>one </a:t>
            </a:r>
            <a:r>
              <a:rPr lang="en-US" sz="1800" b="1" dirty="0"/>
              <a:t>part of the following: 10 x 1 = 10</a:t>
            </a:r>
          </a:p>
          <a:p>
            <a:pPr lvl="0"/>
            <a:r>
              <a:rPr lang="en-US" sz="1800" dirty="0"/>
              <a:t>What is Journalizing? Explain the concept of Ledger posting and balancing of accounts.</a:t>
            </a:r>
          </a:p>
          <a:p>
            <a:pPr lvl="0"/>
            <a:r>
              <a:rPr lang="en-US" sz="1800" dirty="0">
                <a:latin typeface="Times New Roman" pitchFamily="18" charset="0"/>
                <a:cs typeface="Times New Roman" pitchFamily="18" charset="0"/>
              </a:rPr>
              <a:t>Discuss the adjustment entries. Give any five adjustment entries.</a:t>
            </a:r>
            <a:endParaRPr lang="en-US" sz="1800" dirty="0"/>
          </a:p>
          <a:p>
            <a:pPr>
              <a:buNone/>
            </a:pPr>
            <a:endParaRPr lang="en-US" sz="1800" dirty="0"/>
          </a:p>
        </p:txBody>
      </p:sp>
      <p:sp>
        <p:nvSpPr>
          <p:cNvPr id="4" name="Date Placeholder 3"/>
          <p:cNvSpPr>
            <a:spLocks noGrp="1"/>
          </p:cNvSpPr>
          <p:nvPr>
            <p:ph type="dt" sz="half" idx="10"/>
          </p:nvPr>
        </p:nvSpPr>
        <p:spPr/>
        <p:txBody>
          <a:bodyPr/>
          <a:lstStyle/>
          <a:p>
            <a:fld id="{95AF785F-BC85-4E54-93E4-6BA46E1C309B}"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46152"/>
            <a:ext cx="11582400" cy="5302248"/>
          </a:xfrm>
        </p:spPr>
        <p:txBody>
          <a:bodyPr>
            <a:normAutofit/>
          </a:bodyPr>
          <a:lstStyle/>
          <a:p>
            <a:pPr lvl="0" algn="just"/>
            <a:r>
              <a:rPr lang="en-US" sz="1800" dirty="0"/>
              <a:t>What is Ratio Analysis? Explain various types of ratios and discuss which type of ratios is used in calculating profitability and liquidity of a firm.</a:t>
            </a:r>
          </a:p>
          <a:p>
            <a:pPr lvl="0" algn="just"/>
            <a:r>
              <a:rPr lang="en-US" sz="1800" b="1" dirty="0"/>
              <a:t>Attempt any </a:t>
            </a:r>
            <a:r>
              <a:rPr lang="en-US" sz="1800" b="1" i="1" dirty="0"/>
              <a:t>one </a:t>
            </a:r>
            <a:r>
              <a:rPr lang="en-US" sz="1800" b="1" dirty="0"/>
              <a:t>part of the following:	10 x 1 = 10</a:t>
            </a:r>
          </a:p>
          <a:p>
            <a:pPr lvl="0" algn="just"/>
            <a:r>
              <a:rPr lang="en-US" sz="1800" dirty="0"/>
              <a:t>What is a Balance Sheet? Briefly explain Marshalling of Balance sheet with example.</a:t>
            </a:r>
          </a:p>
          <a:p>
            <a:pPr lvl="0" algn="just"/>
            <a:r>
              <a:rPr lang="en-US" sz="1800" dirty="0"/>
              <a:t>“Fund Flow analysis is an effective tool of managing working capital in a firm.” Explain.</a:t>
            </a:r>
          </a:p>
          <a:p>
            <a:pPr lvl="0" algn="just"/>
            <a:r>
              <a:rPr lang="en-US" sz="1800" b="1" dirty="0"/>
              <a:t>Attempt any </a:t>
            </a:r>
            <a:r>
              <a:rPr lang="en-US" sz="1800" b="1" i="1" dirty="0"/>
              <a:t>one </a:t>
            </a:r>
            <a:r>
              <a:rPr lang="en-US" sz="1800" b="1" dirty="0"/>
              <a:t>part of the following:	10 x 1 = 10</a:t>
            </a:r>
          </a:p>
          <a:p>
            <a:pPr lvl="0" algn="just"/>
            <a:r>
              <a:rPr lang="en-US" sz="1800" dirty="0"/>
              <a:t>Elaborate	various	types	of activities	that	are	considered in	a Cash	Flow Analysis.</a:t>
            </a:r>
          </a:p>
          <a:p>
            <a:pPr lvl="0" algn="just"/>
            <a:r>
              <a:rPr lang="en-US" sz="1800" dirty="0"/>
              <a:t>What is inventory? Explain various types of inventory.</a:t>
            </a:r>
          </a:p>
          <a:p>
            <a:pPr lvl="0" algn="just"/>
            <a:endParaRPr lang="en-US" sz="1800" dirty="0"/>
          </a:p>
          <a:p>
            <a:pPr algn="just">
              <a:buNone/>
            </a:pPr>
            <a:endParaRPr lang="en-US" sz="1800" dirty="0"/>
          </a:p>
          <a:p>
            <a:pPr algn="just">
              <a:buNone/>
            </a:pPr>
            <a:endParaRPr lang="en-US" sz="1800" dirty="0"/>
          </a:p>
        </p:txBody>
      </p:sp>
      <p:sp>
        <p:nvSpPr>
          <p:cNvPr id="4" name="Date Placeholder 3"/>
          <p:cNvSpPr>
            <a:spLocks noGrp="1"/>
          </p:cNvSpPr>
          <p:nvPr>
            <p:ph type="dt" sz="half" idx="10"/>
          </p:nvPr>
        </p:nvSpPr>
        <p:spPr/>
        <p:txBody>
          <a:bodyPr/>
          <a:lstStyle/>
          <a:p>
            <a:fld id="{4C1FFBFE-7156-4924-9768-E8FB7AB3A9C6}"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11734800" cy="4876800"/>
          </a:xfrm>
        </p:spPr>
        <p:txBody>
          <a:bodyPr>
            <a:normAutofit/>
          </a:bodyPr>
          <a:lstStyle/>
          <a:p>
            <a:pPr lvl="0" algn="just"/>
            <a:r>
              <a:rPr lang="en-US" sz="1800" b="1" dirty="0"/>
              <a:t>Attempt any </a:t>
            </a:r>
            <a:r>
              <a:rPr lang="en-US" sz="1800" b="1" i="1" dirty="0"/>
              <a:t>one </a:t>
            </a:r>
            <a:r>
              <a:rPr lang="en-US" sz="1800" b="1" dirty="0"/>
              <a:t>part of the following:	10 x 1 = 10</a:t>
            </a:r>
          </a:p>
          <a:p>
            <a:pPr lvl="0" algn="just"/>
            <a:r>
              <a:rPr lang="en-US" sz="1800" b="1" dirty="0">
                <a:latin typeface="Times New Roman" pitchFamily="18" charset="0"/>
                <a:cs typeface="Times New Roman" pitchFamily="18" charset="0"/>
              </a:rPr>
              <a:t>State the final accounts. Briefly discuss the uses and limitations of </a:t>
            </a:r>
            <a:r>
              <a:rPr lang="en-US" sz="1800" dirty="0">
                <a:latin typeface="Times New Roman" pitchFamily="18" charset="0"/>
                <a:cs typeface="Times New Roman" pitchFamily="18" charset="0"/>
              </a:rPr>
              <a:t>final accounts. </a:t>
            </a:r>
          </a:p>
          <a:p>
            <a:pPr lvl="0" algn="just"/>
            <a:r>
              <a:rPr lang="en-US" sz="1800" dirty="0">
                <a:latin typeface="Times New Roman" pitchFamily="18" charset="0"/>
                <a:cs typeface="Times New Roman" pitchFamily="18" charset="0"/>
              </a:rPr>
              <a:t>Discuss the importance of Accounting? Also discuss various types of accounting. </a:t>
            </a:r>
          </a:p>
          <a:p>
            <a:pPr algn="just">
              <a:buNone/>
            </a:pPr>
            <a:endParaRPr lang="en-US" sz="1800" dirty="0"/>
          </a:p>
        </p:txBody>
      </p:sp>
      <p:sp>
        <p:nvSpPr>
          <p:cNvPr id="4" name="Date Placeholder 3"/>
          <p:cNvSpPr>
            <a:spLocks noGrp="1"/>
          </p:cNvSpPr>
          <p:nvPr>
            <p:ph type="dt" sz="half" idx="10"/>
          </p:nvPr>
        </p:nvSpPr>
        <p:spPr/>
        <p:txBody>
          <a:bodyPr/>
          <a:lstStyle/>
          <a:p>
            <a:fld id="{37809B13-70D7-4CC8-9CFF-50D63BAE7E56}"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Amit Kumar        Subject code: AOE0770       Finance for Engineers                 Unit 4</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905000" y="0"/>
            <a:ext cx="102870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2667000" y="6324601"/>
            <a:ext cx="7262786" cy="396875"/>
          </a:xfrm>
        </p:spPr>
        <p:txBody>
          <a:bodyPr/>
          <a:lstStyle/>
          <a:p>
            <a:r>
              <a:rPr lang="en-US"/>
              <a:t>Amit Kumar        Subject code: AOE0770       Finance for Engineers                 Unit 4</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78</a:t>
            </a:fld>
            <a:endParaRPr lang="en-US"/>
          </a:p>
        </p:txBody>
      </p:sp>
      <p:pic>
        <p:nvPicPr>
          <p:cNvPr id="10" name="Content Placeholder 9" descr="temp1.png"/>
          <p:cNvPicPr>
            <a:picLocks noGrp="1" noChangeAspect="1"/>
          </p:cNvPicPr>
          <p:nvPr>
            <p:ph idx="1"/>
          </p:nvPr>
        </p:nvPicPr>
        <p:blipFill>
          <a:blip r:embed="rId2"/>
          <a:stretch>
            <a:fillRect/>
          </a:stretch>
        </p:blipFill>
        <p:spPr>
          <a:xfrm>
            <a:off x="2309787" y="857233"/>
            <a:ext cx="7619999" cy="5170355"/>
          </a:xfrm>
        </p:spPr>
      </p:pic>
      <p:sp>
        <p:nvSpPr>
          <p:cNvPr id="8" name="Date Placeholder 7"/>
          <p:cNvSpPr>
            <a:spLocks noGrp="1"/>
          </p:cNvSpPr>
          <p:nvPr>
            <p:ph type="dt" sz="half" idx="10"/>
          </p:nvPr>
        </p:nvSpPr>
        <p:spPr/>
        <p:txBody>
          <a:bodyPr/>
          <a:lstStyle/>
          <a:p>
            <a:fld id="{BBE942C9-111A-4711-9E6A-F2CE38F1AC9C}" type="datetime1">
              <a:rPr lang="en-US" smtClean="0"/>
              <a:t>8/20/2025</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056288" y="0"/>
            <a:ext cx="10135712"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Amit Kumar        Subject code: AOE0770       Finance for Engineers                 Unit 4</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79</a:t>
            </a:fld>
            <a:endParaRPr lang="en-US"/>
          </a:p>
        </p:txBody>
      </p:sp>
      <p:pic>
        <p:nvPicPr>
          <p:cNvPr id="8" name="Content Placeholder 7" descr="temp2.png"/>
          <p:cNvPicPr>
            <a:picLocks noGrp="1" noChangeAspect="1"/>
          </p:cNvPicPr>
          <p:nvPr>
            <p:ph idx="1"/>
          </p:nvPr>
        </p:nvPicPr>
        <p:blipFill>
          <a:blip r:embed="rId2"/>
          <a:stretch>
            <a:fillRect/>
          </a:stretch>
        </p:blipFill>
        <p:spPr>
          <a:xfrm>
            <a:off x="2056288" y="1066800"/>
            <a:ext cx="8170846" cy="5105400"/>
          </a:xfrm>
        </p:spPr>
      </p:pic>
      <p:sp>
        <p:nvSpPr>
          <p:cNvPr id="10" name="Date Placeholder 9"/>
          <p:cNvSpPr>
            <a:spLocks noGrp="1"/>
          </p:cNvSpPr>
          <p:nvPr>
            <p:ph type="dt" sz="half" idx="10"/>
          </p:nvPr>
        </p:nvSpPr>
        <p:spPr/>
        <p:txBody>
          <a:bodyPr/>
          <a:lstStyle/>
          <a:p>
            <a:fld id="{8DB09AC7-A9FB-4352-AD4D-2DD53877B4CF}" type="datetime1">
              <a:rPr lang="en-US" smtClean="0"/>
              <a:t>8/20/2025</a:t>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905000" y="0"/>
            <a:ext cx="102870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2133600" y="6324601"/>
            <a:ext cx="8001000" cy="396875"/>
          </a:xfrm>
        </p:spPr>
        <p:txBody>
          <a:bodyPr/>
          <a:lstStyle/>
          <a:p>
            <a:r>
              <a:rPr lang="en-US"/>
              <a:t>Amit Kumar        Subject code: AOE0770       Finance for Engineers                 Unit 4</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80</a:t>
            </a:fld>
            <a:endParaRPr lang="en-US"/>
          </a:p>
        </p:txBody>
      </p:sp>
      <p:pic>
        <p:nvPicPr>
          <p:cNvPr id="8" name="Content Placeholder 7" descr="temp3.png"/>
          <p:cNvPicPr>
            <a:picLocks noGrp="1" noChangeAspect="1"/>
          </p:cNvPicPr>
          <p:nvPr>
            <p:ph idx="1"/>
          </p:nvPr>
        </p:nvPicPr>
        <p:blipFill>
          <a:blip r:embed="rId2"/>
          <a:stretch>
            <a:fillRect/>
          </a:stretch>
        </p:blipFill>
        <p:spPr>
          <a:xfrm>
            <a:off x="2438400" y="949465"/>
            <a:ext cx="6858000" cy="5353789"/>
          </a:xfrm>
        </p:spPr>
      </p:pic>
      <p:sp>
        <p:nvSpPr>
          <p:cNvPr id="10" name="Date Placeholder 9"/>
          <p:cNvSpPr>
            <a:spLocks noGrp="1"/>
          </p:cNvSpPr>
          <p:nvPr>
            <p:ph type="dt" sz="half" idx="10"/>
          </p:nvPr>
        </p:nvSpPr>
        <p:spPr/>
        <p:txBody>
          <a:bodyPr/>
          <a:lstStyle/>
          <a:p>
            <a:fld id="{04FF9992-C9DB-430B-A5B3-6494B3B74E49}" type="datetime1">
              <a:rPr lang="en-US" smtClean="0"/>
              <a:t>8/20/2025</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58094"/>
            <a:ext cx="11353800" cy="4525963"/>
          </a:xfrm>
        </p:spPr>
        <p:txBody>
          <a:bodyPr>
            <a:normAutofit/>
          </a:bodyPr>
          <a:lstStyle/>
          <a:p>
            <a:pPr marL="514350" indent="-514350">
              <a:spcBef>
                <a:spcPts val="0"/>
              </a:spcBef>
              <a:buClr>
                <a:schemeClr val="tx1">
                  <a:shade val="95000"/>
                </a:schemeClr>
              </a:buClr>
              <a:buFont typeface="+mj-lt"/>
              <a:buAutoNum type="arabicPeriod"/>
              <a:defRPr/>
            </a:pPr>
            <a:r>
              <a:rPr lang="en-US" sz="2400" dirty="0"/>
              <a:t>State the meaning of Funds flow statement</a:t>
            </a:r>
          </a:p>
          <a:p>
            <a:pPr marL="514350" indent="-514350">
              <a:spcBef>
                <a:spcPts val="0"/>
              </a:spcBef>
              <a:buClr>
                <a:schemeClr val="tx1">
                  <a:shade val="95000"/>
                </a:schemeClr>
              </a:buClr>
              <a:buFont typeface="+mj-lt"/>
              <a:buAutoNum type="arabicPeriod"/>
              <a:defRPr/>
            </a:pPr>
            <a:r>
              <a:rPr lang="en-US" sz="2400" dirty="0"/>
              <a:t>How  is the  schedule of changes in working capital prepared?</a:t>
            </a:r>
          </a:p>
          <a:p>
            <a:pPr marL="514350" indent="-514350">
              <a:spcBef>
                <a:spcPts val="0"/>
              </a:spcBef>
              <a:buClr>
                <a:schemeClr val="tx1">
                  <a:shade val="95000"/>
                </a:schemeClr>
              </a:buClr>
              <a:buFont typeface="+mj-lt"/>
              <a:buAutoNum type="arabicPeriod"/>
              <a:defRPr/>
            </a:pPr>
            <a:r>
              <a:rPr lang="en-US" sz="2400" dirty="0"/>
              <a:t>Discuss the importance  of funds flow statement .</a:t>
            </a:r>
          </a:p>
          <a:p>
            <a:pPr marL="514350" indent="-514350">
              <a:spcBef>
                <a:spcPts val="0"/>
              </a:spcBef>
              <a:buClr>
                <a:schemeClr val="tx1">
                  <a:shade val="95000"/>
                </a:schemeClr>
              </a:buClr>
              <a:buFont typeface="+mj-lt"/>
              <a:buAutoNum type="arabicPeriod"/>
              <a:defRPr/>
            </a:pPr>
            <a:r>
              <a:rPr lang="en-US" sz="2400" dirty="0"/>
              <a:t>Explain the  terms ‘funds items‘ and ‘non funds items. Give examples.</a:t>
            </a:r>
          </a:p>
          <a:p>
            <a:pPr marL="514350" indent="-514350">
              <a:spcBef>
                <a:spcPts val="0"/>
              </a:spcBef>
              <a:buClr>
                <a:schemeClr val="tx1">
                  <a:shade val="95000"/>
                </a:schemeClr>
              </a:buClr>
              <a:buFont typeface="+mj-lt"/>
              <a:buAutoNum type="arabicPeriod"/>
              <a:defRPr/>
            </a:pPr>
            <a:r>
              <a:rPr lang="en-US" sz="2400" dirty="0"/>
              <a:t>Write short notes on application of funds.</a:t>
            </a:r>
          </a:p>
          <a:p>
            <a:pPr marL="514350" indent="-514350">
              <a:spcBef>
                <a:spcPts val="0"/>
              </a:spcBef>
              <a:buClr>
                <a:schemeClr val="tx1">
                  <a:shade val="95000"/>
                </a:schemeClr>
              </a:buClr>
              <a:buFont typeface="+mj-lt"/>
              <a:buAutoNum type="arabicPeriod"/>
              <a:defRPr/>
            </a:pPr>
            <a:r>
              <a:rPr lang="en-US" sz="2400" dirty="0"/>
              <a:t>How are the funds from operations calculated?</a:t>
            </a:r>
          </a:p>
          <a:p>
            <a:pPr marL="514350" indent="-514350">
              <a:spcBef>
                <a:spcPts val="0"/>
              </a:spcBef>
              <a:buClr>
                <a:schemeClr val="tx1">
                  <a:shade val="95000"/>
                </a:schemeClr>
              </a:buClr>
              <a:buFont typeface="+mj-lt"/>
              <a:buAutoNum type="arabicPeriod"/>
              <a:defRPr/>
            </a:pPr>
            <a:r>
              <a:rPr lang="en-US" sz="2400" dirty="0"/>
              <a:t>Distinguish between the funds flow statement and Balance-Sheet.</a:t>
            </a:r>
          </a:p>
          <a:p>
            <a:pPr marL="514350" indent="-514350">
              <a:spcBef>
                <a:spcPts val="0"/>
              </a:spcBef>
              <a:buClr>
                <a:schemeClr val="tx1">
                  <a:shade val="95000"/>
                </a:schemeClr>
              </a:buClr>
              <a:buFont typeface="+mj-lt"/>
              <a:buAutoNum type="arabicPeriod"/>
              <a:defRPr/>
            </a:pPr>
            <a:endParaRPr lang="en-US" sz="2400" dirty="0"/>
          </a:p>
        </p:txBody>
      </p:sp>
      <p:sp>
        <p:nvSpPr>
          <p:cNvPr id="4" name="Date Placeholder 3"/>
          <p:cNvSpPr>
            <a:spLocks noGrp="1"/>
          </p:cNvSpPr>
          <p:nvPr>
            <p:ph type="dt" sz="half" idx="10"/>
          </p:nvPr>
        </p:nvSpPr>
        <p:spPr/>
        <p:txBody>
          <a:bodyPr/>
          <a:lstStyle/>
          <a:p>
            <a:fld id="{D54FAA68-67B3-4B70-A51D-47B37474156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Questions for University Exam </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506200" cy="4525963"/>
          </a:xfrm>
        </p:spPr>
        <p:txBody>
          <a:bodyPr>
            <a:normAutofit/>
          </a:bodyPr>
          <a:lstStyle/>
          <a:p>
            <a:pPr marL="514350" indent="-514350">
              <a:spcBef>
                <a:spcPts val="0"/>
              </a:spcBef>
              <a:buAutoNum type="arabicPeriod" startAt="8"/>
              <a:defRPr/>
            </a:pPr>
            <a:r>
              <a:rPr lang="en-US" sz="2400" dirty="0"/>
              <a:t>Explain the terms ‘Funds’ and ‘Flow in funds ’ in respect of funds flow statement </a:t>
            </a:r>
          </a:p>
          <a:p>
            <a:pPr marL="514350" indent="-514350">
              <a:spcBef>
                <a:spcPts val="0"/>
              </a:spcBef>
              <a:buAutoNum type="arabicPeriod" startAt="8"/>
              <a:defRPr/>
            </a:pPr>
            <a:r>
              <a:rPr lang="en-US" sz="2400" dirty="0"/>
              <a:t> Define Funds Flows statement. How is it prepared? What are the various sources and uses of funds ?</a:t>
            </a:r>
          </a:p>
          <a:p>
            <a:pPr marL="514350" indent="-514350">
              <a:spcBef>
                <a:spcPts val="0"/>
              </a:spcBef>
              <a:buAutoNum type="arabicPeriod" startAt="8"/>
              <a:defRPr/>
            </a:pPr>
            <a:r>
              <a:rPr lang="en-US" sz="2400" dirty="0"/>
              <a:t>How is a funds flow statement prepared ?Give a Performa of schedule of changes in working capital and funds flow statement.</a:t>
            </a:r>
          </a:p>
          <a:p>
            <a:pPr marL="514350" indent="-514350">
              <a:spcBef>
                <a:spcPts val="0"/>
              </a:spcBef>
              <a:buAutoNum type="arabicPeriod" startAt="8"/>
              <a:defRPr/>
            </a:pPr>
            <a:r>
              <a:rPr lang="en-US" sz="2400" dirty="0"/>
              <a:t>Explain in brief various statements that are prepared in fund flow Analysis. Show the format of each statement.</a:t>
            </a:r>
          </a:p>
          <a:p>
            <a:pPr marL="514350" indent="-514350">
              <a:spcBef>
                <a:spcPts val="0"/>
              </a:spcBef>
              <a:buAutoNum type="arabicPeriod" startAt="8"/>
              <a:defRPr/>
            </a:pPr>
            <a:r>
              <a:rPr lang="en-US" sz="2400" dirty="0"/>
              <a:t>Differentiate between find flow and cash flow analysis which one  is  more beneficial for a firm.</a:t>
            </a:r>
          </a:p>
          <a:p>
            <a:pPr marL="514350" indent="-514350">
              <a:spcBef>
                <a:spcPts val="0"/>
              </a:spcBef>
              <a:buAutoNum type="arabicPeriod" startAt="8"/>
              <a:defRPr/>
            </a:pPr>
            <a:r>
              <a:rPr lang="en-US" sz="2400" dirty="0"/>
              <a:t>Fund Flow analysis is an effective tool of managing working capital in a firm.” Explain.  </a:t>
            </a:r>
          </a:p>
        </p:txBody>
      </p:sp>
      <p:sp>
        <p:nvSpPr>
          <p:cNvPr id="4" name="Date Placeholder 3"/>
          <p:cNvSpPr>
            <a:spLocks noGrp="1"/>
          </p:cNvSpPr>
          <p:nvPr>
            <p:ph type="dt" sz="half" idx="10"/>
          </p:nvPr>
        </p:nvSpPr>
        <p:spPr/>
        <p:txBody>
          <a:bodyPr/>
          <a:lstStyle/>
          <a:p>
            <a:fld id="{453ADE8D-249A-4D63-A46F-DEB5CD016760}"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Questions for University Exam </a:t>
            </a:r>
          </a:p>
        </p:txBody>
      </p:sp>
      <p:sp>
        <p:nvSpPr>
          <p:cNvPr id="9" name="Footer Placeholder 8"/>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66018"/>
            <a:ext cx="11658600" cy="4525963"/>
          </a:xfrm>
        </p:spPr>
        <p:txBody>
          <a:bodyPr>
            <a:normAutofit/>
          </a:bodyPr>
          <a:lstStyle/>
          <a:p>
            <a:r>
              <a:rPr lang="en-US" sz="2400" b="1" dirty="0">
                <a:latin typeface="Times New Roman" pitchFamily="18" charset="0"/>
                <a:cs typeface="Times New Roman" pitchFamily="18" charset="0"/>
              </a:rPr>
              <a:t>Rules of preparing funds flow statement</a:t>
            </a:r>
          </a:p>
          <a:p>
            <a:r>
              <a:rPr lang="en-US" sz="2400" b="1" dirty="0">
                <a:latin typeface="Times New Roman" pitchFamily="18" charset="0"/>
                <a:cs typeface="Times New Roman" pitchFamily="18" charset="0"/>
              </a:rPr>
              <a:t>Format of funds flow statement</a:t>
            </a:r>
          </a:p>
          <a:p>
            <a:r>
              <a:rPr lang="en-US" sz="2400" b="1" dirty="0">
                <a:latin typeface="Times New Roman" pitchFamily="18" charset="0"/>
                <a:cs typeface="Times New Roman" pitchFamily="18" charset="0"/>
              </a:rPr>
              <a:t>Precautions to be taken while preparing funds flow statement</a:t>
            </a:r>
          </a:p>
          <a:p>
            <a:r>
              <a:rPr lang="en-US" sz="2400" b="1" dirty="0">
                <a:latin typeface="Times New Roman" pitchFamily="18" charset="0"/>
                <a:cs typeface="Times New Roman" pitchFamily="18" charset="0"/>
              </a:rPr>
              <a:t>Numerical problem</a:t>
            </a:r>
          </a:p>
          <a:p>
            <a:endParaRPr lang="en-US" sz="2400" b="1" dirty="0"/>
          </a:p>
          <a:p>
            <a:endParaRPr lang="en-US" sz="2400" b="1" dirty="0"/>
          </a:p>
          <a:p>
            <a:endParaRPr lang="en-US" sz="2400" b="1" dirty="0"/>
          </a:p>
        </p:txBody>
      </p:sp>
      <p:sp>
        <p:nvSpPr>
          <p:cNvPr id="4" name="Date Placeholder 3"/>
          <p:cNvSpPr>
            <a:spLocks noGrp="1"/>
          </p:cNvSpPr>
          <p:nvPr>
            <p:ph type="dt" sz="half" idx="10"/>
          </p:nvPr>
        </p:nvSpPr>
        <p:spPr/>
        <p:txBody>
          <a:bodyPr/>
          <a:lstStyle/>
          <a:p>
            <a:fld id="{73B05076-1A25-4A35-AA22-76EA1EEB32E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10"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Summary</a:t>
            </a:r>
          </a:p>
        </p:txBody>
      </p:sp>
      <p:sp>
        <p:nvSpPr>
          <p:cNvPr id="7" name="Footer Placeholder 6"/>
          <p:cNvSpPr>
            <a:spLocks noGrp="1"/>
          </p:cNvSpPr>
          <p:nvPr>
            <p:ph type="ftr" sz="quarter" idx="11"/>
          </p:nvPr>
        </p:nvSpPr>
        <p:spPr/>
        <p:txBody>
          <a:bodyPr/>
          <a:lstStyle/>
          <a:p>
            <a:r>
              <a:rPr lang="en-US"/>
              <a:t>Amit Kumar        Subject code: AOE0770       Finance for Engineers                 Unit 4</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1AC31DB-359B-4C97-A732-EF8CF868110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p>
        </p:txBody>
      </p:sp>
      <p:sp>
        <p:nvSpPr>
          <p:cNvPr id="9" name="Content Placeholder 8"/>
          <p:cNvSpPr>
            <a:spLocks noGrp="1"/>
          </p:cNvSpPr>
          <p:nvPr>
            <p:ph idx="1"/>
          </p:nvPr>
        </p:nvSpPr>
        <p:spPr>
          <a:xfrm>
            <a:off x="2057400" y="1143000"/>
            <a:ext cx="7772400" cy="4118050"/>
          </a:xfrm>
          <a:prstGeom prst="rect">
            <a:avLst/>
          </a:prstGeom>
          <a:noFill/>
        </p:spPr>
        <p:txBody>
          <a:bodyPr vert="horz" wrap="square" lIns="91440" tIns="45720" rIns="91440" bIns="45720" rtlCol="0">
            <a:spAutoFit/>
          </a:bodyPr>
          <a:lstStyle/>
          <a:p>
            <a:pPr>
              <a:buNone/>
            </a:pPr>
            <a:r>
              <a:rPr lang="en-US" sz="2400" b="1" dirty="0">
                <a:ln w="10541" cmpd="sng">
                  <a:solidFill>
                    <a:schemeClr val="accent1">
                      <a:shade val="88000"/>
                      <a:satMod val="110000"/>
                    </a:schemeClr>
                  </a:solidFill>
                  <a:prstDash val="solid"/>
                </a:ln>
              </a:rPr>
              <a:t>References:</a:t>
            </a: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grpSp>
        <p:nvGrpSpPr>
          <p:cNvPr id="4098" name="Group 238"/>
          <p:cNvGrpSpPr>
            <a:grpSpLocks/>
          </p:cNvGrpSpPr>
          <p:nvPr/>
        </p:nvGrpSpPr>
        <p:grpSpPr bwMode="auto">
          <a:xfrm>
            <a:off x="2971800" y="1752600"/>
            <a:ext cx="6858000" cy="1447800"/>
            <a:chOff x="2232" y="2340"/>
            <a:chExt cx="7889" cy="1100"/>
          </a:xfrm>
        </p:grpSpPr>
        <p:sp>
          <p:nvSpPr>
            <p:cNvPr id="239" name="AutoShape 31"/>
            <p:cNvSpPr>
              <a:spLocks/>
            </p:cNvSpPr>
            <p:nvPr/>
          </p:nvSpPr>
          <p:spPr bwMode="auto">
            <a:xfrm>
              <a:off x="2253" y="2345"/>
              <a:ext cx="60" cy="152"/>
            </a:xfrm>
            <a:custGeom>
              <a:avLst/>
              <a:gdLst>
                <a:gd name="T0" fmla="*/ 2 w 60"/>
                <a:gd name="T1" fmla="*/ 2367 h 152"/>
                <a:gd name="T2" fmla="*/ 0 w 60"/>
                <a:gd name="T3" fmla="*/ 2362 h 152"/>
                <a:gd name="T4" fmla="*/ 36 w 60"/>
                <a:gd name="T5" fmla="*/ 2345 h 152"/>
                <a:gd name="T6" fmla="*/ 40 w 60"/>
                <a:gd name="T7" fmla="*/ 2345 h 152"/>
                <a:gd name="T8" fmla="*/ 40 w 60"/>
                <a:gd name="T9" fmla="*/ 2362 h 152"/>
                <a:gd name="T10" fmla="*/ 9 w 60"/>
                <a:gd name="T11" fmla="*/ 2362 h 152"/>
                <a:gd name="T12" fmla="*/ 7 w 60"/>
                <a:gd name="T13" fmla="*/ 2364 h 152"/>
                <a:gd name="T14" fmla="*/ 2 w 60"/>
                <a:gd name="T15" fmla="*/ 2367 h 152"/>
                <a:gd name="T16" fmla="*/ 45 w 60"/>
                <a:gd name="T17" fmla="*/ 2492 h 152"/>
                <a:gd name="T18" fmla="*/ 16 w 60"/>
                <a:gd name="T19" fmla="*/ 2492 h 152"/>
                <a:gd name="T20" fmla="*/ 21 w 60"/>
                <a:gd name="T21" fmla="*/ 2487 h 152"/>
                <a:gd name="T22" fmla="*/ 21 w 60"/>
                <a:gd name="T23" fmla="*/ 2367 h 152"/>
                <a:gd name="T24" fmla="*/ 16 w 60"/>
                <a:gd name="T25" fmla="*/ 2362 h 152"/>
                <a:gd name="T26" fmla="*/ 40 w 60"/>
                <a:gd name="T27" fmla="*/ 2362 h 152"/>
                <a:gd name="T28" fmla="*/ 40 w 60"/>
                <a:gd name="T29" fmla="*/ 2487 h 152"/>
                <a:gd name="T30" fmla="*/ 45 w 60"/>
                <a:gd name="T31" fmla="*/ 2492 h 152"/>
                <a:gd name="T32" fmla="*/ 60 w 60"/>
                <a:gd name="T33" fmla="*/ 2496 h 152"/>
                <a:gd name="T34" fmla="*/ 2 w 60"/>
                <a:gd name="T35" fmla="*/ 2496 h 152"/>
                <a:gd name="T36" fmla="*/ 2 w 60"/>
                <a:gd name="T37" fmla="*/ 2494 h 152"/>
                <a:gd name="T38" fmla="*/ 9 w 60"/>
                <a:gd name="T39" fmla="*/ 2492 h 152"/>
                <a:gd name="T40" fmla="*/ 52 w 60"/>
                <a:gd name="T41" fmla="*/ 2492 h 152"/>
                <a:gd name="T42" fmla="*/ 60 w 60"/>
                <a:gd name="T43" fmla="*/ 2494 h 152"/>
                <a:gd name="T44" fmla="*/ 60 w 60"/>
                <a:gd name="T45" fmla="*/ 2496 h 1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152">
                  <a:moveTo>
                    <a:pt x="2" y="22"/>
                  </a:moveTo>
                  <a:lnTo>
                    <a:pt x="0" y="17"/>
                  </a:lnTo>
                  <a:lnTo>
                    <a:pt x="36" y="0"/>
                  </a:lnTo>
                  <a:lnTo>
                    <a:pt x="40" y="0"/>
                  </a:lnTo>
                  <a:lnTo>
                    <a:pt x="40" y="17"/>
                  </a:lnTo>
                  <a:lnTo>
                    <a:pt x="9" y="17"/>
                  </a:lnTo>
                  <a:lnTo>
                    <a:pt x="7" y="19"/>
                  </a:lnTo>
                  <a:lnTo>
                    <a:pt x="2" y="22"/>
                  </a:lnTo>
                  <a:close/>
                  <a:moveTo>
                    <a:pt x="45" y="147"/>
                  </a:moveTo>
                  <a:lnTo>
                    <a:pt x="16" y="147"/>
                  </a:lnTo>
                  <a:lnTo>
                    <a:pt x="21" y="142"/>
                  </a:lnTo>
                  <a:lnTo>
                    <a:pt x="21" y="22"/>
                  </a:lnTo>
                  <a:lnTo>
                    <a:pt x="16" y="17"/>
                  </a:lnTo>
                  <a:lnTo>
                    <a:pt x="40" y="17"/>
                  </a:lnTo>
                  <a:lnTo>
                    <a:pt x="40" y="142"/>
                  </a:lnTo>
                  <a:lnTo>
                    <a:pt x="45" y="147"/>
                  </a:lnTo>
                  <a:close/>
                  <a:moveTo>
                    <a:pt x="60" y="151"/>
                  </a:moveTo>
                  <a:lnTo>
                    <a:pt x="2" y="151"/>
                  </a:lnTo>
                  <a:lnTo>
                    <a:pt x="2" y="149"/>
                  </a:lnTo>
                  <a:lnTo>
                    <a:pt x="9" y="147"/>
                  </a:lnTo>
                  <a:lnTo>
                    <a:pt x="52" y="147"/>
                  </a:lnTo>
                  <a:lnTo>
                    <a:pt x="60" y="149"/>
                  </a:lnTo>
                  <a:lnTo>
                    <a:pt x="60" y="15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240" name="Picture 32"/>
            <p:cNvPicPr>
              <a:picLocks noChangeAspect="1" noChangeArrowheads="1"/>
            </p:cNvPicPr>
            <p:nvPr/>
          </p:nvPicPr>
          <p:blipFill>
            <a:blip r:embed="rId2"/>
            <a:srcRect/>
            <a:stretch>
              <a:fillRect/>
            </a:stretch>
          </p:blipFill>
          <p:spPr bwMode="auto">
            <a:xfrm>
              <a:off x="2232" y="2340"/>
              <a:ext cx="7889" cy="1100"/>
            </a:xfrm>
            <a:prstGeom prst="rect">
              <a:avLst/>
            </a:prstGeom>
            <a:noFill/>
          </p:spPr>
        </p:pic>
      </p:grpSp>
      <p:pic>
        <p:nvPicPr>
          <p:cNvPr id="11" name="Picture 10"/>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505200"/>
            <a:ext cx="6705600" cy="1371600"/>
          </a:xfrm>
          <a:prstGeom prst="rect">
            <a:avLst/>
          </a:prstGeom>
          <a:noFill/>
        </p:spPr>
      </p:pic>
      <p:sp>
        <p:nvSpPr>
          <p:cNvPr id="12" name="Subtitle 2"/>
          <p:cNvSpPr txBox="1">
            <a:spLocks/>
          </p:cNvSpPr>
          <p:nvPr/>
        </p:nvSpPr>
        <p:spPr>
          <a:xfrm>
            <a:off x="1752600" y="60198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3" name="Footer Placeholder 12"/>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5552202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ABB5D7-72C1-45CE-810C-1D195A451468}"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p>
        </p:txBody>
      </p:sp>
      <p:sp>
        <p:nvSpPr>
          <p:cNvPr id="9" name="Content Placeholder 8"/>
          <p:cNvSpPr>
            <a:spLocks noGrp="1"/>
          </p:cNvSpPr>
          <p:nvPr>
            <p:ph idx="1"/>
          </p:nvPr>
        </p:nvSpPr>
        <p:spPr>
          <a:xfrm>
            <a:off x="2057400" y="1143001"/>
            <a:ext cx="7772400" cy="2326791"/>
          </a:xfrm>
          <a:prstGeom prst="rect">
            <a:avLst/>
          </a:prstGeom>
          <a:noFill/>
        </p:spPr>
        <p:txBody>
          <a:bodyPr vert="horz" wrap="square" lIns="91440" tIns="45720" rIns="91440" bIns="45720" rtlCol="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9"/>
          <p:cNvSpPr>
            <a:spLocks noGrp="1"/>
          </p:cNvSpPr>
          <p:nvPr>
            <p:ph type="ftr" sz="quarter" idx="11"/>
          </p:nvPr>
        </p:nvSpPr>
        <p:spPr/>
        <p:txBody>
          <a:bodyPr/>
          <a:lstStyle/>
          <a:p>
            <a:r>
              <a:rPr lang="en-US"/>
              <a:t>Amit Kumar        Subject code: AOE0770       Finance for Engineers                 Unit 4</a:t>
            </a:r>
          </a:p>
        </p:txBody>
      </p:sp>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5597</Words>
  <Application>Microsoft Office PowerPoint</Application>
  <PresentationFormat>Widescreen</PresentationFormat>
  <Paragraphs>852</Paragraphs>
  <Slides>85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Carlito</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working capital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RIYAZUDDIN</dc:creator>
  <cp:lastModifiedBy>Amit Kumar</cp:lastModifiedBy>
  <cp:revision>74</cp:revision>
  <dcterms:modified xsi:type="dcterms:W3CDTF">2025-08-20T10:34:35Z</dcterms:modified>
</cp:coreProperties>
</file>