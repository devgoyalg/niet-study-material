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257"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8" r:id="rId21"/>
    <p:sldId id="277" r:id="rId22"/>
    <p:sldId id="279" r:id="rId23"/>
    <p:sldId id="280" r:id="rId24"/>
    <p:sldId id="281" r:id="rId25"/>
    <p:sldId id="282" r:id="rId26"/>
    <p:sldId id="283" r:id="rId27"/>
    <p:sldId id="287" r:id="rId28"/>
    <p:sldId id="284" r:id="rId29"/>
    <p:sldId id="285" r:id="rId30"/>
    <p:sldId id="286" r:id="rId31"/>
    <p:sldId id="288" r:id="rId32"/>
    <p:sldId id="289" r:id="rId33"/>
    <p:sldId id="290" r:id="rId34"/>
    <p:sldId id="291" r:id="rId35"/>
    <p:sldId id="292" r:id="rId36"/>
    <p:sldId id="294" r:id="rId37"/>
    <p:sldId id="293"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09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1A1442-1191-4CAB-94C7-2D4F479AA9E0}"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IN"/>
        </a:p>
      </dgm:t>
    </dgm:pt>
    <dgm:pt modelId="{28D3FA55-78C5-4647-9ED2-2E4693097135}">
      <dgm:prSet phldrT="[Text]"/>
      <dgm:spPr/>
      <dgm:t>
        <a:bodyPr/>
        <a:lstStyle/>
        <a:p>
          <a:r>
            <a:rPr lang="en-IN" dirty="0"/>
            <a:t>Personality</a:t>
          </a:r>
        </a:p>
      </dgm:t>
    </dgm:pt>
    <dgm:pt modelId="{98271A5D-4CBA-45DC-89D1-B3C430B75268}" type="parTrans" cxnId="{1459D3D7-68F0-4130-B7DD-1C49AF4EAD64}">
      <dgm:prSet/>
      <dgm:spPr/>
      <dgm:t>
        <a:bodyPr/>
        <a:lstStyle/>
        <a:p>
          <a:endParaRPr lang="en-IN"/>
        </a:p>
      </dgm:t>
    </dgm:pt>
    <dgm:pt modelId="{7A32A63D-7EB2-4516-902D-6BBE32C68161}" type="sibTrans" cxnId="{1459D3D7-68F0-4130-B7DD-1C49AF4EAD64}">
      <dgm:prSet/>
      <dgm:spPr/>
      <dgm:t>
        <a:bodyPr/>
        <a:lstStyle/>
        <a:p>
          <a:endParaRPr lang="en-IN"/>
        </a:p>
      </dgm:t>
    </dgm:pt>
    <dgm:pt modelId="{019755D9-1F02-45BD-A73A-4CC93AC78608}">
      <dgm:prSet phldrT="[Text]"/>
      <dgm:spPr/>
      <dgm:t>
        <a:bodyPr/>
        <a:lstStyle/>
        <a:p>
          <a:r>
            <a:rPr lang="en-IN" dirty="0"/>
            <a:t>Perception</a:t>
          </a:r>
        </a:p>
      </dgm:t>
    </dgm:pt>
    <dgm:pt modelId="{6C6A5503-5906-48CE-9E9F-167E6602026F}" type="parTrans" cxnId="{A276B6B1-52D3-48F5-B04B-9B9AE9FFE168}">
      <dgm:prSet/>
      <dgm:spPr/>
      <dgm:t>
        <a:bodyPr/>
        <a:lstStyle/>
        <a:p>
          <a:endParaRPr lang="en-IN"/>
        </a:p>
      </dgm:t>
    </dgm:pt>
    <dgm:pt modelId="{D81A9B12-5180-4FA3-817A-00A26DB4441F}" type="sibTrans" cxnId="{A276B6B1-52D3-48F5-B04B-9B9AE9FFE168}">
      <dgm:prSet/>
      <dgm:spPr/>
      <dgm:t>
        <a:bodyPr/>
        <a:lstStyle/>
        <a:p>
          <a:endParaRPr lang="en-IN"/>
        </a:p>
      </dgm:t>
    </dgm:pt>
    <dgm:pt modelId="{E4E9CEC8-FBA8-4A6F-8B8C-1CF37E55C784}">
      <dgm:prSet phldrT="[Text]"/>
      <dgm:spPr/>
      <dgm:t>
        <a:bodyPr/>
        <a:lstStyle/>
        <a:p>
          <a:r>
            <a:rPr lang="en-IN" dirty="0"/>
            <a:t>Attributes &amp; Values</a:t>
          </a:r>
        </a:p>
      </dgm:t>
    </dgm:pt>
    <dgm:pt modelId="{C6A0E668-2727-4377-B428-1E7704F3F801}" type="parTrans" cxnId="{0D02EDD2-A3CF-4E4B-941B-139ADAAB8EDA}">
      <dgm:prSet/>
      <dgm:spPr/>
      <dgm:t>
        <a:bodyPr/>
        <a:lstStyle/>
        <a:p>
          <a:endParaRPr lang="en-IN"/>
        </a:p>
      </dgm:t>
    </dgm:pt>
    <dgm:pt modelId="{87F47EB4-765F-42CD-A4A1-B53B6EC79B5A}" type="sibTrans" cxnId="{0D02EDD2-A3CF-4E4B-941B-139ADAAB8EDA}">
      <dgm:prSet/>
      <dgm:spPr/>
      <dgm:t>
        <a:bodyPr/>
        <a:lstStyle/>
        <a:p>
          <a:endParaRPr lang="en-IN"/>
        </a:p>
      </dgm:t>
    </dgm:pt>
    <dgm:pt modelId="{0211219A-AC95-4E8E-9F24-8C21E17A520F}">
      <dgm:prSet phldrT="[Text]"/>
      <dgm:spPr/>
      <dgm:t>
        <a:bodyPr/>
        <a:lstStyle/>
        <a:p>
          <a:r>
            <a:rPr lang="en-IN" dirty="0"/>
            <a:t>Motivation</a:t>
          </a:r>
        </a:p>
      </dgm:t>
    </dgm:pt>
    <dgm:pt modelId="{36BB68B1-F10E-4827-8F10-85B9E3C29C60}" type="parTrans" cxnId="{EE353192-6793-413E-94CC-621A2D9C3930}">
      <dgm:prSet/>
      <dgm:spPr/>
      <dgm:t>
        <a:bodyPr/>
        <a:lstStyle/>
        <a:p>
          <a:endParaRPr lang="en-IN"/>
        </a:p>
      </dgm:t>
    </dgm:pt>
    <dgm:pt modelId="{BA36FC26-5985-49A1-B74C-8C721D3E7280}" type="sibTrans" cxnId="{EE353192-6793-413E-94CC-621A2D9C3930}">
      <dgm:prSet/>
      <dgm:spPr/>
      <dgm:t>
        <a:bodyPr/>
        <a:lstStyle/>
        <a:p>
          <a:endParaRPr lang="en-IN"/>
        </a:p>
      </dgm:t>
    </dgm:pt>
    <dgm:pt modelId="{BA6C5B41-380C-45E4-9C1A-38887EC1D64C}">
      <dgm:prSet phldrT="[Text]"/>
      <dgm:spPr/>
      <dgm:t>
        <a:bodyPr/>
        <a:lstStyle/>
        <a:p>
          <a:r>
            <a:rPr lang="en-IN" dirty="0"/>
            <a:t>Emotion &amp; Emotional Intelligence</a:t>
          </a:r>
        </a:p>
      </dgm:t>
    </dgm:pt>
    <dgm:pt modelId="{41EBA451-07EB-4320-90FC-9B2B5E04D37E}" type="parTrans" cxnId="{02B15462-886C-4E18-873C-991867D95914}">
      <dgm:prSet/>
      <dgm:spPr/>
      <dgm:t>
        <a:bodyPr/>
        <a:lstStyle/>
        <a:p>
          <a:endParaRPr lang="en-IN"/>
        </a:p>
      </dgm:t>
    </dgm:pt>
    <dgm:pt modelId="{AA8219AF-5A00-42E1-9D88-EDAA34C851CC}" type="sibTrans" cxnId="{02B15462-886C-4E18-873C-991867D95914}">
      <dgm:prSet/>
      <dgm:spPr/>
      <dgm:t>
        <a:bodyPr/>
        <a:lstStyle/>
        <a:p>
          <a:endParaRPr lang="en-IN"/>
        </a:p>
      </dgm:t>
    </dgm:pt>
    <dgm:pt modelId="{22E797A9-8351-45AE-8558-A1843EFDB453}" type="pres">
      <dgm:prSet presAssocID="{261A1442-1191-4CAB-94C7-2D4F479AA9E0}" presName="Name0" presStyleCnt="0">
        <dgm:presLayoutVars>
          <dgm:chMax val="7"/>
          <dgm:chPref val="7"/>
          <dgm:dir/>
        </dgm:presLayoutVars>
      </dgm:prSet>
      <dgm:spPr/>
    </dgm:pt>
    <dgm:pt modelId="{E102B7ED-83AE-4401-8D8E-6085643B92C0}" type="pres">
      <dgm:prSet presAssocID="{261A1442-1191-4CAB-94C7-2D4F479AA9E0}" presName="Name1" presStyleCnt="0"/>
      <dgm:spPr/>
    </dgm:pt>
    <dgm:pt modelId="{E55F7294-F0B4-4E77-8C04-C56A0DE51D0A}" type="pres">
      <dgm:prSet presAssocID="{261A1442-1191-4CAB-94C7-2D4F479AA9E0}" presName="cycle" presStyleCnt="0"/>
      <dgm:spPr/>
    </dgm:pt>
    <dgm:pt modelId="{BDBB2FA8-EDA4-4798-AD29-DC56CCAC6F8A}" type="pres">
      <dgm:prSet presAssocID="{261A1442-1191-4CAB-94C7-2D4F479AA9E0}" presName="srcNode" presStyleLbl="node1" presStyleIdx="0" presStyleCnt="5"/>
      <dgm:spPr/>
    </dgm:pt>
    <dgm:pt modelId="{B9DF35CA-BCFA-4BDD-8DA3-CCF3131234E7}" type="pres">
      <dgm:prSet presAssocID="{261A1442-1191-4CAB-94C7-2D4F479AA9E0}" presName="conn" presStyleLbl="parChTrans1D2" presStyleIdx="0" presStyleCnt="1"/>
      <dgm:spPr/>
    </dgm:pt>
    <dgm:pt modelId="{C42E777E-9728-4AA5-B7EE-4BA0EF058C88}" type="pres">
      <dgm:prSet presAssocID="{261A1442-1191-4CAB-94C7-2D4F479AA9E0}" presName="extraNode" presStyleLbl="node1" presStyleIdx="0" presStyleCnt="5"/>
      <dgm:spPr/>
    </dgm:pt>
    <dgm:pt modelId="{138CAF5D-6788-4227-8F57-476786D3F326}" type="pres">
      <dgm:prSet presAssocID="{261A1442-1191-4CAB-94C7-2D4F479AA9E0}" presName="dstNode" presStyleLbl="node1" presStyleIdx="0" presStyleCnt="5"/>
      <dgm:spPr/>
    </dgm:pt>
    <dgm:pt modelId="{7DF899EF-DBDC-4011-A35F-BF8BA890B355}" type="pres">
      <dgm:prSet presAssocID="{28D3FA55-78C5-4647-9ED2-2E4693097135}" presName="text_1" presStyleLbl="node1" presStyleIdx="0" presStyleCnt="5" custScaleY="112098">
        <dgm:presLayoutVars>
          <dgm:bulletEnabled val="1"/>
        </dgm:presLayoutVars>
      </dgm:prSet>
      <dgm:spPr/>
    </dgm:pt>
    <dgm:pt modelId="{281CBF1C-07A5-4A08-ABB5-B7F06FD51638}" type="pres">
      <dgm:prSet presAssocID="{28D3FA55-78C5-4647-9ED2-2E4693097135}" presName="accent_1" presStyleCnt="0"/>
      <dgm:spPr/>
    </dgm:pt>
    <dgm:pt modelId="{F681386F-1DEF-40D7-8029-CF205057EE9B}" type="pres">
      <dgm:prSet presAssocID="{28D3FA55-78C5-4647-9ED2-2E4693097135}" presName="accentRepeatNode" presStyleLbl="solidFgAcc1" presStyleIdx="0" presStyleCnt="5"/>
      <dgm:spPr/>
    </dgm:pt>
    <dgm:pt modelId="{6BED7764-84B8-4513-9491-590FAF00AB22}" type="pres">
      <dgm:prSet presAssocID="{019755D9-1F02-45BD-A73A-4CC93AC78608}" presName="text_2" presStyleLbl="node1" presStyleIdx="1" presStyleCnt="5" custScaleY="112301">
        <dgm:presLayoutVars>
          <dgm:bulletEnabled val="1"/>
        </dgm:presLayoutVars>
      </dgm:prSet>
      <dgm:spPr/>
    </dgm:pt>
    <dgm:pt modelId="{66EAC727-FB45-4347-8D11-1E6B6041F474}" type="pres">
      <dgm:prSet presAssocID="{019755D9-1F02-45BD-A73A-4CC93AC78608}" presName="accent_2" presStyleCnt="0"/>
      <dgm:spPr/>
    </dgm:pt>
    <dgm:pt modelId="{E6FF5680-9351-458B-8955-669517D820F8}" type="pres">
      <dgm:prSet presAssocID="{019755D9-1F02-45BD-A73A-4CC93AC78608}" presName="accentRepeatNode" presStyleLbl="solidFgAcc1" presStyleIdx="1" presStyleCnt="5"/>
      <dgm:spPr/>
    </dgm:pt>
    <dgm:pt modelId="{F2CADC2C-1BD2-43D5-8B46-8069C79AA9E5}" type="pres">
      <dgm:prSet presAssocID="{E4E9CEC8-FBA8-4A6F-8B8C-1CF37E55C784}" presName="text_3" presStyleLbl="node1" presStyleIdx="2" presStyleCnt="5" custScaleY="112505" custLinFactNeighborY="-4002">
        <dgm:presLayoutVars>
          <dgm:bulletEnabled val="1"/>
        </dgm:presLayoutVars>
      </dgm:prSet>
      <dgm:spPr/>
    </dgm:pt>
    <dgm:pt modelId="{63A372DB-D0A2-48E5-BCF2-7BBFB0386787}" type="pres">
      <dgm:prSet presAssocID="{E4E9CEC8-FBA8-4A6F-8B8C-1CF37E55C784}" presName="accent_3" presStyleCnt="0"/>
      <dgm:spPr/>
    </dgm:pt>
    <dgm:pt modelId="{0ADB8CF4-6872-4840-9718-537024E7EC3C}" type="pres">
      <dgm:prSet presAssocID="{E4E9CEC8-FBA8-4A6F-8B8C-1CF37E55C784}" presName="accentRepeatNode" presStyleLbl="solidFgAcc1" presStyleIdx="2" presStyleCnt="5"/>
      <dgm:spPr/>
    </dgm:pt>
    <dgm:pt modelId="{A043323F-3539-4CD2-AF6D-0B06969BAFC9}" type="pres">
      <dgm:prSet presAssocID="{0211219A-AC95-4E8E-9F24-8C21E17A520F}" presName="text_4" presStyleLbl="node1" presStyleIdx="3" presStyleCnt="5" custScaleY="104705">
        <dgm:presLayoutVars>
          <dgm:bulletEnabled val="1"/>
        </dgm:presLayoutVars>
      </dgm:prSet>
      <dgm:spPr/>
    </dgm:pt>
    <dgm:pt modelId="{D3B4F5C8-1EF0-40C3-A5E1-C8990DD2DD6B}" type="pres">
      <dgm:prSet presAssocID="{0211219A-AC95-4E8E-9F24-8C21E17A520F}" presName="accent_4" presStyleCnt="0"/>
      <dgm:spPr/>
    </dgm:pt>
    <dgm:pt modelId="{268F2762-36DD-42A0-8B38-C8AC861E4E81}" type="pres">
      <dgm:prSet presAssocID="{0211219A-AC95-4E8E-9F24-8C21E17A520F}" presName="accentRepeatNode" presStyleLbl="solidFgAcc1" presStyleIdx="3" presStyleCnt="5"/>
      <dgm:spPr/>
    </dgm:pt>
    <dgm:pt modelId="{D084F238-A48E-46F5-B0F9-3B6010B94A36}" type="pres">
      <dgm:prSet presAssocID="{BA6C5B41-380C-45E4-9C1A-38887EC1D64C}" presName="text_5" presStyleLbl="node1" presStyleIdx="4" presStyleCnt="5" custScaleY="108909">
        <dgm:presLayoutVars>
          <dgm:bulletEnabled val="1"/>
        </dgm:presLayoutVars>
      </dgm:prSet>
      <dgm:spPr/>
    </dgm:pt>
    <dgm:pt modelId="{8DD25074-95EF-41A2-B1F9-D6B2C68ED73E}" type="pres">
      <dgm:prSet presAssocID="{BA6C5B41-380C-45E4-9C1A-38887EC1D64C}" presName="accent_5" presStyleCnt="0"/>
      <dgm:spPr/>
    </dgm:pt>
    <dgm:pt modelId="{BE79785C-93D3-43C9-9C7F-7CE1F5EE29D2}" type="pres">
      <dgm:prSet presAssocID="{BA6C5B41-380C-45E4-9C1A-38887EC1D64C}" presName="accentRepeatNode" presStyleLbl="solidFgAcc1" presStyleIdx="4" presStyleCnt="5"/>
      <dgm:spPr/>
    </dgm:pt>
  </dgm:ptLst>
  <dgm:cxnLst>
    <dgm:cxn modelId="{02B15462-886C-4E18-873C-991867D95914}" srcId="{261A1442-1191-4CAB-94C7-2D4F479AA9E0}" destId="{BA6C5B41-380C-45E4-9C1A-38887EC1D64C}" srcOrd="4" destOrd="0" parTransId="{41EBA451-07EB-4320-90FC-9B2B5E04D37E}" sibTransId="{AA8219AF-5A00-42E1-9D88-EDAA34C851CC}"/>
    <dgm:cxn modelId="{0525B762-54F4-4F67-A597-56D9059016FF}" type="presOf" srcId="{BA6C5B41-380C-45E4-9C1A-38887EC1D64C}" destId="{D084F238-A48E-46F5-B0F9-3B6010B94A36}" srcOrd="0" destOrd="0" presId="urn:microsoft.com/office/officeart/2008/layout/VerticalCurvedList"/>
    <dgm:cxn modelId="{8329C568-8ACA-44E1-9942-76996DB5C2AC}" type="presOf" srcId="{E4E9CEC8-FBA8-4A6F-8B8C-1CF37E55C784}" destId="{F2CADC2C-1BD2-43D5-8B46-8069C79AA9E5}" srcOrd="0" destOrd="0" presId="urn:microsoft.com/office/officeart/2008/layout/VerticalCurvedList"/>
    <dgm:cxn modelId="{765FBB8E-E9EE-496F-90CA-F9012395E8AF}" type="presOf" srcId="{261A1442-1191-4CAB-94C7-2D4F479AA9E0}" destId="{22E797A9-8351-45AE-8558-A1843EFDB453}" srcOrd="0" destOrd="0" presId="urn:microsoft.com/office/officeart/2008/layout/VerticalCurvedList"/>
    <dgm:cxn modelId="{EE353192-6793-413E-94CC-621A2D9C3930}" srcId="{261A1442-1191-4CAB-94C7-2D4F479AA9E0}" destId="{0211219A-AC95-4E8E-9F24-8C21E17A520F}" srcOrd="3" destOrd="0" parTransId="{36BB68B1-F10E-4827-8F10-85B9E3C29C60}" sibTransId="{BA36FC26-5985-49A1-B74C-8C721D3E7280}"/>
    <dgm:cxn modelId="{85C37A96-A79F-4F80-A1A1-069EDD91970B}" type="presOf" srcId="{7A32A63D-7EB2-4516-902D-6BBE32C68161}" destId="{B9DF35CA-BCFA-4BDD-8DA3-CCF3131234E7}" srcOrd="0" destOrd="0" presId="urn:microsoft.com/office/officeart/2008/layout/VerticalCurvedList"/>
    <dgm:cxn modelId="{A276B6B1-52D3-48F5-B04B-9B9AE9FFE168}" srcId="{261A1442-1191-4CAB-94C7-2D4F479AA9E0}" destId="{019755D9-1F02-45BD-A73A-4CC93AC78608}" srcOrd="1" destOrd="0" parTransId="{6C6A5503-5906-48CE-9E9F-167E6602026F}" sibTransId="{D81A9B12-5180-4FA3-817A-00A26DB4441F}"/>
    <dgm:cxn modelId="{362826B6-F0ED-46CE-B8CD-9A59CD74539F}" type="presOf" srcId="{0211219A-AC95-4E8E-9F24-8C21E17A520F}" destId="{A043323F-3539-4CD2-AF6D-0B06969BAFC9}" srcOrd="0" destOrd="0" presId="urn:microsoft.com/office/officeart/2008/layout/VerticalCurvedList"/>
    <dgm:cxn modelId="{429913CA-B6F1-4CE4-A287-23F1E1BA7BF8}" type="presOf" srcId="{019755D9-1F02-45BD-A73A-4CC93AC78608}" destId="{6BED7764-84B8-4513-9491-590FAF00AB22}" srcOrd="0" destOrd="0" presId="urn:microsoft.com/office/officeart/2008/layout/VerticalCurvedList"/>
    <dgm:cxn modelId="{0D02EDD2-A3CF-4E4B-941B-139ADAAB8EDA}" srcId="{261A1442-1191-4CAB-94C7-2D4F479AA9E0}" destId="{E4E9CEC8-FBA8-4A6F-8B8C-1CF37E55C784}" srcOrd="2" destOrd="0" parTransId="{C6A0E668-2727-4377-B428-1E7704F3F801}" sibTransId="{87F47EB4-765F-42CD-A4A1-B53B6EC79B5A}"/>
    <dgm:cxn modelId="{1459D3D7-68F0-4130-B7DD-1C49AF4EAD64}" srcId="{261A1442-1191-4CAB-94C7-2D4F479AA9E0}" destId="{28D3FA55-78C5-4647-9ED2-2E4693097135}" srcOrd="0" destOrd="0" parTransId="{98271A5D-4CBA-45DC-89D1-B3C430B75268}" sibTransId="{7A32A63D-7EB2-4516-902D-6BBE32C68161}"/>
    <dgm:cxn modelId="{30062AE1-A37D-4D8E-8225-03763E0C9EC1}" type="presOf" srcId="{28D3FA55-78C5-4647-9ED2-2E4693097135}" destId="{7DF899EF-DBDC-4011-A35F-BF8BA890B355}" srcOrd="0" destOrd="0" presId="urn:microsoft.com/office/officeart/2008/layout/VerticalCurvedList"/>
    <dgm:cxn modelId="{459D8FD1-45CE-4471-9EA8-3B6C39CD4442}" type="presParOf" srcId="{22E797A9-8351-45AE-8558-A1843EFDB453}" destId="{E102B7ED-83AE-4401-8D8E-6085643B92C0}" srcOrd="0" destOrd="0" presId="urn:microsoft.com/office/officeart/2008/layout/VerticalCurvedList"/>
    <dgm:cxn modelId="{D0C59AA0-2299-4096-983E-7EEE859628A5}" type="presParOf" srcId="{E102B7ED-83AE-4401-8D8E-6085643B92C0}" destId="{E55F7294-F0B4-4E77-8C04-C56A0DE51D0A}" srcOrd="0" destOrd="0" presId="urn:microsoft.com/office/officeart/2008/layout/VerticalCurvedList"/>
    <dgm:cxn modelId="{96957EF3-89EA-4F90-B039-3506D63E520D}" type="presParOf" srcId="{E55F7294-F0B4-4E77-8C04-C56A0DE51D0A}" destId="{BDBB2FA8-EDA4-4798-AD29-DC56CCAC6F8A}" srcOrd="0" destOrd="0" presId="urn:microsoft.com/office/officeart/2008/layout/VerticalCurvedList"/>
    <dgm:cxn modelId="{63A88AC5-AEC4-4B41-A429-89B0F23F2BBE}" type="presParOf" srcId="{E55F7294-F0B4-4E77-8C04-C56A0DE51D0A}" destId="{B9DF35CA-BCFA-4BDD-8DA3-CCF3131234E7}" srcOrd="1" destOrd="0" presId="urn:microsoft.com/office/officeart/2008/layout/VerticalCurvedList"/>
    <dgm:cxn modelId="{375A41AE-5D15-4027-BF67-830B0C7F6AE5}" type="presParOf" srcId="{E55F7294-F0B4-4E77-8C04-C56A0DE51D0A}" destId="{C42E777E-9728-4AA5-B7EE-4BA0EF058C88}" srcOrd="2" destOrd="0" presId="urn:microsoft.com/office/officeart/2008/layout/VerticalCurvedList"/>
    <dgm:cxn modelId="{7F03F226-B9AE-497B-A901-02A649E656E0}" type="presParOf" srcId="{E55F7294-F0B4-4E77-8C04-C56A0DE51D0A}" destId="{138CAF5D-6788-4227-8F57-476786D3F326}" srcOrd="3" destOrd="0" presId="urn:microsoft.com/office/officeart/2008/layout/VerticalCurvedList"/>
    <dgm:cxn modelId="{020F58E0-F02B-413F-96E7-F53F9DDF4BCA}" type="presParOf" srcId="{E102B7ED-83AE-4401-8D8E-6085643B92C0}" destId="{7DF899EF-DBDC-4011-A35F-BF8BA890B355}" srcOrd="1" destOrd="0" presId="urn:microsoft.com/office/officeart/2008/layout/VerticalCurvedList"/>
    <dgm:cxn modelId="{92587468-4C4B-40AC-9357-04E361D3D2E8}" type="presParOf" srcId="{E102B7ED-83AE-4401-8D8E-6085643B92C0}" destId="{281CBF1C-07A5-4A08-ABB5-B7F06FD51638}" srcOrd="2" destOrd="0" presId="urn:microsoft.com/office/officeart/2008/layout/VerticalCurvedList"/>
    <dgm:cxn modelId="{B4988622-AE5C-47A0-9A52-C7EE51F26EBE}" type="presParOf" srcId="{281CBF1C-07A5-4A08-ABB5-B7F06FD51638}" destId="{F681386F-1DEF-40D7-8029-CF205057EE9B}" srcOrd="0" destOrd="0" presId="urn:microsoft.com/office/officeart/2008/layout/VerticalCurvedList"/>
    <dgm:cxn modelId="{C6D2F06D-D2B2-4171-A0B9-7E7016C80185}" type="presParOf" srcId="{E102B7ED-83AE-4401-8D8E-6085643B92C0}" destId="{6BED7764-84B8-4513-9491-590FAF00AB22}" srcOrd="3" destOrd="0" presId="urn:microsoft.com/office/officeart/2008/layout/VerticalCurvedList"/>
    <dgm:cxn modelId="{C4A6DEFD-AA51-47F5-BB76-B741228FBCBF}" type="presParOf" srcId="{E102B7ED-83AE-4401-8D8E-6085643B92C0}" destId="{66EAC727-FB45-4347-8D11-1E6B6041F474}" srcOrd="4" destOrd="0" presId="urn:microsoft.com/office/officeart/2008/layout/VerticalCurvedList"/>
    <dgm:cxn modelId="{91B25DB2-809C-47FB-8071-8092E1E52108}" type="presParOf" srcId="{66EAC727-FB45-4347-8D11-1E6B6041F474}" destId="{E6FF5680-9351-458B-8955-669517D820F8}" srcOrd="0" destOrd="0" presId="urn:microsoft.com/office/officeart/2008/layout/VerticalCurvedList"/>
    <dgm:cxn modelId="{30A6FDB9-259A-4FA2-A26E-622C1216E563}" type="presParOf" srcId="{E102B7ED-83AE-4401-8D8E-6085643B92C0}" destId="{F2CADC2C-1BD2-43D5-8B46-8069C79AA9E5}" srcOrd="5" destOrd="0" presId="urn:microsoft.com/office/officeart/2008/layout/VerticalCurvedList"/>
    <dgm:cxn modelId="{6083979E-E19E-46D4-BF12-23523B98EE85}" type="presParOf" srcId="{E102B7ED-83AE-4401-8D8E-6085643B92C0}" destId="{63A372DB-D0A2-48E5-BCF2-7BBFB0386787}" srcOrd="6" destOrd="0" presId="urn:microsoft.com/office/officeart/2008/layout/VerticalCurvedList"/>
    <dgm:cxn modelId="{BCD4A9DA-CAE3-4F6B-AEB9-61285E7E8C2B}" type="presParOf" srcId="{63A372DB-D0A2-48E5-BCF2-7BBFB0386787}" destId="{0ADB8CF4-6872-4840-9718-537024E7EC3C}" srcOrd="0" destOrd="0" presId="urn:microsoft.com/office/officeart/2008/layout/VerticalCurvedList"/>
    <dgm:cxn modelId="{6E8468EB-2A17-4EDA-9DFC-F164B66A55DC}" type="presParOf" srcId="{E102B7ED-83AE-4401-8D8E-6085643B92C0}" destId="{A043323F-3539-4CD2-AF6D-0B06969BAFC9}" srcOrd="7" destOrd="0" presId="urn:microsoft.com/office/officeart/2008/layout/VerticalCurvedList"/>
    <dgm:cxn modelId="{E7D2ED3B-7C2C-40DD-BCF5-8624A45D8E5A}" type="presParOf" srcId="{E102B7ED-83AE-4401-8D8E-6085643B92C0}" destId="{D3B4F5C8-1EF0-40C3-A5E1-C8990DD2DD6B}" srcOrd="8" destOrd="0" presId="urn:microsoft.com/office/officeart/2008/layout/VerticalCurvedList"/>
    <dgm:cxn modelId="{0588A3F1-56BE-48D9-AC38-70320A54ED81}" type="presParOf" srcId="{D3B4F5C8-1EF0-40C3-A5E1-C8990DD2DD6B}" destId="{268F2762-36DD-42A0-8B38-C8AC861E4E81}" srcOrd="0" destOrd="0" presId="urn:microsoft.com/office/officeart/2008/layout/VerticalCurvedList"/>
    <dgm:cxn modelId="{DBF8DB3C-F076-43CA-9327-7241E2F17A49}" type="presParOf" srcId="{E102B7ED-83AE-4401-8D8E-6085643B92C0}" destId="{D084F238-A48E-46F5-B0F9-3B6010B94A36}" srcOrd="9" destOrd="0" presId="urn:microsoft.com/office/officeart/2008/layout/VerticalCurvedList"/>
    <dgm:cxn modelId="{380A8EBD-1F79-49D2-975B-5B9225C10DBE}" type="presParOf" srcId="{E102B7ED-83AE-4401-8D8E-6085643B92C0}" destId="{8DD25074-95EF-41A2-B1F9-D6B2C68ED73E}" srcOrd="10" destOrd="0" presId="urn:microsoft.com/office/officeart/2008/layout/VerticalCurvedList"/>
    <dgm:cxn modelId="{B02C8F19-8C2E-4BAB-947F-073733858291}" type="presParOf" srcId="{8DD25074-95EF-41A2-B1F9-D6B2C68ED73E}" destId="{BE79785C-93D3-43C9-9C7F-7CE1F5EE29D2}"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DF35CA-BCFA-4BDD-8DA3-CCF3131234E7}">
      <dsp:nvSpPr>
        <dsp:cNvPr id="0" name=""/>
        <dsp:cNvSpPr/>
      </dsp:nvSpPr>
      <dsp:spPr>
        <a:xfrm>
          <a:off x="-4919424" y="-753830"/>
          <a:ext cx="5858998" cy="5858998"/>
        </a:xfrm>
        <a:prstGeom prst="blockArc">
          <a:avLst>
            <a:gd name="adj1" fmla="val 18900000"/>
            <a:gd name="adj2" fmla="val 2700000"/>
            <a:gd name="adj3" fmla="val 369"/>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F899EF-DBDC-4011-A35F-BF8BA890B355}">
      <dsp:nvSpPr>
        <dsp:cNvPr id="0" name=""/>
        <dsp:cNvSpPr/>
      </dsp:nvSpPr>
      <dsp:spPr>
        <a:xfrm>
          <a:off x="411090" y="238959"/>
          <a:ext cx="10353813" cy="60991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IN" sz="2800" kern="1200" dirty="0"/>
            <a:t>Personality</a:t>
          </a:r>
        </a:p>
      </dsp:txBody>
      <dsp:txXfrm>
        <a:off x="411090" y="238959"/>
        <a:ext cx="10353813" cy="609915"/>
      </dsp:txXfrm>
    </dsp:sp>
    <dsp:sp modelId="{F681386F-1DEF-40D7-8029-CF205057EE9B}">
      <dsp:nvSpPr>
        <dsp:cNvPr id="0" name=""/>
        <dsp:cNvSpPr/>
      </dsp:nvSpPr>
      <dsp:spPr>
        <a:xfrm>
          <a:off x="71032" y="203860"/>
          <a:ext cx="680114" cy="68011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ED7764-84B8-4513-9491-590FAF00AB22}">
      <dsp:nvSpPr>
        <dsp:cNvPr id="0" name=""/>
        <dsp:cNvSpPr/>
      </dsp:nvSpPr>
      <dsp:spPr>
        <a:xfrm>
          <a:off x="800969" y="1054283"/>
          <a:ext cx="9963933" cy="61101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IN" sz="2800" kern="1200" dirty="0"/>
            <a:t>Perception</a:t>
          </a:r>
        </a:p>
      </dsp:txBody>
      <dsp:txXfrm>
        <a:off x="800969" y="1054283"/>
        <a:ext cx="9963933" cy="611019"/>
      </dsp:txXfrm>
    </dsp:sp>
    <dsp:sp modelId="{E6FF5680-9351-458B-8955-669517D820F8}">
      <dsp:nvSpPr>
        <dsp:cNvPr id="0" name=""/>
        <dsp:cNvSpPr/>
      </dsp:nvSpPr>
      <dsp:spPr>
        <a:xfrm>
          <a:off x="460912" y="1019736"/>
          <a:ext cx="680114" cy="68011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2CADC2C-1BD2-43D5-8B46-8069C79AA9E5}">
      <dsp:nvSpPr>
        <dsp:cNvPr id="0" name=""/>
        <dsp:cNvSpPr/>
      </dsp:nvSpPr>
      <dsp:spPr>
        <a:xfrm>
          <a:off x="920631" y="1847829"/>
          <a:ext cx="9844271" cy="6121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IN" sz="2800" kern="1200" dirty="0"/>
            <a:t>Attributes &amp; Values</a:t>
          </a:r>
        </a:p>
      </dsp:txBody>
      <dsp:txXfrm>
        <a:off x="920631" y="1847829"/>
        <a:ext cx="9844271" cy="612129"/>
      </dsp:txXfrm>
    </dsp:sp>
    <dsp:sp modelId="{0ADB8CF4-6872-4840-9718-537024E7EC3C}">
      <dsp:nvSpPr>
        <dsp:cNvPr id="0" name=""/>
        <dsp:cNvSpPr/>
      </dsp:nvSpPr>
      <dsp:spPr>
        <a:xfrm>
          <a:off x="580574" y="1835611"/>
          <a:ext cx="680114" cy="68011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043323F-3539-4CD2-AF6D-0B06969BAFC9}">
      <dsp:nvSpPr>
        <dsp:cNvPr id="0" name=""/>
        <dsp:cNvSpPr/>
      </dsp:nvSpPr>
      <dsp:spPr>
        <a:xfrm>
          <a:off x="800969" y="2706699"/>
          <a:ext cx="9963933" cy="56969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IN" sz="2800" kern="1200" dirty="0"/>
            <a:t>Motivation</a:t>
          </a:r>
        </a:p>
      </dsp:txBody>
      <dsp:txXfrm>
        <a:off x="800969" y="2706699"/>
        <a:ext cx="9963933" cy="569690"/>
      </dsp:txXfrm>
    </dsp:sp>
    <dsp:sp modelId="{268F2762-36DD-42A0-8B38-C8AC861E4E81}">
      <dsp:nvSpPr>
        <dsp:cNvPr id="0" name=""/>
        <dsp:cNvSpPr/>
      </dsp:nvSpPr>
      <dsp:spPr>
        <a:xfrm>
          <a:off x="460912" y="2651487"/>
          <a:ext cx="680114" cy="68011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84F238-A48E-46F5-B0F9-3B6010B94A36}">
      <dsp:nvSpPr>
        <dsp:cNvPr id="0" name=""/>
        <dsp:cNvSpPr/>
      </dsp:nvSpPr>
      <dsp:spPr>
        <a:xfrm>
          <a:off x="411090" y="3511138"/>
          <a:ext cx="10353813" cy="59256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IN" sz="2800" kern="1200" dirty="0"/>
            <a:t>Emotion &amp; Emotional Intelligence</a:t>
          </a:r>
        </a:p>
      </dsp:txBody>
      <dsp:txXfrm>
        <a:off x="411090" y="3511138"/>
        <a:ext cx="10353813" cy="592564"/>
      </dsp:txXfrm>
    </dsp:sp>
    <dsp:sp modelId="{BE79785C-93D3-43C9-9C7F-7CE1F5EE29D2}">
      <dsp:nvSpPr>
        <dsp:cNvPr id="0" name=""/>
        <dsp:cNvSpPr/>
      </dsp:nvSpPr>
      <dsp:spPr>
        <a:xfrm>
          <a:off x="71032" y="3467363"/>
          <a:ext cx="680114" cy="68011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A98377-F0CE-4B77-A714-FED9B4F735A3}" type="datetimeFigureOut">
              <a:rPr lang="en-IN" smtClean="0"/>
              <a:t>12-08-2024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99E85A-DC5C-42BB-8159-0A097CB445BA}" type="slidenum">
              <a:rPr lang="en-IN" smtClean="0"/>
              <a:t>‹#›</a:t>
            </a:fld>
            <a:endParaRPr lang="en-IN"/>
          </a:p>
        </p:txBody>
      </p:sp>
    </p:spTree>
    <p:extLst>
      <p:ext uri="{BB962C8B-B14F-4D97-AF65-F5344CB8AC3E}">
        <p14:creationId xmlns:p14="http://schemas.microsoft.com/office/powerpoint/2010/main" val="123501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8" Type="http://schemas.openxmlformats.org/officeDocument/2006/relationships/hyperlink" Target="https://www.verywellmind.com/decision-making-strategies-2795483" TargetMode="External"/><Relationship Id="rId3" Type="http://schemas.openxmlformats.org/officeDocument/2006/relationships/hyperlink" Target="https://www.verywellmind.com/what-is-attention-2795009" TargetMode="External"/><Relationship Id="rId7" Type="http://schemas.openxmlformats.org/officeDocument/2006/relationships/hyperlink" Target="https://www.verywellmind.com/perception-and-the-perceptual-process-2795839" TargetMode="External"/><Relationship Id="rId2" Type="http://schemas.openxmlformats.org/officeDocument/2006/relationships/slide" Target="../slides/slide36.xml"/><Relationship Id="rId1" Type="http://schemas.openxmlformats.org/officeDocument/2006/relationships/notesMaster" Target="../notesMasters/notesMaster1.xml"/><Relationship Id="rId6" Type="http://schemas.openxmlformats.org/officeDocument/2006/relationships/hyperlink" Target="https://www.verywellmind.com/what-is-memory-2795006" TargetMode="External"/><Relationship Id="rId5" Type="http://schemas.openxmlformats.org/officeDocument/2006/relationships/hyperlink" Target="https://www.verywellmind.com/what-is-learning-2795332" TargetMode="External"/><Relationship Id="rId4" Type="http://schemas.openxmlformats.org/officeDocument/2006/relationships/hyperlink" Target="https://www.parents.com/toddlers-preschoolers/development/language/language-development-milestones-ages-1-to-4/" TargetMode="Externa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3" Type="http://schemas.openxmlformats.org/officeDocument/2006/relationships/hyperlink" Target="https://getuplearn.com/blog/personality-in-organisational-behavior/" TargetMode="External"/><Relationship Id="rId2" Type="http://schemas.openxmlformats.org/officeDocument/2006/relationships/slide" Target="../slides/slide38.xml"/><Relationship Id="rId1" Type="http://schemas.openxmlformats.org/officeDocument/2006/relationships/notesMaster" Target="../notesMasters/notesMaster1.xml"/><Relationship Id="rId4" Type="http://schemas.openxmlformats.org/officeDocument/2006/relationships/hyperlink" Target="https://getuplearn.com/blog/what-is-learning/" TargetMode="Externa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getuplearn.com/blog/personality-in-organisational-behavior/" TargetMode="External"/><Relationship Id="rId2" Type="http://schemas.openxmlformats.org/officeDocument/2006/relationships/slide" Target="../slides/slide39.xml"/><Relationship Id="rId1" Type="http://schemas.openxmlformats.org/officeDocument/2006/relationships/notesMaster" Target="../notesMasters/notesMaster1.xml"/><Relationship Id="rId4" Type="http://schemas.openxmlformats.org/officeDocument/2006/relationships/hyperlink" Target="https://getuplearn.com/blog/what-is-learning/" TargetMode="Externa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getuplearn.com/blog/organization/"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getuplearn.com/blog/organization/"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2155221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a:t>
            </a:fld>
            <a:endParaRPr lang="en-US"/>
          </a:p>
        </p:txBody>
      </p:sp>
    </p:spTree>
    <p:extLst>
      <p:ext uri="{BB962C8B-B14F-4D97-AF65-F5344CB8AC3E}">
        <p14:creationId xmlns:p14="http://schemas.microsoft.com/office/powerpoint/2010/main" val="1179126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4125203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5</a:t>
            </a:fld>
            <a:endParaRPr lang="en-US"/>
          </a:p>
        </p:txBody>
      </p:sp>
    </p:spTree>
    <p:extLst>
      <p:ext uri="{BB962C8B-B14F-4D97-AF65-F5344CB8AC3E}">
        <p14:creationId xmlns:p14="http://schemas.microsoft.com/office/powerpoint/2010/main" val="2438766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6</a:t>
            </a:fld>
            <a:endParaRPr lang="en-US"/>
          </a:p>
        </p:txBody>
      </p:sp>
    </p:spTree>
    <p:extLst>
      <p:ext uri="{BB962C8B-B14F-4D97-AF65-F5344CB8AC3E}">
        <p14:creationId xmlns:p14="http://schemas.microsoft.com/office/powerpoint/2010/main" val="1977247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7</a:t>
            </a:fld>
            <a:endParaRPr lang="en-US"/>
          </a:p>
        </p:txBody>
      </p:sp>
    </p:spTree>
    <p:extLst>
      <p:ext uri="{BB962C8B-B14F-4D97-AF65-F5344CB8AC3E}">
        <p14:creationId xmlns:p14="http://schemas.microsoft.com/office/powerpoint/2010/main" val="27870209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a:t>
            </a:fld>
            <a:endParaRPr lang="en-US"/>
          </a:p>
        </p:txBody>
      </p:sp>
    </p:spTree>
    <p:extLst>
      <p:ext uri="{BB962C8B-B14F-4D97-AF65-F5344CB8AC3E}">
        <p14:creationId xmlns:p14="http://schemas.microsoft.com/office/powerpoint/2010/main" val="1890008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a:t>
            </a:fld>
            <a:endParaRPr lang="en-US"/>
          </a:p>
        </p:txBody>
      </p:sp>
    </p:spTree>
    <p:extLst>
      <p:ext uri="{BB962C8B-B14F-4D97-AF65-F5344CB8AC3E}">
        <p14:creationId xmlns:p14="http://schemas.microsoft.com/office/powerpoint/2010/main" val="1880402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a:t>
            </a:fld>
            <a:endParaRPr lang="en-US"/>
          </a:p>
        </p:txBody>
      </p:sp>
    </p:spTree>
    <p:extLst>
      <p:ext uri="{BB962C8B-B14F-4D97-AF65-F5344CB8AC3E}">
        <p14:creationId xmlns:p14="http://schemas.microsoft.com/office/powerpoint/2010/main" val="2529629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a:t>
            </a:fld>
            <a:endParaRPr lang="en-US"/>
          </a:p>
        </p:txBody>
      </p:sp>
    </p:spTree>
    <p:extLst>
      <p:ext uri="{BB962C8B-B14F-4D97-AF65-F5344CB8AC3E}">
        <p14:creationId xmlns:p14="http://schemas.microsoft.com/office/powerpoint/2010/main" val="10842631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a:t>
            </a:fld>
            <a:endParaRPr lang="en-US"/>
          </a:p>
        </p:txBody>
      </p:sp>
    </p:spTree>
    <p:extLst>
      <p:ext uri="{BB962C8B-B14F-4D97-AF65-F5344CB8AC3E}">
        <p14:creationId xmlns:p14="http://schemas.microsoft.com/office/powerpoint/2010/main" val="24873487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a:t>
            </a:fld>
            <a:endParaRPr lang="en-US"/>
          </a:p>
        </p:txBody>
      </p:sp>
    </p:spTree>
    <p:extLst>
      <p:ext uri="{BB962C8B-B14F-4D97-AF65-F5344CB8AC3E}">
        <p14:creationId xmlns:p14="http://schemas.microsoft.com/office/powerpoint/2010/main" val="3028555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14</a:t>
            </a:fld>
            <a:endParaRPr lang="en-US"/>
          </a:p>
        </p:txBody>
      </p:sp>
    </p:spTree>
    <p:extLst>
      <p:ext uri="{BB962C8B-B14F-4D97-AF65-F5344CB8AC3E}">
        <p14:creationId xmlns:p14="http://schemas.microsoft.com/office/powerpoint/2010/main" val="34991996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15</a:t>
            </a:fld>
            <a:endParaRPr lang="en-US"/>
          </a:p>
        </p:txBody>
      </p:sp>
    </p:spTree>
    <p:extLst>
      <p:ext uri="{BB962C8B-B14F-4D97-AF65-F5344CB8AC3E}">
        <p14:creationId xmlns:p14="http://schemas.microsoft.com/office/powerpoint/2010/main" val="17768510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16</a:t>
            </a:fld>
            <a:endParaRPr lang="en-US"/>
          </a:p>
        </p:txBody>
      </p:sp>
    </p:spTree>
    <p:extLst>
      <p:ext uri="{BB962C8B-B14F-4D97-AF65-F5344CB8AC3E}">
        <p14:creationId xmlns:p14="http://schemas.microsoft.com/office/powerpoint/2010/main" val="42255155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17</a:t>
            </a:fld>
            <a:endParaRPr lang="en-US"/>
          </a:p>
        </p:txBody>
      </p:sp>
    </p:spTree>
    <p:extLst>
      <p:ext uri="{BB962C8B-B14F-4D97-AF65-F5344CB8AC3E}">
        <p14:creationId xmlns:p14="http://schemas.microsoft.com/office/powerpoint/2010/main" val="20156344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pPr algn="l">
              <a:buFont typeface="Arial" panose="020B0604020202020204" pitchFamily="34" charset="0"/>
              <a:buChar char="•"/>
            </a:pPr>
            <a:r>
              <a:rPr lang="en-US" b="0" i="0" dirty="0">
                <a:solidFill>
                  <a:srgbClr val="555555"/>
                </a:solidFill>
                <a:effectLst/>
                <a:highlight>
                  <a:srgbClr val="FFFFFF"/>
                </a:highlight>
                <a:latin typeface="Open Sans" panose="020B0606030504020204" pitchFamily="34" charset="0"/>
              </a:rPr>
              <a:t>A retail store is having issues keeping its shelves stocked. There are three different departments that influence the shelf stock: floor team, warehouse team, and unload team. The Location supervisor addresses all three teams together to ask them what they think is the cause of the problem. After a long discussion, the warehouse and unload teams take responsibility and work between and within their groups to find a solution. Because the issue was addressed on the group level, this is an example of meso-level organizational behavior.</a:t>
            </a:r>
          </a:p>
          <a:p>
            <a:pPr algn="l">
              <a:buFont typeface="Arial" panose="020B0604020202020204" pitchFamily="34" charset="0"/>
              <a:buChar char="•"/>
            </a:pPr>
            <a:endParaRPr lang="en-US" b="0" i="0" dirty="0">
              <a:solidFill>
                <a:srgbClr val="555555"/>
              </a:solidFill>
              <a:effectLst/>
              <a:highlight>
                <a:srgbClr val="FFFFFF"/>
              </a:highlight>
              <a:latin typeface="Open Sans" panose="020B0606030504020204" pitchFamily="34" charset="0"/>
            </a:endParaRPr>
          </a:p>
          <a:p>
            <a:pPr algn="l">
              <a:buFont typeface="Arial" panose="020B0604020202020204" pitchFamily="34" charset="0"/>
              <a:buChar char="•"/>
            </a:pPr>
            <a:r>
              <a:rPr lang="en-US" b="1" i="0" dirty="0">
                <a:solidFill>
                  <a:srgbClr val="555555"/>
                </a:solidFill>
                <a:effectLst/>
                <a:highlight>
                  <a:srgbClr val="FFFFFF"/>
                </a:highlight>
                <a:latin typeface="Open Sans" panose="020B0606030504020204" pitchFamily="34" charset="0"/>
              </a:rPr>
              <a:t>Macro-level example</a:t>
            </a:r>
            <a:r>
              <a:rPr lang="en-US" b="0" i="0" dirty="0">
                <a:solidFill>
                  <a:srgbClr val="555555"/>
                </a:solidFill>
                <a:effectLst/>
                <a:highlight>
                  <a:srgbClr val="FFFFFF"/>
                </a:highlight>
                <a:latin typeface="Open Sans" panose="020B0606030504020204" pitchFamily="34" charset="0"/>
              </a:rPr>
              <a:t>: A technology company is having trouble with employee retention. The CEO has found that they cannot retain employees for more than 6 months. He decides to re-examine the culture of the company that he had a hand in creating. He found that the culture of the company focused too much on productivity and the employees were becoming dissatisfied. The CEO decides to work with the supervisors to reimagine the company's culture. Because this issue was addressed on a company-wide level, this is an example of macro-level organizational behavior.</a:t>
            </a:r>
          </a:p>
          <a:p>
            <a:br>
              <a:rPr lang="en-US" b="0" i="0" dirty="0">
                <a:solidFill>
                  <a:srgbClr val="555555"/>
                </a:solidFill>
                <a:effectLst/>
                <a:highlight>
                  <a:srgbClr val="FFFFFF"/>
                </a:highlight>
                <a:latin typeface="Open Sans" panose="020B0606030504020204" pitchFamily="34" charset="0"/>
              </a:rPr>
            </a:b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18</a:t>
            </a:fld>
            <a:endParaRPr lang="en-US"/>
          </a:p>
        </p:txBody>
      </p:sp>
    </p:spTree>
    <p:extLst>
      <p:ext uri="{BB962C8B-B14F-4D97-AF65-F5344CB8AC3E}">
        <p14:creationId xmlns:p14="http://schemas.microsoft.com/office/powerpoint/2010/main" val="20029052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19</a:t>
            </a:fld>
            <a:endParaRPr lang="en-US"/>
          </a:p>
        </p:txBody>
      </p:sp>
    </p:spTree>
    <p:extLst>
      <p:ext uri="{BB962C8B-B14F-4D97-AF65-F5344CB8AC3E}">
        <p14:creationId xmlns:p14="http://schemas.microsoft.com/office/powerpoint/2010/main" val="31401735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pPr algn="l">
              <a:buFont typeface="Arial" panose="020B0604020202020204" pitchFamily="34" charset="0"/>
              <a:buChar char="•"/>
            </a:pPr>
            <a:r>
              <a:rPr lang="en-US" b="0" i="0" dirty="0">
                <a:solidFill>
                  <a:srgbClr val="555555"/>
                </a:solidFill>
                <a:effectLst/>
                <a:highlight>
                  <a:srgbClr val="FFFFFF"/>
                </a:highlight>
                <a:latin typeface="Open Sans" panose="020B0606030504020204" pitchFamily="34" charset="0"/>
              </a:rPr>
              <a:t>A retail store is having issues keeping its shelves stocked. There are three different departments that influence the shelf stock: floor team, warehouse team, and unload team. The Location supervisor addresses all three teams together to ask them what they think is the cause of the problem. After a long discussion, the warehouse and unload teams take responsibility and work between and within their groups to find a solution. Because the issue was addressed on the group level, this is an example of meso-level organizational behavior.</a:t>
            </a:r>
          </a:p>
          <a:p>
            <a:pPr algn="l">
              <a:buFont typeface="Arial" panose="020B0604020202020204" pitchFamily="34" charset="0"/>
              <a:buChar char="•"/>
            </a:pPr>
            <a:endParaRPr lang="en-US" b="0" i="0" dirty="0">
              <a:solidFill>
                <a:srgbClr val="555555"/>
              </a:solidFill>
              <a:effectLst/>
              <a:highlight>
                <a:srgbClr val="FFFFFF"/>
              </a:highlight>
              <a:latin typeface="Open Sans" panose="020B0606030504020204" pitchFamily="34" charset="0"/>
            </a:endParaRPr>
          </a:p>
          <a:p>
            <a:pPr algn="l">
              <a:buFont typeface="Arial" panose="020B0604020202020204" pitchFamily="34" charset="0"/>
              <a:buChar char="•"/>
            </a:pPr>
            <a:r>
              <a:rPr lang="en-US" b="1" i="0" dirty="0">
                <a:solidFill>
                  <a:srgbClr val="555555"/>
                </a:solidFill>
                <a:effectLst/>
                <a:highlight>
                  <a:srgbClr val="FFFFFF"/>
                </a:highlight>
                <a:latin typeface="Open Sans" panose="020B0606030504020204" pitchFamily="34" charset="0"/>
              </a:rPr>
              <a:t>Macro-level example</a:t>
            </a:r>
            <a:r>
              <a:rPr lang="en-US" b="0" i="0" dirty="0">
                <a:solidFill>
                  <a:srgbClr val="555555"/>
                </a:solidFill>
                <a:effectLst/>
                <a:highlight>
                  <a:srgbClr val="FFFFFF"/>
                </a:highlight>
                <a:latin typeface="Open Sans" panose="020B0606030504020204" pitchFamily="34" charset="0"/>
              </a:rPr>
              <a:t>: A technology company is having trouble with employee retention. The CEO has found that they cannot retain employees for more than 6 months. He decides to re-examine the culture of the company that he had a hand in creating. He found that the culture of the company focused too much on productivity and the employees were becoming dissatisfied. The CEO decides to work with the supervisors to reimagine the company's culture. Because this issue was addressed on a company-wide level, this is an example of macro-level organizational behavior.</a:t>
            </a:r>
          </a:p>
          <a:p>
            <a:br>
              <a:rPr lang="en-US" b="0" i="0" dirty="0">
                <a:solidFill>
                  <a:srgbClr val="555555"/>
                </a:solidFill>
                <a:effectLst/>
                <a:highlight>
                  <a:srgbClr val="FFFFFF"/>
                </a:highlight>
                <a:latin typeface="Open Sans" panose="020B0606030504020204" pitchFamily="34" charset="0"/>
              </a:rPr>
            </a:b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20</a:t>
            </a:fld>
            <a:endParaRPr lang="en-US"/>
          </a:p>
        </p:txBody>
      </p:sp>
    </p:spTree>
    <p:extLst>
      <p:ext uri="{BB962C8B-B14F-4D97-AF65-F5344CB8AC3E}">
        <p14:creationId xmlns:p14="http://schemas.microsoft.com/office/powerpoint/2010/main" val="14978687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25000" lnSpcReduction="20000"/>
          </a:bodyPr>
          <a:lstStyle/>
          <a:p>
            <a:pPr>
              <a:lnSpc>
                <a:spcPts val="1680"/>
              </a:lnSpc>
            </a:pPr>
            <a:r>
              <a:rPr lang="en-IN" sz="1800" b="1" dirty="0">
                <a:solidFill>
                  <a:srgbClr val="2B00FE"/>
                </a:solidFill>
                <a:effectLst/>
                <a:latin typeface="var(--title-font)"/>
                <a:ea typeface="Times New Roman" panose="02020603050405020304" pitchFamily="18" charset="0"/>
              </a:rPr>
              <a:t>Personality</a:t>
            </a:r>
            <a:endParaRPr lang="en-IN" sz="1800" b="1" dirty="0">
              <a:effectLst/>
              <a:latin typeface="var(--title-font)"/>
              <a:ea typeface="Times New Roman" panose="02020603050405020304" pitchFamily="18" charset="0"/>
            </a:endParaRPr>
          </a:p>
          <a:p>
            <a:pPr>
              <a:lnSpc>
                <a:spcPts val="1680"/>
              </a:lnSpc>
            </a:pPr>
            <a:r>
              <a:rPr lang="en-IN" sz="1800" dirty="0">
                <a:effectLst/>
                <a:latin typeface="var(--body-font)"/>
                <a:ea typeface="Times New Roman" panose="02020603050405020304" pitchFamily="18" charset="0"/>
              </a:rPr>
              <a:t>Personality refers to the unique set of traits, characteristics, and patterns of </a:t>
            </a:r>
            <a:r>
              <a:rPr lang="en-IN" sz="1800" dirty="0" err="1">
                <a:effectLst/>
                <a:latin typeface="var(--body-font)"/>
                <a:ea typeface="Times New Roman" panose="02020603050405020304" pitchFamily="18" charset="0"/>
              </a:rPr>
              <a:t>behavior</a:t>
            </a:r>
            <a:r>
              <a:rPr lang="en-IN" sz="1800" dirty="0">
                <a:effectLst/>
                <a:latin typeface="var(--body-font)"/>
                <a:ea typeface="Times New Roman" panose="02020603050405020304" pitchFamily="18" charset="0"/>
              </a:rPr>
              <a:t> that distinguish one individual from another. Personality traits such as extraversion, agreeableness, conscientiousness, openness, and neuroticism influence how individuals perceive and interact with their environment, colleagues, and tasks.</a:t>
            </a:r>
            <a:endParaRPr lang="en-IN" sz="1800" dirty="0">
              <a:effectLst/>
              <a:latin typeface="Times New Roman" panose="02020603050405020304" pitchFamily="18" charset="0"/>
              <a:ea typeface="Times New Roman" panose="02020603050405020304" pitchFamily="18" charset="0"/>
            </a:endParaRPr>
          </a:p>
          <a:p>
            <a:pPr>
              <a:lnSpc>
                <a:spcPts val="1680"/>
              </a:lnSpc>
            </a:pPr>
            <a:r>
              <a:rPr lang="en-IN" sz="1800" dirty="0">
                <a:effectLst/>
                <a:latin typeface="var(--body-font)"/>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nSpc>
                <a:spcPts val="1680"/>
              </a:lnSpc>
            </a:pPr>
            <a:r>
              <a:rPr lang="en-IN" sz="1800" b="1" dirty="0">
                <a:solidFill>
                  <a:srgbClr val="2B00FE"/>
                </a:solidFill>
                <a:effectLst/>
                <a:latin typeface="var(--title-font)"/>
                <a:ea typeface="Times New Roman" panose="02020603050405020304" pitchFamily="18" charset="0"/>
              </a:rPr>
              <a:t>Perception</a:t>
            </a:r>
            <a:endParaRPr lang="en-IN" sz="1800" b="1" dirty="0">
              <a:effectLst/>
              <a:latin typeface="var(--title-font)"/>
              <a:ea typeface="Times New Roman" panose="02020603050405020304" pitchFamily="18" charset="0"/>
            </a:endParaRPr>
          </a:p>
          <a:p>
            <a:pPr>
              <a:lnSpc>
                <a:spcPts val="1680"/>
              </a:lnSpc>
            </a:pPr>
            <a:r>
              <a:rPr lang="en-IN" sz="1800" dirty="0">
                <a:effectLst/>
                <a:latin typeface="var(--body-font)"/>
                <a:ea typeface="Times New Roman" panose="02020603050405020304" pitchFamily="18" charset="0"/>
              </a:rPr>
              <a:t>Perception involves how individuals interpret and make sense of the world around them. Perceptual processes such as selective attention, interpretation, and attribution shape individuals' understanding of events, situations, and interactions. Perceptions influence decision-making, problem-solving, and interpersonal relationships in the workplace.</a:t>
            </a:r>
            <a:endParaRPr lang="en-IN" sz="1800" dirty="0">
              <a:effectLst/>
              <a:latin typeface="Times New Roman" panose="02020603050405020304" pitchFamily="18" charset="0"/>
              <a:ea typeface="Times New Roman" panose="02020603050405020304" pitchFamily="18" charset="0"/>
            </a:endParaRPr>
          </a:p>
          <a:p>
            <a:pPr>
              <a:lnSpc>
                <a:spcPts val="1680"/>
              </a:lnSpc>
            </a:pPr>
            <a:r>
              <a:rPr lang="en-IN" sz="1800" dirty="0">
                <a:effectLst/>
                <a:latin typeface="var(--body-font)"/>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nSpc>
                <a:spcPts val="1680"/>
              </a:lnSpc>
            </a:pPr>
            <a:r>
              <a:rPr lang="en-IN" sz="1800" b="1" dirty="0">
                <a:solidFill>
                  <a:srgbClr val="2B00FE"/>
                </a:solidFill>
                <a:effectLst/>
                <a:latin typeface="var(--title-font)"/>
                <a:ea typeface="Times New Roman" panose="02020603050405020304" pitchFamily="18" charset="0"/>
              </a:rPr>
              <a:t>Attitudes and Values</a:t>
            </a:r>
            <a:endParaRPr lang="en-IN" sz="1800" b="1" dirty="0">
              <a:effectLst/>
              <a:latin typeface="var(--title-font)"/>
              <a:ea typeface="Times New Roman" panose="02020603050405020304" pitchFamily="18" charset="0"/>
            </a:endParaRPr>
          </a:p>
          <a:p>
            <a:pPr>
              <a:lnSpc>
                <a:spcPts val="1680"/>
              </a:lnSpc>
            </a:pPr>
            <a:r>
              <a:rPr lang="en-IN" sz="1800" dirty="0">
                <a:effectLst/>
                <a:latin typeface="var(--body-font)"/>
                <a:ea typeface="Times New Roman" panose="02020603050405020304" pitchFamily="18" charset="0"/>
              </a:rPr>
              <a:t>Attitudes are individuals' evaluations, feelings, and beliefs about people, objects, or events, while values are enduring beliefs and principles that guide individuals' </a:t>
            </a:r>
            <a:r>
              <a:rPr lang="en-IN" sz="1800" dirty="0" err="1">
                <a:effectLst/>
                <a:latin typeface="var(--body-font)"/>
                <a:ea typeface="Times New Roman" panose="02020603050405020304" pitchFamily="18" charset="0"/>
              </a:rPr>
              <a:t>behavior</a:t>
            </a:r>
            <a:r>
              <a:rPr lang="en-IN" sz="1800" dirty="0">
                <a:effectLst/>
                <a:latin typeface="var(--body-font)"/>
                <a:ea typeface="Times New Roman" panose="02020603050405020304" pitchFamily="18" charset="0"/>
              </a:rPr>
              <a:t> and preferences. Attitudes and values influence employees' motivation, job satisfaction, commitment, and organizational citizenship </a:t>
            </a:r>
            <a:r>
              <a:rPr lang="en-IN" sz="1800" dirty="0" err="1">
                <a:effectLst/>
                <a:latin typeface="var(--body-font)"/>
                <a:ea typeface="Times New Roman" panose="02020603050405020304" pitchFamily="18" charset="0"/>
              </a:rPr>
              <a:t>behavior</a:t>
            </a:r>
            <a:r>
              <a:rPr lang="en-IN" sz="1800" dirty="0">
                <a:effectLst/>
                <a:latin typeface="var(--body-font)"/>
                <a:ea typeface="Times New Roman" panose="02020603050405020304" pitchFamily="18" charset="0"/>
              </a:rPr>
              <a:t>.</a:t>
            </a:r>
            <a:endParaRPr lang="en-IN" sz="1800" dirty="0">
              <a:effectLst/>
              <a:latin typeface="Times New Roman" panose="02020603050405020304" pitchFamily="18" charset="0"/>
              <a:ea typeface="Times New Roman" panose="02020603050405020304" pitchFamily="18" charset="0"/>
            </a:endParaRPr>
          </a:p>
          <a:p>
            <a:pPr>
              <a:lnSpc>
                <a:spcPts val="1680"/>
              </a:lnSpc>
            </a:pPr>
            <a:r>
              <a:rPr lang="en-IN" sz="1800" dirty="0">
                <a:effectLst/>
                <a:latin typeface="var(--body-font)"/>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nSpc>
                <a:spcPts val="1680"/>
              </a:lnSpc>
            </a:pPr>
            <a:r>
              <a:rPr lang="en-IN" sz="1800" b="1" dirty="0">
                <a:solidFill>
                  <a:srgbClr val="2B00FE"/>
                </a:solidFill>
                <a:effectLst/>
                <a:latin typeface="var(--title-font)"/>
                <a:ea typeface="Times New Roman" panose="02020603050405020304" pitchFamily="18" charset="0"/>
              </a:rPr>
              <a:t>Motivation</a:t>
            </a:r>
            <a:endParaRPr lang="en-IN" sz="1800" b="1" dirty="0">
              <a:effectLst/>
              <a:latin typeface="var(--title-font)"/>
              <a:ea typeface="Times New Roman" panose="02020603050405020304" pitchFamily="18" charset="0"/>
            </a:endParaRPr>
          </a:p>
          <a:p>
            <a:pPr>
              <a:lnSpc>
                <a:spcPts val="1680"/>
              </a:lnSpc>
            </a:pPr>
            <a:r>
              <a:rPr lang="en-IN" sz="1800" dirty="0">
                <a:effectLst/>
                <a:latin typeface="var(--body-font)"/>
                <a:ea typeface="Times New Roman" panose="02020603050405020304" pitchFamily="18" charset="0"/>
              </a:rPr>
              <a:t>Motivation refers to the internal processes that drive individuals to pursue goals, exert effort, and achieve desired outcomes. Motivational theories such as Maslow's hierarchy of needs, Herzberg's two-factor theory, and expectancy theory help explain individuals' motivation and </a:t>
            </a:r>
            <a:r>
              <a:rPr lang="en-IN" sz="1800" dirty="0" err="1">
                <a:effectLst/>
                <a:latin typeface="var(--body-font)"/>
                <a:ea typeface="Times New Roman" panose="02020603050405020304" pitchFamily="18" charset="0"/>
              </a:rPr>
              <a:t>behavior</a:t>
            </a:r>
            <a:r>
              <a:rPr lang="en-IN" sz="1800" dirty="0">
                <a:effectLst/>
                <a:latin typeface="var(--body-font)"/>
                <a:ea typeface="Times New Roman" panose="02020603050405020304" pitchFamily="18" charset="0"/>
              </a:rPr>
              <a:t> in the workplace.</a:t>
            </a:r>
            <a:endParaRPr lang="en-IN" sz="1800" dirty="0">
              <a:effectLst/>
              <a:latin typeface="Times New Roman" panose="02020603050405020304" pitchFamily="18" charset="0"/>
              <a:ea typeface="Times New Roman" panose="02020603050405020304" pitchFamily="18" charset="0"/>
            </a:endParaRPr>
          </a:p>
          <a:p>
            <a:pPr>
              <a:lnSpc>
                <a:spcPts val="1680"/>
              </a:lnSpc>
            </a:pPr>
            <a:r>
              <a:rPr lang="en-IN" sz="1800" dirty="0">
                <a:effectLst/>
                <a:latin typeface="var(--body-font)"/>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a:lnSpc>
                <a:spcPts val="1680"/>
              </a:lnSpc>
            </a:pPr>
            <a:r>
              <a:rPr lang="en-IN" sz="1800" b="1" dirty="0">
                <a:solidFill>
                  <a:srgbClr val="2B00FE"/>
                </a:solidFill>
                <a:effectLst/>
                <a:latin typeface="var(--title-font)"/>
                <a:ea typeface="Times New Roman" panose="02020603050405020304" pitchFamily="18" charset="0"/>
              </a:rPr>
              <a:t>Emotions and Emotional Intelligence</a:t>
            </a:r>
            <a:endParaRPr lang="en-IN" sz="1800" b="1" dirty="0">
              <a:effectLst/>
              <a:latin typeface="var(--title-font)"/>
              <a:ea typeface="Times New Roman" panose="02020603050405020304" pitchFamily="18" charset="0"/>
            </a:endParaRPr>
          </a:p>
          <a:p>
            <a:pPr>
              <a:lnSpc>
                <a:spcPts val="1680"/>
              </a:lnSpc>
            </a:pPr>
            <a:r>
              <a:rPr lang="en-IN" sz="1800" dirty="0">
                <a:effectLst/>
                <a:latin typeface="var(--body-font)"/>
                <a:ea typeface="Times New Roman" panose="02020603050405020304" pitchFamily="18" charset="0"/>
              </a:rPr>
              <a:t>Emotions play a significant role in influencing individuals' </a:t>
            </a:r>
            <a:r>
              <a:rPr lang="en-IN" sz="1800" dirty="0" err="1">
                <a:effectLst/>
                <a:latin typeface="var(--body-font)"/>
                <a:ea typeface="Times New Roman" panose="02020603050405020304" pitchFamily="18" charset="0"/>
              </a:rPr>
              <a:t>behavior</a:t>
            </a:r>
            <a:r>
              <a:rPr lang="en-IN" sz="1800" dirty="0">
                <a:effectLst/>
                <a:latin typeface="var(--body-font)"/>
                <a:ea typeface="Times New Roman" panose="02020603050405020304" pitchFamily="18" charset="0"/>
              </a:rPr>
              <a:t>, decision-making, and interpersonal interactions. Emotional intelligence, which encompasses the ability to recognize, understand, and manage one's own emotions and those of others, is crucial for effective leadership, teamwork, and conflict resolution.</a:t>
            </a:r>
            <a:endParaRPr lang="en-IN" sz="1800" dirty="0">
              <a:effectLst/>
              <a:latin typeface="Times New Roman" panose="02020603050405020304" pitchFamily="18" charset="0"/>
              <a:ea typeface="Times New Roman" panose="02020603050405020304" pitchFamily="18" charset="0"/>
            </a:endParaRP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21</a:t>
            </a:fld>
            <a:endParaRPr lang="en-US"/>
          </a:p>
        </p:txBody>
      </p:sp>
    </p:spTree>
    <p:extLst>
      <p:ext uri="{BB962C8B-B14F-4D97-AF65-F5344CB8AC3E}">
        <p14:creationId xmlns:p14="http://schemas.microsoft.com/office/powerpoint/2010/main" val="37935034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IN" sz="1800" dirty="0"/>
              <a:t>WFD- the collective mixture of employees’ differences and similarities.</a:t>
            </a:r>
          </a:p>
        </p:txBody>
      </p:sp>
      <p:sp>
        <p:nvSpPr>
          <p:cNvPr id="4" name="Slide Number Placeholder 3"/>
          <p:cNvSpPr>
            <a:spLocks noGrp="1"/>
          </p:cNvSpPr>
          <p:nvPr>
            <p:ph type="sldNum" sz="quarter" idx="10"/>
          </p:nvPr>
        </p:nvSpPr>
        <p:spPr/>
        <p:txBody>
          <a:bodyPr/>
          <a:lstStyle/>
          <a:p>
            <a:fld id="{1635F52E-BA8C-4FAB-BCFA-C67A14D9CE22}" type="slidenum">
              <a:rPr lang="en-US" smtClean="0"/>
              <a:pPr/>
              <a:t>22</a:t>
            </a:fld>
            <a:endParaRPr lang="en-US"/>
          </a:p>
        </p:txBody>
      </p:sp>
    </p:spTree>
    <p:extLst>
      <p:ext uri="{BB962C8B-B14F-4D97-AF65-F5344CB8AC3E}">
        <p14:creationId xmlns:p14="http://schemas.microsoft.com/office/powerpoint/2010/main" val="5811477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23</a:t>
            </a:fld>
            <a:endParaRPr lang="en-US"/>
          </a:p>
        </p:txBody>
      </p:sp>
    </p:spTree>
    <p:extLst>
      <p:ext uri="{BB962C8B-B14F-4D97-AF65-F5344CB8AC3E}">
        <p14:creationId xmlns:p14="http://schemas.microsoft.com/office/powerpoint/2010/main" val="38876403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24</a:t>
            </a:fld>
            <a:endParaRPr lang="en-US"/>
          </a:p>
        </p:txBody>
      </p:sp>
    </p:spTree>
    <p:extLst>
      <p:ext uri="{BB962C8B-B14F-4D97-AF65-F5344CB8AC3E}">
        <p14:creationId xmlns:p14="http://schemas.microsoft.com/office/powerpoint/2010/main" val="42518616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25</a:t>
            </a:fld>
            <a:endParaRPr lang="en-US"/>
          </a:p>
        </p:txBody>
      </p:sp>
    </p:spTree>
    <p:extLst>
      <p:ext uri="{BB962C8B-B14F-4D97-AF65-F5344CB8AC3E}">
        <p14:creationId xmlns:p14="http://schemas.microsoft.com/office/powerpoint/2010/main" val="37665420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26</a:t>
            </a:fld>
            <a:endParaRPr lang="en-US"/>
          </a:p>
        </p:txBody>
      </p:sp>
    </p:spTree>
    <p:extLst>
      <p:ext uri="{BB962C8B-B14F-4D97-AF65-F5344CB8AC3E}">
        <p14:creationId xmlns:p14="http://schemas.microsoft.com/office/powerpoint/2010/main" val="16482513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en-US" b="1" dirty="0"/>
              <a:t>1. *Diverse Workforce*:   </a:t>
            </a:r>
            <a:r>
              <a:rPr lang="en-US" dirty="0"/>
              <a:t>- People from different cultures work together, bringing new ideas but also requiring good communication and understanding of different cultural practices.</a:t>
            </a:r>
          </a:p>
          <a:p>
            <a:pPr algn="l">
              <a:buFont typeface="Arial" panose="020B0604020202020204" pitchFamily="34" charset="0"/>
              <a:buChar char="•"/>
            </a:pPr>
            <a:r>
              <a:rPr lang="en-US" dirty="0"/>
              <a:t>2. *</a:t>
            </a:r>
            <a:r>
              <a:rPr lang="en-US" b="1" dirty="0"/>
              <a:t>Communication Challenges:   </a:t>
            </a:r>
            <a:r>
              <a:rPr lang="en-US" dirty="0"/>
              <a:t>- Teams often work across different time zones and languages, needing clear communication and coordination tools.</a:t>
            </a:r>
          </a:p>
          <a:p>
            <a:pPr algn="l">
              <a:buFont typeface="Arial" panose="020B0604020202020204" pitchFamily="34" charset="0"/>
              <a:buChar char="•"/>
            </a:pPr>
            <a:r>
              <a:rPr lang="en-US" dirty="0"/>
              <a:t>3</a:t>
            </a:r>
            <a:r>
              <a:rPr lang="en-US" b="1" dirty="0"/>
              <a:t>. Global Teams*:   </a:t>
            </a:r>
            <a:r>
              <a:rPr lang="en-US" dirty="0"/>
              <a:t>- Managing teams spread around the world requires flexibility and effective virtual teamwork skills.</a:t>
            </a:r>
          </a:p>
          <a:p>
            <a:pPr algn="l">
              <a:buFont typeface="Arial" panose="020B0604020202020204" pitchFamily="34" charset="0"/>
              <a:buChar char="•"/>
            </a:pPr>
            <a:r>
              <a:rPr lang="en-US" dirty="0"/>
              <a:t>4. </a:t>
            </a:r>
            <a:r>
              <a:rPr lang="en-US" b="1" dirty="0"/>
              <a:t>Leadership*:   </a:t>
            </a:r>
            <a:r>
              <a:rPr lang="en-US" dirty="0"/>
              <a:t>- Leaders must understand and adapt to various cultural and business practices to manage effectively in different countries.</a:t>
            </a:r>
          </a:p>
          <a:p>
            <a:pPr algn="l">
              <a:buFont typeface="Arial" panose="020B0604020202020204" pitchFamily="34" charset="0"/>
              <a:buChar char="•"/>
            </a:pPr>
            <a:r>
              <a:rPr lang="en-US" dirty="0"/>
              <a:t>6. *</a:t>
            </a:r>
            <a:r>
              <a:rPr lang="en-US" b="1" dirty="0"/>
              <a:t>Ethics and Responsibility</a:t>
            </a:r>
            <a:r>
              <a:rPr lang="en-US" dirty="0"/>
              <a:t>*:   - Companies must follow different ethical standards and engage in social and environmental responsibilities globally.</a:t>
            </a:r>
          </a:p>
          <a:p>
            <a:pPr algn="l">
              <a:buFont typeface="Arial" panose="020B0604020202020204" pitchFamily="34" charset="0"/>
              <a:buChar char="•"/>
            </a:pPr>
            <a:r>
              <a:rPr lang="en-US" dirty="0"/>
              <a:t>7. Training and Development*:   - Providing training to understand and work well in a global environment is crucial.</a:t>
            </a:r>
          </a:p>
          <a:p>
            <a:pPr algn="l">
              <a:buFont typeface="Arial" panose="020B0604020202020204" pitchFamily="34" charset="0"/>
              <a:buChar char="•"/>
            </a:pPr>
            <a:endParaRPr lang="en-US" dirty="0"/>
          </a:p>
          <a:p>
            <a:pPr algn="l">
              <a:buFont typeface="Arial" panose="020B0604020202020204" pitchFamily="34" charset="0"/>
              <a:buChar char="•"/>
            </a:pPr>
            <a:endParaRPr lang="en-US" dirty="0"/>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27</a:t>
            </a:fld>
            <a:endParaRPr lang="en-US"/>
          </a:p>
        </p:txBody>
      </p:sp>
    </p:spTree>
    <p:extLst>
      <p:ext uri="{BB962C8B-B14F-4D97-AF65-F5344CB8AC3E}">
        <p14:creationId xmlns:p14="http://schemas.microsoft.com/office/powerpoint/2010/main" val="17244115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28</a:t>
            </a:fld>
            <a:endParaRPr lang="en-US"/>
          </a:p>
        </p:txBody>
      </p:sp>
    </p:spTree>
    <p:extLst>
      <p:ext uri="{BB962C8B-B14F-4D97-AF65-F5344CB8AC3E}">
        <p14:creationId xmlns:p14="http://schemas.microsoft.com/office/powerpoint/2010/main" val="28463337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29</a:t>
            </a:fld>
            <a:endParaRPr lang="en-US"/>
          </a:p>
        </p:txBody>
      </p:sp>
    </p:spTree>
    <p:extLst>
      <p:ext uri="{BB962C8B-B14F-4D97-AF65-F5344CB8AC3E}">
        <p14:creationId xmlns:p14="http://schemas.microsoft.com/office/powerpoint/2010/main" val="3004857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Clan Culture:</a:t>
            </a:r>
            <a:r>
              <a:rPr lang="en-US" b="0" i="0" dirty="0">
                <a:solidFill>
                  <a:srgbClr val="3A3B41"/>
                </a:solidFill>
                <a:effectLst/>
                <a:highlight>
                  <a:srgbClr val="F0F2FA"/>
                </a:highlight>
                <a:latin typeface="Georgia" panose="02040502050405020303" pitchFamily="18" charset="0"/>
              </a:rPr>
              <a:t> emphasizes collaboration across teams and a horizontal structure. </a:t>
            </a:r>
          </a:p>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Adhocracy Culture:</a:t>
            </a:r>
            <a:r>
              <a:rPr lang="en-US" b="0" i="0" dirty="0">
                <a:solidFill>
                  <a:srgbClr val="3A3B41"/>
                </a:solidFill>
                <a:effectLst/>
                <a:highlight>
                  <a:srgbClr val="F0F2FA"/>
                </a:highlight>
                <a:latin typeface="Georgia" panose="02040502050405020303" pitchFamily="18" charset="0"/>
              </a:rPr>
              <a:t> allows individuals to share ideas and encourages the company to take risks. </a:t>
            </a:r>
          </a:p>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Market Culture:</a:t>
            </a:r>
            <a:r>
              <a:rPr lang="en-US" b="0" i="0" dirty="0">
                <a:solidFill>
                  <a:srgbClr val="3A3B41"/>
                </a:solidFill>
                <a:effectLst/>
                <a:highlight>
                  <a:srgbClr val="F0F2FA"/>
                </a:highlight>
                <a:latin typeface="Georgia" panose="02040502050405020303" pitchFamily="18" charset="0"/>
              </a:rPr>
              <a:t> focuses on financial success and how each employee contributes to revenue. </a:t>
            </a:r>
          </a:p>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Hierarchy Culture:</a:t>
            </a:r>
            <a:r>
              <a:rPr lang="en-US" b="0" i="0" dirty="0">
                <a:solidFill>
                  <a:srgbClr val="3A3B41"/>
                </a:solidFill>
                <a:effectLst/>
                <a:highlight>
                  <a:srgbClr val="F0F2FA"/>
                </a:highlight>
                <a:latin typeface="Georgia" panose="02040502050405020303" pitchFamily="18" charset="0"/>
              </a:rPr>
              <a:t> emphasizes career paths and provides clear managerial processes.  </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30</a:t>
            </a:fld>
            <a:endParaRPr lang="en-US"/>
          </a:p>
        </p:txBody>
      </p:sp>
    </p:spTree>
    <p:extLst>
      <p:ext uri="{BB962C8B-B14F-4D97-AF65-F5344CB8AC3E}">
        <p14:creationId xmlns:p14="http://schemas.microsoft.com/office/powerpoint/2010/main" val="40059059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Clan Culture:</a:t>
            </a:r>
            <a:r>
              <a:rPr lang="en-US" b="0" i="0" dirty="0">
                <a:solidFill>
                  <a:srgbClr val="3A3B41"/>
                </a:solidFill>
                <a:effectLst/>
                <a:highlight>
                  <a:srgbClr val="F0F2FA"/>
                </a:highlight>
                <a:latin typeface="Georgia" panose="02040502050405020303" pitchFamily="18" charset="0"/>
              </a:rPr>
              <a:t> emphasizes collaboration across teams and a horizontal structure. </a:t>
            </a:r>
          </a:p>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Adhocracy Culture:</a:t>
            </a:r>
            <a:r>
              <a:rPr lang="en-US" b="0" i="0" dirty="0">
                <a:solidFill>
                  <a:srgbClr val="3A3B41"/>
                </a:solidFill>
                <a:effectLst/>
                <a:highlight>
                  <a:srgbClr val="F0F2FA"/>
                </a:highlight>
                <a:latin typeface="Georgia" panose="02040502050405020303" pitchFamily="18" charset="0"/>
              </a:rPr>
              <a:t> allows individuals to share ideas and encourages the company to take risks. </a:t>
            </a:r>
          </a:p>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Market Culture:</a:t>
            </a:r>
            <a:r>
              <a:rPr lang="en-US" b="0" i="0" dirty="0">
                <a:solidFill>
                  <a:srgbClr val="3A3B41"/>
                </a:solidFill>
                <a:effectLst/>
                <a:highlight>
                  <a:srgbClr val="F0F2FA"/>
                </a:highlight>
                <a:latin typeface="Georgia" panose="02040502050405020303" pitchFamily="18" charset="0"/>
              </a:rPr>
              <a:t> focuses on financial success and how each employee contributes to revenue. </a:t>
            </a:r>
          </a:p>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Hierarchy Culture:</a:t>
            </a:r>
            <a:r>
              <a:rPr lang="en-US" b="0" i="0" dirty="0">
                <a:solidFill>
                  <a:srgbClr val="3A3B41"/>
                </a:solidFill>
                <a:effectLst/>
                <a:highlight>
                  <a:srgbClr val="F0F2FA"/>
                </a:highlight>
                <a:latin typeface="Georgia" panose="02040502050405020303" pitchFamily="18" charset="0"/>
              </a:rPr>
              <a:t> emphasizes career paths and provides clear managerial processes.  </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31</a:t>
            </a:fld>
            <a:endParaRPr lang="en-US"/>
          </a:p>
        </p:txBody>
      </p:sp>
    </p:spTree>
    <p:extLst>
      <p:ext uri="{BB962C8B-B14F-4D97-AF65-F5344CB8AC3E}">
        <p14:creationId xmlns:p14="http://schemas.microsoft.com/office/powerpoint/2010/main" val="13586167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Clan Culture:</a:t>
            </a:r>
            <a:r>
              <a:rPr lang="en-US" b="0" i="0" dirty="0">
                <a:solidFill>
                  <a:srgbClr val="3A3B41"/>
                </a:solidFill>
                <a:effectLst/>
                <a:highlight>
                  <a:srgbClr val="F0F2FA"/>
                </a:highlight>
                <a:latin typeface="Georgia" panose="02040502050405020303" pitchFamily="18" charset="0"/>
              </a:rPr>
              <a:t> emphasizes collaboration across teams and a horizontal structure. </a:t>
            </a:r>
          </a:p>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Adhocracy Culture:</a:t>
            </a:r>
            <a:r>
              <a:rPr lang="en-US" b="0" i="0" dirty="0">
                <a:solidFill>
                  <a:srgbClr val="3A3B41"/>
                </a:solidFill>
                <a:effectLst/>
                <a:highlight>
                  <a:srgbClr val="F0F2FA"/>
                </a:highlight>
                <a:latin typeface="Georgia" panose="02040502050405020303" pitchFamily="18" charset="0"/>
              </a:rPr>
              <a:t> allows individuals to share ideas and encourages the company to take risks. </a:t>
            </a:r>
          </a:p>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Market Culture:</a:t>
            </a:r>
            <a:r>
              <a:rPr lang="en-US" b="0" i="0" dirty="0">
                <a:solidFill>
                  <a:srgbClr val="3A3B41"/>
                </a:solidFill>
                <a:effectLst/>
                <a:highlight>
                  <a:srgbClr val="F0F2FA"/>
                </a:highlight>
                <a:latin typeface="Georgia" panose="02040502050405020303" pitchFamily="18" charset="0"/>
              </a:rPr>
              <a:t> focuses on financial success and how each employee contributes to revenue. </a:t>
            </a:r>
          </a:p>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Hierarchy Culture:</a:t>
            </a:r>
            <a:r>
              <a:rPr lang="en-US" b="0" i="0" dirty="0">
                <a:solidFill>
                  <a:srgbClr val="3A3B41"/>
                </a:solidFill>
                <a:effectLst/>
                <a:highlight>
                  <a:srgbClr val="F0F2FA"/>
                </a:highlight>
                <a:latin typeface="Georgia" panose="02040502050405020303" pitchFamily="18" charset="0"/>
              </a:rPr>
              <a:t> emphasizes career paths and provides clear managerial processes.  </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32</a:t>
            </a:fld>
            <a:endParaRPr lang="en-US"/>
          </a:p>
        </p:txBody>
      </p:sp>
    </p:spTree>
    <p:extLst>
      <p:ext uri="{BB962C8B-B14F-4D97-AF65-F5344CB8AC3E}">
        <p14:creationId xmlns:p14="http://schemas.microsoft.com/office/powerpoint/2010/main" val="39604383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Clan Culture:</a:t>
            </a:r>
            <a:r>
              <a:rPr lang="en-US" b="0" i="0" dirty="0">
                <a:solidFill>
                  <a:srgbClr val="3A3B41"/>
                </a:solidFill>
                <a:effectLst/>
                <a:highlight>
                  <a:srgbClr val="F0F2FA"/>
                </a:highlight>
                <a:latin typeface="Georgia" panose="02040502050405020303" pitchFamily="18" charset="0"/>
              </a:rPr>
              <a:t> emphasizes collaboration across teams and a horizontal structure. </a:t>
            </a:r>
          </a:p>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Adhocracy Culture:</a:t>
            </a:r>
            <a:r>
              <a:rPr lang="en-US" b="0" i="0" dirty="0">
                <a:solidFill>
                  <a:srgbClr val="3A3B41"/>
                </a:solidFill>
                <a:effectLst/>
                <a:highlight>
                  <a:srgbClr val="F0F2FA"/>
                </a:highlight>
                <a:latin typeface="Georgia" panose="02040502050405020303" pitchFamily="18" charset="0"/>
              </a:rPr>
              <a:t> allows individuals to share ideas and encourages the company to take risks. </a:t>
            </a:r>
          </a:p>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Market Culture:</a:t>
            </a:r>
            <a:r>
              <a:rPr lang="en-US" b="0" i="0" dirty="0">
                <a:solidFill>
                  <a:srgbClr val="3A3B41"/>
                </a:solidFill>
                <a:effectLst/>
                <a:highlight>
                  <a:srgbClr val="F0F2FA"/>
                </a:highlight>
                <a:latin typeface="Georgia" panose="02040502050405020303" pitchFamily="18" charset="0"/>
              </a:rPr>
              <a:t> focuses on financial success and how each employee contributes to revenue. </a:t>
            </a:r>
          </a:p>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Hierarchy Culture:</a:t>
            </a:r>
            <a:r>
              <a:rPr lang="en-US" b="0" i="0" dirty="0">
                <a:solidFill>
                  <a:srgbClr val="3A3B41"/>
                </a:solidFill>
                <a:effectLst/>
                <a:highlight>
                  <a:srgbClr val="F0F2FA"/>
                </a:highlight>
                <a:latin typeface="Georgia" panose="02040502050405020303" pitchFamily="18" charset="0"/>
              </a:rPr>
              <a:t> emphasizes career paths and provides clear managerial processes.  </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33</a:t>
            </a:fld>
            <a:endParaRPr lang="en-US"/>
          </a:p>
        </p:txBody>
      </p:sp>
    </p:spTree>
    <p:extLst>
      <p:ext uri="{BB962C8B-B14F-4D97-AF65-F5344CB8AC3E}">
        <p14:creationId xmlns:p14="http://schemas.microsoft.com/office/powerpoint/2010/main" val="38105242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34</a:t>
            </a:fld>
            <a:endParaRPr lang="en-US"/>
          </a:p>
        </p:txBody>
      </p:sp>
    </p:spTree>
    <p:extLst>
      <p:ext uri="{BB962C8B-B14F-4D97-AF65-F5344CB8AC3E}">
        <p14:creationId xmlns:p14="http://schemas.microsoft.com/office/powerpoint/2010/main" val="6778323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35</a:t>
            </a:fld>
            <a:endParaRPr lang="en-US"/>
          </a:p>
        </p:txBody>
      </p:sp>
    </p:spTree>
    <p:extLst>
      <p:ext uri="{BB962C8B-B14F-4D97-AF65-F5344CB8AC3E}">
        <p14:creationId xmlns:p14="http://schemas.microsoft.com/office/powerpoint/2010/main" val="24747980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10000"/>
          </a:bodyPr>
          <a:lstStyle/>
          <a:p>
            <a:pPr algn="l" fontAlgn="base"/>
            <a:r>
              <a:rPr lang="en-US" b="0" i="0" dirty="0">
                <a:solidFill>
                  <a:srgbClr val="212121"/>
                </a:solidFill>
                <a:effectLst/>
                <a:highlight>
                  <a:srgbClr val="FFFFFF"/>
                </a:highlight>
                <a:latin typeface="FS Albert Extra Bold"/>
              </a:rPr>
              <a:t>Attention</a:t>
            </a:r>
          </a:p>
          <a:p>
            <a:pPr algn="l" fontAlgn="base"/>
            <a:r>
              <a:rPr lang="en-US" b="0" i="0" u="sng" dirty="0">
                <a:solidFill>
                  <a:srgbClr val="1A55AD"/>
                </a:solidFill>
                <a:effectLst/>
                <a:highlight>
                  <a:srgbClr val="FFFFFF"/>
                </a:highlight>
                <a:latin typeface="Merriweather" panose="00000500000000000000" pitchFamily="2" charset="0"/>
                <a:hlinkClick r:id="rId3"/>
              </a:rPr>
              <a:t>Attention</a:t>
            </a:r>
            <a:r>
              <a:rPr lang="en-US" b="0" i="0" dirty="0">
                <a:solidFill>
                  <a:srgbClr val="212121"/>
                </a:solidFill>
                <a:effectLst/>
                <a:highlight>
                  <a:srgbClr val="FFFFFF"/>
                </a:highlight>
                <a:latin typeface="Merriweather" panose="00000500000000000000" pitchFamily="2" charset="0"/>
              </a:rPr>
              <a:t> is a cognitive process that allows people to focus on a specific environmental stimulus. Attention is an important cognitive ability because it allows us to focus on the information we need, while also filtering out irrelevant distractions.</a:t>
            </a:r>
          </a:p>
          <a:p>
            <a:pPr algn="l" fontAlgn="base"/>
            <a:r>
              <a:rPr lang="en-US" b="0" i="0" dirty="0">
                <a:solidFill>
                  <a:srgbClr val="212121"/>
                </a:solidFill>
                <a:effectLst/>
                <a:highlight>
                  <a:srgbClr val="FFFFFF"/>
                </a:highlight>
                <a:latin typeface="FS Albert Extra Bold"/>
              </a:rPr>
              <a:t>Language</a:t>
            </a:r>
          </a:p>
          <a:p>
            <a:pPr algn="l" fontAlgn="base"/>
            <a:r>
              <a:rPr lang="en-US" b="0" i="0" dirty="0">
                <a:solidFill>
                  <a:srgbClr val="212121"/>
                </a:solidFill>
                <a:effectLst/>
                <a:highlight>
                  <a:srgbClr val="FFFFFF"/>
                </a:highlight>
                <a:latin typeface="Merriweather" panose="00000500000000000000" pitchFamily="2" charset="0"/>
              </a:rPr>
              <a:t>Language and </a:t>
            </a:r>
            <a:r>
              <a:rPr lang="en-US" b="0" i="0" u="sng" dirty="0">
                <a:solidFill>
                  <a:srgbClr val="1A55AD"/>
                </a:solidFill>
                <a:effectLst/>
                <a:highlight>
                  <a:srgbClr val="FFFFFF"/>
                </a:highlight>
                <a:latin typeface="Merriweather" panose="00000500000000000000" pitchFamily="2" charset="0"/>
                <a:hlinkClick r:id="rId4"/>
              </a:rPr>
              <a:t>language development</a:t>
            </a:r>
            <a:r>
              <a:rPr lang="en-US" b="0" i="0" dirty="0">
                <a:solidFill>
                  <a:srgbClr val="212121"/>
                </a:solidFill>
                <a:effectLst/>
                <a:highlight>
                  <a:srgbClr val="FFFFFF"/>
                </a:highlight>
                <a:latin typeface="Merriweather" panose="00000500000000000000" pitchFamily="2" charset="0"/>
              </a:rPr>
              <a:t> are cognitive processes that involve the ability to understand and express thoughts through spoken and written words. This allows us to communicate with others, including conveying our own thoughts and learning about others. It also plays an important role in thought.</a:t>
            </a:r>
          </a:p>
          <a:p>
            <a:pPr algn="l" fontAlgn="base"/>
            <a:r>
              <a:rPr lang="en-US" b="0" i="0" dirty="0">
                <a:solidFill>
                  <a:srgbClr val="212121"/>
                </a:solidFill>
                <a:effectLst/>
                <a:highlight>
                  <a:srgbClr val="FFFFFF"/>
                </a:highlight>
                <a:latin typeface="FS Albert Extra Bold"/>
              </a:rPr>
              <a:t>Learning</a:t>
            </a:r>
          </a:p>
          <a:p>
            <a:pPr algn="l" fontAlgn="base"/>
            <a:r>
              <a:rPr lang="en-US" b="0" i="0" u="sng" dirty="0">
                <a:solidFill>
                  <a:srgbClr val="1A55AD"/>
                </a:solidFill>
                <a:effectLst/>
                <a:highlight>
                  <a:srgbClr val="FFFFFF"/>
                </a:highlight>
                <a:latin typeface="Merriweather" panose="00000500000000000000" pitchFamily="2" charset="0"/>
                <a:hlinkClick r:id="rId5"/>
              </a:rPr>
              <a:t>Learning</a:t>
            </a:r>
            <a:r>
              <a:rPr lang="en-US" b="0" i="0" dirty="0">
                <a:solidFill>
                  <a:srgbClr val="212121"/>
                </a:solidFill>
                <a:effectLst/>
                <a:highlight>
                  <a:srgbClr val="FFFFFF"/>
                </a:highlight>
                <a:latin typeface="Merriweather" panose="00000500000000000000" pitchFamily="2" charset="0"/>
              </a:rPr>
              <a:t> requires cognitive processes involved in taking in new things, synthesizing information, and integrating it with prior knowledge. Cognitive psychologists often study the mental processes that involved in processing, comprehending, and remembering information.</a:t>
            </a:r>
          </a:p>
          <a:p>
            <a:pPr algn="l" fontAlgn="base"/>
            <a:r>
              <a:rPr lang="en-US" b="0" i="0" dirty="0">
                <a:solidFill>
                  <a:srgbClr val="212121"/>
                </a:solidFill>
                <a:effectLst/>
                <a:highlight>
                  <a:srgbClr val="FFFFFF"/>
                </a:highlight>
                <a:latin typeface="FS Albert Extra Bold"/>
              </a:rPr>
              <a:t>Memory</a:t>
            </a:r>
          </a:p>
          <a:p>
            <a:pPr algn="l" fontAlgn="base"/>
            <a:r>
              <a:rPr lang="en-US" b="0" i="0" u="sng" dirty="0">
                <a:solidFill>
                  <a:srgbClr val="1A55AD"/>
                </a:solidFill>
                <a:effectLst/>
                <a:highlight>
                  <a:srgbClr val="FFFFFF"/>
                </a:highlight>
                <a:latin typeface="Merriweather" panose="00000500000000000000" pitchFamily="2" charset="0"/>
                <a:hlinkClick r:id="rId6"/>
              </a:rPr>
              <a:t>Memory</a:t>
            </a:r>
            <a:r>
              <a:rPr lang="en-US" b="0" i="0" dirty="0">
                <a:solidFill>
                  <a:srgbClr val="212121"/>
                </a:solidFill>
                <a:effectLst/>
                <a:highlight>
                  <a:srgbClr val="FFFFFF"/>
                </a:highlight>
                <a:latin typeface="Merriweather" panose="00000500000000000000" pitchFamily="2" charset="0"/>
              </a:rPr>
              <a:t> is an important cognitive process that allows people to encode, store, and retrieve information. It is a critical component in the learning process and allows people to retain knowledge about the world and their personal histories.</a:t>
            </a:r>
          </a:p>
          <a:p>
            <a:pPr algn="l" fontAlgn="base"/>
            <a:r>
              <a:rPr lang="en-US" b="0" i="0" dirty="0">
                <a:solidFill>
                  <a:srgbClr val="212121"/>
                </a:solidFill>
                <a:effectLst/>
                <a:highlight>
                  <a:srgbClr val="FFFFFF"/>
                </a:highlight>
                <a:latin typeface="FS Albert Extra Bold"/>
              </a:rPr>
              <a:t>Perception</a:t>
            </a:r>
          </a:p>
          <a:p>
            <a:pPr algn="l" fontAlgn="base"/>
            <a:r>
              <a:rPr lang="en-US" b="0" i="0" u="sng" dirty="0">
                <a:solidFill>
                  <a:srgbClr val="1A55AD"/>
                </a:solidFill>
                <a:effectLst/>
                <a:highlight>
                  <a:srgbClr val="FFFFFF"/>
                </a:highlight>
                <a:latin typeface="Merriweather" panose="00000500000000000000" pitchFamily="2" charset="0"/>
                <a:hlinkClick r:id="rId7"/>
              </a:rPr>
              <a:t>Perception</a:t>
            </a:r>
            <a:r>
              <a:rPr lang="en-US" b="0" i="0" dirty="0">
                <a:solidFill>
                  <a:srgbClr val="212121"/>
                </a:solidFill>
                <a:effectLst/>
                <a:highlight>
                  <a:srgbClr val="FFFFFF"/>
                </a:highlight>
                <a:latin typeface="Merriweather" panose="00000500000000000000" pitchFamily="2" charset="0"/>
              </a:rPr>
              <a:t> is a cognitive process that allows people to take in information through their senses, then utilize this information to respond and interact with the world.</a:t>
            </a:r>
          </a:p>
          <a:p>
            <a:pPr algn="l" fontAlgn="base"/>
            <a:r>
              <a:rPr lang="en-US" b="0" i="0" dirty="0">
                <a:solidFill>
                  <a:srgbClr val="212121"/>
                </a:solidFill>
                <a:effectLst/>
                <a:highlight>
                  <a:srgbClr val="FFFFFF"/>
                </a:highlight>
                <a:latin typeface="FS Albert Extra Bold"/>
              </a:rPr>
              <a:t>Thought</a:t>
            </a:r>
          </a:p>
          <a:p>
            <a:pPr algn="l" fontAlgn="base"/>
            <a:r>
              <a:rPr lang="en-US" b="0" i="0" dirty="0">
                <a:solidFill>
                  <a:srgbClr val="212121"/>
                </a:solidFill>
                <a:effectLst/>
                <a:highlight>
                  <a:srgbClr val="FFFFFF"/>
                </a:highlight>
                <a:latin typeface="Merriweather" panose="00000500000000000000" pitchFamily="2" charset="0"/>
              </a:rPr>
              <a:t>Thought is an essential part of every cognitive process. It allows people to engage in </a:t>
            </a:r>
            <a:r>
              <a:rPr lang="en-US" b="0" i="0" u="sng" dirty="0">
                <a:solidFill>
                  <a:srgbClr val="1A55AD"/>
                </a:solidFill>
                <a:effectLst/>
                <a:highlight>
                  <a:srgbClr val="FFFFFF"/>
                </a:highlight>
                <a:latin typeface="Merriweather" panose="00000500000000000000" pitchFamily="2" charset="0"/>
                <a:hlinkClick r:id="rId8"/>
              </a:rPr>
              <a:t>decision-making</a:t>
            </a:r>
            <a:r>
              <a:rPr lang="en-US" b="0" i="0" dirty="0">
                <a:solidFill>
                  <a:srgbClr val="212121"/>
                </a:solidFill>
                <a:effectLst/>
                <a:highlight>
                  <a:srgbClr val="FFFFFF"/>
                </a:highlight>
                <a:latin typeface="Merriweather" panose="00000500000000000000" pitchFamily="2" charset="0"/>
              </a:rPr>
              <a:t>, problem-solving, and higher reasoning.</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36</a:t>
            </a:fld>
            <a:endParaRPr lang="en-US"/>
          </a:p>
        </p:txBody>
      </p:sp>
    </p:spTree>
    <p:extLst>
      <p:ext uri="{BB962C8B-B14F-4D97-AF65-F5344CB8AC3E}">
        <p14:creationId xmlns:p14="http://schemas.microsoft.com/office/powerpoint/2010/main" val="2891160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37</a:t>
            </a:fld>
            <a:endParaRPr lang="en-US"/>
          </a:p>
        </p:txBody>
      </p:sp>
    </p:spTree>
    <p:extLst>
      <p:ext uri="{BB962C8B-B14F-4D97-AF65-F5344CB8AC3E}">
        <p14:creationId xmlns:p14="http://schemas.microsoft.com/office/powerpoint/2010/main" val="23052668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pPr algn="l"/>
            <a:br>
              <a:rPr lang="en-US" b="1" i="0" dirty="0">
                <a:solidFill>
                  <a:srgbClr val="034998"/>
                </a:solidFill>
                <a:effectLst/>
                <a:highlight>
                  <a:srgbClr val="FFFFFF"/>
                </a:highlight>
                <a:latin typeface="Arial" panose="020B0604020202020204" pitchFamily="34" charset="0"/>
              </a:rPr>
            </a:br>
            <a:r>
              <a:rPr lang="en-US" b="1" i="0" dirty="0">
                <a:solidFill>
                  <a:srgbClr val="034998"/>
                </a:solidFill>
                <a:effectLst/>
                <a:highlight>
                  <a:srgbClr val="FFFFFF"/>
                </a:highlight>
                <a:latin typeface="Arial" panose="020B0604020202020204" pitchFamily="34" charset="0"/>
              </a:rPr>
              <a:t>Stimulus Situation</a:t>
            </a:r>
          </a:p>
          <a:p>
            <a:pPr algn="l"/>
            <a:r>
              <a:rPr lang="en-US" b="0" i="0" dirty="0">
                <a:solidFill>
                  <a:srgbClr val="222222"/>
                </a:solidFill>
                <a:effectLst/>
                <a:highlight>
                  <a:srgbClr val="FFFFFF"/>
                </a:highlight>
                <a:latin typeface="Arial" panose="020B0604020202020204" pitchFamily="34" charset="0"/>
              </a:rPr>
              <a:t>Perception initiates with the presence of a stimulus situation. In organizational settings the superior forms the stimulus situation for the subordinate’s perceptual process.</a:t>
            </a:r>
          </a:p>
          <a:p>
            <a:pPr algn="l"/>
            <a:r>
              <a:rPr lang="en-US" b="1" i="0" dirty="0">
                <a:solidFill>
                  <a:srgbClr val="034998"/>
                </a:solidFill>
                <a:effectLst/>
                <a:highlight>
                  <a:srgbClr val="FFFFFF"/>
                </a:highlight>
                <a:latin typeface="Arial" panose="020B0604020202020204" pitchFamily="34" charset="0"/>
              </a:rPr>
              <a:t>Physiological Mechanism</a:t>
            </a:r>
          </a:p>
          <a:p>
            <a:pPr algn="l"/>
            <a:r>
              <a:rPr lang="en-US" b="0" i="0" dirty="0">
                <a:solidFill>
                  <a:srgbClr val="222222"/>
                </a:solidFill>
                <a:effectLst/>
                <a:highlight>
                  <a:srgbClr val="FFFFFF"/>
                </a:highlight>
                <a:latin typeface="Arial" panose="020B0604020202020204" pitchFamily="34" charset="0"/>
              </a:rPr>
              <a:t>Registration involves the physiological mechanism including both sensory and neural. Obviously, an individual’s physiological ability to hear and see influences his perception.</a:t>
            </a:r>
          </a:p>
          <a:p>
            <a:pPr algn="l"/>
            <a:r>
              <a:rPr lang="en-US" b="1" i="0" dirty="0">
                <a:solidFill>
                  <a:srgbClr val="034998"/>
                </a:solidFill>
                <a:effectLst/>
                <a:highlight>
                  <a:srgbClr val="FFFFFF"/>
                </a:highlight>
                <a:latin typeface="Arial" panose="020B0604020202020204" pitchFamily="34" charset="0"/>
              </a:rPr>
              <a:t>Interpretation is a Highly Crucial Sub-Process</a:t>
            </a:r>
          </a:p>
          <a:p>
            <a:pPr algn="l"/>
            <a:r>
              <a:rPr lang="en-US" b="0" i="0" dirty="0">
                <a:solidFill>
                  <a:srgbClr val="222222"/>
                </a:solidFill>
                <a:effectLst/>
                <a:highlight>
                  <a:srgbClr val="FFFFFF"/>
                </a:highlight>
                <a:latin typeface="Arial" panose="020B0604020202020204" pitchFamily="34" charset="0"/>
              </a:rPr>
              <a:t>Interpretation is a highly crucial sub-process. Other psychological processes assist in perceptual interpretation. For instance, in work settings, motivation, </a:t>
            </a:r>
            <a:r>
              <a:rPr lang="en-US" b="0" i="0" u="sng" dirty="0">
                <a:solidFill>
                  <a:srgbClr val="000000"/>
                </a:solidFill>
                <a:effectLst/>
                <a:highlight>
                  <a:srgbClr val="FFFFFF"/>
                </a:highlight>
                <a:latin typeface="Arial" panose="020B0604020202020204" pitchFamily="34" charset="0"/>
                <a:hlinkClick r:id="rId3"/>
              </a:rPr>
              <a:t>personality</a:t>
            </a:r>
            <a:r>
              <a:rPr lang="en-US" b="0" i="0" dirty="0">
                <a:solidFill>
                  <a:srgbClr val="222222"/>
                </a:solidFill>
                <a:effectLst/>
                <a:highlight>
                  <a:srgbClr val="FFFFFF"/>
                </a:highlight>
                <a:latin typeface="Arial" panose="020B0604020202020204" pitchFamily="34" charset="0"/>
              </a:rPr>
              <a:t>, and </a:t>
            </a:r>
            <a:r>
              <a:rPr lang="en-US" b="0" i="0" u="sng" dirty="0">
                <a:solidFill>
                  <a:srgbClr val="000000"/>
                </a:solidFill>
                <a:effectLst/>
                <a:highlight>
                  <a:srgbClr val="FFFFFF"/>
                </a:highlight>
                <a:latin typeface="Arial" panose="020B0604020202020204" pitchFamily="34" charset="0"/>
                <a:hlinkClick r:id="rId4"/>
              </a:rPr>
              <a:t>learning</a:t>
            </a:r>
            <a:r>
              <a:rPr lang="en-US" b="0" i="0" dirty="0">
                <a:solidFill>
                  <a:srgbClr val="222222"/>
                </a:solidFill>
                <a:effectLst/>
                <a:highlight>
                  <a:srgbClr val="FFFFFF"/>
                </a:highlight>
                <a:latin typeface="Arial" panose="020B0604020202020204" pitchFamily="34" charset="0"/>
              </a:rPr>
              <a:t> process determine an individual’s interpretation of a stimulus situation.</a:t>
            </a:r>
          </a:p>
          <a:p>
            <a:pPr algn="l"/>
            <a:r>
              <a:rPr lang="en-US" b="1" i="0" dirty="0">
                <a:solidFill>
                  <a:srgbClr val="034998"/>
                </a:solidFill>
                <a:effectLst/>
                <a:highlight>
                  <a:srgbClr val="FFFFFF"/>
                </a:highlight>
                <a:latin typeface="Arial" panose="020B0604020202020204" pitchFamily="34" charset="0"/>
              </a:rPr>
              <a:t>Feedback</a:t>
            </a:r>
          </a:p>
          <a:p>
            <a:pPr algn="l"/>
            <a:r>
              <a:rPr lang="en-US" b="0" i="0" dirty="0">
                <a:solidFill>
                  <a:srgbClr val="222222"/>
                </a:solidFill>
                <a:effectLst/>
                <a:highlight>
                  <a:srgbClr val="FFFFFF"/>
                </a:highlight>
                <a:latin typeface="Arial" panose="020B0604020202020204" pitchFamily="34" charset="0"/>
              </a:rPr>
              <a:t>Feedback is important for interpreting perceptual event data. In work settings, the psychological feedback that is likely to affect a subordinate’s perception may be in the form of a variation in the behavior of the superior.</a:t>
            </a:r>
          </a:p>
          <a:p>
            <a:pPr algn="l"/>
            <a:r>
              <a:rPr lang="en-US" b="1" i="0" dirty="0">
                <a:solidFill>
                  <a:srgbClr val="034998"/>
                </a:solidFill>
                <a:effectLst/>
                <a:highlight>
                  <a:srgbClr val="FFFFFF"/>
                </a:highlight>
                <a:latin typeface="Arial" panose="020B0604020202020204" pitchFamily="34" charset="0"/>
              </a:rPr>
              <a:t>Perception Ends in Reaction or </a:t>
            </a:r>
            <a:r>
              <a:rPr lang="en-US" b="1" i="0" dirty="0" err="1">
                <a:solidFill>
                  <a:srgbClr val="034998"/>
                </a:solidFill>
                <a:effectLst/>
                <a:highlight>
                  <a:srgbClr val="FFFFFF"/>
                </a:highlight>
                <a:latin typeface="Arial" panose="020B0604020202020204" pitchFamily="34" charset="0"/>
              </a:rPr>
              <a:t>Respons</a:t>
            </a:r>
            <a:endParaRPr lang="en-US" b="1" i="0" dirty="0">
              <a:solidFill>
                <a:srgbClr val="034998"/>
              </a:solidFill>
              <a:effectLst/>
              <a:highlight>
                <a:srgbClr val="FFFFFF"/>
              </a:highlight>
              <a:latin typeface="Arial" panose="020B0604020202020204" pitchFamily="34" charset="0"/>
            </a:endParaRPr>
          </a:p>
          <a:p>
            <a:pPr algn="l"/>
            <a:r>
              <a:rPr lang="en-US" b="0" i="0" dirty="0">
                <a:solidFill>
                  <a:srgbClr val="222222"/>
                </a:solidFill>
                <a:effectLst/>
                <a:highlight>
                  <a:srgbClr val="FFFFFF"/>
                </a:highlight>
                <a:latin typeface="Arial" panose="020B0604020202020204" pitchFamily="34" charset="0"/>
              </a:rPr>
              <a:t>Perception ends in reaction or response, which may be in the overt or covert form. As a consequence of perception, an individual responds to work demands. These sub-processes indicate the complexity of perception</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38</a:t>
            </a:fld>
            <a:endParaRPr lang="en-US"/>
          </a:p>
        </p:txBody>
      </p:sp>
    </p:spTree>
    <p:extLst>
      <p:ext uri="{BB962C8B-B14F-4D97-AF65-F5344CB8AC3E}">
        <p14:creationId xmlns:p14="http://schemas.microsoft.com/office/powerpoint/2010/main" val="21512475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pPr algn="l"/>
            <a:br>
              <a:rPr lang="en-US" b="1" i="0" dirty="0">
                <a:solidFill>
                  <a:srgbClr val="034998"/>
                </a:solidFill>
                <a:effectLst/>
                <a:highlight>
                  <a:srgbClr val="FFFFFF"/>
                </a:highlight>
                <a:latin typeface="Arial" panose="020B0604020202020204" pitchFamily="34" charset="0"/>
              </a:rPr>
            </a:br>
            <a:r>
              <a:rPr lang="en-US" b="1" i="0" dirty="0">
                <a:solidFill>
                  <a:srgbClr val="034998"/>
                </a:solidFill>
                <a:effectLst/>
                <a:highlight>
                  <a:srgbClr val="FFFFFF"/>
                </a:highlight>
                <a:latin typeface="Arial" panose="020B0604020202020204" pitchFamily="34" charset="0"/>
              </a:rPr>
              <a:t>Stimulus Situation</a:t>
            </a:r>
          </a:p>
          <a:p>
            <a:pPr algn="l"/>
            <a:r>
              <a:rPr lang="en-US" b="0" i="0" dirty="0">
                <a:solidFill>
                  <a:srgbClr val="222222"/>
                </a:solidFill>
                <a:effectLst/>
                <a:highlight>
                  <a:srgbClr val="FFFFFF"/>
                </a:highlight>
                <a:latin typeface="Arial" panose="020B0604020202020204" pitchFamily="34" charset="0"/>
              </a:rPr>
              <a:t>Perception initiates with the presence of a stimulus situation. In organizational settings the superior forms the stimulus situation for the subordinate’s perceptual process.</a:t>
            </a:r>
          </a:p>
          <a:p>
            <a:pPr algn="l"/>
            <a:r>
              <a:rPr lang="en-US" b="1" i="0" dirty="0">
                <a:solidFill>
                  <a:srgbClr val="034998"/>
                </a:solidFill>
                <a:effectLst/>
                <a:highlight>
                  <a:srgbClr val="FFFFFF"/>
                </a:highlight>
                <a:latin typeface="Arial" panose="020B0604020202020204" pitchFamily="34" charset="0"/>
              </a:rPr>
              <a:t>Physiological Mechanism</a:t>
            </a:r>
          </a:p>
          <a:p>
            <a:pPr algn="l"/>
            <a:r>
              <a:rPr lang="en-US" b="0" i="0" dirty="0">
                <a:solidFill>
                  <a:srgbClr val="222222"/>
                </a:solidFill>
                <a:effectLst/>
                <a:highlight>
                  <a:srgbClr val="FFFFFF"/>
                </a:highlight>
                <a:latin typeface="Arial" panose="020B0604020202020204" pitchFamily="34" charset="0"/>
              </a:rPr>
              <a:t>Registration involves the physiological mechanism including both sensory and neural. Obviously, an individual’s physiological ability to hear and see influences his perception.</a:t>
            </a:r>
          </a:p>
          <a:p>
            <a:pPr algn="l"/>
            <a:r>
              <a:rPr lang="en-US" b="1" i="0" dirty="0">
                <a:solidFill>
                  <a:srgbClr val="034998"/>
                </a:solidFill>
                <a:effectLst/>
                <a:highlight>
                  <a:srgbClr val="FFFFFF"/>
                </a:highlight>
                <a:latin typeface="Arial" panose="020B0604020202020204" pitchFamily="34" charset="0"/>
              </a:rPr>
              <a:t>Interpretation is a Highly Crucial Sub-Process</a:t>
            </a:r>
          </a:p>
          <a:p>
            <a:pPr algn="l"/>
            <a:r>
              <a:rPr lang="en-US" b="0" i="0" dirty="0">
                <a:solidFill>
                  <a:srgbClr val="222222"/>
                </a:solidFill>
                <a:effectLst/>
                <a:highlight>
                  <a:srgbClr val="FFFFFF"/>
                </a:highlight>
                <a:latin typeface="Arial" panose="020B0604020202020204" pitchFamily="34" charset="0"/>
              </a:rPr>
              <a:t>Interpretation is a highly crucial sub-process. Other psychological processes assist in perceptual interpretation. For instance, in work settings, motivation, </a:t>
            </a:r>
            <a:r>
              <a:rPr lang="en-US" b="0" i="0" u="sng" dirty="0">
                <a:solidFill>
                  <a:srgbClr val="000000"/>
                </a:solidFill>
                <a:effectLst/>
                <a:highlight>
                  <a:srgbClr val="FFFFFF"/>
                </a:highlight>
                <a:latin typeface="Arial" panose="020B0604020202020204" pitchFamily="34" charset="0"/>
                <a:hlinkClick r:id="rId3"/>
              </a:rPr>
              <a:t>personality</a:t>
            </a:r>
            <a:r>
              <a:rPr lang="en-US" b="0" i="0" dirty="0">
                <a:solidFill>
                  <a:srgbClr val="222222"/>
                </a:solidFill>
                <a:effectLst/>
                <a:highlight>
                  <a:srgbClr val="FFFFFF"/>
                </a:highlight>
                <a:latin typeface="Arial" panose="020B0604020202020204" pitchFamily="34" charset="0"/>
              </a:rPr>
              <a:t>, and </a:t>
            </a:r>
            <a:r>
              <a:rPr lang="en-US" b="0" i="0" u="sng" dirty="0">
                <a:solidFill>
                  <a:srgbClr val="000000"/>
                </a:solidFill>
                <a:effectLst/>
                <a:highlight>
                  <a:srgbClr val="FFFFFF"/>
                </a:highlight>
                <a:latin typeface="Arial" panose="020B0604020202020204" pitchFamily="34" charset="0"/>
                <a:hlinkClick r:id="rId4"/>
              </a:rPr>
              <a:t>learning</a:t>
            </a:r>
            <a:r>
              <a:rPr lang="en-US" b="0" i="0" dirty="0">
                <a:solidFill>
                  <a:srgbClr val="222222"/>
                </a:solidFill>
                <a:effectLst/>
                <a:highlight>
                  <a:srgbClr val="FFFFFF"/>
                </a:highlight>
                <a:latin typeface="Arial" panose="020B0604020202020204" pitchFamily="34" charset="0"/>
              </a:rPr>
              <a:t> process determine an individual’s interpretation of a stimulus situation.</a:t>
            </a:r>
          </a:p>
          <a:p>
            <a:pPr algn="l"/>
            <a:r>
              <a:rPr lang="en-US" b="1" i="0" dirty="0">
                <a:solidFill>
                  <a:srgbClr val="034998"/>
                </a:solidFill>
                <a:effectLst/>
                <a:highlight>
                  <a:srgbClr val="FFFFFF"/>
                </a:highlight>
                <a:latin typeface="Arial" panose="020B0604020202020204" pitchFamily="34" charset="0"/>
              </a:rPr>
              <a:t>Feedback</a:t>
            </a:r>
          </a:p>
          <a:p>
            <a:pPr algn="l"/>
            <a:r>
              <a:rPr lang="en-US" b="0" i="0" dirty="0">
                <a:solidFill>
                  <a:srgbClr val="222222"/>
                </a:solidFill>
                <a:effectLst/>
                <a:highlight>
                  <a:srgbClr val="FFFFFF"/>
                </a:highlight>
                <a:latin typeface="Arial" panose="020B0604020202020204" pitchFamily="34" charset="0"/>
              </a:rPr>
              <a:t>Feedback is important for interpreting perceptual event data. In work settings, the psychological feedback that is likely to affect a subordinate’s perception may be in the form of a variation in the behavior of the superior.</a:t>
            </a:r>
          </a:p>
          <a:p>
            <a:pPr algn="l"/>
            <a:r>
              <a:rPr lang="en-US" b="1" i="0" dirty="0">
                <a:solidFill>
                  <a:srgbClr val="034998"/>
                </a:solidFill>
                <a:effectLst/>
                <a:highlight>
                  <a:srgbClr val="FFFFFF"/>
                </a:highlight>
                <a:latin typeface="Arial" panose="020B0604020202020204" pitchFamily="34" charset="0"/>
              </a:rPr>
              <a:t>Perception Ends in Reaction or </a:t>
            </a:r>
            <a:r>
              <a:rPr lang="en-US" b="1" i="0" dirty="0" err="1">
                <a:solidFill>
                  <a:srgbClr val="034998"/>
                </a:solidFill>
                <a:effectLst/>
                <a:highlight>
                  <a:srgbClr val="FFFFFF"/>
                </a:highlight>
                <a:latin typeface="Arial" panose="020B0604020202020204" pitchFamily="34" charset="0"/>
              </a:rPr>
              <a:t>Respons</a:t>
            </a:r>
            <a:endParaRPr lang="en-US" b="1" i="0" dirty="0">
              <a:solidFill>
                <a:srgbClr val="034998"/>
              </a:solidFill>
              <a:effectLst/>
              <a:highlight>
                <a:srgbClr val="FFFFFF"/>
              </a:highlight>
              <a:latin typeface="Arial" panose="020B0604020202020204" pitchFamily="34" charset="0"/>
            </a:endParaRPr>
          </a:p>
          <a:p>
            <a:pPr algn="l"/>
            <a:r>
              <a:rPr lang="en-US" b="0" i="0" dirty="0">
                <a:solidFill>
                  <a:srgbClr val="222222"/>
                </a:solidFill>
                <a:effectLst/>
                <a:highlight>
                  <a:srgbClr val="FFFFFF"/>
                </a:highlight>
                <a:latin typeface="Arial" panose="020B0604020202020204" pitchFamily="34" charset="0"/>
              </a:rPr>
              <a:t>Perception ends in reaction or response, which may be in the overt or covert form. As a consequence of perception, an individual responds to work demands. These sub-processes indicate the complexity of perception</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39</a:t>
            </a:fld>
            <a:endParaRPr lang="en-US"/>
          </a:p>
        </p:txBody>
      </p:sp>
    </p:spTree>
    <p:extLst>
      <p:ext uri="{BB962C8B-B14F-4D97-AF65-F5344CB8AC3E}">
        <p14:creationId xmlns:p14="http://schemas.microsoft.com/office/powerpoint/2010/main" val="35105020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r>
              <a:rPr lang="en-US" b="1" i="0" dirty="0">
                <a:solidFill>
                  <a:srgbClr val="034998"/>
                </a:solidFill>
                <a:effectLst/>
                <a:highlight>
                  <a:srgbClr val="FFFFFF"/>
                </a:highlight>
                <a:latin typeface="Arial" panose="020B0604020202020204" pitchFamily="34" charset="0"/>
              </a:rPr>
              <a:t>Perceiver</a:t>
            </a:r>
          </a:p>
          <a:p>
            <a:pPr algn="l"/>
            <a:r>
              <a:rPr lang="en-US" b="0" i="0" dirty="0">
                <a:solidFill>
                  <a:srgbClr val="222222"/>
                </a:solidFill>
                <a:effectLst/>
                <a:highlight>
                  <a:srgbClr val="FFFFFF"/>
                </a:highlight>
                <a:latin typeface="Arial" panose="020B0604020202020204" pitchFamily="34" charset="0"/>
              </a:rPr>
              <a:t>When an individual looks at a target and attempts to interpret what he or she sees, the interpretation is heavily influenced by the personal characteristics of the individual perceiver. Among the more relevant personal characteristics affecting perception are attitudes, motives, interests, past experiences, and expectations.</a:t>
            </a:r>
          </a:p>
          <a:p>
            <a:pPr algn="l"/>
            <a:r>
              <a:rPr lang="en-US" b="1" i="0" dirty="0">
                <a:solidFill>
                  <a:srgbClr val="034998"/>
                </a:solidFill>
                <a:effectLst/>
                <a:highlight>
                  <a:srgbClr val="FFFFFF"/>
                </a:highlight>
                <a:latin typeface="Arial" panose="020B0604020202020204" pitchFamily="34" charset="0"/>
              </a:rPr>
              <a:t>Target</a:t>
            </a:r>
          </a:p>
          <a:p>
            <a:pPr algn="l"/>
            <a:r>
              <a:rPr lang="en-US" b="0" i="0" dirty="0">
                <a:solidFill>
                  <a:srgbClr val="222222"/>
                </a:solidFill>
                <a:effectLst/>
                <a:highlight>
                  <a:srgbClr val="FFFFFF"/>
                </a:highlight>
                <a:latin typeface="Arial" panose="020B0604020202020204" pitchFamily="34" charset="0"/>
              </a:rPr>
              <a:t>The characteristics of the target being observed can affect the perception. Loud people are more likely to be noticed than the quiet ones. There are extremely attractive and unattractive individuals. Motion, Sounds, Size, and other attributes of a target shape the way we see it.</a:t>
            </a:r>
          </a:p>
          <a:p>
            <a:pPr algn="l"/>
            <a:r>
              <a:rPr lang="en-US" b="1" i="0" dirty="0">
                <a:solidFill>
                  <a:srgbClr val="034998"/>
                </a:solidFill>
                <a:effectLst/>
                <a:highlight>
                  <a:srgbClr val="FFFFFF"/>
                </a:highlight>
                <a:latin typeface="Arial" panose="020B0604020202020204" pitchFamily="34" charset="0"/>
              </a:rPr>
              <a:t>Situation</a:t>
            </a:r>
          </a:p>
          <a:p>
            <a:pPr algn="l"/>
            <a:r>
              <a:rPr lang="en-US" b="0" i="0" dirty="0">
                <a:solidFill>
                  <a:srgbClr val="222222"/>
                </a:solidFill>
                <a:effectLst/>
                <a:highlight>
                  <a:srgbClr val="FFFFFF"/>
                </a:highlight>
                <a:latin typeface="Arial" panose="020B0604020202020204" pitchFamily="34" charset="0"/>
              </a:rPr>
              <a:t>The context in which we see the objects or events is important. Elements in the surrounding environment influence our perception. One may not notice a 25-year-old female in an evening gown and heavy makeup; yet the same woman, attired for </a:t>
            </a:r>
            <a:r>
              <a:rPr lang="en-US" b="0" i="0" u="sng" dirty="0">
                <a:solidFill>
                  <a:srgbClr val="000000"/>
                </a:solidFill>
                <a:effectLst/>
                <a:highlight>
                  <a:srgbClr val="FFFFFF"/>
                </a:highlight>
                <a:latin typeface="Arial" panose="020B0604020202020204" pitchFamily="34" charset="0"/>
                <a:hlinkClick r:id="rId3"/>
              </a:rPr>
              <a:t>management</a:t>
            </a:r>
            <a:r>
              <a:rPr lang="en-US" b="0" i="0" dirty="0">
                <a:solidFill>
                  <a:srgbClr val="222222"/>
                </a:solidFill>
                <a:effectLst/>
                <a:highlight>
                  <a:srgbClr val="FFFFFF"/>
                </a:highlight>
                <a:latin typeface="Arial" panose="020B0604020202020204" pitchFamily="34" charset="0"/>
              </a:rPr>
              <a:t> class would certainly catch attention.</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40</a:t>
            </a:fld>
            <a:endParaRPr lang="en-US"/>
          </a:p>
        </p:txBody>
      </p:sp>
    </p:spTree>
    <p:extLst>
      <p:ext uri="{BB962C8B-B14F-4D97-AF65-F5344CB8AC3E}">
        <p14:creationId xmlns:p14="http://schemas.microsoft.com/office/powerpoint/2010/main" val="40181637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r>
              <a:rPr lang="en-US" b="1" i="0">
                <a:solidFill>
                  <a:srgbClr val="034998"/>
                </a:solidFill>
                <a:effectLst/>
                <a:highlight>
                  <a:srgbClr val="FFFFFF"/>
                </a:highlight>
                <a:latin typeface="Arial" panose="020B0604020202020204" pitchFamily="34" charset="0"/>
              </a:rPr>
              <a:t>Perceiver</a:t>
            </a:r>
          </a:p>
          <a:p>
            <a:pPr algn="l"/>
            <a:r>
              <a:rPr lang="en-US" b="0" i="0">
                <a:solidFill>
                  <a:srgbClr val="222222"/>
                </a:solidFill>
                <a:effectLst/>
                <a:highlight>
                  <a:srgbClr val="FFFFFF"/>
                </a:highlight>
                <a:latin typeface="Arial" panose="020B0604020202020204" pitchFamily="34" charset="0"/>
              </a:rPr>
              <a:t>When an individual looks at a target and attempts to interpret what he or she sees, the interpretation is heavily influenced by the personal characteristics of the individual perceiver. Among the more relevant personal characteristics affecting perception are attitudes, motives, interests, past experiences, and expectations.</a:t>
            </a:r>
          </a:p>
          <a:p>
            <a:pPr algn="l"/>
            <a:r>
              <a:rPr lang="en-US" b="1" i="0">
                <a:solidFill>
                  <a:srgbClr val="034998"/>
                </a:solidFill>
                <a:effectLst/>
                <a:highlight>
                  <a:srgbClr val="FFFFFF"/>
                </a:highlight>
                <a:latin typeface="Arial" panose="020B0604020202020204" pitchFamily="34" charset="0"/>
              </a:rPr>
              <a:t>Target</a:t>
            </a:r>
          </a:p>
          <a:p>
            <a:pPr algn="l"/>
            <a:r>
              <a:rPr lang="en-US" b="0" i="0">
                <a:solidFill>
                  <a:srgbClr val="222222"/>
                </a:solidFill>
                <a:effectLst/>
                <a:highlight>
                  <a:srgbClr val="FFFFFF"/>
                </a:highlight>
                <a:latin typeface="Arial" panose="020B0604020202020204" pitchFamily="34" charset="0"/>
              </a:rPr>
              <a:t>The characteristics of the target being observed can affect the perception. Loud people are more likely to be noticed than the quiet ones. There are extremely attractive and unattractive individuals. Motion, Sounds, Size, and other attributes of a target shape the way we see it.</a:t>
            </a:r>
          </a:p>
          <a:p>
            <a:pPr algn="l"/>
            <a:r>
              <a:rPr lang="en-US" b="1" i="0">
                <a:solidFill>
                  <a:srgbClr val="034998"/>
                </a:solidFill>
                <a:effectLst/>
                <a:highlight>
                  <a:srgbClr val="FFFFFF"/>
                </a:highlight>
                <a:latin typeface="Arial" panose="020B0604020202020204" pitchFamily="34" charset="0"/>
              </a:rPr>
              <a:t>Situation</a:t>
            </a:r>
          </a:p>
          <a:p>
            <a:pPr algn="l"/>
            <a:r>
              <a:rPr lang="en-US" b="0" i="0">
                <a:solidFill>
                  <a:srgbClr val="222222"/>
                </a:solidFill>
                <a:effectLst/>
                <a:highlight>
                  <a:srgbClr val="FFFFFF"/>
                </a:highlight>
                <a:latin typeface="Arial" panose="020B0604020202020204" pitchFamily="34" charset="0"/>
              </a:rPr>
              <a:t>The context in which we see the objects or events is important. Elements in the surrounding environment influence our perception. One may not notice a 25-year-old female in an evening gown and heavy makeup; yet the same woman, attired for </a:t>
            </a:r>
            <a:r>
              <a:rPr lang="en-US" b="0" i="0" u="sng">
                <a:solidFill>
                  <a:srgbClr val="000000"/>
                </a:solidFill>
                <a:effectLst/>
                <a:highlight>
                  <a:srgbClr val="FFFFFF"/>
                </a:highlight>
                <a:latin typeface="Arial" panose="020B0604020202020204" pitchFamily="34" charset="0"/>
                <a:hlinkClick r:id="rId3"/>
              </a:rPr>
              <a:t>management</a:t>
            </a:r>
            <a:r>
              <a:rPr lang="en-US" b="0" i="0">
                <a:solidFill>
                  <a:srgbClr val="222222"/>
                </a:solidFill>
                <a:effectLst/>
                <a:highlight>
                  <a:srgbClr val="FFFFFF"/>
                </a:highlight>
                <a:latin typeface="Arial" panose="020B0604020202020204" pitchFamily="34" charset="0"/>
              </a:rPr>
              <a:t> class would certainly catch attention.</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41</a:t>
            </a:fld>
            <a:endParaRPr lang="en-US"/>
          </a:p>
        </p:txBody>
      </p:sp>
    </p:spTree>
    <p:extLst>
      <p:ext uri="{BB962C8B-B14F-4D97-AF65-F5344CB8AC3E}">
        <p14:creationId xmlns:p14="http://schemas.microsoft.com/office/powerpoint/2010/main" val="27759522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42</a:t>
            </a:fld>
            <a:endParaRPr lang="en-US"/>
          </a:p>
        </p:txBody>
      </p:sp>
    </p:spTree>
    <p:extLst>
      <p:ext uri="{BB962C8B-B14F-4D97-AF65-F5344CB8AC3E}">
        <p14:creationId xmlns:p14="http://schemas.microsoft.com/office/powerpoint/2010/main" val="35457381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43</a:t>
            </a:fld>
            <a:endParaRPr lang="en-US"/>
          </a:p>
        </p:txBody>
      </p:sp>
    </p:spTree>
    <p:extLst>
      <p:ext uri="{BB962C8B-B14F-4D97-AF65-F5344CB8AC3E}">
        <p14:creationId xmlns:p14="http://schemas.microsoft.com/office/powerpoint/2010/main" val="21044399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44</a:t>
            </a:fld>
            <a:endParaRPr lang="en-US"/>
          </a:p>
        </p:txBody>
      </p:sp>
    </p:spTree>
    <p:extLst>
      <p:ext uri="{BB962C8B-B14F-4D97-AF65-F5344CB8AC3E}">
        <p14:creationId xmlns:p14="http://schemas.microsoft.com/office/powerpoint/2010/main" val="8310628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45</a:t>
            </a:fld>
            <a:endParaRPr lang="en-US"/>
          </a:p>
        </p:txBody>
      </p:sp>
    </p:spTree>
    <p:extLst>
      <p:ext uri="{BB962C8B-B14F-4D97-AF65-F5344CB8AC3E}">
        <p14:creationId xmlns:p14="http://schemas.microsoft.com/office/powerpoint/2010/main" val="37226462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46</a:t>
            </a:fld>
            <a:endParaRPr lang="en-US"/>
          </a:p>
        </p:txBody>
      </p:sp>
    </p:spTree>
    <p:extLst>
      <p:ext uri="{BB962C8B-B14F-4D97-AF65-F5344CB8AC3E}">
        <p14:creationId xmlns:p14="http://schemas.microsoft.com/office/powerpoint/2010/main" val="15689971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47</a:t>
            </a:fld>
            <a:endParaRPr lang="en-US"/>
          </a:p>
        </p:txBody>
      </p:sp>
    </p:spTree>
    <p:extLst>
      <p:ext uri="{BB962C8B-B14F-4D97-AF65-F5344CB8AC3E}">
        <p14:creationId xmlns:p14="http://schemas.microsoft.com/office/powerpoint/2010/main" val="9745500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We can project both negative and positive characteristics, however there is a greater tendency to project the former rather than the latter.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Ex- If a consumer has had bad experience with a locally- made product (and good experience with an imported one) he or she may conclude that the bad product is bad because it is locally made.</a:t>
            </a:r>
          </a:p>
          <a:p>
            <a:endParaRPr lang="en-IN" dirty="0"/>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48</a:t>
            </a:fld>
            <a:endParaRPr lang="en-US"/>
          </a:p>
        </p:txBody>
      </p:sp>
    </p:spTree>
    <p:extLst>
      <p:ext uri="{BB962C8B-B14F-4D97-AF65-F5344CB8AC3E}">
        <p14:creationId xmlns:p14="http://schemas.microsoft.com/office/powerpoint/2010/main" val="41616593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49</a:t>
            </a:fld>
            <a:endParaRPr lang="en-US"/>
          </a:p>
        </p:txBody>
      </p:sp>
    </p:spTree>
    <p:extLst>
      <p:ext uri="{BB962C8B-B14F-4D97-AF65-F5344CB8AC3E}">
        <p14:creationId xmlns:p14="http://schemas.microsoft.com/office/powerpoint/2010/main" val="13577648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50</a:t>
            </a:fld>
            <a:endParaRPr lang="en-US"/>
          </a:p>
        </p:txBody>
      </p:sp>
    </p:spTree>
    <p:extLst>
      <p:ext uri="{BB962C8B-B14F-4D97-AF65-F5344CB8AC3E}">
        <p14:creationId xmlns:p14="http://schemas.microsoft.com/office/powerpoint/2010/main" val="30566534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51</a:t>
            </a:fld>
            <a:endParaRPr lang="en-US"/>
          </a:p>
        </p:txBody>
      </p:sp>
    </p:spTree>
    <p:extLst>
      <p:ext uri="{BB962C8B-B14F-4D97-AF65-F5344CB8AC3E}">
        <p14:creationId xmlns:p14="http://schemas.microsoft.com/office/powerpoint/2010/main" val="13889667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52</a:t>
            </a:fld>
            <a:endParaRPr lang="en-US"/>
          </a:p>
        </p:txBody>
      </p:sp>
    </p:spTree>
    <p:extLst>
      <p:ext uri="{BB962C8B-B14F-4D97-AF65-F5344CB8AC3E}">
        <p14:creationId xmlns:p14="http://schemas.microsoft.com/office/powerpoint/2010/main" val="74441541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53</a:t>
            </a:fld>
            <a:endParaRPr lang="en-US"/>
          </a:p>
        </p:txBody>
      </p:sp>
    </p:spTree>
    <p:extLst>
      <p:ext uri="{BB962C8B-B14F-4D97-AF65-F5344CB8AC3E}">
        <p14:creationId xmlns:p14="http://schemas.microsoft.com/office/powerpoint/2010/main" val="113042090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54</a:t>
            </a:fld>
            <a:endParaRPr lang="en-US"/>
          </a:p>
        </p:txBody>
      </p:sp>
    </p:spTree>
    <p:extLst>
      <p:ext uri="{BB962C8B-B14F-4D97-AF65-F5344CB8AC3E}">
        <p14:creationId xmlns:p14="http://schemas.microsoft.com/office/powerpoint/2010/main" val="400863396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55</a:t>
            </a:fld>
            <a:endParaRPr lang="en-US"/>
          </a:p>
        </p:txBody>
      </p:sp>
    </p:spTree>
    <p:extLst>
      <p:ext uri="{BB962C8B-B14F-4D97-AF65-F5344CB8AC3E}">
        <p14:creationId xmlns:p14="http://schemas.microsoft.com/office/powerpoint/2010/main" val="41506035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56</a:t>
            </a:fld>
            <a:endParaRPr lang="en-US"/>
          </a:p>
        </p:txBody>
      </p:sp>
    </p:spTree>
    <p:extLst>
      <p:ext uri="{BB962C8B-B14F-4D97-AF65-F5344CB8AC3E}">
        <p14:creationId xmlns:p14="http://schemas.microsoft.com/office/powerpoint/2010/main" val="7395407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57</a:t>
            </a:fld>
            <a:endParaRPr lang="en-US"/>
          </a:p>
        </p:txBody>
      </p:sp>
    </p:spTree>
    <p:extLst>
      <p:ext uri="{BB962C8B-B14F-4D97-AF65-F5344CB8AC3E}">
        <p14:creationId xmlns:p14="http://schemas.microsoft.com/office/powerpoint/2010/main" val="154380610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58</a:t>
            </a:fld>
            <a:endParaRPr lang="en-US"/>
          </a:p>
        </p:txBody>
      </p:sp>
    </p:spTree>
    <p:extLst>
      <p:ext uri="{BB962C8B-B14F-4D97-AF65-F5344CB8AC3E}">
        <p14:creationId xmlns:p14="http://schemas.microsoft.com/office/powerpoint/2010/main" val="364473649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59</a:t>
            </a:fld>
            <a:endParaRPr lang="en-US"/>
          </a:p>
        </p:txBody>
      </p:sp>
    </p:spTree>
    <p:extLst>
      <p:ext uri="{BB962C8B-B14F-4D97-AF65-F5344CB8AC3E}">
        <p14:creationId xmlns:p14="http://schemas.microsoft.com/office/powerpoint/2010/main" val="10293093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60</a:t>
            </a:fld>
            <a:endParaRPr lang="en-US"/>
          </a:p>
        </p:txBody>
      </p:sp>
    </p:spTree>
    <p:extLst>
      <p:ext uri="{BB962C8B-B14F-4D97-AF65-F5344CB8AC3E}">
        <p14:creationId xmlns:p14="http://schemas.microsoft.com/office/powerpoint/2010/main" val="160245738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61</a:t>
            </a:fld>
            <a:endParaRPr lang="en-US"/>
          </a:p>
        </p:txBody>
      </p:sp>
    </p:spTree>
    <p:extLst>
      <p:ext uri="{BB962C8B-B14F-4D97-AF65-F5344CB8AC3E}">
        <p14:creationId xmlns:p14="http://schemas.microsoft.com/office/powerpoint/2010/main" val="196735558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62</a:t>
            </a:fld>
            <a:endParaRPr lang="en-US"/>
          </a:p>
        </p:txBody>
      </p:sp>
    </p:spTree>
    <p:extLst>
      <p:ext uri="{BB962C8B-B14F-4D97-AF65-F5344CB8AC3E}">
        <p14:creationId xmlns:p14="http://schemas.microsoft.com/office/powerpoint/2010/main" val="425291857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63</a:t>
            </a:fld>
            <a:endParaRPr lang="en-US"/>
          </a:p>
        </p:txBody>
      </p:sp>
    </p:spTree>
    <p:extLst>
      <p:ext uri="{BB962C8B-B14F-4D97-AF65-F5344CB8AC3E}">
        <p14:creationId xmlns:p14="http://schemas.microsoft.com/office/powerpoint/2010/main" val="279481583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64</a:t>
            </a:fld>
            <a:endParaRPr lang="en-US"/>
          </a:p>
        </p:txBody>
      </p:sp>
    </p:spTree>
    <p:extLst>
      <p:ext uri="{BB962C8B-B14F-4D97-AF65-F5344CB8AC3E}">
        <p14:creationId xmlns:p14="http://schemas.microsoft.com/office/powerpoint/2010/main" val="176674729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65</a:t>
            </a:fld>
            <a:endParaRPr lang="en-US"/>
          </a:p>
        </p:txBody>
      </p:sp>
    </p:spTree>
    <p:extLst>
      <p:ext uri="{BB962C8B-B14F-4D97-AF65-F5344CB8AC3E}">
        <p14:creationId xmlns:p14="http://schemas.microsoft.com/office/powerpoint/2010/main" val="154339232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66</a:t>
            </a:fld>
            <a:endParaRPr lang="en-US"/>
          </a:p>
        </p:txBody>
      </p:sp>
    </p:spTree>
    <p:extLst>
      <p:ext uri="{BB962C8B-B14F-4D97-AF65-F5344CB8AC3E}">
        <p14:creationId xmlns:p14="http://schemas.microsoft.com/office/powerpoint/2010/main" val="98122043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67</a:t>
            </a:fld>
            <a:endParaRPr lang="en-US"/>
          </a:p>
        </p:txBody>
      </p:sp>
    </p:spTree>
    <p:extLst>
      <p:ext uri="{BB962C8B-B14F-4D97-AF65-F5344CB8AC3E}">
        <p14:creationId xmlns:p14="http://schemas.microsoft.com/office/powerpoint/2010/main" val="25799072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68</a:t>
            </a:fld>
            <a:endParaRPr lang="en-US"/>
          </a:p>
        </p:txBody>
      </p:sp>
    </p:spTree>
    <p:extLst>
      <p:ext uri="{BB962C8B-B14F-4D97-AF65-F5344CB8AC3E}">
        <p14:creationId xmlns:p14="http://schemas.microsoft.com/office/powerpoint/2010/main" val="227171312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69</a:t>
            </a:fld>
            <a:endParaRPr lang="en-US"/>
          </a:p>
        </p:txBody>
      </p:sp>
    </p:spTree>
    <p:extLst>
      <p:ext uri="{BB962C8B-B14F-4D97-AF65-F5344CB8AC3E}">
        <p14:creationId xmlns:p14="http://schemas.microsoft.com/office/powerpoint/2010/main" val="416297334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70</a:t>
            </a:fld>
            <a:endParaRPr lang="en-US"/>
          </a:p>
        </p:txBody>
      </p:sp>
    </p:spTree>
    <p:extLst>
      <p:ext uri="{BB962C8B-B14F-4D97-AF65-F5344CB8AC3E}">
        <p14:creationId xmlns:p14="http://schemas.microsoft.com/office/powerpoint/2010/main" val="70271675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71</a:t>
            </a:fld>
            <a:endParaRPr lang="en-US"/>
          </a:p>
        </p:txBody>
      </p:sp>
    </p:spTree>
    <p:extLst>
      <p:ext uri="{BB962C8B-B14F-4D97-AF65-F5344CB8AC3E}">
        <p14:creationId xmlns:p14="http://schemas.microsoft.com/office/powerpoint/2010/main" val="34035076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72</a:t>
            </a:fld>
            <a:endParaRPr lang="en-US"/>
          </a:p>
        </p:txBody>
      </p:sp>
    </p:spTree>
    <p:extLst>
      <p:ext uri="{BB962C8B-B14F-4D97-AF65-F5344CB8AC3E}">
        <p14:creationId xmlns:p14="http://schemas.microsoft.com/office/powerpoint/2010/main" val="334202375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73</a:t>
            </a:fld>
            <a:endParaRPr lang="en-US"/>
          </a:p>
        </p:txBody>
      </p:sp>
    </p:spTree>
    <p:extLst>
      <p:ext uri="{BB962C8B-B14F-4D97-AF65-F5344CB8AC3E}">
        <p14:creationId xmlns:p14="http://schemas.microsoft.com/office/powerpoint/2010/main" val="3238212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696A0-834C-CC1F-442F-F88D414233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CC9EE30-BCD6-FD00-2F73-824A2F405F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E5BE659-7072-1A60-5E52-D9CA0E4FDC7C}"/>
              </a:ext>
            </a:extLst>
          </p:cNvPr>
          <p:cNvSpPr>
            <a:spLocks noGrp="1"/>
          </p:cNvSpPr>
          <p:nvPr>
            <p:ph type="dt" sz="half" idx="10"/>
          </p:nvPr>
        </p:nvSpPr>
        <p:spPr/>
        <p:txBody>
          <a:bodyPr/>
          <a:lstStyle/>
          <a:p>
            <a:fld id="{8A732C9D-8AC8-451C-8C9C-8128E2EA837B}" type="datetimeFigureOut">
              <a:rPr lang="en-IN" smtClean="0"/>
              <a:t>12-08-2024</a:t>
            </a:fld>
            <a:endParaRPr lang="en-IN"/>
          </a:p>
        </p:txBody>
      </p:sp>
      <p:sp>
        <p:nvSpPr>
          <p:cNvPr id="5" name="Footer Placeholder 4">
            <a:extLst>
              <a:ext uri="{FF2B5EF4-FFF2-40B4-BE49-F238E27FC236}">
                <a16:creationId xmlns:a16="http://schemas.microsoft.com/office/drawing/2014/main" id="{FDCF5D28-B5C5-39B5-0B5A-96F3C442ED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C69410-8EB9-ACB0-69B5-0920C04D0069}"/>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2418235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F1AEB-46C1-354F-F715-9C0D78BDBBB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007A731-8F79-57DA-D675-68A10717C2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2C4AAF-EC41-6C1F-F544-945793980A02}"/>
              </a:ext>
            </a:extLst>
          </p:cNvPr>
          <p:cNvSpPr>
            <a:spLocks noGrp="1"/>
          </p:cNvSpPr>
          <p:nvPr>
            <p:ph type="dt" sz="half" idx="10"/>
          </p:nvPr>
        </p:nvSpPr>
        <p:spPr/>
        <p:txBody>
          <a:bodyPr/>
          <a:lstStyle/>
          <a:p>
            <a:fld id="{8A732C9D-8AC8-451C-8C9C-8128E2EA837B}" type="datetimeFigureOut">
              <a:rPr lang="en-IN" smtClean="0"/>
              <a:t>12-08-2024</a:t>
            </a:fld>
            <a:endParaRPr lang="en-IN"/>
          </a:p>
        </p:txBody>
      </p:sp>
      <p:sp>
        <p:nvSpPr>
          <p:cNvPr id="5" name="Footer Placeholder 4">
            <a:extLst>
              <a:ext uri="{FF2B5EF4-FFF2-40B4-BE49-F238E27FC236}">
                <a16:creationId xmlns:a16="http://schemas.microsoft.com/office/drawing/2014/main" id="{565A5BE9-0307-D77F-5515-57FF2ED697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289425-5706-18EB-E5C3-7F0B63E82791}"/>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189562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98CCF-499C-5EB2-584E-CB5758FFD9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BD75660-B49B-FA59-AA6D-39AB1349D4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8E1F63-B7D1-93DA-A529-D05A4C72711D}"/>
              </a:ext>
            </a:extLst>
          </p:cNvPr>
          <p:cNvSpPr>
            <a:spLocks noGrp="1"/>
          </p:cNvSpPr>
          <p:nvPr>
            <p:ph type="dt" sz="half" idx="10"/>
          </p:nvPr>
        </p:nvSpPr>
        <p:spPr/>
        <p:txBody>
          <a:bodyPr/>
          <a:lstStyle/>
          <a:p>
            <a:fld id="{8A732C9D-8AC8-451C-8C9C-8128E2EA837B}" type="datetimeFigureOut">
              <a:rPr lang="en-IN" smtClean="0"/>
              <a:t>12-08-2024</a:t>
            </a:fld>
            <a:endParaRPr lang="en-IN"/>
          </a:p>
        </p:txBody>
      </p:sp>
      <p:sp>
        <p:nvSpPr>
          <p:cNvPr id="5" name="Footer Placeholder 4">
            <a:extLst>
              <a:ext uri="{FF2B5EF4-FFF2-40B4-BE49-F238E27FC236}">
                <a16:creationId xmlns:a16="http://schemas.microsoft.com/office/drawing/2014/main" id="{0B8140D9-A105-0038-42C0-DB50DD9CD9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B35A27-B798-B468-78D0-BA1169D62DAD}"/>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2852166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06D-17E9-5132-1472-5B6DEB4ED1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9DF772-183D-88E7-4039-CBE988CE13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B5184CC-6308-9EBE-D53C-E8BACF6A15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5A486BB-D3EE-1044-CF45-E99D9E6B65BA}"/>
              </a:ext>
            </a:extLst>
          </p:cNvPr>
          <p:cNvSpPr>
            <a:spLocks noGrp="1"/>
          </p:cNvSpPr>
          <p:nvPr>
            <p:ph type="dt" sz="half" idx="10"/>
          </p:nvPr>
        </p:nvSpPr>
        <p:spPr/>
        <p:txBody>
          <a:bodyPr/>
          <a:lstStyle/>
          <a:p>
            <a:fld id="{8A732C9D-8AC8-451C-8C9C-8128E2EA837B}" type="datetimeFigureOut">
              <a:rPr lang="en-IN" smtClean="0"/>
              <a:t>12-08-2024</a:t>
            </a:fld>
            <a:endParaRPr lang="en-IN"/>
          </a:p>
        </p:txBody>
      </p:sp>
      <p:sp>
        <p:nvSpPr>
          <p:cNvPr id="6" name="Footer Placeholder 5">
            <a:extLst>
              <a:ext uri="{FF2B5EF4-FFF2-40B4-BE49-F238E27FC236}">
                <a16:creationId xmlns:a16="http://schemas.microsoft.com/office/drawing/2014/main" id="{779E9EE8-919C-0872-B061-B76A21EADD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02B7B2-BC8E-18DC-8BF6-3F552665DBD2}"/>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4290986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06FB1-7115-B4E5-7D60-A2C8141DE1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DA4E0A1-1138-86C0-44EC-8320D75C25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D2DE1-34DB-7832-7B79-A1CF1F39DC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C988ED-0AB0-FFC2-3B44-9D8D8B42E2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AF45C6-89D0-D07C-F9D1-78D6843BB3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11C6BA9-FD48-74AD-5B12-143EBDAD87F1}"/>
              </a:ext>
            </a:extLst>
          </p:cNvPr>
          <p:cNvSpPr>
            <a:spLocks noGrp="1"/>
          </p:cNvSpPr>
          <p:nvPr>
            <p:ph type="dt" sz="half" idx="10"/>
          </p:nvPr>
        </p:nvSpPr>
        <p:spPr/>
        <p:txBody>
          <a:bodyPr/>
          <a:lstStyle/>
          <a:p>
            <a:fld id="{8A732C9D-8AC8-451C-8C9C-8128E2EA837B}" type="datetimeFigureOut">
              <a:rPr lang="en-IN" smtClean="0"/>
              <a:t>12-08-2024</a:t>
            </a:fld>
            <a:endParaRPr lang="en-IN"/>
          </a:p>
        </p:txBody>
      </p:sp>
      <p:sp>
        <p:nvSpPr>
          <p:cNvPr id="8" name="Footer Placeholder 7">
            <a:extLst>
              <a:ext uri="{FF2B5EF4-FFF2-40B4-BE49-F238E27FC236}">
                <a16:creationId xmlns:a16="http://schemas.microsoft.com/office/drawing/2014/main" id="{AFCDB0FF-4EE5-17BD-3B7C-F906A793C06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4F83E92-DBC8-04D8-0CAB-6DE7C25FD4CB}"/>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1079331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A8829-78A5-876A-B08C-24972D64EC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4419D2D-7490-2D26-F72F-37B58F462EB6}"/>
              </a:ext>
            </a:extLst>
          </p:cNvPr>
          <p:cNvSpPr>
            <a:spLocks noGrp="1"/>
          </p:cNvSpPr>
          <p:nvPr>
            <p:ph type="dt" sz="half" idx="10"/>
          </p:nvPr>
        </p:nvSpPr>
        <p:spPr/>
        <p:txBody>
          <a:bodyPr/>
          <a:lstStyle/>
          <a:p>
            <a:fld id="{8A732C9D-8AC8-451C-8C9C-8128E2EA837B}" type="datetimeFigureOut">
              <a:rPr lang="en-IN" smtClean="0"/>
              <a:t>12-08-2024</a:t>
            </a:fld>
            <a:endParaRPr lang="en-IN"/>
          </a:p>
        </p:txBody>
      </p:sp>
      <p:sp>
        <p:nvSpPr>
          <p:cNvPr id="4" name="Footer Placeholder 3">
            <a:extLst>
              <a:ext uri="{FF2B5EF4-FFF2-40B4-BE49-F238E27FC236}">
                <a16:creationId xmlns:a16="http://schemas.microsoft.com/office/drawing/2014/main" id="{634D5A46-A912-129D-9BD6-FAF75F485C6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ABCF05-4575-BA2A-E18B-545CF0D32061}"/>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135692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CA2946-ADED-DB1F-9AE4-1AAE1327E67B}"/>
              </a:ext>
            </a:extLst>
          </p:cNvPr>
          <p:cNvSpPr>
            <a:spLocks noGrp="1"/>
          </p:cNvSpPr>
          <p:nvPr>
            <p:ph type="dt" sz="half" idx="10"/>
          </p:nvPr>
        </p:nvSpPr>
        <p:spPr/>
        <p:txBody>
          <a:bodyPr/>
          <a:lstStyle/>
          <a:p>
            <a:fld id="{8A732C9D-8AC8-451C-8C9C-8128E2EA837B}" type="datetimeFigureOut">
              <a:rPr lang="en-IN" smtClean="0"/>
              <a:t>12-08-2024</a:t>
            </a:fld>
            <a:endParaRPr lang="en-IN"/>
          </a:p>
        </p:txBody>
      </p:sp>
      <p:sp>
        <p:nvSpPr>
          <p:cNvPr id="3" name="Footer Placeholder 2">
            <a:extLst>
              <a:ext uri="{FF2B5EF4-FFF2-40B4-BE49-F238E27FC236}">
                <a16:creationId xmlns:a16="http://schemas.microsoft.com/office/drawing/2014/main" id="{E3182AA9-7705-1867-68D5-4CD9B27ECB2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1352A41-B9B5-7FB3-98A4-407822A51CD3}"/>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607379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388EB-F350-C42C-F26C-8322116E3D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9F3415E-49F2-FC90-6243-87D6A190FB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BE6D191-69D3-31E3-C2E3-721DC57C8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D57258-9949-5C26-B569-4350FCD02FC3}"/>
              </a:ext>
            </a:extLst>
          </p:cNvPr>
          <p:cNvSpPr>
            <a:spLocks noGrp="1"/>
          </p:cNvSpPr>
          <p:nvPr>
            <p:ph type="dt" sz="half" idx="10"/>
          </p:nvPr>
        </p:nvSpPr>
        <p:spPr/>
        <p:txBody>
          <a:bodyPr/>
          <a:lstStyle/>
          <a:p>
            <a:fld id="{8A732C9D-8AC8-451C-8C9C-8128E2EA837B}" type="datetimeFigureOut">
              <a:rPr lang="en-IN" smtClean="0"/>
              <a:t>12-08-2024</a:t>
            </a:fld>
            <a:endParaRPr lang="en-IN"/>
          </a:p>
        </p:txBody>
      </p:sp>
      <p:sp>
        <p:nvSpPr>
          <p:cNvPr id="6" name="Footer Placeholder 5">
            <a:extLst>
              <a:ext uri="{FF2B5EF4-FFF2-40B4-BE49-F238E27FC236}">
                <a16:creationId xmlns:a16="http://schemas.microsoft.com/office/drawing/2014/main" id="{E887FF2C-683D-AA28-546E-74DCF0F2D7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7D0716-DDA8-03C4-9A32-DF75A21AE6BF}"/>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3365477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5311A-7035-FF6F-30CB-C4FDE152E7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F27AA20-73A0-594B-CC77-9A9AEBDE4B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49F035-2035-CBEF-924B-F1FAB25794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ACD004-CEBA-6210-B903-16E6A0B726F4}"/>
              </a:ext>
            </a:extLst>
          </p:cNvPr>
          <p:cNvSpPr>
            <a:spLocks noGrp="1"/>
          </p:cNvSpPr>
          <p:nvPr>
            <p:ph type="dt" sz="half" idx="10"/>
          </p:nvPr>
        </p:nvSpPr>
        <p:spPr/>
        <p:txBody>
          <a:bodyPr/>
          <a:lstStyle/>
          <a:p>
            <a:fld id="{8A732C9D-8AC8-451C-8C9C-8128E2EA837B}" type="datetimeFigureOut">
              <a:rPr lang="en-IN" smtClean="0"/>
              <a:t>12-08-2024</a:t>
            </a:fld>
            <a:endParaRPr lang="en-IN"/>
          </a:p>
        </p:txBody>
      </p:sp>
      <p:sp>
        <p:nvSpPr>
          <p:cNvPr id="6" name="Footer Placeholder 5">
            <a:extLst>
              <a:ext uri="{FF2B5EF4-FFF2-40B4-BE49-F238E27FC236}">
                <a16:creationId xmlns:a16="http://schemas.microsoft.com/office/drawing/2014/main" id="{CFE2150D-4B1E-A93A-0C2F-571369BE43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F40EC0-F18D-B3F6-97A0-50B5ACB6949E}"/>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871558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228FC-4EC5-6C66-00F4-E59529B6665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C02810-3010-0012-EBD9-9ADDBAE226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CA1E5B-98DA-25E2-E62F-5822169B9E93}"/>
              </a:ext>
            </a:extLst>
          </p:cNvPr>
          <p:cNvSpPr>
            <a:spLocks noGrp="1"/>
          </p:cNvSpPr>
          <p:nvPr>
            <p:ph type="dt" sz="half" idx="10"/>
          </p:nvPr>
        </p:nvSpPr>
        <p:spPr/>
        <p:txBody>
          <a:bodyPr/>
          <a:lstStyle/>
          <a:p>
            <a:fld id="{8A732C9D-8AC8-451C-8C9C-8128E2EA837B}" type="datetimeFigureOut">
              <a:rPr lang="en-IN" smtClean="0"/>
              <a:t>12-08-2024</a:t>
            </a:fld>
            <a:endParaRPr lang="en-IN"/>
          </a:p>
        </p:txBody>
      </p:sp>
      <p:sp>
        <p:nvSpPr>
          <p:cNvPr id="5" name="Footer Placeholder 4">
            <a:extLst>
              <a:ext uri="{FF2B5EF4-FFF2-40B4-BE49-F238E27FC236}">
                <a16:creationId xmlns:a16="http://schemas.microsoft.com/office/drawing/2014/main" id="{2E6BAEA3-A087-6F0E-E591-DA641012C7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D05388-9770-194C-8ECE-65BA545E8EEC}"/>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3078499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CAA731-AF98-5E20-D22E-C5F1BF506B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338DEA-02D2-C8A4-DBA2-F1E4A6E865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F30071-883D-753E-95C0-7AE748708CAA}"/>
              </a:ext>
            </a:extLst>
          </p:cNvPr>
          <p:cNvSpPr>
            <a:spLocks noGrp="1"/>
          </p:cNvSpPr>
          <p:nvPr>
            <p:ph type="dt" sz="half" idx="10"/>
          </p:nvPr>
        </p:nvSpPr>
        <p:spPr/>
        <p:txBody>
          <a:bodyPr/>
          <a:lstStyle/>
          <a:p>
            <a:fld id="{8A732C9D-8AC8-451C-8C9C-8128E2EA837B}" type="datetimeFigureOut">
              <a:rPr lang="en-IN" smtClean="0"/>
              <a:t>12-08-2024</a:t>
            </a:fld>
            <a:endParaRPr lang="en-IN"/>
          </a:p>
        </p:txBody>
      </p:sp>
      <p:sp>
        <p:nvSpPr>
          <p:cNvPr id="5" name="Footer Placeholder 4">
            <a:extLst>
              <a:ext uri="{FF2B5EF4-FFF2-40B4-BE49-F238E27FC236}">
                <a16:creationId xmlns:a16="http://schemas.microsoft.com/office/drawing/2014/main" id="{C39815C5-D7BD-2A32-8533-852C2CD8D4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8C9C1B-F539-56FD-1E55-91CFA3C46850}"/>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2397668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B43930-4043-4D7B-CEAD-672F0D0DB3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D8C064-D196-CFA3-35E2-B2120B4290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108CF4-3574-EC0F-62F0-FC37942F09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732C9D-8AC8-451C-8C9C-8128E2EA837B}" type="datetimeFigureOut">
              <a:rPr lang="en-IN" smtClean="0"/>
              <a:t>12-08-2024</a:t>
            </a:fld>
            <a:endParaRPr lang="en-IN"/>
          </a:p>
        </p:txBody>
      </p:sp>
      <p:sp>
        <p:nvSpPr>
          <p:cNvPr id="5" name="Footer Placeholder 4">
            <a:extLst>
              <a:ext uri="{FF2B5EF4-FFF2-40B4-BE49-F238E27FC236}">
                <a16:creationId xmlns:a16="http://schemas.microsoft.com/office/drawing/2014/main" id="{A6C2FF6A-A1AA-EC43-6279-3CD60E7F59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B75768-7454-C369-90B1-C052DDB657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E82CB0-C2B4-4A18-A52B-31F3F37278A0}" type="slidenum">
              <a:rPr lang="en-IN" smtClean="0"/>
              <a:t>‹#›</a:t>
            </a:fld>
            <a:endParaRPr lang="en-IN"/>
          </a:p>
        </p:txBody>
      </p:sp>
    </p:spTree>
    <p:extLst>
      <p:ext uri="{BB962C8B-B14F-4D97-AF65-F5344CB8AC3E}">
        <p14:creationId xmlns:p14="http://schemas.microsoft.com/office/powerpoint/2010/main" val="1817719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mailto:deepika@niet.co.i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5_btNIdvEfo"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hyperlink" Target="https://www.youtube.com/watch?v=uXuj-Kj6_wE" TargetMode="External"/><Relationship Id="rId4" Type="http://schemas.openxmlformats.org/officeDocument/2006/relationships/hyperlink" Target="https://www.youtube.com/watch?v=Lx83q3mW0oo"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jpeg"/><Relationship Id="rId7" Type="http://schemas.openxmlformats.org/officeDocument/2006/relationships/diagramColors" Target="../diagrams/colors1.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4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5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5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hyperlink" Target="https://www.youtube.com/watch?v=uWCcFrnGPBw" TargetMode="External"/><Relationship Id="rId4" Type="http://schemas.openxmlformats.org/officeDocument/2006/relationships/hyperlink" Target="https://courses.lumenlearning.com/waymaker-psychology/chapter/reading-what-is-perception/" TargetMode="External"/></Relationships>
</file>

<file path=ppt/slides/_rels/slide5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hyperlink" Target="https://www.youtube.com/watch?v=GW2A8xoSoYk" TargetMode="External"/><Relationship Id="rId4" Type="http://schemas.openxmlformats.org/officeDocument/2006/relationships/hyperlink" Target="https://www.youtube.com/watch?v=f_S_bapYEm4"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0"/>
            <a:ext cx="9982200" cy="909036"/>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a:noAutofit/>
          </a:bodyPr>
          <a:lstStyle/>
          <a:p>
            <a:r>
              <a:rPr lang="en-US" sz="2800" dirty="0" err="1"/>
              <a:t>Noida</a:t>
            </a:r>
            <a:r>
              <a:rPr lang="en-US" sz="2800" dirty="0"/>
              <a:t> Institute of Engineering and Technology, Greater </a:t>
            </a:r>
            <a:r>
              <a:rPr lang="en-US" sz="2800" dirty="0" err="1"/>
              <a:t>Noida</a:t>
            </a:r>
            <a:endParaRPr lang="en-US" sz="2800" dirty="0"/>
          </a:p>
        </p:txBody>
      </p:sp>
      <p:sp>
        <p:nvSpPr>
          <p:cNvPr id="3" name="Subtitle 2"/>
          <p:cNvSpPr>
            <a:spLocks noGrp="1"/>
          </p:cNvSpPr>
          <p:nvPr>
            <p:ph type="subTitle" idx="1"/>
          </p:nvPr>
        </p:nvSpPr>
        <p:spPr>
          <a:xfrm>
            <a:off x="1828800" y="1213837"/>
            <a:ext cx="9448800" cy="767363"/>
          </a:xfrm>
          <a:ln>
            <a:solidFill>
              <a:schemeClr val="accent2"/>
            </a:solidFill>
          </a:ln>
        </p:spPr>
        <p:style>
          <a:lnRef idx="2">
            <a:schemeClr val="accent5"/>
          </a:lnRef>
          <a:fillRef idx="1">
            <a:schemeClr val="lt1"/>
          </a:fillRef>
          <a:effectRef idx="0">
            <a:schemeClr val="accent5"/>
          </a:effectRef>
          <a:fontRef idx="minor">
            <a:schemeClr val="dk1"/>
          </a:fontRef>
        </p:style>
        <p:txBody>
          <a:bodyPr>
            <a:normAutofit lnSpcReduction="10000"/>
          </a:bodyPr>
          <a:lstStyle/>
          <a:p>
            <a:r>
              <a:rPr lang="en-US" sz="2500" dirty="0">
                <a:solidFill>
                  <a:schemeClr val="tx1"/>
                </a:solidFill>
              </a:rPr>
              <a:t>Introduction to OB</a:t>
            </a:r>
            <a:br>
              <a:rPr lang="en-US" sz="2500" dirty="0">
                <a:solidFill>
                  <a:schemeClr val="tx1"/>
                </a:solidFill>
              </a:rPr>
            </a:br>
            <a:endParaRPr lang="en-US" sz="2500" dirty="0">
              <a:solidFill>
                <a:schemeClr val="tx1"/>
              </a:solidFill>
            </a:endParaRPr>
          </a:p>
        </p:txBody>
      </p:sp>
      <p:sp>
        <p:nvSpPr>
          <p:cNvPr id="6" name="Subtitle 2"/>
          <p:cNvSpPr txBox="1">
            <a:spLocks/>
          </p:cNvSpPr>
          <p:nvPr/>
        </p:nvSpPr>
        <p:spPr>
          <a:xfrm>
            <a:off x="8991600" y="4222750"/>
            <a:ext cx="3048000" cy="17526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400" dirty="0">
                <a:solidFill>
                  <a:schemeClr val="tx1"/>
                </a:solidFill>
              </a:rPr>
              <a:t>Deepika Sharma</a:t>
            </a:r>
          </a:p>
          <a:p>
            <a:pPr algn="ctr">
              <a:spcBef>
                <a:spcPct val="20000"/>
              </a:spcBef>
              <a:defRPr/>
            </a:pPr>
            <a:r>
              <a:rPr lang="en-US" sz="2400" dirty="0">
                <a:solidFill>
                  <a:schemeClr val="tx1"/>
                </a:solidFill>
              </a:rPr>
              <a:t>Assistant Professor</a:t>
            </a:r>
          </a:p>
          <a:p>
            <a:pPr algn="ctr">
              <a:spcBef>
                <a:spcPct val="20000"/>
              </a:spcBef>
              <a:defRPr/>
            </a:pPr>
            <a:r>
              <a:rPr lang="en-US" sz="2400" dirty="0">
                <a:solidFill>
                  <a:schemeClr val="tx1"/>
                </a:solidFill>
              </a:rPr>
              <a:t>MBA Dept</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1905000" y="5943600"/>
            <a:ext cx="533400" cy="533400"/>
          </a:xfrm>
          <a:prstGeom prst="rect">
            <a:avLst/>
          </a:prstGeom>
          <a:noFill/>
        </p:spPr>
      </p:pic>
      <p:sp>
        <p:nvSpPr>
          <p:cNvPr id="9" name="Date Placeholder 8"/>
          <p:cNvSpPr>
            <a:spLocks noGrp="1"/>
          </p:cNvSpPr>
          <p:nvPr>
            <p:ph type="dt" sz="half" idx="10"/>
          </p:nvPr>
        </p:nvSpPr>
        <p:spPr>
          <a:xfrm>
            <a:off x="1905000" y="6492876"/>
            <a:ext cx="2133600" cy="365125"/>
          </a:xfrm>
        </p:spPr>
        <p:txBody>
          <a:bodyPr/>
          <a:lstStyle/>
          <a:p>
            <a:fld id="{38801551-5877-4C21-9B34-9746B04ED5CA}" type="datetime1">
              <a:rPr lang="en-US" smtClean="0"/>
              <a:pPr/>
              <a:t>8/12/2024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9677400" y="2508250"/>
            <a:ext cx="1524000" cy="1524000"/>
          </a:xfrm>
          <a:prstGeom prst="rect">
            <a:avLst/>
          </a:prstGeom>
          <a:noFill/>
        </p:spPr>
      </p:pic>
      <p:sp>
        <p:nvSpPr>
          <p:cNvPr id="12" name="Subtitle 2"/>
          <p:cNvSpPr txBox="1">
            <a:spLocks/>
          </p:cNvSpPr>
          <p:nvPr/>
        </p:nvSpPr>
        <p:spPr>
          <a:xfrm>
            <a:off x="381000" y="2895600"/>
            <a:ext cx="2057400" cy="5334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I</a:t>
            </a:r>
          </a:p>
        </p:txBody>
      </p:sp>
      <p:sp>
        <p:nvSpPr>
          <p:cNvPr id="13" name="Footer Placeholder 12"/>
          <p:cNvSpPr>
            <a:spLocks noGrp="1"/>
          </p:cNvSpPr>
          <p:nvPr>
            <p:ph type="ftr" sz="quarter" idx="11"/>
          </p:nvPr>
        </p:nvSpPr>
        <p:spPr>
          <a:xfrm>
            <a:off x="3810000" y="6248401"/>
            <a:ext cx="5029200" cy="365125"/>
          </a:xfrm>
        </p:spPr>
        <p:txBody>
          <a:bodyPr/>
          <a:lstStyle/>
          <a:p>
            <a:r>
              <a:rPr lang="en-US" dirty="0"/>
              <a:t>Faculty Name             Subject code and abbreviation                Unit Number</a:t>
            </a:r>
          </a:p>
        </p:txBody>
      </p:sp>
      <p:sp>
        <p:nvSpPr>
          <p:cNvPr id="14" name="Subtitle 2"/>
          <p:cNvSpPr txBox="1">
            <a:spLocks/>
          </p:cNvSpPr>
          <p:nvPr/>
        </p:nvSpPr>
        <p:spPr>
          <a:xfrm>
            <a:off x="341671" y="3749675"/>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Organizational Behavior</a:t>
            </a:r>
          </a:p>
        </p:txBody>
      </p:sp>
      <p:sp>
        <p:nvSpPr>
          <p:cNvPr id="15" name="Subtitle 2"/>
          <p:cNvSpPr txBox="1">
            <a:spLocks/>
          </p:cNvSpPr>
          <p:nvPr/>
        </p:nvSpPr>
        <p:spPr>
          <a:xfrm>
            <a:off x="341671" y="4908550"/>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rPr>
              <a:t>(MCA INT 5</a:t>
            </a:r>
            <a:r>
              <a:rPr lang="en-US" sz="2000" baseline="30000" dirty="0">
                <a:solidFill>
                  <a:schemeClr val="tx1"/>
                </a:solidFill>
              </a:rPr>
              <a:t>th</a:t>
            </a:r>
            <a:r>
              <a:rPr lang="en-US" sz="2000" dirty="0">
                <a:solidFill>
                  <a:schemeClr val="tx1"/>
                </a:solidFill>
              </a:rPr>
              <a:t> Sem)</a:t>
            </a:r>
          </a:p>
        </p:txBody>
      </p:sp>
      <p:pic>
        <p:nvPicPr>
          <p:cNvPr id="7" name="Picture 6"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1397343" cy="5213348"/>
          </a:xfrm>
        </p:spPr>
        <p:txBody>
          <a:bodyPr>
            <a:normAutofit/>
          </a:bodyPr>
          <a:lstStyle/>
          <a:p>
            <a:pPr algn="just"/>
            <a:r>
              <a:rPr lang="en-US" sz="2400" dirty="0">
                <a:effectLst/>
                <a:latin typeface="Times New Roman" panose="02020603050405020304" pitchFamily="18" charset="0"/>
                <a:ea typeface="Times New Roman" panose="02020603050405020304" pitchFamily="18" charset="0"/>
              </a:rPr>
              <a:t>Faculty Name:	Deepika Sharma</a:t>
            </a:r>
          </a:p>
          <a:p>
            <a:pPr algn="just"/>
            <a:r>
              <a:rPr lang="en-US" sz="2400" dirty="0">
                <a:effectLst/>
                <a:latin typeface="Times New Roman" panose="02020603050405020304" pitchFamily="18" charset="0"/>
                <a:ea typeface="Times New Roman" panose="02020603050405020304" pitchFamily="18" charset="0"/>
              </a:rPr>
              <a:t>Designation:   Assistant Professor</a:t>
            </a:r>
          </a:p>
          <a:p>
            <a:pPr algn="just"/>
            <a:r>
              <a:rPr lang="en-US" sz="2400" dirty="0">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Department:	MBA</a:t>
            </a:r>
          </a:p>
          <a:p>
            <a:pPr algn="just"/>
            <a:r>
              <a:rPr lang="en-US" sz="2400" dirty="0">
                <a:effectLst/>
                <a:latin typeface="Times New Roman" panose="02020603050405020304" pitchFamily="18" charset="0"/>
                <a:ea typeface="Times New Roman" panose="02020603050405020304" pitchFamily="18" charset="0"/>
              </a:rPr>
              <a:t>Email ID: </a:t>
            </a:r>
            <a:r>
              <a:rPr lang="en-US" sz="2400" dirty="0">
                <a:effectLst/>
                <a:latin typeface="Times New Roman" panose="02020603050405020304" pitchFamily="18" charset="0"/>
                <a:ea typeface="Times New Roman" panose="02020603050405020304" pitchFamily="18" charset="0"/>
                <a:hlinkClick r:id="rId3"/>
              </a:rPr>
              <a:t>deepika@niet.co.in</a:t>
            </a:r>
            <a:endParaRPr lang="en-US" sz="2400" dirty="0">
              <a:effectLst/>
              <a:latin typeface="Times New Roman" panose="02020603050405020304" pitchFamily="18" charset="0"/>
              <a:ea typeface="Times New Roman" panose="02020603050405020304" pitchFamily="18" charset="0"/>
            </a:endParaRPr>
          </a:p>
          <a:p>
            <a:pPr algn="just"/>
            <a:r>
              <a:rPr lang="en-US" sz="2400" dirty="0">
                <a:effectLst/>
                <a:latin typeface="Times New Roman" panose="02020603050405020304" pitchFamily="18" charset="0"/>
                <a:ea typeface="Times New Roman" panose="02020603050405020304" pitchFamily="18" charset="0"/>
              </a:rPr>
              <a:t>Qualification: Pursuing Ph.D.</a:t>
            </a:r>
          </a:p>
          <a:p>
            <a:pPr algn="just"/>
            <a:r>
              <a:rPr lang="en-US" sz="2400" dirty="0">
                <a:effectLst/>
                <a:latin typeface="Times New Roman" panose="02020603050405020304" pitchFamily="18" charset="0"/>
                <a:ea typeface="Times New Roman" panose="02020603050405020304" pitchFamily="18" charset="0"/>
              </a:rPr>
              <a:t>Specialization:	HR, Marketing</a:t>
            </a:r>
          </a:p>
          <a:p>
            <a:pPr algn="just"/>
            <a:r>
              <a:rPr lang="en-US" sz="2400" dirty="0">
                <a:effectLst/>
                <a:latin typeface="Times New Roman" panose="02020603050405020304" pitchFamily="18" charset="0"/>
                <a:ea typeface="Times New Roman" panose="02020603050405020304" pitchFamily="18" charset="0"/>
              </a:rPr>
              <a:t>Teaching Area:    </a:t>
            </a:r>
          </a:p>
          <a:p>
            <a:pPr algn="just"/>
            <a:r>
              <a:rPr lang="en-US" sz="2400" dirty="0">
                <a:effectLst/>
                <a:latin typeface="Times New Roman" panose="02020603050405020304" pitchFamily="18" charset="0"/>
                <a:ea typeface="Times New Roman" panose="02020603050405020304" pitchFamily="18" charset="0"/>
              </a:rPr>
              <a:t>Total Experience: 2 Years</a:t>
            </a: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Faculty Introduction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9" name="Picture 8">
            <a:extLst>
              <a:ext uri="{FF2B5EF4-FFF2-40B4-BE49-F238E27FC236}">
                <a16:creationId xmlns:a16="http://schemas.microsoft.com/office/drawing/2014/main" id="{BDED46F1-22A1-CDEF-46BA-DEF9E8BEE71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85891" y="1065583"/>
            <a:ext cx="2082109" cy="2514600"/>
          </a:xfrm>
          <a:prstGeom prst="rect">
            <a:avLst/>
          </a:prstGeom>
        </p:spPr>
      </p:pic>
    </p:spTree>
    <p:extLst>
      <p:ext uri="{BB962C8B-B14F-4D97-AF65-F5344CB8AC3E}">
        <p14:creationId xmlns:p14="http://schemas.microsoft.com/office/powerpoint/2010/main" val="1380024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1397343" cy="5213348"/>
          </a:xfrm>
        </p:spPr>
        <p:txBody>
          <a:bodyPr>
            <a:normAutofit/>
          </a:bodyPr>
          <a:lstStyle/>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a:t>
            </a:fld>
            <a:endParaRPr lang="en-US"/>
          </a:p>
        </p:txBody>
      </p:sp>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Evaluation Scheme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16" name="Picture 15">
            <a:extLst>
              <a:ext uri="{FF2B5EF4-FFF2-40B4-BE49-F238E27FC236}">
                <a16:creationId xmlns:a16="http://schemas.microsoft.com/office/drawing/2014/main" id="{47A7828E-1D08-E3B6-5251-F9561C94A3F1}"/>
              </a:ext>
            </a:extLst>
          </p:cNvPr>
          <p:cNvPicPr>
            <a:picLocks noChangeAspect="1"/>
          </p:cNvPicPr>
          <p:nvPr/>
        </p:nvPicPr>
        <p:blipFill>
          <a:blip r:embed="rId4"/>
          <a:stretch>
            <a:fillRect/>
          </a:stretch>
        </p:blipFill>
        <p:spPr>
          <a:xfrm>
            <a:off x="718457" y="1404468"/>
            <a:ext cx="10853057" cy="4604446"/>
          </a:xfrm>
          <a:prstGeom prst="rect">
            <a:avLst/>
          </a:prstGeom>
        </p:spPr>
      </p:pic>
      <p:grpSp>
        <p:nvGrpSpPr>
          <p:cNvPr id="2049" name="Group 1"/>
          <p:cNvGrpSpPr>
            <a:grpSpLocks/>
          </p:cNvGrpSpPr>
          <p:nvPr/>
        </p:nvGrpSpPr>
        <p:grpSpPr bwMode="auto">
          <a:xfrm>
            <a:off x="0" y="0"/>
            <a:ext cx="192088" cy="7938"/>
            <a:chOff x="0" y="0"/>
            <a:chExt cx="303" cy="13"/>
          </a:xfrm>
        </p:grpSpPr>
      </p:grpSp>
    </p:spTree>
    <p:extLst>
      <p:ext uri="{BB962C8B-B14F-4D97-AF65-F5344CB8AC3E}">
        <p14:creationId xmlns:p14="http://schemas.microsoft.com/office/powerpoint/2010/main" val="263191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1397343" cy="5213348"/>
          </a:xfrm>
        </p:spPr>
        <p:txBody>
          <a:bodyPr>
            <a:normAutofit/>
          </a:bodyPr>
          <a:lstStyle/>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Syllabus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5" name="Picture 4">
            <a:extLst>
              <a:ext uri="{FF2B5EF4-FFF2-40B4-BE49-F238E27FC236}">
                <a16:creationId xmlns:a16="http://schemas.microsoft.com/office/drawing/2014/main" id="{F32AAE7A-8678-0DDA-1D15-ECAB1B8CA755}"/>
              </a:ext>
            </a:extLst>
          </p:cNvPr>
          <p:cNvPicPr>
            <a:picLocks noChangeAspect="1"/>
          </p:cNvPicPr>
          <p:nvPr/>
        </p:nvPicPr>
        <p:blipFill>
          <a:blip r:embed="rId4"/>
          <a:stretch>
            <a:fillRect/>
          </a:stretch>
        </p:blipFill>
        <p:spPr>
          <a:xfrm>
            <a:off x="530611" y="1052383"/>
            <a:ext cx="10717121" cy="1857634"/>
          </a:xfrm>
          <a:prstGeom prst="rect">
            <a:avLst/>
          </a:prstGeom>
        </p:spPr>
      </p:pic>
      <p:pic>
        <p:nvPicPr>
          <p:cNvPr id="11" name="Picture 10">
            <a:extLst>
              <a:ext uri="{FF2B5EF4-FFF2-40B4-BE49-F238E27FC236}">
                <a16:creationId xmlns:a16="http://schemas.microsoft.com/office/drawing/2014/main" id="{EE0D0440-945D-5537-F295-2B71A0BBA3FD}"/>
              </a:ext>
            </a:extLst>
          </p:cNvPr>
          <p:cNvPicPr>
            <a:picLocks noChangeAspect="1"/>
          </p:cNvPicPr>
          <p:nvPr/>
        </p:nvPicPr>
        <p:blipFill rotWithShape="1">
          <a:blip r:embed="rId5"/>
          <a:srcRect r="3263"/>
          <a:stretch/>
        </p:blipFill>
        <p:spPr>
          <a:xfrm>
            <a:off x="391886" y="2864121"/>
            <a:ext cx="10855846" cy="3057708"/>
          </a:xfrm>
          <a:prstGeom prst="rect">
            <a:avLst/>
          </a:prstGeom>
        </p:spPr>
      </p:pic>
    </p:spTree>
    <p:extLst>
      <p:ext uri="{BB962C8B-B14F-4D97-AF65-F5344CB8AC3E}">
        <p14:creationId xmlns:p14="http://schemas.microsoft.com/office/powerpoint/2010/main" val="3932461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1397343" cy="5213348"/>
          </a:xfrm>
        </p:spPr>
        <p:txBody>
          <a:bodyPr>
            <a:normAutofit/>
          </a:bodyPr>
          <a:lstStyle/>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Syllabus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9" name="Picture 8">
            <a:extLst>
              <a:ext uri="{FF2B5EF4-FFF2-40B4-BE49-F238E27FC236}">
                <a16:creationId xmlns:a16="http://schemas.microsoft.com/office/drawing/2014/main" id="{5157B36E-35C8-5F68-93EF-082E33AC45C5}"/>
              </a:ext>
            </a:extLst>
          </p:cNvPr>
          <p:cNvPicPr>
            <a:picLocks noChangeAspect="1"/>
          </p:cNvPicPr>
          <p:nvPr/>
        </p:nvPicPr>
        <p:blipFill>
          <a:blip r:embed="rId4"/>
          <a:stretch>
            <a:fillRect/>
          </a:stretch>
        </p:blipFill>
        <p:spPr>
          <a:xfrm>
            <a:off x="402771" y="947268"/>
            <a:ext cx="10879068" cy="3200847"/>
          </a:xfrm>
          <a:prstGeom prst="rect">
            <a:avLst/>
          </a:prstGeom>
        </p:spPr>
      </p:pic>
      <p:pic>
        <p:nvPicPr>
          <p:cNvPr id="13" name="Picture 12">
            <a:extLst>
              <a:ext uri="{FF2B5EF4-FFF2-40B4-BE49-F238E27FC236}">
                <a16:creationId xmlns:a16="http://schemas.microsoft.com/office/drawing/2014/main" id="{62915847-C588-F5BC-610F-35A87FF3A6EB}"/>
              </a:ext>
            </a:extLst>
          </p:cNvPr>
          <p:cNvPicPr>
            <a:picLocks noChangeAspect="1"/>
          </p:cNvPicPr>
          <p:nvPr/>
        </p:nvPicPr>
        <p:blipFill>
          <a:blip r:embed="rId5"/>
          <a:stretch>
            <a:fillRect/>
          </a:stretch>
        </p:blipFill>
        <p:spPr>
          <a:xfrm>
            <a:off x="478981" y="3923739"/>
            <a:ext cx="10726647" cy="971686"/>
          </a:xfrm>
          <a:prstGeom prst="rect">
            <a:avLst/>
          </a:prstGeom>
        </p:spPr>
      </p:pic>
    </p:spTree>
    <p:extLst>
      <p:ext uri="{BB962C8B-B14F-4D97-AF65-F5344CB8AC3E}">
        <p14:creationId xmlns:p14="http://schemas.microsoft.com/office/powerpoint/2010/main" val="3322588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pPr marL="0" indent="0" algn="just">
              <a:buNone/>
            </a:pPr>
            <a:r>
              <a:rPr lang="en-US" sz="2400" dirty="0">
                <a:effectLst/>
                <a:latin typeface="Times New Roman" panose="02020603050405020304" pitchFamily="18" charset="0"/>
                <a:ea typeface="Times New Roman" panose="02020603050405020304" pitchFamily="18" charset="0"/>
              </a:rPr>
              <a:t>Being a core subject this subject will help the students gain understanding of the functions and responsibilities of managers. It shall  provide students  the tools and techniques to be used in the performance of the managerial job. And will also  enable them to analyze and understand the complex human behaviour at organization</a:t>
            </a:r>
            <a:r>
              <a:rPr lang="en-US" sz="1800" dirty="0">
                <a:effectLst/>
                <a:latin typeface="Times New Roman" panose="02020603050405020304" pitchFamily="18" charset="0"/>
                <a:ea typeface="Times New Roman" panose="02020603050405020304" pitchFamily="18" charset="0"/>
              </a:rPr>
              <a:t>.</a:t>
            </a:r>
          </a:p>
          <a:p>
            <a:pPr algn="just"/>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Branch Wise Applications</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433177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pPr marL="0" indent="0" algn="just">
              <a:buNone/>
            </a:pPr>
            <a:r>
              <a:rPr lang="en-US" sz="2400" dirty="0">
                <a:effectLst/>
                <a:latin typeface="Times New Roman" panose="02020603050405020304" pitchFamily="18" charset="0"/>
                <a:ea typeface="Times New Roman" panose="02020603050405020304" pitchFamily="18" charset="0"/>
              </a:rPr>
              <a:t>This course explores the theories and concepts of organizational behaviour and their application in the workplace. It covers individual behaviour, group dynamics, and organizational processes to enhance organizational effectiveness. The Organizational Behaviour course focuses on a better understanding of the key factors that determine human behavior in organizations. The course focuses on key factors for understanding the behavior of people in organizational contexts from a socio psychological point of view that play a basic role in people management and that are the basis of any leadership course in the rest of the program.</a:t>
            </a:r>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Course Objectives</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861090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Course Outcomes</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5" name="Picture 4">
            <a:extLst>
              <a:ext uri="{FF2B5EF4-FFF2-40B4-BE49-F238E27FC236}">
                <a16:creationId xmlns:a16="http://schemas.microsoft.com/office/drawing/2014/main" id="{AE07F096-340C-C8DB-34F7-B02CC3F39A97}"/>
              </a:ext>
            </a:extLst>
          </p:cNvPr>
          <p:cNvPicPr>
            <a:picLocks noChangeAspect="1"/>
          </p:cNvPicPr>
          <p:nvPr/>
        </p:nvPicPr>
        <p:blipFill rotWithShape="1">
          <a:blip r:embed="rId4"/>
          <a:srcRect l="2164" r="7987" b="6921"/>
          <a:stretch/>
        </p:blipFill>
        <p:spPr>
          <a:xfrm>
            <a:off x="986372" y="1143000"/>
            <a:ext cx="9344171" cy="4757058"/>
          </a:xfrm>
          <a:prstGeom prst="rect">
            <a:avLst/>
          </a:prstGeom>
        </p:spPr>
      </p:pic>
    </p:spTree>
    <p:extLst>
      <p:ext uri="{BB962C8B-B14F-4D97-AF65-F5344CB8AC3E}">
        <p14:creationId xmlns:p14="http://schemas.microsoft.com/office/powerpoint/2010/main" val="4051039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Program Outcomes</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853876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CO-PO Mapping</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961048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CO-PSO</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4159434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CO-PEO</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1235757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r>
              <a:rPr lang="en-US" sz="2400" dirty="0"/>
              <a:t>NA</a:t>
            </a:r>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Result Analysis</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2040467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r>
              <a:rPr lang="en-US" sz="2400" dirty="0"/>
              <a:t>NA</a:t>
            </a:r>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End Sem Question Paper </a:t>
            </a:r>
            <a:r>
              <a:rPr lang="en-US" sz="2800" dirty="0" err="1">
                <a:solidFill>
                  <a:prstClr val="black"/>
                </a:solidFill>
                <a:cs typeface="Times New Roman" panose="02020603050405020304" pitchFamily="18" charset="0"/>
              </a:rPr>
              <a:t>Templete</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996558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r>
              <a:rPr lang="en-US" sz="2400" dirty="0"/>
              <a:t> Students should have a primary understanding of management thought.</a:t>
            </a:r>
          </a:p>
          <a:p>
            <a:r>
              <a:rPr lang="en-US" sz="2400" dirty="0"/>
              <a:t>Students should have preliminary knowledge of organizational Behaviour.</a:t>
            </a:r>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Prerequisite</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556149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pPr algn="just"/>
            <a:r>
              <a:rPr lang="en-US" sz="2400" dirty="0">
                <a:effectLst/>
                <a:ea typeface="Times New Roman" panose="02020603050405020304" pitchFamily="18" charset="0"/>
                <a:cs typeface="Times New Roman" panose="02020603050405020304" pitchFamily="18" charset="0"/>
              </a:rPr>
              <a:t>Management comprises planning, organizing, staffing, leading or directing, and controlling an organization to accomplish a goal. It also includes resourcing that encompasses the deployment and manipulation of human resources, financial resources, technological resources, and natural resources. Organizational Behavior (OB) can be defined as the understanding, prediction and management of human behavior both individually or in a group that occur within an organization. Internal and external perspectives are the two theories of how organizational behavior can be viewed from an organization's point of view.</a:t>
            </a:r>
          </a:p>
          <a:p>
            <a:pPr marL="0" indent="0">
              <a:buNone/>
            </a:pPr>
            <a:r>
              <a:rPr lang="en-US" sz="2400" dirty="0">
                <a:latin typeface="Times New Roman" panose="02020603050405020304" pitchFamily="18" charset="0"/>
                <a:cs typeface="Times New Roman" panose="02020603050405020304" pitchFamily="18" charset="0"/>
                <a:hlinkClick r:id="rId3"/>
              </a:rPr>
              <a:t>https://www.youtube.com/watch?v=5_btNIdvEfo</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hlinkClick r:id="rId4"/>
              </a:rPr>
              <a:t>https://www.youtube.com/watch?v=Lx83q3mW0oo</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hlinkClick r:id="rId5"/>
              </a:rPr>
              <a:t>https://www.youtube.com/watch?v=uXuj-Kj6_wE</a:t>
            </a:r>
            <a:r>
              <a:rPr lang="en-US" sz="2400" dirty="0">
                <a:latin typeface="Times New Roman" panose="02020603050405020304" pitchFamily="18" charset="0"/>
                <a:cs typeface="Times New Roman" panose="02020603050405020304" pitchFamily="18" charset="0"/>
              </a:rPr>
              <a:t> </a:t>
            </a:r>
          </a:p>
          <a:p>
            <a:pPr algn="just"/>
            <a:endParaRPr lang="en-US" sz="2400" dirty="0">
              <a:effectLst/>
              <a:ea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Brief subject introduction</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2023191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r>
              <a:rPr lang="en-US" sz="1800" b="1" dirty="0">
                <a:effectLst/>
                <a:latin typeface="Times New Roman" panose="02020603050405020304" pitchFamily="18" charset="0"/>
                <a:ea typeface="Times New Roman" panose="02020603050405020304" pitchFamily="18" charset="0"/>
              </a:rPr>
              <a:t>Introduction to</a:t>
            </a:r>
            <a:r>
              <a:rPr lang="en-US" sz="1800" b="1" spc="-26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OB</a:t>
            </a:r>
          </a:p>
          <a:p>
            <a:r>
              <a:rPr lang="en-US" sz="2400" dirty="0"/>
              <a:t>Fundamentals of individual behavior, Models of OB</a:t>
            </a:r>
          </a:p>
          <a:p>
            <a:r>
              <a:rPr lang="en-US" sz="2400" dirty="0"/>
              <a:t>Organizational Climate and Culture</a:t>
            </a:r>
          </a:p>
          <a:p>
            <a:pPr marL="0" indent="0">
              <a:buNone/>
            </a:pPr>
            <a:endParaRPr lang="en-US" sz="2400" dirty="0"/>
          </a:p>
          <a:p>
            <a:r>
              <a:rPr lang="en-US" sz="1800" b="1" dirty="0">
                <a:effectLst/>
                <a:latin typeface="Times New Roman" panose="02020603050405020304" pitchFamily="18" charset="0"/>
                <a:ea typeface="Times New Roman" panose="02020603050405020304" pitchFamily="18" charset="0"/>
              </a:rPr>
              <a:t>Personality &amp;</a:t>
            </a:r>
            <a:r>
              <a:rPr lang="en-US" sz="1800" b="1" spc="-26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Attitude</a:t>
            </a:r>
            <a:endParaRPr lang="en-US" sz="2400" b="1" dirty="0">
              <a:effectLst/>
              <a:latin typeface="Times New Roman" panose="02020603050405020304" pitchFamily="18" charset="0"/>
              <a:ea typeface="Times New Roman" panose="02020603050405020304" pitchFamily="18" charset="0"/>
            </a:endParaRPr>
          </a:p>
          <a:p>
            <a:r>
              <a:rPr lang="en-US" sz="2400" dirty="0"/>
              <a:t>Personality-Determinants of Personality, types of personality</a:t>
            </a:r>
          </a:p>
          <a:p>
            <a:r>
              <a:rPr lang="en-US" sz="2400" dirty="0"/>
              <a:t>Personal effectiveness. Attitudes: Meaning, Types, Components</a:t>
            </a:r>
          </a:p>
          <a:p>
            <a:r>
              <a:rPr lang="en-US" sz="2400" dirty="0"/>
              <a:t>Theory of attitude Formation</a:t>
            </a:r>
          </a:p>
          <a:p>
            <a:pPr algn="just"/>
            <a:endParaRPr lang="en-US" sz="2400" dirty="0">
              <a:effectLst/>
              <a:ea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Unit Content</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2468301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pPr algn="just"/>
            <a:r>
              <a:rPr lang="en-US" sz="2400" dirty="0">
                <a:effectLst/>
                <a:ea typeface="Times New Roman" panose="02020603050405020304" pitchFamily="18" charset="0"/>
                <a:cs typeface="Times New Roman" panose="02020603050405020304" pitchFamily="18" charset="0"/>
              </a:rPr>
              <a:t> Organizational behavior is the study of how individuals and groups interact and how these interactions affect an organization's performance toward its goal or goals.</a:t>
            </a:r>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Organizational behavior </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4" name="Picture 3">
            <a:extLst>
              <a:ext uri="{FF2B5EF4-FFF2-40B4-BE49-F238E27FC236}">
                <a16:creationId xmlns:a16="http://schemas.microsoft.com/office/drawing/2014/main" id="{13227EA9-D2E9-579D-7663-2000BF73CE9C}"/>
              </a:ext>
            </a:extLst>
          </p:cNvPr>
          <p:cNvPicPr>
            <a:picLocks noChangeAspect="1"/>
          </p:cNvPicPr>
          <p:nvPr/>
        </p:nvPicPr>
        <p:blipFill>
          <a:blip r:embed="rId4"/>
          <a:stretch>
            <a:fillRect/>
          </a:stretch>
        </p:blipFill>
        <p:spPr>
          <a:xfrm>
            <a:off x="1513115" y="2052142"/>
            <a:ext cx="8305799" cy="2275114"/>
          </a:xfrm>
          <a:prstGeom prst="rect">
            <a:avLst/>
          </a:prstGeom>
        </p:spPr>
      </p:pic>
      <p:sp>
        <p:nvSpPr>
          <p:cNvPr id="9" name="TextBox 8">
            <a:extLst>
              <a:ext uri="{FF2B5EF4-FFF2-40B4-BE49-F238E27FC236}">
                <a16:creationId xmlns:a16="http://schemas.microsoft.com/office/drawing/2014/main" id="{13F37DDB-33F4-C183-A5CA-FBD8B585BD53}"/>
              </a:ext>
            </a:extLst>
          </p:cNvPr>
          <p:cNvSpPr txBox="1"/>
          <p:nvPr/>
        </p:nvSpPr>
        <p:spPr>
          <a:xfrm>
            <a:off x="533400" y="4893742"/>
            <a:ext cx="10672228" cy="1200329"/>
          </a:xfrm>
          <a:prstGeom prst="rect">
            <a:avLst/>
          </a:prstGeom>
          <a:noFill/>
        </p:spPr>
        <p:txBody>
          <a:bodyPr wrap="square">
            <a:spAutoFit/>
          </a:bodyPr>
          <a:lstStyle/>
          <a:p>
            <a:r>
              <a:rPr lang="en-US" sz="2400" b="0" i="0" dirty="0">
                <a:solidFill>
                  <a:srgbClr val="000000"/>
                </a:solidFill>
                <a:effectLst/>
                <a:highlight>
                  <a:srgbClr val="FFFFFF"/>
                </a:highlight>
              </a:rPr>
              <a:t>In words of K </a:t>
            </a:r>
            <a:r>
              <a:rPr lang="en-US" sz="2400" b="0" i="0" dirty="0" err="1">
                <a:solidFill>
                  <a:srgbClr val="000000"/>
                </a:solidFill>
                <a:effectLst/>
                <a:highlight>
                  <a:srgbClr val="FFFFFF"/>
                </a:highlight>
              </a:rPr>
              <a:t>Aswathappa</a:t>
            </a:r>
            <a:r>
              <a:rPr lang="en-US" sz="2400" b="0" i="0" dirty="0">
                <a:solidFill>
                  <a:srgbClr val="000000"/>
                </a:solidFill>
                <a:effectLst/>
                <a:highlight>
                  <a:srgbClr val="FFFFFF"/>
                </a:highlight>
              </a:rPr>
              <a:t>, “OB is the study of human behaviour in </a:t>
            </a:r>
            <a:r>
              <a:rPr lang="en-US" sz="2400" b="0" i="0" dirty="0" err="1">
                <a:solidFill>
                  <a:srgbClr val="000000"/>
                </a:solidFill>
                <a:effectLst/>
                <a:highlight>
                  <a:srgbClr val="FFFFFF"/>
                </a:highlight>
              </a:rPr>
              <a:t>organisational</a:t>
            </a:r>
            <a:r>
              <a:rPr lang="en-US" sz="2400" b="0" i="0" dirty="0">
                <a:solidFill>
                  <a:srgbClr val="000000"/>
                </a:solidFill>
                <a:effectLst/>
                <a:highlight>
                  <a:srgbClr val="FFFFFF"/>
                </a:highlight>
              </a:rPr>
              <a:t> setting, of the interface between human behaviour and </a:t>
            </a:r>
            <a:r>
              <a:rPr lang="en-US" sz="2400" b="0" i="0" dirty="0" err="1">
                <a:solidFill>
                  <a:srgbClr val="000000"/>
                </a:solidFill>
                <a:effectLst/>
                <a:highlight>
                  <a:srgbClr val="FFFFFF"/>
                </a:highlight>
              </a:rPr>
              <a:t>organisation</a:t>
            </a:r>
            <a:r>
              <a:rPr lang="en-US" sz="2400" b="0" i="0" dirty="0">
                <a:solidFill>
                  <a:srgbClr val="000000"/>
                </a:solidFill>
                <a:effectLst/>
                <a:highlight>
                  <a:srgbClr val="FFFFFF"/>
                </a:highlight>
              </a:rPr>
              <a:t> and of the organization itself.”</a:t>
            </a:r>
            <a:endParaRPr lang="en-IN" sz="2400" dirty="0"/>
          </a:p>
        </p:txBody>
      </p:sp>
    </p:spTree>
    <p:extLst>
      <p:ext uri="{BB962C8B-B14F-4D97-AF65-F5344CB8AC3E}">
        <p14:creationId xmlns:p14="http://schemas.microsoft.com/office/powerpoint/2010/main" val="1241086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pPr algn="just"/>
            <a:r>
              <a:rPr lang="en-US" sz="2400" dirty="0">
                <a:effectLst/>
                <a:ea typeface="Times New Roman" panose="02020603050405020304" pitchFamily="18" charset="0"/>
                <a:cs typeface="Times New Roman" panose="02020603050405020304" pitchFamily="18" charset="0"/>
              </a:rPr>
              <a:t> It builds better relationships by achieving, people, organizational, and social objectives.</a:t>
            </a:r>
          </a:p>
          <a:p>
            <a:pPr algn="just"/>
            <a:r>
              <a:rPr lang="en-US" sz="2400" dirty="0">
                <a:effectLst/>
                <a:ea typeface="Times New Roman" panose="02020603050405020304" pitchFamily="18" charset="0"/>
                <a:cs typeface="Times New Roman" panose="02020603050405020304" pitchFamily="18" charset="0"/>
              </a:rPr>
              <a:t>It covers a wide collection of human resources like Behavior, training and development, change management, leadership, teams, etc.</a:t>
            </a:r>
          </a:p>
          <a:p>
            <a:pPr algn="just"/>
            <a:r>
              <a:rPr lang="en-US" sz="2400" dirty="0">
                <a:effectLst/>
                <a:ea typeface="Times New Roman" panose="02020603050405020304" pitchFamily="18" charset="0"/>
                <a:cs typeface="Times New Roman" panose="02020603050405020304" pitchFamily="18" charset="0"/>
              </a:rPr>
              <a:t>It improves the goodwill of the organization.</a:t>
            </a:r>
          </a:p>
          <a:p>
            <a:pPr algn="just"/>
            <a:r>
              <a:rPr lang="en-US" sz="2400" dirty="0">
                <a:effectLst/>
                <a:ea typeface="Times New Roman" panose="02020603050405020304" pitchFamily="18" charset="0"/>
                <a:cs typeface="Times New Roman" panose="02020603050405020304" pitchFamily="18" charset="0"/>
              </a:rPr>
              <a:t>It helps to achieve objectives quickly.</a:t>
            </a:r>
          </a:p>
          <a:p>
            <a:pPr algn="just"/>
            <a:r>
              <a:rPr lang="en-US" sz="2400" dirty="0">
                <a:effectLst/>
                <a:ea typeface="Times New Roman" panose="02020603050405020304" pitchFamily="18" charset="0"/>
                <a:cs typeface="Times New Roman" panose="02020603050405020304" pitchFamily="18" charset="0"/>
              </a:rPr>
              <a:t> It makes optimum utilization of resources.</a:t>
            </a:r>
          </a:p>
          <a:p>
            <a:pPr algn="just"/>
            <a:r>
              <a:rPr lang="en-US" sz="2400" dirty="0">
                <a:effectLst/>
                <a:ea typeface="Times New Roman" panose="02020603050405020304" pitchFamily="18" charset="0"/>
                <a:cs typeface="Times New Roman" panose="02020603050405020304" pitchFamily="18" charset="0"/>
              </a:rPr>
              <a:t>It improves relations in the organization.</a:t>
            </a:r>
          </a:p>
          <a:p>
            <a:pPr algn="just"/>
            <a:r>
              <a:rPr lang="en-US" sz="2400" dirty="0">
                <a:effectLst/>
                <a:ea typeface="Times New Roman" panose="02020603050405020304" pitchFamily="18" charset="0"/>
                <a:cs typeface="Times New Roman" panose="02020603050405020304" pitchFamily="18" charset="0"/>
              </a:rPr>
              <a:t>It helps in motivation.</a:t>
            </a:r>
          </a:p>
          <a:p>
            <a:pPr algn="just"/>
            <a:endParaRPr lang="en-US" sz="2400" dirty="0">
              <a:effectLst/>
              <a:ea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Importance of Organizational behavior </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138455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fontScale="92500" lnSpcReduction="10000"/>
          </a:bodyPr>
          <a:lstStyle/>
          <a:p>
            <a:pPr algn="just"/>
            <a:r>
              <a:rPr lang="en-US" sz="2400" dirty="0">
                <a:effectLst/>
                <a:ea typeface="Times New Roman" panose="02020603050405020304" pitchFamily="18" charset="0"/>
                <a:cs typeface="Times New Roman" panose="02020603050405020304" pitchFamily="18" charset="0"/>
              </a:rPr>
              <a:t>A retail store is having issues keeping its shelves stocked. There are three different departments that influence the shelf stock: floor team, warehouse team, and unload team. The Location supervisor addresses all three teams together to ask them what they think is the cause of the problem. After a long discussion, the warehouse and unload teams take responsibility and work between and within their groups to find a solution. Because the issue was addressed on the group level, this is an example of meso-level organizational behavior.</a:t>
            </a:r>
          </a:p>
          <a:p>
            <a:pPr algn="just"/>
            <a:endParaRPr lang="en-US" sz="2400" dirty="0">
              <a:effectLst/>
              <a:ea typeface="Times New Roman" panose="02020603050405020304" pitchFamily="18" charset="0"/>
              <a:cs typeface="Times New Roman" panose="02020603050405020304" pitchFamily="18" charset="0"/>
            </a:endParaRPr>
          </a:p>
          <a:p>
            <a:pPr algn="just"/>
            <a:r>
              <a:rPr lang="en-US" sz="2400" b="1" dirty="0">
                <a:effectLst/>
                <a:ea typeface="Times New Roman" panose="02020603050405020304" pitchFamily="18" charset="0"/>
                <a:cs typeface="Times New Roman" panose="02020603050405020304" pitchFamily="18" charset="0"/>
              </a:rPr>
              <a:t>Macro-level example: </a:t>
            </a:r>
            <a:r>
              <a:rPr lang="en-US" sz="2400" dirty="0">
                <a:effectLst/>
                <a:ea typeface="Times New Roman" panose="02020603050405020304" pitchFamily="18" charset="0"/>
                <a:cs typeface="Times New Roman" panose="02020603050405020304" pitchFamily="18" charset="0"/>
              </a:rPr>
              <a:t>A technology company is having trouble with employee retention. The CEO has found that they cannot retain employees for more than 6 months. He decides to re-examine the culture of the company that he had a hand in creating. He found that the culture of the company focused too much on productivity and the employees were becoming dissatisfied. The CEO decides to work with the supervisors to reimagine the company's culture. Because this issue was addressed on a company-wide level, this is an example of macro-level organizational behavior.</a:t>
            </a:r>
          </a:p>
          <a:p>
            <a:pPr algn="just"/>
            <a:br>
              <a:rPr lang="en-US" sz="2400" dirty="0">
                <a:effectLst/>
                <a:ea typeface="Times New Roman" panose="02020603050405020304" pitchFamily="18" charset="0"/>
                <a:cs typeface="Times New Roman" panose="02020603050405020304" pitchFamily="18" charset="0"/>
              </a:rPr>
            </a:br>
            <a:endParaRPr lang="en-US" sz="2400" dirty="0">
              <a:effectLst/>
              <a:ea typeface="Times New Roman" panose="02020603050405020304" pitchFamily="18" charset="0"/>
              <a:cs typeface="Times New Roman" panose="02020603050405020304" pitchFamily="18" charset="0"/>
            </a:endParaRPr>
          </a:p>
          <a:p>
            <a:pPr algn="just"/>
            <a:endParaRPr lang="en-US" sz="2400" dirty="0">
              <a:effectLst/>
              <a:ea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Example of Organizational behavior </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1395346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Scope of Organizational behaviour </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11" name="Content Placeholder 10">
            <a:extLst>
              <a:ext uri="{FF2B5EF4-FFF2-40B4-BE49-F238E27FC236}">
                <a16:creationId xmlns:a16="http://schemas.microsoft.com/office/drawing/2014/main" id="{CAFE37BA-5BD0-7CCD-F484-978C6F82604A}"/>
              </a:ext>
            </a:extLst>
          </p:cNvPr>
          <p:cNvGraphicFramePr>
            <a:graphicFrameLocks noGrp="1"/>
          </p:cNvGraphicFramePr>
          <p:nvPr>
            <p:ph idx="1"/>
            <p:extLst>
              <p:ext uri="{D42A27DB-BD31-4B8C-83A1-F6EECF244321}">
                <p14:modId xmlns:p14="http://schemas.microsoft.com/office/powerpoint/2010/main" val="2813190820"/>
              </p:ext>
            </p:extLst>
          </p:nvPr>
        </p:nvGraphicFramePr>
        <p:xfrm>
          <a:off x="381000" y="947268"/>
          <a:ext cx="10824628"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6400827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Applications of OB in management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B1D21D8A-B258-66F0-03BF-4A3BF927B099}"/>
              </a:ext>
            </a:extLst>
          </p:cNvPr>
          <p:cNvSpPr>
            <a:spLocks noGrp="1"/>
          </p:cNvSpPr>
          <p:nvPr>
            <p:ph idx="1"/>
          </p:nvPr>
        </p:nvSpPr>
        <p:spPr>
          <a:xfrm>
            <a:off x="838200" y="947267"/>
            <a:ext cx="10515600" cy="5409081"/>
          </a:xfrm>
        </p:spPr>
        <p:txBody>
          <a:bodyPr>
            <a:normAutofit/>
          </a:bodyPr>
          <a:lstStyle/>
          <a:p>
            <a:pPr algn="just">
              <a:buFont typeface="Wingdings" panose="05000000000000000000" pitchFamily="2" charset="2"/>
              <a:buChar char="v"/>
            </a:pPr>
            <a:r>
              <a:rPr lang="en-US" sz="2400" dirty="0">
                <a:cs typeface="Times New Roman" pitchFamily="18" charset="0"/>
              </a:rPr>
              <a:t>Responding to Globalization</a:t>
            </a:r>
          </a:p>
          <a:p>
            <a:pPr algn="just">
              <a:buFont typeface="Wingdings" panose="05000000000000000000" pitchFamily="2" charset="2"/>
              <a:buChar char="v"/>
            </a:pPr>
            <a:r>
              <a:rPr lang="en-US" sz="2400" dirty="0">
                <a:cs typeface="Times New Roman" pitchFamily="18" charset="0"/>
              </a:rPr>
              <a:t>Managing workforce diversity</a:t>
            </a:r>
          </a:p>
          <a:p>
            <a:pPr algn="just">
              <a:buFont typeface="Wingdings" panose="05000000000000000000" pitchFamily="2" charset="2"/>
              <a:buChar char="v"/>
            </a:pPr>
            <a:r>
              <a:rPr lang="en-US" sz="2400" dirty="0">
                <a:cs typeface="Times New Roman" pitchFamily="18" charset="0"/>
              </a:rPr>
              <a:t>Improving quality &amp; productivity</a:t>
            </a:r>
          </a:p>
          <a:p>
            <a:pPr algn="just">
              <a:buFont typeface="Wingdings" panose="05000000000000000000" pitchFamily="2" charset="2"/>
              <a:buChar char="v"/>
            </a:pPr>
            <a:r>
              <a:rPr lang="en-US" sz="2400" dirty="0">
                <a:cs typeface="Times New Roman" pitchFamily="18" charset="0"/>
              </a:rPr>
              <a:t>Improving people skills</a:t>
            </a:r>
          </a:p>
          <a:p>
            <a:pPr algn="just">
              <a:buFont typeface="Wingdings" panose="05000000000000000000" pitchFamily="2" charset="2"/>
              <a:buChar char="v"/>
            </a:pPr>
            <a:r>
              <a:rPr lang="en-US" sz="2400" dirty="0">
                <a:cs typeface="Times New Roman" pitchFamily="18" charset="0"/>
              </a:rPr>
              <a:t>Stimulating Innovation and Change</a:t>
            </a:r>
          </a:p>
          <a:p>
            <a:pPr algn="just">
              <a:buFont typeface="Wingdings" panose="05000000000000000000" pitchFamily="2" charset="2"/>
              <a:buChar char="v"/>
            </a:pPr>
            <a:r>
              <a:rPr lang="en-US" sz="2400" dirty="0">
                <a:cs typeface="Times New Roman" pitchFamily="18" charset="0"/>
              </a:rPr>
              <a:t>Work-life balance</a:t>
            </a:r>
          </a:p>
        </p:txBody>
      </p:sp>
      <p:pic>
        <p:nvPicPr>
          <p:cNvPr id="9" name="Picture 8">
            <a:extLst>
              <a:ext uri="{FF2B5EF4-FFF2-40B4-BE49-F238E27FC236}">
                <a16:creationId xmlns:a16="http://schemas.microsoft.com/office/drawing/2014/main" id="{00C64DD7-C2DB-7C11-5591-A75DE87A3011}"/>
              </a:ext>
            </a:extLst>
          </p:cNvPr>
          <p:cNvPicPr>
            <a:picLocks noChangeAspect="1"/>
          </p:cNvPicPr>
          <p:nvPr/>
        </p:nvPicPr>
        <p:blipFill>
          <a:blip r:embed="rId4"/>
          <a:stretch>
            <a:fillRect/>
          </a:stretch>
        </p:blipFill>
        <p:spPr>
          <a:xfrm>
            <a:off x="7696200" y="3995307"/>
            <a:ext cx="3657600" cy="2023939"/>
          </a:xfrm>
          <a:prstGeom prst="rect">
            <a:avLst/>
          </a:prstGeom>
        </p:spPr>
      </p:pic>
    </p:spTree>
    <p:extLst>
      <p:ext uri="{BB962C8B-B14F-4D97-AF65-F5344CB8AC3E}">
        <p14:creationId xmlns:p14="http://schemas.microsoft.com/office/powerpoint/2010/main" val="17938234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ea typeface="+mn-ea"/>
                <a:cs typeface="Times New Roman" panose="02020603050405020304" pitchFamily="18" charset="0"/>
              </a:rPr>
              <a:t>Daily Quiz</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4351338"/>
          </a:xfrm>
        </p:spPr>
        <p:txBody>
          <a:bodyPr>
            <a:normAutofit fontScale="92500" lnSpcReduction="10000"/>
          </a:bodyPr>
          <a:lstStyle/>
          <a:p>
            <a:pPr marL="0" indent="0">
              <a:buNone/>
            </a:pPr>
            <a:r>
              <a:rPr lang="en-US" sz="2400" b="0" i="0" dirty="0">
                <a:solidFill>
                  <a:srgbClr val="1E293B"/>
                </a:solidFill>
                <a:effectLst/>
                <a:highlight>
                  <a:srgbClr val="FFFFFF"/>
                </a:highlight>
              </a:rPr>
              <a:t> </a:t>
            </a:r>
            <a:r>
              <a:rPr lang="en-US" sz="2400" b="1" i="0" dirty="0" err="1">
                <a:solidFill>
                  <a:srgbClr val="202124"/>
                </a:solidFill>
                <a:effectLst/>
                <a:latin typeface="Times New Roman" panose="02020603050405020304" pitchFamily="18" charset="0"/>
                <a:cs typeface="Times New Roman" panose="02020603050405020304" pitchFamily="18" charset="0"/>
              </a:rPr>
              <a:t>Organisational</a:t>
            </a:r>
            <a:r>
              <a:rPr lang="en-US" sz="2400" b="1" i="0" dirty="0">
                <a:solidFill>
                  <a:srgbClr val="202124"/>
                </a:solidFill>
                <a:effectLst/>
                <a:latin typeface="Times New Roman" panose="02020603050405020304" pitchFamily="18" charset="0"/>
                <a:cs typeface="Times New Roman" panose="02020603050405020304" pitchFamily="18" charset="0"/>
              </a:rPr>
              <a:t> </a:t>
            </a:r>
            <a:r>
              <a:rPr lang="en-US" sz="2400" b="1" i="0" dirty="0" err="1">
                <a:solidFill>
                  <a:srgbClr val="202124"/>
                </a:solidFill>
                <a:effectLst/>
                <a:latin typeface="Times New Roman" panose="02020603050405020304" pitchFamily="18" charset="0"/>
                <a:cs typeface="Times New Roman" panose="02020603050405020304" pitchFamily="18" charset="0"/>
              </a:rPr>
              <a:t>behaviour</a:t>
            </a:r>
            <a:r>
              <a:rPr lang="en-US" sz="2400" b="1" i="0" dirty="0">
                <a:solidFill>
                  <a:srgbClr val="202124"/>
                </a:solidFill>
                <a:effectLst/>
                <a:latin typeface="Times New Roman" panose="02020603050405020304" pitchFamily="18" charset="0"/>
                <a:cs typeface="Times New Roman" panose="02020603050405020304" pitchFamily="18" charset="0"/>
              </a:rPr>
              <a:t> is</a:t>
            </a:r>
            <a:r>
              <a:rPr lang="en-US" sz="2400" b="0" i="0" dirty="0">
                <a:solidFill>
                  <a:srgbClr val="202124"/>
                </a:solidFill>
                <a:effectLst/>
                <a:latin typeface="Times New Roman" panose="02020603050405020304" pitchFamily="18" charset="0"/>
                <a:cs typeface="Times New Roman" panose="02020603050405020304" pitchFamily="18" charset="0"/>
              </a:rPr>
              <a:t>_______</a:t>
            </a:r>
          </a:p>
          <a:p>
            <a:pPr marL="0" indent="0" algn="l">
              <a:buNone/>
            </a:pPr>
            <a:r>
              <a:rPr lang="en-US" sz="2400" b="0" i="0" dirty="0">
                <a:solidFill>
                  <a:srgbClr val="202124"/>
                </a:solidFill>
                <a:effectLst/>
                <a:latin typeface="Times New Roman" panose="02020603050405020304" pitchFamily="18" charset="0"/>
                <a:cs typeface="Times New Roman" panose="02020603050405020304" pitchFamily="18" charset="0"/>
              </a:rPr>
              <a:t>a) A science</a:t>
            </a:r>
          </a:p>
          <a:p>
            <a:pPr marL="0" indent="0" algn="l">
              <a:buNone/>
            </a:pPr>
            <a:r>
              <a:rPr lang="en-US" sz="2400" b="0" i="0" dirty="0">
                <a:solidFill>
                  <a:srgbClr val="202124"/>
                </a:solidFill>
                <a:effectLst/>
                <a:latin typeface="Times New Roman" panose="02020603050405020304" pitchFamily="18" charset="0"/>
                <a:cs typeface="Times New Roman" panose="02020603050405020304" pitchFamily="18" charset="0"/>
              </a:rPr>
              <a:t>b) An art</a:t>
            </a:r>
          </a:p>
          <a:p>
            <a:pPr marL="0" indent="0" algn="l">
              <a:buNone/>
            </a:pPr>
            <a:r>
              <a:rPr lang="en-US" sz="2400" b="0" i="0" dirty="0">
                <a:solidFill>
                  <a:srgbClr val="202124"/>
                </a:solidFill>
                <a:effectLst/>
                <a:latin typeface="Times New Roman" panose="02020603050405020304" pitchFamily="18" charset="0"/>
                <a:cs typeface="Times New Roman" panose="02020603050405020304" pitchFamily="18" charset="0"/>
              </a:rPr>
              <a:t>c) A science as well as an art</a:t>
            </a:r>
          </a:p>
          <a:p>
            <a:pPr marL="0" indent="0" algn="l">
              <a:buNone/>
            </a:pPr>
            <a:r>
              <a:rPr lang="en-US" sz="2400" b="0" i="0" dirty="0">
                <a:solidFill>
                  <a:srgbClr val="202124"/>
                </a:solidFill>
                <a:effectLst/>
                <a:latin typeface="Times New Roman" panose="02020603050405020304" pitchFamily="18" charset="0"/>
                <a:cs typeface="Times New Roman" panose="02020603050405020304" pitchFamily="18" charset="0"/>
              </a:rPr>
              <a:t>d) None of the above</a:t>
            </a:r>
          </a:p>
          <a:p>
            <a:pPr marL="0" indent="0" algn="l">
              <a:buNone/>
            </a:pPr>
            <a:endParaRPr lang="en-US" sz="2400" dirty="0">
              <a:solidFill>
                <a:srgbClr val="202124"/>
              </a:solidFill>
              <a:latin typeface="Times New Roman" panose="02020603050405020304" pitchFamily="18" charset="0"/>
              <a:cs typeface="Times New Roman" panose="02020603050405020304" pitchFamily="18" charset="0"/>
            </a:endParaRPr>
          </a:p>
          <a:p>
            <a:pPr marL="0" indent="0" algn="l">
              <a:buNone/>
            </a:pPr>
            <a:r>
              <a:rPr lang="en-US" sz="2400" b="1" i="0" dirty="0">
                <a:solidFill>
                  <a:srgbClr val="202124"/>
                </a:solidFill>
                <a:effectLst/>
                <a:latin typeface="Times New Roman" panose="02020603050405020304" pitchFamily="18" charset="0"/>
                <a:cs typeface="Times New Roman" panose="02020603050405020304" pitchFamily="18" charset="0"/>
              </a:rPr>
              <a:t>A study of the culture and </a:t>
            </a:r>
            <a:r>
              <a:rPr lang="en-US" sz="2400" b="1" i="0" dirty="0" err="1">
                <a:solidFill>
                  <a:srgbClr val="202124"/>
                </a:solidFill>
                <a:effectLst/>
                <a:latin typeface="Times New Roman" panose="02020603050405020304" pitchFamily="18" charset="0"/>
                <a:cs typeface="Times New Roman" panose="02020603050405020304" pitchFamily="18" charset="0"/>
              </a:rPr>
              <a:t>practises</a:t>
            </a:r>
            <a:r>
              <a:rPr lang="en-US" sz="2400" b="1" i="0" dirty="0">
                <a:solidFill>
                  <a:srgbClr val="202124"/>
                </a:solidFill>
                <a:effectLst/>
                <a:latin typeface="Times New Roman" panose="02020603050405020304" pitchFamily="18" charset="0"/>
                <a:cs typeface="Times New Roman" panose="02020603050405020304" pitchFamily="18" charset="0"/>
              </a:rPr>
              <a:t> in different societies is called</a:t>
            </a:r>
            <a:r>
              <a:rPr lang="en-US" sz="2400" b="0" i="0" dirty="0">
                <a:solidFill>
                  <a:srgbClr val="202124"/>
                </a:solidFill>
                <a:effectLst/>
                <a:latin typeface="Times New Roman" panose="02020603050405020304" pitchFamily="18" charset="0"/>
                <a:cs typeface="Times New Roman" panose="02020603050405020304" pitchFamily="18" charset="0"/>
              </a:rPr>
              <a:t> _____</a:t>
            </a:r>
          </a:p>
          <a:p>
            <a:pPr marL="0" indent="0" algn="l">
              <a:buNone/>
            </a:pPr>
            <a:r>
              <a:rPr lang="en-US" sz="2400" b="0" i="0" dirty="0">
                <a:solidFill>
                  <a:srgbClr val="202124"/>
                </a:solidFill>
                <a:effectLst/>
                <a:latin typeface="Times New Roman" panose="02020603050405020304" pitchFamily="18" charset="0"/>
                <a:cs typeface="Times New Roman" panose="02020603050405020304" pitchFamily="18" charset="0"/>
              </a:rPr>
              <a:t>a) Personality</a:t>
            </a:r>
          </a:p>
          <a:p>
            <a:pPr marL="0" indent="0" algn="l">
              <a:buNone/>
            </a:pPr>
            <a:r>
              <a:rPr lang="en-US" sz="2400" b="0" i="0" dirty="0">
                <a:solidFill>
                  <a:srgbClr val="202124"/>
                </a:solidFill>
                <a:effectLst/>
                <a:latin typeface="Times New Roman" panose="02020603050405020304" pitchFamily="18" charset="0"/>
                <a:cs typeface="Times New Roman" panose="02020603050405020304" pitchFamily="18" charset="0"/>
              </a:rPr>
              <a:t>b) Anthropology</a:t>
            </a:r>
          </a:p>
          <a:p>
            <a:pPr marL="0" indent="0" algn="l">
              <a:buNone/>
            </a:pPr>
            <a:r>
              <a:rPr lang="en-US" sz="2400" b="0" i="0" dirty="0">
                <a:solidFill>
                  <a:srgbClr val="202124"/>
                </a:solidFill>
                <a:effectLst/>
                <a:latin typeface="Times New Roman" panose="02020603050405020304" pitchFamily="18" charset="0"/>
                <a:cs typeface="Times New Roman" panose="02020603050405020304" pitchFamily="18" charset="0"/>
              </a:rPr>
              <a:t>c) Perception</a:t>
            </a:r>
          </a:p>
          <a:p>
            <a:pPr marL="0" indent="0" algn="l">
              <a:buNone/>
            </a:pPr>
            <a:r>
              <a:rPr lang="en-US" sz="2400" b="0" i="0" dirty="0">
                <a:solidFill>
                  <a:srgbClr val="202124"/>
                </a:solidFill>
                <a:effectLst/>
                <a:latin typeface="Times New Roman" panose="02020603050405020304" pitchFamily="18" charset="0"/>
                <a:cs typeface="Times New Roman" panose="02020603050405020304" pitchFamily="18" charset="0"/>
              </a:rPr>
              <a:t>d) Attitudes</a:t>
            </a:r>
          </a:p>
          <a:p>
            <a:endParaRPr lang="en-IN" sz="2400" dirty="0"/>
          </a:p>
        </p:txBody>
      </p:sp>
    </p:spTree>
    <p:extLst>
      <p:ext uri="{BB962C8B-B14F-4D97-AF65-F5344CB8AC3E}">
        <p14:creationId xmlns:p14="http://schemas.microsoft.com/office/powerpoint/2010/main" val="3904976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Daily Quiz</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5468144"/>
          </a:xfrm>
        </p:spPr>
        <p:txBody>
          <a:bodyPr>
            <a:normAutofit/>
          </a:bodyPr>
          <a:lstStyle/>
          <a:p>
            <a:pPr marL="0" indent="0" algn="l">
              <a:buNone/>
            </a:pPr>
            <a:r>
              <a:rPr lang="en-US" sz="2400" b="1" i="0" dirty="0">
                <a:solidFill>
                  <a:srgbClr val="202124"/>
                </a:solidFill>
                <a:effectLst/>
                <a:latin typeface="Times New Roman" panose="02020603050405020304" pitchFamily="18" charset="0"/>
                <a:cs typeface="Times New Roman" panose="02020603050405020304" pitchFamily="18" charset="0"/>
              </a:rPr>
              <a:t>In present context, challenges for Organizational </a:t>
            </a:r>
            <a:r>
              <a:rPr lang="en-US" sz="2400" b="1" i="0" dirty="0" err="1">
                <a:solidFill>
                  <a:srgbClr val="202124"/>
                </a:solidFill>
                <a:effectLst/>
                <a:latin typeface="Times New Roman" panose="02020603050405020304" pitchFamily="18" charset="0"/>
                <a:cs typeface="Times New Roman" panose="02020603050405020304" pitchFamily="18" charset="0"/>
              </a:rPr>
              <a:t>Behaviour</a:t>
            </a:r>
            <a:r>
              <a:rPr lang="en-US" sz="2400" b="1" i="0" dirty="0">
                <a:solidFill>
                  <a:srgbClr val="202124"/>
                </a:solidFill>
                <a:effectLst/>
                <a:latin typeface="Times New Roman" panose="02020603050405020304" pitchFamily="18" charset="0"/>
                <a:cs typeface="Times New Roman" panose="02020603050405020304" pitchFamily="18" charset="0"/>
              </a:rPr>
              <a:t> are</a:t>
            </a:r>
            <a:r>
              <a:rPr lang="en-US" sz="2400" b="0" i="0" dirty="0">
                <a:solidFill>
                  <a:srgbClr val="202124"/>
                </a:solidFill>
                <a:effectLst/>
                <a:latin typeface="Times New Roman" panose="02020603050405020304" pitchFamily="18" charset="0"/>
                <a:cs typeface="Times New Roman" panose="02020603050405020304" pitchFamily="18" charset="0"/>
              </a:rPr>
              <a:t> _____</a:t>
            </a:r>
          </a:p>
          <a:p>
            <a:pPr marL="0" indent="0" algn="l">
              <a:buNone/>
            </a:pPr>
            <a:r>
              <a:rPr lang="en-US" sz="2400" b="0" i="0" dirty="0">
                <a:solidFill>
                  <a:srgbClr val="202124"/>
                </a:solidFill>
                <a:effectLst/>
                <a:latin typeface="Times New Roman" panose="02020603050405020304" pitchFamily="18" charset="0"/>
                <a:cs typeface="Times New Roman" panose="02020603050405020304" pitchFamily="18" charset="0"/>
              </a:rPr>
              <a:t>a) Employee expectation</a:t>
            </a:r>
          </a:p>
          <a:p>
            <a:pPr marL="0" indent="0" algn="l">
              <a:buNone/>
            </a:pPr>
            <a:r>
              <a:rPr lang="en-US" sz="2400" b="0" i="0" dirty="0">
                <a:solidFill>
                  <a:srgbClr val="202124"/>
                </a:solidFill>
                <a:effectLst/>
                <a:latin typeface="Times New Roman" panose="02020603050405020304" pitchFamily="18" charset="0"/>
                <a:cs typeface="Times New Roman" panose="02020603050405020304" pitchFamily="18" charset="0"/>
              </a:rPr>
              <a:t>b) Workforce diversity</a:t>
            </a:r>
          </a:p>
          <a:p>
            <a:pPr marL="0" indent="0" algn="l">
              <a:buNone/>
            </a:pPr>
            <a:r>
              <a:rPr lang="en-US" sz="2400" b="0" i="0" dirty="0">
                <a:solidFill>
                  <a:srgbClr val="202124"/>
                </a:solidFill>
                <a:effectLst/>
                <a:latin typeface="Times New Roman" panose="02020603050405020304" pitchFamily="18" charset="0"/>
                <a:cs typeface="Times New Roman" panose="02020603050405020304" pitchFamily="18" charset="0"/>
              </a:rPr>
              <a:t>c) Globalization</a:t>
            </a:r>
          </a:p>
          <a:p>
            <a:pPr marL="0" indent="0" algn="l">
              <a:buNone/>
            </a:pPr>
            <a:r>
              <a:rPr lang="en-US" sz="2400" b="0" i="0" dirty="0">
                <a:solidFill>
                  <a:srgbClr val="202124"/>
                </a:solidFill>
                <a:effectLst/>
                <a:latin typeface="Times New Roman" panose="02020603050405020304" pitchFamily="18" charset="0"/>
                <a:cs typeface="Times New Roman" panose="02020603050405020304" pitchFamily="18" charset="0"/>
              </a:rPr>
              <a:t>d) All of the above</a:t>
            </a:r>
          </a:p>
          <a:p>
            <a:pPr marL="0" indent="0">
              <a:buNone/>
            </a:pPr>
            <a:endParaRPr lang="en-US" sz="2400" dirty="0">
              <a:solidFill>
                <a:srgbClr val="202124"/>
              </a:solidFill>
              <a:latin typeface="Times New Roman" panose="02020603050405020304" pitchFamily="18" charset="0"/>
              <a:cs typeface="Times New Roman" panose="02020603050405020304" pitchFamily="18" charset="0"/>
            </a:endParaRPr>
          </a:p>
          <a:p>
            <a:pPr marL="0" indent="0" algn="l">
              <a:buNone/>
            </a:pPr>
            <a:r>
              <a:rPr lang="en-US" sz="2400" b="1" i="0" dirty="0">
                <a:solidFill>
                  <a:srgbClr val="202124"/>
                </a:solidFill>
                <a:effectLst/>
                <a:latin typeface="Times New Roman" panose="02020603050405020304" pitchFamily="18" charset="0"/>
                <a:cs typeface="Times New Roman" panose="02020603050405020304" pitchFamily="18" charset="0"/>
              </a:rPr>
              <a:t>The term ‘psychology’ is derived from the word ‘psyche’, which means ‘soul’ or ‘spirit’</a:t>
            </a:r>
            <a:r>
              <a:rPr lang="en-US" sz="2400" b="0" i="0" dirty="0">
                <a:solidFill>
                  <a:srgbClr val="202124"/>
                </a:solidFill>
                <a:effectLst/>
                <a:latin typeface="Times New Roman" panose="02020603050405020304" pitchFamily="18" charset="0"/>
                <a:cs typeface="Times New Roman" panose="02020603050405020304" pitchFamily="18" charset="0"/>
              </a:rPr>
              <a:t>_______</a:t>
            </a:r>
          </a:p>
          <a:p>
            <a:pPr marL="0" indent="0" algn="l">
              <a:buNone/>
            </a:pPr>
            <a:r>
              <a:rPr lang="en-US" sz="2400" b="0" i="0" dirty="0">
                <a:solidFill>
                  <a:srgbClr val="202124"/>
                </a:solidFill>
                <a:effectLst/>
                <a:latin typeface="Times New Roman" panose="02020603050405020304" pitchFamily="18" charset="0"/>
                <a:cs typeface="Times New Roman" panose="02020603050405020304" pitchFamily="18" charset="0"/>
              </a:rPr>
              <a:t>a) Latin</a:t>
            </a:r>
          </a:p>
          <a:p>
            <a:pPr marL="0" indent="0" algn="l">
              <a:buNone/>
            </a:pPr>
            <a:r>
              <a:rPr lang="en-US" sz="2400" b="0" i="0" dirty="0">
                <a:solidFill>
                  <a:srgbClr val="202124"/>
                </a:solidFill>
                <a:effectLst/>
                <a:latin typeface="Times New Roman" panose="02020603050405020304" pitchFamily="18" charset="0"/>
                <a:cs typeface="Times New Roman" panose="02020603050405020304" pitchFamily="18" charset="0"/>
              </a:rPr>
              <a:t>b) French</a:t>
            </a:r>
          </a:p>
          <a:p>
            <a:pPr marL="0" indent="0" algn="l">
              <a:buNone/>
            </a:pPr>
            <a:r>
              <a:rPr lang="en-US" sz="2400" b="0" i="0" dirty="0">
                <a:solidFill>
                  <a:srgbClr val="202124"/>
                </a:solidFill>
                <a:effectLst/>
                <a:latin typeface="Times New Roman" panose="02020603050405020304" pitchFamily="18" charset="0"/>
                <a:cs typeface="Times New Roman" panose="02020603050405020304" pitchFamily="18" charset="0"/>
              </a:rPr>
              <a:t>c) Greek</a:t>
            </a:r>
          </a:p>
          <a:p>
            <a:pPr marL="0" indent="0" algn="l">
              <a:buNone/>
            </a:pPr>
            <a:r>
              <a:rPr lang="en-US" sz="2400" b="0" i="0" dirty="0">
                <a:solidFill>
                  <a:srgbClr val="202124"/>
                </a:solidFill>
                <a:effectLst/>
                <a:latin typeface="Times New Roman" panose="02020603050405020304" pitchFamily="18" charset="0"/>
                <a:cs typeface="Times New Roman" panose="02020603050405020304" pitchFamily="18" charset="0"/>
              </a:rPr>
              <a:t>d) None of these</a:t>
            </a:r>
          </a:p>
          <a:p>
            <a:endParaRPr lang="en-IN" sz="2400" dirty="0"/>
          </a:p>
        </p:txBody>
      </p:sp>
    </p:spTree>
    <p:extLst>
      <p:ext uri="{BB962C8B-B14F-4D97-AF65-F5344CB8AC3E}">
        <p14:creationId xmlns:p14="http://schemas.microsoft.com/office/powerpoint/2010/main" val="13354733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Globalization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5468144"/>
          </a:xfrm>
        </p:spPr>
        <p:txBody>
          <a:bodyPr>
            <a:normAutofit/>
          </a:bodyPr>
          <a:lstStyle/>
          <a:p>
            <a:pPr marL="0" indent="0" algn="just">
              <a:buNone/>
            </a:pPr>
            <a:r>
              <a:rPr lang="en-US" sz="2400" dirty="0"/>
              <a:t>Globalization is the process that improves interaction by integrating society, culture, politics, and business worldwide. Globalization is the integration of any market with the global economy.</a:t>
            </a:r>
          </a:p>
          <a:p>
            <a:pPr marL="0" indent="0" algn="just">
              <a:buNone/>
            </a:pPr>
            <a:r>
              <a:rPr lang="en-US" sz="2400" dirty="0"/>
              <a:t>In short, Globalization refers to the complex economic networks of international competition, resource suppliers, and product markets.</a:t>
            </a:r>
            <a:endParaRPr lang="en-IN" sz="2400" dirty="0"/>
          </a:p>
        </p:txBody>
      </p:sp>
      <p:pic>
        <p:nvPicPr>
          <p:cNvPr id="3" name="Picture 2">
            <a:extLst>
              <a:ext uri="{FF2B5EF4-FFF2-40B4-BE49-F238E27FC236}">
                <a16:creationId xmlns:a16="http://schemas.microsoft.com/office/drawing/2014/main" id="{253E764B-1C52-6C31-A8E2-9872FF6A74FD}"/>
              </a:ext>
            </a:extLst>
          </p:cNvPr>
          <p:cNvPicPr>
            <a:picLocks noChangeAspect="1"/>
          </p:cNvPicPr>
          <p:nvPr/>
        </p:nvPicPr>
        <p:blipFill>
          <a:blip r:embed="rId4"/>
          <a:stretch>
            <a:fillRect/>
          </a:stretch>
        </p:blipFill>
        <p:spPr>
          <a:xfrm>
            <a:off x="1333500" y="3243942"/>
            <a:ext cx="9525000" cy="3112407"/>
          </a:xfrm>
          <a:prstGeom prst="rect">
            <a:avLst/>
          </a:prstGeom>
        </p:spPr>
      </p:pic>
    </p:spTree>
    <p:extLst>
      <p:ext uri="{BB962C8B-B14F-4D97-AF65-F5344CB8AC3E}">
        <p14:creationId xmlns:p14="http://schemas.microsoft.com/office/powerpoint/2010/main" val="3134001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Globalization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5468144"/>
          </a:xfrm>
        </p:spPr>
        <p:txBody>
          <a:bodyPr>
            <a:normAutofit/>
          </a:bodyPr>
          <a:lstStyle/>
          <a:p>
            <a:pPr algn="just"/>
            <a:r>
              <a:rPr lang="en-US" sz="2400" b="0" i="0" dirty="0">
                <a:effectLst/>
                <a:latin typeface="Times New Roman" panose="02020603050405020304" pitchFamily="18" charset="0"/>
                <a:cs typeface="Times New Roman" panose="02020603050405020304" pitchFamily="18" charset="0"/>
              </a:rPr>
              <a:t>Before globalization national borders were perfectly separated and businesses were free from any foreign competition. </a:t>
            </a:r>
          </a:p>
          <a:p>
            <a:pPr algn="just"/>
            <a:r>
              <a:rPr lang="en-US" sz="2400" b="0" i="0" dirty="0">
                <a:effectLst/>
                <a:latin typeface="Times New Roman" panose="02020603050405020304" pitchFamily="18" charset="0"/>
                <a:cs typeface="Times New Roman" panose="02020603050405020304" pitchFamily="18" charset="0"/>
              </a:rPr>
              <a:t>Today world is a global village where multinationals are spreading their business across the world. </a:t>
            </a:r>
          </a:p>
          <a:p>
            <a:pPr algn="just"/>
            <a:r>
              <a:rPr lang="en-US" sz="2400" b="0" i="0" dirty="0">
                <a:effectLst/>
                <a:latin typeface="Times New Roman" panose="02020603050405020304" pitchFamily="18" charset="0"/>
                <a:cs typeface="Times New Roman" panose="02020603050405020304" pitchFamily="18" charset="0"/>
              </a:rPr>
              <a:t>At the same time large pool of workforce are chasing down job opportunities across national borders.</a:t>
            </a:r>
            <a:endParaRPr lang="en-IN" sz="2400" dirty="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1531152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Impact of Globalization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461428" y="1209747"/>
            <a:ext cx="10515600" cy="4788282"/>
          </a:xfrm>
        </p:spPr>
        <p:txBody>
          <a:bodyPr>
            <a:normAutofit/>
          </a:bodyPr>
          <a:lstStyle/>
          <a:p>
            <a:pPr algn="just"/>
            <a:r>
              <a:rPr lang="en-US" sz="2400" dirty="0"/>
              <a:t>Diverse Workforce</a:t>
            </a:r>
          </a:p>
          <a:p>
            <a:pPr algn="just"/>
            <a:r>
              <a:rPr lang="en-US" sz="2400" dirty="0"/>
              <a:t>Communication Challenges</a:t>
            </a:r>
          </a:p>
          <a:p>
            <a:pPr algn="just"/>
            <a:r>
              <a:rPr lang="en-US" sz="2400" dirty="0"/>
              <a:t>Global Teams</a:t>
            </a:r>
          </a:p>
          <a:p>
            <a:pPr algn="just"/>
            <a:r>
              <a:rPr lang="en-US" sz="2400" dirty="0"/>
              <a:t>Leadership</a:t>
            </a:r>
          </a:p>
          <a:p>
            <a:pPr algn="just"/>
            <a:r>
              <a:rPr lang="en-US" sz="2400" dirty="0"/>
              <a:t>Ethics and Responsibility</a:t>
            </a:r>
          </a:p>
          <a:p>
            <a:pPr algn="just"/>
            <a:r>
              <a:rPr lang="en-US" sz="2400" dirty="0"/>
              <a:t>Training and Development</a:t>
            </a:r>
          </a:p>
          <a:p>
            <a:pPr marL="0" indent="0" algn="just">
              <a:buNone/>
            </a:pPr>
            <a:endParaRPr lang="en-US" sz="2400" dirty="0"/>
          </a:p>
          <a:p>
            <a:pPr marL="0" indent="0" algn="just">
              <a:buNone/>
            </a:pPr>
            <a:endParaRPr lang="en-US" sz="2400" dirty="0"/>
          </a:p>
          <a:p>
            <a:pPr marL="0" indent="0" algn="just">
              <a:buNone/>
            </a:pPr>
            <a:endParaRPr lang="en-US" sz="2400" dirty="0"/>
          </a:p>
          <a:p>
            <a:pPr marL="0" indent="0" algn="just">
              <a:buNone/>
            </a:pPr>
            <a:endParaRPr lang="en-US" sz="2400" dirty="0"/>
          </a:p>
        </p:txBody>
      </p:sp>
    </p:spTree>
    <p:extLst>
      <p:ext uri="{BB962C8B-B14F-4D97-AF65-F5344CB8AC3E}">
        <p14:creationId xmlns:p14="http://schemas.microsoft.com/office/powerpoint/2010/main" val="23249110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Culture</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5468144"/>
          </a:xfrm>
        </p:spPr>
        <p:txBody>
          <a:bodyPr>
            <a:normAutofit/>
          </a:bodyPr>
          <a:lstStyle/>
          <a:p>
            <a:pPr algn="just"/>
            <a:r>
              <a:rPr lang="en-US" sz="2400" dirty="0"/>
              <a:t>Organizational culture can be defined as the group norms, values, beliefs and assumptions practiced in an organization. It brings stability and control within the firm. The organization is more stable and its objective can be understood more clearly.</a:t>
            </a:r>
          </a:p>
          <a:p>
            <a:pPr algn="just"/>
            <a:endParaRPr lang="en-US" sz="2400" dirty="0"/>
          </a:p>
          <a:p>
            <a:pPr algn="just"/>
            <a:r>
              <a:rPr lang="en-US" sz="2400" dirty="0"/>
              <a:t>Organizational culture helps the group members to resolve their differences, overcome the barriers and also helps them in tackling risks.</a:t>
            </a:r>
          </a:p>
        </p:txBody>
      </p:sp>
    </p:spTree>
    <p:extLst>
      <p:ext uri="{BB962C8B-B14F-4D97-AF65-F5344CB8AC3E}">
        <p14:creationId xmlns:p14="http://schemas.microsoft.com/office/powerpoint/2010/main" val="25130575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Elements of Organizational Culture</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5468144"/>
          </a:xfrm>
        </p:spPr>
        <p:txBody>
          <a:bodyPr>
            <a:normAutofit/>
          </a:bodyPr>
          <a:lstStyle/>
          <a:p>
            <a:pPr algn="just"/>
            <a:r>
              <a:rPr lang="en-US" sz="2400" dirty="0"/>
              <a:t>The two key elements seen in organizational culture are −</a:t>
            </a:r>
          </a:p>
          <a:p>
            <a:pPr algn="just"/>
            <a:r>
              <a:rPr lang="en-US" sz="2400" b="1" dirty="0"/>
              <a:t>Visible elements − </a:t>
            </a:r>
            <a:r>
              <a:rPr lang="en-US" sz="2400" dirty="0"/>
              <a:t>These elements are seen by the outer world. Example, dress code, activities, setup, etc.</a:t>
            </a:r>
          </a:p>
          <a:p>
            <a:pPr algn="just"/>
            <a:r>
              <a:rPr lang="en-US" sz="2400" b="1" dirty="0"/>
              <a:t>Invisible elements − </a:t>
            </a:r>
            <a:r>
              <a:rPr lang="en-US" sz="2400" dirty="0"/>
              <a:t>These inner elements of the group cannot be seen by people outside the group or firm. Example, values, norms, assumptions, </a:t>
            </a:r>
            <a:r>
              <a:rPr lang="en-US" sz="2400" dirty="0" err="1"/>
              <a:t>etc</a:t>
            </a:r>
            <a:endParaRPr lang="en-US" sz="2400" dirty="0"/>
          </a:p>
          <a:p>
            <a:pPr algn="just"/>
            <a:r>
              <a:rPr lang="en-US" sz="2400" dirty="0"/>
              <a:t> Now let us discuss some other elements of organizational culture. They are −</a:t>
            </a:r>
          </a:p>
          <a:p>
            <a:pPr algn="just"/>
            <a:r>
              <a:rPr lang="en-US" sz="2400" b="1" dirty="0"/>
              <a:t>Stories − </a:t>
            </a:r>
            <a:r>
              <a:rPr lang="en-US" sz="2400" dirty="0"/>
              <a:t>Stories regarding the history of the firm, or founder.</a:t>
            </a:r>
          </a:p>
          <a:p>
            <a:pPr algn="just"/>
            <a:r>
              <a:rPr lang="en-US" sz="2400" b="1" dirty="0"/>
              <a:t>Rituals − </a:t>
            </a:r>
            <a:r>
              <a:rPr lang="en-US" sz="2400" dirty="0"/>
              <a:t>Precise practices an organization follows as a habit.</a:t>
            </a:r>
          </a:p>
          <a:p>
            <a:pPr algn="just"/>
            <a:r>
              <a:rPr lang="en-US" sz="2400" dirty="0"/>
              <a:t>.</a:t>
            </a:r>
          </a:p>
        </p:txBody>
      </p:sp>
    </p:spTree>
    <p:extLst>
      <p:ext uri="{BB962C8B-B14F-4D97-AF65-F5344CB8AC3E}">
        <p14:creationId xmlns:p14="http://schemas.microsoft.com/office/powerpoint/2010/main" val="36113055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Types of Organizational Culture</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2157015"/>
            <a:ext cx="10515600" cy="3254078"/>
          </a:xfrm>
        </p:spPr>
        <p:txBody>
          <a:bodyPr>
            <a:normAutofit/>
          </a:bodyPr>
          <a:lstStyle/>
          <a:p>
            <a:pPr algn="just"/>
            <a:r>
              <a:rPr lang="en-US" sz="2400" dirty="0"/>
              <a:t>.</a:t>
            </a:r>
          </a:p>
        </p:txBody>
      </p:sp>
      <p:pic>
        <p:nvPicPr>
          <p:cNvPr id="1026" name="Picture 2">
            <a:extLst>
              <a:ext uri="{FF2B5EF4-FFF2-40B4-BE49-F238E27FC236}">
                <a16:creationId xmlns:a16="http://schemas.microsoft.com/office/drawing/2014/main" id="{F3C3C0DB-E670-102A-AB8F-52749F51F9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500" y="1355718"/>
            <a:ext cx="9525000" cy="3831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14190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Globalization and Culture</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a:t>
            </a:r>
          </a:p>
        </p:txBody>
      </p:sp>
      <p:sp>
        <p:nvSpPr>
          <p:cNvPr id="13" name="TextBox 12">
            <a:extLst>
              <a:ext uri="{FF2B5EF4-FFF2-40B4-BE49-F238E27FC236}">
                <a16:creationId xmlns:a16="http://schemas.microsoft.com/office/drawing/2014/main" id="{B7CDDDD1-0AE0-F73E-1DDF-59407E2F950E}"/>
              </a:ext>
            </a:extLst>
          </p:cNvPr>
          <p:cNvSpPr txBox="1"/>
          <p:nvPr/>
        </p:nvSpPr>
        <p:spPr>
          <a:xfrm>
            <a:off x="1200757" y="1217570"/>
            <a:ext cx="10704885" cy="830997"/>
          </a:xfrm>
          <a:prstGeom prst="rect">
            <a:avLst/>
          </a:prstGeom>
          <a:noFill/>
        </p:spPr>
        <p:txBody>
          <a:bodyPr wrap="square">
            <a:spAutoFit/>
          </a:bodyPr>
          <a:lstStyle/>
          <a:p>
            <a:r>
              <a:rPr lang="en-US" sz="2400" dirty="0"/>
              <a:t>As globalization has fostered the thought of multiculturalism, the relationship between culture and organizational behavior has become increasingly valued.</a:t>
            </a:r>
          </a:p>
        </p:txBody>
      </p:sp>
      <p:pic>
        <p:nvPicPr>
          <p:cNvPr id="14" name="Picture 5">
            <a:extLst>
              <a:ext uri="{FF2B5EF4-FFF2-40B4-BE49-F238E27FC236}">
                <a16:creationId xmlns:a16="http://schemas.microsoft.com/office/drawing/2014/main" id="{0B14D3FE-23D6-6E86-A825-EDAE0C1893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7688" y="2580336"/>
            <a:ext cx="5616624" cy="2843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09252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Diversity</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a:t>
            </a:r>
          </a:p>
        </p:txBody>
      </p:sp>
      <p:sp>
        <p:nvSpPr>
          <p:cNvPr id="13" name="TextBox 12">
            <a:extLst>
              <a:ext uri="{FF2B5EF4-FFF2-40B4-BE49-F238E27FC236}">
                <a16:creationId xmlns:a16="http://schemas.microsoft.com/office/drawing/2014/main" id="{B7CDDDD1-0AE0-F73E-1DDF-59407E2F950E}"/>
              </a:ext>
            </a:extLst>
          </p:cNvPr>
          <p:cNvSpPr txBox="1"/>
          <p:nvPr/>
        </p:nvSpPr>
        <p:spPr>
          <a:xfrm>
            <a:off x="1200757" y="1217570"/>
            <a:ext cx="10004871" cy="3785652"/>
          </a:xfrm>
          <a:prstGeom prst="rect">
            <a:avLst/>
          </a:prstGeom>
          <a:noFill/>
        </p:spPr>
        <p:txBody>
          <a:bodyPr wrap="square">
            <a:spAutoFit/>
          </a:bodyPr>
          <a:lstStyle/>
          <a:p>
            <a:pPr algn="just"/>
            <a:r>
              <a:rPr lang="en-US" sz="2400" dirty="0"/>
              <a:t>Cultural diversity is geared toward having a deep respect and understanding of the various people in the organization.</a:t>
            </a:r>
          </a:p>
          <a:p>
            <a:pPr algn="just"/>
            <a:r>
              <a:rPr lang="en-US" sz="2400" dirty="0"/>
              <a:t> </a:t>
            </a:r>
          </a:p>
          <a:p>
            <a:pPr algn="just"/>
            <a:r>
              <a:rPr lang="en-US" sz="2400" dirty="0"/>
              <a:t>This organization aspect is strengthened by feedback, teamwork, team-building activities and interpersonal communication. </a:t>
            </a:r>
          </a:p>
          <a:p>
            <a:pPr algn="just"/>
            <a:endParaRPr lang="en-US" sz="2400" dirty="0"/>
          </a:p>
          <a:p>
            <a:pPr algn="just"/>
            <a:r>
              <a:rPr lang="en-US" sz="2400" dirty="0"/>
              <a:t>During such engagements, individuals are able to interact and appreciate each other’s culture; consequently, an accommodating culture and organizational behavior is established within the organization.</a:t>
            </a:r>
          </a:p>
          <a:p>
            <a:r>
              <a:rPr lang="en-US" sz="2400" dirty="0"/>
              <a:t>.</a:t>
            </a:r>
          </a:p>
        </p:txBody>
      </p:sp>
    </p:spTree>
    <p:extLst>
      <p:ext uri="{BB962C8B-B14F-4D97-AF65-F5344CB8AC3E}">
        <p14:creationId xmlns:p14="http://schemas.microsoft.com/office/powerpoint/2010/main" val="17707181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Globalization and Leadership</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a:t>
            </a:r>
          </a:p>
        </p:txBody>
      </p:sp>
      <p:sp>
        <p:nvSpPr>
          <p:cNvPr id="13" name="TextBox 12">
            <a:extLst>
              <a:ext uri="{FF2B5EF4-FFF2-40B4-BE49-F238E27FC236}">
                <a16:creationId xmlns:a16="http://schemas.microsoft.com/office/drawing/2014/main" id="{B7CDDDD1-0AE0-F73E-1DDF-59407E2F950E}"/>
              </a:ext>
            </a:extLst>
          </p:cNvPr>
          <p:cNvSpPr txBox="1"/>
          <p:nvPr/>
        </p:nvSpPr>
        <p:spPr>
          <a:xfrm>
            <a:off x="1200757" y="1217570"/>
            <a:ext cx="10004871" cy="4154984"/>
          </a:xfrm>
          <a:prstGeom prst="rect">
            <a:avLst/>
          </a:prstGeom>
          <a:noFill/>
        </p:spPr>
        <p:txBody>
          <a:bodyPr wrap="square">
            <a:spAutoFit/>
          </a:bodyPr>
          <a:lstStyle/>
          <a:p>
            <a:pPr algn="just"/>
            <a:r>
              <a:rPr lang="en-US" sz="2400" dirty="0"/>
              <a:t>Leadership might be universal in terms of a kind of social process but that the content of leadership was affected by the culture. </a:t>
            </a:r>
          </a:p>
          <a:p>
            <a:pPr algn="just"/>
            <a:r>
              <a:rPr lang="en-US" sz="2400" dirty="0"/>
              <a:t>Different cultures would lead to different contents, styles and effectiveness of leadership. </a:t>
            </a:r>
          </a:p>
          <a:p>
            <a:pPr algn="just"/>
            <a:r>
              <a:rPr lang="en-US" sz="2400" dirty="0"/>
              <a:t>In most situations, leadership styles might not reveal leaders’ personal will, but reflect the culture and tradition of the societies they are in.  </a:t>
            </a:r>
          </a:p>
          <a:p>
            <a:pPr algn="just"/>
            <a:r>
              <a:rPr lang="en-US" sz="2400" dirty="0"/>
              <a:t>Moreover, the effectiveness of leadership would also be influenced by local social context. For example: Defining, measuring and rewarding performance in the same way does not work well across functions, business units and occupations.</a:t>
            </a:r>
          </a:p>
          <a:p>
            <a:r>
              <a:rPr lang="en-US" sz="2400" dirty="0"/>
              <a:t>.</a:t>
            </a:r>
          </a:p>
        </p:txBody>
      </p:sp>
    </p:spTree>
    <p:extLst>
      <p:ext uri="{BB962C8B-B14F-4D97-AF65-F5344CB8AC3E}">
        <p14:creationId xmlns:p14="http://schemas.microsoft.com/office/powerpoint/2010/main" val="32415726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2800" i="0" u="none" strike="noStrike" kern="1200" cap="none" spc="0" normalizeH="0" baseline="0" noProof="0" dirty="0">
                <a:ln>
                  <a:noFill/>
                </a:ln>
                <a:solidFill>
                  <a:srgbClr val="2D2D2D"/>
                </a:solidFill>
                <a:effectLst/>
                <a:uLnTx/>
                <a:uFillTx/>
                <a:latin typeface="Times New Roman" panose="02020603050405020304" pitchFamily="18" charset="0"/>
                <a:ea typeface="+mn-ea"/>
                <a:cs typeface="Times New Roman" panose="02020603050405020304" pitchFamily="18" charset="0"/>
              </a:rPr>
              <a:t>Importance of OB in understanding Human behaviour</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a:t>
            </a:r>
          </a:p>
        </p:txBody>
      </p:sp>
      <p:sp>
        <p:nvSpPr>
          <p:cNvPr id="13" name="TextBox 12">
            <a:extLst>
              <a:ext uri="{FF2B5EF4-FFF2-40B4-BE49-F238E27FC236}">
                <a16:creationId xmlns:a16="http://schemas.microsoft.com/office/drawing/2014/main" id="{B7CDDDD1-0AE0-F73E-1DDF-59407E2F950E}"/>
              </a:ext>
            </a:extLst>
          </p:cNvPr>
          <p:cNvSpPr txBox="1"/>
          <p:nvPr/>
        </p:nvSpPr>
        <p:spPr>
          <a:xfrm>
            <a:off x="1200757" y="1217570"/>
            <a:ext cx="10004871" cy="3416320"/>
          </a:xfrm>
          <a:prstGeom prst="rect">
            <a:avLst/>
          </a:prstGeom>
          <a:noFill/>
        </p:spPr>
        <p:txBody>
          <a:bodyPr wrap="square">
            <a:spAutoFit/>
          </a:bodyPr>
          <a:lstStyle/>
          <a:p>
            <a:pPr algn="just"/>
            <a:r>
              <a:rPr lang="en-US" sz="2400" dirty="0"/>
              <a:t>Impact of Personality on performance</a:t>
            </a:r>
          </a:p>
          <a:p>
            <a:pPr algn="just"/>
            <a:r>
              <a:rPr lang="en-US" sz="2400" dirty="0"/>
              <a:t>Employee motivation</a:t>
            </a:r>
          </a:p>
          <a:p>
            <a:pPr algn="just"/>
            <a:r>
              <a:rPr lang="en-US" sz="2400" dirty="0"/>
              <a:t>Leadership</a:t>
            </a:r>
          </a:p>
          <a:p>
            <a:pPr algn="just"/>
            <a:r>
              <a:rPr lang="en-US" sz="2400" dirty="0"/>
              <a:t>Perception</a:t>
            </a:r>
          </a:p>
          <a:p>
            <a:pPr algn="just"/>
            <a:r>
              <a:rPr lang="en-US" sz="2400" dirty="0"/>
              <a:t>Individual behavior</a:t>
            </a:r>
          </a:p>
          <a:p>
            <a:pPr algn="just"/>
            <a:r>
              <a:rPr lang="en-US" sz="2400" dirty="0"/>
              <a:t>Attitude</a:t>
            </a:r>
          </a:p>
          <a:p>
            <a:pPr algn="just"/>
            <a:r>
              <a:rPr lang="en-US" sz="2400" dirty="0"/>
              <a:t>Management of Change</a:t>
            </a:r>
          </a:p>
          <a:p>
            <a:pPr algn="just"/>
            <a:r>
              <a:rPr lang="en-US" sz="2400" dirty="0"/>
              <a:t>Management of Stress and Conflict</a:t>
            </a:r>
          </a:p>
          <a:p>
            <a:pPr algn="just"/>
            <a:r>
              <a:rPr lang="en-US" sz="2400" dirty="0"/>
              <a:t>Organizational development</a:t>
            </a:r>
          </a:p>
        </p:txBody>
      </p:sp>
    </p:spTree>
    <p:extLst>
      <p:ext uri="{BB962C8B-B14F-4D97-AF65-F5344CB8AC3E}">
        <p14:creationId xmlns:p14="http://schemas.microsoft.com/office/powerpoint/2010/main" val="7448695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i="0" u="none" strike="noStrike" kern="1200" cap="none" spc="0" normalizeH="0" baseline="0" noProof="0" dirty="0">
                <a:ln>
                  <a:noFill/>
                </a:ln>
                <a:solidFill>
                  <a:prstClr val="black"/>
                </a:solidFill>
                <a:effectLst/>
                <a:uLnTx/>
                <a:uFillTx/>
                <a:cs typeface="Times New Roman" panose="02020603050405020304" pitchFamily="18" charset="0"/>
              </a:rPr>
              <a:t>Cognitive pro</a:t>
            </a:r>
            <a:r>
              <a:rPr lang="en-US" dirty="0" err="1">
                <a:solidFill>
                  <a:prstClr val="black"/>
                </a:solidFill>
                <a:cs typeface="Times New Roman" panose="02020603050405020304" pitchFamily="18" charset="0"/>
              </a:rPr>
              <a:t>cesses</a:t>
            </a:r>
            <a:endParaRPr kumimoji="0" lang="en-US" i="0" u="none" strike="noStrike" kern="1200" cap="none" spc="0" normalizeH="0" baseline="0" noProof="0" dirty="0">
              <a:ln>
                <a:noFill/>
              </a:ln>
              <a:solidFill>
                <a:prstClr val="black"/>
              </a:solidFill>
              <a:effectLst/>
              <a:uLnTx/>
              <a:uFillTx/>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 Cognitive processes refer to the mental activities and functioning of the brain involved in acquiring, processing, storing, and applying knowledge and information.</a:t>
            </a:r>
          </a:p>
        </p:txBody>
      </p:sp>
      <p:pic>
        <p:nvPicPr>
          <p:cNvPr id="3" name="Picture 2">
            <a:extLst>
              <a:ext uri="{FF2B5EF4-FFF2-40B4-BE49-F238E27FC236}">
                <a16:creationId xmlns:a16="http://schemas.microsoft.com/office/drawing/2014/main" id="{7BB9DB6B-811E-BA62-F9A9-505B6EF59569}"/>
              </a:ext>
            </a:extLst>
          </p:cNvPr>
          <p:cNvPicPr>
            <a:picLocks noChangeAspect="1"/>
          </p:cNvPicPr>
          <p:nvPr/>
        </p:nvPicPr>
        <p:blipFill rotWithShape="1">
          <a:blip r:embed="rId4"/>
          <a:srcRect b="7888"/>
          <a:stretch/>
        </p:blipFill>
        <p:spPr>
          <a:xfrm>
            <a:off x="1731322" y="2166257"/>
            <a:ext cx="8729356" cy="4321630"/>
          </a:xfrm>
          <a:prstGeom prst="rect">
            <a:avLst/>
          </a:prstGeom>
        </p:spPr>
      </p:pic>
    </p:spTree>
    <p:extLst>
      <p:ext uri="{BB962C8B-B14F-4D97-AF65-F5344CB8AC3E}">
        <p14:creationId xmlns:p14="http://schemas.microsoft.com/office/powerpoint/2010/main" val="1036982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i="0" u="none" strike="noStrike" kern="1200" cap="none" spc="0" normalizeH="0" baseline="0" noProof="0" dirty="0">
                <a:ln>
                  <a:noFill/>
                </a:ln>
                <a:solidFill>
                  <a:prstClr val="black"/>
                </a:solidFill>
                <a:effectLst/>
                <a:uLnTx/>
                <a:uFillTx/>
                <a:cs typeface="Times New Roman" panose="02020603050405020304" pitchFamily="18" charset="0"/>
              </a:rPr>
              <a:t>Types of Cognitive Processes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Attention</a:t>
            </a:r>
          </a:p>
          <a:p>
            <a:pPr algn="just"/>
            <a:r>
              <a:rPr lang="en-US" sz="2400" dirty="0"/>
              <a:t>Language</a:t>
            </a:r>
          </a:p>
          <a:p>
            <a:pPr algn="just"/>
            <a:r>
              <a:rPr lang="en-US" sz="2400" dirty="0"/>
              <a:t>Learning</a:t>
            </a:r>
          </a:p>
          <a:p>
            <a:pPr algn="just"/>
            <a:r>
              <a:rPr lang="en-US" sz="2400" dirty="0"/>
              <a:t>Memory</a:t>
            </a:r>
          </a:p>
          <a:p>
            <a:pPr algn="just"/>
            <a:r>
              <a:rPr lang="en-US" sz="2400" dirty="0"/>
              <a:t>Perception</a:t>
            </a:r>
          </a:p>
          <a:p>
            <a:pPr algn="just"/>
            <a:r>
              <a:rPr lang="en-US" sz="2400" dirty="0"/>
              <a:t>Thought</a:t>
            </a:r>
          </a:p>
        </p:txBody>
      </p:sp>
    </p:spTree>
    <p:extLst>
      <p:ext uri="{BB962C8B-B14F-4D97-AF65-F5344CB8AC3E}">
        <p14:creationId xmlns:p14="http://schemas.microsoft.com/office/powerpoint/2010/main" val="23644129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Perception</a:t>
            </a:r>
            <a:endParaRPr kumimoji="0" lang="en-US" i="0" u="none" strike="noStrike" kern="1200" cap="none" spc="0" normalizeH="0" baseline="0" noProof="0" dirty="0">
              <a:ln>
                <a:noFill/>
              </a:ln>
              <a:solidFill>
                <a:prstClr val="black"/>
              </a:solidFill>
              <a:effectLst/>
              <a:uLnTx/>
              <a:uFillTx/>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Perception is a cognitive process that allows people to take in information through their senses, then utilize this information to respond and interact with the world.</a:t>
            </a:r>
          </a:p>
          <a:p>
            <a:pPr marL="0" indent="0" algn="just">
              <a:buNone/>
            </a:pPr>
            <a:endParaRPr lang="en-US" sz="2400" dirty="0"/>
          </a:p>
          <a:p>
            <a:pPr algn="just"/>
            <a:r>
              <a:rPr lang="en-US" sz="2400" dirty="0"/>
              <a:t>Perception is the process of receiving information and making sense of the world around us. It involves deciding which information to notice, how to categorize this information and how to interpret it within the framework of existing knowledge.</a:t>
            </a:r>
          </a:p>
        </p:txBody>
      </p:sp>
    </p:spTree>
    <p:extLst>
      <p:ext uri="{BB962C8B-B14F-4D97-AF65-F5344CB8AC3E}">
        <p14:creationId xmlns:p14="http://schemas.microsoft.com/office/powerpoint/2010/main" val="22254522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Process of Perception</a:t>
            </a:r>
            <a:endParaRPr kumimoji="0" lang="en-US" i="0" u="none" strike="noStrike" kern="1200" cap="none" spc="0" normalizeH="0" baseline="0" noProof="0" dirty="0">
              <a:ln>
                <a:noFill/>
              </a:ln>
              <a:solidFill>
                <a:prstClr val="black"/>
              </a:solidFill>
              <a:effectLst/>
              <a:uLnTx/>
              <a:uFillTx/>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3" name="Content Placeholder 2">
            <a:extLst>
              <a:ext uri="{FF2B5EF4-FFF2-40B4-BE49-F238E27FC236}">
                <a16:creationId xmlns:a16="http://schemas.microsoft.com/office/drawing/2014/main" id="{9E50BF92-0E2D-59DA-F377-1FF0BF89CB69}"/>
              </a:ext>
            </a:extLst>
          </p:cNvPr>
          <p:cNvPicPr>
            <a:picLocks noGrp="1" noChangeAspect="1"/>
          </p:cNvPicPr>
          <p:nvPr>
            <p:ph idx="1"/>
          </p:nvPr>
        </p:nvPicPr>
        <p:blipFill rotWithShape="1">
          <a:blip r:embed="rId4"/>
          <a:srcRect b="23717"/>
          <a:stretch/>
        </p:blipFill>
        <p:spPr>
          <a:xfrm>
            <a:off x="1650401" y="1156493"/>
            <a:ext cx="8310027" cy="4732677"/>
          </a:xfrm>
          <a:prstGeom prst="rect">
            <a:avLst/>
          </a:prstGeom>
        </p:spPr>
      </p:pic>
    </p:spTree>
    <p:extLst>
      <p:ext uri="{BB962C8B-B14F-4D97-AF65-F5344CB8AC3E}">
        <p14:creationId xmlns:p14="http://schemas.microsoft.com/office/powerpoint/2010/main" val="2361764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Perception Test</a:t>
            </a:r>
            <a:endParaRPr kumimoji="0" lang="en-US" i="0" u="none" strike="noStrike" kern="1200" cap="none" spc="0" normalizeH="0" baseline="0" noProof="0" dirty="0">
              <a:ln>
                <a:noFill/>
              </a:ln>
              <a:solidFill>
                <a:prstClr val="black"/>
              </a:solidFill>
              <a:effectLst/>
              <a:uLnTx/>
              <a:uFillTx/>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9" name="Picture 2" descr="Can You Pass This Perception Test? QUIZ">
            <a:extLst>
              <a:ext uri="{FF2B5EF4-FFF2-40B4-BE49-F238E27FC236}">
                <a16:creationId xmlns:a16="http://schemas.microsoft.com/office/drawing/2014/main" id="{1BC9246F-8D75-B65F-0052-5C041394D0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8815" y="1508684"/>
            <a:ext cx="8568442"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12853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Factors Influencing Perception</a:t>
            </a:r>
            <a:endParaRPr kumimoji="0" lang="en-US" i="0" u="none" strike="noStrike" kern="1200" cap="none" spc="0" normalizeH="0" baseline="0" noProof="0" dirty="0">
              <a:ln>
                <a:noFill/>
              </a:ln>
              <a:solidFill>
                <a:prstClr val="black"/>
              </a:solidFill>
              <a:effectLst/>
              <a:uLnTx/>
              <a:uFillTx/>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580BE624-8016-D832-1087-DD9722708C67}"/>
              </a:ext>
            </a:extLst>
          </p:cNvPr>
          <p:cNvPicPr>
            <a:picLocks noChangeAspect="1"/>
          </p:cNvPicPr>
          <p:nvPr/>
        </p:nvPicPr>
        <p:blipFill>
          <a:blip r:embed="rId4"/>
          <a:stretch>
            <a:fillRect/>
          </a:stretch>
        </p:blipFill>
        <p:spPr>
          <a:xfrm>
            <a:off x="2079171" y="1038224"/>
            <a:ext cx="8098972" cy="5438775"/>
          </a:xfrm>
          <a:prstGeom prst="rect">
            <a:avLst/>
          </a:prstGeom>
        </p:spPr>
      </p:pic>
    </p:spTree>
    <p:extLst>
      <p:ext uri="{BB962C8B-B14F-4D97-AF65-F5344CB8AC3E}">
        <p14:creationId xmlns:p14="http://schemas.microsoft.com/office/powerpoint/2010/main" val="12331529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Perceptual Organization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01516BBE-5479-34AD-DFC5-AF679898842D}"/>
              </a:ext>
            </a:extLst>
          </p:cNvPr>
          <p:cNvSpPr txBox="1"/>
          <p:nvPr/>
        </p:nvSpPr>
        <p:spPr>
          <a:xfrm>
            <a:off x="627143" y="947268"/>
            <a:ext cx="10578485" cy="1569660"/>
          </a:xfrm>
          <a:prstGeom prst="rect">
            <a:avLst/>
          </a:prstGeom>
          <a:noFill/>
        </p:spPr>
        <p:txBody>
          <a:bodyPr wrap="square">
            <a:spAutoFit/>
          </a:bodyPr>
          <a:lstStyle/>
          <a:p>
            <a:pPr algn="just"/>
            <a:r>
              <a:rPr lang="en-US" sz="2400" dirty="0"/>
              <a:t>Perceptual organization is concerned with process of organizing the inputs into identifiable whole objects. </a:t>
            </a:r>
          </a:p>
          <a:p>
            <a:pPr algn="just"/>
            <a:r>
              <a:rPr lang="en-US" sz="2400" dirty="0"/>
              <a:t> A person’s perceptual process organizes the incoming information into meaningful whole.</a:t>
            </a:r>
          </a:p>
        </p:txBody>
      </p:sp>
      <p:pic>
        <p:nvPicPr>
          <p:cNvPr id="13" name="Picture 12">
            <a:extLst>
              <a:ext uri="{FF2B5EF4-FFF2-40B4-BE49-F238E27FC236}">
                <a16:creationId xmlns:a16="http://schemas.microsoft.com/office/drawing/2014/main" id="{D0A4BCE7-CBC6-6E5C-C7B4-1E9D70DD7DA5}"/>
              </a:ext>
            </a:extLst>
          </p:cNvPr>
          <p:cNvPicPr>
            <a:picLocks noChangeAspect="1"/>
          </p:cNvPicPr>
          <p:nvPr/>
        </p:nvPicPr>
        <p:blipFill>
          <a:blip r:embed="rId4"/>
          <a:stretch>
            <a:fillRect/>
          </a:stretch>
        </p:blipFill>
        <p:spPr>
          <a:xfrm>
            <a:off x="1219200" y="2601686"/>
            <a:ext cx="9753600" cy="3570514"/>
          </a:xfrm>
          <a:prstGeom prst="rect">
            <a:avLst/>
          </a:prstGeom>
        </p:spPr>
      </p:pic>
    </p:spTree>
    <p:extLst>
      <p:ext uri="{BB962C8B-B14F-4D97-AF65-F5344CB8AC3E}">
        <p14:creationId xmlns:p14="http://schemas.microsoft.com/office/powerpoint/2010/main" val="6926365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Principles of Perceptual Organization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9A41892C-3C6B-F4B9-75D0-7AD0DDA6AD5B}"/>
              </a:ext>
            </a:extLst>
          </p:cNvPr>
          <p:cNvPicPr>
            <a:picLocks noChangeAspect="1"/>
          </p:cNvPicPr>
          <p:nvPr/>
        </p:nvPicPr>
        <p:blipFill>
          <a:blip r:embed="rId4"/>
          <a:stretch>
            <a:fillRect/>
          </a:stretch>
        </p:blipFill>
        <p:spPr>
          <a:xfrm>
            <a:off x="1219200" y="1164770"/>
            <a:ext cx="9753600" cy="5007429"/>
          </a:xfrm>
          <a:prstGeom prst="rect">
            <a:avLst/>
          </a:prstGeom>
        </p:spPr>
      </p:pic>
    </p:spTree>
    <p:extLst>
      <p:ext uri="{BB962C8B-B14F-4D97-AF65-F5344CB8AC3E}">
        <p14:creationId xmlns:p14="http://schemas.microsoft.com/office/powerpoint/2010/main" val="7225823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Figure Ground Relationship</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4575A805-7AF9-46D3-D7AC-E4ADA0646D6A}"/>
              </a:ext>
            </a:extLst>
          </p:cNvPr>
          <p:cNvPicPr>
            <a:picLocks noChangeAspect="1"/>
          </p:cNvPicPr>
          <p:nvPr/>
        </p:nvPicPr>
        <p:blipFill rotWithShape="1">
          <a:blip r:embed="rId4"/>
          <a:srcRect b="62699"/>
          <a:stretch/>
        </p:blipFill>
        <p:spPr>
          <a:xfrm>
            <a:off x="838200" y="857250"/>
            <a:ext cx="10367428" cy="1918607"/>
          </a:xfrm>
          <a:prstGeom prst="rect">
            <a:avLst/>
          </a:prstGeom>
        </p:spPr>
      </p:pic>
      <p:pic>
        <p:nvPicPr>
          <p:cNvPr id="9" name="Picture 8">
            <a:extLst>
              <a:ext uri="{FF2B5EF4-FFF2-40B4-BE49-F238E27FC236}">
                <a16:creationId xmlns:a16="http://schemas.microsoft.com/office/drawing/2014/main" id="{88873845-6B83-ED61-2E49-500C3D46D64D}"/>
              </a:ext>
            </a:extLst>
          </p:cNvPr>
          <p:cNvPicPr>
            <a:picLocks noChangeAspect="1"/>
          </p:cNvPicPr>
          <p:nvPr/>
        </p:nvPicPr>
        <p:blipFill>
          <a:blip r:embed="rId5"/>
          <a:stretch>
            <a:fillRect/>
          </a:stretch>
        </p:blipFill>
        <p:spPr>
          <a:xfrm>
            <a:off x="2895600" y="2830555"/>
            <a:ext cx="6770913" cy="3170195"/>
          </a:xfrm>
          <a:prstGeom prst="rect">
            <a:avLst/>
          </a:prstGeom>
        </p:spPr>
      </p:pic>
    </p:spTree>
    <p:extLst>
      <p:ext uri="{BB962C8B-B14F-4D97-AF65-F5344CB8AC3E}">
        <p14:creationId xmlns:p14="http://schemas.microsoft.com/office/powerpoint/2010/main" val="21719543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Principles of Perceptual Organization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6D8B3122-3BEB-E1CF-A674-67A83E7E30BC}"/>
              </a:ext>
            </a:extLst>
          </p:cNvPr>
          <p:cNvPicPr>
            <a:picLocks noChangeAspect="1"/>
          </p:cNvPicPr>
          <p:nvPr/>
        </p:nvPicPr>
        <p:blipFill>
          <a:blip r:embed="rId4"/>
          <a:stretch>
            <a:fillRect/>
          </a:stretch>
        </p:blipFill>
        <p:spPr>
          <a:xfrm>
            <a:off x="1524000" y="1121229"/>
            <a:ext cx="9144000" cy="4452258"/>
          </a:xfrm>
          <a:prstGeom prst="rect">
            <a:avLst/>
          </a:prstGeom>
        </p:spPr>
      </p:pic>
    </p:spTree>
    <p:extLst>
      <p:ext uri="{BB962C8B-B14F-4D97-AF65-F5344CB8AC3E}">
        <p14:creationId xmlns:p14="http://schemas.microsoft.com/office/powerpoint/2010/main" val="14649216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Errors or Barriers to Perception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E831DA0F-9830-2F01-5D2B-415DC3BBE771}"/>
              </a:ext>
            </a:extLst>
          </p:cNvPr>
          <p:cNvSpPr txBox="1"/>
          <p:nvPr/>
        </p:nvSpPr>
        <p:spPr>
          <a:xfrm>
            <a:off x="446314" y="1194138"/>
            <a:ext cx="10759314" cy="3046988"/>
          </a:xfrm>
          <a:prstGeom prst="rect">
            <a:avLst/>
          </a:prstGeom>
          <a:noFill/>
        </p:spPr>
        <p:txBody>
          <a:bodyPr wrap="square">
            <a:spAutoFit/>
          </a:bodyPr>
          <a:lstStyle/>
          <a:p>
            <a:pPr algn="just"/>
            <a:r>
              <a:rPr lang="en-US" sz="2400" b="1" dirty="0"/>
              <a:t>Selective perception </a:t>
            </a:r>
            <a:r>
              <a:rPr lang="en-US" sz="2400" dirty="0"/>
              <a:t>is a perceptual process in which a person only perceives what he desires to and sets aside or ignores other perceptions or viewpoints.</a:t>
            </a:r>
          </a:p>
          <a:p>
            <a:pPr algn="just"/>
            <a:endParaRPr lang="en-US" sz="2400" dirty="0"/>
          </a:p>
          <a:p>
            <a:pPr algn="just"/>
            <a:r>
              <a:rPr lang="en-US" sz="2400" b="1" dirty="0"/>
              <a:t>Halo Effect- </a:t>
            </a:r>
            <a:r>
              <a:rPr lang="en-US" sz="2400" dirty="0"/>
              <a:t>The "halo effect" is when one trait of a person or thing is used to make an overall judgment of that person or thing. </a:t>
            </a:r>
          </a:p>
          <a:p>
            <a:pPr algn="just"/>
            <a:r>
              <a:rPr lang="en-US" sz="2400" dirty="0"/>
              <a:t>is a perceptual process in which a person only perceives what he desires to and sets aside or ignores other perceptions or viewpoints.</a:t>
            </a:r>
          </a:p>
          <a:p>
            <a:pPr algn="just"/>
            <a:endParaRPr lang="en-US" sz="2400" dirty="0"/>
          </a:p>
        </p:txBody>
      </p:sp>
    </p:spTree>
    <p:extLst>
      <p:ext uri="{BB962C8B-B14F-4D97-AF65-F5344CB8AC3E}">
        <p14:creationId xmlns:p14="http://schemas.microsoft.com/office/powerpoint/2010/main" val="21582051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Errors or Barriers to Perception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E831DA0F-9830-2F01-5D2B-415DC3BBE771}"/>
              </a:ext>
            </a:extLst>
          </p:cNvPr>
          <p:cNvSpPr txBox="1"/>
          <p:nvPr/>
        </p:nvSpPr>
        <p:spPr>
          <a:xfrm>
            <a:off x="446314" y="1194138"/>
            <a:ext cx="10759314" cy="2677656"/>
          </a:xfrm>
          <a:prstGeom prst="rect">
            <a:avLst/>
          </a:prstGeom>
          <a:noFill/>
        </p:spPr>
        <p:txBody>
          <a:bodyPr wrap="square">
            <a:spAutoFit/>
          </a:bodyPr>
          <a:lstStyle/>
          <a:p>
            <a:pPr marL="0" indent="0" algn="just" fontAlgn="auto">
              <a:buNone/>
            </a:pPr>
            <a:r>
              <a:rPr lang="en-US" sz="2400" b="1" i="0" dirty="0">
                <a:effectLst/>
                <a:latin typeface="Times New Roman" panose="02020603050405020304" pitchFamily="18" charset="0"/>
                <a:cs typeface="Times New Roman" panose="02020603050405020304" pitchFamily="18" charset="0"/>
              </a:rPr>
              <a:t>Stereotyping</a:t>
            </a:r>
            <a:r>
              <a:rPr lang="en-US" sz="2400" b="0" i="0" dirty="0">
                <a:effectLst/>
                <a:latin typeface="Times New Roman" panose="02020603050405020304" pitchFamily="18" charset="0"/>
                <a:cs typeface="Times New Roman" panose="02020603050405020304" pitchFamily="18" charset="0"/>
              </a:rPr>
              <a:t>-We always have a tendency to classify people to a general groups /categories in order to simplify the matter. For example-Women are always good homemakers and can do well in work life balance</a:t>
            </a:r>
          </a:p>
          <a:p>
            <a:pPr marL="0" indent="0" algn="just" fontAlgn="auto">
              <a:buNone/>
            </a:pPr>
            <a:endParaRPr lang="en-US" sz="2400" dirty="0">
              <a:latin typeface="Times New Roman" panose="02020603050405020304" pitchFamily="18" charset="0"/>
              <a:cs typeface="Times New Roman" panose="02020603050405020304" pitchFamily="18" charset="0"/>
            </a:endParaRPr>
          </a:p>
          <a:p>
            <a:pPr marL="0" indent="0" algn="just" fontAlgn="auto">
              <a:buNone/>
            </a:pPr>
            <a:r>
              <a:rPr lang="en-US" sz="2400" b="1" i="0" dirty="0">
                <a:effectLst/>
                <a:latin typeface="Times New Roman" panose="02020603050405020304" pitchFamily="18" charset="0"/>
                <a:cs typeface="Times New Roman" panose="02020603050405020304" pitchFamily="18" charset="0"/>
              </a:rPr>
              <a:t>Contrast Effect</a:t>
            </a:r>
            <a:r>
              <a:rPr lang="en-US" sz="2400" b="0" i="0" dirty="0">
                <a:effectLst/>
                <a:latin typeface="Times New Roman" panose="02020603050405020304" pitchFamily="18" charset="0"/>
                <a:cs typeface="Times New Roman" panose="02020603050405020304" pitchFamily="18" charset="0"/>
              </a:rPr>
              <a:t>-We again sometimes judge people in comparison to others . This example generally found in sports, academics and performance review</a:t>
            </a:r>
          </a:p>
          <a:p>
            <a:pPr algn="just"/>
            <a:r>
              <a:rPr lang="en-US" sz="2400" dirty="0"/>
              <a:t> </a:t>
            </a:r>
          </a:p>
        </p:txBody>
      </p:sp>
    </p:spTree>
    <p:extLst>
      <p:ext uri="{BB962C8B-B14F-4D97-AF65-F5344CB8AC3E}">
        <p14:creationId xmlns:p14="http://schemas.microsoft.com/office/powerpoint/2010/main" val="32011564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Errors or Barriers to Perception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E831DA0F-9830-2F01-5D2B-415DC3BBE771}"/>
              </a:ext>
            </a:extLst>
          </p:cNvPr>
          <p:cNvSpPr txBox="1"/>
          <p:nvPr/>
        </p:nvSpPr>
        <p:spPr>
          <a:xfrm>
            <a:off x="446314" y="1194138"/>
            <a:ext cx="10759314" cy="4154984"/>
          </a:xfrm>
          <a:prstGeom prst="rect">
            <a:avLst/>
          </a:prstGeom>
          <a:noFill/>
        </p:spPr>
        <p:txBody>
          <a:bodyPr wrap="square">
            <a:spAutoFit/>
          </a:bodyPr>
          <a:lstStyle/>
          <a:p>
            <a:pPr algn="just" fontAlgn="auto"/>
            <a:r>
              <a:rPr lang="en-US" sz="2400" b="1" i="0" dirty="0">
                <a:effectLst/>
                <a:cs typeface="Times New Roman" panose="02020603050405020304" pitchFamily="18" charset="0"/>
              </a:rPr>
              <a:t>Projection</a:t>
            </a:r>
            <a:r>
              <a:rPr lang="en-US" sz="2400" b="0" i="0" dirty="0">
                <a:effectLst/>
                <a:cs typeface="Times New Roman" panose="02020603050405020304" pitchFamily="18" charset="0"/>
              </a:rPr>
              <a:t>-This is very common among Perceptual errors. Projection of one's own attitude, personality or behavior into some other person. For example- To all honest people, everybody is honest.</a:t>
            </a:r>
          </a:p>
          <a:p>
            <a:pPr algn="just" fontAlgn="auto"/>
            <a:endParaRPr lang="en-US" sz="2400" b="0" i="0" dirty="0">
              <a:effectLst/>
              <a:cs typeface="Times New Roman" panose="02020603050405020304" pitchFamily="18" charset="0"/>
            </a:endParaRPr>
          </a:p>
          <a:p>
            <a:pPr algn="just" fontAlgn="auto"/>
            <a:r>
              <a:rPr lang="en-US" sz="2400" b="1" i="0" dirty="0">
                <a:effectLst/>
                <a:cs typeface="Times New Roman" panose="02020603050405020304" pitchFamily="18" charset="0"/>
              </a:rPr>
              <a:t>Impression</a:t>
            </a:r>
            <a:r>
              <a:rPr lang="en-US" sz="2400" b="0" i="0" dirty="0">
                <a:effectLst/>
                <a:cs typeface="Times New Roman" panose="02020603050405020304" pitchFamily="18" charset="0"/>
              </a:rPr>
              <a:t>-We all know the term "first impression is the last impression" and we apply that too .For example-During the time of hiring, thought like this "The most decent and modest person in the interview can do very well in every roles and responsibilities " always arise.</a:t>
            </a:r>
          </a:p>
          <a:p>
            <a:pPr algn="just" fontAlgn="auto"/>
            <a:endParaRPr lang="en-US" sz="2400" b="0" i="0" dirty="0">
              <a:effectLst/>
              <a:cs typeface="Times New Roman" panose="02020603050405020304" pitchFamily="18" charset="0"/>
            </a:endParaRPr>
          </a:p>
          <a:p>
            <a:pPr algn="just"/>
            <a:r>
              <a:rPr lang="en-US" sz="2400" b="1" dirty="0">
                <a:cs typeface="Times New Roman" panose="02020603050405020304" pitchFamily="18" charset="0"/>
              </a:rPr>
              <a:t>Attribution</a:t>
            </a:r>
            <a:r>
              <a:rPr lang="en-US" sz="2400" dirty="0">
                <a:cs typeface="Times New Roman" panose="02020603050405020304" pitchFamily="18" charset="0"/>
              </a:rPr>
              <a:t> is what happens when a person takes the information they perceived and determines a reason as to what happened</a:t>
            </a:r>
            <a:endParaRPr lang="en-US" sz="2400" dirty="0"/>
          </a:p>
        </p:txBody>
      </p:sp>
    </p:spTree>
    <p:extLst>
      <p:ext uri="{BB962C8B-B14F-4D97-AF65-F5344CB8AC3E}">
        <p14:creationId xmlns:p14="http://schemas.microsoft.com/office/powerpoint/2010/main" val="33185174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Errors or Barriers to Perception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E831DA0F-9830-2F01-5D2B-415DC3BBE771}"/>
              </a:ext>
            </a:extLst>
          </p:cNvPr>
          <p:cNvSpPr txBox="1"/>
          <p:nvPr/>
        </p:nvSpPr>
        <p:spPr>
          <a:xfrm>
            <a:off x="446314" y="1194138"/>
            <a:ext cx="10759314" cy="4154984"/>
          </a:xfrm>
          <a:prstGeom prst="rect">
            <a:avLst/>
          </a:prstGeom>
          <a:noFill/>
        </p:spPr>
        <p:txBody>
          <a:bodyPr wrap="square">
            <a:spAutoFit/>
          </a:bodyPr>
          <a:lstStyle/>
          <a:p>
            <a:pPr algn="just" fontAlgn="auto"/>
            <a:r>
              <a:rPr lang="en-US" sz="2400" b="1" i="0" dirty="0">
                <a:effectLst/>
                <a:cs typeface="Times New Roman" panose="02020603050405020304" pitchFamily="18" charset="0"/>
              </a:rPr>
              <a:t>Projection</a:t>
            </a:r>
            <a:r>
              <a:rPr lang="en-US" sz="2400" b="0" i="0" dirty="0">
                <a:effectLst/>
                <a:cs typeface="Times New Roman" panose="02020603050405020304" pitchFamily="18" charset="0"/>
              </a:rPr>
              <a:t>-This is very common among Perceptual errors. Projection of one's own attitude, personality or behavior into some other person. For example- To all honest people, everybody is honest.</a:t>
            </a:r>
          </a:p>
          <a:p>
            <a:pPr algn="just" fontAlgn="auto"/>
            <a:endParaRPr lang="en-US" sz="2400" b="0" i="0" dirty="0">
              <a:effectLst/>
              <a:cs typeface="Times New Roman" panose="02020603050405020304" pitchFamily="18" charset="0"/>
            </a:endParaRPr>
          </a:p>
          <a:p>
            <a:pPr algn="just" fontAlgn="auto"/>
            <a:r>
              <a:rPr lang="en-US" sz="2400" b="1" i="0" dirty="0">
                <a:effectLst/>
                <a:cs typeface="Times New Roman" panose="02020603050405020304" pitchFamily="18" charset="0"/>
              </a:rPr>
              <a:t>Impression</a:t>
            </a:r>
            <a:r>
              <a:rPr lang="en-US" sz="2400" b="0" i="0" dirty="0">
                <a:effectLst/>
                <a:cs typeface="Times New Roman" panose="02020603050405020304" pitchFamily="18" charset="0"/>
              </a:rPr>
              <a:t>-We all know the term "first impression is the last impression" and we apply that too .For example-During the time of hiring, thought like this "The most decent and modest person in the interview can do very well in every roles and responsibilities " always arise.</a:t>
            </a:r>
          </a:p>
          <a:p>
            <a:pPr algn="just" fontAlgn="auto"/>
            <a:endParaRPr lang="en-US" sz="2400" b="0" i="0" dirty="0">
              <a:effectLst/>
              <a:cs typeface="Times New Roman" panose="02020603050405020304" pitchFamily="18" charset="0"/>
            </a:endParaRPr>
          </a:p>
          <a:p>
            <a:pPr algn="just"/>
            <a:r>
              <a:rPr lang="en-US" sz="2400" b="1" dirty="0">
                <a:cs typeface="Times New Roman" panose="02020603050405020304" pitchFamily="18" charset="0"/>
              </a:rPr>
              <a:t>Attribution</a:t>
            </a:r>
            <a:r>
              <a:rPr lang="en-US" sz="2400" dirty="0">
                <a:cs typeface="Times New Roman" panose="02020603050405020304" pitchFamily="18" charset="0"/>
              </a:rPr>
              <a:t> is what happens when a person takes the information they perceived and determines a reason as to what happened</a:t>
            </a:r>
            <a:endParaRPr lang="en-US" sz="2400" dirty="0"/>
          </a:p>
        </p:txBody>
      </p:sp>
    </p:spTree>
    <p:extLst>
      <p:ext uri="{BB962C8B-B14F-4D97-AF65-F5344CB8AC3E}">
        <p14:creationId xmlns:p14="http://schemas.microsoft.com/office/powerpoint/2010/main" val="7569656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Behavioral Implications of Perception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E831DA0F-9830-2F01-5D2B-415DC3BBE771}"/>
              </a:ext>
            </a:extLst>
          </p:cNvPr>
          <p:cNvSpPr txBox="1"/>
          <p:nvPr/>
        </p:nvSpPr>
        <p:spPr>
          <a:xfrm>
            <a:off x="446314" y="1194138"/>
            <a:ext cx="10759314" cy="4524315"/>
          </a:xfrm>
          <a:prstGeom prst="rect">
            <a:avLst/>
          </a:prstGeom>
          <a:noFill/>
        </p:spPr>
        <p:txBody>
          <a:bodyPr wrap="square">
            <a:spAutoFit/>
          </a:bodyPr>
          <a:lstStyle/>
          <a:p>
            <a:pPr algn="just"/>
            <a:r>
              <a:rPr lang="en-US" sz="2400" dirty="0">
                <a:cs typeface="Times New Roman" panose="02020603050405020304" pitchFamily="18" charset="0"/>
              </a:rPr>
              <a:t>Perception is very important in understanding human behavior because every person perceives the world and approaches life problems differently.</a:t>
            </a:r>
          </a:p>
          <a:p>
            <a:pPr algn="just"/>
            <a:endParaRPr lang="en-US" sz="2400" dirty="0">
              <a:cs typeface="Times New Roman" panose="02020603050405020304" pitchFamily="18" charset="0"/>
            </a:endParaRPr>
          </a:p>
          <a:p>
            <a:pPr algn="just"/>
            <a:r>
              <a:rPr lang="en-US" sz="2400" dirty="0">
                <a:cs typeface="Times New Roman" panose="02020603050405020304" pitchFamily="18" charset="0"/>
              </a:rPr>
              <a:t>If people behave on the basis of their perception, we can predict their behavior in the changed circumstances by understanding their present perception of the environment.</a:t>
            </a:r>
          </a:p>
          <a:p>
            <a:pPr algn="just"/>
            <a:endParaRPr lang="en-US" sz="2400" dirty="0">
              <a:cs typeface="Times New Roman" panose="02020603050405020304" pitchFamily="18" charset="0"/>
            </a:endParaRPr>
          </a:p>
          <a:p>
            <a:pPr algn="just"/>
            <a:r>
              <a:rPr lang="en-US" sz="2400" dirty="0">
                <a:cs typeface="Times New Roman" panose="02020603050405020304" pitchFamily="18" charset="0"/>
              </a:rPr>
              <a:t>With the help of perception, the needs of various people can be determined, because people’s perception is influenced by their needs.</a:t>
            </a:r>
          </a:p>
          <a:p>
            <a:pPr algn="just"/>
            <a:endParaRPr lang="en-US" sz="2400" dirty="0">
              <a:cs typeface="Times New Roman" panose="02020603050405020304" pitchFamily="18" charset="0"/>
            </a:endParaRPr>
          </a:p>
          <a:p>
            <a:pPr algn="just"/>
            <a:r>
              <a:rPr lang="en-US" sz="2400" dirty="0">
                <a:cs typeface="Times New Roman" panose="02020603050405020304" pitchFamily="18" charset="0"/>
              </a:rPr>
              <a:t>Perception is very important for the manager who wants to avoid making errors when dealing with people and events in the work setting. </a:t>
            </a:r>
          </a:p>
        </p:txBody>
      </p:sp>
    </p:spTree>
    <p:extLst>
      <p:ext uri="{BB962C8B-B14F-4D97-AF65-F5344CB8AC3E}">
        <p14:creationId xmlns:p14="http://schemas.microsoft.com/office/powerpoint/2010/main" val="19614374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Perception tests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2" descr="Can You Pass The Perception Test?">
            <a:extLst>
              <a:ext uri="{FF2B5EF4-FFF2-40B4-BE49-F238E27FC236}">
                <a16:creationId xmlns:a16="http://schemas.microsoft.com/office/drawing/2014/main" id="{95A87C71-DB59-73D9-D26C-65424955AA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7078" y="1655803"/>
            <a:ext cx="3960440" cy="3528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7900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Perception tests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2" descr="Vision Perception Test Image » Funny, Bizarre, Amazing Pictures &amp; Videos">
            <a:extLst>
              <a:ext uri="{FF2B5EF4-FFF2-40B4-BE49-F238E27FC236}">
                <a16:creationId xmlns:a16="http://schemas.microsoft.com/office/drawing/2014/main" id="{C15090D7-8474-2819-0775-DA7A7625C3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9562" y="1120155"/>
            <a:ext cx="3952875" cy="4922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93441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Daily Quiz</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5CDA288D-59A0-ADBD-11BC-8DC1E1A8EACD}"/>
              </a:ext>
            </a:extLst>
          </p:cNvPr>
          <p:cNvSpPr txBox="1"/>
          <p:nvPr/>
        </p:nvSpPr>
        <p:spPr>
          <a:xfrm>
            <a:off x="533400" y="1859340"/>
            <a:ext cx="10672228" cy="3139321"/>
          </a:xfrm>
          <a:prstGeom prst="rect">
            <a:avLst/>
          </a:prstGeom>
          <a:noFill/>
        </p:spPr>
        <p:txBody>
          <a:bodyPr wrap="square">
            <a:spAutoFit/>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Which of the following words does NOT describe perception?</a:t>
            </a:r>
          </a:p>
          <a:p>
            <a:pPr marL="457200" indent="-457200" algn="just">
              <a:buFont typeface="+mj-lt"/>
              <a:buAutoNum type="alphaLcParenR"/>
            </a:pPr>
            <a:r>
              <a:rPr lang="en-US" sz="1800" dirty="0">
                <a:latin typeface="Times New Roman" panose="02020603050405020304" pitchFamily="18" charset="0"/>
                <a:cs typeface="Times New Roman" panose="02020603050405020304" pitchFamily="18" charset="0"/>
              </a:rPr>
              <a:t>A passive process</a:t>
            </a:r>
          </a:p>
          <a:p>
            <a:pPr marL="457200" indent="-457200" algn="just">
              <a:buFont typeface="+mj-lt"/>
              <a:buAutoNum type="alphaLcParenR"/>
            </a:pPr>
            <a:r>
              <a:rPr lang="en-US" sz="1800" dirty="0">
                <a:latin typeface="Times New Roman" panose="02020603050405020304" pitchFamily="18" charset="0"/>
                <a:cs typeface="Times New Roman" panose="02020603050405020304" pitchFamily="18" charset="0"/>
              </a:rPr>
              <a:t>A psychological process</a:t>
            </a:r>
          </a:p>
          <a:p>
            <a:pPr marL="457200" indent="-457200" algn="just">
              <a:buFont typeface="+mj-lt"/>
              <a:buAutoNum type="alphaLcParenR"/>
            </a:pPr>
            <a:r>
              <a:rPr lang="en-US" sz="1800" dirty="0">
                <a:latin typeface="Times New Roman" panose="02020603050405020304" pitchFamily="18" charset="0"/>
                <a:cs typeface="Times New Roman" panose="02020603050405020304" pitchFamily="18" charset="0"/>
              </a:rPr>
              <a:t>No direct contact with the physical world</a:t>
            </a:r>
          </a:p>
          <a:p>
            <a:pPr marL="457200" indent="-457200" algn="just">
              <a:buFont typeface="+mj-lt"/>
              <a:buAutoNum type="alphaLcParenR"/>
            </a:pPr>
            <a:r>
              <a:rPr lang="en-US" sz="1800" dirty="0">
                <a:latin typeface="Times New Roman" panose="02020603050405020304" pitchFamily="18" charset="0"/>
                <a:cs typeface="Times New Roman" panose="02020603050405020304" pitchFamily="18" charset="0"/>
              </a:rPr>
              <a:t>Using sense organs</a:t>
            </a:r>
          </a:p>
          <a:p>
            <a:pPr marL="457200" indent="-457200" algn="just">
              <a:buFont typeface="+mj-lt"/>
              <a:buAutoNum type="alphaLcParenR"/>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Sensation is to ________ as perception is to ________.</a:t>
            </a:r>
          </a:p>
          <a:p>
            <a:pPr marL="0" indent="0" algn="just">
              <a:buNone/>
            </a:pPr>
            <a:r>
              <a:rPr lang="en-US" sz="1800" dirty="0">
                <a:latin typeface="Times New Roman" panose="02020603050405020304" pitchFamily="18" charset="0"/>
                <a:cs typeface="Times New Roman" panose="02020603050405020304" pitchFamily="18" charset="0"/>
              </a:rPr>
              <a:t>a. vision, olfaction</a:t>
            </a:r>
          </a:p>
          <a:p>
            <a:pPr marL="0" indent="0" algn="just">
              <a:buNone/>
            </a:pPr>
            <a:r>
              <a:rPr lang="en-US" sz="1800" dirty="0">
                <a:latin typeface="Times New Roman" panose="02020603050405020304" pitchFamily="18" charset="0"/>
                <a:cs typeface="Times New Roman" panose="02020603050405020304" pitchFamily="18" charset="0"/>
              </a:rPr>
              <a:t>b. conscious, unconscious</a:t>
            </a:r>
          </a:p>
          <a:p>
            <a:pPr marL="0" indent="0" algn="just">
              <a:buNone/>
            </a:pPr>
            <a:r>
              <a:rPr lang="en-US" sz="1800" dirty="0">
                <a:latin typeface="Times New Roman" panose="02020603050405020304" pitchFamily="18" charset="0"/>
                <a:cs typeface="Times New Roman" panose="02020603050405020304" pitchFamily="18" charset="0"/>
              </a:rPr>
              <a:t>c. awareness, interpretation</a:t>
            </a:r>
          </a:p>
          <a:p>
            <a:pPr marL="0" indent="0" algn="just">
              <a:buNone/>
            </a:pPr>
            <a:r>
              <a:rPr lang="en-US" sz="1800" dirty="0">
                <a:latin typeface="Times New Roman" panose="02020603050405020304" pitchFamily="18" charset="0"/>
                <a:cs typeface="Times New Roman" panose="02020603050405020304" pitchFamily="18" charset="0"/>
              </a:rPr>
              <a:t>d. taste, vision</a:t>
            </a:r>
          </a:p>
        </p:txBody>
      </p:sp>
    </p:spTree>
    <p:extLst>
      <p:ext uri="{BB962C8B-B14F-4D97-AF65-F5344CB8AC3E}">
        <p14:creationId xmlns:p14="http://schemas.microsoft.com/office/powerpoint/2010/main" val="38949507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Daily Quiz</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5CDA288D-59A0-ADBD-11BC-8DC1E1A8EACD}"/>
              </a:ext>
            </a:extLst>
          </p:cNvPr>
          <p:cNvSpPr txBox="1"/>
          <p:nvPr/>
        </p:nvSpPr>
        <p:spPr>
          <a:xfrm>
            <a:off x="533400" y="1859340"/>
            <a:ext cx="10672228" cy="3139321"/>
          </a:xfrm>
          <a:prstGeom prst="rect">
            <a:avLst/>
          </a:prstGeom>
          <a:noFill/>
        </p:spPr>
        <p:txBody>
          <a:bodyPr wrap="square">
            <a:spAutoFit/>
          </a:bodyPr>
          <a:lstStyle/>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Mary is so beautiful, I bet she is smart too. This is an example of :</a:t>
            </a:r>
          </a:p>
          <a:p>
            <a:pPr marL="457200" indent="-457200" algn="just">
              <a:buFont typeface="+mj-lt"/>
              <a:buAutoNum type="alphaLcParenR"/>
            </a:pPr>
            <a:r>
              <a:rPr lang="en-US" sz="1800" dirty="0">
                <a:latin typeface="Times New Roman" panose="02020603050405020304" pitchFamily="18" charset="0"/>
                <a:cs typeface="Times New Roman" panose="02020603050405020304" pitchFamily="18" charset="0"/>
              </a:rPr>
              <a:t>Stereotyping</a:t>
            </a:r>
          </a:p>
          <a:p>
            <a:pPr marL="457200" indent="-457200" algn="just">
              <a:buFont typeface="+mj-lt"/>
              <a:buAutoNum type="alphaLcParenR"/>
            </a:pPr>
            <a:r>
              <a:rPr lang="en-US" sz="1800" dirty="0">
                <a:latin typeface="Times New Roman" panose="02020603050405020304" pitchFamily="18" charset="0"/>
                <a:cs typeface="Times New Roman" panose="02020603050405020304" pitchFamily="18" charset="0"/>
              </a:rPr>
              <a:t>Impression</a:t>
            </a:r>
          </a:p>
          <a:p>
            <a:pPr marL="457200" indent="-457200" algn="just">
              <a:buFont typeface="+mj-lt"/>
              <a:buAutoNum type="alphaLcParenR"/>
            </a:pPr>
            <a:r>
              <a:rPr lang="en-US" sz="1800" dirty="0">
                <a:latin typeface="Times New Roman" panose="02020603050405020304" pitchFamily="18" charset="0"/>
                <a:cs typeface="Times New Roman" panose="02020603050405020304" pitchFamily="18" charset="0"/>
              </a:rPr>
              <a:t>Halo effect</a:t>
            </a:r>
          </a:p>
          <a:p>
            <a:pPr marL="457200" indent="-457200" algn="just">
              <a:buFont typeface="+mj-lt"/>
              <a:buAutoNum type="alphaLcParenR"/>
            </a:pPr>
            <a:r>
              <a:rPr lang="en-US" sz="1800" dirty="0">
                <a:latin typeface="Times New Roman" panose="02020603050405020304" pitchFamily="18" charset="0"/>
                <a:cs typeface="Times New Roman" panose="02020603050405020304" pitchFamily="18" charset="0"/>
              </a:rPr>
              <a:t>Recency effect</a:t>
            </a:r>
          </a:p>
          <a:p>
            <a:pPr marL="457200" indent="-457200" algn="just">
              <a:buFont typeface="+mj-lt"/>
              <a:buAutoNum type="alphaLcParenR"/>
            </a:pPr>
            <a:endParaRPr lang="en-US" sz="1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______ prevents you from seeing an individual as an individual rather than a group or community.</a:t>
            </a:r>
          </a:p>
          <a:p>
            <a:pPr marL="0" indent="0" algn="just">
              <a:buNone/>
            </a:pPr>
            <a:r>
              <a:rPr lang="en-US" sz="1800" dirty="0">
                <a:latin typeface="Times New Roman" panose="02020603050405020304" pitchFamily="18" charset="0"/>
                <a:cs typeface="Times New Roman" panose="02020603050405020304" pitchFamily="18" charset="0"/>
              </a:rPr>
              <a:t>a. Recency effect</a:t>
            </a:r>
          </a:p>
          <a:p>
            <a:pPr marL="0" indent="0" algn="just">
              <a:buNone/>
            </a:pPr>
            <a:r>
              <a:rPr lang="en-US" sz="1800" dirty="0">
                <a:latin typeface="Times New Roman" panose="02020603050405020304" pitchFamily="18" charset="0"/>
                <a:cs typeface="Times New Roman" panose="02020603050405020304" pitchFamily="18" charset="0"/>
              </a:rPr>
              <a:t>b. Stereotyping</a:t>
            </a:r>
          </a:p>
          <a:p>
            <a:pPr marL="0" indent="0" algn="just">
              <a:buNone/>
            </a:pPr>
            <a:r>
              <a:rPr lang="en-US" sz="1800" dirty="0">
                <a:latin typeface="Times New Roman" panose="02020603050405020304" pitchFamily="18" charset="0"/>
                <a:cs typeface="Times New Roman" panose="02020603050405020304" pitchFamily="18" charset="0"/>
              </a:rPr>
              <a:t>c. Halo effect</a:t>
            </a:r>
          </a:p>
          <a:p>
            <a:pPr marL="0" indent="0" algn="just">
              <a:buNone/>
            </a:pPr>
            <a:r>
              <a:rPr lang="en-US" sz="1800" dirty="0">
                <a:latin typeface="Times New Roman" panose="02020603050405020304" pitchFamily="18" charset="0"/>
                <a:cs typeface="Times New Roman" panose="02020603050405020304" pitchFamily="18" charset="0"/>
              </a:rPr>
              <a:t>d. Leniency effect</a:t>
            </a:r>
          </a:p>
        </p:txBody>
      </p:sp>
    </p:spTree>
    <p:extLst>
      <p:ext uri="{BB962C8B-B14F-4D97-AF65-F5344CB8AC3E}">
        <p14:creationId xmlns:p14="http://schemas.microsoft.com/office/powerpoint/2010/main" val="11690752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err="1"/>
              <a:t>Youtube</a:t>
            </a:r>
            <a:r>
              <a:rPr lang="en-US" sz="2800" dirty="0"/>
              <a:t> Video Links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5CDA288D-59A0-ADBD-11BC-8DC1E1A8EACD}"/>
              </a:ext>
            </a:extLst>
          </p:cNvPr>
          <p:cNvSpPr txBox="1"/>
          <p:nvPr/>
        </p:nvSpPr>
        <p:spPr>
          <a:xfrm>
            <a:off x="533400" y="1859340"/>
            <a:ext cx="10672228" cy="646331"/>
          </a:xfrm>
          <a:prstGeom prst="rect">
            <a:avLst/>
          </a:prstGeom>
          <a:noFill/>
        </p:spPr>
        <p:txBody>
          <a:bodyPr wrap="square">
            <a:spAutoFit/>
          </a:bodyPr>
          <a:lstStyle/>
          <a:p>
            <a:pPr marL="0" indent="0">
              <a:buNone/>
            </a:pPr>
            <a:r>
              <a:rPr lang="en-US" sz="1800" dirty="0">
                <a:hlinkClick r:id="rId4"/>
              </a:rPr>
              <a:t>https://courses.lumenlearning.com/waymaker-psychology/chapter/reading-what-is-perception/</a:t>
            </a:r>
            <a:r>
              <a:rPr lang="en-US" sz="1800" dirty="0"/>
              <a:t> </a:t>
            </a:r>
          </a:p>
          <a:p>
            <a:pPr marL="0" indent="0">
              <a:buNone/>
            </a:pPr>
            <a:r>
              <a:rPr lang="en-US" sz="1800" dirty="0">
                <a:hlinkClick r:id="rId5"/>
              </a:rPr>
              <a:t>https://www.youtube.com/watch?v=uWCcFrnGPBw</a:t>
            </a:r>
            <a:r>
              <a:rPr lang="en-US" sz="1800" dirty="0"/>
              <a:t> </a:t>
            </a:r>
          </a:p>
        </p:txBody>
      </p:sp>
    </p:spTree>
    <p:extLst>
      <p:ext uri="{BB962C8B-B14F-4D97-AF65-F5344CB8AC3E}">
        <p14:creationId xmlns:p14="http://schemas.microsoft.com/office/powerpoint/2010/main" val="28129097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Attribution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5CDA288D-59A0-ADBD-11BC-8DC1E1A8EACD}"/>
              </a:ext>
            </a:extLst>
          </p:cNvPr>
          <p:cNvSpPr txBox="1"/>
          <p:nvPr/>
        </p:nvSpPr>
        <p:spPr>
          <a:xfrm>
            <a:off x="607486" y="1297319"/>
            <a:ext cx="10672228" cy="2308324"/>
          </a:xfrm>
          <a:prstGeom prst="rect">
            <a:avLst/>
          </a:prstGeom>
          <a:noFill/>
        </p:spPr>
        <p:txBody>
          <a:bodyPr wrap="square">
            <a:spAutoFit/>
          </a:bodyPr>
          <a:lstStyle/>
          <a:p>
            <a:pPr marL="0" indent="0" algn="just">
              <a:buNone/>
            </a:pPr>
            <a:r>
              <a:rPr lang="en-US" sz="2400" dirty="0"/>
              <a:t>Attribution theory, proposed by Fritz Heider (1958), is a social psychology theory that deals with how individuals relate and make sense of the social world. </a:t>
            </a:r>
          </a:p>
          <a:p>
            <a:pPr marL="0" indent="0" algn="just">
              <a:buNone/>
            </a:pPr>
            <a:endParaRPr lang="en-US" sz="2400" dirty="0"/>
          </a:p>
          <a:p>
            <a:pPr marL="0" indent="0" algn="just">
              <a:buNone/>
            </a:pPr>
            <a:endParaRPr lang="en-US" sz="2400" dirty="0"/>
          </a:p>
          <a:p>
            <a:pPr marL="0" indent="0" algn="just">
              <a:buNone/>
            </a:pPr>
            <a:r>
              <a:rPr lang="en-US" sz="2400" dirty="0"/>
              <a:t>More specifically, it is concerned with how people translate events around them and how their translations affect their thinking and behavior. </a:t>
            </a:r>
          </a:p>
        </p:txBody>
      </p:sp>
      <p:pic>
        <p:nvPicPr>
          <p:cNvPr id="4" name="Picture 3">
            <a:extLst>
              <a:ext uri="{FF2B5EF4-FFF2-40B4-BE49-F238E27FC236}">
                <a16:creationId xmlns:a16="http://schemas.microsoft.com/office/drawing/2014/main" id="{D3AD95E3-A8C5-B467-A7D4-CA252F2DD22C}"/>
              </a:ext>
            </a:extLst>
          </p:cNvPr>
          <p:cNvPicPr>
            <a:picLocks noChangeAspect="1"/>
          </p:cNvPicPr>
          <p:nvPr/>
        </p:nvPicPr>
        <p:blipFill>
          <a:blip r:embed="rId4"/>
          <a:stretch>
            <a:fillRect/>
          </a:stretch>
        </p:blipFill>
        <p:spPr>
          <a:xfrm>
            <a:off x="3581400" y="3866571"/>
            <a:ext cx="4898571" cy="2228850"/>
          </a:xfrm>
          <a:prstGeom prst="rect">
            <a:avLst/>
          </a:prstGeom>
        </p:spPr>
      </p:pic>
    </p:spTree>
    <p:extLst>
      <p:ext uri="{BB962C8B-B14F-4D97-AF65-F5344CB8AC3E}">
        <p14:creationId xmlns:p14="http://schemas.microsoft.com/office/powerpoint/2010/main" val="17881368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Types of Attribution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5CDA288D-59A0-ADBD-11BC-8DC1E1A8EACD}"/>
              </a:ext>
            </a:extLst>
          </p:cNvPr>
          <p:cNvSpPr txBox="1"/>
          <p:nvPr/>
        </p:nvSpPr>
        <p:spPr>
          <a:xfrm>
            <a:off x="607486" y="1297319"/>
            <a:ext cx="10672228" cy="1200329"/>
          </a:xfrm>
          <a:prstGeom prst="rect">
            <a:avLst/>
          </a:prstGeom>
          <a:noFill/>
        </p:spPr>
        <p:txBody>
          <a:bodyPr wrap="square">
            <a:spAutoFit/>
          </a:bodyPr>
          <a:lstStyle/>
          <a:p>
            <a:pPr marL="0" indent="0" algn="just">
              <a:buNone/>
            </a:pPr>
            <a:r>
              <a:rPr lang="fr-FR" sz="2400" dirty="0" err="1"/>
              <a:t>External</a:t>
            </a:r>
            <a:r>
              <a:rPr lang="fr-FR" sz="2400" dirty="0"/>
              <a:t> Attribution (</a:t>
            </a:r>
            <a:r>
              <a:rPr lang="fr-FR" sz="2400" dirty="0" err="1"/>
              <a:t>Situational</a:t>
            </a:r>
            <a:r>
              <a:rPr lang="fr-FR" sz="2400" dirty="0"/>
              <a:t> Attribution)</a:t>
            </a:r>
          </a:p>
          <a:p>
            <a:pPr marL="0" indent="0" algn="just">
              <a:buNone/>
            </a:pPr>
            <a:endParaRPr lang="fr-FR" sz="2400" dirty="0"/>
          </a:p>
          <a:p>
            <a:pPr marL="0" indent="0" algn="just">
              <a:buNone/>
            </a:pPr>
            <a:r>
              <a:rPr lang="fr-FR" sz="2400" dirty="0" err="1"/>
              <a:t>Internal</a:t>
            </a:r>
            <a:r>
              <a:rPr lang="fr-FR" sz="2400" dirty="0"/>
              <a:t> Attribution (</a:t>
            </a:r>
            <a:r>
              <a:rPr lang="fr-FR" sz="2400" dirty="0" err="1"/>
              <a:t>Dispositional</a:t>
            </a:r>
            <a:r>
              <a:rPr lang="fr-FR" sz="2400" dirty="0"/>
              <a:t> Attribution)</a:t>
            </a:r>
          </a:p>
        </p:txBody>
      </p:sp>
    </p:spTree>
    <p:extLst>
      <p:ext uri="{BB962C8B-B14F-4D97-AF65-F5344CB8AC3E}">
        <p14:creationId xmlns:p14="http://schemas.microsoft.com/office/powerpoint/2010/main" val="22379245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External Attribution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5CDA288D-59A0-ADBD-11BC-8DC1E1A8EACD}"/>
              </a:ext>
            </a:extLst>
          </p:cNvPr>
          <p:cNvSpPr txBox="1"/>
          <p:nvPr/>
        </p:nvSpPr>
        <p:spPr>
          <a:xfrm>
            <a:off x="607486" y="1297319"/>
            <a:ext cx="10672228" cy="2308324"/>
          </a:xfrm>
          <a:prstGeom prst="rect">
            <a:avLst/>
          </a:prstGeom>
          <a:noFill/>
        </p:spPr>
        <p:txBody>
          <a:bodyPr wrap="square">
            <a:spAutoFit/>
          </a:bodyPr>
          <a:lstStyle/>
          <a:p>
            <a:pPr marL="0" indent="0" algn="just">
              <a:buNone/>
            </a:pPr>
            <a:r>
              <a:rPr lang="en-US" sz="2400" b="1" dirty="0"/>
              <a:t>External Attribution (Situational Attribution): </a:t>
            </a:r>
            <a:r>
              <a:rPr lang="en-US" sz="2400" dirty="0"/>
              <a:t>Causality is assigned to an outside factor, agent, or force. Outside factors fall outside your control. </a:t>
            </a:r>
          </a:p>
          <a:p>
            <a:pPr marL="0" indent="0" algn="just">
              <a:buNone/>
            </a:pPr>
            <a:r>
              <a:rPr lang="en-US" sz="2400" dirty="0"/>
              <a:t>You perceive you have no choice. So your behavior is influenced, limited or even completely determined by influences outside your control. </a:t>
            </a:r>
          </a:p>
          <a:p>
            <a:pPr marL="0" indent="0" algn="just">
              <a:buNone/>
            </a:pPr>
            <a:r>
              <a:rPr lang="en-US" sz="2400" dirty="0"/>
              <a:t>Therefore you feel not responsible. </a:t>
            </a:r>
          </a:p>
          <a:p>
            <a:pPr marL="0" indent="0" algn="just">
              <a:buNone/>
            </a:pPr>
            <a:r>
              <a:rPr lang="en-US" sz="2400" dirty="0"/>
              <a:t>A generic example is the weather</a:t>
            </a:r>
            <a:endParaRPr lang="fr-FR" sz="2400" dirty="0"/>
          </a:p>
        </p:txBody>
      </p:sp>
    </p:spTree>
    <p:extLst>
      <p:ext uri="{BB962C8B-B14F-4D97-AF65-F5344CB8AC3E}">
        <p14:creationId xmlns:p14="http://schemas.microsoft.com/office/powerpoint/2010/main" val="42668958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Internal Attribution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5CDA288D-59A0-ADBD-11BC-8DC1E1A8EACD}"/>
              </a:ext>
            </a:extLst>
          </p:cNvPr>
          <p:cNvSpPr txBox="1"/>
          <p:nvPr/>
        </p:nvSpPr>
        <p:spPr>
          <a:xfrm>
            <a:off x="607486" y="1297319"/>
            <a:ext cx="10672228" cy="2677656"/>
          </a:xfrm>
          <a:prstGeom prst="rect">
            <a:avLst/>
          </a:prstGeom>
          <a:noFill/>
        </p:spPr>
        <p:txBody>
          <a:bodyPr wrap="square">
            <a:spAutoFit/>
          </a:bodyPr>
          <a:lstStyle/>
          <a:p>
            <a:pPr algn="just">
              <a:buFont typeface="Arial" panose="020B0604020202020204" pitchFamily="34" charset="0"/>
              <a:buChar char="•"/>
            </a:pPr>
            <a:r>
              <a:rPr lang="en-US" sz="2400" b="1" i="0" dirty="0">
                <a:effectLst/>
                <a:cs typeface="Times New Roman" panose="02020603050405020304" pitchFamily="18" charset="0"/>
              </a:rPr>
              <a:t>Internal Attribution (Dispositional Attribution)</a:t>
            </a:r>
            <a:r>
              <a:rPr lang="en-US" sz="2400" b="0" i="0" dirty="0">
                <a:effectLst/>
                <a:cs typeface="Times New Roman" panose="02020603050405020304" pitchFamily="18" charset="0"/>
              </a:rPr>
              <a:t>: Causality is assigned to an inside factor, agent or force. Inside factors fall inside your own control. </a:t>
            </a:r>
          </a:p>
          <a:p>
            <a:pPr algn="just"/>
            <a:endParaRPr lang="en-US" sz="2400" b="0" i="0" dirty="0">
              <a:effectLst/>
              <a:cs typeface="Times New Roman" panose="02020603050405020304" pitchFamily="18" charset="0"/>
            </a:endParaRPr>
          </a:p>
          <a:p>
            <a:pPr algn="just">
              <a:buFont typeface="Arial" panose="020B0604020202020204" pitchFamily="34" charset="0"/>
              <a:buChar char="•"/>
            </a:pPr>
            <a:r>
              <a:rPr lang="en-US" sz="2400" b="0" i="0" dirty="0">
                <a:effectLst/>
                <a:cs typeface="Times New Roman" panose="02020603050405020304" pitchFamily="18" charset="0"/>
              </a:rPr>
              <a:t>You can choose to behave in a particular way or not. So your behavior is not influenced, limited or even completely determined by influences outside your control. </a:t>
            </a:r>
          </a:p>
          <a:p>
            <a:pPr algn="just">
              <a:buFont typeface="Arial" panose="020B0604020202020204" pitchFamily="34" charset="0"/>
              <a:buChar char="•"/>
            </a:pPr>
            <a:r>
              <a:rPr lang="en-US" sz="2400" b="0" i="0" dirty="0">
                <a:effectLst/>
                <a:cs typeface="Times New Roman" panose="02020603050405020304" pitchFamily="18" charset="0"/>
              </a:rPr>
              <a:t>Therefore you feel responsible. A typical example is your own intelligence.</a:t>
            </a:r>
          </a:p>
        </p:txBody>
      </p:sp>
    </p:spTree>
    <p:extLst>
      <p:ext uri="{BB962C8B-B14F-4D97-AF65-F5344CB8AC3E}">
        <p14:creationId xmlns:p14="http://schemas.microsoft.com/office/powerpoint/2010/main" val="18974129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Locus of Control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81C78D63-21F7-C569-794C-C2CA8798D431}"/>
              </a:ext>
            </a:extLst>
          </p:cNvPr>
          <p:cNvSpPr txBox="1"/>
          <p:nvPr/>
        </p:nvSpPr>
        <p:spPr>
          <a:xfrm>
            <a:off x="805543" y="1365504"/>
            <a:ext cx="10276114" cy="3785652"/>
          </a:xfrm>
          <a:prstGeom prst="rect">
            <a:avLst/>
          </a:prstGeom>
          <a:noFill/>
        </p:spPr>
        <p:txBody>
          <a:bodyPr wrap="square">
            <a:spAutoFit/>
          </a:bodyPr>
          <a:lstStyle/>
          <a:p>
            <a:r>
              <a:rPr lang="en-US" sz="2400" dirty="0"/>
              <a:t> Locus of control refers to a person's beliefs about how much control they have over what happens to them in their life and how much influence they have over what happens in the world around them.</a:t>
            </a:r>
          </a:p>
          <a:p>
            <a:endParaRPr lang="en-US" sz="2400" dirty="0"/>
          </a:p>
          <a:p>
            <a:endParaRPr lang="en-US" sz="2400" dirty="0"/>
          </a:p>
          <a:p>
            <a:r>
              <a:rPr lang="en-US" sz="2400" dirty="0"/>
              <a:t>Locus of control refers to one’s assumption about responsibility for good and bad events. Every person during his lifetime comes across some good and some had outcomes. While he acts to maximize the possibility of good outcomes and enjoys the success of his life, he tries to minimize the possibility of bad outcomes.</a:t>
            </a:r>
          </a:p>
          <a:p>
            <a:endParaRPr lang="en-US" sz="2400" dirty="0"/>
          </a:p>
        </p:txBody>
      </p:sp>
    </p:spTree>
    <p:extLst>
      <p:ext uri="{BB962C8B-B14F-4D97-AF65-F5344CB8AC3E}">
        <p14:creationId xmlns:p14="http://schemas.microsoft.com/office/powerpoint/2010/main" val="38894629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Locus of Control-Types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81C78D63-21F7-C569-794C-C2CA8798D431}"/>
              </a:ext>
            </a:extLst>
          </p:cNvPr>
          <p:cNvSpPr txBox="1"/>
          <p:nvPr/>
        </p:nvSpPr>
        <p:spPr>
          <a:xfrm>
            <a:off x="805543" y="1365504"/>
            <a:ext cx="10276114" cy="1200329"/>
          </a:xfrm>
          <a:prstGeom prst="rect">
            <a:avLst/>
          </a:prstGeom>
          <a:noFill/>
        </p:spPr>
        <p:txBody>
          <a:bodyPr wrap="square">
            <a:spAutoFit/>
          </a:bodyPr>
          <a:lstStyle/>
          <a:p>
            <a:r>
              <a:rPr lang="en-US" sz="2400" dirty="0"/>
              <a:t>(1) Internal Locus of control</a:t>
            </a:r>
          </a:p>
          <a:p>
            <a:r>
              <a:rPr lang="en-US" sz="2400" dirty="0"/>
              <a:t>(2) External Locus of control.</a:t>
            </a:r>
          </a:p>
          <a:p>
            <a:endParaRPr lang="en-US" sz="2400" dirty="0"/>
          </a:p>
        </p:txBody>
      </p:sp>
    </p:spTree>
    <p:extLst>
      <p:ext uri="{BB962C8B-B14F-4D97-AF65-F5344CB8AC3E}">
        <p14:creationId xmlns:p14="http://schemas.microsoft.com/office/powerpoint/2010/main" val="19403873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Internal Locus of Control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81C78D63-21F7-C569-794C-C2CA8798D431}"/>
              </a:ext>
            </a:extLst>
          </p:cNvPr>
          <p:cNvSpPr txBox="1"/>
          <p:nvPr/>
        </p:nvSpPr>
        <p:spPr>
          <a:xfrm>
            <a:off x="805543" y="1365504"/>
            <a:ext cx="10276114" cy="3046988"/>
          </a:xfrm>
          <a:prstGeom prst="rect">
            <a:avLst/>
          </a:prstGeom>
          <a:noFill/>
        </p:spPr>
        <p:txBody>
          <a:bodyPr wrap="square">
            <a:spAutoFit/>
          </a:bodyPr>
          <a:lstStyle/>
          <a:p>
            <a:r>
              <a:rPr lang="en-US" sz="2400" dirty="0"/>
              <a:t>Internal locus of control means that control comes from within. You have personal control over your own behavior.</a:t>
            </a:r>
          </a:p>
          <a:p>
            <a:endParaRPr lang="en-US" sz="2400" dirty="0"/>
          </a:p>
          <a:p>
            <a:endParaRPr lang="en-US" sz="2400" dirty="0"/>
          </a:p>
          <a:p>
            <a:r>
              <a:rPr lang="en-US" sz="2400" dirty="0"/>
              <a:t>When you have an internal locus of control, you believe you have personal agency over your own life and actions. Because of this, these people tend to have more self-efficacy. </a:t>
            </a:r>
          </a:p>
          <a:p>
            <a:endParaRPr lang="en-US" sz="2400" dirty="0"/>
          </a:p>
        </p:txBody>
      </p:sp>
    </p:spTree>
    <p:extLst>
      <p:ext uri="{BB962C8B-B14F-4D97-AF65-F5344CB8AC3E}">
        <p14:creationId xmlns:p14="http://schemas.microsoft.com/office/powerpoint/2010/main" val="7489781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External Locus of Control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81C78D63-21F7-C569-794C-C2CA8798D431}"/>
              </a:ext>
            </a:extLst>
          </p:cNvPr>
          <p:cNvSpPr txBox="1"/>
          <p:nvPr/>
        </p:nvSpPr>
        <p:spPr>
          <a:xfrm>
            <a:off x="805543" y="1365504"/>
            <a:ext cx="10276114" cy="3785652"/>
          </a:xfrm>
          <a:prstGeom prst="rect">
            <a:avLst/>
          </a:prstGeom>
          <a:noFill/>
        </p:spPr>
        <p:txBody>
          <a:bodyPr wrap="square">
            <a:spAutoFit/>
          </a:bodyPr>
          <a:lstStyle/>
          <a:p>
            <a:r>
              <a:rPr lang="en-US" sz="2400" dirty="0"/>
              <a:t>External locus of control means that control stems from external forces. When you have an external locus of control, you believe that events outside of your control drive your actions and the outcomes you get.</a:t>
            </a:r>
          </a:p>
          <a:p>
            <a:endParaRPr lang="en-US" sz="2400" dirty="0"/>
          </a:p>
          <a:p>
            <a:endParaRPr lang="en-US" sz="2400" dirty="0"/>
          </a:p>
          <a:p>
            <a:r>
              <a:rPr lang="en-US" sz="2400" dirty="0"/>
              <a:t>Those who are always at the mercy of luck, fate and unforeseen uncontrollable outside force and feel helpless all the time and never like to take the responsibility for their bad outcomes and miserable performances in life are said to have external locus of control.</a:t>
            </a:r>
          </a:p>
          <a:p>
            <a:endParaRPr lang="en-US" sz="2400" dirty="0"/>
          </a:p>
        </p:txBody>
      </p:sp>
    </p:spTree>
    <p:extLst>
      <p:ext uri="{BB962C8B-B14F-4D97-AF65-F5344CB8AC3E}">
        <p14:creationId xmlns:p14="http://schemas.microsoft.com/office/powerpoint/2010/main" val="10137755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err="1"/>
              <a:t>Youtube</a:t>
            </a:r>
            <a:r>
              <a:rPr lang="en-US" sz="2800" dirty="0"/>
              <a:t> links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2013856" y="1426945"/>
            <a:ext cx="9191771" cy="830997"/>
          </a:xfrm>
          <a:prstGeom prst="rect">
            <a:avLst/>
          </a:prstGeom>
          <a:noFill/>
        </p:spPr>
        <p:txBody>
          <a:bodyPr wrap="square">
            <a:spAutoFit/>
          </a:bodyPr>
          <a:lstStyle/>
          <a:p>
            <a:pPr algn="just"/>
            <a:r>
              <a:rPr lang="en-US" sz="2400" b="0" i="0" dirty="0">
                <a:solidFill>
                  <a:srgbClr val="000000"/>
                </a:solidFill>
                <a:effectLst/>
                <a:latin typeface="Times New Roman" panose="02020603050405020304" pitchFamily="18" charset="0"/>
                <a:cs typeface="Times New Roman" panose="02020603050405020304" pitchFamily="18" charset="0"/>
                <a:hlinkClick r:id="rId4"/>
              </a:rPr>
              <a:t>https://www.youtube.com/watch?v=f_S_bapYEm4</a:t>
            </a:r>
            <a:endParaRPr lang="en-US" sz="2400" b="0" i="0" dirty="0">
              <a:solidFill>
                <a:srgbClr val="000000"/>
              </a:solidFill>
              <a:effectLst/>
              <a:latin typeface="Times New Roman" panose="02020603050405020304" pitchFamily="18" charset="0"/>
              <a:cs typeface="Times New Roman" panose="02020603050405020304" pitchFamily="18" charset="0"/>
            </a:endParaRPr>
          </a:p>
          <a:p>
            <a:pPr algn="just"/>
            <a:r>
              <a:rPr lang="en-US" sz="2400" b="0" i="0" dirty="0">
                <a:solidFill>
                  <a:srgbClr val="000000"/>
                </a:solidFill>
                <a:effectLst/>
                <a:latin typeface="Times New Roman" panose="02020603050405020304" pitchFamily="18" charset="0"/>
                <a:cs typeface="Times New Roman" panose="02020603050405020304" pitchFamily="18" charset="0"/>
                <a:hlinkClick r:id="rId5"/>
              </a:rPr>
              <a:t>https://www.youtube.com/watch?v=GW2A8xoSoYk</a:t>
            </a:r>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60362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Daily Quiz</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4893647"/>
          </a:xfrm>
          <a:prstGeom prst="rect">
            <a:avLst/>
          </a:prstGeom>
          <a:noFill/>
        </p:spPr>
        <p:txBody>
          <a:bodyPr wrap="square">
            <a:spAutoFit/>
          </a:bodyPr>
          <a:lstStyle/>
          <a:p>
            <a:pPr algn="just"/>
            <a:r>
              <a:rPr lang="en-US" sz="2400" b="0" i="0" dirty="0">
                <a:solidFill>
                  <a:srgbClr val="000000"/>
                </a:solidFill>
                <a:effectLst/>
                <a:cs typeface="Times New Roman" panose="02020603050405020304" pitchFamily="18" charset="0"/>
              </a:rPr>
              <a:t>1. Sathish has a low absenteeism rate. He takes responsibility for his health and has good health habits. He is likely to have a(an): </a:t>
            </a:r>
          </a:p>
          <a:p>
            <a:pPr algn="just"/>
            <a:r>
              <a:rPr lang="en-US" sz="2400" b="0" i="0" dirty="0">
                <a:solidFill>
                  <a:srgbClr val="000000"/>
                </a:solidFill>
                <a:effectLst/>
                <a:cs typeface="Times New Roman" panose="02020603050405020304" pitchFamily="18" charset="0"/>
              </a:rPr>
              <a:t>a. Internal locus of control </a:t>
            </a:r>
          </a:p>
          <a:p>
            <a:pPr algn="just"/>
            <a:r>
              <a:rPr lang="en-US" sz="2400" b="0" i="0" dirty="0">
                <a:solidFill>
                  <a:srgbClr val="000000"/>
                </a:solidFill>
                <a:effectLst/>
                <a:cs typeface="Times New Roman" panose="02020603050405020304" pitchFamily="18" charset="0"/>
              </a:rPr>
              <a:t>b. External locus of control </a:t>
            </a:r>
          </a:p>
          <a:p>
            <a:pPr algn="just"/>
            <a:r>
              <a:rPr lang="en-US" sz="2400" b="0" i="0" dirty="0">
                <a:solidFill>
                  <a:srgbClr val="000000"/>
                </a:solidFill>
                <a:effectLst/>
                <a:cs typeface="Times New Roman" panose="02020603050405020304" pitchFamily="18" charset="0"/>
              </a:rPr>
              <a:t>c. Core locus of control </a:t>
            </a:r>
          </a:p>
          <a:p>
            <a:pPr algn="just"/>
            <a:r>
              <a:rPr lang="en-US" sz="2400" b="0" i="0" dirty="0">
                <a:solidFill>
                  <a:srgbClr val="000000"/>
                </a:solidFill>
                <a:effectLst/>
                <a:cs typeface="Times New Roman" panose="02020603050405020304" pitchFamily="18" charset="0"/>
              </a:rPr>
              <a:t>d. High emotional stability level</a:t>
            </a:r>
          </a:p>
          <a:p>
            <a:pPr algn="just"/>
            <a:endParaRPr lang="en-US" sz="2400" b="0" i="0" dirty="0">
              <a:solidFill>
                <a:srgbClr val="000000"/>
              </a:solidFill>
              <a:effectLst/>
              <a:cs typeface="Times New Roman" panose="02020603050405020304" pitchFamily="18" charset="0"/>
            </a:endParaRPr>
          </a:p>
          <a:p>
            <a:pPr algn="just"/>
            <a:r>
              <a:rPr lang="en-US" sz="2400" b="0" i="0" dirty="0">
                <a:solidFill>
                  <a:srgbClr val="000000"/>
                </a:solidFill>
                <a:effectLst/>
                <a:cs typeface="Times New Roman" panose="02020603050405020304" pitchFamily="18" charset="0"/>
              </a:rPr>
              <a:t>2. Some people strongly believe that each person have control of his own life. This is </a:t>
            </a:r>
          </a:p>
          <a:p>
            <a:pPr algn="just"/>
            <a:r>
              <a:rPr lang="en-US" sz="2400" b="0" i="0" dirty="0">
                <a:solidFill>
                  <a:srgbClr val="000000"/>
                </a:solidFill>
                <a:effectLst/>
                <a:cs typeface="Times New Roman" panose="02020603050405020304" pitchFamily="18" charset="0"/>
              </a:rPr>
              <a:t>a. extroversion </a:t>
            </a:r>
          </a:p>
          <a:p>
            <a:pPr algn="just"/>
            <a:r>
              <a:rPr lang="en-US" sz="2400" b="0" i="0" dirty="0">
                <a:solidFill>
                  <a:srgbClr val="000000"/>
                </a:solidFill>
                <a:effectLst/>
                <a:cs typeface="Times New Roman" panose="02020603050405020304" pitchFamily="18" charset="0"/>
              </a:rPr>
              <a:t>b. conscientiousness </a:t>
            </a:r>
          </a:p>
          <a:p>
            <a:pPr algn="just"/>
            <a:r>
              <a:rPr lang="en-US" sz="2400" b="0" i="0" dirty="0">
                <a:solidFill>
                  <a:srgbClr val="000000"/>
                </a:solidFill>
                <a:effectLst/>
                <a:cs typeface="Times New Roman" panose="02020603050405020304" pitchFamily="18" charset="0"/>
              </a:rPr>
              <a:t>c. internal locus of control</a:t>
            </a:r>
          </a:p>
          <a:p>
            <a:pPr algn="just"/>
            <a:r>
              <a:rPr lang="en-US" sz="2400" b="0" i="0" dirty="0">
                <a:solidFill>
                  <a:srgbClr val="000000"/>
                </a:solidFill>
                <a:effectLst/>
                <a:cs typeface="Times New Roman" panose="02020603050405020304" pitchFamily="18" charset="0"/>
              </a:rPr>
              <a:t> d. external locus of control</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78380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Daily Quiz</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4893647"/>
          </a:xfrm>
          <a:prstGeom prst="rect">
            <a:avLst/>
          </a:prstGeom>
          <a:noFill/>
        </p:spPr>
        <p:txBody>
          <a:bodyPr wrap="square">
            <a:spAutoFit/>
          </a:bodyPr>
          <a:lstStyle/>
          <a:p>
            <a:pPr algn="just"/>
            <a:r>
              <a:rPr lang="en-US" sz="2400" b="0" i="0" dirty="0">
                <a:solidFill>
                  <a:srgbClr val="000000"/>
                </a:solidFill>
                <a:effectLst/>
                <a:cs typeface="Times New Roman" panose="02020603050405020304" pitchFamily="18" charset="0"/>
              </a:rPr>
              <a:t>3. If a person responds the same way over time, attribution theory states that the </a:t>
            </a:r>
            <a:r>
              <a:rPr lang="en-US" sz="2400" b="0" i="0" dirty="0" err="1">
                <a:solidFill>
                  <a:srgbClr val="000000"/>
                </a:solidFill>
                <a:effectLst/>
                <a:cs typeface="Times New Roman" panose="02020603050405020304" pitchFamily="18" charset="0"/>
              </a:rPr>
              <a:t>behaviour</a:t>
            </a:r>
            <a:r>
              <a:rPr lang="en-US" sz="2400" b="0" i="0" dirty="0">
                <a:solidFill>
                  <a:srgbClr val="000000"/>
                </a:solidFill>
                <a:effectLst/>
                <a:cs typeface="Times New Roman" panose="02020603050405020304" pitchFamily="18" charset="0"/>
              </a:rPr>
              <a:t> shows. </a:t>
            </a:r>
          </a:p>
          <a:p>
            <a:pPr algn="just"/>
            <a:r>
              <a:rPr lang="en-US" sz="2400" b="0" i="0" dirty="0">
                <a:solidFill>
                  <a:srgbClr val="000000"/>
                </a:solidFill>
                <a:effectLst/>
                <a:cs typeface="Times New Roman" panose="02020603050405020304" pitchFamily="18" charset="0"/>
              </a:rPr>
              <a:t>a. Distinctiveness </a:t>
            </a:r>
          </a:p>
          <a:p>
            <a:pPr algn="just"/>
            <a:r>
              <a:rPr lang="en-US" sz="2400" b="0" i="0" dirty="0">
                <a:solidFill>
                  <a:srgbClr val="000000"/>
                </a:solidFill>
                <a:effectLst/>
                <a:cs typeface="Times New Roman" panose="02020603050405020304" pitchFamily="18" charset="0"/>
              </a:rPr>
              <a:t>b. Consensus </a:t>
            </a:r>
          </a:p>
          <a:p>
            <a:pPr algn="just"/>
            <a:r>
              <a:rPr lang="en-US" sz="2400" b="0" i="0" dirty="0">
                <a:solidFill>
                  <a:srgbClr val="000000"/>
                </a:solidFill>
                <a:effectLst/>
                <a:cs typeface="Times New Roman" panose="02020603050405020304" pitchFamily="18" charset="0"/>
              </a:rPr>
              <a:t>c. Consistency </a:t>
            </a:r>
          </a:p>
          <a:p>
            <a:pPr algn="just"/>
            <a:r>
              <a:rPr lang="en-US" sz="2400" b="0" i="0" dirty="0">
                <a:solidFill>
                  <a:srgbClr val="000000"/>
                </a:solidFill>
                <a:effectLst/>
                <a:cs typeface="Times New Roman" panose="02020603050405020304" pitchFamily="18" charset="0"/>
              </a:rPr>
              <a:t>d. continuity </a:t>
            </a:r>
          </a:p>
          <a:p>
            <a:pPr algn="just"/>
            <a:r>
              <a:rPr lang="en-US" sz="2400" b="0" i="0" dirty="0">
                <a:solidFill>
                  <a:srgbClr val="000000"/>
                </a:solidFill>
                <a:effectLst/>
                <a:cs typeface="Times New Roman" panose="02020603050405020304" pitchFamily="18" charset="0"/>
              </a:rPr>
              <a:t>4. </a:t>
            </a:r>
            <a:r>
              <a:rPr lang="en-US" sz="2400" b="0" i="0" dirty="0" err="1">
                <a:solidFill>
                  <a:srgbClr val="000000"/>
                </a:solidFill>
                <a:effectLst/>
                <a:cs typeface="Times New Roman" panose="02020603050405020304" pitchFamily="18" charset="0"/>
              </a:rPr>
              <a:t>Mr.Balu</a:t>
            </a:r>
            <a:r>
              <a:rPr lang="en-US" sz="2400" b="0" i="0" dirty="0">
                <a:solidFill>
                  <a:srgbClr val="000000"/>
                </a:solidFill>
                <a:effectLst/>
                <a:cs typeface="Times New Roman" panose="02020603050405020304" pitchFamily="18" charset="0"/>
              </a:rPr>
              <a:t> is late for work each day by about ten minutes. How would attribution theory describe this </a:t>
            </a:r>
            <a:r>
              <a:rPr lang="en-US" sz="2400" b="0" i="0" dirty="0" err="1">
                <a:solidFill>
                  <a:srgbClr val="000000"/>
                </a:solidFill>
                <a:effectLst/>
                <a:cs typeface="Times New Roman" panose="02020603050405020304" pitchFamily="18" charset="0"/>
              </a:rPr>
              <a:t>behaviour</a:t>
            </a:r>
            <a:r>
              <a:rPr lang="en-US" sz="2400" b="0" i="0" dirty="0">
                <a:solidFill>
                  <a:srgbClr val="000000"/>
                </a:solidFill>
                <a:effectLst/>
                <a:cs typeface="Times New Roman" panose="02020603050405020304" pitchFamily="18" charset="0"/>
              </a:rPr>
              <a:t>? </a:t>
            </a:r>
          </a:p>
          <a:p>
            <a:pPr algn="just"/>
            <a:r>
              <a:rPr lang="en-US" sz="2400" b="0" i="0" dirty="0">
                <a:solidFill>
                  <a:srgbClr val="000000"/>
                </a:solidFill>
                <a:effectLst/>
                <a:cs typeface="Times New Roman" panose="02020603050405020304" pitchFamily="18" charset="0"/>
              </a:rPr>
              <a:t>a. It shows consensus. </a:t>
            </a:r>
          </a:p>
          <a:p>
            <a:pPr algn="just"/>
            <a:r>
              <a:rPr lang="en-US" sz="2400" b="0" i="0" dirty="0">
                <a:solidFill>
                  <a:srgbClr val="000000"/>
                </a:solidFill>
                <a:effectLst/>
                <a:cs typeface="Times New Roman" panose="02020603050405020304" pitchFamily="18" charset="0"/>
              </a:rPr>
              <a:t>b. It shows similarity. </a:t>
            </a:r>
          </a:p>
          <a:p>
            <a:pPr algn="just"/>
            <a:r>
              <a:rPr lang="en-US" sz="2400" b="0" i="0" dirty="0">
                <a:solidFill>
                  <a:srgbClr val="000000"/>
                </a:solidFill>
                <a:effectLst/>
                <a:cs typeface="Times New Roman" panose="02020603050405020304" pitchFamily="18" charset="0"/>
              </a:rPr>
              <a:t>c. It shows reliability. </a:t>
            </a:r>
          </a:p>
          <a:p>
            <a:pPr algn="just"/>
            <a:r>
              <a:rPr lang="en-US" sz="2400" b="0" i="0" dirty="0">
                <a:solidFill>
                  <a:srgbClr val="000000"/>
                </a:solidFill>
                <a:effectLst/>
                <a:cs typeface="Times New Roman" panose="02020603050405020304" pitchFamily="18" charset="0"/>
              </a:rPr>
              <a:t>d. It shows consistency</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03434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Weekly Assignment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1938992"/>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Define OB. Discuss its nature and scope.</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Discuss the impact of Globalization and diversity on Organizational behavior.</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Explain the implications of Perception on managerial decision making.</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Differentiate between Internal and External Locus of Control.</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28275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MCQ 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4893647"/>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Which </a:t>
            </a:r>
            <a:r>
              <a:rPr lang="en-US" sz="2400" b="0" i="0" dirty="0" err="1">
                <a:solidFill>
                  <a:srgbClr val="000000"/>
                </a:solidFill>
                <a:effectLst/>
                <a:cs typeface="Times New Roman" panose="02020603050405020304" pitchFamily="18" charset="0"/>
              </a:rPr>
              <a:t>behavioural</a:t>
            </a:r>
            <a:r>
              <a:rPr lang="en-US" sz="2400" b="0" i="0" dirty="0">
                <a:solidFill>
                  <a:srgbClr val="000000"/>
                </a:solidFill>
                <a:effectLst/>
                <a:cs typeface="Times New Roman" panose="02020603050405020304" pitchFamily="18" charset="0"/>
              </a:rPr>
              <a:t> science discipline is most focused on understanding individual </a:t>
            </a:r>
            <a:r>
              <a:rPr lang="en-US" sz="2400" b="0" i="0" dirty="0" err="1">
                <a:solidFill>
                  <a:srgbClr val="000000"/>
                </a:solidFill>
                <a:effectLst/>
                <a:cs typeface="Times New Roman" panose="02020603050405020304" pitchFamily="18" charset="0"/>
              </a:rPr>
              <a:t>behaviour</a:t>
            </a:r>
            <a:r>
              <a:rPr lang="en-US" sz="2400" b="0" i="0" dirty="0">
                <a:solidFill>
                  <a:srgbClr val="000000"/>
                </a:solidFill>
                <a:effectLst/>
                <a:cs typeface="Times New Roman" panose="02020603050405020304" pitchFamily="18" charset="0"/>
              </a:rPr>
              <a:t>?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Sociology</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social psychology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Psychology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anthropology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2. The science that seeks to measure, explain, and sometimes change the </a:t>
            </a:r>
            <a:r>
              <a:rPr lang="en-US" sz="2400" b="0" i="0" dirty="0" err="1">
                <a:solidFill>
                  <a:srgbClr val="000000"/>
                </a:solidFill>
                <a:effectLst/>
                <a:cs typeface="Times New Roman" panose="02020603050405020304" pitchFamily="18" charset="0"/>
              </a:rPr>
              <a:t>behaviour</a:t>
            </a:r>
            <a:r>
              <a:rPr lang="en-US" sz="2400" b="0" i="0" dirty="0">
                <a:solidFill>
                  <a:srgbClr val="000000"/>
                </a:solidFill>
                <a:effectLst/>
                <a:cs typeface="Times New Roman" panose="02020603050405020304" pitchFamily="18" charset="0"/>
              </a:rPr>
              <a:t> of humans and other animals is known as .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Psychiatry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Psychology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Sociology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organizational behavior</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00711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MCQ 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4893647"/>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Which </a:t>
            </a:r>
            <a:r>
              <a:rPr lang="en-US" sz="2400" b="0" i="0" dirty="0" err="1">
                <a:solidFill>
                  <a:srgbClr val="000000"/>
                </a:solidFill>
                <a:effectLst/>
                <a:cs typeface="Times New Roman" panose="02020603050405020304" pitchFamily="18" charset="0"/>
              </a:rPr>
              <a:t>behavioural</a:t>
            </a:r>
            <a:r>
              <a:rPr lang="en-US" sz="2400" b="0" i="0" dirty="0">
                <a:solidFill>
                  <a:srgbClr val="000000"/>
                </a:solidFill>
                <a:effectLst/>
                <a:cs typeface="Times New Roman" panose="02020603050405020304" pitchFamily="18" charset="0"/>
              </a:rPr>
              <a:t> science discipline is most focused on understanding individual </a:t>
            </a:r>
            <a:r>
              <a:rPr lang="en-US" sz="2400" b="0" i="0" dirty="0" err="1">
                <a:solidFill>
                  <a:srgbClr val="000000"/>
                </a:solidFill>
                <a:effectLst/>
                <a:cs typeface="Times New Roman" panose="02020603050405020304" pitchFamily="18" charset="0"/>
              </a:rPr>
              <a:t>behaviour</a:t>
            </a:r>
            <a:r>
              <a:rPr lang="en-US" sz="2400" b="0" i="0" dirty="0">
                <a:solidFill>
                  <a:srgbClr val="000000"/>
                </a:solidFill>
                <a:effectLst/>
                <a:cs typeface="Times New Roman" panose="02020603050405020304" pitchFamily="18" charset="0"/>
              </a:rPr>
              <a:t>?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Sociology</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social psychology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Psychology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anthropology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2. The science that seeks to measure, explain, and sometimes change the </a:t>
            </a:r>
            <a:r>
              <a:rPr lang="en-US" sz="2400" b="0" i="0" dirty="0" err="1">
                <a:solidFill>
                  <a:srgbClr val="000000"/>
                </a:solidFill>
                <a:effectLst/>
                <a:cs typeface="Times New Roman" panose="02020603050405020304" pitchFamily="18" charset="0"/>
              </a:rPr>
              <a:t>behaviour</a:t>
            </a:r>
            <a:r>
              <a:rPr lang="en-US" sz="2400" b="0" i="0" dirty="0">
                <a:solidFill>
                  <a:srgbClr val="000000"/>
                </a:solidFill>
                <a:effectLst/>
                <a:cs typeface="Times New Roman" panose="02020603050405020304" pitchFamily="18" charset="0"/>
              </a:rPr>
              <a:t> of humans and other animals is known as .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Psychiatry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Psychology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Sociology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organizational behavior</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4816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MCQ 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4524315"/>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3. Organization Behavior is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An interdisciplinary approach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A humanistic approach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Total system approach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All of these </a:t>
            </a:r>
          </a:p>
          <a:p>
            <a:pPr marL="342900" indent="-342900" algn="just">
              <a:buFont typeface="Arial" panose="020B0604020202020204" pitchFamily="34" charset="0"/>
              <a:buChar char="•"/>
            </a:pPr>
            <a:endParaRPr lang="en-US" sz="2400" b="0" i="0" dirty="0">
              <a:solidFill>
                <a:srgbClr val="000000"/>
              </a:solidFill>
              <a:effectLst/>
              <a:cs typeface="Times New Roman" panose="02020603050405020304" pitchFamily="18" charset="0"/>
            </a:endParaRP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4. Organization Behavior is not a /an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A separate field of study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Applied science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Normative science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Pessimistic approach</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41516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MCQ 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4893647"/>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5. The cognitive process through which an individual selects, organizes but misinterprets environmental stimuli is known as_________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Perception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Projection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Selective Perception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Mis-Perception</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6. What is the process by which individuals organize and interpret their sensory impressions in order to give meaning to their environment?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Interpretation</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environmental analysis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Outlook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perception</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40484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Expected Questions for University Exam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4893647"/>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What is organizational behavior?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What are the major </a:t>
            </a:r>
            <a:r>
              <a:rPr lang="en-US" sz="2400" b="0" i="0" dirty="0" err="1">
                <a:solidFill>
                  <a:srgbClr val="000000"/>
                </a:solidFill>
                <a:effectLst/>
                <a:cs typeface="Times New Roman" panose="02020603050405020304" pitchFamily="18" charset="0"/>
              </a:rPr>
              <a:t>behavioural</a:t>
            </a:r>
            <a:r>
              <a:rPr lang="en-US" sz="2400" b="0" i="0" dirty="0">
                <a:solidFill>
                  <a:srgbClr val="000000"/>
                </a:solidFill>
                <a:effectLst/>
                <a:cs typeface="Times New Roman" panose="02020603050405020304" pitchFamily="18" charset="0"/>
              </a:rPr>
              <a:t> science disciplines that contribute to OB?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What is the link between perception and decision making? How does one affect the other?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What are some of the common decision biases or errors that people make?</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What are the influences of individual differences, organizational constraints, and culture on decision making?</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Discuss the nature and scope of OB.</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Discuss the impact of Globalization and diversity on Organizational behavior.</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Explain the implications of Perception on managerial decision making.</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Differentiate between Internal and External Locus of Control.</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10. Explain the Attribution theory.</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90256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Recap of the Unit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1938992"/>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This topic tells us about the subject of Organizational behavior and the disciplines contributing to it. We also discussed about  the cognitive process- perception, its process and the various perceptual errors.  The unit also explain the Attribution theory and the Locus of control.</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24394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8/12/2024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References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2308324"/>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1.Robbins Stephen P&amp; Judge Timothy A. ―Organizational </a:t>
            </a:r>
            <a:r>
              <a:rPr lang="en-US" sz="2400" b="0" i="0" dirty="0" err="1">
                <a:solidFill>
                  <a:srgbClr val="000000"/>
                </a:solidFill>
                <a:effectLst/>
                <a:cs typeface="Times New Roman" panose="02020603050405020304" pitchFamily="18" charset="0"/>
              </a:rPr>
              <a:t>Behaviour</a:t>
            </a:r>
            <a:r>
              <a:rPr lang="en-US" sz="2400" b="0" i="0" dirty="0">
                <a:solidFill>
                  <a:srgbClr val="000000"/>
                </a:solidFill>
                <a:effectLst/>
                <a:cs typeface="Times New Roman" panose="02020603050405020304" pitchFamily="18" charset="0"/>
              </a:rPr>
              <a:t> (Pearson)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2. Pareek </a:t>
            </a:r>
            <a:r>
              <a:rPr lang="en-US" sz="2400" b="0" i="0" dirty="0" err="1">
                <a:solidFill>
                  <a:srgbClr val="000000"/>
                </a:solidFill>
                <a:effectLst/>
                <a:cs typeface="Times New Roman" panose="02020603050405020304" pitchFamily="18" charset="0"/>
              </a:rPr>
              <a:t>Udai</a:t>
            </a:r>
            <a:r>
              <a:rPr lang="en-US" sz="2400" b="0" i="0" dirty="0">
                <a:solidFill>
                  <a:srgbClr val="000000"/>
                </a:solidFill>
                <a:effectLst/>
                <a:cs typeface="Times New Roman" panose="02020603050405020304" pitchFamily="18" charset="0"/>
              </a:rPr>
              <a:t> :Understanding Organizational </a:t>
            </a:r>
            <a:r>
              <a:rPr lang="en-US" sz="2400" b="0" i="0" dirty="0" err="1">
                <a:solidFill>
                  <a:srgbClr val="000000"/>
                </a:solidFill>
                <a:effectLst/>
                <a:cs typeface="Times New Roman" panose="02020603050405020304" pitchFamily="18" charset="0"/>
              </a:rPr>
              <a:t>Behaviour</a:t>
            </a:r>
            <a:r>
              <a:rPr lang="en-US" sz="2400" b="0" i="0" dirty="0">
                <a:solidFill>
                  <a:srgbClr val="000000"/>
                </a:solidFill>
                <a:effectLst/>
                <a:cs typeface="Times New Roman" panose="02020603050405020304" pitchFamily="18" charset="0"/>
              </a:rPr>
              <a:t>, (Oxford University Press, 4th Edition, 2016) </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3. Luthans Fred : Organizational </a:t>
            </a:r>
            <a:r>
              <a:rPr lang="en-US" sz="2400" b="0" i="0" dirty="0" err="1">
                <a:solidFill>
                  <a:srgbClr val="000000"/>
                </a:solidFill>
                <a:effectLst/>
                <a:cs typeface="Times New Roman" panose="02020603050405020304" pitchFamily="18" charset="0"/>
              </a:rPr>
              <a:t>Behaviour</a:t>
            </a:r>
            <a:r>
              <a:rPr lang="en-US" sz="2400" b="0" i="0" dirty="0">
                <a:solidFill>
                  <a:srgbClr val="000000"/>
                </a:solidFill>
                <a:effectLst/>
                <a:cs typeface="Times New Roman" panose="02020603050405020304" pitchFamily="18" charset="0"/>
              </a:rPr>
              <a:t>, (McGraw Hill International Edition, 12th Edition,2013)</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3576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8056</TotalTime>
  <Words>6192</Words>
  <Application>Microsoft Office PowerPoint</Application>
  <PresentationFormat>Widescreen</PresentationFormat>
  <Paragraphs>777</Paragraphs>
  <Slides>73</Slides>
  <Notes>73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73</vt:i4>
      </vt:variant>
    </vt:vector>
  </HeadingPairs>
  <TitlesOfParts>
    <vt:vector size="85" baseType="lpstr">
      <vt:lpstr>Arial</vt:lpstr>
      <vt:lpstr>Calibri</vt:lpstr>
      <vt:lpstr>Calibri Light</vt:lpstr>
      <vt:lpstr>FS Albert Extra Bold</vt:lpstr>
      <vt:lpstr>Georgia</vt:lpstr>
      <vt:lpstr>Merriweather</vt:lpstr>
      <vt:lpstr>Open Sans</vt:lpstr>
      <vt:lpstr>Times New Roman</vt:lpstr>
      <vt:lpstr>var(--body-font)</vt:lpstr>
      <vt:lpstr>var(--title-font)</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hr.deepika13@outlook.com</dc:creator>
  <cp:lastModifiedBy>hr.deepika13@outlook.com</cp:lastModifiedBy>
  <cp:revision>14</cp:revision>
  <dcterms:created xsi:type="dcterms:W3CDTF">2024-07-29T07:50:59Z</dcterms:created>
  <dcterms:modified xsi:type="dcterms:W3CDTF">2024-08-12T11:01:04Z</dcterms:modified>
</cp:coreProperties>
</file>