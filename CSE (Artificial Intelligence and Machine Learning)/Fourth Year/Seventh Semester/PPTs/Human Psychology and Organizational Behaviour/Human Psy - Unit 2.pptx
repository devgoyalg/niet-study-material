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257"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331" r:id="rId19"/>
    <p:sldId id="332" r:id="rId20"/>
    <p:sldId id="333" r:id="rId21"/>
    <p:sldId id="334" r:id="rId22"/>
    <p:sldId id="335" r:id="rId23"/>
    <p:sldId id="336" r:id="rId24"/>
    <p:sldId id="337" r:id="rId25"/>
    <p:sldId id="338" r:id="rId26"/>
    <p:sldId id="339" r:id="rId27"/>
    <p:sldId id="340" r:id="rId28"/>
    <p:sldId id="341" r:id="rId29"/>
    <p:sldId id="280" r:id="rId30"/>
    <p:sldId id="281" r:id="rId31"/>
    <p:sldId id="282" r:id="rId32"/>
    <p:sldId id="283" r:id="rId33"/>
    <p:sldId id="287" r:id="rId34"/>
    <p:sldId id="284" r:id="rId35"/>
    <p:sldId id="285" r:id="rId36"/>
    <p:sldId id="286" r:id="rId37"/>
    <p:sldId id="342" r:id="rId38"/>
    <p:sldId id="343" r:id="rId39"/>
    <p:sldId id="288" r:id="rId40"/>
    <p:sldId id="289" r:id="rId41"/>
    <p:sldId id="290" r:id="rId42"/>
    <p:sldId id="291" r:id="rId43"/>
    <p:sldId id="344" r:id="rId44"/>
    <p:sldId id="345" r:id="rId45"/>
    <p:sldId id="346" r:id="rId46"/>
    <p:sldId id="292" r:id="rId47"/>
    <p:sldId id="294" r:id="rId48"/>
    <p:sldId id="293"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47" r:id="rId64"/>
    <p:sldId id="309" r:id="rId65"/>
    <p:sldId id="310" r:id="rId66"/>
    <p:sldId id="311" r:id="rId67"/>
    <p:sldId id="323" r:id="rId68"/>
    <p:sldId id="324" r:id="rId69"/>
    <p:sldId id="325" r:id="rId70"/>
    <p:sldId id="326" r:id="rId71"/>
    <p:sldId id="327" r:id="rId72"/>
    <p:sldId id="328" r:id="rId73"/>
    <p:sldId id="329" r:id="rId74"/>
    <p:sldId id="330"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09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A98377-F0CE-4B77-A714-FED9B4F735A3}" type="datetimeFigureOut">
              <a:rPr lang="en-IN" smtClean="0"/>
              <a:t>09-09-2024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99E85A-DC5C-42BB-8159-0A097CB445BA}" type="slidenum">
              <a:rPr lang="en-IN" smtClean="0"/>
              <a:t>‹#›</a:t>
            </a:fld>
            <a:endParaRPr lang="en-IN"/>
          </a:p>
        </p:txBody>
      </p:sp>
    </p:spTree>
    <p:extLst>
      <p:ext uri="{BB962C8B-B14F-4D97-AF65-F5344CB8AC3E}">
        <p14:creationId xmlns:p14="http://schemas.microsoft.com/office/powerpoint/2010/main" val="123501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geektonight.com/what-is-attitude-meaning-functions-types-importance-components/#attitude-meaning"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Tree>
    <p:extLst>
      <p:ext uri="{BB962C8B-B14F-4D97-AF65-F5344CB8AC3E}">
        <p14:creationId xmlns:p14="http://schemas.microsoft.com/office/powerpoint/2010/main" val="2155221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a:t>
            </a:fld>
            <a:endParaRPr lang="en-US"/>
          </a:p>
        </p:txBody>
      </p:sp>
    </p:spTree>
    <p:extLst>
      <p:ext uri="{BB962C8B-B14F-4D97-AF65-F5344CB8AC3E}">
        <p14:creationId xmlns:p14="http://schemas.microsoft.com/office/powerpoint/2010/main" val="1179126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4125203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5</a:t>
            </a:fld>
            <a:endParaRPr lang="en-US"/>
          </a:p>
        </p:txBody>
      </p:sp>
    </p:spTree>
    <p:extLst>
      <p:ext uri="{BB962C8B-B14F-4D97-AF65-F5344CB8AC3E}">
        <p14:creationId xmlns:p14="http://schemas.microsoft.com/office/powerpoint/2010/main" val="2438766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6</a:t>
            </a:fld>
            <a:endParaRPr lang="en-US"/>
          </a:p>
        </p:txBody>
      </p:sp>
    </p:spTree>
    <p:extLst>
      <p:ext uri="{BB962C8B-B14F-4D97-AF65-F5344CB8AC3E}">
        <p14:creationId xmlns:p14="http://schemas.microsoft.com/office/powerpoint/2010/main" val="19772474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7</a:t>
            </a:fld>
            <a:endParaRPr lang="en-US"/>
          </a:p>
        </p:txBody>
      </p:sp>
    </p:spTree>
    <p:extLst>
      <p:ext uri="{BB962C8B-B14F-4D97-AF65-F5344CB8AC3E}">
        <p14:creationId xmlns:p14="http://schemas.microsoft.com/office/powerpoint/2010/main" val="27870209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8</a:t>
            </a:fld>
            <a:endParaRPr lang="en-US"/>
          </a:p>
        </p:txBody>
      </p:sp>
    </p:spTree>
    <p:extLst>
      <p:ext uri="{BB962C8B-B14F-4D97-AF65-F5344CB8AC3E}">
        <p14:creationId xmlns:p14="http://schemas.microsoft.com/office/powerpoint/2010/main" val="18900083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9</a:t>
            </a:fld>
            <a:endParaRPr lang="en-US"/>
          </a:p>
        </p:txBody>
      </p:sp>
    </p:spTree>
    <p:extLst>
      <p:ext uri="{BB962C8B-B14F-4D97-AF65-F5344CB8AC3E}">
        <p14:creationId xmlns:p14="http://schemas.microsoft.com/office/powerpoint/2010/main" val="1880402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10</a:t>
            </a:fld>
            <a:endParaRPr lang="en-US"/>
          </a:p>
        </p:txBody>
      </p:sp>
    </p:spTree>
    <p:extLst>
      <p:ext uri="{BB962C8B-B14F-4D97-AF65-F5344CB8AC3E}">
        <p14:creationId xmlns:p14="http://schemas.microsoft.com/office/powerpoint/2010/main" val="25296292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11</a:t>
            </a:fld>
            <a:endParaRPr lang="en-US"/>
          </a:p>
        </p:txBody>
      </p:sp>
    </p:spTree>
    <p:extLst>
      <p:ext uri="{BB962C8B-B14F-4D97-AF65-F5344CB8AC3E}">
        <p14:creationId xmlns:p14="http://schemas.microsoft.com/office/powerpoint/2010/main" val="10842631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12</a:t>
            </a:fld>
            <a:endParaRPr lang="en-US"/>
          </a:p>
        </p:txBody>
      </p:sp>
    </p:spTree>
    <p:extLst>
      <p:ext uri="{BB962C8B-B14F-4D97-AF65-F5344CB8AC3E}">
        <p14:creationId xmlns:p14="http://schemas.microsoft.com/office/powerpoint/2010/main" val="24873487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a:t>
            </a:fld>
            <a:endParaRPr lang="en-US"/>
          </a:p>
        </p:txBody>
      </p:sp>
    </p:spTree>
    <p:extLst>
      <p:ext uri="{BB962C8B-B14F-4D97-AF65-F5344CB8AC3E}">
        <p14:creationId xmlns:p14="http://schemas.microsoft.com/office/powerpoint/2010/main" val="3028555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14</a:t>
            </a:fld>
            <a:endParaRPr lang="en-US"/>
          </a:p>
        </p:txBody>
      </p:sp>
    </p:spTree>
    <p:extLst>
      <p:ext uri="{BB962C8B-B14F-4D97-AF65-F5344CB8AC3E}">
        <p14:creationId xmlns:p14="http://schemas.microsoft.com/office/powerpoint/2010/main" val="34991996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15</a:t>
            </a:fld>
            <a:endParaRPr lang="en-US"/>
          </a:p>
        </p:txBody>
      </p:sp>
    </p:spTree>
    <p:extLst>
      <p:ext uri="{BB962C8B-B14F-4D97-AF65-F5344CB8AC3E}">
        <p14:creationId xmlns:p14="http://schemas.microsoft.com/office/powerpoint/2010/main" val="17768510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16</a:t>
            </a:fld>
            <a:endParaRPr lang="en-US"/>
          </a:p>
        </p:txBody>
      </p:sp>
    </p:spTree>
    <p:extLst>
      <p:ext uri="{BB962C8B-B14F-4D97-AF65-F5344CB8AC3E}">
        <p14:creationId xmlns:p14="http://schemas.microsoft.com/office/powerpoint/2010/main" val="42255155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17</a:t>
            </a:fld>
            <a:endParaRPr lang="en-US"/>
          </a:p>
        </p:txBody>
      </p:sp>
    </p:spTree>
    <p:extLst>
      <p:ext uri="{BB962C8B-B14F-4D97-AF65-F5344CB8AC3E}">
        <p14:creationId xmlns:p14="http://schemas.microsoft.com/office/powerpoint/2010/main" val="20156344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Clan Culture:</a:t>
            </a:r>
            <a:r>
              <a:rPr lang="en-US" b="0" i="0" dirty="0">
                <a:solidFill>
                  <a:srgbClr val="3A3B41"/>
                </a:solidFill>
                <a:effectLst/>
                <a:highlight>
                  <a:srgbClr val="F0F2FA"/>
                </a:highlight>
                <a:latin typeface="Georgia" panose="02040502050405020303" pitchFamily="18" charset="0"/>
              </a:rPr>
              <a:t> emphasizes collaboration across teams and a horizontal structure. </a:t>
            </a:r>
          </a:p>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Adhocracy Culture:</a:t>
            </a:r>
            <a:r>
              <a:rPr lang="en-US" b="0" i="0" dirty="0">
                <a:solidFill>
                  <a:srgbClr val="3A3B41"/>
                </a:solidFill>
                <a:effectLst/>
                <a:highlight>
                  <a:srgbClr val="F0F2FA"/>
                </a:highlight>
                <a:latin typeface="Georgia" panose="02040502050405020303" pitchFamily="18" charset="0"/>
              </a:rPr>
              <a:t> allows individuals to share ideas and encourages the company to take risks. </a:t>
            </a:r>
          </a:p>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Market Culture:</a:t>
            </a:r>
            <a:r>
              <a:rPr lang="en-US" b="0" i="0" dirty="0">
                <a:solidFill>
                  <a:srgbClr val="3A3B41"/>
                </a:solidFill>
                <a:effectLst/>
                <a:highlight>
                  <a:srgbClr val="F0F2FA"/>
                </a:highlight>
                <a:latin typeface="Georgia" panose="02040502050405020303" pitchFamily="18" charset="0"/>
              </a:rPr>
              <a:t> focuses on financial success and how each employee contributes to revenue. </a:t>
            </a:r>
          </a:p>
          <a:p>
            <a:pPr algn="l">
              <a:buFont typeface="Arial" panose="020B0604020202020204" pitchFamily="34" charset="0"/>
              <a:buChar char="•"/>
            </a:pPr>
            <a:r>
              <a:rPr lang="en-US" b="1" i="0" dirty="0">
                <a:solidFill>
                  <a:srgbClr val="3A3B41"/>
                </a:solidFill>
                <a:effectLst/>
                <a:highlight>
                  <a:srgbClr val="F0F2FA"/>
                </a:highlight>
                <a:latin typeface="Georgia" panose="02040502050405020303" pitchFamily="18" charset="0"/>
              </a:rPr>
              <a:t>Hierarchy Culture:</a:t>
            </a:r>
            <a:r>
              <a:rPr lang="en-US" b="0" i="0" dirty="0">
                <a:solidFill>
                  <a:srgbClr val="3A3B41"/>
                </a:solidFill>
                <a:effectLst/>
                <a:highlight>
                  <a:srgbClr val="F0F2FA"/>
                </a:highlight>
                <a:latin typeface="Georgia" panose="02040502050405020303" pitchFamily="18" charset="0"/>
              </a:rPr>
              <a:t> emphasizes career paths and provides clear managerial processes.  </a:t>
            </a: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18</a:t>
            </a:fld>
            <a:endParaRPr lang="en-US"/>
          </a:p>
        </p:txBody>
      </p:sp>
    </p:spTree>
    <p:extLst>
      <p:ext uri="{BB962C8B-B14F-4D97-AF65-F5344CB8AC3E}">
        <p14:creationId xmlns:p14="http://schemas.microsoft.com/office/powerpoint/2010/main" val="11219887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19</a:t>
            </a:fld>
            <a:endParaRPr lang="en-US"/>
          </a:p>
        </p:txBody>
      </p:sp>
    </p:spTree>
    <p:extLst>
      <p:ext uri="{BB962C8B-B14F-4D97-AF65-F5344CB8AC3E}">
        <p14:creationId xmlns:p14="http://schemas.microsoft.com/office/powerpoint/2010/main" val="41886165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70000" lnSpcReduction="20000"/>
          </a:bodyPr>
          <a:lstStyle/>
          <a:p>
            <a:pPr algn="l" fontAlgn="base"/>
            <a:r>
              <a:rPr lang="en-US" b="1" i="0" dirty="0">
                <a:solidFill>
                  <a:srgbClr val="1468A1"/>
                </a:solidFill>
                <a:effectLst/>
                <a:highlight>
                  <a:srgbClr val="FFFFFF"/>
                </a:highlight>
                <a:latin typeface="inherit"/>
              </a:rPr>
              <a:t>Biological Factors</a:t>
            </a:r>
            <a:endParaRPr lang="en-US" b="1" i="0" dirty="0">
              <a:solidFill>
                <a:srgbClr val="1468A1"/>
              </a:solidFill>
              <a:effectLst/>
              <a:highlight>
                <a:srgbClr val="FFFFFF"/>
              </a:highlight>
              <a:latin typeface="Muli"/>
            </a:endParaRPr>
          </a:p>
          <a:p>
            <a:pPr algn="l" fontAlgn="base"/>
            <a:r>
              <a:rPr lang="en-US" b="0" i="0" dirty="0">
                <a:solidFill>
                  <a:srgbClr val="0A0A0A"/>
                </a:solidFill>
                <a:effectLst/>
                <a:highlight>
                  <a:srgbClr val="FFFFFF"/>
                </a:highlight>
                <a:latin typeface="Muli"/>
              </a:rPr>
              <a:t>The study of the biological contributions to personality may be studied under three heads:</a:t>
            </a:r>
          </a:p>
          <a:p>
            <a:pPr algn="l" fontAlgn="base"/>
            <a:r>
              <a:rPr lang="en-US" b="0" i="0" dirty="0">
                <a:solidFill>
                  <a:srgbClr val="333333"/>
                </a:solidFill>
                <a:effectLst/>
                <a:highlight>
                  <a:srgbClr val="FFFFFF"/>
                </a:highlight>
                <a:latin typeface="inherit"/>
              </a:rPr>
              <a:t>Heredity</a:t>
            </a:r>
            <a:endParaRPr lang="en-US" b="0" i="0" dirty="0">
              <a:solidFill>
                <a:srgbClr val="333333"/>
              </a:solidFill>
              <a:effectLst/>
              <a:highlight>
                <a:srgbClr val="FFFFFF"/>
              </a:highlight>
              <a:latin typeface="Muli"/>
            </a:endParaRPr>
          </a:p>
          <a:p>
            <a:pPr algn="l" fontAlgn="base"/>
            <a:r>
              <a:rPr lang="en-US" b="0" i="0" dirty="0">
                <a:solidFill>
                  <a:srgbClr val="0A0A0A"/>
                </a:solidFill>
                <a:effectLst/>
                <a:highlight>
                  <a:srgbClr val="FFFFFF"/>
                </a:highlight>
                <a:latin typeface="Muli"/>
              </a:rPr>
              <a:t>Heredity refers to those </a:t>
            </a:r>
            <a:r>
              <a:rPr lang="en-US" b="1" i="0" dirty="0">
                <a:solidFill>
                  <a:srgbClr val="0A0A0A"/>
                </a:solidFill>
                <a:effectLst/>
                <a:highlight>
                  <a:srgbClr val="FFFFFF"/>
                </a:highlight>
                <a:latin typeface="inherit"/>
              </a:rPr>
              <a:t>factors that were determined at conception</a:t>
            </a:r>
            <a:r>
              <a:rPr lang="en-US" b="0" i="0" dirty="0">
                <a:solidFill>
                  <a:srgbClr val="0A0A0A"/>
                </a:solidFill>
                <a:effectLst/>
                <a:highlight>
                  <a:srgbClr val="FFFFFF"/>
                </a:highlight>
                <a:latin typeface="Muli"/>
              </a:rPr>
              <a:t>. Physical stature, facial attractiveness, sex, temperament, muscle composition and reflexes, energy level, and biological rhythms are characteristics that are considered to be inherent from one’s parents.</a:t>
            </a:r>
          </a:p>
          <a:p>
            <a:pPr algn="l" fontAlgn="base"/>
            <a:r>
              <a:rPr lang="en-US" b="0" i="0" dirty="0">
                <a:solidFill>
                  <a:srgbClr val="333333"/>
                </a:solidFill>
                <a:effectLst/>
                <a:highlight>
                  <a:srgbClr val="FFFFFF"/>
                </a:highlight>
                <a:latin typeface="inherit"/>
              </a:rPr>
              <a:t>Brain</a:t>
            </a:r>
            <a:endParaRPr lang="en-US" b="0" i="0" dirty="0">
              <a:solidFill>
                <a:srgbClr val="333333"/>
              </a:solidFill>
              <a:effectLst/>
              <a:highlight>
                <a:srgbClr val="FFFFFF"/>
              </a:highlight>
              <a:latin typeface="Muli"/>
            </a:endParaRPr>
          </a:p>
          <a:p>
            <a:pPr algn="l" fontAlgn="base"/>
            <a:r>
              <a:rPr lang="en-US" b="0" i="0" dirty="0">
                <a:solidFill>
                  <a:srgbClr val="0A0A0A"/>
                </a:solidFill>
                <a:effectLst/>
                <a:highlight>
                  <a:srgbClr val="FFFFFF"/>
                </a:highlight>
                <a:latin typeface="Muli"/>
              </a:rPr>
              <a:t>The second biological approach is to concentrate on the role that the brain plays in personality. The psychologists are unable to prove empirically the contribution of the human brain in influencing personality.</a:t>
            </a:r>
          </a:p>
          <a:p>
            <a:pPr algn="l">
              <a:buFont typeface="Arial" panose="020B0604020202020204" pitchFamily="34" charset="0"/>
              <a:buChar char="•"/>
            </a:pPr>
            <a:endParaRPr lang="en-US" dirty="0"/>
          </a:p>
          <a:p>
            <a:pPr algn="l" fontAlgn="base"/>
            <a:r>
              <a:rPr lang="en-US" b="1" i="0" dirty="0">
                <a:solidFill>
                  <a:srgbClr val="1468A1"/>
                </a:solidFill>
                <a:effectLst/>
                <a:highlight>
                  <a:srgbClr val="FFFFFF"/>
                </a:highlight>
                <a:latin typeface="inherit"/>
              </a:rPr>
              <a:t>Cultural Factors</a:t>
            </a:r>
            <a:endParaRPr lang="en-US" b="1" i="0" dirty="0">
              <a:solidFill>
                <a:srgbClr val="1468A1"/>
              </a:solidFill>
              <a:effectLst/>
              <a:highlight>
                <a:srgbClr val="FFFFFF"/>
              </a:highlight>
              <a:latin typeface="Muli"/>
            </a:endParaRPr>
          </a:p>
          <a:p>
            <a:pPr algn="l" fontAlgn="base"/>
            <a:r>
              <a:rPr lang="en-US" b="0" i="0" dirty="0">
                <a:solidFill>
                  <a:srgbClr val="0A0A0A"/>
                </a:solidFill>
                <a:effectLst/>
                <a:highlight>
                  <a:srgbClr val="FFFFFF"/>
                </a:highlight>
                <a:latin typeface="Muli"/>
              </a:rPr>
              <a:t>Among the factors that influence personality formation is the culture in which </a:t>
            </a:r>
            <a:r>
              <a:rPr lang="en-US" b="1" i="0" dirty="0">
                <a:solidFill>
                  <a:srgbClr val="0A0A0A"/>
                </a:solidFill>
                <a:effectLst/>
                <a:highlight>
                  <a:srgbClr val="FFFFFF"/>
                </a:highlight>
                <a:latin typeface="inherit"/>
              </a:rPr>
              <a:t>we are raised, early conditioning, norms prevailing within</a:t>
            </a:r>
            <a:r>
              <a:rPr lang="en-US" b="0" i="0" dirty="0">
                <a:solidFill>
                  <a:srgbClr val="0A0A0A"/>
                </a:solidFill>
                <a:effectLst/>
                <a:highlight>
                  <a:srgbClr val="FFFFFF"/>
                </a:highlight>
                <a:latin typeface="Muli"/>
              </a:rPr>
              <a:t> the family, friends and social groups and other miscellaneous experiences that impact us.</a:t>
            </a:r>
          </a:p>
          <a:p>
            <a:pPr algn="l" fontAlgn="base"/>
            <a:r>
              <a:rPr lang="en-US" b="0" i="0" dirty="0">
                <a:solidFill>
                  <a:srgbClr val="0A0A0A"/>
                </a:solidFill>
                <a:effectLst/>
                <a:highlight>
                  <a:srgbClr val="FFFFFF"/>
                </a:highlight>
                <a:latin typeface="Muli"/>
              </a:rPr>
              <a:t>The c</a:t>
            </a:r>
            <a:r>
              <a:rPr lang="en-US" b="1" i="0" dirty="0">
                <a:solidFill>
                  <a:srgbClr val="0A0A0A"/>
                </a:solidFill>
                <a:effectLst/>
                <a:highlight>
                  <a:srgbClr val="FFFFFF"/>
                </a:highlight>
                <a:latin typeface="inherit"/>
              </a:rPr>
              <a:t>ulture largely determines attitudes towards</a:t>
            </a:r>
            <a:r>
              <a:rPr lang="en-US" b="0" i="0" dirty="0">
                <a:solidFill>
                  <a:srgbClr val="0A0A0A"/>
                </a:solidFill>
                <a:effectLst/>
                <a:highlight>
                  <a:srgbClr val="FFFFFF"/>
                </a:highlight>
                <a:latin typeface="Muli"/>
              </a:rPr>
              <a:t> independence, aggression, competition, cooperation and a host of other human responses</a:t>
            </a:r>
          </a:p>
          <a:p>
            <a:pPr algn="l">
              <a:buFont typeface="Arial" panose="020B0604020202020204" pitchFamily="34" charset="0"/>
              <a:buChar char="•"/>
            </a:pPr>
            <a:endParaRPr lang="en-US" dirty="0"/>
          </a:p>
          <a:p>
            <a:pPr algn="l" fontAlgn="base"/>
            <a:r>
              <a:rPr lang="en-US" b="1" i="0" dirty="0">
                <a:solidFill>
                  <a:srgbClr val="1468A1"/>
                </a:solidFill>
                <a:effectLst/>
                <a:highlight>
                  <a:srgbClr val="FFFFFF"/>
                </a:highlight>
                <a:latin typeface="inherit"/>
              </a:rPr>
              <a:t>Family Factors</a:t>
            </a:r>
            <a:endParaRPr lang="en-US" b="1" i="0" dirty="0">
              <a:solidFill>
                <a:srgbClr val="1468A1"/>
              </a:solidFill>
              <a:effectLst/>
              <a:highlight>
                <a:srgbClr val="FFFFFF"/>
              </a:highlight>
              <a:latin typeface="Muli"/>
            </a:endParaRPr>
          </a:p>
          <a:p>
            <a:pPr algn="l" fontAlgn="base"/>
            <a:r>
              <a:rPr lang="en-US" b="0" i="0" dirty="0">
                <a:solidFill>
                  <a:srgbClr val="0A0A0A"/>
                </a:solidFill>
                <a:effectLst/>
                <a:highlight>
                  <a:srgbClr val="FFFFFF"/>
                </a:highlight>
                <a:latin typeface="Muli"/>
              </a:rPr>
              <a:t>Whereas the culture generally prescribes and limits what a person can be taught, it is the family, and later the social group, which selects, interprets and dispenses the culture. Thus, the family probably has the most significant impact on early personality development.</a:t>
            </a:r>
          </a:p>
          <a:p>
            <a:pPr algn="l" fontAlgn="base"/>
            <a:r>
              <a:rPr lang="en-US" b="0" i="0" dirty="0">
                <a:solidFill>
                  <a:srgbClr val="0A0A0A"/>
                </a:solidFill>
                <a:effectLst/>
                <a:highlight>
                  <a:srgbClr val="FFFFFF"/>
                </a:highlight>
                <a:latin typeface="Muli"/>
              </a:rPr>
              <a:t>A substantial amount of empirical evidence indicates that the </a:t>
            </a:r>
            <a:r>
              <a:rPr lang="en-US" b="1" i="0" dirty="0">
                <a:solidFill>
                  <a:srgbClr val="0A0A0A"/>
                </a:solidFill>
                <a:effectLst/>
                <a:highlight>
                  <a:srgbClr val="FFFFFF"/>
                </a:highlight>
                <a:latin typeface="inherit"/>
              </a:rPr>
              <a:t>overall home environment created by the parents</a:t>
            </a:r>
            <a:r>
              <a:rPr lang="en-US" b="0" i="0" dirty="0">
                <a:solidFill>
                  <a:srgbClr val="0A0A0A"/>
                </a:solidFill>
                <a:effectLst/>
                <a:highlight>
                  <a:srgbClr val="FFFFFF"/>
                </a:highlight>
                <a:latin typeface="Muli"/>
              </a:rPr>
              <a:t>, in addition to their direct influence, is </a:t>
            </a:r>
            <a:r>
              <a:rPr lang="en-US" b="1" i="0" dirty="0">
                <a:solidFill>
                  <a:srgbClr val="0A0A0A"/>
                </a:solidFill>
                <a:effectLst/>
                <a:highlight>
                  <a:srgbClr val="FFFFFF"/>
                </a:highlight>
                <a:latin typeface="inherit"/>
              </a:rPr>
              <a:t>critical to personality development</a:t>
            </a:r>
            <a:r>
              <a:rPr lang="en-US" b="0" i="0" dirty="0">
                <a:solidFill>
                  <a:srgbClr val="0A0A0A"/>
                </a:solidFill>
                <a:effectLst/>
                <a:highlight>
                  <a:srgbClr val="FFFFFF"/>
                </a:highlight>
                <a:latin typeface="Muli"/>
              </a:rPr>
              <a:t>.</a:t>
            </a:r>
          </a:p>
          <a:p>
            <a:pPr algn="l">
              <a:buFont typeface="Arial" panose="020B0604020202020204" pitchFamily="34" charset="0"/>
              <a:buChar char="•"/>
            </a:pPr>
            <a:endParaRPr lang="en-US" dirty="0"/>
          </a:p>
          <a:p>
            <a:pPr algn="l" fontAlgn="base"/>
            <a:r>
              <a:rPr lang="en-US" b="1" i="0" dirty="0">
                <a:solidFill>
                  <a:srgbClr val="1468A1"/>
                </a:solidFill>
                <a:effectLst/>
                <a:highlight>
                  <a:srgbClr val="FFFFFF"/>
                </a:highlight>
                <a:latin typeface="inherit"/>
              </a:rPr>
              <a:t>Social Factors</a:t>
            </a:r>
            <a:endParaRPr lang="en-US" b="1" i="0" dirty="0">
              <a:solidFill>
                <a:srgbClr val="1468A1"/>
              </a:solidFill>
              <a:effectLst/>
              <a:highlight>
                <a:srgbClr val="FFFFFF"/>
              </a:highlight>
              <a:latin typeface="Muli"/>
            </a:endParaRPr>
          </a:p>
          <a:p>
            <a:pPr algn="l" fontAlgn="base"/>
            <a:r>
              <a:rPr lang="en-US" b="0" i="0" dirty="0">
                <a:solidFill>
                  <a:srgbClr val="0A0A0A"/>
                </a:solidFill>
                <a:effectLst/>
                <a:highlight>
                  <a:srgbClr val="FFFFFF"/>
                </a:highlight>
                <a:latin typeface="Muli"/>
              </a:rPr>
              <a:t>There is increasing recognition given to the role of other relevant persons, groups and especially </a:t>
            </a:r>
            <a:r>
              <a:rPr lang="en-US" b="0" i="0" dirty="0" err="1">
                <a:solidFill>
                  <a:srgbClr val="0A0A0A"/>
                </a:solidFill>
                <a:effectLst/>
                <a:highlight>
                  <a:srgbClr val="FFFFFF"/>
                </a:highlight>
                <a:latin typeface="Muli"/>
              </a:rPr>
              <a:t>organisations</a:t>
            </a:r>
            <a:r>
              <a:rPr lang="en-US" b="0" i="0" dirty="0">
                <a:solidFill>
                  <a:srgbClr val="0A0A0A"/>
                </a:solidFill>
                <a:effectLst/>
                <a:highlight>
                  <a:srgbClr val="FFFFFF"/>
                </a:highlight>
                <a:latin typeface="Muli"/>
              </a:rPr>
              <a:t>, which greatly influence an individual’s personality. This is commonly called the socialization process.</a:t>
            </a:r>
          </a:p>
          <a:p>
            <a:pPr algn="l">
              <a:buFont typeface="Arial" panose="020B0604020202020204" pitchFamily="34" charset="0"/>
              <a:buChar char="•"/>
            </a:pPr>
            <a:endParaRPr lang="en-US" dirty="0"/>
          </a:p>
          <a:p>
            <a:pPr algn="l" fontAlgn="base"/>
            <a:r>
              <a:rPr lang="en-US" b="1" i="0" dirty="0">
                <a:solidFill>
                  <a:srgbClr val="1468A1"/>
                </a:solidFill>
                <a:effectLst/>
                <a:highlight>
                  <a:srgbClr val="FFFFFF"/>
                </a:highlight>
                <a:latin typeface="inherit"/>
              </a:rPr>
              <a:t>Situational Factors</a:t>
            </a:r>
            <a:endParaRPr lang="en-US" b="1" i="0" dirty="0">
              <a:solidFill>
                <a:srgbClr val="1468A1"/>
              </a:solidFill>
              <a:effectLst/>
              <a:highlight>
                <a:srgbClr val="FFFFFF"/>
              </a:highlight>
              <a:latin typeface="Muli"/>
            </a:endParaRPr>
          </a:p>
          <a:p>
            <a:pPr algn="l" fontAlgn="base"/>
            <a:r>
              <a:rPr lang="en-US" b="0" i="0" dirty="0">
                <a:solidFill>
                  <a:srgbClr val="0A0A0A"/>
                </a:solidFill>
                <a:effectLst/>
                <a:highlight>
                  <a:srgbClr val="FFFFFF"/>
                </a:highlight>
                <a:latin typeface="Muli"/>
              </a:rPr>
              <a:t>Human personality is also influenced by situational factors. The effect of the environment is quite strong. </a:t>
            </a:r>
            <a:r>
              <a:rPr lang="en-US" b="1" i="0" dirty="0">
                <a:solidFill>
                  <a:srgbClr val="0A0A0A"/>
                </a:solidFill>
                <a:effectLst/>
                <a:highlight>
                  <a:srgbClr val="FFFFFF"/>
                </a:highlight>
                <a:latin typeface="inherit"/>
              </a:rPr>
              <a:t>Knowledge, skill and language</a:t>
            </a:r>
            <a:r>
              <a:rPr lang="en-US" b="0" i="0" dirty="0">
                <a:solidFill>
                  <a:srgbClr val="0A0A0A"/>
                </a:solidFill>
                <a:effectLst/>
                <a:highlight>
                  <a:srgbClr val="FFFFFF"/>
                </a:highlight>
                <a:latin typeface="Muli"/>
              </a:rPr>
              <a:t> are obviously acquired and </a:t>
            </a:r>
            <a:r>
              <a:rPr lang="en-US" b="1" i="0" dirty="0">
                <a:solidFill>
                  <a:srgbClr val="0A0A0A"/>
                </a:solidFill>
                <a:effectLst/>
                <a:highlight>
                  <a:srgbClr val="FFFFFF"/>
                </a:highlight>
                <a:latin typeface="inherit"/>
              </a:rPr>
              <a:t>represent important modifications of behavior</a:t>
            </a:r>
            <a:r>
              <a:rPr lang="en-US" b="0" i="0" dirty="0">
                <a:solidFill>
                  <a:srgbClr val="0A0A0A"/>
                </a:solidFill>
                <a:effectLst/>
                <a:highlight>
                  <a:srgbClr val="FFFFFF"/>
                </a:highlight>
                <a:latin typeface="Muli"/>
              </a:rPr>
              <a:t>.</a:t>
            </a: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20</a:t>
            </a:fld>
            <a:endParaRPr lang="en-US"/>
          </a:p>
        </p:txBody>
      </p:sp>
    </p:spTree>
    <p:extLst>
      <p:ext uri="{BB962C8B-B14F-4D97-AF65-F5344CB8AC3E}">
        <p14:creationId xmlns:p14="http://schemas.microsoft.com/office/powerpoint/2010/main" val="18412277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85000" lnSpcReduction="20000"/>
          </a:bodyPr>
          <a:lstStyle/>
          <a:p>
            <a:pPr algn="l"/>
            <a:r>
              <a:rPr lang="en-US" b="1" i="0" cap="small" dirty="0">
                <a:effectLst/>
                <a:latin typeface="var(--font-stack-body)"/>
              </a:rPr>
              <a:t>Extrovert Personality</a:t>
            </a:r>
          </a:p>
          <a:p>
            <a:pPr algn="l"/>
            <a:r>
              <a:rPr lang="en-US" b="0" i="0" dirty="0">
                <a:solidFill>
                  <a:srgbClr val="0F141C"/>
                </a:solidFill>
                <a:effectLst/>
                <a:latin typeface="Alegreya Sans"/>
              </a:rPr>
              <a:t>The extrovert is a friendly person who is quick to establish relationships with others. Extroverts are gregarious and display a high level of social engagement. They enjoy being with people and like to be in the company of large groups. Extroverts are active and tend to get involved in many activities. At the opposite end of the spectrum, people with low levels of extroversion feel a greater desire for privacy, avoid large group situations and generally live a more leisurely life.</a:t>
            </a:r>
          </a:p>
          <a:p>
            <a:pPr algn="l"/>
            <a:r>
              <a:rPr lang="en-US" b="1" i="0" cap="small" dirty="0">
                <a:effectLst/>
                <a:latin typeface="var(--font-stack-body)"/>
              </a:rPr>
              <a:t>Agreeable Personality</a:t>
            </a:r>
          </a:p>
          <a:p>
            <a:pPr algn="l"/>
            <a:r>
              <a:rPr lang="en-US" b="0" i="0" dirty="0">
                <a:solidFill>
                  <a:srgbClr val="0F141C"/>
                </a:solidFill>
                <a:effectLst/>
                <a:latin typeface="Alegreya Sans"/>
              </a:rPr>
              <a:t>The agreeable person can cooperate well with other people by putting aside personal needs while getting along with peers. These people trust others and rely on their integrity, character and abilities. Often the agreeable personality feels the need to help other people, and can derive fulfillment by offering support.</a:t>
            </a:r>
          </a:p>
          <a:p>
            <a:pPr algn="l"/>
            <a:r>
              <a:rPr lang="en-US" b="1" i="0" cap="small" dirty="0">
                <a:effectLst/>
                <a:latin typeface="var(--font-stack-body)"/>
              </a:rPr>
              <a:t>Conscientious Personality</a:t>
            </a:r>
          </a:p>
          <a:p>
            <a:pPr algn="l"/>
            <a:r>
              <a:rPr lang="en-US" b="0" i="0" dirty="0">
                <a:solidFill>
                  <a:srgbClr val="0F141C"/>
                </a:solidFill>
                <a:effectLst/>
                <a:latin typeface="Alegreya Sans"/>
              </a:rPr>
              <a:t>Conscientious people exude confidence and feel capable of accomplishing goals. They may be overachievers who want to be viewed as successful.</a:t>
            </a:r>
          </a:p>
          <a:p>
            <a:pPr algn="l"/>
            <a:r>
              <a:rPr lang="en-US" b="1" i="0" cap="small" dirty="0">
                <a:effectLst/>
                <a:latin typeface="var(--font-stack-body)"/>
              </a:rPr>
              <a:t>Cautious Personality</a:t>
            </a:r>
          </a:p>
          <a:p>
            <a:pPr algn="l"/>
            <a:r>
              <a:rPr lang="en-US" b="0" i="0" dirty="0">
                <a:solidFill>
                  <a:srgbClr val="0F141C"/>
                </a:solidFill>
                <a:effectLst/>
                <a:latin typeface="Alegreya Sans"/>
              </a:rPr>
              <a:t>Cautious people will look at problems from every angle before acting or making a decision, while those who are not cautious often act or speak before they think things through.</a:t>
            </a:r>
          </a:p>
          <a:p>
            <a:pPr algn="l"/>
            <a:r>
              <a:rPr lang="en-US" b="1" i="0" cap="small" dirty="0">
                <a:effectLst/>
                <a:latin typeface="var(--font-stack-body)"/>
              </a:rPr>
              <a:t>Self-Conscious Personality</a:t>
            </a:r>
          </a:p>
          <a:p>
            <a:pPr algn="l"/>
            <a:r>
              <a:rPr lang="en-US" b="0" i="0" dirty="0">
                <a:solidFill>
                  <a:srgbClr val="0F141C"/>
                </a:solidFill>
                <a:effectLst/>
                <a:latin typeface="Alegreya Sans"/>
              </a:rPr>
              <a:t>Self-conscious people are highly sensitive to what others think and say about them. They dislike criticism and are sensitive to rejection, while those who are not all that self-conscious are not bothered by being judged by other people.</a:t>
            </a:r>
          </a:p>
          <a:p>
            <a:pPr algn="l"/>
            <a:r>
              <a:rPr lang="en-US" b="1" i="0" cap="small" dirty="0">
                <a:effectLst/>
                <a:latin typeface="var(--font-stack-body)"/>
              </a:rPr>
              <a:t>Adventurous Personality</a:t>
            </a:r>
          </a:p>
          <a:p>
            <a:pPr algn="l"/>
            <a:r>
              <a:rPr lang="en-US" b="0" i="0" dirty="0">
                <a:solidFill>
                  <a:srgbClr val="0F141C"/>
                </a:solidFill>
                <a:effectLst/>
                <a:latin typeface="Alegreya Sans"/>
              </a:rPr>
              <a:t>People with an adventurous personality seek out new experiences and dislike routine. They may be unafraid to challenge authority and conventions, while those who are less adventurous may have traditional values and prefer security over adventurousness. Those with an adventurous personality enjoy having power and may be more amenable to taking risks.</a:t>
            </a: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21</a:t>
            </a:fld>
            <a:endParaRPr lang="en-US"/>
          </a:p>
        </p:txBody>
      </p:sp>
    </p:spTree>
    <p:extLst>
      <p:ext uri="{BB962C8B-B14F-4D97-AF65-F5344CB8AC3E}">
        <p14:creationId xmlns:p14="http://schemas.microsoft.com/office/powerpoint/2010/main" val="17512917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en-US" b="0" i="0" dirty="0">
                <a:solidFill>
                  <a:srgbClr val="0A0A0A"/>
                </a:solidFill>
                <a:effectLst/>
                <a:highlight>
                  <a:srgbClr val="FFFFFF"/>
                </a:highlight>
                <a:latin typeface="Muli"/>
              </a:rPr>
              <a:t>In simple words, an “</a:t>
            </a:r>
            <a:r>
              <a:rPr lang="en-US" b="1" i="0" u="sng" dirty="0">
                <a:solidFill>
                  <a:srgbClr val="000000"/>
                </a:solidFill>
                <a:effectLst/>
                <a:highlight>
                  <a:srgbClr val="FFFFFF"/>
                </a:highlight>
                <a:latin typeface="inherit"/>
                <a:hlinkClick r:id="rId3"/>
              </a:rPr>
              <a:t>attitude</a:t>
            </a:r>
            <a:r>
              <a:rPr lang="en-US" b="0" i="0" dirty="0">
                <a:solidFill>
                  <a:srgbClr val="0A0A0A"/>
                </a:solidFill>
                <a:effectLst/>
                <a:highlight>
                  <a:srgbClr val="FFFFFF"/>
                </a:highlight>
                <a:latin typeface="Muli"/>
              </a:rPr>
              <a:t>” is an individual’s </a:t>
            </a:r>
            <a:r>
              <a:rPr lang="en-US" b="1" i="0" dirty="0">
                <a:solidFill>
                  <a:srgbClr val="0A0A0A"/>
                </a:solidFill>
                <a:effectLst/>
                <a:highlight>
                  <a:srgbClr val="FFFFFF"/>
                </a:highlight>
                <a:latin typeface="Muli"/>
              </a:rPr>
              <a:t>way of looking or an individual’s point of view at something</a:t>
            </a:r>
            <a:r>
              <a:rPr lang="en-US" b="0" i="0" dirty="0">
                <a:solidFill>
                  <a:srgbClr val="0A0A0A"/>
                </a:solidFill>
                <a:effectLst/>
                <a:highlight>
                  <a:srgbClr val="FFFFFF"/>
                </a:highlight>
                <a:latin typeface="Muli"/>
              </a:rPr>
              <a:t>.</a:t>
            </a:r>
          </a:p>
          <a:p>
            <a:pPr algn="l">
              <a:buFont typeface="Arial" panose="020B0604020202020204" pitchFamily="34" charset="0"/>
              <a:buChar char="•"/>
            </a:pPr>
            <a:endParaRPr lang="en-US" b="0" i="0" dirty="0">
              <a:solidFill>
                <a:srgbClr val="0A0A0A"/>
              </a:solidFill>
              <a:effectLst/>
              <a:highlight>
                <a:srgbClr val="FFFFFF"/>
              </a:highlight>
              <a:latin typeface="Muli"/>
            </a:endParaRPr>
          </a:p>
          <a:p>
            <a:pPr algn="l">
              <a:buFont typeface="Arial" panose="020B0604020202020204" pitchFamily="34" charset="0"/>
              <a:buChar char="•"/>
            </a:pPr>
            <a:br>
              <a:rPr lang="en-US" dirty="0"/>
            </a:br>
            <a:r>
              <a:rPr lang="en-US" b="0" i="0" dirty="0">
                <a:solidFill>
                  <a:srgbClr val="0A0A0A"/>
                </a:solidFill>
                <a:effectLst/>
                <a:highlight>
                  <a:srgbClr val="FFFFFF"/>
                </a:highlight>
                <a:latin typeface="Muli"/>
              </a:rPr>
              <a:t>To be more specific, an “</a:t>
            </a:r>
            <a:r>
              <a:rPr lang="en-US" b="1" i="0" u="sng" dirty="0">
                <a:solidFill>
                  <a:srgbClr val="000000"/>
                </a:solidFill>
                <a:effectLst/>
                <a:highlight>
                  <a:srgbClr val="FFFFFF"/>
                </a:highlight>
                <a:latin typeface="inherit"/>
                <a:hlinkClick r:id="rId3"/>
              </a:rPr>
              <a:t>attitude</a:t>
            </a:r>
            <a:r>
              <a:rPr lang="en-US" b="0" i="0" dirty="0">
                <a:solidFill>
                  <a:srgbClr val="0A0A0A"/>
                </a:solidFill>
                <a:effectLst/>
                <a:highlight>
                  <a:srgbClr val="FFFFFF"/>
                </a:highlight>
                <a:latin typeface="Muli"/>
              </a:rPr>
              <a:t>” may be defined as the </a:t>
            </a:r>
            <a:r>
              <a:rPr lang="en-US" b="1" i="0" dirty="0">
                <a:solidFill>
                  <a:srgbClr val="0A0A0A"/>
                </a:solidFill>
                <a:effectLst/>
                <a:highlight>
                  <a:srgbClr val="FFFFFF"/>
                </a:highlight>
                <a:latin typeface="Muli"/>
              </a:rPr>
              <a:t>mental state of an individual</a:t>
            </a:r>
            <a:r>
              <a:rPr lang="en-US" b="0" i="0" dirty="0">
                <a:solidFill>
                  <a:srgbClr val="0A0A0A"/>
                </a:solidFill>
                <a:effectLst/>
                <a:highlight>
                  <a:srgbClr val="FFFFFF"/>
                </a:highlight>
                <a:latin typeface="Muli"/>
              </a:rPr>
              <a:t>, which prepares him to react or make him behave in a particular pre-determined way. It is actually an acquired feeling.</a:t>
            </a: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22</a:t>
            </a:fld>
            <a:endParaRPr lang="en-US"/>
          </a:p>
        </p:txBody>
      </p:sp>
    </p:spTree>
    <p:extLst>
      <p:ext uri="{BB962C8B-B14F-4D97-AF65-F5344CB8AC3E}">
        <p14:creationId xmlns:p14="http://schemas.microsoft.com/office/powerpoint/2010/main" val="14194536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23</a:t>
            </a:fld>
            <a:endParaRPr lang="en-US"/>
          </a:p>
        </p:txBody>
      </p:sp>
    </p:spTree>
    <p:extLst>
      <p:ext uri="{BB962C8B-B14F-4D97-AF65-F5344CB8AC3E}">
        <p14:creationId xmlns:p14="http://schemas.microsoft.com/office/powerpoint/2010/main" val="4575502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24</a:t>
            </a:fld>
            <a:endParaRPr lang="en-US"/>
          </a:p>
        </p:txBody>
      </p:sp>
    </p:spTree>
    <p:extLst>
      <p:ext uri="{BB962C8B-B14F-4D97-AF65-F5344CB8AC3E}">
        <p14:creationId xmlns:p14="http://schemas.microsoft.com/office/powerpoint/2010/main" val="17251831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25</a:t>
            </a:fld>
            <a:endParaRPr lang="en-US"/>
          </a:p>
        </p:txBody>
      </p:sp>
    </p:spTree>
    <p:extLst>
      <p:ext uri="{BB962C8B-B14F-4D97-AF65-F5344CB8AC3E}">
        <p14:creationId xmlns:p14="http://schemas.microsoft.com/office/powerpoint/2010/main" val="26383837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26</a:t>
            </a:fld>
            <a:endParaRPr lang="en-US"/>
          </a:p>
        </p:txBody>
      </p:sp>
    </p:spTree>
    <p:extLst>
      <p:ext uri="{BB962C8B-B14F-4D97-AF65-F5344CB8AC3E}">
        <p14:creationId xmlns:p14="http://schemas.microsoft.com/office/powerpoint/2010/main" val="1125316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27</a:t>
            </a:fld>
            <a:endParaRPr lang="en-US"/>
          </a:p>
        </p:txBody>
      </p:sp>
    </p:spTree>
    <p:extLst>
      <p:ext uri="{BB962C8B-B14F-4D97-AF65-F5344CB8AC3E}">
        <p14:creationId xmlns:p14="http://schemas.microsoft.com/office/powerpoint/2010/main" val="15603590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lnSpcReduction="10000"/>
          </a:bodyPr>
          <a:lstStyle/>
          <a:p>
            <a:pPr algn="l">
              <a:buFont typeface="Arial" panose="020B0604020202020204" pitchFamily="34" charset="0"/>
              <a:buChar char="•"/>
            </a:pPr>
            <a:r>
              <a:rPr lang="en-US" dirty="0"/>
              <a:t>Job Satisfaction-A person with a high level of job satisfaction holds positive attitudes about the job, while a person who is dissatisfied with his or her job holds a negative attitude about the </a:t>
            </a:r>
            <a:r>
              <a:rPr lang="en-US" dirty="0" err="1"/>
              <a:t>job.A</a:t>
            </a:r>
            <a:r>
              <a:rPr lang="en-US" dirty="0"/>
              <a:t> person having a negative attitude shows a personality disposition that is inclined to experience nervousness, tension, upset, distress, etc. whereas those with a positive attitude will feel happy themselves, others and their work. ▸ iedunote.com/types-of-attitudes</a:t>
            </a:r>
          </a:p>
          <a:p>
            <a:pPr algn="l">
              <a:buFont typeface="Arial" panose="020B0604020202020204" pitchFamily="34" charset="0"/>
              <a:buChar char="•"/>
            </a:pPr>
            <a:endParaRPr lang="en-US" dirty="0"/>
          </a:p>
          <a:p>
            <a:pPr algn="l" fontAlgn="base"/>
            <a:r>
              <a:rPr lang="en-US" b="1" i="0" dirty="0">
                <a:solidFill>
                  <a:srgbClr val="1468A1"/>
                </a:solidFill>
                <a:effectLst/>
                <a:highlight>
                  <a:srgbClr val="FFFFFF"/>
                </a:highlight>
                <a:latin typeface="inherit"/>
              </a:rPr>
              <a:t>Job involvement</a:t>
            </a:r>
            <a:endParaRPr lang="en-US" b="1" i="0" dirty="0">
              <a:solidFill>
                <a:srgbClr val="1468A1"/>
              </a:solidFill>
              <a:effectLst/>
              <a:highlight>
                <a:srgbClr val="FFFFFF"/>
              </a:highlight>
              <a:latin typeface="Muli"/>
            </a:endParaRPr>
          </a:p>
          <a:p>
            <a:pPr algn="l" fontAlgn="base"/>
            <a:r>
              <a:rPr lang="en-US" b="0" i="0" dirty="0">
                <a:solidFill>
                  <a:srgbClr val="0A0A0A"/>
                </a:solidFill>
                <a:effectLst/>
                <a:highlight>
                  <a:srgbClr val="FFFFFF"/>
                </a:highlight>
                <a:latin typeface="Muli"/>
              </a:rPr>
              <a:t>Job involvement</a:t>
            </a:r>
            <a:r>
              <a:rPr lang="en-US" b="1" i="0" dirty="0">
                <a:solidFill>
                  <a:srgbClr val="0A0A0A"/>
                </a:solidFill>
                <a:effectLst/>
                <a:highlight>
                  <a:srgbClr val="FFFFFF"/>
                </a:highlight>
                <a:latin typeface="inherit"/>
              </a:rPr>
              <a:t> </a:t>
            </a:r>
            <a:r>
              <a:rPr lang="en-US" b="0" i="0" dirty="0">
                <a:solidFill>
                  <a:srgbClr val="0A0A0A"/>
                </a:solidFill>
                <a:effectLst/>
                <a:highlight>
                  <a:srgbClr val="FFFFFF"/>
                </a:highlight>
                <a:latin typeface="Muli"/>
              </a:rPr>
              <a:t>refers to the degree to which a person identifies himself (psychologically) with his job, actively participates and considers his perceived performance level important to self-worth. (Robbins)</a:t>
            </a:r>
          </a:p>
          <a:p>
            <a:pPr algn="l" fontAlgn="base"/>
            <a:r>
              <a:rPr lang="en-US" b="0" i="0" dirty="0">
                <a:solidFill>
                  <a:srgbClr val="0A0A0A"/>
                </a:solidFill>
                <a:effectLst/>
                <a:highlight>
                  <a:srgbClr val="FFFFFF"/>
                </a:highlight>
                <a:latin typeface="Muli"/>
              </a:rPr>
              <a:t>Higher job satisfaction leads to low absenteeism &amp; employee turnover and indicates that the individual cares for his job.</a:t>
            </a:r>
          </a:p>
          <a:p>
            <a:pPr algn="l">
              <a:buFont typeface="Arial" panose="020B0604020202020204" pitchFamily="34" charset="0"/>
              <a:buChar char="•"/>
            </a:pPr>
            <a:endParaRPr lang="en-US" dirty="0"/>
          </a:p>
          <a:p>
            <a:pPr algn="l" fontAlgn="base"/>
            <a:r>
              <a:rPr lang="en-US" b="1" i="0" dirty="0">
                <a:solidFill>
                  <a:srgbClr val="1468A1"/>
                </a:solidFill>
                <a:effectLst/>
                <a:highlight>
                  <a:srgbClr val="FFFFFF"/>
                </a:highlight>
                <a:latin typeface="inherit"/>
              </a:rPr>
              <a:t>Organizational commitment</a:t>
            </a:r>
            <a:endParaRPr lang="en-US" b="1" i="0" dirty="0">
              <a:solidFill>
                <a:srgbClr val="1468A1"/>
              </a:solidFill>
              <a:effectLst/>
              <a:highlight>
                <a:srgbClr val="FFFFFF"/>
              </a:highlight>
              <a:latin typeface="Muli"/>
            </a:endParaRPr>
          </a:p>
          <a:p>
            <a:pPr algn="l" fontAlgn="base"/>
            <a:r>
              <a:rPr lang="en-US" b="0" i="0" dirty="0">
                <a:solidFill>
                  <a:srgbClr val="0A0A0A"/>
                </a:solidFill>
                <a:effectLst/>
                <a:highlight>
                  <a:srgbClr val="FFFFFF"/>
                </a:highlight>
                <a:latin typeface="Muli"/>
              </a:rPr>
              <a:t>Organizational commitment refers to a degree to which an employee identifies himself with the organizational goals and wishes to maintain membership in the organization.</a:t>
            </a:r>
          </a:p>
          <a:p>
            <a:pPr algn="l" fontAlgn="base"/>
            <a:r>
              <a:rPr lang="en-US" b="0" i="0" dirty="0">
                <a:solidFill>
                  <a:srgbClr val="0A0A0A"/>
                </a:solidFill>
                <a:effectLst/>
                <a:highlight>
                  <a:srgbClr val="FFFFFF"/>
                </a:highlight>
                <a:latin typeface="Muli"/>
              </a:rPr>
              <a:t>Resigning from the job or absenting versus job satisfaction is a predictor of organizational commitment. Organizational commitment depends upon the degree of autonomy &amp; freedom job and job enrichment factor.</a:t>
            </a: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28</a:t>
            </a:fld>
            <a:endParaRPr lang="en-US"/>
          </a:p>
        </p:txBody>
      </p:sp>
    </p:spTree>
    <p:extLst>
      <p:ext uri="{BB962C8B-B14F-4D97-AF65-F5344CB8AC3E}">
        <p14:creationId xmlns:p14="http://schemas.microsoft.com/office/powerpoint/2010/main" val="24624789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29</a:t>
            </a:fld>
            <a:endParaRPr lang="en-US"/>
          </a:p>
        </p:txBody>
      </p:sp>
    </p:spTree>
    <p:extLst>
      <p:ext uri="{BB962C8B-B14F-4D97-AF65-F5344CB8AC3E}">
        <p14:creationId xmlns:p14="http://schemas.microsoft.com/office/powerpoint/2010/main" val="38876403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30</a:t>
            </a:fld>
            <a:endParaRPr lang="en-US"/>
          </a:p>
        </p:txBody>
      </p:sp>
    </p:spTree>
    <p:extLst>
      <p:ext uri="{BB962C8B-B14F-4D97-AF65-F5344CB8AC3E}">
        <p14:creationId xmlns:p14="http://schemas.microsoft.com/office/powerpoint/2010/main" val="42518616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31</a:t>
            </a:fld>
            <a:endParaRPr lang="en-US"/>
          </a:p>
        </p:txBody>
      </p:sp>
    </p:spTree>
    <p:extLst>
      <p:ext uri="{BB962C8B-B14F-4D97-AF65-F5344CB8AC3E}">
        <p14:creationId xmlns:p14="http://schemas.microsoft.com/office/powerpoint/2010/main" val="37665420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32</a:t>
            </a:fld>
            <a:endParaRPr lang="en-US"/>
          </a:p>
        </p:txBody>
      </p:sp>
    </p:spTree>
    <p:extLst>
      <p:ext uri="{BB962C8B-B14F-4D97-AF65-F5344CB8AC3E}">
        <p14:creationId xmlns:p14="http://schemas.microsoft.com/office/powerpoint/2010/main" val="16482513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33</a:t>
            </a:fld>
            <a:endParaRPr lang="en-US"/>
          </a:p>
        </p:txBody>
      </p:sp>
    </p:spTree>
    <p:extLst>
      <p:ext uri="{BB962C8B-B14F-4D97-AF65-F5344CB8AC3E}">
        <p14:creationId xmlns:p14="http://schemas.microsoft.com/office/powerpoint/2010/main" val="17244115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34</a:t>
            </a:fld>
            <a:endParaRPr lang="en-US"/>
          </a:p>
        </p:txBody>
      </p:sp>
    </p:spTree>
    <p:extLst>
      <p:ext uri="{BB962C8B-B14F-4D97-AF65-F5344CB8AC3E}">
        <p14:creationId xmlns:p14="http://schemas.microsoft.com/office/powerpoint/2010/main" val="28463337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35</a:t>
            </a:fld>
            <a:endParaRPr lang="en-US"/>
          </a:p>
        </p:txBody>
      </p:sp>
    </p:spTree>
    <p:extLst>
      <p:ext uri="{BB962C8B-B14F-4D97-AF65-F5344CB8AC3E}">
        <p14:creationId xmlns:p14="http://schemas.microsoft.com/office/powerpoint/2010/main" val="3004857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36</a:t>
            </a:fld>
            <a:endParaRPr lang="en-US"/>
          </a:p>
        </p:txBody>
      </p:sp>
    </p:spTree>
    <p:extLst>
      <p:ext uri="{BB962C8B-B14F-4D97-AF65-F5344CB8AC3E}">
        <p14:creationId xmlns:p14="http://schemas.microsoft.com/office/powerpoint/2010/main" val="400590598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37</a:t>
            </a:fld>
            <a:endParaRPr lang="en-US"/>
          </a:p>
        </p:txBody>
      </p:sp>
    </p:spTree>
    <p:extLst>
      <p:ext uri="{BB962C8B-B14F-4D97-AF65-F5344CB8AC3E}">
        <p14:creationId xmlns:p14="http://schemas.microsoft.com/office/powerpoint/2010/main" val="40886646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38</a:t>
            </a:fld>
            <a:endParaRPr lang="en-US"/>
          </a:p>
        </p:txBody>
      </p:sp>
    </p:spTree>
    <p:extLst>
      <p:ext uri="{BB962C8B-B14F-4D97-AF65-F5344CB8AC3E}">
        <p14:creationId xmlns:p14="http://schemas.microsoft.com/office/powerpoint/2010/main" val="26633303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39</a:t>
            </a:fld>
            <a:endParaRPr lang="en-US"/>
          </a:p>
        </p:txBody>
      </p:sp>
    </p:spTree>
    <p:extLst>
      <p:ext uri="{BB962C8B-B14F-4D97-AF65-F5344CB8AC3E}">
        <p14:creationId xmlns:p14="http://schemas.microsoft.com/office/powerpoint/2010/main" val="13586167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40</a:t>
            </a:fld>
            <a:endParaRPr lang="en-US"/>
          </a:p>
        </p:txBody>
      </p:sp>
    </p:spTree>
    <p:extLst>
      <p:ext uri="{BB962C8B-B14F-4D97-AF65-F5344CB8AC3E}">
        <p14:creationId xmlns:p14="http://schemas.microsoft.com/office/powerpoint/2010/main" val="396043835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r>
              <a:rPr lang="en-US" sz="1200" dirty="0">
                <a:latin typeface="Times New Roman" panose="02020603050405020304" pitchFamily="18" charset="0"/>
                <a:cs typeface="Times New Roman" panose="02020603050405020304" pitchFamily="18" charset="0"/>
              </a:rPr>
              <a:t>According to TA, we have three sides or 'ego-states' to our personality – the Parent, Adult and Child ego states.</a:t>
            </a:r>
          </a:p>
          <a:p>
            <a:r>
              <a:rPr lang="en-US" sz="1200" dirty="0">
                <a:latin typeface="Times New Roman" panose="02020603050405020304" pitchFamily="18" charset="0"/>
                <a:cs typeface="Times New Roman" panose="02020603050405020304" pitchFamily="18" charset="0"/>
              </a:rPr>
              <a:t>An ego state is a way of us experiencing the world. It is an entire system of thoughts, feelings, and </a:t>
            </a:r>
            <a:r>
              <a:rPr lang="en-US" sz="1200" dirty="0" err="1">
                <a:latin typeface="Times New Roman" panose="02020603050405020304" pitchFamily="18" charset="0"/>
                <a:cs typeface="Times New Roman" panose="02020603050405020304" pitchFamily="18" charset="0"/>
              </a:rPr>
              <a:t>behaviours</a:t>
            </a:r>
            <a:r>
              <a:rPr lang="en-US" sz="1200" dirty="0">
                <a:latin typeface="Times New Roman" panose="02020603050405020304" pitchFamily="18" charset="0"/>
                <a:cs typeface="Times New Roman" panose="02020603050405020304" pitchFamily="18" charset="0"/>
              </a:rPr>
              <a:t> from which we interact with one another</a:t>
            </a:r>
            <a:endParaRPr lang="en-IN" sz="12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41</a:t>
            </a:fld>
            <a:endParaRPr lang="en-US"/>
          </a:p>
        </p:txBody>
      </p:sp>
    </p:spTree>
    <p:extLst>
      <p:ext uri="{BB962C8B-B14F-4D97-AF65-F5344CB8AC3E}">
        <p14:creationId xmlns:p14="http://schemas.microsoft.com/office/powerpoint/2010/main" val="38105242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42</a:t>
            </a:fld>
            <a:endParaRPr lang="en-US"/>
          </a:p>
        </p:txBody>
      </p:sp>
    </p:spTree>
    <p:extLst>
      <p:ext uri="{BB962C8B-B14F-4D97-AF65-F5344CB8AC3E}">
        <p14:creationId xmlns:p14="http://schemas.microsoft.com/office/powerpoint/2010/main" val="6778323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43</a:t>
            </a:fld>
            <a:endParaRPr lang="en-US"/>
          </a:p>
        </p:txBody>
      </p:sp>
    </p:spTree>
    <p:extLst>
      <p:ext uri="{BB962C8B-B14F-4D97-AF65-F5344CB8AC3E}">
        <p14:creationId xmlns:p14="http://schemas.microsoft.com/office/powerpoint/2010/main" val="27313949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44</a:t>
            </a:fld>
            <a:endParaRPr lang="en-US"/>
          </a:p>
        </p:txBody>
      </p:sp>
    </p:spTree>
    <p:extLst>
      <p:ext uri="{BB962C8B-B14F-4D97-AF65-F5344CB8AC3E}">
        <p14:creationId xmlns:p14="http://schemas.microsoft.com/office/powerpoint/2010/main" val="193949486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45</a:t>
            </a:fld>
            <a:endParaRPr lang="en-US"/>
          </a:p>
        </p:txBody>
      </p:sp>
    </p:spTree>
    <p:extLst>
      <p:ext uri="{BB962C8B-B14F-4D97-AF65-F5344CB8AC3E}">
        <p14:creationId xmlns:p14="http://schemas.microsoft.com/office/powerpoint/2010/main" val="19373880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46</a:t>
            </a:fld>
            <a:endParaRPr lang="en-US"/>
          </a:p>
        </p:txBody>
      </p:sp>
    </p:spTree>
    <p:extLst>
      <p:ext uri="{BB962C8B-B14F-4D97-AF65-F5344CB8AC3E}">
        <p14:creationId xmlns:p14="http://schemas.microsoft.com/office/powerpoint/2010/main" val="24747980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47</a:t>
            </a:fld>
            <a:endParaRPr lang="en-US"/>
          </a:p>
        </p:txBody>
      </p:sp>
    </p:spTree>
    <p:extLst>
      <p:ext uri="{BB962C8B-B14F-4D97-AF65-F5344CB8AC3E}">
        <p14:creationId xmlns:p14="http://schemas.microsoft.com/office/powerpoint/2010/main" val="28911606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48</a:t>
            </a:fld>
            <a:endParaRPr lang="en-US"/>
          </a:p>
        </p:txBody>
      </p:sp>
    </p:spTree>
    <p:extLst>
      <p:ext uri="{BB962C8B-B14F-4D97-AF65-F5344CB8AC3E}">
        <p14:creationId xmlns:p14="http://schemas.microsoft.com/office/powerpoint/2010/main" val="23052668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r>
              <a:rPr lang="en-US" b="1" i="0" dirty="0">
                <a:solidFill>
                  <a:srgbClr val="000000"/>
                </a:solidFill>
                <a:effectLst/>
                <a:latin typeface="Arial" panose="020B0604020202020204" pitchFamily="34" charset="0"/>
              </a:rPr>
              <a:t>1. Intrinsic Motivation</a:t>
            </a:r>
          </a:p>
          <a:p>
            <a:pPr algn="l"/>
            <a:r>
              <a:rPr lang="en-US" b="0" i="0" dirty="0">
                <a:solidFill>
                  <a:srgbClr val="000000"/>
                </a:solidFill>
                <a:effectLst/>
                <a:latin typeface="Arial" panose="020B0604020202020204" pitchFamily="34" charset="0"/>
              </a:rPr>
              <a:t>This type comes from within a person to do a task or achieve a particular goal. It is a feeling of being self-driven and achieving objectives for oneself. Intrinsic motivation is driven by motives like social acceptance, eating food, desires to achieve goals, biological needs etc.</a:t>
            </a:r>
          </a:p>
          <a:p>
            <a:pPr algn="l"/>
            <a:r>
              <a:rPr lang="en-US" b="1" i="0" dirty="0">
                <a:solidFill>
                  <a:srgbClr val="000000"/>
                </a:solidFill>
                <a:effectLst/>
                <a:latin typeface="Arial" panose="020B0604020202020204" pitchFamily="34" charset="0"/>
              </a:rPr>
              <a:t>2. Extrinsic Motivation</a:t>
            </a:r>
          </a:p>
          <a:p>
            <a:pPr algn="l"/>
            <a:r>
              <a:rPr lang="en-US" b="0" i="0" dirty="0">
                <a:solidFill>
                  <a:srgbClr val="000000"/>
                </a:solidFill>
                <a:effectLst/>
                <a:latin typeface="Arial" panose="020B0604020202020204" pitchFamily="34" charset="0"/>
              </a:rPr>
              <a:t>This type drives an individual due to external forces or parameters. Some other person or organization motivates the individual to work hard to achieve certain goals or tasks. Extrinsic motivation is driven by motives like financial bonus, rewards, appreciation, promotion, punishment, demotion etc.</a:t>
            </a:r>
          </a:p>
          <a:p>
            <a:endParaRPr lang="en-IN" dirty="0"/>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49</a:t>
            </a:fld>
            <a:endParaRPr lang="en-US"/>
          </a:p>
        </p:txBody>
      </p:sp>
    </p:spTree>
    <p:extLst>
      <p:ext uri="{BB962C8B-B14F-4D97-AF65-F5344CB8AC3E}">
        <p14:creationId xmlns:p14="http://schemas.microsoft.com/office/powerpoint/2010/main" val="215124755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r>
              <a:rPr lang="en-US" b="1" i="0" dirty="0">
                <a:solidFill>
                  <a:srgbClr val="004D40"/>
                </a:solidFill>
                <a:effectLst/>
                <a:latin typeface="Rubik"/>
              </a:rPr>
              <a:t>Positive Motivation:</a:t>
            </a:r>
            <a:r>
              <a:rPr lang="en-US" b="1" i="0" dirty="0">
                <a:solidFill>
                  <a:srgbClr val="333333"/>
                </a:solidFill>
                <a:effectLst/>
                <a:latin typeface="Rubik"/>
              </a:rPr>
              <a:t> It is the reward based motivation which tires to create willingness to perform better. It improves performance, increase mutual cooperation and develops trust between employees and management. Positive motivation may take the form of monetary, nonmonetary or both. Examples Monetary Incentive:- pay increment, cash reward, bonus payment, leave with pay, profit sharing scheme, retirement benefit and Non monetary Incentive:- promotion, participation in decision-making ,recognition, autonomy or freedom to work, challenging work.</a:t>
            </a:r>
          </a:p>
          <a:p>
            <a:pPr algn="l"/>
            <a:r>
              <a:rPr lang="en-US" b="1" i="0" dirty="0">
                <a:solidFill>
                  <a:srgbClr val="004D40"/>
                </a:solidFill>
                <a:effectLst/>
                <a:latin typeface="Rubik"/>
              </a:rPr>
              <a:t>b. Negative Motivation:</a:t>
            </a:r>
            <a:r>
              <a:rPr lang="en-US" b="1" i="0" dirty="0">
                <a:solidFill>
                  <a:srgbClr val="333333"/>
                </a:solidFill>
                <a:effectLst/>
                <a:latin typeface="Rubik"/>
              </a:rPr>
              <a:t> Negative motivation means the act of forcing employees to work by means of threat and punishment. It involves disciplinary actions. Examples: Monetary: - fines, penalties, pay cut, Non-monetary:- demotion, threat of dismissal from job, transfer to remote areas, and group rejection. Since, this is not good practice. However, sometimes manager may be compelled to use this technique with a view to prevent them from undesirable behavior.</a:t>
            </a:r>
          </a:p>
          <a:p>
            <a:endParaRPr lang="en-IN" dirty="0"/>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50</a:t>
            </a:fld>
            <a:endParaRPr lang="en-US"/>
          </a:p>
        </p:txBody>
      </p:sp>
    </p:spTree>
    <p:extLst>
      <p:ext uri="{BB962C8B-B14F-4D97-AF65-F5344CB8AC3E}">
        <p14:creationId xmlns:p14="http://schemas.microsoft.com/office/powerpoint/2010/main" val="351050202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fontScale="92500" lnSpcReduction="10000"/>
          </a:bodyPr>
          <a:lstStyle/>
          <a:p>
            <a:pPr algn="l" fontAlgn="base">
              <a:buFont typeface="Arial" panose="020B0604020202020204" pitchFamily="34" charset="0"/>
              <a:buChar char="•"/>
            </a:pPr>
            <a:r>
              <a:rPr lang="en-US" b="1" i="0" dirty="0">
                <a:solidFill>
                  <a:srgbClr val="273239"/>
                </a:solidFill>
                <a:effectLst/>
                <a:latin typeface="Nunito" pitchFamily="2" charset="0"/>
              </a:rPr>
              <a:t>Motivation is an internal feeling: </a:t>
            </a:r>
            <a:r>
              <a:rPr lang="en-US" b="0" i="0" dirty="0">
                <a:solidFill>
                  <a:srgbClr val="273239"/>
                </a:solidFill>
                <a:effectLst/>
                <a:latin typeface="Nunito" pitchFamily="2" charset="0"/>
              </a:rPr>
              <a:t>It is a psychological concept and it cannot be forced on the employees. It is an internal feeling, generated within an individual, which compels him to behave in a particular manner. Feelings like needs, desires, urges, etc., influence human </a:t>
            </a:r>
            <a:r>
              <a:rPr lang="en-US" b="0" i="0" dirty="0" err="1">
                <a:solidFill>
                  <a:srgbClr val="273239"/>
                </a:solidFill>
                <a:effectLst/>
                <a:latin typeface="Nunito" pitchFamily="2" charset="0"/>
              </a:rPr>
              <a:t>behaviour</a:t>
            </a:r>
            <a:r>
              <a:rPr lang="en-US" b="0" i="0" dirty="0">
                <a:solidFill>
                  <a:srgbClr val="273239"/>
                </a:solidFill>
                <a:effectLst/>
                <a:latin typeface="Nunito" pitchFamily="2" charset="0"/>
              </a:rPr>
              <a:t> to act in a particular manner.</a:t>
            </a:r>
          </a:p>
          <a:p>
            <a:pPr algn="l" fontAlgn="base">
              <a:buFont typeface="Arial" panose="020B0604020202020204" pitchFamily="34" charset="0"/>
              <a:buChar char="•"/>
            </a:pPr>
            <a:r>
              <a:rPr lang="en-US" b="1" i="0" dirty="0">
                <a:solidFill>
                  <a:srgbClr val="273239"/>
                </a:solidFill>
                <a:effectLst/>
                <a:latin typeface="Nunito" pitchFamily="2" charset="0"/>
              </a:rPr>
              <a:t>Motivation produces goal-directed </a:t>
            </a:r>
            <a:r>
              <a:rPr lang="en-US" b="1" i="0" dirty="0" err="1">
                <a:solidFill>
                  <a:srgbClr val="273239"/>
                </a:solidFill>
                <a:effectLst/>
                <a:latin typeface="Nunito" pitchFamily="2" charset="0"/>
              </a:rPr>
              <a:t>behaviour</a:t>
            </a:r>
            <a:r>
              <a:rPr lang="en-US" b="1" i="0" dirty="0">
                <a:solidFill>
                  <a:srgbClr val="273239"/>
                </a:solidFill>
                <a:effectLst/>
                <a:latin typeface="Nunito" pitchFamily="2" charset="0"/>
              </a:rPr>
              <a:t>: </a:t>
            </a:r>
            <a:r>
              <a:rPr lang="en-US" b="0" i="0" dirty="0">
                <a:solidFill>
                  <a:srgbClr val="273239"/>
                </a:solidFill>
                <a:effectLst/>
                <a:latin typeface="Nunito" pitchFamily="2" charset="0"/>
              </a:rPr>
              <a:t>Employees’ </a:t>
            </a:r>
            <a:r>
              <a:rPr lang="en-US" b="0" i="0" dirty="0" err="1">
                <a:solidFill>
                  <a:srgbClr val="273239"/>
                </a:solidFill>
                <a:effectLst/>
                <a:latin typeface="Nunito" pitchFamily="2" charset="0"/>
              </a:rPr>
              <a:t>behaviour</a:t>
            </a:r>
            <a:r>
              <a:rPr lang="en-US" b="0" i="0" dirty="0">
                <a:solidFill>
                  <a:srgbClr val="273239"/>
                </a:solidFill>
                <a:effectLst/>
                <a:latin typeface="Nunito" pitchFamily="2" charset="0"/>
              </a:rPr>
              <a:t> is influenced by motivation in such a way that they can achieve their goals. Motivation helps to achieve both </a:t>
            </a:r>
            <a:r>
              <a:rPr lang="en-US" b="0" i="0" dirty="0" err="1">
                <a:solidFill>
                  <a:srgbClr val="273239"/>
                </a:solidFill>
                <a:effectLst/>
                <a:latin typeface="Nunito" pitchFamily="2" charset="0"/>
              </a:rPr>
              <a:t>organisational</a:t>
            </a:r>
            <a:r>
              <a:rPr lang="en-US" b="0" i="0" dirty="0">
                <a:solidFill>
                  <a:srgbClr val="273239"/>
                </a:solidFill>
                <a:effectLst/>
                <a:latin typeface="Nunito" pitchFamily="2" charset="0"/>
              </a:rPr>
              <a:t> as well as individual goals. </a:t>
            </a:r>
            <a:r>
              <a:rPr lang="en-US" b="0" i="1" dirty="0">
                <a:solidFill>
                  <a:srgbClr val="273239"/>
                </a:solidFill>
                <a:effectLst/>
                <a:latin typeface="Nunito" pitchFamily="2" charset="0"/>
              </a:rPr>
              <a:t>For example, </a:t>
            </a:r>
            <a:r>
              <a:rPr lang="en-US" b="0" i="0" dirty="0">
                <a:solidFill>
                  <a:srgbClr val="273239"/>
                </a:solidFill>
                <a:effectLst/>
                <a:latin typeface="Nunito" pitchFamily="2" charset="0"/>
              </a:rPr>
              <a:t>if a person wants to get a promotion, then he will work harder to achieve the goals effectively and efficiently.  </a:t>
            </a:r>
          </a:p>
          <a:p>
            <a:pPr algn="l" fontAlgn="base">
              <a:buFont typeface="Arial" panose="020B0604020202020204" pitchFamily="34" charset="0"/>
              <a:buChar char="•"/>
            </a:pPr>
            <a:r>
              <a:rPr lang="en-US" b="1" i="0" dirty="0">
                <a:solidFill>
                  <a:srgbClr val="273239"/>
                </a:solidFill>
                <a:effectLst/>
                <a:latin typeface="Nunito" pitchFamily="2" charset="0"/>
              </a:rPr>
              <a:t>Motivation can be either negative or positive: </a:t>
            </a:r>
            <a:r>
              <a:rPr lang="en-US" b="0" i="0" dirty="0">
                <a:solidFill>
                  <a:srgbClr val="273239"/>
                </a:solidFill>
                <a:effectLst/>
                <a:latin typeface="Nunito" pitchFamily="2" charset="0"/>
              </a:rPr>
              <a:t>Motivation can be either positive in form of rewards, like additional pay, incentives, promotion, recognition, etc., or negative in the form of force, like punishment, threat of demotion, etc. Positive motivation provides incentives to an individual to achieve the goal, whereas negative motivation creates fear in the mind of individuals in order to influence their </a:t>
            </a:r>
            <a:r>
              <a:rPr lang="en-US" b="0" i="0" dirty="0" err="1">
                <a:solidFill>
                  <a:srgbClr val="273239"/>
                </a:solidFill>
                <a:effectLst/>
                <a:latin typeface="Nunito" pitchFamily="2" charset="0"/>
              </a:rPr>
              <a:t>behaviour</a:t>
            </a:r>
            <a:r>
              <a:rPr lang="en-US" b="0" i="0" dirty="0">
                <a:solidFill>
                  <a:srgbClr val="273239"/>
                </a:solidFill>
                <a:effectLst/>
                <a:latin typeface="Nunito" pitchFamily="2" charset="0"/>
              </a:rPr>
              <a:t> to act in a desired manner.</a:t>
            </a:r>
          </a:p>
          <a:p>
            <a:pPr algn="l" fontAlgn="base">
              <a:buFont typeface="Arial" panose="020B0604020202020204" pitchFamily="34" charset="0"/>
              <a:buChar char="•"/>
            </a:pPr>
            <a:r>
              <a:rPr lang="en-US" b="1" i="0" dirty="0">
                <a:solidFill>
                  <a:srgbClr val="273239"/>
                </a:solidFill>
                <a:effectLst/>
                <a:latin typeface="Nunito" pitchFamily="2" charset="0"/>
              </a:rPr>
              <a:t>Motivation is a complex process: </a:t>
            </a:r>
            <a:r>
              <a:rPr lang="en-US" b="0" i="0" dirty="0">
                <a:solidFill>
                  <a:srgbClr val="273239"/>
                </a:solidFill>
                <a:effectLst/>
                <a:latin typeface="Nunito" pitchFamily="2" charset="0"/>
              </a:rPr>
              <a:t>Humans are heterogeneous in their expectations, perceptions and reactions. A particular type of motivation may not have the same effect on all individuals as it is difficult to predict their </a:t>
            </a:r>
            <a:r>
              <a:rPr lang="en-US" b="0" i="0" dirty="0" err="1">
                <a:solidFill>
                  <a:srgbClr val="273239"/>
                </a:solidFill>
                <a:effectLst/>
                <a:latin typeface="Nunito" pitchFamily="2" charset="0"/>
              </a:rPr>
              <a:t>behaviours</a:t>
            </a:r>
            <a:r>
              <a:rPr lang="en-US" b="0" i="0" dirty="0">
                <a:solidFill>
                  <a:srgbClr val="273239"/>
                </a:solidFill>
                <a:effectLst/>
                <a:latin typeface="Nunito" pitchFamily="2" charset="0"/>
              </a:rPr>
              <a:t>. Therefore, motivation is a complex task.</a:t>
            </a:r>
          </a:p>
          <a:p>
            <a:pPr algn="l" fontAlgn="base">
              <a:buFont typeface="Arial" panose="020B0604020202020204" pitchFamily="34" charset="0"/>
              <a:buChar char="•"/>
            </a:pPr>
            <a:r>
              <a:rPr lang="en-US" b="1" i="0" dirty="0">
                <a:solidFill>
                  <a:srgbClr val="273239"/>
                </a:solidFill>
                <a:effectLst/>
                <a:latin typeface="Nunito" pitchFamily="2" charset="0"/>
              </a:rPr>
              <a:t>Continuous process</a:t>
            </a:r>
            <a:r>
              <a:rPr lang="en-US" b="0" i="0" dirty="0">
                <a:solidFill>
                  <a:srgbClr val="273239"/>
                </a:solidFill>
                <a:effectLst/>
                <a:latin typeface="Nunito" pitchFamily="2" charset="0"/>
              </a:rPr>
              <a:t>: As human needs are unlimited, completion of one need gives rise to another, and it goes on. Therefore, motivation is a continuous process, and it does not end with the satisfaction of a particular need.</a:t>
            </a:r>
          </a:p>
        </p:txBody>
      </p:sp>
      <p:sp>
        <p:nvSpPr>
          <p:cNvPr id="4" name="Slide Number Placeholder 3"/>
          <p:cNvSpPr>
            <a:spLocks noGrp="1"/>
          </p:cNvSpPr>
          <p:nvPr>
            <p:ph type="sldNum" sz="quarter" idx="10"/>
          </p:nvPr>
        </p:nvSpPr>
        <p:spPr/>
        <p:txBody>
          <a:bodyPr/>
          <a:lstStyle/>
          <a:p>
            <a:fld id="{1635F52E-BA8C-4FAB-BCFA-C67A14D9CE22}" type="slidenum">
              <a:rPr lang="en-US" smtClean="0"/>
              <a:pPr/>
              <a:t>51</a:t>
            </a:fld>
            <a:endParaRPr lang="en-US"/>
          </a:p>
        </p:txBody>
      </p:sp>
    </p:spTree>
    <p:extLst>
      <p:ext uri="{BB962C8B-B14F-4D97-AF65-F5344CB8AC3E}">
        <p14:creationId xmlns:p14="http://schemas.microsoft.com/office/powerpoint/2010/main" val="401816374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52</a:t>
            </a:fld>
            <a:endParaRPr lang="en-US"/>
          </a:p>
        </p:txBody>
      </p:sp>
    </p:spTree>
    <p:extLst>
      <p:ext uri="{BB962C8B-B14F-4D97-AF65-F5344CB8AC3E}">
        <p14:creationId xmlns:p14="http://schemas.microsoft.com/office/powerpoint/2010/main" val="27759522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just">
              <a:buFont typeface="+mj-lt"/>
              <a:buAutoNum type="arabicPeriod"/>
            </a:pPr>
            <a:r>
              <a:rPr lang="en-US" b="1" i="0" dirty="0">
                <a:solidFill>
                  <a:srgbClr val="1D1D1F"/>
                </a:solidFill>
                <a:effectLst/>
                <a:latin typeface="-apple-system"/>
              </a:rPr>
              <a:t>Unsatisfied need</a:t>
            </a:r>
            <a:r>
              <a:rPr lang="en-US" b="0" i="0" dirty="0">
                <a:solidFill>
                  <a:srgbClr val="1D1D1F"/>
                </a:solidFill>
                <a:effectLst/>
                <a:latin typeface="-apple-system"/>
              </a:rPr>
              <a:t>. Motivation process begins when there is an unsatisfied need in a human being.</a:t>
            </a:r>
          </a:p>
          <a:p>
            <a:pPr algn="just">
              <a:buFont typeface="+mj-lt"/>
              <a:buAutoNum type="arabicPeriod"/>
            </a:pPr>
            <a:r>
              <a:rPr lang="en-US" b="1" i="0" dirty="0">
                <a:solidFill>
                  <a:srgbClr val="1D1D1F"/>
                </a:solidFill>
                <a:effectLst/>
                <a:latin typeface="-apple-system"/>
              </a:rPr>
              <a:t>Tension</a:t>
            </a:r>
            <a:r>
              <a:rPr lang="en-US" b="0" i="0" dirty="0">
                <a:solidFill>
                  <a:srgbClr val="1D1D1F"/>
                </a:solidFill>
                <a:effectLst/>
                <a:latin typeface="-apple-system"/>
              </a:rPr>
              <a:t>. The presence of unsatisfied need gives him tension.</a:t>
            </a:r>
          </a:p>
          <a:p>
            <a:pPr algn="just">
              <a:buFont typeface="+mj-lt"/>
              <a:buAutoNum type="arabicPeriod"/>
            </a:pPr>
            <a:r>
              <a:rPr lang="en-US" b="1" i="0" dirty="0">
                <a:solidFill>
                  <a:srgbClr val="1D1D1F"/>
                </a:solidFill>
                <a:effectLst/>
                <a:latin typeface="-apple-system"/>
              </a:rPr>
              <a:t>Drive</a:t>
            </a:r>
            <a:r>
              <a:rPr lang="en-US" b="0" i="0" dirty="0">
                <a:solidFill>
                  <a:srgbClr val="1D1D1F"/>
                </a:solidFill>
                <a:effectLst/>
                <a:latin typeface="-apple-system"/>
              </a:rPr>
              <a:t>. This tension creates an urge of drive in the human being an he starts looking for various alternatives to satisfy the drive.</a:t>
            </a:r>
          </a:p>
          <a:p>
            <a:pPr algn="just">
              <a:buFont typeface="+mj-lt"/>
              <a:buAutoNum type="arabicPeriod"/>
            </a:pPr>
            <a:r>
              <a:rPr lang="en-US" b="1" i="0" dirty="0">
                <a:solidFill>
                  <a:srgbClr val="1D1D1F"/>
                </a:solidFill>
                <a:effectLst/>
                <a:latin typeface="-apple-system"/>
              </a:rPr>
              <a:t>Search Behavior.</a:t>
            </a:r>
            <a:r>
              <a:rPr lang="en-US" b="0" i="0" dirty="0">
                <a:solidFill>
                  <a:srgbClr val="1D1D1F"/>
                </a:solidFill>
                <a:effectLst/>
                <a:latin typeface="-apple-system"/>
              </a:rPr>
              <a:t> After searching for alternatives the human being starts behaving according to chosen option.</a:t>
            </a:r>
          </a:p>
          <a:p>
            <a:pPr algn="just">
              <a:buFont typeface="+mj-lt"/>
              <a:buAutoNum type="arabicPeriod"/>
            </a:pPr>
            <a:r>
              <a:rPr lang="en-US" b="1" i="0" dirty="0">
                <a:solidFill>
                  <a:srgbClr val="1D1D1F"/>
                </a:solidFill>
                <a:effectLst/>
                <a:latin typeface="-apple-system"/>
              </a:rPr>
              <a:t>Satisfied need.</a:t>
            </a:r>
            <a:r>
              <a:rPr lang="en-US" b="0" i="0" dirty="0">
                <a:solidFill>
                  <a:srgbClr val="1D1D1F"/>
                </a:solidFill>
                <a:effectLst/>
                <a:latin typeface="-apple-system"/>
              </a:rPr>
              <a:t> After behaving in a particular manner for a long time then he evaluates that whether the need is satisfied or not.</a:t>
            </a:r>
          </a:p>
          <a:p>
            <a:pPr algn="just">
              <a:buFont typeface="+mj-lt"/>
              <a:buAutoNum type="arabicPeriod"/>
            </a:pPr>
            <a:r>
              <a:rPr lang="en-US" b="1" i="0" dirty="0">
                <a:solidFill>
                  <a:srgbClr val="1D1D1F"/>
                </a:solidFill>
                <a:effectLst/>
                <a:latin typeface="-apple-system"/>
              </a:rPr>
              <a:t>Reduction of tension</a:t>
            </a:r>
            <a:r>
              <a:rPr lang="en-US" b="0" i="0" dirty="0">
                <a:solidFill>
                  <a:srgbClr val="1D1D1F"/>
                </a:solidFill>
                <a:effectLst/>
                <a:latin typeface="-apple-system"/>
              </a:rPr>
              <a:t>. After fulfilling the need the human being gets satisfied and his tension gets reduced.</a:t>
            </a:r>
          </a:p>
          <a:p>
            <a:pPr algn="just"/>
            <a:r>
              <a:rPr lang="en-US" b="0" i="0" dirty="0">
                <a:solidFill>
                  <a:srgbClr val="1D1D1F"/>
                </a:solidFill>
                <a:effectLst/>
                <a:latin typeface="-apple-system"/>
              </a:rPr>
              <a:t>For example, if an employee develops a need to earn more, this need will make him restless and he will start thinking how to satisfy his need. To satisfy his need he may think of working hard in organization and get promotion so he will start working hard. After sometime he will get incentives or increments or promotion which will satisfy his need.</a:t>
            </a: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53</a:t>
            </a:fld>
            <a:endParaRPr lang="en-US"/>
          </a:p>
        </p:txBody>
      </p:sp>
    </p:spTree>
    <p:extLst>
      <p:ext uri="{BB962C8B-B14F-4D97-AF65-F5344CB8AC3E}">
        <p14:creationId xmlns:p14="http://schemas.microsoft.com/office/powerpoint/2010/main" val="354573816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54</a:t>
            </a:fld>
            <a:endParaRPr lang="en-US"/>
          </a:p>
        </p:txBody>
      </p:sp>
    </p:spTree>
    <p:extLst>
      <p:ext uri="{BB962C8B-B14F-4D97-AF65-F5344CB8AC3E}">
        <p14:creationId xmlns:p14="http://schemas.microsoft.com/office/powerpoint/2010/main" val="210443995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mj-lt"/>
              <a:buAutoNum type="arabicPeriod"/>
            </a:pPr>
            <a:r>
              <a:rPr lang="en-US" b="1" i="0" dirty="0">
                <a:solidFill>
                  <a:srgbClr val="111111"/>
                </a:solidFill>
                <a:effectLst/>
                <a:latin typeface="-apple-system"/>
              </a:rPr>
              <a:t>Physiological needs</a:t>
            </a:r>
            <a:r>
              <a:rPr lang="en-US" b="0" i="0" dirty="0">
                <a:solidFill>
                  <a:srgbClr val="111111"/>
                </a:solidFill>
                <a:effectLst/>
                <a:latin typeface="-apple-system"/>
              </a:rPr>
              <a:t>: Basic necessities like food, water, and shelter.</a:t>
            </a:r>
          </a:p>
          <a:p>
            <a:pPr algn="l">
              <a:buFont typeface="+mj-lt"/>
              <a:buAutoNum type="arabicPeriod"/>
            </a:pPr>
            <a:r>
              <a:rPr lang="en-US" b="1" i="0" dirty="0">
                <a:solidFill>
                  <a:srgbClr val="111111"/>
                </a:solidFill>
                <a:effectLst/>
                <a:latin typeface="-apple-system"/>
              </a:rPr>
              <a:t>Safety needs</a:t>
            </a:r>
            <a:r>
              <a:rPr lang="en-US" b="0" i="0" dirty="0">
                <a:solidFill>
                  <a:srgbClr val="111111"/>
                </a:solidFill>
                <a:effectLst/>
                <a:latin typeface="-apple-system"/>
              </a:rPr>
              <a:t>: Security, stability, and protection.</a:t>
            </a:r>
          </a:p>
          <a:p>
            <a:pPr algn="l">
              <a:buFont typeface="+mj-lt"/>
              <a:buAutoNum type="arabicPeriod"/>
            </a:pPr>
            <a:r>
              <a:rPr lang="en-US" b="1" i="0" dirty="0">
                <a:solidFill>
                  <a:srgbClr val="111111"/>
                </a:solidFill>
                <a:effectLst/>
                <a:latin typeface="-apple-system"/>
              </a:rPr>
              <a:t>Love and belonging</a:t>
            </a:r>
            <a:r>
              <a:rPr lang="en-US" b="0" i="0" dirty="0">
                <a:solidFill>
                  <a:srgbClr val="111111"/>
                </a:solidFill>
                <a:effectLst/>
                <a:latin typeface="-apple-system"/>
              </a:rPr>
              <a:t>: Social connections, relationships, and a sense of belonging.</a:t>
            </a:r>
          </a:p>
          <a:p>
            <a:pPr algn="l">
              <a:buFont typeface="+mj-lt"/>
              <a:buAutoNum type="arabicPeriod"/>
            </a:pPr>
            <a:r>
              <a:rPr lang="en-US" b="1" i="0" dirty="0">
                <a:solidFill>
                  <a:srgbClr val="111111"/>
                </a:solidFill>
                <a:effectLst/>
                <a:latin typeface="-apple-system"/>
              </a:rPr>
              <a:t>Esteem</a:t>
            </a:r>
            <a:r>
              <a:rPr lang="en-US" b="0" i="0" dirty="0">
                <a:solidFill>
                  <a:srgbClr val="111111"/>
                </a:solidFill>
                <a:effectLst/>
                <a:latin typeface="-apple-system"/>
              </a:rPr>
              <a:t>: Recognition, respect, and self-worth.</a:t>
            </a:r>
          </a:p>
          <a:p>
            <a:pPr algn="l">
              <a:buFont typeface="+mj-lt"/>
              <a:buAutoNum type="arabicPeriod"/>
            </a:pPr>
            <a:r>
              <a:rPr lang="en-US" b="1" i="0" dirty="0">
                <a:solidFill>
                  <a:srgbClr val="111111"/>
                </a:solidFill>
                <a:effectLst/>
                <a:latin typeface="-apple-system"/>
              </a:rPr>
              <a:t>Self-actualization</a:t>
            </a:r>
            <a:r>
              <a:rPr lang="en-US" b="0" i="0" dirty="0">
                <a:solidFill>
                  <a:srgbClr val="111111"/>
                </a:solidFill>
                <a:effectLst/>
                <a:latin typeface="-apple-system"/>
              </a:rPr>
              <a:t>: Fulfillment of one's potential and personal growth</a:t>
            </a: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55</a:t>
            </a:fld>
            <a:endParaRPr lang="en-US"/>
          </a:p>
        </p:txBody>
      </p:sp>
    </p:spTree>
    <p:extLst>
      <p:ext uri="{BB962C8B-B14F-4D97-AF65-F5344CB8AC3E}">
        <p14:creationId xmlns:p14="http://schemas.microsoft.com/office/powerpoint/2010/main" val="83106280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56</a:t>
            </a:fld>
            <a:endParaRPr lang="en-US"/>
          </a:p>
        </p:txBody>
      </p:sp>
    </p:spTree>
    <p:extLst>
      <p:ext uri="{BB962C8B-B14F-4D97-AF65-F5344CB8AC3E}">
        <p14:creationId xmlns:p14="http://schemas.microsoft.com/office/powerpoint/2010/main" val="372264625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en-US" b="0" i="0" dirty="0">
                <a:solidFill>
                  <a:srgbClr val="2F3D3C"/>
                </a:solidFill>
                <a:effectLst/>
                <a:latin typeface="-apple-system"/>
              </a:rPr>
              <a:t>This theory was developed in the 1960s by David  McClelland..</a:t>
            </a:r>
          </a:p>
          <a:p>
            <a:pPr algn="l">
              <a:buFont typeface="Arial" panose="020B0604020202020204" pitchFamily="34" charset="0"/>
              <a:buChar char="•"/>
            </a:pPr>
            <a:endParaRPr lang="en-US" b="0" i="0" dirty="0">
              <a:solidFill>
                <a:srgbClr val="2F3D3C"/>
              </a:solidFill>
              <a:effectLst/>
              <a:latin typeface="-apple-system"/>
            </a:endParaRPr>
          </a:p>
          <a:p>
            <a:pPr algn="l"/>
            <a:r>
              <a:rPr lang="en-US" b="0" i="0" dirty="0">
                <a:solidFill>
                  <a:srgbClr val="E22457"/>
                </a:solidFill>
                <a:effectLst/>
                <a:latin typeface="-apple-system"/>
              </a:rPr>
              <a:t> Need For Achievement</a:t>
            </a:r>
          </a:p>
          <a:p>
            <a:pPr algn="l"/>
            <a:r>
              <a:rPr lang="en-US" b="0" i="0" dirty="0">
                <a:solidFill>
                  <a:srgbClr val="2F3D3C"/>
                </a:solidFill>
                <a:effectLst/>
                <a:latin typeface="-apple-system"/>
              </a:rPr>
              <a:t>The need for achievement as the name itself suggests is the urge to achieve something in what you do. If you are a lawyer it is the need to win cases and be recognized, if you are a painter it is the need to paint a famous painting.</a:t>
            </a:r>
          </a:p>
          <a:p>
            <a:pPr algn="l">
              <a:buFont typeface="Arial" panose="020B0604020202020204" pitchFamily="34" charset="0"/>
              <a:buChar char="•"/>
            </a:pPr>
            <a:endParaRPr lang="en-US" b="0" i="0" dirty="0">
              <a:solidFill>
                <a:srgbClr val="2F3D3C"/>
              </a:solidFill>
              <a:effectLst/>
              <a:latin typeface="-apple-system"/>
            </a:endParaRPr>
          </a:p>
          <a:p>
            <a:pPr algn="l"/>
            <a:r>
              <a:rPr lang="en-US" b="0" i="0" dirty="0">
                <a:solidFill>
                  <a:srgbClr val="E22457"/>
                </a:solidFill>
                <a:effectLst/>
                <a:latin typeface="-apple-system"/>
              </a:rPr>
              <a:t> Need For Power</a:t>
            </a:r>
          </a:p>
          <a:p>
            <a:pPr algn="l"/>
            <a:r>
              <a:rPr lang="en-US" b="0" i="0" dirty="0">
                <a:solidFill>
                  <a:srgbClr val="2F3D3C"/>
                </a:solidFill>
                <a:effectLst/>
                <a:latin typeface="-apple-system"/>
              </a:rPr>
              <a:t>The need for power is the desire within a person to hold control and authority over another person and influence and change their decision in accordance with his own needs or desires. The need to enhance their self-esteem and reputation drives these people and they desire their views and ideas to be accepted and implemented over the views and ideas over others.</a:t>
            </a:r>
          </a:p>
          <a:p>
            <a:pPr algn="l"/>
            <a:r>
              <a:rPr lang="en-US" b="0" i="0" dirty="0">
                <a:solidFill>
                  <a:srgbClr val="E22457"/>
                </a:solidFill>
                <a:effectLst/>
                <a:latin typeface="-apple-system"/>
              </a:rPr>
              <a:t>Need For Affiliation</a:t>
            </a:r>
          </a:p>
          <a:p>
            <a:pPr algn="l"/>
            <a:r>
              <a:rPr lang="en-US" b="0" i="0" dirty="0">
                <a:solidFill>
                  <a:srgbClr val="2F3D3C"/>
                </a:solidFill>
                <a:effectLst/>
                <a:latin typeface="-apple-system"/>
              </a:rPr>
              <a:t>The need for affiliation is the urge of a person to have interpersonal and social relationships with others or a particular set of people. They seek to work in groups by creating friendly and lasting relationships and have the urge to be liked by others. </a:t>
            </a: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57</a:t>
            </a:fld>
            <a:endParaRPr lang="en-US"/>
          </a:p>
        </p:txBody>
      </p:sp>
    </p:spTree>
    <p:extLst>
      <p:ext uri="{BB962C8B-B14F-4D97-AF65-F5344CB8AC3E}">
        <p14:creationId xmlns:p14="http://schemas.microsoft.com/office/powerpoint/2010/main" val="156899716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58</a:t>
            </a:fld>
            <a:endParaRPr lang="en-US"/>
          </a:p>
        </p:txBody>
      </p:sp>
    </p:spTree>
    <p:extLst>
      <p:ext uri="{BB962C8B-B14F-4D97-AF65-F5344CB8AC3E}">
        <p14:creationId xmlns:p14="http://schemas.microsoft.com/office/powerpoint/2010/main" val="97455009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r>
              <a:rPr lang="en-US" b="1" i="0" dirty="0">
                <a:solidFill>
                  <a:srgbClr val="4A4E57"/>
                </a:solidFill>
                <a:effectLst/>
                <a:latin typeface="Open Sans" panose="020B0606030504020204" pitchFamily="34" charset="0"/>
              </a:rPr>
              <a:t>Valence:</a:t>
            </a:r>
            <a:r>
              <a:rPr lang="en-US" b="0" i="0" dirty="0">
                <a:solidFill>
                  <a:srgbClr val="4A4E57"/>
                </a:solidFill>
                <a:effectLst/>
                <a:latin typeface="Open Sans" panose="020B0606030504020204" pitchFamily="34" charset="0"/>
              </a:rPr>
              <a:t> How much they value the potential rewards associated with the specific results or behaviors,</a:t>
            </a:r>
          </a:p>
          <a:p>
            <a:pPr algn="l">
              <a:buFont typeface="Arial" panose="020B0604020202020204" pitchFamily="34" charset="0"/>
              <a:buChar char="•"/>
            </a:pPr>
            <a:r>
              <a:rPr lang="en-US" b="1" i="0" dirty="0">
                <a:solidFill>
                  <a:srgbClr val="4A4E57"/>
                </a:solidFill>
                <a:effectLst/>
                <a:latin typeface="Open Sans" panose="020B0606030504020204" pitchFamily="34" charset="0"/>
              </a:rPr>
              <a:t>Expectancy:</a:t>
            </a:r>
            <a:r>
              <a:rPr lang="en-US" b="0" i="0" dirty="0">
                <a:solidFill>
                  <a:srgbClr val="4A4E57"/>
                </a:solidFill>
                <a:effectLst/>
                <a:latin typeface="Open Sans" panose="020B0606030504020204" pitchFamily="34" charset="0"/>
              </a:rPr>
              <a:t> How much they believe that their additional effort will help them achieve the target results of behaviors, and</a:t>
            </a:r>
          </a:p>
          <a:p>
            <a:pPr algn="l">
              <a:buFont typeface="Arial" panose="020B0604020202020204" pitchFamily="34" charset="0"/>
              <a:buChar char="•"/>
            </a:pPr>
            <a:r>
              <a:rPr lang="en-US" b="1" i="0" dirty="0">
                <a:solidFill>
                  <a:srgbClr val="4A4E57"/>
                </a:solidFill>
                <a:effectLst/>
                <a:latin typeface="Open Sans" panose="020B0606030504020204" pitchFamily="34" charset="0"/>
              </a:rPr>
              <a:t>Instrumentality:</a:t>
            </a:r>
            <a:r>
              <a:rPr lang="en-US" b="0" i="0" dirty="0">
                <a:solidFill>
                  <a:srgbClr val="4A4E57"/>
                </a:solidFill>
                <a:effectLst/>
                <a:latin typeface="Open Sans" panose="020B0606030504020204" pitchFamily="34" charset="0"/>
              </a:rPr>
              <a:t> How much they believe the rewards will actually appear should they achieve the desired outcomes or behaviors.</a:t>
            </a:r>
          </a:p>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59</a:t>
            </a:fld>
            <a:endParaRPr lang="en-US"/>
          </a:p>
        </p:txBody>
      </p:sp>
    </p:spTree>
    <p:extLst>
      <p:ext uri="{BB962C8B-B14F-4D97-AF65-F5344CB8AC3E}">
        <p14:creationId xmlns:p14="http://schemas.microsoft.com/office/powerpoint/2010/main" val="41616593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60</a:t>
            </a:fld>
            <a:endParaRPr lang="en-US"/>
          </a:p>
        </p:txBody>
      </p:sp>
    </p:spTree>
    <p:extLst>
      <p:ext uri="{BB962C8B-B14F-4D97-AF65-F5344CB8AC3E}">
        <p14:creationId xmlns:p14="http://schemas.microsoft.com/office/powerpoint/2010/main" val="135776489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61</a:t>
            </a:fld>
            <a:endParaRPr lang="en-US"/>
          </a:p>
        </p:txBody>
      </p:sp>
    </p:spTree>
    <p:extLst>
      <p:ext uri="{BB962C8B-B14F-4D97-AF65-F5344CB8AC3E}">
        <p14:creationId xmlns:p14="http://schemas.microsoft.com/office/powerpoint/2010/main" val="305665346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62</a:t>
            </a:fld>
            <a:endParaRPr lang="en-US"/>
          </a:p>
        </p:txBody>
      </p:sp>
    </p:spTree>
    <p:extLst>
      <p:ext uri="{BB962C8B-B14F-4D97-AF65-F5344CB8AC3E}">
        <p14:creationId xmlns:p14="http://schemas.microsoft.com/office/powerpoint/2010/main" val="138896677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63</a:t>
            </a:fld>
            <a:endParaRPr lang="en-US"/>
          </a:p>
        </p:txBody>
      </p:sp>
    </p:spTree>
    <p:extLst>
      <p:ext uri="{BB962C8B-B14F-4D97-AF65-F5344CB8AC3E}">
        <p14:creationId xmlns:p14="http://schemas.microsoft.com/office/powerpoint/2010/main" val="201275724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64</a:t>
            </a:fld>
            <a:endParaRPr lang="en-US"/>
          </a:p>
        </p:txBody>
      </p:sp>
    </p:spTree>
    <p:extLst>
      <p:ext uri="{BB962C8B-B14F-4D97-AF65-F5344CB8AC3E}">
        <p14:creationId xmlns:p14="http://schemas.microsoft.com/office/powerpoint/2010/main" val="74441541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65</a:t>
            </a:fld>
            <a:endParaRPr lang="en-US"/>
          </a:p>
        </p:txBody>
      </p:sp>
    </p:spTree>
    <p:extLst>
      <p:ext uri="{BB962C8B-B14F-4D97-AF65-F5344CB8AC3E}">
        <p14:creationId xmlns:p14="http://schemas.microsoft.com/office/powerpoint/2010/main" val="113042090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66</a:t>
            </a:fld>
            <a:endParaRPr lang="en-US"/>
          </a:p>
        </p:txBody>
      </p:sp>
    </p:spTree>
    <p:extLst>
      <p:ext uri="{BB962C8B-B14F-4D97-AF65-F5344CB8AC3E}">
        <p14:creationId xmlns:p14="http://schemas.microsoft.com/office/powerpoint/2010/main" val="400863396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67</a:t>
            </a:fld>
            <a:endParaRPr lang="en-US"/>
          </a:p>
        </p:txBody>
      </p:sp>
    </p:spTree>
    <p:extLst>
      <p:ext uri="{BB962C8B-B14F-4D97-AF65-F5344CB8AC3E}">
        <p14:creationId xmlns:p14="http://schemas.microsoft.com/office/powerpoint/2010/main" val="98122043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68</a:t>
            </a:fld>
            <a:endParaRPr lang="en-US"/>
          </a:p>
        </p:txBody>
      </p:sp>
    </p:spTree>
    <p:extLst>
      <p:ext uri="{BB962C8B-B14F-4D97-AF65-F5344CB8AC3E}">
        <p14:creationId xmlns:p14="http://schemas.microsoft.com/office/powerpoint/2010/main" val="25799072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69</a:t>
            </a:fld>
            <a:endParaRPr lang="en-US"/>
          </a:p>
        </p:txBody>
      </p:sp>
    </p:spTree>
    <p:extLst>
      <p:ext uri="{BB962C8B-B14F-4D97-AF65-F5344CB8AC3E}">
        <p14:creationId xmlns:p14="http://schemas.microsoft.com/office/powerpoint/2010/main" val="227171312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70</a:t>
            </a:fld>
            <a:endParaRPr lang="en-US"/>
          </a:p>
        </p:txBody>
      </p:sp>
    </p:spTree>
    <p:extLst>
      <p:ext uri="{BB962C8B-B14F-4D97-AF65-F5344CB8AC3E}">
        <p14:creationId xmlns:p14="http://schemas.microsoft.com/office/powerpoint/2010/main" val="416297334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71</a:t>
            </a:fld>
            <a:endParaRPr lang="en-US"/>
          </a:p>
        </p:txBody>
      </p:sp>
    </p:spTree>
    <p:extLst>
      <p:ext uri="{BB962C8B-B14F-4D97-AF65-F5344CB8AC3E}">
        <p14:creationId xmlns:p14="http://schemas.microsoft.com/office/powerpoint/2010/main" val="70271675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72</a:t>
            </a:fld>
            <a:endParaRPr lang="en-US"/>
          </a:p>
        </p:txBody>
      </p:sp>
    </p:spTree>
    <p:extLst>
      <p:ext uri="{BB962C8B-B14F-4D97-AF65-F5344CB8AC3E}">
        <p14:creationId xmlns:p14="http://schemas.microsoft.com/office/powerpoint/2010/main" val="34035076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73</a:t>
            </a:fld>
            <a:endParaRPr lang="en-US"/>
          </a:p>
        </p:txBody>
      </p:sp>
    </p:spTree>
    <p:extLst>
      <p:ext uri="{BB962C8B-B14F-4D97-AF65-F5344CB8AC3E}">
        <p14:creationId xmlns:p14="http://schemas.microsoft.com/office/powerpoint/2010/main" val="334202375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pPr algn="l">
              <a:buFont typeface="Arial" panose="020B0604020202020204" pitchFamily="34" charset="0"/>
              <a:buChar char="•"/>
            </a:pPr>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74</a:t>
            </a:fld>
            <a:endParaRPr lang="en-US"/>
          </a:p>
        </p:txBody>
      </p:sp>
    </p:spTree>
    <p:extLst>
      <p:ext uri="{BB962C8B-B14F-4D97-AF65-F5344CB8AC3E}">
        <p14:creationId xmlns:p14="http://schemas.microsoft.com/office/powerpoint/2010/main" val="3238212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696A0-834C-CC1F-442F-F88D414233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CC9EE30-BCD6-FD00-2F73-824A2F405F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E5BE659-7072-1A60-5E52-D9CA0E4FDC7C}"/>
              </a:ext>
            </a:extLst>
          </p:cNvPr>
          <p:cNvSpPr>
            <a:spLocks noGrp="1"/>
          </p:cNvSpPr>
          <p:nvPr>
            <p:ph type="dt" sz="half" idx="10"/>
          </p:nvPr>
        </p:nvSpPr>
        <p:spPr/>
        <p:txBody>
          <a:bodyPr/>
          <a:lstStyle/>
          <a:p>
            <a:fld id="{8A732C9D-8AC8-451C-8C9C-8128E2EA837B}" type="datetimeFigureOut">
              <a:rPr lang="en-IN" smtClean="0"/>
              <a:t>09-09-2024</a:t>
            </a:fld>
            <a:endParaRPr lang="en-IN"/>
          </a:p>
        </p:txBody>
      </p:sp>
      <p:sp>
        <p:nvSpPr>
          <p:cNvPr id="5" name="Footer Placeholder 4">
            <a:extLst>
              <a:ext uri="{FF2B5EF4-FFF2-40B4-BE49-F238E27FC236}">
                <a16:creationId xmlns:a16="http://schemas.microsoft.com/office/drawing/2014/main" id="{FDCF5D28-B5C5-39B5-0B5A-96F3C442ED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CC69410-8EB9-ACB0-69B5-0920C04D0069}"/>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2418235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F1AEB-46C1-354F-F715-9C0D78BDBBB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007A731-8F79-57DA-D675-68A10717C2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2C4AAF-EC41-6C1F-F544-945793980A02}"/>
              </a:ext>
            </a:extLst>
          </p:cNvPr>
          <p:cNvSpPr>
            <a:spLocks noGrp="1"/>
          </p:cNvSpPr>
          <p:nvPr>
            <p:ph type="dt" sz="half" idx="10"/>
          </p:nvPr>
        </p:nvSpPr>
        <p:spPr/>
        <p:txBody>
          <a:bodyPr/>
          <a:lstStyle/>
          <a:p>
            <a:fld id="{8A732C9D-8AC8-451C-8C9C-8128E2EA837B}" type="datetimeFigureOut">
              <a:rPr lang="en-IN" smtClean="0"/>
              <a:t>09-09-2024</a:t>
            </a:fld>
            <a:endParaRPr lang="en-IN"/>
          </a:p>
        </p:txBody>
      </p:sp>
      <p:sp>
        <p:nvSpPr>
          <p:cNvPr id="5" name="Footer Placeholder 4">
            <a:extLst>
              <a:ext uri="{FF2B5EF4-FFF2-40B4-BE49-F238E27FC236}">
                <a16:creationId xmlns:a16="http://schemas.microsoft.com/office/drawing/2014/main" id="{565A5BE9-0307-D77F-5515-57FF2ED697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289425-5706-18EB-E5C3-7F0B63E82791}"/>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189562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98CCF-499C-5EB2-584E-CB5758FFD9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BD75660-B49B-FA59-AA6D-39AB1349D43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8E1F63-B7D1-93DA-A529-D05A4C72711D}"/>
              </a:ext>
            </a:extLst>
          </p:cNvPr>
          <p:cNvSpPr>
            <a:spLocks noGrp="1"/>
          </p:cNvSpPr>
          <p:nvPr>
            <p:ph type="dt" sz="half" idx="10"/>
          </p:nvPr>
        </p:nvSpPr>
        <p:spPr/>
        <p:txBody>
          <a:bodyPr/>
          <a:lstStyle/>
          <a:p>
            <a:fld id="{8A732C9D-8AC8-451C-8C9C-8128E2EA837B}" type="datetimeFigureOut">
              <a:rPr lang="en-IN" smtClean="0"/>
              <a:t>09-09-2024</a:t>
            </a:fld>
            <a:endParaRPr lang="en-IN"/>
          </a:p>
        </p:txBody>
      </p:sp>
      <p:sp>
        <p:nvSpPr>
          <p:cNvPr id="5" name="Footer Placeholder 4">
            <a:extLst>
              <a:ext uri="{FF2B5EF4-FFF2-40B4-BE49-F238E27FC236}">
                <a16:creationId xmlns:a16="http://schemas.microsoft.com/office/drawing/2014/main" id="{0B8140D9-A105-0038-42C0-DB50DD9CD9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B35A27-B798-B468-78D0-BA1169D62DAD}"/>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2852166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06D-17E9-5132-1472-5B6DEB4ED13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69DF772-183D-88E7-4039-CBE988CE13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B5184CC-6308-9EBE-D53C-E8BACF6A15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5A486BB-D3EE-1044-CF45-E99D9E6B65BA}"/>
              </a:ext>
            </a:extLst>
          </p:cNvPr>
          <p:cNvSpPr>
            <a:spLocks noGrp="1"/>
          </p:cNvSpPr>
          <p:nvPr>
            <p:ph type="dt" sz="half" idx="10"/>
          </p:nvPr>
        </p:nvSpPr>
        <p:spPr/>
        <p:txBody>
          <a:bodyPr/>
          <a:lstStyle/>
          <a:p>
            <a:fld id="{8A732C9D-8AC8-451C-8C9C-8128E2EA837B}" type="datetimeFigureOut">
              <a:rPr lang="en-IN" smtClean="0"/>
              <a:t>09-09-2024</a:t>
            </a:fld>
            <a:endParaRPr lang="en-IN"/>
          </a:p>
        </p:txBody>
      </p:sp>
      <p:sp>
        <p:nvSpPr>
          <p:cNvPr id="6" name="Footer Placeholder 5">
            <a:extLst>
              <a:ext uri="{FF2B5EF4-FFF2-40B4-BE49-F238E27FC236}">
                <a16:creationId xmlns:a16="http://schemas.microsoft.com/office/drawing/2014/main" id="{779E9EE8-919C-0872-B061-B76A21EADD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B02B7B2-BC8E-18DC-8BF6-3F552665DBD2}"/>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4290986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06FB1-7115-B4E5-7D60-A2C8141DE18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DA4E0A1-1138-86C0-44EC-8320D75C25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D2DE1-34DB-7832-7B79-A1CF1F39DC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CC988ED-0AB0-FFC2-3B44-9D8D8B42E2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AF45C6-89D0-D07C-F9D1-78D6843BB3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11C6BA9-FD48-74AD-5B12-143EBDAD87F1}"/>
              </a:ext>
            </a:extLst>
          </p:cNvPr>
          <p:cNvSpPr>
            <a:spLocks noGrp="1"/>
          </p:cNvSpPr>
          <p:nvPr>
            <p:ph type="dt" sz="half" idx="10"/>
          </p:nvPr>
        </p:nvSpPr>
        <p:spPr/>
        <p:txBody>
          <a:bodyPr/>
          <a:lstStyle/>
          <a:p>
            <a:fld id="{8A732C9D-8AC8-451C-8C9C-8128E2EA837B}" type="datetimeFigureOut">
              <a:rPr lang="en-IN" smtClean="0"/>
              <a:t>09-09-2024</a:t>
            </a:fld>
            <a:endParaRPr lang="en-IN"/>
          </a:p>
        </p:txBody>
      </p:sp>
      <p:sp>
        <p:nvSpPr>
          <p:cNvPr id="8" name="Footer Placeholder 7">
            <a:extLst>
              <a:ext uri="{FF2B5EF4-FFF2-40B4-BE49-F238E27FC236}">
                <a16:creationId xmlns:a16="http://schemas.microsoft.com/office/drawing/2014/main" id="{AFCDB0FF-4EE5-17BD-3B7C-F906A793C06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4F83E92-DBC8-04D8-0CAB-6DE7C25FD4CB}"/>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1079331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A8829-78A5-876A-B08C-24972D64ECE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4419D2D-7490-2D26-F72F-37B58F462EB6}"/>
              </a:ext>
            </a:extLst>
          </p:cNvPr>
          <p:cNvSpPr>
            <a:spLocks noGrp="1"/>
          </p:cNvSpPr>
          <p:nvPr>
            <p:ph type="dt" sz="half" idx="10"/>
          </p:nvPr>
        </p:nvSpPr>
        <p:spPr/>
        <p:txBody>
          <a:bodyPr/>
          <a:lstStyle/>
          <a:p>
            <a:fld id="{8A732C9D-8AC8-451C-8C9C-8128E2EA837B}" type="datetimeFigureOut">
              <a:rPr lang="en-IN" smtClean="0"/>
              <a:t>09-09-2024</a:t>
            </a:fld>
            <a:endParaRPr lang="en-IN"/>
          </a:p>
        </p:txBody>
      </p:sp>
      <p:sp>
        <p:nvSpPr>
          <p:cNvPr id="4" name="Footer Placeholder 3">
            <a:extLst>
              <a:ext uri="{FF2B5EF4-FFF2-40B4-BE49-F238E27FC236}">
                <a16:creationId xmlns:a16="http://schemas.microsoft.com/office/drawing/2014/main" id="{634D5A46-A912-129D-9BD6-FAF75F485C6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0ABCF05-4575-BA2A-E18B-545CF0D32061}"/>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1356926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CA2946-ADED-DB1F-9AE4-1AAE1327E67B}"/>
              </a:ext>
            </a:extLst>
          </p:cNvPr>
          <p:cNvSpPr>
            <a:spLocks noGrp="1"/>
          </p:cNvSpPr>
          <p:nvPr>
            <p:ph type="dt" sz="half" idx="10"/>
          </p:nvPr>
        </p:nvSpPr>
        <p:spPr/>
        <p:txBody>
          <a:bodyPr/>
          <a:lstStyle/>
          <a:p>
            <a:fld id="{8A732C9D-8AC8-451C-8C9C-8128E2EA837B}" type="datetimeFigureOut">
              <a:rPr lang="en-IN" smtClean="0"/>
              <a:t>09-09-2024</a:t>
            </a:fld>
            <a:endParaRPr lang="en-IN"/>
          </a:p>
        </p:txBody>
      </p:sp>
      <p:sp>
        <p:nvSpPr>
          <p:cNvPr id="3" name="Footer Placeholder 2">
            <a:extLst>
              <a:ext uri="{FF2B5EF4-FFF2-40B4-BE49-F238E27FC236}">
                <a16:creationId xmlns:a16="http://schemas.microsoft.com/office/drawing/2014/main" id="{E3182AA9-7705-1867-68D5-4CD9B27ECB2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1352A41-B9B5-7FB3-98A4-407822A51CD3}"/>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6073799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388EB-F350-C42C-F26C-8322116E3D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9F3415E-49F2-FC90-6243-87D6A190FB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BE6D191-69D3-31E3-C2E3-721DC57C8B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D57258-9949-5C26-B569-4350FCD02FC3}"/>
              </a:ext>
            </a:extLst>
          </p:cNvPr>
          <p:cNvSpPr>
            <a:spLocks noGrp="1"/>
          </p:cNvSpPr>
          <p:nvPr>
            <p:ph type="dt" sz="half" idx="10"/>
          </p:nvPr>
        </p:nvSpPr>
        <p:spPr/>
        <p:txBody>
          <a:bodyPr/>
          <a:lstStyle/>
          <a:p>
            <a:fld id="{8A732C9D-8AC8-451C-8C9C-8128E2EA837B}" type="datetimeFigureOut">
              <a:rPr lang="en-IN" smtClean="0"/>
              <a:t>09-09-2024</a:t>
            </a:fld>
            <a:endParaRPr lang="en-IN"/>
          </a:p>
        </p:txBody>
      </p:sp>
      <p:sp>
        <p:nvSpPr>
          <p:cNvPr id="6" name="Footer Placeholder 5">
            <a:extLst>
              <a:ext uri="{FF2B5EF4-FFF2-40B4-BE49-F238E27FC236}">
                <a16:creationId xmlns:a16="http://schemas.microsoft.com/office/drawing/2014/main" id="{E887FF2C-683D-AA28-546E-74DCF0F2D7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7D0716-DDA8-03C4-9A32-DF75A21AE6BF}"/>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3365477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5311A-7035-FF6F-30CB-C4FDE152E7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F27AA20-73A0-594B-CC77-9A9AEBDE4B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49F035-2035-CBEF-924B-F1FAB25794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ACD004-CEBA-6210-B903-16E6A0B726F4}"/>
              </a:ext>
            </a:extLst>
          </p:cNvPr>
          <p:cNvSpPr>
            <a:spLocks noGrp="1"/>
          </p:cNvSpPr>
          <p:nvPr>
            <p:ph type="dt" sz="half" idx="10"/>
          </p:nvPr>
        </p:nvSpPr>
        <p:spPr/>
        <p:txBody>
          <a:bodyPr/>
          <a:lstStyle/>
          <a:p>
            <a:fld id="{8A732C9D-8AC8-451C-8C9C-8128E2EA837B}" type="datetimeFigureOut">
              <a:rPr lang="en-IN" smtClean="0"/>
              <a:t>09-09-2024</a:t>
            </a:fld>
            <a:endParaRPr lang="en-IN"/>
          </a:p>
        </p:txBody>
      </p:sp>
      <p:sp>
        <p:nvSpPr>
          <p:cNvPr id="6" name="Footer Placeholder 5">
            <a:extLst>
              <a:ext uri="{FF2B5EF4-FFF2-40B4-BE49-F238E27FC236}">
                <a16:creationId xmlns:a16="http://schemas.microsoft.com/office/drawing/2014/main" id="{CFE2150D-4B1E-A93A-0C2F-571369BE43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F40EC0-F18D-B3F6-97A0-50B5ACB6949E}"/>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871558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228FC-4EC5-6C66-00F4-E59529B6665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C02810-3010-0012-EBD9-9ADDBAE226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CA1E5B-98DA-25E2-E62F-5822169B9E93}"/>
              </a:ext>
            </a:extLst>
          </p:cNvPr>
          <p:cNvSpPr>
            <a:spLocks noGrp="1"/>
          </p:cNvSpPr>
          <p:nvPr>
            <p:ph type="dt" sz="half" idx="10"/>
          </p:nvPr>
        </p:nvSpPr>
        <p:spPr/>
        <p:txBody>
          <a:bodyPr/>
          <a:lstStyle/>
          <a:p>
            <a:fld id="{8A732C9D-8AC8-451C-8C9C-8128E2EA837B}" type="datetimeFigureOut">
              <a:rPr lang="en-IN" smtClean="0"/>
              <a:t>09-09-2024</a:t>
            </a:fld>
            <a:endParaRPr lang="en-IN"/>
          </a:p>
        </p:txBody>
      </p:sp>
      <p:sp>
        <p:nvSpPr>
          <p:cNvPr id="5" name="Footer Placeholder 4">
            <a:extLst>
              <a:ext uri="{FF2B5EF4-FFF2-40B4-BE49-F238E27FC236}">
                <a16:creationId xmlns:a16="http://schemas.microsoft.com/office/drawing/2014/main" id="{2E6BAEA3-A087-6F0E-E591-DA641012C7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D05388-9770-194C-8ECE-65BA545E8EEC}"/>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3078499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CAA731-AF98-5E20-D22E-C5F1BF506B4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F338DEA-02D2-C8A4-DBA2-F1E4A6E865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4F30071-883D-753E-95C0-7AE748708CAA}"/>
              </a:ext>
            </a:extLst>
          </p:cNvPr>
          <p:cNvSpPr>
            <a:spLocks noGrp="1"/>
          </p:cNvSpPr>
          <p:nvPr>
            <p:ph type="dt" sz="half" idx="10"/>
          </p:nvPr>
        </p:nvSpPr>
        <p:spPr/>
        <p:txBody>
          <a:bodyPr/>
          <a:lstStyle/>
          <a:p>
            <a:fld id="{8A732C9D-8AC8-451C-8C9C-8128E2EA837B}" type="datetimeFigureOut">
              <a:rPr lang="en-IN" smtClean="0"/>
              <a:t>09-09-2024</a:t>
            </a:fld>
            <a:endParaRPr lang="en-IN"/>
          </a:p>
        </p:txBody>
      </p:sp>
      <p:sp>
        <p:nvSpPr>
          <p:cNvPr id="5" name="Footer Placeholder 4">
            <a:extLst>
              <a:ext uri="{FF2B5EF4-FFF2-40B4-BE49-F238E27FC236}">
                <a16:creationId xmlns:a16="http://schemas.microsoft.com/office/drawing/2014/main" id="{C39815C5-D7BD-2A32-8533-852C2CD8D4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8C9C1B-F539-56FD-1E55-91CFA3C46850}"/>
              </a:ext>
            </a:extLst>
          </p:cNvPr>
          <p:cNvSpPr>
            <a:spLocks noGrp="1"/>
          </p:cNvSpPr>
          <p:nvPr>
            <p:ph type="sldNum" sz="quarter" idx="12"/>
          </p:nvPr>
        </p:nvSpPr>
        <p:spPr/>
        <p:txBody>
          <a:bodyPr/>
          <a:lstStyle/>
          <a:p>
            <a:fld id="{D9E82CB0-C2B4-4A18-A52B-31F3F37278A0}" type="slidenum">
              <a:rPr lang="en-IN" smtClean="0"/>
              <a:t>‹#›</a:t>
            </a:fld>
            <a:endParaRPr lang="en-IN"/>
          </a:p>
        </p:txBody>
      </p:sp>
    </p:spTree>
    <p:extLst>
      <p:ext uri="{BB962C8B-B14F-4D97-AF65-F5344CB8AC3E}">
        <p14:creationId xmlns:p14="http://schemas.microsoft.com/office/powerpoint/2010/main" val="2397668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B43930-4043-4D7B-CEAD-672F0D0DB31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D8C064-D196-CFA3-35E2-B2120B4290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108CF4-3574-EC0F-62F0-FC37942F09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732C9D-8AC8-451C-8C9C-8128E2EA837B}" type="datetimeFigureOut">
              <a:rPr lang="en-IN" smtClean="0"/>
              <a:t>09-09-2024</a:t>
            </a:fld>
            <a:endParaRPr lang="en-IN"/>
          </a:p>
        </p:txBody>
      </p:sp>
      <p:sp>
        <p:nvSpPr>
          <p:cNvPr id="5" name="Footer Placeholder 4">
            <a:extLst>
              <a:ext uri="{FF2B5EF4-FFF2-40B4-BE49-F238E27FC236}">
                <a16:creationId xmlns:a16="http://schemas.microsoft.com/office/drawing/2014/main" id="{A6C2FF6A-A1AA-EC43-6279-3CD60E7F59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B75768-7454-C369-90B1-C052DDB657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E82CB0-C2B4-4A18-A52B-31F3F37278A0}" type="slidenum">
              <a:rPr lang="en-IN" smtClean="0"/>
              <a:t>‹#›</a:t>
            </a:fld>
            <a:endParaRPr lang="en-IN"/>
          </a:p>
        </p:txBody>
      </p:sp>
    </p:spTree>
    <p:extLst>
      <p:ext uri="{BB962C8B-B14F-4D97-AF65-F5344CB8AC3E}">
        <p14:creationId xmlns:p14="http://schemas.microsoft.com/office/powerpoint/2010/main" val="1817719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mailto:deepika@niet.co.i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5_btNIdvEfo"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hyperlink" Target="https://www.youtube.com/watch?v=uXuj-Kj6_wE" TargetMode="External"/><Relationship Id="rId4" Type="http://schemas.openxmlformats.org/officeDocument/2006/relationships/hyperlink" Target="https://www.youtube.com/watch?v=Lx83q3mW0oo"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4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4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5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5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5.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5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5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5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6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6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6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6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hyperlink" Target="https://www.youtube.com/watch?v=E8s-IsB2p5c" TargetMode="External"/><Relationship Id="rId5" Type="http://schemas.openxmlformats.org/officeDocument/2006/relationships/hyperlink" Target="https://www.youtube.com/watch?v=tCEuJxJH4qA" TargetMode="External"/><Relationship Id="rId4" Type="http://schemas.openxmlformats.org/officeDocument/2006/relationships/hyperlink" Target="https://www.youtube.com/watch?v=R3aonvQQOt8" TargetMode="External"/></Relationships>
</file>

<file path=ppt/slides/_rels/slide6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0"/>
            <a:ext cx="9982200" cy="909036"/>
          </a:xfr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a:noAutofit/>
          </a:bodyPr>
          <a:lstStyle/>
          <a:p>
            <a:r>
              <a:rPr lang="en-US" sz="2800" dirty="0" err="1"/>
              <a:t>Noida</a:t>
            </a:r>
            <a:r>
              <a:rPr lang="en-US" sz="2800" dirty="0"/>
              <a:t> Institute of Engineering and Technology, Greater </a:t>
            </a:r>
            <a:r>
              <a:rPr lang="en-US" sz="2800" dirty="0" err="1"/>
              <a:t>Noida</a:t>
            </a:r>
            <a:endParaRPr lang="en-US" sz="2800" dirty="0"/>
          </a:p>
        </p:txBody>
      </p:sp>
      <p:sp>
        <p:nvSpPr>
          <p:cNvPr id="3" name="Subtitle 2"/>
          <p:cNvSpPr>
            <a:spLocks noGrp="1"/>
          </p:cNvSpPr>
          <p:nvPr>
            <p:ph type="subTitle" idx="1"/>
          </p:nvPr>
        </p:nvSpPr>
        <p:spPr>
          <a:xfrm>
            <a:off x="1828800" y="1213837"/>
            <a:ext cx="9448800" cy="767363"/>
          </a:xfrm>
          <a:ln>
            <a:solidFill>
              <a:schemeClr val="accent2"/>
            </a:solidFill>
          </a:ln>
        </p:spPr>
        <p:style>
          <a:lnRef idx="2">
            <a:schemeClr val="accent5"/>
          </a:lnRef>
          <a:fillRef idx="1">
            <a:schemeClr val="lt1"/>
          </a:fillRef>
          <a:effectRef idx="0">
            <a:schemeClr val="accent5"/>
          </a:effectRef>
          <a:fontRef idx="minor">
            <a:schemeClr val="dk1"/>
          </a:fontRef>
        </p:style>
        <p:txBody>
          <a:bodyPr>
            <a:normAutofit fontScale="62500" lnSpcReduction="20000"/>
          </a:bodyPr>
          <a:lstStyle/>
          <a:p>
            <a:endParaRPr lang="en-US" sz="2500" dirty="0">
              <a:solidFill>
                <a:schemeClr val="tx1"/>
              </a:solidFill>
            </a:endParaRPr>
          </a:p>
          <a:p>
            <a:r>
              <a:rPr lang="en-US" sz="2500" dirty="0">
                <a:solidFill>
                  <a:schemeClr val="tx1"/>
                </a:solidFill>
              </a:rPr>
              <a:t>Dimensions of Human Behavior and Psychology</a:t>
            </a:r>
            <a:br>
              <a:rPr lang="en-US" sz="2500" dirty="0">
                <a:solidFill>
                  <a:schemeClr val="tx1"/>
                </a:solidFill>
              </a:rPr>
            </a:br>
            <a:endParaRPr lang="en-US" sz="2500" dirty="0">
              <a:solidFill>
                <a:schemeClr val="tx1"/>
              </a:solidFill>
            </a:endParaRPr>
          </a:p>
        </p:txBody>
      </p:sp>
      <p:sp>
        <p:nvSpPr>
          <p:cNvPr id="6" name="Subtitle 2"/>
          <p:cNvSpPr txBox="1">
            <a:spLocks/>
          </p:cNvSpPr>
          <p:nvPr/>
        </p:nvSpPr>
        <p:spPr>
          <a:xfrm>
            <a:off x="8991600" y="4222750"/>
            <a:ext cx="3048000" cy="17526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400" dirty="0">
                <a:solidFill>
                  <a:schemeClr val="tx1"/>
                </a:solidFill>
              </a:rPr>
              <a:t>Deepika Sharma</a:t>
            </a:r>
          </a:p>
          <a:p>
            <a:pPr algn="ctr">
              <a:spcBef>
                <a:spcPct val="20000"/>
              </a:spcBef>
              <a:defRPr/>
            </a:pPr>
            <a:r>
              <a:rPr lang="en-US" sz="2400" dirty="0">
                <a:solidFill>
                  <a:schemeClr val="tx1"/>
                </a:solidFill>
              </a:rPr>
              <a:t>Assistant Professor</a:t>
            </a:r>
          </a:p>
          <a:p>
            <a:pPr algn="ctr">
              <a:spcBef>
                <a:spcPct val="20000"/>
              </a:spcBef>
              <a:defRPr/>
            </a:pPr>
            <a:r>
              <a:rPr lang="en-US" sz="2400" dirty="0">
                <a:solidFill>
                  <a:schemeClr val="tx1"/>
                </a:solidFill>
              </a:rPr>
              <a:t>MBA Dept</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1905000" y="5943600"/>
            <a:ext cx="533400" cy="533400"/>
          </a:xfrm>
          <a:prstGeom prst="rect">
            <a:avLst/>
          </a:prstGeom>
          <a:noFill/>
        </p:spPr>
      </p:pic>
      <p:sp>
        <p:nvSpPr>
          <p:cNvPr id="9" name="Date Placeholder 8"/>
          <p:cNvSpPr>
            <a:spLocks noGrp="1"/>
          </p:cNvSpPr>
          <p:nvPr>
            <p:ph type="dt" sz="half" idx="10"/>
          </p:nvPr>
        </p:nvSpPr>
        <p:spPr>
          <a:xfrm>
            <a:off x="1905000" y="6492876"/>
            <a:ext cx="2133600" cy="365125"/>
          </a:xfrm>
        </p:spPr>
        <p:txBody>
          <a:bodyPr/>
          <a:lstStyle/>
          <a:p>
            <a:fld id="{38801551-5877-4C21-9B34-9746B04ED5CA}" type="datetime1">
              <a:rPr lang="en-US" smtClean="0"/>
              <a:pPr/>
              <a:t>9/9/2024</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pic>
        <p:nvPicPr>
          <p:cNvPr id="11" name="Picture 4" descr="C:\Users\Manks\Downloads\speak.png"/>
          <p:cNvPicPr>
            <a:picLocks noChangeAspect="1" noChangeArrowheads="1"/>
          </p:cNvPicPr>
          <p:nvPr/>
        </p:nvPicPr>
        <p:blipFill>
          <a:blip r:embed="rId4" cstate="print"/>
          <a:srcRect/>
          <a:stretch>
            <a:fillRect/>
          </a:stretch>
        </p:blipFill>
        <p:spPr bwMode="auto">
          <a:xfrm>
            <a:off x="9677400" y="2508250"/>
            <a:ext cx="1524000" cy="1524000"/>
          </a:xfrm>
          <a:prstGeom prst="rect">
            <a:avLst/>
          </a:prstGeom>
          <a:noFill/>
        </p:spPr>
      </p:pic>
      <p:sp>
        <p:nvSpPr>
          <p:cNvPr id="12" name="Subtitle 2"/>
          <p:cNvSpPr txBox="1">
            <a:spLocks/>
          </p:cNvSpPr>
          <p:nvPr/>
        </p:nvSpPr>
        <p:spPr>
          <a:xfrm>
            <a:off x="381000" y="2895600"/>
            <a:ext cx="2057400" cy="5334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 II</a:t>
            </a:r>
          </a:p>
        </p:txBody>
      </p:sp>
      <p:sp>
        <p:nvSpPr>
          <p:cNvPr id="13" name="Footer Placeholder 12"/>
          <p:cNvSpPr>
            <a:spLocks noGrp="1"/>
          </p:cNvSpPr>
          <p:nvPr>
            <p:ph type="ftr" sz="quarter" idx="11"/>
          </p:nvPr>
        </p:nvSpPr>
        <p:spPr>
          <a:xfrm>
            <a:off x="3810000" y="6248401"/>
            <a:ext cx="5029200" cy="365125"/>
          </a:xfrm>
        </p:spPr>
        <p:txBody>
          <a:bodyPr/>
          <a:lstStyle/>
          <a:p>
            <a:r>
              <a:rPr lang="en-US" dirty="0"/>
              <a:t>Faculty Name             Subject code and abbreviation                Unit Number</a:t>
            </a:r>
          </a:p>
        </p:txBody>
      </p:sp>
      <p:sp>
        <p:nvSpPr>
          <p:cNvPr id="14" name="Subtitle 2"/>
          <p:cNvSpPr txBox="1">
            <a:spLocks/>
          </p:cNvSpPr>
          <p:nvPr/>
        </p:nvSpPr>
        <p:spPr>
          <a:xfrm>
            <a:off x="341671" y="3749675"/>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Human Psychology &amp; Organizational Behavior</a:t>
            </a:r>
          </a:p>
        </p:txBody>
      </p:sp>
      <p:sp>
        <p:nvSpPr>
          <p:cNvPr id="15" name="Subtitle 2"/>
          <p:cNvSpPr txBox="1">
            <a:spLocks/>
          </p:cNvSpPr>
          <p:nvPr/>
        </p:nvSpPr>
        <p:spPr>
          <a:xfrm>
            <a:off x="341671" y="4908550"/>
            <a:ext cx="4191000" cy="8382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Course Details</a:t>
            </a:r>
            <a:br>
              <a:rPr lang="en-US" sz="2000" dirty="0">
                <a:solidFill>
                  <a:schemeClr val="tx1"/>
                </a:solidFill>
              </a:rPr>
            </a:br>
            <a:r>
              <a:rPr lang="en-US" sz="2000" dirty="0">
                <a:solidFill>
                  <a:schemeClr val="tx1"/>
                </a:solidFill>
              </a:rPr>
              <a:t>(MCA INT 5</a:t>
            </a:r>
            <a:r>
              <a:rPr lang="en-US" sz="2000" baseline="30000" dirty="0">
                <a:solidFill>
                  <a:schemeClr val="tx1"/>
                </a:solidFill>
              </a:rPr>
              <a:t>th</a:t>
            </a:r>
            <a:r>
              <a:rPr lang="en-US" sz="2000" dirty="0">
                <a:solidFill>
                  <a:schemeClr val="tx1"/>
                </a:solidFill>
              </a:rPr>
              <a:t> Sem)</a:t>
            </a:r>
          </a:p>
        </p:txBody>
      </p:sp>
      <p:pic>
        <p:nvPicPr>
          <p:cNvPr id="7" name="Picture 6"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1397343" cy="5213348"/>
          </a:xfrm>
        </p:spPr>
        <p:txBody>
          <a:bodyPr>
            <a:normAutofit/>
          </a:bodyPr>
          <a:lstStyle/>
          <a:p>
            <a:pPr algn="just"/>
            <a:r>
              <a:rPr lang="en-US" sz="2400" dirty="0">
                <a:effectLst/>
                <a:latin typeface="Times New Roman" panose="02020603050405020304" pitchFamily="18" charset="0"/>
                <a:ea typeface="Times New Roman" panose="02020603050405020304" pitchFamily="18" charset="0"/>
              </a:rPr>
              <a:t>Faculty Name:	Deepika Sharma</a:t>
            </a:r>
          </a:p>
          <a:p>
            <a:pPr algn="just"/>
            <a:r>
              <a:rPr lang="en-US" sz="2400" dirty="0">
                <a:effectLst/>
                <a:latin typeface="Times New Roman" panose="02020603050405020304" pitchFamily="18" charset="0"/>
                <a:ea typeface="Times New Roman" panose="02020603050405020304" pitchFamily="18" charset="0"/>
              </a:rPr>
              <a:t>Designation:   Assistant Professor</a:t>
            </a:r>
          </a:p>
          <a:p>
            <a:pPr algn="just"/>
            <a:r>
              <a:rPr lang="en-US" sz="2400" dirty="0">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Department:	MBA</a:t>
            </a:r>
          </a:p>
          <a:p>
            <a:pPr algn="just"/>
            <a:r>
              <a:rPr lang="en-US" sz="2400" dirty="0">
                <a:effectLst/>
                <a:latin typeface="Times New Roman" panose="02020603050405020304" pitchFamily="18" charset="0"/>
                <a:ea typeface="Times New Roman" panose="02020603050405020304" pitchFamily="18" charset="0"/>
              </a:rPr>
              <a:t>Email ID: </a:t>
            </a:r>
            <a:r>
              <a:rPr lang="en-US" sz="2400" dirty="0">
                <a:effectLst/>
                <a:latin typeface="Times New Roman" panose="02020603050405020304" pitchFamily="18" charset="0"/>
                <a:ea typeface="Times New Roman" panose="02020603050405020304" pitchFamily="18" charset="0"/>
                <a:hlinkClick r:id="rId3"/>
              </a:rPr>
              <a:t>deepika@niet.co.in</a:t>
            </a:r>
            <a:endParaRPr lang="en-US" sz="2400" dirty="0">
              <a:effectLst/>
              <a:latin typeface="Times New Roman" panose="02020603050405020304" pitchFamily="18" charset="0"/>
              <a:ea typeface="Times New Roman" panose="02020603050405020304" pitchFamily="18" charset="0"/>
            </a:endParaRPr>
          </a:p>
          <a:p>
            <a:pPr algn="just"/>
            <a:r>
              <a:rPr lang="en-US" sz="2400" dirty="0">
                <a:effectLst/>
                <a:latin typeface="Times New Roman" panose="02020603050405020304" pitchFamily="18" charset="0"/>
                <a:ea typeface="Times New Roman" panose="02020603050405020304" pitchFamily="18" charset="0"/>
              </a:rPr>
              <a:t>Qualification: Pursuing Ph.D.</a:t>
            </a:r>
          </a:p>
          <a:p>
            <a:pPr algn="just"/>
            <a:r>
              <a:rPr lang="en-US" sz="2400" dirty="0">
                <a:effectLst/>
                <a:latin typeface="Times New Roman" panose="02020603050405020304" pitchFamily="18" charset="0"/>
                <a:ea typeface="Times New Roman" panose="02020603050405020304" pitchFamily="18" charset="0"/>
              </a:rPr>
              <a:t>Specialization:	HR, Marketing</a:t>
            </a:r>
          </a:p>
          <a:p>
            <a:pPr algn="just"/>
            <a:r>
              <a:rPr lang="en-US" sz="2400" dirty="0">
                <a:effectLst/>
                <a:latin typeface="Times New Roman" panose="02020603050405020304" pitchFamily="18" charset="0"/>
                <a:ea typeface="Times New Roman" panose="02020603050405020304" pitchFamily="18" charset="0"/>
              </a:rPr>
              <a:t>Teaching Area:    </a:t>
            </a:r>
          </a:p>
          <a:p>
            <a:pPr algn="just"/>
            <a:r>
              <a:rPr lang="en-US" sz="2400" dirty="0">
                <a:effectLst/>
                <a:latin typeface="Times New Roman" panose="02020603050405020304" pitchFamily="18" charset="0"/>
                <a:ea typeface="Times New Roman" panose="02020603050405020304" pitchFamily="18" charset="0"/>
              </a:rPr>
              <a:t>Total Experience: 2 Years</a:t>
            </a: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t>Faculty Introduction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9" name="Picture 8">
            <a:extLst>
              <a:ext uri="{FF2B5EF4-FFF2-40B4-BE49-F238E27FC236}">
                <a16:creationId xmlns:a16="http://schemas.microsoft.com/office/drawing/2014/main" id="{BDED46F1-22A1-CDEF-46BA-DEF9E8BEE71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85891" y="1065583"/>
            <a:ext cx="2082109" cy="2514600"/>
          </a:xfrm>
          <a:prstGeom prst="rect">
            <a:avLst/>
          </a:prstGeom>
        </p:spPr>
      </p:pic>
    </p:spTree>
    <p:extLst>
      <p:ext uri="{BB962C8B-B14F-4D97-AF65-F5344CB8AC3E}">
        <p14:creationId xmlns:p14="http://schemas.microsoft.com/office/powerpoint/2010/main" val="1380024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1397343" cy="5213348"/>
          </a:xfrm>
        </p:spPr>
        <p:txBody>
          <a:bodyPr>
            <a:normAutofit/>
          </a:bodyPr>
          <a:lstStyle/>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a:t>
            </a:fld>
            <a:endParaRPr lang="en-US"/>
          </a:p>
        </p:txBody>
      </p:sp>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t>Evaluation Scheme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16" name="Picture 15">
            <a:extLst>
              <a:ext uri="{FF2B5EF4-FFF2-40B4-BE49-F238E27FC236}">
                <a16:creationId xmlns:a16="http://schemas.microsoft.com/office/drawing/2014/main" id="{47A7828E-1D08-E3B6-5251-F9561C94A3F1}"/>
              </a:ext>
            </a:extLst>
          </p:cNvPr>
          <p:cNvPicPr>
            <a:picLocks noChangeAspect="1"/>
          </p:cNvPicPr>
          <p:nvPr/>
        </p:nvPicPr>
        <p:blipFill>
          <a:blip r:embed="rId4"/>
          <a:stretch>
            <a:fillRect/>
          </a:stretch>
        </p:blipFill>
        <p:spPr>
          <a:xfrm>
            <a:off x="718457" y="1404468"/>
            <a:ext cx="10853057" cy="4604446"/>
          </a:xfrm>
          <a:prstGeom prst="rect">
            <a:avLst/>
          </a:prstGeom>
        </p:spPr>
      </p:pic>
      <p:grpSp>
        <p:nvGrpSpPr>
          <p:cNvPr id="2049" name="Group 1"/>
          <p:cNvGrpSpPr>
            <a:grpSpLocks/>
          </p:cNvGrpSpPr>
          <p:nvPr/>
        </p:nvGrpSpPr>
        <p:grpSpPr bwMode="auto">
          <a:xfrm>
            <a:off x="0" y="0"/>
            <a:ext cx="192088" cy="7938"/>
            <a:chOff x="0" y="0"/>
            <a:chExt cx="303" cy="13"/>
          </a:xfrm>
        </p:grpSpPr>
      </p:grpSp>
    </p:spTree>
    <p:extLst>
      <p:ext uri="{BB962C8B-B14F-4D97-AF65-F5344CB8AC3E}">
        <p14:creationId xmlns:p14="http://schemas.microsoft.com/office/powerpoint/2010/main" val="263191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1397343" cy="5213348"/>
          </a:xfrm>
        </p:spPr>
        <p:txBody>
          <a:bodyPr>
            <a:normAutofit/>
          </a:bodyPr>
          <a:lstStyle/>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a:p>
        </p:txBody>
      </p:sp>
      <p:sp>
        <p:nvSpPr>
          <p:cNvPr id="8" name="Title 1"/>
          <p:cNvSpPr txBox="1">
            <a:spLocks/>
          </p:cNvSpPr>
          <p:nvPr/>
        </p:nvSpPr>
        <p:spPr>
          <a:xfrm>
            <a:off x="2895600" y="2"/>
            <a:ext cx="7772400"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t>Syllabus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5" name="Picture 4">
            <a:extLst>
              <a:ext uri="{FF2B5EF4-FFF2-40B4-BE49-F238E27FC236}">
                <a16:creationId xmlns:a16="http://schemas.microsoft.com/office/drawing/2014/main" id="{F32AAE7A-8678-0DDA-1D15-ECAB1B8CA755}"/>
              </a:ext>
            </a:extLst>
          </p:cNvPr>
          <p:cNvPicPr>
            <a:picLocks noChangeAspect="1"/>
          </p:cNvPicPr>
          <p:nvPr/>
        </p:nvPicPr>
        <p:blipFill>
          <a:blip r:embed="rId4"/>
          <a:stretch>
            <a:fillRect/>
          </a:stretch>
        </p:blipFill>
        <p:spPr>
          <a:xfrm>
            <a:off x="530611" y="1052383"/>
            <a:ext cx="10717121" cy="1857634"/>
          </a:xfrm>
          <a:prstGeom prst="rect">
            <a:avLst/>
          </a:prstGeom>
        </p:spPr>
      </p:pic>
      <p:pic>
        <p:nvPicPr>
          <p:cNvPr id="11" name="Picture 10">
            <a:extLst>
              <a:ext uri="{FF2B5EF4-FFF2-40B4-BE49-F238E27FC236}">
                <a16:creationId xmlns:a16="http://schemas.microsoft.com/office/drawing/2014/main" id="{EE0D0440-945D-5537-F295-2B71A0BBA3FD}"/>
              </a:ext>
            </a:extLst>
          </p:cNvPr>
          <p:cNvPicPr>
            <a:picLocks noChangeAspect="1"/>
          </p:cNvPicPr>
          <p:nvPr/>
        </p:nvPicPr>
        <p:blipFill rotWithShape="1">
          <a:blip r:embed="rId5"/>
          <a:srcRect r="3263"/>
          <a:stretch/>
        </p:blipFill>
        <p:spPr>
          <a:xfrm>
            <a:off x="391886" y="2864121"/>
            <a:ext cx="10855846" cy="3057708"/>
          </a:xfrm>
          <a:prstGeom prst="rect">
            <a:avLst/>
          </a:prstGeom>
        </p:spPr>
      </p:pic>
    </p:spTree>
    <p:extLst>
      <p:ext uri="{BB962C8B-B14F-4D97-AF65-F5344CB8AC3E}">
        <p14:creationId xmlns:p14="http://schemas.microsoft.com/office/powerpoint/2010/main" val="3932461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1397343" cy="5213348"/>
          </a:xfrm>
        </p:spPr>
        <p:txBody>
          <a:bodyPr>
            <a:normAutofit/>
          </a:bodyPr>
          <a:lstStyle/>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pPr algn="just"/>
            <a:endParaRPr lang="en-US" sz="1800" dirty="0">
              <a:effectLst/>
              <a:latin typeface="Times New Roman" panose="02020603050405020304" pitchFamily="18" charset="0"/>
              <a:ea typeface="Times New Roman" panose="02020603050405020304" pitchFamily="18" charset="0"/>
            </a:endParaRPr>
          </a:p>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r>
              <a:rPr lang="en-US" dirty="0"/>
              <a:t>Syllabus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9" name="Picture 8">
            <a:extLst>
              <a:ext uri="{FF2B5EF4-FFF2-40B4-BE49-F238E27FC236}">
                <a16:creationId xmlns:a16="http://schemas.microsoft.com/office/drawing/2014/main" id="{5157B36E-35C8-5F68-93EF-082E33AC45C5}"/>
              </a:ext>
            </a:extLst>
          </p:cNvPr>
          <p:cNvPicPr>
            <a:picLocks noChangeAspect="1"/>
          </p:cNvPicPr>
          <p:nvPr/>
        </p:nvPicPr>
        <p:blipFill>
          <a:blip r:embed="rId4"/>
          <a:stretch>
            <a:fillRect/>
          </a:stretch>
        </p:blipFill>
        <p:spPr>
          <a:xfrm>
            <a:off x="402771" y="947268"/>
            <a:ext cx="10879068" cy="3200847"/>
          </a:xfrm>
          <a:prstGeom prst="rect">
            <a:avLst/>
          </a:prstGeom>
        </p:spPr>
      </p:pic>
      <p:pic>
        <p:nvPicPr>
          <p:cNvPr id="13" name="Picture 12">
            <a:extLst>
              <a:ext uri="{FF2B5EF4-FFF2-40B4-BE49-F238E27FC236}">
                <a16:creationId xmlns:a16="http://schemas.microsoft.com/office/drawing/2014/main" id="{62915847-C588-F5BC-610F-35A87FF3A6EB}"/>
              </a:ext>
            </a:extLst>
          </p:cNvPr>
          <p:cNvPicPr>
            <a:picLocks noChangeAspect="1"/>
          </p:cNvPicPr>
          <p:nvPr/>
        </p:nvPicPr>
        <p:blipFill>
          <a:blip r:embed="rId5"/>
          <a:stretch>
            <a:fillRect/>
          </a:stretch>
        </p:blipFill>
        <p:spPr>
          <a:xfrm>
            <a:off x="478981" y="3923739"/>
            <a:ext cx="10726647" cy="971686"/>
          </a:xfrm>
          <a:prstGeom prst="rect">
            <a:avLst/>
          </a:prstGeom>
        </p:spPr>
      </p:pic>
    </p:spTree>
    <p:extLst>
      <p:ext uri="{BB962C8B-B14F-4D97-AF65-F5344CB8AC3E}">
        <p14:creationId xmlns:p14="http://schemas.microsoft.com/office/powerpoint/2010/main" val="3322588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pPr marL="0" indent="0" algn="just">
              <a:buNone/>
            </a:pPr>
            <a:r>
              <a:rPr lang="en-US" sz="2400" dirty="0">
                <a:effectLst/>
                <a:latin typeface="Times New Roman" panose="02020603050405020304" pitchFamily="18" charset="0"/>
                <a:ea typeface="Times New Roman" panose="02020603050405020304" pitchFamily="18" charset="0"/>
              </a:rPr>
              <a:t>Being a core subject this subject will help the students gain understanding of the functions and responsibilities of managers. It shall  provide students  the tools and techniques to be used in the performance of the managerial job. And will also  enable them to analyze and understand the complex human behaviour at organization</a:t>
            </a:r>
            <a:r>
              <a:rPr lang="en-US" sz="1800" dirty="0">
                <a:effectLst/>
                <a:latin typeface="Times New Roman" panose="02020603050405020304" pitchFamily="18" charset="0"/>
                <a:ea typeface="Times New Roman" panose="02020603050405020304" pitchFamily="18" charset="0"/>
              </a:rPr>
              <a:t>.</a:t>
            </a:r>
          </a:p>
          <a:p>
            <a:pPr algn="just"/>
            <a:endParaRPr lang="en-US" sz="1800" dirty="0">
              <a:effectLst/>
              <a:latin typeface="Times New Roman" panose="02020603050405020304" pitchFamily="18" charset="0"/>
              <a:ea typeface="Times New Roman" panose="02020603050405020304" pitchFamily="18" charset="0"/>
            </a:endParaRPr>
          </a:p>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Branch Wise Applications</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3433177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pPr marL="0" indent="0" algn="just">
              <a:buNone/>
            </a:pPr>
            <a:r>
              <a:rPr lang="en-US" sz="2400" dirty="0">
                <a:effectLst/>
                <a:latin typeface="Times New Roman" panose="02020603050405020304" pitchFamily="18" charset="0"/>
                <a:ea typeface="Times New Roman" panose="02020603050405020304" pitchFamily="18" charset="0"/>
              </a:rPr>
              <a:t>This course explores the theories and concepts of organizational behaviour and their application in the workplace. It covers individual behaviour, group dynamics, and organizational processes to enhance organizational effectiveness. The Organizational Behaviour course focuses on a better understanding of the key factors that determine human behavior in organizations. The course focuses on key factors for understanding the behavior of people in organizational contexts from a socio psychological point of view that play a basic role in people management and that are the basis of any leadership course in the rest of the program.</a:t>
            </a:r>
            <a:endParaRPr lang="en-US" sz="1800" dirty="0">
              <a:effectLst/>
              <a:latin typeface="Times New Roman" panose="02020603050405020304" pitchFamily="18" charset="0"/>
              <a:ea typeface="Times New Roman" panose="02020603050405020304" pitchFamily="18" charset="0"/>
            </a:endParaRPr>
          </a:p>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Course Objectives</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3861090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Course Outcomes</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5" name="Picture 4">
            <a:extLst>
              <a:ext uri="{FF2B5EF4-FFF2-40B4-BE49-F238E27FC236}">
                <a16:creationId xmlns:a16="http://schemas.microsoft.com/office/drawing/2014/main" id="{AE07F096-340C-C8DB-34F7-B02CC3F39A97}"/>
              </a:ext>
            </a:extLst>
          </p:cNvPr>
          <p:cNvPicPr>
            <a:picLocks noChangeAspect="1"/>
          </p:cNvPicPr>
          <p:nvPr/>
        </p:nvPicPr>
        <p:blipFill rotWithShape="1">
          <a:blip r:embed="rId4"/>
          <a:srcRect l="2164" r="7987" b="6921"/>
          <a:stretch/>
        </p:blipFill>
        <p:spPr>
          <a:xfrm>
            <a:off x="986372" y="1143000"/>
            <a:ext cx="9344171" cy="4757058"/>
          </a:xfrm>
          <a:prstGeom prst="rect">
            <a:avLst/>
          </a:prstGeom>
        </p:spPr>
      </p:pic>
    </p:spTree>
    <p:extLst>
      <p:ext uri="{BB962C8B-B14F-4D97-AF65-F5344CB8AC3E}">
        <p14:creationId xmlns:p14="http://schemas.microsoft.com/office/powerpoint/2010/main" val="40510392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Program Outcomes</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3853876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CO-PO Mapping</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3961048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11</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CO-PSO</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4159434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endParaRPr lang="en-US" sz="2400" dirty="0"/>
          </a:p>
        </p:txBody>
      </p:sp>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CO-PEO</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1235757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r>
              <a:rPr lang="en-US" sz="2400" dirty="0"/>
              <a:t>NA</a:t>
            </a:r>
          </a:p>
        </p:txBody>
      </p:sp>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13</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Result Analysis</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2040467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r>
              <a:rPr lang="en-US" sz="2400" dirty="0"/>
              <a:t>NA</a:t>
            </a:r>
          </a:p>
        </p:txBody>
      </p:sp>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14</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End Sem Question Paper </a:t>
            </a:r>
            <a:r>
              <a:rPr lang="en-US" sz="2800" dirty="0" err="1">
                <a:solidFill>
                  <a:prstClr val="black"/>
                </a:solidFill>
                <a:cs typeface="Times New Roman" panose="02020603050405020304" pitchFamily="18" charset="0"/>
              </a:rPr>
              <a:t>Templete</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3996558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endParaRPr lang="en-US" sz="1800" b="1" dirty="0">
              <a:effectLst/>
              <a:latin typeface="Times New Roman" panose="02020603050405020304" pitchFamily="18" charset="0"/>
              <a:ea typeface="Times New Roman" panose="02020603050405020304" pitchFamily="18" charset="0"/>
            </a:endParaRPr>
          </a:p>
          <a:p>
            <a:r>
              <a:rPr lang="en-US" sz="2400" dirty="0"/>
              <a:t> Students should have a primary understanding of management thought.</a:t>
            </a:r>
          </a:p>
          <a:p>
            <a:r>
              <a:rPr lang="en-US" sz="2400" dirty="0"/>
              <a:t>Students should have preliminary knowledge of organizational Behaviour.</a:t>
            </a:r>
          </a:p>
        </p:txBody>
      </p:sp>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Prerequisite</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556149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pPr algn="just"/>
            <a:r>
              <a:rPr lang="en-US" sz="2400" dirty="0">
                <a:effectLst/>
                <a:ea typeface="Times New Roman" panose="02020603050405020304" pitchFamily="18" charset="0"/>
                <a:cs typeface="Times New Roman" panose="02020603050405020304" pitchFamily="18" charset="0"/>
              </a:rPr>
              <a:t>Management comprises planning, organizing, staffing, leading or directing, and controlling an organization to accomplish a goal. It also includes resourcing that encompasses the deployment and manipulation of human resources, financial resources, technological resources, and natural resources. Organizational Behavior (OB) can be defined as the understanding, prediction and management of human behavior both individually or in a group that occur within an organization. Internal and external perspectives are the two theories of how organizational behavior can be viewed from an organization's point of view.</a:t>
            </a:r>
          </a:p>
          <a:p>
            <a:pPr marL="0" indent="0">
              <a:buNone/>
            </a:pPr>
            <a:r>
              <a:rPr lang="en-US" sz="2400" dirty="0">
                <a:latin typeface="Times New Roman" panose="02020603050405020304" pitchFamily="18" charset="0"/>
                <a:cs typeface="Times New Roman" panose="02020603050405020304" pitchFamily="18" charset="0"/>
                <a:hlinkClick r:id="rId3"/>
              </a:rPr>
              <a:t>https://www.youtube.com/watch?v=5_btNIdvEfo</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hlinkClick r:id="rId4"/>
              </a:rPr>
              <a:t>https://www.youtube.com/watch?v=Lx83q3mW0oo</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hlinkClick r:id="rId5"/>
              </a:rPr>
              <a:t>https://www.youtube.com/watch?v=uXuj-Kj6_wE</a:t>
            </a:r>
            <a:r>
              <a:rPr lang="en-US" sz="2400" dirty="0">
                <a:latin typeface="Times New Roman" panose="02020603050405020304" pitchFamily="18" charset="0"/>
                <a:cs typeface="Times New Roman" panose="02020603050405020304" pitchFamily="18" charset="0"/>
              </a:rPr>
              <a:t> </a:t>
            </a:r>
          </a:p>
          <a:p>
            <a:pPr algn="just"/>
            <a:endParaRPr lang="en-US" sz="2400" dirty="0">
              <a:effectLst/>
              <a:ea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Brief subject introduction</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20231910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2771" y="1143001"/>
            <a:ext cx="10802857" cy="5213348"/>
          </a:xfrm>
        </p:spPr>
        <p:txBody>
          <a:bodyPr>
            <a:normAutofit/>
          </a:bodyPr>
          <a:lstStyle/>
          <a:p>
            <a:r>
              <a:rPr lang="en-US" sz="1800" b="1" dirty="0">
                <a:effectLst/>
                <a:latin typeface="Times New Roman" panose="02020603050405020304" pitchFamily="18" charset="0"/>
                <a:ea typeface="Times New Roman" panose="02020603050405020304" pitchFamily="18" charset="0"/>
              </a:rPr>
              <a:t>Introduction to</a:t>
            </a:r>
            <a:r>
              <a:rPr lang="en-US" sz="1800" b="1" spc="-26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OB</a:t>
            </a:r>
          </a:p>
          <a:p>
            <a:r>
              <a:rPr lang="en-US" sz="2400" dirty="0"/>
              <a:t>Fundamentals of individual behavior, Models of OB</a:t>
            </a:r>
          </a:p>
          <a:p>
            <a:r>
              <a:rPr lang="en-US" sz="2400" dirty="0"/>
              <a:t>Organizational Climate and Culture</a:t>
            </a:r>
          </a:p>
          <a:p>
            <a:pPr marL="0" indent="0">
              <a:buNone/>
            </a:pPr>
            <a:endParaRPr lang="en-US" sz="2400" dirty="0"/>
          </a:p>
          <a:p>
            <a:r>
              <a:rPr lang="en-US" sz="1800" b="1" dirty="0">
                <a:effectLst/>
                <a:latin typeface="Times New Roman" panose="02020603050405020304" pitchFamily="18" charset="0"/>
                <a:ea typeface="Times New Roman" panose="02020603050405020304" pitchFamily="18" charset="0"/>
              </a:rPr>
              <a:t>Personality &amp;</a:t>
            </a:r>
            <a:r>
              <a:rPr lang="en-US" sz="1800" b="1" spc="-260" dirty="0">
                <a:effectLst/>
                <a:latin typeface="Times New Roman" panose="02020603050405020304" pitchFamily="18" charset="0"/>
                <a:ea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rPr>
              <a:t>Attitude</a:t>
            </a:r>
            <a:endParaRPr lang="en-US" sz="2400" b="1" dirty="0">
              <a:effectLst/>
              <a:latin typeface="Times New Roman" panose="02020603050405020304" pitchFamily="18" charset="0"/>
              <a:ea typeface="Times New Roman" panose="02020603050405020304" pitchFamily="18" charset="0"/>
            </a:endParaRPr>
          </a:p>
          <a:p>
            <a:r>
              <a:rPr lang="en-US" sz="2400" dirty="0"/>
              <a:t>Personality-Determinants of Personality, types of personality</a:t>
            </a:r>
          </a:p>
          <a:p>
            <a:r>
              <a:rPr lang="en-US" sz="2400" dirty="0"/>
              <a:t>Personal effectiveness. Attitudes: Meaning, Types, Components</a:t>
            </a:r>
          </a:p>
          <a:p>
            <a:r>
              <a:rPr lang="en-US" sz="2400" dirty="0"/>
              <a:t>Theory of attitude Formation</a:t>
            </a:r>
          </a:p>
          <a:p>
            <a:pPr algn="just"/>
            <a:endParaRPr lang="en-US" sz="2400" dirty="0">
              <a:effectLst/>
              <a:ea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Unit Content</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Tree>
    <p:extLst>
      <p:ext uri="{BB962C8B-B14F-4D97-AF65-F5344CB8AC3E}">
        <p14:creationId xmlns:p14="http://schemas.microsoft.com/office/powerpoint/2010/main" val="2468301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Personality</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265485" y="3677546"/>
            <a:ext cx="10515600" cy="4812000"/>
          </a:xfrm>
        </p:spPr>
        <p:txBody>
          <a:bodyPr>
            <a:normAutofit/>
          </a:bodyPr>
          <a:lstStyle/>
          <a:p>
            <a:pPr algn="just"/>
            <a:r>
              <a:rPr lang="en-US" sz="2400" dirty="0"/>
              <a:t>.</a:t>
            </a:r>
          </a:p>
        </p:txBody>
      </p:sp>
      <p:sp>
        <p:nvSpPr>
          <p:cNvPr id="11" name="TextBox 10">
            <a:extLst>
              <a:ext uri="{FF2B5EF4-FFF2-40B4-BE49-F238E27FC236}">
                <a16:creationId xmlns:a16="http://schemas.microsoft.com/office/drawing/2014/main" id="{3C70F30D-F2FF-0C49-C3B9-A9BC0DC1BCFB}"/>
              </a:ext>
            </a:extLst>
          </p:cNvPr>
          <p:cNvSpPr txBox="1"/>
          <p:nvPr/>
        </p:nvSpPr>
        <p:spPr>
          <a:xfrm>
            <a:off x="885970" y="1089865"/>
            <a:ext cx="10467829" cy="2308324"/>
          </a:xfrm>
          <a:prstGeom prst="rect">
            <a:avLst/>
          </a:prstGeom>
          <a:noFill/>
        </p:spPr>
        <p:txBody>
          <a:bodyPr wrap="square">
            <a:spAutoFit/>
          </a:bodyPr>
          <a:lstStyle/>
          <a:p>
            <a:r>
              <a:rPr lang="en-US" sz="2400" dirty="0"/>
              <a:t>The word personality is derived from a Greek word “persona” which means “to speak through”. Personality is the combination of characteristics or qualities that forms a person’s unique identity.</a:t>
            </a:r>
          </a:p>
          <a:p>
            <a:endParaRPr lang="en-US" sz="2400" dirty="0"/>
          </a:p>
          <a:p>
            <a:r>
              <a:rPr lang="en-US" sz="2400" dirty="0"/>
              <a:t>Personality can be defined as those inner psychological characteristics that both determine and reflect how a person think and act in an environment.</a:t>
            </a:r>
            <a:endParaRPr lang="en-IN" sz="2400" dirty="0"/>
          </a:p>
        </p:txBody>
      </p:sp>
      <p:pic>
        <p:nvPicPr>
          <p:cNvPr id="1028" name="Picture 4" descr="WHAT IS PERSONALITY PSYCHOLOGY? - YouTube">
            <a:extLst>
              <a:ext uri="{FF2B5EF4-FFF2-40B4-BE49-F238E27FC236}">
                <a16:creationId xmlns:a16="http://schemas.microsoft.com/office/drawing/2014/main" id="{819C45A9-CF7F-A458-5D3A-EDE5F6431E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3459811"/>
            <a:ext cx="5823857" cy="2896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63345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19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Personality</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265485" y="3677546"/>
            <a:ext cx="10515600" cy="4812000"/>
          </a:xfrm>
        </p:spPr>
        <p:txBody>
          <a:bodyPr>
            <a:normAutofit/>
          </a:bodyPr>
          <a:lstStyle/>
          <a:p>
            <a:pPr algn="just"/>
            <a:r>
              <a:rPr lang="en-US" sz="2400" dirty="0"/>
              <a:t>.</a:t>
            </a:r>
          </a:p>
        </p:txBody>
      </p:sp>
      <p:sp>
        <p:nvSpPr>
          <p:cNvPr id="11" name="TextBox 10">
            <a:extLst>
              <a:ext uri="{FF2B5EF4-FFF2-40B4-BE49-F238E27FC236}">
                <a16:creationId xmlns:a16="http://schemas.microsoft.com/office/drawing/2014/main" id="{3C70F30D-F2FF-0C49-C3B9-A9BC0DC1BCFB}"/>
              </a:ext>
            </a:extLst>
          </p:cNvPr>
          <p:cNvSpPr txBox="1"/>
          <p:nvPr/>
        </p:nvSpPr>
        <p:spPr>
          <a:xfrm>
            <a:off x="885970" y="1089865"/>
            <a:ext cx="10467829" cy="4154984"/>
          </a:xfrm>
          <a:prstGeom prst="rect">
            <a:avLst/>
          </a:prstGeom>
          <a:noFill/>
        </p:spPr>
        <p:txBody>
          <a:bodyPr wrap="square">
            <a:spAutoFit/>
          </a:bodyPr>
          <a:lstStyle/>
          <a:p>
            <a:pPr marL="342900" indent="-342900">
              <a:buFont typeface="Arial" panose="020B0604020202020204" pitchFamily="34" charset="0"/>
              <a:buChar char="•"/>
            </a:pPr>
            <a:r>
              <a:rPr lang="en-US" sz="2400" dirty="0"/>
              <a:t>The dynamic </a:t>
            </a:r>
            <a:r>
              <a:rPr lang="en-US" sz="2400" dirty="0" err="1"/>
              <a:t>organisation</a:t>
            </a:r>
            <a:r>
              <a:rPr lang="en-US" sz="2400" dirty="0"/>
              <a:t> within the individual of those psychophysical systems that determine his unique adjustments to his environment</a:t>
            </a:r>
          </a:p>
          <a:p>
            <a:r>
              <a:rPr lang="en-US" sz="2400" dirty="0"/>
              <a:t>Gordon Allport</a:t>
            </a:r>
          </a:p>
          <a:p>
            <a:endParaRPr lang="en-US" sz="2400" dirty="0"/>
          </a:p>
          <a:p>
            <a:endParaRPr lang="en-US" sz="2400" dirty="0"/>
          </a:p>
          <a:p>
            <a:pPr marL="342900" indent="-342900">
              <a:buFont typeface="Arial" panose="020B0604020202020204" pitchFamily="34" charset="0"/>
              <a:buChar char="•"/>
            </a:pPr>
            <a:r>
              <a:rPr lang="en-US" sz="2400" dirty="0"/>
              <a:t>Personality is a broad, amorphous designation relating to fundamental approaches of persons to others and themselves. To most psychologists and students of </a:t>
            </a:r>
            <a:r>
              <a:rPr lang="en-US" sz="2400" dirty="0" err="1"/>
              <a:t>behaviour</a:t>
            </a:r>
            <a:r>
              <a:rPr lang="en-US" sz="2400" dirty="0"/>
              <a:t>, this term refers to the study of the characteristic traits of an individual, relationships between these traits and the way in which a person adjusts to other people and situations</a:t>
            </a:r>
          </a:p>
          <a:p>
            <a:r>
              <a:rPr lang="en-US" sz="2400" dirty="0"/>
              <a:t>J.B </a:t>
            </a:r>
            <a:r>
              <a:rPr lang="en-US" sz="2400" dirty="0" err="1"/>
              <a:t>Kolasa</a:t>
            </a:r>
            <a:endParaRPr lang="en-IN" sz="2400" dirty="0"/>
          </a:p>
        </p:txBody>
      </p:sp>
    </p:spTree>
    <p:extLst>
      <p:ext uri="{BB962C8B-B14F-4D97-AF65-F5344CB8AC3E}">
        <p14:creationId xmlns:p14="http://schemas.microsoft.com/office/powerpoint/2010/main" val="789979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Determinants of Personality</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265485" y="3677546"/>
            <a:ext cx="10515600" cy="4812000"/>
          </a:xfrm>
        </p:spPr>
        <p:txBody>
          <a:bodyPr>
            <a:normAutofit/>
          </a:bodyPr>
          <a:lstStyle/>
          <a:p>
            <a:pPr algn="just"/>
            <a:r>
              <a:rPr lang="en-US" sz="2400" dirty="0"/>
              <a:t>.</a:t>
            </a:r>
          </a:p>
        </p:txBody>
      </p:sp>
      <p:pic>
        <p:nvPicPr>
          <p:cNvPr id="3" name="Picture 2">
            <a:extLst>
              <a:ext uri="{FF2B5EF4-FFF2-40B4-BE49-F238E27FC236}">
                <a16:creationId xmlns:a16="http://schemas.microsoft.com/office/drawing/2014/main" id="{CE7277A9-2F4B-EF69-6654-C9B17DECC351}"/>
              </a:ext>
            </a:extLst>
          </p:cNvPr>
          <p:cNvPicPr>
            <a:picLocks noChangeAspect="1"/>
          </p:cNvPicPr>
          <p:nvPr/>
        </p:nvPicPr>
        <p:blipFill rotWithShape="1">
          <a:blip r:embed="rId4"/>
          <a:srcRect b="10156"/>
          <a:stretch/>
        </p:blipFill>
        <p:spPr>
          <a:xfrm>
            <a:off x="2147813" y="947269"/>
            <a:ext cx="7896373" cy="5181388"/>
          </a:xfrm>
          <a:prstGeom prst="rect">
            <a:avLst/>
          </a:prstGeom>
        </p:spPr>
      </p:pic>
    </p:spTree>
    <p:extLst>
      <p:ext uri="{BB962C8B-B14F-4D97-AF65-F5344CB8AC3E}">
        <p14:creationId xmlns:p14="http://schemas.microsoft.com/office/powerpoint/2010/main" val="14403523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21</a:t>
            </a:fld>
            <a:endParaRPr lang="en-US"/>
          </a:p>
        </p:txBody>
      </p:sp>
      <p:sp>
        <p:nvSpPr>
          <p:cNvPr id="8" name="Title 1"/>
          <p:cNvSpPr txBox="1">
            <a:spLocks/>
          </p:cNvSpPr>
          <p:nvPr/>
        </p:nvSpPr>
        <p:spPr>
          <a:xfrm>
            <a:off x="2592760" y="-23975"/>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Types of Personality</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grpSp>
        <p:nvGrpSpPr>
          <p:cNvPr id="5" name="Group 4">
            <a:extLst>
              <a:ext uri="{FF2B5EF4-FFF2-40B4-BE49-F238E27FC236}">
                <a16:creationId xmlns:a16="http://schemas.microsoft.com/office/drawing/2014/main" id="{31610068-4CE6-9002-66FB-F539ECD280B4}"/>
              </a:ext>
            </a:extLst>
          </p:cNvPr>
          <p:cNvGrpSpPr/>
          <p:nvPr/>
        </p:nvGrpSpPr>
        <p:grpSpPr>
          <a:xfrm>
            <a:off x="559864" y="1088414"/>
            <a:ext cx="10353813" cy="609915"/>
            <a:chOff x="411090" y="238959"/>
            <a:chExt cx="10353813" cy="609915"/>
          </a:xfrm>
        </p:grpSpPr>
        <p:sp>
          <p:nvSpPr>
            <p:cNvPr id="9" name="Rectangle 8">
              <a:extLst>
                <a:ext uri="{FF2B5EF4-FFF2-40B4-BE49-F238E27FC236}">
                  <a16:creationId xmlns:a16="http://schemas.microsoft.com/office/drawing/2014/main" id="{00761305-0A20-8DD1-667A-BCED2D29FD46}"/>
                </a:ext>
              </a:extLst>
            </p:cNvPr>
            <p:cNvSpPr/>
            <p:nvPr/>
          </p:nvSpPr>
          <p:spPr>
            <a:xfrm>
              <a:off x="411090" y="238959"/>
              <a:ext cx="10353813" cy="60991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TextBox 10">
              <a:extLst>
                <a:ext uri="{FF2B5EF4-FFF2-40B4-BE49-F238E27FC236}">
                  <a16:creationId xmlns:a16="http://schemas.microsoft.com/office/drawing/2014/main" id="{06222BD8-04BE-D18C-DB52-5EF0AF0D642E}"/>
                </a:ext>
              </a:extLst>
            </p:cNvPr>
            <p:cNvSpPr txBox="1"/>
            <p:nvPr/>
          </p:nvSpPr>
          <p:spPr>
            <a:xfrm>
              <a:off x="411090" y="238959"/>
              <a:ext cx="10353813" cy="6099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IN" sz="2800" kern="1200" dirty="0">
                  <a:solidFill>
                    <a:schemeClr val="tx1"/>
                  </a:solidFill>
                </a:rPr>
                <a:t>Extrovert Personality</a:t>
              </a:r>
            </a:p>
          </p:txBody>
        </p:sp>
      </p:grpSp>
      <p:grpSp>
        <p:nvGrpSpPr>
          <p:cNvPr id="12" name="Group 11">
            <a:extLst>
              <a:ext uri="{FF2B5EF4-FFF2-40B4-BE49-F238E27FC236}">
                <a16:creationId xmlns:a16="http://schemas.microsoft.com/office/drawing/2014/main" id="{FD135D89-53C7-87C3-A8EC-C5841F730405}"/>
              </a:ext>
            </a:extLst>
          </p:cNvPr>
          <p:cNvGrpSpPr/>
          <p:nvPr/>
        </p:nvGrpSpPr>
        <p:grpSpPr>
          <a:xfrm>
            <a:off x="559864" y="1795984"/>
            <a:ext cx="10353813" cy="609915"/>
            <a:chOff x="411090" y="238959"/>
            <a:chExt cx="10353813" cy="609915"/>
          </a:xfrm>
        </p:grpSpPr>
        <p:sp>
          <p:nvSpPr>
            <p:cNvPr id="13" name="Rectangle 12">
              <a:extLst>
                <a:ext uri="{FF2B5EF4-FFF2-40B4-BE49-F238E27FC236}">
                  <a16:creationId xmlns:a16="http://schemas.microsoft.com/office/drawing/2014/main" id="{DB85DF6E-538A-2BE6-6F11-A85EF83D04FA}"/>
                </a:ext>
              </a:extLst>
            </p:cNvPr>
            <p:cNvSpPr/>
            <p:nvPr/>
          </p:nvSpPr>
          <p:spPr>
            <a:xfrm>
              <a:off x="411090" y="238959"/>
              <a:ext cx="10353813" cy="60991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4" name="TextBox 13">
              <a:extLst>
                <a:ext uri="{FF2B5EF4-FFF2-40B4-BE49-F238E27FC236}">
                  <a16:creationId xmlns:a16="http://schemas.microsoft.com/office/drawing/2014/main" id="{90AFECE4-0B64-C43A-0AA0-414C62E048EF}"/>
                </a:ext>
              </a:extLst>
            </p:cNvPr>
            <p:cNvSpPr txBox="1"/>
            <p:nvPr/>
          </p:nvSpPr>
          <p:spPr>
            <a:xfrm>
              <a:off x="411090" y="238959"/>
              <a:ext cx="10353813" cy="6099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IN" sz="2800" kern="1200" dirty="0">
                  <a:solidFill>
                    <a:schemeClr val="tx1"/>
                  </a:solidFill>
                </a:rPr>
                <a:t>Agreeable Personality</a:t>
              </a:r>
            </a:p>
          </p:txBody>
        </p:sp>
      </p:grpSp>
      <p:grpSp>
        <p:nvGrpSpPr>
          <p:cNvPr id="19" name="Group 18">
            <a:extLst>
              <a:ext uri="{FF2B5EF4-FFF2-40B4-BE49-F238E27FC236}">
                <a16:creationId xmlns:a16="http://schemas.microsoft.com/office/drawing/2014/main" id="{55B88B41-7870-A69E-1123-E4AFD555CB6E}"/>
              </a:ext>
            </a:extLst>
          </p:cNvPr>
          <p:cNvGrpSpPr/>
          <p:nvPr/>
        </p:nvGrpSpPr>
        <p:grpSpPr>
          <a:xfrm>
            <a:off x="559863" y="2562658"/>
            <a:ext cx="10353813" cy="609915"/>
            <a:chOff x="411090" y="238959"/>
            <a:chExt cx="10353813" cy="609915"/>
          </a:xfrm>
        </p:grpSpPr>
        <p:sp>
          <p:nvSpPr>
            <p:cNvPr id="20" name="Rectangle 19">
              <a:extLst>
                <a:ext uri="{FF2B5EF4-FFF2-40B4-BE49-F238E27FC236}">
                  <a16:creationId xmlns:a16="http://schemas.microsoft.com/office/drawing/2014/main" id="{942436EA-D407-C57E-C642-BB469B87BA77}"/>
                </a:ext>
              </a:extLst>
            </p:cNvPr>
            <p:cNvSpPr/>
            <p:nvPr/>
          </p:nvSpPr>
          <p:spPr>
            <a:xfrm>
              <a:off x="411090" y="238959"/>
              <a:ext cx="10353813" cy="60991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1" name="TextBox 20">
              <a:extLst>
                <a:ext uri="{FF2B5EF4-FFF2-40B4-BE49-F238E27FC236}">
                  <a16:creationId xmlns:a16="http://schemas.microsoft.com/office/drawing/2014/main" id="{00D135C0-35C7-F1CF-6BEF-FED70B3ABF67}"/>
                </a:ext>
              </a:extLst>
            </p:cNvPr>
            <p:cNvSpPr txBox="1"/>
            <p:nvPr/>
          </p:nvSpPr>
          <p:spPr>
            <a:xfrm>
              <a:off x="411090" y="238959"/>
              <a:ext cx="10353813" cy="6099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IN" sz="2800" kern="1200" dirty="0">
                  <a:solidFill>
                    <a:schemeClr val="tx1"/>
                  </a:solidFill>
                </a:rPr>
                <a:t>Conscientious Personality</a:t>
              </a:r>
            </a:p>
          </p:txBody>
        </p:sp>
      </p:grpSp>
      <p:grpSp>
        <p:nvGrpSpPr>
          <p:cNvPr id="22" name="Group 21">
            <a:extLst>
              <a:ext uri="{FF2B5EF4-FFF2-40B4-BE49-F238E27FC236}">
                <a16:creationId xmlns:a16="http://schemas.microsoft.com/office/drawing/2014/main" id="{AB3854D1-4D78-F5EC-BEAF-23208554A1BA}"/>
              </a:ext>
            </a:extLst>
          </p:cNvPr>
          <p:cNvGrpSpPr/>
          <p:nvPr/>
        </p:nvGrpSpPr>
        <p:grpSpPr>
          <a:xfrm>
            <a:off x="559863" y="3307878"/>
            <a:ext cx="10353813" cy="609915"/>
            <a:chOff x="411090" y="238959"/>
            <a:chExt cx="10353813" cy="609915"/>
          </a:xfrm>
        </p:grpSpPr>
        <p:sp>
          <p:nvSpPr>
            <p:cNvPr id="23" name="Rectangle 22">
              <a:extLst>
                <a:ext uri="{FF2B5EF4-FFF2-40B4-BE49-F238E27FC236}">
                  <a16:creationId xmlns:a16="http://schemas.microsoft.com/office/drawing/2014/main" id="{D522E0F3-C04D-C0D5-C44A-1566EEFF8F96}"/>
                </a:ext>
              </a:extLst>
            </p:cNvPr>
            <p:cNvSpPr/>
            <p:nvPr/>
          </p:nvSpPr>
          <p:spPr>
            <a:xfrm>
              <a:off x="411090" y="238959"/>
              <a:ext cx="10353813" cy="60991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24" name="TextBox 23">
              <a:extLst>
                <a:ext uri="{FF2B5EF4-FFF2-40B4-BE49-F238E27FC236}">
                  <a16:creationId xmlns:a16="http://schemas.microsoft.com/office/drawing/2014/main" id="{6839B1C5-1A58-1728-234B-7978C9AD744F}"/>
                </a:ext>
              </a:extLst>
            </p:cNvPr>
            <p:cNvSpPr txBox="1"/>
            <p:nvPr/>
          </p:nvSpPr>
          <p:spPr>
            <a:xfrm>
              <a:off x="411090" y="238959"/>
              <a:ext cx="10353813" cy="6099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IN" sz="2800" kern="1200" dirty="0">
                  <a:solidFill>
                    <a:schemeClr val="tx1"/>
                  </a:solidFill>
                </a:rPr>
                <a:t>Cautious Personality</a:t>
              </a:r>
            </a:p>
          </p:txBody>
        </p:sp>
      </p:grpSp>
      <p:grpSp>
        <p:nvGrpSpPr>
          <p:cNvPr id="29" name="Group 28">
            <a:extLst>
              <a:ext uri="{FF2B5EF4-FFF2-40B4-BE49-F238E27FC236}">
                <a16:creationId xmlns:a16="http://schemas.microsoft.com/office/drawing/2014/main" id="{B9C30074-C08C-72BE-2DB6-DEB0B92A3709}"/>
              </a:ext>
            </a:extLst>
          </p:cNvPr>
          <p:cNvGrpSpPr/>
          <p:nvPr/>
        </p:nvGrpSpPr>
        <p:grpSpPr>
          <a:xfrm>
            <a:off x="548975" y="4053098"/>
            <a:ext cx="10353813" cy="609915"/>
            <a:chOff x="411090" y="238959"/>
            <a:chExt cx="10353813" cy="609915"/>
          </a:xfrm>
        </p:grpSpPr>
        <p:sp>
          <p:nvSpPr>
            <p:cNvPr id="30" name="Rectangle 29">
              <a:extLst>
                <a:ext uri="{FF2B5EF4-FFF2-40B4-BE49-F238E27FC236}">
                  <a16:creationId xmlns:a16="http://schemas.microsoft.com/office/drawing/2014/main" id="{5F49B5C2-A10A-5C98-E276-25E97249347D}"/>
                </a:ext>
              </a:extLst>
            </p:cNvPr>
            <p:cNvSpPr/>
            <p:nvPr/>
          </p:nvSpPr>
          <p:spPr>
            <a:xfrm>
              <a:off x="411090" y="238959"/>
              <a:ext cx="10353813" cy="60991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1" name="TextBox 30">
              <a:extLst>
                <a:ext uri="{FF2B5EF4-FFF2-40B4-BE49-F238E27FC236}">
                  <a16:creationId xmlns:a16="http://schemas.microsoft.com/office/drawing/2014/main" id="{090D9B97-D802-FF4E-4374-8D7EE38C6E2B}"/>
                </a:ext>
              </a:extLst>
            </p:cNvPr>
            <p:cNvSpPr txBox="1"/>
            <p:nvPr/>
          </p:nvSpPr>
          <p:spPr>
            <a:xfrm>
              <a:off x="411090" y="238959"/>
              <a:ext cx="10353813" cy="6099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IN" sz="2800" kern="1200" dirty="0">
                  <a:solidFill>
                    <a:schemeClr val="tx1"/>
                  </a:solidFill>
                </a:rPr>
                <a:t>Self-Conscious Personality</a:t>
              </a:r>
            </a:p>
          </p:txBody>
        </p:sp>
      </p:grpSp>
      <p:grpSp>
        <p:nvGrpSpPr>
          <p:cNvPr id="32" name="Group 31">
            <a:extLst>
              <a:ext uri="{FF2B5EF4-FFF2-40B4-BE49-F238E27FC236}">
                <a16:creationId xmlns:a16="http://schemas.microsoft.com/office/drawing/2014/main" id="{74586DA9-12DC-F519-14DA-EA211712C1B4}"/>
              </a:ext>
            </a:extLst>
          </p:cNvPr>
          <p:cNvGrpSpPr/>
          <p:nvPr/>
        </p:nvGrpSpPr>
        <p:grpSpPr>
          <a:xfrm>
            <a:off x="559862" y="4819772"/>
            <a:ext cx="10353813" cy="609915"/>
            <a:chOff x="411090" y="238959"/>
            <a:chExt cx="10353813" cy="609915"/>
          </a:xfrm>
        </p:grpSpPr>
        <p:sp>
          <p:nvSpPr>
            <p:cNvPr id="33" name="Rectangle 32">
              <a:extLst>
                <a:ext uri="{FF2B5EF4-FFF2-40B4-BE49-F238E27FC236}">
                  <a16:creationId xmlns:a16="http://schemas.microsoft.com/office/drawing/2014/main" id="{F99248EB-8190-9910-401D-BAEFFBECC139}"/>
                </a:ext>
              </a:extLst>
            </p:cNvPr>
            <p:cNvSpPr/>
            <p:nvPr/>
          </p:nvSpPr>
          <p:spPr>
            <a:xfrm>
              <a:off x="411090" y="238959"/>
              <a:ext cx="10353813" cy="609915"/>
            </a:xfrm>
            <a:prstGeom prst="rect">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34" name="TextBox 33">
              <a:extLst>
                <a:ext uri="{FF2B5EF4-FFF2-40B4-BE49-F238E27FC236}">
                  <a16:creationId xmlns:a16="http://schemas.microsoft.com/office/drawing/2014/main" id="{F2CB79D4-44E0-52FF-1310-FA4A4B9F4A47}"/>
                </a:ext>
              </a:extLst>
            </p:cNvPr>
            <p:cNvSpPr txBox="1"/>
            <p:nvPr/>
          </p:nvSpPr>
          <p:spPr>
            <a:xfrm>
              <a:off x="411090" y="238959"/>
              <a:ext cx="10353813" cy="60991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31872" tIns="71120" rIns="71120" bIns="71120" numCol="1" spcCol="1270" anchor="ctr" anchorCtr="0">
              <a:noAutofit/>
            </a:bodyPr>
            <a:lstStyle/>
            <a:p>
              <a:pPr marL="0" lvl="0" indent="0" algn="l" defTabSz="1244600">
                <a:lnSpc>
                  <a:spcPct val="90000"/>
                </a:lnSpc>
                <a:spcBef>
                  <a:spcPct val="0"/>
                </a:spcBef>
                <a:spcAft>
                  <a:spcPct val="35000"/>
                </a:spcAft>
                <a:buNone/>
              </a:pPr>
              <a:r>
                <a:rPr lang="en-IN" sz="2800" kern="1200" dirty="0">
                  <a:solidFill>
                    <a:schemeClr val="tx1"/>
                  </a:solidFill>
                </a:rPr>
                <a:t>Adventurous Personality</a:t>
              </a:r>
            </a:p>
          </p:txBody>
        </p:sp>
      </p:grpSp>
    </p:spTree>
    <p:extLst>
      <p:ext uri="{BB962C8B-B14F-4D97-AF65-F5344CB8AC3E}">
        <p14:creationId xmlns:p14="http://schemas.microsoft.com/office/powerpoint/2010/main" val="29703519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Attitude</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4" name="Picture 3">
            <a:extLst>
              <a:ext uri="{FF2B5EF4-FFF2-40B4-BE49-F238E27FC236}">
                <a16:creationId xmlns:a16="http://schemas.microsoft.com/office/drawing/2014/main" id="{27DA1E9F-FF59-52B3-3B92-D4D957DEBBD2}"/>
              </a:ext>
            </a:extLst>
          </p:cNvPr>
          <p:cNvPicPr>
            <a:picLocks noChangeAspect="1"/>
          </p:cNvPicPr>
          <p:nvPr/>
        </p:nvPicPr>
        <p:blipFill rotWithShape="1">
          <a:blip r:embed="rId4"/>
          <a:srcRect t="13232" b="56307"/>
          <a:stretch/>
        </p:blipFill>
        <p:spPr>
          <a:xfrm>
            <a:off x="272143" y="3928835"/>
            <a:ext cx="11430000" cy="2427514"/>
          </a:xfrm>
          <a:prstGeom prst="rect">
            <a:avLst/>
          </a:prstGeom>
        </p:spPr>
      </p:pic>
      <p:sp>
        <p:nvSpPr>
          <p:cNvPr id="9" name="TextBox 8">
            <a:extLst>
              <a:ext uri="{FF2B5EF4-FFF2-40B4-BE49-F238E27FC236}">
                <a16:creationId xmlns:a16="http://schemas.microsoft.com/office/drawing/2014/main" id="{889148FD-A153-6A33-C9CC-ACF77EE57393}"/>
              </a:ext>
            </a:extLst>
          </p:cNvPr>
          <p:cNvSpPr txBox="1"/>
          <p:nvPr/>
        </p:nvSpPr>
        <p:spPr>
          <a:xfrm>
            <a:off x="968828" y="948176"/>
            <a:ext cx="10933485" cy="830997"/>
          </a:xfrm>
          <a:prstGeom prst="rect">
            <a:avLst/>
          </a:prstGeom>
          <a:noFill/>
        </p:spPr>
        <p:txBody>
          <a:bodyPr wrap="square">
            <a:spAutoFit/>
          </a:bodyPr>
          <a:lstStyle/>
          <a:p>
            <a:pPr algn="just"/>
            <a:r>
              <a:rPr lang="en-US" sz="2400" b="0" i="0" dirty="0">
                <a:solidFill>
                  <a:srgbClr val="0A0A0A"/>
                </a:solidFill>
                <a:effectLst/>
                <a:highlight>
                  <a:srgbClr val="FFFFFF"/>
                </a:highlight>
              </a:rPr>
              <a:t>An attitude describes persons’ enduring favorable or unfavorable cognitive evaluations, feelings, and action tendencies toward some object or idea.</a:t>
            </a:r>
            <a:endParaRPr lang="en-IN" sz="2400" dirty="0"/>
          </a:p>
        </p:txBody>
      </p:sp>
      <p:sp>
        <p:nvSpPr>
          <p:cNvPr id="14" name="TextBox 13">
            <a:extLst>
              <a:ext uri="{FF2B5EF4-FFF2-40B4-BE49-F238E27FC236}">
                <a16:creationId xmlns:a16="http://schemas.microsoft.com/office/drawing/2014/main" id="{66F8AFA9-EE08-98E2-A27D-AC44468B0AA8}"/>
              </a:ext>
            </a:extLst>
          </p:cNvPr>
          <p:cNvSpPr txBox="1"/>
          <p:nvPr/>
        </p:nvSpPr>
        <p:spPr>
          <a:xfrm>
            <a:off x="587828" y="2041548"/>
            <a:ext cx="11016343" cy="1569660"/>
          </a:xfrm>
          <a:prstGeom prst="rect">
            <a:avLst/>
          </a:prstGeom>
          <a:noFill/>
        </p:spPr>
        <p:txBody>
          <a:bodyPr wrap="square">
            <a:spAutoFit/>
          </a:bodyPr>
          <a:lstStyle/>
          <a:p>
            <a:pPr algn="just"/>
            <a:r>
              <a:rPr lang="en-US" sz="2400" dirty="0"/>
              <a:t>Attitudes are evaluation statements either favorable or </a:t>
            </a:r>
            <a:r>
              <a:rPr lang="en-US" sz="2400" dirty="0" err="1"/>
              <a:t>unfavourable</a:t>
            </a:r>
            <a:r>
              <a:rPr lang="en-US" sz="2400" dirty="0"/>
              <a:t> or </a:t>
            </a:r>
            <a:r>
              <a:rPr lang="en-US" sz="2400" dirty="0" err="1"/>
              <a:t>unfavourable</a:t>
            </a:r>
            <a:r>
              <a:rPr lang="en-US" sz="2400" dirty="0"/>
              <a:t> concerning objects, people or events. They reflect how one feels about something.</a:t>
            </a:r>
          </a:p>
          <a:p>
            <a:pPr algn="just"/>
            <a:endParaRPr lang="en-US" sz="2400" dirty="0"/>
          </a:p>
          <a:p>
            <a:pPr algn="just"/>
            <a:r>
              <a:rPr lang="en-US" sz="2400" dirty="0"/>
              <a:t>-Robbins</a:t>
            </a:r>
            <a:endParaRPr lang="en-IN" sz="2400" dirty="0"/>
          </a:p>
        </p:txBody>
      </p:sp>
    </p:spTree>
    <p:extLst>
      <p:ext uri="{BB962C8B-B14F-4D97-AF65-F5344CB8AC3E}">
        <p14:creationId xmlns:p14="http://schemas.microsoft.com/office/powerpoint/2010/main" val="23485298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23</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Components of Attitude</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3" name="Picture 2">
            <a:extLst>
              <a:ext uri="{FF2B5EF4-FFF2-40B4-BE49-F238E27FC236}">
                <a16:creationId xmlns:a16="http://schemas.microsoft.com/office/drawing/2014/main" id="{FC30ED50-7779-1EB3-3D28-D0622C4DDA21}"/>
              </a:ext>
            </a:extLst>
          </p:cNvPr>
          <p:cNvPicPr>
            <a:picLocks noChangeAspect="1"/>
          </p:cNvPicPr>
          <p:nvPr/>
        </p:nvPicPr>
        <p:blipFill rotWithShape="1">
          <a:blip r:embed="rId4"/>
          <a:srcRect b="23905"/>
          <a:stretch/>
        </p:blipFill>
        <p:spPr>
          <a:xfrm>
            <a:off x="1839685" y="1254578"/>
            <a:ext cx="7652657" cy="4928508"/>
          </a:xfrm>
          <a:prstGeom prst="rect">
            <a:avLst/>
          </a:prstGeom>
        </p:spPr>
      </p:pic>
    </p:spTree>
    <p:extLst>
      <p:ext uri="{BB962C8B-B14F-4D97-AF65-F5344CB8AC3E}">
        <p14:creationId xmlns:p14="http://schemas.microsoft.com/office/powerpoint/2010/main" val="32245939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24</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Cognitive component</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 name="TextBox 10">
            <a:extLst>
              <a:ext uri="{FF2B5EF4-FFF2-40B4-BE49-F238E27FC236}">
                <a16:creationId xmlns:a16="http://schemas.microsoft.com/office/drawing/2014/main" id="{7D1C6312-5244-211B-F225-0A8DFC1EA8BE}"/>
              </a:ext>
            </a:extLst>
          </p:cNvPr>
          <p:cNvSpPr txBox="1"/>
          <p:nvPr/>
        </p:nvSpPr>
        <p:spPr>
          <a:xfrm>
            <a:off x="838201" y="1304836"/>
            <a:ext cx="10367428" cy="3046988"/>
          </a:xfrm>
          <a:prstGeom prst="rect">
            <a:avLst/>
          </a:prstGeom>
          <a:noFill/>
        </p:spPr>
        <p:txBody>
          <a:bodyPr wrap="square">
            <a:spAutoFit/>
          </a:bodyPr>
          <a:lstStyle/>
          <a:p>
            <a:pPr algn="just"/>
            <a:r>
              <a:rPr lang="en-US" sz="2400" dirty="0"/>
              <a:t>Beliefs are the cognitive components of consumer attitude. The cognitive component of attitude is associated with the value statement. It consists of values, beliefs, ideas, and other information in which a person may have faith.</a:t>
            </a:r>
          </a:p>
          <a:p>
            <a:pPr algn="just"/>
            <a:endParaRPr lang="en-US" sz="2400" dirty="0"/>
          </a:p>
          <a:p>
            <a:pPr algn="just"/>
            <a:r>
              <a:rPr lang="en-US" sz="2400" dirty="0"/>
              <a:t>The cognitive component involves a person’s belief/knowledge about an attitude object. </a:t>
            </a:r>
          </a:p>
          <a:p>
            <a:pPr algn="just"/>
            <a:endParaRPr lang="en-US" sz="2400" dirty="0"/>
          </a:p>
          <a:p>
            <a:pPr algn="just"/>
            <a:r>
              <a:rPr lang="en-US" sz="2400" b="1" dirty="0"/>
              <a:t>For example: “I believe spiders are dangerous.”</a:t>
            </a:r>
            <a:endParaRPr lang="en-IN" sz="2400" b="1" dirty="0"/>
          </a:p>
        </p:txBody>
      </p:sp>
    </p:spTree>
    <p:extLst>
      <p:ext uri="{BB962C8B-B14F-4D97-AF65-F5344CB8AC3E}">
        <p14:creationId xmlns:p14="http://schemas.microsoft.com/office/powerpoint/2010/main" val="37564684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Affective component</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 name="TextBox 10">
            <a:extLst>
              <a:ext uri="{FF2B5EF4-FFF2-40B4-BE49-F238E27FC236}">
                <a16:creationId xmlns:a16="http://schemas.microsoft.com/office/drawing/2014/main" id="{7D1C6312-5244-211B-F225-0A8DFC1EA8BE}"/>
              </a:ext>
            </a:extLst>
          </p:cNvPr>
          <p:cNvSpPr txBox="1"/>
          <p:nvPr/>
        </p:nvSpPr>
        <p:spPr>
          <a:xfrm>
            <a:off x="838201" y="1304836"/>
            <a:ext cx="10367428" cy="3046988"/>
          </a:xfrm>
          <a:prstGeom prst="rect">
            <a:avLst/>
          </a:prstGeom>
          <a:noFill/>
        </p:spPr>
        <p:txBody>
          <a:bodyPr wrap="square">
            <a:spAutoFit/>
          </a:bodyPr>
          <a:lstStyle/>
          <a:p>
            <a:pPr algn="just"/>
            <a:r>
              <a:rPr lang="en-US" sz="2400" dirty="0"/>
              <a:t>Affective is the emotive component of consumer attitude. Affective component of attitude is associated with individual feelings about another person, which may be positive, neutral or negative.</a:t>
            </a:r>
          </a:p>
          <a:p>
            <a:pPr algn="just"/>
            <a:endParaRPr lang="en-US" sz="2400" b="1" dirty="0"/>
          </a:p>
          <a:p>
            <a:pPr algn="just"/>
            <a:r>
              <a:rPr lang="en-US" sz="2400" dirty="0"/>
              <a:t>Affective component: this involves a person’s feelings/emotions about the attitude object. </a:t>
            </a:r>
          </a:p>
          <a:p>
            <a:pPr algn="just"/>
            <a:endParaRPr lang="en-US" sz="2400" dirty="0"/>
          </a:p>
          <a:p>
            <a:pPr algn="just"/>
            <a:r>
              <a:rPr lang="en-US" sz="2400" b="1" dirty="0"/>
              <a:t>For example: “I am scared of spiders.”</a:t>
            </a:r>
            <a:endParaRPr lang="en-IN" sz="2400" b="1" dirty="0"/>
          </a:p>
        </p:txBody>
      </p:sp>
    </p:spTree>
    <p:extLst>
      <p:ext uri="{BB962C8B-B14F-4D97-AF65-F5344CB8AC3E}">
        <p14:creationId xmlns:p14="http://schemas.microsoft.com/office/powerpoint/2010/main" val="38937156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Behavioral component</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1" name="TextBox 10">
            <a:extLst>
              <a:ext uri="{FF2B5EF4-FFF2-40B4-BE49-F238E27FC236}">
                <a16:creationId xmlns:a16="http://schemas.microsoft.com/office/drawing/2014/main" id="{7D1C6312-5244-211B-F225-0A8DFC1EA8BE}"/>
              </a:ext>
            </a:extLst>
          </p:cNvPr>
          <p:cNvSpPr txBox="1"/>
          <p:nvPr/>
        </p:nvSpPr>
        <p:spPr>
          <a:xfrm>
            <a:off x="838201" y="1304836"/>
            <a:ext cx="10367428" cy="3416320"/>
          </a:xfrm>
          <a:prstGeom prst="rect">
            <a:avLst/>
          </a:prstGeom>
          <a:noFill/>
        </p:spPr>
        <p:txBody>
          <a:bodyPr wrap="square">
            <a:spAutoFit/>
          </a:bodyPr>
          <a:lstStyle/>
          <a:p>
            <a:pPr algn="just"/>
            <a:r>
              <a:rPr lang="en-US" sz="2400" dirty="0"/>
              <a:t>Intention is the behavioral component of consumer attitude. Behavioral component of attitude is associated with the impact of various condition or situations that lead to person behavior based on cognitive and affective components.</a:t>
            </a:r>
          </a:p>
          <a:p>
            <a:pPr algn="just"/>
            <a:endParaRPr lang="en-US" sz="2400" b="1" dirty="0"/>
          </a:p>
          <a:p>
            <a:pPr algn="just"/>
            <a:r>
              <a:rPr lang="en-US" sz="2400" dirty="0"/>
              <a:t>Behavioral component: the way the attitude we have influenced how we act or behave. </a:t>
            </a:r>
          </a:p>
          <a:p>
            <a:pPr algn="just"/>
            <a:endParaRPr lang="en-US" sz="2400" b="1" dirty="0"/>
          </a:p>
          <a:p>
            <a:pPr algn="just"/>
            <a:r>
              <a:rPr lang="en-US" sz="2400" b="1" dirty="0"/>
              <a:t>For example: “I will avoid spiders and scream if I see one.”</a:t>
            </a:r>
            <a:endParaRPr lang="en-IN" sz="2400" b="1" dirty="0"/>
          </a:p>
        </p:txBody>
      </p:sp>
    </p:spTree>
    <p:extLst>
      <p:ext uri="{BB962C8B-B14F-4D97-AF65-F5344CB8AC3E}">
        <p14:creationId xmlns:p14="http://schemas.microsoft.com/office/powerpoint/2010/main" val="40953042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Types of Attitude</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3" name="Picture 2">
            <a:extLst>
              <a:ext uri="{FF2B5EF4-FFF2-40B4-BE49-F238E27FC236}">
                <a16:creationId xmlns:a16="http://schemas.microsoft.com/office/drawing/2014/main" id="{3271AB65-DD5D-1F37-7E41-A71F53554CFA}"/>
              </a:ext>
            </a:extLst>
          </p:cNvPr>
          <p:cNvPicPr>
            <a:picLocks noChangeAspect="1"/>
          </p:cNvPicPr>
          <p:nvPr/>
        </p:nvPicPr>
        <p:blipFill>
          <a:blip r:embed="rId4"/>
          <a:stretch>
            <a:fillRect/>
          </a:stretch>
        </p:blipFill>
        <p:spPr>
          <a:xfrm>
            <a:off x="1219200" y="1665513"/>
            <a:ext cx="9986428" cy="4093029"/>
          </a:xfrm>
          <a:prstGeom prst="rect">
            <a:avLst/>
          </a:prstGeom>
        </p:spPr>
      </p:pic>
    </p:spTree>
    <p:extLst>
      <p:ext uri="{BB962C8B-B14F-4D97-AF65-F5344CB8AC3E}">
        <p14:creationId xmlns:p14="http://schemas.microsoft.com/office/powerpoint/2010/main" val="34606716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Types of Attitude</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5" name="TextBox 4">
            <a:extLst>
              <a:ext uri="{FF2B5EF4-FFF2-40B4-BE49-F238E27FC236}">
                <a16:creationId xmlns:a16="http://schemas.microsoft.com/office/drawing/2014/main" id="{B3891418-B10A-333C-CEE8-2EF05F22A9D9}"/>
              </a:ext>
            </a:extLst>
          </p:cNvPr>
          <p:cNvSpPr txBox="1"/>
          <p:nvPr/>
        </p:nvSpPr>
        <p:spPr>
          <a:xfrm>
            <a:off x="293914" y="1076236"/>
            <a:ext cx="10809515" cy="4893647"/>
          </a:xfrm>
          <a:prstGeom prst="rect">
            <a:avLst/>
          </a:prstGeom>
          <a:noFill/>
        </p:spPr>
        <p:txBody>
          <a:bodyPr wrap="square">
            <a:spAutoFit/>
          </a:bodyPr>
          <a:lstStyle/>
          <a:p>
            <a:pPr algn="just"/>
            <a:r>
              <a:rPr lang="en-IN" sz="2400" b="1" dirty="0"/>
              <a:t>Job satisfaction- </a:t>
            </a:r>
            <a:r>
              <a:rPr lang="en-IN" sz="2400" dirty="0"/>
              <a:t>is the level of contentment a person feels regarding his or her job. This feeling is mainly based on an individual’s perception of satisfaction. </a:t>
            </a:r>
          </a:p>
          <a:p>
            <a:pPr algn="just"/>
            <a:endParaRPr lang="en-IN" sz="2400" dirty="0"/>
          </a:p>
          <a:p>
            <a:pPr algn="just"/>
            <a:r>
              <a:rPr lang="en-US" sz="2400" b="1" dirty="0"/>
              <a:t>Job involvement-</a:t>
            </a:r>
          </a:p>
          <a:p>
            <a:pPr algn="just"/>
            <a:r>
              <a:rPr lang="en-US" sz="2400" dirty="0"/>
              <a:t>Job involvement refers to the degree to which a person identifies himself (psychologically) with his job, actively participates, and considers his perceived performance level important to self-worth.</a:t>
            </a:r>
            <a:endParaRPr lang="en-IN" sz="2400" dirty="0"/>
          </a:p>
          <a:p>
            <a:pPr algn="just"/>
            <a:endParaRPr lang="en-IN" sz="2400" dirty="0"/>
          </a:p>
          <a:p>
            <a:pPr algn="just"/>
            <a:r>
              <a:rPr lang="en-US" sz="2400" b="1" dirty="0"/>
              <a:t>Organizational commitment-</a:t>
            </a:r>
          </a:p>
          <a:p>
            <a:pPr algn="just"/>
            <a:r>
              <a:rPr lang="en-US" sz="2400" dirty="0"/>
              <a:t>Organizational commitment refers to the degree to which an employee identifies himself with the organizational goals and wishes to maintain membership in the organization.</a:t>
            </a:r>
            <a:endParaRPr lang="en-IN" sz="2400" dirty="0"/>
          </a:p>
          <a:p>
            <a:pPr algn="just"/>
            <a:endParaRPr lang="en-IN" sz="2400" dirty="0"/>
          </a:p>
        </p:txBody>
      </p:sp>
    </p:spTree>
    <p:extLst>
      <p:ext uri="{BB962C8B-B14F-4D97-AF65-F5344CB8AC3E}">
        <p14:creationId xmlns:p14="http://schemas.microsoft.com/office/powerpoint/2010/main" val="7529371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29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ea typeface="+mn-ea"/>
                <a:cs typeface="Times New Roman" panose="02020603050405020304" pitchFamily="18" charset="0"/>
              </a:rPr>
              <a:t>Daily Quiz</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1253331"/>
            <a:ext cx="10515600" cy="4940640"/>
          </a:xfrm>
        </p:spPr>
        <p:txBody>
          <a:bodyPr>
            <a:normAutofit lnSpcReduction="10000"/>
          </a:bodyPr>
          <a:lstStyle/>
          <a:p>
            <a:pPr marL="0" indent="0">
              <a:buNone/>
            </a:pPr>
            <a:r>
              <a:rPr lang="en-US" sz="2400" b="0" i="0" dirty="0">
                <a:solidFill>
                  <a:srgbClr val="1E293B"/>
                </a:solidFill>
                <a:effectLst/>
                <a:highlight>
                  <a:srgbClr val="FFFFFF"/>
                </a:highlight>
              </a:rPr>
              <a:t>The combination of characteristics or qualities that form an individual’s distinctive character” is the definition of ____</a:t>
            </a:r>
          </a:p>
          <a:p>
            <a:pPr marL="0" indent="0">
              <a:buNone/>
            </a:pPr>
            <a:r>
              <a:rPr lang="en-US" sz="2400" b="0" i="0" dirty="0">
                <a:solidFill>
                  <a:srgbClr val="1E293B"/>
                </a:solidFill>
                <a:effectLst/>
                <a:highlight>
                  <a:srgbClr val="FFFFFF"/>
                </a:highlight>
              </a:rPr>
              <a:t>a) Personality</a:t>
            </a:r>
          </a:p>
          <a:p>
            <a:pPr marL="0" indent="0">
              <a:buNone/>
            </a:pPr>
            <a:r>
              <a:rPr lang="en-US" sz="2400" b="0" i="0" dirty="0">
                <a:solidFill>
                  <a:srgbClr val="1E293B"/>
                </a:solidFill>
                <a:effectLst/>
                <a:highlight>
                  <a:srgbClr val="FFFFFF"/>
                </a:highlight>
              </a:rPr>
              <a:t>b) Motivation</a:t>
            </a:r>
          </a:p>
          <a:p>
            <a:pPr marL="0" indent="0">
              <a:buNone/>
            </a:pPr>
            <a:r>
              <a:rPr lang="en-US" sz="2400" b="0" i="0" dirty="0">
                <a:solidFill>
                  <a:srgbClr val="1E293B"/>
                </a:solidFill>
                <a:effectLst/>
                <a:highlight>
                  <a:srgbClr val="FFFFFF"/>
                </a:highlight>
              </a:rPr>
              <a:t>c) Attitude</a:t>
            </a:r>
          </a:p>
          <a:p>
            <a:pPr marL="0" indent="0">
              <a:buNone/>
            </a:pPr>
            <a:r>
              <a:rPr lang="en-US" sz="2400" b="0" i="0" dirty="0">
                <a:solidFill>
                  <a:srgbClr val="1E293B"/>
                </a:solidFill>
                <a:effectLst/>
                <a:highlight>
                  <a:srgbClr val="FFFFFF"/>
                </a:highlight>
              </a:rPr>
              <a:t>d) </a:t>
            </a:r>
            <a:r>
              <a:rPr lang="en-US" sz="2400" b="0" i="0" dirty="0" err="1">
                <a:solidFill>
                  <a:srgbClr val="1E293B"/>
                </a:solidFill>
                <a:effectLst/>
                <a:highlight>
                  <a:srgbClr val="FFFFFF"/>
                </a:highlight>
              </a:rPr>
              <a:t>Behaviour</a:t>
            </a:r>
            <a:endParaRPr lang="en-US" sz="2400" b="0" i="0" dirty="0">
              <a:solidFill>
                <a:srgbClr val="1E293B"/>
              </a:solidFill>
              <a:effectLst/>
              <a:highlight>
                <a:srgbClr val="FFFFFF"/>
              </a:highlight>
            </a:endParaRPr>
          </a:p>
          <a:p>
            <a:pPr marL="0" indent="0">
              <a:buNone/>
            </a:pPr>
            <a:r>
              <a:rPr lang="en-US" sz="2400" b="0" i="0" dirty="0">
                <a:solidFill>
                  <a:srgbClr val="1E293B"/>
                </a:solidFill>
                <a:effectLst/>
                <a:highlight>
                  <a:srgbClr val="FFFFFF"/>
                </a:highlight>
              </a:rPr>
              <a:t>The family condition and impact of the parents is the main base for the personality of a person. Later it might change by ________</a:t>
            </a:r>
          </a:p>
          <a:p>
            <a:pPr marL="0" indent="0">
              <a:buNone/>
            </a:pPr>
            <a:r>
              <a:rPr lang="en-US" sz="2400" b="0" i="0" dirty="0">
                <a:solidFill>
                  <a:srgbClr val="1E293B"/>
                </a:solidFill>
                <a:effectLst/>
                <a:highlight>
                  <a:srgbClr val="FFFFFF"/>
                </a:highlight>
              </a:rPr>
              <a:t>a) thinking</a:t>
            </a:r>
          </a:p>
          <a:p>
            <a:pPr marL="0" indent="0">
              <a:buNone/>
            </a:pPr>
            <a:r>
              <a:rPr lang="en-US" sz="2400" b="0" i="0" dirty="0">
                <a:solidFill>
                  <a:srgbClr val="1E293B"/>
                </a:solidFill>
                <a:effectLst/>
                <a:highlight>
                  <a:srgbClr val="FFFFFF"/>
                </a:highlight>
              </a:rPr>
              <a:t>b) external influences</a:t>
            </a:r>
          </a:p>
          <a:p>
            <a:pPr marL="0" indent="0">
              <a:buNone/>
            </a:pPr>
            <a:r>
              <a:rPr lang="en-US" sz="2400" b="0" i="0" dirty="0">
                <a:solidFill>
                  <a:srgbClr val="1E293B"/>
                </a:solidFill>
                <a:effectLst/>
                <a:highlight>
                  <a:srgbClr val="FFFFFF"/>
                </a:highlight>
              </a:rPr>
              <a:t>c) own ability</a:t>
            </a:r>
          </a:p>
          <a:p>
            <a:pPr marL="0" indent="0">
              <a:buNone/>
            </a:pPr>
            <a:r>
              <a:rPr lang="en-US" sz="2400" b="0" i="0" dirty="0">
                <a:solidFill>
                  <a:srgbClr val="1E293B"/>
                </a:solidFill>
                <a:effectLst/>
                <a:highlight>
                  <a:srgbClr val="FFFFFF"/>
                </a:highlight>
              </a:rPr>
              <a:t>d) learning experiences</a:t>
            </a:r>
          </a:p>
          <a:p>
            <a:endParaRPr lang="en-IN" sz="2400" dirty="0"/>
          </a:p>
        </p:txBody>
      </p:sp>
    </p:spTree>
    <p:extLst>
      <p:ext uri="{BB962C8B-B14F-4D97-AF65-F5344CB8AC3E}">
        <p14:creationId xmlns:p14="http://schemas.microsoft.com/office/powerpoint/2010/main" val="39049761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Daily Quiz</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1253331"/>
            <a:ext cx="10515600" cy="5468144"/>
          </a:xfrm>
        </p:spPr>
        <p:txBody>
          <a:bodyPr>
            <a:normAutofit/>
          </a:bodyPr>
          <a:lstStyle/>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Every individual is ________ by their personality.</a:t>
            </a:r>
          </a:p>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a) Intellectual</a:t>
            </a:r>
          </a:p>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b) Specific</a:t>
            </a:r>
          </a:p>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c) Unique</a:t>
            </a:r>
          </a:p>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d) Systematic</a:t>
            </a:r>
          </a:p>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Outgoing, talkative, social are part of __________ Personality Trait as per big 5 personality trait</a:t>
            </a:r>
          </a:p>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a) Friendly</a:t>
            </a:r>
          </a:p>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b) Openness to experience</a:t>
            </a:r>
          </a:p>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c) Introversion</a:t>
            </a:r>
          </a:p>
          <a:p>
            <a:pPr marL="0" indent="0" algn="l">
              <a:buNone/>
            </a:pPr>
            <a:r>
              <a:rPr lang="en-US" sz="2400" i="0" dirty="0">
                <a:solidFill>
                  <a:srgbClr val="202124"/>
                </a:solidFill>
                <a:effectLst/>
                <a:latin typeface="Times New Roman" panose="02020603050405020304" pitchFamily="18" charset="0"/>
                <a:cs typeface="Times New Roman" panose="02020603050405020304" pitchFamily="18" charset="0"/>
              </a:rPr>
              <a:t>d) Extroversion</a:t>
            </a:r>
          </a:p>
          <a:p>
            <a:endParaRPr lang="en-IN" sz="2400" dirty="0"/>
          </a:p>
        </p:txBody>
      </p:sp>
    </p:spTree>
    <p:extLst>
      <p:ext uri="{BB962C8B-B14F-4D97-AF65-F5344CB8AC3E}">
        <p14:creationId xmlns:p14="http://schemas.microsoft.com/office/powerpoint/2010/main" val="13354733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31</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Johari Window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1253331"/>
            <a:ext cx="10515600" cy="5468144"/>
          </a:xfrm>
        </p:spPr>
        <p:txBody>
          <a:bodyPr>
            <a:normAutofit/>
          </a:bodyPr>
          <a:lstStyle/>
          <a:p>
            <a:pPr marL="0" indent="0" algn="just">
              <a:buNone/>
            </a:pPr>
            <a:r>
              <a:rPr lang="en-US" sz="2400" dirty="0"/>
              <a:t>Johari Window is a technique for improving self-awareness within an individual. It helps in understanding your relationship with yourself and others. The Johari Window model can be useful if you want to improve your communication skills.</a:t>
            </a:r>
          </a:p>
          <a:p>
            <a:pPr marL="0" indent="0" algn="just">
              <a:buNone/>
            </a:pPr>
            <a:endParaRPr lang="en-US" sz="2400" dirty="0"/>
          </a:p>
          <a:p>
            <a:pPr marL="0" indent="0" algn="just">
              <a:buNone/>
            </a:pPr>
            <a:endParaRPr lang="en-US" sz="2400" dirty="0"/>
          </a:p>
          <a:p>
            <a:pPr marL="0" indent="0" algn="just">
              <a:buNone/>
            </a:pPr>
            <a:r>
              <a:rPr lang="en-US" sz="2400" dirty="0"/>
              <a:t>It was developed by American psychologists Joseph Luft and Harry Ingham in 1955.</a:t>
            </a:r>
            <a:endParaRPr lang="en-IN" sz="2400" dirty="0"/>
          </a:p>
        </p:txBody>
      </p:sp>
    </p:spTree>
    <p:extLst>
      <p:ext uri="{BB962C8B-B14F-4D97-AF65-F5344CB8AC3E}">
        <p14:creationId xmlns:p14="http://schemas.microsoft.com/office/powerpoint/2010/main" val="3134001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Johari Window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1253331"/>
            <a:ext cx="10515600" cy="5468144"/>
          </a:xfrm>
        </p:spPr>
        <p:txBody>
          <a:bodyPr>
            <a:normAutofit/>
          </a:bodyPr>
          <a:lstStyle/>
          <a:p>
            <a:pPr algn="just"/>
            <a:r>
              <a:rPr lang="en-US" sz="2400" b="0" i="0" dirty="0">
                <a:effectLst/>
                <a:latin typeface="Times New Roman" panose="02020603050405020304" pitchFamily="18" charset="0"/>
                <a:cs typeface="Times New Roman" panose="02020603050405020304" pitchFamily="18" charset="0"/>
              </a:rPr>
              <a:t> The Johari window model is based upon two things – to acquire the trust of others by revealing your information to them and by learning about yourself through feedback from others.</a:t>
            </a:r>
          </a:p>
          <a:p>
            <a:pPr algn="just"/>
            <a:endParaRPr lang="en-US" sz="2400" dirty="0">
              <a:latin typeface="Times New Roman" panose="02020603050405020304" pitchFamily="18" charset="0"/>
              <a:cs typeface="Times New Roman" panose="02020603050405020304" pitchFamily="18" charset="0"/>
            </a:endParaRPr>
          </a:p>
          <a:p>
            <a:pPr algn="just"/>
            <a:endParaRPr lang="en-IN" sz="2400" dirty="0"/>
          </a:p>
        </p:txBody>
      </p:sp>
      <p:pic>
        <p:nvPicPr>
          <p:cNvPr id="3" name="Picture 2">
            <a:extLst>
              <a:ext uri="{FF2B5EF4-FFF2-40B4-BE49-F238E27FC236}">
                <a16:creationId xmlns:a16="http://schemas.microsoft.com/office/drawing/2014/main" id="{71446516-C461-E360-F864-86F233599CCA}"/>
              </a:ext>
            </a:extLst>
          </p:cNvPr>
          <p:cNvPicPr>
            <a:picLocks noChangeAspect="1"/>
          </p:cNvPicPr>
          <p:nvPr/>
        </p:nvPicPr>
        <p:blipFill>
          <a:blip r:embed="rId4"/>
          <a:stretch>
            <a:fillRect/>
          </a:stretch>
        </p:blipFill>
        <p:spPr>
          <a:xfrm>
            <a:off x="2800945" y="2514600"/>
            <a:ext cx="6590109" cy="3635829"/>
          </a:xfrm>
          <a:prstGeom prst="rect">
            <a:avLst/>
          </a:prstGeom>
        </p:spPr>
      </p:pic>
    </p:spTree>
    <p:extLst>
      <p:ext uri="{BB962C8B-B14F-4D97-AF65-F5344CB8AC3E}">
        <p14:creationId xmlns:p14="http://schemas.microsoft.com/office/powerpoint/2010/main" val="15311523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33</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 Open/self-area or arena</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461428" y="1209747"/>
            <a:ext cx="10515600" cy="4788282"/>
          </a:xfrm>
        </p:spPr>
        <p:txBody>
          <a:bodyPr>
            <a:normAutofit/>
          </a:bodyPr>
          <a:lstStyle/>
          <a:p>
            <a:pPr algn="just"/>
            <a:r>
              <a:rPr lang="en-US" sz="2400" dirty="0"/>
              <a:t>Here the information about the person's attitudes, behavior, emotions, feelings, skills, and views will be known by the person and others.</a:t>
            </a:r>
          </a:p>
          <a:p>
            <a:pPr algn="just"/>
            <a:endParaRPr lang="en-US" sz="2400" dirty="0"/>
          </a:p>
          <a:p>
            <a:pPr algn="just"/>
            <a:r>
              <a:rPr lang="en-US" sz="2400" dirty="0"/>
              <a:t>The Open Area represents the things that you know about yourself and that others know about you. This includes your behavior, knowledge, skills, attitudes, and "public" history.</a:t>
            </a:r>
          </a:p>
          <a:p>
            <a:pPr algn="just"/>
            <a:endParaRPr lang="en-US" sz="2400" dirty="0"/>
          </a:p>
          <a:p>
            <a:pPr marL="0" indent="0" algn="just">
              <a:buNone/>
            </a:pPr>
            <a:endParaRPr lang="en-US" sz="2400" dirty="0"/>
          </a:p>
          <a:p>
            <a:pPr marL="0" indent="0" algn="just">
              <a:buNone/>
            </a:pPr>
            <a:endParaRPr lang="en-US" sz="2400" dirty="0"/>
          </a:p>
          <a:p>
            <a:pPr marL="0" indent="0" algn="just">
              <a:buNone/>
            </a:pPr>
            <a:endParaRPr lang="en-US" sz="2400" dirty="0"/>
          </a:p>
        </p:txBody>
      </p:sp>
    </p:spTree>
    <p:extLst>
      <p:ext uri="{BB962C8B-B14F-4D97-AF65-F5344CB8AC3E}">
        <p14:creationId xmlns:p14="http://schemas.microsoft.com/office/powerpoint/2010/main" val="23249110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34</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Blind Area</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1253331"/>
            <a:ext cx="10515600" cy="5468144"/>
          </a:xfrm>
        </p:spPr>
        <p:txBody>
          <a:bodyPr>
            <a:normAutofit/>
          </a:bodyPr>
          <a:lstStyle/>
          <a:p>
            <a:pPr algn="just"/>
            <a:r>
              <a:rPr lang="en-US" sz="2400" dirty="0"/>
              <a:t>The Blind Area represents things about yourself that you aren't aware of, but that others know about you. For example, you might not realize you're a great listener until someone points it out to you. It can also reveal deeper issues, such as feelings of incompetence or anger you haven't faced up to, but that others sense in you.</a:t>
            </a:r>
          </a:p>
        </p:txBody>
      </p:sp>
    </p:spTree>
    <p:extLst>
      <p:ext uri="{BB962C8B-B14F-4D97-AF65-F5344CB8AC3E}">
        <p14:creationId xmlns:p14="http://schemas.microsoft.com/office/powerpoint/2010/main" val="25130575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 Hidden Area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1253331"/>
            <a:ext cx="10515600" cy="5468144"/>
          </a:xfrm>
        </p:spPr>
        <p:txBody>
          <a:bodyPr>
            <a:normAutofit/>
          </a:bodyPr>
          <a:lstStyle/>
          <a:p>
            <a:pPr algn="just"/>
            <a:r>
              <a:rPr lang="en-US" sz="2400" dirty="0"/>
              <a:t>The Hidden Area represents things that you know about yourself, but that you keep hidden from other people.</a:t>
            </a:r>
          </a:p>
          <a:p>
            <a:pPr algn="just"/>
            <a:endParaRPr lang="en-US" sz="2400" dirty="0"/>
          </a:p>
          <a:p>
            <a:pPr algn="just"/>
            <a:r>
              <a:rPr lang="en-US" sz="2400" dirty="0"/>
              <a:t>You don't need to share all of your private thoughts and feelings with work colleagues. Naturally, you wouldn't want to reveal anything that would make you feel embarrassed or vulnerable. Withholding information is perfectly reasonable if it has no bearing on your work..</a:t>
            </a:r>
          </a:p>
        </p:txBody>
      </p:sp>
    </p:spTree>
    <p:extLst>
      <p:ext uri="{BB962C8B-B14F-4D97-AF65-F5344CB8AC3E}">
        <p14:creationId xmlns:p14="http://schemas.microsoft.com/office/powerpoint/2010/main" val="3611305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Unknown Area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838200" y="1177301"/>
            <a:ext cx="10515600" cy="3254078"/>
          </a:xfrm>
        </p:spPr>
        <p:txBody>
          <a:bodyPr>
            <a:normAutofit/>
          </a:bodyPr>
          <a:lstStyle/>
          <a:p>
            <a:pPr algn="just"/>
            <a:r>
              <a:rPr lang="en-US" sz="2400" dirty="0"/>
              <a:t>The Unknown area represents things that are unknown to you and by others.</a:t>
            </a:r>
          </a:p>
          <a:p>
            <a:pPr algn="just"/>
            <a:r>
              <a:rPr lang="en-US" sz="2400" dirty="0"/>
              <a:t>A large Unknown Area may just be a sign of youth or inexperience, but it can also mean that you need to work hard on discovering and releasing new information about yourself.</a:t>
            </a:r>
          </a:p>
        </p:txBody>
      </p:sp>
    </p:spTree>
    <p:extLst>
      <p:ext uri="{BB962C8B-B14F-4D97-AF65-F5344CB8AC3E}">
        <p14:creationId xmlns:p14="http://schemas.microsoft.com/office/powerpoint/2010/main" val="33414190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37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ea typeface="+mn-ea"/>
                <a:cs typeface="Times New Roman" panose="02020603050405020304" pitchFamily="18" charset="0"/>
              </a:rPr>
              <a:t>Daily Quiz</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1253331"/>
            <a:ext cx="10515600" cy="4940640"/>
          </a:xfrm>
        </p:spPr>
        <p:txBody>
          <a:bodyPr>
            <a:normAutofit/>
          </a:bodyPr>
          <a:lstStyle/>
          <a:p>
            <a:pPr algn="just">
              <a:buFont typeface="Wingdings" panose="05000000000000000000" pitchFamily="2" charset="2"/>
              <a:buChar char="Ø"/>
            </a:pPr>
            <a:r>
              <a:rPr lang="en-US" sz="2400" dirty="0"/>
              <a:t>Which one is NOT a pane of Johari Window model?</a:t>
            </a:r>
          </a:p>
          <a:p>
            <a:pPr marL="457200" indent="-457200" algn="just">
              <a:buAutoNum type="alphaLcParenBoth"/>
            </a:pPr>
            <a:r>
              <a:rPr lang="en-US" sz="2400" dirty="0"/>
              <a:t>blind spot</a:t>
            </a:r>
          </a:p>
          <a:p>
            <a:pPr marL="457200" indent="-457200" algn="just">
              <a:buAutoNum type="alphaLcParenBoth"/>
            </a:pPr>
            <a:r>
              <a:rPr lang="en-US" sz="2400" dirty="0"/>
              <a:t>unknown area</a:t>
            </a:r>
          </a:p>
          <a:p>
            <a:pPr marL="457200" indent="-457200" algn="just">
              <a:buAutoNum type="alphaLcParenBoth"/>
            </a:pPr>
            <a:r>
              <a:rPr lang="en-US" sz="2400" dirty="0"/>
              <a:t>hidden area</a:t>
            </a:r>
          </a:p>
          <a:p>
            <a:pPr marL="457200" indent="-457200" algn="just">
              <a:buAutoNum type="alphaLcParenBoth"/>
            </a:pPr>
            <a:r>
              <a:rPr lang="en-US" sz="2400" dirty="0"/>
              <a:t>changing area</a:t>
            </a:r>
          </a:p>
          <a:p>
            <a:pPr algn="just">
              <a:buFont typeface="Wingdings" panose="05000000000000000000" pitchFamily="2" charset="2"/>
              <a:buChar char="Ø"/>
            </a:pPr>
            <a:r>
              <a:rPr lang="en-US" sz="2400" dirty="0"/>
              <a:t>The unknown area of Johari Window is ___________.</a:t>
            </a:r>
          </a:p>
          <a:p>
            <a:pPr marL="457200" indent="-457200" algn="just">
              <a:buAutoNum type="alphaLcParenBoth"/>
            </a:pPr>
            <a:r>
              <a:rPr lang="en-US" sz="2400" dirty="0"/>
              <a:t>the same as the blind area.</a:t>
            </a:r>
          </a:p>
          <a:p>
            <a:pPr marL="457200" indent="-457200" algn="just">
              <a:buAutoNum type="alphaLcParenBoth"/>
            </a:pPr>
            <a:r>
              <a:rPr lang="en-US" sz="2400" dirty="0"/>
              <a:t>made up of private feelings &amp; needs you don't want to share</a:t>
            </a:r>
          </a:p>
          <a:p>
            <a:pPr marL="457200" indent="-457200" algn="just">
              <a:buAutoNum type="alphaLcParenBoth"/>
            </a:pPr>
            <a:r>
              <a:rPr lang="en-US" sz="2400" dirty="0"/>
              <a:t>an area you need to enlarge in order to build friendships.</a:t>
            </a:r>
          </a:p>
          <a:p>
            <a:pPr marL="457200" indent="-457200" algn="just">
              <a:buAutoNum type="alphaLcParenBoth"/>
            </a:pPr>
            <a:r>
              <a:rPr lang="en-US" sz="2400" dirty="0"/>
              <a:t>an area that you don't know completely &amp; never disappears.</a:t>
            </a:r>
          </a:p>
          <a:p>
            <a:endParaRPr lang="en-IN" sz="2400" dirty="0"/>
          </a:p>
        </p:txBody>
      </p:sp>
    </p:spTree>
    <p:extLst>
      <p:ext uri="{BB962C8B-B14F-4D97-AF65-F5344CB8AC3E}">
        <p14:creationId xmlns:p14="http://schemas.microsoft.com/office/powerpoint/2010/main" val="14904315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38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b="0" i="0" u="none" strike="noStrike" kern="1200" cap="none" spc="0" normalizeH="0" baseline="0" noProof="0" dirty="0">
                <a:ln>
                  <a:noFill/>
                </a:ln>
                <a:solidFill>
                  <a:prstClr val="black"/>
                </a:solidFill>
                <a:effectLst/>
                <a:uLnTx/>
                <a:uFillTx/>
                <a:ea typeface="+mn-ea"/>
                <a:cs typeface="Times New Roman" panose="02020603050405020304" pitchFamily="18" charset="0"/>
              </a:rPr>
              <a:t>Daily Quiz</a:t>
            </a:r>
            <a:endParaRPr kumimoji="0" lang="en-US" sz="2800" b="0" i="0" u="none" strike="noStrike" kern="1200" cap="none" spc="0" normalizeH="0" baseline="0" noProof="0" dirty="0">
              <a:ln>
                <a:noFill/>
              </a:ln>
              <a:solidFill>
                <a:prstClr val="black"/>
              </a:solidFill>
              <a:effectLst/>
              <a:uLnTx/>
              <a:uFillTx/>
              <a:ea typeface="+mn-ea"/>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1253331"/>
            <a:ext cx="10515600" cy="4940640"/>
          </a:xfrm>
        </p:spPr>
        <p:txBody>
          <a:bodyPr>
            <a:normAutofit/>
          </a:bodyPr>
          <a:lstStyle/>
          <a:p>
            <a:pPr algn="just">
              <a:buFont typeface="Wingdings" panose="05000000000000000000" pitchFamily="2" charset="2"/>
              <a:buChar char="Ø"/>
            </a:pPr>
            <a:r>
              <a:rPr lang="en-US" sz="2400" dirty="0"/>
              <a:t>Transactional analysis was the brainchild of:</a:t>
            </a:r>
          </a:p>
          <a:p>
            <a:pPr algn="just">
              <a:buFont typeface="Wingdings" panose="05000000000000000000" pitchFamily="2" charset="2"/>
              <a:buChar char="Ø"/>
            </a:pPr>
            <a:r>
              <a:rPr lang="en-US" sz="2400" dirty="0"/>
              <a:t>Thomas Harris</a:t>
            </a:r>
          </a:p>
          <a:p>
            <a:pPr algn="just">
              <a:buFont typeface="Wingdings" panose="05000000000000000000" pitchFamily="2" charset="2"/>
              <a:buChar char="Ø"/>
            </a:pPr>
            <a:r>
              <a:rPr lang="en-US" sz="2400" dirty="0"/>
              <a:t>Eric berne</a:t>
            </a:r>
          </a:p>
          <a:p>
            <a:pPr algn="just">
              <a:buFont typeface="Wingdings" panose="05000000000000000000" pitchFamily="2" charset="2"/>
              <a:buChar char="Ø"/>
            </a:pPr>
            <a:r>
              <a:rPr lang="en-US" sz="2400" dirty="0"/>
              <a:t>Muriel James</a:t>
            </a:r>
          </a:p>
          <a:p>
            <a:pPr algn="just">
              <a:buFont typeface="Wingdings" panose="05000000000000000000" pitchFamily="2" charset="2"/>
              <a:buChar char="Ø"/>
            </a:pPr>
            <a:r>
              <a:rPr lang="en-US" sz="2400" dirty="0"/>
              <a:t>Stephen </a:t>
            </a:r>
            <a:r>
              <a:rPr lang="en-US" sz="2400" dirty="0" err="1"/>
              <a:t>robbins</a:t>
            </a:r>
            <a:endParaRPr lang="en-US" sz="2400" dirty="0"/>
          </a:p>
          <a:p>
            <a:pPr algn="just">
              <a:buFont typeface="Wingdings" panose="05000000000000000000" pitchFamily="2" charset="2"/>
              <a:buChar char="Ø"/>
            </a:pPr>
            <a:r>
              <a:rPr lang="en-US" sz="2400" dirty="0"/>
              <a:t>Transactional Analysis (TA) is related to. </a:t>
            </a:r>
          </a:p>
          <a:p>
            <a:pPr algn="just">
              <a:buFont typeface="Wingdings" panose="05000000000000000000" pitchFamily="2" charset="2"/>
              <a:buChar char="Ø"/>
            </a:pPr>
            <a:r>
              <a:rPr lang="en-US" sz="2400" dirty="0"/>
              <a:t>(A) Learning. </a:t>
            </a:r>
          </a:p>
          <a:p>
            <a:pPr algn="just">
              <a:buFont typeface="Wingdings" panose="05000000000000000000" pitchFamily="2" charset="2"/>
              <a:buChar char="Ø"/>
            </a:pPr>
            <a:r>
              <a:rPr lang="en-US" sz="2400" dirty="0"/>
              <a:t>(B) Attitudes.</a:t>
            </a:r>
          </a:p>
          <a:p>
            <a:pPr algn="just">
              <a:buFont typeface="Wingdings" panose="05000000000000000000" pitchFamily="2" charset="2"/>
              <a:buChar char="Ø"/>
            </a:pPr>
            <a:r>
              <a:rPr lang="en-US" sz="2400" dirty="0"/>
              <a:t>(C) Perception. </a:t>
            </a:r>
          </a:p>
          <a:p>
            <a:pPr algn="just">
              <a:buFont typeface="Wingdings" panose="05000000000000000000" pitchFamily="2" charset="2"/>
              <a:buChar char="Ø"/>
            </a:pPr>
            <a:r>
              <a:rPr lang="en-US" sz="2400" dirty="0"/>
              <a:t>(D) Personality</a:t>
            </a:r>
          </a:p>
          <a:p>
            <a:pPr marL="0" indent="0" algn="just">
              <a:buNone/>
            </a:pPr>
            <a:endParaRPr lang="en-US" sz="2400" dirty="0"/>
          </a:p>
          <a:p>
            <a:endParaRPr lang="en-IN" sz="2400" dirty="0"/>
          </a:p>
        </p:txBody>
      </p:sp>
    </p:spTree>
    <p:extLst>
      <p:ext uri="{BB962C8B-B14F-4D97-AF65-F5344CB8AC3E}">
        <p14:creationId xmlns:p14="http://schemas.microsoft.com/office/powerpoint/2010/main" val="36719250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39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Transactional Analysis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a:t>
            </a:r>
          </a:p>
        </p:txBody>
      </p:sp>
      <p:sp>
        <p:nvSpPr>
          <p:cNvPr id="13" name="TextBox 12">
            <a:extLst>
              <a:ext uri="{FF2B5EF4-FFF2-40B4-BE49-F238E27FC236}">
                <a16:creationId xmlns:a16="http://schemas.microsoft.com/office/drawing/2014/main" id="{B7CDDDD1-0AE0-F73E-1DDF-59407E2F950E}"/>
              </a:ext>
            </a:extLst>
          </p:cNvPr>
          <p:cNvSpPr txBox="1"/>
          <p:nvPr/>
        </p:nvSpPr>
        <p:spPr>
          <a:xfrm>
            <a:off x="1200757" y="1217570"/>
            <a:ext cx="10004871" cy="1938992"/>
          </a:xfrm>
          <a:prstGeom prst="rect">
            <a:avLst/>
          </a:prstGeom>
          <a:noFill/>
        </p:spPr>
        <p:txBody>
          <a:bodyPr wrap="square">
            <a:spAutoFit/>
          </a:bodyPr>
          <a:lstStyle/>
          <a:p>
            <a:pPr algn="just"/>
            <a:r>
              <a:rPr lang="en-US" sz="2400" dirty="0"/>
              <a:t>Transactional analysis is a form of modern psychology that examines a person's relationships and interactions. It is a psychoanalytic theory and method of therapy that analyzes social interactions to determine the ego state of the communicator. </a:t>
            </a:r>
          </a:p>
          <a:p>
            <a:endParaRPr lang="en-US" sz="2400" dirty="0"/>
          </a:p>
        </p:txBody>
      </p:sp>
    </p:spTree>
    <p:extLst>
      <p:ext uri="{BB962C8B-B14F-4D97-AF65-F5344CB8AC3E}">
        <p14:creationId xmlns:p14="http://schemas.microsoft.com/office/powerpoint/2010/main" val="22609252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Transactional Analysis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13" name="TextBox 12">
            <a:extLst>
              <a:ext uri="{FF2B5EF4-FFF2-40B4-BE49-F238E27FC236}">
                <a16:creationId xmlns:a16="http://schemas.microsoft.com/office/drawing/2014/main" id="{B7CDDDD1-0AE0-F73E-1DDF-59407E2F950E}"/>
              </a:ext>
            </a:extLst>
          </p:cNvPr>
          <p:cNvSpPr txBox="1"/>
          <p:nvPr/>
        </p:nvSpPr>
        <p:spPr>
          <a:xfrm>
            <a:off x="1200757" y="1217570"/>
            <a:ext cx="10004871" cy="4154984"/>
          </a:xfrm>
          <a:prstGeom prst="rect">
            <a:avLst/>
          </a:prstGeom>
          <a:noFill/>
        </p:spPr>
        <p:txBody>
          <a:bodyPr wrap="square">
            <a:spAutoFit/>
          </a:bodyPr>
          <a:lstStyle/>
          <a:p>
            <a:pPr algn="just"/>
            <a:r>
              <a:rPr lang="en-US" sz="2400" dirty="0"/>
              <a:t>Developed  by  Canadian born US psychiatrist Eric Berne during the late 1950s.</a:t>
            </a:r>
          </a:p>
          <a:p>
            <a:pPr algn="just"/>
            <a:endParaRPr lang="en-US" sz="2400" dirty="0"/>
          </a:p>
          <a:p>
            <a:pPr algn="just"/>
            <a:r>
              <a:rPr lang="en-US" sz="2400" dirty="0"/>
              <a:t>Transactional Analysis (TA) is </a:t>
            </a:r>
            <a:r>
              <a:rPr lang="en-US" sz="2400" dirty="0" err="1"/>
              <a:t>is</a:t>
            </a:r>
            <a:r>
              <a:rPr lang="en-US" sz="2400" dirty="0"/>
              <a:t> a psychoanalytic theory and method of therapy, developed by Eric Berne during the 1950s. Transactions refer to the communication exchanges between people.</a:t>
            </a:r>
          </a:p>
          <a:p>
            <a:pPr algn="just"/>
            <a:endParaRPr lang="en-US" sz="2400" dirty="0"/>
          </a:p>
          <a:p>
            <a:pPr algn="just"/>
            <a:r>
              <a:rPr lang="en-US" sz="2400" dirty="0"/>
              <a:t>A model for explaining why and how:</a:t>
            </a:r>
          </a:p>
          <a:p>
            <a:pPr algn="just"/>
            <a:r>
              <a:rPr lang="en-US" sz="2400" dirty="0"/>
              <a:t>People think as they do</a:t>
            </a:r>
          </a:p>
          <a:p>
            <a:pPr algn="just"/>
            <a:r>
              <a:rPr lang="en-US" sz="2400" dirty="0"/>
              <a:t>People act like they do</a:t>
            </a:r>
          </a:p>
          <a:p>
            <a:pPr algn="just"/>
            <a:r>
              <a:rPr lang="en-US" sz="2400" dirty="0"/>
              <a:t>People interact/communicate with others</a:t>
            </a:r>
          </a:p>
          <a:p>
            <a:r>
              <a:rPr lang="en-US" sz="2400" dirty="0"/>
              <a:t>.</a:t>
            </a:r>
          </a:p>
        </p:txBody>
      </p:sp>
      <p:pic>
        <p:nvPicPr>
          <p:cNvPr id="9" name="Picture 8">
            <a:extLst>
              <a:ext uri="{FF2B5EF4-FFF2-40B4-BE49-F238E27FC236}">
                <a16:creationId xmlns:a16="http://schemas.microsoft.com/office/drawing/2014/main" id="{33E571FE-129C-B692-3A77-F850C621D98E}"/>
              </a:ext>
            </a:extLst>
          </p:cNvPr>
          <p:cNvPicPr>
            <a:picLocks noChangeAspect="1"/>
          </p:cNvPicPr>
          <p:nvPr/>
        </p:nvPicPr>
        <p:blipFill>
          <a:blip r:embed="rId4"/>
          <a:stretch>
            <a:fillRect/>
          </a:stretch>
        </p:blipFill>
        <p:spPr>
          <a:xfrm>
            <a:off x="9748558" y="3295062"/>
            <a:ext cx="1457070" cy="1981372"/>
          </a:xfrm>
          <a:prstGeom prst="rect">
            <a:avLst/>
          </a:prstGeom>
        </p:spPr>
      </p:pic>
    </p:spTree>
    <p:extLst>
      <p:ext uri="{BB962C8B-B14F-4D97-AF65-F5344CB8AC3E}">
        <p14:creationId xmlns:p14="http://schemas.microsoft.com/office/powerpoint/2010/main" val="1770718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41</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solidFill>
                  <a:prstClr val="black"/>
                </a:solidFill>
                <a:cs typeface="Times New Roman" panose="02020603050405020304" pitchFamily="18" charset="0"/>
              </a:rPr>
              <a:t>3 Ego States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a:t>
            </a:r>
          </a:p>
        </p:txBody>
      </p:sp>
      <p:sp>
        <p:nvSpPr>
          <p:cNvPr id="13" name="TextBox 12">
            <a:extLst>
              <a:ext uri="{FF2B5EF4-FFF2-40B4-BE49-F238E27FC236}">
                <a16:creationId xmlns:a16="http://schemas.microsoft.com/office/drawing/2014/main" id="{B7CDDDD1-0AE0-F73E-1DDF-59407E2F950E}"/>
              </a:ext>
            </a:extLst>
          </p:cNvPr>
          <p:cNvSpPr txBox="1"/>
          <p:nvPr/>
        </p:nvSpPr>
        <p:spPr>
          <a:xfrm>
            <a:off x="1200757" y="1217570"/>
            <a:ext cx="10004871" cy="461665"/>
          </a:xfrm>
          <a:prstGeom prst="rect">
            <a:avLst/>
          </a:prstGeom>
          <a:noFill/>
        </p:spPr>
        <p:txBody>
          <a:bodyPr wrap="square">
            <a:spAutoFit/>
          </a:bodyPr>
          <a:lstStyle/>
          <a:p>
            <a:r>
              <a:rPr lang="en-US" sz="2400" dirty="0"/>
              <a:t>.</a:t>
            </a:r>
          </a:p>
        </p:txBody>
      </p:sp>
      <p:pic>
        <p:nvPicPr>
          <p:cNvPr id="3" name="Picture 2">
            <a:extLst>
              <a:ext uri="{FF2B5EF4-FFF2-40B4-BE49-F238E27FC236}">
                <a16:creationId xmlns:a16="http://schemas.microsoft.com/office/drawing/2014/main" id="{432826B0-0AFD-9B62-7B07-AAC4AB1166E6}"/>
              </a:ext>
            </a:extLst>
          </p:cNvPr>
          <p:cNvPicPr>
            <a:picLocks noChangeAspect="1"/>
          </p:cNvPicPr>
          <p:nvPr/>
        </p:nvPicPr>
        <p:blipFill rotWithShape="1">
          <a:blip r:embed="rId4"/>
          <a:srcRect l="3943" t="5200" r="3486"/>
          <a:stretch/>
        </p:blipFill>
        <p:spPr>
          <a:xfrm>
            <a:off x="1687285" y="947266"/>
            <a:ext cx="8817429" cy="4514850"/>
          </a:xfrm>
          <a:prstGeom prst="rect">
            <a:avLst/>
          </a:prstGeom>
        </p:spPr>
      </p:pic>
    </p:spTree>
    <p:extLst>
      <p:ext uri="{BB962C8B-B14F-4D97-AF65-F5344CB8AC3E}">
        <p14:creationId xmlns:p14="http://schemas.microsoft.com/office/powerpoint/2010/main" val="32415726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2800" i="0" u="none" strike="noStrike" kern="1200" cap="none" spc="0" normalizeH="0" baseline="0" noProof="0" dirty="0">
                <a:ln>
                  <a:noFill/>
                </a:ln>
                <a:solidFill>
                  <a:srgbClr val="2D2D2D"/>
                </a:solidFill>
                <a:effectLst/>
                <a:uLnTx/>
                <a:uFillTx/>
                <a:latin typeface="Times New Roman" panose="02020603050405020304" pitchFamily="18" charset="0"/>
                <a:ea typeface="+mn-ea"/>
                <a:cs typeface="Times New Roman" panose="02020603050405020304" pitchFamily="18" charset="0"/>
              </a:rPr>
              <a:t>3 Ego States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a:t>
            </a:r>
          </a:p>
        </p:txBody>
      </p:sp>
      <p:sp>
        <p:nvSpPr>
          <p:cNvPr id="13" name="TextBox 12">
            <a:extLst>
              <a:ext uri="{FF2B5EF4-FFF2-40B4-BE49-F238E27FC236}">
                <a16:creationId xmlns:a16="http://schemas.microsoft.com/office/drawing/2014/main" id="{B7CDDDD1-0AE0-F73E-1DDF-59407E2F950E}"/>
              </a:ext>
            </a:extLst>
          </p:cNvPr>
          <p:cNvSpPr txBox="1"/>
          <p:nvPr/>
        </p:nvSpPr>
        <p:spPr>
          <a:xfrm>
            <a:off x="1200757" y="1217570"/>
            <a:ext cx="10004871" cy="2677656"/>
          </a:xfrm>
          <a:prstGeom prst="rect">
            <a:avLst/>
          </a:prstGeom>
          <a:noFill/>
        </p:spPr>
        <p:txBody>
          <a:bodyPr wrap="square">
            <a:spAutoFit/>
          </a:bodyPr>
          <a:lstStyle/>
          <a:p>
            <a:pPr algn="just"/>
            <a:r>
              <a:rPr lang="en-US" sz="2400" b="1" dirty="0"/>
              <a:t>Parent ego state: </a:t>
            </a:r>
            <a:r>
              <a:rPr lang="en-US" sz="2400" dirty="0"/>
              <a:t>Represents learned behaviors, attitudes, and values from authority figures.</a:t>
            </a:r>
          </a:p>
          <a:p>
            <a:pPr algn="just"/>
            <a:endParaRPr lang="en-US" sz="2400" dirty="0"/>
          </a:p>
          <a:p>
            <a:pPr algn="just"/>
            <a:r>
              <a:rPr lang="en-US" sz="2400" b="1" dirty="0"/>
              <a:t>Adult ego state: </a:t>
            </a:r>
            <a:r>
              <a:rPr lang="en-US" sz="2400" dirty="0"/>
              <a:t>Represents rational thinking and decision-making.</a:t>
            </a:r>
          </a:p>
          <a:p>
            <a:pPr algn="just"/>
            <a:endParaRPr lang="en-US" sz="2400" dirty="0"/>
          </a:p>
          <a:p>
            <a:pPr algn="just"/>
            <a:r>
              <a:rPr lang="en-US" sz="2400" b="1" dirty="0"/>
              <a:t>Child ego state: </a:t>
            </a:r>
            <a:r>
              <a:rPr lang="en-US" sz="2400" dirty="0"/>
              <a:t>Represents emotions, feelings, and behaviors learned during childhood.</a:t>
            </a:r>
          </a:p>
        </p:txBody>
      </p:sp>
    </p:spTree>
    <p:extLst>
      <p:ext uri="{BB962C8B-B14F-4D97-AF65-F5344CB8AC3E}">
        <p14:creationId xmlns:p14="http://schemas.microsoft.com/office/powerpoint/2010/main" val="7448695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43</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2800" i="0" u="none" strike="noStrike" kern="1200" cap="none" spc="0" normalizeH="0" baseline="0" noProof="0" dirty="0">
                <a:ln>
                  <a:noFill/>
                </a:ln>
                <a:solidFill>
                  <a:srgbClr val="2D2D2D"/>
                </a:solidFill>
                <a:effectLst/>
                <a:uLnTx/>
                <a:uFillTx/>
                <a:latin typeface="Times New Roman" panose="02020603050405020304" pitchFamily="18" charset="0"/>
                <a:ea typeface="+mn-ea"/>
                <a:cs typeface="Times New Roman" panose="02020603050405020304" pitchFamily="18" charset="0"/>
              </a:rPr>
              <a:t>Types of transaction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a:t>
            </a:r>
          </a:p>
        </p:txBody>
      </p:sp>
      <p:sp>
        <p:nvSpPr>
          <p:cNvPr id="13" name="TextBox 12">
            <a:extLst>
              <a:ext uri="{FF2B5EF4-FFF2-40B4-BE49-F238E27FC236}">
                <a16:creationId xmlns:a16="http://schemas.microsoft.com/office/drawing/2014/main" id="{B7CDDDD1-0AE0-F73E-1DDF-59407E2F950E}"/>
              </a:ext>
            </a:extLst>
          </p:cNvPr>
          <p:cNvSpPr txBox="1"/>
          <p:nvPr/>
        </p:nvSpPr>
        <p:spPr>
          <a:xfrm>
            <a:off x="1200757" y="1217570"/>
            <a:ext cx="10004871" cy="2677656"/>
          </a:xfrm>
          <a:prstGeom prst="rect">
            <a:avLst/>
          </a:prstGeom>
          <a:noFill/>
        </p:spPr>
        <p:txBody>
          <a:bodyPr wrap="square">
            <a:spAutoFit/>
          </a:bodyPr>
          <a:lstStyle/>
          <a:p>
            <a:pPr algn="just"/>
            <a:r>
              <a:rPr lang="en-US" sz="2400" dirty="0"/>
              <a:t>Complementary transactions- are when two people's ego states are sympathetic or complementary to one another.</a:t>
            </a:r>
          </a:p>
          <a:p>
            <a:pPr algn="just"/>
            <a:endParaRPr lang="en-US" sz="2400" dirty="0"/>
          </a:p>
          <a:p>
            <a:pPr algn="just"/>
            <a:r>
              <a:rPr lang="en-US" sz="2400" dirty="0"/>
              <a:t>Example: A  supervisor communicates in the parent-to-child ego when he reprimands an employee for being late. If the employee responds by apologizing and saying it won't happen again, the employee is in the child-to-parent ego state and the result is a complementary transaction.</a:t>
            </a:r>
          </a:p>
        </p:txBody>
      </p:sp>
    </p:spTree>
    <p:extLst>
      <p:ext uri="{BB962C8B-B14F-4D97-AF65-F5344CB8AC3E}">
        <p14:creationId xmlns:p14="http://schemas.microsoft.com/office/powerpoint/2010/main" val="329522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44</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2800" i="0" u="none" strike="noStrike" kern="1200" cap="none" spc="0" normalizeH="0" baseline="0" noProof="0" dirty="0">
                <a:ln>
                  <a:noFill/>
                </a:ln>
                <a:solidFill>
                  <a:srgbClr val="2D2D2D"/>
                </a:solidFill>
                <a:effectLst/>
                <a:uLnTx/>
                <a:uFillTx/>
                <a:latin typeface="Times New Roman" panose="02020603050405020304" pitchFamily="18" charset="0"/>
                <a:ea typeface="+mn-ea"/>
                <a:cs typeface="Times New Roman" panose="02020603050405020304" pitchFamily="18" charset="0"/>
              </a:rPr>
              <a:t>Crossed  transactions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a:t>
            </a:r>
          </a:p>
        </p:txBody>
      </p:sp>
      <p:pic>
        <p:nvPicPr>
          <p:cNvPr id="3" name="Picture 2">
            <a:extLst>
              <a:ext uri="{FF2B5EF4-FFF2-40B4-BE49-F238E27FC236}">
                <a16:creationId xmlns:a16="http://schemas.microsoft.com/office/drawing/2014/main" id="{A485BEFD-50E2-72C3-CC41-8423E6BF1B02}"/>
              </a:ext>
            </a:extLst>
          </p:cNvPr>
          <p:cNvPicPr>
            <a:picLocks noChangeAspect="1"/>
          </p:cNvPicPr>
          <p:nvPr/>
        </p:nvPicPr>
        <p:blipFill>
          <a:blip r:embed="rId4"/>
          <a:stretch>
            <a:fillRect/>
          </a:stretch>
        </p:blipFill>
        <p:spPr>
          <a:xfrm>
            <a:off x="298418" y="1692276"/>
            <a:ext cx="4584764" cy="3905250"/>
          </a:xfrm>
          <a:prstGeom prst="rect">
            <a:avLst/>
          </a:prstGeom>
        </p:spPr>
      </p:pic>
      <p:sp>
        <p:nvSpPr>
          <p:cNvPr id="9" name="TextBox 8">
            <a:extLst>
              <a:ext uri="{FF2B5EF4-FFF2-40B4-BE49-F238E27FC236}">
                <a16:creationId xmlns:a16="http://schemas.microsoft.com/office/drawing/2014/main" id="{28842549-9412-FD46-DB75-917E7693F1FE}"/>
              </a:ext>
            </a:extLst>
          </p:cNvPr>
          <p:cNvSpPr txBox="1"/>
          <p:nvPr/>
        </p:nvSpPr>
        <p:spPr>
          <a:xfrm>
            <a:off x="6150429" y="1900535"/>
            <a:ext cx="5055199" cy="1938992"/>
          </a:xfrm>
          <a:prstGeom prst="rect">
            <a:avLst/>
          </a:prstGeom>
          <a:noFill/>
        </p:spPr>
        <p:txBody>
          <a:bodyPr wrap="square">
            <a:spAutoFit/>
          </a:bodyPr>
          <a:lstStyle/>
          <a:p>
            <a:pPr algn="just"/>
            <a:r>
              <a:rPr lang="en-US" sz="2400" b="1" dirty="0"/>
              <a:t>Crossed  transactions- </a:t>
            </a:r>
            <a:r>
              <a:rPr lang="en-US" sz="2400" dirty="0"/>
              <a:t>Crossed transactions happen when Person 1 says something from one ego state, and receives a different response than he/she is expecting.</a:t>
            </a:r>
          </a:p>
        </p:txBody>
      </p:sp>
    </p:spTree>
    <p:extLst>
      <p:ext uri="{BB962C8B-B14F-4D97-AF65-F5344CB8AC3E}">
        <p14:creationId xmlns:p14="http://schemas.microsoft.com/office/powerpoint/2010/main" val="28249468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2800" i="0" u="none" strike="noStrike" kern="1200" cap="none" spc="0" normalizeH="0" baseline="0" noProof="0" dirty="0">
                <a:ln>
                  <a:noFill/>
                </a:ln>
                <a:solidFill>
                  <a:srgbClr val="2D2D2D"/>
                </a:solidFill>
                <a:effectLst/>
                <a:uLnTx/>
                <a:uFillTx/>
                <a:latin typeface="Times New Roman" panose="02020603050405020304" pitchFamily="18" charset="0"/>
                <a:ea typeface="+mn-ea"/>
                <a:cs typeface="Times New Roman" panose="02020603050405020304" pitchFamily="18" charset="0"/>
              </a:rPr>
              <a:t>Ulterior Transactions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a:t>
            </a:r>
          </a:p>
        </p:txBody>
      </p:sp>
      <p:sp>
        <p:nvSpPr>
          <p:cNvPr id="9" name="TextBox 8">
            <a:extLst>
              <a:ext uri="{FF2B5EF4-FFF2-40B4-BE49-F238E27FC236}">
                <a16:creationId xmlns:a16="http://schemas.microsoft.com/office/drawing/2014/main" id="{28842549-9412-FD46-DB75-917E7693F1FE}"/>
              </a:ext>
            </a:extLst>
          </p:cNvPr>
          <p:cNvSpPr txBox="1"/>
          <p:nvPr/>
        </p:nvSpPr>
        <p:spPr>
          <a:xfrm>
            <a:off x="6150429" y="1900535"/>
            <a:ext cx="5055199" cy="2308324"/>
          </a:xfrm>
          <a:prstGeom prst="rect">
            <a:avLst/>
          </a:prstGeom>
          <a:noFill/>
        </p:spPr>
        <p:txBody>
          <a:bodyPr wrap="square">
            <a:spAutoFit/>
          </a:bodyPr>
          <a:lstStyle/>
          <a:p>
            <a:pPr algn="just"/>
            <a:r>
              <a:rPr lang="en-US" sz="2400" b="1" dirty="0"/>
              <a:t>Crossed  transactions- </a:t>
            </a:r>
            <a:r>
              <a:rPr lang="en-US" sz="2400" dirty="0"/>
              <a:t>In ulterior transactions two messages are conveyed at the same time — a social message on top and the psychological message at the bottom.</a:t>
            </a:r>
          </a:p>
          <a:p>
            <a:pPr algn="just"/>
            <a:endParaRPr lang="en-US" sz="2400" dirty="0"/>
          </a:p>
        </p:txBody>
      </p:sp>
      <p:pic>
        <p:nvPicPr>
          <p:cNvPr id="5" name="Picture 4">
            <a:extLst>
              <a:ext uri="{FF2B5EF4-FFF2-40B4-BE49-F238E27FC236}">
                <a16:creationId xmlns:a16="http://schemas.microsoft.com/office/drawing/2014/main" id="{EB628DB4-F6E5-C81C-024E-EB408C598639}"/>
              </a:ext>
            </a:extLst>
          </p:cNvPr>
          <p:cNvPicPr>
            <a:picLocks noChangeAspect="1"/>
          </p:cNvPicPr>
          <p:nvPr/>
        </p:nvPicPr>
        <p:blipFill>
          <a:blip r:embed="rId4"/>
          <a:stretch>
            <a:fillRect/>
          </a:stretch>
        </p:blipFill>
        <p:spPr>
          <a:xfrm>
            <a:off x="1346018" y="1894536"/>
            <a:ext cx="3099163" cy="3352799"/>
          </a:xfrm>
          <a:prstGeom prst="rect">
            <a:avLst/>
          </a:prstGeom>
        </p:spPr>
      </p:pic>
    </p:spTree>
    <p:extLst>
      <p:ext uri="{BB962C8B-B14F-4D97-AF65-F5344CB8AC3E}">
        <p14:creationId xmlns:p14="http://schemas.microsoft.com/office/powerpoint/2010/main" val="26631756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i="0" u="none" strike="noStrike" kern="1200" cap="none" spc="0" normalizeH="0" baseline="0" noProof="0" dirty="0">
                <a:ln>
                  <a:noFill/>
                </a:ln>
                <a:solidFill>
                  <a:prstClr val="black"/>
                </a:solidFill>
                <a:effectLst/>
                <a:uLnTx/>
                <a:uFillTx/>
                <a:cs typeface="Times New Roman" panose="02020603050405020304" pitchFamily="18" charset="0"/>
              </a:rPr>
              <a:t>Motivation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5" name="Content Placeholder 6">
            <a:extLst>
              <a:ext uri="{FF2B5EF4-FFF2-40B4-BE49-F238E27FC236}">
                <a16:creationId xmlns:a16="http://schemas.microsoft.com/office/drawing/2014/main" id="{1E2F00D8-0706-CE09-6B28-9A41E3C1FB65}"/>
              </a:ext>
            </a:extLst>
          </p:cNvPr>
          <p:cNvPicPr>
            <a:picLocks noGrp="1" noChangeAspect="1"/>
          </p:cNvPicPr>
          <p:nvPr>
            <p:ph idx="1"/>
          </p:nvPr>
        </p:nvPicPr>
        <p:blipFill>
          <a:blip r:embed="rId4"/>
          <a:stretch>
            <a:fillRect/>
          </a:stretch>
        </p:blipFill>
        <p:spPr>
          <a:xfrm>
            <a:off x="2786743" y="975519"/>
            <a:ext cx="8418884" cy="5119364"/>
          </a:xfrm>
          <a:prstGeom prst="rect">
            <a:avLst/>
          </a:prstGeom>
        </p:spPr>
      </p:pic>
    </p:spTree>
    <p:extLst>
      <p:ext uri="{BB962C8B-B14F-4D97-AF65-F5344CB8AC3E}">
        <p14:creationId xmlns:p14="http://schemas.microsoft.com/office/powerpoint/2010/main" val="10369821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i="0" u="none" strike="noStrike" kern="1200" cap="none" spc="0" normalizeH="0" baseline="0" noProof="0" dirty="0">
                <a:ln>
                  <a:noFill/>
                </a:ln>
                <a:solidFill>
                  <a:prstClr val="black"/>
                </a:solidFill>
                <a:effectLst/>
                <a:uLnTx/>
                <a:uFillTx/>
                <a:cs typeface="Times New Roman" panose="02020603050405020304" pitchFamily="18" charset="0"/>
              </a:rPr>
              <a:t>Motivation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4" name="Content Placeholder 3">
            <a:extLst>
              <a:ext uri="{FF2B5EF4-FFF2-40B4-BE49-F238E27FC236}">
                <a16:creationId xmlns:a16="http://schemas.microsoft.com/office/drawing/2014/main" id="{20E4D313-77F8-D1DA-186F-C342C3199EEA}"/>
              </a:ext>
            </a:extLst>
          </p:cNvPr>
          <p:cNvSpPr>
            <a:spLocks noGrp="1"/>
          </p:cNvSpPr>
          <p:nvPr>
            <p:ph idx="1"/>
          </p:nvPr>
        </p:nvSpPr>
        <p:spPr>
          <a:xfrm>
            <a:off x="690028" y="947268"/>
            <a:ext cx="10515600" cy="5409081"/>
          </a:xfrm>
        </p:spPr>
        <p:txBody>
          <a:bodyPr>
            <a:normAutofit/>
          </a:bodyPr>
          <a:lstStyle/>
          <a:p>
            <a:pPr algn="just"/>
            <a:r>
              <a:rPr lang="en-US" sz="2400" dirty="0"/>
              <a:t>Motivation is a psychological process through which a person acts or behaves towards a particular task or activity from start to completion. Motivation drives or pushes a person to behave in a particular way. When the motivation is positive, a person is happy, energetic, enthusiastic &amp; self-driven to perform the work. When it is negative motivation, a person is demoralized, sad, lethargic &amp; pessimistic leading to a drop in productivity and performance.</a:t>
            </a:r>
          </a:p>
        </p:txBody>
      </p:sp>
    </p:spTree>
    <p:extLst>
      <p:ext uri="{BB962C8B-B14F-4D97-AF65-F5344CB8AC3E}">
        <p14:creationId xmlns:p14="http://schemas.microsoft.com/office/powerpoint/2010/main" val="23644129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Types of Motivation</a:t>
            </a:r>
            <a:endParaRPr kumimoji="0" lang="en-US" i="0" u="none" strike="noStrike" kern="1200" cap="none" spc="0" normalizeH="0" baseline="0" noProof="0" dirty="0">
              <a:ln>
                <a:noFill/>
              </a:ln>
              <a:solidFill>
                <a:prstClr val="black"/>
              </a:solidFill>
              <a:effectLst/>
              <a:uLnTx/>
              <a:uFillTx/>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5" name="Content Placeholder 4">
            <a:extLst>
              <a:ext uri="{FF2B5EF4-FFF2-40B4-BE49-F238E27FC236}">
                <a16:creationId xmlns:a16="http://schemas.microsoft.com/office/drawing/2014/main" id="{BF5BA500-C0E1-8470-A733-4D2F3A39FD7C}"/>
              </a:ext>
            </a:extLst>
          </p:cNvPr>
          <p:cNvPicPr>
            <a:picLocks noGrp="1" noChangeAspect="1"/>
          </p:cNvPicPr>
          <p:nvPr>
            <p:ph idx="1"/>
          </p:nvPr>
        </p:nvPicPr>
        <p:blipFill>
          <a:blip r:embed="rId4"/>
          <a:stretch>
            <a:fillRect/>
          </a:stretch>
        </p:blipFill>
        <p:spPr>
          <a:xfrm>
            <a:off x="2394857" y="1556657"/>
            <a:ext cx="8730343" cy="3918857"/>
          </a:xfrm>
          <a:prstGeom prst="rect">
            <a:avLst/>
          </a:prstGeom>
        </p:spPr>
      </p:pic>
    </p:spTree>
    <p:extLst>
      <p:ext uri="{BB962C8B-B14F-4D97-AF65-F5344CB8AC3E}">
        <p14:creationId xmlns:p14="http://schemas.microsoft.com/office/powerpoint/2010/main" val="22254522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Extrinsic &amp; Intrinsic Motivation</a:t>
            </a:r>
            <a:endParaRPr kumimoji="0" lang="en-US" i="0" u="none" strike="noStrike" kern="1200" cap="none" spc="0" normalizeH="0" baseline="0" noProof="0" dirty="0">
              <a:ln>
                <a:noFill/>
              </a:ln>
              <a:solidFill>
                <a:prstClr val="black"/>
              </a:solidFill>
              <a:effectLst/>
              <a:uLnTx/>
              <a:uFillTx/>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9" name="Picture 8">
            <a:extLst>
              <a:ext uri="{FF2B5EF4-FFF2-40B4-BE49-F238E27FC236}">
                <a16:creationId xmlns:a16="http://schemas.microsoft.com/office/drawing/2014/main" id="{A5A605B4-9E99-B3B0-FD97-E46C8BA90A42}"/>
              </a:ext>
            </a:extLst>
          </p:cNvPr>
          <p:cNvPicPr>
            <a:picLocks noChangeAspect="1"/>
          </p:cNvPicPr>
          <p:nvPr/>
        </p:nvPicPr>
        <p:blipFill rotWithShape="1">
          <a:blip r:embed="rId4"/>
          <a:srcRect b="4314"/>
          <a:stretch/>
        </p:blipFill>
        <p:spPr>
          <a:xfrm>
            <a:off x="2521901" y="1239476"/>
            <a:ext cx="8352928" cy="4563199"/>
          </a:xfrm>
          <a:prstGeom prst="rect">
            <a:avLst/>
          </a:prstGeom>
        </p:spPr>
      </p:pic>
    </p:spTree>
    <p:extLst>
      <p:ext uri="{BB962C8B-B14F-4D97-AF65-F5344CB8AC3E}">
        <p14:creationId xmlns:p14="http://schemas.microsoft.com/office/powerpoint/2010/main" val="2361764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Positive and Negative Motivation</a:t>
            </a:r>
            <a:endParaRPr kumimoji="0" lang="en-US" i="0" u="none" strike="noStrike" kern="1200" cap="none" spc="0" normalizeH="0" baseline="0" noProof="0" dirty="0">
              <a:ln>
                <a:noFill/>
              </a:ln>
              <a:solidFill>
                <a:prstClr val="black"/>
              </a:solidFill>
              <a:effectLst/>
              <a:uLnTx/>
              <a:uFillTx/>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pic>
        <p:nvPicPr>
          <p:cNvPr id="3" name="Picture 2">
            <a:extLst>
              <a:ext uri="{FF2B5EF4-FFF2-40B4-BE49-F238E27FC236}">
                <a16:creationId xmlns:a16="http://schemas.microsoft.com/office/drawing/2014/main" id="{11A33835-8F52-7901-F888-57FFC54E56BE}"/>
              </a:ext>
            </a:extLst>
          </p:cNvPr>
          <p:cNvPicPr>
            <a:picLocks noChangeAspect="1"/>
          </p:cNvPicPr>
          <p:nvPr/>
        </p:nvPicPr>
        <p:blipFill rotWithShape="1">
          <a:blip r:embed="rId4"/>
          <a:srcRect l="4972" r="26175"/>
          <a:stretch/>
        </p:blipFill>
        <p:spPr>
          <a:xfrm>
            <a:off x="2348271" y="1277987"/>
            <a:ext cx="8568952" cy="4302026"/>
          </a:xfrm>
          <a:prstGeom prst="rect">
            <a:avLst/>
          </a:prstGeom>
        </p:spPr>
      </p:pic>
    </p:spTree>
    <p:extLst>
      <p:ext uri="{BB962C8B-B14F-4D97-AF65-F5344CB8AC3E}">
        <p14:creationId xmlns:p14="http://schemas.microsoft.com/office/powerpoint/2010/main" val="37812853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51</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Nature  of employee motivation</a:t>
            </a:r>
            <a:endParaRPr kumimoji="0" lang="en-US" i="0" u="none" strike="noStrike" kern="1200" cap="none" spc="0" normalizeH="0" baseline="0" noProof="0" dirty="0">
              <a:ln>
                <a:noFill/>
              </a:ln>
              <a:solidFill>
                <a:prstClr val="black"/>
              </a:solidFill>
              <a:effectLst/>
              <a:uLnTx/>
              <a:uFillTx/>
              <a:cs typeface="Times New Roman" panose="02020603050405020304" pitchFamily="18" charset="0"/>
            </a:endParaRP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294ABD6D-A2AB-4488-2029-FD4C98BB64C8}"/>
              </a:ext>
            </a:extLst>
          </p:cNvPr>
          <p:cNvSpPr txBox="1"/>
          <p:nvPr/>
        </p:nvSpPr>
        <p:spPr>
          <a:xfrm>
            <a:off x="2209800" y="1150461"/>
            <a:ext cx="8843428" cy="1938992"/>
          </a:xfrm>
          <a:prstGeom prst="rect">
            <a:avLst/>
          </a:prstGeom>
          <a:noFill/>
        </p:spPr>
        <p:txBody>
          <a:bodyPr wrap="square">
            <a:spAutoFit/>
          </a:bodyPr>
          <a:lstStyle/>
          <a:p>
            <a:pPr marL="342900" indent="-342900" algn="just">
              <a:buFont typeface="Arial" panose="020B0604020202020204" pitchFamily="34" charset="0"/>
              <a:buChar char="•"/>
            </a:pPr>
            <a:r>
              <a:rPr lang="en-US" sz="2400" dirty="0"/>
              <a:t>Motivation is an internal feeling</a:t>
            </a:r>
          </a:p>
          <a:p>
            <a:pPr marL="342900" indent="-342900" algn="just">
              <a:buFont typeface="Arial" panose="020B0604020202020204" pitchFamily="34" charset="0"/>
              <a:buChar char="•"/>
            </a:pPr>
            <a:r>
              <a:rPr lang="en-US" sz="2400" dirty="0"/>
              <a:t>Motivation produces goal-directed behavior</a:t>
            </a:r>
          </a:p>
          <a:p>
            <a:pPr marL="342900" indent="-342900" algn="just">
              <a:buFont typeface="Arial" panose="020B0604020202020204" pitchFamily="34" charset="0"/>
              <a:buChar char="•"/>
            </a:pPr>
            <a:r>
              <a:rPr lang="en-US" sz="2400" dirty="0"/>
              <a:t>Motivation can be either negative or positive</a:t>
            </a:r>
          </a:p>
          <a:p>
            <a:pPr marL="342900" indent="-342900" algn="just">
              <a:buFont typeface="Arial" panose="020B0604020202020204" pitchFamily="34" charset="0"/>
              <a:buChar char="•"/>
            </a:pPr>
            <a:r>
              <a:rPr lang="en-US" sz="2400" dirty="0"/>
              <a:t>Motivation is a complex process</a:t>
            </a:r>
          </a:p>
          <a:p>
            <a:pPr marL="342900" indent="-342900" algn="just">
              <a:buFont typeface="Arial" panose="020B0604020202020204" pitchFamily="34" charset="0"/>
              <a:buChar char="•"/>
            </a:pPr>
            <a:r>
              <a:rPr lang="en-US" sz="2400" dirty="0"/>
              <a:t>Continuous process</a:t>
            </a:r>
          </a:p>
        </p:txBody>
      </p:sp>
    </p:spTree>
    <p:extLst>
      <p:ext uri="{BB962C8B-B14F-4D97-AF65-F5344CB8AC3E}">
        <p14:creationId xmlns:p14="http://schemas.microsoft.com/office/powerpoint/2010/main" val="12331529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Objectives of Motivation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01516BBE-5479-34AD-DFC5-AF679898842D}"/>
              </a:ext>
            </a:extLst>
          </p:cNvPr>
          <p:cNvSpPr txBox="1"/>
          <p:nvPr/>
        </p:nvSpPr>
        <p:spPr>
          <a:xfrm>
            <a:off x="627143" y="947268"/>
            <a:ext cx="10578485" cy="3416320"/>
          </a:xfrm>
          <a:prstGeom prst="rect">
            <a:avLst/>
          </a:prstGeom>
          <a:noFill/>
        </p:spPr>
        <p:txBody>
          <a:bodyPr wrap="square">
            <a:spAutoFit/>
          </a:bodyPr>
          <a:lstStyle/>
          <a:p>
            <a:pPr marL="342900" indent="-342900" algn="just">
              <a:buFont typeface="Arial" panose="020B0604020202020204" pitchFamily="34" charset="0"/>
              <a:buChar char="•"/>
            </a:pPr>
            <a:r>
              <a:rPr lang="en-US" sz="2400" dirty="0"/>
              <a:t>Motivation helps to improve the performance level.</a:t>
            </a:r>
          </a:p>
          <a:p>
            <a:pPr algn="just"/>
            <a:endParaRPr lang="en-US" sz="2400" dirty="0"/>
          </a:p>
          <a:p>
            <a:pPr marL="342900" indent="-342900" algn="just">
              <a:buFont typeface="Arial" panose="020B0604020202020204" pitchFamily="34" charset="0"/>
              <a:buChar char="•"/>
            </a:pPr>
            <a:r>
              <a:rPr lang="en-US" sz="2400" dirty="0"/>
              <a:t>Motivation helps in changing a negative attitude to a positive attitude.</a:t>
            </a:r>
          </a:p>
          <a:p>
            <a:pPr algn="just"/>
            <a:endParaRPr lang="en-US" sz="2400" dirty="0"/>
          </a:p>
          <a:p>
            <a:pPr marL="342900" indent="-342900" algn="just">
              <a:buFont typeface="Arial" panose="020B0604020202020204" pitchFamily="34" charset="0"/>
              <a:buChar char="•"/>
            </a:pPr>
            <a:r>
              <a:rPr lang="en-US" sz="2400" dirty="0"/>
              <a:t>Motivation helps to reduce employee turnover.</a:t>
            </a:r>
          </a:p>
          <a:p>
            <a:pPr algn="just"/>
            <a:endParaRPr lang="en-US" sz="2400" dirty="0"/>
          </a:p>
          <a:p>
            <a:pPr marL="342900" indent="-342900" algn="just">
              <a:buFont typeface="Arial" panose="020B0604020202020204" pitchFamily="34" charset="0"/>
              <a:buChar char="•"/>
            </a:pPr>
            <a:r>
              <a:rPr lang="en-US" sz="2400" dirty="0"/>
              <a:t>Motivation helps to reduce absenteeism.</a:t>
            </a:r>
          </a:p>
          <a:p>
            <a:pPr algn="just"/>
            <a:endParaRPr lang="en-US" sz="2400" dirty="0"/>
          </a:p>
          <a:p>
            <a:pPr marL="342900" indent="-342900" algn="just">
              <a:buFont typeface="Arial" panose="020B0604020202020204" pitchFamily="34" charset="0"/>
              <a:buChar char="•"/>
            </a:pPr>
            <a:r>
              <a:rPr lang="en-US" sz="2400" dirty="0"/>
              <a:t>Motivation helps to introduce changes smoothly.</a:t>
            </a:r>
          </a:p>
        </p:txBody>
      </p:sp>
    </p:spTree>
    <p:extLst>
      <p:ext uri="{BB962C8B-B14F-4D97-AF65-F5344CB8AC3E}">
        <p14:creationId xmlns:p14="http://schemas.microsoft.com/office/powerpoint/2010/main" val="6926365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53</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Process of motivation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337B209A-A987-9269-1C0B-8D3C1262D99A}"/>
              </a:ext>
            </a:extLst>
          </p:cNvPr>
          <p:cNvPicPr>
            <a:picLocks noChangeAspect="1"/>
          </p:cNvPicPr>
          <p:nvPr/>
        </p:nvPicPr>
        <p:blipFill>
          <a:blip r:embed="rId4"/>
          <a:stretch>
            <a:fillRect/>
          </a:stretch>
        </p:blipFill>
        <p:spPr>
          <a:xfrm>
            <a:off x="2002972" y="1077686"/>
            <a:ext cx="9202656" cy="5017197"/>
          </a:xfrm>
          <a:prstGeom prst="rect">
            <a:avLst/>
          </a:prstGeom>
        </p:spPr>
      </p:pic>
    </p:spTree>
    <p:extLst>
      <p:ext uri="{BB962C8B-B14F-4D97-AF65-F5344CB8AC3E}">
        <p14:creationId xmlns:p14="http://schemas.microsoft.com/office/powerpoint/2010/main" val="7225823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54</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Theories of motivation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7226162E-D150-7B91-6E70-EFFD08D799B6}"/>
              </a:ext>
            </a:extLst>
          </p:cNvPr>
          <p:cNvPicPr>
            <a:picLocks noChangeAspect="1"/>
          </p:cNvPicPr>
          <p:nvPr/>
        </p:nvPicPr>
        <p:blipFill>
          <a:blip r:embed="rId4"/>
          <a:stretch>
            <a:fillRect/>
          </a:stretch>
        </p:blipFill>
        <p:spPr>
          <a:xfrm>
            <a:off x="1589314" y="1781174"/>
            <a:ext cx="9427029" cy="4097111"/>
          </a:xfrm>
          <a:prstGeom prst="rect">
            <a:avLst/>
          </a:prstGeom>
        </p:spPr>
      </p:pic>
    </p:spTree>
    <p:extLst>
      <p:ext uri="{BB962C8B-B14F-4D97-AF65-F5344CB8AC3E}">
        <p14:creationId xmlns:p14="http://schemas.microsoft.com/office/powerpoint/2010/main" val="21719543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Maslow’s Theory of Motivation</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921E19BC-FC71-BDB4-3569-E334A346A56D}"/>
              </a:ext>
            </a:extLst>
          </p:cNvPr>
          <p:cNvPicPr>
            <a:picLocks noChangeAspect="1"/>
          </p:cNvPicPr>
          <p:nvPr/>
        </p:nvPicPr>
        <p:blipFill>
          <a:blip r:embed="rId4"/>
          <a:stretch>
            <a:fillRect/>
          </a:stretch>
        </p:blipFill>
        <p:spPr>
          <a:xfrm>
            <a:off x="2976562" y="947268"/>
            <a:ext cx="6238875" cy="5458294"/>
          </a:xfrm>
          <a:prstGeom prst="rect">
            <a:avLst/>
          </a:prstGeom>
        </p:spPr>
      </p:pic>
    </p:spTree>
    <p:extLst>
      <p:ext uri="{BB962C8B-B14F-4D97-AF65-F5344CB8AC3E}">
        <p14:creationId xmlns:p14="http://schemas.microsoft.com/office/powerpoint/2010/main" val="14649216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Herzberg’s Two Factor Theory</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E831DA0F-9830-2F01-5D2B-415DC3BBE771}"/>
              </a:ext>
            </a:extLst>
          </p:cNvPr>
          <p:cNvSpPr txBox="1"/>
          <p:nvPr/>
        </p:nvSpPr>
        <p:spPr>
          <a:xfrm>
            <a:off x="446314" y="1194138"/>
            <a:ext cx="10759314" cy="3046988"/>
          </a:xfrm>
          <a:prstGeom prst="rect">
            <a:avLst/>
          </a:prstGeom>
          <a:noFill/>
        </p:spPr>
        <p:txBody>
          <a:bodyPr wrap="square">
            <a:spAutoFit/>
          </a:bodyPr>
          <a:lstStyle/>
          <a:p>
            <a:pPr marL="0" indent="0" algn="just">
              <a:buNone/>
            </a:pPr>
            <a:r>
              <a:rPr lang="en-US" sz="2400" dirty="0"/>
              <a:t>Herzberg and his associates conducted a research based on the interview of 200 engineers and accountants who worked for eleven different firms in the Pittsburgh area.</a:t>
            </a:r>
          </a:p>
          <a:p>
            <a:pPr marL="0" indent="0" algn="just">
              <a:buNone/>
            </a:pPr>
            <a:r>
              <a:rPr lang="en-US" sz="2400" dirty="0"/>
              <a:t>Two Factors-</a:t>
            </a:r>
          </a:p>
          <a:p>
            <a:pPr marL="0" indent="0" algn="just">
              <a:buNone/>
            </a:pPr>
            <a:r>
              <a:rPr lang="en-US" sz="2400" dirty="0"/>
              <a:t>1- Hygiene Factor</a:t>
            </a:r>
          </a:p>
          <a:p>
            <a:pPr marL="0" indent="0" algn="just">
              <a:buNone/>
            </a:pPr>
            <a:r>
              <a:rPr lang="en-US" sz="2400" dirty="0"/>
              <a:t>2. Motivation Factor</a:t>
            </a:r>
          </a:p>
          <a:p>
            <a:pPr marL="0" indent="0" algn="just">
              <a:buNone/>
            </a:pPr>
            <a:endParaRPr lang="en-US" sz="2400" dirty="0"/>
          </a:p>
          <a:p>
            <a:pPr algn="just"/>
            <a:endParaRPr lang="en-US" sz="2400" dirty="0"/>
          </a:p>
        </p:txBody>
      </p:sp>
      <p:pic>
        <p:nvPicPr>
          <p:cNvPr id="4" name="Picture 3">
            <a:extLst>
              <a:ext uri="{FF2B5EF4-FFF2-40B4-BE49-F238E27FC236}">
                <a16:creationId xmlns:a16="http://schemas.microsoft.com/office/drawing/2014/main" id="{6C9467FE-B062-3863-E2BF-15050719D5A5}"/>
              </a:ext>
            </a:extLst>
          </p:cNvPr>
          <p:cNvPicPr>
            <a:picLocks noChangeAspect="1"/>
          </p:cNvPicPr>
          <p:nvPr/>
        </p:nvPicPr>
        <p:blipFill>
          <a:blip r:embed="rId4"/>
          <a:stretch>
            <a:fillRect/>
          </a:stretch>
        </p:blipFill>
        <p:spPr>
          <a:xfrm>
            <a:off x="1545772" y="3502462"/>
            <a:ext cx="8795656" cy="2666604"/>
          </a:xfrm>
          <a:prstGeom prst="rect">
            <a:avLst/>
          </a:prstGeom>
        </p:spPr>
      </p:pic>
    </p:spTree>
    <p:extLst>
      <p:ext uri="{BB962C8B-B14F-4D97-AF65-F5344CB8AC3E}">
        <p14:creationId xmlns:p14="http://schemas.microsoft.com/office/powerpoint/2010/main" val="215820513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McClelland’s theory of needs</a:t>
            </a:r>
          </a:p>
        </p:txBody>
      </p:sp>
      <p:sp>
        <p:nvSpPr>
          <p:cNvPr id="10" name="Footer Placeholder 9"/>
          <p:cNvSpPr>
            <a:spLocks noGrp="1"/>
          </p:cNvSpPr>
          <p:nvPr>
            <p:ph type="ftr" sz="quarter" idx="11"/>
          </p:nvPr>
        </p:nvSpPr>
        <p:spPr>
          <a:xfrm>
            <a:off x="4038600" y="6356351"/>
            <a:ext cx="5029200" cy="365125"/>
          </a:xfrm>
        </p:spPr>
        <p:txBody>
          <a:bodyPr/>
          <a:lstStyle/>
          <a:p>
            <a:r>
              <a:rPr lang="en-US"/>
              <a:t>Faculty Name             Subject code and abbreviation                Unit Number</a:t>
            </a:r>
            <a:endParaRPr lang="en-US" dirty="0"/>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E831DA0F-9830-2F01-5D2B-415DC3BBE771}"/>
              </a:ext>
            </a:extLst>
          </p:cNvPr>
          <p:cNvSpPr txBox="1"/>
          <p:nvPr/>
        </p:nvSpPr>
        <p:spPr>
          <a:xfrm>
            <a:off x="446314" y="1194138"/>
            <a:ext cx="10759314" cy="461665"/>
          </a:xfrm>
          <a:prstGeom prst="rect">
            <a:avLst/>
          </a:prstGeom>
          <a:noFill/>
        </p:spPr>
        <p:txBody>
          <a:bodyPr wrap="square">
            <a:spAutoFit/>
          </a:bodyPr>
          <a:lstStyle/>
          <a:p>
            <a:pPr algn="just"/>
            <a:r>
              <a:rPr lang="en-US" sz="2400" dirty="0"/>
              <a:t> </a:t>
            </a:r>
          </a:p>
        </p:txBody>
      </p:sp>
      <p:pic>
        <p:nvPicPr>
          <p:cNvPr id="4" name="Picture 3">
            <a:extLst>
              <a:ext uri="{FF2B5EF4-FFF2-40B4-BE49-F238E27FC236}">
                <a16:creationId xmlns:a16="http://schemas.microsoft.com/office/drawing/2014/main" id="{4C5D7858-E7E2-110D-6068-1870EDC44CA5}"/>
              </a:ext>
            </a:extLst>
          </p:cNvPr>
          <p:cNvPicPr>
            <a:picLocks noChangeAspect="1"/>
          </p:cNvPicPr>
          <p:nvPr/>
        </p:nvPicPr>
        <p:blipFill>
          <a:blip r:embed="rId4"/>
          <a:srcRect l="757" t="-166"/>
          <a:stretch/>
        </p:blipFill>
        <p:spPr>
          <a:xfrm>
            <a:off x="2645228" y="1447800"/>
            <a:ext cx="8560399" cy="4691743"/>
          </a:xfrm>
          <a:prstGeom prst="rect">
            <a:avLst/>
          </a:prstGeom>
        </p:spPr>
      </p:pic>
    </p:spTree>
    <p:extLst>
      <p:ext uri="{BB962C8B-B14F-4D97-AF65-F5344CB8AC3E}">
        <p14:creationId xmlns:p14="http://schemas.microsoft.com/office/powerpoint/2010/main" val="320115643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Alderfer’s ERG Theory</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3C9B28CF-C429-DD59-EBC1-0F9BAA5175E6}"/>
              </a:ext>
            </a:extLst>
          </p:cNvPr>
          <p:cNvPicPr>
            <a:picLocks noChangeAspect="1"/>
          </p:cNvPicPr>
          <p:nvPr/>
        </p:nvPicPr>
        <p:blipFill>
          <a:blip r:embed="rId4"/>
          <a:stretch>
            <a:fillRect/>
          </a:stretch>
        </p:blipFill>
        <p:spPr>
          <a:xfrm>
            <a:off x="1784487" y="947268"/>
            <a:ext cx="8623026" cy="4920132"/>
          </a:xfrm>
          <a:prstGeom prst="rect">
            <a:avLst/>
          </a:prstGeom>
        </p:spPr>
      </p:pic>
    </p:spTree>
    <p:extLst>
      <p:ext uri="{BB962C8B-B14F-4D97-AF65-F5344CB8AC3E}">
        <p14:creationId xmlns:p14="http://schemas.microsoft.com/office/powerpoint/2010/main" val="33185174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59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Vroom’s Expectancy Theory</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E831DA0F-9830-2F01-5D2B-415DC3BBE771}"/>
              </a:ext>
            </a:extLst>
          </p:cNvPr>
          <p:cNvSpPr txBox="1"/>
          <p:nvPr/>
        </p:nvSpPr>
        <p:spPr>
          <a:xfrm>
            <a:off x="446314" y="1194138"/>
            <a:ext cx="10759314" cy="2677656"/>
          </a:xfrm>
          <a:prstGeom prst="rect">
            <a:avLst/>
          </a:prstGeom>
          <a:noFill/>
        </p:spPr>
        <p:txBody>
          <a:bodyPr wrap="square">
            <a:spAutoFit/>
          </a:bodyPr>
          <a:lstStyle/>
          <a:p>
            <a:pPr algn="just" fontAlgn="auto"/>
            <a:r>
              <a:rPr lang="en-US" sz="2400" i="0" dirty="0">
                <a:effectLst/>
                <a:cs typeface="Times New Roman" panose="02020603050405020304" pitchFamily="18" charset="0"/>
              </a:rPr>
              <a:t>room’s expectancy theory of motivation says that individuals are motivated to do something by three things. They are motivated when they value the reward associated with an action, trust that they’ll receive the reward if they do a good job, and believe they can achieve their objectives by working hard.</a:t>
            </a:r>
          </a:p>
          <a:p>
            <a:pPr algn="just" fontAlgn="auto"/>
            <a:endParaRPr lang="en-US" sz="2400" dirty="0">
              <a:cs typeface="Times New Roman" panose="02020603050405020304" pitchFamily="18" charset="0"/>
            </a:endParaRPr>
          </a:p>
          <a:p>
            <a:pPr algn="just" fontAlgn="auto"/>
            <a:endParaRPr lang="en-US" sz="2400" i="0" dirty="0">
              <a:effectLst/>
              <a:cs typeface="Times New Roman" panose="02020603050405020304" pitchFamily="18" charset="0"/>
            </a:endParaRPr>
          </a:p>
          <a:p>
            <a:pPr algn="just" fontAlgn="auto"/>
            <a:endParaRPr lang="en-US" sz="2400" dirty="0"/>
          </a:p>
        </p:txBody>
      </p:sp>
      <p:pic>
        <p:nvPicPr>
          <p:cNvPr id="4" name="Picture 3">
            <a:extLst>
              <a:ext uri="{FF2B5EF4-FFF2-40B4-BE49-F238E27FC236}">
                <a16:creationId xmlns:a16="http://schemas.microsoft.com/office/drawing/2014/main" id="{E7B2E0F7-ECEE-A04A-B96E-A03A764275B8}"/>
              </a:ext>
            </a:extLst>
          </p:cNvPr>
          <p:cNvPicPr>
            <a:picLocks noChangeAspect="1"/>
          </p:cNvPicPr>
          <p:nvPr/>
        </p:nvPicPr>
        <p:blipFill>
          <a:blip r:embed="rId4"/>
          <a:stretch>
            <a:fillRect/>
          </a:stretch>
        </p:blipFill>
        <p:spPr>
          <a:xfrm>
            <a:off x="838200" y="3091543"/>
            <a:ext cx="9753600" cy="2155371"/>
          </a:xfrm>
          <a:prstGeom prst="rect">
            <a:avLst/>
          </a:prstGeom>
        </p:spPr>
      </p:pic>
      <p:sp>
        <p:nvSpPr>
          <p:cNvPr id="9" name="TextBox 8">
            <a:extLst>
              <a:ext uri="{FF2B5EF4-FFF2-40B4-BE49-F238E27FC236}">
                <a16:creationId xmlns:a16="http://schemas.microsoft.com/office/drawing/2014/main" id="{A33B8755-0229-1BD4-E356-C72065205427}"/>
              </a:ext>
            </a:extLst>
          </p:cNvPr>
          <p:cNvSpPr txBox="1"/>
          <p:nvPr/>
        </p:nvSpPr>
        <p:spPr>
          <a:xfrm>
            <a:off x="348343" y="4712607"/>
            <a:ext cx="10759314" cy="369332"/>
          </a:xfrm>
          <a:prstGeom prst="rect">
            <a:avLst/>
          </a:prstGeom>
          <a:noFill/>
        </p:spPr>
        <p:txBody>
          <a:bodyPr wrap="square">
            <a:spAutoFit/>
          </a:bodyPr>
          <a:lstStyle/>
          <a:p>
            <a:r>
              <a:rPr lang="en-US" b="0" i="0" dirty="0">
                <a:effectLst/>
                <a:latin typeface="Open Sans" panose="020B0606030504020204" pitchFamily="34" charset="0"/>
              </a:rPr>
              <a:t>Motivation is a function of valence, instrumentality and expectancy.</a:t>
            </a:r>
            <a:endParaRPr lang="en-IN" dirty="0"/>
          </a:p>
        </p:txBody>
      </p:sp>
    </p:spTree>
    <p:extLst>
      <p:ext uri="{BB962C8B-B14F-4D97-AF65-F5344CB8AC3E}">
        <p14:creationId xmlns:p14="http://schemas.microsoft.com/office/powerpoint/2010/main" val="75696568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Adams’ equity theory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E831DA0F-9830-2F01-5D2B-415DC3BBE771}"/>
              </a:ext>
            </a:extLst>
          </p:cNvPr>
          <p:cNvSpPr txBox="1"/>
          <p:nvPr/>
        </p:nvSpPr>
        <p:spPr>
          <a:xfrm>
            <a:off x="446314" y="1194138"/>
            <a:ext cx="10759314" cy="1938992"/>
          </a:xfrm>
          <a:prstGeom prst="rect">
            <a:avLst/>
          </a:prstGeom>
          <a:noFill/>
        </p:spPr>
        <p:txBody>
          <a:bodyPr wrap="square">
            <a:spAutoFit/>
          </a:bodyPr>
          <a:lstStyle/>
          <a:p>
            <a:pPr algn="just"/>
            <a:r>
              <a:rPr lang="en-US" sz="2400" b="0" i="0" dirty="0">
                <a:solidFill>
                  <a:srgbClr val="111111"/>
                </a:solidFill>
                <a:effectLst/>
              </a:rPr>
              <a:t>Adams’ equity theory is a </a:t>
            </a:r>
            <a:r>
              <a:rPr lang="en-US" sz="2400" b="1" i="0" dirty="0">
                <a:solidFill>
                  <a:srgbClr val="111111"/>
                </a:solidFill>
                <a:effectLst/>
              </a:rPr>
              <a:t>process model of motivation</a:t>
            </a:r>
            <a:r>
              <a:rPr lang="en-US" sz="2400" b="0" i="0" dirty="0">
                <a:solidFill>
                  <a:srgbClr val="111111"/>
                </a:solidFill>
                <a:effectLst/>
              </a:rPr>
              <a:t>. It says that the level of reward we receive, compared to our sense of our contribution, affects our motivation. The theory considers the concept of equality and fairness and the importance of comparison to others.</a:t>
            </a:r>
          </a:p>
          <a:p>
            <a:pPr algn="just"/>
            <a:endParaRPr lang="en-US" sz="2400" dirty="0">
              <a:cs typeface="Times New Roman" panose="02020603050405020304" pitchFamily="18" charset="0"/>
            </a:endParaRPr>
          </a:p>
        </p:txBody>
      </p:sp>
      <p:pic>
        <p:nvPicPr>
          <p:cNvPr id="4" name="Picture 3">
            <a:extLst>
              <a:ext uri="{FF2B5EF4-FFF2-40B4-BE49-F238E27FC236}">
                <a16:creationId xmlns:a16="http://schemas.microsoft.com/office/drawing/2014/main" id="{233F4A33-5374-DB55-17D5-405935AEEA31}"/>
              </a:ext>
            </a:extLst>
          </p:cNvPr>
          <p:cNvPicPr>
            <a:picLocks noChangeAspect="1"/>
          </p:cNvPicPr>
          <p:nvPr/>
        </p:nvPicPr>
        <p:blipFill>
          <a:blip r:embed="rId4"/>
          <a:stretch>
            <a:fillRect/>
          </a:stretch>
        </p:blipFill>
        <p:spPr>
          <a:xfrm>
            <a:off x="2688771" y="2832557"/>
            <a:ext cx="6705599" cy="3523793"/>
          </a:xfrm>
          <a:prstGeom prst="rect">
            <a:avLst/>
          </a:prstGeom>
        </p:spPr>
      </p:pic>
    </p:spTree>
    <p:extLst>
      <p:ext uri="{BB962C8B-B14F-4D97-AF65-F5344CB8AC3E}">
        <p14:creationId xmlns:p14="http://schemas.microsoft.com/office/powerpoint/2010/main" val="19614374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61</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Goal-setting theory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TextBox 11">
            <a:extLst>
              <a:ext uri="{FF2B5EF4-FFF2-40B4-BE49-F238E27FC236}">
                <a16:creationId xmlns:a16="http://schemas.microsoft.com/office/drawing/2014/main" id="{F2E91ABF-FDFF-BA40-6F91-4E74ABE09DAA}"/>
              </a:ext>
            </a:extLst>
          </p:cNvPr>
          <p:cNvSpPr txBox="1"/>
          <p:nvPr/>
        </p:nvSpPr>
        <p:spPr>
          <a:xfrm>
            <a:off x="783771" y="1242536"/>
            <a:ext cx="10650457" cy="1569660"/>
          </a:xfrm>
          <a:prstGeom prst="rect">
            <a:avLst/>
          </a:prstGeom>
          <a:noFill/>
        </p:spPr>
        <p:txBody>
          <a:bodyPr wrap="square">
            <a:spAutoFit/>
          </a:bodyPr>
          <a:lstStyle/>
          <a:p>
            <a:pPr algn="just"/>
            <a:r>
              <a:rPr lang="en-US" sz="2400" dirty="0"/>
              <a:t>Goal-setting theory is a concept that describes the strong link between goal setting and task motivation. It explains that creating specific, measurable, and difficult goals unlocks higher performance in individuals compared to easy goals that merely ask them to try their best.</a:t>
            </a:r>
            <a:endParaRPr lang="en-IN" sz="2400" dirty="0"/>
          </a:p>
        </p:txBody>
      </p:sp>
      <p:pic>
        <p:nvPicPr>
          <p:cNvPr id="13" name="Picture 12">
            <a:extLst>
              <a:ext uri="{FF2B5EF4-FFF2-40B4-BE49-F238E27FC236}">
                <a16:creationId xmlns:a16="http://schemas.microsoft.com/office/drawing/2014/main" id="{B9F5727F-04E1-B226-FCB7-87C4B5FB009E}"/>
              </a:ext>
            </a:extLst>
          </p:cNvPr>
          <p:cNvPicPr>
            <a:picLocks noChangeAspect="1"/>
          </p:cNvPicPr>
          <p:nvPr/>
        </p:nvPicPr>
        <p:blipFill>
          <a:blip r:embed="rId4"/>
          <a:srcRect t="8814" r="2500" b="8072"/>
          <a:stretch/>
        </p:blipFill>
        <p:spPr>
          <a:xfrm>
            <a:off x="1524000" y="3026229"/>
            <a:ext cx="8915400" cy="2808514"/>
          </a:xfrm>
          <a:prstGeom prst="rect">
            <a:avLst/>
          </a:prstGeom>
        </p:spPr>
      </p:pic>
    </p:spTree>
    <p:extLst>
      <p:ext uri="{BB962C8B-B14F-4D97-AF65-F5344CB8AC3E}">
        <p14:creationId xmlns:p14="http://schemas.microsoft.com/office/powerpoint/2010/main" val="6867900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Reinforcement Theory</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8C1B8B1C-9521-7F55-5109-F8B7B7864031}"/>
              </a:ext>
            </a:extLst>
          </p:cNvPr>
          <p:cNvPicPr>
            <a:picLocks noChangeAspect="1"/>
          </p:cNvPicPr>
          <p:nvPr/>
        </p:nvPicPr>
        <p:blipFill>
          <a:blip r:embed="rId4"/>
          <a:stretch>
            <a:fillRect/>
          </a:stretch>
        </p:blipFill>
        <p:spPr>
          <a:xfrm>
            <a:off x="2767295" y="1167188"/>
            <a:ext cx="6657409" cy="4523624"/>
          </a:xfrm>
          <a:prstGeom prst="rect">
            <a:avLst/>
          </a:prstGeom>
        </p:spPr>
      </p:pic>
    </p:spTree>
    <p:extLst>
      <p:ext uri="{BB962C8B-B14F-4D97-AF65-F5344CB8AC3E}">
        <p14:creationId xmlns:p14="http://schemas.microsoft.com/office/powerpoint/2010/main" val="16993441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63</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Reinforcement Theory</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5A438311-1119-0213-17A6-0BD6717631EA}"/>
              </a:ext>
            </a:extLst>
          </p:cNvPr>
          <p:cNvPicPr>
            <a:picLocks noChangeAspect="1"/>
          </p:cNvPicPr>
          <p:nvPr/>
        </p:nvPicPr>
        <p:blipFill>
          <a:blip r:embed="rId4"/>
          <a:stretch>
            <a:fillRect/>
          </a:stretch>
        </p:blipFill>
        <p:spPr>
          <a:xfrm>
            <a:off x="1523603" y="816637"/>
            <a:ext cx="9144793" cy="5224725"/>
          </a:xfrm>
          <a:prstGeom prst="rect">
            <a:avLst/>
          </a:prstGeom>
        </p:spPr>
      </p:pic>
    </p:spTree>
    <p:extLst>
      <p:ext uri="{BB962C8B-B14F-4D97-AF65-F5344CB8AC3E}">
        <p14:creationId xmlns:p14="http://schemas.microsoft.com/office/powerpoint/2010/main" val="365979212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64</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Daily Quiz</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5CDA288D-59A0-ADBD-11BC-8DC1E1A8EACD}"/>
              </a:ext>
            </a:extLst>
          </p:cNvPr>
          <p:cNvSpPr txBox="1"/>
          <p:nvPr/>
        </p:nvSpPr>
        <p:spPr>
          <a:xfrm>
            <a:off x="533400" y="1140883"/>
            <a:ext cx="10672228" cy="4893647"/>
          </a:xfrm>
          <a:prstGeom prst="rect">
            <a:avLst/>
          </a:prstGeom>
          <a:noFill/>
        </p:spPr>
        <p:txBody>
          <a:bodyPr wrap="square">
            <a:spAutoFit/>
          </a:bodyPr>
          <a:lstStyle/>
          <a:p>
            <a:pPr algn="just">
              <a:buFont typeface="Wingdings" panose="05000000000000000000" pitchFamily="2" charset="2"/>
              <a:buChar char="Ø"/>
            </a:pPr>
            <a:r>
              <a:rPr lang="en-US" sz="2400" dirty="0">
                <a:cs typeface="Times New Roman" panose="02020603050405020304" pitchFamily="18" charset="0"/>
              </a:rPr>
              <a:t>_____ theory argues that </a:t>
            </a:r>
            <a:r>
              <a:rPr lang="en-US" sz="2400" dirty="0" err="1">
                <a:cs typeface="Times New Roman" panose="02020603050405020304" pitchFamily="18" charset="0"/>
              </a:rPr>
              <a:t>behaviour</a:t>
            </a:r>
            <a:r>
              <a:rPr lang="en-US" sz="2400" dirty="0">
                <a:cs typeface="Times New Roman" panose="02020603050405020304" pitchFamily="18" charset="0"/>
              </a:rPr>
              <a:t> is a function of its consequences.</a:t>
            </a:r>
          </a:p>
          <a:p>
            <a:pPr algn="just">
              <a:buFont typeface="Wingdings" panose="05000000000000000000" pitchFamily="2" charset="2"/>
              <a:buChar char="Ø"/>
            </a:pPr>
            <a:r>
              <a:rPr lang="en-US" sz="2400" dirty="0">
                <a:cs typeface="Times New Roman" panose="02020603050405020304" pitchFamily="18" charset="0"/>
              </a:rPr>
              <a:t>	Equity</a:t>
            </a:r>
          </a:p>
          <a:p>
            <a:pPr algn="just">
              <a:buFont typeface="Wingdings" panose="05000000000000000000" pitchFamily="2" charset="2"/>
              <a:buChar char="Ø"/>
            </a:pPr>
            <a:r>
              <a:rPr lang="en-US" sz="2400" dirty="0">
                <a:cs typeface="Times New Roman" panose="02020603050405020304" pitchFamily="18" charset="0"/>
              </a:rPr>
              <a:t>	Reinforcement</a:t>
            </a:r>
          </a:p>
          <a:p>
            <a:pPr algn="just">
              <a:buFont typeface="Wingdings" panose="05000000000000000000" pitchFamily="2" charset="2"/>
              <a:buChar char="Ø"/>
            </a:pPr>
            <a:r>
              <a:rPr lang="en-US" sz="2400" dirty="0">
                <a:cs typeface="Times New Roman" panose="02020603050405020304" pitchFamily="18" charset="0"/>
              </a:rPr>
              <a:t>	Goal-setting</a:t>
            </a:r>
          </a:p>
          <a:p>
            <a:pPr algn="just">
              <a:buFont typeface="Wingdings" panose="05000000000000000000" pitchFamily="2" charset="2"/>
              <a:buChar char="Ø"/>
            </a:pPr>
            <a:r>
              <a:rPr lang="en-US" sz="2400" dirty="0">
                <a:cs typeface="Times New Roman" panose="02020603050405020304" pitchFamily="18" charset="0"/>
              </a:rPr>
              <a:t>	Expectancy</a:t>
            </a:r>
          </a:p>
          <a:p>
            <a:pPr algn="just">
              <a:buFont typeface="Wingdings" panose="05000000000000000000" pitchFamily="2" charset="2"/>
              <a:buChar char="Ø"/>
            </a:pPr>
            <a:endParaRPr lang="en-US" sz="2400" dirty="0">
              <a:cs typeface="Times New Roman" panose="02020603050405020304" pitchFamily="18" charset="0"/>
            </a:endParaRPr>
          </a:p>
          <a:p>
            <a:pPr algn="just">
              <a:buFont typeface="Wingdings" panose="05000000000000000000" pitchFamily="2" charset="2"/>
              <a:buChar char="Ø"/>
            </a:pPr>
            <a:endParaRPr lang="en-US" sz="2400" dirty="0">
              <a:cs typeface="Times New Roman" panose="02020603050405020304" pitchFamily="18" charset="0"/>
            </a:endParaRPr>
          </a:p>
          <a:p>
            <a:pPr algn="just">
              <a:buFont typeface="Wingdings" panose="05000000000000000000" pitchFamily="2" charset="2"/>
              <a:buChar char="Ø"/>
            </a:pPr>
            <a:r>
              <a:rPr lang="en-US" sz="2400" dirty="0">
                <a:cs typeface="Times New Roman" panose="02020603050405020304" pitchFamily="18" charset="0"/>
              </a:rPr>
              <a:t>_____ focuses on core job attributes, critical psychological states, and expected outcomes.</a:t>
            </a:r>
          </a:p>
          <a:p>
            <a:pPr algn="just">
              <a:buFont typeface="Wingdings" panose="05000000000000000000" pitchFamily="2" charset="2"/>
              <a:buChar char="Ø"/>
            </a:pPr>
            <a:r>
              <a:rPr lang="en-US" sz="2400" dirty="0">
                <a:cs typeface="Times New Roman" panose="02020603050405020304" pitchFamily="18" charset="0"/>
              </a:rPr>
              <a:t>a. The equity model</a:t>
            </a:r>
          </a:p>
          <a:p>
            <a:pPr algn="just">
              <a:buFont typeface="Wingdings" panose="05000000000000000000" pitchFamily="2" charset="2"/>
              <a:buChar char="Ø"/>
            </a:pPr>
            <a:r>
              <a:rPr lang="en-US" sz="2400" dirty="0">
                <a:cs typeface="Times New Roman" panose="02020603050405020304" pitchFamily="18" charset="0"/>
              </a:rPr>
              <a:t>b. The expectancy model</a:t>
            </a:r>
          </a:p>
          <a:p>
            <a:pPr algn="just">
              <a:buFont typeface="Wingdings" panose="05000000000000000000" pitchFamily="2" charset="2"/>
              <a:buChar char="Ø"/>
            </a:pPr>
            <a:r>
              <a:rPr lang="en-US" sz="2400" dirty="0">
                <a:cs typeface="Times New Roman" panose="02020603050405020304" pitchFamily="18" charset="0"/>
              </a:rPr>
              <a:t>c. The two-factor model</a:t>
            </a:r>
          </a:p>
          <a:p>
            <a:pPr algn="just">
              <a:buFont typeface="Wingdings" panose="05000000000000000000" pitchFamily="2" charset="2"/>
              <a:buChar char="Ø"/>
            </a:pPr>
            <a:r>
              <a:rPr lang="en-US" sz="2400" dirty="0">
                <a:cs typeface="Times New Roman" panose="02020603050405020304" pitchFamily="18" charset="0"/>
              </a:rPr>
              <a:t>d. The job characteristics model </a:t>
            </a:r>
          </a:p>
        </p:txBody>
      </p:sp>
    </p:spTree>
    <p:extLst>
      <p:ext uri="{BB962C8B-B14F-4D97-AF65-F5344CB8AC3E}">
        <p14:creationId xmlns:p14="http://schemas.microsoft.com/office/powerpoint/2010/main" val="38949507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65</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Daily Quiz</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5CDA288D-59A0-ADBD-11BC-8DC1E1A8EACD}"/>
              </a:ext>
            </a:extLst>
          </p:cNvPr>
          <p:cNvSpPr txBox="1"/>
          <p:nvPr/>
        </p:nvSpPr>
        <p:spPr>
          <a:xfrm>
            <a:off x="402772" y="947268"/>
            <a:ext cx="10672228" cy="5016758"/>
          </a:xfrm>
          <a:prstGeom prst="rect">
            <a:avLst/>
          </a:prstGeom>
          <a:noFill/>
        </p:spPr>
        <p:txBody>
          <a:bodyPr wrap="square">
            <a:spAutoFit/>
          </a:bodyPr>
          <a:lstStyle/>
          <a:p>
            <a:pPr algn="just">
              <a:buFont typeface="Wingdings" panose="05000000000000000000" pitchFamily="2" charset="2"/>
              <a:buChar char="Ø"/>
            </a:pPr>
            <a:r>
              <a:rPr lang="en-US" sz="2000" dirty="0">
                <a:cs typeface="Times New Roman" panose="02020603050405020304" pitchFamily="18" charset="0"/>
              </a:rPr>
              <a:t>Which is NOT a dimension in Maslow's Hierarchy of Needs?</a:t>
            </a:r>
          </a:p>
          <a:p>
            <a:pPr marL="457200" indent="-457200" algn="just">
              <a:buFont typeface="+mj-lt"/>
              <a:buAutoNum type="alphaLcParenR"/>
            </a:pPr>
            <a:r>
              <a:rPr lang="en-US" sz="2000" dirty="0">
                <a:cs typeface="Times New Roman" panose="02020603050405020304" pitchFamily="18" charset="0"/>
              </a:rPr>
              <a:t>	Ego</a:t>
            </a:r>
          </a:p>
          <a:p>
            <a:pPr marL="457200" indent="-457200" algn="just">
              <a:buFont typeface="+mj-lt"/>
              <a:buAutoNum type="alphaLcParenR"/>
            </a:pPr>
            <a:r>
              <a:rPr lang="en-US" sz="2000" dirty="0">
                <a:cs typeface="Times New Roman" panose="02020603050405020304" pitchFamily="18" charset="0"/>
              </a:rPr>
              <a:t>	Physiological</a:t>
            </a:r>
          </a:p>
          <a:p>
            <a:pPr marL="457200" indent="-457200" algn="just">
              <a:buFont typeface="+mj-lt"/>
              <a:buAutoNum type="alphaLcParenR"/>
            </a:pPr>
            <a:r>
              <a:rPr lang="en-US" sz="2000" dirty="0">
                <a:cs typeface="Times New Roman" panose="02020603050405020304" pitchFamily="18" charset="0"/>
              </a:rPr>
              <a:t>	Safety</a:t>
            </a:r>
          </a:p>
          <a:p>
            <a:pPr marL="457200" indent="-457200" algn="just">
              <a:buFont typeface="+mj-lt"/>
              <a:buAutoNum type="alphaLcParenR"/>
            </a:pPr>
            <a:r>
              <a:rPr lang="en-US" sz="2000" dirty="0">
                <a:cs typeface="Times New Roman" panose="02020603050405020304" pitchFamily="18" charset="0"/>
              </a:rPr>
              <a:t>	Esteem</a:t>
            </a:r>
          </a:p>
          <a:p>
            <a:pPr algn="just">
              <a:buFont typeface="Wingdings" panose="05000000000000000000" pitchFamily="2" charset="2"/>
              <a:buChar char="Ø"/>
            </a:pPr>
            <a:r>
              <a:rPr lang="en-US" sz="2000" dirty="0">
                <a:cs typeface="Times New Roman" panose="02020603050405020304" pitchFamily="18" charset="0"/>
              </a:rPr>
              <a:t>_____ theory argues that </a:t>
            </a:r>
            <a:r>
              <a:rPr lang="en-US" sz="2000" dirty="0" err="1">
                <a:cs typeface="Times New Roman" panose="02020603050405020304" pitchFamily="18" charset="0"/>
              </a:rPr>
              <a:t>behaviour</a:t>
            </a:r>
            <a:r>
              <a:rPr lang="en-US" sz="2000" dirty="0">
                <a:cs typeface="Times New Roman" panose="02020603050405020304" pitchFamily="18" charset="0"/>
              </a:rPr>
              <a:t> is a function of its consequences.</a:t>
            </a:r>
          </a:p>
          <a:p>
            <a:pPr marL="457200" indent="-457200" algn="just">
              <a:buFont typeface="+mj-lt"/>
              <a:buAutoNum type="alphaLcParenR"/>
            </a:pPr>
            <a:r>
              <a:rPr lang="en-US" sz="2000" dirty="0">
                <a:cs typeface="Times New Roman" panose="02020603050405020304" pitchFamily="18" charset="0"/>
              </a:rPr>
              <a:t>	Equity</a:t>
            </a:r>
          </a:p>
          <a:p>
            <a:pPr marL="457200" indent="-457200" algn="just">
              <a:buFont typeface="+mj-lt"/>
              <a:buAutoNum type="alphaLcParenR"/>
            </a:pPr>
            <a:r>
              <a:rPr lang="en-US" sz="2000" dirty="0">
                <a:cs typeface="Times New Roman" panose="02020603050405020304" pitchFamily="18" charset="0"/>
              </a:rPr>
              <a:t>	Reinforcement</a:t>
            </a:r>
          </a:p>
          <a:p>
            <a:pPr marL="457200" indent="-457200" algn="just">
              <a:buFont typeface="+mj-lt"/>
              <a:buAutoNum type="alphaLcParenR"/>
            </a:pPr>
            <a:r>
              <a:rPr lang="en-US" sz="2000" dirty="0">
                <a:cs typeface="Times New Roman" panose="02020603050405020304" pitchFamily="18" charset="0"/>
              </a:rPr>
              <a:t>	Goal-setting</a:t>
            </a:r>
          </a:p>
          <a:p>
            <a:pPr marL="457200" indent="-457200" algn="just">
              <a:buFont typeface="+mj-lt"/>
              <a:buAutoNum type="alphaLcParenR"/>
            </a:pPr>
            <a:r>
              <a:rPr lang="en-US" sz="2000" dirty="0">
                <a:cs typeface="Times New Roman" panose="02020603050405020304" pitchFamily="18" charset="0"/>
              </a:rPr>
              <a:t>	Expectancy</a:t>
            </a:r>
          </a:p>
          <a:p>
            <a:pPr algn="just">
              <a:buFont typeface="Wingdings" panose="05000000000000000000" pitchFamily="2" charset="2"/>
              <a:buChar char="Ø"/>
            </a:pPr>
            <a:r>
              <a:rPr lang="en-IN" sz="2000" dirty="0">
                <a:cs typeface="Times New Roman" panose="02020603050405020304" pitchFamily="18" charset="0"/>
              </a:rPr>
              <a:t>Who has given the ERG theory of motivation?</a:t>
            </a:r>
          </a:p>
          <a:p>
            <a:pPr marL="457200" indent="-457200" algn="just">
              <a:buFont typeface="+mj-lt"/>
              <a:buAutoNum type="alphaLcParenR"/>
            </a:pPr>
            <a:r>
              <a:rPr lang="en-IN" sz="2000" dirty="0">
                <a:cs typeface="Times New Roman" panose="02020603050405020304" pitchFamily="18" charset="0"/>
              </a:rPr>
              <a:t>Clayton Alderfer</a:t>
            </a:r>
          </a:p>
          <a:p>
            <a:pPr marL="457200" indent="-457200" algn="just">
              <a:buFont typeface="+mj-lt"/>
              <a:buAutoNum type="alphaLcParenR"/>
            </a:pPr>
            <a:r>
              <a:rPr lang="en-IN" sz="2000" dirty="0">
                <a:cs typeface="Times New Roman" panose="02020603050405020304" pitchFamily="18" charset="0"/>
              </a:rPr>
              <a:t>David McClelland</a:t>
            </a:r>
          </a:p>
          <a:p>
            <a:pPr marL="457200" indent="-457200" algn="just">
              <a:buFont typeface="+mj-lt"/>
              <a:buAutoNum type="alphaLcParenR"/>
            </a:pPr>
            <a:r>
              <a:rPr lang="en-IN" sz="2000" dirty="0">
                <a:cs typeface="Times New Roman" panose="02020603050405020304" pitchFamily="18" charset="0"/>
              </a:rPr>
              <a:t>Victor Vroom</a:t>
            </a:r>
          </a:p>
          <a:p>
            <a:pPr marL="457200" indent="-457200" algn="just">
              <a:buFont typeface="+mj-lt"/>
              <a:buAutoNum type="alphaLcParenR"/>
            </a:pPr>
            <a:r>
              <a:rPr lang="en-IN" sz="2000" dirty="0">
                <a:cs typeface="Times New Roman" panose="02020603050405020304" pitchFamily="18" charset="0"/>
              </a:rPr>
              <a:t>Frederick Herzberg</a:t>
            </a:r>
          </a:p>
          <a:p>
            <a:pPr marL="457200" indent="-457200" algn="just">
              <a:buFont typeface="+mj-lt"/>
              <a:buAutoNum type="alphaLcParenR"/>
            </a:pPr>
            <a:r>
              <a:rPr lang="en-IN" sz="2000" dirty="0">
                <a:cs typeface="Times New Roman" panose="02020603050405020304" pitchFamily="18" charset="0"/>
              </a:rPr>
              <a:t>Douglas McGregor</a:t>
            </a:r>
          </a:p>
        </p:txBody>
      </p:sp>
    </p:spTree>
    <p:extLst>
      <p:ext uri="{BB962C8B-B14F-4D97-AF65-F5344CB8AC3E}">
        <p14:creationId xmlns:p14="http://schemas.microsoft.com/office/powerpoint/2010/main" val="116907521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66</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err="1"/>
              <a:t>Youtube</a:t>
            </a:r>
            <a:r>
              <a:rPr lang="en-US" sz="2800" dirty="0"/>
              <a:t> Video Links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a:extLst>
              <a:ext uri="{FF2B5EF4-FFF2-40B4-BE49-F238E27FC236}">
                <a16:creationId xmlns:a16="http://schemas.microsoft.com/office/drawing/2014/main" id="{5CDA288D-59A0-ADBD-11BC-8DC1E1A8EACD}"/>
              </a:ext>
            </a:extLst>
          </p:cNvPr>
          <p:cNvSpPr txBox="1"/>
          <p:nvPr/>
        </p:nvSpPr>
        <p:spPr>
          <a:xfrm>
            <a:off x="533400" y="1859340"/>
            <a:ext cx="10672228" cy="1477328"/>
          </a:xfrm>
          <a:prstGeom prst="rect">
            <a:avLst/>
          </a:prstGeom>
          <a:noFill/>
        </p:spPr>
        <p:txBody>
          <a:bodyPr wrap="square">
            <a:spAutoFit/>
          </a:bodyPr>
          <a:lstStyle/>
          <a:p>
            <a:endParaRPr lang="en-US" sz="1800" dirty="0"/>
          </a:p>
          <a:p>
            <a:r>
              <a:rPr lang="en-US" sz="1800" dirty="0" err="1"/>
              <a:t>Youtube</a:t>
            </a:r>
            <a:r>
              <a:rPr lang="en-US" sz="1800" dirty="0"/>
              <a:t>/other  Video Links</a:t>
            </a:r>
          </a:p>
          <a:p>
            <a:r>
              <a:rPr lang="en-US" sz="1800" dirty="0">
                <a:hlinkClick r:id="rId4"/>
              </a:rPr>
              <a:t>https://www.youtube.com/watch?v=R3aonvQQOt8</a:t>
            </a:r>
            <a:endParaRPr lang="en-US" sz="1800" dirty="0"/>
          </a:p>
          <a:p>
            <a:r>
              <a:rPr lang="en-US" sz="1800" dirty="0">
                <a:hlinkClick r:id="rId5"/>
              </a:rPr>
              <a:t>https://www.youtube.com/watch?v=tCEuJxJH4qA</a:t>
            </a:r>
            <a:endParaRPr lang="en-US" sz="1800" dirty="0"/>
          </a:p>
          <a:p>
            <a:r>
              <a:rPr lang="en-US" sz="1800" dirty="0">
                <a:hlinkClick r:id="rId6"/>
              </a:rPr>
              <a:t>https://www.youtube.com/watch?v=E8s-IsB2p5c</a:t>
            </a:r>
            <a:endParaRPr lang="en-US" sz="1800" dirty="0"/>
          </a:p>
        </p:txBody>
      </p:sp>
    </p:spTree>
    <p:extLst>
      <p:ext uri="{BB962C8B-B14F-4D97-AF65-F5344CB8AC3E}">
        <p14:creationId xmlns:p14="http://schemas.microsoft.com/office/powerpoint/2010/main" val="28129097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67</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Weekly Assignment</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2308324"/>
          </a:xfrm>
          <a:prstGeom prst="rect">
            <a:avLst/>
          </a:prstGeom>
          <a:noFill/>
        </p:spPr>
        <p:txBody>
          <a:bodyPr wrap="square">
            <a:spAutoFit/>
          </a:bodyPr>
          <a:lstStyle/>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Discuss the different Ego states in Transactional Analysis.</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Explain Johari window as a tool for interpersonal effectiveness.</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Write a descriptive note on the process of Motivation.</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State the determinants of Personality.</a:t>
            </a:r>
          </a:p>
          <a:p>
            <a:pPr marL="342900" indent="-342900" algn="just">
              <a:buFont typeface="Arial" panose="020B0604020202020204" pitchFamily="34" charset="0"/>
              <a:buChar char="•"/>
            </a:pPr>
            <a:r>
              <a:rPr lang="en-US" sz="2400" b="0" i="0" dirty="0">
                <a:solidFill>
                  <a:srgbClr val="000000"/>
                </a:solidFill>
                <a:effectLst/>
                <a:cs typeface="Times New Roman" panose="02020603050405020304" pitchFamily="18" charset="0"/>
              </a:rPr>
              <a:t>Explain the process of Attitude formation.</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28275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68</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MCQ 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4154984"/>
          </a:xfrm>
          <a:prstGeom prst="rect">
            <a:avLst/>
          </a:prstGeom>
          <a:noFill/>
        </p:spPr>
        <p:txBody>
          <a:bodyPr wrap="square">
            <a:spAutoFit/>
          </a:bodyPr>
          <a:lstStyle/>
          <a:p>
            <a:pPr marL="0" indent="0" algn="just">
              <a:buNone/>
            </a:pPr>
            <a:r>
              <a:rPr lang="en-US" sz="2400" dirty="0"/>
              <a:t>1. Major determinants of personality</a:t>
            </a:r>
          </a:p>
          <a:p>
            <a:pPr marL="457200" indent="-457200" algn="just">
              <a:buFont typeface="+mj-lt"/>
              <a:buAutoNum type="alphaLcParenR"/>
            </a:pPr>
            <a:r>
              <a:rPr lang="en-US" sz="2400" dirty="0"/>
              <a:t>Biological</a:t>
            </a:r>
          </a:p>
          <a:p>
            <a:pPr marL="457200" indent="-457200" algn="just">
              <a:buFont typeface="+mj-lt"/>
              <a:buAutoNum type="alphaLcParenR"/>
            </a:pPr>
            <a:r>
              <a:rPr lang="en-US" sz="2400" dirty="0"/>
              <a:t>Situation</a:t>
            </a:r>
          </a:p>
          <a:p>
            <a:pPr marL="457200" indent="-457200" algn="just">
              <a:buFont typeface="+mj-lt"/>
              <a:buAutoNum type="alphaLcParenR"/>
            </a:pPr>
            <a:r>
              <a:rPr lang="en-US" sz="2400" b="1" dirty="0"/>
              <a:t>Both (A) and (B)</a:t>
            </a:r>
          </a:p>
          <a:p>
            <a:pPr marL="457200" indent="-457200" algn="just">
              <a:buFont typeface="+mj-lt"/>
              <a:buAutoNum type="alphaLcParenR"/>
            </a:pPr>
            <a:r>
              <a:rPr lang="en-US" sz="2400" dirty="0"/>
              <a:t>None of the above</a:t>
            </a:r>
          </a:p>
          <a:p>
            <a:pPr marL="0" indent="0" algn="just">
              <a:buNone/>
            </a:pPr>
            <a:r>
              <a:rPr lang="en-US" sz="2400" dirty="0"/>
              <a:t>2. Mismatch between personality and organization may lead(s) to</a:t>
            </a:r>
          </a:p>
          <a:p>
            <a:pPr marL="457200" indent="-457200" algn="just">
              <a:buFont typeface="+mj-lt"/>
              <a:buAutoNum type="alphaLcParenR"/>
            </a:pPr>
            <a:r>
              <a:rPr lang="en-US" sz="2400" dirty="0"/>
              <a:t>Confusion and chaos</a:t>
            </a:r>
          </a:p>
          <a:p>
            <a:pPr marL="457200" indent="-457200" algn="just">
              <a:buFont typeface="+mj-lt"/>
              <a:buAutoNum type="alphaLcParenR"/>
            </a:pPr>
            <a:r>
              <a:rPr lang="en-US" sz="2400" dirty="0"/>
              <a:t>Loss of interest by members in organization</a:t>
            </a:r>
          </a:p>
          <a:p>
            <a:pPr marL="457200" indent="-457200" algn="just">
              <a:buFont typeface="+mj-lt"/>
              <a:buAutoNum type="alphaLcParenR"/>
            </a:pPr>
            <a:r>
              <a:rPr lang="en-US" sz="2400" dirty="0"/>
              <a:t>Low morale and job satisfaction</a:t>
            </a:r>
          </a:p>
          <a:p>
            <a:pPr marL="457200" indent="-457200" algn="just">
              <a:buFont typeface="+mj-lt"/>
              <a:buAutoNum type="alphaLcParenR"/>
            </a:pPr>
            <a:r>
              <a:rPr lang="en-US" sz="2400" b="1" dirty="0"/>
              <a:t>All of the above</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00711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69</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MCQ 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4524315"/>
          </a:xfrm>
          <a:prstGeom prst="rect">
            <a:avLst/>
          </a:prstGeom>
          <a:noFill/>
        </p:spPr>
        <p:txBody>
          <a:bodyPr wrap="square">
            <a:spAutoFit/>
          </a:bodyPr>
          <a:lstStyle/>
          <a:p>
            <a:pPr algn="just">
              <a:buNone/>
            </a:pPr>
            <a:r>
              <a:rPr lang="en-US" sz="2400" dirty="0"/>
              <a:t>3. __ in the year 1954 proposed the need Hierarchy theory of Motivation.</a:t>
            </a:r>
          </a:p>
          <a:p>
            <a:pPr marL="457200" indent="-457200" algn="just">
              <a:buFont typeface="+mj-lt"/>
              <a:buAutoNum type="alphaLcParenR"/>
            </a:pPr>
            <a:r>
              <a:rPr lang="en-US" sz="2400" b="1" dirty="0"/>
              <a:t>Abraham Harold Maslow</a:t>
            </a:r>
          </a:p>
          <a:p>
            <a:pPr marL="457200" indent="-457200" algn="just">
              <a:buFont typeface="+mj-lt"/>
              <a:buAutoNum type="alphaLcParenR"/>
            </a:pPr>
            <a:r>
              <a:rPr lang="en-US" sz="2400" dirty="0"/>
              <a:t>Herzberg</a:t>
            </a:r>
          </a:p>
          <a:p>
            <a:pPr marL="457200" indent="-457200" algn="just">
              <a:buFont typeface="+mj-lt"/>
              <a:buAutoNum type="alphaLcParenR"/>
            </a:pPr>
            <a:r>
              <a:rPr lang="en-US" sz="2400" dirty="0"/>
              <a:t>Adam’s Equity Theory</a:t>
            </a:r>
          </a:p>
          <a:p>
            <a:pPr marL="457200" indent="-457200" algn="just">
              <a:buFont typeface="+mj-lt"/>
              <a:buAutoNum type="alphaLcParenR"/>
            </a:pPr>
            <a:r>
              <a:rPr lang="en-US" sz="2400" dirty="0"/>
              <a:t>None</a:t>
            </a:r>
          </a:p>
          <a:p>
            <a:pPr marL="0" indent="0" algn="just">
              <a:buNone/>
            </a:pPr>
            <a:r>
              <a:rPr lang="en-US" sz="2400" dirty="0"/>
              <a:t>4. According to ___ work effort in an organization is directed towards </a:t>
            </a:r>
            <a:r>
              <a:rPr lang="en-US" sz="2400" dirty="0" err="1"/>
              <a:t>behaviours</a:t>
            </a:r>
            <a:r>
              <a:rPr lang="en-US" sz="2400" dirty="0"/>
              <a:t> that people believe will lead to desired outcomes.</a:t>
            </a:r>
          </a:p>
          <a:p>
            <a:pPr marL="457200" indent="-457200" algn="just">
              <a:buFont typeface="+mj-lt"/>
              <a:buAutoNum type="alphaLcParenR"/>
            </a:pPr>
            <a:r>
              <a:rPr lang="en-US" sz="2400" b="1" dirty="0"/>
              <a:t>Expectancy Theory</a:t>
            </a:r>
          </a:p>
          <a:p>
            <a:pPr marL="457200" indent="-457200" algn="just">
              <a:buFont typeface="+mj-lt"/>
              <a:buAutoNum type="alphaLcParenR"/>
            </a:pPr>
            <a:r>
              <a:rPr lang="en-US" sz="2400" dirty="0"/>
              <a:t>Self Determination Theory</a:t>
            </a:r>
          </a:p>
          <a:p>
            <a:pPr marL="457200" indent="-457200" algn="just">
              <a:buFont typeface="+mj-lt"/>
              <a:buAutoNum type="alphaLcParenR"/>
            </a:pPr>
            <a:r>
              <a:rPr lang="en-US" sz="2400" dirty="0"/>
              <a:t>Maslow Theory</a:t>
            </a:r>
          </a:p>
          <a:p>
            <a:pPr marL="457200" indent="-457200" algn="just">
              <a:buFont typeface="+mj-lt"/>
              <a:buAutoNum type="alphaLcParenR"/>
            </a:pPr>
            <a:r>
              <a:rPr lang="en-US" sz="2400" dirty="0"/>
              <a:t>None</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4816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70</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MCQ 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5262979"/>
          </a:xfrm>
          <a:prstGeom prst="rect">
            <a:avLst/>
          </a:prstGeom>
          <a:noFill/>
        </p:spPr>
        <p:txBody>
          <a:bodyPr wrap="square">
            <a:spAutoFit/>
          </a:bodyPr>
          <a:lstStyle/>
          <a:p>
            <a:pPr marL="0" indent="0" algn="just">
              <a:buNone/>
            </a:pPr>
            <a:r>
              <a:rPr lang="en-US" sz="2400" dirty="0"/>
              <a:t>5. Which of the following would be classified by Herzberg as a hygiene factor?</a:t>
            </a:r>
          </a:p>
          <a:p>
            <a:pPr marL="457200" indent="-457200" algn="just">
              <a:buFont typeface="+mj-lt"/>
              <a:buAutoNum type="alphaLcParenR"/>
            </a:pPr>
            <a:r>
              <a:rPr lang="en-US" sz="2400" dirty="0"/>
              <a:t>Promotion</a:t>
            </a:r>
          </a:p>
          <a:p>
            <a:pPr marL="457200" indent="-457200" algn="just">
              <a:buFont typeface="+mj-lt"/>
              <a:buAutoNum type="alphaLcParenR"/>
            </a:pPr>
            <a:r>
              <a:rPr lang="en-US" sz="2400" b="1" dirty="0"/>
              <a:t>Personal growth</a:t>
            </a:r>
          </a:p>
          <a:p>
            <a:pPr marL="457200" indent="-457200" algn="just">
              <a:buFont typeface="+mj-lt"/>
              <a:buAutoNum type="alphaLcParenR"/>
            </a:pPr>
            <a:r>
              <a:rPr lang="en-US" sz="2400" dirty="0"/>
              <a:t>Achievement</a:t>
            </a:r>
          </a:p>
          <a:p>
            <a:pPr marL="457200" indent="-457200" algn="just">
              <a:buFont typeface="+mj-lt"/>
              <a:buAutoNum type="alphaLcParenR"/>
            </a:pPr>
            <a:r>
              <a:rPr lang="en-US" sz="2400" dirty="0"/>
              <a:t>Company policy</a:t>
            </a:r>
          </a:p>
          <a:p>
            <a:pPr marL="457200" indent="-457200" algn="just">
              <a:buFont typeface="+mj-lt"/>
              <a:buAutoNum type="alphaLcParenR"/>
            </a:pPr>
            <a:r>
              <a:rPr lang="en-US" sz="2400" dirty="0"/>
              <a:t>Responsibility</a:t>
            </a:r>
          </a:p>
          <a:p>
            <a:pPr marL="0" indent="0" algn="just">
              <a:buNone/>
            </a:pPr>
            <a:r>
              <a:rPr lang="en-US" sz="2400" dirty="0"/>
              <a:t>6. Which among the following is correct expansion of ‘ERG’ in ERG theory of motivation?</a:t>
            </a:r>
          </a:p>
          <a:p>
            <a:pPr marL="457200" indent="-457200" algn="just">
              <a:buFont typeface="+mj-lt"/>
              <a:buAutoNum type="alphaLcParenR"/>
            </a:pPr>
            <a:r>
              <a:rPr lang="en-US" sz="2400" dirty="0"/>
              <a:t>E – Existence, R – Religion, G – Growth</a:t>
            </a:r>
          </a:p>
          <a:p>
            <a:pPr marL="457200" indent="-457200" algn="just">
              <a:buFont typeface="+mj-lt"/>
              <a:buAutoNum type="alphaLcParenR"/>
            </a:pPr>
            <a:r>
              <a:rPr lang="en-US" sz="2400" dirty="0"/>
              <a:t>E – Experience, R – Related, G – Growth</a:t>
            </a:r>
          </a:p>
          <a:p>
            <a:pPr marL="457200" indent="-457200" algn="just">
              <a:buFont typeface="+mj-lt"/>
              <a:buAutoNum type="alphaLcParenR"/>
            </a:pPr>
            <a:r>
              <a:rPr lang="en-US" sz="2400" b="1" dirty="0"/>
              <a:t>E – Existence, R – Related, G – Growth</a:t>
            </a:r>
          </a:p>
          <a:p>
            <a:pPr marL="457200" indent="-457200" algn="just">
              <a:buFont typeface="+mj-lt"/>
              <a:buAutoNum type="alphaLcParenR"/>
            </a:pPr>
            <a:r>
              <a:rPr lang="en-US" sz="2400" dirty="0"/>
              <a:t>E – Existence, R – Requirement, G – Growth</a:t>
            </a:r>
          </a:p>
          <a:p>
            <a:pPr marL="457200" indent="-457200" algn="just">
              <a:buFont typeface="+mj-lt"/>
              <a:buAutoNum type="alphaLcParenR"/>
            </a:pPr>
            <a:r>
              <a:rPr lang="en-US" sz="2400" dirty="0"/>
              <a:t>E – Effectiveness, R – Related, G – Growth</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41516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71</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MCQ 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5847755"/>
          </a:xfrm>
          <a:prstGeom prst="rect">
            <a:avLst/>
          </a:prstGeom>
          <a:noFill/>
        </p:spPr>
        <p:txBody>
          <a:bodyPr wrap="square">
            <a:spAutoFit/>
          </a:bodyPr>
          <a:lstStyle/>
          <a:p>
            <a:pPr marL="0" marR="0" lvl="0" indent="0" algn="just" fontAlgn="base">
              <a:lnSpc>
                <a:spcPct val="100000"/>
              </a:lnSpc>
              <a:spcAft>
                <a:spcPct val="0"/>
              </a:spcAft>
              <a:buClrTx/>
              <a:buSzTx/>
              <a:buNone/>
              <a:tabLst/>
            </a:pPr>
            <a:r>
              <a:rPr lang="en-US" altLang="en-US" sz="1400" dirty="0">
                <a:solidFill>
                  <a:srgbClr val="171717"/>
                </a:solidFill>
                <a:latin typeface="Times New Roman" panose="02020603050405020304" pitchFamily="18" charset="0"/>
                <a:cs typeface="Times New Roman" panose="02020603050405020304" pitchFamily="18" charset="0"/>
              </a:rPr>
              <a:t>7. </a:t>
            </a:r>
            <a:r>
              <a:rPr lang="en-US" altLang="en-US" sz="2400" dirty="0">
                <a:latin typeface="Times New Roman" panose="02020603050405020304" pitchFamily="18" charset="0"/>
                <a:cs typeface="Times New Roman" panose="02020603050405020304" pitchFamily="18" charset="0"/>
              </a:rPr>
              <a:t>_____ is the set of forces that energize, direct, and sustain behavior.</a:t>
            </a:r>
          </a:p>
          <a:p>
            <a:pPr marL="0" marR="0" lvl="0" indent="0" algn="just" fontAlgn="base">
              <a:lnSpc>
                <a:spcPct val="100000"/>
              </a:lnSpc>
              <a:spcAft>
                <a:spcPct val="0"/>
              </a:spcAft>
              <a:buClrTx/>
              <a:buSzTx/>
              <a:buNone/>
              <a:tabLst/>
            </a:pPr>
            <a:r>
              <a:rPr lang="en-US" altLang="en-US" sz="2400" dirty="0">
                <a:latin typeface="Times New Roman" panose="02020603050405020304" pitchFamily="18" charset="0"/>
                <a:cs typeface="Times New Roman" panose="02020603050405020304" pitchFamily="18" charset="0"/>
              </a:rPr>
              <a:t>a. </a:t>
            </a:r>
            <a:r>
              <a:rPr lang="en-US" altLang="en-US" sz="2400" b="1" dirty="0">
                <a:latin typeface="Times New Roman" panose="02020603050405020304" pitchFamily="18" charset="0"/>
                <a:cs typeface="Times New Roman" panose="02020603050405020304" pitchFamily="18" charset="0"/>
              </a:rPr>
              <a:t>Motivation</a:t>
            </a:r>
          </a:p>
          <a:p>
            <a:pPr marL="0" marR="0" lvl="0" indent="0" algn="just" fontAlgn="base">
              <a:lnSpc>
                <a:spcPct val="100000"/>
              </a:lnSpc>
              <a:spcAft>
                <a:spcPct val="0"/>
              </a:spcAft>
              <a:buClrTx/>
              <a:buSzTx/>
              <a:buNone/>
              <a:tabLst/>
            </a:pPr>
            <a:r>
              <a:rPr lang="en-US" altLang="en-US" sz="2400" dirty="0">
                <a:latin typeface="Times New Roman" panose="02020603050405020304" pitchFamily="18" charset="0"/>
                <a:cs typeface="Times New Roman" panose="02020603050405020304" pitchFamily="18" charset="0"/>
              </a:rPr>
              <a:t>b. Expectancy</a:t>
            </a:r>
          </a:p>
          <a:p>
            <a:pPr marL="0" marR="0" lvl="0" indent="0" algn="just" fontAlgn="base">
              <a:lnSpc>
                <a:spcPct val="100000"/>
              </a:lnSpc>
              <a:spcAft>
                <a:spcPct val="0"/>
              </a:spcAft>
              <a:buClrTx/>
              <a:buSzTx/>
              <a:buNone/>
              <a:tabLst/>
            </a:pPr>
            <a:r>
              <a:rPr lang="en-US" altLang="en-US" sz="2400" dirty="0">
                <a:latin typeface="Times New Roman" panose="02020603050405020304" pitchFamily="18" charset="0"/>
                <a:cs typeface="Times New Roman" panose="02020603050405020304" pitchFamily="18" charset="0"/>
              </a:rPr>
              <a:t>c. Empowerment</a:t>
            </a:r>
          </a:p>
          <a:p>
            <a:pPr marL="0" marR="0" lvl="0" indent="0" algn="just" fontAlgn="base">
              <a:lnSpc>
                <a:spcPct val="100000"/>
              </a:lnSpc>
              <a:spcAft>
                <a:spcPct val="0"/>
              </a:spcAft>
              <a:buClrTx/>
              <a:buSzTx/>
              <a:buNone/>
              <a:tabLst/>
            </a:pPr>
            <a:r>
              <a:rPr lang="en-US" altLang="en-US" sz="2400" dirty="0">
                <a:latin typeface="Times New Roman" panose="02020603050405020304" pitchFamily="18" charset="0"/>
                <a:cs typeface="Times New Roman" panose="02020603050405020304" pitchFamily="18" charset="0"/>
              </a:rPr>
              <a:t>d. Socialization </a:t>
            </a:r>
          </a:p>
          <a:p>
            <a:pPr marL="0" marR="0" lvl="0" indent="0" algn="just" fontAlgn="base">
              <a:lnSpc>
                <a:spcPct val="100000"/>
              </a:lnSpc>
              <a:spcAft>
                <a:spcPct val="0"/>
              </a:spcAft>
              <a:buClrTx/>
              <a:buSzTx/>
              <a:buNone/>
              <a:tabLst/>
            </a:pPr>
            <a:endParaRPr lang="en-US" altLang="en-US" sz="2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rgbClr val="171717"/>
              </a:solidFill>
              <a:effectLst/>
              <a:latin typeface="DM Sans" pitchFamily="2" charset="0"/>
            </a:endParaRPr>
          </a:p>
          <a:p>
            <a:pPr marR="0" lvl="0" algn="just" fontAlgn="base">
              <a:lnSpc>
                <a:spcPct val="100000"/>
              </a:lnSpc>
              <a:spcBef>
                <a:spcPct val="20000"/>
              </a:spcBef>
              <a:spcAft>
                <a:spcPct val="0"/>
              </a:spcAft>
              <a:buClrTx/>
              <a:buSzTx/>
              <a:tabLst/>
            </a:pPr>
            <a:r>
              <a:rPr lang="en-US" altLang="en-US" sz="2400" dirty="0">
                <a:latin typeface="Times New Roman" panose="02020603050405020304" pitchFamily="18" charset="0"/>
                <a:cs typeface="Times New Roman" panose="02020603050405020304" pitchFamily="18" charset="0"/>
              </a:rPr>
              <a:t>8. Maslow’s hierarchy of needs includes all of the following categories EXCEPT _____.</a:t>
            </a:r>
          </a:p>
          <a:p>
            <a:pPr marL="0" marR="0" lvl="0" indent="0" algn="just" fontAlgn="base">
              <a:lnSpc>
                <a:spcPct val="100000"/>
              </a:lnSpc>
              <a:spcBef>
                <a:spcPct val="20000"/>
              </a:spcBef>
              <a:spcAft>
                <a:spcPct val="0"/>
              </a:spcAft>
              <a:buClrTx/>
              <a:buSzTx/>
              <a:tabLst/>
            </a:pPr>
            <a:r>
              <a:rPr lang="en-US" altLang="en-US" sz="2400" dirty="0">
                <a:latin typeface="Times New Roman" panose="02020603050405020304" pitchFamily="18" charset="0"/>
                <a:cs typeface="Times New Roman" panose="02020603050405020304" pitchFamily="18" charset="0"/>
              </a:rPr>
              <a:t>a. safety</a:t>
            </a:r>
          </a:p>
          <a:p>
            <a:pPr marL="0" marR="0" lvl="0" indent="0" algn="just" fontAlgn="base">
              <a:lnSpc>
                <a:spcPct val="100000"/>
              </a:lnSpc>
              <a:spcBef>
                <a:spcPct val="20000"/>
              </a:spcBef>
              <a:spcAft>
                <a:spcPct val="0"/>
              </a:spcAft>
              <a:buClrTx/>
              <a:buSzTx/>
              <a:tabLst/>
            </a:pPr>
            <a:r>
              <a:rPr lang="en-US" altLang="en-US" sz="2400" dirty="0">
                <a:latin typeface="Times New Roman" panose="02020603050405020304" pitchFamily="18" charset="0"/>
                <a:cs typeface="Times New Roman" panose="02020603050405020304" pitchFamily="18" charset="0"/>
              </a:rPr>
              <a:t>b. </a:t>
            </a:r>
            <a:r>
              <a:rPr lang="en-US" altLang="en-US" sz="2400" b="1" dirty="0">
                <a:latin typeface="Times New Roman" panose="02020603050405020304" pitchFamily="18" charset="0"/>
                <a:cs typeface="Times New Roman" panose="02020603050405020304" pitchFamily="18" charset="0"/>
              </a:rPr>
              <a:t>growth</a:t>
            </a:r>
          </a:p>
          <a:p>
            <a:pPr marL="0" marR="0" lvl="0" indent="0" algn="just" fontAlgn="base">
              <a:lnSpc>
                <a:spcPct val="100000"/>
              </a:lnSpc>
              <a:spcBef>
                <a:spcPct val="20000"/>
              </a:spcBef>
              <a:spcAft>
                <a:spcPct val="0"/>
              </a:spcAft>
              <a:buClrTx/>
              <a:buSzTx/>
              <a:tabLst/>
            </a:pPr>
            <a:r>
              <a:rPr lang="en-US" altLang="en-US" sz="2400" dirty="0">
                <a:latin typeface="Times New Roman" panose="02020603050405020304" pitchFamily="18" charset="0"/>
                <a:cs typeface="Times New Roman" panose="02020603050405020304" pitchFamily="18" charset="0"/>
              </a:rPr>
              <a:t>c. physiological</a:t>
            </a:r>
          </a:p>
          <a:p>
            <a:pPr marL="0" marR="0" lvl="0" indent="0" algn="just" fontAlgn="base">
              <a:lnSpc>
                <a:spcPct val="100000"/>
              </a:lnSpc>
              <a:spcBef>
                <a:spcPct val="20000"/>
              </a:spcBef>
              <a:spcAft>
                <a:spcPct val="0"/>
              </a:spcAft>
              <a:buClrTx/>
              <a:buSzTx/>
              <a:tabLst/>
            </a:pPr>
            <a:r>
              <a:rPr lang="en-US" altLang="en-US" sz="2400" dirty="0">
                <a:latin typeface="Times New Roman" panose="02020603050405020304" pitchFamily="18" charset="0"/>
                <a:cs typeface="Times New Roman" panose="02020603050405020304" pitchFamily="18" charset="0"/>
              </a:rPr>
              <a:t>d. self actualization </a:t>
            </a:r>
          </a:p>
          <a:p>
            <a:pPr marL="0" marR="0" lvl="0" indent="0" algn="just" fontAlgn="base">
              <a:lnSpc>
                <a:spcPct val="100000"/>
              </a:lnSpc>
              <a:spcAft>
                <a:spcPct val="0"/>
              </a:spcAft>
              <a:buClrTx/>
              <a:buSzTx/>
              <a:buNone/>
              <a:tabLst/>
            </a:pPr>
            <a:endParaRPr lang="en-US" altLang="en-US" sz="2400" dirty="0">
              <a:latin typeface="Times New Roman" panose="02020603050405020304" pitchFamily="18" charset="0"/>
              <a:cs typeface="Times New Roman" panose="02020603050405020304" pitchFamily="18" charset="0"/>
            </a:endParaRP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40484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72</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Expected Questions for University Exam </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5262979"/>
          </a:xfrm>
          <a:prstGeom prst="rect">
            <a:avLst/>
          </a:prstGeom>
          <a:noFill/>
        </p:spPr>
        <p:txBody>
          <a:bodyPr wrap="square">
            <a:spAutoFit/>
          </a:bodyPr>
          <a:lstStyle/>
          <a:p>
            <a:pPr lvl="0" algn="just"/>
            <a:r>
              <a:rPr lang="en-US" sz="2400" dirty="0">
                <a:latin typeface="Times New Roman" panose="02020603050405020304" pitchFamily="18" charset="0"/>
                <a:cs typeface="Times New Roman" panose="02020603050405020304" pitchFamily="18" charset="0"/>
              </a:rPr>
              <a:t>Define Motivation. Explain traditional theories of motivation.</a:t>
            </a:r>
          </a:p>
          <a:p>
            <a:pPr lvl="0" algn="just"/>
            <a:r>
              <a:rPr lang="en-US" sz="2400" dirty="0">
                <a:latin typeface="Times New Roman" panose="02020603050405020304" pitchFamily="18" charset="0"/>
                <a:cs typeface="Times New Roman" panose="02020603050405020304" pitchFamily="18" charset="0"/>
              </a:rPr>
              <a:t>Discuss how many factors are there in Herzberg theory of motivation.</a:t>
            </a:r>
          </a:p>
          <a:p>
            <a:pPr lvl="0" algn="just"/>
            <a:r>
              <a:rPr lang="en-US" sz="2400" dirty="0">
                <a:latin typeface="Times New Roman" panose="02020603050405020304" pitchFamily="18" charset="0"/>
                <a:cs typeface="Times New Roman" panose="02020603050405020304" pitchFamily="18" charset="0"/>
              </a:rPr>
              <a:t>Explain each level in Maslow’s need theory.</a:t>
            </a:r>
          </a:p>
          <a:p>
            <a:pPr lvl="0" algn="just"/>
            <a:r>
              <a:rPr lang="en-US" sz="2400" dirty="0">
                <a:latin typeface="Times New Roman" panose="02020603050405020304" pitchFamily="18" charset="0"/>
                <a:cs typeface="Times New Roman" panose="02020603050405020304" pitchFamily="18" charset="0"/>
              </a:rPr>
              <a:t>State and explain any one contemporary theory of Motivation.</a:t>
            </a:r>
          </a:p>
          <a:p>
            <a:pPr lvl="0" algn="just"/>
            <a:r>
              <a:rPr lang="en-US" sz="2400" dirty="0">
                <a:latin typeface="Times New Roman" panose="02020603050405020304" pitchFamily="18" charset="0"/>
                <a:cs typeface="Times New Roman" panose="02020603050405020304" pitchFamily="18" charset="0"/>
              </a:rPr>
              <a:t>Enlist the factors in Expectancy theory.</a:t>
            </a:r>
          </a:p>
          <a:p>
            <a:pPr lvl="0" algn="just"/>
            <a:r>
              <a:rPr lang="en-US" sz="2400" dirty="0">
                <a:latin typeface="Times New Roman" panose="02020603050405020304" pitchFamily="18" charset="0"/>
                <a:cs typeface="Times New Roman" panose="02020603050405020304" pitchFamily="18" charset="0"/>
              </a:rPr>
              <a:t>Discuss Equity theory.</a:t>
            </a:r>
          </a:p>
          <a:p>
            <a:pPr lvl="0" algn="just"/>
            <a:r>
              <a:rPr lang="en-US" sz="2400" dirty="0">
                <a:latin typeface="Times New Roman" panose="02020603050405020304" pitchFamily="18" charset="0"/>
                <a:cs typeface="Times New Roman" panose="02020603050405020304" pitchFamily="18" charset="0"/>
              </a:rPr>
              <a:t>Explain the different types of transactions and ego states in transactional analysis.</a:t>
            </a:r>
          </a:p>
          <a:p>
            <a:pPr lvl="0" algn="just"/>
            <a:r>
              <a:rPr lang="en-US" sz="2400" dirty="0">
                <a:latin typeface="Times New Roman" panose="02020603050405020304" pitchFamily="18" charset="0"/>
                <a:cs typeface="Times New Roman" panose="02020603050405020304" pitchFamily="18" charset="0"/>
              </a:rPr>
              <a:t>Explain the different types of Attitudes.</a:t>
            </a:r>
          </a:p>
          <a:p>
            <a:pPr lvl="0" algn="just"/>
            <a:r>
              <a:rPr lang="en-US" sz="2400" dirty="0">
                <a:latin typeface="Times New Roman" panose="02020603050405020304" pitchFamily="18" charset="0"/>
                <a:cs typeface="Times New Roman" panose="02020603050405020304" pitchFamily="18" charset="0"/>
              </a:rPr>
              <a:t>Explain the concept of Attitude and its formation in detail.</a:t>
            </a:r>
          </a:p>
          <a:p>
            <a:pPr lvl="0" algn="just"/>
            <a:r>
              <a:rPr lang="en-US" sz="2400" dirty="0">
                <a:latin typeface="Times New Roman" panose="02020603050405020304" pitchFamily="18" charset="0"/>
                <a:cs typeface="Times New Roman" panose="02020603050405020304" pitchFamily="18" charset="0"/>
              </a:rPr>
              <a:t>Define Personality.</a:t>
            </a:r>
          </a:p>
          <a:p>
            <a:pPr lvl="0" algn="just"/>
            <a:r>
              <a:rPr lang="en-US" sz="2400" dirty="0">
                <a:latin typeface="Times New Roman" panose="02020603050405020304" pitchFamily="18" charset="0"/>
                <a:cs typeface="Times New Roman" panose="02020603050405020304" pitchFamily="18" charset="0"/>
              </a:rPr>
              <a:t>State the determinants of Personality.</a:t>
            </a:r>
          </a:p>
          <a:p>
            <a:pPr lvl="0" algn="just"/>
            <a:r>
              <a:rPr lang="en-US" sz="2400" dirty="0">
                <a:latin typeface="Times New Roman" panose="02020603050405020304" pitchFamily="18" charset="0"/>
                <a:cs typeface="Times New Roman" panose="02020603050405020304" pitchFamily="18" charset="0"/>
              </a:rPr>
              <a:t>Differentiate between Type A and Type B personality.</a:t>
            </a:r>
          </a:p>
          <a:p>
            <a:pPr lvl="0" algn="just"/>
            <a:r>
              <a:rPr lang="en-US" sz="2400" dirty="0">
                <a:latin typeface="Times New Roman" panose="02020603050405020304" pitchFamily="18" charset="0"/>
                <a:cs typeface="Times New Roman" panose="02020603050405020304" pitchFamily="18" charset="0"/>
              </a:rPr>
              <a:t>Discuss the concept of Johari Window.</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902560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73</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Recap of the Unit</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3046988"/>
          </a:xfrm>
          <a:prstGeom prst="rect">
            <a:avLst/>
          </a:prstGeom>
          <a:noFill/>
        </p:spPr>
        <p:txBody>
          <a:bodyPr wrap="square">
            <a:spAutoFit/>
          </a:bodyPr>
          <a:lstStyle/>
          <a:p>
            <a:pPr algn="just"/>
            <a:r>
              <a:rPr lang="en-US" sz="2400" b="0" i="0" dirty="0">
                <a:solidFill>
                  <a:srgbClr val="000000"/>
                </a:solidFill>
                <a:effectLst/>
                <a:cs typeface="Times New Roman" panose="02020603050405020304" pitchFamily="18" charset="0"/>
              </a:rPr>
              <a:t>This topic tells us about the </a:t>
            </a:r>
            <a:r>
              <a:rPr lang="en-US" sz="2400" b="0" i="0" dirty="0">
                <a:solidFill>
                  <a:srgbClr val="202124"/>
                </a:solidFill>
                <a:effectLst/>
                <a:latin typeface="Times New Roman" panose="02020603050405020304" pitchFamily="18" charset="0"/>
                <a:cs typeface="Times New Roman" panose="02020603050405020304" pitchFamily="18" charset="0"/>
              </a:rPr>
              <a:t>Two words attitude and personality are used interchangeably but there is a key difference between these two words. </a:t>
            </a:r>
            <a:r>
              <a:rPr lang="en-US" sz="2400" b="0" i="0" dirty="0">
                <a:solidFill>
                  <a:srgbClr val="040C28"/>
                </a:solidFill>
                <a:effectLst/>
                <a:latin typeface="Times New Roman" panose="02020603050405020304" pitchFamily="18" charset="0"/>
                <a:cs typeface="Times New Roman" panose="02020603050405020304" pitchFamily="18" charset="0"/>
              </a:rPr>
              <a:t>Personality is basically a combination of quality or the characteristic of any individual.</a:t>
            </a:r>
            <a:r>
              <a:rPr lang="en-US" sz="2400" b="0" i="0" dirty="0">
                <a:solidFill>
                  <a:srgbClr val="202124"/>
                </a:solidFill>
                <a:effectLst/>
                <a:latin typeface="Times New Roman" panose="02020603050405020304" pitchFamily="18" charset="0"/>
                <a:cs typeface="Times New Roman" panose="02020603050405020304" pitchFamily="18" charset="0"/>
              </a:rPr>
              <a:t> </a:t>
            </a:r>
            <a:r>
              <a:rPr lang="en-US" sz="2400" b="0" i="0" dirty="0">
                <a:solidFill>
                  <a:srgbClr val="040C28"/>
                </a:solidFill>
                <a:effectLst/>
                <a:latin typeface="Times New Roman" panose="02020603050405020304" pitchFamily="18" charset="0"/>
                <a:cs typeface="Times New Roman" panose="02020603050405020304" pitchFamily="18" charset="0"/>
              </a:rPr>
              <a:t>On other hands, attitude refers to a way of thinking, belief or an emotion of an individual.</a:t>
            </a:r>
          </a:p>
          <a:p>
            <a:pPr algn="just"/>
            <a:r>
              <a:rPr lang="en-US" sz="2400" dirty="0">
                <a:latin typeface="Times New Roman" panose="02020603050405020304" pitchFamily="18" charset="0"/>
                <a:cs typeface="Times New Roman" panose="02020603050405020304" pitchFamily="18" charset="0"/>
              </a:rPr>
              <a:t>Motivation is essentially the underlying drive of individuals to accomplish tasks and goals. Many factors can influence employee motivation, including organizational structure, integrity of company operations, and company culture.</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24394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14B705BA-44BE-4E4D-8011-0D7C387D63D6}" type="datetime1">
              <a:rPr lang="en-US" smtClean="0"/>
              <a:pPr/>
              <a:t>9/9/2024</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74</a:t>
            </a:fld>
            <a:endParaRPr lang="en-US"/>
          </a:p>
        </p:txBody>
      </p:sp>
      <p:sp>
        <p:nvSpPr>
          <p:cNvPr id="8" name="Title 1"/>
          <p:cNvSpPr txBox="1">
            <a:spLocks/>
          </p:cNvSpPr>
          <p:nvPr/>
        </p:nvSpPr>
        <p:spPr>
          <a:xfrm>
            <a:off x="2895600" y="2"/>
            <a:ext cx="8310028" cy="685799"/>
          </a:xfrm>
          <a:prstGeom prst="rect">
            <a:avLst/>
          </a:pr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0" scaled="1"/>
            <a:tileRect/>
          </a:gra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lvl1pPr algn="ctr">
              <a:spcBef>
                <a:spcPct val="0"/>
              </a:spcBef>
              <a:buNone/>
              <a:defRPr sz="2800"/>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800" dirty="0"/>
              <a:t>References</a:t>
            </a:r>
          </a:p>
        </p:txBody>
      </p:sp>
      <p:sp>
        <p:nvSpPr>
          <p:cNvPr id="10" name="Footer Placeholder 9"/>
          <p:cNvSpPr>
            <a:spLocks noGrp="1"/>
          </p:cNvSpPr>
          <p:nvPr>
            <p:ph type="ftr" sz="quarter" idx="11"/>
          </p:nvPr>
        </p:nvSpPr>
        <p:spPr>
          <a:xfrm>
            <a:off x="4038600" y="6356351"/>
            <a:ext cx="5029200" cy="365125"/>
          </a:xfrm>
        </p:spPr>
        <p:txBody>
          <a:bodyPr/>
          <a:lstStyle/>
          <a:p>
            <a:r>
              <a:rPr lang="en-US" dirty="0"/>
              <a:t>Faculty Name             Subject code and abbreviation                Unit Number</a:t>
            </a:r>
          </a:p>
        </p:txBody>
      </p:sp>
      <p:pic>
        <p:nvPicPr>
          <p:cNvPr id="2" name="Picture 1" descr="A black and red logo&#10;&#10;Description automatically generated">
            <a:extLst>
              <a:ext uri="{FF2B5EF4-FFF2-40B4-BE49-F238E27FC236}">
                <a16:creationId xmlns:a16="http://schemas.microsoft.com/office/drawing/2014/main" id="{E0FE3D31-D8EE-48C8-60A1-49FE37AD37E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2209800" cy="947268"/>
          </a:xfrm>
          <a:prstGeom prst="rect">
            <a:avLst/>
          </a:prstGeom>
        </p:spPr>
      </p:pic>
      <p:sp>
        <p:nvSpPr>
          <p:cNvPr id="3" name="AutoShape 2" descr="Factors Influencing Perception">
            <a:extLst>
              <a:ext uri="{FF2B5EF4-FFF2-40B4-BE49-F238E27FC236}">
                <a16:creationId xmlns:a16="http://schemas.microsoft.com/office/drawing/2014/main" id="{4318141B-F5A2-7257-0207-A5E58B8AC05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a:extLst>
              <a:ext uri="{FF2B5EF4-FFF2-40B4-BE49-F238E27FC236}">
                <a16:creationId xmlns:a16="http://schemas.microsoft.com/office/drawing/2014/main" id="{BFCA0C06-2EF1-BCC0-5E08-E465AA21A782}"/>
              </a:ext>
            </a:extLst>
          </p:cNvPr>
          <p:cNvSpPr txBox="1"/>
          <p:nvPr/>
        </p:nvSpPr>
        <p:spPr>
          <a:xfrm>
            <a:off x="489858" y="1426945"/>
            <a:ext cx="10715770" cy="4154984"/>
          </a:xfrm>
          <a:prstGeom prst="rect">
            <a:avLst/>
          </a:prstGeom>
          <a:noFill/>
        </p:spPr>
        <p:txBody>
          <a:bodyPr wrap="square">
            <a:spAutoFit/>
          </a:bodyPr>
          <a:lstStyle/>
          <a:p>
            <a:pPr algn="just">
              <a:buNone/>
            </a:pPr>
            <a:r>
              <a:rPr lang="en-US" sz="2400" dirty="0">
                <a:latin typeface="Times New Roman" panose="02020603050405020304" pitchFamily="18" charset="0"/>
                <a:cs typeface="Times New Roman" panose="02020603050405020304" pitchFamily="18" charset="0"/>
              </a:rPr>
              <a:t>1.Koontz Harold, </a:t>
            </a:r>
            <a:r>
              <a:rPr lang="en-US" sz="2400" dirty="0" err="1">
                <a:latin typeface="Times New Roman" panose="02020603050405020304" pitchFamily="18" charset="0"/>
                <a:cs typeface="Times New Roman" panose="02020603050405020304" pitchFamily="18" charset="0"/>
              </a:rPr>
              <a:t>Weihrich</a:t>
            </a:r>
            <a:r>
              <a:rPr lang="en-US" sz="2400" dirty="0">
                <a:latin typeface="Times New Roman" panose="02020603050405020304" pitchFamily="18" charset="0"/>
                <a:cs typeface="Times New Roman" panose="02020603050405020304" pitchFamily="18" charset="0"/>
              </a:rPr>
              <a:t> Heinz&amp; Mark V. </a:t>
            </a:r>
            <a:r>
              <a:rPr lang="en-US" sz="2400" dirty="0" err="1">
                <a:latin typeface="Times New Roman" panose="02020603050405020304" pitchFamily="18" charset="0"/>
                <a:cs typeface="Times New Roman" panose="02020603050405020304" pitchFamily="18" charset="0"/>
              </a:rPr>
              <a:t>Cannice</a:t>
            </a:r>
            <a:r>
              <a:rPr lang="en-US" sz="2400" dirty="0">
                <a:latin typeface="Times New Roman" panose="02020603050405020304" pitchFamily="18" charset="0"/>
                <a:cs typeface="Times New Roman" panose="02020603050405020304" pitchFamily="18" charset="0"/>
              </a:rPr>
              <a:t> – Essentials of management (Tata McGraw Hill, 11thEdition,2020) </a:t>
            </a:r>
          </a:p>
          <a:p>
            <a:pPr algn="just">
              <a:buNone/>
            </a:pPr>
            <a:r>
              <a:rPr lang="en-US" sz="2400" dirty="0">
                <a:latin typeface="Times New Roman" panose="02020603050405020304" pitchFamily="18" charset="0"/>
                <a:cs typeface="Times New Roman" panose="02020603050405020304" pitchFamily="18" charset="0"/>
              </a:rPr>
              <a:t>2. Robbins Stephen P&amp; Judge Timothy A. ―Organizational </a:t>
            </a:r>
            <a:r>
              <a:rPr lang="en-US" sz="2400" dirty="0" err="1">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 (Pearson) </a:t>
            </a:r>
          </a:p>
          <a:p>
            <a:pPr algn="just">
              <a:buNone/>
            </a:pPr>
            <a:r>
              <a:rPr lang="en-US" sz="2400" dirty="0">
                <a:latin typeface="Times New Roman" panose="02020603050405020304" pitchFamily="18" charset="0"/>
                <a:cs typeface="Times New Roman" panose="02020603050405020304" pitchFamily="18" charset="0"/>
              </a:rPr>
              <a:t>3. Robbins &amp;Coulter :Management (Pearson, 14th Edition, 2019) </a:t>
            </a:r>
          </a:p>
          <a:p>
            <a:pPr algn="just">
              <a:buNone/>
            </a:pPr>
            <a:r>
              <a:rPr lang="en-US" sz="2400" dirty="0">
                <a:latin typeface="Times New Roman" panose="02020603050405020304" pitchFamily="18" charset="0"/>
                <a:cs typeface="Times New Roman" panose="02020603050405020304" pitchFamily="18" charset="0"/>
              </a:rPr>
              <a:t>4. Pareek </a:t>
            </a:r>
            <a:r>
              <a:rPr lang="en-US" sz="2400" dirty="0" err="1">
                <a:latin typeface="Times New Roman" panose="02020603050405020304" pitchFamily="18" charset="0"/>
                <a:cs typeface="Times New Roman" panose="02020603050405020304" pitchFamily="18" charset="0"/>
              </a:rPr>
              <a:t>Udai</a:t>
            </a:r>
            <a:r>
              <a:rPr lang="en-US" sz="2400" dirty="0">
                <a:latin typeface="Times New Roman" panose="02020603050405020304" pitchFamily="18" charset="0"/>
                <a:cs typeface="Times New Roman" panose="02020603050405020304" pitchFamily="18" charset="0"/>
              </a:rPr>
              <a:t> :Understanding Organizational </a:t>
            </a:r>
            <a:r>
              <a:rPr lang="en-US" sz="2400" dirty="0" err="1">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 (Oxford University Press, 4th Edition, 2016) </a:t>
            </a:r>
          </a:p>
          <a:p>
            <a:pPr algn="just">
              <a:buNone/>
            </a:pPr>
            <a:r>
              <a:rPr lang="en-US" sz="2400" dirty="0">
                <a:latin typeface="Times New Roman" panose="02020603050405020304" pitchFamily="18" charset="0"/>
                <a:cs typeface="Times New Roman" panose="02020603050405020304" pitchFamily="18" charset="0"/>
              </a:rPr>
              <a:t>5.Luthans Fred : Organizational </a:t>
            </a:r>
            <a:r>
              <a:rPr lang="en-US" sz="2400" dirty="0" err="1">
                <a:latin typeface="Times New Roman" panose="02020603050405020304" pitchFamily="18" charset="0"/>
                <a:cs typeface="Times New Roman" panose="02020603050405020304" pitchFamily="18" charset="0"/>
              </a:rPr>
              <a:t>Behaviour</a:t>
            </a:r>
            <a:r>
              <a:rPr lang="en-US" sz="2400" dirty="0">
                <a:latin typeface="Times New Roman" panose="02020603050405020304" pitchFamily="18" charset="0"/>
                <a:cs typeface="Times New Roman" panose="02020603050405020304" pitchFamily="18" charset="0"/>
              </a:rPr>
              <a:t>, (McGraw Hill International Edition, 12th Edition,2013)</a:t>
            </a:r>
          </a:p>
          <a:p>
            <a:pPr algn="just">
              <a:buNone/>
            </a:pPr>
            <a:r>
              <a:rPr lang="en-US" sz="2400" dirty="0">
                <a:latin typeface="Times New Roman" panose="02020603050405020304" pitchFamily="18" charset="0"/>
                <a:cs typeface="Times New Roman" panose="02020603050405020304" pitchFamily="18" charset="0"/>
              </a:rPr>
              <a:t>6. Prasad L. M. : Principles and Practices of Management, (</a:t>
            </a:r>
            <a:r>
              <a:rPr lang="en-US" sz="2400" dirty="0" err="1">
                <a:latin typeface="Times New Roman" panose="02020603050405020304" pitchFamily="18" charset="0"/>
                <a:cs typeface="Times New Roman" panose="02020603050405020304" pitchFamily="18" charset="0"/>
              </a:rPr>
              <a:t>SultanChand</a:t>
            </a:r>
            <a:r>
              <a:rPr lang="en-US" sz="2400" dirty="0">
                <a:latin typeface="Times New Roman" panose="02020603050405020304" pitchFamily="18" charset="0"/>
                <a:cs typeface="Times New Roman" panose="02020603050405020304" pitchFamily="18" charset="0"/>
              </a:rPr>
              <a:t>&amp; Sons, 9th edition,2016)</a:t>
            </a:r>
          </a:p>
          <a:p>
            <a:pPr algn="just"/>
            <a:endParaRPr lang="en-US" sz="2400" b="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35763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11166</TotalTime>
  <Words>5918</Words>
  <Application>Microsoft Office PowerPoint</Application>
  <PresentationFormat>Widescreen</PresentationFormat>
  <Paragraphs>764</Paragraphs>
  <Slides>74</Slides>
  <Notes>74</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74</vt:i4>
      </vt:variant>
    </vt:vector>
  </HeadingPairs>
  <TitlesOfParts>
    <vt:vector size="90" baseType="lpstr">
      <vt:lpstr>Alegreya Sans</vt:lpstr>
      <vt:lpstr>-apple-system</vt:lpstr>
      <vt:lpstr>Arial</vt:lpstr>
      <vt:lpstr>Calibri</vt:lpstr>
      <vt:lpstr>Calibri Light</vt:lpstr>
      <vt:lpstr>DM Sans</vt:lpstr>
      <vt:lpstr>Georgia</vt:lpstr>
      <vt:lpstr>inherit</vt:lpstr>
      <vt:lpstr>Muli</vt:lpstr>
      <vt:lpstr>Nunito</vt:lpstr>
      <vt:lpstr>Open Sans</vt:lpstr>
      <vt:lpstr>Rubik</vt:lpstr>
      <vt:lpstr>Times New Roman</vt:lpstr>
      <vt:lpstr>var(--font-stack-body)</vt:lpstr>
      <vt:lpstr>Wingdings</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hr.deepika13@outlook.com</dc:creator>
  <cp:lastModifiedBy>hr.deepika13@outlook.com</cp:lastModifiedBy>
  <cp:revision>25</cp:revision>
  <dcterms:created xsi:type="dcterms:W3CDTF">2024-07-29T07:50:59Z</dcterms:created>
  <dcterms:modified xsi:type="dcterms:W3CDTF">2024-09-09T10:14:02Z</dcterms:modified>
</cp:coreProperties>
</file>