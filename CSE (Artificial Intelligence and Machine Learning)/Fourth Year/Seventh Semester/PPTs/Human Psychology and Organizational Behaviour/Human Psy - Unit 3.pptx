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331" r:id="rId19"/>
    <p:sldId id="332" r:id="rId20"/>
    <p:sldId id="333" r:id="rId21"/>
    <p:sldId id="334" r:id="rId22"/>
    <p:sldId id="335" r:id="rId23"/>
    <p:sldId id="336" r:id="rId24"/>
    <p:sldId id="337" r:id="rId25"/>
    <p:sldId id="338" r:id="rId26"/>
    <p:sldId id="339" r:id="rId27"/>
    <p:sldId id="340" r:id="rId28"/>
    <p:sldId id="341" r:id="rId29"/>
    <p:sldId id="348" r:id="rId30"/>
    <p:sldId id="280" r:id="rId31"/>
    <p:sldId id="281" r:id="rId32"/>
    <p:sldId id="282" r:id="rId33"/>
    <p:sldId id="283" r:id="rId34"/>
    <p:sldId id="287" r:id="rId35"/>
    <p:sldId id="284" r:id="rId36"/>
    <p:sldId id="285" r:id="rId37"/>
    <p:sldId id="286" r:id="rId38"/>
    <p:sldId id="349" r:id="rId39"/>
    <p:sldId id="350" r:id="rId40"/>
    <p:sldId id="288" r:id="rId41"/>
    <p:sldId id="289" r:id="rId42"/>
    <p:sldId id="290" r:id="rId43"/>
    <p:sldId id="291" r:id="rId44"/>
    <p:sldId id="344" r:id="rId45"/>
    <p:sldId id="345" r:id="rId46"/>
    <p:sldId id="346" r:id="rId47"/>
    <p:sldId id="292" r:id="rId48"/>
    <p:sldId id="294" r:id="rId49"/>
    <p:sldId id="293" r:id="rId50"/>
    <p:sldId id="351" r:id="rId51"/>
    <p:sldId id="352" r:id="rId52"/>
    <p:sldId id="353" r:id="rId53"/>
    <p:sldId id="309" r:id="rId54"/>
    <p:sldId id="310" r:id="rId55"/>
    <p:sldId id="311" r:id="rId56"/>
    <p:sldId id="323" r:id="rId57"/>
    <p:sldId id="324" r:id="rId58"/>
    <p:sldId id="325" r:id="rId59"/>
    <p:sldId id="326" r:id="rId60"/>
    <p:sldId id="327" r:id="rId61"/>
    <p:sldId id="328" r:id="rId62"/>
    <p:sldId id="329" r:id="rId63"/>
    <p:sldId id="33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0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98377-F0CE-4B77-A714-FED9B4F735A3}" type="datetimeFigureOut">
              <a:rPr lang="en-IN" smtClean="0"/>
              <a:t>24-10-2024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9E85A-DC5C-42BB-8159-0A097CB445BA}" type="slidenum">
              <a:rPr lang="en-IN" smtClean="0"/>
              <a:t>‹#›</a:t>
            </a:fld>
            <a:endParaRPr lang="en-IN"/>
          </a:p>
        </p:txBody>
      </p:sp>
    </p:spTree>
    <p:extLst>
      <p:ext uri="{BB962C8B-B14F-4D97-AF65-F5344CB8AC3E}">
        <p14:creationId xmlns:p14="http://schemas.microsoft.com/office/powerpoint/2010/main" val="12350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2155221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1179126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4125203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438766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1977247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787020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1890008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188040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529629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1084263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2487348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3028555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3499199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a:p>
        </p:txBody>
      </p:sp>
    </p:spTree>
    <p:extLst>
      <p:ext uri="{BB962C8B-B14F-4D97-AF65-F5344CB8AC3E}">
        <p14:creationId xmlns:p14="http://schemas.microsoft.com/office/powerpoint/2010/main" val="1776851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a:p>
        </p:txBody>
      </p:sp>
    </p:spTree>
    <p:extLst>
      <p:ext uri="{BB962C8B-B14F-4D97-AF65-F5344CB8AC3E}">
        <p14:creationId xmlns:p14="http://schemas.microsoft.com/office/powerpoint/2010/main" val="4225515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2015634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1121988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0" i="0" dirty="0">
                <a:solidFill>
                  <a:srgbClr val="555555"/>
                </a:solidFill>
                <a:effectLst/>
                <a:latin typeface="MindMeridian-Regular"/>
              </a:rPr>
              <a:t>Stress is how we react when we feel under pressure or threatened. It usually happens when we are in a situation that we don't feel we can manage or control.</a:t>
            </a: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4188616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pPr algn="l" fontAlgn="base"/>
            <a:r>
              <a:rPr lang="en-US" b="1" i="0" dirty="0">
                <a:solidFill>
                  <a:srgbClr val="1468A1"/>
                </a:solidFill>
                <a:effectLst/>
                <a:highlight>
                  <a:srgbClr val="FFFFFF"/>
                </a:highlight>
                <a:latin typeface="inherit"/>
              </a:rPr>
              <a:t>Biological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The study of the biological contributions to personality may be studied under three heads:</a:t>
            </a:r>
          </a:p>
          <a:p>
            <a:pPr algn="l" fontAlgn="base"/>
            <a:r>
              <a:rPr lang="en-US" b="0" i="0" dirty="0">
                <a:solidFill>
                  <a:srgbClr val="333333"/>
                </a:solidFill>
                <a:effectLst/>
                <a:highlight>
                  <a:srgbClr val="FFFFFF"/>
                </a:highlight>
                <a:latin typeface="inherit"/>
              </a:rPr>
              <a:t>Heredity</a:t>
            </a:r>
            <a:endParaRPr lang="en-US" b="0" i="0" dirty="0">
              <a:solidFill>
                <a:srgbClr val="333333"/>
              </a:solidFill>
              <a:effectLst/>
              <a:highlight>
                <a:srgbClr val="FFFFFF"/>
              </a:highlight>
              <a:latin typeface="Muli"/>
            </a:endParaRPr>
          </a:p>
          <a:p>
            <a:pPr algn="l" fontAlgn="base"/>
            <a:r>
              <a:rPr lang="en-US" b="0" i="0" dirty="0">
                <a:solidFill>
                  <a:srgbClr val="0A0A0A"/>
                </a:solidFill>
                <a:effectLst/>
                <a:highlight>
                  <a:srgbClr val="FFFFFF"/>
                </a:highlight>
                <a:latin typeface="Muli"/>
              </a:rPr>
              <a:t>Heredity refers to those </a:t>
            </a:r>
            <a:r>
              <a:rPr lang="en-US" b="1" i="0" dirty="0">
                <a:solidFill>
                  <a:srgbClr val="0A0A0A"/>
                </a:solidFill>
                <a:effectLst/>
                <a:highlight>
                  <a:srgbClr val="FFFFFF"/>
                </a:highlight>
                <a:latin typeface="inherit"/>
              </a:rPr>
              <a:t>factors that were determined at conception</a:t>
            </a:r>
            <a:r>
              <a:rPr lang="en-US" b="0" i="0" dirty="0">
                <a:solidFill>
                  <a:srgbClr val="0A0A0A"/>
                </a:solidFill>
                <a:effectLst/>
                <a:highlight>
                  <a:srgbClr val="FFFFFF"/>
                </a:highlight>
                <a:latin typeface="Muli"/>
              </a:rPr>
              <a:t>. Physical stature, facial attractiveness, sex, temperament, muscle composition and reflexes, energy level, and biological rhythms are characteristics that are considered to be inherent from one’s parents.</a:t>
            </a:r>
          </a:p>
          <a:p>
            <a:pPr algn="l" fontAlgn="base"/>
            <a:r>
              <a:rPr lang="en-US" b="0" i="0" dirty="0">
                <a:solidFill>
                  <a:srgbClr val="333333"/>
                </a:solidFill>
                <a:effectLst/>
                <a:highlight>
                  <a:srgbClr val="FFFFFF"/>
                </a:highlight>
                <a:latin typeface="inherit"/>
              </a:rPr>
              <a:t>Brain</a:t>
            </a:r>
            <a:endParaRPr lang="en-US" b="0" i="0" dirty="0">
              <a:solidFill>
                <a:srgbClr val="333333"/>
              </a:solidFill>
              <a:effectLst/>
              <a:highlight>
                <a:srgbClr val="FFFFFF"/>
              </a:highlight>
              <a:latin typeface="Muli"/>
            </a:endParaRPr>
          </a:p>
          <a:p>
            <a:pPr algn="l" fontAlgn="base"/>
            <a:r>
              <a:rPr lang="en-US" b="0" i="0" dirty="0">
                <a:solidFill>
                  <a:srgbClr val="0A0A0A"/>
                </a:solidFill>
                <a:effectLst/>
                <a:highlight>
                  <a:srgbClr val="FFFFFF"/>
                </a:highlight>
                <a:latin typeface="Muli"/>
              </a:rPr>
              <a:t>The second biological approach is to concentrate on the role that the brain plays in personality. The psychologists are unable to prove empirically the contribution of the human brain in influencing personality.</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Cultural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Among the factors that influence personality formation is the culture in which </a:t>
            </a:r>
            <a:r>
              <a:rPr lang="en-US" b="1" i="0" dirty="0">
                <a:solidFill>
                  <a:srgbClr val="0A0A0A"/>
                </a:solidFill>
                <a:effectLst/>
                <a:highlight>
                  <a:srgbClr val="FFFFFF"/>
                </a:highlight>
                <a:latin typeface="inherit"/>
              </a:rPr>
              <a:t>we are raised, early conditioning, norms prevailing within</a:t>
            </a:r>
            <a:r>
              <a:rPr lang="en-US" b="0" i="0" dirty="0">
                <a:solidFill>
                  <a:srgbClr val="0A0A0A"/>
                </a:solidFill>
                <a:effectLst/>
                <a:highlight>
                  <a:srgbClr val="FFFFFF"/>
                </a:highlight>
                <a:latin typeface="Muli"/>
              </a:rPr>
              <a:t> the family, friends and social groups and other miscellaneous experiences that impact us.</a:t>
            </a:r>
          </a:p>
          <a:p>
            <a:pPr algn="l" fontAlgn="base"/>
            <a:r>
              <a:rPr lang="en-US" b="0" i="0" dirty="0">
                <a:solidFill>
                  <a:srgbClr val="0A0A0A"/>
                </a:solidFill>
                <a:effectLst/>
                <a:highlight>
                  <a:srgbClr val="FFFFFF"/>
                </a:highlight>
                <a:latin typeface="Muli"/>
              </a:rPr>
              <a:t>The c</a:t>
            </a:r>
            <a:r>
              <a:rPr lang="en-US" b="1" i="0" dirty="0">
                <a:solidFill>
                  <a:srgbClr val="0A0A0A"/>
                </a:solidFill>
                <a:effectLst/>
                <a:highlight>
                  <a:srgbClr val="FFFFFF"/>
                </a:highlight>
                <a:latin typeface="inherit"/>
              </a:rPr>
              <a:t>ulture largely determines attitudes towards</a:t>
            </a:r>
            <a:r>
              <a:rPr lang="en-US" b="0" i="0" dirty="0">
                <a:solidFill>
                  <a:srgbClr val="0A0A0A"/>
                </a:solidFill>
                <a:effectLst/>
                <a:highlight>
                  <a:srgbClr val="FFFFFF"/>
                </a:highlight>
                <a:latin typeface="Muli"/>
              </a:rPr>
              <a:t> independence, aggression, competition, cooperation and a host of other human responses</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Family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Whereas the culture generally prescribes and limits what a person can be taught, it is the family, and later the social group, which selects, interprets and dispenses the culture. Thus, the family probably has the most significant impact on early personality development.</a:t>
            </a:r>
          </a:p>
          <a:p>
            <a:pPr algn="l" fontAlgn="base"/>
            <a:r>
              <a:rPr lang="en-US" b="0" i="0" dirty="0">
                <a:solidFill>
                  <a:srgbClr val="0A0A0A"/>
                </a:solidFill>
                <a:effectLst/>
                <a:highlight>
                  <a:srgbClr val="FFFFFF"/>
                </a:highlight>
                <a:latin typeface="Muli"/>
              </a:rPr>
              <a:t>A substantial amount of empirical evidence indicates that the </a:t>
            </a:r>
            <a:r>
              <a:rPr lang="en-US" b="1" i="0" dirty="0">
                <a:solidFill>
                  <a:srgbClr val="0A0A0A"/>
                </a:solidFill>
                <a:effectLst/>
                <a:highlight>
                  <a:srgbClr val="FFFFFF"/>
                </a:highlight>
                <a:latin typeface="inherit"/>
              </a:rPr>
              <a:t>overall home environment created by the parents</a:t>
            </a:r>
            <a:r>
              <a:rPr lang="en-US" b="0" i="0" dirty="0">
                <a:solidFill>
                  <a:srgbClr val="0A0A0A"/>
                </a:solidFill>
                <a:effectLst/>
                <a:highlight>
                  <a:srgbClr val="FFFFFF"/>
                </a:highlight>
                <a:latin typeface="Muli"/>
              </a:rPr>
              <a:t>, in addition to their direct influence, is </a:t>
            </a:r>
            <a:r>
              <a:rPr lang="en-US" b="1" i="0" dirty="0">
                <a:solidFill>
                  <a:srgbClr val="0A0A0A"/>
                </a:solidFill>
                <a:effectLst/>
                <a:highlight>
                  <a:srgbClr val="FFFFFF"/>
                </a:highlight>
                <a:latin typeface="inherit"/>
              </a:rPr>
              <a:t>critical to personality development</a:t>
            </a:r>
            <a:r>
              <a:rPr lang="en-US" b="0" i="0" dirty="0">
                <a:solidFill>
                  <a:srgbClr val="0A0A0A"/>
                </a:solidFill>
                <a:effectLst/>
                <a:highlight>
                  <a:srgbClr val="FFFFFF"/>
                </a:highlight>
                <a:latin typeface="Muli"/>
              </a:rPr>
              <a:t>.</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Social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There is increasing recognition given to the role of other relevant persons, groups and especially </a:t>
            </a:r>
            <a:r>
              <a:rPr lang="en-US" b="0" i="0" dirty="0" err="1">
                <a:solidFill>
                  <a:srgbClr val="0A0A0A"/>
                </a:solidFill>
                <a:effectLst/>
                <a:highlight>
                  <a:srgbClr val="FFFFFF"/>
                </a:highlight>
                <a:latin typeface="Muli"/>
              </a:rPr>
              <a:t>organisations</a:t>
            </a:r>
            <a:r>
              <a:rPr lang="en-US" b="0" i="0" dirty="0">
                <a:solidFill>
                  <a:srgbClr val="0A0A0A"/>
                </a:solidFill>
                <a:effectLst/>
                <a:highlight>
                  <a:srgbClr val="FFFFFF"/>
                </a:highlight>
                <a:latin typeface="Muli"/>
              </a:rPr>
              <a:t>, which greatly influence an individual’s personality. This is commonly called the socialization process.</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Situational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Human personality is also influenced by situational factors. The effect of the environment is quite strong. </a:t>
            </a:r>
            <a:r>
              <a:rPr lang="en-US" b="1" i="0" dirty="0">
                <a:solidFill>
                  <a:srgbClr val="0A0A0A"/>
                </a:solidFill>
                <a:effectLst/>
                <a:highlight>
                  <a:srgbClr val="FFFFFF"/>
                </a:highlight>
                <a:latin typeface="inherit"/>
              </a:rPr>
              <a:t>Knowledge, skill and language</a:t>
            </a:r>
            <a:r>
              <a:rPr lang="en-US" b="0" i="0" dirty="0">
                <a:solidFill>
                  <a:srgbClr val="0A0A0A"/>
                </a:solidFill>
                <a:effectLst/>
                <a:highlight>
                  <a:srgbClr val="FFFFFF"/>
                </a:highlight>
                <a:latin typeface="Muli"/>
              </a:rPr>
              <a:t> are obviously acquired and </a:t>
            </a:r>
            <a:r>
              <a:rPr lang="en-US" b="1" i="0" dirty="0">
                <a:solidFill>
                  <a:srgbClr val="0A0A0A"/>
                </a:solidFill>
                <a:effectLst/>
                <a:highlight>
                  <a:srgbClr val="FFFFFF"/>
                </a:highlight>
                <a:latin typeface="inherit"/>
              </a:rPr>
              <a:t>represent important modifications of behavior</a:t>
            </a:r>
            <a:r>
              <a:rPr lang="en-US" b="0" i="0" dirty="0">
                <a:solidFill>
                  <a:srgbClr val="0A0A0A"/>
                </a:solidFill>
                <a:effectLst/>
                <a:highlight>
                  <a:srgbClr val="FFFFFF"/>
                </a:highlight>
                <a:latin typeface="Muli"/>
              </a:rPr>
              <a:t>.</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1841227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1751291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1419453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457550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24</a:t>
            </a:fld>
            <a:endParaRPr lang="en-US"/>
          </a:p>
        </p:txBody>
      </p:sp>
    </p:spTree>
    <p:extLst>
      <p:ext uri="{BB962C8B-B14F-4D97-AF65-F5344CB8AC3E}">
        <p14:creationId xmlns:p14="http://schemas.microsoft.com/office/powerpoint/2010/main" val="1725183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25</a:t>
            </a:fld>
            <a:endParaRPr lang="en-US"/>
          </a:p>
        </p:txBody>
      </p:sp>
    </p:spTree>
    <p:extLst>
      <p:ext uri="{BB962C8B-B14F-4D97-AF65-F5344CB8AC3E}">
        <p14:creationId xmlns:p14="http://schemas.microsoft.com/office/powerpoint/2010/main" val="2638383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1125316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27</a:t>
            </a:fld>
            <a:endParaRPr lang="en-US"/>
          </a:p>
        </p:txBody>
      </p:sp>
    </p:spTree>
    <p:extLst>
      <p:ext uri="{BB962C8B-B14F-4D97-AF65-F5344CB8AC3E}">
        <p14:creationId xmlns:p14="http://schemas.microsoft.com/office/powerpoint/2010/main" val="15603590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2462478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29</a:t>
            </a:fld>
            <a:endParaRPr lang="en-US"/>
          </a:p>
        </p:txBody>
      </p:sp>
    </p:spTree>
    <p:extLst>
      <p:ext uri="{BB962C8B-B14F-4D97-AF65-F5344CB8AC3E}">
        <p14:creationId xmlns:p14="http://schemas.microsoft.com/office/powerpoint/2010/main" val="528340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a:p>
        </p:txBody>
      </p:sp>
    </p:spTree>
    <p:extLst>
      <p:ext uri="{BB962C8B-B14F-4D97-AF65-F5344CB8AC3E}">
        <p14:creationId xmlns:p14="http://schemas.microsoft.com/office/powerpoint/2010/main" val="3887640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31</a:t>
            </a:fld>
            <a:endParaRPr lang="en-US"/>
          </a:p>
        </p:txBody>
      </p:sp>
    </p:spTree>
    <p:extLst>
      <p:ext uri="{BB962C8B-B14F-4D97-AF65-F5344CB8AC3E}">
        <p14:creationId xmlns:p14="http://schemas.microsoft.com/office/powerpoint/2010/main" val="4251861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22222"/>
                </a:solidFill>
                <a:effectLst/>
                <a:latin typeface="-apple-system"/>
              </a:rPr>
              <a:t>Nowadays, stress is normal for every human being. Stress is generally, the reaction of the human body to a situation where we feel we can’t manage or control it. Stress can be referred to as any type of change in humans due to psychological, emotional or physical strain.</a:t>
            </a:r>
            <a:endParaRPr lang="en-IN" dirty="0"/>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a:p>
        </p:txBody>
      </p:sp>
    </p:spTree>
    <p:extLst>
      <p:ext uri="{BB962C8B-B14F-4D97-AF65-F5344CB8AC3E}">
        <p14:creationId xmlns:p14="http://schemas.microsoft.com/office/powerpoint/2010/main" val="37665420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33</a:t>
            </a:fld>
            <a:endParaRPr lang="en-US"/>
          </a:p>
        </p:txBody>
      </p:sp>
    </p:spTree>
    <p:extLst>
      <p:ext uri="{BB962C8B-B14F-4D97-AF65-F5344CB8AC3E}">
        <p14:creationId xmlns:p14="http://schemas.microsoft.com/office/powerpoint/2010/main" val="1648251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0" i="0" dirty="0">
                <a:solidFill>
                  <a:srgbClr val="333333"/>
                </a:solidFill>
                <a:effectLst/>
                <a:latin typeface="Open Sans" panose="020B0606030504020204" pitchFamily="34" charset="0"/>
              </a:rPr>
              <a:t>an open clash between two opposing groups </a:t>
            </a: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34</a:t>
            </a:fld>
            <a:endParaRPr lang="en-US"/>
          </a:p>
        </p:txBody>
      </p:sp>
    </p:spTree>
    <p:extLst>
      <p:ext uri="{BB962C8B-B14F-4D97-AF65-F5344CB8AC3E}">
        <p14:creationId xmlns:p14="http://schemas.microsoft.com/office/powerpoint/2010/main" val="1724411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28463337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300485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40059059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35626161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3298803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40</a:t>
            </a:fld>
            <a:endParaRPr lang="en-US"/>
          </a:p>
        </p:txBody>
      </p:sp>
    </p:spTree>
    <p:extLst>
      <p:ext uri="{BB962C8B-B14F-4D97-AF65-F5344CB8AC3E}">
        <p14:creationId xmlns:p14="http://schemas.microsoft.com/office/powerpoint/2010/main" val="13586167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mj-lt"/>
              <a:buAutoNum type="arabicPeriod"/>
            </a:pPr>
            <a:r>
              <a:rPr lang="en-US" b="0" i="0" dirty="0">
                <a:solidFill>
                  <a:srgbClr val="111111"/>
                </a:solidFill>
                <a:effectLst/>
                <a:latin typeface="-apple-system"/>
              </a:rPr>
              <a:t>Latent Stage: Participants are not yet aware of conflict.</a:t>
            </a:r>
          </a:p>
          <a:p>
            <a:pPr algn="l">
              <a:buFont typeface="+mj-lt"/>
              <a:buAutoNum type="arabicPeriod"/>
            </a:pPr>
            <a:r>
              <a:rPr lang="en-US" b="0" i="0" dirty="0">
                <a:solidFill>
                  <a:srgbClr val="111111"/>
                </a:solidFill>
                <a:effectLst/>
                <a:latin typeface="-apple-system"/>
              </a:rPr>
              <a:t>Perceived Stage: Participants are aware a conflict exists.</a:t>
            </a:r>
          </a:p>
          <a:p>
            <a:pPr algn="l">
              <a:buFont typeface="+mj-lt"/>
              <a:buAutoNum type="arabicPeriod"/>
            </a:pPr>
            <a:r>
              <a:rPr lang="en-US" b="0" i="0" dirty="0">
                <a:solidFill>
                  <a:srgbClr val="111111"/>
                </a:solidFill>
                <a:effectLst/>
                <a:latin typeface="-apple-system"/>
              </a:rPr>
              <a:t>Felt Stage: Stress and anxiety.</a:t>
            </a:r>
          </a:p>
          <a:p>
            <a:pPr algn="l">
              <a:buFont typeface="+mj-lt"/>
              <a:buAutoNum type="arabicPeriod"/>
            </a:pPr>
            <a:r>
              <a:rPr lang="en-US" b="0" i="0" dirty="0">
                <a:solidFill>
                  <a:srgbClr val="111111"/>
                </a:solidFill>
                <a:effectLst/>
                <a:latin typeface="-apple-system"/>
              </a:rPr>
              <a:t>Manifest Stage: Conflict is open and can be observed.</a:t>
            </a:r>
          </a:p>
          <a:p>
            <a:pPr algn="l">
              <a:buFont typeface="+mj-lt"/>
              <a:buAutoNum type="arabicPeriod"/>
            </a:pPr>
            <a:r>
              <a:rPr lang="en-US" b="0" i="0" dirty="0">
                <a:solidFill>
                  <a:srgbClr val="111111"/>
                </a:solidFill>
                <a:effectLst/>
                <a:latin typeface="-apple-system"/>
              </a:rPr>
              <a:t>Aftermath Stage: Outcome of conflict, resolution or dissolution.</a:t>
            </a:r>
          </a:p>
          <a:p>
            <a:pPr algn="l">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39604383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a:p>
        </p:txBody>
      </p:sp>
    </p:spTree>
    <p:extLst>
      <p:ext uri="{BB962C8B-B14F-4D97-AF65-F5344CB8AC3E}">
        <p14:creationId xmlns:p14="http://schemas.microsoft.com/office/powerpoint/2010/main" val="3810524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a:p>
        </p:txBody>
      </p:sp>
    </p:spTree>
    <p:extLst>
      <p:ext uri="{BB962C8B-B14F-4D97-AF65-F5344CB8AC3E}">
        <p14:creationId xmlns:p14="http://schemas.microsoft.com/office/powerpoint/2010/main" val="6778323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2731394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45</a:t>
            </a:fld>
            <a:endParaRPr lang="en-US"/>
          </a:p>
        </p:txBody>
      </p:sp>
    </p:spTree>
    <p:extLst>
      <p:ext uri="{BB962C8B-B14F-4D97-AF65-F5344CB8AC3E}">
        <p14:creationId xmlns:p14="http://schemas.microsoft.com/office/powerpoint/2010/main" val="19394948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46</a:t>
            </a:fld>
            <a:endParaRPr lang="en-US"/>
          </a:p>
        </p:txBody>
      </p:sp>
    </p:spTree>
    <p:extLst>
      <p:ext uri="{BB962C8B-B14F-4D97-AF65-F5344CB8AC3E}">
        <p14:creationId xmlns:p14="http://schemas.microsoft.com/office/powerpoint/2010/main" val="19373880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47</a:t>
            </a:fld>
            <a:endParaRPr lang="en-US"/>
          </a:p>
        </p:txBody>
      </p:sp>
    </p:spTree>
    <p:extLst>
      <p:ext uri="{BB962C8B-B14F-4D97-AF65-F5344CB8AC3E}">
        <p14:creationId xmlns:p14="http://schemas.microsoft.com/office/powerpoint/2010/main" val="24747980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48</a:t>
            </a:fld>
            <a:endParaRPr lang="en-US"/>
          </a:p>
        </p:txBody>
      </p:sp>
    </p:spTree>
    <p:extLst>
      <p:ext uri="{BB962C8B-B14F-4D97-AF65-F5344CB8AC3E}">
        <p14:creationId xmlns:p14="http://schemas.microsoft.com/office/powerpoint/2010/main" val="2891160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49</a:t>
            </a:fld>
            <a:endParaRPr lang="en-US"/>
          </a:p>
        </p:txBody>
      </p:sp>
    </p:spTree>
    <p:extLst>
      <p:ext uri="{BB962C8B-B14F-4D97-AF65-F5344CB8AC3E}">
        <p14:creationId xmlns:p14="http://schemas.microsoft.com/office/powerpoint/2010/main" val="23052668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22117962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51</a:t>
            </a:fld>
            <a:endParaRPr lang="en-US"/>
          </a:p>
        </p:txBody>
      </p:sp>
    </p:spTree>
    <p:extLst>
      <p:ext uri="{BB962C8B-B14F-4D97-AF65-F5344CB8AC3E}">
        <p14:creationId xmlns:p14="http://schemas.microsoft.com/office/powerpoint/2010/main" val="2206004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18093091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7444154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1130420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40086339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9812204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57</a:t>
            </a:fld>
            <a:endParaRPr lang="en-US"/>
          </a:p>
        </p:txBody>
      </p:sp>
    </p:spTree>
    <p:extLst>
      <p:ext uri="{BB962C8B-B14F-4D97-AF65-F5344CB8AC3E}">
        <p14:creationId xmlns:p14="http://schemas.microsoft.com/office/powerpoint/2010/main" val="2579907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58</a:t>
            </a:fld>
            <a:endParaRPr lang="en-US"/>
          </a:p>
        </p:txBody>
      </p:sp>
    </p:spTree>
    <p:extLst>
      <p:ext uri="{BB962C8B-B14F-4D97-AF65-F5344CB8AC3E}">
        <p14:creationId xmlns:p14="http://schemas.microsoft.com/office/powerpoint/2010/main" val="22717131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59</a:t>
            </a:fld>
            <a:endParaRPr lang="en-US"/>
          </a:p>
        </p:txBody>
      </p:sp>
    </p:spTree>
    <p:extLst>
      <p:ext uri="{BB962C8B-B14F-4D97-AF65-F5344CB8AC3E}">
        <p14:creationId xmlns:p14="http://schemas.microsoft.com/office/powerpoint/2010/main" val="41629733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7027167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3403507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33420237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323821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96A0-834C-CC1F-442F-F88D41423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C9EE30-BCD6-FD00-2F73-824A2F405F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5BE659-7072-1A60-5E52-D9CA0E4FDC7C}"/>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FDCF5D28-B5C5-39B5-0B5A-96F3C442ED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69410-8EB9-ACB0-69B5-0920C04D0069}"/>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418235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1AEB-46C1-354F-F715-9C0D78BDBB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07A731-8F79-57DA-D675-68A10717C2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2C4AAF-EC41-6C1F-F544-945793980A02}"/>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565A5BE9-0307-D77F-5515-57FF2ED697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289425-5706-18EB-E5C3-7F0B63E8279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89562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8CCF-499C-5EB2-584E-CB5758FFD9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D75660-B49B-FA59-AA6D-39AB1349D4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8E1F63-B7D1-93DA-A529-D05A4C72711D}"/>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0B8140D9-A105-0038-42C0-DB50DD9CD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B35A27-B798-B468-78D0-BA1169D62DAD}"/>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85216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06D-17E9-5132-1472-5B6DEB4ED1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9DF772-183D-88E7-4039-CBE988CE13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5184CC-6308-9EBE-D53C-E8BACF6A1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A486BB-D3EE-1044-CF45-E99D9E6B65BA}"/>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6" name="Footer Placeholder 5">
            <a:extLst>
              <a:ext uri="{FF2B5EF4-FFF2-40B4-BE49-F238E27FC236}">
                <a16:creationId xmlns:a16="http://schemas.microsoft.com/office/drawing/2014/main" id="{779E9EE8-919C-0872-B061-B76A21EADD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02B7B2-BC8E-18DC-8BF6-3F552665DBD2}"/>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429098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06FB1-7115-B4E5-7D60-A2C8141DE1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A4E0A1-1138-86C0-44EC-8320D75C25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D2DE1-34DB-7832-7B79-A1CF1F39DC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C988ED-0AB0-FFC2-3B44-9D8D8B42E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AF45C6-89D0-D07C-F9D1-78D6843BB3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C6BA9-FD48-74AD-5B12-143EBDAD87F1}"/>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8" name="Footer Placeholder 7">
            <a:extLst>
              <a:ext uri="{FF2B5EF4-FFF2-40B4-BE49-F238E27FC236}">
                <a16:creationId xmlns:a16="http://schemas.microsoft.com/office/drawing/2014/main" id="{AFCDB0FF-4EE5-17BD-3B7C-F906A793C0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83E92-DBC8-04D8-0CAB-6DE7C25FD4CB}"/>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079331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8829-78A5-876A-B08C-24972D64EC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419D2D-7490-2D26-F72F-37B58F462EB6}"/>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4" name="Footer Placeholder 3">
            <a:extLst>
              <a:ext uri="{FF2B5EF4-FFF2-40B4-BE49-F238E27FC236}">
                <a16:creationId xmlns:a16="http://schemas.microsoft.com/office/drawing/2014/main" id="{634D5A46-A912-129D-9BD6-FAF75F485C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ABCF05-4575-BA2A-E18B-545CF0D3206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3569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A2946-ADED-DB1F-9AE4-1AAE1327E67B}"/>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3" name="Footer Placeholder 2">
            <a:extLst>
              <a:ext uri="{FF2B5EF4-FFF2-40B4-BE49-F238E27FC236}">
                <a16:creationId xmlns:a16="http://schemas.microsoft.com/office/drawing/2014/main" id="{E3182AA9-7705-1867-68D5-4CD9B27EC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52A41-B9B5-7FB3-98A4-407822A51CD3}"/>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607379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88EB-F350-C42C-F26C-8322116E3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F3415E-49F2-FC90-6243-87D6A190FB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E6D191-69D3-31E3-C2E3-721DC57C8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57258-9949-5C26-B569-4350FCD02FC3}"/>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6" name="Footer Placeholder 5">
            <a:extLst>
              <a:ext uri="{FF2B5EF4-FFF2-40B4-BE49-F238E27FC236}">
                <a16:creationId xmlns:a16="http://schemas.microsoft.com/office/drawing/2014/main" id="{E887FF2C-683D-AA28-546E-74DCF0F2D7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7D0716-DDA8-03C4-9A32-DF75A21AE6BF}"/>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365477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5311A-7035-FF6F-30CB-C4FDE152E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27AA20-73A0-594B-CC77-9A9AEBDE4B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9F035-2035-CBEF-924B-F1FAB2579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CD004-CEBA-6210-B903-16E6A0B726F4}"/>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6" name="Footer Placeholder 5">
            <a:extLst>
              <a:ext uri="{FF2B5EF4-FFF2-40B4-BE49-F238E27FC236}">
                <a16:creationId xmlns:a16="http://schemas.microsoft.com/office/drawing/2014/main" id="{CFE2150D-4B1E-A93A-0C2F-571369BE43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40EC0-F18D-B3F6-97A0-50B5ACB6949E}"/>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871558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228FC-4EC5-6C66-00F4-E59529B666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C02810-3010-0012-EBD9-9ADDBAE226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A1E5B-98DA-25E2-E62F-5822169B9E93}"/>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2E6BAEA3-A087-6F0E-E591-DA641012C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D05388-9770-194C-8ECE-65BA545E8EEC}"/>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078499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CAA731-AF98-5E20-D22E-C5F1BF506B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338DEA-02D2-C8A4-DBA2-F1E4A6E86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30071-883D-753E-95C0-7AE748708CAA}"/>
              </a:ext>
            </a:extLst>
          </p:cNvPr>
          <p:cNvSpPr>
            <a:spLocks noGrp="1"/>
          </p:cNvSpPr>
          <p:nvPr>
            <p:ph type="dt" sz="half" idx="10"/>
          </p:nvPr>
        </p:nvSpPr>
        <p:spPr/>
        <p:txBody>
          <a:body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C39815C5-D7BD-2A32-8533-852C2CD8D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C9C1B-F539-56FD-1E55-91CFA3C46850}"/>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39766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B43930-4043-4D7B-CEAD-672F0D0DB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D8C064-D196-CFA3-35E2-B2120B429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108CF4-3574-EC0F-62F0-FC37942F0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32C9D-8AC8-451C-8C9C-8128E2EA837B}" type="datetimeFigureOut">
              <a:rPr lang="en-IN" smtClean="0"/>
              <a:t>24-10-2024</a:t>
            </a:fld>
            <a:endParaRPr lang="en-IN"/>
          </a:p>
        </p:txBody>
      </p:sp>
      <p:sp>
        <p:nvSpPr>
          <p:cNvPr id="5" name="Footer Placeholder 4">
            <a:extLst>
              <a:ext uri="{FF2B5EF4-FFF2-40B4-BE49-F238E27FC236}">
                <a16:creationId xmlns:a16="http://schemas.microsoft.com/office/drawing/2014/main" id="{A6C2FF6A-A1AA-EC43-6279-3CD60E7F5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B75768-7454-C369-90B1-C052DDB65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82CB0-C2B4-4A18-A52B-31F3F37278A0}" type="slidenum">
              <a:rPr lang="en-IN" smtClean="0"/>
              <a:t>‹#›</a:t>
            </a:fld>
            <a:endParaRPr lang="en-IN"/>
          </a:p>
        </p:txBody>
      </p:sp>
    </p:spTree>
    <p:extLst>
      <p:ext uri="{BB962C8B-B14F-4D97-AF65-F5344CB8AC3E}">
        <p14:creationId xmlns:p14="http://schemas.microsoft.com/office/powerpoint/2010/main" val="1817719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mailto:deepika@niet.co.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5_btNIdvEfo"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youtube.com/watch?v=uXuj-Kj6_wE" TargetMode="External"/><Relationship Id="rId4" Type="http://schemas.openxmlformats.org/officeDocument/2006/relationships/hyperlink" Target="https://www.youtube.com/watch?v=Lx83q3mW0oo"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hyperlink" Target="https://www.youtube.com/watch?v=E8s-IsB2p5c" TargetMode="External"/><Relationship Id="rId5" Type="http://schemas.openxmlformats.org/officeDocument/2006/relationships/hyperlink" Target="https://www.youtube.com/watch?v=tCEuJxJH4qA" TargetMode="External"/><Relationship Id="rId4" Type="http://schemas.openxmlformats.org/officeDocument/2006/relationships/hyperlink" Target="https://www.youtube.com/watch?v=R3aonvQQOt8"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lnSpcReduction="10000"/>
          </a:bodyPr>
          <a:lstStyle/>
          <a:p>
            <a:endParaRPr lang="en-US" sz="2500" dirty="0">
              <a:solidFill>
                <a:schemeClr val="tx1"/>
              </a:solidFill>
            </a:endParaRPr>
          </a:p>
          <a:p>
            <a:r>
              <a:rPr lang="en-US" sz="1800" b="1" kern="0" dirty="0">
                <a:effectLst/>
                <a:latin typeface="Times New Roman" panose="02020603050405020304" pitchFamily="18" charset="0"/>
                <a:ea typeface="Times New Roman" panose="02020603050405020304" pitchFamily="18" charset="0"/>
              </a:rPr>
              <a:t>Conflict</a:t>
            </a:r>
            <a:r>
              <a:rPr lang="en-US" sz="1800" b="1" kern="0" spc="-20"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and</a:t>
            </a:r>
            <a:r>
              <a:rPr lang="en-US" sz="1800" b="1" kern="0" spc="-15"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Stress</a:t>
            </a:r>
            <a:r>
              <a:rPr lang="en-US" sz="1800" b="1" kern="0" spc="-15" dirty="0">
                <a:effectLst/>
                <a:latin typeface="Times New Roman" panose="02020603050405020304" pitchFamily="18" charset="0"/>
                <a:ea typeface="Times New Roman" panose="02020603050405020304" pitchFamily="18" charset="0"/>
              </a:rPr>
              <a:t> </a:t>
            </a:r>
            <a:r>
              <a:rPr lang="en-US" sz="1800" b="1" kern="0" spc="-10" dirty="0">
                <a:effectLst/>
                <a:latin typeface="Times New Roman" panose="02020603050405020304" pitchFamily="18" charset="0"/>
                <a:ea typeface="Times New Roman" panose="02020603050405020304" pitchFamily="18" charset="0"/>
              </a:rPr>
              <a:t>Management</a:t>
            </a:r>
            <a:endParaRPr lang="en-US" sz="2500" dirty="0">
              <a:solidFill>
                <a:schemeClr val="tx1"/>
              </a:solidFill>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Deepika Sharma</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MBA Dept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38801551-5877-4C21-9B34-9746B04ED5CA}" type="datetime1">
              <a:rPr lang="en-US" smtClean="0"/>
              <a:pPr/>
              <a:t>10/24/2024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III</a:t>
            </a:r>
          </a:p>
        </p:txBody>
      </p:sp>
      <p:sp>
        <p:nvSpPr>
          <p:cNvPr id="13" name="Footer Placeholder 12"/>
          <p:cNvSpPr>
            <a:spLocks noGrp="1"/>
          </p:cNvSpPr>
          <p:nvPr>
            <p:ph type="ftr" sz="quarter" idx="11"/>
          </p:nvPr>
        </p:nvSpPr>
        <p:spPr>
          <a:xfrm>
            <a:off x="3810000" y="6248401"/>
            <a:ext cx="5029200" cy="365125"/>
          </a:xfrm>
        </p:spPr>
        <p:txBody>
          <a:bodyPr/>
          <a:lstStyle/>
          <a:p>
            <a:r>
              <a:rPr lang="en-US" dirty="0"/>
              <a:t>Faculty Name             Subject code and abbreviation                Unit Number</a:t>
            </a: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Conflict and Stress Management</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(MCA INT 5</a:t>
            </a:r>
            <a:r>
              <a:rPr lang="en-US" sz="2000" baseline="30000" dirty="0">
                <a:solidFill>
                  <a:schemeClr val="tx1"/>
                </a:solidFill>
              </a:rPr>
              <a:t>th</a:t>
            </a:r>
            <a:r>
              <a:rPr lang="en-US" sz="2000" dirty="0">
                <a:solidFill>
                  <a:schemeClr val="tx1"/>
                </a:solidFill>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Faculty Name:	Deepika Sharma</a:t>
            </a:r>
          </a:p>
          <a:p>
            <a:pPr algn="just"/>
            <a:r>
              <a:rPr lang="en-US" sz="2400" dirty="0">
                <a:effectLst/>
                <a:latin typeface="Times New Roman" panose="02020603050405020304" pitchFamily="18" charset="0"/>
                <a:ea typeface="Times New Roman" panose="02020603050405020304" pitchFamily="18" charset="0"/>
              </a:rPr>
              <a:t>Designation:   Assistant Professor</a:t>
            </a:r>
          </a:p>
          <a:p>
            <a:pPr algn="just"/>
            <a:r>
              <a:rPr lang="en-US"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Department:	MBA</a:t>
            </a:r>
          </a:p>
          <a:p>
            <a:pPr algn="just"/>
            <a:r>
              <a:rPr lang="en-US" sz="2400" dirty="0">
                <a:effectLst/>
                <a:latin typeface="Times New Roman" panose="02020603050405020304" pitchFamily="18" charset="0"/>
                <a:ea typeface="Times New Roman" panose="02020603050405020304" pitchFamily="18" charset="0"/>
              </a:rPr>
              <a:t>Email ID: </a:t>
            </a:r>
            <a:r>
              <a:rPr lang="en-US" sz="2400" dirty="0">
                <a:effectLst/>
                <a:latin typeface="Times New Roman" panose="02020603050405020304" pitchFamily="18" charset="0"/>
                <a:ea typeface="Times New Roman" panose="02020603050405020304" pitchFamily="18" charset="0"/>
                <a:hlinkClick r:id="rId3"/>
              </a:rPr>
              <a:t>deepika@niet.co.in</a:t>
            </a:r>
            <a:endParaRPr lang="en-US" sz="2400"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Qualification: Pursuing Ph.D.</a:t>
            </a:r>
          </a:p>
          <a:p>
            <a:pPr algn="just"/>
            <a:r>
              <a:rPr lang="en-US" sz="2400" dirty="0">
                <a:effectLst/>
                <a:latin typeface="Times New Roman" panose="02020603050405020304" pitchFamily="18" charset="0"/>
                <a:ea typeface="Times New Roman" panose="02020603050405020304" pitchFamily="18" charset="0"/>
              </a:rPr>
              <a:t>Specialization:	HR, Marketing</a:t>
            </a:r>
          </a:p>
          <a:p>
            <a:pPr algn="just"/>
            <a:r>
              <a:rPr lang="en-US" sz="2400" dirty="0">
                <a:effectLst/>
                <a:latin typeface="Times New Roman" panose="02020603050405020304" pitchFamily="18" charset="0"/>
                <a:ea typeface="Times New Roman" panose="02020603050405020304" pitchFamily="18" charset="0"/>
              </a:rPr>
              <a:t>Teaching Area:    </a:t>
            </a:r>
          </a:p>
          <a:p>
            <a:pPr algn="just"/>
            <a:r>
              <a:rPr lang="en-US" sz="2400" dirty="0">
                <a:effectLst/>
                <a:latin typeface="Times New Roman" panose="02020603050405020304" pitchFamily="18" charset="0"/>
                <a:ea typeface="Times New Roman" panose="02020603050405020304" pitchFamily="18" charset="0"/>
              </a:rPr>
              <a:t>Total Experience: 2 Years</a:t>
            </a: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Faculty Introduction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BDED46F1-22A1-CDEF-46BA-DEF9E8BEE7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5891" y="1065583"/>
            <a:ext cx="2082109" cy="2514600"/>
          </a:xfrm>
          <a:prstGeom prst="rect">
            <a:avLst/>
          </a:prstGeom>
        </p:spPr>
      </p:pic>
    </p:spTree>
    <p:extLst>
      <p:ext uri="{BB962C8B-B14F-4D97-AF65-F5344CB8AC3E}">
        <p14:creationId xmlns:p14="http://schemas.microsoft.com/office/powerpoint/2010/main" val="138002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Evaluation Scheme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6" name="Picture 15">
            <a:extLst>
              <a:ext uri="{FF2B5EF4-FFF2-40B4-BE49-F238E27FC236}">
                <a16:creationId xmlns:a16="http://schemas.microsoft.com/office/drawing/2014/main" id="{47A7828E-1D08-E3B6-5251-F9561C94A3F1}"/>
              </a:ext>
            </a:extLst>
          </p:cNvPr>
          <p:cNvPicPr>
            <a:picLocks noChangeAspect="1"/>
          </p:cNvPicPr>
          <p:nvPr/>
        </p:nvPicPr>
        <p:blipFill>
          <a:blip r:embed="rId4"/>
          <a:stretch>
            <a:fillRect/>
          </a:stretch>
        </p:blipFill>
        <p:spPr>
          <a:xfrm>
            <a:off x="718457" y="1404468"/>
            <a:ext cx="10853057" cy="4604446"/>
          </a:xfrm>
          <a:prstGeom prst="rect">
            <a:avLst/>
          </a:prstGeom>
        </p:spPr>
      </p:pic>
      <p:grpSp>
        <p:nvGrpSpPr>
          <p:cNvPr id="2049" name="Group 1"/>
          <p:cNvGrpSpPr>
            <a:grpSpLocks/>
          </p:cNvGrpSpPr>
          <p:nvPr/>
        </p:nvGrpSpPr>
        <p:grpSpPr bwMode="auto">
          <a:xfrm>
            <a:off x="0" y="0"/>
            <a:ext cx="192088" cy="7938"/>
            <a:chOff x="0" y="0"/>
            <a:chExt cx="303" cy="13"/>
          </a:xfrm>
        </p:grpSpPr>
      </p:grpSp>
    </p:spTree>
    <p:extLst>
      <p:ext uri="{BB962C8B-B14F-4D97-AF65-F5344CB8AC3E}">
        <p14:creationId xmlns:p14="http://schemas.microsoft.com/office/powerpoint/2010/main" val="263191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F32AAE7A-8678-0DDA-1D15-ECAB1B8CA755}"/>
              </a:ext>
            </a:extLst>
          </p:cNvPr>
          <p:cNvPicPr>
            <a:picLocks noChangeAspect="1"/>
          </p:cNvPicPr>
          <p:nvPr/>
        </p:nvPicPr>
        <p:blipFill>
          <a:blip r:embed="rId4"/>
          <a:stretch>
            <a:fillRect/>
          </a:stretch>
        </p:blipFill>
        <p:spPr>
          <a:xfrm>
            <a:off x="530611" y="1052383"/>
            <a:ext cx="10717121" cy="1857634"/>
          </a:xfrm>
          <a:prstGeom prst="rect">
            <a:avLst/>
          </a:prstGeom>
        </p:spPr>
      </p:pic>
      <p:pic>
        <p:nvPicPr>
          <p:cNvPr id="11" name="Picture 10">
            <a:extLst>
              <a:ext uri="{FF2B5EF4-FFF2-40B4-BE49-F238E27FC236}">
                <a16:creationId xmlns:a16="http://schemas.microsoft.com/office/drawing/2014/main" id="{EE0D0440-945D-5537-F295-2B71A0BBA3FD}"/>
              </a:ext>
            </a:extLst>
          </p:cNvPr>
          <p:cNvPicPr>
            <a:picLocks noChangeAspect="1"/>
          </p:cNvPicPr>
          <p:nvPr/>
        </p:nvPicPr>
        <p:blipFill rotWithShape="1">
          <a:blip r:embed="rId5"/>
          <a:srcRect r="3263"/>
          <a:stretch/>
        </p:blipFill>
        <p:spPr>
          <a:xfrm>
            <a:off x="391886" y="2864121"/>
            <a:ext cx="10855846" cy="3057708"/>
          </a:xfrm>
          <a:prstGeom prst="rect">
            <a:avLst/>
          </a:prstGeom>
        </p:spPr>
      </p:pic>
    </p:spTree>
    <p:extLst>
      <p:ext uri="{BB962C8B-B14F-4D97-AF65-F5344CB8AC3E}">
        <p14:creationId xmlns:p14="http://schemas.microsoft.com/office/powerpoint/2010/main" val="393246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5157B36E-35C8-5F68-93EF-082E33AC45C5}"/>
              </a:ext>
            </a:extLst>
          </p:cNvPr>
          <p:cNvPicPr>
            <a:picLocks noChangeAspect="1"/>
          </p:cNvPicPr>
          <p:nvPr/>
        </p:nvPicPr>
        <p:blipFill>
          <a:blip r:embed="rId4"/>
          <a:stretch>
            <a:fillRect/>
          </a:stretch>
        </p:blipFill>
        <p:spPr>
          <a:xfrm>
            <a:off x="402771" y="947268"/>
            <a:ext cx="10879068" cy="3200847"/>
          </a:xfrm>
          <a:prstGeom prst="rect">
            <a:avLst/>
          </a:prstGeom>
        </p:spPr>
      </p:pic>
      <p:pic>
        <p:nvPicPr>
          <p:cNvPr id="13" name="Picture 12">
            <a:extLst>
              <a:ext uri="{FF2B5EF4-FFF2-40B4-BE49-F238E27FC236}">
                <a16:creationId xmlns:a16="http://schemas.microsoft.com/office/drawing/2014/main" id="{62915847-C588-F5BC-610F-35A87FF3A6EB}"/>
              </a:ext>
            </a:extLst>
          </p:cNvPr>
          <p:cNvPicPr>
            <a:picLocks noChangeAspect="1"/>
          </p:cNvPicPr>
          <p:nvPr/>
        </p:nvPicPr>
        <p:blipFill>
          <a:blip r:embed="rId5"/>
          <a:stretch>
            <a:fillRect/>
          </a:stretch>
        </p:blipFill>
        <p:spPr>
          <a:xfrm>
            <a:off x="478981" y="3923739"/>
            <a:ext cx="10726647" cy="971686"/>
          </a:xfrm>
          <a:prstGeom prst="rect">
            <a:avLst/>
          </a:prstGeom>
        </p:spPr>
      </p:pic>
    </p:spTree>
    <p:extLst>
      <p:ext uri="{BB962C8B-B14F-4D97-AF65-F5344CB8AC3E}">
        <p14:creationId xmlns:p14="http://schemas.microsoft.com/office/powerpoint/2010/main" val="332258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Being a core subject this subject will help the students gain understanding of the functions and responsibilities of managers. It shall  provide students  the tools and techniques to be used in the performance of the managerial job. And will also  enable them to analyze and understand the complex human behaviour at organization</a:t>
            </a:r>
            <a:r>
              <a:rPr lang="en-US" sz="1800" dirty="0">
                <a:effectLst/>
                <a:latin typeface="Times New Roman" panose="02020603050405020304" pitchFamily="18" charset="0"/>
                <a:ea typeface="Times New Roman" panose="02020603050405020304" pitchFamily="18" charset="0"/>
              </a:rPr>
              <a:t>.</a:t>
            </a: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Branch Wise Applications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43317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This course explores the theories and concepts of organizational behaviour and their application in the workplace. It covers individual behaviour, group dynamics, and organizational processes to enhance organizational effectiveness. The Organizational Behaviour course focuses on a better understanding of the key factors that determine human behavior in organizations. The course focuses on key factors for understanding the behavior of people in organizational contexts from a socio psychological point of view that play a basic role in people management and that are the basis of any leadership course in the rest of the program.</a:t>
            </a:r>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Objectives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61090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AE07F096-340C-C8DB-34F7-B02CC3F39A97}"/>
              </a:ext>
            </a:extLst>
          </p:cNvPr>
          <p:cNvPicPr>
            <a:picLocks noChangeAspect="1"/>
          </p:cNvPicPr>
          <p:nvPr/>
        </p:nvPicPr>
        <p:blipFill rotWithShape="1">
          <a:blip r:embed="rId4"/>
          <a:srcRect l="2164" r="7987" b="6921"/>
          <a:stretch/>
        </p:blipFill>
        <p:spPr>
          <a:xfrm>
            <a:off x="986372" y="1143000"/>
            <a:ext cx="9344171" cy="4757058"/>
          </a:xfrm>
          <a:prstGeom prst="rect">
            <a:avLst/>
          </a:prstGeom>
        </p:spPr>
      </p:pic>
    </p:spTree>
    <p:extLst>
      <p:ext uri="{BB962C8B-B14F-4D97-AF65-F5344CB8AC3E}">
        <p14:creationId xmlns:p14="http://schemas.microsoft.com/office/powerpoint/2010/main" val="405103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Program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53876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CO-PO Mapping</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61048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CO-PSO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415943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CO-PEO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235757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Result Analysis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40467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End Sem Question Paper </a:t>
            </a:r>
            <a:r>
              <a:rPr lang="en-US" sz="2800" dirty="0" err="1">
                <a:solidFill>
                  <a:prstClr val="black"/>
                </a:solidFill>
                <a:cs typeface="Times New Roman" panose="02020603050405020304" pitchFamily="18" charset="0"/>
              </a:rPr>
              <a:t>Templete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96558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 Students should have a primary understanding of management thought.</a:t>
            </a:r>
          </a:p>
          <a:p>
            <a:r>
              <a:rPr lang="en-US" sz="2400" dirty="0"/>
              <a:t>Students should have preliminary knowledge of organizational Behaviour.</a:t>
            </a:r>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Prerequisite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55614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algn="just"/>
            <a:r>
              <a:rPr lang="en-US" sz="2400" dirty="0">
                <a:effectLst/>
                <a:ea typeface="Times New Roman" panose="02020603050405020304" pitchFamily="18" charset="0"/>
                <a:cs typeface="Times New Roman" panose="02020603050405020304" pitchFamily="18" charset="0"/>
              </a:rPr>
              <a:t>Management comprises planning, organizing, staffing, leading or directing, and controlling an organization to accomplish a goal. It also includes resourcing that encompasses the deployment and manipulation of human resources, financial resources, technological resources, and natural resources. Organizational Behavior (OB) can be defined as the understanding, prediction and management of human behavior both individually or in a group that occur within an organization. Internal and external perspectives are the two theories of how organizational behavior can be viewed from an organization's point of view.</a:t>
            </a:r>
          </a:p>
          <a:p>
            <a:pPr marL="0" indent="0">
              <a:buNone/>
            </a:pPr>
            <a:r>
              <a:rPr lang="en-US" sz="2400" dirty="0">
                <a:latin typeface="Times New Roman" panose="02020603050405020304" pitchFamily="18" charset="0"/>
                <a:cs typeface="Times New Roman" panose="02020603050405020304" pitchFamily="18" charset="0"/>
                <a:hlinkClick r:id="rId3"/>
              </a:rPr>
              <a:t>https://www.youtube.com/watch?v=5_btNIdvEfo</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hlinkClick r:id="rId4"/>
              </a:rPr>
              <a:t>https://www.youtube.com/watch?v=Lx83q3mW0oo</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hlinkClick r:id="rId5"/>
              </a:rPr>
              <a:t>https://www.youtube.com/watch?v=uXuj-Kj6_wE</a:t>
            </a:r>
            <a:r>
              <a:rPr lang="en-US" sz="2400" dirty="0">
                <a:latin typeface="Times New Roman" panose="02020603050405020304" pitchFamily="18" charset="0"/>
                <a:cs typeface="Times New Roman" panose="02020603050405020304" pitchFamily="18" charset="0"/>
              </a:rPr>
              <a:t> </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Brief subject introduction</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2319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r>
              <a:rPr lang="en-US" sz="2400" dirty="0">
                <a:effectLst/>
                <a:latin typeface="Times New Roman" panose="02020603050405020304" pitchFamily="18" charset="0"/>
                <a:ea typeface="Times New Roman" panose="02020603050405020304" pitchFamily="18" charset="0"/>
              </a:rPr>
              <a:t>Stress and Conflict: Meaning and Types of Stress</a:t>
            </a:r>
          </a:p>
          <a:p>
            <a:r>
              <a:rPr lang="en-US" sz="2400" dirty="0">
                <a:effectLst/>
                <a:latin typeface="Times New Roman" panose="02020603050405020304" pitchFamily="18" charset="0"/>
                <a:ea typeface="Times New Roman" panose="02020603050405020304" pitchFamily="18" charset="0"/>
              </a:rPr>
              <a:t>Stress Management</a:t>
            </a:r>
          </a:p>
          <a:p>
            <a:r>
              <a:rPr lang="en-US" sz="2400" dirty="0">
                <a:effectLst/>
                <a:latin typeface="Times New Roman" panose="02020603050405020304" pitchFamily="18" charset="0"/>
                <a:ea typeface="Times New Roman" panose="02020603050405020304" pitchFamily="18" charset="0"/>
              </a:rPr>
              <a:t>Meaning and Types of Conflict</a:t>
            </a:r>
          </a:p>
          <a:p>
            <a:r>
              <a:rPr lang="en-US" sz="2400" dirty="0">
                <a:effectLst/>
                <a:latin typeface="Times New Roman" panose="02020603050405020304" pitchFamily="18" charset="0"/>
                <a:ea typeface="Times New Roman" panose="02020603050405020304" pitchFamily="18" charset="0"/>
              </a:rPr>
              <a:t>Effects of Stress</a:t>
            </a:r>
          </a:p>
          <a:p>
            <a:r>
              <a:rPr lang="en-US" sz="2400" dirty="0">
                <a:effectLst/>
                <a:latin typeface="Times New Roman" panose="02020603050405020304" pitchFamily="18" charset="0"/>
                <a:ea typeface="Times New Roman" panose="02020603050405020304" pitchFamily="18" charset="0"/>
              </a:rPr>
              <a:t> Intra-individual Conflict</a:t>
            </a:r>
          </a:p>
          <a:p>
            <a:r>
              <a:rPr lang="en-US" sz="2400" dirty="0">
                <a:effectLst/>
                <a:latin typeface="Times New Roman" panose="02020603050405020304" pitchFamily="18" charset="0"/>
                <a:ea typeface="Times New Roman" panose="02020603050405020304" pitchFamily="18" charset="0"/>
              </a:rPr>
              <a:t>Conflict Management</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Unit Content</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468301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pic>
        <p:nvPicPr>
          <p:cNvPr id="3" name="Picture 2" descr="Student Stress: Types, Causes &amp; Management in Singapore | Incontact">
            <a:extLst>
              <a:ext uri="{FF2B5EF4-FFF2-40B4-BE49-F238E27FC236}">
                <a16:creationId xmlns:a16="http://schemas.microsoft.com/office/drawing/2014/main" id="{FF0634D9-DF44-0692-40FA-A81A8DF943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114" y="1089865"/>
            <a:ext cx="3995949" cy="26657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ealing with Stress: Know the Hidden Symptoms | Cedars-Sinai">
            <a:extLst>
              <a:ext uri="{FF2B5EF4-FFF2-40B4-BE49-F238E27FC236}">
                <a16:creationId xmlns:a16="http://schemas.microsoft.com/office/drawing/2014/main" id="{88FBF969-44C1-88EC-9A26-CC6DBA1655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719" r="22081"/>
          <a:stretch/>
        </p:blipFill>
        <p:spPr bwMode="auto">
          <a:xfrm>
            <a:off x="5490628" y="1089865"/>
            <a:ext cx="4024750" cy="28097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Can Stress Cause Vision Problems? - All About Vision">
            <a:extLst>
              <a:ext uri="{FF2B5EF4-FFF2-40B4-BE49-F238E27FC236}">
                <a16:creationId xmlns:a16="http://schemas.microsoft.com/office/drawing/2014/main" id="{6349E9E8-0B82-A64B-2C8D-5787FD58B4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7452" y="4159705"/>
            <a:ext cx="7097926" cy="248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334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sp>
        <p:nvSpPr>
          <p:cNvPr id="11" name="TextBox 10">
            <a:extLst>
              <a:ext uri="{FF2B5EF4-FFF2-40B4-BE49-F238E27FC236}">
                <a16:creationId xmlns:a16="http://schemas.microsoft.com/office/drawing/2014/main" id="{3C70F30D-F2FF-0C49-C3B9-A9BC0DC1BCFB}"/>
              </a:ext>
            </a:extLst>
          </p:cNvPr>
          <p:cNvSpPr txBox="1"/>
          <p:nvPr/>
        </p:nvSpPr>
        <p:spPr>
          <a:xfrm>
            <a:off x="885970" y="1089865"/>
            <a:ext cx="10467829" cy="4154984"/>
          </a:xfrm>
          <a:prstGeom prst="rect">
            <a:avLst/>
          </a:prstGeom>
          <a:noFill/>
        </p:spPr>
        <p:txBody>
          <a:bodyPr wrap="square">
            <a:spAutoFit/>
          </a:bodyPr>
          <a:lstStyle/>
          <a:p>
            <a:pPr marL="342900" indent="-342900">
              <a:buFont typeface="Arial" panose="020B0604020202020204" pitchFamily="34" charset="0"/>
              <a:buChar char="•"/>
            </a:pPr>
            <a:r>
              <a:rPr lang="en-US" sz="2400" dirty="0"/>
              <a:t>Stress can be defined as any type of change that causes physical, emotional, or mental strain. Stress is your body's response to anything that requires attention or action.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According to Rubenstein</a:t>
            </a:r>
            <a:r>
              <a:rPr lang="en-US" sz="2400" dirty="0"/>
              <a:t>, “Stress is the reaction people have toward excessive pressures or other types of demand placed upon them. It arises when they worry that they can’t cope”.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 is the mental, emotional, and physiological responses caused by a stimulus that is either real or imaginary.</a:t>
            </a:r>
          </a:p>
          <a:p>
            <a:pPr marL="3429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789979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Meaning  of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sp>
        <p:nvSpPr>
          <p:cNvPr id="12" name="TextBox 11">
            <a:extLst>
              <a:ext uri="{FF2B5EF4-FFF2-40B4-BE49-F238E27FC236}">
                <a16:creationId xmlns:a16="http://schemas.microsoft.com/office/drawing/2014/main" id="{89CF1968-8AC9-3530-CBA6-9AA4EA00C165}"/>
              </a:ext>
            </a:extLst>
          </p:cNvPr>
          <p:cNvSpPr txBox="1"/>
          <p:nvPr/>
        </p:nvSpPr>
        <p:spPr>
          <a:xfrm>
            <a:off x="954614" y="1296744"/>
            <a:ext cx="10170586" cy="3108543"/>
          </a:xfrm>
          <a:prstGeom prst="rect">
            <a:avLst/>
          </a:prstGeom>
          <a:noFill/>
        </p:spPr>
        <p:txBody>
          <a:bodyPr wrap="square">
            <a:spAutoFit/>
          </a:bodyPr>
          <a:lstStyle/>
          <a:p>
            <a:pPr marL="457200" indent="-457200" algn="just">
              <a:buFont typeface="Arial" panose="020B0604020202020204" pitchFamily="34" charset="0"/>
              <a:buChar char="•"/>
            </a:pPr>
            <a:r>
              <a:rPr lang="en-US" sz="2800" dirty="0"/>
              <a:t>Stress is a part of Life</a:t>
            </a:r>
          </a:p>
          <a:p>
            <a:pPr marL="457200" indent="-457200" algn="just">
              <a:buFont typeface="Arial" panose="020B0604020202020204" pitchFamily="34" charset="0"/>
              <a:buChar char="•"/>
            </a:pPr>
            <a:r>
              <a:rPr lang="en-US" sz="2800" dirty="0"/>
              <a:t>Stress can be Acute or Chronic</a:t>
            </a:r>
          </a:p>
          <a:p>
            <a:pPr marL="457200" indent="-457200" algn="just">
              <a:buFont typeface="Arial" panose="020B0604020202020204" pitchFamily="34" charset="0"/>
              <a:buChar char="•"/>
            </a:pPr>
            <a:r>
              <a:rPr lang="en-US" sz="2800" dirty="0"/>
              <a:t>Stress can be Self-controlled</a:t>
            </a:r>
          </a:p>
          <a:p>
            <a:pPr marL="457200" indent="-457200" algn="just">
              <a:buFont typeface="Arial" panose="020B0604020202020204" pitchFamily="34" charset="0"/>
              <a:buChar char="•"/>
            </a:pPr>
            <a:r>
              <a:rPr lang="en-US" sz="2800" dirty="0"/>
              <a:t>It provides stimulus for growth and change</a:t>
            </a:r>
          </a:p>
          <a:p>
            <a:pPr marL="457200" indent="-457200" algn="just">
              <a:buFont typeface="Arial" panose="020B0604020202020204" pitchFamily="34" charset="0"/>
              <a:buChar char="•"/>
            </a:pPr>
            <a:r>
              <a:rPr lang="en-US" sz="2800" dirty="0"/>
              <a:t>It affects all dimensions of Life</a:t>
            </a:r>
          </a:p>
          <a:p>
            <a:pPr marL="457200" indent="-457200" algn="just">
              <a:buFont typeface="Arial" panose="020B0604020202020204" pitchFamily="34" charset="0"/>
              <a:buChar char="•"/>
            </a:pPr>
            <a:r>
              <a:rPr lang="en-US" sz="2800" dirty="0"/>
              <a:t>It is a universal phenomenon</a:t>
            </a:r>
          </a:p>
          <a:p>
            <a:pPr marL="457200" indent="-457200" algn="just">
              <a:buFont typeface="Arial" panose="020B0604020202020204" pitchFamily="34" charset="0"/>
              <a:buChar char="•"/>
            </a:pPr>
            <a:r>
              <a:rPr lang="en-US" sz="2800" dirty="0"/>
              <a:t>It is an individual experience</a:t>
            </a:r>
          </a:p>
        </p:txBody>
      </p:sp>
    </p:spTree>
    <p:extLst>
      <p:ext uri="{BB962C8B-B14F-4D97-AF65-F5344CB8AC3E}">
        <p14:creationId xmlns:p14="http://schemas.microsoft.com/office/powerpoint/2010/main" val="1440352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1"/>
          <p:cNvSpPr txBox="1">
            <a:spLocks/>
          </p:cNvSpPr>
          <p:nvPr/>
        </p:nvSpPr>
        <p:spPr>
          <a:xfrm>
            <a:off x="2592760" y="-23975"/>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Factors causing Stress in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TextBox 3">
            <a:extLst>
              <a:ext uri="{FF2B5EF4-FFF2-40B4-BE49-F238E27FC236}">
                <a16:creationId xmlns:a16="http://schemas.microsoft.com/office/drawing/2014/main" id="{5519D3FC-32B7-D362-23A6-B6B4D4DB58B7}"/>
              </a:ext>
            </a:extLst>
          </p:cNvPr>
          <p:cNvSpPr txBox="1"/>
          <p:nvPr/>
        </p:nvSpPr>
        <p:spPr>
          <a:xfrm>
            <a:off x="566057" y="1093370"/>
            <a:ext cx="10336731" cy="5262979"/>
          </a:xfrm>
          <a:prstGeom prst="rect">
            <a:avLst/>
          </a:prstGeom>
          <a:noFill/>
        </p:spPr>
        <p:txBody>
          <a:bodyPr wrap="square">
            <a:spAutoFit/>
          </a:bodyPr>
          <a:lstStyle/>
          <a:p>
            <a:pPr marL="342900" indent="-342900">
              <a:buFont typeface="Arial" panose="020B0604020202020204" pitchFamily="34" charset="0"/>
              <a:buChar char="•"/>
            </a:pPr>
            <a:r>
              <a:rPr lang="en-IN" sz="2400" b="1" dirty="0"/>
              <a:t>Life Stressors</a:t>
            </a:r>
          </a:p>
          <a:p>
            <a:pPr marL="0" indent="0">
              <a:buNone/>
            </a:pPr>
            <a:endParaRPr lang="en-IN" sz="2400" dirty="0"/>
          </a:p>
          <a:p>
            <a:pPr marL="0" indent="0">
              <a:buNone/>
            </a:pPr>
            <a:r>
              <a:rPr lang="en-IN" sz="2400" dirty="0"/>
              <a:t>These are personal stressors that affect the individual. Some individuals may have economic obligations towards banks or family which causes stress. The basic stressors are:-</a:t>
            </a:r>
          </a:p>
          <a:p>
            <a:pPr marL="0" indent="0">
              <a:buNone/>
            </a:pPr>
            <a:endParaRPr lang="en-IN" sz="2400" dirty="0"/>
          </a:p>
          <a:p>
            <a:pPr marL="457200" indent="-457200">
              <a:buFont typeface="+mj-lt"/>
              <a:buAutoNum type="arabicPeriod"/>
            </a:pPr>
            <a:r>
              <a:rPr lang="en-IN" sz="2400" dirty="0"/>
              <a:t>Retirement</a:t>
            </a:r>
          </a:p>
          <a:p>
            <a:pPr marL="457200" indent="-457200">
              <a:buFont typeface="+mj-lt"/>
              <a:buAutoNum type="arabicPeriod"/>
            </a:pPr>
            <a:r>
              <a:rPr lang="en-IN" sz="2400" dirty="0"/>
              <a:t>Divorce</a:t>
            </a:r>
          </a:p>
          <a:p>
            <a:pPr marL="457200" indent="-457200">
              <a:buFont typeface="+mj-lt"/>
              <a:buAutoNum type="arabicPeriod"/>
            </a:pPr>
            <a:r>
              <a:rPr lang="en-IN" sz="2400" dirty="0"/>
              <a:t>Loss of Job</a:t>
            </a:r>
          </a:p>
          <a:p>
            <a:pPr marL="457200" indent="-457200">
              <a:buFont typeface="+mj-lt"/>
              <a:buAutoNum type="arabicPeriod"/>
            </a:pPr>
            <a:r>
              <a:rPr lang="en-IN" sz="2400" dirty="0"/>
              <a:t>Marriage</a:t>
            </a:r>
          </a:p>
          <a:p>
            <a:pPr marL="457200" indent="-457200">
              <a:buFont typeface="+mj-lt"/>
              <a:buAutoNum type="arabicPeriod"/>
            </a:pPr>
            <a:r>
              <a:rPr lang="en-IN" sz="2400" dirty="0"/>
              <a:t>Personal injury</a:t>
            </a:r>
          </a:p>
          <a:p>
            <a:pPr marL="457200" indent="-457200">
              <a:buFont typeface="+mj-lt"/>
              <a:buAutoNum type="arabicPeriod"/>
            </a:pPr>
            <a:r>
              <a:rPr lang="en-IN" sz="2400" dirty="0"/>
              <a:t>Death of a close family member</a:t>
            </a:r>
          </a:p>
          <a:p>
            <a:pPr marL="457200" indent="-457200">
              <a:buFont typeface="+mj-lt"/>
              <a:buAutoNum type="arabicPeriod"/>
            </a:pPr>
            <a:r>
              <a:rPr lang="en-IN" sz="2400" dirty="0"/>
              <a:t>Addiction</a:t>
            </a:r>
          </a:p>
          <a:p>
            <a:pPr marL="457200" indent="-457200">
              <a:buFont typeface="+mj-lt"/>
              <a:buAutoNum type="arabicPeriod"/>
            </a:pPr>
            <a:r>
              <a:rPr lang="en-IN" sz="2400" dirty="0"/>
              <a:t>Time Management, etc.</a:t>
            </a:r>
          </a:p>
        </p:txBody>
      </p:sp>
    </p:spTree>
    <p:extLst>
      <p:ext uri="{BB962C8B-B14F-4D97-AF65-F5344CB8AC3E}">
        <p14:creationId xmlns:p14="http://schemas.microsoft.com/office/powerpoint/2010/main" val="297035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Factors causing Stress in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a:extLst>
              <a:ext uri="{FF2B5EF4-FFF2-40B4-BE49-F238E27FC236}">
                <a16:creationId xmlns:a16="http://schemas.microsoft.com/office/drawing/2014/main" id="{889148FD-A153-6A33-C9CC-ACF77EE57393}"/>
              </a:ext>
            </a:extLst>
          </p:cNvPr>
          <p:cNvSpPr txBox="1"/>
          <p:nvPr/>
        </p:nvSpPr>
        <p:spPr>
          <a:xfrm>
            <a:off x="629257" y="1198547"/>
            <a:ext cx="10933485" cy="5386090"/>
          </a:xfrm>
          <a:prstGeom prst="rect">
            <a:avLst/>
          </a:prstGeom>
          <a:noFill/>
        </p:spPr>
        <p:txBody>
          <a:bodyPr wrap="square">
            <a:spAutoFit/>
          </a:bodyPr>
          <a:lstStyle/>
          <a:p>
            <a:r>
              <a:rPr lang="en-IN" sz="4000" dirty="0"/>
              <a:t>Organizational Stressors</a:t>
            </a:r>
          </a:p>
          <a:p>
            <a:pPr marL="0" indent="0">
              <a:buNone/>
            </a:pPr>
            <a:r>
              <a:rPr lang="en-IN" sz="2800" b="1" dirty="0"/>
              <a:t>Physical Demand</a:t>
            </a:r>
            <a:r>
              <a:rPr lang="en-IN" sz="2400" dirty="0"/>
              <a:t>: They are dependent on the job setting. </a:t>
            </a:r>
            <a:r>
              <a:rPr lang="en-US" sz="2400" dirty="0"/>
              <a:t>Physical environment factors such as poor office design and humidity can contribute to physical demand</a:t>
            </a:r>
            <a:r>
              <a:rPr lang="en-IN" sz="2400" dirty="0"/>
              <a:t>.</a:t>
            </a:r>
          </a:p>
          <a:p>
            <a:pPr marL="0" indent="0">
              <a:buNone/>
            </a:pPr>
            <a:endParaRPr lang="en-IN" sz="2400" dirty="0"/>
          </a:p>
          <a:p>
            <a:pPr marL="0" indent="0">
              <a:buNone/>
            </a:pPr>
            <a:r>
              <a:rPr lang="en-IN" sz="2800" b="1" dirty="0"/>
              <a:t>Task Demand</a:t>
            </a:r>
            <a:r>
              <a:rPr lang="en-IN" sz="2400" dirty="0"/>
              <a:t>: These are stressors </a:t>
            </a:r>
            <a:r>
              <a:rPr lang="en-US" sz="2400" dirty="0"/>
              <a:t>linked to a particular type of job or work that causes stress to the performer, such as</a:t>
            </a:r>
            <a:r>
              <a:rPr lang="en-IN" sz="2400" dirty="0"/>
              <a:t> Meeting sales targets or call centre jobs.</a:t>
            </a:r>
          </a:p>
          <a:p>
            <a:pPr marL="0" indent="0">
              <a:buNone/>
            </a:pPr>
            <a:endParaRPr lang="en-IN" sz="2400" dirty="0"/>
          </a:p>
          <a:p>
            <a:pPr marL="0" indent="0">
              <a:buNone/>
            </a:pPr>
            <a:r>
              <a:rPr lang="en-IN" sz="2800" b="1" dirty="0"/>
              <a:t>Role Demand</a:t>
            </a:r>
            <a:r>
              <a:rPr lang="en-IN" sz="2400" dirty="0"/>
              <a:t>:</a:t>
            </a:r>
            <a:r>
              <a:rPr lang="en-IN" sz="2800" b="1" dirty="0"/>
              <a:t> </a:t>
            </a:r>
            <a:r>
              <a:rPr lang="en-IN" sz="2400" dirty="0"/>
              <a:t>The stress arises from the position in the organization or group. Sometimes an employee is not clear about his role and there are role conflicts which lead to stress.</a:t>
            </a:r>
          </a:p>
          <a:p>
            <a:pPr marL="0" indent="0">
              <a:buNone/>
            </a:pPr>
            <a:r>
              <a:rPr lang="en-IN" sz="2800" b="1" dirty="0"/>
              <a:t>Interpersonal Demand</a:t>
            </a:r>
            <a:r>
              <a:rPr lang="en-IN" sz="2400" dirty="0"/>
              <a:t>: They are associated with the attributes of the relationship of individuals of the organization. This includes leadership styles, personality style or pressure from the group, etc.</a:t>
            </a:r>
            <a:endParaRPr lang="en-IN" sz="4000" dirty="0"/>
          </a:p>
        </p:txBody>
      </p:sp>
    </p:spTree>
    <p:extLst>
      <p:ext uri="{BB962C8B-B14F-4D97-AF65-F5344CB8AC3E}">
        <p14:creationId xmlns:p14="http://schemas.microsoft.com/office/powerpoint/2010/main" val="2348529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Factors causing Stress in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a:extLst>
              <a:ext uri="{FF2B5EF4-FFF2-40B4-BE49-F238E27FC236}">
                <a16:creationId xmlns:a16="http://schemas.microsoft.com/office/drawing/2014/main" id="{F7AFFE71-B7A7-BFF8-D2D8-26385D532543}"/>
              </a:ext>
            </a:extLst>
          </p:cNvPr>
          <p:cNvSpPr txBox="1"/>
          <p:nvPr/>
        </p:nvSpPr>
        <p:spPr>
          <a:xfrm>
            <a:off x="653143" y="1413064"/>
            <a:ext cx="10472057" cy="5262979"/>
          </a:xfrm>
          <a:prstGeom prst="rect">
            <a:avLst/>
          </a:prstGeom>
          <a:noFill/>
        </p:spPr>
        <p:txBody>
          <a:bodyPr wrap="square">
            <a:spAutoFit/>
          </a:bodyPr>
          <a:lstStyle/>
          <a:p>
            <a:pPr marL="342900" indent="-342900">
              <a:buFont typeface="Arial" panose="020B0604020202020204" pitchFamily="34" charset="0"/>
              <a:buChar char="•"/>
            </a:pPr>
            <a:r>
              <a:rPr lang="en-IN" sz="2400" b="1" dirty="0"/>
              <a:t>Environmental Stressors</a:t>
            </a:r>
            <a:br>
              <a:rPr lang="en-IN" sz="2400" dirty="0"/>
            </a:br>
            <a:endParaRPr lang="en-IN" sz="2400" dirty="0"/>
          </a:p>
          <a:p>
            <a:pPr marL="0" indent="0" algn="just">
              <a:buNone/>
            </a:pPr>
            <a:r>
              <a:rPr lang="en-IN" sz="2400" dirty="0"/>
              <a:t>These are the stressors that are out of control of the individual They include the following:-</a:t>
            </a:r>
          </a:p>
          <a:p>
            <a:pPr marL="0" indent="0" algn="just">
              <a:buNone/>
            </a:pPr>
            <a:endParaRPr lang="en-IN" sz="2400" dirty="0"/>
          </a:p>
          <a:p>
            <a:pPr marL="457200" indent="-457200" algn="just">
              <a:buFont typeface="+mj-lt"/>
              <a:buAutoNum type="arabicPeriod"/>
            </a:pPr>
            <a:r>
              <a:rPr lang="en-IN" sz="2400" b="1" dirty="0"/>
              <a:t>Political Uncertainty: </a:t>
            </a:r>
            <a:r>
              <a:rPr lang="en-IN" sz="2400" dirty="0"/>
              <a:t>An unstable political system gives stress to employees as there are unstable policies and laws.</a:t>
            </a:r>
          </a:p>
          <a:p>
            <a:pPr marL="457200" indent="-457200" algn="just">
              <a:buFont typeface="+mj-lt"/>
              <a:buAutoNum type="arabicPeriod"/>
            </a:pPr>
            <a:endParaRPr lang="en-IN" sz="2400" dirty="0"/>
          </a:p>
          <a:p>
            <a:pPr marL="457200" indent="-457200" algn="just">
              <a:buFont typeface="+mj-lt"/>
              <a:buAutoNum type="arabicPeriod"/>
            </a:pPr>
            <a:r>
              <a:rPr lang="en-IN" sz="2400" b="1" dirty="0"/>
              <a:t>Economic Uncertainties: </a:t>
            </a:r>
            <a:r>
              <a:rPr lang="en-IN" sz="2400" dirty="0"/>
              <a:t>If a country faces recession or slow growth then the employees face job insecurity which results into stress.</a:t>
            </a:r>
          </a:p>
          <a:p>
            <a:pPr marL="457200" indent="-457200" algn="just">
              <a:buFont typeface="+mj-lt"/>
              <a:buAutoNum type="arabicPeriod"/>
            </a:pPr>
            <a:endParaRPr lang="en-IN" sz="2400" dirty="0"/>
          </a:p>
          <a:p>
            <a:pPr marL="457200" indent="-457200" algn="just">
              <a:buFont typeface="+mj-lt"/>
              <a:buAutoNum type="arabicPeriod"/>
            </a:pPr>
            <a:r>
              <a:rPr lang="en-IN" sz="2400" b="1" dirty="0"/>
              <a:t>Technological Advancements: </a:t>
            </a:r>
            <a:r>
              <a:rPr lang="en-IN" sz="2400" dirty="0"/>
              <a:t>If the technology changes in the external environment, then the employees fear losing their jobs to machines, leading to stress.</a:t>
            </a:r>
          </a:p>
        </p:txBody>
      </p:sp>
    </p:spTree>
    <p:extLst>
      <p:ext uri="{BB962C8B-B14F-4D97-AF65-F5344CB8AC3E}">
        <p14:creationId xmlns:p14="http://schemas.microsoft.com/office/powerpoint/2010/main" val="3224593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Causes of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838201" y="1304836"/>
            <a:ext cx="10367428" cy="461665"/>
          </a:xfrm>
          <a:prstGeom prst="rect">
            <a:avLst/>
          </a:prstGeom>
          <a:noFill/>
        </p:spPr>
        <p:txBody>
          <a:bodyPr wrap="square">
            <a:spAutoFit/>
          </a:bodyPr>
          <a:lstStyle/>
          <a:p>
            <a:pPr algn="just"/>
            <a:endParaRPr lang="en-IN" sz="2400" b="1" dirty="0"/>
          </a:p>
        </p:txBody>
      </p:sp>
      <p:pic>
        <p:nvPicPr>
          <p:cNvPr id="1026" name="Picture 2" descr="Causes of Stress - Stress Management in Organization | Organizational ...">
            <a:extLst>
              <a:ext uri="{FF2B5EF4-FFF2-40B4-BE49-F238E27FC236}">
                <a16:creationId xmlns:a16="http://schemas.microsoft.com/office/drawing/2014/main" id="{58D8D162-8A61-E102-FDF1-2B1C32E28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486" y="842963"/>
            <a:ext cx="10367428" cy="538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468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 of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1369486" y="1544322"/>
            <a:ext cx="10367428" cy="1569660"/>
          </a:xfrm>
          <a:prstGeom prst="rect">
            <a:avLst/>
          </a:prstGeom>
          <a:noFill/>
        </p:spPr>
        <p:txBody>
          <a:bodyPr wrap="square">
            <a:spAutoFit/>
          </a:bodyPr>
          <a:lstStyle/>
          <a:p>
            <a:pPr marL="342900" indent="-342900" algn="just">
              <a:buFont typeface="Arial" panose="020B0604020202020204" pitchFamily="34" charset="0"/>
              <a:buChar char="•"/>
            </a:pPr>
            <a:r>
              <a:rPr lang="en-US" sz="2400" dirty="0"/>
              <a:t>Acute Stress</a:t>
            </a:r>
          </a:p>
          <a:p>
            <a:pPr marL="342900" indent="-342900" algn="just">
              <a:buFont typeface="Arial" panose="020B0604020202020204" pitchFamily="34" charset="0"/>
              <a:buChar char="•"/>
            </a:pPr>
            <a:r>
              <a:rPr lang="en-US" sz="2400" dirty="0"/>
              <a:t>Episodic Acute Stress</a:t>
            </a:r>
          </a:p>
          <a:p>
            <a:pPr marL="342900" indent="-342900" algn="just">
              <a:buFont typeface="Arial" panose="020B0604020202020204" pitchFamily="34" charset="0"/>
              <a:buChar char="•"/>
            </a:pPr>
            <a:r>
              <a:rPr lang="en-US" sz="2400" dirty="0"/>
              <a:t>Chronic Stress</a:t>
            </a:r>
          </a:p>
          <a:p>
            <a:pPr marL="342900" indent="-342900" algn="just">
              <a:buFont typeface="Arial" panose="020B0604020202020204" pitchFamily="34" charset="0"/>
              <a:buChar char="•"/>
            </a:pPr>
            <a:r>
              <a:rPr lang="en-US" sz="2400" dirty="0"/>
              <a:t>Post Traumatic Stress</a:t>
            </a:r>
            <a:endParaRPr lang="en-IN" sz="2400" b="1" dirty="0"/>
          </a:p>
        </p:txBody>
      </p:sp>
    </p:spTree>
    <p:extLst>
      <p:ext uri="{BB962C8B-B14F-4D97-AF65-F5344CB8AC3E}">
        <p14:creationId xmlns:p14="http://schemas.microsoft.com/office/powerpoint/2010/main" val="3893715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Acute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838201" y="1304836"/>
            <a:ext cx="10367428" cy="1938992"/>
          </a:xfrm>
          <a:prstGeom prst="rect">
            <a:avLst/>
          </a:prstGeom>
          <a:noFill/>
        </p:spPr>
        <p:txBody>
          <a:bodyPr wrap="square">
            <a:spAutoFit/>
          </a:bodyPr>
          <a:lstStyle/>
          <a:p>
            <a:pPr algn="just"/>
            <a:r>
              <a:rPr lang="en-US" sz="2400" dirty="0"/>
              <a:t>Acute stress is the body’s response to a short-term demand or change. This type of stress can last anywhere from minutes, to hours, days, and even weeks. The duration depends on how long you’re exposed to an intense situation. Acute stress occurs when we need to fight off danger such as having a near-fatal experience or completing a marathon</a:t>
            </a:r>
            <a:endParaRPr lang="en-IN" sz="2400" b="1" dirty="0"/>
          </a:p>
        </p:txBody>
      </p:sp>
      <p:pic>
        <p:nvPicPr>
          <p:cNvPr id="3" name="Picture 2">
            <a:extLst>
              <a:ext uri="{FF2B5EF4-FFF2-40B4-BE49-F238E27FC236}">
                <a16:creationId xmlns:a16="http://schemas.microsoft.com/office/drawing/2014/main" id="{342EEAF4-F012-B86D-CB96-2768A80A8EF6}"/>
              </a:ext>
            </a:extLst>
          </p:cNvPr>
          <p:cNvPicPr>
            <a:picLocks noChangeAspect="1"/>
          </p:cNvPicPr>
          <p:nvPr/>
        </p:nvPicPr>
        <p:blipFill>
          <a:blip r:embed="rId4"/>
          <a:stretch>
            <a:fillRect/>
          </a:stretch>
        </p:blipFill>
        <p:spPr>
          <a:xfrm>
            <a:off x="2024742" y="3243828"/>
            <a:ext cx="7391401" cy="3112521"/>
          </a:xfrm>
          <a:prstGeom prst="rect">
            <a:avLst/>
          </a:prstGeom>
        </p:spPr>
      </p:pic>
    </p:spTree>
    <p:extLst>
      <p:ext uri="{BB962C8B-B14F-4D97-AF65-F5344CB8AC3E}">
        <p14:creationId xmlns:p14="http://schemas.microsoft.com/office/powerpoint/2010/main" val="4095304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Episodic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E738C8D3-01A2-D43C-7D16-C001B1E698D3}"/>
              </a:ext>
            </a:extLst>
          </p:cNvPr>
          <p:cNvSpPr txBox="1"/>
          <p:nvPr/>
        </p:nvSpPr>
        <p:spPr>
          <a:xfrm>
            <a:off x="1045636" y="1114924"/>
            <a:ext cx="10100728" cy="1938992"/>
          </a:xfrm>
          <a:prstGeom prst="rect">
            <a:avLst/>
          </a:prstGeom>
          <a:noFill/>
        </p:spPr>
        <p:txBody>
          <a:bodyPr wrap="square">
            <a:spAutoFit/>
          </a:bodyPr>
          <a:lstStyle/>
          <a:p>
            <a:pPr algn="just"/>
            <a:r>
              <a:rPr lang="en-US" sz="2400" dirty="0"/>
              <a:t>Episodic acute stress is the body’s response to a single, isolated stressful event. These types of events include traffic accidents and other kinds of emergencies. They may also involve some kind of physical danger. Episodic or time-limited stress can be short or long-term. This depends on how you deal with it emotionally.</a:t>
            </a:r>
            <a:endParaRPr lang="en-IN" sz="2400" dirty="0"/>
          </a:p>
        </p:txBody>
      </p:sp>
      <p:pic>
        <p:nvPicPr>
          <p:cNvPr id="12" name="Picture 11">
            <a:extLst>
              <a:ext uri="{FF2B5EF4-FFF2-40B4-BE49-F238E27FC236}">
                <a16:creationId xmlns:a16="http://schemas.microsoft.com/office/drawing/2014/main" id="{D078C646-3B54-F32C-89BF-D390C0AC91B0}"/>
              </a:ext>
            </a:extLst>
          </p:cNvPr>
          <p:cNvPicPr>
            <a:picLocks noChangeAspect="1"/>
          </p:cNvPicPr>
          <p:nvPr/>
        </p:nvPicPr>
        <p:blipFill>
          <a:blip r:embed="rId4"/>
          <a:stretch>
            <a:fillRect/>
          </a:stretch>
        </p:blipFill>
        <p:spPr>
          <a:xfrm>
            <a:off x="1524000" y="3053916"/>
            <a:ext cx="9144000" cy="3040967"/>
          </a:xfrm>
          <a:prstGeom prst="rect">
            <a:avLst/>
          </a:prstGeom>
        </p:spPr>
      </p:pic>
    </p:spTree>
    <p:extLst>
      <p:ext uri="{BB962C8B-B14F-4D97-AF65-F5344CB8AC3E}">
        <p14:creationId xmlns:p14="http://schemas.microsoft.com/office/powerpoint/2010/main" val="3460671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Chronic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a:extLst>
              <a:ext uri="{FF2B5EF4-FFF2-40B4-BE49-F238E27FC236}">
                <a16:creationId xmlns:a16="http://schemas.microsoft.com/office/drawing/2014/main" id="{B3891418-B10A-333C-CEE8-2EF05F22A9D9}"/>
              </a:ext>
            </a:extLst>
          </p:cNvPr>
          <p:cNvSpPr txBox="1"/>
          <p:nvPr/>
        </p:nvSpPr>
        <p:spPr>
          <a:xfrm>
            <a:off x="293914" y="1076236"/>
            <a:ext cx="10809515" cy="1938992"/>
          </a:xfrm>
          <a:prstGeom prst="rect">
            <a:avLst/>
          </a:prstGeom>
          <a:noFill/>
        </p:spPr>
        <p:txBody>
          <a:bodyPr wrap="square">
            <a:spAutoFit/>
          </a:bodyPr>
          <a:lstStyle/>
          <a:p>
            <a:pPr algn="just"/>
            <a:r>
              <a:rPr lang="en-US" sz="2400" dirty="0"/>
              <a:t>Chronic stress is when your body experiences low-grade demands and threats on daily basis. This may include things, such as traffic jams/delays, having an argument with someone close to you. Working multiple jobs while trying to get by in life can also cause chronic stress. It’s often caused by the pressure you put on yourself to meet all of your own expectations.</a:t>
            </a:r>
            <a:endParaRPr lang="en-IN" sz="2400" dirty="0"/>
          </a:p>
        </p:txBody>
      </p:sp>
      <p:pic>
        <p:nvPicPr>
          <p:cNvPr id="3" name="Picture 2">
            <a:extLst>
              <a:ext uri="{FF2B5EF4-FFF2-40B4-BE49-F238E27FC236}">
                <a16:creationId xmlns:a16="http://schemas.microsoft.com/office/drawing/2014/main" id="{72675A2A-A983-2FBE-3324-D227EE1A9A43}"/>
              </a:ext>
            </a:extLst>
          </p:cNvPr>
          <p:cNvPicPr>
            <a:picLocks noChangeAspect="1"/>
          </p:cNvPicPr>
          <p:nvPr/>
        </p:nvPicPr>
        <p:blipFill>
          <a:blip r:embed="rId4"/>
          <a:stretch>
            <a:fillRect/>
          </a:stretch>
        </p:blipFill>
        <p:spPr>
          <a:xfrm>
            <a:off x="2895600" y="3135139"/>
            <a:ext cx="5314950" cy="3188156"/>
          </a:xfrm>
          <a:prstGeom prst="rect">
            <a:avLst/>
          </a:prstGeom>
        </p:spPr>
      </p:pic>
    </p:spTree>
    <p:extLst>
      <p:ext uri="{BB962C8B-B14F-4D97-AF65-F5344CB8AC3E}">
        <p14:creationId xmlns:p14="http://schemas.microsoft.com/office/powerpoint/2010/main" val="752937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Post Traumatic Stress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a:extLst>
              <a:ext uri="{FF2B5EF4-FFF2-40B4-BE49-F238E27FC236}">
                <a16:creationId xmlns:a16="http://schemas.microsoft.com/office/drawing/2014/main" id="{B3891418-B10A-333C-CEE8-2EF05F22A9D9}"/>
              </a:ext>
            </a:extLst>
          </p:cNvPr>
          <p:cNvSpPr txBox="1"/>
          <p:nvPr/>
        </p:nvSpPr>
        <p:spPr>
          <a:xfrm>
            <a:off x="293914" y="1076236"/>
            <a:ext cx="10809515" cy="1200329"/>
          </a:xfrm>
          <a:prstGeom prst="rect">
            <a:avLst/>
          </a:prstGeom>
          <a:noFill/>
        </p:spPr>
        <p:txBody>
          <a:bodyPr wrap="square">
            <a:spAutoFit/>
          </a:bodyPr>
          <a:lstStyle/>
          <a:p>
            <a:pPr algn="just"/>
            <a:r>
              <a:rPr lang="en-US" sz="2400" dirty="0"/>
              <a:t>Post-traumatic stress disorder is a mental health condition. It is one of the most dangerous types of stress. It can develop after the experience or witnessing of traumatic events. Traumatic events are war, violent personal or natural disasters.</a:t>
            </a:r>
            <a:endParaRPr lang="en-IN" sz="2400" dirty="0"/>
          </a:p>
        </p:txBody>
      </p:sp>
      <p:sp>
        <p:nvSpPr>
          <p:cNvPr id="4" name="AutoShape 2" descr="Post Traumatic Stress">
            <a:extLst>
              <a:ext uri="{FF2B5EF4-FFF2-40B4-BE49-F238E27FC236}">
                <a16:creationId xmlns:a16="http://schemas.microsoft.com/office/drawing/2014/main" id="{297D344A-9C6C-5739-363F-CC583AC7025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502D4366-545A-76C0-8789-E6AC6C3F6FEB}"/>
              </a:ext>
            </a:extLst>
          </p:cNvPr>
          <p:cNvPicPr>
            <a:picLocks noChangeAspect="1"/>
          </p:cNvPicPr>
          <p:nvPr/>
        </p:nvPicPr>
        <p:blipFill>
          <a:blip r:embed="rId4"/>
          <a:stretch>
            <a:fillRect/>
          </a:stretch>
        </p:blipFill>
        <p:spPr>
          <a:xfrm>
            <a:off x="2733675" y="2667000"/>
            <a:ext cx="6724650" cy="3143250"/>
          </a:xfrm>
          <a:prstGeom prst="rect">
            <a:avLst/>
          </a:prstGeom>
        </p:spPr>
      </p:pic>
    </p:spTree>
    <p:extLst>
      <p:ext uri="{BB962C8B-B14F-4D97-AF65-F5344CB8AC3E}">
        <p14:creationId xmlns:p14="http://schemas.microsoft.com/office/powerpoint/2010/main" val="3257689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ea typeface="+mn-ea"/>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4940640"/>
          </a:xfrm>
        </p:spPr>
        <p:txBody>
          <a:bodyPr>
            <a:normAutofit lnSpcReduction="10000"/>
          </a:bodyPr>
          <a:lstStyle/>
          <a:p>
            <a:pPr marL="0" indent="0">
              <a:buNone/>
            </a:pPr>
            <a:r>
              <a:rPr lang="en-US" sz="2400" b="0" i="0" dirty="0">
                <a:solidFill>
                  <a:srgbClr val="1E293B"/>
                </a:solidFill>
                <a:effectLst/>
                <a:highlight>
                  <a:srgbClr val="FFFFFF"/>
                </a:highlight>
              </a:rPr>
              <a:t>The combination of characteristics or qualities that form an individual’s distinctive character” is the definition of ____</a:t>
            </a:r>
          </a:p>
          <a:p>
            <a:pPr marL="0" indent="0">
              <a:buNone/>
            </a:pPr>
            <a:r>
              <a:rPr lang="en-US" sz="2400" b="0" i="0" dirty="0">
                <a:solidFill>
                  <a:srgbClr val="1E293B"/>
                </a:solidFill>
                <a:effectLst/>
                <a:highlight>
                  <a:srgbClr val="FFFFFF"/>
                </a:highlight>
              </a:rPr>
              <a:t>a) Personality</a:t>
            </a:r>
          </a:p>
          <a:p>
            <a:pPr marL="0" indent="0">
              <a:buNone/>
            </a:pPr>
            <a:r>
              <a:rPr lang="en-US" sz="2400" b="0" i="0" dirty="0">
                <a:solidFill>
                  <a:srgbClr val="1E293B"/>
                </a:solidFill>
                <a:effectLst/>
                <a:highlight>
                  <a:srgbClr val="FFFFFF"/>
                </a:highlight>
              </a:rPr>
              <a:t>b) Motivation</a:t>
            </a:r>
          </a:p>
          <a:p>
            <a:pPr marL="0" indent="0">
              <a:buNone/>
            </a:pPr>
            <a:r>
              <a:rPr lang="en-US" sz="2400" b="0" i="0" dirty="0">
                <a:solidFill>
                  <a:srgbClr val="1E293B"/>
                </a:solidFill>
                <a:effectLst/>
                <a:highlight>
                  <a:srgbClr val="FFFFFF"/>
                </a:highlight>
              </a:rPr>
              <a:t>c) Attitude</a:t>
            </a:r>
          </a:p>
          <a:p>
            <a:pPr marL="0" indent="0">
              <a:buNone/>
            </a:pPr>
            <a:r>
              <a:rPr lang="en-US" sz="2400" b="0" i="0" dirty="0">
                <a:solidFill>
                  <a:srgbClr val="1E293B"/>
                </a:solidFill>
                <a:effectLst/>
                <a:highlight>
                  <a:srgbClr val="FFFFFF"/>
                </a:highlight>
              </a:rPr>
              <a:t>d) </a:t>
            </a:r>
            <a:r>
              <a:rPr lang="en-US" sz="2400" b="0" i="0" dirty="0" err="1">
                <a:solidFill>
                  <a:srgbClr val="1E293B"/>
                </a:solidFill>
                <a:effectLst/>
                <a:highlight>
                  <a:srgbClr val="FFFFFF"/>
                </a:highlight>
              </a:rPr>
              <a:t>Behaviour</a:t>
            </a:r>
            <a:endParaRPr lang="en-US" sz="2400" b="0" i="0" dirty="0">
              <a:solidFill>
                <a:srgbClr val="1E293B"/>
              </a:solidFill>
              <a:effectLst/>
              <a:highlight>
                <a:srgbClr val="FFFFFF"/>
              </a:highlight>
            </a:endParaRPr>
          </a:p>
          <a:p>
            <a:pPr marL="0" indent="0">
              <a:buNone/>
            </a:pPr>
            <a:r>
              <a:rPr lang="en-US" sz="2400" b="0" i="0" dirty="0">
                <a:solidFill>
                  <a:srgbClr val="1E293B"/>
                </a:solidFill>
                <a:effectLst/>
                <a:highlight>
                  <a:srgbClr val="FFFFFF"/>
                </a:highlight>
              </a:rPr>
              <a:t>The family condition and impact of the parents is the main base for the personality of a person. Later it might change by ________</a:t>
            </a:r>
          </a:p>
          <a:p>
            <a:pPr marL="0" indent="0">
              <a:buNone/>
            </a:pPr>
            <a:r>
              <a:rPr lang="en-US" sz="2400" b="0" i="0" dirty="0">
                <a:solidFill>
                  <a:srgbClr val="1E293B"/>
                </a:solidFill>
                <a:effectLst/>
                <a:highlight>
                  <a:srgbClr val="FFFFFF"/>
                </a:highlight>
              </a:rPr>
              <a:t>a) thinking</a:t>
            </a:r>
          </a:p>
          <a:p>
            <a:pPr marL="0" indent="0">
              <a:buNone/>
            </a:pPr>
            <a:r>
              <a:rPr lang="en-US" sz="2400" b="0" i="0" dirty="0">
                <a:solidFill>
                  <a:srgbClr val="1E293B"/>
                </a:solidFill>
                <a:effectLst/>
                <a:highlight>
                  <a:srgbClr val="FFFFFF"/>
                </a:highlight>
              </a:rPr>
              <a:t>b) external influences</a:t>
            </a:r>
          </a:p>
          <a:p>
            <a:pPr marL="0" indent="0">
              <a:buNone/>
            </a:pPr>
            <a:r>
              <a:rPr lang="en-US" sz="2400" b="0" i="0" dirty="0">
                <a:solidFill>
                  <a:srgbClr val="1E293B"/>
                </a:solidFill>
                <a:effectLst/>
                <a:highlight>
                  <a:srgbClr val="FFFFFF"/>
                </a:highlight>
              </a:rPr>
              <a:t>c) own ability</a:t>
            </a:r>
          </a:p>
          <a:p>
            <a:pPr marL="0" indent="0">
              <a:buNone/>
            </a:pPr>
            <a:r>
              <a:rPr lang="en-US" sz="2400" b="0" i="0" dirty="0">
                <a:solidFill>
                  <a:srgbClr val="1E293B"/>
                </a:solidFill>
                <a:effectLst/>
                <a:highlight>
                  <a:srgbClr val="FFFFFF"/>
                </a:highlight>
              </a:rPr>
              <a:t>d) learning experiences</a:t>
            </a:r>
          </a:p>
          <a:p>
            <a:endParaRPr lang="en-IN" sz="2400" dirty="0"/>
          </a:p>
        </p:txBody>
      </p:sp>
    </p:spTree>
    <p:extLst>
      <p:ext uri="{BB962C8B-B14F-4D97-AF65-F5344CB8AC3E}">
        <p14:creationId xmlns:p14="http://schemas.microsoft.com/office/powerpoint/2010/main" val="3904976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Every individual is ________ by their personality.</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a) Intellectual</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b) Specific</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c) Unique</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d) Systematic</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Outgoing, talkative, social are part of __________ Personality Trait as per big 5 personality trait</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a) Friendly</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b) Openness to experience</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c) Introversion</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d) Extroversion</a:t>
            </a:r>
          </a:p>
          <a:p>
            <a:endParaRPr lang="en-IN" sz="2400" dirty="0"/>
          </a:p>
        </p:txBody>
      </p:sp>
    </p:spTree>
    <p:extLst>
      <p:ext uri="{BB962C8B-B14F-4D97-AF65-F5344CB8AC3E}">
        <p14:creationId xmlns:p14="http://schemas.microsoft.com/office/powerpoint/2010/main" val="1335473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Stress Management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just">
              <a:buNone/>
            </a:pPr>
            <a:r>
              <a:rPr lang="en-US" sz="2400" dirty="0"/>
              <a:t>Stress management is the technique to relieve stress by adopting a healthy lifestyle, work-life balance, time management, and minimizing the stress causes.</a:t>
            </a:r>
          </a:p>
          <a:p>
            <a:pPr marL="0" indent="0" algn="just">
              <a:buNone/>
            </a:pPr>
            <a:endParaRPr lang="en-IN" sz="2400" dirty="0"/>
          </a:p>
        </p:txBody>
      </p:sp>
    </p:spTree>
    <p:extLst>
      <p:ext uri="{BB962C8B-B14F-4D97-AF65-F5344CB8AC3E}">
        <p14:creationId xmlns:p14="http://schemas.microsoft.com/office/powerpoint/2010/main" val="31340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Stress Management Strategies/techniques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72485" y="1078043"/>
            <a:ext cx="10515600" cy="5016840"/>
          </a:xfrm>
        </p:spPr>
        <p:txBody>
          <a:bodyPr>
            <a:normAutofit lnSpcReduction="10000"/>
          </a:bodyPr>
          <a:lstStyle/>
          <a:p>
            <a:pPr algn="just"/>
            <a:r>
              <a:rPr lang="en-US" sz="2400" b="0" i="0" dirty="0">
                <a:effectLst/>
                <a:latin typeface="Times New Roman" panose="02020603050405020304" pitchFamily="18" charset="0"/>
                <a:cs typeface="Times New Roman" panose="02020603050405020304" pitchFamily="18" charset="0"/>
              </a:rPr>
              <a:t> Mindfulness Meditation</a:t>
            </a:r>
          </a:p>
          <a:p>
            <a:pPr algn="just"/>
            <a:r>
              <a:rPr lang="en-US" sz="2400" b="0" i="0" dirty="0">
                <a:effectLst/>
                <a:latin typeface="Times New Roman" panose="02020603050405020304" pitchFamily="18" charset="0"/>
                <a:cs typeface="Times New Roman" panose="02020603050405020304" pitchFamily="18" charset="0"/>
              </a:rPr>
              <a:t>Exercise/Yoga</a:t>
            </a:r>
          </a:p>
          <a:p>
            <a:pPr algn="just"/>
            <a:r>
              <a:rPr lang="en-US" sz="2400" b="0" i="0" dirty="0">
                <a:effectLst/>
                <a:latin typeface="Times New Roman" panose="02020603050405020304" pitchFamily="18" charset="0"/>
                <a:cs typeface="Times New Roman" panose="02020603050405020304" pitchFamily="18" charset="0"/>
              </a:rPr>
              <a:t>Imagery</a:t>
            </a:r>
          </a:p>
          <a:p>
            <a:pPr algn="just"/>
            <a:r>
              <a:rPr lang="en-US" sz="2400" b="0" i="0" dirty="0">
                <a:effectLst/>
                <a:latin typeface="Times New Roman" panose="02020603050405020304" pitchFamily="18" charset="0"/>
                <a:cs typeface="Times New Roman" panose="02020603050405020304" pitchFamily="18" charset="0"/>
              </a:rPr>
              <a:t>Time-Management</a:t>
            </a:r>
          </a:p>
          <a:p>
            <a:pPr algn="just"/>
            <a:r>
              <a:rPr lang="en-US" sz="2400" b="0" i="0" dirty="0">
                <a:effectLst/>
                <a:latin typeface="Times New Roman" panose="02020603050405020304" pitchFamily="18" charset="0"/>
                <a:cs typeface="Times New Roman" panose="02020603050405020304" pitchFamily="18" charset="0"/>
              </a:rPr>
              <a:t>Self-Care</a:t>
            </a:r>
          </a:p>
          <a:p>
            <a:pPr algn="just"/>
            <a:r>
              <a:rPr lang="en-US" sz="2400" b="0" i="0" dirty="0">
                <a:effectLst/>
                <a:latin typeface="Times New Roman" panose="02020603050405020304" pitchFamily="18" charset="0"/>
                <a:cs typeface="Times New Roman" panose="02020603050405020304" pitchFamily="18" charset="0"/>
              </a:rPr>
              <a:t>Maintain a ‘Stress Diary’</a:t>
            </a:r>
          </a:p>
          <a:p>
            <a:pPr algn="just"/>
            <a:r>
              <a:rPr lang="en-US" sz="2400" b="0" i="0" dirty="0">
                <a:effectLst/>
                <a:latin typeface="Times New Roman" panose="02020603050405020304" pitchFamily="18" charset="0"/>
                <a:cs typeface="Times New Roman" panose="02020603050405020304" pitchFamily="18" charset="0"/>
              </a:rPr>
              <a:t>Tune in to Music</a:t>
            </a:r>
          </a:p>
          <a:p>
            <a:pPr algn="just"/>
            <a:r>
              <a:rPr lang="en-US" sz="2400" b="0" i="0" dirty="0">
                <a:effectLst/>
                <a:latin typeface="Times New Roman" panose="02020603050405020304" pitchFamily="18" charset="0"/>
                <a:cs typeface="Times New Roman" panose="02020603050405020304" pitchFamily="18" charset="0"/>
              </a:rPr>
              <a:t>Reading Books</a:t>
            </a:r>
          </a:p>
          <a:p>
            <a:pPr algn="just"/>
            <a:r>
              <a:rPr lang="en-US" sz="2400" b="0" i="0" dirty="0">
                <a:effectLst/>
                <a:latin typeface="Times New Roman" panose="02020603050405020304" pitchFamily="18" charset="0"/>
                <a:cs typeface="Times New Roman" panose="02020603050405020304" pitchFamily="18" charset="0"/>
              </a:rPr>
              <a:t>Socializing with Friends and Family</a:t>
            </a:r>
          </a:p>
          <a:p>
            <a:pPr algn="just"/>
            <a:r>
              <a:rPr lang="en-US" sz="2400" b="0" i="0" dirty="0">
                <a:effectLst/>
                <a:latin typeface="Times New Roman" panose="02020603050405020304" pitchFamily="18" charset="0"/>
                <a:cs typeface="Times New Roman" panose="02020603050405020304" pitchFamily="18" charset="0"/>
              </a:rPr>
              <a:t>Get a Hobby</a:t>
            </a:r>
          </a:p>
          <a:p>
            <a:pPr algn="just"/>
            <a:r>
              <a:rPr lang="en-US" sz="2400" b="0" i="0" dirty="0">
                <a:effectLst/>
                <a:latin typeface="Times New Roman" panose="02020603050405020304" pitchFamily="18" charset="0"/>
                <a:cs typeface="Times New Roman" panose="02020603050405020304" pitchFamily="18" charset="0"/>
              </a:rPr>
              <a:t>Consult a Psychologist/Counselor</a:t>
            </a:r>
          </a:p>
          <a:p>
            <a:pPr algn="just"/>
            <a:r>
              <a:rPr lang="en-US" sz="2400" b="0" i="0" dirty="0">
                <a:effectLst/>
                <a:latin typeface="Times New Roman" panose="02020603050405020304" pitchFamily="18" charset="0"/>
                <a:cs typeface="Times New Roman" panose="02020603050405020304" pitchFamily="18" charset="0"/>
              </a:rPr>
              <a:t>Keep a Positive mindset</a:t>
            </a: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1531152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461428" y="1209747"/>
            <a:ext cx="10515600" cy="4788282"/>
          </a:xfrm>
        </p:spPr>
        <p:txBody>
          <a:bodyPr>
            <a:normAutofit/>
          </a:bodyPr>
          <a:lstStyle/>
          <a:p>
            <a:pPr algn="just"/>
            <a:r>
              <a:rPr lang="en-US" sz="2400" dirty="0"/>
              <a:t>Conflict is serious disagreement and argument about something important. If two people or groups are in conflict, they have had a serious disagreement or argument and have not yet reached agreement.</a:t>
            </a:r>
          </a:p>
          <a:p>
            <a:pPr algn="just"/>
            <a:endParaRPr lang="en-US" sz="2400" dirty="0"/>
          </a:p>
          <a:p>
            <a:r>
              <a:rPr lang="en-US" sz="2400" b="1" i="1" dirty="0">
                <a:solidFill>
                  <a:srgbClr val="424142"/>
                </a:solidFill>
                <a:effectLst/>
                <a:latin typeface="Times New Roman" panose="02020603050405020304" pitchFamily="18" charset="0"/>
                <a:cs typeface="Times New Roman" panose="02020603050405020304" pitchFamily="18" charset="0"/>
              </a:rPr>
              <a:t>According to S. R. Robbins defines conflict as “a process in which an effort is purposefully made by a person or unit to block another that result in frustrating the attainment of others goals or furthering of his or her interests.”</a:t>
            </a:r>
            <a:endParaRPr lang="en-US" sz="2400" b="1" dirty="0">
              <a:latin typeface="Times New Roman" panose="02020603050405020304" pitchFamily="18" charset="0"/>
              <a:cs typeface="Times New Roman" panose="02020603050405020304" pitchFamily="18" charset="0"/>
            </a:endParaRPr>
          </a:p>
          <a:p>
            <a:r>
              <a:rPr lang="en-US" sz="2400" i="1" dirty="0">
                <a:solidFill>
                  <a:srgbClr val="424142"/>
                </a:solidFill>
                <a:latin typeface="Times New Roman" panose="02020603050405020304" pitchFamily="18" charset="0"/>
                <a:cs typeface="Times New Roman" panose="02020603050405020304" pitchFamily="18" charset="0"/>
              </a:rPr>
              <a:t>Conflict can be defined as a difference that exists between needs, values, and interests of individuals or groups in an organization.</a:t>
            </a:r>
          </a:p>
          <a:p>
            <a:pPr algn="just"/>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p:txBody>
      </p:sp>
    </p:spTree>
    <p:extLst>
      <p:ext uri="{BB962C8B-B14F-4D97-AF65-F5344CB8AC3E}">
        <p14:creationId xmlns:p14="http://schemas.microsoft.com/office/powerpoint/2010/main" val="2324911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Types/Levels of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Content Placeholder 8">
            <a:extLst>
              <a:ext uri="{FF2B5EF4-FFF2-40B4-BE49-F238E27FC236}">
                <a16:creationId xmlns:a16="http://schemas.microsoft.com/office/drawing/2014/main" id="{41C35591-0194-E59A-B190-A030FA0C60BC}"/>
              </a:ext>
            </a:extLst>
          </p:cNvPr>
          <p:cNvPicPr>
            <a:picLocks noGrp="1" noChangeAspect="1"/>
          </p:cNvPicPr>
          <p:nvPr>
            <p:ph idx="1"/>
          </p:nvPr>
        </p:nvPicPr>
        <p:blipFill>
          <a:blip r:embed="rId4"/>
          <a:stretch>
            <a:fillRect/>
          </a:stretch>
        </p:blipFill>
        <p:spPr>
          <a:xfrm>
            <a:off x="1872342" y="1235075"/>
            <a:ext cx="8752115" cy="4572000"/>
          </a:xfrm>
          <a:prstGeom prst="rect">
            <a:avLst/>
          </a:prstGeom>
        </p:spPr>
      </p:pic>
    </p:spTree>
    <p:extLst>
      <p:ext uri="{BB962C8B-B14F-4D97-AF65-F5344CB8AC3E}">
        <p14:creationId xmlns:p14="http://schemas.microsoft.com/office/powerpoint/2010/main" val="2513057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 Intrapersonal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dirty="0"/>
              <a:t>Intrapersonal conflict occurs within an individual. The experience takes place in the person’s mind. Hence, it is a type of conflict that is psychological involving the individual’s thoughts, values, principles and emotions.</a:t>
            </a:r>
          </a:p>
          <a:p>
            <a:pPr marL="0" indent="0" algn="just">
              <a:buNone/>
            </a:pPr>
            <a:r>
              <a:rPr lang="en-US" sz="2400" b="0" i="0" dirty="0">
                <a:effectLst/>
                <a:latin typeface="Times New Roman" panose="02020603050405020304" pitchFamily="18" charset="0"/>
                <a:cs typeface="Times New Roman" panose="02020603050405020304" pitchFamily="18" charset="0"/>
              </a:rPr>
              <a:t> It might be a role conflict where a worker might have to choose between dinner with clients or dinner with family.</a:t>
            </a:r>
          </a:p>
          <a:p>
            <a:pPr marL="0" indent="0" algn="just">
              <a:buNone/>
            </a:pPr>
            <a:endParaRPr lang="en-US" sz="2400" b="0" i="0" dirty="0">
              <a:effectLst/>
              <a:latin typeface="Times New Roman" panose="02020603050405020304" pitchFamily="18" charset="0"/>
              <a:cs typeface="Times New Roman" panose="02020603050405020304" pitchFamily="18" charset="0"/>
            </a:endParaRPr>
          </a:p>
          <a:p>
            <a:pPr algn="just"/>
            <a:endParaRPr lang="en-US" sz="2400" dirty="0"/>
          </a:p>
        </p:txBody>
      </p:sp>
      <p:pic>
        <p:nvPicPr>
          <p:cNvPr id="3" name="Picture 2">
            <a:extLst>
              <a:ext uri="{FF2B5EF4-FFF2-40B4-BE49-F238E27FC236}">
                <a16:creationId xmlns:a16="http://schemas.microsoft.com/office/drawing/2014/main" id="{2D7D8E46-B7AD-A1E4-2AA1-E9DCCE1D96A5}"/>
              </a:ext>
            </a:extLst>
          </p:cNvPr>
          <p:cNvPicPr>
            <a:picLocks noChangeAspect="1"/>
          </p:cNvPicPr>
          <p:nvPr/>
        </p:nvPicPr>
        <p:blipFill>
          <a:blip r:embed="rId4"/>
          <a:stretch>
            <a:fillRect/>
          </a:stretch>
        </p:blipFill>
        <p:spPr>
          <a:xfrm>
            <a:off x="2686050" y="3265714"/>
            <a:ext cx="6381750" cy="2906486"/>
          </a:xfrm>
          <a:prstGeom prst="rect">
            <a:avLst/>
          </a:prstGeom>
        </p:spPr>
      </p:pic>
    </p:spTree>
    <p:extLst>
      <p:ext uri="{BB962C8B-B14F-4D97-AF65-F5344CB8AC3E}">
        <p14:creationId xmlns:p14="http://schemas.microsoft.com/office/powerpoint/2010/main" val="3611305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Interpersonal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838200" y="1177301"/>
            <a:ext cx="10515600" cy="3254078"/>
          </a:xfrm>
        </p:spPr>
        <p:txBody>
          <a:bodyPr>
            <a:normAutofit/>
          </a:bodyPr>
          <a:lstStyle/>
          <a:p>
            <a:pPr algn="just"/>
            <a:r>
              <a:rPr lang="en-US" sz="2400" dirty="0"/>
              <a:t>Interpersonal conflict refers to a conflict between two individuals.</a:t>
            </a:r>
          </a:p>
          <a:p>
            <a:pPr algn="just"/>
            <a:r>
              <a:rPr lang="en-US" sz="2400" dirty="0"/>
              <a:t>This occurs typically due to how people are different from one another. We have varied personalities which usually results to incompatible choices and opinions.</a:t>
            </a:r>
          </a:p>
          <a:p>
            <a:pPr algn="just"/>
            <a:endParaRPr lang="en-US" sz="2400" dirty="0"/>
          </a:p>
        </p:txBody>
      </p:sp>
      <p:pic>
        <p:nvPicPr>
          <p:cNvPr id="3" name="Picture 2">
            <a:extLst>
              <a:ext uri="{FF2B5EF4-FFF2-40B4-BE49-F238E27FC236}">
                <a16:creationId xmlns:a16="http://schemas.microsoft.com/office/drawing/2014/main" id="{E160F7C4-68B7-CF5A-8445-9C621157DFC6}"/>
              </a:ext>
            </a:extLst>
          </p:cNvPr>
          <p:cNvPicPr>
            <a:picLocks noChangeAspect="1"/>
          </p:cNvPicPr>
          <p:nvPr/>
        </p:nvPicPr>
        <p:blipFill>
          <a:blip r:embed="rId4"/>
          <a:stretch>
            <a:fillRect/>
          </a:stretch>
        </p:blipFill>
        <p:spPr>
          <a:xfrm>
            <a:off x="2785382" y="3004457"/>
            <a:ext cx="6381750" cy="3351892"/>
          </a:xfrm>
          <a:prstGeom prst="rect">
            <a:avLst/>
          </a:prstGeom>
        </p:spPr>
      </p:pic>
    </p:spTree>
    <p:extLst>
      <p:ext uri="{BB962C8B-B14F-4D97-AF65-F5344CB8AC3E}">
        <p14:creationId xmlns:p14="http://schemas.microsoft.com/office/powerpoint/2010/main" val="3341419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Intragroup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838200" y="1177301"/>
            <a:ext cx="10515600" cy="3254078"/>
          </a:xfrm>
        </p:spPr>
        <p:txBody>
          <a:bodyPr>
            <a:normAutofit/>
          </a:bodyPr>
          <a:lstStyle/>
          <a:p>
            <a:pPr algn="just"/>
            <a:r>
              <a:rPr lang="en-US" sz="2400" dirty="0"/>
              <a:t>Intragroup Conflict is a type of conflict that happens among individuals within a team.</a:t>
            </a:r>
          </a:p>
          <a:p>
            <a:pPr algn="just"/>
            <a:r>
              <a:rPr lang="en-US" sz="2400" dirty="0"/>
              <a:t>The incompatibilities and misunderstandings among these individuals lead to an intragroup conflict. It is arises from interpersonal disagreements or differences in views and ideas</a:t>
            </a:r>
          </a:p>
          <a:p>
            <a:pPr algn="just"/>
            <a:endParaRPr lang="en-US" sz="2400" dirty="0"/>
          </a:p>
        </p:txBody>
      </p:sp>
    </p:spTree>
    <p:extLst>
      <p:ext uri="{BB962C8B-B14F-4D97-AF65-F5344CB8AC3E}">
        <p14:creationId xmlns:p14="http://schemas.microsoft.com/office/powerpoint/2010/main" val="2076957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Intergroup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838200" y="1177301"/>
            <a:ext cx="10515600" cy="3254078"/>
          </a:xfrm>
        </p:spPr>
        <p:txBody>
          <a:bodyPr>
            <a:normAutofit/>
          </a:bodyPr>
          <a:lstStyle/>
          <a:p>
            <a:pPr algn="just"/>
            <a:r>
              <a:rPr lang="en-US" sz="2400" dirty="0"/>
              <a:t>Intergroup Conflict takes place when a misunderstanding arises among different teams within an organization. For instance, the sales department of an organization can come in conflict with the customer support department. This is due to the varied sets of goals and interests of these different groups. In addition, competition also contributes for intergroup conflict to arise. There are other factors which fuel this type of conflict.</a:t>
            </a:r>
          </a:p>
        </p:txBody>
      </p:sp>
    </p:spTree>
    <p:extLst>
      <p:ext uri="{BB962C8B-B14F-4D97-AF65-F5344CB8AC3E}">
        <p14:creationId xmlns:p14="http://schemas.microsoft.com/office/powerpoint/2010/main" val="12147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Causes of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pic>
        <p:nvPicPr>
          <p:cNvPr id="9" name="Picture 8">
            <a:extLst>
              <a:ext uri="{FF2B5EF4-FFF2-40B4-BE49-F238E27FC236}">
                <a16:creationId xmlns:a16="http://schemas.microsoft.com/office/drawing/2014/main" id="{2CD90400-4472-339D-F193-599A653BFEA3}"/>
              </a:ext>
            </a:extLst>
          </p:cNvPr>
          <p:cNvPicPr>
            <a:picLocks noChangeAspect="1"/>
          </p:cNvPicPr>
          <p:nvPr/>
        </p:nvPicPr>
        <p:blipFill>
          <a:blip r:embed="rId4"/>
          <a:stretch>
            <a:fillRect/>
          </a:stretch>
        </p:blipFill>
        <p:spPr>
          <a:xfrm>
            <a:off x="2072291" y="1167188"/>
            <a:ext cx="8047417" cy="4523624"/>
          </a:xfrm>
          <a:prstGeom prst="rect">
            <a:avLst/>
          </a:prstGeom>
        </p:spPr>
      </p:pic>
    </p:spTree>
    <p:extLst>
      <p:ext uri="{BB962C8B-B14F-4D97-AF65-F5344CB8AC3E}">
        <p14:creationId xmlns:p14="http://schemas.microsoft.com/office/powerpoint/2010/main" val="2260925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Stages of Conflict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461665"/>
          </a:xfrm>
          <a:prstGeom prst="rect">
            <a:avLst/>
          </a:prstGeom>
          <a:noFill/>
        </p:spPr>
        <p:txBody>
          <a:bodyPr wrap="square">
            <a:spAutoFit/>
          </a:bodyPr>
          <a:lstStyle/>
          <a:p>
            <a:r>
              <a:rPr lang="en-US" sz="2400" dirty="0"/>
              <a:t>.</a:t>
            </a:r>
          </a:p>
        </p:txBody>
      </p:sp>
      <p:pic>
        <p:nvPicPr>
          <p:cNvPr id="3" name="Picture 2">
            <a:extLst>
              <a:ext uri="{FF2B5EF4-FFF2-40B4-BE49-F238E27FC236}">
                <a16:creationId xmlns:a16="http://schemas.microsoft.com/office/drawing/2014/main" id="{715DE91A-A9DE-09C5-D127-186A6CF94854}"/>
              </a:ext>
            </a:extLst>
          </p:cNvPr>
          <p:cNvPicPr>
            <a:picLocks noChangeAspect="1"/>
          </p:cNvPicPr>
          <p:nvPr/>
        </p:nvPicPr>
        <p:blipFill>
          <a:blip r:embed="rId4"/>
          <a:stretch>
            <a:fillRect/>
          </a:stretch>
        </p:blipFill>
        <p:spPr>
          <a:xfrm>
            <a:off x="2525486" y="1257300"/>
            <a:ext cx="8305800" cy="4837583"/>
          </a:xfrm>
          <a:prstGeom prst="rect">
            <a:avLst/>
          </a:prstGeom>
        </p:spPr>
      </p:pic>
    </p:spTree>
    <p:extLst>
      <p:ext uri="{BB962C8B-B14F-4D97-AF65-F5344CB8AC3E}">
        <p14:creationId xmlns:p14="http://schemas.microsoft.com/office/powerpoint/2010/main" val="1770718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0" i="0" dirty="0">
                <a:solidFill>
                  <a:srgbClr val="1C1D1F"/>
                </a:solidFill>
                <a:effectLst/>
                <a:latin typeface="Times New Roman" panose="02020603050405020304" pitchFamily="18" charset="0"/>
                <a:cs typeface="Times New Roman" panose="02020603050405020304" pitchFamily="18" charset="0"/>
              </a:rPr>
              <a:t>Latent Stage</a:t>
            </a:r>
            <a:endParaRPr lang="en-US" sz="2800" dirty="0">
              <a:solidFill>
                <a:prstClr val="black"/>
              </a:solidFill>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461665"/>
          </a:xfrm>
          <a:prstGeom prst="rect">
            <a:avLst/>
          </a:prstGeom>
          <a:noFill/>
        </p:spPr>
        <p:txBody>
          <a:bodyPr wrap="square">
            <a:spAutoFit/>
          </a:bodyPr>
          <a:lstStyle/>
          <a:p>
            <a:r>
              <a:rPr lang="en-US" sz="2400" dirty="0"/>
              <a:t>.</a:t>
            </a:r>
          </a:p>
        </p:txBody>
      </p:sp>
      <p:sp>
        <p:nvSpPr>
          <p:cNvPr id="9" name="TextBox 8">
            <a:extLst>
              <a:ext uri="{FF2B5EF4-FFF2-40B4-BE49-F238E27FC236}">
                <a16:creationId xmlns:a16="http://schemas.microsoft.com/office/drawing/2014/main" id="{5D00DE42-2EBE-E15C-5F66-1EB4A384844D}"/>
              </a:ext>
            </a:extLst>
          </p:cNvPr>
          <p:cNvSpPr txBox="1"/>
          <p:nvPr/>
        </p:nvSpPr>
        <p:spPr>
          <a:xfrm>
            <a:off x="541856" y="1426174"/>
            <a:ext cx="10515600" cy="1938992"/>
          </a:xfrm>
          <a:prstGeom prst="rect">
            <a:avLst/>
          </a:prstGeom>
          <a:noFill/>
        </p:spPr>
        <p:txBody>
          <a:bodyPr wrap="square">
            <a:spAutoFit/>
          </a:bodyPr>
          <a:lstStyle/>
          <a:p>
            <a:pPr algn="just"/>
            <a:r>
              <a:rPr lang="en-US" sz="2400" b="0" i="0" dirty="0">
                <a:solidFill>
                  <a:srgbClr val="1C1D1F"/>
                </a:solidFill>
                <a:effectLst/>
                <a:latin typeface="Times New Roman" panose="02020603050405020304" pitchFamily="18" charset="0"/>
                <a:cs typeface="Times New Roman" panose="02020603050405020304" pitchFamily="18" charset="0"/>
              </a:rPr>
              <a:t>In the “Latent Stage,” the first stage in the five stages of conflict, people may be in conflict without being aware that they are in conflict. </a:t>
            </a:r>
          </a:p>
          <a:p>
            <a:pPr algn="just"/>
            <a:r>
              <a:rPr lang="en-US" sz="2400" b="0" i="0" dirty="0">
                <a:solidFill>
                  <a:srgbClr val="1C1D1F"/>
                </a:solidFill>
                <a:effectLst/>
                <a:latin typeface="Times New Roman" panose="02020603050405020304" pitchFamily="18" charset="0"/>
                <a:cs typeface="Times New Roman" panose="02020603050405020304" pitchFamily="18" charset="0"/>
              </a:rPr>
              <a:t> An example of this could be that a server at a restaurant may have inputted an order incorrectly and the food being made for a table is the wrong food.  The manager and table do not know this yet and conflict has not arisen yet.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1572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Title 1"/>
          <p:cNvSpPr txBox="1">
            <a:spLocks/>
          </p:cNvSpPr>
          <p:nvPr/>
        </p:nvSpPr>
        <p:spPr>
          <a:xfrm>
            <a:off x="2989343" y="0"/>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Perceived Stage</a:t>
            </a:r>
            <a:endPar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1569660"/>
          </a:xfrm>
          <a:prstGeom prst="rect">
            <a:avLst/>
          </a:prstGeom>
          <a:noFill/>
        </p:spPr>
        <p:txBody>
          <a:bodyPr wrap="square">
            <a:spAutoFit/>
          </a:bodyPr>
          <a:lstStyle/>
          <a:p>
            <a:pPr algn="just"/>
            <a:r>
              <a:rPr lang="en-US" sz="2400" dirty="0"/>
              <a:t>The “Perceived Stage” is when the people involved in a conflict become fully aware that there is a conflict, so the table has now been made aware and complained to management.  Management will now go over to speak with the employee about it.</a:t>
            </a:r>
          </a:p>
        </p:txBody>
      </p:sp>
    </p:spTree>
    <p:extLst>
      <p:ext uri="{BB962C8B-B14F-4D97-AF65-F5344CB8AC3E}">
        <p14:creationId xmlns:p14="http://schemas.microsoft.com/office/powerpoint/2010/main" val="744869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Felt Stage</a:t>
            </a:r>
            <a:endPar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1200329"/>
          </a:xfrm>
          <a:prstGeom prst="rect">
            <a:avLst/>
          </a:prstGeom>
          <a:noFill/>
        </p:spPr>
        <p:txBody>
          <a:bodyPr wrap="square">
            <a:spAutoFit/>
          </a:bodyPr>
          <a:lstStyle/>
          <a:p>
            <a:pPr algn="just"/>
            <a:r>
              <a:rPr lang="en-US" sz="2400" dirty="0"/>
              <a:t>During the “Felt Stage” stress and anxiety are felt by one or more of the participants due to the conflict, the manager does not enjoy causing conflict and the employee does not enjoy being under scrutiny.</a:t>
            </a:r>
          </a:p>
        </p:txBody>
      </p:sp>
    </p:spTree>
    <p:extLst>
      <p:ext uri="{BB962C8B-B14F-4D97-AF65-F5344CB8AC3E}">
        <p14:creationId xmlns:p14="http://schemas.microsoft.com/office/powerpoint/2010/main" val="32952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0" i="0" dirty="0">
                <a:solidFill>
                  <a:srgbClr val="1C1D1F"/>
                </a:solidFill>
                <a:effectLst/>
                <a:latin typeface="Times New Roman" panose="02020603050405020304" pitchFamily="18" charset="0"/>
                <a:cs typeface="Times New Roman" panose="02020603050405020304" pitchFamily="18" charset="0"/>
              </a:rPr>
              <a:t>Manifest Stage</a:t>
            </a:r>
            <a:endPar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1" name="TextBox 10">
            <a:extLst>
              <a:ext uri="{FF2B5EF4-FFF2-40B4-BE49-F238E27FC236}">
                <a16:creationId xmlns:a16="http://schemas.microsoft.com/office/drawing/2014/main" id="{47D45228-1B27-67B1-1B93-0A180B0032B0}"/>
              </a:ext>
            </a:extLst>
          </p:cNvPr>
          <p:cNvSpPr txBox="1"/>
          <p:nvPr/>
        </p:nvSpPr>
        <p:spPr>
          <a:xfrm>
            <a:off x="690028" y="1294371"/>
            <a:ext cx="10369858" cy="1938992"/>
          </a:xfrm>
          <a:prstGeom prst="rect">
            <a:avLst/>
          </a:prstGeom>
          <a:noFill/>
        </p:spPr>
        <p:txBody>
          <a:bodyPr wrap="square">
            <a:spAutoFit/>
          </a:bodyPr>
          <a:lstStyle/>
          <a:p>
            <a:r>
              <a:rPr lang="en-US" b="0" i="0" dirty="0">
                <a:solidFill>
                  <a:srgbClr val="1C1D1F"/>
                </a:solidFill>
                <a:effectLst/>
                <a:latin typeface="Udemy Sans"/>
              </a:rPr>
              <a:t>“</a:t>
            </a:r>
            <a:r>
              <a:rPr lang="en-US" sz="2400" b="0" i="0" dirty="0">
                <a:solidFill>
                  <a:srgbClr val="1C1D1F"/>
                </a:solidFill>
                <a:effectLst/>
                <a:latin typeface="Times New Roman" panose="02020603050405020304" pitchFamily="18" charset="0"/>
                <a:cs typeface="Times New Roman" panose="02020603050405020304" pitchFamily="18" charset="0"/>
              </a:rPr>
              <a:t>Manifest Stage,” during which the conflict can be observed. The Manifest Stage can take a number of shapes including: e-mails, phone calls, phone messages, face-to-face meetings, or any situation in which the conflict could be observed.  When the manager pulls the employee aside to speak with him or her, others perceive the conflict and it has manifested.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946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0" i="0" dirty="0">
                <a:solidFill>
                  <a:srgbClr val="1C1D1F"/>
                </a:solidFill>
                <a:effectLst/>
                <a:latin typeface="Times New Roman" panose="02020603050405020304" pitchFamily="18" charset="0"/>
                <a:cs typeface="Times New Roman" panose="02020603050405020304" pitchFamily="18" charset="0"/>
              </a:rPr>
              <a:t>Aftermath Stage</a:t>
            </a:r>
            <a:endPar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1" name="TextBox 10">
            <a:extLst>
              <a:ext uri="{FF2B5EF4-FFF2-40B4-BE49-F238E27FC236}">
                <a16:creationId xmlns:a16="http://schemas.microsoft.com/office/drawing/2014/main" id="{03D61B53-B6CC-B2FA-2A1A-D547E855BD88}"/>
              </a:ext>
            </a:extLst>
          </p:cNvPr>
          <p:cNvSpPr txBox="1"/>
          <p:nvPr/>
        </p:nvSpPr>
        <p:spPr>
          <a:xfrm>
            <a:off x="541856" y="1432871"/>
            <a:ext cx="10413400" cy="1569660"/>
          </a:xfrm>
          <a:prstGeom prst="rect">
            <a:avLst/>
          </a:prstGeom>
          <a:noFill/>
        </p:spPr>
        <p:txBody>
          <a:bodyPr wrap="square">
            <a:spAutoFit/>
          </a:bodyPr>
          <a:lstStyle/>
          <a:p>
            <a:pPr algn="just"/>
            <a:r>
              <a:rPr lang="en-US" sz="2400" b="0" i="0" dirty="0">
                <a:solidFill>
                  <a:srgbClr val="1C1D1F"/>
                </a:solidFill>
                <a:effectLst/>
                <a:latin typeface="Times New Roman" panose="02020603050405020304" pitchFamily="18" charset="0"/>
                <a:cs typeface="Times New Roman" panose="02020603050405020304" pitchFamily="18" charset="0"/>
              </a:rPr>
              <a:t>The final stage is the “Aftermath Stage,” which takes place when there is some outcome of the conflict, such as a resolution to, or dissolution of, the problem.  When the manager corrects the mistake with the customer and takes appropriate steps to ensure the server is more careful in the future.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1756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b="0" i="0" dirty="0">
                <a:solidFill>
                  <a:srgbClr val="0F1114"/>
                </a:solidFill>
                <a:effectLst/>
                <a:latin typeface="Source Sans Pro" panose="020B0503030403020204" pitchFamily="34" charset="0"/>
              </a:rPr>
              <a:t>Conflict management</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37A295EE-8154-E26F-FEC9-E5D60A14DA55}"/>
              </a:ext>
            </a:extLst>
          </p:cNvPr>
          <p:cNvSpPr>
            <a:spLocks noGrp="1"/>
          </p:cNvSpPr>
          <p:nvPr>
            <p:ph idx="1"/>
          </p:nvPr>
        </p:nvSpPr>
        <p:spPr>
          <a:xfrm>
            <a:off x="838200" y="1253331"/>
            <a:ext cx="10515600" cy="4351338"/>
          </a:xfrm>
        </p:spPr>
        <p:txBody>
          <a:bodyPr/>
          <a:lstStyle/>
          <a:p>
            <a:pPr algn="just"/>
            <a:r>
              <a:rPr lang="en-US" dirty="0"/>
              <a:t>Conflict management refers to the way that you handle disagreements. On any given day, you may have to deal with a dispute between you and another individual, your family members, or fellow employees. </a:t>
            </a:r>
            <a:endParaRPr lang="en-IN" dirty="0"/>
          </a:p>
        </p:txBody>
      </p:sp>
      <p:pic>
        <p:nvPicPr>
          <p:cNvPr id="9" name="Picture 8">
            <a:extLst>
              <a:ext uri="{FF2B5EF4-FFF2-40B4-BE49-F238E27FC236}">
                <a16:creationId xmlns:a16="http://schemas.microsoft.com/office/drawing/2014/main" id="{CB28E4E1-EB11-9D35-0179-374B1B05BF8C}"/>
              </a:ext>
            </a:extLst>
          </p:cNvPr>
          <p:cNvPicPr>
            <a:picLocks noChangeAspect="1"/>
          </p:cNvPicPr>
          <p:nvPr/>
        </p:nvPicPr>
        <p:blipFill>
          <a:blip r:embed="rId4"/>
          <a:stretch>
            <a:fillRect/>
          </a:stretch>
        </p:blipFill>
        <p:spPr>
          <a:xfrm>
            <a:off x="3104812" y="3057557"/>
            <a:ext cx="5285690" cy="2853175"/>
          </a:xfrm>
          <a:prstGeom prst="rect">
            <a:avLst/>
          </a:prstGeom>
        </p:spPr>
      </p:pic>
    </p:spTree>
    <p:extLst>
      <p:ext uri="{BB962C8B-B14F-4D97-AF65-F5344CB8AC3E}">
        <p14:creationId xmlns:p14="http://schemas.microsoft.com/office/powerpoint/2010/main" val="1036982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a:solidFill>
                  <a:prstClr val="black"/>
                </a:solidFill>
                <a:cs typeface="Times New Roman" panose="02020603050405020304" pitchFamily="18" charset="0"/>
              </a:rPr>
              <a:t>C</a:t>
            </a:r>
            <a:r>
              <a:rPr kumimoji="0" lang="en-US" i="0" u="none" strike="noStrike" kern="1200" cap="none" spc="0" normalizeH="0" baseline="0" noProof="0" dirty="0" err="1">
                <a:ln>
                  <a:noFill/>
                </a:ln>
                <a:solidFill>
                  <a:prstClr val="black"/>
                </a:solidFill>
                <a:effectLst/>
                <a:uLnTx/>
                <a:uFillTx/>
                <a:cs typeface="Times New Roman" panose="02020603050405020304" pitchFamily="18" charset="0"/>
              </a:rPr>
              <a:t>onflict</a:t>
            </a: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 management styles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 </a:t>
            </a:r>
            <a:r>
              <a:rPr lang="en-US" sz="2400" b="1" dirty="0"/>
              <a:t>Accommodating-</a:t>
            </a:r>
          </a:p>
          <a:p>
            <a:pPr algn="just"/>
            <a:r>
              <a:rPr lang="en-US" sz="2400" b="0" i="0" dirty="0">
                <a:solidFill>
                  <a:srgbClr val="1F1F1F"/>
                </a:solidFill>
                <a:effectLst/>
                <a:latin typeface="Times New Roman" panose="02020603050405020304" pitchFamily="18" charset="0"/>
                <a:cs typeface="Times New Roman" panose="02020603050405020304" pitchFamily="18" charset="0"/>
              </a:rPr>
              <a:t>An accommodating mode of conflict management tends to be high in cooperation but low in confidence. When you use this style, you resolve the disagreement by sacrificing your own needs and desires for those of the other party</a:t>
            </a:r>
            <a:r>
              <a:rPr lang="en-US" sz="2400" b="1" i="0" dirty="0">
                <a:solidFill>
                  <a:srgbClr val="1F1F1F"/>
                </a:solidFill>
                <a:effectLst/>
                <a:latin typeface="Times New Roman" panose="02020603050405020304" pitchFamily="18" charset="0"/>
                <a:cs typeface="Times New Roman" panose="02020603050405020304" pitchFamily="18" charset="0"/>
              </a:rPr>
              <a:t>.</a:t>
            </a:r>
          </a:p>
          <a:p>
            <a:pPr algn="just"/>
            <a:r>
              <a:rPr lang="en-US" sz="2400" b="0" i="0" dirty="0">
                <a:solidFill>
                  <a:srgbClr val="1F1F1F"/>
                </a:solidFill>
                <a:effectLst/>
                <a:latin typeface="Times New Roman" panose="02020603050405020304" pitchFamily="18" charset="0"/>
                <a:cs typeface="Times New Roman" panose="02020603050405020304" pitchFamily="18" charset="0"/>
              </a:rPr>
              <a:t>This management style might benefit your work when conflicts are small and you need to move on quickly. At home, this style works when your relationship with your roommate, partner, or child is more important than being right</a:t>
            </a:r>
            <a:endParaRPr lang="en-US" sz="2400" b="1" dirty="0"/>
          </a:p>
        </p:txBody>
      </p:sp>
    </p:spTree>
    <p:extLst>
      <p:ext uri="{BB962C8B-B14F-4D97-AF65-F5344CB8AC3E}">
        <p14:creationId xmlns:p14="http://schemas.microsoft.com/office/powerpoint/2010/main" val="2364412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a:solidFill>
                  <a:prstClr val="black"/>
                </a:solidFill>
                <a:cs typeface="Times New Roman" panose="02020603050405020304" pitchFamily="18" charset="0"/>
              </a:rPr>
              <a:t>C</a:t>
            </a:r>
            <a:r>
              <a:rPr kumimoji="0" lang="en-US" i="0" u="none" strike="noStrike" kern="1200" cap="none" spc="0" normalizeH="0" baseline="0" noProof="0" dirty="0" err="1">
                <a:ln>
                  <a:noFill/>
                </a:ln>
                <a:solidFill>
                  <a:prstClr val="black"/>
                </a:solidFill>
                <a:effectLst/>
                <a:uLnTx/>
                <a:uFillTx/>
                <a:cs typeface="Times New Roman" panose="02020603050405020304" pitchFamily="18" charset="0"/>
              </a:rPr>
              <a:t>onflict</a:t>
            </a: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 management styles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38BBD28A-1658-DA4B-C278-832F08D492E4}"/>
              </a:ext>
            </a:extLst>
          </p:cNvPr>
          <p:cNvSpPr>
            <a:spLocks noGrp="1"/>
          </p:cNvSpPr>
          <p:nvPr>
            <p:ph idx="1"/>
          </p:nvPr>
        </p:nvSpPr>
        <p:spPr>
          <a:xfrm>
            <a:off x="690028" y="1139825"/>
            <a:ext cx="10515600" cy="4351338"/>
          </a:xfrm>
        </p:spPr>
        <p:txBody>
          <a:bodyPr>
            <a:normAutofit/>
          </a:bodyPr>
          <a:lstStyle/>
          <a:p>
            <a:pPr marL="0" indent="0">
              <a:buNone/>
            </a:pPr>
            <a:r>
              <a:rPr lang="en-IN" dirty="0"/>
              <a:t> </a:t>
            </a:r>
            <a:r>
              <a:rPr lang="en-IN" b="1" dirty="0"/>
              <a:t>Avoiding-</a:t>
            </a:r>
          </a:p>
          <a:p>
            <a:pPr algn="just"/>
            <a:r>
              <a:rPr lang="en-US" sz="2400" b="0" i="0" dirty="0">
                <a:solidFill>
                  <a:srgbClr val="0F1114"/>
                </a:solidFill>
                <a:effectLst/>
                <a:latin typeface="Source Sans Pro" panose="020B0503030403020204" pitchFamily="34" charset="0"/>
              </a:rPr>
              <a:t>When avoiding, you try to excuse or bypass a conflict. This style of managing conflicts is low in assertiveness and cooperativeness. Avoidance is unproductive for handling most disputes because it may leave the other party feeling like you don't care. Also, if left unresolved, some conflicts become much more troublesome. </a:t>
            </a:r>
          </a:p>
          <a:p>
            <a:pPr algn="just"/>
            <a:r>
              <a:rPr lang="en-US" sz="2400" b="0" i="0" dirty="0">
                <a:solidFill>
                  <a:srgbClr val="0F1114"/>
                </a:solidFill>
                <a:effectLst/>
                <a:latin typeface="Source Sans Pro" panose="020B0503030403020204" pitchFamily="34" charset="0"/>
              </a:rPr>
              <a:t>However, an avoiding management style works in situations where:</a:t>
            </a:r>
          </a:p>
          <a:p>
            <a:pPr algn="just">
              <a:buFont typeface="Arial" panose="020B0604020202020204" pitchFamily="34" charset="0"/>
              <a:buChar char="•"/>
            </a:pPr>
            <a:r>
              <a:rPr lang="en-US" sz="2400" b="0" i="0" dirty="0">
                <a:solidFill>
                  <a:srgbClr val="0F1114"/>
                </a:solidFill>
                <a:effectLst/>
                <a:latin typeface="var(--cds-font-family-source-sans-pro)"/>
              </a:rPr>
              <a:t>You need time to think through a disagreement.</a:t>
            </a:r>
          </a:p>
          <a:p>
            <a:pPr algn="just">
              <a:buFont typeface="Arial" panose="020B0604020202020204" pitchFamily="34" charset="0"/>
              <a:buChar char="•"/>
            </a:pPr>
            <a:r>
              <a:rPr lang="en-US" sz="2400" b="0" i="0" dirty="0">
                <a:solidFill>
                  <a:srgbClr val="0F1114"/>
                </a:solidFill>
                <a:effectLst/>
                <a:latin typeface="var(--cds-font-family-source-sans-pro)"/>
              </a:rPr>
              <a:t>You have more pressing problems to deal with first.</a:t>
            </a:r>
          </a:p>
          <a:p>
            <a:pPr algn="just">
              <a:buFont typeface="Arial" panose="020B0604020202020204" pitchFamily="34" charset="0"/>
              <a:buChar char="•"/>
            </a:pPr>
            <a:r>
              <a:rPr lang="en-US" sz="2400" b="0" i="0" dirty="0">
                <a:solidFill>
                  <a:srgbClr val="0F1114"/>
                </a:solidFill>
                <a:effectLst/>
                <a:latin typeface="var(--cds-font-family-source-sans-pro)"/>
              </a:rPr>
              <a:t>The risks of confronting a problem outweigh the benefits.</a:t>
            </a:r>
          </a:p>
          <a:p>
            <a:pPr marL="0" indent="0">
              <a:buNone/>
            </a:pPr>
            <a:endParaRPr lang="en-IN" b="1" dirty="0"/>
          </a:p>
        </p:txBody>
      </p:sp>
    </p:spTree>
    <p:extLst>
      <p:ext uri="{BB962C8B-B14F-4D97-AF65-F5344CB8AC3E}">
        <p14:creationId xmlns:p14="http://schemas.microsoft.com/office/powerpoint/2010/main" val="2225452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a:solidFill>
                  <a:prstClr val="black"/>
                </a:solidFill>
                <a:cs typeface="Times New Roman" panose="02020603050405020304" pitchFamily="18" charset="0"/>
              </a:rPr>
              <a:t>C</a:t>
            </a:r>
            <a:r>
              <a:rPr kumimoji="0" lang="en-US" i="0" u="none" strike="noStrike" kern="1200" cap="none" spc="0" normalizeH="0" baseline="0" noProof="0" dirty="0" err="1">
                <a:ln>
                  <a:noFill/>
                </a:ln>
                <a:solidFill>
                  <a:prstClr val="black"/>
                </a:solidFill>
                <a:effectLst/>
                <a:uLnTx/>
                <a:uFillTx/>
                <a:cs typeface="Times New Roman" panose="02020603050405020304" pitchFamily="18" charset="0"/>
              </a:rPr>
              <a:t>onflict</a:t>
            </a: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 management styles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38BBD28A-1658-DA4B-C278-832F08D492E4}"/>
              </a:ext>
            </a:extLst>
          </p:cNvPr>
          <p:cNvSpPr>
            <a:spLocks noGrp="1"/>
          </p:cNvSpPr>
          <p:nvPr>
            <p:ph idx="1"/>
          </p:nvPr>
        </p:nvSpPr>
        <p:spPr>
          <a:xfrm>
            <a:off x="690028" y="1139825"/>
            <a:ext cx="10515600" cy="4351338"/>
          </a:xfrm>
        </p:spPr>
        <p:txBody>
          <a:bodyPr>
            <a:normAutofit/>
          </a:bodyPr>
          <a:lstStyle/>
          <a:p>
            <a:pPr marL="0" indent="0">
              <a:buNone/>
            </a:pPr>
            <a:r>
              <a:rPr lang="en-IN" dirty="0"/>
              <a:t> </a:t>
            </a:r>
            <a:r>
              <a:rPr lang="en-IN" b="1" i="0" dirty="0">
                <a:solidFill>
                  <a:srgbClr val="0F1114"/>
                </a:solidFill>
                <a:effectLst/>
                <a:latin typeface="Source Sans Pro" panose="020B0503030403020204" pitchFamily="34" charset="0"/>
              </a:rPr>
              <a:t> Collaborating</a:t>
            </a:r>
            <a:r>
              <a:rPr lang="en-IN" b="1" dirty="0"/>
              <a:t>-</a:t>
            </a:r>
          </a:p>
          <a:p>
            <a:pPr algn="just"/>
            <a:r>
              <a:rPr lang="en-US" sz="2400" b="0" i="0" dirty="0">
                <a:solidFill>
                  <a:srgbClr val="0F1114"/>
                </a:solidFill>
                <a:effectLst/>
                <a:latin typeface="Source Sans Pro" panose="020B0503030403020204" pitchFamily="34" charset="0"/>
              </a:rPr>
              <a:t>A collaborating conflict management style demands a high level of cooperation from all parties involved. Individuals in a dispute come together to find a respectful resolution that benefits everyone.</a:t>
            </a:r>
            <a:r>
              <a:rPr lang="en-US" sz="2400" b="0" i="0" dirty="0">
                <a:solidFill>
                  <a:srgbClr val="0F1114"/>
                </a:solidFill>
                <a:effectLst/>
                <a:latin typeface="var(--cds-font-family-source-sans-pro)"/>
              </a:rPr>
              <a:t>.</a:t>
            </a:r>
          </a:p>
          <a:p>
            <a:pPr marL="0" indent="0">
              <a:buNone/>
            </a:pPr>
            <a:endParaRPr lang="en-IN" b="1" dirty="0"/>
          </a:p>
        </p:txBody>
      </p:sp>
    </p:spTree>
    <p:extLst>
      <p:ext uri="{BB962C8B-B14F-4D97-AF65-F5344CB8AC3E}">
        <p14:creationId xmlns:p14="http://schemas.microsoft.com/office/powerpoint/2010/main" val="4188346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a:solidFill>
                  <a:prstClr val="black"/>
                </a:solidFill>
                <a:cs typeface="Times New Roman" panose="02020603050405020304" pitchFamily="18" charset="0"/>
              </a:rPr>
              <a:t>C</a:t>
            </a:r>
            <a:r>
              <a:rPr kumimoji="0" lang="en-US" i="0" u="none" strike="noStrike" kern="1200" cap="none" spc="0" normalizeH="0" baseline="0" noProof="0" dirty="0" err="1">
                <a:ln>
                  <a:noFill/>
                </a:ln>
                <a:solidFill>
                  <a:prstClr val="black"/>
                </a:solidFill>
                <a:effectLst/>
                <a:uLnTx/>
                <a:uFillTx/>
                <a:cs typeface="Times New Roman" panose="02020603050405020304" pitchFamily="18" charset="0"/>
              </a:rPr>
              <a:t>onflict</a:t>
            </a: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 management styles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38BBD28A-1658-DA4B-C278-832F08D492E4}"/>
              </a:ext>
            </a:extLst>
          </p:cNvPr>
          <p:cNvSpPr>
            <a:spLocks noGrp="1"/>
          </p:cNvSpPr>
          <p:nvPr>
            <p:ph idx="1"/>
          </p:nvPr>
        </p:nvSpPr>
        <p:spPr>
          <a:xfrm>
            <a:off x="690028" y="1139825"/>
            <a:ext cx="10515600" cy="4351338"/>
          </a:xfrm>
        </p:spPr>
        <p:txBody>
          <a:bodyPr>
            <a:normAutofit/>
          </a:bodyPr>
          <a:lstStyle/>
          <a:p>
            <a:pPr marL="0" indent="0">
              <a:buNone/>
            </a:pPr>
            <a:r>
              <a:rPr lang="en-IN" dirty="0"/>
              <a:t> </a:t>
            </a:r>
            <a:r>
              <a:rPr lang="en-IN" b="1" i="0" dirty="0">
                <a:solidFill>
                  <a:srgbClr val="0F1114"/>
                </a:solidFill>
                <a:effectLst/>
                <a:latin typeface="Source Sans Pro" panose="020B0503030403020204" pitchFamily="34" charset="0"/>
              </a:rPr>
              <a:t> Competing</a:t>
            </a:r>
            <a:r>
              <a:rPr lang="en-IN" b="1" dirty="0"/>
              <a:t>-</a:t>
            </a:r>
          </a:p>
          <a:p>
            <a:pPr algn="just"/>
            <a:r>
              <a:rPr lang="en-US" sz="2400" b="0" i="0" dirty="0">
                <a:solidFill>
                  <a:srgbClr val="0F1114"/>
                </a:solidFill>
                <a:effectLst/>
                <a:latin typeface="Source Sans Pro" panose="020B0503030403020204" pitchFamily="34" charset="0"/>
              </a:rPr>
              <a:t>When you use a competitive conflict management style (sometimes called 'forcing'), you put your own needs and desires over those of others. This style is high in assertiveness and low in cooperation. In other words, it's the opposite of accommodating.</a:t>
            </a:r>
            <a:endParaRPr lang="en-IN" b="1" dirty="0"/>
          </a:p>
        </p:txBody>
      </p:sp>
    </p:spTree>
    <p:extLst>
      <p:ext uri="{BB962C8B-B14F-4D97-AF65-F5344CB8AC3E}">
        <p14:creationId xmlns:p14="http://schemas.microsoft.com/office/powerpoint/2010/main" val="41551239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a:solidFill>
                  <a:prstClr val="black"/>
                </a:solidFill>
                <a:cs typeface="Times New Roman" panose="02020603050405020304" pitchFamily="18" charset="0"/>
              </a:rPr>
              <a:t>C</a:t>
            </a:r>
            <a:r>
              <a:rPr kumimoji="0" lang="en-US" i="0" u="none" strike="noStrike" kern="1200" cap="none" spc="0" normalizeH="0" baseline="0" noProof="0" dirty="0" err="1">
                <a:ln>
                  <a:noFill/>
                </a:ln>
                <a:solidFill>
                  <a:prstClr val="black"/>
                </a:solidFill>
                <a:effectLst/>
                <a:uLnTx/>
                <a:uFillTx/>
                <a:cs typeface="Times New Roman" panose="02020603050405020304" pitchFamily="18" charset="0"/>
              </a:rPr>
              <a:t>onflict</a:t>
            </a: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 management styles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38BBD28A-1658-DA4B-C278-832F08D492E4}"/>
              </a:ext>
            </a:extLst>
          </p:cNvPr>
          <p:cNvSpPr>
            <a:spLocks noGrp="1"/>
          </p:cNvSpPr>
          <p:nvPr>
            <p:ph idx="1"/>
          </p:nvPr>
        </p:nvSpPr>
        <p:spPr>
          <a:xfrm>
            <a:off x="690028" y="1139825"/>
            <a:ext cx="10515600" cy="4351338"/>
          </a:xfrm>
        </p:spPr>
        <p:txBody>
          <a:bodyPr>
            <a:normAutofit/>
          </a:bodyPr>
          <a:lstStyle/>
          <a:p>
            <a:pPr marL="0" indent="0">
              <a:buNone/>
            </a:pPr>
            <a:r>
              <a:rPr lang="en-IN" dirty="0"/>
              <a:t> </a:t>
            </a:r>
            <a:r>
              <a:rPr lang="en-IN" b="1" i="0" dirty="0">
                <a:solidFill>
                  <a:srgbClr val="0F1114"/>
                </a:solidFill>
                <a:effectLst/>
                <a:latin typeface="Source Sans Pro" panose="020B0503030403020204" pitchFamily="34" charset="0"/>
              </a:rPr>
              <a:t> Compromising</a:t>
            </a:r>
            <a:r>
              <a:rPr lang="en-IN" b="1" dirty="0"/>
              <a:t>-</a:t>
            </a:r>
          </a:p>
          <a:p>
            <a:pPr algn="just"/>
            <a:r>
              <a:rPr lang="en-US" sz="2400" b="0" i="0" dirty="0">
                <a:solidFill>
                  <a:srgbClr val="0F1114"/>
                </a:solidFill>
                <a:effectLst/>
                <a:latin typeface="Source Sans Pro" panose="020B0503030403020204" pitchFamily="34" charset="0"/>
              </a:rPr>
              <a:t>Compromising demands moderate confidence and cooperation from all parties involved. With this type of resolution, everyone gets something they want or need. This style of managing conflict works well when time is limited. Because of time constraints, compromising isn't always as creative as collaborating, and some parties may come away less satisfied than others</a:t>
            </a:r>
            <a:endParaRPr lang="en-IN" b="1" dirty="0"/>
          </a:p>
        </p:txBody>
      </p:sp>
    </p:spTree>
    <p:extLst>
      <p:ext uri="{BB962C8B-B14F-4D97-AF65-F5344CB8AC3E}">
        <p14:creationId xmlns:p14="http://schemas.microsoft.com/office/powerpoint/2010/main" val="9126531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140883"/>
            <a:ext cx="10672228" cy="4893647"/>
          </a:xfrm>
          <a:prstGeom prst="rect">
            <a:avLst/>
          </a:prstGeom>
          <a:noFill/>
        </p:spPr>
        <p:txBody>
          <a:bodyPr wrap="square">
            <a:spAutoFit/>
          </a:bodyPr>
          <a:lstStyle/>
          <a:p>
            <a:pPr algn="just">
              <a:buFont typeface="Wingdings" panose="05000000000000000000" pitchFamily="2" charset="2"/>
              <a:buChar char="Ø"/>
            </a:pPr>
            <a:r>
              <a:rPr lang="en-US" sz="2400" dirty="0">
                <a:cs typeface="Times New Roman" panose="02020603050405020304" pitchFamily="18" charset="0"/>
              </a:rPr>
              <a:t>_____ theory argues that </a:t>
            </a:r>
            <a:r>
              <a:rPr lang="en-US" sz="2400" dirty="0" err="1">
                <a:cs typeface="Times New Roman" panose="02020603050405020304" pitchFamily="18" charset="0"/>
              </a:rPr>
              <a:t>behaviour</a:t>
            </a:r>
            <a:r>
              <a:rPr lang="en-US" sz="2400" dirty="0">
                <a:cs typeface="Times New Roman" panose="02020603050405020304" pitchFamily="18" charset="0"/>
              </a:rPr>
              <a:t> is a function of its consequences.</a:t>
            </a:r>
          </a:p>
          <a:p>
            <a:pPr algn="just">
              <a:buFont typeface="Wingdings" panose="05000000000000000000" pitchFamily="2" charset="2"/>
              <a:buChar char="Ø"/>
            </a:pPr>
            <a:r>
              <a:rPr lang="en-US" sz="2400" dirty="0">
                <a:cs typeface="Times New Roman" panose="02020603050405020304" pitchFamily="18" charset="0"/>
              </a:rPr>
              <a:t>	Equity</a:t>
            </a:r>
          </a:p>
          <a:p>
            <a:pPr algn="just">
              <a:buFont typeface="Wingdings" panose="05000000000000000000" pitchFamily="2" charset="2"/>
              <a:buChar char="Ø"/>
            </a:pPr>
            <a:r>
              <a:rPr lang="en-US" sz="2400" dirty="0">
                <a:cs typeface="Times New Roman" panose="02020603050405020304" pitchFamily="18" charset="0"/>
              </a:rPr>
              <a:t>	Reinforcement</a:t>
            </a:r>
          </a:p>
          <a:p>
            <a:pPr algn="just">
              <a:buFont typeface="Wingdings" panose="05000000000000000000" pitchFamily="2" charset="2"/>
              <a:buChar char="Ø"/>
            </a:pPr>
            <a:r>
              <a:rPr lang="en-US" sz="2400" dirty="0">
                <a:cs typeface="Times New Roman" panose="02020603050405020304" pitchFamily="18" charset="0"/>
              </a:rPr>
              <a:t>	Goal-setting</a:t>
            </a:r>
          </a:p>
          <a:p>
            <a:pPr algn="just">
              <a:buFont typeface="Wingdings" panose="05000000000000000000" pitchFamily="2" charset="2"/>
              <a:buChar char="Ø"/>
            </a:pPr>
            <a:r>
              <a:rPr lang="en-US" sz="2400" dirty="0">
                <a:cs typeface="Times New Roman" panose="02020603050405020304" pitchFamily="18" charset="0"/>
              </a:rPr>
              <a:t>	Expectancy</a:t>
            </a:r>
          </a:p>
          <a:p>
            <a:pPr algn="just">
              <a:buFont typeface="Wingdings" panose="05000000000000000000" pitchFamily="2" charset="2"/>
              <a:buChar char="Ø"/>
            </a:pPr>
            <a:endParaRPr lang="en-US" sz="2400" dirty="0">
              <a:cs typeface="Times New Roman" panose="02020603050405020304" pitchFamily="18" charset="0"/>
            </a:endParaRPr>
          </a:p>
          <a:p>
            <a:pPr algn="just">
              <a:buFont typeface="Wingdings" panose="05000000000000000000" pitchFamily="2" charset="2"/>
              <a:buChar char="Ø"/>
            </a:pPr>
            <a:endParaRPr lang="en-US" sz="2400" dirty="0">
              <a:cs typeface="Times New Roman" panose="02020603050405020304" pitchFamily="18" charset="0"/>
            </a:endParaRPr>
          </a:p>
          <a:p>
            <a:pPr algn="just">
              <a:buFont typeface="Wingdings" panose="05000000000000000000" pitchFamily="2" charset="2"/>
              <a:buChar char="Ø"/>
            </a:pPr>
            <a:r>
              <a:rPr lang="en-US" sz="2400" dirty="0">
                <a:cs typeface="Times New Roman" panose="02020603050405020304" pitchFamily="18" charset="0"/>
              </a:rPr>
              <a:t>_____ focuses on core job attributes, critical psychological states, and expected outcomes.</a:t>
            </a:r>
          </a:p>
          <a:p>
            <a:pPr algn="just">
              <a:buFont typeface="Wingdings" panose="05000000000000000000" pitchFamily="2" charset="2"/>
              <a:buChar char="Ø"/>
            </a:pPr>
            <a:r>
              <a:rPr lang="en-US" sz="2400" dirty="0">
                <a:cs typeface="Times New Roman" panose="02020603050405020304" pitchFamily="18" charset="0"/>
              </a:rPr>
              <a:t>a. The equity model</a:t>
            </a:r>
          </a:p>
          <a:p>
            <a:pPr algn="just">
              <a:buFont typeface="Wingdings" panose="05000000000000000000" pitchFamily="2" charset="2"/>
              <a:buChar char="Ø"/>
            </a:pPr>
            <a:r>
              <a:rPr lang="en-US" sz="2400" dirty="0">
                <a:cs typeface="Times New Roman" panose="02020603050405020304" pitchFamily="18" charset="0"/>
              </a:rPr>
              <a:t>b. The expectancy model</a:t>
            </a:r>
          </a:p>
          <a:p>
            <a:pPr algn="just">
              <a:buFont typeface="Wingdings" panose="05000000000000000000" pitchFamily="2" charset="2"/>
              <a:buChar char="Ø"/>
            </a:pPr>
            <a:r>
              <a:rPr lang="en-US" sz="2400" dirty="0">
                <a:cs typeface="Times New Roman" panose="02020603050405020304" pitchFamily="18" charset="0"/>
              </a:rPr>
              <a:t>c. The two-factor model</a:t>
            </a:r>
          </a:p>
          <a:p>
            <a:pPr algn="just">
              <a:buFont typeface="Wingdings" panose="05000000000000000000" pitchFamily="2" charset="2"/>
              <a:buChar char="Ø"/>
            </a:pPr>
            <a:r>
              <a:rPr lang="en-US" sz="2400" dirty="0">
                <a:cs typeface="Times New Roman" panose="02020603050405020304" pitchFamily="18" charset="0"/>
              </a:rPr>
              <a:t>d. The job characteristics model </a:t>
            </a:r>
          </a:p>
        </p:txBody>
      </p:sp>
    </p:spTree>
    <p:extLst>
      <p:ext uri="{BB962C8B-B14F-4D97-AF65-F5344CB8AC3E}">
        <p14:creationId xmlns:p14="http://schemas.microsoft.com/office/powerpoint/2010/main" val="3894950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402772" y="947268"/>
            <a:ext cx="10672228" cy="5016758"/>
          </a:xfrm>
          <a:prstGeom prst="rect">
            <a:avLst/>
          </a:prstGeom>
          <a:noFill/>
        </p:spPr>
        <p:txBody>
          <a:bodyPr wrap="square">
            <a:spAutoFit/>
          </a:bodyPr>
          <a:lstStyle/>
          <a:p>
            <a:pPr algn="just">
              <a:buFont typeface="Wingdings" panose="05000000000000000000" pitchFamily="2" charset="2"/>
              <a:buChar char="Ø"/>
            </a:pPr>
            <a:r>
              <a:rPr lang="en-US" sz="2000" dirty="0">
                <a:cs typeface="Times New Roman" panose="02020603050405020304" pitchFamily="18" charset="0"/>
              </a:rPr>
              <a:t>Which is NOT a dimension in Maslow's Hierarchy of Needs?</a:t>
            </a:r>
          </a:p>
          <a:p>
            <a:pPr marL="457200" indent="-457200" algn="just">
              <a:buFont typeface="+mj-lt"/>
              <a:buAutoNum type="alphaLcParenR"/>
            </a:pPr>
            <a:r>
              <a:rPr lang="en-US" sz="2000" dirty="0">
                <a:cs typeface="Times New Roman" panose="02020603050405020304" pitchFamily="18" charset="0"/>
              </a:rPr>
              <a:t>	Ego</a:t>
            </a:r>
          </a:p>
          <a:p>
            <a:pPr marL="457200" indent="-457200" algn="just">
              <a:buFont typeface="+mj-lt"/>
              <a:buAutoNum type="alphaLcParenR"/>
            </a:pPr>
            <a:r>
              <a:rPr lang="en-US" sz="2000" dirty="0">
                <a:cs typeface="Times New Roman" panose="02020603050405020304" pitchFamily="18" charset="0"/>
              </a:rPr>
              <a:t>	Physiological</a:t>
            </a:r>
          </a:p>
          <a:p>
            <a:pPr marL="457200" indent="-457200" algn="just">
              <a:buFont typeface="+mj-lt"/>
              <a:buAutoNum type="alphaLcParenR"/>
            </a:pPr>
            <a:r>
              <a:rPr lang="en-US" sz="2000" dirty="0">
                <a:cs typeface="Times New Roman" panose="02020603050405020304" pitchFamily="18" charset="0"/>
              </a:rPr>
              <a:t>	Safety</a:t>
            </a:r>
          </a:p>
          <a:p>
            <a:pPr marL="457200" indent="-457200" algn="just">
              <a:buFont typeface="+mj-lt"/>
              <a:buAutoNum type="alphaLcParenR"/>
            </a:pPr>
            <a:r>
              <a:rPr lang="en-US" sz="2000" dirty="0">
                <a:cs typeface="Times New Roman" panose="02020603050405020304" pitchFamily="18" charset="0"/>
              </a:rPr>
              <a:t>	Esteem</a:t>
            </a:r>
          </a:p>
          <a:p>
            <a:pPr algn="just">
              <a:buFont typeface="Wingdings" panose="05000000000000000000" pitchFamily="2" charset="2"/>
              <a:buChar char="Ø"/>
            </a:pPr>
            <a:r>
              <a:rPr lang="en-US" sz="2000" dirty="0">
                <a:cs typeface="Times New Roman" panose="02020603050405020304" pitchFamily="18" charset="0"/>
              </a:rPr>
              <a:t>_____ theory argues that </a:t>
            </a:r>
            <a:r>
              <a:rPr lang="en-US" sz="2000" dirty="0" err="1">
                <a:cs typeface="Times New Roman" panose="02020603050405020304" pitchFamily="18" charset="0"/>
              </a:rPr>
              <a:t>behaviour</a:t>
            </a:r>
            <a:r>
              <a:rPr lang="en-US" sz="2000" dirty="0">
                <a:cs typeface="Times New Roman" panose="02020603050405020304" pitchFamily="18" charset="0"/>
              </a:rPr>
              <a:t> is a function of its consequences.</a:t>
            </a:r>
          </a:p>
          <a:p>
            <a:pPr marL="457200" indent="-457200" algn="just">
              <a:buFont typeface="+mj-lt"/>
              <a:buAutoNum type="alphaLcParenR"/>
            </a:pPr>
            <a:r>
              <a:rPr lang="en-US" sz="2000" dirty="0">
                <a:cs typeface="Times New Roman" panose="02020603050405020304" pitchFamily="18" charset="0"/>
              </a:rPr>
              <a:t>	Equity</a:t>
            </a:r>
          </a:p>
          <a:p>
            <a:pPr marL="457200" indent="-457200" algn="just">
              <a:buFont typeface="+mj-lt"/>
              <a:buAutoNum type="alphaLcParenR"/>
            </a:pPr>
            <a:r>
              <a:rPr lang="en-US" sz="2000" dirty="0">
                <a:cs typeface="Times New Roman" panose="02020603050405020304" pitchFamily="18" charset="0"/>
              </a:rPr>
              <a:t>	Reinforcement</a:t>
            </a:r>
          </a:p>
          <a:p>
            <a:pPr marL="457200" indent="-457200" algn="just">
              <a:buFont typeface="+mj-lt"/>
              <a:buAutoNum type="alphaLcParenR"/>
            </a:pPr>
            <a:r>
              <a:rPr lang="en-US" sz="2000" dirty="0">
                <a:cs typeface="Times New Roman" panose="02020603050405020304" pitchFamily="18" charset="0"/>
              </a:rPr>
              <a:t>	Goal-setting</a:t>
            </a:r>
          </a:p>
          <a:p>
            <a:pPr marL="457200" indent="-457200" algn="just">
              <a:buFont typeface="+mj-lt"/>
              <a:buAutoNum type="alphaLcParenR"/>
            </a:pPr>
            <a:r>
              <a:rPr lang="en-US" sz="2000" dirty="0">
                <a:cs typeface="Times New Roman" panose="02020603050405020304" pitchFamily="18" charset="0"/>
              </a:rPr>
              <a:t>	Expectancy</a:t>
            </a:r>
          </a:p>
          <a:p>
            <a:pPr algn="just">
              <a:buFont typeface="Wingdings" panose="05000000000000000000" pitchFamily="2" charset="2"/>
              <a:buChar char="Ø"/>
            </a:pPr>
            <a:r>
              <a:rPr lang="en-IN" sz="2000" dirty="0">
                <a:cs typeface="Times New Roman" panose="02020603050405020304" pitchFamily="18" charset="0"/>
              </a:rPr>
              <a:t>Who has given the ERG theory of motivation?</a:t>
            </a:r>
          </a:p>
          <a:p>
            <a:pPr marL="457200" indent="-457200" algn="just">
              <a:buFont typeface="+mj-lt"/>
              <a:buAutoNum type="alphaLcParenR"/>
            </a:pPr>
            <a:r>
              <a:rPr lang="en-IN" sz="2000" dirty="0">
                <a:cs typeface="Times New Roman" panose="02020603050405020304" pitchFamily="18" charset="0"/>
              </a:rPr>
              <a:t>Clayton Alderfer</a:t>
            </a:r>
          </a:p>
          <a:p>
            <a:pPr marL="457200" indent="-457200" algn="just">
              <a:buFont typeface="+mj-lt"/>
              <a:buAutoNum type="alphaLcParenR"/>
            </a:pPr>
            <a:r>
              <a:rPr lang="en-IN" sz="2000" dirty="0">
                <a:cs typeface="Times New Roman" panose="02020603050405020304" pitchFamily="18" charset="0"/>
              </a:rPr>
              <a:t>David McClelland</a:t>
            </a:r>
          </a:p>
          <a:p>
            <a:pPr marL="457200" indent="-457200" algn="just">
              <a:buFont typeface="+mj-lt"/>
              <a:buAutoNum type="alphaLcParenR"/>
            </a:pPr>
            <a:r>
              <a:rPr lang="en-IN" sz="2000" dirty="0">
                <a:cs typeface="Times New Roman" panose="02020603050405020304" pitchFamily="18" charset="0"/>
              </a:rPr>
              <a:t>Victor Vroom</a:t>
            </a:r>
          </a:p>
          <a:p>
            <a:pPr marL="457200" indent="-457200" algn="just">
              <a:buFont typeface="+mj-lt"/>
              <a:buAutoNum type="alphaLcParenR"/>
            </a:pPr>
            <a:r>
              <a:rPr lang="en-IN" sz="2000" dirty="0">
                <a:cs typeface="Times New Roman" panose="02020603050405020304" pitchFamily="18" charset="0"/>
              </a:rPr>
              <a:t>Frederick Herzberg</a:t>
            </a:r>
          </a:p>
          <a:p>
            <a:pPr marL="457200" indent="-457200" algn="just">
              <a:buFont typeface="+mj-lt"/>
              <a:buAutoNum type="alphaLcParenR"/>
            </a:pPr>
            <a:r>
              <a:rPr lang="en-IN" sz="2000" dirty="0">
                <a:cs typeface="Times New Roman" panose="02020603050405020304" pitchFamily="18" charset="0"/>
              </a:rPr>
              <a:t>Douglas McGregor</a:t>
            </a:r>
          </a:p>
        </p:txBody>
      </p:sp>
    </p:spTree>
    <p:extLst>
      <p:ext uri="{BB962C8B-B14F-4D97-AF65-F5344CB8AC3E}">
        <p14:creationId xmlns:p14="http://schemas.microsoft.com/office/powerpoint/2010/main" val="1169075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err="1"/>
              <a:t>Youtube</a:t>
            </a:r>
            <a:r>
              <a:rPr lang="en-US" sz="2800" dirty="0"/>
              <a:t> Video Links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859340"/>
            <a:ext cx="10672228" cy="1477328"/>
          </a:xfrm>
          <a:prstGeom prst="rect">
            <a:avLst/>
          </a:prstGeom>
          <a:noFill/>
        </p:spPr>
        <p:txBody>
          <a:bodyPr wrap="square">
            <a:spAutoFit/>
          </a:bodyPr>
          <a:lstStyle/>
          <a:p>
            <a:endParaRPr lang="en-US" sz="1800" dirty="0"/>
          </a:p>
          <a:p>
            <a:r>
              <a:rPr lang="en-US" sz="1800" dirty="0" err="1"/>
              <a:t>Youtube</a:t>
            </a:r>
            <a:r>
              <a:rPr lang="en-US" sz="1800" dirty="0"/>
              <a:t>/other  Video Links</a:t>
            </a:r>
          </a:p>
          <a:p>
            <a:r>
              <a:rPr lang="en-US" sz="1800" dirty="0">
                <a:hlinkClick r:id="rId4"/>
              </a:rPr>
              <a:t>https://www.youtube.com/watch?v=R3aonvQQOt8</a:t>
            </a:r>
            <a:endParaRPr lang="en-US" sz="1800" dirty="0"/>
          </a:p>
          <a:p>
            <a:r>
              <a:rPr lang="en-US" sz="1800" dirty="0">
                <a:hlinkClick r:id="rId5"/>
              </a:rPr>
              <a:t>https://www.youtube.com/watch?v=tCEuJxJH4qA</a:t>
            </a:r>
            <a:endParaRPr lang="en-US" sz="1800" dirty="0"/>
          </a:p>
          <a:p>
            <a:r>
              <a:rPr lang="en-US" sz="1800" dirty="0">
                <a:hlinkClick r:id="rId6"/>
              </a:rPr>
              <a:t>https://www.youtube.com/watch?v=E8s-IsB2p5c</a:t>
            </a:r>
            <a:endParaRPr lang="en-US" sz="1800" dirty="0"/>
          </a:p>
        </p:txBody>
      </p:sp>
    </p:spTree>
    <p:extLst>
      <p:ext uri="{BB962C8B-B14F-4D97-AF65-F5344CB8AC3E}">
        <p14:creationId xmlns:p14="http://schemas.microsoft.com/office/powerpoint/2010/main" val="2812909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Weekly Assignment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2308324"/>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Discuss the different Ego states in Transactional Analysis.</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Johari window as a tool for interpersonal effectiveness.</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Write a descriptive note on the process of Motivation.</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State the determinants of Personality.</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the process of Attitude formation.</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827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154984"/>
          </a:xfrm>
          <a:prstGeom prst="rect">
            <a:avLst/>
          </a:prstGeom>
          <a:noFill/>
        </p:spPr>
        <p:txBody>
          <a:bodyPr wrap="square">
            <a:spAutoFit/>
          </a:bodyPr>
          <a:lstStyle/>
          <a:p>
            <a:pPr marL="0" indent="0" algn="just">
              <a:buNone/>
            </a:pPr>
            <a:r>
              <a:rPr lang="en-US" sz="2400" dirty="0"/>
              <a:t>1. Major determinants of personality</a:t>
            </a:r>
          </a:p>
          <a:p>
            <a:pPr marL="457200" indent="-457200" algn="just">
              <a:buFont typeface="+mj-lt"/>
              <a:buAutoNum type="alphaLcParenR"/>
            </a:pPr>
            <a:r>
              <a:rPr lang="en-US" sz="2400" dirty="0"/>
              <a:t>Biological</a:t>
            </a:r>
          </a:p>
          <a:p>
            <a:pPr marL="457200" indent="-457200" algn="just">
              <a:buFont typeface="+mj-lt"/>
              <a:buAutoNum type="alphaLcParenR"/>
            </a:pPr>
            <a:r>
              <a:rPr lang="en-US" sz="2400" dirty="0"/>
              <a:t>Situation</a:t>
            </a:r>
          </a:p>
          <a:p>
            <a:pPr marL="457200" indent="-457200" algn="just">
              <a:buFont typeface="+mj-lt"/>
              <a:buAutoNum type="alphaLcParenR"/>
            </a:pPr>
            <a:r>
              <a:rPr lang="en-US" sz="2400" b="1" dirty="0"/>
              <a:t>Both (A) and (B)</a:t>
            </a:r>
          </a:p>
          <a:p>
            <a:pPr marL="457200" indent="-457200" algn="just">
              <a:buFont typeface="+mj-lt"/>
              <a:buAutoNum type="alphaLcParenR"/>
            </a:pPr>
            <a:r>
              <a:rPr lang="en-US" sz="2400" dirty="0"/>
              <a:t>None of the above</a:t>
            </a:r>
          </a:p>
          <a:p>
            <a:pPr marL="0" indent="0" algn="just">
              <a:buNone/>
            </a:pPr>
            <a:r>
              <a:rPr lang="en-US" sz="2400" dirty="0"/>
              <a:t>2. Mismatch between personality and organization may lead(s) to</a:t>
            </a:r>
          </a:p>
          <a:p>
            <a:pPr marL="457200" indent="-457200" algn="just">
              <a:buFont typeface="+mj-lt"/>
              <a:buAutoNum type="alphaLcParenR"/>
            </a:pPr>
            <a:r>
              <a:rPr lang="en-US" sz="2400" dirty="0"/>
              <a:t>Confusion and chaos</a:t>
            </a:r>
          </a:p>
          <a:p>
            <a:pPr marL="457200" indent="-457200" algn="just">
              <a:buFont typeface="+mj-lt"/>
              <a:buAutoNum type="alphaLcParenR"/>
            </a:pPr>
            <a:r>
              <a:rPr lang="en-US" sz="2400" dirty="0"/>
              <a:t>Loss of interest by members in organization</a:t>
            </a:r>
          </a:p>
          <a:p>
            <a:pPr marL="457200" indent="-457200" algn="just">
              <a:buFont typeface="+mj-lt"/>
              <a:buAutoNum type="alphaLcParenR"/>
            </a:pPr>
            <a:r>
              <a:rPr lang="en-US" sz="2400" dirty="0"/>
              <a:t>Low morale and job satisfaction</a:t>
            </a:r>
          </a:p>
          <a:p>
            <a:pPr marL="457200" indent="-457200" algn="just">
              <a:buFont typeface="+mj-lt"/>
              <a:buAutoNum type="alphaLcParenR"/>
            </a:pPr>
            <a:r>
              <a:rPr lang="en-US" sz="2400" b="1" dirty="0"/>
              <a:t>All of the above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0711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524315"/>
          </a:xfrm>
          <a:prstGeom prst="rect">
            <a:avLst/>
          </a:prstGeom>
          <a:noFill/>
        </p:spPr>
        <p:txBody>
          <a:bodyPr wrap="square">
            <a:spAutoFit/>
          </a:bodyPr>
          <a:lstStyle/>
          <a:p>
            <a:pPr algn="just">
              <a:buNone/>
            </a:pPr>
            <a:r>
              <a:rPr lang="en-US" sz="2400" dirty="0"/>
              <a:t>3. __ in the year 1954 proposed the need Hierarchy theory of Motivation.</a:t>
            </a:r>
          </a:p>
          <a:p>
            <a:pPr marL="457200" indent="-457200" algn="just">
              <a:buFont typeface="+mj-lt"/>
              <a:buAutoNum type="alphaLcParenR"/>
            </a:pPr>
            <a:r>
              <a:rPr lang="en-US" sz="2400" b="1" dirty="0"/>
              <a:t>Abraham Harold Maslow</a:t>
            </a:r>
          </a:p>
          <a:p>
            <a:pPr marL="457200" indent="-457200" algn="just">
              <a:buFont typeface="+mj-lt"/>
              <a:buAutoNum type="alphaLcParenR"/>
            </a:pPr>
            <a:r>
              <a:rPr lang="en-US" sz="2400" dirty="0"/>
              <a:t>Herzberg</a:t>
            </a:r>
          </a:p>
          <a:p>
            <a:pPr marL="457200" indent="-457200" algn="just">
              <a:buFont typeface="+mj-lt"/>
              <a:buAutoNum type="alphaLcParenR"/>
            </a:pPr>
            <a:r>
              <a:rPr lang="en-US" sz="2400" dirty="0"/>
              <a:t>Adam’s Equity Theory</a:t>
            </a:r>
          </a:p>
          <a:p>
            <a:pPr marL="457200" indent="-457200" algn="just">
              <a:buFont typeface="+mj-lt"/>
              <a:buAutoNum type="alphaLcParenR"/>
            </a:pPr>
            <a:r>
              <a:rPr lang="en-US" sz="2400" dirty="0"/>
              <a:t>None</a:t>
            </a:r>
          </a:p>
          <a:p>
            <a:pPr marL="0" indent="0" algn="just">
              <a:buNone/>
            </a:pPr>
            <a:r>
              <a:rPr lang="en-US" sz="2400" dirty="0"/>
              <a:t>4. According to ___ work effort in an organization is directed towards </a:t>
            </a:r>
            <a:r>
              <a:rPr lang="en-US" sz="2400" dirty="0" err="1"/>
              <a:t>behaviours</a:t>
            </a:r>
            <a:r>
              <a:rPr lang="en-US" sz="2400" dirty="0"/>
              <a:t> that people believe will lead to desired outcomes.</a:t>
            </a:r>
          </a:p>
          <a:p>
            <a:pPr marL="457200" indent="-457200" algn="just">
              <a:buFont typeface="+mj-lt"/>
              <a:buAutoNum type="alphaLcParenR"/>
            </a:pPr>
            <a:r>
              <a:rPr lang="en-US" sz="2400" b="1" dirty="0"/>
              <a:t>Expectancy Theory</a:t>
            </a:r>
          </a:p>
          <a:p>
            <a:pPr marL="457200" indent="-457200" algn="just">
              <a:buFont typeface="+mj-lt"/>
              <a:buAutoNum type="alphaLcParenR"/>
            </a:pPr>
            <a:r>
              <a:rPr lang="en-US" sz="2400" dirty="0"/>
              <a:t>Self Determination Theory</a:t>
            </a:r>
          </a:p>
          <a:p>
            <a:pPr marL="457200" indent="-457200" algn="just">
              <a:buFont typeface="+mj-lt"/>
              <a:buAutoNum type="alphaLcParenR"/>
            </a:pPr>
            <a:r>
              <a:rPr lang="en-US" sz="2400" dirty="0"/>
              <a:t>Maslow Theory</a:t>
            </a:r>
          </a:p>
          <a:p>
            <a:pPr marL="457200" indent="-457200" algn="just">
              <a:buFont typeface="+mj-lt"/>
              <a:buAutoNum type="alphaLcParenR"/>
            </a:pPr>
            <a:r>
              <a:rPr lang="en-US" sz="2400" dirty="0"/>
              <a:t>None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816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262979"/>
          </a:xfrm>
          <a:prstGeom prst="rect">
            <a:avLst/>
          </a:prstGeom>
          <a:noFill/>
        </p:spPr>
        <p:txBody>
          <a:bodyPr wrap="square">
            <a:spAutoFit/>
          </a:bodyPr>
          <a:lstStyle/>
          <a:p>
            <a:pPr marL="0" indent="0" algn="just">
              <a:buNone/>
            </a:pPr>
            <a:r>
              <a:rPr lang="en-US" sz="2400" dirty="0"/>
              <a:t>5. Which of the following would be classified by Herzberg as a hygiene factor?</a:t>
            </a:r>
          </a:p>
          <a:p>
            <a:pPr marL="457200" indent="-457200" algn="just">
              <a:buFont typeface="+mj-lt"/>
              <a:buAutoNum type="alphaLcParenR"/>
            </a:pPr>
            <a:r>
              <a:rPr lang="en-US" sz="2400" dirty="0"/>
              <a:t>Promotion</a:t>
            </a:r>
          </a:p>
          <a:p>
            <a:pPr marL="457200" indent="-457200" algn="just">
              <a:buFont typeface="+mj-lt"/>
              <a:buAutoNum type="alphaLcParenR"/>
            </a:pPr>
            <a:r>
              <a:rPr lang="en-US" sz="2400" b="1" dirty="0"/>
              <a:t>Personal growth</a:t>
            </a:r>
          </a:p>
          <a:p>
            <a:pPr marL="457200" indent="-457200" algn="just">
              <a:buFont typeface="+mj-lt"/>
              <a:buAutoNum type="alphaLcParenR"/>
            </a:pPr>
            <a:r>
              <a:rPr lang="en-US" sz="2400" dirty="0"/>
              <a:t>Achievement</a:t>
            </a:r>
          </a:p>
          <a:p>
            <a:pPr marL="457200" indent="-457200" algn="just">
              <a:buFont typeface="+mj-lt"/>
              <a:buAutoNum type="alphaLcParenR"/>
            </a:pPr>
            <a:r>
              <a:rPr lang="en-US" sz="2400" dirty="0"/>
              <a:t>Company policy</a:t>
            </a:r>
          </a:p>
          <a:p>
            <a:pPr marL="457200" indent="-457200" algn="just">
              <a:buFont typeface="+mj-lt"/>
              <a:buAutoNum type="alphaLcParenR"/>
            </a:pPr>
            <a:r>
              <a:rPr lang="en-US" sz="2400" dirty="0"/>
              <a:t>Responsibility</a:t>
            </a:r>
          </a:p>
          <a:p>
            <a:pPr marL="0" indent="0" algn="just">
              <a:buNone/>
            </a:pPr>
            <a:r>
              <a:rPr lang="en-US" sz="2400" dirty="0"/>
              <a:t>6. Which among the following is correct expansion of ‘ERG’ in ERG theory of motivation?</a:t>
            </a:r>
          </a:p>
          <a:p>
            <a:pPr marL="457200" indent="-457200" algn="just">
              <a:buFont typeface="+mj-lt"/>
              <a:buAutoNum type="alphaLcParenR"/>
            </a:pPr>
            <a:r>
              <a:rPr lang="en-US" sz="2400" dirty="0"/>
              <a:t>E – Existence, R – Religion, G – Growth</a:t>
            </a:r>
          </a:p>
          <a:p>
            <a:pPr marL="457200" indent="-457200" algn="just">
              <a:buFont typeface="+mj-lt"/>
              <a:buAutoNum type="alphaLcParenR"/>
            </a:pPr>
            <a:r>
              <a:rPr lang="en-US" sz="2400" dirty="0"/>
              <a:t>E – Experience, R – Related, G – Growth</a:t>
            </a:r>
          </a:p>
          <a:p>
            <a:pPr marL="457200" indent="-457200" algn="just">
              <a:buFont typeface="+mj-lt"/>
              <a:buAutoNum type="alphaLcParenR"/>
            </a:pPr>
            <a:r>
              <a:rPr lang="en-US" sz="2400" b="1" dirty="0"/>
              <a:t>E – Existence, R – Related, G – Growth</a:t>
            </a:r>
          </a:p>
          <a:p>
            <a:pPr marL="457200" indent="-457200" algn="just">
              <a:buFont typeface="+mj-lt"/>
              <a:buAutoNum type="alphaLcParenR"/>
            </a:pPr>
            <a:r>
              <a:rPr lang="en-US" sz="2400" dirty="0"/>
              <a:t>E – Existence, R – Requirement, G – Growth</a:t>
            </a:r>
          </a:p>
          <a:p>
            <a:pPr marL="457200" indent="-457200" algn="just">
              <a:buFont typeface="+mj-lt"/>
              <a:buAutoNum type="alphaLcParenR"/>
            </a:pPr>
            <a:r>
              <a:rPr lang="en-US" sz="2400" dirty="0"/>
              <a:t>E – Effectiveness, R – Related, G – Growth</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1516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847755"/>
          </a:xfrm>
          <a:prstGeom prst="rect">
            <a:avLst/>
          </a:prstGeom>
          <a:noFill/>
        </p:spPr>
        <p:txBody>
          <a:bodyPr wrap="square">
            <a:spAutoFit/>
          </a:bodyPr>
          <a:lstStyle/>
          <a:p>
            <a:pPr marL="0" marR="0" lvl="0" indent="0" algn="just" fontAlgn="base">
              <a:lnSpc>
                <a:spcPct val="100000"/>
              </a:lnSpc>
              <a:spcAft>
                <a:spcPct val="0"/>
              </a:spcAft>
              <a:buClrTx/>
              <a:buSzTx/>
              <a:buNone/>
              <a:tabLst/>
            </a:pPr>
            <a:r>
              <a:rPr lang="en-US" altLang="en-US" sz="1400" dirty="0">
                <a:solidFill>
                  <a:srgbClr val="171717"/>
                </a:solidFill>
                <a:latin typeface="Times New Roman" panose="02020603050405020304" pitchFamily="18" charset="0"/>
                <a:cs typeface="Times New Roman" panose="02020603050405020304" pitchFamily="18" charset="0"/>
              </a:rPr>
              <a:t>7. </a:t>
            </a:r>
            <a:r>
              <a:rPr lang="en-US" altLang="en-US" sz="2400" dirty="0">
                <a:latin typeface="Times New Roman" panose="02020603050405020304" pitchFamily="18" charset="0"/>
                <a:cs typeface="Times New Roman" panose="02020603050405020304" pitchFamily="18" charset="0"/>
              </a:rPr>
              <a:t>_____ is the set of forces that energize, direct, and sustain behavior.</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Motivation</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b. Expectancy</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c. Empowerment</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d. Socialization </a:t>
            </a:r>
          </a:p>
          <a:p>
            <a:pPr marL="0" marR="0" lvl="0" indent="0" algn="just" fontAlgn="base">
              <a:lnSpc>
                <a:spcPct val="100000"/>
              </a:lnSpc>
              <a:spcAft>
                <a:spcPct val="0"/>
              </a:spcAft>
              <a:buClrTx/>
              <a:buSz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171717"/>
              </a:solidFill>
              <a:effectLst/>
              <a:latin typeface="DM Sans" pitchFamily="2" charset="0"/>
            </a:endParaRPr>
          </a:p>
          <a:p>
            <a:pPr marR="0" lvl="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8. Maslow’s hierarchy of needs includes all of the following categories EXCEPT _____.</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a. safety</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b. </a:t>
            </a:r>
            <a:r>
              <a:rPr lang="en-US" altLang="en-US" sz="2400" b="1" dirty="0">
                <a:latin typeface="Times New Roman" panose="02020603050405020304" pitchFamily="18" charset="0"/>
                <a:cs typeface="Times New Roman" panose="02020603050405020304" pitchFamily="18" charset="0"/>
              </a:rPr>
              <a:t>growth</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c. physiological</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d. self actualization </a:t>
            </a:r>
          </a:p>
          <a:p>
            <a:pPr marL="0" marR="0" lvl="0" indent="0" algn="just" fontAlgn="base">
              <a:lnSpc>
                <a:spcPct val="100000"/>
              </a:lnSpc>
              <a:spcAft>
                <a:spcPct val="0"/>
              </a:spcAft>
              <a:buClrTx/>
              <a:buSzTx/>
              <a:buNone/>
              <a:tabLst/>
            </a:pPr>
            <a:endParaRPr lang="en-US" altLang="en-US" sz="2400" dirty="0">
              <a:latin typeface="Times New Roman" panose="02020603050405020304" pitchFamily="18" charset="0"/>
              <a:cs typeface="Times New Roman" panose="02020603050405020304" pitchFamily="18" charset="0"/>
            </a:endParaRP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0484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Expected Questions for University Exam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262979"/>
          </a:xfrm>
          <a:prstGeom prst="rect">
            <a:avLst/>
          </a:prstGeom>
          <a:noFill/>
        </p:spPr>
        <p:txBody>
          <a:bodyPr wrap="square">
            <a:spAutoFit/>
          </a:bodyPr>
          <a:lstStyle/>
          <a:p>
            <a:pPr lvl="0" algn="just"/>
            <a:r>
              <a:rPr lang="en-US" sz="2400" dirty="0">
                <a:latin typeface="Times New Roman" panose="02020603050405020304" pitchFamily="18" charset="0"/>
                <a:cs typeface="Times New Roman" panose="02020603050405020304" pitchFamily="18" charset="0"/>
              </a:rPr>
              <a:t>Define Motivation. Explain traditional theories of motivation.</a:t>
            </a:r>
          </a:p>
          <a:p>
            <a:pPr lvl="0" algn="just"/>
            <a:r>
              <a:rPr lang="en-US" sz="2400" dirty="0">
                <a:latin typeface="Times New Roman" panose="02020603050405020304" pitchFamily="18" charset="0"/>
                <a:cs typeface="Times New Roman" panose="02020603050405020304" pitchFamily="18" charset="0"/>
              </a:rPr>
              <a:t>Discuss how many factors are there in Herzberg theory of motivation.</a:t>
            </a:r>
          </a:p>
          <a:p>
            <a:pPr lvl="0" algn="just"/>
            <a:r>
              <a:rPr lang="en-US" sz="2400" dirty="0">
                <a:latin typeface="Times New Roman" panose="02020603050405020304" pitchFamily="18" charset="0"/>
                <a:cs typeface="Times New Roman" panose="02020603050405020304" pitchFamily="18" charset="0"/>
              </a:rPr>
              <a:t>Explain each level in Maslow’s need theory.</a:t>
            </a:r>
          </a:p>
          <a:p>
            <a:pPr lvl="0" algn="just"/>
            <a:r>
              <a:rPr lang="en-US" sz="2400" dirty="0">
                <a:latin typeface="Times New Roman" panose="02020603050405020304" pitchFamily="18" charset="0"/>
                <a:cs typeface="Times New Roman" panose="02020603050405020304" pitchFamily="18" charset="0"/>
              </a:rPr>
              <a:t>State and explain any one contemporary theory of Motivation.</a:t>
            </a:r>
          </a:p>
          <a:p>
            <a:pPr lvl="0" algn="just"/>
            <a:r>
              <a:rPr lang="en-US" sz="2400" dirty="0">
                <a:latin typeface="Times New Roman" panose="02020603050405020304" pitchFamily="18" charset="0"/>
                <a:cs typeface="Times New Roman" panose="02020603050405020304" pitchFamily="18" charset="0"/>
              </a:rPr>
              <a:t>Enlist the factors in Expectancy theory.</a:t>
            </a:r>
          </a:p>
          <a:p>
            <a:pPr lvl="0" algn="just"/>
            <a:r>
              <a:rPr lang="en-US" sz="2400" dirty="0">
                <a:latin typeface="Times New Roman" panose="02020603050405020304" pitchFamily="18" charset="0"/>
                <a:cs typeface="Times New Roman" panose="02020603050405020304" pitchFamily="18" charset="0"/>
              </a:rPr>
              <a:t>Discuss Equity theory.</a:t>
            </a:r>
          </a:p>
          <a:p>
            <a:pPr lvl="0" algn="just"/>
            <a:r>
              <a:rPr lang="en-US" sz="2400" dirty="0">
                <a:latin typeface="Times New Roman" panose="02020603050405020304" pitchFamily="18" charset="0"/>
                <a:cs typeface="Times New Roman" panose="02020603050405020304" pitchFamily="18" charset="0"/>
              </a:rPr>
              <a:t>Explain the different types of transactions and ego states in transactional analysis.</a:t>
            </a:r>
          </a:p>
          <a:p>
            <a:pPr lvl="0" algn="just"/>
            <a:r>
              <a:rPr lang="en-US" sz="2400" dirty="0">
                <a:latin typeface="Times New Roman" panose="02020603050405020304" pitchFamily="18" charset="0"/>
                <a:cs typeface="Times New Roman" panose="02020603050405020304" pitchFamily="18" charset="0"/>
              </a:rPr>
              <a:t>Explain the different types of Attitudes.</a:t>
            </a:r>
          </a:p>
          <a:p>
            <a:pPr lvl="0" algn="just"/>
            <a:r>
              <a:rPr lang="en-US" sz="2400" dirty="0">
                <a:latin typeface="Times New Roman" panose="02020603050405020304" pitchFamily="18" charset="0"/>
                <a:cs typeface="Times New Roman" panose="02020603050405020304" pitchFamily="18" charset="0"/>
              </a:rPr>
              <a:t>Explain the concept of Attitude and its formation in detail.</a:t>
            </a:r>
          </a:p>
          <a:p>
            <a:pPr lvl="0" algn="just"/>
            <a:r>
              <a:rPr lang="en-US" sz="2400" dirty="0">
                <a:latin typeface="Times New Roman" panose="02020603050405020304" pitchFamily="18" charset="0"/>
                <a:cs typeface="Times New Roman" panose="02020603050405020304" pitchFamily="18" charset="0"/>
              </a:rPr>
              <a:t>Define Personality.</a:t>
            </a:r>
          </a:p>
          <a:p>
            <a:pPr lvl="0" algn="just"/>
            <a:r>
              <a:rPr lang="en-US" sz="2400" dirty="0">
                <a:latin typeface="Times New Roman" panose="02020603050405020304" pitchFamily="18" charset="0"/>
                <a:cs typeface="Times New Roman" panose="02020603050405020304" pitchFamily="18" charset="0"/>
              </a:rPr>
              <a:t>State the determinants of Personality.</a:t>
            </a:r>
          </a:p>
          <a:p>
            <a:pPr lvl="0" algn="just"/>
            <a:r>
              <a:rPr lang="en-US" sz="2400" dirty="0">
                <a:latin typeface="Times New Roman" panose="02020603050405020304" pitchFamily="18" charset="0"/>
                <a:cs typeface="Times New Roman" panose="02020603050405020304" pitchFamily="18" charset="0"/>
              </a:rPr>
              <a:t>Differentiate between Type A and Type B personality.</a:t>
            </a:r>
          </a:p>
          <a:p>
            <a:pPr lvl="0" algn="just"/>
            <a:r>
              <a:rPr lang="en-US" sz="2400" dirty="0">
                <a:latin typeface="Times New Roman" panose="02020603050405020304" pitchFamily="18" charset="0"/>
                <a:cs typeface="Times New Roman" panose="02020603050405020304" pitchFamily="18" charset="0"/>
              </a:rPr>
              <a:t>Discuss the concept of Johari Window.</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0256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Recap of the Unit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3046988"/>
          </a:xfrm>
          <a:prstGeom prst="rect">
            <a:avLst/>
          </a:prstGeom>
          <a:noFill/>
        </p:spPr>
        <p:txBody>
          <a:bodyPr wrap="square">
            <a:spAutoFit/>
          </a:bodyPr>
          <a:lstStyle/>
          <a:p>
            <a:pPr algn="just"/>
            <a:r>
              <a:rPr lang="en-US" sz="2400" b="0" i="0" dirty="0">
                <a:solidFill>
                  <a:srgbClr val="000000"/>
                </a:solidFill>
                <a:effectLst/>
                <a:cs typeface="Times New Roman" panose="02020603050405020304" pitchFamily="18" charset="0"/>
              </a:rPr>
              <a:t>This topic tells us about the </a:t>
            </a:r>
            <a:r>
              <a:rPr lang="en-US" sz="2400" b="0" i="0" dirty="0">
                <a:solidFill>
                  <a:srgbClr val="202124"/>
                </a:solidFill>
                <a:effectLst/>
                <a:latin typeface="Times New Roman" panose="02020603050405020304" pitchFamily="18" charset="0"/>
                <a:cs typeface="Times New Roman" panose="02020603050405020304" pitchFamily="18" charset="0"/>
              </a:rPr>
              <a:t>Two words attitude and personality are used interchangeably but there is a key difference between these two words. </a:t>
            </a:r>
            <a:r>
              <a:rPr lang="en-US" sz="2400" b="0" i="0" dirty="0">
                <a:solidFill>
                  <a:srgbClr val="040C28"/>
                </a:solidFill>
                <a:effectLst/>
                <a:latin typeface="Times New Roman" panose="02020603050405020304" pitchFamily="18" charset="0"/>
                <a:cs typeface="Times New Roman" panose="02020603050405020304" pitchFamily="18" charset="0"/>
              </a:rPr>
              <a:t>Personality is basically a combination of quality or the characteristic of any individual.</a:t>
            </a:r>
            <a:r>
              <a:rPr lang="en-US" sz="2400" b="0" i="0" dirty="0">
                <a:solidFill>
                  <a:srgbClr val="202124"/>
                </a:solidFill>
                <a:effectLst/>
                <a:latin typeface="Times New Roman" panose="02020603050405020304" pitchFamily="18" charset="0"/>
                <a:cs typeface="Times New Roman" panose="02020603050405020304" pitchFamily="18" charset="0"/>
              </a:rPr>
              <a:t> </a:t>
            </a:r>
            <a:r>
              <a:rPr lang="en-US" sz="2400" b="0" i="0" dirty="0">
                <a:solidFill>
                  <a:srgbClr val="040C28"/>
                </a:solidFill>
                <a:effectLst/>
                <a:latin typeface="Times New Roman" panose="02020603050405020304" pitchFamily="18" charset="0"/>
                <a:cs typeface="Times New Roman" panose="02020603050405020304" pitchFamily="18" charset="0"/>
              </a:rPr>
              <a:t>On other hands, attitude refers to a way of thinking, belief or an emotion of an individual.</a:t>
            </a:r>
          </a:p>
          <a:p>
            <a:pPr algn="just"/>
            <a:r>
              <a:rPr lang="en-US" sz="2400" dirty="0">
                <a:latin typeface="Times New Roman" panose="02020603050405020304" pitchFamily="18" charset="0"/>
                <a:cs typeface="Times New Roman" panose="02020603050405020304" pitchFamily="18" charset="0"/>
              </a:rPr>
              <a:t>Motivation is essentially the underlying drive of individuals to accomplish tasks and goals. Many factors can influence employee motivation, including organizational structure, integrity of company operations, and company culture.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439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10/24/2024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References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154984"/>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1.Koontz Harold, </a:t>
            </a:r>
            <a:r>
              <a:rPr lang="en-US" sz="2400" dirty="0" err="1">
                <a:latin typeface="Times New Roman" panose="02020603050405020304" pitchFamily="18" charset="0"/>
                <a:cs typeface="Times New Roman" panose="02020603050405020304" pitchFamily="18" charset="0"/>
              </a:rPr>
              <a:t>Weihrich</a:t>
            </a:r>
            <a:r>
              <a:rPr lang="en-US" sz="2400" dirty="0">
                <a:latin typeface="Times New Roman" panose="02020603050405020304" pitchFamily="18" charset="0"/>
                <a:cs typeface="Times New Roman" panose="02020603050405020304" pitchFamily="18" charset="0"/>
              </a:rPr>
              <a:t> Heinz&amp; Mark V. </a:t>
            </a:r>
            <a:r>
              <a:rPr lang="en-US" sz="2400" dirty="0" err="1">
                <a:latin typeface="Times New Roman" panose="02020603050405020304" pitchFamily="18" charset="0"/>
                <a:cs typeface="Times New Roman" panose="02020603050405020304" pitchFamily="18" charset="0"/>
              </a:rPr>
              <a:t>Cannice</a:t>
            </a:r>
            <a:r>
              <a:rPr lang="en-US" sz="2400" dirty="0">
                <a:latin typeface="Times New Roman" panose="02020603050405020304" pitchFamily="18" charset="0"/>
                <a:cs typeface="Times New Roman" panose="02020603050405020304" pitchFamily="18" charset="0"/>
              </a:rPr>
              <a:t> – Essentials of management (Tata McGraw Hill, 11thEdition,2020) </a:t>
            </a:r>
          </a:p>
          <a:p>
            <a:pPr algn="just">
              <a:buNone/>
            </a:pPr>
            <a:r>
              <a:rPr lang="en-US" sz="2400" dirty="0">
                <a:latin typeface="Times New Roman" panose="02020603050405020304" pitchFamily="18" charset="0"/>
                <a:cs typeface="Times New Roman" panose="02020603050405020304" pitchFamily="18" charset="0"/>
              </a:rPr>
              <a:t>2. Robbins Stephen P&amp; Judge Timothy A.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(Pearson) </a:t>
            </a:r>
          </a:p>
          <a:p>
            <a:pPr algn="just">
              <a:buNone/>
            </a:pPr>
            <a:r>
              <a:rPr lang="en-US" sz="2400" dirty="0">
                <a:latin typeface="Times New Roman" panose="02020603050405020304" pitchFamily="18" charset="0"/>
                <a:cs typeface="Times New Roman" panose="02020603050405020304" pitchFamily="18" charset="0"/>
              </a:rPr>
              <a:t>3. Robbins &amp;Coulter :Management (Pearson, 14th Edition, 2019) </a:t>
            </a:r>
          </a:p>
          <a:p>
            <a:pPr algn="just">
              <a:buNone/>
            </a:pPr>
            <a:r>
              <a:rPr lang="en-US" sz="2400" dirty="0">
                <a:latin typeface="Times New Roman" panose="02020603050405020304" pitchFamily="18" charset="0"/>
                <a:cs typeface="Times New Roman" panose="02020603050405020304" pitchFamily="18" charset="0"/>
              </a:rPr>
              <a:t>4. Pareek </a:t>
            </a:r>
            <a:r>
              <a:rPr lang="en-US" sz="2400" dirty="0" err="1">
                <a:latin typeface="Times New Roman" panose="02020603050405020304" pitchFamily="18" charset="0"/>
                <a:cs typeface="Times New Roman" panose="02020603050405020304" pitchFamily="18" charset="0"/>
              </a:rPr>
              <a:t>Udai</a:t>
            </a:r>
            <a:r>
              <a:rPr lang="en-US" sz="2400" dirty="0">
                <a:latin typeface="Times New Roman" panose="02020603050405020304" pitchFamily="18" charset="0"/>
                <a:cs typeface="Times New Roman" panose="02020603050405020304" pitchFamily="18" charset="0"/>
              </a:rPr>
              <a:t> :Understanding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(Oxford University Press, 4th Edition, 2016) </a:t>
            </a:r>
          </a:p>
          <a:p>
            <a:pPr algn="just">
              <a:buNone/>
            </a:pPr>
            <a:r>
              <a:rPr lang="en-US" sz="2400" dirty="0">
                <a:latin typeface="Times New Roman" panose="02020603050405020304" pitchFamily="18" charset="0"/>
                <a:cs typeface="Times New Roman" panose="02020603050405020304" pitchFamily="18" charset="0"/>
              </a:rPr>
              <a:t>5.Luthans Fred :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(McGraw Hill International Edition, 12th Edition,2013)</a:t>
            </a:r>
          </a:p>
          <a:p>
            <a:pPr algn="just">
              <a:buNone/>
            </a:pPr>
            <a:r>
              <a:rPr lang="en-US" sz="2400" dirty="0">
                <a:latin typeface="Times New Roman" panose="02020603050405020304" pitchFamily="18" charset="0"/>
                <a:cs typeface="Times New Roman" panose="02020603050405020304" pitchFamily="18" charset="0"/>
              </a:rPr>
              <a:t>6. Prasad L. M. : Principles and Practices of Management, (</a:t>
            </a:r>
            <a:r>
              <a:rPr lang="en-US" sz="2400" dirty="0" err="1">
                <a:latin typeface="Times New Roman" panose="02020603050405020304" pitchFamily="18" charset="0"/>
                <a:cs typeface="Times New Roman" panose="02020603050405020304" pitchFamily="18" charset="0"/>
              </a:rPr>
              <a:t>SultanChand</a:t>
            </a:r>
            <a:r>
              <a:rPr lang="en-US" sz="2400" dirty="0">
                <a:latin typeface="Times New Roman" panose="02020603050405020304" pitchFamily="18" charset="0"/>
                <a:cs typeface="Times New Roman" panose="02020603050405020304" pitchFamily="18" charset="0"/>
              </a:rPr>
              <a:t>&amp; Sons, 9th edition,2016)</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576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14201</TotalTime>
  <Words>4296</Words>
  <Application>Microsoft Office PowerPoint</Application>
  <PresentationFormat>Widescreen</PresentationFormat>
  <Paragraphs>624</Paragraphs>
  <Slides>63</Slides>
  <Notes>63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63</vt:i4>
      </vt:variant>
    </vt:vector>
  </HeadingPairs>
  <TitlesOfParts>
    <vt:vector size="78" baseType="lpstr">
      <vt:lpstr>-apple-system</vt:lpstr>
      <vt:lpstr>Arial</vt:lpstr>
      <vt:lpstr>Calibri</vt:lpstr>
      <vt:lpstr>Calibri Light</vt:lpstr>
      <vt:lpstr>DM Sans</vt:lpstr>
      <vt:lpstr>inherit</vt:lpstr>
      <vt:lpstr>MindMeridian-Regular</vt:lpstr>
      <vt:lpstr>Muli</vt:lpstr>
      <vt:lpstr>Open Sans</vt:lpstr>
      <vt:lpstr>Source Sans Pro</vt:lpstr>
      <vt:lpstr>Times New Roman</vt:lpstr>
      <vt:lpstr>Udemy Sans</vt:lpstr>
      <vt:lpstr>var(--cds-font-family-source-sans-pro)</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hr.deepika13@outlook.com</dc:creator>
  <cp:lastModifiedBy>hr.deepika13@outlook.com</cp:lastModifiedBy>
  <cp:revision>30</cp:revision>
  <dcterms:created xsi:type="dcterms:W3CDTF">2024-07-29T07:50:59Z</dcterms:created>
  <dcterms:modified xsi:type="dcterms:W3CDTF">2024-10-24T05:21:18Z</dcterms:modified>
</cp:coreProperties>
</file>