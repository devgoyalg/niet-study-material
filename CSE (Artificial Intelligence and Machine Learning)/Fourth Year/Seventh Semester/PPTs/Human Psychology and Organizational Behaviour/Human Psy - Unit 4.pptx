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Lst>
  <p:notesMasterIdLst>
    <p:notesMasterId r:id="rId75"/>
  </p:notesMasterIdLst>
  <p:sldIdLst>
    <p:sldId id="256" r:id="rId3"/>
    <p:sldId id="460" r:id="rId4"/>
    <p:sldId id="481" r:id="rId5"/>
    <p:sldId id="482" r:id="rId6"/>
    <p:sldId id="483" r:id="rId7"/>
    <p:sldId id="293" r:id="rId8"/>
    <p:sldId id="294" r:id="rId9"/>
    <p:sldId id="454" r:id="rId10"/>
    <p:sldId id="455" r:id="rId11"/>
    <p:sldId id="449" r:id="rId12"/>
    <p:sldId id="295" r:id="rId13"/>
    <p:sldId id="441" r:id="rId14"/>
    <p:sldId id="450" r:id="rId15"/>
    <p:sldId id="451" r:id="rId16"/>
    <p:sldId id="452" r:id="rId17"/>
    <p:sldId id="440" r:id="rId18"/>
    <p:sldId id="442" r:id="rId19"/>
    <p:sldId id="456" r:id="rId20"/>
    <p:sldId id="457" r:id="rId21"/>
    <p:sldId id="458" r:id="rId22"/>
    <p:sldId id="459" r:id="rId23"/>
    <p:sldId id="443" r:id="rId24"/>
    <p:sldId id="444" r:id="rId25"/>
    <p:sldId id="445" r:id="rId26"/>
    <p:sldId id="453" r:id="rId27"/>
    <p:sldId id="446" r:id="rId28"/>
    <p:sldId id="447" r:id="rId29"/>
    <p:sldId id="448" r:id="rId30"/>
    <p:sldId id="397" r:id="rId31"/>
    <p:sldId id="398" r:id="rId32"/>
    <p:sldId id="461" r:id="rId33"/>
    <p:sldId id="462" r:id="rId34"/>
    <p:sldId id="463" r:id="rId35"/>
    <p:sldId id="464" r:id="rId36"/>
    <p:sldId id="465" r:id="rId37"/>
    <p:sldId id="466" r:id="rId38"/>
    <p:sldId id="467" r:id="rId39"/>
    <p:sldId id="468" r:id="rId40"/>
    <p:sldId id="469" r:id="rId41"/>
    <p:sldId id="470" r:id="rId42"/>
    <p:sldId id="472" r:id="rId43"/>
    <p:sldId id="471" r:id="rId44"/>
    <p:sldId id="473" r:id="rId45"/>
    <p:sldId id="474" r:id="rId46"/>
    <p:sldId id="475" r:id="rId47"/>
    <p:sldId id="476" r:id="rId48"/>
    <p:sldId id="477" r:id="rId49"/>
    <p:sldId id="478" r:id="rId50"/>
    <p:sldId id="479" r:id="rId51"/>
    <p:sldId id="480" r:id="rId52"/>
    <p:sldId id="382" r:id="rId53"/>
    <p:sldId id="484" r:id="rId54"/>
    <p:sldId id="485" r:id="rId55"/>
    <p:sldId id="486" r:id="rId56"/>
    <p:sldId id="487" r:id="rId57"/>
    <p:sldId id="488" r:id="rId58"/>
    <p:sldId id="489" r:id="rId59"/>
    <p:sldId id="490" r:id="rId60"/>
    <p:sldId id="491" r:id="rId61"/>
    <p:sldId id="492" r:id="rId62"/>
    <p:sldId id="493" r:id="rId63"/>
    <p:sldId id="494" r:id="rId64"/>
    <p:sldId id="495" r:id="rId65"/>
    <p:sldId id="496" r:id="rId66"/>
    <p:sldId id="497" r:id="rId67"/>
    <p:sldId id="498" r:id="rId68"/>
    <p:sldId id="499" r:id="rId69"/>
    <p:sldId id="500" r:id="rId70"/>
    <p:sldId id="501" r:id="rId71"/>
    <p:sldId id="502" r:id="rId72"/>
    <p:sldId id="503" r:id="rId73"/>
    <p:sldId id="504"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C6C7"/>
    <a:srgbClr val="D4222A"/>
    <a:srgbClr val="383A3C"/>
    <a:srgbClr val="FFFFFF"/>
    <a:srgbClr val="D31E26"/>
    <a:srgbClr val="D74349"/>
    <a:srgbClr val="D4212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338" autoAdjust="0"/>
    <p:restoredTop sz="94660"/>
  </p:normalViewPr>
  <p:slideViewPr>
    <p:cSldViewPr snapToGrid="0">
      <p:cViewPr varScale="1">
        <p:scale>
          <a:sx n="82" d="100"/>
          <a:sy n="82" d="100"/>
        </p:scale>
        <p:origin x="28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 /><Relationship Id="rId18" Type="http://schemas.openxmlformats.org/officeDocument/2006/relationships/slide" Target="slides/slide16.xml" /><Relationship Id="rId26" Type="http://schemas.openxmlformats.org/officeDocument/2006/relationships/slide" Target="slides/slide24.xml" /><Relationship Id="rId39" Type="http://schemas.openxmlformats.org/officeDocument/2006/relationships/slide" Target="slides/slide37.xml" /><Relationship Id="rId21" Type="http://schemas.openxmlformats.org/officeDocument/2006/relationships/slide" Target="slides/slide19.xml" /><Relationship Id="rId34" Type="http://schemas.openxmlformats.org/officeDocument/2006/relationships/slide" Target="slides/slide32.xml" /><Relationship Id="rId42" Type="http://schemas.openxmlformats.org/officeDocument/2006/relationships/slide" Target="slides/slide40.xml" /><Relationship Id="rId47" Type="http://schemas.openxmlformats.org/officeDocument/2006/relationships/slide" Target="slides/slide45.xml" /><Relationship Id="rId50" Type="http://schemas.openxmlformats.org/officeDocument/2006/relationships/slide" Target="slides/slide48.xml" /><Relationship Id="rId55" Type="http://schemas.openxmlformats.org/officeDocument/2006/relationships/slide" Target="slides/slide53.xml" /><Relationship Id="rId63" Type="http://schemas.openxmlformats.org/officeDocument/2006/relationships/slide" Target="slides/slide61.xml" /><Relationship Id="rId68" Type="http://schemas.openxmlformats.org/officeDocument/2006/relationships/slide" Target="slides/slide66.xml" /><Relationship Id="rId76" Type="http://schemas.openxmlformats.org/officeDocument/2006/relationships/presProps" Target="presProps.xml" /><Relationship Id="rId7" Type="http://schemas.openxmlformats.org/officeDocument/2006/relationships/slide" Target="slides/slide5.xml" /><Relationship Id="rId71" Type="http://schemas.openxmlformats.org/officeDocument/2006/relationships/slide" Target="slides/slide69.xml" /><Relationship Id="rId2" Type="http://schemas.openxmlformats.org/officeDocument/2006/relationships/slideMaster" Target="slideMasters/slideMaster2.xml" /><Relationship Id="rId16" Type="http://schemas.openxmlformats.org/officeDocument/2006/relationships/slide" Target="slides/slide14.xml" /><Relationship Id="rId29" Type="http://schemas.openxmlformats.org/officeDocument/2006/relationships/slide" Target="slides/slide27.xml" /><Relationship Id="rId11" Type="http://schemas.openxmlformats.org/officeDocument/2006/relationships/slide" Target="slides/slide9.xml" /><Relationship Id="rId24" Type="http://schemas.openxmlformats.org/officeDocument/2006/relationships/slide" Target="slides/slide22.xml" /><Relationship Id="rId32" Type="http://schemas.openxmlformats.org/officeDocument/2006/relationships/slide" Target="slides/slide30.xml" /><Relationship Id="rId37" Type="http://schemas.openxmlformats.org/officeDocument/2006/relationships/slide" Target="slides/slide35.xml" /><Relationship Id="rId40" Type="http://schemas.openxmlformats.org/officeDocument/2006/relationships/slide" Target="slides/slide38.xml" /><Relationship Id="rId45" Type="http://schemas.openxmlformats.org/officeDocument/2006/relationships/slide" Target="slides/slide43.xml" /><Relationship Id="rId53" Type="http://schemas.openxmlformats.org/officeDocument/2006/relationships/slide" Target="slides/slide51.xml" /><Relationship Id="rId58" Type="http://schemas.openxmlformats.org/officeDocument/2006/relationships/slide" Target="slides/slide56.xml" /><Relationship Id="rId66" Type="http://schemas.openxmlformats.org/officeDocument/2006/relationships/slide" Target="slides/slide64.xml" /><Relationship Id="rId74" Type="http://schemas.openxmlformats.org/officeDocument/2006/relationships/slide" Target="slides/slide72.xml" /><Relationship Id="rId79" Type="http://schemas.openxmlformats.org/officeDocument/2006/relationships/tableStyles" Target="tableStyles.xml" /><Relationship Id="rId5" Type="http://schemas.openxmlformats.org/officeDocument/2006/relationships/slide" Target="slides/slide3.xml" /><Relationship Id="rId61" Type="http://schemas.openxmlformats.org/officeDocument/2006/relationships/slide" Target="slides/slide59.xml" /><Relationship Id="rId10" Type="http://schemas.openxmlformats.org/officeDocument/2006/relationships/slide" Target="slides/slide8.xml" /><Relationship Id="rId19" Type="http://schemas.openxmlformats.org/officeDocument/2006/relationships/slide" Target="slides/slide17.xml" /><Relationship Id="rId31" Type="http://schemas.openxmlformats.org/officeDocument/2006/relationships/slide" Target="slides/slide29.xml" /><Relationship Id="rId44" Type="http://schemas.openxmlformats.org/officeDocument/2006/relationships/slide" Target="slides/slide42.xml" /><Relationship Id="rId52" Type="http://schemas.openxmlformats.org/officeDocument/2006/relationships/slide" Target="slides/slide50.xml" /><Relationship Id="rId60" Type="http://schemas.openxmlformats.org/officeDocument/2006/relationships/slide" Target="slides/slide58.xml" /><Relationship Id="rId65" Type="http://schemas.openxmlformats.org/officeDocument/2006/relationships/slide" Target="slides/slide63.xml" /><Relationship Id="rId73" Type="http://schemas.openxmlformats.org/officeDocument/2006/relationships/slide" Target="slides/slide71.xml" /><Relationship Id="rId78" Type="http://schemas.openxmlformats.org/officeDocument/2006/relationships/theme" Target="theme/theme1.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slide" Target="slides/slide28.xml" /><Relationship Id="rId35" Type="http://schemas.openxmlformats.org/officeDocument/2006/relationships/slide" Target="slides/slide33.xml" /><Relationship Id="rId43" Type="http://schemas.openxmlformats.org/officeDocument/2006/relationships/slide" Target="slides/slide41.xml" /><Relationship Id="rId48" Type="http://schemas.openxmlformats.org/officeDocument/2006/relationships/slide" Target="slides/slide46.xml" /><Relationship Id="rId56" Type="http://schemas.openxmlformats.org/officeDocument/2006/relationships/slide" Target="slides/slide54.xml" /><Relationship Id="rId64" Type="http://schemas.openxmlformats.org/officeDocument/2006/relationships/slide" Target="slides/slide62.xml" /><Relationship Id="rId69" Type="http://schemas.openxmlformats.org/officeDocument/2006/relationships/slide" Target="slides/slide67.xml" /><Relationship Id="rId77" Type="http://schemas.openxmlformats.org/officeDocument/2006/relationships/viewProps" Target="viewProps.xml" /><Relationship Id="rId8" Type="http://schemas.openxmlformats.org/officeDocument/2006/relationships/slide" Target="slides/slide6.xml" /><Relationship Id="rId51" Type="http://schemas.openxmlformats.org/officeDocument/2006/relationships/slide" Target="slides/slide49.xml" /><Relationship Id="rId72" Type="http://schemas.openxmlformats.org/officeDocument/2006/relationships/slide" Target="slides/slide70.xml" /><Relationship Id="rId3" Type="http://schemas.openxmlformats.org/officeDocument/2006/relationships/slide" Target="slides/slide1.xml" /><Relationship Id="rId12" Type="http://schemas.openxmlformats.org/officeDocument/2006/relationships/slide" Target="slides/slide10.xml" /><Relationship Id="rId17" Type="http://schemas.openxmlformats.org/officeDocument/2006/relationships/slide" Target="slides/slide15.xml" /><Relationship Id="rId25" Type="http://schemas.openxmlformats.org/officeDocument/2006/relationships/slide" Target="slides/slide23.xml" /><Relationship Id="rId33" Type="http://schemas.openxmlformats.org/officeDocument/2006/relationships/slide" Target="slides/slide31.xml" /><Relationship Id="rId38" Type="http://schemas.openxmlformats.org/officeDocument/2006/relationships/slide" Target="slides/slide36.xml" /><Relationship Id="rId46" Type="http://schemas.openxmlformats.org/officeDocument/2006/relationships/slide" Target="slides/slide44.xml" /><Relationship Id="rId59" Type="http://schemas.openxmlformats.org/officeDocument/2006/relationships/slide" Target="slides/slide57.xml" /><Relationship Id="rId67" Type="http://schemas.openxmlformats.org/officeDocument/2006/relationships/slide" Target="slides/slide65.xml" /><Relationship Id="rId20" Type="http://schemas.openxmlformats.org/officeDocument/2006/relationships/slide" Target="slides/slide18.xml" /><Relationship Id="rId41" Type="http://schemas.openxmlformats.org/officeDocument/2006/relationships/slide" Target="slides/slide39.xml" /><Relationship Id="rId54" Type="http://schemas.openxmlformats.org/officeDocument/2006/relationships/slide" Target="slides/slide52.xml" /><Relationship Id="rId62" Type="http://schemas.openxmlformats.org/officeDocument/2006/relationships/slide" Target="slides/slide60.xml" /><Relationship Id="rId70" Type="http://schemas.openxmlformats.org/officeDocument/2006/relationships/slide" Target="slides/slide68.xml" /><Relationship Id="rId75"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slide" Target="slides/slide4.xml" /><Relationship Id="rId15" Type="http://schemas.openxmlformats.org/officeDocument/2006/relationships/slide" Target="slides/slide13.xml" /><Relationship Id="rId23" Type="http://schemas.openxmlformats.org/officeDocument/2006/relationships/slide" Target="slides/slide21.xml" /><Relationship Id="rId28" Type="http://schemas.openxmlformats.org/officeDocument/2006/relationships/slide" Target="slides/slide26.xml" /><Relationship Id="rId36" Type="http://schemas.openxmlformats.org/officeDocument/2006/relationships/slide" Target="slides/slide34.xml" /><Relationship Id="rId49" Type="http://schemas.openxmlformats.org/officeDocument/2006/relationships/slide" Target="slides/slide47.xml" /><Relationship Id="rId57" Type="http://schemas.openxmlformats.org/officeDocument/2006/relationships/slide" Target="slides/slide5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174AE0-3C7B-43B4-B77B-4B353A5D0412}" type="datetimeFigureOut">
              <a:rPr lang="en-IN" smtClean="0"/>
              <a:t>23-09-2025</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E76AC9-7939-463C-92F8-EBB1397D7671}" type="slidenum">
              <a:rPr lang="en-IN" smtClean="0"/>
              <a:t>‹#›</a:t>
            </a:fld>
            <a:endParaRPr lang="en-IN"/>
          </a:p>
        </p:txBody>
      </p:sp>
    </p:spTree>
    <p:extLst>
      <p:ext uri="{BB962C8B-B14F-4D97-AF65-F5344CB8AC3E}">
        <p14:creationId xmlns:p14="http://schemas.microsoft.com/office/powerpoint/2010/main" val="3669082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78C0B-4674-A6E5-98EE-3E0A37A7600B}"/>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IN" dirty="0"/>
          </a:p>
        </p:txBody>
      </p:sp>
      <p:sp>
        <p:nvSpPr>
          <p:cNvPr id="3" name="Subtitle 2">
            <a:extLst>
              <a:ext uri="{FF2B5EF4-FFF2-40B4-BE49-F238E27FC236}">
                <a16:creationId xmlns:a16="http://schemas.microsoft.com/office/drawing/2014/main" id="{8DBDC33E-5515-3B08-A1C9-3B08B04A73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76A6168-8D13-EA74-B0A2-DCD85AB0949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ACD4FE2-64B6-2A90-3DC9-0BCD3A5480E3}"/>
              </a:ext>
            </a:extLst>
          </p:cNvPr>
          <p:cNvSpPr>
            <a:spLocks noGrp="1"/>
          </p:cNvSpPr>
          <p:nvPr>
            <p:ph type="ftr" sz="quarter" idx="11"/>
          </p:nvPr>
        </p:nvSpPr>
        <p:spPr/>
        <p:txBody>
          <a:bodyPr/>
          <a:lstStyle/>
          <a:p>
            <a:r>
              <a:rPr lang="en-US"/>
              <a:t>Subject:STRATEGIC HRM by: Dr.Smita Singh</a:t>
            </a:r>
            <a:endParaRPr lang="en-IN"/>
          </a:p>
        </p:txBody>
      </p:sp>
      <p:sp>
        <p:nvSpPr>
          <p:cNvPr id="6" name="Slide Number Placeholder 5">
            <a:extLst>
              <a:ext uri="{FF2B5EF4-FFF2-40B4-BE49-F238E27FC236}">
                <a16:creationId xmlns:a16="http://schemas.microsoft.com/office/drawing/2014/main" id="{C2359364-21F2-468A-07FD-FCE95F9502EC}"/>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2475969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C0331D-5BF1-A847-6661-FF22863704E3}"/>
              </a:ext>
            </a:extLst>
          </p:cNvPr>
          <p:cNvSpPr>
            <a:spLocks noGrp="1"/>
          </p:cNvSpPr>
          <p:nvPr>
            <p:ph idx="1"/>
          </p:nvPr>
        </p:nvSpPr>
        <p:spPr>
          <a:xfrm>
            <a:off x="217715" y="1175661"/>
            <a:ext cx="11727542" cy="50013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8" name="Picture 7" descr="A close-up of a logo&#10;&#10;Description automatically generated">
            <a:extLst>
              <a:ext uri="{FF2B5EF4-FFF2-40B4-BE49-F238E27FC236}">
                <a16:creationId xmlns:a16="http://schemas.microsoft.com/office/drawing/2014/main" id="{9B1B1363-C691-78F8-EF28-A8155D45F95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9" name="Straight Connector 8">
            <a:extLst>
              <a:ext uri="{FF2B5EF4-FFF2-40B4-BE49-F238E27FC236}">
                <a16:creationId xmlns:a16="http://schemas.microsoft.com/office/drawing/2014/main" id="{5B902227-E54D-B643-D46C-38A97C78AEAD}"/>
              </a:ext>
            </a:extLst>
          </p:cNvPr>
          <p:cNvCxnSpPr>
            <a:cxnSpLocks/>
          </p:cNvCxnSpPr>
          <p:nvPr userDrawn="1"/>
        </p:nvCxnSpPr>
        <p:spPr>
          <a:xfrm>
            <a:off x="0" y="958646"/>
            <a:ext cx="12206980" cy="0"/>
          </a:xfrm>
          <a:prstGeom prst="line">
            <a:avLst/>
          </a:prstGeom>
          <a:ln w="38100">
            <a:solidFill>
              <a:srgbClr val="D4222A"/>
            </a:solidFill>
          </a:ln>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9186A1FD-01D7-CDF6-B4D1-33509286253B}"/>
              </a:ext>
            </a:extLst>
          </p:cNvPr>
          <p:cNvSpPr>
            <a:spLocks noGrp="1"/>
          </p:cNvSpPr>
          <p:nvPr>
            <p:ph type="title"/>
          </p:nvPr>
        </p:nvSpPr>
        <p:spPr>
          <a:xfrm>
            <a:off x="1984828" y="92983"/>
            <a:ext cx="10160001" cy="764041"/>
          </a:xfrm>
        </p:spPr>
        <p:txBody>
          <a:bodyPr/>
          <a:lstStyle>
            <a:lvl1pPr>
              <a:defRPr>
                <a:solidFill>
                  <a:srgbClr val="D4222A"/>
                </a:solidFill>
              </a:defRPr>
            </a:lvl1pPr>
          </a:lstStyle>
          <a:p>
            <a:r>
              <a:rPr lang="en-US"/>
              <a:t>Click to edit Master title style</a:t>
            </a:r>
            <a:endParaRPr lang="en-IN"/>
          </a:p>
        </p:txBody>
      </p:sp>
      <p:sp>
        <p:nvSpPr>
          <p:cNvPr id="11" name="Footer Placeholder 4">
            <a:extLst>
              <a:ext uri="{FF2B5EF4-FFF2-40B4-BE49-F238E27FC236}">
                <a16:creationId xmlns:a16="http://schemas.microsoft.com/office/drawing/2014/main" id="{A30F79E1-9D56-B020-3E3E-72B959F476D5}"/>
              </a:ext>
            </a:extLst>
          </p:cNvPr>
          <p:cNvSpPr txBox="1">
            <a:spLocks/>
          </p:cNvSpPr>
          <p:nvPr userDrawn="1"/>
        </p:nvSpPr>
        <p:spPr>
          <a:xfrm>
            <a:off x="0" y="6383439"/>
            <a:ext cx="12192000" cy="386069"/>
          </a:xfrm>
          <a:prstGeom prst="rect">
            <a:avLst/>
          </a:prstGeom>
          <a:gradFill flip="none" rotWithShape="1">
            <a:gsLst>
              <a:gs pos="0">
                <a:srgbClr val="D4222A">
                  <a:tint val="66000"/>
                  <a:satMod val="160000"/>
                </a:srgbClr>
              </a:gs>
              <a:gs pos="50000">
                <a:srgbClr val="D4222A">
                  <a:tint val="44500"/>
                  <a:satMod val="160000"/>
                </a:srgbClr>
              </a:gs>
              <a:gs pos="100000">
                <a:srgbClr val="D4222A">
                  <a:tint val="23500"/>
                  <a:satMod val="160000"/>
                </a:srgbClr>
              </a:gs>
            </a:gsLst>
            <a:lin ang="13500000" scaled="1"/>
            <a:tileRect/>
          </a:gradFill>
          <a:ln>
            <a:solidFill>
              <a:srgbClr val="D4222A"/>
            </a:solidFill>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AC6C7"/>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Subject: Human Psych. &amp; OB                      	  	by: Sonali Sharma				Slide</a:t>
            </a:r>
            <a:fld id="{EDEDD917-62A0-4485-92B8-C3966B25E343}" type="slidenum">
              <a:rPr lang="en-US" smtClean="0">
                <a:latin typeface="Times New Roman" panose="02020603050405020304" pitchFamily="18" charset="0"/>
                <a:cs typeface="Times New Roman" panose="02020603050405020304" pitchFamily="18" charset="0"/>
              </a:rPr>
              <a:t>‹#›</a:t>
            </a:fld>
            <a:r>
              <a:rPr lang="en-US"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0275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r>
              <a:rPr lang="en-US"/>
              <a:t>Subject:STRATEGIC HRM by: Dr.Smita Singh</a:t>
            </a:r>
            <a:endParaRPr lang="en-IN"/>
          </a:p>
        </p:txBody>
      </p:sp>
      <p:sp>
        <p:nvSpPr>
          <p:cNvPr id="5" name="Slide Number Placeholder 4"/>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2550271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20746-2CE1-56A0-E21D-E04BE15EA6E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544C42-B4A5-8CC3-CFC1-2D05AAA6DE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03CB838-9622-6884-5F1C-C5A38F8CAC5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9D7CBDF-40B8-FD01-9DD7-36D92983F027}"/>
              </a:ext>
            </a:extLst>
          </p:cNvPr>
          <p:cNvSpPr>
            <a:spLocks noGrp="1"/>
          </p:cNvSpPr>
          <p:nvPr>
            <p:ph type="ftr" sz="quarter" idx="11"/>
          </p:nvPr>
        </p:nvSpPr>
        <p:spPr/>
        <p:txBody>
          <a:bodyPr/>
          <a:lstStyle/>
          <a:p>
            <a:r>
              <a:rPr lang="en-US"/>
              <a:t>Subject:STRATEGIC HRM by: Dr.Smita Singh</a:t>
            </a:r>
            <a:endParaRPr lang="en-IN"/>
          </a:p>
        </p:txBody>
      </p:sp>
      <p:sp>
        <p:nvSpPr>
          <p:cNvPr id="6" name="Slide Number Placeholder 5">
            <a:extLst>
              <a:ext uri="{FF2B5EF4-FFF2-40B4-BE49-F238E27FC236}">
                <a16:creationId xmlns:a16="http://schemas.microsoft.com/office/drawing/2014/main" id="{7ED894E4-FFAB-B91C-74C9-DAA9E0863C23}"/>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7" name="Picture 6" descr="A close-up of a logo&#10;&#10;Description automatically generated">
            <a:extLst>
              <a:ext uri="{FF2B5EF4-FFF2-40B4-BE49-F238E27FC236}">
                <a16:creationId xmlns:a16="http://schemas.microsoft.com/office/drawing/2014/main" id="{733CD00B-2E1E-81EF-0123-171DE8817BF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1468477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0CAA-FEDC-930F-6F25-399E909596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9AC00F-8304-E528-D4EC-C27126D469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92110F4-490C-1BC2-30F7-804738C820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DEA7D5D-E7F3-09AB-5122-0AD61F87B27F}"/>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21CE55D5-CB28-14AC-A5D6-7C4D1820910A}"/>
              </a:ext>
            </a:extLst>
          </p:cNvPr>
          <p:cNvSpPr>
            <a:spLocks noGrp="1"/>
          </p:cNvSpPr>
          <p:nvPr>
            <p:ph type="ftr" sz="quarter" idx="11"/>
          </p:nvPr>
        </p:nvSpPr>
        <p:spPr/>
        <p:txBody>
          <a:bodyPr/>
          <a:lstStyle/>
          <a:p>
            <a:r>
              <a:rPr lang="en-US"/>
              <a:t>Subject:STRATEGIC HRM by: Dr.Smita Singh</a:t>
            </a:r>
            <a:endParaRPr lang="en-IN"/>
          </a:p>
        </p:txBody>
      </p:sp>
      <p:sp>
        <p:nvSpPr>
          <p:cNvPr id="7" name="Slide Number Placeholder 6">
            <a:extLst>
              <a:ext uri="{FF2B5EF4-FFF2-40B4-BE49-F238E27FC236}">
                <a16:creationId xmlns:a16="http://schemas.microsoft.com/office/drawing/2014/main" id="{0D38F191-EEBC-5148-D0A6-39FD63DC9A97}"/>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8" name="Picture 7" descr="A close-up of a logo&#10;&#10;Description automatically generated">
            <a:extLst>
              <a:ext uri="{FF2B5EF4-FFF2-40B4-BE49-F238E27FC236}">
                <a16:creationId xmlns:a16="http://schemas.microsoft.com/office/drawing/2014/main" id="{13990B45-B4D7-A244-4402-E62B79167E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521002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DE053-2667-68E2-0018-4DECABCBE4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39FCE6C-3A97-50ED-F685-DC0A1DE7FA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A6DDB9-1866-D6A4-370B-829FCDA10B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0059776-CC1A-0E43-5E8F-40CF53D4E7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3E8DB9-61B9-1873-4DA9-2A471F7FB8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DE1CF1-EE96-195C-5297-1B1C1CA6C808}"/>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1F744C50-A6B7-B5CB-702A-721A352C0399}"/>
              </a:ext>
            </a:extLst>
          </p:cNvPr>
          <p:cNvSpPr>
            <a:spLocks noGrp="1"/>
          </p:cNvSpPr>
          <p:nvPr>
            <p:ph type="ftr" sz="quarter" idx="11"/>
          </p:nvPr>
        </p:nvSpPr>
        <p:spPr/>
        <p:txBody>
          <a:bodyPr/>
          <a:lstStyle/>
          <a:p>
            <a:r>
              <a:rPr lang="en-US"/>
              <a:t>Subject:STRATEGIC HRM by: Dr.Smita Singh</a:t>
            </a:r>
            <a:endParaRPr lang="en-IN"/>
          </a:p>
        </p:txBody>
      </p:sp>
      <p:sp>
        <p:nvSpPr>
          <p:cNvPr id="9" name="Slide Number Placeholder 8">
            <a:extLst>
              <a:ext uri="{FF2B5EF4-FFF2-40B4-BE49-F238E27FC236}">
                <a16:creationId xmlns:a16="http://schemas.microsoft.com/office/drawing/2014/main" id="{9004BED5-9408-190F-A1C1-306BF1030669}"/>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10" name="Picture 9" descr="A close-up of a logo&#10;&#10;Description automatically generated">
            <a:extLst>
              <a:ext uri="{FF2B5EF4-FFF2-40B4-BE49-F238E27FC236}">
                <a16:creationId xmlns:a16="http://schemas.microsoft.com/office/drawing/2014/main" id="{5BB06DE5-D595-6F8A-7E5F-2A44754953F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296129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BDFC4-1585-AC02-0A53-95EEEB67AB3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06BA6A1-C400-4BD9-20FB-2E5E9601598B}"/>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85888F6-24D6-F2A1-B474-DB01C0857F84}"/>
              </a:ext>
            </a:extLst>
          </p:cNvPr>
          <p:cNvSpPr>
            <a:spLocks noGrp="1"/>
          </p:cNvSpPr>
          <p:nvPr>
            <p:ph type="ftr" sz="quarter" idx="11"/>
          </p:nvPr>
        </p:nvSpPr>
        <p:spPr/>
        <p:txBody>
          <a:bodyPr/>
          <a:lstStyle/>
          <a:p>
            <a:r>
              <a:rPr lang="en-US"/>
              <a:t>Subject:STRATEGIC HRM by: Dr.Smita Singh</a:t>
            </a:r>
            <a:endParaRPr lang="en-IN"/>
          </a:p>
        </p:txBody>
      </p:sp>
      <p:sp>
        <p:nvSpPr>
          <p:cNvPr id="5" name="Slide Number Placeholder 4">
            <a:extLst>
              <a:ext uri="{FF2B5EF4-FFF2-40B4-BE49-F238E27FC236}">
                <a16:creationId xmlns:a16="http://schemas.microsoft.com/office/drawing/2014/main" id="{87ACB78E-3F05-C874-F1A7-75E5A1114A9D}"/>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6" name="Picture 5" descr="A close-up of a logo&#10;&#10;Description automatically generated">
            <a:extLst>
              <a:ext uri="{FF2B5EF4-FFF2-40B4-BE49-F238E27FC236}">
                <a16:creationId xmlns:a16="http://schemas.microsoft.com/office/drawing/2014/main" id="{4753E253-A55F-9C80-8323-7CBF3AB3CA1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3961815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7787E0-0777-E6B7-3CAF-AC35A65FBEE1}"/>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9EA3AFFB-505E-A1FE-9B93-680B4637D39A}"/>
              </a:ext>
            </a:extLst>
          </p:cNvPr>
          <p:cNvSpPr>
            <a:spLocks noGrp="1"/>
          </p:cNvSpPr>
          <p:nvPr>
            <p:ph type="ftr" sz="quarter" idx="11"/>
          </p:nvPr>
        </p:nvSpPr>
        <p:spPr/>
        <p:txBody>
          <a:bodyPr/>
          <a:lstStyle/>
          <a:p>
            <a:r>
              <a:rPr lang="en-US"/>
              <a:t>Subject:STRATEGIC HRM by: Dr.Smita Singh</a:t>
            </a:r>
            <a:endParaRPr lang="en-IN"/>
          </a:p>
        </p:txBody>
      </p:sp>
      <p:sp>
        <p:nvSpPr>
          <p:cNvPr id="4" name="Slide Number Placeholder 3">
            <a:extLst>
              <a:ext uri="{FF2B5EF4-FFF2-40B4-BE49-F238E27FC236}">
                <a16:creationId xmlns:a16="http://schemas.microsoft.com/office/drawing/2014/main" id="{869718E1-AD09-3C4B-DE29-B9B8507E6459}"/>
              </a:ext>
            </a:extLst>
          </p:cNvPr>
          <p:cNvSpPr>
            <a:spLocks noGrp="1"/>
          </p:cNvSpPr>
          <p:nvPr>
            <p:ph type="sldNum" sz="quarter" idx="12"/>
          </p:nvPr>
        </p:nvSpPr>
        <p:spPr/>
        <p:txBody>
          <a:bodyPr/>
          <a:lstStyle/>
          <a:p>
            <a:fld id="{5721E972-0DBC-4911-A10C-C7172303CA11}" type="slidenum">
              <a:rPr lang="en-IN" smtClean="0"/>
              <a:t>‹#›</a:t>
            </a:fld>
            <a:endParaRPr lang="en-IN"/>
          </a:p>
        </p:txBody>
      </p:sp>
      <p:pic>
        <p:nvPicPr>
          <p:cNvPr id="5" name="Picture 4" descr="A close-up of a logo&#10;&#10;Description automatically generated">
            <a:extLst>
              <a:ext uri="{FF2B5EF4-FFF2-40B4-BE49-F238E27FC236}">
                <a16:creationId xmlns:a16="http://schemas.microsoft.com/office/drawing/2014/main" id="{182B88B3-97E4-2AF7-D4E0-E7A8447BBD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extLst>
      <p:ext uri="{BB962C8B-B14F-4D97-AF65-F5344CB8AC3E}">
        <p14:creationId xmlns:p14="http://schemas.microsoft.com/office/powerpoint/2010/main" val="247863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4BEF-F946-1FA8-DFA7-CBA85E0E1B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FE2A632-F103-FEEF-E8D7-7876C2FDE8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7510111-9FB4-4527-D6E6-D80E77AD7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E31299-E185-022A-0706-F906AAAF9E2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CF712A21-3761-0FC0-FFD7-7A6D5881A1F2}"/>
              </a:ext>
            </a:extLst>
          </p:cNvPr>
          <p:cNvSpPr>
            <a:spLocks noGrp="1"/>
          </p:cNvSpPr>
          <p:nvPr>
            <p:ph type="ftr" sz="quarter" idx="11"/>
          </p:nvPr>
        </p:nvSpPr>
        <p:spPr/>
        <p:txBody>
          <a:bodyPr/>
          <a:lstStyle/>
          <a:p>
            <a:r>
              <a:rPr lang="en-US"/>
              <a:t>Subject:STRATEGIC HRM by: Dr.Smita Singh</a:t>
            </a:r>
            <a:endParaRPr lang="en-IN"/>
          </a:p>
        </p:txBody>
      </p:sp>
      <p:sp>
        <p:nvSpPr>
          <p:cNvPr id="7" name="Slide Number Placeholder 6">
            <a:extLst>
              <a:ext uri="{FF2B5EF4-FFF2-40B4-BE49-F238E27FC236}">
                <a16:creationId xmlns:a16="http://schemas.microsoft.com/office/drawing/2014/main" id="{A068780A-0A07-1B83-40DE-608AF22D3A56}"/>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3753899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FDE87-FE21-5F32-2A92-932A01DA9E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B8DB36-F828-0125-F504-4E13473A47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E4259F-6C9D-10CD-957E-CB662F5FDA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8B4189-D360-9C7C-C42E-1C2DB1E9424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351DB9F-3059-21B2-F10D-D61A02ADF1A6}"/>
              </a:ext>
            </a:extLst>
          </p:cNvPr>
          <p:cNvSpPr>
            <a:spLocks noGrp="1"/>
          </p:cNvSpPr>
          <p:nvPr>
            <p:ph type="ftr" sz="quarter" idx="11"/>
          </p:nvPr>
        </p:nvSpPr>
        <p:spPr/>
        <p:txBody>
          <a:bodyPr/>
          <a:lstStyle/>
          <a:p>
            <a:r>
              <a:rPr lang="en-US"/>
              <a:t>Subject:STRATEGIC HRM by: Dr.Smita Singh</a:t>
            </a:r>
            <a:endParaRPr lang="en-IN"/>
          </a:p>
        </p:txBody>
      </p:sp>
      <p:sp>
        <p:nvSpPr>
          <p:cNvPr id="7" name="Slide Number Placeholder 6">
            <a:extLst>
              <a:ext uri="{FF2B5EF4-FFF2-40B4-BE49-F238E27FC236}">
                <a16:creationId xmlns:a16="http://schemas.microsoft.com/office/drawing/2014/main" id="{DE2A0A69-970A-A8F0-C450-01FCBEDDD3A7}"/>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2854624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44B39-5119-1C6C-79B7-5FD4DBCC0A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CC43E8-7686-ADD9-C0EC-5526920219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964BF84-C7C7-FF8B-5A62-3CF75C83F85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C6B546C-BFE5-F348-B37C-70013A099E96}"/>
              </a:ext>
            </a:extLst>
          </p:cNvPr>
          <p:cNvSpPr>
            <a:spLocks noGrp="1"/>
          </p:cNvSpPr>
          <p:nvPr>
            <p:ph type="ftr" sz="quarter" idx="11"/>
          </p:nvPr>
        </p:nvSpPr>
        <p:spPr/>
        <p:txBody>
          <a:bodyPr/>
          <a:lstStyle/>
          <a:p>
            <a:r>
              <a:rPr lang="en-US"/>
              <a:t>Subject:STRATEGIC HRM by: Dr.Smita Singh</a:t>
            </a:r>
            <a:endParaRPr lang="en-IN"/>
          </a:p>
        </p:txBody>
      </p:sp>
      <p:sp>
        <p:nvSpPr>
          <p:cNvPr id="6" name="Slide Number Placeholder 5">
            <a:extLst>
              <a:ext uri="{FF2B5EF4-FFF2-40B4-BE49-F238E27FC236}">
                <a16:creationId xmlns:a16="http://schemas.microsoft.com/office/drawing/2014/main" id="{0E9FC48B-B9AB-D901-9148-02C63FCFA694}"/>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23979281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F4562C-82A5-A134-61D0-392ED3A39AE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664D4E-85F5-5738-D723-BC26937EDC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8AC932-5D2C-FDC6-A304-F22FDF44ADB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C5A9CE1-8FA8-5FC7-DB30-6CEB3811A46E}"/>
              </a:ext>
            </a:extLst>
          </p:cNvPr>
          <p:cNvSpPr>
            <a:spLocks noGrp="1"/>
          </p:cNvSpPr>
          <p:nvPr>
            <p:ph type="ftr" sz="quarter" idx="11"/>
          </p:nvPr>
        </p:nvSpPr>
        <p:spPr/>
        <p:txBody>
          <a:bodyPr/>
          <a:lstStyle/>
          <a:p>
            <a:r>
              <a:rPr lang="en-US"/>
              <a:t>Subject:STRATEGIC HRM by: Dr.Smita Singh</a:t>
            </a:r>
            <a:endParaRPr lang="en-IN"/>
          </a:p>
        </p:txBody>
      </p:sp>
      <p:sp>
        <p:nvSpPr>
          <p:cNvPr id="6" name="Slide Number Placeholder 5">
            <a:extLst>
              <a:ext uri="{FF2B5EF4-FFF2-40B4-BE49-F238E27FC236}">
                <a16:creationId xmlns:a16="http://schemas.microsoft.com/office/drawing/2014/main" id="{FBEA1330-FEFE-917C-3E6C-7F5316FF663D}"/>
              </a:ext>
            </a:extLst>
          </p:cNvPr>
          <p:cNvSpPr>
            <a:spLocks noGrp="1"/>
          </p:cNvSpPr>
          <p:nvPr>
            <p:ph type="sldNum" sz="quarter" idx="12"/>
          </p:nvPr>
        </p:nvSpPr>
        <p:spPr/>
        <p:txBody>
          <a:bodyPr/>
          <a:lstStyle/>
          <a:p>
            <a:fld id="{5721E972-0DBC-4911-A10C-C7172303CA11}" type="slidenum">
              <a:rPr lang="en-IN" smtClean="0"/>
              <a:t>‹#›</a:t>
            </a:fld>
            <a:endParaRPr lang="en-IN"/>
          </a:p>
        </p:txBody>
      </p:sp>
    </p:spTree>
    <p:extLst>
      <p:ext uri="{BB962C8B-B14F-4D97-AF65-F5344CB8AC3E}">
        <p14:creationId xmlns:p14="http://schemas.microsoft.com/office/powerpoint/2010/main" val="755491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F64A3BE-73F2-49BB-A32C-9FF675DE16A8}" type="datetimeFigureOut">
              <a:rPr lang="en-IN" smtClean="0"/>
              <a:t>23-09-2025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21007496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64A3BE-73F2-49BB-A32C-9FF675DE16A8}" type="datetimeFigureOut">
              <a:rPr lang="en-IN" smtClean="0"/>
              <a:t>23-09-2025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2393848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3" y="4406900"/>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613"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64A3BE-73F2-49BB-A32C-9FF675DE16A8}" type="datetimeFigureOut">
              <a:rPr lang="en-IN" smtClean="0"/>
              <a:t>23-09-2025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31974598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F64A3BE-73F2-49BB-A32C-9FF675DE16A8}" type="datetimeFigureOut">
              <a:rPr lang="en-IN" smtClean="0"/>
              <a:t>23-09-2025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1487204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4F64A3BE-73F2-49BB-A32C-9FF675DE16A8}" type="datetimeFigureOut">
              <a:rPr lang="en-IN" smtClean="0"/>
              <a:t>23-09-2025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21612046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F64A3BE-73F2-49BB-A32C-9FF675DE16A8}" type="datetimeFigureOut">
              <a:rPr lang="en-IN" smtClean="0"/>
              <a:t>23-09-2025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25205283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64A3BE-73F2-49BB-A32C-9FF675DE16A8}" type="datetimeFigureOut">
              <a:rPr lang="en-IN" smtClean="0"/>
              <a:t>23-09-2025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19263034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6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64A3BE-73F2-49BB-A32C-9FF675DE16A8}" type="datetimeFigureOut">
              <a:rPr lang="en-IN" smtClean="0"/>
              <a:t>23-09-2025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11838548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88"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F64A3BE-73F2-49BB-A32C-9FF675DE16A8}" type="datetimeFigureOut">
              <a:rPr lang="en-IN" smtClean="0"/>
              <a:t>23-09-2025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42306456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64A3BE-73F2-49BB-A32C-9FF675DE16A8}" type="datetimeFigureOut">
              <a:rPr lang="en-IN" smtClean="0"/>
              <a:t>23-09-2025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1074796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8"/>
            <a:ext cx="80772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F64A3BE-73F2-49BB-A32C-9FF675DE16A8}" type="datetimeFigureOut">
              <a:rPr lang="en-IN" smtClean="0"/>
              <a:t>23-09-2025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C69F193-BE8A-446C-9167-796E60C25941}" type="slidenum">
              <a:rPr lang="en-IN" smtClean="0"/>
              <a:t>‹#›</a:t>
            </a:fld>
            <a:endParaRPr lang="en-IN"/>
          </a:p>
        </p:txBody>
      </p:sp>
    </p:spTree>
    <p:extLst>
      <p:ext uri="{BB962C8B-B14F-4D97-AF65-F5344CB8AC3E}">
        <p14:creationId xmlns:p14="http://schemas.microsoft.com/office/powerpoint/2010/main" val="33451710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 /><Relationship Id="rId3" Type="http://schemas.openxmlformats.org/officeDocument/2006/relationships/slideLayout" Target="../slideLayouts/slideLayout15.xml" /><Relationship Id="rId7" Type="http://schemas.openxmlformats.org/officeDocument/2006/relationships/slideLayout" Target="../slideLayouts/slideLayout19.xml" /><Relationship Id="rId12" Type="http://schemas.openxmlformats.org/officeDocument/2006/relationships/theme" Target="../theme/theme2.xml" /><Relationship Id="rId2" Type="http://schemas.openxmlformats.org/officeDocument/2006/relationships/slideLayout" Target="../slideLayouts/slideLayout14.xml" /><Relationship Id="rId1" Type="http://schemas.openxmlformats.org/officeDocument/2006/relationships/slideLayout" Target="../slideLayouts/slideLayout13.xml" /><Relationship Id="rId6" Type="http://schemas.openxmlformats.org/officeDocument/2006/relationships/slideLayout" Target="../slideLayouts/slideLayout18.xml" /><Relationship Id="rId11" Type="http://schemas.openxmlformats.org/officeDocument/2006/relationships/slideLayout" Target="../slideLayouts/slideLayout23.xml" /><Relationship Id="rId5" Type="http://schemas.openxmlformats.org/officeDocument/2006/relationships/slideLayout" Target="../slideLayouts/slideLayout17.xml" /><Relationship Id="rId10" Type="http://schemas.openxmlformats.org/officeDocument/2006/relationships/slideLayout" Target="../slideLayouts/slideLayout22.xml" /><Relationship Id="rId4" Type="http://schemas.openxmlformats.org/officeDocument/2006/relationships/slideLayout" Target="../slideLayouts/slideLayout16.xml" /><Relationship Id="rId9" Type="http://schemas.openxmlformats.org/officeDocument/2006/relationships/slideLayout" Target="../slideLayouts/slideLayout2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C618AA-4E90-4A44-02CA-F105EE416E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1EC79BC-E7E0-B233-AB55-DA0084ED5F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9491AD-F8B8-70FC-C05F-37256DD4C0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0E84566F-263C-028A-E724-8FCD0E90D9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Subject:STRATEGIC HRM by: Dr.Smita Singh</a:t>
            </a:r>
            <a:endParaRPr lang="en-IN"/>
          </a:p>
        </p:txBody>
      </p:sp>
      <p:sp>
        <p:nvSpPr>
          <p:cNvPr id="6" name="Slide Number Placeholder 5">
            <a:extLst>
              <a:ext uri="{FF2B5EF4-FFF2-40B4-BE49-F238E27FC236}">
                <a16:creationId xmlns:a16="http://schemas.microsoft.com/office/drawing/2014/main" id="{3B6EB9BA-AF92-C5BF-1C5F-89FAE06102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21E972-0DBC-4911-A10C-C7172303CA11}" type="slidenum">
              <a:rPr lang="en-IN" smtClean="0"/>
              <a:t>‹#›</a:t>
            </a:fld>
            <a:endParaRPr lang="en-IN"/>
          </a:p>
        </p:txBody>
      </p:sp>
    </p:spTree>
    <p:extLst>
      <p:ext uri="{BB962C8B-B14F-4D97-AF65-F5344CB8AC3E}">
        <p14:creationId xmlns:p14="http://schemas.microsoft.com/office/powerpoint/2010/main" val="13238750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2"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64A3BE-73F2-49BB-A32C-9FF675DE16A8}" type="datetimeFigureOut">
              <a:rPr lang="en-IN" smtClean="0"/>
              <a:t>23-09-2025</a:t>
            </a:fld>
            <a:endParaRPr lang="en-IN"/>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69F193-BE8A-446C-9167-796E60C25941}" type="slidenum">
              <a:rPr lang="en-IN" smtClean="0"/>
              <a:t>‹#›</a:t>
            </a:fld>
            <a:endParaRPr lang="en-IN"/>
          </a:p>
        </p:txBody>
      </p:sp>
    </p:spTree>
    <p:extLst>
      <p:ext uri="{BB962C8B-B14F-4D97-AF65-F5344CB8AC3E}">
        <p14:creationId xmlns:p14="http://schemas.microsoft.com/office/powerpoint/2010/main" val="159629932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yf4Ov_YVbmI&amp;list=PLmAmHQ-_5ySyL_zgag85MMunZTomBdj6y&amp;index=2" TargetMode="External" /><Relationship Id="rId2" Type="http://schemas.openxmlformats.org/officeDocument/2006/relationships/hyperlink" Target="https://www.youtube.com/watch?v=pHg3ZfGk5j0&amp;list=PLmAmHQ-_5ySyL_zgag85MMunZTomBdj6y" TargetMode="External" /><Relationship Id="rId1" Type="http://schemas.openxmlformats.org/officeDocument/2006/relationships/slideLayout" Target="../slideLayouts/slideLayout2.xml" /><Relationship Id="rId4" Type="http://schemas.openxmlformats.org/officeDocument/2006/relationships/hyperlink" Target="https://www.youtube.com/watch?v=9x0wvLhb0Os" TargetMode="Externa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F68EA21-D1DB-A2CF-CFD9-DD5215232E37}"/>
              </a:ext>
            </a:extLst>
          </p:cNvPr>
          <p:cNvSpPr txBox="1">
            <a:spLocks/>
          </p:cNvSpPr>
          <p:nvPr/>
        </p:nvSpPr>
        <p:spPr>
          <a:xfrm>
            <a:off x="2952726" y="2611521"/>
            <a:ext cx="6286544" cy="1252133"/>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a:solidFill>
                  <a:srgbClr val="383A3C"/>
                </a:solidFill>
                <a:latin typeface="Times New Roman" panose="02020603050405020304" pitchFamily="18" charset="0"/>
                <a:cs typeface="Times New Roman" panose="02020603050405020304" pitchFamily="18" charset="0"/>
              </a:rPr>
              <a:t>CSDS- VII </a:t>
            </a:r>
            <a:r>
              <a:rPr lang="en-IN" sz="2400" b="1" dirty="0">
                <a:solidFill>
                  <a:srgbClr val="383A3C"/>
                </a:solidFill>
                <a:latin typeface="Times New Roman" panose="02020603050405020304" pitchFamily="18" charset="0"/>
                <a:cs typeface="Times New Roman" panose="02020603050405020304" pitchFamily="18" charset="0"/>
              </a:rPr>
              <a:t>SEM</a:t>
            </a:r>
            <a:br>
              <a:rPr lang="en-IN" sz="3200" b="1">
                <a:solidFill>
                  <a:srgbClr val="383A3C"/>
                </a:solidFill>
                <a:latin typeface="Times New Roman" panose="02020603050405020304" pitchFamily="18" charset="0"/>
                <a:cs typeface="Times New Roman" panose="02020603050405020304" pitchFamily="18" charset="0"/>
              </a:rPr>
            </a:br>
            <a:r>
              <a:rPr lang="en-IN" sz="3200" b="1">
                <a:solidFill>
                  <a:srgbClr val="383A3C"/>
                </a:solidFill>
                <a:latin typeface="Times New Roman" panose="02020603050405020304" pitchFamily="18" charset="0"/>
                <a:cs typeface="Times New Roman" panose="02020603050405020304" pitchFamily="18" charset="0"/>
              </a:rPr>
              <a:t>HUMAN PSYCHOLOGY &amp; OB   </a:t>
            </a:r>
            <a:endParaRPr lang="en-US" sz="4400" b="1" dirty="0">
              <a:solidFill>
                <a:srgbClr val="383A3C"/>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51F8B70D-3F64-4D35-E5AB-6FF8E0423FCD}"/>
              </a:ext>
            </a:extLst>
          </p:cNvPr>
          <p:cNvSpPr/>
          <p:nvPr/>
        </p:nvSpPr>
        <p:spPr>
          <a:xfrm>
            <a:off x="206477" y="61390"/>
            <a:ext cx="11356258" cy="1231096"/>
          </a:xfrm>
          <a:prstGeom prst="rect">
            <a:avLst/>
          </a:prstGeom>
        </p:spPr>
        <p:txBody>
          <a:bodyPr wrap="square" lIns="121908" tIns="60955" rIns="121908" bIns="60955">
            <a:spAutoFit/>
          </a:bodyPr>
          <a:lstStyle/>
          <a:p>
            <a:pPr algn="ctr"/>
            <a:r>
              <a:rPr lang="en-IN" sz="3600" b="1" dirty="0">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3600" dirty="0">
              <a:solidFill>
                <a:srgbClr val="D4222A"/>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95C2B02D-0DC2-431D-DF60-401E531B651F}"/>
              </a:ext>
            </a:extLst>
          </p:cNvPr>
          <p:cNvSpPr/>
          <p:nvPr/>
        </p:nvSpPr>
        <p:spPr>
          <a:xfrm>
            <a:off x="5810246" y="4882529"/>
            <a:ext cx="502064" cy="338554"/>
          </a:xfrm>
          <a:prstGeom prst="rect">
            <a:avLst/>
          </a:prstGeom>
        </p:spPr>
        <p:txBody>
          <a:bodyPr wrap="square">
            <a:spAutoFit/>
          </a:bodyPr>
          <a:lstStyle/>
          <a:p>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3B7956A-085D-A825-38C7-6F3A6C7CF2AB}"/>
              </a:ext>
            </a:extLst>
          </p:cNvPr>
          <p:cNvSpPr/>
          <p:nvPr/>
        </p:nvSpPr>
        <p:spPr>
          <a:xfrm>
            <a:off x="1714467" y="3930556"/>
            <a:ext cx="8763061" cy="1200329"/>
          </a:xfrm>
          <a:prstGeom prst="rect">
            <a:avLst/>
          </a:prstGeom>
        </p:spPr>
        <p:txBody>
          <a:bodyPr wrap="square">
            <a:spAutoFit/>
          </a:bodyPr>
          <a:lstStyle/>
          <a:p>
            <a:pPr algn="ctr"/>
            <a:r>
              <a:rPr lang="en-US" sz="3600" b="1" dirty="0">
                <a:latin typeface="Times New Roman" panose="02020603050405020304" pitchFamily="18" charset="0"/>
                <a:cs typeface="Times New Roman" panose="02020603050405020304" pitchFamily="18" charset="0"/>
              </a:rPr>
              <a:t>UNIT 4</a:t>
            </a:r>
          </a:p>
          <a:p>
            <a:pPr algn="ctr"/>
            <a:r>
              <a:rPr lang="en-US" sz="3600" b="1" dirty="0">
                <a:latin typeface="Times New Roman" panose="02020603050405020304" pitchFamily="18" charset="0"/>
                <a:cs typeface="Times New Roman" panose="02020603050405020304" pitchFamily="18" charset="0"/>
              </a:rPr>
              <a:t>Group Dynamics</a:t>
            </a:r>
          </a:p>
        </p:txBody>
      </p:sp>
      <p:pic>
        <p:nvPicPr>
          <p:cNvPr id="13" name="Picture 12" descr="A close-up of a logo&#10;&#10;Description automatically generated">
            <a:extLst>
              <a:ext uri="{FF2B5EF4-FFF2-40B4-BE49-F238E27FC236}">
                <a16:creationId xmlns:a16="http://schemas.microsoft.com/office/drawing/2014/main" id="{47EBCF00-B6B8-EBDF-019C-6C1D35F139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02577" y="1473677"/>
            <a:ext cx="3927373" cy="1137844"/>
          </a:xfrm>
          <a:prstGeom prst="rect">
            <a:avLst/>
          </a:prstGeom>
        </p:spPr>
      </p:pic>
      <p:sp>
        <p:nvSpPr>
          <p:cNvPr id="3" name="Slide Number Placeholder 2"/>
          <p:cNvSpPr>
            <a:spLocks noGrp="1"/>
          </p:cNvSpPr>
          <p:nvPr>
            <p:ph type="sldNum" sz="quarter" idx="12"/>
          </p:nvPr>
        </p:nvSpPr>
        <p:spPr/>
        <p:txBody>
          <a:bodyPr/>
          <a:lstStyle/>
          <a:p>
            <a:fld id="{5721E972-0DBC-4911-A10C-C7172303CA11}" type="slidenum">
              <a:rPr lang="en-IN" smtClean="0"/>
              <a:t>1</a:t>
            </a:fld>
            <a:endParaRPr lang="en-IN"/>
          </a:p>
        </p:txBody>
      </p:sp>
    </p:spTree>
    <p:extLst>
      <p:ext uri="{BB962C8B-B14F-4D97-AF65-F5344CB8AC3E}">
        <p14:creationId xmlns:p14="http://schemas.microsoft.com/office/powerpoint/2010/main" val="382397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73409B-1109-3E70-0E18-B83C1C15994C}"/>
              </a:ext>
            </a:extLst>
          </p:cNvPr>
          <p:cNvSpPr>
            <a:spLocks noGrp="1"/>
          </p:cNvSpPr>
          <p:nvPr>
            <p:ph type="title"/>
          </p:nvPr>
        </p:nvSpPr>
        <p:spPr/>
        <p:txBody>
          <a:bodyPr/>
          <a:lstStyle/>
          <a:p>
            <a:pPr lvl="0" algn="ctr">
              <a:lnSpc>
                <a:spcPct val="100000"/>
              </a:lnSpc>
              <a:defRPr/>
            </a:pPr>
            <a:r>
              <a:rPr lang="en-US" b="1" dirty="0">
                <a:solidFill>
                  <a:schemeClr val="dk1"/>
                </a:solidFill>
                <a:latin typeface="Times New Roman" pitchFamily="18" charset="0"/>
                <a:cs typeface="Times New Roman" pitchFamily="18" charset="0"/>
              </a:rPr>
              <a:t>Syllabus</a:t>
            </a:r>
          </a:p>
        </p:txBody>
      </p:sp>
      <p:sp>
        <p:nvSpPr>
          <p:cNvPr id="6" name="Content Placeholder 5">
            <a:extLst>
              <a:ext uri="{FF2B5EF4-FFF2-40B4-BE49-F238E27FC236}">
                <a16:creationId xmlns:a16="http://schemas.microsoft.com/office/drawing/2014/main" id="{7D27A642-405A-8C5B-639F-F758CB6C3B88}"/>
              </a:ext>
            </a:extLst>
          </p:cNvPr>
          <p:cNvSpPr txBox="1">
            <a:spLocks noGrp="1"/>
          </p:cNvSpPr>
          <p:nvPr>
            <p:ph idx="1"/>
          </p:nvPr>
        </p:nvSpPr>
        <p:spPr>
          <a:xfrm>
            <a:off x="217488" y="1176338"/>
            <a:ext cx="11728450" cy="5000625"/>
          </a:xfrm>
          <a:prstGeom prst="rect">
            <a:avLst/>
          </a:prstGeom>
          <a:noFill/>
        </p:spPr>
        <p:txBody>
          <a:bodyPr wrap="square">
            <a:spAutoFit/>
          </a:bodyPr>
          <a:lstStyle/>
          <a:p>
            <a:pPr marL="0" indent="0" algn="just">
              <a:buNone/>
            </a:pPr>
            <a:r>
              <a:rPr lang="en-US" sz="2000" b="1" dirty="0">
                <a:latin typeface="Times New Roman" panose="02020603050405020304" pitchFamily="18" charset="0"/>
                <a:cs typeface="Times New Roman" panose="02020603050405020304" pitchFamily="18" charset="0"/>
              </a:rPr>
              <a:t>Unit –I</a:t>
            </a:r>
          </a:p>
          <a:p>
            <a:pPr marL="0" indent="0" algn="just">
              <a:buNone/>
            </a:pPr>
            <a:endParaRPr lang="en-IN" sz="1800" b="0" i="0" u="none" strike="noStrike" baseline="0" dirty="0">
              <a:solidFill>
                <a:srgbClr val="000000"/>
              </a:solidFill>
              <a:latin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Introduction to OB, Definition, Nature, and Scope – Environmental and organizational context – Impact of globalization, Diversity, Ethics, culture. Importance of OB in understanding Human Behavior. Cognitive Processes, I: Perception and Attribution: Nature and importance of Perception – Perceptual selectivity and organization, Social perception – Attribution Theories, Locus of control –Attribution Errors. </a:t>
            </a:r>
          </a:p>
          <a:p>
            <a:pPr algn="just"/>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Unit –II</a:t>
            </a:r>
          </a:p>
          <a:p>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Cognitive Processes, II: Personality and Attitudes, Personality as a continuum - Meaning of personality, Johari Window and Transactional Analysis, Nature, and Dimension of Attitudes -Job satisfaction and organizational commitment, Motivational needs and processes, Theories of Motivation 	</a:t>
            </a:r>
          </a:p>
        </p:txBody>
      </p:sp>
    </p:spTree>
    <p:extLst>
      <p:ext uri="{BB962C8B-B14F-4D97-AF65-F5344CB8AC3E}">
        <p14:creationId xmlns:p14="http://schemas.microsoft.com/office/powerpoint/2010/main" val="1150081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FDA667-6528-AAB0-DB43-FE510D6C12E8}"/>
              </a:ext>
            </a:extLst>
          </p:cNvPr>
          <p:cNvSpPr>
            <a:spLocks noGrp="1"/>
          </p:cNvSpPr>
          <p:nvPr>
            <p:ph type="title"/>
          </p:nvPr>
        </p:nvSpPr>
        <p:spPr/>
        <p:txBody>
          <a:bodyPr/>
          <a:lstStyle/>
          <a:p>
            <a:pPr algn="ctr"/>
            <a:r>
              <a:rPr lang="en-US" dirty="0"/>
              <a:t>SYLLABUS</a:t>
            </a:r>
            <a:endParaRPr lang="en-IN" dirty="0"/>
          </a:p>
        </p:txBody>
      </p:sp>
      <p:sp>
        <p:nvSpPr>
          <p:cNvPr id="4" name="Content Placeholder 3">
            <a:extLst>
              <a:ext uri="{FF2B5EF4-FFF2-40B4-BE49-F238E27FC236}">
                <a16:creationId xmlns:a16="http://schemas.microsoft.com/office/drawing/2014/main" id="{B34295C4-2CB2-2808-0FC0-D960D8584519}"/>
              </a:ext>
            </a:extLst>
          </p:cNvPr>
          <p:cNvSpPr txBox="1">
            <a:spLocks noGrp="1"/>
          </p:cNvSpPr>
          <p:nvPr>
            <p:ph idx="1"/>
          </p:nvPr>
        </p:nvSpPr>
        <p:spPr>
          <a:xfrm>
            <a:off x="217488" y="1176338"/>
            <a:ext cx="11728450" cy="5000625"/>
          </a:xfrm>
          <a:prstGeom prst="rect">
            <a:avLst/>
          </a:prstGeom>
          <a:noFill/>
        </p:spPr>
        <p:txBody>
          <a:bodyPr wrap="square">
            <a:spAutoFit/>
          </a:bodyPr>
          <a:lstStyle/>
          <a:p>
            <a:pPr marL="0" indent="0" algn="just">
              <a:lnSpc>
                <a:spcPct val="160000"/>
              </a:lnSpc>
              <a:buNone/>
            </a:pPr>
            <a:r>
              <a:rPr lang="en-US" sz="2000" b="1" dirty="0">
                <a:latin typeface="Times New Roman" panose="02020603050405020304" pitchFamily="18" charset="0"/>
                <a:cs typeface="Times New Roman" panose="02020603050405020304" pitchFamily="18" charset="0"/>
              </a:rPr>
              <a:t>Unit –III</a:t>
            </a:r>
          </a:p>
          <a:p>
            <a:pPr algn="just"/>
            <a:r>
              <a:rPr lang="en-US" sz="2000" b="0" i="0" u="none" strike="noStrike" baseline="0" dirty="0">
                <a:solidFill>
                  <a:srgbClr val="000000"/>
                </a:solidFill>
                <a:latin typeface="Times New Roman" panose="02020603050405020304" pitchFamily="18" charset="0"/>
              </a:rPr>
              <a:t>Stress and Conflict: Meaning and types of stress, Stress Management, Meaning and types of conflict, Effect of stress and intra individual conflict, Conflict management. </a:t>
            </a:r>
            <a:endParaRPr lang="en-US" dirty="0">
              <a:solidFill>
                <a:srgbClr val="000000"/>
              </a:solidFill>
              <a:latin typeface="Times New Roman" panose="02020603050405020304" pitchFamily="18" charset="0"/>
            </a:endParaRPr>
          </a:p>
          <a:p>
            <a:pPr algn="just">
              <a:lnSpc>
                <a:spcPct val="160000"/>
              </a:lnSpc>
            </a:pPr>
            <a:r>
              <a:rPr lang="en-US" sz="2000" b="1" dirty="0">
                <a:latin typeface="Times New Roman" panose="02020603050405020304" pitchFamily="18" charset="0"/>
                <a:cs typeface="Times New Roman" panose="02020603050405020304" pitchFamily="18" charset="0"/>
              </a:rPr>
              <a:t>Unit –IV</a:t>
            </a:r>
            <a:endParaRPr lang="en-IN" sz="2000" b="0" i="0" u="none" strike="noStrike" baseline="0" dirty="0">
              <a:solidFill>
                <a:srgbClr val="000000"/>
              </a:solidFill>
              <a:latin typeface="Times New Roman" panose="02020603050405020304" pitchFamily="18" charset="0"/>
            </a:endParaRPr>
          </a:p>
          <a:p>
            <a:pPr algn="just"/>
            <a:r>
              <a:rPr lang="en-US" sz="2000" dirty="0">
                <a:solidFill>
                  <a:srgbClr val="000000"/>
                </a:solidFill>
                <a:latin typeface="Times New Roman" panose="02020603050405020304" pitchFamily="18" charset="0"/>
              </a:rPr>
              <a:t>Groups Vs. Teams – Nature of groups – dynamics of informal groups – dysfunctions of groups and teams, teams in modern work place. Power and Politics: Meaning and types of power – empowerment.</a:t>
            </a:r>
            <a:endParaRPr lang="en-US" sz="2000" b="0" i="0" u="none" strike="noStrike" baseline="0" dirty="0">
              <a:solidFill>
                <a:srgbClr val="000000"/>
              </a:solidFill>
              <a:latin typeface="Times New Roman" panose="02020603050405020304" pitchFamily="18" charset="0"/>
            </a:endParaRPr>
          </a:p>
          <a:p>
            <a:pPr algn="just">
              <a:lnSpc>
                <a:spcPct val="160000"/>
              </a:lnSpc>
            </a:pPr>
            <a:r>
              <a:rPr lang="en-US" sz="2000" b="1" dirty="0">
                <a:latin typeface="Times New Roman" panose="02020603050405020304" pitchFamily="18" charset="0"/>
                <a:cs typeface="Times New Roman" panose="02020603050405020304" pitchFamily="18" charset="0"/>
              </a:rPr>
              <a:t>Unit –V</a:t>
            </a:r>
            <a:endParaRPr lang="en-IN" sz="1800" b="0" i="0" u="none" strike="noStrike" baseline="0" dirty="0">
              <a:solidFill>
                <a:srgbClr val="000000"/>
              </a:solidFill>
              <a:latin typeface="Times New Roman" panose="02020603050405020304" pitchFamily="18" charset="0"/>
            </a:endParaRPr>
          </a:p>
          <a:p>
            <a:pPr algn="just"/>
            <a:r>
              <a:rPr lang="en-US" sz="2000" dirty="0">
                <a:solidFill>
                  <a:srgbClr val="000000"/>
                </a:solidFill>
                <a:latin typeface="Times New Roman" panose="02020603050405020304" pitchFamily="18" charset="0"/>
              </a:rPr>
              <a:t>High performance work practices, Behavioral performance management: reinforcement and punishment as principles of Learning –Process of Behavioral modification, Leadership theories, Styles, Activities, and skills of Great leaders. Organizational change, meaning, factors in Organizational change, process of planned Change, Resistance to change.</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8076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8977C8A-2F45-CD84-F7F9-0FB4196CB861}"/>
              </a:ext>
            </a:extLst>
          </p:cNvPr>
          <p:cNvSpPr>
            <a:spLocks noGrp="1"/>
          </p:cNvSpPr>
          <p:nvPr>
            <p:ph type="title"/>
          </p:nvPr>
        </p:nvSpPr>
        <p:spPr/>
        <p:txBody>
          <a:bodyPr/>
          <a:lstStyle/>
          <a:p>
            <a:pPr algn="ctr"/>
            <a:r>
              <a:rPr lang="en-US" dirty="0"/>
              <a:t>SYLLABUS</a:t>
            </a:r>
            <a:endParaRPr lang="en-IN" dirty="0"/>
          </a:p>
        </p:txBody>
      </p:sp>
      <p:sp>
        <p:nvSpPr>
          <p:cNvPr id="4" name="Content Placeholder 3">
            <a:extLst>
              <a:ext uri="{FF2B5EF4-FFF2-40B4-BE49-F238E27FC236}">
                <a16:creationId xmlns:a16="http://schemas.microsoft.com/office/drawing/2014/main" id="{66058EBC-6225-8A3E-335B-0E910BB11247}"/>
              </a:ext>
            </a:extLst>
          </p:cNvPr>
          <p:cNvSpPr txBox="1">
            <a:spLocks noGrp="1"/>
          </p:cNvSpPr>
          <p:nvPr>
            <p:ph idx="1"/>
          </p:nvPr>
        </p:nvSpPr>
        <p:spPr>
          <a:xfrm>
            <a:off x="217488" y="1185669"/>
            <a:ext cx="11728450" cy="5000625"/>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Text books:</a:t>
            </a:r>
            <a:endParaRPr lang="en-IN" sz="1800" b="0" i="0" u="none" strike="noStrike" baseline="0" dirty="0">
              <a:latin typeface="Times New Roman" panose="02020603050405020304" pitchFamily="18" charset="0"/>
            </a:endParaRPr>
          </a:p>
          <a:p>
            <a:pPr marL="342900" indent="-342900" algn="just">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Robbins Stephen P&amp; Judge Timothy A. Organizational Behavior (2019, 9th edition, Pearson) </a:t>
            </a:r>
          </a:p>
          <a:p>
            <a:pPr marL="342900" indent="-342900" algn="just">
              <a:buFont typeface="Arial" panose="020B0604020202020204" pitchFamily="34" charset="0"/>
              <a:buChar char="•"/>
            </a:pPr>
            <a:r>
              <a:rPr lang="en-US" sz="2000" b="0" i="0" u="none" strike="noStrike" baseline="0" dirty="0">
                <a:solidFill>
                  <a:srgbClr val="000000"/>
                </a:solidFill>
                <a:latin typeface="Times New Roman" panose="02020603050405020304" pitchFamily="18" charset="0"/>
              </a:rPr>
              <a:t>Newstrom J. W., &amp; Davis, K. (2011) Human behavior at work (12th ed.). Tata McGraw Hill</a:t>
            </a:r>
          </a:p>
          <a:p>
            <a:pPr algn="just"/>
            <a:r>
              <a:rPr lang="en-US" sz="2000" b="0" i="0" u="none" strike="noStrike" baseline="0" dirty="0">
                <a:solidFill>
                  <a:srgbClr val="000000"/>
                </a:solidFill>
                <a:latin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0" indent="0" algn="just">
              <a:buNone/>
            </a:pPr>
            <a:r>
              <a:rPr lang="en-IN" sz="2000" b="1" dirty="0">
                <a:latin typeface="Times New Roman" panose="02020603050405020304" pitchFamily="18" charset="0"/>
                <a:cs typeface="Times New Roman" panose="02020603050405020304" pitchFamily="18" charset="0"/>
              </a:rPr>
              <a:t>Reference Books:</a:t>
            </a:r>
            <a:endParaRPr lang="en-IN" sz="1800" b="0" i="0" u="none" strike="noStrike" baseline="0" dirty="0">
              <a:latin typeface="Times New Roman" panose="02020603050405020304" pitchFamily="18" charset="0"/>
            </a:endParaRPr>
          </a:p>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rPr>
              <a:t>Robbins &amp; Coulter: Management (Pearson, 19th Edition, 2019) </a:t>
            </a:r>
          </a:p>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rPr>
              <a:t>Luthans Fred: Organizational Behavior, (McGraw Hill International Edition, 12th Edition, 2013) </a:t>
            </a:r>
          </a:p>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rPr>
              <a:t>Prasad L. M.: Principles and Practices of Management, (Sultan Chand&amp; Sons, 9th edition,2016) </a:t>
            </a:r>
          </a:p>
          <a:p>
            <a:pPr marL="342900" indent="-342900" algn="just">
              <a:buFont typeface="Arial" panose="020B0604020202020204" pitchFamily="34" charset="0"/>
              <a:buChar char="•"/>
            </a:pPr>
            <a:r>
              <a:rPr lang="en-US" sz="2000" dirty="0">
                <a:solidFill>
                  <a:srgbClr val="000000"/>
                </a:solidFill>
                <a:latin typeface="Times New Roman" panose="02020603050405020304" pitchFamily="18" charset="0"/>
              </a:rPr>
              <a:t>Pareek. U. (2010). Understanding Organizational Behavior (2nd ed.). Oxford University Press </a:t>
            </a:r>
          </a:p>
        </p:txBody>
      </p:sp>
    </p:spTree>
    <p:extLst>
      <p:ext uri="{BB962C8B-B14F-4D97-AF65-F5344CB8AC3E}">
        <p14:creationId xmlns:p14="http://schemas.microsoft.com/office/powerpoint/2010/main" val="40278633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A4797C9-B362-11AB-0495-4BE2BB325229}"/>
              </a:ext>
            </a:extLst>
          </p:cNvPr>
          <p:cNvSpPr>
            <a:spLocks noGrp="1"/>
          </p:cNvSpPr>
          <p:nvPr>
            <p:ph type="title"/>
          </p:nvPr>
        </p:nvSpPr>
        <p:spPr/>
        <p:txBody>
          <a:bodyPr/>
          <a:lstStyle/>
          <a:p>
            <a:pPr algn="ctr"/>
            <a:r>
              <a:rPr lang="en-US" b="1" dirty="0"/>
              <a:t>COURSE OBJECTIVES</a:t>
            </a:r>
            <a:endParaRPr lang="en-IN" b="1" dirty="0"/>
          </a:p>
        </p:txBody>
      </p:sp>
      <p:sp>
        <p:nvSpPr>
          <p:cNvPr id="4" name="Content Placeholder 2">
            <a:extLst>
              <a:ext uri="{FF2B5EF4-FFF2-40B4-BE49-F238E27FC236}">
                <a16:creationId xmlns:a16="http://schemas.microsoft.com/office/drawing/2014/main" id="{40B0159F-90B5-C56D-A233-5BEE856C2AB5}"/>
              </a:ext>
            </a:extLst>
          </p:cNvPr>
          <p:cNvSpPr>
            <a:spLocks noGrp="1"/>
          </p:cNvSpPr>
          <p:nvPr>
            <p:ph idx="1"/>
          </p:nvPr>
        </p:nvSpPr>
        <p:spPr>
          <a:xfrm>
            <a:off x="217488" y="1176338"/>
            <a:ext cx="11728450" cy="5000625"/>
          </a:xfrm>
        </p:spPr>
        <p:txBody>
          <a:bodyPr>
            <a:noAutofit/>
          </a:bodyPr>
          <a:lstStyle/>
          <a:p>
            <a:pPr algn="just"/>
            <a:r>
              <a:rPr lang="en-US" sz="2400" b="0" i="0" u="none" strike="noStrike" baseline="0" dirty="0">
                <a:solidFill>
                  <a:srgbClr val="000000"/>
                </a:solidFill>
                <a:latin typeface="Times New Roman" panose="02020603050405020304" pitchFamily="18" charset="0"/>
              </a:rPr>
              <a:t>To understand the various dimensions of Human psychology. </a:t>
            </a:r>
            <a:endParaRPr lang="en-IN" sz="2400" b="0" i="0" u="none" strike="noStrike" baseline="0" dirty="0">
              <a:solidFill>
                <a:srgbClr val="000000"/>
              </a:solidFill>
              <a:latin typeface="Times New Roman" panose="02020603050405020304" pitchFamily="18" charset="0"/>
            </a:endParaRPr>
          </a:p>
          <a:p>
            <a:pPr algn="just"/>
            <a:r>
              <a:rPr lang="en-US" sz="2400" b="0" i="0" u="none" strike="noStrike" baseline="0" dirty="0">
                <a:solidFill>
                  <a:srgbClr val="000000"/>
                </a:solidFill>
                <a:latin typeface="Times New Roman" panose="02020603050405020304" pitchFamily="18" charset="0"/>
              </a:rPr>
              <a:t>To familiarize students with the concept of Organizational Behavior. </a:t>
            </a:r>
            <a:endParaRPr lang="en-US" sz="2400" dirty="0">
              <a:solidFill>
                <a:srgbClr val="000000"/>
              </a:solidFill>
              <a:latin typeface="Times New Roman" panose="02020603050405020304" pitchFamily="18" charset="0"/>
            </a:endParaRPr>
          </a:p>
          <a:p>
            <a:pPr algn="just"/>
            <a:r>
              <a:rPr lang="en-US" sz="2400" b="0" i="0" u="none" strike="noStrike" baseline="0" dirty="0">
                <a:solidFill>
                  <a:srgbClr val="000000"/>
                </a:solidFill>
                <a:latin typeface="Times New Roman" panose="02020603050405020304" pitchFamily="18" charset="0"/>
              </a:rPr>
              <a:t>To enable students to describe how people behave under different conditions and understand why people behave as they do. 	</a:t>
            </a:r>
          </a:p>
          <a:p>
            <a:pPr algn="just"/>
            <a:r>
              <a:rPr lang="en-US" sz="2400" b="0" i="0" u="none" strike="noStrike" baseline="0" dirty="0">
                <a:solidFill>
                  <a:srgbClr val="000000"/>
                </a:solidFill>
                <a:latin typeface="Times New Roman" panose="02020603050405020304" pitchFamily="18" charset="0"/>
              </a:rPr>
              <a:t>To introduce students to the concepts of Team and Organization change.</a:t>
            </a:r>
            <a:endParaRPr lang="en-US" sz="1800" b="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930989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E61EA8-589C-FA12-1A95-719449703FBC}"/>
              </a:ext>
            </a:extLst>
          </p:cNvPr>
          <p:cNvSpPr>
            <a:spLocks noGrp="1"/>
          </p:cNvSpPr>
          <p:nvPr>
            <p:ph type="title"/>
          </p:nvPr>
        </p:nvSpPr>
        <p:spPr/>
        <p:txBody>
          <a:bodyPr/>
          <a:lstStyle/>
          <a:p>
            <a:pPr lvl="0" algn="ctr">
              <a:lnSpc>
                <a:spcPct val="100000"/>
              </a:lnSpc>
              <a:defRPr/>
            </a:pPr>
            <a:r>
              <a:rPr lang="en-US" sz="3600" b="1" dirty="0">
                <a:latin typeface="Times New Roman" pitchFamily="18" charset="0"/>
                <a:cs typeface="Times New Roman" pitchFamily="18" charset="0"/>
              </a:rPr>
              <a:t>Brief Introduction of Subject: Video</a:t>
            </a:r>
            <a:endParaRPr lang="en-US" sz="3600" b="1" dirty="0">
              <a:solidFill>
                <a:schemeClr val="dk1"/>
              </a:solidFill>
              <a:latin typeface="Times New Roman" pitchFamily="18" charset="0"/>
              <a:cs typeface="Times New Roman" pitchFamily="18" charset="0"/>
            </a:endParaRPr>
          </a:p>
        </p:txBody>
      </p:sp>
      <p:sp>
        <p:nvSpPr>
          <p:cNvPr id="2" name="Content Placeholder 2">
            <a:extLst>
              <a:ext uri="{FF2B5EF4-FFF2-40B4-BE49-F238E27FC236}">
                <a16:creationId xmlns:a16="http://schemas.microsoft.com/office/drawing/2014/main" id="{788F4317-52DE-F8BB-F5FE-3600349037E0}"/>
              </a:ext>
            </a:extLst>
          </p:cNvPr>
          <p:cNvSpPr>
            <a:spLocks noGrp="1"/>
          </p:cNvSpPr>
          <p:nvPr>
            <p:ph idx="1"/>
          </p:nvPr>
        </p:nvSpPr>
        <p:spPr>
          <a:xfrm>
            <a:off x="217488" y="1176338"/>
            <a:ext cx="11728450" cy="5000625"/>
          </a:xfrm>
        </p:spPr>
        <p:txBody>
          <a:bodyPr>
            <a:noAutofit/>
          </a:bodyPr>
          <a:lstStyle/>
          <a:p>
            <a:pPr algn="just"/>
            <a:r>
              <a:rPr lang="en-US" sz="2400"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(2) 1. Introduction To Organizational Behaviour, Nature &amp; Scope Of OB |OB| - YouTube</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(2) 2. Environmental and Organizational Context in OB, Types Of Environment |OB| - YouTube</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(2) 12 "SHOCKING" PSYCHOLOGICAL FACTS - THAT WILL MAKE YOUR LIFE EASY | </a:t>
            </a:r>
            <a:r>
              <a:rPr lang="en-US" sz="2400" dirty="0" err="1">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Rewirs</a:t>
            </a:r>
            <a:r>
              <a:rPr lang="en-US" sz="2400"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 YouTube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5223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AD2255-C64D-6DA8-69D6-B8F6F85C4A67}"/>
              </a:ext>
            </a:extLst>
          </p:cNvPr>
          <p:cNvSpPr>
            <a:spLocks noGrp="1"/>
          </p:cNvSpPr>
          <p:nvPr>
            <p:ph type="title"/>
          </p:nvPr>
        </p:nvSpPr>
        <p:spPr>
          <a:xfrm>
            <a:off x="1984828" y="126609"/>
            <a:ext cx="10160001" cy="730415"/>
          </a:xfrm>
        </p:spPr>
        <p:txBody>
          <a:bodyPr>
            <a:noAutofit/>
          </a:bodyPr>
          <a:lstStyle/>
          <a:p>
            <a:pPr algn="ctr"/>
            <a:r>
              <a:rPr lang="en-US" sz="3600" b="1" kern="0" dirty="0">
                <a:solidFill>
                  <a:srgbClr val="C00000"/>
                </a:solidFill>
                <a:latin typeface="Times New Roman" panose="02020603050405020304" pitchFamily="18" charset="0"/>
                <a:cs typeface="Times New Roman" panose="02020603050405020304" pitchFamily="18" charset="0"/>
              </a:rPr>
              <a:t>UNIT CONTENT</a:t>
            </a:r>
            <a:endParaRPr lang="en-US" sz="3600" b="1" dirty="0">
              <a:solidFill>
                <a:srgbClr val="C00000"/>
              </a:solidFill>
            </a:endParaRPr>
          </a:p>
        </p:txBody>
      </p:sp>
      <p:sp>
        <p:nvSpPr>
          <p:cNvPr id="4" name="Content Placeholder 2">
            <a:extLst>
              <a:ext uri="{FF2B5EF4-FFF2-40B4-BE49-F238E27FC236}">
                <a16:creationId xmlns:a16="http://schemas.microsoft.com/office/drawing/2014/main" id="{5F4E7CFB-C152-5138-7FFF-9EC9EE5FCB99}"/>
              </a:ext>
            </a:extLst>
          </p:cNvPr>
          <p:cNvSpPr txBox="1">
            <a:spLocks/>
          </p:cNvSpPr>
          <p:nvPr/>
        </p:nvSpPr>
        <p:spPr>
          <a:xfrm>
            <a:off x="609600" y="1219200"/>
            <a:ext cx="10858500" cy="27432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dirty="0">
                <a:solidFill>
                  <a:srgbClr val="000000"/>
                </a:solidFill>
                <a:latin typeface="Times New Roman" panose="02020603050405020304" pitchFamily="18" charset="0"/>
              </a:rPr>
              <a:t>Groups Vs. Teams – Nature of groups – dynamics of informal groups – dysfunctions of groups and teams, teams in modern work place. Power and Politics: Meaning and types of power – empowerment</a:t>
            </a:r>
          </a:p>
        </p:txBody>
      </p:sp>
    </p:spTree>
    <p:extLst>
      <p:ext uri="{BB962C8B-B14F-4D97-AF65-F5344CB8AC3E}">
        <p14:creationId xmlns:p14="http://schemas.microsoft.com/office/powerpoint/2010/main" val="1429641083"/>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1F3AC4-F8C2-B1D3-6AFB-FCC44435C7F1}"/>
              </a:ext>
            </a:extLst>
          </p:cNvPr>
          <p:cNvSpPr>
            <a:spLocks noGrp="1"/>
          </p:cNvSpPr>
          <p:nvPr>
            <p:ph type="title"/>
          </p:nvPr>
        </p:nvSpPr>
        <p:spPr/>
        <p:txBody>
          <a:bodyPr/>
          <a:lstStyle/>
          <a:p>
            <a:pPr algn="ctr"/>
            <a:r>
              <a:rPr lang="en-US" dirty="0"/>
              <a:t>U</a:t>
            </a:r>
            <a:r>
              <a:rPr lang="en-IN" dirty="0"/>
              <a:t>NIT OBJECTIVES</a:t>
            </a:r>
          </a:p>
        </p:txBody>
      </p:sp>
      <p:sp>
        <p:nvSpPr>
          <p:cNvPr id="6" name="Content Placeholder 1">
            <a:extLst>
              <a:ext uri="{FF2B5EF4-FFF2-40B4-BE49-F238E27FC236}">
                <a16:creationId xmlns:a16="http://schemas.microsoft.com/office/drawing/2014/main" id="{7125557D-DCD7-9443-662F-5D76D4951637}"/>
              </a:ext>
            </a:extLst>
          </p:cNvPr>
          <p:cNvSpPr>
            <a:spLocks noGrp="1"/>
          </p:cNvSpPr>
          <p:nvPr>
            <p:ph idx="1"/>
          </p:nvPr>
        </p:nvSpPr>
        <p:spPr>
          <a:xfrm>
            <a:off x="217488" y="1176338"/>
            <a:ext cx="11728450" cy="5000625"/>
          </a:xfrm>
        </p:spPr>
        <p:txBody>
          <a:bodyPr/>
          <a:lstStyle/>
          <a:p>
            <a:pPr marL="457200" indent="-457200" algn="just">
              <a:buNone/>
            </a:pPr>
            <a:r>
              <a:rPr lang="en-US" dirty="0">
                <a:latin typeface="Times New Roman" pitchFamily="18" charset="0"/>
                <a:cs typeface="Times New Roman" pitchFamily="18" charset="0"/>
              </a:rPr>
              <a:t>Objectives of this unit is:</a:t>
            </a:r>
          </a:p>
          <a:p>
            <a:pPr marL="457200" indent="-457200" algn="just"/>
            <a:r>
              <a:rPr lang="en-US" dirty="0">
                <a:latin typeface="Times New Roman" pitchFamily="18" charset="0"/>
                <a:cs typeface="Times New Roman" pitchFamily="18" charset="0"/>
              </a:rPr>
              <a:t>To Explore the concept of Group Dynamics.</a:t>
            </a:r>
          </a:p>
          <a:p>
            <a:pPr marL="0" indent="0">
              <a:buNone/>
            </a:pPr>
            <a:endParaRPr lang="en-IN" dirty="0"/>
          </a:p>
        </p:txBody>
      </p:sp>
    </p:spTree>
    <p:extLst>
      <p:ext uri="{BB962C8B-B14F-4D97-AF65-F5344CB8AC3E}">
        <p14:creationId xmlns:p14="http://schemas.microsoft.com/office/powerpoint/2010/main" val="2486778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F76981-EAD3-6198-78FC-36FFACA5F5ED}"/>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Student should have general understanding of general management and its terms.</a:t>
            </a:r>
          </a:p>
        </p:txBody>
      </p:sp>
      <p:sp>
        <p:nvSpPr>
          <p:cNvPr id="3" name="Title 2">
            <a:extLst>
              <a:ext uri="{FF2B5EF4-FFF2-40B4-BE49-F238E27FC236}">
                <a16:creationId xmlns:a16="http://schemas.microsoft.com/office/drawing/2014/main" id="{74719948-7A5F-0628-3BAB-AD00C833BFAC}"/>
              </a:ext>
            </a:extLst>
          </p:cNvPr>
          <p:cNvSpPr>
            <a:spLocks noGrp="1"/>
          </p:cNvSpPr>
          <p:nvPr>
            <p:ph type="title"/>
          </p:nvPr>
        </p:nvSpPr>
        <p:spPr/>
        <p:txBody>
          <a:bodyPr>
            <a:normAutofit fontScale="90000"/>
          </a:bodyPr>
          <a:lstStyle/>
          <a:p>
            <a:pPr algn="ctr"/>
            <a:br>
              <a:rPr lang="en-US" b="1" dirty="0">
                <a:solidFill>
                  <a:schemeClr val="dk1"/>
                </a:solidFill>
                <a:latin typeface="Times New Roman" panose="02020603050405020304" pitchFamily="18" charset="0"/>
                <a:cs typeface="Times New Roman" panose="02020603050405020304" pitchFamily="18" charset="0"/>
              </a:rPr>
            </a:br>
            <a:r>
              <a:rPr lang="en-US" b="1" dirty="0">
                <a:solidFill>
                  <a:schemeClr val="dk1"/>
                </a:solidFill>
                <a:latin typeface="Times New Roman" panose="02020603050405020304" pitchFamily="18" charset="0"/>
                <a:cs typeface="Times New Roman" panose="02020603050405020304" pitchFamily="18" charset="0"/>
              </a:rPr>
              <a:t>Prerequisites</a:t>
            </a:r>
            <a:br>
              <a:rPr lang="en-US" b="1" dirty="0">
                <a:solidFill>
                  <a:schemeClr val="dk1"/>
                </a:solidFill>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2635959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9A15E6-C565-E864-B5BE-57175252DBFE}"/>
              </a:ext>
            </a:extLst>
          </p:cNvPr>
          <p:cNvSpPr>
            <a:spLocks noGrp="1"/>
          </p:cNvSpPr>
          <p:nvPr>
            <p:ph type="title"/>
          </p:nvPr>
        </p:nvSpPr>
        <p:spPr/>
        <p:txBody>
          <a:bodyPr/>
          <a:lstStyle/>
          <a:p>
            <a:r>
              <a:rPr lang="en-IN" dirty="0"/>
              <a:t>         CONCEPT OF GOALS</a:t>
            </a:r>
          </a:p>
        </p:txBody>
      </p:sp>
      <p:sp>
        <p:nvSpPr>
          <p:cNvPr id="5" name="Content Placeholder 2">
            <a:extLst>
              <a:ext uri="{FF2B5EF4-FFF2-40B4-BE49-F238E27FC236}">
                <a16:creationId xmlns:a16="http://schemas.microsoft.com/office/drawing/2014/main" id="{BC12A01D-C054-5928-BE9A-0622D557146A}"/>
              </a:ext>
            </a:extLst>
          </p:cNvPr>
          <p:cNvSpPr>
            <a:spLocks noGrp="1"/>
          </p:cNvSpPr>
          <p:nvPr>
            <p:ph idx="1"/>
          </p:nvPr>
        </p:nvSpPr>
        <p:spPr>
          <a:xfrm>
            <a:off x="217488" y="1185669"/>
            <a:ext cx="11728450" cy="5000625"/>
          </a:xfrm>
        </p:spPr>
        <p:txBody>
          <a:bodyPr>
            <a:normAutofit/>
          </a:bodyPr>
          <a:lstStyle/>
          <a:p>
            <a:pPr algn="just">
              <a:lnSpc>
                <a:spcPct val="150000"/>
              </a:lnSpc>
            </a:pPr>
            <a:r>
              <a:rPr lang="en-IN" sz="3100" dirty="0">
                <a:latin typeface="Times New Roman" panose="02020603050405020304" pitchFamily="18" charset="0"/>
                <a:cs typeface="Times New Roman" panose="02020603050405020304" pitchFamily="18" charset="0"/>
              </a:rPr>
              <a:t>A group is several people who work together. They have individual goals that they work toward collectively. </a:t>
            </a:r>
          </a:p>
          <a:p>
            <a:pPr algn="just">
              <a:lnSpc>
                <a:spcPct val="150000"/>
              </a:lnSpc>
            </a:pPr>
            <a:r>
              <a:rPr lang="en-IN" sz="3100" dirty="0">
                <a:latin typeface="Times New Roman" panose="02020603050405020304" pitchFamily="18" charset="0"/>
                <a:cs typeface="Times New Roman" panose="02020603050405020304" pitchFamily="18" charset="0"/>
              </a:rPr>
              <a:t>Groups work toward separate goals, they have a related interest or identity that brings them together.</a:t>
            </a:r>
          </a:p>
        </p:txBody>
      </p:sp>
    </p:spTree>
    <p:extLst>
      <p:ext uri="{BB962C8B-B14F-4D97-AF65-F5344CB8AC3E}">
        <p14:creationId xmlns:p14="http://schemas.microsoft.com/office/powerpoint/2010/main" val="472844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4A82916-00B7-AB35-0B06-7D23AA777FA3}"/>
              </a:ext>
            </a:extLst>
          </p:cNvPr>
          <p:cNvSpPr>
            <a:spLocks noGrp="1"/>
          </p:cNvSpPr>
          <p:nvPr>
            <p:ph type="title"/>
          </p:nvPr>
        </p:nvSpPr>
        <p:spPr>
          <a:xfrm>
            <a:off x="2091959" y="219787"/>
            <a:ext cx="10160001" cy="634602"/>
          </a:xfrm>
        </p:spPr>
        <p:txBody>
          <a:bodyPr>
            <a:noAutofit/>
          </a:bodyPr>
          <a:lstStyle/>
          <a:p>
            <a:pPr algn="ctr"/>
            <a:br>
              <a:rPr lang="en-US" sz="3600" b="1" kern="0" dirty="0">
                <a:solidFill>
                  <a:srgbClr val="C00000"/>
                </a:solidFill>
                <a:latin typeface="Times New Roman" panose="02020603050405020304" pitchFamily="18" charset="0"/>
                <a:cs typeface="Times New Roman" panose="02020603050405020304" pitchFamily="18" charset="0"/>
              </a:rPr>
            </a:br>
            <a:r>
              <a:rPr lang="en-US" sz="3600" b="1" kern="0" dirty="0">
                <a:solidFill>
                  <a:srgbClr val="C00000"/>
                </a:solidFill>
                <a:latin typeface="Times New Roman" panose="02020603050405020304" pitchFamily="18" charset="0"/>
                <a:cs typeface="Times New Roman" panose="02020603050405020304" pitchFamily="18" charset="0"/>
              </a:rPr>
              <a:t>TYPES OF GROUPS</a:t>
            </a:r>
            <a:br>
              <a:rPr lang="en-US" sz="3600" b="1" dirty="0">
                <a:latin typeface="Times New Roman" panose="02020603050405020304" pitchFamily="18" charset="0"/>
                <a:cs typeface="Times New Roman" panose="02020603050405020304" pitchFamily="18" charset="0"/>
              </a:rPr>
            </a:br>
            <a:endParaRPr lang="en-US" sz="3600" b="1" dirty="0">
              <a:solidFill>
                <a:srgbClr val="C00000"/>
              </a:solidFill>
            </a:endParaRPr>
          </a:p>
        </p:txBody>
      </p:sp>
      <p:sp>
        <p:nvSpPr>
          <p:cNvPr id="7" name="Content Placeholder 2">
            <a:extLst>
              <a:ext uri="{FF2B5EF4-FFF2-40B4-BE49-F238E27FC236}">
                <a16:creationId xmlns:a16="http://schemas.microsoft.com/office/drawing/2014/main" id="{320DDA1A-828D-64CD-D1F0-0DBDE467C962}"/>
              </a:ext>
            </a:extLst>
          </p:cNvPr>
          <p:cNvSpPr>
            <a:spLocks noGrp="1"/>
          </p:cNvSpPr>
          <p:nvPr>
            <p:ph idx="1"/>
          </p:nvPr>
        </p:nvSpPr>
        <p:spPr>
          <a:xfrm>
            <a:off x="217488" y="1176338"/>
            <a:ext cx="11728450" cy="5000625"/>
          </a:xfrm>
        </p:spPr>
        <p:txBody>
          <a:bodyPr>
            <a:normAutofit/>
          </a:bodyPr>
          <a:lstStyle/>
          <a:p>
            <a:pPr algn="just">
              <a:lnSpc>
                <a:spcPct val="150000"/>
              </a:lnSpc>
            </a:pPr>
            <a:r>
              <a:rPr lang="en-IN" sz="3100" dirty="0">
                <a:latin typeface="Times New Roman" panose="02020603050405020304" pitchFamily="18" charset="0"/>
                <a:cs typeface="Times New Roman" panose="02020603050405020304" pitchFamily="18" charset="0"/>
              </a:rPr>
              <a:t>There are two types of groups: informal groups and formal groups. </a:t>
            </a:r>
          </a:p>
          <a:p>
            <a:pPr algn="just">
              <a:lnSpc>
                <a:spcPct val="150000"/>
              </a:lnSpc>
            </a:pPr>
            <a:r>
              <a:rPr lang="en-IN" sz="3100" dirty="0">
                <a:latin typeface="Times New Roman" panose="02020603050405020304" pitchFamily="18" charset="0"/>
                <a:cs typeface="Times New Roman" panose="02020603050405020304" pitchFamily="18" charset="0"/>
              </a:rPr>
              <a:t>Informal groups are formed naturally around common interests, identities, or social goals. </a:t>
            </a:r>
          </a:p>
          <a:p>
            <a:pPr algn="just">
              <a:lnSpc>
                <a:spcPct val="150000"/>
              </a:lnSpc>
            </a:pPr>
            <a:r>
              <a:rPr lang="en-IN" sz="3100" dirty="0">
                <a:latin typeface="Times New Roman" panose="02020603050405020304" pitchFamily="18" charset="0"/>
                <a:cs typeface="Times New Roman" panose="02020603050405020304" pitchFamily="18" charset="0"/>
              </a:rPr>
              <a:t>Formal groups are created by company leaders to perform a specific task for an organization.</a:t>
            </a:r>
          </a:p>
        </p:txBody>
      </p:sp>
    </p:spTree>
    <p:extLst>
      <p:ext uri="{BB962C8B-B14F-4D97-AF65-F5344CB8AC3E}">
        <p14:creationId xmlns:p14="http://schemas.microsoft.com/office/powerpoint/2010/main" val="1741521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7CD14AF-F45E-0166-3502-9F30C09FCFBD}"/>
              </a:ext>
            </a:extLst>
          </p:cNvPr>
          <p:cNvSpPr>
            <a:spLocks noGrp="1"/>
          </p:cNvSpPr>
          <p:nvPr>
            <p:ph type="title"/>
          </p:nvPr>
        </p:nvSpPr>
        <p:spPr/>
        <p:txBody>
          <a:bodyPr>
            <a:normAutofit fontScale="90000"/>
          </a:bodyPr>
          <a:lstStyle/>
          <a:p>
            <a:pPr algn="ct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Types of Groups </a:t>
            </a:r>
            <a:br>
              <a:rPr lang="en-US" b="1" dirty="0">
                <a:latin typeface="Times New Roman" panose="02020603050405020304" pitchFamily="18" charset="0"/>
                <a:cs typeface="Times New Roman" panose="02020603050405020304" pitchFamily="18" charset="0"/>
              </a:rPr>
            </a:br>
            <a:endParaRPr lang="en-IN" dirty="0"/>
          </a:p>
        </p:txBody>
      </p:sp>
      <p:pic>
        <p:nvPicPr>
          <p:cNvPr id="6" name="Content Placeholder 5" descr="Group Dynamics">
            <a:extLst>
              <a:ext uri="{FF2B5EF4-FFF2-40B4-BE49-F238E27FC236}">
                <a16:creationId xmlns:a16="http://schemas.microsoft.com/office/drawing/2014/main" id="{BB0A887E-96D1-8CCD-53C5-9A2439A37F5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b="11873"/>
          <a:stretch/>
        </p:blipFill>
        <p:spPr bwMode="auto">
          <a:xfrm>
            <a:off x="1473607" y="1968759"/>
            <a:ext cx="9247266" cy="3862874"/>
          </a:xfrm>
          <a:prstGeom prst="rect">
            <a:avLst/>
          </a:prstGeom>
          <a:noFill/>
        </p:spPr>
      </p:pic>
    </p:spTree>
    <p:extLst>
      <p:ext uri="{BB962C8B-B14F-4D97-AF65-F5344CB8AC3E}">
        <p14:creationId xmlns:p14="http://schemas.microsoft.com/office/powerpoint/2010/main" val="14535224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EBC7B3-995A-08F0-6D62-D6A47FC6E357}"/>
              </a:ext>
            </a:extLst>
          </p:cNvPr>
          <p:cNvSpPr>
            <a:spLocks noGrp="1"/>
          </p:cNvSpPr>
          <p:nvPr>
            <p:ph type="title"/>
          </p:nvPr>
        </p:nvSpPr>
        <p:spPr/>
        <p:txBody>
          <a:bodyPr/>
          <a:lstStyle/>
          <a:p>
            <a:pPr algn="ctr"/>
            <a:r>
              <a:rPr lang="en-IN" dirty="0"/>
              <a:t> GROUP ADVANTAGES</a:t>
            </a:r>
          </a:p>
        </p:txBody>
      </p:sp>
      <p:sp>
        <p:nvSpPr>
          <p:cNvPr id="9" name="Content Placeholder 2">
            <a:extLst>
              <a:ext uri="{FF2B5EF4-FFF2-40B4-BE49-F238E27FC236}">
                <a16:creationId xmlns:a16="http://schemas.microsoft.com/office/drawing/2014/main" id="{71113888-9795-B754-DB02-2AA462FD660C}"/>
              </a:ext>
            </a:extLst>
          </p:cNvPr>
          <p:cNvSpPr>
            <a:spLocks noGrp="1"/>
          </p:cNvSpPr>
          <p:nvPr>
            <p:ph idx="1"/>
          </p:nvPr>
        </p:nvSpPr>
        <p:spPr>
          <a:xfrm>
            <a:off x="217488" y="1176338"/>
            <a:ext cx="11728450" cy="5000625"/>
          </a:xfrm>
        </p:spPr>
        <p:txBody>
          <a:bodyPr>
            <a:normAutofit/>
          </a:bodyPr>
          <a:lstStyle/>
          <a:p>
            <a:pPr marL="0" indent="0" algn="just">
              <a:lnSpc>
                <a:spcPct val="150000"/>
              </a:lnSpc>
              <a:buNone/>
            </a:pPr>
            <a:r>
              <a:rPr lang="en-IN" sz="2200" dirty="0">
                <a:latin typeface="Times New Roman" panose="02020603050405020304" pitchFamily="18" charset="0"/>
                <a:cs typeface="Times New Roman" panose="02020603050405020304" pitchFamily="18" charset="0"/>
              </a:rPr>
              <a:t>There is some debate about whether groups or teams are better. The reality is, both have advantages and disadvantages, and it is up to you to decide which one is best for your needs. Here are some advantages of groups:</a:t>
            </a:r>
          </a:p>
          <a:p>
            <a:pPr algn="just">
              <a:lnSpc>
                <a:spcPct val="150000"/>
              </a:lnSpc>
            </a:pPr>
            <a:r>
              <a:rPr lang="en-IN" sz="2200" dirty="0">
                <a:latin typeface="Times New Roman" panose="02020603050405020304" pitchFamily="18" charset="0"/>
                <a:cs typeface="Times New Roman" panose="02020603050405020304" pitchFamily="18" charset="0"/>
              </a:rPr>
              <a:t>Groups build temporary relationships</a:t>
            </a:r>
          </a:p>
          <a:p>
            <a:pPr algn="just">
              <a:lnSpc>
                <a:spcPct val="150000"/>
              </a:lnSpc>
            </a:pPr>
            <a:r>
              <a:rPr lang="en-IN" sz="2200" dirty="0">
                <a:latin typeface="Times New Roman" panose="02020603050405020304" pitchFamily="18" charset="0"/>
                <a:cs typeface="Times New Roman" panose="02020603050405020304" pitchFamily="18" charset="0"/>
              </a:rPr>
              <a:t>Groups are great for efficiency</a:t>
            </a:r>
          </a:p>
          <a:p>
            <a:pPr algn="just">
              <a:lnSpc>
                <a:spcPct val="150000"/>
              </a:lnSpc>
            </a:pPr>
            <a:r>
              <a:rPr lang="en-IN" sz="2200" dirty="0">
                <a:latin typeface="Times New Roman" panose="02020603050405020304" pitchFamily="18" charset="0"/>
                <a:cs typeface="Times New Roman" panose="02020603050405020304" pitchFamily="18" charset="0"/>
              </a:rPr>
              <a:t>Groups focus on individual growth</a:t>
            </a:r>
          </a:p>
          <a:p>
            <a:pPr algn="just">
              <a:lnSpc>
                <a:spcPct val="150000"/>
              </a:lnSpc>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8744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1C2D2D-221F-CC69-A485-318A7A47BE9F}"/>
              </a:ext>
            </a:extLst>
          </p:cNvPr>
          <p:cNvSpPr>
            <a:spLocks noGrp="1"/>
          </p:cNvSpPr>
          <p:nvPr>
            <p:ph type="title"/>
          </p:nvPr>
        </p:nvSpPr>
        <p:spPr/>
        <p:txBody>
          <a:bodyPr/>
          <a:lstStyle/>
          <a:p>
            <a:r>
              <a:rPr lang="en-IN" dirty="0"/>
              <a:t> GROUP DRAWBACKS </a:t>
            </a:r>
          </a:p>
        </p:txBody>
      </p:sp>
      <p:sp>
        <p:nvSpPr>
          <p:cNvPr id="9" name="Content Placeholder 2">
            <a:extLst>
              <a:ext uri="{FF2B5EF4-FFF2-40B4-BE49-F238E27FC236}">
                <a16:creationId xmlns:a16="http://schemas.microsoft.com/office/drawing/2014/main" id="{22333AD1-E988-E1E6-C88D-C2DF8488C5F3}"/>
              </a:ext>
            </a:extLst>
          </p:cNvPr>
          <p:cNvSpPr>
            <a:spLocks noGrp="1"/>
          </p:cNvSpPr>
          <p:nvPr>
            <p:ph idx="1"/>
          </p:nvPr>
        </p:nvSpPr>
        <p:spPr>
          <a:xfrm>
            <a:off x="217488" y="1176338"/>
            <a:ext cx="11728450" cy="5000625"/>
          </a:xfrm>
        </p:spPr>
        <p:txBody>
          <a:bodyPr>
            <a:normAutofit/>
          </a:bodyPr>
          <a:lstStyle/>
          <a:p>
            <a:pPr marL="0" indent="0" algn="just">
              <a:lnSpc>
                <a:spcPct val="150000"/>
              </a:lnSpc>
              <a:spcAft>
                <a:spcPts val="800"/>
              </a:spcAft>
              <a:buSzPts val="1000"/>
              <a:buNone/>
              <a:tabLst>
                <a:tab pos="318770" algn="l"/>
              </a:tabLst>
            </a:pPr>
            <a:r>
              <a:rPr lang="en-IN" sz="2200" dirty="0">
                <a:latin typeface="Times New Roman" panose="02020603050405020304" pitchFamily="18" charset="0"/>
                <a:cs typeface="Times New Roman" panose="02020603050405020304" pitchFamily="18" charset="0"/>
              </a:rPr>
              <a:t>While groups support individual work and career growth, they do not share all the advantages of working in a team setting. These disadvantages include not connecting work to goals and the lack of team bonding. </a:t>
            </a:r>
          </a:p>
          <a:p>
            <a:pPr marL="0" indent="0" algn="just">
              <a:lnSpc>
                <a:spcPct val="150000"/>
              </a:lnSpc>
              <a:spcAft>
                <a:spcPts val="800"/>
              </a:spcAft>
              <a:buSzPts val="1000"/>
              <a:buNone/>
              <a:tabLst>
                <a:tab pos="318770" algn="l"/>
              </a:tabLst>
            </a:pPr>
            <a:r>
              <a:rPr lang="en-IN" sz="1800" b="1" dirty="0">
                <a:effectLst/>
                <a:latin typeface="Times New Roman" panose="02020603050405020304" pitchFamily="18" charset="0"/>
                <a:ea typeface="Times New Roman" panose="02020603050405020304" pitchFamily="18" charset="0"/>
              </a:rPr>
              <a:t>Here are some disadvantages of working in a group:</a:t>
            </a:r>
            <a:endParaRPr lang="en-IN" sz="1800" dirty="0">
              <a:effectLst/>
              <a:latin typeface="Times New Roman" panose="02020603050405020304" pitchFamily="18" charset="0"/>
              <a:ea typeface="Times New Roman" panose="02020603050405020304" pitchFamily="18" charset="0"/>
            </a:endParaRPr>
          </a:p>
          <a:p>
            <a:pPr algn="just">
              <a:lnSpc>
                <a:spcPct val="150000"/>
              </a:lnSpc>
              <a:spcAft>
                <a:spcPts val="800"/>
              </a:spcAft>
              <a:buSzPts val="1000"/>
              <a:tabLst>
                <a:tab pos="318770" algn="l"/>
              </a:tabLst>
            </a:pPr>
            <a:r>
              <a:rPr lang="en-IN" sz="2200" dirty="0">
                <a:latin typeface="Times New Roman" panose="02020603050405020304" pitchFamily="18" charset="0"/>
                <a:cs typeface="Times New Roman" panose="02020603050405020304" pitchFamily="18" charset="0"/>
              </a:rPr>
              <a:t>Groups can alienate individuals</a:t>
            </a:r>
          </a:p>
          <a:p>
            <a:pPr algn="just">
              <a:lnSpc>
                <a:spcPct val="150000"/>
              </a:lnSpc>
              <a:spcAft>
                <a:spcPts val="800"/>
              </a:spcAft>
              <a:buSzPts val="1000"/>
              <a:tabLst>
                <a:tab pos="318770" algn="l"/>
              </a:tabLst>
            </a:pPr>
            <a:r>
              <a:rPr lang="en-IN" sz="2200" dirty="0">
                <a:latin typeface="Times New Roman" panose="02020603050405020304" pitchFamily="18" charset="0"/>
                <a:cs typeface="Times New Roman" panose="02020603050405020304" pitchFamily="18" charset="0"/>
              </a:rPr>
              <a:t>Groups do not support organizational goals</a:t>
            </a:r>
          </a:p>
          <a:p>
            <a:pPr marL="342900" lvl="0" indent="-342900" algn="just">
              <a:lnSpc>
                <a:spcPct val="150000"/>
              </a:lnSpc>
              <a:spcAft>
                <a:spcPts val="800"/>
              </a:spcAft>
              <a:buSzPts val="1000"/>
              <a:buFont typeface="Symbol" panose="05050102010706020507" pitchFamily="18" charset="2"/>
              <a:buChar char=""/>
              <a:tabLst>
                <a:tab pos="318770" algn="l"/>
              </a:tabLst>
            </a:pPr>
            <a:endParaRPr lang="en-IN" sz="2200" dirty="0">
              <a:latin typeface="Times New Roman" panose="02020603050405020304" pitchFamily="18" charset="0"/>
              <a:cs typeface="Times New Roman" panose="02020603050405020304" pitchFamily="18" charset="0"/>
            </a:endParaRPr>
          </a:p>
          <a:p>
            <a:pPr algn="just">
              <a:lnSpc>
                <a:spcPct val="150000"/>
              </a:lnSpc>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4592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72475E-AC2F-8048-4979-6877816C7E0C}"/>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Group Advantages &amp; Drawbacks</a:t>
            </a:r>
            <a:br>
              <a:rPr lang="en-IN" b="1" dirty="0">
                <a:latin typeface="Times New Roman" panose="02020603050405020304" pitchFamily="18" charset="0"/>
                <a:cs typeface="Times New Roman" panose="02020603050405020304" pitchFamily="18" charset="0"/>
              </a:rPr>
            </a:br>
            <a:endParaRPr lang="en-IN" dirty="0"/>
          </a:p>
        </p:txBody>
      </p:sp>
      <p:pic>
        <p:nvPicPr>
          <p:cNvPr id="6" name="Content Placeholder 5">
            <a:extLst>
              <a:ext uri="{FF2B5EF4-FFF2-40B4-BE49-F238E27FC236}">
                <a16:creationId xmlns:a16="http://schemas.microsoft.com/office/drawing/2014/main" id="{32F91372-F4FA-0BE1-0166-1C75FE3533B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71805" y="1073020"/>
            <a:ext cx="10440954" cy="4879911"/>
          </a:xfrm>
          <a:prstGeom prst="rect">
            <a:avLst/>
          </a:prstGeom>
          <a:noFill/>
        </p:spPr>
      </p:pic>
    </p:spTree>
    <p:extLst>
      <p:ext uri="{BB962C8B-B14F-4D97-AF65-F5344CB8AC3E}">
        <p14:creationId xmlns:p14="http://schemas.microsoft.com/office/powerpoint/2010/main" val="2464474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223F125-ABD6-E47D-CBE3-BCE4C5FA3EE9}"/>
              </a:ext>
            </a:extLst>
          </p:cNvPr>
          <p:cNvSpPr>
            <a:spLocks noGrp="1"/>
          </p:cNvSpPr>
          <p:nvPr>
            <p:ph type="title"/>
          </p:nvPr>
        </p:nvSpPr>
        <p:spPr/>
        <p:txBody>
          <a:bodyPr/>
          <a:lstStyle/>
          <a:p>
            <a:pPr lvl="0" algn="ctr">
              <a:defRPr/>
            </a:pPr>
            <a:r>
              <a:rPr lang="en-IN" b="1" dirty="0">
                <a:latin typeface="Times New Roman" panose="02020603050405020304" pitchFamily="18" charset="0"/>
                <a:cs typeface="Times New Roman" panose="02020603050405020304" pitchFamily="18" charset="0"/>
              </a:rPr>
              <a:t>Concept of Team</a:t>
            </a:r>
            <a:endParaRPr lang="en-US" b="1"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898A2005-55BB-3CB0-36B4-98F23C729B9C}"/>
              </a:ext>
            </a:extLst>
          </p:cNvPr>
          <p:cNvSpPr>
            <a:spLocks noGrp="1"/>
          </p:cNvSpPr>
          <p:nvPr>
            <p:ph idx="1"/>
          </p:nvPr>
        </p:nvSpPr>
        <p:spPr>
          <a:xfrm>
            <a:off x="217488" y="1176338"/>
            <a:ext cx="11728450" cy="5000625"/>
          </a:xfrm>
        </p:spPr>
        <p:txBody>
          <a:bodyPr>
            <a:normAutofit/>
          </a:bodyPr>
          <a:lstStyle/>
          <a:p>
            <a:pPr algn="just">
              <a:lnSpc>
                <a:spcPct val="150000"/>
              </a:lnSpc>
            </a:pPr>
            <a:r>
              <a:rPr lang="en-IN" sz="3100" dirty="0">
                <a:latin typeface="Times New Roman" panose="02020603050405020304" pitchFamily="18" charset="0"/>
                <a:cs typeface="Times New Roman" panose="02020603050405020304" pitchFamily="18" charset="0"/>
              </a:rPr>
              <a:t>A team is several people who work together to accomplish a shared purpose or goal. </a:t>
            </a:r>
          </a:p>
          <a:p>
            <a:pPr algn="just">
              <a:lnSpc>
                <a:spcPct val="150000"/>
              </a:lnSpc>
            </a:pPr>
            <a:r>
              <a:rPr lang="en-IN" sz="3100" dirty="0">
                <a:latin typeface="Times New Roman" panose="02020603050405020304" pitchFamily="18" charset="0"/>
                <a:cs typeface="Times New Roman" panose="02020603050405020304" pitchFamily="18" charset="0"/>
              </a:rPr>
              <a:t>Each team is the sum of its parts, which means members of the team rely on one another to accomplish the outcome. </a:t>
            </a:r>
          </a:p>
          <a:p>
            <a:pPr algn="just">
              <a:lnSpc>
                <a:spcPct val="150000"/>
              </a:lnSpc>
            </a:pPr>
            <a:r>
              <a:rPr lang="en-IN" sz="3100" dirty="0">
                <a:latin typeface="Times New Roman" panose="02020603050405020304" pitchFamily="18" charset="0"/>
                <a:cs typeface="Times New Roman" panose="02020603050405020304" pitchFamily="18" charset="0"/>
              </a:rPr>
              <a:t>Teams work together to solve problems, create new products, and other functions such as aligning passions and purpose. </a:t>
            </a:r>
          </a:p>
          <a:p>
            <a:pPr algn="just">
              <a:lnSpc>
                <a:spcPct val="150000"/>
              </a:lnSpc>
            </a:pPr>
            <a:endParaRPr lang="en-IN" sz="3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9235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D7E69C-D695-D68C-7DE7-36F28AD5EB4F}"/>
              </a:ext>
            </a:extLst>
          </p:cNvPr>
          <p:cNvSpPr>
            <a:spLocks noGrp="1"/>
          </p:cNvSpPr>
          <p:nvPr>
            <p:ph type="title"/>
          </p:nvPr>
        </p:nvSpPr>
        <p:spPr>
          <a:xfrm>
            <a:off x="2031999" y="129559"/>
            <a:ext cx="10160001" cy="764041"/>
          </a:xfrm>
        </p:spPr>
        <p:txBody>
          <a:bodyPr>
            <a:normAutofit/>
          </a:bodyPr>
          <a:lstStyle/>
          <a:p>
            <a:pPr algn="ctr"/>
            <a:r>
              <a:rPr lang="en-US" dirty="0"/>
              <a:t>TEAM ADVANTAGES</a:t>
            </a:r>
            <a:endParaRPr lang="en-IN" dirty="0"/>
          </a:p>
        </p:txBody>
      </p:sp>
      <p:sp>
        <p:nvSpPr>
          <p:cNvPr id="4" name="Content Placeholder 2">
            <a:extLst>
              <a:ext uri="{FF2B5EF4-FFF2-40B4-BE49-F238E27FC236}">
                <a16:creationId xmlns:a16="http://schemas.microsoft.com/office/drawing/2014/main" id="{8A31DE3B-DEEF-15F7-319E-B844271A0C34}"/>
              </a:ext>
            </a:extLst>
          </p:cNvPr>
          <p:cNvSpPr>
            <a:spLocks noGrp="1"/>
          </p:cNvSpPr>
          <p:nvPr>
            <p:ph idx="1"/>
          </p:nvPr>
        </p:nvSpPr>
        <p:spPr>
          <a:xfrm>
            <a:off x="217488" y="1176338"/>
            <a:ext cx="11728450" cy="5000625"/>
          </a:xfrm>
        </p:spPr>
        <p:txBody>
          <a:bodyPr>
            <a:normAutofit/>
          </a:bodyPr>
          <a:lstStyle/>
          <a:p>
            <a:pPr marL="0" indent="0" algn="just">
              <a:lnSpc>
                <a:spcPct val="150000"/>
              </a:lnSpc>
              <a:buNone/>
            </a:pPr>
            <a:r>
              <a:rPr lang="en-IN" sz="2200" dirty="0">
                <a:latin typeface="Times New Roman" panose="02020603050405020304" pitchFamily="18" charset="0"/>
                <a:cs typeface="Times New Roman" panose="02020603050405020304" pitchFamily="18" charset="0"/>
              </a:rPr>
              <a:t>Working in a team environment has many advantages that all come back to working toward the same goals and supporting members in a shared experience. Many organizations work in a team setting vs. a group setting as they prefer the advantages of collaboration. These include improved productivity and quicker problem solving. </a:t>
            </a:r>
          </a:p>
          <a:p>
            <a:pPr marL="0" indent="0" algn="just">
              <a:lnSpc>
                <a:spcPct val="150000"/>
              </a:lnSpc>
              <a:buNone/>
            </a:pPr>
            <a:r>
              <a:rPr lang="en-IN" sz="2200" b="1" dirty="0">
                <a:latin typeface="Times New Roman" panose="02020603050405020304" pitchFamily="18" charset="0"/>
                <a:cs typeface="Times New Roman" panose="02020603050405020304" pitchFamily="18" charset="0"/>
              </a:rPr>
              <a:t>Here are some advantages of working in a team: </a:t>
            </a:r>
          </a:p>
          <a:p>
            <a:pPr algn="just">
              <a:lnSpc>
                <a:spcPct val="150000"/>
              </a:lnSpc>
            </a:pPr>
            <a:r>
              <a:rPr lang="en-IN" sz="2200" dirty="0">
                <a:latin typeface="Times New Roman" panose="02020603050405020304" pitchFamily="18" charset="0"/>
                <a:cs typeface="Times New Roman" panose="02020603050405020304" pitchFamily="18" charset="0"/>
              </a:rPr>
              <a:t>Teams build on collaboration and synergy</a:t>
            </a:r>
          </a:p>
          <a:p>
            <a:pPr algn="just">
              <a:lnSpc>
                <a:spcPct val="150000"/>
              </a:lnSpc>
            </a:pPr>
            <a:r>
              <a:rPr lang="en-IN" sz="2200" dirty="0">
                <a:latin typeface="Times New Roman" panose="02020603050405020304" pitchFamily="18" charset="0"/>
                <a:cs typeface="Times New Roman" panose="02020603050405020304" pitchFamily="18" charset="0"/>
              </a:rPr>
              <a:t>Teams encourage group productivity</a:t>
            </a:r>
          </a:p>
          <a:p>
            <a:pPr algn="just">
              <a:lnSpc>
                <a:spcPct val="150000"/>
              </a:lnSpc>
            </a:pPr>
            <a:r>
              <a:rPr lang="en-IN" sz="2200" dirty="0">
                <a:latin typeface="Times New Roman" panose="02020603050405020304" pitchFamily="18" charset="0"/>
                <a:cs typeface="Times New Roman" panose="02020603050405020304" pitchFamily="18" charset="0"/>
              </a:rPr>
              <a:t>Teams are better for problem solving</a:t>
            </a:r>
          </a:p>
        </p:txBody>
      </p:sp>
    </p:spTree>
    <p:extLst>
      <p:ext uri="{BB962C8B-B14F-4D97-AF65-F5344CB8AC3E}">
        <p14:creationId xmlns:p14="http://schemas.microsoft.com/office/powerpoint/2010/main" val="2699886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E70BD3-CE8F-1172-FF25-9FA428FEE74F}"/>
              </a:ext>
            </a:extLst>
          </p:cNvPr>
          <p:cNvSpPr>
            <a:spLocks noGrp="1"/>
          </p:cNvSpPr>
          <p:nvPr>
            <p:ph type="title"/>
          </p:nvPr>
        </p:nvSpPr>
        <p:spPr/>
        <p:txBody>
          <a:bodyPr>
            <a:normAutofit/>
          </a:bodyPr>
          <a:lstStyle/>
          <a:p>
            <a:r>
              <a:rPr lang="en-IN" dirty="0"/>
              <a:t>TEAM DRAWBACKS</a:t>
            </a:r>
          </a:p>
        </p:txBody>
      </p:sp>
      <p:sp>
        <p:nvSpPr>
          <p:cNvPr id="7" name="Content Placeholder 2">
            <a:extLst>
              <a:ext uri="{FF2B5EF4-FFF2-40B4-BE49-F238E27FC236}">
                <a16:creationId xmlns:a16="http://schemas.microsoft.com/office/drawing/2014/main" id="{3A25AA79-AC7D-E50E-F8B8-49E7D1F60CBB}"/>
              </a:ext>
            </a:extLst>
          </p:cNvPr>
          <p:cNvSpPr>
            <a:spLocks noGrp="1"/>
          </p:cNvSpPr>
          <p:nvPr>
            <p:ph idx="1"/>
          </p:nvPr>
        </p:nvSpPr>
        <p:spPr>
          <a:xfrm>
            <a:off x="495300" y="990600"/>
            <a:ext cx="10972022" cy="4281297"/>
          </a:xfrm>
        </p:spPr>
        <p:txBody>
          <a:bodyPr>
            <a:normAutofit/>
          </a:bodyPr>
          <a:lstStyle/>
          <a:p>
            <a:pPr marL="0" marR="36195" indent="0" algn="just">
              <a:lnSpc>
                <a:spcPct val="150000"/>
              </a:lnSpc>
              <a:spcBef>
                <a:spcPts val="500"/>
              </a:spcBef>
              <a:spcAft>
                <a:spcPts val="500"/>
              </a:spcAft>
              <a:buNone/>
            </a:pPr>
            <a:r>
              <a:rPr lang="en-IN" sz="2200" dirty="0">
                <a:latin typeface="Times New Roman" panose="02020603050405020304" pitchFamily="18" charset="0"/>
                <a:cs typeface="Times New Roman" panose="02020603050405020304" pitchFamily="18" charset="0"/>
              </a:rPr>
              <a:t>While teams have a variety of advantages, they also have some disadvantages. These disadvantages include struggling to support individual growth and efficiency issues. </a:t>
            </a:r>
          </a:p>
          <a:p>
            <a:pPr marL="0" marR="36195" indent="0" algn="just">
              <a:lnSpc>
                <a:spcPct val="150000"/>
              </a:lnSpc>
              <a:spcBef>
                <a:spcPts val="500"/>
              </a:spcBef>
              <a:spcAft>
                <a:spcPts val="500"/>
              </a:spcAft>
              <a:buNone/>
            </a:pPr>
            <a:r>
              <a:rPr lang="en-IN" sz="2200" b="1" dirty="0">
                <a:latin typeface="Times New Roman" panose="02020603050405020304" pitchFamily="18" charset="0"/>
                <a:cs typeface="Times New Roman" panose="02020603050405020304" pitchFamily="18" charset="0"/>
              </a:rPr>
              <a:t>Here are some disadvantages of working in a team:</a:t>
            </a:r>
          </a:p>
          <a:p>
            <a:pPr marR="36195" algn="just">
              <a:lnSpc>
                <a:spcPct val="150000"/>
              </a:lnSpc>
              <a:spcBef>
                <a:spcPts val="500"/>
              </a:spcBef>
              <a:spcAft>
                <a:spcPts val="500"/>
              </a:spcAft>
            </a:pPr>
            <a:r>
              <a:rPr lang="en-IN" sz="2200" dirty="0">
                <a:latin typeface="Times New Roman" panose="02020603050405020304" pitchFamily="18" charset="0"/>
                <a:cs typeface="Times New Roman" panose="02020603050405020304" pitchFamily="18" charset="0"/>
              </a:rPr>
              <a:t>Teams do not always focus on individual growth</a:t>
            </a:r>
          </a:p>
          <a:p>
            <a:pPr marR="36195" algn="just">
              <a:lnSpc>
                <a:spcPct val="150000"/>
              </a:lnSpc>
              <a:spcBef>
                <a:spcPts val="500"/>
              </a:spcBef>
              <a:spcAft>
                <a:spcPts val="500"/>
              </a:spcAft>
            </a:pPr>
            <a:r>
              <a:rPr lang="en-IN" sz="2200" dirty="0">
                <a:latin typeface="Times New Roman" panose="02020603050405020304" pitchFamily="18" charset="0"/>
                <a:cs typeface="Times New Roman" panose="02020603050405020304" pitchFamily="18" charset="0"/>
              </a:rPr>
              <a:t>Teams may struggle with efficiency</a:t>
            </a:r>
          </a:p>
        </p:txBody>
      </p:sp>
    </p:spTree>
    <p:extLst>
      <p:ext uri="{BB962C8B-B14F-4D97-AF65-F5344CB8AC3E}">
        <p14:creationId xmlns:p14="http://schemas.microsoft.com/office/powerpoint/2010/main" val="4100122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776D4E-E875-8295-5C43-9747AF9FB126}"/>
              </a:ext>
            </a:extLst>
          </p:cNvPr>
          <p:cNvSpPr>
            <a:spLocks noGrp="1"/>
          </p:cNvSpPr>
          <p:nvPr>
            <p:ph type="title"/>
          </p:nvPr>
        </p:nvSpPr>
        <p:spPr/>
        <p:txBody>
          <a:bodyPr>
            <a:noAutofit/>
          </a:bodyPr>
          <a:lstStyle/>
          <a:p>
            <a:pPr algn="ctr"/>
            <a:r>
              <a:rPr lang="en-US" sz="3600" b="1" dirty="0"/>
              <a:t>T</a:t>
            </a:r>
            <a:r>
              <a:rPr lang="en-IN" sz="3600" b="1" dirty="0"/>
              <a:t>EAM ADVANTAGES AND DISADVANTAGES</a:t>
            </a:r>
          </a:p>
        </p:txBody>
      </p:sp>
      <p:pic>
        <p:nvPicPr>
          <p:cNvPr id="6" name="Content Placeholder 5">
            <a:extLst>
              <a:ext uri="{FF2B5EF4-FFF2-40B4-BE49-F238E27FC236}">
                <a16:creationId xmlns:a16="http://schemas.microsoft.com/office/drawing/2014/main" id="{4E54A306-4CF3-9232-174A-68D52046579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390261" y="1352940"/>
            <a:ext cx="9414587" cy="4646644"/>
          </a:xfrm>
          <a:prstGeom prst="rect">
            <a:avLst/>
          </a:prstGeom>
          <a:noFill/>
        </p:spPr>
      </p:pic>
    </p:spTree>
    <p:extLst>
      <p:ext uri="{BB962C8B-B14F-4D97-AF65-F5344CB8AC3E}">
        <p14:creationId xmlns:p14="http://schemas.microsoft.com/office/powerpoint/2010/main" val="160365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D8A271-FE49-0D7D-FB01-1C9D06154E0B}"/>
              </a:ext>
            </a:extLst>
          </p:cNvPr>
          <p:cNvSpPr>
            <a:spLocks noGrp="1"/>
          </p:cNvSpPr>
          <p:nvPr>
            <p:ph type="title"/>
          </p:nvPr>
        </p:nvSpPr>
        <p:spPr/>
        <p:txBody>
          <a:bodyPr>
            <a:normAutofit fontScale="90000"/>
          </a:bodyPr>
          <a:lstStyle/>
          <a:p>
            <a:pPr algn="ctr"/>
            <a:r>
              <a:rPr lang="en-IN" dirty="0"/>
              <a:t>        </a:t>
            </a:r>
            <a:br>
              <a:rPr lang="en-IN" dirty="0"/>
            </a:br>
            <a:r>
              <a:rPr lang="en-IN" b="1" dirty="0">
                <a:latin typeface="Times New Roman" panose="02020603050405020304" pitchFamily="18" charset="0"/>
                <a:cs typeface="Times New Roman" panose="02020603050405020304" pitchFamily="18" charset="0"/>
              </a:rPr>
              <a:t>How to lead groups vs. teams</a:t>
            </a:r>
            <a:br>
              <a:rPr lang="en-IN" b="1" dirty="0">
                <a:latin typeface="Times New Roman" panose="02020603050405020304" pitchFamily="18" charset="0"/>
                <a:cs typeface="Times New Roman" panose="02020603050405020304" pitchFamily="18" charset="0"/>
              </a:rPr>
            </a:br>
            <a:endParaRPr lang="en-IN" dirty="0"/>
          </a:p>
        </p:txBody>
      </p:sp>
      <p:sp>
        <p:nvSpPr>
          <p:cNvPr id="6" name="Content Placeholder 5">
            <a:extLst>
              <a:ext uri="{FF2B5EF4-FFF2-40B4-BE49-F238E27FC236}">
                <a16:creationId xmlns:a16="http://schemas.microsoft.com/office/drawing/2014/main" id="{AC52CC12-0654-61F3-FCE7-2F79517C16B2}"/>
              </a:ext>
            </a:extLst>
          </p:cNvPr>
          <p:cNvSpPr txBox="1">
            <a:spLocks noGrp="1"/>
          </p:cNvSpPr>
          <p:nvPr>
            <p:ph idx="1"/>
          </p:nvPr>
        </p:nvSpPr>
        <p:spPr>
          <a:xfrm>
            <a:off x="217488" y="1176338"/>
            <a:ext cx="11728450" cy="5000625"/>
          </a:xfrm>
          <a:prstGeom prst="rect">
            <a:avLst/>
          </a:prstGeom>
          <a:noFill/>
        </p:spPr>
        <p:txBody>
          <a:bodyPr wrap="square">
            <a:spAutoFit/>
          </a:bodyPr>
          <a:lstStyle/>
          <a:p>
            <a:pPr marL="36195" marR="36195" algn="just">
              <a:lnSpc>
                <a:spcPct val="150000"/>
              </a:lnSpc>
              <a:spcBef>
                <a:spcPts val="500"/>
              </a:spcBef>
              <a:spcAft>
                <a:spcPts val="500"/>
              </a:spcAft>
            </a:pPr>
            <a:r>
              <a:rPr lang="en-IN" sz="2400" dirty="0">
                <a:effectLst/>
                <a:latin typeface="Times New Roman" panose="02020603050405020304" pitchFamily="18" charset="0"/>
                <a:ea typeface="Times New Roman" panose="02020603050405020304" pitchFamily="18" charset="0"/>
              </a:rPr>
              <a:t>Now that you know the advantages and disadvantages of groups vs. teams, you may be wondering how each translates into an organization. This is an important question to consider when gauging how to lead a group or team in your current organization.</a:t>
            </a:r>
          </a:p>
          <a:p>
            <a:pPr marL="379095" marR="36195" indent="-342900" algn="just">
              <a:lnSpc>
                <a:spcPct val="150000"/>
              </a:lnSpc>
              <a:spcBef>
                <a:spcPts val="500"/>
              </a:spcBef>
              <a:spcAft>
                <a:spcPts val="500"/>
              </a:spcAft>
              <a:buFont typeface="Arial" panose="020B0604020202020204" pitchFamily="34" charset="0"/>
              <a:buChar char="•"/>
            </a:pPr>
            <a:r>
              <a:rPr lang="en-IN" sz="2400" dirty="0">
                <a:latin typeface="Times New Roman" panose="02020603050405020304" pitchFamily="18" charset="0"/>
              </a:rPr>
              <a:t>Group-focused organizations</a:t>
            </a:r>
          </a:p>
          <a:p>
            <a:pPr marL="379095" marR="36195" indent="-342900" algn="just">
              <a:lnSpc>
                <a:spcPct val="150000"/>
              </a:lnSpc>
              <a:spcBef>
                <a:spcPts val="500"/>
              </a:spcBef>
              <a:spcAft>
                <a:spcPts val="500"/>
              </a:spcAft>
              <a:buFont typeface="Arial" panose="020B0604020202020204" pitchFamily="34" charset="0"/>
              <a:buChar char="•"/>
            </a:pPr>
            <a:r>
              <a:rPr lang="en-IN" sz="2400" dirty="0">
                <a:latin typeface="Times New Roman" panose="02020603050405020304" pitchFamily="18" charset="0"/>
              </a:rPr>
              <a:t>Team-focused organizations</a:t>
            </a:r>
          </a:p>
        </p:txBody>
      </p:sp>
    </p:spTree>
    <p:extLst>
      <p:ext uri="{BB962C8B-B14F-4D97-AF65-F5344CB8AC3E}">
        <p14:creationId xmlns:p14="http://schemas.microsoft.com/office/powerpoint/2010/main" val="24522067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890CC8-0485-9C00-7B27-1B55C2AECE4F}"/>
              </a:ext>
            </a:extLst>
          </p:cNvPr>
          <p:cNvSpPr>
            <a:spLocks noGrp="1"/>
          </p:cNvSpPr>
          <p:nvPr>
            <p:ph type="title"/>
          </p:nvPr>
        </p:nvSpPr>
        <p:spPr/>
        <p:txBody>
          <a:bodyPr/>
          <a:lstStyle/>
          <a:p>
            <a:pPr algn="ctr">
              <a:defRPr/>
            </a:pPr>
            <a:r>
              <a:rPr lang="en-IN" b="1" dirty="0">
                <a:latin typeface="Times New Roman" panose="02020603050405020304" pitchFamily="18" charset="0"/>
                <a:cs typeface="Times New Roman" panose="02020603050405020304" pitchFamily="18" charset="0"/>
              </a:rPr>
              <a:t>Group-focused organizations </a:t>
            </a:r>
          </a:p>
        </p:txBody>
      </p:sp>
      <p:sp>
        <p:nvSpPr>
          <p:cNvPr id="6" name="Content Placeholder 2">
            <a:extLst>
              <a:ext uri="{FF2B5EF4-FFF2-40B4-BE49-F238E27FC236}">
                <a16:creationId xmlns:a16="http://schemas.microsoft.com/office/drawing/2014/main" id="{966BC2AD-5F79-4E3F-4D0E-FCF05B65387A}"/>
              </a:ext>
            </a:extLst>
          </p:cNvPr>
          <p:cNvSpPr txBox="1">
            <a:spLocks/>
          </p:cNvSpPr>
          <p:nvPr/>
        </p:nvSpPr>
        <p:spPr>
          <a:xfrm>
            <a:off x="495300" y="1143000"/>
            <a:ext cx="10878716" cy="5105400"/>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36195" algn="just">
              <a:lnSpc>
                <a:spcPct val="120000"/>
              </a:lnSpc>
              <a:spcBef>
                <a:spcPts val="500"/>
              </a:spcBef>
              <a:spcAft>
                <a:spcPts val="500"/>
              </a:spcAft>
            </a:pPr>
            <a:r>
              <a:rPr lang="en-IN" dirty="0">
                <a:latin typeface="Times New Roman" panose="02020603050405020304" pitchFamily="18" charset="0"/>
                <a:ea typeface="Times New Roman" panose="02020603050405020304" pitchFamily="18" charset="0"/>
              </a:rPr>
              <a:t>When it comes to group organizational </a:t>
            </a:r>
            <a:r>
              <a:rPr lang="en-IN" dirty="0" err="1">
                <a:latin typeface="Times New Roman" panose="02020603050405020304" pitchFamily="18" charset="0"/>
                <a:ea typeface="Times New Roman" panose="02020603050405020304" pitchFamily="18" charset="0"/>
              </a:rPr>
              <a:t>Behavior</a:t>
            </a:r>
            <a:r>
              <a:rPr lang="en-IN" dirty="0">
                <a:latin typeface="Times New Roman" panose="02020603050405020304" pitchFamily="18" charset="0"/>
                <a:ea typeface="Times New Roman" panose="02020603050405020304" pitchFamily="18" charset="0"/>
              </a:rPr>
              <a:t>, there is a lot to consider based on functionality and </a:t>
            </a:r>
            <a:r>
              <a:rPr lang="en-IN" dirty="0">
                <a:latin typeface="Times New Roman" panose="02020603050405020304" pitchFamily="18" charset="0"/>
              </a:rPr>
              <a:t>group dynamics. Group </a:t>
            </a:r>
            <a:r>
              <a:rPr lang="en-IN" dirty="0">
                <a:latin typeface="Times New Roman" panose="02020603050405020304" pitchFamily="18" charset="0"/>
                <a:ea typeface="Times New Roman" panose="02020603050405020304" pitchFamily="18" charset="0"/>
              </a:rPr>
              <a:t>dynamics describe the interactions, attitudes, and behaviours between a set of people. These can negatively and positively affect teamwork depending on how they are set up. </a:t>
            </a:r>
          </a:p>
          <a:p>
            <a:pPr marR="36195" algn="just">
              <a:lnSpc>
                <a:spcPct val="120000"/>
              </a:lnSpc>
              <a:spcBef>
                <a:spcPts val="500"/>
              </a:spcBef>
              <a:spcAft>
                <a:spcPts val="500"/>
              </a:spcAft>
            </a:pPr>
            <a:r>
              <a:rPr lang="en-IN" dirty="0">
                <a:latin typeface="Times New Roman" panose="02020603050405020304" pitchFamily="18" charset="0"/>
              </a:rPr>
              <a:t>Healthy group dynamics consist of fluid collaboration and transparency. Unhealthy group dynamics might consist of a lack of teamwork which results in individual isolation. To prevent unhealthy group dynamics, implement a team-focused strategy that focuses on breaking down communication barriers. </a:t>
            </a:r>
          </a:p>
          <a:p>
            <a:pPr marL="0" marR="36195" indent="0" algn="just">
              <a:lnSpc>
                <a:spcPct val="120000"/>
              </a:lnSpc>
              <a:spcBef>
                <a:spcPts val="500"/>
              </a:spcBef>
              <a:spcAft>
                <a:spcPts val="500"/>
              </a:spcAft>
              <a:buFont typeface="Arial" panose="020B0604020202020204" pitchFamily="34" charset="0"/>
              <a:buNone/>
            </a:pPr>
            <a:r>
              <a:rPr lang="en-IN" b="1" dirty="0">
                <a:latin typeface="Times New Roman" panose="02020603050405020304" pitchFamily="18" charset="0"/>
                <a:ea typeface="Times New Roman" panose="02020603050405020304" pitchFamily="18" charset="0"/>
              </a:rPr>
              <a:t>Group leadership tip:</a:t>
            </a:r>
            <a:r>
              <a:rPr lang="en-IN" dirty="0">
                <a:latin typeface="Times New Roman" panose="02020603050405020304" pitchFamily="18" charset="0"/>
                <a:ea typeface="Times New Roman" panose="02020603050405020304" pitchFamily="18" charset="0"/>
              </a:rPr>
              <a:t> To prevent </a:t>
            </a:r>
            <a:r>
              <a:rPr lang="en-IN" dirty="0">
                <a:latin typeface="Times New Roman" panose="02020603050405020304" pitchFamily="18" charset="0"/>
              </a:rPr>
              <a:t>communication issues, organize team building games to encourage group collaboration and healthy dynamics</a:t>
            </a:r>
            <a:r>
              <a:rPr lang="en-IN" sz="2000" dirty="0">
                <a:latin typeface="Times New Roman" panose="02020603050405020304" pitchFamily="18" charset="0"/>
              </a:rPr>
              <a:t>.</a:t>
            </a:r>
          </a:p>
        </p:txBody>
      </p:sp>
    </p:spTree>
    <p:extLst>
      <p:ext uri="{BB962C8B-B14F-4D97-AF65-F5344CB8AC3E}">
        <p14:creationId xmlns:p14="http://schemas.microsoft.com/office/powerpoint/2010/main" val="4896714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35BAE78-CBC9-B549-6872-1060E83C5103}"/>
              </a:ext>
            </a:extLst>
          </p:cNvPr>
          <p:cNvSpPr>
            <a:spLocks noGrp="1"/>
          </p:cNvSpPr>
          <p:nvPr>
            <p:ph type="title"/>
          </p:nvPr>
        </p:nvSpPr>
        <p:spPr/>
        <p:txBody>
          <a:bodyPr/>
          <a:lstStyle/>
          <a:p>
            <a:pPr algn="ctr">
              <a:defRPr/>
            </a:pPr>
            <a:r>
              <a:rPr lang="en-IN" b="1" dirty="0">
                <a:latin typeface="Times New Roman" panose="02020603050405020304" pitchFamily="18" charset="0"/>
                <a:cs typeface="Times New Roman" panose="02020603050405020304" pitchFamily="18" charset="0"/>
              </a:rPr>
              <a:t>Team focused organizations </a:t>
            </a:r>
          </a:p>
        </p:txBody>
      </p:sp>
      <p:sp>
        <p:nvSpPr>
          <p:cNvPr id="6" name="Content Placeholder 2">
            <a:extLst>
              <a:ext uri="{FF2B5EF4-FFF2-40B4-BE49-F238E27FC236}">
                <a16:creationId xmlns:a16="http://schemas.microsoft.com/office/drawing/2014/main" id="{55E71D33-0E94-4346-1750-4694B6133248}"/>
              </a:ext>
            </a:extLst>
          </p:cNvPr>
          <p:cNvSpPr>
            <a:spLocks noGrp="1"/>
          </p:cNvSpPr>
          <p:nvPr>
            <p:ph idx="1"/>
          </p:nvPr>
        </p:nvSpPr>
        <p:spPr>
          <a:xfrm>
            <a:off x="217488" y="1176338"/>
            <a:ext cx="11728450" cy="5000625"/>
          </a:xfrm>
        </p:spPr>
        <p:txBody>
          <a:bodyPr>
            <a:normAutofit/>
          </a:bodyPr>
          <a:lstStyle/>
          <a:p>
            <a:pPr marR="36195" algn="just">
              <a:spcBef>
                <a:spcPts val="500"/>
              </a:spcBef>
              <a:spcAft>
                <a:spcPts val="500"/>
              </a:spcAft>
            </a:pPr>
            <a:r>
              <a:rPr lang="en-IN" sz="2800" dirty="0">
                <a:latin typeface="Times New Roman" panose="02020603050405020304" pitchFamily="18" charset="0"/>
                <a:cs typeface="Times New Roman" panose="02020603050405020304" pitchFamily="18" charset="0"/>
              </a:rPr>
              <a:t>When Organizations that are focused around team dynamics tend to have more transparency and fewer communication issues. </a:t>
            </a:r>
          </a:p>
          <a:p>
            <a:pPr marR="36195" algn="just">
              <a:spcBef>
                <a:spcPts val="500"/>
              </a:spcBef>
              <a:spcAft>
                <a:spcPts val="500"/>
              </a:spcAft>
            </a:pPr>
            <a:r>
              <a:rPr lang="en-IN" sz="2800" dirty="0">
                <a:latin typeface="Times New Roman" panose="02020603050405020304" pitchFamily="18" charset="0"/>
                <a:cs typeface="Times New Roman" panose="02020603050405020304" pitchFamily="18" charset="0"/>
              </a:rPr>
              <a:t>This is because teams work together toward a shared goal and focus on problem solving together. </a:t>
            </a:r>
          </a:p>
          <a:p>
            <a:pPr marR="36195" algn="just">
              <a:spcBef>
                <a:spcPts val="500"/>
              </a:spcBef>
              <a:spcAft>
                <a:spcPts val="500"/>
              </a:spcAft>
            </a:pPr>
            <a:r>
              <a:rPr lang="en-IN" sz="2800" dirty="0">
                <a:latin typeface="Times New Roman" panose="02020603050405020304" pitchFamily="18" charset="0"/>
                <a:cs typeface="Times New Roman" panose="02020603050405020304" pitchFamily="18" charset="0"/>
              </a:rPr>
              <a:t>This leads to a healthy organizational Behavior and positive interdependent relationships. </a:t>
            </a:r>
          </a:p>
          <a:p>
            <a:pPr marR="36195" algn="just">
              <a:spcBef>
                <a:spcPts val="500"/>
              </a:spcBef>
              <a:spcAft>
                <a:spcPts val="500"/>
              </a:spcAft>
            </a:pPr>
            <a:r>
              <a:rPr lang="en-IN" sz="2800" dirty="0">
                <a:latin typeface="Times New Roman" panose="02020603050405020304" pitchFamily="18" charset="0"/>
                <a:cs typeface="Times New Roman" panose="02020603050405020304" pitchFamily="18" charset="0"/>
              </a:rPr>
              <a:t>To take this one step further, keep collective goals in sight, and empower your team to rely on one another to meet the objectives. </a:t>
            </a:r>
          </a:p>
        </p:txBody>
      </p:sp>
    </p:spTree>
    <p:extLst>
      <p:ext uri="{BB962C8B-B14F-4D97-AF65-F5344CB8AC3E}">
        <p14:creationId xmlns:p14="http://schemas.microsoft.com/office/powerpoint/2010/main" val="2842777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BE8FC81-C0CA-217C-5156-926AF5B4DDE2}"/>
              </a:ext>
            </a:extLst>
          </p:cNvPr>
          <p:cNvSpPr>
            <a:spLocks noGrp="1"/>
          </p:cNvSpPr>
          <p:nvPr>
            <p:ph type="title"/>
          </p:nvPr>
        </p:nvSpPr>
        <p:spPr/>
        <p:txBody>
          <a:bodyPr/>
          <a:lstStyle/>
          <a:p>
            <a:pPr algn="ctr">
              <a:defRPr/>
            </a:pPr>
            <a:r>
              <a:rPr lang="en-IN" b="1" dirty="0">
                <a:latin typeface="Times New Roman" panose="02020603050405020304" pitchFamily="18" charset="0"/>
                <a:cs typeface="Times New Roman" panose="02020603050405020304" pitchFamily="18" charset="0"/>
              </a:rPr>
              <a:t>Group vs. Team</a:t>
            </a:r>
          </a:p>
        </p:txBody>
      </p:sp>
      <p:sp>
        <p:nvSpPr>
          <p:cNvPr id="6" name="Content Placeholder 2">
            <a:extLst>
              <a:ext uri="{FF2B5EF4-FFF2-40B4-BE49-F238E27FC236}">
                <a16:creationId xmlns:a16="http://schemas.microsoft.com/office/drawing/2014/main" id="{72739F79-AF94-A6B3-9499-8BF3A9D69EA8}"/>
              </a:ext>
            </a:extLst>
          </p:cNvPr>
          <p:cNvSpPr>
            <a:spLocks noGrp="1"/>
          </p:cNvSpPr>
          <p:nvPr>
            <p:ph idx="1"/>
          </p:nvPr>
        </p:nvSpPr>
        <p:spPr>
          <a:xfrm>
            <a:off x="495299" y="1143000"/>
            <a:ext cx="10766749" cy="4953000"/>
          </a:xfrm>
        </p:spPr>
        <p:txBody>
          <a:bodyPr>
            <a:normAutofit lnSpcReduction="10000"/>
          </a:bodyPr>
          <a:lstStyle/>
          <a:p>
            <a:pPr marR="36195" algn="just">
              <a:lnSpc>
                <a:spcPct val="107000"/>
              </a:lnSpc>
              <a:spcAft>
                <a:spcPts val="800"/>
              </a:spcAft>
            </a:pPr>
            <a:r>
              <a:rPr lang="en-IN" sz="2800" dirty="0">
                <a:latin typeface="Times New Roman" panose="02020603050405020304" pitchFamily="18" charset="0"/>
                <a:cs typeface="Times New Roman" panose="02020603050405020304" pitchFamily="18" charset="0"/>
              </a:rPr>
              <a:t>A group is a collection of individuals who coordinate their efforts, while a team is a group of people who share a common purpose. To improve working relationships, it is important to understand the differences between the two to encourage healthy working dynamics. While similar, the two are different when it comes to decision-making and teamwork. </a:t>
            </a:r>
          </a:p>
          <a:p>
            <a:pPr marR="36195" algn="just">
              <a:lnSpc>
                <a:spcPct val="107000"/>
              </a:lnSpc>
              <a:spcAft>
                <a:spcPts val="800"/>
              </a:spcAft>
            </a:pPr>
            <a:r>
              <a:rPr lang="en-IN" sz="2800" dirty="0">
                <a:latin typeface="Times New Roman" panose="02020603050405020304" pitchFamily="18" charset="0"/>
                <a:cs typeface="Times New Roman" panose="02020603050405020304" pitchFamily="18" charset="0"/>
              </a:rPr>
              <a:t>In a work group, group members are independent from one another and have individual accountability. On the other hand, in a team, team members share a mutual accountability and work closely together to solve problems. These dynamics inform the way tasks are handled and overall collaboration. </a:t>
            </a:r>
          </a:p>
          <a:p>
            <a:pPr marR="36195" algn="just">
              <a:spcBef>
                <a:spcPts val="500"/>
              </a:spcBef>
              <a:spcAft>
                <a:spcPts val="500"/>
              </a:spcAft>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5739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3CD577-25E1-0C86-4267-D6013EDFFF6E}"/>
              </a:ext>
            </a:extLst>
          </p:cNvPr>
          <p:cNvSpPr>
            <a:spLocks noGrp="1"/>
          </p:cNvSpPr>
          <p:nvPr>
            <p:ph type="title"/>
          </p:nvPr>
        </p:nvSpPr>
        <p:spPr/>
        <p:txBody>
          <a:bodyPr>
            <a:noAutofit/>
          </a:bodyPr>
          <a:lstStyle/>
          <a:p>
            <a:pPr algn="ctr"/>
            <a:r>
              <a:rPr lang="en-US" sz="3600" b="1" dirty="0"/>
              <a:t>D</a:t>
            </a:r>
            <a:r>
              <a:rPr lang="en-IN" sz="3600" b="1" dirty="0"/>
              <a:t>IFFERENCE BETWEEN GROUP AND TEAM</a:t>
            </a:r>
          </a:p>
        </p:txBody>
      </p:sp>
      <p:sp>
        <p:nvSpPr>
          <p:cNvPr id="6" name="Content Placeholder 2">
            <a:extLst>
              <a:ext uri="{FF2B5EF4-FFF2-40B4-BE49-F238E27FC236}">
                <a16:creationId xmlns:a16="http://schemas.microsoft.com/office/drawing/2014/main" id="{3CE7E26B-7D48-5425-8618-65D393A24129}"/>
              </a:ext>
            </a:extLst>
          </p:cNvPr>
          <p:cNvSpPr>
            <a:spLocks noGrp="1"/>
          </p:cNvSpPr>
          <p:nvPr>
            <p:ph idx="1"/>
          </p:nvPr>
        </p:nvSpPr>
        <p:spPr>
          <a:xfrm>
            <a:off x="217488" y="1176338"/>
            <a:ext cx="11728450" cy="5000625"/>
          </a:xfrm>
        </p:spPr>
        <p:txBody>
          <a:bodyPr>
            <a:normAutofit fontScale="25000" lnSpcReduction="20000"/>
          </a:bodyPr>
          <a:lstStyle/>
          <a:p>
            <a:pPr marL="0" marR="36195" indent="0" algn="just">
              <a:lnSpc>
                <a:spcPct val="170000"/>
              </a:lnSpc>
              <a:spcAft>
                <a:spcPts val="800"/>
              </a:spcAft>
              <a:buNone/>
            </a:pPr>
            <a:r>
              <a:rPr lang="en-IN" sz="6400" dirty="0">
                <a:latin typeface="Times New Roman" panose="02020603050405020304" pitchFamily="18" charset="0"/>
                <a:cs typeface="Times New Roman" panose="02020603050405020304" pitchFamily="18" charset="0"/>
              </a:rPr>
              <a:t>The difference between group and team in the workplace can be drawn clearly on the following grounds:</a:t>
            </a:r>
          </a:p>
          <a:p>
            <a:pPr marL="342900" marR="36195" lvl="0" indent="-342900" algn="just">
              <a:lnSpc>
                <a:spcPct val="170000"/>
              </a:lnSpc>
              <a:spcAft>
                <a:spcPts val="800"/>
              </a:spcAft>
              <a:tabLst>
                <a:tab pos="457200" algn="l"/>
              </a:tabLst>
            </a:pPr>
            <a:r>
              <a:rPr lang="en-IN" sz="6400" dirty="0">
                <a:latin typeface="Times New Roman" panose="02020603050405020304" pitchFamily="18" charset="0"/>
                <a:cs typeface="Times New Roman" panose="02020603050405020304" pitchFamily="18" charset="0"/>
              </a:rPr>
              <a:t>There is only one head in a group. A team can have more than one head.</a:t>
            </a:r>
          </a:p>
          <a:p>
            <a:pPr marL="342900" marR="36195" lvl="0" indent="-342900" algn="just">
              <a:lnSpc>
                <a:spcPct val="170000"/>
              </a:lnSpc>
              <a:spcAft>
                <a:spcPts val="800"/>
              </a:spcAft>
              <a:tabLst>
                <a:tab pos="457200" algn="l"/>
              </a:tabLst>
            </a:pPr>
            <a:r>
              <a:rPr lang="en-IN" sz="6400" dirty="0">
                <a:latin typeface="Times New Roman" panose="02020603050405020304" pitchFamily="18" charset="0"/>
                <a:cs typeface="Times New Roman" panose="02020603050405020304" pitchFamily="18" charset="0"/>
              </a:rPr>
              <a:t>The group members do not share responsibility, but team members share the responsibility.</a:t>
            </a:r>
          </a:p>
          <a:p>
            <a:pPr marL="342900" marR="36195" lvl="0" indent="-342900" algn="just">
              <a:lnSpc>
                <a:spcPct val="170000"/>
              </a:lnSpc>
              <a:spcAft>
                <a:spcPts val="800"/>
              </a:spcAft>
              <a:tabLst>
                <a:tab pos="457200" algn="l"/>
              </a:tabLst>
            </a:pPr>
            <a:r>
              <a:rPr lang="en-IN" sz="6400" dirty="0">
                <a:latin typeface="Times New Roman" panose="02020603050405020304" pitchFamily="18" charset="0"/>
                <a:cs typeface="Times New Roman" panose="02020603050405020304" pitchFamily="18" charset="0"/>
              </a:rPr>
              <a:t>The group focuses on achieving the individual goals. Conversely, the team members focus on achieving the team goals.</a:t>
            </a:r>
          </a:p>
          <a:p>
            <a:pPr marL="342900" marR="36195" lvl="0" indent="-342900" algn="just">
              <a:lnSpc>
                <a:spcPct val="170000"/>
              </a:lnSpc>
              <a:spcAft>
                <a:spcPts val="800"/>
              </a:spcAft>
              <a:tabLst>
                <a:tab pos="457200" algn="l"/>
              </a:tabLst>
            </a:pPr>
            <a:r>
              <a:rPr lang="en-IN" sz="6400" dirty="0">
                <a:latin typeface="Times New Roman" panose="02020603050405020304" pitchFamily="18" charset="0"/>
                <a:cs typeface="Times New Roman" panose="02020603050405020304" pitchFamily="18" charset="0"/>
              </a:rPr>
              <a:t>The group produces individual work products. As opposed to, the team who produces collective work products.</a:t>
            </a:r>
          </a:p>
          <a:p>
            <a:pPr marL="342900" marR="36195" lvl="0" indent="-342900" algn="just">
              <a:lnSpc>
                <a:spcPct val="170000"/>
              </a:lnSpc>
              <a:spcAft>
                <a:spcPts val="800"/>
              </a:spcAft>
              <a:tabLst>
                <a:tab pos="457200" algn="l"/>
              </a:tabLst>
            </a:pPr>
            <a:r>
              <a:rPr lang="en-IN" sz="6400" dirty="0">
                <a:latin typeface="Times New Roman" panose="02020603050405020304" pitchFamily="18" charset="0"/>
                <a:cs typeface="Times New Roman" panose="02020603050405020304" pitchFamily="18" charset="0"/>
              </a:rPr>
              <a:t>The process of a group is to discuss the problem, then decide and finally delegate the tasks to individual members. On the other hand, a team discusses the problem, then decide the way of solving it and finally do it collectively.</a:t>
            </a:r>
          </a:p>
          <a:p>
            <a:pPr marL="342900" marR="36195" lvl="0" indent="-342900" algn="just">
              <a:lnSpc>
                <a:spcPct val="170000"/>
              </a:lnSpc>
              <a:spcAft>
                <a:spcPts val="800"/>
              </a:spcAft>
              <a:tabLst>
                <a:tab pos="457200" algn="l"/>
              </a:tabLst>
            </a:pPr>
            <a:r>
              <a:rPr lang="en-IN" sz="6400" dirty="0">
                <a:latin typeface="Times New Roman" panose="02020603050405020304" pitchFamily="18" charset="0"/>
                <a:cs typeface="Times New Roman" panose="02020603050405020304" pitchFamily="18" charset="0"/>
              </a:rPr>
              <a:t>The group members are independent. Unlike a group, the team members are interdependent</a:t>
            </a:r>
            <a:r>
              <a:rPr lang="en-IN" sz="3400" dirty="0">
                <a:latin typeface="Times New Roman" panose="02020603050405020304" pitchFamily="18" charset="0"/>
                <a:cs typeface="Times New Roman" panose="02020603050405020304" pitchFamily="18" charset="0"/>
              </a:rPr>
              <a:t>.</a:t>
            </a:r>
          </a:p>
          <a:p>
            <a:pPr marR="36195" algn="just">
              <a:lnSpc>
                <a:spcPct val="107000"/>
              </a:lnSpc>
              <a:spcAft>
                <a:spcPts val="800"/>
              </a:spcAft>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13540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833A13-B58B-E5E8-D09B-4F8006102818}"/>
              </a:ext>
            </a:extLst>
          </p:cNvPr>
          <p:cNvSpPr>
            <a:spLocks noGrp="1"/>
          </p:cNvSpPr>
          <p:nvPr>
            <p:ph type="title"/>
          </p:nvPr>
        </p:nvSpPr>
        <p:spPr/>
        <p:txBody>
          <a:bodyPr/>
          <a:lstStyle/>
          <a:p>
            <a:pPr algn="ctr"/>
            <a:r>
              <a:rPr lang="en-IN" dirty="0"/>
              <a:t> Cont..</a:t>
            </a:r>
          </a:p>
        </p:txBody>
      </p:sp>
      <p:pic>
        <p:nvPicPr>
          <p:cNvPr id="6" name="Content Placeholder 5">
            <a:extLst>
              <a:ext uri="{FF2B5EF4-FFF2-40B4-BE49-F238E27FC236}">
                <a16:creationId xmlns:a16="http://schemas.microsoft.com/office/drawing/2014/main" id="{5FEA6F07-535F-6594-DE2A-BB5F346FDA83}"/>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474237" y="1194318"/>
            <a:ext cx="9181321" cy="4320074"/>
          </a:xfrm>
          <a:prstGeom prst="rect">
            <a:avLst/>
          </a:prstGeom>
          <a:noFill/>
        </p:spPr>
      </p:pic>
    </p:spTree>
    <p:extLst>
      <p:ext uri="{BB962C8B-B14F-4D97-AF65-F5344CB8AC3E}">
        <p14:creationId xmlns:p14="http://schemas.microsoft.com/office/powerpoint/2010/main" val="34576668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4374B23-53BE-824C-E729-ACBCE2E6C00E}"/>
              </a:ext>
            </a:extLst>
          </p:cNvPr>
          <p:cNvSpPr>
            <a:spLocks noGrp="1"/>
          </p:cNvSpPr>
          <p:nvPr>
            <p:ph type="title"/>
          </p:nvPr>
        </p:nvSpPr>
        <p:spPr/>
        <p:txBody>
          <a:bodyPr>
            <a:normAutofit/>
          </a:bodyPr>
          <a:lstStyle/>
          <a:p>
            <a:pPr algn="ctr"/>
            <a:r>
              <a:rPr lang="en-US" dirty="0"/>
              <a:t>S</a:t>
            </a:r>
            <a:r>
              <a:rPr lang="en-IN" dirty="0"/>
              <a:t>TAGES OF GROUP DEVELOPMENT</a:t>
            </a:r>
          </a:p>
        </p:txBody>
      </p:sp>
      <p:sp>
        <p:nvSpPr>
          <p:cNvPr id="9" name="Content Placeholder 8">
            <a:extLst>
              <a:ext uri="{FF2B5EF4-FFF2-40B4-BE49-F238E27FC236}">
                <a16:creationId xmlns:a16="http://schemas.microsoft.com/office/drawing/2014/main" id="{CD28E972-C7D5-031D-A8A4-7FAC0C42AB9B}"/>
              </a:ext>
            </a:extLst>
          </p:cNvPr>
          <p:cNvSpPr txBox="1">
            <a:spLocks noGrp="1"/>
          </p:cNvSpPr>
          <p:nvPr>
            <p:ph idx="1"/>
          </p:nvPr>
        </p:nvSpPr>
        <p:spPr>
          <a:xfrm>
            <a:off x="217488" y="1176338"/>
            <a:ext cx="11728450" cy="5000625"/>
          </a:xfrm>
          <a:prstGeom prst="rect">
            <a:avLst/>
          </a:prstGeom>
          <a:noFill/>
        </p:spPr>
        <p:txBody>
          <a:bodyPr wrap="square">
            <a:spAutoFit/>
          </a:bodyPr>
          <a:lstStyle/>
          <a:p>
            <a:pPr marL="36195" marR="36195" algn="just" fontAlgn="base">
              <a:lnSpc>
                <a:spcPct val="150000"/>
              </a:lnSpc>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According to Bruce Tuckman’s theory, there are five stages of group development. The five-stage group-development model is: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36195" lvl="0" indent="-342900" algn="just" fontAlgn="base">
              <a:lnSpc>
                <a:spcPct val="150000"/>
              </a:lnSpc>
              <a:buSzPts val="1000"/>
              <a:buFont typeface="Symbol" panose="05050102010706020507" pitchFamily="18" charset="2"/>
              <a:buChar char=""/>
              <a:tabLst>
                <a:tab pos="457200" algn="l"/>
              </a:tabLst>
            </a:pPr>
            <a:r>
              <a:rPr lang="en-IN" sz="2000" u="none" strike="noStrike" kern="0" dirty="0">
                <a:effectLst/>
                <a:latin typeface="Times New Roman" panose="02020603050405020304" pitchFamily="18" charset="0"/>
                <a:ea typeface="Times New Roman" panose="02020603050405020304" pitchFamily="18" charset="0"/>
                <a:cs typeface="Times New Roman" panose="02020603050405020304" pitchFamily="18" charset="0"/>
              </a:rPr>
              <a:t>Forming</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36195" lvl="0" indent="-342900" algn="just" fontAlgn="base">
              <a:lnSpc>
                <a:spcPct val="150000"/>
              </a:lnSpc>
              <a:buSzPts val="1000"/>
              <a:buFont typeface="Symbol" panose="05050102010706020507" pitchFamily="18" charset="2"/>
              <a:buChar char=""/>
              <a:tabLst>
                <a:tab pos="457200" algn="l"/>
              </a:tabLst>
            </a:pPr>
            <a:r>
              <a:rPr lang="en-IN" sz="2000" u="none" strike="noStrike" kern="0" dirty="0">
                <a:effectLst/>
                <a:latin typeface="Times New Roman" panose="02020603050405020304" pitchFamily="18" charset="0"/>
                <a:ea typeface="Times New Roman" panose="02020603050405020304" pitchFamily="18" charset="0"/>
                <a:cs typeface="Times New Roman" panose="02020603050405020304" pitchFamily="18" charset="0"/>
              </a:rPr>
              <a:t>Storming</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36195" lvl="0" indent="-342900" algn="just" fontAlgn="base">
              <a:lnSpc>
                <a:spcPct val="150000"/>
              </a:lnSpc>
              <a:buSzPts val="1000"/>
              <a:buFont typeface="Symbol" panose="05050102010706020507" pitchFamily="18" charset="2"/>
              <a:buChar char=""/>
              <a:tabLst>
                <a:tab pos="457200" algn="l"/>
              </a:tabLst>
            </a:pPr>
            <a:r>
              <a:rPr lang="en-IN" sz="2000" u="none" strike="noStrike" kern="0" dirty="0">
                <a:effectLst/>
                <a:latin typeface="Times New Roman" panose="02020603050405020304" pitchFamily="18" charset="0"/>
                <a:ea typeface="Times New Roman" panose="02020603050405020304" pitchFamily="18" charset="0"/>
                <a:cs typeface="Times New Roman" panose="02020603050405020304" pitchFamily="18" charset="0"/>
              </a:rPr>
              <a:t>Norming</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36195" lvl="0" indent="-342900" algn="just" fontAlgn="base">
              <a:lnSpc>
                <a:spcPct val="150000"/>
              </a:lnSpc>
              <a:buSzPts val="1000"/>
              <a:buFont typeface="Symbol" panose="05050102010706020507" pitchFamily="18" charset="2"/>
              <a:buChar char=""/>
              <a:tabLst>
                <a:tab pos="457200" algn="l"/>
              </a:tabLst>
            </a:pPr>
            <a:r>
              <a:rPr lang="en-IN" sz="2000" u="none" strike="noStrike" kern="0" dirty="0">
                <a:effectLst/>
                <a:latin typeface="Times New Roman" panose="02020603050405020304" pitchFamily="18" charset="0"/>
                <a:ea typeface="Times New Roman" panose="02020603050405020304" pitchFamily="18" charset="0"/>
                <a:cs typeface="Times New Roman" panose="02020603050405020304" pitchFamily="18" charset="0"/>
              </a:rPr>
              <a:t>Performing</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36195" lvl="0" indent="-342900" algn="just" fontAlgn="base">
              <a:lnSpc>
                <a:spcPct val="150000"/>
              </a:lnSpc>
              <a:buSzPts val="1000"/>
              <a:buFont typeface="Symbol" panose="05050102010706020507" pitchFamily="18" charset="2"/>
              <a:buChar char=""/>
              <a:tabLst>
                <a:tab pos="457200" algn="l"/>
              </a:tabLst>
            </a:pPr>
            <a:r>
              <a:rPr lang="en-IN" sz="2000" u="none" strike="noStrike" kern="0" dirty="0">
                <a:effectLst/>
                <a:latin typeface="Times New Roman" panose="02020603050405020304" pitchFamily="18" charset="0"/>
                <a:ea typeface="Times New Roman" panose="02020603050405020304" pitchFamily="18" charset="0"/>
                <a:cs typeface="Times New Roman" panose="02020603050405020304" pitchFamily="18" charset="0"/>
              </a:rPr>
              <a:t>Adjourning</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0" name="Picture 9" descr="Stage of the Group Development Model. Forming -&gt; Storming -&gt; Norming -&gt; Performing -&gt; Adjourning">
            <a:extLst>
              <a:ext uri="{FF2B5EF4-FFF2-40B4-BE49-F238E27FC236}">
                <a16:creationId xmlns:a16="http://schemas.microsoft.com/office/drawing/2014/main" id="{E33D3A1E-93B4-E465-7D8B-2E96F5AC6A12}"/>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0245" y="4652964"/>
            <a:ext cx="5731510" cy="1523999"/>
          </a:xfrm>
          <a:prstGeom prst="rect">
            <a:avLst/>
          </a:prstGeom>
          <a:noFill/>
          <a:ln>
            <a:noFill/>
          </a:ln>
        </p:spPr>
      </p:pic>
    </p:spTree>
    <p:extLst>
      <p:ext uri="{BB962C8B-B14F-4D97-AF65-F5344CB8AC3E}">
        <p14:creationId xmlns:p14="http://schemas.microsoft.com/office/powerpoint/2010/main" val="11787471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B887FA-CA80-5737-12D8-B8A92C0E0771}"/>
              </a:ext>
            </a:extLst>
          </p:cNvPr>
          <p:cNvSpPr>
            <a:spLocks noGrp="1"/>
          </p:cNvSpPr>
          <p:nvPr>
            <p:ph type="title"/>
          </p:nvPr>
        </p:nvSpPr>
        <p:spPr/>
        <p:txBody>
          <a:bodyPr>
            <a:normAutofit/>
          </a:bodyPr>
          <a:lstStyle/>
          <a:p>
            <a:pPr algn="ctr"/>
            <a:r>
              <a:rPr lang="en-IN" sz="4400" dirty="0"/>
              <a:t>Cont..</a:t>
            </a:r>
            <a:endParaRPr lang="en-IN" dirty="0"/>
          </a:p>
        </p:txBody>
      </p:sp>
      <p:sp>
        <p:nvSpPr>
          <p:cNvPr id="6" name="Content Placeholder 5">
            <a:extLst>
              <a:ext uri="{FF2B5EF4-FFF2-40B4-BE49-F238E27FC236}">
                <a16:creationId xmlns:a16="http://schemas.microsoft.com/office/drawing/2014/main" id="{83025924-6198-CAE6-F2E4-601CE567356F}"/>
              </a:ext>
            </a:extLst>
          </p:cNvPr>
          <p:cNvSpPr txBox="1">
            <a:spLocks noGrp="1"/>
          </p:cNvSpPr>
          <p:nvPr>
            <p:ph idx="1"/>
          </p:nvPr>
        </p:nvSpPr>
        <p:spPr>
          <a:xfrm>
            <a:off x="217488" y="1176338"/>
            <a:ext cx="11728450" cy="5000625"/>
          </a:xfrm>
          <a:prstGeom prst="rect">
            <a:avLst/>
          </a:prstGeom>
          <a:noFill/>
        </p:spPr>
        <p:txBody>
          <a:bodyPr wrap="square">
            <a:spAutoFit/>
          </a:bodyPr>
          <a:lstStyle/>
          <a:p>
            <a:pPr marL="379095" marR="36195" indent="-342900" algn="just" fontAlgn="base">
              <a:spcBef>
                <a:spcPts val="200"/>
              </a:spcBef>
              <a:buFont typeface="Arial" panose="020B0604020202020204" pitchFamily="34" charset="0"/>
              <a:buChar char="•"/>
            </a:pPr>
            <a:r>
              <a:rPr lang="en-IN" sz="2400" b="1" kern="100" dirty="0">
                <a:solidFill>
                  <a:srgbClr val="000000"/>
                </a:solidFill>
                <a:latin typeface="Times New Roman" panose="02020603050405020304" pitchFamily="18" charset="0"/>
                <a:cs typeface="Times New Roman" panose="02020603050405020304" pitchFamily="18" charset="0"/>
              </a:rPr>
              <a:t>Forming (Getting Familiar):</a:t>
            </a:r>
          </a:p>
          <a:p>
            <a:pPr marL="36195" marR="36195" algn="just" fontAlgn="base">
              <a:spcBef>
                <a:spcPts val="500"/>
              </a:spcBef>
              <a:spcAft>
                <a:spcPts val="500"/>
              </a:spcAft>
            </a:pP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first stage, forming stage, faces a great amount of uncertainty about the group’s purpose, structure, and leadership amongst the members of the group. This stage is complete when members have begun to think of themselves as part of a group.</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79095" marR="36195" indent="-342900" algn="just" fontAlgn="base">
              <a:spcBef>
                <a:spcPts val="200"/>
              </a:spcBef>
              <a:buFont typeface="Arial" panose="020B0604020202020204" pitchFamily="34" charset="0"/>
              <a:buChar char="•"/>
            </a:pPr>
            <a:r>
              <a:rPr lang="en-IN" sz="24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Storming </a:t>
            </a:r>
            <a:r>
              <a:rPr lang="en-IN" sz="2400" b="1" kern="100" dirty="0">
                <a:solidFill>
                  <a:srgbClr val="000000"/>
                </a:solidFill>
                <a:latin typeface="Times New Roman" panose="02020603050405020304" pitchFamily="18" charset="0"/>
                <a:cs typeface="Times New Roman" panose="02020603050405020304" pitchFamily="18" charset="0"/>
              </a:rPr>
              <a:t>(Conflicts and Learning):</a:t>
            </a:r>
          </a:p>
          <a:p>
            <a:pPr marL="36195" marR="36195" algn="just" fontAlgn="base">
              <a:spcBef>
                <a:spcPts val="500"/>
              </a:spcBef>
              <a:spcAft>
                <a:spcPts val="500"/>
              </a:spcAft>
            </a:pP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Storming stage is one of intra-group conflict. Members accept the existence of the group but resist the constraints it imposes on individuality. There is conflict over who will control the group. When this stage is complete, there will be a relatively clear hierarchy of leadership within the group.</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3478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2CD8C7-DCFC-7552-AD76-DD705D82CBA3}"/>
              </a:ext>
            </a:extLst>
          </p:cNvPr>
          <p:cNvSpPr>
            <a:spLocks noGrp="1"/>
          </p:cNvSpPr>
          <p:nvPr>
            <p:ph type="title"/>
          </p:nvPr>
        </p:nvSpPr>
        <p:spPr/>
        <p:txBody>
          <a:bodyPr>
            <a:normAutofit/>
          </a:bodyPr>
          <a:lstStyle/>
          <a:p>
            <a:pPr algn="ctr"/>
            <a:r>
              <a:rPr lang="en-IN" dirty="0"/>
              <a:t>STAGES OF GROUP DEVELOPMENT</a:t>
            </a:r>
          </a:p>
        </p:txBody>
      </p:sp>
      <p:sp>
        <p:nvSpPr>
          <p:cNvPr id="6" name="Content Placeholder 5">
            <a:extLst>
              <a:ext uri="{FF2B5EF4-FFF2-40B4-BE49-F238E27FC236}">
                <a16:creationId xmlns:a16="http://schemas.microsoft.com/office/drawing/2014/main" id="{2E80C37D-3326-32DA-CB8A-FC0F980B2C94}"/>
              </a:ext>
            </a:extLst>
          </p:cNvPr>
          <p:cNvSpPr txBox="1">
            <a:spLocks noGrp="1"/>
          </p:cNvSpPr>
          <p:nvPr>
            <p:ph idx="1"/>
          </p:nvPr>
        </p:nvSpPr>
        <p:spPr>
          <a:xfrm>
            <a:off x="0" y="942470"/>
            <a:ext cx="12144829" cy="4111382"/>
          </a:xfrm>
          <a:prstGeom prst="rect">
            <a:avLst/>
          </a:prstGeom>
          <a:noFill/>
        </p:spPr>
        <p:txBody>
          <a:bodyPr wrap="square">
            <a:spAutoFit/>
          </a:bodyPr>
          <a:lstStyle/>
          <a:p>
            <a:pPr marL="321945" marR="36195" indent="-285750" algn="just" fontAlgn="base">
              <a:lnSpc>
                <a:spcPct val="107000"/>
              </a:lnSpc>
              <a:spcBef>
                <a:spcPts val="200"/>
              </a:spcBef>
              <a:buFont typeface="Arial" panose="020B0604020202020204" pitchFamily="34" charset="0"/>
              <a:buChar char="•"/>
            </a:pPr>
            <a:r>
              <a:rPr lang="en-IN" sz="20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Norming (</a:t>
            </a:r>
            <a:r>
              <a:rPr lang="en-IN" sz="2000" b="1" kern="100" dirty="0">
                <a:solidFill>
                  <a:srgbClr val="000000"/>
                </a:solidFill>
                <a:latin typeface="Times New Roman" panose="02020603050405020304" pitchFamily="18" charset="0"/>
                <a:cs typeface="Times New Roman" panose="02020603050405020304" pitchFamily="18" charset="0"/>
              </a:rPr>
              <a:t>Understanding One’s Role and Other’s Role</a:t>
            </a:r>
            <a:r>
              <a:rPr lang="en-IN" sz="20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b="1" kern="100" dirty="0">
              <a:solidFill>
                <a:srgbClr val="1F376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6195" marR="36195" algn="just" fontAlgn="base">
              <a:spcBef>
                <a:spcPts val="500"/>
              </a:spcBef>
              <a:spcAft>
                <a:spcPts val="500"/>
              </a:spcAft>
            </a:pP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the third stage Norming, close relationships evolve and the group develops cohesiveness. This Norming stage is complete when the group structure solidifies and the group has assimilated a common set of expectations of what defines the correct behaviour of members.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21945" marR="36195" indent="-285750" algn="just" fontAlgn="base">
              <a:lnSpc>
                <a:spcPct val="107000"/>
              </a:lnSpc>
              <a:spcBef>
                <a:spcPts val="200"/>
              </a:spcBef>
              <a:buFont typeface="Arial" panose="020B0604020202020204" pitchFamily="34" charset="0"/>
              <a:buChar char="•"/>
            </a:pPr>
            <a:r>
              <a:rPr lang="en-IN" sz="2000" b="1" kern="100" dirty="0">
                <a:solidFill>
                  <a:srgbClr val="000000"/>
                </a:solidFill>
                <a:latin typeface="Times New Roman" panose="02020603050405020304" pitchFamily="18" charset="0"/>
                <a:cs typeface="Times New Roman" panose="02020603050405020304" pitchFamily="18" charset="0"/>
              </a:rPr>
              <a:t>Performing (Achieving the Set Goals):</a:t>
            </a:r>
          </a:p>
          <a:p>
            <a:pPr marL="36195" marR="36195" algn="just" fontAlgn="base">
              <a:spcBef>
                <a:spcPts val="500"/>
              </a:spcBef>
              <a:spcAft>
                <a:spcPts val="500"/>
              </a:spcAft>
            </a:pP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fourth stage is Performing. The structure at this point is fully functional and accepted. Group energy has moved from getting to know and understand each other to perform the task at hand. For permanent workgroups, performing is the last stage in development.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21945" marR="36195" indent="-285750" algn="just" fontAlgn="base">
              <a:lnSpc>
                <a:spcPct val="107000"/>
              </a:lnSpc>
              <a:spcBef>
                <a:spcPts val="200"/>
              </a:spcBef>
              <a:buFont typeface="Arial" panose="020B0604020202020204" pitchFamily="34" charset="0"/>
              <a:buChar char="•"/>
            </a:pPr>
            <a:r>
              <a:rPr lang="en-IN" sz="2000" b="1" kern="100" dirty="0">
                <a:solidFill>
                  <a:srgbClr val="000000"/>
                </a:solidFill>
                <a:latin typeface="Times New Roman" panose="02020603050405020304" pitchFamily="18" charset="0"/>
                <a:cs typeface="Times New Roman" panose="02020603050405020304" pitchFamily="18" charset="0"/>
              </a:rPr>
              <a:t>Adjourning (Break-off):</a:t>
            </a:r>
          </a:p>
          <a:p>
            <a:pPr marL="36195" marR="36195" algn="just" fontAlgn="base">
              <a:spcBef>
                <a:spcPts val="500"/>
              </a:spcBef>
              <a:spcAft>
                <a:spcPts val="500"/>
              </a:spcAft>
            </a:pPr>
            <a:r>
              <a:rPr lang="en-IN"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However, for temporary committees, teams, task forces, and similar groups that have a limited task to perform, the Adjourning stage is for wrapping up activities and preparing to disband.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85503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6C8833-AB4C-CAB7-D827-390E47C272C8}"/>
              </a:ext>
            </a:extLst>
          </p:cNvPr>
          <p:cNvSpPr>
            <a:spLocks noGrp="1"/>
          </p:cNvSpPr>
          <p:nvPr>
            <p:ph idx="1"/>
          </p:nvPr>
        </p:nvSpPr>
        <p:spPr/>
        <p:txBody>
          <a:bodyPr/>
          <a:lstStyle/>
          <a:p>
            <a:pPr marL="0" indent="0" algn="just">
              <a:lnSpc>
                <a:spcPct val="150000"/>
              </a:lnSpc>
              <a:buNone/>
            </a:pPr>
            <a:endParaRPr lang="en-US" sz="2800" dirty="0">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9AA744A3-2CE5-1704-033A-8E9522294256}"/>
              </a:ext>
            </a:extLst>
          </p:cNvPr>
          <p:cNvSpPr>
            <a:spLocks noGrp="1"/>
          </p:cNvSpPr>
          <p:nvPr>
            <p:ph type="title"/>
          </p:nvPr>
        </p:nvSpPr>
        <p:spPr/>
        <p:txBody>
          <a:bodyPr>
            <a:normAutofit/>
          </a:bodyPr>
          <a:lstStyle/>
          <a:p>
            <a:pPr algn="ctr"/>
            <a:r>
              <a:rPr lang="en-IN" sz="3600" b="1" dirty="0">
                <a:latin typeface="+mn-lt"/>
              </a:rPr>
              <a:t>Cont..</a:t>
            </a:r>
          </a:p>
        </p:txBody>
      </p:sp>
      <p:pic>
        <p:nvPicPr>
          <p:cNvPr id="4" name="Picture 3" descr="The Stages of Group Formation for Team Development - WorkStyle">
            <a:extLst>
              <a:ext uri="{FF2B5EF4-FFF2-40B4-BE49-F238E27FC236}">
                <a16:creationId xmlns:a16="http://schemas.microsoft.com/office/drawing/2014/main" id="{3917E7A9-0022-AF33-6756-3E43664FF6A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 y="1066800"/>
            <a:ext cx="7696200" cy="2120899"/>
          </a:xfrm>
          <a:prstGeom prst="rect">
            <a:avLst/>
          </a:prstGeom>
          <a:noFill/>
        </p:spPr>
      </p:pic>
      <p:pic>
        <p:nvPicPr>
          <p:cNvPr id="5" name="Picture 4" descr="Tuckman's Stages of Group Formation PowerPoint Template - PPT Slides">
            <a:extLst>
              <a:ext uri="{FF2B5EF4-FFF2-40B4-BE49-F238E27FC236}">
                <a16:creationId xmlns:a16="http://schemas.microsoft.com/office/drawing/2014/main" id="{261FF3B1-8784-440A-7053-79A2CAB77D61}"/>
              </a:ext>
            </a:extLst>
          </p:cNvPr>
          <p:cNvPicPr>
            <a:picLocks noChangeAspect="1"/>
          </p:cNvPicPr>
          <p:nvPr/>
        </p:nvPicPr>
        <p:blipFill rotWithShape="1">
          <a:blip r:embed="rId3">
            <a:extLst>
              <a:ext uri="{28A0092B-C50C-407E-A947-70E740481C1C}">
                <a14:useLocalDpi xmlns:a14="http://schemas.microsoft.com/office/drawing/2010/main" val="0"/>
              </a:ext>
            </a:extLst>
          </a:blip>
          <a:srcRect t="19632" b="19186"/>
          <a:stretch/>
        </p:blipFill>
        <p:spPr bwMode="auto">
          <a:xfrm>
            <a:off x="838200" y="3370262"/>
            <a:ext cx="7772400" cy="2801938"/>
          </a:xfrm>
          <a:prstGeom prst="rect">
            <a:avLst/>
          </a:prstGeom>
          <a:noFill/>
        </p:spPr>
      </p:pic>
    </p:spTree>
    <p:extLst>
      <p:ext uri="{BB962C8B-B14F-4D97-AF65-F5344CB8AC3E}">
        <p14:creationId xmlns:p14="http://schemas.microsoft.com/office/powerpoint/2010/main" val="3667277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7077A8-EDD8-F1DD-4DBD-AB8640752E9F}"/>
              </a:ext>
            </a:extLst>
          </p:cNvPr>
          <p:cNvSpPr>
            <a:spLocks noGrp="1"/>
          </p:cNvSpPr>
          <p:nvPr>
            <p:ph type="title"/>
          </p:nvPr>
        </p:nvSpPr>
        <p:spPr/>
        <p:txBody>
          <a:bodyPr>
            <a:normAutofit/>
          </a:bodyPr>
          <a:lstStyle/>
          <a:p>
            <a:pPr algn="ctr"/>
            <a:r>
              <a:rPr lang="en-US" sz="3600" b="1" dirty="0">
                <a:latin typeface="+mn-lt"/>
              </a:rPr>
              <a:t>G</a:t>
            </a:r>
            <a:r>
              <a:rPr lang="en-IN" sz="3600" b="1" dirty="0">
                <a:latin typeface="+mn-lt"/>
              </a:rPr>
              <a:t>ROUP DYNAMICS</a:t>
            </a:r>
          </a:p>
        </p:txBody>
      </p:sp>
      <p:sp>
        <p:nvSpPr>
          <p:cNvPr id="9" name="Content Placeholder 8">
            <a:extLst>
              <a:ext uri="{FF2B5EF4-FFF2-40B4-BE49-F238E27FC236}">
                <a16:creationId xmlns:a16="http://schemas.microsoft.com/office/drawing/2014/main" id="{AE6694D2-D818-C866-AA22-76F4BF70C2EE}"/>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lnSpc>
                <a:spcPct val="150000"/>
              </a:lnSpc>
              <a:spcAft>
                <a:spcPts val="800"/>
              </a:spcAft>
              <a:buFont typeface="Arial" panose="020B0604020202020204" pitchFamily="34" charset="0"/>
              <a:buChar char="•"/>
            </a:pPr>
            <a:r>
              <a:rPr lang="en-IN" sz="2400" kern="100" dirty="0">
                <a:latin typeface="Times New Roman" panose="02020603050405020304" pitchFamily="18" charset="0"/>
                <a:cs typeface="Times New Roman" panose="02020603050405020304" pitchFamily="18" charset="0"/>
              </a:rPr>
              <a:t>A group is a two or more individual who interact regularly with each other in an organization to accomplish a common purpose or goal.</a:t>
            </a:r>
          </a:p>
          <a:p>
            <a:pPr marL="342900" indent="-342900" algn="just">
              <a:lnSpc>
                <a:spcPct val="150000"/>
              </a:lnSpc>
              <a:spcAft>
                <a:spcPts val="800"/>
              </a:spcAft>
              <a:buFont typeface="Arial" panose="020B0604020202020204" pitchFamily="34" charset="0"/>
              <a:buChar char="•"/>
            </a:pPr>
            <a:r>
              <a:rPr lang="en-IN" sz="2400" kern="100" dirty="0">
                <a:latin typeface="Times New Roman" panose="02020603050405020304" pitchFamily="18" charset="0"/>
                <a:cs typeface="Times New Roman" panose="02020603050405020304" pitchFamily="18" charset="0"/>
              </a:rPr>
              <a:t>Dynamics is a word that has Greek origin. It means force. </a:t>
            </a:r>
          </a:p>
          <a:p>
            <a:pPr marL="342900" indent="-342900" algn="just">
              <a:lnSpc>
                <a:spcPct val="150000"/>
              </a:lnSpc>
              <a:spcAft>
                <a:spcPts val="800"/>
              </a:spcAft>
              <a:buFont typeface="Arial" panose="020B0604020202020204" pitchFamily="34" charset="0"/>
              <a:buChar char="•"/>
            </a:pPr>
            <a:r>
              <a:rPr lang="en-IN" sz="2400" kern="100" dirty="0">
                <a:latin typeface="Times New Roman" panose="02020603050405020304" pitchFamily="18" charset="0"/>
                <a:cs typeface="Times New Roman" panose="02020603050405020304" pitchFamily="18" charset="0"/>
              </a:rPr>
              <a:t>Therefore, Group Dynamics relates to the study of different forces that are operating within an organization or a group.</a:t>
            </a:r>
          </a:p>
          <a:p>
            <a:pPr marL="342900" indent="-342900" algn="just">
              <a:lnSpc>
                <a:spcPct val="150000"/>
              </a:lnSpc>
              <a:spcAft>
                <a:spcPts val="800"/>
              </a:spcAft>
              <a:buFont typeface="Arial" panose="020B0604020202020204" pitchFamily="34" charset="0"/>
              <a:buChar char="•"/>
            </a:pPr>
            <a:r>
              <a:rPr lang="en-IN" sz="2400" kern="100" dirty="0">
                <a:latin typeface="Times New Roman" panose="02020603050405020304" pitchFamily="18" charset="0"/>
                <a:cs typeface="Times New Roman" panose="02020603050405020304" pitchFamily="18" charset="0"/>
              </a:rPr>
              <a:t>Group Dynamics studies the interaction taking place within a group (intragroup). It also considers the interaction that takes place within each group.</a:t>
            </a:r>
          </a:p>
        </p:txBody>
      </p:sp>
    </p:spTree>
    <p:extLst>
      <p:ext uri="{BB962C8B-B14F-4D97-AF65-F5344CB8AC3E}">
        <p14:creationId xmlns:p14="http://schemas.microsoft.com/office/powerpoint/2010/main" val="1671604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A16159-B371-6AC7-7291-C4E988F97DFD}"/>
              </a:ext>
            </a:extLst>
          </p:cNvPr>
          <p:cNvSpPr>
            <a:spLocks noGrp="1"/>
          </p:cNvSpPr>
          <p:nvPr>
            <p:ph type="title"/>
          </p:nvPr>
        </p:nvSpPr>
        <p:spPr/>
        <p:txBody>
          <a:bodyPr>
            <a:normAutofit fontScale="90000"/>
          </a:bodyPr>
          <a:lstStyle/>
          <a:p>
            <a:pPr algn="ct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Theories of Group Dynamics </a:t>
            </a:r>
            <a:br>
              <a:rPr lang="en-IN" b="1" dirty="0">
                <a:latin typeface="Times New Roman" panose="02020603050405020304" pitchFamily="18" charset="0"/>
                <a:cs typeface="Times New Roman" panose="02020603050405020304" pitchFamily="18" charset="0"/>
              </a:rPr>
            </a:br>
            <a:endParaRPr lang="en-IN" dirty="0"/>
          </a:p>
        </p:txBody>
      </p:sp>
      <p:sp>
        <p:nvSpPr>
          <p:cNvPr id="5" name="Content Placeholder 4">
            <a:extLst>
              <a:ext uri="{FF2B5EF4-FFF2-40B4-BE49-F238E27FC236}">
                <a16:creationId xmlns:a16="http://schemas.microsoft.com/office/drawing/2014/main" id="{7B4AF608-A08E-A070-6625-823F208B87D6}"/>
              </a:ext>
            </a:extLst>
          </p:cNvPr>
          <p:cNvSpPr txBox="1">
            <a:spLocks noGrp="1"/>
          </p:cNvSpPr>
          <p:nvPr>
            <p:ph idx="1"/>
          </p:nvPr>
        </p:nvSpPr>
        <p:spPr>
          <a:xfrm>
            <a:off x="217488" y="1176338"/>
            <a:ext cx="11728450" cy="5000625"/>
          </a:xfrm>
          <a:prstGeom prst="rect">
            <a:avLst/>
          </a:prstGeom>
          <a:noFill/>
        </p:spPr>
        <p:txBody>
          <a:bodyPr wrap="square">
            <a:spAutoFit/>
          </a:bodyPr>
          <a:lstStyle/>
          <a:p>
            <a:pPr algn="just">
              <a:lnSpc>
                <a:spcPct val="150000"/>
              </a:lnSpc>
              <a:spcAft>
                <a:spcPts val="800"/>
              </a:spcAft>
            </a:pPr>
            <a:r>
              <a:rPr lang="en-IN" sz="2400" b="1" kern="100" dirty="0">
                <a:latin typeface="Times New Roman" panose="02020603050405020304" pitchFamily="18" charset="0"/>
                <a:cs typeface="Times New Roman" panose="02020603050405020304" pitchFamily="18" charset="0"/>
              </a:rPr>
              <a:t>1. Propinquity/Proximity Theory</a:t>
            </a:r>
          </a:p>
          <a:p>
            <a:pPr algn="just">
              <a:lnSpc>
                <a:spcPct val="150000"/>
              </a:lnSpc>
              <a:spcAft>
                <a:spcPts val="800"/>
              </a:spcAft>
            </a:pPr>
            <a:r>
              <a:rPr lang="en-IN" sz="2400" kern="100" dirty="0">
                <a:latin typeface="Times New Roman" panose="02020603050405020304" pitchFamily="18" charset="0"/>
                <a:cs typeface="Times New Roman" panose="02020603050405020304" pitchFamily="18" charset="0"/>
              </a:rPr>
              <a:t>This theory states that individuals and groups can affiliate with one another because of spatial or geographic proximity. The more near people are at the workplace, the more probability they have to be in groups.</a:t>
            </a:r>
          </a:p>
          <a:p>
            <a:pPr algn="just">
              <a:lnSpc>
                <a:spcPct val="150000"/>
              </a:lnSpc>
              <a:spcAft>
                <a:spcPts val="800"/>
              </a:spcAft>
            </a:pPr>
            <a:r>
              <a:rPr lang="en-IN" sz="2400" b="1" kern="100" dirty="0">
                <a:latin typeface="Times New Roman" panose="02020603050405020304" pitchFamily="18" charset="0"/>
                <a:cs typeface="Times New Roman" panose="02020603050405020304" pitchFamily="18" charset="0"/>
              </a:rPr>
              <a:t>2. Homan’s/Activity/Interaction Theory</a:t>
            </a:r>
          </a:p>
          <a:p>
            <a:pPr algn="just">
              <a:lnSpc>
                <a:spcPct val="150000"/>
              </a:lnSpc>
              <a:spcAft>
                <a:spcPts val="800"/>
              </a:spcAft>
            </a:pPr>
            <a:r>
              <a:rPr lang="en-IN" sz="2400" kern="100" dirty="0">
                <a:latin typeface="Times New Roman" panose="02020603050405020304" pitchFamily="18" charset="0"/>
                <a:cs typeface="Times New Roman" panose="02020603050405020304" pitchFamily="18" charset="0"/>
              </a:rPr>
              <a:t>According to this theory, more the involvement through activities, more the interactions and more the emotions and therefore more the probability to be in groups</a:t>
            </a:r>
            <a:r>
              <a:rPr lang="en-IN" sz="1800" kern="100" dirty="0">
                <a:effectLst/>
                <a:latin typeface="Times New Roman" panose="02020603050405020304" pitchFamily="18" charset="0"/>
                <a:ea typeface="Calibri" panose="020F0502020204030204" pitchFamily="34" charset="0"/>
                <a:cs typeface="Mangal" panose="02040503050203030202" pitchFamily="18" charset="0"/>
              </a:rPr>
              <a:t>.</a:t>
            </a:r>
            <a:endParaRPr lang="en-IN" sz="1800" kern="1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8078118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B1846C-0E7C-C0C7-31B2-70402E7DF469}"/>
              </a:ext>
            </a:extLst>
          </p:cNvPr>
          <p:cNvSpPr>
            <a:spLocks noGrp="1"/>
          </p:cNvSpPr>
          <p:nvPr>
            <p:ph type="title"/>
          </p:nvPr>
        </p:nvSpPr>
        <p:spPr/>
        <p:txBody>
          <a:bodyPr/>
          <a:lstStyle/>
          <a:p>
            <a:pPr algn="ctr"/>
            <a:r>
              <a:rPr lang="en-IN" dirty="0"/>
              <a:t>Cont..</a:t>
            </a:r>
          </a:p>
        </p:txBody>
      </p:sp>
      <p:sp>
        <p:nvSpPr>
          <p:cNvPr id="6" name="Content Placeholder 5">
            <a:extLst>
              <a:ext uri="{FF2B5EF4-FFF2-40B4-BE49-F238E27FC236}">
                <a16:creationId xmlns:a16="http://schemas.microsoft.com/office/drawing/2014/main" id="{97955C90-4EFA-4A52-0FB8-5855F1087089}"/>
              </a:ext>
            </a:extLst>
          </p:cNvPr>
          <p:cNvSpPr>
            <a:spLocks noGrp="1" noChangeArrowheads="1"/>
          </p:cNvSpPr>
          <p:nvPr>
            <p:ph idx="1"/>
          </p:nvPr>
        </p:nvSpPr>
        <p:spPr bwMode="auto">
          <a:xfrm>
            <a:off x="217488" y="1176338"/>
            <a:ext cx="11728450" cy="500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effectLst/>
                <a:latin typeface="Times New Roman" panose="02020603050405020304" pitchFamily="18" charset="0"/>
                <a:ea typeface="Calibri" panose="020F0502020204030204" pitchFamily="34" charset="0"/>
                <a:cs typeface="Times New Roman" panose="02020603050405020304" pitchFamily="18" charset="0"/>
              </a:rPr>
              <a:t>3. Balance Theory</a:t>
            </a: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dirty="0">
                <a:ln>
                  <a:noFill/>
                </a:ln>
                <a:effectLst/>
                <a:latin typeface="Times New Roman" panose="02020603050405020304" pitchFamily="18" charset="0"/>
                <a:ea typeface="Calibri" panose="020F0502020204030204" pitchFamily="34" charset="0"/>
                <a:cs typeface="Times New Roman" panose="02020603050405020304" pitchFamily="18" charset="0"/>
              </a:rPr>
              <a:t>This theory claims that persons are attracted to one another on the basis of similar attitudes towards commonly relevant objects and goals. The given theory is the additive of above two theories and balance between Propinquity and Homan’s theory.</a:t>
            </a: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dirty="0">
                <a:ln>
                  <a:noFill/>
                </a:ln>
                <a:effectLst/>
                <a:latin typeface="Times New Roman" panose="02020603050405020304" pitchFamily="18" charset="0"/>
                <a:ea typeface="Calibri" panose="020F0502020204030204" pitchFamily="34" charset="0"/>
                <a:cs typeface="Times New Roman" panose="02020603050405020304" pitchFamily="18" charset="0"/>
              </a:rPr>
              <a:t>4. Exchange/Benefit Theory </a:t>
            </a:r>
          </a:p>
          <a:p>
            <a:pPr algn="just" eaLnBrk="0" fontAlgn="base" hangingPunct="0">
              <a:lnSpc>
                <a:spcPct val="150000"/>
              </a:lnSpc>
              <a:spcBef>
                <a:spcPct val="0"/>
              </a:spcBef>
              <a:spcAft>
                <a:spcPct val="0"/>
              </a:spcAft>
            </a:pPr>
            <a:r>
              <a:rPr kumimoji="0" lang="en-US" altLang="en-US" sz="2400" b="0" i="0" u="none" strike="noStrike" cap="none" normalizeH="0" baseline="0" dirty="0">
                <a:ln>
                  <a:noFill/>
                </a:ln>
                <a:effectLst/>
                <a:latin typeface="Times New Roman" panose="02020603050405020304" pitchFamily="18" charset="0"/>
                <a:ea typeface="Calibri" panose="020F0502020204030204" pitchFamily="34" charset="0"/>
                <a:cs typeface="Times New Roman" panose="02020603050405020304" pitchFamily="18" charset="0"/>
              </a:rPr>
              <a:t>According to this theory, the outcome of a relationship must be rewarding in order to have attraction or affiliation among the members of a group.</a:t>
            </a: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6083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5E8D06F-D5F2-6D86-4A69-4C55EE9185C3}"/>
              </a:ext>
            </a:extLst>
          </p:cNvPr>
          <p:cNvSpPr>
            <a:spLocks noGrp="1"/>
          </p:cNvSpPr>
          <p:nvPr>
            <p:ph type="title"/>
          </p:nvPr>
        </p:nvSpPr>
        <p:spPr/>
        <p:txBody>
          <a:bodyPr/>
          <a:lstStyle/>
          <a:p>
            <a:r>
              <a:rPr lang="en-IN" dirty="0"/>
              <a:t>Cont.</a:t>
            </a:r>
          </a:p>
        </p:txBody>
      </p:sp>
      <p:pic>
        <p:nvPicPr>
          <p:cNvPr id="4" name="Picture 2" descr="GROUP DYNAMICS: GROUP FORMATION">
            <a:extLst>
              <a:ext uri="{FF2B5EF4-FFF2-40B4-BE49-F238E27FC236}">
                <a16:creationId xmlns:a16="http://schemas.microsoft.com/office/drawing/2014/main" id="{7517D39E-4F41-4B1D-3D10-472A8A8F07A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7963" y="1176338"/>
            <a:ext cx="6667500" cy="500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9421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AF37F1-7698-7CAB-3059-197751FBA9A6}"/>
              </a:ext>
            </a:extLst>
          </p:cNvPr>
          <p:cNvSpPr>
            <a:spLocks noGrp="1"/>
          </p:cNvSpPr>
          <p:nvPr>
            <p:ph type="title"/>
          </p:nvPr>
        </p:nvSpPr>
        <p:spPr/>
        <p:txBody>
          <a:bodyPr>
            <a:normAutofit/>
          </a:bodyPr>
          <a:lstStyle/>
          <a:p>
            <a:pPr algn="ctr"/>
            <a:r>
              <a:rPr lang="en-IN" sz="3600" dirty="0"/>
              <a:t>CLASSIFICATION OF GROUP DYNAMICS</a:t>
            </a:r>
          </a:p>
        </p:txBody>
      </p:sp>
      <p:sp>
        <p:nvSpPr>
          <p:cNvPr id="6" name="Content Placeholder 5">
            <a:extLst>
              <a:ext uri="{FF2B5EF4-FFF2-40B4-BE49-F238E27FC236}">
                <a16:creationId xmlns:a16="http://schemas.microsoft.com/office/drawing/2014/main" id="{E632861C-C27A-23BE-634C-003FF77A9664}"/>
              </a:ext>
            </a:extLst>
          </p:cNvPr>
          <p:cNvSpPr txBox="1">
            <a:spLocks noGrp="1"/>
          </p:cNvSpPr>
          <p:nvPr>
            <p:ph idx="1"/>
          </p:nvPr>
        </p:nvSpPr>
        <p:spPr>
          <a:xfrm>
            <a:off x="217488" y="1176338"/>
            <a:ext cx="11728450" cy="5000625"/>
          </a:xfrm>
          <a:prstGeom prst="rect">
            <a:avLst/>
          </a:prstGeom>
          <a:noFill/>
        </p:spPr>
        <p:txBody>
          <a:bodyPr wrap="square">
            <a:spAutoFit/>
          </a:bodyPr>
          <a:lstStyle/>
          <a:p>
            <a:pPr marL="379095" marR="36195" indent="-342900" algn="just" fontAlgn="base">
              <a:lnSpc>
                <a:spcPct val="107000"/>
              </a:lnSpc>
              <a:spcBef>
                <a:spcPts val="200"/>
              </a:spcBef>
              <a:buFont typeface="Arial" panose="020B0604020202020204" pitchFamily="34" charset="0"/>
              <a:buChar char="•"/>
            </a:pPr>
            <a:r>
              <a:rPr lang="en-IN" sz="2400" spc="-15" dirty="0">
                <a:effectLst/>
                <a:latin typeface="Times New Roman" panose="02020603050405020304" pitchFamily="18" charset="0"/>
                <a:ea typeface="Times New Roman" panose="02020603050405020304" pitchFamily="18" charset="0"/>
                <a:cs typeface="Times New Roman" panose="02020603050405020304" pitchFamily="18" charset="0"/>
              </a:rPr>
              <a:t>With the advancement of societies, several social groups emerged over the course of time. </a:t>
            </a:r>
          </a:p>
          <a:p>
            <a:pPr marL="379095" marR="36195" indent="-342900" algn="just" fontAlgn="base">
              <a:lnSpc>
                <a:spcPct val="107000"/>
              </a:lnSpc>
              <a:spcBef>
                <a:spcPts val="200"/>
              </a:spcBef>
              <a:buFont typeface="Arial" panose="020B0604020202020204" pitchFamily="34" charset="0"/>
              <a:buChar char="•"/>
            </a:pPr>
            <a:r>
              <a:rPr lang="en-IN" sz="2400" spc="-15" dirty="0">
                <a:effectLst/>
                <a:latin typeface="Times New Roman" panose="02020603050405020304" pitchFamily="18" charset="0"/>
                <a:ea typeface="Times New Roman" panose="02020603050405020304" pitchFamily="18" charset="0"/>
                <a:cs typeface="Times New Roman" panose="02020603050405020304" pitchFamily="18" charset="0"/>
              </a:rPr>
              <a:t>Since every such group has its own ideologies and attitudes, each one functions differently. </a:t>
            </a:r>
          </a:p>
          <a:p>
            <a:pPr marL="379095" marR="36195" indent="-342900" algn="just" fontAlgn="base">
              <a:lnSpc>
                <a:spcPct val="107000"/>
              </a:lnSpc>
              <a:spcBef>
                <a:spcPts val="200"/>
              </a:spcBef>
              <a:buFont typeface="Arial" panose="020B0604020202020204" pitchFamily="34" charset="0"/>
              <a:buChar char="•"/>
            </a:pPr>
            <a:r>
              <a:rPr lang="en-IN" sz="2400" spc="-15" dirty="0">
                <a:effectLst/>
                <a:latin typeface="Times New Roman" panose="02020603050405020304" pitchFamily="18" charset="0"/>
                <a:ea typeface="Times New Roman" panose="02020603050405020304" pitchFamily="18" charset="0"/>
                <a:cs typeface="Times New Roman" panose="02020603050405020304" pitchFamily="18" charset="0"/>
              </a:rPr>
              <a:t>Individual members with differing thought processes exert even more influence in their functioning. </a:t>
            </a:r>
          </a:p>
          <a:p>
            <a:pPr marL="379095" marR="36195" indent="-342900" algn="just" fontAlgn="base">
              <a:lnSpc>
                <a:spcPct val="107000"/>
              </a:lnSpc>
              <a:spcBef>
                <a:spcPts val="200"/>
              </a:spcBef>
              <a:buFont typeface="Arial" panose="020B0604020202020204" pitchFamily="34" charset="0"/>
              <a:buChar char="•"/>
            </a:pPr>
            <a:r>
              <a:rPr lang="en-IN" sz="2400" spc="-15" dirty="0">
                <a:effectLst/>
                <a:latin typeface="Times New Roman" panose="02020603050405020304" pitchFamily="18" charset="0"/>
                <a:ea typeface="Times New Roman" panose="02020603050405020304" pitchFamily="18" charset="0"/>
                <a:cs typeface="Times New Roman" panose="02020603050405020304" pitchFamily="18" charset="0"/>
              </a:rPr>
              <a:t>This is why we need to study the classification of groups to understand how they operate.</a:t>
            </a:r>
            <a:endParaRPr lang="en-IN" sz="2400" b="1" kern="100" dirty="0">
              <a:solidFill>
                <a:srgbClr val="1F376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79095" marR="36195" indent="-342900" algn="just" fontAlgn="base">
              <a:lnSpc>
                <a:spcPct val="107000"/>
              </a:lnSpc>
              <a:spcBef>
                <a:spcPts val="200"/>
              </a:spcBef>
              <a:buFont typeface="Arial" panose="020B0604020202020204" pitchFamily="34" charset="0"/>
              <a:buChar char="•"/>
            </a:pPr>
            <a:r>
              <a:rPr lang="en-IN" sz="24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 can classify groups into the following general categories: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0726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6A7CCB-2C34-9DDE-3053-0870D8ECE0E1}"/>
              </a:ext>
            </a:extLst>
          </p:cNvPr>
          <p:cNvSpPr>
            <a:spLocks noGrp="1"/>
          </p:cNvSpPr>
          <p:nvPr>
            <p:ph type="title"/>
          </p:nvPr>
        </p:nvSpPr>
        <p:spPr/>
        <p:txBody>
          <a:bodyPr/>
          <a:lstStyle/>
          <a:p>
            <a:r>
              <a:rPr lang="en-IN" dirty="0" err="1"/>
              <a:t>Cont</a:t>
            </a:r>
            <a:r>
              <a:rPr lang="en-IN" dirty="0"/>
              <a:t>…</a:t>
            </a:r>
          </a:p>
        </p:txBody>
      </p:sp>
      <p:sp>
        <p:nvSpPr>
          <p:cNvPr id="6" name="Content Placeholder 5">
            <a:extLst>
              <a:ext uri="{FF2B5EF4-FFF2-40B4-BE49-F238E27FC236}">
                <a16:creationId xmlns:a16="http://schemas.microsoft.com/office/drawing/2014/main" id="{067DE5E1-4CAC-1F19-C96F-21449E23D83A}"/>
              </a:ext>
            </a:extLst>
          </p:cNvPr>
          <p:cNvSpPr txBox="1">
            <a:spLocks noGrp="1"/>
          </p:cNvSpPr>
          <p:nvPr>
            <p:ph idx="1"/>
          </p:nvPr>
        </p:nvSpPr>
        <p:spPr>
          <a:xfrm>
            <a:off x="217488" y="1176338"/>
            <a:ext cx="11728450" cy="5000625"/>
          </a:xfrm>
          <a:prstGeom prst="rect">
            <a:avLst/>
          </a:prstGeom>
          <a:noFill/>
        </p:spPr>
        <p:txBody>
          <a:bodyPr wrap="square">
            <a:spAutoFit/>
          </a:bodyPr>
          <a:lstStyle/>
          <a:p>
            <a:pPr marL="493395" marR="36195" indent="-457200" algn="just">
              <a:spcBef>
                <a:spcPts val="500"/>
              </a:spcBef>
              <a:spcAft>
                <a:spcPts val="500"/>
              </a:spcAft>
              <a:buAutoNum type="arabicParenR"/>
            </a:pPr>
            <a:r>
              <a:rPr lang="en-IN" sz="2400" b="1" spc="-15" dirty="0">
                <a:latin typeface="Times New Roman" panose="02020603050405020304" pitchFamily="18" charset="0"/>
                <a:cs typeface="Times New Roman" panose="02020603050405020304" pitchFamily="18" charset="0"/>
              </a:rPr>
              <a:t>Primary v. Secondary Groups: </a:t>
            </a:r>
          </a:p>
          <a:p>
            <a:pPr marL="36195" marR="36195" algn="just">
              <a:spcBef>
                <a:spcPts val="500"/>
              </a:spcBef>
              <a:spcAft>
                <a:spcPts val="500"/>
              </a:spcAft>
            </a:pPr>
            <a:r>
              <a:rPr lang="en-IN" sz="2000" spc="-15" dirty="0">
                <a:solidFill>
                  <a:srgbClr val="000000"/>
                </a:solidFill>
                <a:effectLst/>
                <a:latin typeface="Times New Roman" panose="02020603050405020304" pitchFamily="18" charset="0"/>
                <a:ea typeface="Times New Roman" panose="02020603050405020304" pitchFamily="18" charset="0"/>
              </a:rPr>
              <a:t>Primary groups are those which are generally small and emerge due to feelings of intimacy or friendship. For example, family groups, groups of friends in offices, etc.</a:t>
            </a:r>
            <a:endParaRPr lang="en-IN" sz="2000" dirty="0">
              <a:effectLst/>
              <a:latin typeface="Times New Roman" panose="02020603050405020304" pitchFamily="18" charset="0"/>
              <a:ea typeface="Times New Roman" panose="02020603050405020304" pitchFamily="18" charset="0"/>
            </a:endParaRPr>
          </a:p>
          <a:p>
            <a:pPr marL="36195" marR="36195" algn="just">
              <a:spcBef>
                <a:spcPts val="500"/>
              </a:spcBef>
              <a:spcAft>
                <a:spcPts val="500"/>
              </a:spcAft>
            </a:pPr>
            <a:r>
              <a:rPr lang="en-IN" sz="2000" spc="-20" dirty="0">
                <a:solidFill>
                  <a:srgbClr val="000000"/>
                </a:solidFill>
                <a:effectLst/>
                <a:latin typeface="Times New Roman" panose="02020603050405020304" pitchFamily="18" charset="0"/>
                <a:ea typeface="Times New Roman" panose="02020603050405020304" pitchFamily="18" charset="0"/>
              </a:rPr>
              <a:t>On the other hand, secondary groups are much larger and are based on the mutual beliefs of members. The members of these groups might not interact with each other personally. For example, associations of people belonging to a profession, like doctors or lawyers, are secondary groups.</a:t>
            </a:r>
            <a:endParaRPr lang="en-IN" sz="2000" dirty="0">
              <a:effectLst/>
              <a:latin typeface="Times New Roman" panose="02020603050405020304" pitchFamily="18" charset="0"/>
              <a:ea typeface="Times New Roman" panose="02020603050405020304" pitchFamily="18" charset="0"/>
            </a:endParaRPr>
          </a:p>
          <a:p>
            <a:pPr marL="36195" marR="36195" algn="just">
              <a:lnSpc>
                <a:spcPct val="107000"/>
              </a:lnSpc>
              <a:spcBef>
                <a:spcPts val="200"/>
              </a:spcBef>
            </a:pPr>
            <a:r>
              <a:rPr lang="en-IN" sz="2400" b="1" spc="-15" dirty="0">
                <a:latin typeface="Times New Roman" panose="02020603050405020304" pitchFamily="18" charset="0"/>
                <a:cs typeface="Times New Roman" panose="02020603050405020304" pitchFamily="18" charset="0"/>
              </a:rPr>
              <a:t>2. Membership v. Reference Groups</a:t>
            </a:r>
          </a:p>
          <a:p>
            <a:pPr marL="36195" marR="36195" algn="just">
              <a:spcBef>
                <a:spcPts val="500"/>
              </a:spcBef>
              <a:spcAft>
                <a:spcPts val="500"/>
              </a:spcAft>
            </a:pPr>
            <a:r>
              <a:rPr lang="en-IN" sz="2000" spc="-15" dirty="0">
                <a:solidFill>
                  <a:srgbClr val="000000"/>
                </a:solidFill>
                <a:latin typeface="Times New Roman" panose="02020603050405020304" pitchFamily="18" charset="0"/>
              </a:rPr>
              <a:t>Membership groups are those to which people belong, while reference groups are those to which they wish to belong.</a:t>
            </a:r>
          </a:p>
        </p:txBody>
      </p:sp>
    </p:spTree>
    <p:extLst>
      <p:ext uri="{BB962C8B-B14F-4D97-AF65-F5344CB8AC3E}">
        <p14:creationId xmlns:p14="http://schemas.microsoft.com/office/powerpoint/2010/main" val="47339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290614-3FB1-E7CA-5F23-BF3D32093E22}"/>
              </a:ext>
            </a:extLst>
          </p:cNvPr>
          <p:cNvSpPr>
            <a:spLocks noGrp="1"/>
          </p:cNvSpPr>
          <p:nvPr>
            <p:ph type="title"/>
          </p:nvPr>
        </p:nvSpPr>
        <p:spPr/>
        <p:txBody>
          <a:bodyPr/>
          <a:lstStyle/>
          <a:p>
            <a:r>
              <a:rPr lang="en-IN" dirty="0"/>
              <a:t>Cont..</a:t>
            </a:r>
          </a:p>
        </p:txBody>
      </p:sp>
      <p:sp>
        <p:nvSpPr>
          <p:cNvPr id="6" name="Content Placeholder 5">
            <a:extLst>
              <a:ext uri="{FF2B5EF4-FFF2-40B4-BE49-F238E27FC236}">
                <a16:creationId xmlns:a16="http://schemas.microsoft.com/office/drawing/2014/main" id="{8E3907E4-423A-8CFC-9448-D4DD8A50247D}"/>
              </a:ext>
            </a:extLst>
          </p:cNvPr>
          <p:cNvSpPr txBox="1">
            <a:spLocks noGrp="1"/>
          </p:cNvSpPr>
          <p:nvPr>
            <p:ph idx="1"/>
          </p:nvPr>
        </p:nvSpPr>
        <p:spPr>
          <a:xfrm>
            <a:off x="217488" y="1176338"/>
            <a:ext cx="11728450" cy="5000625"/>
          </a:xfrm>
          <a:prstGeom prst="rect">
            <a:avLst/>
          </a:prstGeom>
          <a:noFill/>
        </p:spPr>
        <p:txBody>
          <a:bodyPr wrap="square">
            <a:spAutoFit/>
          </a:bodyPr>
          <a:lstStyle/>
          <a:p>
            <a:pPr marL="36195" marR="36195" algn="just">
              <a:spcBef>
                <a:spcPts val="200"/>
              </a:spcBef>
            </a:pPr>
            <a:r>
              <a:rPr lang="en-IN" sz="20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Command v. Task Groups</a:t>
            </a:r>
            <a:endParaRPr lang="en-IN" sz="2000" b="1" kern="100" dirty="0">
              <a:solidFill>
                <a:srgbClr val="1F376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6195" marR="36195" algn="just">
              <a:spcBef>
                <a:spcPts val="500"/>
              </a:spcBef>
              <a:spcAft>
                <a:spcPts val="500"/>
              </a:spcAft>
            </a:pPr>
            <a:r>
              <a:rPr lang="en-IN" sz="20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Command groups involve a hierarchical structure wherein a member with a superior rank oversees other members. For example, the manager of a shop and his subordinate sales staff will become a command group.</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6195" marR="36195" algn="just">
              <a:spcBef>
                <a:spcPts val="500"/>
              </a:spcBef>
              <a:spcAft>
                <a:spcPts val="500"/>
              </a:spcAft>
            </a:pPr>
            <a:r>
              <a:rPr lang="en-IN" sz="20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a task group, members perform the same functions but they do not share a hierarchical command structure. For example, all the sales staff members together subordinate to the manager of the shop.</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6195" marR="36195" algn="just">
              <a:spcBef>
                <a:spcPts val="200"/>
              </a:spcBef>
            </a:pPr>
            <a:r>
              <a:rPr lang="en-IN" sz="20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Interest v. Friendship Groups</a:t>
            </a:r>
            <a:endParaRPr lang="en-IN" sz="2000" b="1" kern="100" dirty="0">
              <a:solidFill>
                <a:srgbClr val="1F376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6195" marR="36195" algn="just">
              <a:spcBef>
                <a:spcPts val="500"/>
              </a:spcBef>
              <a:spcAft>
                <a:spcPts val="500"/>
              </a:spcAft>
            </a:pPr>
            <a:r>
              <a:rPr lang="en-IN" sz="20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An interest group always involves members sharing common and mutual goals. For example, a firm of partners will be an interest group. A friendship group, however, need not have common interests but members share mutual attributes. For example, they may belong to the same place or support the same sports team.</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79285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DCC5DF-FCEE-CD9D-8E71-1B68F4691F1B}"/>
              </a:ext>
            </a:extLst>
          </p:cNvPr>
          <p:cNvSpPr>
            <a:spLocks noGrp="1"/>
          </p:cNvSpPr>
          <p:nvPr>
            <p:ph type="title"/>
          </p:nvPr>
        </p:nvSpPr>
        <p:spPr/>
        <p:txBody>
          <a:bodyPr>
            <a:normAutofit/>
          </a:bodyPr>
          <a:lstStyle/>
          <a:p>
            <a:pPr algn="ctr"/>
            <a:r>
              <a:rPr lang="en-US" sz="2400" dirty="0"/>
              <a:t>C</a:t>
            </a:r>
            <a:r>
              <a:rPr lang="en-IN" sz="2400" dirty="0"/>
              <a:t>LASSIFICATION OF GROUP DYNAMICS</a:t>
            </a:r>
          </a:p>
        </p:txBody>
      </p:sp>
      <p:sp>
        <p:nvSpPr>
          <p:cNvPr id="6" name="Content Placeholder 5">
            <a:extLst>
              <a:ext uri="{FF2B5EF4-FFF2-40B4-BE49-F238E27FC236}">
                <a16:creationId xmlns:a16="http://schemas.microsoft.com/office/drawing/2014/main" id="{DB5E7B21-F587-82F6-7285-8C053A349EB8}"/>
              </a:ext>
            </a:extLst>
          </p:cNvPr>
          <p:cNvSpPr txBox="1">
            <a:spLocks noGrp="1"/>
          </p:cNvSpPr>
          <p:nvPr>
            <p:ph idx="1"/>
          </p:nvPr>
        </p:nvSpPr>
        <p:spPr>
          <a:xfrm>
            <a:off x="217488" y="1176338"/>
            <a:ext cx="11728450" cy="5000625"/>
          </a:xfrm>
          <a:prstGeom prst="rect">
            <a:avLst/>
          </a:prstGeom>
          <a:noFill/>
        </p:spPr>
        <p:txBody>
          <a:bodyPr wrap="square">
            <a:spAutoFit/>
          </a:bodyPr>
          <a:lstStyle/>
          <a:p>
            <a:pPr marL="36195" marR="36195" algn="just">
              <a:lnSpc>
                <a:spcPct val="107000"/>
              </a:lnSpc>
              <a:spcBef>
                <a:spcPts val="200"/>
              </a:spcBef>
            </a:pPr>
            <a:r>
              <a:rPr lang="en-IN"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Psychological v. Social Groups</a:t>
            </a:r>
            <a:endParaRPr lang="en-IN" sz="1800" b="1" kern="100"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6195" marR="36195" algn="just">
              <a:spcBef>
                <a:spcPts val="500"/>
              </a:spcBef>
              <a:spcAft>
                <a:spcPts val="500"/>
              </a:spcAft>
            </a:pPr>
            <a:r>
              <a:rPr lang="en-IN" sz="1800" spc="-15" dirty="0">
                <a:solidFill>
                  <a:srgbClr val="000000"/>
                </a:solidFill>
                <a:effectLst/>
                <a:latin typeface="Times New Roman" panose="02020603050405020304" pitchFamily="18" charset="0"/>
                <a:ea typeface="Times New Roman" panose="02020603050405020304" pitchFamily="18" charset="0"/>
              </a:rPr>
              <a:t>In a psychological group, two or more members interdependent on each other together influence other members as well. For example, parents in a family might dictate how all family members will behave.</a:t>
            </a:r>
            <a:endParaRPr lang="en-IN" sz="1800" dirty="0">
              <a:effectLst/>
              <a:latin typeface="Times New Roman" panose="02020603050405020304" pitchFamily="18" charset="0"/>
              <a:ea typeface="Times New Roman" panose="02020603050405020304" pitchFamily="18" charset="0"/>
            </a:endParaRPr>
          </a:p>
          <a:p>
            <a:pPr marL="36195" marR="36195" algn="just">
              <a:spcBef>
                <a:spcPts val="500"/>
              </a:spcBef>
              <a:spcAft>
                <a:spcPts val="500"/>
              </a:spcAft>
            </a:pPr>
            <a:r>
              <a:rPr lang="en-IN" sz="1800" spc="-15" dirty="0">
                <a:solidFill>
                  <a:srgbClr val="000000"/>
                </a:solidFill>
                <a:effectLst/>
                <a:latin typeface="Times New Roman" panose="02020603050405020304" pitchFamily="18" charset="0"/>
                <a:ea typeface="Times New Roman" panose="02020603050405020304" pitchFamily="18" charset="0"/>
              </a:rPr>
              <a:t>A social group comprises of interrelated psychological groups that have the same objectives. For example, members of regional offices of a company along with those at its headquarters.</a:t>
            </a:r>
            <a:endParaRPr lang="en-IN" sz="1800" dirty="0">
              <a:effectLst/>
              <a:latin typeface="Times New Roman" panose="02020603050405020304" pitchFamily="18" charset="0"/>
              <a:ea typeface="Times New Roman" panose="02020603050405020304" pitchFamily="18" charset="0"/>
            </a:endParaRPr>
          </a:p>
          <a:p>
            <a:pPr marL="36195" marR="36195" algn="just">
              <a:lnSpc>
                <a:spcPct val="107000"/>
              </a:lnSpc>
              <a:spcBef>
                <a:spcPts val="200"/>
              </a:spcBef>
            </a:pPr>
            <a:r>
              <a:rPr lang="en-IN" sz="1800" b="1"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6) Formal v. Informal Groups</a:t>
            </a:r>
            <a:endParaRPr lang="en-IN" sz="1800" b="1" kern="100"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6195" marR="36195" algn="just">
              <a:spcBef>
                <a:spcPts val="500"/>
              </a:spcBef>
              <a:spcAft>
                <a:spcPts val="500"/>
              </a:spcAft>
            </a:pPr>
            <a:r>
              <a:rPr lang="en-IN" sz="1800" spc="-15" dirty="0">
                <a:solidFill>
                  <a:srgbClr val="000000"/>
                </a:solidFill>
                <a:effectLst/>
                <a:latin typeface="Times New Roman" panose="02020603050405020304" pitchFamily="18" charset="0"/>
                <a:ea typeface="Times New Roman" panose="02020603050405020304" pitchFamily="18" charset="0"/>
              </a:rPr>
              <a:t>Formal groups are those which emerge out of a formal authority that has specific objectives. For example, a trade union will be a formal group. The members of formal groups behave according to their mutual goals.</a:t>
            </a:r>
            <a:endParaRPr lang="en-IN" sz="1800" dirty="0">
              <a:effectLst/>
              <a:latin typeface="Times New Roman" panose="02020603050405020304" pitchFamily="18" charset="0"/>
              <a:ea typeface="Times New Roman" panose="02020603050405020304" pitchFamily="18" charset="0"/>
            </a:endParaRPr>
          </a:p>
          <a:p>
            <a:pPr marL="36195" marR="36195" algn="just">
              <a:spcBef>
                <a:spcPts val="500"/>
              </a:spcBef>
              <a:spcAft>
                <a:spcPts val="500"/>
              </a:spcAft>
            </a:pPr>
            <a:r>
              <a:rPr lang="en-IN" sz="1800" spc="-15" dirty="0">
                <a:solidFill>
                  <a:srgbClr val="000000"/>
                </a:solidFill>
                <a:effectLst/>
                <a:latin typeface="Times New Roman" panose="02020603050405020304" pitchFamily="18" charset="0"/>
                <a:ea typeface="Times New Roman" panose="02020603050405020304" pitchFamily="18" charset="0"/>
              </a:rPr>
              <a:t>Informal groups emerge not from formal authorities but rather from personal or social interactions. The members of these groups might or might not have specific common goals. These groups generally emerge from feelings of friendship or camaraderie.</a:t>
            </a:r>
            <a:endParaRPr lang="en-I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7599196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189B444-5DA2-2ADE-6AD6-3E86DCDB541A}"/>
              </a:ext>
            </a:extLst>
          </p:cNvPr>
          <p:cNvSpPr>
            <a:spLocks noGrp="1"/>
          </p:cNvSpPr>
          <p:nvPr>
            <p:ph type="title"/>
          </p:nvPr>
        </p:nvSpPr>
        <p:spPr/>
        <p:txBody>
          <a:bodyPr>
            <a:normAutofit fontScale="90000"/>
          </a:bodyPr>
          <a:lstStyle/>
          <a:p>
            <a:pPr algn="ctr">
              <a:defRPr/>
            </a:pPr>
            <a:r>
              <a:rPr lang="en-IN" b="1" dirty="0">
                <a:latin typeface="Times New Roman" panose="02020603050405020304" pitchFamily="18" charset="0"/>
                <a:cs typeface="Times New Roman" panose="02020603050405020304" pitchFamily="18" charset="0"/>
              </a:rPr>
              <a:t>5 Dysfunctions of a Team: What They are and How to Overcome</a:t>
            </a:r>
          </a:p>
        </p:txBody>
      </p:sp>
      <p:sp>
        <p:nvSpPr>
          <p:cNvPr id="7" name="Content Placeholder 6">
            <a:extLst>
              <a:ext uri="{FF2B5EF4-FFF2-40B4-BE49-F238E27FC236}">
                <a16:creationId xmlns:a16="http://schemas.microsoft.com/office/drawing/2014/main" id="{F02F916A-3D28-306B-330A-BA7088DDCD8C}"/>
              </a:ext>
            </a:extLst>
          </p:cNvPr>
          <p:cNvSpPr txBox="1">
            <a:spLocks noGrp="1"/>
          </p:cNvSpPr>
          <p:nvPr>
            <p:ph idx="1"/>
          </p:nvPr>
        </p:nvSpPr>
        <p:spPr>
          <a:xfrm>
            <a:off x="217488" y="1176338"/>
            <a:ext cx="11728450" cy="5000625"/>
          </a:xfrm>
          <a:prstGeom prst="rect">
            <a:avLst/>
          </a:prstGeom>
          <a:noFill/>
        </p:spPr>
        <p:txBody>
          <a:bodyPr wrap="square">
            <a:spAutoFit/>
          </a:bodyPr>
          <a:lstStyle/>
          <a:p>
            <a:pPr algn="just">
              <a:lnSpc>
                <a:spcPct val="150000"/>
              </a:lnSpc>
              <a:spcAft>
                <a:spcPts val="2400"/>
              </a:spcAft>
            </a:pPr>
            <a:r>
              <a:rPr lang="en-IN" sz="2400" spc="-15" dirty="0">
                <a:solidFill>
                  <a:srgbClr val="000000"/>
                </a:solidFill>
                <a:effectLst/>
                <a:latin typeface="Times New Roman" panose="02020603050405020304" pitchFamily="18" charset="0"/>
                <a:ea typeface="Times New Roman" panose="02020603050405020304" pitchFamily="18" charset="0"/>
              </a:rPr>
              <a:t>The 5 dysfunctions take the form of a pyramid that resembles Maslow’s hierarchy of needs; just like Maslow, Lencioni believes that you cannot resolve the issues of a higher level without attending to the lower-level needs first.</a:t>
            </a:r>
            <a:endParaRPr lang="en-IN" sz="2400" dirty="0">
              <a:effectLst/>
              <a:latin typeface="Times New Roman" panose="02020603050405020304" pitchFamily="18" charset="0"/>
              <a:ea typeface="Times New Roman" panose="02020603050405020304" pitchFamily="18" charset="0"/>
            </a:endParaRPr>
          </a:p>
          <a:p>
            <a:pPr algn="just">
              <a:lnSpc>
                <a:spcPct val="150000"/>
              </a:lnSpc>
              <a:spcAft>
                <a:spcPts val="2400"/>
              </a:spcAft>
            </a:pPr>
            <a:r>
              <a:rPr lang="en-IN" sz="2400" spc="-15" dirty="0">
                <a:solidFill>
                  <a:srgbClr val="000000"/>
                </a:solidFill>
                <a:effectLst/>
                <a:latin typeface="Times New Roman" panose="02020603050405020304" pitchFamily="18" charset="0"/>
                <a:ea typeface="Times New Roman" panose="02020603050405020304" pitchFamily="18" charset="0"/>
              </a:rPr>
              <a:t>Each dysfunction has a direct impact on a team’s performance and hampers overall productivity. The good news is that you, as a manager, with leadership and management skills can overcome all these dysfunctions. </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880788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4B9DA5-A3D7-4AA7-40CA-4BBD74DACBE4}"/>
              </a:ext>
            </a:extLst>
          </p:cNvPr>
          <p:cNvSpPr>
            <a:spLocks noGrp="1"/>
          </p:cNvSpPr>
          <p:nvPr>
            <p:ph type="title"/>
          </p:nvPr>
        </p:nvSpPr>
        <p:spPr/>
        <p:txBody>
          <a:bodyPr>
            <a:normAutofit/>
          </a:bodyPr>
          <a:lstStyle/>
          <a:p>
            <a:r>
              <a:rPr lang="en-IN" sz="3600" dirty="0" err="1">
                <a:latin typeface="+mn-lt"/>
              </a:rPr>
              <a:t>Cont</a:t>
            </a:r>
            <a:r>
              <a:rPr lang="en-IN" sz="3600" dirty="0">
                <a:latin typeface="+mn-lt"/>
              </a:rPr>
              <a:t>…</a:t>
            </a:r>
          </a:p>
        </p:txBody>
      </p:sp>
      <p:sp>
        <p:nvSpPr>
          <p:cNvPr id="6" name="Content Placeholder 5">
            <a:extLst>
              <a:ext uri="{FF2B5EF4-FFF2-40B4-BE49-F238E27FC236}">
                <a16:creationId xmlns:a16="http://schemas.microsoft.com/office/drawing/2014/main" id="{CDC1EDBC-FA09-A239-3164-99967C9B7B4B}"/>
              </a:ext>
            </a:extLst>
          </p:cNvPr>
          <p:cNvSpPr txBox="1">
            <a:spLocks noGrp="1"/>
          </p:cNvSpPr>
          <p:nvPr>
            <p:ph idx="1"/>
          </p:nvPr>
        </p:nvSpPr>
        <p:spPr>
          <a:xfrm>
            <a:off x="217488" y="1176338"/>
            <a:ext cx="11728450" cy="5000625"/>
          </a:xfrm>
          <a:prstGeom prst="rect">
            <a:avLst/>
          </a:prstGeom>
          <a:noFill/>
        </p:spPr>
        <p:txBody>
          <a:bodyPr wrap="square">
            <a:spAutoFit/>
          </a:bodyPr>
          <a:lstStyle/>
          <a:p>
            <a:pPr algn="just">
              <a:lnSpc>
                <a:spcPct val="150000"/>
              </a:lnSpc>
              <a:spcAft>
                <a:spcPts val="2400"/>
              </a:spcAft>
            </a:pPr>
            <a:r>
              <a:rPr lang="en-IN" sz="2400" spc="-15" dirty="0">
                <a:solidFill>
                  <a:srgbClr val="000000"/>
                </a:solidFill>
                <a:latin typeface="Times New Roman" panose="02020603050405020304" pitchFamily="18" charset="0"/>
              </a:rPr>
              <a:t>The 5 dysfunctions of a team are: </a:t>
            </a:r>
          </a:p>
          <a:p>
            <a:pPr marL="342900" lvl="0" indent="-342900" algn="just" fontAlgn="base">
              <a:lnSpc>
                <a:spcPct val="107000"/>
              </a:lnSpc>
              <a:spcAft>
                <a:spcPts val="800"/>
              </a:spcAft>
              <a:buFont typeface="Arial" panose="020B0604020202020204" pitchFamily="34" charset="0"/>
              <a:buChar char="•"/>
              <a:tabLst>
                <a:tab pos="457200" algn="l"/>
              </a:tabLst>
            </a:pPr>
            <a:r>
              <a:rPr lang="en-IN" sz="2400" spc="-15" dirty="0">
                <a:solidFill>
                  <a:srgbClr val="000000"/>
                </a:solidFill>
                <a:latin typeface="Times New Roman" panose="02020603050405020304" pitchFamily="18" charset="0"/>
              </a:rPr>
              <a:t>Lack of Trust</a:t>
            </a:r>
          </a:p>
          <a:p>
            <a:pPr marL="342900" lvl="0" indent="-342900" algn="just" fontAlgn="base">
              <a:lnSpc>
                <a:spcPct val="107000"/>
              </a:lnSpc>
              <a:spcAft>
                <a:spcPts val="800"/>
              </a:spcAft>
              <a:buFont typeface="Arial" panose="020B0604020202020204" pitchFamily="34" charset="0"/>
              <a:buChar char="•"/>
              <a:tabLst>
                <a:tab pos="457200" algn="l"/>
              </a:tabLst>
            </a:pPr>
            <a:r>
              <a:rPr lang="en-IN" sz="2400" spc="-15" dirty="0">
                <a:solidFill>
                  <a:srgbClr val="000000"/>
                </a:solidFill>
                <a:latin typeface="Times New Roman" panose="02020603050405020304" pitchFamily="18" charset="0"/>
              </a:rPr>
              <a:t>Fear of Conflict</a:t>
            </a:r>
          </a:p>
          <a:p>
            <a:pPr marL="342900" lvl="0" indent="-342900" algn="just" fontAlgn="base">
              <a:lnSpc>
                <a:spcPct val="107000"/>
              </a:lnSpc>
              <a:spcAft>
                <a:spcPts val="800"/>
              </a:spcAft>
              <a:buFont typeface="Arial" panose="020B0604020202020204" pitchFamily="34" charset="0"/>
              <a:buChar char="•"/>
              <a:tabLst>
                <a:tab pos="457200" algn="l"/>
              </a:tabLst>
            </a:pPr>
            <a:r>
              <a:rPr lang="en-IN" sz="2400" spc="-15" dirty="0">
                <a:solidFill>
                  <a:srgbClr val="000000"/>
                </a:solidFill>
                <a:latin typeface="Times New Roman" panose="02020603050405020304" pitchFamily="18" charset="0"/>
              </a:rPr>
              <a:t>Lack of Commitment</a:t>
            </a:r>
          </a:p>
          <a:p>
            <a:pPr marL="342900" lvl="0" indent="-342900" algn="just" fontAlgn="base">
              <a:lnSpc>
                <a:spcPct val="107000"/>
              </a:lnSpc>
              <a:spcAft>
                <a:spcPts val="800"/>
              </a:spcAft>
              <a:buFont typeface="Arial" panose="020B0604020202020204" pitchFamily="34" charset="0"/>
              <a:buChar char="•"/>
              <a:tabLst>
                <a:tab pos="457200" algn="l"/>
              </a:tabLst>
            </a:pPr>
            <a:r>
              <a:rPr lang="en-IN" sz="2400" spc="-15" dirty="0">
                <a:solidFill>
                  <a:srgbClr val="000000"/>
                </a:solidFill>
                <a:latin typeface="Times New Roman" panose="02020603050405020304" pitchFamily="18" charset="0"/>
              </a:rPr>
              <a:t>Avoidance of Accountability</a:t>
            </a:r>
          </a:p>
          <a:p>
            <a:pPr marL="342900" lvl="0" indent="-342900" algn="just" fontAlgn="base">
              <a:lnSpc>
                <a:spcPct val="107000"/>
              </a:lnSpc>
              <a:spcAft>
                <a:spcPts val="800"/>
              </a:spcAft>
              <a:buFont typeface="Arial" panose="020B0604020202020204" pitchFamily="34" charset="0"/>
              <a:buChar char="•"/>
              <a:tabLst>
                <a:tab pos="457200" algn="l"/>
              </a:tabLst>
            </a:pPr>
            <a:r>
              <a:rPr lang="en-IN" sz="2400" spc="-15" dirty="0">
                <a:solidFill>
                  <a:srgbClr val="000000"/>
                </a:solidFill>
                <a:latin typeface="Times New Roman" panose="02020603050405020304" pitchFamily="18" charset="0"/>
              </a:rPr>
              <a:t>Inattention to Results</a:t>
            </a:r>
          </a:p>
        </p:txBody>
      </p:sp>
    </p:spTree>
    <p:extLst>
      <p:ext uri="{BB962C8B-B14F-4D97-AF65-F5344CB8AC3E}">
        <p14:creationId xmlns:p14="http://schemas.microsoft.com/office/powerpoint/2010/main" val="3744250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0382CA-7222-606B-C2EB-CB787BB58F03}"/>
              </a:ext>
            </a:extLst>
          </p:cNvPr>
          <p:cNvSpPr>
            <a:spLocks noGrp="1"/>
          </p:cNvSpPr>
          <p:nvPr>
            <p:ph type="title"/>
          </p:nvPr>
        </p:nvSpPr>
        <p:spPr>
          <a:xfrm>
            <a:off x="1984828" y="247338"/>
            <a:ext cx="10160001" cy="609686"/>
          </a:xfrm>
        </p:spPr>
        <p:txBody>
          <a:bodyPr>
            <a:normAutofit fontScale="90000"/>
          </a:bodyPr>
          <a:lstStyle/>
          <a:p>
            <a:pPr algn="ctr">
              <a:defRPr/>
            </a:pPr>
            <a:r>
              <a:rPr lang="en-IN" sz="3600" b="1" dirty="0">
                <a:latin typeface="Times New Roman" panose="02020603050405020304" pitchFamily="18" charset="0"/>
                <a:cs typeface="Times New Roman" panose="02020603050405020304" pitchFamily="18" charset="0"/>
              </a:rPr>
              <a:t>5 Dysfunctions of a Team: What They are and How to Overcome</a:t>
            </a:r>
          </a:p>
        </p:txBody>
      </p:sp>
      <p:sp>
        <p:nvSpPr>
          <p:cNvPr id="4" name="Content Placeholder 3">
            <a:extLst>
              <a:ext uri="{FF2B5EF4-FFF2-40B4-BE49-F238E27FC236}">
                <a16:creationId xmlns:a16="http://schemas.microsoft.com/office/drawing/2014/main" id="{9D9EE143-99DD-9D91-2AA6-C24A3AE84617}"/>
              </a:ext>
            </a:extLst>
          </p:cNvPr>
          <p:cNvSpPr txBox="1">
            <a:spLocks noGrp="1"/>
          </p:cNvSpPr>
          <p:nvPr>
            <p:ph idx="1"/>
          </p:nvPr>
        </p:nvSpPr>
        <p:spPr>
          <a:xfrm>
            <a:off x="161505" y="928687"/>
            <a:ext cx="11728450" cy="5000625"/>
          </a:xfrm>
          <a:prstGeom prst="rect">
            <a:avLst/>
          </a:prstGeom>
          <a:noFill/>
        </p:spPr>
        <p:txBody>
          <a:bodyPr wrap="square">
            <a:spAutoFit/>
          </a:bodyPr>
          <a:lstStyle/>
          <a:p>
            <a:pPr algn="ctr" fontAlgn="base">
              <a:lnSpc>
                <a:spcPct val="107000"/>
              </a:lnSpc>
              <a:spcAft>
                <a:spcPts val="800"/>
              </a:spcAft>
            </a:pPr>
            <a:r>
              <a:rPr lang="en-IN" sz="2400" b="1" spc="-15" dirty="0">
                <a:solidFill>
                  <a:srgbClr val="000000"/>
                </a:solidFill>
                <a:latin typeface="Times New Roman" panose="02020603050405020304" pitchFamily="18" charset="0"/>
              </a:rPr>
              <a:t>1. Lack of Trust</a:t>
            </a:r>
          </a:p>
          <a:p>
            <a:pPr algn="just">
              <a:spcAft>
                <a:spcPts val="2400"/>
              </a:spcAft>
            </a:pPr>
            <a:r>
              <a:rPr lang="en-IN" sz="2400" spc="-15" dirty="0">
                <a:solidFill>
                  <a:srgbClr val="000000"/>
                </a:solidFill>
                <a:latin typeface="Times New Roman" panose="02020603050405020304" pitchFamily="18" charset="0"/>
              </a:rPr>
              <a:t>The lack of trust is about the fear to be vulnerable. Still, protecting one’s sense of invulnerability, individuals do not let the team develop, engage in meaningful work conflict, and reach better outcomes.</a:t>
            </a:r>
          </a:p>
          <a:p>
            <a:pPr algn="just">
              <a:spcAft>
                <a:spcPts val="2400"/>
              </a:spcAft>
            </a:pPr>
            <a:r>
              <a:rPr lang="en-IN" sz="20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Teams that lack trust…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Conceal weaknesses and mistakes from each other</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 not ask for help or a piece of advice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Hesitate to help when it is outside their own area of responsibility</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Hesitate to offer feedback or compliment one’s skills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Hate meetings and avoid spending time together.</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715601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01B748-224B-FC5D-499C-1B64638D68BD}"/>
              </a:ext>
            </a:extLst>
          </p:cNvPr>
          <p:cNvSpPr>
            <a:spLocks noGrp="1"/>
          </p:cNvSpPr>
          <p:nvPr>
            <p:ph type="title"/>
          </p:nvPr>
        </p:nvSpPr>
        <p:spPr>
          <a:xfrm>
            <a:off x="1939858" y="115468"/>
            <a:ext cx="10160001" cy="764041"/>
          </a:xfrm>
        </p:spPr>
        <p:txBody>
          <a:bodyPr>
            <a:normAutofit fontScale="90000"/>
          </a:bodyPr>
          <a:lstStyle/>
          <a:p>
            <a:pPr algn="ctr"/>
            <a:r>
              <a:rPr lang="en-IN" sz="3600" b="1" dirty="0">
                <a:latin typeface="Times New Roman" panose="02020603050405020304" pitchFamily="18" charset="0"/>
                <a:cs typeface="Times New Roman" panose="02020603050405020304" pitchFamily="18" charset="0"/>
              </a:rPr>
              <a:t>5 Dysfunctions of a Team: What They are and How to Overcome</a:t>
            </a:r>
            <a:endParaRPr lang="en-IN" sz="3600" dirty="0">
              <a:latin typeface="+mn-lt"/>
            </a:endParaRPr>
          </a:p>
        </p:txBody>
      </p:sp>
      <p:sp>
        <p:nvSpPr>
          <p:cNvPr id="6" name="Content Placeholder 5">
            <a:extLst>
              <a:ext uri="{FF2B5EF4-FFF2-40B4-BE49-F238E27FC236}">
                <a16:creationId xmlns:a16="http://schemas.microsoft.com/office/drawing/2014/main" id="{F1D5E756-1DB9-863C-0175-12ABB05B78D3}"/>
              </a:ext>
            </a:extLst>
          </p:cNvPr>
          <p:cNvSpPr txBox="1">
            <a:spLocks noGrp="1"/>
          </p:cNvSpPr>
          <p:nvPr>
            <p:ph idx="1"/>
          </p:nvPr>
        </p:nvSpPr>
        <p:spPr>
          <a:xfrm>
            <a:off x="231775" y="928687"/>
            <a:ext cx="11728450" cy="5000625"/>
          </a:xfrm>
          <a:prstGeom prst="rect">
            <a:avLst/>
          </a:prstGeom>
          <a:noFill/>
        </p:spPr>
        <p:txBody>
          <a:bodyPr wrap="square">
            <a:spAutoFit/>
          </a:bodyPr>
          <a:lstStyle/>
          <a:p>
            <a:pPr algn="just">
              <a:spcAft>
                <a:spcPts val="2400"/>
              </a:spcAft>
            </a:pPr>
            <a:r>
              <a:rPr lang="en-IN" sz="1800" b="1" spc="-15" dirty="0">
                <a:effectLst/>
                <a:latin typeface="Times New Roman" panose="02020603050405020304" pitchFamily="18" charset="0"/>
                <a:ea typeface="Times New Roman" panose="02020603050405020304" pitchFamily="18" charset="0"/>
                <a:cs typeface="Times New Roman" panose="02020603050405020304" pitchFamily="18" charset="0"/>
              </a:rPr>
              <a:t>Solution for Lack of Trust</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2400"/>
              </a:spcAft>
            </a:pPr>
            <a:r>
              <a:rPr lang="en-IN" sz="1800" spc="-15" dirty="0">
                <a:effectLst/>
                <a:latin typeface="Times New Roman" panose="02020603050405020304" pitchFamily="18" charset="0"/>
                <a:ea typeface="Times New Roman" panose="02020603050405020304" pitchFamily="18" charset="0"/>
                <a:cs typeface="Times New Roman" panose="02020603050405020304" pitchFamily="18" charset="0"/>
              </a:rPr>
              <a:t>You can overcome this dysfunction helping the </a:t>
            </a:r>
            <a:r>
              <a:rPr lang="en-IN" sz="1800" b="1" spc="-15" dirty="0">
                <a:effectLst/>
                <a:latin typeface="Times New Roman" panose="02020603050405020304" pitchFamily="18" charset="0"/>
                <a:ea typeface="Times New Roman" panose="02020603050405020304" pitchFamily="18" charset="0"/>
                <a:cs typeface="Times New Roman" panose="02020603050405020304" pitchFamily="18" charset="0"/>
              </a:rPr>
              <a:t>team members focus on strengths rather than weaknesses</a:t>
            </a:r>
            <a:r>
              <a:rPr lang="en-IN" sz="1800" spc="-15" dirty="0">
                <a:effectLst/>
                <a:latin typeface="Times New Roman" panose="02020603050405020304" pitchFamily="18" charset="0"/>
                <a:ea typeface="Times New Roman" panose="02020603050405020304" pitchFamily="18" charset="0"/>
                <a:cs typeface="Times New Roman" panose="02020603050405020304" pitchFamily="18" charset="0"/>
              </a:rPr>
              <a:t> in other members and in themselves too. </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2400"/>
              </a:spcAft>
            </a:pPr>
            <a:r>
              <a:rPr lang="en-IN" sz="1800" spc="-15" dirty="0">
                <a:effectLst/>
                <a:latin typeface="Times New Roman" panose="02020603050405020304" pitchFamily="18" charset="0"/>
                <a:ea typeface="Times New Roman" panose="02020603050405020304" pitchFamily="18" charset="0"/>
                <a:cs typeface="Times New Roman" panose="02020603050405020304" pitchFamily="18" charset="0"/>
              </a:rPr>
              <a:t>Knowledge of one’s strengths helps to </a:t>
            </a:r>
            <a:r>
              <a:rPr lang="en-IN" sz="1800" u="none" strike="noStrike" spc="-15" dirty="0">
                <a:effectLst/>
                <a:latin typeface="Times New Roman" panose="02020603050405020304" pitchFamily="18" charset="0"/>
                <a:ea typeface="Times New Roman" panose="02020603050405020304" pitchFamily="18" charset="0"/>
                <a:cs typeface="Times New Roman" panose="02020603050405020304" pitchFamily="18" charset="0"/>
              </a:rPr>
              <a:t>build confidence</a:t>
            </a:r>
            <a:r>
              <a:rPr lang="en-IN" sz="1800" spc="-15" dirty="0">
                <a:effectLst/>
                <a:latin typeface="Times New Roman" panose="02020603050405020304" pitchFamily="18" charset="0"/>
                <a:ea typeface="Times New Roman" panose="02020603050405020304" pitchFamily="18" charset="0"/>
                <a:cs typeface="Times New Roman" panose="02020603050405020304" pitchFamily="18" charset="0"/>
              </a:rPr>
              <a:t> and will thus free </a:t>
            </a:r>
            <a:r>
              <a:rPr lang="en-IN" sz="1800" b="1" spc="-15" dirty="0">
                <a:effectLst/>
                <a:latin typeface="Times New Roman" panose="02020603050405020304" pitchFamily="18" charset="0"/>
                <a:ea typeface="Times New Roman" panose="02020603050405020304" pitchFamily="18" charset="0"/>
                <a:cs typeface="Times New Roman" panose="02020603050405020304" pitchFamily="18" charset="0"/>
              </a:rPr>
              <a:t>individuals from the fear to show their weaknesses</a:t>
            </a:r>
            <a:r>
              <a:rPr lang="en-IN" sz="1800" spc="-15" dirty="0">
                <a:effectLst/>
                <a:latin typeface="Times New Roman" panose="02020603050405020304" pitchFamily="18" charset="0"/>
                <a:ea typeface="Times New Roman" panose="02020603050405020304" pitchFamily="18" charset="0"/>
                <a:cs typeface="Times New Roman" panose="02020603050405020304" pitchFamily="18" charset="0"/>
              </a:rPr>
              <a:t>. Discussion of individual strengths will also inspire team members to recognise and appreciate the skills of their teammates and help related to what they are good at.</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2400"/>
              </a:spcAft>
            </a:pPr>
            <a:r>
              <a:rPr lang="en-IN" sz="1800" b="1" spc="-15" dirty="0">
                <a:effectLst/>
                <a:latin typeface="Times New Roman" panose="02020603050405020304" pitchFamily="18" charset="0"/>
                <a:ea typeface="Times New Roman" panose="02020603050405020304" pitchFamily="18" charset="0"/>
                <a:cs typeface="Times New Roman" panose="02020603050405020304" pitchFamily="18" charset="0"/>
              </a:rPr>
              <a:t>Overcoming this dysfunction, you will get the team that…</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1800" kern="0" spc="-15" dirty="0">
                <a:effectLst/>
                <a:latin typeface="Times New Roman" panose="02020603050405020304" pitchFamily="18" charset="0"/>
                <a:ea typeface="Times New Roman" panose="02020603050405020304" pitchFamily="18" charset="0"/>
                <a:cs typeface="Times New Roman" panose="02020603050405020304" pitchFamily="18" charset="0"/>
              </a:rPr>
              <a:t>Feels comfortable working together towards a common goal</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1800" kern="0" spc="-15" dirty="0">
                <a:effectLst/>
                <a:latin typeface="Times New Roman" panose="02020603050405020304" pitchFamily="18" charset="0"/>
                <a:ea typeface="Times New Roman" panose="02020603050405020304" pitchFamily="18" charset="0"/>
                <a:cs typeface="Times New Roman" panose="02020603050405020304" pitchFamily="18" charset="0"/>
              </a:rPr>
              <a:t>Can quickly react to issues that are no longer silenced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1800" kern="0" spc="-15" dirty="0">
                <a:effectLst/>
                <a:latin typeface="Times New Roman" panose="02020603050405020304" pitchFamily="18" charset="0"/>
                <a:ea typeface="Times New Roman" panose="02020603050405020304" pitchFamily="18" charset="0"/>
                <a:cs typeface="Times New Roman" panose="02020603050405020304" pitchFamily="18" charset="0"/>
              </a:rPr>
              <a:t>Can prevent mistakes by giving timely feedback and assistance to each other </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1800" kern="0" spc="-15" dirty="0">
                <a:effectLst/>
                <a:latin typeface="Times New Roman" panose="02020603050405020304" pitchFamily="18" charset="0"/>
                <a:ea typeface="Times New Roman" panose="02020603050405020304" pitchFamily="18" charset="0"/>
                <a:cs typeface="Times New Roman" panose="02020603050405020304" pitchFamily="18" charset="0"/>
              </a:rPr>
              <a:t>Motivate each other appreciating others skills and strengths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177964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193CDB2-2181-0EB9-65FB-13787CBB3D4F}"/>
              </a:ext>
            </a:extLst>
          </p:cNvPr>
          <p:cNvSpPr>
            <a:spLocks noGrp="1"/>
          </p:cNvSpPr>
          <p:nvPr>
            <p:ph type="title"/>
          </p:nvPr>
        </p:nvSpPr>
        <p:spPr/>
        <p:txBody>
          <a:bodyPr>
            <a:normAutofit fontScale="90000"/>
          </a:bodyPr>
          <a:lstStyle/>
          <a:p>
            <a:r>
              <a:rPr lang="en-IN" i="0" dirty="0" err="1">
                <a:solidFill>
                  <a:srgbClr val="C00000"/>
                </a:solidFill>
                <a:effectLst/>
                <a:latin typeface="Indeed Sans"/>
              </a:rPr>
              <a:t>Cont</a:t>
            </a:r>
            <a:r>
              <a:rPr lang="en-IN" i="0" dirty="0">
                <a:solidFill>
                  <a:srgbClr val="C00000"/>
                </a:solidFill>
                <a:effectLst/>
                <a:latin typeface="Indeed Sans"/>
              </a:rPr>
              <a:t>…</a:t>
            </a:r>
            <a:br>
              <a:rPr lang="en-IN" i="0" dirty="0">
                <a:solidFill>
                  <a:srgbClr val="C00000"/>
                </a:solidFill>
                <a:effectLst/>
                <a:latin typeface="Indeed Sans"/>
              </a:rPr>
            </a:br>
            <a:endParaRPr lang="en-IN" dirty="0">
              <a:solidFill>
                <a:srgbClr val="C00000"/>
              </a:solidFill>
            </a:endParaRPr>
          </a:p>
        </p:txBody>
      </p:sp>
      <p:sp>
        <p:nvSpPr>
          <p:cNvPr id="4" name="Content Placeholder 3">
            <a:extLst>
              <a:ext uri="{FF2B5EF4-FFF2-40B4-BE49-F238E27FC236}">
                <a16:creationId xmlns:a16="http://schemas.microsoft.com/office/drawing/2014/main" id="{6ED63DCC-1131-D129-9611-8FAA79FB68CE}"/>
              </a:ext>
            </a:extLst>
          </p:cNvPr>
          <p:cNvSpPr txBox="1">
            <a:spLocks noGrp="1"/>
          </p:cNvSpPr>
          <p:nvPr>
            <p:ph idx="1"/>
          </p:nvPr>
        </p:nvSpPr>
        <p:spPr>
          <a:xfrm>
            <a:off x="217488" y="1176338"/>
            <a:ext cx="11728450" cy="5000625"/>
          </a:xfrm>
          <a:prstGeom prst="rect">
            <a:avLst/>
          </a:prstGeom>
          <a:noFill/>
        </p:spPr>
        <p:txBody>
          <a:bodyPr wrap="square">
            <a:spAutoFit/>
          </a:bodyPr>
          <a:lstStyle/>
          <a:p>
            <a:pPr algn="ctr" fontAlgn="base">
              <a:lnSpc>
                <a:spcPct val="107000"/>
              </a:lnSpc>
              <a:spcAft>
                <a:spcPts val="800"/>
              </a:spcAft>
            </a:pPr>
            <a:r>
              <a:rPr lang="en-IN" sz="2400" b="1" kern="100" spc="-15" dirty="0">
                <a:effectLst/>
                <a:latin typeface="Times New Roman" panose="02020603050405020304" pitchFamily="18" charset="0"/>
                <a:ea typeface="Calibri" panose="020F0502020204030204" pitchFamily="34" charset="0"/>
                <a:cs typeface="Times New Roman" panose="02020603050405020304" pitchFamily="18" charset="0"/>
              </a:rPr>
              <a:t>2. Fear of Conflict</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2400"/>
              </a:spcAft>
            </a:pPr>
            <a:r>
              <a:rPr lang="en-IN" sz="2000" u="none" strike="noStrike" spc="-15" dirty="0">
                <a:effectLst/>
                <a:latin typeface="Times New Roman" panose="02020603050405020304" pitchFamily="18" charset="0"/>
                <a:ea typeface="Times New Roman" panose="02020603050405020304" pitchFamily="18" charset="0"/>
                <a:cs typeface="Times New Roman" panose="02020603050405020304" pitchFamily="18" charset="0"/>
              </a:rPr>
              <a:t>Workplace diversity</a:t>
            </a:r>
            <a:r>
              <a:rPr lang="en-IN" sz="2000" spc="-15" dirty="0">
                <a:effectLst/>
                <a:latin typeface="Times New Roman" panose="02020603050405020304" pitchFamily="18" charset="0"/>
                <a:ea typeface="Times New Roman" panose="02020603050405020304" pitchFamily="18" charset="0"/>
                <a:cs typeface="Times New Roman" panose="02020603050405020304" pitchFamily="18" charset="0"/>
              </a:rPr>
              <a:t> contributes to better results, but it also presupposes that people will have different or even opposing ideas about their work. You won’t be able to benefit from diversity if the opposing ideas are held back for fear of conflict.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2400"/>
              </a:spcAft>
            </a:pPr>
            <a:r>
              <a:rPr lang="en-IN" sz="2000" b="1" spc="-15" dirty="0">
                <a:effectLst/>
                <a:latin typeface="Times New Roman" panose="02020603050405020304" pitchFamily="18" charset="0"/>
                <a:ea typeface="Times New Roman" panose="02020603050405020304" pitchFamily="18" charset="0"/>
                <a:cs typeface="Times New Roman" panose="02020603050405020304" pitchFamily="18" charset="0"/>
              </a:rPr>
              <a:t>Teams that fear conflict…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effectLst/>
                <a:latin typeface="Times New Roman" panose="02020603050405020304" pitchFamily="18" charset="0"/>
                <a:ea typeface="Times New Roman" panose="02020603050405020304" pitchFamily="18" charset="0"/>
                <a:cs typeface="Times New Roman" panose="02020603050405020304" pitchFamily="18" charset="0"/>
              </a:rPr>
              <a:t>Hesitate to voice opinions and concerns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effectLst/>
                <a:latin typeface="Times New Roman" panose="02020603050405020304" pitchFamily="18" charset="0"/>
                <a:ea typeface="Times New Roman" panose="02020603050405020304" pitchFamily="18" charset="0"/>
                <a:cs typeface="Times New Roman" panose="02020603050405020304" pitchFamily="18" charset="0"/>
              </a:rPr>
              <a:t>Ignore controversial topics even if they have potential to determine team’s success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effectLst/>
                <a:latin typeface="Times New Roman" panose="02020603050405020304" pitchFamily="18" charset="0"/>
                <a:ea typeface="Times New Roman" panose="02020603050405020304" pitchFamily="18" charset="0"/>
                <a:cs typeface="Times New Roman" panose="02020603050405020304" pitchFamily="18" charset="0"/>
              </a:rPr>
              <a:t>Have more interpersonal conflicts and personal attacks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effectLst/>
                <a:latin typeface="Times New Roman" panose="02020603050405020304" pitchFamily="18" charset="0"/>
                <a:ea typeface="Times New Roman" panose="02020603050405020304" pitchFamily="18" charset="0"/>
                <a:cs typeface="Times New Roman" panose="02020603050405020304" pitchFamily="18" charset="0"/>
              </a:rPr>
              <a:t>Have backchannel communication and politics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137849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88FE804-F01E-394E-85B2-F44B935438D0}"/>
              </a:ext>
            </a:extLst>
          </p:cNvPr>
          <p:cNvSpPr>
            <a:spLocks noGrp="1"/>
          </p:cNvSpPr>
          <p:nvPr>
            <p:ph type="title"/>
          </p:nvPr>
        </p:nvSpPr>
        <p:spPr/>
        <p:txBody>
          <a:bodyPr>
            <a:normAutofit fontScale="90000"/>
          </a:bodyPr>
          <a:lstStyle/>
          <a:p>
            <a:pPr algn="ctr">
              <a:defRPr/>
            </a:pPr>
            <a:r>
              <a:rPr lang="en-IN" sz="3600" b="1" dirty="0">
                <a:latin typeface="Times New Roman" panose="02020603050405020304" pitchFamily="18" charset="0"/>
                <a:cs typeface="Times New Roman" panose="02020603050405020304" pitchFamily="18" charset="0"/>
              </a:rPr>
              <a:t>5 Dysfunctions of a Team: What They are and How to Overcome</a:t>
            </a:r>
          </a:p>
        </p:txBody>
      </p:sp>
      <p:sp>
        <p:nvSpPr>
          <p:cNvPr id="6" name="Content Placeholder 5">
            <a:extLst>
              <a:ext uri="{FF2B5EF4-FFF2-40B4-BE49-F238E27FC236}">
                <a16:creationId xmlns:a16="http://schemas.microsoft.com/office/drawing/2014/main" id="{64C8283D-CD10-9F92-B033-5D56A0E7C504}"/>
              </a:ext>
            </a:extLst>
          </p:cNvPr>
          <p:cNvSpPr txBox="1">
            <a:spLocks noGrp="1"/>
          </p:cNvSpPr>
          <p:nvPr>
            <p:ph idx="1"/>
          </p:nvPr>
        </p:nvSpPr>
        <p:spPr>
          <a:xfrm>
            <a:off x="217488" y="1176338"/>
            <a:ext cx="11728450" cy="5000625"/>
          </a:xfrm>
          <a:prstGeom prst="rect">
            <a:avLst/>
          </a:prstGeom>
          <a:noFill/>
        </p:spPr>
        <p:txBody>
          <a:bodyPr wrap="square">
            <a:spAutoFit/>
          </a:bodyPr>
          <a:lstStyle/>
          <a:p>
            <a:pPr algn="just">
              <a:spcAft>
                <a:spcPts val="2400"/>
              </a:spcAft>
            </a:pPr>
            <a:r>
              <a:rPr lang="en-IN" sz="2400" b="1" spc="-15" dirty="0">
                <a:solidFill>
                  <a:srgbClr val="000000"/>
                </a:solidFill>
                <a:effectLst/>
                <a:latin typeface="Times New Roman" panose="02020603050405020304" pitchFamily="18" charset="0"/>
                <a:ea typeface="Times New Roman" panose="02020603050405020304" pitchFamily="18" charset="0"/>
              </a:rPr>
              <a:t>Solution for Fear of Conflict</a:t>
            </a:r>
            <a:endParaRPr lang="en-IN" sz="2400" dirty="0">
              <a:effectLst/>
              <a:latin typeface="Times New Roman" panose="02020603050405020304" pitchFamily="18" charset="0"/>
              <a:ea typeface="Times New Roman" panose="02020603050405020304" pitchFamily="18" charset="0"/>
            </a:endParaRPr>
          </a:p>
          <a:p>
            <a:pPr algn="just">
              <a:spcAft>
                <a:spcPts val="2400"/>
              </a:spcAft>
            </a:pPr>
            <a:r>
              <a:rPr lang="en-IN" sz="2400" spc="-15" dirty="0">
                <a:solidFill>
                  <a:srgbClr val="000000"/>
                </a:solidFill>
                <a:effectLst/>
                <a:latin typeface="Times New Roman" panose="02020603050405020304" pitchFamily="18" charset="0"/>
                <a:ea typeface="Times New Roman" panose="02020603050405020304" pitchFamily="18" charset="0"/>
              </a:rPr>
              <a:t>A good test that will help you determine if you have this type of dysfunction in your team is suggesting an obviously bad idea on a team meeting. If your team accepts the idea without any attempt to discuss or oppose it, you have a problem to resolve.</a:t>
            </a:r>
            <a:endParaRPr lang="en-IN" sz="2400" dirty="0">
              <a:effectLst/>
              <a:latin typeface="Times New Roman" panose="02020603050405020304" pitchFamily="18" charset="0"/>
              <a:ea typeface="Times New Roman" panose="02020603050405020304" pitchFamily="18" charset="0"/>
            </a:endParaRPr>
          </a:p>
          <a:p>
            <a:pPr algn="just">
              <a:spcAft>
                <a:spcPts val="2400"/>
              </a:spcAft>
            </a:pPr>
            <a:r>
              <a:rPr lang="en-IN" sz="2400" spc="-15" dirty="0">
                <a:solidFill>
                  <a:srgbClr val="000000"/>
                </a:solidFill>
                <a:effectLst/>
                <a:latin typeface="Times New Roman" panose="02020603050405020304" pitchFamily="18" charset="0"/>
                <a:ea typeface="Times New Roman" panose="02020603050405020304" pitchFamily="18" charset="0"/>
              </a:rPr>
              <a:t>A good way to resolve it is by assigning “a devil’s advocate” on the meeting. Let one person find faults with any suggestion that is voiced encouraging other members to defend their point of view. This will show your team that voicing opposing ideas is good for the project. It will also train your team to find faults with the ideas not people that voice them.</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946752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233C4C-912D-EA7B-E11D-107DBFA6DE7F}"/>
              </a:ext>
            </a:extLst>
          </p:cNvPr>
          <p:cNvSpPr>
            <a:spLocks noGrp="1"/>
          </p:cNvSpPr>
          <p:nvPr>
            <p:ph type="title"/>
          </p:nvPr>
        </p:nvSpPr>
        <p:spPr/>
        <p:txBody>
          <a:bodyPr>
            <a:normAutofit fontScale="90000"/>
          </a:bodyPr>
          <a:lstStyle/>
          <a:p>
            <a:pPr algn="ctr"/>
            <a:r>
              <a:rPr lang="en-IN" sz="3100" b="1" dirty="0">
                <a:latin typeface="Times New Roman" panose="02020603050405020304" pitchFamily="18" charset="0"/>
                <a:cs typeface="Times New Roman" panose="02020603050405020304" pitchFamily="18" charset="0"/>
              </a:rPr>
              <a:t>5 Dysfunctions of a Team: What They are and How to Overcome</a:t>
            </a:r>
            <a:br>
              <a:rPr lang="en-IN" sz="4000" b="1" dirty="0">
                <a:latin typeface="Times New Roman" panose="02020603050405020304" pitchFamily="18" charset="0"/>
                <a:cs typeface="Times New Roman" panose="02020603050405020304" pitchFamily="18" charset="0"/>
              </a:rPr>
            </a:br>
            <a:endParaRPr lang="en-IN" sz="4000" dirty="0">
              <a:latin typeface="+mn-lt"/>
            </a:endParaRPr>
          </a:p>
        </p:txBody>
      </p:sp>
      <p:sp>
        <p:nvSpPr>
          <p:cNvPr id="6" name="Content Placeholder 5">
            <a:extLst>
              <a:ext uri="{FF2B5EF4-FFF2-40B4-BE49-F238E27FC236}">
                <a16:creationId xmlns:a16="http://schemas.microsoft.com/office/drawing/2014/main" id="{89A983A8-583D-E67C-CED5-10FA9E88158A}"/>
              </a:ext>
            </a:extLst>
          </p:cNvPr>
          <p:cNvSpPr txBox="1">
            <a:spLocks noGrp="1"/>
          </p:cNvSpPr>
          <p:nvPr>
            <p:ph idx="1"/>
          </p:nvPr>
        </p:nvSpPr>
        <p:spPr>
          <a:xfrm>
            <a:off x="217488" y="1176338"/>
            <a:ext cx="11728450" cy="5000625"/>
          </a:xfrm>
          <a:prstGeom prst="rect">
            <a:avLst/>
          </a:prstGeom>
          <a:noFill/>
        </p:spPr>
        <p:txBody>
          <a:bodyPr wrap="square">
            <a:spAutoFit/>
          </a:bodyPr>
          <a:lstStyle/>
          <a:p>
            <a:pPr algn="just">
              <a:spcAft>
                <a:spcPts val="2400"/>
              </a:spcAft>
            </a:pPr>
            <a:r>
              <a:rPr lang="en-IN" sz="20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To determine how each member approaches conflict and coach the team on how to debate with one another based on unique strengths of the members.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2400"/>
              </a:spcAft>
            </a:pPr>
            <a:r>
              <a:rPr lang="en-IN" sz="20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Overcoming the fear of conflict in your team, you will get a team that…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Leverages diversity and exploits the ideas of everyone on the team</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Quickly solves the problems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Openly discusses critical topics and concerns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Minimizes politics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387568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34EECDE-EF02-DB47-0DE8-1EEF65BB35BC}"/>
              </a:ext>
            </a:extLst>
          </p:cNvPr>
          <p:cNvSpPr>
            <a:spLocks noGrp="1"/>
          </p:cNvSpPr>
          <p:nvPr>
            <p:ph type="title"/>
          </p:nvPr>
        </p:nvSpPr>
        <p:spPr/>
        <p:txBody>
          <a:bodyPr>
            <a:noAutofit/>
          </a:bodyPr>
          <a:lstStyle/>
          <a:p>
            <a:pPr algn="ctr"/>
            <a:r>
              <a:rPr lang="en-IN" sz="2800" b="1" dirty="0">
                <a:latin typeface="Times New Roman" panose="02020603050405020304" pitchFamily="18" charset="0"/>
                <a:cs typeface="Times New Roman" panose="02020603050405020304" pitchFamily="18" charset="0"/>
              </a:rPr>
              <a:t> 5 Dysfunctions of a Team: What They are and How to Overcome</a:t>
            </a:r>
            <a:endParaRPr lang="en-IN" sz="2800" dirty="0"/>
          </a:p>
        </p:txBody>
      </p:sp>
      <p:sp>
        <p:nvSpPr>
          <p:cNvPr id="6" name="Content Placeholder 5">
            <a:extLst>
              <a:ext uri="{FF2B5EF4-FFF2-40B4-BE49-F238E27FC236}">
                <a16:creationId xmlns:a16="http://schemas.microsoft.com/office/drawing/2014/main" id="{EEF48D00-7F38-7374-86F8-1560BFA88E2F}"/>
              </a:ext>
            </a:extLst>
          </p:cNvPr>
          <p:cNvSpPr txBox="1">
            <a:spLocks noGrp="1"/>
          </p:cNvSpPr>
          <p:nvPr>
            <p:ph idx="1"/>
          </p:nvPr>
        </p:nvSpPr>
        <p:spPr>
          <a:xfrm>
            <a:off x="217488" y="1176338"/>
            <a:ext cx="11728450" cy="5000625"/>
          </a:xfrm>
          <a:prstGeom prst="rect">
            <a:avLst/>
          </a:prstGeom>
          <a:noFill/>
        </p:spPr>
        <p:txBody>
          <a:bodyPr wrap="square">
            <a:spAutoFit/>
          </a:bodyPr>
          <a:lstStyle/>
          <a:p>
            <a:pPr algn="ctr" fontAlgn="base">
              <a:lnSpc>
                <a:spcPct val="107000"/>
              </a:lnSpc>
              <a:spcAft>
                <a:spcPts val="800"/>
              </a:spcAft>
            </a:pPr>
            <a:r>
              <a:rPr lang="en-IN" sz="2400" b="1" kern="100" spc="-15" dirty="0">
                <a:effectLst/>
                <a:latin typeface="Times New Roman" panose="02020603050405020304" pitchFamily="18" charset="0"/>
                <a:ea typeface="Calibri" panose="020F0502020204030204" pitchFamily="34" charset="0"/>
                <a:cs typeface="Times New Roman" panose="02020603050405020304" pitchFamily="18" charset="0"/>
              </a:rPr>
              <a:t>3. Lack of Commitment</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2400"/>
              </a:spcAft>
            </a:pPr>
            <a:r>
              <a:rPr lang="en-IN" sz="2400" spc="-15" dirty="0">
                <a:effectLst/>
                <a:latin typeface="Times New Roman" panose="02020603050405020304" pitchFamily="18" charset="0"/>
                <a:ea typeface="Times New Roman" panose="02020603050405020304" pitchFamily="18" charset="0"/>
                <a:cs typeface="Times New Roman" panose="02020603050405020304" pitchFamily="18" charset="0"/>
              </a:rPr>
              <a:t>If the team members avoid open discussion of controversial topics and don’t clearly understand why this or that decision has been taken, they fail to commit to the adopted course of action or team goals overall.</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2400"/>
              </a:spcAft>
            </a:pPr>
            <a:r>
              <a:rPr lang="en-IN" sz="2400" b="1" spc="-15" dirty="0">
                <a:effectLst/>
                <a:latin typeface="Times New Roman" panose="02020603050405020304" pitchFamily="18" charset="0"/>
                <a:ea typeface="Times New Roman" panose="02020603050405020304" pitchFamily="18" charset="0"/>
                <a:cs typeface="Times New Roman" panose="02020603050405020304" pitchFamily="18" charset="0"/>
              </a:rPr>
              <a:t>Teams that lack commitment…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kern="0" spc="-15" dirty="0">
                <a:effectLst/>
                <a:latin typeface="Times New Roman" panose="02020603050405020304" pitchFamily="18" charset="0"/>
                <a:ea typeface="Times New Roman" panose="02020603050405020304" pitchFamily="18" charset="0"/>
                <a:cs typeface="Times New Roman" panose="02020603050405020304" pitchFamily="18" charset="0"/>
              </a:rPr>
              <a:t>Lack confidence and are in fear of failure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kern="0" spc="-15" dirty="0">
                <a:effectLst/>
                <a:latin typeface="Times New Roman" panose="02020603050405020304" pitchFamily="18" charset="0"/>
                <a:ea typeface="Times New Roman" panose="02020603050405020304" pitchFamily="18" charset="0"/>
                <a:cs typeface="Times New Roman" panose="02020603050405020304" pitchFamily="18" charset="0"/>
              </a:rPr>
              <a:t>Discuss the same topics or decisions repeatedly</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kern="0" spc="-15" dirty="0">
                <a:effectLst/>
                <a:latin typeface="Times New Roman" panose="02020603050405020304" pitchFamily="18" charset="0"/>
                <a:ea typeface="Times New Roman" panose="02020603050405020304" pitchFamily="18" charset="0"/>
                <a:cs typeface="Times New Roman" panose="02020603050405020304" pitchFamily="18" charset="0"/>
              </a:rPr>
              <a:t>Make ambiguity and second-guessing thrive</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kern="0" spc="-15" dirty="0">
                <a:effectLst/>
                <a:latin typeface="Times New Roman" panose="02020603050405020304" pitchFamily="18" charset="0"/>
                <a:ea typeface="Times New Roman" panose="02020603050405020304" pitchFamily="18" charset="0"/>
                <a:cs typeface="Times New Roman" panose="02020603050405020304" pitchFamily="18" charset="0"/>
              </a:rPr>
              <a:t>Fail to seize opportunity spending too much time on planning</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319767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5369D7B-8DE4-D9CD-7384-38C1312AB704}"/>
              </a:ext>
            </a:extLst>
          </p:cNvPr>
          <p:cNvSpPr>
            <a:spLocks noGrp="1"/>
          </p:cNvSpPr>
          <p:nvPr>
            <p:ph type="title"/>
          </p:nvPr>
        </p:nvSpPr>
        <p:spPr/>
        <p:txBody>
          <a:bodyPr/>
          <a:lstStyle/>
          <a:p>
            <a:r>
              <a:rPr lang="en-IN" dirty="0" err="1"/>
              <a:t>Cont</a:t>
            </a:r>
            <a:r>
              <a:rPr lang="en-IN" dirty="0"/>
              <a:t>…</a:t>
            </a:r>
          </a:p>
        </p:txBody>
      </p:sp>
      <p:sp>
        <p:nvSpPr>
          <p:cNvPr id="6" name="Content Placeholder 5">
            <a:extLst>
              <a:ext uri="{FF2B5EF4-FFF2-40B4-BE49-F238E27FC236}">
                <a16:creationId xmlns:a16="http://schemas.microsoft.com/office/drawing/2014/main" id="{725ABB2D-3C7B-FE18-1589-89B2E806F2C5}"/>
              </a:ext>
            </a:extLst>
          </p:cNvPr>
          <p:cNvSpPr txBox="1">
            <a:spLocks noGrp="1"/>
          </p:cNvSpPr>
          <p:nvPr>
            <p:ph idx="1"/>
          </p:nvPr>
        </p:nvSpPr>
        <p:spPr>
          <a:xfrm>
            <a:off x="217488" y="1176338"/>
            <a:ext cx="11728450" cy="5000625"/>
          </a:xfrm>
          <a:prstGeom prst="rect">
            <a:avLst/>
          </a:prstGeom>
          <a:noFill/>
        </p:spPr>
        <p:txBody>
          <a:bodyPr wrap="square">
            <a:spAutoFit/>
          </a:bodyPr>
          <a:lstStyle/>
          <a:p>
            <a:pPr algn="just">
              <a:spcAft>
                <a:spcPts val="2400"/>
              </a:spcAft>
            </a:pPr>
            <a:r>
              <a:rPr lang="en-IN" sz="2400" b="1" spc="-15" dirty="0">
                <a:solidFill>
                  <a:srgbClr val="000000"/>
                </a:solidFill>
                <a:effectLst/>
                <a:latin typeface="Times New Roman" panose="02020603050405020304" pitchFamily="18" charset="0"/>
                <a:ea typeface="Times New Roman" panose="02020603050405020304" pitchFamily="18" charset="0"/>
              </a:rPr>
              <a:t>Solution for Lack of Commitment</a:t>
            </a:r>
            <a:endParaRPr lang="en-IN" sz="2400" dirty="0">
              <a:effectLst/>
              <a:latin typeface="Times New Roman" panose="02020603050405020304" pitchFamily="18" charset="0"/>
              <a:ea typeface="Times New Roman" panose="02020603050405020304" pitchFamily="18" charset="0"/>
            </a:endParaRPr>
          </a:p>
          <a:p>
            <a:pPr algn="just">
              <a:spcAft>
                <a:spcPts val="2400"/>
              </a:spcAft>
            </a:pPr>
            <a:r>
              <a:rPr lang="en-IN" sz="2400" spc="-15" dirty="0">
                <a:solidFill>
                  <a:srgbClr val="000000"/>
                </a:solidFill>
                <a:effectLst/>
                <a:latin typeface="Times New Roman" panose="02020603050405020304" pitchFamily="18" charset="0"/>
                <a:ea typeface="Times New Roman" panose="02020603050405020304" pitchFamily="18" charset="0"/>
              </a:rPr>
              <a:t>There are several strategies that might help you overcome this dysfunction of a team. </a:t>
            </a:r>
            <a:endParaRPr lang="en-IN" sz="2400" dirty="0">
              <a:effectLst/>
              <a:latin typeface="Times New Roman" panose="02020603050405020304" pitchFamily="18" charset="0"/>
              <a:ea typeface="Times New Roman" panose="02020603050405020304" pitchFamily="18" charset="0"/>
            </a:endParaRPr>
          </a:p>
          <a:p>
            <a:pPr algn="just">
              <a:spcAft>
                <a:spcPts val="2400"/>
              </a:spcAft>
            </a:pPr>
            <a:r>
              <a:rPr lang="en-IN" sz="2400" spc="-15" dirty="0">
                <a:solidFill>
                  <a:srgbClr val="000000"/>
                </a:solidFill>
                <a:effectLst/>
                <a:latin typeface="Times New Roman" panose="02020603050405020304" pitchFamily="18" charset="0"/>
                <a:ea typeface="Times New Roman" panose="02020603050405020304" pitchFamily="18" charset="0"/>
              </a:rPr>
              <a:t>First, make it a rule to summarise all key decisions made during the meeting and the rationale for taking them. </a:t>
            </a:r>
            <a:endParaRPr lang="en-IN" sz="2400" dirty="0">
              <a:effectLst/>
              <a:latin typeface="Times New Roman" panose="02020603050405020304" pitchFamily="18" charset="0"/>
              <a:ea typeface="Times New Roman" panose="02020603050405020304" pitchFamily="18" charset="0"/>
            </a:endParaRPr>
          </a:p>
          <a:p>
            <a:pPr algn="just">
              <a:spcAft>
                <a:spcPts val="2400"/>
              </a:spcAft>
            </a:pPr>
            <a:r>
              <a:rPr lang="en-IN" sz="2400" spc="-15" dirty="0">
                <a:solidFill>
                  <a:srgbClr val="000000"/>
                </a:solidFill>
                <a:effectLst/>
                <a:latin typeface="Times New Roman" panose="02020603050405020304" pitchFamily="18" charset="0"/>
                <a:ea typeface="Times New Roman" panose="02020603050405020304" pitchFamily="18" charset="0"/>
              </a:rPr>
              <a:t>You can also facilitate the commitment by encouraging the team to discuss possible pitfalls and worst-case scenarios; again, clarity is the basis for commitment. </a:t>
            </a:r>
            <a:endParaRPr lang="en-IN" sz="2400" dirty="0">
              <a:effectLst/>
              <a:latin typeface="Times New Roman" panose="02020603050405020304" pitchFamily="18" charset="0"/>
              <a:ea typeface="Times New Roman" panose="02020603050405020304" pitchFamily="18" charset="0"/>
            </a:endParaRPr>
          </a:p>
          <a:p>
            <a:pPr algn="just">
              <a:spcAft>
                <a:spcPts val="2400"/>
              </a:spcAft>
            </a:pPr>
            <a:r>
              <a:rPr lang="en-IN" sz="2400" spc="-15" dirty="0">
                <a:solidFill>
                  <a:srgbClr val="000000"/>
                </a:solidFill>
                <a:effectLst/>
                <a:latin typeface="Times New Roman" panose="02020603050405020304" pitchFamily="18" charset="0"/>
                <a:ea typeface="Times New Roman" panose="02020603050405020304" pitchFamily="18" charset="0"/>
              </a:rPr>
              <a:t>This way, team members will assume responsibility to arrive at the best possible decision and commit to it, rather than just postpone the solution.</a:t>
            </a:r>
            <a:endParaRPr lang="en-IN" sz="2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36764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B13DC0-DCE2-D155-AD45-B4F4674E3749}"/>
              </a:ext>
            </a:extLst>
          </p:cNvPr>
          <p:cNvSpPr>
            <a:spLocks noGrp="1"/>
          </p:cNvSpPr>
          <p:nvPr>
            <p:ph type="title"/>
          </p:nvPr>
        </p:nvSpPr>
        <p:spPr/>
        <p:txBody>
          <a:bodyPr/>
          <a:lstStyle/>
          <a:p>
            <a:r>
              <a:rPr lang="en-IN" dirty="0" err="1"/>
              <a:t>Cont</a:t>
            </a:r>
            <a:r>
              <a:rPr lang="en-IN" dirty="0"/>
              <a:t>…</a:t>
            </a:r>
          </a:p>
        </p:txBody>
      </p:sp>
      <p:sp>
        <p:nvSpPr>
          <p:cNvPr id="5" name="Content Placeholder 4">
            <a:extLst>
              <a:ext uri="{FF2B5EF4-FFF2-40B4-BE49-F238E27FC236}">
                <a16:creationId xmlns:a16="http://schemas.microsoft.com/office/drawing/2014/main" id="{59C2C9AE-673F-BC06-D886-1B07A83F5214}"/>
              </a:ext>
            </a:extLst>
          </p:cNvPr>
          <p:cNvSpPr txBox="1">
            <a:spLocks noGrp="1"/>
          </p:cNvSpPr>
          <p:nvPr>
            <p:ph idx="1"/>
          </p:nvPr>
        </p:nvSpPr>
        <p:spPr>
          <a:xfrm>
            <a:off x="217488" y="1176338"/>
            <a:ext cx="11728450" cy="5000625"/>
          </a:xfrm>
          <a:prstGeom prst="rect">
            <a:avLst/>
          </a:prstGeom>
          <a:noFill/>
        </p:spPr>
        <p:txBody>
          <a:bodyPr wrap="square">
            <a:spAutoFit/>
          </a:bodyPr>
          <a:lstStyle/>
          <a:p>
            <a:pPr algn="just">
              <a:spcAft>
                <a:spcPts val="2400"/>
              </a:spcAft>
            </a:pPr>
            <a:r>
              <a:rPr lang="en-IN" sz="2400" b="1" spc="-15" dirty="0">
                <a:solidFill>
                  <a:srgbClr val="000000"/>
                </a:solidFill>
                <a:latin typeface="Times New Roman" panose="02020603050405020304" pitchFamily="18" charset="0"/>
              </a:rPr>
              <a:t>When you overcome this dysfunction, your team will…</a:t>
            </a: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spc="-15" dirty="0">
                <a:solidFill>
                  <a:srgbClr val="000000"/>
                </a:solidFill>
                <a:latin typeface="Times New Roman" panose="02020603050405020304" pitchFamily="18" charset="0"/>
              </a:rPr>
              <a:t>Clearly understand work directions and priorities</a:t>
            </a: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spc="-15" dirty="0">
                <a:solidFill>
                  <a:srgbClr val="000000"/>
                </a:solidFill>
                <a:latin typeface="Times New Roman" panose="02020603050405020304" pitchFamily="18" charset="0"/>
              </a:rPr>
              <a:t>Share common goals and objectives</a:t>
            </a: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spc="-15" dirty="0">
                <a:solidFill>
                  <a:srgbClr val="000000"/>
                </a:solidFill>
                <a:latin typeface="Times New Roman" panose="02020603050405020304" pitchFamily="18" charset="0"/>
              </a:rPr>
              <a:t>Be ready to change</a:t>
            </a: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spc="-15" dirty="0">
                <a:solidFill>
                  <a:srgbClr val="000000"/>
                </a:solidFill>
                <a:latin typeface="Times New Roman" panose="02020603050405020304" pitchFamily="18" charset="0"/>
              </a:rPr>
              <a:t>Not let the fear of mistake prevent it from moving forward</a:t>
            </a:r>
          </a:p>
        </p:txBody>
      </p:sp>
    </p:spTree>
    <p:extLst>
      <p:ext uri="{BB962C8B-B14F-4D97-AF65-F5344CB8AC3E}">
        <p14:creationId xmlns:p14="http://schemas.microsoft.com/office/powerpoint/2010/main" val="38159924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BA616D-ED18-AD71-3F3B-15D5C0969D2B}"/>
              </a:ext>
            </a:extLst>
          </p:cNvPr>
          <p:cNvSpPr>
            <a:spLocks noGrp="1"/>
          </p:cNvSpPr>
          <p:nvPr>
            <p:ph type="title"/>
          </p:nvPr>
        </p:nvSpPr>
        <p:spPr/>
        <p:txBody>
          <a:bodyPr>
            <a:noAutofit/>
          </a:bodyPr>
          <a:lstStyle/>
          <a:p>
            <a:pPr algn="ctr"/>
            <a:r>
              <a:rPr lang="en-IN" sz="2800" b="1" dirty="0">
                <a:latin typeface="Times New Roman" panose="02020603050405020304" pitchFamily="18" charset="0"/>
                <a:cs typeface="Times New Roman" panose="02020603050405020304" pitchFamily="18" charset="0"/>
              </a:rPr>
              <a:t>5 Dysfunctions of a Team: What They are and How to Overcome</a:t>
            </a:r>
            <a:br>
              <a:rPr lang="en-IN" sz="2800" b="1" dirty="0">
                <a:latin typeface="Times New Roman" panose="02020603050405020304" pitchFamily="18" charset="0"/>
                <a:cs typeface="Times New Roman" panose="02020603050405020304" pitchFamily="18" charset="0"/>
              </a:rPr>
            </a:br>
            <a:endParaRPr lang="en-IN" sz="2800" dirty="0"/>
          </a:p>
        </p:txBody>
      </p:sp>
      <p:sp>
        <p:nvSpPr>
          <p:cNvPr id="9" name="Content Placeholder 8">
            <a:extLst>
              <a:ext uri="{FF2B5EF4-FFF2-40B4-BE49-F238E27FC236}">
                <a16:creationId xmlns:a16="http://schemas.microsoft.com/office/drawing/2014/main" id="{B52EDE43-7E0B-031E-7073-3A8D914C1076}"/>
              </a:ext>
            </a:extLst>
          </p:cNvPr>
          <p:cNvSpPr txBox="1">
            <a:spLocks noGrp="1"/>
          </p:cNvSpPr>
          <p:nvPr>
            <p:ph idx="1"/>
          </p:nvPr>
        </p:nvSpPr>
        <p:spPr>
          <a:xfrm>
            <a:off x="217488" y="1176338"/>
            <a:ext cx="11728450" cy="5000625"/>
          </a:xfrm>
          <a:prstGeom prst="rect">
            <a:avLst/>
          </a:prstGeom>
          <a:noFill/>
        </p:spPr>
        <p:txBody>
          <a:bodyPr wrap="square">
            <a:spAutoFit/>
          </a:bodyPr>
          <a:lstStyle/>
          <a:p>
            <a:pPr algn="ctr" fontAlgn="base">
              <a:lnSpc>
                <a:spcPct val="107000"/>
              </a:lnSpc>
              <a:spcAft>
                <a:spcPts val="800"/>
              </a:spcAft>
            </a:pPr>
            <a:r>
              <a:rPr lang="en-IN" sz="2400" b="1" spc="-15" dirty="0">
                <a:solidFill>
                  <a:srgbClr val="000000"/>
                </a:solidFill>
                <a:latin typeface="Times New Roman" panose="02020603050405020304" pitchFamily="18" charset="0"/>
                <a:cs typeface="Times New Roman" panose="02020603050405020304" pitchFamily="18" charset="0"/>
              </a:rPr>
              <a:t>4.Avoidance of Accountability</a:t>
            </a:r>
          </a:p>
          <a:p>
            <a:pPr algn="just">
              <a:spcAft>
                <a:spcPts val="2400"/>
              </a:spcAft>
            </a:pPr>
            <a:r>
              <a:rPr lang="en-IN" sz="20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People are used to emphasizing personal responsibility for one’s actions. This is why individuals do not like to interfere with what other team members do or don’t do. Still, this is counterproductive for the team, where the common result depends on members’ ability to hold each other accountable for personal decisions and actions.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2400"/>
              </a:spcAft>
            </a:pPr>
            <a:r>
              <a:rPr lang="en-IN" sz="20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Teams that avoid accountability…</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Make high performers discouraged</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Miss deadlines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Make team leaders overwhelmed as the sole source of discipline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Remain mediocre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1061633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F7F50B-D1DC-6CC4-DBC1-AAA748B4F758}"/>
              </a:ext>
            </a:extLst>
          </p:cNvPr>
          <p:cNvSpPr>
            <a:spLocks noGrp="1"/>
          </p:cNvSpPr>
          <p:nvPr>
            <p:ph type="title"/>
          </p:nvPr>
        </p:nvSpPr>
        <p:spPr/>
        <p:txBody>
          <a:bodyPr/>
          <a:lstStyle/>
          <a:p>
            <a:r>
              <a:rPr lang="en-IN" dirty="0" err="1"/>
              <a:t>Cont</a:t>
            </a:r>
            <a:r>
              <a:rPr lang="en-IN" dirty="0"/>
              <a:t>…</a:t>
            </a:r>
          </a:p>
        </p:txBody>
      </p:sp>
      <p:sp>
        <p:nvSpPr>
          <p:cNvPr id="6" name="Content Placeholder 5">
            <a:extLst>
              <a:ext uri="{FF2B5EF4-FFF2-40B4-BE49-F238E27FC236}">
                <a16:creationId xmlns:a16="http://schemas.microsoft.com/office/drawing/2014/main" id="{B7ECFB78-1F99-A1E4-FB73-C4DF31FBE3C0}"/>
              </a:ext>
            </a:extLst>
          </p:cNvPr>
          <p:cNvSpPr txBox="1">
            <a:spLocks noGrp="1"/>
          </p:cNvSpPr>
          <p:nvPr>
            <p:ph idx="1"/>
          </p:nvPr>
        </p:nvSpPr>
        <p:spPr>
          <a:xfrm>
            <a:off x="217488" y="1176338"/>
            <a:ext cx="11728450" cy="5049909"/>
          </a:xfrm>
          <a:prstGeom prst="rect">
            <a:avLst/>
          </a:prstGeom>
          <a:noFill/>
        </p:spPr>
        <p:txBody>
          <a:bodyPr wrap="square">
            <a:spAutoFit/>
          </a:bodyPr>
          <a:lstStyle/>
          <a:p>
            <a:pPr algn="just">
              <a:spcAft>
                <a:spcPts val="2400"/>
              </a:spcAft>
            </a:pPr>
            <a:r>
              <a:rPr lang="en-IN" sz="2000" b="1" spc="-15" dirty="0">
                <a:effectLst/>
                <a:latin typeface="Times New Roman" panose="02020603050405020304" pitchFamily="18" charset="0"/>
                <a:ea typeface="Times New Roman" panose="02020603050405020304" pitchFamily="18" charset="0"/>
                <a:cs typeface="Times New Roman" panose="02020603050405020304" pitchFamily="18" charset="0"/>
              </a:rPr>
              <a:t>Solution for Avoidance of Accountability</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2400"/>
              </a:spcAft>
            </a:pPr>
            <a:r>
              <a:rPr lang="en-IN" sz="2000" spc="-15" dirty="0">
                <a:effectLst/>
                <a:latin typeface="Times New Roman" panose="02020603050405020304" pitchFamily="18" charset="0"/>
                <a:ea typeface="Times New Roman" panose="02020603050405020304" pitchFamily="18" charset="0"/>
                <a:cs typeface="Times New Roman" panose="02020603050405020304" pitchFamily="18" charset="0"/>
              </a:rPr>
              <a:t>You may resolve this dysfunction by holding regular progress reviews and rewarding team achievements rather than individuals. Make it clear for individuals that hold high standards of performance as their HIGH5 strength that holding others accountable will be appreciated and rewarded. If the team has successfully overcome the fear of conflict, they will be ready to tackle this dysfunction too.</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2400"/>
              </a:spcAft>
            </a:pPr>
            <a:r>
              <a:rPr lang="en-IN" sz="2000" b="1" spc="-15" dirty="0">
                <a:effectLst/>
                <a:latin typeface="Times New Roman" panose="02020603050405020304" pitchFamily="18" charset="0"/>
                <a:ea typeface="Times New Roman" panose="02020603050405020304" pitchFamily="18" charset="0"/>
                <a:cs typeface="Times New Roman" panose="02020603050405020304" pitchFamily="18" charset="0"/>
              </a:rPr>
              <a:t>When your team learns to hold each other accountable, they will…</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effectLst/>
                <a:latin typeface="Times New Roman" panose="02020603050405020304" pitchFamily="18" charset="0"/>
                <a:ea typeface="Times New Roman" panose="02020603050405020304" pitchFamily="18" charset="0"/>
                <a:cs typeface="Times New Roman" panose="02020603050405020304" pitchFamily="18" charset="0"/>
              </a:rPr>
              <a:t>Quickly identify potential problems questioning each other’s actions and approaches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effectLst/>
                <a:latin typeface="Times New Roman" panose="02020603050405020304" pitchFamily="18" charset="0"/>
                <a:ea typeface="Times New Roman" panose="02020603050405020304" pitchFamily="18" charset="0"/>
                <a:cs typeface="Times New Roman" panose="02020603050405020304" pitchFamily="18" charset="0"/>
              </a:rPr>
              <a:t>Respect their team and the organisation for applying the same standards to everyone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effectLst/>
                <a:latin typeface="Times New Roman" panose="02020603050405020304" pitchFamily="18" charset="0"/>
                <a:ea typeface="Times New Roman" panose="02020603050405020304" pitchFamily="18" charset="0"/>
                <a:cs typeface="Times New Roman" panose="02020603050405020304" pitchFamily="18" charset="0"/>
              </a:rPr>
              <a:t>Avoid excessive management of performance, fines and corrective actions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effectLst/>
                <a:latin typeface="Times New Roman" panose="02020603050405020304" pitchFamily="18" charset="0"/>
                <a:ea typeface="Times New Roman" panose="02020603050405020304" pitchFamily="18" charset="0"/>
                <a:cs typeface="Times New Roman" panose="02020603050405020304" pitchFamily="18" charset="0"/>
              </a:rPr>
              <a:t>Pressure poor performers to improve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455263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661179-80E7-3388-4732-462975481F90}"/>
              </a:ext>
            </a:extLst>
          </p:cNvPr>
          <p:cNvSpPr>
            <a:spLocks noGrp="1"/>
          </p:cNvSpPr>
          <p:nvPr>
            <p:ph type="title"/>
          </p:nvPr>
        </p:nvSpPr>
        <p:spPr/>
        <p:txBody>
          <a:bodyPr/>
          <a:lstStyle/>
          <a:p>
            <a:r>
              <a:rPr lang="en-IN" dirty="0" err="1"/>
              <a:t>Cont</a:t>
            </a:r>
            <a:r>
              <a:rPr lang="en-IN" dirty="0"/>
              <a:t>…</a:t>
            </a:r>
          </a:p>
        </p:txBody>
      </p:sp>
      <p:sp>
        <p:nvSpPr>
          <p:cNvPr id="6" name="Content Placeholder 5">
            <a:extLst>
              <a:ext uri="{FF2B5EF4-FFF2-40B4-BE49-F238E27FC236}">
                <a16:creationId xmlns:a16="http://schemas.microsoft.com/office/drawing/2014/main" id="{303223FD-5B0E-46D3-6C98-318FA5890658}"/>
              </a:ext>
            </a:extLst>
          </p:cNvPr>
          <p:cNvSpPr txBox="1">
            <a:spLocks noGrp="1"/>
          </p:cNvSpPr>
          <p:nvPr>
            <p:ph idx="1"/>
          </p:nvPr>
        </p:nvSpPr>
        <p:spPr>
          <a:xfrm>
            <a:off x="217488" y="1176338"/>
            <a:ext cx="11728450" cy="5000625"/>
          </a:xfrm>
          <a:prstGeom prst="rect">
            <a:avLst/>
          </a:prstGeom>
          <a:noFill/>
        </p:spPr>
        <p:txBody>
          <a:bodyPr wrap="square">
            <a:spAutoFit/>
          </a:bodyPr>
          <a:lstStyle/>
          <a:p>
            <a:pPr algn="ctr" fontAlgn="base">
              <a:lnSpc>
                <a:spcPct val="107000"/>
              </a:lnSpc>
              <a:spcAft>
                <a:spcPts val="800"/>
              </a:spcAft>
            </a:pPr>
            <a:r>
              <a:rPr lang="en-IN" sz="2400" b="1"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a:t>
            </a:r>
            <a:r>
              <a:rPr lang="en-IN" sz="2400" b="1" kern="100" spc="-15"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Inattention to Results</a:t>
            </a:r>
            <a:endParaRPr lang="en-IN" sz="24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2400"/>
              </a:spcAft>
            </a:pPr>
            <a:r>
              <a:rPr lang="en-IN" sz="20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dysfunction of the team stems from the individuals’ focus on their own achievements or status at the expense of collective results. Such focus can make team members do something that is not promoting collective goals just to get individual recognition or enhance their ego.</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spcAft>
                <a:spcPts val="2400"/>
              </a:spcAft>
            </a:pPr>
            <a:r>
              <a:rPr lang="en-IN" sz="20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Teams that are not focused on collective results…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Lose achievement-oriented team members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Get distracted from collective goals easily</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Fail to develop</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000" kern="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Lose market competition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spcAft>
                <a:spcPts val="2400"/>
              </a:spcAft>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329138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9948BE-319F-7B4A-A1B9-5223D5F13A47}"/>
              </a:ext>
            </a:extLst>
          </p:cNvPr>
          <p:cNvSpPr txBox="1">
            <a:spLocks noGrp="1"/>
          </p:cNvSpPr>
          <p:nvPr>
            <p:ph idx="1"/>
          </p:nvPr>
        </p:nvSpPr>
        <p:spPr>
          <a:xfrm>
            <a:off x="217488" y="1176338"/>
            <a:ext cx="11728450" cy="5000625"/>
          </a:xfrm>
          <a:prstGeom prst="rect">
            <a:avLst/>
          </a:prstGeom>
          <a:noFill/>
        </p:spPr>
        <p:txBody>
          <a:bodyPr wrap="square">
            <a:spAutoFit/>
          </a:bodyPr>
          <a:lstStyle/>
          <a:p>
            <a:pPr algn="just">
              <a:spcAft>
                <a:spcPts val="2400"/>
              </a:spcAft>
            </a:pPr>
            <a:r>
              <a:rPr lang="en-IN" sz="2000" b="1" spc="-15" dirty="0">
                <a:effectLst/>
                <a:latin typeface="Times New Roman" panose="02020603050405020304" pitchFamily="18" charset="0"/>
                <a:ea typeface="Times New Roman" panose="02020603050405020304" pitchFamily="18" charset="0"/>
              </a:rPr>
              <a:t>Solution for Inattention to Results in a Team</a:t>
            </a:r>
            <a:endParaRPr lang="en-IN" sz="2000" dirty="0">
              <a:effectLst/>
              <a:latin typeface="Times New Roman" panose="02020603050405020304" pitchFamily="18" charset="0"/>
              <a:ea typeface="Times New Roman" panose="02020603050405020304" pitchFamily="18" charset="0"/>
            </a:endParaRPr>
          </a:p>
          <a:p>
            <a:pPr algn="just">
              <a:spcAft>
                <a:spcPts val="2400"/>
              </a:spcAft>
            </a:pPr>
            <a:r>
              <a:rPr lang="en-IN" sz="2000" spc="-15" dirty="0">
                <a:effectLst/>
                <a:latin typeface="Times New Roman" panose="02020603050405020304" pitchFamily="18" charset="0"/>
                <a:ea typeface="Times New Roman" panose="02020603050405020304" pitchFamily="18" charset="0"/>
              </a:rPr>
              <a:t>For your team to keep focus on common results, it is vital to have clear metrics to assess results. </a:t>
            </a:r>
          </a:p>
          <a:p>
            <a:pPr algn="just">
              <a:spcAft>
                <a:spcPts val="2400"/>
              </a:spcAft>
            </a:pPr>
            <a:r>
              <a:rPr lang="en-IN" sz="2000" spc="-15" dirty="0">
                <a:effectLst/>
                <a:latin typeface="Times New Roman" panose="02020603050405020304" pitchFamily="18" charset="0"/>
                <a:ea typeface="Times New Roman" panose="02020603050405020304" pitchFamily="18" charset="0"/>
              </a:rPr>
              <a:t>If the team already knows how to keep each other accountable, they will push each other toward pursuing common not individual goals. As in the case with the avoidance of accountability, rewards should be based on team rather than individual results and achievements.</a:t>
            </a:r>
            <a:endParaRPr lang="en-IN" sz="2000" dirty="0">
              <a:effectLst/>
              <a:latin typeface="Times New Roman" panose="02020603050405020304" pitchFamily="18" charset="0"/>
              <a:ea typeface="Times New Roman" panose="02020603050405020304" pitchFamily="18" charset="0"/>
            </a:endParaRPr>
          </a:p>
          <a:p>
            <a:pPr algn="just">
              <a:spcAft>
                <a:spcPts val="2400"/>
              </a:spcAft>
            </a:pPr>
            <a:r>
              <a:rPr lang="en-IN" sz="2000" spc="-15" dirty="0">
                <a:effectLst/>
                <a:latin typeface="Times New Roman" panose="02020603050405020304" pitchFamily="18" charset="0"/>
                <a:ea typeface="Times New Roman" panose="02020603050405020304" pitchFamily="18" charset="0"/>
              </a:rPr>
              <a:t>If the urge to get individual recognition or please one’s ego is a part of a team member’s personality, it is not necessary to fight or punish it. Instead, use </a:t>
            </a:r>
            <a:r>
              <a:rPr lang="en-IN" sz="2000" u="none" strike="noStrike" spc="-15" dirty="0">
                <a:effectLst/>
                <a:latin typeface="Times New Roman" panose="02020603050405020304" pitchFamily="18" charset="0"/>
                <a:ea typeface="Times New Roman" panose="02020603050405020304" pitchFamily="18" charset="0"/>
              </a:rPr>
              <a:t>strengths based approach</a:t>
            </a:r>
            <a:r>
              <a:rPr lang="en-IN" sz="2000" spc="-15" dirty="0">
                <a:effectLst/>
                <a:latin typeface="Times New Roman" panose="02020603050405020304" pitchFamily="18" charset="0"/>
                <a:ea typeface="Times New Roman" panose="02020603050405020304" pitchFamily="18" charset="0"/>
              </a:rPr>
              <a:t> and make sure individuals’ zeal align well with the common goals.</a:t>
            </a:r>
            <a:endParaRPr lang="en-IN" sz="2000" dirty="0">
              <a:effectLst/>
              <a:latin typeface="Times New Roman" panose="02020603050405020304" pitchFamily="18" charset="0"/>
              <a:ea typeface="Times New Roman" panose="02020603050405020304" pitchFamily="18" charset="0"/>
            </a:endParaRPr>
          </a:p>
        </p:txBody>
      </p:sp>
      <p:sp>
        <p:nvSpPr>
          <p:cNvPr id="5" name="TextBox 4">
            <a:extLst>
              <a:ext uri="{FF2B5EF4-FFF2-40B4-BE49-F238E27FC236}">
                <a16:creationId xmlns:a16="http://schemas.microsoft.com/office/drawing/2014/main" id="{CF9EAFA0-AE95-D6C6-0522-B28EB2A7F88D}"/>
              </a:ext>
            </a:extLst>
          </p:cNvPr>
          <p:cNvSpPr txBox="1"/>
          <p:nvPr/>
        </p:nvSpPr>
        <p:spPr>
          <a:xfrm>
            <a:off x="3026228" y="148031"/>
            <a:ext cx="8002555" cy="369332"/>
          </a:xfrm>
          <a:prstGeom prst="rect">
            <a:avLst/>
          </a:prstGeom>
          <a:noFill/>
        </p:spPr>
        <p:txBody>
          <a:bodyPr wrap="square">
            <a:spAutoFit/>
          </a:bodyPr>
          <a:lstStyle/>
          <a:p>
            <a:pPr algn="ctr">
              <a:spcBef>
                <a:spcPct val="0"/>
              </a:spcBef>
              <a:defRPr/>
            </a:pPr>
            <a:r>
              <a:rPr lang="en-IN" sz="1800" b="1" dirty="0">
                <a:latin typeface="Times New Roman" panose="02020603050405020304" pitchFamily="18" charset="0"/>
                <a:cs typeface="Times New Roman" panose="02020603050405020304" pitchFamily="18" charset="0"/>
              </a:rPr>
              <a:t>5 Dysfunctions of a Team: What They are and How to Overcome</a:t>
            </a:r>
          </a:p>
        </p:txBody>
      </p:sp>
    </p:spTree>
    <p:extLst>
      <p:ext uri="{BB962C8B-B14F-4D97-AF65-F5344CB8AC3E}">
        <p14:creationId xmlns:p14="http://schemas.microsoft.com/office/powerpoint/2010/main" val="1914932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830423-C7D5-D01E-7863-694AE2380B3A}"/>
              </a:ext>
            </a:extLst>
          </p:cNvPr>
          <p:cNvSpPr>
            <a:spLocks noGrp="1"/>
          </p:cNvSpPr>
          <p:nvPr>
            <p:ph type="title"/>
          </p:nvPr>
        </p:nvSpPr>
        <p:spPr/>
        <p:txBody>
          <a:bodyPr>
            <a:normAutofit fontScale="90000"/>
          </a:bodyPr>
          <a:lstStyle/>
          <a:p>
            <a:pPr algn="ct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What is Power</a:t>
            </a: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053412A3-FF2D-C9CD-47C1-25AB48106A58}"/>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spcAft>
                <a:spcPts val="2400"/>
              </a:spcAft>
              <a:buFont typeface="Arial" panose="020B0604020202020204" pitchFamily="34" charset="0"/>
              <a:buChar char="•"/>
            </a:pPr>
            <a:r>
              <a:rPr lang="en-IN" sz="2400" b="1" spc="-15"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a:t>
            </a:r>
            <a:r>
              <a:rPr lang="en-IN" sz="2400" b="1"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ower </a:t>
            </a:r>
            <a:r>
              <a:rPr lang="en-IN" sz="24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is the ability to influence the behaviour of others to get what you want. </a:t>
            </a:r>
          </a:p>
          <a:p>
            <a:pPr marL="342900" indent="-342900" algn="just">
              <a:spcAft>
                <a:spcPts val="2400"/>
              </a:spcAft>
              <a:buFont typeface="Arial" panose="020B0604020202020204" pitchFamily="34" charset="0"/>
              <a:buChar char="•"/>
            </a:pPr>
            <a:r>
              <a:rPr lang="en-IN" sz="24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Gerald </a:t>
            </a:r>
            <a:r>
              <a:rPr lang="en-IN" sz="2400" spc="-15"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Salancik</a:t>
            </a:r>
            <a:r>
              <a:rPr lang="en-IN" sz="24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Jeffery Pfeffer concur, noting, “Power is simply the ability to get things done the way one wants them to be done” (</a:t>
            </a:r>
            <a:r>
              <a:rPr lang="en-IN" sz="2400" spc="-15"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Salancik</a:t>
            </a:r>
            <a:r>
              <a:rPr lang="en-IN" sz="24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&amp; Pfeffer, 1989). </a:t>
            </a:r>
          </a:p>
          <a:p>
            <a:pPr marL="342900" indent="-342900" algn="just">
              <a:spcAft>
                <a:spcPts val="2400"/>
              </a:spcAft>
              <a:buFont typeface="Arial" panose="020B0604020202020204" pitchFamily="34" charset="0"/>
              <a:buChar char="•"/>
            </a:pPr>
            <a:r>
              <a:rPr lang="en-IN" sz="2400" spc="-1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If you want a larger budget to open a new store in a large city and you get the budget increase, you have used your power to influence the decision.</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09977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206092-7A6B-115A-9ED9-E3CE3AA58C31}"/>
              </a:ext>
            </a:extLst>
          </p:cNvPr>
          <p:cNvSpPr>
            <a:spLocks noGrp="1"/>
          </p:cNvSpPr>
          <p:nvPr>
            <p:ph type="title"/>
          </p:nvPr>
        </p:nvSpPr>
        <p:spPr/>
        <p:txBody>
          <a:bodyPr>
            <a:normAutofit fontScale="90000"/>
          </a:bodyPr>
          <a:lstStyle/>
          <a:p>
            <a:pPr algn="ct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Sources of Power</a:t>
            </a: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3D7EEBDD-A91F-39AE-0919-70CF0E7648B6}"/>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Having power and using power are two different things.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For example, imagine a manager who has the power to reward or punish employees.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When the manager makes a request, he or she will probably be obeyed even though the manager does not actually reward the employee. The fact that the manager has the ability to give rewards and punishments will be enough for employees to follow the request.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Researchers identified six sources of power, which include legitimate, reward, coercive, expert, information, and referent (French &amp; Raven, 1960). you might earn power from one source or all six depending on the situation.  </a:t>
            </a:r>
          </a:p>
        </p:txBody>
      </p:sp>
    </p:spTree>
    <p:extLst>
      <p:ext uri="{BB962C8B-B14F-4D97-AF65-F5344CB8AC3E}">
        <p14:creationId xmlns:p14="http://schemas.microsoft.com/office/powerpoint/2010/main" val="25949925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509556-1E36-48CD-AD0F-D15DF164E907}"/>
              </a:ext>
            </a:extLst>
          </p:cNvPr>
          <p:cNvSpPr>
            <a:spLocks noGrp="1"/>
          </p:cNvSpPr>
          <p:nvPr>
            <p:ph type="title"/>
          </p:nvPr>
        </p:nvSpPr>
        <p:spPr/>
        <p:txBody>
          <a:bodyPr>
            <a:normAutofit fontScale="90000"/>
          </a:bodyPr>
          <a:lstStyle/>
          <a:p>
            <a:pPr algn="ctr">
              <a:defRPr/>
            </a:pPr>
            <a:br>
              <a:rPr lang="en-IN" sz="3600" b="1" dirty="0">
                <a:latin typeface="Times New Roman" panose="02020603050405020304" pitchFamily="18" charset="0"/>
                <a:cs typeface="Times New Roman" panose="02020603050405020304" pitchFamily="18" charset="0"/>
              </a:rPr>
            </a:br>
            <a:br>
              <a:rPr lang="en-IN" sz="3600" b="1" dirty="0">
                <a:latin typeface="Times New Roman" panose="02020603050405020304" pitchFamily="18" charset="0"/>
                <a:cs typeface="Times New Roman" panose="02020603050405020304" pitchFamily="18" charset="0"/>
              </a:rPr>
            </a:b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1. Legitimate</a:t>
            </a:r>
            <a:r>
              <a:rPr lang="en-IN" sz="2700" b="1" dirty="0">
                <a:solidFill>
                  <a:srgbClr val="373D3F"/>
                </a:solidFill>
                <a:latin typeface="Lora" pitchFamily="2" charset="0"/>
                <a:ea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Power</a:t>
            </a:r>
            <a:br>
              <a:rPr lang="en-IN" sz="3600"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5D032D84-9CA5-925E-263F-49EBE4AEB296}"/>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Legitimate power is power that comes from one’s organizational role or position.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For example, a boss can assign projects, a policeman can arrest a citizen, and a teacher assigns grades. Others comply with the requests these individuals make because they accept the legitimacy of the position, whether they like or agree with the request or not.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Steve Jobs has enjoyed legitimate power as the CEO of Apple. He could set deadlines and employees comply even if they think the deadlines were overly ambitious. Start-up organizations often have founders who use their legitimate power to influence individuals to work long hours week after week in order to help the company survive.</a:t>
            </a:r>
          </a:p>
        </p:txBody>
      </p:sp>
    </p:spTree>
    <p:extLst>
      <p:ext uri="{BB962C8B-B14F-4D97-AF65-F5344CB8AC3E}">
        <p14:creationId xmlns:p14="http://schemas.microsoft.com/office/powerpoint/2010/main" val="6085369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DBF444-9B03-FA21-B8F6-B40E09784E11}"/>
              </a:ext>
            </a:extLst>
          </p:cNvPr>
          <p:cNvSpPr>
            <a:spLocks noGrp="1"/>
          </p:cNvSpPr>
          <p:nvPr>
            <p:ph type="title"/>
          </p:nvPr>
        </p:nvSpPr>
        <p:spPr/>
        <p:txBody>
          <a:bodyPr/>
          <a:lstStyle/>
          <a:p>
            <a:r>
              <a:rPr lang="en-US" dirty="0"/>
              <a:t>REWARD POWER</a:t>
            </a:r>
            <a:endParaRPr lang="en-IN" dirty="0"/>
          </a:p>
        </p:txBody>
      </p:sp>
      <p:sp>
        <p:nvSpPr>
          <p:cNvPr id="4" name="Content Placeholder 3">
            <a:extLst>
              <a:ext uri="{FF2B5EF4-FFF2-40B4-BE49-F238E27FC236}">
                <a16:creationId xmlns:a16="http://schemas.microsoft.com/office/drawing/2014/main" id="{E2FA3A5A-29A3-C874-87A6-C4D44E735033}"/>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Reward power is the ability to grant a reward, such as an increase in pay, a perk, or an attractive job assignment.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Reward power tends to accompany legitimate power and is highest when the reward is scarce.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Anyone can wield reward power, however, in the form of public praise or giving someone something in exchange for their compliance.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When Steve Jobs ran Apple, he had reward power in the form of raises and promotions. Another example of reward power comes from Bill Gross, founder of </a:t>
            </a:r>
            <a:r>
              <a:rPr lang="en-IN" sz="2400" spc="-15" dirty="0" err="1">
                <a:solidFill>
                  <a:srgbClr val="000000"/>
                </a:solidFill>
                <a:latin typeface="Times New Roman" panose="02020603050405020304" pitchFamily="18" charset="0"/>
                <a:cs typeface="Times New Roman" panose="02020603050405020304" pitchFamily="18" charset="0"/>
              </a:rPr>
              <a:t>Idealab</a:t>
            </a:r>
            <a:r>
              <a:rPr lang="en-IN" sz="2400" spc="-15" dirty="0">
                <a:solidFill>
                  <a:srgbClr val="000000"/>
                </a:solidFill>
                <a:latin typeface="Times New Roman" panose="02020603050405020304" pitchFamily="18" charset="0"/>
                <a:cs typeface="Times New Roman" panose="02020603050405020304" pitchFamily="18" charset="0"/>
              </a:rPr>
              <a:t>, who has the power to launch new companies or not. </a:t>
            </a:r>
          </a:p>
        </p:txBody>
      </p:sp>
    </p:spTree>
    <p:extLst>
      <p:ext uri="{BB962C8B-B14F-4D97-AF65-F5344CB8AC3E}">
        <p14:creationId xmlns:p14="http://schemas.microsoft.com/office/powerpoint/2010/main" val="23260095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59B41A-02B6-D381-ED86-6C6A43457607}"/>
              </a:ext>
            </a:extLst>
          </p:cNvPr>
          <p:cNvSpPr>
            <a:spLocks noGrp="1"/>
          </p:cNvSpPr>
          <p:nvPr>
            <p:ph type="title"/>
          </p:nvPr>
        </p:nvSpPr>
        <p:spPr/>
        <p:txBody>
          <a:bodyPr/>
          <a:lstStyle/>
          <a:p>
            <a:r>
              <a:rPr lang="en-US" dirty="0"/>
              <a:t>COERCIVE POWER</a:t>
            </a:r>
            <a:endParaRPr lang="en-IN" dirty="0"/>
          </a:p>
        </p:txBody>
      </p:sp>
      <p:sp>
        <p:nvSpPr>
          <p:cNvPr id="4" name="Content Placeholder 3">
            <a:extLst>
              <a:ext uri="{FF2B5EF4-FFF2-40B4-BE49-F238E27FC236}">
                <a16:creationId xmlns:a16="http://schemas.microsoft.com/office/drawing/2014/main" id="{53B0764A-DA32-C4C9-3F29-BA4A89A8A25F}"/>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spcAft>
                <a:spcPts val="2400"/>
              </a:spcAft>
              <a:buFont typeface="Arial" panose="020B0604020202020204" pitchFamily="34" charset="0"/>
              <a:buChar char="•"/>
            </a:pPr>
            <a:r>
              <a:rPr lang="en-IN" sz="2000" spc="-15" dirty="0">
                <a:solidFill>
                  <a:srgbClr val="000000"/>
                </a:solidFill>
                <a:latin typeface="Times New Roman" panose="02020603050405020304" pitchFamily="18" charset="0"/>
                <a:cs typeface="Times New Roman" panose="02020603050405020304" pitchFamily="18" charset="0"/>
              </a:rPr>
              <a:t>In contrast, coercive power is the ability to take something away or punish someone for noncompliance. </a:t>
            </a:r>
          </a:p>
          <a:p>
            <a:pPr marL="342900" indent="-342900" algn="just">
              <a:spcAft>
                <a:spcPts val="2400"/>
              </a:spcAft>
              <a:buFont typeface="Arial" panose="020B0604020202020204" pitchFamily="34" charset="0"/>
              <a:buChar char="•"/>
            </a:pPr>
            <a:r>
              <a:rPr lang="en-IN" sz="2000" spc="-15" dirty="0">
                <a:solidFill>
                  <a:srgbClr val="000000"/>
                </a:solidFill>
                <a:latin typeface="Times New Roman" panose="02020603050405020304" pitchFamily="18" charset="0"/>
                <a:cs typeface="Times New Roman" panose="02020603050405020304" pitchFamily="18" charset="0"/>
              </a:rPr>
              <a:t>Coercive power often works through fear and it forces people to do something that ordinarily they would not choose to do. </a:t>
            </a:r>
          </a:p>
          <a:p>
            <a:pPr marL="342900" indent="-342900" algn="just">
              <a:spcAft>
                <a:spcPts val="2400"/>
              </a:spcAft>
              <a:buFont typeface="Arial" panose="020B0604020202020204" pitchFamily="34" charset="0"/>
              <a:buChar char="•"/>
            </a:pPr>
            <a:r>
              <a:rPr lang="en-IN" sz="2000" spc="-15" dirty="0">
                <a:solidFill>
                  <a:srgbClr val="000000"/>
                </a:solidFill>
                <a:latin typeface="Times New Roman" panose="02020603050405020304" pitchFamily="18" charset="0"/>
                <a:cs typeface="Times New Roman" panose="02020603050405020304" pitchFamily="18" charset="0"/>
              </a:rPr>
              <a:t>The most extreme example of coercion is government dictators who threaten physical harm for noncompliance. </a:t>
            </a:r>
          </a:p>
          <a:p>
            <a:pPr marL="342900" indent="-342900" algn="just">
              <a:spcAft>
                <a:spcPts val="2400"/>
              </a:spcAft>
              <a:buFont typeface="Arial" panose="020B0604020202020204" pitchFamily="34" charset="0"/>
              <a:buChar char="•"/>
            </a:pPr>
            <a:r>
              <a:rPr lang="en-IN" sz="2000" spc="-15" dirty="0">
                <a:solidFill>
                  <a:srgbClr val="000000"/>
                </a:solidFill>
                <a:latin typeface="Times New Roman" panose="02020603050405020304" pitchFamily="18" charset="0"/>
                <a:cs typeface="Times New Roman" panose="02020603050405020304" pitchFamily="18" charset="0"/>
              </a:rPr>
              <a:t>Parents may also use coercion such as grounding their child as punishment for noncompliance. </a:t>
            </a:r>
          </a:p>
          <a:p>
            <a:pPr marL="342900" indent="-342900" algn="just">
              <a:spcAft>
                <a:spcPts val="2400"/>
              </a:spcAft>
              <a:buFont typeface="Arial" panose="020B0604020202020204" pitchFamily="34" charset="0"/>
              <a:buChar char="•"/>
            </a:pPr>
            <a:r>
              <a:rPr lang="en-IN" sz="2000" spc="-15" dirty="0">
                <a:solidFill>
                  <a:srgbClr val="000000"/>
                </a:solidFill>
                <a:latin typeface="Times New Roman" panose="02020603050405020304" pitchFamily="18" charset="0"/>
                <a:cs typeface="Times New Roman" panose="02020603050405020304" pitchFamily="18" charset="0"/>
              </a:rPr>
              <a:t>Steve Jobs has been known to use coercion—yelling at employees and threatening to fire them. When John Wiley &amp; Sons Inc. published an unauthorized biography of Jobs, </a:t>
            </a:r>
            <a:r>
              <a:rPr lang="en-IN" sz="2000" spc="-15" dirty="0" err="1">
                <a:solidFill>
                  <a:srgbClr val="000000"/>
                </a:solidFill>
                <a:latin typeface="Times New Roman" panose="02020603050405020304" pitchFamily="18" charset="0"/>
                <a:cs typeface="Times New Roman" panose="02020603050405020304" pitchFamily="18" charset="0"/>
              </a:rPr>
              <a:t>Jobs’s</a:t>
            </a:r>
            <a:r>
              <a:rPr lang="en-IN" sz="2000" spc="-15" dirty="0">
                <a:solidFill>
                  <a:srgbClr val="000000"/>
                </a:solidFill>
                <a:latin typeface="Times New Roman" panose="02020603050405020304" pitchFamily="18" charset="0"/>
                <a:cs typeface="Times New Roman" panose="02020603050405020304" pitchFamily="18" charset="0"/>
              </a:rPr>
              <a:t> response was to prohibit sales of all books from that publisher in any Apple retail store (Hafner, 2005). </a:t>
            </a:r>
          </a:p>
        </p:txBody>
      </p:sp>
    </p:spTree>
    <p:extLst>
      <p:ext uri="{BB962C8B-B14F-4D97-AF65-F5344CB8AC3E}">
        <p14:creationId xmlns:p14="http://schemas.microsoft.com/office/powerpoint/2010/main" val="6861115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56DFAF-68F0-41C5-D135-A8F0083637B0}"/>
              </a:ext>
            </a:extLst>
          </p:cNvPr>
          <p:cNvSpPr>
            <a:spLocks noGrp="1"/>
          </p:cNvSpPr>
          <p:nvPr>
            <p:ph type="title"/>
          </p:nvPr>
        </p:nvSpPr>
        <p:spPr/>
        <p:txBody>
          <a:bodyPr>
            <a:normAutofit fontScale="90000"/>
          </a:bodyPr>
          <a:lstStyle/>
          <a:p>
            <a:pPr algn="ct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4. Expert Power</a:t>
            </a: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CB829BCA-305E-0BD2-50E1-D2474BA03909}"/>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Expert power comes from knowledge and skill. Steve Jobs has expert power from his ability to know what customers want even before they can articulate it.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Others who have expert power in an organization include long-time employees, such as a steelworker who knows the temperature combinations and length of time to get the best yields.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Technology companies are often characterized by expert, rather than legitimate power.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Many of these firms utilize a flat or matrix structure in which clear lines of legitimate power become blurred as everyone communicates with everyone else regardless of position.</a:t>
            </a:r>
          </a:p>
        </p:txBody>
      </p:sp>
    </p:spTree>
    <p:extLst>
      <p:ext uri="{BB962C8B-B14F-4D97-AF65-F5344CB8AC3E}">
        <p14:creationId xmlns:p14="http://schemas.microsoft.com/office/powerpoint/2010/main" val="34805310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A037E5C-1A3A-0D55-9C9A-7DFF13911CF9}"/>
              </a:ext>
            </a:extLst>
          </p:cNvPr>
          <p:cNvSpPr>
            <a:spLocks noGrp="1"/>
          </p:cNvSpPr>
          <p:nvPr>
            <p:ph type="title"/>
          </p:nvPr>
        </p:nvSpPr>
        <p:spPr/>
        <p:txBody>
          <a:bodyPr/>
          <a:lstStyle/>
          <a:p>
            <a:r>
              <a:rPr lang="en-US" dirty="0"/>
              <a:t>5. INFORMATION POWER</a:t>
            </a:r>
            <a:endParaRPr lang="en-IN" dirty="0"/>
          </a:p>
        </p:txBody>
      </p:sp>
      <p:sp>
        <p:nvSpPr>
          <p:cNvPr id="4" name="Content Placeholder 3">
            <a:extLst>
              <a:ext uri="{FF2B5EF4-FFF2-40B4-BE49-F238E27FC236}">
                <a16:creationId xmlns:a16="http://schemas.microsoft.com/office/drawing/2014/main" id="{D3A6FA34-754B-61C9-1DF8-F90AE75636BB}"/>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Information power is similar to expert power but differs in its source.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Experts tend to have a vast amount of knowledge or skill, whereas information power is distinguished by access to specific information.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For example, knowing price information gives a person information power during negotiations. Within organizations, a person’s social network can either isolate them from information power or serve to create it. </a:t>
            </a:r>
          </a:p>
        </p:txBody>
      </p:sp>
    </p:spTree>
    <p:extLst>
      <p:ext uri="{BB962C8B-B14F-4D97-AF65-F5344CB8AC3E}">
        <p14:creationId xmlns:p14="http://schemas.microsoft.com/office/powerpoint/2010/main" val="16013816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9B1786-24B2-E8FC-A734-A1249AB7CA1E}"/>
              </a:ext>
            </a:extLst>
          </p:cNvPr>
          <p:cNvSpPr>
            <a:spLocks noGrp="1"/>
          </p:cNvSpPr>
          <p:nvPr>
            <p:ph type="title"/>
          </p:nvPr>
        </p:nvSpPr>
        <p:spPr/>
        <p:txBody>
          <a:bodyPr/>
          <a:lstStyle/>
          <a:p>
            <a:r>
              <a:rPr lang="en-US" dirty="0"/>
              <a:t>REFERENT POWER</a:t>
            </a:r>
            <a:endParaRPr lang="en-IN" dirty="0"/>
          </a:p>
        </p:txBody>
      </p:sp>
      <p:sp>
        <p:nvSpPr>
          <p:cNvPr id="4" name="Content Placeholder 3">
            <a:extLst>
              <a:ext uri="{FF2B5EF4-FFF2-40B4-BE49-F238E27FC236}">
                <a16:creationId xmlns:a16="http://schemas.microsoft.com/office/drawing/2014/main" id="{DAA8E31A-3316-C5D5-5F59-164A16FFC342}"/>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Referent power stems from the personal characteristics of the person such as the degree to which we like, respect, and want to be like them.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Referent power is often called charisma—the ability to attract others, win their admiration, and hold them spellbound.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Steve </a:t>
            </a:r>
            <a:r>
              <a:rPr lang="en-IN" sz="2400" spc="-15" dirty="0" err="1">
                <a:solidFill>
                  <a:srgbClr val="000000"/>
                </a:solidFill>
                <a:latin typeface="Times New Roman" panose="02020603050405020304" pitchFamily="18" charset="0"/>
                <a:cs typeface="Times New Roman" panose="02020603050405020304" pitchFamily="18" charset="0"/>
              </a:rPr>
              <a:t>Jobs’s</a:t>
            </a:r>
            <a:r>
              <a:rPr lang="en-IN" sz="2400" spc="-15" dirty="0">
                <a:solidFill>
                  <a:srgbClr val="000000"/>
                </a:solidFill>
                <a:latin typeface="Times New Roman" panose="02020603050405020304" pitchFamily="18" charset="0"/>
                <a:cs typeface="Times New Roman" panose="02020603050405020304" pitchFamily="18" charset="0"/>
              </a:rPr>
              <a:t> influence as described in the opening case is an example of this charisma.</a:t>
            </a:r>
          </a:p>
        </p:txBody>
      </p:sp>
    </p:spTree>
    <p:extLst>
      <p:ext uri="{BB962C8B-B14F-4D97-AF65-F5344CB8AC3E}">
        <p14:creationId xmlns:p14="http://schemas.microsoft.com/office/powerpoint/2010/main" val="39795938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F5A18E-C301-F47F-F39A-613E0516DF88}"/>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ORGANIZATIONAL POLITICS</a:t>
            </a: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BB6AD780-CFFC-D4E6-6BE3-BC0FDFE31755}"/>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Organizational politics are informal, unofficial, and sometimes behind-the-scenes efforts to sell ideas, influence an organization, increase power, or achieve other targeted objectives.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Politics has been around for millennia. Aristotle wrote that politics stems from a diversity of interests, and those competing interests must be resolved in some way. </a:t>
            </a:r>
          </a:p>
          <a:p>
            <a:pPr marL="342900" indent="-342900" algn="just">
              <a:spcAft>
                <a:spcPts val="24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"Rational" decision making alone may not work when interests are fundamentally incongruent, so political behaviours and influence tactics arise.</a:t>
            </a:r>
            <a:br>
              <a:rPr lang="en-IN" sz="2400" spc="-15" dirty="0">
                <a:solidFill>
                  <a:srgbClr val="000000"/>
                </a:solidFill>
                <a:latin typeface="Times New Roman" panose="02020603050405020304" pitchFamily="18" charset="0"/>
                <a:cs typeface="Times New Roman" panose="02020603050405020304" pitchFamily="18" charset="0"/>
              </a:rPr>
            </a:br>
            <a:endParaRPr lang="en-IN" sz="2400" spc="-15"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04663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F3E240-5180-2792-D4FD-EF8F747F583D}"/>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Organizational Politics</a:t>
            </a: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629238FB-7190-0E17-6B20-647DF6295F04}"/>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a:lnSpc>
                <a:spcPct val="107000"/>
              </a:lnSpc>
              <a:spcAft>
                <a:spcPts val="8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If power is a force, a store of potential influence through which events can be affected, politics involves those activities or behaviours through which power is developed and used in organizational settings. </a:t>
            </a:r>
          </a:p>
          <a:p>
            <a:pPr marL="342900" indent="-342900" algn="just">
              <a:lnSpc>
                <a:spcPct val="107000"/>
              </a:lnSpc>
              <a:spcAft>
                <a:spcPts val="800"/>
              </a:spcAft>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Power is a property of the system at rest; politics is the study of power in action. An individual, subunit or department may have power within an organizational context at some period; politics involves the exercise of power to get something accomplished, as well as those activities which are undertaken to expand the power already possessed or the scope over which it can be exercised.</a:t>
            </a:r>
          </a:p>
        </p:txBody>
      </p:sp>
    </p:spTree>
    <p:extLst>
      <p:ext uri="{BB962C8B-B14F-4D97-AF65-F5344CB8AC3E}">
        <p14:creationId xmlns:p14="http://schemas.microsoft.com/office/powerpoint/2010/main" val="19283513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AB12C8-7A82-D332-C581-712FFDD83BCB}"/>
              </a:ext>
            </a:extLst>
          </p:cNvPr>
          <p:cNvSpPr>
            <a:spLocks noGrp="1"/>
          </p:cNvSpPr>
          <p:nvPr>
            <p:ph type="title"/>
          </p:nvPr>
        </p:nvSpPr>
        <p:spPr/>
        <p:txBody>
          <a:bodyPr>
            <a:normAutofit fontScale="90000"/>
          </a:bodyPr>
          <a:lstStyle/>
          <a:p>
            <a:pPr algn="ct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Employee Empowerment</a:t>
            </a: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ECB2CC22-6A36-6ABD-CD93-E860EB9DDF6A}"/>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fontAlgn="base">
              <a:buFont typeface="Arial" panose="020B0604020202020204" pitchFamily="34" charset="0"/>
              <a:buChar char="•"/>
            </a:pPr>
            <a:r>
              <a:rPr lang="en-IN" sz="2000" spc="-15" dirty="0">
                <a:solidFill>
                  <a:srgbClr val="000000"/>
                </a:solidFill>
                <a:latin typeface="Times New Roman" panose="02020603050405020304" pitchFamily="18" charset="0"/>
                <a:cs typeface="Times New Roman" panose="02020603050405020304" pitchFamily="18" charset="0"/>
              </a:rPr>
              <a:t>Employee empowerment is a management philosophy that focuses on allowing an organization’s employees to make independent decisions and to feel empowered to take action as they see fit. </a:t>
            </a:r>
          </a:p>
          <a:p>
            <a:pPr marL="342900" indent="-342900" algn="just" fontAlgn="base">
              <a:buFont typeface="Arial" panose="020B0604020202020204" pitchFamily="34" charset="0"/>
              <a:buChar char="•"/>
            </a:pPr>
            <a:r>
              <a:rPr lang="en-IN" sz="2000" spc="-15" dirty="0">
                <a:solidFill>
                  <a:srgbClr val="000000"/>
                </a:solidFill>
                <a:latin typeface="Times New Roman" panose="02020603050405020304" pitchFamily="18" charset="0"/>
                <a:cs typeface="Times New Roman" panose="02020603050405020304" pitchFamily="18" charset="0"/>
              </a:rPr>
              <a:t>This is in contrast to micromanagement, which does not allow for independent decision making.</a:t>
            </a:r>
          </a:p>
          <a:p>
            <a:pPr algn="just" fontAlgn="base"/>
            <a:r>
              <a:rPr lang="en-IN" sz="2000" b="1" spc="-15" dirty="0">
                <a:solidFill>
                  <a:srgbClr val="000000"/>
                </a:solidFill>
                <a:latin typeface="Times New Roman" panose="02020603050405020304" pitchFamily="18" charset="0"/>
                <a:cs typeface="Times New Roman" panose="02020603050405020304" pitchFamily="18" charset="0"/>
              </a:rPr>
              <a:t>Companies that are interested in empowering employees should act on the following:</a:t>
            </a:r>
          </a:p>
          <a:p>
            <a:pPr marL="342900" lvl="0" indent="-342900" algn="just" fontAlgn="base">
              <a:lnSpc>
                <a:spcPct val="107000"/>
              </a:lnSpc>
              <a:spcAft>
                <a:spcPts val="800"/>
              </a:spcAft>
              <a:buSzPts val="1000"/>
              <a:buFont typeface="Arial" panose="020B0604020202020204" pitchFamily="34" charset="0"/>
              <a:buChar char="•"/>
              <a:tabLst>
                <a:tab pos="457200" algn="l"/>
              </a:tabLst>
            </a:pPr>
            <a:r>
              <a:rPr lang="en-IN" sz="2000" spc="-15" dirty="0">
                <a:solidFill>
                  <a:srgbClr val="000000"/>
                </a:solidFill>
                <a:latin typeface="Times New Roman" panose="02020603050405020304" pitchFamily="18" charset="0"/>
                <a:cs typeface="Times New Roman" panose="02020603050405020304" pitchFamily="18" charset="0"/>
              </a:rPr>
              <a:t>Give employees a voice by regularly soliciting and acting on their feedback.</a:t>
            </a:r>
          </a:p>
          <a:p>
            <a:pPr marL="342900" lvl="0" indent="-342900" algn="just" fontAlgn="base">
              <a:lnSpc>
                <a:spcPct val="107000"/>
              </a:lnSpc>
              <a:spcAft>
                <a:spcPts val="800"/>
              </a:spcAft>
              <a:buSzPts val="1000"/>
              <a:buFont typeface="Arial" panose="020B0604020202020204" pitchFamily="34" charset="0"/>
              <a:buChar char="•"/>
              <a:tabLst>
                <a:tab pos="457200" algn="l"/>
              </a:tabLst>
            </a:pPr>
            <a:r>
              <a:rPr lang="en-IN" sz="2000" spc="-15" dirty="0">
                <a:solidFill>
                  <a:srgbClr val="000000"/>
                </a:solidFill>
                <a:latin typeface="Times New Roman" panose="02020603050405020304" pitchFamily="18" charset="0"/>
                <a:cs typeface="Times New Roman" panose="02020603050405020304" pitchFamily="18" charset="0"/>
              </a:rPr>
              <a:t>Provide opportunities for employees to grow through more autonomy, additional responsibilities, or even an entirely new role.</a:t>
            </a:r>
          </a:p>
          <a:p>
            <a:pPr marL="342900" lvl="0" indent="-342900" algn="just" fontAlgn="base">
              <a:lnSpc>
                <a:spcPct val="107000"/>
              </a:lnSpc>
              <a:spcAft>
                <a:spcPts val="800"/>
              </a:spcAft>
              <a:buSzPts val="1000"/>
              <a:buFont typeface="Arial" panose="020B0604020202020204" pitchFamily="34" charset="0"/>
              <a:buChar char="•"/>
              <a:tabLst>
                <a:tab pos="457200" algn="l"/>
              </a:tabLst>
            </a:pPr>
            <a:r>
              <a:rPr lang="en-IN" sz="2000" spc="-15" dirty="0">
                <a:solidFill>
                  <a:srgbClr val="000000"/>
                </a:solidFill>
                <a:latin typeface="Times New Roman" panose="02020603050405020304" pitchFamily="18" charset="0"/>
                <a:cs typeface="Times New Roman" panose="02020603050405020304" pitchFamily="18" charset="0"/>
              </a:rPr>
              <a:t>Recognize employees frequently to increase their engagement and confidence in their own abilities.</a:t>
            </a:r>
          </a:p>
          <a:p>
            <a:pPr marL="342900" lvl="0" indent="-342900" algn="just" fontAlgn="base">
              <a:lnSpc>
                <a:spcPct val="107000"/>
              </a:lnSpc>
              <a:spcAft>
                <a:spcPts val="800"/>
              </a:spcAft>
              <a:buSzPts val="1000"/>
              <a:buFont typeface="Arial" panose="020B0604020202020204" pitchFamily="34" charset="0"/>
              <a:buChar char="•"/>
              <a:tabLst>
                <a:tab pos="457200" algn="l"/>
              </a:tabLst>
            </a:pPr>
            <a:r>
              <a:rPr lang="en-IN" sz="2000" spc="-15" dirty="0">
                <a:solidFill>
                  <a:srgbClr val="000000"/>
                </a:solidFill>
                <a:latin typeface="Times New Roman" panose="02020603050405020304" pitchFamily="18" charset="0"/>
                <a:cs typeface="Times New Roman" panose="02020603050405020304" pitchFamily="18" charset="0"/>
              </a:rPr>
              <a:t>And, of course, provide employees with the tools, training, and authority they need to excel.</a:t>
            </a:r>
          </a:p>
        </p:txBody>
      </p:sp>
    </p:spTree>
    <p:extLst>
      <p:ext uri="{BB962C8B-B14F-4D97-AF65-F5344CB8AC3E}">
        <p14:creationId xmlns:p14="http://schemas.microsoft.com/office/powerpoint/2010/main" val="6793248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1A88FF-2F1E-B6AF-8C06-60B5DD79A2CB}"/>
              </a:ext>
            </a:extLst>
          </p:cNvPr>
          <p:cNvSpPr>
            <a:spLocks noGrp="1"/>
          </p:cNvSpPr>
          <p:nvPr>
            <p:ph type="title"/>
          </p:nvPr>
        </p:nvSpPr>
        <p:spPr/>
        <p:txBody>
          <a:bodyPr/>
          <a:lstStyle/>
          <a:p>
            <a:pPr algn="ctr"/>
            <a:r>
              <a:rPr lang="en-US" b="1" dirty="0"/>
              <a:t>EMPLOYEE EMPOWERMENT </a:t>
            </a:r>
            <a:endParaRPr lang="en-IN" b="1" dirty="0"/>
          </a:p>
        </p:txBody>
      </p:sp>
      <p:sp>
        <p:nvSpPr>
          <p:cNvPr id="4" name="Content Placeholder 3">
            <a:extLst>
              <a:ext uri="{FF2B5EF4-FFF2-40B4-BE49-F238E27FC236}">
                <a16:creationId xmlns:a16="http://schemas.microsoft.com/office/drawing/2014/main" id="{643F8CC4-899A-0326-3348-4E9EC6B32F2F}"/>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indent="-342900" algn="just" fontAlgn="base">
              <a:lnSpc>
                <a:spcPct val="150000"/>
              </a:lnSpc>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A company’s leaders, HR professionals, and fellow employees all play key roles in establishing a supportive, empowered environment. </a:t>
            </a:r>
          </a:p>
          <a:p>
            <a:pPr marL="342900" indent="-342900" algn="just" fontAlgn="base">
              <a:lnSpc>
                <a:spcPct val="150000"/>
              </a:lnSpc>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All parties need to establish mutual trust, feel comfortable taking risks, and establish clear expectations and guidelines. </a:t>
            </a:r>
          </a:p>
          <a:p>
            <a:pPr marL="342900" indent="-342900" algn="just" fontAlgn="base">
              <a:lnSpc>
                <a:spcPct val="150000"/>
              </a:lnSpc>
              <a:buFont typeface="Arial" panose="020B0604020202020204" pitchFamily="34" charset="0"/>
              <a:buChar char="•"/>
            </a:pPr>
            <a:r>
              <a:rPr lang="en-IN" sz="2400" spc="-15" dirty="0">
                <a:solidFill>
                  <a:srgbClr val="000000"/>
                </a:solidFill>
                <a:latin typeface="Times New Roman" panose="02020603050405020304" pitchFamily="18" charset="0"/>
                <a:cs typeface="Times New Roman" panose="02020603050405020304" pitchFamily="18" charset="0"/>
              </a:rPr>
              <a:t>Without this collaboration, truly empowering employees is impossible.</a:t>
            </a:r>
          </a:p>
        </p:txBody>
      </p:sp>
    </p:spTree>
    <p:extLst>
      <p:ext uri="{BB962C8B-B14F-4D97-AF65-F5344CB8AC3E}">
        <p14:creationId xmlns:p14="http://schemas.microsoft.com/office/powerpoint/2010/main" val="20877340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B363B3-91B3-5975-2539-3B7D7B255418}"/>
              </a:ext>
            </a:extLst>
          </p:cNvPr>
          <p:cNvSpPr>
            <a:spLocks noGrp="1"/>
          </p:cNvSpPr>
          <p:nvPr>
            <p:ph type="title"/>
          </p:nvPr>
        </p:nvSpPr>
        <p:spPr/>
        <p:txBody>
          <a:bodyPr>
            <a:normAutofit fontScale="90000"/>
          </a:bodyPr>
          <a:lstStyle/>
          <a:p>
            <a:pPr>
              <a:defRPr/>
            </a:pPr>
            <a:br>
              <a:rPr lang="en-IN" sz="3600" b="1" dirty="0">
                <a:latin typeface="Times New Roman" panose="02020603050405020304" pitchFamily="18" charset="0"/>
                <a:cs typeface="Times New Roman" panose="02020603050405020304" pitchFamily="18" charset="0"/>
              </a:rPr>
            </a:br>
            <a:br>
              <a:rPr lang="en-IN" sz="3600" b="1"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What are the 5 points of empowerment?</a:t>
            </a:r>
            <a:br>
              <a:rPr lang="en-IN" sz="3600"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195BD6E5-16E1-D2BB-2CDA-33AE2750C121}"/>
              </a:ext>
            </a:extLst>
          </p:cNvPr>
          <p:cNvSpPr txBox="1">
            <a:spLocks noGrp="1"/>
          </p:cNvSpPr>
          <p:nvPr>
            <p:ph idx="1"/>
          </p:nvPr>
        </p:nvSpPr>
        <p:spPr>
          <a:xfrm>
            <a:off x="217488" y="1176338"/>
            <a:ext cx="11728450" cy="5000625"/>
          </a:xfrm>
          <a:prstGeom prst="rect">
            <a:avLst/>
          </a:prstGeom>
          <a:noFill/>
        </p:spPr>
        <p:txBody>
          <a:bodyPr wrap="square">
            <a:spAutoFit/>
          </a:bodyPr>
          <a:lstStyle/>
          <a:p>
            <a:pPr algn="just" fontAlgn="base">
              <a:lnSpc>
                <a:spcPct val="150000"/>
              </a:lnSpc>
              <a:spcAft>
                <a:spcPts val="1875"/>
              </a:spcAft>
            </a:pPr>
            <a:r>
              <a:rPr lang="en-IN" sz="2400" spc="-15" dirty="0">
                <a:solidFill>
                  <a:srgbClr val="000000"/>
                </a:solidFill>
                <a:latin typeface="Times New Roman" panose="02020603050405020304" pitchFamily="18" charset="0"/>
                <a:cs typeface="Times New Roman" panose="02020603050405020304" pitchFamily="18" charset="0"/>
              </a:rPr>
              <a:t>The five points, or ways to empower your employees starts with listening and recognition, and includes:</a:t>
            </a:r>
          </a:p>
          <a:p>
            <a:pPr marL="342900" lvl="0" indent="-342900" algn="just" fontAlgn="base">
              <a:lnSpc>
                <a:spcPct val="107000"/>
              </a:lnSpc>
              <a:spcAft>
                <a:spcPts val="800"/>
              </a:spcAft>
              <a:buFont typeface="Arial" panose="020B0604020202020204" pitchFamily="34" charset="0"/>
              <a:buChar char="•"/>
              <a:tabLst>
                <a:tab pos="457200" algn="l"/>
              </a:tabLst>
            </a:pPr>
            <a:r>
              <a:rPr lang="en-IN" sz="2400" spc="-15" dirty="0">
                <a:solidFill>
                  <a:srgbClr val="000000"/>
                </a:solidFill>
                <a:latin typeface="Times New Roman" panose="02020603050405020304" pitchFamily="18" charset="0"/>
                <a:cs typeface="Times New Roman" panose="02020603050405020304" pitchFamily="18" charset="0"/>
              </a:rPr>
              <a:t>Fostering an environment of trust and psychological safety</a:t>
            </a:r>
          </a:p>
          <a:p>
            <a:pPr marL="342900" lvl="0" indent="-342900" algn="just" fontAlgn="base">
              <a:lnSpc>
                <a:spcPct val="107000"/>
              </a:lnSpc>
              <a:spcAft>
                <a:spcPts val="800"/>
              </a:spcAft>
              <a:buFont typeface="Arial" panose="020B0604020202020204" pitchFamily="34" charset="0"/>
              <a:buChar char="•"/>
              <a:tabLst>
                <a:tab pos="457200" algn="l"/>
              </a:tabLst>
            </a:pPr>
            <a:r>
              <a:rPr lang="en-IN" sz="2400" spc="-15" dirty="0">
                <a:solidFill>
                  <a:srgbClr val="000000"/>
                </a:solidFill>
                <a:latin typeface="Times New Roman" panose="02020603050405020304" pitchFamily="18" charset="0"/>
                <a:cs typeface="Times New Roman" panose="02020603050405020304" pitchFamily="18" charset="0"/>
              </a:rPr>
              <a:t>Building employee confidence with recognition and incentives</a:t>
            </a:r>
          </a:p>
          <a:p>
            <a:pPr marL="342900" lvl="0" indent="-342900" algn="just" fontAlgn="base">
              <a:lnSpc>
                <a:spcPct val="107000"/>
              </a:lnSpc>
              <a:spcAft>
                <a:spcPts val="800"/>
              </a:spcAft>
              <a:buFont typeface="Arial" panose="020B0604020202020204" pitchFamily="34" charset="0"/>
              <a:buChar char="•"/>
              <a:tabLst>
                <a:tab pos="457200" algn="l"/>
              </a:tabLst>
            </a:pPr>
            <a:r>
              <a:rPr lang="en-IN" sz="2400" spc="-15" dirty="0">
                <a:solidFill>
                  <a:srgbClr val="000000"/>
                </a:solidFill>
                <a:latin typeface="Times New Roman" panose="02020603050405020304" pitchFamily="18" charset="0"/>
                <a:cs typeface="Times New Roman" panose="02020603050405020304" pitchFamily="18" charset="0"/>
              </a:rPr>
              <a:t>Offering flexibility in work arrangements</a:t>
            </a:r>
          </a:p>
          <a:p>
            <a:pPr marL="342900" lvl="0" indent="-342900" algn="just" fontAlgn="base">
              <a:lnSpc>
                <a:spcPct val="107000"/>
              </a:lnSpc>
              <a:spcAft>
                <a:spcPts val="800"/>
              </a:spcAft>
              <a:buFont typeface="Arial" panose="020B0604020202020204" pitchFamily="34" charset="0"/>
              <a:buChar char="•"/>
              <a:tabLst>
                <a:tab pos="457200" algn="l"/>
              </a:tabLst>
            </a:pPr>
            <a:r>
              <a:rPr lang="en-IN" sz="2400" spc="-15" dirty="0">
                <a:solidFill>
                  <a:srgbClr val="000000"/>
                </a:solidFill>
                <a:latin typeface="Times New Roman" panose="02020603050405020304" pitchFamily="18" charset="0"/>
                <a:cs typeface="Times New Roman" panose="02020603050405020304" pitchFamily="18" charset="0"/>
              </a:rPr>
              <a:t>Asking employees for feedback and actioning it</a:t>
            </a:r>
          </a:p>
          <a:p>
            <a:pPr marL="342900" lvl="0" indent="-342900" algn="just" fontAlgn="base">
              <a:lnSpc>
                <a:spcPct val="107000"/>
              </a:lnSpc>
              <a:spcAft>
                <a:spcPts val="800"/>
              </a:spcAft>
              <a:buFont typeface="Arial" panose="020B0604020202020204" pitchFamily="34" charset="0"/>
              <a:buChar char="•"/>
              <a:tabLst>
                <a:tab pos="457200" algn="l"/>
              </a:tabLst>
            </a:pPr>
            <a:r>
              <a:rPr lang="en-IN" sz="2400" spc="-15" dirty="0">
                <a:solidFill>
                  <a:srgbClr val="000000"/>
                </a:solidFill>
                <a:latin typeface="Times New Roman" panose="02020603050405020304" pitchFamily="18" charset="0"/>
                <a:cs typeface="Times New Roman" panose="02020603050405020304" pitchFamily="18" charset="0"/>
              </a:rPr>
              <a:t>Supporting professional growth with coaching and delegation</a:t>
            </a:r>
          </a:p>
        </p:txBody>
      </p:sp>
    </p:spTree>
    <p:extLst>
      <p:ext uri="{BB962C8B-B14F-4D97-AF65-F5344CB8AC3E}">
        <p14:creationId xmlns:p14="http://schemas.microsoft.com/office/powerpoint/2010/main" val="3177289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598888-018B-F306-E984-F0BD1B1A7C1B}"/>
              </a:ext>
            </a:extLst>
          </p:cNvPr>
          <p:cNvSpPr>
            <a:spLocks noGrp="1"/>
          </p:cNvSpPr>
          <p:nvPr>
            <p:ph type="title"/>
          </p:nvPr>
        </p:nvSpPr>
        <p:spPr/>
        <p:txBody>
          <a:bodyPr>
            <a:normAutofit fontScale="90000"/>
          </a:bodyPr>
          <a:lstStyle/>
          <a:p>
            <a:pPr algn="ct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Benefits of employee empowerment</a:t>
            </a: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B52B07B2-7411-C3BD-FBA0-2B023FC953F7}"/>
              </a:ext>
            </a:extLst>
          </p:cNvPr>
          <p:cNvSpPr txBox="1">
            <a:spLocks noGrp="1"/>
          </p:cNvSpPr>
          <p:nvPr>
            <p:ph idx="1"/>
          </p:nvPr>
        </p:nvSpPr>
        <p:spPr>
          <a:xfrm>
            <a:off x="231775" y="989726"/>
            <a:ext cx="11728450" cy="5418022"/>
          </a:xfrm>
          <a:prstGeom prst="rect">
            <a:avLst/>
          </a:prstGeom>
          <a:noFill/>
        </p:spPr>
        <p:txBody>
          <a:bodyPr wrap="square">
            <a:spAutoFit/>
          </a:bodyPr>
          <a:lstStyle/>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Motivated employees</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Greater trust in leadership</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Improved creativity</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Stronger bottom line Greater motivation</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Higher productivity</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Enriched company culture</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More creativity in problem solving</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Confident decision making</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Reduced employee attrition</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More trust in leadership</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Improved customer experience</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A better brand experience for customers</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1200" spc="-15" dirty="0">
                <a:solidFill>
                  <a:srgbClr val="000000"/>
                </a:solidFill>
                <a:latin typeface="Times New Roman" panose="02020603050405020304" pitchFamily="18" charset="0"/>
                <a:cs typeface="Times New Roman" panose="02020603050405020304" pitchFamily="18" charset="0"/>
              </a:rPr>
              <a:t>Better business outcomes</a:t>
            </a:r>
          </a:p>
        </p:txBody>
      </p:sp>
    </p:spTree>
    <p:extLst>
      <p:ext uri="{BB962C8B-B14F-4D97-AF65-F5344CB8AC3E}">
        <p14:creationId xmlns:p14="http://schemas.microsoft.com/office/powerpoint/2010/main" val="37337874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A8F47C-254B-745A-C809-3956B4316D9F}"/>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Benefits of employee empowerment</a:t>
            </a:r>
            <a:br>
              <a:rPr lang="en-IN" b="1" dirty="0">
                <a:latin typeface="Times New Roman" panose="02020603050405020304" pitchFamily="18" charset="0"/>
                <a:cs typeface="Times New Roman" panose="02020603050405020304" pitchFamily="18" charset="0"/>
              </a:rPr>
            </a:br>
            <a:endParaRPr lang="en-IN" dirty="0"/>
          </a:p>
        </p:txBody>
      </p:sp>
      <p:pic>
        <p:nvPicPr>
          <p:cNvPr id="4" name="Content Placeholder 3">
            <a:extLst>
              <a:ext uri="{FF2B5EF4-FFF2-40B4-BE49-F238E27FC236}">
                <a16:creationId xmlns:a16="http://schemas.microsoft.com/office/drawing/2014/main" id="{D14EA9E7-3B56-F61B-C3ED-88CDC7B0212F}"/>
              </a:ext>
            </a:extLst>
          </p:cNvPr>
          <p:cNvPicPr>
            <a:picLocks noGrp="1" noChangeAspect="1"/>
          </p:cNvPicPr>
          <p:nvPr>
            <p:ph idx="1"/>
          </p:nvPr>
        </p:nvPicPr>
        <p:blipFill>
          <a:blip r:embed="rId2"/>
          <a:stretch>
            <a:fillRect/>
          </a:stretch>
        </p:blipFill>
        <p:spPr>
          <a:xfrm>
            <a:off x="3216344" y="1914754"/>
            <a:ext cx="5730737" cy="3523793"/>
          </a:xfrm>
          <a:prstGeom prst="rect">
            <a:avLst/>
          </a:prstGeom>
        </p:spPr>
      </p:pic>
    </p:spTree>
    <p:extLst>
      <p:ext uri="{BB962C8B-B14F-4D97-AF65-F5344CB8AC3E}">
        <p14:creationId xmlns:p14="http://schemas.microsoft.com/office/powerpoint/2010/main" val="10537840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28A6B1-8B69-A34C-6AC0-AFA98202AD35}"/>
              </a:ext>
            </a:extLst>
          </p:cNvPr>
          <p:cNvSpPr>
            <a:spLocks noGrp="1"/>
          </p:cNvSpPr>
          <p:nvPr>
            <p:ph type="title"/>
          </p:nvPr>
        </p:nvSpPr>
        <p:spPr/>
        <p:txBody>
          <a:bodyPr>
            <a:normAutofit fontScale="90000"/>
          </a:bodyPr>
          <a:lstStyle/>
          <a:p>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What does empowerment do for employees?</a:t>
            </a: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04910452-E15C-2E7E-769A-4EB34361E341}"/>
              </a:ext>
            </a:extLst>
          </p:cNvPr>
          <p:cNvSpPr txBox="1">
            <a:spLocks noGrp="1"/>
          </p:cNvSpPr>
          <p:nvPr>
            <p:ph idx="1"/>
          </p:nvPr>
        </p:nvSpPr>
        <p:spPr>
          <a:xfrm>
            <a:off x="217488" y="1176338"/>
            <a:ext cx="11728450" cy="5000625"/>
          </a:xfrm>
          <a:prstGeom prst="rect">
            <a:avLst/>
          </a:prstGeom>
          <a:noFill/>
        </p:spPr>
        <p:txBody>
          <a:bodyPr wrap="square">
            <a:spAutoFit/>
          </a:bodyPr>
          <a:lstStyle/>
          <a:p>
            <a:pPr algn="just" fontAlgn="base">
              <a:lnSpc>
                <a:spcPts val="2100"/>
              </a:lnSpc>
              <a:spcAft>
                <a:spcPts val="800"/>
              </a:spcAft>
            </a:pPr>
            <a:r>
              <a:rPr lang="en-IN" sz="2400" spc="-15" dirty="0">
                <a:latin typeface="Times New Roman" panose="02020603050405020304" pitchFamily="18" charset="0"/>
                <a:cs typeface="Times New Roman" panose="02020603050405020304" pitchFamily="18" charset="0"/>
              </a:rPr>
              <a:t>Empowering employees has several benefits, including:</a:t>
            </a: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spc="-15" dirty="0">
                <a:latin typeface="Times New Roman" panose="02020603050405020304" pitchFamily="18" charset="0"/>
                <a:cs typeface="Times New Roman" panose="02020603050405020304" pitchFamily="18" charset="0"/>
              </a:rPr>
              <a:t>Increased levels of employee engagement</a:t>
            </a: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spc="-15" dirty="0">
                <a:latin typeface="Times New Roman" panose="02020603050405020304" pitchFamily="18" charset="0"/>
                <a:cs typeface="Times New Roman" panose="02020603050405020304" pitchFamily="18" charset="0"/>
              </a:rPr>
              <a:t>Higher employee performance</a:t>
            </a: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spc="-15" dirty="0">
                <a:latin typeface="Times New Roman" panose="02020603050405020304" pitchFamily="18" charset="0"/>
                <a:cs typeface="Times New Roman" panose="02020603050405020304" pitchFamily="18" charset="0"/>
              </a:rPr>
              <a:t>Better quality of work</a:t>
            </a: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spc="-15" dirty="0">
                <a:latin typeface="Times New Roman" panose="02020603050405020304" pitchFamily="18" charset="0"/>
                <a:cs typeface="Times New Roman" panose="02020603050405020304" pitchFamily="18" charset="0"/>
              </a:rPr>
              <a:t>Elevated employee satisfaction</a:t>
            </a:r>
          </a:p>
          <a:p>
            <a:pPr marL="342900" lvl="0" indent="-342900" algn="just" fontAlgn="base">
              <a:lnSpc>
                <a:spcPct val="107000"/>
              </a:lnSpc>
              <a:spcAft>
                <a:spcPts val="800"/>
              </a:spcAft>
              <a:buSzPts val="1000"/>
              <a:buFont typeface="Symbol" panose="05050102010706020507" pitchFamily="18" charset="2"/>
              <a:buChar char=""/>
              <a:tabLst>
                <a:tab pos="457200" algn="l"/>
              </a:tabLst>
            </a:pPr>
            <a:r>
              <a:rPr lang="en-IN" sz="2400" spc="-15" dirty="0">
                <a:latin typeface="Times New Roman" panose="02020603050405020304" pitchFamily="18" charset="0"/>
                <a:cs typeface="Times New Roman" panose="02020603050405020304" pitchFamily="18" charset="0"/>
              </a:rPr>
              <a:t>Improved business results</a:t>
            </a:r>
          </a:p>
        </p:txBody>
      </p:sp>
    </p:spTree>
    <p:extLst>
      <p:ext uri="{BB962C8B-B14F-4D97-AF65-F5344CB8AC3E}">
        <p14:creationId xmlns:p14="http://schemas.microsoft.com/office/powerpoint/2010/main" val="35590717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6F17D3-14F5-93EA-E8F9-B1A328F52E8F}"/>
              </a:ext>
            </a:extLst>
          </p:cNvPr>
          <p:cNvSpPr>
            <a:spLocks noGrp="1"/>
          </p:cNvSpPr>
          <p:nvPr>
            <p:ph type="title"/>
          </p:nvPr>
        </p:nvSpPr>
        <p:spPr/>
        <p:txBody>
          <a:bodyPr>
            <a:normAutofit fontScale="90000"/>
          </a:bodyPr>
          <a:lstStyle/>
          <a:p>
            <a:pPr algn="ctr"/>
            <a:br>
              <a:rPr lang="en-IN" sz="3100" b="1" dirty="0">
                <a:latin typeface="Times New Roman" panose="02020603050405020304" pitchFamily="18" charset="0"/>
                <a:cs typeface="Times New Roman" panose="02020603050405020304" pitchFamily="18" charset="0"/>
              </a:rPr>
            </a:br>
            <a:r>
              <a:rPr lang="en-IN" sz="3100" b="1" dirty="0">
                <a:latin typeface="Times New Roman" panose="02020603050405020304" pitchFamily="18" charset="0"/>
                <a:cs typeface="Times New Roman" panose="02020603050405020304" pitchFamily="18" charset="0"/>
              </a:rPr>
              <a:t>What are employee empowerment techniques?</a:t>
            </a: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4A2E56EC-D5C8-712F-682D-52F0D37C2696}"/>
              </a:ext>
            </a:extLst>
          </p:cNvPr>
          <p:cNvSpPr txBox="1">
            <a:spLocks noGrp="1"/>
          </p:cNvSpPr>
          <p:nvPr>
            <p:ph idx="1"/>
          </p:nvPr>
        </p:nvSpPr>
        <p:spPr>
          <a:xfrm>
            <a:off x="217488" y="1176338"/>
            <a:ext cx="11728450" cy="5000625"/>
          </a:xfrm>
          <a:prstGeom prst="rect">
            <a:avLst/>
          </a:prstGeom>
          <a:noFill/>
        </p:spPr>
        <p:txBody>
          <a:bodyPr wrap="square">
            <a:spAutoFit/>
          </a:bodyPr>
          <a:lstStyle/>
          <a:p>
            <a:pPr fontAlgn="base">
              <a:lnSpc>
                <a:spcPct val="150000"/>
              </a:lnSpc>
              <a:spcAft>
                <a:spcPts val="800"/>
              </a:spcAft>
            </a:pPr>
            <a:r>
              <a:rPr lang="en-IN" sz="2800" spc="-15" dirty="0">
                <a:latin typeface="Times New Roman" panose="02020603050405020304" pitchFamily="18" charset="0"/>
                <a:cs typeface="Times New Roman" panose="02020603050405020304" pitchFamily="18" charset="0"/>
              </a:rPr>
              <a:t>There are several key ways to make employees feel empowered at work. Be sure to incorporate the following into your best practices:</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800" spc="-15" dirty="0">
                <a:latin typeface="Times New Roman" panose="02020603050405020304" pitchFamily="18" charset="0"/>
                <a:cs typeface="Times New Roman" panose="02020603050405020304" pitchFamily="18" charset="0"/>
              </a:rPr>
              <a:t>Provide frequent feedback on their performance</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800" spc="-15" dirty="0">
                <a:latin typeface="Times New Roman" panose="02020603050405020304" pitchFamily="18" charset="0"/>
                <a:cs typeface="Times New Roman" panose="02020603050405020304" pitchFamily="18" charset="0"/>
              </a:rPr>
              <a:t>Ensure that it is honest and constructive</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800" spc="-15" dirty="0">
                <a:latin typeface="Times New Roman" panose="02020603050405020304" pitchFamily="18" charset="0"/>
                <a:cs typeface="Times New Roman" panose="02020603050405020304" pitchFamily="18" charset="0"/>
              </a:rPr>
              <a:t>Be clear and specific</a:t>
            </a:r>
          </a:p>
          <a:p>
            <a:pPr marL="342900" lvl="0" indent="-342900" fontAlgn="base">
              <a:lnSpc>
                <a:spcPct val="107000"/>
              </a:lnSpc>
              <a:spcAft>
                <a:spcPts val="800"/>
              </a:spcAft>
              <a:buSzPts val="1000"/>
              <a:buFont typeface="Symbol" panose="05050102010706020507" pitchFamily="18" charset="2"/>
              <a:buChar char=""/>
              <a:tabLst>
                <a:tab pos="457200" algn="l"/>
              </a:tabLst>
            </a:pPr>
            <a:r>
              <a:rPr lang="en-IN" sz="2800" spc="-15" dirty="0">
                <a:latin typeface="Times New Roman" panose="02020603050405020304" pitchFamily="18" charset="0"/>
                <a:cs typeface="Times New Roman" panose="02020603050405020304" pitchFamily="18" charset="0"/>
              </a:rPr>
              <a:t>Ensure that you highlight what they did well/their strengths</a:t>
            </a:r>
          </a:p>
        </p:txBody>
      </p:sp>
    </p:spTree>
    <p:extLst>
      <p:ext uri="{BB962C8B-B14F-4D97-AF65-F5344CB8AC3E}">
        <p14:creationId xmlns:p14="http://schemas.microsoft.com/office/powerpoint/2010/main" val="394343714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2E5284C-2A58-937F-45B1-8F6237794B53}"/>
              </a:ext>
            </a:extLst>
          </p:cNvPr>
          <p:cNvSpPr>
            <a:spLocks noGrp="1"/>
          </p:cNvSpPr>
          <p:nvPr>
            <p:ph type="title"/>
          </p:nvPr>
        </p:nvSpPr>
        <p:spPr/>
        <p:txBody>
          <a:bodyPr>
            <a:normAutofit fontScale="90000"/>
          </a:bodyPr>
          <a:lstStyle/>
          <a:p>
            <a:br>
              <a:rPr lang="en-IN" sz="3100" b="1" dirty="0">
                <a:latin typeface="Times New Roman" panose="02020603050405020304" pitchFamily="18" charset="0"/>
                <a:cs typeface="Times New Roman" panose="02020603050405020304" pitchFamily="18" charset="0"/>
              </a:rPr>
            </a:br>
            <a:r>
              <a:rPr lang="en-IN" sz="3100" b="1" dirty="0">
                <a:latin typeface="Times New Roman" panose="02020603050405020304" pitchFamily="18" charset="0"/>
                <a:cs typeface="Times New Roman" panose="02020603050405020304" pitchFamily="18" charset="0"/>
              </a:rPr>
              <a:t>4 steps for empowering employees in the workplace</a:t>
            </a:r>
            <a:br>
              <a:rPr lang="en-IN" b="1" dirty="0">
                <a:latin typeface="Times New Roman" panose="02020603050405020304" pitchFamily="18" charset="0"/>
                <a:cs typeface="Times New Roman" panose="02020603050405020304" pitchFamily="18" charset="0"/>
              </a:rPr>
            </a:br>
            <a:endParaRPr lang="en-IN" dirty="0"/>
          </a:p>
        </p:txBody>
      </p:sp>
      <p:sp>
        <p:nvSpPr>
          <p:cNvPr id="4" name="Content Placeholder 3">
            <a:extLst>
              <a:ext uri="{FF2B5EF4-FFF2-40B4-BE49-F238E27FC236}">
                <a16:creationId xmlns:a16="http://schemas.microsoft.com/office/drawing/2014/main" id="{6FEADF42-073D-9F1A-F6CC-85B4047A43D9}"/>
              </a:ext>
            </a:extLst>
          </p:cNvPr>
          <p:cNvSpPr txBox="1">
            <a:spLocks noGrp="1"/>
          </p:cNvSpPr>
          <p:nvPr>
            <p:ph idx="1"/>
          </p:nvPr>
        </p:nvSpPr>
        <p:spPr>
          <a:xfrm>
            <a:off x="217488" y="1176338"/>
            <a:ext cx="11728450" cy="5000625"/>
          </a:xfrm>
          <a:prstGeom prst="rect">
            <a:avLst/>
          </a:prstGeom>
          <a:noFill/>
        </p:spPr>
        <p:txBody>
          <a:bodyPr wrap="square">
            <a:spAutoFit/>
          </a:bodyPr>
          <a:lstStyle/>
          <a:p>
            <a:pPr marL="342900" lvl="0" indent="-342900" fontAlgn="base">
              <a:lnSpc>
                <a:spcPct val="150000"/>
              </a:lnSpc>
              <a:spcAft>
                <a:spcPts val="800"/>
              </a:spcAft>
              <a:buFont typeface="Arial" panose="020B0604020202020204" pitchFamily="34" charset="0"/>
              <a:buChar char="•"/>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Show employees that their feedback matters</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fontAlgn="base">
              <a:lnSpc>
                <a:spcPct val="150000"/>
              </a:lnSpc>
              <a:spcAft>
                <a:spcPts val="800"/>
              </a:spcAft>
              <a:buFont typeface="Arial" panose="020B0604020202020204" pitchFamily="34" charset="0"/>
              <a:buChar char="•"/>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Recognize to empower</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fontAlgn="base">
              <a:lnSpc>
                <a:spcPct val="150000"/>
              </a:lnSpc>
              <a:spcAft>
                <a:spcPts val="800"/>
              </a:spcAft>
              <a:buFont typeface="Arial" panose="020B0604020202020204" pitchFamily="34" charset="0"/>
              <a:buChar char="•"/>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Provide opportunities for professional growth</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fontAlgn="base">
              <a:lnSpc>
                <a:spcPct val="150000"/>
              </a:lnSpc>
              <a:spcAft>
                <a:spcPts val="800"/>
              </a:spcAft>
              <a:buFont typeface="Arial" panose="020B0604020202020204" pitchFamily="34" charset="0"/>
              <a:buChar char="•"/>
              <a:tabLst>
                <a:tab pos="457200" algn="l"/>
              </a:tabLs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Make empowerment part of your organization’s culture and vision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fontAlgn="base">
              <a:lnSpc>
                <a:spcPct val="150000"/>
              </a:lnSpc>
              <a:spcAft>
                <a:spcPts val="1875"/>
              </a:spcAft>
            </a:pPr>
            <a:r>
              <a:rPr lang="en-IN" sz="2000" kern="0" dirty="0">
                <a:effectLst/>
                <a:latin typeface="Times New Roman" panose="02020603050405020304" pitchFamily="18" charset="0"/>
                <a:ea typeface="Times New Roman" panose="02020603050405020304" pitchFamily="18" charset="0"/>
                <a:cs typeface="Times New Roman" panose="02020603050405020304" pitchFamily="18" charset="0"/>
              </a:rPr>
              <a:t>There are tremendous benefits to empowering employees, but ingraining it in a company’s culture takes a considerable level of focus. </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463385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EAC6-713C-4C3B-9BDE-C51AFF946342}"/>
              </a:ext>
            </a:extLst>
          </p:cNvPr>
          <p:cNvSpPr>
            <a:spLocks noGrp="1"/>
          </p:cNvSpPr>
          <p:nvPr>
            <p:ph type="title"/>
          </p:nvPr>
        </p:nvSpPr>
        <p:spPr/>
        <p:txBody>
          <a:bodyPr>
            <a:normAutofit fontScale="90000"/>
          </a:bodyPr>
          <a:lstStyle/>
          <a:p>
            <a:pPr algn="ctr"/>
            <a:br>
              <a:rPr lang="en-IN" sz="3100" b="1" dirty="0">
                <a:latin typeface="Times New Roman" panose="02020603050405020304" pitchFamily="18" charset="0"/>
                <a:cs typeface="Times New Roman" panose="02020603050405020304" pitchFamily="18" charset="0"/>
              </a:rPr>
            </a:br>
            <a:r>
              <a:rPr lang="en-IN" sz="3100" b="1" dirty="0">
                <a:latin typeface="Times New Roman" panose="02020603050405020304" pitchFamily="18" charset="0"/>
                <a:cs typeface="Times New Roman" panose="02020603050405020304" pitchFamily="18" charset="0"/>
              </a:rPr>
              <a:t>4 steps for empowering employees in the workplace</a:t>
            </a:r>
            <a:br>
              <a:rPr lang="en-IN" b="1" dirty="0">
                <a:latin typeface="Times New Roman" panose="02020603050405020304" pitchFamily="18" charset="0"/>
                <a:cs typeface="Times New Roman" panose="02020603050405020304" pitchFamily="18" charset="0"/>
              </a:rPr>
            </a:br>
            <a:endParaRPr lang="en-IN" dirty="0"/>
          </a:p>
        </p:txBody>
      </p:sp>
      <p:pic>
        <p:nvPicPr>
          <p:cNvPr id="4" name="Content Placeholder 3" descr="4 steps for empowering employees">
            <a:extLst>
              <a:ext uri="{FF2B5EF4-FFF2-40B4-BE49-F238E27FC236}">
                <a16:creationId xmlns:a16="http://schemas.microsoft.com/office/drawing/2014/main" id="{42B954B9-23C8-040B-0CB5-34A2E10734F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78832" y="1176338"/>
            <a:ext cx="7205762" cy="5000625"/>
          </a:xfrm>
          <a:prstGeom prst="rect">
            <a:avLst/>
          </a:prstGeom>
          <a:noFill/>
          <a:ln>
            <a:noFill/>
          </a:ln>
        </p:spPr>
      </p:pic>
    </p:spTree>
    <p:extLst>
      <p:ext uri="{BB962C8B-B14F-4D97-AF65-F5344CB8AC3E}">
        <p14:creationId xmlns:p14="http://schemas.microsoft.com/office/powerpoint/2010/main" val="33510445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5702D7-E227-7351-0F77-477C7E11AAF9}"/>
              </a:ext>
            </a:extLst>
          </p:cNvPr>
          <p:cNvSpPr>
            <a:spLocks noGrp="1"/>
          </p:cNvSpPr>
          <p:nvPr>
            <p:ph type="title"/>
          </p:nvPr>
        </p:nvSpPr>
        <p:spPr/>
        <p:txBody>
          <a:bodyPr/>
          <a:lstStyle/>
          <a:p>
            <a:r>
              <a:rPr lang="en-US" dirty="0"/>
              <a:t>DAILY QUIZ</a:t>
            </a:r>
            <a:endParaRPr lang="en-IN" dirty="0"/>
          </a:p>
        </p:txBody>
      </p:sp>
      <p:sp>
        <p:nvSpPr>
          <p:cNvPr id="4" name="Content Placeholder 3">
            <a:extLst>
              <a:ext uri="{FF2B5EF4-FFF2-40B4-BE49-F238E27FC236}">
                <a16:creationId xmlns:a16="http://schemas.microsoft.com/office/drawing/2014/main" id="{A8896A18-E1B1-2BF6-C33E-BBA4ECC7C86A}"/>
              </a:ext>
            </a:extLst>
          </p:cNvPr>
          <p:cNvSpPr txBox="1">
            <a:spLocks noGrp="1"/>
          </p:cNvSpPr>
          <p:nvPr>
            <p:ph idx="1"/>
          </p:nvPr>
        </p:nvSpPr>
        <p:spPr>
          <a:xfrm>
            <a:off x="217488" y="1176338"/>
            <a:ext cx="11728450" cy="5211683"/>
          </a:xfrm>
          <a:prstGeom prst="rect">
            <a:avLst/>
          </a:prstGeom>
          <a:noFill/>
        </p:spPr>
        <p:txBody>
          <a:bodyPr wrap="square">
            <a:spAutoFit/>
          </a:bodyPr>
          <a:lstStyle/>
          <a:p>
            <a:pPr algn="just"/>
            <a:r>
              <a:rPr lang="en-US" sz="1600" b="1" i="0" dirty="0">
                <a:solidFill>
                  <a:srgbClr val="202124"/>
                </a:solidFill>
                <a:effectLst/>
                <a:latin typeface="Times New Roman" panose="02020603050405020304" pitchFamily="18" charset="0"/>
                <a:cs typeface="Times New Roman" panose="02020603050405020304" pitchFamily="18" charset="0"/>
              </a:rPr>
              <a:t>1. Organisational behaviour is</a:t>
            </a:r>
            <a:r>
              <a:rPr lang="en-US" sz="1600" b="0" i="0" dirty="0">
                <a:solidFill>
                  <a:srgbClr val="202124"/>
                </a:solidFill>
                <a:effectLst/>
                <a:latin typeface="Times New Roman" panose="02020603050405020304" pitchFamily="18" charset="0"/>
                <a:cs typeface="Times New Roman" panose="02020603050405020304" pitchFamily="18" charset="0"/>
              </a:rPr>
              <a:t>_______</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a) A science</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b) An art</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c) A science as well as an art</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d) None of the above</a:t>
            </a:r>
          </a:p>
          <a:p>
            <a:pPr algn="just"/>
            <a:r>
              <a:rPr lang="en-US" sz="1600" b="1" i="0" dirty="0">
                <a:solidFill>
                  <a:srgbClr val="202124"/>
                </a:solidFill>
                <a:effectLst/>
                <a:latin typeface="Times New Roman" panose="02020603050405020304" pitchFamily="18" charset="0"/>
                <a:cs typeface="Times New Roman" panose="02020603050405020304" pitchFamily="18" charset="0"/>
              </a:rPr>
              <a:t>2. Communication begins with</a:t>
            </a:r>
            <a:r>
              <a:rPr lang="en-US" sz="1600" b="0" i="0" dirty="0">
                <a:solidFill>
                  <a:srgbClr val="202124"/>
                </a:solidFill>
                <a:effectLst/>
                <a:latin typeface="Times New Roman" panose="02020603050405020304" pitchFamily="18" charset="0"/>
                <a:cs typeface="Times New Roman" panose="02020603050405020304" pitchFamily="18" charset="0"/>
              </a:rPr>
              <a:t> _____</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a. encoding</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b. idea origination</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c. decoding</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d. channel selection</a:t>
            </a:r>
          </a:p>
          <a:p>
            <a:pPr algn="just"/>
            <a:r>
              <a:rPr lang="en-US" sz="1600" b="1" i="0" dirty="0">
                <a:solidFill>
                  <a:srgbClr val="202124"/>
                </a:solidFill>
                <a:effectLst/>
                <a:latin typeface="Times New Roman" panose="02020603050405020304" pitchFamily="18" charset="0"/>
                <a:cs typeface="Times New Roman" panose="02020603050405020304" pitchFamily="18" charset="0"/>
              </a:rPr>
              <a:t>3. A study of the culture and practices in different societies is called</a:t>
            </a:r>
            <a:r>
              <a:rPr lang="en-US" sz="1600" b="0" i="0" dirty="0">
                <a:solidFill>
                  <a:srgbClr val="202124"/>
                </a:solidFill>
                <a:effectLst/>
                <a:latin typeface="Times New Roman" panose="02020603050405020304" pitchFamily="18" charset="0"/>
                <a:cs typeface="Times New Roman" panose="02020603050405020304" pitchFamily="18" charset="0"/>
              </a:rPr>
              <a:t> _____</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a) Personality</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b) Anthropology</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c) Perception</a:t>
            </a:r>
          </a:p>
          <a:p>
            <a:pPr algn="just"/>
            <a:r>
              <a:rPr lang="en-US" sz="1600" b="0" i="0" dirty="0">
                <a:solidFill>
                  <a:srgbClr val="202124"/>
                </a:solidFill>
                <a:effectLst/>
                <a:latin typeface="Times New Roman" panose="02020603050405020304" pitchFamily="18" charset="0"/>
                <a:cs typeface="Times New Roman" panose="02020603050405020304" pitchFamily="18" charset="0"/>
              </a:rPr>
              <a:t>d) Attitudes</a:t>
            </a:r>
            <a:endParaRPr lang="en-US" sz="2000" b="0" i="0" dirty="0">
              <a:solidFill>
                <a:srgbClr val="202124"/>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22789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7B72EF5-4ED0-503C-B5A7-5FC646453857}"/>
              </a:ext>
            </a:extLst>
          </p:cNvPr>
          <p:cNvSpPr>
            <a:spLocks noGrp="1"/>
          </p:cNvSpPr>
          <p:nvPr>
            <p:ph idx="1"/>
          </p:nvPr>
        </p:nvSpPr>
        <p:spPr>
          <a:xfrm>
            <a:off x="217488" y="1176338"/>
            <a:ext cx="11728450" cy="5000625"/>
          </a:xfrm>
          <a:prstGeom prst="rect">
            <a:avLst/>
          </a:prstGeom>
          <a:noFill/>
        </p:spPr>
        <p:txBody>
          <a:bodyPr wrap="none" lIns="91440" tIns="45720" rIns="91440" bIns="45720">
            <a:spAutoFit/>
          </a:bodyPr>
          <a:lstStyle/>
          <a:p>
            <a:pPr algn="ctr"/>
            <a:r>
              <a:rPr lang="en-US" sz="5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Tree>
    <p:extLst>
      <p:ext uri="{BB962C8B-B14F-4D97-AF65-F5344CB8AC3E}">
        <p14:creationId xmlns:p14="http://schemas.microsoft.com/office/powerpoint/2010/main" val="12636741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5361</TotalTime>
  <Words>5514</Words>
  <Application>Microsoft Office PowerPoint</Application>
  <PresentationFormat>Widescreen</PresentationFormat>
  <Paragraphs>381</Paragraphs>
  <Slides>72</Slides>
  <Notes>0</Notes>
  <HiddenSlides>0</HiddenSlides>
  <MMClips>0</MMClips>
  <ScaleCrop>false</ScaleCrop>
  <HeadingPairs>
    <vt:vector size="4" baseType="variant">
      <vt:variant>
        <vt:lpstr>Theme</vt:lpstr>
      </vt:variant>
      <vt:variant>
        <vt:i4>2</vt:i4>
      </vt:variant>
      <vt:variant>
        <vt:lpstr>Slide Titles</vt:lpstr>
      </vt:variant>
      <vt:variant>
        <vt:i4>72</vt:i4>
      </vt:variant>
    </vt:vector>
  </HeadingPairs>
  <TitlesOfParts>
    <vt:vector size="74" baseType="lpstr">
      <vt:lpstr>Office Theme</vt:lpstr>
      <vt:lpstr>Custom Design</vt:lpstr>
      <vt:lpstr>PowerPoint Presentation</vt:lpstr>
      <vt:lpstr>Syllabus</vt:lpstr>
      <vt:lpstr>SYLLABUS</vt:lpstr>
      <vt:lpstr>SYLLABUS</vt:lpstr>
      <vt:lpstr>COURSE OBJECTIVES</vt:lpstr>
      <vt:lpstr>Brief Introduction of Subject: Video</vt:lpstr>
      <vt:lpstr>UNIT CONTENT</vt:lpstr>
      <vt:lpstr>UNIT OBJECTIVES</vt:lpstr>
      <vt:lpstr> Prerequisites </vt:lpstr>
      <vt:lpstr>         CONCEPT OF GOALS</vt:lpstr>
      <vt:lpstr> TYPES OF GROUPS </vt:lpstr>
      <vt:lpstr> Types of Groups  </vt:lpstr>
      <vt:lpstr> GROUP ADVANTAGES</vt:lpstr>
      <vt:lpstr> GROUP DRAWBACKS </vt:lpstr>
      <vt:lpstr> Group Advantages &amp; Drawbacks </vt:lpstr>
      <vt:lpstr>Concept of Team</vt:lpstr>
      <vt:lpstr>TEAM ADVANTAGES</vt:lpstr>
      <vt:lpstr>TEAM DRAWBACKS</vt:lpstr>
      <vt:lpstr>TEAM ADVANTAGES AND DISADVANTAGES</vt:lpstr>
      <vt:lpstr>         How to lead groups vs. teams </vt:lpstr>
      <vt:lpstr>Group-focused organizations </vt:lpstr>
      <vt:lpstr>Team focused organizations </vt:lpstr>
      <vt:lpstr>Group vs. Team</vt:lpstr>
      <vt:lpstr>DIFFERENCE BETWEEN GROUP AND TEAM</vt:lpstr>
      <vt:lpstr> Cont..</vt:lpstr>
      <vt:lpstr>STAGES OF GROUP DEVELOPMENT</vt:lpstr>
      <vt:lpstr>Cont..</vt:lpstr>
      <vt:lpstr>STAGES OF GROUP DEVELOPMENT</vt:lpstr>
      <vt:lpstr>Cont..</vt:lpstr>
      <vt:lpstr>GROUP DYNAMICS</vt:lpstr>
      <vt:lpstr> Theories of Group Dynamics  </vt:lpstr>
      <vt:lpstr>Cont..</vt:lpstr>
      <vt:lpstr>Cont.</vt:lpstr>
      <vt:lpstr>CLASSIFICATION OF GROUP DYNAMICS</vt:lpstr>
      <vt:lpstr>Cont…</vt:lpstr>
      <vt:lpstr>Cont..</vt:lpstr>
      <vt:lpstr>CLASSIFICATION OF GROUP DYNAMICS</vt:lpstr>
      <vt:lpstr>5 Dysfunctions of a Team: What They are and How to Overcome</vt:lpstr>
      <vt:lpstr>Cont…</vt:lpstr>
      <vt:lpstr>5 Dysfunctions of a Team: What They are and How to Overcome</vt:lpstr>
      <vt:lpstr>5 Dysfunctions of a Team: What They are and How to Overcome</vt:lpstr>
      <vt:lpstr>Cont… </vt:lpstr>
      <vt:lpstr>5 Dysfunctions of a Team: What They are and How to Overcome</vt:lpstr>
      <vt:lpstr>5 Dysfunctions of a Team: What They are and How to Overcome </vt:lpstr>
      <vt:lpstr> 5 Dysfunctions of a Team: What They are and How to Overcome</vt:lpstr>
      <vt:lpstr>Cont…</vt:lpstr>
      <vt:lpstr>Cont…</vt:lpstr>
      <vt:lpstr>5 Dysfunctions of a Team: What They are and How to Overcome </vt:lpstr>
      <vt:lpstr>Cont…</vt:lpstr>
      <vt:lpstr>Cont…</vt:lpstr>
      <vt:lpstr>PowerPoint Presentation</vt:lpstr>
      <vt:lpstr> What is Power </vt:lpstr>
      <vt:lpstr> Sources of Power </vt:lpstr>
      <vt:lpstr>   1. Legitimate Power  </vt:lpstr>
      <vt:lpstr>REWARD POWER</vt:lpstr>
      <vt:lpstr>COERCIVE POWER</vt:lpstr>
      <vt:lpstr> 4. Expert Power </vt:lpstr>
      <vt:lpstr>5. INFORMATION POWER</vt:lpstr>
      <vt:lpstr>REFERENT POWER</vt:lpstr>
      <vt:lpstr> ORGANIZATIONAL POLITICS </vt:lpstr>
      <vt:lpstr> Organizational Politics </vt:lpstr>
      <vt:lpstr> Employee Empowerment </vt:lpstr>
      <vt:lpstr>EMPLOYEE EMPOWERMENT </vt:lpstr>
      <vt:lpstr>  What are the 5 points of empowerment?  </vt:lpstr>
      <vt:lpstr> Benefits of employee empowerment </vt:lpstr>
      <vt:lpstr> Benefits of employee empowerment </vt:lpstr>
      <vt:lpstr> What does empowerment do for employees? </vt:lpstr>
      <vt:lpstr> What are employee empowerment techniques? </vt:lpstr>
      <vt:lpstr> 4 steps for empowering employees in the workplace </vt:lpstr>
      <vt:lpstr> 4 steps for empowering employees in the workplace </vt:lpstr>
      <vt:lpstr>DAILY QUIZ</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Kaushik</dc:creator>
  <cp:lastModifiedBy>Kshitij Chandra</cp:lastModifiedBy>
  <cp:revision>187</cp:revision>
  <dcterms:created xsi:type="dcterms:W3CDTF">2024-03-22T08:16:53Z</dcterms:created>
  <dcterms:modified xsi:type="dcterms:W3CDTF">2025-09-23T06:19:52Z</dcterms:modified>
</cp:coreProperties>
</file>