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84"/>
  </p:notesMasterIdLst>
  <p:handoutMasterIdLst>
    <p:handoutMasterId r:id="rId85"/>
  </p:handoutMasterIdLst>
  <p:sldIdLst>
    <p:sldId id="674" r:id="rId6"/>
    <p:sldId id="630" r:id="rId7"/>
    <p:sldId id="670" r:id="rId8"/>
    <p:sldId id="677" r:id="rId9"/>
    <p:sldId id="678" r:id="rId10"/>
    <p:sldId id="679" r:id="rId11"/>
    <p:sldId id="680" r:id="rId12"/>
    <p:sldId id="681" r:id="rId13"/>
    <p:sldId id="682" r:id="rId14"/>
    <p:sldId id="671" r:id="rId15"/>
    <p:sldId id="672" r:id="rId16"/>
    <p:sldId id="673" r:id="rId17"/>
    <p:sldId id="266" r:id="rId18"/>
    <p:sldId id="258" r:id="rId19"/>
    <p:sldId id="663" r:id="rId20"/>
    <p:sldId id="665" r:id="rId21"/>
    <p:sldId id="627" r:id="rId22"/>
    <p:sldId id="666" r:id="rId23"/>
    <p:sldId id="664" r:id="rId24"/>
    <p:sldId id="683" r:id="rId25"/>
    <p:sldId id="259" r:id="rId26"/>
    <p:sldId id="268" r:id="rId27"/>
    <p:sldId id="364" r:id="rId28"/>
    <p:sldId id="638" r:id="rId29"/>
    <p:sldId id="639" r:id="rId30"/>
    <p:sldId id="365" r:id="rId31"/>
    <p:sldId id="386" r:id="rId32"/>
    <p:sldId id="642" r:id="rId33"/>
    <p:sldId id="640" r:id="rId34"/>
    <p:sldId id="641" r:id="rId35"/>
    <p:sldId id="352" r:id="rId36"/>
    <p:sldId id="353" r:id="rId37"/>
    <p:sldId id="286" r:id="rId38"/>
    <p:sldId id="393" r:id="rId39"/>
    <p:sldId id="395" r:id="rId40"/>
    <p:sldId id="394" r:id="rId41"/>
    <p:sldId id="366" r:id="rId42"/>
    <p:sldId id="645" r:id="rId43"/>
    <p:sldId id="626" r:id="rId44"/>
    <p:sldId id="644" r:id="rId45"/>
    <p:sldId id="643" r:id="rId46"/>
    <p:sldId id="646" r:id="rId47"/>
    <p:sldId id="367" r:id="rId48"/>
    <p:sldId id="368" r:id="rId49"/>
    <p:sldId id="369" r:id="rId50"/>
    <p:sldId id="370" r:id="rId51"/>
    <p:sldId id="371" r:id="rId52"/>
    <p:sldId id="372" r:id="rId53"/>
    <p:sldId id="647" r:id="rId54"/>
    <p:sldId id="648" r:id="rId55"/>
    <p:sldId id="373" r:id="rId56"/>
    <p:sldId id="374" r:id="rId57"/>
    <p:sldId id="375" r:id="rId58"/>
    <p:sldId id="376" r:id="rId59"/>
    <p:sldId id="377" r:id="rId60"/>
    <p:sldId id="378" r:id="rId61"/>
    <p:sldId id="379" r:id="rId62"/>
    <p:sldId id="380" r:id="rId63"/>
    <p:sldId id="381" r:id="rId64"/>
    <p:sldId id="398" r:id="rId65"/>
    <p:sldId id="401" r:id="rId66"/>
    <p:sldId id="400" r:id="rId67"/>
    <p:sldId id="354" r:id="rId68"/>
    <p:sldId id="649" r:id="rId69"/>
    <p:sldId id="650" r:id="rId70"/>
    <p:sldId id="651" r:id="rId71"/>
    <p:sldId id="652" r:id="rId72"/>
    <p:sldId id="357" r:id="rId73"/>
    <p:sldId id="669" r:id="rId74"/>
    <p:sldId id="654" r:id="rId75"/>
    <p:sldId id="358" r:id="rId76"/>
    <p:sldId id="667" r:id="rId77"/>
    <p:sldId id="653" r:id="rId78"/>
    <p:sldId id="355" r:id="rId79"/>
    <p:sldId id="655" r:id="rId80"/>
    <p:sldId id="656" r:id="rId81"/>
    <p:sldId id="356" r:id="rId82"/>
    <p:sldId id="387"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73" autoAdjust="0"/>
    <p:restoredTop sz="89952" autoAdjust="0"/>
  </p:normalViewPr>
  <p:slideViewPr>
    <p:cSldViewPr>
      <p:cViewPr varScale="1">
        <p:scale>
          <a:sx n="76" d="100"/>
          <a:sy n="76" d="100"/>
        </p:scale>
        <p:origin x="1382" y="5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1152"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viewProps" Target="view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105267-0A5E-4699-856C-713EE500FBDD}" type="doc">
      <dgm:prSet loTypeId="urn:microsoft.com/office/officeart/2011/layout/CircleProcess#1" loCatId="process" qsTypeId="urn:microsoft.com/office/officeart/2005/8/quickstyle/simple5" qsCatId="simple" csTypeId="urn:microsoft.com/office/officeart/2005/8/colors/colorful4" csCatId="colorful" phldr="1"/>
      <dgm:spPr/>
      <dgm:t>
        <a:bodyPr/>
        <a:lstStyle/>
        <a:p>
          <a:endParaRPr lang="en-GB"/>
        </a:p>
      </dgm:t>
    </dgm:pt>
    <dgm:pt modelId="{AADB194A-58A4-458F-A1F6-0435F42FA03A}" type="pres">
      <dgm:prSet presAssocID="{10105267-0A5E-4699-856C-713EE500FBDD}" presName="Name0" presStyleCnt="0">
        <dgm:presLayoutVars>
          <dgm:chMax val="11"/>
          <dgm:chPref val="11"/>
          <dgm:dir/>
          <dgm:resizeHandles/>
        </dgm:presLayoutVars>
      </dgm:prSet>
      <dgm:spPr/>
    </dgm:pt>
  </dgm:ptLst>
  <dgm:cxnLst>
    <dgm:cxn modelId="{5031E62E-5158-44D5-B671-7F5E1ADE3D5D}" type="presOf" srcId="{10105267-0A5E-4699-856C-713EE500FBDD}" destId="{AADB194A-58A4-458F-A1F6-0435F42FA03A}" srcOrd="0" destOrd="0" presId="urn:microsoft.com/office/officeart/2011/layout/Circle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1BF1B7-D0D6-432E-BF93-088FC99415E7}" type="doc">
      <dgm:prSet loTypeId="urn:microsoft.com/office/officeart/2005/8/layout/vProcess5" loCatId="process" qsTypeId="urn:microsoft.com/office/officeart/2005/8/quickstyle/simple1" qsCatId="simple" csTypeId="urn:microsoft.com/office/officeart/2005/8/colors/colorful5" csCatId="colorful" phldr="1"/>
      <dgm:spPr/>
      <dgm:t>
        <a:bodyPr/>
        <a:lstStyle/>
        <a:p>
          <a:endParaRPr lang="en-US"/>
        </a:p>
      </dgm:t>
    </dgm:pt>
    <dgm:pt modelId="{79584B6D-BFB0-43D6-8A74-E3AD68B5571E}">
      <dgm:prSet phldrT="[Text]"/>
      <dgm:spPr/>
      <dgm:t>
        <a:bodyPr/>
        <a:lstStyle/>
        <a:p>
          <a:r>
            <a:rPr lang="en-US" b="1" dirty="0"/>
            <a:t>Identifying</a:t>
          </a:r>
          <a:endParaRPr lang="en-US" dirty="0"/>
        </a:p>
      </dgm:t>
    </dgm:pt>
    <dgm:pt modelId="{A1A530AC-461E-44DF-BD6A-8B7001B8B5F1}" type="parTrans" cxnId="{55C5D406-C236-49F6-927E-A735AE15C4DE}">
      <dgm:prSet/>
      <dgm:spPr/>
      <dgm:t>
        <a:bodyPr/>
        <a:lstStyle/>
        <a:p>
          <a:endParaRPr lang="en-US"/>
        </a:p>
      </dgm:t>
    </dgm:pt>
    <dgm:pt modelId="{AFCF85A8-15D9-44AA-A584-D67D122F8CCC}" type="sibTrans" cxnId="{55C5D406-C236-49F6-927E-A735AE15C4DE}">
      <dgm:prSet/>
      <dgm:spPr/>
      <dgm:t>
        <a:bodyPr/>
        <a:lstStyle/>
        <a:p>
          <a:endParaRPr lang="en-US"/>
        </a:p>
      </dgm:t>
    </dgm:pt>
    <dgm:pt modelId="{AD7AD53B-F6F3-4BB7-946C-0C7D0F872C3B}">
      <dgm:prSet phldrT="[Text]"/>
      <dgm:spPr/>
      <dgm:t>
        <a:bodyPr/>
        <a:lstStyle/>
        <a:p>
          <a:r>
            <a:rPr lang="en-US" b="1" dirty="0"/>
            <a:t>Scanning</a:t>
          </a:r>
          <a:endParaRPr lang="en-US" dirty="0"/>
        </a:p>
      </dgm:t>
    </dgm:pt>
    <dgm:pt modelId="{B957BC29-1FE3-43A6-8E92-94F092E90F44}" type="parTrans" cxnId="{85D07D54-B411-4C74-9390-E2C2E66C479B}">
      <dgm:prSet/>
      <dgm:spPr/>
      <dgm:t>
        <a:bodyPr/>
        <a:lstStyle/>
        <a:p>
          <a:endParaRPr lang="en-US"/>
        </a:p>
      </dgm:t>
    </dgm:pt>
    <dgm:pt modelId="{F5038467-BFC9-44E4-9328-AD4E3FE85046}" type="sibTrans" cxnId="{85D07D54-B411-4C74-9390-E2C2E66C479B}">
      <dgm:prSet/>
      <dgm:spPr/>
      <dgm:t>
        <a:bodyPr/>
        <a:lstStyle/>
        <a:p>
          <a:endParaRPr lang="en-US"/>
        </a:p>
      </dgm:t>
    </dgm:pt>
    <dgm:pt modelId="{9091F29F-9D58-4779-A45B-23F2EFC14368}">
      <dgm:prSet phldrT="[Text]"/>
      <dgm:spPr/>
      <dgm:t>
        <a:bodyPr/>
        <a:lstStyle/>
        <a:p>
          <a:r>
            <a:rPr lang="en-US" b="1" dirty="0"/>
            <a:t>Analyzing</a:t>
          </a:r>
          <a:endParaRPr lang="en-US" dirty="0"/>
        </a:p>
      </dgm:t>
    </dgm:pt>
    <dgm:pt modelId="{9C69A2EA-0F4B-4E46-B238-8EADD8BB881B}" type="parTrans" cxnId="{0FDD0D99-7BB7-4103-8F11-A246268D596E}">
      <dgm:prSet/>
      <dgm:spPr/>
      <dgm:t>
        <a:bodyPr/>
        <a:lstStyle/>
        <a:p>
          <a:endParaRPr lang="en-US"/>
        </a:p>
      </dgm:t>
    </dgm:pt>
    <dgm:pt modelId="{0B7A09B7-D75B-4A07-9E73-7D2008B663FB}" type="sibTrans" cxnId="{0FDD0D99-7BB7-4103-8F11-A246268D596E}">
      <dgm:prSet/>
      <dgm:spPr/>
      <dgm:t>
        <a:bodyPr/>
        <a:lstStyle/>
        <a:p>
          <a:endParaRPr lang="en-US"/>
        </a:p>
      </dgm:t>
    </dgm:pt>
    <dgm:pt modelId="{6D963653-229C-4505-9474-526DC766186E}">
      <dgm:prSet phldrT="[Text]"/>
      <dgm:spPr/>
      <dgm:t>
        <a:bodyPr/>
        <a:lstStyle/>
        <a:p>
          <a:r>
            <a:rPr lang="en-US" b="1" dirty="0"/>
            <a:t>Forecasting</a:t>
          </a:r>
          <a:endParaRPr lang="en-US" dirty="0"/>
        </a:p>
      </dgm:t>
    </dgm:pt>
    <dgm:pt modelId="{5E1AB2F7-4D4F-432D-BEC2-D439EE857D08}" type="parTrans" cxnId="{67F8273A-E063-47F6-AB06-88162DB2EB22}">
      <dgm:prSet/>
      <dgm:spPr/>
      <dgm:t>
        <a:bodyPr/>
        <a:lstStyle/>
        <a:p>
          <a:endParaRPr lang="en-US"/>
        </a:p>
      </dgm:t>
    </dgm:pt>
    <dgm:pt modelId="{B25B5E42-F2A7-4DB4-A0FD-B57939D2795C}" type="sibTrans" cxnId="{67F8273A-E063-47F6-AB06-88162DB2EB22}">
      <dgm:prSet/>
      <dgm:spPr/>
      <dgm:t>
        <a:bodyPr/>
        <a:lstStyle/>
        <a:p>
          <a:endParaRPr lang="en-US"/>
        </a:p>
      </dgm:t>
    </dgm:pt>
    <dgm:pt modelId="{15608EDF-773A-49F8-8FDF-78111B15BE03}" type="pres">
      <dgm:prSet presAssocID="{7B1BF1B7-D0D6-432E-BF93-088FC99415E7}" presName="outerComposite" presStyleCnt="0">
        <dgm:presLayoutVars>
          <dgm:chMax val="5"/>
          <dgm:dir/>
          <dgm:resizeHandles val="exact"/>
        </dgm:presLayoutVars>
      </dgm:prSet>
      <dgm:spPr/>
    </dgm:pt>
    <dgm:pt modelId="{B059E3C3-522C-4BDC-BBEF-969D4142C33F}" type="pres">
      <dgm:prSet presAssocID="{7B1BF1B7-D0D6-432E-BF93-088FC99415E7}" presName="dummyMaxCanvas" presStyleCnt="0">
        <dgm:presLayoutVars/>
      </dgm:prSet>
      <dgm:spPr/>
    </dgm:pt>
    <dgm:pt modelId="{A962B145-EBE1-44CC-929E-5AD3AA8F4C9F}" type="pres">
      <dgm:prSet presAssocID="{7B1BF1B7-D0D6-432E-BF93-088FC99415E7}" presName="FourNodes_1" presStyleLbl="node1" presStyleIdx="0" presStyleCnt="4" custLinFactNeighborX="1126" custLinFactNeighborY="-1517">
        <dgm:presLayoutVars>
          <dgm:bulletEnabled val="1"/>
        </dgm:presLayoutVars>
      </dgm:prSet>
      <dgm:spPr/>
    </dgm:pt>
    <dgm:pt modelId="{B164CF24-F141-4EE8-9BB5-44F60E8DB345}" type="pres">
      <dgm:prSet presAssocID="{7B1BF1B7-D0D6-432E-BF93-088FC99415E7}" presName="FourNodes_2" presStyleLbl="node1" presStyleIdx="1" presStyleCnt="4">
        <dgm:presLayoutVars>
          <dgm:bulletEnabled val="1"/>
        </dgm:presLayoutVars>
      </dgm:prSet>
      <dgm:spPr/>
    </dgm:pt>
    <dgm:pt modelId="{49F24D26-0AB9-4923-8EEC-F3652DAC8219}" type="pres">
      <dgm:prSet presAssocID="{7B1BF1B7-D0D6-432E-BF93-088FC99415E7}" presName="FourNodes_3" presStyleLbl="node1" presStyleIdx="2" presStyleCnt="4">
        <dgm:presLayoutVars>
          <dgm:bulletEnabled val="1"/>
        </dgm:presLayoutVars>
      </dgm:prSet>
      <dgm:spPr/>
    </dgm:pt>
    <dgm:pt modelId="{DBCD58CD-F4D6-436D-A6A9-D1D6C477A158}" type="pres">
      <dgm:prSet presAssocID="{7B1BF1B7-D0D6-432E-BF93-088FC99415E7}" presName="FourNodes_4" presStyleLbl="node1" presStyleIdx="3" presStyleCnt="4">
        <dgm:presLayoutVars>
          <dgm:bulletEnabled val="1"/>
        </dgm:presLayoutVars>
      </dgm:prSet>
      <dgm:spPr/>
    </dgm:pt>
    <dgm:pt modelId="{45092F5D-8056-4E0C-941A-A3D389F7AD3E}" type="pres">
      <dgm:prSet presAssocID="{7B1BF1B7-D0D6-432E-BF93-088FC99415E7}" presName="FourConn_1-2" presStyleLbl="fgAccFollowNode1" presStyleIdx="0" presStyleCnt="3">
        <dgm:presLayoutVars>
          <dgm:bulletEnabled val="1"/>
        </dgm:presLayoutVars>
      </dgm:prSet>
      <dgm:spPr/>
    </dgm:pt>
    <dgm:pt modelId="{B2A5AE90-4F13-45D3-982B-6372393BDB8A}" type="pres">
      <dgm:prSet presAssocID="{7B1BF1B7-D0D6-432E-BF93-088FC99415E7}" presName="FourConn_2-3" presStyleLbl="fgAccFollowNode1" presStyleIdx="1" presStyleCnt="3">
        <dgm:presLayoutVars>
          <dgm:bulletEnabled val="1"/>
        </dgm:presLayoutVars>
      </dgm:prSet>
      <dgm:spPr/>
    </dgm:pt>
    <dgm:pt modelId="{497A8D5C-0E55-4972-92D6-69E1822EA853}" type="pres">
      <dgm:prSet presAssocID="{7B1BF1B7-D0D6-432E-BF93-088FC99415E7}" presName="FourConn_3-4" presStyleLbl="fgAccFollowNode1" presStyleIdx="2" presStyleCnt="3">
        <dgm:presLayoutVars>
          <dgm:bulletEnabled val="1"/>
        </dgm:presLayoutVars>
      </dgm:prSet>
      <dgm:spPr/>
    </dgm:pt>
    <dgm:pt modelId="{89BDF490-7AE7-4FD3-830D-D5883871D127}" type="pres">
      <dgm:prSet presAssocID="{7B1BF1B7-D0D6-432E-BF93-088FC99415E7}" presName="FourNodes_1_text" presStyleLbl="node1" presStyleIdx="3" presStyleCnt="4">
        <dgm:presLayoutVars>
          <dgm:bulletEnabled val="1"/>
        </dgm:presLayoutVars>
      </dgm:prSet>
      <dgm:spPr/>
    </dgm:pt>
    <dgm:pt modelId="{24345270-1CE7-4E90-A11F-DC1FC9DD802F}" type="pres">
      <dgm:prSet presAssocID="{7B1BF1B7-D0D6-432E-BF93-088FC99415E7}" presName="FourNodes_2_text" presStyleLbl="node1" presStyleIdx="3" presStyleCnt="4">
        <dgm:presLayoutVars>
          <dgm:bulletEnabled val="1"/>
        </dgm:presLayoutVars>
      </dgm:prSet>
      <dgm:spPr/>
    </dgm:pt>
    <dgm:pt modelId="{E481312D-159B-4B91-B835-7159DE3C900F}" type="pres">
      <dgm:prSet presAssocID="{7B1BF1B7-D0D6-432E-BF93-088FC99415E7}" presName="FourNodes_3_text" presStyleLbl="node1" presStyleIdx="3" presStyleCnt="4">
        <dgm:presLayoutVars>
          <dgm:bulletEnabled val="1"/>
        </dgm:presLayoutVars>
      </dgm:prSet>
      <dgm:spPr/>
    </dgm:pt>
    <dgm:pt modelId="{97EF014C-ADF4-47EC-B4D6-2CE7195EF6BF}" type="pres">
      <dgm:prSet presAssocID="{7B1BF1B7-D0D6-432E-BF93-088FC99415E7}" presName="FourNodes_4_text" presStyleLbl="node1" presStyleIdx="3" presStyleCnt="4">
        <dgm:presLayoutVars>
          <dgm:bulletEnabled val="1"/>
        </dgm:presLayoutVars>
      </dgm:prSet>
      <dgm:spPr/>
    </dgm:pt>
  </dgm:ptLst>
  <dgm:cxnLst>
    <dgm:cxn modelId="{55C5D406-C236-49F6-927E-A735AE15C4DE}" srcId="{7B1BF1B7-D0D6-432E-BF93-088FC99415E7}" destId="{79584B6D-BFB0-43D6-8A74-E3AD68B5571E}" srcOrd="0" destOrd="0" parTransId="{A1A530AC-461E-44DF-BD6A-8B7001B8B5F1}" sibTransId="{AFCF85A8-15D9-44AA-A584-D67D122F8CCC}"/>
    <dgm:cxn modelId="{67F8273A-E063-47F6-AB06-88162DB2EB22}" srcId="{7B1BF1B7-D0D6-432E-BF93-088FC99415E7}" destId="{6D963653-229C-4505-9474-526DC766186E}" srcOrd="3" destOrd="0" parTransId="{5E1AB2F7-4D4F-432D-BEC2-D439EE857D08}" sibTransId="{B25B5E42-F2A7-4DB4-A0FD-B57939D2795C}"/>
    <dgm:cxn modelId="{FBE3DF5B-8E67-46DC-B5A1-52B6FF1DECCE}" type="presOf" srcId="{9091F29F-9D58-4779-A45B-23F2EFC14368}" destId="{E481312D-159B-4B91-B835-7159DE3C900F}" srcOrd="1" destOrd="0" presId="urn:microsoft.com/office/officeart/2005/8/layout/vProcess5"/>
    <dgm:cxn modelId="{7BA94F42-E9F8-4155-8A6B-BA8F87F397EB}" type="presOf" srcId="{6D963653-229C-4505-9474-526DC766186E}" destId="{97EF014C-ADF4-47EC-B4D6-2CE7195EF6BF}" srcOrd="1" destOrd="0" presId="urn:microsoft.com/office/officeart/2005/8/layout/vProcess5"/>
    <dgm:cxn modelId="{E5851766-8492-4221-8376-26C1BD07AE8F}" type="presOf" srcId="{0B7A09B7-D75B-4A07-9E73-7D2008B663FB}" destId="{497A8D5C-0E55-4972-92D6-69E1822EA853}" srcOrd="0" destOrd="0" presId="urn:microsoft.com/office/officeart/2005/8/layout/vProcess5"/>
    <dgm:cxn modelId="{1E771A6F-CEEF-437C-8BB1-D63967194FAA}" type="presOf" srcId="{7B1BF1B7-D0D6-432E-BF93-088FC99415E7}" destId="{15608EDF-773A-49F8-8FDF-78111B15BE03}" srcOrd="0" destOrd="0" presId="urn:microsoft.com/office/officeart/2005/8/layout/vProcess5"/>
    <dgm:cxn modelId="{5E74C072-C3FA-40CF-87B5-38EE1B963CEB}" type="presOf" srcId="{AFCF85A8-15D9-44AA-A584-D67D122F8CCC}" destId="{45092F5D-8056-4E0C-941A-A3D389F7AD3E}" srcOrd="0" destOrd="0" presId="urn:microsoft.com/office/officeart/2005/8/layout/vProcess5"/>
    <dgm:cxn modelId="{85D07D54-B411-4C74-9390-E2C2E66C479B}" srcId="{7B1BF1B7-D0D6-432E-BF93-088FC99415E7}" destId="{AD7AD53B-F6F3-4BB7-946C-0C7D0F872C3B}" srcOrd="1" destOrd="0" parTransId="{B957BC29-1FE3-43A6-8E92-94F092E90F44}" sibTransId="{F5038467-BFC9-44E4-9328-AD4E3FE85046}"/>
    <dgm:cxn modelId="{3585907A-6C28-44AB-9825-A2619DAC6331}" type="presOf" srcId="{79584B6D-BFB0-43D6-8A74-E3AD68B5571E}" destId="{A962B145-EBE1-44CC-929E-5AD3AA8F4C9F}" srcOrd="0" destOrd="0" presId="urn:microsoft.com/office/officeart/2005/8/layout/vProcess5"/>
    <dgm:cxn modelId="{B5C83185-3E89-44F4-A283-328810CD0B9A}" type="presOf" srcId="{AD7AD53B-F6F3-4BB7-946C-0C7D0F872C3B}" destId="{24345270-1CE7-4E90-A11F-DC1FC9DD802F}" srcOrd="1" destOrd="0" presId="urn:microsoft.com/office/officeart/2005/8/layout/vProcess5"/>
    <dgm:cxn modelId="{C5A07B90-26C0-4897-BC5A-5887E7C6C226}" type="presOf" srcId="{79584B6D-BFB0-43D6-8A74-E3AD68B5571E}" destId="{89BDF490-7AE7-4FD3-830D-D5883871D127}" srcOrd="1" destOrd="0" presId="urn:microsoft.com/office/officeart/2005/8/layout/vProcess5"/>
    <dgm:cxn modelId="{0FDD0D99-7BB7-4103-8F11-A246268D596E}" srcId="{7B1BF1B7-D0D6-432E-BF93-088FC99415E7}" destId="{9091F29F-9D58-4779-A45B-23F2EFC14368}" srcOrd="2" destOrd="0" parTransId="{9C69A2EA-0F4B-4E46-B238-8EADD8BB881B}" sibTransId="{0B7A09B7-D75B-4A07-9E73-7D2008B663FB}"/>
    <dgm:cxn modelId="{1F2CAAB0-58CD-4C2A-B1C4-8BCF178D5A1C}" type="presOf" srcId="{9091F29F-9D58-4779-A45B-23F2EFC14368}" destId="{49F24D26-0AB9-4923-8EEC-F3652DAC8219}" srcOrd="0" destOrd="0" presId="urn:microsoft.com/office/officeart/2005/8/layout/vProcess5"/>
    <dgm:cxn modelId="{C9DCA8C1-A2A1-4743-85B7-6208D5F666D0}" type="presOf" srcId="{F5038467-BFC9-44E4-9328-AD4E3FE85046}" destId="{B2A5AE90-4F13-45D3-982B-6372393BDB8A}" srcOrd="0" destOrd="0" presId="urn:microsoft.com/office/officeart/2005/8/layout/vProcess5"/>
    <dgm:cxn modelId="{C5C980E4-833C-42FA-B4EF-A90EF7230ACA}" type="presOf" srcId="{6D963653-229C-4505-9474-526DC766186E}" destId="{DBCD58CD-F4D6-436D-A6A9-D1D6C477A158}" srcOrd="0" destOrd="0" presId="urn:microsoft.com/office/officeart/2005/8/layout/vProcess5"/>
    <dgm:cxn modelId="{F35DFEF9-6632-4B0C-A924-CB8A21B1095F}" type="presOf" srcId="{AD7AD53B-F6F3-4BB7-946C-0C7D0F872C3B}" destId="{B164CF24-F141-4EE8-9BB5-44F60E8DB345}" srcOrd="0" destOrd="0" presId="urn:microsoft.com/office/officeart/2005/8/layout/vProcess5"/>
    <dgm:cxn modelId="{07AB8F46-C056-48B4-9CC6-05EDDA949BA4}" type="presParOf" srcId="{15608EDF-773A-49F8-8FDF-78111B15BE03}" destId="{B059E3C3-522C-4BDC-BBEF-969D4142C33F}" srcOrd="0" destOrd="0" presId="urn:microsoft.com/office/officeart/2005/8/layout/vProcess5"/>
    <dgm:cxn modelId="{5B75C49A-C244-4198-B653-60021578E3CF}" type="presParOf" srcId="{15608EDF-773A-49F8-8FDF-78111B15BE03}" destId="{A962B145-EBE1-44CC-929E-5AD3AA8F4C9F}" srcOrd="1" destOrd="0" presId="urn:microsoft.com/office/officeart/2005/8/layout/vProcess5"/>
    <dgm:cxn modelId="{1AB767F2-EED2-4854-9426-DC5F86C7D1E4}" type="presParOf" srcId="{15608EDF-773A-49F8-8FDF-78111B15BE03}" destId="{B164CF24-F141-4EE8-9BB5-44F60E8DB345}" srcOrd="2" destOrd="0" presId="urn:microsoft.com/office/officeart/2005/8/layout/vProcess5"/>
    <dgm:cxn modelId="{7B961C54-4770-413A-BC79-19FE2BE57814}" type="presParOf" srcId="{15608EDF-773A-49F8-8FDF-78111B15BE03}" destId="{49F24D26-0AB9-4923-8EEC-F3652DAC8219}" srcOrd="3" destOrd="0" presId="urn:microsoft.com/office/officeart/2005/8/layout/vProcess5"/>
    <dgm:cxn modelId="{315C779D-6FB6-4C17-A6A8-E25AAE80CC52}" type="presParOf" srcId="{15608EDF-773A-49F8-8FDF-78111B15BE03}" destId="{DBCD58CD-F4D6-436D-A6A9-D1D6C477A158}" srcOrd="4" destOrd="0" presId="urn:microsoft.com/office/officeart/2005/8/layout/vProcess5"/>
    <dgm:cxn modelId="{EDC507E0-A053-4D34-A072-837E9C61DADC}" type="presParOf" srcId="{15608EDF-773A-49F8-8FDF-78111B15BE03}" destId="{45092F5D-8056-4E0C-941A-A3D389F7AD3E}" srcOrd="5" destOrd="0" presId="urn:microsoft.com/office/officeart/2005/8/layout/vProcess5"/>
    <dgm:cxn modelId="{1936E025-50B9-466A-99B2-D931FAB16FEF}" type="presParOf" srcId="{15608EDF-773A-49F8-8FDF-78111B15BE03}" destId="{B2A5AE90-4F13-45D3-982B-6372393BDB8A}" srcOrd="6" destOrd="0" presId="urn:microsoft.com/office/officeart/2005/8/layout/vProcess5"/>
    <dgm:cxn modelId="{1509D801-FACE-4B45-BEA1-B4F58901E7BB}" type="presParOf" srcId="{15608EDF-773A-49F8-8FDF-78111B15BE03}" destId="{497A8D5C-0E55-4972-92D6-69E1822EA853}" srcOrd="7" destOrd="0" presId="urn:microsoft.com/office/officeart/2005/8/layout/vProcess5"/>
    <dgm:cxn modelId="{1CDAE524-5A2C-4D8E-8B7D-EE3EF321F5A4}" type="presParOf" srcId="{15608EDF-773A-49F8-8FDF-78111B15BE03}" destId="{89BDF490-7AE7-4FD3-830D-D5883871D127}" srcOrd="8" destOrd="0" presId="urn:microsoft.com/office/officeart/2005/8/layout/vProcess5"/>
    <dgm:cxn modelId="{79D16084-AAAA-4978-8F9F-E763E33A10FD}" type="presParOf" srcId="{15608EDF-773A-49F8-8FDF-78111B15BE03}" destId="{24345270-1CE7-4E90-A11F-DC1FC9DD802F}" srcOrd="9" destOrd="0" presId="urn:microsoft.com/office/officeart/2005/8/layout/vProcess5"/>
    <dgm:cxn modelId="{83B4283A-7052-4B7F-B746-9D1A0E86FE7F}" type="presParOf" srcId="{15608EDF-773A-49F8-8FDF-78111B15BE03}" destId="{E481312D-159B-4B91-B835-7159DE3C900F}" srcOrd="10" destOrd="0" presId="urn:microsoft.com/office/officeart/2005/8/layout/vProcess5"/>
    <dgm:cxn modelId="{4C7DF492-7BD7-438F-93DE-BDA670C82889}" type="presParOf" srcId="{15608EDF-773A-49F8-8FDF-78111B15BE03}" destId="{97EF014C-ADF4-47EC-B4D6-2CE7195EF6BF}"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2B145-EBE1-44CC-929E-5AD3AA8F4C9F}">
      <dsp:nvSpPr>
        <dsp:cNvPr id="0" name=""/>
        <dsp:cNvSpPr/>
      </dsp:nvSpPr>
      <dsp:spPr>
        <a:xfrm>
          <a:off x="73483" y="0"/>
          <a:ext cx="6526073" cy="894080"/>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Identifying</a:t>
          </a:r>
          <a:endParaRPr lang="en-US" sz="3900" kern="1200" dirty="0"/>
        </a:p>
      </dsp:txBody>
      <dsp:txXfrm>
        <a:off x="99670" y="26187"/>
        <a:ext cx="5485741" cy="841706"/>
      </dsp:txXfrm>
    </dsp:sp>
    <dsp:sp modelId="{B164CF24-F141-4EE8-9BB5-44F60E8DB345}">
      <dsp:nvSpPr>
        <dsp:cNvPr id="0" name=""/>
        <dsp:cNvSpPr/>
      </dsp:nvSpPr>
      <dsp:spPr>
        <a:xfrm>
          <a:off x="546558" y="1056640"/>
          <a:ext cx="6526073" cy="894080"/>
        </a:xfrm>
        <a:prstGeom prst="roundRect">
          <a:avLst>
            <a:gd name="adj" fmla="val 10000"/>
          </a:avLst>
        </a:prstGeom>
        <a:solidFill>
          <a:schemeClr val="accent5">
            <a:hueOff val="-227665"/>
            <a:satOff val="-19810"/>
            <a:lumOff val="-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Scanning</a:t>
          </a:r>
          <a:endParaRPr lang="en-US" sz="3900" kern="1200" dirty="0"/>
        </a:p>
      </dsp:txBody>
      <dsp:txXfrm>
        <a:off x="572745" y="1082827"/>
        <a:ext cx="5345988" cy="841706"/>
      </dsp:txXfrm>
    </dsp:sp>
    <dsp:sp modelId="{49F24D26-0AB9-4923-8EEC-F3652DAC8219}">
      <dsp:nvSpPr>
        <dsp:cNvPr id="0" name=""/>
        <dsp:cNvSpPr/>
      </dsp:nvSpPr>
      <dsp:spPr>
        <a:xfrm>
          <a:off x="1084959" y="2113280"/>
          <a:ext cx="6526073" cy="894080"/>
        </a:xfrm>
        <a:prstGeom prst="roundRect">
          <a:avLst>
            <a:gd name="adj" fmla="val 10000"/>
          </a:avLst>
        </a:prstGeom>
        <a:solidFill>
          <a:schemeClr val="accent5">
            <a:hueOff val="-455330"/>
            <a:satOff val="-39621"/>
            <a:lumOff val="-39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Analyzing</a:t>
          </a:r>
          <a:endParaRPr lang="en-US" sz="3900" kern="1200" dirty="0"/>
        </a:p>
      </dsp:txBody>
      <dsp:txXfrm>
        <a:off x="1111146" y="2139467"/>
        <a:ext cx="5354146" cy="841706"/>
      </dsp:txXfrm>
    </dsp:sp>
    <dsp:sp modelId="{DBCD58CD-F4D6-436D-A6A9-D1D6C477A158}">
      <dsp:nvSpPr>
        <dsp:cNvPr id="0" name=""/>
        <dsp:cNvSpPr/>
      </dsp:nvSpPr>
      <dsp:spPr>
        <a:xfrm>
          <a:off x="1631518" y="3169919"/>
          <a:ext cx="6526073" cy="894080"/>
        </a:xfrm>
        <a:prstGeom prst="roundRect">
          <a:avLst>
            <a:gd name="adj" fmla="val 10000"/>
          </a:avLst>
        </a:prstGeom>
        <a:solidFill>
          <a:schemeClr val="accent5">
            <a:hueOff val="-682995"/>
            <a:satOff val="-59431"/>
            <a:lumOff val="-5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kern="1200" dirty="0"/>
            <a:t>Forecasting</a:t>
          </a:r>
          <a:endParaRPr lang="en-US" sz="3900" kern="1200" dirty="0"/>
        </a:p>
      </dsp:txBody>
      <dsp:txXfrm>
        <a:off x="1657705" y="3196106"/>
        <a:ext cx="5345988" cy="841706"/>
      </dsp:txXfrm>
    </dsp:sp>
    <dsp:sp modelId="{45092F5D-8056-4E0C-941A-A3D389F7AD3E}">
      <dsp:nvSpPr>
        <dsp:cNvPr id="0" name=""/>
        <dsp:cNvSpPr/>
      </dsp:nvSpPr>
      <dsp:spPr>
        <a:xfrm>
          <a:off x="5944921" y="684783"/>
          <a:ext cx="581152" cy="581152"/>
        </a:xfrm>
        <a:prstGeom prst="downArrow">
          <a:avLst>
            <a:gd name="adj1" fmla="val 55000"/>
            <a:gd name="adj2" fmla="val 45000"/>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6075680" y="684783"/>
        <a:ext cx="319634" cy="437317"/>
      </dsp:txXfrm>
    </dsp:sp>
    <dsp:sp modelId="{B2A5AE90-4F13-45D3-982B-6372393BDB8A}">
      <dsp:nvSpPr>
        <dsp:cNvPr id="0" name=""/>
        <dsp:cNvSpPr/>
      </dsp:nvSpPr>
      <dsp:spPr>
        <a:xfrm>
          <a:off x="6491480" y="1741423"/>
          <a:ext cx="581152" cy="581152"/>
        </a:xfrm>
        <a:prstGeom prst="downArrow">
          <a:avLst>
            <a:gd name="adj1" fmla="val 55000"/>
            <a:gd name="adj2" fmla="val 45000"/>
          </a:avLst>
        </a:prstGeom>
        <a:solidFill>
          <a:schemeClr val="accent5">
            <a:tint val="40000"/>
            <a:alpha val="90000"/>
            <a:hueOff val="-125409"/>
            <a:satOff val="-27158"/>
            <a:lumOff val="-153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6622239" y="1741423"/>
        <a:ext cx="319634" cy="437317"/>
      </dsp:txXfrm>
    </dsp:sp>
    <dsp:sp modelId="{497A8D5C-0E55-4972-92D6-69E1822EA853}">
      <dsp:nvSpPr>
        <dsp:cNvPr id="0" name=""/>
        <dsp:cNvSpPr/>
      </dsp:nvSpPr>
      <dsp:spPr>
        <a:xfrm>
          <a:off x="7029881" y="2798064"/>
          <a:ext cx="581152" cy="581152"/>
        </a:xfrm>
        <a:prstGeom prst="downArrow">
          <a:avLst>
            <a:gd name="adj1" fmla="val 55000"/>
            <a:gd name="adj2" fmla="val 45000"/>
          </a:avLst>
        </a:prstGeom>
        <a:solidFill>
          <a:schemeClr val="accent5">
            <a:tint val="40000"/>
            <a:alpha val="90000"/>
            <a:hueOff val="-250817"/>
            <a:satOff val="-54316"/>
            <a:lumOff val="-306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endParaRPr lang="en-US" sz="2600" kern="1200"/>
        </a:p>
      </dsp:txBody>
      <dsp:txXfrm>
        <a:off x="7160640" y="2798064"/>
        <a:ext cx="319634" cy="437317"/>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1">
  <dgm:title val="Processus circulaire"/>
  <dgm:desc val="Permet de représenter des étapes séquentielles dans un processus. Limité à onze formes Niveau 1 avec un nombre illimité de formes Niveau 2. Utilisation optimale avec de petites quantités de texte. Le texte non utilisé n’apparaît pas mais reste disponible si vous changez de disposition."/>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30-Aug-25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31532678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30-Aug-25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41771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3455671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5646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50318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7171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01875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99060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dirty="0"/>
          </a:p>
        </p:txBody>
      </p:sp>
    </p:spTree>
    <p:extLst>
      <p:ext uri="{BB962C8B-B14F-4D97-AF65-F5344CB8AC3E}">
        <p14:creationId xmlns:p14="http://schemas.microsoft.com/office/powerpoint/2010/main" val="2345233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13310534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dirty="0"/>
              <a:t>https://studiousguy.com/entrepreneurship-and-entrepreneurial-traits/</a:t>
            </a:r>
          </a:p>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1635832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IN" dirty="0"/>
              <a:t>https://barrazacarlos.com/what-is-entrepreneurial-culture/</a:t>
            </a:r>
          </a:p>
        </p:txBody>
      </p:sp>
      <p:sp>
        <p:nvSpPr>
          <p:cNvPr id="4" name="Slide Number Placeholder 3"/>
          <p:cNvSpPr>
            <a:spLocks noGrp="1"/>
          </p:cNvSpPr>
          <p:nvPr>
            <p:ph type="sldNum" sz="quarter" idx="5"/>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340944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75</a:t>
            </a:fld>
            <a:endParaRPr lang="en-US"/>
          </a:p>
        </p:txBody>
      </p:sp>
    </p:spTree>
    <p:extLst>
      <p:ext uri="{BB962C8B-B14F-4D97-AF65-F5344CB8AC3E}">
        <p14:creationId xmlns:p14="http://schemas.microsoft.com/office/powerpoint/2010/main" val="1093103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F5C9F5C-B1BA-4E3C-9865-449605F734D5}" type="datetime1">
              <a:rPr lang="en-US" smtClean="0"/>
              <a:pPr/>
              <a:t>30-Aug-25</a:t>
            </a:fld>
            <a:endParaRPr lang="en-US"/>
          </a:p>
        </p:txBody>
      </p:sp>
      <p:sp>
        <p:nvSpPr>
          <p:cNvPr id="5" name="Footer Placeholder 4"/>
          <p:cNvSpPr>
            <a:spLocks noGrp="1"/>
          </p:cNvSpPr>
          <p:nvPr>
            <p:ph type="ftr" sz="quarter" idx="11"/>
          </p:nvPr>
        </p:nvSpPr>
        <p:spPr/>
        <p:txBody>
          <a:bodyPr/>
          <a:lstStyle/>
          <a:p>
            <a:r>
              <a:rPr lang="en-US" dirty="0" err="1"/>
              <a:t>Vijaylaxmi</a:t>
            </a:r>
            <a:r>
              <a:rPr lang="en-US" dirty="0"/>
              <a:t>          AEO0771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04235"/>
            <a:ext cx="3970784" cy="417242"/>
          </a:xfrm>
        </p:spPr>
        <p:txBody>
          <a:bodyPr/>
          <a:lstStyle/>
          <a:p>
            <a:fld id="{679DEAA7-C1ED-41FE-BF26-BEE4A56DA3E7}" type="datetime1">
              <a:rPr lang="en-US" smtClean="0"/>
              <a:pPr/>
              <a:t>30-Aug-25</a:t>
            </a:fld>
            <a:r>
              <a:rPr lang="en-US" dirty="0"/>
              <a:t>                 </a:t>
            </a:r>
            <a:r>
              <a:rPr lang="en-US" dirty="0" err="1"/>
              <a:t>Vijaylaxmi</a:t>
            </a:r>
            <a:r>
              <a:rPr lang="en-US" dirty="0"/>
              <a:t>                 AOE0771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784" y="-16621"/>
            <a:ext cx="1532880" cy="925341"/>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37463C-BC1E-4813-AF81-75FD3DAC52C9}" type="datetime1">
              <a:rPr lang="en-US" smtClean="0"/>
              <a:pPr/>
              <a:t>30-Aug-25</a:t>
            </a:fld>
            <a:endParaRPr lang="en-US"/>
          </a:p>
        </p:txBody>
      </p:sp>
      <p:sp>
        <p:nvSpPr>
          <p:cNvPr id="5" name="Footer Placeholder 4"/>
          <p:cNvSpPr>
            <a:spLocks noGrp="1"/>
          </p:cNvSpPr>
          <p:nvPr>
            <p:ph type="ftr" sz="quarter" idx="11"/>
          </p:nvPr>
        </p:nvSpPr>
        <p:spPr/>
        <p:txBody>
          <a:bodyPr/>
          <a:lstStyle/>
          <a:p>
            <a:r>
              <a:rPr lang="en-US" dirty="0" err="1"/>
              <a:t>Vijaylaxmi</a:t>
            </a:r>
            <a:r>
              <a:rPr lang="en-US" dirty="0"/>
              <a:t>          AEO0071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50"/>
            <a:ext cx="2209800" cy="10779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D8A9E6D-A934-4F14-834C-7B695F609F89}" type="datetime1">
              <a:rPr lang="en-US" smtClean="0"/>
              <a:pPr/>
              <a:t>30-Aug-25</a:t>
            </a:fld>
            <a:endParaRPr lang="en-US"/>
          </a:p>
        </p:txBody>
      </p:sp>
      <p:sp>
        <p:nvSpPr>
          <p:cNvPr id="6" name="Footer Placeholder 5"/>
          <p:cNvSpPr>
            <a:spLocks noGrp="1"/>
          </p:cNvSpPr>
          <p:nvPr>
            <p:ph type="ftr" sz="quarter" idx="11"/>
          </p:nvPr>
        </p:nvSpPr>
        <p:spPr/>
        <p:txBody>
          <a:bodyPr/>
          <a:lstStyle/>
          <a:p>
            <a:r>
              <a:rPr lang="en-US" dirty="0" err="1"/>
              <a:t>Vijaylaxmi</a:t>
            </a:r>
            <a:r>
              <a:rPr lang="en-US" dirty="0"/>
              <a:t>          AEO0771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50"/>
            <a:ext cx="2209800" cy="107790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E72CAF1-BA18-4D0A-B47E-AA03C3D2037B}" type="datetime1">
              <a:rPr lang="en-US" smtClean="0"/>
              <a:pPr/>
              <a:t>30-Aug-25</a:t>
            </a:fld>
            <a:endParaRPr lang="en-US"/>
          </a:p>
        </p:txBody>
      </p:sp>
      <p:sp>
        <p:nvSpPr>
          <p:cNvPr id="8" name="Footer Placeholder 7"/>
          <p:cNvSpPr>
            <a:spLocks noGrp="1"/>
          </p:cNvSpPr>
          <p:nvPr>
            <p:ph type="ftr" sz="quarter" idx="11"/>
          </p:nvPr>
        </p:nvSpPr>
        <p:spPr/>
        <p:txBody>
          <a:bodyPr/>
          <a:lstStyle/>
          <a:p>
            <a:r>
              <a:rPr lang="en-US" dirty="0" err="1"/>
              <a:t>Vijaylaxmi</a:t>
            </a:r>
            <a:r>
              <a:rPr lang="en-US" dirty="0"/>
              <a:t>         Aeo0771              Unit 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pic>
        <p:nvPicPr>
          <p:cNvPr id="10" name="Picture 9"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398472"/>
            <a:ext cx="2209800" cy="107790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6C60AF7-2A79-4D0F-9759-0A30014FD349}" type="datetime1">
              <a:rPr lang="en-US" smtClean="0"/>
              <a:pPr/>
              <a:t>30-Aug-25</a:t>
            </a:fld>
            <a:endParaRPr lang="en-US"/>
          </a:p>
        </p:txBody>
      </p:sp>
      <p:sp>
        <p:nvSpPr>
          <p:cNvPr id="4" name="Footer Placeholder 3"/>
          <p:cNvSpPr>
            <a:spLocks noGrp="1"/>
          </p:cNvSpPr>
          <p:nvPr>
            <p:ph type="ftr" sz="quarter" idx="11"/>
          </p:nvPr>
        </p:nvSpPr>
        <p:spPr/>
        <p:txBody>
          <a:bodyPr/>
          <a:lstStyle/>
          <a:p>
            <a:r>
              <a:rPr lang="en-US" dirty="0" err="1"/>
              <a:t>Vijaylaxmi</a:t>
            </a:r>
            <a:r>
              <a:rPr lang="en-US" dirty="0"/>
              <a:t>         AEO0771          Unit 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2" y="61129"/>
            <a:ext cx="1258524" cy="78500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B8384B-E955-4436-B51E-FDDE6F26B267}" type="datetime1">
              <a:rPr lang="en-US" smtClean="0"/>
              <a:pPr/>
              <a:t>30-Aug-25</a:t>
            </a:fld>
            <a:endParaRPr lang="en-US"/>
          </a:p>
        </p:txBody>
      </p:sp>
      <p:sp>
        <p:nvSpPr>
          <p:cNvPr id="3" name="Footer Placeholder 2"/>
          <p:cNvSpPr>
            <a:spLocks noGrp="1"/>
          </p:cNvSpPr>
          <p:nvPr>
            <p:ph type="ftr" sz="quarter" idx="11"/>
          </p:nvPr>
        </p:nvSpPr>
        <p:spPr/>
        <p:txBody>
          <a:bodyPr/>
          <a:lstStyle/>
          <a:p>
            <a:r>
              <a:rPr lang="en-US" dirty="0" err="1"/>
              <a:t>Vijaylaxmi</a:t>
            </a:r>
            <a:r>
              <a:rPr lang="en-US" dirty="0"/>
              <a:t>          AEO0771               Unit 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5" name="Picture 4"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475656" cy="90806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3AF8033-27AE-4949-A7EA-9B1B30F63AE6}" type="datetime1">
              <a:rPr lang="en-US" smtClean="0"/>
              <a:pPr/>
              <a:t>30-Aug-25</a:t>
            </a:fld>
            <a:endParaRPr lang="en-US"/>
          </a:p>
        </p:txBody>
      </p:sp>
      <p:sp>
        <p:nvSpPr>
          <p:cNvPr id="6" name="Footer Placeholder 5"/>
          <p:cNvSpPr>
            <a:spLocks noGrp="1"/>
          </p:cNvSpPr>
          <p:nvPr>
            <p:ph type="ftr" sz="quarter" idx="11"/>
          </p:nvPr>
        </p:nvSpPr>
        <p:spPr/>
        <p:txBody>
          <a:bodyPr/>
          <a:lstStyle/>
          <a:p>
            <a:r>
              <a:rPr lang="en-US" dirty="0" err="1"/>
              <a:t>Vijaylaxmi</a:t>
            </a:r>
            <a:r>
              <a:rPr lang="en-US" dirty="0"/>
              <a:t>          AEO0771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547664" cy="90806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CAB3966-3186-4885-80B9-1B0DA1125617}" type="datetime1">
              <a:rPr lang="en-US" smtClean="0"/>
              <a:pPr/>
              <a:t>30-Aug-25</a:t>
            </a:fld>
            <a:endParaRPr lang="en-US"/>
          </a:p>
        </p:txBody>
      </p:sp>
      <p:sp>
        <p:nvSpPr>
          <p:cNvPr id="6" name="Footer Placeholder 5"/>
          <p:cNvSpPr>
            <a:spLocks noGrp="1"/>
          </p:cNvSpPr>
          <p:nvPr>
            <p:ph type="ftr" sz="quarter" idx="11"/>
          </p:nvPr>
        </p:nvSpPr>
        <p:spPr/>
        <p:txBody>
          <a:bodyPr/>
          <a:lstStyle/>
          <a:p>
            <a:r>
              <a:rPr lang="en-US" dirty="0" err="1"/>
              <a:t>Vijaylaxmi</a:t>
            </a:r>
            <a:r>
              <a:rPr lang="en-US" dirty="0"/>
              <a:t>          AEO0771            Unit 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403648" cy="83605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AE0191-578C-4544-8065-6217504B47FA}" type="datetime1">
              <a:rPr lang="en-US" smtClean="0"/>
              <a:pPr/>
              <a:t>30-Aug-25</a:t>
            </a:fld>
            <a:endParaRPr lang="en-US"/>
          </a:p>
        </p:txBody>
      </p:sp>
      <p:sp>
        <p:nvSpPr>
          <p:cNvPr id="5" name="Footer Placeholder 4"/>
          <p:cNvSpPr>
            <a:spLocks noGrp="1"/>
          </p:cNvSpPr>
          <p:nvPr>
            <p:ph type="ftr" sz="quarter" idx="11"/>
          </p:nvPr>
        </p:nvSpPr>
        <p:spPr/>
        <p:txBody>
          <a:bodyPr/>
          <a:lstStyle/>
          <a:p>
            <a:r>
              <a:rPr lang="en-US" dirty="0" err="1"/>
              <a:t>Vijaylaxmi</a:t>
            </a:r>
            <a:r>
              <a:rPr lang="en-US" dirty="0"/>
              <a:t>          AEO0771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547664" cy="83605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724EA6C-C40A-41EE-950C-9101FE6E0882}" type="datetime1">
              <a:rPr lang="en-US" smtClean="0"/>
              <a:pPr/>
              <a:t>30-Aug-25</a:t>
            </a:fld>
            <a:endParaRPr lang="en-US"/>
          </a:p>
        </p:txBody>
      </p:sp>
      <p:sp>
        <p:nvSpPr>
          <p:cNvPr id="5" name="Footer Placeholder 4"/>
          <p:cNvSpPr>
            <a:spLocks noGrp="1"/>
          </p:cNvSpPr>
          <p:nvPr>
            <p:ph type="ftr" sz="quarter" idx="11"/>
          </p:nvPr>
        </p:nvSpPr>
        <p:spPr/>
        <p:txBody>
          <a:bodyPr/>
          <a:lstStyle/>
          <a:p>
            <a:r>
              <a:rPr lang="en-US" dirty="0" err="1"/>
              <a:t>Vijaylaxmi</a:t>
            </a:r>
            <a:r>
              <a:rPr lang="en-US" dirty="0"/>
              <a:t>          AEO0071 Unit 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1349"/>
            <a:ext cx="1259632" cy="764046"/>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4F704-8131-BB74-E063-2CADEE474C59}"/>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19DBCA-4ECF-5437-A425-0E7333ED0CB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5AD8C6-E5AE-038B-3C4F-01460F0A99AB}"/>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5" name="Footer Placeholder 4">
            <a:extLst>
              <a:ext uri="{FF2B5EF4-FFF2-40B4-BE49-F238E27FC236}">
                <a16:creationId xmlns:a16="http://schemas.microsoft.com/office/drawing/2014/main" id="{61BE3936-BC73-F2EB-A0D5-B7BE78A534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B08986-F645-95ED-B2C4-70EE6094AEFA}"/>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827948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B41CB-2463-0E30-9F08-B3FA97E8DC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B83B6CC-DB19-2EC3-45B0-D4E30ECCE2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C0DF5A-41B0-B5F4-1FE8-1EA15CAAC539}"/>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5" name="Footer Placeholder 4">
            <a:extLst>
              <a:ext uri="{FF2B5EF4-FFF2-40B4-BE49-F238E27FC236}">
                <a16:creationId xmlns:a16="http://schemas.microsoft.com/office/drawing/2014/main" id="{DF289797-3692-C683-3729-5F023FF091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5496C6-7657-C32B-6556-16CDBFDD721D}"/>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679553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780DA-2458-CD5F-1445-B2E9721D811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95248D-A63A-BF5A-A3E5-C87F635734F4}"/>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D8718D-48DB-1CE8-1D73-3B695FBF0CE9}"/>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5" name="Footer Placeholder 4">
            <a:extLst>
              <a:ext uri="{FF2B5EF4-FFF2-40B4-BE49-F238E27FC236}">
                <a16:creationId xmlns:a16="http://schemas.microsoft.com/office/drawing/2014/main" id="{2982C0E7-7E60-73E2-4A54-BEE7D3D2C0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32126E-A835-3BD5-3FDB-C43C8C041518}"/>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1046589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DB5EF-B107-96ED-70F7-6185197076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7AAB1B-B3F8-3FD2-226F-51EE74562C7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7FDFC0B-BA92-4A51-9EEE-AE732B3B502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32461B-464B-F271-D04A-8CE85D2807A6}"/>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6" name="Footer Placeholder 5">
            <a:extLst>
              <a:ext uri="{FF2B5EF4-FFF2-40B4-BE49-F238E27FC236}">
                <a16:creationId xmlns:a16="http://schemas.microsoft.com/office/drawing/2014/main" id="{E8F8C21B-B56E-5218-2B41-263D1E3DE2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18F4A4-BB1E-A388-09B6-CD737A0A4C7D}"/>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1469313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4EB5-A115-E2B9-18C9-515E5B840A93}"/>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66D82D-1CEC-1090-19DA-D9607D7F184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82C1C6-ABEC-40F9-4725-2CE852FB3C77}"/>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5F16B11-189C-E0ED-A20E-1D55B2D78FC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0638D2-6BB5-C604-9917-0508381124C8}"/>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B173EE-887A-9194-5F99-6CFB088A8736}"/>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8" name="Footer Placeholder 7">
            <a:extLst>
              <a:ext uri="{FF2B5EF4-FFF2-40B4-BE49-F238E27FC236}">
                <a16:creationId xmlns:a16="http://schemas.microsoft.com/office/drawing/2014/main" id="{2BDC9CF8-9634-D5FB-C7E0-5BA3CC6AD73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55E823-02F4-3027-18A0-97BAE68A1FF9}"/>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2402635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73C4C-21EE-1D0E-ADCA-4950019CAF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8638A28-5617-9856-0800-429C0C582315}"/>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4" name="Footer Placeholder 3">
            <a:extLst>
              <a:ext uri="{FF2B5EF4-FFF2-40B4-BE49-F238E27FC236}">
                <a16:creationId xmlns:a16="http://schemas.microsoft.com/office/drawing/2014/main" id="{90F245DF-E305-DDCC-697F-B9DD716DB15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326431E-8BB6-669F-BD0F-A76BC6CDE933}"/>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2331404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27C72D-2047-B62D-D10F-B9A38DDAA6F6}"/>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3" name="Footer Placeholder 2">
            <a:extLst>
              <a:ext uri="{FF2B5EF4-FFF2-40B4-BE49-F238E27FC236}">
                <a16:creationId xmlns:a16="http://schemas.microsoft.com/office/drawing/2014/main" id="{F62D17C0-7462-DDAC-B35D-3406B10E808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6F0FE6-6370-AE89-85B6-56F0AC6F1684}"/>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418859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CB661-B695-CCBD-8161-416982AAFEB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54FC52-FBAA-EA2A-38A1-53034748205D}"/>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A36EB73-078A-1BC4-7471-1B7DBB7BCD9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513814-17AC-2B68-E10F-2566980415E5}"/>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6" name="Footer Placeholder 5">
            <a:extLst>
              <a:ext uri="{FF2B5EF4-FFF2-40B4-BE49-F238E27FC236}">
                <a16:creationId xmlns:a16="http://schemas.microsoft.com/office/drawing/2014/main" id="{ADEDD120-D43C-DC13-EAFE-4A285BD572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81940E-9943-269B-FCEF-7E8691A5D90A}"/>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7594368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9BBC-824D-F806-4C41-039E09955DF3}"/>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848E46C-4315-FB44-AE64-503B8051973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9E85E8-0621-BC8D-36A1-1C85D3C4B813}"/>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266287-80EB-AEB1-2585-195674FE85E1}"/>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6" name="Footer Placeholder 5">
            <a:extLst>
              <a:ext uri="{FF2B5EF4-FFF2-40B4-BE49-F238E27FC236}">
                <a16:creationId xmlns:a16="http://schemas.microsoft.com/office/drawing/2014/main" id="{366F1996-602F-5F2E-F56C-8F1652E4B4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9BC0FB-E5A1-3642-E471-09D97BB2AF3A}"/>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39877395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14D91-E8D8-A87D-D4F5-31C3ED5DD99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5099D7-5246-92AB-5CA1-70A7A87A3B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F0A418-C072-CCB7-DE7F-44F3AC6E6662}"/>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5" name="Footer Placeholder 4">
            <a:extLst>
              <a:ext uri="{FF2B5EF4-FFF2-40B4-BE49-F238E27FC236}">
                <a16:creationId xmlns:a16="http://schemas.microsoft.com/office/drawing/2014/main" id="{D259112E-6573-BF99-0FF5-369D347523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469F9E-958D-E6A3-D354-4D3B2DCB214E}"/>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28376510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DF35FF-4EF6-7BB5-9E13-EC7376AFEF8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9BAD68F-D86C-88E4-2F32-3E0D313AC765}"/>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FB21D2-6716-CBB1-03AD-D2EDDDE03C3B}"/>
              </a:ext>
            </a:extLst>
          </p:cNvPr>
          <p:cNvSpPr>
            <a:spLocks noGrp="1"/>
          </p:cNvSpPr>
          <p:nvPr>
            <p:ph type="dt" sz="half" idx="10"/>
          </p:nvPr>
        </p:nvSpPr>
        <p:spPr/>
        <p:txBody>
          <a:bodyPr/>
          <a:lstStyle/>
          <a:p>
            <a:fld id="{4DA1C233-A792-4305-8D2E-805021AB3DD3}" type="datetimeFigureOut">
              <a:rPr lang="en-IN" smtClean="0"/>
              <a:pPr/>
              <a:t>30-08-2025</a:t>
            </a:fld>
            <a:endParaRPr lang="en-IN"/>
          </a:p>
        </p:txBody>
      </p:sp>
      <p:sp>
        <p:nvSpPr>
          <p:cNvPr id="5" name="Footer Placeholder 4">
            <a:extLst>
              <a:ext uri="{FF2B5EF4-FFF2-40B4-BE49-F238E27FC236}">
                <a16:creationId xmlns:a16="http://schemas.microsoft.com/office/drawing/2014/main" id="{BA4BAD61-9CFA-3068-3B07-9A6B911E6A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C44D00-608D-E849-D23E-995446EED7A3}"/>
              </a:ext>
            </a:extLst>
          </p:cNvPr>
          <p:cNvSpPr>
            <a:spLocks noGrp="1"/>
          </p:cNvSpPr>
          <p:nvPr>
            <p:ph type="sldNum" sz="quarter" idx="12"/>
          </p:nvPr>
        </p:nvSpPr>
        <p:spPr/>
        <p:txBody>
          <a:bodyPr/>
          <a:lstStyle/>
          <a:p>
            <a:fld id="{2BB71B0E-DB0D-4548-A4D3-F779AEE91DE8}" type="slidenum">
              <a:rPr lang="en-IN" smtClean="0"/>
              <a:pPr/>
              <a:t>‹#›</a:t>
            </a:fld>
            <a:endParaRPr lang="en-IN"/>
          </a:p>
        </p:txBody>
      </p:sp>
    </p:spTree>
    <p:extLst>
      <p:ext uri="{BB962C8B-B14F-4D97-AF65-F5344CB8AC3E}">
        <p14:creationId xmlns:p14="http://schemas.microsoft.com/office/powerpoint/2010/main" val="2454069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9.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9A981B-641B-450E-AA2F-93F27D30FC1A}" type="datetime1">
              <a:rPr lang="en-US" smtClean="0"/>
              <a:pPr/>
              <a:t>30-Aug-25</a:t>
            </a:fld>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err="1"/>
              <a:t>Vijaylaxmi</a:t>
            </a:r>
            <a:r>
              <a:rPr lang="en-US" dirty="0"/>
              <a:t>          AEO0771        Unit 1</a:t>
            </a: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D4E94A-9D5E-7370-91CF-66A2744D5D1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E4927B-DC14-517C-9FAF-D7AD724531C7}"/>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166FE068-7B22-65C9-6858-840EE8F4BAA1}"/>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A1C233-A792-4305-8D2E-805021AB3DD3}" type="datetimeFigureOut">
              <a:rPr lang="en-IN" smtClean="0"/>
              <a:pPr/>
              <a:t>30-08-2025</a:t>
            </a:fld>
            <a:endParaRPr lang="en-IN"/>
          </a:p>
        </p:txBody>
      </p:sp>
      <p:sp>
        <p:nvSpPr>
          <p:cNvPr id="5" name="Footer Placeholder 4">
            <a:extLst>
              <a:ext uri="{FF2B5EF4-FFF2-40B4-BE49-F238E27FC236}">
                <a16:creationId xmlns:a16="http://schemas.microsoft.com/office/drawing/2014/main" id="{896A07EF-F405-8927-81E2-79584A8277E4}"/>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err="1"/>
              <a:t>Vijaylaxmi</a:t>
            </a:r>
            <a:r>
              <a:rPr lang="en-US" dirty="0"/>
              <a:t>          AOE0771  UNIT 1</a:t>
            </a:r>
            <a:endParaRPr lang="en-IN" dirty="0"/>
          </a:p>
        </p:txBody>
      </p:sp>
      <p:sp>
        <p:nvSpPr>
          <p:cNvPr id="6" name="Slide Number Placeholder 5">
            <a:extLst>
              <a:ext uri="{FF2B5EF4-FFF2-40B4-BE49-F238E27FC236}">
                <a16:creationId xmlns:a16="http://schemas.microsoft.com/office/drawing/2014/main" id="{069506F2-A23F-819C-AFB3-16DECB4B7F0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B71B0E-DB0D-4548-A4D3-F779AEE91DE8}" type="slidenum">
              <a:rPr lang="en-IN" smtClean="0"/>
              <a:pPr/>
              <a:t>‹#›</a:t>
            </a:fld>
            <a:endParaRPr lang="en-IN"/>
          </a:p>
        </p:txBody>
      </p:sp>
      <p:pic>
        <p:nvPicPr>
          <p:cNvPr id="7" name="Picture 6"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2545" y="-106591"/>
            <a:ext cx="1535119" cy="764046"/>
          </a:xfrm>
          <a:prstGeom prst="rect">
            <a:avLst/>
          </a:prstGeom>
        </p:spPr>
      </p:pic>
    </p:spTree>
    <p:extLst>
      <p:ext uri="{BB962C8B-B14F-4D97-AF65-F5344CB8AC3E}">
        <p14:creationId xmlns:p14="http://schemas.microsoft.com/office/powerpoint/2010/main" val="3424918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7.jpe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youtube.com/watch?time_continue=42&amp;v=JDkOngxPTQ4&amp;feature=emb_logo" TargetMode="External"/><Relationship Id="rId2" Type="http://schemas.openxmlformats.org/officeDocument/2006/relationships/hyperlink" Target="https://www.youtube.com/watch?v=yuWNXcdxxVY" TargetMode="External"/><Relationship Id="rId1" Type="http://schemas.openxmlformats.org/officeDocument/2006/relationships/slideLayout" Target="../slideLayouts/slideLayout2.xml"/><Relationship Id="rId4" Type="http://schemas.openxmlformats.org/officeDocument/2006/relationships/hyperlink" Target="https://www.youtube.com/watch?time_continue=7&amp;v=ntuS4dLIf5s&amp;feature=emb_logo"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www.aktuonline.com/papers/mba-4-sem-entrepreneurship-development-rmb-402-2017-18.pdf" TargetMode="External"/><Relationship Id="rId2" Type="http://schemas.openxmlformats.org/officeDocument/2006/relationships/hyperlink" Target="https://aktu.ac.in/pdf/old-papers/dec-2013/PDF's/EOE071.pdf" TargetMode="External"/><Relationship Id="rId1" Type="http://schemas.openxmlformats.org/officeDocument/2006/relationships/slideLayout" Target="../slideLayouts/slideLayout2.xml"/><Relationship Id="rId5" Type="http://schemas.openxmlformats.org/officeDocument/2006/relationships/hyperlink" Target="https://abesit.in/library/download/MBA/Sem.3/2016-17/ENTREPRENEURSHIP-DEVELOPMENT-NMBA-031MBTM-031.pdf" TargetMode="External"/><Relationship Id="rId4" Type="http://schemas.openxmlformats.org/officeDocument/2006/relationships/hyperlink" Target="https://www.uptunotes.com/aktu-uptu-entrepreneurship-development-mam401a-previous-year-question-paper/" TargetMode="Externa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1F8B70D-3F64-4D35-E5AB-6FF8E0423FCD}"/>
              </a:ext>
            </a:extLst>
          </p:cNvPr>
          <p:cNvSpPr/>
          <p:nvPr/>
        </p:nvSpPr>
        <p:spPr>
          <a:xfrm>
            <a:off x="154858" y="903293"/>
            <a:ext cx="8517194" cy="830989"/>
          </a:xfrm>
          <a:prstGeom prst="rect">
            <a:avLst/>
          </a:prstGeom>
        </p:spPr>
        <p:txBody>
          <a:bodyPr wrap="square" lIns="91431" tIns="45716" rIns="91431" bIns="45716">
            <a:spAutoFit/>
          </a:bodyPr>
          <a:lstStyle/>
          <a:p>
            <a:pPr algn="ctr"/>
            <a:r>
              <a:rPr lang="en-IN" sz="24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2400" dirty="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4357684" y="4519147"/>
            <a:ext cx="816431" cy="369332"/>
          </a:xfrm>
          <a:prstGeom prst="rect">
            <a:avLst/>
          </a:prstGeom>
        </p:spPr>
        <p:txBody>
          <a:bodyPr wrap="square">
            <a:spAutoFit/>
          </a:bodyPr>
          <a:lstStyle/>
          <a:p>
            <a:r>
              <a:rPr lang="en-IN" b="1" dirty="0">
                <a:latin typeface="Times New Roman" panose="02020603050405020304" pitchFamily="18" charset="0"/>
                <a:cs typeface="Times New Roman" panose="02020603050405020304" pitchFamily="18" charset="0"/>
              </a:rPr>
              <a:t>By</a:t>
            </a:r>
            <a:r>
              <a:rPr lang="en-IN" b="1" dirty="0">
                <a:solidFill>
                  <a:srgbClr val="A2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8DD14CEA-0AFA-2840-50F8-7CD1850C6115}"/>
              </a:ext>
            </a:extLst>
          </p:cNvPr>
          <p:cNvSpPr/>
          <p:nvPr/>
        </p:nvSpPr>
        <p:spPr>
          <a:xfrm>
            <a:off x="2667107" y="4843074"/>
            <a:ext cx="3733586" cy="1877437"/>
          </a:xfrm>
          <a:prstGeom prst="rect">
            <a:avLst/>
          </a:prstGeom>
        </p:spPr>
        <p:txBody>
          <a:bodyPr wrap="square">
            <a:spAutoFit/>
          </a:bodyPr>
          <a:lstStyle/>
          <a:p>
            <a:pPr algn="ctr"/>
            <a:r>
              <a:rPr lang="en-IN" sz="4400" b="1" dirty="0">
                <a:solidFill>
                  <a:srgbClr val="383A3C"/>
                </a:solidFill>
                <a:latin typeface="Times New Roman" panose="02020603050405020304" pitchFamily="18" charset="0"/>
                <a:cs typeface="Times New Roman" panose="02020603050405020304" pitchFamily="18" charset="0"/>
              </a:rPr>
              <a:t>Alok Raj</a:t>
            </a:r>
          </a:p>
          <a:p>
            <a:pPr algn="ctr"/>
            <a:r>
              <a:rPr lang="en-IN" sz="24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2400" b="1" dirty="0">
                <a:solidFill>
                  <a:srgbClr val="383A3C"/>
                </a:solidFill>
                <a:latin typeface="Times New Roman" panose="02020603050405020304" pitchFamily="18" charset="0"/>
                <a:cs typeface="Times New Roman" panose="02020603050405020304" pitchFamily="18" charset="0"/>
              </a:rPr>
              <a:t>MBA Department</a:t>
            </a:r>
          </a:p>
          <a:p>
            <a:r>
              <a:rPr lang="en-IN" sz="2400" b="1" dirty="0">
                <a:solidFill>
                  <a:srgbClr val="383A3C"/>
                </a:solidFill>
                <a:latin typeface="Times New Roman" panose="02020603050405020304" pitchFamily="18" charset="0"/>
                <a:cs typeface="Times New Roman" panose="02020603050405020304" pitchFamily="18" charset="0"/>
              </a:rPr>
              <a:t>NIET, GREATER NOIDA </a:t>
            </a:r>
            <a:endParaRPr lang="en-US" sz="2400" dirty="0">
              <a:solidFill>
                <a:srgbClr val="383A3C"/>
              </a:solidFill>
              <a:latin typeface="Times New Roman" panose="02020603050405020304" pitchFamily="18" charset="0"/>
              <a:cs typeface="Times New Roman" panose="02020603050405020304" pitchFamily="18" charset="0"/>
            </a:endParaRP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99235" y="1755765"/>
            <a:ext cx="2945530" cy="1261055"/>
          </a:xfrm>
          <a:prstGeom prst="rect">
            <a:avLst/>
          </a:prstGeom>
        </p:spPr>
      </p:pic>
      <p:sp>
        <p:nvSpPr>
          <p:cNvPr id="11" name="Title 1">
            <a:extLst>
              <a:ext uri="{FF2B5EF4-FFF2-40B4-BE49-F238E27FC236}">
                <a16:creationId xmlns:a16="http://schemas.microsoft.com/office/drawing/2014/main" id="{DF68EA21-D1DB-A2CF-CFD9-DD5215232E37}"/>
              </a:ext>
            </a:extLst>
          </p:cNvPr>
          <p:cNvSpPr txBox="1">
            <a:spLocks/>
          </p:cNvSpPr>
          <p:nvPr/>
        </p:nvSpPr>
        <p:spPr>
          <a:xfrm>
            <a:off x="228600" y="3276600"/>
            <a:ext cx="8610600" cy="714380"/>
          </a:xfrm>
          <a:prstGeom prst="rect">
            <a:avLst/>
          </a:prstGeom>
        </p:spPr>
        <p:txBody>
          <a:bodyPr vert="horz" lIns="68580" tIns="34290" rIns="68580" bIns="3429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1800" b="1" dirty="0" err="1">
                <a:solidFill>
                  <a:srgbClr val="383A3C"/>
                </a:solidFill>
                <a:latin typeface="Times New Roman" panose="02020603050405020304" pitchFamily="18" charset="0"/>
                <a:cs typeface="Times New Roman" panose="02020603050405020304" pitchFamily="18" charset="0"/>
              </a:rPr>
              <a:t>B.Tech</a:t>
            </a:r>
            <a:r>
              <a:rPr lang="en-IN" sz="1800" b="1" dirty="0">
                <a:solidFill>
                  <a:srgbClr val="383A3C"/>
                </a:solidFill>
                <a:latin typeface="Times New Roman" panose="02020603050405020304" pitchFamily="18" charset="0"/>
                <a:cs typeface="Times New Roman" panose="02020603050405020304" pitchFamily="18" charset="0"/>
              </a:rPr>
              <a:t> 4th Year, VII Sem.</a:t>
            </a:r>
            <a:br>
              <a:rPr lang="en-IN" sz="2400" b="1" dirty="0">
                <a:solidFill>
                  <a:srgbClr val="383A3C"/>
                </a:solidFill>
                <a:latin typeface="Times New Roman" panose="02020603050405020304" pitchFamily="18" charset="0"/>
                <a:cs typeface="Times New Roman" panose="02020603050405020304" pitchFamily="18" charset="0"/>
              </a:rPr>
            </a:br>
            <a:r>
              <a:rPr lang="en-IN" sz="2400" b="1" dirty="0">
                <a:solidFill>
                  <a:srgbClr val="383A3C"/>
                </a:solidFill>
                <a:latin typeface="Times New Roman" panose="02020603050405020304" pitchFamily="18" charset="0"/>
                <a:cs typeface="Times New Roman" panose="02020603050405020304" pitchFamily="18" charset="0"/>
              </a:rPr>
              <a:t> Entrepreneurship Development &amp; Intellectual Property Rights (AOE0771)</a:t>
            </a:r>
          </a:p>
        </p:txBody>
      </p:sp>
      <p:sp>
        <p:nvSpPr>
          <p:cNvPr id="12" name="Rectangle 11">
            <a:extLst>
              <a:ext uri="{FF2B5EF4-FFF2-40B4-BE49-F238E27FC236}">
                <a16:creationId xmlns:a16="http://schemas.microsoft.com/office/drawing/2014/main" id="{03B7956A-085D-A825-38C7-6F3A6C7CF2AB}"/>
              </a:ext>
            </a:extLst>
          </p:cNvPr>
          <p:cNvSpPr/>
          <p:nvPr/>
        </p:nvSpPr>
        <p:spPr>
          <a:xfrm>
            <a:off x="1295400" y="3962400"/>
            <a:ext cx="6572296" cy="707886"/>
          </a:xfrm>
          <a:prstGeom prst="rect">
            <a:avLst/>
          </a:prstGeom>
        </p:spPr>
        <p:txBody>
          <a:bodyPr wrap="square">
            <a:spAutoFit/>
          </a:bodyPr>
          <a:lstStyle/>
          <a:p>
            <a:pPr algn="ctr"/>
            <a:r>
              <a:rPr lang="en-IN" sz="2000" b="1" dirty="0">
                <a:solidFill>
                  <a:srgbClr val="383A3C"/>
                </a:solidFill>
                <a:latin typeface="Times New Roman" panose="02020603050405020304" pitchFamily="18" charset="0"/>
                <a:cs typeface="Times New Roman" panose="02020603050405020304" pitchFamily="18" charset="0"/>
              </a:rPr>
              <a:t>Unit 2</a:t>
            </a:r>
            <a:br>
              <a:rPr lang="en-IN" sz="2000" b="1" dirty="0">
                <a:solidFill>
                  <a:srgbClr val="A20000"/>
                </a:solidFill>
                <a:latin typeface="Times New Roman" panose="02020603050405020304" pitchFamily="18" charset="0"/>
                <a:cs typeface="Times New Roman" panose="02020603050405020304" pitchFamily="18" charset="0"/>
              </a:rPr>
            </a:br>
            <a:endParaRPr lang="en-US" sz="20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553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209134-B0BD-4BE5-860E-78A66CA92FA0}" type="datetime1">
              <a:rPr lang="en-US" smtClean="0"/>
              <a:pPr/>
              <a:t>30-Aug-25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250579239"/>
              </p:ext>
            </p:extLst>
          </p:nvPr>
        </p:nvGraphicFramePr>
        <p:xfrm>
          <a:off x="228600" y="838201"/>
          <a:ext cx="8763000" cy="4981997"/>
        </p:xfrm>
        <a:graphic>
          <a:graphicData uri="http://schemas.openxmlformats.org/drawingml/2006/table">
            <a:tbl>
              <a:tblPr firstRow="1" bandRow="1">
                <a:tableStyleId>{5C22544A-7EE6-4342-B048-85BDC9FD1C3A}</a:tableStyleId>
              </a:tblPr>
              <a:tblGrid>
                <a:gridCol w="1622778">
                  <a:extLst>
                    <a:ext uri="{9D8B030D-6E8A-4147-A177-3AD203B41FA5}">
                      <a16:colId xmlns:a16="http://schemas.microsoft.com/office/drawing/2014/main" val="20000"/>
                    </a:ext>
                  </a:extLst>
                </a:gridCol>
                <a:gridCol w="7140222">
                  <a:extLst>
                    <a:ext uri="{9D8B030D-6E8A-4147-A177-3AD203B41FA5}">
                      <a16:colId xmlns:a16="http://schemas.microsoft.com/office/drawing/2014/main" val="20001"/>
                    </a:ext>
                  </a:extLst>
                </a:gridCol>
              </a:tblGrid>
              <a:tr h="394581">
                <a:tc>
                  <a:txBody>
                    <a:bodyPr/>
                    <a:lstStyle/>
                    <a:p>
                      <a:r>
                        <a:rPr lang="en-US" sz="2000" dirty="0"/>
                        <a:t>S. No.</a:t>
                      </a:r>
                    </a:p>
                  </a:txBody>
                  <a:tcPr/>
                </a:tc>
                <a:tc>
                  <a:txBody>
                    <a:bodyPr/>
                    <a:lstStyle/>
                    <a:p>
                      <a:pPr algn="l"/>
                      <a:r>
                        <a:rPr lang="en-US" sz="2000" dirty="0"/>
                        <a:t>Index</a:t>
                      </a:r>
                    </a:p>
                  </a:txBody>
                  <a:tcPr/>
                </a:tc>
                <a:extLst>
                  <a:ext uri="{0D108BD9-81ED-4DB2-BD59-A6C34878D82A}">
                    <a16:rowId xmlns:a16="http://schemas.microsoft.com/office/drawing/2014/main" val="10000"/>
                  </a:ext>
                </a:extLst>
              </a:tr>
              <a:tr h="769785">
                <a:tc>
                  <a:txBody>
                    <a:bodyPr/>
                    <a:lstStyle/>
                    <a:p>
                      <a:r>
                        <a:rPr lang="en-US" sz="2000" b="0" dirty="0">
                          <a:latin typeface="Times New Roman" pitchFamily="18" charset="0"/>
                          <a:cs typeface="Times New Roman" pitchFamily="18" charset="0"/>
                        </a:rPr>
                        <a:t>1.</a:t>
                      </a:r>
                    </a:p>
                  </a:txBody>
                  <a:tcPr/>
                </a:tc>
                <a:tc>
                  <a:txBody>
                    <a:bodyPr/>
                    <a:lstStyle/>
                    <a:p>
                      <a:pPr algn="l" fontAlgn="ctr"/>
                      <a:r>
                        <a:rPr lang="en-US" sz="2000" b="0" i="0" u="none" strike="noStrike" dirty="0">
                          <a:solidFill>
                            <a:srgbClr val="000000"/>
                          </a:solidFill>
                          <a:latin typeface="+mn-lt"/>
                        </a:rPr>
                        <a:t>Name of Subject with code, Course and Subject Teacher</a:t>
                      </a:r>
                    </a:p>
                  </a:txBody>
                  <a:tcPr marL="9525" marR="9525" marT="9525" marB="0" anchor="ctr"/>
                </a:tc>
                <a:extLst>
                  <a:ext uri="{0D108BD9-81ED-4DB2-BD59-A6C34878D82A}">
                    <a16:rowId xmlns:a16="http://schemas.microsoft.com/office/drawing/2014/main" val="10001"/>
                  </a:ext>
                </a:extLst>
              </a:tr>
              <a:tr h="560678">
                <a:tc>
                  <a:txBody>
                    <a:bodyPr/>
                    <a:lstStyle/>
                    <a:p>
                      <a:r>
                        <a:rPr lang="en-US" sz="2000" b="0" dirty="0">
                          <a:latin typeface="Times New Roman" pitchFamily="18" charset="0"/>
                          <a:cs typeface="Times New Roman" pitchFamily="18" charset="0"/>
                        </a:rPr>
                        <a:t>2.</a:t>
                      </a:r>
                    </a:p>
                  </a:txBody>
                  <a:tcPr/>
                </a:tc>
                <a:tc>
                  <a:txBody>
                    <a:bodyPr/>
                    <a:lstStyle/>
                    <a:p>
                      <a:r>
                        <a:rPr lang="en-US" sz="2000" b="0" dirty="0">
                          <a:latin typeface="+mn-lt"/>
                          <a:cs typeface="Times New Roman" pitchFamily="18" charset="0"/>
                        </a:rPr>
                        <a:t>Course Objective(s)</a:t>
                      </a:r>
                    </a:p>
                  </a:txBody>
                  <a:tcPr marL="9525" marR="9525" marT="9525" marB="0" anchor="ctr"/>
                </a:tc>
                <a:extLst>
                  <a:ext uri="{0D108BD9-81ED-4DB2-BD59-A6C34878D82A}">
                    <a16:rowId xmlns:a16="http://schemas.microsoft.com/office/drawing/2014/main" val="10002"/>
                  </a:ext>
                </a:extLst>
              </a:tr>
              <a:tr h="465042">
                <a:tc>
                  <a:txBody>
                    <a:bodyPr/>
                    <a:lstStyle/>
                    <a:p>
                      <a:r>
                        <a:rPr lang="en-US" sz="2000" b="0" dirty="0">
                          <a:latin typeface="Times New Roman" pitchFamily="18" charset="0"/>
                          <a:cs typeface="Times New Roman" pitchFamily="18" charset="0"/>
                        </a:rPr>
                        <a:t>3.</a:t>
                      </a:r>
                    </a:p>
                  </a:txBody>
                  <a:tcPr/>
                </a:tc>
                <a:tc>
                  <a:txBody>
                    <a:bodyPr/>
                    <a:lstStyle/>
                    <a:p>
                      <a:r>
                        <a:rPr lang="en-US" sz="2000" b="0" dirty="0">
                          <a:latin typeface="+mn-lt"/>
                          <a:cs typeface="Times New Roman" pitchFamily="18" charset="0"/>
                        </a:rPr>
                        <a:t>Course Outcome(s)</a:t>
                      </a:r>
                    </a:p>
                  </a:txBody>
                  <a:tcPr marL="9525" marR="9525" marT="9525" marB="0" anchor="ctr"/>
                </a:tc>
                <a:extLst>
                  <a:ext uri="{0D108BD9-81ED-4DB2-BD59-A6C34878D82A}">
                    <a16:rowId xmlns:a16="http://schemas.microsoft.com/office/drawing/2014/main" val="10003"/>
                  </a:ext>
                </a:extLst>
              </a:tr>
              <a:tr h="465042">
                <a:tc>
                  <a:txBody>
                    <a:bodyPr/>
                    <a:lstStyle/>
                    <a:p>
                      <a:r>
                        <a:rPr lang="en-US" sz="2000" b="0" dirty="0">
                          <a:latin typeface="Times New Roman" pitchFamily="18" charset="0"/>
                          <a:cs typeface="Times New Roman" pitchFamily="18" charset="0"/>
                        </a:rPr>
                        <a:t>4.</a:t>
                      </a:r>
                    </a:p>
                  </a:txBody>
                  <a:tcPr/>
                </a:tc>
                <a:tc>
                  <a:txBody>
                    <a:bodyPr/>
                    <a:lstStyle/>
                    <a:p>
                      <a:r>
                        <a:rPr lang="en-US" sz="2000" b="0" dirty="0">
                          <a:latin typeface="+mn-lt"/>
                          <a:cs typeface="Times New Roman" pitchFamily="18" charset="0"/>
                        </a:rPr>
                        <a:t>Program Outcomes (PSOs)</a:t>
                      </a:r>
                    </a:p>
                  </a:txBody>
                  <a:tcPr/>
                </a:tc>
                <a:extLst>
                  <a:ext uri="{0D108BD9-81ED-4DB2-BD59-A6C34878D82A}">
                    <a16:rowId xmlns:a16="http://schemas.microsoft.com/office/drawing/2014/main" val="10004"/>
                  </a:ext>
                </a:extLst>
              </a:tr>
              <a:tr h="465042">
                <a:tc>
                  <a:txBody>
                    <a:bodyPr/>
                    <a:lstStyle/>
                    <a:p>
                      <a:r>
                        <a:rPr lang="en-US" sz="2000" b="0" dirty="0">
                          <a:latin typeface="Times New Roman" pitchFamily="18" charset="0"/>
                          <a:cs typeface="Times New Roman" pitchFamily="18" charset="0"/>
                        </a:rPr>
                        <a:t>5.</a:t>
                      </a:r>
                    </a:p>
                  </a:txBody>
                  <a:tcPr/>
                </a:tc>
                <a:tc>
                  <a:txBody>
                    <a:bodyPr/>
                    <a:lstStyle/>
                    <a:p>
                      <a:r>
                        <a:rPr lang="en-US" sz="2000" dirty="0">
                          <a:latin typeface="+mn-lt"/>
                        </a:rPr>
                        <a:t>Cos and POs Mapping</a:t>
                      </a:r>
                    </a:p>
                  </a:txBody>
                  <a:tcPr/>
                </a:tc>
                <a:extLst>
                  <a:ext uri="{0D108BD9-81ED-4DB2-BD59-A6C34878D82A}">
                    <a16:rowId xmlns:a16="http://schemas.microsoft.com/office/drawing/2014/main" val="10005"/>
                  </a:ext>
                </a:extLst>
              </a:tr>
              <a:tr h="465042">
                <a:tc>
                  <a:txBody>
                    <a:bodyPr/>
                    <a:lstStyle/>
                    <a:p>
                      <a:r>
                        <a:rPr lang="en-US" sz="2000" b="0" dirty="0">
                          <a:latin typeface="Times New Roman" pitchFamily="18" charset="0"/>
                          <a:cs typeface="Times New Roman" pitchFamily="18" charset="0"/>
                        </a:rPr>
                        <a:t>6.</a:t>
                      </a:r>
                    </a:p>
                  </a:txBody>
                  <a:tcPr/>
                </a:tc>
                <a:tc>
                  <a:txBody>
                    <a:bodyPr/>
                    <a:lstStyle/>
                    <a:p>
                      <a:r>
                        <a:rPr lang="en-US" sz="2000" b="0" dirty="0">
                          <a:latin typeface="+mn-lt"/>
                          <a:cs typeface="Times New Roman" pitchFamily="18" charset="0"/>
                        </a:rPr>
                        <a:t>Lecture related to topic</a:t>
                      </a:r>
                    </a:p>
                  </a:txBody>
                  <a:tcPr/>
                </a:tc>
                <a:extLst>
                  <a:ext uri="{0D108BD9-81ED-4DB2-BD59-A6C34878D82A}">
                    <a16:rowId xmlns:a16="http://schemas.microsoft.com/office/drawing/2014/main" val="10006"/>
                  </a:ext>
                </a:extLst>
              </a:tr>
              <a:tr h="465042">
                <a:tc>
                  <a:txBody>
                    <a:bodyPr/>
                    <a:lstStyle/>
                    <a:p>
                      <a:r>
                        <a:rPr lang="en-US" sz="2000" b="0" dirty="0">
                          <a:latin typeface="Times New Roman" pitchFamily="18" charset="0"/>
                          <a:cs typeface="Times New Roman"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dk1"/>
                          </a:solidFill>
                          <a:effectLst/>
                          <a:uLnTx/>
                          <a:uFillTx/>
                          <a:latin typeface="+mn-lt"/>
                          <a:cs typeface="Times New Roman" pitchFamily="18" charset="0"/>
                        </a:rPr>
                        <a:t>Daily Quiz</a:t>
                      </a:r>
                    </a:p>
                  </a:txBody>
                  <a:tcPr/>
                </a:tc>
                <a:extLst>
                  <a:ext uri="{0D108BD9-81ED-4DB2-BD59-A6C34878D82A}">
                    <a16:rowId xmlns:a16="http://schemas.microsoft.com/office/drawing/2014/main" val="10007"/>
                  </a:ext>
                </a:extLst>
              </a:tr>
              <a:tr h="465042">
                <a:tc>
                  <a:txBody>
                    <a:bodyPr/>
                    <a:lstStyle/>
                    <a:p>
                      <a:r>
                        <a:rPr lang="en-US" sz="2000" b="0" dirty="0">
                          <a:latin typeface="Times New Roman" pitchFamily="18" charset="0"/>
                          <a:cs typeface="Times New Roman" pitchFamily="18" charset="0"/>
                        </a:rPr>
                        <a:t>8.</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mn-lt"/>
                          <a:cs typeface="Times New Roman" pitchFamily="18" charset="0"/>
                        </a:rPr>
                        <a:t>Weekly Assignment</a:t>
                      </a:r>
                    </a:p>
                  </a:txBody>
                  <a:tcPr/>
                </a:tc>
                <a:extLst>
                  <a:ext uri="{0D108BD9-81ED-4DB2-BD59-A6C34878D82A}">
                    <a16:rowId xmlns:a16="http://schemas.microsoft.com/office/drawing/2014/main" val="10008"/>
                  </a:ext>
                </a:extLst>
              </a:tr>
              <a:tr h="465042">
                <a:tc>
                  <a:txBody>
                    <a:bodyPr/>
                    <a:lstStyle/>
                    <a:p>
                      <a:r>
                        <a:rPr lang="en-US" sz="2000" b="0" dirty="0">
                          <a:latin typeface="Times New Roman" pitchFamily="18" charset="0"/>
                          <a:cs typeface="Times New Roman" pitchFamily="18" charset="0"/>
                        </a:rPr>
                        <a:t>9.</a:t>
                      </a:r>
                    </a:p>
                  </a:txBody>
                  <a:tcPr/>
                </a:tc>
                <a:tc>
                  <a:txBody>
                    <a:bodyPr/>
                    <a:lstStyle/>
                    <a:p>
                      <a:r>
                        <a:rPr lang="en-US" sz="2000" b="0" dirty="0">
                          <a:latin typeface="+mn-lt"/>
                          <a:cs typeface="Times New Roman" pitchFamily="18" charset="0"/>
                        </a:rPr>
                        <a:t>Topic Links</a:t>
                      </a:r>
                    </a:p>
                  </a:txBody>
                  <a:tcPr/>
                </a:tc>
                <a:extLst>
                  <a:ext uri="{0D108BD9-81ED-4DB2-BD59-A6C34878D82A}">
                    <a16:rowId xmlns:a16="http://schemas.microsoft.com/office/drawing/2014/main" val="10009"/>
                  </a:ext>
                </a:extLst>
              </a:tr>
            </a:tbl>
          </a:graphicData>
        </a:graphic>
      </p:graphicFrame>
      <p:sp>
        <p:nvSpPr>
          <p:cNvPr id="2" name="Footer Placeholder 12">
            <a:extLst>
              <a:ext uri="{FF2B5EF4-FFF2-40B4-BE49-F238E27FC236}">
                <a16:creationId xmlns:a16="http://schemas.microsoft.com/office/drawing/2014/main" id="{4E0F1657-7047-D70D-1E1E-3E359D7F720C}"/>
              </a:ext>
            </a:extLst>
          </p:cNvPr>
          <p:cNvSpPr txBox="1">
            <a:spLocks/>
          </p:cNvSpPr>
          <p:nvPr/>
        </p:nvSpPr>
        <p:spPr>
          <a:xfrm>
            <a:off x="2362200" y="6248402"/>
            <a:ext cx="5029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err="1"/>
              <a:t>Mohd</a:t>
            </a:r>
            <a:r>
              <a:rPr lang="en-US" dirty="0"/>
              <a:t> Zaid                    AOE0771              Unit 2</a:t>
            </a:r>
          </a:p>
        </p:txBody>
      </p:sp>
      <p:sp>
        <p:nvSpPr>
          <p:cNvPr id="8" name="Title 1"/>
          <p:cNvSpPr txBox="1">
            <a:spLocks/>
          </p:cNvSpPr>
          <p:nvPr/>
        </p:nvSpPr>
        <p:spPr>
          <a:xfrm>
            <a:off x="1475656" y="44624"/>
            <a:ext cx="7668344" cy="73833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latin typeface="Times New Roman" panose="02020603050405020304" pitchFamily="18" charset="0"/>
                <a:cs typeface="Times New Roman" panose="02020603050405020304" pitchFamily="18" charset="0"/>
              </a:rPr>
              <a:t>Index/Content</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extLst>
              <p:ext uri="{D42A27DB-BD31-4B8C-83A1-F6EECF244321}">
                <p14:modId xmlns:p14="http://schemas.microsoft.com/office/powerpoint/2010/main" val="1999364033"/>
              </p:ext>
            </p:extLst>
          </p:nvPr>
        </p:nvGraphicFramePr>
        <p:xfrm>
          <a:off x="179512" y="980727"/>
          <a:ext cx="8735888" cy="4571457"/>
        </p:xfrm>
        <a:graphic>
          <a:graphicData uri="http://schemas.openxmlformats.org/drawingml/2006/table">
            <a:tbl>
              <a:tblPr firstRow="1" bandRow="1">
                <a:tableStyleId>{5C22544A-7EE6-4342-B048-85BDC9FD1C3A}</a:tableStyleId>
              </a:tblPr>
              <a:tblGrid>
                <a:gridCol w="1617756">
                  <a:extLst>
                    <a:ext uri="{9D8B030D-6E8A-4147-A177-3AD203B41FA5}">
                      <a16:colId xmlns:a16="http://schemas.microsoft.com/office/drawing/2014/main" val="20000"/>
                    </a:ext>
                  </a:extLst>
                </a:gridCol>
                <a:gridCol w="7118132">
                  <a:extLst>
                    <a:ext uri="{9D8B030D-6E8A-4147-A177-3AD203B41FA5}">
                      <a16:colId xmlns:a16="http://schemas.microsoft.com/office/drawing/2014/main" val="20001"/>
                    </a:ext>
                  </a:extLst>
                </a:gridCol>
              </a:tblGrid>
              <a:tr h="393624">
                <a:tc>
                  <a:txBody>
                    <a:bodyPr/>
                    <a:lstStyle/>
                    <a:p>
                      <a:r>
                        <a:rPr lang="en-US" sz="2000" dirty="0">
                          <a:latin typeface="+mn-lt"/>
                        </a:rPr>
                        <a:t>S. No.</a:t>
                      </a:r>
                    </a:p>
                  </a:txBody>
                  <a:tcPr/>
                </a:tc>
                <a:tc>
                  <a:txBody>
                    <a:bodyPr/>
                    <a:lstStyle/>
                    <a:p>
                      <a:pPr algn="l"/>
                      <a:r>
                        <a:rPr lang="en-US" sz="2000" dirty="0">
                          <a:latin typeface="+mn-lt"/>
                        </a:rPr>
                        <a:t>Index</a:t>
                      </a:r>
                    </a:p>
                  </a:txBody>
                  <a:tcPr/>
                </a:tc>
                <a:extLst>
                  <a:ext uri="{0D108BD9-81ED-4DB2-BD59-A6C34878D82A}">
                    <a16:rowId xmlns:a16="http://schemas.microsoft.com/office/drawing/2014/main" val="10000"/>
                  </a:ext>
                </a:extLst>
              </a:tr>
              <a:tr h="463913">
                <a:tc>
                  <a:txBody>
                    <a:bodyPr/>
                    <a:lstStyle/>
                    <a:p>
                      <a:r>
                        <a:rPr lang="en-US" sz="2000" b="0" dirty="0">
                          <a:latin typeface="+mn-lt"/>
                          <a:cs typeface="Times New Roman" pitchFamily="18" charset="0"/>
                        </a:rPr>
                        <a:t>10.</a:t>
                      </a:r>
                    </a:p>
                  </a:txBody>
                  <a:tcPr/>
                </a:tc>
                <a:tc>
                  <a:txBody>
                    <a:bodyPr/>
                    <a:lstStyle/>
                    <a:p>
                      <a:r>
                        <a:rPr lang="en-US" sz="2000" b="0" dirty="0">
                          <a:latin typeface="+mn-lt"/>
                          <a:cs typeface="Times New Roman" pitchFamily="18" charset="0"/>
                        </a:rPr>
                        <a:t>MCQs</a:t>
                      </a:r>
                    </a:p>
                  </a:txBody>
                  <a:tcPr/>
                </a:tc>
                <a:extLst>
                  <a:ext uri="{0D108BD9-81ED-4DB2-BD59-A6C34878D82A}">
                    <a16:rowId xmlns:a16="http://schemas.microsoft.com/office/drawing/2014/main" val="10001"/>
                  </a:ext>
                </a:extLst>
              </a:tr>
              <a:tr h="463913">
                <a:tc>
                  <a:txBody>
                    <a:bodyPr/>
                    <a:lstStyle/>
                    <a:p>
                      <a:r>
                        <a:rPr lang="en-US" sz="2000" b="0" dirty="0">
                          <a:latin typeface="+mn-lt"/>
                          <a:cs typeface="Times New Roman" pitchFamily="18" charset="0"/>
                        </a:rPr>
                        <a:t>11.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0" dirty="0">
                          <a:latin typeface="+mn-lt"/>
                          <a:cs typeface="Times New Roman" pitchFamily="18" charset="0"/>
                        </a:rPr>
                        <a:t>Glossary Questions</a:t>
                      </a:r>
                    </a:p>
                  </a:txBody>
                  <a:tcPr/>
                </a:tc>
                <a:extLst>
                  <a:ext uri="{0D108BD9-81ED-4DB2-BD59-A6C34878D82A}">
                    <a16:rowId xmlns:a16="http://schemas.microsoft.com/office/drawing/2014/main" val="10002"/>
                  </a:ext>
                </a:extLst>
              </a:tr>
              <a:tr h="463913">
                <a:tc>
                  <a:txBody>
                    <a:bodyPr/>
                    <a:lstStyle/>
                    <a:p>
                      <a:r>
                        <a:rPr lang="en-US" sz="2000" b="0" dirty="0">
                          <a:latin typeface="+mn-lt"/>
                          <a:cs typeface="Times New Roman" pitchFamily="18" charset="0"/>
                        </a:rPr>
                        <a:t>12.</a:t>
                      </a:r>
                    </a:p>
                  </a:txBody>
                  <a:tcPr/>
                </a:tc>
                <a:tc>
                  <a:txBody>
                    <a:bodyPr/>
                    <a:lstStyle/>
                    <a:p>
                      <a:r>
                        <a:rPr lang="en-US" sz="1800" b="0" dirty="0">
                          <a:latin typeface="+mn-lt"/>
                          <a:cs typeface="Times New Roman" pitchFamily="18" charset="0"/>
                        </a:rPr>
                        <a:t>Recap of unit</a:t>
                      </a:r>
                    </a:p>
                  </a:txBody>
                  <a:tcPr/>
                </a:tc>
                <a:extLst>
                  <a:ext uri="{0D108BD9-81ED-4DB2-BD59-A6C34878D82A}">
                    <a16:rowId xmlns:a16="http://schemas.microsoft.com/office/drawing/2014/main" val="10003"/>
                  </a:ext>
                </a:extLst>
              </a:tr>
              <a:tr h="463913">
                <a:tc>
                  <a:txBody>
                    <a:bodyPr/>
                    <a:lstStyle/>
                    <a:p>
                      <a:endParaRPr lang="en-US" sz="2000" b="0" dirty="0">
                        <a:latin typeface="+mn-lt"/>
                        <a:cs typeface="Times New Roman" pitchFamily="18" charset="0"/>
                      </a:endParaRPr>
                    </a:p>
                  </a:txBody>
                  <a:tcPr/>
                </a:tc>
                <a:tc>
                  <a:txBody>
                    <a:bodyPr/>
                    <a:lstStyle/>
                    <a:p>
                      <a:endParaRPr lang="en-IN" dirty="0"/>
                    </a:p>
                  </a:txBody>
                  <a:tcPr/>
                </a:tc>
                <a:extLst>
                  <a:ext uri="{0D108BD9-81ED-4DB2-BD59-A6C34878D82A}">
                    <a16:rowId xmlns:a16="http://schemas.microsoft.com/office/drawing/2014/main" val="10004"/>
                  </a:ext>
                </a:extLst>
              </a:tr>
              <a:tr h="463913">
                <a:tc>
                  <a:txBody>
                    <a:bodyPr/>
                    <a:lstStyle/>
                    <a:p>
                      <a:endParaRPr lang="en-US" sz="2000" b="0" dirty="0">
                        <a:latin typeface="+mn-lt"/>
                        <a:cs typeface="Times New Roman" pitchFamily="18" charset="0"/>
                      </a:endParaRPr>
                    </a:p>
                  </a:txBody>
                  <a:tcPr/>
                </a:tc>
                <a:tc>
                  <a:txBody>
                    <a:bodyPr/>
                    <a:lstStyle/>
                    <a:p>
                      <a:endParaRPr lang="en-IN"/>
                    </a:p>
                  </a:txBody>
                  <a:tcPr/>
                </a:tc>
                <a:extLst>
                  <a:ext uri="{0D108BD9-81ED-4DB2-BD59-A6C34878D82A}">
                    <a16:rowId xmlns:a16="http://schemas.microsoft.com/office/drawing/2014/main" val="10005"/>
                  </a:ext>
                </a:extLst>
              </a:tr>
              <a:tr h="463913">
                <a:tc>
                  <a:txBody>
                    <a:bodyPr/>
                    <a:lstStyle/>
                    <a:p>
                      <a:endParaRPr lang="en-US" sz="2000" b="0" dirty="0">
                        <a:latin typeface="+mn-lt"/>
                        <a:cs typeface="Times New Roman" pitchFamily="18" charset="0"/>
                      </a:endParaRPr>
                    </a:p>
                  </a:txBody>
                  <a:tcPr/>
                </a:tc>
                <a:tc>
                  <a:txBody>
                    <a:bodyPr/>
                    <a:lstStyle/>
                    <a:p>
                      <a:endParaRPr lang="en-IN" dirty="0"/>
                    </a:p>
                  </a:txBody>
                  <a:tcPr/>
                </a:tc>
                <a:extLst>
                  <a:ext uri="{0D108BD9-81ED-4DB2-BD59-A6C34878D82A}">
                    <a16:rowId xmlns:a16="http://schemas.microsoft.com/office/drawing/2014/main" val="10006"/>
                  </a:ext>
                </a:extLst>
              </a:tr>
              <a:tr h="463913">
                <a:tc>
                  <a:txBody>
                    <a:bodyPr/>
                    <a:lstStyle/>
                    <a:p>
                      <a:endParaRPr lang="en-US" sz="2000" b="0" dirty="0">
                        <a:latin typeface="+mn-lt"/>
                        <a:cs typeface="Times New Roman" pitchFamily="18" charset="0"/>
                      </a:endParaRPr>
                    </a:p>
                  </a:txBody>
                  <a:tcPr/>
                </a:tc>
                <a:tc>
                  <a:txBody>
                    <a:bodyPr/>
                    <a:lstStyle/>
                    <a:p>
                      <a:endParaRPr lang="en-US" sz="2000" b="0" dirty="0">
                        <a:latin typeface="+mn-lt"/>
                        <a:cs typeface="Times New Roman" pitchFamily="18" charset="0"/>
                      </a:endParaRPr>
                    </a:p>
                  </a:txBody>
                  <a:tcPr/>
                </a:tc>
                <a:extLst>
                  <a:ext uri="{0D108BD9-81ED-4DB2-BD59-A6C34878D82A}">
                    <a16:rowId xmlns:a16="http://schemas.microsoft.com/office/drawing/2014/main" val="10007"/>
                  </a:ext>
                </a:extLst>
              </a:tr>
              <a:tr h="463913">
                <a:tc>
                  <a:txBody>
                    <a:bodyPr/>
                    <a:lstStyle/>
                    <a:p>
                      <a:endParaRPr lang="en-US" sz="2000" b="0" dirty="0">
                        <a:latin typeface="+mn-lt"/>
                        <a:cs typeface="Times New Roman" pitchFamily="18" charset="0"/>
                      </a:endParaRPr>
                    </a:p>
                  </a:txBody>
                  <a:tcPr/>
                </a:tc>
                <a:tc>
                  <a:txBody>
                    <a:bodyPr/>
                    <a:lstStyle/>
                    <a:p>
                      <a:endParaRPr lang="en-US" sz="2000" b="0" dirty="0">
                        <a:latin typeface="+mn-lt"/>
                        <a:cs typeface="Times New Roman" pitchFamily="18" charset="0"/>
                      </a:endParaRPr>
                    </a:p>
                  </a:txBody>
                  <a:tcPr/>
                </a:tc>
                <a:extLst>
                  <a:ext uri="{0D108BD9-81ED-4DB2-BD59-A6C34878D82A}">
                    <a16:rowId xmlns:a16="http://schemas.microsoft.com/office/drawing/2014/main" val="10008"/>
                  </a:ext>
                </a:extLst>
              </a:tr>
              <a:tr h="463913">
                <a:tc>
                  <a:txBody>
                    <a:bodyPr/>
                    <a:lstStyle/>
                    <a:p>
                      <a:endParaRPr lang="en-US" sz="2000" b="0" dirty="0">
                        <a:latin typeface="+mn-lt"/>
                        <a:cs typeface="Times New Roman" pitchFamily="18" charset="0"/>
                      </a:endParaRPr>
                    </a:p>
                  </a:txBody>
                  <a:tcPr/>
                </a:tc>
                <a:tc>
                  <a:txBody>
                    <a:bodyPr/>
                    <a:lstStyle/>
                    <a:p>
                      <a:endParaRPr lang="en-US" sz="2000" b="0" dirty="0">
                        <a:latin typeface="+mn-lt"/>
                        <a:cs typeface="Times New Roman" pitchFamily="18" charset="0"/>
                      </a:endParaRPr>
                    </a:p>
                  </a:txBody>
                  <a:tcPr/>
                </a:tc>
                <a:extLst>
                  <a:ext uri="{0D108BD9-81ED-4DB2-BD59-A6C34878D82A}">
                    <a16:rowId xmlns:a16="http://schemas.microsoft.com/office/drawing/2014/main" val="10009"/>
                  </a:ext>
                </a:extLst>
              </a:tr>
            </a:tbl>
          </a:graphicData>
        </a:graphic>
      </p:graphicFrame>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10" name="Date Placeholder 9"/>
          <p:cNvSpPr>
            <a:spLocks noGrp="1"/>
          </p:cNvSpPr>
          <p:nvPr>
            <p:ph type="dt" sz="half" idx="10"/>
          </p:nvPr>
        </p:nvSpPr>
        <p:spPr/>
        <p:txBody>
          <a:bodyPr/>
          <a:lstStyle/>
          <a:p>
            <a:fld id="{17EA1007-FEE6-471D-887A-FB34AC0C354D}" type="datetime1">
              <a:rPr lang="en-US" smtClean="0"/>
              <a:pPr/>
              <a:t>30-Aug-25</a:t>
            </a:fld>
            <a:endParaRPr lang="en-US" dirty="0"/>
          </a:p>
        </p:txBody>
      </p:sp>
      <p:sp>
        <p:nvSpPr>
          <p:cNvPr id="2" name="Footer Placeholder 12">
            <a:extLst>
              <a:ext uri="{FF2B5EF4-FFF2-40B4-BE49-F238E27FC236}">
                <a16:creationId xmlns:a16="http://schemas.microsoft.com/office/drawing/2014/main" id="{A2E23681-19E1-34C7-D39E-EAB3D3194767}"/>
              </a:ext>
            </a:extLst>
          </p:cNvPr>
          <p:cNvSpPr txBox="1">
            <a:spLocks/>
          </p:cNvSpPr>
          <p:nvPr/>
        </p:nvSpPr>
        <p:spPr>
          <a:xfrm>
            <a:off x="2362200" y="6248402"/>
            <a:ext cx="50292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err="1"/>
              <a:t>Mohd</a:t>
            </a:r>
            <a:r>
              <a:rPr lang="en-US" dirty="0"/>
              <a:t> Zaid               AOE0771              Unit 2</a:t>
            </a:r>
          </a:p>
        </p:txBody>
      </p:sp>
      <p:sp>
        <p:nvSpPr>
          <p:cNvPr id="8" name="Title 1"/>
          <p:cNvSpPr txBox="1">
            <a:spLocks/>
          </p:cNvSpPr>
          <p:nvPr/>
        </p:nvSpPr>
        <p:spPr>
          <a:xfrm>
            <a:off x="1547664" y="-50798"/>
            <a:ext cx="7596336" cy="83375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latin typeface="Times New Roman" panose="02020603050405020304" pitchFamily="18" charset="0"/>
                <a:cs typeface="Times New Roman" panose="02020603050405020304" pitchFamily="18" charset="0"/>
              </a:rPr>
              <a:t>Index/Content</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792524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75B3EA-97F9-89E8-50FF-A2B2122FDE60}"/>
              </a:ext>
            </a:extLst>
          </p:cNvPr>
          <p:cNvSpPr>
            <a:spLocks noGrp="1"/>
          </p:cNvSpPr>
          <p:nvPr>
            <p:ph idx="1"/>
          </p:nvPr>
        </p:nvSpPr>
        <p:spPr>
          <a:xfrm>
            <a:off x="342900" y="1720031"/>
            <a:ext cx="8528255" cy="3871452"/>
          </a:xfrm>
        </p:spPr>
        <p:txBody>
          <a:bodyPr>
            <a:normAutofit/>
          </a:bodyPr>
          <a:lstStyle/>
          <a:p>
            <a:pPr lvl="1"/>
            <a:endParaRPr lang="en-US" dirty="0">
              <a:solidFill>
                <a:srgbClr val="383A3C"/>
              </a:solidFill>
              <a:latin typeface="Times New Roman" panose="02020603050405020304" pitchFamily="18" charset="0"/>
              <a:cs typeface="Times New Roman" panose="02020603050405020304" pitchFamily="18" charset="0"/>
            </a:endParaRPr>
          </a:p>
          <a:p>
            <a:pPr lvl="1"/>
            <a:endParaRPr lang="en-IN" dirty="0">
              <a:solidFill>
                <a:srgbClr val="383A3C"/>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960D2596-AAD6-2CD2-F258-1C420EA84F79}"/>
              </a:ext>
            </a:extLst>
          </p:cNvPr>
          <p:cNvSpPr txBox="1">
            <a:spLocks/>
          </p:cNvSpPr>
          <p:nvPr/>
        </p:nvSpPr>
        <p:spPr>
          <a:xfrm>
            <a:off x="1589313" y="1083252"/>
            <a:ext cx="7565923" cy="492983"/>
          </a:xfrm>
          <a:prstGeom prst="rect">
            <a:avLst/>
          </a:prstGeom>
          <a:noFill/>
          <a:ln w="38100">
            <a:noFill/>
          </a:ln>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2700" b="1" dirty="0">
                <a:solidFill>
                  <a:srgbClr val="D31E26"/>
                </a:solidFill>
                <a:latin typeface="Times New Roman" panose="02020603050405020304" pitchFamily="18" charset="0"/>
                <a:cs typeface="Times New Roman" panose="02020603050405020304" pitchFamily="18" charset="0"/>
              </a:rPr>
              <a:t>                Faculty Introduction</a:t>
            </a:r>
          </a:p>
          <a:p>
            <a:endParaRPr lang="en-IN" sz="2700" b="1" dirty="0">
              <a:solidFill>
                <a:srgbClr val="D31E26"/>
              </a:solidFill>
              <a:latin typeface="Times New Roman" panose="02020603050405020304" pitchFamily="18" charset="0"/>
              <a:cs typeface="Times New Roman" panose="02020603050405020304" pitchFamily="18" charset="0"/>
            </a:endParaRPr>
          </a:p>
        </p:txBody>
      </p:sp>
      <p:sp>
        <p:nvSpPr>
          <p:cNvPr id="14" name="Footer Placeholder 4">
            <a:extLst>
              <a:ext uri="{FF2B5EF4-FFF2-40B4-BE49-F238E27FC236}">
                <a16:creationId xmlns:a16="http://schemas.microsoft.com/office/drawing/2014/main" id="{133C1259-FFCE-CD79-A828-D871692F83BA}"/>
              </a:ext>
            </a:extLst>
          </p:cNvPr>
          <p:cNvSpPr txBox="1">
            <a:spLocks/>
          </p:cNvSpPr>
          <p:nvPr/>
        </p:nvSpPr>
        <p:spPr>
          <a:xfrm>
            <a:off x="0" y="5644830"/>
            <a:ext cx="9144000" cy="289552"/>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350" dirty="0">
                <a:solidFill>
                  <a:srgbClr val="FAC6C7"/>
                </a:solidFill>
                <a:latin typeface="Times New Roman" panose="02020603050405020304" pitchFamily="18" charset="0"/>
                <a:cs typeface="Times New Roman" panose="02020603050405020304" pitchFamily="18" charset="0"/>
              </a:rPr>
              <a:t>. </a:t>
            </a:r>
            <a:r>
              <a:rPr lang="en-US" sz="1350" dirty="0">
                <a:latin typeface="Times New Roman" panose="02020603050405020304" pitchFamily="18" charset="0"/>
                <a:cs typeface="Times New Roman" panose="02020603050405020304" pitchFamily="18" charset="0"/>
              </a:rPr>
              <a:t>	  		</a:t>
            </a:r>
            <a:endParaRPr lang="en-IN" sz="1350" dirty="0">
              <a:latin typeface="Times New Roman" panose="02020603050405020304" pitchFamily="18" charset="0"/>
              <a:cs typeface="Times New Roman" panose="02020603050405020304" pitchFamily="18" charset="0"/>
            </a:endParaRPr>
          </a:p>
        </p:txBody>
      </p:sp>
      <p:sp>
        <p:nvSpPr>
          <p:cNvPr id="12" name="object 6"/>
          <p:cNvSpPr txBox="1"/>
          <p:nvPr/>
        </p:nvSpPr>
        <p:spPr>
          <a:xfrm>
            <a:off x="303382" y="1953143"/>
            <a:ext cx="4537472" cy="1223412"/>
          </a:xfrm>
          <a:prstGeom prst="rect">
            <a:avLst/>
          </a:prstGeom>
        </p:spPr>
        <p:txBody>
          <a:bodyPr wrap="square" lIns="0" tIns="0" rIns="0" bIns="0">
            <a:spAutoFit/>
          </a:bodyPr>
          <a:lstStyle/>
          <a:p>
            <a:pPr marL="239078" indent="-229553">
              <a:buFont typeface="Arial"/>
              <a:buChar char="•"/>
              <a:tabLst>
                <a:tab pos="239554" algn="l"/>
                <a:tab pos="1627823" algn="l"/>
              </a:tabLst>
              <a:defRPr/>
            </a:pPr>
            <a:r>
              <a:rPr lang="en-US" sz="1650" b="1" spc="-30" dirty="0">
                <a:solidFill>
                  <a:prstClr val="black"/>
                </a:solidFill>
                <a:latin typeface="Times New Roman"/>
                <a:cs typeface="Times New Roman"/>
              </a:rPr>
              <a:t>F</a:t>
            </a:r>
            <a:r>
              <a:rPr lang="en-US" sz="1650" b="1" spc="-26" dirty="0">
                <a:solidFill>
                  <a:prstClr val="black"/>
                </a:solidFill>
                <a:latin typeface="Times New Roman"/>
                <a:cs typeface="Times New Roman"/>
              </a:rPr>
              <a:t>a</a:t>
            </a:r>
            <a:r>
              <a:rPr lang="en-US" sz="1650" b="1" spc="-30" dirty="0">
                <a:solidFill>
                  <a:prstClr val="black"/>
                </a:solidFill>
                <a:latin typeface="Times New Roman"/>
                <a:cs typeface="Times New Roman"/>
              </a:rPr>
              <a:t>cu</a:t>
            </a:r>
            <a:r>
              <a:rPr lang="en-US" sz="1650" b="1" spc="-26" dirty="0">
                <a:solidFill>
                  <a:prstClr val="black"/>
                </a:solidFill>
                <a:latin typeface="Times New Roman"/>
                <a:cs typeface="Times New Roman"/>
              </a:rPr>
              <a:t>l</a:t>
            </a:r>
            <a:r>
              <a:rPr lang="en-US" sz="1650" b="1" spc="-38" dirty="0">
                <a:solidFill>
                  <a:prstClr val="black"/>
                </a:solidFill>
                <a:latin typeface="Times New Roman"/>
                <a:cs typeface="Times New Roman"/>
              </a:rPr>
              <a:t>t</a:t>
            </a:r>
            <a:r>
              <a:rPr lang="en-US" sz="1650" b="1" spc="-11" dirty="0">
                <a:solidFill>
                  <a:prstClr val="black"/>
                </a:solidFill>
                <a:latin typeface="Times New Roman"/>
                <a:cs typeface="Times New Roman"/>
              </a:rPr>
              <a:t>y</a:t>
            </a:r>
            <a:r>
              <a:rPr lang="en-US" sz="1650" b="1" spc="-34" dirty="0">
                <a:solidFill>
                  <a:prstClr val="black"/>
                </a:solidFill>
                <a:latin typeface="Times New Roman"/>
                <a:cs typeface="Times New Roman"/>
              </a:rPr>
              <a:t> </a:t>
            </a:r>
            <a:r>
              <a:rPr lang="en-US" sz="1650" b="1" spc="-38" dirty="0">
                <a:solidFill>
                  <a:prstClr val="black"/>
                </a:solidFill>
                <a:latin typeface="Times New Roman"/>
                <a:cs typeface="Times New Roman"/>
              </a:rPr>
              <a:t>Nam</a:t>
            </a:r>
            <a:r>
              <a:rPr lang="en-US" sz="1650" b="1" spc="-30" dirty="0">
                <a:solidFill>
                  <a:prstClr val="black"/>
                </a:solidFill>
                <a:latin typeface="Times New Roman"/>
                <a:cs typeface="Times New Roman"/>
              </a:rPr>
              <a:t>e</a:t>
            </a:r>
            <a:r>
              <a:rPr lang="en-US" sz="1650" b="1" spc="-8" dirty="0">
                <a:solidFill>
                  <a:prstClr val="black"/>
                </a:solidFill>
                <a:latin typeface="Times New Roman"/>
                <a:cs typeface="Times New Roman"/>
              </a:rPr>
              <a:t>:</a:t>
            </a:r>
            <a:r>
              <a:rPr lang="en-US" sz="1650" b="1" dirty="0">
                <a:solidFill>
                  <a:prstClr val="black"/>
                </a:solidFill>
                <a:latin typeface="Times New Roman"/>
                <a:cs typeface="Times New Roman"/>
              </a:rPr>
              <a:t>	</a:t>
            </a:r>
            <a:r>
              <a:rPr lang="en-US" sz="1650" b="1" spc="-38" dirty="0">
                <a:solidFill>
                  <a:prstClr val="black"/>
                </a:solidFill>
                <a:latin typeface="Times New Roman"/>
                <a:cs typeface="Times New Roman"/>
              </a:rPr>
              <a:t>M</a:t>
            </a:r>
            <a:r>
              <a:rPr lang="en-US" sz="1650" b="1" spc="-8" dirty="0">
                <a:solidFill>
                  <a:prstClr val="black"/>
                </a:solidFill>
                <a:latin typeface="Times New Roman"/>
                <a:cs typeface="Times New Roman"/>
              </a:rPr>
              <a:t>r. Alok Raj</a:t>
            </a:r>
            <a:endParaRPr lang="en-US" sz="1650" dirty="0">
              <a:solidFill>
                <a:prstClr val="black"/>
              </a:solidFill>
              <a:latin typeface="Times New Roman"/>
              <a:cs typeface="Times New Roman"/>
            </a:endParaRPr>
          </a:p>
          <a:p>
            <a:pPr>
              <a:spcBef>
                <a:spcPts val="26"/>
              </a:spcBef>
              <a:defRPr/>
            </a:pPr>
            <a:endParaRPr lang="en-US" sz="1425" dirty="0">
              <a:solidFill>
                <a:prstClr val="black"/>
              </a:solidFill>
              <a:latin typeface="Times New Roman"/>
              <a:cs typeface="Times New Roman"/>
            </a:endParaRPr>
          </a:p>
          <a:p>
            <a:pPr marL="266700" indent="-257175">
              <a:buFont typeface="Times New Roman"/>
              <a:buChar char="•"/>
              <a:tabLst>
                <a:tab pos="267176" algn="l"/>
                <a:tab pos="1495425" algn="l"/>
              </a:tabLst>
              <a:defRPr/>
            </a:pPr>
            <a:r>
              <a:rPr lang="en-US" sz="1650" spc="-11" dirty="0">
                <a:solidFill>
                  <a:prstClr val="black"/>
                </a:solidFill>
                <a:latin typeface="Times New Roman"/>
                <a:cs typeface="Times New Roman"/>
              </a:rPr>
              <a:t>De</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ignation   :   Assi</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tant</a:t>
            </a:r>
            <a:r>
              <a:rPr lang="en-US" sz="1650" spc="4" dirty="0">
                <a:solidFill>
                  <a:prstClr val="black"/>
                </a:solidFill>
                <a:latin typeface="Times New Roman"/>
                <a:cs typeface="Times New Roman"/>
              </a:rPr>
              <a:t> </a:t>
            </a:r>
            <a:r>
              <a:rPr lang="en-US" sz="1650" spc="-11" dirty="0">
                <a:solidFill>
                  <a:prstClr val="black"/>
                </a:solidFill>
                <a:latin typeface="Times New Roman"/>
                <a:cs typeface="Times New Roman"/>
              </a:rPr>
              <a:t>P</a:t>
            </a:r>
            <a:r>
              <a:rPr lang="en-US" sz="1650" dirty="0">
                <a:solidFill>
                  <a:prstClr val="black"/>
                </a:solidFill>
                <a:latin typeface="Times New Roman"/>
                <a:cs typeface="Times New Roman"/>
              </a:rPr>
              <a:t>r</a:t>
            </a:r>
            <a:r>
              <a:rPr lang="en-US" sz="1650" spc="-8" dirty="0">
                <a:solidFill>
                  <a:prstClr val="black"/>
                </a:solidFill>
                <a:latin typeface="Times New Roman"/>
                <a:cs typeface="Times New Roman"/>
              </a:rPr>
              <a:t>ofes</a:t>
            </a:r>
            <a:r>
              <a:rPr lang="en-US" sz="1650" spc="-15" dirty="0">
                <a:solidFill>
                  <a:prstClr val="black"/>
                </a:solidFill>
                <a:latin typeface="Times New Roman"/>
                <a:cs typeface="Times New Roman"/>
              </a:rPr>
              <a:t>s</a:t>
            </a:r>
            <a:r>
              <a:rPr lang="en-US" sz="1650" spc="-8" dirty="0">
                <a:solidFill>
                  <a:prstClr val="black"/>
                </a:solidFill>
                <a:latin typeface="Times New Roman"/>
                <a:cs typeface="Times New Roman"/>
              </a:rPr>
              <a:t>or</a:t>
            </a:r>
            <a:endParaRPr lang="en-US" sz="1650" dirty="0">
              <a:solidFill>
                <a:prstClr val="black"/>
              </a:solidFill>
              <a:latin typeface="Times New Roman"/>
              <a:cs typeface="Times New Roman"/>
            </a:endParaRPr>
          </a:p>
          <a:p>
            <a:pPr>
              <a:spcBef>
                <a:spcPts val="9"/>
              </a:spcBef>
              <a:buFont typeface="Times New Roman"/>
              <a:buChar char="•"/>
              <a:defRPr/>
            </a:pPr>
            <a:endParaRPr lang="en-US" sz="1575" dirty="0">
              <a:solidFill>
                <a:prstClr val="black"/>
              </a:solidFill>
              <a:latin typeface="Times New Roman"/>
              <a:cs typeface="Times New Roman"/>
            </a:endParaRPr>
          </a:p>
          <a:p>
            <a:pPr marL="266700" indent="-257175">
              <a:buFont typeface="Times New Roman"/>
              <a:buChar char="•"/>
              <a:tabLst>
                <a:tab pos="267176" algn="l"/>
                <a:tab pos="1413034" algn="l"/>
                <a:tab pos="1628299" algn="l"/>
              </a:tabLst>
              <a:defRPr/>
            </a:pPr>
            <a:r>
              <a:rPr lang="en-US" sz="1650" spc="-11" dirty="0">
                <a:solidFill>
                  <a:prstClr val="black"/>
                </a:solidFill>
                <a:latin typeface="Times New Roman"/>
                <a:cs typeface="Times New Roman"/>
              </a:rPr>
              <a:t>Depar</a:t>
            </a:r>
            <a:r>
              <a:rPr lang="en-US" sz="1650" dirty="0">
                <a:solidFill>
                  <a:prstClr val="black"/>
                </a:solidFill>
                <a:latin typeface="Times New Roman"/>
                <a:cs typeface="Times New Roman"/>
              </a:rPr>
              <a:t>t</a:t>
            </a:r>
            <a:r>
              <a:rPr lang="en-US" sz="1650" spc="-15" dirty="0">
                <a:solidFill>
                  <a:prstClr val="black"/>
                </a:solidFill>
                <a:latin typeface="Times New Roman"/>
                <a:cs typeface="Times New Roman"/>
              </a:rPr>
              <a:t>me</a:t>
            </a:r>
            <a:r>
              <a:rPr lang="en-US" sz="1650" spc="-8" dirty="0">
                <a:solidFill>
                  <a:prstClr val="black"/>
                </a:solidFill>
                <a:latin typeface="Times New Roman"/>
                <a:cs typeface="Times New Roman"/>
              </a:rPr>
              <a:t>nt</a:t>
            </a:r>
            <a:r>
              <a:rPr lang="en-US" sz="1650" dirty="0">
                <a:solidFill>
                  <a:prstClr val="black"/>
                </a:solidFill>
                <a:latin typeface="Times New Roman"/>
                <a:cs typeface="Times New Roman"/>
              </a:rPr>
              <a:t>	</a:t>
            </a:r>
            <a:r>
              <a:rPr lang="en-US" sz="1650" spc="-8" dirty="0">
                <a:solidFill>
                  <a:prstClr val="black"/>
                </a:solidFill>
                <a:latin typeface="Times New Roman"/>
                <a:cs typeface="Times New Roman"/>
              </a:rPr>
              <a:t>:</a:t>
            </a:r>
            <a:r>
              <a:rPr lang="en-US" sz="1650" dirty="0">
                <a:solidFill>
                  <a:prstClr val="black"/>
                </a:solidFill>
                <a:latin typeface="Times New Roman"/>
                <a:cs typeface="Times New Roman"/>
              </a:rPr>
              <a:t>	</a:t>
            </a:r>
            <a:r>
              <a:rPr lang="en-US" sz="1650" spc="-15" dirty="0">
                <a:solidFill>
                  <a:prstClr val="black"/>
                </a:solidFill>
                <a:latin typeface="Times New Roman"/>
                <a:cs typeface="Times New Roman"/>
              </a:rPr>
              <a:t>MBA</a:t>
            </a:r>
            <a:endParaRPr lang="en-US" sz="1650" dirty="0">
              <a:solidFill>
                <a:prstClr val="black"/>
              </a:solidFill>
              <a:latin typeface="Times New Roman"/>
              <a:cs typeface="Times New Roman"/>
            </a:endParaRPr>
          </a:p>
        </p:txBody>
      </p:sp>
      <p:sp>
        <p:nvSpPr>
          <p:cNvPr id="13" name="object 7"/>
          <p:cNvSpPr txBox="1"/>
          <p:nvPr/>
        </p:nvSpPr>
        <p:spPr>
          <a:xfrm>
            <a:off x="304800" y="3048000"/>
            <a:ext cx="1503647" cy="750205"/>
          </a:xfrm>
          <a:prstGeom prst="rect">
            <a:avLst/>
          </a:prstGeom>
        </p:spPr>
        <p:txBody>
          <a:bodyPr wrap="square" lIns="0" tIns="0" rIns="0" bIns="0">
            <a:spAutoFit/>
          </a:bodyPr>
          <a:lstStyle/>
          <a:p>
            <a:pPr marL="266700" indent="-257175">
              <a:tabLst>
                <a:tab pos="267176" algn="l"/>
              </a:tabLst>
              <a:defRPr/>
            </a:pPr>
            <a:endParaRPr sz="1650" dirty="0">
              <a:solidFill>
                <a:prstClr val="black"/>
              </a:solidFill>
              <a:latin typeface="Times New Roman"/>
              <a:cs typeface="Times New Roman"/>
            </a:endParaRPr>
          </a:p>
          <a:p>
            <a:pPr>
              <a:spcBef>
                <a:spcPts val="8"/>
              </a:spcBef>
              <a:buFont typeface="Times New Roman"/>
              <a:buChar char="•"/>
              <a:defRPr/>
            </a:pPr>
            <a:endParaRPr sz="1575" dirty="0">
              <a:solidFill>
                <a:prstClr val="black"/>
              </a:solidFill>
              <a:latin typeface="Times New Roman"/>
              <a:cs typeface="Times New Roman"/>
            </a:endParaRPr>
          </a:p>
          <a:p>
            <a:pPr marL="198120" indent="-188595">
              <a:buFont typeface="Times New Roman"/>
              <a:buChar char="•"/>
              <a:tabLst>
                <a:tab pos="198596" algn="l"/>
              </a:tabLst>
              <a:defRPr/>
            </a:pPr>
            <a:r>
              <a:rPr sz="1650" spc="-8" dirty="0">
                <a:solidFill>
                  <a:prstClr val="black"/>
                </a:solidFill>
                <a:latin typeface="Times New Roman"/>
                <a:cs typeface="Times New Roman"/>
              </a:rPr>
              <a:t>Qualification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endParaRPr sz="1650" dirty="0">
              <a:solidFill>
                <a:prstClr val="black"/>
              </a:solidFill>
              <a:latin typeface="Times New Roman"/>
              <a:cs typeface="Times New Roman"/>
            </a:endParaRPr>
          </a:p>
        </p:txBody>
      </p:sp>
      <p:sp>
        <p:nvSpPr>
          <p:cNvPr id="15" name="object 8"/>
          <p:cNvSpPr txBox="1"/>
          <p:nvPr/>
        </p:nvSpPr>
        <p:spPr>
          <a:xfrm>
            <a:off x="1576856" y="3048000"/>
            <a:ext cx="3147544" cy="750205"/>
          </a:xfrm>
          <a:prstGeom prst="rect">
            <a:avLst/>
          </a:prstGeom>
        </p:spPr>
        <p:txBody>
          <a:bodyPr wrap="square" lIns="0" tIns="0" rIns="0" bIns="0">
            <a:spAutoFit/>
          </a:bodyPr>
          <a:lstStyle/>
          <a:p>
            <a:pPr algn="ctr">
              <a:tabLst>
                <a:tab pos="215741" algn="l"/>
              </a:tabLst>
              <a:defRPr/>
            </a:pPr>
            <a:endParaRPr sz="1575" dirty="0">
              <a:latin typeface="Times New Roman"/>
              <a:cs typeface="Times New Roman"/>
            </a:endParaRPr>
          </a:p>
          <a:p>
            <a:pPr marL="71914" algn="ctr">
              <a:defRPr/>
            </a:pPr>
            <a:endParaRPr lang="en-US" sz="1650" spc="-15" dirty="0">
              <a:latin typeface="Times New Roman"/>
              <a:cs typeface="Times New Roman"/>
            </a:endParaRPr>
          </a:p>
          <a:p>
            <a:pPr marL="71914" algn="ctr">
              <a:defRPr/>
            </a:pPr>
            <a:r>
              <a:rPr sz="1650" spc="-15" dirty="0">
                <a:latin typeface="Times New Roman"/>
                <a:cs typeface="Times New Roman"/>
              </a:rPr>
              <a:t>MBA</a:t>
            </a:r>
            <a:r>
              <a:rPr lang="en-US" sz="1650" spc="-15" dirty="0">
                <a:latin typeface="Times New Roman"/>
                <a:cs typeface="Times New Roman"/>
              </a:rPr>
              <a:t>(Marketing and Operations)</a:t>
            </a:r>
            <a:endParaRPr sz="1650" dirty="0">
              <a:latin typeface="Times New Roman"/>
              <a:cs typeface="Times New Roman"/>
            </a:endParaRPr>
          </a:p>
        </p:txBody>
      </p:sp>
      <p:sp>
        <p:nvSpPr>
          <p:cNvPr id="16" name="object 9"/>
          <p:cNvSpPr txBox="1"/>
          <p:nvPr/>
        </p:nvSpPr>
        <p:spPr>
          <a:xfrm>
            <a:off x="304800" y="3962400"/>
            <a:ext cx="8534400" cy="1246495"/>
          </a:xfrm>
          <a:prstGeom prst="rect">
            <a:avLst/>
          </a:prstGeom>
        </p:spPr>
        <p:txBody>
          <a:bodyPr wrap="square" lIns="0" tIns="0" rIns="0" bIns="0">
            <a:spAutoFit/>
          </a:bodyPr>
          <a:lstStyle/>
          <a:p>
            <a:pPr marL="198120" indent="-188595">
              <a:buFont typeface="Times New Roman"/>
              <a:buChar char="•"/>
              <a:tabLst>
                <a:tab pos="198120" algn="l"/>
                <a:tab pos="1654493" algn="l"/>
              </a:tabLst>
              <a:defRPr/>
            </a:pPr>
            <a:r>
              <a:rPr sz="1650" spc="-11" dirty="0">
                <a:solidFill>
                  <a:prstClr val="black"/>
                </a:solidFill>
                <a:latin typeface="Times New Roman"/>
                <a:cs typeface="Times New Roman"/>
              </a:rPr>
              <a:t>S</a:t>
            </a:r>
            <a:r>
              <a:rPr sz="1650" spc="-8" dirty="0">
                <a:solidFill>
                  <a:prstClr val="black"/>
                </a:solidFill>
                <a:latin typeface="Times New Roman"/>
                <a:cs typeface="Times New Roman"/>
              </a:rPr>
              <a:t>peci</a:t>
            </a:r>
            <a:r>
              <a:rPr sz="1650" spc="-15" dirty="0">
                <a:solidFill>
                  <a:prstClr val="black"/>
                </a:solidFill>
                <a:latin typeface="Times New Roman"/>
                <a:cs typeface="Times New Roman"/>
              </a:rPr>
              <a:t>a</a:t>
            </a:r>
            <a:r>
              <a:rPr sz="1650" spc="-8" dirty="0">
                <a:solidFill>
                  <a:prstClr val="black"/>
                </a:solidFill>
                <a:latin typeface="Times New Roman"/>
                <a:cs typeface="Times New Roman"/>
              </a:rPr>
              <a:t>lizati</a:t>
            </a:r>
            <a:r>
              <a:rPr sz="1650" dirty="0">
                <a:solidFill>
                  <a:prstClr val="black"/>
                </a:solidFill>
                <a:latin typeface="Times New Roman"/>
                <a:cs typeface="Times New Roman"/>
              </a:rPr>
              <a:t>o</a:t>
            </a:r>
            <a:r>
              <a:rPr sz="1650" spc="-8" dirty="0">
                <a:solidFill>
                  <a:prstClr val="black"/>
                </a:solidFill>
                <a:latin typeface="Times New Roman"/>
                <a:cs typeface="Times New Roman"/>
              </a:rPr>
              <a:t>n</a:t>
            </a:r>
            <a:r>
              <a:rPr lang="en-US" sz="1650" spc="-8" dirty="0">
                <a:solidFill>
                  <a:prstClr val="black"/>
                </a:solidFill>
                <a:latin typeface="Times New Roman"/>
                <a:cs typeface="Times New Roman"/>
              </a:rPr>
              <a:t> </a:t>
            </a:r>
            <a:r>
              <a:rPr sz="1650" spc="-8" dirty="0">
                <a:solidFill>
                  <a:prstClr val="black"/>
                </a:solidFill>
                <a:latin typeface="Times New Roman"/>
                <a:cs typeface="Times New Roman"/>
              </a:rPr>
              <a:t>:</a:t>
            </a:r>
            <a:r>
              <a:rPr sz="1650" dirty="0">
                <a:solidFill>
                  <a:prstClr val="black"/>
                </a:solidFill>
                <a:latin typeface="Times New Roman"/>
                <a:cs typeface="Times New Roman"/>
              </a:rPr>
              <a:t>	</a:t>
            </a:r>
            <a:r>
              <a:rPr lang="en-US" sz="1650" spc="-15" dirty="0">
                <a:latin typeface="Times New Roman"/>
                <a:cs typeface="Times New Roman"/>
              </a:rPr>
              <a:t> MBA(Marketing and Operations)</a:t>
            </a:r>
            <a:endParaRPr sz="1650" dirty="0">
              <a:solidFill>
                <a:prstClr val="black"/>
              </a:solidFill>
              <a:latin typeface="Times New Roman"/>
              <a:cs typeface="Times New Roman"/>
            </a:endParaRPr>
          </a:p>
          <a:p>
            <a:pPr>
              <a:spcBef>
                <a:spcPts val="9"/>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r>
              <a:rPr sz="1650" spc="-11" dirty="0">
                <a:solidFill>
                  <a:prstClr val="black"/>
                </a:solidFill>
                <a:latin typeface="Times New Roman"/>
                <a:cs typeface="Times New Roman"/>
              </a:rPr>
              <a:t>Tea</a:t>
            </a:r>
            <a:r>
              <a:rPr sz="1650" spc="-15" dirty="0">
                <a:solidFill>
                  <a:prstClr val="black"/>
                </a:solidFill>
                <a:latin typeface="Times New Roman"/>
                <a:cs typeface="Times New Roman"/>
              </a:rPr>
              <a:t>c</a:t>
            </a:r>
            <a:r>
              <a:rPr sz="1650" spc="-8" dirty="0">
                <a:solidFill>
                  <a:prstClr val="black"/>
                </a:solidFill>
                <a:latin typeface="Times New Roman"/>
                <a:cs typeface="Times New Roman"/>
              </a:rPr>
              <a:t>hing</a:t>
            </a:r>
            <a:r>
              <a:rPr sz="1650" spc="4" dirty="0">
                <a:solidFill>
                  <a:prstClr val="black"/>
                </a:solidFill>
                <a:latin typeface="Times New Roman"/>
                <a:cs typeface="Times New Roman"/>
              </a:rPr>
              <a:t> </a:t>
            </a:r>
            <a:r>
              <a:rPr sz="1650" spc="-11" dirty="0">
                <a:solidFill>
                  <a:prstClr val="black"/>
                </a:solidFill>
                <a:latin typeface="Times New Roman"/>
                <a:cs typeface="Times New Roman"/>
              </a:rPr>
              <a:t>Ar</a:t>
            </a:r>
            <a:r>
              <a:rPr sz="1650" spc="-4" dirty="0">
                <a:solidFill>
                  <a:prstClr val="black"/>
                </a:solidFill>
                <a:latin typeface="Times New Roman"/>
                <a:cs typeface="Times New Roman"/>
              </a:rPr>
              <a:t>e</a:t>
            </a:r>
            <a:r>
              <a:rPr sz="1650" spc="-8" dirty="0">
                <a:solidFill>
                  <a:prstClr val="black"/>
                </a:solidFill>
                <a:latin typeface="Times New Roman"/>
                <a:cs typeface="Times New Roman"/>
              </a:rPr>
              <a:t>a:</a:t>
            </a:r>
            <a:r>
              <a:rPr sz="1650" spc="4" dirty="0">
                <a:solidFill>
                  <a:prstClr val="black"/>
                </a:solidFill>
                <a:latin typeface="Times New Roman"/>
                <a:cs typeface="Times New Roman"/>
              </a:rPr>
              <a:t> </a:t>
            </a:r>
            <a:r>
              <a:rPr lang="en-US" sz="1650" spc="4" dirty="0">
                <a:solidFill>
                  <a:prstClr val="black"/>
                </a:solidFill>
                <a:latin typeface="Times New Roman"/>
                <a:cs typeface="Times New Roman"/>
              </a:rPr>
              <a:t>   General Management, </a:t>
            </a:r>
            <a:r>
              <a:rPr lang="en-US" sz="1650" spc="-15" dirty="0">
                <a:solidFill>
                  <a:prstClr val="black"/>
                </a:solidFill>
                <a:latin typeface="Times New Roman"/>
                <a:cs typeface="Times New Roman"/>
              </a:rPr>
              <a:t>Entrepreneurship, Operations Management </a:t>
            </a:r>
            <a:endParaRPr sz="1650" dirty="0">
              <a:solidFill>
                <a:prstClr val="black"/>
              </a:solidFill>
              <a:latin typeface="Times New Roman"/>
              <a:cs typeface="Times New Roman"/>
            </a:endParaRPr>
          </a:p>
          <a:p>
            <a:pPr>
              <a:spcBef>
                <a:spcPts val="6"/>
              </a:spcBef>
              <a:buFont typeface="Times New Roman"/>
              <a:buChar char="•"/>
              <a:defRPr/>
            </a:pPr>
            <a:endParaRPr sz="1575" dirty="0">
              <a:solidFill>
                <a:prstClr val="black"/>
              </a:solidFill>
              <a:latin typeface="Times New Roman"/>
              <a:cs typeface="Times New Roman"/>
            </a:endParaRPr>
          </a:p>
          <a:p>
            <a:pPr marL="266700" indent="-257175">
              <a:buFont typeface="Arial" panose="020B0604020202020204" pitchFamily="34" charset="0"/>
              <a:buChar char="•"/>
              <a:tabLst>
                <a:tab pos="267176" algn="l"/>
              </a:tabLst>
              <a:defRPr/>
            </a:pPr>
            <a:endParaRPr sz="1650" dirty="0">
              <a:solidFill>
                <a:prstClr val="black"/>
              </a:solidFill>
              <a:latin typeface="Times New Roman"/>
              <a:cs typeface="Times New Roman"/>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458501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7" y="1165384"/>
            <a:ext cx="8138864" cy="4361656"/>
          </a:xfrm>
        </p:spPr>
        <p:txBody>
          <a:bodyPr>
            <a:normAutofit/>
          </a:bodyPr>
          <a:lstStyle/>
          <a:p>
            <a:pPr marL="0" indent="0">
              <a:buNone/>
            </a:pPr>
            <a:r>
              <a:rPr lang="en-US" sz="2400" b="1" dirty="0">
                <a:latin typeface="Times New Roman" panose="02020603050405020304" pitchFamily="18" charset="0"/>
                <a:cs typeface="Times New Roman" panose="02020603050405020304" pitchFamily="18" charset="0"/>
              </a:rPr>
              <a:t>Unit –I</a:t>
            </a:r>
          </a:p>
          <a:p>
            <a:pPr algn="l"/>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Entrepreneurship: need, scope, </a:t>
            </a:r>
          </a:p>
          <a:p>
            <a:pPr algn="l"/>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Entrepreneurial competencies &amp; traits, </a:t>
            </a:r>
          </a:p>
          <a:p>
            <a:pPr algn="l"/>
            <a:r>
              <a:rPr lang="en-US" sz="2400" dirty="0">
                <a:effectLst/>
                <a:latin typeface="Times New Roman" panose="02020603050405020304" pitchFamily="18" charset="0"/>
                <a:ea typeface="Calibri" panose="020F0502020204030204" pitchFamily="34" charset="0"/>
                <a:cs typeface="Times New Roman" panose="02020603050405020304" pitchFamily="18" charset="0"/>
              </a:rPr>
              <a:t>Factors affecting entrepreneurial development, </a:t>
            </a:r>
          </a:p>
          <a:p>
            <a:pPr algn="l"/>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Entrepreneurial motivation (Mc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Clelland</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 Achievement motivation theory), conceptual model of entrepreneurship, </a:t>
            </a:r>
          </a:p>
          <a:p>
            <a:pPr algn="l"/>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entrepreneur vs. intrapreneur; </a:t>
            </a:r>
          </a:p>
          <a:p>
            <a:pPr algn="l"/>
            <a:r>
              <a:rPr lang="en-US" sz="2400" dirty="0">
                <a:effectLst/>
                <a:latin typeface="Times New Roman" panose="02020603050405020304" pitchFamily="18" charset="0"/>
                <a:ea typeface="Calibri" panose="020F0502020204030204" pitchFamily="34" charset="0"/>
                <a:cs typeface="Times New Roman" panose="02020603050405020304" pitchFamily="18" charset="0"/>
              </a:rPr>
              <a:t>Classification of entrepreneurs; Entrepreneurial Development </a:t>
            </a:r>
            <a:r>
              <a:rPr lang="en-US" sz="2400" dirty="0" err="1">
                <a:effectLst/>
                <a:latin typeface="Times New Roman" panose="02020603050405020304" pitchFamily="18" charset="0"/>
                <a:ea typeface="Calibri" panose="020F0502020204030204" pitchFamily="34" charset="0"/>
                <a:cs typeface="Times New Roman" panose="02020603050405020304" pitchFamily="18" charset="0"/>
              </a:rPr>
              <a:t>Programmes</a:t>
            </a: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400"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B3375A69-C116-4DE3-A257-FAFA9A49AE9E}" type="datetime1">
              <a:rPr lang="en-US" smtClean="0">
                <a:solidFill>
                  <a:prstClr val="black">
                    <a:tint val="75000"/>
                  </a:prstClr>
                </a:solidFill>
                <a:latin typeface="Calibri"/>
              </a:rPr>
              <a:pPr>
                <a:defRPr/>
              </a:pPr>
              <a:t>30-Aug-25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5</a:t>
            </a:fld>
            <a:endParaRPr lang="en-US">
              <a:solidFill>
                <a:prstClr val="black">
                  <a:tint val="75000"/>
                </a:prstClr>
              </a:solidFill>
              <a:latin typeface="Calibri"/>
            </a:endParaRPr>
          </a:p>
        </p:txBody>
      </p:sp>
      <p:pic>
        <p:nvPicPr>
          <p:cNvPr id="10" name="Picture 9" descr="A black and red logo&#10;&#10;Description automatically generated">
            <a:extLst>
              <a:ext uri="{FF2B5EF4-FFF2-40B4-BE49-F238E27FC236}">
                <a16:creationId xmlns:a16="http://schemas.microsoft.com/office/drawing/2014/main" id="{8BDB0671-FC93-5C9E-75A2-ED46EE3FB8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5167"/>
            <a:ext cx="2209800" cy="947268"/>
          </a:xfrm>
          <a:prstGeom prst="rect">
            <a:avLst/>
          </a:prstGeom>
        </p:spPr>
      </p:pic>
      <p:sp>
        <p:nvSpPr>
          <p:cNvPr id="11" name="Title 1"/>
          <p:cNvSpPr txBox="1">
            <a:spLocks/>
          </p:cNvSpPr>
          <p:nvPr/>
        </p:nvSpPr>
        <p:spPr>
          <a:xfrm>
            <a:off x="2267744" y="42535"/>
            <a:ext cx="6768752"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defPPr>
              <a:defRPr lang="en-US"/>
            </a:defPPr>
            <a:lvl1pPr algn="ctr">
              <a:spcBef>
                <a:spcPct val="0"/>
              </a:spcBef>
              <a:buNone/>
              <a:defRPr sz="2800"/>
            </a:lvl1pPr>
          </a:lstStyle>
          <a:p>
            <a:pPr>
              <a:defRPr/>
            </a:pPr>
            <a:r>
              <a:rPr lang="en-US" sz="3600" b="1" dirty="0">
                <a:solidFill>
                  <a:schemeClr val="tx1"/>
                </a:solidFill>
                <a:latin typeface="Times New Roman" panose="02020603050405020304" pitchFamily="18" charset="0"/>
                <a:cs typeface="Times New Roman" panose="02020603050405020304" pitchFamily="18" charset="0"/>
              </a:rPr>
              <a:t>Subject Syllabus</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323297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052736"/>
            <a:ext cx="8856984" cy="5040560"/>
          </a:xfrm>
        </p:spPr>
        <p:txBody>
          <a:bodyPr>
            <a:noAutofit/>
          </a:bodyPr>
          <a:lstStyle/>
          <a:p>
            <a:pPr marL="0" indent="0" algn="just">
              <a:lnSpc>
                <a:spcPct val="160000"/>
              </a:lnSpc>
              <a:buNone/>
            </a:pPr>
            <a:r>
              <a:rPr lang="en-US" sz="2400" b="1" dirty="0">
                <a:latin typeface="Times New Roman" panose="02020603050405020304" pitchFamily="18" charset="0"/>
                <a:cs typeface="Times New Roman" panose="02020603050405020304" pitchFamily="18" charset="0"/>
              </a:rPr>
              <a:t>Unit –II</a:t>
            </a:r>
          </a:p>
          <a:p>
            <a:pPr algn="l"/>
            <a:r>
              <a:rPr lang="en-US" sz="2200" dirty="0">
                <a:effectLst/>
                <a:latin typeface="Times New Roman" panose="02020603050405020304" pitchFamily="18" charset="0"/>
                <a:ea typeface="Calibri" panose="020F0502020204030204" pitchFamily="34" charset="0"/>
                <a:cs typeface="Times New Roman" panose="02020603050405020304" pitchFamily="18" charset="0"/>
              </a:rPr>
              <a:t>Introduction to Innovation, </a:t>
            </a:r>
          </a:p>
          <a:p>
            <a:pPr algn="l"/>
            <a:r>
              <a:rPr lang="en-US" sz="2200" dirty="0">
                <a:effectLst/>
                <a:latin typeface="Times New Roman" panose="02020603050405020304" pitchFamily="18" charset="0"/>
                <a:ea typeface="Calibri" panose="020F0502020204030204" pitchFamily="34" charset="0"/>
                <a:cs typeface="Times New Roman" panose="02020603050405020304" pitchFamily="18" charset="0"/>
              </a:rPr>
              <a:t>Entrepreneurial Idea Generation and Identifying Business Opportunities, </a:t>
            </a:r>
          </a:p>
          <a:p>
            <a:pPr algn="l"/>
            <a:r>
              <a:rPr lang="en-US" sz="2200" dirty="0">
                <a:effectLst/>
                <a:latin typeface="Times New Roman" panose="02020603050405020304" pitchFamily="18" charset="0"/>
                <a:ea typeface="Calibri" panose="020F0502020204030204" pitchFamily="34" charset="0"/>
                <a:cs typeface="Times New Roman" panose="02020603050405020304" pitchFamily="18" charset="0"/>
              </a:rPr>
              <a:t>Management skills for Entrepreneurs and managing for Value Creation, </a:t>
            </a:r>
          </a:p>
          <a:p>
            <a:pPr algn="l"/>
            <a:r>
              <a:rPr lang="en-US" sz="2200" dirty="0">
                <a:effectLst/>
                <a:latin typeface="Times New Roman" panose="02020603050405020304" pitchFamily="18" charset="0"/>
                <a:ea typeface="Calibri" panose="020F0502020204030204" pitchFamily="34" charset="0"/>
                <a:cs typeface="Times New Roman" panose="02020603050405020304" pitchFamily="18" charset="0"/>
              </a:rPr>
              <a:t>Creating and Sustaining Enterprising Model &amp; Organizational Effectiveness, </a:t>
            </a:r>
          </a:p>
          <a:p>
            <a:pPr algn="l"/>
            <a:r>
              <a:rPr lang="en-US" sz="2200" dirty="0">
                <a:effectLst/>
                <a:latin typeface="Times New Roman" panose="02020603050405020304" pitchFamily="18" charset="0"/>
                <a:ea typeface="Calibri" panose="020F0502020204030204" pitchFamily="34" charset="0"/>
                <a:cs typeface="Times New Roman" panose="02020603050405020304" pitchFamily="18" charset="0"/>
              </a:rPr>
              <a:t>New initiatives taken by the Government to promote entrepreneurship in India at a larger scale.</a:t>
            </a:r>
            <a:endParaRPr lang="en-US" sz="2200"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9F6747D8-04E6-4319-A800-D89ED683EC51}" type="datetime1">
              <a:rPr lang="en-US" smtClean="0">
                <a:solidFill>
                  <a:prstClr val="black">
                    <a:tint val="75000"/>
                  </a:prstClr>
                </a:solidFill>
                <a:latin typeface="Calibri"/>
              </a:rPr>
              <a:pPr>
                <a:defRPr/>
              </a:pPr>
              <a:t>30-Aug-25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6</a:t>
            </a:fld>
            <a:endParaRPr lang="en-US">
              <a:solidFill>
                <a:prstClr val="black">
                  <a:tint val="75000"/>
                </a:prstClr>
              </a:solidFill>
              <a:latin typeface="Calibri"/>
            </a:endParaRPr>
          </a:p>
        </p:txBody>
      </p:sp>
      <p:sp>
        <p:nvSpPr>
          <p:cNvPr id="8" name="Title 1"/>
          <p:cNvSpPr txBox="1">
            <a:spLocks/>
          </p:cNvSpPr>
          <p:nvPr/>
        </p:nvSpPr>
        <p:spPr>
          <a:xfrm>
            <a:off x="1763688" y="26968"/>
            <a:ext cx="7272808" cy="936104"/>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dirty="0">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672861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215663"/>
            <a:ext cx="8921357" cy="2429361"/>
          </a:xfrm>
        </p:spPr>
        <p:txBody>
          <a:bodyPr>
            <a:noAutofit/>
          </a:bodyPr>
          <a:lstStyle/>
          <a:p>
            <a:pPr marL="0" indent="0" algn="just">
              <a:spcBef>
                <a:spcPts val="0"/>
              </a:spcBef>
              <a:buNone/>
            </a:pPr>
            <a:endParaRPr lang="en-US" sz="2600" b="1" dirty="0">
              <a:effectLst/>
              <a:latin typeface="Times New Roman" panose="02020603050405020304" pitchFamily="18" charset="0"/>
              <a:ea typeface="Calibri" panose="020F0502020204030204" pitchFamily="34" charset="0"/>
            </a:endParaRPr>
          </a:p>
          <a:p>
            <a:pPr marL="0" indent="0" algn="just">
              <a:spcBef>
                <a:spcPts val="0"/>
              </a:spcBef>
              <a:buNone/>
            </a:pPr>
            <a:r>
              <a:rPr lang="en-US" sz="2200" b="1" dirty="0">
                <a:effectLst/>
                <a:latin typeface="Times New Roman" panose="02020603050405020304" pitchFamily="18" charset="0"/>
                <a:ea typeface="Calibri" panose="020F0502020204030204" pitchFamily="34" charset="0"/>
              </a:rPr>
              <a:t>UNIT III</a:t>
            </a:r>
          </a:p>
          <a:p>
            <a:pPr algn="just">
              <a:spcBef>
                <a:spcPts val="0"/>
              </a:spcBef>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The business plan as an entrepreneurial tool, </a:t>
            </a:r>
          </a:p>
          <a:p>
            <a:pPr algn="just">
              <a:spcBef>
                <a:spcPts val="0"/>
              </a:spcBef>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Business Planning Process: elements of business planning, preparation of project plan, </a:t>
            </a:r>
          </a:p>
          <a:p>
            <a:pPr algn="just">
              <a:spcBef>
                <a:spcPts val="0"/>
              </a:spcBef>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Components of an ideal business plan – market plan, financial plan, operational plan, and, </a:t>
            </a:r>
          </a:p>
          <a:p>
            <a:pPr algn="just">
              <a:spcBef>
                <a:spcPts val="0"/>
              </a:spcBef>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Feasibility Analysis – aspects and methods: Economic, financial, and market analysis - and technological feasibility. Various Forms of business ownership, </a:t>
            </a:r>
          </a:p>
          <a:p>
            <a:pPr algn="just">
              <a:spcBef>
                <a:spcPts val="0"/>
              </a:spcBef>
            </a:pPr>
            <a:r>
              <a:rPr lang="en-US" sz="2200" dirty="0">
                <a:effectLst/>
                <a:latin typeface="Times New Roman" panose="02020603050405020304" pitchFamily="18" charset="0"/>
                <a:ea typeface="Calibri" panose="020F0502020204030204" pitchFamily="34" charset="0"/>
                <a:cs typeface="Times New Roman" panose="02020603050405020304" pitchFamily="18" charset="0"/>
              </a:rPr>
              <a:t>Registration of business units; start-up to going IPO; revival, exit and end to a venture. </a:t>
            </a:r>
            <a:endParaRPr lang="en-US" sz="2200" b="1"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55C9CBF3-D7E6-4CD6-B9A5-8613C9789211}" type="datetime1">
              <a:rPr lang="en-US" smtClean="0">
                <a:solidFill>
                  <a:prstClr val="black">
                    <a:tint val="75000"/>
                  </a:prstClr>
                </a:solidFill>
                <a:latin typeface="Calibri"/>
              </a:rPr>
              <a:pPr>
                <a:defRPr/>
              </a:pPr>
              <a:t>30-Aug-25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7</a:t>
            </a:fld>
            <a:endParaRPr lang="en-US" dirty="0">
              <a:solidFill>
                <a:prstClr val="black">
                  <a:tint val="75000"/>
                </a:prstClr>
              </a:solidFill>
              <a:latin typeface="Calibri"/>
            </a:endParaRPr>
          </a:p>
        </p:txBody>
      </p:sp>
      <p:sp>
        <p:nvSpPr>
          <p:cNvPr id="8" name="Title 1"/>
          <p:cNvSpPr txBox="1">
            <a:spLocks/>
          </p:cNvSpPr>
          <p:nvPr/>
        </p:nvSpPr>
        <p:spPr>
          <a:xfrm>
            <a:off x="1547665" y="48267"/>
            <a:ext cx="7481196" cy="716437"/>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dirty="0">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490729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980728"/>
            <a:ext cx="8709620" cy="5267673"/>
          </a:xfrm>
        </p:spPr>
        <p:txBody>
          <a:bodyPr>
            <a:noAutofit/>
          </a:bodyPr>
          <a:lstStyle/>
          <a:p>
            <a:pPr marL="0" indent="0" algn="just">
              <a:spcBef>
                <a:spcPts val="0"/>
              </a:spcBef>
              <a:buNone/>
            </a:pPr>
            <a:r>
              <a:rPr lang="en-US" sz="2200" b="1" dirty="0">
                <a:effectLst/>
                <a:latin typeface="Times New Roman" panose="02020603050405020304" pitchFamily="18" charset="0"/>
                <a:ea typeface="Calibri" panose="020F0502020204030204" pitchFamily="34" charset="0"/>
              </a:rPr>
              <a:t>UNIT IV</a:t>
            </a:r>
          </a:p>
          <a:p>
            <a:pPr marL="0" indent="0" algn="just">
              <a:spcBef>
                <a:spcPts val="0"/>
              </a:spcBef>
              <a:buNone/>
            </a:pPr>
            <a:r>
              <a:rPr lang="en-US" sz="2200" dirty="0">
                <a:effectLst/>
                <a:latin typeface="Times New Roman" panose="02020603050405020304" pitchFamily="18" charset="0"/>
                <a:ea typeface="Calibri" panose="020F0502020204030204" pitchFamily="34" charset="0"/>
              </a:rPr>
              <a:t>Estimating financial funds requirement; Sources of finance – banks and financial institutions – IFCI, ICICI, IDBI and SIDBI), financing of Small Business Unit. Role of central government and state government in promoting entrepreneurship with various incentives, subsidies, grants, export oriented units – fiscal &amp; tax concessions, other government initiatives and inclusive entrepreneurial growth. Overview of MSME policy of government in India. Role of agencies assisting entrepreneurship </a:t>
            </a:r>
          </a:p>
          <a:p>
            <a:pPr marL="0" indent="0" algn="just">
              <a:spcBef>
                <a:spcPts val="0"/>
              </a:spcBef>
              <a:buNone/>
            </a:pPr>
            <a:r>
              <a:rPr lang="en-US" sz="2200" dirty="0">
                <a:effectLst/>
                <a:latin typeface="Times New Roman" panose="02020603050405020304" pitchFamily="18" charset="0"/>
                <a:ea typeface="Calibri" panose="020F0502020204030204" pitchFamily="34" charset="0"/>
              </a:rPr>
              <a:t>Entrepreneurship Development Institute (EDI). DICs, SSIs, NSICs, EDII NIESBUD, NEDB</a:t>
            </a:r>
          </a:p>
          <a:p>
            <a:pPr marL="0" indent="0" algn="just">
              <a:spcBef>
                <a:spcPts val="0"/>
              </a:spcBef>
              <a:buNone/>
            </a:pPr>
            <a:r>
              <a:rPr lang="en-US" sz="2200" dirty="0">
                <a:effectLst/>
                <a:latin typeface="Times New Roman" panose="02020603050405020304" pitchFamily="18" charset="0"/>
                <a:ea typeface="Calibri" panose="020F0502020204030204" pitchFamily="34" charset="0"/>
              </a:rPr>
              <a:t>New initiatives taken by government to promote entrepreneurship in India at larger scale.</a:t>
            </a:r>
            <a:endParaRPr lang="en-US" sz="2200" b="1" dirty="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B1985003-68B0-406D-A229-0C8C44A4B514}" type="datetime1">
              <a:rPr lang="en-US" smtClean="0">
                <a:solidFill>
                  <a:prstClr val="black">
                    <a:tint val="75000"/>
                  </a:prstClr>
                </a:solidFill>
                <a:latin typeface="Calibri"/>
              </a:rPr>
              <a:pPr>
                <a:defRPr/>
              </a:pPr>
              <a:t>30-Aug-25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8</a:t>
            </a:fld>
            <a:endParaRPr lang="en-US">
              <a:solidFill>
                <a:prstClr val="black">
                  <a:tint val="75000"/>
                </a:prstClr>
              </a:solidFill>
              <a:latin typeface="Calibri"/>
            </a:endParaRPr>
          </a:p>
        </p:txBody>
      </p:sp>
      <p:sp>
        <p:nvSpPr>
          <p:cNvPr id="8" name="Title 1"/>
          <p:cNvSpPr txBox="1">
            <a:spLocks/>
          </p:cNvSpPr>
          <p:nvPr/>
        </p:nvSpPr>
        <p:spPr>
          <a:xfrm>
            <a:off x="1619672" y="0"/>
            <a:ext cx="7560840" cy="980728"/>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dirty="0">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965906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470124"/>
            <a:ext cx="8039100" cy="4154390"/>
          </a:xfrm>
        </p:spPr>
        <p:txBody>
          <a:bodyPr>
            <a:normAutofit/>
          </a:bodyPr>
          <a:lstStyle/>
          <a:p>
            <a:pPr marL="0" indent="0" algn="just">
              <a:spcBef>
                <a:spcPts val="0"/>
              </a:spcBef>
              <a:buNone/>
            </a:pPr>
            <a:r>
              <a:rPr lang="en-US" sz="2400" b="1" dirty="0">
                <a:effectLst/>
                <a:latin typeface="Times New Roman" panose="02020603050405020304" pitchFamily="18" charset="0"/>
                <a:ea typeface="Calibri" panose="020F0502020204030204" pitchFamily="34" charset="0"/>
              </a:rPr>
              <a:t>UNIT V</a:t>
            </a:r>
          </a:p>
          <a:p>
            <a:pPr marL="0" indent="0" algn="just">
              <a:spcBef>
                <a:spcPts val="0"/>
              </a:spcBef>
              <a:buNone/>
            </a:pPr>
            <a:endParaRPr lang="en-US" sz="2400" b="1" dirty="0">
              <a:effectLst/>
              <a:latin typeface="Times New Roman" panose="02020603050405020304" pitchFamily="18" charset="0"/>
              <a:ea typeface="Calibri" panose="020F0502020204030204" pitchFamily="34" charset="0"/>
            </a:endParaRPr>
          </a:p>
          <a:p>
            <a:pPr marL="0" indent="0" algn="just">
              <a:spcBef>
                <a:spcPts val="0"/>
              </a:spcBef>
              <a:buNone/>
            </a:pPr>
            <a:r>
              <a:rPr lang="en-US" sz="2200" dirty="0">
                <a:effectLst/>
                <a:latin typeface="Times New Roman" panose="02020603050405020304" pitchFamily="18" charset="0"/>
                <a:ea typeface="Calibri" panose="020F0502020204030204" pitchFamily="34" charset="0"/>
              </a:rPr>
              <a:t>Introduction to Intellectual Property Right (IPR), intellectual property and its protection, Forms of Protection depending on product; Patent, copyright, trademark, design knowhow, trade secrets etc. </a:t>
            </a:r>
            <a:endParaRPr lang="en-US" sz="2200" b="1" dirty="0">
              <a:cs typeface="Times New Roman" panose="02020603050405020304" pitchFamily="18" charset="0"/>
            </a:endParaRPr>
          </a:p>
        </p:txBody>
      </p:sp>
      <p:sp>
        <p:nvSpPr>
          <p:cNvPr id="6" name="Date Placeholder 5"/>
          <p:cNvSpPr>
            <a:spLocks noGrp="1"/>
          </p:cNvSpPr>
          <p:nvPr>
            <p:ph type="dt" sz="half" idx="10"/>
          </p:nvPr>
        </p:nvSpPr>
        <p:spPr/>
        <p:txBody>
          <a:bodyPr/>
          <a:lstStyle/>
          <a:p>
            <a:pPr>
              <a:defRPr/>
            </a:pPr>
            <a:fld id="{76BD37BF-6E4F-4049-9390-7CA812F9AF8D}" type="datetime1">
              <a:rPr lang="en-US" smtClean="0">
                <a:solidFill>
                  <a:prstClr val="black">
                    <a:tint val="75000"/>
                  </a:prstClr>
                </a:solidFill>
                <a:latin typeface="Calibri"/>
              </a:rPr>
              <a:pPr>
                <a:defRPr/>
              </a:pPr>
              <a:t>30-Aug-25</a:t>
            </a:fld>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pPr>
              <a:defRPr/>
            </a:pPr>
            <a:fld id="{B6F15528-21DE-4FAA-801E-634DDDAF4B2B}" type="slidenum">
              <a:rPr lang="en-US">
                <a:solidFill>
                  <a:prstClr val="black">
                    <a:tint val="75000"/>
                  </a:prstClr>
                </a:solidFill>
                <a:latin typeface="Calibri"/>
              </a:rPr>
              <a:pPr>
                <a:defRPr/>
              </a:pPr>
              <a:t>9</a:t>
            </a:fld>
            <a:endParaRPr lang="en-US">
              <a:solidFill>
                <a:prstClr val="black">
                  <a:tint val="75000"/>
                </a:prstClr>
              </a:solidFill>
              <a:latin typeface="Calibri"/>
            </a:endParaRPr>
          </a:p>
        </p:txBody>
      </p:sp>
      <p:sp>
        <p:nvSpPr>
          <p:cNvPr id="8" name="Title 1"/>
          <p:cNvSpPr txBox="1">
            <a:spLocks/>
          </p:cNvSpPr>
          <p:nvPr/>
        </p:nvSpPr>
        <p:spPr>
          <a:xfrm>
            <a:off x="1691680" y="116632"/>
            <a:ext cx="7344816" cy="621654"/>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algn="ctr">
              <a:spcBef>
                <a:spcPct val="0"/>
              </a:spcBef>
              <a:defRPr/>
            </a:pPr>
            <a:r>
              <a:rPr lang="en-US" sz="3600" b="1" dirty="0">
                <a:solidFill>
                  <a:prstClr val="black"/>
                </a:solidFill>
                <a:latin typeface="Times New Roman" panose="02020603050405020304" pitchFamily="18" charset="0"/>
                <a:cs typeface="Times New Roman" panose="02020603050405020304" pitchFamily="18" charset="0"/>
              </a:rPr>
              <a:t>Subject Syllabus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6166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447800" y="914400"/>
            <a:ext cx="6400800" cy="1035050"/>
          </a:xfrm>
        </p:spPr>
        <p:style>
          <a:lnRef idx="2">
            <a:schemeClr val="accent5"/>
          </a:lnRef>
          <a:fillRef idx="1">
            <a:schemeClr val="lt1"/>
          </a:fillRef>
          <a:effectRef idx="0">
            <a:schemeClr val="accent5"/>
          </a:effectRef>
          <a:fontRef idx="minor">
            <a:schemeClr val="dk1"/>
          </a:fontRef>
        </p:style>
        <p:txBody>
          <a:bodyPr>
            <a:normAutofit/>
          </a:bodyPr>
          <a:lstStyle/>
          <a:p>
            <a:r>
              <a:rPr lang="en-US" sz="2800" b="1" dirty="0">
                <a:solidFill>
                  <a:schemeClr val="tx1"/>
                </a:solidFill>
                <a:latin typeface="Times New Roman" panose="02020603050405020304" pitchFamily="18" charset="0"/>
                <a:ea typeface="Calibri" panose="020F0502020204030204" pitchFamily="34" charset="0"/>
              </a:rPr>
              <a:t>Entrepreneurial Idea and Innovation</a:t>
            </a:r>
            <a:endParaRPr lang="en-US" sz="4000" dirty="0">
              <a:solidFill>
                <a:schemeClr val="tx1"/>
              </a:solidFill>
            </a:endParaRPr>
          </a:p>
        </p:txBody>
      </p:sp>
      <p:sp>
        <p:nvSpPr>
          <p:cNvPr id="6" name="Subtitle 2"/>
          <p:cNvSpPr txBox="1">
            <a:spLocks/>
          </p:cNvSpPr>
          <p:nvPr/>
        </p:nvSpPr>
        <p:spPr>
          <a:xfrm>
            <a:off x="5791200" y="3962400"/>
            <a:ext cx="3048000" cy="1219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Alok Raj</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solidFill>
                  <a:schemeClr val="tx1"/>
                </a:solidFill>
                <a:effectLst/>
                <a:uLnTx/>
                <a:uFillTx/>
                <a:latin typeface="+mn-lt"/>
                <a:ea typeface="+mn-ea"/>
                <a:cs typeface="+mn-cs"/>
              </a:rPr>
              <a:t>Department of </a:t>
            </a:r>
            <a:r>
              <a:rPr lang="en-US" sz="2400" dirty="0">
                <a:solidFill>
                  <a:schemeClr val="tx1"/>
                </a:solidFill>
              </a:rPr>
              <a:t>MBA</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7"/>
            <a:ext cx="2133600" cy="365125"/>
          </a:xfrm>
        </p:spPr>
        <p:txBody>
          <a:bodyPr/>
          <a:lstStyle/>
          <a:p>
            <a:fld id="{93B97E73-EC62-4307-8D21-C91D9CD9428D}" type="datetime1">
              <a:rPr lang="en-US" smtClean="0"/>
              <a:pPr/>
              <a:t>30-Aug-25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10</a:t>
            </a:fld>
            <a:endParaRPr lang="en-US" dirty="0"/>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304800" y="248285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Unit:2</a:t>
            </a:r>
          </a:p>
        </p:txBody>
      </p:sp>
      <p:sp>
        <p:nvSpPr>
          <p:cNvPr id="13" name="Footer Placeholder 12"/>
          <p:cNvSpPr>
            <a:spLocks noGrp="1"/>
          </p:cNvSpPr>
          <p:nvPr>
            <p:ph type="ftr" sz="quarter" idx="11"/>
          </p:nvPr>
        </p:nvSpPr>
        <p:spPr>
          <a:xfrm>
            <a:off x="2362200" y="6248402"/>
            <a:ext cx="5029200" cy="365125"/>
          </a:xfrm>
        </p:spPr>
        <p:txBody>
          <a:bodyPr/>
          <a:lstStyle/>
          <a:p>
            <a:r>
              <a:rPr lang="en-US" dirty="0" err="1"/>
              <a:t>Mohd</a:t>
            </a:r>
            <a:r>
              <a:rPr lang="en-US" dirty="0"/>
              <a:t> Zaid    AOE0771              Unit 1</a:t>
            </a:r>
          </a:p>
        </p:txBody>
      </p:sp>
      <p:sp>
        <p:nvSpPr>
          <p:cNvPr id="14" name="Subtitle 2"/>
          <p:cNvSpPr txBox="1">
            <a:spLocks/>
          </p:cNvSpPr>
          <p:nvPr/>
        </p:nvSpPr>
        <p:spPr>
          <a:xfrm>
            <a:off x="152400" y="35433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b="1" i="0" u="none" strike="noStrike" kern="1200" cap="none" spc="0" normalizeH="0" baseline="0" noProof="0" dirty="0">
                <a:ln>
                  <a:noFill/>
                </a:ln>
                <a:solidFill>
                  <a:schemeClr val="tx1"/>
                </a:solidFill>
                <a:effectLst/>
                <a:uLnTx/>
                <a:uFillTx/>
              </a:rPr>
              <a:t>Subject</a:t>
            </a:r>
            <a:r>
              <a:rPr kumimoji="0" lang="en-US" b="1" i="0" u="none" strike="noStrike" kern="1200" cap="none" spc="0" normalizeH="0" noProof="0" dirty="0">
                <a:ln>
                  <a:noFill/>
                </a:ln>
                <a:solidFill>
                  <a:schemeClr val="tx1"/>
                </a:solidFill>
                <a:effectLst/>
                <a:uLnTx/>
                <a:uFillTx/>
              </a:rPr>
              <a:t> Name</a:t>
            </a:r>
            <a:endParaRPr lang="en-US" b="1" noProof="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b="1" noProof="0" dirty="0">
                <a:solidFill>
                  <a:schemeClr val="tx1"/>
                </a:solidFill>
              </a:rPr>
              <a:t>Entrepreneurship Development &amp; IPR</a:t>
            </a:r>
            <a:endParaRPr kumimoji="0" lang="en-US" b="1" i="0" u="none" strike="noStrike" kern="1200" cap="none" spc="0" normalizeH="0" baseline="0" noProof="0" dirty="0">
              <a:ln>
                <a:noFill/>
              </a:ln>
              <a:solidFill>
                <a:schemeClr val="tx1"/>
              </a:solidFill>
              <a:effectLst/>
              <a:uLnTx/>
              <a:uFillTx/>
            </a:endParaRPr>
          </a:p>
        </p:txBody>
      </p:sp>
      <p:sp>
        <p:nvSpPr>
          <p:cNvPr id="15" name="Subtitle 2"/>
          <p:cNvSpPr txBox="1">
            <a:spLocks/>
          </p:cNvSpPr>
          <p:nvPr/>
        </p:nvSpPr>
        <p:spPr>
          <a:xfrm>
            <a:off x="266700" y="4765079"/>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err="1">
                <a:ln>
                  <a:noFill/>
                </a:ln>
                <a:solidFill>
                  <a:schemeClr val="tx1"/>
                </a:solidFill>
                <a:effectLst/>
                <a:uLnTx/>
                <a:uFillTx/>
                <a:latin typeface="+mn-lt"/>
                <a:ea typeface="+mn-ea"/>
                <a:cs typeface="+mn-cs"/>
              </a:rPr>
              <a:t>B.Tech</a:t>
            </a:r>
            <a:r>
              <a:rPr kumimoji="0" lang="en-US" sz="2000" b="0" i="0" u="none" strike="noStrike" kern="1200" cap="none" spc="0" normalizeH="0" noProof="0" dirty="0">
                <a:ln>
                  <a:noFill/>
                </a:ln>
                <a:solidFill>
                  <a:schemeClr val="tx1"/>
                </a:solidFill>
                <a:effectLst/>
                <a:uLnTx/>
                <a:uFillTx/>
                <a:latin typeface="+mn-lt"/>
                <a:ea typeface="+mn-ea"/>
                <a:cs typeface="+mn-cs"/>
              </a:rPr>
              <a:t> (BT) 7</a:t>
            </a:r>
            <a:r>
              <a:rPr kumimoji="0" lang="en-US" sz="2000" b="0" i="0" u="none" strike="noStrike" kern="1200" cap="none" spc="0" normalizeH="0" baseline="30000" noProof="0" dirty="0">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Semester</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0044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36F8E-95EA-42DE-8947-F2175F9A79AF}" type="datetime1">
              <a:rPr lang="en-US" smtClean="0"/>
              <a:pPr/>
              <a:t>30-Aug-25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11</a:t>
            </a:fld>
            <a:endParaRPr lang="en-IN"/>
          </a:p>
        </p:txBody>
      </p:sp>
      <p:sp>
        <p:nvSpPr>
          <p:cNvPr id="4" name="Footer Placeholder 3"/>
          <p:cNvSpPr>
            <a:spLocks noGrp="1"/>
          </p:cNvSpPr>
          <p:nvPr>
            <p:ph type="ftr" sz="quarter" idx="11"/>
          </p:nvPr>
        </p:nvSpPr>
        <p:spPr/>
        <p:txBody>
          <a:bodyPr/>
          <a:lstStyle/>
          <a:p>
            <a:r>
              <a:rPr lang="fi-FI" dirty="0"/>
              <a:t>Mohd Zaid              Unit 2 AOE0771</a:t>
            </a:r>
            <a:endParaRPr lang="en-IN" dirty="0"/>
          </a:p>
        </p:txBody>
      </p:sp>
      <p:sp>
        <p:nvSpPr>
          <p:cNvPr id="5" name="Title 1"/>
          <p:cNvSpPr txBox="1">
            <a:spLocks/>
          </p:cNvSpPr>
          <p:nvPr/>
        </p:nvSpPr>
        <p:spPr>
          <a:xfrm>
            <a:off x="1475656" y="0"/>
            <a:ext cx="7668344" cy="90872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783B2A4-6293-63CD-54DF-F4C8F0D0D442}"/>
              </a:ext>
            </a:extLst>
          </p:cNvPr>
          <p:cNvPicPr>
            <a:picLocks noChangeAspect="1"/>
          </p:cNvPicPr>
          <p:nvPr/>
        </p:nvPicPr>
        <p:blipFill>
          <a:blip r:embed="rId2"/>
          <a:stretch>
            <a:fillRect/>
          </a:stretch>
        </p:blipFill>
        <p:spPr>
          <a:xfrm>
            <a:off x="107504" y="1052736"/>
            <a:ext cx="9094056" cy="5303616"/>
          </a:xfrm>
          <a:prstGeom prst="rect">
            <a:avLst/>
          </a:prstGeom>
        </p:spPr>
      </p:pic>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825814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EBA42-B672-436A-AEDC-8160BA76F50E}" type="datetime1">
              <a:rPr lang="en-US" smtClean="0"/>
              <a:pPr/>
              <a:t>30-Aug-25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12</a:t>
            </a:fld>
            <a:endParaRPr lang="en-IN"/>
          </a:p>
        </p:txBody>
      </p:sp>
      <p:sp>
        <p:nvSpPr>
          <p:cNvPr id="6" name="Title 1"/>
          <p:cNvSpPr txBox="1">
            <a:spLocks/>
          </p:cNvSpPr>
          <p:nvPr/>
        </p:nvSpPr>
        <p:spPr>
          <a:xfrm>
            <a:off x="1547664" y="-9939"/>
            <a:ext cx="7596336" cy="83671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dirty="0">
                <a:latin typeface="Times New Roman" panose="02020603050405020304" pitchFamily="18" charset="0"/>
                <a:cs typeface="Times New Roman" panose="02020603050405020304" pitchFamily="18" charset="0"/>
              </a:rPr>
              <a:t>Program Educational Outcomes</a:t>
            </a:r>
          </a:p>
        </p:txBody>
      </p:sp>
      <p:sp>
        <p:nvSpPr>
          <p:cNvPr id="7" name="Rectangle 6"/>
          <p:cNvSpPr/>
          <p:nvPr/>
        </p:nvSpPr>
        <p:spPr>
          <a:xfrm>
            <a:off x="251520" y="980728"/>
            <a:ext cx="8712968" cy="4524315"/>
          </a:xfrm>
          <a:prstGeom prst="rect">
            <a:avLst/>
          </a:prstGeom>
        </p:spPr>
        <p:txBody>
          <a:bodyPr wrap="square">
            <a:spAutoFit/>
          </a:bodyPr>
          <a:lstStyle/>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PEO2:  Apply appropriate tools for decision making for solving complex managerial problems in local or global context.</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PEO3:  Exhibit Integrity, social responsibility and teamwork.</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PEO4: Exhibit ethics, communication skills, leadership qualities and entrepreneurial mindset.</a:t>
            </a:r>
          </a:p>
        </p:txBody>
      </p:sp>
      <p:sp>
        <p:nvSpPr>
          <p:cNvPr id="4" name="Footer Placeholder 3">
            <a:extLst>
              <a:ext uri="{FF2B5EF4-FFF2-40B4-BE49-F238E27FC236}">
                <a16:creationId xmlns:a16="http://schemas.microsoft.com/office/drawing/2014/main" id="{B1AD0C18-4109-6482-D067-B2A230713515}"/>
              </a:ext>
            </a:extLst>
          </p:cNvPr>
          <p:cNvSpPr>
            <a:spLocks noGrp="1"/>
          </p:cNvSpPr>
          <p:nvPr>
            <p:ph type="ftr" sz="quarter" idx="11"/>
          </p:nvPr>
        </p:nvSpPr>
        <p:spPr/>
        <p:txBody>
          <a:bodyPr/>
          <a:lstStyle/>
          <a:p>
            <a:r>
              <a:rPr lang="fi-FI" dirty="0"/>
              <a:t>Mohd Zaid Unit 2 AOE0771</a:t>
            </a:r>
            <a:endParaRPr lang="en-IN" dirty="0"/>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111755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6B4386-31BD-49AD-A699-4D2D57FAE669}" type="datetime1">
              <a:rPr lang="en-US" smtClean="0"/>
              <a:pPr/>
              <a:t>30-Aug-25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13</a:t>
            </a:fld>
            <a:endParaRPr lang="en-IN"/>
          </a:p>
        </p:txBody>
      </p:sp>
      <p:sp>
        <p:nvSpPr>
          <p:cNvPr id="6" name="Rectangle 5"/>
          <p:cNvSpPr/>
          <p:nvPr/>
        </p:nvSpPr>
        <p:spPr>
          <a:xfrm>
            <a:off x="714348" y="857232"/>
            <a:ext cx="7715304" cy="1883657"/>
          </a:xfrm>
          <a:prstGeom prst="rect">
            <a:avLst/>
          </a:prstGeom>
        </p:spPr>
        <p:txBody>
          <a:bodyPr wrap="square">
            <a:spAutoFit/>
          </a:bodyPr>
          <a:lstStyle/>
          <a:p>
            <a:pPr algn="just">
              <a:lnSpc>
                <a:spcPct val="150000"/>
              </a:lnSpc>
              <a:buFont typeface="Arial" pitchFamily="34" charset="0"/>
              <a:buChar char="•"/>
            </a:pPr>
            <a:endParaRPr lang="en-IN" sz="2000" dirty="0">
              <a:latin typeface="Times New Roman"/>
              <a:ea typeface="Times New Roman"/>
            </a:endParaRPr>
          </a:p>
          <a:p>
            <a:pPr algn="just">
              <a:lnSpc>
                <a:spcPct val="150000"/>
              </a:lnSpc>
              <a:buFont typeface="Arial" pitchFamily="34" charset="0"/>
              <a:buChar char="•"/>
            </a:pPr>
            <a:endParaRPr lang="en-IN" sz="2000" dirty="0">
              <a:latin typeface="Times New Roman"/>
              <a:ea typeface="Times New Roman"/>
            </a:endParaRPr>
          </a:p>
          <a:p>
            <a:pPr algn="just">
              <a:lnSpc>
                <a:spcPct val="150000"/>
              </a:lnSpc>
              <a:buFont typeface="Arial" pitchFamily="34" charset="0"/>
              <a:buChar char="•"/>
            </a:pPr>
            <a:endParaRPr lang="en-IN" sz="2000" dirty="0">
              <a:latin typeface="Times New Roman"/>
              <a:ea typeface="Times New Roman"/>
            </a:endParaRPr>
          </a:p>
          <a:p>
            <a:pPr algn="just">
              <a:lnSpc>
                <a:spcPct val="150000"/>
              </a:lnSpc>
              <a:spcAft>
                <a:spcPts val="0"/>
              </a:spcAft>
              <a:buFont typeface="Arial" pitchFamily="34" charset="0"/>
              <a:buChar char="•"/>
            </a:pPr>
            <a:endParaRPr lang="en-IN" sz="2000" dirty="0">
              <a:latin typeface="Times New Roman"/>
              <a:ea typeface="Times New Roman"/>
            </a:endParaRPr>
          </a:p>
        </p:txBody>
      </p:sp>
      <p:sp>
        <p:nvSpPr>
          <p:cNvPr id="8" name="Title 1"/>
          <p:cNvSpPr txBox="1">
            <a:spLocks/>
          </p:cNvSpPr>
          <p:nvPr/>
        </p:nvSpPr>
        <p:spPr>
          <a:xfrm>
            <a:off x="1475656" y="15767"/>
            <a:ext cx="7632848" cy="84146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A470146-DCC7-65FC-EC09-8A844C418ACF}"/>
              </a:ext>
            </a:extLst>
          </p:cNvPr>
          <p:cNvGraphicFramePr>
            <a:graphicFrameLocks noGrp="1"/>
          </p:cNvGraphicFramePr>
          <p:nvPr>
            <p:extLst>
              <p:ext uri="{D42A27DB-BD31-4B8C-83A1-F6EECF244321}">
                <p14:modId xmlns:p14="http://schemas.microsoft.com/office/powerpoint/2010/main" val="3576071805"/>
              </p:ext>
            </p:extLst>
          </p:nvPr>
        </p:nvGraphicFramePr>
        <p:xfrm>
          <a:off x="323528" y="980727"/>
          <a:ext cx="8640960" cy="4412618"/>
        </p:xfrm>
        <a:graphic>
          <a:graphicData uri="http://schemas.openxmlformats.org/drawingml/2006/table">
            <a:tbl>
              <a:tblPr firstRow="1" firstCol="1" bandRow="1">
                <a:tableStyleId>{5C22544A-7EE6-4342-B048-85BDC9FD1C3A}</a:tableStyleId>
              </a:tblPr>
              <a:tblGrid>
                <a:gridCol w="8640960">
                  <a:extLst>
                    <a:ext uri="{9D8B030D-6E8A-4147-A177-3AD203B41FA5}">
                      <a16:colId xmlns:a16="http://schemas.microsoft.com/office/drawing/2014/main" val="3334862814"/>
                    </a:ext>
                  </a:extLst>
                </a:gridCol>
              </a:tblGrid>
              <a:tr h="810840">
                <a:tc>
                  <a:txBody>
                    <a:bodyPr/>
                    <a:lstStyle/>
                    <a:p>
                      <a:pPr algn="just">
                        <a:lnSpc>
                          <a:spcPct val="115000"/>
                        </a:lnSpc>
                        <a:spcAft>
                          <a:spcPts val="1000"/>
                        </a:spcAft>
                        <a:tabLst>
                          <a:tab pos="1533525" algn="l"/>
                        </a:tabLst>
                      </a:pPr>
                      <a:r>
                        <a:rPr lang="en-US" sz="2200" dirty="0">
                          <a:effectLst/>
                        </a:rPr>
                        <a:t>Explore the dimensions of creativity, innovation, and entrepreneurship</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5621351"/>
                  </a:ext>
                </a:extLst>
              </a:tr>
              <a:tr h="810840">
                <a:tc>
                  <a:txBody>
                    <a:bodyPr/>
                    <a:lstStyle/>
                    <a:p>
                      <a:pPr algn="just">
                        <a:lnSpc>
                          <a:spcPct val="115000"/>
                        </a:lnSpc>
                        <a:spcAft>
                          <a:spcPts val="1000"/>
                        </a:spcAft>
                        <a:tabLst>
                          <a:tab pos="1533525" algn="l"/>
                        </a:tabLst>
                      </a:pPr>
                      <a:r>
                        <a:rPr lang="en-US" sz="2200">
                          <a:effectLst/>
                        </a:rPr>
                        <a:t>Understand the various sources of idea generation for startups</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37119763"/>
                  </a:ext>
                </a:extLst>
              </a:tr>
              <a:tr h="810840">
                <a:tc>
                  <a:txBody>
                    <a:bodyPr/>
                    <a:lstStyle/>
                    <a:p>
                      <a:pPr algn="just">
                        <a:lnSpc>
                          <a:spcPct val="115000"/>
                        </a:lnSpc>
                        <a:spcAft>
                          <a:spcPts val="1000"/>
                        </a:spcAft>
                        <a:tabLst>
                          <a:tab pos="1533525" algn="l"/>
                        </a:tabLst>
                      </a:pPr>
                      <a:r>
                        <a:rPr lang="en-US" sz="2200" dirty="0">
                          <a:effectLst/>
                        </a:rPr>
                        <a:t>Understanding the requirements and methods of launching a new business.</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5492484"/>
                  </a:ext>
                </a:extLst>
              </a:tr>
              <a:tr h="1169258">
                <a:tc>
                  <a:txBody>
                    <a:bodyPr/>
                    <a:lstStyle/>
                    <a:p>
                      <a:pPr algn="just">
                        <a:lnSpc>
                          <a:spcPct val="115000"/>
                        </a:lnSpc>
                        <a:spcAft>
                          <a:spcPts val="1000"/>
                        </a:spcAft>
                        <a:tabLst>
                          <a:tab pos="1533525" algn="l"/>
                        </a:tabLst>
                      </a:pPr>
                      <a:r>
                        <a:rPr lang="en-US" sz="2200">
                          <a:effectLst/>
                        </a:rPr>
                        <a:t>Develop an understanding of various schemes and agencies for assisting and fostering entrepreneurship</a:t>
                      </a:r>
                      <a:endParaRPr lang="en-IN" sz="2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16042535"/>
                  </a:ext>
                </a:extLst>
              </a:tr>
              <a:tr h="810840">
                <a:tc>
                  <a:txBody>
                    <a:bodyPr/>
                    <a:lstStyle/>
                    <a:p>
                      <a:pPr algn="just">
                        <a:lnSpc>
                          <a:spcPct val="115000"/>
                        </a:lnSpc>
                        <a:spcAft>
                          <a:spcPts val="1000"/>
                        </a:spcAft>
                        <a:tabLst>
                          <a:tab pos="1533525" algn="l"/>
                        </a:tabLst>
                      </a:pPr>
                      <a:r>
                        <a:rPr lang="en-US" sz="2200" dirty="0">
                          <a:effectLst/>
                        </a:rPr>
                        <a:t>Develop an understanding of intellectual property rights.</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96414146"/>
                  </a:ext>
                </a:extLst>
              </a:tr>
            </a:tbl>
          </a:graphicData>
        </a:graphic>
      </p:graphicFrame>
      <p:sp>
        <p:nvSpPr>
          <p:cNvPr id="9" name="Date Placeholder 5"/>
          <p:cNvSpPr txBox="1">
            <a:spLocks/>
          </p:cNvSpPr>
          <p:nvPr/>
        </p:nvSpPr>
        <p:spPr>
          <a:xfrm>
            <a:off x="457200" y="6304235"/>
            <a:ext cx="7283152" cy="55376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8066140-8899-4812-8260-62A6635248CD}"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p:cNvSpPr txBox="1">
            <a:spLocks/>
          </p:cNvSpPr>
          <p:nvPr/>
        </p:nvSpPr>
        <p:spPr>
          <a:xfrm>
            <a:off x="1619672" y="116632"/>
            <a:ext cx="7272808"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Explore the dimensions of creativity, innovation, and entrepreneurship. </a:t>
            </a:r>
          </a:p>
          <a:p>
            <a:pPr algn="just"/>
            <a:r>
              <a:rPr lang="en-US" sz="2400" dirty="0">
                <a:latin typeface="Times New Roman" panose="02020603050405020304" pitchFamily="18" charset="0"/>
                <a:cs typeface="Times New Roman" panose="02020603050405020304" pitchFamily="18" charset="0"/>
              </a:rPr>
              <a:t>Develop an understanding of intellectual property rights.</a:t>
            </a:r>
          </a:p>
          <a:p>
            <a:pPr algn="just"/>
            <a:r>
              <a:rPr lang="en-US" sz="2400" dirty="0">
                <a:latin typeface="Times New Roman" panose="02020603050405020304" pitchFamily="18" charset="0"/>
                <a:cs typeface="Times New Roman" panose="02020603050405020304" pitchFamily="18" charset="0"/>
              </a:rPr>
              <a:t>Be familiar with the financial support associated with new venture start-ups. </a:t>
            </a:r>
          </a:p>
          <a:p>
            <a:pPr algn="just"/>
            <a:r>
              <a:rPr lang="en-US" sz="2400" dirty="0">
                <a:latin typeface="Times New Roman" panose="02020603050405020304" pitchFamily="18" charset="0"/>
                <a:cs typeface="Times New Roman" panose="02020603050405020304" pitchFamily="18" charset="0"/>
              </a:rPr>
              <a:t>Understand the various sources of idea generation and screening.</a:t>
            </a:r>
          </a:p>
          <a:p>
            <a:pPr algn="just"/>
            <a:r>
              <a:rPr lang="en-US" sz="2400" dirty="0">
                <a:latin typeface="Times New Roman" panose="02020603050405020304" pitchFamily="18" charset="0"/>
                <a:cs typeface="Times New Roman" panose="02020603050405020304" pitchFamily="18" charset="0"/>
              </a:rPr>
              <a:t>Understand the policy framework for promoting entrepreneurship and providing finance to entrepreneurs</a:t>
            </a:r>
            <a:r>
              <a:rPr lang="en-US" sz="2000" dirty="0"/>
              <a:t>. </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802F8-FB40-B05D-E3D3-33717B25B52F}"/>
              </a:ext>
            </a:extLst>
          </p:cNvPr>
          <p:cNvSpPr>
            <a:spLocks noGrp="1"/>
          </p:cNvSpPr>
          <p:nvPr>
            <p:ph type="dt" sz="half" idx="10"/>
          </p:nvPr>
        </p:nvSpPr>
        <p:spPr/>
        <p:txBody>
          <a:bodyPr/>
          <a:lstStyle/>
          <a:p>
            <a:fld id="{8CED97C7-CA57-499C-8A60-5BBF496D94AE}" type="datetime1">
              <a:rPr lang="en-US" smtClean="0"/>
              <a:pPr/>
              <a:t>30-Aug-25</a:t>
            </a:fld>
            <a:endParaRPr lang="en-IN"/>
          </a:p>
        </p:txBody>
      </p:sp>
      <p:sp>
        <p:nvSpPr>
          <p:cNvPr id="3" name="Footer Placeholder 2">
            <a:extLst>
              <a:ext uri="{FF2B5EF4-FFF2-40B4-BE49-F238E27FC236}">
                <a16:creationId xmlns:a16="http://schemas.microsoft.com/office/drawing/2014/main" id="{0A05F446-04D4-FC78-7B91-8748ADAEC2BB}"/>
              </a:ext>
            </a:extLst>
          </p:cNvPr>
          <p:cNvSpPr>
            <a:spLocks noGrp="1"/>
          </p:cNvSpPr>
          <p:nvPr>
            <p:ph type="ftr" sz="quarter" idx="11"/>
          </p:nvPr>
        </p:nvSpPr>
        <p:spPr/>
        <p:txBody>
          <a:bodyPr/>
          <a:lstStyle/>
          <a:p>
            <a:r>
              <a:rPr lang="fi-FI" dirty="0"/>
              <a:t>Mohd Zaid          AOE0771</a:t>
            </a:r>
            <a:endParaRPr lang="en-IN" dirty="0"/>
          </a:p>
        </p:txBody>
      </p:sp>
      <p:sp>
        <p:nvSpPr>
          <p:cNvPr id="4" name="Slide Number Placeholder 3">
            <a:extLst>
              <a:ext uri="{FF2B5EF4-FFF2-40B4-BE49-F238E27FC236}">
                <a16:creationId xmlns:a16="http://schemas.microsoft.com/office/drawing/2014/main" id="{C945FDD6-3EC6-8E96-1AFF-8A27E7FE9A21}"/>
              </a:ext>
            </a:extLst>
          </p:cNvPr>
          <p:cNvSpPr>
            <a:spLocks noGrp="1"/>
          </p:cNvSpPr>
          <p:nvPr>
            <p:ph type="sldNum" sz="quarter" idx="12"/>
          </p:nvPr>
        </p:nvSpPr>
        <p:spPr/>
        <p:txBody>
          <a:bodyPr/>
          <a:lstStyle/>
          <a:p>
            <a:fld id="{F8999BB2-E6E2-4FC7-A9BF-D8A708327382}" type="slidenum">
              <a:rPr lang="en-IN" smtClean="0"/>
              <a:pPr/>
              <a:t>15</a:t>
            </a:fld>
            <a:endParaRPr lang="en-IN"/>
          </a:p>
        </p:txBody>
      </p:sp>
      <p:sp>
        <p:nvSpPr>
          <p:cNvPr id="5" name="Title 1">
            <a:extLst>
              <a:ext uri="{FF2B5EF4-FFF2-40B4-BE49-F238E27FC236}">
                <a16:creationId xmlns:a16="http://schemas.microsoft.com/office/drawing/2014/main" id="{073CDBAD-263F-6ABE-2CED-741FFD77634B}"/>
              </a:ext>
            </a:extLst>
          </p:cNvPr>
          <p:cNvSpPr txBox="1">
            <a:spLocks/>
          </p:cNvSpPr>
          <p:nvPr/>
        </p:nvSpPr>
        <p:spPr>
          <a:xfrm>
            <a:off x="2123728" y="-29497"/>
            <a:ext cx="684076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dirty="0">
                <a:latin typeface="Times New Roman" panose="02020603050405020304" pitchFamily="18" charset="0"/>
                <a:cs typeface="Times New Roman" panose="02020603050405020304" pitchFamily="18" charset="0"/>
              </a:rPr>
              <a:t>Program Outcomes</a:t>
            </a:r>
          </a:p>
        </p:txBody>
      </p:sp>
      <p:sp>
        <p:nvSpPr>
          <p:cNvPr id="8" name="TextBox 7">
            <a:extLst>
              <a:ext uri="{FF2B5EF4-FFF2-40B4-BE49-F238E27FC236}">
                <a16:creationId xmlns:a16="http://schemas.microsoft.com/office/drawing/2014/main" id="{9F664240-A717-DBB3-A045-D617583102F2}"/>
              </a:ext>
            </a:extLst>
          </p:cNvPr>
          <p:cNvSpPr txBox="1"/>
          <p:nvPr/>
        </p:nvSpPr>
        <p:spPr>
          <a:xfrm>
            <a:off x="323528" y="980728"/>
            <a:ext cx="8712968" cy="5023426"/>
          </a:xfrm>
          <a:prstGeom prst="rect">
            <a:avLst/>
          </a:prstGeom>
          <a:noFill/>
        </p:spPr>
        <p:txBody>
          <a:bodyPr wrap="square">
            <a:spAutoFit/>
          </a:bodyPr>
          <a:lstStyle/>
          <a:p>
            <a:pPr algn="ctr"/>
            <a:r>
              <a:rPr lang="en-US" sz="1800" dirty="0">
                <a:effectLst/>
                <a:latin typeface="Times New Roman" panose="02020603050405020304" pitchFamily="18" charset="0"/>
                <a:ea typeface="Times New Roman" panose="02020603050405020304" pitchFamily="18" charset="0"/>
              </a:rPr>
              <a:t> </a:t>
            </a:r>
            <a:endParaRPr lang="en-IN" sz="2400" dirty="0">
              <a:effectLst/>
              <a:latin typeface="Times New Roman" panose="02020603050405020304" pitchFamily="18" charset="0"/>
              <a:ea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1</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Engineering knowledge: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Apply the knowledge of mathematics, science, engineering fundamentals, and an engineering specialization for the solution of complex engineering problems.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2. Problem analysis: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Identify, formulate, research literature, and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analyse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complex engineering problems reaching substantiated conclusions using first principles of mathematics, natural sciences, and engineering sciences.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3. Design/development of solutions: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US" sz="1600" b="1"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560047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B8384B-E955-4436-B51E-FDDE6F26B267}" type="datetime1">
              <a:rPr lang="en-US" smtClean="0"/>
              <a:pPr/>
              <a:t>30-Aug-25</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
        <p:nvSpPr>
          <p:cNvPr id="5" name="Rectangle 4"/>
          <p:cNvSpPr/>
          <p:nvPr/>
        </p:nvSpPr>
        <p:spPr>
          <a:xfrm>
            <a:off x="257672" y="980728"/>
            <a:ext cx="8424936" cy="3888244"/>
          </a:xfrm>
          <a:prstGeom prst="rect">
            <a:avLst/>
          </a:prstGeom>
        </p:spPr>
        <p:txBody>
          <a:bodyPr wrap="square">
            <a:spAutoFit/>
          </a:bodyPr>
          <a:lstStyle/>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4. Conduct investigations of complex problems: </a:t>
            </a:r>
            <a:r>
              <a:rPr lang="en-US" sz="2000" dirty="0">
                <a:latin typeface="Times New Roman" panose="02020603050405020304" pitchFamily="18" charset="0"/>
                <a:ea typeface="Calibri" panose="020F0502020204030204" pitchFamily="34" charset="0"/>
                <a:cs typeface="Times New Roman" panose="02020603050405020304" pitchFamily="18" charset="0"/>
              </a:rPr>
              <a:t>Use research-based knowledge and research methods including design of experiments, analysis and interpretation of data, and synthesis of information to provide valid conclusions.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5. Modern tool usage:</a:t>
            </a:r>
            <a:r>
              <a:rPr lang="en-US" sz="2000" dirty="0">
                <a:latin typeface="Times New Roman" panose="02020603050405020304" pitchFamily="18" charset="0"/>
                <a:ea typeface="Calibri" panose="020F0502020204030204" pitchFamily="34" charset="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 </a:t>
            </a:r>
            <a:r>
              <a:rPr lang="en-US" sz="2000" b="1" dirty="0">
                <a:latin typeface="Times New Roman" panose="02020603050405020304" pitchFamily="18" charset="0"/>
                <a:ea typeface="Calibri" panose="020F0502020204030204" pitchFamily="34" charset="0"/>
                <a:cs typeface="Times New Roman" panose="02020603050405020304" pitchFamily="18" charset="0"/>
              </a:rPr>
              <a:t>6. The engineer and society:</a:t>
            </a:r>
            <a:r>
              <a:rPr lang="en-US" sz="2000" dirty="0">
                <a:latin typeface="Times New Roman" panose="02020603050405020304" pitchFamily="18" charset="0"/>
                <a:ea typeface="Calibri" panose="020F0502020204030204" pitchFamily="34" charset="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a:t>
            </a:r>
            <a:endParaRPr lang="en-IN"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073CDBAD-263F-6ABE-2CED-741FFD77634B}"/>
              </a:ext>
            </a:extLst>
          </p:cNvPr>
          <p:cNvSpPr txBox="1">
            <a:spLocks/>
          </p:cNvSpPr>
          <p:nvPr/>
        </p:nvSpPr>
        <p:spPr>
          <a:xfrm>
            <a:off x="1691680" y="0"/>
            <a:ext cx="7200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dirty="0">
                <a:latin typeface="Times New Roman" panose="02020603050405020304" pitchFamily="18" charset="0"/>
                <a:cs typeface="Times New Roman" panose="02020603050405020304" pitchFamily="18" charset="0"/>
              </a:rPr>
              <a:t>Program Outcomes</a:t>
            </a: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7024729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D802F8-FB40-B05D-E3D3-33717B25B52F}"/>
              </a:ext>
            </a:extLst>
          </p:cNvPr>
          <p:cNvSpPr>
            <a:spLocks noGrp="1"/>
          </p:cNvSpPr>
          <p:nvPr>
            <p:ph type="dt" sz="half" idx="10"/>
          </p:nvPr>
        </p:nvSpPr>
        <p:spPr/>
        <p:txBody>
          <a:bodyPr/>
          <a:lstStyle/>
          <a:p>
            <a:fld id="{8CED97C7-CA57-499C-8A60-5BBF496D94AE}" type="datetime1">
              <a:rPr lang="en-US" smtClean="0"/>
              <a:pPr/>
              <a:t>30-Aug-25</a:t>
            </a:fld>
            <a:endParaRPr lang="en-IN"/>
          </a:p>
        </p:txBody>
      </p:sp>
      <p:sp>
        <p:nvSpPr>
          <p:cNvPr id="4" name="Slide Number Placeholder 3">
            <a:extLst>
              <a:ext uri="{FF2B5EF4-FFF2-40B4-BE49-F238E27FC236}">
                <a16:creationId xmlns:a16="http://schemas.microsoft.com/office/drawing/2014/main" id="{C945FDD6-3EC6-8E96-1AFF-8A27E7FE9A21}"/>
              </a:ext>
            </a:extLst>
          </p:cNvPr>
          <p:cNvSpPr>
            <a:spLocks noGrp="1"/>
          </p:cNvSpPr>
          <p:nvPr>
            <p:ph type="sldNum" sz="quarter" idx="12"/>
          </p:nvPr>
        </p:nvSpPr>
        <p:spPr/>
        <p:txBody>
          <a:bodyPr/>
          <a:lstStyle/>
          <a:p>
            <a:fld id="{F8999BB2-E6E2-4FC7-A9BF-D8A708327382}" type="slidenum">
              <a:rPr lang="en-IN" smtClean="0"/>
              <a:pPr/>
              <a:t>17</a:t>
            </a:fld>
            <a:endParaRPr lang="en-IN"/>
          </a:p>
        </p:txBody>
      </p:sp>
      <p:sp>
        <p:nvSpPr>
          <p:cNvPr id="5" name="Title 1">
            <a:extLst>
              <a:ext uri="{FF2B5EF4-FFF2-40B4-BE49-F238E27FC236}">
                <a16:creationId xmlns:a16="http://schemas.microsoft.com/office/drawing/2014/main" id="{073CDBAD-263F-6ABE-2CED-741FFD77634B}"/>
              </a:ext>
            </a:extLst>
          </p:cNvPr>
          <p:cNvSpPr txBox="1">
            <a:spLocks/>
          </p:cNvSpPr>
          <p:nvPr/>
        </p:nvSpPr>
        <p:spPr>
          <a:xfrm>
            <a:off x="2339752" y="-29497"/>
            <a:ext cx="66247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dirty="0">
                <a:latin typeface="Times New Roman" panose="02020603050405020304" pitchFamily="18" charset="0"/>
                <a:cs typeface="Times New Roman" panose="02020603050405020304" pitchFamily="18" charset="0"/>
              </a:rPr>
              <a:t>Program Outcomes</a:t>
            </a:r>
          </a:p>
        </p:txBody>
      </p:sp>
      <p:sp>
        <p:nvSpPr>
          <p:cNvPr id="8" name="TextBox 7">
            <a:extLst>
              <a:ext uri="{FF2B5EF4-FFF2-40B4-BE49-F238E27FC236}">
                <a16:creationId xmlns:a16="http://schemas.microsoft.com/office/drawing/2014/main" id="{9F664240-A717-DBB3-A045-D617583102F2}"/>
              </a:ext>
            </a:extLst>
          </p:cNvPr>
          <p:cNvSpPr txBox="1"/>
          <p:nvPr/>
        </p:nvSpPr>
        <p:spPr>
          <a:xfrm>
            <a:off x="179512" y="1052736"/>
            <a:ext cx="8389067" cy="2826415"/>
          </a:xfrm>
          <a:prstGeom prst="rect">
            <a:avLst/>
          </a:prstGeom>
          <a:noFill/>
        </p:spPr>
        <p:txBody>
          <a:bodyPr wrap="square">
            <a:spAutoFit/>
          </a:bodyPr>
          <a:lstStyle/>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7. Environment and sustainability: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Understand the impact of the professional engineering solutions in societal and environmental contexts, and demonstrate the knowledge of, and need for sustainable development.</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8. Ethics: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Apply ethical principles and commit to professional ethics and responsibilities and norms of the engineering practice.</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9. Individual and teamwork:</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Function effectively as an individual, and as a member or leader in diverse teams, and in multidisciplinary settings.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203690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B8384B-E955-4436-B51E-FDDE6F26B267}" type="datetime1">
              <a:rPr lang="en-US" smtClean="0"/>
              <a:pPr/>
              <a:t>30-Aug-25</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5" name="Rectangle 4"/>
          <p:cNvSpPr/>
          <p:nvPr/>
        </p:nvSpPr>
        <p:spPr>
          <a:xfrm>
            <a:off x="179512" y="908720"/>
            <a:ext cx="8748972" cy="4103688"/>
          </a:xfrm>
          <a:prstGeom prst="rect">
            <a:avLst/>
          </a:prstGeom>
        </p:spPr>
        <p:txBody>
          <a:bodyPr wrap="square">
            <a:spAutoFit/>
          </a:bodyPr>
          <a:lstStyle/>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10. Communication:</a:t>
            </a:r>
            <a:r>
              <a:rPr lang="en-US" sz="2000" dirty="0">
                <a:latin typeface="Times New Roman" panose="02020603050405020304" pitchFamily="18" charset="0"/>
                <a:ea typeface="Calibri" panose="020F0502020204030204" pitchFamily="34" charset="0"/>
                <a:cs typeface="Times New Roman" panose="02020603050405020304" pitchFamily="18" charset="0"/>
              </a:rPr>
              <a:t> Communicate effectively on complex engineering activities with the engineering community and with the society at large, such as, being able to comprehend and write effective reports and design documentation, make effective presentations, and give and receive clear instructions.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15000"/>
              </a:lnSpc>
              <a:spcAft>
                <a:spcPts val="1000"/>
              </a:spcAft>
            </a:pPr>
            <a:r>
              <a:rPr lang="en-US" sz="2000" b="1" dirty="0">
                <a:latin typeface="Times New Roman" panose="02020603050405020304" pitchFamily="18" charset="0"/>
                <a:ea typeface="Calibri" panose="020F0502020204030204" pitchFamily="34" charset="0"/>
                <a:cs typeface="Times New Roman" panose="02020603050405020304" pitchFamily="18" charset="0"/>
              </a:rPr>
              <a:t>11. Project management and finance:</a:t>
            </a:r>
            <a:r>
              <a:rPr lang="en-US" sz="2000" dirty="0">
                <a:latin typeface="Times New Roman" panose="02020603050405020304" pitchFamily="18" charset="0"/>
                <a:ea typeface="Calibri" panose="020F0502020204030204" pitchFamily="34" charset="0"/>
                <a:cs typeface="Times New Roman" panose="02020603050405020304" pitchFamily="18" charset="0"/>
              </a:rPr>
              <a:t> Demonstrate knowledge and understanding of the engineering and management principles and apply these to one’s own work, as a member and leader in a team, to manage projects and in multidisciplinary environments.</a:t>
            </a:r>
            <a:endParaRPr lang="en-IN" sz="20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b="1" dirty="0">
                <a:latin typeface="Times New Roman" panose="02020603050405020304" pitchFamily="18" charset="0"/>
                <a:ea typeface="Calibri" panose="020F0502020204030204" pitchFamily="34" charset="0"/>
                <a:cs typeface="Times New Roman" panose="02020603050405020304" pitchFamily="18" charset="0"/>
              </a:rPr>
              <a:t>12. Life-long learning: </a:t>
            </a:r>
            <a:r>
              <a:rPr lang="en-US" sz="2000" dirty="0">
                <a:latin typeface="Times New Roman" panose="02020603050405020304" pitchFamily="18" charset="0"/>
                <a:ea typeface="Calibri" panose="020F0502020204030204" pitchFamily="34" charset="0"/>
                <a:cs typeface="Times New Roman" panose="02020603050405020304" pitchFamily="18" charset="0"/>
              </a:rPr>
              <a:t>Recognize the need for and have the preparation and ability to engage in independent and life-long learning in the broadest context of technological change</a:t>
            </a:r>
            <a:r>
              <a:rPr lang="en-US" sz="2000" dirty="0">
                <a:latin typeface="Times New Roman" panose="02020603050405020304" pitchFamily="18" charset="0"/>
                <a:ea typeface="Calibri" panose="020F0502020204030204" pitchFamily="34" charset="0"/>
              </a:rPr>
              <a:t>.</a:t>
            </a:r>
            <a:endParaRPr lang="en-IN" sz="2000" dirty="0"/>
          </a:p>
        </p:txBody>
      </p:sp>
      <p:sp>
        <p:nvSpPr>
          <p:cNvPr id="6" name="Title 1">
            <a:extLst>
              <a:ext uri="{FF2B5EF4-FFF2-40B4-BE49-F238E27FC236}">
                <a16:creationId xmlns:a16="http://schemas.microsoft.com/office/drawing/2014/main" id="{073CDBAD-263F-6ABE-2CED-741FFD77634B}"/>
              </a:ext>
            </a:extLst>
          </p:cNvPr>
          <p:cNvSpPr txBox="1">
            <a:spLocks/>
          </p:cNvSpPr>
          <p:nvPr/>
        </p:nvSpPr>
        <p:spPr>
          <a:xfrm>
            <a:off x="1475656" y="-29497"/>
            <a:ext cx="7488832"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dirty="0">
                <a:latin typeface="Times New Roman" panose="02020603050405020304" pitchFamily="18" charset="0"/>
                <a:cs typeface="Times New Roman" panose="02020603050405020304" pitchFamily="18" charset="0"/>
              </a:rPr>
              <a:t>Program Outcomes</a:t>
            </a: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a:t>                                                      VIJAY LAXMI                                                                                             AEO0771</a:t>
            </a:r>
            <a:endParaRPr lang="en-US" dirty="0"/>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0371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3EBA42-B672-436A-AEDC-8160BA76F50E}" type="datetime1">
              <a:rPr lang="en-US" smtClean="0"/>
              <a:pPr/>
              <a:t>30-Aug-25</a:t>
            </a:fld>
            <a:endParaRPr lang="en-IN"/>
          </a:p>
        </p:txBody>
      </p:sp>
      <p:sp>
        <p:nvSpPr>
          <p:cNvPr id="3" name="Slide Number Placeholder 2"/>
          <p:cNvSpPr>
            <a:spLocks noGrp="1"/>
          </p:cNvSpPr>
          <p:nvPr>
            <p:ph type="sldNum" sz="quarter" idx="12"/>
          </p:nvPr>
        </p:nvSpPr>
        <p:spPr/>
        <p:txBody>
          <a:bodyPr/>
          <a:lstStyle/>
          <a:p>
            <a:fld id="{5949D1D6-6D4D-4B65-9E2F-1B567AF589C5}" type="slidenum">
              <a:rPr lang="en-IN" smtClean="0"/>
              <a:pPr/>
              <a:t>19</a:t>
            </a:fld>
            <a:endParaRPr lang="en-IN"/>
          </a:p>
        </p:txBody>
      </p:sp>
      <p:sp>
        <p:nvSpPr>
          <p:cNvPr id="6" name="Title 1"/>
          <p:cNvSpPr txBox="1">
            <a:spLocks/>
          </p:cNvSpPr>
          <p:nvPr/>
        </p:nvSpPr>
        <p:spPr>
          <a:xfrm>
            <a:off x="2411760" y="0"/>
            <a:ext cx="673224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t>Program Educational Outcomes</a:t>
            </a:r>
          </a:p>
        </p:txBody>
      </p:sp>
      <p:sp>
        <p:nvSpPr>
          <p:cNvPr id="7" name="Rectangle 6"/>
          <p:cNvSpPr/>
          <p:nvPr/>
        </p:nvSpPr>
        <p:spPr>
          <a:xfrm>
            <a:off x="642910" y="1166843"/>
            <a:ext cx="7929618" cy="3477875"/>
          </a:xfrm>
          <a:prstGeom prst="rect">
            <a:avLst/>
          </a:prstGeom>
        </p:spPr>
        <p:txBody>
          <a:bodyPr wrap="square">
            <a:spAutoFit/>
          </a:bodyPr>
          <a:lstStyle/>
          <a:p>
            <a:pPr algn="just">
              <a:buNone/>
            </a:pPr>
            <a:r>
              <a:rPr lang="en-US" sz="2000" dirty="0">
                <a:latin typeface="Times New Roman" panose="02020603050405020304" pitchFamily="18" charset="0"/>
                <a:cs typeface="Times New Roman" panose="02020603050405020304" pitchFamily="18" charset="0"/>
              </a:rPr>
              <a:t>PEO1:  Conceptual Knowledge to adapt in rapidly changing environment and learn new skills and demonstrate application of management principles in professional work setting.</a:t>
            </a:r>
          </a:p>
          <a:p>
            <a:pPr algn="just">
              <a:buNone/>
            </a:pPr>
            <a:r>
              <a:rPr lang="en-US" sz="2000" dirty="0">
                <a:latin typeface="Times New Roman" panose="02020603050405020304" pitchFamily="18" charset="0"/>
                <a:cs typeface="Times New Roman" panose="02020603050405020304" pitchFamily="18" charset="0"/>
              </a:rPr>
              <a:t>	</a:t>
            </a:r>
          </a:p>
          <a:p>
            <a:pPr algn="just">
              <a:buNone/>
            </a:pPr>
            <a:r>
              <a:rPr lang="en-US" sz="2000" dirty="0">
                <a:latin typeface="Times New Roman" panose="02020603050405020304" pitchFamily="18" charset="0"/>
                <a:cs typeface="Times New Roman" panose="02020603050405020304" pitchFamily="18" charset="0"/>
              </a:rPr>
              <a:t>PEO2:  Apply appropriate tools for decision making for solving complex managerial problems in local or global context</a:t>
            </a:r>
          </a:p>
          <a:p>
            <a:pPr algn="just">
              <a:buNone/>
            </a:pPr>
            <a:r>
              <a:rPr lang="en-US" sz="2000" dirty="0">
                <a:latin typeface="Times New Roman" panose="02020603050405020304" pitchFamily="18" charset="0"/>
                <a:cs typeface="Times New Roman" panose="02020603050405020304" pitchFamily="18" charset="0"/>
              </a:rPr>
              <a:t> 		</a:t>
            </a:r>
          </a:p>
          <a:p>
            <a:pPr algn="just">
              <a:buNone/>
            </a:pPr>
            <a:r>
              <a:rPr lang="en-US" sz="2000" dirty="0">
                <a:latin typeface="Times New Roman" panose="02020603050405020304" pitchFamily="18" charset="0"/>
                <a:cs typeface="Times New Roman" panose="02020603050405020304" pitchFamily="18" charset="0"/>
              </a:rPr>
              <a:t>PEO3:  Exhibit Integrity, social responsibility and teamwork</a:t>
            </a:r>
          </a:p>
          <a:p>
            <a:pPr algn="just">
              <a:buNone/>
            </a:pPr>
            <a:r>
              <a:rPr lang="en-US" sz="2000" dirty="0">
                <a:latin typeface="Times New Roman" panose="02020603050405020304" pitchFamily="18" charset="0"/>
                <a:cs typeface="Times New Roman" panose="02020603050405020304" pitchFamily="18" charset="0"/>
              </a:rPr>
              <a:t>		</a:t>
            </a:r>
          </a:p>
          <a:p>
            <a:pPr algn="just">
              <a:buNone/>
            </a:pPr>
            <a:r>
              <a:rPr lang="en-US" sz="2000" dirty="0">
                <a:latin typeface="Times New Roman" panose="02020603050405020304" pitchFamily="18" charset="0"/>
                <a:cs typeface="Times New Roman" panose="02020603050405020304" pitchFamily="18" charset="0"/>
              </a:rPr>
              <a:t>PEO4: Exhibit ethics, communication skills, leadership qualities and entrepreneurial mindset</a:t>
            </a:r>
          </a:p>
        </p:txBody>
      </p:sp>
      <p:sp>
        <p:nvSpPr>
          <p:cNvPr id="8" name="Title 1">
            <a:extLst>
              <a:ext uri="{FF2B5EF4-FFF2-40B4-BE49-F238E27FC236}">
                <a16:creationId xmlns:a16="http://schemas.microsoft.com/office/drawing/2014/main" id="{0AD65C0C-7757-D4F4-4286-F160B71D1676}"/>
              </a:ext>
            </a:extLst>
          </p:cNvPr>
          <p:cNvSpPr txBox="1">
            <a:spLocks/>
          </p:cNvSpPr>
          <p:nvPr/>
        </p:nvSpPr>
        <p:spPr>
          <a:xfrm>
            <a:off x="2195736" y="40"/>
            <a:ext cx="673224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b="1" dirty="0">
                <a:latin typeface="Times New Roman" panose="02020603050405020304" pitchFamily="18" charset="0"/>
                <a:cs typeface="Times New Roman" panose="02020603050405020304" pitchFamily="18" charset="0"/>
              </a:rPr>
              <a:t>Program Educational Outcomes</a:t>
            </a: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a:t>                                                      VIJAY LAXMI                                                                                             AEO0771</a:t>
            </a:r>
            <a:endParaRPr lang="en-US" dirty="0"/>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922114"/>
          </a:xfrm>
        </p:spPr>
        <p:txBody>
          <a:bodyPr/>
          <a:lstStyle/>
          <a:p>
            <a:r>
              <a:rPr lang="en-US" dirty="0"/>
              <a:t>Objective of the unit</a:t>
            </a:r>
            <a:endParaRPr lang="en-IN" dirty="0"/>
          </a:p>
        </p:txBody>
      </p:sp>
      <p:sp>
        <p:nvSpPr>
          <p:cNvPr id="6" name="Content Placeholder 5"/>
          <p:cNvSpPr>
            <a:spLocks noGrp="1"/>
          </p:cNvSpPr>
          <p:nvPr>
            <p:ph idx="1"/>
          </p:nvPr>
        </p:nvSpPr>
        <p:spPr/>
        <p:txBody>
          <a:bodyPr/>
          <a:lstStyle/>
          <a:p>
            <a:pPr>
              <a:lnSpc>
                <a:spcPct val="150000"/>
              </a:lnSpc>
              <a:buNone/>
            </a:pPr>
            <a:r>
              <a:rPr lang="en-IN" sz="2800" dirty="0"/>
              <a:t>To help the students learn:</a:t>
            </a:r>
          </a:p>
          <a:p>
            <a:pPr marL="457200" indent="-457200" algn="just">
              <a:buFont typeface="+mj-lt"/>
              <a:buAutoNum type="arabicPeriod"/>
            </a:pPr>
            <a:r>
              <a:rPr lang="en-US" sz="2800" dirty="0"/>
              <a:t>Means of generating product ideas for a new venture</a:t>
            </a:r>
          </a:p>
          <a:p>
            <a:pPr marL="457200" indent="-457200" algn="just">
              <a:buFont typeface="+mj-lt"/>
              <a:buAutoNum type="arabicPeriod"/>
            </a:pPr>
            <a:r>
              <a:rPr lang="en-US" sz="2800" dirty="0"/>
              <a:t>New product development and process</a:t>
            </a:r>
          </a:p>
          <a:p>
            <a:endParaRPr lang="en-IN" dirty="0"/>
          </a:p>
        </p:txBody>
      </p:sp>
      <p:sp>
        <p:nvSpPr>
          <p:cNvPr id="2" name="Date Placeholder 1"/>
          <p:cNvSpPr>
            <a:spLocks noGrp="1"/>
          </p:cNvSpPr>
          <p:nvPr>
            <p:ph type="dt" sz="half" idx="10"/>
          </p:nvPr>
        </p:nvSpPr>
        <p:spPr/>
        <p:txBody>
          <a:bodyPr/>
          <a:lstStyle/>
          <a:p>
            <a:fld id="{0DB8384B-E955-4436-B51E-FDDE6F26B267}" type="datetime1">
              <a:rPr lang="en-US" smtClean="0"/>
              <a:pPr/>
              <a:t>30-Aug-25</a:t>
            </a:fld>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3" name="Footer Placeholder 2"/>
          <p:cNvSpPr>
            <a:spLocks noGrp="1"/>
          </p:cNvSpPr>
          <p:nvPr>
            <p:ph type="ftr" sz="quarter" idx="4294967295"/>
          </p:nvPr>
        </p:nvSpPr>
        <p:spPr>
          <a:xfrm>
            <a:off x="0" y="6356350"/>
            <a:ext cx="8244408" cy="365125"/>
          </a:xfrm>
        </p:spPr>
        <p:txBody>
          <a:bodyPr/>
          <a:lstStyle/>
          <a:p>
            <a:r>
              <a:rPr lang="en-US" dirty="0" err="1"/>
              <a:t>Mohd</a:t>
            </a:r>
            <a:r>
              <a:rPr lang="en-US" dirty="0"/>
              <a:t> Zaid          		AEO0771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950479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FB6C02-A4D7-4D55-AD79-6FA168364B6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p:cNvSpPr txBox="1">
            <a:spLocks/>
          </p:cNvSpPr>
          <p:nvPr/>
        </p:nvSpPr>
        <p:spPr>
          <a:xfrm>
            <a:off x="1547664" y="2"/>
            <a:ext cx="7596336" cy="83671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36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1458973354"/>
              </p:ext>
            </p:extLst>
          </p:nvPr>
        </p:nvGraphicFramePr>
        <p:xfrm>
          <a:off x="457200" y="1676400"/>
          <a:ext cx="8305800" cy="4114800"/>
        </p:xfrm>
        <a:graphic>
          <a:graphicData uri="http://schemas.openxmlformats.org/drawingml/2006/table">
            <a:tbl>
              <a:tblPr firstRow="1" bandRow="1">
                <a:tableStyleId>{5C22544A-7EE6-4342-B048-85BDC9FD1C3A}</a:tableStyleId>
              </a:tblPr>
              <a:tblGrid>
                <a:gridCol w="1453515">
                  <a:extLst>
                    <a:ext uri="{9D8B030D-6E8A-4147-A177-3AD203B41FA5}">
                      <a16:colId xmlns:a16="http://schemas.microsoft.com/office/drawing/2014/main" val="20000"/>
                    </a:ext>
                  </a:extLst>
                </a:gridCol>
                <a:gridCol w="5252085">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mn-lt"/>
                          <a:ea typeface="+mn-ea"/>
                          <a:cs typeface="+mn-cs"/>
                        </a:rPr>
                        <a:t>Course outcome </a:t>
                      </a:r>
                      <a:endParaRPr lang="en-US" dirty="0"/>
                    </a:p>
                  </a:txBody>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lt1"/>
                          </a:solidFill>
                          <a:effectLst/>
                          <a:latin typeface="+mn-lt"/>
                          <a:ea typeface="+mn-ea"/>
                          <a:cs typeface="+mn-cs"/>
                        </a:rPr>
                        <a:t>At the end of course, the student will be able to </a:t>
                      </a:r>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CO1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Develop understanding of basic concepts of entrepreneurship. </a:t>
                      </a:r>
                      <a:endParaRPr lang="en-US" dirty="0"/>
                    </a:p>
                  </a:txBody>
                  <a:tcPr/>
                </a:tc>
                <a:tc>
                  <a:txBody>
                    <a:bodyPr/>
                    <a:lstStyle/>
                    <a:p>
                      <a:r>
                        <a:rPr lang="en-US" dirty="0"/>
                        <a:t>K1,K2</a:t>
                      </a:r>
                    </a:p>
                  </a:txBody>
                  <a:tcPr/>
                </a:tc>
                <a:extLst>
                  <a:ext uri="{0D108BD9-81ED-4DB2-BD59-A6C34878D82A}">
                    <a16:rowId xmlns:a16="http://schemas.microsoft.com/office/drawing/2014/main" val="10001"/>
                  </a:ext>
                </a:extLst>
              </a:tr>
              <a:tr h="370840">
                <a:tc>
                  <a:txBody>
                    <a:bodyPr/>
                    <a:lstStyle/>
                    <a:p>
                      <a:r>
                        <a:rPr lang="en-US" dirty="0"/>
                        <a:t>CO2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Develop an entrepreneurial mindset through knowledge of creativity and innovation </a:t>
                      </a:r>
                      <a:endParaRPr lang="en-US" dirty="0"/>
                    </a:p>
                  </a:txBody>
                  <a:tcPr/>
                </a:tc>
                <a:tc>
                  <a:txBody>
                    <a:bodyPr/>
                    <a:lstStyle/>
                    <a:p>
                      <a:r>
                        <a:rPr lang="en-US" dirty="0"/>
                        <a:t>K3,K4</a:t>
                      </a:r>
                    </a:p>
                  </a:txBody>
                  <a:tcPr/>
                </a:tc>
                <a:extLst>
                  <a:ext uri="{0D108BD9-81ED-4DB2-BD59-A6C34878D82A}">
                    <a16:rowId xmlns:a16="http://schemas.microsoft.com/office/drawing/2014/main" val="10002"/>
                  </a:ext>
                </a:extLst>
              </a:tr>
              <a:tr h="370840">
                <a:tc>
                  <a:txBody>
                    <a:bodyPr/>
                    <a:lstStyle/>
                    <a:p>
                      <a:r>
                        <a:rPr lang="en-US" dirty="0"/>
                        <a:t>CO3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Evaluating and understanding a holistic approach of launching a new business venture </a:t>
                      </a:r>
                      <a:endParaRPr lang="en-US" dirty="0"/>
                    </a:p>
                  </a:txBody>
                  <a:tcPr/>
                </a:tc>
                <a:tc>
                  <a:txBody>
                    <a:bodyPr/>
                    <a:lstStyle/>
                    <a:p>
                      <a:r>
                        <a:rPr lang="en-US" dirty="0"/>
                        <a:t>K4</a:t>
                      </a:r>
                    </a:p>
                  </a:txBody>
                  <a:tcPr/>
                </a:tc>
                <a:extLst>
                  <a:ext uri="{0D108BD9-81ED-4DB2-BD59-A6C34878D82A}">
                    <a16:rowId xmlns:a16="http://schemas.microsoft.com/office/drawing/2014/main" val="10003"/>
                  </a:ext>
                </a:extLst>
              </a:tr>
              <a:tr h="370840">
                <a:tc>
                  <a:txBody>
                    <a:bodyPr/>
                    <a:lstStyle/>
                    <a:p>
                      <a:r>
                        <a:rPr lang="en-US" dirty="0"/>
                        <a:t>CO4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Understanding of converting an Idea to an opportunity and various funding sources </a:t>
                      </a:r>
                      <a:endParaRPr lang="en-US" dirty="0"/>
                    </a:p>
                  </a:txBody>
                  <a:tcPr/>
                </a:tc>
                <a:tc>
                  <a:txBody>
                    <a:bodyPr/>
                    <a:lstStyle/>
                    <a:p>
                      <a:r>
                        <a:rPr lang="en-US" dirty="0"/>
                        <a:t>K2</a:t>
                      </a:r>
                    </a:p>
                  </a:txBody>
                  <a:tcPr/>
                </a:tc>
                <a:extLst>
                  <a:ext uri="{0D108BD9-81ED-4DB2-BD59-A6C34878D82A}">
                    <a16:rowId xmlns:a16="http://schemas.microsoft.com/office/drawing/2014/main" val="10004"/>
                  </a:ext>
                </a:extLst>
              </a:tr>
              <a:tr h="370840">
                <a:tc>
                  <a:txBody>
                    <a:bodyPr/>
                    <a:lstStyle/>
                    <a:p>
                      <a:r>
                        <a:rPr lang="en-US" dirty="0"/>
                        <a:t>CO5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Develop knowledge on Entrepreneurial Finance, Assistance and role of Entrepreneurial Development Agencies </a:t>
                      </a:r>
                      <a:endParaRPr lang="en-US" dirty="0"/>
                    </a:p>
                  </a:txBody>
                  <a:tcPr/>
                </a:tc>
                <a:tc>
                  <a:txBody>
                    <a:bodyPr/>
                    <a:lstStyle/>
                    <a:p>
                      <a:r>
                        <a:rPr lang="en-US" dirty="0"/>
                        <a:t>K4, K5</a:t>
                      </a:r>
                    </a:p>
                  </a:txBody>
                  <a:tcPr/>
                </a:tc>
                <a:extLst>
                  <a:ext uri="{0D108BD9-81ED-4DB2-BD59-A6C34878D82A}">
                    <a16:rowId xmlns:a16="http://schemas.microsoft.com/office/drawing/2014/main" val="10005"/>
                  </a:ext>
                </a:extLst>
              </a:tr>
            </a:tbl>
          </a:graphicData>
        </a:graphic>
      </p:graphicFrame>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263392069"/>
              </p:ext>
            </p:extLst>
          </p:nvPr>
        </p:nvGraphicFramePr>
        <p:xfrm>
          <a:off x="1371601" y="1066802"/>
          <a:ext cx="6008710" cy="2290189"/>
        </p:xfrm>
        <a:graphic>
          <a:graphicData uri="http://schemas.openxmlformats.org/drawingml/2006/table">
            <a:tbl>
              <a:tblPr firstRow="1" firstCol="1" bandRow="1">
                <a:tableStyleId>{5C22544A-7EE6-4342-B048-85BDC9FD1C3A}</a:tableStyleId>
              </a:tblPr>
              <a:tblGrid>
                <a:gridCol w="632045">
                  <a:extLst>
                    <a:ext uri="{9D8B030D-6E8A-4147-A177-3AD203B41FA5}">
                      <a16:colId xmlns:a16="http://schemas.microsoft.com/office/drawing/2014/main" val="20000"/>
                    </a:ext>
                  </a:extLst>
                </a:gridCol>
                <a:gridCol w="1282429">
                  <a:extLst>
                    <a:ext uri="{9D8B030D-6E8A-4147-A177-3AD203B41FA5}">
                      <a16:colId xmlns:a16="http://schemas.microsoft.com/office/drawing/2014/main" val="20001"/>
                    </a:ext>
                  </a:extLst>
                </a:gridCol>
                <a:gridCol w="904669">
                  <a:extLst>
                    <a:ext uri="{9D8B030D-6E8A-4147-A177-3AD203B41FA5}">
                      <a16:colId xmlns:a16="http://schemas.microsoft.com/office/drawing/2014/main" val="20002"/>
                    </a:ext>
                  </a:extLst>
                </a:gridCol>
                <a:gridCol w="746963">
                  <a:extLst>
                    <a:ext uri="{9D8B030D-6E8A-4147-A177-3AD203B41FA5}">
                      <a16:colId xmlns:a16="http://schemas.microsoft.com/office/drawing/2014/main" val="20003"/>
                    </a:ext>
                  </a:extLst>
                </a:gridCol>
                <a:gridCol w="861880">
                  <a:extLst>
                    <a:ext uri="{9D8B030D-6E8A-4147-A177-3AD203B41FA5}">
                      <a16:colId xmlns:a16="http://schemas.microsoft.com/office/drawing/2014/main" val="20004"/>
                    </a:ext>
                  </a:extLst>
                </a:gridCol>
                <a:gridCol w="861880">
                  <a:extLst>
                    <a:ext uri="{9D8B030D-6E8A-4147-A177-3AD203B41FA5}">
                      <a16:colId xmlns:a16="http://schemas.microsoft.com/office/drawing/2014/main" val="20005"/>
                    </a:ext>
                  </a:extLst>
                </a:gridCol>
                <a:gridCol w="718844">
                  <a:extLst>
                    <a:ext uri="{9D8B030D-6E8A-4147-A177-3AD203B41FA5}">
                      <a16:colId xmlns:a16="http://schemas.microsoft.com/office/drawing/2014/main" val="20006"/>
                    </a:ext>
                  </a:extLst>
                </a:gridCol>
              </a:tblGrid>
              <a:tr h="783822">
                <a:tc>
                  <a:txBody>
                    <a:bodyPr/>
                    <a:lstStyle/>
                    <a:p>
                      <a:pPr marL="0" marR="0">
                        <a:lnSpc>
                          <a:spcPct val="115000"/>
                        </a:lnSpc>
                        <a:spcBef>
                          <a:spcPts val="0"/>
                        </a:spcBef>
                        <a:spcAft>
                          <a:spcPts val="0"/>
                        </a:spcAft>
                      </a:pPr>
                      <a:r>
                        <a:rPr lang="en-US" sz="1100" dirty="0">
                          <a:effectLst/>
                        </a:rPr>
                        <a:t>Sr. No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Course  Outcome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dirty="0">
                          <a:effectLst/>
                        </a:rPr>
                        <a:t>PO1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dirty="0">
                          <a:effectLst/>
                        </a:rPr>
                        <a:t>PO4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100">
                          <a:effectLst/>
                        </a:rPr>
                        <a:t>PO5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262081">
                <a:tc>
                  <a:txBody>
                    <a:bodyPr/>
                    <a:lstStyle/>
                    <a:p>
                      <a:pPr marL="0" marR="0">
                        <a:lnSpc>
                          <a:spcPct val="115000"/>
                        </a:lnSpc>
                        <a:spcBef>
                          <a:spcPts val="0"/>
                        </a:spcBef>
                        <a:spcAft>
                          <a:spcPts val="0"/>
                        </a:spcAft>
                      </a:pPr>
                      <a:r>
                        <a:rPr lang="en-US" sz="1400" b="1">
                          <a:effectLst/>
                        </a:rPr>
                        <a:t>1</a:t>
                      </a:r>
                      <a:endParaRPr lang="en-US" sz="14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400" b="1">
                          <a:effectLst/>
                        </a:rPr>
                        <a:t>CO 1</a:t>
                      </a:r>
                      <a:endParaRPr lang="en-US" sz="1600" b="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dirty="0">
                          <a:effectLst/>
                        </a:rPr>
                        <a:t>H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dirty="0">
                          <a:effectLst/>
                        </a:rPr>
                        <a:t> H</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dirty="0">
                          <a:effectLst/>
                        </a:rPr>
                        <a:t>M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dirty="0">
                          <a:effectLst/>
                        </a:rPr>
                        <a:t>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dirty="0">
                          <a:effectLst/>
                        </a:rPr>
                        <a:t>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10457">
                <a:tc>
                  <a:txBody>
                    <a:bodyPr/>
                    <a:lstStyle/>
                    <a:p>
                      <a:pPr marL="0" marR="0">
                        <a:lnSpc>
                          <a:spcPct val="115000"/>
                        </a:lnSpc>
                        <a:spcBef>
                          <a:spcPts val="0"/>
                        </a:spcBef>
                        <a:spcAft>
                          <a:spcPts val="0"/>
                        </a:spcAft>
                      </a:pPr>
                      <a:r>
                        <a:rPr lang="en-US" sz="11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100">
                          <a:effectLst/>
                        </a:rPr>
                        <a:t>CO 2</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310457">
                <a:tc>
                  <a:txBody>
                    <a:bodyPr/>
                    <a:lstStyle/>
                    <a:p>
                      <a:pPr marL="0" marR="0">
                        <a:lnSpc>
                          <a:spcPct val="115000"/>
                        </a:lnSpc>
                        <a:spcBef>
                          <a:spcPts val="0"/>
                        </a:spcBef>
                        <a:spcAft>
                          <a:spcPts val="0"/>
                        </a:spcAft>
                      </a:pPr>
                      <a:r>
                        <a:rPr lang="en-US" sz="11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indent="11430" algn="just">
                        <a:lnSpc>
                          <a:spcPct val="150000"/>
                        </a:lnSpc>
                        <a:spcBef>
                          <a:spcPts val="0"/>
                        </a:spcBef>
                        <a:spcAft>
                          <a:spcPts val="0"/>
                        </a:spcAft>
                      </a:pPr>
                      <a:r>
                        <a:rPr lang="en-US" sz="1100">
                          <a:effectLst/>
                        </a:rPr>
                        <a:t>CO 3</a:t>
                      </a:r>
                      <a:endParaRPr lang="en-US" sz="12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11686">
                <a:tc>
                  <a:txBody>
                    <a:bodyPr/>
                    <a:lstStyle/>
                    <a:p>
                      <a:pPr marL="0" marR="0">
                        <a:lnSpc>
                          <a:spcPct val="115000"/>
                        </a:lnSpc>
                        <a:spcBef>
                          <a:spcPts val="0"/>
                        </a:spcBef>
                        <a:spcAft>
                          <a:spcPts val="0"/>
                        </a:spcAft>
                      </a:pPr>
                      <a:r>
                        <a:rPr lang="en-US" sz="11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100">
                          <a:effectLst/>
                        </a:rPr>
                        <a:t>CO 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11686">
                <a:tc>
                  <a:txBody>
                    <a:bodyPr/>
                    <a:lstStyle/>
                    <a:p>
                      <a:pPr marL="0" marR="0">
                        <a:lnSpc>
                          <a:spcPct val="115000"/>
                        </a:lnSpc>
                        <a:spcBef>
                          <a:spcPts val="0"/>
                        </a:spcBef>
                        <a:spcAft>
                          <a:spcPts val="0"/>
                        </a:spcAft>
                      </a:pPr>
                      <a:r>
                        <a:rPr lang="en-US" sz="11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Bef>
                          <a:spcPts val="0"/>
                        </a:spcBef>
                        <a:spcAft>
                          <a:spcPts val="0"/>
                        </a:spcAft>
                      </a:pPr>
                      <a:r>
                        <a:rPr lang="en-US" sz="1100">
                          <a:effectLst/>
                        </a:rPr>
                        <a:t>CO 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fld id="{607DC7E2-86BA-40AA-834B-2D693B53E9F3}"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1619672" y="2"/>
            <a:ext cx="7524328"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9" name="Table 8"/>
          <p:cNvGraphicFramePr>
            <a:graphicFrameLocks noGrp="1"/>
          </p:cNvGraphicFramePr>
          <p:nvPr>
            <p:extLst>
              <p:ext uri="{D42A27DB-BD31-4B8C-83A1-F6EECF244321}">
                <p14:modId xmlns:p14="http://schemas.microsoft.com/office/powerpoint/2010/main" val="510218068"/>
              </p:ext>
            </p:extLst>
          </p:nvPr>
        </p:nvGraphicFramePr>
        <p:xfrm>
          <a:off x="1143003" y="3505200"/>
          <a:ext cx="5998025" cy="1848096"/>
        </p:xfrm>
        <a:graphic>
          <a:graphicData uri="http://schemas.openxmlformats.org/drawingml/2006/table">
            <a:tbl>
              <a:tblPr firstRow="1" firstCol="1" bandRow="1">
                <a:tableStyleId>{5C22544A-7EE6-4342-B048-85BDC9FD1C3A}</a:tableStyleId>
              </a:tblPr>
              <a:tblGrid>
                <a:gridCol w="2209799">
                  <a:extLst>
                    <a:ext uri="{9D8B030D-6E8A-4147-A177-3AD203B41FA5}">
                      <a16:colId xmlns:a16="http://schemas.microsoft.com/office/drawing/2014/main" val="20000"/>
                    </a:ext>
                  </a:extLst>
                </a:gridCol>
                <a:gridCol w="960782">
                  <a:extLst>
                    <a:ext uri="{9D8B030D-6E8A-4147-A177-3AD203B41FA5}">
                      <a16:colId xmlns:a16="http://schemas.microsoft.com/office/drawing/2014/main" val="20001"/>
                    </a:ext>
                  </a:extLst>
                </a:gridCol>
                <a:gridCol w="823528">
                  <a:extLst>
                    <a:ext uri="{9D8B030D-6E8A-4147-A177-3AD203B41FA5}">
                      <a16:colId xmlns:a16="http://schemas.microsoft.com/office/drawing/2014/main" val="20002"/>
                    </a:ext>
                  </a:extLst>
                </a:gridCol>
                <a:gridCol w="686272">
                  <a:extLst>
                    <a:ext uri="{9D8B030D-6E8A-4147-A177-3AD203B41FA5}">
                      <a16:colId xmlns:a16="http://schemas.microsoft.com/office/drawing/2014/main" val="20003"/>
                    </a:ext>
                  </a:extLst>
                </a:gridCol>
                <a:gridCol w="686272">
                  <a:extLst>
                    <a:ext uri="{9D8B030D-6E8A-4147-A177-3AD203B41FA5}">
                      <a16:colId xmlns:a16="http://schemas.microsoft.com/office/drawing/2014/main" val="20004"/>
                    </a:ext>
                  </a:extLst>
                </a:gridCol>
                <a:gridCol w="631372">
                  <a:extLst>
                    <a:ext uri="{9D8B030D-6E8A-4147-A177-3AD203B41FA5}">
                      <a16:colId xmlns:a16="http://schemas.microsoft.com/office/drawing/2014/main" val="20005"/>
                    </a:ext>
                  </a:extLst>
                </a:gridCol>
              </a:tblGrid>
              <a:tr h="533354">
                <a:tc rowSpan="2">
                  <a:txBody>
                    <a:bodyPr/>
                    <a:lstStyle/>
                    <a:p>
                      <a:pPr marL="0" marR="0" algn="ctr">
                        <a:lnSpc>
                          <a:spcPct val="115000"/>
                        </a:lnSpc>
                        <a:spcBef>
                          <a:spcPts val="0"/>
                        </a:spcBef>
                        <a:spcAft>
                          <a:spcPts val="0"/>
                        </a:spcAft>
                      </a:pPr>
                      <a:r>
                        <a:rPr lang="en-US" sz="1200" dirty="0">
                          <a:effectLst/>
                        </a:rPr>
                        <a:t>Program Specific Outcomes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gridSpan="5">
                  <a:txBody>
                    <a:bodyPr/>
                    <a:lstStyle/>
                    <a:p>
                      <a:pPr marL="0" marR="0" algn="ctr">
                        <a:lnSpc>
                          <a:spcPct val="115000"/>
                        </a:lnSpc>
                        <a:spcBef>
                          <a:spcPts val="0"/>
                        </a:spcBef>
                        <a:spcAft>
                          <a:spcPts val="1000"/>
                        </a:spcAft>
                      </a:pPr>
                      <a:r>
                        <a:rPr lang="en-US" sz="1200" dirty="0">
                          <a:effectLst/>
                        </a:rPr>
                        <a:t>Course Outcomes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vMerge="1">
                  <a:txBody>
                    <a:bodyPr/>
                    <a:lstStyle/>
                    <a:p>
                      <a:endParaRPr lang="en-US"/>
                    </a:p>
                  </a:txBody>
                  <a:tcPr/>
                </a:tc>
                <a:tc>
                  <a:txBody>
                    <a:bodyPr/>
                    <a:lstStyle/>
                    <a:p>
                      <a:pPr marL="0" marR="0" algn="ctr">
                        <a:lnSpc>
                          <a:spcPct val="115000"/>
                        </a:lnSpc>
                        <a:spcBef>
                          <a:spcPts val="0"/>
                        </a:spcBef>
                        <a:spcAft>
                          <a:spcPts val="0"/>
                        </a:spcAft>
                      </a:pPr>
                      <a:r>
                        <a:rPr lang="en-US" sz="1400" b="1" dirty="0">
                          <a:effectLst/>
                        </a:rPr>
                        <a:t>1</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270948">
                <a:tc>
                  <a:txBody>
                    <a:bodyPr/>
                    <a:lstStyle/>
                    <a:p>
                      <a:pPr marL="0" marR="0" algn="ctr">
                        <a:lnSpc>
                          <a:spcPct val="115000"/>
                        </a:lnSpc>
                        <a:spcBef>
                          <a:spcPts val="0"/>
                        </a:spcBef>
                        <a:spcAft>
                          <a:spcPts val="0"/>
                        </a:spcAft>
                      </a:pPr>
                      <a:r>
                        <a:rPr lang="en-US" sz="1200">
                          <a:effectLst/>
                        </a:rPr>
                        <a: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dirty="0">
                          <a:effectLst/>
                        </a:rPr>
                        <a:t>M</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dirty="0">
                          <a:effectLst/>
                        </a:rPr>
                        <a:t>H</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70948">
                <a:tc>
                  <a:txBody>
                    <a:bodyPr/>
                    <a:lstStyle/>
                    <a:p>
                      <a:pPr marL="0" marR="0" algn="ctr">
                        <a:lnSpc>
                          <a:spcPct val="115000"/>
                        </a:lnSpc>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a:effectLst/>
                        </a:rPr>
                        <a:t>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270948">
                <a:tc>
                  <a:txBody>
                    <a:bodyPr/>
                    <a:lstStyle/>
                    <a:p>
                      <a:pPr marL="0" marR="0" algn="ctr">
                        <a:lnSpc>
                          <a:spcPct val="115000"/>
                        </a:lnSpc>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400" b="1" dirty="0">
                          <a:effectLst/>
                          <a:latin typeface="+mn-lt"/>
                          <a:ea typeface="+mn-ea"/>
                          <a:cs typeface="+mn-cs"/>
                        </a:rPr>
                        <a:t>H</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dirty="0">
                          <a:effectLst/>
                          <a:latin typeface="+mn-lt"/>
                          <a:ea typeface="+mn-ea"/>
                          <a:cs typeface="+mn-cs"/>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200" dirty="0">
                          <a:effectLst/>
                          <a:latin typeface="+mn-lt"/>
                          <a:ea typeface="+mn-ea"/>
                          <a:cs typeface="+mn-cs"/>
                        </a:rPr>
                        <a:t>M</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a:t>
                      </a:r>
                    </a:p>
                  </a:txBody>
                  <a:tcPr marL="68580" marR="68580" marT="0" marB="0"/>
                </a:tc>
                <a:tc>
                  <a:txBody>
                    <a:bodyPr/>
                    <a:lstStyle/>
                    <a:p>
                      <a:pPr marL="0" marR="0" algn="ctr">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270948">
                <a:tc>
                  <a:txBody>
                    <a:bodyPr/>
                    <a:lstStyle/>
                    <a:p>
                      <a:pPr marL="0" marR="0" algn="ctr">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tc>
                  <a:txBody>
                    <a:bodyPr/>
                    <a:lstStyle/>
                    <a:p>
                      <a:pPr marL="0" marR="0" algn="ctr">
                        <a:lnSpc>
                          <a:spcPct val="115000"/>
                        </a:lnSpc>
                        <a:spcBef>
                          <a:spcPts val="0"/>
                        </a:spcBef>
                        <a:spcAft>
                          <a:spcPts val="0"/>
                        </a:spcAft>
                      </a:pPr>
                      <a:r>
                        <a:rPr lang="en-US" sz="1400" b="1" dirty="0">
                          <a:effectLst/>
                          <a:latin typeface="Calibri" panose="020F0502020204030204" pitchFamily="34" charset="0"/>
                          <a:ea typeface="Calibri" panose="020F0502020204030204" pitchFamily="34" charset="0"/>
                          <a:cs typeface="Times New Roman" panose="02020603050405020304" pitchFamily="18" charset="0"/>
                        </a:rPr>
                        <a:t>H</a:t>
                      </a:r>
                    </a:p>
                  </a:txBody>
                  <a:tcPr marL="68580" marR="68580" marT="0" marB="0"/>
                </a:tc>
                <a:tc>
                  <a:txBody>
                    <a:bodyPr/>
                    <a:lstStyle/>
                    <a:p>
                      <a:pPr marL="0" marR="0" algn="ctr">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H</a:t>
                      </a:r>
                    </a:p>
                  </a:txBody>
                  <a:tcPr marL="68580" marR="68580" marT="0" marB="0"/>
                </a:tc>
                <a:tc>
                  <a:txBody>
                    <a:bodyPr/>
                    <a:lstStyle/>
                    <a:p>
                      <a:pPr marL="0" marR="0" algn="ctr">
                        <a:lnSpc>
                          <a:spcPct val="115000"/>
                        </a:lnSpc>
                        <a:spcBef>
                          <a:spcPts val="0"/>
                        </a:spcBef>
                        <a:spcAft>
                          <a:spcPts val="0"/>
                        </a:spcAft>
                      </a:pP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a:t>
                      </a:r>
                    </a:p>
                  </a:txBody>
                  <a:tcPr marL="68580" marR="68580" marT="0" marB="0"/>
                </a:tc>
                <a:tc>
                  <a:txBody>
                    <a:bodyPr/>
                    <a:lstStyle/>
                    <a:p>
                      <a:pPr marL="0" marR="0" algn="ctr">
                        <a:lnSpc>
                          <a:spcPct val="115000"/>
                        </a:lnSpc>
                        <a:spcBef>
                          <a:spcPts val="0"/>
                        </a:spcBef>
                        <a:spcAft>
                          <a:spcPts val="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M</a:t>
                      </a:r>
                    </a:p>
                  </a:txBody>
                  <a:tcPr marL="68580" marR="68580" marT="0" marB="0"/>
                </a:tc>
                <a:extLst>
                  <a:ext uri="{0D108BD9-81ED-4DB2-BD59-A6C34878D82A}">
                    <a16:rowId xmlns:a16="http://schemas.microsoft.com/office/drawing/2014/main" val="10005"/>
                  </a:ext>
                </a:extLst>
              </a:tr>
            </a:tbl>
          </a:graphicData>
        </a:graphic>
      </p:graphicFrame>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564023" y="533553"/>
            <a:ext cx="8105804" cy="625171"/>
          </a:xfrm>
          <a:prstGeom prst="rect">
            <a:avLst/>
          </a:prstGeom>
        </p:spPr>
        <p:txBody>
          <a:bodyPr vert="horz" wrap="square" lIns="0" tIns="314325" rIns="0" bIns="0" rtlCol="0">
            <a:spAutoFit/>
          </a:bodyPr>
          <a:lstStyle/>
          <a:p>
            <a:pPr algn="ctr">
              <a:lnSpc>
                <a:spcPct val="100000"/>
              </a:lnSpc>
              <a:spcBef>
                <a:spcPts val="2475"/>
              </a:spcBef>
            </a:pPr>
            <a:r>
              <a:rPr sz="2000" dirty="0">
                <a:solidFill>
                  <a:srgbClr val="FFFFFF"/>
                </a:solidFill>
                <a:latin typeface="Times New Roman"/>
                <a:cs typeface="Times New Roman"/>
              </a:rPr>
              <a:t>ENTREPRENEUR</a:t>
            </a:r>
            <a:endParaRPr sz="2000" dirty="0">
              <a:latin typeface="Times New Roman"/>
              <a:cs typeface="Times New Roman"/>
            </a:endParaRPr>
          </a:p>
        </p:txBody>
      </p:sp>
      <p:sp>
        <p:nvSpPr>
          <p:cNvPr id="20" name="Date Placeholder 3"/>
          <p:cNvSpPr>
            <a:spLocks noGrp="1"/>
          </p:cNvSpPr>
          <p:nvPr>
            <p:ph type="dt" sz="half" idx="10"/>
          </p:nvPr>
        </p:nvSpPr>
        <p:spPr>
          <a:xfrm>
            <a:off x="457200" y="6356352"/>
            <a:ext cx="2133600" cy="365125"/>
          </a:xfrm>
        </p:spPr>
        <p:txBody>
          <a:bodyPr/>
          <a:lstStyle/>
          <a:p>
            <a:fld id="{A8850DC5-885A-402F-8D43-4986239E5072}" type="datetime1">
              <a:rPr lang="en-US" smtClean="0"/>
              <a:pPr/>
              <a:t>30-Aug-25</a:t>
            </a:fld>
            <a:endParaRPr lang="en-US" dirty="0"/>
          </a:p>
        </p:txBody>
      </p:sp>
      <p:sp>
        <p:nvSpPr>
          <p:cNvPr id="22" name="Slide Number Placeholder 21"/>
          <p:cNvSpPr>
            <a:spLocks noGrp="1"/>
          </p:cNvSpPr>
          <p:nvPr>
            <p:ph type="sldNum" sz="quarter" idx="12"/>
          </p:nvPr>
        </p:nvSpPr>
        <p:spPr/>
        <p:txBody>
          <a:bodyPr/>
          <a:lstStyle/>
          <a:p>
            <a:fld id="{B6F15528-21DE-4FAA-801E-634DDDAF4B2B}" type="slidenum">
              <a:rPr lang="en-US" smtClean="0"/>
              <a:pPr/>
              <a:t>23</a:t>
            </a:fld>
            <a:endParaRPr lang="en-US"/>
          </a:p>
        </p:txBody>
      </p:sp>
      <p:sp>
        <p:nvSpPr>
          <p:cNvPr id="11" name="Title 1"/>
          <p:cNvSpPr txBox="1">
            <a:spLocks/>
          </p:cNvSpPr>
          <p:nvPr/>
        </p:nvSpPr>
        <p:spPr>
          <a:xfrm>
            <a:off x="2152730" y="287674"/>
            <a:ext cx="6976062" cy="56819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solidFill>
                  <a:schemeClr val="tx1"/>
                </a:solidFill>
                <a:latin typeface="Times New Roman"/>
                <a:cs typeface="Times New Roman"/>
              </a:rPr>
              <a:t>Idea Generation</a:t>
            </a:r>
            <a:endParaRPr lang="en-IN" sz="3600" b="1" dirty="0">
              <a:solidFill>
                <a:schemeClr val="tx1"/>
              </a:solidFill>
            </a:endParaRPr>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2" name="Rectangle 1"/>
          <p:cNvSpPr/>
          <p:nvPr/>
        </p:nvSpPr>
        <p:spPr>
          <a:xfrm>
            <a:off x="331634" y="1279936"/>
            <a:ext cx="8570582" cy="4955203"/>
          </a:xfrm>
          <a:prstGeom prst="rect">
            <a:avLst/>
          </a:prstGeom>
        </p:spPr>
        <p:txBody>
          <a:bodyPr wrap="square">
            <a:spAutoFit/>
          </a:bodyPr>
          <a:lstStyle/>
          <a:p>
            <a:pPr>
              <a:buNone/>
            </a:pPr>
            <a:r>
              <a:rPr lang="en-US" sz="2400" b="1" dirty="0"/>
              <a:t>Idea Generation and Screening</a:t>
            </a:r>
            <a:endParaRPr lang="en-IN" sz="2400" dirty="0"/>
          </a:p>
          <a:p>
            <a:pPr>
              <a:buNone/>
            </a:pPr>
            <a:endParaRPr lang="en-IN" sz="2400" dirty="0"/>
          </a:p>
          <a:p>
            <a:r>
              <a:rPr lang="en-US" sz="2200" dirty="0"/>
              <a:t>Methods of Generating Ideas</a:t>
            </a:r>
          </a:p>
          <a:p>
            <a:r>
              <a:rPr lang="en-US" sz="2200" dirty="0"/>
              <a:t>Linear techniques – </a:t>
            </a:r>
          </a:p>
          <a:p>
            <a:pPr lvl="1"/>
            <a:r>
              <a:rPr lang="en-US" sz="2200" dirty="0"/>
              <a:t>Matrix and Morphological Analysis, </a:t>
            </a:r>
          </a:p>
          <a:p>
            <a:pPr lvl="1"/>
            <a:r>
              <a:rPr lang="en-US" sz="2200" dirty="0"/>
              <a:t>Force Field Analysis, Attribute Listing , Scamper</a:t>
            </a:r>
          </a:p>
          <a:p>
            <a:pPr lvl="1"/>
            <a:r>
              <a:rPr lang="en-US" sz="2200" dirty="0"/>
              <a:t>Alternative Scenarios</a:t>
            </a:r>
          </a:p>
          <a:p>
            <a:pPr lvl="1"/>
            <a:r>
              <a:rPr lang="en-US" sz="2200" dirty="0"/>
              <a:t>Forced Association</a:t>
            </a:r>
          </a:p>
          <a:p>
            <a:pPr lvl="1"/>
            <a:r>
              <a:rPr lang="en-US" sz="2200" dirty="0"/>
              <a:t>Value Analysis</a:t>
            </a:r>
          </a:p>
          <a:p>
            <a:r>
              <a:rPr lang="en-US" sz="2200" dirty="0"/>
              <a:t>Product Planning and development Process</a:t>
            </a:r>
          </a:p>
          <a:p>
            <a:r>
              <a:rPr lang="en-US" sz="2200" dirty="0"/>
              <a:t>Environmental Scanning and SWOT analysis.</a:t>
            </a:r>
          </a:p>
          <a:p>
            <a:r>
              <a:rPr lang="en-US" sz="2200" dirty="0"/>
              <a:t>Management skills for Entrepreneurs and managing for Value Creation, Creating</a:t>
            </a:r>
          </a:p>
          <a:p>
            <a:r>
              <a:rPr lang="en-US" sz="2200" dirty="0"/>
              <a:t>and Sustaining Enterprising Model &amp; Organizational Effectiveness</a:t>
            </a:r>
            <a:endParaRPr lang="en-IN" sz="2200" dirty="0">
              <a:cs typeface="Times New Roman" panose="02020603050405020304" pitchFamily="18" charset="0"/>
            </a:endParaRP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577735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9956" y="249938"/>
            <a:ext cx="8324215" cy="1191895"/>
            <a:chOff x="409955" y="249936"/>
            <a:chExt cx="8324215" cy="1191895"/>
          </a:xfrm>
          <a:noFill/>
        </p:grpSpPr>
        <p:sp>
          <p:nvSpPr>
            <p:cNvPr id="3" name="object 3"/>
            <p:cNvSpPr/>
            <p:nvPr/>
          </p:nvSpPr>
          <p:spPr>
            <a:xfrm>
              <a:off x="409955" y="249936"/>
              <a:ext cx="8324088" cy="1191768"/>
            </a:xfrm>
            <a:prstGeom prst="rect">
              <a:avLst/>
            </a:prstGeom>
            <a:grpFill/>
            <a:ln>
              <a:noFill/>
            </a:ln>
          </p:spPr>
          <p:txBody>
            <a:bodyPr wrap="square" lIns="0" tIns="0" rIns="0" bIns="0" rtlCol="0"/>
            <a:lstStyle/>
            <a:p>
              <a:endParaRPr/>
            </a:p>
          </p:txBody>
        </p:sp>
        <p:sp>
          <p:nvSpPr>
            <p:cNvPr id="4" name="object 4"/>
            <p:cNvSpPr/>
            <p:nvPr/>
          </p:nvSpPr>
          <p:spPr>
            <a:xfrm>
              <a:off x="3051048" y="438912"/>
              <a:ext cx="3038855" cy="938784"/>
            </a:xfrm>
            <a:prstGeom prst="rect">
              <a:avLst/>
            </a:prstGeom>
            <a:grpFill/>
            <a:ln>
              <a:noFill/>
            </a:ln>
          </p:spPr>
          <p:txBody>
            <a:bodyPr wrap="square" lIns="0" tIns="0" rIns="0" bIns="0" rtlCol="0"/>
            <a:lstStyle/>
            <a:p>
              <a:endParaRPr/>
            </a:p>
          </p:txBody>
        </p:sp>
        <p:sp>
          <p:nvSpPr>
            <p:cNvPr id="5" name="object 5"/>
            <p:cNvSpPr/>
            <p:nvPr/>
          </p:nvSpPr>
          <p:spPr>
            <a:xfrm>
              <a:off x="457199" y="274320"/>
              <a:ext cx="8229600" cy="1097279"/>
            </a:xfrm>
            <a:prstGeom prst="rect">
              <a:avLst/>
            </a:prstGeom>
            <a:grpFill/>
            <a:ln>
              <a:noFill/>
            </a:ln>
          </p:spPr>
          <p:txBody>
            <a:bodyPr wrap="square" lIns="0" tIns="0" rIns="0" bIns="0" rtlCol="0"/>
            <a:lstStyle/>
            <a:p>
              <a:endParaRPr/>
            </a:p>
          </p:txBody>
        </p:sp>
      </p:grpSp>
      <p:sp>
        <p:nvSpPr>
          <p:cNvPr id="6" name="object 6"/>
          <p:cNvSpPr txBox="1">
            <a:spLocks noGrp="1"/>
          </p:cNvSpPr>
          <p:nvPr>
            <p:ph type="title"/>
          </p:nvPr>
        </p:nvSpPr>
        <p:spPr>
          <a:xfrm>
            <a:off x="500034" y="247596"/>
            <a:ext cx="8229600" cy="602088"/>
          </a:xfrm>
          <a:prstGeom prst="rect">
            <a:avLst/>
          </a:prstGeom>
          <a:ln w="9144">
            <a:noFill/>
          </a:ln>
        </p:spPr>
        <p:txBody>
          <a:bodyPr vert="horz" wrap="square" lIns="0" tIns="291465" rIns="0" bIns="0" rtlCol="0">
            <a:spAutoFit/>
          </a:bodyPr>
          <a:lstStyle/>
          <a:p>
            <a:pPr>
              <a:spcBef>
                <a:spcPts val="2295"/>
              </a:spcBef>
            </a:pPr>
            <a:endParaRPr sz="2000" dirty="0">
              <a:latin typeface="Times New Roman"/>
              <a:cs typeface="Times New Roman"/>
            </a:endParaRPr>
          </a:p>
        </p:txBody>
      </p:sp>
      <p:sp>
        <p:nvSpPr>
          <p:cNvPr id="7" name="object 7"/>
          <p:cNvSpPr txBox="1"/>
          <p:nvPr/>
        </p:nvSpPr>
        <p:spPr>
          <a:xfrm>
            <a:off x="409956" y="1281923"/>
            <a:ext cx="8143932" cy="3832268"/>
          </a:xfrm>
          <a:prstGeom prst="rect">
            <a:avLst/>
          </a:prstGeom>
        </p:spPr>
        <p:txBody>
          <a:bodyPr vert="horz" wrap="square" lIns="0" tIns="13335" rIns="0" bIns="0" rtlCol="0">
            <a:spAutoFit/>
          </a:bodyPr>
          <a:lstStyle/>
          <a:p>
            <a:pPr>
              <a:lnSpc>
                <a:spcPct val="150000"/>
              </a:lnSpc>
            </a:pPr>
            <a:r>
              <a:rPr lang="en-IN" sz="2400" b="1" dirty="0"/>
              <a:t>1. Focus Groups: </a:t>
            </a:r>
            <a:r>
              <a:rPr lang="en-IN" sz="2400" dirty="0"/>
              <a:t>Open, in-depth discussion discussions for a new product area that can result in market success.</a:t>
            </a:r>
          </a:p>
          <a:p>
            <a:pPr>
              <a:lnSpc>
                <a:spcPct val="150000"/>
              </a:lnSpc>
            </a:pPr>
            <a:r>
              <a:rPr lang="en-IN" sz="2400" b="1" dirty="0"/>
              <a:t>2. Brainstorming: </a:t>
            </a:r>
            <a:r>
              <a:rPr lang="en-IN" sz="2400" dirty="0"/>
              <a:t>Keeping criticism away; free wheeling of idea, high quantity of ideas, combinations and improvements of ideas.</a:t>
            </a:r>
          </a:p>
          <a:p>
            <a:pPr>
              <a:lnSpc>
                <a:spcPct val="150000"/>
              </a:lnSpc>
            </a:pPr>
            <a:r>
              <a:rPr lang="en-IN" sz="2400" b="1" dirty="0"/>
              <a:t>3. Problem inventory analysis: </a:t>
            </a:r>
            <a:r>
              <a:rPr lang="en-IN" sz="2400" dirty="0"/>
              <a:t>The consumers are provided with list of problems and then asked to have discussion over it and it ultimately results in an entirely new product idea.</a:t>
            </a:r>
            <a:endParaRPr sz="2400" dirty="0">
              <a:latin typeface="Times New Roman"/>
              <a:cs typeface="Times New Roman"/>
            </a:endParaRPr>
          </a:p>
        </p:txBody>
      </p:sp>
      <p:sp>
        <p:nvSpPr>
          <p:cNvPr id="12" name="Date Placeholder 3"/>
          <p:cNvSpPr>
            <a:spLocks noGrp="1"/>
          </p:cNvSpPr>
          <p:nvPr>
            <p:ph type="dt" sz="half" idx="10"/>
          </p:nvPr>
        </p:nvSpPr>
        <p:spPr>
          <a:xfrm>
            <a:off x="457200" y="6356352"/>
            <a:ext cx="2133600" cy="365125"/>
          </a:xfrm>
        </p:spPr>
        <p:txBody>
          <a:bodyPr/>
          <a:lstStyle/>
          <a:p>
            <a:fld id="{38358EC0-9F58-4BF5-8F36-571ABEB0D1E3}" type="datetime1">
              <a:rPr lang="en-US" smtClean="0"/>
              <a:pPr/>
              <a:t>30-Aug-25</a:t>
            </a:fld>
            <a:endParaRPr lang="en-US" dirty="0"/>
          </a:p>
        </p:txBody>
      </p:sp>
      <p:sp>
        <p:nvSpPr>
          <p:cNvPr id="14" name="Slide Number Placeholder 13"/>
          <p:cNvSpPr>
            <a:spLocks noGrp="1"/>
          </p:cNvSpPr>
          <p:nvPr>
            <p:ph type="sldNum" sz="quarter" idx="12"/>
          </p:nvPr>
        </p:nvSpPr>
        <p:spPr/>
        <p:txBody>
          <a:bodyPr/>
          <a:lstStyle/>
          <a:p>
            <a:fld id="{B6F15528-21DE-4FAA-801E-634DDDAF4B2B}" type="slidenum">
              <a:rPr lang="en-US" smtClean="0"/>
              <a:pPr/>
              <a:t>24</a:t>
            </a:fld>
            <a:endParaRPr lang="en-US" dirty="0"/>
          </a:p>
        </p:txBody>
      </p:sp>
      <p:sp>
        <p:nvSpPr>
          <p:cNvPr id="13" name="Title 1"/>
          <p:cNvSpPr txBox="1">
            <a:spLocks/>
          </p:cNvSpPr>
          <p:nvPr/>
        </p:nvSpPr>
        <p:spPr>
          <a:xfrm>
            <a:off x="1619672" y="96014"/>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Means of generating Ideas</a:t>
            </a:r>
            <a:endParaRPr lang="en-IN" sz="3600" dirty="0"/>
          </a:p>
        </p:txBody>
      </p:sp>
      <p:sp>
        <p:nvSpPr>
          <p:cNvPr id="15"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139340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9956" y="249938"/>
            <a:ext cx="8324215" cy="1191895"/>
            <a:chOff x="409955" y="249936"/>
            <a:chExt cx="8324215" cy="1191895"/>
          </a:xfrm>
          <a:noFill/>
        </p:grpSpPr>
        <p:sp>
          <p:nvSpPr>
            <p:cNvPr id="3" name="object 3"/>
            <p:cNvSpPr/>
            <p:nvPr/>
          </p:nvSpPr>
          <p:spPr>
            <a:xfrm>
              <a:off x="409955" y="249936"/>
              <a:ext cx="8324088" cy="1191768"/>
            </a:xfrm>
            <a:prstGeom prst="rect">
              <a:avLst/>
            </a:prstGeom>
            <a:grpFill/>
            <a:ln>
              <a:noFill/>
            </a:ln>
          </p:spPr>
          <p:txBody>
            <a:bodyPr wrap="square" lIns="0" tIns="0" rIns="0" bIns="0" rtlCol="0"/>
            <a:lstStyle/>
            <a:p>
              <a:endParaRPr/>
            </a:p>
          </p:txBody>
        </p:sp>
        <p:sp>
          <p:nvSpPr>
            <p:cNvPr id="4" name="object 4"/>
            <p:cNvSpPr/>
            <p:nvPr/>
          </p:nvSpPr>
          <p:spPr>
            <a:xfrm>
              <a:off x="3051048" y="438912"/>
              <a:ext cx="3038855" cy="938784"/>
            </a:xfrm>
            <a:prstGeom prst="rect">
              <a:avLst/>
            </a:prstGeom>
            <a:grpFill/>
            <a:ln>
              <a:noFill/>
            </a:ln>
          </p:spPr>
          <p:txBody>
            <a:bodyPr wrap="square" lIns="0" tIns="0" rIns="0" bIns="0" rtlCol="0"/>
            <a:lstStyle/>
            <a:p>
              <a:endParaRPr/>
            </a:p>
          </p:txBody>
        </p:sp>
        <p:sp>
          <p:nvSpPr>
            <p:cNvPr id="5" name="object 5"/>
            <p:cNvSpPr/>
            <p:nvPr/>
          </p:nvSpPr>
          <p:spPr>
            <a:xfrm>
              <a:off x="457199" y="274320"/>
              <a:ext cx="8229600" cy="1097279"/>
            </a:xfrm>
            <a:prstGeom prst="rect">
              <a:avLst/>
            </a:prstGeom>
            <a:grpFill/>
            <a:ln>
              <a:noFill/>
            </a:ln>
          </p:spPr>
          <p:txBody>
            <a:bodyPr wrap="square" lIns="0" tIns="0" rIns="0" bIns="0" rtlCol="0"/>
            <a:lstStyle/>
            <a:p>
              <a:endParaRPr/>
            </a:p>
          </p:txBody>
        </p:sp>
      </p:grpSp>
      <p:sp>
        <p:nvSpPr>
          <p:cNvPr id="6" name="object 6"/>
          <p:cNvSpPr txBox="1">
            <a:spLocks noGrp="1"/>
          </p:cNvSpPr>
          <p:nvPr>
            <p:ph type="title"/>
          </p:nvPr>
        </p:nvSpPr>
        <p:spPr>
          <a:xfrm>
            <a:off x="717420" y="166372"/>
            <a:ext cx="8229600" cy="602088"/>
          </a:xfrm>
          <a:prstGeom prst="rect">
            <a:avLst/>
          </a:prstGeom>
          <a:ln w="9144">
            <a:noFill/>
          </a:ln>
        </p:spPr>
        <p:txBody>
          <a:bodyPr vert="horz" wrap="square" lIns="0" tIns="291465" rIns="0" bIns="0" rtlCol="0">
            <a:spAutoFit/>
          </a:bodyPr>
          <a:lstStyle/>
          <a:p>
            <a:pPr>
              <a:spcBef>
                <a:spcPts val="2295"/>
              </a:spcBef>
            </a:pPr>
            <a:r>
              <a:rPr lang="en-US" sz="2000" b="1" dirty="0"/>
              <a:t>6Cs that motivate entrepreneurs</a:t>
            </a:r>
            <a:endParaRPr sz="2000" dirty="0">
              <a:latin typeface="Times New Roman"/>
              <a:cs typeface="Times New Roman"/>
            </a:endParaRPr>
          </a:p>
        </p:txBody>
      </p:sp>
      <p:sp>
        <p:nvSpPr>
          <p:cNvPr id="12" name="Date Placeholder 3"/>
          <p:cNvSpPr>
            <a:spLocks noGrp="1"/>
          </p:cNvSpPr>
          <p:nvPr>
            <p:ph type="dt" sz="half" idx="10"/>
          </p:nvPr>
        </p:nvSpPr>
        <p:spPr>
          <a:xfrm>
            <a:off x="457200" y="6356352"/>
            <a:ext cx="2133600" cy="365125"/>
          </a:xfrm>
        </p:spPr>
        <p:txBody>
          <a:bodyPr/>
          <a:lstStyle/>
          <a:p>
            <a:fld id="{38358EC0-9F58-4BF5-8F36-571ABEB0D1E3}" type="datetime1">
              <a:rPr lang="en-US" smtClean="0"/>
              <a:pPr/>
              <a:t>30-Aug-25</a:t>
            </a:fld>
            <a:endParaRPr lang="en-US" dirty="0"/>
          </a:p>
        </p:txBody>
      </p:sp>
      <p:sp>
        <p:nvSpPr>
          <p:cNvPr id="14" name="Slide Number Placeholder 13"/>
          <p:cNvSpPr>
            <a:spLocks noGrp="1"/>
          </p:cNvSpPr>
          <p:nvPr>
            <p:ph type="sldNum" sz="quarter" idx="12"/>
          </p:nvPr>
        </p:nvSpPr>
        <p:spPr/>
        <p:txBody>
          <a:bodyPr/>
          <a:lstStyle/>
          <a:p>
            <a:fld id="{B6F15528-21DE-4FAA-801E-634DDDAF4B2B}" type="slidenum">
              <a:rPr lang="en-US" smtClean="0"/>
              <a:pPr/>
              <a:t>25</a:t>
            </a:fld>
            <a:endParaRPr lang="en-US"/>
          </a:p>
        </p:txBody>
      </p:sp>
      <p:sp>
        <p:nvSpPr>
          <p:cNvPr id="13" name="Title 1"/>
          <p:cNvSpPr txBox="1">
            <a:spLocks/>
          </p:cNvSpPr>
          <p:nvPr/>
        </p:nvSpPr>
        <p:spPr>
          <a:xfrm>
            <a:off x="1619672" y="96014"/>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t>Means of generating Ideas</a:t>
            </a:r>
            <a:endParaRPr lang="en-IN" sz="3600" dirty="0"/>
          </a:p>
        </p:txBody>
      </p:sp>
      <p:sp>
        <p:nvSpPr>
          <p:cNvPr id="15"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pic>
        <p:nvPicPr>
          <p:cNvPr id="17" name="Picture 2" descr="See the source image"/>
          <p:cNvPicPr>
            <a:picLocks noChangeAspect="1" noChangeArrowheads="1"/>
          </p:cNvPicPr>
          <p:nvPr/>
        </p:nvPicPr>
        <p:blipFill>
          <a:blip r:embed="rId2"/>
          <a:srcRect/>
          <a:stretch>
            <a:fillRect/>
          </a:stretch>
        </p:blipFill>
        <p:spPr bwMode="auto">
          <a:xfrm>
            <a:off x="1071538" y="1052736"/>
            <a:ext cx="7315200" cy="5148020"/>
          </a:xfrm>
          <a:prstGeom prst="rect">
            <a:avLst/>
          </a:prstGeom>
          <a:noFill/>
        </p:spPr>
      </p:pic>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139340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428596" y="1"/>
            <a:ext cx="8534400" cy="753411"/>
          </a:xfrm>
          <a:prstGeom prst="rect">
            <a:avLst/>
          </a:prstGeom>
        </p:spPr>
        <p:txBody>
          <a:bodyPr vert="horz" wrap="square" lIns="0" tIns="6985" rIns="0" bIns="0" rtlCol="0">
            <a:spAutoFit/>
          </a:bodyPr>
          <a:lstStyle/>
          <a:p>
            <a:pPr>
              <a:lnSpc>
                <a:spcPct val="100000"/>
              </a:lnSpc>
              <a:spcBef>
                <a:spcPts val="55"/>
              </a:spcBef>
            </a:pPr>
            <a:endParaRPr sz="2650" dirty="0">
              <a:latin typeface="Times New Roman"/>
              <a:cs typeface="Times New Roman"/>
            </a:endParaRPr>
          </a:p>
          <a:p>
            <a:pPr algn="ctr">
              <a:lnSpc>
                <a:spcPct val="100000"/>
              </a:lnSpc>
            </a:pPr>
            <a:r>
              <a:rPr sz="2200" b="1" spc="-5" dirty="0">
                <a:solidFill>
                  <a:srgbClr val="FFFFFF"/>
                </a:solidFill>
                <a:latin typeface="Times New Roman"/>
                <a:cs typeface="Times New Roman"/>
              </a:rPr>
              <a:t>ETREPRENEURSHIP</a:t>
            </a:r>
            <a:endParaRPr sz="2200" dirty="0">
              <a:latin typeface="Times New Roman"/>
              <a:cs typeface="Times New Roman"/>
            </a:endParaRPr>
          </a:p>
        </p:txBody>
      </p:sp>
      <p:sp>
        <p:nvSpPr>
          <p:cNvPr id="17" name="object 17"/>
          <p:cNvSpPr txBox="1"/>
          <p:nvPr/>
        </p:nvSpPr>
        <p:spPr>
          <a:xfrm>
            <a:off x="357158" y="1500174"/>
            <a:ext cx="8358246" cy="443070"/>
          </a:xfrm>
          <a:prstGeom prst="rect">
            <a:avLst/>
          </a:prstGeom>
        </p:spPr>
        <p:txBody>
          <a:bodyPr vert="horz" wrap="square" lIns="0" tIns="12065" rIns="0" bIns="0" rtlCol="0">
            <a:spAutoFit/>
          </a:bodyPr>
          <a:lstStyle/>
          <a:p>
            <a:pPr>
              <a:spcBef>
                <a:spcPts val="95"/>
              </a:spcBef>
              <a:buFont typeface="Arial" pitchFamily="34" charset="0"/>
              <a:buChar char="•"/>
            </a:pPr>
            <a:r>
              <a:rPr lang="en-US" sz="2800" spc="-5" dirty="0">
                <a:latin typeface="Times New Roman" pitchFamily="18" charset="0"/>
                <a:cs typeface="Times New Roman" pitchFamily="18" charset="0"/>
              </a:rPr>
              <a:t>   	</a:t>
            </a:r>
            <a:endParaRPr sz="2800" dirty="0">
              <a:latin typeface="Times New Roman" pitchFamily="18" charset="0"/>
              <a:cs typeface="Times New Roman" pitchFamily="18" charset="0"/>
            </a:endParaRPr>
          </a:p>
        </p:txBody>
      </p:sp>
      <p:sp>
        <p:nvSpPr>
          <p:cNvPr id="21" name="Date Placeholder 3"/>
          <p:cNvSpPr>
            <a:spLocks noGrp="1"/>
          </p:cNvSpPr>
          <p:nvPr>
            <p:ph type="dt" sz="half" idx="10"/>
          </p:nvPr>
        </p:nvSpPr>
        <p:spPr/>
        <p:txBody>
          <a:bodyPr/>
          <a:lstStyle/>
          <a:p>
            <a:fld id="{A021FB4E-F91F-43B3-A880-6384EC3F971F}" type="datetime1">
              <a:rPr lang="en-US" smtClean="0"/>
              <a:pPr/>
              <a:t>30-Aug-25</a:t>
            </a:fld>
            <a:endParaRPr lang="en-US" dirty="0"/>
          </a:p>
        </p:txBody>
      </p:sp>
      <p:sp>
        <p:nvSpPr>
          <p:cNvPr id="23" name="Slide Number Placeholder 22"/>
          <p:cNvSpPr>
            <a:spLocks noGrp="1"/>
          </p:cNvSpPr>
          <p:nvPr>
            <p:ph type="sldNum" sz="quarter" idx="12"/>
          </p:nvPr>
        </p:nvSpPr>
        <p:spPr/>
        <p:txBody>
          <a:bodyPr/>
          <a:lstStyle/>
          <a:p>
            <a:fld id="{B6F15528-21DE-4FAA-801E-634DDDAF4B2B}" type="slidenum">
              <a:rPr lang="en-US" smtClean="0"/>
              <a:pPr/>
              <a:t>26</a:t>
            </a:fld>
            <a:endParaRPr lang="en-US"/>
          </a:p>
        </p:txBody>
      </p:sp>
      <p:sp>
        <p:nvSpPr>
          <p:cNvPr id="9" name="Title 1"/>
          <p:cNvSpPr txBox="1">
            <a:spLocks/>
          </p:cNvSpPr>
          <p:nvPr/>
        </p:nvSpPr>
        <p:spPr>
          <a:xfrm>
            <a:off x="1699477" y="33806"/>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00000"/>
              </a:lnSpc>
            </a:pPr>
            <a:r>
              <a:rPr lang="en-US" sz="3600" b="1" spc="-5" dirty="0">
                <a:solidFill>
                  <a:schemeClr val="tx1"/>
                </a:solidFill>
                <a:latin typeface="Times New Roman"/>
                <a:cs typeface="Times New Roman"/>
              </a:rPr>
              <a:t>Idea generation and Screening</a:t>
            </a:r>
            <a:endParaRPr lang="en-IN" sz="3600" dirty="0">
              <a:solidFill>
                <a:schemeClr val="tx1"/>
              </a:solidFill>
              <a:latin typeface="Times New Roman"/>
              <a:cs typeface="Times New Roman"/>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pic>
        <p:nvPicPr>
          <p:cNvPr id="10" name="Picture 9" descr="product-planning-development-8-1024.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428750"/>
            <a:ext cx="6858000" cy="4572000"/>
          </a:xfrm>
          <a:prstGeom prst="rect">
            <a:avLst/>
          </a:prstGeom>
        </p:spPr>
      </p:pic>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41908727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09956" y="249938"/>
            <a:ext cx="8324215" cy="1191895"/>
            <a:chOff x="409955" y="249936"/>
            <a:chExt cx="8324215" cy="1191895"/>
          </a:xfrm>
          <a:noFill/>
        </p:grpSpPr>
        <p:sp>
          <p:nvSpPr>
            <p:cNvPr id="3" name="object 3"/>
            <p:cNvSpPr/>
            <p:nvPr/>
          </p:nvSpPr>
          <p:spPr>
            <a:xfrm>
              <a:off x="409955" y="249936"/>
              <a:ext cx="8324088" cy="1191768"/>
            </a:xfrm>
            <a:prstGeom prst="rect">
              <a:avLst/>
            </a:prstGeom>
            <a:grpFill/>
            <a:ln>
              <a:noFill/>
            </a:ln>
          </p:spPr>
          <p:txBody>
            <a:bodyPr wrap="square" lIns="0" tIns="0" rIns="0" bIns="0" rtlCol="0"/>
            <a:lstStyle/>
            <a:p>
              <a:endParaRPr/>
            </a:p>
          </p:txBody>
        </p:sp>
        <p:sp>
          <p:nvSpPr>
            <p:cNvPr id="4" name="object 4"/>
            <p:cNvSpPr/>
            <p:nvPr/>
          </p:nvSpPr>
          <p:spPr>
            <a:xfrm>
              <a:off x="3051048" y="438912"/>
              <a:ext cx="3038855" cy="938784"/>
            </a:xfrm>
            <a:prstGeom prst="rect">
              <a:avLst/>
            </a:prstGeom>
            <a:grpFill/>
            <a:ln>
              <a:noFill/>
            </a:ln>
          </p:spPr>
          <p:txBody>
            <a:bodyPr wrap="square" lIns="0" tIns="0" rIns="0" bIns="0" rtlCol="0"/>
            <a:lstStyle/>
            <a:p>
              <a:endParaRPr/>
            </a:p>
          </p:txBody>
        </p:sp>
        <p:sp>
          <p:nvSpPr>
            <p:cNvPr id="5" name="object 5"/>
            <p:cNvSpPr/>
            <p:nvPr/>
          </p:nvSpPr>
          <p:spPr>
            <a:xfrm>
              <a:off x="457199" y="274320"/>
              <a:ext cx="8229600" cy="1097279"/>
            </a:xfrm>
            <a:prstGeom prst="rect">
              <a:avLst/>
            </a:prstGeom>
            <a:grpFill/>
            <a:ln>
              <a:noFill/>
            </a:ln>
          </p:spPr>
          <p:txBody>
            <a:bodyPr wrap="square" lIns="0" tIns="0" rIns="0" bIns="0" rtlCol="0"/>
            <a:lstStyle/>
            <a:p>
              <a:endParaRPr/>
            </a:p>
          </p:txBody>
        </p:sp>
      </p:grpSp>
      <p:sp>
        <p:nvSpPr>
          <p:cNvPr id="6" name="object 6"/>
          <p:cNvSpPr txBox="1">
            <a:spLocks noGrp="1"/>
          </p:cNvSpPr>
          <p:nvPr>
            <p:ph type="title"/>
          </p:nvPr>
        </p:nvSpPr>
        <p:spPr>
          <a:xfrm>
            <a:off x="500034" y="247596"/>
            <a:ext cx="8229600" cy="602088"/>
          </a:xfrm>
          <a:prstGeom prst="rect">
            <a:avLst/>
          </a:prstGeom>
          <a:ln w="9144">
            <a:noFill/>
          </a:ln>
        </p:spPr>
        <p:txBody>
          <a:bodyPr vert="horz" wrap="square" lIns="0" tIns="291465" rIns="0" bIns="0" rtlCol="0">
            <a:spAutoFit/>
          </a:bodyPr>
          <a:lstStyle/>
          <a:p>
            <a:pPr algn="ctr">
              <a:lnSpc>
                <a:spcPct val="100000"/>
              </a:lnSpc>
              <a:spcBef>
                <a:spcPts val="2295"/>
              </a:spcBef>
            </a:pPr>
            <a:endParaRPr sz="2000" dirty="0">
              <a:latin typeface="Times New Roman"/>
              <a:cs typeface="Times New Roman"/>
            </a:endParaRPr>
          </a:p>
        </p:txBody>
      </p:sp>
      <p:sp>
        <p:nvSpPr>
          <p:cNvPr id="12" name="Date Placeholder 3"/>
          <p:cNvSpPr>
            <a:spLocks noGrp="1"/>
          </p:cNvSpPr>
          <p:nvPr>
            <p:ph type="dt" sz="half" idx="10"/>
          </p:nvPr>
        </p:nvSpPr>
        <p:spPr>
          <a:xfrm>
            <a:off x="457200" y="6356352"/>
            <a:ext cx="2133600" cy="365125"/>
          </a:xfrm>
        </p:spPr>
        <p:txBody>
          <a:bodyPr/>
          <a:lstStyle/>
          <a:p>
            <a:fld id="{38358EC0-9F58-4BF5-8F36-571ABEB0D1E3}" type="datetime1">
              <a:rPr lang="en-US" smtClean="0"/>
              <a:pPr/>
              <a:t>30-Aug-25</a:t>
            </a:fld>
            <a:endParaRPr lang="en-US" dirty="0"/>
          </a:p>
        </p:txBody>
      </p:sp>
      <p:sp>
        <p:nvSpPr>
          <p:cNvPr id="14" name="Slide Number Placeholder 13"/>
          <p:cNvSpPr>
            <a:spLocks noGrp="1"/>
          </p:cNvSpPr>
          <p:nvPr>
            <p:ph type="sldNum" sz="quarter" idx="12"/>
          </p:nvPr>
        </p:nvSpPr>
        <p:spPr/>
        <p:txBody>
          <a:bodyPr/>
          <a:lstStyle/>
          <a:p>
            <a:fld id="{B6F15528-21DE-4FAA-801E-634DDDAF4B2B}" type="slidenum">
              <a:rPr lang="en-US" smtClean="0"/>
              <a:pPr/>
              <a:t>27</a:t>
            </a:fld>
            <a:endParaRPr lang="en-US"/>
          </a:p>
        </p:txBody>
      </p:sp>
      <p:sp>
        <p:nvSpPr>
          <p:cNvPr id="13" name="Title 1"/>
          <p:cNvSpPr txBox="1">
            <a:spLocks/>
          </p:cNvSpPr>
          <p:nvPr/>
        </p:nvSpPr>
        <p:spPr>
          <a:xfrm>
            <a:off x="1847995" y="160023"/>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00000"/>
              </a:lnSpc>
            </a:pPr>
            <a:r>
              <a:rPr lang="en-IN" sz="3600" dirty="0"/>
              <a:t>Morphological Matrix</a:t>
            </a:r>
            <a:endParaRPr lang="en-IN" sz="3600" b="1" dirty="0">
              <a:solidFill>
                <a:schemeClr val="tx1"/>
              </a:solidFill>
              <a:latin typeface="Times New Roman"/>
              <a:cs typeface="Times New Roman"/>
            </a:endParaRPr>
          </a:p>
        </p:txBody>
      </p:sp>
      <p:sp>
        <p:nvSpPr>
          <p:cNvPr id="15"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8" name="Rectangle 7"/>
          <p:cNvSpPr/>
          <p:nvPr/>
        </p:nvSpPr>
        <p:spPr>
          <a:xfrm>
            <a:off x="409956" y="1188321"/>
            <a:ext cx="8507288" cy="4524315"/>
          </a:xfrm>
          <a:prstGeom prst="rect">
            <a:avLst/>
          </a:prstGeom>
        </p:spPr>
        <p:txBody>
          <a:bodyPr wrap="square">
            <a:spAutoFit/>
          </a:bodyPr>
          <a:lstStyle/>
          <a:p>
            <a:pPr algn="just" fontAlgn="base"/>
            <a:r>
              <a:rPr lang="en-IN" dirty="0">
                <a:latin typeface="Times New Roman" pitchFamily="18" charset="0"/>
                <a:cs typeface="Times New Roman" pitchFamily="18" charset="0"/>
              </a:rPr>
              <a:t>The Morphological Matrix is also referred to as ‘problem solving’. The method was developed in the 1960s by Fritz </a:t>
            </a:r>
            <a:r>
              <a:rPr lang="en-IN" dirty="0" err="1">
                <a:latin typeface="Times New Roman" pitchFamily="18" charset="0"/>
                <a:cs typeface="Times New Roman" pitchFamily="18" charset="0"/>
              </a:rPr>
              <a:t>Zwicky</a:t>
            </a:r>
            <a:r>
              <a:rPr lang="en-IN" dirty="0">
                <a:latin typeface="Times New Roman" pitchFamily="18" charset="0"/>
                <a:cs typeface="Times New Roman" pitchFamily="18" charset="0"/>
              </a:rPr>
              <a:t>, an astronomer from Switzerland. </a:t>
            </a:r>
          </a:p>
          <a:p>
            <a:pPr algn="just" fontAlgn="base"/>
            <a:r>
              <a:rPr lang="en-IN" dirty="0">
                <a:latin typeface="Times New Roman" pitchFamily="18" charset="0"/>
                <a:cs typeface="Times New Roman" pitchFamily="18" charset="0"/>
              </a:rPr>
              <a:t>It is a simple technique to quickly generate many different possibilities to answer a ‘how can we…’ question.</a:t>
            </a:r>
          </a:p>
          <a:p>
            <a:pPr algn="just" fontAlgn="base"/>
            <a:endParaRPr lang="en-IN" dirty="0">
              <a:latin typeface="Times New Roman" pitchFamily="18" charset="0"/>
              <a:cs typeface="Times New Roman" pitchFamily="18" charset="0"/>
            </a:endParaRPr>
          </a:p>
          <a:p>
            <a:pPr algn="just" fontAlgn="base"/>
            <a:r>
              <a:rPr lang="en-IN" b="1" dirty="0">
                <a:latin typeface="Times New Roman" pitchFamily="18" charset="0"/>
                <a:cs typeface="Times New Roman" pitchFamily="18" charset="0"/>
              </a:rPr>
              <a:t>Step 1. Pick attributes</a:t>
            </a:r>
          </a:p>
          <a:p>
            <a:pPr algn="just" fontAlgn="base"/>
            <a:br>
              <a:rPr lang="en-IN" dirty="0">
                <a:latin typeface="Times New Roman" pitchFamily="18" charset="0"/>
                <a:cs typeface="Times New Roman" pitchFamily="18" charset="0"/>
              </a:rPr>
            </a:br>
            <a:r>
              <a:rPr lang="en-IN" dirty="0">
                <a:latin typeface="Times New Roman" pitchFamily="18" charset="0"/>
                <a:cs typeface="Times New Roman" pitchFamily="18" charset="0"/>
              </a:rPr>
              <a:t>Describe the key attributes that play a role in your challenge. Write them down next to each other, horizontally.</a:t>
            </a:r>
          </a:p>
          <a:p>
            <a:pPr algn="just" fontAlgn="base"/>
            <a:endParaRPr lang="en-IN" dirty="0">
              <a:latin typeface="Times New Roman" pitchFamily="18" charset="0"/>
              <a:cs typeface="Times New Roman" pitchFamily="18" charset="0"/>
            </a:endParaRPr>
          </a:p>
          <a:p>
            <a:pPr algn="just" fontAlgn="base"/>
            <a:r>
              <a:rPr lang="en-IN" b="1" dirty="0">
                <a:latin typeface="Times New Roman" pitchFamily="18" charset="0"/>
                <a:cs typeface="Times New Roman" pitchFamily="18" charset="0"/>
              </a:rPr>
              <a:t>Step 2. List possible components per attribute</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Make a list of possible components for each attribute and list these components beneath the attribute, thus creating columns.</a:t>
            </a:r>
          </a:p>
          <a:p>
            <a:pPr algn="just" fontAlgn="base"/>
            <a:endParaRPr lang="en-IN" dirty="0">
              <a:latin typeface="Times New Roman" pitchFamily="18" charset="0"/>
              <a:cs typeface="Times New Roman" pitchFamily="18" charset="0"/>
            </a:endParaRPr>
          </a:p>
          <a:p>
            <a:pPr algn="just" fontAlgn="base"/>
            <a:r>
              <a:rPr lang="en-IN" b="1" dirty="0">
                <a:latin typeface="Times New Roman" pitchFamily="18" charset="0"/>
                <a:cs typeface="Times New Roman" pitchFamily="18" charset="0"/>
              </a:rPr>
              <a:t>Step 3. Combine components from each column, randomly</a:t>
            </a:r>
            <a:br>
              <a:rPr lang="en-IN" dirty="0">
                <a:latin typeface="Times New Roman" pitchFamily="18" charset="0"/>
                <a:cs typeface="Times New Roman" pitchFamily="18" charset="0"/>
              </a:rPr>
            </a:br>
            <a:r>
              <a:rPr lang="en-IN" dirty="0">
                <a:latin typeface="Times New Roman" pitchFamily="18" charset="0"/>
                <a:cs typeface="Times New Roman" pitchFamily="18" charset="0"/>
              </a:rPr>
              <a:t>Take one random component from every list and combine them to generate a new idea. </a:t>
            </a:r>
          </a:p>
        </p:txBody>
      </p:sp>
      <p:sp>
        <p:nvSpPr>
          <p:cNvPr id="16" name="Rectangle 15">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139340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graphicFrame>
        <p:nvGraphicFramePr>
          <p:cNvPr id="7" name="Espace réservé du contenu 3"/>
          <p:cNvGraphicFramePr>
            <a:graphicFrameLocks/>
          </p:cNvGraphicFramePr>
          <p:nvPr>
            <p:extLst>
              <p:ext uri="{D42A27DB-BD31-4B8C-83A1-F6EECF244321}">
                <p14:modId xmlns:p14="http://schemas.microsoft.com/office/powerpoint/2010/main" val="386557659"/>
              </p:ext>
            </p:extLst>
          </p:nvPr>
        </p:nvGraphicFramePr>
        <p:xfrm>
          <a:off x="191344" y="1412776"/>
          <a:ext cx="8952656" cy="44644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itle 1"/>
          <p:cNvSpPr txBox="1">
            <a:spLocks/>
          </p:cNvSpPr>
          <p:nvPr/>
        </p:nvSpPr>
        <p:spPr>
          <a:xfrm>
            <a:off x="1699477" y="33806"/>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00000"/>
              </a:lnSpc>
            </a:pPr>
            <a:r>
              <a:rPr lang="en-US" sz="3600" b="1" spc="-5" dirty="0">
                <a:solidFill>
                  <a:schemeClr val="tx1"/>
                </a:solidFill>
                <a:latin typeface="Times New Roman"/>
                <a:cs typeface="Times New Roman"/>
              </a:rPr>
              <a:t>Morphological Matrix</a:t>
            </a:r>
            <a:endParaRPr lang="en-IN" sz="3600" dirty="0">
              <a:solidFill>
                <a:schemeClr val="tx1"/>
              </a:solidFill>
              <a:latin typeface="Times New Roman"/>
              <a:cs typeface="Times New Roman"/>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pic>
        <p:nvPicPr>
          <p:cNvPr id="9" name="Picture 2" descr="http://npdbook.com/wp-content/uploads/2014/08/concepts-from-the-morphological-matrix.jpg"/>
          <p:cNvPicPr>
            <a:picLocks noChangeAspect="1" noChangeArrowheads="1"/>
          </p:cNvPicPr>
          <p:nvPr/>
        </p:nvPicPr>
        <p:blipFill>
          <a:blip r:embed="rId7"/>
          <a:srcRect/>
          <a:stretch>
            <a:fillRect/>
          </a:stretch>
        </p:blipFill>
        <p:spPr bwMode="auto">
          <a:xfrm>
            <a:off x="500034" y="1500174"/>
            <a:ext cx="8208211" cy="4593122"/>
          </a:xfrm>
          <a:prstGeom prst="rect">
            <a:avLst/>
          </a:prstGeom>
          <a:noFill/>
        </p:spPr>
      </p:pic>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10" name="Title 1"/>
          <p:cNvSpPr txBox="1">
            <a:spLocks/>
          </p:cNvSpPr>
          <p:nvPr/>
        </p:nvSpPr>
        <p:spPr>
          <a:xfrm>
            <a:off x="1763688" y="92893"/>
            <a:ext cx="728679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3600" dirty="0"/>
              <a:t>Force field analysis</a:t>
            </a:r>
            <a:endParaRPr lang="en-US" sz="3600" b="1" dirty="0"/>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2" name="Content Placeholder 1"/>
          <p:cNvSpPr>
            <a:spLocks noGrp="1"/>
          </p:cNvSpPr>
          <p:nvPr>
            <p:ph idx="1"/>
          </p:nvPr>
        </p:nvSpPr>
        <p:spPr>
          <a:xfrm>
            <a:off x="457200" y="1196752"/>
            <a:ext cx="8229600" cy="4929413"/>
          </a:xfrm>
        </p:spPr>
        <p:txBody>
          <a:bodyPr>
            <a:normAutofit/>
          </a:bodyPr>
          <a:lstStyle/>
          <a:p>
            <a:pPr marL="0" indent="0" algn="just">
              <a:buNone/>
            </a:pPr>
            <a:r>
              <a:rPr lang="en-IN" sz="2200" dirty="0"/>
              <a:t>The technique is based on the assumption that any situation is the result of forces for and against the current state being in equilibrium. In order to promote change, either the driving forces should be strengthened or the resisting forces should be weakened. </a:t>
            </a:r>
          </a:p>
          <a:p>
            <a:pPr algn="just"/>
            <a:endParaRPr lang="en-IN" sz="2200" dirty="0"/>
          </a:p>
          <a:p>
            <a:pPr marL="0" indent="0" algn="just">
              <a:buNone/>
            </a:pPr>
            <a:r>
              <a:rPr lang="en-IN" sz="2200" dirty="0"/>
              <a:t>Force field analysis does the following:</a:t>
            </a:r>
          </a:p>
          <a:p>
            <a:pPr marL="457200" indent="-457200" algn="just"/>
            <a:r>
              <a:rPr lang="en-IN" sz="2200" dirty="0"/>
              <a:t>Presents the positives and negatives of a situation so they are easily comparable.</a:t>
            </a:r>
          </a:p>
          <a:p>
            <a:pPr marL="457200" indent="-457200" algn="just"/>
            <a:r>
              <a:rPr lang="en-IN" sz="2200" dirty="0"/>
              <a:t>Considers all aspects of making the desired change.</a:t>
            </a:r>
          </a:p>
          <a:p>
            <a:pPr marL="457200" indent="-457200" algn="just"/>
            <a:r>
              <a:rPr lang="en-IN" sz="2200" dirty="0"/>
              <a:t>Encourages agreement about the relative priority of factors on each side of the balance sheet.</a:t>
            </a:r>
          </a:p>
          <a:p>
            <a:pPr marL="457200" indent="-457200" algn="just"/>
            <a:r>
              <a:rPr lang="en-IN" sz="2200" dirty="0"/>
              <a:t>Encourages honest reflection on the underlying roots of a problem and its solution.</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9" name="Title 1"/>
          <p:cNvSpPr txBox="1">
            <a:spLocks/>
          </p:cNvSpPr>
          <p:nvPr/>
        </p:nvSpPr>
        <p:spPr>
          <a:xfrm>
            <a:off x="1547664" y="0"/>
            <a:ext cx="7596336" cy="105567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3600" dirty="0"/>
              <a:t>Force field analysis</a:t>
            </a:r>
            <a:endParaRPr lang="en-US" sz="3600" b="1" dirty="0"/>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a:t>
            </a:r>
            <a:r>
              <a:rPr lang="en-US" dirty="0" err="1"/>
              <a:t>ZaidI</a:t>
            </a:r>
            <a:r>
              <a:rPr lang="en-US" dirty="0"/>
              <a:t>                                                                                             AEO0771</a:t>
            </a:r>
          </a:p>
        </p:txBody>
      </p:sp>
      <p:pic>
        <p:nvPicPr>
          <p:cNvPr id="8" name="Picture 4" descr="See the source image"/>
          <p:cNvPicPr>
            <a:picLocks noGrp="1" noChangeAspect="1" noChangeArrowheads="1"/>
          </p:cNvPicPr>
          <p:nvPr>
            <p:ph idx="1"/>
          </p:nvPr>
        </p:nvPicPr>
        <p:blipFill>
          <a:blip r:embed="rId2"/>
          <a:srcRect b="8967"/>
          <a:stretch>
            <a:fillRect/>
          </a:stretch>
        </p:blipFill>
        <p:spPr bwMode="auto">
          <a:xfrm>
            <a:off x="323528" y="1312852"/>
            <a:ext cx="8496944" cy="4786333"/>
          </a:xfrm>
          <a:prstGeom prst="rect">
            <a:avLst/>
          </a:prstGeom>
          <a:noFill/>
        </p:spPr>
      </p:pic>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143001"/>
            <a:ext cx="8229600" cy="5293757"/>
          </a:xfrm>
          <a:prstGeom prst="rect">
            <a:avLst/>
          </a:prstGeom>
        </p:spPr>
        <p:txBody>
          <a:bodyPr wrap="square">
            <a:spAutoFit/>
          </a:bodyPr>
          <a:lstStyle/>
          <a:p>
            <a:endParaRPr lang="en-IN" sz="2000" dirty="0"/>
          </a:p>
          <a:p>
            <a:endParaRPr lang="en-IN" sz="2000" dirty="0"/>
          </a:p>
          <a:p>
            <a:pPr>
              <a:lnSpc>
                <a:spcPct val="150000"/>
              </a:lnSpc>
            </a:pPr>
            <a:r>
              <a:rPr lang="en-IN" sz="2400" dirty="0"/>
              <a:t>Enumerate the various means of generating ideas.</a:t>
            </a:r>
          </a:p>
          <a:p>
            <a:pPr>
              <a:lnSpc>
                <a:spcPct val="150000"/>
              </a:lnSpc>
            </a:pPr>
            <a:r>
              <a:rPr lang="en-IN" sz="2400" dirty="0"/>
              <a:t>Highlight the steps in idea generation.</a:t>
            </a:r>
          </a:p>
          <a:p>
            <a:pPr>
              <a:lnSpc>
                <a:spcPct val="150000"/>
              </a:lnSpc>
            </a:pPr>
            <a:r>
              <a:rPr lang="en-IN" sz="2400" dirty="0"/>
              <a:t>Define the force field analysis.</a:t>
            </a:r>
          </a:p>
          <a:p>
            <a:pPr>
              <a:lnSpc>
                <a:spcPct val="150000"/>
              </a:lnSpc>
            </a:pPr>
            <a:r>
              <a:rPr lang="en-IN" sz="2400" dirty="0"/>
              <a:t>Give an example of morphological matrix.</a:t>
            </a:r>
          </a:p>
          <a:p>
            <a:pPr marL="457200" indent="-457200">
              <a:buFont typeface="+mj-lt"/>
              <a:buAutoNum type="arabicPeriod"/>
            </a:pPr>
            <a:endParaRPr lang="en-US" sz="2200" dirty="0"/>
          </a:p>
          <a:p>
            <a:endParaRPr lang="en-US" sz="2200" dirty="0"/>
          </a:p>
          <a:p>
            <a:endParaRPr lang="en-US" sz="2200" dirty="0"/>
          </a:p>
          <a:p>
            <a:pPr algn="ctr"/>
            <a:endParaRPr lang="en-US" sz="2200" dirty="0"/>
          </a:p>
          <a:p>
            <a:pPr algn="ctr"/>
            <a:endParaRPr lang="en-US" sz="2200" dirty="0"/>
          </a:p>
          <a:p>
            <a:pPr algn="ctr"/>
            <a:endParaRPr lang="en-US" sz="2200" dirty="0"/>
          </a:p>
          <a:p>
            <a:pPr algn="ctr"/>
            <a:endParaRPr lang="en-US" sz="2200" dirty="0"/>
          </a:p>
        </p:txBody>
      </p:sp>
      <p:sp>
        <p:nvSpPr>
          <p:cNvPr id="3" name="Date Placeholder 2"/>
          <p:cNvSpPr>
            <a:spLocks noGrp="1"/>
          </p:cNvSpPr>
          <p:nvPr>
            <p:ph type="dt" sz="half" idx="10"/>
          </p:nvPr>
        </p:nvSpPr>
        <p:spPr/>
        <p:txBody>
          <a:bodyPr/>
          <a:lstStyle/>
          <a:p>
            <a:fld id="{60B79E70-EF6E-4206-BA69-C946BAE66860}"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31</a:t>
            </a:fld>
            <a:endParaRPr lang="en-IN"/>
          </a:p>
        </p:txBody>
      </p:sp>
      <p:sp>
        <p:nvSpPr>
          <p:cNvPr id="8" name="Title 1"/>
          <p:cNvSpPr txBox="1">
            <a:spLocks/>
          </p:cNvSpPr>
          <p:nvPr/>
        </p:nvSpPr>
        <p:spPr>
          <a:xfrm>
            <a:off x="1691679" y="24274"/>
            <a:ext cx="7452321" cy="88444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dirty="0"/>
              <a:t>Daily Quiz</a:t>
            </a:r>
            <a:endParaRPr lang="en-US" sz="3600" b="1" dirty="0"/>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868813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3775" y="1831368"/>
            <a:ext cx="8229600" cy="6093976"/>
          </a:xfrm>
          <a:prstGeom prst="rect">
            <a:avLst/>
          </a:prstGeom>
        </p:spPr>
        <p:txBody>
          <a:bodyPr wrap="square">
            <a:spAutoFit/>
          </a:bodyPr>
          <a:lstStyle/>
          <a:p>
            <a:pPr algn="just">
              <a:lnSpc>
                <a:spcPct val="150000"/>
              </a:lnSpc>
            </a:pPr>
            <a:r>
              <a:rPr lang="en-IN" sz="2400" dirty="0"/>
              <a:t>Attribute listing is a technique from the early 1930's which</a:t>
            </a:r>
          </a:p>
          <a:p>
            <a:pPr algn="just">
              <a:lnSpc>
                <a:spcPct val="150000"/>
              </a:lnSpc>
            </a:pPr>
            <a:endParaRPr lang="en-IN" sz="2400" dirty="0"/>
          </a:p>
          <a:p>
            <a:pPr marL="342900" indent="-342900" algn="just">
              <a:lnSpc>
                <a:spcPct val="150000"/>
              </a:lnSpc>
              <a:buFont typeface="Arial" pitchFamily="34" charset="0"/>
              <a:buChar char="•"/>
            </a:pPr>
            <a:r>
              <a:rPr lang="en-IN" sz="2400" dirty="0"/>
              <a:t>takes an existing product or system,</a:t>
            </a:r>
          </a:p>
          <a:p>
            <a:pPr marL="342900" indent="-342900" algn="just">
              <a:lnSpc>
                <a:spcPct val="150000"/>
              </a:lnSpc>
              <a:buFont typeface="Arial" pitchFamily="34" charset="0"/>
              <a:buChar char="•"/>
            </a:pPr>
            <a:r>
              <a:rPr lang="en-IN" sz="2400" dirty="0"/>
              <a:t>breaks it into parts,</a:t>
            </a:r>
          </a:p>
          <a:p>
            <a:pPr marL="342900" indent="-342900" algn="just">
              <a:lnSpc>
                <a:spcPct val="150000"/>
              </a:lnSpc>
              <a:buFont typeface="Arial" pitchFamily="34" charset="0"/>
              <a:buChar char="•"/>
            </a:pPr>
            <a:r>
              <a:rPr lang="en-IN" sz="2400" dirty="0"/>
              <a:t>identifies various ways of achieving each part, and then</a:t>
            </a:r>
          </a:p>
          <a:p>
            <a:pPr marL="342900" indent="-342900" algn="just">
              <a:lnSpc>
                <a:spcPct val="150000"/>
              </a:lnSpc>
              <a:buFont typeface="Arial" pitchFamily="34" charset="0"/>
              <a:buChar char="•"/>
            </a:pPr>
            <a:r>
              <a:rPr lang="en-IN" sz="2400" dirty="0"/>
              <a:t>recombines these to identify new forms of the product or system.</a:t>
            </a:r>
          </a:p>
          <a:p>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endParaRPr lang="en-US" sz="2200" dirty="0"/>
          </a:p>
          <a:p>
            <a:pPr algn="ctr"/>
            <a:endParaRPr lang="en-US" sz="2200" dirty="0"/>
          </a:p>
          <a:p>
            <a:pPr algn="ctr"/>
            <a:endParaRPr lang="en-US" sz="2200" dirty="0"/>
          </a:p>
        </p:txBody>
      </p:sp>
      <p:sp>
        <p:nvSpPr>
          <p:cNvPr id="3" name="Date Placeholder 2"/>
          <p:cNvSpPr>
            <a:spLocks noGrp="1"/>
          </p:cNvSpPr>
          <p:nvPr>
            <p:ph type="dt" sz="half" idx="10"/>
          </p:nvPr>
        </p:nvSpPr>
        <p:spPr/>
        <p:txBody>
          <a:bodyPr/>
          <a:lstStyle/>
          <a:p>
            <a:fld id="{FDBD1B72-9701-465B-B06A-370AAE148DC2}" type="datetime1">
              <a:rPr lang="en-US" smtClean="0"/>
              <a:pPr/>
              <a:t>30-Aug-25</a:t>
            </a:fld>
            <a:endParaRPr lang="en-IN" dirty="0"/>
          </a:p>
        </p:txBody>
      </p:sp>
      <p:sp>
        <p:nvSpPr>
          <p:cNvPr id="6" name="Slide Number Placeholder 5"/>
          <p:cNvSpPr>
            <a:spLocks noGrp="1"/>
          </p:cNvSpPr>
          <p:nvPr>
            <p:ph type="sldNum" sz="quarter" idx="12"/>
          </p:nvPr>
        </p:nvSpPr>
        <p:spPr/>
        <p:txBody>
          <a:bodyPr/>
          <a:lstStyle/>
          <a:p>
            <a:fld id="{AE192DBD-906B-4248-9331-16A7E5426B5B}" type="slidenum">
              <a:rPr lang="en-IN" smtClean="0"/>
              <a:pPr/>
              <a:t>32</a:t>
            </a:fld>
            <a:endParaRPr lang="en-IN"/>
          </a:p>
        </p:txBody>
      </p:sp>
      <p:sp>
        <p:nvSpPr>
          <p:cNvPr id="8" name="Title 1"/>
          <p:cNvSpPr txBox="1">
            <a:spLocks/>
          </p:cNvSpPr>
          <p:nvPr/>
        </p:nvSpPr>
        <p:spPr>
          <a:xfrm>
            <a:off x="1533885" y="4719"/>
            <a:ext cx="7430603" cy="112002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600" dirty="0"/>
              <a:t>Attribute listing</a:t>
            </a:r>
            <a:endParaRPr kumimoji="0" lang="en-US" sz="36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a:t>
            </a:r>
            <a:r>
              <a:rPr lang="en-US" dirty="0" err="1"/>
              <a:t>zaid</a:t>
            </a:r>
            <a:r>
              <a:rPr lang="en-US" dirty="0"/>
              <a:t>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868813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dirty="0"/>
          </a:p>
        </p:txBody>
      </p:sp>
      <p:sp>
        <p:nvSpPr>
          <p:cNvPr id="3" name="Date Placeholder 2"/>
          <p:cNvSpPr>
            <a:spLocks noGrp="1"/>
          </p:cNvSpPr>
          <p:nvPr>
            <p:ph type="dt" sz="half" idx="10"/>
          </p:nvPr>
        </p:nvSpPr>
        <p:spPr/>
        <p:txBody>
          <a:bodyPr/>
          <a:lstStyle/>
          <a:p>
            <a:fld id="{118F3D91-B405-41EC-8C11-5D1FECBE3EED}" type="datetime1">
              <a:rPr lang="en-US" smtClean="0"/>
              <a:pPr/>
              <a:t>30-Aug-25</a:t>
            </a:fld>
            <a:endParaRPr lang="en-IN" dirty="0"/>
          </a:p>
        </p:txBody>
      </p:sp>
      <p:sp>
        <p:nvSpPr>
          <p:cNvPr id="6" name="Slide Number Placeholder 5"/>
          <p:cNvSpPr>
            <a:spLocks noGrp="1"/>
          </p:cNvSpPr>
          <p:nvPr>
            <p:ph type="sldNum" sz="quarter" idx="12"/>
          </p:nvPr>
        </p:nvSpPr>
        <p:spPr/>
        <p:txBody>
          <a:bodyPr/>
          <a:lstStyle/>
          <a:p>
            <a:fld id="{AE192DBD-906B-4248-9331-16A7E5426B5B}" type="slidenum">
              <a:rPr lang="en-IN" smtClean="0"/>
              <a:pPr/>
              <a:t>33</a:t>
            </a:fld>
            <a:endParaRPr lang="en-IN"/>
          </a:p>
        </p:txBody>
      </p:sp>
      <p:sp>
        <p:nvSpPr>
          <p:cNvPr id="7" name="Rectangle 6"/>
          <p:cNvSpPr/>
          <p:nvPr/>
        </p:nvSpPr>
        <p:spPr>
          <a:xfrm>
            <a:off x="381000" y="838200"/>
            <a:ext cx="8458200" cy="5016758"/>
          </a:xfrm>
          <a:prstGeom prst="rect">
            <a:avLst/>
          </a:prstGeom>
        </p:spPr>
        <p:txBody>
          <a:bodyPr wrap="square">
            <a:spAutoFit/>
          </a:bodyPr>
          <a:lstStyle/>
          <a:p>
            <a:pPr algn="just"/>
            <a:r>
              <a:rPr lang="en-US" sz="3200" dirty="0">
                <a:solidFill>
                  <a:srgbClr val="333333"/>
                </a:solidFill>
                <a:latin typeface="Tahoma" panose="020B0604030504040204" pitchFamily="34" charset="0"/>
              </a:rPr>
              <a:t>	</a:t>
            </a:r>
            <a:r>
              <a:rPr lang="en-US" sz="2000" dirty="0">
                <a:solidFill>
                  <a:srgbClr val="333333"/>
                </a:solidFill>
                <a:latin typeface="Tahoma" panose="020B0604030504040204" pitchFamily="34" charset="0"/>
              </a:rPr>
              <a:t>		</a:t>
            </a:r>
            <a:endParaRPr lang="en-US" sz="2000" dirty="0">
              <a:latin typeface="Tahoma" panose="020B0604030504040204" pitchFamily="34" charset="0"/>
            </a:endParaRPr>
          </a:p>
          <a:p>
            <a:pPr lvl="0" algn="just" eaLnBrk="0" fontAlgn="base" hangingPunct="0">
              <a:spcBef>
                <a:spcPct val="0"/>
              </a:spcBef>
              <a:spcAft>
                <a:spcPct val="0"/>
              </a:spcAft>
            </a:pPr>
            <a:r>
              <a:rPr lang="en-IN" sz="2400" dirty="0"/>
              <a:t>Attributes can be classified into subcategories like</a:t>
            </a:r>
          </a:p>
          <a:p>
            <a:pPr marL="457200" indent="-457200" algn="just">
              <a:buFont typeface="Arial" pitchFamily="34" charset="0"/>
              <a:buChar char="•"/>
            </a:pPr>
            <a:r>
              <a:rPr lang="en-IN" sz="2400" dirty="0"/>
              <a:t>Physical attributes: shape, form, colour, texture, structure, sound, taste, door, space, density, location</a:t>
            </a:r>
          </a:p>
          <a:p>
            <a:pPr marL="457200" indent="-457200" algn="just">
              <a:buFont typeface="Arial" pitchFamily="34" charset="0"/>
              <a:buChar char="•"/>
            </a:pPr>
            <a:r>
              <a:rPr lang="en-IN" sz="2400" dirty="0"/>
              <a:t>Social attributes: responsibilities, taboos, power, ecological</a:t>
            </a:r>
          </a:p>
          <a:p>
            <a:pPr marL="457200" indent="-457200" algn="just">
              <a:buFont typeface="Arial" pitchFamily="34" charset="0"/>
              <a:buChar char="•"/>
            </a:pPr>
            <a:r>
              <a:rPr lang="en-IN" sz="2400" dirty="0"/>
              <a:t>Process attributes: selling, marketing, production, manufacturing, designing</a:t>
            </a:r>
          </a:p>
          <a:p>
            <a:pPr marL="457200" indent="-457200" algn="just">
              <a:buFont typeface="Arial" pitchFamily="34" charset="0"/>
              <a:buChar char="•"/>
            </a:pPr>
            <a:r>
              <a:rPr lang="en-IN" sz="2400" dirty="0"/>
              <a:t>Psychological attributes: needs, motivation, positive and negative emotions</a:t>
            </a:r>
          </a:p>
          <a:p>
            <a:pPr marL="457200" indent="-457200" algn="just">
              <a:buFont typeface="Arial" pitchFamily="34" charset="0"/>
              <a:buChar char="•"/>
            </a:pPr>
            <a:r>
              <a:rPr lang="en-IN" sz="2400" dirty="0"/>
              <a:t>Price attributes: production cost, consumer price, Consumer acquisition cost, manufacturing cost, sunk cost</a:t>
            </a:r>
          </a:p>
          <a:p>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sz="2400" dirty="0">
              <a:solidFill>
                <a:srgbClr val="333333"/>
              </a:solidFill>
              <a:latin typeface="Times New Roman" panose="02020603050405020304" pitchFamily="18" charset="0"/>
              <a:cs typeface="Times New Roman" panose="02020603050405020304" pitchFamily="18" charset="0"/>
            </a:endParaRPr>
          </a:p>
        </p:txBody>
      </p:sp>
      <p:sp>
        <p:nvSpPr>
          <p:cNvPr id="9" name="Title 1"/>
          <p:cNvSpPr txBox="1">
            <a:spLocks/>
          </p:cNvSpPr>
          <p:nvPr/>
        </p:nvSpPr>
        <p:spPr>
          <a:xfrm>
            <a:off x="1559618" y="44451"/>
            <a:ext cx="755321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IN" sz="3600" dirty="0"/>
              <a:t>Attribute listing</a:t>
            </a:r>
            <a:endPar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5634199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dirty="0"/>
          </a:p>
        </p:txBody>
      </p:sp>
      <p:sp>
        <p:nvSpPr>
          <p:cNvPr id="3" name="Date Placeholder 2"/>
          <p:cNvSpPr>
            <a:spLocks noGrp="1"/>
          </p:cNvSpPr>
          <p:nvPr>
            <p:ph type="dt" sz="half" idx="10"/>
          </p:nvPr>
        </p:nvSpPr>
        <p:spPr/>
        <p:txBody>
          <a:bodyPr/>
          <a:lstStyle/>
          <a:p>
            <a:fld id="{9FAD6A1F-5D54-4D3E-BDF5-8EA99B009283}"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34</a:t>
            </a:fld>
            <a:endParaRPr lang="en-IN"/>
          </a:p>
        </p:txBody>
      </p:sp>
      <p:sp>
        <p:nvSpPr>
          <p:cNvPr id="9" name="Title 1"/>
          <p:cNvSpPr txBox="1">
            <a:spLocks/>
          </p:cNvSpPr>
          <p:nvPr/>
        </p:nvSpPr>
        <p:spPr>
          <a:xfrm>
            <a:off x="1499307" y="11088"/>
            <a:ext cx="753718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600" dirty="0">
                <a:cs typeface="Arial" pitchFamily="34" charset="0"/>
              </a:rPr>
              <a:t>Attribute Listing</a:t>
            </a:r>
            <a:endParaRPr lang="en-US" sz="3600" dirty="0"/>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pic>
        <p:nvPicPr>
          <p:cNvPr id="10" name="Picture 2" descr="See the source image"/>
          <p:cNvPicPr>
            <a:picLocks noChangeAspect="1" noChangeArrowheads="1"/>
          </p:cNvPicPr>
          <p:nvPr/>
        </p:nvPicPr>
        <p:blipFill>
          <a:blip r:embed="rId2"/>
          <a:srcRect t="15625" b="7291"/>
          <a:stretch>
            <a:fillRect/>
          </a:stretch>
        </p:blipFill>
        <p:spPr bwMode="auto">
          <a:xfrm>
            <a:off x="683568" y="974208"/>
            <a:ext cx="8143932" cy="5104823"/>
          </a:xfrm>
          <a:prstGeom prst="rect">
            <a:avLst/>
          </a:prstGeom>
          <a:noFill/>
        </p:spPr>
      </p:pic>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752877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dirty="0"/>
          </a:p>
        </p:txBody>
      </p:sp>
      <p:sp>
        <p:nvSpPr>
          <p:cNvPr id="3" name="Date Placeholder 2"/>
          <p:cNvSpPr>
            <a:spLocks noGrp="1"/>
          </p:cNvSpPr>
          <p:nvPr>
            <p:ph type="dt" sz="half" idx="10"/>
          </p:nvPr>
        </p:nvSpPr>
        <p:spPr/>
        <p:txBody>
          <a:bodyPr/>
          <a:lstStyle/>
          <a:p>
            <a:fld id="{85751C19-445D-463C-BD0F-C4FAF60A299A}" type="datetime1">
              <a:rPr lang="en-US" smtClean="0"/>
              <a:pPr/>
              <a:t>30-Aug-25</a:t>
            </a:fld>
            <a:endParaRPr lang="en-IN" dirty="0"/>
          </a:p>
        </p:txBody>
      </p:sp>
      <p:sp>
        <p:nvSpPr>
          <p:cNvPr id="6" name="Slide Number Placeholder 5"/>
          <p:cNvSpPr>
            <a:spLocks noGrp="1"/>
          </p:cNvSpPr>
          <p:nvPr>
            <p:ph type="sldNum" sz="quarter" idx="12"/>
          </p:nvPr>
        </p:nvSpPr>
        <p:spPr/>
        <p:txBody>
          <a:bodyPr/>
          <a:lstStyle/>
          <a:p>
            <a:fld id="{AE192DBD-906B-4248-9331-16A7E5426B5B}" type="slidenum">
              <a:rPr lang="en-IN" smtClean="0"/>
              <a:pPr/>
              <a:t>35</a:t>
            </a:fld>
            <a:endParaRPr lang="en-IN"/>
          </a:p>
        </p:txBody>
      </p:sp>
      <p:sp>
        <p:nvSpPr>
          <p:cNvPr id="9" name="Title 1"/>
          <p:cNvSpPr txBox="1">
            <a:spLocks/>
          </p:cNvSpPr>
          <p:nvPr/>
        </p:nvSpPr>
        <p:spPr>
          <a:xfrm>
            <a:off x="1619672" y="32131"/>
            <a:ext cx="741682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dirty="0">
                <a:latin typeface="Times New Roman" panose="02020603050405020304" pitchFamily="18" charset="0"/>
                <a:cs typeface="Times New Roman" panose="02020603050405020304" pitchFamily="18" charset="0"/>
              </a:rPr>
              <a:t>Scamper</a:t>
            </a:r>
            <a:endParaRPr kumimoji="0" lang="en-US" sz="36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pic>
        <p:nvPicPr>
          <p:cNvPr id="10" name="Picture 2" descr="Scamper"/>
          <p:cNvPicPr>
            <a:picLocks noChangeAspect="1" noChangeArrowheads="1"/>
          </p:cNvPicPr>
          <p:nvPr/>
        </p:nvPicPr>
        <p:blipFill>
          <a:blip r:embed="rId2"/>
          <a:srcRect/>
          <a:stretch>
            <a:fillRect/>
          </a:stretch>
        </p:blipFill>
        <p:spPr bwMode="auto">
          <a:xfrm>
            <a:off x="539552" y="1357298"/>
            <a:ext cx="8064896" cy="4643470"/>
          </a:xfrm>
          <a:prstGeom prst="rect">
            <a:avLst/>
          </a:prstGeom>
          <a:noFill/>
        </p:spPr>
      </p:pic>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634020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D767D491-257B-44EF-B6C0-1879D37F10A8}"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36</a:t>
            </a:fld>
            <a:endParaRPr lang="en-IN"/>
          </a:p>
        </p:txBody>
      </p:sp>
      <p:sp>
        <p:nvSpPr>
          <p:cNvPr id="9" name="Title 1"/>
          <p:cNvSpPr txBox="1">
            <a:spLocks/>
          </p:cNvSpPr>
          <p:nvPr/>
        </p:nvSpPr>
        <p:spPr>
          <a:xfrm>
            <a:off x="1524000" y="106904"/>
            <a:ext cx="7584504"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SCAMPER</a:t>
            </a: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4" name="Rectangle 3"/>
          <p:cNvSpPr/>
          <p:nvPr/>
        </p:nvSpPr>
        <p:spPr>
          <a:xfrm>
            <a:off x="457433" y="1268760"/>
            <a:ext cx="8075240" cy="3542508"/>
          </a:xfrm>
          <a:prstGeom prst="rect">
            <a:avLst/>
          </a:prstGeom>
        </p:spPr>
        <p:txBody>
          <a:bodyPr wrap="square">
            <a:spAutoFit/>
          </a:bodyPr>
          <a:lstStyle/>
          <a:p>
            <a:pPr marL="685800" algn="just"/>
            <a:r>
              <a:rPr lang="en-US" sz="2000" b="1" dirty="0">
                <a:cs typeface="Arial" pitchFamily="34" charset="0"/>
              </a:rPr>
              <a:t>Substitute</a:t>
            </a:r>
            <a:r>
              <a:rPr lang="en-US" sz="2000" dirty="0">
                <a:cs typeface="Arial" pitchFamily="34" charset="0"/>
              </a:rPr>
              <a:t>: </a:t>
            </a:r>
            <a:r>
              <a:rPr lang="en-IN" sz="2000" dirty="0"/>
              <a:t>The way the packaging of milk has evolved over the years.</a:t>
            </a:r>
            <a:r>
              <a:rPr lang="en-US" sz="2000" dirty="0"/>
              <a:t> </a:t>
            </a:r>
          </a:p>
          <a:p>
            <a:pPr marL="685800" algn="just"/>
            <a:r>
              <a:rPr lang="en-US" sz="2000" dirty="0"/>
              <a:t>What materials could be substituted to make the pen more eco-friendly, such as using recycled plastic or bamboo instead of traditional plastic? OR </a:t>
            </a:r>
            <a:endParaRPr lang="en-IN" sz="2000" dirty="0"/>
          </a:p>
          <a:p>
            <a:pPr marL="685800" algn="just"/>
            <a:r>
              <a:rPr lang="en-IN" sz="2000" kern="0" dirty="0">
                <a:ea typeface="Times New Roman" panose="02020603050405020304" pitchFamily="18" charset="0"/>
                <a:cs typeface="Times New Roman" panose="02020603050405020304" pitchFamily="18" charset="0"/>
              </a:rPr>
              <a:t>What alternative types of algae or microorganisms can be substituted to enhance biofuel production, considering factors like growth rate and oil content?</a:t>
            </a:r>
          </a:p>
          <a:p>
            <a:pPr marL="685800" algn="just"/>
            <a:endParaRPr lang="en-IN" sz="2000" kern="100" dirty="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US" sz="2000" b="1" dirty="0">
                <a:cs typeface="Arial" pitchFamily="34" charset="0"/>
              </a:rPr>
              <a:t>Combine: </a:t>
            </a:r>
            <a:r>
              <a:rPr lang="en-IN" sz="2000" dirty="0"/>
              <a:t>Combining different ingredients to produce new </a:t>
            </a:r>
            <a:r>
              <a:rPr lang="en-IN" sz="2000" dirty="0" err="1"/>
              <a:t>flavors</a:t>
            </a:r>
            <a:r>
              <a:rPr lang="en-IN" sz="2000" dirty="0"/>
              <a:t>.</a:t>
            </a:r>
            <a:r>
              <a:rPr lang="en-US" sz="2000" dirty="0"/>
              <a:t> can the pen be combined with another product or feature to make it more useful, like integrating a stylus tip for touchscreens?</a:t>
            </a:r>
            <a:endParaRPr lang="en-US" sz="2000" dirty="0">
              <a:cs typeface="Arial" pitchFamily="34" charset="0"/>
            </a:endParaRP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634020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IN"/>
          </a:p>
        </p:txBody>
      </p:sp>
      <p:sp>
        <p:nvSpPr>
          <p:cNvPr id="4" name="Content Placeholder 3"/>
          <p:cNvSpPr>
            <a:spLocks noGrp="1"/>
          </p:cNvSpPr>
          <p:nvPr>
            <p:ph idx="1"/>
          </p:nvPr>
        </p:nvSpPr>
        <p:spPr/>
        <p:txBody>
          <a:bodyPr>
            <a:normAutofit/>
          </a:bodyPr>
          <a:lstStyle/>
          <a:p>
            <a:pPr lvl="0" algn="just"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Adapt: </a:t>
            </a:r>
            <a:r>
              <a:rPr lang="en-IN" sz="2000" dirty="0">
                <a:latin typeface="Times New Roman" panose="02020603050405020304" pitchFamily="18" charset="0"/>
                <a:cs typeface="Times New Roman" panose="02020603050405020304" pitchFamily="18" charset="0"/>
              </a:rPr>
              <a:t> How can a business adapt to changing marketing conditions, the COVID-19 pandemic, or the rise of e-commerce? </a:t>
            </a:r>
          </a:p>
          <a:p>
            <a:pPr marL="0" lvl="0" indent="0" algn="ctr" eaLnBrk="0" fontAlgn="base" hangingPunct="0">
              <a:spcBef>
                <a:spcPct val="0"/>
              </a:spcBef>
              <a:spcAft>
                <a:spcPct val="0"/>
              </a:spcAft>
              <a:buNone/>
            </a:pPr>
            <a:r>
              <a:rPr lang="en-IN" sz="2000" dirty="0">
                <a:latin typeface="Times New Roman" panose="02020603050405020304" pitchFamily="18" charset="0"/>
                <a:cs typeface="Times New Roman" panose="02020603050405020304" pitchFamily="18" charset="0"/>
              </a:rPr>
              <a:t>OR </a:t>
            </a:r>
          </a:p>
          <a:p>
            <a:pPr marL="0" lvl="0" indent="0" algn="just" eaLnBrk="0" fontAlgn="base" hangingPunct="0">
              <a:spcBef>
                <a:spcPct val="0"/>
              </a:spcBef>
              <a:spcAft>
                <a:spcPct val="0"/>
              </a:spcAft>
              <a:buNone/>
            </a:pPr>
            <a:r>
              <a:rPr lang="en-US" sz="2000" dirty="0">
                <a:latin typeface="Times New Roman" panose="02020603050405020304" pitchFamily="18" charset="0"/>
                <a:cs typeface="Times New Roman" panose="02020603050405020304" pitchFamily="18" charset="0"/>
              </a:rPr>
              <a:t>How can we adapt the cultivation conditions (e.g., temperature, pH, nutrient supply) to make the algae more robust and productive.</a:t>
            </a:r>
          </a:p>
          <a:p>
            <a:pPr marL="0" lvl="0" indent="0" algn="just" eaLnBrk="0" fontAlgn="base" hangingPunct="0">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457200" indent="-457200" algn="just"/>
            <a:r>
              <a:rPr lang="en-US" sz="2000" b="1" dirty="0">
                <a:latin typeface="Times New Roman" panose="02020603050405020304" pitchFamily="18" charset="0"/>
                <a:cs typeface="Times New Roman" panose="02020603050405020304" pitchFamily="18" charset="0"/>
              </a:rPr>
              <a:t>Modify: </a:t>
            </a:r>
            <a:r>
              <a:rPr lang="en-IN" sz="2000" dirty="0">
                <a:latin typeface="Times New Roman" panose="02020603050405020304" pitchFamily="18" charset="0"/>
                <a:cs typeface="Times New Roman" panose="02020603050405020304" pitchFamily="18" charset="0"/>
              </a:rPr>
              <a:t> If customers aren’t buying large quantities of a product, can selling them in sachets boost sales or can selling a product in large quantities satisfy customers looking to buy more of a product? </a:t>
            </a:r>
          </a:p>
          <a:p>
            <a:pPr marL="0" indent="0" algn="ctr">
              <a:buNone/>
            </a:pPr>
            <a:r>
              <a:rPr lang="en-IN" sz="2000" dirty="0">
                <a:latin typeface="Times New Roman" panose="02020603050405020304" pitchFamily="18" charset="0"/>
                <a:cs typeface="Times New Roman" panose="02020603050405020304" pitchFamily="18" charset="0"/>
              </a:rPr>
              <a:t>OR </a:t>
            </a:r>
          </a:p>
          <a:p>
            <a:pPr marL="0" indent="0" algn="just">
              <a:buNone/>
            </a:pPr>
            <a:r>
              <a:rPr lang="en-IN" sz="2000" dirty="0">
                <a:latin typeface="Times New Roman" panose="02020603050405020304" pitchFamily="18" charset="0"/>
                <a:cs typeface="Times New Roman" panose="02020603050405020304" pitchFamily="18" charset="0"/>
              </a:rPr>
              <a:t>Can modifications be made in making the process of compost fast ?</a:t>
            </a:r>
            <a:endParaRPr lang="en-US" sz="2000" dirty="0">
              <a:latin typeface="Times New Roman" panose="02020603050405020304" pitchFamily="18" charset="0"/>
              <a:cs typeface="Times New Roman" panose="02020603050405020304" pitchFamily="18" charset="0"/>
            </a:endParaRPr>
          </a:p>
          <a:p>
            <a:pPr marL="0" lvl="0" indent="0" algn="just" eaLnBrk="0" fontAlgn="base" hangingPunct="0">
              <a:spcBef>
                <a:spcPct val="0"/>
              </a:spcBef>
              <a:spcAft>
                <a:spcPct val="0"/>
              </a:spcAft>
              <a:buNone/>
            </a:pPr>
            <a:endParaRPr lang="en-US" sz="2000" dirty="0">
              <a:cs typeface="Arial" pitchFamily="34" charset="0"/>
            </a:endParaRPr>
          </a:p>
        </p:txBody>
      </p:sp>
      <p:sp>
        <p:nvSpPr>
          <p:cNvPr id="7" name="Date Placeholder 3"/>
          <p:cNvSpPr>
            <a:spLocks noGrp="1"/>
          </p:cNvSpPr>
          <p:nvPr>
            <p:ph type="dt" sz="half" idx="10"/>
          </p:nvPr>
        </p:nvSpPr>
        <p:spPr/>
        <p:txBody>
          <a:bodyPr/>
          <a:lstStyle/>
          <a:p>
            <a:fld id="{7A031DF2-3827-46D2-9CC6-526B54C46BB8}" type="datetime1">
              <a:rPr lang="en-US" smtClean="0"/>
              <a:pPr/>
              <a:t>30-Aug-25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37</a:t>
            </a:fld>
            <a:endParaRPr lang="en-US"/>
          </a:p>
        </p:txBody>
      </p:sp>
      <p:sp>
        <p:nvSpPr>
          <p:cNvPr id="10" name="Title 1"/>
          <p:cNvSpPr txBox="1">
            <a:spLocks/>
          </p:cNvSpPr>
          <p:nvPr/>
        </p:nvSpPr>
        <p:spPr>
          <a:xfrm>
            <a:off x="1475656" y="168994"/>
            <a:ext cx="7211144" cy="89178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US" sz="3600" dirty="0">
                <a:latin typeface="Times New Roman" panose="02020603050405020304" pitchFamily="18" charset="0"/>
                <a:cs typeface="Times New Roman" panose="02020603050405020304" pitchFamily="18" charset="0"/>
              </a:rPr>
              <a:t>SCAMPER</a:t>
            </a:r>
          </a:p>
        </p:txBody>
      </p:sp>
      <p:sp>
        <p:nvSpPr>
          <p:cNvPr id="11"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7361759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6C60AF7-2A79-4D0F-9759-0A30014FD349}" type="datetime1">
              <a:rPr lang="en-US" smtClean="0"/>
              <a:pPr/>
              <a:t>30-Aug-25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38</a:t>
            </a:fld>
            <a:endParaRPr lang="en-US"/>
          </a:p>
        </p:txBody>
      </p:sp>
      <p:sp>
        <p:nvSpPr>
          <p:cNvPr id="6" name="Rectangle 5"/>
          <p:cNvSpPr/>
          <p:nvPr/>
        </p:nvSpPr>
        <p:spPr>
          <a:xfrm>
            <a:off x="457200" y="1142984"/>
            <a:ext cx="8386216" cy="3908762"/>
          </a:xfrm>
          <a:prstGeom prst="rect">
            <a:avLst/>
          </a:prstGeom>
        </p:spPr>
        <p:txBody>
          <a:bodyPr wrap="square">
            <a:spAutoFit/>
          </a:bodyPr>
          <a:lstStyle/>
          <a:p>
            <a:pPr marL="457200" lvl="0" indent="-457200" algn="just" eaLnBrk="0" fontAlgn="base" hangingPunct="0">
              <a:spcBef>
                <a:spcPct val="0"/>
              </a:spcBef>
              <a:spcAft>
                <a:spcPct val="0"/>
              </a:spcAft>
              <a:buFont typeface="Arial" pitchFamily="34" charset="0"/>
              <a:buChar char="•"/>
            </a:pPr>
            <a:r>
              <a:rPr lang="en-US" sz="2200" b="1" dirty="0">
                <a:solidFill>
                  <a:srgbClr val="252525"/>
                </a:solidFill>
                <a:latin typeface="Times New Roman" panose="02020603050405020304" pitchFamily="18" charset="0"/>
                <a:cs typeface="Times New Roman" panose="02020603050405020304" pitchFamily="18" charset="0"/>
              </a:rPr>
              <a:t>Put to another use: </a:t>
            </a:r>
            <a:r>
              <a:rPr lang="en-US" sz="2200" dirty="0">
                <a:latin typeface="Times New Roman" panose="02020603050405020304" pitchFamily="18" charset="0"/>
                <a:cs typeface="Times New Roman" panose="02020603050405020304" pitchFamily="18" charset="0"/>
              </a:rPr>
              <a:t>Can the biotech techniques used for algae be applied to other areas, such as wastewater treatment or pharmaceutical production, using algae as a platform?</a:t>
            </a:r>
          </a:p>
          <a:p>
            <a:pPr lvl="0" algn="just" eaLnBrk="0" fontAlgn="base" hangingPunct="0">
              <a:spcBef>
                <a:spcPct val="0"/>
              </a:spcBef>
              <a:spcAft>
                <a:spcPct val="0"/>
              </a:spcAft>
            </a:pPr>
            <a:endParaRPr lang="en-US" sz="2200" dirty="0">
              <a:solidFill>
                <a:srgbClr val="374151"/>
              </a:solidFill>
              <a:latin typeface="Times New Roman" panose="02020603050405020304" pitchFamily="18" charset="0"/>
              <a:cs typeface="Times New Roman" panose="02020603050405020304" pitchFamily="18" charset="0"/>
            </a:endParaRPr>
          </a:p>
          <a:p>
            <a:pPr marL="457200" indent="-457200" algn="just" eaLnBrk="0" fontAlgn="base" hangingPunct="0">
              <a:spcBef>
                <a:spcPct val="0"/>
              </a:spcBef>
              <a:spcAft>
                <a:spcPct val="0"/>
              </a:spcAft>
              <a:buFont typeface="Arial" pitchFamily="34" charset="0"/>
              <a:buChar char="•"/>
            </a:pPr>
            <a:r>
              <a:rPr lang="en-US" sz="2200" b="1" dirty="0">
                <a:solidFill>
                  <a:srgbClr val="252525"/>
                </a:solidFill>
                <a:latin typeface="Times New Roman" panose="02020603050405020304" pitchFamily="18" charset="0"/>
                <a:cs typeface="Times New Roman" panose="02020603050405020304" pitchFamily="18" charset="0"/>
              </a:rPr>
              <a:t>Eliminate: </a:t>
            </a:r>
            <a:r>
              <a:rPr lang="en-IN" sz="2200" dirty="0">
                <a:latin typeface="Times New Roman" panose="02020603050405020304" pitchFamily="18" charset="0"/>
                <a:cs typeface="Times New Roman" panose="02020603050405020304" pitchFamily="18" charset="0"/>
              </a:rPr>
              <a:t>Can eliminating a process be helpful in speeding up production and make work less hectic for workers?</a:t>
            </a:r>
          </a:p>
          <a:p>
            <a:pPr algn="just" eaLnBrk="0" fontAlgn="base" hangingPunct="0">
              <a:spcBef>
                <a:spcPct val="0"/>
              </a:spcBef>
              <a:spcAft>
                <a:spcPct val="0"/>
              </a:spcAft>
            </a:pPr>
            <a:endParaRPr lang="en-IN" sz="2200" dirty="0">
              <a:latin typeface="Times New Roman" panose="02020603050405020304" pitchFamily="18" charset="0"/>
              <a:cs typeface="Times New Roman" panose="02020603050405020304" pitchFamily="18" charset="0"/>
            </a:endParaRPr>
          </a:p>
          <a:p>
            <a:pPr marL="457200" lvl="0" indent="-457200" algn="just" eaLnBrk="0" fontAlgn="base" hangingPunct="0">
              <a:spcBef>
                <a:spcPct val="0"/>
              </a:spcBef>
              <a:spcAft>
                <a:spcPct val="0"/>
              </a:spcAft>
              <a:buFont typeface="Arial" pitchFamily="34" charset="0"/>
              <a:buChar char="•"/>
            </a:pPr>
            <a:r>
              <a:rPr lang="en-US" sz="2200" b="1" dirty="0">
                <a:solidFill>
                  <a:srgbClr val="252525"/>
                </a:solidFill>
                <a:latin typeface="Times New Roman" panose="02020603050405020304" pitchFamily="18" charset="0"/>
                <a:cs typeface="Times New Roman" panose="02020603050405020304" pitchFamily="18" charset="0"/>
              </a:rPr>
              <a:t>Reverse: </a:t>
            </a:r>
            <a:r>
              <a:rPr lang="en-IN" sz="2200" dirty="0">
                <a:latin typeface="Times New Roman" panose="02020603050405020304" pitchFamily="18" charset="0"/>
                <a:cs typeface="Times New Roman" panose="02020603050405020304" pitchFamily="18" charset="0"/>
              </a:rPr>
              <a:t>Can reversing the order of students sitting together in a class by placing the ones lagging in their grades at the front or with other students with better grades help improve their learning?</a:t>
            </a:r>
            <a:endParaRPr lang="en-US" sz="2200" b="1"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lang="en-US" sz="2800" b="1" dirty="0">
              <a:cs typeface="Arial" pitchFamily="34" charset="0"/>
            </a:endParaRPr>
          </a:p>
        </p:txBody>
      </p:sp>
      <p:sp>
        <p:nvSpPr>
          <p:cNvPr id="8" name="Title 1"/>
          <p:cNvSpPr txBox="1">
            <a:spLocks/>
          </p:cNvSpPr>
          <p:nvPr/>
        </p:nvSpPr>
        <p:spPr>
          <a:xfrm>
            <a:off x="1691680" y="115794"/>
            <a:ext cx="7151736" cy="64891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US" sz="3600" dirty="0">
                <a:solidFill>
                  <a:srgbClr val="000000"/>
                </a:solidFill>
              </a:rPr>
              <a:t>SCAMPER</a:t>
            </a:r>
            <a:endParaRPr lang="en-US" sz="3600" dirty="0"/>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lgn="just"/>
            <a:r>
              <a:rPr lang="en-IN" sz="2000" dirty="0">
                <a:latin typeface="Times New Roman" panose="02020603050405020304" pitchFamily="18" charset="0"/>
                <a:cs typeface="Times New Roman" panose="02020603050405020304" pitchFamily="18" charset="0"/>
              </a:rPr>
              <a:t>Value Analysis is a method to achieve cost reduction by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the utility or value of a product, service or process in relation to the cost incurred on it.</a:t>
            </a:r>
          </a:p>
          <a:p>
            <a:pPr algn="just"/>
            <a:endParaRPr lang="en-US" sz="2000" dirty="0"/>
          </a:p>
          <a:p>
            <a:pPr marL="0" indent="0" algn="just">
              <a:buNone/>
            </a:pPr>
            <a:endParaRPr lang="en-IN" sz="2000" dirty="0"/>
          </a:p>
        </p:txBody>
      </p:sp>
      <p:sp>
        <p:nvSpPr>
          <p:cNvPr id="7" name="Date Placeholder 3"/>
          <p:cNvSpPr>
            <a:spLocks noGrp="1"/>
          </p:cNvSpPr>
          <p:nvPr>
            <p:ph type="dt" sz="half" idx="10"/>
          </p:nvPr>
        </p:nvSpPr>
        <p:spPr/>
        <p:txBody>
          <a:bodyPr/>
          <a:lstStyle/>
          <a:p>
            <a:fld id="{FF977039-49BE-421C-BB6F-21C712E9D157}" type="datetime1">
              <a:rPr lang="en-US" smtClean="0"/>
              <a:pPr/>
              <a:t>30-Aug-25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39</a:t>
            </a:fld>
            <a:endParaRPr lang="en-US"/>
          </a:p>
        </p:txBody>
      </p:sp>
      <p:sp>
        <p:nvSpPr>
          <p:cNvPr id="11" name="Title 1"/>
          <p:cNvSpPr txBox="1">
            <a:spLocks/>
          </p:cNvSpPr>
          <p:nvPr/>
        </p:nvSpPr>
        <p:spPr>
          <a:xfrm>
            <a:off x="1403648" y="375112"/>
            <a:ext cx="7283152" cy="80318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US" sz="3600" dirty="0">
                <a:solidFill>
                  <a:srgbClr val="000000"/>
                </a:solidFill>
              </a:rPr>
              <a:t>Value Analysis</a:t>
            </a:r>
            <a:endParaRPr lang="en-US" sz="3600" dirty="0"/>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pic>
        <p:nvPicPr>
          <p:cNvPr id="12" name="Picture 8" descr="See the source image"/>
          <p:cNvPicPr>
            <a:picLocks noChangeAspect="1" noChangeArrowheads="1"/>
          </p:cNvPicPr>
          <p:nvPr/>
        </p:nvPicPr>
        <p:blipFill>
          <a:blip r:embed="rId3"/>
          <a:srcRect/>
          <a:stretch>
            <a:fillRect/>
          </a:stretch>
        </p:blipFill>
        <p:spPr bwMode="auto">
          <a:xfrm>
            <a:off x="285720" y="2852936"/>
            <a:ext cx="8572500" cy="3485937"/>
          </a:xfrm>
          <a:prstGeom prst="rect">
            <a:avLst/>
          </a:prstGeom>
          <a:noFill/>
        </p:spPr>
      </p:pic>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529362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6C60AF7-2A79-4D0F-9759-0A30014FD349}" type="datetime1">
              <a:rPr lang="en-US" smtClean="0"/>
              <a:pPr/>
              <a:t>30-Aug-25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
        <p:nvSpPr>
          <p:cNvPr id="6" name="Rectangle 5"/>
          <p:cNvSpPr/>
          <p:nvPr/>
        </p:nvSpPr>
        <p:spPr>
          <a:xfrm>
            <a:off x="107504" y="928670"/>
            <a:ext cx="9036496" cy="4154984"/>
          </a:xfrm>
          <a:prstGeom prst="rect">
            <a:avLst/>
          </a:prstGeom>
        </p:spPr>
        <p:txBody>
          <a:bodyPr wrap="square">
            <a:spAutoFit/>
          </a:bodyPr>
          <a:lstStyle/>
          <a:p>
            <a:pPr algn="just"/>
            <a:endParaRPr lang="en-IN" sz="2000" dirty="0"/>
          </a:p>
          <a:p>
            <a:pPr algn="just"/>
            <a:endParaRPr lang="en-IN" sz="2000" dirty="0"/>
          </a:p>
          <a:p>
            <a:pPr algn="just"/>
            <a:r>
              <a:rPr lang="en-IN" sz="2000" dirty="0">
                <a:latin typeface="Times New Roman" panose="02020603050405020304" pitchFamily="18" charset="0"/>
                <a:cs typeface="Times New Roman" panose="02020603050405020304" pitchFamily="18" charset="0"/>
              </a:rPr>
              <a:t>A bank is incurring extra cost at a particular branch. At the same time, it is getting complaints from customers about not adding a self-help desk. The value analysis team evaluated all the bank processes, such as banking services, technology maintenance, staff duties and roles, and relative costs.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It was discovered that the bank had employed two extra people than the required capacity and yet could not address customer problems due to confusion in roles. The team suggested introducing a help desk and employing the two extra employees at the desk to guide and help the customers. In a year, the branch’s profit grew by 30% at the same cost while receiving a positive response from its customers.</a:t>
            </a:r>
          </a:p>
          <a:p>
            <a:pPr>
              <a:buFont typeface="Arial" pitchFamily="34" charset="0"/>
              <a:buChar char="•"/>
            </a:pPr>
            <a:endParaRPr lang="en-US" sz="2400" dirty="0"/>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8" name="Title 1"/>
          <p:cNvSpPr txBox="1">
            <a:spLocks/>
          </p:cNvSpPr>
          <p:nvPr/>
        </p:nvSpPr>
        <p:spPr>
          <a:xfrm>
            <a:off x="1475656" y="0"/>
            <a:ext cx="7668344"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US" sz="3600" dirty="0">
                <a:solidFill>
                  <a:srgbClr val="000000"/>
                </a:solidFill>
              </a:rPr>
              <a:t>Example Case</a:t>
            </a:r>
            <a:endParaRPr lang="en-US" sz="3600" dirty="0"/>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6C60AF7-2A79-4D0F-9759-0A30014FD349}" type="datetime1">
              <a:rPr lang="en-US" smtClean="0"/>
              <a:pPr/>
              <a:t>30-Aug-25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
        <p:nvSpPr>
          <p:cNvPr id="7" name="Rectangle 6"/>
          <p:cNvSpPr/>
          <p:nvPr/>
        </p:nvSpPr>
        <p:spPr>
          <a:xfrm>
            <a:off x="179512" y="1196752"/>
            <a:ext cx="8784976" cy="3847207"/>
          </a:xfrm>
          <a:prstGeom prst="rect">
            <a:avLst/>
          </a:prstGeom>
        </p:spPr>
        <p:txBody>
          <a:bodyPr wrap="square">
            <a:spAutoFit/>
          </a:bodyPr>
          <a:lstStyle/>
          <a:p>
            <a:pPr algn="just"/>
            <a:r>
              <a:rPr lang="en-IN" sz="2000" dirty="0"/>
              <a:t>Scenarios are qualitatively different descriptions of plausible futures which can give you a deeper understanding of potential environments in which you might have to operate and what you may need to do in the present. </a:t>
            </a:r>
          </a:p>
          <a:p>
            <a:pPr algn="just"/>
            <a:endParaRPr lang="en-IN" sz="2000" dirty="0"/>
          </a:p>
          <a:p>
            <a:pPr algn="just"/>
            <a:r>
              <a:rPr lang="en-IN" sz="2000" dirty="0"/>
              <a:t>Alternative Scenario analysis helps you:</a:t>
            </a:r>
          </a:p>
          <a:p>
            <a:pPr algn="just"/>
            <a:endParaRPr lang="en-IN" sz="2000" dirty="0"/>
          </a:p>
          <a:p>
            <a:pPr marL="400050" indent="-400050" algn="just">
              <a:buFont typeface="Arial" pitchFamily="34" charset="0"/>
              <a:buChar char="•"/>
            </a:pPr>
            <a:r>
              <a:rPr lang="en-IN" sz="2000" dirty="0"/>
              <a:t>to identify what environmental factors to monitor over time</a:t>
            </a:r>
          </a:p>
          <a:p>
            <a:pPr marL="400050" indent="-400050" algn="just">
              <a:buFont typeface="Arial" pitchFamily="34" charset="0"/>
              <a:buChar char="•"/>
            </a:pPr>
            <a:r>
              <a:rPr lang="en-IN" sz="2000" dirty="0"/>
              <a:t>Is a less risky, more conservative approach to planning than relying on standard business forecasts and trend analyses. </a:t>
            </a:r>
          </a:p>
          <a:p>
            <a:pPr marL="400050" indent="-400050" algn="just">
              <a:buFont typeface="Arial" pitchFamily="34" charset="0"/>
              <a:buChar char="•"/>
            </a:pPr>
            <a:r>
              <a:rPr lang="en-IN" sz="2000" dirty="0"/>
              <a:t>To take more innovative actions, and prevent undesirable outcomes. Scenarios can explore general alternative futures and specific problems or strategies.</a:t>
            </a:r>
          </a:p>
          <a:p>
            <a:pPr>
              <a:buFont typeface="Arial"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1691680" y="115794"/>
            <a:ext cx="7151736" cy="64891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dirty="0"/>
              <a:t>Alternative Scenario</a:t>
            </a:r>
            <a:endParaRPr lang="en-US" sz="3600" dirty="0"/>
          </a:p>
        </p:txBody>
      </p:sp>
      <p:sp>
        <p:nvSpPr>
          <p:cNvPr id="9"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91264" cy="202034"/>
          </a:xfrm>
        </p:spPr>
        <p:txBody>
          <a:bodyPr>
            <a:normAutofit fontScale="90000"/>
          </a:bodyPr>
          <a:lstStyle/>
          <a:p>
            <a:endParaRPr lang="en-US" dirty="0"/>
          </a:p>
        </p:txBody>
      </p:sp>
      <p:sp>
        <p:nvSpPr>
          <p:cNvPr id="3" name="Date Placeholder 2"/>
          <p:cNvSpPr>
            <a:spLocks noGrp="1"/>
          </p:cNvSpPr>
          <p:nvPr>
            <p:ph type="dt" sz="half" idx="10"/>
          </p:nvPr>
        </p:nvSpPr>
        <p:spPr/>
        <p:txBody>
          <a:bodyPr/>
          <a:lstStyle/>
          <a:p>
            <a:fld id="{06C60AF7-2A79-4D0F-9759-0A30014FD349}" type="datetime1">
              <a:rPr lang="en-US" smtClean="0"/>
              <a:pPr/>
              <a:t>30-Aug-25</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42</a:t>
            </a:fld>
            <a:endParaRPr lang="en-US"/>
          </a:p>
        </p:txBody>
      </p:sp>
      <p:sp>
        <p:nvSpPr>
          <p:cNvPr id="9" name="Title 1"/>
          <p:cNvSpPr txBox="1">
            <a:spLocks/>
          </p:cNvSpPr>
          <p:nvPr/>
        </p:nvSpPr>
        <p:spPr>
          <a:xfrm>
            <a:off x="1475656" y="51200"/>
            <a:ext cx="7668344" cy="71350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IN" sz="3600" b="1" dirty="0"/>
              <a:t>Alternative  Scenarios</a:t>
            </a:r>
            <a:endParaRPr lang="en-US" sz="3600" b="1" dirty="0">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4" name="Rectangle 3"/>
          <p:cNvSpPr/>
          <p:nvPr/>
        </p:nvSpPr>
        <p:spPr>
          <a:xfrm>
            <a:off x="251520" y="1690138"/>
            <a:ext cx="8568952" cy="4093428"/>
          </a:xfrm>
          <a:prstGeom prst="rect">
            <a:avLst/>
          </a:prstGeom>
        </p:spPr>
        <p:txBody>
          <a:bodyPr wrap="square">
            <a:spAutoFit/>
          </a:bodyPr>
          <a:lstStyle/>
          <a:p>
            <a:pPr algn="just"/>
            <a:r>
              <a:rPr lang="en-IN" sz="2000" dirty="0"/>
              <a:t>Both </a:t>
            </a:r>
            <a:r>
              <a:rPr lang="en-IN" sz="2000" b="1" dirty="0"/>
              <a:t>Factors-Based</a:t>
            </a:r>
            <a:r>
              <a:rPr lang="en-IN" sz="2000" dirty="0"/>
              <a:t> and </a:t>
            </a:r>
            <a:r>
              <a:rPr lang="en-IN" sz="2000" b="1" dirty="0"/>
              <a:t>Growth-Based</a:t>
            </a:r>
            <a:r>
              <a:rPr lang="en-IN" sz="2000" dirty="0"/>
              <a:t> methods may be used in alternative scenario development.</a:t>
            </a:r>
          </a:p>
          <a:p>
            <a:pPr algn="just"/>
            <a:r>
              <a:rPr lang="en-IN" sz="2000" dirty="0"/>
              <a:t>To develop </a:t>
            </a:r>
            <a:r>
              <a:rPr lang="en-IN" sz="2000" b="1" dirty="0"/>
              <a:t>Alternative Factors Scenarios (AFS)</a:t>
            </a:r>
            <a:r>
              <a:rPr lang="en-IN" sz="2000" dirty="0"/>
              <a:t>:</a:t>
            </a:r>
          </a:p>
          <a:p>
            <a:pPr algn="just"/>
            <a:endParaRPr lang="en-IN" sz="2000" dirty="0"/>
          </a:p>
          <a:p>
            <a:pPr marL="342900" indent="-342900" algn="just">
              <a:buFont typeface="Arial" pitchFamily="34" charset="0"/>
              <a:buChar char="•"/>
            </a:pPr>
            <a:r>
              <a:rPr lang="en-IN" sz="2000" dirty="0"/>
              <a:t>State the specific decision that needs to be made.</a:t>
            </a:r>
          </a:p>
          <a:p>
            <a:pPr marL="342900" indent="-342900" algn="just">
              <a:buFont typeface="Arial" pitchFamily="34" charset="0"/>
              <a:buChar char="•"/>
            </a:pPr>
            <a:r>
              <a:rPr lang="en-IN" sz="2000" dirty="0"/>
              <a:t>Identify the major environmental factors (forces, drivers, trends, limits, etc.) that impact on the decision. </a:t>
            </a:r>
          </a:p>
          <a:p>
            <a:pPr marL="342900" indent="-342900" algn="just">
              <a:buFont typeface="Arial" pitchFamily="34" charset="0"/>
              <a:buChar char="•"/>
            </a:pPr>
            <a:r>
              <a:rPr lang="en-IN" sz="2000" dirty="0"/>
              <a:t>Build the four scenarios. </a:t>
            </a:r>
          </a:p>
          <a:p>
            <a:pPr marL="342900" indent="-342900" algn="just">
              <a:buFont typeface="Arial" pitchFamily="34" charset="0"/>
              <a:buChar char="•"/>
            </a:pPr>
            <a:r>
              <a:rPr lang="en-IN" sz="2000" dirty="0"/>
              <a:t>With the scenarios in hand, identify business opportunities and risk management strategies within each scenario.</a:t>
            </a:r>
          </a:p>
          <a:p>
            <a:pPr marL="342900" indent="-342900" algn="just">
              <a:buFont typeface="Arial" pitchFamily="34" charset="0"/>
              <a:buChar char="•"/>
            </a:pPr>
            <a:r>
              <a:rPr lang="en-IN" sz="2000" dirty="0"/>
              <a:t>Examine the links and synergies of opportunities and risk abatement across the range of scenarios. This would help you to formulate more realistic and robust strategy.</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107504" y="1340768"/>
            <a:ext cx="8928992" cy="3974421"/>
          </a:xfrm>
          <a:prstGeom prst="rect">
            <a:avLst/>
          </a:prstGeom>
        </p:spPr>
        <p:txBody>
          <a:bodyPr vert="horz" wrap="square" lIns="0" tIns="12700" rIns="0" bIns="0" rtlCol="0">
            <a:spAutoFit/>
          </a:bodyPr>
          <a:lstStyle/>
          <a:p>
            <a:pPr marL="342900" lvl="0" indent="-342900">
              <a:lnSpc>
                <a:spcPct val="107000"/>
              </a:lnSpc>
              <a:spcAft>
                <a:spcPts val="800"/>
              </a:spcAft>
              <a:tabLst>
                <a:tab pos="457200" algn="l"/>
              </a:tabLst>
            </a:pPr>
            <a:r>
              <a:rPr lang="en-IN" sz="2000" b="1" kern="0" dirty="0">
                <a:solidFill>
                  <a:srgbClr val="000000"/>
                </a:solidFill>
                <a:ea typeface="Times New Roman" panose="02020603050405020304" pitchFamily="18" charset="0"/>
                <a:cs typeface="Times New Roman" panose="02020603050405020304" pitchFamily="18" charset="0"/>
              </a:rPr>
              <a:t>Climate Change and Agriculture</a:t>
            </a:r>
            <a:r>
              <a:rPr lang="en-IN" sz="2000" kern="0" dirty="0">
                <a:solidFill>
                  <a:srgbClr val="000000"/>
                </a:solidFill>
                <a:ea typeface="Times New Roman" panose="02020603050405020304" pitchFamily="18" charset="0"/>
                <a:cs typeface="Times New Roman" panose="02020603050405020304" pitchFamily="18" charset="0"/>
              </a:rPr>
              <a:t>:</a:t>
            </a:r>
            <a:endParaRPr lang="en-IN" sz="2000" kern="100" dirty="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2000" kern="0" dirty="0">
                <a:solidFill>
                  <a:srgbClr val="000000"/>
                </a:solidFill>
                <a:ea typeface="Times New Roman" panose="02020603050405020304" pitchFamily="18" charset="0"/>
                <a:cs typeface="Times New Roman" panose="02020603050405020304" pitchFamily="18" charset="0"/>
              </a:rPr>
              <a:t>Scenario 1: Stable Climate - Predictable weather patterns, consistent crop yields.</a:t>
            </a:r>
          </a:p>
          <a:p>
            <a:pPr lvl="1">
              <a:lnSpc>
                <a:spcPct val="107000"/>
              </a:lnSpc>
              <a:spcAft>
                <a:spcPts val="800"/>
              </a:spcAft>
              <a:buSzPts val="1000"/>
              <a:tabLst>
                <a:tab pos="914400" algn="l"/>
              </a:tabLst>
            </a:pPr>
            <a:endParaRPr lang="en-IN" sz="2000" kern="100" dirty="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2000" kern="0" dirty="0">
                <a:solidFill>
                  <a:srgbClr val="000000"/>
                </a:solidFill>
                <a:ea typeface="Times New Roman" panose="02020603050405020304" pitchFamily="18" charset="0"/>
                <a:cs typeface="Times New Roman" panose="02020603050405020304" pitchFamily="18" charset="0"/>
              </a:rPr>
              <a:t>Scenario 2: Extreme Weather Events - Frequent droughts, floods, and temperature fluctuations.</a:t>
            </a:r>
          </a:p>
          <a:p>
            <a:pPr lvl="1">
              <a:lnSpc>
                <a:spcPct val="107000"/>
              </a:lnSpc>
              <a:spcAft>
                <a:spcPts val="800"/>
              </a:spcAft>
              <a:buSzPts val="1000"/>
              <a:tabLst>
                <a:tab pos="914400" algn="l"/>
              </a:tabLst>
            </a:pPr>
            <a:endParaRPr lang="en-IN" sz="2000" kern="100" dirty="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Symbol" panose="05050102010706020507" pitchFamily="18" charset="2"/>
              <a:buChar char=""/>
              <a:tabLst>
                <a:tab pos="914400" algn="l"/>
              </a:tabLst>
            </a:pPr>
            <a:r>
              <a:rPr lang="en-IN" sz="2000" kern="0" dirty="0">
                <a:solidFill>
                  <a:srgbClr val="000000"/>
                </a:solidFill>
                <a:ea typeface="Times New Roman" panose="02020603050405020304" pitchFamily="18" charset="0"/>
                <a:cs typeface="Times New Roman" panose="02020603050405020304" pitchFamily="18" charset="0"/>
              </a:rPr>
              <a:t>Scenario 3: Climate Mitigation - Successful global efforts to reduce greenhouse gas emissions, leading to more stable weather conditions.</a:t>
            </a:r>
            <a:endParaRPr lang="en-IN" sz="2000" kern="100" dirty="0">
              <a:ea typeface="Calibri" panose="020F0502020204030204" pitchFamily="34" charset="0"/>
              <a:cs typeface="Times New Roman" panose="02020603050405020304" pitchFamily="18" charset="0"/>
            </a:endParaRPr>
          </a:p>
          <a:p>
            <a:pPr marL="12700" marR="5080" algn="just">
              <a:lnSpc>
                <a:spcPct val="100000"/>
              </a:lnSpc>
              <a:spcBef>
                <a:spcPts val="100"/>
              </a:spcBef>
            </a:pPr>
            <a:endParaRPr sz="2400" dirty="0">
              <a:latin typeface="Times New Roman" panose="02020603050405020304" pitchFamily="18" charset="0"/>
              <a:cs typeface="Times New Roman" panose="02020603050405020304" pitchFamily="18" charset="0"/>
            </a:endParaRPr>
          </a:p>
        </p:txBody>
      </p:sp>
      <p:sp>
        <p:nvSpPr>
          <p:cNvPr id="8" name="Date Placeholder 3"/>
          <p:cNvSpPr>
            <a:spLocks noGrp="1"/>
          </p:cNvSpPr>
          <p:nvPr>
            <p:ph type="dt" sz="half" idx="10"/>
          </p:nvPr>
        </p:nvSpPr>
        <p:spPr>
          <a:xfrm>
            <a:off x="457200" y="6356352"/>
            <a:ext cx="2133600" cy="365125"/>
          </a:xfrm>
        </p:spPr>
        <p:txBody>
          <a:bodyPr/>
          <a:lstStyle/>
          <a:p>
            <a:fld id="{3289F393-FD98-47C1-A761-3D07A42C3B20}" type="datetime1">
              <a:rPr lang="en-US" smtClean="0"/>
              <a:pPr/>
              <a:t>30-Aug-25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43</a:t>
            </a:fld>
            <a:endParaRPr lang="en-US"/>
          </a:p>
        </p:txBody>
      </p:sp>
      <p:sp>
        <p:nvSpPr>
          <p:cNvPr id="9" name="Title 1"/>
          <p:cNvSpPr txBox="1">
            <a:spLocks/>
          </p:cNvSpPr>
          <p:nvPr/>
        </p:nvSpPr>
        <p:spPr>
          <a:xfrm>
            <a:off x="1547665" y="0"/>
            <a:ext cx="7570088" cy="105154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endParaRPr lang="en-US" sz="3600" b="1" dirty="0">
              <a:latin typeface="Times New Roman" panose="02020603050405020304" pitchFamily="18" charset="0"/>
              <a:cs typeface="Times New Roman" panose="02020603050405020304" pitchFamily="18" charset="0"/>
            </a:endParaRP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9301602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p:nvPr/>
        </p:nvSpPr>
        <p:spPr>
          <a:xfrm>
            <a:off x="179513" y="1556466"/>
            <a:ext cx="8568952" cy="3891450"/>
          </a:xfrm>
          <a:prstGeom prst="rect">
            <a:avLst/>
          </a:prstGeom>
        </p:spPr>
        <p:txBody>
          <a:bodyPr vert="horz" wrap="square" lIns="0" tIns="196215" rIns="0" bIns="0" rtlCol="0">
            <a:spAutoFit/>
          </a:bodyPr>
          <a:lstStyle/>
          <a:p>
            <a:pPr algn="just"/>
            <a:r>
              <a:rPr lang="en-IN" sz="2000" dirty="0"/>
              <a:t>To develop </a:t>
            </a:r>
            <a:r>
              <a:rPr lang="en-IN" sz="2000" b="1" dirty="0"/>
              <a:t>Alternative Growth Scenarios (AGS)</a:t>
            </a:r>
            <a:r>
              <a:rPr lang="en-IN" sz="2000" dirty="0"/>
              <a:t>:</a:t>
            </a:r>
          </a:p>
          <a:p>
            <a:pPr marL="457200" indent="-457200" algn="just"/>
            <a:r>
              <a:rPr lang="en-IN" sz="2000" dirty="0"/>
              <a:t> Jim </a:t>
            </a:r>
            <a:r>
              <a:rPr lang="en-IN" sz="2000" dirty="0" err="1"/>
              <a:t>Dator</a:t>
            </a:r>
            <a:r>
              <a:rPr lang="en-IN" sz="2000" dirty="0"/>
              <a:t> of the Hawaii Research </a:t>
            </a:r>
            <a:r>
              <a:rPr lang="en-IN" sz="2000" dirty="0" err="1"/>
              <a:t>Center</a:t>
            </a:r>
            <a:r>
              <a:rPr lang="en-IN" sz="2000" dirty="0"/>
              <a:t> for Futures Studies, proposed that all futures stories can be categorized into "Four Futures", or Generic Alternative Scenarios (GAS)[1]:</a:t>
            </a:r>
          </a:p>
          <a:p>
            <a:pPr marL="457200" indent="-457200" algn="just">
              <a:buFont typeface="Arial" pitchFamily="34" charset="0"/>
              <a:buChar char="•"/>
            </a:pPr>
            <a:r>
              <a:rPr lang="en-IN" sz="2000" b="1" dirty="0"/>
              <a:t>Continuation</a:t>
            </a:r>
            <a:r>
              <a:rPr lang="en-IN" sz="2000" dirty="0"/>
              <a:t> (usually "continued economic growth")</a:t>
            </a:r>
          </a:p>
          <a:p>
            <a:pPr marL="457200" indent="-457200" algn="just">
              <a:buFont typeface="Arial" pitchFamily="34" charset="0"/>
              <a:buChar char="•"/>
            </a:pPr>
            <a:r>
              <a:rPr lang="en-IN" sz="2000" b="1" dirty="0"/>
              <a:t>Collapse</a:t>
            </a:r>
            <a:r>
              <a:rPr lang="en-IN" sz="2000" dirty="0"/>
              <a:t> (from one or more of a variety of different reasons)</a:t>
            </a:r>
          </a:p>
          <a:p>
            <a:pPr marL="457200" indent="-457200" algn="just">
              <a:buFont typeface="Arial" pitchFamily="34" charset="0"/>
              <a:buChar char="•"/>
            </a:pPr>
            <a:r>
              <a:rPr lang="en-IN" sz="2000" b="1" dirty="0"/>
              <a:t>Disciplined Society</a:t>
            </a:r>
            <a:r>
              <a:rPr lang="en-IN" sz="2000" dirty="0"/>
              <a:t> (in which society in the future is seen as organized around some set of overarching values, ancient, traditional, natural, ideologically-correct, or God-given)</a:t>
            </a:r>
          </a:p>
          <a:p>
            <a:pPr marL="457200" indent="-457200" algn="just">
              <a:buFont typeface="Arial" pitchFamily="34" charset="0"/>
              <a:buChar char="•"/>
            </a:pPr>
            <a:r>
              <a:rPr lang="en-IN" sz="2000" b="1" dirty="0"/>
              <a:t>Transformational Society</a:t>
            </a:r>
            <a:r>
              <a:rPr lang="en-IN" sz="2000" dirty="0"/>
              <a:t> (usually either "high tech" or "high spirit," or both, with the end of some current patterns/values, and emergence of new ones, rather than the return to older traditional patterns/values)</a:t>
            </a:r>
          </a:p>
        </p:txBody>
      </p:sp>
      <p:sp>
        <p:nvSpPr>
          <p:cNvPr id="14" name="Date Placeholder 3"/>
          <p:cNvSpPr>
            <a:spLocks noGrp="1"/>
          </p:cNvSpPr>
          <p:nvPr>
            <p:ph type="dt" sz="half" idx="10"/>
          </p:nvPr>
        </p:nvSpPr>
        <p:spPr>
          <a:xfrm>
            <a:off x="457200" y="6356352"/>
            <a:ext cx="2133600" cy="365125"/>
          </a:xfrm>
        </p:spPr>
        <p:txBody>
          <a:bodyPr/>
          <a:lstStyle/>
          <a:p>
            <a:fld id="{EFDD7149-9276-4A23-8D33-1A7A3D014249}" type="datetime1">
              <a:rPr lang="en-US" smtClean="0"/>
              <a:pPr/>
              <a:t>30-Aug-25</a:t>
            </a:fld>
            <a:endParaRPr lang="en-US" dirty="0"/>
          </a:p>
        </p:txBody>
      </p:sp>
      <p:sp>
        <p:nvSpPr>
          <p:cNvPr id="16" name="Slide Number Placeholder 15"/>
          <p:cNvSpPr>
            <a:spLocks noGrp="1"/>
          </p:cNvSpPr>
          <p:nvPr>
            <p:ph type="sldNum" sz="quarter" idx="12"/>
          </p:nvPr>
        </p:nvSpPr>
        <p:spPr/>
        <p:txBody>
          <a:bodyPr/>
          <a:lstStyle/>
          <a:p>
            <a:fld id="{B6F15528-21DE-4FAA-801E-634DDDAF4B2B}" type="slidenum">
              <a:rPr lang="en-US" smtClean="0"/>
              <a:pPr/>
              <a:t>44</a:t>
            </a:fld>
            <a:endParaRPr lang="en-US"/>
          </a:p>
        </p:txBody>
      </p:sp>
      <p:sp>
        <p:nvSpPr>
          <p:cNvPr id="9" name="Title 1"/>
          <p:cNvSpPr txBox="1">
            <a:spLocks/>
          </p:cNvSpPr>
          <p:nvPr/>
        </p:nvSpPr>
        <p:spPr>
          <a:xfrm>
            <a:off x="1547665" y="0"/>
            <a:ext cx="7596336" cy="81570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600" dirty="0"/>
              <a:t>Alternative Scenarios </a:t>
            </a:r>
          </a:p>
        </p:txBody>
      </p:sp>
      <p:sp>
        <p:nvSpPr>
          <p:cNvPr id="7"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157342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idx="1"/>
          </p:nvPr>
        </p:nvSpPr>
        <p:spPr>
          <a:xfrm>
            <a:off x="381000" y="1143000"/>
            <a:ext cx="8533455" cy="4519617"/>
          </a:xfrm>
          <a:prstGeom prst="rect">
            <a:avLst/>
          </a:prstGeom>
        </p:spPr>
        <p:txBody>
          <a:bodyPr vert="horz" wrap="square" lIns="0" tIns="1184067" rIns="0" bIns="0" rtlCol="0">
            <a:spAutoFit/>
          </a:bodyPr>
          <a:lstStyle/>
          <a:p>
            <a:pPr marL="0" lvl="0" indent="0">
              <a:lnSpc>
                <a:spcPct val="107000"/>
              </a:lnSpc>
              <a:spcAft>
                <a:spcPts val="800"/>
              </a:spcAft>
              <a:buNone/>
              <a:tabLst>
                <a:tab pos="457200" algn="l"/>
              </a:tabLst>
            </a:pPr>
            <a:r>
              <a:rPr lang="en-IN" sz="2400" b="1"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Global Health Pandemic</a:t>
            </a:r>
            <a:r>
              <a:rPr lang="en-IN" sz="2400"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a:t>
            </a: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400"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Scenario 1: Rapid Containment - Quick and effective containment measures, limited spread.</a:t>
            </a:r>
          </a:p>
          <a:p>
            <a:pPr lvl="0">
              <a:lnSpc>
                <a:spcPct val="107000"/>
              </a:lnSpc>
              <a:spcAft>
                <a:spcPts val="800"/>
              </a:spcAft>
              <a:tabLst>
                <a:tab pos="457200" algn="l"/>
              </a:tabLst>
            </a:pPr>
            <a:r>
              <a:rPr lang="en-IN" sz="2400"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Scenario 2: Prolonged Pandemic - Continued waves of infection, slower recovery.</a:t>
            </a:r>
            <a:endParaRPr lang="en-IN" sz="20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r>
              <a:rPr lang="en-IN" sz="2400" kern="0" dirty="0">
                <a:solidFill>
                  <a:srgbClr val="000000"/>
                </a:solidFill>
                <a:latin typeface="Segoe UI" panose="020B0502040204020203" pitchFamily="34" charset="0"/>
                <a:ea typeface="Times New Roman" panose="02020603050405020304" pitchFamily="18" charset="0"/>
              </a:rPr>
              <a:t>Scenario 3: Vaccine Breakthrough - Rapid development and distribution of effective vaccines</a:t>
            </a:r>
            <a:endParaRPr lang="en-IN" sz="3600" dirty="0"/>
          </a:p>
        </p:txBody>
      </p:sp>
      <p:sp>
        <p:nvSpPr>
          <p:cNvPr id="7" name="Date Placeholder 3"/>
          <p:cNvSpPr>
            <a:spLocks noGrp="1"/>
          </p:cNvSpPr>
          <p:nvPr>
            <p:ph type="dt" sz="half" idx="10"/>
          </p:nvPr>
        </p:nvSpPr>
        <p:spPr>
          <a:xfrm>
            <a:off x="457200" y="6356352"/>
            <a:ext cx="2133600" cy="365125"/>
          </a:xfrm>
        </p:spPr>
        <p:txBody>
          <a:bodyPr/>
          <a:lstStyle/>
          <a:p>
            <a:fld id="{0B4AC9D4-E32A-4C37-9AFF-CFD04D8DACF3}" type="datetime1">
              <a:rPr lang="en-US" smtClean="0"/>
              <a:pPr/>
              <a:t>30-Aug-25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45</a:t>
            </a:fld>
            <a:endParaRPr lang="en-US"/>
          </a:p>
        </p:txBody>
      </p:sp>
      <p:sp>
        <p:nvSpPr>
          <p:cNvPr id="10" name="Title 1"/>
          <p:cNvSpPr txBox="1">
            <a:spLocks/>
          </p:cNvSpPr>
          <p:nvPr/>
        </p:nvSpPr>
        <p:spPr>
          <a:xfrm>
            <a:off x="1524000" y="-27267"/>
            <a:ext cx="7848872" cy="94785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600"/>
              <a:t>Alternative Scenarios </a:t>
            </a:r>
            <a:endParaRPr lang="en-US" sz="3600" dirty="0"/>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326408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908853" y="324681"/>
            <a:ext cx="6435470" cy="321242"/>
          </a:xfrm>
          <a:prstGeom prst="rect">
            <a:avLst/>
          </a:prstGeom>
        </p:spPr>
        <p:txBody>
          <a:bodyPr vert="horz" wrap="square" lIns="0" tIns="13335" rIns="0" bIns="0" rtlCol="0">
            <a:spAutoFit/>
          </a:bodyPr>
          <a:lstStyle/>
          <a:p>
            <a:pPr marL="12700" algn="just">
              <a:lnSpc>
                <a:spcPct val="100000"/>
              </a:lnSpc>
              <a:spcBef>
                <a:spcPts val="105"/>
              </a:spcBef>
            </a:pPr>
            <a:r>
              <a:rPr sz="2000" spc="-40" dirty="0">
                <a:solidFill>
                  <a:schemeClr val="bg1"/>
                </a:solidFill>
                <a:latin typeface="Times New Roman"/>
                <a:cs typeface="Times New Roman"/>
              </a:rPr>
              <a:t>FABIAN</a:t>
            </a:r>
            <a:r>
              <a:rPr lang="en-US" sz="2000" spc="-40" dirty="0">
                <a:solidFill>
                  <a:schemeClr val="bg1"/>
                </a:solidFill>
                <a:latin typeface="Times New Roman"/>
                <a:cs typeface="Times New Roman"/>
              </a:rPr>
              <a:t> </a:t>
            </a:r>
            <a:r>
              <a:rPr sz="2000" dirty="0">
                <a:solidFill>
                  <a:schemeClr val="bg1"/>
                </a:solidFill>
                <a:latin typeface="Times New Roman"/>
                <a:cs typeface="Times New Roman"/>
              </a:rPr>
              <a:t>ENTREPRENEURS</a:t>
            </a:r>
          </a:p>
        </p:txBody>
      </p:sp>
      <p:sp>
        <p:nvSpPr>
          <p:cNvPr id="14" name="Date Placeholder 3"/>
          <p:cNvSpPr>
            <a:spLocks noGrp="1"/>
          </p:cNvSpPr>
          <p:nvPr>
            <p:ph type="dt" sz="half" idx="10"/>
          </p:nvPr>
        </p:nvSpPr>
        <p:spPr>
          <a:xfrm>
            <a:off x="457200" y="6356352"/>
            <a:ext cx="2133600" cy="365125"/>
          </a:xfrm>
        </p:spPr>
        <p:txBody>
          <a:bodyPr/>
          <a:lstStyle/>
          <a:p>
            <a:fld id="{D41C5DCB-4416-40E2-B509-3183778A4EF6}" type="datetime1">
              <a:rPr lang="en-US" smtClean="0"/>
              <a:pPr/>
              <a:t>30-Aug-25</a:t>
            </a:fld>
            <a:endParaRPr lang="en-US" dirty="0"/>
          </a:p>
        </p:txBody>
      </p:sp>
      <p:sp>
        <p:nvSpPr>
          <p:cNvPr id="16" name="Slide Number Placeholder 15"/>
          <p:cNvSpPr>
            <a:spLocks noGrp="1"/>
          </p:cNvSpPr>
          <p:nvPr>
            <p:ph type="sldNum" sz="quarter" idx="12"/>
          </p:nvPr>
        </p:nvSpPr>
        <p:spPr/>
        <p:txBody>
          <a:bodyPr/>
          <a:lstStyle/>
          <a:p>
            <a:fld id="{B6F15528-21DE-4FAA-801E-634DDDAF4B2B}" type="slidenum">
              <a:rPr lang="en-US" smtClean="0"/>
              <a:pPr/>
              <a:t>46</a:t>
            </a:fld>
            <a:endParaRPr lang="en-US"/>
          </a:p>
        </p:txBody>
      </p:sp>
      <p:sp>
        <p:nvSpPr>
          <p:cNvPr id="9" name="Title 1"/>
          <p:cNvSpPr txBox="1">
            <a:spLocks/>
          </p:cNvSpPr>
          <p:nvPr/>
        </p:nvSpPr>
        <p:spPr>
          <a:xfrm>
            <a:off x="1619672" y="49709"/>
            <a:ext cx="7452320" cy="78700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r>
              <a:rPr lang="en-US" sz="3600" b="1" spc="-40" dirty="0">
                <a:solidFill>
                  <a:schemeClr val="tx1"/>
                </a:solidFill>
                <a:latin typeface="Times New Roman"/>
                <a:cs typeface="Times New Roman"/>
              </a:rPr>
              <a:t>New Product Development</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8" name="Date Placeholder 5"/>
          <p:cNvSpPr txBox="1">
            <a:spLocks/>
          </p:cNvSpPr>
          <p:nvPr/>
        </p:nvSpPr>
        <p:spPr>
          <a:xfrm>
            <a:off x="457200" y="6304235"/>
            <a:ext cx="7283152" cy="417242"/>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6A6985B-4463-4A2A-9462-E7E06F6B2476}" type="datetime1">
              <a:rPr lang="en-US" smtClean="0"/>
              <a:pPr/>
              <a:t>30-Aug-25</a:t>
            </a:fld>
            <a:r>
              <a:rPr lang="en-US" dirty="0"/>
              <a:t>                                                      </a:t>
            </a:r>
            <a:r>
              <a:rPr lang="en-US" dirty="0" err="1"/>
              <a:t>Mohd</a:t>
            </a:r>
            <a:r>
              <a:rPr lang="en-US" dirty="0"/>
              <a:t> Zaid                                                                                             AEO0771</a:t>
            </a:r>
          </a:p>
        </p:txBody>
      </p:sp>
      <p:pic>
        <p:nvPicPr>
          <p:cNvPr id="12" name="Picture 2" descr="See the source image"/>
          <p:cNvPicPr>
            <a:picLocks noChangeAspect="1" noChangeArrowheads="1"/>
          </p:cNvPicPr>
          <p:nvPr/>
        </p:nvPicPr>
        <p:blipFill>
          <a:blip r:embed="rId2"/>
          <a:srcRect/>
          <a:stretch>
            <a:fillRect/>
          </a:stretch>
        </p:blipFill>
        <p:spPr bwMode="auto">
          <a:xfrm>
            <a:off x="986177" y="1255885"/>
            <a:ext cx="7358146" cy="5093588"/>
          </a:xfrm>
          <a:prstGeom prst="rect">
            <a:avLst/>
          </a:prstGeom>
          <a:noFill/>
        </p:spPr>
      </p:pic>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557843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977073" y="350896"/>
            <a:ext cx="5189855" cy="321242"/>
          </a:xfrm>
          <a:prstGeom prst="rect">
            <a:avLst/>
          </a:prstGeom>
        </p:spPr>
        <p:txBody>
          <a:bodyPr vert="horz" wrap="square" lIns="0" tIns="13335" rIns="0" bIns="0" rtlCol="0">
            <a:spAutoFit/>
          </a:bodyPr>
          <a:lstStyle/>
          <a:p>
            <a:pPr marL="12700">
              <a:lnSpc>
                <a:spcPct val="100000"/>
              </a:lnSpc>
              <a:spcBef>
                <a:spcPts val="105"/>
              </a:spcBef>
            </a:pPr>
            <a:r>
              <a:rPr sz="2000" dirty="0">
                <a:solidFill>
                  <a:schemeClr val="bg1"/>
                </a:solidFill>
                <a:latin typeface="+mn-lt"/>
                <a:cs typeface="Times New Roman"/>
              </a:rPr>
              <a:t>DRONE</a:t>
            </a:r>
            <a:r>
              <a:rPr sz="2000" spc="-70" dirty="0">
                <a:solidFill>
                  <a:schemeClr val="bg1"/>
                </a:solidFill>
                <a:latin typeface="+mn-lt"/>
                <a:cs typeface="Times New Roman"/>
              </a:rPr>
              <a:t> </a:t>
            </a:r>
            <a:r>
              <a:rPr sz="2000" dirty="0">
                <a:solidFill>
                  <a:schemeClr val="bg1"/>
                </a:solidFill>
                <a:latin typeface="+mn-lt"/>
                <a:cs typeface="Times New Roman"/>
              </a:rPr>
              <a:t>ENTREPRENEURS</a:t>
            </a:r>
          </a:p>
        </p:txBody>
      </p:sp>
      <p:sp>
        <p:nvSpPr>
          <p:cNvPr id="11" name="object 11"/>
          <p:cNvSpPr txBox="1">
            <a:spLocks noGrp="1"/>
          </p:cNvSpPr>
          <p:nvPr>
            <p:ph idx="1"/>
          </p:nvPr>
        </p:nvSpPr>
        <p:spPr>
          <a:xfrm>
            <a:off x="457200" y="1371601"/>
            <a:ext cx="8229600" cy="4076116"/>
          </a:xfrm>
          <a:prstGeom prst="rect">
            <a:avLst/>
          </a:prstGeom>
        </p:spPr>
        <p:txBody>
          <a:bodyPr vert="horz" wrap="square" lIns="0" tIns="196215" rIns="0" bIns="0" rtlCol="0">
            <a:spAutoFit/>
          </a:bodyPr>
          <a:lstStyle/>
          <a:p>
            <a:pPr marL="0" indent="0" algn="just">
              <a:buNone/>
            </a:pPr>
            <a:r>
              <a:rPr lang="en-IN" sz="2800" dirty="0"/>
              <a:t>The process of collecting, evaluating, and delivering information for a strategic purpose is defined as environmental scanning.</a:t>
            </a:r>
          </a:p>
          <a:p>
            <a:pPr algn="just"/>
            <a:r>
              <a:rPr lang="en-IN" sz="2800" b="1" dirty="0"/>
              <a:t>Characteristics</a:t>
            </a:r>
          </a:p>
          <a:p>
            <a:pPr algn="just">
              <a:buFont typeface="+mj-lt"/>
              <a:buAutoNum type="arabicPeriod"/>
            </a:pPr>
            <a:r>
              <a:rPr lang="en-IN" sz="2800" dirty="0"/>
              <a:t>Continuous Process</a:t>
            </a:r>
          </a:p>
          <a:p>
            <a:pPr algn="just">
              <a:buFont typeface="+mj-lt"/>
              <a:buAutoNum type="arabicPeriod"/>
            </a:pPr>
            <a:r>
              <a:rPr lang="en-IN" sz="2800" dirty="0"/>
              <a:t>Exploratory Process</a:t>
            </a:r>
          </a:p>
          <a:p>
            <a:pPr algn="just">
              <a:buFont typeface="+mj-lt"/>
              <a:buAutoNum type="arabicPeriod"/>
            </a:pPr>
            <a:r>
              <a:rPr lang="en-IN" sz="2800" dirty="0"/>
              <a:t>Dynamic Process</a:t>
            </a:r>
          </a:p>
          <a:p>
            <a:pPr algn="just" fontAlgn="base">
              <a:buFont typeface="+mj-lt"/>
              <a:buAutoNum type="arabicPeriod"/>
            </a:pPr>
            <a:r>
              <a:rPr lang="en-IN" sz="2800" dirty="0"/>
              <a:t>Holistic View</a:t>
            </a:r>
          </a:p>
        </p:txBody>
      </p:sp>
      <p:sp>
        <p:nvSpPr>
          <p:cNvPr id="8" name="Date Placeholder 3"/>
          <p:cNvSpPr>
            <a:spLocks noGrp="1"/>
          </p:cNvSpPr>
          <p:nvPr>
            <p:ph type="dt" sz="half" idx="10"/>
          </p:nvPr>
        </p:nvSpPr>
        <p:spPr>
          <a:xfrm>
            <a:off x="457200" y="6356352"/>
            <a:ext cx="2133600" cy="365125"/>
          </a:xfrm>
        </p:spPr>
        <p:txBody>
          <a:bodyPr/>
          <a:lstStyle/>
          <a:p>
            <a:fld id="{EDAF7460-236F-4685-A441-8E6F0990E43E}" type="datetime1">
              <a:rPr lang="en-US" smtClean="0"/>
              <a:pPr/>
              <a:t>30-Aug-25</a:t>
            </a:fld>
            <a:endParaRPr lang="en-US" dirty="0"/>
          </a:p>
        </p:txBody>
      </p:sp>
      <p:sp>
        <p:nvSpPr>
          <p:cNvPr id="12" name="Slide Number Placeholder 11"/>
          <p:cNvSpPr>
            <a:spLocks noGrp="1"/>
          </p:cNvSpPr>
          <p:nvPr>
            <p:ph type="sldNum" sz="quarter" idx="12"/>
          </p:nvPr>
        </p:nvSpPr>
        <p:spPr/>
        <p:txBody>
          <a:bodyPr/>
          <a:lstStyle/>
          <a:p>
            <a:fld id="{B6F15528-21DE-4FAA-801E-634DDDAF4B2B}" type="slidenum">
              <a:rPr lang="en-US" smtClean="0"/>
              <a:pPr/>
              <a:t>47</a:t>
            </a:fld>
            <a:endParaRPr lang="en-US"/>
          </a:p>
        </p:txBody>
      </p:sp>
      <p:sp>
        <p:nvSpPr>
          <p:cNvPr id="2" name="Footer Placeholder 12">
            <a:extLst>
              <a:ext uri="{FF2B5EF4-FFF2-40B4-BE49-F238E27FC236}">
                <a16:creationId xmlns:a16="http://schemas.microsoft.com/office/drawing/2014/main" id="{A7E1C6EC-31AA-2361-D78B-F6615BCA746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a:t>
            </a:r>
          </a:p>
        </p:txBody>
      </p:sp>
      <p:sp>
        <p:nvSpPr>
          <p:cNvPr id="9" name="Title 1"/>
          <p:cNvSpPr txBox="1">
            <a:spLocks/>
          </p:cNvSpPr>
          <p:nvPr/>
        </p:nvSpPr>
        <p:spPr>
          <a:xfrm>
            <a:off x="1619672" y="31656"/>
            <a:ext cx="7524328" cy="80505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US" sz="3200" dirty="0"/>
              <a:t>Environmental Scanning and SWOT analysis </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9151171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000233" y="310844"/>
            <a:ext cx="5113655" cy="321242"/>
          </a:xfrm>
          <a:prstGeom prst="rect">
            <a:avLst/>
          </a:prstGeom>
        </p:spPr>
        <p:txBody>
          <a:bodyPr vert="horz" wrap="square" lIns="0" tIns="13335" rIns="0" bIns="0" rtlCol="0">
            <a:spAutoFit/>
          </a:bodyPr>
          <a:lstStyle/>
          <a:p>
            <a:pPr marL="12700">
              <a:lnSpc>
                <a:spcPct val="100000"/>
              </a:lnSpc>
              <a:spcBef>
                <a:spcPts val="105"/>
              </a:spcBef>
            </a:pPr>
            <a:r>
              <a:rPr sz="2000" b="1" spc="-5" dirty="0">
                <a:solidFill>
                  <a:srgbClr val="FFFFFF"/>
                </a:solidFill>
                <a:latin typeface="Times New Roman"/>
                <a:cs typeface="Times New Roman"/>
              </a:rPr>
              <a:t>COLE’S</a:t>
            </a:r>
            <a:r>
              <a:rPr sz="2000" b="1" spc="-65" dirty="0">
                <a:solidFill>
                  <a:srgbClr val="FFFFFF"/>
                </a:solidFill>
                <a:latin typeface="Times New Roman"/>
                <a:cs typeface="Times New Roman"/>
              </a:rPr>
              <a:t> </a:t>
            </a:r>
            <a:r>
              <a:rPr sz="2000" b="1" spc="-20" dirty="0">
                <a:solidFill>
                  <a:srgbClr val="FFFFFF"/>
                </a:solidFill>
                <a:latin typeface="Times New Roman"/>
                <a:cs typeface="Times New Roman"/>
              </a:rPr>
              <a:t>CLASSIFICATION</a:t>
            </a:r>
            <a:endParaRPr sz="2000" dirty="0">
              <a:latin typeface="Times New Roman"/>
              <a:cs typeface="Times New Roman"/>
            </a:endParaRPr>
          </a:p>
        </p:txBody>
      </p:sp>
      <p:sp>
        <p:nvSpPr>
          <p:cNvPr id="7" name="Date Placeholder 3"/>
          <p:cNvSpPr>
            <a:spLocks noGrp="1"/>
          </p:cNvSpPr>
          <p:nvPr>
            <p:ph type="dt" sz="half" idx="10"/>
          </p:nvPr>
        </p:nvSpPr>
        <p:spPr>
          <a:xfrm>
            <a:off x="457200" y="6356352"/>
            <a:ext cx="2133600" cy="365125"/>
          </a:xfrm>
        </p:spPr>
        <p:txBody>
          <a:bodyPr/>
          <a:lstStyle/>
          <a:p>
            <a:fld id="{61FB4DF7-7E62-4CFC-BE18-708BEDF905D3}" type="datetime1">
              <a:rPr lang="en-US" smtClean="0"/>
              <a:pPr/>
              <a:t>30-Aug-25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48</a:t>
            </a:fld>
            <a:endParaRPr lang="en-US"/>
          </a:p>
        </p:txBody>
      </p:sp>
      <p:sp>
        <p:nvSpPr>
          <p:cNvPr id="2" name="Footer Placeholder 12">
            <a:extLst>
              <a:ext uri="{FF2B5EF4-FFF2-40B4-BE49-F238E27FC236}">
                <a16:creationId xmlns:a16="http://schemas.microsoft.com/office/drawing/2014/main" id="{3CED03F0-BDE7-37EA-7C4B-61C300DD0F2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10" name="Title 1"/>
          <p:cNvSpPr txBox="1">
            <a:spLocks/>
          </p:cNvSpPr>
          <p:nvPr/>
        </p:nvSpPr>
        <p:spPr>
          <a:xfrm>
            <a:off x="1619672" y="0"/>
            <a:ext cx="7524328" cy="77571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lnSpc>
                <a:spcPct val="130000"/>
              </a:lnSpc>
            </a:pPr>
            <a:endParaRPr lang="en-IN" sz="3200" b="1" dirty="0"/>
          </a:p>
          <a:p>
            <a:pPr algn="ctr">
              <a:lnSpc>
                <a:spcPct val="130000"/>
              </a:lnSpc>
            </a:pPr>
            <a:r>
              <a:rPr lang="en-IN" sz="3200" b="1" dirty="0"/>
              <a:t>Components of Environmental Scanning</a:t>
            </a:r>
          </a:p>
          <a:p>
            <a:pPr algn="ctr">
              <a:lnSpc>
                <a:spcPct val="130000"/>
              </a:lnSpc>
            </a:pPr>
            <a:endParaRPr lang="en-US" sz="3600" b="1" dirty="0">
              <a:solidFill>
                <a:schemeClr val="tx1"/>
              </a:solidFill>
              <a:latin typeface="Times New Roman" panose="02020603050405020304" pitchFamily="18" charset="0"/>
              <a:cs typeface="Times New Roman" panose="02020603050405020304" pitchFamily="18" charset="0"/>
            </a:endParaRPr>
          </a:p>
        </p:txBody>
      </p:sp>
      <p:pic>
        <p:nvPicPr>
          <p:cNvPr id="8" name="Picture 4" descr="See the source image"/>
          <p:cNvPicPr>
            <a:picLocks noChangeAspect="1" noChangeArrowheads="1"/>
          </p:cNvPicPr>
          <p:nvPr/>
        </p:nvPicPr>
        <p:blipFill>
          <a:blip r:embed="rId2"/>
          <a:srcRect t="20161"/>
          <a:stretch>
            <a:fillRect/>
          </a:stretch>
        </p:blipFill>
        <p:spPr bwMode="auto">
          <a:xfrm>
            <a:off x="457200" y="1340768"/>
            <a:ext cx="8662676" cy="4032448"/>
          </a:xfrm>
          <a:prstGeom prst="rect">
            <a:avLst/>
          </a:prstGeom>
          <a:noFill/>
        </p:spPr>
      </p:pic>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1607379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fontAlgn="base"/>
            <a:r>
              <a:rPr lang="en-IN" sz="2400" b="1" dirty="0"/>
              <a:t>SWOT Analysis-</a:t>
            </a:r>
            <a:r>
              <a:rPr lang="en-IN" sz="2400" dirty="0"/>
              <a:t> Strengths, Weaknesses, opportunities and threats analysis</a:t>
            </a:r>
            <a:endParaRPr lang="en-IN" sz="2400" b="1" dirty="0"/>
          </a:p>
          <a:p>
            <a:pPr algn="just" fontAlgn="base"/>
            <a:r>
              <a:rPr lang="en-IN" sz="2400" b="1" dirty="0"/>
              <a:t>PEST Analysis-</a:t>
            </a:r>
            <a:r>
              <a:rPr lang="en-IN" sz="2400" dirty="0"/>
              <a:t>  Political, economic, social, and technological analysis</a:t>
            </a:r>
            <a:endParaRPr lang="en-IN" sz="2400" b="1" dirty="0"/>
          </a:p>
          <a:p>
            <a:pPr algn="just" fontAlgn="base"/>
            <a:r>
              <a:rPr lang="en-IN" sz="2400" b="1" dirty="0"/>
              <a:t>ETOP-  </a:t>
            </a:r>
            <a:r>
              <a:rPr lang="en-IN" sz="2400" dirty="0"/>
              <a:t>Environmental Threat Opportunity Profile. </a:t>
            </a:r>
            <a:endParaRPr lang="en-IN" sz="2400" b="1" dirty="0"/>
          </a:p>
          <a:p>
            <a:pPr algn="just" fontAlgn="base"/>
            <a:r>
              <a:rPr lang="en-IN" sz="2400" b="1" dirty="0"/>
              <a:t>QUEST-</a:t>
            </a:r>
            <a:r>
              <a:rPr lang="en-IN" sz="2400" dirty="0"/>
              <a:t> Quick Environmental Scanning Technique with a  focus on critical issues that have to be addressed in a short span.</a:t>
            </a:r>
          </a:p>
        </p:txBody>
      </p:sp>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2" name="Footer Placeholder 12">
            <a:extLst>
              <a:ext uri="{FF2B5EF4-FFF2-40B4-BE49-F238E27FC236}">
                <a16:creationId xmlns:a16="http://schemas.microsoft.com/office/drawing/2014/main" id="{17409F4A-8C85-F0CD-2671-31C2D37C02D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619672" y="0"/>
            <a:ext cx="7524328" cy="77571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3600" b="1" dirty="0"/>
              <a:t>Techniques of Environmental Scanning</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140267"/>
            <a:ext cx="8229600" cy="4525963"/>
          </a:xfrm>
        </p:spPr>
        <p:txBody>
          <a:bodyPr/>
          <a:lstStyle/>
          <a:p>
            <a:endParaRPr lang="en-US" dirty="0"/>
          </a:p>
        </p:txBody>
      </p:sp>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2" name="Footer Placeholder 12">
            <a:extLst>
              <a:ext uri="{FF2B5EF4-FFF2-40B4-BE49-F238E27FC236}">
                <a16:creationId xmlns:a16="http://schemas.microsoft.com/office/drawing/2014/main" id="{84A35EC1-2701-8034-8BDD-0D152E1D0A9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605194" y="0"/>
            <a:ext cx="7538805" cy="89234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latin typeface="Times New Roman" panose="02020603050405020304" pitchFamily="18" charset="0"/>
                <a:cs typeface="Times New Roman" panose="02020603050405020304" pitchFamily="18" charset="0"/>
              </a:rPr>
              <a:t>Steps involved in Environment Analysis</a:t>
            </a:r>
          </a:p>
        </p:txBody>
      </p:sp>
      <p:graphicFrame>
        <p:nvGraphicFramePr>
          <p:cNvPr id="12" name="Diagram 11">
            <a:extLst>
              <a:ext uri="{FF2B5EF4-FFF2-40B4-BE49-F238E27FC236}">
                <a16:creationId xmlns:a16="http://schemas.microsoft.com/office/drawing/2014/main" id="{00F7E037-B9D6-16F8-ACF4-09F1CBAD4C64}"/>
              </a:ext>
            </a:extLst>
          </p:cNvPr>
          <p:cNvGraphicFramePr/>
          <p:nvPr>
            <p:extLst>
              <p:ext uri="{D42A27DB-BD31-4B8C-83A1-F6EECF244321}">
                <p14:modId xmlns:p14="http://schemas.microsoft.com/office/powerpoint/2010/main" val="3487710736"/>
              </p:ext>
            </p:extLst>
          </p:nvPr>
        </p:nvGraphicFramePr>
        <p:xfrm>
          <a:off x="251520" y="1268760"/>
          <a:ext cx="8157592"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8"/>
          <p:cNvGrpSpPr/>
          <p:nvPr/>
        </p:nvGrpSpPr>
        <p:grpSpPr>
          <a:xfrm>
            <a:off x="338327" y="1572769"/>
            <a:ext cx="8465820" cy="4620895"/>
            <a:chOff x="338327" y="1572767"/>
            <a:chExt cx="8465820" cy="4620895"/>
          </a:xfrm>
          <a:noFill/>
        </p:grpSpPr>
        <p:sp>
          <p:nvSpPr>
            <p:cNvPr id="9" name="object 9"/>
            <p:cNvSpPr/>
            <p:nvPr/>
          </p:nvSpPr>
          <p:spPr>
            <a:xfrm>
              <a:off x="409955" y="1572767"/>
              <a:ext cx="8324088" cy="4620768"/>
            </a:xfrm>
            <a:prstGeom prst="rect">
              <a:avLst/>
            </a:prstGeom>
            <a:grpFill/>
            <a:ln>
              <a:noFill/>
            </a:ln>
          </p:spPr>
          <p:txBody>
            <a:bodyPr wrap="square" lIns="0" tIns="0" rIns="0" bIns="0" rtlCol="0"/>
            <a:lstStyle/>
            <a:p>
              <a:endParaRPr/>
            </a:p>
          </p:txBody>
        </p:sp>
        <p:sp>
          <p:nvSpPr>
            <p:cNvPr id="10" name="object 10"/>
            <p:cNvSpPr/>
            <p:nvPr/>
          </p:nvSpPr>
          <p:spPr>
            <a:xfrm>
              <a:off x="338327" y="1647443"/>
              <a:ext cx="8465820" cy="4326635"/>
            </a:xfrm>
            <a:prstGeom prst="rect">
              <a:avLst/>
            </a:prstGeom>
            <a:grpFill/>
            <a:ln>
              <a:noFill/>
            </a:ln>
          </p:spPr>
          <p:txBody>
            <a:bodyPr wrap="square" lIns="0" tIns="0" rIns="0" bIns="0" rtlCol="0"/>
            <a:lstStyle/>
            <a:p>
              <a:endParaRPr/>
            </a:p>
          </p:txBody>
        </p:sp>
        <p:sp>
          <p:nvSpPr>
            <p:cNvPr id="11" name="object 11"/>
            <p:cNvSpPr/>
            <p:nvPr/>
          </p:nvSpPr>
          <p:spPr>
            <a:xfrm>
              <a:off x="457199" y="1600199"/>
              <a:ext cx="8229600" cy="4526280"/>
            </a:xfrm>
            <a:prstGeom prst="rect">
              <a:avLst/>
            </a:prstGeom>
            <a:grpFill/>
            <a:ln>
              <a:noFill/>
            </a:ln>
          </p:spPr>
          <p:txBody>
            <a:bodyPr wrap="square" lIns="0" tIns="0" rIns="0" bIns="0" rtlCol="0"/>
            <a:lstStyle/>
            <a:p>
              <a:endParaRPr/>
            </a:p>
          </p:txBody>
        </p:sp>
        <p:sp>
          <p:nvSpPr>
            <p:cNvPr id="12" name="object 12"/>
            <p:cNvSpPr/>
            <p:nvPr/>
          </p:nvSpPr>
          <p:spPr>
            <a:xfrm>
              <a:off x="457199" y="1600199"/>
              <a:ext cx="8229600" cy="4526280"/>
            </a:xfrm>
            <a:custGeom>
              <a:avLst/>
              <a:gdLst/>
              <a:ahLst/>
              <a:cxnLst/>
              <a:rect l="l" t="t" r="r" b="b"/>
              <a:pathLst>
                <a:path w="8229600" h="4526280">
                  <a:moveTo>
                    <a:pt x="0" y="4526280"/>
                  </a:moveTo>
                  <a:lnTo>
                    <a:pt x="8229600" y="4526280"/>
                  </a:lnTo>
                  <a:lnTo>
                    <a:pt x="8229600" y="0"/>
                  </a:lnTo>
                  <a:lnTo>
                    <a:pt x="0" y="0"/>
                  </a:lnTo>
                  <a:lnTo>
                    <a:pt x="0" y="4526280"/>
                  </a:lnTo>
                  <a:close/>
                </a:path>
              </a:pathLst>
            </a:custGeom>
            <a:grpFill/>
            <a:ln w="9144">
              <a:noFill/>
            </a:ln>
          </p:spPr>
          <p:txBody>
            <a:bodyPr wrap="square" lIns="0" tIns="0" rIns="0" bIns="0" rtlCol="0"/>
            <a:lstStyle/>
            <a:p>
              <a:endParaRPr/>
            </a:p>
          </p:txBody>
        </p:sp>
      </p:grpSp>
      <p:sp>
        <p:nvSpPr>
          <p:cNvPr id="20" name="Date Placeholder 3"/>
          <p:cNvSpPr>
            <a:spLocks noGrp="1"/>
          </p:cNvSpPr>
          <p:nvPr>
            <p:ph type="dt" sz="half" idx="10"/>
          </p:nvPr>
        </p:nvSpPr>
        <p:spPr>
          <a:xfrm>
            <a:off x="457200" y="6356352"/>
            <a:ext cx="2133600" cy="365125"/>
          </a:xfrm>
        </p:spPr>
        <p:txBody>
          <a:bodyPr/>
          <a:lstStyle/>
          <a:p>
            <a:fld id="{BB255E8F-7624-41B0-BCDD-8ABC4040010C}" type="datetime1">
              <a:rPr lang="en-US" smtClean="0"/>
              <a:pPr/>
              <a:t>30-Aug-25</a:t>
            </a:fld>
            <a:endParaRPr lang="en-US" dirty="0"/>
          </a:p>
        </p:txBody>
      </p:sp>
      <p:sp>
        <p:nvSpPr>
          <p:cNvPr id="22" name="Slide Number Placeholder 21"/>
          <p:cNvSpPr>
            <a:spLocks noGrp="1"/>
          </p:cNvSpPr>
          <p:nvPr>
            <p:ph type="sldNum" sz="quarter" idx="12"/>
          </p:nvPr>
        </p:nvSpPr>
        <p:spPr/>
        <p:txBody>
          <a:bodyPr/>
          <a:lstStyle/>
          <a:p>
            <a:fld id="{B6F15528-21DE-4FAA-801E-634DDDAF4B2B}" type="slidenum">
              <a:rPr lang="en-US" smtClean="0"/>
              <a:pPr/>
              <a:t>51</a:t>
            </a:fld>
            <a:endParaRPr lang="en-US"/>
          </a:p>
        </p:txBody>
      </p:sp>
      <p:sp>
        <p:nvSpPr>
          <p:cNvPr id="2" name="Footer Placeholder 12">
            <a:extLst>
              <a:ext uri="{FF2B5EF4-FFF2-40B4-BE49-F238E27FC236}">
                <a16:creationId xmlns:a16="http://schemas.microsoft.com/office/drawing/2014/main" id="{8593D4F5-0E9E-ACE6-F2D4-4A1345D574D3}"/>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16" name="Title 1"/>
          <p:cNvSpPr txBox="1">
            <a:spLocks/>
          </p:cNvSpPr>
          <p:nvPr/>
        </p:nvSpPr>
        <p:spPr>
          <a:xfrm>
            <a:off x="1691680" y="0"/>
            <a:ext cx="7344816" cy="91308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t>Environmental Scanning And SWOT Analysis</a:t>
            </a:r>
          </a:p>
        </p:txBody>
      </p:sp>
      <p:pic>
        <p:nvPicPr>
          <p:cNvPr id="15" name="Picture 2" descr="4.1 SWOT">
            <a:extLst>
              <a:ext uri="{FF2B5EF4-FFF2-40B4-BE49-F238E27FC236}">
                <a16:creationId xmlns:a16="http://schemas.microsoft.com/office/drawing/2014/main" id="{9A93607E-1F1B-0123-D37C-3CCB68E130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955" y="1353312"/>
            <a:ext cx="8371332" cy="457075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Rectangle 12">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3018614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29308" y="356363"/>
            <a:ext cx="6482715" cy="381515"/>
          </a:xfrm>
          <a:prstGeom prst="rect">
            <a:avLst/>
          </a:prstGeom>
        </p:spPr>
        <p:txBody>
          <a:bodyPr vert="horz" wrap="square" lIns="0" tIns="12065" rIns="0" bIns="0" rtlCol="0">
            <a:spAutoFit/>
          </a:bodyPr>
          <a:lstStyle/>
          <a:p>
            <a:pPr marL="12700">
              <a:lnSpc>
                <a:spcPct val="100000"/>
              </a:lnSpc>
              <a:spcBef>
                <a:spcPts val="95"/>
              </a:spcBef>
            </a:pPr>
            <a:r>
              <a:rPr lang="en-IN" sz="2400" b="1" spc="-5" dirty="0">
                <a:latin typeface="Times New Roman"/>
                <a:cs typeface="Times New Roman"/>
              </a:rPr>
              <a:t> </a:t>
            </a:r>
            <a:r>
              <a:rPr sz="2000" spc="-5" dirty="0">
                <a:solidFill>
                  <a:schemeClr val="bg1"/>
                </a:solidFill>
                <a:latin typeface="+mn-lt"/>
                <a:cs typeface="Times New Roman"/>
              </a:rPr>
              <a:t>ON THE BASIS OF </a:t>
            </a:r>
            <a:r>
              <a:rPr sz="2000" spc="-10" dirty="0">
                <a:solidFill>
                  <a:schemeClr val="bg1"/>
                </a:solidFill>
                <a:latin typeface="+mn-lt"/>
                <a:cs typeface="Times New Roman"/>
              </a:rPr>
              <a:t>TYPE </a:t>
            </a:r>
            <a:r>
              <a:rPr sz="2000" spc="-5" dirty="0">
                <a:solidFill>
                  <a:schemeClr val="bg1"/>
                </a:solidFill>
                <a:latin typeface="+mn-lt"/>
                <a:cs typeface="Times New Roman"/>
              </a:rPr>
              <a:t>OF</a:t>
            </a:r>
            <a:r>
              <a:rPr sz="2000" spc="-295" dirty="0">
                <a:solidFill>
                  <a:schemeClr val="bg1"/>
                </a:solidFill>
                <a:latin typeface="+mn-lt"/>
                <a:cs typeface="Times New Roman"/>
              </a:rPr>
              <a:t> </a:t>
            </a:r>
            <a:r>
              <a:rPr sz="2000" spc="-5" dirty="0">
                <a:solidFill>
                  <a:schemeClr val="bg1"/>
                </a:solidFill>
                <a:latin typeface="+mn-lt"/>
                <a:cs typeface="Times New Roman"/>
              </a:rPr>
              <a:t>BUSINESS</a:t>
            </a:r>
            <a:endParaRPr sz="2000" dirty="0">
              <a:solidFill>
                <a:schemeClr val="bg1"/>
              </a:solidFill>
              <a:latin typeface="+mn-lt"/>
              <a:cs typeface="Times New Roman"/>
            </a:endParaRPr>
          </a:p>
        </p:txBody>
      </p:sp>
      <p:sp>
        <p:nvSpPr>
          <p:cNvPr id="9" name="object 9"/>
          <p:cNvSpPr txBox="1"/>
          <p:nvPr/>
        </p:nvSpPr>
        <p:spPr>
          <a:xfrm>
            <a:off x="535940" y="1037161"/>
            <a:ext cx="8074659" cy="5121274"/>
          </a:xfrm>
          <a:prstGeom prst="rect">
            <a:avLst/>
          </a:prstGeom>
        </p:spPr>
        <p:txBody>
          <a:bodyPr vert="horz" wrap="square" lIns="0" tIns="164465" rIns="0" bIns="0" rtlCol="0">
            <a:spAutoFit/>
          </a:bodyPr>
          <a:lstStyle/>
          <a:p>
            <a:r>
              <a:rPr lang="en-IN" sz="2400" b="1" dirty="0"/>
              <a:t>Importance of Environmental Scanning</a:t>
            </a:r>
          </a:p>
          <a:p>
            <a:endParaRPr lang="en-IN" sz="2400" b="1" dirty="0"/>
          </a:p>
          <a:p>
            <a:pPr fontAlgn="base">
              <a:lnSpc>
                <a:spcPct val="200000"/>
              </a:lnSpc>
            </a:pPr>
            <a:r>
              <a:rPr lang="en-IN" sz="2400" dirty="0"/>
              <a:t>Goal Accomplishment</a:t>
            </a:r>
          </a:p>
          <a:p>
            <a:pPr fontAlgn="base">
              <a:lnSpc>
                <a:spcPct val="200000"/>
              </a:lnSpc>
            </a:pPr>
            <a:r>
              <a:rPr lang="en-IN" sz="2400" dirty="0"/>
              <a:t>Future Forecast</a:t>
            </a:r>
          </a:p>
          <a:p>
            <a:pPr fontAlgn="base">
              <a:lnSpc>
                <a:spcPct val="200000"/>
              </a:lnSpc>
            </a:pPr>
            <a:r>
              <a:rPr lang="en-IN" sz="2400" dirty="0"/>
              <a:t>Market Knowledge</a:t>
            </a:r>
          </a:p>
          <a:p>
            <a:pPr fontAlgn="base">
              <a:lnSpc>
                <a:spcPct val="200000"/>
              </a:lnSpc>
            </a:pPr>
            <a:r>
              <a:rPr lang="en-IN" sz="2400" dirty="0"/>
              <a:t>Focus on the Customer</a:t>
            </a:r>
          </a:p>
          <a:p>
            <a:pPr fontAlgn="base">
              <a:lnSpc>
                <a:spcPct val="200000"/>
              </a:lnSpc>
            </a:pPr>
            <a:r>
              <a:rPr lang="en-IN" sz="2400" dirty="0"/>
              <a:t>Opportunities Identification</a:t>
            </a:r>
          </a:p>
          <a:p>
            <a:pPr marL="355600">
              <a:spcBef>
                <a:spcPts val="1200"/>
              </a:spcBef>
            </a:pPr>
            <a:endParaRPr sz="2400" dirty="0">
              <a:latin typeface="Times New Roman" panose="02020603050405020304" pitchFamily="18" charset="0"/>
              <a:cs typeface="Times New Roman" panose="02020603050405020304" pitchFamily="18" charset="0"/>
            </a:endParaRPr>
          </a:p>
        </p:txBody>
      </p:sp>
      <p:sp>
        <p:nvSpPr>
          <p:cNvPr id="7" name="Date Placeholder 3"/>
          <p:cNvSpPr>
            <a:spLocks noGrp="1"/>
          </p:cNvSpPr>
          <p:nvPr>
            <p:ph type="dt" sz="half" idx="10"/>
          </p:nvPr>
        </p:nvSpPr>
        <p:spPr>
          <a:xfrm>
            <a:off x="457200" y="6356352"/>
            <a:ext cx="2133600" cy="365125"/>
          </a:xfrm>
        </p:spPr>
        <p:txBody>
          <a:bodyPr/>
          <a:lstStyle/>
          <a:p>
            <a:fld id="{B510CE01-7F47-4540-BA0E-DC977F4B43C1}" type="datetime1">
              <a:rPr lang="en-US" smtClean="0"/>
              <a:pPr/>
              <a:t>30-Aug-25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52</a:t>
            </a:fld>
            <a:endParaRPr lang="en-US" dirty="0"/>
          </a:p>
        </p:txBody>
      </p:sp>
      <p:sp>
        <p:nvSpPr>
          <p:cNvPr id="2" name="Footer Placeholder 12">
            <a:extLst>
              <a:ext uri="{FF2B5EF4-FFF2-40B4-BE49-F238E27FC236}">
                <a16:creationId xmlns:a16="http://schemas.microsoft.com/office/drawing/2014/main" id="{1D8AB777-F597-183F-5BEE-13A2D62CCA8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475656" y="56532"/>
            <a:ext cx="7609184" cy="87267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solidFill>
                  <a:schemeClr val="tx1"/>
                </a:solidFill>
                <a:latin typeface="Times New Roman" panose="02020603050405020304" pitchFamily="18" charset="0"/>
                <a:cs typeface="Times New Roman" panose="02020603050405020304" pitchFamily="18" charset="0"/>
              </a:rPr>
              <a:t>Environmental Scanning</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4697940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ate Placeholder 3"/>
          <p:cNvSpPr>
            <a:spLocks noGrp="1"/>
          </p:cNvSpPr>
          <p:nvPr>
            <p:ph type="dt" sz="half" idx="10"/>
          </p:nvPr>
        </p:nvSpPr>
        <p:spPr>
          <a:xfrm>
            <a:off x="600060" y="6492877"/>
            <a:ext cx="2133600" cy="365125"/>
          </a:xfrm>
        </p:spPr>
        <p:txBody>
          <a:bodyPr/>
          <a:lstStyle/>
          <a:p>
            <a:fld id="{FCE7D38B-9FCF-4C08-92B1-A8CF06995585}" type="datetime1">
              <a:rPr lang="en-US" smtClean="0"/>
              <a:pPr/>
              <a:t>30-Aug-25</a:t>
            </a:fld>
            <a:endParaRPr lang="en-US" dirty="0"/>
          </a:p>
        </p:txBody>
      </p:sp>
      <p:sp>
        <p:nvSpPr>
          <p:cNvPr id="17" name="Slide Number Placeholder 16"/>
          <p:cNvSpPr>
            <a:spLocks noGrp="1"/>
          </p:cNvSpPr>
          <p:nvPr>
            <p:ph type="sldNum" sz="quarter" idx="12"/>
          </p:nvPr>
        </p:nvSpPr>
        <p:spPr/>
        <p:txBody>
          <a:bodyPr/>
          <a:lstStyle/>
          <a:p>
            <a:fld id="{B6F15528-21DE-4FAA-801E-634DDDAF4B2B}" type="slidenum">
              <a:rPr lang="en-US" smtClean="0"/>
              <a:pPr/>
              <a:t>53</a:t>
            </a:fld>
            <a:endParaRPr lang="en-US"/>
          </a:p>
        </p:txBody>
      </p:sp>
      <p:sp>
        <p:nvSpPr>
          <p:cNvPr id="2" name="Footer Placeholder 12">
            <a:extLst>
              <a:ext uri="{FF2B5EF4-FFF2-40B4-BE49-F238E27FC236}">
                <a16:creationId xmlns:a16="http://schemas.microsoft.com/office/drawing/2014/main" id="{B600F38E-F346-3770-2350-275CD794295E}"/>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9" name="Title 1"/>
          <p:cNvSpPr txBox="1">
            <a:spLocks/>
          </p:cNvSpPr>
          <p:nvPr/>
        </p:nvSpPr>
        <p:spPr>
          <a:xfrm>
            <a:off x="1475656" y="44624"/>
            <a:ext cx="7668344" cy="864097"/>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solidFill>
                  <a:schemeClr val="tx1"/>
                </a:solidFill>
                <a:latin typeface="Times New Roman" panose="02020603050405020304" pitchFamily="18" charset="0"/>
                <a:cs typeface="Times New Roman" panose="02020603050405020304" pitchFamily="18" charset="0"/>
              </a:rPr>
              <a:t>SWOT Analysis</a:t>
            </a:r>
            <a:endParaRPr lang="en-IN" sz="3600" b="1" dirty="0">
              <a:solidFill>
                <a:schemeClr val="tx1"/>
              </a:solidFill>
              <a:latin typeface="Times New Roman" panose="02020603050405020304" pitchFamily="18" charset="0"/>
              <a:cs typeface="Times New Roman" panose="02020603050405020304" pitchFamily="18" charset="0"/>
            </a:endParaRPr>
          </a:p>
        </p:txBody>
      </p:sp>
      <p:pic>
        <p:nvPicPr>
          <p:cNvPr id="7" name="Picture 2" descr="See the source image"/>
          <p:cNvPicPr>
            <a:picLocks noChangeAspect="1" noChangeArrowheads="1"/>
          </p:cNvPicPr>
          <p:nvPr/>
        </p:nvPicPr>
        <p:blipFill>
          <a:blip r:embed="rId2"/>
          <a:srcRect/>
          <a:stretch>
            <a:fillRect/>
          </a:stretch>
        </p:blipFill>
        <p:spPr bwMode="auto">
          <a:xfrm>
            <a:off x="750066" y="1847404"/>
            <a:ext cx="7643866" cy="4081086"/>
          </a:xfrm>
          <a:prstGeom prst="rect">
            <a:avLst/>
          </a:prstGeom>
          <a:noFill/>
        </p:spPr>
      </p:pic>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1804419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488" y="884469"/>
            <a:ext cx="7620000" cy="401392"/>
          </a:xfrm>
          <a:prstGeom prst="rect">
            <a:avLst/>
          </a:prstGeom>
        </p:spPr>
        <p:txBody>
          <a:bodyPr vert="horz" wrap="square" lIns="0" tIns="92710" rIns="0" bIns="0" rtlCol="0">
            <a:spAutoFit/>
          </a:bodyPr>
          <a:lstStyle/>
          <a:p>
            <a:pPr marL="275590">
              <a:lnSpc>
                <a:spcPct val="100000"/>
              </a:lnSpc>
              <a:spcBef>
                <a:spcPts val="730"/>
              </a:spcBef>
            </a:pPr>
            <a:r>
              <a:rPr sz="2000" spc="-5" dirty="0">
                <a:solidFill>
                  <a:schemeClr val="bg1"/>
                </a:solidFill>
                <a:latin typeface="+mn-lt"/>
                <a:cs typeface="Times New Roman"/>
              </a:rPr>
              <a:t>ON THE BASIS OF USE OF</a:t>
            </a:r>
            <a:r>
              <a:rPr sz="2000" spc="-290" dirty="0">
                <a:solidFill>
                  <a:schemeClr val="bg1"/>
                </a:solidFill>
                <a:latin typeface="+mn-lt"/>
                <a:cs typeface="Times New Roman"/>
              </a:rPr>
              <a:t> </a:t>
            </a:r>
            <a:r>
              <a:rPr sz="2000" spc="-10" dirty="0">
                <a:solidFill>
                  <a:schemeClr val="bg1"/>
                </a:solidFill>
                <a:latin typeface="+mn-lt"/>
                <a:cs typeface="Times New Roman"/>
              </a:rPr>
              <a:t>TECHNOLOGY</a:t>
            </a:r>
            <a:endParaRPr sz="2000" dirty="0">
              <a:solidFill>
                <a:schemeClr val="bg1"/>
              </a:solidFill>
              <a:latin typeface="+mn-lt"/>
              <a:cs typeface="Times New Roman"/>
            </a:endParaRPr>
          </a:p>
        </p:txBody>
      </p:sp>
      <p:sp>
        <p:nvSpPr>
          <p:cNvPr id="12" name="object 12"/>
          <p:cNvSpPr txBox="1"/>
          <p:nvPr/>
        </p:nvSpPr>
        <p:spPr>
          <a:xfrm>
            <a:off x="609600" y="1285861"/>
            <a:ext cx="8121396" cy="4457631"/>
          </a:xfrm>
          <a:prstGeom prst="rect">
            <a:avLst/>
          </a:prstGeom>
        </p:spPr>
        <p:txBody>
          <a:bodyPr vert="horz" wrap="square" lIns="0" tIns="12700" rIns="0" bIns="0" rtlCol="0">
            <a:spAutoFit/>
          </a:bodyPr>
          <a:lstStyle/>
          <a:p>
            <a:pPr algn="just"/>
            <a:r>
              <a:rPr lang="en-IN" sz="2200" dirty="0">
                <a:ea typeface="Calibri" panose="020F0502020204030204" pitchFamily="34" charset="0"/>
              </a:rPr>
              <a:t>Management skills for entrepreneurs play a vital role in creating and sustaining value within their businesses. Managing for value creation involves making strategic decisions and effectively utilizing resources to maximize the long-term worth of the company.</a:t>
            </a:r>
          </a:p>
          <a:p>
            <a:pPr algn="just"/>
            <a:endParaRPr lang="en-IN" sz="2200" dirty="0">
              <a:ea typeface="Calibri" panose="020F0502020204030204" pitchFamily="34" charset="0"/>
            </a:endParaRPr>
          </a:p>
          <a:p>
            <a:pPr algn="just"/>
            <a:r>
              <a:rPr lang="en-IN" sz="2200" b="1" dirty="0">
                <a:ea typeface="Calibri" panose="020F0502020204030204" pitchFamily="34" charset="0"/>
              </a:rPr>
              <a:t>Strategic Planning</a:t>
            </a:r>
          </a:p>
          <a:p>
            <a:pPr algn="just"/>
            <a:endParaRPr lang="en-IN" sz="2200" dirty="0">
              <a:ea typeface="Calibri" panose="020F0502020204030204" pitchFamily="34" charset="0"/>
            </a:endParaRPr>
          </a:p>
          <a:p>
            <a:pPr algn="just"/>
            <a:r>
              <a:rPr lang="en-IN" sz="2200" b="1" dirty="0">
                <a:ea typeface="Calibri" panose="020F0502020204030204" pitchFamily="34" charset="0"/>
              </a:rPr>
              <a:t>Market Analysis</a:t>
            </a:r>
          </a:p>
          <a:p>
            <a:pPr algn="just"/>
            <a:endParaRPr lang="en-IN" sz="2200" dirty="0">
              <a:ea typeface="Calibri" panose="020F0502020204030204" pitchFamily="34" charset="0"/>
            </a:endParaRPr>
          </a:p>
          <a:p>
            <a:pPr algn="just"/>
            <a:r>
              <a:rPr lang="en-IN" sz="2200" b="1" dirty="0">
                <a:ea typeface="Calibri" panose="020F0502020204030204" pitchFamily="34" charset="0"/>
              </a:rPr>
              <a:t>Financial Analysis</a:t>
            </a:r>
          </a:p>
          <a:p>
            <a:pPr algn="just"/>
            <a:endParaRPr lang="en-IN" sz="2200" b="1" dirty="0">
              <a:ea typeface="Calibri" panose="020F0502020204030204" pitchFamily="34" charset="0"/>
            </a:endParaRPr>
          </a:p>
          <a:p>
            <a:pPr algn="just"/>
            <a:r>
              <a:rPr lang="en-IN" sz="2200" b="1" dirty="0">
                <a:ea typeface="Calibri" panose="020F0502020204030204" pitchFamily="34" charset="0"/>
              </a:rPr>
              <a:t>Resource Allocation</a:t>
            </a:r>
            <a:r>
              <a:rPr lang="en-IN" sz="2200" dirty="0">
                <a:ea typeface="Calibri" panose="020F0502020204030204" pitchFamily="34" charset="0"/>
              </a:rPr>
              <a:t> </a:t>
            </a:r>
            <a:endParaRPr lang="en-IN" sz="2200" b="1" dirty="0">
              <a:ea typeface="Calibri" panose="020F0502020204030204" pitchFamily="34" charset="0"/>
            </a:endParaRPr>
          </a:p>
          <a:p>
            <a:pPr>
              <a:lnSpc>
                <a:spcPct val="100000"/>
              </a:lnSpc>
              <a:spcBef>
                <a:spcPts val="100"/>
              </a:spcBef>
            </a:pPr>
            <a:endParaRPr sz="2400" dirty="0">
              <a:latin typeface="Times New Roman" panose="02020603050405020304" pitchFamily="18" charset="0"/>
              <a:cs typeface="Times New Roman" panose="02020603050405020304" pitchFamily="18" charset="0"/>
            </a:endParaRPr>
          </a:p>
        </p:txBody>
      </p:sp>
      <p:sp>
        <p:nvSpPr>
          <p:cNvPr id="15" name="Date Placeholder 3"/>
          <p:cNvSpPr>
            <a:spLocks noGrp="1"/>
          </p:cNvSpPr>
          <p:nvPr>
            <p:ph type="dt" sz="half" idx="10"/>
          </p:nvPr>
        </p:nvSpPr>
        <p:spPr>
          <a:xfrm>
            <a:off x="457200" y="6356352"/>
            <a:ext cx="2133600" cy="365125"/>
          </a:xfrm>
        </p:spPr>
        <p:txBody>
          <a:bodyPr/>
          <a:lstStyle/>
          <a:p>
            <a:fld id="{120A54F5-66CC-4C04-A0FD-FD8FEEB6F46D}" type="datetime1">
              <a:rPr lang="en-US" smtClean="0"/>
              <a:pPr/>
              <a:t>30-Aug-25</a:t>
            </a:fld>
            <a:endParaRPr lang="en-US" dirty="0"/>
          </a:p>
        </p:txBody>
      </p:sp>
      <p:sp>
        <p:nvSpPr>
          <p:cNvPr id="17" name="Slide Number Placeholder 16"/>
          <p:cNvSpPr>
            <a:spLocks noGrp="1"/>
          </p:cNvSpPr>
          <p:nvPr>
            <p:ph type="sldNum" sz="quarter" idx="12"/>
          </p:nvPr>
        </p:nvSpPr>
        <p:spPr/>
        <p:txBody>
          <a:bodyPr/>
          <a:lstStyle/>
          <a:p>
            <a:fld id="{B6F15528-21DE-4FAA-801E-634DDDAF4B2B}" type="slidenum">
              <a:rPr lang="en-US" smtClean="0"/>
              <a:pPr/>
              <a:t>54</a:t>
            </a:fld>
            <a:endParaRPr lang="en-US"/>
          </a:p>
        </p:txBody>
      </p:sp>
      <p:sp>
        <p:nvSpPr>
          <p:cNvPr id="2" name="Footer Placeholder 12">
            <a:extLst>
              <a:ext uri="{FF2B5EF4-FFF2-40B4-BE49-F238E27FC236}">
                <a16:creationId xmlns:a16="http://schemas.microsoft.com/office/drawing/2014/main" id="{01A85099-DA56-4759-8174-3618C20915EB}"/>
              </a:ext>
            </a:extLst>
          </p:cNvPr>
          <p:cNvSpPr txBox="1">
            <a:spLocks/>
          </p:cNvSpPr>
          <p:nvPr/>
        </p:nvSpPr>
        <p:spPr>
          <a:xfrm>
            <a:off x="2590800" y="6332224"/>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583160" y="10304"/>
            <a:ext cx="7560840" cy="96972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dirty="0"/>
              <a:t>Managing for Value Creation</a:t>
            </a: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40477139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000100" y="245067"/>
            <a:ext cx="7543800" cy="401392"/>
          </a:xfrm>
          <a:prstGeom prst="rect">
            <a:avLst/>
          </a:prstGeom>
        </p:spPr>
        <p:txBody>
          <a:bodyPr vert="horz" wrap="square" lIns="0" tIns="92710" rIns="0" bIns="0" rtlCol="0">
            <a:spAutoFit/>
          </a:bodyPr>
          <a:lstStyle/>
          <a:p>
            <a:pPr marL="237490">
              <a:lnSpc>
                <a:spcPct val="100000"/>
              </a:lnSpc>
              <a:spcBef>
                <a:spcPts val="730"/>
              </a:spcBef>
            </a:pPr>
            <a:r>
              <a:rPr lang="en-US" sz="2000" spc="-5" dirty="0">
                <a:solidFill>
                  <a:schemeClr val="bg1"/>
                </a:solidFill>
                <a:latin typeface="+mn-lt"/>
                <a:cs typeface="Times New Roman"/>
              </a:rPr>
              <a:t>Professional Entrepreneur</a:t>
            </a:r>
            <a:endParaRPr sz="2000" dirty="0">
              <a:solidFill>
                <a:schemeClr val="bg1"/>
              </a:solidFill>
              <a:latin typeface="+mn-lt"/>
              <a:cs typeface="Times New Roman"/>
            </a:endParaRPr>
          </a:p>
        </p:txBody>
      </p:sp>
      <p:sp>
        <p:nvSpPr>
          <p:cNvPr id="12" name="object 12"/>
          <p:cNvSpPr txBox="1"/>
          <p:nvPr/>
        </p:nvSpPr>
        <p:spPr>
          <a:xfrm>
            <a:off x="251520" y="1016670"/>
            <a:ext cx="8712968" cy="5380960"/>
          </a:xfrm>
          <a:prstGeom prst="rect">
            <a:avLst/>
          </a:prstGeom>
        </p:spPr>
        <p:txBody>
          <a:bodyPr vert="horz" wrap="square" lIns="0" tIns="12700" rIns="0" bIns="0" rtlCol="0">
            <a:spAutoFit/>
          </a:bodyPr>
          <a:lstStyle/>
          <a:p>
            <a:pPr>
              <a:lnSpc>
                <a:spcPct val="150000"/>
              </a:lnSpc>
            </a:pPr>
            <a:endParaRPr lang="en-IN" sz="2400" b="1" dirty="0">
              <a:solidFill>
                <a:srgbClr val="374151"/>
              </a:solidFill>
              <a:latin typeface="Segoe UI" panose="020B0502040204020203" pitchFamily="34" charset="0"/>
              <a:ea typeface="Calibri" panose="020F0502020204030204" pitchFamily="34" charset="0"/>
            </a:endParaRPr>
          </a:p>
          <a:p>
            <a:pPr>
              <a:lnSpc>
                <a:spcPct val="150000"/>
              </a:lnSpc>
            </a:pPr>
            <a:r>
              <a:rPr lang="en-IN" sz="2400" b="1" dirty="0">
                <a:solidFill>
                  <a:srgbClr val="374151"/>
                </a:solidFill>
                <a:latin typeface="Segoe UI" panose="020B0502040204020203" pitchFamily="34" charset="0"/>
                <a:ea typeface="Calibri" panose="020F0502020204030204" pitchFamily="34" charset="0"/>
              </a:rPr>
              <a:t>Innovation and Creativity</a:t>
            </a:r>
          </a:p>
          <a:p>
            <a:pPr>
              <a:lnSpc>
                <a:spcPct val="150000"/>
              </a:lnSpc>
            </a:pPr>
            <a:r>
              <a:rPr lang="en-IN" sz="2400" b="1" dirty="0">
                <a:solidFill>
                  <a:srgbClr val="374151"/>
                </a:solidFill>
                <a:latin typeface="Segoe UI" panose="020B0502040204020203" pitchFamily="34" charset="0"/>
                <a:ea typeface="Calibri" panose="020F0502020204030204" pitchFamily="34" charset="0"/>
              </a:rPr>
              <a:t>Customer-Centric Approach</a:t>
            </a:r>
          </a:p>
          <a:p>
            <a:pPr>
              <a:lnSpc>
                <a:spcPct val="150000"/>
              </a:lnSpc>
            </a:pPr>
            <a:r>
              <a:rPr lang="en-IN" sz="2400" b="1" dirty="0">
                <a:solidFill>
                  <a:srgbClr val="374151"/>
                </a:solidFill>
                <a:latin typeface="Segoe UI" panose="020B0502040204020203" pitchFamily="34" charset="0"/>
                <a:ea typeface="Calibri" panose="020F0502020204030204" pitchFamily="34" charset="0"/>
              </a:rPr>
              <a:t>Cost Management</a:t>
            </a:r>
          </a:p>
          <a:p>
            <a:pPr>
              <a:lnSpc>
                <a:spcPct val="150000"/>
              </a:lnSpc>
            </a:pPr>
            <a:r>
              <a:rPr lang="en-IN" sz="2400" b="1" dirty="0">
                <a:solidFill>
                  <a:srgbClr val="374151"/>
                </a:solidFill>
                <a:latin typeface="Segoe UI" panose="020B0502040204020203" pitchFamily="34" charset="0"/>
                <a:ea typeface="Calibri" panose="020F0502020204030204" pitchFamily="34" charset="0"/>
              </a:rPr>
              <a:t>Risk Management</a:t>
            </a:r>
          </a:p>
          <a:p>
            <a:pPr>
              <a:lnSpc>
                <a:spcPct val="150000"/>
              </a:lnSpc>
            </a:pPr>
            <a:r>
              <a:rPr lang="en-IN" sz="2400" b="1" dirty="0">
                <a:solidFill>
                  <a:srgbClr val="374151"/>
                </a:solidFill>
                <a:latin typeface="Segoe UI" panose="020B0502040204020203" pitchFamily="34" charset="0"/>
                <a:ea typeface="Calibri" panose="020F0502020204030204" pitchFamily="34" charset="0"/>
              </a:rPr>
              <a:t>Performance Measurement</a:t>
            </a:r>
          </a:p>
          <a:p>
            <a:pPr>
              <a:lnSpc>
                <a:spcPct val="150000"/>
              </a:lnSpc>
            </a:pPr>
            <a:r>
              <a:rPr lang="en-IN" sz="2400" b="1" dirty="0">
                <a:solidFill>
                  <a:srgbClr val="374151"/>
                </a:solidFill>
                <a:latin typeface="Segoe UI" panose="020B0502040204020203" pitchFamily="34" charset="0"/>
                <a:ea typeface="Calibri" panose="020F0502020204030204" pitchFamily="34" charset="0"/>
              </a:rPr>
              <a:t>Customer Relationship Management</a:t>
            </a:r>
          </a:p>
          <a:p>
            <a:pPr>
              <a:lnSpc>
                <a:spcPct val="150000"/>
              </a:lnSpc>
            </a:pPr>
            <a:r>
              <a:rPr lang="en-IN" sz="2400" b="1" dirty="0">
                <a:solidFill>
                  <a:srgbClr val="374151"/>
                </a:solidFill>
                <a:latin typeface="Segoe UI" panose="020B0502040204020203" pitchFamily="34" charset="0"/>
                <a:ea typeface="Calibri" panose="020F0502020204030204" pitchFamily="34" charset="0"/>
              </a:rPr>
              <a:t>Employee Development</a:t>
            </a:r>
          </a:p>
          <a:p>
            <a:pPr>
              <a:lnSpc>
                <a:spcPct val="150000"/>
              </a:lnSpc>
            </a:pPr>
            <a:r>
              <a:rPr lang="en-IN" sz="2400" b="1" dirty="0">
                <a:solidFill>
                  <a:srgbClr val="374151"/>
                </a:solidFill>
                <a:latin typeface="Segoe UI" panose="020B0502040204020203" pitchFamily="34" charset="0"/>
                <a:ea typeface="Calibri" panose="020F0502020204030204" pitchFamily="34" charset="0"/>
              </a:rPr>
              <a:t>Negotiation Skills</a:t>
            </a:r>
            <a:endParaRPr lang="en-IN" sz="2400" dirty="0"/>
          </a:p>
          <a:p>
            <a:pPr algn="just">
              <a:lnSpc>
                <a:spcPct val="100000"/>
              </a:lnSpc>
              <a:spcBef>
                <a:spcPts val="100"/>
              </a:spcBef>
            </a:pPr>
            <a:endParaRPr sz="2400" dirty="0">
              <a:cs typeface="Times New Roman"/>
            </a:endParaRPr>
          </a:p>
        </p:txBody>
      </p:sp>
      <p:sp>
        <p:nvSpPr>
          <p:cNvPr id="15" name="Date Placeholder 3"/>
          <p:cNvSpPr>
            <a:spLocks noGrp="1"/>
          </p:cNvSpPr>
          <p:nvPr>
            <p:ph type="dt" sz="half" idx="10"/>
          </p:nvPr>
        </p:nvSpPr>
        <p:spPr>
          <a:xfrm>
            <a:off x="457200" y="6356352"/>
            <a:ext cx="2133600" cy="365125"/>
          </a:xfrm>
        </p:spPr>
        <p:txBody>
          <a:bodyPr/>
          <a:lstStyle/>
          <a:p>
            <a:fld id="{A9C4E75F-2FD5-4B31-98F1-4550EF29D983}" type="datetime1">
              <a:rPr lang="en-US" smtClean="0"/>
              <a:pPr/>
              <a:t>30-Aug-25</a:t>
            </a:fld>
            <a:endParaRPr lang="en-US" dirty="0"/>
          </a:p>
        </p:txBody>
      </p:sp>
      <p:sp>
        <p:nvSpPr>
          <p:cNvPr id="17" name="Slide Number Placeholder 16"/>
          <p:cNvSpPr>
            <a:spLocks noGrp="1"/>
          </p:cNvSpPr>
          <p:nvPr>
            <p:ph type="sldNum" sz="quarter" idx="12"/>
          </p:nvPr>
        </p:nvSpPr>
        <p:spPr/>
        <p:txBody>
          <a:bodyPr/>
          <a:lstStyle/>
          <a:p>
            <a:fld id="{B6F15528-21DE-4FAA-801E-634DDDAF4B2B}" type="slidenum">
              <a:rPr lang="en-US" smtClean="0"/>
              <a:pPr/>
              <a:t>55</a:t>
            </a:fld>
            <a:endParaRPr lang="en-US"/>
          </a:p>
        </p:txBody>
      </p:sp>
      <p:sp>
        <p:nvSpPr>
          <p:cNvPr id="2" name="Footer Placeholder 12">
            <a:extLst>
              <a:ext uri="{FF2B5EF4-FFF2-40B4-BE49-F238E27FC236}">
                <a16:creationId xmlns:a16="http://schemas.microsoft.com/office/drawing/2014/main" id="{431CDE50-1C2B-F789-9C4B-92612CE74E6E}"/>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691680" y="12631"/>
            <a:ext cx="745232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spc="-5" dirty="0">
                <a:solidFill>
                  <a:schemeClr val="tx1"/>
                </a:solidFill>
                <a:latin typeface="Times New Roman" panose="02020603050405020304" pitchFamily="18" charset="0"/>
                <a:cs typeface="Times New Roman" panose="02020603050405020304" pitchFamily="18" charset="0"/>
              </a:rPr>
              <a:t>          </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9355753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928794" y="381964"/>
            <a:ext cx="6292850" cy="321242"/>
          </a:xfrm>
          <a:prstGeom prst="rect">
            <a:avLst/>
          </a:prstGeom>
        </p:spPr>
        <p:txBody>
          <a:bodyPr vert="horz" wrap="square" lIns="0" tIns="13335" rIns="0" bIns="0" rtlCol="0">
            <a:spAutoFit/>
          </a:bodyPr>
          <a:lstStyle/>
          <a:p>
            <a:pPr marL="12700">
              <a:lnSpc>
                <a:spcPct val="100000"/>
              </a:lnSpc>
              <a:spcBef>
                <a:spcPts val="105"/>
              </a:spcBef>
            </a:pPr>
            <a:r>
              <a:rPr sz="2000" dirty="0">
                <a:solidFill>
                  <a:schemeClr val="bg1"/>
                </a:solidFill>
                <a:latin typeface="+mn-lt"/>
                <a:cs typeface="Times New Roman"/>
              </a:rPr>
              <a:t>ON THE </a:t>
            </a:r>
            <a:r>
              <a:rPr sz="2000" spc="-5" dirty="0">
                <a:solidFill>
                  <a:schemeClr val="bg1"/>
                </a:solidFill>
                <a:latin typeface="+mn-lt"/>
                <a:cs typeface="Times New Roman"/>
              </a:rPr>
              <a:t>BASIS </a:t>
            </a:r>
            <a:r>
              <a:rPr sz="2000" dirty="0">
                <a:solidFill>
                  <a:schemeClr val="bg1"/>
                </a:solidFill>
                <a:latin typeface="+mn-lt"/>
                <a:cs typeface="Times New Roman"/>
              </a:rPr>
              <a:t>OF</a:t>
            </a:r>
            <a:r>
              <a:rPr sz="2000" spc="-235" dirty="0">
                <a:solidFill>
                  <a:schemeClr val="bg1"/>
                </a:solidFill>
                <a:latin typeface="+mn-lt"/>
                <a:cs typeface="Times New Roman"/>
              </a:rPr>
              <a:t> </a:t>
            </a:r>
            <a:r>
              <a:rPr sz="2000" spc="-65" dirty="0">
                <a:solidFill>
                  <a:schemeClr val="bg1"/>
                </a:solidFill>
                <a:latin typeface="+mn-lt"/>
                <a:cs typeface="Times New Roman"/>
              </a:rPr>
              <a:t>MOTIVATION</a:t>
            </a:r>
            <a:endParaRPr sz="2000" dirty="0">
              <a:solidFill>
                <a:schemeClr val="bg1"/>
              </a:solidFill>
              <a:latin typeface="+mn-lt"/>
              <a:cs typeface="Times New Roman"/>
            </a:endParaRPr>
          </a:p>
        </p:txBody>
      </p:sp>
      <p:sp>
        <p:nvSpPr>
          <p:cNvPr id="7" name="Date Placeholder 3"/>
          <p:cNvSpPr>
            <a:spLocks noGrp="1"/>
          </p:cNvSpPr>
          <p:nvPr>
            <p:ph type="dt" sz="half" idx="10"/>
          </p:nvPr>
        </p:nvSpPr>
        <p:spPr>
          <a:xfrm>
            <a:off x="457200" y="6356352"/>
            <a:ext cx="2133600" cy="365125"/>
          </a:xfrm>
        </p:spPr>
        <p:txBody>
          <a:bodyPr/>
          <a:lstStyle/>
          <a:p>
            <a:fld id="{C8BACCF5-F7CE-4DF0-91DC-63CC3B672AE3}" type="datetime1">
              <a:rPr lang="en-US" smtClean="0"/>
              <a:pPr/>
              <a:t>30-Aug-25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56</a:t>
            </a:fld>
            <a:endParaRPr lang="en-US"/>
          </a:p>
        </p:txBody>
      </p:sp>
      <p:sp>
        <p:nvSpPr>
          <p:cNvPr id="2" name="Footer Placeholder 12">
            <a:extLst>
              <a:ext uri="{FF2B5EF4-FFF2-40B4-BE49-F238E27FC236}">
                <a16:creationId xmlns:a16="http://schemas.microsoft.com/office/drawing/2014/main" id="{E0DD24BC-1012-91C4-53DC-8A92099D435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675592" y="0"/>
            <a:ext cx="745232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r>
              <a:rPr lang="en-US" sz="3600" dirty="0"/>
              <a:t>     </a:t>
            </a:r>
          </a:p>
          <a:p>
            <a:pPr lvl="0"/>
            <a:r>
              <a:rPr lang="en-US" sz="3600" dirty="0"/>
              <a:t>Managing for Value Creation</a:t>
            </a:r>
          </a:p>
          <a:p>
            <a:endParaRPr lang="en-IN" sz="3600" b="1" dirty="0">
              <a:solidFill>
                <a:schemeClr val="tx1"/>
              </a:solidFill>
              <a:latin typeface="Times New Roman" panose="02020603050405020304" pitchFamily="18" charset="0"/>
              <a:cs typeface="Times New Roman" panose="02020603050405020304" pitchFamily="18" charset="0"/>
            </a:endParaRPr>
          </a:p>
        </p:txBody>
      </p:sp>
      <p:pic>
        <p:nvPicPr>
          <p:cNvPr id="11" name="Content Placeholder 10">
            <a:extLst>
              <a:ext uri="{FF2B5EF4-FFF2-40B4-BE49-F238E27FC236}">
                <a16:creationId xmlns:a16="http://schemas.microsoft.com/office/drawing/2014/main" id="{71FE040C-8BC0-408C-A712-41C1B897A2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9592" y="1843813"/>
            <a:ext cx="7322052" cy="4105467"/>
          </a:xfrm>
        </p:spPr>
      </p:pic>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5786434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785919" y="453402"/>
            <a:ext cx="6292850" cy="321242"/>
          </a:xfrm>
          <a:prstGeom prst="rect">
            <a:avLst/>
          </a:prstGeom>
        </p:spPr>
        <p:txBody>
          <a:bodyPr vert="horz" wrap="square" lIns="0" tIns="13335" rIns="0" bIns="0" rtlCol="0">
            <a:spAutoFit/>
          </a:bodyPr>
          <a:lstStyle/>
          <a:p>
            <a:pPr marL="12700">
              <a:lnSpc>
                <a:spcPct val="100000"/>
              </a:lnSpc>
              <a:spcBef>
                <a:spcPts val="105"/>
              </a:spcBef>
            </a:pPr>
            <a:r>
              <a:rPr sz="2000" dirty="0">
                <a:solidFill>
                  <a:schemeClr val="bg1"/>
                </a:solidFill>
                <a:latin typeface="+mn-lt"/>
                <a:cs typeface="Times New Roman"/>
              </a:rPr>
              <a:t>ON THE </a:t>
            </a:r>
            <a:r>
              <a:rPr sz="2000" spc="-5" dirty="0">
                <a:solidFill>
                  <a:schemeClr val="bg1"/>
                </a:solidFill>
                <a:latin typeface="+mn-lt"/>
                <a:cs typeface="Times New Roman"/>
              </a:rPr>
              <a:t>BASIS </a:t>
            </a:r>
            <a:r>
              <a:rPr sz="2000" dirty="0">
                <a:solidFill>
                  <a:schemeClr val="bg1"/>
                </a:solidFill>
                <a:latin typeface="+mn-lt"/>
                <a:cs typeface="Times New Roman"/>
              </a:rPr>
              <a:t>OF</a:t>
            </a:r>
            <a:r>
              <a:rPr sz="2000" spc="-235" dirty="0">
                <a:solidFill>
                  <a:schemeClr val="bg1"/>
                </a:solidFill>
                <a:latin typeface="+mn-lt"/>
                <a:cs typeface="Times New Roman"/>
              </a:rPr>
              <a:t> </a:t>
            </a:r>
            <a:r>
              <a:rPr sz="2000" spc="-65" dirty="0">
                <a:solidFill>
                  <a:schemeClr val="bg1"/>
                </a:solidFill>
                <a:latin typeface="+mn-lt"/>
                <a:cs typeface="Times New Roman"/>
              </a:rPr>
              <a:t>MOTIVATION</a:t>
            </a:r>
            <a:endParaRPr sz="2000" dirty="0">
              <a:solidFill>
                <a:schemeClr val="bg1"/>
              </a:solidFill>
              <a:latin typeface="+mn-lt"/>
              <a:cs typeface="Times New Roman"/>
            </a:endParaRPr>
          </a:p>
        </p:txBody>
      </p:sp>
      <p:sp>
        <p:nvSpPr>
          <p:cNvPr id="4" name="object 4"/>
          <p:cNvSpPr txBox="1"/>
          <p:nvPr/>
        </p:nvSpPr>
        <p:spPr>
          <a:xfrm>
            <a:off x="323528" y="1222689"/>
            <a:ext cx="8364128" cy="2980944"/>
          </a:xfrm>
          <a:prstGeom prst="rect">
            <a:avLst/>
          </a:prstGeom>
        </p:spPr>
        <p:txBody>
          <a:bodyPr vert="horz" wrap="square" lIns="0" tIns="13335" rIns="0" bIns="0" rtlCol="0">
            <a:spAutoFit/>
          </a:bodyPr>
          <a:lstStyle/>
          <a:p>
            <a:pPr marL="12700" algn="just">
              <a:spcBef>
                <a:spcPts val="105"/>
              </a:spcBef>
            </a:pPr>
            <a:r>
              <a:rPr lang="en-US" sz="2400" dirty="0">
                <a:solidFill>
                  <a:srgbClr val="374151"/>
                </a:solidFill>
              </a:rPr>
              <a:t>A sustaining enterprise model, also known as a sustainable business model, is a framework that focuses on creating and maintaining a business that operates in an environmentally and socially responsible manner while also achieving financial profitability. Such models aim to balance economic, environmental, and social considerations to ensure long-term sustainability and success.</a:t>
            </a:r>
            <a:endParaRPr lang="en-IN" sz="2400" dirty="0"/>
          </a:p>
          <a:p>
            <a:pPr marL="12700" algn="just">
              <a:lnSpc>
                <a:spcPct val="100000"/>
              </a:lnSpc>
              <a:spcBef>
                <a:spcPts val="105"/>
              </a:spcBef>
            </a:pPr>
            <a:endParaRPr sz="2400" dirty="0">
              <a:latin typeface="Times New Roman" panose="02020603050405020304" pitchFamily="18" charset="0"/>
              <a:cs typeface="Times New Roman" panose="02020603050405020304" pitchFamily="18" charset="0"/>
            </a:endParaRPr>
          </a:p>
        </p:txBody>
      </p:sp>
      <p:sp>
        <p:nvSpPr>
          <p:cNvPr id="7" name="Date Placeholder 3"/>
          <p:cNvSpPr>
            <a:spLocks noGrp="1"/>
          </p:cNvSpPr>
          <p:nvPr>
            <p:ph type="dt" sz="half" idx="10"/>
          </p:nvPr>
        </p:nvSpPr>
        <p:spPr>
          <a:xfrm>
            <a:off x="457200" y="6356352"/>
            <a:ext cx="2133600" cy="365125"/>
          </a:xfrm>
        </p:spPr>
        <p:txBody>
          <a:bodyPr/>
          <a:lstStyle/>
          <a:p>
            <a:fld id="{98942955-D6DA-4A4A-A566-EE081BDCA957}" type="datetime1">
              <a:rPr lang="en-US" smtClean="0"/>
              <a:pPr/>
              <a:t>30-Aug-25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57</a:t>
            </a:fld>
            <a:endParaRPr lang="en-US"/>
          </a:p>
        </p:txBody>
      </p:sp>
      <p:sp>
        <p:nvSpPr>
          <p:cNvPr id="2" name="Footer Placeholder 12">
            <a:extLst>
              <a:ext uri="{FF2B5EF4-FFF2-40B4-BE49-F238E27FC236}">
                <a16:creationId xmlns:a16="http://schemas.microsoft.com/office/drawing/2014/main" id="{0239ADB5-3CDB-E69A-37CA-2BC81C9EC8BF}"/>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640880" y="5357"/>
            <a:ext cx="745232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dirty="0"/>
              <a:t>Sustaining Enterprise Model</a:t>
            </a:r>
          </a:p>
        </p:txBody>
      </p:sp>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3995912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43043" y="382287"/>
            <a:ext cx="6292850" cy="320601"/>
          </a:xfrm>
          <a:prstGeom prst="rect">
            <a:avLst/>
          </a:prstGeom>
        </p:spPr>
        <p:txBody>
          <a:bodyPr vert="horz" wrap="square" lIns="0" tIns="12700" rIns="0" bIns="0" rtlCol="0">
            <a:spAutoFit/>
          </a:bodyPr>
          <a:lstStyle/>
          <a:p>
            <a:pPr marL="12700">
              <a:lnSpc>
                <a:spcPct val="100000"/>
              </a:lnSpc>
              <a:spcBef>
                <a:spcPts val="100"/>
              </a:spcBef>
            </a:pPr>
            <a:r>
              <a:rPr sz="2000" dirty="0">
                <a:solidFill>
                  <a:schemeClr val="bg1"/>
                </a:solidFill>
                <a:latin typeface="+mn-lt"/>
                <a:cs typeface="Times New Roman"/>
              </a:rPr>
              <a:t>ON THE </a:t>
            </a:r>
            <a:r>
              <a:rPr sz="2000" spc="-5" dirty="0">
                <a:solidFill>
                  <a:schemeClr val="bg1"/>
                </a:solidFill>
                <a:latin typeface="+mn-lt"/>
                <a:cs typeface="Times New Roman"/>
              </a:rPr>
              <a:t>BASIS </a:t>
            </a:r>
            <a:r>
              <a:rPr sz="2000" dirty="0">
                <a:solidFill>
                  <a:schemeClr val="bg1"/>
                </a:solidFill>
                <a:latin typeface="+mn-lt"/>
                <a:cs typeface="Times New Roman"/>
              </a:rPr>
              <a:t>OF</a:t>
            </a:r>
            <a:r>
              <a:rPr sz="2000" spc="-235" dirty="0">
                <a:solidFill>
                  <a:schemeClr val="bg1"/>
                </a:solidFill>
                <a:latin typeface="+mn-lt"/>
                <a:cs typeface="Times New Roman"/>
              </a:rPr>
              <a:t> </a:t>
            </a:r>
            <a:r>
              <a:rPr sz="2000" spc="-65" dirty="0">
                <a:solidFill>
                  <a:schemeClr val="bg1"/>
                </a:solidFill>
                <a:latin typeface="+mn-lt"/>
                <a:cs typeface="Times New Roman"/>
              </a:rPr>
              <a:t>MOTIVATION</a:t>
            </a:r>
            <a:endParaRPr sz="2000" dirty="0">
              <a:solidFill>
                <a:schemeClr val="bg1"/>
              </a:solidFill>
              <a:latin typeface="+mn-lt"/>
              <a:cs typeface="Times New Roman"/>
            </a:endParaRPr>
          </a:p>
        </p:txBody>
      </p:sp>
      <p:sp>
        <p:nvSpPr>
          <p:cNvPr id="7" name="Date Placeholder 3"/>
          <p:cNvSpPr>
            <a:spLocks noGrp="1"/>
          </p:cNvSpPr>
          <p:nvPr>
            <p:ph type="dt" sz="half" idx="10"/>
          </p:nvPr>
        </p:nvSpPr>
        <p:spPr>
          <a:xfrm>
            <a:off x="457200" y="6356352"/>
            <a:ext cx="2133600" cy="365125"/>
          </a:xfrm>
        </p:spPr>
        <p:txBody>
          <a:bodyPr/>
          <a:lstStyle/>
          <a:p>
            <a:fld id="{C6817817-33D4-47A9-B748-262807F4F43A}" type="datetime1">
              <a:rPr lang="en-US" smtClean="0"/>
              <a:pPr/>
              <a:t>30-Aug-25</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58</a:t>
            </a:fld>
            <a:endParaRPr lang="en-US"/>
          </a:p>
        </p:txBody>
      </p:sp>
      <p:sp>
        <p:nvSpPr>
          <p:cNvPr id="2" name="Footer Placeholder 12">
            <a:extLst>
              <a:ext uri="{FF2B5EF4-FFF2-40B4-BE49-F238E27FC236}">
                <a16:creationId xmlns:a16="http://schemas.microsoft.com/office/drawing/2014/main" id="{F95B7E52-AA64-81CF-AB27-86F14F5C491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Title 1"/>
          <p:cNvSpPr txBox="1">
            <a:spLocks/>
          </p:cNvSpPr>
          <p:nvPr/>
        </p:nvSpPr>
        <p:spPr>
          <a:xfrm>
            <a:off x="1643043" y="1"/>
            <a:ext cx="7452320" cy="83671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2551134" y="321183"/>
            <a:ext cx="3692999" cy="461665"/>
          </a:xfrm>
          <a:prstGeom prst="rect">
            <a:avLst/>
          </a:prstGeom>
        </p:spPr>
        <p:txBody>
          <a:bodyPr wrap="none">
            <a:spAutoFit/>
          </a:bodyPr>
          <a:lstStyle/>
          <a:p>
            <a:pPr lvl="0" algn="ctr">
              <a:spcBef>
                <a:spcPct val="0"/>
              </a:spcBef>
              <a:defRPr/>
            </a:pPr>
            <a:r>
              <a:rPr lang="en-US" sz="2400" dirty="0"/>
              <a:t>Sustaining Enterprise Model</a:t>
            </a:r>
          </a:p>
        </p:txBody>
      </p:sp>
      <p:pic>
        <p:nvPicPr>
          <p:cNvPr id="10" name="Content Placeholder 12">
            <a:extLst>
              <a:ext uri="{FF2B5EF4-FFF2-40B4-BE49-F238E27FC236}">
                <a16:creationId xmlns:a16="http://schemas.microsoft.com/office/drawing/2014/main" id="{6422134C-F0C6-19F0-8B56-3B49DA72EE8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59632" y="1219000"/>
            <a:ext cx="6624736" cy="4895578"/>
          </a:xfrm>
        </p:spPr>
      </p:pic>
      <p:sp>
        <p:nvSpPr>
          <p:cNvPr id="11" name="Rectangle 10">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7831411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714480" y="501173"/>
            <a:ext cx="7072362" cy="320601"/>
          </a:xfrm>
          <a:prstGeom prst="rect">
            <a:avLst/>
          </a:prstGeom>
        </p:spPr>
        <p:txBody>
          <a:bodyPr vert="horz" wrap="square" lIns="0" tIns="12700" rIns="0" bIns="0" rtlCol="0">
            <a:spAutoFit/>
          </a:bodyPr>
          <a:lstStyle/>
          <a:p>
            <a:pPr marL="12700">
              <a:lnSpc>
                <a:spcPct val="100000"/>
              </a:lnSpc>
              <a:spcBef>
                <a:spcPts val="100"/>
              </a:spcBef>
            </a:pPr>
            <a:r>
              <a:rPr sz="2000" spc="-5" dirty="0">
                <a:solidFill>
                  <a:srgbClr val="FFFFFF"/>
                </a:solidFill>
                <a:latin typeface="+mn-lt"/>
                <a:cs typeface="Times New Roman"/>
              </a:rPr>
              <a:t>ON </a:t>
            </a:r>
            <a:r>
              <a:rPr sz="2000" dirty="0">
                <a:solidFill>
                  <a:srgbClr val="FFFFFF"/>
                </a:solidFill>
                <a:latin typeface="+mn-lt"/>
                <a:cs typeface="Times New Roman"/>
              </a:rPr>
              <a:t>THE </a:t>
            </a:r>
            <a:r>
              <a:rPr sz="2000" spc="-5" dirty="0">
                <a:solidFill>
                  <a:srgbClr val="FFFFFF"/>
                </a:solidFill>
                <a:latin typeface="+mn-lt"/>
                <a:cs typeface="Times New Roman"/>
              </a:rPr>
              <a:t>BASIS </a:t>
            </a:r>
            <a:r>
              <a:rPr sz="2000" dirty="0">
                <a:solidFill>
                  <a:srgbClr val="FFFFFF"/>
                </a:solidFill>
                <a:latin typeface="+mn-lt"/>
                <a:cs typeface="Times New Roman"/>
              </a:rPr>
              <a:t>OF </a:t>
            </a:r>
            <a:r>
              <a:rPr sz="2000" spc="-5" dirty="0">
                <a:solidFill>
                  <a:srgbClr val="FFFFFF"/>
                </a:solidFill>
                <a:latin typeface="+mn-lt"/>
                <a:cs typeface="Times New Roman"/>
              </a:rPr>
              <a:t>ENTREPRENEURIAL</a:t>
            </a:r>
            <a:r>
              <a:rPr sz="2000" spc="-365" dirty="0">
                <a:solidFill>
                  <a:srgbClr val="FFFFFF"/>
                </a:solidFill>
                <a:latin typeface="+mn-lt"/>
                <a:cs typeface="Times New Roman"/>
              </a:rPr>
              <a:t> </a:t>
            </a:r>
            <a:r>
              <a:rPr lang="en-IN" sz="2000" spc="-365" dirty="0">
                <a:solidFill>
                  <a:srgbClr val="FFFFFF"/>
                </a:solidFill>
                <a:latin typeface="+mn-lt"/>
                <a:cs typeface="Times New Roman"/>
              </a:rPr>
              <a:t> </a:t>
            </a:r>
            <a:r>
              <a:rPr sz="2000" spc="-5" dirty="0">
                <a:solidFill>
                  <a:srgbClr val="FFFFFF"/>
                </a:solidFill>
                <a:latin typeface="+mn-lt"/>
                <a:cs typeface="Times New Roman"/>
              </a:rPr>
              <a:t>ACTIVITY</a:t>
            </a:r>
            <a:endParaRPr sz="2000" dirty="0">
              <a:latin typeface="+mn-lt"/>
              <a:cs typeface="Times New Roman"/>
            </a:endParaRPr>
          </a:p>
        </p:txBody>
      </p:sp>
      <p:sp>
        <p:nvSpPr>
          <p:cNvPr id="14" name="object 14"/>
          <p:cNvSpPr txBox="1"/>
          <p:nvPr/>
        </p:nvSpPr>
        <p:spPr>
          <a:xfrm>
            <a:off x="245604" y="1357599"/>
            <a:ext cx="8790892" cy="3337452"/>
          </a:xfrm>
          <a:prstGeom prst="rect">
            <a:avLst/>
          </a:prstGeom>
        </p:spPr>
        <p:txBody>
          <a:bodyPr vert="horz" wrap="square" lIns="0" tIns="13335" rIns="0" bIns="0" rtlCol="0">
            <a:spAutoFit/>
          </a:bodyPr>
          <a:lstStyle/>
          <a:p>
            <a:r>
              <a:rPr lang="en-US" sz="2400" b="1" dirty="0">
                <a:latin typeface="Söhne"/>
              </a:rPr>
              <a:t>Triple Bottom Line (TBL) Approach:</a:t>
            </a:r>
            <a:r>
              <a:rPr lang="en-US" sz="2400" dirty="0">
                <a:solidFill>
                  <a:srgbClr val="374151"/>
                </a:solidFill>
                <a:latin typeface="Söhne"/>
              </a:rPr>
              <a:t> Sustaining enterprises often adopt the TBL framework, which considers three bottom lines: profit, planet, and people. </a:t>
            </a:r>
          </a:p>
          <a:p>
            <a:r>
              <a:rPr lang="en-US" sz="2400" b="1" dirty="0">
                <a:latin typeface="Söhne"/>
              </a:rPr>
              <a:t>Social Responsibility:</a:t>
            </a:r>
            <a:r>
              <a:rPr lang="en-US" sz="2400" dirty="0">
                <a:solidFill>
                  <a:srgbClr val="374151"/>
                </a:solidFill>
                <a:latin typeface="Söhne"/>
              </a:rPr>
              <a:t> These enterprises are committed to social responsibility, which includes fair labor practices, ethical sourcing, community engagement, and initiatives that benefit society.</a:t>
            </a:r>
            <a:r>
              <a:rPr lang="en-US" sz="2400" b="1" dirty="0">
                <a:latin typeface="Söhne"/>
              </a:rPr>
              <a:t> </a:t>
            </a:r>
          </a:p>
          <a:p>
            <a:r>
              <a:rPr lang="en-US" sz="2400" b="1" dirty="0">
                <a:latin typeface="Söhne"/>
              </a:rPr>
              <a:t>Supply Chain Sustainability:</a:t>
            </a:r>
            <a:r>
              <a:rPr lang="en-US" sz="2400" dirty="0">
                <a:solidFill>
                  <a:srgbClr val="374151"/>
                </a:solidFill>
                <a:latin typeface="Söhne"/>
              </a:rPr>
              <a:t> Sustaining enterprises assess and improve the sustainability of their supply chains.</a:t>
            </a:r>
          </a:p>
        </p:txBody>
      </p:sp>
      <p:sp>
        <p:nvSpPr>
          <p:cNvPr id="17" name="Date Placeholder 3"/>
          <p:cNvSpPr>
            <a:spLocks noGrp="1"/>
          </p:cNvSpPr>
          <p:nvPr>
            <p:ph type="dt" sz="half" idx="10"/>
          </p:nvPr>
        </p:nvSpPr>
        <p:spPr>
          <a:xfrm>
            <a:off x="457200" y="6356352"/>
            <a:ext cx="2133600" cy="365125"/>
          </a:xfrm>
        </p:spPr>
        <p:txBody>
          <a:bodyPr/>
          <a:lstStyle/>
          <a:p>
            <a:fld id="{9A2F2E86-4CF3-4CEE-96E8-74B05258E898}" type="datetime1">
              <a:rPr lang="en-US" smtClean="0"/>
              <a:pPr/>
              <a:t>30-Aug-25</a:t>
            </a:fld>
            <a:endParaRPr lang="en-US" dirty="0"/>
          </a:p>
        </p:txBody>
      </p:sp>
      <p:sp>
        <p:nvSpPr>
          <p:cNvPr id="19" name="Slide Number Placeholder 18"/>
          <p:cNvSpPr>
            <a:spLocks noGrp="1"/>
          </p:cNvSpPr>
          <p:nvPr>
            <p:ph type="sldNum" sz="quarter" idx="12"/>
          </p:nvPr>
        </p:nvSpPr>
        <p:spPr/>
        <p:txBody>
          <a:bodyPr/>
          <a:lstStyle/>
          <a:p>
            <a:fld id="{B6F15528-21DE-4FAA-801E-634DDDAF4B2B}" type="slidenum">
              <a:rPr lang="en-US" smtClean="0"/>
              <a:pPr/>
              <a:t>59</a:t>
            </a:fld>
            <a:endParaRPr lang="en-US"/>
          </a:p>
        </p:txBody>
      </p:sp>
      <p:sp>
        <p:nvSpPr>
          <p:cNvPr id="2" name="Footer Placeholder 12">
            <a:extLst>
              <a:ext uri="{FF2B5EF4-FFF2-40B4-BE49-F238E27FC236}">
                <a16:creationId xmlns:a16="http://schemas.microsoft.com/office/drawing/2014/main" id="{E525B554-EAA0-8CD2-D8B7-2FA8717D3021}"/>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10" name="Title 1"/>
          <p:cNvSpPr txBox="1">
            <a:spLocks/>
          </p:cNvSpPr>
          <p:nvPr/>
        </p:nvSpPr>
        <p:spPr>
          <a:xfrm>
            <a:off x="1524000" y="53128"/>
            <a:ext cx="7620000" cy="89608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dirty="0"/>
              <a:t>Creating and Sustaining Enterprise Model</a:t>
            </a:r>
            <a:endParaRPr lang="en-IN" sz="3600" b="1" dirty="0">
              <a:solidFill>
                <a:schemeClr val="tx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41585808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052736"/>
            <a:ext cx="9001000" cy="5262979"/>
          </a:xfrm>
          <a:prstGeom prst="rect">
            <a:avLst/>
          </a:prstGeom>
        </p:spPr>
        <p:txBody>
          <a:bodyPr wrap="square">
            <a:spAutoFit/>
          </a:bodyPr>
          <a:lstStyle/>
          <a:p>
            <a:r>
              <a:rPr lang="en-US" sz="2400" b="1" dirty="0"/>
              <a:t>Employee Engagement:</a:t>
            </a:r>
            <a:r>
              <a:rPr lang="en-US" sz="2400" dirty="0"/>
              <a:t> Sustaining enterprises often engage their employees in sustainability efforts. They may provide training, promote eco-conscious behaviors, and involve staff in decision-making related to sustainability.</a:t>
            </a:r>
          </a:p>
          <a:p>
            <a:endParaRPr lang="en-US" sz="2400" dirty="0"/>
          </a:p>
          <a:p>
            <a:r>
              <a:rPr lang="en-IN" sz="2400" b="1" dirty="0">
                <a:ea typeface="Calibri" panose="020F0502020204030204" pitchFamily="34" charset="0"/>
              </a:rPr>
              <a:t>Economic Viability:</a:t>
            </a:r>
            <a:r>
              <a:rPr lang="en-IN" sz="2400" dirty="0">
                <a:ea typeface="Calibri" panose="020F0502020204030204" pitchFamily="34" charset="0"/>
              </a:rPr>
              <a:t> Sustainability does not come at the expense of profitability. Sustaining enterprises seek to generate a healthy financial return to ensure their long-term viability</a:t>
            </a:r>
            <a:r>
              <a:rPr lang="en-US" sz="2400" dirty="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IN" sz="2400" dirty="0"/>
          </a:p>
        </p:txBody>
      </p:sp>
      <p:sp>
        <p:nvSpPr>
          <p:cNvPr id="3" name="Date Placeholder 2"/>
          <p:cNvSpPr>
            <a:spLocks noGrp="1"/>
          </p:cNvSpPr>
          <p:nvPr>
            <p:ph type="dt" sz="half" idx="10"/>
          </p:nvPr>
        </p:nvSpPr>
        <p:spPr/>
        <p:txBody>
          <a:bodyPr/>
          <a:lstStyle/>
          <a:p>
            <a:fld id="{CBC3F86F-2E1F-40A3-A28E-3BC1BF63B359}"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60</a:t>
            </a:fld>
            <a:endParaRPr lang="en-IN" dirty="0"/>
          </a:p>
        </p:txBody>
      </p:sp>
      <p:sp>
        <p:nvSpPr>
          <p:cNvPr id="9" name="Title 1"/>
          <p:cNvSpPr txBox="1">
            <a:spLocks/>
          </p:cNvSpPr>
          <p:nvPr/>
        </p:nvSpPr>
        <p:spPr>
          <a:xfrm>
            <a:off x="1371600" y="112565"/>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t>Creating and Sustaining Enterprise Model</a:t>
            </a:r>
            <a:endParaRPr kumimoji="0" lang="en-US" sz="32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D0639D76-9E08-4CF1-1D54-C0C65E47068E}"/>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1409828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9324" y="2297908"/>
            <a:ext cx="6385354" cy="300082"/>
          </a:xfrm>
          <a:prstGeom prst="rect">
            <a:avLst/>
          </a:prstGeom>
        </p:spPr>
        <p:txBody>
          <a:bodyPr wrap="square">
            <a:spAutoFit/>
          </a:bodyPr>
          <a:lstStyle/>
          <a:p>
            <a:pPr algn="ctr"/>
            <a:endParaRPr lang="en-US" sz="1350" dirty="0"/>
          </a:p>
        </p:txBody>
      </p:sp>
      <p:sp>
        <p:nvSpPr>
          <p:cNvPr id="3" name="Date Placeholder 2"/>
          <p:cNvSpPr>
            <a:spLocks noGrp="1"/>
          </p:cNvSpPr>
          <p:nvPr>
            <p:ph type="dt" sz="half" idx="10"/>
          </p:nvPr>
        </p:nvSpPr>
        <p:spPr/>
        <p:txBody>
          <a:bodyPr/>
          <a:lstStyle/>
          <a:p>
            <a:fld id="{21FE1FE2-6BA2-4978-B1B6-76D451B0ACDC}"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61</a:t>
            </a:fld>
            <a:endParaRPr lang="en-IN"/>
          </a:p>
        </p:txBody>
      </p:sp>
      <p:sp>
        <p:nvSpPr>
          <p:cNvPr id="9" name="Title 1"/>
          <p:cNvSpPr txBox="1">
            <a:spLocks/>
          </p:cNvSpPr>
          <p:nvPr/>
        </p:nvSpPr>
        <p:spPr>
          <a:xfrm>
            <a:off x="1619671" y="148447"/>
            <a:ext cx="7303451"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600" dirty="0"/>
              <a:t>Organizational Effectiveness</a:t>
            </a:r>
          </a:p>
        </p:txBody>
      </p:sp>
      <p:sp>
        <p:nvSpPr>
          <p:cNvPr id="4" name="Rectangle 3"/>
          <p:cNvSpPr/>
          <p:nvPr/>
        </p:nvSpPr>
        <p:spPr>
          <a:xfrm>
            <a:off x="323528" y="1052736"/>
            <a:ext cx="8712968" cy="4893647"/>
          </a:xfrm>
          <a:prstGeom prst="rect">
            <a:avLst/>
          </a:prstGeom>
        </p:spPr>
        <p:txBody>
          <a:bodyPr wrap="square">
            <a:spAutoFit/>
          </a:bodyPr>
          <a:lstStyle/>
          <a:p>
            <a:r>
              <a:rPr lang="en-US" sz="2400" dirty="0">
                <a:solidFill>
                  <a:srgbClr val="374151"/>
                </a:solidFill>
                <a:latin typeface="Söhne"/>
              </a:rPr>
              <a:t>Organizational effectiveness refers to the extent to which an organization is able to achieve its goals and objectives while utilizing its resources efficiently. </a:t>
            </a:r>
          </a:p>
          <a:p>
            <a:endParaRPr lang="en-US" sz="2400" dirty="0">
              <a:solidFill>
                <a:srgbClr val="374151"/>
              </a:solidFill>
              <a:latin typeface="Söhne"/>
            </a:endParaRPr>
          </a:p>
          <a:p>
            <a:endParaRPr lang="en-US" sz="2400" dirty="0">
              <a:solidFill>
                <a:srgbClr val="374151"/>
              </a:solidFill>
              <a:latin typeface="Söhne"/>
            </a:endParaRPr>
          </a:p>
          <a:p>
            <a:endParaRPr lang="en-US" sz="2400" dirty="0">
              <a:solidFill>
                <a:srgbClr val="374151"/>
              </a:solidFill>
              <a:latin typeface="Söhne"/>
            </a:endParaRPr>
          </a:p>
          <a:p>
            <a:endParaRPr lang="en-US" sz="2400" dirty="0">
              <a:solidFill>
                <a:srgbClr val="374151"/>
              </a:solidFill>
              <a:latin typeface="Söhne"/>
            </a:endParaRPr>
          </a:p>
          <a:p>
            <a:endParaRPr lang="en-US" sz="2400" dirty="0">
              <a:solidFill>
                <a:srgbClr val="374151"/>
              </a:solidFill>
              <a:latin typeface="Söhne"/>
            </a:endParaRPr>
          </a:p>
          <a:p>
            <a:endParaRPr lang="en-US" sz="2400" dirty="0">
              <a:solidFill>
                <a:srgbClr val="374151"/>
              </a:solidFill>
              <a:latin typeface="Söhne"/>
            </a:endParaRPr>
          </a:p>
          <a:p>
            <a:endParaRPr lang="en-US" sz="2400" dirty="0">
              <a:solidFill>
                <a:srgbClr val="374151"/>
              </a:solidFill>
              <a:latin typeface="Söhne"/>
            </a:endParaRPr>
          </a:p>
          <a:p>
            <a:endParaRPr lang="en-US" sz="2400" dirty="0">
              <a:solidFill>
                <a:srgbClr val="374151"/>
              </a:solidFill>
              <a:latin typeface="Söhne"/>
            </a:endParaRPr>
          </a:p>
          <a:p>
            <a:endParaRPr lang="en-US" sz="2400" dirty="0">
              <a:solidFill>
                <a:srgbClr val="374151"/>
              </a:solidFill>
              <a:latin typeface="Söhne"/>
            </a:endParaRPr>
          </a:p>
          <a:p>
            <a:endParaRPr lang="en-IN" sz="2400" dirty="0"/>
          </a:p>
        </p:txBody>
      </p:sp>
      <p:sp>
        <p:nvSpPr>
          <p:cNvPr id="5" name="Footer Placeholder 12">
            <a:extLst>
              <a:ext uri="{FF2B5EF4-FFF2-40B4-BE49-F238E27FC236}">
                <a16:creationId xmlns:a16="http://schemas.microsoft.com/office/drawing/2014/main" id="{6204A93C-EF05-FCFB-CCA2-058871A94629}"/>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pic>
        <p:nvPicPr>
          <p:cNvPr id="8" name="Content Placeholder 10">
            <a:extLst>
              <a:ext uri="{FF2B5EF4-FFF2-40B4-BE49-F238E27FC236}">
                <a16:creationId xmlns:a16="http://schemas.microsoft.com/office/drawing/2014/main" id="{42AB8910-02BE-9EC9-4C4A-A6AEB8157C3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3568" y="2597990"/>
            <a:ext cx="7920879" cy="3528173"/>
          </a:xfrm>
        </p:spPr>
      </p:pic>
      <p:sp>
        <p:nvSpPr>
          <p:cNvPr id="10" name="Rectangle 9">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8310204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4008" y="1124744"/>
            <a:ext cx="8202487" cy="5632311"/>
          </a:xfrm>
          <a:prstGeom prst="rect">
            <a:avLst/>
          </a:prstGeom>
        </p:spPr>
        <p:txBody>
          <a:bodyPr wrap="square">
            <a:spAutoFit/>
          </a:bodyPr>
          <a:lstStyle/>
          <a:p>
            <a:pPr algn="ctr"/>
            <a:r>
              <a:rPr lang="en-IN" sz="2400" b="1" kern="0" dirty="0">
                <a:solidFill>
                  <a:srgbClr val="000000"/>
                </a:solidFill>
                <a:latin typeface="Segoe UI" panose="020B0502040204020203" pitchFamily="34" charset="0"/>
                <a:ea typeface="Times New Roman" panose="02020603050405020304" pitchFamily="18" charset="0"/>
              </a:rPr>
              <a:t>Key factors and strategies that contribute to organizational effectiveness</a:t>
            </a:r>
          </a:p>
          <a:p>
            <a:pPr algn="ctr"/>
            <a:endParaRPr lang="en-IN" sz="2400" b="1" kern="0" dirty="0">
              <a:solidFill>
                <a:srgbClr val="000000"/>
              </a:solidFill>
              <a:latin typeface="Segoe UI" panose="020B0502040204020203" pitchFamily="34" charset="0"/>
              <a:ea typeface="Times New Roman" panose="02020603050405020304" pitchFamily="18" charset="0"/>
            </a:endParaRP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Clear Mission and Goals</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Strategic Planning</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Effective Leadership</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Resource Allocation</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Talent Management</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Effective Communication</a:t>
            </a:r>
          </a:p>
          <a:p>
            <a:pPr algn="ctr"/>
            <a:endParaRPr lang="en-IN" sz="2400" b="1" kern="0" dirty="0">
              <a:solidFill>
                <a:srgbClr val="000000"/>
              </a:solidFill>
              <a:latin typeface="Segoe UI" panose="020B0502040204020203" pitchFamily="34" charset="0"/>
              <a:ea typeface="Times New Roman" panose="02020603050405020304" pitchFamily="18" charset="0"/>
            </a:endParaRPr>
          </a:p>
          <a:p>
            <a:pPr algn="ctr"/>
            <a:endParaRPr lang="en-US" sz="2400" b="1" kern="0" dirty="0">
              <a:solidFill>
                <a:srgbClr val="000000"/>
              </a:solidFill>
              <a:latin typeface="Segoe UI" panose="020B0502040204020203" pitchFamily="34" charset="0"/>
              <a:cs typeface="Times New Roman" panose="02020603050405020304" pitchFamily="18" charset="0"/>
            </a:endParaRPr>
          </a:p>
          <a:p>
            <a:pPr algn="ctr"/>
            <a:endParaRPr lang="en-US" sz="2400" b="1" kern="0" dirty="0">
              <a:solidFill>
                <a:srgbClr val="000000"/>
              </a:solidFill>
              <a:latin typeface="Segoe UI" panose="020B0502040204020203" pitchFamily="34"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F26C8002-EB94-4C36-BF04-DB5C407C781A}" type="datetime1">
              <a:rPr lang="en-US" smtClean="0"/>
              <a:pPr/>
              <a:t>30-Aug-25</a:t>
            </a:fld>
            <a:endParaRPr lang="en-IN" dirty="0"/>
          </a:p>
        </p:txBody>
      </p:sp>
      <p:sp>
        <p:nvSpPr>
          <p:cNvPr id="6" name="Slide Number Placeholder 5"/>
          <p:cNvSpPr>
            <a:spLocks noGrp="1"/>
          </p:cNvSpPr>
          <p:nvPr>
            <p:ph type="sldNum" sz="quarter" idx="12"/>
          </p:nvPr>
        </p:nvSpPr>
        <p:spPr/>
        <p:txBody>
          <a:bodyPr/>
          <a:lstStyle/>
          <a:p>
            <a:fld id="{AE192DBD-906B-4248-9331-16A7E5426B5B}" type="slidenum">
              <a:rPr lang="en-IN" smtClean="0"/>
              <a:pPr/>
              <a:t>62</a:t>
            </a:fld>
            <a:endParaRPr lang="en-IN"/>
          </a:p>
        </p:txBody>
      </p:sp>
      <p:sp>
        <p:nvSpPr>
          <p:cNvPr id="9" name="Title 1"/>
          <p:cNvSpPr txBox="1">
            <a:spLocks/>
          </p:cNvSpPr>
          <p:nvPr/>
        </p:nvSpPr>
        <p:spPr>
          <a:xfrm>
            <a:off x="1835696" y="91610"/>
            <a:ext cx="693988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6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BE3650ED-B64A-CE25-3812-F15265B576A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6369876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426" y="1675601"/>
            <a:ext cx="8615149" cy="4278094"/>
          </a:xfrm>
          <a:prstGeom prst="rect">
            <a:avLst/>
          </a:prstGeom>
        </p:spPr>
        <p:txBody>
          <a:bodyPr wrap="square">
            <a:spAutoFit/>
          </a:bodyPr>
          <a:lstStyle/>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Adaptability and Innovation</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Ethical and Legal Compliance</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Technology Adoption</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Feedback and Continuous Improvement</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Sustainability</a:t>
            </a:r>
          </a:p>
          <a:p>
            <a:pPr>
              <a:lnSpc>
                <a:spcPct val="150000"/>
              </a:lnSpc>
            </a:pPr>
            <a:r>
              <a:rPr lang="en-IN" sz="2400" b="1" kern="0" dirty="0">
                <a:solidFill>
                  <a:srgbClr val="000000"/>
                </a:solidFill>
                <a:latin typeface="Segoe UI" panose="020B0502040204020203" pitchFamily="34" charset="0"/>
                <a:ea typeface="Times New Roman" panose="02020603050405020304" pitchFamily="18" charset="0"/>
              </a:rPr>
              <a:t>Collaboration and Teamwork</a:t>
            </a:r>
            <a:endParaRPr lang="en-IN" sz="2400" dirty="0"/>
          </a:p>
          <a:p>
            <a:r>
              <a:rPr lang="en-US" sz="2000" dirty="0"/>
              <a:t>	</a:t>
            </a:r>
            <a:r>
              <a:rPr lang="en-US" sz="2800" dirty="0"/>
              <a:t>		</a:t>
            </a:r>
          </a:p>
          <a:p>
            <a:endParaRPr lang="en-US" sz="2800" dirty="0"/>
          </a:p>
        </p:txBody>
      </p:sp>
      <p:sp>
        <p:nvSpPr>
          <p:cNvPr id="3" name="Date Placeholder 2"/>
          <p:cNvSpPr>
            <a:spLocks noGrp="1"/>
          </p:cNvSpPr>
          <p:nvPr>
            <p:ph type="dt" sz="half" idx="10"/>
          </p:nvPr>
        </p:nvSpPr>
        <p:spPr/>
        <p:txBody>
          <a:bodyPr/>
          <a:lstStyle/>
          <a:p>
            <a:fld id="{D3E857A3-296D-4E8B-9017-2D4B856759BC}"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63</a:t>
            </a:fld>
            <a:endParaRPr lang="en-IN"/>
          </a:p>
        </p:txBody>
      </p:sp>
      <p:sp>
        <p:nvSpPr>
          <p:cNvPr id="12" name="Title 1"/>
          <p:cNvSpPr txBox="1">
            <a:spLocks/>
          </p:cNvSpPr>
          <p:nvPr/>
        </p:nvSpPr>
        <p:spPr>
          <a:xfrm>
            <a:off x="1447801" y="65683"/>
            <a:ext cx="719796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endParaRPr lang="en-US" sz="36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64CD1F66-F0CF-E44C-1196-ED0C3EA69869}"/>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6308373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lvl="0" algn="just">
              <a:lnSpc>
                <a:spcPct val="107000"/>
              </a:lnSpc>
              <a:spcAft>
                <a:spcPts val="800"/>
              </a:spcAft>
              <a:tabLst>
                <a:tab pos="457200" algn="l"/>
              </a:tabLst>
            </a:pPr>
            <a:r>
              <a:rPr lang="en-IN" sz="2400" b="1" kern="0" dirty="0" err="1">
                <a:solidFill>
                  <a:srgbClr val="000000"/>
                </a:solidFill>
                <a:ea typeface="Times New Roman" panose="02020603050405020304" pitchFamily="18" charset="0"/>
                <a:cs typeface="Times New Roman" panose="02020603050405020304" pitchFamily="18" charset="0"/>
              </a:rPr>
              <a:t>Startup</a:t>
            </a:r>
            <a:r>
              <a:rPr lang="en-IN" sz="2400" b="1" kern="0" dirty="0">
                <a:solidFill>
                  <a:srgbClr val="000000"/>
                </a:solidFill>
                <a:ea typeface="Times New Roman" panose="02020603050405020304" pitchFamily="18" charset="0"/>
                <a:cs typeface="Times New Roman" panose="02020603050405020304" pitchFamily="18" charset="0"/>
              </a:rPr>
              <a:t> India:</a:t>
            </a:r>
            <a:r>
              <a:rPr lang="en-IN" sz="2400" kern="0" dirty="0">
                <a:solidFill>
                  <a:srgbClr val="000000"/>
                </a:solidFill>
                <a:ea typeface="Times New Roman" panose="02020603050405020304" pitchFamily="18" charset="0"/>
                <a:cs typeface="Times New Roman" panose="02020603050405020304" pitchFamily="18" charset="0"/>
              </a:rPr>
              <a:t> The </a:t>
            </a:r>
            <a:r>
              <a:rPr lang="en-IN" sz="2400" kern="0" dirty="0" err="1">
                <a:solidFill>
                  <a:srgbClr val="000000"/>
                </a:solidFill>
                <a:ea typeface="Times New Roman" panose="02020603050405020304" pitchFamily="18" charset="0"/>
                <a:cs typeface="Times New Roman" panose="02020603050405020304" pitchFamily="18" charset="0"/>
              </a:rPr>
              <a:t>Startup</a:t>
            </a:r>
            <a:r>
              <a:rPr lang="en-IN" sz="2400" kern="0" dirty="0">
                <a:solidFill>
                  <a:srgbClr val="000000"/>
                </a:solidFill>
                <a:ea typeface="Times New Roman" panose="02020603050405020304" pitchFamily="18" charset="0"/>
                <a:cs typeface="Times New Roman" panose="02020603050405020304" pitchFamily="18" charset="0"/>
              </a:rPr>
              <a:t> India initiative, launched in 2016, aims to foster a culture of innovation and entrepreneurship. It provides various benefits to </a:t>
            </a:r>
            <a:r>
              <a:rPr lang="en-IN" sz="2400" kern="0" dirty="0" err="1">
                <a:solidFill>
                  <a:srgbClr val="000000"/>
                </a:solidFill>
                <a:ea typeface="Times New Roman" panose="02020603050405020304" pitchFamily="18" charset="0"/>
                <a:cs typeface="Times New Roman" panose="02020603050405020304" pitchFamily="18" charset="0"/>
              </a:rPr>
              <a:t>startups</a:t>
            </a:r>
            <a:r>
              <a:rPr lang="en-IN" sz="2400" kern="0" dirty="0">
                <a:solidFill>
                  <a:srgbClr val="000000"/>
                </a:solidFill>
                <a:ea typeface="Times New Roman" panose="02020603050405020304" pitchFamily="18" charset="0"/>
                <a:cs typeface="Times New Roman" panose="02020603050405020304" pitchFamily="18" charset="0"/>
              </a:rPr>
              <a:t>, including tax exemptions, easier compliance, and access to funding. The initiative also includes programs like </a:t>
            </a:r>
            <a:r>
              <a:rPr lang="en-IN" sz="2400" kern="0" dirty="0" err="1">
                <a:solidFill>
                  <a:srgbClr val="000000"/>
                </a:solidFill>
                <a:ea typeface="Times New Roman" panose="02020603050405020304" pitchFamily="18" charset="0"/>
                <a:cs typeface="Times New Roman" panose="02020603050405020304" pitchFamily="18" charset="0"/>
              </a:rPr>
              <a:t>Startup</a:t>
            </a:r>
            <a:r>
              <a:rPr lang="en-IN" sz="2400" kern="0" dirty="0">
                <a:solidFill>
                  <a:srgbClr val="000000"/>
                </a:solidFill>
                <a:ea typeface="Times New Roman" panose="02020603050405020304" pitchFamily="18" charset="0"/>
                <a:cs typeface="Times New Roman" panose="02020603050405020304" pitchFamily="18" charset="0"/>
              </a:rPr>
              <a:t> India Seed Fund Scheme and Pradhan </a:t>
            </a:r>
            <a:r>
              <a:rPr lang="en-IN" sz="2400" kern="0" dirty="0" err="1">
                <a:solidFill>
                  <a:srgbClr val="000000"/>
                </a:solidFill>
                <a:ea typeface="Times New Roman" panose="02020603050405020304" pitchFamily="18" charset="0"/>
                <a:cs typeface="Times New Roman" panose="02020603050405020304" pitchFamily="18" charset="0"/>
              </a:rPr>
              <a:t>Mantri</a:t>
            </a:r>
            <a:r>
              <a:rPr lang="en-IN" sz="2400" kern="0" dirty="0">
                <a:solidFill>
                  <a:srgbClr val="000000"/>
                </a:solidFill>
                <a:ea typeface="Times New Roman" panose="02020603050405020304" pitchFamily="18" charset="0"/>
                <a:cs typeface="Times New Roman" panose="02020603050405020304" pitchFamily="18" charset="0"/>
              </a:rPr>
              <a:t> Mudra </a:t>
            </a:r>
            <a:r>
              <a:rPr lang="en-IN" sz="2400" kern="0" dirty="0" err="1">
                <a:solidFill>
                  <a:srgbClr val="000000"/>
                </a:solidFill>
                <a:ea typeface="Times New Roman" panose="02020603050405020304" pitchFamily="18" charset="0"/>
                <a:cs typeface="Times New Roman" panose="02020603050405020304" pitchFamily="18" charset="0"/>
              </a:rPr>
              <a:t>Yojana</a:t>
            </a:r>
            <a:r>
              <a:rPr lang="en-IN" sz="2400" kern="0" dirty="0">
                <a:solidFill>
                  <a:srgbClr val="000000"/>
                </a:solidFill>
                <a:ea typeface="Times New Roman" panose="02020603050405020304" pitchFamily="18" charset="0"/>
                <a:cs typeface="Times New Roman" panose="02020603050405020304" pitchFamily="18" charset="0"/>
              </a:rPr>
              <a:t>.</a:t>
            </a:r>
            <a:endParaRPr lang="en-IN" sz="2400" kern="100" dirty="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n-IN" sz="2400" b="1" kern="0" dirty="0" err="1">
                <a:solidFill>
                  <a:srgbClr val="000000"/>
                </a:solidFill>
                <a:ea typeface="Times New Roman" panose="02020603050405020304" pitchFamily="18" charset="0"/>
                <a:cs typeface="Times New Roman" panose="02020603050405020304" pitchFamily="18" charset="0"/>
              </a:rPr>
              <a:t>Standup</a:t>
            </a:r>
            <a:r>
              <a:rPr lang="en-IN" sz="2400" b="1" kern="0" dirty="0">
                <a:solidFill>
                  <a:srgbClr val="000000"/>
                </a:solidFill>
                <a:ea typeface="Times New Roman" panose="02020603050405020304" pitchFamily="18" charset="0"/>
                <a:cs typeface="Times New Roman" panose="02020603050405020304" pitchFamily="18" charset="0"/>
              </a:rPr>
              <a:t> India:</a:t>
            </a:r>
            <a:r>
              <a:rPr lang="en-IN" sz="2400" kern="0" dirty="0">
                <a:solidFill>
                  <a:srgbClr val="000000"/>
                </a:solidFill>
                <a:ea typeface="Times New Roman" panose="02020603050405020304" pitchFamily="18" charset="0"/>
                <a:cs typeface="Times New Roman" panose="02020603050405020304" pitchFamily="18" charset="0"/>
              </a:rPr>
              <a:t> This initiative, launched in 2016, encourages entrepreneurship among women and individuals from marginalized communities by providing bank loans between ₹10 lakhs and ₹1 </a:t>
            </a:r>
            <a:r>
              <a:rPr lang="en-IN" sz="2400" kern="0" dirty="0" err="1">
                <a:solidFill>
                  <a:srgbClr val="000000"/>
                </a:solidFill>
                <a:ea typeface="Times New Roman" panose="02020603050405020304" pitchFamily="18" charset="0"/>
                <a:cs typeface="Times New Roman" panose="02020603050405020304" pitchFamily="18" charset="0"/>
              </a:rPr>
              <a:t>crore</a:t>
            </a:r>
            <a:r>
              <a:rPr lang="en-IN" sz="2400" kern="0" dirty="0">
                <a:solidFill>
                  <a:srgbClr val="000000"/>
                </a:solidFill>
                <a:ea typeface="Times New Roman" panose="02020603050405020304" pitchFamily="18" charset="0"/>
                <a:cs typeface="Times New Roman" panose="02020603050405020304" pitchFamily="18" charset="0"/>
              </a:rPr>
              <a:t> for starting new enterprises.</a:t>
            </a:r>
            <a:endParaRPr lang="en-IN" sz="2400" kern="100" dirty="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n-IN" sz="2400" b="1" kern="0" dirty="0" err="1">
                <a:solidFill>
                  <a:srgbClr val="000000"/>
                </a:solidFill>
                <a:ea typeface="Times New Roman" panose="02020603050405020304" pitchFamily="18" charset="0"/>
                <a:cs typeface="Times New Roman" panose="02020603050405020304" pitchFamily="18" charset="0"/>
              </a:rPr>
              <a:t>Atal</a:t>
            </a:r>
            <a:r>
              <a:rPr lang="en-IN" sz="2400" b="1" kern="0" dirty="0">
                <a:solidFill>
                  <a:srgbClr val="000000"/>
                </a:solidFill>
                <a:ea typeface="Times New Roman" panose="02020603050405020304" pitchFamily="18" charset="0"/>
                <a:cs typeface="Times New Roman" panose="02020603050405020304" pitchFamily="18" charset="0"/>
              </a:rPr>
              <a:t> Innovation Mission (AIM):</a:t>
            </a:r>
            <a:r>
              <a:rPr lang="en-IN" sz="2400" kern="0" dirty="0">
                <a:solidFill>
                  <a:srgbClr val="000000"/>
                </a:solidFill>
                <a:ea typeface="Times New Roman" panose="02020603050405020304" pitchFamily="18" charset="0"/>
                <a:cs typeface="Times New Roman" panose="02020603050405020304" pitchFamily="18" charset="0"/>
              </a:rPr>
              <a:t> AIM, launched in 2016, focuses on promoting innovation and entrepreneurship among students and young entrepreneurs. It includes initiatives such as </a:t>
            </a:r>
            <a:r>
              <a:rPr lang="en-IN" sz="2400" kern="0" dirty="0" err="1">
                <a:solidFill>
                  <a:srgbClr val="000000"/>
                </a:solidFill>
                <a:ea typeface="Times New Roman" panose="02020603050405020304" pitchFamily="18" charset="0"/>
                <a:cs typeface="Times New Roman" panose="02020603050405020304" pitchFamily="18" charset="0"/>
              </a:rPr>
              <a:t>Atal</a:t>
            </a:r>
            <a:r>
              <a:rPr lang="en-IN" sz="2400" kern="0" dirty="0">
                <a:solidFill>
                  <a:srgbClr val="000000"/>
                </a:solidFill>
                <a:ea typeface="Times New Roman" panose="02020603050405020304" pitchFamily="18" charset="0"/>
                <a:cs typeface="Times New Roman" panose="02020603050405020304" pitchFamily="18" charset="0"/>
              </a:rPr>
              <a:t> Tinkering Labs in schools, </a:t>
            </a:r>
            <a:r>
              <a:rPr lang="en-IN" sz="2400" kern="0" dirty="0" err="1">
                <a:solidFill>
                  <a:srgbClr val="000000"/>
                </a:solidFill>
                <a:ea typeface="Times New Roman" panose="02020603050405020304" pitchFamily="18" charset="0"/>
                <a:cs typeface="Times New Roman" panose="02020603050405020304" pitchFamily="18" charset="0"/>
              </a:rPr>
              <a:t>Atal</a:t>
            </a:r>
            <a:r>
              <a:rPr lang="en-IN" sz="2400" kern="0" dirty="0">
                <a:solidFill>
                  <a:srgbClr val="000000"/>
                </a:solidFill>
                <a:ea typeface="Times New Roman" panose="02020603050405020304" pitchFamily="18" charset="0"/>
                <a:cs typeface="Times New Roman" panose="02020603050405020304" pitchFamily="18" charset="0"/>
              </a:rPr>
              <a:t> Incubation Centres, and </a:t>
            </a:r>
            <a:r>
              <a:rPr lang="en-IN" sz="2400" kern="0" dirty="0" err="1">
                <a:solidFill>
                  <a:srgbClr val="000000"/>
                </a:solidFill>
                <a:ea typeface="Times New Roman" panose="02020603050405020304" pitchFamily="18" charset="0"/>
                <a:cs typeface="Times New Roman" panose="02020603050405020304" pitchFamily="18" charset="0"/>
              </a:rPr>
              <a:t>Atal</a:t>
            </a:r>
            <a:r>
              <a:rPr lang="en-IN" sz="2400" kern="0" dirty="0">
                <a:solidFill>
                  <a:srgbClr val="000000"/>
                </a:solidFill>
                <a:ea typeface="Times New Roman" panose="02020603050405020304" pitchFamily="18" charset="0"/>
                <a:cs typeface="Times New Roman" panose="02020603050405020304" pitchFamily="18" charset="0"/>
              </a:rPr>
              <a:t> New India Challenges.</a:t>
            </a:r>
            <a:endParaRPr lang="en-IN" sz="2400" kern="100" dirty="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619672" y="44624"/>
            <a:ext cx="7458146" cy="132539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200" b="1" dirty="0">
                <a:latin typeface="Times New Roman" panose="02020603050405020304" pitchFamily="18" charset="0"/>
                <a:ea typeface="Calibri" panose="020F0502020204030204" pitchFamily="34" charset="0"/>
              </a:rPr>
              <a:t>New initiatives taken by the Government to promote entrepreneurship in India at a larger scale</a:t>
            </a:r>
            <a:endParaRPr lang="en-US"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0C9DE29B-B955-2FE5-C558-C11DBBD12F40}"/>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70000" lnSpcReduction="20000"/>
          </a:bodyPr>
          <a:lstStyle/>
          <a:p>
            <a:pPr lvl="0" algn="just">
              <a:lnSpc>
                <a:spcPct val="107000"/>
              </a:lnSpc>
              <a:spcAft>
                <a:spcPts val="800"/>
              </a:spcAft>
              <a:tabLst>
                <a:tab pos="457200" algn="l"/>
              </a:tabLst>
            </a:pPr>
            <a:r>
              <a:rPr lang="en-IN" b="1" kern="0" dirty="0">
                <a:solidFill>
                  <a:srgbClr val="000000"/>
                </a:solidFill>
                <a:ea typeface="Times New Roman" panose="02020603050405020304" pitchFamily="18" charset="0"/>
                <a:cs typeface="Times New Roman" panose="02020603050405020304" pitchFamily="18" charset="0"/>
              </a:rPr>
              <a:t>Make in India:</a:t>
            </a:r>
            <a:r>
              <a:rPr lang="en-IN" kern="0" dirty="0">
                <a:solidFill>
                  <a:srgbClr val="000000"/>
                </a:solidFill>
                <a:ea typeface="Times New Roman" panose="02020603050405020304" pitchFamily="18" charset="0"/>
                <a:cs typeface="Times New Roman" panose="02020603050405020304" pitchFamily="18" charset="0"/>
              </a:rPr>
              <a:t> The Make in India campaign encourages entrepreneurship in the manufacturing sector by simplifying regulations, improving infrastructure, and attracting foreign investment. It aims to make India a global manufacturing hub.</a:t>
            </a:r>
            <a:endParaRPr lang="en-IN" kern="100" dirty="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n-IN" b="1" kern="0" dirty="0">
                <a:solidFill>
                  <a:srgbClr val="000000"/>
                </a:solidFill>
                <a:ea typeface="Times New Roman" panose="02020603050405020304" pitchFamily="18" charset="0"/>
                <a:cs typeface="Times New Roman" panose="02020603050405020304" pitchFamily="18" charset="0"/>
              </a:rPr>
              <a:t>Digital India:</a:t>
            </a:r>
            <a:r>
              <a:rPr lang="en-IN" kern="0" dirty="0">
                <a:solidFill>
                  <a:srgbClr val="000000"/>
                </a:solidFill>
                <a:ea typeface="Times New Roman" panose="02020603050405020304" pitchFamily="18" charset="0"/>
                <a:cs typeface="Times New Roman" panose="02020603050405020304" pitchFamily="18" charset="0"/>
              </a:rPr>
              <a:t> The Digital India program promotes entrepreneurship in the technology and digital sectors by expanding internet connectivity, fostering innovation, and supporting the growth of digital start ups.</a:t>
            </a:r>
            <a:endParaRPr lang="en-IN" kern="100" dirty="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n-IN" b="1" kern="0" dirty="0">
                <a:solidFill>
                  <a:srgbClr val="000000"/>
                </a:solidFill>
                <a:ea typeface="Times New Roman" panose="02020603050405020304" pitchFamily="18" charset="0"/>
                <a:cs typeface="Times New Roman" panose="02020603050405020304" pitchFamily="18" charset="0"/>
              </a:rPr>
              <a:t>Fund of Funds for Start ups (FFS):</a:t>
            </a:r>
            <a:r>
              <a:rPr lang="en-IN" kern="0" dirty="0">
                <a:solidFill>
                  <a:srgbClr val="000000"/>
                </a:solidFill>
                <a:ea typeface="Times New Roman" panose="02020603050405020304" pitchFamily="18" charset="0"/>
                <a:cs typeface="Times New Roman" panose="02020603050405020304" pitchFamily="18" charset="0"/>
              </a:rPr>
              <a:t> This initiative, part of the Start up India program, provides financial support to start ups by investing in SEBI-registered venture capital funds. The goal is to encourage more funding for early-stage start ups.</a:t>
            </a:r>
            <a:endParaRPr lang="en-IN" kern="100" dirty="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2" name="Footer Placeholder 12">
            <a:extLst>
              <a:ext uri="{FF2B5EF4-FFF2-40B4-BE49-F238E27FC236}">
                <a16:creationId xmlns:a16="http://schemas.microsoft.com/office/drawing/2014/main" id="{C0357ED1-E8AE-D368-268E-FA943A4823D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0323" y="921661"/>
            <a:ext cx="8535322" cy="5354658"/>
          </a:xfrm>
        </p:spPr>
        <p:txBody>
          <a:bodyPr>
            <a:noAutofit/>
          </a:bodyPr>
          <a:lstStyle/>
          <a:p>
            <a:pPr lvl="0" algn="just">
              <a:lnSpc>
                <a:spcPct val="107000"/>
              </a:lnSpc>
              <a:spcAft>
                <a:spcPts val="800"/>
              </a:spcAft>
              <a:tabLst>
                <a:tab pos="457200" algn="l"/>
              </a:tabLst>
            </a:pPr>
            <a:r>
              <a:rPr lang="en-IN" sz="2200" b="1" kern="0" dirty="0">
                <a:solidFill>
                  <a:srgbClr val="000000"/>
                </a:solidFill>
                <a:ea typeface="Times New Roman" panose="02020603050405020304" pitchFamily="18" charset="0"/>
                <a:cs typeface="Times New Roman" panose="02020603050405020304" pitchFamily="18" charset="0"/>
              </a:rPr>
              <a:t>Innovation and Research Parks:</a:t>
            </a:r>
            <a:r>
              <a:rPr lang="en-IN" sz="2200" kern="0" dirty="0">
                <a:solidFill>
                  <a:srgbClr val="000000"/>
                </a:solidFill>
                <a:ea typeface="Times New Roman" panose="02020603050405020304" pitchFamily="18" charset="0"/>
                <a:cs typeface="Times New Roman" panose="02020603050405020304" pitchFamily="18" charset="0"/>
              </a:rPr>
              <a:t> The government has set up innovation and research parks and incubation </a:t>
            </a:r>
            <a:r>
              <a:rPr lang="en-IN" sz="2200" kern="0" dirty="0" err="1">
                <a:solidFill>
                  <a:srgbClr val="000000"/>
                </a:solidFill>
                <a:ea typeface="Times New Roman" panose="02020603050405020304" pitchFamily="18" charset="0"/>
                <a:cs typeface="Times New Roman" panose="02020603050405020304" pitchFamily="18" charset="0"/>
              </a:rPr>
              <a:t>centers</a:t>
            </a:r>
            <a:r>
              <a:rPr lang="en-IN" sz="2200" kern="0" dirty="0">
                <a:solidFill>
                  <a:srgbClr val="000000"/>
                </a:solidFill>
                <a:ea typeface="Times New Roman" panose="02020603050405020304" pitchFamily="18" charset="0"/>
                <a:cs typeface="Times New Roman" panose="02020603050405020304" pitchFamily="18" charset="0"/>
              </a:rPr>
              <a:t> across the country to provide </a:t>
            </a:r>
            <a:r>
              <a:rPr lang="en-IN" sz="2200" kern="0" dirty="0" err="1">
                <a:solidFill>
                  <a:srgbClr val="000000"/>
                </a:solidFill>
                <a:ea typeface="Times New Roman" panose="02020603050405020304" pitchFamily="18" charset="0"/>
                <a:cs typeface="Times New Roman" panose="02020603050405020304" pitchFamily="18" charset="0"/>
              </a:rPr>
              <a:t>startups</a:t>
            </a:r>
            <a:r>
              <a:rPr lang="en-IN" sz="2200" kern="0" dirty="0">
                <a:solidFill>
                  <a:srgbClr val="000000"/>
                </a:solidFill>
                <a:ea typeface="Times New Roman" panose="02020603050405020304" pitchFamily="18" charset="0"/>
                <a:cs typeface="Times New Roman" panose="02020603050405020304" pitchFamily="18" charset="0"/>
              </a:rPr>
              <a:t> with infrastructure, mentorship, and access to resources.</a:t>
            </a:r>
          </a:p>
          <a:p>
            <a:pPr marL="0" lvl="0" indent="0" algn="just">
              <a:lnSpc>
                <a:spcPct val="107000"/>
              </a:lnSpc>
              <a:spcAft>
                <a:spcPts val="800"/>
              </a:spcAft>
              <a:buNone/>
              <a:tabLst>
                <a:tab pos="457200" algn="l"/>
              </a:tabLst>
            </a:pPr>
            <a:endParaRPr lang="en-IN" sz="2200" kern="100" dirty="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n-IN" sz="2200" b="1" kern="0" dirty="0">
                <a:solidFill>
                  <a:srgbClr val="000000"/>
                </a:solidFill>
                <a:ea typeface="Times New Roman" panose="02020603050405020304" pitchFamily="18" charset="0"/>
                <a:cs typeface="Times New Roman" panose="02020603050405020304" pitchFamily="18" charset="0"/>
              </a:rPr>
              <a:t>Ease of Doing Business:</a:t>
            </a:r>
            <a:r>
              <a:rPr lang="en-IN" sz="2200" kern="0" dirty="0">
                <a:solidFill>
                  <a:srgbClr val="000000"/>
                </a:solidFill>
                <a:ea typeface="Times New Roman" panose="02020603050405020304" pitchFamily="18" charset="0"/>
                <a:cs typeface="Times New Roman" panose="02020603050405020304" pitchFamily="18" charset="0"/>
              </a:rPr>
              <a:t> Ongoing efforts to improve the ease of doing business in India, including simplifying regulations and reducing bureaucratic hurdles, benefit entrepreneurs and start ups.</a:t>
            </a:r>
          </a:p>
          <a:p>
            <a:pPr lvl="0" algn="just">
              <a:lnSpc>
                <a:spcPct val="107000"/>
              </a:lnSpc>
              <a:spcAft>
                <a:spcPts val="800"/>
              </a:spcAft>
              <a:tabLst>
                <a:tab pos="457200" algn="l"/>
              </a:tabLst>
            </a:pPr>
            <a:endParaRPr lang="en-IN" sz="2200" kern="100" dirty="0">
              <a:ea typeface="Calibri" panose="020F0502020204030204" pitchFamily="34" charset="0"/>
              <a:cs typeface="Times New Roman" panose="02020603050405020304" pitchFamily="18" charset="0"/>
            </a:endParaRPr>
          </a:p>
          <a:p>
            <a:pPr lvl="0" algn="just">
              <a:lnSpc>
                <a:spcPct val="107000"/>
              </a:lnSpc>
              <a:spcAft>
                <a:spcPts val="800"/>
              </a:spcAft>
              <a:tabLst>
                <a:tab pos="457200" algn="l"/>
              </a:tabLst>
            </a:pPr>
            <a:r>
              <a:rPr lang="en-IN" sz="2200" b="1" kern="0" dirty="0">
                <a:solidFill>
                  <a:srgbClr val="000000"/>
                </a:solidFill>
                <a:ea typeface="Times New Roman" panose="02020603050405020304" pitchFamily="18" charset="0"/>
                <a:cs typeface="Times New Roman" panose="02020603050405020304" pitchFamily="18" charset="0"/>
              </a:rPr>
              <a:t>Tax Benefits:</a:t>
            </a:r>
            <a:r>
              <a:rPr lang="en-IN" sz="2200" kern="0" dirty="0">
                <a:solidFill>
                  <a:srgbClr val="000000"/>
                </a:solidFill>
                <a:ea typeface="Times New Roman" panose="02020603050405020304" pitchFamily="18" charset="0"/>
                <a:cs typeface="Times New Roman" panose="02020603050405020304" pitchFamily="18" charset="0"/>
              </a:rPr>
              <a:t> The government offers various tax incentives and exemptions for start ups to promote investment and growth.</a:t>
            </a:r>
            <a:endParaRPr lang="en-IN" sz="2200" kern="100" dirty="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946031" y="0"/>
            <a:ext cx="719796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endParaRPr lang="en-US" sz="3600" b="1" dirty="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164BFFB5-A8FE-7885-D0F4-D6860CEB80E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84"/>
            <a:ext cx="8229600" cy="4983181"/>
          </a:xfrm>
        </p:spPr>
        <p:txBody>
          <a:bodyPr>
            <a:normAutofit fontScale="92500" lnSpcReduction="10000"/>
          </a:bodyPr>
          <a:lstStyle/>
          <a:p>
            <a:pPr lvl="0">
              <a:lnSpc>
                <a:spcPct val="107000"/>
              </a:lnSpc>
              <a:spcAft>
                <a:spcPts val="800"/>
              </a:spcAft>
              <a:tabLst>
                <a:tab pos="457200" algn="l"/>
              </a:tabLst>
            </a:pPr>
            <a:r>
              <a:rPr lang="en-IN" sz="2400" b="1"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International Collaboration:</a:t>
            </a:r>
            <a:r>
              <a:rPr lang="en-IN" sz="2400"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 The government has been actively engaging in international collaborations and partnerships to foster entrepreneurship and innovation. Initiatives like the India-UK Tech Partnership and India-Israel Innovation Bridge promote cross-border collaboration.</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400" b="1"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Skill Development:</a:t>
            </a:r>
            <a:r>
              <a:rPr lang="en-IN" sz="2400"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 Initiatives like the National Skill Development Mission aim to enhance the skill set of the Indian workforce, making them more employable and entrepreneurial.</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400" b="1"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Government Procurement:</a:t>
            </a:r>
            <a:r>
              <a:rPr lang="en-IN" sz="2400"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 The government has simplified procurement processes for </a:t>
            </a:r>
            <a:r>
              <a:rPr lang="en-IN" sz="2400" kern="0" dirty="0" err="1">
                <a:solidFill>
                  <a:srgbClr val="000000"/>
                </a:solidFill>
                <a:latin typeface="Segoe UI" panose="020B0502040204020203" pitchFamily="34" charset="0"/>
                <a:ea typeface="Times New Roman" panose="02020603050405020304" pitchFamily="18" charset="0"/>
                <a:cs typeface="Times New Roman" panose="02020603050405020304" pitchFamily="18" charset="0"/>
              </a:rPr>
              <a:t>startups</a:t>
            </a:r>
            <a:r>
              <a:rPr lang="en-IN" sz="2400" kern="0"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 allowing them to participate in government tenders more easily.</a:t>
            </a:r>
          </a:p>
          <a:p>
            <a:pPr lvl="0">
              <a:lnSpc>
                <a:spcPct val="107000"/>
              </a:lnSpc>
              <a:spcAft>
                <a:spcPts val="800"/>
              </a:spcAft>
              <a:tabLst>
                <a:tab pos="457200" algn="l"/>
              </a:tabLst>
            </a:pPr>
            <a:r>
              <a:rPr lang="en-IN" sz="2400" kern="100" dirty="0" err="1">
                <a:latin typeface="Calibri" panose="020F0502020204030204" pitchFamily="34" charset="0"/>
                <a:ea typeface="Calibri" panose="020F0502020204030204" pitchFamily="34" charset="0"/>
                <a:cs typeface="Times New Roman" panose="02020603050405020304" pitchFamily="18" charset="0"/>
              </a:rPr>
              <a:t>Vishwakarma</a:t>
            </a:r>
            <a:r>
              <a:rPr lang="en-IN" sz="2400" kern="100" dirty="0">
                <a:latin typeface="Calibri" panose="020F0502020204030204" pitchFamily="34" charset="0"/>
                <a:ea typeface="Calibri" panose="020F0502020204030204" pitchFamily="34" charset="0"/>
                <a:cs typeface="Times New Roman" panose="02020603050405020304" pitchFamily="18" charset="0"/>
              </a:rPr>
              <a:t> Scheme for traditional workers – </a:t>
            </a:r>
            <a:r>
              <a:rPr lang="en-IN" sz="2400" kern="100" dirty="0" err="1">
                <a:latin typeface="Calibri" panose="020F0502020204030204" pitchFamily="34" charset="0"/>
                <a:ea typeface="Calibri" panose="020F0502020204030204" pitchFamily="34" charset="0"/>
                <a:cs typeface="Times New Roman" panose="02020603050405020304" pitchFamily="18" charset="0"/>
              </a:rPr>
              <a:t>Rs</a:t>
            </a:r>
            <a:r>
              <a:rPr lang="en-IN" sz="2400" kern="100" dirty="0">
                <a:latin typeface="Calibri" panose="020F0502020204030204" pitchFamily="34" charset="0"/>
                <a:ea typeface="Calibri" panose="020F0502020204030204" pitchFamily="34" charset="0"/>
                <a:cs typeface="Times New Roman" panose="02020603050405020304" pitchFamily="18" charset="0"/>
              </a:rPr>
              <a:t>. 13000 </a:t>
            </a:r>
            <a:r>
              <a:rPr lang="en-IN" sz="2400" kern="100" dirty="0" err="1">
                <a:latin typeface="Calibri" panose="020F0502020204030204" pitchFamily="34" charset="0"/>
                <a:ea typeface="Calibri" panose="020F0502020204030204" pitchFamily="34" charset="0"/>
                <a:cs typeface="Times New Roman" panose="02020603050405020304" pitchFamily="18" charset="0"/>
              </a:rPr>
              <a:t>cr</a:t>
            </a:r>
            <a:endParaRPr lang="en-IN" sz="24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763688" y="86369"/>
            <a:ext cx="7197969"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endParaRPr lang="en-US" sz="3600" b="1" dirty="0">
              <a:latin typeface="Times New Roman" panose="02020603050405020304" pitchFamily="18" charset="0"/>
              <a:cs typeface="Times New Roman" panose="02020603050405020304" pitchFamily="18" charset="0"/>
            </a:endParaRPr>
          </a:p>
        </p:txBody>
      </p:sp>
      <p:sp>
        <p:nvSpPr>
          <p:cNvPr id="2" name="Footer Placeholder 12">
            <a:extLst>
              <a:ext uri="{FF2B5EF4-FFF2-40B4-BE49-F238E27FC236}">
                <a16:creationId xmlns:a16="http://schemas.microsoft.com/office/drawing/2014/main" id="{6F9A2AB7-BB4F-893F-0BFE-7CEA0CEAD89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504" y="1197620"/>
            <a:ext cx="9073007" cy="4093428"/>
          </a:xfrm>
          <a:prstGeom prst="rect">
            <a:avLst/>
          </a:prstGeom>
        </p:spPr>
        <p:txBody>
          <a:bodyPr wrap="square">
            <a:spAutoFit/>
          </a:bodyPr>
          <a:lstStyle/>
          <a:p>
            <a:pPr>
              <a:buNone/>
            </a:pPr>
            <a:r>
              <a:rPr lang="en-IN" sz="2400" dirty="0"/>
              <a:t>Generate an idea for a product or service. Produce a reflective account of how you generated and refined your idea. </a:t>
            </a:r>
          </a:p>
          <a:p>
            <a:pPr>
              <a:buNone/>
            </a:pPr>
            <a:r>
              <a:rPr lang="en-IN" sz="2400" dirty="0"/>
              <a:t>You should include:</a:t>
            </a:r>
          </a:p>
          <a:p>
            <a:pPr>
              <a:buNone/>
            </a:pPr>
            <a:endParaRPr lang="en-IN" sz="2400" dirty="0"/>
          </a:p>
          <a:p>
            <a:r>
              <a:rPr lang="en-IN" sz="2400" dirty="0"/>
              <a:t>The conclusions you have drawn from environmental scanning to identify the business opportunity. </a:t>
            </a:r>
          </a:p>
          <a:p>
            <a:r>
              <a:rPr lang="en-IN" sz="2400" dirty="0"/>
              <a:t>Include how your business idea was developed and why you rejected other ideas. </a:t>
            </a:r>
          </a:p>
          <a:p>
            <a:r>
              <a:rPr lang="en-IN" sz="2400" dirty="0"/>
              <a:t>The theories and methods of idea generation and creativity you have used to refine your idea.</a:t>
            </a:r>
          </a:p>
          <a:p>
            <a:endParaRPr lang="en-US" sz="20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0ADA64B3-17C5-4F5D-832F-4F1764060299}"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68</a:t>
            </a:fld>
            <a:endParaRPr lang="en-IN"/>
          </a:p>
        </p:txBody>
      </p:sp>
      <p:sp>
        <p:nvSpPr>
          <p:cNvPr id="12" name="Title 1"/>
          <p:cNvSpPr txBox="1">
            <a:spLocks/>
          </p:cNvSpPr>
          <p:nvPr/>
        </p:nvSpPr>
        <p:spPr>
          <a:xfrm>
            <a:off x="1547664" y="1"/>
            <a:ext cx="7632847" cy="98542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latin typeface="Times New Roman" panose="02020603050405020304" pitchFamily="18" charset="0"/>
                <a:ea typeface="Tahoma" panose="020B0604030504040204" pitchFamily="34" charset="0"/>
                <a:cs typeface="Times New Roman" panose="02020603050405020304" pitchFamily="18" charset="0"/>
              </a:rPr>
              <a:t>Assignment</a:t>
            </a:r>
          </a:p>
        </p:txBody>
      </p:sp>
      <p:sp>
        <p:nvSpPr>
          <p:cNvPr id="4" name="Footer Placeholder 12">
            <a:extLst>
              <a:ext uri="{FF2B5EF4-FFF2-40B4-BE49-F238E27FC236}">
                <a16:creationId xmlns:a16="http://schemas.microsoft.com/office/drawing/2014/main" id="{DB583034-1034-8887-A11D-D07286E6C2B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6308373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007" y="1093373"/>
            <a:ext cx="9108504" cy="2837700"/>
          </a:xfrm>
          <a:prstGeom prst="rect">
            <a:avLst/>
          </a:prstGeom>
        </p:spPr>
        <p:txBody>
          <a:bodyPr wrap="square">
            <a:spAutoFit/>
          </a:bodyPr>
          <a:lstStyle/>
          <a:p>
            <a:pPr marL="342900" indent="-342900">
              <a:lnSpc>
                <a:spcPct val="60000"/>
              </a:lnSpc>
              <a:buFont typeface="Arial"/>
              <a:buChar char="•"/>
            </a:pPr>
            <a:endParaRPr lang="en-US" sz="2400" dirty="0">
              <a:latin typeface="Times New Roman" panose="02020603050405020304" pitchFamily="18" charset="0"/>
              <a:cs typeface="Times New Roman" panose="02020603050405020304" pitchFamily="18" charset="0"/>
            </a:endParaRPr>
          </a:p>
          <a:p>
            <a:r>
              <a:rPr lang="en-IN" sz="2400" dirty="0">
                <a:hlinkClick r:id="rId2"/>
              </a:rPr>
              <a:t>https://www.youtube.com/watch?v=yuWNXcdxxVY</a:t>
            </a:r>
            <a:endParaRPr lang="en-IN" sz="2400" dirty="0"/>
          </a:p>
          <a:p>
            <a:r>
              <a:rPr lang="en-IN" sz="2400" dirty="0">
                <a:hlinkClick r:id="rId3"/>
              </a:rPr>
              <a:t>https://www.youtube.com/watch?time_continue=42&amp;v=JDkOngxPTQ4&amp;feature=emb_logo</a:t>
            </a:r>
            <a:endParaRPr lang="en-IN" sz="2400" dirty="0"/>
          </a:p>
          <a:p>
            <a:r>
              <a:rPr lang="en-IN" sz="2400" dirty="0">
                <a:hlinkClick r:id="rId4"/>
              </a:rPr>
              <a:t>https://www.youtube.com/watch?time_continue=7&amp;v=ntuS4dLIf5s&amp;feature=emb_logo</a:t>
            </a:r>
            <a:endParaRPr lang="en-IN" sz="2400" dirty="0"/>
          </a:p>
          <a:p>
            <a:r>
              <a:rPr lang="en-US" sz="24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0ADA64B3-17C5-4F5D-832F-4F1764060299}"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69</a:t>
            </a:fld>
            <a:endParaRPr lang="en-IN"/>
          </a:p>
        </p:txBody>
      </p:sp>
      <p:sp>
        <p:nvSpPr>
          <p:cNvPr id="12" name="Title 1"/>
          <p:cNvSpPr txBox="1">
            <a:spLocks/>
          </p:cNvSpPr>
          <p:nvPr/>
        </p:nvSpPr>
        <p:spPr>
          <a:xfrm>
            <a:off x="1619672" y="1"/>
            <a:ext cx="7560839" cy="98542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latin typeface="Times New Roman" panose="02020603050405020304" pitchFamily="18" charset="0"/>
                <a:ea typeface="Tahoma" panose="020B0604030504040204" pitchFamily="34" charset="0"/>
                <a:cs typeface="Times New Roman" panose="02020603050405020304" pitchFamily="18" charset="0"/>
              </a:rPr>
              <a:t>Topic links</a:t>
            </a:r>
          </a:p>
        </p:txBody>
      </p:sp>
      <p:sp>
        <p:nvSpPr>
          <p:cNvPr id="4" name="Footer Placeholder 12">
            <a:extLst>
              <a:ext uri="{FF2B5EF4-FFF2-40B4-BE49-F238E27FC236}">
                <a16:creationId xmlns:a16="http://schemas.microsoft.com/office/drawing/2014/main" id="{DB583034-1034-8887-A11D-D07286E6C2B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10002333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71546"/>
          </a:xfrm>
        </p:spPr>
        <p:txBody>
          <a:bodyPr/>
          <a:lstStyle/>
          <a:p>
            <a:endParaRPr lang="en-IN" dirty="0"/>
          </a:p>
        </p:txBody>
      </p:sp>
      <p:sp>
        <p:nvSpPr>
          <p:cNvPr id="3" name="Content Placeholder 2"/>
          <p:cNvSpPr>
            <a:spLocks noGrp="1"/>
          </p:cNvSpPr>
          <p:nvPr>
            <p:ph idx="1"/>
          </p:nvPr>
        </p:nvSpPr>
        <p:spPr>
          <a:xfrm>
            <a:off x="0" y="1071546"/>
            <a:ext cx="9144000" cy="4949742"/>
          </a:xfrm>
        </p:spPr>
        <p:txBody>
          <a:bodyPr>
            <a:normAutofit fontScale="25000" lnSpcReduction="20000"/>
          </a:bodyPr>
          <a:lstStyle/>
          <a:p>
            <a:pPr fontAlgn="base"/>
            <a:r>
              <a:rPr lang="en-IN" sz="8000" dirty="0"/>
              <a:t>1. Which one of the following is the next stage to the Concept Stage of Product Planning and Development Process:</a:t>
            </a:r>
          </a:p>
          <a:p>
            <a:pPr fontAlgn="base">
              <a:buFont typeface="+mj-lt"/>
              <a:buAutoNum type="alphaLcPeriod"/>
            </a:pPr>
            <a:r>
              <a:rPr lang="en-IN" sz="8000" dirty="0"/>
              <a:t>Idea Stage</a:t>
            </a:r>
          </a:p>
          <a:p>
            <a:pPr fontAlgn="base">
              <a:buFont typeface="+mj-lt"/>
              <a:buAutoNum type="alphaLcPeriod"/>
            </a:pPr>
            <a:r>
              <a:rPr lang="en-IN" sz="8000" dirty="0"/>
              <a:t>Product Planning Stage</a:t>
            </a:r>
          </a:p>
          <a:p>
            <a:pPr fontAlgn="base">
              <a:buFont typeface="+mj-lt"/>
              <a:buAutoNum type="alphaLcPeriod"/>
            </a:pPr>
            <a:r>
              <a:rPr lang="en-IN" sz="8000" dirty="0"/>
              <a:t>Product Development Stage</a:t>
            </a:r>
          </a:p>
          <a:p>
            <a:pPr fontAlgn="base">
              <a:buFont typeface="+mj-lt"/>
              <a:buAutoNum type="alphaLcPeriod"/>
            </a:pPr>
            <a:r>
              <a:rPr lang="en-IN" sz="8000" dirty="0"/>
              <a:t>Test Marketing Stage</a:t>
            </a:r>
          </a:p>
          <a:p>
            <a:pPr fontAlgn="base"/>
            <a:r>
              <a:rPr lang="en-IN" sz="8000" dirty="0"/>
              <a:t>2. Idea of new product is tested in potential consumers to determine consumer acceptance at _________ stage.</a:t>
            </a:r>
          </a:p>
          <a:p>
            <a:pPr fontAlgn="base">
              <a:buFont typeface="+mj-lt"/>
              <a:buAutoNum type="alphaLcPeriod"/>
            </a:pPr>
            <a:r>
              <a:rPr lang="en-IN" sz="8000" dirty="0"/>
              <a:t>Concept.</a:t>
            </a:r>
          </a:p>
          <a:p>
            <a:pPr fontAlgn="base">
              <a:buFont typeface="+mj-lt"/>
              <a:buAutoNum type="alphaLcPeriod"/>
            </a:pPr>
            <a:r>
              <a:rPr lang="en-IN" sz="8000" dirty="0"/>
              <a:t>Product development.</a:t>
            </a:r>
          </a:p>
          <a:p>
            <a:pPr fontAlgn="base">
              <a:buFont typeface="+mj-lt"/>
              <a:buAutoNum type="alphaLcPeriod"/>
            </a:pPr>
            <a:r>
              <a:rPr lang="en-IN" sz="8000" dirty="0"/>
              <a:t>Test marketing.</a:t>
            </a:r>
          </a:p>
          <a:p>
            <a:pPr fontAlgn="base">
              <a:buFont typeface="+mj-lt"/>
              <a:buAutoNum type="alphaLcPeriod"/>
            </a:pPr>
            <a:r>
              <a:rPr lang="en-IN" sz="8000" dirty="0"/>
              <a:t>Commercialization.</a:t>
            </a:r>
          </a:p>
          <a:p>
            <a:r>
              <a:rPr lang="en-IN" sz="8000" dirty="0"/>
              <a:t>3. Value analysis is normally applied to</a:t>
            </a:r>
          </a:p>
          <a:p>
            <a:pPr>
              <a:buFont typeface="+mj-lt"/>
              <a:buAutoNum type="alphaLcPeriod"/>
            </a:pPr>
            <a:r>
              <a:rPr lang="en-IN" sz="8000" dirty="0"/>
              <a:t>New products</a:t>
            </a:r>
          </a:p>
          <a:p>
            <a:pPr>
              <a:buFont typeface="+mj-lt"/>
              <a:buAutoNum type="alphaLcPeriod"/>
            </a:pPr>
            <a:r>
              <a:rPr lang="en-IN" sz="8000" dirty="0"/>
              <a:t>Old products</a:t>
            </a:r>
          </a:p>
          <a:p>
            <a:pPr>
              <a:buFont typeface="+mj-lt"/>
              <a:buAutoNum type="alphaLcPeriod"/>
            </a:pPr>
            <a:r>
              <a:rPr lang="en-IN" sz="8000" dirty="0"/>
              <a:t>Future products</a:t>
            </a:r>
          </a:p>
          <a:p>
            <a:pPr>
              <a:buFont typeface="+mj-lt"/>
              <a:buAutoNum type="alphaLcPeriod"/>
            </a:pPr>
            <a:r>
              <a:rPr lang="en-IN" sz="8000" dirty="0"/>
              <a:t>Both (A) and (B)</a:t>
            </a:r>
          </a:p>
          <a:p>
            <a:pPr fontAlgn="base">
              <a:buNone/>
            </a:pPr>
            <a:endParaRPr lang="en-IN" dirty="0"/>
          </a:p>
          <a:p>
            <a:pPr fontAlgn="base"/>
            <a:endParaRPr lang="en-IN" dirty="0"/>
          </a:p>
          <a:p>
            <a:pPr>
              <a:buNone/>
            </a:pPr>
            <a:br>
              <a:rPr lang="en-IN" dirty="0"/>
            </a:br>
            <a:endParaRPr lang="en-IN" dirty="0"/>
          </a:p>
        </p:txBody>
      </p:sp>
      <p:sp>
        <p:nvSpPr>
          <p:cNvPr id="4" name="Footer Placeholder 12">
            <a:extLst>
              <a:ext uri="{FF2B5EF4-FFF2-40B4-BE49-F238E27FC236}">
                <a16:creationId xmlns:a16="http://schemas.microsoft.com/office/drawing/2014/main" id="{D90D45A4-D772-64F9-7133-012E4F418A4F}"/>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6" name="Title 1"/>
          <p:cNvSpPr txBox="1">
            <a:spLocks/>
          </p:cNvSpPr>
          <p:nvPr/>
        </p:nvSpPr>
        <p:spPr>
          <a:xfrm>
            <a:off x="1547665" y="51514"/>
            <a:ext cx="7596336" cy="85720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3600" b="1" dirty="0">
                <a:latin typeface="Times New Roman" panose="02020603050405020304" pitchFamily="18" charset="0"/>
                <a:cs typeface="Times New Roman" panose="02020603050405020304" pitchFamily="18" charset="0"/>
              </a:rPr>
              <a:t>                     MCQ</a:t>
            </a:r>
            <a:endParaRPr lang="en-US" sz="3600" b="1"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426" y="1000109"/>
            <a:ext cx="8615149" cy="6063198"/>
          </a:xfrm>
          <a:prstGeom prst="rect">
            <a:avLst/>
          </a:prstGeom>
        </p:spPr>
        <p:txBody>
          <a:bodyPr wrap="square">
            <a:spAutoFit/>
          </a:bodyPr>
          <a:lstStyle/>
          <a:p>
            <a:r>
              <a:rPr lang="en-IN" sz="2000" dirty="0"/>
              <a:t>4. Value analysis is a ____ process</a:t>
            </a:r>
          </a:p>
          <a:p>
            <a:pPr marL="342900" indent="-342900">
              <a:buFont typeface="+mj-lt"/>
              <a:buAutoNum type="alphaLcPeriod"/>
            </a:pPr>
            <a:r>
              <a:rPr lang="en-IN" sz="2000" dirty="0"/>
              <a:t>Remedial</a:t>
            </a:r>
          </a:p>
          <a:p>
            <a:pPr marL="342900" indent="-342900">
              <a:buFont typeface="+mj-lt"/>
              <a:buAutoNum type="alphaLcPeriod"/>
            </a:pPr>
            <a:r>
              <a:rPr lang="en-IN" sz="2000" dirty="0"/>
              <a:t>Preventive</a:t>
            </a:r>
          </a:p>
          <a:p>
            <a:pPr marL="342900" indent="-342900">
              <a:buFont typeface="+mj-lt"/>
              <a:buAutoNum type="alphaLcPeriod"/>
            </a:pPr>
            <a:r>
              <a:rPr lang="en-IN" sz="2000" dirty="0"/>
              <a:t>Continuous</a:t>
            </a:r>
          </a:p>
          <a:p>
            <a:pPr marL="342900" indent="-342900">
              <a:buFont typeface="+mj-lt"/>
              <a:buAutoNum type="alphaLcPeriod"/>
            </a:pPr>
            <a:r>
              <a:rPr lang="en-IN" sz="2000" dirty="0"/>
              <a:t>None of the above</a:t>
            </a:r>
          </a:p>
          <a:p>
            <a:pPr marL="342900" indent="-342900"/>
            <a:r>
              <a:rPr lang="en-IN" sz="2000" dirty="0"/>
              <a:t>5. What does c stand for in SCAMPER?</a:t>
            </a:r>
          </a:p>
          <a:p>
            <a:pPr marL="342900" indent="-342900">
              <a:buFont typeface="+mj-lt"/>
              <a:buAutoNum type="alphaLcPeriod"/>
            </a:pPr>
            <a:r>
              <a:rPr lang="en-IN" sz="2000" dirty="0"/>
              <a:t>Combine</a:t>
            </a:r>
          </a:p>
          <a:p>
            <a:pPr marL="342900" indent="-342900">
              <a:buFont typeface="+mj-lt"/>
              <a:buAutoNum type="alphaLcPeriod"/>
            </a:pPr>
            <a:r>
              <a:rPr lang="en-IN" sz="2000" dirty="0"/>
              <a:t>Christmas</a:t>
            </a:r>
          </a:p>
          <a:p>
            <a:pPr marL="342900" indent="-342900">
              <a:buFont typeface="+mj-lt"/>
              <a:buAutoNum type="alphaLcPeriod"/>
            </a:pPr>
            <a:r>
              <a:rPr lang="en-IN" sz="2000" dirty="0"/>
              <a:t>Can</a:t>
            </a:r>
          </a:p>
          <a:p>
            <a:pPr marL="342900" indent="-342900">
              <a:buFont typeface="+mj-lt"/>
              <a:buAutoNum type="alphaLcPeriod"/>
            </a:pPr>
            <a:r>
              <a:rPr lang="en-IN" sz="2000" dirty="0"/>
              <a:t>Class</a:t>
            </a:r>
          </a:p>
          <a:p>
            <a:r>
              <a:rPr lang="en-IN" sz="2000" dirty="0"/>
              <a:t>6. Attribute listing is...</a:t>
            </a:r>
          </a:p>
          <a:p>
            <a:r>
              <a:rPr lang="en-IN" sz="2000" dirty="0"/>
              <a:t>a.  Takes the place of another product </a:t>
            </a:r>
          </a:p>
          <a:p>
            <a:r>
              <a:rPr lang="en-IN" sz="2000" dirty="0"/>
              <a:t>b. Solving problems through an indirect or creative approach </a:t>
            </a:r>
          </a:p>
          <a:p>
            <a:r>
              <a:rPr lang="en-IN" sz="2000" dirty="0"/>
              <a:t>c.  List the product’s characteristics that make it unique from other goods then find ways to improve those attributes </a:t>
            </a:r>
          </a:p>
          <a:p>
            <a:r>
              <a:rPr lang="en-IN" sz="2000" dirty="0"/>
              <a:t>d.  List a products characteristics then combine some or all of those to create a new product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p>
        </p:txBody>
      </p:sp>
      <p:sp>
        <p:nvSpPr>
          <p:cNvPr id="3" name="Date Placeholder 2"/>
          <p:cNvSpPr>
            <a:spLocks noGrp="1"/>
          </p:cNvSpPr>
          <p:nvPr>
            <p:ph type="dt" sz="half" idx="10"/>
          </p:nvPr>
        </p:nvSpPr>
        <p:spPr/>
        <p:txBody>
          <a:bodyPr/>
          <a:lstStyle/>
          <a:p>
            <a:fld id="{790FB935-759C-44EB-AA74-664DD884539C}"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71</a:t>
            </a:fld>
            <a:endParaRPr lang="en-IN"/>
          </a:p>
        </p:txBody>
      </p:sp>
      <p:sp>
        <p:nvSpPr>
          <p:cNvPr id="12" name="Title 1"/>
          <p:cNvSpPr txBox="1">
            <a:spLocks/>
          </p:cNvSpPr>
          <p:nvPr/>
        </p:nvSpPr>
        <p:spPr>
          <a:xfrm>
            <a:off x="1619672" y="52519"/>
            <a:ext cx="7488832" cy="56816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endParaRPr lang="en-US" sz="3600" b="1" dirty="0">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9A90611F-41C9-6A66-479A-F25CDFBB32F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273538"/>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63083733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90FB935-759C-44EB-AA74-664DD884539C}"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72</a:t>
            </a:fld>
            <a:endParaRPr lang="en-IN"/>
          </a:p>
        </p:txBody>
      </p:sp>
      <p:sp>
        <p:nvSpPr>
          <p:cNvPr id="12" name="Title 1"/>
          <p:cNvSpPr txBox="1">
            <a:spLocks/>
          </p:cNvSpPr>
          <p:nvPr/>
        </p:nvSpPr>
        <p:spPr>
          <a:xfrm>
            <a:off x="1619672" y="52519"/>
            <a:ext cx="7488832" cy="56816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endParaRPr lang="en-US" sz="3600" b="1" dirty="0">
              <a:latin typeface="Times New Roman" panose="02020603050405020304" pitchFamily="18" charset="0"/>
              <a:cs typeface="Times New Roman" panose="02020603050405020304" pitchFamily="18" charset="0"/>
            </a:endParaRPr>
          </a:p>
        </p:txBody>
      </p:sp>
      <p:sp>
        <p:nvSpPr>
          <p:cNvPr id="4" name="Footer Placeholder 12">
            <a:extLst>
              <a:ext uri="{FF2B5EF4-FFF2-40B4-BE49-F238E27FC236}">
                <a16:creationId xmlns:a16="http://schemas.microsoft.com/office/drawing/2014/main" id="{9A90611F-41C9-6A66-479A-F25CDFBB32F8}"/>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5" name="Rectangle 4"/>
          <p:cNvSpPr/>
          <p:nvPr/>
        </p:nvSpPr>
        <p:spPr>
          <a:xfrm>
            <a:off x="107504" y="908720"/>
            <a:ext cx="8856984" cy="5324535"/>
          </a:xfrm>
          <a:prstGeom prst="rect">
            <a:avLst/>
          </a:prstGeom>
        </p:spPr>
        <p:txBody>
          <a:bodyPr wrap="square">
            <a:spAutoFit/>
          </a:bodyPr>
          <a:lstStyle/>
          <a:p>
            <a:r>
              <a:rPr lang="en-IN" sz="2000" dirty="0"/>
              <a:t>7. Forced Analogies means: </a:t>
            </a:r>
          </a:p>
          <a:p>
            <a:r>
              <a:rPr lang="en-IN" sz="2000" dirty="0"/>
              <a:t>a.  Similarity of like features of two things </a:t>
            </a:r>
          </a:p>
          <a:p>
            <a:r>
              <a:rPr lang="en-IN" sz="2000" dirty="0"/>
              <a:t>b. Using metaphors and similes to create connections where none exist </a:t>
            </a:r>
          </a:p>
          <a:p>
            <a:r>
              <a:rPr lang="en-IN" sz="2000" dirty="0"/>
              <a:t>c.  Focuses on an attribute or an object in order to determine how the attribute can be improved.  </a:t>
            </a:r>
          </a:p>
          <a:p>
            <a:r>
              <a:rPr lang="en-IN" sz="2000" dirty="0"/>
              <a:t>d.  List a product’s characteristics then combine some or all of those to create a new product</a:t>
            </a:r>
          </a:p>
          <a:p>
            <a:r>
              <a:rPr lang="en-IN" sz="2000" dirty="0"/>
              <a:t>8. Brainstorming is… </a:t>
            </a:r>
          </a:p>
          <a:p>
            <a:r>
              <a:rPr lang="en-IN" sz="2000" dirty="0"/>
              <a:t>a. Creative-thinking technique involving the identification of as many different ideas as possible during a certain time frame. </a:t>
            </a:r>
          </a:p>
          <a:p>
            <a:r>
              <a:rPr lang="en-IN" sz="2000" dirty="0"/>
              <a:t>b.  Teams responding to teammates ideas in a certain order </a:t>
            </a:r>
          </a:p>
          <a:p>
            <a:r>
              <a:rPr lang="en-IN" sz="2000" dirty="0"/>
              <a:t>c.  Mental connection or relation between thoughts, feelings, ideas or sensations. </a:t>
            </a:r>
          </a:p>
          <a:p>
            <a:r>
              <a:rPr lang="en-IN" sz="2000" dirty="0"/>
              <a:t>d.  State the first thing that comes to mind when hearing (or seeing, feeling, smelling or tasting) anything another team member provides</a:t>
            </a:r>
          </a:p>
          <a:p>
            <a:endParaRPr lang="en-US" sz="2000" dirty="0"/>
          </a:p>
          <a:p>
            <a:endParaRPr lang="en-US" sz="2000" dirty="0"/>
          </a:p>
          <a:p>
            <a:endParaRPr lang="en-IN" sz="2000" dirty="0"/>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3549613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908720"/>
            <a:ext cx="8712968" cy="5544616"/>
          </a:xfrm>
        </p:spPr>
        <p:txBody>
          <a:bodyPr>
            <a:normAutofit lnSpcReduction="10000"/>
          </a:bodyPr>
          <a:lstStyle/>
          <a:p>
            <a:r>
              <a:rPr lang="en-US" dirty="0"/>
              <a:t> </a:t>
            </a:r>
            <a:r>
              <a:rPr lang="en-IN" sz="2200" dirty="0"/>
              <a:t>9. Free Association means to…</a:t>
            </a:r>
          </a:p>
          <a:p>
            <a:r>
              <a:rPr lang="en-IN" sz="2200" dirty="0"/>
              <a:t>a. Creative-thinking technique involving the identification of as many different ideas as possible during a certain time frame. </a:t>
            </a:r>
          </a:p>
          <a:p>
            <a:r>
              <a:rPr lang="en-IN" sz="2200" dirty="0"/>
              <a:t>b.  Teams responding to teammates ideas in a certain order </a:t>
            </a:r>
          </a:p>
          <a:p>
            <a:r>
              <a:rPr lang="en-IN" sz="2200" dirty="0"/>
              <a:t>c.  Mental connection or relation between thoughts, feelings, ideas or sensations. </a:t>
            </a:r>
          </a:p>
          <a:p>
            <a:r>
              <a:rPr lang="en-IN" sz="2200" dirty="0"/>
              <a:t>d.  State the first thing that comes to mind when hearing (or seeing, feeling, smelling or tasting) anything another team member provides</a:t>
            </a:r>
          </a:p>
          <a:p>
            <a:r>
              <a:rPr lang="en-IN" sz="2200" dirty="0"/>
              <a:t>10. Morphological analysis is...</a:t>
            </a:r>
          </a:p>
          <a:p>
            <a:r>
              <a:rPr lang="en-IN" sz="2200" dirty="0"/>
              <a:t>a.  Takes the place of another product </a:t>
            </a:r>
          </a:p>
          <a:p>
            <a:r>
              <a:rPr lang="en-IN" sz="2200" dirty="0"/>
              <a:t>b. Solving problems through an indirect or creative approach </a:t>
            </a:r>
          </a:p>
          <a:p>
            <a:r>
              <a:rPr lang="en-IN" sz="2200" dirty="0"/>
              <a:t>c.  List the product’s characteristics that make it unique from other goods then find ways to improve those attributes </a:t>
            </a:r>
          </a:p>
          <a:p>
            <a:pPr marL="0" indent="0">
              <a:buNone/>
            </a:pPr>
            <a:r>
              <a:rPr lang="en-IN" sz="2200" dirty="0"/>
              <a:t>d.  List a products characteristics then combine some or all of those to create a new product</a:t>
            </a:r>
          </a:p>
          <a:p>
            <a:pPr>
              <a:buNone/>
            </a:pPr>
            <a:endParaRPr lang="en-US" dirty="0"/>
          </a:p>
        </p:txBody>
      </p:sp>
      <p:sp>
        <p:nvSpPr>
          <p:cNvPr id="4" name="Date Placeholder 3"/>
          <p:cNvSpPr>
            <a:spLocks noGrp="1"/>
          </p:cNvSpPr>
          <p:nvPr>
            <p:ph type="dt" sz="half" idx="10"/>
          </p:nvPr>
        </p:nvSpPr>
        <p:spPr/>
        <p:txBody>
          <a:bodyPr/>
          <a:lstStyle/>
          <a:p>
            <a:fld id="{679DEAA7-C1ED-41FE-BF26-BEE4A56DA3E7}"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547664" y="0"/>
            <a:ext cx="7596336" cy="62068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latin typeface="Times New Roman" panose="02020603050405020304" pitchFamily="18" charset="0"/>
                <a:cs typeface="Times New Roman" panose="02020603050405020304" pitchFamily="18" charset="0"/>
              </a:rPr>
              <a:t>MCQ</a:t>
            </a:r>
          </a:p>
        </p:txBody>
      </p:sp>
      <p:sp>
        <p:nvSpPr>
          <p:cNvPr id="2" name="Footer Placeholder 12">
            <a:extLst>
              <a:ext uri="{FF2B5EF4-FFF2-40B4-BE49-F238E27FC236}">
                <a16:creationId xmlns:a16="http://schemas.microsoft.com/office/drawing/2014/main" id="{75655121-0CE1-4140-6D81-494241807946}"/>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a:t>VIJAYLAXMI                        AOE0771              Unit 1</a:t>
            </a:r>
          </a:p>
        </p:txBody>
      </p:sp>
      <p:sp>
        <p:nvSpPr>
          <p:cNvPr id="8" name="Rectangle 7">
            <a:extLst>
              <a:ext uri="{FF2B5EF4-FFF2-40B4-BE49-F238E27FC236}">
                <a16:creationId xmlns:a16="http://schemas.microsoft.com/office/drawing/2014/main" id="{731A936F-F269-359D-A45A-2FFA91880636}"/>
              </a:ext>
            </a:extLst>
          </p:cNvPr>
          <p:cNvSpPr/>
          <p:nvPr/>
        </p:nvSpPr>
        <p:spPr>
          <a:xfrm>
            <a:off x="0" y="6273538"/>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4426" y="1143000"/>
            <a:ext cx="8615149" cy="4524315"/>
          </a:xfrm>
          <a:prstGeom prst="rect">
            <a:avLst/>
          </a:prstGeom>
        </p:spPr>
        <p:txBody>
          <a:bodyPr wrap="square">
            <a:spAutoFit/>
          </a:bodyPr>
          <a:lstStyle/>
          <a:p>
            <a:r>
              <a:rPr lang="en-US" sz="2400" dirty="0"/>
              <a:t>					</a:t>
            </a:r>
          </a:p>
          <a:p>
            <a:r>
              <a:rPr lang="en-US" sz="2400" dirty="0"/>
              <a:t> </a:t>
            </a:r>
            <a:r>
              <a:rPr lang="en-IN" sz="2400" dirty="0">
                <a:hlinkClick r:id="rId2"/>
              </a:rPr>
              <a:t>https://aktu.ac.in/pdf/old-papers/dec-2013/PDF's/EOE071.pdf</a:t>
            </a:r>
            <a:endParaRPr lang="en-IN" sz="2400" dirty="0"/>
          </a:p>
          <a:p>
            <a:endParaRPr lang="en-IN" sz="2400" dirty="0"/>
          </a:p>
          <a:p>
            <a:pPr algn="just">
              <a:buNone/>
            </a:pPr>
            <a:r>
              <a:rPr lang="en-US" sz="2400" dirty="0">
                <a:hlinkClick r:id="rId3"/>
              </a:rPr>
              <a:t>http://www.aktuonline.com/papers/mba-4-sem-entrepreneurship-development-rmb-402-2017-18.pdf</a:t>
            </a:r>
            <a:endParaRPr lang="en-US" sz="2400" dirty="0"/>
          </a:p>
          <a:p>
            <a:pPr algn="just">
              <a:buNone/>
            </a:pPr>
            <a:endParaRPr lang="en-US" sz="2400" dirty="0"/>
          </a:p>
          <a:p>
            <a:pPr algn="just">
              <a:buNone/>
            </a:pPr>
            <a:r>
              <a:rPr lang="en-US" sz="2400" dirty="0">
                <a:hlinkClick r:id="rId4"/>
              </a:rPr>
              <a:t>https://www.uptunotes.com/aktu-uptu-entrepreneurship-development-mam401a-previous-year-question-paper/</a:t>
            </a:r>
            <a:endParaRPr lang="en-US" sz="2400" dirty="0"/>
          </a:p>
          <a:p>
            <a:pPr algn="just">
              <a:buNone/>
            </a:pPr>
            <a:endParaRPr lang="en-US" sz="2400" dirty="0"/>
          </a:p>
          <a:p>
            <a:pPr algn="just">
              <a:buNone/>
            </a:pPr>
            <a:r>
              <a:rPr lang="en-US" sz="2400" dirty="0">
                <a:hlinkClick r:id="rId5"/>
              </a:rPr>
              <a:t>https://abesit.in/library/download/MBA/Sem.3/2016-17/ENTREPRENEURSHIP-DEVELOPMENT-NMBA-031MBTM-031.pdf</a:t>
            </a:r>
            <a:endParaRPr lang="en-US" sz="2400" dirty="0"/>
          </a:p>
          <a:p>
            <a:endParaRPr lang="en-US" sz="2400" dirty="0"/>
          </a:p>
        </p:txBody>
      </p:sp>
      <p:sp>
        <p:nvSpPr>
          <p:cNvPr id="3" name="Date Placeholder 2"/>
          <p:cNvSpPr>
            <a:spLocks noGrp="1"/>
          </p:cNvSpPr>
          <p:nvPr>
            <p:ph type="dt" sz="half" idx="10"/>
          </p:nvPr>
        </p:nvSpPr>
        <p:spPr/>
        <p:txBody>
          <a:bodyPr/>
          <a:lstStyle/>
          <a:p>
            <a:fld id="{9DC61204-134F-4C74-A980-2B61177C4744}"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74</a:t>
            </a:fld>
            <a:endParaRPr lang="en-IN"/>
          </a:p>
        </p:txBody>
      </p:sp>
      <p:sp>
        <p:nvSpPr>
          <p:cNvPr id="12" name="Title 1"/>
          <p:cNvSpPr txBox="1">
            <a:spLocks/>
          </p:cNvSpPr>
          <p:nvPr/>
        </p:nvSpPr>
        <p:spPr>
          <a:xfrm>
            <a:off x="1619672" y="0"/>
            <a:ext cx="7524328" cy="1143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b="1" dirty="0">
                <a:latin typeface="Times New Roman" panose="02020603050405020304" pitchFamily="18" charset="0"/>
                <a:cs typeface="Times New Roman" panose="02020603050405020304" pitchFamily="18" charset="0"/>
              </a:rPr>
              <a:t>Old Question Papers</a:t>
            </a:r>
          </a:p>
        </p:txBody>
      </p:sp>
      <p:sp>
        <p:nvSpPr>
          <p:cNvPr id="4" name="Footer Placeholder 12">
            <a:extLst>
              <a:ext uri="{FF2B5EF4-FFF2-40B4-BE49-F238E27FC236}">
                <a16:creationId xmlns:a16="http://schemas.microsoft.com/office/drawing/2014/main" id="{B32C86C2-44DB-17C4-FD0B-52468F65D4FD}"/>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63083733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51482"/>
          </a:xfrm>
        </p:spPr>
        <p:txBody>
          <a:bodyPr>
            <a:normAutofit fontScale="90000"/>
          </a:bodyPr>
          <a:lstStyle/>
          <a:p>
            <a:endParaRPr lang="en-IN" dirty="0"/>
          </a:p>
        </p:txBody>
      </p:sp>
      <p:sp>
        <p:nvSpPr>
          <p:cNvPr id="3" name="Content Placeholder 2"/>
          <p:cNvSpPr>
            <a:spLocks noGrp="1"/>
          </p:cNvSpPr>
          <p:nvPr>
            <p:ph idx="1"/>
          </p:nvPr>
        </p:nvSpPr>
        <p:spPr>
          <a:xfrm>
            <a:off x="53752" y="1124744"/>
            <a:ext cx="9036496" cy="5890494"/>
          </a:xfrm>
        </p:spPr>
        <p:txBody>
          <a:bodyPr>
            <a:normAutofit/>
          </a:bodyPr>
          <a:lstStyle/>
          <a:p>
            <a:endParaRPr lang="en-IN" sz="2400" b="1" dirty="0"/>
          </a:p>
          <a:p>
            <a:endParaRPr lang="en-IN" dirty="0"/>
          </a:p>
        </p:txBody>
      </p:sp>
      <p:sp>
        <p:nvSpPr>
          <p:cNvPr id="4" name="Title 1"/>
          <p:cNvSpPr txBox="1">
            <a:spLocks/>
          </p:cNvSpPr>
          <p:nvPr/>
        </p:nvSpPr>
        <p:spPr>
          <a:xfrm>
            <a:off x="1547664" y="65683"/>
            <a:ext cx="7596336"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US" sz="3600" b="1" dirty="0">
                <a:latin typeface="Times New Roman" panose="02020603050405020304" pitchFamily="18" charset="0"/>
                <a:cs typeface="Times New Roman" panose="02020603050405020304" pitchFamily="18" charset="0"/>
              </a:rPr>
              <a:t>Expected Questions</a:t>
            </a:r>
          </a:p>
        </p:txBody>
      </p:sp>
      <p:sp>
        <p:nvSpPr>
          <p:cNvPr id="5" name="Footer Placeholder 12">
            <a:extLst>
              <a:ext uri="{FF2B5EF4-FFF2-40B4-BE49-F238E27FC236}">
                <a16:creationId xmlns:a16="http://schemas.microsoft.com/office/drawing/2014/main" id="{AC955DC1-BF61-749A-BCAB-12251A207CDC}"/>
              </a:ext>
            </a:extLst>
          </p:cNvPr>
          <p:cNvSpPr txBox="1">
            <a:spLocks/>
          </p:cNvSpPr>
          <p:nvPr/>
        </p:nvSpPr>
        <p:spPr>
          <a:xfrm>
            <a:off x="2612260" y="6492875"/>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p:cNvSpPr/>
          <p:nvPr/>
        </p:nvSpPr>
        <p:spPr>
          <a:xfrm>
            <a:off x="117848" y="1124744"/>
            <a:ext cx="8568952" cy="4401205"/>
          </a:xfrm>
          <a:prstGeom prst="rect">
            <a:avLst/>
          </a:prstGeom>
        </p:spPr>
        <p:txBody>
          <a:bodyPr wrap="square">
            <a:spAutoFit/>
          </a:bodyPr>
          <a:lstStyle/>
          <a:p>
            <a:pPr marL="457200" indent="-457200" algn="just">
              <a:buFont typeface="+mj-lt"/>
              <a:buAutoNum type="arabicPeriod"/>
            </a:pPr>
            <a:r>
              <a:rPr lang="en-IN" sz="2000" dirty="0"/>
              <a:t>Explain the concept of generating ideas.</a:t>
            </a:r>
          </a:p>
          <a:p>
            <a:pPr marL="457200" indent="-457200" algn="just">
              <a:buFont typeface="+mj-lt"/>
              <a:buAutoNum type="arabicPeriod"/>
            </a:pPr>
            <a:r>
              <a:rPr lang="en-IN" sz="2000" dirty="0"/>
              <a:t>Discuss the different techniques of generating new ideas.</a:t>
            </a:r>
          </a:p>
          <a:p>
            <a:pPr marL="457200" indent="-457200" algn="just">
              <a:buFont typeface="+mj-lt"/>
              <a:buAutoNum type="arabicPeriod"/>
            </a:pPr>
            <a:r>
              <a:rPr lang="en-IN" sz="2000" dirty="0"/>
              <a:t>Discuss the process of generating ideas for a new business.</a:t>
            </a:r>
          </a:p>
          <a:p>
            <a:pPr marL="457200" indent="-457200" algn="just">
              <a:buFont typeface="+mj-lt"/>
              <a:buAutoNum type="arabicPeriod"/>
            </a:pPr>
            <a:r>
              <a:rPr lang="en-IN" sz="2000" dirty="0"/>
              <a:t>Define the morphological analysis technique of idea generation with the help of suitable example.</a:t>
            </a:r>
          </a:p>
          <a:p>
            <a:pPr marL="457200" indent="-457200" algn="just">
              <a:buFont typeface="+mj-lt"/>
              <a:buAutoNum type="arabicPeriod"/>
            </a:pPr>
            <a:r>
              <a:rPr lang="en-IN" sz="2000" dirty="0"/>
              <a:t>Give an example of how SCAMPER technique is used for generating new ideas.</a:t>
            </a:r>
          </a:p>
          <a:p>
            <a:pPr marL="457200" indent="-457200" algn="just">
              <a:buFont typeface="+mj-lt"/>
              <a:buAutoNum type="arabicPeriod"/>
            </a:pPr>
            <a:r>
              <a:rPr lang="en-IN" sz="2000" dirty="0"/>
              <a:t>Brainstorming is a technique of generating a pool of ideas. Discuss.</a:t>
            </a:r>
          </a:p>
          <a:p>
            <a:pPr marL="457200" indent="-457200" algn="just">
              <a:buFont typeface="+mj-lt"/>
              <a:buAutoNum type="arabicPeriod"/>
            </a:pPr>
            <a:r>
              <a:rPr lang="en-IN" sz="2000" dirty="0"/>
              <a:t>How does value analysis help in generating ideas which can bring maximum profitability in the future. Explain with the help of an example.</a:t>
            </a:r>
          </a:p>
          <a:p>
            <a:pPr marL="457200" indent="-457200" algn="just">
              <a:buFont typeface="+mj-lt"/>
              <a:buAutoNum type="arabicPeriod"/>
            </a:pPr>
            <a:r>
              <a:rPr lang="en-IN" sz="2000" dirty="0"/>
              <a:t>Discuss the new product development process in detail taking an example.</a:t>
            </a:r>
          </a:p>
          <a:p>
            <a:pPr marL="457200" indent="-457200" algn="just">
              <a:buFont typeface="+mj-lt"/>
              <a:buAutoNum type="arabicPeriod"/>
            </a:pPr>
            <a:r>
              <a:rPr lang="en-IN" sz="2000" dirty="0"/>
              <a:t>Discuss factor based and growth based alternative scenarios.</a:t>
            </a:r>
          </a:p>
          <a:p>
            <a:pPr marL="457200" indent="-457200" algn="just">
              <a:buFont typeface="+mj-lt"/>
              <a:buAutoNum type="arabicPeriod"/>
            </a:pPr>
            <a:r>
              <a:rPr lang="en-IN" sz="2000" dirty="0"/>
              <a:t>Define environmental scanning. What is the need for environment scanning?</a:t>
            </a:r>
          </a:p>
          <a:p>
            <a:pPr marL="457200" indent="-457200" algn="just">
              <a:buFont typeface="+mj-lt"/>
              <a:buAutoNum type="arabicPeriod"/>
            </a:pPr>
            <a:r>
              <a:rPr lang="en-IN" sz="2000" dirty="0"/>
              <a:t>Discuss the various techniques for environment scanning in detail.</a:t>
            </a:r>
          </a:p>
        </p:txBody>
      </p:sp>
      <p:sp>
        <p:nvSpPr>
          <p:cNvPr id="8" name="Rectangle 7">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71546"/>
          </a:xfrm>
        </p:spPr>
        <p:txBody>
          <a:bodyPr/>
          <a:lstStyle/>
          <a:p>
            <a:endParaRPr lang="en-IN" dirty="0"/>
          </a:p>
        </p:txBody>
      </p:sp>
      <p:sp>
        <p:nvSpPr>
          <p:cNvPr id="3" name="Content Placeholder 2"/>
          <p:cNvSpPr>
            <a:spLocks noGrp="1"/>
          </p:cNvSpPr>
          <p:nvPr>
            <p:ph idx="1"/>
          </p:nvPr>
        </p:nvSpPr>
        <p:spPr>
          <a:xfrm>
            <a:off x="161764" y="1340768"/>
            <a:ext cx="8820472" cy="4661140"/>
          </a:xfrm>
        </p:spPr>
        <p:txBody>
          <a:bodyPr>
            <a:normAutofit/>
          </a:bodyPr>
          <a:lstStyle/>
          <a:p>
            <a:pPr algn="just"/>
            <a:r>
              <a:rPr lang="en-IN" sz="2000" dirty="0"/>
              <a:t>Ideas are the building blocks for all innovation. The first step of starting with anything new is finding that idea. </a:t>
            </a:r>
          </a:p>
          <a:p>
            <a:pPr algn="just"/>
            <a:r>
              <a:rPr lang="en-IN" sz="2000" dirty="0"/>
              <a:t>We must make use of the different tools and techniques available to us to come up with quality ideas. The various techniques of iteration for ideas are Matrix and Morphological Analysis, Force Field Analysis, Attribute Listing, Scamper, Alternative Scenarios, Forced Association, Value Analysis. To conceptualise the idea into  a product, it is important to analyse the business environment. For this SWOT Analysis can be done or other techniques for environmental scanning can be used.</a:t>
            </a:r>
          </a:p>
          <a:p>
            <a:pPr algn="just"/>
            <a:r>
              <a:rPr lang="en-IN" sz="2000" dirty="0"/>
              <a:t>Once the feasibility of the idea is checked, the new product development process moves the idea conceptualisation to the final stage of commercialisation.</a:t>
            </a:r>
          </a:p>
          <a:p>
            <a:endParaRPr lang="en-IN" dirty="0"/>
          </a:p>
        </p:txBody>
      </p:sp>
      <p:sp>
        <p:nvSpPr>
          <p:cNvPr id="4" name="Footer Placeholder 12">
            <a:extLst>
              <a:ext uri="{FF2B5EF4-FFF2-40B4-BE49-F238E27FC236}">
                <a16:creationId xmlns:a16="http://schemas.microsoft.com/office/drawing/2014/main" id="{34A1784D-8998-4D64-7B26-273B83AB2FC2}"/>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6" name="Title 1"/>
          <p:cNvSpPr txBox="1">
            <a:spLocks/>
          </p:cNvSpPr>
          <p:nvPr/>
        </p:nvSpPr>
        <p:spPr>
          <a:xfrm>
            <a:off x="1691680" y="14400"/>
            <a:ext cx="7350369" cy="98570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r>
              <a:rPr lang="en-IN" sz="3600" b="1" dirty="0">
                <a:latin typeface="Times New Roman" panose="02020603050405020304" pitchFamily="18" charset="0"/>
                <a:cs typeface="Times New Roman" panose="02020603050405020304" pitchFamily="18" charset="0"/>
              </a:rPr>
              <a:t>                       Recap</a:t>
            </a:r>
            <a:endParaRPr lang="en-US" sz="3600" b="1"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340768"/>
            <a:ext cx="8736246" cy="3908762"/>
          </a:xfrm>
          <a:prstGeom prst="rect">
            <a:avLst/>
          </a:prstGeom>
        </p:spPr>
        <p:txBody>
          <a:bodyPr wrap="square">
            <a:spAutoFit/>
          </a:bodyPr>
          <a:lstStyle/>
          <a:p>
            <a:r>
              <a:rPr lang="en-US" sz="2400" dirty="0"/>
              <a:t>					</a:t>
            </a:r>
          </a:p>
          <a:p>
            <a:pPr algn="just">
              <a:buNone/>
            </a:pPr>
            <a:r>
              <a:rPr lang="en-US" sz="2000" dirty="0"/>
              <a:t>1</a:t>
            </a:r>
            <a:r>
              <a:rPr lang="en-IN" sz="2000" dirty="0"/>
              <a:t>. Roy :Entrepreneurship, OUP </a:t>
            </a:r>
          </a:p>
          <a:p>
            <a:pPr algn="just">
              <a:buNone/>
            </a:pPr>
            <a:r>
              <a:rPr lang="en-IN" sz="2000" dirty="0"/>
              <a:t>2. Entrepreneurship 10th Ed (Indian Edition) 2016 by Robert </a:t>
            </a:r>
            <a:r>
              <a:rPr lang="en-IN" sz="2000" dirty="0" err="1"/>
              <a:t>Hisrich</a:t>
            </a:r>
            <a:r>
              <a:rPr lang="en-IN" sz="2000" dirty="0"/>
              <a:t> Michael Peters Dean Shepherd, McGraw Hill </a:t>
            </a:r>
          </a:p>
          <a:p>
            <a:pPr algn="just">
              <a:buNone/>
            </a:pPr>
            <a:r>
              <a:rPr lang="en-IN" sz="2000" dirty="0"/>
              <a:t>3. Khanka, S.S.; Entrepreneurial Development; S. Chand and Co.</a:t>
            </a:r>
          </a:p>
          <a:p>
            <a:pPr algn="just">
              <a:buNone/>
            </a:pPr>
            <a:r>
              <a:rPr lang="en-IN" sz="2000" dirty="0"/>
              <a:t> 4. Kumar, Arya; Entrepreneurship; Pearson Education. </a:t>
            </a:r>
          </a:p>
          <a:p>
            <a:pPr algn="just">
              <a:buNone/>
            </a:pPr>
            <a:r>
              <a:rPr lang="en-IN" sz="2000" dirty="0"/>
              <a:t>5.Desai, </a:t>
            </a:r>
            <a:r>
              <a:rPr lang="en-IN" sz="2000" dirty="0" err="1"/>
              <a:t>Vasant</a:t>
            </a:r>
            <a:r>
              <a:rPr lang="en-IN" sz="2000" dirty="0"/>
              <a:t>; Dynamics of Entrepreneurial Development and Management; Himalaya Publishing </a:t>
            </a:r>
          </a:p>
          <a:p>
            <a:pPr algn="just">
              <a:buNone/>
            </a:pPr>
            <a:r>
              <a:rPr lang="en-IN" sz="2000" dirty="0"/>
              <a:t>6. </a:t>
            </a:r>
            <a:r>
              <a:rPr lang="en-IN" sz="2000" dirty="0" err="1"/>
              <a:t>Blundel</a:t>
            </a:r>
            <a:r>
              <a:rPr lang="en-IN" sz="2000" dirty="0"/>
              <a:t>, R. and Lockett, N.; Exploring Entrepreneurship Practices and Perspectives; Oxford Publications. </a:t>
            </a:r>
          </a:p>
          <a:p>
            <a:pPr algn="just">
              <a:buNone/>
            </a:pPr>
            <a:r>
              <a:rPr lang="en-IN" sz="2000" dirty="0"/>
              <a:t>7. </a:t>
            </a:r>
            <a:r>
              <a:rPr lang="en-IN" sz="2000" dirty="0" err="1"/>
              <a:t>Dollinger</a:t>
            </a:r>
            <a:r>
              <a:rPr lang="en-IN" sz="2000" dirty="0"/>
              <a:t>, M. J.; Entrepreneurship: New Venture Creation; PHI Learning. </a:t>
            </a:r>
            <a:endParaRPr lang="en-US" sz="2000" dirty="0"/>
          </a:p>
          <a:p>
            <a:endParaRPr lang="en-US" sz="2400"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1028F1E1-903B-4EB9-9D55-E1AB5064AC43}" type="datetime1">
              <a:rPr lang="en-US" smtClean="0"/>
              <a:pPr/>
              <a:t>30-Aug-25</a:t>
            </a:fld>
            <a:endParaRPr lang="en-IN"/>
          </a:p>
        </p:txBody>
      </p:sp>
      <p:sp>
        <p:nvSpPr>
          <p:cNvPr id="6" name="Slide Number Placeholder 5"/>
          <p:cNvSpPr>
            <a:spLocks noGrp="1"/>
          </p:cNvSpPr>
          <p:nvPr>
            <p:ph type="sldNum" sz="quarter" idx="12"/>
          </p:nvPr>
        </p:nvSpPr>
        <p:spPr/>
        <p:txBody>
          <a:bodyPr/>
          <a:lstStyle/>
          <a:p>
            <a:fld id="{AE192DBD-906B-4248-9331-16A7E5426B5B}" type="slidenum">
              <a:rPr lang="en-IN" smtClean="0"/>
              <a:pPr/>
              <a:t>77</a:t>
            </a:fld>
            <a:endParaRPr lang="en-IN"/>
          </a:p>
        </p:txBody>
      </p:sp>
      <p:sp>
        <p:nvSpPr>
          <p:cNvPr id="12" name="Title 1"/>
          <p:cNvSpPr txBox="1">
            <a:spLocks/>
          </p:cNvSpPr>
          <p:nvPr/>
        </p:nvSpPr>
        <p:spPr>
          <a:xfrm>
            <a:off x="1547664" y="1"/>
            <a:ext cx="7560840" cy="692695"/>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3600" b="1" dirty="0">
                <a:latin typeface="Times New Roman" panose="02020603050405020304" pitchFamily="18" charset="0"/>
                <a:cs typeface="Times New Roman" panose="02020603050405020304" pitchFamily="18" charset="0"/>
              </a:rPr>
              <a:t>Reference</a:t>
            </a:r>
          </a:p>
        </p:txBody>
      </p:sp>
      <p:sp>
        <p:nvSpPr>
          <p:cNvPr id="5" name="Footer Placeholder 12">
            <a:extLst>
              <a:ext uri="{FF2B5EF4-FFF2-40B4-BE49-F238E27FC236}">
                <a16:creationId xmlns:a16="http://schemas.microsoft.com/office/drawing/2014/main" id="{B75EFBBB-87A9-41E2-C6F7-523606938F8B}"/>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26308373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179300-E4C4-423F-BA5F-4F4D056C120E}" type="datetime1">
              <a:rPr lang="en-US" smtClean="0"/>
              <a:pPr/>
              <a:t>30-Aug-25</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10" name="Rectangle 9"/>
          <p:cNvSpPr/>
          <p:nvPr/>
        </p:nvSpPr>
        <p:spPr>
          <a:xfrm>
            <a:off x="2928928" y="2428868"/>
            <a:ext cx="3148940" cy="923330"/>
          </a:xfrm>
          <a:prstGeom prst="rect">
            <a:avLst/>
          </a:prstGeom>
          <a:noFill/>
        </p:spPr>
        <p:txBody>
          <a:bodyPr wrap="none" lIns="91440" tIns="45720" rIns="91440" bIns="45720">
            <a:spAutoFit/>
          </a:bodyPr>
          <a:lstStyle/>
          <a:p>
            <a:pPr algn="ctr"/>
            <a:r>
              <a:rPr lang="en-U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2" name="Footer Placeholder 12">
            <a:extLst>
              <a:ext uri="{FF2B5EF4-FFF2-40B4-BE49-F238E27FC236}">
                <a16:creationId xmlns:a16="http://schemas.microsoft.com/office/drawing/2014/main" id="{E29E42AD-0751-8D6D-AB19-DC377C6E0325}"/>
              </a:ext>
            </a:extLst>
          </p:cNvPr>
          <p:cNvSpPr txBox="1">
            <a:spLocks/>
          </p:cNvSpPr>
          <p:nvPr/>
        </p:nvSpPr>
        <p:spPr>
          <a:xfrm>
            <a:off x="2362200" y="6248402"/>
            <a:ext cx="4946104"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dirty="0" err="1"/>
              <a:t>Mohd</a:t>
            </a:r>
            <a:r>
              <a:rPr lang="en-US" sz="1400" dirty="0"/>
              <a:t> Zaid                                AOE0771             </a:t>
            </a:r>
          </a:p>
        </p:txBody>
      </p:sp>
      <p:sp>
        <p:nvSpPr>
          <p:cNvPr id="7" name="Rectangle 6">
            <a:extLst>
              <a:ext uri="{FF2B5EF4-FFF2-40B4-BE49-F238E27FC236}">
                <a16:creationId xmlns:a16="http://schemas.microsoft.com/office/drawing/2014/main" id="{731A936F-F269-359D-A45A-2FFA91880636}"/>
              </a:ext>
            </a:extLst>
          </p:cNvPr>
          <p:cNvSpPr/>
          <p:nvPr/>
        </p:nvSpPr>
        <p:spPr>
          <a:xfrm>
            <a:off x="0" y="6117996"/>
            <a:ext cx="9144000" cy="584462"/>
          </a:xfrm>
          <a:prstGeom prst="rect">
            <a:avLst/>
          </a:prstGeom>
          <a:solidFill>
            <a:srgbClr val="F9B4B6"/>
          </a:solidFill>
          <a:ln>
            <a:solidFill>
              <a:srgbClr val="FF0000"/>
            </a:solidFill>
          </a:ln>
        </p:spPr>
        <p:style>
          <a:lnRef idx="1">
            <a:schemeClr val="accent2"/>
          </a:lnRef>
          <a:fillRef idx="2">
            <a:schemeClr val="accent2"/>
          </a:fillRef>
          <a:effectRef idx="1">
            <a:schemeClr val="accent2"/>
          </a:effectRef>
          <a:fontRef idx="minor">
            <a:schemeClr val="dk1"/>
          </a:fontRef>
        </p:style>
        <p:txBody>
          <a:bodyPr rtlCol="0" anchor="ctr"/>
          <a:lstStyle/>
          <a:p>
            <a:r>
              <a:rPr lang="en-IN" sz="1400" dirty="0"/>
              <a:t>Subject: </a:t>
            </a:r>
            <a:r>
              <a:rPr lang="en-IN" sz="1400" b="1" dirty="0">
                <a:solidFill>
                  <a:srgbClr val="383A3C"/>
                </a:solidFill>
                <a:latin typeface="Times New Roman" panose="02020603050405020304" pitchFamily="18" charset="0"/>
                <a:cs typeface="Times New Roman" panose="02020603050405020304" pitchFamily="18" charset="0"/>
              </a:rPr>
              <a:t>Entrepreneurship Development &amp; Intellectual Property Rights</a:t>
            </a:r>
            <a:r>
              <a:rPr lang="en-IN" sz="1400" dirty="0"/>
              <a:t>                                                     By : Alok Raj </a:t>
            </a:r>
          </a:p>
        </p:txBody>
      </p:sp>
    </p:spTree>
    <p:extLst>
      <p:ext uri="{BB962C8B-B14F-4D97-AF65-F5344CB8AC3E}">
        <p14:creationId xmlns:p14="http://schemas.microsoft.com/office/powerpoint/2010/main" val="3239437654"/>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0187066428A84AA199CDA19E92ECF8" ma:contentTypeVersion="4" ma:contentTypeDescription="Create a new document." ma:contentTypeScope="" ma:versionID="47d9d770b6219f473c408660f71b854f">
  <xsd:schema xmlns:xsd="http://www.w3.org/2001/XMLSchema" xmlns:xs="http://www.w3.org/2001/XMLSchema" xmlns:p="http://schemas.microsoft.com/office/2006/metadata/properties" xmlns:ns2="d430450e-e793-48af-aeea-b7d63c4a8d9f" targetNamespace="http://schemas.microsoft.com/office/2006/metadata/properties" ma:root="true" ma:fieldsID="1c70a0067056082de9938516d0ca8d84" ns2:_="">
    <xsd:import namespace="d430450e-e793-48af-aeea-b7d63c4a8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0450e-e793-48af-aeea-b7d63c4a8d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A554CF7-34B0-439D-90CC-B95E4F444F6F}">
  <ds:schemaRefs>
    <ds:schemaRef ds:uri="http://schemas.microsoft.com/office/2006/metadata/contentType"/>
    <ds:schemaRef ds:uri="http://schemas.microsoft.com/office/2006/metadata/properties/metaAttributes"/>
    <ds:schemaRef ds:uri="http://www.w3.org/2000/xmlns/"/>
    <ds:schemaRef ds:uri="http://www.w3.org/2001/XMLSchema"/>
    <ds:schemaRef ds:uri="d430450e-e793-48af-aeea-b7d63c4a8d9f"/>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F504153-A88F-48F2-A2B2-C4A4159B36E5}">
  <ds:schemaRefs>
    <ds:schemaRef ds:uri="http://schemas.microsoft.com/sharepoint/v3/contenttype/forms"/>
  </ds:schemaRefs>
</ds:datastoreItem>
</file>

<file path=customXml/itemProps3.xml><?xml version="1.0" encoding="utf-8"?>
<ds:datastoreItem xmlns:ds="http://schemas.openxmlformats.org/officeDocument/2006/customXml" ds:itemID="{3A1F2854-514C-4929-ACB1-20C7BE4C2515}">
  <ds:schemaRefs>
    <ds:schemaRef ds:uri="http://schemas.microsoft.com/office/2006/metadata/properties"/>
    <ds:schemaRef ds:uri="http://www.w3.org/2000/xmln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33379</TotalTime>
  <Words>6335</Words>
  <Application>Microsoft Office PowerPoint</Application>
  <PresentationFormat>On-screen Show (4:3)</PresentationFormat>
  <Paragraphs>913</Paragraphs>
  <Slides>78</Slides>
  <Notes>11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78</vt:i4>
      </vt:variant>
    </vt:vector>
  </HeadingPairs>
  <TitlesOfParts>
    <vt:vector size="88" baseType="lpstr">
      <vt:lpstr>Arial</vt:lpstr>
      <vt:lpstr>Calibri</vt:lpstr>
      <vt:lpstr>Calibri Light</vt:lpstr>
      <vt:lpstr>Segoe UI</vt:lpstr>
      <vt:lpstr>Söhne</vt:lpstr>
      <vt:lpstr>Symbol</vt:lpstr>
      <vt:lpstr>Tahoma</vt:lpstr>
      <vt:lpstr>Times New Roman</vt:lpstr>
      <vt:lpstr>Office Theme</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 of the unit</vt:lpstr>
      <vt:lpstr>PowerPoint Presentation</vt:lpstr>
      <vt:lpstr>PowerPoint Presentation</vt:lpstr>
      <vt:lpstr>ENTREPRENEUR</vt:lpstr>
      <vt:lpstr>PowerPoint Presentation</vt:lpstr>
      <vt:lpstr>6Cs that motivate entrepreneurs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FABIAN ENTREPRENEURS</vt:lpstr>
      <vt:lpstr>DRONE ENTREPRENEURS</vt:lpstr>
      <vt:lpstr>COLE’S CLASSIFICATION</vt:lpstr>
      <vt:lpstr>PowerPoint Presentation</vt:lpstr>
      <vt:lpstr>PowerPoint Presentation</vt:lpstr>
      <vt:lpstr>PowerPoint Presentation</vt:lpstr>
      <vt:lpstr> ON THE BASIS OF TYPE OF BUSINESS</vt:lpstr>
      <vt:lpstr>PowerPoint Presentation</vt:lpstr>
      <vt:lpstr>ON THE BASIS OF USE OF TECHNOLOGY</vt:lpstr>
      <vt:lpstr>Professional Entrepreneur</vt:lpstr>
      <vt:lpstr>ON THE BASIS OF MOTIVATION</vt:lpstr>
      <vt:lpstr>ON THE BASIS OF MOTIVATION</vt:lpstr>
      <vt:lpstr>ON THE BASIS OF MOTIVATION</vt:lpstr>
      <vt:lpstr>ON THE BASIS OF ENTREPRENEURIAL  ACTIVITY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Mr. Alok Raj</cp:lastModifiedBy>
  <cp:revision>293</cp:revision>
  <dcterms:created xsi:type="dcterms:W3CDTF">2006-08-16T00:00:00Z</dcterms:created>
  <dcterms:modified xsi:type="dcterms:W3CDTF">2025-08-30T14:47:04Z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0x0101008F0187066428A84AA199CDA19E92ECF8</vt:lpwstr>
  </property>
</Properties>
</file>