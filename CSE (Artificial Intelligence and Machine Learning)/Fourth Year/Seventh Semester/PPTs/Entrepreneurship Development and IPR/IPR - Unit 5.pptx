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9"/>
  </p:notesMasterIdLst>
  <p:sldIdLst>
    <p:sldId id="260" r:id="rId5"/>
    <p:sldId id="677" r:id="rId6"/>
    <p:sldId id="395" r:id="rId7"/>
    <p:sldId id="270" r:id="rId8"/>
    <p:sldId id="271" r:id="rId9"/>
    <p:sldId id="272" r:id="rId10"/>
    <p:sldId id="273" r:id="rId11"/>
    <p:sldId id="274" r:id="rId12"/>
    <p:sldId id="275" r:id="rId13"/>
    <p:sldId id="398" r:id="rId14"/>
    <p:sldId id="276" r:id="rId15"/>
    <p:sldId id="277" r:id="rId16"/>
    <p:sldId id="278" r:id="rId17"/>
    <p:sldId id="279" r:id="rId18"/>
    <p:sldId id="281" r:id="rId19"/>
    <p:sldId id="282" r:id="rId20"/>
    <p:sldId id="401" r:id="rId21"/>
    <p:sldId id="402" r:id="rId22"/>
    <p:sldId id="283" r:id="rId23"/>
    <p:sldId id="284"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5" r:id="rId42"/>
    <p:sldId id="306" r:id="rId43"/>
    <p:sldId id="307" r:id="rId44"/>
    <p:sldId id="404" r:id="rId45"/>
    <p:sldId id="415" r:id="rId46"/>
    <p:sldId id="308" r:id="rId47"/>
    <p:sldId id="405" r:id="rId48"/>
    <p:sldId id="406" r:id="rId49"/>
    <p:sldId id="407" r:id="rId50"/>
    <p:sldId id="408" r:id="rId51"/>
    <p:sldId id="409" r:id="rId52"/>
    <p:sldId id="411" r:id="rId53"/>
    <p:sldId id="412" r:id="rId54"/>
    <p:sldId id="413" r:id="rId55"/>
    <p:sldId id="414" r:id="rId56"/>
    <p:sldId id="416" r:id="rId57"/>
    <p:sldId id="417" r:id="rId58"/>
    <p:sldId id="418" r:id="rId59"/>
    <p:sldId id="419" r:id="rId60"/>
    <p:sldId id="420" r:id="rId61"/>
    <p:sldId id="421" r:id="rId62"/>
    <p:sldId id="422" r:id="rId63"/>
    <p:sldId id="423" r:id="rId64"/>
    <p:sldId id="424" r:id="rId65"/>
    <p:sldId id="425" r:id="rId66"/>
    <p:sldId id="426" r:id="rId67"/>
    <p:sldId id="410"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B4B6"/>
    <a:srgbClr val="FF7C80"/>
    <a:srgbClr val="F9B4B6"/>
    <a:srgbClr val="D4222A"/>
    <a:srgbClr val="CC33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566"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96CB2-9A81-46A7-8EF4-32C46FBEACFA}" type="datetimeFigureOut">
              <a:rPr lang="en-IN" smtClean="0"/>
              <a:pPr/>
              <a:t>01-09-2025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F8D896-5291-4AA0-B018-BFBF04A0C3A3}" type="slidenum">
              <a:rPr lang="en-IN" smtClean="0"/>
              <a:pPr/>
              <a:t>‹#›</a:t>
            </a:fld>
            <a:endParaRPr lang="en-IN"/>
          </a:p>
        </p:txBody>
      </p:sp>
    </p:spTree>
    <p:extLst>
      <p:ext uri="{BB962C8B-B14F-4D97-AF65-F5344CB8AC3E}">
        <p14:creationId xmlns:p14="http://schemas.microsoft.com/office/powerpoint/2010/main" val="1113537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889F7-12F5-6C54-FD8F-38FFE80179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D738CBE-3E16-5FEB-BD7B-B7D086665F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A7F551-D7C6-26A1-A259-AD7AA8F60328}"/>
              </a:ext>
            </a:extLst>
          </p:cNvPr>
          <p:cNvSpPr>
            <a:spLocks noGrp="1"/>
          </p:cNvSpPr>
          <p:nvPr>
            <p:ph type="dt" sz="half" idx="10"/>
          </p:nvPr>
        </p:nvSpPr>
        <p:spPr/>
        <p:txBody>
          <a:bodyPr/>
          <a:lstStyle/>
          <a:p>
            <a:fld id="{1A1DECAD-C7C4-46C9-A12A-A8FC4D84DC3B}" type="datetime1">
              <a:rPr lang="en-IN" smtClean="0"/>
              <a:pPr/>
              <a:t>01-09-2025</a:t>
            </a:fld>
            <a:endParaRPr lang="en-IN"/>
          </a:p>
        </p:txBody>
      </p:sp>
      <p:sp>
        <p:nvSpPr>
          <p:cNvPr id="5" name="Footer Placeholder 4">
            <a:extLst>
              <a:ext uri="{FF2B5EF4-FFF2-40B4-BE49-F238E27FC236}">
                <a16:creationId xmlns:a16="http://schemas.microsoft.com/office/drawing/2014/main" id="{4CFBB7D8-7BB8-E6B4-48A8-D51CEDE2B6A3}"/>
              </a:ext>
            </a:extLst>
          </p:cNvPr>
          <p:cNvSpPr>
            <a:spLocks noGrp="1"/>
          </p:cNvSpPr>
          <p:nvPr>
            <p:ph type="ftr" sz="quarter" idx="11"/>
          </p:nvPr>
        </p:nvSpPr>
        <p:spPr/>
        <p:txBody>
          <a:bodyPr/>
          <a:lstStyle/>
          <a:p>
            <a:r>
              <a:rPr lang="en-US"/>
              <a:t>By: Shruti Mittal</a:t>
            </a:r>
            <a:endParaRPr lang="en-IN"/>
          </a:p>
        </p:txBody>
      </p:sp>
      <p:sp>
        <p:nvSpPr>
          <p:cNvPr id="6" name="Slide Number Placeholder 5">
            <a:extLst>
              <a:ext uri="{FF2B5EF4-FFF2-40B4-BE49-F238E27FC236}">
                <a16:creationId xmlns:a16="http://schemas.microsoft.com/office/drawing/2014/main" id="{4C7137DE-299E-3217-924E-E02A354ABA40}"/>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80426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9BE0D-FA2E-D5F9-E890-BEB62861FD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6F7937-CB84-864B-9A81-35FD0F4EF1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54D8DF-289A-97F8-3DD3-1430716E9307}"/>
              </a:ext>
            </a:extLst>
          </p:cNvPr>
          <p:cNvSpPr>
            <a:spLocks noGrp="1"/>
          </p:cNvSpPr>
          <p:nvPr>
            <p:ph type="dt" sz="half" idx="10"/>
          </p:nvPr>
        </p:nvSpPr>
        <p:spPr/>
        <p:txBody>
          <a:bodyPr/>
          <a:lstStyle/>
          <a:p>
            <a:fld id="{4C769393-8141-4048-9317-F3696ECAA64D}" type="datetime1">
              <a:rPr lang="en-IN" smtClean="0"/>
              <a:pPr/>
              <a:t>01-09-2025</a:t>
            </a:fld>
            <a:endParaRPr lang="en-IN"/>
          </a:p>
        </p:txBody>
      </p:sp>
      <p:sp>
        <p:nvSpPr>
          <p:cNvPr id="5" name="Footer Placeholder 4">
            <a:extLst>
              <a:ext uri="{FF2B5EF4-FFF2-40B4-BE49-F238E27FC236}">
                <a16:creationId xmlns:a16="http://schemas.microsoft.com/office/drawing/2014/main" id="{1A2E84C6-F611-DB88-F736-650E2347F310}"/>
              </a:ext>
            </a:extLst>
          </p:cNvPr>
          <p:cNvSpPr>
            <a:spLocks noGrp="1"/>
          </p:cNvSpPr>
          <p:nvPr>
            <p:ph type="ftr" sz="quarter" idx="11"/>
          </p:nvPr>
        </p:nvSpPr>
        <p:spPr/>
        <p:txBody>
          <a:bodyPr/>
          <a:lstStyle/>
          <a:p>
            <a:r>
              <a:rPr lang="en-US"/>
              <a:t>By: </a:t>
            </a:r>
            <a:r>
              <a:rPr lang="en-US" err="1"/>
              <a:t>Kshitij</a:t>
            </a:r>
            <a:r>
              <a:rPr lang="en-US"/>
              <a:t> Chandra </a:t>
            </a:r>
            <a:endParaRPr lang="en-IN"/>
          </a:p>
        </p:txBody>
      </p:sp>
      <p:sp>
        <p:nvSpPr>
          <p:cNvPr id="6" name="Slide Number Placeholder 5">
            <a:extLst>
              <a:ext uri="{FF2B5EF4-FFF2-40B4-BE49-F238E27FC236}">
                <a16:creationId xmlns:a16="http://schemas.microsoft.com/office/drawing/2014/main" id="{A043F25F-1BC0-52A3-5717-2DB321FA9A78}"/>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3997904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AB6FF-7AE5-BA59-9200-69981038BF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94934A4-84E6-FBFF-7233-E257559637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8E5D69-E5C5-AF1F-E208-D21C455505B5}"/>
              </a:ext>
            </a:extLst>
          </p:cNvPr>
          <p:cNvSpPr>
            <a:spLocks noGrp="1"/>
          </p:cNvSpPr>
          <p:nvPr>
            <p:ph type="dt" sz="half" idx="10"/>
          </p:nvPr>
        </p:nvSpPr>
        <p:spPr/>
        <p:txBody>
          <a:bodyPr/>
          <a:lstStyle/>
          <a:p>
            <a:fld id="{3A30ACE0-AB07-4389-B2FF-6A08E83FF5EE}" type="datetime1">
              <a:rPr lang="en-IN" smtClean="0"/>
              <a:pPr/>
              <a:t>01-09-2025</a:t>
            </a:fld>
            <a:endParaRPr lang="en-IN"/>
          </a:p>
        </p:txBody>
      </p:sp>
      <p:sp>
        <p:nvSpPr>
          <p:cNvPr id="5" name="Footer Placeholder 4">
            <a:extLst>
              <a:ext uri="{FF2B5EF4-FFF2-40B4-BE49-F238E27FC236}">
                <a16:creationId xmlns:a16="http://schemas.microsoft.com/office/drawing/2014/main" id="{C52231D6-7C45-0531-B0AB-2699456B195C}"/>
              </a:ext>
            </a:extLst>
          </p:cNvPr>
          <p:cNvSpPr>
            <a:spLocks noGrp="1"/>
          </p:cNvSpPr>
          <p:nvPr>
            <p:ph type="ftr" sz="quarter" idx="11"/>
          </p:nvPr>
        </p:nvSpPr>
        <p:spPr/>
        <p:txBody>
          <a:bodyPr/>
          <a:lstStyle/>
          <a:p>
            <a:r>
              <a:rPr lang="en-US"/>
              <a:t>By: Shruti Mittal</a:t>
            </a:r>
            <a:endParaRPr lang="en-IN"/>
          </a:p>
        </p:txBody>
      </p:sp>
      <p:sp>
        <p:nvSpPr>
          <p:cNvPr id="6" name="Slide Number Placeholder 5">
            <a:extLst>
              <a:ext uri="{FF2B5EF4-FFF2-40B4-BE49-F238E27FC236}">
                <a16:creationId xmlns:a16="http://schemas.microsoft.com/office/drawing/2014/main" id="{D893A639-38BD-EF50-5894-EF9C899C8E5E}"/>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2580840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B96C2-4B51-0F8B-78B4-13B95AE1DC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9B63AF-EE3D-6203-EF20-8597B57674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87D8FC-913D-6563-2E43-BBFED71F47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AA6E88-9A34-77E1-1EDC-0B91CC496F93}"/>
              </a:ext>
            </a:extLst>
          </p:cNvPr>
          <p:cNvSpPr>
            <a:spLocks noGrp="1"/>
          </p:cNvSpPr>
          <p:nvPr>
            <p:ph type="dt" sz="half" idx="10"/>
          </p:nvPr>
        </p:nvSpPr>
        <p:spPr/>
        <p:txBody>
          <a:bodyPr/>
          <a:lstStyle/>
          <a:p>
            <a:fld id="{C00E971B-DFE4-4E1C-B22D-ACB335553F54}" type="datetime1">
              <a:rPr lang="en-IN" smtClean="0"/>
              <a:pPr/>
              <a:t>01-09-2025</a:t>
            </a:fld>
            <a:endParaRPr lang="en-IN"/>
          </a:p>
        </p:txBody>
      </p:sp>
      <p:sp>
        <p:nvSpPr>
          <p:cNvPr id="6" name="Footer Placeholder 5">
            <a:extLst>
              <a:ext uri="{FF2B5EF4-FFF2-40B4-BE49-F238E27FC236}">
                <a16:creationId xmlns:a16="http://schemas.microsoft.com/office/drawing/2014/main" id="{A2BCA93C-C137-336F-82A7-122352CE53CE}"/>
              </a:ext>
            </a:extLst>
          </p:cNvPr>
          <p:cNvSpPr>
            <a:spLocks noGrp="1"/>
          </p:cNvSpPr>
          <p:nvPr>
            <p:ph type="ftr" sz="quarter" idx="11"/>
          </p:nvPr>
        </p:nvSpPr>
        <p:spPr/>
        <p:txBody>
          <a:bodyPr/>
          <a:lstStyle/>
          <a:p>
            <a:r>
              <a:rPr lang="en-US"/>
              <a:t>By: Shruti Mittal</a:t>
            </a:r>
            <a:endParaRPr lang="en-IN"/>
          </a:p>
        </p:txBody>
      </p:sp>
      <p:sp>
        <p:nvSpPr>
          <p:cNvPr id="7" name="Slide Number Placeholder 6">
            <a:extLst>
              <a:ext uri="{FF2B5EF4-FFF2-40B4-BE49-F238E27FC236}">
                <a16:creationId xmlns:a16="http://schemas.microsoft.com/office/drawing/2014/main" id="{CB233FF1-E640-56A0-439A-CA8605C5F72D}"/>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1828823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937EB-AE58-779A-6BFB-2F7F12879DF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E0F378-C380-AA32-0EC6-A5A626AF95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DEDD87-F656-490A-7FEB-87D3E43DE2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A45826-846C-7352-595B-6D4243B7CF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E34AA9-148F-A37D-78AE-CFACFC7BE2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F9F05C3-115B-8228-EE1E-66DD511E07C7}"/>
              </a:ext>
            </a:extLst>
          </p:cNvPr>
          <p:cNvSpPr>
            <a:spLocks noGrp="1"/>
          </p:cNvSpPr>
          <p:nvPr>
            <p:ph type="dt" sz="half" idx="10"/>
          </p:nvPr>
        </p:nvSpPr>
        <p:spPr/>
        <p:txBody>
          <a:bodyPr/>
          <a:lstStyle/>
          <a:p>
            <a:fld id="{365ED68C-1107-40E7-89D1-6A2FA5F9F13D}" type="datetime1">
              <a:rPr lang="en-IN" smtClean="0"/>
              <a:pPr/>
              <a:t>01-09-2025</a:t>
            </a:fld>
            <a:endParaRPr lang="en-IN"/>
          </a:p>
        </p:txBody>
      </p:sp>
      <p:sp>
        <p:nvSpPr>
          <p:cNvPr id="8" name="Footer Placeholder 7">
            <a:extLst>
              <a:ext uri="{FF2B5EF4-FFF2-40B4-BE49-F238E27FC236}">
                <a16:creationId xmlns:a16="http://schemas.microsoft.com/office/drawing/2014/main" id="{FC048AD3-BE2B-5DA0-D5C1-0BCA4C5C7CB1}"/>
              </a:ext>
            </a:extLst>
          </p:cNvPr>
          <p:cNvSpPr>
            <a:spLocks noGrp="1"/>
          </p:cNvSpPr>
          <p:nvPr>
            <p:ph type="ftr" sz="quarter" idx="11"/>
          </p:nvPr>
        </p:nvSpPr>
        <p:spPr/>
        <p:txBody>
          <a:bodyPr/>
          <a:lstStyle/>
          <a:p>
            <a:r>
              <a:rPr lang="en-US"/>
              <a:t>By: Shruti Mittal</a:t>
            </a:r>
            <a:endParaRPr lang="en-IN"/>
          </a:p>
        </p:txBody>
      </p:sp>
      <p:sp>
        <p:nvSpPr>
          <p:cNvPr id="9" name="Slide Number Placeholder 8">
            <a:extLst>
              <a:ext uri="{FF2B5EF4-FFF2-40B4-BE49-F238E27FC236}">
                <a16:creationId xmlns:a16="http://schemas.microsoft.com/office/drawing/2014/main" id="{D830909F-BFE2-6F29-DE41-C44F2F6DBBFD}"/>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2477777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7D023-9788-C50A-A95E-1A0D7137B46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3DC353-926A-A559-5920-5F30D54C001E}"/>
              </a:ext>
            </a:extLst>
          </p:cNvPr>
          <p:cNvSpPr>
            <a:spLocks noGrp="1"/>
          </p:cNvSpPr>
          <p:nvPr>
            <p:ph type="dt" sz="half" idx="10"/>
          </p:nvPr>
        </p:nvSpPr>
        <p:spPr/>
        <p:txBody>
          <a:bodyPr/>
          <a:lstStyle/>
          <a:p>
            <a:fld id="{A377C313-5D3D-469B-817E-FC77BA36DFE7}" type="datetime1">
              <a:rPr lang="en-IN" smtClean="0"/>
              <a:pPr/>
              <a:t>01-09-2025</a:t>
            </a:fld>
            <a:endParaRPr lang="en-IN"/>
          </a:p>
        </p:txBody>
      </p:sp>
      <p:sp>
        <p:nvSpPr>
          <p:cNvPr id="4" name="Footer Placeholder 3">
            <a:extLst>
              <a:ext uri="{FF2B5EF4-FFF2-40B4-BE49-F238E27FC236}">
                <a16:creationId xmlns:a16="http://schemas.microsoft.com/office/drawing/2014/main" id="{F9021ED3-8E44-0290-5125-92D1C0B8BE2E}"/>
              </a:ext>
            </a:extLst>
          </p:cNvPr>
          <p:cNvSpPr>
            <a:spLocks noGrp="1"/>
          </p:cNvSpPr>
          <p:nvPr>
            <p:ph type="ftr" sz="quarter" idx="11"/>
          </p:nvPr>
        </p:nvSpPr>
        <p:spPr/>
        <p:txBody>
          <a:bodyPr/>
          <a:lstStyle/>
          <a:p>
            <a:r>
              <a:rPr lang="en-US"/>
              <a:t>By: Shruti Mittal</a:t>
            </a:r>
            <a:endParaRPr lang="en-IN"/>
          </a:p>
        </p:txBody>
      </p:sp>
      <p:sp>
        <p:nvSpPr>
          <p:cNvPr id="5" name="Slide Number Placeholder 4">
            <a:extLst>
              <a:ext uri="{FF2B5EF4-FFF2-40B4-BE49-F238E27FC236}">
                <a16:creationId xmlns:a16="http://schemas.microsoft.com/office/drawing/2014/main" id="{75CE6C38-CCC5-7726-DDB1-92727F45974C}"/>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131884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0434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76D67-87D9-40D2-E5F6-6CF0192152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17A30B8-8A1C-C521-F186-BB2DC65CE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86F1BD9-9017-1B6F-8FB6-D7B1B32C48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84C180-DE77-5D50-24AF-B38AD5797887}"/>
              </a:ext>
            </a:extLst>
          </p:cNvPr>
          <p:cNvSpPr>
            <a:spLocks noGrp="1"/>
          </p:cNvSpPr>
          <p:nvPr>
            <p:ph type="dt" sz="half" idx="10"/>
          </p:nvPr>
        </p:nvSpPr>
        <p:spPr/>
        <p:txBody>
          <a:bodyPr/>
          <a:lstStyle/>
          <a:p>
            <a:fld id="{805F390F-18E7-4D71-B6CC-3198CC49CB3D}" type="datetime1">
              <a:rPr lang="en-IN" smtClean="0"/>
              <a:pPr/>
              <a:t>01-09-2025</a:t>
            </a:fld>
            <a:endParaRPr lang="en-IN"/>
          </a:p>
        </p:txBody>
      </p:sp>
      <p:sp>
        <p:nvSpPr>
          <p:cNvPr id="6" name="Footer Placeholder 5">
            <a:extLst>
              <a:ext uri="{FF2B5EF4-FFF2-40B4-BE49-F238E27FC236}">
                <a16:creationId xmlns:a16="http://schemas.microsoft.com/office/drawing/2014/main" id="{26874CFC-6D8F-F31A-06F0-D470A24353C1}"/>
              </a:ext>
            </a:extLst>
          </p:cNvPr>
          <p:cNvSpPr>
            <a:spLocks noGrp="1"/>
          </p:cNvSpPr>
          <p:nvPr>
            <p:ph type="ftr" sz="quarter" idx="11"/>
          </p:nvPr>
        </p:nvSpPr>
        <p:spPr/>
        <p:txBody>
          <a:bodyPr/>
          <a:lstStyle/>
          <a:p>
            <a:r>
              <a:rPr lang="en-US"/>
              <a:t>By: Shruti Mittal</a:t>
            </a:r>
            <a:endParaRPr lang="en-IN"/>
          </a:p>
        </p:txBody>
      </p:sp>
      <p:sp>
        <p:nvSpPr>
          <p:cNvPr id="7" name="Slide Number Placeholder 6">
            <a:extLst>
              <a:ext uri="{FF2B5EF4-FFF2-40B4-BE49-F238E27FC236}">
                <a16:creationId xmlns:a16="http://schemas.microsoft.com/office/drawing/2014/main" id="{536B5AC3-E9F6-C9F8-8BB2-C490E53828B1}"/>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10815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87032-6CE6-A161-AAC0-5B956635D7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F07EF9-E68C-883C-BE9F-033F2E4AF3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C52CFA0-2F19-2F1F-5421-896D83F760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07197E-F7B7-1D1B-CACA-9F6115F45091}"/>
              </a:ext>
            </a:extLst>
          </p:cNvPr>
          <p:cNvSpPr>
            <a:spLocks noGrp="1"/>
          </p:cNvSpPr>
          <p:nvPr>
            <p:ph type="dt" sz="half" idx="10"/>
          </p:nvPr>
        </p:nvSpPr>
        <p:spPr/>
        <p:txBody>
          <a:bodyPr/>
          <a:lstStyle/>
          <a:p>
            <a:fld id="{FACA71C6-BB7C-41A1-911C-22ED385EF1AE}" type="datetime1">
              <a:rPr lang="en-IN" smtClean="0"/>
              <a:pPr/>
              <a:t>01-09-2025</a:t>
            </a:fld>
            <a:endParaRPr lang="en-IN"/>
          </a:p>
        </p:txBody>
      </p:sp>
      <p:sp>
        <p:nvSpPr>
          <p:cNvPr id="6" name="Footer Placeholder 5">
            <a:extLst>
              <a:ext uri="{FF2B5EF4-FFF2-40B4-BE49-F238E27FC236}">
                <a16:creationId xmlns:a16="http://schemas.microsoft.com/office/drawing/2014/main" id="{027138A2-BC2F-B6F4-38AA-10712515D68F}"/>
              </a:ext>
            </a:extLst>
          </p:cNvPr>
          <p:cNvSpPr>
            <a:spLocks noGrp="1"/>
          </p:cNvSpPr>
          <p:nvPr>
            <p:ph type="ftr" sz="quarter" idx="11"/>
          </p:nvPr>
        </p:nvSpPr>
        <p:spPr/>
        <p:txBody>
          <a:bodyPr/>
          <a:lstStyle/>
          <a:p>
            <a:r>
              <a:rPr lang="en-US"/>
              <a:t>By: Shruti Mittal</a:t>
            </a:r>
            <a:endParaRPr lang="en-IN"/>
          </a:p>
        </p:txBody>
      </p:sp>
      <p:sp>
        <p:nvSpPr>
          <p:cNvPr id="7" name="Slide Number Placeholder 6">
            <a:extLst>
              <a:ext uri="{FF2B5EF4-FFF2-40B4-BE49-F238E27FC236}">
                <a16:creationId xmlns:a16="http://schemas.microsoft.com/office/drawing/2014/main" id="{43CC4C4A-5327-C35E-B490-E5CA7830D48C}"/>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277022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7829D-531B-BF2C-AD10-4A2A03DC80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CFE00C-B086-5217-96BC-C3FF1BF20C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6EA275-F741-967D-C864-2E7CDC4BF814}"/>
              </a:ext>
            </a:extLst>
          </p:cNvPr>
          <p:cNvSpPr>
            <a:spLocks noGrp="1"/>
          </p:cNvSpPr>
          <p:nvPr>
            <p:ph type="dt" sz="half" idx="10"/>
          </p:nvPr>
        </p:nvSpPr>
        <p:spPr/>
        <p:txBody>
          <a:bodyPr/>
          <a:lstStyle/>
          <a:p>
            <a:fld id="{C2BB002E-6ED1-4876-B986-6F4E3AC44714}" type="datetime1">
              <a:rPr lang="en-IN" smtClean="0"/>
              <a:pPr/>
              <a:t>01-09-2025</a:t>
            </a:fld>
            <a:endParaRPr lang="en-IN"/>
          </a:p>
        </p:txBody>
      </p:sp>
      <p:sp>
        <p:nvSpPr>
          <p:cNvPr id="5" name="Footer Placeholder 4">
            <a:extLst>
              <a:ext uri="{FF2B5EF4-FFF2-40B4-BE49-F238E27FC236}">
                <a16:creationId xmlns:a16="http://schemas.microsoft.com/office/drawing/2014/main" id="{F4247795-EF26-3CB1-9BA0-CB5AA7BB2ABA}"/>
              </a:ext>
            </a:extLst>
          </p:cNvPr>
          <p:cNvSpPr>
            <a:spLocks noGrp="1"/>
          </p:cNvSpPr>
          <p:nvPr>
            <p:ph type="ftr" sz="quarter" idx="11"/>
          </p:nvPr>
        </p:nvSpPr>
        <p:spPr/>
        <p:txBody>
          <a:bodyPr/>
          <a:lstStyle/>
          <a:p>
            <a:r>
              <a:rPr lang="en-US"/>
              <a:t>By: Shruti Mittal</a:t>
            </a:r>
            <a:endParaRPr lang="en-IN"/>
          </a:p>
        </p:txBody>
      </p:sp>
      <p:sp>
        <p:nvSpPr>
          <p:cNvPr id="6" name="Slide Number Placeholder 5">
            <a:extLst>
              <a:ext uri="{FF2B5EF4-FFF2-40B4-BE49-F238E27FC236}">
                <a16:creationId xmlns:a16="http://schemas.microsoft.com/office/drawing/2014/main" id="{87439702-91E5-4999-2C90-018A3EDA18B3}"/>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1419002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A8AA66-A93E-934B-1BA3-848515700A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1381D5-94DD-D259-A00F-FD60073DFF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A060E4-52EA-04BE-0BEA-9682245E0F0B}"/>
              </a:ext>
            </a:extLst>
          </p:cNvPr>
          <p:cNvSpPr>
            <a:spLocks noGrp="1"/>
          </p:cNvSpPr>
          <p:nvPr>
            <p:ph type="dt" sz="half" idx="10"/>
          </p:nvPr>
        </p:nvSpPr>
        <p:spPr/>
        <p:txBody>
          <a:bodyPr/>
          <a:lstStyle/>
          <a:p>
            <a:fld id="{93D0110B-9435-4A96-8D82-CB0720ACF40F}" type="datetime1">
              <a:rPr lang="en-IN" smtClean="0"/>
              <a:pPr/>
              <a:t>01-09-2025</a:t>
            </a:fld>
            <a:endParaRPr lang="en-IN"/>
          </a:p>
        </p:txBody>
      </p:sp>
      <p:sp>
        <p:nvSpPr>
          <p:cNvPr id="5" name="Footer Placeholder 4">
            <a:extLst>
              <a:ext uri="{FF2B5EF4-FFF2-40B4-BE49-F238E27FC236}">
                <a16:creationId xmlns:a16="http://schemas.microsoft.com/office/drawing/2014/main" id="{4952AD5E-5773-B1BE-AA55-A44502AB1324}"/>
              </a:ext>
            </a:extLst>
          </p:cNvPr>
          <p:cNvSpPr>
            <a:spLocks noGrp="1"/>
          </p:cNvSpPr>
          <p:nvPr>
            <p:ph type="ftr" sz="quarter" idx="11"/>
          </p:nvPr>
        </p:nvSpPr>
        <p:spPr/>
        <p:txBody>
          <a:bodyPr/>
          <a:lstStyle/>
          <a:p>
            <a:r>
              <a:rPr lang="en-US"/>
              <a:t>By: Shruti Mittal</a:t>
            </a:r>
            <a:endParaRPr lang="en-IN"/>
          </a:p>
        </p:txBody>
      </p:sp>
      <p:sp>
        <p:nvSpPr>
          <p:cNvPr id="6" name="Slide Number Placeholder 5">
            <a:extLst>
              <a:ext uri="{FF2B5EF4-FFF2-40B4-BE49-F238E27FC236}">
                <a16:creationId xmlns:a16="http://schemas.microsoft.com/office/drawing/2014/main" id="{6E9942DF-D559-D6CB-CFD3-C112AE40E4B6}"/>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1506091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328852-F4A7-3587-1D46-5DC020102C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FDEA82-4B82-E309-7F61-5BB681BFB1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4D76C5-18C3-C370-BBAB-8376BBC000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B495B1-5F19-4E8D-8CD1-206412C68028}" type="datetime1">
              <a:rPr lang="en-IN" smtClean="0"/>
              <a:pPr/>
              <a:t>01-09-2025</a:t>
            </a:fld>
            <a:endParaRPr lang="en-IN"/>
          </a:p>
        </p:txBody>
      </p:sp>
      <p:sp>
        <p:nvSpPr>
          <p:cNvPr id="5" name="Footer Placeholder 4">
            <a:extLst>
              <a:ext uri="{FF2B5EF4-FFF2-40B4-BE49-F238E27FC236}">
                <a16:creationId xmlns:a16="http://schemas.microsoft.com/office/drawing/2014/main" id="{EE022B11-E043-F04C-93AA-A01B182151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By: Shruti Mittal</a:t>
            </a:r>
            <a:endParaRPr lang="en-IN"/>
          </a:p>
        </p:txBody>
      </p:sp>
      <p:sp>
        <p:nvSpPr>
          <p:cNvPr id="6" name="Slide Number Placeholder 5">
            <a:extLst>
              <a:ext uri="{FF2B5EF4-FFF2-40B4-BE49-F238E27FC236}">
                <a16:creationId xmlns:a16="http://schemas.microsoft.com/office/drawing/2014/main" id="{6E452635-DA26-EF32-A691-BCD25940E3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69B6F0-32DF-4D09-B8BB-7268CE28012E}" type="slidenum">
              <a:rPr lang="en-IN" smtClean="0"/>
              <a:pPr/>
              <a:t>‹#›</a:t>
            </a:fld>
            <a:endParaRPr lang="en-IN"/>
          </a:p>
        </p:txBody>
      </p:sp>
    </p:spTree>
    <p:extLst>
      <p:ext uri="{BB962C8B-B14F-4D97-AF65-F5344CB8AC3E}">
        <p14:creationId xmlns:p14="http://schemas.microsoft.com/office/powerpoint/2010/main" val="1097295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customXml" Target="../ink/ink1.xml"/><Relationship Id="rId7" Type="http://schemas.openxmlformats.org/officeDocument/2006/relationships/customXml" Target="../ink/ink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xml"/><Relationship Id="rId5" Type="http://schemas.openxmlformats.org/officeDocument/2006/relationships/customXml" Target="../ink/ink2.xml"/><Relationship Id="rId10" Type="http://schemas.openxmlformats.org/officeDocument/2006/relationships/customXml" Target="../ink/ink7.xml"/><Relationship Id="rId4" Type="http://schemas.openxmlformats.org/officeDocument/2006/relationships/image" Target="../media/image3.png"/><Relationship Id="rId9" Type="http://schemas.openxmlformats.org/officeDocument/2006/relationships/customXml" Target="../ink/ink6.xml"/></Relationships>
</file>

<file path=ppt/slides/_rels/slide5.xml.rels><?xml version="1.0" encoding="UTF-8" standalone="yes"?>
<Relationships xmlns="http://schemas.openxmlformats.org/package/2006/relationships"><Relationship Id="rId8" Type="http://schemas.openxmlformats.org/officeDocument/2006/relationships/customXml" Target="../ink/ink12.xml"/><Relationship Id="rId3" Type="http://schemas.openxmlformats.org/officeDocument/2006/relationships/customXml" Target="../ink/ink8.xml"/><Relationship Id="rId7" Type="http://schemas.openxmlformats.org/officeDocument/2006/relationships/customXml" Target="../ink/ink1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0.xml"/><Relationship Id="rId5" Type="http://schemas.openxmlformats.org/officeDocument/2006/relationships/customXml" Target="../ink/ink9.xml"/><Relationship Id="rId10" Type="http://schemas.openxmlformats.org/officeDocument/2006/relationships/customXml" Target="../ink/ink14.xml"/><Relationship Id="rId4" Type="http://schemas.openxmlformats.org/officeDocument/2006/relationships/image" Target="../media/image3.png"/><Relationship Id="rId9" Type="http://schemas.openxmlformats.org/officeDocument/2006/relationships/customXml" Target="../ink/ink13.xml"/></Relationships>
</file>

<file path=ppt/slides/_rels/slide6.xml.rels><?xml version="1.0" encoding="UTF-8" standalone="yes"?>
<Relationships xmlns="http://schemas.openxmlformats.org/package/2006/relationships"><Relationship Id="rId8" Type="http://schemas.openxmlformats.org/officeDocument/2006/relationships/customXml" Target="../ink/ink19.xml"/><Relationship Id="rId3" Type="http://schemas.openxmlformats.org/officeDocument/2006/relationships/customXml" Target="../ink/ink15.xml"/><Relationship Id="rId7" Type="http://schemas.openxmlformats.org/officeDocument/2006/relationships/customXml" Target="../ink/ink18.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7.xml"/><Relationship Id="rId5" Type="http://schemas.openxmlformats.org/officeDocument/2006/relationships/customXml" Target="../ink/ink16.xml"/><Relationship Id="rId10" Type="http://schemas.openxmlformats.org/officeDocument/2006/relationships/customXml" Target="../ink/ink21.xml"/><Relationship Id="rId4" Type="http://schemas.openxmlformats.org/officeDocument/2006/relationships/image" Target="../media/image3.png"/><Relationship Id="rId9" Type="http://schemas.openxmlformats.org/officeDocument/2006/relationships/customXml" Target="../ink/ink20.xml"/></Relationships>
</file>

<file path=ppt/slides/_rels/slide7.xml.rels><?xml version="1.0" encoding="UTF-8" standalone="yes"?>
<Relationships xmlns="http://schemas.openxmlformats.org/package/2006/relationships"><Relationship Id="rId8" Type="http://schemas.openxmlformats.org/officeDocument/2006/relationships/customXml" Target="../ink/ink26.xml"/><Relationship Id="rId3" Type="http://schemas.openxmlformats.org/officeDocument/2006/relationships/customXml" Target="../ink/ink22.xml"/><Relationship Id="rId7" Type="http://schemas.openxmlformats.org/officeDocument/2006/relationships/customXml" Target="../ink/ink2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4.xml"/><Relationship Id="rId5" Type="http://schemas.openxmlformats.org/officeDocument/2006/relationships/customXml" Target="../ink/ink23.xml"/><Relationship Id="rId10" Type="http://schemas.openxmlformats.org/officeDocument/2006/relationships/customXml" Target="../ink/ink28.xml"/><Relationship Id="rId4" Type="http://schemas.openxmlformats.org/officeDocument/2006/relationships/image" Target="../media/image3.png"/><Relationship Id="rId9" Type="http://schemas.openxmlformats.org/officeDocument/2006/relationships/customXml" Target="../ink/ink27.xml"/></Relationships>
</file>

<file path=ppt/slides/_rels/slide8.xml.rels><?xml version="1.0" encoding="UTF-8" standalone="yes"?>
<Relationships xmlns="http://schemas.openxmlformats.org/package/2006/relationships"><Relationship Id="rId8" Type="http://schemas.openxmlformats.org/officeDocument/2006/relationships/customXml" Target="../ink/ink33.xml"/><Relationship Id="rId3" Type="http://schemas.openxmlformats.org/officeDocument/2006/relationships/customXml" Target="../ink/ink29.xml"/><Relationship Id="rId7" Type="http://schemas.openxmlformats.org/officeDocument/2006/relationships/customXml" Target="../ink/ink3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1.xml"/><Relationship Id="rId5" Type="http://schemas.openxmlformats.org/officeDocument/2006/relationships/customXml" Target="../ink/ink30.xml"/><Relationship Id="rId10" Type="http://schemas.openxmlformats.org/officeDocument/2006/relationships/customXml" Target="../ink/ink35.xml"/><Relationship Id="rId4" Type="http://schemas.openxmlformats.org/officeDocument/2006/relationships/image" Target="../media/image3.png"/><Relationship Id="rId9" Type="http://schemas.openxmlformats.org/officeDocument/2006/relationships/customXml" Target="../ink/ink34.xml"/></Relationships>
</file>

<file path=ppt/slides/_rels/slide9.xml.rels><?xml version="1.0" encoding="UTF-8" standalone="yes"?>
<Relationships xmlns="http://schemas.openxmlformats.org/package/2006/relationships"><Relationship Id="rId8" Type="http://schemas.openxmlformats.org/officeDocument/2006/relationships/customXml" Target="../ink/ink40.xml"/><Relationship Id="rId3" Type="http://schemas.openxmlformats.org/officeDocument/2006/relationships/customXml" Target="../ink/ink36.xml"/><Relationship Id="rId7" Type="http://schemas.openxmlformats.org/officeDocument/2006/relationships/customXml" Target="../ink/ink39.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8.xml"/><Relationship Id="rId11" Type="http://schemas.openxmlformats.org/officeDocument/2006/relationships/image" Target="../media/image4.png"/><Relationship Id="rId5" Type="http://schemas.openxmlformats.org/officeDocument/2006/relationships/customXml" Target="../ink/ink37.xml"/><Relationship Id="rId10" Type="http://schemas.openxmlformats.org/officeDocument/2006/relationships/customXml" Target="../ink/ink42.xml"/><Relationship Id="rId4" Type="http://schemas.openxmlformats.org/officeDocument/2006/relationships/image" Target="../media/image3.png"/><Relationship Id="rId9" Type="http://schemas.openxmlformats.org/officeDocument/2006/relationships/customXml" Target="../ink/ink4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customXml" Target="../ink/ink47.xml"/><Relationship Id="rId3" Type="http://schemas.openxmlformats.org/officeDocument/2006/relationships/customXml" Target="../ink/ink43.xml"/><Relationship Id="rId7" Type="http://schemas.openxmlformats.org/officeDocument/2006/relationships/customXml" Target="../ink/ink46.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45.xml"/><Relationship Id="rId11" Type="http://schemas.openxmlformats.org/officeDocument/2006/relationships/image" Target="../media/image5.png"/><Relationship Id="rId5" Type="http://schemas.openxmlformats.org/officeDocument/2006/relationships/customXml" Target="../ink/ink44.xml"/><Relationship Id="rId10" Type="http://schemas.openxmlformats.org/officeDocument/2006/relationships/customXml" Target="../ink/ink49.xml"/><Relationship Id="rId4" Type="http://schemas.openxmlformats.org/officeDocument/2006/relationships/image" Target="../media/image3.png"/><Relationship Id="rId9" Type="http://schemas.openxmlformats.org/officeDocument/2006/relationships/customXml" Target="../ink/ink48.xml"/></Relationships>
</file>

<file path=ppt/slides/_rels/slide12.xml.rels><?xml version="1.0" encoding="UTF-8" standalone="yes"?>
<Relationships xmlns="http://schemas.openxmlformats.org/package/2006/relationships"><Relationship Id="rId8" Type="http://schemas.openxmlformats.org/officeDocument/2006/relationships/customXml" Target="../ink/ink54.xml"/><Relationship Id="rId3" Type="http://schemas.openxmlformats.org/officeDocument/2006/relationships/customXml" Target="../ink/ink50.xml"/><Relationship Id="rId7" Type="http://schemas.openxmlformats.org/officeDocument/2006/relationships/customXml" Target="../ink/ink5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52.xml"/><Relationship Id="rId5" Type="http://schemas.openxmlformats.org/officeDocument/2006/relationships/customXml" Target="../ink/ink51.xml"/><Relationship Id="rId10" Type="http://schemas.openxmlformats.org/officeDocument/2006/relationships/customXml" Target="../ink/ink56.xml"/><Relationship Id="rId4" Type="http://schemas.openxmlformats.org/officeDocument/2006/relationships/image" Target="../media/image3.png"/><Relationship Id="rId9" Type="http://schemas.openxmlformats.org/officeDocument/2006/relationships/customXml" Target="../ink/ink55.xml"/></Relationships>
</file>

<file path=ppt/slides/_rels/slide13.xml.rels><?xml version="1.0" encoding="UTF-8" standalone="yes"?>
<Relationships xmlns="http://schemas.openxmlformats.org/package/2006/relationships"><Relationship Id="rId8" Type="http://schemas.openxmlformats.org/officeDocument/2006/relationships/customXml" Target="../ink/ink61.xml"/><Relationship Id="rId3" Type="http://schemas.openxmlformats.org/officeDocument/2006/relationships/customXml" Target="../ink/ink57.xml"/><Relationship Id="rId7" Type="http://schemas.openxmlformats.org/officeDocument/2006/relationships/customXml" Target="../ink/ink60.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59.xml"/><Relationship Id="rId5" Type="http://schemas.openxmlformats.org/officeDocument/2006/relationships/customXml" Target="../ink/ink58.xml"/><Relationship Id="rId10" Type="http://schemas.openxmlformats.org/officeDocument/2006/relationships/customXml" Target="../ink/ink63.xml"/><Relationship Id="rId4" Type="http://schemas.openxmlformats.org/officeDocument/2006/relationships/image" Target="../media/image3.png"/><Relationship Id="rId9" Type="http://schemas.openxmlformats.org/officeDocument/2006/relationships/customXml" Target="../ink/ink62.xml"/></Relationships>
</file>

<file path=ppt/slides/_rels/slide14.xml.rels><?xml version="1.0" encoding="UTF-8" standalone="yes"?>
<Relationships xmlns="http://schemas.openxmlformats.org/package/2006/relationships"><Relationship Id="rId8" Type="http://schemas.openxmlformats.org/officeDocument/2006/relationships/customXml" Target="../ink/ink68.xml"/><Relationship Id="rId3" Type="http://schemas.openxmlformats.org/officeDocument/2006/relationships/customXml" Target="../ink/ink64.xml"/><Relationship Id="rId7" Type="http://schemas.openxmlformats.org/officeDocument/2006/relationships/customXml" Target="../ink/ink67.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66.xml"/><Relationship Id="rId5" Type="http://schemas.openxmlformats.org/officeDocument/2006/relationships/customXml" Target="../ink/ink65.xml"/><Relationship Id="rId10" Type="http://schemas.openxmlformats.org/officeDocument/2006/relationships/customXml" Target="../ink/ink70.xml"/><Relationship Id="rId4" Type="http://schemas.openxmlformats.org/officeDocument/2006/relationships/image" Target="../media/image3.png"/><Relationship Id="rId9" Type="http://schemas.openxmlformats.org/officeDocument/2006/relationships/customXml" Target="../ink/ink69.xml"/></Relationships>
</file>

<file path=ppt/slides/_rels/slide15.xml.rels><?xml version="1.0" encoding="UTF-8" standalone="yes"?>
<Relationships xmlns="http://schemas.openxmlformats.org/package/2006/relationships"><Relationship Id="rId8" Type="http://schemas.openxmlformats.org/officeDocument/2006/relationships/customXml" Target="../ink/ink75.xml"/><Relationship Id="rId3" Type="http://schemas.openxmlformats.org/officeDocument/2006/relationships/customXml" Target="../ink/ink71.xml"/><Relationship Id="rId7" Type="http://schemas.openxmlformats.org/officeDocument/2006/relationships/customXml" Target="../ink/ink7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73.xml"/><Relationship Id="rId5" Type="http://schemas.openxmlformats.org/officeDocument/2006/relationships/customXml" Target="../ink/ink72.xml"/><Relationship Id="rId10" Type="http://schemas.openxmlformats.org/officeDocument/2006/relationships/customXml" Target="../ink/ink77.xml"/><Relationship Id="rId4" Type="http://schemas.openxmlformats.org/officeDocument/2006/relationships/image" Target="../media/image3.png"/><Relationship Id="rId9" Type="http://schemas.openxmlformats.org/officeDocument/2006/relationships/customXml" Target="../ink/ink76.xml"/></Relationships>
</file>

<file path=ppt/slides/_rels/slide16.xml.rels><?xml version="1.0" encoding="UTF-8" standalone="yes"?>
<Relationships xmlns="http://schemas.openxmlformats.org/package/2006/relationships"><Relationship Id="rId8" Type="http://schemas.openxmlformats.org/officeDocument/2006/relationships/customXml" Target="../ink/ink82.xml"/><Relationship Id="rId3" Type="http://schemas.openxmlformats.org/officeDocument/2006/relationships/customXml" Target="../ink/ink78.xml"/><Relationship Id="rId7" Type="http://schemas.openxmlformats.org/officeDocument/2006/relationships/customXml" Target="../ink/ink8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80.xml"/><Relationship Id="rId5" Type="http://schemas.openxmlformats.org/officeDocument/2006/relationships/customXml" Target="../ink/ink79.xml"/><Relationship Id="rId10" Type="http://schemas.openxmlformats.org/officeDocument/2006/relationships/customXml" Target="../ink/ink84.xml"/><Relationship Id="rId4" Type="http://schemas.openxmlformats.org/officeDocument/2006/relationships/image" Target="../media/image3.png"/><Relationship Id="rId9" Type="http://schemas.openxmlformats.org/officeDocument/2006/relationships/customXml" Target="../ink/ink83.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customXml" Target="../ink/ink89.xml"/><Relationship Id="rId3" Type="http://schemas.openxmlformats.org/officeDocument/2006/relationships/customXml" Target="../ink/ink85.xml"/><Relationship Id="rId7" Type="http://schemas.openxmlformats.org/officeDocument/2006/relationships/customXml" Target="../ink/ink88.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87.xml"/><Relationship Id="rId5" Type="http://schemas.openxmlformats.org/officeDocument/2006/relationships/customXml" Target="../ink/ink86.xml"/><Relationship Id="rId10" Type="http://schemas.openxmlformats.org/officeDocument/2006/relationships/customXml" Target="../ink/ink91.xml"/><Relationship Id="rId4" Type="http://schemas.openxmlformats.org/officeDocument/2006/relationships/image" Target="../media/image3.png"/><Relationship Id="rId9" Type="http://schemas.openxmlformats.org/officeDocument/2006/relationships/customXml" Target="../ink/ink90.xml"/></Relationships>
</file>

<file path=ppt/slides/_rels/slide20.xml.rels><?xml version="1.0" encoding="UTF-8" standalone="yes"?>
<Relationships xmlns="http://schemas.openxmlformats.org/package/2006/relationships"><Relationship Id="rId8" Type="http://schemas.openxmlformats.org/officeDocument/2006/relationships/customXml" Target="../ink/ink96.xml"/><Relationship Id="rId3" Type="http://schemas.openxmlformats.org/officeDocument/2006/relationships/customXml" Target="../ink/ink92.xml"/><Relationship Id="rId7" Type="http://schemas.openxmlformats.org/officeDocument/2006/relationships/customXml" Target="../ink/ink9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94.xml"/><Relationship Id="rId5" Type="http://schemas.openxmlformats.org/officeDocument/2006/relationships/customXml" Target="../ink/ink93.xml"/><Relationship Id="rId10" Type="http://schemas.openxmlformats.org/officeDocument/2006/relationships/customXml" Target="../ink/ink98.xml"/><Relationship Id="rId4" Type="http://schemas.openxmlformats.org/officeDocument/2006/relationships/image" Target="../media/image3.png"/><Relationship Id="rId9" Type="http://schemas.openxmlformats.org/officeDocument/2006/relationships/customXml" Target="../ink/ink97.xml"/></Relationships>
</file>

<file path=ppt/slides/_rels/slide21.xml.rels><?xml version="1.0" encoding="UTF-8" standalone="yes"?>
<Relationships xmlns="http://schemas.openxmlformats.org/package/2006/relationships"><Relationship Id="rId8" Type="http://schemas.openxmlformats.org/officeDocument/2006/relationships/customXml" Target="../ink/ink103.xml"/><Relationship Id="rId3" Type="http://schemas.openxmlformats.org/officeDocument/2006/relationships/customXml" Target="../ink/ink99.xml"/><Relationship Id="rId7" Type="http://schemas.openxmlformats.org/officeDocument/2006/relationships/customXml" Target="../ink/ink10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01.xml"/><Relationship Id="rId5" Type="http://schemas.openxmlformats.org/officeDocument/2006/relationships/customXml" Target="../ink/ink100.xml"/><Relationship Id="rId10" Type="http://schemas.openxmlformats.org/officeDocument/2006/relationships/customXml" Target="../ink/ink105.xml"/><Relationship Id="rId4" Type="http://schemas.openxmlformats.org/officeDocument/2006/relationships/image" Target="../media/image3.png"/><Relationship Id="rId9" Type="http://schemas.openxmlformats.org/officeDocument/2006/relationships/customXml" Target="../ink/ink104.xml"/></Relationships>
</file>

<file path=ppt/slides/_rels/slide22.xml.rels><?xml version="1.0" encoding="UTF-8" standalone="yes"?>
<Relationships xmlns="http://schemas.openxmlformats.org/package/2006/relationships"><Relationship Id="rId8" Type="http://schemas.openxmlformats.org/officeDocument/2006/relationships/customXml" Target="../ink/ink110.xml"/><Relationship Id="rId3" Type="http://schemas.openxmlformats.org/officeDocument/2006/relationships/customXml" Target="../ink/ink106.xml"/><Relationship Id="rId7" Type="http://schemas.openxmlformats.org/officeDocument/2006/relationships/customXml" Target="../ink/ink109.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08.xml"/><Relationship Id="rId5" Type="http://schemas.openxmlformats.org/officeDocument/2006/relationships/customXml" Target="../ink/ink107.xml"/><Relationship Id="rId10" Type="http://schemas.openxmlformats.org/officeDocument/2006/relationships/customXml" Target="../ink/ink112.xml"/><Relationship Id="rId4" Type="http://schemas.openxmlformats.org/officeDocument/2006/relationships/image" Target="../media/image3.png"/><Relationship Id="rId9" Type="http://schemas.openxmlformats.org/officeDocument/2006/relationships/customXml" Target="../ink/ink111.xml"/></Relationships>
</file>

<file path=ppt/slides/_rels/slide23.xml.rels><?xml version="1.0" encoding="UTF-8" standalone="yes"?>
<Relationships xmlns="http://schemas.openxmlformats.org/package/2006/relationships"><Relationship Id="rId8" Type="http://schemas.openxmlformats.org/officeDocument/2006/relationships/customXml" Target="../ink/ink117.xml"/><Relationship Id="rId3" Type="http://schemas.openxmlformats.org/officeDocument/2006/relationships/customXml" Target="../ink/ink113.xml"/><Relationship Id="rId7" Type="http://schemas.openxmlformats.org/officeDocument/2006/relationships/customXml" Target="../ink/ink116.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15.xml"/><Relationship Id="rId5" Type="http://schemas.openxmlformats.org/officeDocument/2006/relationships/customXml" Target="../ink/ink114.xml"/><Relationship Id="rId10" Type="http://schemas.openxmlformats.org/officeDocument/2006/relationships/customXml" Target="../ink/ink119.xml"/><Relationship Id="rId4" Type="http://schemas.openxmlformats.org/officeDocument/2006/relationships/image" Target="../media/image3.png"/><Relationship Id="rId9" Type="http://schemas.openxmlformats.org/officeDocument/2006/relationships/customXml" Target="../ink/ink118.xml"/></Relationships>
</file>

<file path=ppt/slides/_rels/slide24.xml.rels><?xml version="1.0" encoding="UTF-8" standalone="yes"?>
<Relationships xmlns="http://schemas.openxmlformats.org/package/2006/relationships"><Relationship Id="rId8" Type="http://schemas.openxmlformats.org/officeDocument/2006/relationships/customXml" Target="../ink/ink124.xml"/><Relationship Id="rId3" Type="http://schemas.openxmlformats.org/officeDocument/2006/relationships/customXml" Target="../ink/ink120.xml"/><Relationship Id="rId7" Type="http://schemas.openxmlformats.org/officeDocument/2006/relationships/customXml" Target="../ink/ink12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22.xml"/><Relationship Id="rId5" Type="http://schemas.openxmlformats.org/officeDocument/2006/relationships/customXml" Target="../ink/ink121.xml"/><Relationship Id="rId10" Type="http://schemas.openxmlformats.org/officeDocument/2006/relationships/customXml" Target="../ink/ink126.xml"/><Relationship Id="rId4" Type="http://schemas.openxmlformats.org/officeDocument/2006/relationships/image" Target="../media/image3.png"/><Relationship Id="rId9" Type="http://schemas.openxmlformats.org/officeDocument/2006/relationships/customXml" Target="../ink/ink125.xml"/></Relationships>
</file>

<file path=ppt/slides/_rels/slide25.xml.rels><?xml version="1.0" encoding="UTF-8" standalone="yes"?>
<Relationships xmlns="http://schemas.openxmlformats.org/package/2006/relationships"><Relationship Id="rId8" Type="http://schemas.openxmlformats.org/officeDocument/2006/relationships/customXml" Target="../ink/ink131.xml"/><Relationship Id="rId3" Type="http://schemas.openxmlformats.org/officeDocument/2006/relationships/customXml" Target="../ink/ink127.xml"/><Relationship Id="rId7" Type="http://schemas.openxmlformats.org/officeDocument/2006/relationships/customXml" Target="../ink/ink130.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29.xml"/><Relationship Id="rId5" Type="http://schemas.openxmlformats.org/officeDocument/2006/relationships/customXml" Target="../ink/ink128.xml"/><Relationship Id="rId10" Type="http://schemas.openxmlformats.org/officeDocument/2006/relationships/customXml" Target="../ink/ink133.xml"/><Relationship Id="rId4" Type="http://schemas.openxmlformats.org/officeDocument/2006/relationships/image" Target="../media/image3.png"/><Relationship Id="rId9" Type="http://schemas.openxmlformats.org/officeDocument/2006/relationships/customXml" Target="../ink/ink132.xml"/></Relationships>
</file>

<file path=ppt/slides/_rels/slide26.xml.rels><?xml version="1.0" encoding="UTF-8" standalone="yes"?>
<Relationships xmlns="http://schemas.openxmlformats.org/package/2006/relationships"><Relationship Id="rId8" Type="http://schemas.openxmlformats.org/officeDocument/2006/relationships/customXml" Target="../ink/ink138.xml"/><Relationship Id="rId3" Type="http://schemas.openxmlformats.org/officeDocument/2006/relationships/customXml" Target="../ink/ink134.xml"/><Relationship Id="rId7" Type="http://schemas.openxmlformats.org/officeDocument/2006/relationships/customXml" Target="../ink/ink137.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36.xml"/><Relationship Id="rId5" Type="http://schemas.openxmlformats.org/officeDocument/2006/relationships/customXml" Target="../ink/ink135.xml"/><Relationship Id="rId10" Type="http://schemas.openxmlformats.org/officeDocument/2006/relationships/customXml" Target="../ink/ink140.xml"/><Relationship Id="rId4" Type="http://schemas.openxmlformats.org/officeDocument/2006/relationships/image" Target="../media/image3.png"/><Relationship Id="rId9" Type="http://schemas.openxmlformats.org/officeDocument/2006/relationships/customXml" Target="../ink/ink139.xml"/></Relationships>
</file>

<file path=ppt/slides/_rels/slide27.xml.rels><?xml version="1.0" encoding="UTF-8" standalone="yes"?>
<Relationships xmlns="http://schemas.openxmlformats.org/package/2006/relationships"><Relationship Id="rId8" Type="http://schemas.openxmlformats.org/officeDocument/2006/relationships/customXml" Target="../ink/ink145.xml"/><Relationship Id="rId3" Type="http://schemas.openxmlformats.org/officeDocument/2006/relationships/customXml" Target="../ink/ink141.xml"/><Relationship Id="rId7" Type="http://schemas.openxmlformats.org/officeDocument/2006/relationships/customXml" Target="../ink/ink14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43.xml"/><Relationship Id="rId5" Type="http://schemas.openxmlformats.org/officeDocument/2006/relationships/customXml" Target="../ink/ink142.xml"/><Relationship Id="rId10" Type="http://schemas.openxmlformats.org/officeDocument/2006/relationships/customXml" Target="../ink/ink147.xml"/><Relationship Id="rId4" Type="http://schemas.openxmlformats.org/officeDocument/2006/relationships/image" Target="../media/image3.png"/><Relationship Id="rId9" Type="http://schemas.openxmlformats.org/officeDocument/2006/relationships/customXml" Target="../ink/ink146.xml"/></Relationships>
</file>

<file path=ppt/slides/_rels/slide28.xml.rels><?xml version="1.0" encoding="UTF-8" standalone="yes"?>
<Relationships xmlns="http://schemas.openxmlformats.org/package/2006/relationships"><Relationship Id="rId8" Type="http://schemas.openxmlformats.org/officeDocument/2006/relationships/customXml" Target="../ink/ink152.xml"/><Relationship Id="rId3" Type="http://schemas.openxmlformats.org/officeDocument/2006/relationships/customXml" Target="../ink/ink148.xml"/><Relationship Id="rId7" Type="http://schemas.openxmlformats.org/officeDocument/2006/relationships/customXml" Target="../ink/ink15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50.xml"/><Relationship Id="rId5" Type="http://schemas.openxmlformats.org/officeDocument/2006/relationships/customXml" Target="../ink/ink149.xml"/><Relationship Id="rId10" Type="http://schemas.openxmlformats.org/officeDocument/2006/relationships/customXml" Target="../ink/ink154.xml"/><Relationship Id="rId4" Type="http://schemas.openxmlformats.org/officeDocument/2006/relationships/image" Target="../media/image3.png"/><Relationship Id="rId9" Type="http://schemas.openxmlformats.org/officeDocument/2006/relationships/customXml" Target="../ink/ink153.xml"/></Relationships>
</file>

<file path=ppt/slides/_rels/slide29.xml.rels><?xml version="1.0" encoding="UTF-8" standalone="yes"?>
<Relationships xmlns="http://schemas.openxmlformats.org/package/2006/relationships"><Relationship Id="rId8" Type="http://schemas.openxmlformats.org/officeDocument/2006/relationships/customXml" Target="../ink/ink159.xml"/><Relationship Id="rId3" Type="http://schemas.openxmlformats.org/officeDocument/2006/relationships/customXml" Target="../ink/ink155.xml"/><Relationship Id="rId7" Type="http://schemas.openxmlformats.org/officeDocument/2006/relationships/customXml" Target="../ink/ink158.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57.xml"/><Relationship Id="rId5" Type="http://schemas.openxmlformats.org/officeDocument/2006/relationships/customXml" Target="../ink/ink156.xml"/><Relationship Id="rId10" Type="http://schemas.openxmlformats.org/officeDocument/2006/relationships/customXml" Target="../ink/ink161.xml"/><Relationship Id="rId4" Type="http://schemas.openxmlformats.org/officeDocument/2006/relationships/image" Target="../media/image3.png"/><Relationship Id="rId9" Type="http://schemas.openxmlformats.org/officeDocument/2006/relationships/customXml" Target="../ink/ink160.xml"/></Relationships>
</file>

<file path=ppt/slides/_rels/slide30.xml.rels><?xml version="1.0" encoding="UTF-8" standalone="yes"?>
<Relationships xmlns="http://schemas.openxmlformats.org/package/2006/relationships"><Relationship Id="rId8" Type="http://schemas.openxmlformats.org/officeDocument/2006/relationships/customXml" Target="../ink/ink166.xml"/><Relationship Id="rId3" Type="http://schemas.openxmlformats.org/officeDocument/2006/relationships/customXml" Target="../ink/ink162.xml"/><Relationship Id="rId7" Type="http://schemas.openxmlformats.org/officeDocument/2006/relationships/customXml" Target="../ink/ink16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64.xml"/><Relationship Id="rId5" Type="http://schemas.openxmlformats.org/officeDocument/2006/relationships/customXml" Target="../ink/ink163.xml"/><Relationship Id="rId10" Type="http://schemas.openxmlformats.org/officeDocument/2006/relationships/customXml" Target="../ink/ink168.xml"/><Relationship Id="rId4" Type="http://schemas.openxmlformats.org/officeDocument/2006/relationships/image" Target="../media/image3.png"/><Relationship Id="rId9" Type="http://schemas.openxmlformats.org/officeDocument/2006/relationships/customXml" Target="../ink/ink167.xml"/></Relationships>
</file>

<file path=ppt/slides/_rels/slide31.xml.rels><?xml version="1.0" encoding="UTF-8" standalone="yes"?>
<Relationships xmlns="http://schemas.openxmlformats.org/package/2006/relationships"><Relationship Id="rId8" Type="http://schemas.openxmlformats.org/officeDocument/2006/relationships/customXml" Target="../ink/ink173.xml"/><Relationship Id="rId3" Type="http://schemas.openxmlformats.org/officeDocument/2006/relationships/customXml" Target="../ink/ink169.xml"/><Relationship Id="rId7" Type="http://schemas.openxmlformats.org/officeDocument/2006/relationships/customXml" Target="../ink/ink17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71.xml"/><Relationship Id="rId5" Type="http://schemas.openxmlformats.org/officeDocument/2006/relationships/customXml" Target="../ink/ink170.xml"/><Relationship Id="rId10" Type="http://schemas.openxmlformats.org/officeDocument/2006/relationships/customXml" Target="../ink/ink175.xml"/><Relationship Id="rId4" Type="http://schemas.openxmlformats.org/officeDocument/2006/relationships/image" Target="../media/image3.png"/><Relationship Id="rId9" Type="http://schemas.openxmlformats.org/officeDocument/2006/relationships/customXml" Target="../ink/ink174.xml"/></Relationships>
</file>

<file path=ppt/slides/_rels/slide32.xml.rels><?xml version="1.0" encoding="UTF-8" standalone="yes"?>
<Relationships xmlns="http://schemas.openxmlformats.org/package/2006/relationships"><Relationship Id="rId8" Type="http://schemas.openxmlformats.org/officeDocument/2006/relationships/customXml" Target="../ink/ink180.xml"/><Relationship Id="rId3" Type="http://schemas.openxmlformats.org/officeDocument/2006/relationships/customXml" Target="../ink/ink176.xml"/><Relationship Id="rId7" Type="http://schemas.openxmlformats.org/officeDocument/2006/relationships/customXml" Target="../ink/ink179.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78.xml"/><Relationship Id="rId5" Type="http://schemas.openxmlformats.org/officeDocument/2006/relationships/customXml" Target="../ink/ink177.xml"/><Relationship Id="rId10" Type="http://schemas.openxmlformats.org/officeDocument/2006/relationships/customXml" Target="../ink/ink182.xml"/><Relationship Id="rId4" Type="http://schemas.openxmlformats.org/officeDocument/2006/relationships/image" Target="../media/image3.png"/><Relationship Id="rId9" Type="http://schemas.openxmlformats.org/officeDocument/2006/relationships/customXml" Target="../ink/ink181.xml"/></Relationships>
</file>

<file path=ppt/slides/_rels/slide33.xml.rels><?xml version="1.0" encoding="UTF-8" standalone="yes"?>
<Relationships xmlns="http://schemas.openxmlformats.org/package/2006/relationships"><Relationship Id="rId8" Type="http://schemas.openxmlformats.org/officeDocument/2006/relationships/customXml" Target="../ink/ink187.xml"/><Relationship Id="rId3" Type="http://schemas.openxmlformats.org/officeDocument/2006/relationships/customXml" Target="../ink/ink183.xml"/><Relationship Id="rId7" Type="http://schemas.openxmlformats.org/officeDocument/2006/relationships/customXml" Target="../ink/ink186.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85.xml"/><Relationship Id="rId5" Type="http://schemas.openxmlformats.org/officeDocument/2006/relationships/customXml" Target="../ink/ink184.xml"/><Relationship Id="rId10" Type="http://schemas.openxmlformats.org/officeDocument/2006/relationships/customXml" Target="../ink/ink189.xml"/><Relationship Id="rId4" Type="http://schemas.openxmlformats.org/officeDocument/2006/relationships/image" Target="../media/image3.png"/><Relationship Id="rId9" Type="http://schemas.openxmlformats.org/officeDocument/2006/relationships/customXml" Target="../ink/ink188.xml"/></Relationships>
</file>

<file path=ppt/slides/_rels/slide34.xml.rels><?xml version="1.0" encoding="UTF-8" standalone="yes"?>
<Relationships xmlns="http://schemas.openxmlformats.org/package/2006/relationships"><Relationship Id="rId8" Type="http://schemas.openxmlformats.org/officeDocument/2006/relationships/customXml" Target="../ink/ink194.xml"/><Relationship Id="rId3" Type="http://schemas.openxmlformats.org/officeDocument/2006/relationships/customXml" Target="../ink/ink190.xml"/><Relationship Id="rId7" Type="http://schemas.openxmlformats.org/officeDocument/2006/relationships/customXml" Target="../ink/ink19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92.xml"/><Relationship Id="rId5" Type="http://schemas.openxmlformats.org/officeDocument/2006/relationships/customXml" Target="../ink/ink191.xml"/><Relationship Id="rId10" Type="http://schemas.openxmlformats.org/officeDocument/2006/relationships/customXml" Target="../ink/ink196.xml"/><Relationship Id="rId4" Type="http://schemas.openxmlformats.org/officeDocument/2006/relationships/image" Target="../media/image3.png"/><Relationship Id="rId9" Type="http://schemas.openxmlformats.org/officeDocument/2006/relationships/customXml" Target="../ink/ink195.xml"/></Relationships>
</file>

<file path=ppt/slides/_rels/slide35.xml.rels><?xml version="1.0" encoding="UTF-8" standalone="yes"?>
<Relationships xmlns="http://schemas.openxmlformats.org/package/2006/relationships"><Relationship Id="rId8" Type="http://schemas.openxmlformats.org/officeDocument/2006/relationships/customXml" Target="../ink/ink201.xml"/><Relationship Id="rId3" Type="http://schemas.openxmlformats.org/officeDocument/2006/relationships/customXml" Target="../ink/ink197.xml"/><Relationship Id="rId7" Type="http://schemas.openxmlformats.org/officeDocument/2006/relationships/customXml" Target="../ink/ink200.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99.xml"/><Relationship Id="rId5" Type="http://schemas.openxmlformats.org/officeDocument/2006/relationships/customXml" Target="../ink/ink198.xml"/><Relationship Id="rId10" Type="http://schemas.openxmlformats.org/officeDocument/2006/relationships/customXml" Target="../ink/ink203.xml"/><Relationship Id="rId4" Type="http://schemas.openxmlformats.org/officeDocument/2006/relationships/image" Target="../media/image3.png"/><Relationship Id="rId9" Type="http://schemas.openxmlformats.org/officeDocument/2006/relationships/customXml" Target="../ink/ink202.xml"/></Relationships>
</file>

<file path=ppt/slides/_rels/slide36.xml.rels><?xml version="1.0" encoding="UTF-8" standalone="yes"?>
<Relationships xmlns="http://schemas.openxmlformats.org/package/2006/relationships"><Relationship Id="rId8" Type="http://schemas.openxmlformats.org/officeDocument/2006/relationships/customXml" Target="../ink/ink208.xml"/><Relationship Id="rId3" Type="http://schemas.openxmlformats.org/officeDocument/2006/relationships/customXml" Target="../ink/ink204.xml"/><Relationship Id="rId7" Type="http://schemas.openxmlformats.org/officeDocument/2006/relationships/customXml" Target="../ink/ink207.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06.xml"/><Relationship Id="rId5" Type="http://schemas.openxmlformats.org/officeDocument/2006/relationships/customXml" Target="../ink/ink205.xml"/><Relationship Id="rId10" Type="http://schemas.openxmlformats.org/officeDocument/2006/relationships/customXml" Target="../ink/ink210.xml"/><Relationship Id="rId4" Type="http://schemas.openxmlformats.org/officeDocument/2006/relationships/image" Target="../media/image3.png"/><Relationship Id="rId9" Type="http://schemas.openxmlformats.org/officeDocument/2006/relationships/customXml" Target="../ink/ink209.xml"/></Relationships>
</file>

<file path=ppt/slides/_rels/slide37.xml.rels><?xml version="1.0" encoding="UTF-8" standalone="yes"?>
<Relationships xmlns="http://schemas.openxmlformats.org/package/2006/relationships"><Relationship Id="rId8" Type="http://schemas.openxmlformats.org/officeDocument/2006/relationships/customXml" Target="../ink/ink215.xml"/><Relationship Id="rId3" Type="http://schemas.openxmlformats.org/officeDocument/2006/relationships/customXml" Target="../ink/ink211.xml"/><Relationship Id="rId7" Type="http://schemas.openxmlformats.org/officeDocument/2006/relationships/customXml" Target="../ink/ink21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13.xml"/><Relationship Id="rId5" Type="http://schemas.openxmlformats.org/officeDocument/2006/relationships/customXml" Target="../ink/ink212.xml"/><Relationship Id="rId10" Type="http://schemas.openxmlformats.org/officeDocument/2006/relationships/customXml" Target="../ink/ink217.xml"/><Relationship Id="rId4" Type="http://schemas.openxmlformats.org/officeDocument/2006/relationships/image" Target="../media/image3.png"/><Relationship Id="rId9" Type="http://schemas.openxmlformats.org/officeDocument/2006/relationships/customXml" Target="../ink/ink216.xml"/></Relationships>
</file>

<file path=ppt/slides/_rels/slide38.xml.rels><?xml version="1.0" encoding="UTF-8" standalone="yes"?>
<Relationships xmlns="http://schemas.openxmlformats.org/package/2006/relationships"><Relationship Id="rId8" Type="http://schemas.openxmlformats.org/officeDocument/2006/relationships/customXml" Target="../ink/ink222.xml"/><Relationship Id="rId3" Type="http://schemas.openxmlformats.org/officeDocument/2006/relationships/customXml" Target="../ink/ink218.xml"/><Relationship Id="rId7" Type="http://schemas.openxmlformats.org/officeDocument/2006/relationships/customXml" Target="../ink/ink22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20.xml"/><Relationship Id="rId5" Type="http://schemas.openxmlformats.org/officeDocument/2006/relationships/customXml" Target="../ink/ink219.xml"/><Relationship Id="rId10" Type="http://schemas.openxmlformats.org/officeDocument/2006/relationships/customXml" Target="../ink/ink224.xml"/><Relationship Id="rId4" Type="http://schemas.openxmlformats.org/officeDocument/2006/relationships/image" Target="../media/image3.png"/><Relationship Id="rId9" Type="http://schemas.openxmlformats.org/officeDocument/2006/relationships/customXml" Target="../ink/ink223.xml"/></Relationships>
</file>

<file path=ppt/slides/_rels/slide39.xml.rels><?xml version="1.0" encoding="UTF-8" standalone="yes"?>
<Relationships xmlns="http://schemas.openxmlformats.org/package/2006/relationships"><Relationship Id="rId8" Type="http://schemas.openxmlformats.org/officeDocument/2006/relationships/customXml" Target="../ink/ink229.xml"/><Relationship Id="rId3" Type="http://schemas.openxmlformats.org/officeDocument/2006/relationships/customXml" Target="../ink/ink225.xml"/><Relationship Id="rId7" Type="http://schemas.openxmlformats.org/officeDocument/2006/relationships/customXml" Target="../ink/ink228.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27.xml"/><Relationship Id="rId11" Type="http://schemas.openxmlformats.org/officeDocument/2006/relationships/image" Target="../media/image6.jpeg"/><Relationship Id="rId5" Type="http://schemas.openxmlformats.org/officeDocument/2006/relationships/customXml" Target="../ink/ink226.xml"/><Relationship Id="rId10" Type="http://schemas.openxmlformats.org/officeDocument/2006/relationships/customXml" Target="../ink/ink231.xml"/><Relationship Id="rId4" Type="http://schemas.openxmlformats.org/officeDocument/2006/relationships/image" Target="../media/image3.png"/><Relationship Id="rId9" Type="http://schemas.openxmlformats.org/officeDocument/2006/relationships/customXml" Target="../ink/ink230.xml"/></Relationships>
</file>

<file path=ppt/slides/_rels/slide40.xml.rels><?xml version="1.0" encoding="UTF-8" standalone="yes"?>
<Relationships xmlns="http://schemas.openxmlformats.org/package/2006/relationships"><Relationship Id="rId8" Type="http://schemas.openxmlformats.org/officeDocument/2006/relationships/customXml" Target="../ink/ink236.xml"/><Relationship Id="rId3" Type="http://schemas.openxmlformats.org/officeDocument/2006/relationships/customXml" Target="../ink/ink232.xml"/><Relationship Id="rId7" Type="http://schemas.openxmlformats.org/officeDocument/2006/relationships/customXml" Target="../ink/ink23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34.xml"/><Relationship Id="rId5" Type="http://schemas.openxmlformats.org/officeDocument/2006/relationships/customXml" Target="../ink/ink233.xml"/><Relationship Id="rId10" Type="http://schemas.openxmlformats.org/officeDocument/2006/relationships/customXml" Target="../ink/ink238.xml"/><Relationship Id="rId4" Type="http://schemas.openxmlformats.org/officeDocument/2006/relationships/image" Target="../media/image3.png"/><Relationship Id="rId9" Type="http://schemas.openxmlformats.org/officeDocument/2006/relationships/customXml" Target="../ink/ink237.xml"/></Relationships>
</file>

<file path=ppt/slides/_rels/slide41.xml.rels><?xml version="1.0" encoding="UTF-8" standalone="yes"?>
<Relationships xmlns="http://schemas.openxmlformats.org/package/2006/relationships"><Relationship Id="rId8" Type="http://schemas.openxmlformats.org/officeDocument/2006/relationships/customXml" Target="../ink/ink243.xml"/><Relationship Id="rId3" Type="http://schemas.openxmlformats.org/officeDocument/2006/relationships/customXml" Target="../ink/ink239.xml"/><Relationship Id="rId7" Type="http://schemas.openxmlformats.org/officeDocument/2006/relationships/customXml" Target="../ink/ink24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41.xml"/><Relationship Id="rId5" Type="http://schemas.openxmlformats.org/officeDocument/2006/relationships/customXml" Target="../ink/ink240.xml"/><Relationship Id="rId10" Type="http://schemas.openxmlformats.org/officeDocument/2006/relationships/customXml" Target="../ink/ink245.xml"/><Relationship Id="rId4" Type="http://schemas.openxmlformats.org/officeDocument/2006/relationships/image" Target="../media/image3.png"/><Relationship Id="rId9" Type="http://schemas.openxmlformats.org/officeDocument/2006/relationships/customXml" Target="../ink/ink244.xml"/></Relationships>
</file>

<file path=ppt/slides/_rels/slide42.xml.rels><?xml version="1.0" encoding="UTF-8" standalone="yes"?>
<Relationships xmlns="http://schemas.openxmlformats.org/package/2006/relationships"><Relationship Id="rId8" Type="http://schemas.openxmlformats.org/officeDocument/2006/relationships/customXml" Target="../ink/ink250.xml"/><Relationship Id="rId3" Type="http://schemas.openxmlformats.org/officeDocument/2006/relationships/customXml" Target="../ink/ink246.xml"/><Relationship Id="rId7" Type="http://schemas.openxmlformats.org/officeDocument/2006/relationships/customXml" Target="../ink/ink249.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48.xml"/><Relationship Id="rId5" Type="http://schemas.openxmlformats.org/officeDocument/2006/relationships/customXml" Target="../ink/ink247.xml"/><Relationship Id="rId10" Type="http://schemas.openxmlformats.org/officeDocument/2006/relationships/customXml" Target="../ink/ink252.xml"/><Relationship Id="rId4" Type="http://schemas.openxmlformats.org/officeDocument/2006/relationships/image" Target="../media/image3.png"/><Relationship Id="rId9" Type="http://schemas.openxmlformats.org/officeDocument/2006/relationships/customXml" Target="../ink/ink251.xml"/></Relationships>
</file>

<file path=ppt/slides/_rels/slide43.xml.rels><?xml version="1.0" encoding="UTF-8" standalone="yes"?>
<Relationships xmlns="http://schemas.openxmlformats.org/package/2006/relationships"><Relationship Id="rId8" Type="http://schemas.openxmlformats.org/officeDocument/2006/relationships/customXml" Target="../ink/ink257.xml"/><Relationship Id="rId3" Type="http://schemas.openxmlformats.org/officeDocument/2006/relationships/customXml" Target="../ink/ink253.xml"/><Relationship Id="rId7" Type="http://schemas.openxmlformats.org/officeDocument/2006/relationships/customXml" Target="../ink/ink256.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55.xml"/><Relationship Id="rId5" Type="http://schemas.openxmlformats.org/officeDocument/2006/relationships/customXml" Target="../ink/ink254.xml"/><Relationship Id="rId10" Type="http://schemas.openxmlformats.org/officeDocument/2006/relationships/customXml" Target="../ink/ink259.xml"/><Relationship Id="rId4" Type="http://schemas.openxmlformats.org/officeDocument/2006/relationships/image" Target="../media/image3.png"/><Relationship Id="rId9" Type="http://schemas.openxmlformats.org/officeDocument/2006/relationships/customXml" Target="../ink/ink258.xml"/></Relationships>
</file>

<file path=ppt/slides/_rels/slide44.xml.rels><?xml version="1.0" encoding="UTF-8" standalone="yes"?>
<Relationships xmlns="http://schemas.openxmlformats.org/package/2006/relationships"><Relationship Id="rId8" Type="http://schemas.openxmlformats.org/officeDocument/2006/relationships/customXml" Target="../ink/ink264.xml"/><Relationship Id="rId3" Type="http://schemas.openxmlformats.org/officeDocument/2006/relationships/customXml" Target="../ink/ink260.xml"/><Relationship Id="rId7" Type="http://schemas.openxmlformats.org/officeDocument/2006/relationships/customXml" Target="../ink/ink26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62.xml"/><Relationship Id="rId5" Type="http://schemas.openxmlformats.org/officeDocument/2006/relationships/customXml" Target="../ink/ink261.xml"/><Relationship Id="rId10" Type="http://schemas.openxmlformats.org/officeDocument/2006/relationships/customXml" Target="../ink/ink266.xml"/><Relationship Id="rId4" Type="http://schemas.openxmlformats.org/officeDocument/2006/relationships/image" Target="../media/image3.png"/><Relationship Id="rId9" Type="http://schemas.openxmlformats.org/officeDocument/2006/relationships/customXml" Target="../ink/ink265.xml"/></Relationships>
</file>

<file path=ppt/slides/_rels/slide45.xml.rels><?xml version="1.0" encoding="UTF-8" standalone="yes"?>
<Relationships xmlns="http://schemas.openxmlformats.org/package/2006/relationships"><Relationship Id="rId8" Type="http://schemas.openxmlformats.org/officeDocument/2006/relationships/customXml" Target="../ink/ink271.xml"/><Relationship Id="rId3" Type="http://schemas.openxmlformats.org/officeDocument/2006/relationships/customXml" Target="../ink/ink267.xml"/><Relationship Id="rId7" Type="http://schemas.openxmlformats.org/officeDocument/2006/relationships/customXml" Target="../ink/ink270.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69.xml"/><Relationship Id="rId5" Type="http://schemas.openxmlformats.org/officeDocument/2006/relationships/customXml" Target="../ink/ink268.xml"/><Relationship Id="rId10" Type="http://schemas.openxmlformats.org/officeDocument/2006/relationships/customXml" Target="../ink/ink273.xml"/><Relationship Id="rId4" Type="http://schemas.openxmlformats.org/officeDocument/2006/relationships/image" Target="../media/image3.png"/><Relationship Id="rId9" Type="http://schemas.openxmlformats.org/officeDocument/2006/relationships/customXml" Target="../ink/ink272.xml"/></Relationships>
</file>

<file path=ppt/slides/_rels/slide46.xml.rels><?xml version="1.0" encoding="UTF-8" standalone="yes"?>
<Relationships xmlns="http://schemas.openxmlformats.org/package/2006/relationships"><Relationship Id="rId8" Type="http://schemas.openxmlformats.org/officeDocument/2006/relationships/customXml" Target="../ink/ink278.xml"/><Relationship Id="rId3" Type="http://schemas.openxmlformats.org/officeDocument/2006/relationships/customXml" Target="../ink/ink274.xml"/><Relationship Id="rId7" Type="http://schemas.openxmlformats.org/officeDocument/2006/relationships/customXml" Target="../ink/ink277.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76.xml"/><Relationship Id="rId5" Type="http://schemas.openxmlformats.org/officeDocument/2006/relationships/customXml" Target="../ink/ink275.xml"/><Relationship Id="rId10" Type="http://schemas.openxmlformats.org/officeDocument/2006/relationships/customXml" Target="../ink/ink280.xml"/><Relationship Id="rId4" Type="http://schemas.openxmlformats.org/officeDocument/2006/relationships/image" Target="../media/image3.png"/><Relationship Id="rId9" Type="http://schemas.openxmlformats.org/officeDocument/2006/relationships/customXml" Target="../ink/ink279.xml"/></Relationships>
</file>

<file path=ppt/slides/_rels/slide47.xml.rels><?xml version="1.0" encoding="UTF-8" standalone="yes"?>
<Relationships xmlns="http://schemas.openxmlformats.org/package/2006/relationships"><Relationship Id="rId8" Type="http://schemas.openxmlformats.org/officeDocument/2006/relationships/customXml" Target="../ink/ink285.xml"/><Relationship Id="rId3" Type="http://schemas.openxmlformats.org/officeDocument/2006/relationships/customXml" Target="../ink/ink281.xml"/><Relationship Id="rId7" Type="http://schemas.openxmlformats.org/officeDocument/2006/relationships/customXml" Target="../ink/ink28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83.xml"/><Relationship Id="rId5" Type="http://schemas.openxmlformats.org/officeDocument/2006/relationships/customXml" Target="../ink/ink282.xml"/><Relationship Id="rId10" Type="http://schemas.openxmlformats.org/officeDocument/2006/relationships/customXml" Target="../ink/ink287.xml"/><Relationship Id="rId4" Type="http://schemas.openxmlformats.org/officeDocument/2006/relationships/image" Target="../media/image3.png"/><Relationship Id="rId9" Type="http://schemas.openxmlformats.org/officeDocument/2006/relationships/customXml" Target="../ink/ink286.xml"/></Relationships>
</file>

<file path=ppt/slides/_rels/slide48.xml.rels><?xml version="1.0" encoding="UTF-8" standalone="yes"?>
<Relationships xmlns="http://schemas.openxmlformats.org/package/2006/relationships"><Relationship Id="rId8" Type="http://schemas.openxmlformats.org/officeDocument/2006/relationships/customXml" Target="../ink/ink292.xml"/><Relationship Id="rId3" Type="http://schemas.openxmlformats.org/officeDocument/2006/relationships/customXml" Target="../ink/ink288.xml"/><Relationship Id="rId7" Type="http://schemas.openxmlformats.org/officeDocument/2006/relationships/customXml" Target="../ink/ink29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90.xml"/><Relationship Id="rId5" Type="http://schemas.openxmlformats.org/officeDocument/2006/relationships/customXml" Target="../ink/ink289.xml"/><Relationship Id="rId10" Type="http://schemas.openxmlformats.org/officeDocument/2006/relationships/customXml" Target="../ink/ink294.xml"/><Relationship Id="rId4" Type="http://schemas.openxmlformats.org/officeDocument/2006/relationships/image" Target="../media/image3.png"/><Relationship Id="rId9" Type="http://schemas.openxmlformats.org/officeDocument/2006/relationships/customXml" Target="../ink/ink293.xml"/></Relationships>
</file>

<file path=ppt/slides/_rels/slide49.xml.rels><?xml version="1.0" encoding="UTF-8" standalone="yes"?>
<Relationships xmlns="http://schemas.openxmlformats.org/package/2006/relationships"><Relationship Id="rId8" Type="http://schemas.openxmlformats.org/officeDocument/2006/relationships/customXml" Target="../ink/ink299.xml"/><Relationship Id="rId3" Type="http://schemas.openxmlformats.org/officeDocument/2006/relationships/customXml" Target="../ink/ink295.xml"/><Relationship Id="rId7" Type="http://schemas.openxmlformats.org/officeDocument/2006/relationships/customXml" Target="../ink/ink298.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97.xml"/><Relationship Id="rId5" Type="http://schemas.openxmlformats.org/officeDocument/2006/relationships/customXml" Target="../ink/ink296.xml"/><Relationship Id="rId10" Type="http://schemas.openxmlformats.org/officeDocument/2006/relationships/customXml" Target="../ink/ink301.xml"/><Relationship Id="rId4" Type="http://schemas.openxmlformats.org/officeDocument/2006/relationships/image" Target="../media/image3.png"/><Relationship Id="rId9" Type="http://schemas.openxmlformats.org/officeDocument/2006/relationships/customXml" Target="../ink/ink300.xml"/></Relationships>
</file>

<file path=ppt/slides/_rels/slide50.xml.rels><?xml version="1.0" encoding="UTF-8" standalone="yes"?>
<Relationships xmlns="http://schemas.openxmlformats.org/package/2006/relationships"><Relationship Id="rId8" Type="http://schemas.openxmlformats.org/officeDocument/2006/relationships/customXml" Target="../ink/ink306.xml"/><Relationship Id="rId3" Type="http://schemas.openxmlformats.org/officeDocument/2006/relationships/customXml" Target="../ink/ink302.xml"/><Relationship Id="rId7" Type="http://schemas.openxmlformats.org/officeDocument/2006/relationships/customXml" Target="../ink/ink30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04.xml"/><Relationship Id="rId5" Type="http://schemas.openxmlformats.org/officeDocument/2006/relationships/customXml" Target="../ink/ink303.xml"/><Relationship Id="rId10" Type="http://schemas.openxmlformats.org/officeDocument/2006/relationships/customXml" Target="../ink/ink308.xml"/><Relationship Id="rId4" Type="http://schemas.openxmlformats.org/officeDocument/2006/relationships/image" Target="../media/image3.png"/><Relationship Id="rId9" Type="http://schemas.openxmlformats.org/officeDocument/2006/relationships/customXml" Target="../ink/ink307.xml"/></Relationships>
</file>

<file path=ppt/slides/_rels/slide51.xml.rels><?xml version="1.0" encoding="UTF-8" standalone="yes"?>
<Relationships xmlns="http://schemas.openxmlformats.org/package/2006/relationships"><Relationship Id="rId8" Type="http://schemas.openxmlformats.org/officeDocument/2006/relationships/customXml" Target="../ink/ink313.xml"/><Relationship Id="rId3" Type="http://schemas.openxmlformats.org/officeDocument/2006/relationships/customXml" Target="../ink/ink309.xml"/><Relationship Id="rId7" Type="http://schemas.openxmlformats.org/officeDocument/2006/relationships/customXml" Target="../ink/ink31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11.xml"/><Relationship Id="rId5" Type="http://schemas.openxmlformats.org/officeDocument/2006/relationships/customXml" Target="../ink/ink310.xml"/><Relationship Id="rId10" Type="http://schemas.openxmlformats.org/officeDocument/2006/relationships/customXml" Target="../ink/ink315.xml"/><Relationship Id="rId4" Type="http://schemas.openxmlformats.org/officeDocument/2006/relationships/image" Target="../media/image3.png"/><Relationship Id="rId9" Type="http://schemas.openxmlformats.org/officeDocument/2006/relationships/customXml" Target="../ink/ink314.xml"/></Relationships>
</file>

<file path=ppt/slides/_rels/slide52.xml.rels><?xml version="1.0" encoding="UTF-8" standalone="yes"?>
<Relationships xmlns="http://schemas.openxmlformats.org/package/2006/relationships"><Relationship Id="rId8" Type="http://schemas.openxmlformats.org/officeDocument/2006/relationships/customXml" Target="../ink/ink320.xml"/><Relationship Id="rId3" Type="http://schemas.openxmlformats.org/officeDocument/2006/relationships/customXml" Target="../ink/ink316.xml"/><Relationship Id="rId7" Type="http://schemas.openxmlformats.org/officeDocument/2006/relationships/customXml" Target="../ink/ink319.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18.xml"/><Relationship Id="rId5" Type="http://schemas.openxmlformats.org/officeDocument/2006/relationships/customXml" Target="../ink/ink317.xml"/><Relationship Id="rId10" Type="http://schemas.openxmlformats.org/officeDocument/2006/relationships/customXml" Target="../ink/ink322.xml"/><Relationship Id="rId4" Type="http://schemas.openxmlformats.org/officeDocument/2006/relationships/image" Target="../media/image3.png"/><Relationship Id="rId9" Type="http://schemas.openxmlformats.org/officeDocument/2006/relationships/customXml" Target="../ink/ink321.xml"/></Relationships>
</file>

<file path=ppt/slides/_rels/slide53.xml.rels><?xml version="1.0" encoding="UTF-8" standalone="yes"?>
<Relationships xmlns="http://schemas.openxmlformats.org/package/2006/relationships"><Relationship Id="rId8" Type="http://schemas.openxmlformats.org/officeDocument/2006/relationships/customXml" Target="../ink/ink327.xml"/><Relationship Id="rId3" Type="http://schemas.openxmlformats.org/officeDocument/2006/relationships/customXml" Target="../ink/ink323.xml"/><Relationship Id="rId7" Type="http://schemas.openxmlformats.org/officeDocument/2006/relationships/customXml" Target="../ink/ink326.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25.xml"/><Relationship Id="rId5" Type="http://schemas.openxmlformats.org/officeDocument/2006/relationships/customXml" Target="../ink/ink324.xml"/><Relationship Id="rId10" Type="http://schemas.openxmlformats.org/officeDocument/2006/relationships/customXml" Target="../ink/ink329.xml"/><Relationship Id="rId4" Type="http://schemas.openxmlformats.org/officeDocument/2006/relationships/image" Target="../media/image3.png"/><Relationship Id="rId9" Type="http://schemas.openxmlformats.org/officeDocument/2006/relationships/customXml" Target="../ink/ink328.xml"/></Relationships>
</file>

<file path=ppt/slides/_rels/slide54.xml.rels><?xml version="1.0" encoding="UTF-8" standalone="yes"?>
<Relationships xmlns="http://schemas.openxmlformats.org/package/2006/relationships"><Relationship Id="rId8" Type="http://schemas.openxmlformats.org/officeDocument/2006/relationships/customXml" Target="../ink/ink334.xml"/><Relationship Id="rId3" Type="http://schemas.openxmlformats.org/officeDocument/2006/relationships/customXml" Target="../ink/ink330.xml"/><Relationship Id="rId7" Type="http://schemas.openxmlformats.org/officeDocument/2006/relationships/customXml" Target="../ink/ink33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32.xml"/><Relationship Id="rId5" Type="http://schemas.openxmlformats.org/officeDocument/2006/relationships/customXml" Target="../ink/ink331.xml"/><Relationship Id="rId10" Type="http://schemas.openxmlformats.org/officeDocument/2006/relationships/customXml" Target="../ink/ink336.xml"/><Relationship Id="rId4" Type="http://schemas.openxmlformats.org/officeDocument/2006/relationships/image" Target="../media/image3.png"/><Relationship Id="rId9" Type="http://schemas.openxmlformats.org/officeDocument/2006/relationships/customXml" Target="../ink/ink335.xml"/></Relationships>
</file>

<file path=ppt/slides/_rels/slide55.xml.rels><?xml version="1.0" encoding="UTF-8" standalone="yes"?>
<Relationships xmlns="http://schemas.openxmlformats.org/package/2006/relationships"><Relationship Id="rId8" Type="http://schemas.openxmlformats.org/officeDocument/2006/relationships/customXml" Target="../ink/ink341.xml"/><Relationship Id="rId3" Type="http://schemas.openxmlformats.org/officeDocument/2006/relationships/customXml" Target="../ink/ink337.xml"/><Relationship Id="rId7" Type="http://schemas.openxmlformats.org/officeDocument/2006/relationships/customXml" Target="../ink/ink340.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39.xml"/><Relationship Id="rId5" Type="http://schemas.openxmlformats.org/officeDocument/2006/relationships/customXml" Target="../ink/ink338.xml"/><Relationship Id="rId10" Type="http://schemas.openxmlformats.org/officeDocument/2006/relationships/customXml" Target="../ink/ink343.xml"/><Relationship Id="rId4" Type="http://schemas.openxmlformats.org/officeDocument/2006/relationships/image" Target="../media/image3.png"/><Relationship Id="rId9" Type="http://schemas.openxmlformats.org/officeDocument/2006/relationships/customXml" Target="../ink/ink342.xml"/></Relationships>
</file>

<file path=ppt/slides/_rels/slide56.xml.rels><?xml version="1.0" encoding="UTF-8" standalone="yes"?>
<Relationships xmlns="http://schemas.openxmlformats.org/package/2006/relationships"><Relationship Id="rId8" Type="http://schemas.openxmlformats.org/officeDocument/2006/relationships/customXml" Target="../ink/ink348.xml"/><Relationship Id="rId3" Type="http://schemas.openxmlformats.org/officeDocument/2006/relationships/customXml" Target="../ink/ink344.xml"/><Relationship Id="rId7" Type="http://schemas.openxmlformats.org/officeDocument/2006/relationships/customXml" Target="../ink/ink347.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46.xml"/><Relationship Id="rId5" Type="http://schemas.openxmlformats.org/officeDocument/2006/relationships/customXml" Target="../ink/ink345.xml"/><Relationship Id="rId10" Type="http://schemas.openxmlformats.org/officeDocument/2006/relationships/customXml" Target="../ink/ink350.xml"/><Relationship Id="rId4" Type="http://schemas.openxmlformats.org/officeDocument/2006/relationships/image" Target="../media/image3.png"/><Relationship Id="rId9" Type="http://schemas.openxmlformats.org/officeDocument/2006/relationships/customXml" Target="../ink/ink349.xml"/></Relationships>
</file>

<file path=ppt/slides/_rels/slide57.xml.rels><?xml version="1.0" encoding="UTF-8" standalone="yes"?>
<Relationships xmlns="http://schemas.openxmlformats.org/package/2006/relationships"><Relationship Id="rId8" Type="http://schemas.openxmlformats.org/officeDocument/2006/relationships/customXml" Target="../ink/ink355.xml"/><Relationship Id="rId3" Type="http://schemas.openxmlformats.org/officeDocument/2006/relationships/customXml" Target="../ink/ink351.xml"/><Relationship Id="rId7" Type="http://schemas.openxmlformats.org/officeDocument/2006/relationships/customXml" Target="../ink/ink35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53.xml"/><Relationship Id="rId5" Type="http://schemas.openxmlformats.org/officeDocument/2006/relationships/customXml" Target="../ink/ink352.xml"/><Relationship Id="rId10" Type="http://schemas.openxmlformats.org/officeDocument/2006/relationships/customXml" Target="../ink/ink357.xml"/><Relationship Id="rId4" Type="http://schemas.openxmlformats.org/officeDocument/2006/relationships/image" Target="../media/image3.png"/><Relationship Id="rId9" Type="http://schemas.openxmlformats.org/officeDocument/2006/relationships/customXml" Target="../ink/ink356.xml"/></Relationships>
</file>

<file path=ppt/slides/_rels/slide58.xml.rels><?xml version="1.0" encoding="UTF-8" standalone="yes"?>
<Relationships xmlns="http://schemas.openxmlformats.org/package/2006/relationships"><Relationship Id="rId8" Type="http://schemas.openxmlformats.org/officeDocument/2006/relationships/customXml" Target="../ink/ink362.xml"/><Relationship Id="rId3" Type="http://schemas.openxmlformats.org/officeDocument/2006/relationships/customXml" Target="../ink/ink358.xml"/><Relationship Id="rId7" Type="http://schemas.openxmlformats.org/officeDocument/2006/relationships/customXml" Target="../ink/ink36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60.xml"/><Relationship Id="rId5" Type="http://schemas.openxmlformats.org/officeDocument/2006/relationships/customXml" Target="../ink/ink359.xml"/><Relationship Id="rId10" Type="http://schemas.openxmlformats.org/officeDocument/2006/relationships/customXml" Target="../ink/ink364.xml"/><Relationship Id="rId4" Type="http://schemas.openxmlformats.org/officeDocument/2006/relationships/image" Target="../media/image3.png"/><Relationship Id="rId9" Type="http://schemas.openxmlformats.org/officeDocument/2006/relationships/customXml" Target="../ink/ink363.xml"/></Relationships>
</file>

<file path=ppt/slides/_rels/slide59.xml.rels><?xml version="1.0" encoding="UTF-8" standalone="yes"?>
<Relationships xmlns="http://schemas.openxmlformats.org/package/2006/relationships"><Relationship Id="rId8" Type="http://schemas.openxmlformats.org/officeDocument/2006/relationships/customXml" Target="../ink/ink369.xml"/><Relationship Id="rId3" Type="http://schemas.openxmlformats.org/officeDocument/2006/relationships/customXml" Target="../ink/ink365.xml"/><Relationship Id="rId7" Type="http://schemas.openxmlformats.org/officeDocument/2006/relationships/customXml" Target="../ink/ink368.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67.xml"/><Relationship Id="rId5" Type="http://schemas.openxmlformats.org/officeDocument/2006/relationships/customXml" Target="../ink/ink366.xml"/><Relationship Id="rId10" Type="http://schemas.openxmlformats.org/officeDocument/2006/relationships/customXml" Target="../ink/ink371.xml"/><Relationship Id="rId4" Type="http://schemas.openxmlformats.org/officeDocument/2006/relationships/image" Target="../media/image3.png"/><Relationship Id="rId9" Type="http://schemas.openxmlformats.org/officeDocument/2006/relationships/customXml" Target="../ink/ink370.xml"/></Relationships>
</file>

<file path=ppt/slides/_rels/slide60.xml.rels><?xml version="1.0" encoding="UTF-8" standalone="yes"?>
<Relationships xmlns="http://schemas.openxmlformats.org/package/2006/relationships"><Relationship Id="rId8" Type="http://schemas.openxmlformats.org/officeDocument/2006/relationships/customXml" Target="../ink/ink376.xml"/><Relationship Id="rId3" Type="http://schemas.openxmlformats.org/officeDocument/2006/relationships/customXml" Target="../ink/ink372.xml"/><Relationship Id="rId7" Type="http://schemas.openxmlformats.org/officeDocument/2006/relationships/customXml" Target="../ink/ink37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74.xml"/><Relationship Id="rId5" Type="http://schemas.openxmlformats.org/officeDocument/2006/relationships/customXml" Target="../ink/ink373.xml"/><Relationship Id="rId10" Type="http://schemas.openxmlformats.org/officeDocument/2006/relationships/customXml" Target="../ink/ink378.xml"/><Relationship Id="rId4" Type="http://schemas.openxmlformats.org/officeDocument/2006/relationships/image" Target="../media/image3.png"/><Relationship Id="rId9" Type="http://schemas.openxmlformats.org/officeDocument/2006/relationships/customXml" Target="../ink/ink377.xml"/></Relationships>
</file>

<file path=ppt/slides/_rels/slide61.xml.rels><?xml version="1.0" encoding="UTF-8" standalone="yes"?>
<Relationships xmlns="http://schemas.openxmlformats.org/package/2006/relationships"><Relationship Id="rId8" Type="http://schemas.openxmlformats.org/officeDocument/2006/relationships/customXml" Target="../ink/ink383.xml"/><Relationship Id="rId3" Type="http://schemas.openxmlformats.org/officeDocument/2006/relationships/customXml" Target="../ink/ink379.xml"/><Relationship Id="rId7" Type="http://schemas.openxmlformats.org/officeDocument/2006/relationships/customXml" Target="../ink/ink38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81.xml"/><Relationship Id="rId5" Type="http://schemas.openxmlformats.org/officeDocument/2006/relationships/customXml" Target="../ink/ink380.xml"/><Relationship Id="rId10" Type="http://schemas.openxmlformats.org/officeDocument/2006/relationships/customXml" Target="../ink/ink385.xml"/><Relationship Id="rId4" Type="http://schemas.openxmlformats.org/officeDocument/2006/relationships/image" Target="../media/image3.png"/><Relationship Id="rId9" Type="http://schemas.openxmlformats.org/officeDocument/2006/relationships/customXml" Target="../ink/ink384.xml"/></Relationships>
</file>

<file path=ppt/slides/_rels/slide62.xml.rels><?xml version="1.0" encoding="UTF-8" standalone="yes"?>
<Relationships xmlns="http://schemas.openxmlformats.org/package/2006/relationships"><Relationship Id="rId8" Type="http://schemas.openxmlformats.org/officeDocument/2006/relationships/customXml" Target="../ink/ink390.xml"/><Relationship Id="rId3" Type="http://schemas.openxmlformats.org/officeDocument/2006/relationships/customXml" Target="../ink/ink386.xml"/><Relationship Id="rId7" Type="http://schemas.openxmlformats.org/officeDocument/2006/relationships/customXml" Target="../ink/ink389.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88.xml"/><Relationship Id="rId5" Type="http://schemas.openxmlformats.org/officeDocument/2006/relationships/customXml" Target="../ink/ink387.xml"/><Relationship Id="rId10" Type="http://schemas.openxmlformats.org/officeDocument/2006/relationships/customXml" Target="../ink/ink392.xml"/><Relationship Id="rId4" Type="http://schemas.openxmlformats.org/officeDocument/2006/relationships/image" Target="../media/image3.png"/><Relationship Id="rId9" Type="http://schemas.openxmlformats.org/officeDocument/2006/relationships/customXml" Target="../ink/ink391.xml"/></Relationships>
</file>

<file path=ppt/slides/_rels/slide63.xml.rels><?xml version="1.0" encoding="UTF-8" standalone="yes"?>
<Relationships xmlns="http://schemas.openxmlformats.org/package/2006/relationships"><Relationship Id="rId8" Type="http://schemas.openxmlformats.org/officeDocument/2006/relationships/customXml" Target="../ink/ink397.xml"/><Relationship Id="rId3" Type="http://schemas.openxmlformats.org/officeDocument/2006/relationships/customXml" Target="../ink/ink393.xml"/><Relationship Id="rId7" Type="http://schemas.openxmlformats.org/officeDocument/2006/relationships/customXml" Target="../ink/ink396.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95.xml"/><Relationship Id="rId5" Type="http://schemas.openxmlformats.org/officeDocument/2006/relationships/customXml" Target="../ink/ink394.xml"/><Relationship Id="rId10" Type="http://schemas.openxmlformats.org/officeDocument/2006/relationships/customXml" Target="../ink/ink399.xml"/><Relationship Id="rId4" Type="http://schemas.openxmlformats.org/officeDocument/2006/relationships/image" Target="../media/image3.png"/><Relationship Id="rId9" Type="http://schemas.openxmlformats.org/officeDocument/2006/relationships/customXml" Target="../ink/ink39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F68EA21-D1DB-A2CF-CFD9-DD5215232E37}"/>
              </a:ext>
            </a:extLst>
          </p:cNvPr>
          <p:cNvSpPr txBox="1">
            <a:spLocks/>
          </p:cNvSpPr>
          <p:nvPr/>
        </p:nvSpPr>
        <p:spPr>
          <a:xfrm>
            <a:off x="320335" y="3319421"/>
            <a:ext cx="11551327" cy="159894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lnSpc>
                <a:spcPct val="100000"/>
              </a:lnSpc>
              <a:spcBef>
                <a:spcPct val="20000"/>
              </a:spcBef>
              <a:defRPr/>
            </a:pPr>
            <a:r>
              <a:rPr lang="en-IN" sz="2800" b="1">
                <a:solidFill>
                  <a:srgbClr val="383A3C"/>
                </a:solidFill>
                <a:latin typeface="Times New Roman" panose="02020603050405020304" pitchFamily="18" charset="0"/>
                <a:cs typeface="Times New Roman" panose="02020603050405020304" pitchFamily="18" charset="0"/>
              </a:rPr>
              <a:t>B.TECH – </a:t>
            </a:r>
            <a:r>
              <a:rPr lang="en-IN" sz="2800" b="1" err="1">
                <a:solidFill>
                  <a:srgbClr val="383A3C"/>
                </a:solidFill>
                <a:latin typeface="Times New Roman" panose="02020603050405020304" pitchFamily="18" charset="0"/>
                <a:cs typeface="Times New Roman" panose="02020603050405020304" pitchFamily="18" charset="0"/>
              </a:rPr>
              <a:t>VIIth</a:t>
            </a:r>
            <a:r>
              <a:rPr lang="en-IN" sz="2800" b="1">
                <a:solidFill>
                  <a:srgbClr val="383A3C"/>
                </a:solidFill>
                <a:latin typeface="Times New Roman" panose="02020603050405020304" pitchFamily="18" charset="0"/>
                <a:cs typeface="Times New Roman" panose="02020603050405020304" pitchFamily="18" charset="0"/>
              </a:rPr>
              <a:t> Semester </a:t>
            </a:r>
            <a:br>
              <a:rPr lang="en-IN" sz="2800" b="1">
                <a:solidFill>
                  <a:srgbClr val="383A3C"/>
                </a:solidFill>
                <a:latin typeface="Times New Roman" panose="02020603050405020304" pitchFamily="18" charset="0"/>
                <a:cs typeface="Times New Roman" panose="02020603050405020304" pitchFamily="18" charset="0"/>
              </a:rPr>
            </a:br>
            <a:r>
              <a:rPr lang="en-US" sz="2800" b="1"/>
              <a:t>Entrepreneurship Development &amp; IPR</a:t>
            </a:r>
          </a:p>
          <a:p>
            <a:r>
              <a:rPr lang="en-US" sz="2800"/>
              <a:t>UNIT 5 : PROJECT FINANCING</a:t>
            </a:r>
          </a:p>
          <a:p>
            <a:endParaRPr lang="en-US" sz="2800" b="1">
              <a:solidFill>
                <a:srgbClr val="383A3C"/>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51F8B70D-3F64-4D35-E5AB-6FF8E0423FCD}"/>
              </a:ext>
            </a:extLst>
          </p:cNvPr>
          <p:cNvSpPr/>
          <p:nvPr/>
        </p:nvSpPr>
        <p:spPr>
          <a:xfrm>
            <a:off x="206477" y="61390"/>
            <a:ext cx="11356258" cy="1107986"/>
          </a:xfrm>
          <a:prstGeom prst="rect">
            <a:avLst/>
          </a:prstGeom>
        </p:spPr>
        <p:txBody>
          <a:bodyPr wrap="square" lIns="121908" tIns="60955" rIns="121908" bIns="60955">
            <a:spAutoFit/>
          </a:bodyPr>
          <a:lstStyle/>
          <a:p>
            <a:pPr algn="ctr"/>
            <a:r>
              <a:rPr lang="en-IN" sz="3200" b="1">
                <a:solidFill>
                  <a:srgbClr val="D4222A"/>
                </a:solidFill>
                <a:latin typeface="Times New Roman" panose="02020603050405020304" pitchFamily="18" charset="0"/>
                <a:cs typeface="Times New Roman" panose="02020603050405020304" pitchFamily="18" charset="0"/>
              </a:rPr>
              <a:t>NOIDA INSTITUTE OF ENGINEERING &amp; TECHNOLOGY GREATER NOIDA</a:t>
            </a:r>
            <a:endParaRPr lang="en-US" sz="3200">
              <a:solidFill>
                <a:srgbClr val="D4222A"/>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5C2B02D-0DC2-431D-DF60-401E531B651F}"/>
              </a:ext>
            </a:extLst>
          </p:cNvPr>
          <p:cNvSpPr/>
          <p:nvPr/>
        </p:nvSpPr>
        <p:spPr>
          <a:xfrm>
            <a:off x="5884606" y="4485680"/>
            <a:ext cx="810358" cy="338554"/>
          </a:xfrm>
          <a:prstGeom prst="rect">
            <a:avLst/>
          </a:prstGeom>
        </p:spPr>
        <p:txBody>
          <a:bodyPr wrap="square">
            <a:spAutoFit/>
          </a:bodyPr>
          <a:lstStyle/>
          <a:p>
            <a:r>
              <a:rPr lang="en-IN" sz="1600" b="1">
                <a:latin typeface="Times New Roman" panose="02020603050405020304" pitchFamily="18" charset="0"/>
                <a:cs typeface="Times New Roman" panose="02020603050405020304" pitchFamily="18" charset="0"/>
              </a:rPr>
              <a:t>By</a:t>
            </a:r>
            <a:r>
              <a:rPr lang="en-IN" sz="1600" b="1">
                <a:solidFill>
                  <a:srgbClr val="A20000"/>
                </a:solidFill>
                <a:latin typeface="Times New Roman" panose="02020603050405020304" pitchFamily="18" charset="0"/>
                <a:cs typeface="Times New Roman" panose="02020603050405020304" pitchFamily="18" charset="0"/>
              </a:rPr>
              <a:t> </a:t>
            </a:r>
            <a:endParaRPr lang="en-US" sz="160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DD14CEA-0AFA-2840-50F8-7CD1850C6115}"/>
              </a:ext>
            </a:extLst>
          </p:cNvPr>
          <p:cNvSpPr/>
          <p:nvPr/>
        </p:nvSpPr>
        <p:spPr>
          <a:xfrm>
            <a:off x="4553300" y="4824234"/>
            <a:ext cx="3085395" cy="1631216"/>
          </a:xfrm>
          <a:prstGeom prst="rect">
            <a:avLst/>
          </a:prstGeom>
        </p:spPr>
        <p:txBody>
          <a:bodyPr wrap="square">
            <a:spAutoFit/>
          </a:bodyPr>
          <a:lstStyle/>
          <a:p>
            <a:pPr algn="ctr"/>
            <a:r>
              <a:rPr lang="en-IN" sz="4000" b="1" dirty="0">
                <a:solidFill>
                  <a:srgbClr val="383A3C"/>
                </a:solidFill>
                <a:latin typeface="Times New Roman" panose="02020603050405020304" pitchFamily="18" charset="0"/>
                <a:cs typeface="Times New Roman" panose="02020603050405020304" pitchFamily="18" charset="0"/>
              </a:rPr>
              <a:t>Alok Raj</a:t>
            </a:r>
          </a:p>
          <a:p>
            <a:pPr algn="ctr"/>
            <a:r>
              <a:rPr lang="en-IN" sz="2000" b="1" dirty="0">
                <a:solidFill>
                  <a:srgbClr val="383A3C"/>
                </a:solidFill>
                <a:latin typeface="Times New Roman" panose="02020603050405020304" pitchFamily="18" charset="0"/>
                <a:cs typeface="Times New Roman" panose="02020603050405020304" pitchFamily="18" charset="0"/>
              </a:rPr>
              <a:t>Assistant Professor</a:t>
            </a:r>
          </a:p>
          <a:p>
            <a:pPr algn="ctr"/>
            <a:r>
              <a:rPr lang="en-IN" sz="2000" b="1" dirty="0">
                <a:solidFill>
                  <a:srgbClr val="383A3C"/>
                </a:solidFill>
                <a:latin typeface="Times New Roman" panose="02020603050405020304" pitchFamily="18" charset="0"/>
                <a:cs typeface="Times New Roman" panose="02020603050405020304" pitchFamily="18" charset="0"/>
              </a:rPr>
              <a:t>MBA Department</a:t>
            </a:r>
          </a:p>
          <a:p>
            <a:r>
              <a:rPr lang="en-IN" sz="2000" b="1" dirty="0">
                <a:solidFill>
                  <a:srgbClr val="383A3C"/>
                </a:solidFill>
                <a:latin typeface="Times New Roman" panose="02020603050405020304" pitchFamily="18" charset="0"/>
                <a:cs typeface="Times New Roman" panose="02020603050405020304" pitchFamily="18" charset="0"/>
              </a:rPr>
              <a:t>NIET, GREATER NOIDA</a:t>
            </a:r>
            <a:endParaRPr lang="en-US" sz="1400" dirty="0">
              <a:solidFill>
                <a:srgbClr val="383A3C"/>
              </a:solidFill>
              <a:latin typeface="Times New Roman" pitchFamily="18" charset="0"/>
              <a:cs typeface="Times New Roman" pitchFamily="18" charset="0"/>
            </a:endParaRPr>
          </a:p>
        </p:txBody>
      </p:sp>
      <p:pic>
        <p:nvPicPr>
          <p:cNvPr id="13" name="Picture 12" descr="A close-up of a logo&#10;&#10;Description automatically generated">
            <a:extLst>
              <a:ext uri="{FF2B5EF4-FFF2-40B4-BE49-F238E27FC236}">
                <a16:creationId xmlns:a16="http://schemas.microsoft.com/office/drawing/2014/main" id="{47EBCF00-B6B8-EBDF-019C-6C1D35F139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2313" y="1198020"/>
            <a:ext cx="3927373" cy="1344289"/>
          </a:xfrm>
          <a:prstGeom prst="rect">
            <a:avLst/>
          </a:prstGeom>
        </p:spPr>
      </p:pic>
    </p:spTree>
    <p:extLst>
      <p:ext uri="{BB962C8B-B14F-4D97-AF65-F5344CB8AC3E}">
        <p14:creationId xmlns:p14="http://schemas.microsoft.com/office/powerpoint/2010/main" val="3823976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75B3EA-97F9-89E8-50FF-A2B2122FDE60}"/>
              </a:ext>
            </a:extLst>
          </p:cNvPr>
          <p:cNvSpPr>
            <a:spLocks noGrp="1"/>
          </p:cNvSpPr>
          <p:nvPr>
            <p:ph idx="1"/>
          </p:nvPr>
        </p:nvSpPr>
        <p:spPr>
          <a:xfrm>
            <a:off x="1866901" y="1720031"/>
            <a:ext cx="8528255" cy="3871452"/>
          </a:xfrm>
        </p:spPr>
        <p:txBody>
          <a:bodyPr>
            <a:normAutofit/>
          </a:bodyPr>
          <a:lstStyle/>
          <a:p>
            <a:pPr lvl="1"/>
            <a:endParaRPr lang="en-US" dirty="0">
              <a:solidFill>
                <a:srgbClr val="383A3C"/>
              </a:solidFill>
              <a:latin typeface="Times New Roman" panose="02020603050405020304" pitchFamily="18" charset="0"/>
              <a:cs typeface="Times New Roman" panose="02020603050405020304" pitchFamily="18" charset="0"/>
            </a:endParaRPr>
          </a:p>
          <a:p>
            <a:pPr lvl="1"/>
            <a:endParaRPr lang="en-IN" dirty="0">
              <a:solidFill>
                <a:srgbClr val="383A3C"/>
              </a:solidFill>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960D2596-AAD6-2CD2-F258-1C420EA84F79}"/>
              </a:ext>
            </a:extLst>
          </p:cNvPr>
          <p:cNvSpPr txBox="1">
            <a:spLocks/>
          </p:cNvSpPr>
          <p:nvPr/>
        </p:nvSpPr>
        <p:spPr>
          <a:xfrm>
            <a:off x="3113314" y="1083253"/>
            <a:ext cx="7565923" cy="492983"/>
          </a:xfrm>
          <a:prstGeom prst="rect">
            <a:avLst/>
          </a:prstGeom>
          <a:noFill/>
          <a:ln w="38100">
            <a:noFill/>
          </a:ln>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700" b="1" dirty="0">
                <a:solidFill>
                  <a:srgbClr val="D31E26"/>
                </a:solidFill>
                <a:latin typeface="Times New Roman" panose="02020603050405020304" pitchFamily="18" charset="0"/>
                <a:cs typeface="Times New Roman" panose="02020603050405020304" pitchFamily="18" charset="0"/>
              </a:rPr>
              <a:t>                Faculty Introduction</a:t>
            </a:r>
          </a:p>
          <a:p>
            <a:endParaRPr lang="en-IN" sz="2700" b="1" dirty="0">
              <a:solidFill>
                <a:srgbClr val="D31E26"/>
              </a:solidFill>
              <a:latin typeface="Times New Roman" panose="02020603050405020304" pitchFamily="18" charset="0"/>
              <a:cs typeface="Times New Roman" panose="02020603050405020304" pitchFamily="18" charset="0"/>
            </a:endParaRPr>
          </a:p>
        </p:txBody>
      </p:sp>
      <p:sp>
        <p:nvSpPr>
          <p:cNvPr id="14" name="Footer Placeholder 4">
            <a:extLst>
              <a:ext uri="{FF2B5EF4-FFF2-40B4-BE49-F238E27FC236}">
                <a16:creationId xmlns:a16="http://schemas.microsoft.com/office/drawing/2014/main" id="{133C1259-FFCE-CD79-A828-D871692F83BA}"/>
              </a:ext>
            </a:extLst>
          </p:cNvPr>
          <p:cNvSpPr txBox="1">
            <a:spLocks/>
          </p:cNvSpPr>
          <p:nvPr/>
        </p:nvSpPr>
        <p:spPr>
          <a:xfrm>
            <a:off x="1524000" y="5644830"/>
            <a:ext cx="9144000" cy="289552"/>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50" dirty="0">
                <a:solidFill>
                  <a:srgbClr val="FAC6C7"/>
                </a:solidFill>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	  		</a:t>
            </a:r>
            <a:endParaRPr lang="en-IN" sz="1350" dirty="0">
              <a:latin typeface="Times New Roman" panose="02020603050405020304" pitchFamily="18" charset="0"/>
              <a:cs typeface="Times New Roman" panose="02020603050405020304" pitchFamily="18" charset="0"/>
            </a:endParaRPr>
          </a:p>
        </p:txBody>
      </p:sp>
      <p:sp>
        <p:nvSpPr>
          <p:cNvPr id="12" name="object 6"/>
          <p:cNvSpPr txBox="1"/>
          <p:nvPr/>
        </p:nvSpPr>
        <p:spPr>
          <a:xfrm>
            <a:off x="1827382" y="1953143"/>
            <a:ext cx="4537472" cy="1223412"/>
          </a:xfrm>
          <a:prstGeom prst="rect">
            <a:avLst/>
          </a:prstGeom>
        </p:spPr>
        <p:txBody>
          <a:bodyPr wrap="square" lIns="0" tIns="0" rIns="0" bIns="0">
            <a:spAutoFit/>
          </a:bodyPr>
          <a:lstStyle/>
          <a:p>
            <a:pPr marL="239078" indent="-229553">
              <a:buFont typeface="Arial"/>
              <a:buChar char="•"/>
              <a:tabLst>
                <a:tab pos="239554" algn="l"/>
                <a:tab pos="1627823" algn="l"/>
              </a:tabLst>
              <a:defRPr/>
            </a:pPr>
            <a:r>
              <a:rPr lang="en-US" sz="1650" b="1" spc="-30" dirty="0">
                <a:solidFill>
                  <a:prstClr val="black"/>
                </a:solidFill>
                <a:latin typeface="Times New Roman"/>
                <a:cs typeface="Times New Roman"/>
              </a:rPr>
              <a:t>F</a:t>
            </a:r>
            <a:r>
              <a:rPr lang="en-US" sz="1650" b="1" spc="-26" dirty="0">
                <a:solidFill>
                  <a:prstClr val="black"/>
                </a:solidFill>
                <a:latin typeface="Times New Roman"/>
                <a:cs typeface="Times New Roman"/>
              </a:rPr>
              <a:t>a</a:t>
            </a:r>
            <a:r>
              <a:rPr lang="en-US" sz="1650" b="1" spc="-30" dirty="0">
                <a:solidFill>
                  <a:prstClr val="black"/>
                </a:solidFill>
                <a:latin typeface="Times New Roman"/>
                <a:cs typeface="Times New Roman"/>
              </a:rPr>
              <a:t>cu</a:t>
            </a:r>
            <a:r>
              <a:rPr lang="en-US" sz="1650" b="1" spc="-26" dirty="0">
                <a:solidFill>
                  <a:prstClr val="black"/>
                </a:solidFill>
                <a:latin typeface="Times New Roman"/>
                <a:cs typeface="Times New Roman"/>
              </a:rPr>
              <a:t>l</a:t>
            </a:r>
            <a:r>
              <a:rPr lang="en-US" sz="1650" b="1" spc="-38" dirty="0">
                <a:solidFill>
                  <a:prstClr val="black"/>
                </a:solidFill>
                <a:latin typeface="Times New Roman"/>
                <a:cs typeface="Times New Roman"/>
              </a:rPr>
              <a:t>t</a:t>
            </a:r>
            <a:r>
              <a:rPr lang="en-US" sz="1650" b="1" spc="-11" dirty="0">
                <a:solidFill>
                  <a:prstClr val="black"/>
                </a:solidFill>
                <a:latin typeface="Times New Roman"/>
                <a:cs typeface="Times New Roman"/>
              </a:rPr>
              <a:t>y</a:t>
            </a:r>
            <a:r>
              <a:rPr lang="en-US" sz="1650" b="1" spc="-34" dirty="0">
                <a:solidFill>
                  <a:prstClr val="black"/>
                </a:solidFill>
                <a:latin typeface="Times New Roman"/>
                <a:cs typeface="Times New Roman"/>
              </a:rPr>
              <a:t> </a:t>
            </a:r>
            <a:r>
              <a:rPr lang="en-US" sz="1650" b="1" spc="-38" dirty="0">
                <a:solidFill>
                  <a:prstClr val="black"/>
                </a:solidFill>
                <a:latin typeface="Times New Roman"/>
                <a:cs typeface="Times New Roman"/>
              </a:rPr>
              <a:t>Nam</a:t>
            </a:r>
            <a:r>
              <a:rPr lang="en-US" sz="1650" b="1" spc="-30" dirty="0">
                <a:solidFill>
                  <a:prstClr val="black"/>
                </a:solidFill>
                <a:latin typeface="Times New Roman"/>
                <a:cs typeface="Times New Roman"/>
              </a:rPr>
              <a:t>e</a:t>
            </a:r>
            <a:r>
              <a:rPr lang="en-US" sz="1650" b="1" spc="-8" dirty="0">
                <a:solidFill>
                  <a:prstClr val="black"/>
                </a:solidFill>
                <a:latin typeface="Times New Roman"/>
                <a:cs typeface="Times New Roman"/>
              </a:rPr>
              <a:t>:</a:t>
            </a:r>
            <a:r>
              <a:rPr lang="en-US" sz="1650" b="1" dirty="0">
                <a:solidFill>
                  <a:prstClr val="black"/>
                </a:solidFill>
                <a:latin typeface="Times New Roman"/>
                <a:cs typeface="Times New Roman"/>
              </a:rPr>
              <a:t>	</a:t>
            </a:r>
            <a:r>
              <a:rPr lang="en-US" sz="1650" b="1" spc="-38" dirty="0">
                <a:solidFill>
                  <a:prstClr val="black"/>
                </a:solidFill>
                <a:latin typeface="Times New Roman"/>
                <a:cs typeface="Times New Roman"/>
              </a:rPr>
              <a:t>M</a:t>
            </a:r>
            <a:r>
              <a:rPr lang="en-US" sz="1650" b="1" spc="-8" dirty="0">
                <a:solidFill>
                  <a:prstClr val="black"/>
                </a:solidFill>
                <a:latin typeface="Times New Roman"/>
                <a:cs typeface="Times New Roman"/>
              </a:rPr>
              <a:t>r. Alok Raj</a:t>
            </a:r>
            <a:endParaRPr lang="en-US" sz="1650" dirty="0">
              <a:solidFill>
                <a:prstClr val="black"/>
              </a:solidFill>
              <a:latin typeface="Times New Roman"/>
              <a:cs typeface="Times New Roman"/>
            </a:endParaRPr>
          </a:p>
          <a:p>
            <a:pPr>
              <a:spcBef>
                <a:spcPts val="26"/>
              </a:spcBef>
              <a:defRPr/>
            </a:pPr>
            <a:endParaRPr lang="en-US" sz="1425" dirty="0">
              <a:solidFill>
                <a:prstClr val="black"/>
              </a:solidFill>
              <a:latin typeface="Times New Roman"/>
              <a:cs typeface="Times New Roman"/>
            </a:endParaRPr>
          </a:p>
          <a:p>
            <a:pPr marL="266700" indent="-257175">
              <a:buFont typeface="Times New Roman"/>
              <a:buChar char="•"/>
              <a:tabLst>
                <a:tab pos="267176" algn="l"/>
                <a:tab pos="1495425" algn="l"/>
              </a:tabLst>
              <a:defRPr/>
            </a:pPr>
            <a:r>
              <a:rPr lang="en-US" sz="1650" spc="-11" dirty="0">
                <a:solidFill>
                  <a:prstClr val="black"/>
                </a:solidFill>
                <a:latin typeface="Times New Roman"/>
                <a:cs typeface="Times New Roman"/>
              </a:rPr>
              <a:t>De</a:t>
            </a:r>
            <a:r>
              <a:rPr lang="en-US" sz="1650" spc="-15" dirty="0">
                <a:solidFill>
                  <a:prstClr val="black"/>
                </a:solidFill>
                <a:latin typeface="Times New Roman"/>
                <a:cs typeface="Times New Roman"/>
              </a:rPr>
              <a:t>s</a:t>
            </a:r>
            <a:r>
              <a:rPr lang="en-US" sz="1650" spc="-8" dirty="0">
                <a:solidFill>
                  <a:prstClr val="black"/>
                </a:solidFill>
                <a:latin typeface="Times New Roman"/>
                <a:cs typeface="Times New Roman"/>
              </a:rPr>
              <a:t>ignation   :   Assi</a:t>
            </a:r>
            <a:r>
              <a:rPr lang="en-US" sz="1650" spc="-15" dirty="0">
                <a:solidFill>
                  <a:prstClr val="black"/>
                </a:solidFill>
                <a:latin typeface="Times New Roman"/>
                <a:cs typeface="Times New Roman"/>
              </a:rPr>
              <a:t>s</a:t>
            </a:r>
            <a:r>
              <a:rPr lang="en-US" sz="1650" spc="-8" dirty="0">
                <a:solidFill>
                  <a:prstClr val="black"/>
                </a:solidFill>
                <a:latin typeface="Times New Roman"/>
                <a:cs typeface="Times New Roman"/>
              </a:rPr>
              <a:t>tant</a:t>
            </a:r>
            <a:r>
              <a:rPr lang="en-US" sz="1650" spc="4" dirty="0">
                <a:solidFill>
                  <a:prstClr val="black"/>
                </a:solidFill>
                <a:latin typeface="Times New Roman"/>
                <a:cs typeface="Times New Roman"/>
              </a:rPr>
              <a:t> </a:t>
            </a:r>
            <a:r>
              <a:rPr lang="en-US" sz="1650" spc="-11" dirty="0">
                <a:solidFill>
                  <a:prstClr val="black"/>
                </a:solidFill>
                <a:latin typeface="Times New Roman"/>
                <a:cs typeface="Times New Roman"/>
              </a:rPr>
              <a:t>P</a:t>
            </a:r>
            <a:r>
              <a:rPr lang="en-US" sz="1650" dirty="0">
                <a:solidFill>
                  <a:prstClr val="black"/>
                </a:solidFill>
                <a:latin typeface="Times New Roman"/>
                <a:cs typeface="Times New Roman"/>
              </a:rPr>
              <a:t>r</a:t>
            </a:r>
            <a:r>
              <a:rPr lang="en-US" sz="1650" spc="-8" dirty="0">
                <a:solidFill>
                  <a:prstClr val="black"/>
                </a:solidFill>
                <a:latin typeface="Times New Roman"/>
                <a:cs typeface="Times New Roman"/>
              </a:rPr>
              <a:t>ofes</a:t>
            </a:r>
            <a:r>
              <a:rPr lang="en-US" sz="1650" spc="-15" dirty="0">
                <a:solidFill>
                  <a:prstClr val="black"/>
                </a:solidFill>
                <a:latin typeface="Times New Roman"/>
                <a:cs typeface="Times New Roman"/>
              </a:rPr>
              <a:t>s</a:t>
            </a:r>
            <a:r>
              <a:rPr lang="en-US" sz="1650" spc="-8" dirty="0">
                <a:solidFill>
                  <a:prstClr val="black"/>
                </a:solidFill>
                <a:latin typeface="Times New Roman"/>
                <a:cs typeface="Times New Roman"/>
              </a:rPr>
              <a:t>or</a:t>
            </a:r>
            <a:endParaRPr lang="en-US" sz="1650" dirty="0">
              <a:solidFill>
                <a:prstClr val="black"/>
              </a:solidFill>
              <a:latin typeface="Times New Roman"/>
              <a:cs typeface="Times New Roman"/>
            </a:endParaRPr>
          </a:p>
          <a:p>
            <a:pPr>
              <a:spcBef>
                <a:spcPts val="9"/>
              </a:spcBef>
              <a:buFont typeface="Times New Roman"/>
              <a:buChar char="•"/>
              <a:defRPr/>
            </a:pPr>
            <a:endParaRPr lang="en-US" sz="1575" dirty="0">
              <a:solidFill>
                <a:prstClr val="black"/>
              </a:solidFill>
              <a:latin typeface="Times New Roman"/>
              <a:cs typeface="Times New Roman"/>
            </a:endParaRPr>
          </a:p>
          <a:p>
            <a:pPr marL="266700" indent="-257175">
              <a:buFont typeface="Times New Roman"/>
              <a:buChar char="•"/>
              <a:tabLst>
                <a:tab pos="267176" algn="l"/>
                <a:tab pos="1413034" algn="l"/>
                <a:tab pos="1628299" algn="l"/>
              </a:tabLst>
              <a:defRPr/>
            </a:pPr>
            <a:r>
              <a:rPr lang="en-US" sz="1650" spc="-11" dirty="0">
                <a:solidFill>
                  <a:prstClr val="black"/>
                </a:solidFill>
                <a:latin typeface="Times New Roman"/>
                <a:cs typeface="Times New Roman"/>
              </a:rPr>
              <a:t>Depar</a:t>
            </a:r>
            <a:r>
              <a:rPr lang="en-US" sz="1650" dirty="0">
                <a:solidFill>
                  <a:prstClr val="black"/>
                </a:solidFill>
                <a:latin typeface="Times New Roman"/>
                <a:cs typeface="Times New Roman"/>
              </a:rPr>
              <a:t>t</a:t>
            </a:r>
            <a:r>
              <a:rPr lang="en-US" sz="1650" spc="-15" dirty="0">
                <a:solidFill>
                  <a:prstClr val="black"/>
                </a:solidFill>
                <a:latin typeface="Times New Roman"/>
                <a:cs typeface="Times New Roman"/>
              </a:rPr>
              <a:t>me</a:t>
            </a:r>
            <a:r>
              <a:rPr lang="en-US" sz="1650" spc="-8" dirty="0">
                <a:solidFill>
                  <a:prstClr val="black"/>
                </a:solidFill>
                <a:latin typeface="Times New Roman"/>
                <a:cs typeface="Times New Roman"/>
              </a:rPr>
              <a:t>nt</a:t>
            </a:r>
            <a:r>
              <a:rPr lang="en-US" sz="1650" dirty="0">
                <a:solidFill>
                  <a:prstClr val="black"/>
                </a:solidFill>
                <a:latin typeface="Times New Roman"/>
                <a:cs typeface="Times New Roman"/>
              </a:rPr>
              <a:t>	</a:t>
            </a:r>
            <a:r>
              <a:rPr lang="en-US" sz="1650" spc="-8" dirty="0">
                <a:solidFill>
                  <a:prstClr val="black"/>
                </a:solidFill>
                <a:latin typeface="Times New Roman"/>
                <a:cs typeface="Times New Roman"/>
              </a:rPr>
              <a:t>:</a:t>
            </a:r>
            <a:r>
              <a:rPr lang="en-US" sz="1650" dirty="0">
                <a:solidFill>
                  <a:prstClr val="black"/>
                </a:solidFill>
                <a:latin typeface="Times New Roman"/>
                <a:cs typeface="Times New Roman"/>
              </a:rPr>
              <a:t>	</a:t>
            </a:r>
            <a:r>
              <a:rPr lang="en-US" sz="1650" spc="-15" dirty="0">
                <a:solidFill>
                  <a:prstClr val="black"/>
                </a:solidFill>
                <a:latin typeface="Times New Roman"/>
                <a:cs typeface="Times New Roman"/>
              </a:rPr>
              <a:t>MBA</a:t>
            </a:r>
            <a:endParaRPr lang="en-US" sz="1650" dirty="0">
              <a:solidFill>
                <a:prstClr val="black"/>
              </a:solidFill>
              <a:latin typeface="Times New Roman"/>
              <a:cs typeface="Times New Roman"/>
            </a:endParaRPr>
          </a:p>
        </p:txBody>
      </p:sp>
      <p:sp>
        <p:nvSpPr>
          <p:cNvPr id="13" name="object 7"/>
          <p:cNvSpPr txBox="1"/>
          <p:nvPr/>
        </p:nvSpPr>
        <p:spPr>
          <a:xfrm>
            <a:off x="1828801" y="3048001"/>
            <a:ext cx="1503647" cy="750205"/>
          </a:xfrm>
          <a:prstGeom prst="rect">
            <a:avLst/>
          </a:prstGeom>
        </p:spPr>
        <p:txBody>
          <a:bodyPr wrap="square" lIns="0" tIns="0" rIns="0" bIns="0">
            <a:spAutoFit/>
          </a:bodyPr>
          <a:lstStyle/>
          <a:p>
            <a:pPr marL="266700" indent="-257175">
              <a:tabLst>
                <a:tab pos="267176" algn="l"/>
              </a:tabLst>
              <a:defRPr/>
            </a:pPr>
            <a:endParaRPr sz="1650" dirty="0">
              <a:solidFill>
                <a:prstClr val="black"/>
              </a:solidFill>
              <a:latin typeface="Times New Roman"/>
              <a:cs typeface="Times New Roman"/>
            </a:endParaRPr>
          </a:p>
          <a:p>
            <a:pPr>
              <a:spcBef>
                <a:spcPts val="8"/>
              </a:spcBef>
              <a:buFont typeface="Times New Roman"/>
              <a:buChar char="•"/>
              <a:defRPr/>
            </a:pPr>
            <a:endParaRPr sz="1575" dirty="0">
              <a:solidFill>
                <a:prstClr val="black"/>
              </a:solidFill>
              <a:latin typeface="Times New Roman"/>
              <a:cs typeface="Times New Roman"/>
            </a:endParaRPr>
          </a:p>
          <a:p>
            <a:pPr marL="198120" indent="-188595">
              <a:buFont typeface="Times New Roman"/>
              <a:buChar char="•"/>
              <a:tabLst>
                <a:tab pos="198596" algn="l"/>
              </a:tabLst>
              <a:defRPr/>
            </a:pPr>
            <a:r>
              <a:rPr sz="1650" spc="-8" dirty="0">
                <a:solidFill>
                  <a:prstClr val="black"/>
                </a:solidFill>
                <a:latin typeface="Times New Roman"/>
                <a:cs typeface="Times New Roman"/>
              </a:rPr>
              <a:t>Qualification</a:t>
            </a:r>
            <a:r>
              <a:rPr lang="en-US" sz="1650" spc="-8" dirty="0">
                <a:solidFill>
                  <a:prstClr val="black"/>
                </a:solidFill>
                <a:latin typeface="Times New Roman"/>
                <a:cs typeface="Times New Roman"/>
              </a:rPr>
              <a:t>  </a:t>
            </a:r>
            <a:r>
              <a:rPr sz="1650" spc="-8" dirty="0">
                <a:solidFill>
                  <a:prstClr val="black"/>
                </a:solidFill>
                <a:latin typeface="Times New Roman"/>
                <a:cs typeface="Times New Roman"/>
              </a:rPr>
              <a:t>:</a:t>
            </a:r>
            <a:endParaRPr sz="1650" dirty="0">
              <a:solidFill>
                <a:prstClr val="black"/>
              </a:solidFill>
              <a:latin typeface="Times New Roman"/>
              <a:cs typeface="Times New Roman"/>
            </a:endParaRPr>
          </a:p>
        </p:txBody>
      </p:sp>
      <p:sp>
        <p:nvSpPr>
          <p:cNvPr id="15" name="object 8"/>
          <p:cNvSpPr txBox="1"/>
          <p:nvPr/>
        </p:nvSpPr>
        <p:spPr>
          <a:xfrm>
            <a:off x="3100856" y="3048001"/>
            <a:ext cx="3147544" cy="750205"/>
          </a:xfrm>
          <a:prstGeom prst="rect">
            <a:avLst/>
          </a:prstGeom>
        </p:spPr>
        <p:txBody>
          <a:bodyPr wrap="square" lIns="0" tIns="0" rIns="0" bIns="0">
            <a:spAutoFit/>
          </a:bodyPr>
          <a:lstStyle/>
          <a:p>
            <a:pPr algn="ctr">
              <a:tabLst>
                <a:tab pos="215741" algn="l"/>
              </a:tabLst>
              <a:defRPr/>
            </a:pPr>
            <a:endParaRPr sz="1575" dirty="0">
              <a:latin typeface="Times New Roman"/>
              <a:cs typeface="Times New Roman"/>
            </a:endParaRPr>
          </a:p>
          <a:p>
            <a:pPr marL="71914" algn="ctr">
              <a:defRPr/>
            </a:pPr>
            <a:endParaRPr lang="en-US" sz="1650" spc="-15" dirty="0">
              <a:latin typeface="Times New Roman"/>
              <a:cs typeface="Times New Roman"/>
            </a:endParaRPr>
          </a:p>
          <a:p>
            <a:pPr marL="71914" algn="ctr">
              <a:defRPr/>
            </a:pPr>
            <a:r>
              <a:rPr sz="1650" spc="-15" dirty="0">
                <a:latin typeface="Times New Roman"/>
                <a:cs typeface="Times New Roman"/>
              </a:rPr>
              <a:t>MBA</a:t>
            </a:r>
            <a:r>
              <a:rPr lang="en-US" sz="1650" spc="-15" dirty="0">
                <a:latin typeface="Times New Roman"/>
                <a:cs typeface="Times New Roman"/>
              </a:rPr>
              <a:t>(Marketing and Operations)</a:t>
            </a:r>
            <a:endParaRPr sz="1650" dirty="0">
              <a:latin typeface="Times New Roman"/>
              <a:cs typeface="Times New Roman"/>
            </a:endParaRPr>
          </a:p>
        </p:txBody>
      </p:sp>
      <p:sp>
        <p:nvSpPr>
          <p:cNvPr id="16" name="object 9"/>
          <p:cNvSpPr txBox="1"/>
          <p:nvPr/>
        </p:nvSpPr>
        <p:spPr>
          <a:xfrm>
            <a:off x="1828800" y="3962401"/>
            <a:ext cx="8534400" cy="1246495"/>
          </a:xfrm>
          <a:prstGeom prst="rect">
            <a:avLst/>
          </a:prstGeom>
        </p:spPr>
        <p:txBody>
          <a:bodyPr wrap="square" lIns="0" tIns="0" rIns="0" bIns="0">
            <a:spAutoFit/>
          </a:bodyPr>
          <a:lstStyle/>
          <a:p>
            <a:pPr marL="198120" indent="-188595">
              <a:buFont typeface="Times New Roman"/>
              <a:buChar char="•"/>
              <a:tabLst>
                <a:tab pos="198120" algn="l"/>
                <a:tab pos="1654493" algn="l"/>
              </a:tabLst>
              <a:defRPr/>
            </a:pPr>
            <a:r>
              <a:rPr sz="1650" spc="-11" dirty="0">
                <a:solidFill>
                  <a:prstClr val="black"/>
                </a:solidFill>
                <a:latin typeface="Times New Roman"/>
                <a:cs typeface="Times New Roman"/>
              </a:rPr>
              <a:t>S</a:t>
            </a:r>
            <a:r>
              <a:rPr sz="1650" spc="-8" dirty="0">
                <a:solidFill>
                  <a:prstClr val="black"/>
                </a:solidFill>
                <a:latin typeface="Times New Roman"/>
                <a:cs typeface="Times New Roman"/>
              </a:rPr>
              <a:t>peci</a:t>
            </a:r>
            <a:r>
              <a:rPr sz="1650" spc="-15" dirty="0">
                <a:solidFill>
                  <a:prstClr val="black"/>
                </a:solidFill>
                <a:latin typeface="Times New Roman"/>
                <a:cs typeface="Times New Roman"/>
              </a:rPr>
              <a:t>a</a:t>
            </a:r>
            <a:r>
              <a:rPr sz="1650" spc="-8" dirty="0">
                <a:solidFill>
                  <a:prstClr val="black"/>
                </a:solidFill>
                <a:latin typeface="Times New Roman"/>
                <a:cs typeface="Times New Roman"/>
              </a:rPr>
              <a:t>lizati</a:t>
            </a:r>
            <a:r>
              <a:rPr sz="1650" dirty="0">
                <a:solidFill>
                  <a:prstClr val="black"/>
                </a:solidFill>
                <a:latin typeface="Times New Roman"/>
                <a:cs typeface="Times New Roman"/>
              </a:rPr>
              <a:t>o</a:t>
            </a:r>
            <a:r>
              <a:rPr sz="1650" spc="-8" dirty="0">
                <a:solidFill>
                  <a:prstClr val="black"/>
                </a:solidFill>
                <a:latin typeface="Times New Roman"/>
                <a:cs typeface="Times New Roman"/>
              </a:rPr>
              <a:t>n</a:t>
            </a:r>
            <a:r>
              <a:rPr lang="en-US" sz="1650" spc="-8" dirty="0">
                <a:solidFill>
                  <a:prstClr val="black"/>
                </a:solidFill>
                <a:latin typeface="Times New Roman"/>
                <a:cs typeface="Times New Roman"/>
              </a:rPr>
              <a:t> </a:t>
            </a:r>
            <a:r>
              <a:rPr sz="1650" spc="-8" dirty="0">
                <a:solidFill>
                  <a:prstClr val="black"/>
                </a:solidFill>
                <a:latin typeface="Times New Roman"/>
                <a:cs typeface="Times New Roman"/>
              </a:rPr>
              <a:t>:</a:t>
            </a:r>
            <a:r>
              <a:rPr sz="1650" dirty="0">
                <a:solidFill>
                  <a:prstClr val="black"/>
                </a:solidFill>
                <a:latin typeface="Times New Roman"/>
                <a:cs typeface="Times New Roman"/>
              </a:rPr>
              <a:t>	</a:t>
            </a:r>
            <a:r>
              <a:rPr lang="en-US" sz="1650" spc="-15" dirty="0">
                <a:latin typeface="Times New Roman"/>
                <a:cs typeface="Times New Roman"/>
              </a:rPr>
              <a:t> MBA(Marketing and Operations)</a:t>
            </a:r>
            <a:endParaRPr sz="1650" dirty="0">
              <a:solidFill>
                <a:prstClr val="black"/>
              </a:solidFill>
              <a:latin typeface="Times New Roman"/>
              <a:cs typeface="Times New Roman"/>
            </a:endParaRPr>
          </a:p>
          <a:p>
            <a:pPr>
              <a:spcBef>
                <a:spcPts val="9"/>
              </a:spcBef>
              <a:buFont typeface="Times New Roman"/>
              <a:buChar char="•"/>
              <a:defRPr/>
            </a:pPr>
            <a:endParaRPr sz="1575" dirty="0">
              <a:solidFill>
                <a:prstClr val="black"/>
              </a:solidFill>
              <a:latin typeface="Times New Roman"/>
              <a:cs typeface="Times New Roman"/>
            </a:endParaRPr>
          </a:p>
          <a:p>
            <a:pPr marL="266700" indent="-257175">
              <a:buFont typeface="Arial" panose="020B0604020202020204" pitchFamily="34" charset="0"/>
              <a:buChar char="•"/>
              <a:tabLst>
                <a:tab pos="267176" algn="l"/>
              </a:tabLst>
              <a:defRPr/>
            </a:pPr>
            <a:r>
              <a:rPr sz="1650" spc="-11" dirty="0">
                <a:solidFill>
                  <a:prstClr val="black"/>
                </a:solidFill>
                <a:latin typeface="Times New Roman"/>
                <a:cs typeface="Times New Roman"/>
              </a:rPr>
              <a:t>Tea</a:t>
            </a:r>
            <a:r>
              <a:rPr sz="1650" spc="-15" dirty="0">
                <a:solidFill>
                  <a:prstClr val="black"/>
                </a:solidFill>
                <a:latin typeface="Times New Roman"/>
                <a:cs typeface="Times New Roman"/>
              </a:rPr>
              <a:t>c</a:t>
            </a:r>
            <a:r>
              <a:rPr sz="1650" spc="-8" dirty="0">
                <a:solidFill>
                  <a:prstClr val="black"/>
                </a:solidFill>
                <a:latin typeface="Times New Roman"/>
                <a:cs typeface="Times New Roman"/>
              </a:rPr>
              <a:t>hing</a:t>
            </a:r>
            <a:r>
              <a:rPr sz="1650" spc="4" dirty="0">
                <a:solidFill>
                  <a:prstClr val="black"/>
                </a:solidFill>
                <a:latin typeface="Times New Roman"/>
                <a:cs typeface="Times New Roman"/>
              </a:rPr>
              <a:t> </a:t>
            </a:r>
            <a:r>
              <a:rPr sz="1650" spc="-11" dirty="0">
                <a:solidFill>
                  <a:prstClr val="black"/>
                </a:solidFill>
                <a:latin typeface="Times New Roman"/>
                <a:cs typeface="Times New Roman"/>
              </a:rPr>
              <a:t>Ar</a:t>
            </a:r>
            <a:r>
              <a:rPr sz="1650" spc="-4" dirty="0">
                <a:solidFill>
                  <a:prstClr val="black"/>
                </a:solidFill>
                <a:latin typeface="Times New Roman"/>
                <a:cs typeface="Times New Roman"/>
              </a:rPr>
              <a:t>e</a:t>
            </a:r>
            <a:r>
              <a:rPr sz="1650" spc="-8" dirty="0">
                <a:solidFill>
                  <a:prstClr val="black"/>
                </a:solidFill>
                <a:latin typeface="Times New Roman"/>
                <a:cs typeface="Times New Roman"/>
              </a:rPr>
              <a:t>a:</a:t>
            </a:r>
            <a:r>
              <a:rPr sz="1650" spc="4" dirty="0">
                <a:solidFill>
                  <a:prstClr val="black"/>
                </a:solidFill>
                <a:latin typeface="Times New Roman"/>
                <a:cs typeface="Times New Roman"/>
              </a:rPr>
              <a:t> </a:t>
            </a:r>
            <a:r>
              <a:rPr lang="en-US" sz="1650" spc="4" dirty="0">
                <a:solidFill>
                  <a:prstClr val="black"/>
                </a:solidFill>
                <a:latin typeface="Times New Roman"/>
                <a:cs typeface="Times New Roman"/>
              </a:rPr>
              <a:t>   General Management, </a:t>
            </a:r>
            <a:r>
              <a:rPr lang="en-US" sz="1650" spc="-15" dirty="0">
                <a:solidFill>
                  <a:prstClr val="black"/>
                </a:solidFill>
                <a:latin typeface="Times New Roman"/>
                <a:cs typeface="Times New Roman"/>
              </a:rPr>
              <a:t>Entrepreneurship, Operations Management </a:t>
            </a:r>
            <a:endParaRPr sz="1650" dirty="0">
              <a:solidFill>
                <a:prstClr val="black"/>
              </a:solidFill>
              <a:latin typeface="Times New Roman"/>
              <a:cs typeface="Times New Roman"/>
            </a:endParaRPr>
          </a:p>
          <a:p>
            <a:pPr>
              <a:spcBef>
                <a:spcPts val="6"/>
              </a:spcBef>
              <a:buFont typeface="Times New Roman"/>
              <a:buChar char="•"/>
              <a:defRPr/>
            </a:pPr>
            <a:endParaRPr sz="1575" dirty="0">
              <a:solidFill>
                <a:prstClr val="black"/>
              </a:solidFill>
              <a:latin typeface="Times New Roman"/>
              <a:cs typeface="Times New Roman"/>
            </a:endParaRPr>
          </a:p>
          <a:p>
            <a:pPr marL="266700" indent="-257175">
              <a:buFont typeface="Arial" panose="020B0604020202020204" pitchFamily="34" charset="0"/>
              <a:buChar char="•"/>
              <a:tabLst>
                <a:tab pos="267176" algn="l"/>
              </a:tabLst>
              <a:defRPr/>
            </a:pPr>
            <a:endParaRPr sz="1650" dirty="0">
              <a:solidFill>
                <a:prstClr val="black"/>
              </a:solidFill>
              <a:latin typeface="Times New Roman"/>
              <a:cs typeface="Times New Roman"/>
            </a:endParaRPr>
          </a:p>
        </p:txBody>
      </p:sp>
      <p:sp>
        <p:nvSpPr>
          <p:cNvPr id="9" name="Rectangle 8">
            <a:extLst>
              <a:ext uri="{FF2B5EF4-FFF2-40B4-BE49-F238E27FC236}">
                <a16:creationId xmlns:a16="http://schemas.microsoft.com/office/drawing/2014/main" id="{731A936F-F269-359D-A45A-2FFA91880636}"/>
              </a:ext>
            </a:extLst>
          </p:cNvPr>
          <p:cNvSpPr/>
          <p:nvPr/>
        </p:nvSpPr>
        <p:spPr>
          <a:xfrm>
            <a:off x="152400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458501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866335" y="1164443"/>
          <a:ext cx="10515600" cy="4724400"/>
        </p:xfrm>
        <a:graphic>
          <a:graphicData uri="http://schemas.openxmlformats.org/drawingml/2006/table">
            <a:tbl>
              <a:tblPr firstRow="1" bandRow="1">
                <a:tableStyleId>{00A15C55-8517-42AA-B614-E9B94910E393}</a:tableStyleId>
              </a:tblPr>
              <a:tblGrid>
                <a:gridCol w="1159412">
                  <a:extLst>
                    <a:ext uri="{9D8B030D-6E8A-4147-A177-3AD203B41FA5}">
                      <a16:colId xmlns:a16="http://schemas.microsoft.com/office/drawing/2014/main" val="20000"/>
                    </a:ext>
                  </a:extLst>
                </a:gridCol>
                <a:gridCol w="9356188">
                  <a:extLst>
                    <a:ext uri="{9D8B030D-6E8A-4147-A177-3AD203B41FA5}">
                      <a16:colId xmlns:a16="http://schemas.microsoft.com/office/drawing/2014/main" val="20001"/>
                    </a:ext>
                  </a:extLst>
                </a:gridCol>
              </a:tblGrid>
              <a:tr h="370840">
                <a:tc>
                  <a:txBody>
                    <a:bodyPr/>
                    <a:lstStyle/>
                    <a:p>
                      <a:pPr algn="ctr"/>
                      <a:r>
                        <a:rPr lang="en-US" sz="2400"/>
                        <a:t>Sr. No.</a:t>
                      </a:r>
                    </a:p>
                  </a:txBody>
                  <a:tcPr/>
                </a:tc>
                <a:tc>
                  <a:txBody>
                    <a:bodyPr/>
                    <a:lstStyle/>
                    <a:p>
                      <a:pPr algn="ctr"/>
                      <a:r>
                        <a:rPr lang="en-US" sz="2400"/>
                        <a:t>INDEX</a:t>
                      </a:r>
                      <a:r>
                        <a:rPr lang="en-US" sz="2400" baseline="0"/>
                        <a:t> </a:t>
                      </a:r>
                      <a:endParaRPr lang="en-US" sz="2400"/>
                    </a:p>
                  </a:txBody>
                  <a:tcPr/>
                </a:tc>
                <a:extLst>
                  <a:ext uri="{0D108BD9-81ED-4DB2-BD59-A6C34878D82A}">
                    <a16:rowId xmlns:a16="http://schemas.microsoft.com/office/drawing/2014/main" val="10000"/>
                  </a:ext>
                </a:extLst>
              </a:tr>
              <a:tr h="370840">
                <a:tc>
                  <a:txBody>
                    <a:bodyPr/>
                    <a:lstStyle/>
                    <a:p>
                      <a:pPr algn="ctr"/>
                      <a:r>
                        <a:rPr lang="en-US" sz="2000" b="1">
                          <a:effectLst>
                            <a:outerShdw blurRad="38100" dist="38100" dir="2700000" algn="tl">
                              <a:srgbClr val="000000">
                                <a:alpha val="43137"/>
                              </a:srgbClr>
                            </a:outerShdw>
                          </a:effectLst>
                        </a:rPr>
                        <a:t>1</a:t>
                      </a:r>
                    </a:p>
                  </a:txBody>
                  <a:tcPr/>
                </a:tc>
                <a:tc>
                  <a:txBody>
                    <a:bodyPr/>
                    <a:lstStyle/>
                    <a:p>
                      <a:pPr algn="ctr"/>
                      <a:r>
                        <a:rPr lang="en-US" sz="2000" b="1">
                          <a:effectLst>
                            <a:outerShdw blurRad="38100" dist="38100" dir="2700000" algn="tl">
                              <a:srgbClr val="000000">
                                <a:alpha val="43137"/>
                              </a:srgbClr>
                            </a:outerShdw>
                          </a:effectLst>
                        </a:rPr>
                        <a:t>Name</a:t>
                      </a:r>
                      <a:r>
                        <a:rPr lang="en-US" sz="2000" b="1" baseline="0">
                          <a:effectLst>
                            <a:outerShdw blurRad="38100" dist="38100" dir="2700000" algn="tl">
                              <a:srgbClr val="000000">
                                <a:alpha val="43137"/>
                              </a:srgbClr>
                            </a:outerShdw>
                          </a:effectLst>
                        </a:rPr>
                        <a:t> of Subject with code, Course and Subject Teacher </a:t>
                      </a:r>
                      <a:endParaRPr lang="en-US" sz="2000" b="1">
                        <a:effectLst>
                          <a:outerShdw blurRad="38100" dist="38100" dir="2700000" algn="tl">
                            <a:srgbClr val="000000">
                              <a:alpha val="43137"/>
                            </a:srgbClr>
                          </a:outerShdw>
                        </a:effectLst>
                      </a:endParaRPr>
                    </a:p>
                  </a:txBody>
                  <a:tcPr/>
                </a:tc>
                <a:extLst>
                  <a:ext uri="{0D108BD9-81ED-4DB2-BD59-A6C34878D82A}">
                    <a16:rowId xmlns:a16="http://schemas.microsoft.com/office/drawing/2014/main" val="10001"/>
                  </a:ext>
                </a:extLst>
              </a:tr>
              <a:tr h="370840">
                <a:tc>
                  <a:txBody>
                    <a:bodyPr/>
                    <a:lstStyle/>
                    <a:p>
                      <a:pPr algn="ctr"/>
                      <a:r>
                        <a:rPr lang="en-US" sz="2000" b="1">
                          <a:effectLst>
                            <a:outerShdw blurRad="38100" dist="38100" dir="2700000" algn="tl">
                              <a:srgbClr val="000000">
                                <a:alpha val="43137"/>
                              </a:srgbClr>
                            </a:outerShdw>
                          </a:effectLst>
                        </a:rPr>
                        <a:t>2</a:t>
                      </a:r>
                    </a:p>
                  </a:txBody>
                  <a:tcPr/>
                </a:tc>
                <a:tc>
                  <a:txBody>
                    <a:bodyPr/>
                    <a:lstStyle/>
                    <a:p>
                      <a:pPr algn="ctr"/>
                      <a:r>
                        <a:rPr lang="en-US" sz="2000" b="1">
                          <a:effectLst>
                            <a:outerShdw blurRad="38100" dist="38100" dir="2700000" algn="tl">
                              <a:srgbClr val="000000">
                                <a:alpha val="43137"/>
                              </a:srgbClr>
                            </a:outerShdw>
                          </a:effectLst>
                        </a:rPr>
                        <a:t>Brief Introduction</a:t>
                      </a:r>
                      <a:r>
                        <a:rPr lang="en-US" sz="2000" b="1" baseline="0">
                          <a:effectLst>
                            <a:outerShdw blurRad="38100" dist="38100" dir="2700000" algn="tl">
                              <a:srgbClr val="000000">
                                <a:alpha val="43137"/>
                              </a:srgbClr>
                            </a:outerShdw>
                          </a:effectLst>
                        </a:rPr>
                        <a:t> of Faculty Member with Photograph</a:t>
                      </a:r>
                      <a:endParaRPr lang="en-US" sz="2000" b="1">
                        <a:effectLst>
                          <a:outerShdw blurRad="38100" dist="38100" dir="2700000" algn="tl">
                            <a:srgbClr val="000000">
                              <a:alpha val="43137"/>
                            </a:srgbClr>
                          </a:outerShdw>
                        </a:effectLst>
                      </a:endParaRPr>
                    </a:p>
                  </a:txBody>
                  <a:tcPr/>
                </a:tc>
                <a:extLst>
                  <a:ext uri="{0D108BD9-81ED-4DB2-BD59-A6C34878D82A}">
                    <a16:rowId xmlns:a16="http://schemas.microsoft.com/office/drawing/2014/main" val="10002"/>
                  </a:ext>
                </a:extLst>
              </a:tr>
              <a:tr h="370840">
                <a:tc>
                  <a:txBody>
                    <a:bodyPr/>
                    <a:lstStyle/>
                    <a:p>
                      <a:pPr algn="ctr"/>
                      <a:r>
                        <a:rPr lang="en-US" sz="2000" b="1">
                          <a:effectLst>
                            <a:outerShdw blurRad="38100" dist="38100" dir="2700000" algn="tl">
                              <a:srgbClr val="000000">
                                <a:alpha val="43137"/>
                              </a:srgbClr>
                            </a:outerShdw>
                          </a:effectLst>
                        </a:rPr>
                        <a:t>3</a:t>
                      </a:r>
                    </a:p>
                  </a:txBody>
                  <a:tcPr/>
                </a:tc>
                <a:tc>
                  <a:txBody>
                    <a:bodyPr/>
                    <a:lstStyle/>
                    <a:p>
                      <a:pPr algn="ctr"/>
                      <a:r>
                        <a:rPr lang="en-US" sz="2000" b="1">
                          <a:effectLst>
                            <a:outerShdw blurRad="38100" dist="38100" dir="2700000" algn="tl">
                              <a:srgbClr val="000000">
                                <a:alpha val="43137"/>
                              </a:srgbClr>
                            </a:outerShdw>
                          </a:effectLst>
                        </a:rPr>
                        <a:t>Evaluation</a:t>
                      </a:r>
                      <a:r>
                        <a:rPr lang="en-US" sz="2000" b="1" baseline="0">
                          <a:effectLst>
                            <a:outerShdw blurRad="38100" dist="38100" dir="2700000" algn="tl">
                              <a:srgbClr val="000000">
                                <a:alpha val="43137"/>
                              </a:srgbClr>
                            </a:outerShdw>
                          </a:effectLst>
                        </a:rPr>
                        <a:t> Scheme</a:t>
                      </a:r>
                      <a:endParaRPr lang="en-US" sz="2000" b="1">
                        <a:effectLst>
                          <a:outerShdw blurRad="38100" dist="38100" dir="2700000" algn="tl">
                            <a:srgbClr val="000000">
                              <a:alpha val="43137"/>
                            </a:srgbClr>
                          </a:outerShdw>
                        </a:effectLst>
                      </a:endParaRPr>
                    </a:p>
                  </a:txBody>
                  <a:tcPr/>
                </a:tc>
                <a:extLst>
                  <a:ext uri="{0D108BD9-81ED-4DB2-BD59-A6C34878D82A}">
                    <a16:rowId xmlns:a16="http://schemas.microsoft.com/office/drawing/2014/main" val="10003"/>
                  </a:ext>
                </a:extLst>
              </a:tr>
              <a:tr h="370840">
                <a:tc>
                  <a:txBody>
                    <a:bodyPr/>
                    <a:lstStyle/>
                    <a:p>
                      <a:pPr algn="ctr"/>
                      <a:r>
                        <a:rPr lang="en-US" sz="2000" b="1">
                          <a:effectLst>
                            <a:outerShdw blurRad="38100" dist="38100" dir="2700000" algn="tl">
                              <a:srgbClr val="000000">
                                <a:alpha val="43137"/>
                              </a:srgbClr>
                            </a:outerShdw>
                          </a:effectLst>
                        </a:rPr>
                        <a:t>4</a:t>
                      </a:r>
                    </a:p>
                  </a:txBody>
                  <a:tcPr/>
                </a:tc>
                <a:tc>
                  <a:txBody>
                    <a:bodyPr/>
                    <a:lstStyle/>
                    <a:p>
                      <a:pPr algn="ctr"/>
                      <a:r>
                        <a:rPr lang="en-US" sz="2000" b="1">
                          <a:effectLst>
                            <a:outerShdw blurRad="38100" dist="38100" dir="2700000" algn="tl">
                              <a:srgbClr val="000000">
                                <a:alpha val="43137"/>
                              </a:srgbClr>
                            </a:outerShdw>
                          </a:effectLst>
                        </a:rPr>
                        <a:t>Syllabus</a:t>
                      </a:r>
                    </a:p>
                  </a:txBody>
                  <a:tcPr/>
                </a:tc>
                <a:extLst>
                  <a:ext uri="{0D108BD9-81ED-4DB2-BD59-A6C34878D82A}">
                    <a16:rowId xmlns:a16="http://schemas.microsoft.com/office/drawing/2014/main" val="10004"/>
                  </a:ext>
                </a:extLst>
              </a:tr>
              <a:tr h="370840">
                <a:tc>
                  <a:txBody>
                    <a:bodyPr/>
                    <a:lstStyle/>
                    <a:p>
                      <a:pPr algn="ctr"/>
                      <a:r>
                        <a:rPr lang="en-US" sz="2000" b="1">
                          <a:effectLst>
                            <a:outerShdw blurRad="38100" dist="38100" dir="2700000" algn="tl">
                              <a:srgbClr val="000000">
                                <a:alpha val="43137"/>
                              </a:srgbClr>
                            </a:outerShdw>
                          </a:effectLst>
                        </a:rPr>
                        <a:t>5</a:t>
                      </a:r>
                    </a:p>
                  </a:txBody>
                  <a:tcPr/>
                </a:tc>
                <a:tc>
                  <a:txBody>
                    <a:bodyPr/>
                    <a:lstStyle/>
                    <a:p>
                      <a:pPr algn="ctr"/>
                      <a:r>
                        <a:rPr lang="en-US" sz="2000" b="1">
                          <a:effectLst>
                            <a:outerShdw blurRad="38100" dist="38100" dir="2700000" algn="tl">
                              <a:srgbClr val="000000">
                                <a:alpha val="43137"/>
                              </a:srgbClr>
                            </a:outerShdw>
                          </a:effectLst>
                        </a:rPr>
                        <a:t>Branch-wise Application</a:t>
                      </a:r>
                    </a:p>
                  </a:txBody>
                  <a:tcPr/>
                </a:tc>
                <a:extLst>
                  <a:ext uri="{0D108BD9-81ED-4DB2-BD59-A6C34878D82A}">
                    <a16:rowId xmlns:a16="http://schemas.microsoft.com/office/drawing/2014/main" val="10005"/>
                  </a:ext>
                </a:extLst>
              </a:tr>
              <a:tr h="370840">
                <a:tc>
                  <a:txBody>
                    <a:bodyPr/>
                    <a:lstStyle/>
                    <a:p>
                      <a:pPr algn="ctr"/>
                      <a:r>
                        <a:rPr lang="en-US" sz="2000" b="1">
                          <a:effectLst>
                            <a:outerShdw blurRad="38100" dist="38100" dir="2700000" algn="tl">
                              <a:srgbClr val="000000">
                                <a:alpha val="43137"/>
                              </a:srgbClr>
                            </a:outerShdw>
                          </a:effectLst>
                        </a:rPr>
                        <a:t>6</a:t>
                      </a:r>
                    </a:p>
                  </a:txBody>
                  <a:tcPr/>
                </a:tc>
                <a:tc>
                  <a:txBody>
                    <a:bodyPr/>
                    <a:lstStyle/>
                    <a:p>
                      <a:pPr algn="ctr"/>
                      <a:r>
                        <a:rPr lang="en-US" sz="2000" b="1">
                          <a:effectLst>
                            <a:outerShdw blurRad="38100" dist="38100" dir="2700000" algn="tl">
                              <a:srgbClr val="000000">
                                <a:alpha val="43137"/>
                              </a:srgbClr>
                            </a:outerShdw>
                          </a:effectLst>
                        </a:rPr>
                        <a:t>Course</a:t>
                      </a:r>
                      <a:r>
                        <a:rPr lang="en-US" sz="2000" b="1" baseline="0">
                          <a:effectLst>
                            <a:outerShdw blurRad="38100" dist="38100" dir="2700000" algn="tl">
                              <a:srgbClr val="000000">
                                <a:alpha val="43137"/>
                              </a:srgbClr>
                            </a:outerShdw>
                          </a:effectLst>
                        </a:rPr>
                        <a:t> Objectives </a:t>
                      </a:r>
                      <a:endParaRPr lang="en-US" sz="2000" b="1">
                        <a:effectLst>
                          <a:outerShdw blurRad="38100" dist="38100" dir="2700000" algn="tl">
                            <a:srgbClr val="000000">
                              <a:alpha val="43137"/>
                            </a:srgbClr>
                          </a:outerShdw>
                        </a:effectLst>
                      </a:endParaRPr>
                    </a:p>
                  </a:txBody>
                  <a:tcPr/>
                </a:tc>
                <a:extLst>
                  <a:ext uri="{0D108BD9-81ED-4DB2-BD59-A6C34878D82A}">
                    <a16:rowId xmlns:a16="http://schemas.microsoft.com/office/drawing/2014/main" val="10006"/>
                  </a:ext>
                </a:extLst>
              </a:tr>
              <a:tr h="370840">
                <a:tc>
                  <a:txBody>
                    <a:bodyPr/>
                    <a:lstStyle/>
                    <a:p>
                      <a:pPr algn="ctr"/>
                      <a:r>
                        <a:rPr lang="en-US" sz="2000" b="1">
                          <a:effectLst>
                            <a:outerShdw blurRad="38100" dist="38100" dir="2700000" algn="tl">
                              <a:srgbClr val="000000">
                                <a:alpha val="43137"/>
                              </a:srgbClr>
                            </a:outerShdw>
                          </a:effectLst>
                        </a:rPr>
                        <a:t>7</a:t>
                      </a:r>
                    </a:p>
                  </a:txBody>
                  <a:tcPr/>
                </a:tc>
                <a:tc>
                  <a:txBody>
                    <a:bodyPr/>
                    <a:lstStyle/>
                    <a:p>
                      <a:pPr algn="ctr"/>
                      <a:r>
                        <a:rPr lang="en-US" sz="2000" b="1">
                          <a:effectLst>
                            <a:outerShdw blurRad="38100" dist="38100" dir="2700000" algn="tl">
                              <a:srgbClr val="000000">
                                <a:alpha val="43137"/>
                              </a:srgbClr>
                            </a:outerShdw>
                          </a:effectLst>
                        </a:rPr>
                        <a:t>Course Outcomes </a:t>
                      </a:r>
                    </a:p>
                  </a:txBody>
                  <a:tcPr/>
                </a:tc>
                <a:extLst>
                  <a:ext uri="{0D108BD9-81ED-4DB2-BD59-A6C34878D82A}">
                    <a16:rowId xmlns:a16="http://schemas.microsoft.com/office/drawing/2014/main" val="10007"/>
                  </a:ext>
                </a:extLst>
              </a:tr>
              <a:tr h="370840">
                <a:tc>
                  <a:txBody>
                    <a:bodyPr/>
                    <a:lstStyle/>
                    <a:p>
                      <a:pPr algn="ctr"/>
                      <a:r>
                        <a:rPr lang="en-US" sz="2000" b="1">
                          <a:effectLst>
                            <a:outerShdw blurRad="38100" dist="38100" dir="2700000" algn="tl">
                              <a:srgbClr val="000000">
                                <a:alpha val="43137"/>
                              </a:srgbClr>
                            </a:outerShdw>
                          </a:effectLst>
                        </a:rPr>
                        <a:t>8</a:t>
                      </a:r>
                    </a:p>
                  </a:txBody>
                  <a:tcPr/>
                </a:tc>
                <a:tc>
                  <a:txBody>
                    <a:bodyPr/>
                    <a:lstStyle/>
                    <a:p>
                      <a:pPr algn="ctr"/>
                      <a:r>
                        <a:rPr lang="en-US" sz="2000" b="1" err="1">
                          <a:effectLst>
                            <a:outerShdw blurRad="38100" dist="38100" dir="2700000" algn="tl">
                              <a:srgbClr val="000000">
                                <a:alpha val="43137"/>
                              </a:srgbClr>
                            </a:outerShdw>
                          </a:effectLst>
                        </a:rPr>
                        <a:t>Programme</a:t>
                      </a:r>
                      <a:r>
                        <a:rPr lang="en-US" sz="2000" b="1">
                          <a:effectLst>
                            <a:outerShdw blurRad="38100" dist="38100" dir="2700000" algn="tl">
                              <a:srgbClr val="000000">
                                <a:alpha val="43137"/>
                              </a:srgbClr>
                            </a:outerShdw>
                          </a:effectLst>
                        </a:rPr>
                        <a:t> Outcomes (PSOs) </a:t>
                      </a:r>
                    </a:p>
                  </a:txBody>
                  <a:tcPr/>
                </a:tc>
                <a:extLst>
                  <a:ext uri="{0D108BD9-81ED-4DB2-BD59-A6C34878D82A}">
                    <a16:rowId xmlns:a16="http://schemas.microsoft.com/office/drawing/2014/main" val="10008"/>
                  </a:ext>
                </a:extLst>
              </a:tr>
              <a:tr h="370840">
                <a:tc>
                  <a:txBody>
                    <a:bodyPr/>
                    <a:lstStyle/>
                    <a:p>
                      <a:pPr algn="ctr"/>
                      <a:r>
                        <a:rPr lang="en-US" sz="2000" b="1">
                          <a:effectLst>
                            <a:outerShdw blurRad="38100" dist="38100" dir="2700000" algn="tl">
                              <a:srgbClr val="000000">
                                <a:alpha val="43137"/>
                              </a:srgbClr>
                            </a:outerShdw>
                          </a:effectLst>
                        </a:rPr>
                        <a:t>9</a:t>
                      </a:r>
                    </a:p>
                  </a:txBody>
                  <a:tcPr/>
                </a:tc>
                <a:tc>
                  <a:txBody>
                    <a:bodyPr/>
                    <a:lstStyle/>
                    <a:p>
                      <a:pPr algn="ctr"/>
                      <a:r>
                        <a:rPr lang="en-US" sz="2000" b="1">
                          <a:effectLst>
                            <a:outerShdw blurRad="38100" dist="38100" dir="2700000" algn="tl">
                              <a:srgbClr val="000000">
                                <a:alpha val="43137"/>
                              </a:srgbClr>
                            </a:outerShdw>
                          </a:effectLst>
                        </a:rPr>
                        <a:t>COs</a:t>
                      </a:r>
                      <a:r>
                        <a:rPr lang="en-US" sz="2000" b="1" baseline="0">
                          <a:effectLst>
                            <a:outerShdw blurRad="38100" dist="38100" dir="2700000" algn="tl">
                              <a:srgbClr val="000000">
                                <a:alpha val="43137"/>
                              </a:srgbClr>
                            </a:outerShdw>
                          </a:effectLst>
                        </a:rPr>
                        <a:t> and POs Mapping </a:t>
                      </a:r>
                      <a:endParaRPr lang="en-US" sz="2000" b="1">
                        <a:effectLst>
                          <a:outerShdw blurRad="38100" dist="38100" dir="2700000" algn="tl">
                            <a:srgbClr val="000000">
                              <a:alpha val="43137"/>
                            </a:srgbClr>
                          </a:outerShdw>
                        </a:effectLst>
                      </a:endParaRPr>
                    </a:p>
                  </a:txBody>
                  <a:tcPr/>
                </a:tc>
                <a:extLst>
                  <a:ext uri="{0D108BD9-81ED-4DB2-BD59-A6C34878D82A}">
                    <a16:rowId xmlns:a16="http://schemas.microsoft.com/office/drawing/2014/main" val="10009"/>
                  </a:ext>
                </a:extLst>
              </a:tr>
              <a:tr h="370840">
                <a:tc>
                  <a:txBody>
                    <a:bodyPr/>
                    <a:lstStyle/>
                    <a:p>
                      <a:pPr algn="ctr"/>
                      <a:r>
                        <a:rPr lang="en-US" sz="2000" b="1">
                          <a:effectLst>
                            <a:outerShdw blurRad="38100" dist="38100" dir="2700000" algn="tl">
                              <a:srgbClr val="000000">
                                <a:alpha val="43137"/>
                              </a:srgbClr>
                            </a:outerShdw>
                          </a:effectLst>
                        </a:rPr>
                        <a:t>10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a:t>Lecture</a:t>
                      </a:r>
                      <a:r>
                        <a:rPr lang="en-US" sz="2000" b="1" baseline="0"/>
                        <a:t> related topic </a:t>
                      </a:r>
                      <a:endParaRPr lang="en-US" sz="2000" b="1"/>
                    </a:p>
                    <a:p>
                      <a:pPr algn="ctr"/>
                      <a:endParaRPr lang="en-US" sz="2000" b="1">
                        <a:effectLst>
                          <a:outerShdw blurRad="38100" dist="38100" dir="2700000" algn="tl">
                            <a:srgbClr val="000000">
                              <a:alpha val="43137"/>
                            </a:srgbClr>
                          </a:outerShdw>
                        </a:effectLst>
                      </a:endParaRPr>
                    </a:p>
                  </a:txBody>
                  <a:tcPr/>
                </a:tc>
                <a:extLst>
                  <a:ext uri="{0D108BD9-81ED-4DB2-BD59-A6C34878D82A}">
                    <a16:rowId xmlns:a16="http://schemas.microsoft.com/office/drawing/2014/main" val="10010"/>
                  </a:ext>
                </a:extLst>
              </a:tr>
            </a:tbl>
          </a:graphicData>
        </a:graphic>
      </p:graphicFrame>
      <p:sp>
        <p:nvSpPr>
          <p:cNvPr id="4" name="Rectangle 3">
            <a:extLst>
              <a:ext uri="{FF2B5EF4-FFF2-40B4-BE49-F238E27FC236}">
                <a16:creationId xmlns:a16="http://schemas.microsoft.com/office/drawing/2014/main" id="{CD0F2DA4-28DA-1721-2123-5B668D1288D4}"/>
              </a:ext>
            </a:extLst>
          </p:cNvPr>
          <p:cNvSpPr/>
          <p:nvPr/>
        </p:nvSpPr>
        <p:spPr>
          <a:xfrm>
            <a:off x="0" y="851755"/>
            <a:ext cx="12192000" cy="45719"/>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solidFill>
                <a:srgbClr val="D4222A"/>
              </a:solidFill>
            </a:endParaRPr>
          </a:p>
        </p:txBody>
      </p:sp>
      <p:pic>
        <p:nvPicPr>
          <p:cNvPr id="5" name="Picture 4">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6" name="Rectangle 5"/>
          <p:cNvSpPr/>
          <p:nvPr/>
        </p:nvSpPr>
        <p:spPr>
          <a:xfrm>
            <a:off x="3441896" y="236026"/>
            <a:ext cx="6096000" cy="861774"/>
          </a:xfrm>
          <a:prstGeom prst="rect">
            <a:avLst/>
          </a:prstGeom>
        </p:spPr>
        <p:txBody>
          <a:bodyPr>
            <a:spAutoFit/>
          </a:bodyPr>
          <a:lstStyle/>
          <a:p>
            <a:pPr algn="ctr"/>
            <a:r>
              <a:rPr lang="en-US" sz="3200" b="1">
                <a:solidFill>
                  <a:srgbClr val="C00000"/>
                </a:solidFill>
                <a:latin typeface="Times New Roman" pitchFamily="18" charset="0"/>
                <a:cs typeface="Times New Roman" pitchFamily="18" charset="0"/>
              </a:rPr>
              <a:t>INDEX / CONTENT </a:t>
            </a:r>
            <a:br>
              <a:rPr lang="en-US" sz="2000" b="1">
                <a:latin typeface="Times New Roman" pitchFamily="18" charset="0"/>
                <a:cs typeface="Times New Roman" pitchFamily="18" charset="0"/>
              </a:rPr>
            </a:br>
            <a:endParaRPr lang="en-US"/>
          </a:p>
        </p:txBody>
      </p:sp>
      <p:sp>
        <p:nvSpPr>
          <p:cNvPr id="8" name="Rectangle 7">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347108" y="0"/>
            <a:ext cx="9239250" cy="838200"/>
          </a:xfrm>
        </p:spPr>
        <p:txBody>
          <a:bodyPr>
            <a:normAutofit/>
          </a:bodyPr>
          <a:lstStyle/>
          <a:p>
            <a:pPr algn="ctr"/>
            <a:r>
              <a:rPr lang="en-IN" sz="3600" b="1">
                <a:solidFill>
                  <a:srgbClr val="CC3300"/>
                </a:solidFill>
                <a:latin typeface="Times New Roman" pitchFamily="18" charset="0"/>
                <a:cs typeface="Times New Roman" pitchFamily="18" charset="0"/>
              </a:rPr>
              <a:t>Subject Syllabus</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6" name="Rectangle 15"/>
          <p:cNvSpPr/>
          <p:nvPr/>
        </p:nvSpPr>
        <p:spPr>
          <a:xfrm>
            <a:off x="182880" y="1237956"/>
            <a:ext cx="11774658" cy="3046988"/>
          </a:xfrm>
          <a:prstGeom prst="rect">
            <a:avLst/>
          </a:prstGeom>
        </p:spPr>
        <p:txBody>
          <a:bodyPr wrap="square">
            <a:spAutoFit/>
          </a:bodyPr>
          <a:lstStyle/>
          <a:p>
            <a:r>
              <a:rPr lang="en-US" sz="2400" b="1">
                <a:latin typeface="Times New Roman" panose="02020603050405020304" pitchFamily="18" charset="0"/>
                <a:cs typeface="Times New Roman" panose="02020603050405020304" pitchFamily="18" charset="0"/>
              </a:rPr>
              <a:t>Unit –I</a:t>
            </a:r>
          </a:p>
          <a:p>
            <a:pPr algn="just">
              <a:buFont typeface="Arial" pitchFamily="34" charset="0"/>
              <a:buChar char="•"/>
            </a:pPr>
            <a:r>
              <a:rPr lang="en-US" sz="2400">
                <a:latin typeface="Times New Roman" panose="02020603050405020304" pitchFamily="18" charset="0"/>
                <a:ea typeface="Calibri" panose="020F0502020204030204" pitchFamily="34" charset="0"/>
                <a:cs typeface="Times New Roman" panose="02020603050405020304" pitchFamily="18" charset="0"/>
              </a:rPr>
              <a:t>Entrepreneurship: need, scope, </a:t>
            </a:r>
          </a:p>
          <a:p>
            <a:pPr algn="just">
              <a:buFont typeface="Arial" pitchFamily="34" charset="0"/>
              <a:buChar char="•"/>
            </a:pPr>
            <a:r>
              <a:rPr lang="en-US" sz="2400">
                <a:latin typeface="Times New Roman" panose="02020603050405020304" pitchFamily="18" charset="0"/>
                <a:ea typeface="Calibri" panose="020F0502020204030204" pitchFamily="34" charset="0"/>
                <a:cs typeface="Times New Roman" panose="02020603050405020304" pitchFamily="18" charset="0"/>
              </a:rPr>
              <a:t>Entrepreneurial competencies &amp; traits, </a:t>
            </a:r>
          </a:p>
          <a:p>
            <a:pPr algn="just">
              <a:buFont typeface="Arial" pitchFamily="34" charset="0"/>
              <a:buChar char="•"/>
            </a:pPr>
            <a:r>
              <a:rPr lang="en-US" sz="2400">
                <a:latin typeface="Times New Roman" panose="02020603050405020304" pitchFamily="18" charset="0"/>
                <a:ea typeface="Calibri" panose="020F0502020204030204" pitchFamily="34" charset="0"/>
                <a:cs typeface="Times New Roman" panose="02020603050405020304" pitchFamily="18" charset="0"/>
              </a:rPr>
              <a:t>Factors affecting entrepreneurial development, </a:t>
            </a:r>
          </a:p>
          <a:p>
            <a:pPr algn="just">
              <a:buFont typeface="Arial" pitchFamily="34" charset="0"/>
              <a:buChar char="•"/>
            </a:pPr>
            <a:r>
              <a:rPr lang="en-US" sz="2400">
                <a:latin typeface="Times New Roman" panose="02020603050405020304" pitchFamily="18" charset="0"/>
                <a:ea typeface="Calibri" panose="020F0502020204030204" pitchFamily="34" charset="0"/>
                <a:cs typeface="Times New Roman" panose="02020603050405020304" pitchFamily="18" charset="0"/>
              </a:rPr>
              <a:t>Entrepreneurial motivation (Mc </a:t>
            </a:r>
            <a:r>
              <a:rPr lang="en-US" sz="2400" err="1">
                <a:latin typeface="Times New Roman" panose="02020603050405020304" pitchFamily="18" charset="0"/>
                <a:ea typeface="Calibri" panose="020F0502020204030204" pitchFamily="34" charset="0"/>
                <a:cs typeface="Times New Roman" panose="02020603050405020304" pitchFamily="18" charset="0"/>
              </a:rPr>
              <a:t>Clelland</a:t>
            </a:r>
            <a:r>
              <a:rPr lang="en-US" sz="2400">
                <a:latin typeface="Times New Roman" panose="02020603050405020304" pitchFamily="18" charset="0"/>
                <a:ea typeface="Calibri" panose="020F0502020204030204" pitchFamily="34" charset="0"/>
                <a:cs typeface="Times New Roman" panose="02020603050405020304" pitchFamily="18" charset="0"/>
              </a:rPr>
              <a:t> Achievement motivation theory), conceptual model of entrepreneurship, </a:t>
            </a:r>
          </a:p>
          <a:p>
            <a:pPr algn="just">
              <a:buFont typeface="Arial" pitchFamily="34" charset="0"/>
              <a:buChar char="•"/>
            </a:pPr>
            <a:r>
              <a:rPr lang="en-US" sz="2400">
                <a:latin typeface="Times New Roman" panose="02020603050405020304" pitchFamily="18" charset="0"/>
                <a:ea typeface="Calibri" panose="020F0502020204030204" pitchFamily="34" charset="0"/>
                <a:cs typeface="Times New Roman" panose="02020603050405020304" pitchFamily="18" charset="0"/>
              </a:rPr>
              <a:t>Entrepreneur vs. </a:t>
            </a:r>
            <a:r>
              <a:rPr lang="en-US" sz="2400" err="1">
                <a:latin typeface="Times New Roman" panose="02020603050405020304" pitchFamily="18" charset="0"/>
                <a:ea typeface="Calibri" panose="020F0502020204030204" pitchFamily="34" charset="0"/>
                <a:cs typeface="Times New Roman" panose="02020603050405020304" pitchFamily="18" charset="0"/>
              </a:rPr>
              <a:t>intrapreneur</a:t>
            </a:r>
            <a:r>
              <a:rPr lang="en-US" sz="2400">
                <a:latin typeface="Times New Roman" panose="02020603050405020304" pitchFamily="18" charset="0"/>
                <a:ea typeface="Calibri" panose="020F0502020204030204" pitchFamily="34" charset="0"/>
                <a:cs typeface="Times New Roman" panose="02020603050405020304" pitchFamily="18" charset="0"/>
              </a:rPr>
              <a:t>; </a:t>
            </a:r>
          </a:p>
          <a:p>
            <a:pPr algn="just">
              <a:buFont typeface="Arial" pitchFamily="34" charset="0"/>
              <a:buChar char="•"/>
            </a:pPr>
            <a:r>
              <a:rPr lang="en-US" sz="2400">
                <a:latin typeface="Times New Roman" panose="02020603050405020304" pitchFamily="18" charset="0"/>
                <a:ea typeface="Calibri" panose="020F0502020204030204" pitchFamily="34" charset="0"/>
                <a:cs typeface="Times New Roman" panose="02020603050405020304" pitchFamily="18" charset="0"/>
              </a:rPr>
              <a:t>Classification of entrepreneurs; Entrepreneurial Development </a:t>
            </a:r>
            <a:r>
              <a:rPr lang="en-US" sz="2400" err="1">
                <a:latin typeface="Times New Roman" panose="02020603050405020304" pitchFamily="18" charset="0"/>
                <a:ea typeface="Calibri" panose="020F0502020204030204" pitchFamily="34" charset="0"/>
                <a:cs typeface="Times New Roman" panose="02020603050405020304" pitchFamily="18" charset="0"/>
              </a:rPr>
              <a:t>Programmes</a:t>
            </a:r>
            <a:r>
              <a:rPr lang="en-US" sz="2400">
                <a:latin typeface="Times New Roman" panose="02020603050405020304" pitchFamily="18" charset="0"/>
                <a:ea typeface="Calibri" panose="020F0502020204030204" pitchFamily="34" charset="0"/>
                <a:cs typeface="Times New Roman" panose="02020603050405020304" pitchFamily="18" charset="0"/>
              </a:rPr>
              <a:t>.</a:t>
            </a:r>
            <a:endParaRPr lang="en-US" sz="2400" b="1">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err="1"/>
              <a:t>By:Alok</a:t>
            </a:r>
            <a:r>
              <a:rPr lang="en-IN" dirty="0"/>
              <a:t> Raj</a:t>
            </a:r>
          </a:p>
        </p:txBody>
      </p:sp>
    </p:spTree>
    <p:extLst>
      <p:ext uri="{BB962C8B-B14F-4D97-AF65-F5344CB8AC3E}">
        <p14:creationId xmlns:p14="http://schemas.microsoft.com/office/powerpoint/2010/main" val="1598155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solidFill>
                  <a:srgbClr val="CC3300"/>
                </a:solidFill>
                <a:latin typeface="Times New Roman" pitchFamily="18" charset="0"/>
                <a:cs typeface="Times New Roman" pitchFamily="18" charset="0"/>
              </a:rPr>
              <a:t>Subject Syllabus</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7" name="Rectangle 16"/>
          <p:cNvSpPr/>
          <p:nvPr/>
        </p:nvSpPr>
        <p:spPr>
          <a:xfrm>
            <a:off x="811236" y="1223334"/>
            <a:ext cx="10822746" cy="3293209"/>
          </a:xfrm>
          <a:prstGeom prst="rect">
            <a:avLst/>
          </a:prstGeom>
        </p:spPr>
        <p:txBody>
          <a:bodyPr wrap="square">
            <a:spAutoFit/>
          </a:bodyPr>
          <a:lstStyle/>
          <a:p>
            <a:pPr algn="just">
              <a:lnSpc>
                <a:spcPct val="160000"/>
              </a:lnSpc>
            </a:pPr>
            <a:r>
              <a:rPr lang="en-US" sz="2400" b="1">
                <a:latin typeface="Times New Roman" panose="02020603050405020304" pitchFamily="18" charset="0"/>
                <a:cs typeface="Times New Roman" panose="02020603050405020304" pitchFamily="18" charset="0"/>
              </a:rPr>
              <a:t>Unit –II</a:t>
            </a:r>
          </a:p>
          <a:p>
            <a:pPr algn="just">
              <a:buFont typeface="Arial" pitchFamily="34" charset="0"/>
              <a:buChar char="•"/>
            </a:pPr>
            <a:r>
              <a:rPr lang="en-US" sz="2400">
                <a:latin typeface="Times New Roman" panose="02020603050405020304" pitchFamily="18" charset="0"/>
                <a:ea typeface="Calibri" panose="020F0502020204030204" pitchFamily="34" charset="0"/>
                <a:cs typeface="Times New Roman" panose="02020603050405020304" pitchFamily="18" charset="0"/>
              </a:rPr>
              <a:t>Introduction to Innovation, </a:t>
            </a:r>
          </a:p>
          <a:p>
            <a:pPr algn="just">
              <a:buFont typeface="Arial" pitchFamily="34" charset="0"/>
              <a:buChar char="•"/>
            </a:pPr>
            <a:r>
              <a:rPr lang="en-US" sz="2400">
                <a:latin typeface="Times New Roman" panose="02020603050405020304" pitchFamily="18" charset="0"/>
                <a:ea typeface="Calibri" panose="020F0502020204030204" pitchFamily="34" charset="0"/>
                <a:cs typeface="Times New Roman" panose="02020603050405020304" pitchFamily="18" charset="0"/>
              </a:rPr>
              <a:t>Entrepreneurial Idea Generation and Identifying Business Opportunities, </a:t>
            </a:r>
          </a:p>
          <a:p>
            <a:pPr algn="just">
              <a:buFont typeface="Arial" pitchFamily="34" charset="0"/>
              <a:buChar char="•"/>
            </a:pPr>
            <a:r>
              <a:rPr lang="en-US" sz="2400">
                <a:latin typeface="Times New Roman" panose="02020603050405020304" pitchFamily="18" charset="0"/>
                <a:ea typeface="Calibri" panose="020F0502020204030204" pitchFamily="34" charset="0"/>
                <a:cs typeface="Times New Roman" panose="02020603050405020304" pitchFamily="18" charset="0"/>
              </a:rPr>
              <a:t>Management skills for Entrepreneurs and managing for Value Creation, </a:t>
            </a:r>
          </a:p>
          <a:p>
            <a:pPr algn="just">
              <a:buFont typeface="Arial" pitchFamily="34" charset="0"/>
              <a:buChar char="•"/>
            </a:pPr>
            <a:r>
              <a:rPr lang="en-US" sz="2400">
                <a:latin typeface="Times New Roman" panose="02020603050405020304" pitchFamily="18" charset="0"/>
                <a:ea typeface="Calibri" panose="020F0502020204030204" pitchFamily="34" charset="0"/>
                <a:cs typeface="Times New Roman" panose="02020603050405020304" pitchFamily="18" charset="0"/>
              </a:rPr>
              <a:t>Creating and Sustaining Enterprising Model &amp; Organizational Effectiveness, </a:t>
            </a:r>
          </a:p>
          <a:p>
            <a:pPr algn="just">
              <a:buFont typeface="Arial" pitchFamily="34" charset="0"/>
              <a:buChar char="•"/>
            </a:pPr>
            <a:r>
              <a:rPr lang="en-US" sz="2400">
                <a:latin typeface="Times New Roman" panose="02020603050405020304" pitchFamily="18" charset="0"/>
                <a:ea typeface="Calibri" panose="020F0502020204030204" pitchFamily="34" charset="0"/>
                <a:cs typeface="Times New Roman" panose="02020603050405020304" pitchFamily="18" charset="0"/>
              </a:rPr>
              <a:t>New initiatives taken by the Government to promote entrepreneurship in India at a larger scale</a:t>
            </a:r>
            <a:r>
              <a:rPr lang="en-US" sz="1600">
                <a:latin typeface="Times New Roman" panose="02020603050405020304" pitchFamily="18" charset="0"/>
                <a:ea typeface="Calibri" panose="020F0502020204030204" pitchFamily="34" charset="0"/>
                <a:cs typeface="Times New Roman" panose="02020603050405020304" pitchFamily="18" charset="0"/>
              </a:rPr>
              <a:t>.</a:t>
            </a:r>
            <a:endParaRPr lang="en-US" sz="1600" b="1">
              <a:latin typeface="Times New Roman" panose="02020603050405020304" pitchFamily="18" charset="0"/>
              <a:cs typeface="Times New Roman" panose="02020603050405020304" pitchFamily="18" charset="0"/>
            </a:endParaRPr>
          </a:p>
          <a:p>
            <a:pPr algn="just">
              <a:lnSpc>
                <a:spcPct val="160000"/>
              </a:lnSpc>
            </a:pPr>
            <a:endParaRPr lang="en-US" sz="1600" b="1">
              <a:latin typeface="CIDFont+F3"/>
              <a:cs typeface="Times New Roman" panose="02020603050405020304" pitchFamily="18" charset="0"/>
            </a:endParaRPr>
          </a:p>
        </p:txBody>
      </p:sp>
      <p:sp>
        <p:nvSpPr>
          <p:cNvPr id="19" name="Rectangle 18">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solidFill>
                  <a:srgbClr val="CC3300"/>
                </a:solidFill>
                <a:latin typeface="Times New Roman" pitchFamily="18" charset="0"/>
                <a:cs typeface="Times New Roman" pitchFamily="18" charset="0"/>
              </a:rPr>
              <a:t>SYLLABUS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6" name="Rectangle 15"/>
          <p:cNvSpPr/>
          <p:nvPr/>
        </p:nvSpPr>
        <p:spPr>
          <a:xfrm>
            <a:off x="862574" y="1767860"/>
            <a:ext cx="10194632" cy="1938992"/>
          </a:xfrm>
          <a:prstGeom prst="rect">
            <a:avLst/>
          </a:prstGeom>
        </p:spPr>
        <p:txBody>
          <a:bodyPr wrap="square">
            <a:spAutoFit/>
          </a:bodyPr>
          <a:lstStyle/>
          <a:p>
            <a:pPr algn="just"/>
            <a:r>
              <a:rPr lang="en-US" sz="2400" b="1">
                <a:latin typeface="Times New Roman" panose="02020603050405020304" pitchFamily="18" charset="0"/>
                <a:ea typeface="Calibri" panose="020F0502020204030204" pitchFamily="34" charset="0"/>
              </a:rPr>
              <a:t>UNIT III</a:t>
            </a:r>
          </a:p>
          <a:p>
            <a:pPr algn="just">
              <a:spcBef>
                <a:spcPts val="0"/>
              </a:spcBef>
              <a:buFont typeface="Wingdings" pitchFamily="2" charset="2"/>
              <a:buChar char="q"/>
            </a:pPr>
            <a:r>
              <a:rPr lang="en-US" sz="2400">
                <a:latin typeface="Times New Roman" panose="02020603050405020304" pitchFamily="18" charset="0"/>
                <a:ea typeface="Calibri" panose="020F0502020204030204" pitchFamily="34" charset="0"/>
              </a:rPr>
              <a:t>Introduction to intellectual property right (IPR).</a:t>
            </a:r>
            <a:endParaRPr lang="en-US" sz="2400">
              <a:latin typeface="Times New Roman" panose="02020603050405020304" pitchFamily="18" charset="0"/>
              <a:ea typeface="Calibri" panose="020F0502020204030204" pitchFamily="34" charset="0"/>
              <a:cs typeface="Times New Roman" panose="02020603050405020304" pitchFamily="18" charset="0"/>
            </a:endParaRPr>
          </a:p>
          <a:p>
            <a:pPr algn="just">
              <a:spcBef>
                <a:spcPts val="0"/>
              </a:spcBef>
              <a:buFont typeface="Wingdings" pitchFamily="2" charset="2"/>
              <a:buChar char="q"/>
            </a:pPr>
            <a:r>
              <a:rPr lang="en-US" sz="2400">
                <a:latin typeface="Times New Roman" panose="02020603050405020304" pitchFamily="18" charset="0"/>
                <a:ea typeface="Calibri" panose="020F0502020204030204" pitchFamily="34" charset="0"/>
              </a:rPr>
              <a:t>Intellectual property and its protection</a:t>
            </a:r>
          </a:p>
          <a:p>
            <a:pPr algn="just">
              <a:buFont typeface="Wingdings" pitchFamily="2" charset="2"/>
              <a:buChar char="q"/>
            </a:pPr>
            <a:r>
              <a:rPr lang="en-US" sz="2400">
                <a:latin typeface="Times New Roman" panose="02020603050405020304" pitchFamily="18" charset="0"/>
                <a:ea typeface="Calibri" panose="020F0502020204030204" pitchFamily="34" charset="0"/>
              </a:rPr>
              <a:t>Forms of Protection depending on product; Patent, copyright, trademark, design know how, trade secrets etc.</a:t>
            </a:r>
          </a:p>
        </p:txBody>
      </p:sp>
      <p:sp>
        <p:nvSpPr>
          <p:cNvPr id="17" name="Rectangle 1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solidFill>
                  <a:srgbClr val="CC3300"/>
                </a:solidFill>
                <a:latin typeface="Times New Roman" pitchFamily="18" charset="0"/>
                <a:cs typeface="Times New Roman" pitchFamily="18" charset="0"/>
              </a:rPr>
              <a:t>SUBJECT SYLLABUS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724394" y="1116282"/>
            <a:ext cx="10925299" cy="3416320"/>
          </a:xfrm>
          <a:prstGeom prst="rect">
            <a:avLst/>
          </a:prstGeom>
        </p:spPr>
        <p:txBody>
          <a:bodyPr wrap="square">
            <a:spAutoFit/>
          </a:bodyPr>
          <a:lstStyle/>
          <a:p>
            <a:pPr algn="just"/>
            <a:r>
              <a:rPr lang="en-US" sz="2400" b="1">
                <a:latin typeface="Times New Roman" panose="02020603050405020304" pitchFamily="18" charset="0"/>
                <a:ea typeface="Calibri" panose="020F0502020204030204" pitchFamily="34" charset="0"/>
              </a:rPr>
              <a:t>UNIT IV</a:t>
            </a:r>
          </a:p>
          <a:p>
            <a:pPr algn="just">
              <a:buFont typeface="Wingdings" pitchFamily="2" charset="2"/>
              <a:buChar char="q"/>
            </a:pPr>
            <a:r>
              <a:rPr lang="en-US" sz="2400">
                <a:latin typeface="Times New Roman" panose="02020603050405020304" pitchFamily="18" charset="0"/>
                <a:ea typeface="Calibri" panose="020F0502020204030204" pitchFamily="34" charset="0"/>
              </a:rPr>
              <a:t>Project management: meaning, scope &amp; importance</a:t>
            </a:r>
          </a:p>
          <a:p>
            <a:pPr algn="just">
              <a:buFont typeface="Wingdings" pitchFamily="2" charset="2"/>
              <a:buChar char="q"/>
            </a:pPr>
            <a:r>
              <a:rPr lang="en-US" sz="2400">
                <a:latin typeface="Times New Roman" panose="02020603050405020304" pitchFamily="18" charset="0"/>
                <a:ea typeface="Calibri" panose="020F0502020204030204" pitchFamily="34" charset="0"/>
              </a:rPr>
              <a:t>Role of PROJECT manager; project life-cycle</a:t>
            </a:r>
          </a:p>
          <a:p>
            <a:pPr algn="just">
              <a:buFont typeface="Wingdings" pitchFamily="2" charset="2"/>
              <a:buChar char="q"/>
            </a:pPr>
            <a:r>
              <a:rPr lang="en-US" sz="2400">
                <a:latin typeface="Times New Roman" panose="02020603050405020304" pitchFamily="18" charset="0"/>
                <a:ea typeface="Calibri" panose="020F0502020204030204" pitchFamily="34" charset="0"/>
              </a:rPr>
              <a:t>Project appraisal: Preparation of a real time project feasibility report containing Technical appraisal; Environmental appraisal</a:t>
            </a:r>
          </a:p>
          <a:p>
            <a:pPr algn="just">
              <a:buFont typeface="Wingdings" pitchFamily="2" charset="2"/>
              <a:buChar char="q"/>
            </a:pPr>
            <a:r>
              <a:rPr lang="en-US" sz="2400">
                <a:latin typeface="Times New Roman" panose="02020603050405020304" pitchFamily="18" charset="0"/>
                <a:ea typeface="Calibri" panose="020F0502020204030204" pitchFamily="34" charset="0"/>
              </a:rPr>
              <a:t>Market appraisal (including market survey for forecasting future demand and sales) and Managerial appraisal. </a:t>
            </a:r>
          </a:p>
          <a:p>
            <a:pPr algn="just">
              <a:buFont typeface="Wingdings" pitchFamily="2" charset="2"/>
              <a:buChar char="q"/>
            </a:pPr>
            <a:r>
              <a:rPr lang="en-US" sz="2400">
                <a:latin typeface="Times New Roman" panose="02020603050405020304" pitchFamily="18" charset="0"/>
                <a:ea typeface="Calibri" panose="020F0502020204030204" pitchFamily="34" charset="0"/>
              </a:rPr>
              <a:t>Introduction to the Project Management tool like P6 Primavera Enterprise Project Portfolio Management</a:t>
            </a:r>
          </a:p>
        </p:txBody>
      </p:sp>
      <p:sp>
        <p:nvSpPr>
          <p:cNvPr id="17" name="Rectangle 1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solidFill>
                  <a:srgbClr val="CC3300"/>
                </a:solidFill>
                <a:latin typeface="Times New Roman" pitchFamily="18" charset="0"/>
                <a:cs typeface="Times New Roman" pitchFamily="18" charset="0"/>
              </a:rPr>
              <a:t>SUBJECT SYLLABUS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04406"/>
            <a:ext cx="11055927" cy="2431435"/>
          </a:xfrm>
          <a:prstGeom prst="rect">
            <a:avLst/>
          </a:prstGeom>
        </p:spPr>
        <p:txBody>
          <a:bodyPr wrap="square">
            <a:spAutoFit/>
          </a:bodyPr>
          <a:lstStyle/>
          <a:p>
            <a:pPr algn="just"/>
            <a:r>
              <a:rPr lang="en-US" sz="2800" b="1">
                <a:latin typeface="Times New Roman" panose="02020603050405020304" pitchFamily="18" charset="0"/>
                <a:ea typeface="Calibri" panose="020F0502020204030204" pitchFamily="34" charset="0"/>
              </a:rPr>
              <a:t>UNIT V</a:t>
            </a:r>
          </a:p>
          <a:p>
            <a:pPr algn="just"/>
            <a:endParaRPr lang="en-US" sz="2800" b="1">
              <a:latin typeface="Times New Roman" panose="02020603050405020304" pitchFamily="18" charset="0"/>
              <a:ea typeface="Calibri" panose="020F0502020204030204" pitchFamily="34" charset="0"/>
            </a:endParaRPr>
          </a:p>
          <a:p>
            <a:pPr algn="just"/>
            <a:r>
              <a:rPr lang="en-US" sz="2400">
                <a:latin typeface="Times New Roman" panose="02020603050405020304" pitchFamily="18" charset="0"/>
                <a:ea typeface="Calibri" panose="020F0502020204030204" pitchFamily="34" charset="0"/>
              </a:rPr>
              <a:t>Project cost estimation &amp; working capital requirements, sources of funds, capital budgeting, Risk &amp; uncertainty in project evaluation, preparation of projected financial statements viz. Projected balance sheet, projected income statement, projected funds &amp; cash flow statements, Preparation of detailed project report, Project finance</a:t>
            </a:r>
            <a:endParaRPr lang="en-US" sz="2400" b="1">
              <a:cs typeface="Times New Roman" panose="02020603050405020304" pitchFamily="18" charset="0"/>
            </a:endParaRPr>
          </a:p>
        </p:txBody>
      </p:sp>
      <p:sp>
        <p:nvSpPr>
          <p:cNvPr id="17" name="Rectangle 1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solidFill>
                  <a:srgbClr val="CC3300"/>
                </a:solidFill>
                <a:latin typeface="Times New Roman" pitchFamily="18" charset="0"/>
                <a:cs typeface="Times New Roman" pitchFamily="18" charset="0"/>
              </a:rPr>
              <a:t>Program Outcomes</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6"/>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16" name="Subtitle 2"/>
          <p:cNvSpPr txBox="1">
            <a:spLocks/>
          </p:cNvSpPr>
          <p:nvPr/>
        </p:nvSpPr>
        <p:spPr>
          <a:xfrm>
            <a:off x="3290667" y="1350498"/>
            <a:ext cx="6400800" cy="1035050"/>
          </a:xfrm>
          <a:prstGeom prst="rect">
            <a:avLst/>
          </a:prstGeom>
        </p:spPr>
        <p:style>
          <a:lnRef idx="2">
            <a:schemeClr val="accent5"/>
          </a:lnRef>
          <a:fillRef idx="1">
            <a:schemeClr val="lt1"/>
          </a:fillRef>
          <a:effectRef idx="0">
            <a:schemeClr val="accent5"/>
          </a:effectRef>
          <a:fontRef idx="minor">
            <a:schemeClr val="dk1"/>
          </a:fontRef>
        </p:style>
        <p:txBody>
          <a:bodyPr>
            <a:normAutofit/>
          </a:bodyPr>
          <a:lstStyle/>
          <a:p>
            <a:pPr algn="ctr"/>
            <a:r>
              <a:rPr lang="en-US" sz="2800" b="1">
                <a:solidFill>
                  <a:schemeClr val="tx1"/>
                </a:solidFill>
                <a:effectLst>
                  <a:outerShdw blurRad="38100" dist="38100" dir="2700000" algn="tl">
                    <a:srgbClr val="000000">
                      <a:alpha val="43137"/>
                    </a:srgbClr>
                  </a:outerShdw>
                </a:effectLst>
              </a:rPr>
              <a:t>PROJECT FINANCING</a:t>
            </a:r>
          </a:p>
        </p:txBody>
      </p:sp>
      <p:sp>
        <p:nvSpPr>
          <p:cNvPr id="18" name="Subtitle 2"/>
          <p:cNvSpPr txBox="1">
            <a:spLocks/>
          </p:cNvSpPr>
          <p:nvPr/>
        </p:nvSpPr>
        <p:spPr>
          <a:xfrm>
            <a:off x="304800" y="248285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a:ln>
                  <a:noFill/>
                </a:ln>
                <a:solidFill>
                  <a:schemeClr val="tx1"/>
                </a:solidFill>
                <a:effectLst/>
                <a:uLnTx/>
                <a:uFillTx/>
                <a:latin typeface="+mn-lt"/>
                <a:ea typeface="+mn-ea"/>
                <a:cs typeface="+mn-cs"/>
              </a:rPr>
              <a:t>Unit:5</a:t>
            </a:r>
          </a:p>
        </p:txBody>
      </p:sp>
      <p:sp>
        <p:nvSpPr>
          <p:cNvPr id="19" name="Subtitle 2"/>
          <p:cNvSpPr txBox="1">
            <a:spLocks/>
          </p:cNvSpPr>
          <p:nvPr/>
        </p:nvSpPr>
        <p:spPr>
          <a:xfrm>
            <a:off x="152400" y="35433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1" i="0" u="none" strike="noStrike" kern="1200" cap="none" spc="0" normalizeH="0" baseline="0" noProof="0">
                <a:ln>
                  <a:noFill/>
                </a:ln>
                <a:solidFill>
                  <a:schemeClr val="tx1"/>
                </a:solidFill>
                <a:effectLst/>
                <a:uLnTx/>
                <a:uFillTx/>
              </a:rPr>
              <a:t>Subject</a:t>
            </a:r>
            <a:r>
              <a:rPr kumimoji="0" lang="en-US" b="1" i="0" u="none" strike="noStrike" kern="1200" cap="none" spc="0" normalizeH="0" noProof="0">
                <a:ln>
                  <a:noFill/>
                </a:ln>
                <a:solidFill>
                  <a:schemeClr val="tx1"/>
                </a:solidFill>
                <a:effectLst/>
                <a:uLnTx/>
                <a:uFillTx/>
              </a:rPr>
              <a:t> Name</a:t>
            </a:r>
            <a:endParaRPr lang="en-US" b="1" noProof="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b="1" noProof="0">
                <a:solidFill>
                  <a:schemeClr val="tx1"/>
                </a:solidFill>
              </a:rPr>
              <a:t>Entrepreneurship Development &amp; IPR</a:t>
            </a:r>
            <a:endParaRPr kumimoji="0" lang="en-US" b="1" i="0" u="none" strike="noStrike" kern="1200" cap="none" spc="0" normalizeH="0" baseline="0" noProof="0">
              <a:ln>
                <a:noFill/>
              </a:ln>
              <a:solidFill>
                <a:schemeClr val="tx1"/>
              </a:solidFill>
              <a:effectLst/>
              <a:uLnTx/>
              <a:uFillTx/>
            </a:endParaRPr>
          </a:p>
        </p:txBody>
      </p:sp>
      <p:sp>
        <p:nvSpPr>
          <p:cNvPr id="20" name="Subtitle 2"/>
          <p:cNvSpPr txBox="1">
            <a:spLocks/>
          </p:cNvSpPr>
          <p:nvPr/>
        </p:nvSpPr>
        <p:spPr>
          <a:xfrm>
            <a:off x="266700" y="4765079"/>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a:ln>
                  <a:noFill/>
                </a:ln>
                <a:solidFill>
                  <a:schemeClr val="tx1"/>
                </a:solidFill>
                <a:effectLst/>
                <a:uLnTx/>
                <a:uFillTx/>
                <a:latin typeface="+mn-lt"/>
                <a:ea typeface="+mn-ea"/>
                <a:cs typeface="+mn-cs"/>
              </a:rPr>
              <a:t>Course</a:t>
            </a:r>
            <a:r>
              <a:rPr kumimoji="0" lang="en-US" sz="2000" b="0" i="0" u="none" strike="noStrike" kern="1200" cap="none" spc="0" normalizeH="0" noProof="0">
                <a:ln>
                  <a:noFill/>
                </a:ln>
                <a:solidFill>
                  <a:schemeClr val="tx1"/>
                </a:solidFill>
                <a:effectLst/>
                <a:uLnTx/>
                <a:uFillTx/>
                <a:latin typeface="+mn-lt"/>
                <a:ea typeface="+mn-ea"/>
                <a:cs typeface="+mn-cs"/>
              </a:rPr>
              <a:t> Details</a:t>
            </a:r>
            <a:br>
              <a:rPr kumimoji="0" lang="en-US" sz="2000" b="0" i="0" u="none" strike="noStrike" kern="1200" cap="none" spc="0" normalizeH="0" noProof="0">
                <a:ln>
                  <a:noFill/>
                </a:ln>
                <a:solidFill>
                  <a:schemeClr val="tx1"/>
                </a:solidFill>
                <a:effectLst/>
                <a:uLnTx/>
                <a:uFillTx/>
                <a:latin typeface="+mn-lt"/>
                <a:ea typeface="+mn-ea"/>
                <a:cs typeface="+mn-cs"/>
              </a:rPr>
            </a:br>
            <a:r>
              <a:rPr kumimoji="0" lang="en-US" sz="2000" b="0" i="0" u="none" strike="noStrike" kern="1200" cap="none" spc="0" normalizeH="0" noProof="0" err="1">
                <a:ln>
                  <a:noFill/>
                </a:ln>
                <a:solidFill>
                  <a:schemeClr val="tx1"/>
                </a:solidFill>
                <a:effectLst/>
                <a:uLnTx/>
                <a:uFillTx/>
                <a:latin typeface="+mn-lt"/>
                <a:ea typeface="+mn-ea"/>
                <a:cs typeface="+mn-cs"/>
              </a:rPr>
              <a:t>B.Tech</a:t>
            </a:r>
            <a:r>
              <a:rPr kumimoji="0" lang="en-US" sz="2000" b="0" i="0" u="none" strike="noStrike" kern="1200" cap="none" spc="0" normalizeH="0" noProof="0">
                <a:ln>
                  <a:noFill/>
                </a:ln>
                <a:solidFill>
                  <a:schemeClr val="tx1"/>
                </a:solidFill>
                <a:effectLst/>
                <a:uLnTx/>
                <a:uFillTx/>
                <a:latin typeface="+mn-lt"/>
                <a:ea typeface="+mn-ea"/>
                <a:cs typeface="+mn-cs"/>
              </a:rPr>
              <a:t> </a:t>
            </a:r>
            <a:r>
              <a:rPr lang="en-US" sz="2000">
                <a:solidFill>
                  <a:schemeClr val="tx1"/>
                </a:solidFill>
              </a:rPr>
              <a:t> </a:t>
            </a:r>
            <a:r>
              <a:rPr kumimoji="0" lang="en-US" sz="2000" b="0" i="0" u="none" strike="noStrike" kern="1200" cap="none" spc="0" normalizeH="0" noProof="0">
                <a:ln>
                  <a:noFill/>
                </a:ln>
                <a:solidFill>
                  <a:schemeClr val="tx1"/>
                </a:solidFill>
                <a:effectLst/>
                <a:uLnTx/>
                <a:uFillTx/>
                <a:latin typeface="+mn-lt"/>
                <a:ea typeface="+mn-ea"/>
                <a:cs typeface="+mn-cs"/>
              </a:rPr>
              <a:t>7</a:t>
            </a:r>
            <a:r>
              <a:rPr kumimoji="0" lang="en-US" sz="2000" b="0" i="0" u="none" strike="noStrike" kern="1200" cap="none" spc="0" normalizeH="0" baseline="30000" noProof="0">
                <a:ln>
                  <a:noFill/>
                </a:ln>
                <a:solidFill>
                  <a:schemeClr val="tx1"/>
                </a:solidFill>
                <a:effectLst/>
                <a:uLnTx/>
                <a:uFillTx/>
                <a:latin typeface="+mn-lt"/>
                <a:ea typeface="+mn-ea"/>
                <a:cs typeface="+mn-cs"/>
              </a:rPr>
              <a:t>th</a:t>
            </a:r>
            <a:r>
              <a:rPr kumimoji="0" lang="en-US" sz="2000" b="0" i="0" u="none" strike="noStrike" kern="1200" cap="none" spc="0" normalizeH="0" noProof="0">
                <a:ln>
                  <a:noFill/>
                </a:ln>
                <a:solidFill>
                  <a:schemeClr val="tx1"/>
                </a:solidFill>
                <a:effectLst/>
                <a:uLnTx/>
                <a:uFillTx/>
                <a:latin typeface="+mn-lt"/>
                <a:ea typeface="+mn-ea"/>
                <a:cs typeface="+mn-cs"/>
              </a:rPr>
              <a:t>  Semester</a:t>
            </a:r>
            <a:endParaRPr kumimoji="0" lang="en-US" sz="2000" b="0" i="0" u="none" strike="noStrike" kern="1200" cap="none" spc="0" normalizeH="0" baseline="0" noProof="0">
              <a:ln>
                <a:noFill/>
              </a:ln>
              <a:solidFill>
                <a:schemeClr val="tx1"/>
              </a:solidFill>
              <a:effectLst/>
              <a:uLnTx/>
              <a:uFillTx/>
              <a:latin typeface="+mn-lt"/>
              <a:ea typeface="+mn-ea"/>
              <a:cs typeface="+mn-cs"/>
            </a:endParaRPr>
          </a:p>
        </p:txBody>
      </p:sp>
      <p:pic>
        <p:nvPicPr>
          <p:cNvPr id="21" name="Picture 4" descr="C:\Users\Manks\Downloads\speak.png"/>
          <p:cNvPicPr>
            <a:picLocks noChangeAspect="1" noChangeArrowheads="1"/>
          </p:cNvPicPr>
          <p:nvPr/>
        </p:nvPicPr>
        <p:blipFill>
          <a:blip r:embed="rId11" cstate="print"/>
          <a:srcRect/>
          <a:stretch>
            <a:fillRect/>
          </a:stretch>
        </p:blipFill>
        <p:spPr bwMode="auto">
          <a:xfrm>
            <a:off x="8840372" y="2759612"/>
            <a:ext cx="1524000" cy="1524000"/>
          </a:xfrm>
          <a:prstGeom prst="rect">
            <a:avLst/>
          </a:prstGeom>
          <a:noFill/>
        </p:spPr>
      </p:pic>
      <p:sp>
        <p:nvSpPr>
          <p:cNvPr id="22" name="Subtitle 2"/>
          <p:cNvSpPr txBox="1">
            <a:spLocks/>
          </p:cNvSpPr>
          <p:nvPr/>
        </p:nvSpPr>
        <p:spPr>
          <a:xfrm>
            <a:off x="8056098" y="4314092"/>
            <a:ext cx="3048000" cy="1219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Alok Raj</a:t>
            </a:r>
            <a:endParaRPr kumimoji="0" lang="en-US" sz="2400" b="0" i="0" u="none" strike="noStrike" kern="1200" cap="none" spc="0" normalizeH="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Department of </a:t>
            </a:r>
            <a:r>
              <a:rPr lang="en-US" sz="2400" dirty="0">
                <a:solidFill>
                  <a:schemeClr val="tx1"/>
                </a:solidFill>
              </a:rPr>
              <a:t>MBA</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598155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4" name="Rectangle 3"/>
          <p:cNvSpPr/>
          <p:nvPr/>
        </p:nvSpPr>
        <p:spPr>
          <a:xfrm>
            <a:off x="5036221" y="304187"/>
            <a:ext cx="3412987" cy="523220"/>
          </a:xfrm>
          <a:prstGeom prst="rect">
            <a:avLst/>
          </a:prstGeom>
        </p:spPr>
        <p:txBody>
          <a:bodyPr wrap="none">
            <a:spAutoFit/>
          </a:bodyPr>
          <a:lstStyle/>
          <a:p>
            <a:pPr algn="ctr"/>
            <a:r>
              <a:rPr lang="en-IN" sz="2800" b="1">
                <a:solidFill>
                  <a:srgbClr val="CC3300"/>
                </a:solidFill>
                <a:latin typeface="Times New Roman" pitchFamily="18" charset="0"/>
                <a:cs typeface="Times New Roman" pitchFamily="18" charset="0"/>
              </a:rPr>
              <a:t>CONTENT UNIT -5 </a:t>
            </a:r>
            <a:endParaRPr lang="en-US" sz="2800"/>
          </a:p>
        </p:txBody>
      </p:sp>
      <p:sp>
        <p:nvSpPr>
          <p:cNvPr id="6" name="Rectangle 5">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533399" y="1151662"/>
            <a:ext cx="11039475" cy="466281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200">
                <a:latin typeface="Times New Roman" panose="02020603050405020304" pitchFamily="18" charset="0"/>
                <a:ea typeface="Calibri" panose="020F0502020204030204" pitchFamily="34" charset="0"/>
              </a:rPr>
              <a:t>Project cost estimation &amp; working capital requirements.</a:t>
            </a:r>
          </a:p>
          <a:p>
            <a:pPr marL="285750" indent="-285750" algn="just">
              <a:lnSpc>
                <a:spcPct val="150000"/>
              </a:lnSpc>
              <a:buFont typeface="Arial" panose="020B0604020202020204" pitchFamily="34" charset="0"/>
              <a:buChar char="•"/>
            </a:pPr>
            <a:r>
              <a:rPr lang="en-US" sz="2200">
                <a:latin typeface="Times New Roman" panose="02020603050405020304" pitchFamily="18" charset="0"/>
                <a:ea typeface="Calibri" panose="020F0502020204030204" pitchFamily="34" charset="0"/>
              </a:rPr>
              <a:t>Sources of funds.</a:t>
            </a:r>
          </a:p>
          <a:p>
            <a:pPr marL="285750" indent="-285750" algn="just">
              <a:lnSpc>
                <a:spcPct val="150000"/>
              </a:lnSpc>
              <a:buFont typeface="Arial" panose="020B0604020202020204" pitchFamily="34" charset="0"/>
              <a:buChar char="•"/>
            </a:pPr>
            <a:r>
              <a:rPr lang="en-US" sz="2200">
                <a:latin typeface="Times New Roman" panose="02020603050405020304" pitchFamily="18" charset="0"/>
                <a:ea typeface="Calibri" panose="020F0502020204030204" pitchFamily="34" charset="0"/>
              </a:rPr>
              <a:t>Capital budgeting, </a:t>
            </a:r>
          </a:p>
          <a:p>
            <a:pPr marL="285750" indent="-285750" algn="just">
              <a:lnSpc>
                <a:spcPct val="150000"/>
              </a:lnSpc>
              <a:buFont typeface="Arial" panose="020B0604020202020204" pitchFamily="34" charset="0"/>
              <a:buChar char="•"/>
            </a:pPr>
            <a:r>
              <a:rPr lang="en-US" sz="2200">
                <a:latin typeface="Times New Roman" panose="02020603050405020304" pitchFamily="18" charset="0"/>
                <a:ea typeface="Calibri" panose="020F0502020204030204" pitchFamily="34" charset="0"/>
              </a:rPr>
              <a:t>Risk &amp; uncertainty in project evaluation, </a:t>
            </a:r>
          </a:p>
          <a:p>
            <a:pPr marL="285750" indent="-285750" algn="just">
              <a:lnSpc>
                <a:spcPct val="150000"/>
              </a:lnSpc>
              <a:buFont typeface="Arial" panose="020B0604020202020204" pitchFamily="34" charset="0"/>
              <a:buChar char="•"/>
            </a:pPr>
            <a:r>
              <a:rPr lang="en-US" sz="2200">
                <a:latin typeface="Times New Roman" panose="02020603050405020304" pitchFamily="18" charset="0"/>
                <a:ea typeface="Calibri" panose="020F0502020204030204" pitchFamily="34" charset="0"/>
              </a:rPr>
              <a:t>Preparation of projected financial statements viz. Projected balance sheet, </a:t>
            </a:r>
          </a:p>
          <a:p>
            <a:pPr marL="285750" indent="-285750" algn="just">
              <a:lnSpc>
                <a:spcPct val="150000"/>
              </a:lnSpc>
              <a:buFont typeface="Arial" panose="020B0604020202020204" pitchFamily="34" charset="0"/>
              <a:buChar char="•"/>
            </a:pPr>
            <a:r>
              <a:rPr lang="en-US" sz="2200">
                <a:latin typeface="Times New Roman" panose="02020603050405020304" pitchFamily="18" charset="0"/>
                <a:ea typeface="Calibri" panose="020F0502020204030204" pitchFamily="34" charset="0"/>
              </a:rPr>
              <a:t>Projected income statement, </a:t>
            </a:r>
          </a:p>
          <a:p>
            <a:pPr marL="285750" indent="-285750" algn="just">
              <a:lnSpc>
                <a:spcPct val="150000"/>
              </a:lnSpc>
              <a:buFont typeface="Arial" panose="020B0604020202020204" pitchFamily="34" charset="0"/>
              <a:buChar char="•"/>
            </a:pPr>
            <a:r>
              <a:rPr lang="en-US" sz="2200">
                <a:latin typeface="Times New Roman" panose="02020603050405020304" pitchFamily="18" charset="0"/>
                <a:ea typeface="Calibri" panose="020F0502020204030204" pitchFamily="34" charset="0"/>
              </a:rPr>
              <a:t>Projected funds &amp; cash flow statements, </a:t>
            </a:r>
          </a:p>
          <a:p>
            <a:pPr marL="285750" indent="-285750" algn="just">
              <a:lnSpc>
                <a:spcPct val="150000"/>
              </a:lnSpc>
              <a:buFont typeface="Arial" panose="020B0604020202020204" pitchFamily="34" charset="0"/>
              <a:buChar char="•"/>
            </a:pPr>
            <a:r>
              <a:rPr lang="en-US" sz="2200">
                <a:latin typeface="Times New Roman" panose="02020603050405020304" pitchFamily="18" charset="0"/>
                <a:ea typeface="Calibri" panose="020F0502020204030204" pitchFamily="34" charset="0"/>
              </a:rPr>
              <a:t>Preparation of detailed project report, </a:t>
            </a:r>
          </a:p>
          <a:p>
            <a:pPr marL="285750" indent="-285750" algn="just">
              <a:lnSpc>
                <a:spcPct val="150000"/>
              </a:lnSpc>
              <a:buFont typeface="Arial" panose="020B0604020202020204" pitchFamily="34" charset="0"/>
              <a:buChar char="•"/>
            </a:pPr>
            <a:r>
              <a:rPr lang="en-US" sz="2200">
                <a:latin typeface="Times New Roman" panose="02020603050405020304" pitchFamily="18" charset="0"/>
                <a:ea typeface="Calibri" panose="020F0502020204030204" pitchFamily="34" charset="0"/>
              </a:rPr>
              <a:t>Project finance</a:t>
            </a:r>
            <a:endParaRPr lang="en-US" sz="2200" b="1">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solidFill>
                  <a:srgbClr val="CC3300"/>
                </a:solidFill>
                <a:latin typeface="Times New Roman" pitchFamily="18" charset="0"/>
                <a:cs typeface="Times New Roman" pitchFamily="18" charset="0"/>
              </a:rPr>
              <a:t>COURSE OUTCOMES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9" name="Rectangle 18">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pic>
        <p:nvPicPr>
          <p:cNvPr id="20" name="Picture 19">
            <a:extLst>
              <a:ext uri="{FF2B5EF4-FFF2-40B4-BE49-F238E27FC236}">
                <a16:creationId xmlns:a16="http://schemas.microsoft.com/office/drawing/2014/main" id="{7783B2A4-6293-63CD-54DF-F4C8F0D0D442}"/>
              </a:ext>
            </a:extLst>
          </p:cNvPr>
          <p:cNvPicPr>
            <a:picLocks noChangeAspect="1"/>
          </p:cNvPicPr>
          <p:nvPr/>
        </p:nvPicPr>
        <p:blipFill>
          <a:blip r:embed="rId11"/>
          <a:stretch>
            <a:fillRect/>
          </a:stretch>
        </p:blipFill>
        <p:spPr>
          <a:xfrm>
            <a:off x="107504" y="1052736"/>
            <a:ext cx="12084496" cy="5303616"/>
          </a:xfrm>
          <a:prstGeom prst="rect">
            <a:avLst/>
          </a:prstGeom>
        </p:spPr>
      </p:pic>
    </p:spTree>
    <p:extLst>
      <p:ext uri="{BB962C8B-B14F-4D97-AF65-F5344CB8AC3E}">
        <p14:creationId xmlns:p14="http://schemas.microsoft.com/office/powerpoint/2010/main" val="1598155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solidFill>
                  <a:srgbClr val="CC3300"/>
                </a:solidFill>
                <a:latin typeface="Times New Roman" pitchFamily="18" charset="0"/>
                <a:cs typeface="Times New Roman" pitchFamily="18" charset="0"/>
              </a:rPr>
              <a:t>Program Educational Outcomes</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151393"/>
          </a:xfrm>
          <a:prstGeom prst="rect">
            <a:avLst/>
          </a:prstGeom>
        </p:spPr>
        <p:txBody>
          <a:bodyPr wrap="square">
            <a:spAutoFit/>
          </a:bodyPr>
          <a:lstStyle/>
          <a:p>
            <a:pPr algn="just">
              <a:buNone/>
            </a:pPr>
            <a:r>
              <a:rPr lang="en-US" sz="2400">
                <a:latin typeface="Times New Roman" panose="02020603050405020304" pitchFamily="18" charset="0"/>
                <a:cs typeface="Times New Roman" panose="02020603050405020304" pitchFamily="18" charset="0"/>
              </a:rPr>
              <a:t>PEO1:  Conceptual Knowledge to adapt in rapidly changing environment and learn new skills and demonstrate application of management principles in professional work setting.</a:t>
            </a:r>
          </a:p>
          <a:p>
            <a:pPr algn="just">
              <a:buNone/>
            </a:pPr>
            <a:r>
              <a:rPr lang="en-US" sz="2400">
                <a:latin typeface="Times New Roman" panose="02020603050405020304" pitchFamily="18" charset="0"/>
                <a:cs typeface="Times New Roman" panose="02020603050405020304" pitchFamily="18" charset="0"/>
              </a:rPr>
              <a:t>	</a:t>
            </a:r>
          </a:p>
          <a:p>
            <a:pPr algn="just">
              <a:buNone/>
            </a:pPr>
            <a:r>
              <a:rPr lang="en-US" sz="2400">
                <a:latin typeface="Times New Roman" panose="02020603050405020304" pitchFamily="18" charset="0"/>
                <a:cs typeface="Times New Roman" panose="02020603050405020304" pitchFamily="18" charset="0"/>
              </a:rPr>
              <a:t>PEO2:  Apply appropriate tools for decision making for solving complex managerial problems in local or global context.</a:t>
            </a:r>
          </a:p>
          <a:p>
            <a:pPr algn="just">
              <a:buNone/>
            </a:pPr>
            <a:r>
              <a:rPr lang="en-US" sz="2400">
                <a:latin typeface="Times New Roman" panose="02020603050405020304" pitchFamily="18" charset="0"/>
                <a:cs typeface="Times New Roman" panose="02020603050405020304" pitchFamily="18" charset="0"/>
              </a:rPr>
              <a:t> 		</a:t>
            </a:r>
          </a:p>
          <a:p>
            <a:pPr algn="just">
              <a:buNone/>
            </a:pPr>
            <a:r>
              <a:rPr lang="en-US" sz="2400">
                <a:latin typeface="Times New Roman" panose="02020603050405020304" pitchFamily="18" charset="0"/>
                <a:cs typeface="Times New Roman" panose="02020603050405020304" pitchFamily="18" charset="0"/>
              </a:rPr>
              <a:t>PEO3:  Exhibit Integrity, social responsibility and teamwork.</a:t>
            </a:r>
          </a:p>
          <a:p>
            <a:pPr algn="just">
              <a:buNone/>
            </a:pPr>
            <a:r>
              <a:rPr lang="en-US" sz="2400">
                <a:latin typeface="Times New Roman" panose="02020603050405020304" pitchFamily="18" charset="0"/>
                <a:cs typeface="Times New Roman" panose="02020603050405020304" pitchFamily="18" charset="0"/>
              </a:rPr>
              <a:t>		</a:t>
            </a:r>
          </a:p>
          <a:p>
            <a:pPr algn="just">
              <a:buNone/>
            </a:pPr>
            <a:r>
              <a:rPr lang="en-US" sz="2400">
                <a:latin typeface="Times New Roman" panose="02020603050405020304" pitchFamily="18" charset="0"/>
                <a:cs typeface="Times New Roman" panose="02020603050405020304" pitchFamily="18" charset="0"/>
              </a:rPr>
              <a:t>PEO4: Exhibit ethics, communication skills, leadership qualities and entrepreneurial mindset.</a:t>
            </a:r>
          </a:p>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solidFill>
                  <a:srgbClr val="CC3300"/>
                </a:solidFill>
                <a:latin typeface="Times New Roman" pitchFamily="18" charset="0"/>
                <a:cs typeface="Times New Roman" pitchFamily="18" charset="0"/>
              </a:rPr>
              <a:t>Unit Objectives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graphicFrame>
        <p:nvGraphicFramePr>
          <p:cNvPr id="21" name="Table 20">
            <a:extLst>
              <a:ext uri="{FF2B5EF4-FFF2-40B4-BE49-F238E27FC236}">
                <a16:creationId xmlns:a16="http://schemas.microsoft.com/office/drawing/2014/main" id="{7A470146-DCC7-65FC-EC09-8A844C418ACF}"/>
              </a:ext>
            </a:extLst>
          </p:cNvPr>
          <p:cNvGraphicFramePr>
            <a:graphicFrameLocks noGrp="1"/>
          </p:cNvGraphicFramePr>
          <p:nvPr>
            <p:extLst>
              <p:ext uri="{D42A27DB-BD31-4B8C-83A1-F6EECF244321}">
                <p14:modId xmlns:p14="http://schemas.microsoft.com/office/powerpoint/2010/main" val="2599665790"/>
              </p:ext>
            </p:extLst>
          </p:nvPr>
        </p:nvGraphicFramePr>
        <p:xfrm>
          <a:off x="899591" y="1196753"/>
          <a:ext cx="10016937" cy="4451571"/>
        </p:xfrm>
        <a:graphic>
          <a:graphicData uri="http://schemas.openxmlformats.org/drawingml/2006/table">
            <a:tbl>
              <a:tblPr firstRow="1" firstCol="1" bandRow="1">
                <a:tableStyleId>{21E4AEA4-8DFA-4A89-87EB-49C32662AFE0}</a:tableStyleId>
              </a:tblPr>
              <a:tblGrid>
                <a:gridCol w="10016937">
                  <a:extLst>
                    <a:ext uri="{9D8B030D-6E8A-4147-A177-3AD203B41FA5}">
                      <a16:colId xmlns:a16="http://schemas.microsoft.com/office/drawing/2014/main" val="3334862814"/>
                    </a:ext>
                  </a:extLst>
                </a:gridCol>
              </a:tblGrid>
              <a:tr h="810512">
                <a:tc>
                  <a:txBody>
                    <a:bodyPr/>
                    <a:lstStyle/>
                    <a:p>
                      <a:pPr>
                        <a:lnSpc>
                          <a:spcPct val="115000"/>
                        </a:lnSpc>
                        <a:spcAft>
                          <a:spcPts val="1000"/>
                        </a:spcAft>
                        <a:tabLst>
                          <a:tab pos="1533525" algn="l"/>
                        </a:tabLst>
                      </a:pPr>
                      <a:r>
                        <a:rPr lang="en-US" sz="2200">
                          <a:effectLst/>
                        </a:rPr>
                        <a:t>Explore the dimensions of Project</a:t>
                      </a:r>
                      <a:r>
                        <a:rPr lang="en-US" sz="2200" baseline="0">
                          <a:effectLst/>
                        </a:rPr>
                        <a:t> Financing, its importance and scope. </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621351"/>
                  </a:ext>
                </a:extLst>
              </a:tr>
              <a:tr h="810512">
                <a:tc>
                  <a:txBody>
                    <a:bodyPr/>
                    <a:lstStyle/>
                    <a:p>
                      <a:pPr>
                        <a:lnSpc>
                          <a:spcPct val="115000"/>
                        </a:lnSpc>
                        <a:spcAft>
                          <a:spcPts val="1000"/>
                        </a:spcAft>
                        <a:tabLst>
                          <a:tab pos="1533525" algn="l"/>
                        </a:tabLst>
                      </a:pPr>
                      <a:r>
                        <a:rPr lang="en-US" sz="2200">
                          <a:effectLst/>
                        </a:rPr>
                        <a:t>Understand</a:t>
                      </a:r>
                      <a:r>
                        <a:rPr lang="en-US" sz="2200" baseline="0">
                          <a:effectLst/>
                        </a:rPr>
                        <a:t>ing Capital </a:t>
                      </a:r>
                      <a:r>
                        <a:rPr lang="en-US" sz="2200" baseline="0" err="1">
                          <a:effectLst/>
                        </a:rPr>
                        <a:t>Budeting</a:t>
                      </a:r>
                      <a:r>
                        <a:rPr lang="en-US" sz="2200" baseline="0">
                          <a:effectLst/>
                        </a:rPr>
                        <a:t> and Sources of Fund.</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37119763"/>
                  </a:ext>
                </a:extLst>
              </a:tr>
              <a:tr h="1159094">
                <a:tc>
                  <a:txBody>
                    <a:bodyPr/>
                    <a:lstStyle/>
                    <a:p>
                      <a:pPr>
                        <a:lnSpc>
                          <a:spcPct val="115000"/>
                        </a:lnSpc>
                        <a:spcAft>
                          <a:spcPts val="1000"/>
                        </a:spcAft>
                        <a:tabLst>
                          <a:tab pos="1533525" algn="l"/>
                        </a:tabLst>
                      </a:pPr>
                      <a:r>
                        <a:rPr lang="en-US" sz="2200">
                          <a:effectLst/>
                          <a:latin typeface="Calibri" panose="020F0502020204030204" pitchFamily="34" charset="0"/>
                          <a:ea typeface="Calibri" panose="020F0502020204030204" pitchFamily="34" charset="0"/>
                          <a:cs typeface="Times New Roman" panose="02020603050405020304" pitchFamily="18" charset="0"/>
                        </a:rPr>
                        <a:t>Developing</a:t>
                      </a:r>
                      <a:r>
                        <a:rPr lang="en-US" sz="2200" baseline="0">
                          <a:effectLst/>
                          <a:latin typeface="Calibri" panose="020F0502020204030204" pitchFamily="34" charset="0"/>
                          <a:ea typeface="Calibri" panose="020F0502020204030204" pitchFamily="34" charset="0"/>
                          <a:cs typeface="Times New Roman" panose="02020603050405020304" pitchFamily="18" charset="0"/>
                        </a:rPr>
                        <a:t> an understanding about Projected financial Statements.</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75492484"/>
                  </a:ext>
                </a:extLst>
              </a:tr>
              <a:tr h="1671453">
                <a:tc>
                  <a:txBody>
                    <a:bodyPr/>
                    <a:lstStyle/>
                    <a:p>
                      <a:pPr>
                        <a:lnSpc>
                          <a:spcPct val="115000"/>
                        </a:lnSpc>
                        <a:spcAft>
                          <a:spcPts val="1000"/>
                        </a:spcAft>
                        <a:tabLst>
                          <a:tab pos="1533525" algn="l"/>
                        </a:tabLst>
                      </a:pPr>
                      <a:r>
                        <a:rPr lang="en-US" sz="2200">
                          <a:effectLst/>
                        </a:rPr>
                        <a:t>Developing</a:t>
                      </a:r>
                      <a:r>
                        <a:rPr lang="en-US" sz="2200" baseline="0">
                          <a:effectLst/>
                        </a:rPr>
                        <a:t> </a:t>
                      </a:r>
                      <a:r>
                        <a:rPr lang="en-US" sz="2200">
                          <a:effectLst/>
                        </a:rPr>
                        <a:t>an understanding of</a:t>
                      </a:r>
                      <a:r>
                        <a:rPr lang="en-US" sz="2200" baseline="0">
                          <a:effectLst/>
                        </a:rPr>
                        <a:t> various Project Finance.</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16042535"/>
                  </a:ext>
                </a:extLst>
              </a:tr>
            </a:tbl>
          </a:graphicData>
        </a:graphic>
      </p:graphicFrame>
      <p:sp>
        <p:nvSpPr>
          <p:cNvPr id="17" name="Rectangle 16">
            <a:extLst>
              <a:ext uri="{FF2B5EF4-FFF2-40B4-BE49-F238E27FC236}">
                <a16:creationId xmlns:a16="http://schemas.microsoft.com/office/drawing/2014/main" id="{731A936F-F269-359D-A45A-2FFA91880636}"/>
              </a:ext>
            </a:extLst>
          </p:cNvPr>
          <p:cNvSpPr/>
          <p:nvPr/>
        </p:nvSpPr>
        <p:spPr>
          <a:xfrm>
            <a:off x="0" y="6315742"/>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solidFill>
                  <a:srgbClr val="CC3300"/>
                </a:solidFill>
                <a:latin typeface="Times New Roman" pitchFamily="18" charset="0"/>
                <a:cs typeface="Times New Roman" pitchFamily="18" charset="0"/>
              </a:rPr>
              <a:t>Program Outcomes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1505243"/>
            <a:ext cx="11067803" cy="4556119"/>
          </a:xfrm>
          <a:prstGeom prst="rect">
            <a:avLst/>
          </a:prstGeom>
        </p:spPr>
        <p:txBody>
          <a:bodyPr wrap="square">
            <a:spAutoFit/>
          </a:bodyPr>
          <a:lstStyle/>
          <a:p>
            <a:pPr algn="just">
              <a:lnSpc>
                <a:spcPct val="115000"/>
              </a:lnSpc>
              <a:spcAft>
                <a:spcPts val="1000"/>
              </a:spcAft>
            </a:pPr>
            <a:r>
              <a:rPr lang="en-US" b="1">
                <a:latin typeface="Times New Roman" panose="02020603050405020304" pitchFamily="18" charset="0"/>
                <a:ea typeface="Calibri" panose="020F0502020204030204" pitchFamily="34" charset="0"/>
                <a:cs typeface="Times New Roman" panose="02020603050405020304" pitchFamily="18" charset="0"/>
              </a:rPr>
              <a:t>1. Engineering knowledge:</a:t>
            </a:r>
            <a:r>
              <a:rPr lang="en-US">
                <a:latin typeface="Times New Roman" panose="02020603050405020304" pitchFamily="18" charset="0"/>
                <a:ea typeface="Calibri" panose="020F0502020204030204" pitchFamily="34" charset="0"/>
                <a:cs typeface="Times New Roman" panose="02020603050405020304" pitchFamily="18" charset="0"/>
              </a:rPr>
              <a:t> Apply the knowledge of mathematics, science, engineering fundamentals, and an engineering specialization for the solution of complex engineering problems.</a:t>
            </a:r>
            <a:endParaRPr lang="en-IN">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b="1">
                <a:latin typeface="Times New Roman" panose="02020603050405020304" pitchFamily="18" charset="0"/>
                <a:ea typeface="Calibri" panose="020F0502020204030204" pitchFamily="34" charset="0"/>
                <a:cs typeface="Times New Roman" panose="02020603050405020304" pitchFamily="18" charset="0"/>
              </a:rPr>
              <a:t>2. Problem analysis:</a:t>
            </a:r>
            <a:r>
              <a:rPr lang="en-US">
                <a:latin typeface="Times New Roman" panose="02020603050405020304" pitchFamily="18" charset="0"/>
                <a:ea typeface="Calibri" panose="020F0502020204030204" pitchFamily="34" charset="0"/>
                <a:cs typeface="Times New Roman" panose="02020603050405020304" pitchFamily="18" charset="0"/>
              </a:rPr>
              <a:t> Identify, formulate, research literature, and </a:t>
            </a:r>
            <a:r>
              <a:rPr lang="en-US" err="1">
                <a:latin typeface="Times New Roman" panose="02020603050405020304" pitchFamily="18" charset="0"/>
                <a:ea typeface="Calibri" panose="020F0502020204030204" pitchFamily="34" charset="0"/>
                <a:cs typeface="Times New Roman" panose="02020603050405020304" pitchFamily="18" charset="0"/>
              </a:rPr>
              <a:t>analyse</a:t>
            </a:r>
            <a:r>
              <a:rPr lang="en-US">
                <a:latin typeface="Times New Roman" panose="02020603050405020304" pitchFamily="18" charset="0"/>
                <a:ea typeface="Calibri" panose="020F0502020204030204" pitchFamily="34" charset="0"/>
                <a:cs typeface="Times New Roman" panose="02020603050405020304" pitchFamily="18" charset="0"/>
              </a:rPr>
              <a:t> complex engineering problems reaching substantiated conclusions using first principles of mathematics, natural sciences, and engineering sciences.</a:t>
            </a:r>
            <a:endParaRPr lang="en-IN">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b="1">
                <a:latin typeface="Times New Roman" panose="02020603050405020304" pitchFamily="18" charset="0"/>
                <a:ea typeface="Calibri" panose="020F0502020204030204" pitchFamily="34" charset="0"/>
                <a:cs typeface="Times New Roman" panose="02020603050405020304" pitchFamily="18" charset="0"/>
              </a:rPr>
              <a:t>3. Design/development of solutions:</a:t>
            </a:r>
            <a:r>
              <a:rPr lang="en-US">
                <a:latin typeface="Times New Roman" panose="02020603050405020304" pitchFamily="18" charset="0"/>
                <a:ea typeface="Calibri" panose="020F0502020204030204" pitchFamily="34" charset="0"/>
                <a:cs typeface="Times New Roman" panose="02020603050405020304" pitchFamily="18" charset="0"/>
              </a:rPr>
              <a:t> Design solutions for complex engineering problems and design system components or processes that meet the specified needs with appropriate consideration for public health and safety, and cultural, societal, and environmental considerations.</a:t>
            </a:r>
          </a:p>
          <a:p>
            <a:pPr algn="just">
              <a:lnSpc>
                <a:spcPct val="115000"/>
              </a:lnSpc>
              <a:spcAft>
                <a:spcPts val="1000"/>
              </a:spcAft>
            </a:pPr>
            <a:r>
              <a:rPr lang="en-US" b="1">
                <a:latin typeface="Times New Roman" panose="02020603050405020304" pitchFamily="18" charset="0"/>
                <a:ea typeface="Calibri" panose="020F0502020204030204" pitchFamily="34" charset="0"/>
                <a:cs typeface="Times New Roman" panose="02020603050405020304" pitchFamily="18" charset="0"/>
              </a:rPr>
              <a:t>4. Conduct investigations of complex problems: </a:t>
            </a:r>
            <a:r>
              <a:rPr lang="en-US">
                <a:latin typeface="Times New Roman" panose="02020603050405020304" pitchFamily="18" charset="0"/>
                <a:ea typeface="Calibri" panose="020F0502020204030204" pitchFamily="34" charset="0"/>
                <a:cs typeface="Times New Roman" panose="02020603050405020304" pitchFamily="18" charset="0"/>
              </a:rPr>
              <a:t>Use research-based knowledge and research methods including design of experiments, analysis and interpretation of data, and synthesis of information to provide valid conclusions.</a:t>
            </a:r>
            <a:endParaRPr lang="en-IN">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b="1">
                <a:latin typeface="Times New Roman" panose="02020603050405020304" pitchFamily="18" charset="0"/>
                <a:ea typeface="Calibri" panose="020F0502020204030204" pitchFamily="34" charset="0"/>
                <a:cs typeface="Times New Roman" panose="02020603050405020304" pitchFamily="18" charset="0"/>
              </a:rPr>
              <a:t>5. Modern tool usage:</a:t>
            </a:r>
            <a:r>
              <a:rPr lang="en-US">
                <a:latin typeface="Times New Roman" panose="02020603050405020304" pitchFamily="18" charset="0"/>
                <a:ea typeface="Calibri" panose="020F0502020204030204" pitchFamily="34" charset="0"/>
                <a:cs typeface="Times New Roman" panose="02020603050405020304" pitchFamily="18" charset="0"/>
              </a:rPr>
              <a:t> Create, select, and apply appropriate techniques, resources, and modern engineering and IT tools, including prediction and modeling to complex engineering activities, with an understanding of the limitations.</a:t>
            </a:r>
            <a:endParaRPr lang="en-IN">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endParaRPr lang="en-IN">
              <a:latin typeface="Times New Roman" panose="02020603050405020304" pitchFamily="18"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solidFill>
                  <a:srgbClr val="CC3300"/>
                </a:solidFill>
                <a:latin typeface="Times New Roman" pitchFamily="18" charset="0"/>
                <a:cs typeface="Times New Roman" pitchFamily="18" charset="0"/>
              </a:rPr>
              <a:t>Program Outcomes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3" name="Rectangle 22"/>
          <p:cNvSpPr/>
          <p:nvPr/>
        </p:nvSpPr>
        <p:spPr>
          <a:xfrm>
            <a:off x="576775" y="1336432"/>
            <a:ext cx="10944665" cy="4463273"/>
          </a:xfrm>
          <a:prstGeom prst="rect">
            <a:avLst/>
          </a:prstGeom>
        </p:spPr>
        <p:txBody>
          <a:bodyPr wrap="square">
            <a:spAutoFit/>
          </a:bodyPr>
          <a:lstStyle/>
          <a:p>
            <a:pPr algn="just">
              <a:lnSpc>
                <a:spcPct val="115000"/>
              </a:lnSpc>
              <a:spcAft>
                <a:spcPts val="1000"/>
              </a:spcAft>
            </a:pPr>
            <a:r>
              <a:rPr lang="en-US" sz="2000" b="1">
                <a:latin typeface="Times New Roman" panose="02020603050405020304" pitchFamily="18" charset="0"/>
                <a:ea typeface="Calibri" panose="020F0502020204030204" pitchFamily="34" charset="0"/>
                <a:cs typeface="Times New Roman" panose="02020603050405020304" pitchFamily="18" charset="0"/>
              </a:rPr>
              <a:t>6. The engineer and society:</a:t>
            </a:r>
            <a:r>
              <a:rPr lang="en-US" sz="2000">
                <a:latin typeface="Times New Roman" panose="02020603050405020304" pitchFamily="18" charset="0"/>
                <a:ea typeface="Calibri" panose="020F0502020204030204" pitchFamily="34" charset="0"/>
                <a:cs typeface="Times New Roman" panose="02020603050405020304" pitchFamily="18" charset="0"/>
              </a:rPr>
              <a:t> Apply reasoning informed by the contextual knowledge to assess societal, health, safety, legal and cultural issues and the consequent responsibilities relevant to the professional engineering practice.</a:t>
            </a:r>
          </a:p>
          <a:p>
            <a:pPr algn="just">
              <a:lnSpc>
                <a:spcPct val="115000"/>
              </a:lnSpc>
              <a:spcAft>
                <a:spcPts val="1000"/>
              </a:spcAft>
            </a:pPr>
            <a:r>
              <a:rPr lang="en-US" sz="2000" b="1">
                <a:latin typeface="Times New Roman" panose="02020603050405020304" pitchFamily="18" charset="0"/>
                <a:ea typeface="Calibri" panose="020F0502020204030204" pitchFamily="34" charset="0"/>
                <a:cs typeface="Times New Roman" panose="02020603050405020304" pitchFamily="18" charset="0"/>
              </a:rPr>
              <a:t>7. Environment and sustainability:</a:t>
            </a:r>
            <a:r>
              <a:rPr lang="en-US" sz="2000">
                <a:latin typeface="Times New Roman" panose="02020603050405020304" pitchFamily="18" charset="0"/>
                <a:ea typeface="Calibri" panose="020F0502020204030204" pitchFamily="34" charset="0"/>
                <a:cs typeface="Times New Roman" panose="02020603050405020304" pitchFamily="18" charset="0"/>
              </a:rPr>
              <a:t> Understand the impact of the professional engineering solutions in societal and environmental contexts, and demonstrate the knowledge of, and need for sustainable development.</a:t>
            </a:r>
            <a:endParaRPr lang="en-IN" sz="200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a:latin typeface="Times New Roman" panose="02020603050405020304" pitchFamily="18" charset="0"/>
                <a:ea typeface="Calibri" panose="020F0502020204030204" pitchFamily="34" charset="0"/>
                <a:cs typeface="Times New Roman" panose="02020603050405020304" pitchFamily="18" charset="0"/>
              </a:rPr>
              <a:t>8. Ethics:</a:t>
            </a:r>
            <a:r>
              <a:rPr lang="en-US" sz="2000">
                <a:latin typeface="Times New Roman" panose="02020603050405020304" pitchFamily="18" charset="0"/>
                <a:ea typeface="Calibri" panose="020F0502020204030204" pitchFamily="34" charset="0"/>
                <a:cs typeface="Times New Roman" panose="02020603050405020304" pitchFamily="18" charset="0"/>
              </a:rPr>
              <a:t> Apply ethical principles and commit to professional ethics and responsibilities and norms of the engineering practice.</a:t>
            </a:r>
            <a:endParaRPr lang="en-IN" sz="200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a:latin typeface="Times New Roman" panose="02020603050405020304" pitchFamily="18" charset="0"/>
                <a:ea typeface="Calibri" panose="020F0502020204030204" pitchFamily="34" charset="0"/>
                <a:cs typeface="Times New Roman" panose="02020603050405020304" pitchFamily="18" charset="0"/>
              </a:rPr>
              <a:t>9. Individual and teamwork:</a:t>
            </a:r>
            <a:r>
              <a:rPr lang="en-US" sz="2000">
                <a:latin typeface="Times New Roman" panose="02020603050405020304" pitchFamily="18" charset="0"/>
                <a:ea typeface="Calibri" panose="020F0502020204030204" pitchFamily="34" charset="0"/>
                <a:cs typeface="Times New Roman" panose="02020603050405020304" pitchFamily="18" charset="0"/>
              </a:rPr>
              <a:t> Function effectively as an individual, and as a member or leader in diverse teams, and in multidisciplinary settings.</a:t>
            </a:r>
            <a:endParaRPr lang="en-IN" sz="200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endParaRPr lang="en-IN">
              <a:latin typeface="Times New Roman" panose="02020603050405020304" pitchFamily="18" charset="0"/>
              <a:cs typeface="Times New Roman" panose="02020603050405020304" pitchFamily="18" charset="0"/>
            </a:endParaRPr>
          </a:p>
        </p:txBody>
      </p:sp>
      <p:sp>
        <p:nvSpPr>
          <p:cNvPr id="24" name="Rectangle 2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solidFill>
                  <a:srgbClr val="CC3300"/>
                </a:solidFill>
                <a:latin typeface="Times New Roman" pitchFamily="18" charset="0"/>
                <a:cs typeface="Times New Roman" pitchFamily="18" charset="0"/>
              </a:rPr>
              <a:t>Program Outcomes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5" name="Rectangle 24"/>
          <p:cNvSpPr/>
          <p:nvPr/>
        </p:nvSpPr>
        <p:spPr>
          <a:xfrm>
            <a:off x="731520" y="1246351"/>
            <a:ext cx="10578905" cy="3441968"/>
          </a:xfrm>
          <a:prstGeom prst="rect">
            <a:avLst/>
          </a:prstGeom>
        </p:spPr>
        <p:txBody>
          <a:bodyPr wrap="square">
            <a:spAutoFit/>
          </a:bodyPr>
          <a:lstStyle/>
          <a:p>
            <a:pPr algn="just">
              <a:lnSpc>
                <a:spcPct val="115000"/>
              </a:lnSpc>
              <a:spcAft>
                <a:spcPts val="1000"/>
              </a:spcAft>
            </a:pPr>
            <a:r>
              <a:rPr lang="en-US" sz="2000" b="1">
                <a:latin typeface="Times New Roman" panose="02020603050405020304" pitchFamily="18" charset="0"/>
                <a:ea typeface="Calibri" panose="020F0502020204030204" pitchFamily="34" charset="0"/>
                <a:cs typeface="Times New Roman" panose="02020603050405020304" pitchFamily="18" charset="0"/>
              </a:rPr>
              <a:t>10. Communication:</a:t>
            </a:r>
            <a:r>
              <a:rPr lang="en-US" sz="2000">
                <a:latin typeface="Times New Roman" panose="02020603050405020304" pitchFamily="18" charset="0"/>
                <a:ea typeface="Calibri" panose="020F0502020204030204" pitchFamily="34" charset="0"/>
                <a:cs typeface="Times New Roman" panose="02020603050405020304" pitchFamily="18" charset="0"/>
              </a:rPr>
              <a:t> Communicate effectively on complex engineering activities with the engineering community and with the society at large, such as, being able to comprehend and write effective reports and design documentation, make effective presentations, and give and receive clear instructions.</a:t>
            </a:r>
            <a:endParaRPr lang="en-IN" sz="200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a:latin typeface="Times New Roman" panose="02020603050405020304" pitchFamily="18" charset="0"/>
                <a:ea typeface="Calibri" panose="020F0502020204030204" pitchFamily="34" charset="0"/>
                <a:cs typeface="Times New Roman" panose="02020603050405020304" pitchFamily="18" charset="0"/>
              </a:rPr>
              <a:t>11. Project management and finance:</a:t>
            </a:r>
            <a:r>
              <a:rPr lang="en-US" sz="2000">
                <a:latin typeface="Times New Roman" panose="02020603050405020304" pitchFamily="18" charset="0"/>
                <a:ea typeface="Calibri" panose="020F0502020204030204" pitchFamily="34" charset="0"/>
                <a:cs typeface="Times New Roman" panose="02020603050405020304" pitchFamily="18" charset="0"/>
              </a:rPr>
              <a:t> Demonstrate knowledge and understanding of the engineering and management principles and apply these to one’s own work, as a member and leader in a team, to manage projects and in multidisciplinary environments.</a:t>
            </a:r>
            <a:endParaRPr lang="en-IN" sz="2000">
              <a:latin typeface="Times New Roman" panose="02020603050405020304" pitchFamily="18" charset="0"/>
              <a:ea typeface="Calibri" panose="020F0502020204030204" pitchFamily="34" charset="0"/>
              <a:cs typeface="Times New Roman" panose="02020603050405020304" pitchFamily="18" charset="0"/>
            </a:endParaRPr>
          </a:p>
          <a:p>
            <a:r>
              <a:rPr lang="en-US" sz="2000" b="1">
                <a:latin typeface="Times New Roman" panose="02020603050405020304" pitchFamily="18" charset="0"/>
                <a:ea typeface="Calibri" panose="020F0502020204030204" pitchFamily="34" charset="0"/>
                <a:cs typeface="Times New Roman" panose="02020603050405020304" pitchFamily="18" charset="0"/>
              </a:rPr>
              <a:t>12. Life-long learning: </a:t>
            </a:r>
            <a:r>
              <a:rPr lang="en-US" sz="2000">
                <a:latin typeface="Times New Roman" panose="02020603050405020304" pitchFamily="18" charset="0"/>
                <a:ea typeface="Calibri" panose="020F0502020204030204" pitchFamily="34" charset="0"/>
                <a:cs typeface="Times New Roman" panose="02020603050405020304" pitchFamily="18" charset="0"/>
              </a:rPr>
              <a:t>Recognize the need for and have the preparation and ability to engage in independent and life-long learning in the broadest context of technological change</a:t>
            </a:r>
            <a:r>
              <a:rPr lang="en-US" sz="2000">
                <a:latin typeface="Times New Roman" panose="02020603050405020304" pitchFamily="18" charset="0"/>
                <a:ea typeface="Calibri" panose="020F0502020204030204" pitchFamily="34" charset="0"/>
              </a:rPr>
              <a:t>.</a:t>
            </a:r>
            <a:endParaRPr lang="en-IN" sz="2000"/>
          </a:p>
        </p:txBody>
      </p:sp>
      <p:sp>
        <p:nvSpPr>
          <p:cNvPr id="22" name="Rectangle 21">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4" name="Rectangle 3"/>
          <p:cNvSpPr/>
          <p:nvPr/>
        </p:nvSpPr>
        <p:spPr>
          <a:xfrm>
            <a:off x="3545059" y="233848"/>
            <a:ext cx="5767754" cy="523220"/>
          </a:xfrm>
          <a:prstGeom prst="rect">
            <a:avLst/>
          </a:prstGeom>
        </p:spPr>
        <p:txBody>
          <a:bodyPr wrap="square">
            <a:spAutoFit/>
          </a:bodyPr>
          <a:lstStyle/>
          <a:p>
            <a:pPr algn="ctr"/>
            <a:r>
              <a:rPr lang="en-IN" sz="2800" b="1">
                <a:solidFill>
                  <a:srgbClr val="CC3300"/>
                </a:solidFill>
                <a:latin typeface="Times New Roman" pitchFamily="18" charset="0"/>
                <a:cs typeface="Times New Roman" pitchFamily="18" charset="0"/>
              </a:rPr>
              <a:t>Program Educational Outcomes </a:t>
            </a:r>
            <a:endParaRPr lang="en-US" sz="2800"/>
          </a:p>
        </p:txBody>
      </p:sp>
      <p:sp>
        <p:nvSpPr>
          <p:cNvPr id="5" name="Rectangle 4">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6" name="Rectangle 5"/>
          <p:cNvSpPr/>
          <p:nvPr/>
        </p:nvSpPr>
        <p:spPr>
          <a:xfrm>
            <a:off x="365760" y="1859340"/>
            <a:ext cx="11577711" cy="3416320"/>
          </a:xfrm>
          <a:prstGeom prst="rect">
            <a:avLst/>
          </a:prstGeom>
        </p:spPr>
        <p:txBody>
          <a:bodyPr wrap="square">
            <a:spAutoFit/>
          </a:bodyPr>
          <a:lstStyle/>
          <a:p>
            <a:pPr algn="just">
              <a:buNone/>
            </a:pPr>
            <a:r>
              <a:rPr lang="en-US" sz="2400">
                <a:cs typeface="Times New Roman" panose="02020603050405020304" pitchFamily="18" charset="0"/>
              </a:rPr>
              <a:t>PEO1:  Conceptual Knowledge to adapt in rapidly changing environment and learn new skills and demonstrate application of management principles in professional work setting.</a:t>
            </a:r>
          </a:p>
          <a:p>
            <a:pPr algn="just">
              <a:buNone/>
            </a:pPr>
            <a:r>
              <a:rPr lang="en-US" sz="2400">
                <a:cs typeface="Times New Roman" panose="02020603050405020304" pitchFamily="18" charset="0"/>
              </a:rPr>
              <a:t>	</a:t>
            </a:r>
          </a:p>
          <a:p>
            <a:pPr algn="just">
              <a:buNone/>
            </a:pPr>
            <a:r>
              <a:rPr lang="en-US" sz="2400">
                <a:cs typeface="Times New Roman" panose="02020603050405020304" pitchFamily="18" charset="0"/>
              </a:rPr>
              <a:t>PEO2:  Apply appropriate tools for decision making for solving complex managerial problems in local or global context</a:t>
            </a:r>
          </a:p>
          <a:p>
            <a:pPr algn="just">
              <a:buNone/>
            </a:pPr>
            <a:r>
              <a:rPr lang="en-US" sz="2400">
                <a:cs typeface="Times New Roman" panose="02020603050405020304" pitchFamily="18" charset="0"/>
              </a:rPr>
              <a:t> 		</a:t>
            </a:r>
          </a:p>
          <a:p>
            <a:pPr algn="just">
              <a:buNone/>
            </a:pPr>
            <a:r>
              <a:rPr lang="en-US" sz="2400">
                <a:cs typeface="Times New Roman" panose="02020603050405020304" pitchFamily="18" charset="0"/>
              </a:rPr>
              <a:t>PEO3:  Exhibit Integrity, social responsibility and teamwork</a:t>
            </a:r>
          </a:p>
          <a:p>
            <a:pPr algn="just">
              <a:buNone/>
            </a:pPr>
            <a:r>
              <a:rPr lang="en-US" sz="2400">
                <a:cs typeface="Times New Roman" panose="02020603050405020304" pitchFamily="18" charset="0"/>
              </a:rPr>
              <a:t>		</a:t>
            </a:r>
          </a:p>
          <a:p>
            <a:pPr algn="just">
              <a:buNone/>
            </a:pPr>
            <a:r>
              <a:rPr lang="en-US" sz="2400">
                <a:cs typeface="Times New Roman" panose="02020603050405020304" pitchFamily="18" charset="0"/>
              </a:rPr>
              <a:t>PEO4: Exhibit ethics, communication skills, leadership qualities and entrepreneurial mindset</a:t>
            </a:r>
            <a:endParaRPr 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4" name="Rectangle 3"/>
          <p:cNvSpPr/>
          <p:nvPr/>
        </p:nvSpPr>
        <p:spPr>
          <a:xfrm>
            <a:off x="3908415" y="225083"/>
            <a:ext cx="4518133" cy="523220"/>
          </a:xfrm>
          <a:prstGeom prst="rect">
            <a:avLst/>
          </a:prstGeom>
        </p:spPr>
        <p:txBody>
          <a:bodyPr wrap="square">
            <a:spAutoFit/>
          </a:bodyPr>
          <a:lstStyle/>
          <a:p>
            <a:pPr algn="ctr"/>
            <a:r>
              <a:rPr lang="en-IN" sz="2800" b="1">
                <a:solidFill>
                  <a:srgbClr val="CC3300"/>
                </a:solidFill>
                <a:latin typeface="Times New Roman" pitchFamily="18" charset="0"/>
                <a:cs typeface="Times New Roman" pitchFamily="18" charset="0"/>
              </a:rPr>
              <a:t>COURSE OUTCOME  </a:t>
            </a:r>
            <a:endParaRPr lang="en-US" sz="2800"/>
          </a:p>
        </p:txBody>
      </p:sp>
      <p:sp>
        <p:nvSpPr>
          <p:cNvPr id="5" name="Rectangle 4">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graphicFrame>
        <p:nvGraphicFramePr>
          <p:cNvPr id="6" name="Table 5"/>
          <p:cNvGraphicFramePr>
            <a:graphicFrameLocks noGrp="1"/>
          </p:cNvGraphicFramePr>
          <p:nvPr/>
        </p:nvGraphicFramePr>
        <p:xfrm>
          <a:off x="970672" y="1155888"/>
          <a:ext cx="10325685" cy="4606590"/>
        </p:xfrm>
        <a:graphic>
          <a:graphicData uri="http://schemas.openxmlformats.org/drawingml/2006/table">
            <a:tbl>
              <a:tblPr firstRow="1" bandRow="1">
                <a:tableStyleId>{00A15C55-8517-42AA-B614-E9B94910E393}</a:tableStyleId>
              </a:tblPr>
              <a:tblGrid>
                <a:gridCol w="1850681">
                  <a:extLst>
                    <a:ext uri="{9D8B030D-6E8A-4147-A177-3AD203B41FA5}">
                      <a16:colId xmlns:a16="http://schemas.microsoft.com/office/drawing/2014/main" val="20000"/>
                    </a:ext>
                  </a:extLst>
                </a:gridCol>
                <a:gridCol w="6558797">
                  <a:extLst>
                    <a:ext uri="{9D8B030D-6E8A-4147-A177-3AD203B41FA5}">
                      <a16:colId xmlns:a16="http://schemas.microsoft.com/office/drawing/2014/main" val="20001"/>
                    </a:ext>
                  </a:extLst>
                </a:gridCol>
                <a:gridCol w="1916207">
                  <a:extLst>
                    <a:ext uri="{9D8B030D-6E8A-4147-A177-3AD203B41FA5}">
                      <a16:colId xmlns:a16="http://schemas.microsoft.com/office/drawing/2014/main" val="20002"/>
                    </a:ext>
                  </a:extLst>
                </a:gridCol>
              </a:tblGrid>
              <a:tr h="443706">
                <a:tc>
                  <a:txBody>
                    <a:bodyPr/>
                    <a:lstStyle/>
                    <a:p>
                      <a:r>
                        <a:rPr lang="en-US"/>
                        <a:t>Course</a:t>
                      </a:r>
                      <a:r>
                        <a:rPr lang="en-US" baseline="0"/>
                        <a:t> Outcome </a:t>
                      </a:r>
                      <a:endParaRPr lang="en-US"/>
                    </a:p>
                  </a:txBody>
                  <a:tcPr/>
                </a:tc>
                <a:tc gridSpan="2">
                  <a:txBody>
                    <a:bodyPr/>
                    <a:lstStyle/>
                    <a:p>
                      <a:r>
                        <a:rPr lang="en-US"/>
                        <a:t>At the end of course, the student will be able to </a:t>
                      </a:r>
                    </a:p>
                  </a:txBody>
                  <a:tcPr/>
                </a:tc>
                <a:tc hMerge="1">
                  <a:txBody>
                    <a:bodyPr/>
                    <a:lstStyle/>
                    <a:p>
                      <a:endParaRPr lang="en-US"/>
                    </a:p>
                  </a:txBody>
                  <a:tcPr/>
                </a:tc>
                <a:extLst>
                  <a:ext uri="{0D108BD9-81ED-4DB2-BD59-A6C34878D82A}">
                    <a16:rowId xmlns:a16="http://schemas.microsoft.com/office/drawing/2014/main" val="10000"/>
                  </a:ext>
                </a:extLst>
              </a:tr>
              <a:tr h="443706">
                <a:tc>
                  <a:txBody>
                    <a:bodyPr/>
                    <a:lstStyle/>
                    <a:p>
                      <a:r>
                        <a:rPr lang="en-US"/>
                        <a:t>CO1</a:t>
                      </a:r>
                    </a:p>
                  </a:txBody>
                  <a:tcPr/>
                </a:tc>
                <a:tc>
                  <a:txBody>
                    <a:bodyPr/>
                    <a:lstStyle/>
                    <a:p>
                      <a:pPr>
                        <a:lnSpc>
                          <a:spcPct val="115000"/>
                        </a:lnSpc>
                        <a:spcAft>
                          <a:spcPts val="1000"/>
                        </a:spcAft>
                        <a:tabLst>
                          <a:tab pos="1533525" algn="l"/>
                        </a:tabLst>
                      </a:pPr>
                      <a:r>
                        <a:rPr lang="en-US" sz="2200">
                          <a:effectLst/>
                        </a:rPr>
                        <a:t>Explore the dimensions of Project</a:t>
                      </a:r>
                      <a:r>
                        <a:rPr lang="en-US" sz="2200" baseline="0">
                          <a:effectLst/>
                        </a:rPr>
                        <a:t> Management , its importance and scope. </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a:t> K1, K2 </a:t>
                      </a:r>
                    </a:p>
                  </a:txBody>
                  <a:tcPr/>
                </a:tc>
                <a:extLst>
                  <a:ext uri="{0D108BD9-81ED-4DB2-BD59-A6C34878D82A}">
                    <a16:rowId xmlns:a16="http://schemas.microsoft.com/office/drawing/2014/main" val="10001"/>
                  </a:ext>
                </a:extLst>
              </a:tr>
              <a:tr h="765849">
                <a:tc>
                  <a:txBody>
                    <a:bodyPr/>
                    <a:lstStyle/>
                    <a:p>
                      <a:r>
                        <a:rPr lang="en-US"/>
                        <a:t>CO2</a:t>
                      </a:r>
                    </a:p>
                  </a:txBody>
                  <a:tcPr/>
                </a:tc>
                <a:tc>
                  <a:txBody>
                    <a:bodyPr/>
                    <a:lstStyle/>
                    <a:p>
                      <a:pPr>
                        <a:lnSpc>
                          <a:spcPct val="115000"/>
                        </a:lnSpc>
                        <a:spcAft>
                          <a:spcPts val="1000"/>
                        </a:spcAft>
                        <a:tabLst>
                          <a:tab pos="1533525" algn="l"/>
                        </a:tabLst>
                      </a:pPr>
                      <a:r>
                        <a:rPr lang="en-US" sz="2200">
                          <a:effectLst/>
                        </a:rPr>
                        <a:t>Understand</a:t>
                      </a:r>
                      <a:r>
                        <a:rPr lang="en-US" sz="2200" baseline="0">
                          <a:effectLst/>
                        </a:rPr>
                        <a:t>ing Project life Cycle and Role of Project Manager. </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a:t>K3, K4</a:t>
                      </a:r>
                    </a:p>
                  </a:txBody>
                  <a:tcPr/>
                </a:tc>
                <a:extLst>
                  <a:ext uri="{0D108BD9-81ED-4DB2-BD59-A6C34878D82A}">
                    <a16:rowId xmlns:a16="http://schemas.microsoft.com/office/drawing/2014/main" val="10002"/>
                  </a:ext>
                </a:extLst>
              </a:tr>
              <a:tr h="765849">
                <a:tc>
                  <a:txBody>
                    <a:bodyPr/>
                    <a:lstStyle/>
                    <a:p>
                      <a:r>
                        <a:rPr lang="en-US"/>
                        <a:t>CO3</a:t>
                      </a:r>
                    </a:p>
                  </a:txBody>
                  <a:tcPr/>
                </a:tc>
                <a:tc>
                  <a:txBody>
                    <a:bodyPr/>
                    <a:lstStyle/>
                    <a:p>
                      <a:pPr>
                        <a:lnSpc>
                          <a:spcPct val="115000"/>
                        </a:lnSpc>
                        <a:spcAft>
                          <a:spcPts val="1000"/>
                        </a:spcAft>
                        <a:tabLst>
                          <a:tab pos="1533525" algn="l"/>
                        </a:tabLst>
                      </a:pPr>
                      <a:r>
                        <a:rPr lang="en-US" sz="2200">
                          <a:effectLst/>
                          <a:latin typeface="Calibri" panose="020F0502020204030204" pitchFamily="34" charset="0"/>
                          <a:ea typeface="Calibri" panose="020F0502020204030204" pitchFamily="34" charset="0"/>
                          <a:cs typeface="Times New Roman" panose="02020603050405020304" pitchFamily="18" charset="0"/>
                        </a:rPr>
                        <a:t>Developing</a:t>
                      </a:r>
                      <a:r>
                        <a:rPr lang="en-US" sz="2200" baseline="0">
                          <a:effectLst/>
                          <a:latin typeface="Calibri" panose="020F0502020204030204" pitchFamily="34" charset="0"/>
                          <a:ea typeface="Calibri" panose="020F0502020204030204" pitchFamily="34" charset="0"/>
                          <a:cs typeface="Times New Roman" panose="02020603050405020304" pitchFamily="18" charset="0"/>
                        </a:rPr>
                        <a:t> an understanding about Project Appraisal , Technical Appraisal ,Market Appraisal and Managerial Appraisal. </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a:t>K4</a:t>
                      </a:r>
                    </a:p>
                  </a:txBody>
                  <a:tcPr/>
                </a:tc>
                <a:extLst>
                  <a:ext uri="{0D108BD9-81ED-4DB2-BD59-A6C34878D82A}">
                    <a16:rowId xmlns:a16="http://schemas.microsoft.com/office/drawing/2014/main" val="10003"/>
                  </a:ext>
                </a:extLst>
              </a:tr>
              <a:tr h="765849">
                <a:tc>
                  <a:txBody>
                    <a:bodyPr/>
                    <a:lstStyle/>
                    <a:p>
                      <a:r>
                        <a:rPr lang="en-US"/>
                        <a:t>CO4</a:t>
                      </a:r>
                    </a:p>
                  </a:txBody>
                  <a:tcPr/>
                </a:tc>
                <a:tc>
                  <a:txBody>
                    <a:bodyPr/>
                    <a:lstStyle/>
                    <a:p>
                      <a:pPr>
                        <a:lnSpc>
                          <a:spcPct val="115000"/>
                        </a:lnSpc>
                        <a:spcAft>
                          <a:spcPts val="1000"/>
                        </a:spcAft>
                        <a:tabLst>
                          <a:tab pos="1533525" algn="l"/>
                        </a:tabLst>
                      </a:pPr>
                      <a:r>
                        <a:rPr lang="en-US" sz="2200">
                          <a:effectLst/>
                        </a:rPr>
                        <a:t>Developing</a:t>
                      </a:r>
                      <a:r>
                        <a:rPr lang="en-US" sz="2200" baseline="0">
                          <a:effectLst/>
                        </a:rPr>
                        <a:t> </a:t>
                      </a:r>
                      <a:r>
                        <a:rPr lang="en-US" sz="2200">
                          <a:effectLst/>
                        </a:rPr>
                        <a:t>an understanding of</a:t>
                      </a:r>
                      <a:r>
                        <a:rPr lang="en-US" sz="2200" baseline="0">
                          <a:effectLst/>
                        </a:rPr>
                        <a:t> various Project Management tools like P6 Primavera. </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a:t>K2</a:t>
                      </a:r>
                    </a:p>
                  </a:txBody>
                  <a:tcPr/>
                </a:tc>
                <a:extLst>
                  <a:ext uri="{0D108BD9-81ED-4DB2-BD59-A6C34878D82A}">
                    <a16:rowId xmlns:a16="http://schemas.microsoft.com/office/drawing/2014/main" val="10004"/>
                  </a:ext>
                </a:extLst>
              </a:tr>
              <a:tr h="636120">
                <a:tc>
                  <a:txBody>
                    <a:bodyPr/>
                    <a:lstStyle/>
                    <a:p>
                      <a:r>
                        <a:rPr lang="en-US"/>
                        <a:t>CO5</a:t>
                      </a:r>
                    </a:p>
                  </a:txBody>
                  <a:tcPr/>
                </a:tc>
                <a:tc>
                  <a:txBody>
                    <a:bodyPr/>
                    <a:lstStyle/>
                    <a:p>
                      <a:pPr>
                        <a:lnSpc>
                          <a:spcPct val="115000"/>
                        </a:lnSpc>
                        <a:spcAft>
                          <a:spcPts val="1000"/>
                        </a:spcAft>
                        <a:tabLst>
                          <a:tab pos="1533525" algn="l"/>
                        </a:tabLst>
                      </a:pPr>
                      <a:r>
                        <a:rPr lang="en-US" sz="2200">
                          <a:effectLst/>
                        </a:rPr>
                        <a:t>Explore the dimensions of</a:t>
                      </a:r>
                      <a:r>
                        <a:rPr lang="en-US" sz="2200" baseline="0">
                          <a:effectLst/>
                        </a:rPr>
                        <a:t> Enterprise Project and Portfolio Management. </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a:t>K4, K5 </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solidFill>
                  <a:srgbClr val="CC3300"/>
                </a:solidFill>
                <a:latin typeface="Times New Roman" pitchFamily="18" charset="0"/>
                <a:cs typeface="Times New Roman" pitchFamily="18" charset="0"/>
              </a:rPr>
              <a:t>CO-PO MAPPING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graphicFrame>
        <p:nvGraphicFramePr>
          <p:cNvPr id="24" name="Content Placeholder 1"/>
          <p:cNvGraphicFramePr>
            <a:graphicFrameLocks/>
          </p:cNvGraphicFramePr>
          <p:nvPr/>
        </p:nvGraphicFramePr>
        <p:xfrm>
          <a:off x="2243797" y="1432560"/>
          <a:ext cx="6772299" cy="4148149"/>
        </p:xfrm>
        <a:graphic>
          <a:graphicData uri="http://schemas.openxmlformats.org/drawingml/2006/table">
            <a:tbl>
              <a:tblPr firstRow="1" firstCol="1" bandRow="1">
                <a:tableStyleId>{00A15C55-8517-42AA-B614-E9B94910E393}</a:tableStyleId>
              </a:tblPr>
              <a:tblGrid>
                <a:gridCol w="712366">
                  <a:extLst>
                    <a:ext uri="{9D8B030D-6E8A-4147-A177-3AD203B41FA5}">
                      <a16:colId xmlns:a16="http://schemas.microsoft.com/office/drawing/2014/main" val="20000"/>
                    </a:ext>
                  </a:extLst>
                </a:gridCol>
                <a:gridCol w="1445400">
                  <a:extLst>
                    <a:ext uri="{9D8B030D-6E8A-4147-A177-3AD203B41FA5}">
                      <a16:colId xmlns:a16="http://schemas.microsoft.com/office/drawing/2014/main" val="20001"/>
                    </a:ext>
                  </a:extLst>
                </a:gridCol>
                <a:gridCol w="1019634">
                  <a:extLst>
                    <a:ext uri="{9D8B030D-6E8A-4147-A177-3AD203B41FA5}">
                      <a16:colId xmlns:a16="http://schemas.microsoft.com/office/drawing/2014/main" val="20002"/>
                    </a:ext>
                  </a:extLst>
                </a:gridCol>
                <a:gridCol w="841888">
                  <a:extLst>
                    <a:ext uri="{9D8B030D-6E8A-4147-A177-3AD203B41FA5}">
                      <a16:colId xmlns:a16="http://schemas.microsoft.com/office/drawing/2014/main" val="20003"/>
                    </a:ext>
                  </a:extLst>
                </a:gridCol>
                <a:gridCol w="971408">
                  <a:extLst>
                    <a:ext uri="{9D8B030D-6E8A-4147-A177-3AD203B41FA5}">
                      <a16:colId xmlns:a16="http://schemas.microsoft.com/office/drawing/2014/main" val="20004"/>
                    </a:ext>
                  </a:extLst>
                </a:gridCol>
                <a:gridCol w="971408">
                  <a:extLst>
                    <a:ext uri="{9D8B030D-6E8A-4147-A177-3AD203B41FA5}">
                      <a16:colId xmlns:a16="http://schemas.microsoft.com/office/drawing/2014/main" val="20005"/>
                    </a:ext>
                  </a:extLst>
                </a:gridCol>
                <a:gridCol w="810195">
                  <a:extLst>
                    <a:ext uri="{9D8B030D-6E8A-4147-A177-3AD203B41FA5}">
                      <a16:colId xmlns:a16="http://schemas.microsoft.com/office/drawing/2014/main" val="20006"/>
                    </a:ext>
                  </a:extLst>
                </a:gridCol>
              </a:tblGrid>
              <a:tr h="1419713">
                <a:tc>
                  <a:txBody>
                    <a:bodyPr/>
                    <a:lstStyle/>
                    <a:p>
                      <a:pPr marL="0" marR="0" algn="ctr">
                        <a:lnSpc>
                          <a:spcPct val="115000"/>
                        </a:lnSpc>
                        <a:spcBef>
                          <a:spcPts val="0"/>
                        </a:spcBef>
                        <a:spcAft>
                          <a:spcPts val="0"/>
                        </a:spcAft>
                      </a:pPr>
                      <a:r>
                        <a:rPr lang="en-US" sz="2400">
                          <a:effectLst/>
                        </a:rPr>
                        <a:t>Sr. No</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Course  Outcome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PO1</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PO2</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PO3</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PO4</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PO5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74700">
                <a:tc>
                  <a:txBody>
                    <a:bodyPr/>
                    <a:lstStyle/>
                    <a:p>
                      <a:pPr marL="0" marR="0" algn="ctr">
                        <a:lnSpc>
                          <a:spcPct val="115000"/>
                        </a:lnSpc>
                        <a:spcBef>
                          <a:spcPts val="0"/>
                        </a:spcBef>
                        <a:spcAft>
                          <a:spcPts val="0"/>
                        </a:spcAft>
                      </a:pPr>
                      <a:r>
                        <a:rPr lang="en-US" sz="2400">
                          <a:effectLst/>
                        </a:rPr>
                        <a:t>1</a:t>
                      </a:r>
                      <a:endParaRPr lang="en-US" sz="2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a:effectLst/>
                        </a:rPr>
                        <a:t>CO 1</a:t>
                      </a:r>
                      <a:endParaRPr lang="en-US" sz="2400" b="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H </a:t>
                      </a:r>
                      <a:endParaRPr lang="en-US" sz="2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H</a:t>
                      </a:r>
                      <a:endParaRPr lang="en-US" sz="2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M </a:t>
                      </a:r>
                      <a:endParaRPr lang="en-US" sz="2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62321">
                <a:tc>
                  <a:txBody>
                    <a:bodyPr/>
                    <a:lstStyle/>
                    <a:p>
                      <a:pPr marL="0" marR="0" algn="ctr">
                        <a:lnSpc>
                          <a:spcPct val="115000"/>
                        </a:lnSpc>
                        <a:spcBef>
                          <a:spcPts val="0"/>
                        </a:spcBef>
                        <a:spcAft>
                          <a:spcPts val="0"/>
                        </a:spcAft>
                      </a:pPr>
                      <a:r>
                        <a:rPr lang="en-US" sz="2400">
                          <a:effectLst/>
                        </a:rPr>
                        <a:t>2</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2400">
                          <a:effectLst/>
                        </a:rPr>
                        <a:t>CO 2</a:t>
                      </a:r>
                      <a:endParaRPr lang="en-US"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M</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H</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562321">
                <a:tc>
                  <a:txBody>
                    <a:bodyPr/>
                    <a:lstStyle/>
                    <a:p>
                      <a:pPr marL="0" marR="0" algn="ctr">
                        <a:lnSpc>
                          <a:spcPct val="115000"/>
                        </a:lnSpc>
                        <a:spcBef>
                          <a:spcPts val="0"/>
                        </a:spcBef>
                        <a:spcAft>
                          <a:spcPts val="0"/>
                        </a:spcAft>
                      </a:pPr>
                      <a:r>
                        <a:rPr lang="en-US" sz="2400">
                          <a:effectLst/>
                        </a:rPr>
                        <a:t>3</a:t>
                      </a:r>
                      <a:endParaRPr lang="en-US" sz="2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11430" algn="ctr">
                        <a:lnSpc>
                          <a:spcPct val="150000"/>
                        </a:lnSpc>
                        <a:spcBef>
                          <a:spcPts val="0"/>
                        </a:spcBef>
                        <a:spcAft>
                          <a:spcPts val="0"/>
                        </a:spcAft>
                      </a:pPr>
                      <a:r>
                        <a:rPr lang="en-US" sz="2400">
                          <a:effectLst/>
                        </a:rPr>
                        <a:t>CO 3</a:t>
                      </a:r>
                      <a:endParaRPr lang="en-US" sz="24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H</a:t>
                      </a:r>
                      <a:endParaRPr lang="en-US" sz="2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M</a:t>
                      </a:r>
                      <a:endParaRPr lang="en-US" sz="2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M</a:t>
                      </a:r>
                      <a:endParaRPr lang="en-US" sz="2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564547">
                <a:tc>
                  <a:txBody>
                    <a:bodyPr/>
                    <a:lstStyle/>
                    <a:p>
                      <a:pPr marL="0" marR="0" algn="ctr">
                        <a:lnSpc>
                          <a:spcPct val="115000"/>
                        </a:lnSpc>
                        <a:spcBef>
                          <a:spcPts val="0"/>
                        </a:spcBef>
                        <a:spcAft>
                          <a:spcPts val="0"/>
                        </a:spcAft>
                      </a:pPr>
                      <a:r>
                        <a:rPr lang="en-US" sz="2400">
                          <a:effectLst/>
                        </a:rPr>
                        <a:t>4</a:t>
                      </a:r>
                      <a:endParaRPr lang="en-US" sz="2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2400">
                          <a:effectLst/>
                        </a:rPr>
                        <a:t>CO 4</a:t>
                      </a:r>
                      <a:endParaRPr lang="en-US" sz="2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H</a:t>
                      </a:r>
                      <a:endParaRPr lang="en-US" sz="2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H</a:t>
                      </a:r>
                      <a:endParaRPr lang="en-US" sz="2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64547">
                <a:tc>
                  <a:txBody>
                    <a:bodyPr/>
                    <a:lstStyle/>
                    <a:p>
                      <a:pPr marL="0" marR="0" algn="ctr">
                        <a:lnSpc>
                          <a:spcPct val="115000"/>
                        </a:lnSpc>
                        <a:spcBef>
                          <a:spcPts val="0"/>
                        </a:spcBef>
                        <a:spcAft>
                          <a:spcPts val="0"/>
                        </a:spcAft>
                      </a:pPr>
                      <a:r>
                        <a:rPr lang="en-US" sz="2400">
                          <a:effectLst/>
                        </a:rPr>
                        <a:t>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2400">
                          <a:effectLst/>
                        </a:rPr>
                        <a:t>CO 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H</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H</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M</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
        <p:nvSpPr>
          <p:cNvPr id="23" name="Rectangle 22">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solidFill>
                  <a:srgbClr val="CC3300"/>
                </a:solidFill>
                <a:latin typeface="Times New Roman" pitchFamily="18" charset="0"/>
                <a:cs typeface="Times New Roman" pitchFamily="18" charset="0"/>
              </a:rPr>
              <a:t>PSO MAPPING</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graphicFrame>
        <p:nvGraphicFramePr>
          <p:cNvPr id="22" name="Table 21"/>
          <p:cNvGraphicFramePr>
            <a:graphicFrameLocks noGrp="1"/>
          </p:cNvGraphicFramePr>
          <p:nvPr>
            <p:extLst>
              <p:ext uri="{D42A27DB-BD31-4B8C-83A1-F6EECF244321}">
                <p14:modId xmlns:p14="http://schemas.microsoft.com/office/powerpoint/2010/main" val="3715292797"/>
              </p:ext>
            </p:extLst>
          </p:nvPr>
        </p:nvGraphicFramePr>
        <p:xfrm>
          <a:off x="1969477" y="1786598"/>
          <a:ext cx="8679765" cy="3376244"/>
        </p:xfrm>
        <a:graphic>
          <a:graphicData uri="http://schemas.openxmlformats.org/drawingml/2006/table">
            <a:tbl>
              <a:tblPr firstRow="1" firstCol="1" bandRow="1">
                <a:tableStyleId>{00A15C55-8517-42AA-B614-E9B94910E393}</a:tableStyleId>
              </a:tblPr>
              <a:tblGrid>
                <a:gridCol w="3197808">
                  <a:extLst>
                    <a:ext uri="{9D8B030D-6E8A-4147-A177-3AD203B41FA5}">
                      <a16:colId xmlns:a16="http://schemas.microsoft.com/office/drawing/2014/main" val="20000"/>
                    </a:ext>
                  </a:extLst>
                </a:gridCol>
                <a:gridCol w="1390351">
                  <a:extLst>
                    <a:ext uri="{9D8B030D-6E8A-4147-A177-3AD203B41FA5}">
                      <a16:colId xmlns:a16="http://schemas.microsoft.com/office/drawing/2014/main" val="20001"/>
                    </a:ext>
                  </a:extLst>
                </a:gridCol>
                <a:gridCol w="1191731">
                  <a:extLst>
                    <a:ext uri="{9D8B030D-6E8A-4147-A177-3AD203B41FA5}">
                      <a16:colId xmlns:a16="http://schemas.microsoft.com/office/drawing/2014/main" val="20002"/>
                    </a:ext>
                  </a:extLst>
                </a:gridCol>
                <a:gridCol w="993107">
                  <a:extLst>
                    <a:ext uri="{9D8B030D-6E8A-4147-A177-3AD203B41FA5}">
                      <a16:colId xmlns:a16="http://schemas.microsoft.com/office/drawing/2014/main" val="20003"/>
                    </a:ext>
                  </a:extLst>
                </a:gridCol>
                <a:gridCol w="993107">
                  <a:extLst>
                    <a:ext uri="{9D8B030D-6E8A-4147-A177-3AD203B41FA5}">
                      <a16:colId xmlns:a16="http://schemas.microsoft.com/office/drawing/2014/main" val="20004"/>
                    </a:ext>
                  </a:extLst>
                </a:gridCol>
                <a:gridCol w="913661">
                  <a:extLst>
                    <a:ext uri="{9D8B030D-6E8A-4147-A177-3AD203B41FA5}">
                      <a16:colId xmlns:a16="http://schemas.microsoft.com/office/drawing/2014/main" val="20005"/>
                    </a:ext>
                  </a:extLst>
                </a:gridCol>
              </a:tblGrid>
              <a:tr h="966831">
                <a:tc rowSpan="2">
                  <a:txBody>
                    <a:bodyPr/>
                    <a:lstStyle/>
                    <a:p>
                      <a:pPr marL="0" marR="0" algn="ctr">
                        <a:lnSpc>
                          <a:spcPct val="115000"/>
                        </a:lnSpc>
                        <a:spcBef>
                          <a:spcPts val="0"/>
                        </a:spcBef>
                        <a:spcAft>
                          <a:spcPts val="0"/>
                        </a:spcAft>
                      </a:pPr>
                      <a:r>
                        <a:rPr lang="en-US" sz="1200">
                          <a:effectLst/>
                        </a:rPr>
                        <a:t>Program Specific Outcomes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gridSpan="5">
                  <a:txBody>
                    <a:bodyPr/>
                    <a:lstStyle/>
                    <a:p>
                      <a:pPr marL="0" marR="0" algn="ctr">
                        <a:lnSpc>
                          <a:spcPct val="115000"/>
                        </a:lnSpc>
                        <a:spcBef>
                          <a:spcPts val="0"/>
                        </a:spcBef>
                        <a:spcAft>
                          <a:spcPts val="1000"/>
                        </a:spcAft>
                      </a:pPr>
                      <a:r>
                        <a:rPr lang="en-US" sz="1200">
                          <a:effectLst/>
                        </a:rPr>
                        <a:t>Course Outcomes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44781">
                <a:tc vMerge="1">
                  <a:txBody>
                    <a:bodyPr/>
                    <a:lstStyle/>
                    <a:p>
                      <a:endParaRPr lang="en-US"/>
                    </a:p>
                  </a:txBody>
                  <a:tcPr/>
                </a:tc>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91158">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a:effectLst/>
                        </a:rPr>
                        <a:t>H</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491158">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491158">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a:effectLst/>
                        </a:rPr>
                        <a:t>M</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491158">
                <a:tc>
                  <a:txBody>
                    <a:bodyPr/>
                    <a:lstStyle/>
                    <a:p>
                      <a:pPr marL="0" marR="0" algn="ctr">
                        <a:lnSpc>
                          <a:spcPct val="115000"/>
                        </a:lnSpc>
                        <a:spcBef>
                          <a:spcPts val="0"/>
                        </a:spcBef>
                        <a:spcAft>
                          <a:spcPts val="0"/>
                        </a:spcAft>
                      </a:pPr>
                      <a:r>
                        <a:rPr lang="en-US" sz="11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
        <p:nvSpPr>
          <p:cNvPr id="24" name="Rectangle 2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US" sz="3600">
                <a:solidFill>
                  <a:schemeClr val="dk1"/>
                </a:solidFill>
              </a:rPr>
              <a:t>PROJECT - MEANING</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6" name="Rectangle 25"/>
          <p:cNvSpPr/>
          <p:nvPr/>
        </p:nvSpPr>
        <p:spPr>
          <a:xfrm>
            <a:off x="562708" y="1118108"/>
            <a:ext cx="11229491" cy="4856714"/>
          </a:xfrm>
          <a:prstGeom prst="rect">
            <a:avLst/>
          </a:prstGeom>
        </p:spPr>
        <p:txBody>
          <a:bodyPr wrap="square">
            <a:spAutoFit/>
          </a:bodyPr>
          <a:lstStyle/>
          <a:p>
            <a:pPr marL="342900" indent="-342900" algn="just">
              <a:lnSpc>
                <a:spcPct val="140000"/>
              </a:lnSpc>
              <a:buFont typeface="Arial"/>
              <a:buChar char="•"/>
            </a:pPr>
            <a:r>
              <a:rPr lang="en-US" sz="2400"/>
              <a:t>A project is a temporary endeavor with a defined objective by a team or individual to create a specific outcome. It has a beginning, middle, and end and involves planning, executing, and controlling resources (such as time, money, and people) to achieve the desired results. Projects can range from small, short-term efforts to large, complex, long-term initiatives. In a nutshell, </a:t>
            </a:r>
            <a:r>
              <a:rPr lang="en-US" sz="2400" i="1"/>
              <a:t>a project is a goal-oriented, organized effort</a:t>
            </a:r>
            <a:r>
              <a:rPr lang="en-US" sz="2400"/>
              <a:t>.</a:t>
            </a:r>
          </a:p>
          <a:p>
            <a:pPr>
              <a:lnSpc>
                <a:spcPct val="150000"/>
              </a:lnSpc>
            </a:pPr>
            <a:r>
              <a:rPr lang="en-US" sz="2400"/>
              <a:t>Project examples:</a:t>
            </a:r>
          </a:p>
          <a:p>
            <a:pPr>
              <a:lnSpc>
                <a:spcPct val="150000"/>
              </a:lnSpc>
              <a:buFont typeface="Arial" pitchFamily="34" charset="0"/>
              <a:buChar char="•"/>
            </a:pPr>
            <a:r>
              <a:rPr lang="en-US" sz="2400"/>
              <a:t>construction of a new building</a:t>
            </a:r>
          </a:p>
          <a:p>
            <a:pPr>
              <a:lnSpc>
                <a:spcPct val="150000"/>
              </a:lnSpc>
              <a:buFont typeface="Arial" pitchFamily="34" charset="0"/>
              <a:buChar char="•"/>
            </a:pPr>
            <a:r>
              <a:rPr lang="en-US" sz="2400"/>
              <a:t>launching a new website</a:t>
            </a:r>
          </a:p>
          <a:p>
            <a:pPr marL="342900" indent="-342900" algn="just">
              <a:lnSpc>
                <a:spcPct val="140000"/>
              </a:lnSpc>
            </a:pPr>
            <a:endParaRPr lang="en-US" sz="2400" b="1">
              <a:latin typeface="Times New Roman" pitchFamily="18" charset="0"/>
              <a:cs typeface="Times New Roman" pitchFamily="18" charset="0"/>
            </a:endParaRPr>
          </a:p>
        </p:txBody>
      </p:sp>
      <p:sp>
        <p:nvSpPr>
          <p:cNvPr id="23" name="Rectangle 22">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65759"/>
            <a:ext cx="9191502" cy="618320"/>
          </a:xfrm>
        </p:spPr>
        <p:txBody>
          <a:bodyPr>
            <a:normAutofit/>
          </a:bodyPr>
          <a:lstStyle/>
          <a:p>
            <a:pPr algn="ctr">
              <a:defRPr/>
            </a:pPr>
            <a:r>
              <a:rPr lang="en-US" sz="2700" b="1">
                <a:effectLst>
                  <a:outerShdw blurRad="38100" dist="38100" dir="2700000" algn="tl">
                    <a:srgbClr val="000000">
                      <a:alpha val="43137"/>
                    </a:srgbClr>
                  </a:outerShdw>
                </a:effectLst>
              </a:rPr>
              <a:t>PROJECT FINANCING </a:t>
            </a:r>
            <a:endParaRPr lang="en-US" sz="3600">
              <a:solidFill>
                <a:schemeClr val="dk1"/>
              </a:solidFill>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337626" y="1063586"/>
            <a:ext cx="11535506" cy="1384995"/>
          </a:xfrm>
          <a:prstGeom prst="rect">
            <a:avLst/>
          </a:prstGeom>
        </p:spPr>
        <p:txBody>
          <a:bodyPr wrap="square">
            <a:spAutoFit/>
          </a:bodyPr>
          <a:lstStyle/>
          <a:p>
            <a:pPr marL="285750" indent="-285750" algn="just">
              <a:buFont typeface="Arial"/>
              <a:buChar char="•"/>
            </a:pPr>
            <a:r>
              <a:rPr lang="en-US" sz="2800" b="1"/>
              <a:t>Project financing</a:t>
            </a:r>
            <a:r>
              <a:rPr lang="en-US" sz="2800"/>
              <a:t> is a financial structure where long-term funding is provided for large-scale projects or infrastructure developments, with repayment primarily relying on the cash flows generated by the project. </a:t>
            </a:r>
            <a:endParaRPr lang="en-US" sz="2800">
              <a:latin typeface="Times New Roman" pitchFamily="18" charset="0"/>
              <a:cs typeface="Times New Roman" pitchFamily="18" charset="0"/>
            </a:endParaRPr>
          </a:p>
        </p:txBody>
      </p:sp>
      <p:sp>
        <p:nvSpPr>
          <p:cNvPr id="23" name="Rectangle 22">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Autofit/>
          </a:bodyPr>
          <a:lstStyle/>
          <a:p>
            <a:pPr lvl="0" algn="ctr">
              <a:defRPr/>
            </a:pPr>
            <a:r>
              <a:rPr lang="en-IN"/>
              <a:t>Project cost estimation</a:t>
            </a:r>
            <a:endParaRPr lang="en-US" b="1">
              <a:solidFill>
                <a:schemeClr val="dk1"/>
              </a:solidFill>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323557" y="1039913"/>
            <a:ext cx="11599269" cy="5392245"/>
          </a:xfrm>
          <a:prstGeom prst="rect">
            <a:avLst/>
          </a:prstGeom>
        </p:spPr>
        <p:txBody>
          <a:bodyPr wrap="square">
            <a:spAutoFit/>
          </a:bodyPr>
          <a:lstStyle/>
          <a:p>
            <a:r>
              <a:rPr lang="en-IN" sz="2200"/>
              <a:t>Project cost estimation is the process of predicting the financial resources required to complete a project within its defined scope, timeline, and quality standards. It is critical for effective project planning and control.</a:t>
            </a:r>
          </a:p>
          <a:p>
            <a:endParaRPr lang="en-IN" sz="2200"/>
          </a:p>
          <a:p>
            <a:r>
              <a:rPr lang="en-IN" sz="2200" b="1"/>
              <a:t>Key Components of Project Cost Estimation</a:t>
            </a:r>
            <a:endParaRPr lang="en-IN" sz="2200"/>
          </a:p>
          <a:p>
            <a:pPr lvl="0"/>
            <a:r>
              <a:rPr lang="en-IN" sz="2200" b="1"/>
              <a:t>Capital Costs (Fixed Costs):</a:t>
            </a:r>
            <a:endParaRPr lang="en-IN" sz="2200"/>
          </a:p>
          <a:p>
            <a:pPr lvl="1"/>
            <a:r>
              <a:rPr lang="en-IN" sz="2200" b="1"/>
              <a:t>Land and Site Development:</a:t>
            </a:r>
            <a:r>
              <a:rPr lang="en-IN" sz="2200"/>
              <a:t> Cost of purchasing or leasing land and preparing the site for construction or operations.</a:t>
            </a:r>
          </a:p>
          <a:p>
            <a:pPr lvl="1"/>
            <a:r>
              <a:rPr lang="en-IN" sz="2200" b="1"/>
              <a:t>Building and Infrastructure:</a:t>
            </a:r>
            <a:r>
              <a:rPr lang="en-IN" sz="2200"/>
              <a:t> Cost of construction or renovation of buildings and related infrastructure.</a:t>
            </a:r>
          </a:p>
          <a:p>
            <a:pPr lvl="1"/>
            <a:r>
              <a:rPr lang="en-IN" sz="2200" b="1"/>
              <a:t>Plant and Machinery:</a:t>
            </a:r>
            <a:r>
              <a:rPr lang="en-IN" sz="2200"/>
              <a:t> Costs of acquiring, transporting, and installing equipment.</a:t>
            </a:r>
          </a:p>
          <a:p>
            <a:pPr lvl="1"/>
            <a:r>
              <a:rPr lang="en-IN" sz="2200" b="1"/>
              <a:t>Preliminary Expenses:</a:t>
            </a:r>
            <a:r>
              <a:rPr lang="en-IN" sz="2200"/>
              <a:t> Expenses incurred before the project starts, such as legal fees, consultancy fees, and project reports.</a:t>
            </a:r>
          </a:p>
          <a:p>
            <a:pPr lvl="1"/>
            <a:r>
              <a:rPr lang="en-IN" sz="2200" b="1"/>
              <a:t>Contingencies:</a:t>
            </a:r>
            <a:r>
              <a:rPr lang="en-IN" sz="2200"/>
              <a:t> Buffer amount to cover unexpected expenses during the project.</a:t>
            </a:r>
          </a:p>
          <a:p>
            <a:pPr algn="just">
              <a:lnSpc>
                <a:spcPct val="130000"/>
              </a:lnSpc>
            </a:pPr>
            <a:endParaRPr lang="en-IN" sz="2800">
              <a:latin typeface="Times New Roman" pitchFamily="18" charset="0"/>
              <a:cs typeface="Times New Roman" pitchFamily="18" charset="0"/>
            </a:endParaRPr>
          </a:p>
        </p:txBody>
      </p:sp>
      <p:sp>
        <p:nvSpPr>
          <p:cNvPr id="25" name="Rectangle 24">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769434" cy="838200"/>
          </a:xfrm>
        </p:spPr>
        <p:txBody>
          <a:bodyPr>
            <a:normAutofit/>
          </a:bodyPr>
          <a:lstStyle/>
          <a:p>
            <a:pPr lvl="0" algn="ctr">
              <a:defRPr/>
            </a:pPr>
            <a:endParaRPr lang="en-US" sz="2800" b="1">
              <a:solidFill>
                <a:schemeClr val="dk1"/>
              </a:solidFill>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463138" y="1264321"/>
            <a:ext cx="11329061" cy="3754874"/>
          </a:xfrm>
          <a:prstGeom prst="rect">
            <a:avLst/>
          </a:prstGeom>
        </p:spPr>
        <p:txBody>
          <a:bodyPr wrap="square">
            <a:spAutoFit/>
          </a:bodyPr>
          <a:lstStyle/>
          <a:p>
            <a:endParaRPr lang="en-IN"/>
          </a:p>
          <a:p>
            <a:pPr lvl="1"/>
            <a:r>
              <a:rPr lang="en-IN" sz="2200" b="1"/>
              <a:t>Contingencies:</a:t>
            </a:r>
            <a:r>
              <a:rPr lang="en-IN" sz="2200"/>
              <a:t> Buffer amount to cover unexpected expenses during the project.</a:t>
            </a:r>
          </a:p>
          <a:p>
            <a:pPr lvl="1"/>
            <a:endParaRPr lang="en-IN" sz="2200"/>
          </a:p>
          <a:p>
            <a:pPr lvl="0"/>
            <a:r>
              <a:rPr lang="en-IN" sz="2200" b="1"/>
              <a:t>2. Operating Costs (Variable Costs):</a:t>
            </a:r>
            <a:endParaRPr lang="en-IN" sz="2200"/>
          </a:p>
          <a:p>
            <a:pPr lvl="1"/>
            <a:r>
              <a:rPr lang="en-IN" sz="2200"/>
              <a:t>Costs related to day-to-day operations, such as wages, raw materials, utilities, and maintenance.</a:t>
            </a:r>
          </a:p>
          <a:p>
            <a:pPr lvl="1"/>
            <a:r>
              <a:rPr lang="en-IN" sz="2200"/>
              <a:t>Include direct, indirect, and overhead costs associated with running the project.</a:t>
            </a:r>
          </a:p>
          <a:p>
            <a:pPr lvl="0"/>
            <a:r>
              <a:rPr lang="en-IN" sz="2200" b="1"/>
              <a:t>3. Financing Costs:</a:t>
            </a:r>
            <a:endParaRPr lang="en-IN" sz="2200"/>
          </a:p>
          <a:p>
            <a:pPr lvl="1"/>
            <a:r>
              <a:rPr lang="en-IN" sz="2200"/>
              <a:t>Interest on loans and other costs related to securing project financing.</a:t>
            </a:r>
          </a:p>
          <a:p>
            <a:pPr lvl="0"/>
            <a:r>
              <a:rPr lang="en-IN" sz="2200" b="1"/>
              <a:t>4. Working Capital:</a:t>
            </a:r>
            <a:endParaRPr lang="en-IN" sz="2200"/>
          </a:p>
          <a:p>
            <a:pPr lvl="1"/>
            <a:r>
              <a:rPr lang="en-IN" sz="2200"/>
              <a:t>Funds needed for operational expenses and short-term liabilities once the project begins.</a:t>
            </a:r>
          </a:p>
        </p:txBody>
      </p:sp>
      <p:sp>
        <p:nvSpPr>
          <p:cNvPr id="25" name="Rectangle 24">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Methods of Cost Estimation</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225083" y="998806"/>
            <a:ext cx="11966917" cy="4247317"/>
          </a:xfrm>
          <a:prstGeom prst="rect">
            <a:avLst/>
          </a:prstGeom>
        </p:spPr>
        <p:txBody>
          <a:bodyPr wrap="square">
            <a:spAutoFit/>
          </a:bodyPr>
          <a:lstStyle/>
          <a:p>
            <a:pPr marL="457200" lvl="0" indent="-457200">
              <a:buFont typeface="+mj-lt"/>
              <a:buAutoNum type="arabicPeriod"/>
            </a:pPr>
            <a:r>
              <a:rPr lang="en-IN" sz="2100" b="1"/>
              <a:t>Analogous Estimation:</a:t>
            </a:r>
            <a:endParaRPr lang="en-IN" sz="2100"/>
          </a:p>
          <a:p>
            <a:pPr lvl="1"/>
            <a:r>
              <a:rPr lang="en-IN" sz="2100"/>
              <a:t>Based on costs of similar past projects.</a:t>
            </a:r>
          </a:p>
          <a:p>
            <a:pPr lvl="1"/>
            <a:r>
              <a:rPr lang="en-IN" sz="2100"/>
              <a:t>Quick but less accurate if project differences are significant.</a:t>
            </a:r>
          </a:p>
          <a:p>
            <a:pPr lvl="1"/>
            <a:endParaRPr lang="en-IN" sz="2100"/>
          </a:p>
          <a:p>
            <a:pPr marL="457200" lvl="0" indent="-457200">
              <a:buFont typeface="+mj-lt"/>
              <a:buAutoNum type="arabicPeriod"/>
            </a:pPr>
            <a:r>
              <a:rPr lang="en-IN" sz="2100" b="1"/>
              <a:t>Parametric Estimation:</a:t>
            </a:r>
            <a:endParaRPr lang="en-IN" sz="2100"/>
          </a:p>
          <a:p>
            <a:pPr lvl="1"/>
            <a:r>
              <a:rPr lang="en-IN" sz="2100"/>
              <a:t>Uses statistical models based on project parameters (e.g., cost per square meter).</a:t>
            </a:r>
          </a:p>
          <a:p>
            <a:pPr lvl="1"/>
            <a:r>
              <a:rPr lang="en-IN" sz="2100"/>
              <a:t>More accurate for projects with standardized parameters.</a:t>
            </a:r>
          </a:p>
          <a:p>
            <a:pPr lvl="1"/>
            <a:endParaRPr lang="en-IN" sz="2100"/>
          </a:p>
          <a:p>
            <a:pPr marL="457200" lvl="0" indent="-457200">
              <a:buFont typeface="+mj-lt"/>
              <a:buAutoNum type="arabicPeriod"/>
            </a:pPr>
            <a:r>
              <a:rPr lang="en-IN" sz="2100" b="1"/>
              <a:t>Bottom-Up Estimation:</a:t>
            </a:r>
            <a:endParaRPr lang="en-IN" sz="2100"/>
          </a:p>
          <a:p>
            <a:pPr lvl="1"/>
            <a:r>
              <a:rPr lang="en-IN" sz="2100"/>
              <a:t>Detailed estimation by breaking down project tasks into smaller components and summing individual costs.</a:t>
            </a:r>
          </a:p>
          <a:p>
            <a:pPr lvl="1"/>
            <a:r>
              <a:rPr lang="en-IN" sz="2100"/>
              <a:t>Highly accurate but time-intensive.</a:t>
            </a:r>
          </a:p>
          <a:p>
            <a:pPr lvl="1"/>
            <a:endParaRPr lang="en-IN"/>
          </a:p>
        </p:txBody>
      </p:sp>
      <p:sp>
        <p:nvSpPr>
          <p:cNvPr id="25" name="Rectangle 24">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US" sz="3600" b="1">
                <a:solidFill>
                  <a:schemeClr val="dk1"/>
                </a:solidFill>
                <a:effectLst>
                  <a:outerShdw blurRad="38100" dist="38100" dir="2700000" algn="tl">
                    <a:srgbClr val="000000">
                      <a:alpha val="43137"/>
                    </a:srgbClr>
                  </a:outerShdw>
                </a:effectLst>
              </a:rPr>
              <a:t>Continue…</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3" name="Rectangle 2"/>
          <p:cNvSpPr/>
          <p:nvPr/>
        </p:nvSpPr>
        <p:spPr>
          <a:xfrm>
            <a:off x="415638" y="1167577"/>
            <a:ext cx="11198430" cy="3864519"/>
          </a:xfrm>
          <a:prstGeom prst="rect">
            <a:avLst/>
          </a:prstGeom>
        </p:spPr>
        <p:txBody>
          <a:bodyPr wrap="square">
            <a:spAutoFit/>
          </a:bodyPr>
          <a:lstStyle/>
          <a:p>
            <a:pPr lvl="0"/>
            <a:r>
              <a:rPr lang="en-IN" sz="2100" b="1"/>
              <a:t>4.    </a:t>
            </a:r>
            <a:r>
              <a:rPr lang="en-IN" sz="2200" b="1"/>
              <a:t>Three-Point Estimation:</a:t>
            </a:r>
            <a:endParaRPr lang="en-IN" sz="2200"/>
          </a:p>
          <a:p>
            <a:pPr lvl="1"/>
            <a:r>
              <a:rPr lang="en-IN" sz="2200"/>
              <a:t>Incorporates three scenarios: optimistic, pessimistic, and most likely.</a:t>
            </a:r>
          </a:p>
          <a:p>
            <a:pPr lvl="1"/>
            <a:r>
              <a:rPr lang="en-IN" sz="2200"/>
              <a:t>Formula:</a:t>
            </a:r>
          </a:p>
          <a:p>
            <a:pPr lvl="1"/>
            <a:r>
              <a:rPr lang="en-IN" sz="2200"/>
              <a:t> Expected Cost=(O+4M+P)/6​ </a:t>
            </a:r>
          </a:p>
          <a:p>
            <a:pPr lvl="1"/>
            <a:r>
              <a:rPr lang="en-IN" sz="2200"/>
              <a:t>where O = Optimistic, M = Most Likely, , P = Pessimistic.</a:t>
            </a:r>
          </a:p>
          <a:p>
            <a:pPr lvl="1"/>
            <a:endParaRPr lang="en-IN" sz="2200" b="1">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en-IN" sz="2200" b="1">
                <a:ea typeface="Calibri" panose="020F0502020204030204" pitchFamily="34" charset="0"/>
                <a:cs typeface="Times New Roman" panose="02020603050405020304" pitchFamily="18" charset="0"/>
              </a:rPr>
              <a:t>5.   Expert Judgment:</a:t>
            </a:r>
            <a:endParaRPr lang="en-IN" sz="220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200">
                <a:ea typeface="Calibri" panose="020F0502020204030204" pitchFamily="34" charset="0"/>
                <a:cs typeface="Times New Roman" panose="02020603050405020304" pitchFamily="18" charset="0"/>
              </a:rPr>
              <a:t>Input from industry experts to estimate costs.</a:t>
            </a:r>
          </a:p>
          <a:p>
            <a:pPr lvl="0">
              <a:lnSpc>
                <a:spcPct val="107000"/>
              </a:lnSpc>
              <a:spcAft>
                <a:spcPts val="800"/>
              </a:spcAft>
              <a:tabLst>
                <a:tab pos="457200" algn="l"/>
              </a:tabLst>
            </a:pPr>
            <a:r>
              <a:rPr lang="en-IN" sz="2200" b="1">
                <a:ea typeface="Calibri" panose="020F0502020204030204" pitchFamily="34" charset="0"/>
                <a:cs typeface="Times New Roman" panose="02020603050405020304" pitchFamily="18" charset="0"/>
              </a:rPr>
              <a:t>6.   Simulation Models:</a:t>
            </a:r>
            <a:endParaRPr lang="en-IN" sz="220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200">
                <a:ea typeface="Calibri" panose="020F0502020204030204" pitchFamily="34" charset="0"/>
                <a:cs typeface="Times New Roman" panose="02020603050405020304" pitchFamily="18" charset="0"/>
              </a:rPr>
              <a:t>Techniques like Monte Carlo Simulation for probability-based estimates.</a:t>
            </a:r>
            <a:endParaRPr lang="en-IN" sz="220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8155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fontScale="90000"/>
          </a:bodyPr>
          <a:lstStyle/>
          <a:p>
            <a:pPr algn="ctr">
              <a:defRPr/>
            </a:pPr>
            <a:br>
              <a:rPr lang="en-IN" sz="3600" b="1"/>
            </a:br>
            <a:r>
              <a:rPr lang="en-IN" sz="3600" b="1"/>
              <a:t>Steps in Cost Estimation</a:t>
            </a:r>
            <a:br>
              <a:rPr lang="en-IN" sz="3600"/>
            </a:br>
            <a:endParaRPr lang="en-US" sz="3600" b="1">
              <a:solidFill>
                <a:schemeClr val="dk1"/>
              </a:solidFill>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1" y="965555"/>
            <a:ext cx="12192000" cy="4420890"/>
          </a:xfrm>
          <a:prstGeom prst="rect">
            <a:avLst/>
          </a:prstGeom>
        </p:spPr>
        <p:txBody>
          <a:bodyPr wrap="square">
            <a:spAutoFit/>
          </a:bodyPr>
          <a:lstStyle/>
          <a:p>
            <a:pPr marL="514350" lvl="0" indent="-514350">
              <a:lnSpc>
                <a:spcPct val="200000"/>
              </a:lnSpc>
              <a:buFont typeface="+mj-lt"/>
              <a:buAutoNum type="arabicPeriod"/>
            </a:pPr>
            <a:r>
              <a:rPr lang="en-IN" sz="2400"/>
              <a:t>Define the scope of the project.</a:t>
            </a:r>
          </a:p>
          <a:p>
            <a:pPr marL="514350" lvl="0" indent="-514350">
              <a:lnSpc>
                <a:spcPct val="200000"/>
              </a:lnSpc>
              <a:buFont typeface="+mj-lt"/>
              <a:buAutoNum type="arabicPeriod"/>
            </a:pPr>
            <a:r>
              <a:rPr lang="en-IN" sz="2400"/>
              <a:t>Identify all cost categories and elements.</a:t>
            </a:r>
          </a:p>
          <a:p>
            <a:pPr marL="514350" lvl="0" indent="-514350">
              <a:lnSpc>
                <a:spcPct val="200000"/>
              </a:lnSpc>
              <a:buFont typeface="+mj-lt"/>
              <a:buAutoNum type="arabicPeriod"/>
            </a:pPr>
            <a:r>
              <a:rPr lang="en-IN" sz="2400"/>
              <a:t>Choose an appropriate estimation method.</a:t>
            </a:r>
          </a:p>
          <a:p>
            <a:pPr marL="514350" lvl="0" indent="-514350">
              <a:lnSpc>
                <a:spcPct val="200000"/>
              </a:lnSpc>
              <a:buFont typeface="+mj-lt"/>
              <a:buAutoNum type="arabicPeriod"/>
            </a:pPr>
            <a:r>
              <a:rPr lang="en-IN" sz="2400"/>
              <a:t>Collect and </a:t>
            </a:r>
            <a:r>
              <a:rPr lang="en-IN" sz="2400" err="1"/>
              <a:t>analyze</a:t>
            </a:r>
            <a:r>
              <a:rPr lang="en-IN" sz="2400"/>
              <a:t> data for costs.</a:t>
            </a:r>
          </a:p>
          <a:p>
            <a:pPr marL="514350" lvl="0" indent="-514350">
              <a:lnSpc>
                <a:spcPct val="200000"/>
              </a:lnSpc>
              <a:buFont typeface="+mj-lt"/>
              <a:buAutoNum type="arabicPeriod"/>
            </a:pPr>
            <a:r>
              <a:rPr lang="en-IN" sz="2400"/>
              <a:t>Account for inflation and contingencies.</a:t>
            </a:r>
          </a:p>
          <a:p>
            <a:pPr marL="514350" lvl="0" indent="-514350">
              <a:lnSpc>
                <a:spcPct val="200000"/>
              </a:lnSpc>
              <a:buFont typeface="+mj-lt"/>
              <a:buAutoNum type="arabicPeriod"/>
            </a:pPr>
            <a:r>
              <a:rPr lang="en-IN" sz="2400"/>
              <a:t>Review and validate estimates with stakeholders.</a:t>
            </a:r>
          </a:p>
        </p:txBody>
      </p:sp>
      <p:sp>
        <p:nvSpPr>
          <p:cNvPr id="26" name="Rectangle 25">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IN" sz="3600" b="1"/>
              <a:t>Working Capital Requirements</a:t>
            </a:r>
            <a:endParaRPr lang="en-US" sz="3600" b="1">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463138" y="1246909"/>
            <a:ext cx="11198431" cy="5416868"/>
          </a:xfrm>
          <a:prstGeom prst="rect">
            <a:avLst/>
          </a:prstGeom>
        </p:spPr>
        <p:txBody>
          <a:bodyPr wrap="square">
            <a:spAutoFit/>
          </a:bodyPr>
          <a:lstStyle/>
          <a:p>
            <a:r>
              <a:rPr lang="en-IN"/>
              <a:t>Working capital is the capital needed to finance the day-to-day operations of a business or project. It ensures smooth functioning by covering short-term liabilities and operational expenses.</a:t>
            </a:r>
          </a:p>
          <a:p>
            <a:endParaRPr lang="en-IN"/>
          </a:p>
          <a:p>
            <a:r>
              <a:rPr lang="en-IN" b="1"/>
              <a:t>Components of Working Capital</a:t>
            </a:r>
          </a:p>
          <a:p>
            <a:endParaRPr lang="en-IN"/>
          </a:p>
          <a:p>
            <a:pPr lvl="0"/>
            <a:r>
              <a:rPr lang="en-IN" b="1"/>
              <a:t>Current Assets:</a:t>
            </a:r>
            <a:endParaRPr lang="en-IN"/>
          </a:p>
          <a:p>
            <a:pPr lvl="1"/>
            <a:r>
              <a:rPr lang="en-IN"/>
              <a:t>Cash and bank balances.</a:t>
            </a:r>
          </a:p>
          <a:p>
            <a:pPr lvl="1"/>
            <a:r>
              <a:rPr lang="en-IN"/>
              <a:t>Accounts receivable (debtors).</a:t>
            </a:r>
          </a:p>
          <a:p>
            <a:pPr lvl="1"/>
            <a:r>
              <a:rPr lang="en-IN"/>
              <a:t>Inventory (raw materials, work-in-progress, finished goods).</a:t>
            </a:r>
          </a:p>
          <a:p>
            <a:r>
              <a:rPr lang="en-IN"/>
              <a:t>         Short-term investments.</a:t>
            </a:r>
          </a:p>
          <a:p>
            <a:endParaRPr lang="en-IN"/>
          </a:p>
          <a:p>
            <a:pPr lvl="0"/>
            <a:r>
              <a:rPr lang="en-IN" b="1"/>
              <a:t>Current Liabilities:</a:t>
            </a:r>
            <a:endParaRPr lang="en-IN"/>
          </a:p>
          <a:p>
            <a:pPr lvl="1"/>
            <a:r>
              <a:rPr lang="en-IN"/>
              <a:t>Accounts payable (creditors).</a:t>
            </a:r>
          </a:p>
          <a:p>
            <a:pPr lvl="1"/>
            <a:r>
              <a:rPr lang="en-IN"/>
              <a:t>Short-term loans.</a:t>
            </a:r>
          </a:p>
          <a:p>
            <a:pPr lvl="1"/>
            <a:r>
              <a:rPr lang="en-IN"/>
              <a:t>Other operational liabilities like wages, taxes, and utilities.</a:t>
            </a:r>
          </a:p>
          <a:p>
            <a:endParaRPr lang="en-US" sz="4400">
              <a:latin typeface="Times New Roman" pitchFamily="18" charset="0"/>
              <a:cs typeface="Times New Roman" pitchFamily="18" charset="0"/>
            </a:endParaRPr>
          </a:p>
          <a:p>
            <a:pPr algn="just"/>
            <a:endParaRPr lang="en-US" sz="3200"/>
          </a:p>
        </p:txBody>
      </p:sp>
      <p:sp>
        <p:nvSpPr>
          <p:cNvPr id="26" name="Rectangle 25">
            <a:extLst>
              <a:ext uri="{FF2B5EF4-FFF2-40B4-BE49-F238E27FC236}">
                <a16:creationId xmlns:a16="http://schemas.microsoft.com/office/drawing/2014/main" id="{731A936F-F269-359D-A45A-2FFA91880636}"/>
              </a:ext>
            </a:extLst>
          </p:cNvPr>
          <p:cNvSpPr/>
          <p:nvPr/>
        </p:nvSpPr>
        <p:spPr>
          <a:xfrm>
            <a:off x="31667" y="6390879"/>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Types of Working Capital</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606645" y="2290907"/>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34" name="Rectangle 33"/>
          <p:cNvSpPr/>
          <p:nvPr/>
        </p:nvSpPr>
        <p:spPr>
          <a:xfrm>
            <a:off x="323557" y="1097281"/>
            <a:ext cx="11633981" cy="5262979"/>
          </a:xfrm>
          <a:prstGeom prst="rect">
            <a:avLst/>
          </a:prstGeom>
        </p:spPr>
        <p:txBody>
          <a:bodyPr wrap="square">
            <a:spAutoFit/>
          </a:bodyPr>
          <a:lstStyle/>
          <a:p>
            <a:pPr marL="342900" lvl="0" indent="-342900">
              <a:buFont typeface="+mj-lt"/>
              <a:buAutoNum type="arabicPeriod"/>
            </a:pPr>
            <a:r>
              <a:rPr lang="en-IN" sz="2400" b="1"/>
              <a:t>Gross Working Capital:</a:t>
            </a:r>
          </a:p>
          <a:p>
            <a:pPr lvl="1"/>
            <a:r>
              <a:rPr lang="en-IN" sz="2400"/>
              <a:t>Total current assets.</a:t>
            </a:r>
          </a:p>
          <a:p>
            <a:pPr lvl="1"/>
            <a:endParaRPr lang="en-IN" sz="2400"/>
          </a:p>
          <a:p>
            <a:pPr marL="342900" lvl="0" indent="-342900">
              <a:buAutoNum type="arabicPeriod" startAt="2"/>
            </a:pPr>
            <a:r>
              <a:rPr lang="en-IN" sz="2400" b="1"/>
              <a:t>Net Working Capital:</a:t>
            </a:r>
            <a:endParaRPr lang="en-IN" sz="2400"/>
          </a:p>
          <a:p>
            <a:pPr lvl="1"/>
            <a:r>
              <a:rPr lang="en-IN" sz="2400"/>
              <a:t>Difference between current assets and current liabilities.</a:t>
            </a:r>
          </a:p>
          <a:p>
            <a:pPr lvl="1"/>
            <a:r>
              <a:rPr lang="en-IN" sz="2400"/>
              <a:t>Formula: </a:t>
            </a:r>
          </a:p>
          <a:p>
            <a:pPr lvl="1"/>
            <a:r>
              <a:rPr lang="en-IN" sz="2400"/>
              <a:t>NWC=Current Assets−Current Liabilities</a:t>
            </a:r>
          </a:p>
          <a:p>
            <a:pPr lvl="1"/>
            <a:endParaRPr lang="en-IN" sz="2400"/>
          </a:p>
          <a:p>
            <a:pPr lvl="0"/>
            <a:r>
              <a:rPr lang="en-IN" sz="2400" b="1"/>
              <a:t>3.    Permanent Working Capital:</a:t>
            </a:r>
            <a:endParaRPr lang="en-IN" sz="2400"/>
          </a:p>
          <a:p>
            <a:pPr lvl="1"/>
            <a:r>
              <a:rPr lang="en-IN" sz="2400"/>
              <a:t>Minimum level of working capital required to operate the business.</a:t>
            </a:r>
          </a:p>
          <a:p>
            <a:pPr lvl="1"/>
            <a:endParaRPr lang="en-IN" sz="2400"/>
          </a:p>
          <a:p>
            <a:pPr lvl="0"/>
            <a:r>
              <a:rPr lang="en-IN" sz="2400" b="1"/>
              <a:t>4.    Temporary Working Capital:</a:t>
            </a:r>
            <a:endParaRPr lang="en-IN" sz="2400"/>
          </a:p>
          <a:p>
            <a:pPr lvl="1"/>
            <a:r>
              <a:rPr lang="en-IN" sz="2400"/>
              <a:t>Additional working capital required during peak periods.</a:t>
            </a:r>
          </a:p>
          <a:p>
            <a:pPr algn="just"/>
            <a:endParaRPr lang="en-US" sz="2400"/>
          </a:p>
        </p:txBody>
      </p:sp>
    </p:spTree>
    <p:extLst>
      <p:ext uri="{BB962C8B-B14F-4D97-AF65-F5344CB8AC3E}">
        <p14:creationId xmlns:p14="http://schemas.microsoft.com/office/powerpoint/2010/main" val="15981553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Autofit/>
          </a:bodyPr>
          <a:lstStyle/>
          <a:p>
            <a:r>
              <a:rPr lang="en-IN" sz="3200" b="1"/>
              <a:t>Factors Affecting Working Capital Requirements</a:t>
            </a:r>
            <a:endParaRPr lang="en-IN" sz="32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0" y="1158419"/>
            <a:ext cx="12192000" cy="4909036"/>
          </a:xfrm>
          <a:prstGeom prst="rect">
            <a:avLst/>
          </a:prstGeom>
        </p:spPr>
        <p:txBody>
          <a:bodyPr wrap="square">
            <a:spAutoFit/>
          </a:bodyPr>
          <a:lstStyle/>
          <a:p>
            <a:pPr marL="342900" lvl="0" indent="-342900">
              <a:buFont typeface="+mj-lt"/>
              <a:buAutoNum type="arabicPeriod"/>
            </a:pPr>
            <a:r>
              <a:rPr lang="en-IN" sz="2400" b="1"/>
              <a:t>Nature of Business:</a:t>
            </a:r>
            <a:endParaRPr lang="en-IN" sz="2400"/>
          </a:p>
          <a:p>
            <a:pPr lvl="1"/>
            <a:r>
              <a:rPr lang="en-IN" sz="2400"/>
              <a:t>Manufacturing businesses require higher working capital compared to service businesses.</a:t>
            </a:r>
          </a:p>
          <a:p>
            <a:pPr marL="342900" lvl="0" indent="-342900">
              <a:buFont typeface="+mj-lt"/>
              <a:buAutoNum type="arabicPeriod"/>
            </a:pPr>
            <a:r>
              <a:rPr lang="en-IN" sz="2400" b="1"/>
              <a:t>Business Cycle:</a:t>
            </a:r>
            <a:endParaRPr lang="en-IN" sz="2400"/>
          </a:p>
          <a:p>
            <a:pPr lvl="1"/>
            <a:r>
              <a:rPr lang="en-IN" sz="2400"/>
              <a:t>Businesses need more working capital during growth phases.</a:t>
            </a:r>
          </a:p>
          <a:p>
            <a:pPr marL="342900" lvl="0" indent="-342900">
              <a:buFont typeface="+mj-lt"/>
              <a:buAutoNum type="arabicPeriod"/>
            </a:pPr>
            <a:r>
              <a:rPr lang="en-IN" sz="2400" b="1"/>
              <a:t>Production Cycle:</a:t>
            </a:r>
            <a:endParaRPr lang="en-IN" sz="2400"/>
          </a:p>
          <a:p>
            <a:pPr lvl="1"/>
            <a:r>
              <a:rPr lang="en-IN" sz="2400"/>
              <a:t>Longer production cycles require more working capital.</a:t>
            </a:r>
          </a:p>
          <a:p>
            <a:pPr marL="342900" lvl="0" indent="-342900">
              <a:buFont typeface="+mj-lt"/>
              <a:buAutoNum type="arabicPeriod"/>
            </a:pPr>
            <a:r>
              <a:rPr lang="en-IN" sz="2400" b="1"/>
              <a:t>Credit Policy:</a:t>
            </a:r>
            <a:endParaRPr lang="en-IN" sz="2400"/>
          </a:p>
          <a:p>
            <a:pPr lvl="1"/>
            <a:r>
              <a:rPr lang="en-IN" sz="2400"/>
              <a:t>Liberal credit policies increase working capital needs.</a:t>
            </a:r>
          </a:p>
          <a:p>
            <a:pPr marL="342900" lvl="0" indent="-342900">
              <a:buFont typeface="+mj-lt"/>
              <a:buAutoNum type="arabicPeriod"/>
            </a:pPr>
            <a:r>
              <a:rPr lang="en-IN" sz="2400" b="1"/>
              <a:t>Market Conditions:</a:t>
            </a:r>
            <a:endParaRPr lang="en-IN" sz="2400"/>
          </a:p>
          <a:p>
            <a:pPr lvl="1"/>
            <a:r>
              <a:rPr lang="en-IN" sz="2400"/>
              <a:t>Inflation and changing demand can influence working capital requirements.</a:t>
            </a:r>
          </a:p>
          <a:p>
            <a:pPr marL="342900" lvl="0" indent="-342900">
              <a:buFont typeface="+mj-lt"/>
              <a:buAutoNum type="arabicPeriod"/>
            </a:pPr>
            <a:r>
              <a:rPr lang="en-IN" sz="2400" b="1"/>
              <a:t>Operational Efficiency:</a:t>
            </a:r>
            <a:endParaRPr lang="en-IN" sz="2400"/>
          </a:p>
          <a:p>
            <a:pPr lvl="1"/>
            <a:r>
              <a:rPr lang="en-IN" sz="2400"/>
              <a:t>Efficient management of resources can reduce working capital needs.</a:t>
            </a:r>
          </a:p>
          <a:p>
            <a:pPr algn="just"/>
            <a:endParaRPr lang="en-US" sz="2500">
              <a:latin typeface="Times New Roman" pitchFamily="18" charset="0"/>
              <a:cs typeface="Times New Roman" pitchFamily="18" charset="0"/>
            </a:endParaRPr>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2800" b="1"/>
              <a:t>Methods to Estimate Working Capital</a:t>
            </a:r>
            <a:endParaRPr lang="en-IN" sz="28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5109091"/>
          </a:xfrm>
          <a:prstGeom prst="rect">
            <a:avLst/>
          </a:prstGeom>
        </p:spPr>
        <p:txBody>
          <a:bodyPr wrap="square">
            <a:spAutoFit/>
          </a:bodyPr>
          <a:lstStyle/>
          <a:p>
            <a:pPr lvl="0"/>
            <a:r>
              <a:rPr lang="en-IN" sz="2200" b="1"/>
              <a:t>1. Operating Cycle Method:</a:t>
            </a:r>
            <a:endParaRPr lang="en-IN" sz="2200"/>
          </a:p>
          <a:p>
            <a:pPr lvl="1"/>
            <a:r>
              <a:rPr lang="en-IN" sz="2200"/>
              <a:t>Working capital is calculated based on the time taken to convert raw materials into cash from sales.</a:t>
            </a:r>
          </a:p>
          <a:p>
            <a:pPr lvl="1"/>
            <a:r>
              <a:rPr lang="en-IN" sz="2200"/>
              <a:t>Formula: </a:t>
            </a:r>
          </a:p>
          <a:p>
            <a:pPr lvl="1"/>
            <a:r>
              <a:rPr lang="en-IN" sz="2200"/>
              <a:t>Operating Cycle=Inventory Conversion </a:t>
            </a:r>
            <a:r>
              <a:rPr lang="en-IN" sz="2200" err="1"/>
              <a:t>Period+Receivables</a:t>
            </a:r>
            <a:r>
              <a:rPr lang="en-IN" sz="2200"/>
              <a:t> Conversion Period−Payables Deferral Period</a:t>
            </a:r>
            <a:endParaRPr lang="en-IN" sz="2200" b="1"/>
          </a:p>
          <a:p>
            <a:pPr lvl="1"/>
            <a:r>
              <a:rPr lang="en-IN" sz="2200" b="1"/>
              <a:t>2. Percentage of Sales Method:</a:t>
            </a:r>
            <a:endParaRPr lang="en-IN" sz="2200"/>
          </a:p>
          <a:p>
            <a:pPr lvl="1"/>
            <a:r>
              <a:rPr lang="en-IN" sz="2200"/>
              <a:t>Working capital is estimated as a percentage of projected sales based on historical trends.</a:t>
            </a:r>
          </a:p>
          <a:p>
            <a:pPr lvl="1"/>
            <a:endParaRPr lang="en-IN" sz="2200"/>
          </a:p>
          <a:p>
            <a:pPr marL="342900" lvl="0" indent="-342900">
              <a:buAutoNum type="arabicPeriod" startAt="3"/>
            </a:pPr>
            <a:r>
              <a:rPr lang="en-IN" sz="2200" b="1"/>
              <a:t>Cash Flow Projection:</a:t>
            </a:r>
            <a:endParaRPr lang="en-IN" sz="2200"/>
          </a:p>
          <a:p>
            <a:pPr lvl="1"/>
            <a:r>
              <a:rPr lang="en-IN" sz="2200" err="1"/>
              <a:t>Analyzes</a:t>
            </a:r>
            <a:r>
              <a:rPr lang="en-IN" sz="2200"/>
              <a:t> cash inflows and outflows to determine working capital needs.</a:t>
            </a:r>
          </a:p>
          <a:p>
            <a:pPr lvl="1"/>
            <a:endParaRPr lang="en-IN" sz="2200"/>
          </a:p>
          <a:p>
            <a:pPr lvl="0"/>
            <a:r>
              <a:rPr lang="en-IN" sz="2200" b="1"/>
              <a:t>4. Regression Analysis:</a:t>
            </a:r>
            <a:endParaRPr lang="en-IN" sz="2200"/>
          </a:p>
          <a:p>
            <a:pPr lvl="1"/>
            <a:r>
              <a:rPr lang="en-IN" sz="2200"/>
              <a:t>Statistical method to predict working capital based on past trends and variables.</a:t>
            </a:r>
          </a:p>
          <a:p>
            <a:pPr lvl="0"/>
            <a:endParaRPr lang="en-IN"/>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082018"/>
            <a:ext cx="11067803" cy="41088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45058" name="AutoShape 2" descr="file:///C:/Users/dell/Downloads/Steps-to-conduct-Feasiblity-study-696x392.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0" name="AutoShape 4" descr="file:///C:/Users/dell/Downloads/Steps-to-conduct-Feasiblity-study-696x392.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2" name="AutoShape 6" descr="file:///C:/Users/dell/Downloads/Steps-to-conduct-Feasiblity-study-696x392.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98155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0" y="1224202"/>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34" name="Rectangle 33"/>
          <p:cNvSpPr/>
          <p:nvPr/>
        </p:nvSpPr>
        <p:spPr>
          <a:xfrm>
            <a:off x="168812" y="1103037"/>
            <a:ext cx="11380765" cy="5170646"/>
          </a:xfrm>
          <a:prstGeom prst="rect">
            <a:avLst/>
          </a:prstGeom>
        </p:spPr>
        <p:txBody>
          <a:bodyPr wrap="square">
            <a:spAutoFit/>
          </a:bodyPr>
          <a:lstStyle/>
          <a:p>
            <a:pPr lvl="0"/>
            <a:r>
              <a:rPr lang="en-IN" sz="2200" b="1"/>
              <a:t>1. Cash Management:</a:t>
            </a:r>
            <a:endParaRPr lang="en-IN" sz="2200"/>
          </a:p>
          <a:p>
            <a:pPr lvl="1"/>
            <a:r>
              <a:rPr lang="en-IN" sz="2200"/>
              <a:t>Optimize cash balances and ensure liquidity.</a:t>
            </a:r>
          </a:p>
          <a:p>
            <a:pPr lvl="0"/>
            <a:r>
              <a:rPr lang="en-IN" sz="2200" b="1"/>
              <a:t>2. Inventory Management:</a:t>
            </a:r>
            <a:endParaRPr lang="en-IN" sz="2200"/>
          </a:p>
          <a:p>
            <a:pPr lvl="1"/>
            <a:r>
              <a:rPr lang="en-IN" sz="2200"/>
              <a:t>Avoid overstocking or </a:t>
            </a:r>
            <a:r>
              <a:rPr lang="en-IN" sz="2200" err="1"/>
              <a:t>stockouts</a:t>
            </a:r>
            <a:r>
              <a:rPr lang="en-IN" sz="2200"/>
              <a:t> using techniques like Just-In-Time (JIT).</a:t>
            </a:r>
          </a:p>
          <a:p>
            <a:pPr lvl="0"/>
            <a:r>
              <a:rPr lang="en-IN" sz="2200" b="1"/>
              <a:t>3. Receivables Management:</a:t>
            </a:r>
            <a:endParaRPr lang="en-IN" sz="2200"/>
          </a:p>
          <a:p>
            <a:pPr lvl="1"/>
            <a:r>
              <a:rPr lang="en-IN" sz="2200"/>
              <a:t>Minimize receivable days by improving credit policies and collection efficiency.</a:t>
            </a:r>
          </a:p>
          <a:p>
            <a:pPr lvl="0"/>
            <a:r>
              <a:rPr lang="en-IN" sz="2200" b="1"/>
              <a:t>4. Payables Management:</a:t>
            </a:r>
            <a:endParaRPr lang="en-IN" sz="2200"/>
          </a:p>
          <a:p>
            <a:pPr lvl="1"/>
            <a:r>
              <a:rPr lang="en-IN" sz="2200"/>
              <a:t>Leverage credit terms from suppliers effectively.</a:t>
            </a:r>
          </a:p>
          <a:p>
            <a:pPr lvl="1"/>
            <a:endParaRPr lang="en-IN" sz="2200"/>
          </a:p>
          <a:p>
            <a:r>
              <a:rPr lang="en-IN" sz="2200" b="1"/>
              <a:t>Significance of Working Capital</a:t>
            </a:r>
          </a:p>
          <a:p>
            <a:endParaRPr lang="en-IN" sz="2200"/>
          </a:p>
          <a:p>
            <a:pPr marL="342900" lvl="0" indent="-342900">
              <a:buFont typeface="Arial" panose="020B0604020202020204" pitchFamily="34" charset="0"/>
              <a:buChar char="•"/>
            </a:pPr>
            <a:r>
              <a:rPr lang="en-IN" sz="2200"/>
              <a:t>Ensures uninterrupted production and operations.</a:t>
            </a:r>
          </a:p>
          <a:p>
            <a:pPr marL="342900" lvl="0" indent="-342900">
              <a:buFont typeface="Arial" panose="020B0604020202020204" pitchFamily="34" charset="0"/>
              <a:buChar char="•"/>
            </a:pPr>
            <a:r>
              <a:rPr lang="en-IN" sz="2200"/>
              <a:t>Helps maintain good creditworthiness.</a:t>
            </a:r>
          </a:p>
          <a:p>
            <a:pPr marL="342900" lvl="0" indent="-342900">
              <a:buFont typeface="Arial" panose="020B0604020202020204" pitchFamily="34" charset="0"/>
              <a:buChar char="•"/>
            </a:pPr>
            <a:r>
              <a:rPr lang="en-IN" sz="2200"/>
              <a:t>Supports short-term solvency.</a:t>
            </a:r>
          </a:p>
          <a:p>
            <a:pPr marL="342900" lvl="0" indent="-342900">
              <a:buFont typeface="Arial" panose="020B0604020202020204" pitchFamily="34" charset="0"/>
              <a:buChar char="•"/>
            </a:pPr>
            <a:r>
              <a:rPr lang="en-IN" sz="2200"/>
              <a:t>Contributes to business growth and profitability.</a:t>
            </a:r>
          </a:p>
        </p:txBody>
      </p:sp>
      <p:sp>
        <p:nvSpPr>
          <p:cNvPr id="36" name="Title 3">
            <a:extLst>
              <a:ext uri="{FF2B5EF4-FFF2-40B4-BE49-F238E27FC236}">
                <a16:creationId xmlns:a16="http://schemas.microsoft.com/office/drawing/2014/main" id="{F649CB8A-95E4-810A-C123-2F2CA6EBA869}"/>
              </a:ext>
            </a:extLst>
          </p:cNvPr>
          <p:cNvSpPr txBox="1">
            <a:spLocks/>
          </p:cNvSpPr>
          <p:nvPr/>
        </p:nvSpPr>
        <p:spPr>
          <a:xfrm>
            <a:off x="2422566" y="33338"/>
            <a:ext cx="9191502" cy="838200"/>
          </a:xfrm>
          <a:prstGeom prst="rect">
            <a:avLst/>
          </a:prstGeom>
        </p:spPr>
        <p:txBody>
          <a:bodyPr vert="horz" lIns="91440" tIns="45720" rIns="91440" bIns="45720" rtlCol="0" anchor="ctr">
            <a:normAutofit fontScale="92500" lnSpcReduction="20000"/>
          </a:bodyPr>
          <a:lstStyle/>
          <a:p>
            <a:pPr algn="ctr">
              <a:lnSpc>
                <a:spcPct val="90000"/>
              </a:lnSpc>
              <a:spcBef>
                <a:spcPct val="0"/>
              </a:spcBef>
              <a:defRPr/>
            </a:pPr>
            <a:endParaRPr lang="en-IN" sz="3600" b="1"/>
          </a:p>
          <a:p>
            <a:pPr algn="ctr">
              <a:lnSpc>
                <a:spcPct val="90000"/>
              </a:lnSpc>
              <a:spcBef>
                <a:spcPct val="0"/>
              </a:spcBef>
              <a:defRPr/>
            </a:pPr>
            <a:r>
              <a:rPr lang="en-IN" sz="3600" b="1"/>
              <a:t>Strategies for Managing Working Capital</a:t>
            </a:r>
            <a:endParaRPr lang="en-IN" sz="3600"/>
          </a:p>
          <a:p>
            <a:pPr lvl="0" algn="ctr">
              <a:lnSpc>
                <a:spcPct val="90000"/>
              </a:lnSpc>
              <a:spcBef>
                <a:spcPct val="0"/>
              </a:spcBef>
              <a:defRPr/>
            </a:pPr>
            <a:endParaRPr kumimoji="0" lang="en-US" sz="3600" b="1" i="0" u="none" strike="noStrike" kern="1200" cap="none" spc="0" normalizeH="0" baseline="0" noProof="0">
              <a:ln>
                <a:noFill/>
              </a:ln>
              <a:solidFill>
                <a:schemeClr val="dk1"/>
              </a:solidFill>
              <a:effectLst>
                <a:outerShdw blurRad="38100" dist="38100" dir="2700000" algn="tl">
                  <a:srgbClr val="000000">
                    <a:alpha val="43137"/>
                  </a:srgbClr>
                </a:outerShdw>
              </a:effectLst>
              <a:uLnTx/>
              <a:uFillTx/>
              <a:latin typeface="+mj-lt"/>
              <a:ea typeface="+mj-ea"/>
              <a:cs typeface="+mj-cs"/>
            </a:endParaRPr>
          </a:p>
        </p:txBody>
      </p:sp>
    </p:spTree>
    <p:extLst>
      <p:ext uri="{BB962C8B-B14F-4D97-AF65-F5344CB8AC3E}">
        <p14:creationId xmlns:p14="http://schemas.microsoft.com/office/powerpoint/2010/main" val="1598155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563108" cy="838200"/>
          </a:xfrm>
        </p:spPr>
        <p:txBody>
          <a:bodyPr>
            <a:normAutofit/>
          </a:bodyPr>
          <a:lstStyle/>
          <a:p>
            <a:pPr algn="ctr"/>
            <a:r>
              <a:rPr lang="en-IN" sz="2800"/>
              <a:t>Sources of funds</a:t>
            </a:r>
            <a:endParaRPr lang="en-IN" sz="2800" b="1">
              <a:solidFill>
                <a:srgbClr val="CC3300"/>
              </a:solidFill>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281354" y="1055077"/>
            <a:ext cx="11619913" cy="4524315"/>
          </a:xfrm>
          <a:prstGeom prst="rect">
            <a:avLst/>
          </a:prstGeom>
        </p:spPr>
        <p:txBody>
          <a:bodyPr wrap="square">
            <a:spAutoFit/>
          </a:bodyPr>
          <a:lstStyle/>
          <a:p>
            <a:r>
              <a:rPr lang="en-US" sz="2400" b="1"/>
              <a:t> </a:t>
            </a:r>
            <a:r>
              <a:rPr lang="en-IN" sz="2200"/>
              <a:t>Sources of funds refer to the various ways a business can acquire capital to finance its operations, projects, or expansion plans.</a:t>
            </a:r>
          </a:p>
          <a:p>
            <a:endParaRPr lang="en-IN" sz="2200"/>
          </a:p>
          <a:p>
            <a:r>
              <a:rPr lang="en-IN" sz="2200" b="1"/>
              <a:t>Categories of Sources of Funds</a:t>
            </a:r>
          </a:p>
          <a:p>
            <a:endParaRPr lang="en-IN" sz="2200"/>
          </a:p>
          <a:p>
            <a:pPr lvl="0"/>
            <a:r>
              <a:rPr lang="en-IN" sz="2200" b="1"/>
              <a:t>Internal Sources:</a:t>
            </a:r>
          </a:p>
          <a:p>
            <a:pPr lvl="0"/>
            <a:endParaRPr lang="en-IN" sz="2200"/>
          </a:p>
          <a:p>
            <a:pPr lvl="1"/>
            <a:r>
              <a:rPr lang="en-IN" sz="2200" b="1"/>
              <a:t>Retained Earnings:</a:t>
            </a:r>
            <a:endParaRPr lang="en-IN" sz="2200"/>
          </a:p>
          <a:p>
            <a:pPr marL="1257300" lvl="2" indent="-342900">
              <a:buFont typeface="Arial" panose="020B0604020202020204" pitchFamily="34" charset="0"/>
              <a:buChar char="•"/>
            </a:pPr>
            <a:r>
              <a:rPr lang="en-IN" sz="2200"/>
              <a:t>Profits retained in the business after dividends.</a:t>
            </a:r>
          </a:p>
          <a:p>
            <a:pPr marL="1257300" lvl="2" indent="-342900">
              <a:buFont typeface="Arial" panose="020B0604020202020204" pitchFamily="34" charset="0"/>
              <a:buChar char="•"/>
            </a:pPr>
            <a:r>
              <a:rPr lang="en-IN" sz="2200"/>
              <a:t>Cost-effective but limits dividend </a:t>
            </a:r>
            <a:r>
              <a:rPr lang="en-IN" sz="2200" err="1"/>
              <a:t>payout</a:t>
            </a:r>
            <a:r>
              <a:rPr lang="en-IN" sz="2200"/>
              <a:t>.</a:t>
            </a:r>
          </a:p>
          <a:p>
            <a:pPr lvl="2"/>
            <a:endParaRPr lang="en-IN" sz="2200"/>
          </a:p>
          <a:p>
            <a:pPr lvl="1"/>
            <a:r>
              <a:rPr lang="en-IN" sz="2200" b="1"/>
              <a:t>Depreciation Reserves:</a:t>
            </a:r>
            <a:endParaRPr lang="en-IN" sz="2200"/>
          </a:p>
          <a:p>
            <a:pPr marL="1257300" lvl="2" indent="-342900">
              <a:buFont typeface="Arial" panose="020B0604020202020204" pitchFamily="34" charset="0"/>
              <a:buChar char="•"/>
            </a:pPr>
            <a:r>
              <a:rPr lang="en-IN" sz="2200"/>
              <a:t>Non-cash charges used to reinvest in the business.</a:t>
            </a:r>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08498" y="230286"/>
            <a:ext cx="9191502" cy="537349"/>
          </a:xfrm>
        </p:spPr>
        <p:txBody>
          <a:bodyPr>
            <a:normAutofit fontScale="90000"/>
          </a:bodyPr>
          <a:lstStyle/>
          <a:p>
            <a:pPr algn="ctr">
              <a:defRPr/>
            </a:pPr>
            <a:br>
              <a:rPr lang="en-US" sz="3600" b="1"/>
            </a:br>
            <a:r>
              <a:rPr lang="en-US" sz="3600" b="1"/>
              <a:t>Continue..</a:t>
            </a:r>
            <a:br>
              <a:rPr lang="en-US" sz="3600" b="1"/>
            </a:br>
            <a:endParaRPr lang="en-US" sz="3600" b="1">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25" name="Rectangle 24"/>
          <p:cNvSpPr/>
          <p:nvPr/>
        </p:nvSpPr>
        <p:spPr>
          <a:xfrm>
            <a:off x="593766" y="1266090"/>
            <a:ext cx="11067803" cy="4493538"/>
          </a:xfrm>
          <a:prstGeom prst="rect">
            <a:avLst/>
          </a:prstGeom>
        </p:spPr>
        <p:txBody>
          <a:bodyPr wrap="square">
            <a:spAutoFit/>
          </a:bodyPr>
          <a:lstStyle/>
          <a:p>
            <a:pPr lvl="0"/>
            <a:r>
              <a:rPr lang="en-IN" sz="2200" b="1"/>
              <a:t>External Sources:</a:t>
            </a:r>
          </a:p>
          <a:p>
            <a:pPr lvl="0"/>
            <a:endParaRPr lang="en-IN" sz="2200"/>
          </a:p>
          <a:p>
            <a:pPr lvl="1"/>
            <a:r>
              <a:rPr lang="en-IN" sz="2200" b="1"/>
              <a:t>Equity Financing:</a:t>
            </a:r>
            <a:endParaRPr lang="en-IN" sz="2200"/>
          </a:p>
          <a:p>
            <a:pPr lvl="2"/>
            <a:r>
              <a:rPr lang="en-IN" sz="2200"/>
              <a:t>Funds raised by issuing shares.</a:t>
            </a:r>
          </a:p>
          <a:p>
            <a:pPr lvl="2"/>
            <a:r>
              <a:rPr lang="en-IN" sz="2200"/>
              <a:t>Includes common shares and preferred shares.</a:t>
            </a:r>
          </a:p>
          <a:p>
            <a:pPr lvl="2"/>
            <a:r>
              <a:rPr lang="en-IN" sz="2200"/>
              <a:t>Permanent capital, but dilutes ownership.</a:t>
            </a:r>
          </a:p>
          <a:p>
            <a:pPr lvl="1"/>
            <a:r>
              <a:rPr lang="en-IN" sz="2200" b="1"/>
              <a:t>Debt Financing:</a:t>
            </a:r>
            <a:endParaRPr lang="en-IN" sz="2200"/>
          </a:p>
          <a:p>
            <a:pPr lvl="2"/>
            <a:r>
              <a:rPr lang="en-IN" sz="2200"/>
              <a:t>Funds borrowed from lenders, repayable with interest.</a:t>
            </a:r>
          </a:p>
          <a:p>
            <a:pPr lvl="2"/>
            <a:r>
              <a:rPr lang="en-IN" sz="2200"/>
              <a:t>Includes loans, debentures, bonds, and credit lines.</a:t>
            </a:r>
          </a:p>
          <a:p>
            <a:pPr lvl="2"/>
            <a:r>
              <a:rPr lang="en-IN" sz="2200"/>
              <a:t>Provides tax benefits (interest is tax-deductible).</a:t>
            </a:r>
          </a:p>
          <a:p>
            <a:pPr lvl="1"/>
            <a:r>
              <a:rPr lang="en-IN" sz="2200" b="1"/>
              <a:t>Hybrid Financing:</a:t>
            </a:r>
            <a:endParaRPr lang="en-IN" sz="2200"/>
          </a:p>
          <a:p>
            <a:pPr lvl="2"/>
            <a:r>
              <a:rPr lang="en-IN" sz="2200"/>
              <a:t>Instruments combining debt and equity features (e.g., convertible debentures, preference shares).</a:t>
            </a:r>
          </a:p>
        </p:txBody>
      </p:sp>
    </p:spTree>
    <p:extLst>
      <p:ext uri="{BB962C8B-B14F-4D97-AF65-F5344CB8AC3E}">
        <p14:creationId xmlns:p14="http://schemas.microsoft.com/office/powerpoint/2010/main" val="15981553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09488"/>
            <a:ext cx="9191502" cy="562049"/>
          </a:xfrm>
        </p:spPr>
        <p:txBody>
          <a:bodyPr>
            <a:normAutofit fontScale="90000"/>
          </a:bodyPr>
          <a:lstStyle/>
          <a:p>
            <a:pPr algn="ctr"/>
            <a:br>
              <a:rPr lang="en-US" sz="3600" b="1"/>
            </a:br>
            <a:r>
              <a:rPr lang="en-US" sz="3600" b="1"/>
              <a:t>Sources of Fund continue…</a:t>
            </a:r>
            <a:br>
              <a:rPr lang="en-US" sz="3600" b="1"/>
            </a:br>
            <a:endParaRPr lang="en-IN" sz="3600" b="1">
              <a:solidFill>
                <a:srgbClr val="CC3300"/>
              </a:solidFill>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25" name="Rectangle 24"/>
          <p:cNvSpPr/>
          <p:nvPr/>
        </p:nvSpPr>
        <p:spPr>
          <a:xfrm>
            <a:off x="374691" y="1179427"/>
            <a:ext cx="11410950" cy="5601533"/>
          </a:xfrm>
          <a:prstGeom prst="rect">
            <a:avLst/>
          </a:prstGeom>
        </p:spPr>
        <p:txBody>
          <a:bodyPr wrap="square">
            <a:spAutoFit/>
          </a:bodyPr>
          <a:lstStyle/>
          <a:p>
            <a:pPr lvl="0"/>
            <a:r>
              <a:rPr lang="en-IN" sz="2200" b="1"/>
              <a:t>Short-Term Sources:</a:t>
            </a:r>
            <a:endParaRPr lang="en-IN" sz="2200"/>
          </a:p>
          <a:p>
            <a:pPr lvl="1"/>
            <a:r>
              <a:rPr lang="en-IN" sz="2200"/>
              <a:t>Bank overdrafts, trade credit, factoring, and commercial paper.</a:t>
            </a:r>
          </a:p>
          <a:p>
            <a:pPr lvl="1"/>
            <a:r>
              <a:rPr lang="en-IN" sz="2200"/>
              <a:t>Useful for managing working capital requirements.</a:t>
            </a:r>
          </a:p>
          <a:p>
            <a:pPr lvl="0"/>
            <a:r>
              <a:rPr lang="en-IN" sz="2200" b="1"/>
              <a:t>Long-Term Sources:</a:t>
            </a:r>
            <a:endParaRPr lang="en-IN" sz="2200"/>
          </a:p>
          <a:p>
            <a:pPr lvl="1"/>
            <a:r>
              <a:rPr lang="en-IN" sz="2200"/>
              <a:t>Long-term loans, public deposits, and venture capital.</a:t>
            </a:r>
          </a:p>
          <a:p>
            <a:pPr lvl="1"/>
            <a:r>
              <a:rPr lang="en-IN" sz="2200"/>
              <a:t>Suitable for financing capital-intensive projects.</a:t>
            </a:r>
          </a:p>
          <a:p>
            <a:pPr lvl="0"/>
            <a:r>
              <a:rPr lang="en-IN" sz="2200" b="1"/>
              <a:t>Specialized Sources:</a:t>
            </a:r>
            <a:endParaRPr lang="en-IN" sz="2200"/>
          </a:p>
          <a:p>
            <a:pPr lvl="1"/>
            <a:r>
              <a:rPr lang="en-IN" sz="2200" b="1"/>
              <a:t>Government Grants and Subsidies:</a:t>
            </a:r>
            <a:endParaRPr lang="en-IN" sz="2200"/>
          </a:p>
          <a:p>
            <a:pPr lvl="2"/>
            <a:r>
              <a:rPr lang="en-IN" sz="2200"/>
              <a:t>Non-repayable funds from government schemes.</a:t>
            </a:r>
          </a:p>
          <a:p>
            <a:pPr lvl="1"/>
            <a:r>
              <a:rPr lang="en-IN" sz="2200" b="1"/>
              <a:t>Venture Capital:</a:t>
            </a:r>
            <a:endParaRPr lang="en-IN" sz="2200"/>
          </a:p>
          <a:p>
            <a:pPr lvl="2"/>
            <a:r>
              <a:rPr lang="en-IN" sz="2200"/>
              <a:t>High-risk investments in </a:t>
            </a:r>
            <a:r>
              <a:rPr lang="en-IN" sz="2200" err="1"/>
              <a:t>startups</a:t>
            </a:r>
            <a:r>
              <a:rPr lang="en-IN" sz="2200"/>
              <a:t>.</a:t>
            </a:r>
          </a:p>
          <a:p>
            <a:pPr lvl="1"/>
            <a:r>
              <a:rPr lang="en-IN" sz="2200" b="1"/>
              <a:t>Private Equity:</a:t>
            </a:r>
            <a:endParaRPr lang="en-IN" sz="2200"/>
          </a:p>
          <a:p>
            <a:pPr lvl="2"/>
            <a:r>
              <a:rPr lang="en-IN" sz="2200"/>
              <a:t>Investments in established companies for strategic growth.</a:t>
            </a:r>
          </a:p>
          <a:p>
            <a:pPr lvl="1"/>
            <a:r>
              <a:rPr lang="en-IN" sz="2200" b="1" err="1"/>
              <a:t>Crowdfunding</a:t>
            </a:r>
            <a:r>
              <a:rPr lang="en-IN" sz="2200" b="1"/>
              <a:t>:</a:t>
            </a:r>
            <a:endParaRPr lang="en-IN" sz="2200"/>
          </a:p>
          <a:p>
            <a:pPr lvl="2"/>
            <a:r>
              <a:rPr lang="en-IN" sz="2200"/>
              <a:t>Raising funds from a large number of people via online platforms.</a:t>
            </a:r>
          </a:p>
          <a:p>
            <a:pPr algn="just"/>
            <a:endParaRPr lang="en-US" sz="2800">
              <a:latin typeface="Times New Roman" pitchFamily="18" charset="0"/>
              <a:cs typeface="Times New Roman" pitchFamily="18" charset="0"/>
            </a:endParaRPr>
          </a:p>
        </p:txBody>
      </p:sp>
    </p:spTree>
    <p:extLst>
      <p:ext uri="{BB962C8B-B14F-4D97-AF65-F5344CB8AC3E}">
        <p14:creationId xmlns:p14="http://schemas.microsoft.com/office/powerpoint/2010/main" val="15981553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Selection Criteria for Funding Sources</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323557" y="1246909"/>
            <a:ext cx="11535508" cy="5262979"/>
          </a:xfrm>
          <a:prstGeom prst="rect">
            <a:avLst/>
          </a:prstGeom>
        </p:spPr>
        <p:txBody>
          <a:bodyPr wrap="square">
            <a:spAutoFit/>
          </a:bodyPr>
          <a:lstStyle/>
          <a:p>
            <a:r>
              <a:rPr lang="en-IN" sz="2800" b="1"/>
              <a:t>Selection Criteria for Funding Sources</a:t>
            </a:r>
            <a:endParaRPr lang="en-IN" sz="2800"/>
          </a:p>
          <a:p>
            <a:pPr marL="457200" lvl="0" indent="-457200">
              <a:lnSpc>
                <a:spcPct val="200000"/>
              </a:lnSpc>
              <a:buFont typeface="Arial" panose="020B0604020202020204" pitchFamily="34" charset="0"/>
              <a:buChar char="•"/>
            </a:pPr>
            <a:r>
              <a:rPr lang="en-IN" sz="2800"/>
              <a:t>Cost of capital.</a:t>
            </a:r>
          </a:p>
          <a:p>
            <a:pPr marL="457200" lvl="0" indent="-457200">
              <a:lnSpc>
                <a:spcPct val="200000"/>
              </a:lnSpc>
              <a:buFont typeface="Arial" panose="020B0604020202020204" pitchFamily="34" charset="0"/>
              <a:buChar char="•"/>
            </a:pPr>
            <a:r>
              <a:rPr lang="en-IN" sz="2800"/>
              <a:t>Risk and repayment terms.</a:t>
            </a:r>
          </a:p>
          <a:p>
            <a:pPr marL="457200" lvl="0" indent="-457200">
              <a:lnSpc>
                <a:spcPct val="200000"/>
              </a:lnSpc>
              <a:buFont typeface="Arial" panose="020B0604020202020204" pitchFamily="34" charset="0"/>
              <a:buChar char="•"/>
            </a:pPr>
            <a:r>
              <a:rPr lang="en-IN" sz="2800"/>
              <a:t>Control and ownership dilution.</a:t>
            </a:r>
          </a:p>
          <a:p>
            <a:pPr marL="457200" lvl="0" indent="-457200">
              <a:lnSpc>
                <a:spcPct val="200000"/>
              </a:lnSpc>
              <a:buFont typeface="Arial" panose="020B0604020202020204" pitchFamily="34" charset="0"/>
              <a:buChar char="•"/>
            </a:pPr>
            <a:r>
              <a:rPr lang="en-IN" sz="2800"/>
              <a:t>Availability and flexibility.</a:t>
            </a:r>
          </a:p>
          <a:p>
            <a:pPr marL="457200" lvl="0" indent="-457200">
              <a:lnSpc>
                <a:spcPct val="200000"/>
              </a:lnSpc>
              <a:buFont typeface="Arial" panose="020B0604020202020204" pitchFamily="34" charset="0"/>
              <a:buChar char="•"/>
            </a:pPr>
            <a:r>
              <a:rPr lang="en-IN" sz="2800"/>
              <a:t>Project duration and profitability.</a:t>
            </a:r>
          </a:p>
          <a:p>
            <a:pPr algn="just"/>
            <a:r>
              <a:rPr lang="en-US" sz="2800">
                <a:latin typeface="Times New Roman" pitchFamily="18" charset="0"/>
                <a:cs typeface="Times New Roman" pitchFamily="18" charset="0"/>
              </a:rPr>
              <a:t>.</a:t>
            </a:r>
          </a:p>
        </p:txBody>
      </p:sp>
      <p:sp>
        <p:nvSpPr>
          <p:cNvPr id="26" name="Rectangle 25">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34442" y="71345"/>
            <a:ext cx="9191502" cy="838200"/>
          </a:xfrm>
        </p:spPr>
        <p:txBody>
          <a:bodyPr>
            <a:normAutofit/>
          </a:bodyPr>
          <a:lstStyle/>
          <a:p>
            <a:pPr lvl="0" algn="ctr">
              <a:defRPr/>
            </a:pPr>
            <a:r>
              <a:rPr lang="en-IN" sz="3600"/>
              <a:t>Capital Budgeting</a:t>
            </a:r>
            <a:endParaRPr lang="en-US" sz="3600" b="1">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1023589"/>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296882" y="1343085"/>
            <a:ext cx="11495317" cy="5816977"/>
          </a:xfrm>
          <a:prstGeom prst="rect">
            <a:avLst/>
          </a:prstGeom>
        </p:spPr>
        <p:txBody>
          <a:bodyPr wrap="square">
            <a:spAutoFit/>
          </a:bodyPr>
          <a:lstStyle/>
          <a:p>
            <a:r>
              <a:rPr lang="en-IN" sz="2200"/>
              <a:t>Capital budgeting involves the process of evaluating and selecting long-term investment projects to maximize shareholder wealth.</a:t>
            </a:r>
          </a:p>
          <a:p>
            <a:r>
              <a:rPr lang="en-IN" sz="2200" b="1"/>
              <a:t>Steps in Capital Budgeting</a:t>
            </a:r>
          </a:p>
          <a:p>
            <a:endParaRPr lang="en-IN" sz="2200"/>
          </a:p>
          <a:p>
            <a:pPr lvl="0"/>
            <a:r>
              <a:rPr lang="en-IN" sz="2200" b="1"/>
              <a:t>Identification of Investment Opportunities:</a:t>
            </a:r>
            <a:endParaRPr lang="en-IN" sz="2200"/>
          </a:p>
          <a:p>
            <a:pPr lvl="1"/>
            <a:r>
              <a:rPr lang="en-IN" sz="2200"/>
              <a:t>Identify potential projects or assets for investment.</a:t>
            </a:r>
          </a:p>
          <a:p>
            <a:pPr lvl="0"/>
            <a:r>
              <a:rPr lang="en-IN" sz="2200" b="1"/>
              <a:t>Evaluation of Cash Flows:</a:t>
            </a:r>
            <a:endParaRPr lang="en-IN" sz="2200"/>
          </a:p>
          <a:p>
            <a:pPr lvl="1"/>
            <a:r>
              <a:rPr lang="en-IN" sz="2200"/>
              <a:t>Estimate future inflows and outflows associated with the investment.</a:t>
            </a:r>
          </a:p>
          <a:p>
            <a:pPr lvl="0"/>
            <a:r>
              <a:rPr lang="en-IN" sz="2200" b="1"/>
              <a:t>Selection of Evaluation Technique:</a:t>
            </a:r>
            <a:endParaRPr lang="en-IN" sz="2200"/>
          </a:p>
          <a:p>
            <a:pPr lvl="1"/>
            <a:r>
              <a:rPr lang="en-IN" sz="2200"/>
              <a:t>Use appropriate methods to assess the project's feasibility.</a:t>
            </a:r>
          </a:p>
          <a:p>
            <a:pPr lvl="0"/>
            <a:r>
              <a:rPr lang="en-IN" sz="2200" b="1"/>
              <a:t>Decision Making:</a:t>
            </a:r>
            <a:endParaRPr lang="en-IN" sz="2200"/>
          </a:p>
          <a:p>
            <a:pPr lvl="1"/>
            <a:r>
              <a:rPr lang="en-IN" sz="2200"/>
              <a:t>Approve projects that meet financial and strategic criteria.</a:t>
            </a:r>
          </a:p>
          <a:p>
            <a:pPr lvl="0"/>
            <a:r>
              <a:rPr lang="en-IN" sz="2200" b="1"/>
              <a:t>Implementation and Monitoring:</a:t>
            </a:r>
            <a:endParaRPr lang="en-IN" sz="2200"/>
          </a:p>
          <a:p>
            <a:pPr lvl="1"/>
            <a:r>
              <a:rPr lang="en-IN" sz="2200"/>
              <a:t>Execute the project and monitor actual performance against projections.</a:t>
            </a:r>
          </a:p>
          <a:p>
            <a:endParaRPr lang="en-US" sz="3200"/>
          </a:p>
          <a:p>
            <a:pPr marL="514350" indent="-514350"/>
            <a:endParaRPr lang="en-US" sz="3200"/>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Techniques of Capital Budgeting</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390524" y="1069147"/>
            <a:ext cx="11271045" cy="5170646"/>
          </a:xfrm>
          <a:prstGeom prst="rect">
            <a:avLst/>
          </a:prstGeom>
        </p:spPr>
        <p:txBody>
          <a:bodyPr wrap="square">
            <a:spAutoFit/>
          </a:bodyPr>
          <a:lstStyle/>
          <a:p>
            <a:pPr lvl="0"/>
            <a:r>
              <a:rPr lang="en-IN" b="1"/>
              <a:t>1. </a:t>
            </a:r>
            <a:r>
              <a:rPr lang="en-IN" sz="2200" b="1"/>
              <a:t>Traditional Methods:</a:t>
            </a:r>
            <a:endParaRPr lang="en-IN" sz="2200"/>
          </a:p>
          <a:p>
            <a:pPr lvl="1"/>
            <a:endParaRPr lang="en-IN" sz="2200" b="1"/>
          </a:p>
          <a:p>
            <a:pPr marL="742950" lvl="1" indent="-285750">
              <a:buFont typeface="Arial" panose="020B0604020202020204" pitchFamily="34" charset="0"/>
              <a:buChar char="•"/>
            </a:pPr>
            <a:r>
              <a:rPr lang="en-IN" sz="2200" b="1"/>
              <a:t>Payback Period:</a:t>
            </a:r>
            <a:endParaRPr lang="en-IN" sz="2200"/>
          </a:p>
          <a:p>
            <a:pPr lvl="2"/>
            <a:r>
              <a:rPr lang="en-IN" sz="2200"/>
              <a:t>Time taken to recover the initial investment.</a:t>
            </a:r>
          </a:p>
          <a:p>
            <a:pPr lvl="2"/>
            <a:endParaRPr lang="en-IN" sz="2200"/>
          </a:p>
          <a:p>
            <a:pPr lvl="2"/>
            <a:r>
              <a:rPr lang="en-IN" sz="2200"/>
              <a:t>Formula: Payback Period=Initial Investment/Annual Cash Inflows</a:t>
            </a:r>
          </a:p>
          <a:p>
            <a:endParaRPr lang="en-IN" sz="2200"/>
          </a:p>
          <a:p>
            <a:pPr lvl="2"/>
            <a:r>
              <a:rPr lang="en-IN" sz="2200"/>
              <a:t>Simple but ignores time value of money (TVM) and post-recovery inflows.</a:t>
            </a:r>
          </a:p>
          <a:p>
            <a:pPr lvl="2"/>
            <a:endParaRPr lang="en-IN" sz="2200" b="1"/>
          </a:p>
          <a:p>
            <a:pPr marL="1200150" lvl="2" indent="-285750">
              <a:buFont typeface="Arial" panose="020B0604020202020204" pitchFamily="34" charset="0"/>
              <a:buChar char="•"/>
            </a:pPr>
            <a:r>
              <a:rPr lang="en-IN" sz="2200" b="1"/>
              <a:t>Accounting Rate of Return (ARR):</a:t>
            </a:r>
            <a:endParaRPr lang="en-IN" sz="2200"/>
          </a:p>
          <a:p>
            <a:pPr lvl="2"/>
            <a:r>
              <a:rPr lang="en-IN" sz="2200"/>
              <a:t>Measures profitability relative to investment.</a:t>
            </a:r>
          </a:p>
          <a:p>
            <a:pPr lvl="2"/>
            <a:r>
              <a:rPr lang="en-IN" sz="2200"/>
              <a:t>Formula: </a:t>
            </a:r>
          </a:p>
          <a:p>
            <a:pPr lvl="2"/>
            <a:endParaRPr lang="en-IN" sz="2200"/>
          </a:p>
          <a:p>
            <a:pPr lvl="2"/>
            <a:r>
              <a:rPr lang="en-IN" sz="2200"/>
              <a:t>ARR=(Average Annual Accounting Profit/Average Investment) x 100 </a:t>
            </a:r>
          </a:p>
          <a:p>
            <a:pPr lvl="2"/>
            <a:r>
              <a:rPr lang="en-IN" sz="2200"/>
              <a:t>Ignores cash flows and TVM.</a:t>
            </a:r>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769434" cy="838200"/>
          </a:xfrm>
        </p:spPr>
        <p:txBody>
          <a:bodyPr>
            <a:noAutofit/>
          </a:bodyPr>
          <a:lstStyle/>
          <a:p>
            <a:pPr lvl="0" algn="ctr">
              <a:defRPr/>
            </a:pPr>
            <a:endParaRPr lang="en-US" sz="2800" b="1">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76895" y="1270697"/>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625432" y="1177529"/>
            <a:ext cx="10941135" cy="5016758"/>
          </a:xfrm>
          <a:prstGeom prst="rect">
            <a:avLst/>
          </a:prstGeom>
        </p:spPr>
        <p:txBody>
          <a:bodyPr wrap="square">
            <a:spAutoFit/>
          </a:bodyPr>
          <a:lstStyle/>
          <a:p>
            <a:pPr lvl="0"/>
            <a:r>
              <a:rPr lang="en-IN" b="1"/>
              <a:t>2. </a:t>
            </a:r>
            <a:r>
              <a:rPr lang="en-IN" sz="2000" b="1"/>
              <a:t>Discounted Cash Flow Methods:</a:t>
            </a:r>
            <a:endParaRPr lang="en-IN" sz="2000"/>
          </a:p>
          <a:p>
            <a:pPr marL="742950" lvl="1" indent="-285750">
              <a:buFont typeface="Arial" panose="020B0604020202020204" pitchFamily="34" charset="0"/>
              <a:buChar char="•"/>
            </a:pPr>
            <a:r>
              <a:rPr lang="en-IN" sz="2000" b="1"/>
              <a:t>Net Present Value (NPV):</a:t>
            </a:r>
            <a:endParaRPr lang="en-IN" sz="2000"/>
          </a:p>
          <a:p>
            <a:pPr lvl="2"/>
            <a:r>
              <a:rPr lang="en-IN" sz="2000"/>
              <a:t>Present value of cash inflows minus outflows.</a:t>
            </a:r>
          </a:p>
          <a:p>
            <a:pPr lvl="2"/>
            <a:endParaRPr lang="en-IN" sz="2000"/>
          </a:p>
          <a:p>
            <a:pPr lvl="2"/>
            <a:endParaRPr lang="en-IN" sz="2000"/>
          </a:p>
          <a:p>
            <a:pPr lvl="2"/>
            <a:endParaRPr lang="en-IN" sz="2000"/>
          </a:p>
          <a:p>
            <a:pPr lvl="2"/>
            <a:endParaRPr lang="en-IN" sz="2000"/>
          </a:p>
          <a:p>
            <a:pPr lvl="2"/>
            <a:r>
              <a:rPr lang="en-IN" sz="2000"/>
              <a:t>Considers TVM, accurate, and widely used.</a:t>
            </a:r>
          </a:p>
          <a:p>
            <a:pPr marL="742950" lvl="1" indent="-285750">
              <a:buFont typeface="Arial" panose="020B0604020202020204" pitchFamily="34" charset="0"/>
              <a:buChar char="•"/>
            </a:pPr>
            <a:r>
              <a:rPr lang="en-IN" sz="2000" b="1"/>
              <a:t>Internal Rate of Return (IRR):</a:t>
            </a:r>
            <a:endParaRPr lang="en-IN" sz="2000"/>
          </a:p>
          <a:p>
            <a:pPr lvl="2"/>
            <a:r>
              <a:rPr lang="en-IN" sz="2000"/>
              <a:t>Discount rate at which NPV = 0.</a:t>
            </a:r>
          </a:p>
          <a:p>
            <a:pPr lvl="2"/>
            <a:r>
              <a:rPr lang="en-IN" sz="2000"/>
              <a:t>Compares project return with required rate of return.</a:t>
            </a:r>
          </a:p>
          <a:p>
            <a:pPr lvl="2"/>
            <a:endParaRPr lang="en-IN" sz="2000"/>
          </a:p>
          <a:p>
            <a:pPr marL="742950" lvl="1" indent="-285750">
              <a:buFont typeface="Arial" panose="020B0604020202020204" pitchFamily="34" charset="0"/>
              <a:buChar char="•"/>
            </a:pPr>
            <a:r>
              <a:rPr lang="en-IN" sz="2000" b="1"/>
              <a:t>Profitability Index (PI):</a:t>
            </a:r>
            <a:endParaRPr lang="en-IN" sz="2000"/>
          </a:p>
          <a:p>
            <a:pPr lvl="2"/>
            <a:r>
              <a:rPr lang="en-IN" sz="2000"/>
              <a:t>Ratio of present value of cash inflows to initial investment.</a:t>
            </a:r>
          </a:p>
          <a:p>
            <a:pPr lvl="2"/>
            <a:r>
              <a:rPr lang="en-IN" sz="2000"/>
              <a:t>Formula: </a:t>
            </a:r>
          </a:p>
          <a:p>
            <a:pPr lvl="2"/>
            <a:r>
              <a:rPr lang="en-IN" sz="2000"/>
              <a:t>PI=   PV of Inflows/Initial Investment</a:t>
            </a:r>
            <a:endParaRPr lang="en-US" sz="2000"/>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3" name="AutoShape 2" descr="\text{NPV} = \frac{R_{t}}{(1+i)^{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8" name="Picture 4" descr="Net Present Value vs. Internal Rate of Return"/>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279941" y="2185041"/>
            <a:ext cx="3349709" cy="106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81553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IN" sz="3600" b="1"/>
              <a:t>Risk &amp; Uncertainty in Project Evaluation</a:t>
            </a:r>
            <a:endParaRPr lang="en-US" sz="3600" b="1">
              <a:solidFill>
                <a:schemeClr val="dk1"/>
              </a:solidFill>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26" name="Rectangle 25"/>
          <p:cNvSpPr/>
          <p:nvPr/>
        </p:nvSpPr>
        <p:spPr>
          <a:xfrm>
            <a:off x="578786" y="1098644"/>
            <a:ext cx="11213411" cy="5170646"/>
          </a:xfrm>
          <a:prstGeom prst="rect">
            <a:avLst/>
          </a:prstGeom>
        </p:spPr>
        <p:txBody>
          <a:bodyPr wrap="square">
            <a:spAutoFit/>
          </a:bodyPr>
          <a:lstStyle/>
          <a:p>
            <a:r>
              <a:rPr lang="en-IN" sz="2200"/>
              <a:t>Risk and uncertainty are inherent in project evaluation, as future outcomes often deviate from expectations.</a:t>
            </a:r>
          </a:p>
          <a:p>
            <a:pPr lvl="0"/>
            <a:r>
              <a:rPr lang="en-IN" sz="2200" b="1"/>
              <a:t>Risk:</a:t>
            </a:r>
            <a:r>
              <a:rPr lang="en-IN" sz="2200"/>
              <a:t> The possibility of adverse outcomes with measurable probabilities.</a:t>
            </a:r>
          </a:p>
          <a:p>
            <a:pPr lvl="0"/>
            <a:r>
              <a:rPr lang="en-IN" sz="2200" b="1"/>
              <a:t>Uncertainty:</a:t>
            </a:r>
            <a:r>
              <a:rPr lang="en-IN" sz="2200"/>
              <a:t> Situations where probabilities cannot be determined.</a:t>
            </a:r>
          </a:p>
          <a:p>
            <a:r>
              <a:rPr lang="en-IN" sz="2200" b="1"/>
              <a:t>Sources of Risk and Uncertainty</a:t>
            </a:r>
            <a:endParaRPr lang="en-IN" sz="2200"/>
          </a:p>
          <a:p>
            <a:pPr marL="342900" lvl="0" indent="-342900">
              <a:buFont typeface="Arial" panose="020B0604020202020204" pitchFamily="34" charset="0"/>
              <a:buChar char="•"/>
            </a:pPr>
            <a:r>
              <a:rPr lang="en-IN" sz="2200" b="1"/>
              <a:t>Market Risks:</a:t>
            </a:r>
            <a:endParaRPr lang="en-IN" sz="2200"/>
          </a:p>
          <a:p>
            <a:pPr lvl="1"/>
            <a:r>
              <a:rPr lang="en-IN" sz="2200"/>
              <a:t>Changes in demand, competition, and consumer preferences.</a:t>
            </a:r>
          </a:p>
          <a:p>
            <a:pPr marL="342900" lvl="0" indent="-342900">
              <a:buFont typeface="Arial" panose="020B0604020202020204" pitchFamily="34" charset="0"/>
              <a:buChar char="•"/>
            </a:pPr>
            <a:r>
              <a:rPr lang="en-IN" sz="2200" b="1"/>
              <a:t>Financial Risks:</a:t>
            </a:r>
            <a:endParaRPr lang="en-IN" sz="2200"/>
          </a:p>
          <a:p>
            <a:pPr lvl="1"/>
            <a:r>
              <a:rPr lang="en-IN" sz="2200"/>
              <a:t>Interest rate fluctuations, exchange rate volatility, and inflation.</a:t>
            </a:r>
          </a:p>
          <a:p>
            <a:pPr marL="342900" lvl="0" indent="-342900">
              <a:buFont typeface="Arial" panose="020B0604020202020204" pitchFamily="34" charset="0"/>
              <a:buChar char="•"/>
            </a:pPr>
            <a:r>
              <a:rPr lang="en-IN" sz="2200" b="1"/>
              <a:t>Operational Risks:</a:t>
            </a:r>
            <a:endParaRPr lang="en-IN" sz="2200"/>
          </a:p>
          <a:p>
            <a:pPr lvl="1"/>
            <a:r>
              <a:rPr lang="en-IN" sz="2200"/>
              <a:t>Delays, cost overruns, and technical failures.</a:t>
            </a:r>
          </a:p>
          <a:p>
            <a:pPr marL="342900" lvl="0" indent="-342900">
              <a:buFont typeface="Arial" panose="020B0604020202020204" pitchFamily="34" charset="0"/>
              <a:buChar char="•"/>
            </a:pPr>
            <a:r>
              <a:rPr lang="en-IN" sz="2200" b="1"/>
              <a:t>Regulatory Risks:</a:t>
            </a:r>
            <a:endParaRPr lang="en-IN" sz="2200"/>
          </a:p>
          <a:p>
            <a:pPr lvl="1"/>
            <a:r>
              <a:rPr lang="en-IN" sz="2200"/>
              <a:t>Changes in laws, taxes, or environmental regulations.</a:t>
            </a:r>
          </a:p>
          <a:p>
            <a:pPr marL="342900" lvl="0" indent="-342900">
              <a:buFont typeface="Arial" panose="020B0604020202020204" pitchFamily="34" charset="0"/>
              <a:buChar char="•"/>
            </a:pPr>
            <a:r>
              <a:rPr lang="en-IN" sz="2200" b="1"/>
              <a:t>Macroeconomic Risks:</a:t>
            </a:r>
            <a:endParaRPr lang="en-IN" sz="2200"/>
          </a:p>
          <a:p>
            <a:pPr lvl="1"/>
            <a:r>
              <a:rPr lang="en-IN" sz="2200"/>
              <a:t>Recession, political instability, or global crises.</a:t>
            </a: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Techniques for Risk Analysis</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4157548"/>
          </a:xfrm>
          <a:prstGeom prst="rect">
            <a:avLst/>
          </a:prstGeom>
        </p:spPr>
        <p:txBody>
          <a:bodyPr wrap="square">
            <a:spAutoFit/>
          </a:bodyPr>
          <a:lstStyle/>
          <a:p>
            <a:pPr marL="342900" lvl="0" indent="-342900">
              <a:lnSpc>
                <a:spcPct val="107000"/>
              </a:lnSpc>
              <a:spcAft>
                <a:spcPts val="800"/>
              </a:spcAft>
              <a:buFont typeface="+mj-lt"/>
              <a:buAutoNum type="arabicPeriod"/>
              <a:tabLst>
                <a:tab pos="457200" algn="l"/>
              </a:tabLst>
            </a:pPr>
            <a:r>
              <a:rPr lang="en-IN" sz="2200" b="1">
                <a:latin typeface="Calibri" panose="020F0502020204030204" pitchFamily="34" charset="0"/>
                <a:ea typeface="Calibri" panose="020F0502020204030204" pitchFamily="34" charset="0"/>
                <a:cs typeface="Times New Roman" panose="02020603050405020304" pitchFamily="18" charset="0"/>
              </a:rPr>
              <a:t>Sensitivity Analysis:</a:t>
            </a:r>
            <a:endParaRPr lang="en-IN" sz="220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200">
                <a:latin typeface="Calibri" panose="020F0502020204030204" pitchFamily="34" charset="0"/>
                <a:ea typeface="Calibri" panose="020F0502020204030204" pitchFamily="34" charset="0"/>
                <a:cs typeface="Times New Roman" panose="02020603050405020304" pitchFamily="18" charset="0"/>
              </a:rPr>
              <a:t>Examines how changes in key variables (e.g., costs, revenues) affect project outcomes.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2200">
                <a:latin typeface="Calibri" panose="020F0502020204030204" pitchFamily="34" charset="0"/>
                <a:ea typeface="Calibri" panose="020F0502020204030204" pitchFamily="34" charset="0"/>
                <a:cs typeface="Times New Roman" panose="02020603050405020304" pitchFamily="18" charset="0"/>
              </a:rPr>
              <a:t>Identifies critical variables with the highest impact.</a:t>
            </a:r>
          </a:p>
          <a:p>
            <a:pPr marL="342900" lvl="0" indent="-342900">
              <a:lnSpc>
                <a:spcPct val="107000"/>
              </a:lnSpc>
              <a:spcAft>
                <a:spcPts val="800"/>
              </a:spcAft>
              <a:buFont typeface="+mj-lt"/>
              <a:buAutoNum type="arabicPeriod"/>
              <a:tabLst>
                <a:tab pos="457200" algn="l"/>
              </a:tabLst>
            </a:pPr>
            <a:r>
              <a:rPr lang="en-IN" sz="2200" b="1">
                <a:latin typeface="Calibri" panose="020F0502020204030204" pitchFamily="34" charset="0"/>
                <a:ea typeface="Calibri" panose="020F0502020204030204" pitchFamily="34" charset="0"/>
                <a:cs typeface="Times New Roman" panose="02020603050405020304" pitchFamily="18" charset="0"/>
              </a:rPr>
              <a:t>Scenario Analysis:</a:t>
            </a:r>
            <a:endParaRPr lang="en-IN" sz="220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200">
                <a:latin typeface="Calibri" panose="020F0502020204030204" pitchFamily="34" charset="0"/>
                <a:ea typeface="Calibri" panose="020F0502020204030204" pitchFamily="34" charset="0"/>
                <a:cs typeface="Times New Roman" panose="02020603050405020304" pitchFamily="18" charset="0"/>
              </a:rPr>
              <a:t>Evaluates project outcomes under different scenarios (best-case, worst-case, base-case).</a:t>
            </a:r>
          </a:p>
          <a:p>
            <a:pPr marL="342900" lvl="0" indent="-342900">
              <a:lnSpc>
                <a:spcPct val="107000"/>
              </a:lnSpc>
              <a:spcAft>
                <a:spcPts val="800"/>
              </a:spcAft>
              <a:buFont typeface="+mj-lt"/>
              <a:buAutoNum type="arabicPeriod"/>
              <a:tabLst>
                <a:tab pos="457200" algn="l"/>
              </a:tabLst>
            </a:pPr>
            <a:r>
              <a:rPr lang="en-IN" sz="2200" b="1">
                <a:latin typeface="Calibri" panose="020F0502020204030204" pitchFamily="34" charset="0"/>
                <a:ea typeface="Calibri" panose="020F0502020204030204" pitchFamily="34" charset="0"/>
                <a:cs typeface="Times New Roman" panose="02020603050405020304" pitchFamily="18" charset="0"/>
              </a:rPr>
              <a:t>Break-Even Analysis:</a:t>
            </a:r>
            <a:endParaRPr lang="en-IN" sz="220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200">
                <a:latin typeface="Calibri" panose="020F0502020204030204" pitchFamily="34" charset="0"/>
                <a:ea typeface="Calibri" panose="020F0502020204030204" pitchFamily="34" charset="0"/>
                <a:cs typeface="Times New Roman" panose="02020603050405020304" pitchFamily="18" charset="0"/>
              </a:rPr>
              <a:t>Determines the level of output or sales at which the project breaks even.</a:t>
            </a:r>
          </a:p>
          <a:p>
            <a:pPr marL="342900" lvl="0" indent="-342900">
              <a:lnSpc>
                <a:spcPct val="107000"/>
              </a:lnSpc>
              <a:spcAft>
                <a:spcPts val="800"/>
              </a:spcAft>
              <a:buFont typeface="+mj-lt"/>
              <a:buAutoNum type="arabicPeriod"/>
              <a:tabLst>
                <a:tab pos="457200" algn="l"/>
              </a:tabLst>
            </a:pPr>
            <a:r>
              <a:rPr lang="en-IN" sz="2200" b="1">
                <a:latin typeface="Calibri" panose="020F0502020204030204" pitchFamily="34" charset="0"/>
                <a:ea typeface="Calibri" panose="020F0502020204030204" pitchFamily="34" charset="0"/>
                <a:cs typeface="Times New Roman" panose="02020603050405020304" pitchFamily="18" charset="0"/>
              </a:rPr>
              <a:t>Decision Tree Analysis:</a:t>
            </a:r>
            <a:endParaRPr lang="en-IN" sz="220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200">
                <a:latin typeface="Calibri" panose="020F0502020204030204" pitchFamily="34" charset="0"/>
                <a:ea typeface="Calibri" panose="020F0502020204030204" pitchFamily="34" charset="0"/>
                <a:cs typeface="Times New Roman" panose="02020603050405020304" pitchFamily="18" charset="0"/>
              </a:rPr>
              <a:t>Uses a graphical approach to map decision paths and outcomes under uncertainty.</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84811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Techniques for Risk Analysis continue..</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4855816"/>
          </a:xfrm>
          <a:prstGeom prst="rect">
            <a:avLst/>
          </a:prstGeom>
        </p:spPr>
        <p:txBody>
          <a:bodyPr wrap="square">
            <a:spAutoFit/>
          </a:bodyPr>
          <a:lstStyle/>
          <a:p>
            <a:pPr lvl="0">
              <a:lnSpc>
                <a:spcPct val="200000"/>
              </a:lnSpc>
            </a:pPr>
            <a:r>
              <a:rPr lang="en-IN" sz="2200" b="1"/>
              <a:t>5. Simulation Models:</a:t>
            </a:r>
            <a:endParaRPr lang="en-IN" sz="2200"/>
          </a:p>
          <a:p>
            <a:pPr lvl="1">
              <a:lnSpc>
                <a:spcPct val="150000"/>
              </a:lnSpc>
            </a:pPr>
            <a:r>
              <a:rPr lang="en-IN" sz="2200"/>
              <a:t>Monte Carlo Simulation generates probability distributions for outcomes using random variables.</a:t>
            </a:r>
          </a:p>
          <a:p>
            <a:pPr lvl="0">
              <a:lnSpc>
                <a:spcPct val="200000"/>
              </a:lnSpc>
            </a:pPr>
            <a:r>
              <a:rPr lang="en-IN" sz="2200" b="1"/>
              <a:t>6. Risk-Adjusted Discount Rate:</a:t>
            </a:r>
            <a:endParaRPr lang="en-IN" sz="2200"/>
          </a:p>
          <a:p>
            <a:pPr lvl="1">
              <a:lnSpc>
                <a:spcPct val="200000"/>
              </a:lnSpc>
            </a:pPr>
            <a:r>
              <a:rPr lang="en-IN" sz="2200"/>
              <a:t>Adjusts the discount rate to reflect project risk.</a:t>
            </a:r>
          </a:p>
          <a:p>
            <a:pPr lvl="0">
              <a:lnSpc>
                <a:spcPct val="200000"/>
              </a:lnSpc>
            </a:pPr>
            <a:r>
              <a:rPr lang="en-IN" sz="2200" b="1"/>
              <a:t>7. Certainty Equivalents:</a:t>
            </a:r>
            <a:endParaRPr lang="en-IN" sz="2200"/>
          </a:p>
          <a:p>
            <a:pPr lvl="1">
              <a:lnSpc>
                <a:spcPct val="200000"/>
              </a:lnSpc>
            </a:pPr>
            <a:r>
              <a:rPr lang="en-IN" sz="2200"/>
              <a:t>Converts uncertain cash flows into risk-free equivalents.</a:t>
            </a:r>
          </a:p>
          <a:p>
            <a:pPr lvl="0">
              <a:lnSpc>
                <a:spcPct val="107000"/>
              </a:lnSpc>
              <a:spcAft>
                <a:spcPts val="800"/>
              </a:spcAft>
              <a:tabLst>
                <a:tab pos="457200" algn="l"/>
              </a:tabLst>
            </a:pPr>
            <a:endParaRPr lang="en-IN" sz="22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10300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fontScale="90000"/>
          </a:bodyPr>
          <a:lstStyle/>
          <a:p>
            <a:pPr algn="ctr">
              <a:lnSpc>
                <a:spcPct val="200000"/>
              </a:lnSpc>
            </a:pPr>
            <a:r>
              <a:rPr lang="en-IN" sz="3600" b="1"/>
              <a:t>Mitigating Risks</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296883" y="1396243"/>
            <a:ext cx="11067803" cy="3785652"/>
          </a:xfrm>
          <a:prstGeom prst="rect">
            <a:avLst/>
          </a:prstGeom>
        </p:spPr>
        <p:txBody>
          <a:bodyPr wrap="square">
            <a:spAutoFit/>
          </a:bodyPr>
          <a:lstStyle/>
          <a:p>
            <a:pPr marL="342900" lvl="0" indent="-342900">
              <a:lnSpc>
                <a:spcPct val="200000"/>
              </a:lnSpc>
              <a:buFont typeface="Arial" panose="020B0604020202020204" pitchFamily="34" charset="0"/>
              <a:buChar char="•"/>
            </a:pPr>
            <a:r>
              <a:rPr lang="en-IN" sz="2400"/>
              <a:t>Diversification of investments.</a:t>
            </a:r>
          </a:p>
          <a:p>
            <a:pPr marL="342900" lvl="0" indent="-342900">
              <a:lnSpc>
                <a:spcPct val="200000"/>
              </a:lnSpc>
              <a:buFont typeface="Arial" panose="020B0604020202020204" pitchFamily="34" charset="0"/>
              <a:buChar char="•"/>
            </a:pPr>
            <a:r>
              <a:rPr lang="en-IN" sz="2400"/>
              <a:t>Hedging financial risks using derivatives.</a:t>
            </a:r>
          </a:p>
          <a:p>
            <a:pPr marL="342900" lvl="0" indent="-342900">
              <a:lnSpc>
                <a:spcPct val="200000"/>
              </a:lnSpc>
              <a:buFont typeface="Arial" panose="020B0604020202020204" pitchFamily="34" charset="0"/>
              <a:buChar char="•"/>
            </a:pPr>
            <a:r>
              <a:rPr lang="en-IN" sz="2400"/>
              <a:t>Contingency planning and budgeting.</a:t>
            </a:r>
          </a:p>
          <a:p>
            <a:pPr marL="342900" lvl="0" indent="-342900">
              <a:lnSpc>
                <a:spcPct val="200000"/>
              </a:lnSpc>
              <a:buFont typeface="Arial" panose="020B0604020202020204" pitchFamily="34" charset="0"/>
              <a:buChar char="•"/>
            </a:pPr>
            <a:r>
              <a:rPr lang="en-IN" sz="2400"/>
              <a:t>Insurance for operational risks.</a:t>
            </a:r>
          </a:p>
          <a:p>
            <a:pPr marL="342900" lvl="0" indent="-342900">
              <a:lnSpc>
                <a:spcPct val="200000"/>
              </a:lnSpc>
              <a:buFont typeface="Arial" panose="020B0604020202020204" pitchFamily="34" charset="0"/>
              <a:buChar char="•"/>
            </a:pPr>
            <a:r>
              <a:rPr lang="en-IN" sz="2400"/>
              <a:t>Regular monitoring and review.</a:t>
            </a: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451261" y="1377538"/>
            <a:ext cx="11162807"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438582"/>
          </a:xfrm>
          <a:prstGeom prst="rect">
            <a:avLst/>
          </a:prstGeom>
        </p:spPr>
        <p:txBody>
          <a:bodyPr wrap="square">
            <a:spAutoFit/>
          </a:bodyPr>
          <a:lstStyle/>
          <a:p>
            <a:pPr lvl="0">
              <a:lnSpc>
                <a:spcPct val="107000"/>
              </a:lnSpc>
              <a:spcAft>
                <a:spcPts val="800"/>
              </a:spcAft>
              <a:tabLst>
                <a:tab pos="457200" algn="l"/>
              </a:tabLst>
            </a:pPr>
            <a:endParaRPr lang="en-IN" sz="22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81553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Preparation of Projected Financial Statements</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4493538"/>
          </a:xfrm>
          <a:prstGeom prst="rect">
            <a:avLst/>
          </a:prstGeom>
        </p:spPr>
        <p:txBody>
          <a:bodyPr wrap="square">
            <a:spAutoFit/>
          </a:bodyPr>
          <a:lstStyle/>
          <a:p>
            <a:pPr algn="just"/>
            <a:r>
              <a:rPr lang="en-IN" sz="2200"/>
              <a:t>Projected financial statements are forward-looking documents that estimate a company's financial position and performance for a future period, typically based on assumptions about revenues, costs, and other financial metrics. </a:t>
            </a:r>
          </a:p>
          <a:p>
            <a:pPr algn="just"/>
            <a:r>
              <a:rPr lang="en-IN" sz="2200"/>
              <a:t>A </a:t>
            </a:r>
            <a:r>
              <a:rPr lang="en-IN" sz="2200" b="1"/>
              <a:t>projected balance sheet</a:t>
            </a:r>
            <a:r>
              <a:rPr lang="en-IN" sz="2200"/>
              <a:t> is a key part of these statements and provides a snapshot of the company's expected financial position at the end of a specific period.</a:t>
            </a:r>
          </a:p>
          <a:p>
            <a:pPr algn="just"/>
            <a:r>
              <a:rPr lang="en-IN" sz="2200"/>
              <a:t> </a:t>
            </a:r>
          </a:p>
          <a:p>
            <a:pPr algn="just"/>
            <a:r>
              <a:rPr lang="en-IN" sz="2200" b="1"/>
              <a:t>Steps to Prepare a Projected Balance Sheet</a:t>
            </a:r>
          </a:p>
          <a:p>
            <a:pPr algn="just"/>
            <a:endParaRPr lang="en-IN" sz="2200"/>
          </a:p>
          <a:p>
            <a:pPr lvl="0" algn="just"/>
            <a:r>
              <a:rPr lang="en-IN" sz="2200" b="1"/>
              <a:t>1. Understand the Purpose and Assumptions:</a:t>
            </a:r>
            <a:endParaRPr lang="en-IN" sz="2200"/>
          </a:p>
          <a:p>
            <a:pPr lvl="1" algn="just"/>
            <a:r>
              <a:rPr lang="en-IN" sz="2200"/>
              <a:t>Define the goals of the projection (e.g., loan application, business planning, investment analysis).</a:t>
            </a:r>
          </a:p>
          <a:p>
            <a:pPr lvl="1" algn="just"/>
            <a:r>
              <a:rPr lang="en-IN" sz="2200"/>
              <a:t>Base the projection on realistic assumptions regarding revenues, expenses, capital expenditures, working capital, and financing.</a:t>
            </a:r>
          </a:p>
        </p:txBody>
      </p:sp>
    </p:spTree>
    <p:extLst>
      <p:ext uri="{BB962C8B-B14F-4D97-AF65-F5344CB8AC3E}">
        <p14:creationId xmlns:p14="http://schemas.microsoft.com/office/powerpoint/2010/main" val="31369545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Continue…</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5109091"/>
          </a:xfrm>
          <a:prstGeom prst="rect">
            <a:avLst/>
          </a:prstGeom>
        </p:spPr>
        <p:txBody>
          <a:bodyPr wrap="square">
            <a:spAutoFit/>
          </a:bodyPr>
          <a:lstStyle/>
          <a:p>
            <a:pPr lvl="0"/>
            <a:r>
              <a:rPr lang="en-IN" b="1"/>
              <a:t>2. </a:t>
            </a:r>
            <a:r>
              <a:rPr lang="en-IN" sz="2200" b="1"/>
              <a:t>Start with the Previous Balance Sheet:</a:t>
            </a:r>
            <a:endParaRPr lang="en-IN" sz="2200"/>
          </a:p>
          <a:p>
            <a:pPr lvl="1"/>
            <a:r>
              <a:rPr lang="en-IN" sz="2200"/>
              <a:t>Use the most recent balance sheet as a baseline.</a:t>
            </a:r>
          </a:p>
          <a:p>
            <a:pPr lvl="0"/>
            <a:r>
              <a:rPr lang="en-IN" sz="2200" b="1"/>
              <a:t>3. Project Assets:</a:t>
            </a:r>
            <a:endParaRPr lang="en-IN" sz="2200"/>
          </a:p>
          <a:p>
            <a:pPr lvl="1"/>
            <a:r>
              <a:rPr lang="en-IN" sz="2200" b="1"/>
              <a:t>Current Assets:</a:t>
            </a:r>
            <a:endParaRPr lang="en-IN" sz="2200"/>
          </a:p>
          <a:p>
            <a:pPr marL="1257300" lvl="2" indent="-342900">
              <a:buFont typeface="Arial" panose="020B0604020202020204" pitchFamily="34" charset="0"/>
              <a:buChar char="•"/>
            </a:pPr>
            <a:r>
              <a:rPr lang="en-IN" sz="2200" b="1"/>
              <a:t>Cash and Cash Equivalents:</a:t>
            </a:r>
            <a:r>
              <a:rPr lang="en-IN" sz="2200"/>
              <a:t> Estimate based on cash flow projections.</a:t>
            </a:r>
          </a:p>
          <a:p>
            <a:pPr marL="1257300" lvl="2" indent="-342900">
              <a:buFont typeface="Arial" panose="020B0604020202020204" pitchFamily="34" charset="0"/>
              <a:buChar char="•"/>
            </a:pPr>
            <a:r>
              <a:rPr lang="en-IN" sz="2200" b="1"/>
              <a:t>Accounts Receivable:</a:t>
            </a:r>
            <a:r>
              <a:rPr lang="en-IN" sz="2200"/>
              <a:t> Based on projected credit sales and collection period. Projected Accounts Receivable=Projected Annual Sales365 </a:t>
            </a:r>
            <a:r>
              <a:rPr lang="en-IN" sz="2200" err="1"/>
              <a:t>Days×Average</a:t>
            </a:r>
            <a:r>
              <a:rPr lang="en-IN" sz="2200"/>
              <a:t> Collection </a:t>
            </a:r>
            <a:endParaRPr lang="en-IN" sz="2200" b="1"/>
          </a:p>
          <a:p>
            <a:pPr marL="1257300" lvl="2" indent="-342900">
              <a:buFont typeface="Arial" panose="020B0604020202020204" pitchFamily="34" charset="0"/>
              <a:buChar char="•"/>
            </a:pPr>
            <a:r>
              <a:rPr lang="en-IN" sz="2200" b="1"/>
              <a:t>Inventory:</a:t>
            </a:r>
            <a:r>
              <a:rPr lang="en-IN" sz="2200"/>
              <a:t> Estimate based on expected cost of goods sold (COGS) and inventory turnover. </a:t>
            </a:r>
          </a:p>
          <a:p>
            <a:pPr lvl="1"/>
            <a:endParaRPr lang="en-IN" sz="2200" b="1"/>
          </a:p>
          <a:p>
            <a:pPr lvl="1"/>
            <a:r>
              <a:rPr lang="en-IN" sz="2200" b="1"/>
              <a:t>Non-Current Assets:</a:t>
            </a:r>
            <a:endParaRPr lang="en-IN" sz="2200"/>
          </a:p>
          <a:p>
            <a:pPr lvl="2"/>
            <a:endParaRPr lang="en-IN" sz="2200" b="1"/>
          </a:p>
          <a:p>
            <a:pPr lvl="2"/>
            <a:r>
              <a:rPr lang="en-IN" sz="2200" b="1"/>
              <a:t>Fixed Assets (PPE):</a:t>
            </a:r>
            <a:r>
              <a:rPr lang="en-IN" sz="2200"/>
              <a:t> Account for purchases, disposals, and depreciation.  </a:t>
            </a:r>
          </a:p>
          <a:p>
            <a:pPr lvl="2"/>
            <a:r>
              <a:rPr lang="en-IN" sz="2200"/>
              <a:t>Fixed Assets=Existing Fixed </a:t>
            </a:r>
            <a:r>
              <a:rPr lang="en-IN" sz="2200" err="1"/>
              <a:t>Assets+Capital</a:t>
            </a:r>
            <a:r>
              <a:rPr lang="en-IN" sz="2200"/>
              <a:t> Expenditures−Depreciation</a:t>
            </a:r>
          </a:p>
          <a:p>
            <a:pPr lvl="2"/>
            <a:endParaRPr lang="en-IN"/>
          </a:p>
        </p:txBody>
      </p:sp>
    </p:spTree>
    <p:extLst>
      <p:ext uri="{BB962C8B-B14F-4D97-AF65-F5344CB8AC3E}">
        <p14:creationId xmlns:p14="http://schemas.microsoft.com/office/powerpoint/2010/main" val="33669849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Continue…</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5447645"/>
          </a:xfrm>
          <a:prstGeom prst="rect">
            <a:avLst/>
          </a:prstGeom>
        </p:spPr>
        <p:txBody>
          <a:bodyPr wrap="square">
            <a:spAutoFit/>
          </a:bodyPr>
          <a:lstStyle/>
          <a:p>
            <a:pPr lvl="0"/>
            <a:r>
              <a:rPr lang="en-IN" sz="2200" b="1"/>
              <a:t>Project Liabilities:</a:t>
            </a:r>
          </a:p>
          <a:p>
            <a:pPr marL="742950" lvl="1" indent="-285750">
              <a:buFont typeface="Arial" panose="020B0604020202020204" pitchFamily="34" charset="0"/>
              <a:buChar char="•"/>
            </a:pPr>
            <a:r>
              <a:rPr lang="en-IN" sz="2200" b="1"/>
              <a:t>Current Liabilities:</a:t>
            </a:r>
            <a:endParaRPr lang="en-IN" sz="2200"/>
          </a:p>
          <a:p>
            <a:pPr lvl="2"/>
            <a:r>
              <a:rPr lang="en-IN" sz="2200" b="1"/>
              <a:t>Accounts Payable:</a:t>
            </a:r>
            <a:r>
              <a:rPr lang="en-IN" sz="2200"/>
              <a:t> Estimate based on credit purchases and payment cycle. Include other short-term liabilities like accrued expenses and short-term borrowings.</a:t>
            </a:r>
          </a:p>
          <a:p>
            <a:pPr marL="742950" lvl="1" indent="-285750">
              <a:buFont typeface="Arial" panose="020B0604020202020204" pitchFamily="34" charset="0"/>
              <a:buChar char="•"/>
            </a:pPr>
            <a:r>
              <a:rPr lang="en-IN" sz="2200" b="1"/>
              <a:t>Non-Current Liabilities:</a:t>
            </a:r>
            <a:endParaRPr lang="en-IN" sz="2200"/>
          </a:p>
          <a:p>
            <a:pPr lvl="2"/>
            <a:r>
              <a:rPr lang="en-IN" sz="2200"/>
              <a:t>Include loans and other long-term debt based on repayment schedules and new borrowings.</a:t>
            </a:r>
          </a:p>
          <a:p>
            <a:pPr lvl="0"/>
            <a:r>
              <a:rPr lang="en-IN" sz="2200" b="1"/>
              <a:t>Estimate Equity:</a:t>
            </a:r>
            <a:endParaRPr lang="en-IN" sz="2200"/>
          </a:p>
          <a:p>
            <a:pPr lvl="1"/>
            <a:r>
              <a:rPr lang="en-IN" sz="2200" b="1"/>
              <a:t>Share Capital:</a:t>
            </a:r>
            <a:r>
              <a:rPr lang="en-IN" sz="2200"/>
              <a:t> Reflect planned equity infusions, if any.</a:t>
            </a:r>
          </a:p>
          <a:p>
            <a:pPr lvl="1"/>
            <a:r>
              <a:rPr lang="en-IN" sz="2200" b="1"/>
              <a:t>Retained Earnings:</a:t>
            </a:r>
            <a:r>
              <a:rPr lang="en-IN" sz="2200"/>
              <a:t> Adjust for projected net income and dividends. </a:t>
            </a:r>
          </a:p>
          <a:p>
            <a:pPr lvl="1"/>
            <a:r>
              <a:rPr lang="en-IN" sz="2200"/>
              <a:t>Retained Earnings=Opening Retained </a:t>
            </a:r>
            <a:r>
              <a:rPr lang="en-IN" sz="2200" err="1"/>
              <a:t>Earnings+Projected</a:t>
            </a:r>
            <a:r>
              <a:rPr lang="en-IN" sz="2200"/>
              <a:t> Net Income−Dividends</a:t>
            </a:r>
          </a:p>
          <a:p>
            <a:pPr lvl="0"/>
            <a:endParaRPr lang="en-IN" sz="2200" b="1"/>
          </a:p>
          <a:p>
            <a:pPr lvl="0"/>
            <a:r>
              <a:rPr lang="en-IN" sz="2200" b="1"/>
              <a:t>Ensure the Balance Sheet Balances:</a:t>
            </a:r>
            <a:endParaRPr lang="en-IN" sz="2200"/>
          </a:p>
          <a:p>
            <a:pPr lvl="1"/>
            <a:r>
              <a:rPr lang="en-IN" sz="2200"/>
              <a:t>Total Assets = Total Liabilities + Equity.</a:t>
            </a:r>
          </a:p>
          <a:p>
            <a:pPr lvl="1"/>
            <a:r>
              <a:rPr lang="en-IN" sz="2200"/>
              <a:t>Adjust cash or short-term debt to ensure balance if discrepancies arise.</a:t>
            </a:r>
          </a:p>
          <a:p>
            <a:pPr lvl="2"/>
            <a:endParaRPr lang="en-IN"/>
          </a:p>
        </p:txBody>
      </p:sp>
    </p:spTree>
    <p:extLst>
      <p:ext uri="{BB962C8B-B14F-4D97-AF65-F5344CB8AC3E}">
        <p14:creationId xmlns:p14="http://schemas.microsoft.com/office/powerpoint/2010/main" val="17545353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Structure of a Projected Balance Sheet</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graphicFrame>
        <p:nvGraphicFramePr>
          <p:cNvPr id="6" name="Table 5"/>
          <p:cNvGraphicFramePr>
            <a:graphicFrameLocks noGrp="1"/>
          </p:cNvGraphicFramePr>
          <p:nvPr>
            <p:extLst>
              <p:ext uri="{D42A27DB-BD31-4B8C-83A1-F6EECF244321}">
                <p14:modId xmlns:p14="http://schemas.microsoft.com/office/powerpoint/2010/main" val="2852391449"/>
              </p:ext>
            </p:extLst>
          </p:nvPr>
        </p:nvGraphicFramePr>
        <p:xfrm>
          <a:off x="296880" y="1377542"/>
          <a:ext cx="11566568" cy="4661316"/>
        </p:xfrm>
        <a:graphic>
          <a:graphicData uri="http://schemas.openxmlformats.org/drawingml/2006/table">
            <a:tbl>
              <a:tblPr firstRow="1" firstCol="1" bandRow="1">
                <a:tableStyleId>{5C22544A-7EE6-4342-B048-85BDC9FD1C3A}</a:tableStyleId>
              </a:tblPr>
              <a:tblGrid>
                <a:gridCol w="5783284">
                  <a:extLst>
                    <a:ext uri="{9D8B030D-6E8A-4147-A177-3AD203B41FA5}">
                      <a16:colId xmlns:a16="http://schemas.microsoft.com/office/drawing/2014/main" val="20000"/>
                    </a:ext>
                  </a:extLst>
                </a:gridCol>
                <a:gridCol w="5783284">
                  <a:extLst>
                    <a:ext uri="{9D8B030D-6E8A-4147-A177-3AD203B41FA5}">
                      <a16:colId xmlns:a16="http://schemas.microsoft.com/office/drawing/2014/main" val="20001"/>
                    </a:ext>
                  </a:extLst>
                </a:gridCol>
              </a:tblGrid>
              <a:tr h="258962">
                <a:tc>
                  <a:txBody>
                    <a:bodyPr/>
                    <a:lstStyle/>
                    <a:p>
                      <a:pPr>
                        <a:lnSpc>
                          <a:spcPct val="107000"/>
                        </a:lnSpc>
                        <a:spcAft>
                          <a:spcPts val="800"/>
                        </a:spcAft>
                      </a:pPr>
                      <a:r>
                        <a:rPr lang="en-IN" sz="1100">
                          <a:effectLst/>
                        </a:rPr>
                        <a:t>Assets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Liabilities &amp; Equity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0"/>
                  </a:ext>
                </a:extLst>
              </a:tr>
              <a:tr h="258962">
                <a:tc>
                  <a:txBody>
                    <a:bodyPr/>
                    <a:lstStyle/>
                    <a:p>
                      <a:pPr>
                        <a:lnSpc>
                          <a:spcPct val="107000"/>
                        </a:lnSpc>
                        <a:spcAft>
                          <a:spcPts val="800"/>
                        </a:spcAft>
                      </a:pPr>
                      <a:r>
                        <a:rPr lang="en-IN" sz="1100">
                          <a:effectLst/>
                        </a:rPr>
                        <a:t>Current Assets: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Current Liabilities: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1"/>
                  </a:ext>
                </a:extLst>
              </a:tr>
              <a:tr h="258962">
                <a:tc>
                  <a:txBody>
                    <a:bodyPr/>
                    <a:lstStyle/>
                    <a:p>
                      <a:pPr>
                        <a:lnSpc>
                          <a:spcPct val="107000"/>
                        </a:lnSpc>
                        <a:spcAft>
                          <a:spcPts val="800"/>
                        </a:spcAft>
                      </a:pPr>
                      <a:r>
                        <a:rPr lang="en-IN" sz="1100">
                          <a:effectLst/>
                        </a:rPr>
                        <a:t>- Cash and Cash Equivalents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Accounts Payable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2"/>
                  </a:ext>
                </a:extLst>
              </a:tr>
              <a:tr h="258962">
                <a:tc>
                  <a:txBody>
                    <a:bodyPr/>
                    <a:lstStyle/>
                    <a:p>
                      <a:pPr>
                        <a:lnSpc>
                          <a:spcPct val="107000"/>
                        </a:lnSpc>
                        <a:spcAft>
                          <a:spcPts val="800"/>
                        </a:spcAft>
                      </a:pPr>
                      <a:r>
                        <a:rPr lang="en-IN" sz="1100">
                          <a:effectLst/>
                        </a:rPr>
                        <a:t>- Accounts Receivable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Short-Term Loans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3"/>
                  </a:ext>
                </a:extLst>
              </a:tr>
              <a:tr h="258962">
                <a:tc>
                  <a:txBody>
                    <a:bodyPr/>
                    <a:lstStyle/>
                    <a:p>
                      <a:pPr>
                        <a:lnSpc>
                          <a:spcPct val="107000"/>
                        </a:lnSpc>
                        <a:spcAft>
                          <a:spcPts val="800"/>
                        </a:spcAft>
                      </a:pPr>
                      <a:r>
                        <a:rPr lang="en-IN" sz="1100">
                          <a:effectLst/>
                        </a:rPr>
                        <a:t>- Inventory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Accrued Expenses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4"/>
                  </a:ext>
                </a:extLst>
              </a:tr>
              <a:tr h="258962">
                <a:tc>
                  <a:txBody>
                    <a:bodyPr/>
                    <a:lstStyle/>
                    <a:p>
                      <a:pPr>
                        <a:lnSpc>
                          <a:spcPct val="107000"/>
                        </a:lnSpc>
                        <a:spcAft>
                          <a:spcPts val="800"/>
                        </a:spcAft>
                      </a:pPr>
                      <a:r>
                        <a:rPr lang="en-IN" sz="1100">
                          <a:effectLst/>
                        </a:rPr>
                        <a:t>- Other Current Assets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Other Current Liabilities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5"/>
                  </a:ext>
                </a:extLst>
              </a:tr>
              <a:tr h="258962">
                <a:tc>
                  <a:txBody>
                    <a:bodyPr/>
                    <a:lstStyle/>
                    <a:p>
                      <a:pPr>
                        <a:lnSpc>
                          <a:spcPct val="107000"/>
                        </a:lnSpc>
                        <a:spcAft>
                          <a:spcPts val="800"/>
                        </a:spcAft>
                      </a:pPr>
                      <a:r>
                        <a:rPr lang="en-IN" sz="1100">
                          <a:effectLst/>
                        </a:rPr>
                        <a:t>Total Current Assets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Total Current Liabilities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6"/>
                  </a:ext>
                </a:extLst>
              </a:tr>
              <a:tr h="258962">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7"/>
                  </a:ext>
                </a:extLst>
              </a:tr>
              <a:tr h="258962">
                <a:tc>
                  <a:txBody>
                    <a:bodyPr/>
                    <a:lstStyle/>
                    <a:p>
                      <a:pPr>
                        <a:lnSpc>
                          <a:spcPct val="107000"/>
                        </a:lnSpc>
                        <a:spcAft>
                          <a:spcPts val="800"/>
                        </a:spcAft>
                      </a:pPr>
                      <a:r>
                        <a:rPr lang="en-IN" sz="1100">
                          <a:effectLst/>
                        </a:rPr>
                        <a:t>Non-Current Assets: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Non-Current Liabilities: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8"/>
                  </a:ext>
                </a:extLst>
              </a:tr>
              <a:tr h="258962">
                <a:tc>
                  <a:txBody>
                    <a:bodyPr/>
                    <a:lstStyle/>
                    <a:p>
                      <a:pPr>
                        <a:lnSpc>
                          <a:spcPct val="107000"/>
                        </a:lnSpc>
                        <a:spcAft>
                          <a:spcPts val="800"/>
                        </a:spcAft>
                      </a:pPr>
                      <a:r>
                        <a:rPr lang="en-IN" sz="1100">
                          <a:effectLst/>
                        </a:rPr>
                        <a:t>- Property, Plant &amp; Equipment (Net)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Long-Term Loans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9"/>
                  </a:ext>
                </a:extLst>
              </a:tr>
              <a:tr h="258962">
                <a:tc>
                  <a:txBody>
                    <a:bodyPr/>
                    <a:lstStyle/>
                    <a:p>
                      <a:pPr>
                        <a:lnSpc>
                          <a:spcPct val="107000"/>
                        </a:lnSpc>
                        <a:spcAft>
                          <a:spcPts val="800"/>
                        </a:spcAft>
                      </a:pPr>
                      <a:r>
                        <a:rPr lang="en-IN" sz="1100">
                          <a:effectLst/>
                        </a:rPr>
                        <a:t>- Investments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Other Long-Term Liabilities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0"/>
                  </a:ext>
                </a:extLst>
              </a:tr>
              <a:tr h="258962">
                <a:tc>
                  <a:txBody>
                    <a:bodyPr/>
                    <a:lstStyle/>
                    <a:p>
                      <a:pPr>
                        <a:lnSpc>
                          <a:spcPct val="107000"/>
                        </a:lnSpc>
                        <a:spcAft>
                          <a:spcPts val="800"/>
                        </a:spcAft>
                      </a:pPr>
                      <a:r>
                        <a:rPr lang="en-IN" sz="1100">
                          <a:effectLst/>
                        </a:rPr>
                        <a:t>- Intangible Assets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Total Non-Current Liabilities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1"/>
                  </a:ext>
                </a:extLst>
              </a:tr>
              <a:tr h="258962">
                <a:tc>
                  <a:txBody>
                    <a:bodyPr/>
                    <a:lstStyle/>
                    <a:p>
                      <a:pPr>
                        <a:lnSpc>
                          <a:spcPct val="107000"/>
                        </a:lnSpc>
                        <a:spcAft>
                          <a:spcPts val="800"/>
                        </a:spcAft>
                      </a:pPr>
                      <a:r>
                        <a:rPr lang="en-IN" sz="1100">
                          <a:effectLst/>
                        </a:rPr>
                        <a:t>- Other Non-Current Assets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2"/>
                  </a:ext>
                </a:extLst>
              </a:tr>
              <a:tr h="258962">
                <a:tc>
                  <a:txBody>
                    <a:bodyPr/>
                    <a:lstStyle/>
                    <a:p>
                      <a:pPr>
                        <a:lnSpc>
                          <a:spcPct val="107000"/>
                        </a:lnSpc>
                        <a:spcAft>
                          <a:spcPts val="800"/>
                        </a:spcAft>
                      </a:pPr>
                      <a:r>
                        <a:rPr lang="en-IN" sz="1100">
                          <a:effectLst/>
                        </a:rPr>
                        <a:t>Total Non-Current Assets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Equity: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3"/>
                  </a:ext>
                </a:extLst>
              </a:tr>
              <a:tr h="258962">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Share Capital</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4"/>
                  </a:ext>
                </a:extLst>
              </a:tr>
              <a:tr h="258962">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Retained Earnings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5"/>
                  </a:ext>
                </a:extLst>
              </a:tr>
              <a:tr h="258962">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Total Equity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6"/>
                  </a:ext>
                </a:extLst>
              </a:tr>
              <a:tr h="258962">
                <a:tc>
                  <a:txBody>
                    <a:bodyPr/>
                    <a:lstStyle/>
                    <a:p>
                      <a:pPr>
                        <a:lnSpc>
                          <a:spcPct val="107000"/>
                        </a:lnSpc>
                        <a:spcAft>
                          <a:spcPts val="800"/>
                        </a:spcAft>
                      </a:pPr>
                      <a:r>
                        <a:rPr lang="en-IN" sz="1100">
                          <a:effectLst/>
                        </a:rPr>
                        <a:t>Total Assets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Total Liabilities + Equity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26077312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r>
              <a:rPr lang="en-IN" sz="3600" b="1"/>
              <a:t>Example of a Projected Balance Sheet</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graphicFrame>
        <p:nvGraphicFramePr>
          <p:cNvPr id="3" name="Table 2"/>
          <p:cNvGraphicFramePr>
            <a:graphicFrameLocks noGrp="1"/>
          </p:cNvGraphicFramePr>
          <p:nvPr>
            <p:extLst>
              <p:ext uri="{D42A27DB-BD31-4B8C-83A1-F6EECF244321}">
                <p14:modId xmlns:p14="http://schemas.microsoft.com/office/powerpoint/2010/main" val="451072089"/>
              </p:ext>
            </p:extLst>
          </p:nvPr>
        </p:nvGraphicFramePr>
        <p:xfrm>
          <a:off x="296882" y="1246910"/>
          <a:ext cx="11704618" cy="4214880"/>
        </p:xfrm>
        <a:graphic>
          <a:graphicData uri="http://schemas.openxmlformats.org/drawingml/2006/table">
            <a:tbl>
              <a:tblPr firstRow="1" firstCol="1" bandRow="1">
                <a:tableStyleId>{5C22544A-7EE6-4342-B048-85BDC9FD1C3A}</a:tableStyleId>
              </a:tblPr>
              <a:tblGrid>
                <a:gridCol w="5852309">
                  <a:extLst>
                    <a:ext uri="{9D8B030D-6E8A-4147-A177-3AD203B41FA5}">
                      <a16:colId xmlns:a16="http://schemas.microsoft.com/office/drawing/2014/main" val="20000"/>
                    </a:ext>
                  </a:extLst>
                </a:gridCol>
                <a:gridCol w="5852309">
                  <a:extLst>
                    <a:ext uri="{9D8B030D-6E8A-4147-A177-3AD203B41FA5}">
                      <a16:colId xmlns:a16="http://schemas.microsoft.com/office/drawing/2014/main" val="20001"/>
                    </a:ext>
                  </a:extLst>
                </a:gridCol>
              </a:tblGrid>
              <a:tr h="263430">
                <a:tc>
                  <a:txBody>
                    <a:bodyPr/>
                    <a:lstStyle/>
                    <a:p>
                      <a:pPr>
                        <a:lnSpc>
                          <a:spcPct val="107000"/>
                        </a:lnSpc>
                        <a:spcAft>
                          <a:spcPts val="800"/>
                        </a:spcAft>
                      </a:pPr>
                      <a:r>
                        <a:rPr lang="en-IN" sz="1100">
                          <a:effectLst/>
                        </a:rPr>
                        <a:t>Assets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Liabilities &amp; Equity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0"/>
                  </a:ext>
                </a:extLst>
              </a:tr>
              <a:tr h="263430">
                <a:tc>
                  <a:txBody>
                    <a:bodyPr/>
                    <a:lstStyle/>
                    <a:p>
                      <a:pPr>
                        <a:lnSpc>
                          <a:spcPct val="107000"/>
                        </a:lnSpc>
                        <a:spcAft>
                          <a:spcPts val="800"/>
                        </a:spcAft>
                      </a:pPr>
                      <a:r>
                        <a:rPr lang="en-IN" sz="1100">
                          <a:effectLst/>
                        </a:rPr>
                        <a:t>Current Assets: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Current Liabilities: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1"/>
                  </a:ext>
                </a:extLst>
              </a:tr>
              <a:tr h="263430">
                <a:tc>
                  <a:txBody>
                    <a:bodyPr/>
                    <a:lstStyle/>
                    <a:p>
                      <a:pPr>
                        <a:lnSpc>
                          <a:spcPct val="107000"/>
                        </a:lnSpc>
                        <a:spcAft>
                          <a:spcPts val="800"/>
                        </a:spcAft>
                      </a:pPr>
                      <a:r>
                        <a:rPr lang="en-IN" sz="1100">
                          <a:effectLst/>
                        </a:rPr>
                        <a:t>- Cash and Cash Equivalents: $20,000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Accounts Payable: $10,000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2"/>
                  </a:ext>
                </a:extLst>
              </a:tr>
              <a:tr h="263430">
                <a:tc>
                  <a:txBody>
                    <a:bodyPr/>
                    <a:lstStyle/>
                    <a:p>
                      <a:pPr>
                        <a:lnSpc>
                          <a:spcPct val="107000"/>
                        </a:lnSpc>
                        <a:spcAft>
                          <a:spcPts val="800"/>
                        </a:spcAft>
                      </a:pPr>
                      <a:r>
                        <a:rPr lang="en-IN" sz="1100">
                          <a:effectLst/>
                        </a:rPr>
                        <a:t>- Accounts Receivable: $30,000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Short-Term Loans: $15,000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3"/>
                  </a:ext>
                </a:extLst>
              </a:tr>
              <a:tr h="263430">
                <a:tc>
                  <a:txBody>
                    <a:bodyPr/>
                    <a:lstStyle/>
                    <a:p>
                      <a:pPr>
                        <a:lnSpc>
                          <a:spcPct val="107000"/>
                        </a:lnSpc>
                        <a:spcAft>
                          <a:spcPts val="800"/>
                        </a:spcAft>
                      </a:pPr>
                      <a:r>
                        <a:rPr lang="en-IN" sz="1100">
                          <a:effectLst/>
                        </a:rPr>
                        <a:t>- Inventory: $40,000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Accrued Expenses: $5,000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4"/>
                  </a:ext>
                </a:extLst>
              </a:tr>
              <a:tr h="263430">
                <a:tc>
                  <a:txBody>
                    <a:bodyPr/>
                    <a:lstStyle/>
                    <a:p>
                      <a:pPr>
                        <a:lnSpc>
                          <a:spcPct val="107000"/>
                        </a:lnSpc>
                        <a:spcAft>
                          <a:spcPts val="800"/>
                        </a:spcAft>
                      </a:pPr>
                      <a:r>
                        <a:rPr lang="en-IN" sz="1100">
                          <a:effectLst/>
                        </a:rPr>
                        <a:t>- Other Current Assets: $10,000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Total Current Liabilities: $30,000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5"/>
                  </a:ext>
                </a:extLst>
              </a:tr>
              <a:tr h="263430">
                <a:tc>
                  <a:txBody>
                    <a:bodyPr/>
                    <a:lstStyle/>
                    <a:p>
                      <a:pPr>
                        <a:lnSpc>
                          <a:spcPct val="107000"/>
                        </a:lnSpc>
                        <a:spcAft>
                          <a:spcPts val="800"/>
                        </a:spcAft>
                      </a:pPr>
                      <a:r>
                        <a:rPr lang="en-IN" sz="1100">
                          <a:effectLst/>
                        </a:rPr>
                        <a:t>Total Current Assets: $100,000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6"/>
                  </a:ext>
                </a:extLst>
              </a:tr>
              <a:tr h="263430">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Non-Current Liabilities: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7"/>
                  </a:ext>
                </a:extLst>
              </a:tr>
              <a:tr h="263430">
                <a:tc>
                  <a:txBody>
                    <a:bodyPr/>
                    <a:lstStyle/>
                    <a:p>
                      <a:pPr>
                        <a:lnSpc>
                          <a:spcPct val="107000"/>
                        </a:lnSpc>
                        <a:spcAft>
                          <a:spcPts val="800"/>
                        </a:spcAft>
                      </a:pPr>
                      <a:r>
                        <a:rPr lang="en-IN" sz="1100">
                          <a:effectLst/>
                        </a:rPr>
                        <a:t>Non-Current Assets: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Long-Term Loans: $40,000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8"/>
                  </a:ext>
                </a:extLst>
              </a:tr>
              <a:tr h="263430">
                <a:tc>
                  <a:txBody>
                    <a:bodyPr/>
                    <a:lstStyle/>
                    <a:p>
                      <a:pPr>
                        <a:lnSpc>
                          <a:spcPct val="107000"/>
                        </a:lnSpc>
                        <a:spcAft>
                          <a:spcPts val="800"/>
                        </a:spcAft>
                      </a:pPr>
                      <a:r>
                        <a:rPr lang="en-IN" sz="1100">
                          <a:effectLst/>
                        </a:rPr>
                        <a:t>- Property, Plant &amp; Equipment (Net): $80,000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Total Non-Current Liabilities: $40,000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9"/>
                  </a:ext>
                </a:extLst>
              </a:tr>
              <a:tr h="263430">
                <a:tc>
                  <a:txBody>
                    <a:bodyPr/>
                    <a:lstStyle/>
                    <a:p>
                      <a:pPr>
                        <a:lnSpc>
                          <a:spcPct val="107000"/>
                        </a:lnSpc>
                        <a:spcAft>
                          <a:spcPts val="800"/>
                        </a:spcAft>
                      </a:pPr>
                      <a:r>
                        <a:rPr lang="en-IN" sz="1100">
                          <a:effectLst/>
                        </a:rPr>
                        <a:t>- Investments: $20,000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0"/>
                  </a:ext>
                </a:extLst>
              </a:tr>
              <a:tr h="263430">
                <a:tc>
                  <a:txBody>
                    <a:bodyPr/>
                    <a:lstStyle/>
                    <a:p>
                      <a:pPr>
                        <a:lnSpc>
                          <a:spcPct val="107000"/>
                        </a:lnSpc>
                        <a:spcAft>
                          <a:spcPts val="800"/>
                        </a:spcAft>
                      </a:pPr>
                      <a:r>
                        <a:rPr lang="en-IN" sz="1100">
                          <a:effectLst/>
                        </a:rPr>
                        <a:t>Total Non-Current Assets: $100,000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Equity: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1"/>
                  </a:ext>
                </a:extLst>
              </a:tr>
              <a:tr h="263430">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Share Capital: $70,000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2"/>
                  </a:ext>
                </a:extLst>
              </a:tr>
              <a:tr h="263430">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 Retained Earnings: $60,000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3"/>
                  </a:ext>
                </a:extLst>
              </a:tr>
              <a:tr h="263430">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Total Equity: $130,000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4"/>
                  </a:ext>
                </a:extLst>
              </a:tr>
              <a:tr h="263430">
                <a:tc>
                  <a:txBody>
                    <a:bodyPr/>
                    <a:lstStyle/>
                    <a:p>
                      <a:pPr>
                        <a:lnSpc>
                          <a:spcPct val="107000"/>
                        </a:lnSpc>
                        <a:spcAft>
                          <a:spcPts val="800"/>
                        </a:spcAft>
                      </a:pPr>
                      <a:r>
                        <a:rPr lang="en-IN" sz="1100">
                          <a:effectLst/>
                        </a:rPr>
                        <a:t>Total Assets: $200,000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Total Liabilities + Equity: $200,000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1420538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5194371"/>
          </a:xfrm>
          <a:prstGeom prst="rect">
            <a:avLst/>
          </a:prstGeom>
        </p:spPr>
        <p:txBody>
          <a:bodyPr wrap="square">
            <a:spAutoFit/>
          </a:bodyPr>
          <a:lstStyle/>
          <a:p>
            <a:r>
              <a:rPr lang="en-IN" sz="2200"/>
              <a:t>A projected balance sheet is a critical tool for stakeholders to evaluate the financial viability of a business or project.</a:t>
            </a:r>
          </a:p>
          <a:p>
            <a:r>
              <a:rPr lang="en-IN" sz="2200" b="1"/>
              <a:t>1. Projected Income Statement</a:t>
            </a:r>
            <a:endParaRPr lang="en-IN" sz="2200"/>
          </a:p>
          <a:p>
            <a:r>
              <a:rPr lang="en-IN" sz="2200"/>
              <a:t>The projected income statement (profit and loss statement) estimates a company's revenues, expenses, and profits for a specific future period.</a:t>
            </a:r>
          </a:p>
          <a:p>
            <a:r>
              <a:rPr lang="en-IN" sz="2200" b="1"/>
              <a:t>Steps to Prepare a Projected Income Statement</a:t>
            </a:r>
          </a:p>
          <a:p>
            <a:endParaRPr lang="en-IN" sz="2200"/>
          </a:p>
          <a:p>
            <a:pPr lvl="0"/>
            <a:r>
              <a:rPr lang="en-IN" sz="2200" b="1"/>
              <a:t>Forecast Revenue:</a:t>
            </a:r>
            <a:endParaRPr lang="en-IN" sz="2200"/>
          </a:p>
          <a:p>
            <a:pPr lvl="1"/>
            <a:r>
              <a:rPr lang="en-IN" sz="2200"/>
              <a:t>Use historical data, market trends, and sales projections to estimate revenue.</a:t>
            </a:r>
          </a:p>
          <a:p>
            <a:pPr lvl="1"/>
            <a:r>
              <a:rPr lang="en-IN" sz="2200"/>
              <a:t>Formula:  </a:t>
            </a:r>
            <a:r>
              <a:rPr lang="en-IN" sz="2200" err="1"/>
              <a:t>Volume×Average</a:t>
            </a:r>
            <a:r>
              <a:rPr lang="en-IN" sz="2200"/>
              <a:t> Selling Price</a:t>
            </a:r>
          </a:p>
          <a:p>
            <a:pPr lvl="1"/>
            <a:endParaRPr lang="en-IN" sz="2200"/>
          </a:p>
          <a:p>
            <a:pPr lvl="0"/>
            <a:r>
              <a:rPr lang="en-IN" sz="2200" b="1"/>
              <a:t>Estimate Cost of Goods Sold (COGS):</a:t>
            </a:r>
            <a:endParaRPr lang="en-IN" sz="2200"/>
          </a:p>
          <a:p>
            <a:pPr lvl="1"/>
            <a:r>
              <a:rPr lang="en-IN" sz="2200"/>
              <a:t>Include direct costs such as raw materials, </a:t>
            </a:r>
            <a:r>
              <a:rPr lang="en-IN" sz="2200" err="1"/>
              <a:t>labor</a:t>
            </a:r>
            <a:r>
              <a:rPr lang="en-IN" sz="2200"/>
              <a:t>, and manufacturing overhead.</a:t>
            </a:r>
          </a:p>
          <a:p>
            <a:pPr lvl="1"/>
            <a:r>
              <a:rPr lang="en-IN" sz="2200"/>
              <a:t>Formula:  </a:t>
            </a:r>
            <a:r>
              <a:rPr lang="en-IN" sz="2200" err="1"/>
              <a:t>Inventory+Purchases−Closing</a:t>
            </a:r>
            <a:r>
              <a:rPr lang="en-IN" sz="2200"/>
              <a:t> Inventory</a:t>
            </a:r>
          </a:p>
          <a:p>
            <a:pPr lvl="0">
              <a:lnSpc>
                <a:spcPct val="107000"/>
              </a:lnSpc>
              <a:spcAft>
                <a:spcPts val="800"/>
              </a:spcAft>
              <a:tabLst>
                <a:tab pos="457200" algn="l"/>
              </a:tabLst>
            </a:pPr>
            <a:endParaRPr lang="en-IN" sz="22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197096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58099"/>
            <a:ext cx="11388436" cy="5170646"/>
          </a:xfrm>
          <a:prstGeom prst="rect">
            <a:avLst/>
          </a:prstGeom>
        </p:spPr>
        <p:txBody>
          <a:bodyPr wrap="square">
            <a:spAutoFit/>
          </a:bodyPr>
          <a:lstStyle/>
          <a:p>
            <a:pPr lvl="0"/>
            <a:r>
              <a:rPr lang="en-IN" sz="2200" b="1"/>
              <a:t>Project Gross Profit:</a:t>
            </a:r>
          </a:p>
          <a:p>
            <a:pPr lvl="0"/>
            <a:endParaRPr lang="en-IN" sz="2200"/>
          </a:p>
          <a:p>
            <a:pPr lvl="1"/>
            <a:r>
              <a:rPr lang="en-IN" sz="2200"/>
              <a:t>Formula: Gross Profit=Revenue−COGS</a:t>
            </a:r>
          </a:p>
          <a:p>
            <a:pPr lvl="1"/>
            <a:endParaRPr lang="en-IN" sz="2200"/>
          </a:p>
          <a:p>
            <a:pPr lvl="0"/>
            <a:r>
              <a:rPr lang="en-IN" sz="2200" b="1"/>
              <a:t>Forecast Operating Expenses:</a:t>
            </a:r>
            <a:endParaRPr lang="en-IN" sz="2200"/>
          </a:p>
          <a:p>
            <a:pPr lvl="1"/>
            <a:r>
              <a:rPr lang="en-IN" sz="2200"/>
              <a:t>Include expenses like salaries, rent, utilities, and marketing costs.</a:t>
            </a:r>
          </a:p>
          <a:p>
            <a:pPr lvl="0"/>
            <a:endParaRPr lang="en-IN" sz="2200" b="1"/>
          </a:p>
          <a:p>
            <a:pPr lvl="0"/>
            <a:r>
              <a:rPr lang="en-IN" sz="2200" b="1"/>
              <a:t>Calculate Operating Income (EBIT):</a:t>
            </a:r>
            <a:endParaRPr lang="en-IN" sz="2200"/>
          </a:p>
          <a:p>
            <a:pPr lvl="1"/>
            <a:r>
              <a:rPr lang="en-IN" sz="2200"/>
              <a:t>Formula:  Income=Gross Profit−Operating Expenses</a:t>
            </a:r>
          </a:p>
          <a:p>
            <a:pPr lvl="0"/>
            <a:endParaRPr lang="en-IN" sz="2200" b="1"/>
          </a:p>
          <a:p>
            <a:pPr lvl="0"/>
            <a:r>
              <a:rPr lang="en-IN" sz="2200" b="1"/>
              <a:t>Estimate Non-Operating Items:</a:t>
            </a:r>
            <a:endParaRPr lang="en-IN" sz="2200"/>
          </a:p>
          <a:p>
            <a:pPr lvl="1"/>
            <a:r>
              <a:rPr lang="en-IN" sz="2200"/>
              <a:t>Include interest, taxes, depreciation, and amortization.</a:t>
            </a:r>
          </a:p>
          <a:p>
            <a:pPr lvl="0"/>
            <a:endParaRPr lang="en-IN" sz="2200" b="1"/>
          </a:p>
          <a:p>
            <a:pPr lvl="0"/>
            <a:r>
              <a:rPr lang="en-IN" sz="2200" b="1"/>
              <a:t>Determine Net Profit:</a:t>
            </a:r>
            <a:endParaRPr lang="en-IN" sz="2200"/>
          </a:p>
          <a:p>
            <a:pPr lvl="1"/>
            <a:r>
              <a:rPr lang="en-IN" sz="2200"/>
              <a:t>Formula: Net Profit=Operating Income−(</a:t>
            </a:r>
            <a:r>
              <a:rPr lang="en-IN" sz="2200" err="1"/>
              <a:t>Interest+Taxes</a:t>
            </a:r>
            <a:r>
              <a:rPr lang="en-IN" sz="2200"/>
              <a:t>)</a:t>
            </a:r>
          </a:p>
        </p:txBody>
      </p:sp>
    </p:spTree>
    <p:extLst>
      <p:ext uri="{BB962C8B-B14F-4D97-AF65-F5344CB8AC3E}">
        <p14:creationId xmlns:p14="http://schemas.microsoft.com/office/powerpoint/2010/main" val="11793058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Format of a Projected Income Statement</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graphicFrame>
        <p:nvGraphicFramePr>
          <p:cNvPr id="3" name="Table 2"/>
          <p:cNvGraphicFramePr>
            <a:graphicFrameLocks noGrp="1"/>
          </p:cNvGraphicFramePr>
          <p:nvPr>
            <p:extLst>
              <p:ext uri="{D42A27DB-BD31-4B8C-83A1-F6EECF244321}">
                <p14:modId xmlns:p14="http://schemas.microsoft.com/office/powerpoint/2010/main" val="1758411418"/>
              </p:ext>
            </p:extLst>
          </p:nvPr>
        </p:nvGraphicFramePr>
        <p:xfrm>
          <a:off x="463138" y="1246908"/>
          <a:ext cx="11388436" cy="4725266"/>
        </p:xfrm>
        <a:graphic>
          <a:graphicData uri="http://schemas.openxmlformats.org/drawingml/2006/table">
            <a:tbl>
              <a:tblPr firstRow="1" firstCol="1" bandRow="1">
                <a:tableStyleId>{5C22544A-7EE6-4342-B048-85BDC9FD1C3A}</a:tableStyleId>
              </a:tblPr>
              <a:tblGrid>
                <a:gridCol w="5694218">
                  <a:extLst>
                    <a:ext uri="{9D8B030D-6E8A-4147-A177-3AD203B41FA5}">
                      <a16:colId xmlns:a16="http://schemas.microsoft.com/office/drawing/2014/main" val="20000"/>
                    </a:ext>
                  </a:extLst>
                </a:gridCol>
                <a:gridCol w="5694218">
                  <a:extLst>
                    <a:ext uri="{9D8B030D-6E8A-4147-A177-3AD203B41FA5}">
                      <a16:colId xmlns:a16="http://schemas.microsoft.com/office/drawing/2014/main" val="20001"/>
                    </a:ext>
                  </a:extLst>
                </a:gridCol>
              </a:tblGrid>
              <a:tr h="337519">
                <a:tc>
                  <a:txBody>
                    <a:bodyPr/>
                    <a:lstStyle/>
                    <a:p>
                      <a:pPr>
                        <a:lnSpc>
                          <a:spcPct val="107000"/>
                        </a:lnSpc>
                        <a:spcAft>
                          <a:spcPts val="800"/>
                        </a:spcAft>
                      </a:pPr>
                      <a:r>
                        <a:rPr lang="en-IN" sz="1100">
                          <a:effectLst/>
                        </a:rPr>
                        <a:t>Particulars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Amount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0"/>
                  </a:ext>
                </a:extLst>
              </a:tr>
              <a:tr h="337519">
                <a:tc>
                  <a:txBody>
                    <a:bodyPr/>
                    <a:lstStyle/>
                    <a:p>
                      <a:pPr>
                        <a:lnSpc>
                          <a:spcPct val="107000"/>
                        </a:lnSpc>
                        <a:spcAft>
                          <a:spcPts val="800"/>
                        </a:spcAft>
                      </a:pPr>
                      <a:r>
                        <a:rPr lang="en-IN" sz="1100">
                          <a:effectLst/>
                        </a:rPr>
                        <a:t>Revenue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100,000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1"/>
                  </a:ext>
                </a:extLst>
              </a:tr>
              <a:tr h="337519">
                <a:tc>
                  <a:txBody>
                    <a:bodyPr/>
                    <a:lstStyle/>
                    <a:p>
                      <a:pPr>
                        <a:lnSpc>
                          <a:spcPct val="107000"/>
                        </a:lnSpc>
                        <a:spcAft>
                          <a:spcPts val="800"/>
                        </a:spcAft>
                      </a:pPr>
                      <a:r>
                        <a:rPr lang="en-IN" sz="1100">
                          <a:effectLst/>
                        </a:rPr>
                        <a:t>Less: Cost of Goods Sold (COGS)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60,000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2"/>
                  </a:ext>
                </a:extLst>
              </a:tr>
              <a:tr h="337519">
                <a:tc>
                  <a:txBody>
                    <a:bodyPr/>
                    <a:lstStyle/>
                    <a:p>
                      <a:pPr>
                        <a:lnSpc>
                          <a:spcPct val="107000"/>
                        </a:lnSpc>
                        <a:spcAft>
                          <a:spcPts val="800"/>
                        </a:spcAft>
                      </a:pPr>
                      <a:r>
                        <a:rPr lang="en-IN" sz="1100">
                          <a:effectLst/>
                        </a:rPr>
                        <a:t>Gross Profit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40,000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3"/>
                  </a:ext>
                </a:extLst>
              </a:tr>
              <a:tr h="337519">
                <a:tc>
                  <a:txBody>
                    <a:bodyPr/>
                    <a:lstStyle/>
                    <a:p>
                      <a:pPr>
                        <a:lnSpc>
                          <a:spcPct val="107000"/>
                        </a:lnSpc>
                        <a:spcAft>
                          <a:spcPts val="800"/>
                        </a:spcAft>
                      </a:pPr>
                      <a:r>
                        <a:rPr lang="en-IN" sz="1100">
                          <a:effectLst/>
                        </a:rPr>
                        <a:t>Operating Expenses: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4"/>
                  </a:ext>
                </a:extLst>
              </a:tr>
              <a:tr h="337519">
                <a:tc>
                  <a:txBody>
                    <a:bodyPr/>
                    <a:lstStyle/>
                    <a:p>
                      <a:pPr>
                        <a:lnSpc>
                          <a:spcPct val="107000"/>
                        </a:lnSpc>
                        <a:spcAft>
                          <a:spcPts val="800"/>
                        </a:spcAft>
                      </a:pPr>
                      <a:r>
                        <a:rPr lang="en-IN" sz="1100">
                          <a:effectLst/>
                        </a:rPr>
                        <a:t>- Salaries and Wages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10,000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5"/>
                  </a:ext>
                </a:extLst>
              </a:tr>
              <a:tr h="337519">
                <a:tc>
                  <a:txBody>
                    <a:bodyPr/>
                    <a:lstStyle/>
                    <a:p>
                      <a:pPr>
                        <a:lnSpc>
                          <a:spcPct val="107000"/>
                        </a:lnSpc>
                        <a:spcAft>
                          <a:spcPts val="800"/>
                        </a:spcAft>
                      </a:pPr>
                      <a:r>
                        <a:rPr lang="en-IN" sz="1100">
                          <a:effectLst/>
                        </a:rPr>
                        <a:t>- Rent and Utilities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5,000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6"/>
                  </a:ext>
                </a:extLst>
              </a:tr>
              <a:tr h="337519">
                <a:tc>
                  <a:txBody>
                    <a:bodyPr/>
                    <a:lstStyle/>
                    <a:p>
                      <a:pPr>
                        <a:lnSpc>
                          <a:spcPct val="107000"/>
                        </a:lnSpc>
                        <a:spcAft>
                          <a:spcPts val="800"/>
                        </a:spcAft>
                      </a:pPr>
                      <a:r>
                        <a:rPr lang="en-IN" sz="1100">
                          <a:effectLst/>
                        </a:rPr>
                        <a:t>- Marketing Expenses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3,000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7"/>
                  </a:ext>
                </a:extLst>
              </a:tr>
              <a:tr h="337519">
                <a:tc>
                  <a:txBody>
                    <a:bodyPr/>
                    <a:lstStyle/>
                    <a:p>
                      <a:pPr>
                        <a:lnSpc>
                          <a:spcPct val="107000"/>
                        </a:lnSpc>
                        <a:spcAft>
                          <a:spcPts val="800"/>
                        </a:spcAft>
                      </a:pPr>
                      <a:r>
                        <a:rPr lang="en-IN" sz="1100">
                          <a:effectLst/>
                        </a:rPr>
                        <a:t>Total Operating Expenses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18,000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8"/>
                  </a:ext>
                </a:extLst>
              </a:tr>
              <a:tr h="337519">
                <a:tc>
                  <a:txBody>
                    <a:bodyPr/>
                    <a:lstStyle/>
                    <a:p>
                      <a:pPr>
                        <a:lnSpc>
                          <a:spcPct val="107000"/>
                        </a:lnSpc>
                        <a:spcAft>
                          <a:spcPts val="800"/>
                        </a:spcAft>
                      </a:pPr>
                      <a:r>
                        <a:rPr lang="en-IN" sz="1100">
                          <a:effectLst/>
                        </a:rPr>
                        <a:t>Operating Income (EBIT)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22,000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09"/>
                  </a:ext>
                </a:extLst>
              </a:tr>
              <a:tr h="337519">
                <a:tc>
                  <a:txBody>
                    <a:bodyPr/>
                    <a:lstStyle/>
                    <a:p>
                      <a:pPr>
                        <a:lnSpc>
                          <a:spcPct val="107000"/>
                        </a:lnSpc>
                        <a:spcAft>
                          <a:spcPts val="800"/>
                        </a:spcAft>
                      </a:pPr>
                      <a:r>
                        <a:rPr lang="en-IN" sz="1100">
                          <a:effectLst/>
                        </a:rPr>
                        <a:t>Less: Interest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2,000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0"/>
                  </a:ext>
                </a:extLst>
              </a:tr>
              <a:tr h="337519">
                <a:tc>
                  <a:txBody>
                    <a:bodyPr/>
                    <a:lstStyle/>
                    <a:p>
                      <a:pPr>
                        <a:lnSpc>
                          <a:spcPct val="107000"/>
                        </a:lnSpc>
                        <a:spcAft>
                          <a:spcPts val="800"/>
                        </a:spcAft>
                      </a:pPr>
                      <a:r>
                        <a:rPr lang="en-IN" sz="1100">
                          <a:effectLst/>
                        </a:rPr>
                        <a:t>Less: Depreciation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3,000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1"/>
                  </a:ext>
                </a:extLst>
              </a:tr>
              <a:tr h="337519">
                <a:tc>
                  <a:txBody>
                    <a:bodyPr/>
                    <a:lstStyle/>
                    <a:p>
                      <a:pPr>
                        <a:lnSpc>
                          <a:spcPct val="107000"/>
                        </a:lnSpc>
                        <a:spcAft>
                          <a:spcPts val="800"/>
                        </a:spcAft>
                      </a:pPr>
                      <a:r>
                        <a:rPr lang="en-IN" sz="1100">
                          <a:effectLst/>
                        </a:rPr>
                        <a:t>Less: Taxes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5,000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2"/>
                  </a:ext>
                </a:extLst>
              </a:tr>
              <a:tr h="337519">
                <a:tc>
                  <a:txBody>
                    <a:bodyPr/>
                    <a:lstStyle/>
                    <a:p>
                      <a:pPr>
                        <a:lnSpc>
                          <a:spcPct val="107000"/>
                        </a:lnSpc>
                        <a:spcAft>
                          <a:spcPts val="800"/>
                        </a:spcAft>
                      </a:pPr>
                      <a:r>
                        <a:rPr lang="en-IN" sz="1100">
                          <a:effectLst/>
                        </a:rPr>
                        <a:t>Net Profit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1100">
                          <a:effectLst/>
                        </a:rPr>
                        <a:t>12,000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7593241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r>
              <a:rPr lang="en-IN" sz="3600" b="1"/>
              <a:t>Projected Funds Flow Statement</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4832092"/>
          </a:xfrm>
          <a:prstGeom prst="rect">
            <a:avLst/>
          </a:prstGeom>
        </p:spPr>
        <p:txBody>
          <a:bodyPr wrap="square">
            <a:spAutoFit/>
          </a:bodyPr>
          <a:lstStyle/>
          <a:p>
            <a:r>
              <a:rPr lang="en-IN" sz="2200" b="1"/>
              <a:t>Projected Funds Flow Statement</a:t>
            </a:r>
            <a:endParaRPr lang="en-IN" sz="2200"/>
          </a:p>
          <a:p>
            <a:r>
              <a:rPr lang="en-IN" sz="2200"/>
              <a:t>A projected funds flow statement tracks the expected movement of funds between working capital and long-term sources during a specific period.</a:t>
            </a:r>
          </a:p>
          <a:p>
            <a:r>
              <a:rPr lang="en-IN" sz="2200" b="1"/>
              <a:t>Steps to Prepare a Projected Funds Flow Statement</a:t>
            </a:r>
          </a:p>
          <a:p>
            <a:endParaRPr lang="en-IN" sz="2200"/>
          </a:p>
          <a:p>
            <a:pPr lvl="0"/>
            <a:r>
              <a:rPr lang="en-IN" sz="2200" b="1"/>
              <a:t>Determine Changes in Working Capital:</a:t>
            </a:r>
            <a:endParaRPr lang="en-IN" sz="2200"/>
          </a:p>
          <a:p>
            <a:pPr lvl="1"/>
            <a:r>
              <a:rPr lang="en-IN" sz="2200"/>
              <a:t>Calculate increases or decreases in current assets and current liabilities.</a:t>
            </a:r>
          </a:p>
          <a:p>
            <a:pPr lvl="1"/>
            <a:r>
              <a:rPr lang="en-IN" sz="2200"/>
              <a:t>Formula: Change in Working Capital=Current Assets (end)−Current Liabilities (end)</a:t>
            </a:r>
          </a:p>
          <a:p>
            <a:pPr lvl="0"/>
            <a:r>
              <a:rPr lang="en-IN" sz="2200" b="1"/>
              <a:t>Identify Sources of Funds:</a:t>
            </a:r>
            <a:endParaRPr lang="en-IN" sz="2200"/>
          </a:p>
          <a:p>
            <a:pPr lvl="1"/>
            <a:r>
              <a:rPr lang="en-IN" sz="2200"/>
              <a:t>Include capital infusions, long-term loans, asset sales, and net profit from operations.</a:t>
            </a:r>
          </a:p>
          <a:p>
            <a:pPr lvl="0"/>
            <a:r>
              <a:rPr lang="en-IN" sz="2200" b="1"/>
              <a:t>Identify Uses of Funds:</a:t>
            </a:r>
            <a:endParaRPr lang="en-IN" sz="2200"/>
          </a:p>
          <a:p>
            <a:pPr lvl="1"/>
            <a:r>
              <a:rPr lang="en-IN" sz="2200"/>
              <a:t>Include asset purchases, debt repayment, dividend payments, and increases in working capital.</a:t>
            </a:r>
          </a:p>
          <a:p>
            <a:pPr lvl="0"/>
            <a:r>
              <a:rPr lang="en-IN" sz="2200" b="1"/>
              <a:t>Prepare the Statement:</a:t>
            </a:r>
            <a:endParaRPr lang="en-IN" sz="2200"/>
          </a:p>
          <a:p>
            <a:pPr lvl="1"/>
            <a:r>
              <a:rPr lang="en-IN" sz="2200"/>
              <a:t>Display sources and uses of funds, ensuring both sides are equal.</a:t>
            </a:r>
          </a:p>
        </p:txBody>
      </p:sp>
    </p:spTree>
    <p:extLst>
      <p:ext uri="{BB962C8B-B14F-4D97-AF65-F5344CB8AC3E}">
        <p14:creationId xmlns:p14="http://schemas.microsoft.com/office/powerpoint/2010/main" val="37646746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r>
              <a:rPr lang="en-IN" sz="3600" b="1"/>
              <a:t>Preparation of a Detailed Project Report (DPR)</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5170646"/>
          </a:xfrm>
          <a:prstGeom prst="rect">
            <a:avLst/>
          </a:prstGeom>
        </p:spPr>
        <p:txBody>
          <a:bodyPr wrap="square">
            <a:spAutoFit/>
          </a:bodyPr>
          <a:lstStyle/>
          <a:p>
            <a:r>
              <a:rPr lang="en-IN" sz="2200"/>
              <a:t>A </a:t>
            </a:r>
            <a:r>
              <a:rPr lang="en-IN" sz="2200" b="1"/>
              <a:t>Detailed Project Report (DPR)</a:t>
            </a:r>
            <a:r>
              <a:rPr lang="en-IN" sz="2200"/>
              <a:t> is a comprehensive document that provides all critical information about a project. It is essential for decision-making by stakeholders, financial institutions, and investors.</a:t>
            </a:r>
          </a:p>
          <a:p>
            <a:r>
              <a:rPr lang="en-IN" sz="2200" b="1"/>
              <a:t>Key Components of a DPR</a:t>
            </a:r>
            <a:endParaRPr lang="en-IN" sz="2200"/>
          </a:p>
          <a:p>
            <a:pPr lvl="0"/>
            <a:r>
              <a:rPr lang="en-IN" sz="2200" b="1"/>
              <a:t>1. Introduction:</a:t>
            </a:r>
            <a:endParaRPr lang="en-IN" sz="2200"/>
          </a:p>
          <a:p>
            <a:pPr lvl="1"/>
            <a:r>
              <a:rPr lang="en-IN" sz="2200"/>
              <a:t>Overview of the project and its objectives.</a:t>
            </a:r>
          </a:p>
          <a:p>
            <a:pPr lvl="1"/>
            <a:r>
              <a:rPr lang="en-IN" sz="2200"/>
              <a:t>Background of the promoter or organization.</a:t>
            </a:r>
          </a:p>
          <a:p>
            <a:pPr lvl="1"/>
            <a:r>
              <a:rPr lang="en-IN" sz="2200"/>
              <a:t>Rationale for the project (why it is necessary).</a:t>
            </a:r>
          </a:p>
          <a:p>
            <a:pPr lvl="0"/>
            <a:r>
              <a:rPr lang="en-IN" sz="2200" b="1"/>
              <a:t>2. Executive Summary:</a:t>
            </a:r>
            <a:endParaRPr lang="en-IN" sz="2200"/>
          </a:p>
          <a:p>
            <a:pPr lvl="1"/>
            <a:r>
              <a:rPr lang="en-IN" sz="2200"/>
              <a:t>Concise overview of the project.</a:t>
            </a:r>
          </a:p>
          <a:p>
            <a:pPr lvl="1"/>
            <a:r>
              <a:rPr lang="en-IN" sz="2200"/>
              <a:t>Includes project scope, financial highlights, and expected outcomes.</a:t>
            </a:r>
          </a:p>
          <a:p>
            <a:pPr lvl="0"/>
            <a:r>
              <a:rPr lang="en-IN" sz="2200" b="1"/>
              <a:t>3. Market Analysis:</a:t>
            </a:r>
            <a:endParaRPr lang="en-IN" sz="2200"/>
          </a:p>
          <a:p>
            <a:pPr lvl="1"/>
            <a:r>
              <a:rPr lang="en-IN" sz="2200"/>
              <a:t>Industry overview and trends.</a:t>
            </a:r>
          </a:p>
          <a:p>
            <a:pPr lvl="1"/>
            <a:r>
              <a:rPr lang="en-IN" sz="2200"/>
              <a:t>Demand-supply analysis and market potential.</a:t>
            </a:r>
          </a:p>
          <a:p>
            <a:r>
              <a:rPr lang="en-IN" sz="2200"/>
              <a:t>         Competitive landscape and SWOT analysis</a:t>
            </a:r>
          </a:p>
        </p:txBody>
      </p:sp>
    </p:spTree>
    <p:extLst>
      <p:ext uri="{BB962C8B-B14F-4D97-AF65-F5344CB8AC3E}">
        <p14:creationId xmlns:p14="http://schemas.microsoft.com/office/powerpoint/2010/main" val="37456870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US" sz="3600"/>
              <a:t>Continue..</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5016758"/>
          </a:xfrm>
          <a:prstGeom prst="rect">
            <a:avLst/>
          </a:prstGeom>
        </p:spPr>
        <p:txBody>
          <a:bodyPr wrap="square">
            <a:spAutoFit/>
          </a:bodyPr>
          <a:lstStyle/>
          <a:p>
            <a:pPr lvl="0"/>
            <a:r>
              <a:rPr lang="en-IN" sz="2000" b="1"/>
              <a:t>4. Technical Feasibility:</a:t>
            </a:r>
            <a:endParaRPr lang="en-IN" sz="2000"/>
          </a:p>
          <a:p>
            <a:pPr lvl="1"/>
            <a:r>
              <a:rPr lang="en-IN" sz="2000"/>
              <a:t>Project location and infrastructure requirements.</a:t>
            </a:r>
          </a:p>
          <a:p>
            <a:pPr lvl="1"/>
            <a:r>
              <a:rPr lang="en-IN" sz="2000"/>
              <a:t>Technology and production process details.</a:t>
            </a:r>
          </a:p>
          <a:p>
            <a:pPr lvl="1"/>
            <a:r>
              <a:rPr lang="en-IN" sz="2000"/>
              <a:t>Raw material sourcing and supply chain logistics.</a:t>
            </a:r>
          </a:p>
          <a:p>
            <a:pPr lvl="0"/>
            <a:r>
              <a:rPr lang="en-IN" sz="2000" b="1"/>
              <a:t>5. Operational Plan:</a:t>
            </a:r>
            <a:endParaRPr lang="en-IN" sz="2000"/>
          </a:p>
          <a:p>
            <a:pPr lvl="1"/>
            <a:r>
              <a:rPr lang="en-IN" sz="2000"/>
              <a:t>Project implementation schedule (Gantt charts or timelines).</a:t>
            </a:r>
          </a:p>
          <a:p>
            <a:pPr lvl="1"/>
            <a:r>
              <a:rPr lang="en-IN" sz="2000"/>
              <a:t>Workforce requirements and organizational structure.</a:t>
            </a:r>
          </a:p>
          <a:p>
            <a:pPr lvl="0"/>
            <a:r>
              <a:rPr lang="en-IN" sz="2000" b="1"/>
              <a:t>6. Financial Feasibility:</a:t>
            </a:r>
            <a:endParaRPr lang="en-IN" sz="2000"/>
          </a:p>
          <a:p>
            <a:pPr lvl="1"/>
            <a:r>
              <a:rPr lang="en-IN" sz="2000" b="1"/>
              <a:t>Cost of the Project:</a:t>
            </a:r>
            <a:r>
              <a:rPr lang="en-IN" sz="2000"/>
              <a:t> Breakdown of capital expenditure (</a:t>
            </a:r>
            <a:r>
              <a:rPr lang="en-IN" sz="2000" err="1"/>
              <a:t>CapEx</a:t>
            </a:r>
            <a:r>
              <a:rPr lang="en-IN" sz="2000"/>
              <a:t>) and operational expenditure (</a:t>
            </a:r>
            <a:r>
              <a:rPr lang="en-IN" sz="2000" err="1"/>
              <a:t>OpEx</a:t>
            </a:r>
            <a:r>
              <a:rPr lang="en-IN" sz="2000"/>
              <a:t>).</a:t>
            </a:r>
          </a:p>
          <a:p>
            <a:pPr lvl="1"/>
            <a:r>
              <a:rPr lang="en-IN" sz="2000" b="1"/>
              <a:t>Means of Financing:</a:t>
            </a:r>
            <a:r>
              <a:rPr lang="en-IN" sz="2000"/>
              <a:t> Sources of funds (equity, debt, subsidies).</a:t>
            </a:r>
          </a:p>
          <a:p>
            <a:pPr lvl="1"/>
            <a:endParaRPr lang="en-IN" sz="2000"/>
          </a:p>
          <a:p>
            <a:pPr lvl="1"/>
            <a:r>
              <a:rPr lang="en-IN" sz="2000" b="1"/>
              <a:t>Projected Financial Statements:</a:t>
            </a:r>
            <a:endParaRPr lang="en-IN" sz="2000"/>
          </a:p>
          <a:p>
            <a:pPr lvl="2"/>
            <a:r>
              <a:rPr lang="en-IN" sz="2000"/>
              <a:t>Projected Income Statement.</a:t>
            </a:r>
          </a:p>
          <a:p>
            <a:pPr lvl="2"/>
            <a:r>
              <a:rPr lang="en-IN" sz="2000"/>
              <a:t>Projected Balance Sheet.</a:t>
            </a:r>
          </a:p>
          <a:p>
            <a:pPr lvl="2"/>
            <a:r>
              <a:rPr lang="en-IN" sz="2000"/>
              <a:t>Projected Cash Flow Statement.</a:t>
            </a:r>
          </a:p>
          <a:p>
            <a:pPr lvl="1"/>
            <a:r>
              <a:rPr lang="en-IN" sz="2000"/>
              <a:t>Break-even analysis and key financial metrics (e.g., ROI, IRR, NPV).</a:t>
            </a:r>
          </a:p>
        </p:txBody>
      </p:sp>
    </p:spTree>
    <p:extLst>
      <p:ext uri="{BB962C8B-B14F-4D97-AF65-F5344CB8AC3E}">
        <p14:creationId xmlns:p14="http://schemas.microsoft.com/office/powerpoint/2010/main" val="12912495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Continue….</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92391"/>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4832092"/>
          </a:xfrm>
          <a:prstGeom prst="rect">
            <a:avLst/>
          </a:prstGeom>
        </p:spPr>
        <p:txBody>
          <a:bodyPr wrap="square">
            <a:spAutoFit/>
          </a:bodyPr>
          <a:lstStyle/>
          <a:p>
            <a:pPr lvl="0"/>
            <a:r>
              <a:rPr lang="en-IN" sz="2200" b="1"/>
              <a:t>7. Risk Analysis:</a:t>
            </a:r>
            <a:endParaRPr lang="en-IN" sz="2200"/>
          </a:p>
          <a:p>
            <a:pPr lvl="1"/>
            <a:r>
              <a:rPr lang="en-IN" sz="2200"/>
              <a:t>Identification of risks (market, operational, financial).</a:t>
            </a:r>
          </a:p>
          <a:p>
            <a:pPr lvl="1"/>
            <a:r>
              <a:rPr lang="en-IN" sz="2200"/>
              <a:t>Mitigation strategies.</a:t>
            </a:r>
          </a:p>
          <a:p>
            <a:pPr lvl="1"/>
            <a:endParaRPr lang="en-IN" sz="2200"/>
          </a:p>
          <a:p>
            <a:pPr lvl="0"/>
            <a:r>
              <a:rPr lang="en-IN" sz="2200" b="1"/>
              <a:t>8. Regulatory and Environmental Aspects:</a:t>
            </a:r>
            <a:endParaRPr lang="en-IN" sz="2200"/>
          </a:p>
          <a:p>
            <a:pPr lvl="1"/>
            <a:r>
              <a:rPr lang="en-IN" sz="2200"/>
              <a:t>Approvals and clearances required.</a:t>
            </a:r>
          </a:p>
          <a:p>
            <a:pPr lvl="1"/>
            <a:r>
              <a:rPr lang="en-IN" sz="2200"/>
              <a:t>Compliance with environmental laws and regulations.</a:t>
            </a:r>
          </a:p>
          <a:p>
            <a:pPr lvl="1"/>
            <a:endParaRPr lang="en-IN" sz="2200"/>
          </a:p>
          <a:p>
            <a:pPr lvl="0"/>
            <a:r>
              <a:rPr lang="en-IN" sz="2200" b="1"/>
              <a:t>9. Economic and Social Impact:</a:t>
            </a:r>
            <a:endParaRPr lang="en-IN" sz="2200"/>
          </a:p>
          <a:p>
            <a:pPr lvl="1"/>
            <a:r>
              <a:rPr lang="en-IN" sz="2200"/>
              <a:t>Contribution to economic development (job creation, GDP growth).</a:t>
            </a:r>
          </a:p>
          <a:p>
            <a:pPr lvl="1"/>
            <a:r>
              <a:rPr lang="en-IN" sz="2200"/>
              <a:t>Benefits to society or community.</a:t>
            </a:r>
          </a:p>
          <a:p>
            <a:pPr lvl="1"/>
            <a:endParaRPr lang="en-IN" sz="2200"/>
          </a:p>
          <a:p>
            <a:pPr lvl="0"/>
            <a:r>
              <a:rPr lang="en-IN" sz="2200" b="1"/>
              <a:t>10. Annexures:</a:t>
            </a:r>
            <a:endParaRPr lang="en-IN" sz="2200"/>
          </a:p>
          <a:p>
            <a:pPr lvl="1"/>
            <a:r>
              <a:rPr lang="en-IN" sz="2200"/>
              <a:t>Technical drawings, supplier quotations, and other supporting documents.</a:t>
            </a:r>
          </a:p>
        </p:txBody>
      </p:sp>
    </p:spTree>
    <p:extLst>
      <p:ext uri="{BB962C8B-B14F-4D97-AF65-F5344CB8AC3E}">
        <p14:creationId xmlns:p14="http://schemas.microsoft.com/office/powerpoint/2010/main" val="28743123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Steps to Prepare a DPR</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a:p>
            <a:endParaRPr lang="en-IN" dirty="0"/>
          </a:p>
        </p:txBody>
      </p:sp>
      <p:sp>
        <p:nvSpPr>
          <p:cNvPr id="5" name="Rectangle 4"/>
          <p:cNvSpPr/>
          <p:nvPr/>
        </p:nvSpPr>
        <p:spPr>
          <a:xfrm>
            <a:off x="463138" y="1176952"/>
            <a:ext cx="11388436" cy="5447645"/>
          </a:xfrm>
          <a:prstGeom prst="rect">
            <a:avLst/>
          </a:prstGeom>
        </p:spPr>
        <p:txBody>
          <a:bodyPr wrap="square">
            <a:spAutoFit/>
          </a:bodyPr>
          <a:lstStyle/>
          <a:p>
            <a:pPr lvl="0">
              <a:lnSpc>
                <a:spcPct val="150000"/>
              </a:lnSpc>
            </a:pPr>
            <a:r>
              <a:rPr lang="en-IN" sz="2200" b="1"/>
              <a:t>1. Define the Project Scope:</a:t>
            </a:r>
            <a:endParaRPr lang="en-IN" sz="2200"/>
          </a:p>
          <a:p>
            <a:pPr lvl="1">
              <a:lnSpc>
                <a:spcPct val="150000"/>
              </a:lnSpc>
            </a:pPr>
            <a:r>
              <a:rPr lang="en-IN" sz="2200"/>
              <a:t>Clearly outline the goals, deliverables, and boundaries of the project.</a:t>
            </a:r>
          </a:p>
          <a:p>
            <a:pPr lvl="0">
              <a:lnSpc>
                <a:spcPct val="150000"/>
              </a:lnSpc>
            </a:pPr>
            <a:r>
              <a:rPr lang="en-IN" sz="2200" b="1"/>
              <a:t>2. Conduct Feasibility Studies:</a:t>
            </a:r>
            <a:endParaRPr lang="en-IN" sz="2200"/>
          </a:p>
          <a:p>
            <a:pPr lvl="1">
              <a:lnSpc>
                <a:spcPct val="150000"/>
              </a:lnSpc>
            </a:pPr>
            <a:r>
              <a:rPr lang="en-IN" sz="2200" err="1"/>
              <a:t>Analyze</a:t>
            </a:r>
            <a:r>
              <a:rPr lang="en-IN" sz="2200"/>
              <a:t> technical, financial, operational, and environmental viability.</a:t>
            </a:r>
          </a:p>
          <a:p>
            <a:pPr lvl="0">
              <a:lnSpc>
                <a:spcPct val="150000"/>
              </a:lnSpc>
            </a:pPr>
            <a:r>
              <a:rPr lang="en-IN" sz="2200" b="1"/>
              <a:t>3. Gather and </a:t>
            </a:r>
            <a:r>
              <a:rPr lang="en-IN" sz="2200" b="1" err="1"/>
              <a:t>Analyze</a:t>
            </a:r>
            <a:r>
              <a:rPr lang="en-IN" sz="2200" b="1"/>
              <a:t> Data:</a:t>
            </a:r>
            <a:endParaRPr lang="en-IN" sz="2200"/>
          </a:p>
          <a:p>
            <a:pPr lvl="1">
              <a:lnSpc>
                <a:spcPct val="150000"/>
              </a:lnSpc>
            </a:pPr>
            <a:r>
              <a:rPr lang="en-IN" sz="2200"/>
              <a:t>Use reliable sources for market and technical data.</a:t>
            </a:r>
          </a:p>
          <a:p>
            <a:pPr lvl="0">
              <a:lnSpc>
                <a:spcPct val="150000"/>
              </a:lnSpc>
            </a:pPr>
            <a:r>
              <a:rPr lang="en-IN" sz="2200" b="1"/>
              <a:t>4. Develop Financial Projections:</a:t>
            </a:r>
            <a:endParaRPr lang="en-IN" sz="2200"/>
          </a:p>
          <a:p>
            <a:pPr lvl="1">
              <a:lnSpc>
                <a:spcPct val="150000"/>
              </a:lnSpc>
            </a:pPr>
            <a:r>
              <a:rPr lang="en-IN" sz="2200"/>
              <a:t>Use realistic assumptions for revenue, costs, and investments.</a:t>
            </a:r>
          </a:p>
          <a:p>
            <a:pPr lvl="0">
              <a:lnSpc>
                <a:spcPct val="150000"/>
              </a:lnSpc>
            </a:pPr>
            <a:r>
              <a:rPr lang="en-IN" sz="2200" b="1"/>
              <a:t>5. Compile and Present:</a:t>
            </a:r>
            <a:endParaRPr lang="en-IN" sz="2200"/>
          </a:p>
          <a:p>
            <a:pPr lvl="0">
              <a:lnSpc>
                <a:spcPct val="150000"/>
              </a:lnSpc>
            </a:pPr>
            <a:r>
              <a:rPr lang="en-IN" sz="2200"/>
              <a:t>Structure the report logically with visual aids (charts, graphs, tables).</a:t>
            </a:r>
          </a:p>
          <a:p>
            <a:pPr lvl="1"/>
            <a:endParaRPr lang="en-IN"/>
          </a:p>
        </p:txBody>
      </p:sp>
    </p:spTree>
    <p:extLst>
      <p:ext uri="{BB962C8B-B14F-4D97-AF65-F5344CB8AC3E}">
        <p14:creationId xmlns:p14="http://schemas.microsoft.com/office/powerpoint/2010/main" val="14692772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Project finance</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5109091"/>
          </a:xfrm>
          <a:prstGeom prst="rect">
            <a:avLst/>
          </a:prstGeom>
        </p:spPr>
        <p:txBody>
          <a:bodyPr wrap="square">
            <a:spAutoFit/>
          </a:bodyPr>
          <a:lstStyle/>
          <a:p>
            <a:pPr algn="just"/>
            <a:r>
              <a:rPr lang="en-IN" sz="2200" b="1"/>
              <a:t>Project finance</a:t>
            </a:r>
            <a:r>
              <a:rPr lang="en-IN" sz="2200"/>
              <a:t> refers to the long-term funding of infrastructure, industrial projects, and other large-scale initiatives. It is primarily based on the projected cash flows of the project, rather than the balance sheet of the sponsor.</a:t>
            </a:r>
          </a:p>
          <a:p>
            <a:pPr algn="just"/>
            <a:r>
              <a:rPr lang="en-IN" sz="2200"/>
              <a:t> </a:t>
            </a:r>
          </a:p>
          <a:p>
            <a:pPr algn="just"/>
            <a:r>
              <a:rPr lang="en-IN" sz="2200" b="1"/>
              <a:t>Key Features of Project Finance</a:t>
            </a:r>
          </a:p>
          <a:p>
            <a:pPr algn="just"/>
            <a:endParaRPr lang="en-IN" sz="2200"/>
          </a:p>
          <a:p>
            <a:pPr marL="342900" lvl="0" indent="-342900" algn="just">
              <a:buFont typeface="Arial" panose="020B0604020202020204" pitchFamily="34" charset="0"/>
              <a:buChar char="•"/>
            </a:pPr>
            <a:r>
              <a:rPr lang="en-IN" sz="2200" b="1"/>
              <a:t>Limited or Non-Recourse Financing:</a:t>
            </a:r>
            <a:endParaRPr lang="en-IN" sz="2200"/>
          </a:p>
          <a:p>
            <a:pPr lvl="1" algn="just"/>
            <a:r>
              <a:rPr lang="en-IN" sz="2200"/>
              <a:t>Lenders rely on project cash flows for repayment, with limited recourse to the sponsors.</a:t>
            </a:r>
          </a:p>
          <a:p>
            <a:pPr marL="342900" lvl="0" indent="-342900" algn="just">
              <a:buFont typeface="Arial" panose="020B0604020202020204" pitchFamily="34" charset="0"/>
              <a:buChar char="•"/>
            </a:pPr>
            <a:r>
              <a:rPr lang="en-IN" sz="2200" b="1"/>
              <a:t>Special Purpose Vehicle (SPV):</a:t>
            </a:r>
            <a:endParaRPr lang="en-IN" sz="2200"/>
          </a:p>
          <a:p>
            <a:pPr lvl="1" algn="just"/>
            <a:r>
              <a:rPr lang="en-IN" sz="2200"/>
              <a:t>A separate entity created to execute the project, isolating financial risks.</a:t>
            </a:r>
          </a:p>
          <a:p>
            <a:pPr marL="342900" lvl="0" indent="-342900" algn="just">
              <a:buFont typeface="Arial" panose="020B0604020202020204" pitchFamily="34" charset="0"/>
              <a:buChar char="•"/>
            </a:pPr>
            <a:r>
              <a:rPr lang="en-IN" sz="2200" b="1"/>
              <a:t>Risk Sharing:</a:t>
            </a:r>
            <a:endParaRPr lang="en-IN" sz="2200"/>
          </a:p>
          <a:p>
            <a:pPr lvl="1" algn="just"/>
            <a:r>
              <a:rPr lang="en-IN" sz="2200"/>
              <a:t>Risks are distributed among stakeholders, including sponsors, lenders, and contractors.</a:t>
            </a:r>
          </a:p>
          <a:p>
            <a:pPr marL="342900" lvl="0" indent="-342900" algn="just">
              <a:buFont typeface="Arial" panose="020B0604020202020204" pitchFamily="34" charset="0"/>
              <a:buChar char="•"/>
            </a:pPr>
            <a:r>
              <a:rPr lang="en-IN" sz="2200" b="1"/>
              <a:t>Off-Balance-Sheet Financing:</a:t>
            </a:r>
            <a:endParaRPr lang="en-IN" sz="2200"/>
          </a:p>
          <a:p>
            <a:pPr lvl="1" algn="just"/>
            <a:r>
              <a:rPr lang="en-IN" sz="2200"/>
              <a:t>Liabilities are not included in the sponsor's balance sheet.</a:t>
            </a:r>
          </a:p>
          <a:p>
            <a:pPr lvl="1"/>
            <a:endParaRPr lang="en-IN"/>
          </a:p>
        </p:txBody>
      </p:sp>
    </p:spTree>
    <p:extLst>
      <p:ext uri="{BB962C8B-B14F-4D97-AF65-F5344CB8AC3E}">
        <p14:creationId xmlns:p14="http://schemas.microsoft.com/office/powerpoint/2010/main" val="4206285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Key Components of Project Finance</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5078313"/>
          </a:xfrm>
          <a:prstGeom prst="rect">
            <a:avLst/>
          </a:prstGeom>
        </p:spPr>
        <p:txBody>
          <a:bodyPr wrap="square">
            <a:spAutoFit/>
          </a:bodyPr>
          <a:lstStyle/>
          <a:p>
            <a:pPr lvl="0"/>
            <a:r>
              <a:rPr lang="en-IN" b="1"/>
              <a:t>1. Cost of the Project:</a:t>
            </a:r>
            <a:endParaRPr lang="en-IN"/>
          </a:p>
          <a:p>
            <a:pPr lvl="1"/>
            <a:r>
              <a:rPr lang="en-IN"/>
              <a:t>Capital Expenditure (</a:t>
            </a:r>
            <a:r>
              <a:rPr lang="en-IN" err="1"/>
              <a:t>CapEx</a:t>
            </a:r>
            <a:r>
              <a:rPr lang="en-IN"/>
              <a:t>): Fixed costs for assets like land, buildings, and machinery.</a:t>
            </a:r>
          </a:p>
          <a:p>
            <a:pPr lvl="1"/>
            <a:r>
              <a:rPr lang="en-IN"/>
              <a:t>Operational Expenditure (</a:t>
            </a:r>
            <a:r>
              <a:rPr lang="en-IN" err="1"/>
              <a:t>OpEx</a:t>
            </a:r>
            <a:r>
              <a:rPr lang="en-IN"/>
              <a:t>): Recurring costs for running the project.</a:t>
            </a:r>
          </a:p>
          <a:p>
            <a:pPr lvl="0"/>
            <a:r>
              <a:rPr lang="en-IN" b="1"/>
              <a:t>2. Sources of Funds:</a:t>
            </a:r>
            <a:endParaRPr lang="en-IN"/>
          </a:p>
          <a:p>
            <a:pPr lvl="1"/>
            <a:r>
              <a:rPr lang="en-IN" b="1"/>
              <a:t>Equity Financing:</a:t>
            </a:r>
            <a:r>
              <a:rPr lang="en-IN"/>
              <a:t> Funds from project sponsors or private equity investors.</a:t>
            </a:r>
          </a:p>
          <a:p>
            <a:pPr lvl="1"/>
            <a:r>
              <a:rPr lang="en-IN" b="1"/>
              <a:t>Debt Financing:</a:t>
            </a:r>
            <a:r>
              <a:rPr lang="en-IN"/>
              <a:t> Loans or bonds from banks and financial institutions.</a:t>
            </a:r>
          </a:p>
          <a:p>
            <a:pPr lvl="1"/>
            <a:r>
              <a:rPr lang="en-IN" b="1"/>
              <a:t>Government Support:</a:t>
            </a:r>
            <a:r>
              <a:rPr lang="en-IN"/>
              <a:t> Grants, subsidies, or tax benefits.</a:t>
            </a:r>
          </a:p>
          <a:p>
            <a:pPr lvl="1"/>
            <a:r>
              <a:rPr lang="en-IN" b="1"/>
              <a:t>Hybrid Instruments:</a:t>
            </a:r>
            <a:r>
              <a:rPr lang="en-IN"/>
              <a:t> Convertible debentures, mezzanine financing.</a:t>
            </a:r>
          </a:p>
          <a:p>
            <a:pPr lvl="0"/>
            <a:r>
              <a:rPr lang="en-IN" b="1"/>
              <a:t>3. Debt Service Coverage Ratio (DSCR):</a:t>
            </a:r>
            <a:endParaRPr lang="en-IN"/>
          </a:p>
          <a:p>
            <a:pPr lvl="1"/>
            <a:r>
              <a:rPr lang="en-IN"/>
              <a:t>Indicates the project's ability to meet debt obligations.</a:t>
            </a:r>
          </a:p>
          <a:p>
            <a:pPr lvl="1"/>
            <a:r>
              <a:rPr lang="en-IN" b="1"/>
              <a:t>Key Financial Metrics:</a:t>
            </a:r>
            <a:endParaRPr lang="en-IN"/>
          </a:p>
          <a:p>
            <a:pPr lvl="1"/>
            <a:r>
              <a:rPr lang="en-IN" b="1"/>
              <a:t>Net Present Value (NPV):</a:t>
            </a:r>
            <a:r>
              <a:rPr lang="en-IN"/>
              <a:t> Evaluates the project's profitability.</a:t>
            </a:r>
          </a:p>
          <a:p>
            <a:pPr lvl="1"/>
            <a:r>
              <a:rPr lang="en-IN" b="1"/>
              <a:t>Internal Rate of Return (IRR):</a:t>
            </a:r>
            <a:r>
              <a:rPr lang="en-IN"/>
              <a:t> Determines the return on investment.</a:t>
            </a:r>
          </a:p>
          <a:p>
            <a:pPr lvl="1"/>
            <a:r>
              <a:rPr lang="en-IN" b="1"/>
              <a:t>Payback Period:</a:t>
            </a:r>
            <a:r>
              <a:rPr lang="en-IN"/>
              <a:t> Time required to recover the initial investment.</a:t>
            </a:r>
          </a:p>
          <a:p>
            <a:pPr lvl="1"/>
            <a:endParaRPr lang="en-IN"/>
          </a:p>
          <a:p>
            <a:pPr lvl="1"/>
            <a:r>
              <a:rPr lang="en-US" b="1"/>
              <a:t>4. </a:t>
            </a:r>
            <a:r>
              <a:rPr lang="en-IN" b="1"/>
              <a:t>Cash flow Projections: </a:t>
            </a:r>
          </a:p>
          <a:p>
            <a:pPr lvl="1"/>
            <a:r>
              <a:rPr lang="en-IN"/>
              <a:t>Estimate revenues, operating costs, and net cash flows over the project's lifecycle</a:t>
            </a:r>
          </a:p>
          <a:p>
            <a:pPr lvl="1"/>
            <a:endParaRPr lang="en-IN"/>
          </a:p>
        </p:txBody>
      </p:sp>
    </p:spTree>
    <p:extLst>
      <p:ext uri="{BB962C8B-B14F-4D97-AF65-F5344CB8AC3E}">
        <p14:creationId xmlns:p14="http://schemas.microsoft.com/office/powerpoint/2010/main" val="37891983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Steps in Project Financing</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5447645"/>
          </a:xfrm>
          <a:prstGeom prst="rect">
            <a:avLst/>
          </a:prstGeom>
        </p:spPr>
        <p:txBody>
          <a:bodyPr wrap="square">
            <a:spAutoFit/>
          </a:bodyPr>
          <a:lstStyle/>
          <a:p>
            <a:pPr lvl="0">
              <a:lnSpc>
                <a:spcPct val="150000"/>
              </a:lnSpc>
            </a:pPr>
            <a:r>
              <a:rPr lang="en-IN" sz="2200" b="1"/>
              <a:t>1. Project Planning and Feasibility:</a:t>
            </a:r>
            <a:endParaRPr lang="en-IN" sz="2200"/>
          </a:p>
          <a:p>
            <a:pPr lvl="1">
              <a:lnSpc>
                <a:spcPct val="150000"/>
              </a:lnSpc>
            </a:pPr>
            <a:r>
              <a:rPr lang="en-IN" sz="2200"/>
              <a:t>Assess technical, financial, and market viability.</a:t>
            </a:r>
          </a:p>
          <a:p>
            <a:pPr lvl="0">
              <a:lnSpc>
                <a:spcPct val="150000"/>
              </a:lnSpc>
            </a:pPr>
            <a:r>
              <a:rPr lang="en-IN" sz="2200" b="1"/>
              <a:t>2. Structuring the Financing:</a:t>
            </a:r>
            <a:endParaRPr lang="en-IN" sz="2200"/>
          </a:p>
          <a:p>
            <a:pPr lvl="1">
              <a:lnSpc>
                <a:spcPct val="150000"/>
              </a:lnSpc>
            </a:pPr>
            <a:r>
              <a:rPr lang="en-IN" sz="2200"/>
              <a:t>Develop a financial model and decide on the equity-debt mix.</a:t>
            </a:r>
          </a:p>
          <a:p>
            <a:pPr lvl="0">
              <a:lnSpc>
                <a:spcPct val="150000"/>
              </a:lnSpc>
            </a:pPr>
            <a:r>
              <a:rPr lang="en-IN" sz="2200" b="1"/>
              <a:t>3. Risk Allocation:</a:t>
            </a:r>
            <a:endParaRPr lang="en-IN" sz="2200"/>
          </a:p>
          <a:p>
            <a:pPr lvl="1">
              <a:lnSpc>
                <a:spcPct val="150000"/>
              </a:lnSpc>
            </a:pPr>
            <a:r>
              <a:rPr lang="en-IN" sz="2200"/>
              <a:t>Use contracts (e.g., EPC, O&amp;M, </a:t>
            </a:r>
            <a:r>
              <a:rPr lang="en-IN" sz="2200" err="1"/>
              <a:t>offtake</a:t>
            </a:r>
            <a:r>
              <a:rPr lang="en-IN" sz="2200"/>
              <a:t> agreements) to allocate risks to capable parties.</a:t>
            </a:r>
          </a:p>
          <a:p>
            <a:pPr lvl="0">
              <a:lnSpc>
                <a:spcPct val="150000"/>
              </a:lnSpc>
            </a:pPr>
            <a:r>
              <a:rPr lang="en-IN" sz="2200" b="1"/>
              <a:t>4. Sourcing Funds:</a:t>
            </a:r>
            <a:endParaRPr lang="en-IN" sz="2200"/>
          </a:p>
          <a:p>
            <a:pPr lvl="1">
              <a:lnSpc>
                <a:spcPct val="150000"/>
              </a:lnSpc>
            </a:pPr>
            <a:r>
              <a:rPr lang="en-IN" sz="2200"/>
              <a:t>Approach banks, investors, or government agencies for funding.</a:t>
            </a:r>
          </a:p>
          <a:p>
            <a:pPr lvl="0">
              <a:lnSpc>
                <a:spcPct val="150000"/>
              </a:lnSpc>
            </a:pPr>
            <a:r>
              <a:rPr lang="en-IN" sz="2200" b="1"/>
              <a:t>5. Implementation and Monitoring:</a:t>
            </a:r>
            <a:endParaRPr lang="en-IN" sz="2200"/>
          </a:p>
          <a:p>
            <a:pPr lvl="1">
              <a:lnSpc>
                <a:spcPct val="150000"/>
              </a:lnSpc>
            </a:pPr>
            <a:r>
              <a:rPr lang="en-IN" sz="2200"/>
              <a:t>Execute the project as per schedule and track financial performance.</a:t>
            </a:r>
          </a:p>
          <a:p>
            <a:pPr lvl="1"/>
            <a:endParaRPr lang="en-IN"/>
          </a:p>
        </p:txBody>
      </p:sp>
    </p:spTree>
    <p:extLst>
      <p:ext uri="{BB962C8B-B14F-4D97-AF65-F5344CB8AC3E}">
        <p14:creationId xmlns:p14="http://schemas.microsoft.com/office/powerpoint/2010/main" val="41066831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Advantages and challenges in Project Finance</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4801314"/>
          </a:xfrm>
          <a:prstGeom prst="rect">
            <a:avLst/>
          </a:prstGeom>
        </p:spPr>
        <p:txBody>
          <a:bodyPr wrap="square">
            <a:spAutoFit/>
          </a:bodyPr>
          <a:lstStyle/>
          <a:p>
            <a:r>
              <a:rPr lang="en-IN" sz="2400" b="1"/>
              <a:t>Advantages of Project Finance</a:t>
            </a:r>
          </a:p>
          <a:p>
            <a:endParaRPr lang="en-IN" sz="2400"/>
          </a:p>
          <a:p>
            <a:pPr marL="342900" lvl="0" indent="-342900">
              <a:buFont typeface="Arial" panose="020B0604020202020204" pitchFamily="34" charset="0"/>
              <a:buChar char="•"/>
            </a:pPr>
            <a:r>
              <a:rPr lang="en-IN" sz="2400"/>
              <a:t>Limits the sponsor's risk exposure.</a:t>
            </a:r>
          </a:p>
          <a:p>
            <a:pPr marL="342900" lvl="0" indent="-342900">
              <a:buFont typeface="Arial" panose="020B0604020202020204" pitchFamily="34" charset="0"/>
              <a:buChar char="•"/>
            </a:pPr>
            <a:r>
              <a:rPr lang="en-IN" sz="2400"/>
              <a:t>Attracts diverse funding sources.</a:t>
            </a:r>
          </a:p>
          <a:p>
            <a:pPr marL="342900" lvl="0" indent="-342900">
              <a:buFont typeface="Arial" panose="020B0604020202020204" pitchFamily="34" charset="0"/>
              <a:buChar char="•"/>
            </a:pPr>
            <a:r>
              <a:rPr lang="en-IN" sz="2400"/>
              <a:t>Improves cash flow management.</a:t>
            </a:r>
          </a:p>
          <a:p>
            <a:pPr marL="342900" lvl="0" indent="-342900">
              <a:buFont typeface="Arial" panose="020B0604020202020204" pitchFamily="34" charset="0"/>
              <a:buChar char="•"/>
            </a:pPr>
            <a:r>
              <a:rPr lang="en-IN" sz="2400"/>
              <a:t>Encourages private sector participation in large-scale projects.</a:t>
            </a:r>
          </a:p>
          <a:p>
            <a:pPr lvl="0"/>
            <a:endParaRPr lang="en-IN" sz="2400"/>
          </a:p>
          <a:p>
            <a:r>
              <a:rPr lang="en-IN" sz="2400" b="1"/>
              <a:t>Challenges in Project Finance</a:t>
            </a:r>
          </a:p>
          <a:p>
            <a:endParaRPr lang="en-IN" sz="2400"/>
          </a:p>
          <a:p>
            <a:pPr marL="342900" lvl="0" indent="-342900">
              <a:buFont typeface="Arial" panose="020B0604020202020204" pitchFamily="34" charset="0"/>
              <a:buChar char="•"/>
            </a:pPr>
            <a:r>
              <a:rPr lang="en-IN" sz="2400"/>
              <a:t>High initial setup costs and complex legal structures.</a:t>
            </a:r>
          </a:p>
          <a:p>
            <a:pPr marL="342900" lvl="0" indent="-342900">
              <a:buFont typeface="Arial" panose="020B0604020202020204" pitchFamily="34" charset="0"/>
              <a:buChar char="•"/>
            </a:pPr>
            <a:r>
              <a:rPr lang="en-IN" sz="2400"/>
              <a:t>Dependence on accurate cash flow projections.</a:t>
            </a:r>
          </a:p>
          <a:p>
            <a:pPr marL="342900" lvl="0" indent="-342900">
              <a:buFont typeface="Arial" panose="020B0604020202020204" pitchFamily="34" charset="0"/>
              <a:buChar char="•"/>
            </a:pPr>
            <a:r>
              <a:rPr lang="en-IN" sz="2400"/>
              <a:t>Regulatory and political risks, especially for long-term projects.</a:t>
            </a:r>
          </a:p>
          <a:p>
            <a:pPr lvl="1"/>
            <a:endParaRPr lang="en-IN"/>
          </a:p>
        </p:txBody>
      </p:sp>
    </p:spTree>
    <p:extLst>
      <p:ext uri="{BB962C8B-B14F-4D97-AF65-F5344CB8AC3E}">
        <p14:creationId xmlns:p14="http://schemas.microsoft.com/office/powerpoint/2010/main" val="26740416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MCQs</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4801314"/>
          </a:xfrm>
          <a:prstGeom prst="rect">
            <a:avLst/>
          </a:prstGeom>
        </p:spPr>
        <p:txBody>
          <a:bodyPr wrap="square">
            <a:spAutoFit/>
          </a:bodyPr>
          <a:lstStyle/>
          <a:p>
            <a:pPr lvl="0"/>
            <a:r>
              <a:rPr lang="en-IN" b="1"/>
              <a:t>1. The primary goal of project financing is</a:t>
            </a:r>
            <a:br>
              <a:rPr lang="en-IN"/>
            </a:br>
            <a:r>
              <a:rPr lang="en-IN"/>
              <a:t>a) Risk reduction</a:t>
            </a:r>
            <a:br>
              <a:rPr lang="en-IN"/>
            </a:br>
            <a:r>
              <a:rPr lang="en-IN"/>
              <a:t>b) </a:t>
            </a:r>
            <a:r>
              <a:rPr lang="en-IN" b="1"/>
              <a:t>Securing funds for large-scale projects</a:t>
            </a:r>
            <a:br>
              <a:rPr lang="en-IN"/>
            </a:br>
            <a:r>
              <a:rPr lang="en-IN"/>
              <a:t>c) Asset revaluation</a:t>
            </a:r>
            <a:br>
              <a:rPr lang="en-IN"/>
            </a:br>
            <a:r>
              <a:rPr lang="en-IN"/>
              <a:t>d) Tax optimization</a:t>
            </a:r>
            <a:br>
              <a:rPr lang="en-IN"/>
            </a:br>
            <a:r>
              <a:rPr lang="en-IN"/>
              <a:t>2. </a:t>
            </a:r>
            <a:r>
              <a:rPr lang="en-IN" b="1"/>
              <a:t>The financial which statement summarizes assets, liabilities, and equity is</a:t>
            </a:r>
            <a:br>
              <a:rPr lang="en-IN"/>
            </a:br>
            <a:r>
              <a:rPr lang="en-IN"/>
              <a:t>a) Income statement</a:t>
            </a:r>
            <a:br>
              <a:rPr lang="en-IN"/>
            </a:br>
            <a:r>
              <a:rPr lang="en-IN"/>
              <a:t>b) </a:t>
            </a:r>
            <a:r>
              <a:rPr lang="en-IN" b="1"/>
              <a:t>Balance sheet</a:t>
            </a:r>
            <a:br>
              <a:rPr lang="en-IN"/>
            </a:br>
            <a:r>
              <a:rPr lang="en-IN"/>
              <a:t>c) Cash flow statement</a:t>
            </a:r>
            <a:br>
              <a:rPr lang="en-IN"/>
            </a:br>
            <a:r>
              <a:rPr lang="en-IN"/>
              <a:t>d) Market survey report</a:t>
            </a:r>
            <a:br>
              <a:rPr lang="en-IN"/>
            </a:br>
            <a:r>
              <a:rPr lang="en-IN"/>
              <a:t>3. </a:t>
            </a:r>
            <a:r>
              <a:rPr lang="en-IN" b="1"/>
              <a:t>The working capital management primarily deal with </a:t>
            </a:r>
            <a:br>
              <a:rPr lang="en-IN"/>
            </a:br>
            <a:r>
              <a:rPr lang="en-IN"/>
              <a:t>a) Fixed assets</a:t>
            </a:r>
            <a:br>
              <a:rPr lang="en-IN"/>
            </a:br>
            <a:r>
              <a:rPr lang="en-IN"/>
              <a:t>b) </a:t>
            </a:r>
            <a:r>
              <a:rPr lang="en-IN" b="1"/>
              <a:t>Current assets and liabilities</a:t>
            </a:r>
            <a:br>
              <a:rPr lang="en-IN"/>
            </a:br>
            <a:r>
              <a:rPr lang="en-IN"/>
              <a:t>c) Depreciation</a:t>
            </a:r>
            <a:br>
              <a:rPr lang="en-IN"/>
            </a:br>
            <a:r>
              <a:rPr lang="en-IN"/>
              <a:t>d) Long-term debt</a:t>
            </a:r>
            <a:br>
              <a:rPr lang="en-IN"/>
            </a:br>
            <a:endParaRPr lang="en-IN"/>
          </a:p>
          <a:p>
            <a:pPr lvl="1"/>
            <a:endParaRPr lang="en-IN"/>
          </a:p>
        </p:txBody>
      </p:sp>
    </p:spTree>
    <p:extLst>
      <p:ext uri="{BB962C8B-B14F-4D97-AF65-F5344CB8AC3E}">
        <p14:creationId xmlns:p14="http://schemas.microsoft.com/office/powerpoint/2010/main" val="2077134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MCQs</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76952"/>
            <a:ext cx="11388436" cy="5078313"/>
          </a:xfrm>
          <a:prstGeom prst="rect">
            <a:avLst/>
          </a:prstGeom>
        </p:spPr>
        <p:txBody>
          <a:bodyPr wrap="square">
            <a:spAutoFit/>
          </a:bodyPr>
          <a:lstStyle/>
          <a:p>
            <a:pPr lvl="0"/>
            <a:r>
              <a:rPr lang="en-IN" b="1"/>
              <a:t>4. The tool commonly used for long-term investment analysis in capital budgeting</a:t>
            </a:r>
            <a:br>
              <a:rPr lang="en-IN"/>
            </a:br>
            <a:r>
              <a:rPr lang="en-IN"/>
              <a:t>a) </a:t>
            </a:r>
            <a:r>
              <a:rPr lang="en-IN" b="1"/>
              <a:t>Payback Period</a:t>
            </a:r>
            <a:br>
              <a:rPr lang="en-IN"/>
            </a:br>
            <a:r>
              <a:rPr lang="en-IN"/>
              <a:t>b) Sensitivity Analysis</a:t>
            </a:r>
            <a:br>
              <a:rPr lang="en-IN"/>
            </a:br>
            <a:r>
              <a:rPr lang="en-IN"/>
              <a:t>c) Gantt Chart</a:t>
            </a:r>
            <a:br>
              <a:rPr lang="en-IN"/>
            </a:br>
            <a:r>
              <a:rPr lang="en-IN"/>
              <a:t>d) Break-even Analysis</a:t>
            </a:r>
          </a:p>
          <a:p>
            <a:pPr lvl="0"/>
            <a:br>
              <a:rPr lang="en-IN"/>
            </a:br>
            <a:r>
              <a:rPr lang="en-IN" b="1"/>
              <a:t>5</a:t>
            </a:r>
            <a:r>
              <a:rPr lang="en-IN"/>
              <a:t>. </a:t>
            </a:r>
            <a:r>
              <a:rPr lang="en-IN" b="1"/>
              <a:t>A projected funds flow statement measure</a:t>
            </a:r>
            <a:br>
              <a:rPr lang="en-IN"/>
            </a:br>
            <a:r>
              <a:rPr lang="en-IN"/>
              <a:t>a) Cash inflows and outflows</a:t>
            </a:r>
            <a:br>
              <a:rPr lang="en-IN"/>
            </a:br>
            <a:r>
              <a:rPr lang="en-IN"/>
              <a:t>b</a:t>
            </a:r>
            <a:r>
              <a:rPr lang="en-IN" b="1"/>
              <a:t>) Changes in working capital</a:t>
            </a:r>
            <a:br>
              <a:rPr lang="en-IN"/>
            </a:br>
            <a:r>
              <a:rPr lang="en-IN"/>
              <a:t>c) Debt repayment schedules</a:t>
            </a:r>
            <a:br>
              <a:rPr lang="en-IN"/>
            </a:br>
            <a:r>
              <a:rPr lang="en-IN"/>
              <a:t>d) Inventory levels</a:t>
            </a:r>
          </a:p>
          <a:p>
            <a:pPr lvl="0"/>
            <a:br>
              <a:rPr lang="en-IN"/>
            </a:br>
            <a:r>
              <a:rPr lang="en-IN" b="1"/>
              <a:t>6</a:t>
            </a:r>
            <a:r>
              <a:rPr lang="en-IN"/>
              <a:t>. </a:t>
            </a:r>
            <a:r>
              <a:rPr lang="en-IN" b="1"/>
              <a:t>The document which assesses project viability across technical, financial, and managerial dimensions.</a:t>
            </a:r>
            <a:br>
              <a:rPr lang="en-IN"/>
            </a:br>
            <a:r>
              <a:rPr lang="en-IN"/>
              <a:t>a) </a:t>
            </a:r>
            <a:r>
              <a:rPr lang="en-IN" b="1"/>
              <a:t>Feasibility report</a:t>
            </a:r>
            <a:br>
              <a:rPr lang="en-IN"/>
            </a:br>
            <a:r>
              <a:rPr lang="en-IN"/>
              <a:t>b) Detailed project report</a:t>
            </a:r>
            <a:br>
              <a:rPr lang="en-IN"/>
            </a:br>
            <a:r>
              <a:rPr lang="en-IN"/>
              <a:t>c) Income statement</a:t>
            </a:r>
            <a:br>
              <a:rPr lang="en-IN"/>
            </a:br>
            <a:r>
              <a:rPr lang="en-IN"/>
              <a:t>d) Risk analysis</a:t>
            </a:r>
            <a:br>
              <a:rPr lang="en-IN"/>
            </a:br>
            <a:endParaRPr lang="en-IN"/>
          </a:p>
        </p:txBody>
      </p:sp>
    </p:spTree>
    <p:extLst>
      <p:ext uri="{BB962C8B-B14F-4D97-AF65-F5344CB8AC3E}">
        <p14:creationId xmlns:p14="http://schemas.microsoft.com/office/powerpoint/2010/main" val="1767483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a:t>Questions..</a:t>
            </a:r>
            <a:endParaRPr lang="en-IN" sz="3600"/>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a16="http://schemas.microsoft.com/office/drawing/2014/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a16="http://schemas.microsoft.com/office/drawing/2014/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a16="http://schemas.microsoft.com/office/drawing/2014/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a16="http://schemas.microsoft.com/office/drawing/2014/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a16="http://schemas.microsoft.com/office/drawing/2014/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a16="http://schemas.microsoft.com/office/drawing/2014/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a16="http://schemas.microsoft.com/office/drawing/2014/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5" name="Rectangle 4"/>
          <p:cNvSpPr/>
          <p:nvPr/>
        </p:nvSpPr>
        <p:spPr>
          <a:xfrm>
            <a:off x="463138" y="1141402"/>
            <a:ext cx="11388436" cy="5139869"/>
          </a:xfrm>
          <a:prstGeom prst="rect">
            <a:avLst/>
          </a:prstGeom>
        </p:spPr>
        <p:txBody>
          <a:bodyPr wrap="square">
            <a:spAutoFit/>
          </a:bodyPr>
          <a:lstStyle/>
          <a:p>
            <a:pPr marL="457200" lvl="0" indent="-457200" algn="just">
              <a:buFont typeface="+mj-lt"/>
              <a:buAutoNum type="arabicPeriod"/>
            </a:pPr>
            <a:r>
              <a:rPr lang="en-IN" sz="2200"/>
              <a:t>Describe the steps involved in preparing a detailed project report (DPR).</a:t>
            </a:r>
          </a:p>
          <a:p>
            <a:pPr marL="457200" lvl="0" indent="-457200" algn="just">
              <a:buFont typeface="+mj-lt"/>
              <a:buAutoNum type="arabicPeriod"/>
            </a:pPr>
            <a:r>
              <a:rPr lang="en-IN" sz="2200"/>
              <a:t>Discuss the advantages and disadvantages of equity financing for large-scale projects.</a:t>
            </a:r>
          </a:p>
          <a:p>
            <a:pPr marL="457200" lvl="0" indent="-457200" algn="just">
              <a:buFont typeface="+mj-lt"/>
              <a:buAutoNum type="arabicPeriod"/>
            </a:pPr>
            <a:r>
              <a:rPr lang="en-IN" sz="2200"/>
              <a:t>Explain how market appraisals support feasibility analysis.</a:t>
            </a:r>
          </a:p>
          <a:p>
            <a:pPr marL="457200" lvl="0" indent="-457200" algn="just">
              <a:buFont typeface="+mj-lt"/>
              <a:buAutoNum type="arabicPeriod"/>
            </a:pPr>
            <a:r>
              <a:rPr lang="en-IN" sz="2200" err="1"/>
              <a:t>Analyze</a:t>
            </a:r>
            <a:r>
              <a:rPr lang="en-IN" sz="2200"/>
              <a:t> the relationship between risk analysis and profitability in project financing.</a:t>
            </a:r>
          </a:p>
          <a:p>
            <a:pPr marL="457200" lvl="0" indent="-457200" algn="just">
              <a:buFont typeface="+mj-lt"/>
              <a:buAutoNum type="arabicPeriod"/>
            </a:pPr>
            <a:r>
              <a:rPr lang="en-IN" sz="2200"/>
              <a:t>Describe the importance of working capital management for a manufacturing project.</a:t>
            </a:r>
          </a:p>
          <a:p>
            <a:pPr marL="457200" lvl="0" indent="-457200" algn="just">
              <a:buFont typeface="+mj-lt"/>
              <a:buAutoNum type="arabicPeriod"/>
            </a:pPr>
            <a:r>
              <a:rPr lang="en-IN" sz="2200"/>
              <a:t>Explain how demand forecasting influences market appraisals.</a:t>
            </a:r>
          </a:p>
          <a:p>
            <a:pPr marL="457200" lvl="0" indent="-457200" algn="just">
              <a:buFont typeface="+mj-lt"/>
              <a:buAutoNum type="arabicPeriod"/>
            </a:pPr>
            <a:r>
              <a:rPr lang="en-IN" sz="2200"/>
              <a:t>Evaluate the significance of a projected income statement in project evaluation.</a:t>
            </a:r>
          </a:p>
          <a:p>
            <a:pPr marL="457200" lvl="0" indent="-457200" algn="just">
              <a:buFont typeface="+mj-lt"/>
              <a:buAutoNum type="arabicPeriod"/>
            </a:pPr>
            <a:r>
              <a:rPr lang="en-IN" sz="2200"/>
              <a:t>Discuss the advantages of risk mitigation strategies in project planning.</a:t>
            </a:r>
          </a:p>
          <a:p>
            <a:pPr marL="457200" lvl="0" indent="-457200" algn="just">
              <a:buFont typeface="+mj-lt"/>
              <a:buAutoNum type="arabicPeriod"/>
            </a:pPr>
            <a:r>
              <a:rPr lang="en-IN" sz="2200"/>
              <a:t>Compare and contrast debt financing and equity financing for a large-scale project.</a:t>
            </a:r>
          </a:p>
          <a:p>
            <a:pPr marL="457200" lvl="0" indent="-457200" algn="just">
              <a:buFont typeface="+mj-lt"/>
              <a:buAutoNum type="arabicPeriod"/>
            </a:pPr>
            <a:r>
              <a:rPr lang="en-IN" sz="2200"/>
              <a:t>Evaluate the importance of projected financial statements in securing project financing.</a:t>
            </a:r>
          </a:p>
          <a:p>
            <a:pPr marL="457200" lvl="0" indent="-457200" algn="just">
              <a:buFont typeface="+mj-lt"/>
              <a:buAutoNum type="arabicPeriod"/>
            </a:pPr>
            <a:r>
              <a:rPr lang="en-IN" sz="2200"/>
              <a:t>Discuss the steps involved in preparing a feasibility report for an infrastructure project.</a:t>
            </a:r>
          </a:p>
          <a:p>
            <a:pPr marL="457200" lvl="0" indent="-457200" algn="just">
              <a:buFont typeface="+mj-lt"/>
              <a:buAutoNum type="arabicPeriod"/>
            </a:pPr>
            <a:r>
              <a:rPr lang="en-IN" sz="2200"/>
              <a:t>Explain how risk and uncertainty affect long-term capital budgeting.</a:t>
            </a:r>
          </a:p>
          <a:p>
            <a:pPr marL="457200" lvl="0" indent="-457200" algn="just">
              <a:buFont typeface="+mj-lt"/>
              <a:buAutoNum type="arabicPeriod"/>
            </a:pPr>
            <a:r>
              <a:rPr lang="en-IN" sz="2200"/>
              <a:t>Discuss the role of environmental and market appraisals in determining project feasibility.</a:t>
            </a:r>
          </a:p>
          <a:p>
            <a:pPr lvl="0"/>
            <a:endParaRPr lang="en-IN" sz="2400"/>
          </a:p>
          <a:p>
            <a:pPr lvl="1"/>
            <a:endParaRPr lang="en-IN"/>
          </a:p>
        </p:txBody>
      </p:sp>
    </p:spTree>
    <p:extLst>
      <p:ext uri="{BB962C8B-B14F-4D97-AF65-F5344CB8AC3E}">
        <p14:creationId xmlns:p14="http://schemas.microsoft.com/office/powerpoint/2010/main" val="19670371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5118" y="2232043"/>
            <a:ext cx="8251307" cy="1631216"/>
          </a:xfrm>
          <a:prstGeom prst="rect">
            <a:avLst/>
          </a:prstGeom>
          <a:solidFill>
            <a:schemeClr val="accent1">
              <a:lumMod val="60000"/>
              <a:lumOff val="40000"/>
            </a:schemeClr>
          </a:solidFill>
        </p:spPr>
        <p:txBody>
          <a:bodyPr wrap="square" lIns="91440" tIns="45720" rIns="91440" bIns="45720">
            <a:spAutoFit/>
          </a:bodyPr>
          <a:lstStyle/>
          <a:p>
            <a:pPr algn="ctr"/>
            <a:r>
              <a:rPr lang="en-US" sz="10000" b="1">
                <a:ln w="10160">
                  <a:solidFill>
                    <a:schemeClr val="accent5"/>
                  </a:solidFill>
                  <a:prstDash val="solid"/>
                </a:ln>
                <a:solidFill>
                  <a:srgbClr val="FFFFFF"/>
                </a:solidFill>
                <a:effectLst>
                  <a:outerShdw blurRad="38100" dist="22860" dir="5400000" algn="tl" rotWithShape="0">
                    <a:srgbClr val="000000">
                      <a:alpha val="30000"/>
                    </a:srgbClr>
                  </a:outerShdw>
                </a:effectLst>
              </a:rPr>
              <a:t>Thank you</a:t>
            </a:r>
            <a:endParaRPr lang="en-US" sz="10000" b="1" cap="none" spc="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1939043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F0187066428A84AA199CDA19E92ECF8" ma:contentTypeVersion="4" ma:contentTypeDescription="Create a new document." ma:contentTypeScope="" ma:versionID="47d9d770b6219f473c408660f71b854f">
  <xsd:schema xmlns:xsd="http://www.w3.org/2001/XMLSchema" xmlns:xs="http://www.w3.org/2001/XMLSchema" xmlns:p="http://schemas.microsoft.com/office/2006/metadata/properties" xmlns:ns2="d430450e-e793-48af-aeea-b7d63c4a8d9f" targetNamespace="http://schemas.microsoft.com/office/2006/metadata/properties" ma:root="true" ma:fieldsID="1c70a0067056082de9938516d0ca8d84" ns2:_="">
    <xsd:import namespace="d430450e-e793-48af-aeea-b7d63c4a8d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0450e-e793-48af-aeea-b7d63c4a8d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B6642DE-99D8-4BA0-B02E-9E7F208D9961}">
  <ds:schemaRefs>
    <ds:schemaRef ds:uri="http://schemas.microsoft.com/office/2006/metadata/contentType"/>
    <ds:schemaRef ds:uri="http://schemas.microsoft.com/office/2006/metadata/properties/metaAttributes"/>
    <ds:schemaRef ds:uri="http://www.w3.org/2000/xmlns/"/>
    <ds:schemaRef ds:uri="http://www.w3.org/2001/XMLSchema"/>
    <ds:schemaRef ds:uri="d430450e-e793-48af-aeea-b7d63c4a8d9f"/>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D9429AB-033A-498B-BD77-7FCC75BEF0A7}">
  <ds:schemaRefs>
    <ds:schemaRef ds:uri="http://schemas.microsoft.com/sharepoint/v3/contenttype/forms"/>
  </ds:schemaRefs>
</ds:datastoreItem>
</file>

<file path=customXml/itemProps3.xml><?xml version="1.0" encoding="utf-8"?>
<ds:datastoreItem xmlns:ds="http://schemas.openxmlformats.org/officeDocument/2006/customXml" ds:itemID="{06A7ED7D-EB1E-4545-8AAA-B133958C4191}">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5857</Words>
  <Application>Microsoft Office PowerPoint</Application>
  <PresentationFormat>Widescreen</PresentationFormat>
  <Paragraphs>842</Paragraphs>
  <Slides>64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64</vt:i4>
      </vt:variant>
    </vt:vector>
  </HeadingPairs>
  <TitlesOfParts>
    <vt:vector size="72" baseType="lpstr">
      <vt:lpstr>Arial</vt:lpstr>
      <vt:lpstr>Calibri</vt:lpstr>
      <vt:lpstr>Calibri Light</vt:lpstr>
      <vt:lpstr>CIDFont+F3</vt:lpstr>
      <vt:lpstr>Courier New</vt:lpstr>
      <vt:lpstr>Times New Roman</vt:lpstr>
      <vt:lpstr>Wingdings</vt:lpstr>
      <vt:lpstr>Office Theme</vt:lpstr>
      <vt:lpstr>PowerPoint Presentation</vt:lpstr>
      <vt:lpstr>PowerPoint Presentation</vt:lpstr>
      <vt:lpstr>PowerPoint Presentation</vt:lpstr>
      <vt:lpstr>Subject Syllabus</vt:lpstr>
      <vt:lpstr>Subject Syllabus</vt:lpstr>
      <vt:lpstr>SYLLABUS </vt:lpstr>
      <vt:lpstr>SUBJECT SYLLABUS </vt:lpstr>
      <vt:lpstr>SUBJECT SYLLABUS </vt:lpstr>
      <vt:lpstr>Program Outcomes</vt:lpstr>
      <vt:lpstr>PowerPoint Presentation</vt:lpstr>
      <vt:lpstr>COURSE OUTCOMES </vt:lpstr>
      <vt:lpstr>Program Educational Outcomes</vt:lpstr>
      <vt:lpstr>Unit Objectives </vt:lpstr>
      <vt:lpstr>Program Outcomes </vt:lpstr>
      <vt:lpstr>Program Outcomes </vt:lpstr>
      <vt:lpstr>Program Outcomes </vt:lpstr>
      <vt:lpstr>PowerPoint Presentation</vt:lpstr>
      <vt:lpstr>PowerPoint Presentation</vt:lpstr>
      <vt:lpstr>CO-PO MAPPING </vt:lpstr>
      <vt:lpstr>PSO MAPPING</vt:lpstr>
      <vt:lpstr>PROJECT - MEANING</vt:lpstr>
      <vt:lpstr>PROJECT FINANCING </vt:lpstr>
      <vt:lpstr>Project cost estimation</vt:lpstr>
      <vt:lpstr>PowerPoint Presentation</vt:lpstr>
      <vt:lpstr>Methods of Cost Estimation</vt:lpstr>
      <vt:lpstr>Continue…</vt:lpstr>
      <vt:lpstr> Steps in Cost Estimation </vt:lpstr>
      <vt:lpstr>Working Capital Requirements</vt:lpstr>
      <vt:lpstr>Types of Working Capital</vt:lpstr>
      <vt:lpstr>Factors Affecting Working Capital Requirements</vt:lpstr>
      <vt:lpstr>Methods to Estimate Working Capital</vt:lpstr>
      <vt:lpstr>PowerPoint Presentation</vt:lpstr>
      <vt:lpstr>Sources of funds</vt:lpstr>
      <vt:lpstr> Continue.. </vt:lpstr>
      <vt:lpstr> Sources of Fund continue… </vt:lpstr>
      <vt:lpstr>Selection Criteria for Funding Sources</vt:lpstr>
      <vt:lpstr>Capital Budgeting</vt:lpstr>
      <vt:lpstr>Techniques of Capital Budgeting</vt:lpstr>
      <vt:lpstr>PowerPoint Presentation</vt:lpstr>
      <vt:lpstr>Risk &amp; Uncertainty in Project Evaluation</vt:lpstr>
      <vt:lpstr>Techniques for Risk Analysis</vt:lpstr>
      <vt:lpstr>Techniques for Risk Analysis continue..</vt:lpstr>
      <vt:lpstr>Mitigating Risks</vt:lpstr>
      <vt:lpstr>Preparation of Projected Financial Statements</vt:lpstr>
      <vt:lpstr>Continue…</vt:lpstr>
      <vt:lpstr>Continue…</vt:lpstr>
      <vt:lpstr>Structure of a Projected Balance Sheet</vt:lpstr>
      <vt:lpstr>Example of a Projected Balance Sheet</vt:lpstr>
      <vt:lpstr>PowerPoint Presentation</vt:lpstr>
      <vt:lpstr>PowerPoint Presentation</vt:lpstr>
      <vt:lpstr>Format of a Projected Income Statement</vt:lpstr>
      <vt:lpstr>Projected Funds Flow Statement</vt:lpstr>
      <vt:lpstr>Preparation of a Detailed Project Report (DPR)</vt:lpstr>
      <vt:lpstr>Continue..</vt:lpstr>
      <vt:lpstr>Continue….</vt:lpstr>
      <vt:lpstr>Steps to Prepare a DPR</vt:lpstr>
      <vt:lpstr>Project finance</vt:lpstr>
      <vt:lpstr>Key Components of Project Finance</vt:lpstr>
      <vt:lpstr>Steps in Project Financing</vt:lpstr>
      <vt:lpstr>Advantages and challenges in Project Finance</vt:lpstr>
      <vt:lpstr>MCQs</vt:lpstr>
      <vt:lpstr>MCQs</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Chahat Chaudhary</dc:creator>
  <cp:lastModifiedBy>Mr. Alok Raj</cp:lastModifiedBy>
  <cp:revision>3</cp:revision>
  <dcterms:created xsi:type="dcterms:W3CDTF">2024-08-04T11:46:24Z</dcterms:created>
  <dcterms:modified xsi:type="dcterms:W3CDTF">2025-09-01T04:04:57Z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0x0101008F0187066428A84AA199CDA19E92ECF8</vt:lpwstr>
  </property>
</Properties>
</file>