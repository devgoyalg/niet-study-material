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7"/>
  </p:notesMasterIdLst>
  <p:sldIdLst>
    <p:sldId id="260" r:id="rId5"/>
    <p:sldId id="395" r:id="rId6"/>
    <p:sldId id="677" r:id="rId7"/>
    <p:sldId id="270" r:id="rId8"/>
    <p:sldId id="271" r:id="rId9"/>
    <p:sldId id="272" r:id="rId10"/>
    <p:sldId id="273" r:id="rId11"/>
    <p:sldId id="274" r:id="rId12"/>
    <p:sldId id="275" r:id="rId13"/>
    <p:sldId id="398" r:id="rId14"/>
    <p:sldId id="276" r:id="rId15"/>
    <p:sldId id="277" r:id="rId16"/>
    <p:sldId id="278" r:id="rId17"/>
    <p:sldId id="279" r:id="rId18"/>
    <p:sldId id="281" r:id="rId19"/>
    <p:sldId id="282" r:id="rId20"/>
    <p:sldId id="401" r:id="rId21"/>
    <p:sldId id="402" r:id="rId22"/>
    <p:sldId id="283" r:id="rId23"/>
    <p:sldId id="284" r:id="rId24"/>
    <p:sldId id="394" r:id="rId25"/>
    <p:sldId id="287" r:id="rId26"/>
    <p:sldId id="288" r:id="rId27"/>
    <p:sldId id="289" r:id="rId28"/>
    <p:sldId id="290" r:id="rId29"/>
    <p:sldId id="291" r:id="rId30"/>
    <p:sldId id="292" r:id="rId31"/>
    <p:sldId id="293" r:id="rId32"/>
    <p:sldId id="294" r:id="rId33"/>
    <p:sldId id="295" r:id="rId34"/>
    <p:sldId id="296" r:id="rId35"/>
    <p:sldId id="297" r:id="rId36"/>
    <p:sldId id="298" r:id="rId37"/>
    <p:sldId id="299" r:id="rId38"/>
    <p:sldId id="300" r:id="rId39"/>
    <p:sldId id="301" r:id="rId40"/>
    <p:sldId id="302" r:id="rId41"/>
    <p:sldId id="303" r:id="rId42"/>
    <p:sldId id="305" r:id="rId43"/>
    <p:sldId id="306" r:id="rId44"/>
    <p:sldId id="307" r:id="rId45"/>
    <p:sldId id="308"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B4B6"/>
    <a:srgbClr val="FF7C80"/>
    <a:srgbClr val="F9B4B6"/>
    <a:srgbClr val="D4222A"/>
    <a:srgbClr val="CC33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5" d="100"/>
          <a:sy n="65" d="100"/>
        </p:scale>
        <p:origin x="1171" y="3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846461-0DB4-4B29-B261-AC210F2570D8}" type="doc">
      <dgm:prSet loTypeId="urn:microsoft.com/office/officeart/2005/8/layout/list1" loCatId="list" qsTypeId="urn:microsoft.com/office/officeart/2005/8/quickstyle/simple3" qsCatId="simple" csTypeId="urn:microsoft.com/office/officeart/2005/8/colors/colorful4" csCatId="colorful" phldr="1"/>
      <dgm:spPr/>
      <dgm:t>
        <a:bodyPr/>
        <a:lstStyle/>
        <a:p>
          <a:endParaRPr lang="en-US"/>
        </a:p>
      </dgm:t>
    </dgm:pt>
    <dgm:pt modelId="{AEC13B71-C180-4B9A-B2D5-008415C46DF0}">
      <dgm:prSet phldrT="[Text]"/>
      <dgm:spPr/>
      <dgm:t>
        <a:bodyPr/>
        <a:lstStyle/>
        <a:p>
          <a:r>
            <a:rPr lang="en-US" dirty="0"/>
            <a:t>1. </a:t>
          </a:r>
          <a:r>
            <a:rPr lang="en-US" b="1" dirty="0"/>
            <a:t>Initiation phase </a:t>
          </a:r>
          <a:endParaRPr lang="en-US" dirty="0"/>
        </a:p>
      </dgm:t>
    </dgm:pt>
    <dgm:pt modelId="{878998F7-23CD-4662-8500-06B62187DE54}" type="parTrans" cxnId="{B055159B-6640-4763-8C9E-5A30C9D86DC2}">
      <dgm:prSet/>
      <dgm:spPr/>
      <dgm:t>
        <a:bodyPr/>
        <a:lstStyle/>
        <a:p>
          <a:endParaRPr lang="en-US"/>
        </a:p>
      </dgm:t>
    </dgm:pt>
    <dgm:pt modelId="{A8A3C193-8E6C-42F4-86CE-2B6E6D33F375}" type="sibTrans" cxnId="{B055159B-6640-4763-8C9E-5A30C9D86DC2}">
      <dgm:prSet/>
      <dgm:spPr/>
      <dgm:t>
        <a:bodyPr/>
        <a:lstStyle/>
        <a:p>
          <a:endParaRPr lang="en-US"/>
        </a:p>
      </dgm:t>
    </dgm:pt>
    <dgm:pt modelId="{3357A1BA-75CD-42CE-9D92-BF645F6470D1}">
      <dgm:prSet phldrT="[Text]"/>
      <dgm:spPr/>
      <dgm:t>
        <a:bodyPr/>
        <a:lstStyle/>
        <a:p>
          <a:r>
            <a:rPr lang="en-US" b="1" dirty="0"/>
            <a:t>2. Planning phase </a:t>
          </a:r>
          <a:endParaRPr lang="en-US" dirty="0"/>
        </a:p>
      </dgm:t>
    </dgm:pt>
    <dgm:pt modelId="{84C4E983-DA25-432B-84F3-C01E90E5E1E1}" type="parTrans" cxnId="{77C5CB2F-69D1-4763-8942-C7C6F223EC12}">
      <dgm:prSet/>
      <dgm:spPr/>
      <dgm:t>
        <a:bodyPr/>
        <a:lstStyle/>
        <a:p>
          <a:endParaRPr lang="en-US"/>
        </a:p>
      </dgm:t>
    </dgm:pt>
    <dgm:pt modelId="{8DA71DDB-BD08-4700-A2AD-C4DD332BBA69}" type="sibTrans" cxnId="{77C5CB2F-69D1-4763-8942-C7C6F223EC12}">
      <dgm:prSet/>
      <dgm:spPr/>
      <dgm:t>
        <a:bodyPr/>
        <a:lstStyle/>
        <a:p>
          <a:endParaRPr lang="en-US"/>
        </a:p>
      </dgm:t>
    </dgm:pt>
    <dgm:pt modelId="{261F728E-DEB6-4227-A926-FB72B36E69EB}">
      <dgm:prSet phldrT="[Text]"/>
      <dgm:spPr/>
      <dgm:t>
        <a:bodyPr/>
        <a:lstStyle/>
        <a:p>
          <a:r>
            <a:rPr lang="en-US" dirty="0"/>
            <a:t>3. </a:t>
          </a:r>
          <a:r>
            <a:rPr lang="en-US" b="1" dirty="0"/>
            <a:t>Execution phase </a:t>
          </a:r>
          <a:endParaRPr lang="en-US" dirty="0"/>
        </a:p>
      </dgm:t>
    </dgm:pt>
    <dgm:pt modelId="{E1967C99-E975-4EE6-909C-1C930E67E896}" type="parTrans" cxnId="{BE2BDBE8-9E8C-4F4E-9492-1CF6DE9BF973}">
      <dgm:prSet/>
      <dgm:spPr/>
      <dgm:t>
        <a:bodyPr/>
        <a:lstStyle/>
        <a:p>
          <a:endParaRPr lang="en-US"/>
        </a:p>
      </dgm:t>
    </dgm:pt>
    <dgm:pt modelId="{421D6FFC-B088-4CF2-A7C7-293D4233FFFB}" type="sibTrans" cxnId="{BE2BDBE8-9E8C-4F4E-9492-1CF6DE9BF973}">
      <dgm:prSet/>
      <dgm:spPr/>
      <dgm:t>
        <a:bodyPr/>
        <a:lstStyle/>
        <a:p>
          <a:endParaRPr lang="en-US"/>
        </a:p>
      </dgm:t>
    </dgm:pt>
    <dgm:pt modelId="{FD22C7A6-A7C1-4D4A-9DFE-E360A7B5F3B5}">
      <dgm:prSet/>
      <dgm:spPr/>
      <dgm:t>
        <a:bodyPr/>
        <a:lstStyle/>
        <a:p>
          <a:r>
            <a:rPr lang="en-US" dirty="0"/>
            <a:t>4. </a:t>
          </a:r>
          <a:r>
            <a:rPr lang="en-US" b="1" dirty="0"/>
            <a:t>Monitoring and controlling phase </a:t>
          </a:r>
          <a:endParaRPr lang="en-US" dirty="0"/>
        </a:p>
      </dgm:t>
    </dgm:pt>
    <dgm:pt modelId="{2280482D-F6FA-48E6-8F49-D0E6158FD189}" type="parTrans" cxnId="{3A2656FF-70B1-4CB5-84A4-620153EA1D38}">
      <dgm:prSet/>
      <dgm:spPr/>
    </dgm:pt>
    <dgm:pt modelId="{0C161AF4-55BA-4217-A6BD-A61DCB18A367}" type="sibTrans" cxnId="{3A2656FF-70B1-4CB5-84A4-620153EA1D38}">
      <dgm:prSet/>
      <dgm:spPr/>
    </dgm:pt>
    <dgm:pt modelId="{88B1AF38-4542-4A47-8C5B-F2D3F0067F6A}">
      <dgm:prSet/>
      <dgm:spPr/>
      <dgm:t>
        <a:bodyPr/>
        <a:lstStyle/>
        <a:p>
          <a:r>
            <a:rPr lang="en-US" dirty="0"/>
            <a:t>5. </a:t>
          </a:r>
          <a:r>
            <a:rPr lang="en-US" b="1" dirty="0"/>
            <a:t>Closing phase </a:t>
          </a:r>
          <a:endParaRPr lang="en-US" dirty="0"/>
        </a:p>
      </dgm:t>
    </dgm:pt>
    <dgm:pt modelId="{65E263C7-B268-4149-9618-378F0F914054}" type="parTrans" cxnId="{C2099946-1EF2-46C8-ACAE-68FFE61622ED}">
      <dgm:prSet/>
      <dgm:spPr/>
    </dgm:pt>
    <dgm:pt modelId="{6A0ADBCD-41A9-4F52-9C2B-0BB0EF19B919}" type="sibTrans" cxnId="{C2099946-1EF2-46C8-ACAE-68FFE61622ED}">
      <dgm:prSet/>
      <dgm:spPr/>
    </dgm:pt>
    <dgm:pt modelId="{895FF26B-A486-410F-940E-047FD682447B}" type="pres">
      <dgm:prSet presAssocID="{44846461-0DB4-4B29-B261-AC210F2570D8}" presName="linear" presStyleCnt="0">
        <dgm:presLayoutVars>
          <dgm:dir/>
          <dgm:animLvl val="lvl"/>
          <dgm:resizeHandles val="exact"/>
        </dgm:presLayoutVars>
      </dgm:prSet>
      <dgm:spPr/>
    </dgm:pt>
    <dgm:pt modelId="{2AF3093D-3D4F-4DCA-983D-DC913E4E77CA}" type="pres">
      <dgm:prSet presAssocID="{AEC13B71-C180-4B9A-B2D5-008415C46DF0}" presName="parentLin" presStyleCnt="0"/>
      <dgm:spPr/>
    </dgm:pt>
    <dgm:pt modelId="{D2783C74-6B9D-4C36-8F81-2056E910AE2E}" type="pres">
      <dgm:prSet presAssocID="{AEC13B71-C180-4B9A-B2D5-008415C46DF0}" presName="parentLeftMargin" presStyleLbl="node1" presStyleIdx="0" presStyleCnt="5"/>
      <dgm:spPr/>
    </dgm:pt>
    <dgm:pt modelId="{6FBBDA39-8CC7-4DDB-B80B-1E6A5E377145}" type="pres">
      <dgm:prSet presAssocID="{AEC13B71-C180-4B9A-B2D5-008415C46DF0}" presName="parentText" presStyleLbl="node1" presStyleIdx="0" presStyleCnt="5">
        <dgm:presLayoutVars>
          <dgm:chMax val="0"/>
          <dgm:bulletEnabled val="1"/>
        </dgm:presLayoutVars>
      </dgm:prSet>
      <dgm:spPr/>
    </dgm:pt>
    <dgm:pt modelId="{2BC24C0A-46D5-4F98-8C93-74252D4DC39B}" type="pres">
      <dgm:prSet presAssocID="{AEC13B71-C180-4B9A-B2D5-008415C46DF0}" presName="negativeSpace" presStyleCnt="0"/>
      <dgm:spPr/>
    </dgm:pt>
    <dgm:pt modelId="{C4DBF8B1-CBFB-4BA6-8622-6D8E2C03E370}" type="pres">
      <dgm:prSet presAssocID="{AEC13B71-C180-4B9A-B2D5-008415C46DF0}" presName="childText" presStyleLbl="conFgAcc1" presStyleIdx="0" presStyleCnt="5">
        <dgm:presLayoutVars>
          <dgm:bulletEnabled val="1"/>
        </dgm:presLayoutVars>
      </dgm:prSet>
      <dgm:spPr/>
    </dgm:pt>
    <dgm:pt modelId="{C814F035-2CB4-48E5-971A-2AA031585002}" type="pres">
      <dgm:prSet presAssocID="{A8A3C193-8E6C-42F4-86CE-2B6E6D33F375}" presName="spaceBetweenRectangles" presStyleCnt="0"/>
      <dgm:spPr/>
    </dgm:pt>
    <dgm:pt modelId="{89AC9106-E197-4FFD-AD39-6C93E4A44FE4}" type="pres">
      <dgm:prSet presAssocID="{3357A1BA-75CD-42CE-9D92-BF645F6470D1}" presName="parentLin" presStyleCnt="0"/>
      <dgm:spPr/>
    </dgm:pt>
    <dgm:pt modelId="{91E5ED61-04A3-4CE9-9A91-45DCE15E6ABA}" type="pres">
      <dgm:prSet presAssocID="{3357A1BA-75CD-42CE-9D92-BF645F6470D1}" presName="parentLeftMargin" presStyleLbl="node1" presStyleIdx="0" presStyleCnt="5"/>
      <dgm:spPr/>
    </dgm:pt>
    <dgm:pt modelId="{108BE746-F2DE-4F6B-A6DB-0F1EDE6332C2}" type="pres">
      <dgm:prSet presAssocID="{3357A1BA-75CD-42CE-9D92-BF645F6470D1}" presName="parentText" presStyleLbl="node1" presStyleIdx="1" presStyleCnt="5">
        <dgm:presLayoutVars>
          <dgm:chMax val="0"/>
          <dgm:bulletEnabled val="1"/>
        </dgm:presLayoutVars>
      </dgm:prSet>
      <dgm:spPr/>
    </dgm:pt>
    <dgm:pt modelId="{6A4ECC2C-C734-4C4B-83EE-7517F3C0D6B6}" type="pres">
      <dgm:prSet presAssocID="{3357A1BA-75CD-42CE-9D92-BF645F6470D1}" presName="negativeSpace" presStyleCnt="0"/>
      <dgm:spPr/>
    </dgm:pt>
    <dgm:pt modelId="{E94E0119-83DA-4C10-BAA4-84FB7B191B2A}" type="pres">
      <dgm:prSet presAssocID="{3357A1BA-75CD-42CE-9D92-BF645F6470D1}" presName="childText" presStyleLbl="conFgAcc1" presStyleIdx="1" presStyleCnt="5">
        <dgm:presLayoutVars>
          <dgm:bulletEnabled val="1"/>
        </dgm:presLayoutVars>
      </dgm:prSet>
      <dgm:spPr/>
    </dgm:pt>
    <dgm:pt modelId="{FEB237C7-757E-4872-90AC-F85933EC61E1}" type="pres">
      <dgm:prSet presAssocID="{8DA71DDB-BD08-4700-A2AD-C4DD332BBA69}" presName="spaceBetweenRectangles" presStyleCnt="0"/>
      <dgm:spPr/>
    </dgm:pt>
    <dgm:pt modelId="{8EB86C3F-0189-4BEF-AFBA-1D26673F8486}" type="pres">
      <dgm:prSet presAssocID="{261F728E-DEB6-4227-A926-FB72B36E69EB}" presName="parentLin" presStyleCnt="0"/>
      <dgm:spPr/>
    </dgm:pt>
    <dgm:pt modelId="{5F4F7F26-7862-4849-9A1E-86FEEEC5C7C6}" type="pres">
      <dgm:prSet presAssocID="{261F728E-DEB6-4227-A926-FB72B36E69EB}" presName="parentLeftMargin" presStyleLbl="node1" presStyleIdx="1" presStyleCnt="5"/>
      <dgm:spPr/>
    </dgm:pt>
    <dgm:pt modelId="{FF0F1DCE-0B18-4F4C-A503-D533A0DD7F3B}" type="pres">
      <dgm:prSet presAssocID="{261F728E-DEB6-4227-A926-FB72B36E69EB}" presName="parentText" presStyleLbl="node1" presStyleIdx="2" presStyleCnt="5">
        <dgm:presLayoutVars>
          <dgm:chMax val="0"/>
          <dgm:bulletEnabled val="1"/>
        </dgm:presLayoutVars>
      </dgm:prSet>
      <dgm:spPr/>
    </dgm:pt>
    <dgm:pt modelId="{7D83E56F-42CC-4CB3-84BB-224672EF5737}" type="pres">
      <dgm:prSet presAssocID="{261F728E-DEB6-4227-A926-FB72B36E69EB}" presName="negativeSpace" presStyleCnt="0"/>
      <dgm:spPr/>
    </dgm:pt>
    <dgm:pt modelId="{37CFEAC3-1610-409E-AC53-65F871B94BFE}" type="pres">
      <dgm:prSet presAssocID="{261F728E-DEB6-4227-A926-FB72B36E69EB}" presName="childText" presStyleLbl="conFgAcc1" presStyleIdx="2" presStyleCnt="5">
        <dgm:presLayoutVars>
          <dgm:bulletEnabled val="1"/>
        </dgm:presLayoutVars>
      </dgm:prSet>
      <dgm:spPr/>
    </dgm:pt>
    <dgm:pt modelId="{6AD2FC70-9068-4F28-8A4D-E126F7137EA6}" type="pres">
      <dgm:prSet presAssocID="{421D6FFC-B088-4CF2-A7C7-293D4233FFFB}" presName="spaceBetweenRectangles" presStyleCnt="0"/>
      <dgm:spPr/>
    </dgm:pt>
    <dgm:pt modelId="{E29E21EC-9691-4A6E-AC6B-AA1C590623A4}" type="pres">
      <dgm:prSet presAssocID="{FD22C7A6-A7C1-4D4A-9DFE-E360A7B5F3B5}" presName="parentLin" presStyleCnt="0"/>
      <dgm:spPr/>
    </dgm:pt>
    <dgm:pt modelId="{FC0D16FA-791A-4F61-92B1-45D59C40A6C2}" type="pres">
      <dgm:prSet presAssocID="{FD22C7A6-A7C1-4D4A-9DFE-E360A7B5F3B5}" presName="parentLeftMargin" presStyleLbl="node1" presStyleIdx="2" presStyleCnt="5"/>
      <dgm:spPr/>
    </dgm:pt>
    <dgm:pt modelId="{1039A950-8AEC-4C33-A0D5-B6267297D78F}" type="pres">
      <dgm:prSet presAssocID="{FD22C7A6-A7C1-4D4A-9DFE-E360A7B5F3B5}" presName="parentText" presStyleLbl="node1" presStyleIdx="3" presStyleCnt="5">
        <dgm:presLayoutVars>
          <dgm:chMax val="0"/>
          <dgm:bulletEnabled val="1"/>
        </dgm:presLayoutVars>
      </dgm:prSet>
      <dgm:spPr/>
    </dgm:pt>
    <dgm:pt modelId="{45E703B1-D2EF-482F-B4B0-023380995EB2}" type="pres">
      <dgm:prSet presAssocID="{FD22C7A6-A7C1-4D4A-9DFE-E360A7B5F3B5}" presName="negativeSpace" presStyleCnt="0"/>
      <dgm:spPr/>
    </dgm:pt>
    <dgm:pt modelId="{6E9C1DD3-E24E-43E1-9091-6D26CAF1B8CB}" type="pres">
      <dgm:prSet presAssocID="{FD22C7A6-A7C1-4D4A-9DFE-E360A7B5F3B5}" presName="childText" presStyleLbl="conFgAcc1" presStyleIdx="3" presStyleCnt="5">
        <dgm:presLayoutVars>
          <dgm:bulletEnabled val="1"/>
        </dgm:presLayoutVars>
      </dgm:prSet>
      <dgm:spPr/>
    </dgm:pt>
    <dgm:pt modelId="{4E0FF29C-8A15-4D92-890B-0F97E0272CB3}" type="pres">
      <dgm:prSet presAssocID="{0C161AF4-55BA-4217-A6BD-A61DCB18A367}" presName="spaceBetweenRectangles" presStyleCnt="0"/>
      <dgm:spPr/>
    </dgm:pt>
    <dgm:pt modelId="{0FD3E1A0-6046-4E39-84D6-92E54D6595F1}" type="pres">
      <dgm:prSet presAssocID="{88B1AF38-4542-4A47-8C5B-F2D3F0067F6A}" presName="parentLin" presStyleCnt="0"/>
      <dgm:spPr/>
    </dgm:pt>
    <dgm:pt modelId="{EF61ECF6-00C4-40A7-964A-D5F292DBB37D}" type="pres">
      <dgm:prSet presAssocID="{88B1AF38-4542-4A47-8C5B-F2D3F0067F6A}" presName="parentLeftMargin" presStyleLbl="node1" presStyleIdx="3" presStyleCnt="5"/>
      <dgm:spPr/>
    </dgm:pt>
    <dgm:pt modelId="{012A75C4-186A-4390-B124-6A8806D91D29}" type="pres">
      <dgm:prSet presAssocID="{88B1AF38-4542-4A47-8C5B-F2D3F0067F6A}" presName="parentText" presStyleLbl="node1" presStyleIdx="4" presStyleCnt="5">
        <dgm:presLayoutVars>
          <dgm:chMax val="0"/>
          <dgm:bulletEnabled val="1"/>
        </dgm:presLayoutVars>
      </dgm:prSet>
      <dgm:spPr/>
    </dgm:pt>
    <dgm:pt modelId="{DDA6308E-7C7C-48F7-81DF-9DDCE8BC8E8A}" type="pres">
      <dgm:prSet presAssocID="{88B1AF38-4542-4A47-8C5B-F2D3F0067F6A}" presName="negativeSpace" presStyleCnt="0"/>
      <dgm:spPr/>
    </dgm:pt>
    <dgm:pt modelId="{086E7FE6-1072-463F-9ED9-383B06B80CCF}" type="pres">
      <dgm:prSet presAssocID="{88B1AF38-4542-4A47-8C5B-F2D3F0067F6A}" presName="childText" presStyleLbl="conFgAcc1" presStyleIdx="4" presStyleCnt="5">
        <dgm:presLayoutVars>
          <dgm:bulletEnabled val="1"/>
        </dgm:presLayoutVars>
      </dgm:prSet>
      <dgm:spPr/>
    </dgm:pt>
  </dgm:ptLst>
  <dgm:cxnLst>
    <dgm:cxn modelId="{878E9901-4A94-4D93-8FAB-370CE980D33E}" type="presOf" srcId="{3357A1BA-75CD-42CE-9D92-BF645F6470D1}" destId="{91E5ED61-04A3-4CE9-9A91-45DCE15E6ABA}" srcOrd="0" destOrd="0" presId="urn:microsoft.com/office/officeart/2005/8/layout/list1"/>
    <dgm:cxn modelId="{2C3D4E08-5FAD-4929-BF80-8CB4ED3B7AA3}" type="presOf" srcId="{88B1AF38-4542-4A47-8C5B-F2D3F0067F6A}" destId="{012A75C4-186A-4390-B124-6A8806D91D29}" srcOrd="1" destOrd="0" presId="urn:microsoft.com/office/officeart/2005/8/layout/list1"/>
    <dgm:cxn modelId="{77C5CB2F-69D1-4763-8942-C7C6F223EC12}" srcId="{44846461-0DB4-4B29-B261-AC210F2570D8}" destId="{3357A1BA-75CD-42CE-9D92-BF645F6470D1}" srcOrd="1" destOrd="0" parTransId="{84C4E983-DA25-432B-84F3-C01E90E5E1E1}" sibTransId="{8DA71DDB-BD08-4700-A2AD-C4DD332BBA69}"/>
    <dgm:cxn modelId="{A2A2535F-EDCF-46FA-AAC7-527471306D04}" type="presOf" srcId="{FD22C7A6-A7C1-4D4A-9DFE-E360A7B5F3B5}" destId="{1039A950-8AEC-4C33-A0D5-B6267297D78F}" srcOrd="1" destOrd="0" presId="urn:microsoft.com/office/officeart/2005/8/layout/list1"/>
    <dgm:cxn modelId="{C2099946-1EF2-46C8-ACAE-68FFE61622ED}" srcId="{44846461-0DB4-4B29-B261-AC210F2570D8}" destId="{88B1AF38-4542-4A47-8C5B-F2D3F0067F6A}" srcOrd="4" destOrd="0" parTransId="{65E263C7-B268-4149-9618-378F0F914054}" sibTransId="{6A0ADBCD-41A9-4F52-9C2B-0BB0EF19B919}"/>
    <dgm:cxn modelId="{AADDAC78-44A8-414A-9C37-E7C8D5E84967}" type="presOf" srcId="{AEC13B71-C180-4B9A-B2D5-008415C46DF0}" destId="{D2783C74-6B9D-4C36-8F81-2056E910AE2E}" srcOrd="0" destOrd="0" presId="urn:microsoft.com/office/officeart/2005/8/layout/list1"/>
    <dgm:cxn modelId="{773CCF8C-9769-4914-A7B8-ADD722BE43AB}" type="presOf" srcId="{3357A1BA-75CD-42CE-9D92-BF645F6470D1}" destId="{108BE746-F2DE-4F6B-A6DB-0F1EDE6332C2}" srcOrd="1" destOrd="0" presId="urn:microsoft.com/office/officeart/2005/8/layout/list1"/>
    <dgm:cxn modelId="{0C92B68E-C660-48D3-9842-ABE0C16224EA}" type="presOf" srcId="{44846461-0DB4-4B29-B261-AC210F2570D8}" destId="{895FF26B-A486-410F-940E-047FD682447B}" srcOrd="0" destOrd="0" presId="urn:microsoft.com/office/officeart/2005/8/layout/list1"/>
    <dgm:cxn modelId="{9FCC5696-B5B0-4030-989B-CC795F8BAE66}" type="presOf" srcId="{261F728E-DEB6-4227-A926-FB72B36E69EB}" destId="{5F4F7F26-7862-4849-9A1E-86FEEEC5C7C6}" srcOrd="0" destOrd="0" presId="urn:microsoft.com/office/officeart/2005/8/layout/list1"/>
    <dgm:cxn modelId="{C833F597-72BB-4BA0-9003-8E4CAD7D05AF}" type="presOf" srcId="{261F728E-DEB6-4227-A926-FB72B36E69EB}" destId="{FF0F1DCE-0B18-4F4C-A503-D533A0DD7F3B}" srcOrd="1" destOrd="0" presId="urn:microsoft.com/office/officeart/2005/8/layout/list1"/>
    <dgm:cxn modelId="{DD9B9E9A-647C-4B98-B1AF-C59B9677C801}" type="presOf" srcId="{88B1AF38-4542-4A47-8C5B-F2D3F0067F6A}" destId="{EF61ECF6-00C4-40A7-964A-D5F292DBB37D}" srcOrd="0" destOrd="0" presId="urn:microsoft.com/office/officeart/2005/8/layout/list1"/>
    <dgm:cxn modelId="{B055159B-6640-4763-8C9E-5A30C9D86DC2}" srcId="{44846461-0DB4-4B29-B261-AC210F2570D8}" destId="{AEC13B71-C180-4B9A-B2D5-008415C46DF0}" srcOrd="0" destOrd="0" parTransId="{878998F7-23CD-4662-8500-06B62187DE54}" sibTransId="{A8A3C193-8E6C-42F4-86CE-2B6E6D33F375}"/>
    <dgm:cxn modelId="{354C7DBE-1096-478E-A07D-5CD4D15FE992}" type="presOf" srcId="{FD22C7A6-A7C1-4D4A-9DFE-E360A7B5F3B5}" destId="{FC0D16FA-791A-4F61-92B1-45D59C40A6C2}" srcOrd="0" destOrd="0" presId="urn:microsoft.com/office/officeart/2005/8/layout/list1"/>
    <dgm:cxn modelId="{451F6BDB-B549-478D-AD33-758B1FE54A16}" type="presOf" srcId="{AEC13B71-C180-4B9A-B2D5-008415C46DF0}" destId="{6FBBDA39-8CC7-4DDB-B80B-1E6A5E377145}" srcOrd="1" destOrd="0" presId="urn:microsoft.com/office/officeart/2005/8/layout/list1"/>
    <dgm:cxn modelId="{BE2BDBE8-9E8C-4F4E-9492-1CF6DE9BF973}" srcId="{44846461-0DB4-4B29-B261-AC210F2570D8}" destId="{261F728E-DEB6-4227-A926-FB72B36E69EB}" srcOrd="2" destOrd="0" parTransId="{E1967C99-E975-4EE6-909C-1C930E67E896}" sibTransId="{421D6FFC-B088-4CF2-A7C7-293D4233FFFB}"/>
    <dgm:cxn modelId="{3A2656FF-70B1-4CB5-84A4-620153EA1D38}" srcId="{44846461-0DB4-4B29-B261-AC210F2570D8}" destId="{FD22C7A6-A7C1-4D4A-9DFE-E360A7B5F3B5}" srcOrd="3" destOrd="0" parTransId="{2280482D-F6FA-48E6-8F49-D0E6158FD189}" sibTransId="{0C161AF4-55BA-4217-A6BD-A61DCB18A367}"/>
    <dgm:cxn modelId="{03CC97A1-B366-45CE-A643-1E8E33EE7B6E}" type="presParOf" srcId="{895FF26B-A486-410F-940E-047FD682447B}" destId="{2AF3093D-3D4F-4DCA-983D-DC913E4E77CA}" srcOrd="0" destOrd="0" presId="urn:microsoft.com/office/officeart/2005/8/layout/list1"/>
    <dgm:cxn modelId="{A5CD39F8-2281-4F62-902E-C36E190C69A8}" type="presParOf" srcId="{2AF3093D-3D4F-4DCA-983D-DC913E4E77CA}" destId="{D2783C74-6B9D-4C36-8F81-2056E910AE2E}" srcOrd="0" destOrd="0" presId="urn:microsoft.com/office/officeart/2005/8/layout/list1"/>
    <dgm:cxn modelId="{38AE5BEB-D854-4C96-832D-BC7931C9B472}" type="presParOf" srcId="{2AF3093D-3D4F-4DCA-983D-DC913E4E77CA}" destId="{6FBBDA39-8CC7-4DDB-B80B-1E6A5E377145}" srcOrd="1" destOrd="0" presId="urn:microsoft.com/office/officeart/2005/8/layout/list1"/>
    <dgm:cxn modelId="{6745DAAF-0868-4B8A-8A18-98CAD31BC40C}" type="presParOf" srcId="{895FF26B-A486-410F-940E-047FD682447B}" destId="{2BC24C0A-46D5-4F98-8C93-74252D4DC39B}" srcOrd="1" destOrd="0" presId="urn:microsoft.com/office/officeart/2005/8/layout/list1"/>
    <dgm:cxn modelId="{039571E9-EF00-4641-94F8-0C4AC9088181}" type="presParOf" srcId="{895FF26B-A486-410F-940E-047FD682447B}" destId="{C4DBF8B1-CBFB-4BA6-8622-6D8E2C03E370}" srcOrd="2" destOrd="0" presId="urn:microsoft.com/office/officeart/2005/8/layout/list1"/>
    <dgm:cxn modelId="{BBEFDD9A-5CCA-4F35-B036-BEBC6B635962}" type="presParOf" srcId="{895FF26B-A486-410F-940E-047FD682447B}" destId="{C814F035-2CB4-48E5-971A-2AA031585002}" srcOrd="3" destOrd="0" presId="urn:microsoft.com/office/officeart/2005/8/layout/list1"/>
    <dgm:cxn modelId="{46AE1742-D175-4C38-807B-26CA99CDE53A}" type="presParOf" srcId="{895FF26B-A486-410F-940E-047FD682447B}" destId="{89AC9106-E197-4FFD-AD39-6C93E4A44FE4}" srcOrd="4" destOrd="0" presId="urn:microsoft.com/office/officeart/2005/8/layout/list1"/>
    <dgm:cxn modelId="{2E3CBF64-B758-4300-A727-00D8C04AFC3A}" type="presParOf" srcId="{89AC9106-E197-4FFD-AD39-6C93E4A44FE4}" destId="{91E5ED61-04A3-4CE9-9A91-45DCE15E6ABA}" srcOrd="0" destOrd="0" presId="urn:microsoft.com/office/officeart/2005/8/layout/list1"/>
    <dgm:cxn modelId="{99196255-F061-47E5-AF7A-080E9D9A2FAA}" type="presParOf" srcId="{89AC9106-E197-4FFD-AD39-6C93E4A44FE4}" destId="{108BE746-F2DE-4F6B-A6DB-0F1EDE6332C2}" srcOrd="1" destOrd="0" presId="urn:microsoft.com/office/officeart/2005/8/layout/list1"/>
    <dgm:cxn modelId="{054C6DB3-EC19-4F9A-90F3-4DF660347C80}" type="presParOf" srcId="{895FF26B-A486-410F-940E-047FD682447B}" destId="{6A4ECC2C-C734-4C4B-83EE-7517F3C0D6B6}" srcOrd="5" destOrd="0" presId="urn:microsoft.com/office/officeart/2005/8/layout/list1"/>
    <dgm:cxn modelId="{38967506-C870-47D4-8501-5674AAF76AB4}" type="presParOf" srcId="{895FF26B-A486-410F-940E-047FD682447B}" destId="{E94E0119-83DA-4C10-BAA4-84FB7B191B2A}" srcOrd="6" destOrd="0" presId="urn:microsoft.com/office/officeart/2005/8/layout/list1"/>
    <dgm:cxn modelId="{BD598E19-0216-420B-8088-EAB1F97153D9}" type="presParOf" srcId="{895FF26B-A486-410F-940E-047FD682447B}" destId="{FEB237C7-757E-4872-90AC-F85933EC61E1}" srcOrd="7" destOrd="0" presId="urn:microsoft.com/office/officeart/2005/8/layout/list1"/>
    <dgm:cxn modelId="{46424F5E-A0C9-46B2-92C6-3A72F471EEF8}" type="presParOf" srcId="{895FF26B-A486-410F-940E-047FD682447B}" destId="{8EB86C3F-0189-4BEF-AFBA-1D26673F8486}" srcOrd="8" destOrd="0" presId="urn:microsoft.com/office/officeart/2005/8/layout/list1"/>
    <dgm:cxn modelId="{64B10A75-808A-4BED-9CB2-197FA7CBF178}" type="presParOf" srcId="{8EB86C3F-0189-4BEF-AFBA-1D26673F8486}" destId="{5F4F7F26-7862-4849-9A1E-86FEEEC5C7C6}" srcOrd="0" destOrd="0" presId="urn:microsoft.com/office/officeart/2005/8/layout/list1"/>
    <dgm:cxn modelId="{65F3B1C7-C983-4AC0-9320-DC176BC1E6B6}" type="presParOf" srcId="{8EB86C3F-0189-4BEF-AFBA-1D26673F8486}" destId="{FF0F1DCE-0B18-4F4C-A503-D533A0DD7F3B}" srcOrd="1" destOrd="0" presId="urn:microsoft.com/office/officeart/2005/8/layout/list1"/>
    <dgm:cxn modelId="{BF7B720F-CA2D-47F3-9344-7A610C575958}" type="presParOf" srcId="{895FF26B-A486-410F-940E-047FD682447B}" destId="{7D83E56F-42CC-4CB3-84BB-224672EF5737}" srcOrd="9" destOrd="0" presId="urn:microsoft.com/office/officeart/2005/8/layout/list1"/>
    <dgm:cxn modelId="{44D8A203-F440-4E93-A0D4-12A58C8CA2E3}" type="presParOf" srcId="{895FF26B-A486-410F-940E-047FD682447B}" destId="{37CFEAC3-1610-409E-AC53-65F871B94BFE}" srcOrd="10" destOrd="0" presId="urn:microsoft.com/office/officeart/2005/8/layout/list1"/>
    <dgm:cxn modelId="{776BC2E6-153C-40FB-899D-4724BB5AC7D9}" type="presParOf" srcId="{895FF26B-A486-410F-940E-047FD682447B}" destId="{6AD2FC70-9068-4F28-8A4D-E126F7137EA6}" srcOrd="11" destOrd="0" presId="urn:microsoft.com/office/officeart/2005/8/layout/list1"/>
    <dgm:cxn modelId="{7009E4AF-2165-4B23-A5F2-84D86E27427D}" type="presParOf" srcId="{895FF26B-A486-410F-940E-047FD682447B}" destId="{E29E21EC-9691-4A6E-AC6B-AA1C590623A4}" srcOrd="12" destOrd="0" presId="urn:microsoft.com/office/officeart/2005/8/layout/list1"/>
    <dgm:cxn modelId="{D40B9452-A586-4F98-8F9D-43DE353CD09A}" type="presParOf" srcId="{E29E21EC-9691-4A6E-AC6B-AA1C590623A4}" destId="{FC0D16FA-791A-4F61-92B1-45D59C40A6C2}" srcOrd="0" destOrd="0" presId="urn:microsoft.com/office/officeart/2005/8/layout/list1"/>
    <dgm:cxn modelId="{6B0B2A82-6F26-4B20-90DB-5220041460E6}" type="presParOf" srcId="{E29E21EC-9691-4A6E-AC6B-AA1C590623A4}" destId="{1039A950-8AEC-4C33-A0D5-B6267297D78F}" srcOrd="1" destOrd="0" presId="urn:microsoft.com/office/officeart/2005/8/layout/list1"/>
    <dgm:cxn modelId="{1BBD5E94-762A-4C6A-8C37-A1A632A19E71}" type="presParOf" srcId="{895FF26B-A486-410F-940E-047FD682447B}" destId="{45E703B1-D2EF-482F-B4B0-023380995EB2}" srcOrd="13" destOrd="0" presId="urn:microsoft.com/office/officeart/2005/8/layout/list1"/>
    <dgm:cxn modelId="{BC82CE73-C2C9-4127-83D5-A72C60578398}" type="presParOf" srcId="{895FF26B-A486-410F-940E-047FD682447B}" destId="{6E9C1DD3-E24E-43E1-9091-6D26CAF1B8CB}" srcOrd="14" destOrd="0" presId="urn:microsoft.com/office/officeart/2005/8/layout/list1"/>
    <dgm:cxn modelId="{8C7B1A7C-CF84-481D-88C9-7E21E1A036DB}" type="presParOf" srcId="{895FF26B-A486-410F-940E-047FD682447B}" destId="{4E0FF29C-8A15-4D92-890B-0F97E0272CB3}" srcOrd="15" destOrd="0" presId="urn:microsoft.com/office/officeart/2005/8/layout/list1"/>
    <dgm:cxn modelId="{0CB6913B-2443-4D58-BC4F-575167DEDF02}" type="presParOf" srcId="{895FF26B-A486-410F-940E-047FD682447B}" destId="{0FD3E1A0-6046-4E39-84D6-92E54D6595F1}" srcOrd="16" destOrd="0" presId="urn:microsoft.com/office/officeart/2005/8/layout/list1"/>
    <dgm:cxn modelId="{87B41FFC-69AC-46AB-B980-76AF1FD61CAA}" type="presParOf" srcId="{0FD3E1A0-6046-4E39-84D6-92E54D6595F1}" destId="{EF61ECF6-00C4-40A7-964A-D5F292DBB37D}" srcOrd="0" destOrd="0" presId="urn:microsoft.com/office/officeart/2005/8/layout/list1"/>
    <dgm:cxn modelId="{1111AE38-316F-442C-9B11-D63BB0486D13}" type="presParOf" srcId="{0FD3E1A0-6046-4E39-84D6-92E54D6595F1}" destId="{012A75C4-186A-4390-B124-6A8806D91D29}" srcOrd="1" destOrd="0" presId="urn:microsoft.com/office/officeart/2005/8/layout/list1"/>
    <dgm:cxn modelId="{16415E03-ECB3-4585-8B80-BC5ED7695570}" type="presParOf" srcId="{895FF26B-A486-410F-940E-047FD682447B}" destId="{DDA6308E-7C7C-48F7-81DF-9DDCE8BC8E8A}" srcOrd="17" destOrd="0" presId="urn:microsoft.com/office/officeart/2005/8/layout/list1"/>
    <dgm:cxn modelId="{96773526-351D-4DC3-9985-DD4F114CBE6B}" type="presParOf" srcId="{895FF26B-A486-410F-940E-047FD682447B}" destId="{086E7FE6-1072-463F-9ED9-383B06B80CCF}" srcOrd="18" destOrd="0" presId="urn:microsoft.com/office/officeart/2005/8/layout/list1"/>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EF2689A-8C91-4309-9A91-12B6F683208D}" type="doc">
      <dgm:prSet loTypeId="urn:microsoft.com/office/officeart/2005/8/layout/list1" loCatId="list" qsTypeId="urn:microsoft.com/office/officeart/2005/8/quickstyle/simple5" qsCatId="simple" csTypeId="urn:microsoft.com/office/officeart/2005/8/colors/colorful1#1" csCatId="colorful" phldr="1"/>
      <dgm:spPr/>
      <dgm:t>
        <a:bodyPr/>
        <a:lstStyle/>
        <a:p>
          <a:endParaRPr lang="en-US"/>
        </a:p>
      </dgm:t>
    </dgm:pt>
    <dgm:pt modelId="{77373693-AF9C-43DC-8F5B-522615C29112}">
      <dgm:prSet phldrT="[Text]"/>
      <dgm:spPr/>
      <dgm:t>
        <a:bodyPr/>
        <a:lstStyle/>
        <a:p>
          <a:r>
            <a:rPr lang="en-US" dirty="0"/>
            <a:t>1. Preliminary Study and definition</a:t>
          </a:r>
        </a:p>
      </dgm:t>
    </dgm:pt>
    <dgm:pt modelId="{C6940CD3-E124-4100-93DA-93F21345BD17}" type="parTrans" cxnId="{F131B7F4-9710-40BF-BE56-87DA40562761}">
      <dgm:prSet/>
      <dgm:spPr/>
      <dgm:t>
        <a:bodyPr/>
        <a:lstStyle/>
        <a:p>
          <a:endParaRPr lang="en-US"/>
        </a:p>
      </dgm:t>
    </dgm:pt>
    <dgm:pt modelId="{2E1FFD79-8FCD-4C8B-B69D-112E5AD28A6E}" type="sibTrans" cxnId="{F131B7F4-9710-40BF-BE56-87DA40562761}">
      <dgm:prSet/>
      <dgm:spPr/>
      <dgm:t>
        <a:bodyPr/>
        <a:lstStyle/>
        <a:p>
          <a:endParaRPr lang="en-US"/>
        </a:p>
      </dgm:t>
    </dgm:pt>
    <dgm:pt modelId="{5A096256-4487-47A6-8647-6DFBA444655C}">
      <dgm:prSet phldrT="[Text]"/>
      <dgm:spPr/>
      <dgm:t>
        <a:bodyPr/>
        <a:lstStyle/>
        <a:p>
          <a:r>
            <a:rPr lang="en-US" dirty="0"/>
            <a:t>2. Forecast Income Statement</a:t>
          </a:r>
        </a:p>
      </dgm:t>
    </dgm:pt>
    <dgm:pt modelId="{EBC9B3C1-2B12-48D6-BB98-6743209A18DB}" type="parTrans" cxnId="{E3BCA526-D5AD-4269-AF0F-DD81E3710BD8}">
      <dgm:prSet/>
      <dgm:spPr/>
      <dgm:t>
        <a:bodyPr/>
        <a:lstStyle/>
        <a:p>
          <a:endParaRPr lang="en-US"/>
        </a:p>
      </dgm:t>
    </dgm:pt>
    <dgm:pt modelId="{F7E6322A-4CA4-485B-84F1-1A2FE19E9085}" type="sibTrans" cxnId="{E3BCA526-D5AD-4269-AF0F-DD81E3710BD8}">
      <dgm:prSet/>
      <dgm:spPr/>
      <dgm:t>
        <a:bodyPr/>
        <a:lstStyle/>
        <a:p>
          <a:endParaRPr lang="en-US"/>
        </a:p>
      </dgm:t>
    </dgm:pt>
    <dgm:pt modelId="{45CEA968-D9C3-494C-A787-AD35C5DB5B0D}">
      <dgm:prSet phldrT="[Text]"/>
      <dgm:spPr/>
      <dgm:t>
        <a:bodyPr/>
        <a:lstStyle/>
        <a:p>
          <a:r>
            <a:rPr lang="en-US" dirty="0"/>
            <a:t>3. Plan Company Structure and Operations</a:t>
          </a:r>
        </a:p>
      </dgm:t>
    </dgm:pt>
    <dgm:pt modelId="{DE9F69C7-AF15-4086-8A4B-D3A032D33526}" type="parTrans" cxnId="{2F209891-EABA-4126-9E89-A59E5B826BC4}">
      <dgm:prSet/>
      <dgm:spPr/>
      <dgm:t>
        <a:bodyPr/>
        <a:lstStyle/>
        <a:p>
          <a:endParaRPr lang="en-US"/>
        </a:p>
      </dgm:t>
    </dgm:pt>
    <dgm:pt modelId="{F78C8D25-CC87-48A5-9466-E1C80D9F9C9C}" type="sibTrans" cxnId="{2F209891-EABA-4126-9E89-A59E5B826BC4}">
      <dgm:prSet/>
      <dgm:spPr/>
      <dgm:t>
        <a:bodyPr/>
        <a:lstStyle/>
        <a:p>
          <a:endParaRPr lang="en-US"/>
        </a:p>
      </dgm:t>
    </dgm:pt>
    <dgm:pt modelId="{16C11599-B8E8-4910-93A8-2967F7151A1E}">
      <dgm:prSet/>
      <dgm:spPr/>
      <dgm:t>
        <a:bodyPr/>
        <a:lstStyle/>
        <a:p>
          <a:r>
            <a:rPr lang="en-US" dirty="0"/>
            <a:t>4. Generate Balance Sheet</a:t>
          </a:r>
        </a:p>
      </dgm:t>
    </dgm:pt>
    <dgm:pt modelId="{BBE82A91-2575-48E6-8228-14FF7D88DC65}" type="parTrans" cxnId="{EDA5DC03-95F4-4FCD-A168-9B65AE37937F}">
      <dgm:prSet/>
      <dgm:spPr/>
    </dgm:pt>
    <dgm:pt modelId="{198DB61E-C3AB-4B00-92CB-E1CB4012C0DA}" type="sibTrans" cxnId="{EDA5DC03-95F4-4FCD-A168-9B65AE37937F}">
      <dgm:prSet/>
      <dgm:spPr/>
    </dgm:pt>
    <dgm:pt modelId="{B820F94C-7B37-41EF-BD93-3784C6D884E4}">
      <dgm:prSet/>
      <dgm:spPr/>
      <dgm:t>
        <a:bodyPr/>
        <a:lstStyle/>
        <a:p>
          <a:r>
            <a:rPr lang="en-US" dirty="0"/>
            <a:t>5. Data Examination and Final decision </a:t>
          </a:r>
        </a:p>
      </dgm:t>
    </dgm:pt>
    <dgm:pt modelId="{16D712AD-7B81-4A14-BB74-DDBCC9C235B8}" type="parTrans" cxnId="{FFA9B420-30A6-4EF0-8A11-50FE1CC99F65}">
      <dgm:prSet/>
      <dgm:spPr/>
    </dgm:pt>
    <dgm:pt modelId="{6E509EE5-C2FA-4C49-9641-8F671AD7BD3A}" type="sibTrans" cxnId="{FFA9B420-30A6-4EF0-8A11-50FE1CC99F65}">
      <dgm:prSet/>
      <dgm:spPr/>
    </dgm:pt>
    <dgm:pt modelId="{8CD4BB7B-AF42-4B3D-992F-0C80BE69B92B}" type="pres">
      <dgm:prSet presAssocID="{EEF2689A-8C91-4309-9A91-12B6F683208D}" presName="linear" presStyleCnt="0">
        <dgm:presLayoutVars>
          <dgm:dir/>
          <dgm:animLvl val="lvl"/>
          <dgm:resizeHandles val="exact"/>
        </dgm:presLayoutVars>
      </dgm:prSet>
      <dgm:spPr/>
    </dgm:pt>
    <dgm:pt modelId="{EA9D1386-4148-49F5-8B01-755FB1A41E40}" type="pres">
      <dgm:prSet presAssocID="{77373693-AF9C-43DC-8F5B-522615C29112}" presName="parentLin" presStyleCnt="0"/>
      <dgm:spPr/>
    </dgm:pt>
    <dgm:pt modelId="{1A9B8868-2C94-471D-864E-7EC330AA7B25}" type="pres">
      <dgm:prSet presAssocID="{77373693-AF9C-43DC-8F5B-522615C29112}" presName="parentLeftMargin" presStyleLbl="node1" presStyleIdx="0" presStyleCnt="5"/>
      <dgm:spPr/>
    </dgm:pt>
    <dgm:pt modelId="{9EED501D-FEEA-4CEC-8D75-793B33D88AE2}" type="pres">
      <dgm:prSet presAssocID="{77373693-AF9C-43DC-8F5B-522615C29112}" presName="parentText" presStyleLbl="node1" presStyleIdx="0" presStyleCnt="5" custScaleY="103495">
        <dgm:presLayoutVars>
          <dgm:chMax val="0"/>
          <dgm:bulletEnabled val="1"/>
        </dgm:presLayoutVars>
      </dgm:prSet>
      <dgm:spPr/>
    </dgm:pt>
    <dgm:pt modelId="{545D10D3-36DA-47F9-A24C-7DAA6B77F6CB}" type="pres">
      <dgm:prSet presAssocID="{77373693-AF9C-43DC-8F5B-522615C29112}" presName="negativeSpace" presStyleCnt="0"/>
      <dgm:spPr/>
    </dgm:pt>
    <dgm:pt modelId="{5347D498-7A00-4A35-8374-385F8532BAA2}" type="pres">
      <dgm:prSet presAssocID="{77373693-AF9C-43DC-8F5B-522615C29112}" presName="childText" presStyleLbl="conFgAcc1" presStyleIdx="0" presStyleCnt="5">
        <dgm:presLayoutVars>
          <dgm:bulletEnabled val="1"/>
        </dgm:presLayoutVars>
      </dgm:prSet>
      <dgm:spPr/>
    </dgm:pt>
    <dgm:pt modelId="{0E6ED814-614D-453E-88B9-A402B10C4A4E}" type="pres">
      <dgm:prSet presAssocID="{2E1FFD79-8FCD-4C8B-B69D-112E5AD28A6E}" presName="spaceBetweenRectangles" presStyleCnt="0"/>
      <dgm:spPr/>
    </dgm:pt>
    <dgm:pt modelId="{AB0B3840-23B4-4EAD-97DF-CAD6AAC97588}" type="pres">
      <dgm:prSet presAssocID="{5A096256-4487-47A6-8647-6DFBA444655C}" presName="parentLin" presStyleCnt="0"/>
      <dgm:spPr/>
    </dgm:pt>
    <dgm:pt modelId="{5B9B28EF-D103-4352-BD9F-53C2D0D9D7F5}" type="pres">
      <dgm:prSet presAssocID="{5A096256-4487-47A6-8647-6DFBA444655C}" presName="parentLeftMargin" presStyleLbl="node1" presStyleIdx="0" presStyleCnt="5"/>
      <dgm:spPr/>
    </dgm:pt>
    <dgm:pt modelId="{5E0CFE02-DDAA-4E20-989B-D73485F3905C}" type="pres">
      <dgm:prSet presAssocID="{5A096256-4487-47A6-8647-6DFBA444655C}" presName="parentText" presStyleLbl="node1" presStyleIdx="1" presStyleCnt="5">
        <dgm:presLayoutVars>
          <dgm:chMax val="0"/>
          <dgm:bulletEnabled val="1"/>
        </dgm:presLayoutVars>
      </dgm:prSet>
      <dgm:spPr/>
    </dgm:pt>
    <dgm:pt modelId="{2201A1E6-C5BC-4BE5-A6A4-C34AE27B2ADF}" type="pres">
      <dgm:prSet presAssocID="{5A096256-4487-47A6-8647-6DFBA444655C}" presName="negativeSpace" presStyleCnt="0"/>
      <dgm:spPr/>
    </dgm:pt>
    <dgm:pt modelId="{41C9AADE-A872-4EAF-A62D-394964F56DFF}" type="pres">
      <dgm:prSet presAssocID="{5A096256-4487-47A6-8647-6DFBA444655C}" presName="childText" presStyleLbl="conFgAcc1" presStyleIdx="1" presStyleCnt="5">
        <dgm:presLayoutVars>
          <dgm:bulletEnabled val="1"/>
        </dgm:presLayoutVars>
      </dgm:prSet>
      <dgm:spPr/>
    </dgm:pt>
    <dgm:pt modelId="{66F56DF5-2835-4C48-870E-CCD739355843}" type="pres">
      <dgm:prSet presAssocID="{F7E6322A-4CA4-485B-84F1-1A2FE19E9085}" presName="spaceBetweenRectangles" presStyleCnt="0"/>
      <dgm:spPr/>
    </dgm:pt>
    <dgm:pt modelId="{DB237BB2-9976-4CC9-988D-CF247A49898E}" type="pres">
      <dgm:prSet presAssocID="{45CEA968-D9C3-494C-A787-AD35C5DB5B0D}" presName="parentLin" presStyleCnt="0"/>
      <dgm:spPr/>
    </dgm:pt>
    <dgm:pt modelId="{B37A4F1E-8434-4D7D-A818-69779EA15183}" type="pres">
      <dgm:prSet presAssocID="{45CEA968-D9C3-494C-A787-AD35C5DB5B0D}" presName="parentLeftMargin" presStyleLbl="node1" presStyleIdx="1" presStyleCnt="5"/>
      <dgm:spPr/>
    </dgm:pt>
    <dgm:pt modelId="{BE9FDDD0-25BA-484E-BC7C-A8AA50DC78BC}" type="pres">
      <dgm:prSet presAssocID="{45CEA968-D9C3-494C-A787-AD35C5DB5B0D}" presName="parentText" presStyleLbl="node1" presStyleIdx="2" presStyleCnt="5">
        <dgm:presLayoutVars>
          <dgm:chMax val="0"/>
          <dgm:bulletEnabled val="1"/>
        </dgm:presLayoutVars>
      </dgm:prSet>
      <dgm:spPr/>
    </dgm:pt>
    <dgm:pt modelId="{E3D27BD0-2C5B-43CF-A682-702C1AE25C35}" type="pres">
      <dgm:prSet presAssocID="{45CEA968-D9C3-494C-A787-AD35C5DB5B0D}" presName="negativeSpace" presStyleCnt="0"/>
      <dgm:spPr/>
    </dgm:pt>
    <dgm:pt modelId="{1F97E037-43AE-4363-A13B-FE66DE8F3B18}" type="pres">
      <dgm:prSet presAssocID="{45CEA968-D9C3-494C-A787-AD35C5DB5B0D}" presName="childText" presStyleLbl="conFgAcc1" presStyleIdx="2" presStyleCnt="5">
        <dgm:presLayoutVars>
          <dgm:bulletEnabled val="1"/>
        </dgm:presLayoutVars>
      </dgm:prSet>
      <dgm:spPr/>
    </dgm:pt>
    <dgm:pt modelId="{754973D4-FE15-4CB0-AD45-50551DE70C80}" type="pres">
      <dgm:prSet presAssocID="{F78C8D25-CC87-48A5-9466-E1C80D9F9C9C}" presName="spaceBetweenRectangles" presStyleCnt="0"/>
      <dgm:spPr/>
    </dgm:pt>
    <dgm:pt modelId="{8951B39C-BD66-410A-AD00-2A31343340E2}" type="pres">
      <dgm:prSet presAssocID="{16C11599-B8E8-4910-93A8-2967F7151A1E}" presName="parentLin" presStyleCnt="0"/>
      <dgm:spPr/>
    </dgm:pt>
    <dgm:pt modelId="{31E9ACC4-86DE-4D56-B27E-9362C6AE1F81}" type="pres">
      <dgm:prSet presAssocID="{16C11599-B8E8-4910-93A8-2967F7151A1E}" presName="parentLeftMargin" presStyleLbl="node1" presStyleIdx="2" presStyleCnt="5"/>
      <dgm:spPr/>
    </dgm:pt>
    <dgm:pt modelId="{3CF5F1B6-9617-40E2-A19B-1895D06CE9A9}" type="pres">
      <dgm:prSet presAssocID="{16C11599-B8E8-4910-93A8-2967F7151A1E}" presName="parentText" presStyleLbl="node1" presStyleIdx="3" presStyleCnt="5">
        <dgm:presLayoutVars>
          <dgm:chMax val="0"/>
          <dgm:bulletEnabled val="1"/>
        </dgm:presLayoutVars>
      </dgm:prSet>
      <dgm:spPr/>
    </dgm:pt>
    <dgm:pt modelId="{CF9E0B93-7269-4000-8688-C22DCFFE8618}" type="pres">
      <dgm:prSet presAssocID="{16C11599-B8E8-4910-93A8-2967F7151A1E}" presName="negativeSpace" presStyleCnt="0"/>
      <dgm:spPr/>
    </dgm:pt>
    <dgm:pt modelId="{87D9C866-461B-44B6-A137-699F32051F00}" type="pres">
      <dgm:prSet presAssocID="{16C11599-B8E8-4910-93A8-2967F7151A1E}" presName="childText" presStyleLbl="conFgAcc1" presStyleIdx="3" presStyleCnt="5">
        <dgm:presLayoutVars>
          <dgm:bulletEnabled val="1"/>
        </dgm:presLayoutVars>
      </dgm:prSet>
      <dgm:spPr/>
    </dgm:pt>
    <dgm:pt modelId="{56039203-ADA6-4E77-B14C-F3166D5BFFA2}" type="pres">
      <dgm:prSet presAssocID="{198DB61E-C3AB-4B00-92CB-E1CB4012C0DA}" presName="spaceBetweenRectangles" presStyleCnt="0"/>
      <dgm:spPr/>
    </dgm:pt>
    <dgm:pt modelId="{42B3D036-19C1-4F8D-8F19-03167C087405}" type="pres">
      <dgm:prSet presAssocID="{B820F94C-7B37-41EF-BD93-3784C6D884E4}" presName="parentLin" presStyleCnt="0"/>
      <dgm:spPr/>
    </dgm:pt>
    <dgm:pt modelId="{AA895E69-E13A-46C9-A32A-53D03F1BEA2A}" type="pres">
      <dgm:prSet presAssocID="{B820F94C-7B37-41EF-BD93-3784C6D884E4}" presName="parentLeftMargin" presStyleLbl="node1" presStyleIdx="3" presStyleCnt="5"/>
      <dgm:spPr/>
    </dgm:pt>
    <dgm:pt modelId="{D55572AF-6287-4BC0-A4FA-04A4330F1DBD}" type="pres">
      <dgm:prSet presAssocID="{B820F94C-7B37-41EF-BD93-3784C6D884E4}" presName="parentText" presStyleLbl="node1" presStyleIdx="4" presStyleCnt="5">
        <dgm:presLayoutVars>
          <dgm:chMax val="0"/>
          <dgm:bulletEnabled val="1"/>
        </dgm:presLayoutVars>
      </dgm:prSet>
      <dgm:spPr/>
    </dgm:pt>
    <dgm:pt modelId="{B97D1756-394B-433B-985E-0D305C245380}" type="pres">
      <dgm:prSet presAssocID="{B820F94C-7B37-41EF-BD93-3784C6D884E4}" presName="negativeSpace" presStyleCnt="0"/>
      <dgm:spPr/>
    </dgm:pt>
    <dgm:pt modelId="{ACEAAC4E-6569-4DB7-9588-D117A67DE433}" type="pres">
      <dgm:prSet presAssocID="{B820F94C-7B37-41EF-BD93-3784C6D884E4}" presName="childText" presStyleLbl="conFgAcc1" presStyleIdx="4" presStyleCnt="5">
        <dgm:presLayoutVars>
          <dgm:bulletEnabled val="1"/>
        </dgm:presLayoutVars>
      </dgm:prSet>
      <dgm:spPr/>
    </dgm:pt>
  </dgm:ptLst>
  <dgm:cxnLst>
    <dgm:cxn modelId="{EDA5DC03-95F4-4FCD-A168-9B65AE37937F}" srcId="{EEF2689A-8C91-4309-9A91-12B6F683208D}" destId="{16C11599-B8E8-4910-93A8-2967F7151A1E}" srcOrd="3" destOrd="0" parTransId="{BBE82A91-2575-48E6-8228-14FF7D88DC65}" sibTransId="{198DB61E-C3AB-4B00-92CB-E1CB4012C0DA}"/>
    <dgm:cxn modelId="{FFA9B420-30A6-4EF0-8A11-50FE1CC99F65}" srcId="{EEF2689A-8C91-4309-9A91-12B6F683208D}" destId="{B820F94C-7B37-41EF-BD93-3784C6D884E4}" srcOrd="4" destOrd="0" parTransId="{16D712AD-7B81-4A14-BB74-DDBCC9C235B8}" sibTransId="{6E509EE5-C2FA-4C49-9641-8F671AD7BD3A}"/>
    <dgm:cxn modelId="{09BC4A25-4D82-497E-8D99-04CCF8FBCDBA}" type="presOf" srcId="{77373693-AF9C-43DC-8F5B-522615C29112}" destId="{9EED501D-FEEA-4CEC-8D75-793B33D88AE2}" srcOrd="1" destOrd="0" presId="urn:microsoft.com/office/officeart/2005/8/layout/list1"/>
    <dgm:cxn modelId="{E3BCA526-D5AD-4269-AF0F-DD81E3710BD8}" srcId="{EEF2689A-8C91-4309-9A91-12B6F683208D}" destId="{5A096256-4487-47A6-8647-6DFBA444655C}" srcOrd="1" destOrd="0" parTransId="{EBC9B3C1-2B12-48D6-BB98-6743209A18DB}" sibTransId="{F7E6322A-4CA4-485B-84F1-1A2FE19E9085}"/>
    <dgm:cxn modelId="{FECD0D2D-F768-451E-BD39-320EC871F06D}" type="presOf" srcId="{5A096256-4487-47A6-8647-6DFBA444655C}" destId="{5E0CFE02-DDAA-4E20-989B-D73485F3905C}" srcOrd="1" destOrd="0" presId="urn:microsoft.com/office/officeart/2005/8/layout/list1"/>
    <dgm:cxn modelId="{F615F837-8DD7-4003-B04F-41A1B0CC9664}" type="presOf" srcId="{EEF2689A-8C91-4309-9A91-12B6F683208D}" destId="{8CD4BB7B-AF42-4B3D-992F-0C80BE69B92B}" srcOrd="0" destOrd="0" presId="urn:microsoft.com/office/officeart/2005/8/layout/list1"/>
    <dgm:cxn modelId="{C186BD76-97BE-464B-85D4-D4EBE1048B23}" type="presOf" srcId="{77373693-AF9C-43DC-8F5B-522615C29112}" destId="{1A9B8868-2C94-471D-864E-7EC330AA7B25}" srcOrd="0" destOrd="0" presId="urn:microsoft.com/office/officeart/2005/8/layout/list1"/>
    <dgm:cxn modelId="{787FA479-CCC0-4D80-86D7-4854A5FC6273}" type="presOf" srcId="{45CEA968-D9C3-494C-A787-AD35C5DB5B0D}" destId="{BE9FDDD0-25BA-484E-BC7C-A8AA50DC78BC}" srcOrd="1" destOrd="0" presId="urn:microsoft.com/office/officeart/2005/8/layout/list1"/>
    <dgm:cxn modelId="{1351C883-ED63-404A-AC23-4CD683414E76}" type="presOf" srcId="{45CEA968-D9C3-494C-A787-AD35C5DB5B0D}" destId="{B37A4F1E-8434-4D7D-A818-69779EA15183}" srcOrd="0" destOrd="0" presId="urn:microsoft.com/office/officeart/2005/8/layout/list1"/>
    <dgm:cxn modelId="{2F209891-EABA-4126-9E89-A59E5B826BC4}" srcId="{EEF2689A-8C91-4309-9A91-12B6F683208D}" destId="{45CEA968-D9C3-494C-A787-AD35C5DB5B0D}" srcOrd="2" destOrd="0" parTransId="{DE9F69C7-AF15-4086-8A4B-D3A032D33526}" sibTransId="{F78C8D25-CC87-48A5-9466-E1C80D9F9C9C}"/>
    <dgm:cxn modelId="{270B17CE-0D7D-483A-9D14-F0852D6B6CF4}" type="presOf" srcId="{16C11599-B8E8-4910-93A8-2967F7151A1E}" destId="{3CF5F1B6-9617-40E2-A19B-1895D06CE9A9}" srcOrd="1" destOrd="0" presId="urn:microsoft.com/office/officeart/2005/8/layout/list1"/>
    <dgm:cxn modelId="{6383E8D8-E844-48D4-90F5-467E56FAA7D7}" type="presOf" srcId="{5A096256-4487-47A6-8647-6DFBA444655C}" destId="{5B9B28EF-D103-4352-BD9F-53C2D0D9D7F5}" srcOrd="0" destOrd="0" presId="urn:microsoft.com/office/officeart/2005/8/layout/list1"/>
    <dgm:cxn modelId="{68F7CCDA-9E0C-49DE-9FF9-1FBD784E2390}" type="presOf" srcId="{B820F94C-7B37-41EF-BD93-3784C6D884E4}" destId="{AA895E69-E13A-46C9-A32A-53D03F1BEA2A}" srcOrd="0" destOrd="0" presId="urn:microsoft.com/office/officeart/2005/8/layout/list1"/>
    <dgm:cxn modelId="{62EA07DC-DE80-4356-9CB9-1941C5C2FF88}" type="presOf" srcId="{B820F94C-7B37-41EF-BD93-3784C6D884E4}" destId="{D55572AF-6287-4BC0-A4FA-04A4330F1DBD}" srcOrd="1" destOrd="0" presId="urn:microsoft.com/office/officeart/2005/8/layout/list1"/>
    <dgm:cxn modelId="{F131B7F4-9710-40BF-BE56-87DA40562761}" srcId="{EEF2689A-8C91-4309-9A91-12B6F683208D}" destId="{77373693-AF9C-43DC-8F5B-522615C29112}" srcOrd="0" destOrd="0" parTransId="{C6940CD3-E124-4100-93DA-93F21345BD17}" sibTransId="{2E1FFD79-8FCD-4C8B-B69D-112E5AD28A6E}"/>
    <dgm:cxn modelId="{374ED1F9-493E-4DF6-B7EB-427633FB41B0}" type="presOf" srcId="{16C11599-B8E8-4910-93A8-2967F7151A1E}" destId="{31E9ACC4-86DE-4D56-B27E-9362C6AE1F81}" srcOrd="0" destOrd="0" presId="urn:microsoft.com/office/officeart/2005/8/layout/list1"/>
    <dgm:cxn modelId="{B8CD5D33-52B6-4E67-B013-050749950720}" type="presParOf" srcId="{8CD4BB7B-AF42-4B3D-992F-0C80BE69B92B}" destId="{EA9D1386-4148-49F5-8B01-755FB1A41E40}" srcOrd="0" destOrd="0" presId="urn:microsoft.com/office/officeart/2005/8/layout/list1"/>
    <dgm:cxn modelId="{AC5D5F5F-E1EB-4CED-84A9-127ADD7EE3A7}" type="presParOf" srcId="{EA9D1386-4148-49F5-8B01-755FB1A41E40}" destId="{1A9B8868-2C94-471D-864E-7EC330AA7B25}" srcOrd="0" destOrd="0" presId="urn:microsoft.com/office/officeart/2005/8/layout/list1"/>
    <dgm:cxn modelId="{45F4C321-9389-4C37-94DE-B2376B03F1AE}" type="presParOf" srcId="{EA9D1386-4148-49F5-8B01-755FB1A41E40}" destId="{9EED501D-FEEA-4CEC-8D75-793B33D88AE2}" srcOrd="1" destOrd="0" presId="urn:microsoft.com/office/officeart/2005/8/layout/list1"/>
    <dgm:cxn modelId="{F5A9E903-8F72-4C48-965A-80C0BCC0D5E2}" type="presParOf" srcId="{8CD4BB7B-AF42-4B3D-992F-0C80BE69B92B}" destId="{545D10D3-36DA-47F9-A24C-7DAA6B77F6CB}" srcOrd="1" destOrd="0" presId="urn:microsoft.com/office/officeart/2005/8/layout/list1"/>
    <dgm:cxn modelId="{BC4D15CB-3BC3-47CA-9265-A3046307474B}" type="presParOf" srcId="{8CD4BB7B-AF42-4B3D-992F-0C80BE69B92B}" destId="{5347D498-7A00-4A35-8374-385F8532BAA2}" srcOrd="2" destOrd="0" presId="urn:microsoft.com/office/officeart/2005/8/layout/list1"/>
    <dgm:cxn modelId="{8104E5E1-3251-4E01-A4E1-B3F3C8EF8D5E}" type="presParOf" srcId="{8CD4BB7B-AF42-4B3D-992F-0C80BE69B92B}" destId="{0E6ED814-614D-453E-88B9-A402B10C4A4E}" srcOrd="3" destOrd="0" presId="urn:microsoft.com/office/officeart/2005/8/layout/list1"/>
    <dgm:cxn modelId="{8DE6A51C-32D2-45D1-A339-F066B434399D}" type="presParOf" srcId="{8CD4BB7B-AF42-4B3D-992F-0C80BE69B92B}" destId="{AB0B3840-23B4-4EAD-97DF-CAD6AAC97588}" srcOrd="4" destOrd="0" presId="urn:microsoft.com/office/officeart/2005/8/layout/list1"/>
    <dgm:cxn modelId="{7B210FE9-D884-45B7-95BB-10A5483EBD3E}" type="presParOf" srcId="{AB0B3840-23B4-4EAD-97DF-CAD6AAC97588}" destId="{5B9B28EF-D103-4352-BD9F-53C2D0D9D7F5}" srcOrd="0" destOrd="0" presId="urn:microsoft.com/office/officeart/2005/8/layout/list1"/>
    <dgm:cxn modelId="{113059B6-6EBF-41F3-85D6-FEF1576B24E6}" type="presParOf" srcId="{AB0B3840-23B4-4EAD-97DF-CAD6AAC97588}" destId="{5E0CFE02-DDAA-4E20-989B-D73485F3905C}" srcOrd="1" destOrd="0" presId="urn:microsoft.com/office/officeart/2005/8/layout/list1"/>
    <dgm:cxn modelId="{F821A39F-26C1-49F1-AD81-F67B42A7EC81}" type="presParOf" srcId="{8CD4BB7B-AF42-4B3D-992F-0C80BE69B92B}" destId="{2201A1E6-C5BC-4BE5-A6A4-C34AE27B2ADF}" srcOrd="5" destOrd="0" presId="urn:microsoft.com/office/officeart/2005/8/layout/list1"/>
    <dgm:cxn modelId="{4CBFA106-6758-4872-95A2-479B873D8D00}" type="presParOf" srcId="{8CD4BB7B-AF42-4B3D-992F-0C80BE69B92B}" destId="{41C9AADE-A872-4EAF-A62D-394964F56DFF}" srcOrd="6" destOrd="0" presId="urn:microsoft.com/office/officeart/2005/8/layout/list1"/>
    <dgm:cxn modelId="{CDEC5872-E69D-45AF-AEB7-7A5C843C0B69}" type="presParOf" srcId="{8CD4BB7B-AF42-4B3D-992F-0C80BE69B92B}" destId="{66F56DF5-2835-4C48-870E-CCD739355843}" srcOrd="7" destOrd="0" presId="urn:microsoft.com/office/officeart/2005/8/layout/list1"/>
    <dgm:cxn modelId="{660D6E2D-9867-4862-9319-9D48EA57DEFC}" type="presParOf" srcId="{8CD4BB7B-AF42-4B3D-992F-0C80BE69B92B}" destId="{DB237BB2-9976-4CC9-988D-CF247A49898E}" srcOrd="8" destOrd="0" presId="urn:microsoft.com/office/officeart/2005/8/layout/list1"/>
    <dgm:cxn modelId="{6EDA89CC-2117-429B-B4D7-95EDF21AF3EB}" type="presParOf" srcId="{DB237BB2-9976-4CC9-988D-CF247A49898E}" destId="{B37A4F1E-8434-4D7D-A818-69779EA15183}" srcOrd="0" destOrd="0" presId="urn:microsoft.com/office/officeart/2005/8/layout/list1"/>
    <dgm:cxn modelId="{4A000AB1-458F-451C-9BCD-4EB336F964ED}" type="presParOf" srcId="{DB237BB2-9976-4CC9-988D-CF247A49898E}" destId="{BE9FDDD0-25BA-484E-BC7C-A8AA50DC78BC}" srcOrd="1" destOrd="0" presId="urn:microsoft.com/office/officeart/2005/8/layout/list1"/>
    <dgm:cxn modelId="{DC9FBF20-7FB4-4400-9CB8-BBD146FE961D}" type="presParOf" srcId="{8CD4BB7B-AF42-4B3D-992F-0C80BE69B92B}" destId="{E3D27BD0-2C5B-43CF-A682-702C1AE25C35}" srcOrd="9" destOrd="0" presId="urn:microsoft.com/office/officeart/2005/8/layout/list1"/>
    <dgm:cxn modelId="{3FAE54AF-F6CE-4DEF-A6C9-42D250D4352C}" type="presParOf" srcId="{8CD4BB7B-AF42-4B3D-992F-0C80BE69B92B}" destId="{1F97E037-43AE-4363-A13B-FE66DE8F3B18}" srcOrd="10" destOrd="0" presId="urn:microsoft.com/office/officeart/2005/8/layout/list1"/>
    <dgm:cxn modelId="{65C7AB52-A526-4AE5-BCB0-6E8F3E993DDC}" type="presParOf" srcId="{8CD4BB7B-AF42-4B3D-992F-0C80BE69B92B}" destId="{754973D4-FE15-4CB0-AD45-50551DE70C80}" srcOrd="11" destOrd="0" presId="urn:microsoft.com/office/officeart/2005/8/layout/list1"/>
    <dgm:cxn modelId="{FAE63263-6365-4FC4-8F0A-B73E411A4E31}" type="presParOf" srcId="{8CD4BB7B-AF42-4B3D-992F-0C80BE69B92B}" destId="{8951B39C-BD66-410A-AD00-2A31343340E2}" srcOrd="12" destOrd="0" presId="urn:microsoft.com/office/officeart/2005/8/layout/list1"/>
    <dgm:cxn modelId="{8E86A171-686F-4846-8081-650849E9D2AC}" type="presParOf" srcId="{8951B39C-BD66-410A-AD00-2A31343340E2}" destId="{31E9ACC4-86DE-4D56-B27E-9362C6AE1F81}" srcOrd="0" destOrd="0" presId="urn:microsoft.com/office/officeart/2005/8/layout/list1"/>
    <dgm:cxn modelId="{1586E04B-873E-42C7-AE5E-C0CCAFB4B2C5}" type="presParOf" srcId="{8951B39C-BD66-410A-AD00-2A31343340E2}" destId="{3CF5F1B6-9617-40E2-A19B-1895D06CE9A9}" srcOrd="1" destOrd="0" presId="urn:microsoft.com/office/officeart/2005/8/layout/list1"/>
    <dgm:cxn modelId="{C50036A4-49E8-4C30-B288-A368B174F9EE}" type="presParOf" srcId="{8CD4BB7B-AF42-4B3D-992F-0C80BE69B92B}" destId="{CF9E0B93-7269-4000-8688-C22DCFFE8618}" srcOrd="13" destOrd="0" presId="urn:microsoft.com/office/officeart/2005/8/layout/list1"/>
    <dgm:cxn modelId="{078D3A3D-14D1-43D3-AF32-111F0DDBA486}" type="presParOf" srcId="{8CD4BB7B-AF42-4B3D-992F-0C80BE69B92B}" destId="{87D9C866-461B-44B6-A137-699F32051F00}" srcOrd="14" destOrd="0" presId="urn:microsoft.com/office/officeart/2005/8/layout/list1"/>
    <dgm:cxn modelId="{49DB21C3-6516-4E83-A502-3F40F8DE4F01}" type="presParOf" srcId="{8CD4BB7B-AF42-4B3D-992F-0C80BE69B92B}" destId="{56039203-ADA6-4E77-B14C-F3166D5BFFA2}" srcOrd="15" destOrd="0" presId="urn:microsoft.com/office/officeart/2005/8/layout/list1"/>
    <dgm:cxn modelId="{9A6191BD-B208-49C7-A1A9-68F663FBEFF2}" type="presParOf" srcId="{8CD4BB7B-AF42-4B3D-992F-0C80BE69B92B}" destId="{42B3D036-19C1-4F8D-8F19-03167C087405}" srcOrd="16" destOrd="0" presId="urn:microsoft.com/office/officeart/2005/8/layout/list1"/>
    <dgm:cxn modelId="{6CC11359-13CA-4684-AA28-A8CC603FEE76}" type="presParOf" srcId="{42B3D036-19C1-4F8D-8F19-03167C087405}" destId="{AA895E69-E13A-46C9-A32A-53D03F1BEA2A}" srcOrd="0" destOrd="0" presId="urn:microsoft.com/office/officeart/2005/8/layout/list1"/>
    <dgm:cxn modelId="{1B709F83-0EEA-42A0-A499-5741255B734B}" type="presParOf" srcId="{42B3D036-19C1-4F8D-8F19-03167C087405}" destId="{D55572AF-6287-4BC0-A4FA-04A4330F1DBD}" srcOrd="1" destOrd="0" presId="urn:microsoft.com/office/officeart/2005/8/layout/list1"/>
    <dgm:cxn modelId="{E102BF3D-B962-49CA-9FF0-28192BDFFE21}" type="presParOf" srcId="{8CD4BB7B-AF42-4B3D-992F-0C80BE69B92B}" destId="{B97D1756-394B-433B-985E-0D305C245380}" srcOrd="17" destOrd="0" presId="urn:microsoft.com/office/officeart/2005/8/layout/list1"/>
    <dgm:cxn modelId="{CA3D9415-6836-4DAC-A91D-77E3544A05DD}" type="presParOf" srcId="{8CD4BB7B-AF42-4B3D-992F-0C80BE69B92B}" destId="{ACEAAC4E-6569-4DB7-9588-D117A67DE433}" srcOrd="18" destOrd="0" presId="urn:microsoft.com/office/officeart/2005/8/layout/list1"/>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DBF8B1-CBFB-4BA6-8622-6D8E2C03E370}">
      <dsp:nvSpPr>
        <dsp:cNvPr id="0" name=""/>
        <dsp:cNvSpPr/>
      </dsp:nvSpPr>
      <dsp:spPr>
        <a:xfrm>
          <a:off x="0" y="412380"/>
          <a:ext cx="8128000" cy="579600"/>
        </a:xfrm>
        <a:prstGeom prst="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6FBBDA39-8CC7-4DDB-B80B-1E6A5E377145}">
      <dsp:nvSpPr>
        <dsp:cNvPr id="0" name=""/>
        <dsp:cNvSpPr/>
      </dsp:nvSpPr>
      <dsp:spPr>
        <a:xfrm>
          <a:off x="406400" y="72900"/>
          <a:ext cx="5689600" cy="678960"/>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053" tIns="0" rIns="215053" bIns="0" numCol="1" spcCol="1270" anchor="ctr" anchorCtr="0">
          <a:noAutofit/>
        </a:bodyPr>
        <a:lstStyle/>
        <a:p>
          <a:pPr marL="0" lvl="0" indent="0" algn="l" defTabSz="1022350">
            <a:lnSpc>
              <a:spcPct val="90000"/>
            </a:lnSpc>
            <a:spcBef>
              <a:spcPct val="0"/>
            </a:spcBef>
            <a:spcAft>
              <a:spcPct val="35000"/>
            </a:spcAft>
            <a:buNone/>
          </a:pPr>
          <a:r>
            <a:rPr lang="en-US" sz="2300" kern="1200" dirty="0"/>
            <a:t>1. </a:t>
          </a:r>
          <a:r>
            <a:rPr lang="en-US" sz="2300" b="1" kern="1200" dirty="0"/>
            <a:t>Initiation phase </a:t>
          </a:r>
          <a:endParaRPr lang="en-US" sz="2300" kern="1200" dirty="0"/>
        </a:p>
      </dsp:txBody>
      <dsp:txXfrm>
        <a:off x="439544" y="106044"/>
        <a:ext cx="5623312" cy="612672"/>
      </dsp:txXfrm>
    </dsp:sp>
    <dsp:sp modelId="{E94E0119-83DA-4C10-BAA4-84FB7B191B2A}">
      <dsp:nvSpPr>
        <dsp:cNvPr id="0" name=""/>
        <dsp:cNvSpPr/>
      </dsp:nvSpPr>
      <dsp:spPr>
        <a:xfrm>
          <a:off x="0" y="1455660"/>
          <a:ext cx="8128000" cy="579600"/>
        </a:xfrm>
        <a:prstGeom prst="rect">
          <a:avLst/>
        </a:prstGeom>
        <a:solidFill>
          <a:schemeClr val="lt1">
            <a:alpha val="90000"/>
            <a:hueOff val="0"/>
            <a:satOff val="0"/>
            <a:lumOff val="0"/>
            <a:alphaOff val="0"/>
          </a:schemeClr>
        </a:solidFill>
        <a:ln w="6350" cap="flat" cmpd="sng" algn="ctr">
          <a:solidFill>
            <a:schemeClr val="accent4">
              <a:hueOff val="2450223"/>
              <a:satOff val="-10194"/>
              <a:lumOff val="2402"/>
              <a:alphaOff val="0"/>
            </a:schemeClr>
          </a:solidFill>
          <a:prstDash val="solid"/>
          <a:miter lim="800000"/>
        </a:ln>
        <a:effectLst/>
      </dsp:spPr>
      <dsp:style>
        <a:lnRef idx="1">
          <a:scrgbClr r="0" g="0" b="0"/>
        </a:lnRef>
        <a:fillRef idx="1">
          <a:scrgbClr r="0" g="0" b="0"/>
        </a:fillRef>
        <a:effectRef idx="0">
          <a:scrgbClr r="0" g="0" b="0"/>
        </a:effectRef>
        <a:fontRef idx="minor"/>
      </dsp:style>
    </dsp:sp>
    <dsp:sp modelId="{108BE746-F2DE-4F6B-A6DB-0F1EDE6332C2}">
      <dsp:nvSpPr>
        <dsp:cNvPr id="0" name=""/>
        <dsp:cNvSpPr/>
      </dsp:nvSpPr>
      <dsp:spPr>
        <a:xfrm>
          <a:off x="406400" y="1116180"/>
          <a:ext cx="5689600" cy="678960"/>
        </a:xfrm>
        <a:prstGeom prst="roundRect">
          <a:avLst/>
        </a:prstGeom>
        <a:gradFill rotWithShape="0">
          <a:gsLst>
            <a:gs pos="0">
              <a:schemeClr val="accent4">
                <a:hueOff val="2450223"/>
                <a:satOff val="-10194"/>
                <a:lumOff val="2402"/>
                <a:alphaOff val="0"/>
                <a:lumMod val="110000"/>
                <a:satMod val="105000"/>
                <a:tint val="67000"/>
              </a:schemeClr>
            </a:gs>
            <a:gs pos="50000">
              <a:schemeClr val="accent4">
                <a:hueOff val="2450223"/>
                <a:satOff val="-10194"/>
                <a:lumOff val="2402"/>
                <a:alphaOff val="0"/>
                <a:lumMod val="105000"/>
                <a:satMod val="103000"/>
                <a:tint val="73000"/>
              </a:schemeClr>
            </a:gs>
            <a:gs pos="100000">
              <a:schemeClr val="accent4">
                <a:hueOff val="2450223"/>
                <a:satOff val="-10194"/>
                <a:lumOff val="2402"/>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053" tIns="0" rIns="215053" bIns="0" numCol="1" spcCol="1270" anchor="ctr" anchorCtr="0">
          <a:noAutofit/>
        </a:bodyPr>
        <a:lstStyle/>
        <a:p>
          <a:pPr marL="0" lvl="0" indent="0" algn="l" defTabSz="1022350">
            <a:lnSpc>
              <a:spcPct val="90000"/>
            </a:lnSpc>
            <a:spcBef>
              <a:spcPct val="0"/>
            </a:spcBef>
            <a:spcAft>
              <a:spcPct val="35000"/>
            </a:spcAft>
            <a:buNone/>
          </a:pPr>
          <a:r>
            <a:rPr lang="en-US" sz="2300" b="1" kern="1200" dirty="0"/>
            <a:t>2. Planning phase </a:t>
          </a:r>
          <a:endParaRPr lang="en-US" sz="2300" kern="1200" dirty="0"/>
        </a:p>
      </dsp:txBody>
      <dsp:txXfrm>
        <a:off x="439544" y="1149324"/>
        <a:ext cx="5623312" cy="612672"/>
      </dsp:txXfrm>
    </dsp:sp>
    <dsp:sp modelId="{37CFEAC3-1610-409E-AC53-65F871B94BFE}">
      <dsp:nvSpPr>
        <dsp:cNvPr id="0" name=""/>
        <dsp:cNvSpPr/>
      </dsp:nvSpPr>
      <dsp:spPr>
        <a:xfrm>
          <a:off x="0" y="2498940"/>
          <a:ext cx="8128000" cy="579600"/>
        </a:xfrm>
        <a:prstGeom prst="rect">
          <a:avLst/>
        </a:prstGeom>
        <a:solidFill>
          <a:schemeClr val="lt1">
            <a:alpha val="90000"/>
            <a:hueOff val="0"/>
            <a:satOff val="0"/>
            <a:lumOff val="0"/>
            <a:alphaOff val="0"/>
          </a:schemeClr>
        </a:solidFill>
        <a:ln w="6350" cap="flat" cmpd="sng" algn="ctr">
          <a:solidFill>
            <a:schemeClr val="accent4">
              <a:hueOff val="4900445"/>
              <a:satOff val="-20388"/>
              <a:lumOff val="4804"/>
              <a:alphaOff val="0"/>
            </a:schemeClr>
          </a:solidFill>
          <a:prstDash val="solid"/>
          <a:miter lim="800000"/>
        </a:ln>
        <a:effectLst/>
      </dsp:spPr>
      <dsp:style>
        <a:lnRef idx="1">
          <a:scrgbClr r="0" g="0" b="0"/>
        </a:lnRef>
        <a:fillRef idx="1">
          <a:scrgbClr r="0" g="0" b="0"/>
        </a:fillRef>
        <a:effectRef idx="0">
          <a:scrgbClr r="0" g="0" b="0"/>
        </a:effectRef>
        <a:fontRef idx="minor"/>
      </dsp:style>
    </dsp:sp>
    <dsp:sp modelId="{FF0F1DCE-0B18-4F4C-A503-D533A0DD7F3B}">
      <dsp:nvSpPr>
        <dsp:cNvPr id="0" name=""/>
        <dsp:cNvSpPr/>
      </dsp:nvSpPr>
      <dsp:spPr>
        <a:xfrm>
          <a:off x="406400" y="2159460"/>
          <a:ext cx="5689600" cy="678960"/>
        </a:xfrm>
        <a:prstGeom prst="roundRect">
          <a:avLst/>
        </a:prstGeom>
        <a:gradFill rotWithShape="0">
          <a:gsLst>
            <a:gs pos="0">
              <a:schemeClr val="accent4">
                <a:hueOff val="4900445"/>
                <a:satOff val="-20388"/>
                <a:lumOff val="4804"/>
                <a:alphaOff val="0"/>
                <a:lumMod val="110000"/>
                <a:satMod val="105000"/>
                <a:tint val="67000"/>
              </a:schemeClr>
            </a:gs>
            <a:gs pos="50000">
              <a:schemeClr val="accent4">
                <a:hueOff val="4900445"/>
                <a:satOff val="-20388"/>
                <a:lumOff val="4804"/>
                <a:alphaOff val="0"/>
                <a:lumMod val="105000"/>
                <a:satMod val="103000"/>
                <a:tint val="73000"/>
              </a:schemeClr>
            </a:gs>
            <a:gs pos="100000">
              <a:schemeClr val="accent4">
                <a:hueOff val="4900445"/>
                <a:satOff val="-20388"/>
                <a:lumOff val="480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053" tIns="0" rIns="215053" bIns="0" numCol="1" spcCol="1270" anchor="ctr" anchorCtr="0">
          <a:noAutofit/>
        </a:bodyPr>
        <a:lstStyle/>
        <a:p>
          <a:pPr marL="0" lvl="0" indent="0" algn="l" defTabSz="1022350">
            <a:lnSpc>
              <a:spcPct val="90000"/>
            </a:lnSpc>
            <a:spcBef>
              <a:spcPct val="0"/>
            </a:spcBef>
            <a:spcAft>
              <a:spcPct val="35000"/>
            </a:spcAft>
            <a:buNone/>
          </a:pPr>
          <a:r>
            <a:rPr lang="en-US" sz="2300" kern="1200" dirty="0"/>
            <a:t>3. </a:t>
          </a:r>
          <a:r>
            <a:rPr lang="en-US" sz="2300" b="1" kern="1200" dirty="0"/>
            <a:t>Execution phase </a:t>
          </a:r>
          <a:endParaRPr lang="en-US" sz="2300" kern="1200" dirty="0"/>
        </a:p>
      </dsp:txBody>
      <dsp:txXfrm>
        <a:off x="439544" y="2192604"/>
        <a:ext cx="5623312" cy="612672"/>
      </dsp:txXfrm>
    </dsp:sp>
    <dsp:sp modelId="{6E9C1DD3-E24E-43E1-9091-6D26CAF1B8CB}">
      <dsp:nvSpPr>
        <dsp:cNvPr id="0" name=""/>
        <dsp:cNvSpPr/>
      </dsp:nvSpPr>
      <dsp:spPr>
        <a:xfrm>
          <a:off x="0" y="3542220"/>
          <a:ext cx="8128000" cy="579600"/>
        </a:xfrm>
        <a:prstGeom prst="rect">
          <a:avLst/>
        </a:prstGeom>
        <a:solidFill>
          <a:schemeClr val="lt1">
            <a:alpha val="90000"/>
            <a:hueOff val="0"/>
            <a:satOff val="0"/>
            <a:lumOff val="0"/>
            <a:alphaOff val="0"/>
          </a:schemeClr>
        </a:solidFill>
        <a:ln w="6350" cap="flat" cmpd="sng" algn="ctr">
          <a:solidFill>
            <a:schemeClr val="accent4">
              <a:hueOff val="7350668"/>
              <a:satOff val="-30583"/>
              <a:lumOff val="7206"/>
              <a:alphaOff val="0"/>
            </a:schemeClr>
          </a:solidFill>
          <a:prstDash val="solid"/>
          <a:miter lim="800000"/>
        </a:ln>
        <a:effectLst/>
      </dsp:spPr>
      <dsp:style>
        <a:lnRef idx="1">
          <a:scrgbClr r="0" g="0" b="0"/>
        </a:lnRef>
        <a:fillRef idx="1">
          <a:scrgbClr r="0" g="0" b="0"/>
        </a:fillRef>
        <a:effectRef idx="0">
          <a:scrgbClr r="0" g="0" b="0"/>
        </a:effectRef>
        <a:fontRef idx="minor"/>
      </dsp:style>
    </dsp:sp>
    <dsp:sp modelId="{1039A950-8AEC-4C33-A0D5-B6267297D78F}">
      <dsp:nvSpPr>
        <dsp:cNvPr id="0" name=""/>
        <dsp:cNvSpPr/>
      </dsp:nvSpPr>
      <dsp:spPr>
        <a:xfrm>
          <a:off x="406400" y="3202740"/>
          <a:ext cx="5689600" cy="678960"/>
        </a:xfrm>
        <a:prstGeom prst="roundRect">
          <a:avLst/>
        </a:prstGeom>
        <a:gradFill rotWithShape="0">
          <a:gsLst>
            <a:gs pos="0">
              <a:schemeClr val="accent4">
                <a:hueOff val="7350668"/>
                <a:satOff val="-30583"/>
                <a:lumOff val="7206"/>
                <a:alphaOff val="0"/>
                <a:lumMod val="110000"/>
                <a:satMod val="105000"/>
                <a:tint val="67000"/>
              </a:schemeClr>
            </a:gs>
            <a:gs pos="50000">
              <a:schemeClr val="accent4">
                <a:hueOff val="7350668"/>
                <a:satOff val="-30583"/>
                <a:lumOff val="7206"/>
                <a:alphaOff val="0"/>
                <a:lumMod val="105000"/>
                <a:satMod val="103000"/>
                <a:tint val="73000"/>
              </a:schemeClr>
            </a:gs>
            <a:gs pos="100000">
              <a:schemeClr val="accent4">
                <a:hueOff val="7350668"/>
                <a:satOff val="-30583"/>
                <a:lumOff val="7206"/>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053" tIns="0" rIns="215053" bIns="0" numCol="1" spcCol="1270" anchor="ctr" anchorCtr="0">
          <a:noAutofit/>
        </a:bodyPr>
        <a:lstStyle/>
        <a:p>
          <a:pPr marL="0" lvl="0" indent="0" algn="l" defTabSz="1022350">
            <a:lnSpc>
              <a:spcPct val="90000"/>
            </a:lnSpc>
            <a:spcBef>
              <a:spcPct val="0"/>
            </a:spcBef>
            <a:spcAft>
              <a:spcPct val="35000"/>
            </a:spcAft>
            <a:buNone/>
          </a:pPr>
          <a:r>
            <a:rPr lang="en-US" sz="2300" kern="1200" dirty="0"/>
            <a:t>4. </a:t>
          </a:r>
          <a:r>
            <a:rPr lang="en-US" sz="2300" b="1" kern="1200" dirty="0"/>
            <a:t>Monitoring and controlling phase </a:t>
          </a:r>
          <a:endParaRPr lang="en-US" sz="2300" kern="1200" dirty="0"/>
        </a:p>
      </dsp:txBody>
      <dsp:txXfrm>
        <a:off x="439544" y="3235884"/>
        <a:ext cx="5623312" cy="612672"/>
      </dsp:txXfrm>
    </dsp:sp>
    <dsp:sp modelId="{086E7FE6-1072-463F-9ED9-383B06B80CCF}">
      <dsp:nvSpPr>
        <dsp:cNvPr id="0" name=""/>
        <dsp:cNvSpPr/>
      </dsp:nvSpPr>
      <dsp:spPr>
        <a:xfrm>
          <a:off x="0" y="4585500"/>
          <a:ext cx="8128000" cy="579600"/>
        </a:xfrm>
        <a:prstGeom prst="rect">
          <a:avLst/>
        </a:prstGeom>
        <a:solidFill>
          <a:schemeClr val="lt1">
            <a:alpha val="90000"/>
            <a:hueOff val="0"/>
            <a:satOff val="0"/>
            <a:lumOff val="0"/>
            <a:alphaOff val="0"/>
          </a:schemeClr>
        </a:solidFill>
        <a:ln w="6350" cap="flat" cmpd="sng" algn="ctr">
          <a:solidFill>
            <a:schemeClr val="accent4">
              <a:hueOff val="9800891"/>
              <a:satOff val="-40777"/>
              <a:lumOff val="9608"/>
              <a:alphaOff val="0"/>
            </a:schemeClr>
          </a:solidFill>
          <a:prstDash val="solid"/>
          <a:miter lim="800000"/>
        </a:ln>
        <a:effectLst/>
      </dsp:spPr>
      <dsp:style>
        <a:lnRef idx="1">
          <a:scrgbClr r="0" g="0" b="0"/>
        </a:lnRef>
        <a:fillRef idx="1">
          <a:scrgbClr r="0" g="0" b="0"/>
        </a:fillRef>
        <a:effectRef idx="0">
          <a:scrgbClr r="0" g="0" b="0"/>
        </a:effectRef>
        <a:fontRef idx="minor"/>
      </dsp:style>
    </dsp:sp>
    <dsp:sp modelId="{012A75C4-186A-4390-B124-6A8806D91D29}">
      <dsp:nvSpPr>
        <dsp:cNvPr id="0" name=""/>
        <dsp:cNvSpPr/>
      </dsp:nvSpPr>
      <dsp:spPr>
        <a:xfrm>
          <a:off x="406400" y="4246020"/>
          <a:ext cx="5689600" cy="678960"/>
        </a:xfrm>
        <a:prstGeom prst="roundRect">
          <a:avLst/>
        </a:prstGeom>
        <a:gradFill rotWithShape="0">
          <a:gsLst>
            <a:gs pos="0">
              <a:schemeClr val="accent4">
                <a:hueOff val="9800891"/>
                <a:satOff val="-40777"/>
                <a:lumOff val="9608"/>
                <a:alphaOff val="0"/>
                <a:lumMod val="110000"/>
                <a:satMod val="105000"/>
                <a:tint val="67000"/>
              </a:schemeClr>
            </a:gs>
            <a:gs pos="50000">
              <a:schemeClr val="accent4">
                <a:hueOff val="9800891"/>
                <a:satOff val="-40777"/>
                <a:lumOff val="9608"/>
                <a:alphaOff val="0"/>
                <a:lumMod val="105000"/>
                <a:satMod val="103000"/>
                <a:tint val="73000"/>
              </a:schemeClr>
            </a:gs>
            <a:gs pos="100000">
              <a:schemeClr val="accent4">
                <a:hueOff val="9800891"/>
                <a:satOff val="-40777"/>
                <a:lumOff val="960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15053" tIns="0" rIns="215053" bIns="0" numCol="1" spcCol="1270" anchor="ctr" anchorCtr="0">
          <a:noAutofit/>
        </a:bodyPr>
        <a:lstStyle/>
        <a:p>
          <a:pPr marL="0" lvl="0" indent="0" algn="l" defTabSz="1022350">
            <a:lnSpc>
              <a:spcPct val="90000"/>
            </a:lnSpc>
            <a:spcBef>
              <a:spcPct val="0"/>
            </a:spcBef>
            <a:spcAft>
              <a:spcPct val="35000"/>
            </a:spcAft>
            <a:buNone/>
          </a:pPr>
          <a:r>
            <a:rPr lang="en-US" sz="2300" kern="1200" dirty="0"/>
            <a:t>5. </a:t>
          </a:r>
          <a:r>
            <a:rPr lang="en-US" sz="2300" b="1" kern="1200" dirty="0"/>
            <a:t>Closing phase </a:t>
          </a:r>
          <a:endParaRPr lang="en-US" sz="2300" kern="1200" dirty="0"/>
        </a:p>
      </dsp:txBody>
      <dsp:txXfrm>
        <a:off x="439544" y="4279164"/>
        <a:ext cx="5623312" cy="6126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47D498-7A00-4A35-8374-385F8532BAA2}">
      <dsp:nvSpPr>
        <dsp:cNvPr id="0" name=""/>
        <dsp:cNvSpPr/>
      </dsp:nvSpPr>
      <dsp:spPr>
        <a:xfrm>
          <a:off x="0" y="389075"/>
          <a:ext cx="8128000" cy="5796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9EED501D-FEEA-4CEC-8D75-793B33D88AE2}">
      <dsp:nvSpPr>
        <dsp:cNvPr id="0" name=""/>
        <dsp:cNvSpPr/>
      </dsp:nvSpPr>
      <dsp:spPr>
        <a:xfrm>
          <a:off x="406400" y="25866"/>
          <a:ext cx="5689600" cy="70268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1022350">
            <a:lnSpc>
              <a:spcPct val="90000"/>
            </a:lnSpc>
            <a:spcBef>
              <a:spcPct val="0"/>
            </a:spcBef>
            <a:spcAft>
              <a:spcPct val="35000"/>
            </a:spcAft>
            <a:buNone/>
          </a:pPr>
          <a:r>
            <a:rPr lang="en-US" sz="2300" kern="1200" dirty="0"/>
            <a:t>1. Preliminary Study and definition</a:t>
          </a:r>
        </a:p>
      </dsp:txBody>
      <dsp:txXfrm>
        <a:off x="440702" y="60168"/>
        <a:ext cx="5620996" cy="634085"/>
      </dsp:txXfrm>
    </dsp:sp>
    <dsp:sp modelId="{41C9AADE-A872-4EAF-A62D-394964F56DFF}">
      <dsp:nvSpPr>
        <dsp:cNvPr id="0" name=""/>
        <dsp:cNvSpPr/>
      </dsp:nvSpPr>
      <dsp:spPr>
        <a:xfrm>
          <a:off x="0" y="1432355"/>
          <a:ext cx="8128000" cy="579600"/>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5E0CFE02-DDAA-4E20-989B-D73485F3905C}">
      <dsp:nvSpPr>
        <dsp:cNvPr id="0" name=""/>
        <dsp:cNvSpPr/>
      </dsp:nvSpPr>
      <dsp:spPr>
        <a:xfrm>
          <a:off x="406400" y="1092875"/>
          <a:ext cx="5689600" cy="67896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1022350">
            <a:lnSpc>
              <a:spcPct val="90000"/>
            </a:lnSpc>
            <a:spcBef>
              <a:spcPct val="0"/>
            </a:spcBef>
            <a:spcAft>
              <a:spcPct val="35000"/>
            </a:spcAft>
            <a:buNone/>
          </a:pPr>
          <a:r>
            <a:rPr lang="en-US" sz="2300" kern="1200" dirty="0"/>
            <a:t>2. Forecast Income Statement</a:t>
          </a:r>
        </a:p>
      </dsp:txBody>
      <dsp:txXfrm>
        <a:off x="439544" y="1126019"/>
        <a:ext cx="5623312" cy="612672"/>
      </dsp:txXfrm>
    </dsp:sp>
    <dsp:sp modelId="{1F97E037-43AE-4363-A13B-FE66DE8F3B18}">
      <dsp:nvSpPr>
        <dsp:cNvPr id="0" name=""/>
        <dsp:cNvSpPr/>
      </dsp:nvSpPr>
      <dsp:spPr>
        <a:xfrm>
          <a:off x="0" y="2475635"/>
          <a:ext cx="8128000" cy="579600"/>
        </a:xfrm>
        <a:prstGeom prst="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BE9FDDD0-25BA-484E-BC7C-A8AA50DC78BC}">
      <dsp:nvSpPr>
        <dsp:cNvPr id="0" name=""/>
        <dsp:cNvSpPr/>
      </dsp:nvSpPr>
      <dsp:spPr>
        <a:xfrm>
          <a:off x="406400" y="2136155"/>
          <a:ext cx="5689600" cy="678960"/>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1022350">
            <a:lnSpc>
              <a:spcPct val="90000"/>
            </a:lnSpc>
            <a:spcBef>
              <a:spcPct val="0"/>
            </a:spcBef>
            <a:spcAft>
              <a:spcPct val="35000"/>
            </a:spcAft>
            <a:buNone/>
          </a:pPr>
          <a:r>
            <a:rPr lang="en-US" sz="2300" kern="1200" dirty="0"/>
            <a:t>3. Plan Company Structure and Operations</a:t>
          </a:r>
        </a:p>
      </dsp:txBody>
      <dsp:txXfrm>
        <a:off x="439544" y="2169299"/>
        <a:ext cx="5623312" cy="612672"/>
      </dsp:txXfrm>
    </dsp:sp>
    <dsp:sp modelId="{87D9C866-461B-44B6-A137-699F32051F00}">
      <dsp:nvSpPr>
        <dsp:cNvPr id="0" name=""/>
        <dsp:cNvSpPr/>
      </dsp:nvSpPr>
      <dsp:spPr>
        <a:xfrm>
          <a:off x="0" y="3518915"/>
          <a:ext cx="8128000" cy="579600"/>
        </a:xfrm>
        <a:prstGeom prst="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3CF5F1B6-9617-40E2-A19B-1895D06CE9A9}">
      <dsp:nvSpPr>
        <dsp:cNvPr id="0" name=""/>
        <dsp:cNvSpPr/>
      </dsp:nvSpPr>
      <dsp:spPr>
        <a:xfrm>
          <a:off x="406400" y="3179435"/>
          <a:ext cx="5689600" cy="67896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1022350">
            <a:lnSpc>
              <a:spcPct val="90000"/>
            </a:lnSpc>
            <a:spcBef>
              <a:spcPct val="0"/>
            </a:spcBef>
            <a:spcAft>
              <a:spcPct val="35000"/>
            </a:spcAft>
            <a:buNone/>
          </a:pPr>
          <a:r>
            <a:rPr lang="en-US" sz="2300" kern="1200" dirty="0"/>
            <a:t>4. Generate Balance Sheet</a:t>
          </a:r>
        </a:p>
      </dsp:txBody>
      <dsp:txXfrm>
        <a:off x="439544" y="3212579"/>
        <a:ext cx="5623312" cy="612672"/>
      </dsp:txXfrm>
    </dsp:sp>
    <dsp:sp modelId="{ACEAAC4E-6569-4DB7-9588-D117A67DE433}">
      <dsp:nvSpPr>
        <dsp:cNvPr id="0" name=""/>
        <dsp:cNvSpPr/>
      </dsp:nvSpPr>
      <dsp:spPr>
        <a:xfrm>
          <a:off x="0" y="4562195"/>
          <a:ext cx="8128000" cy="579600"/>
        </a:xfrm>
        <a:prstGeom prst="rect">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sp>
    <dsp:sp modelId="{D55572AF-6287-4BC0-A4FA-04A4330F1DBD}">
      <dsp:nvSpPr>
        <dsp:cNvPr id="0" name=""/>
        <dsp:cNvSpPr/>
      </dsp:nvSpPr>
      <dsp:spPr>
        <a:xfrm>
          <a:off x="406400" y="4222715"/>
          <a:ext cx="5689600" cy="678960"/>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1022350">
            <a:lnSpc>
              <a:spcPct val="90000"/>
            </a:lnSpc>
            <a:spcBef>
              <a:spcPct val="0"/>
            </a:spcBef>
            <a:spcAft>
              <a:spcPct val="35000"/>
            </a:spcAft>
            <a:buNone/>
          </a:pPr>
          <a:r>
            <a:rPr lang="en-US" sz="2300" kern="1200" dirty="0"/>
            <a:t>5. Data Examination and Final decision </a:t>
          </a:r>
        </a:p>
      </dsp:txBody>
      <dsp:txXfrm>
        <a:off x="439544" y="4255859"/>
        <a:ext cx="5623312" cy="61267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6.65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08.11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09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1.68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044"/>
    </inkml:context>
    <inkml:brush xml:id="br0">
      <inkml:brushProperty name="width" value="0.035" units="cm"/>
      <inkml:brushProperty name="height" value="0.035" units="cm"/>
      <inkml:brushProperty name="color" value="#E71224"/>
    </inkml:brush>
  </inkml:definitions>
  <inkml:trace contextRef="#ctx0" brushRef="#br0">0 1 24575,'0'0'-8191</inkml:trace>
  <inkml:trace contextRef="#ctx0" brushRef="#br0" timeOffset="1">0 1 24575,'0'0'-8191</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2.43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04T12:06:14.308"/>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C96CB2-9A81-46A7-8EF4-32C46FBEACFA}" type="datetimeFigureOut">
              <a:rPr lang="en-IN" smtClean="0"/>
              <a:pPr/>
              <a:t>01-09-2025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F8D896-5291-4AA0-B018-BFBF04A0C3A3}" type="slidenum">
              <a:rPr lang="en-IN" smtClean="0"/>
              <a:pPr/>
              <a:t>‹#›</a:t>
            </a:fld>
            <a:endParaRPr lang="en-IN"/>
          </a:p>
        </p:txBody>
      </p:sp>
    </p:spTree>
    <p:extLst>
      <p:ext uri="{BB962C8B-B14F-4D97-AF65-F5344CB8AC3E}">
        <p14:creationId xmlns:p14="http://schemas.microsoft.com/office/powerpoint/2010/main" val="1113537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889F7-12F5-6C54-FD8F-38FFE80179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D738CBE-3E16-5FEB-BD7B-B7D086665F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AA7F551-D7C6-26A1-A259-AD7AA8F60328}"/>
              </a:ext>
            </a:extLst>
          </p:cNvPr>
          <p:cNvSpPr>
            <a:spLocks noGrp="1"/>
          </p:cNvSpPr>
          <p:nvPr>
            <p:ph type="dt" sz="half" idx="10"/>
          </p:nvPr>
        </p:nvSpPr>
        <p:spPr/>
        <p:txBody>
          <a:bodyPr/>
          <a:lstStyle/>
          <a:p>
            <a:fld id="{1A1DECAD-C7C4-46C9-A12A-A8FC4D84DC3B}" type="datetime1">
              <a:rPr lang="en-IN" smtClean="0"/>
              <a:pPr/>
              <a:t>01-09-2025</a:t>
            </a:fld>
            <a:endParaRPr lang="en-IN"/>
          </a:p>
        </p:txBody>
      </p:sp>
      <p:sp>
        <p:nvSpPr>
          <p:cNvPr id="5" name="Footer Placeholder 4">
            <a:extLst>
              <a:ext uri="{FF2B5EF4-FFF2-40B4-BE49-F238E27FC236}">
                <a16:creationId xmlns:a16="http://schemas.microsoft.com/office/drawing/2014/main" id="{4CFBB7D8-7BB8-E6B4-48A8-D51CEDE2B6A3}"/>
              </a:ext>
            </a:extLst>
          </p:cNvPr>
          <p:cNvSpPr>
            <a:spLocks noGrp="1"/>
          </p:cNvSpPr>
          <p:nvPr>
            <p:ph type="ftr" sz="quarter" idx="11"/>
          </p:nvPr>
        </p:nvSpPr>
        <p:spPr/>
        <p:txBody>
          <a:bodyPr/>
          <a:lstStyle/>
          <a:p>
            <a:r>
              <a:rPr lang="en-US"/>
              <a:t>By: Shruti Mittal</a:t>
            </a:r>
            <a:endParaRPr lang="en-IN"/>
          </a:p>
        </p:txBody>
      </p:sp>
      <p:sp>
        <p:nvSpPr>
          <p:cNvPr id="6" name="Slide Number Placeholder 5">
            <a:extLst>
              <a:ext uri="{FF2B5EF4-FFF2-40B4-BE49-F238E27FC236}">
                <a16:creationId xmlns:a16="http://schemas.microsoft.com/office/drawing/2014/main" id="{4C7137DE-299E-3217-924E-E02A354ABA40}"/>
              </a:ext>
            </a:extLst>
          </p:cNvPr>
          <p:cNvSpPr>
            <a:spLocks noGrp="1"/>
          </p:cNvSpPr>
          <p:nvPr>
            <p:ph type="sldNum" sz="quarter" idx="12"/>
          </p:nvPr>
        </p:nvSpPr>
        <p:spPr/>
        <p:txBody>
          <a:bodyPr/>
          <a:lstStyle/>
          <a:p>
            <a:fld id="{2069B6F0-32DF-4D09-B8BB-7268CE28012E}" type="slidenum">
              <a:rPr lang="en-IN" smtClean="0"/>
              <a:pPr/>
              <a:t>‹#›</a:t>
            </a:fld>
            <a:endParaRPr lang="en-IN"/>
          </a:p>
        </p:txBody>
      </p:sp>
    </p:spTree>
    <p:extLst>
      <p:ext uri="{BB962C8B-B14F-4D97-AF65-F5344CB8AC3E}">
        <p14:creationId xmlns:p14="http://schemas.microsoft.com/office/powerpoint/2010/main" val="80426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9BE0D-FA2E-D5F9-E890-BEB62861FD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56F7937-CB84-864B-9A81-35FD0F4EF1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54D8DF-289A-97F8-3DD3-1430716E9307}"/>
              </a:ext>
            </a:extLst>
          </p:cNvPr>
          <p:cNvSpPr>
            <a:spLocks noGrp="1"/>
          </p:cNvSpPr>
          <p:nvPr>
            <p:ph type="dt" sz="half" idx="10"/>
          </p:nvPr>
        </p:nvSpPr>
        <p:spPr/>
        <p:txBody>
          <a:bodyPr/>
          <a:lstStyle/>
          <a:p>
            <a:fld id="{4C769393-8141-4048-9317-F3696ECAA64D}" type="datetime1">
              <a:rPr lang="en-IN" smtClean="0"/>
              <a:pPr/>
              <a:t>01-09-2025</a:t>
            </a:fld>
            <a:endParaRPr lang="en-IN"/>
          </a:p>
        </p:txBody>
      </p:sp>
      <p:sp>
        <p:nvSpPr>
          <p:cNvPr id="5" name="Footer Placeholder 4">
            <a:extLst>
              <a:ext uri="{FF2B5EF4-FFF2-40B4-BE49-F238E27FC236}">
                <a16:creationId xmlns:a16="http://schemas.microsoft.com/office/drawing/2014/main" id="{1A2E84C6-F611-DB88-F736-650E2347F310}"/>
              </a:ext>
            </a:extLst>
          </p:cNvPr>
          <p:cNvSpPr>
            <a:spLocks noGrp="1"/>
          </p:cNvSpPr>
          <p:nvPr>
            <p:ph type="ftr" sz="quarter" idx="11"/>
          </p:nvPr>
        </p:nvSpPr>
        <p:spPr/>
        <p:txBody>
          <a:bodyPr/>
          <a:lstStyle/>
          <a:p>
            <a:r>
              <a:rPr lang="en-US" dirty="0"/>
              <a:t>By: Alok Raj </a:t>
            </a:r>
            <a:endParaRPr lang="en-IN" dirty="0"/>
          </a:p>
        </p:txBody>
      </p:sp>
      <p:sp>
        <p:nvSpPr>
          <p:cNvPr id="6" name="Slide Number Placeholder 5">
            <a:extLst>
              <a:ext uri="{FF2B5EF4-FFF2-40B4-BE49-F238E27FC236}">
                <a16:creationId xmlns:a16="http://schemas.microsoft.com/office/drawing/2014/main" id="{A043F25F-1BC0-52A3-5717-2DB321FA9A78}"/>
              </a:ext>
            </a:extLst>
          </p:cNvPr>
          <p:cNvSpPr>
            <a:spLocks noGrp="1"/>
          </p:cNvSpPr>
          <p:nvPr>
            <p:ph type="sldNum" sz="quarter" idx="12"/>
          </p:nvPr>
        </p:nvSpPr>
        <p:spPr/>
        <p:txBody>
          <a:bodyPr/>
          <a:lstStyle/>
          <a:p>
            <a:fld id="{2069B6F0-32DF-4D09-B8BB-7268CE28012E}" type="slidenum">
              <a:rPr lang="en-IN" smtClean="0"/>
              <a:pPr/>
              <a:t>‹#›</a:t>
            </a:fld>
            <a:endParaRPr lang="en-IN"/>
          </a:p>
        </p:txBody>
      </p:sp>
    </p:spTree>
    <p:extLst>
      <p:ext uri="{BB962C8B-B14F-4D97-AF65-F5344CB8AC3E}">
        <p14:creationId xmlns:p14="http://schemas.microsoft.com/office/powerpoint/2010/main" val="3997904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AB6FF-7AE5-BA59-9200-69981038BF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94934A4-84E6-FBFF-7233-E2575596371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8E5D69-E5C5-AF1F-E208-D21C455505B5}"/>
              </a:ext>
            </a:extLst>
          </p:cNvPr>
          <p:cNvSpPr>
            <a:spLocks noGrp="1"/>
          </p:cNvSpPr>
          <p:nvPr>
            <p:ph type="dt" sz="half" idx="10"/>
          </p:nvPr>
        </p:nvSpPr>
        <p:spPr/>
        <p:txBody>
          <a:bodyPr/>
          <a:lstStyle/>
          <a:p>
            <a:fld id="{3A30ACE0-AB07-4389-B2FF-6A08E83FF5EE}" type="datetime1">
              <a:rPr lang="en-IN" smtClean="0"/>
              <a:pPr/>
              <a:t>01-09-2025</a:t>
            </a:fld>
            <a:endParaRPr lang="en-IN"/>
          </a:p>
        </p:txBody>
      </p:sp>
      <p:sp>
        <p:nvSpPr>
          <p:cNvPr id="5" name="Footer Placeholder 4">
            <a:extLst>
              <a:ext uri="{FF2B5EF4-FFF2-40B4-BE49-F238E27FC236}">
                <a16:creationId xmlns:a16="http://schemas.microsoft.com/office/drawing/2014/main" id="{C52231D6-7C45-0531-B0AB-2699456B195C}"/>
              </a:ext>
            </a:extLst>
          </p:cNvPr>
          <p:cNvSpPr>
            <a:spLocks noGrp="1"/>
          </p:cNvSpPr>
          <p:nvPr>
            <p:ph type="ftr" sz="quarter" idx="11"/>
          </p:nvPr>
        </p:nvSpPr>
        <p:spPr/>
        <p:txBody>
          <a:bodyPr/>
          <a:lstStyle/>
          <a:p>
            <a:r>
              <a:rPr lang="en-US"/>
              <a:t>By: Shruti Mittal</a:t>
            </a:r>
            <a:endParaRPr lang="en-IN"/>
          </a:p>
        </p:txBody>
      </p:sp>
      <p:sp>
        <p:nvSpPr>
          <p:cNvPr id="6" name="Slide Number Placeholder 5">
            <a:extLst>
              <a:ext uri="{FF2B5EF4-FFF2-40B4-BE49-F238E27FC236}">
                <a16:creationId xmlns:a16="http://schemas.microsoft.com/office/drawing/2014/main" id="{D893A639-38BD-EF50-5894-EF9C899C8E5E}"/>
              </a:ext>
            </a:extLst>
          </p:cNvPr>
          <p:cNvSpPr>
            <a:spLocks noGrp="1"/>
          </p:cNvSpPr>
          <p:nvPr>
            <p:ph type="sldNum" sz="quarter" idx="12"/>
          </p:nvPr>
        </p:nvSpPr>
        <p:spPr/>
        <p:txBody>
          <a:bodyPr/>
          <a:lstStyle/>
          <a:p>
            <a:fld id="{2069B6F0-32DF-4D09-B8BB-7268CE28012E}" type="slidenum">
              <a:rPr lang="en-IN" smtClean="0"/>
              <a:pPr/>
              <a:t>‹#›</a:t>
            </a:fld>
            <a:endParaRPr lang="en-IN"/>
          </a:p>
        </p:txBody>
      </p:sp>
    </p:spTree>
    <p:extLst>
      <p:ext uri="{BB962C8B-B14F-4D97-AF65-F5344CB8AC3E}">
        <p14:creationId xmlns:p14="http://schemas.microsoft.com/office/powerpoint/2010/main" val="2580840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B96C2-4B51-0F8B-78B4-13B95AE1DCD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09B63AF-EE3D-6203-EF20-8597B57674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D87D8FC-913D-6563-2E43-BBFED71F47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CAA6E88-9A34-77E1-1EDC-0B91CC496F93}"/>
              </a:ext>
            </a:extLst>
          </p:cNvPr>
          <p:cNvSpPr>
            <a:spLocks noGrp="1"/>
          </p:cNvSpPr>
          <p:nvPr>
            <p:ph type="dt" sz="half" idx="10"/>
          </p:nvPr>
        </p:nvSpPr>
        <p:spPr/>
        <p:txBody>
          <a:bodyPr/>
          <a:lstStyle/>
          <a:p>
            <a:fld id="{C00E971B-DFE4-4E1C-B22D-ACB335553F54}" type="datetime1">
              <a:rPr lang="en-IN" smtClean="0"/>
              <a:pPr/>
              <a:t>01-09-2025</a:t>
            </a:fld>
            <a:endParaRPr lang="en-IN"/>
          </a:p>
        </p:txBody>
      </p:sp>
      <p:sp>
        <p:nvSpPr>
          <p:cNvPr id="6" name="Footer Placeholder 5">
            <a:extLst>
              <a:ext uri="{FF2B5EF4-FFF2-40B4-BE49-F238E27FC236}">
                <a16:creationId xmlns:a16="http://schemas.microsoft.com/office/drawing/2014/main" id="{A2BCA93C-C137-336F-82A7-122352CE53CE}"/>
              </a:ext>
            </a:extLst>
          </p:cNvPr>
          <p:cNvSpPr>
            <a:spLocks noGrp="1"/>
          </p:cNvSpPr>
          <p:nvPr>
            <p:ph type="ftr" sz="quarter" idx="11"/>
          </p:nvPr>
        </p:nvSpPr>
        <p:spPr/>
        <p:txBody>
          <a:bodyPr/>
          <a:lstStyle/>
          <a:p>
            <a:r>
              <a:rPr lang="en-US"/>
              <a:t>By: Shruti Mittal</a:t>
            </a:r>
            <a:endParaRPr lang="en-IN"/>
          </a:p>
        </p:txBody>
      </p:sp>
      <p:sp>
        <p:nvSpPr>
          <p:cNvPr id="7" name="Slide Number Placeholder 6">
            <a:extLst>
              <a:ext uri="{FF2B5EF4-FFF2-40B4-BE49-F238E27FC236}">
                <a16:creationId xmlns:a16="http://schemas.microsoft.com/office/drawing/2014/main" id="{CB233FF1-E640-56A0-439A-CA8605C5F72D}"/>
              </a:ext>
            </a:extLst>
          </p:cNvPr>
          <p:cNvSpPr>
            <a:spLocks noGrp="1"/>
          </p:cNvSpPr>
          <p:nvPr>
            <p:ph type="sldNum" sz="quarter" idx="12"/>
          </p:nvPr>
        </p:nvSpPr>
        <p:spPr/>
        <p:txBody>
          <a:bodyPr/>
          <a:lstStyle/>
          <a:p>
            <a:fld id="{2069B6F0-32DF-4D09-B8BB-7268CE28012E}" type="slidenum">
              <a:rPr lang="en-IN" smtClean="0"/>
              <a:pPr/>
              <a:t>‹#›</a:t>
            </a:fld>
            <a:endParaRPr lang="en-IN"/>
          </a:p>
        </p:txBody>
      </p:sp>
    </p:spTree>
    <p:extLst>
      <p:ext uri="{BB962C8B-B14F-4D97-AF65-F5344CB8AC3E}">
        <p14:creationId xmlns:p14="http://schemas.microsoft.com/office/powerpoint/2010/main" val="18288237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937EB-AE58-779A-6BFB-2F7F12879DF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3E0F378-C380-AA32-0EC6-A5A626AF95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DEDD87-F656-490A-7FEB-87D3E43DE2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5A45826-846C-7352-595B-6D4243B7CF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E34AA9-148F-A37D-78AE-CFACFC7BE2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F9F05C3-115B-8228-EE1E-66DD511E07C7}"/>
              </a:ext>
            </a:extLst>
          </p:cNvPr>
          <p:cNvSpPr>
            <a:spLocks noGrp="1"/>
          </p:cNvSpPr>
          <p:nvPr>
            <p:ph type="dt" sz="half" idx="10"/>
          </p:nvPr>
        </p:nvSpPr>
        <p:spPr/>
        <p:txBody>
          <a:bodyPr/>
          <a:lstStyle/>
          <a:p>
            <a:fld id="{365ED68C-1107-40E7-89D1-6A2FA5F9F13D}" type="datetime1">
              <a:rPr lang="en-IN" smtClean="0"/>
              <a:pPr/>
              <a:t>01-09-2025</a:t>
            </a:fld>
            <a:endParaRPr lang="en-IN"/>
          </a:p>
        </p:txBody>
      </p:sp>
      <p:sp>
        <p:nvSpPr>
          <p:cNvPr id="8" name="Footer Placeholder 7">
            <a:extLst>
              <a:ext uri="{FF2B5EF4-FFF2-40B4-BE49-F238E27FC236}">
                <a16:creationId xmlns:a16="http://schemas.microsoft.com/office/drawing/2014/main" id="{FC048AD3-BE2B-5DA0-D5C1-0BCA4C5C7CB1}"/>
              </a:ext>
            </a:extLst>
          </p:cNvPr>
          <p:cNvSpPr>
            <a:spLocks noGrp="1"/>
          </p:cNvSpPr>
          <p:nvPr>
            <p:ph type="ftr" sz="quarter" idx="11"/>
          </p:nvPr>
        </p:nvSpPr>
        <p:spPr/>
        <p:txBody>
          <a:bodyPr/>
          <a:lstStyle/>
          <a:p>
            <a:r>
              <a:rPr lang="en-US"/>
              <a:t>By: Shruti Mittal</a:t>
            </a:r>
            <a:endParaRPr lang="en-IN"/>
          </a:p>
        </p:txBody>
      </p:sp>
      <p:sp>
        <p:nvSpPr>
          <p:cNvPr id="9" name="Slide Number Placeholder 8">
            <a:extLst>
              <a:ext uri="{FF2B5EF4-FFF2-40B4-BE49-F238E27FC236}">
                <a16:creationId xmlns:a16="http://schemas.microsoft.com/office/drawing/2014/main" id="{D830909F-BFE2-6F29-DE41-C44F2F6DBBFD}"/>
              </a:ext>
            </a:extLst>
          </p:cNvPr>
          <p:cNvSpPr>
            <a:spLocks noGrp="1"/>
          </p:cNvSpPr>
          <p:nvPr>
            <p:ph type="sldNum" sz="quarter" idx="12"/>
          </p:nvPr>
        </p:nvSpPr>
        <p:spPr/>
        <p:txBody>
          <a:bodyPr/>
          <a:lstStyle/>
          <a:p>
            <a:fld id="{2069B6F0-32DF-4D09-B8BB-7268CE28012E}" type="slidenum">
              <a:rPr lang="en-IN" smtClean="0"/>
              <a:pPr/>
              <a:t>‹#›</a:t>
            </a:fld>
            <a:endParaRPr lang="en-IN"/>
          </a:p>
        </p:txBody>
      </p:sp>
    </p:spTree>
    <p:extLst>
      <p:ext uri="{BB962C8B-B14F-4D97-AF65-F5344CB8AC3E}">
        <p14:creationId xmlns:p14="http://schemas.microsoft.com/office/powerpoint/2010/main" val="2477777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7D023-9788-C50A-A95E-1A0D7137B46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23DC353-926A-A559-5920-5F30D54C001E}"/>
              </a:ext>
            </a:extLst>
          </p:cNvPr>
          <p:cNvSpPr>
            <a:spLocks noGrp="1"/>
          </p:cNvSpPr>
          <p:nvPr>
            <p:ph type="dt" sz="half" idx="10"/>
          </p:nvPr>
        </p:nvSpPr>
        <p:spPr/>
        <p:txBody>
          <a:bodyPr/>
          <a:lstStyle/>
          <a:p>
            <a:fld id="{A377C313-5D3D-469B-817E-FC77BA36DFE7}" type="datetime1">
              <a:rPr lang="en-IN" smtClean="0"/>
              <a:pPr/>
              <a:t>01-09-2025</a:t>
            </a:fld>
            <a:endParaRPr lang="en-IN"/>
          </a:p>
        </p:txBody>
      </p:sp>
      <p:sp>
        <p:nvSpPr>
          <p:cNvPr id="4" name="Footer Placeholder 3">
            <a:extLst>
              <a:ext uri="{FF2B5EF4-FFF2-40B4-BE49-F238E27FC236}">
                <a16:creationId xmlns:a16="http://schemas.microsoft.com/office/drawing/2014/main" id="{F9021ED3-8E44-0290-5125-92D1C0B8BE2E}"/>
              </a:ext>
            </a:extLst>
          </p:cNvPr>
          <p:cNvSpPr>
            <a:spLocks noGrp="1"/>
          </p:cNvSpPr>
          <p:nvPr>
            <p:ph type="ftr" sz="quarter" idx="11"/>
          </p:nvPr>
        </p:nvSpPr>
        <p:spPr/>
        <p:txBody>
          <a:bodyPr/>
          <a:lstStyle/>
          <a:p>
            <a:r>
              <a:rPr lang="en-US"/>
              <a:t>By: Shruti Mittal</a:t>
            </a:r>
            <a:endParaRPr lang="en-IN"/>
          </a:p>
        </p:txBody>
      </p:sp>
      <p:sp>
        <p:nvSpPr>
          <p:cNvPr id="5" name="Slide Number Placeholder 4">
            <a:extLst>
              <a:ext uri="{FF2B5EF4-FFF2-40B4-BE49-F238E27FC236}">
                <a16:creationId xmlns:a16="http://schemas.microsoft.com/office/drawing/2014/main" id="{75CE6C38-CCC5-7726-DDB1-92727F45974C}"/>
              </a:ext>
            </a:extLst>
          </p:cNvPr>
          <p:cNvSpPr>
            <a:spLocks noGrp="1"/>
          </p:cNvSpPr>
          <p:nvPr>
            <p:ph type="sldNum" sz="quarter" idx="12"/>
          </p:nvPr>
        </p:nvSpPr>
        <p:spPr/>
        <p:txBody>
          <a:bodyPr/>
          <a:lstStyle/>
          <a:p>
            <a:fld id="{2069B6F0-32DF-4D09-B8BB-7268CE28012E}" type="slidenum">
              <a:rPr lang="en-IN" smtClean="0"/>
              <a:pPr/>
              <a:t>‹#›</a:t>
            </a:fld>
            <a:endParaRPr lang="en-IN"/>
          </a:p>
        </p:txBody>
      </p:sp>
    </p:spTree>
    <p:extLst>
      <p:ext uri="{BB962C8B-B14F-4D97-AF65-F5344CB8AC3E}">
        <p14:creationId xmlns:p14="http://schemas.microsoft.com/office/powerpoint/2010/main" val="1318846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19D4A6-4D0C-D1D8-8602-FC2346D89FAB}"/>
              </a:ext>
            </a:extLst>
          </p:cNvPr>
          <p:cNvSpPr>
            <a:spLocks noGrp="1"/>
          </p:cNvSpPr>
          <p:nvPr>
            <p:ph type="dt" sz="half" idx="10"/>
          </p:nvPr>
        </p:nvSpPr>
        <p:spPr/>
        <p:txBody>
          <a:bodyPr/>
          <a:lstStyle/>
          <a:p>
            <a:fld id="{09DBB60D-3E28-42F6-A030-22CF3F1808BC}" type="datetime1">
              <a:rPr lang="en-IN" smtClean="0"/>
              <a:pPr/>
              <a:t>01-09-2025</a:t>
            </a:fld>
            <a:endParaRPr lang="en-IN"/>
          </a:p>
        </p:txBody>
      </p:sp>
      <p:sp>
        <p:nvSpPr>
          <p:cNvPr id="3" name="Footer Placeholder 2">
            <a:extLst>
              <a:ext uri="{FF2B5EF4-FFF2-40B4-BE49-F238E27FC236}">
                <a16:creationId xmlns:a16="http://schemas.microsoft.com/office/drawing/2014/main" id="{9F85848C-2FA7-277A-9645-D2BB26F3E1E8}"/>
              </a:ext>
            </a:extLst>
          </p:cNvPr>
          <p:cNvSpPr>
            <a:spLocks noGrp="1"/>
          </p:cNvSpPr>
          <p:nvPr>
            <p:ph type="ftr" sz="quarter" idx="11"/>
          </p:nvPr>
        </p:nvSpPr>
        <p:spPr/>
        <p:txBody>
          <a:bodyPr/>
          <a:lstStyle/>
          <a:p>
            <a:r>
              <a:rPr lang="en-US"/>
              <a:t>By: Shruti Mittal</a:t>
            </a:r>
            <a:endParaRPr lang="en-IN"/>
          </a:p>
        </p:txBody>
      </p:sp>
      <p:sp>
        <p:nvSpPr>
          <p:cNvPr id="4" name="Slide Number Placeholder 3">
            <a:extLst>
              <a:ext uri="{FF2B5EF4-FFF2-40B4-BE49-F238E27FC236}">
                <a16:creationId xmlns:a16="http://schemas.microsoft.com/office/drawing/2014/main" id="{D90E99EA-9CED-7FC4-1550-BAEF3FEDACF2}"/>
              </a:ext>
            </a:extLst>
          </p:cNvPr>
          <p:cNvSpPr>
            <a:spLocks noGrp="1"/>
          </p:cNvSpPr>
          <p:nvPr>
            <p:ph type="sldNum" sz="quarter" idx="12"/>
          </p:nvPr>
        </p:nvSpPr>
        <p:spPr/>
        <p:txBody>
          <a:bodyPr/>
          <a:lstStyle/>
          <a:p>
            <a:fld id="{2069B6F0-32DF-4D09-B8BB-7268CE28012E}" type="slidenum">
              <a:rPr lang="en-IN" smtClean="0"/>
              <a:pPr/>
              <a:t>‹#›</a:t>
            </a:fld>
            <a:endParaRPr lang="en-IN"/>
          </a:p>
        </p:txBody>
      </p:sp>
    </p:spTree>
    <p:extLst>
      <p:ext uri="{BB962C8B-B14F-4D97-AF65-F5344CB8AC3E}">
        <p14:creationId xmlns:p14="http://schemas.microsoft.com/office/powerpoint/2010/main" val="3420434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76D67-87D9-40D2-E5F6-6CF0192152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17A30B8-8A1C-C521-F186-BB2DC65CEE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86F1BD9-9017-1B6F-8FB6-D7B1B32C48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84C180-DE77-5D50-24AF-B38AD5797887}"/>
              </a:ext>
            </a:extLst>
          </p:cNvPr>
          <p:cNvSpPr>
            <a:spLocks noGrp="1"/>
          </p:cNvSpPr>
          <p:nvPr>
            <p:ph type="dt" sz="half" idx="10"/>
          </p:nvPr>
        </p:nvSpPr>
        <p:spPr/>
        <p:txBody>
          <a:bodyPr/>
          <a:lstStyle/>
          <a:p>
            <a:fld id="{805F390F-18E7-4D71-B6CC-3198CC49CB3D}" type="datetime1">
              <a:rPr lang="en-IN" smtClean="0"/>
              <a:pPr/>
              <a:t>01-09-2025</a:t>
            </a:fld>
            <a:endParaRPr lang="en-IN"/>
          </a:p>
        </p:txBody>
      </p:sp>
      <p:sp>
        <p:nvSpPr>
          <p:cNvPr id="6" name="Footer Placeholder 5">
            <a:extLst>
              <a:ext uri="{FF2B5EF4-FFF2-40B4-BE49-F238E27FC236}">
                <a16:creationId xmlns:a16="http://schemas.microsoft.com/office/drawing/2014/main" id="{26874CFC-6D8F-F31A-06F0-D470A24353C1}"/>
              </a:ext>
            </a:extLst>
          </p:cNvPr>
          <p:cNvSpPr>
            <a:spLocks noGrp="1"/>
          </p:cNvSpPr>
          <p:nvPr>
            <p:ph type="ftr" sz="quarter" idx="11"/>
          </p:nvPr>
        </p:nvSpPr>
        <p:spPr/>
        <p:txBody>
          <a:bodyPr/>
          <a:lstStyle/>
          <a:p>
            <a:r>
              <a:rPr lang="en-US"/>
              <a:t>By: Shruti Mittal</a:t>
            </a:r>
            <a:endParaRPr lang="en-IN"/>
          </a:p>
        </p:txBody>
      </p:sp>
      <p:sp>
        <p:nvSpPr>
          <p:cNvPr id="7" name="Slide Number Placeholder 6">
            <a:extLst>
              <a:ext uri="{FF2B5EF4-FFF2-40B4-BE49-F238E27FC236}">
                <a16:creationId xmlns:a16="http://schemas.microsoft.com/office/drawing/2014/main" id="{536B5AC3-E9F6-C9F8-8BB2-C490E53828B1}"/>
              </a:ext>
            </a:extLst>
          </p:cNvPr>
          <p:cNvSpPr>
            <a:spLocks noGrp="1"/>
          </p:cNvSpPr>
          <p:nvPr>
            <p:ph type="sldNum" sz="quarter" idx="12"/>
          </p:nvPr>
        </p:nvSpPr>
        <p:spPr/>
        <p:txBody>
          <a:bodyPr/>
          <a:lstStyle/>
          <a:p>
            <a:fld id="{2069B6F0-32DF-4D09-B8BB-7268CE28012E}" type="slidenum">
              <a:rPr lang="en-IN" smtClean="0"/>
              <a:pPr/>
              <a:t>‹#›</a:t>
            </a:fld>
            <a:endParaRPr lang="en-IN"/>
          </a:p>
        </p:txBody>
      </p:sp>
    </p:spTree>
    <p:extLst>
      <p:ext uri="{BB962C8B-B14F-4D97-AF65-F5344CB8AC3E}">
        <p14:creationId xmlns:p14="http://schemas.microsoft.com/office/powerpoint/2010/main" val="10815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87032-6CE6-A161-AAC0-5B956635D7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9F07EF9-E68C-883C-BE9F-033F2E4AF3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C52CFA0-2F19-2F1F-5421-896D83F760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07197E-F7B7-1D1B-CACA-9F6115F45091}"/>
              </a:ext>
            </a:extLst>
          </p:cNvPr>
          <p:cNvSpPr>
            <a:spLocks noGrp="1"/>
          </p:cNvSpPr>
          <p:nvPr>
            <p:ph type="dt" sz="half" idx="10"/>
          </p:nvPr>
        </p:nvSpPr>
        <p:spPr/>
        <p:txBody>
          <a:bodyPr/>
          <a:lstStyle/>
          <a:p>
            <a:fld id="{FACA71C6-BB7C-41A1-911C-22ED385EF1AE}" type="datetime1">
              <a:rPr lang="en-IN" smtClean="0"/>
              <a:pPr/>
              <a:t>01-09-2025</a:t>
            </a:fld>
            <a:endParaRPr lang="en-IN"/>
          </a:p>
        </p:txBody>
      </p:sp>
      <p:sp>
        <p:nvSpPr>
          <p:cNvPr id="6" name="Footer Placeholder 5">
            <a:extLst>
              <a:ext uri="{FF2B5EF4-FFF2-40B4-BE49-F238E27FC236}">
                <a16:creationId xmlns:a16="http://schemas.microsoft.com/office/drawing/2014/main" id="{027138A2-BC2F-B6F4-38AA-10712515D68F}"/>
              </a:ext>
            </a:extLst>
          </p:cNvPr>
          <p:cNvSpPr>
            <a:spLocks noGrp="1"/>
          </p:cNvSpPr>
          <p:nvPr>
            <p:ph type="ftr" sz="quarter" idx="11"/>
          </p:nvPr>
        </p:nvSpPr>
        <p:spPr/>
        <p:txBody>
          <a:bodyPr/>
          <a:lstStyle/>
          <a:p>
            <a:r>
              <a:rPr lang="en-US"/>
              <a:t>By: Shruti Mittal</a:t>
            </a:r>
            <a:endParaRPr lang="en-IN"/>
          </a:p>
        </p:txBody>
      </p:sp>
      <p:sp>
        <p:nvSpPr>
          <p:cNvPr id="7" name="Slide Number Placeholder 6">
            <a:extLst>
              <a:ext uri="{FF2B5EF4-FFF2-40B4-BE49-F238E27FC236}">
                <a16:creationId xmlns:a16="http://schemas.microsoft.com/office/drawing/2014/main" id="{43CC4C4A-5327-C35E-B490-E5CA7830D48C}"/>
              </a:ext>
            </a:extLst>
          </p:cNvPr>
          <p:cNvSpPr>
            <a:spLocks noGrp="1"/>
          </p:cNvSpPr>
          <p:nvPr>
            <p:ph type="sldNum" sz="quarter" idx="12"/>
          </p:nvPr>
        </p:nvSpPr>
        <p:spPr/>
        <p:txBody>
          <a:bodyPr/>
          <a:lstStyle/>
          <a:p>
            <a:fld id="{2069B6F0-32DF-4D09-B8BB-7268CE28012E}" type="slidenum">
              <a:rPr lang="en-IN" smtClean="0"/>
              <a:pPr/>
              <a:t>‹#›</a:t>
            </a:fld>
            <a:endParaRPr lang="en-IN"/>
          </a:p>
        </p:txBody>
      </p:sp>
    </p:spTree>
    <p:extLst>
      <p:ext uri="{BB962C8B-B14F-4D97-AF65-F5344CB8AC3E}">
        <p14:creationId xmlns:p14="http://schemas.microsoft.com/office/powerpoint/2010/main" val="2770224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7829D-531B-BF2C-AD10-4A2A03DC80C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4CFE00C-B086-5217-96BC-C3FF1BF20C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6EA275-F741-967D-C864-2E7CDC4BF814}"/>
              </a:ext>
            </a:extLst>
          </p:cNvPr>
          <p:cNvSpPr>
            <a:spLocks noGrp="1"/>
          </p:cNvSpPr>
          <p:nvPr>
            <p:ph type="dt" sz="half" idx="10"/>
          </p:nvPr>
        </p:nvSpPr>
        <p:spPr/>
        <p:txBody>
          <a:bodyPr/>
          <a:lstStyle/>
          <a:p>
            <a:fld id="{C2BB002E-6ED1-4876-B986-6F4E3AC44714}" type="datetime1">
              <a:rPr lang="en-IN" smtClean="0"/>
              <a:pPr/>
              <a:t>01-09-2025</a:t>
            </a:fld>
            <a:endParaRPr lang="en-IN"/>
          </a:p>
        </p:txBody>
      </p:sp>
      <p:sp>
        <p:nvSpPr>
          <p:cNvPr id="5" name="Footer Placeholder 4">
            <a:extLst>
              <a:ext uri="{FF2B5EF4-FFF2-40B4-BE49-F238E27FC236}">
                <a16:creationId xmlns:a16="http://schemas.microsoft.com/office/drawing/2014/main" id="{F4247795-EF26-3CB1-9BA0-CB5AA7BB2ABA}"/>
              </a:ext>
            </a:extLst>
          </p:cNvPr>
          <p:cNvSpPr>
            <a:spLocks noGrp="1"/>
          </p:cNvSpPr>
          <p:nvPr>
            <p:ph type="ftr" sz="quarter" idx="11"/>
          </p:nvPr>
        </p:nvSpPr>
        <p:spPr/>
        <p:txBody>
          <a:bodyPr/>
          <a:lstStyle/>
          <a:p>
            <a:r>
              <a:rPr lang="en-US"/>
              <a:t>By: Shruti Mittal</a:t>
            </a:r>
            <a:endParaRPr lang="en-IN"/>
          </a:p>
        </p:txBody>
      </p:sp>
      <p:sp>
        <p:nvSpPr>
          <p:cNvPr id="6" name="Slide Number Placeholder 5">
            <a:extLst>
              <a:ext uri="{FF2B5EF4-FFF2-40B4-BE49-F238E27FC236}">
                <a16:creationId xmlns:a16="http://schemas.microsoft.com/office/drawing/2014/main" id="{87439702-91E5-4999-2C90-018A3EDA18B3}"/>
              </a:ext>
            </a:extLst>
          </p:cNvPr>
          <p:cNvSpPr>
            <a:spLocks noGrp="1"/>
          </p:cNvSpPr>
          <p:nvPr>
            <p:ph type="sldNum" sz="quarter" idx="12"/>
          </p:nvPr>
        </p:nvSpPr>
        <p:spPr/>
        <p:txBody>
          <a:bodyPr/>
          <a:lstStyle/>
          <a:p>
            <a:fld id="{2069B6F0-32DF-4D09-B8BB-7268CE28012E}" type="slidenum">
              <a:rPr lang="en-IN" smtClean="0"/>
              <a:pPr/>
              <a:t>‹#›</a:t>
            </a:fld>
            <a:endParaRPr lang="en-IN"/>
          </a:p>
        </p:txBody>
      </p:sp>
    </p:spTree>
    <p:extLst>
      <p:ext uri="{BB962C8B-B14F-4D97-AF65-F5344CB8AC3E}">
        <p14:creationId xmlns:p14="http://schemas.microsoft.com/office/powerpoint/2010/main" val="1419002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A8AA66-A93E-934B-1BA3-848515700AD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21381D5-94DD-D259-A00F-FD60073DFF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A060E4-52EA-04BE-0BEA-9682245E0F0B}"/>
              </a:ext>
            </a:extLst>
          </p:cNvPr>
          <p:cNvSpPr>
            <a:spLocks noGrp="1"/>
          </p:cNvSpPr>
          <p:nvPr>
            <p:ph type="dt" sz="half" idx="10"/>
          </p:nvPr>
        </p:nvSpPr>
        <p:spPr/>
        <p:txBody>
          <a:bodyPr/>
          <a:lstStyle/>
          <a:p>
            <a:fld id="{93D0110B-9435-4A96-8D82-CB0720ACF40F}" type="datetime1">
              <a:rPr lang="en-IN" smtClean="0"/>
              <a:pPr/>
              <a:t>01-09-2025</a:t>
            </a:fld>
            <a:endParaRPr lang="en-IN"/>
          </a:p>
        </p:txBody>
      </p:sp>
      <p:sp>
        <p:nvSpPr>
          <p:cNvPr id="5" name="Footer Placeholder 4">
            <a:extLst>
              <a:ext uri="{FF2B5EF4-FFF2-40B4-BE49-F238E27FC236}">
                <a16:creationId xmlns:a16="http://schemas.microsoft.com/office/drawing/2014/main" id="{4952AD5E-5773-B1BE-AA55-A44502AB1324}"/>
              </a:ext>
            </a:extLst>
          </p:cNvPr>
          <p:cNvSpPr>
            <a:spLocks noGrp="1"/>
          </p:cNvSpPr>
          <p:nvPr>
            <p:ph type="ftr" sz="quarter" idx="11"/>
          </p:nvPr>
        </p:nvSpPr>
        <p:spPr/>
        <p:txBody>
          <a:bodyPr/>
          <a:lstStyle/>
          <a:p>
            <a:r>
              <a:rPr lang="en-US"/>
              <a:t>By: Shruti Mittal</a:t>
            </a:r>
            <a:endParaRPr lang="en-IN"/>
          </a:p>
        </p:txBody>
      </p:sp>
      <p:sp>
        <p:nvSpPr>
          <p:cNvPr id="6" name="Slide Number Placeholder 5">
            <a:extLst>
              <a:ext uri="{FF2B5EF4-FFF2-40B4-BE49-F238E27FC236}">
                <a16:creationId xmlns:a16="http://schemas.microsoft.com/office/drawing/2014/main" id="{6E9942DF-D559-D6CB-CFD3-C112AE40E4B6}"/>
              </a:ext>
            </a:extLst>
          </p:cNvPr>
          <p:cNvSpPr>
            <a:spLocks noGrp="1"/>
          </p:cNvSpPr>
          <p:nvPr>
            <p:ph type="sldNum" sz="quarter" idx="12"/>
          </p:nvPr>
        </p:nvSpPr>
        <p:spPr/>
        <p:txBody>
          <a:bodyPr/>
          <a:lstStyle/>
          <a:p>
            <a:fld id="{2069B6F0-32DF-4D09-B8BB-7268CE28012E}" type="slidenum">
              <a:rPr lang="en-IN" smtClean="0"/>
              <a:pPr/>
              <a:t>‹#›</a:t>
            </a:fld>
            <a:endParaRPr lang="en-IN"/>
          </a:p>
        </p:txBody>
      </p:sp>
    </p:spTree>
    <p:extLst>
      <p:ext uri="{BB962C8B-B14F-4D97-AF65-F5344CB8AC3E}">
        <p14:creationId xmlns:p14="http://schemas.microsoft.com/office/powerpoint/2010/main" val="15060914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328852-F4A7-3587-1D46-5DC020102C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7FDEA82-4B82-E309-7F61-5BB681BFB1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4D76C5-18C3-C370-BBAB-8376BBC000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B495B1-5F19-4E8D-8CD1-206412C68028}" type="datetime1">
              <a:rPr lang="en-IN" smtClean="0"/>
              <a:pPr/>
              <a:t>01-09-2025</a:t>
            </a:fld>
            <a:endParaRPr lang="en-IN"/>
          </a:p>
        </p:txBody>
      </p:sp>
      <p:sp>
        <p:nvSpPr>
          <p:cNvPr id="5" name="Footer Placeholder 4">
            <a:extLst>
              <a:ext uri="{FF2B5EF4-FFF2-40B4-BE49-F238E27FC236}">
                <a16:creationId xmlns:a16="http://schemas.microsoft.com/office/drawing/2014/main" id="{EE022B11-E043-F04C-93AA-A01B182151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By: Shruti Mittal</a:t>
            </a:r>
            <a:endParaRPr lang="en-IN"/>
          </a:p>
        </p:txBody>
      </p:sp>
      <p:sp>
        <p:nvSpPr>
          <p:cNvPr id="6" name="Slide Number Placeholder 5">
            <a:extLst>
              <a:ext uri="{FF2B5EF4-FFF2-40B4-BE49-F238E27FC236}">
                <a16:creationId xmlns:a16="http://schemas.microsoft.com/office/drawing/2014/main" id="{6E452635-DA26-EF32-A691-BCD25940E3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69B6F0-32DF-4D09-B8BB-7268CE28012E}" type="slidenum">
              <a:rPr lang="en-IN" smtClean="0"/>
              <a:pPr/>
              <a:t>‹#›</a:t>
            </a:fld>
            <a:endParaRPr lang="en-IN"/>
          </a:p>
        </p:txBody>
      </p:sp>
    </p:spTree>
    <p:extLst>
      <p:ext uri="{BB962C8B-B14F-4D97-AF65-F5344CB8AC3E}">
        <p14:creationId xmlns:p14="http://schemas.microsoft.com/office/powerpoint/2010/main" val="10972951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customXml" Target="../ink/ink5.xml"/><Relationship Id="rId3" Type="http://schemas.openxmlformats.org/officeDocument/2006/relationships/customXml" Target="../ink/ink1.xml"/><Relationship Id="rId7" Type="http://schemas.openxmlformats.org/officeDocument/2006/relationships/customXml" Target="../ink/ink4.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3.xml"/><Relationship Id="rId5" Type="http://schemas.openxmlformats.org/officeDocument/2006/relationships/customXml" Target="../ink/ink2.xml"/><Relationship Id="rId10" Type="http://schemas.openxmlformats.org/officeDocument/2006/relationships/customXml" Target="../ink/ink7.xml"/><Relationship Id="rId4" Type="http://schemas.openxmlformats.org/officeDocument/2006/relationships/image" Target="../media/image3.png"/><Relationship Id="rId9" Type="http://schemas.openxmlformats.org/officeDocument/2006/relationships/customXml" Target="../ink/ink6.xml"/></Relationships>
</file>

<file path=ppt/slides/_rels/slide5.xml.rels><?xml version="1.0" encoding="UTF-8" standalone="yes"?>
<Relationships xmlns="http://schemas.openxmlformats.org/package/2006/relationships"><Relationship Id="rId8" Type="http://schemas.openxmlformats.org/officeDocument/2006/relationships/customXml" Target="../ink/ink12.xml"/><Relationship Id="rId3" Type="http://schemas.openxmlformats.org/officeDocument/2006/relationships/customXml" Target="../ink/ink8.xml"/><Relationship Id="rId7" Type="http://schemas.openxmlformats.org/officeDocument/2006/relationships/customXml" Target="../ink/ink1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0.xml"/><Relationship Id="rId5" Type="http://schemas.openxmlformats.org/officeDocument/2006/relationships/customXml" Target="../ink/ink9.xml"/><Relationship Id="rId10" Type="http://schemas.openxmlformats.org/officeDocument/2006/relationships/customXml" Target="../ink/ink14.xml"/><Relationship Id="rId4" Type="http://schemas.openxmlformats.org/officeDocument/2006/relationships/image" Target="../media/image3.png"/><Relationship Id="rId9" Type="http://schemas.openxmlformats.org/officeDocument/2006/relationships/customXml" Target="../ink/ink13.xml"/></Relationships>
</file>

<file path=ppt/slides/_rels/slide6.xml.rels><?xml version="1.0" encoding="UTF-8" standalone="yes"?>
<Relationships xmlns="http://schemas.openxmlformats.org/package/2006/relationships"><Relationship Id="rId8" Type="http://schemas.openxmlformats.org/officeDocument/2006/relationships/customXml" Target="../ink/ink19.xml"/><Relationship Id="rId3" Type="http://schemas.openxmlformats.org/officeDocument/2006/relationships/customXml" Target="../ink/ink15.xml"/><Relationship Id="rId7" Type="http://schemas.openxmlformats.org/officeDocument/2006/relationships/customXml" Target="../ink/ink18.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7.xml"/><Relationship Id="rId5" Type="http://schemas.openxmlformats.org/officeDocument/2006/relationships/customXml" Target="../ink/ink16.xml"/><Relationship Id="rId10" Type="http://schemas.openxmlformats.org/officeDocument/2006/relationships/customXml" Target="../ink/ink21.xml"/><Relationship Id="rId4" Type="http://schemas.openxmlformats.org/officeDocument/2006/relationships/image" Target="../media/image3.png"/><Relationship Id="rId9" Type="http://schemas.openxmlformats.org/officeDocument/2006/relationships/customXml" Target="../ink/ink20.xml"/></Relationships>
</file>

<file path=ppt/slides/_rels/slide7.xml.rels><?xml version="1.0" encoding="UTF-8" standalone="yes"?>
<Relationships xmlns="http://schemas.openxmlformats.org/package/2006/relationships"><Relationship Id="rId8" Type="http://schemas.openxmlformats.org/officeDocument/2006/relationships/customXml" Target="../ink/ink26.xml"/><Relationship Id="rId3" Type="http://schemas.openxmlformats.org/officeDocument/2006/relationships/customXml" Target="../ink/ink22.xml"/><Relationship Id="rId7" Type="http://schemas.openxmlformats.org/officeDocument/2006/relationships/customXml" Target="../ink/ink25.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24.xml"/><Relationship Id="rId5" Type="http://schemas.openxmlformats.org/officeDocument/2006/relationships/customXml" Target="../ink/ink23.xml"/><Relationship Id="rId10" Type="http://schemas.openxmlformats.org/officeDocument/2006/relationships/customXml" Target="../ink/ink28.xml"/><Relationship Id="rId4" Type="http://schemas.openxmlformats.org/officeDocument/2006/relationships/image" Target="../media/image3.png"/><Relationship Id="rId9" Type="http://schemas.openxmlformats.org/officeDocument/2006/relationships/customXml" Target="../ink/ink27.xml"/></Relationships>
</file>

<file path=ppt/slides/_rels/slide8.xml.rels><?xml version="1.0" encoding="UTF-8" standalone="yes"?>
<Relationships xmlns="http://schemas.openxmlformats.org/package/2006/relationships"><Relationship Id="rId8" Type="http://schemas.openxmlformats.org/officeDocument/2006/relationships/customXml" Target="../ink/ink33.xml"/><Relationship Id="rId3" Type="http://schemas.openxmlformats.org/officeDocument/2006/relationships/customXml" Target="../ink/ink29.xml"/><Relationship Id="rId7" Type="http://schemas.openxmlformats.org/officeDocument/2006/relationships/customXml" Target="../ink/ink32.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31.xml"/><Relationship Id="rId5" Type="http://schemas.openxmlformats.org/officeDocument/2006/relationships/customXml" Target="../ink/ink30.xml"/><Relationship Id="rId10" Type="http://schemas.openxmlformats.org/officeDocument/2006/relationships/customXml" Target="../ink/ink35.xml"/><Relationship Id="rId4" Type="http://schemas.openxmlformats.org/officeDocument/2006/relationships/image" Target="../media/image3.png"/><Relationship Id="rId9" Type="http://schemas.openxmlformats.org/officeDocument/2006/relationships/customXml" Target="../ink/ink34.xml"/></Relationships>
</file>

<file path=ppt/slides/_rels/slide9.xml.rels><?xml version="1.0" encoding="UTF-8" standalone="yes"?>
<Relationships xmlns="http://schemas.openxmlformats.org/package/2006/relationships"><Relationship Id="rId8" Type="http://schemas.openxmlformats.org/officeDocument/2006/relationships/customXml" Target="../ink/ink40.xml"/><Relationship Id="rId3" Type="http://schemas.openxmlformats.org/officeDocument/2006/relationships/customXml" Target="../ink/ink36.xml"/><Relationship Id="rId7" Type="http://schemas.openxmlformats.org/officeDocument/2006/relationships/customXml" Target="../ink/ink39.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38.xml"/><Relationship Id="rId11" Type="http://schemas.openxmlformats.org/officeDocument/2006/relationships/image" Target="../media/image4.png"/><Relationship Id="rId5" Type="http://schemas.openxmlformats.org/officeDocument/2006/relationships/customXml" Target="../ink/ink37.xml"/><Relationship Id="rId10" Type="http://schemas.openxmlformats.org/officeDocument/2006/relationships/customXml" Target="../ink/ink42.xml"/><Relationship Id="rId4" Type="http://schemas.openxmlformats.org/officeDocument/2006/relationships/image" Target="../media/image3.png"/><Relationship Id="rId9" Type="http://schemas.openxmlformats.org/officeDocument/2006/relationships/customXml" Target="../ink/ink4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customXml" Target="../ink/ink47.xml"/><Relationship Id="rId3" Type="http://schemas.openxmlformats.org/officeDocument/2006/relationships/customXml" Target="../ink/ink43.xml"/><Relationship Id="rId7" Type="http://schemas.openxmlformats.org/officeDocument/2006/relationships/customXml" Target="../ink/ink46.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45.xml"/><Relationship Id="rId11" Type="http://schemas.openxmlformats.org/officeDocument/2006/relationships/image" Target="../media/image5.png"/><Relationship Id="rId5" Type="http://schemas.openxmlformats.org/officeDocument/2006/relationships/customXml" Target="../ink/ink44.xml"/><Relationship Id="rId10" Type="http://schemas.openxmlformats.org/officeDocument/2006/relationships/customXml" Target="../ink/ink49.xml"/><Relationship Id="rId4" Type="http://schemas.openxmlformats.org/officeDocument/2006/relationships/image" Target="../media/image3.png"/><Relationship Id="rId9" Type="http://schemas.openxmlformats.org/officeDocument/2006/relationships/customXml" Target="../ink/ink48.xml"/></Relationships>
</file>

<file path=ppt/slides/_rels/slide12.xml.rels><?xml version="1.0" encoding="UTF-8" standalone="yes"?>
<Relationships xmlns="http://schemas.openxmlformats.org/package/2006/relationships"><Relationship Id="rId8" Type="http://schemas.openxmlformats.org/officeDocument/2006/relationships/customXml" Target="../ink/ink54.xml"/><Relationship Id="rId3" Type="http://schemas.openxmlformats.org/officeDocument/2006/relationships/customXml" Target="../ink/ink50.xml"/><Relationship Id="rId7" Type="http://schemas.openxmlformats.org/officeDocument/2006/relationships/customXml" Target="../ink/ink53.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52.xml"/><Relationship Id="rId5" Type="http://schemas.openxmlformats.org/officeDocument/2006/relationships/customXml" Target="../ink/ink51.xml"/><Relationship Id="rId10" Type="http://schemas.openxmlformats.org/officeDocument/2006/relationships/customXml" Target="../ink/ink56.xml"/><Relationship Id="rId4" Type="http://schemas.openxmlformats.org/officeDocument/2006/relationships/image" Target="../media/image3.png"/><Relationship Id="rId9" Type="http://schemas.openxmlformats.org/officeDocument/2006/relationships/customXml" Target="../ink/ink55.xml"/></Relationships>
</file>

<file path=ppt/slides/_rels/slide13.xml.rels><?xml version="1.0" encoding="UTF-8" standalone="yes"?>
<Relationships xmlns="http://schemas.openxmlformats.org/package/2006/relationships"><Relationship Id="rId8" Type="http://schemas.openxmlformats.org/officeDocument/2006/relationships/customXml" Target="../ink/ink61.xml"/><Relationship Id="rId3" Type="http://schemas.openxmlformats.org/officeDocument/2006/relationships/customXml" Target="../ink/ink57.xml"/><Relationship Id="rId7" Type="http://schemas.openxmlformats.org/officeDocument/2006/relationships/customXml" Target="../ink/ink60.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59.xml"/><Relationship Id="rId5" Type="http://schemas.openxmlformats.org/officeDocument/2006/relationships/customXml" Target="../ink/ink58.xml"/><Relationship Id="rId10" Type="http://schemas.openxmlformats.org/officeDocument/2006/relationships/customXml" Target="../ink/ink63.xml"/><Relationship Id="rId4" Type="http://schemas.openxmlformats.org/officeDocument/2006/relationships/image" Target="../media/image3.png"/><Relationship Id="rId9" Type="http://schemas.openxmlformats.org/officeDocument/2006/relationships/customXml" Target="../ink/ink62.xml"/></Relationships>
</file>

<file path=ppt/slides/_rels/slide14.xml.rels><?xml version="1.0" encoding="UTF-8" standalone="yes"?>
<Relationships xmlns="http://schemas.openxmlformats.org/package/2006/relationships"><Relationship Id="rId8" Type="http://schemas.openxmlformats.org/officeDocument/2006/relationships/customXml" Target="../ink/ink68.xml"/><Relationship Id="rId3" Type="http://schemas.openxmlformats.org/officeDocument/2006/relationships/customXml" Target="../ink/ink64.xml"/><Relationship Id="rId7" Type="http://schemas.openxmlformats.org/officeDocument/2006/relationships/customXml" Target="../ink/ink67.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66.xml"/><Relationship Id="rId5" Type="http://schemas.openxmlformats.org/officeDocument/2006/relationships/customXml" Target="../ink/ink65.xml"/><Relationship Id="rId10" Type="http://schemas.openxmlformats.org/officeDocument/2006/relationships/customXml" Target="../ink/ink70.xml"/><Relationship Id="rId4" Type="http://schemas.openxmlformats.org/officeDocument/2006/relationships/image" Target="../media/image3.png"/><Relationship Id="rId9" Type="http://schemas.openxmlformats.org/officeDocument/2006/relationships/customXml" Target="../ink/ink69.xml"/></Relationships>
</file>

<file path=ppt/slides/_rels/slide15.xml.rels><?xml version="1.0" encoding="UTF-8" standalone="yes"?>
<Relationships xmlns="http://schemas.openxmlformats.org/package/2006/relationships"><Relationship Id="rId8" Type="http://schemas.openxmlformats.org/officeDocument/2006/relationships/customXml" Target="../ink/ink75.xml"/><Relationship Id="rId3" Type="http://schemas.openxmlformats.org/officeDocument/2006/relationships/customXml" Target="../ink/ink71.xml"/><Relationship Id="rId7" Type="http://schemas.openxmlformats.org/officeDocument/2006/relationships/customXml" Target="../ink/ink74.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73.xml"/><Relationship Id="rId5" Type="http://schemas.openxmlformats.org/officeDocument/2006/relationships/customXml" Target="../ink/ink72.xml"/><Relationship Id="rId10" Type="http://schemas.openxmlformats.org/officeDocument/2006/relationships/customXml" Target="../ink/ink77.xml"/><Relationship Id="rId4" Type="http://schemas.openxmlformats.org/officeDocument/2006/relationships/image" Target="../media/image3.png"/><Relationship Id="rId9" Type="http://schemas.openxmlformats.org/officeDocument/2006/relationships/customXml" Target="../ink/ink76.xml"/></Relationships>
</file>

<file path=ppt/slides/_rels/slide16.xml.rels><?xml version="1.0" encoding="UTF-8" standalone="yes"?>
<Relationships xmlns="http://schemas.openxmlformats.org/package/2006/relationships"><Relationship Id="rId8" Type="http://schemas.openxmlformats.org/officeDocument/2006/relationships/customXml" Target="../ink/ink82.xml"/><Relationship Id="rId3" Type="http://schemas.openxmlformats.org/officeDocument/2006/relationships/customXml" Target="../ink/ink78.xml"/><Relationship Id="rId7" Type="http://schemas.openxmlformats.org/officeDocument/2006/relationships/customXml" Target="../ink/ink8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80.xml"/><Relationship Id="rId5" Type="http://schemas.openxmlformats.org/officeDocument/2006/relationships/customXml" Target="../ink/ink79.xml"/><Relationship Id="rId10" Type="http://schemas.openxmlformats.org/officeDocument/2006/relationships/customXml" Target="../ink/ink84.xml"/><Relationship Id="rId4" Type="http://schemas.openxmlformats.org/officeDocument/2006/relationships/image" Target="../media/image3.png"/><Relationship Id="rId9" Type="http://schemas.openxmlformats.org/officeDocument/2006/relationships/customXml" Target="../ink/ink83.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customXml" Target="../ink/ink89.xml"/><Relationship Id="rId3" Type="http://schemas.openxmlformats.org/officeDocument/2006/relationships/customXml" Target="../ink/ink85.xml"/><Relationship Id="rId7" Type="http://schemas.openxmlformats.org/officeDocument/2006/relationships/customXml" Target="../ink/ink88.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87.xml"/><Relationship Id="rId5" Type="http://schemas.openxmlformats.org/officeDocument/2006/relationships/customXml" Target="../ink/ink86.xml"/><Relationship Id="rId10" Type="http://schemas.openxmlformats.org/officeDocument/2006/relationships/customXml" Target="../ink/ink91.xml"/><Relationship Id="rId4" Type="http://schemas.openxmlformats.org/officeDocument/2006/relationships/image" Target="../media/image3.png"/><Relationship Id="rId9" Type="http://schemas.openxmlformats.org/officeDocument/2006/relationships/customXml" Target="../ink/ink90.xml"/></Relationships>
</file>

<file path=ppt/slides/_rels/slide20.xml.rels><?xml version="1.0" encoding="UTF-8" standalone="yes"?>
<Relationships xmlns="http://schemas.openxmlformats.org/package/2006/relationships"><Relationship Id="rId8" Type="http://schemas.openxmlformats.org/officeDocument/2006/relationships/customXml" Target="../ink/ink96.xml"/><Relationship Id="rId3" Type="http://schemas.openxmlformats.org/officeDocument/2006/relationships/customXml" Target="../ink/ink92.xml"/><Relationship Id="rId7" Type="http://schemas.openxmlformats.org/officeDocument/2006/relationships/customXml" Target="../ink/ink95.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94.xml"/><Relationship Id="rId5" Type="http://schemas.openxmlformats.org/officeDocument/2006/relationships/customXml" Target="../ink/ink93.xml"/><Relationship Id="rId10" Type="http://schemas.openxmlformats.org/officeDocument/2006/relationships/customXml" Target="../ink/ink98.xml"/><Relationship Id="rId4" Type="http://schemas.openxmlformats.org/officeDocument/2006/relationships/image" Target="../media/image3.png"/><Relationship Id="rId9" Type="http://schemas.openxmlformats.org/officeDocument/2006/relationships/customXml" Target="../ink/ink97.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customXml" Target="../ink/ink103.xml"/><Relationship Id="rId3" Type="http://schemas.openxmlformats.org/officeDocument/2006/relationships/customXml" Target="../ink/ink99.xml"/><Relationship Id="rId7" Type="http://schemas.openxmlformats.org/officeDocument/2006/relationships/customXml" Target="../ink/ink102.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01.xml"/><Relationship Id="rId5" Type="http://schemas.openxmlformats.org/officeDocument/2006/relationships/customXml" Target="../ink/ink100.xml"/><Relationship Id="rId10" Type="http://schemas.openxmlformats.org/officeDocument/2006/relationships/customXml" Target="../ink/ink105.xml"/><Relationship Id="rId4" Type="http://schemas.openxmlformats.org/officeDocument/2006/relationships/image" Target="../media/image3.png"/><Relationship Id="rId9" Type="http://schemas.openxmlformats.org/officeDocument/2006/relationships/customXml" Target="../ink/ink104.xml"/></Relationships>
</file>

<file path=ppt/slides/_rels/slide23.xml.rels><?xml version="1.0" encoding="UTF-8" standalone="yes"?>
<Relationships xmlns="http://schemas.openxmlformats.org/package/2006/relationships"><Relationship Id="rId8" Type="http://schemas.openxmlformats.org/officeDocument/2006/relationships/customXml" Target="../ink/ink110.xml"/><Relationship Id="rId3" Type="http://schemas.openxmlformats.org/officeDocument/2006/relationships/customXml" Target="../ink/ink106.xml"/><Relationship Id="rId7" Type="http://schemas.openxmlformats.org/officeDocument/2006/relationships/customXml" Target="../ink/ink109.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08.xml"/><Relationship Id="rId5" Type="http://schemas.openxmlformats.org/officeDocument/2006/relationships/customXml" Target="../ink/ink107.xml"/><Relationship Id="rId10" Type="http://schemas.openxmlformats.org/officeDocument/2006/relationships/customXml" Target="../ink/ink112.xml"/><Relationship Id="rId4" Type="http://schemas.openxmlformats.org/officeDocument/2006/relationships/image" Target="../media/image3.png"/><Relationship Id="rId9" Type="http://schemas.openxmlformats.org/officeDocument/2006/relationships/customXml" Target="../ink/ink111.xml"/></Relationships>
</file>

<file path=ppt/slides/_rels/slide24.xml.rels><?xml version="1.0" encoding="UTF-8" standalone="yes"?>
<Relationships xmlns="http://schemas.openxmlformats.org/package/2006/relationships"><Relationship Id="rId8" Type="http://schemas.openxmlformats.org/officeDocument/2006/relationships/customXml" Target="../ink/ink117.xml"/><Relationship Id="rId3" Type="http://schemas.openxmlformats.org/officeDocument/2006/relationships/customXml" Target="../ink/ink113.xml"/><Relationship Id="rId7" Type="http://schemas.openxmlformats.org/officeDocument/2006/relationships/customXml" Target="../ink/ink116.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15.xml"/><Relationship Id="rId5" Type="http://schemas.openxmlformats.org/officeDocument/2006/relationships/customXml" Target="../ink/ink114.xml"/><Relationship Id="rId10" Type="http://schemas.openxmlformats.org/officeDocument/2006/relationships/customXml" Target="../ink/ink119.xml"/><Relationship Id="rId4" Type="http://schemas.openxmlformats.org/officeDocument/2006/relationships/image" Target="../media/image3.png"/><Relationship Id="rId9" Type="http://schemas.openxmlformats.org/officeDocument/2006/relationships/customXml" Target="../ink/ink118.xml"/></Relationships>
</file>

<file path=ppt/slides/_rels/slide25.xml.rels><?xml version="1.0" encoding="UTF-8" standalone="yes"?>
<Relationships xmlns="http://schemas.openxmlformats.org/package/2006/relationships"><Relationship Id="rId8" Type="http://schemas.openxmlformats.org/officeDocument/2006/relationships/customXml" Target="../ink/ink124.xml"/><Relationship Id="rId3" Type="http://schemas.openxmlformats.org/officeDocument/2006/relationships/customXml" Target="../ink/ink120.xml"/><Relationship Id="rId7" Type="http://schemas.openxmlformats.org/officeDocument/2006/relationships/customXml" Target="../ink/ink123.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22.xml"/><Relationship Id="rId5" Type="http://schemas.openxmlformats.org/officeDocument/2006/relationships/customXml" Target="../ink/ink121.xml"/><Relationship Id="rId10" Type="http://schemas.openxmlformats.org/officeDocument/2006/relationships/customXml" Target="../ink/ink126.xml"/><Relationship Id="rId4" Type="http://schemas.openxmlformats.org/officeDocument/2006/relationships/image" Target="../media/image3.png"/><Relationship Id="rId9" Type="http://schemas.openxmlformats.org/officeDocument/2006/relationships/customXml" Target="../ink/ink125.xml"/></Relationships>
</file>

<file path=ppt/slides/_rels/slide26.xml.rels><?xml version="1.0" encoding="UTF-8" standalone="yes"?>
<Relationships xmlns="http://schemas.openxmlformats.org/package/2006/relationships"><Relationship Id="rId8" Type="http://schemas.openxmlformats.org/officeDocument/2006/relationships/customXml" Target="../ink/ink131.xml"/><Relationship Id="rId3" Type="http://schemas.openxmlformats.org/officeDocument/2006/relationships/customXml" Target="../ink/ink127.xml"/><Relationship Id="rId7" Type="http://schemas.openxmlformats.org/officeDocument/2006/relationships/customXml" Target="../ink/ink130.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29.xml"/><Relationship Id="rId5" Type="http://schemas.openxmlformats.org/officeDocument/2006/relationships/customXml" Target="../ink/ink128.xml"/><Relationship Id="rId10" Type="http://schemas.openxmlformats.org/officeDocument/2006/relationships/customXml" Target="../ink/ink133.xml"/><Relationship Id="rId4" Type="http://schemas.openxmlformats.org/officeDocument/2006/relationships/image" Target="../media/image3.png"/><Relationship Id="rId9" Type="http://schemas.openxmlformats.org/officeDocument/2006/relationships/customXml" Target="../ink/ink132.xml"/></Relationships>
</file>

<file path=ppt/slides/_rels/slide27.xml.rels><?xml version="1.0" encoding="UTF-8" standalone="yes"?>
<Relationships xmlns="http://schemas.openxmlformats.org/package/2006/relationships"><Relationship Id="rId8" Type="http://schemas.openxmlformats.org/officeDocument/2006/relationships/customXml" Target="../ink/ink138.xml"/><Relationship Id="rId13" Type="http://schemas.openxmlformats.org/officeDocument/2006/relationships/diagramQuickStyle" Target="../diagrams/quickStyle1.xml"/><Relationship Id="rId3" Type="http://schemas.openxmlformats.org/officeDocument/2006/relationships/customXml" Target="../ink/ink134.xml"/><Relationship Id="rId7" Type="http://schemas.openxmlformats.org/officeDocument/2006/relationships/customXml" Target="../ink/ink137.xml"/><Relationship Id="rId12" Type="http://schemas.openxmlformats.org/officeDocument/2006/relationships/diagramLayout" Target="../diagrams/layout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36.xml"/><Relationship Id="rId11" Type="http://schemas.openxmlformats.org/officeDocument/2006/relationships/diagramData" Target="../diagrams/data1.xml"/><Relationship Id="rId5" Type="http://schemas.openxmlformats.org/officeDocument/2006/relationships/customXml" Target="../ink/ink135.xml"/><Relationship Id="rId15" Type="http://schemas.microsoft.com/office/2007/relationships/diagramDrawing" Target="../diagrams/drawing1.xml"/><Relationship Id="rId10" Type="http://schemas.openxmlformats.org/officeDocument/2006/relationships/customXml" Target="../ink/ink140.xml"/><Relationship Id="rId4" Type="http://schemas.openxmlformats.org/officeDocument/2006/relationships/image" Target="../media/image3.png"/><Relationship Id="rId9" Type="http://schemas.openxmlformats.org/officeDocument/2006/relationships/customXml" Target="../ink/ink139.xml"/><Relationship Id="rId14" Type="http://schemas.openxmlformats.org/officeDocument/2006/relationships/diagramColors" Target="../diagrams/colors1.xml"/></Relationships>
</file>

<file path=ppt/slides/_rels/slide28.xml.rels><?xml version="1.0" encoding="UTF-8" standalone="yes"?>
<Relationships xmlns="http://schemas.openxmlformats.org/package/2006/relationships"><Relationship Id="rId8" Type="http://schemas.openxmlformats.org/officeDocument/2006/relationships/customXml" Target="../ink/ink145.xml"/><Relationship Id="rId3" Type="http://schemas.openxmlformats.org/officeDocument/2006/relationships/customXml" Target="../ink/ink141.xml"/><Relationship Id="rId7" Type="http://schemas.openxmlformats.org/officeDocument/2006/relationships/customXml" Target="../ink/ink144.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43.xml"/><Relationship Id="rId5" Type="http://schemas.openxmlformats.org/officeDocument/2006/relationships/customXml" Target="../ink/ink142.xml"/><Relationship Id="rId10" Type="http://schemas.openxmlformats.org/officeDocument/2006/relationships/customXml" Target="../ink/ink147.xml"/><Relationship Id="rId4" Type="http://schemas.openxmlformats.org/officeDocument/2006/relationships/image" Target="../media/image3.png"/><Relationship Id="rId9" Type="http://schemas.openxmlformats.org/officeDocument/2006/relationships/customXml" Target="../ink/ink146.xml"/></Relationships>
</file>

<file path=ppt/slides/_rels/slide29.xml.rels><?xml version="1.0" encoding="UTF-8" standalone="yes"?>
<Relationships xmlns="http://schemas.openxmlformats.org/package/2006/relationships"><Relationship Id="rId8" Type="http://schemas.openxmlformats.org/officeDocument/2006/relationships/customXml" Target="../ink/ink152.xml"/><Relationship Id="rId3" Type="http://schemas.openxmlformats.org/officeDocument/2006/relationships/customXml" Target="../ink/ink148.xml"/><Relationship Id="rId7" Type="http://schemas.openxmlformats.org/officeDocument/2006/relationships/customXml" Target="../ink/ink15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50.xml"/><Relationship Id="rId5" Type="http://schemas.openxmlformats.org/officeDocument/2006/relationships/customXml" Target="../ink/ink149.xml"/><Relationship Id="rId10" Type="http://schemas.openxmlformats.org/officeDocument/2006/relationships/customXml" Target="../ink/ink154.xml"/><Relationship Id="rId4" Type="http://schemas.openxmlformats.org/officeDocument/2006/relationships/image" Target="../media/image3.png"/><Relationship Id="rId9" Type="http://schemas.openxmlformats.org/officeDocument/2006/relationships/customXml" Target="../ink/ink153.xml"/></Relationships>
</file>

<file path=ppt/slides/_rels/slide30.xml.rels><?xml version="1.0" encoding="UTF-8" standalone="yes"?>
<Relationships xmlns="http://schemas.openxmlformats.org/package/2006/relationships"><Relationship Id="rId8" Type="http://schemas.openxmlformats.org/officeDocument/2006/relationships/customXml" Target="../ink/ink159.xml"/><Relationship Id="rId3" Type="http://schemas.openxmlformats.org/officeDocument/2006/relationships/customXml" Target="../ink/ink155.xml"/><Relationship Id="rId7" Type="http://schemas.openxmlformats.org/officeDocument/2006/relationships/customXml" Target="../ink/ink158.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57.xml"/><Relationship Id="rId5" Type="http://schemas.openxmlformats.org/officeDocument/2006/relationships/customXml" Target="../ink/ink156.xml"/><Relationship Id="rId10" Type="http://schemas.openxmlformats.org/officeDocument/2006/relationships/customXml" Target="../ink/ink161.xml"/><Relationship Id="rId4" Type="http://schemas.openxmlformats.org/officeDocument/2006/relationships/image" Target="../media/image3.png"/><Relationship Id="rId9" Type="http://schemas.openxmlformats.org/officeDocument/2006/relationships/customXml" Target="../ink/ink160.xml"/></Relationships>
</file>

<file path=ppt/slides/_rels/slide31.xml.rels><?xml version="1.0" encoding="UTF-8" standalone="yes"?>
<Relationships xmlns="http://schemas.openxmlformats.org/package/2006/relationships"><Relationship Id="rId8" Type="http://schemas.openxmlformats.org/officeDocument/2006/relationships/customXml" Target="../ink/ink166.xml"/><Relationship Id="rId3" Type="http://schemas.openxmlformats.org/officeDocument/2006/relationships/customXml" Target="../ink/ink162.xml"/><Relationship Id="rId7" Type="http://schemas.openxmlformats.org/officeDocument/2006/relationships/customXml" Target="../ink/ink165.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64.xml"/><Relationship Id="rId5" Type="http://schemas.openxmlformats.org/officeDocument/2006/relationships/customXml" Target="../ink/ink163.xml"/><Relationship Id="rId10" Type="http://schemas.openxmlformats.org/officeDocument/2006/relationships/customXml" Target="../ink/ink168.xml"/><Relationship Id="rId4" Type="http://schemas.openxmlformats.org/officeDocument/2006/relationships/image" Target="../media/image3.png"/><Relationship Id="rId9" Type="http://schemas.openxmlformats.org/officeDocument/2006/relationships/customXml" Target="../ink/ink167.xml"/></Relationships>
</file>

<file path=ppt/slides/_rels/slide32.xml.rels><?xml version="1.0" encoding="UTF-8" standalone="yes"?>
<Relationships xmlns="http://schemas.openxmlformats.org/package/2006/relationships"><Relationship Id="rId8" Type="http://schemas.openxmlformats.org/officeDocument/2006/relationships/customXml" Target="../ink/ink173.xml"/><Relationship Id="rId13" Type="http://schemas.openxmlformats.org/officeDocument/2006/relationships/diagramQuickStyle" Target="../diagrams/quickStyle2.xml"/><Relationship Id="rId3" Type="http://schemas.openxmlformats.org/officeDocument/2006/relationships/customXml" Target="../ink/ink169.xml"/><Relationship Id="rId7" Type="http://schemas.openxmlformats.org/officeDocument/2006/relationships/customXml" Target="../ink/ink172.xml"/><Relationship Id="rId12" Type="http://schemas.openxmlformats.org/officeDocument/2006/relationships/diagramLayout" Target="../diagrams/layout2.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71.xml"/><Relationship Id="rId11" Type="http://schemas.openxmlformats.org/officeDocument/2006/relationships/diagramData" Target="../diagrams/data2.xml"/><Relationship Id="rId5" Type="http://schemas.openxmlformats.org/officeDocument/2006/relationships/customXml" Target="../ink/ink170.xml"/><Relationship Id="rId15" Type="http://schemas.microsoft.com/office/2007/relationships/diagramDrawing" Target="../diagrams/drawing2.xml"/><Relationship Id="rId10" Type="http://schemas.openxmlformats.org/officeDocument/2006/relationships/customXml" Target="../ink/ink175.xml"/><Relationship Id="rId4" Type="http://schemas.openxmlformats.org/officeDocument/2006/relationships/image" Target="../media/image3.png"/><Relationship Id="rId9" Type="http://schemas.openxmlformats.org/officeDocument/2006/relationships/customXml" Target="../ink/ink174.xml"/><Relationship Id="rId14" Type="http://schemas.openxmlformats.org/officeDocument/2006/relationships/diagramColors" Target="../diagrams/colors2.xml"/></Relationships>
</file>

<file path=ppt/slides/_rels/slide33.xml.rels><?xml version="1.0" encoding="UTF-8" standalone="yes"?>
<Relationships xmlns="http://schemas.openxmlformats.org/package/2006/relationships"><Relationship Id="rId8" Type="http://schemas.openxmlformats.org/officeDocument/2006/relationships/customXml" Target="../ink/ink180.xml"/><Relationship Id="rId3" Type="http://schemas.openxmlformats.org/officeDocument/2006/relationships/customXml" Target="../ink/ink176.xml"/><Relationship Id="rId7" Type="http://schemas.openxmlformats.org/officeDocument/2006/relationships/customXml" Target="../ink/ink179.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78.xml"/><Relationship Id="rId5" Type="http://schemas.openxmlformats.org/officeDocument/2006/relationships/customXml" Target="../ink/ink177.xml"/><Relationship Id="rId10" Type="http://schemas.openxmlformats.org/officeDocument/2006/relationships/customXml" Target="../ink/ink182.xml"/><Relationship Id="rId4" Type="http://schemas.openxmlformats.org/officeDocument/2006/relationships/image" Target="../media/image3.png"/><Relationship Id="rId9" Type="http://schemas.openxmlformats.org/officeDocument/2006/relationships/customXml" Target="../ink/ink181.xml"/></Relationships>
</file>

<file path=ppt/slides/_rels/slide34.xml.rels><?xml version="1.0" encoding="UTF-8" standalone="yes"?>
<Relationships xmlns="http://schemas.openxmlformats.org/package/2006/relationships"><Relationship Id="rId8" Type="http://schemas.openxmlformats.org/officeDocument/2006/relationships/customXml" Target="../ink/ink187.xml"/><Relationship Id="rId3" Type="http://schemas.openxmlformats.org/officeDocument/2006/relationships/customXml" Target="../ink/ink183.xml"/><Relationship Id="rId7" Type="http://schemas.openxmlformats.org/officeDocument/2006/relationships/customXml" Target="../ink/ink186.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85.xml"/><Relationship Id="rId5" Type="http://schemas.openxmlformats.org/officeDocument/2006/relationships/customXml" Target="../ink/ink184.xml"/><Relationship Id="rId10" Type="http://schemas.openxmlformats.org/officeDocument/2006/relationships/customXml" Target="../ink/ink189.xml"/><Relationship Id="rId4" Type="http://schemas.openxmlformats.org/officeDocument/2006/relationships/image" Target="../media/image3.png"/><Relationship Id="rId9" Type="http://schemas.openxmlformats.org/officeDocument/2006/relationships/customXml" Target="../ink/ink188.xml"/></Relationships>
</file>

<file path=ppt/slides/_rels/slide35.xml.rels><?xml version="1.0" encoding="UTF-8" standalone="yes"?>
<Relationships xmlns="http://schemas.openxmlformats.org/package/2006/relationships"><Relationship Id="rId8" Type="http://schemas.openxmlformats.org/officeDocument/2006/relationships/customXml" Target="../ink/ink194.xml"/><Relationship Id="rId3" Type="http://schemas.openxmlformats.org/officeDocument/2006/relationships/customXml" Target="../ink/ink190.xml"/><Relationship Id="rId7" Type="http://schemas.openxmlformats.org/officeDocument/2006/relationships/customXml" Target="../ink/ink193.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92.xml"/><Relationship Id="rId5" Type="http://schemas.openxmlformats.org/officeDocument/2006/relationships/customXml" Target="../ink/ink191.xml"/><Relationship Id="rId10" Type="http://schemas.openxmlformats.org/officeDocument/2006/relationships/customXml" Target="../ink/ink196.xml"/><Relationship Id="rId4" Type="http://schemas.openxmlformats.org/officeDocument/2006/relationships/image" Target="../media/image3.png"/><Relationship Id="rId9" Type="http://schemas.openxmlformats.org/officeDocument/2006/relationships/customXml" Target="../ink/ink195.xml"/></Relationships>
</file>

<file path=ppt/slides/_rels/slide36.xml.rels><?xml version="1.0" encoding="UTF-8" standalone="yes"?>
<Relationships xmlns="http://schemas.openxmlformats.org/package/2006/relationships"><Relationship Id="rId8" Type="http://schemas.openxmlformats.org/officeDocument/2006/relationships/customXml" Target="../ink/ink201.xml"/><Relationship Id="rId3" Type="http://schemas.openxmlformats.org/officeDocument/2006/relationships/customXml" Target="../ink/ink197.xml"/><Relationship Id="rId7" Type="http://schemas.openxmlformats.org/officeDocument/2006/relationships/customXml" Target="../ink/ink200.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199.xml"/><Relationship Id="rId5" Type="http://schemas.openxmlformats.org/officeDocument/2006/relationships/customXml" Target="../ink/ink198.xml"/><Relationship Id="rId10" Type="http://schemas.openxmlformats.org/officeDocument/2006/relationships/customXml" Target="../ink/ink203.xml"/><Relationship Id="rId4" Type="http://schemas.openxmlformats.org/officeDocument/2006/relationships/image" Target="../media/image3.png"/><Relationship Id="rId9" Type="http://schemas.openxmlformats.org/officeDocument/2006/relationships/customXml" Target="../ink/ink202.xml"/></Relationships>
</file>

<file path=ppt/slides/_rels/slide37.xml.rels><?xml version="1.0" encoding="UTF-8" standalone="yes"?>
<Relationships xmlns="http://schemas.openxmlformats.org/package/2006/relationships"><Relationship Id="rId8" Type="http://schemas.openxmlformats.org/officeDocument/2006/relationships/customXml" Target="../ink/ink208.xml"/><Relationship Id="rId3" Type="http://schemas.openxmlformats.org/officeDocument/2006/relationships/customXml" Target="../ink/ink204.xml"/><Relationship Id="rId7" Type="http://schemas.openxmlformats.org/officeDocument/2006/relationships/customXml" Target="../ink/ink207.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206.xml"/><Relationship Id="rId5" Type="http://schemas.openxmlformats.org/officeDocument/2006/relationships/customXml" Target="../ink/ink205.xml"/><Relationship Id="rId10" Type="http://schemas.openxmlformats.org/officeDocument/2006/relationships/customXml" Target="../ink/ink210.xml"/><Relationship Id="rId4" Type="http://schemas.openxmlformats.org/officeDocument/2006/relationships/image" Target="../media/image3.png"/><Relationship Id="rId9" Type="http://schemas.openxmlformats.org/officeDocument/2006/relationships/customXml" Target="../ink/ink209.xml"/></Relationships>
</file>

<file path=ppt/slides/_rels/slide38.xml.rels><?xml version="1.0" encoding="UTF-8" standalone="yes"?>
<Relationships xmlns="http://schemas.openxmlformats.org/package/2006/relationships"><Relationship Id="rId8" Type="http://schemas.openxmlformats.org/officeDocument/2006/relationships/customXml" Target="../ink/ink215.xml"/><Relationship Id="rId3" Type="http://schemas.openxmlformats.org/officeDocument/2006/relationships/customXml" Target="../ink/ink211.xml"/><Relationship Id="rId7" Type="http://schemas.openxmlformats.org/officeDocument/2006/relationships/customXml" Target="../ink/ink214.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213.xml"/><Relationship Id="rId5" Type="http://schemas.openxmlformats.org/officeDocument/2006/relationships/customXml" Target="../ink/ink212.xml"/><Relationship Id="rId10" Type="http://schemas.openxmlformats.org/officeDocument/2006/relationships/customXml" Target="../ink/ink217.xml"/><Relationship Id="rId4" Type="http://schemas.openxmlformats.org/officeDocument/2006/relationships/image" Target="../media/image3.png"/><Relationship Id="rId9" Type="http://schemas.openxmlformats.org/officeDocument/2006/relationships/customXml" Target="../ink/ink216.xml"/></Relationships>
</file>

<file path=ppt/slides/_rels/slide39.xml.rels><?xml version="1.0" encoding="UTF-8" standalone="yes"?>
<Relationships xmlns="http://schemas.openxmlformats.org/package/2006/relationships"><Relationship Id="rId8" Type="http://schemas.openxmlformats.org/officeDocument/2006/relationships/customXml" Target="../ink/ink222.xml"/><Relationship Id="rId3" Type="http://schemas.openxmlformats.org/officeDocument/2006/relationships/customXml" Target="../ink/ink218.xml"/><Relationship Id="rId7" Type="http://schemas.openxmlformats.org/officeDocument/2006/relationships/customXml" Target="../ink/ink22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220.xml"/><Relationship Id="rId5" Type="http://schemas.openxmlformats.org/officeDocument/2006/relationships/customXml" Target="../ink/ink219.xml"/><Relationship Id="rId10" Type="http://schemas.openxmlformats.org/officeDocument/2006/relationships/customXml" Target="../ink/ink224.xml"/><Relationship Id="rId4" Type="http://schemas.openxmlformats.org/officeDocument/2006/relationships/image" Target="../media/image3.png"/><Relationship Id="rId9" Type="http://schemas.openxmlformats.org/officeDocument/2006/relationships/customXml" Target="../ink/ink223.xml"/></Relationships>
</file>

<file path=ppt/slides/_rels/slide40.xml.rels><?xml version="1.0" encoding="UTF-8" standalone="yes"?>
<Relationships xmlns="http://schemas.openxmlformats.org/package/2006/relationships"><Relationship Id="rId8" Type="http://schemas.openxmlformats.org/officeDocument/2006/relationships/customXml" Target="../ink/ink229.xml"/><Relationship Id="rId3" Type="http://schemas.openxmlformats.org/officeDocument/2006/relationships/customXml" Target="../ink/ink225.xml"/><Relationship Id="rId7" Type="http://schemas.openxmlformats.org/officeDocument/2006/relationships/customXml" Target="../ink/ink228.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227.xml"/><Relationship Id="rId5" Type="http://schemas.openxmlformats.org/officeDocument/2006/relationships/customXml" Target="../ink/ink226.xml"/><Relationship Id="rId10" Type="http://schemas.openxmlformats.org/officeDocument/2006/relationships/customXml" Target="../ink/ink231.xml"/><Relationship Id="rId4" Type="http://schemas.openxmlformats.org/officeDocument/2006/relationships/image" Target="../media/image3.png"/><Relationship Id="rId9" Type="http://schemas.openxmlformats.org/officeDocument/2006/relationships/customXml" Target="../ink/ink230.xml"/></Relationships>
</file>

<file path=ppt/slides/_rels/slide41.xml.rels><?xml version="1.0" encoding="UTF-8" standalone="yes"?>
<Relationships xmlns="http://schemas.openxmlformats.org/package/2006/relationships"><Relationship Id="rId8" Type="http://schemas.openxmlformats.org/officeDocument/2006/relationships/customXml" Target="../ink/ink236.xml"/><Relationship Id="rId3" Type="http://schemas.openxmlformats.org/officeDocument/2006/relationships/customXml" Target="../ink/ink232.xml"/><Relationship Id="rId7" Type="http://schemas.openxmlformats.org/officeDocument/2006/relationships/customXml" Target="../ink/ink235.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234.xml"/><Relationship Id="rId5" Type="http://schemas.openxmlformats.org/officeDocument/2006/relationships/customXml" Target="../ink/ink233.xml"/><Relationship Id="rId10" Type="http://schemas.openxmlformats.org/officeDocument/2006/relationships/customXml" Target="../ink/ink238.xml"/><Relationship Id="rId4" Type="http://schemas.openxmlformats.org/officeDocument/2006/relationships/image" Target="../media/image3.png"/><Relationship Id="rId9" Type="http://schemas.openxmlformats.org/officeDocument/2006/relationships/customXml" Target="../ink/ink237.xml"/></Relationships>
</file>

<file path=ppt/slides/_rels/slide42.xml.rels><?xml version="1.0" encoding="UTF-8" standalone="yes"?>
<Relationships xmlns="http://schemas.openxmlformats.org/package/2006/relationships"><Relationship Id="rId8" Type="http://schemas.openxmlformats.org/officeDocument/2006/relationships/customXml" Target="../ink/ink243.xml"/><Relationship Id="rId3" Type="http://schemas.openxmlformats.org/officeDocument/2006/relationships/customXml" Target="../ink/ink239.xml"/><Relationship Id="rId7" Type="http://schemas.openxmlformats.org/officeDocument/2006/relationships/customXml" Target="../ink/ink242.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ustomXml" Target="../ink/ink241.xml"/><Relationship Id="rId5" Type="http://schemas.openxmlformats.org/officeDocument/2006/relationships/customXml" Target="../ink/ink240.xml"/><Relationship Id="rId10" Type="http://schemas.openxmlformats.org/officeDocument/2006/relationships/customXml" Target="../ink/ink245.xml"/><Relationship Id="rId4" Type="http://schemas.openxmlformats.org/officeDocument/2006/relationships/image" Target="../media/image3.png"/><Relationship Id="rId9" Type="http://schemas.openxmlformats.org/officeDocument/2006/relationships/customXml" Target="../ink/ink2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F68EA21-D1DB-A2CF-CFD9-DD5215232E37}"/>
              </a:ext>
            </a:extLst>
          </p:cNvPr>
          <p:cNvSpPr txBox="1">
            <a:spLocks/>
          </p:cNvSpPr>
          <p:nvPr/>
        </p:nvSpPr>
        <p:spPr>
          <a:xfrm>
            <a:off x="320335" y="3319421"/>
            <a:ext cx="11551327" cy="159894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lvl="0">
              <a:lnSpc>
                <a:spcPct val="100000"/>
              </a:lnSpc>
              <a:spcBef>
                <a:spcPct val="20000"/>
              </a:spcBef>
              <a:defRPr/>
            </a:pPr>
            <a:r>
              <a:rPr lang="en-IN" sz="2800" b="1" dirty="0">
                <a:solidFill>
                  <a:srgbClr val="383A3C"/>
                </a:solidFill>
                <a:latin typeface="Times New Roman" panose="02020603050405020304" pitchFamily="18" charset="0"/>
                <a:cs typeface="Times New Roman" panose="02020603050405020304" pitchFamily="18" charset="0"/>
              </a:rPr>
              <a:t>B.TECH – </a:t>
            </a:r>
            <a:r>
              <a:rPr lang="en-IN" sz="2800" b="1" dirty="0" err="1">
                <a:solidFill>
                  <a:srgbClr val="383A3C"/>
                </a:solidFill>
                <a:latin typeface="Times New Roman" panose="02020603050405020304" pitchFamily="18" charset="0"/>
                <a:cs typeface="Times New Roman" panose="02020603050405020304" pitchFamily="18" charset="0"/>
              </a:rPr>
              <a:t>VIIth</a:t>
            </a:r>
            <a:r>
              <a:rPr lang="en-IN" sz="2800" b="1" dirty="0">
                <a:solidFill>
                  <a:srgbClr val="383A3C"/>
                </a:solidFill>
                <a:latin typeface="Times New Roman" panose="02020603050405020304" pitchFamily="18" charset="0"/>
                <a:cs typeface="Times New Roman" panose="02020603050405020304" pitchFamily="18" charset="0"/>
              </a:rPr>
              <a:t> Semester </a:t>
            </a:r>
            <a:br>
              <a:rPr lang="en-IN" sz="2800" b="1" dirty="0">
                <a:solidFill>
                  <a:srgbClr val="383A3C"/>
                </a:solidFill>
                <a:latin typeface="Times New Roman" panose="02020603050405020304" pitchFamily="18" charset="0"/>
                <a:cs typeface="Times New Roman" panose="02020603050405020304" pitchFamily="18" charset="0"/>
              </a:rPr>
            </a:br>
            <a:r>
              <a:rPr lang="en-US" sz="2800" b="1" dirty="0"/>
              <a:t>Entrepreneurship Development &amp; IPR</a:t>
            </a:r>
          </a:p>
          <a:p>
            <a:r>
              <a:rPr lang="en-US" sz="2800" dirty="0"/>
              <a:t>UNIT 4 : PROJECT MANAGEMENT </a:t>
            </a:r>
          </a:p>
          <a:p>
            <a:endParaRPr lang="en-US" sz="2800" b="1" dirty="0">
              <a:solidFill>
                <a:srgbClr val="383A3C"/>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51F8B70D-3F64-4D35-E5AB-6FF8E0423FCD}"/>
              </a:ext>
            </a:extLst>
          </p:cNvPr>
          <p:cNvSpPr/>
          <p:nvPr/>
        </p:nvSpPr>
        <p:spPr>
          <a:xfrm>
            <a:off x="206477" y="61390"/>
            <a:ext cx="11356258" cy="1107986"/>
          </a:xfrm>
          <a:prstGeom prst="rect">
            <a:avLst/>
          </a:prstGeom>
        </p:spPr>
        <p:txBody>
          <a:bodyPr wrap="square" lIns="121908" tIns="60955" rIns="121908" bIns="60955">
            <a:spAutoFit/>
          </a:bodyPr>
          <a:lstStyle/>
          <a:p>
            <a:pPr algn="ctr"/>
            <a:r>
              <a:rPr lang="en-IN" sz="3200" b="1" dirty="0">
                <a:solidFill>
                  <a:srgbClr val="D4222A"/>
                </a:solidFill>
                <a:latin typeface="Times New Roman" panose="02020603050405020304" pitchFamily="18" charset="0"/>
                <a:cs typeface="Times New Roman" panose="02020603050405020304" pitchFamily="18" charset="0"/>
              </a:rPr>
              <a:t>NOIDA INSTITUTE OF ENGINEERING &amp; TECHNOLOGY GREATER NOIDA</a:t>
            </a:r>
            <a:endParaRPr lang="en-US" sz="3200" dirty="0">
              <a:solidFill>
                <a:srgbClr val="D4222A"/>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95C2B02D-0DC2-431D-DF60-401E531B651F}"/>
              </a:ext>
            </a:extLst>
          </p:cNvPr>
          <p:cNvSpPr/>
          <p:nvPr/>
        </p:nvSpPr>
        <p:spPr>
          <a:xfrm>
            <a:off x="5884606" y="4485680"/>
            <a:ext cx="810358" cy="338554"/>
          </a:xfrm>
          <a:prstGeom prst="rect">
            <a:avLst/>
          </a:prstGeom>
        </p:spPr>
        <p:txBody>
          <a:bodyPr wrap="square">
            <a:spAutoFit/>
          </a:bodyPr>
          <a:lstStyle/>
          <a:p>
            <a:r>
              <a:rPr lang="en-IN" sz="1600" b="1" dirty="0">
                <a:latin typeface="Times New Roman" panose="02020603050405020304" pitchFamily="18" charset="0"/>
                <a:cs typeface="Times New Roman" panose="02020603050405020304" pitchFamily="18" charset="0"/>
              </a:rPr>
              <a:t>By</a:t>
            </a:r>
            <a:r>
              <a:rPr lang="en-IN" sz="1600" b="1" dirty="0">
                <a:solidFill>
                  <a:srgbClr val="A20000"/>
                </a:solidFill>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8DD14CEA-0AFA-2840-50F8-7CD1850C6115}"/>
              </a:ext>
            </a:extLst>
          </p:cNvPr>
          <p:cNvSpPr/>
          <p:nvPr/>
        </p:nvSpPr>
        <p:spPr>
          <a:xfrm>
            <a:off x="3701558" y="4824234"/>
            <a:ext cx="4788879" cy="1569660"/>
          </a:xfrm>
          <a:prstGeom prst="rect">
            <a:avLst/>
          </a:prstGeom>
        </p:spPr>
        <p:txBody>
          <a:bodyPr wrap="square">
            <a:spAutoFit/>
          </a:bodyPr>
          <a:lstStyle/>
          <a:p>
            <a:pPr algn="ctr"/>
            <a:r>
              <a:rPr lang="en-IN" sz="2400" b="1" dirty="0">
                <a:solidFill>
                  <a:srgbClr val="383A3C"/>
                </a:solidFill>
                <a:latin typeface="Times New Roman" panose="02020603050405020304" pitchFamily="18" charset="0"/>
                <a:cs typeface="Times New Roman" panose="02020603050405020304" pitchFamily="18" charset="0"/>
              </a:rPr>
              <a:t>Alok Raj</a:t>
            </a:r>
          </a:p>
          <a:p>
            <a:pPr algn="ctr"/>
            <a:r>
              <a:rPr lang="en-IN" sz="2400" b="1" dirty="0">
                <a:solidFill>
                  <a:srgbClr val="383A3C"/>
                </a:solidFill>
                <a:latin typeface="Times New Roman" panose="02020603050405020304" pitchFamily="18" charset="0"/>
                <a:cs typeface="Times New Roman" panose="02020603050405020304" pitchFamily="18" charset="0"/>
              </a:rPr>
              <a:t>Assistant Professor</a:t>
            </a:r>
          </a:p>
          <a:p>
            <a:pPr algn="ctr"/>
            <a:r>
              <a:rPr lang="en-IN" sz="2400" b="1" dirty="0">
                <a:solidFill>
                  <a:srgbClr val="383A3C"/>
                </a:solidFill>
                <a:latin typeface="Times New Roman" panose="02020603050405020304" pitchFamily="18" charset="0"/>
                <a:cs typeface="Times New Roman" panose="02020603050405020304" pitchFamily="18" charset="0"/>
              </a:rPr>
              <a:t>MBA Department</a:t>
            </a:r>
          </a:p>
          <a:p>
            <a:r>
              <a:rPr lang="en-IN" sz="2400" b="1" dirty="0">
                <a:solidFill>
                  <a:srgbClr val="383A3C"/>
                </a:solidFill>
                <a:latin typeface="Times New Roman" panose="02020603050405020304" pitchFamily="18" charset="0"/>
                <a:cs typeface="Times New Roman" panose="02020603050405020304" pitchFamily="18" charset="0"/>
              </a:rPr>
              <a:t>        NIET, GREATER NOIDA </a:t>
            </a:r>
            <a:endParaRPr lang="en-US" sz="2400" dirty="0">
              <a:solidFill>
                <a:srgbClr val="383A3C"/>
              </a:solidFill>
              <a:latin typeface="Times New Roman" panose="02020603050405020304" pitchFamily="18" charset="0"/>
              <a:cs typeface="Times New Roman" panose="02020603050405020304" pitchFamily="18" charset="0"/>
            </a:endParaRPr>
          </a:p>
        </p:txBody>
      </p:sp>
      <p:pic>
        <p:nvPicPr>
          <p:cNvPr id="13" name="Picture 12" descr="A close-up of a logo&#10;&#10;Description automatically generated">
            <a:extLst>
              <a:ext uri="{FF2B5EF4-FFF2-40B4-BE49-F238E27FC236}">
                <a16:creationId xmlns:a16="http://schemas.microsoft.com/office/drawing/2014/main" id="{47EBCF00-B6B8-EBDF-019C-6C1D35F139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32313" y="1198020"/>
            <a:ext cx="3927373" cy="1344289"/>
          </a:xfrm>
          <a:prstGeom prst="rect">
            <a:avLst/>
          </a:prstGeom>
        </p:spPr>
      </p:pic>
    </p:spTree>
    <p:extLst>
      <p:ext uri="{BB962C8B-B14F-4D97-AF65-F5344CB8AC3E}">
        <p14:creationId xmlns:p14="http://schemas.microsoft.com/office/powerpoint/2010/main" val="3823976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866335" y="1164443"/>
          <a:ext cx="10515600" cy="4724400"/>
        </p:xfrm>
        <a:graphic>
          <a:graphicData uri="http://schemas.openxmlformats.org/drawingml/2006/table">
            <a:tbl>
              <a:tblPr firstRow="1" bandRow="1">
                <a:tableStyleId>{00A15C55-8517-42AA-B614-E9B94910E393}</a:tableStyleId>
              </a:tblPr>
              <a:tblGrid>
                <a:gridCol w="1159412">
                  <a:extLst>
                    <a:ext uri="{9D8B030D-6E8A-4147-A177-3AD203B41FA5}">
                      <a16:colId xmlns:a16="http://schemas.microsoft.com/office/drawing/2014/main" val="20000"/>
                    </a:ext>
                  </a:extLst>
                </a:gridCol>
                <a:gridCol w="9356188">
                  <a:extLst>
                    <a:ext uri="{9D8B030D-6E8A-4147-A177-3AD203B41FA5}">
                      <a16:colId xmlns:a16="http://schemas.microsoft.com/office/drawing/2014/main" val="20001"/>
                    </a:ext>
                  </a:extLst>
                </a:gridCol>
              </a:tblGrid>
              <a:tr h="370840">
                <a:tc>
                  <a:txBody>
                    <a:bodyPr/>
                    <a:lstStyle/>
                    <a:p>
                      <a:pPr algn="ctr"/>
                      <a:r>
                        <a:rPr lang="en-US" sz="2400" dirty="0"/>
                        <a:t>Sr. No.</a:t>
                      </a:r>
                    </a:p>
                  </a:txBody>
                  <a:tcPr/>
                </a:tc>
                <a:tc>
                  <a:txBody>
                    <a:bodyPr/>
                    <a:lstStyle/>
                    <a:p>
                      <a:pPr algn="ctr"/>
                      <a:r>
                        <a:rPr lang="en-US" sz="2400" dirty="0"/>
                        <a:t>INDEX</a:t>
                      </a:r>
                      <a:r>
                        <a:rPr lang="en-US" sz="2400" baseline="0" dirty="0"/>
                        <a:t> </a:t>
                      </a:r>
                      <a:endParaRPr lang="en-US" sz="2400" dirty="0"/>
                    </a:p>
                  </a:txBody>
                  <a:tcPr/>
                </a:tc>
                <a:extLst>
                  <a:ext uri="{0D108BD9-81ED-4DB2-BD59-A6C34878D82A}">
                    <a16:rowId xmlns:a16="http://schemas.microsoft.com/office/drawing/2014/main" val="10000"/>
                  </a:ext>
                </a:extLst>
              </a:tr>
              <a:tr h="370840">
                <a:tc>
                  <a:txBody>
                    <a:bodyPr/>
                    <a:lstStyle/>
                    <a:p>
                      <a:pPr algn="ctr"/>
                      <a:r>
                        <a:rPr lang="en-US" sz="2000" b="1" dirty="0">
                          <a:effectLst>
                            <a:outerShdw blurRad="38100" dist="38100" dir="2700000" algn="tl">
                              <a:srgbClr val="000000">
                                <a:alpha val="43137"/>
                              </a:srgbClr>
                            </a:outerShdw>
                          </a:effectLst>
                        </a:rPr>
                        <a:t>1</a:t>
                      </a:r>
                    </a:p>
                  </a:txBody>
                  <a:tcPr/>
                </a:tc>
                <a:tc>
                  <a:txBody>
                    <a:bodyPr/>
                    <a:lstStyle/>
                    <a:p>
                      <a:pPr algn="ctr"/>
                      <a:r>
                        <a:rPr lang="en-US" sz="2000" b="1" dirty="0">
                          <a:effectLst>
                            <a:outerShdw blurRad="38100" dist="38100" dir="2700000" algn="tl">
                              <a:srgbClr val="000000">
                                <a:alpha val="43137"/>
                              </a:srgbClr>
                            </a:outerShdw>
                          </a:effectLst>
                        </a:rPr>
                        <a:t>Name</a:t>
                      </a:r>
                      <a:r>
                        <a:rPr lang="en-US" sz="2000" b="1" baseline="0" dirty="0">
                          <a:effectLst>
                            <a:outerShdw blurRad="38100" dist="38100" dir="2700000" algn="tl">
                              <a:srgbClr val="000000">
                                <a:alpha val="43137"/>
                              </a:srgbClr>
                            </a:outerShdw>
                          </a:effectLst>
                        </a:rPr>
                        <a:t> of Subject with code, Course and Subject Teacher </a:t>
                      </a:r>
                      <a:endParaRPr lang="en-US" sz="2000" b="1" dirty="0">
                        <a:effectLst>
                          <a:outerShdw blurRad="38100" dist="38100" dir="2700000" algn="tl">
                            <a:srgbClr val="000000">
                              <a:alpha val="43137"/>
                            </a:srgbClr>
                          </a:outerShdw>
                        </a:effectLst>
                      </a:endParaRPr>
                    </a:p>
                  </a:txBody>
                  <a:tcPr/>
                </a:tc>
                <a:extLst>
                  <a:ext uri="{0D108BD9-81ED-4DB2-BD59-A6C34878D82A}">
                    <a16:rowId xmlns:a16="http://schemas.microsoft.com/office/drawing/2014/main" val="10001"/>
                  </a:ext>
                </a:extLst>
              </a:tr>
              <a:tr h="370840">
                <a:tc>
                  <a:txBody>
                    <a:bodyPr/>
                    <a:lstStyle/>
                    <a:p>
                      <a:pPr algn="ctr"/>
                      <a:r>
                        <a:rPr lang="en-US" sz="2000" b="1" dirty="0">
                          <a:effectLst>
                            <a:outerShdw blurRad="38100" dist="38100" dir="2700000" algn="tl">
                              <a:srgbClr val="000000">
                                <a:alpha val="43137"/>
                              </a:srgbClr>
                            </a:outerShdw>
                          </a:effectLst>
                        </a:rPr>
                        <a:t>2</a:t>
                      </a:r>
                    </a:p>
                  </a:txBody>
                  <a:tcPr/>
                </a:tc>
                <a:tc>
                  <a:txBody>
                    <a:bodyPr/>
                    <a:lstStyle/>
                    <a:p>
                      <a:pPr algn="ctr"/>
                      <a:r>
                        <a:rPr lang="en-US" sz="2000" b="1" dirty="0">
                          <a:effectLst>
                            <a:outerShdw blurRad="38100" dist="38100" dir="2700000" algn="tl">
                              <a:srgbClr val="000000">
                                <a:alpha val="43137"/>
                              </a:srgbClr>
                            </a:outerShdw>
                          </a:effectLst>
                        </a:rPr>
                        <a:t>Brief Introduction</a:t>
                      </a:r>
                      <a:r>
                        <a:rPr lang="en-US" sz="2000" b="1" baseline="0" dirty="0">
                          <a:effectLst>
                            <a:outerShdw blurRad="38100" dist="38100" dir="2700000" algn="tl">
                              <a:srgbClr val="000000">
                                <a:alpha val="43137"/>
                              </a:srgbClr>
                            </a:outerShdw>
                          </a:effectLst>
                        </a:rPr>
                        <a:t> of Faculty Member with Photograph</a:t>
                      </a:r>
                      <a:endParaRPr lang="en-US" sz="2000" b="1" dirty="0">
                        <a:effectLst>
                          <a:outerShdw blurRad="38100" dist="38100" dir="2700000" algn="tl">
                            <a:srgbClr val="000000">
                              <a:alpha val="43137"/>
                            </a:srgbClr>
                          </a:outerShdw>
                        </a:effectLst>
                      </a:endParaRPr>
                    </a:p>
                  </a:txBody>
                  <a:tcPr/>
                </a:tc>
                <a:extLst>
                  <a:ext uri="{0D108BD9-81ED-4DB2-BD59-A6C34878D82A}">
                    <a16:rowId xmlns:a16="http://schemas.microsoft.com/office/drawing/2014/main" val="10002"/>
                  </a:ext>
                </a:extLst>
              </a:tr>
              <a:tr h="370840">
                <a:tc>
                  <a:txBody>
                    <a:bodyPr/>
                    <a:lstStyle/>
                    <a:p>
                      <a:pPr algn="ctr"/>
                      <a:r>
                        <a:rPr lang="en-US" sz="2000" b="1" dirty="0">
                          <a:effectLst>
                            <a:outerShdw blurRad="38100" dist="38100" dir="2700000" algn="tl">
                              <a:srgbClr val="000000">
                                <a:alpha val="43137"/>
                              </a:srgbClr>
                            </a:outerShdw>
                          </a:effectLst>
                        </a:rPr>
                        <a:t>3</a:t>
                      </a:r>
                    </a:p>
                  </a:txBody>
                  <a:tcPr/>
                </a:tc>
                <a:tc>
                  <a:txBody>
                    <a:bodyPr/>
                    <a:lstStyle/>
                    <a:p>
                      <a:pPr algn="ctr"/>
                      <a:r>
                        <a:rPr lang="en-US" sz="2000" b="1" dirty="0">
                          <a:effectLst>
                            <a:outerShdw blurRad="38100" dist="38100" dir="2700000" algn="tl">
                              <a:srgbClr val="000000">
                                <a:alpha val="43137"/>
                              </a:srgbClr>
                            </a:outerShdw>
                          </a:effectLst>
                        </a:rPr>
                        <a:t>Evaluation</a:t>
                      </a:r>
                      <a:r>
                        <a:rPr lang="en-US" sz="2000" b="1" baseline="0" dirty="0">
                          <a:effectLst>
                            <a:outerShdw blurRad="38100" dist="38100" dir="2700000" algn="tl">
                              <a:srgbClr val="000000">
                                <a:alpha val="43137"/>
                              </a:srgbClr>
                            </a:outerShdw>
                          </a:effectLst>
                        </a:rPr>
                        <a:t> Scheme</a:t>
                      </a:r>
                      <a:endParaRPr lang="en-US" sz="2000" b="1" dirty="0">
                        <a:effectLst>
                          <a:outerShdw blurRad="38100" dist="38100" dir="2700000" algn="tl">
                            <a:srgbClr val="000000">
                              <a:alpha val="43137"/>
                            </a:srgbClr>
                          </a:outerShdw>
                        </a:effectLst>
                      </a:endParaRPr>
                    </a:p>
                  </a:txBody>
                  <a:tcPr/>
                </a:tc>
                <a:extLst>
                  <a:ext uri="{0D108BD9-81ED-4DB2-BD59-A6C34878D82A}">
                    <a16:rowId xmlns:a16="http://schemas.microsoft.com/office/drawing/2014/main" val="10003"/>
                  </a:ext>
                </a:extLst>
              </a:tr>
              <a:tr h="370840">
                <a:tc>
                  <a:txBody>
                    <a:bodyPr/>
                    <a:lstStyle/>
                    <a:p>
                      <a:pPr algn="ctr"/>
                      <a:r>
                        <a:rPr lang="en-US" sz="2000" b="1" dirty="0">
                          <a:effectLst>
                            <a:outerShdw blurRad="38100" dist="38100" dir="2700000" algn="tl">
                              <a:srgbClr val="000000">
                                <a:alpha val="43137"/>
                              </a:srgbClr>
                            </a:outerShdw>
                          </a:effectLst>
                        </a:rPr>
                        <a:t>4</a:t>
                      </a:r>
                    </a:p>
                  </a:txBody>
                  <a:tcPr/>
                </a:tc>
                <a:tc>
                  <a:txBody>
                    <a:bodyPr/>
                    <a:lstStyle/>
                    <a:p>
                      <a:pPr algn="ctr"/>
                      <a:r>
                        <a:rPr lang="en-US" sz="2000" b="1" dirty="0">
                          <a:effectLst>
                            <a:outerShdw blurRad="38100" dist="38100" dir="2700000" algn="tl">
                              <a:srgbClr val="000000">
                                <a:alpha val="43137"/>
                              </a:srgbClr>
                            </a:outerShdw>
                          </a:effectLst>
                        </a:rPr>
                        <a:t>Syllabus</a:t>
                      </a:r>
                    </a:p>
                  </a:txBody>
                  <a:tcPr/>
                </a:tc>
                <a:extLst>
                  <a:ext uri="{0D108BD9-81ED-4DB2-BD59-A6C34878D82A}">
                    <a16:rowId xmlns:a16="http://schemas.microsoft.com/office/drawing/2014/main" val="10004"/>
                  </a:ext>
                </a:extLst>
              </a:tr>
              <a:tr h="370840">
                <a:tc>
                  <a:txBody>
                    <a:bodyPr/>
                    <a:lstStyle/>
                    <a:p>
                      <a:pPr algn="ctr"/>
                      <a:r>
                        <a:rPr lang="en-US" sz="2000" b="1" dirty="0">
                          <a:effectLst>
                            <a:outerShdw blurRad="38100" dist="38100" dir="2700000" algn="tl">
                              <a:srgbClr val="000000">
                                <a:alpha val="43137"/>
                              </a:srgbClr>
                            </a:outerShdw>
                          </a:effectLst>
                        </a:rPr>
                        <a:t>5</a:t>
                      </a:r>
                    </a:p>
                  </a:txBody>
                  <a:tcPr/>
                </a:tc>
                <a:tc>
                  <a:txBody>
                    <a:bodyPr/>
                    <a:lstStyle/>
                    <a:p>
                      <a:pPr algn="ctr"/>
                      <a:r>
                        <a:rPr lang="en-US" sz="2000" b="1" dirty="0">
                          <a:effectLst>
                            <a:outerShdw blurRad="38100" dist="38100" dir="2700000" algn="tl">
                              <a:srgbClr val="000000">
                                <a:alpha val="43137"/>
                              </a:srgbClr>
                            </a:outerShdw>
                          </a:effectLst>
                        </a:rPr>
                        <a:t>Branch-wise Application</a:t>
                      </a:r>
                    </a:p>
                  </a:txBody>
                  <a:tcPr/>
                </a:tc>
                <a:extLst>
                  <a:ext uri="{0D108BD9-81ED-4DB2-BD59-A6C34878D82A}">
                    <a16:rowId xmlns:a16="http://schemas.microsoft.com/office/drawing/2014/main" val="10005"/>
                  </a:ext>
                </a:extLst>
              </a:tr>
              <a:tr h="370840">
                <a:tc>
                  <a:txBody>
                    <a:bodyPr/>
                    <a:lstStyle/>
                    <a:p>
                      <a:pPr algn="ctr"/>
                      <a:r>
                        <a:rPr lang="en-US" sz="2000" b="1" dirty="0">
                          <a:effectLst>
                            <a:outerShdw blurRad="38100" dist="38100" dir="2700000" algn="tl">
                              <a:srgbClr val="000000">
                                <a:alpha val="43137"/>
                              </a:srgbClr>
                            </a:outerShdw>
                          </a:effectLst>
                        </a:rPr>
                        <a:t>6</a:t>
                      </a:r>
                    </a:p>
                  </a:txBody>
                  <a:tcPr/>
                </a:tc>
                <a:tc>
                  <a:txBody>
                    <a:bodyPr/>
                    <a:lstStyle/>
                    <a:p>
                      <a:pPr algn="ctr"/>
                      <a:r>
                        <a:rPr lang="en-US" sz="2000" b="1" dirty="0">
                          <a:effectLst>
                            <a:outerShdw blurRad="38100" dist="38100" dir="2700000" algn="tl">
                              <a:srgbClr val="000000">
                                <a:alpha val="43137"/>
                              </a:srgbClr>
                            </a:outerShdw>
                          </a:effectLst>
                        </a:rPr>
                        <a:t>Course</a:t>
                      </a:r>
                      <a:r>
                        <a:rPr lang="en-US" sz="2000" b="1" baseline="0" dirty="0">
                          <a:effectLst>
                            <a:outerShdw blurRad="38100" dist="38100" dir="2700000" algn="tl">
                              <a:srgbClr val="000000">
                                <a:alpha val="43137"/>
                              </a:srgbClr>
                            </a:outerShdw>
                          </a:effectLst>
                        </a:rPr>
                        <a:t> Objectives </a:t>
                      </a:r>
                      <a:endParaRPr lang="en-US" sz="2000" b="1" dirty="0">
                        <a:effectLst>
                          <a:outerShdw blurRad="38100" dist="38100" dir="2700000" algn="tl">
                            <a:srgbClr val="000000">
                              <a:alpha val="43137"/>
                            </a:srgbClr>
                          </a:outerShdw>
                        </a:effectLst>
                      </a:endParaRPr>
                    </a:p>
                  </a:txBody>
                  <a:tcPr/>
                </a:tc>
                <a:extLst>
                  <a:ext uri="{0D108BD9-81ED-4DB2-BD59-A6C34878D82A}">
                    <a16:rowId xmlns:a16="http://schemas.microsoft.com/office/drawing/2014/main" val="10006"/>
                  </a:ext>
                </a:extLst>
              </a:tr>
              <a:tr h="370840">
                <a:tc>
                  <a:txBody>
                    <a:bodyPr/>
                    <a:lstStyle/>
                    <a:p>
                      <a:pPr algn="ctr"/>
                      <a:r>
                        <a:rPr lang="en-US" sz="2000" b="1" dirty="0">
                          <a:effectLst>
                            <a:outerShdw blurRad="38100" dist="38100" dir="2700000" algn="tl">
                              <a:srgbClr val="000000">
                                <a:alpha val="43137"/>
                              </a:srgbClr>
                            </a:outerShdw>
                          </a:effectLst>
                        </a:rPr>
                        <a:t>7</a:t>
                      </a:r>
                    </a:p>
                  </a:txBody>
                  <a:tcPr/>
                </a:tc>
                <a:tc>
                  <a:txBody>
                    <a:bodyPr/>
                    <a:lstStyle/>
                    <a:p>
                      <a:pPr algn="ctr"/>
                      <a:r>
                        <a:rPr lang="en-US" sz="2000" b="1" dirty="0">
                          <a:effectLst>
                            <a:outerShdw blurRad="38100" dist="38100" dir="2700000" algn="tl">
                              <a:srgbClr val="000000">
                                <a:alpha val="43137"/>
                              </a:srgbClr>
                            </a:outerShdw>
                          </a:effectLst>
                        </a:rPr>
                        <a:t>Course Outcomes </a:t>
                      </a:r>
                    </a:p>
                  </a:txBody>
                  <a:tcPr/>
                </a:tc>
                <a:extLst>
                  <a:ext uri="{0D108BD9-81ED-4DB2-BD59-A6C34878D82A}">
                    <a16:rowId xmlns:a16="http://schemas.microsoft.com/office/drawing/2014/main" val="10007"/>
                  </a:ext>
                </a:extLst>
              </a:tr>
              <a:tr h="370840">
                <a:tc>
                  <a:txBody>
                    <a:bodyPr/>
                    <a:lstStyle/>
                    <a:p>
                      <a:pPr algn="ctr"/>
                      <a:r>
                        <a:rPr lang="en-US" sz="2000" b="1" dirty="0">
                          <a:effectLst>
                            <a:outerShdw blurRad="38100" dist="38100" dir="2700000" algn="tl">
                              <a:srgbClr val="000000">
                                <a:alpha val="43137"/>
                              </a:srgbClr>
                            </a:outerShdw>
                          </a:effectLst>
                        </a:rPr>
                        <a:t>8</a:t>
                      </a:r>
                    </a:p>
                  </a:txBody>
                  <a:tcPr/>
                </a:tc>
                <a:tc>
                  <a:txBody>
                    <a:bodyPr/>
                    <a:lstStyle/>
                    <a:p>
                      <a:pPr algn="ctr"/>
                      <a:r>
                        <a:rPr lang="en-US" sz="2000" b="1" dirty="0" err="1">
                          <a:effectLst>
                            <a:outerShdw blurRad="38100" dist="38100" dir="2700000" algn="tl">
                              <a:srgbClr val="000000">
                                <a:alpha val="43137"/>
                              </a:srgbClr>
                            </a:outerShdw>
                          </a:effectLst>
                        </a:rPr>
                        <a:t>Programme</a:t>
                      </a:r>
                      <a:r>
                        <a:rPr lang="en-US" sz="2000" b="1" dirty="0">
                          <a:effectLst>
                            <a:outerShdw blurRad="38100" dist="38100" dir="2700000" algn="tl">
                              <a:srgbClr val="000000">
                                <a:alpha val="43137"/>
                              </a:srgbClr>
                            </a:outerShdw>
                          </a:effectLst>
                        </a:rPr>
                        <a:t> Outcomes (PSOs) </a:t>
                      </a:r>
                    </a:p>
                  </a:txBody>
                  <a:tcPr/>
                </a:tc>
                <a:extLst>
                  <a:ext uri="{0D108BD9-81ED-4DB2-BD59-A6C34878D82A}">
                    <a16:rowId xmlns:a16="http://schemas.microsoft.com/office/drawing/2014/main" val="10008"/>
                  </a:ext>
                </a:extLst>
              </a:tr>
              <a:tr h="370840">
                <a:tc>
                  <a:txBody>
                    <a:bodyPr/>
                    <a:lstStyle/>
                    <a:p>
                      <a:pPr algn="ctr"/>
                      <a:r>
                        <a:rPr lang="en-US" sz="2000" b="1" dirty="0">
                          <a:effectLst>
                            <a:outerShdw blurRad="38100" dist="38100" dir="2700000" algn="tl">
                              <a:srgbClr val="000000">
                                <a:alpha val="43137"/>
                              </a:srgbClr>
                            </a:outerShdw>
                          </a:effectLst>
                        </a:rPr>
                        <a:t>9</a:t>
                      </a:r>
                    </a:p>
                  </a:txBody>
                  <a:tcPr/>
                </a:tc>
                <a:tc>
                  <a:txBody>
                    <a:bodyPr/>
                    <a:lstStyle/>
                    <a:p>
                      <a:pPr algn="ctr"/>
                      <a:r>
                        <a:rPr lang="en-US" sz="2000" b="1" dirty="0">
                          <a:effectLst>
                            <a:outerShdw blurRad="38100" dist="38100" dir="2700000" algn="tl">
                              <a:srgbClr val="000000">
                                <a:alpha val="43137"/>
                              </a:srgbClr>
                            </a:outerShdw>
                          </a:effectLst>
                        </a:rPr>
                        <a:t>COs</a:t>
                      </a:r>
                      <a:r>
                        <a:rPr lang="en-US" sz="2000" b="1" baseline="0" dirty="0">
                          <a:effectLst>
                            <a:outerShdw blurRad="38100" dist="38100" dir="2700000" algn="tl">
                              <a:srgbClr val="000000">
                                <a:alpha val="43137"/>
                              </a:srgbClr>
                            </a:outerShdw>
                          </a:effectLst>
                        </a:rPr>
                        <a:t> and POs Mapping </a:t>
                      </a:r>
                      <a:endParaRPr lang="en-US" sz="2000" b="1" dirty="0">
                        <a:effectLst>
                          <a:outerShdw blurRad="38100" dist="38100" dir="2700000" algn="tl">
                            <a:srgbClr val="000000">
                              <a:alpha val="43137"/>
                            </a:srgbClr>
                          </a:outerShdw>
                        </a:effectLst>
                      </a:endParaRPr>
                    </a:p>
                  </a:txBody>
                  <a:tcPr/>
                </a:tc>
                <a:extLst>
                  <a:ext uri="{0D108BD9-81ED-4DB2-BD59-A6C34878D82A}">
                    <a16:rowId xmlns:a16="http://schemas.microsoft.com/office/drawing/2014/main" val="10009"/>
                  </a:ext>
                </a:extLst>
              </a:tr>
              <a:tr h="370840">
                <a:tc>
                  <a:txBody>
                    <a:bodyPr/>
                    <a:lstStyle/>
                    <a:p>
                      <a:pPr algn="ctr"/>
                      <a:r>
                        <a:rPr lang="en-US" sz="2000" b="1" dirty="0">
                          <a:effectLst>
                            <a:outerShdw blurRad="38100" dist="38100" dir="2700000" algn="tl">
                              <a:srgbClr val="000000">
                                <a:alpha val="43137"/>
                              </a:srgbClr>
                            </a:outerShdw>
                          </a:effectLst>
                        </a:rPr>
                        <a:t>10</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1" dirty="0"/>
                        <a:t>Lecture</a:t>
                      </a:r>
                      <a:r>
                        <a:rPr lang="en-US" sz="2000" b="1" baseline="0" dirty="0"/>
                        <a:t> related topic </a:t>
                      </a:r>
                      <a:endParaRPr lang="en-US" sz="2000" b="1" dirty="0"/>
                    </a:p>
                    <a:p>
                      <a:pPr algn="ctr"/>
                      <a:endParaRPr lang="en-US" sz="2000" b="1" dirty="0">
                        <a:effectLst>
                          <a:outerShdw blurRad="38100" dist="38100" dir="2700000" algn="tl">
                            <a:srgbClr val="000000">
                              <a:alpha val="43137"/>
                            </a:srgbClr>
                          </a:outerShdw>
                        </a:effectLst>
                      </a:endParaRPr>
                    </a:p>
                  </a:txBody>
                  <a:tcPr/>
                </a:tc>
                <a:extLst>
                  <a:ext uri="{0D108BD9-81ED-4DB2-BD59-A6C34878D82A}">
                    <a16:rowId xmlns:a16="http://schemas.microsoft.com/office/drawing/2014/main" val="10010"/>
                  </a:ext>
                </a:extLst>
              </a:tr>
            </a:tbl>
          </a:graphicData>
        </a:graphic>
      </p:graphicFrame>
      <p:sp>
        <p:nvSpPr>
          <p:cNvPr id="4" name="Rectangle 3">
            <a:extLst>
              <a:ext uri="{FF2B5EF4-FFF2-40B4-BE49-F238E27FC236}">
                <a16:creationId xmlns:a16="http://schemas.microsoft.com/office/drawing/2014/main" id="{CD0F2DA4-28DA-1721-2123-5B668D1288D4}"/>
              </a:ext>
            </a:extLst>
          </p:cNvPr>
          <p:cNvSpPr/>
          <p:nvPr/>
        </p:nvSpPr>
        <p:spPr>
          <a:xfrm>
            <a:off x="0" y="851755"/>
            <a:ext cx="12192000" cy="45719"/>
          </a:xfrm>
          <a:prstGeom prst="rect">
            <a:avLst/>
          </a:prstGeom>
          <a:solidFill>
            <a:srgbClr val="C00000"/>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dirty="0">
              <a:solidFill>
                <a:srgbClr val="D4222A"/>
              </a:solidFill>
            </a:endParaRPr>
          </a:p>
        </p:txBody>
      </p:sp>
      <p:pic>
        <p:nvPicPr>
          <p:cNvPr id="5" name="Picture 4">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6" name="Rectangle 5"/>
          <p:cNvSpPr/>
          <p:nvPr/>
        </p:nvSpPr>
        <p:spPr>
          <a:xfrm>
            <a:off x="3441896" y="236026"/>
            <a:ext cx="6096000" cy="861774"/>
          </a:xfrm>
          <a:prstGeom prst="rect">
            <a:avLst/>
          </a:prstGeom>
        </p:spPr>
        <p:txBody>
          <a:bodyPr>
            <a:spAutoFit/>
          </a:bodyPr>
          <a:lstStyle/>
          <a:p>
            <a:pPr algn="ctr"/>
            <a:r>
              <a:rPr lang="en-US" sz="3200" b="1" dirty="0">
                <a:solidFill>
                  <a:srgbClr val="C00000"/>
                </a:solidFill>
                <a:latin typeface="Times New Roman" pitchFamily="18" charset="0"/>
                <a:cs typeface="Times New Roman" pitchFamily="18" charset="0"/>
              </a:rPr>
              <a:t>INDEX / CONTENT </a:t>
            </a:r>
            <a:br>
              <a:rPr lang="en-US" sz="2000" b="1" dirty="0">
                <a:latin typeface="Times New Roman" pitchFamily="18" charset="0"/>
                <a:cs typeface="Times New Roman" pitchFamily="18" charset="0"/>
              </a:rPr>
            </a:br>
            <a:endParaRPr lang="en-US" dirty="0"/>
          </a:p>
        </p:txBody>
      </p:sp>
      <p:sp>
        <p:nvSpPr>
          <p:cNvPr id="8" name="Rectangle 7">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75B3EA-97F9-89E8-50FF-A2B2122FDE60}"/>
              </a:ext>
            </a:extLst>
          </p:cNvPr>
          <p:cNvSpPr>
            <a:spLocks noGrp="1"/>
          </p:cNvSpPr>
          <p:nvPr>
            <p:ph idx="1"/>
          </p:nvPr>
        </p:nvSpPr>
        <p:spPr>
          <a:xfrm>
            <a:off x="1866901" y="1720031"/>
            <a:ext cx="8528255" cy="3871452"/>
          </a:xfrm>
        </p:spPr>
        <p:txBody>
          <a:bodyPr>
            <a:normAutofit/>
          </a:bodyPr>
          <a:lstStyle/>
          <a:p>
            <a:pPr lvl="1"/>
            <a:endParaRPr lang="en-US" dirty="0">
              <a:solidFill>
                <a:srgbClr val="383A3C"/>
              </a:solidFill>
              <a:latin typeface="Times New Roman" panose="02020603050405020304" pitchFamily="18" charset="0"/>
              <a:cs typeface="Times New Roman" panose="02020603050405020304" pitchFamily="18" charset="0"/>
            </a:endParaRPr>
          </a:p>
          <a:p>
            <a:pPr lvl="1"/>
            <a:endParaRPr lang="en-IN" dirty="0">
              <a:solidFill>
                <a:srgbClr val="383A3C"/>
              </a:solidFill>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960D2596-AAD6-2CD2-F258-1C420EA84F79}"/>
              </a:ext>
            </a:extLst>
          </p:cNvPr>
          <p:cNvSpPr txBox="1">
            <a:spLocks/>
          </p:cNvSpPr>
          <p:nvPr/>
        </p:nvSpPr>
        <p:spPr>
          <a:xfrm>
            <a:off x="3113314" y="1083253"/>
            <a:ext cx="7565923" cy="492983"/>
          </a:xfrm>
          <a:prstGeom prst="rect">
            <a:avLst/>
          </a:prstGeom>
          <a:noFill/>
          <a:ln w="38100">
            <a:noFill/>
          </a:ln>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700" b="1" dirty="0">
                <a:solidFill>
                  <a:srgbClr val="D31E26"/>
                </a:solidFill>
                <a:latin typeface="Times New Roman" panose="02020603050405020304" pitchFamily="18" charset="0"/>
                <a:cs typeface="Times New Roman" panose="02020603050405020304" pitchFamily="18" charset="0"/>
              </a:rPr>
              <a:t>                Faculty Introduction</a:t>
            </a:r>
          </a:p>
          <a:p>
            <a:endParaRPr lang="en-IN" sz="2700" b="1" dirty="0">
              <a:solidFill>
                <a:srgbClr val="D31E26"/>
              </a:solidFill>
              <a:latin typeface="Times New Roman" panose="02020603050405020304" pitchFamily="18" charset="0"/>
              <a:cs typeface="Times New Roman" panose="02020603050405020304" pitchFamily="18" charset="0"/>
            </a:endParaRPr>
          </a:p>
        </p:txBody>
      </p:sp>
      <p:sp>
        <p:nvSpPr>
          <p:cNvPr id="14" name="Footer Placeholder 4">
            <a:extLst>
              <a:ext uri="{FF2B5EF4-FFF2-40B4-BE49-F238E27FC236}">
                <a16:creationId xmlns:a16="http://schemas.microsoft.com/office/drawing/2014/main" id="{133C1259-FFCE-CD79-A828-D871692F83BA}"/>
              </a:ext>
            </a:extLst>
          </p:cNvPr>
          <p:cNvSpPr txBox="1">
            <a:spLocks/>
          </p:cNvSpPr>
          <p:nvPr/>
        </p:nvSpPr>
        <p:spPr>
          <a:xfrm>
            <a:off x="1524000" y="5644830"/>
            <a:ext cx="9144000" cy="289552"/>
          </a:xfrm>
          <a:prstGeom prst="rect">
            <a:avLst/>
          </a:prstGeom>
          <a:gradFill flip="none" rotWithShape="1">
            <a:gsLst>
              <a:gs pos="0">
                <a:srgbClr val="D4222A">
                  <a:tint val="66000"/>
                  <a:satMod val="160000"/>
                </a:srgbClr>
              </a:gs>
              <a:gs pos="50000">
                <a:srgbClr val="D4222A">
                  <a:tint val="44500"/>
                  <a:satMod val="160000"/>
                </a:srgbClr>
              </a:gs>
              <a:gs pos="100000">
                <a:srgbClr val="D4222A">
                  <a:tint val="23500"/>
                  <a:satMod val="160000"/>
                </a:srgbClr>
              </a:gs>
            </a:gsLst>
            <a:lin ang="13500000" scaled="1"/>
            <a:tileRect/>
          </a:gradFill>
          <a:ln>
            <a:solidFill>
              <a:srgbClr val="D4222A"/>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350" dirty="0">
                <a:solidFill>
                  <a:srgbClr val="FAC6C7"/>
                </a:solidFill>
                <a:latin typeface="Times New Roman" panose="02020603050405020304" pitchFamily="18" charset="0"/>
                <a:cs typeface="Times New Roman" panose="02020603050405020304" pitchFamily="18" charset="0"/>
              </a:rPr>
              <a:t>. </a:t>
            </a:r>
            <a:r>
              <a:rPr lang="en-US" sz="1350" dirty="0">
                <a:latin typeface="Times New Roman" panose="02020603050405020304" pitchFamily="18" charset="0"/>
                <a:cs typeface="Times New Roman" panose="02020603050405020304" pitchFamily="18" charset="0"/>
              </a:rPr>
              <a:t>	  		</a:t>
            </a:r>
            <a:endParaRPr lang="en-IN" sz="1350" dirty="0">
              <a:latin typeface="Times New Roman" panose="02020603050405020304" pitchFamily="18" charset="0"/>
              <a:cs typeface="Times New Roman" panose="02020603050405020304" pitchFamily="18" charset="0"/>
            </a:endParaRPr>
          </a:p>
        </p:txBody>
      </p:sp>
      <p:sp>
        <p:nvSpPr>
          <p:cNvPr id="12" name="object 6"/>
          <p:cNvSpPr txBox="1"/>
          <p:nvPr/>
        </p:nvSpPr>
        <p:spPr>
          <a:xfrm>
            <a:off x="1827382" y="1953143"/>
            <a:ext cx="4537472" cy="1223412"/>
          </a:xfrm>
          <a:prstGeom prst="rect">
            <a:avLst/>
          </a:prstGeom>
        </p:spPr>
        <p:txBody>
          <a:bodyPr wrap="square" lIns="0" tIns="0" rIns="0" bIns="0">
            <a:spAutoFit/>
          </a:bodyPr>
          <a:lstStyle/>
          <a:p>
            <a:pPr marL="239078" indent="-229553">
              <a:buFont typeface="Arial"/>
              <a:buChar char="•"/>
              <a:tabLst>
                <a:tab pos="239554" algn="l"/>
                <a:tab pos="1627823" algn="l"/>
              </a:tabLst>
              <a:defRPr/>
            </a:pPr>
            <a:r>
              <a:rPr lang="en-US" sz="1650" b="1" spc="-30" dirty="0">
                <a:solidFill>
                  <a:prstClr val="black"/>
                </a:solidFill>
                <a:latin typeface="Times New Roman"/>
                <a:cs typeface="Times New Roman"/>
              </a:rPr>
              <a:t>F</a:t>
            </a:r>
            <a:r>
              <a:rPr lang="en-US" sz="1650" b="1" spc="-26" dirty="0">
                <a:solidFill>
                  <a:prstClr val="black"/>
                </a:solidFill>
                <a:latin typeface="Times New Roman"/>
                <a:cs typeface="Times New Roman"/>
              </a:rPr>
              <a:t>a</a:t>
            </a:r>
            <a:r>
              <a:rPr lang="en-US" sz="1650" b="1" spc="-30" dirty="0">
                <a:solidFill>
                  <a:prstClr val="black"/>
                </a:solidFill>
                <a:latin typeface="Times New Roman"/>
                <a:cs typeface="Times New Roman"/>
              </a:rPr>
              <a:t>cu</a:t>
            </a:r>
            <a:r>
              <a:rPr lang="en-US" sz="1650" b="1" spc="-26" dirty="0">
                <a:solidFill>
                  <a:prstClr val="black"/>
                </a:solidFill>
                <a:latin typeface="Times New Roman"/>
                <a:cs typeface="Times New Roman"/>
              </a:rPr>
              <a:t>l</a:t>
            </a:r>
            <a:r>
              <a:rPr lang="en-US" sz="1650" b="1" spc="-38" dirty="0">
                <a:solidFill>
                  <a:prstClr val="black"/>
                </a:solidFill>
                <a:latin typeface="Times New Roman"/>
                <a:cs typeface="Times New Roman"/>
              </a:rPr>
              <a:t>t</a:t>
            </a:r>
            <a:r>
              <a:rPr lang="en-US" sz="1650" b="1" spc="-11" dirty="0">
                <a:solidFill>
                  <a:prstClr val="black"/>
                </a:solidFill>
                <a:latin typeface="Times New Roman"/>
                <a:cs typeface="Times New Roman"/>
              </a:rPr>
              <a:t>y</a:t>
            </a:r>
            <a:r>
              <a:rPr lang="en-US" sz="1650" b="1" spc="-34" dirty="0">
                <a:solidFill>
                  <a:prstClr val="black"/>
                </a:solidFill>
                <a:latin typeface="Times New Roman"/>
                <a:cs typeface="Times New Roman"/>
              </a:rPr>
              <a:t> </a:t>
            </a:r>
            <a:r>
              <a:rPr lang="en-US" sz="1650" b="1" spc="-38" dirty="0">
                <a:solidFill>
                  <a:prstClr val="black"/>
                </a:solidFill>
                <a:latin typeface="Times New Roman"/>
                <a:cs typeface="Times New Roman"/>
              </a:rPr>
              <a:t>Nam</a:t>
            </a:r>
            <a:r>
              <a:rPr lang="en-US" sz="1650" b="1" spc="-30" dirty="0">
                <a:solidFill>
                  <a:prstClr val="black"/>
                </a:solidFill>
                <a:latin typeface="Times New Roman"/>
                <a:cs typeface="Times New Roman"/>
              </a:rPr>
              <a:t>e</a:t>
            </a:r>
            <a:r>
              <a:rPr lang="en-US" sz="1650" b="1" spc="-8" dirty="0">
                <a:solidFill>
                  <a:prstClr val="black"/>
                </a:solidFill>
                <a:latin typeface="Times New Roman"/>
                <a:cs typeface="Times New Roman"/>
              </a:rPr>
              <a:t>:</a:t>
            </a:r>
            <a:r>
              <a:rPr lang="en-US" sz="1650" b="1" dirty="0">
                <a:solidFill>
                  <a:prstClr val="black"/>
                </a:solidFill>
                <a:latin typeface="Times New Roman"/>
                <a:cs typeface="Times New Roman"/>
              </a:rPr>
              <a:t>	</a:t>
            </a:r>
            <a:r>
              <a:rPr lang="en-US" sz="1650" b="1" spc="-38" dirty="0">
                <a:solidFill>
                  <a:prstClr val="black"/>
                </a:solidFill>
                <a:latin typeface="Times New Roman"/>
                <a:cs typeface="Times New Roman"/>
              </a:rPr>
              <a:t>M</a:t>
            </a:r>
            <a:r>
              <a:rPr lang="en-US" sz="1650" b="1" spc="-8" dirty="0">
                <a:solidFill>
                  <a:prstClr val="black"/>
                </a:solidFill>
                <a:latin typeface="Times New Roman"/>
                <a:cs typeface="Times New Roman"/>
              </a:rPr>
              <a:t>r. Alok Raj</a:t>
            </a:r>
            <a:endParaRPr lang="en-US" sz="1650" dirty="0">
              <a:solidFill>
                <a:prstClr val="black"/>
              </a:solidFill>
              <a:latin typeface="Times New Roman"/>
              <a:cs typeface="Times New Roman"/>
            </a:endParaRPr>
          </a:p>
          <a:p>
            <a:pPr>
              <a:spcBef>
                <a:spcPts val="26"/>
              </a:spcBef>
              <a:defRPr/>
            </a:pPr>
            <a:endParaRPr lang="en-US" sz="1425" dirty="0">
              <a:solidFill>
                <a:prstClr val="black"/>
              </a:solidFill>
              <a:latin typeface="Times New Roman"/>
              <a:cs typeface="Times New Roman"/>
            </a:endParaRPr>
          </a:p>
          <a:p>
            <a:pPr marL="266700" indent="-257175">
              <a:buFont typeface="Times New Roman"/>
              <a:buChar char="•"/>
              <a:tabLst>
                <a:tab pos="267176" algn="l"/>
                <a:tab pos="1495425" algn="l"/>
              </a:tabLst>
              <a:defRPr/>
            </a:pPr>
            <a:r>
              <a:rPr lang="en-US" sz="1650" spc="-11" dirty="0">
                <a:solidFill>
                  <a:prstClr val="black"/>
                </a:solidFill>
                <a:latin typeface="Times New Roman"/>
                <a:cs typeface="Times New Roman"/>
              </a:rPr>
              <a:t>De</a:t>
            </a:r>
            <a:r>
              <a:rPr lang="en-US" sz="1650" spc="-15" dirty="0">
                <a:solidFill>
                  <a:prstClr val="black"/>
                </a:solidFill>
                <a:latin typeface="Times New Roman"/>
                <a:cs typeface="Times New Roman"/>
              </a:rPr>
              <a:t>s</a:t>
            </a:r>
            <a:r>
              <a:rPr lang="en-US" sz="1650" spc="-8" dirty="0">
                <a:solidFill>
                  <a:prstClr val="black"/>
                </a:solidFill>
                <a:latin typeface="Times New Roman"/>
                <a:cs typeface="Times New Roman"/>
              </a:rPr>
              <a:t>ignation   :   Assi</a:t>
            </a:r>
            <a:r>
              <a:rPr lang="en-US" sz="1650" spc="-15" dirty="0">
                <a:solidFill>
                  <a:prstClr val="black"/>
                </a:solidFill>
                <a:latin typeface="Times New Roman"/>
                <a:cs typeface="Times New Roman"/>
              </a:rPr>
              <a:t>s</a:t>
            </a:r>
            <a:r>
              <a:rPr lang="en-US" sz="1650" spc="-8" dirty="0">
                <a:solidFill>
                  <a:prstClr val="black"/>
                </a:solidFill>
                <a:latin typeface="Times New Roman"/>
                <a:cs typeface="Times New Roman"/>
              </a:rPr>
              <a:t>tant</a:t>
            </a:r>
            <a:r>
              <a:rPr lang="en-US" sz="1650" spc="4" dirty="0">
                <a:solidFill>
                  <a:prstClr val="black"/>
                </a:solidFill>
                <a:latin typeface="Times New Roman"/>
                <a:cs typeface="Times New Roman"/>
              </a:rPr>
              <a:t> </a:t>
            </a:r>
            <a:r>
              <a:rPr lang="en-US" sz="1650" spc="-11" dirty="0">
                <a:solidFill>
                  <a:prstClr val="black"/>
                </a:solidFill>
                <a:latin typeface="Times New Roman"/>
                <a:cs typeface="Times New Roman"/>
              </a:rPr>
              <a:t>P</a:t>
            </a:r>
            <a:r>
              <a:rPr lang="en-US" sz="1650" dirty="0">
                <a:solidFill>
                  <a:prstClr val="black"/>
                </a:solidFill>
                <a:latin typeface="Times New Roman"/>
                <a:cs typeface="Times New Roman"/>
              </a:rPr>
              <a:t>r</a:t>
            </a:r>
            <a:r>
              <a:rPr lang="en-US" sz="1650" spc="-8" dirty="0">
                <a:solidFill>
                  <a:prstClr val="black"/>
                </a:solidFill>
                <a:latin typeface="Times New Roman"/>
                <a:cs typeface="Times New Roman"/>
              </a:rPr>
              <a:t>ofes</a:t>
            </a:r>
            <a:r>
              <a:rPr lang="en-US" sz="1650" spc="-15" dirty="0">
                <a:solidFill>
                  <a:prstClr val="black"/>
                </a:solidFill>
                <a:latin typeface="Times New Roman"/>
                <a:cs typeface="Times New Roman"/>
              </a:rPr>
              <a:t>s</a:t>
            </a:r>
            <a:r>
              <a:rPr lang="en-US" sz="1650" spc="-8" dirty="0">
                <a:solidFill>
                  <a:prstClr val="black"/>
                </a:solidFill>
                <a:latin typeface="Times New Roman"/>
                <a:cs typeface="Times New Roman"/>
              </a:rPr>
              <a:t>or</a:t>
            </a:r>
            <a:endParaRPr lang="en-US" sz="1650" dirty="0">
              <a:solidFill>
                <a:prstClr val="black"/>
              </a:solidFill>
              <a:latin typeface="Times New Roman"/>
              <a:cs typeface="Times New Roman"/>
            </a:endParaRPr>
          </a:p>
          <a:p>
            <a:pPr>
              <a:spcBef>
                <a:spcPts val="9"/>
              </a:spcBef>
              <a:buFont typeface="Times New Roman"/>
              <a:buChar char="•"/>
              <a:defRPr/>
            </a:pPr>
            <a:endParaRPr lang="en-US" sz="1575" dirty="0">
              <a:solidFill>
                <a:prstClr val="black"/>
              </a:solidFill>
              <a:latin typeface="Times New Roman"/>
              <a:cs typeface="Times New Roman"/>
            </a:endParaRPr>
          </a:p>
          <a:p>
            <a:pPr marL="266700" indent="-257175">
              <a:buFont typeface="Times New Roman"/>
              <a:buChar char="•"/>
              <a:tabLst>
                <a:tab pos="267176" algn="l"/>
                <a:tab pos="1413034" algn="l"/>
                <a:tab pos="1628299" algn="l"/>
              </a:tabLst>
              <a:defRPr/>
            </a:pPr>
            <a:r>
              <a:rPr lang="en-US" sz="1650" spc="-11" dirty="0">
                <a:solidFill>
                  <a:prstClr val="black"/>
                </a:solidFill>
                <a:latin typeface="Times New Roman"/>
                <a:cs typeface="Times New Roman"/>
              </a:rPr>
              <a:t>Depar</a:t>
            </a:r>
            <a:r>
              <a:rPr lang="en-US" sz="1650" dirty="0">
                <a:solidFill>
                  <a:prstClr val="black"/>
                </a:solidFill>
                <a:latin typeface="Times New Roman"/>
                <a:cs typeface="Times New Roman"/>
              </a:rPr>
              <a:t>t</a:t>
            </a:r>
            <a:r>
              <a:rPr lang="en-US" sz="1650" spc="-15" dirty="0">
                <a:solidFill>
                  <a:prstClr val="black"/>
                </a:solidFill>
                <a:latin typeface="Times New Roman"/>
                <a:cs typeface="Times New Roman"/>
              </a:rPr>
              <a:t>me</a:t>
            </a:r>
            <a:r>
              <a:rPr lang="en-US" sz="1650" spc="-8" dirty="0">
                <a:solidFill>
                  <a:prstClr val="black"/>
                </a:solidFill>
                <a:latin typeface="Times New Roman"/>
                <a:cs typeface="Times New Roman"/>
              </a:rPr>
              <a:t>nt</a:t>
            </a:r>
            <a:r>
              <a:rPr lang="en-US" sz="1650" dirty="0">
                <a:solidFill>
                  <a:prstClr val="black"/>
                </a:solidFill>
                <a:latin typeface="Times New Roman"/>
                <a:cs typeface="Times New Roman"/>
              </a:rPr>
              <a:t>	</a:t>
            </a:r>
            <a:r>
              <a:rPr lang="en-US" sz="1650" spc="-8" dirty="0">
                <a:solidFill>
                  <a:prstClr val="black"/>
                </a:solidFill>
                <a:latin typeface="Times New Roman"/>
                <a:cs typeface="Times New Roman"/>
              </a:rPr>
              <a:t>:</a:t>
            </a:r>
            <a:r>
              <a:rPr lang="en-US" sz="1650" dirty="0">
                <a:solidFill>
                  <a:prstClr val="black"/>
                </a:solidFill>
                <a:latin typeface="Times New Roman"/>
                <a:cs typeface="Times New Roman"/>
              </a:rPr>
              <a:t>	</a:t>
            </a:r>
            <a:r>
              <a:rPr lang="en-US" sz="1650" spc="-15" dirty="0">
                <a:solidFill>
                  <a:prstClr val="black"/>
                </a:solidFill>
                <a:latin typeface="Times New Roman"/>
                <a:cs typeface="Times New Roman"/>
              </a:rPr>
              <a:t>MBA</a:t>
            </a:r>
            <a:endParaRPr lang="en-US" sz="1650" dirty="0">
              <a:solidFill>
                <a:prstClr val="black"/>
              </a:solidFill>
              <a:latin typeface="Times New Roman"/>
              <a:cs typeface="Times New Roman"/>
            </a:endParaRPr>
          </a:p>
        </p:txBody>
      </p:sp>
      <p:sp>
        <p:nvSpPr>
          <p:cNvPr id="13" name="object 7"/>
          <p:cNvSpPr txBox="1"/>
          <p:nvPr/>
        </p:nvSpPr>
        <p:spPr>
          <a:xfrm>
            <a:off x="1828801" y="3048001"/>
            <a:ext cx="1503647" cy="750205"/>
          </a:xfrm>
          <a:prstGeom prst="rect">
            <a:avLst/>
          </a:prstGeom>
        </p:spPr>
        <p:txBody>
          <a:bodyPr wrap="square" lIns="0" tIns="0" rIns="0" bIns="0">
            <a:spAutoFit/>
          </a:bodyPr>
          <a:lstStyle/>
          <a:p>
            <a:pPr marL="266700" indent="-257175">
              <a:tabLst>
                <a:tab pos="267176" algn="l"/>
              </a:tabLst>
              <a:defRPr/>
            </a:pPr>
            <a:endParaRPr sz="1650" dirty="0">
              <a:solidFill>
                <a:prstClr val="black"/>
              </a:solidFill>
              <a:latin typeface="Times New Roman"/>
              <a:cs typeface="Times New Roman"/>
            </a:endParaRPr>
          </a:p>
          <a:p>
            <a:pPr>
              <a:spcBef>
                <a:spcPts val="8"/>
              </a:spcBef>
              <a:buFont typeface="Times New Roman"/>
              <a:buChar char="•"/>
              <a:defRPr/>
            </a:pPr>
            <a:endParaRPr sz="1575" dirty="0">
              <a:solidFill>
                <a:prstClr val="black"/>
              </a:solidFill>
              <a:latin typeface="Times New Roman"/>
              <a:cs typeface="Times New Roman"/>
            </a:endParaRPr>
          </a:p>
          <a:p>
            <a:pPr marL="198120" indent="-188595">
              <a:buFont typeface="Times New Roman"/>
              <a:buChar char="•"/>
              <a:tabLst>
                <a:tab pos="198596" algn="l"/>
              </a:tabLst>
              <a:defRPr/>
            </a:pPr>
            <a:r>
              <a:rPr sz="1650" spc="-8" dirty="0">
                <a:solidFill>
                  <a:prstClr val="black"/>
                </a:solidFill>
                <a:latin typeface="Times New Roman"/>
                <a:cs typeface="Times New Roman"/>
              </a:rPr>
              <a:t>Qualification</a:t>
            </a:r>
            <a:r>
              <a:rPr lang="en-US" sz="1650" spc="-8" dirty="0">
                <a:solidFill>
                  <a:prstClr val="black"/>
                </a:solidFill>
                <a:latin typeface="Times New Roman"/>
                <a:cs typeface="Times New Roman"/>
              </a:rPr>
              <a:t>  </a:t>
            </a:r>
            <a:r>
              <a:rPr sz="1650" spc="-8" dirty="0">
                <a:solidFill>
                  <a:prstClr val="black"/>
                </a:solidFill>
                <a:latin typeface="Times New Roman"/>
                <a:cs typeface="Times New Roman"/>
              </a:rPr>
              <a:t>:</a:t>
            </a:r>
            <a:endParaRPr sz="1650" dirty="0">
              <a:solidFill>
                <a:prstClr val="black"/>
              </a:solidFill>
              <a:latin typeface="Times New Roman"/>
              <a:cs typeface="Times New Roman"/>
            </a:endParaRPr>
          </a:p>
        </p:txBody>
      </p:sp>
      <p:sp>
        <p:nvSpPr>
          <p:cNvPr id="15" name="object 8"/>
          <p:cNvSpPr txBox="1"/>
          <p:nvPr/>
        </p:nvSpPr>
        <p:spPr>
          <a:xfrm>
            <a:off x="3100856" y="3048001"/>
            <a:ext cx="3147544" cy="750205"/>
          </a:xfrm>
          <a:prstGeom prst="rect">
            <a:avLst/>
          </a:prstGeom>
        </p:spPr>
        <p:txBody>
          <a:bodyPr wrap="square" lIns="0" tIns="0" rIns="0" bIns="0">
            <a:spAutoFit/>
          </a:bodyPr>
          <a:lstStyle/>
          <a:p>
            <a:pPr algn="ctr">
              <a:tabLst>
                <a:tab pos="215741" algn="l"/>
              </a:tabLst>
              <a:defRPr/>
            </a:pPr>
            <a:endParaRPr sz="1575" dirty="0">
              <a:latin typeface="Times New Roman"/>
              <a:cs typeface="Times New Roman"/>
            </a:endParaRPr>
          </a:p>
          <a:p>
            <a:pPr marL="71914" algn="ctr">
              <a:defRPr/>
            </a:pPr>
            <a:endParaRPr lang="en-US" sz="1650" spc="-15" dirty="0">
              <a:latin typeface="Times New Roman"/>
              <a:cs typeface="Times New Roman"/>
            </a:endParaRPr>
          </a:p>
          <a:p>
            <a:pPr marL="71914" algn="ctr">
              <a:defRPr/>
            </a:pPr>
            <a:r>
              <a:rPr sz="1650" spc="-15" dirty="0">
                <a:latin typeface="Times New Roman"/>
                <a:cs typeface="Times New Roman"/>
              </a:rPr>
              <a:t>MBA</a:t>
            </a:r>
            <a:r>
              <a:rPr lang="en-US" sz="1650" spc="-15" dirty="0">
                <a:latin typeface="Times New Roman"/>
                <a:cs typeface="Times New Roman"/>
              </a:rPr>
              <a:t>(Marketing and Operations)</a:t>
            </a:r>
            <a:endParaRPr sz="1650" dirty="0">
              <a:latin typeface="Times New Roman"/>
              <a:cs typeface="Times New Roman"/>
            </a:endParaRPr>
          </a:p>
        </p:txBody>
      </p:sp>
      <p:sp>
        <p:nvSpPr>
          <p:cNvPr id="16" name="object 9"/>
          <p:cNvSpPr txBox="1"/>
          <p:nvPr/>
        </p:nvSpPr>
        <p:spPr>
          <a:xfrm>
            <a:off x="1828800" y="3962401"/>
            <a:ext cx="8534400" cy="1246495"/>
          </a:xfrm>
          <a:prstGeom prst="rect">
            <a:avLst/>
          </a:prstGeom>
        </p:spPr>
        <p:txBody>
          <a:bodyPr wrap="square" lIns="0" tIns="0" rIns="0" bIns="0">
            <a:spAutoFit/>
          </a:bodyPr>
          <a:lstStyle/>
          <a:p>
            <a:pPr marL="198120" indent="-188595">
              <a:buFont typeface="Times New Roman"/>
              <a:buChar char="•"/>
              <a:tabLst>
                <a:tab pos="198120" algn="l"/>
                <a:tab pos="1654493" algn="l"/>
              </a:tabLst>
              <a:defRPr/>
            </a:pPr>
            <a:r>
              <a:rPr sz="1650" spc="-11" dirty="0">
                <a:solidFill>
                  <a:prstClr val="black"/>
                </a:solidFill>
                <a:latin typeface="Times New Roman"/>
                <a:cs typeface="Times New Roman"/>
              </a:rPr>
              <a:t>S</a:t>
            </a:r>
            <a:r>
              <a:rPr sz="1650" spc="-8" dirty="0">
                <a:solidFill>
                  <a:prstClr val="black"/>
                </a:solidFill>
                <a:latin typeface="Times New Roman"/>
                <a:cs typeface="Times New Roman"/>
              </a:rPr>
              <a:t>peci</a:t>
            </a:r>
            <a:r>
              <a:rPr sz="1650" spc="-15" dirty="0">
                <a:solidFill>
                  <a:prstClr val="black"/>
                </a:solidFill>
                <a:latin typeface="Times New Roman"/>
                <a:cs typeface="Times New Roman"/>
              </a:rPr>
              <a:t>a</a:t>
            </a:r>
            <a:r>
              <a:rPr sz="1650" spc="-8" dirty="0">
                <a:solidFill>
                  <a:prstClr val="black"/>
                </a:solidFill>
                <a:latin typeface="Times New Roman"/>
                <a:cs typeface="Times New Roman"/>
              </a:rPr>
              <a:t>lizati</a:t>
            </a:r>
            <a:r>
              <a:rPr sz="1650" dirty="0">
                <a:solidFill>
                  <a:prstClr val="black"/>
                </a:solidFill>
                <a:latin typeface="Times New Roman"/>
                <a:cs typeface="Times New Roman"/>
              </a:rPr>
              <a:t>o</a:t>
            </a:r>
            <a:r>
              <a:rPr sz="1650" spc="-8" dirty="0">
                <a:solidFill>
                  <a:prstClr val="black"/>
                </a:solidFill>
                <a:latin typeface="Times New Roman"/>
                <a:cs typeface="Times New Roman"/>
              </a:rPr>
              <a:t>n</a:t>
            </a:r>
            <a:r>
              <a:rPr lang="en-US" sz="1650" spc="-8" dirty="0">
                <a:solidFill>
                  <a:prstClr val="black"/>
                </a:solidFill>
                <a:latin typeface="Times New Roman"/>
                <a:cs typeface="Times New Roman"/>
              </a:rPr>
              <a:t> </a:t>
            </a:r>
            <a:r>
              <a:rPr sz="1650" spc="-8" dirty="0">
                <a:solidFill>
                  <a:prstClr val="black"/>
                </a:solidFill>
                <a:latin typeface="Times New Roman"/>
                <a:cs typeface="Times New Roman"/>
              </a:rPr>
              <a:t>:</a:t>
            </a:r>
            <a:r>
              <a:rPr sz="1650" dirty="0">
                <a:solidFill>
                  <a:prstClr val="black"/>
                </a:solidFill>
                <a:latin typeface="Times New Roman"/>
                <a:cs typeface="Times New Roman"/>
              </a:rPr>
              <a:t>	</a:t>
            </a:r>
            <a:r>
              <a:rPr lang="en-US" sz="1650" spc="-15" dirty="0">
                <a:latin typeface="Times New Roman"/>
                <a:cs typeface="Times New Roman"/>
              </a:rPr>
              <a:t> MBA(Marketing and Operations)</a:t>
            </a:r>
            <a:endParaRPr sz="1650" dirty="0">
              <a:solidFill>
                <a:prstClr val="black"/>
              </a:solidFill>
              <a:latin typeface="Times New Roman"/>
              <a:cs typeface="Times New Roman"/>
            </a:endParaRPr>
          </a:p>
          <a:p>
            <a:pPr>
              <a:spcBef>
                <a:spcPts val="9"/>
              </a:spcBef>
              <a:buFont typeface="Times New Roman"/>
              <a:buChar char="•"/>
              <a:defRPr/>
            </a:pPr>
            <a:endParaRPr sz="1575" dirty="0">
              <a:solidFill>
                <a:prstClr val="black"/>
              </a:solidFill>
              <a:latin typeface="Times New Roman"/>
              <a:cs typeface="Times New Roman"/>
            </a:endParaRPr>
          </a:p>
          <a:p>
            <a:pPr marL="266700" indent="-257175">
              <a:buFont typeface="Arial" panose="020B0604020202020204" pitchFamily="34" charset="0"/>
              <a:buChar char="•"/>
              <a:tabLst>
                <a:tab pos="267176" algn="l"/>
              </a:tabLst>
              <a:defRPr/>
            </a:pPr>
            <a:r>
              <a:rPr sz="1650" spc="-11" dirty="0">
                <a:solidFill>
                  <a:prstClr val="black"/>
                </a:solidFill>
                <a:latin typeface="Times New Roman"/>
                <a:cs typeface="Times New Roman"/>
              </a:rPr>
              <a:t>Tea</a:t>
            </a:r>
            <a:r>
              <a:rPr sz="1650" spc="-15" dirty="0">
                <a:solidFill>
                  <a:prstClr val="black"/>
                </a:solidFill>
                <a:latin typeface="Times New Roman"/>
                <a:cs typeface="Times New Roman"/>
              </a:rPr>
              <a:t>c</a:t>
            </a:r>
            <a:r>
              <a:rPr sz="1650" spc="-8" dirty="0">
                <a:solidFill>
                  <a:prstClr val="black"/>
                </a:solidFill>
                <a:latin typeface="Times New Roman"/>
                <a:cs typeface="Times New Roman"/>
              </a:rPr>
              <a:t>hing</a:t>
            </a:r>
            <a:r>
              <a:rPr sz="1650" spc="4" dirty="0">
                <a:solidFill>
                  <a:prstClr val="black"/>
                </a:solidFill>
                <a:latin typeface="Times New Roman"/>
                <a:cs typeface="Times New Roman"/>
              </a:rPr>
              <a:t> </a:t>
            </a:r>
            <a:r>
              <a:rPr sz="1650" spc="-11" dirty="0">
                <a:solidFill>
                  <a:prstClr val="black"/>
                </a:solidFill>
                <a:latin typeface="Times New Roman"/>
                <a:cs typeface="Times New Roman"/>
              </a:rPr>
              <a:t>Ar</a:t>
            </a:r>
            <a:r>
              <a:rPr sz="1650" spc="-4" dirty="0">
                <a:solidFill>
                  <a:prstClr val="black"/>
                </a:solidFill>
                <a:latin typeface="Times New Roman"/>
                <a:cs typeface="Times New Roman"/>
              </a:rPr>
              <a:t>e</a:t>
            </a:r>
            <a:r>
              <a:rPr sz="1650" spc="-8" dirty="0">
                <a:solidFill>
                  <a:prstClr val="black"/>
                </a:solidFill>
                <a:latin typeface="Times New Roman"/>
                <a:cs typeface="Times New Roman"/>
              </a:rPr>
              <a:t>a:</a:t>
            </a:r>
            <a:r>
              <a:rPr sz="1650" spc="4" dirty="0">
                <a:solidFill>
                  <a:prstClr val="black"/>
                </a:solidFill>
                <a:latin typeface="Times New Roman"/>
                <a:cs typeface="Times New Roman"/>
              </a:rPr>
              <a:t> </a:t>
            </a:r>
            <a:r>
              <a:rPr lang="en-US" sz="1650" spc="4" dirty="0">
                <a:solidFill>
                  <a:prstClr val="black"/>
                </a:solidFill>
                <a:latin typeface="Times New Roman"/>
                <a:cs typeface="Times New Roman"/>
              </a:rPr>
              <a:t>   General Management, </a:t>
            </a:r>
            <a:r>
              <a:rPr lang="en-US" sz="1650" spc="-15" dirty="0">
                <a:solidFill>
                  <a:prstClr val="black"/>
                </a:solidFill>
                <a:latin typeface="Times New Roman"/>
                <a:cs typeface="Times New Roman"/>
              </a:rPr>
              <a:t>Entrepreneurship, Operations Management </a:t>
            </a:r>
            <a:endParaRPr sz="1650" dirty="0">
              <a:solidFill>
                <a:prstClr val="black"/>
              </a:solidFill>
              <a:latin typeface="Times New Roman"/>
              <a:cs typeface="Times New Roman"/>
            </a:endParaRPr>
          </a:p>
          <a:p>
            <a:pPr>
              <a:spcBef>
                <a:spcPts val="6"/>
              </a:spcBef>
              <a:buFont typeface="Times New Roman"/>
              <a:buChar char="•"/>
              <a:defRPr/>
            </a:pPr>
            <a:endParaRPr sz="1575" dirty="0">
              <a:solidFill>
                <a:prstClr val="black"/>
              </a:solidFill>
              <a:latin typeface="Times New Roman"/>
              <a:cs typeface="Times New Roman"/>
            </a:endParaRPr>
          </a:p>
          <a:p>
            <a:pPr marL="266700" indent="-257175">
              <a:buFont typeface="Arial" panose="020B0604020202020204" pitchFamily="34" charset="0"/>
              <a:buChar char="•"/>
              <a:tabLst>
                <a:tab pos="267176" algn="l"/>
              </a:tabLst>
              <a:defRPr/>
            </a:pPr>
            <a:endParaRPr sz="1650" dirty="0">
              <a:solidFill>
                <a:prstClr val="black"/>
              </a:solidFill>
              <a:latin typeface="Times New Roman"/>
              <a:cs typeface="Times New Roman"/>
            </a:endParaRPr>
          </a:p>
        </p:txBody>
      </p:sp>
      <p:sp>
        <p:nvSpPr>
          <p:cNvPr id="9" name="Rectangle 8">
            <a:extLst>
              <a:ext uri="{FF2B5EF4-FFF2-40B4-BE49-F238E27FC236}">
                <a16:creationId xmlns:a16="http://schemas.microsoft.com/office/drawing/2014/main" id="{731A936F-F269-359D-A45A-2FFA91880636}"/>
              </a:ext>
            </a:extLst>
          </p:cNvPr>
          <p:cNvSpPr/>
          <p:nvPr/>
        </p:nvSpPr>
        <p:spPr>
          <a:xfrm>
            <a:off x="152400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1458501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347108" y="0"/>
            <a:ext cx="9239250" cy="838200"/>
          </a:xfrm>
        </p:spPr>
        <p:txBody>
          <a:bodyPr>
            <a:normAutofit/>
          </a:bodyPr>
          <a:lstStyle/>
          <a:p>
            <a:pPr algn="ctr"/>
            <a:r>
              <a:rPr lang="en-IN" sz="3600" b="1" dirty="0">
                <a:solidFill>
                  <a:srgbClr val="CC3300"/>
                </a:solidFill>
                <a:latin typeface="Times New Roman" pitchFamily="18" charset="0"/>
                <a:cs typeface="Times New Roman" pitchFamily="18" charset="0"/>
              </a:rPr>
              <a:t>Subject Syllabus</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6" name="Rectangle 15"/>
          <p:cNvSpPr/>
          <p:nvPr/>
        </p:nvSpPr>
        <p:spPr>
          <a:xfrm>
            <a:off x="182880" y="1237956"/>
            <a:ext cx="11774658" cy="3046988"/>
          </a:xfrm>
          <a:prstGeom prst="rect">
            <a:avLst/>
          </a:prstGeom>
        </p:spPr>
        <p:txBody>
          <a:bodyPr wrap="square">
            <a:spAutoFit/>
          </a:bodyPr>
          <a:lstStyle/>
          <a:p>
            <a:r>
              <a:rPr lang="en-US" sz="2400" b="1" dirty="0">
                <a:latin typeface="Times New Roman" panose="02020603050405020304" pitchFamily="18" charset="0"/>
                <a:cs typeface="Times New Roman" panose="02020603050405020304" pitchFamily="18" charset="0"/>
              </a:rPr>
              <a:t>Unit –I</a:t>
            </a:r>
          </a:p>
          <a:p>
            <a:pPr algn="just">
              <a:buFont typeface="Arial" pitchFamily="34" charset="0"/>
              <a:buChar char="•"/>
            </a:pPr>
            <a:r>
              <a:rPr lang="en-US" sz="2400" dirty="0">
                <a:latin typeface="Times New Roman" panose="02020603050405020304" pitchFamily="18" charset="0"/>
                <a:ea typeface="Calibri" panose="020F0502020204030204" pitchFamily="34" charset="0"/>
                <a:cs typeface="Times New Roman" panose="02020603050405020304" pitchFamily="18" charset="0"/>
              </a:rPr>
              <a:t>Entrepreneurship: need, scope, </a:t>
            </a:r>
          </a:p>
          <a:p>
            <a:pPr algn="just">
              <a:buFont typeface="Arial" pitchFamily="34" charset="0"/>
              <a:buChar char="•"/>
            </a:pPr>
            <a:r>
              <a:rPr lang="en-US" sz="2400" dirty="0">
                <a:latin typeface="Times New Roman" panose="02020603050405020304" pitchFamily="18" charset="0"/>
                <a:ea typeface="Calibri" panose="020F0502020204030204" pitchFamily="34" charset="0"/>
                <a:cs typeface="Times New Roman" panose="02020603050405020304" pitchFamily="18" charset="0"/>
              </a:rPr>
              <a:t>Entrepreneurial competencies &amp; traits, </a:t>
            </a:r>
          </a:p>
          <a:p>
            <a:pPr algn="just">
              <a:buFont typeface="Arial" pitchFamily="34" charset="0"/>
              <a:buChar char="•"/>
            </a:pPr>
            <a:r>
              <a:rPr lang="en-US" sz="2400" dirty="0">
                <a:latin typeface="Times New Roman" panose="02020603050405020304" pitchFamily="18" charset="0"/>
                <a:ea typeface="Calibri" panose="020F0502020204030204" pitchFamily="34" charset="0"/>
                <a:cs typeface="Times New Roman" panose="02020603050405020304" pitchFamily="18" charset="0"/>
              </a:rPr>
              <a:t>Factors affecting entrepreneurial development, </a:t>
            </a:r>
          </a:p>
          <a:p>
            <a:pPr algn="just">
              <a:buFont typeface="Arial" pitchFamily="34" charset="0"/>
              <a:buChar char="•"/>
            </a:pPr>
            <a:r>
              <a:rPr lang="en-US" sz="2400" dirty="0">
                <a:latin typeface="Times New Roman" panose="02020603050405020304" pitchFamily="18" charset="0"/>
                <a:ea typeface="Calibri" panose="020F0502020204030204" pitchFamily="34" charset="0"/>
                <a:cs typeface="Times New Roman" panose="02020603050405020304" pitchFamily="18" charset="0"/>
              </a:rPr>
              <a:t>Entrepreneurial motivation (Mc </a:t>
            </a:r>
            <a:r>
              <a:rPr lang="en-US" sz="2400" dirty="0" err="1">
                <a:latin typeface="Times New Roman" panose="02020603050405020304" pitchFamily="18" charset="0"/>
                <a:ea typeface="Calibri" panose="020F0502020204030204" pitchFamily="34" charset="0"/>
                <a:cs typeface="Times New Roman" panose="02020603050405020304" pitchFamily="18" charset="0"/>
              </a:rPr>
              <a:t>Clelland</a:t>
            </a:r>
            <a:r>
              <a:rPr lang="en-US" sz="2400" dirty="0">
                <a:latin typeface="Times New Roman" panose="02020603050405020304" pitchFamily="18" charset="0"/>
                <a:ea typeface="Calibri" panose="020F0502020204030204" pitchFamily="34" charset="0"/>
                <a:cs typeface="Times New Roman" panose="02020603050405020304" pitchFamily="18" charset="0"/>
              </a:rPr>
              <a:t> Achievement motivation theory), conceptual model of entrepreneurship, </a:t>
            </a:r>
          </a:p>
          <a:p>
            <a:pPr algn="just">
              <a:buFont typeface="Arial" pitchFamily="34" charset="0"/>
              <a:buChar char="•"/>
            </a:pPr>
            <a:r>
              <a:rPr lang="en-US" sz="2400" dirty="0">
                <a:latin typeface="Times New Roman" panose="02020603050405020304" pitchFamily="18" charset="0"/>
                <a:ea typeface="Calibri" panose="020F0502020204030204" pitchFamily="34" charset="0"/>
                <a:cs typeface="Times New Roman" panose="02020603050405020304" pitchFamily="18" charset="0"/>
              </a:rPr>
              <a:t>Entrepreneur vs. </a:t>
            </a:r>
            <a:r>
              <a:rPr lang="en-US" sz="2400" dirty="0" err="1">
                <a:latin typeface="Times New Roman" panose="02020603050405020304" pitchFamily="18" charset="0"/>
                <a:ea typeface="Calibri" panose="020F0502020204030204" pitchFamily="34" charset="0"/>
                <a:cs typeface="Times New Roman" panose="02020603050405020304" pitchFamily="18" charset="0"/>
              </a:rPr>
              <a:t>intrapreneur</a:t>
            </a:r>
            <a:r>
              <a:rPr lang="en-US" sz="2400" dirty="0">
                <a:latin typeface="Times New Roman" panose="02020603050405020304" pitchFamily="18" charset="0"/>
                <a:ea typeface="Calibri" panose="020F0502020204030204" pitchFamily="34" charset="0"/>
                <a:cs typeface="Times New Roman" panose="02020603050405020304" pitchFamily="18" charset="0"/>
              </a:rPr>
              <a:t>; </a:t>
            </a:r>
          </a:p>
          <a:p>
            <a:pPr algn="just">
              <a:buFont typeface="Arial" pitchFamily="34" charset="0"/>
              <a:buChar char="•"/>
            </a:pPr>
            <a:r>
              <a:rPr lang="en-US" sz="2400" dirty="0">
                <a:latin typeface="Times New Roman" panose="02020603050405020304" pitchFamily="18" charset="0"/>
                <a:ea typeface="Calibri" panose="020F0502020204030204" pitchFamily="34" charset="0"/>
                <a:cs typeface="Times New Roman" panose="02020603050405020304" pitchFamily="18" charset="0"/>
              </a:rPr>
              <a:t>Classification of entrepreneurs; Entrepreneurial Development </a:t>
            </a:r>
            <a:r>
              <a:rPr lang="en-US" sz="2400" dirty="0" err="1">
                <a:latin typeface="Times New Roman" panose="02020603050405020304" pitchFamily="18" charset="0"/>
                <a:ea typeface="Calibri" panose="020F0502020204030204" pitchFamily="34" charset="0"/>
                <a:cs typeface="Times New Roman" panose="02020603050405020304" pitchFamily="18" charset="0"/>
              </a:rPr>
              <a:t>Programmes</a:t>
            </a:r>
            <a:r>
              <a:rPr lang="en-US" sz="2400" dirty="0">
                <a:latin typeface="Times New Roman" panose="02020603050405020304" pitchFamily="18" charset="0"/>
                <a:ea typeface="Calibri" panose="020F0502020204030204" pitchFamily="34" charset="0"/>
                <a:cs typeface="Times New Roman" panose="02020603050405020304" pitchFamily="18" charset="0"/>
              </a:rPr>
              <a:t>.</a:t>
            </a:r>
            <a:endParaRPr lang="en-US" sz="2400" b="1" dirty="0">
              <a:latin typeface="Times New Roman" panose="02020603050405020304" pitchFamily="18" charset="0"/>
              <a:cs typeface="Times New Roman" panose="02020603050405020304" pitchFamily="18" charset="0"/>
            </a:endParaRPr>
          </a:p>
        </p:txBody>
      </p:sp>
      <p:sp>
        <p:nvSpPr>
          <p:cNvPr id="17" name="Rectangle 16">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dirty="0">
                <a:solidFill>
                  <a:srgbClr val="CC3300"/>
                </a:solidFill>
                <a:latin typeface="Times New Roman" pitchFamily="18" charset="0"/>
                <a:cs typeface="Times New Roman" pitchFamily="18" charset="0"/>
              </a:rPr>
              <a:t>Subject Syllabus</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7" name="Rectangle 16"/>
          <p:cNvSpPr/>
          <p:nvPr/>
        </p:nvSpPr>
        <p:spPr>
          <a:xfrm>
            <a:off x="811236" y="1223334"/>
            <a:ext cx="10822746" cy="3293209"/>
          </a:xfrm>
          <a:prstGeom prst="rect">
            <a:avLst/>
          </a:prstGeom>
        </p:spPr>
        <p:txBody>
          <a:bodyPr wrap="square">
            <a:spAutoFit/>
          </a:bodyPr>
          <a:lstStyle/>
          <a:p>
            <a:pPr algn="just">
              <a:lnSpc>
                <a:spcPct val="160000"/>
              </a:lnSpc>
            </a:pPr>
            <a:r>
              <a:rPr lang="en-US" sz="2400" b="1" dirty="0">
                <a:latin typeface="Times New Roman" panose="02020603050405020304" pitchFamily="18" charset="0"/>
                <a:cs typeface="Times New Roman" panose="02020603050405020304" pitchFamily="18" charset="0"/>
              </a:rPr>
              <a:t>Unit –II</a:t>
            </a:r>
          </a:p>
          <a:p>
            <a:pPr algn="just">
              <a:buFont typeface="Arial" pitchFamily="34" charset="0"/>
              <a:buChar char="•"/>
            </a:pPr>
            <a:r>
              <a:rPr lang="en-US" sz="2400" dirty="0">
                <a:latin typeface="Times New Roman" panose="02020603050405020304" pitchFamily="18" charset="0"/>
                <a:ea typeface="Calibri" panose="020F0502020204030204" pitchFamily="34" charset="0"/>
                <a:cs typeface="Times New Roman" panose="02020603050405020304" pitchFamily="18" charset="0"/>
              </a:rPr>
              <a:t>Introduction to Innovation, </a:t>
            </a:r>
          </a:p>
          <a:p>
            <a:pPr algn="just">
              <a:buFont typeface="Arial" pitchFamily="34" charset="0"/>
              <a:buChar char="•"/>
            </a:pPr>
            <a:r>
              <a:rPr lang="en-US" sz="2400" dirty="0">
                <a:latin typeface="Times New Roman" panose="02020603050405020304" pitchFamily="18" charset="0"/>
                <a:ea typeface="Calibri" panose="020F0502020204030204" pitchFamily="34" charset="0"/>
                <a:cs typeface="Times New Roman" panose="02020603050405020304" pitchFamily="18" charset="0"/>
              </a:rPr>
              <a:t>Entrepreneurial Idea Generation and Identifying Business Opportunities, </a:t>
            </a:r>
          </a:p>
          <a:p>
            <a:pPr algn="just">
              <a:buFont typeface="Arial" pitchFamily="34" charset="0"/>
              <a:buChar char="•"/>
            </a:pPr>
            <a:r>
              <a:rPr lang="en-US" sz="2400" dirty="0">
                <a:latin typeface="Times New Roman" panose="02020603050405020304" pitchFamily="18" charset="0"/>
                <a:ea typeface="Calibri" panose="020F0502020204030204" pitchFamily="34" charset="0"/>
                <a:cs typeface="Times New Roman" panose="02020603050405020304" pitchFamily="18" charset="0"/>
              </a:rPr>
              <a:t>Management skills for Entrepreneurs and managing for Value Creation, </a:t>
            </a:r>
          </a:p>
          <a:p>
            <a:pPr algn="just">
              <a:buFont typeface="Arial" pitchFamily="34" charset="0"/>
              <a:buChar char="•"/>
            </a:pPr>
            <a:r>
              <a:rPr lang="en-US" sz="2400" dirty="0">
                <a:latin typeface="Times New Roman" panose="02020603050405020304" pitchFamily="18" charset="0"/>
                <a:ea typeface="Calibri" panose="020F0502020204030204" pitchFamily="34" charset="0"/>
                <a:cs typeface="Times New Roman" panose="02020603050405020304" pitchFamily="18" charset="0"/>
              </a:rPr>
              <a:t>Creating and Sustaining Enterprising Model &amp; Organizational Effectiveness, </a:t>
            </a:r>
          </a:p>
          <a:p>
            <a:pPr algn="just">
              <a:buFont typeface="Arial" pitchFamily="34" charset="0"/>
              <a:buChar char="•"/>
            </a:pPr>
            <a:r>
              <a:rPr lang="en-US" sz="2400" dirty="0">
                <a:latin typeface="Times New Roman" panose="02020603050405020304" pitchFamily="18" charset="0"/>
                <a:ea typeface="Calibri" panose="020F0502020204030204" pitchFamily="34" charset="0"/>
                <a:cs typeface="Times New Roman" panose="02020603050405020304" pitchFamily="18" charset="0"/>
              </a:rPr>
              <a:t>New initiatives taken by the Government to promote entrepreneurship in India at a larger scale</a:t>
            </a:r>
            <a:r>
              <a:rPr lang="en-US" sz="1600" dirty="0">
                <a:latin typeface="Times New Roman" panose="02020603050405020304" pitchFamily="18" charset="0"/>
                <a:ea typeface="Calibri" panose="020F0502020204030204" pitchFamily="34" charset="0"/>
                <a:cs typeface="Times New Roman" panose="02020603050405020304" pitchFamily="18" charset="0"/>
              </a:rPr>
              <a:t>.</a:t>
            </a:r>
            <a:endParaRPr lang="en-US" sz="1600" b="1" dirty="0">
              <a:latin typeface="Times New Roman" panose="02020603050405020304" pitchFamily="18" charset="0"/>
              <a:cs typeface="Times New Roman" panose="02020603050405020304" pitchFamily="18" charset="0"/>
            </a:endParaRPr>
          </a:p>
          <a:p>
            <a:pPr algn="just">
              <a:lnSpc>
                <a:spcPct val="160000"/>
              </a:lnSpc>
            </a:pPr>
            <a:endParaRPr lang="en-US" sz="1600" b="1" dirty="0">
              <a:latin typeface="CIDFont+F3"/>
              <a:cs typeface="Times New Roman" panose="02020603050405020304" pitchFamily="18" charset="0"/>
            </a:endParaRPr>
          </a:p>
        </p:txBody>
      </p:sp>
      <p:sp>
        <p:nvSpPr>
          <p:cNvPr id="19" name="Rectangle 18">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dirty="0">
                <a:solidFill>
                  <a:srgbClr val="CC3300"/>
                </a:solidFill>
                <a:latin typeface="Times New Roman" pitchFamily="18" charset="0"/>
                <a:cs typeface="Times New Roman" pitchFamily="18" charset="0"/>
              </a:rPr>
              <a:t>SYLLABUS </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6" name="Rectangle 15"/>
          <p:cNvSpPr/>
          <p:nvPr/>
        </p:nvSpPr>
        <p:spPr>
          <a:xfrm>
            <a:off x="862574" y="1767860"/>
            <a:ext cx="10194632" cy="1938992"/>
          </a:xfrm>
          <a:prstGeom prst="rect">
            <a:avLst/>
          </a:prstGeom>
        </p:spPr>
        <p:txBody>
          <a:bodyPr wrap="square">
            <a:spAutoFit/>
          </a:bodyPr>
          <a:lstStyle/>
          <a:p>
            <a:pPr algn="just"/>
            <a:r>
              <a:rPr lang="en-US" sz="2400" b="1" dirty="0">
                <a:latin typeface="Times New Roman" panose="02020603050405020304" pitchFamily="18" charset="0"/>
                <a:ea typeface="Calibri" panose="020F0502020204030204" pitchFamily="34" charset="0"/>
              </a:rPr>
              <a:t>UNIT III</a:t>
            </a:r>
          </a:p>
          <a:p>
            <a:pPr algn="just">
              <a:spcBef>
                <a:spcPts val="0"/>
              </a:spcBef>
              <a:buFont typeface="Wingdings" pitchFamily="2" charset="2"/>
              <a:buChar char="q"/>
            </a:pPr>
            <a:r>
              <a:rPr lang="en-US" sz="2400" dirty="0">
                <a:latin typeface="Times New Roman" panose="02020603050405020304" pitchFamily="18" charset="0"/>
                <a:ea typeface="Calibri" panose="020F0502020204030204" pitchFamily="34" charset="0"/>
              </a:rPr>
              <a:t>Introduction to intellectual property right (IPR).</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lgn="just">
              <a:spcBef>
                <a:spcPts val="0"/>
              </a:spcBef>
              <a:buFont typeface="Wingdings" pitchFamily="2" charset="2"/>
              <a:buChar char="q"/>
            </a:pPr>
            <a:r>
              <a:rPr lang="en-US" sz="2400" dirty="0">
                <a:latin typeface="Times New Roman" panose="02020603050405020304" pitchFamily="18" charset="0"/>
                <a:ea typeface="Calibri" panose="020F0502020204030204" pitchFamily="34" charset="0"/>
              </a:rPr>
              <a:t>Intellectual property and its protection</a:t>
            </a:r>
          </a:p>
          <a:p>
            <a:pPr algn="just">
              <a:buFont typeface="Wingdings" pitchFamily="2" charset="2"/>
              <a:buChar char="q"/>
            </a:pPr>
            <a:r>
              <a:rPr lang="en-US" sz="2400" dirty="0">
                <a:latin typeface="Times New Roman" panose="02020603050405020304" pitchFamily="18" charset="0"/>
                <a:ea typeface="Calibri" panose="020F0502020204030204" pitchFamily="34" charset="0"/>
              </a:rPr>
              <a:t>Forms of Protection depending on product; Patent, copyright, trademark, design know how, trade secrets etc.</a:t>
            </a:r>
          </a:p>
        </p:txBody>
      </p:sp>
      <p:sp>
        <p:nvSpPr>
          <p:cNvPr id="17" name="Rectangle 16">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dirty="0">
                <a:solidFill>
                  <a:srgbClr val="CC3300"/>
                </a:solidFill>
                <a:latin typeface="Times New Roman" pitchFamily="18" charset="0"/>
                <a:cs typeface="Times New Roman" pitchFamily="18" charset="0"/>
              </a:rPr>
              <a:t>SUBJECT SYLLABUS </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724394" y="1116282"/>
            <a:ext cx="10925299" cy="3416320"/>
          </a:xfrm>
          <a:prstGeom prst="rect">
            <a:avLst/>
          </a:prstGeom>
        </p:spPr>
        <p:txBody>
          <a:bodyPr wrap="square">
            <a:spAutoFit/>
          </a:bodyPr>
          <a:lstStyle/>
          <a:p>
            <a:pPr algn="just"/>
            <a:r>
              <a:rPr lang="en-US" sz="2400" b="1" dirty="0">
                <a:latin typeface="Times New Roman" panose="02020603050405020304" pitchFamily="18" charset="0"/>
                <a:ea typeface="Calibri" panose="020F0502020204030204" pitchFamily="34" charset="0"/>
              </a:rPr>
              <a:t>UNIT IV</a:t>
            </a:r>
          </a:p>
          <a:p>
            <a:pPr algn="just">
              <a:buFont typeface="Wingdings" pitchFamily="2" charset="2"/>
              <a:buChar char="q"/>
            </a:pPr>
            <a:r>
              <a:rPr lang="en-US" sz="2400" dirty="0">
                <a:latin typeface="Times New Roman" panose="02020603050405020304" pitchFamily="18" charset="0"/>
                <a:ea typeface="Calibri" panose="020F0502020204030204" pitchFamily="34" charset="0"/>
              </a:rPr>
              <a:t>Project management: meaning, scope &amp; importance</a:t>
            </a:r>
          </a:p>
          <a:p>
            <a:pPr algn="just">
              <a:buFont typeface="Wingdings" pitchFamily="2" charset="2"/>
              <a:buChar char="q"/>
            </a:pPr>
            <a:r>
              <a:rPr lang="en-US" sz="2400" dirty="0">
                <a:latin typeface="Times New Roman" panose="02020603050405020304" pitchFamily="18" charset="0"/>
                <a:ea typeface="Calibri" panose="020F0502020204030204" pitchFamily="34" charset="0"/>
              </a:rPr>
              <a:t>Role of PROJECT manager; project life-cycle</a:t>
            </a:r>
          </a:p>
          <a:p>
            <a:pPr algn="just">
              <a:buFont typeface="Wingdings" pitchFamily="2" charset="2"/>
              <a:buChar char="q"/>
            </a:pPr>
            <a:r>
              <a:rPr lang="en-US" sz="2400" dirty="0">
                <a:latin typeface="Times New Roman" panose="02020603050405020304" pitchFamily="18" charset="0"/>
                <a:ea typeface="Calibri" panose="020F0502020204030204" pitchFamily="34" charset="0"/>
              </a:rPr>
              <a:t>Project appraisal: Preparation of a real time project feasibility report containing Technical appraisal; Environmental appraisal</a:t>
            </a:r>
          </a:p>
          <a:p>
            <a:pPr algn="just">
              <a:buFont typeface="Wingdings" pitchFamily="2" charset="2"/>
              <a:buChar char="q"/>
            </a:pPr>
            <a:r>
              <a:rPr lang="en-US" sz="2400" dirty="0">
                <a:latin typeface="Times New Roman" panose="02020603050405020304" pitchFamily="18" charset="0"/>
                <a:ea typeface="Calibri" panose="020F0502020204030204" pitchFamily="34" charset="0"/>
              </a:rPr>
              <a:t>Market appraisal (including market survey for forecasting future demand and sales) and Managerial appraisal. </a:t>
            </a:r>
          </a:p>
          <a:p>
            <a:pPr algn="just">
              <a:buFont typeface="Wingdings" pitchFamily="2" charset="2"/>
              <a:buChar char="q"/>
            </a:pPr>
            <a:r>
              <a:rPr lang="en-US" sz="2400" dirty="0">
                <a:latin typeface="Times New Roman" panose="02020603050405020304" pitchFamily="18" charset="0"/>
                <a:ea typeface="Calibri" panose="020F0502020204030204" pitchFamily="34" charset="0"/>
              </a:rPr>
              <a:t>Introduction to the Project Management tool like P6 Primavera Enterprise Project Portfolio Management</a:t>
            </a:r>
          </a:p>
        </p:txBody>
      </p:sp>
      <p:sp>
        <p:nvSpPr>
          <p:cNvPr id="17" name="Rectangle 16">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dirty="0">
                <a:solidFill>
                  <a:srgbClr val="CC3300"/>
                </a:solidFill>
                <a:latin typeface="Times New Roman" pitchFamily="18" charset="0"/>
                <a:cs typeface="Times New Roman" pitchFamily="18" charset="0"/>
              </a:rPr>
              <a:t>SUBJECT SYLLABUS </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04406"/>
            <a:ext cx="11055927" cy="2431435"/>
          </a:xfrm>
          <a:prstGeom prst="rect">
            <a:avLst/>
          </a:prstGeom>
        </p:spPr>
        <p:txBody>
          <a:bodyPr wrap="square">
            <a:spAutoFit/>
          </a:bodyPr>
          <a:lstStyle/>
          <a:p>
            <a:pPr algn="just"/>
            <a:r>
              <a:rPr lang="en-US" sz="2800" b="1" dirty="0">
                <a:latin typeface="Times New Roman" panose="02020603050405020304" pitchFamily="18" charset="0"/>
                <a:ea typeface="Calibri" panose="020F0502020204030204" pitchFamily="34" charset="0"/>
              </a:rPr>
              <a:t>UNIT V</a:t>
            </a:r>
          </a:p>
          <a:p>
            <a:pPr algn="just"/>
            <a:endParaRPr lang="en-US" sz="2800" b="1" dirty="0">
              <a:latin typeface="Times New Roman" panose="02020603050405020304" pitchFamily="18" charset="0"/>
              <a:ea typeface="Calibri" panose="020F0502020204030204" pitchFamily="34" charset="0"/>
            </a:endParaRPr>
          </a:p>
          <a:p>
            <a:pPr algn="just"/>
            <a:r>
              <a:rPr lang="en-US" sz="2400" dirty="0">
                <a:latin typeface="Times New Roman" panose="02020603050405020304" pitchFamily="18" charset="0"/>
                <a:ea typeface="Calibri" panose="020F0502020204030204" pitchFamily="34" charset="0"/>
              </a:rPr>
              <a:t>Project cost estimation &amp; working capital requirements, sources of funds, capital budgeting, Risk &amp; uncertainty in project evaluation, preparation of projected financial statements viz. Projected balance sheet, projected income statement, projected funds &amp; cash flow statements, Preparation of detailed project report, Project finance</a:t>
            </a:r>
            <a:endParaRPr lang="en-US" sz="2400" b="1" dirty="0">
              <a:cs typeface="Times New Roman" panose="02020603050405020304" pitchFamily="18" charset="0"/>
            </a:endParaRPr>
          </a:p>
        </p:txBody>
      </p:sp>
      <p:sp>
        <p:nvSpPr>
          <p:cNvPr id="17" name="Rectangle 16">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dirty="0">
                <a:solidFill>
                  <a:srgbClr val="CC3300"/>
                </a:solidFill>
                <a:latin typeface="Times New Roman" pitchFamily="18" charset="0"/>
                <a:cs typeface="Times New Roman" pitchFamily="18" charset="0"/>
              </a:rPr>
              <a:t>Program Outcomes</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6"/>
            <a:ext cx="11388436" cy="458074"/>
          </a:xfrm>
          <a:prstGeom prst="rect">
            <a:avLst/>
          </a:prstGeom>
        </p:spPr>
        <p:txBody>
          <a:bodyPr wrap="square">
            <a:spAutoFit/>
          </a:bodyPr>
          <a:lstStyle/>
          <a:p>
            <a:pPr algn="just">
              <a:lnSpc>
                <a:spcPct val="150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17" name="Rectangle 16">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16" name="Subtitle 2"/>
          <p:cNvSpPr txBox="1">
            <a:spLocks/>
          </p:cNvSpPr>
          <p:nvPr/>
        </p:nvSpPr>
        <p:spPr>
          <a:xfrm>
            <a:off x="3290667" y="1350498"/>
            <a:ext cx="6400800" cy="1035050"/>
          </a:xfrm>
          <a:prstGeom prst="rect">
            <a:avLst/>
          </a:prstGeom>
        </p:spPr>
        <p:style>
          <a:lnRef idx="2">
            <a:schemeClr val="accent5"/>
          </a:lnRef>
          <a:fillRef idx="1">
            <a:schemeClr val="lt1"/>
          </a:fillRef>
          <a:effectRef idx="0">
            <a:schemeClr val="accent5"/>
          </a:effectRef>
          <a:fontRef idx="minor">
            <a:schemeClr val="dk1"/>
          </a:fontRef>
        </p:style>
        <p:txBody>
          <a:bodyPr>
            <a:normAutofit/>
          </a:bodyPr>
          <a:lstStyle/>
          <a:p>
            <a:pPr algn="ctr"/>
            <a:r>
              <a:rPr lang="en-US" sz="2800" b="1" dirty="0">
                <a:solidFill>
                  <a:schemeClr val="tx1"/>
                </a:solidFill>
                <a:effectLst>
                  <a:outerShdw blurRad="38100" dist="38100" dir="2700000" algn="tl">
                    <a:srgbClr val="000000">
                      <a:alpha val="43137"/>
                    </a:srgbClr>
                  </a:outerShdw>
                </a:effectLst>
              </a:rPr>
              <a:t>PROJECT MANAGEMENT</a:t>
            </a:r>
          </a:p>
        </p:txBody>
      </p:sp>
      <p:sp>
        <p:nvSpPr>
          <p:cNvPr id="18" name="Subtitle 2"/>
          <p:cNvSpPr txBox="1">
            <a:spLocks/>
          </p:cNvSpPr>
          <p:nvPr/>
        </p:nvSpPr>
        <p:spPr>
          <a:xfrm>
            <a:off x="304800" y="248285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0" i="0" u="none" strike="noStrike" kern="1200" cap="none" spc="0" normalizeH="0" baseline="0" noProof="0" dirty="0">
                <a:ln>
                  <a:noFill/>
                </a:ln>
                <a:solidFill>
                  <a:schemeClr val="tx1"/>
                </a:solidFill>
                <a:effectLst/>
                <a:uLnTx/>
                <a:uFillTx/>
                <a:latin typeface="+mn-lt"/>
                <a:ea typeface="+mn-ea"/>
                <a:cs typeface="+mn-cs"/>
              </a:rPr>
              <a:t>Unit:4</a:t>
            </a:r>
          </a:p>
        </p:txBody>
      </p:sp>
      <p:sp>
        <p:nvSpPr>
          <p:cNvPr id="19" name="Subtitle 2"/>
          <p:cNvSpPr txBox="1">
            <a:spLocks/>
          </p:cNvSpPr>
          <p:nvPr/>
        </p:nvSpPr>
        <p:spPr>
          <a:xfrm>
            <a:off x="152400" y="35433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1" i="0" u="none" strike="noStrike" kern="1200" cap="none" spc="0" normalizeH="0" baseline="0" noProof="0" dirty="0">
                <a:ln>
                  <a:noFill/>
                </a:ln>
                <a:solidFill>
                  <a:schemeClr val="tx1"/>
                </a:solidFill>
                <a:effectLst/>
                <a:uLnTx/>
                <a:uFillTx/>
              </a:rPr>
              <a:t>Subject</a:t>
            </a:r>
            <a:r>
              <a:rPr kumimoji="0" lang="en-US" b="1" i="0" u="none" strike="noStrike" kern="1200" cap="none" spc="0" normalizeH="0" noProof="0" dirty="0">
                <a:ln>
                  <a:noFill/>
                </a:ln>
                <a:solidFill>
                  <a:schemeClr val="tx1"/>
                </a:solidFill>
                <a:effectLst/>
                <a:uLnTx/>
                <a:uFillTx/>
              </a:rPr>
              <a:t> Name</a:t>
            </a:r>
            <a:endParaRPr lang="en-US" b="1" noProof="0" dirty="0">
              <a:solidFill>
                <a:schemeClr val="tx1"/>
              </a:solidFill>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b="1" noProof="0" dirty="0">
                <a:solidFill>
                  <a:schemeClr val="tx1"/>
                </a:solidFill>
              </a:rPr>
              <a:t>Entrepreneurship Development &amp; IPR</a:t>
            </a:r>
            <a:endParaRPr kumimoji="0" lang="en-US" b="1" i="0" u="none" strike="noStrike" kern="1200" cap="none" spc="0" normalizeH="0" baseline="0" noProof="0" dirty="0">
              <a:ln>
                <a:noFill/>
              </a:ln>
              <a:solidFill>
                <a:schemeClr val="tx1"/>
              </a:solidFill>
              <a:effectLst/>
              <a:uLnTx/>
              <a:uFillTx/>
            </a:endParaRPr>
          </a:p>
        </p:txBody>
      </p:sp>
      <p:sp>
        <p:nvSpPr>
          <p:cNvPr id="20" name="Subtitle 2"/>
          <p:cNvSpPr txBox="1">
            <a:spLocks/>
          </p:cNvSpPr>
          <p:nvPr/>
        </p:nvSpPr>
        <p:spPr>
          <a:xfrm>
            <a:off x="266700" y="4765079"/>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a:ln>
                  <a:noFill/>
                </a:ln>
                <a:solidFill>
                  <a:schemeClr val="tx1"/>
                </a:solidFill>
                <a:effectLst/>
                <a:uLnTx/>
                <a:uFillTx/>
                <a:latin typeface="+mn-lt"/>
                <a:ea typeface="+mn-ea"/>
                <a:cs typeface="+mn-cs"/>
              </a:rPr>
              <a:t>Course</a:t>
            </a:r>
            <a:r>
              <a:rPr kumimoji="0" lang="en-US" sz="2000" b="0" i="0" u="none" strike="noStrike" kern="1200" cap="none" spc="0" normalizeH="0" noProof="0" dirty="0">
                <a:ln>
                  <a:noFill/>
                </a:ln>
                <a:solidFill>
                  <a:schemeClr val="tx1"/>
                </a:solidFill>
                <a:effectLst/>
                <a:uLnTx/>
                <a:uFillTx/>
                <a:latin typeface="+mn-lt"/>
                <a:ea typeface="+mn-ea"/>
                <a:cs typeface="+mn-cs"/>
              </a:rPr>
              <a:t> Details</a:t>
            </a:r>
            <a:br>
              <a:rPr kumimoji="0" lang="en-US" sz="2000" b="0" i="0" u="none" strike="noStrike" kern="1200" cap="none" spc="0" normalizeH="0" noProof="0" dirty="0">
                <a:ln>
                  <a:noFill/>
                </a:ln>
                <a:solidFill>
                  <a:schemeClr val="tx1"/>
                </a:solidFill>
                <a:effectLst/>
                <a:uLnTx/>
                <a:uFillTx/>
                <a:latin typeface="+mn-lt"/>
                <a:ea typeface="+mn-ea"/>
                <a:cs typeface="+mn-cs"/>
              </a:rPr>
            </a:br>
            <a:r>
              <a:rPr kumimoji="0" lang="en-US" sz="2000" b="0" i="0" u="none" strike="noStrike" kern="1200" cap="none" spc="0" normalizeH="0" noProof="0" dirty="0" err="1">
                <a:ln>
                  <a:noFill/>
                </a:ln>
                <a:solidFill>
                  <a:schemeClr val="tx1"/>
                </a:solidFill>
                <a:effectLst/>
                <a:uLnTx/>
                <a:uFillTx/>
                <a:latin typeface="+mn-lt"/>
                <a:ea typeface="+mn-ea"/>
                <a:cs typeface="+mn-cs"/>
              </a:rPr>
              <a:t>B.Tech</a:t>
            </a:r>
            <a:r>
              <a:rPr kumimoji="0" lang="en-US" sz="2000" b="0" i="0" u="none" strike="noStrike" kern="1200" cap="none" spc="0" normalizeH="0" noProof="0" dirty="0">
                <a:ln>
                  <a:noFill/>
                </a:ln>
                <a:solidFill>
                  <a:schemeClr val="tx1"/>
                </a:solidFill>
                <a:effectLst/>
                <a:uLnTx/>
                <a:uFillTx/>
                <a:latin typeface="+mn-lt"/>
                <a:ea typeface="+mn-ea"/>
                <a:cs typeface="+mn-cs"/>
              </a:rPr>
              <a:t> </a:t>
            </a:r>
            <a:r>
              <a:rPr lang="en-US" sz="2000" dirty="0">
                <a:solidFill>
                  <a:schemeClr val="tx1"/>
                </a:solidFill>
              </a:rPr>
              <a:t> </a:t>
            </a:r>
            <a:r>
              <a:rPr kumimoji="0" lang="en-US" sz="2000" b="0" i="0" u="none" strike="noStrike" kern="1200" cap="none" spc="0" normalizeH="0" noProof="0" dirty="0">
                <a:ln>
                  <a:noFill/>
                </a:ln>
                <a:solidFill>
                  <a:schemeClr val="tx1"/>
                </a:solidFill>
                <a:effectLst/>
                <a:uLnTx/>
                <a:uFillTx/>
                <a:latin typeface="+mn-lt"/>
                <a:ea typeface="+mn-ea"/>
                <a:cs typeface="+mn-cs"/>
              </a:rPr>
              <a:t>7</a:t>
            </a:r>
            <a:r>
              <a:rPr kumimoji="0" lang="en-US" sz="2000" b="0" i="0" u="none" strike="noStrike" kern="1200" cap="none" spc="0" normalizeH="0" baseline="30000" noProof="0" dirty="0">
                <a:ln>
                  <a:noFill/>
                </a:ln>
                <a:solidFill>
                  <a:schemeClr val="tx1"/>
                </a:solidFill>
                <a:effectLst/>
                <a:uLnTx/>
                <a:uFillTx/>
                <a:latin typeface="+mn-lt"/>
                <a:ea typeface="+mn-ea"/>
                <a:cs typeface="+mn-cs"/>
              </a:rPr>
              <a:t>th</a:t>
            </a:r>
            <a:r>
              <a:rPr kumimoji="0" lang="en-US" sz="2000" b="0" i="0" u="none" strike="noStrike" kern="1200" cap="none" spc="0" normalizeH="0" noProof="0" dirty="0">
                <a:ln>
                  <a:noFill/>
                </a:ln>
                <a:solidFill>
                  <a:schemeClr val="tx1"/>
                </a:solidFill>
                <a:effectLst/>
                <a:uLnTx/>
                <a:uFillTx/>
                <a:latin typeface="+mn-lt"/>
                <a:ea typeface="+mn-ea"/>
                <a:cs typeface="+mn-cs"/>
              </a:rPr>
              <a:t>  Semester</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21" name="Picture 4" descr="C:\Users\Manks\Downloads\speak.png"/>
          <p:cNvPicPr>
            <a:picLocks noChangeAspect="1" noChangeArrowheads="1"/>
          </p:cNvPicPr>
          <p:nvPr/>
        </p:nvPicPr>
        <p:blipFill>
          <a:blip r:embed="rId11" cstate="print"/>
          <a:srcRect/>
          <a:stretch>
            <a:fillRect/>
          </a:stretch>
        </p:blipFill>
        <p:spPr bwMode="auto">
          <a:xfrm>
            <a:off x="8840372" y="2759612"/>
            <a:ext cx="1524000" cy="1524000"/>
          </a:xfrm>
          <a:prstGeom prst="rect">
            <a:avLst/>
          </a:prstGeom>
          <a:noFill/>
        </p:spPr>
      </p:pic>
      <p:sp>
        <p:nvSpPr>
          <p:cNvPr id="22" name="Subtitle 2"/>
          <p:cNvSpPr txBox="1">
            <a:spLocks/>
          </p:cNvSpPr>
          <p:nvPr/>
        </p:nvSpPr>
        <p:spPr>
          <a:xfrm>
            <a:off x="8056098" y="4314092"/>
            <a:ext cx="3048000" cy="1219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a:solidFill>
                  <a:schemeClr val="tx1"/>
                </a:solidFill>
              </a:rPr>
              <a:t>Alok Raj </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Department of </a:t>
            </a:r>
            <a:r>
              <a:rPr lang="en-US" sz="2400" dirty="0">
                <a:solidFill>
                  <a:schemeClr val="tx1"/>
                </a:solidFill>
              </a:rPr>
              <a:t>MBA</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598155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p:pic>
        <p:nvPicPr>
          <p:cNvPr id="3" name="Picture 2">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4" name="Rectangle 3"/>
          <p:cNvSpPr/>
          <p:nvPr/>
        </p:nvSpPr>
        <p:spPr>
          <a:xfrm>
            <a:off x="5036221" y="304187"/>
            <a:ext cx="3412987" cy="523220"/>
          </a:xfrm>
          <a:prstGeom prst="rect">
            <a:avLst/>
          </a:prstGeom>
        </p:spPr>
        <p:txBody>
          <a:bodyPr wrap="none">
            <a:spAutoFit/>
          </a:bodyPr>
          <a:lstStyle/>
          <a:p>
            <a:pPr algn="ctr"/>
            <a:r>
              <a:rPr lang="en-IN" sz="2800" b="1" dirty="0">
                <a:solidFill>
                  <a:srgbClr val="CC3300"/>
                </a:solidFill>
                <a:latin typeface="Times New Roman" pitchFamily="18" charset="0"/>
                <a:cs typeface="Times New Roman" pitchFamily="18" charset="0"/>
              </a:rPr>
              <a:t>CONTENT UNIT -4 </a:t>
            </a:r>
            <a:endParaRPr lang="en-US" sz="2800" dirty="0"/>
          </a:p>
        </p:txBody>
      </p:sp>
      <p:sp>
        <p:nvSpPr>
          <p:cNvPr id="6" name="Rectangle 5">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7" name="Rectangle 6"/>
          <p:cNvSpPr/>
          <p:nvPr/>
        </p:nvSpPr>
        <p:spPr>
          <a:xfrm>
            <a:off x="1491175" y="1617785"/>
            <a:ext cx="9931791" cy="3539430"/>
          </a:xfrm>
          <a:prstGeom prst="rect">
            <a:avLst/>
          </a:prstGeom>
        </p:spPr>
        <p:txBody>
          <a:bodyPr wrap="square">
            <a:spAutoFit/>
          </a:bodyPr>
          <a:lstStyle/>
          <a:p>
            <a:pPr algn="just">
              <a:buFont typeface="Wingdings" pitchFamily="2" charset="2"/>
              <a:buChar char="q"/>
            </a:pPr>
            <a:r>
              <a:rPr lang="en-US" sz="2800" dirty="0">
                <a:latin typeface="Times New Roman" panose="02020603050405020304" pitchFamily="18" charset="0"/>
                <a:ea typeface="Calibri" panose="020F0502020204030204" pitchFamily="34" charset="0"/>
              </a:rPr>
              <a:t>Project management: meaning, scope &amp; importance</a:t>
            </a:r>
          </a:p>
          <a:p>
            <a:pPr algn="just">
              <a:buFont typeface="Wingdings" pitchFamily="2" charset="2"/>
              <a:buChar char="q"/>
            </a:pPr>
            <a:r>
              <a:rPr lang="en-US" sz="2800" dirty="0">
                <a:latin typeface="Times New Roman" panose="02020603050405020304" pitchFamily="18" charset="0"/>
                <a:ea typeface="Calibri" panose="020F0502020204030204" pitchFamily="34" charset="0"/>
              </a:rPr>
              <a:t>Role of PROJECT manager; project life-cycle</a:t>
            </a:r>
          </a:p>
          <a:p>
            <a:pPr algn="just">
              <a:buFont typeface="Wingdings" pitchFamily="2" charset="2"/>
              <a:buChar char="q"/>
            </a:pPr>
            <a:r>
              <a:rPr lang="en-US" sz="2800" dirty="0">
                <a:latin typeface="Times New Roman" panose="02020603050405020304" pitchFamily="18" charset="0"/>
                <a:ea typeface="Calibri" panose="020F0502020204030204" pitchFamily="34" charset="0"/>
              </a:rPr>
              <a:t>Project appraisal: Preparation of a real time project feasibility report containing Technical appraisal; Environmental appraisal</a:t>
            </a:r>
          </a:p>
          <a:p>
            <a:pPr algn="just">
              <a:buFont typeface="Wingdings" pitchFamily="2" charset="2"/>
              <a:buChar char="q"/>
            </a:pPr>
            <a:r>
              <a:rPr lang="en-US" sz="2800" dirty="0">
                <a:latin typeface="Times New Roman" panose="02020603050405020304" pitchFamily="18" charset="0"/>
                <a:ea typeface="Calibri" panose="020F0502020204030204" pitchFamily="34" charset="0"/>
              </a:rPr>
              <a:t>Market appraisal (including market survey for forecasting future demand and sales) and Managerial appraisal. </a:t>
            </a:r>
          </a:p>
          <a:p>
            <a:pPr algn="just">
              <a:buFont typeface="Wingdings" pitchFamily="2" charset="2"/>
              <a:buChar char="q"/>
            </a:pPr>
            <a:r>
              <a:rPr lang="en-US" sz="2800" dirty="0">
                <a:latin typeface="Times New Roman" panose="02020603050405020304" pitchFamily="18" charset="0"/>
                <a:ea typeface="Calibri" panose="020F0502020204030204" pitchFamily="34" charset="0"/>
              </a:rPr>
              <a:t>Introduction to the Project Management tool like P6 Primavera Enterprise Project Portfolio Management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dirty="0">
                <a:solidFill>
                  <a:srgbClr val="CC3300"/>
                </a:solidFill>
                <a:latin typeface="Times New Roman" pitchFamily="18" charset="0"/>
                <a:cs typeface="Times New Roman" pitchFamily="18" charset="0"/>
              </a:rPr>
              <a:t>COURSE OUTCOMES </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9" name="Rectangle 18">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pic>
        <p:nvPicPr>
          <p:cNvPr id="20" name="Picture 19">
            <a:extLst>
              <a:ext uri="{FF2B5EF4-FFF2-40B4-BE49-F238E27FC236}">
                <a16:creationId xmlns:a16="http://schemas.microsoft.com/office/drawing/2014/main" id="{7783B2A4-6293-63CD-54DF-F4C8F0D0D442}"/>
              </a:ext>
            </a:extLst>
          </p:cNvPr>
          <p:cNvPicPr>
            <a:picLocks noChangeAspect="1"/>
          </p:cNvPicPr>
          <p:nvPr/>
        </p:nvPicPr>
        <p:blipFill>
          <a:blip r:embed="rId11"/>
          <a:stretch>
            <a:fillRect/>
          </a:stretch>
        </p:blipFill>
        <p:spPr>
          <a:xfrm>
            <a:off x="107504" y="1052736"/>
            <a:ext cx="12084496" cy="5303616"/>
          </a:xfrm>
          <a:prstGeom prst="rect">
            <a:avLst/>
          </a:prstGeom>
        </p:spPr>
      </p:pic>
    </p:spTree>
    <p:extLst>
      <p:ext uri="{BB962C8B-B14F-4D97-AF65-F5344CB8AC3E}">
        <p14:creationId xmlns:p14="http://schemas.microsoft.com/office/powerpoint/2010/main" val="1598155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dirty="0">
                <a:solidFill>
                  <a:srgbClr val="CC3300"/>
                </a:solidFill>
                <a:latin typeface="Times New Roman" pitchFamily="18" charset="0"/>
                <a:cs typeface="Times New Roman" pitchFamily="18" charset="0"/>
              </a:rPr>
              <a:t>Program Educational Outcomes</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151393"/>
          </a:xfrm>
          <a:prstGeom prst="rect">
            <a:avLst/>
          </a:prstGeom>
        </p:spPr>
        <p:txBody>
          <a:bodyPr wrap="square">
            <a:spAutoFit/>
          </a:bodyPr>
          <a:lstStyle/>
          <a:p>
            <a:pPr algn="just">
              <a:buNone/>
            </a:pPr>
            <a:r>
              <a:rPr lang="en-US" sz="2400" dirty="0">
                <a:latin typeface="Times New Roman" panose="02020603050405020304" pitchFamily="18" charset="0"/>
                <a:cs typeface="Times New Roman" panose="02020603050405020304" pitchFamily="18" charset="0"/>
              </a:rPr>
              <a:t>PEO1:  Conceptual Knowledge to adapt in rapidly changing environment and learn new skills and demonstrate application of management principles in professional work setting.</a:t>
            </a:r>
          </a:p>
          <a:p>
            <a:pPr algn="just">
              <a:buNone/>
            </a:pPr>
            <a:r>
              <a:rPr lang="en-US" sz="2400" dirty="0">
                <a:latin typeface="Times New Roman" panose="02020603050405020304" pitchFamily="18" charset="0"/>
                <a:cs typeface="Times New Roman" panose="02020603050405020304" pitchFamily="18" charset="0"/>
              </a:rPr>
              <a:t>	</a:t>
            </a:r>
          </a:p>
          <a:p>
            <a:pPr algn="just">
              <a:buNone/>
            </a:pPr>
            <a:r>
              <a:rPr lang="en-US" sz="2400" dirty="0">
                <a:latin typeface="Times New Roman" panose="02020603050405020304" pitchFamily="18" charset="0"/>
                <a:cs typeface="Times New Roman" panose="02020603050405020304" pitchFamily="18" charset="0"/>
              </a:rPr>
              <a:t>PEO2:  Apply appropriate tools for decision making for solving complex managerial problems in local or global context.</a:t>
            </a:r>
          </a:p>
          <a:p>
            <a:pPr algn="just">
              <a:buNone/>
            </a:pPr>
            <a:r>
              <a:rPr lang="en-US" sz="2400" dirty="0">
                <a:latin typeface="Times New Roman" panose="02020603050405020304" pitchFamily="18" charset="0"/>
                <a:cs typeface="Times New Roman" panose="02020603050405020304" pitchFamily="18" charset="0"/>
              </a:rPr>
              <a:t> 		</a:t>
            </a:r>
          </a:p>
          <a:p>
            <a:pPr algn="just">
              <a:buNone/>
            </a:pPr>
            <a:r>
              <a:rPr lang="en-US" sz="2400" dirty="0">
                <a:latin typeface="Times New Roman" panose="02020603050405020304" pitchFamily="18" charset="0"/>
                <a:cs typeface="Times New Roman" panose="02020603050405020304" pitchFamily="18" charset="0"/>
              </a:rPr>
              <a:t>PEO3:  Exhibit Integrity, social responsibility and teamwork.</a:t>
            </a:r>
          </a:p>
          <a:p>
            <a:pPr algn="just">
              <a:buNone/>
            </a:pPr>
            <a:r>
              <a:rPr lang="en-US" sz="2400" dirty="0">
                <a:latin typeface="Times New Roman" panose="02020603050405020304" pitchFamily="18" charset="0"/>
                <a:cs typeface="Times New Roman" panose="02020603050405020304" pitchFamily="18" charset="0"/>
              </a:rPr>
              <a:t>		</a:t>
            </a:r>
          </a:p>
          <a:p>
            <a:pPr algn="just">
              <a:buNone/>
            </a:pPr>
            <a:r>
              <a:rPr lang="en-US" sz="2400" dirty="0">
                <a:latin typeface="Times New Roman" panose="02020603050405020304" pitchFamily="18" charset="0"/>
                <a:cs typeface="Times New Roman" panose="02020603050405020304" pitchFamily="18" charset="0"/>
              </a:rPr>
              <a:t>PEO4: Exhibit ethics, communication skills, leadership qualities and entrepreneurial mindset.</a:t>
            </a:r>
          </a:p>
          <a:p>
            <a:pPr algn="just">
              <a:lnSpc>
                <a:spcPct val="150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dirty="0">
                <a:solidFill>
                  <a:srgbClr val="CC3300"/>
                </a:solidFill>
                <a:latin typeface="Times New Roman" pitchFamily="18" charset="0"/>
                <a:cs typeface="Times New Roman" pitchFamily="18" charset="0"/>
              </a:rPr>
              <a:t>Unit Objectives </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dirty="0">
              <a:latin typeface="Times New Roman" pitchFamily="18" charset="0"/>
              <a:ea typeface="Times New Roman"/>
              <a:cs typeface="Times New Roman" pitchFamily="18" charset="0"/>
            </a:endParaRPr>
          </a:p>
        </p:txBody>
      </p:sp>
      <p:graphicFrame>
        <p:nvGraphicFramePr>
          <p:cNvPr id="21" name="Table 20">
            <a:extLst>
              <a:ext uri="{FF2B5EF4-FFF2-40B4-BE49-F238E27FC236}">
                <a16:creationId xmlns:a16="http://schemas.microsoft.com/office/drawing/2014/main" id="{7A470146-DCC7-65FC-EC09-8A844C418ACF}"/>
              </a:ext>
            </a:extLst>
          </p:cNvPr>
          <p:cNvGraphicFramePr>
            <a:graphicFrameLocks noGrp="1"/>
          </p:cNvGraphicFramePr>
          <p:nvPr/>
        </p:nvGraphicFramePr>
        <p:xfrm>
          <a:off x="899591" y="1196753"/>
          <a:ext cx="10016937" cy="2939020"/>
        </p:xfrm>
        <a:graphic>
          <a:graphicData uri="http://schemas.openxmlformats.org/drawingml/2006/table">
            <a:tbl>
              <a:tblPr firstRow="1" firstCol="1" bandRow="1">
                <a:tableStyleId>{21E4AEA4-8DFA-4A89-87EB-49C32662AFE0}</a:tableStyleId>
              </a:tblPr>
              <a:tblGrid>
                <a:gridCol w="10016937">
                  <a:extLst>
                    <a:ext uri="{9D8B030D-6E8A-4147-A177-3AD203B41FA5}">
                      <a16:colId xmlns:a16="http://schemas.microsoft.com/office/drawing/2014/main" val="3334862814"/>
                    </a:ext>
                  </a:extLst>
                </a:gridCol>
              </a:tblGrid>
              <a:tr h="539233">
                <a:tc>
                  <a:txBody>
                    <a:bodyPr/>
                    <a:lstStyle/>
                    <a:p>
                      <a:pPr>
                        <a:lnSpc>
                          <a:spcPct val="115000"/>
                        </a:lnSpc>
                        <a:spcAft>
                          <a:spcPts val="1000"/>
                        </a:spcAft>
                        <a:tabLst>
                          <a:tab pos="1533525" algn="l"/>
                        </a:tabLst>
                      </a:pPr>
                      <a:r>
                        <a:rPr lang="en-US" sz="2200" dirty="0">
                          <a:effectLst/>
                        </a:rPr>
                        <a:t>Explore the dimensions of Project</a:t>
                      </a:r>
                      <a:r>
                        <a:rPr lang="en-US" sz="2200" baseline="0" dirty="0">
                          <a:effectLst/>
                        </a:rPr>
                        <a:t> Management , its importance and scope. </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5621351"/>
                  </a:ext>
                </a:extLst>
              </a:tr>
              <a:tr h="539233">
                <a:tc>
                  <a:txBody>
                    <a:bodyPr/>
                    <a:lstStyle/>
                    <a:p>
                      <a:pPr>
                        <a:lnSpc>
                          <a:spcPct val="115000"/>
                        </a:lnSpc>
                        <a:spcAft>
                          <a:spcPts val="1000"/>
                        </a:spcAft>
                        <a:tabLst>
                          <a:tab pos="1533525" algn="l"/>
                        </a:tabLst>
                      </a:pPr>
                      <a:r>
                        <a:rPr lang="en-US" sz="2200" dirty="0">
                          <a:effectLst/>
                        </a:rPr>
                        <a:t>Understand</a:t>
                      </a:r>
                      <a:r>
                        <a:rPr lang="en-US" sz="2200" baseline="0" dirty="0">
                          <a:effectLst/>
                        </a:rPr>
                        <a:t>ing Project life Cycle and Role of Project Manager. </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37119763"/>
                  </a:ext>
                </a:extLst>
              </a:tr>
              <a:tr h="539233">
                <a:tc>
                  <a:txBody>
                    <a:bodyPr/>
                    <a:lstStyle/>
                    <a:p>
                      <a:pPr>
                        <a:lnSpc>
                          <a:spcPct val="115000"/>
                        </a:lnSpc>
                        <a:spcAft>
                          <a:spcPts val="1000"/>
                        </a:spcAft>
                        <a:tabLst>
                          <a:tab pos="1533525" algn="l"/>
                        </a:tabLst>
                      </a:pPr>
                      <a:r>
                        <a:rPr lang="en-US" sz="2200" dirty="0">
                          <a:effectLst/>
                          <a:latin typeface="Calibri" panose="020F0502020204030204" pitchFamily="34" charset="0"/>
                          <a:ea typeface="Calibri" panose="020F0502020204030204" pitchFamily="34" charset="0"/>
                          <a:cs typeface="Times New Roman" panose="02020603050405020304" pitchFamily="18" charset="0"/>
                        </a:rPr>
                        <a:t>Developing</a:t>
                      </a:r>
                      <a:r>
                        <a:rPr lang="en-US" sz="2200" baseline="0" dirty="0">
                          <a:effectLst/>
                          <a:latin typeface="Calibri" panose="020F0502020204030204" pitchFamily="34" charset="0"/>
                          <a:ea typeface="Calibri" panose="020F0502020204030204" pitchFamily="34" charset="0"/>
                          <a:cs typeface="Times New Roman" panose="02020603050405020304" pitchFamily="18" charset="0"/>
                        </a:rPr>
                        <a:t> an understanding about Project Appraisal , Technical Appraisal ,Market Appraisal and Managerial Appraisal. </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75492484"/>
                  </a:ext>
                </a:extLst>
              </a:tr>
              <a:tr h="1112016">
                <a:tc>
                  <a:txBody>
                    <a:bodyPr/>
                    <a:lstStyle/>
                    <a:p>
                      <a:pPr>
                        <a:lnSpc>
                          <a:spcPct val="115000"/>
                        </a:lnSpc>
                        <a:spcAft>
                          <a:spcPts val="1000"/>
                        </a:spcAft>
                        <a:tabLst>
                          <a:tab pos="1533525" algn="l"/>
                        </a:tabLst>
                      </a:pPr>
                      <a:r>
                        <a:rPr lang="en-US" sz="2200" dirty="0">
                          <a:effectLst/>
                        </a:rPr>
                        <a:t>Developing</a:t>
                      </a:r>
                      <a:r>
                        <a:rPr lang="en-US" sz="2200" baseline="0" dirty="0">
                          <a:effectLst/>
                        </a:rPr>
                        <a:t> </a:t>
                      </a:r>
                      <a:r>
                        <a:rPr lang="en-US" sz="2200" dirty="0">
                          <a:effectLst/>
                        </a:rPr>
                        <a:t>an understanding of</a:t>
                      </a:r>
                      <a:r>
                        <a:rPr lang="en-US" sz="2200" baseline="0" dirty="0">
                          <a:effectLst/>
                        </a:rPr>
                        <a:t> various Project Management tools like P6 Primavera ,Enterprise Project and Portfolio Management. </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16042535"/>
                  </a:ext>
                </a:extLst>
              </a:tr>
            </a:tbl>
          </a:graphicData>
        </a:graphic>
      </p:graphicFrame>
      <p:sp>
        <p:nvSpPr>
          <p:cNvPr id="17" name="Rectangle 16">
            <a:extLst>
              <a:ext uri="{FF2B5EF4-FFF2-40B4-BE49-F238E27FC236}">
                <a16:creationId xmlns:a16="http://schemas.microsoft.com/office/drawing/2014/main" id="{731A936F-F269-359D-A45A-2FFA91880636}"/>
              </a:ext>
            </a:extLst>
          </p:cNvPr>
          <p:cNvSpPr/>
          <p:nvPr/>
        </p:nvSpPr>
        <p:spPr>
          <a:xfrm>
            <a:off x="0" y="6315742"/>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dirty="0">
                <a:solidFill>
                  <a:srgbClr val="CC3300"/>
                </a:solidFill>
                <a:latin typeface="Times New Roman" pitchFamily="18" charset="0"/>
                <a:cs typeface="Times New Roman" pitchFamily="18" charset="0"/>
              </a:rPr>
              <a:t>Program Outcomes </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dirty="0">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dirty="0"/>
          </a:p>
        </p:txBody>
      </p:sp>
      <p:sp>
        <p:nvSpPr>
          <p:cNvPr id="21" name="Rectangle 20"/>
          <p:cNvSpPr/>
          <p:nvPr/>
        </p:nvSpPr>
        <p:spPr>
          <a:xfrm>
            <a:off x="593766" y="1505243"/>
            <a:ext cx="11067803" cy="4556119"/>
          </a:xfrm>
          <a:prstGeom prst="rect">
            <a:avLst/>
          </a:prstGeom>
        </p:spPr>
        <p:txBody>
          <a:bodyPr wrap="square">
            <a:spAutoFit/>
          </a:bodyPr>
          <a:lstStyle/>
          <a:p>
            <a:pPr algn="just">
              <a:lnSpc>
                <a:spcPct val="115000"/>
              </a:lnSpc>
              <a:spcAft>
                <a:spcPts val="1000"/>
              </a:spcAft>
            </a:pPr>
            <a:r>
              <a:rPr lang="en-US" b="1" dirty="0">
                <a:latin typeface="Times New Roman" panose="02020603050405020304" pitchFamily="18" charset="0"/>
                <a:ea typeface="Calibri" panose="020F0502020204030204" pitchFamily="34" charset="0"/>
                <a:cs typeface="Times New Roman" panose="02020603050405020304" pitchFamily="18" charset="0"/>
              </a:rPr>
              <a:t>1. Engineering knowledge:</a:t>
            </a:r>
            <a:r>
              <a:rPr lang="en-US" dirty="0">
                <a:latin typeface="Times New Roman" panose="02020603050405020304" pitchFamily="18" charset="0"/>
                <a:ea typeface="Calibri" panose="020F0502020204030204" pitchFamily="34" charset="0"/>
                <a:cs typeface="Times New Roman" panose="02020603050405020304" pitchFamily="18" charset="0"/>
              </a:rPr>
              <a:t> Apply the knowledge of mathematics, science, engineering fundamentals, and an engineering specialization for the solution of complex engineering problems.</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b="1" dirty="0">
                <a:latin typeface="Times New Roman" panose="02020603050405020304" pitchFamily="18" charset="0"/>
                <a:ea typeface="Calibri" panose="020F0502020204030204" pitchFamily="34" charset="0"/>
                <a:cs typeface="Times New Roman" panose="02020603050405020304" pitchFamily="18" charset="0"/>
              </a:rPr>
              <a:t>2. Problem analysis:</a:t>
            </a:r>
            <a:r>
              <a:rPr lang="en-US" dirty="0">
                <a:latin typeface="Times New Roman" panose="02020603050405020304" pitchFamily="18" charset="0"/>
                <a:ea typeface="Calibri" panose="020F0502020204030204" pitchFamily="34" charset="0"/>
                <a:cs typeface="Times New Roman" panose="02020603050405020304" pitchFamily="18" charset="0"/>
              </a:rPr>
              <a:t> Identify, formulate, research literature, and </a:t>
            </a:r>
            <a:r>
              <a:rPr lang="en-US" dirty="0" err="1">
                <a:latin typeface="Times New Roman" panose="02020603050405020304" pitchFamily="18" charset="0"/>
                <a:ea typeface="Calibri" panose="020F0502020204030204" pitchFamily="34" charset="0"/>
                <a:cs typeface="Times New Roman" panose="02020603050405020304" pitchFamily="18" charset="0"/>
              </a:rPr>
              <a:t>analyse</a:t>
            </a:r>
            <a:r>
              <a:rPr lang="en-US" dirty="0">
                <a:latin typeface="Times New Roman" panose="02020603050405020304" pitchFamily="18" charset="0"/>
                <a:ea typeface="Calibri" panose="020F0502020204030204" pitchFamily="34" charset="0"/>
                <a:cs typeface="Times New Roman" panose="02020603050405020304" pitchFamily="18" charset="0"/>
              </a:rPr>
              <a:t> complex engineering problems reaching substantiated conclusions using first principles of mathematics, natural sciences, and engineering sciences.</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b="1" dirty="0">
                <a:latin typeface="Times New Roman" panose="02020603050405020304" pitchFamily="18" charset="0"/>
                <a:ea typeface="Calibri" panose="020F0502020204030204" pitchFamily="34" charset="0"/>
                <a:cs typeface="Times New Roman" panose="02020603050405020304" pitchFamily="18" charset="0"/>
              </a:rPr>
              <a:t>3. Design/development of solutions:</a:t>
            </a:r>
            <a:r>
              <a:rPr lang="en-US" dirty="0">
                <a:latin typeface="Times New Roman" panose="02020603050405020304" pitchFamily="18" charset="0"/>
                <a:ea typeface="Calibri" panose="020F0502020204030204" pitchFamily="34" charset="0"/>
                <a:cs typeface="Times New Roman" panose="02020603050405020304" pitchFamily="18" charset="0"/>
              </a:rPr>
              <a:t> Design solutions for complex engineering problems and design system components or processes that meet the specified needs with appropriate consideration for public health and safety, and cultural, societal, and environmental considerations.</a:t>
            </a:r>
          </a:p>
          <a:p>
            <a:pPr algn="just">
              <a:lnSpc>
                <a:spcPct val="115000"/>
              </a:lnSpc>
              <a:spcAft>
                <a:spcPts val="1000"/>
              </a:spcAft>
            </a:pPr>
            <a:r>
              <a:rPr lang="en-US" b="1" dirty="0">
                <a:latin typeface="Times New Roman" panose="02020603050405020304" pitchFamily="18" charset="0"/>
                <a:ea typeface="Calibri" panose="020F0502020204030204" pitchFamily="34" charset="0"/>
                <a:cs typeface="Times New Roman" panose="02020603050405020304" pitchFamily="18" charset="0"/>
              </a:rPr>
              <a:t>4. Conduct investigations of complex problems: </a:t>
            </a:r>
            <a:r>
              <a:rPr lang="en-US" dirty="0">
                <a:latin typeface="Times New Roman" panose="02020603050405020304" pitchFamily="18" charset="0"/>
                <a:ea typeface="Calibri" panose="020F0502020204030204" pitchFamily="34" charset="0"/>
                <a:cs typeface="Times New Roman" panose="02020603050405020304" pitchFamily="18" charset="0"/>
              </a:rPr>
              <a:t>Use research-based knowledge and research methods including design of experiments, analysis and interpretation of data, and synthesis of information to provide valid conclusions.</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b="1" dirty="0">
                <a:latin typeface="Times New Roman" panose="02020603050405020304" pitchFamily="18" charset="0"/>
                <a:ea typeface="Calibri" panose="020F0502020204030204" pitchFamily="34" charset="0"/>
                <a:cs typeface="Times New Roman" panose="02020603050405020304" pitchFamily="18" charset="0"/>
              </a:rPr>
              <a:t>5. Modern tool usage:</a:t>
            </a:r>
            <a:r>
              <a:rPr lang="en-US" dirty="0">
                <a:latin typeface="Times New Roman" panose="02020603050405020304" pitchFamily="18" charset="0"/>
                <a:ea typeface="Calibri" panose="020F0502020204030204" pitchFamily="34" charset="0"/>
                <a:cs typeface="Times New Roman" panose="02020603050405020304" pitchFamily="18" charset="0"/>
              </a:rPr>
              <a:t> Create, select, and apply appropriate techniques, resources, and modern engineering and IT tools, including prediction and modeling to complex engineering activities, with an understanding of the limitations.</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endParaRPr lang="en-IN"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3" name="Rectangle 22">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dirty="0">
                <a:solidFill>
                  <a:srgbClr val="CC3300"/>
                </a:solidFill>
                <a:latin typeface="Times New Roman" pitchFamily="18" charset="0"/>
                <a:cs typeface="Times New Roman" pitchFamily="18" charset="0"/>
              </a:rPr>
              <a:t>Program Outcomes </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dirty="0">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dirty="0"/>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23" name="Rectangle 22"/>
          <p:cNvSpPr/>
          <p:nvPr/>
        </p:nvSpPr>
        <p:spPr>
          <a:xfrm>
            <a:off x="576775" y="1336432"/>
            <a:ext cx="10944665" cy="4463273"/>
          </a:xfrm>
          <a:prstGeom prst="rect">
            <a:avLst/>
          </a:prstGeom>
        </p:spPr>
        <p:txBody>
          <a:bodyPr wrap="square">
            <a:spAutoFit/>
          </a:bodyPr>
          <a:lstStyle/>
          <a:p>
            <a:pPr algn="just">
              <a:lnSpc>
                <a:spcPct val="115000"/>
              </a:lnSpc>
              <a:spcAft>
                <a:spcPts val="1000"/>
              </a:spcAft>
            </a:pPr>
            <a:r>
              <a:rPr lang="en-US" sz="2000" b="1" dirty="0">
                <a:latin typeface="Times New Roman" panose="02020603050405020304" pitchFamily="18" charset="0"/>
                <a:ea typeface="Calibri" panose="020F0502020204030204" pitchFamily="34" charset="0"/>
                <a:cs typeface="Times New Roman" panose="02020603050405020304" pitchFamily="18" charset="0"/>
              </a:rPr>
              <a:t>6. The engineer and society:</a:t>
            </a:r>
            <a:r>
              <a:rPr lang="en-US" sz="2000" dirty="0">
                <a:latin typeface="Times New Roman" panose="02020603050405020304" pitchFamily="18" charset="0"/>
                <a:ea typeface="Calibri" panose="020F0502020204030204" pitchFamily="34" charset="0"/>
                <a:cs typeface="Times New Roman" panose="02020603050405020304" pitchFamily="18" charset="0"/>
              </a:rPr>
              <a:t> Apply reasoning informed by the contextual knowledge to assess societal, health, safety, legal and cultural issues and the consequent responsibilities relevant to the professional engineering practice.</a:t>
            </a:r>
          </a:p>
          <a:p>
            <a:pPr algn="just">
              <a:lnSpc>
                <a:spcPct val="115000"/>
              </a:lnSpc>
              <a:spcAft>
                <a:spcPts val="1000"/>
              </a:spcAft>
            </a:pPr>
            <a:r>
              <a:rPr lang="en-US" sz="2000" b="1" dirty="0">
                <a:latin typeface="Times New Roman" panose="02020603050405020304" pitchFamily="18" charset="0"/>
                <a:ea typeface="Calibri" panose="020F0502020204030204" pitchFamily="34" charset="0"/>
                <a:cs typeface="Times New Roman" panose="02020603050405020304" pitchFamily="18" charset="0"/>
              </a:rPr>
              <a:t>7. Environment and sustainability:</a:t>
            </a:r>
            <a:r>
              <a:rPr lang="en-US" sz="2000" dirty="0">
                <a:latin typeface="Times New Roman" panose="02020603050405020304" pitchFamily="18" charset="0"/>
                <a:ea typeface="Calibri" panose="020F0502020204030204" pitchFamily="34" charset="0"/>
                <a:cs typeface="Times New Roman" panose="02020603050405020304" pitchFamily="18" charset="0"/>
              </a:rPr>
              <a:t> Understand the impact of the professional engineering solutions in societal and environmental contexts, and demonstrate the knowledge of, and need for sustainable development.</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000" b="1" dirty="0">
                <a:latin typeface="Times New Roman" panose="02020603050405020304" pitchFamily="18" charset="0"/>
                <a:ea typeface="Calibri" panose="020F0502020204030204" pitchFamily="34" charset="0"/>
                <a:cs typeface="Times New Roman" panose="02020603050405020304" pitchFamily="18" charset="0"/>
              </a:rPr>
              <a:t>8. Ethics:</a:t>
            </a:r>
            <a:r>
              <a:rPr lang="en-US" sz="2000" dirty="0">
                <a:latin typeface="Times New Roman" panose="02020603050405020304" pitchFamily="18" charset="0"/>
                <a:ea typeface="Calibri" panose="020F0502020204030204" pitchFamily="34" charset="0"/>
                <a:cs typeface="Times New Roman" panose="02020603050405020304" pitchFamily="18" charset="0"/>
              </a:rPr>
              <a:t> Apply ethical principles and commit to professional ethics and responsibilities and norms of the engineering practice.</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000" b="1" dirty="0">
                <a:latin typeface="Times New Roman" panose="02020603050405020304" pitchFamily="18" charset="0"/>
                <a:ea typeface="Calibri" panose="020F0502020204030204" pitchFamily="34" charset="0"/>
                <a:cs typeface="Times New Roman" panose="02020603050405020304" pitchFamily="18" charset="0"/>
              </a:rPr>
              <a:t>9. Individual and teamwork:</a:t>
            </a:r>
            <a:r>
              <a:rPr lang="en-US" sz="2000" dirty="0">
                <a:latin typeface="Times New Roman" panose="02020603050405020304" pitchFamily="18" charset="0"/>
                <a:ea typeface="Calibri" panose="020F0502020204030204" pitchFamily="34" charset="0"/>
                <a:cs typeface="Times New Roman" panose="02020603050405020304" pitchFamily="18" charset="0"/>
              </a:rPr>
              <a:t> Function effectively as an individual, and as a member or leader in diverse teams, and in multidisciplinary settings.</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endParaRPr lang="en-IN" dirty="0">
              <a:latin typeface="Times New Roman" panose="02020603050405020304" pitchFamily="18" charset="0"/>
              <a:cs typeface="Times New Roman" panose="02020603050405020304" pitchFamily="18" charset="0"/>
            </a:endParaRPr>
          </a:p>
        </p:txBody>
      </p:sp>
      <p:sp>
        <p:nvSpPr>
          <p:cNvPr id="24" name="Rectangle 23">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dirty="0">
                <a:solidFill>
                  <a:srgbClr val="CC3300"/>
                </a:solidFill>
                <a:latin typeface="Times New Roman" pitchFamily="18" charset="0"/>
                <a:cs typeface="Times New Roman" pitchFamily="18" charset="0"/>
              </a:rPr>
              <a:t>Program Outcomes </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dirty="0">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dirty="0"/>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25" name="Rectangle 24"/>
          <p:cNvSpPr/>
          <p:nvPr/>
        </p:nvSpPr>
        <p:spPr>
          <a:xfrm>
            <a:off x="731520" y="1246351"/>
            <a:ext cx="10578905" cy="3441968"/>
          </a:xfrm>
          <a:prstGeom prst="rect">
            <a:avLst/>
          </a:prstGeom>
        </p:spPr>
        <p:txBody>
          <a:bodyPr wrap="square">
            <a:spAutoFit/>
          </a:bodyPr>
          <a:lstStyle/>
          <a:p>
            <a:pPr algn="just">
              <a:lnSpc>
                <a:spcPct val="115000"/>
              </a:lnSpc>
              <a:spcAft>
                <a:spcPts val="1000"/>
              </a:spcAft>
            </a:pPr>
            <a:r>
              <a:rPr lang="en-US" sz="2000" b="1" dirty="0">
                <a:latin typeface="Times New Roman" panose="02020603050405020304" pitchFamily="18" charset="0"/>
                <a:ea typeface="Calibri" panose="020F0502020204030204" pitchFamily="34" charset="0"/>
                <a:cs typeface="Times New Roman" panose="02020603050405020304" pitchFamily="18" charset="0"/>
              </a:rPr>
              <a:t>10. Communication:</a:t>
            </a:r>
            <a:r>
              <a:rPr lang="en-US" sz="2000" dirty="0">
                <a:latin typeface="Times New Roman" panose="02020603050405020304" pitchFamily="18" charset="0"/>
                <a:ea typeface="Calibri" panose="020F0502020204030204" pitchFamily="34" charset="0"/>
                <a:cs typeface="Times New Roman" panose="02020603050405020304" pitchFamily="18" charset="0"/>
              </a:rPr>
              <a:t> Communicate effectively on complex engineering activities with the engineering community and with the society at large, such as, being able to comprehend and write effective reports and design documentation, make effective presentations, and give and receive clear instructions.</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000" b="1" dirty="0">
                <a:latin typeface="Times New Roman" panose="02020603050405020304" pitchFamily="18" charset="0"/>
                <a:ea typeface="Calibri" panose="020F0502020204030204" pitchFamily="34" charset="0"/>
                <a:cs typeface="Times New Roman" panose="02020603050405020304" pitchFamily="18" charset="0"/>
              </a:rPr>
              <a:t>11. Project management and finance:</a:t>
            </a:r>
            <a:r>
              <a:rPr lang="en-US" sz="2000" dirty="0">
                <a:latin typeface="Times New Roman" panose="02020603050405020304" pitchFamily="18" charset="0"/>
                <a:ea typeface="Calibri" panose="020F0502020204030204" pitchFamily="34" charset="0"/>
                <a:cs typeface="Times New Roman" panose="02020603050405020304" pitchFamily="18" charset="0"/>
              </a:rPr>
              <a:t> Demonstrate knowledge and understanding of the engineering and management principles and apply these to one’s own work, as a member and leader in a team, to manage projects and in multidisciplinary environments.</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r>
              <a:rPr lang="en-US" sz="2000" b="1" dirty="0">
                <a:latin typeface="Times New Roman" panose="02020603050405020304" pitchFamily="18" charset="0"/>
                <a:ea typeface="Calibri" panose="020F0502020204030204" pitchFamily="34" charset="0"/>
                <a:cs typeface="Times New Roman" panose="02020603050405020304" pitchFamily="18" charset="0"/>
              </a:rPr>
              <a:t>12. Life-long learning: </a:t>
            </a:r>
            <a:r>
              <a:rPr lang="en-US" sz="2000" dirty="0">
                <a:latin typeface="Times New Roman" panose="02020603050405020304" pitchFamily="18" charset="0"/>
                <a:ea typeface="Calibri" panose="020F0502020204030204" pitchFamily="34" charset="0"/>
                <a:cs typeface="Times New Roman" panose="02020603050405020304" pitchFamily="18" charset="0"/>
              </a:rPr>
              <a:t>Recognize the need for and have the preparation and ability to engage in independent and life-long learning in the broadest context of technological change</a:t>
            </a:r>
            <a:r>
              <a:rPr lang="en-US" sz="2000" dirty="0">
                <a:latin typeface="Times New Roman" panose="02020603050405020304" pitchFamily="18" charset="0"/>
                <a:ea typeface="Calibri" panose="020F0502020204030204" pitchFamily="34" charset="0"/>
              </a:rPr>
              <a:t>.</a:t>
            </a:r>
            <a:endParaRPr lang="en-IN" sz="2000" dirty="0"/>
          </a:p>
        </p:txBody>
      </p:sp>
      <p:sp>
        <p:nvSpPr>
          <p:cNvPr id="22" name="Rectangle 21">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p:pic>
        <p:nvPicPr>
          <p:cNvPr id="3" name="Picture 2">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4" name="Rectangle 3"/>
          <p:cNvSpPr/>
          <p:nvPr/>
        </p:nvSpPr>
        <p:spPr>
          <a:xfrm>
            <a:off x="3545059" y="233848"/>
            <a:ext cx="5767754" cy="523220"/>
          </a:xfrm>
          <a:prstGeom prst="rect">
            <a:avLst/>
          </a:prstGeom>
        </p:spPr>
        <p:txBody>
          <a:bodyPr wrap="square">
            <a:spAutoFit/>
          </a:bodyPr>
          <a:lstStyle/>
          <a:p>
            <a:pPr algn="ctr"/>
            <a:r>
              <a:rPr lang="en-IN" sz="2800" b="1" dirty="0">
                <a:solidFill>
                  <a:srgbClr val="CC3300"/>
                </a:solidFill>
                <a:latin typeface="Times New Roman" pitchFamily="18" charset="0"/>
                <a:cs typeface="Times New Roman" pitchFamily="18" charset="0"/>
              </a:rPr>
              <a:t>Program Educational Outcomes </a:t>
            </a:r>
            <a:endParaRPr lang="en-US" sz="2800" dirty="0"/>
          </a:p>
        </p:txBody>
      </p:sp>
      <p:sp>
        <p:nvSpPr>
          <p:cNvPr id="5" name="Rectangle 4">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6" name="Rectangle 5"/>
          <p:cNvSpPr/>
          <p:nvPr/>
        </p:nvSpPr>
        <p:spPr>
          <a:xfrm>
            <a:off x="365760" y="1859340"/>
            <a:ext cx="11577711" cy="3416320"/>
          </a:xfrm>
          <a:prstGeom prst="rect">
            <a:avLst/>
          </a:prstGeom>
        </p:spPr>
        <p:txBody>
          <a:bodyPr wrap="square">
            <a:spAutoFit/>
          </a:bodyPr>
          <a:lstStyle/>
          <a:p>
            <a:pPr algn="just">
              <a:buNone/>
            </a:pPr>
            <a:r>
              <a:rPr lang="en-US" sz="2400" dirty="0">
                <a:cs typeface="Times New Roman" panose="02020603050405020304" pitchFamily="18" charset="0"/>
              </a:rPr>
              <a:t>PEO1:  Conceptual Knowledge to adapt in rapidly changing environment and learn new skills and demonstrate application of management principles in professional work setting.</a:t>
            </a:r>
          </a:p>
          <a:p>
            <a:pPr algn="just">
              <a:buNone/>
            </a:pPr>
            <a:r>
              <a:rPr lang="en-US" sz="2400" dirty="0">
                <a:cs typeface="Times New Roman" panose="02020603050405020304" pitchFamily="18" charset="0"/>
              </a:rPr>
              <a:t>	</a:t>
            </a:r>
          </a:p>
          <a:p>
            <a:pPr algn="just">
              <a:buNone/>
            </a:pPr>
            <a:r>
              <a:rPr lang="en-US" sz="2400" dirty="0">
                <a:cs typeface="Times New Roman" panose="02020603050405020304" pitchFamily="18" charset="0"/>
              </a:rPr>
              <a:t>PEO2:  Apply appropriate tools for decision making for solving complex managerial problems in local or global context</a:t>
            </a:r>
          </a:p>
          <a:p>
            <a:pPr algn="just">
              <a:buNone/>
            </a:pPr>
            <a:r>
              <a:rPr lang="en-US" sz="2400" dirty="0">
                <a:cs typeface="Times New Roman" panose="02020603050405020304" pitchFamily="18" charset="0"/>
              </a:rPr>
              <a:t> 		</a:t>
            </a:r>
          </a:p>
          <a:p>
            <a:pPr algn="just">
              <a:buNone/>
            </a:pPr>
            <a:r>
              <a:rPr lang="en-US" sz="2400" dirty="0">
                <a:cs typeface="Times New Roman" panose="02020603050405020304" pitchFamily="18" charset="0"/>
              </a:rPr>
              <a:t>PEO3:  Exhibit Integrity, social responsibility and teamwork</a:t>
            </a:r>
          </a:p>
          <a:p>
            <a:pPr algn="just">
              <a:buNone/>
            </a:pPr>
            <a:r>
              <a:rPr lang="en-US" sz="2400" dirty="0">
                <a:cs typeface="Times New Roman" panose="02020603050405020304" pitchFamily="18" charset="0"/>
              </a:rPr>
              <a:t>		</a:t>
            </a:r>
          </a:p>
          <a:p>
            <a:pPr algn="just">
              <a:buNone/>
            </a:pPr>
            <a:r>
              <a:rPr lang="en-US" sz="2400" dirty="0">
                <a:cs typeface="Times New Roman" panose="02020603050405020304" pitchFamily="18" charset="0"/>
              </a:rPr>
              <a:t>PEO4: Exhibit ethics, communication skills, leadership qualities and entrepreneurial mindset</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p:pic>
        <p:nvPicPr>
          <p:cNvPr id="3" name="Picture 2">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4" name="Rectangle 3"/>
          <p:cNvSpPr/>
          <p:nvPr/>
        </p:nvSpPr>
        <p:spPr>
          <a:xfrm>
            <a:off x="3908415" y="225083"/>
            <a:ext cx="4518133" cy="523220"/>
          </a:xfrm>
          <a:prstGeom prst="rect">
            <a:avLst/>
          </a:prstGeom>
        </p:spPr>
        <p:txBody>
          <a:bodyPr wrap="square">
            <a:spAutoFit/>
          </a:bodyPr>
          <a:lstStyle/>
          <a:p>
            <a:pPr algn="ctr"/>
            <a:r>
              <a:rPr lang="en-IN" sz="2800" b="1" dirty="0">
                <a:solidFill>
                  <a:srgbClr val="CC3300"/>
                </a:solidFill>
                <a:latin typeface="Times New Roman" pitchFamily="18" charset="0"/>
                <a:cs typeface="Times New Roman" pitchFamily="18" charset="0"/>
              </a:rPr>
              <a:t>COURSE OUTCOME  </a:t>
            </a:r>
            <a:endParaRPr lang="en-US" sz="2800" dirty="0"/>
          </a:p>
        </p:txBody>
      </p:sp>
      <p:sp>
        <p:nvSpPr>
          <p:cNvPr id="5" name="Rectangle 4">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graphicFrame>
        <p:nvGraphicFramePr>
          <p:cNvPr id="6" name="Table 5"/>
          <p:cNvGraphicFramePr>
            <a:graphicFrameLocks noGrp="1"/>
          </p:cNvGraphicFramePr>
          <p:nvPr/>
        </p:nvGraphicFramePr>
        <p:xfrm>
          <a:off x="970672" y="1155888"/>
          <a:ext cx="10325685" cy="4606590"/>
        </p:xfrm>
        <a:graphic>
          <a:graphicData uri="http://schemas.openxmlformats.org/drawingml/2006/table">
            <a:tbl>
              <a:tblPr firstRow="1" bandRow="1">
                <a:tableStyleId>{00A15C55-8517-42AA-B614-E9B94910E393}</a:tableStyleId>
              </a:tblPr>
              <a:tblGrid>
                <a:gridCol w="1850681">
                  <a:extLst>
                    <a:ext uri="{9D8B030D-6E8A-4147-A177-3AD203B41FA5}">
                      <a16:colId xmlns:a16="http://schemas.microsoft.com/office/drawing/2014/main" val="20000"/>
                    </a:ext>
                  </a:extLst>
                </a:gridCol>
                <a:gridCol w="6558797">
                  <a:extLst>
                    <a:ext uri="{9D8B030D-6E8A-4147-A177-3AD203B41FA5}">
                      <a16:colId xmlns:a16="http://schemas.microsoft.com/office/drawing/2014/main" val="20001"/>
                    </a:ext>
                  </a:extLst>
                </a:gridCol>
                <a:gridCol w="1916207">
                  <a:extLst>
                    <a:ext uri="{9D8B030D-6E8A-4147-A177-3AD203B41FA5}">
                      <a16:colId xmlns:a16="http://schemas.microsoft.com/office/drawing/2014/main" val="20002"/>
                    </a:ext>
                  </a:extLst>
                </a:gridCol>
              </a:tblGrid>
              <a:tr h="443706">
                <a:tc>
                  <a:txBody>
                    <a:bodyPr/>
                    <a:lstStyle/>
                    <a:p>
                      <a:r>
                        <a:rPr lang="en-US" dirty="0"/>
                        <a:t>Course</a:t>
                      </a:r>
                      <a:r>
                        <a:rPr lang="en-US" baseline="0" dirty="0"/>
                        <a:t> Outcome </a:t>
                      </a:r>
                      <a:endParaRPr lang="en-US" dirty="0"/>
                    </a:p>
                  </a:txBody>
                  <a:tcPr/>
                </a:tc>
                <a:tc gridSpan="2">
                  <a:txBody>
                    <a:bodyPr/>
                    <a:lstStyle/>
                    <a:p>
                      <a:r>
                        <a:rPr lang="en-US" dirty="0"/>
                        <a:t>At the end of course, the student will be able to </a:t>
                      </a:r>
                    </a:p>
                  </a:txBody>
                  <a:tcPr/>
                </a:tc>
                <a:tc hMerge="1">
                  <a:txBody>
                    <a:bodyPr/>
                    <a:lstStyle/>
                    <a:p>
                      <a:endParaRPr lang="en-US"/>
                    </a:p>
                  </a:txBody>
                  <a:tcPr/>
                </a:tc>
                <a:extLst>
                  <a:ext uri="{0D108BD9-81ED-4DB2-BD59-A6C34878D82A}">
                    <a16:rowId xmlns:a16="http://schemas.microsoft.com/office/drawing/2014/main" val="10000"/>
                  </a:ext>
                </a:extLst>
              </a:tr>
              <a:tr h="443706">
                <a:tc>
                  <a:txBody>
                    <a:bodyPr/>
                    <a:lstStyle/>
                    <a:p>
                      <a:r>
                        <a:rPr lang="en-US" dirty="0"/>
                        <a:t>CO1</a:t>
                      </a:r>
                    </a:p>
                  </a:txBody>
                  <a:tcPr/>
                </a:tc>
                <a:tc>
                  <a:txBody>
                    <a:bodyPr/>
                    <a:lstStyle/>
                    <a:p>
                      <a:pPr>
                        <a:lnSpc>
                          <a:spcPct val="115000"/>
                        </a:lnSpc>
                        <a:spcAft>
                          <a:spcPts val="1000"/>
                        </a:spcAft>
                        <a:tabLst>
                          <a:tab pos="1533525" algn="l"/>
                        </a:tabLst>
                      </a:pPr>
                      <a:r>
                        <a:rPr lang="en-US" sz="2200" dirty="0">
                          <a:effectLst/>
                        </a:rPr>
                        <a:t>Explore the dimensions of Project</a:t>
                      </a:r>
                      <a:r>
                        <a:rPr lang="en-US" sz="2200" baseline="0" dirty="0">
                          <a:effectLst/>
                        </a:rPr>
                        <a:t> Management , its importance and scope. </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n-US" dirty="0"/>
                        <a:t> K1, K2 </a:t>
                      </a:r>
                    </a:p>
                  </a:txBody>
                  <a:tcPr/>
                </a:tc>
                <a:extLst>
                  <a:ext uri="{0D108BD9-81ED-4DB2-BD59-A6C34878D82A}">
                    <a16:rowId xmlns:a16="http://schemas.microsoft.com/office/drawing/2014/main" val="10001"/>
                  </a:ext>
                </a:extLst>
              </a:tr>
              <a:tr h="765849">
                <a:tc>
                  <a:txBody>
                    <a:bodyPr/>
                    <a:lstStyle/>
                    <a:p>
                      <a:r>
                        <a:rPr lang="en-US" dirty="0"/>
                        <a:t>CO2</a:t>
                      </a:r>
                    </a:p>
                  </a:txBody>
                  <a:tcPr/>
                </a:tc>
                <a:tc>
                  <a:txBody>
                    <a:bodyPr/>
                    <a:lstStyle/>
                    <a:p>
                      <a:pPr>
                        <a:lnSpc>
                          <a:spcPct val="115000"/>
                        </a:lnSpc>
                        <a:spcAft>
                          <a:spcPts val="1000"/>
                        </a:spcAft>
                        <a:tabLst>
                          <a:tab pos="1533525" algn="l"/>
                        </a:tabLst>
                      </a:pPr>
                      <a:r>
                        <a:rPr lang="en-US" sz="2200" dirty="0">
                          <a:effectLst/>
                        </a:rPr>
                        <a:t>Understand</a:t>
                      </a:r>
                      <a:r>
                        <a:rPr lang="en-US" sz="2200" baseline="0" dirty="0">
                          <a:effectLst/>
                        </a:rPr>
                        <a:t>ing Project life Cycle and Role of Project Manager. </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n-US" dirty="0"/>
                        <a:t>K3, K4</a:t>
                      </a:r>
                    </a:p>
                  </a:txBody>
                  <a:tcPr/>
                </a:tc>
                <a:extLst>
                  <a:ext uri="{0D108BD9-81ED-4DB2-BD59-A6C34878D82A}">
                    <a16:rowId xmlns:a16="http://schemas.microsoft.com/office/drawing/2014/main" val="10002"/>
                  </a:ext>
                </a:extLst>
              </a:tr>
              <a:tr h="765849">
                <a:tc>
                  <a:txBody>
                    <a:bodyPr/>
                    <a:lstStyle/>
                    <a:p>
                      <a:r>
                        <a:rPr lang="en-US" dirty="0"/>
                        <a:t>CO3</a:t>
                      </a:r>
                    </a:p>
                  </a:txBody>
                  <a:tcPr/>
                </a:tc>
                <a:tc>
                  <a:txBody>
                    <a:bodyPr/>
                    <a:lstStyle/>
                    <a:p>
                      <a:pPr>
                        <a:lnSpc>
                          <a:spcPct val="115000"/>
                        </a:lnSpc>
                        <a:spcAft>
                          <a:spcPts val="1000"/>
                        </a:spcAft>
                        <a:tabLst>
                          <a:tab pos="1533525" algn="l"/>
                        </a:tabLst>
                      </a:pPr>
                      <a:r>
                        <a:rPr lang="en-US" sz="2200" dirty="0">
                          <a:effectLst/>
                          <a:latin typeface="Calibri" panose="020F0502020204030204" pitchFamily="34" charset="0"/>
                          <a:ea typeface="Calibri" panose="020F0502020204030204" pitchFamily="34" charset="0"/>
                          <a:cs typeface="Times New Roman" panose="02020603050405020304" pitchFamily="18" charset="0"/>
                        </a:rPr>
                        <a:t>Developing</a:t>
                      </a:r>
                      <a:r>
                        <a:rPr lang="en-US" sz="2200" baseline="0" dirty="0">
                          <a:effectLst/>
                          <a:latin typeface="Calibri" panose="020F0502020204030204" pitchFamily="34" charset="0"/>
                          <a:ea typeface="Calibri" panose="020F0502020204030204" pitchFamily="34" charset="0"/>
                          <a:cs typeface="Times New Roman" panose="02020603050405020304" pitchFamily="18" charset="0"/>
                        </a:rPr>
                        <a:t> an understanding about Project Appraisal , Technical Appraisal ,Market Appraisal and Managerial Appraisal. </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n-US" dirty="0"/>
                        <a:t>K4</a:t>
                      </a:r>
                    </a:p>
                  </a:txBody>
                  <a:tcPr/>
                </a:tc>
                <a:extLst>
                  <a:ext uri="{0D108BD9-81ED-4DB2-BD59-A6C34878D82A}">
                    <a16:rowId xmlns:a16="http://schemas.microsoft.com/office/drawing/2014/main" val="10003"/>
                  </a:ext>
                </a:extLst>
              </a:tr>
              <a:tr h="765849">
                <a:tc>
                  <a:txBody>
                    <a:bodyPr/>
                    <a:lstStyle/>
                    <a:p>
                      <a:r>
                        <a:rPr lang="en-US" dirty="0"/>
                        <a:t>CO4</a:t>
                      </a:r>
                    </a:p>
                  </a:txBody>
                  <a:tcPr/>
                </a:tc>
                <a:tc>
                  <a:txBody>
                    <a:bodyPr/>
                    <a:lstStyle/>
                    <a:p>
                      <a:pPr>
                        <a:lnSpc>
                          <a:spcPct val="115000"/>
                        </a:lnSpc>
                        <a:spcAft>
                          <a:spcPts val="1000"/>
                        </a:spcAft>
                        <a:tabLst>
                          <a:tab pos="1533525" algn="l"/>
                        </a:tabLst>
                      </a:pPr>
                      <a:r>
                        <a:rPr lang="en-US" sz="2200" dirty="0">
                          <a:effectLst/>
                        </a:rPr>
                        <a:t>Developing</a:t>
                      </a:r>
                      <a:r>
                        <a:rPr lang="en-US" sz="2200" baseline="0" dirty="0">
                          <a:effectLst/>
                        </a:rPr>
                        <a:t> </a:t>
                      </a:r>
                      <a:r>
                        <a:rPr lang="en-US" sz="2200" dirty="0">
                          <a:effectLst/>
                        </a:rPr>
                        <a:t>an understanding of</a:t>
                      </a:r>
                      <a:r>
                        <a:rPr lang="en-US" sz="2200" baseline="0" dirty="0">
                          <a:effectLst/>
                        </a:rPr>
                        <a:t> various Project Management tools like P6 Primavera. </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n-US" dirty="0"/>
                        <a:t>K2</a:t>
                      </a:r>
                    </a:p>
                  </a:txBody>
                  <a:tcPr/>
                </a:tc>
                <a:extLst>
                  <a:ext uri="{0D108BD9-81ED-4DB2-BD59-A6C34878D82A}">
                    <a16:rowId xmlns:a16="http://schemas.microsoft.com/office/drawing/2014/main" val="10004"/>
                  </a:ext>
                </a:extLst>
              </a:tr>
              <a:tr h="636120">
                <a:tc>
                  <a:txBody>
                    <a:bodyPr/>
                    <a:lstStyle/>
                    <a:p>
                      <a:r>
                        <a:rPr lang="en-US" dirty="0"/>
                        <a:t>CO5</a:t>
                      </a:r>
                    </a:p>
                  </a:txBody>
                  <a:tcPr/>
                </a:tc>
                <a:tc>
                  <a:txBody>
                    <a:bodyPr/>
                    <a:lstStyle/>
                    <a:p>
                      <a:pPr>
                        <a:lnSpc>
                          <a:spcPct val="115000"/>
                        </a:lnSpc>
                        <a:spcAft>
                          <a:spcPts val="1000"/>
                        </a:spcAft>
                        <a:tabLst>
                          <a:tab pos="1533525" algn="l"/>
                        </a:tabLst>
                      </a:pPr>
                      <a:r>
                        <a:rPr lang="en-US" sz="2200" dirty="0">
                          <a:effectLst/>
                        </a:rPr>
                        <a:t>Explore the dimensions of</a:t>
                      </a:r>
                      <a:r>
                        <a:rPr lang="en-US" sz="2200" baseline="0" dirty="0">
                          <a:effectLst/>
                        </a:rPr>
                        <a:t> Enterprise Project and Portfolio Management. </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n-US" dirty="0"/>
                        <a:t>K4, K5 </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dirty="0">
                <a:solidFill>
                  <a:srgbClr val="CC3300"/>
                </a:solidFill>
                <a:latin typeface="Times New Roman" pitchFamily="18" charset="0"/>
                <a:cs typeface="Times New Roman" pitchFamily="18" charset="0"/>
              </a:rPr>
              <a:t>CO-PO MAPPING </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dirty="0">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dirty="0"/>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dirty="0">
              <a:latin typeface="Times New Roman" panose="02020603050405020304" pitchFamily="18" charset="0"/>
              <a:cs typeface="Times New Roman" panose="02020603050405020304" pitchFamily="18" charset="0"/>
            </a:endParaRPr>
          </a:p>
        </p:txBody>
      </p:sp>
      <p:graphicFrame>
        <p:nvGraphicFramePr>
          <p:cNvPr id="24" name="Content Placeholder 1"/>
          <p:cNvGraphicFramePr>
            <a:graphicFrameLocks/>
          </p:cNvGraphicFramePr>
          <p:nvPr/>
        </p:nvGraphicFramePr>
        <p:xfrm>
          <a:off x="2243797" y="1432560"/>
          <a:ext cx="6772299" cy="4148149"/>
        </p:xfrm>
        <a:graphic>
          <a:graphicData uri="http://schemas.openxmlformats.org/drawingml/2006/table">
            <a:tbl>
              <a:tblPr firstRow="1" firstCol="1" bandRow="1">
                <a:tableStyleId>{00A15C55-8517-42AA-B614-E9B94910E393}</a:tableStyleId>
              </a:tblPr>
              <a:tblGrid>
                <a:gridCol w="712366">
                  <a:extLst>
                    <a:ext uri="{9D8B030D-6E8A-4147-A177-3AD203B41FA5}">
                      <a16:colId xmlns:a16="http://schemas.microsoft.com/office/drawing/2014/main" val="20000"/>
                    </a:ext>
                  </a:extLst>
                </a:gridCol>
                <a:gridCol w="1445400">
                  <a:extLst>
                    <a:ext uri="{9D8B030D-6E8A-4147-A177-3AD203B41FA5}">
                      <a16:colId xmlns:a16="http://schemas.microsoft.com/office/drawing/2014/main" val="20001"/>
                    </a:ext>
                  </a:extLst>
                </a:gridCol>
                <a:gridCol w="1019634">
                  <a:extLst>
                    <a:ext uri="{9D8B030D-6E8A-4147-A177-3AD203B41FA5}">
                      <a16:colId xmlns:a16="http://schemas.microsoft.com/office/drawing/2014/main" val="20002"/>
                    </a:ext>
                  </a:extLst>
                </a:gridCol>
                <a:gridCol w="841888">
                  <a:extLst>
                    <a:ext uri="{9D8B030D-6E8A-4147-A177-3AD203B41FA5}">
                      <a16:colId xmlns:a16="http://schemas.microsoft.com/office/drawing/2014/main" val="20003"/>
                    </a:ext>
                  </a:extLst>
                </a:gridCol>
                <a:gridCol w="971408">
                  <a:extLst>
                    <a:ext uri="{9D8B030D-6E8A-4147-A177-3AD203B41FA5}">
                      <a16:colId xmlns:a16="http://schemas.microsoft.com/office/drawing/2014/main" val="20004"/>
                    </a:ext>
                  </a:extLst>
                </a:gridCol>
                <a:gridCol w="971408">
                  <a:extLst>
                    <a:ext uri="{9D8B030D-6E8A-4147-A177-3AD203B41FA5}">
                      <a16:colId xmlns:a16="http://schemas.microsoft.com/office/drawing/2014/main" val="20005"/>
                    </a:ext>
                  </a:extLst>
                </a:gridCol>
                <a:gridCol w="810195">
                  <a:extLst>
                    <a:ext uri="{9D8B030D-6E8A-4147-A177-3AD203B41FA5}">
                      <a16:colId xmlns:a16="http://schemas.microsoft.com/office/drawing/2014/main" val="20006"/>
                    </a:ext>
                  </a:extLst>
                </a:gridCol>
              </a:tblGrid>
              <a:tr h="1419713">
                <a:tc>
                  <a:txBody>
                    <a:bodyPr/>
                    <a:lstStyle/>
                    <a:p>
                      <a:pPr marL="0" marR="0" algn="ctr">
                        <a:lnSpc>
                          <a:spcPct val="115000"/>
                        </a:lnSpc>
                        <a:spcBef>
                          <a:spcPts val="0"/>
                        </a:spcBef>
                        <a:spcAft>
                          <a:spcPts val="0"/>
                        </a:spcAft>
                      </a:pPr>
                      <a:r>
                        <a:rPr lang="en-US" sz="2400" dirty="0">
                          <a:effectLst/>
                        </a:rPr>
                        <a:t>Sr. No</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dirty="0">
                          <a:effectLst/>
                        </a:rPr>
                        <a:t>Course  Outcome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PO1</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PO2</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PO3</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dirty="0">
                          <a:effectLst/>
                        </a:rPr>
                        <a:t>PO4</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PO5</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474700">
                <a:tc>
                  <a:txBody>
                    <a:bodyPr/>
                    <a:lstStyle/>
                    <a:p>
                      <a:pPr marL="0" marR="0" algn="ctr">
                        <a:lnSpc>
                          <a:spcPct val="115000"/>
                        </a:lnSpc>
                        <a:spcBef>
                          <a:spcPts val="0"/>
                        </a:spcBef>
                        <a:spcAft>
                          <a:spcPts val="0"/>
                        </a:spcAft>
                      </a:pPr>
                      <a:r>
                        <a:rPr lang="en-US" sz="2400">
                          <a:effectLst/>
                        </a:rPr>
                        <a:t>1</a:t>
                      </a:r>
                      <a:endParaRPr lang="en-US" sz="2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400" dirty="0">
                          <a:effectLst/>
                        </a:rPr>
                        <a:t>CO 1</a:t>
                      </a:r>
                      <a:endParaRPr lang="en-US" sz="2400" b="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dirty="0">
                          <a:effectLst/>
                        </a:rPr>
                        <a:t>H </a:t>
                      </a:r>
                      <a:endParaRPr lang="en-US" sz="2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dirty="0">
                          <a:effectLst/>
                        </a:rPr>
                        <a:t> H</a:t>
                      </a:r>
                      <a:endParaRPr lang="en-US" sz="2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dirty="0">
                          <a:effectLst/>
                        </a:rPr>
                        <a:t>M </a:t>
                      </a:r>
                      <a:endParaRPr lang="en-US" sz="2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dirty="0">
                          <a:effectLst/>
                        </a:rPr>
                        <a:t> </a:t>
                      </a: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dirty="0">
                          <a:effectLst/>
                        </a:rPr>
                        <a:t> </a:t>
                      </a: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562321">
                <a:tc>
                  <a:txBody>
                    <a:bodyPr/>
                    <a:lstStyle/>
                    <a:p>
                      <a:pPr marL="0" marR="0" algn="ctr">
                        <a:lnSpc>
                          <a:spcPct val="115000"/>
                        </a:lnSpc>
                        <a:spcBef>
                          <a:spcPts val="0"/>
                        </a:spcBef>
                        <a:spcAft>
                          <a:spcPts val="0"/>
                        </a:spcAft>
                      </a:pPr>
                      <a:r>
                        <a:rPr lang="en-US" sz="2400">
                          <a:effectLst/>
                        </a:rPr>
                        <a:t>2</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50000"/>
                        </a:lnSpc>
                        <a:spcBef>
                          <a:spcPts val="0"/>
                        </a:spcBef>
                        <a:spcAft>
                          <a:spcPts val="0"/>
                        </a:spcAft>
                      </a:pPr>
                      <a:r>
                        <a:rPr lang="en-US" sz="2400">
                          <a:effectLst/>
                        </a:rPr>
                        <a:t>CO 2</a:t>
                      </a:r>
                      <a:endParaRPr lang="en-US" sz="24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dirty="0">
                          <a:effectLst/>
                        </a:rPr>
                        <a:t>M</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dirty="0">
                          <a:effectLst/>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dirty="0">
                          <a:effectLst/>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H</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562321">
                <a:tc>
                  <a:txBody>
                    <a:bodyPr/>
                    <a:lstStyle/>
                    <a:p>
                      <a:pPr marL="0" marR="0" algn="ctr">
                        <a:lnSpc>
                          <a:spcPct val="115000"/>
                        </a:lnSpc>
                        <a:spcBef>
                          <a:spcPts val="0"/>
                        </a:spcBef>
                        <a:spcAft>
                          <a:spcPts val="0"/>
                        </a:spcAft>
                      </a:pPr>
                      <a:r>
                        <a:rPr lang="en-US" sz="2400" dirty="0">
                          <a:effectLst/>
                        </a:rPr>
                        <a:t>3</a:t>
                      </a: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11430" algn="ctr">
                        <a:lnSpc>
                          <a:spcPct val="150000"/>
                        </a:lnSpc>
                        <a:spcBef>
                          <a:spcPts val="0"/>
                        </a:spcBef>
                        <a:spcAft>
                          <a:spcPts val="0"/>
                        </a:spcAft>
                      </a:pPr>
                      <a:r>
                        <a:rPr lang="en-US" sz="2400" dirty="0">
                          <a:effectLst/>
                        </a:rPr>
                        <a:t>CO 3</a:t>
                      </a:r>
                      <a:endParaRPr lang="en-US" sz="24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dirty="0">
                          <a:effectLst/>
                        </a:rPr>
                        <a:t>H</a:t>
                      </a: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dirty="0">
                          <a:effectLst/>
                        </a:rPr>
                        <a:t>M</a:t>
                      </a: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dirty="0">
                          <a:effectLst/>
                        </a:rPr>
                        <a:t> </a:t>
                      </a: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dirty="0">
                          <a:effectLst/>
                        </a:rPr>
                        <a:t> </a:t>
                      </a: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dirty="0">
                          <a:effectLst/>
                        </a:rPr>
                        <a:t>M</a:t>
                      </a: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564547">
                <a:tc>
                  <a:txBody>
                    <a:bodyPr/>
                    <a:lstStyle/>
                    <a:p>
                      <a:pPr marL="0" marR="0" algn="ctr">
                        <a:lnSpc>
                          <a:spcPct val="115000"/>
                        </a:lnSpc>
                        <a:spcBef>
                          <a:spcPts val="0"/>
                        </a:spcBef>
                        <a:spcAft>
                          <a:spcPts val="0"/>
                        </a:spcAft>
                      </a:pPr>
                      <a:r>
                        <a:rPr lang="en-US" sz="2400">
                          <a:effectLst/>
                        </a:rPr>
                        <a:t>4</a:t>
                      </a:r>
                      <a:endParaRPr lang="en-US" sz="2400" b="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50000"/>
                        </a:lnSpc>
                        <a:spcBef>
                          <a:spcPts val="0"/>
                        </a:spcBef>
                        <a:spcAft>
                          <a:spcPts val="0"/>
                        </a:spcAft>
                      </a:pPr>
                      <a:r>
                        <a:rPr lang="en-US" sz="2400" dirty="0">
                          <a:effectLst/>
                        </a:rPr>
                        <a:t>CO 4</a:t>
                      </a:r>
                      <a:endParaRPr lang="en-US" sz="2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dirty="0">
                          <a:effectLst/>
                        </a:rPr>
                        <a:t>H</a:t>
                      </a:r>
                      <a:endParaRPr lang="en-US" sz="2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dirty="0">
                          <a:effectLst/>
                        </a:rPr>
                        <a:t> </a:t>
                      </a:r>
                      <a:endParaRPr lang="en-US" sz="2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dirty="0">
                          <a:effectLst/>
                        </a:rPr>
                        <a:t> </a:t>
                      </a:r>
                      <a:endParaRPr lang="en-US" sz="2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dirty="0">
                          <a:effectLst/>
                        </a:rPr>
                        <a:t> </a:t>
                      </a:r>
                      <a:endParaRPr lang="en-US" sz="2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dirty="0">
                          <a:effectLst/>
                        </a:rPr>
                        <a:t>H</a:t>
                      </a:r>
                      <a:endParaRPr lang="en-US" sz="2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564547">
                <a:tc>
                  <a:txBody>
                    <a:bodyPr/>
                    <a:lstStyle/>
                    <a:p>
                      <a:pPr marL="0" marR="0" algn="ctr">
                        <a:lnSpc>
                          <a:spcPct val="115000"/>
                        </a:lnSpc>
                        <a:spcBef>
                          <a:spcPts val="0"/>
                        </a:spcBef>
                        <a:spcAft>
                          <a:spcPts val="0"/>
                        </a:spcAft>
                      </a:pPr>
                      <a:r>
                        <a:rPr lang="en-US" sz="2400">
                          <a:effectLst/>
                        </a:rPr>
                        <a:t>5</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50000"/>
                        </a:lnSpc>
                        <a:spcBef>
                          <a:spcPts val="0"/>
                        </a:spcBef>
                        <a:spcAft>
                          <a:spcPts val="0"/>
                        </a:spcAft>
                      </a:pPr>
                      <a:r>
                        <a:rPr lang="en-US" sz="2400">
                          <a:effectLst/>
                        </a:rPr>
                        <a:t>CO 5</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H</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H</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a:effectLst/>
                        </a:rPr>
                        <a:t>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2400" dirty="0">
                          <a:effectLst/>
                        </a:rPr>
                        <a:t>M</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bl>
          </a:graphicData>
        </a:graphic>
      </p:graphicFrame>
      <p:sp>
        <p:nvSpPr>
          <p:cNvPr id="23" name="Rectangle 22">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IN" sz="3600" b="1" dirty="0">
                <a:solidFill>
                  <a:srgbClr val="CC3300"/>
                </a:solidFill>
                <a:latin typeface="Times New Roman" pitchFamily="18" charset="0"/>
                <a:cs typeface="Times New Roman" pitchFamily="18" charset="0"/>
              </a:rPr>
              <a:t>PSO MAPPING</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dirty="0">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dirty="0"/>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dirty="0">
              <a:latin typeface="Times New Roman" panose="02020603050405020304" pitchFamily="18" charset="0"/>
              <a:cs typeface="Times New Roman" panose="02020603050405020304" pitchFamily="18" charset="0"/>
            </a:endParaRPr>
          </a:p>
        </p:txBody>
      </p:sp>
      <p:graphicFrame>
        <p:nvGraphicFramePr>
          <p:cNvPr id="22" name="Table 21"/>
          <p:cNvGraphicFramePr>
            <a:graphicFrameLocks noGrp="1"/>
          </p:cNvGraphicFramePr>
          <p:nvPr>
            <p:extLst>
              <p:ext uri="{D42A27DB-BD31-4B8C-83A1-F6EECF244321}">
                <p14:modId xmlns:p14="http://schemas.microsoft.com/office/powerpoint/2010/main" val="3715292797"/>
              </p:ext>
            </p:extLst>
          </p:nvPr>
        </p:nvGraphicFramePr>
        <p:xfrm>
          <a:off x="1969477" y="1786598"/>
          <a:ext cx="8679765" cy="3376244"/>
        </p:xfrm>
        <a:graphic>
          <a:graphicData uri="http://schemas.openxmlformats.org/drawingml/2006/table">
            <a:tbl>
              <a:tblPr firstRow="1" firstCol="1" bandRow="1">
                <a:tableStyleId>{00A15C55-8517-42AA-B614-E9B94910E393}</a:tableStyleId>
              </a:tblPr>
              <a:tblGrid>
                <a:gridCol w="3197808">
                  <a:extLst>
                    <a:ext uri="{9D8B030D-6E8A-4147-A177-3AD203B41FA5}">
                      <a16:colId xmlns:a16="http://schemas.microsoft.com/office/drawing/2014/main" val="20000"/>
                    </a:ext>
                  </a:extLst>
                </a:gridCol>
                <a:gridCol w="1390351">
                  <a:extLst>
                    <a:ext uri="{9D8B030D-6E8A-4147-A177-3AD203B41FA5}">
                      <a16:colId xmlns:a16="http://schemas.microsoft.com/office/drawing/2014/main" val="20001"/>
                    </a:ext>
                  </a:extLst>
                </a:gridCol>
                <a:gridCol w="1191731">
                  <a:extLst>
                    <a:ext uri="{9D8B030D-6E8A-4147-A177-3AD203B41FA5}">
                      <a16:colId xmlns:a16="http://schemas.microsoft.com/office/drawing/2014/main" val="20002"/>
                    </a:ext>
                  </a:extLst>
                </a:gridCol>
                <a:gridCol w="993107">
                  <a:extLst>
                    <a:ext uri="{9D8B030D-6E8A-4147-A177-3AD203B41FA5}">
                      <a16:colId xmlns:a16="http://schemas.microsoft.com/office/drawing/2014/main" val="20003"/>
                    </a:ext>
                  </a:extLst>
                </a:gridCol>
                <a:gridCol w="993107">
                  <a:extLst>
                    <a:ext uri="{9D8B030D-6E8A-4147-A177-3AD203B41FA5}">
                      <a16:colId xmlns:a16="http://schemas.microsoft.com/office/drawing/2014/main" val="20004"/>
                    </a:ext>
                  </a:extLst>
                </a:gridCol>
                <a:gridCol w="913661">
                  <a:extLst>
                    <a:ext uri="{9D8B030D-6E8A-4147-A177-3AD203B41FA5}">
                      <a16:colId xmlns:a16="http://schemas.microsoft.com/office/drawing/2014/main" val="20005"/>
                    </a:ext>
                  </a:extLst>
                </a:gridCol>
              </a:tblGrid>
              <a:tr h="966831">
                <a:tc rowSpan="2">
                  <a:txBody>
                    <a:bodyPr/>
                    <a:lstStyle/>
                    <a:p>
                      <a:pPr marL="0" marR="0" algn="ctr">
                        <a:lnSpc>
                          <a:spcPct val="115000"/>
                        </a:lnSpc>
                        <a:spcBef>
                          <a:spcPts val="0"/>
                        </a:spcBef>
                        <a:spcAft>
                          <a:spcPts val="0"/>
                        </a:spcAft>
                      </a:pPr>
                      <a:r>
                        <a:rPr lang="en-US" sz="1200" dirty="0">
                          <a:effectLst/>
                        </a:rPr>
                        <a:t>Program Specific Outcomes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gridSpan="5">
                  <a:txBody>
                    <a:bodyPr/>
                    <a:lstStyle/>
                    <a:p>
                      <a:pPr marL="0" marR="0" algn="ctr">
                        <a:lnSpc>
                          <a:spcPct val="115000"/>
                        </a:lnSpc>
                        <a:spcBef>
                          <a:spcPts val="0"/>
                        </a:spcBef>
                        <a:spcAft>
                          <a:spcPts val="1000"/>
                        </a:spcAft>
                      </a:pPr>
                      <a:r>
                        <a:rPr lang="en-US" sz="1200" dirty="0">
                          <a:effectLst/>
                        </a:rPr>
                        <a:t>Course Outcomes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44781">
                <a:tc vMerge="1">
                  <a:txBody>
                    <a:bodyPr/>
                    <a:lstStyle/>
                    <a:p>
                      <a:endParaRPr lang="en-US"/>
                    </a:p>
                  </a:txBody>
                  <a:tcPr/>
                </a:tc>
                <a:tc>
                  <a:txBody>
                    <a:bodyPr/>
                    <a:lstStyle/>
                    <a:p>
                      <a:pPr marL="0" marR="0" algn="ctr">
                        <a:lnSpc>
                          <a:spcPct val="115000"/>
                        </a:lnSpc>
                        <a:spcBef>
                          <a:spcPts val="0"/>
                        </a:spcBef>
                        <a:spcAft>
                          <a:spcPts val="0"/>
                        </a:spcAft>
                      </a:pPr>
                      <a:r>
                        <a:rPr lang="en-US" sz="1200" dirty="0">
                          <a:effectLst/>
                        </a:rPr>
                        <a:t>1</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400">
                          <a:effectLst/>
                        </a:rPr>
                        <a:t>3</a:t>
                      </a:r>
                      <a:endParaRPr lang="en-US"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491158">
                <a:tc>
                  <a:txBody>
                    <a:bodyPr/>
                    <a:lstStyle/>
                    <a:p>
                      <a:pPr marL="0" marR="0" algn="ctr">
                        <a:lnSpc>
                          <a:spcPct val="115000"/>
                        </a:lnSpc>
                        <a:spcBef>
                          <a:spcPts val="0"/>
                        </a:spcBef>
                        <a:spcAft>
                          <a:spcPts val="0"/>
                        </a:spcAft>
                      </a:pPr>
                      <a:r>
                        <a:rPr lang="en-US"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400">
                          <a:effectLst/>
                        </a:rPr>
                        <a:t>H</a:t>
                      </a:r>
                      <a:endParaRPr lang="en-US"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491158">
                <a:tc>
                  <a:txBody>
                    <a:bodyPr/>
                    <a:lstStyle/>
                    <a:p>
                      <a:pPr marL="0" marR="0" algn="ctr">
                        <a:lnSpc>
                          <a:spcPct val="115000"/>
                        </a:lnSpc>
                        <a:spcBef>
                          <a:spcPts val="0"/>
                        </a:spcBef>
                        <a:spcAft>
                          <a:spcPts val="0"/>
                        </a:spcAft>
                      </a:pPr>
                      <a:r>
                        <a:rPr lang="en-US" sz="12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491158">
                <a:tc>
                  <a:txBody>
                    <a:bodyPr/>
                    <a:lstStyle/>
                    <a:p>
                      <a:pPr marL="0" marR="0" algn="ctr">
                        <a:lnSpc>
                          <a:spcPct val="115000"/>
                        </a:lnSpc>
                        <a:spcBef>
                          <a:spcPts val="0"/>
                        </a:spcBef>
                        <a:spcAft>
                          <a:spcPts val="0"/>
                        </a:spcAft>
                      </a:pPr>
                      <a:r>
                        <a:rPr lang="en-US" sz="1200">
                          <a:effectLst/>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dirty="0">
                          <a:effectLst/>
                        </a:rPr>
                        <a:t>H</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dirty="0">
                          <a:effectLst/>
                        </a:rPr>
                        <a:t>M</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400" dirty="0">
                          <a:effectLst/>
                        </a:rPr>
                        <a:t>M</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dirty="0">
                          <a:effectLst/>
                        </a:rPr>
                        <a:t>M</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491158">
                <a:tc>
                  <a:txBody>
                    <a:bodyPr/>
                    <a:lstStyle/>
                    <a:p>
                      <a:pPr marL="0" marR="0" algn="ctr">
                        <a:lnSpc>
                          <a:spcPct val="115000"/>
                        </a:lnSpc>
                        <a:spcBef>
                          <a:spcPts val="0"/>
                        </a:spcBef>
                        <a:spcAft>
                          <a:spcPts val="0"/>
                        </a:spcAft>
                      </a:pPr>
                      <a:r>
                        <a:rPr lang="en-US" sz="1100" dirty="0">
                          <a:effectLst/>
                        </a:rPr>
                        <a:t>4</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dirty="0">
                          <a:effectLst/>
                        </a:rPr>
                        <a:t>H</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dirty="0">
                          <a:effectLst/>
                        </a:rPr>
                        <a:t>H</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dirty="0">
                          <a:effectLst/>
                        </a:rPr>
                        <a:t>M</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dirty="0">
                          <a:effectLst/>
                        </a:rPr>
                        <a:t>M</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bl>
          </a:graphicData>
        </a:graphic>
      </p:graphicFrame>
      <p:sp>
        <p:nvSpPr>
          <p:cNvPr id="24" name="Rectangle 23">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p:pic>
        <p:nvPicPr>
          <p:cNvPr id="4" name="Picture 3">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6" name="Rectangle 5"/>
          <p:cNvSpPr/>
          <p:nvPr/>
        </p:nvSpPr>
        <p:spPr>
          <a:xfrm>
            <a:off x="4037428" y="191643"/>
            <a:ext cx="5430129" cy="523220"/>
          </a:xfrm>
          <a:prstGeom prst="rect">
            <a:avLst/>
          </a:prstGeom>
        </p:spPr>
        <p:txBody>
          <a:bodyPr wrap="square">
            <a:spAutoFit/>
          </a:bodyPr>
          <a:lstStyle/>
          <a:p>
            <a:pPr algn="ctr"/>
            <a:r>
              <a:rPr lang="en-US" sz="2800" b="1" dirty="0">
                <a:solidFill>
                  <a:srgbClr val="FF0000"/>
                </a:solidFill>
                <a:latin typeface="Times New Roman" pitchFamily="18" charset="0"/>
                <a:cs typeface="Times New Roman" pitchFamily="18" charset="0"/>
              </a:rPr>
              <a:t>TOPIC MAPPING WITH CO </a:t>
            </a:r>
            <a:endParaRPr lang="en-US" sz="2800" dirty="0">
              <a:solidFill>
                <a:srgbClr val="FF0000"/>
              </a:solidFill>
            </a:endParaRPr>
          </a:p>
        </p:txBody>
      </p:sp>
      <p:graphicFrame>
        <p:nvGraphicFramePr>
          <p:cNvPr id="7" name="Table 6"/>
          <p:cNvGraphicFramePr>
            <a:graphicFrameLocks noGrp="1"/>
          </p:cNvGraphicFramePr>
          <p:nvPr/>
        </p:nvGraphicFramePr>
        <p:xfrm>
          <a:off x="1800665" y="1113561"/>
          <a:ext cx="8190522" cy="4731532"/>
        </p:xfrm>
        <a:graphic>
          <a:graphicData uri="http://schemas.openxmlformats.org/drawingml/2006/table">
            <a:tbl>
              <a:tblPr firstRow="1" bandRow="1">
                <a:tableStyleId>{00A15C55-8517-42AA-B614-E9B94910E393}</a:tableStyleId>
              </a:tblPr>
              <a:tblGrid>
                <a:gridCol w="6415385">
                  <a:extLst>
                    <a:ext uri="{9D8B030D-6E8A-4147-A177-3AD203B41FA5}">
                      <a16:colId xmlns:a16="http://schemas.microsoft.com/office/drawing/2014/main" val="20000"/>
                    </a:ext>
                  </a:extLst>
                </a:gridCol>
                <a:gridCol w="1775137">
                  <a:extLst>
                    <a:ext uri="{9D8B030D-6E8A-4147-A177-3AD203B41FA5}">
                      <a16:colId xmlns:a16="http://schemas.microsoft.com/office/drawing/2014/main" val="20001"/>
                    </a:ext>
                  </a:extLst>
                </a:gridCol>
              </a:tblGrid>
              <a:tr h="628406">
                <a:tc>
                  <a:txBody>
                    <a:bodyPr/>
                    <a:lstStyle/>
                    <a:p>
                      <a:r>
                        <a:rPr lang="en-US" dirty="0"/>
                        <a:t>TOPIC </a:t>
                      </a:r>
                    </a:p>
                  </a:txBody>
                  <a:tcPr/>
                </a:tc>
                <a:tc>
                  <a:txBody>
                    <a:bodyPr/>
                    <a:lstStyle/>
                    <a:p>
                      <a:r>
                        <a:rPr lang="en-US" dirty="0"/>
                        <a:t>MAPPING WITH CO </a:t>
                      </a:r>
                    </a:p>
                  </a:txBody>
                  <a:tcPr/>
                </a:tc>
                <a:extLst>
                  <a:ext uri="{0D108BD9-81ED-4DB2-BD59-A6C34878D82A}">
                    <a16:rowId xmlns:a16="http://schemas.microsoft.com/office/drawing/2014/main" val="10000"/>
                  </a:ext>
                </a:extLst>
              </a:tr>
              <a:tr h="364076">
                <a:tc>
                  <a:txBody>
                    <a:bodyPr/>
                    <a:lstStyle/>
                    <a:p>
                      <a:r>
                        <a:rPr lang="en-US" sz="1800" dirty="0">
                          <a:effectLst/>
                        </a:rPr>
                        <a:t>Explore the dimensions of Project</a:t>
                      </a:r>
                      <a:r>
                        <a:rPr lang="en-US" sz="1800" baseline="0" dirty="0">
                          <a:effectLst/>
                        </a:rPr>
                        <a:t> Management </a:t>
                      </a:r>
                      <a:endParaRPr lang="en-US" sz="1800" dirty="0"/>
                    </a:p>
                  </a:txBody>
                  <a:tcPr/>
                </a:tc>
                <a:tc>
                  <a:txBody>
                    <a:bodyPr/>
                    <a:lstStyle/>
                    <a:p>
                      <a:r>
                        <a:rPr lang="en-US" dirty="0"/>
                        <a:t>CO3</a:t>
                      </a:r>
                    </a:p>
                  </a:txBody>
                  <a:tcPr/>
                </a:tc>
                <a:extLst>
                  <a:ext uri="{0D108BD9-81ED-4DB2-BD59-A6C34878D82A}">
                    <a16:rowId xmlns:a16="http://schemas.microsoft.com/office/drawing/2014/main" val="10001"/>
                  </a:ext>
                </a:extLst>
              </a:tr>
              <a:tr h="364076">
                <a:tc>
                  <a:txBody>
                    <a:bodyPr/>
                    <a:lstStyle/>
                    <a:p>
                      <a:r>
                        <a:rPr lang="en-US" sz="1800" baseline="0" dirty="0">
                          <a:effectLst/>
                        </a:rPr>
                        <a:t>Importance and scope of Project Management</a:t>
                      </a:r>
                      <a:endParaRPr lang="en-US" sz="1800" dirty="0"/>
                    </a:p>
                  </a:txBody>
                  <a:tcPr/>
                </a:tc>
                <a:tc>
                  <a:txBody>
                    <a:bodyPr/>
                    <a:lstStyle/>
                    <a:p>
                      <a:r>
                        <a:rPr lang="en-US" dirty="0"/>
                        <a:t>CO3</a:t>
                      </a:r>
                    </a:p>
                  </a:txBody>
                  <a:tcPr/>
                </a:tc>
                <a:extLst>
                  <a:ext uri="{0D108BD9-81ED-4DB2-BD59-A6C34878D82A}">
                    <a16:rowId xmlns:a16="http://schemas.microsoft.com/office/drawing/2014/main" val="10002"/>
                  </a:ext>
                </a:extLst>
              </a:tr>
              <a:tr h="364076">
                <a:tc>
                  <a:txBody>
                    <a:bodyPr/>
                    <a:lstStyle/>
                    <a:p>
                      <a:r>
                        <a:rPr lang="en-US" sz="1800" dirty="0">
                          <a:effectLst/>
                        </a:rPr>
                        <a:t>Understand</a:t>
                      </a:r>
                      <a:r>
                        <a:rPr lang="en-US" sz="1800" baseline="0" dirty="0">
                          <a:effectLst/>
                        </a:rPr>
                        <a:t>ing Project life Cycle </a:t>
                      </a:r>
                      <a:endParaRPr lang="en-US" sz="1800" dirty="0"/>
                    </a:p>
                  </a:txBody>
                  <a:tcPr/>
                </a:tc>
                <a:tc>
                  <a:txBody>
                    <a:bodyPr/>
                    <a:lstStyle/>
                    <a:p>
                      <a:r>
                        <a:rPr lang="en-US" dirty="0"/>
                        <a:t>CO3</a:t>
                      </a:r>
                    </a:p>
                  </a:txBody>
                  <a:tcPr/>
                </a:tc>
                <a:extLst>
                  <a:ext uri="{0D108BD9-81ED-4DB2-BD59-A6C34878D82A}">
                    <a16:rowId xmlns:a16="http://schemas.microsoft.com/office/drawing/2014/main" val="10003"/>
                  </a:ext>
                </a:extLst>
              </a:tr>
              <a:tr h="364076">
                <a:tc>
                  <a:txBody>
                    <a:bodyPr/>
                    <a:lstStyle/>
                    <a:p>
                      <a:r>
                        <a:rPr lang="en-US" sz="1800" baseline="0" dirty="0">
                          <a:effectLst/>
                        </a:rPr>
                        <a:t>Role of Project Manager. </a:t>
                      </a:r>
                      <a:endParaRPr lang="en-US" sz="1800" dirty="0"/>
                    </a:p>
                  </a:txBody>
                  <a:tcPr/>
                </a:tc>
                <a:tc>
                  <a:txBody>
                    <a:bodyPr/>
                    <a:lstStyle/>
                    <a:p>
                      <a:r>
                        <a:rPr lang="en-US" dirty="0"/>
                        <a:t>CO3</a:t>
                      </a:r>
                    </a:p>
                  </a:txBody>
                  <a:tcPr/>
                </a:tc>
                <a:extLst>
                  <a:ext uri="{0D108BD9-81ED-4DB2-BD59-A6C34878D82A}">
                    <a16:rowId xmlns:a16="http://schemas.microsoft.com/office/drawing/2014/main" val="10004"/>
                  </a:ext>
                </a:extLst>
              </a:tr>
              <a:tr h="364076">
                <a:tc>
                  <a:txBody>
                    <a:bodyPr/>
                    <a:lstStyle/>
                    <a:p>
                      <a:r>
                        <a:rPr lang="en-US" sz="1800" baseline="0" dirty="0">
                          <a:effectLst/>
                          <a:latin typeface="Calibri" panose="020F0502020204030204" pitchFamily="34" charset="0"/>
                          <a:ea typeface="Calibri" panose="020F0502020204030204" pitchFamily="34" charset="0"/>
                          <a:cs typeface="Times New Roman" panose="02020603050405020304" pitchFamily="18" charset="0"/>
                        </a:rPr>
                        <a:t>Understanding about Project Appraisal , Technical Appraisal ,Market Appraisal and Managerial Appraisal. </a:t>
                      </a:r>
                      <a:endParaRPr lang="en-US" sz="1800" dirty="0"/>
                    </a:p>
                  </a:txBody>
                  <a:tcPr/>
                </a:tc>
                <a:tc>
                  <a:txBody>
                    <a:bodyPr/>
                    <a:lstStyle/>
                    <a:p>
                      <a:r>
                        <a:rPr lang="en-US" dirty="0"/>
                        <a:t>CO3</a:t>
                      </a:r>
                    </a:p>
                  </a:txBody>
                  <a:tcPr/>
                </a:tc>
                <a:extLst>
                  <a:ext uri="{0D108BD9-81ED-4DB2-BD59-A6C34878D82A}">
                    <a16:rowId xmlns:a16="http://schemas.microsoft.com/office/drawing/2014/main" val="10005"/>
                  </a:ext>
                </a:extLst>
              </a:tr>
              <a:tr h="364076">
                <a:tc>
                  <a:txBody>
                    <a:bodyPr/>
                    <a:lstStyle/>
                    <a:p>
                      <a:r>
                        <a:rPr lang="en-US" dirty="0"/>
                        <a:t>Feasibility analysis</a:t>
                      </a:r>
                    </a:p>
                  </a:txBody>
                  <a:tcPr/>
                </a:tc>
                <a:tc>
                  <a:txBody>
                    <a:bodyPr/>
                    <a:lstStyle/>
                    <a:p>
                      <a:r>
                        <a:rPr lang="en-US" dirty="0"/>
                        <a:t>CO3</a:t>
                      </a:r>
                    </a:p>
                  </a:txBody>
                  <a:tcPr/>
                </a:tc>
                <a:extLst>
                  <a:ext uri="{0D108BD9-81ED-4DB2-BD59-A6C34878D82A}">
                    <a16:rowId xmlns:a16="http://schemas.microsoft.com/office/drawing/2014/main" val="10006"/>
                  </a:ext>
                </a:extLst>
              </a:tr>
              <a:tr h="364076">
                <a:tc>
                  <a:txBody>
                    <a:bodyPr/>
                    <a:lstStyle/>
                    <a:p>
                      <a:r>
                        <a:rPr lang="en-US" sz="1800" dirty="0">
                          <a:effectLst/>
                        </a:rPr>
                        <a:t>Developing</a:t>
                      </a:r>
                      <a:r>
                        <a:rPr lang="en-US" sz="1800" baseline="0" dirty="0">
                          <a:effectLst/>
                        </a:rPr>
                        <a:t> </a:t>
                      </a:r>
                      <a:r>
                        <a:rPr lang="en-US" sz="1800" dirty="0">
                          <a:effectLst/>
                        </a:rPr>
                        <a:t>an understanding of</a:t>
                      </a:r>
                      <a:r>
                        <a:rPr lang="en-US" sz="1800" baseline="0" dirty="0">
                          <a:effectLst/>
                        </a:rPr>
                        <a:t> various Project Management tools</a:t>
                      </a:r>
                      <a:endParaRPr lang="en-US" dirty="0"/>
                    </a:p>
                  </a:txBody>
                  <a:tcPr/>
                </a:tc>
                <a:tc>
                  <a:txBody>
                    <a:bodyPr/>
                    <a:lstStyle/>
                    <a:p>
                      <a:r>
                        <a:rPr lang="en-US" dirty="0"/>
                        <a:t>CO3</a:t>
                      </a:r>
                    </a:p>
                  </a:txBody>
                  <a:tcPr/>
                </a:tc>
                <a:extLst>
                  <a:ext uri="{0D108BD9-81ED-4DB2-BD59-A6C34878D82A}">
                    <a16:rowId xmlns:a16="http://schemas.microsoft.com/office/drawing/2014/main" val="10007"/>
                  </a:ext>
                </a:extLst>
              </a:tr>
              <a:tr h="62840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effectLst/>
                        </a:rPr>
                        <a:t>Dimensions of</a:t>
                      </a:r>
                      <a:r>
                        <a:rPr lang="en-US" sz="1800" baseline="0" dirty="0">
                          <a:effectLst/>
                        </a:rPr>
                        <a:t> Enterprise Project </a:t>
                      </a:r>
                      <a:endParaRPr lang="en-US" dirty="0"/>
                    </a:p>
                  </a:txBody>
                  <a:tcPr/>
                </a:tc>
                <a:tc>
                  <a:txBody>
                    <a:bodyPr/>
                    <a:lstStyle/>
                    <a:p>
                      <a:r>
                        <a:rPr lang="en-US" dirty="0"/>
                        <a:t>CO3</a:t>
                      </a:r>
                    </a:p>
                  </a:txBody>
                  <a:tcPr/>
                </a:tc>
                <a:extLst>
                  <a:ext uri="{0D108BD9-81ED-4DB2-BD59-A6C34878D82A}">
                    <a16:rowId xmlns:a16="http://schemas.microsoft.com/office/drawing/2014/main" val="10008"/>
                  </a:ext>
                </a:extLst>
              </a:tr>
              <a:tr h="62840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aseline="0" dirty="0">
                          <a:effectLst/>
                        </a:rPr>
                        <a:t>Tools of Project Management. </a:t>
                      </a:r>
                      <a:endParaRPr lang="en-US" dirty="0"/>
                    </a:p>
                  </a:txBody>
                  <a:tcPr/>
                </a:tc>
                <a:tc>
                  <a:txBody>
                    <a:bodyPr/>
                    <a:lstStyle/>
                    <a:p>
                      <a:r>
                        <a:rPr lang="en-US" dirty="0"/>
                        <a:t>CO3</a:t>
                      </a:r>
                    </a:p>
                  </a:txBody>
                  <a:tcPr/>
                </a:tc>
                <a:extLst>
                  <a:ext uri="{0D108BD9-81ED-4DB2-BD59-A6C34878D82A}">
                    <a16:rowId xmlns:a16="http://schemas.microsoft.com/office/drawing/2014/main" val="10009"/>
                  </a:ext>
                </a:extLst>
              </a:tr>
            </a:tbl>
          </a:graphicData>
        </a:graphic>
      </p:graphicFrame>
      <p:sp>
        <p:nvSpPr>
          <p:cNvPr id="8" name="Rectangle 7">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lvl="0" algn="ctr">
              <a:defRPr/>
            </a:pPr>
            <a:r>
              <a:rPr lang="en-US" sz="3600" dirty="0">
                <a:solidFill>
                  <a:schemeClr val="dk1"/>
                </a:solidFill>
              </a:rPr>
              <a:t>PROJECT - MEANING</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dirty="0">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dirty="0"/>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dirty="0">
              <a:latin typeface="Times New Roman" panose="02020603050405020304" pitchFamily="18" charset="0"/>
              <a:cs typeface="Times New Roman" panose="02020603050405020304" pitchFamily="18" charset="0"/>
            </a:endParaRPr>
          </a:p>
        </p:txBody>
      </p:sp>
      <p:sp>
        <p:nvSpPr>
          <p:cNvPr id="26" name="Rectangle 25"/>
          <p:cNvSpPr/>
          <p:nvPr/>
        </p:nvSpPr>
        <p:spPr>
          <a:xfrm>
            <a:off x="562708" y="1118108"/>
            <a:ext cx="10367889" cy="5373779"/>
          </a:xfrm>
          <a:prstGeom prst="rect">
            <a:avLst/>
          </a:prstGeom>
        </p:spPr>
        <p:txBody>
          <a:bodyPr wrap="square">
            <a:spAutoFit/>
          </a:bodyPr>
          <a:lstStyle/>
          <a:p>
            <a:pPr marL="342900" indent="-342900" algn="just">
              <a:lnSpc>
                <a:spcPct val="140000"/>
              </a:lnSpc>
              <a:buFont typeface="Arial"/>
              <a:buChar char="•"/>
            </a:pPr>
            <a:r>
              <a:rPr lang="en-US" sz="2400" dirty="0"/>
              <a:t>A project is a temporary endeavor with a defined objective by a team or individual to create a specific outcome. It has a beginning, middle, and end and involves planning, executing, and controlling resources (such as time, money, and people) to achieve the desired results. Projects can range from small, short-term efforts to large, complex, long-term initiatives. In a nutshell, </a:t>
            </a:r>
            <a:r>
              <a:rPr lang="en-US" sz="2400" i="1" dirty="0"/>
              <a:t>a project is a goal-oriented, organized effort</a:t>
            </a:r>
            <a:r>
              <a:rPr lang="en-US" sz="2400" dirty="0"/>
              <a:t>.</a:t>
            </a:r>
          </a:p>
          <a:p>
            <a:pPr>
              <a:lnSpc>
                <a:spcPct val="150000"/>
              </a:lnSpc>
            </a:pPr>
            <a:r>
              <a:rPr lang="en-US" sz="2400" dirty="0"/>
              <a:t>Project examples:</a:t>
            </a:r>
          </a:p>
          <a:p>
            <a:pPr>
              <a:lnSpc>
                <a:spcPct val="150000"/>
              </a:lnSpc>
              <a:buFont typeface="Arial" pitchFamily="34" charset="0"/>
              <a:buChar char="•"/>
            </a:pPr>
            <a:r>
              <a:rPr lang="en-US" sz="2400" dirty="0"/>
              <a:t>construction of a new building</a:t>
            </a:r>
          </a:p>
          <a:p>
            <a:pPr>
              <a:lnSpc>
                <a:spcPct val="150000"/>
              </a:lnSpc>
              <a:buFont typeface="Arial" pitchFamily="34" charset="0"/>
              <a:buChar char="•"/>
            </a:pPr>
            <a:r>
              <a:rPr lang="en-US" sz="2400" dirty="0"/>
              <a:t>launching a new website</a:t>
            </a:r>
          </a:p>
          <a:p>
            <a:pPr marL="342900" indent="-342900" algn="just">
              <a:lnSpc>
                <a:spcPct val="140000"/>
              </a:lnSpc>
            </a:pPr>
            <a:endParaRPr lang="en-US" sz="2400" b="1" dirty="0">
              <a:latin typeface="Times New Roman" pitchFamily="18" charset="0"/>
              <a:cs typeface="Times New Roman" pitchFamily="18" charset="0"/>
            </a:endParaRPr>
          </a:p>
        </p:txBody>
      </p:sp>
      <p:sp>
        <p:nvSpPr>
          <p:cNvPr id="23" name="Rectangle 22">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65759"/>
            <a:ext cx="9191502" cy="618320"/>
          </a:xfrm>
        </p:spPr>
        <p:txBody>
          <a:bodyPr>
            <a:normAutofit/>
          </a:bodyPr>
          <a:lstStyle/>
          <a:p>
            <a:pPr algn="ctr">
              <a:defRPr/>
            </a:pPr>
            <a:r>
              <a:rPr lang="en-US" sz="2700" b="1" dirty="0">
                <a:effectLst>
                  <a:outerShdw blurRad="38100" dist="38100" dir="2700000" algn="tl">
                    <a:srgbClr val="000000">
                      <a:alpha val="43137"/>
                    </a:srgbClr>
                  </a:outerShdw>
                </a:effectLst>
              </a:rPr>
              <a:t>PROJECT MANAGEMENT </a:t>
            </a:r>
            <a:endParaRPr lang="en-US" sz="3600" dirty="0">
              <a:solidFill>
                <a:schemeClr val="dk1"/>
              </a:solidFill>
            </a:endParaRP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dirty="0">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dirty="0"/>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dirty="0">
              <a:latin typeface="Times New Roman" panose="02020603050405020304" pitchFamily="18" charset="0"/>
              <a:cs typeface="Times New Roman" panose="02020603050405020304" pitchFamily="18" charset="0"/>
            </a:endParaRPr>
          </a:p>
        </p:txBody>
      </p:sp>
      <p:sp>
        <p:nvSpPr>
          <p:cNvPr id="24" name="Rectangle 23"/>
          <p:cNvSpPr/>
          <p:nvPr/>
        </p:nvSpPr>
        <p:spPr>
          <a:xfrm>
            <a:off x="337626" y="1063586"/>
            <a:ext cx="11535506" cy="3970318"/>
          </a:xfrm>
          <a:prstGeom prst="rect">
            <a:avLst/>
          </a:prstGeom>
        </p:spPr>
        <p:txBody>
          <a:bodyPr wrap="square">
            <a:spAutoFit/>
          </a:bodyPr>
          <a:lstStyle/>
          <a:p>
            <a:pPr marL="285750" indent="-285750" algn="just">
              <a:buFont typeface="Arial"/>
              <a:buChar char="•"/>
            </a:pPr>
            <a:r>
              <a:rPr lang="en-US" sz="2800" dirty="0"/>
              <a:t>Project management is the process of using skills, knowledge, and methods to achieve project goals within a budget and time limit. Project scope is the work required to deliver a product or service, and project scope management is the process of outlining, tracking, and closing tasks to meet project goals. </a:t>
            </a:r>
          </a:p>
          <a:p>
            <a:pPr marL="285750" indent="-285750" algn="just">
              <a:buFont typeface="Arial"/>
              <a:buChar char="•"/>
            </a:pPr>
            <a:r>
              <a:rPr lang="en-US" sz="2800" dirty="0"/>
              <a:t>Project management is important because it helps ensure projects are completed on time, within budget, and to the expected quality. It also helps identify and mitigate risks, manage resources, and keep stakeholders informed. </a:t>
            </a:r>
            <a:endParaRPr lang="en-US" sz="2800" dirty="0">
              <a:latin typeface="Times New Roman" pitchFamily="18" charset="0"/>
              <a:cs typeface="Times New Roman" pitchFamily="18" charset="0"/>
            </a:endParaRPr>
          </a:p>
        </p:txBody>
      </p:sp>
      <p:sp>
        <p:nvSpPr>
          <p:cNvPr id="23" name="Rectangle 22">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Autofit/>
          </a:bodyPr>
          <a:lstStyle/>
          <a:p>
            <a:pPr lvl="0" algn="ctr">
              <a:defRPr/>
            </a:pPr>
            <a:r>
              <a:rPr lang="en-US" sz="2400" b="1" dirty="0">
                <a:solidFill>
                  <a:schemeClr val="dk1"/>
                </a:solidFill>
              </a:rPr>
              <a:t>SCOPE &amp; IMPORTANCE  OF PROJECT MANAGEMENT</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dirty="0">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dirty="0"/>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dirty="0">
              <a:latin typeface="Times New Roman" panose="02020603050405020304" pitchFamily="18" charset="0"/>
              <a:cs typeface="Times New Roman" panose="02020603050405020304" pitchFamily="18" charset="0"/>
            </a:endParaRPr>
          </a:p>
        </p:txBody>
      </p:sp>
      <p:sp>
        <p:nvSpPr>
          <p:cNvPr id="24" name="Rectangle 23"/>
          <p:cNvSpPr/>
          <p:nvPr/>
        </p:nvSpPr>
        <p:spPr>
          <a:xfrm>
            <a:off x="323558" y="1039913"/>
            <a:ext cx="11127544" cy="4893647"/>
          </a:xfrm>
          <a:prstGeom prst="rect">
            <a:avLst/>
          </a:prstGeom>
        </p:spPr>
        <p:txBody>
          <a:bodyPr wrap="square">
            <a:spAutoFit/>
          </a:bodyPr>
          <a:lstStyle/>
          <a:p>
            <a:pPr marL="457200" indent="-457200" algn="just">
              <a:lnSpc>
                <a:spcPct val="130000"/>
              </a:lnSpc>
              <a:buFont typeface="+mj-lt"/>
              <a:buAutoNum type="arabicPeriod"/>
            </a:pPr>
            <a:r>
              <a:rPr lang="en-US" sz="2400" b="1" dirty="0">
                <a:latin typeface="Times New Roman" pitchFamily="18" charset="0"/>
                <a:cs typeface="Times New Roman" pitchFamily="18" charset="0"/>
              </a:rPr>
              <a:t>Defines Project Boundaries: </a:t>
            </a:r>
            <a:r>
              <a:rPr lang="en-US" sz="2400" dirty="0">
                <a:latin typeface="Times New Roman" pitchFamily="18" charset="0"/>
                <a:cs typeface="Times New Roman" pitchFamily="18" charset="0"/>
              </a:rPr>
              <a:t>Clearly defining the project scope helps in setting the boundaries of the project. It specifies what is included in the project and, equally important, what is not included. This prevents scope creep, which occurs when additional work is added to the project without proper authorization. </a:t>
            </a:r>
          </a:p>
          <a:p>
            <a:pPr marL="457200" indent="-457200" algn="just">
              <a:lnSpc>
                <a:spcPct val="130000"/>
              </a:lnSpc>
              <a:buFont typeface="+mj-lt"/>
              <a:buAutoNum type="arabicPeriod"/>
            </a:pPr>
            <a:r>
              <a:rPr lang="en-US" sz="2400" b="1" dirty="0">
                <a:latin typeface="Times New Roman" pitchFamily="18" charset="0"/>
                <a:cs typeface="Times New Roman" pitchFamily="18" charset="0"/>
              </a:rPr>
              <a:t>Sets Clear Objectives: </a:t>
            </a:r>
            <a:r>
              <a:rPr lang="en-US" sz="2400" dirty="0">
                <a:latin typeface="Times New Roman" pitchFamily="18" charset="0"/>
                <a:cs typeface="Times New Roman" pitchFamily="18" charset="0"/>
              </a:rPr>
              <a:t>A well-defined scope provides clear objectives for the project team. It helps everyone involved understand what needs to be achieved, ensuring a shared understanding of the project’s goals. </a:t>
            </a:r>
          </a:p>
          <a:p>
            <a:pPr marL="457200" indent="-457200" algn="just">
              <a:lnSpc>
                <a:spcPct val="130000"/>
              </a:lnSpc>
              <a:buFont typeface="+mj-lt"/>
              <a:buAutoNum type="arabicPeriod"/>
            </a:pPr>
            <a:r>
              <a:rPr lang="en-US" sz="2400" b="1" dirty="0">
                <a:latin typeface="Times New Roman" pitchFamily="18" charset="0"/>
                <a:cs typeface="Times New Roman" pitchFamily="18" charset="0"/>
              </a:rPr>
              <a:t>Guided Decision Making: </a:t>
            </a:r>
            <a:r>
              <a:rPr lang="en-US" sz="2400" dirty="0">
                <a:latin typeface="Times New Roman" pitchFamily="18" charset="0"/>
                <a:cs typeface="Times New Roman" pitchFamily="18" charset="0"/>
              </a:rPr>
              <a:t>With a defined scope, project managers can make informed decisions about what tasks, activities, and features are necessary to achieve the project goals. It helps in prioritizing work and allocating resources appropriately.</a:t>
            </a:r>
            <a:endParaRPr lang="en-IN" sz="2800" dirty="0">
              <a:latin typeface="Times New Roman" pitchFamily="18" charset="0"/>
              <a:cs typeface="Times New Roman" pitchFamily="18" charset="0"/>
            </a:endParaRPr>
          </a:p>
        </p:txBody>
      </p:sp>
      <p:sp>
        <p:nvSpPr>
          <p:cNvPr id="25" name="Rectangle 24">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769434" cy="838200"/>
          </a:xfrm>
        </p:spPr>
        <p:txBody>
          <a:bodyPr>
            <a:normAutofit/>
          </a:bodyPr>
          <a:lstStyle/>
          <a:p>
            <a:pPr lvl="0" algn="ctr">
              <a:defRPr/>
            </a:pPr>
            <a:r>
              <a:rPr lang="en-US" sz="2800" b="1" dirty="0">
                <a:solidFill>
                  <a:schemeClr val="dk1"/>
                </a:solidFill>
              </a:rPr>
              <a:t>SCOPE &amp; IMPORTANCE  OF PROJECT MANAGEMENT</a:t>
            </a:r>
            <a:endParaRPr lang="en-US" sz="2800" b="1" dirty="0">
              <a:solidFill>
                <a:schemeClr val="dk1"/>
              </a:solidFill>
              <a:effectLst>
                <a:outerShdw blurRad="38100" dist="38100" dir="2700000" algn="tl">
                  <a:srgbClr val="000000">
                    <a:alpha val="43137"/>
                  </a:srgbClr>
                </a:outerShdw>
              </a:effectLst>
            </a:endParaRP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dirty="0">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dirty="0"/>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dirty="0">
              <a:latin typeface="Times New Roman" panose="02020603050405020304" pitchFamily="18" charset="0"/>
              <a:cs typeface="Times New Roman" panose="02020603050405020304" pitchFamily="18" charset="0"/>
            </a:endParaRPr>
          </a:p>
        </p:txBody>
      </p:sp>
      <p:sp>
        <p:nvSpPr>
          <p:cNvPr id="24" name="Rectangle 23"/>
          <p:cNvSpPr/>
          <p:nvPr/>
        </p:nvSpPr>
        <p:spPr>
          <a:xfrm>
            <a:off x="0" y="1264321"/>
            <a:ext cx="12192000" cy="3412537"/>
          </a:xfrm>
          <a:prstGeom prst="rect">
            <a:avLst/>
          </a:prstGeom>
        </p:spPr>
        <p:txBody>
          <a:bodyPr wrap="square">
            <a:spAutoFit/>
          </a:bodyPr>
          <a:lstStyle/>
          <a:p>
            <a:pPr marL="285750" indent="-285750" algn="just">
              <a:lnSpc>
                <a:spcPct val="130000"/>
              </a:lnSpc>
            </a:pPr>
            <a:r>
              <a:rPr lang="en-US" sz="2400" b="1" dirty="0"/>
              <a:t>4. Facilitates Planning: </a:t>
            </a:r>
            <a:r>
              <a:rPr lang="en-US" sz="2400" dirty="0"/>
              <a:t>A clear scope is essential for effective project planning. It allows project managers to create realistic schedules, allocate resources, and estimate costs accurately. Without a well-defined scope, planning becomes challenging and may lead to project delays and budget overruns. </a:t>
            </a:r>
          </a:p>
          <a:p>
            <a:pPr marL="285750" indent="-285750" algn="just">
              <a:lnSpc>
                <a:spcPct val="130000"/>
              </a:lnSpc>
            </a:pPr>
            <a:r>
              <a:rPr lang="en-US" sz="2400" b="1" dirty="0"/>
              <a:t>5. Manages Stakeholder Expectations: </a:t>
            </a:r>
            <a:r>
              <a:rPr lang="en-US" sz="2400" dirty="0"/>
              <a:t>Communicating the project scope to stakeholders helps manage their expectations. When everyone understands what the project will deliver, it reduces the likelihood of misunderstandings, dissatisfaction, and conflicts.</a:t>
            </a:r>
            <a:endParaRPr lang="en-IN" sz="2000" dirty="0">
              <a:latin typeface="Times New Roman" panose="02020603050405020304" pitchFamily="18" charset="0"/>
              <a:cs typeface="Times New Roman" panose="02020603050405020304" pitchFamily="18" charset="0"/>
            </a:endParaRPr>
          </a:p>
        </p:txBody>
      </p:sp>
      <p:sp>
        <p:nvSpPr>
          <p:cNvPr id="25" name="Rectangle 24">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lvl="0" algn="ctr">
              <a:defRPr/>
            </a:pPr>
            <a:r>
              <a:rPr lang="en-US" sz="3600" b="1" dirty="0">
                <a:effectLst>
                  <a:outerShdw blurRad="38100" dist="38100" dir="2700000" algn="tl">
                    <a:srgbClr val="000000">
                      <a:alpha val="43137"/>
                    </a:srgbClr>
                  </a:outerShdw>
                </a:effectLst>
              </a:rPr>
              <a:t>ROLE OF PROJECT MANAGER</a:t>
            </a:r>
            <a:endParaRPr lang="en-US" sz="3600" b="1" dirty="0">
              <a:solidFill>
                <a:schemeClr val="dk1"/>
              </a:solidFill>
              <a:effectLst>
                <a:outerShdw blurRad="38100" dist="38100" dir="2700000" algn="tl">
                  <a:srgbClr val="000000">
                    <a:alpha val="43137"/>
                  </a:srgbClr>
                </a:outerShdw>
              </a:effectLst>
            </a:endParaRP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dirty="0">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dirty="0"/>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dirty="0">
              <a:latin typeface="Times New Roman" panose="02020603050405020304" pitchFamily="18" charset="0"/>
              <a:cs typeface="Times New Roman" panose="02020603050405020304" pitchFamily="18" charset="0"/>
            </a:endParaRPr>
          </a:p>
        </p:txBody>
      </p:sp>
      <p:sp>
        <p:nvSpPr>
          <p:cNvPr id="24" name="Rectangle 23"/>
          <p:cNvSpPr/>
          <p:nvPr/>
        </p:nvSpPr>
        <p:spPr>
          <a:xfrm>
            <a:off x="225083" y="998806"/>
            <a:ext cx="11966917" cy="5170646"/>
          </a:xfrm>
          <a:prstGeom prst="rect">
            <a:avLst/>
          </a:prstGeom>
        </p:spPr>
        <p:txBody>
          <a:bodyPr wrap="square">
            <a:spAutoFit/>
          </a:bodyPr>
          <a:lstStyle/>
          <a:p>
            <a:pPr marL="457200" indent="-457200" algn="just">
              <a:lnSpc>
                <a:spcPct val="150000"/>
              </a:lnSpc>
            </a:pPr>
            <a:r>
              <a:rPr lang="en-US" sz="2000" dirty="0">
                <a:latin typeface="Times New Roman" pitchFamily="18" charset="0"/>
                <a:cs typeface="Times New Roman" pitchFamily="18" charset="0"/>
              </a:rPr>
              <a:t>A project manager's role is to lead and manage a project from start to finish, ensuring that it's delivered on time, on budget, and within scope: </a:t>
            </a:r>
          </a:p>
          <a:p>
            <a:pPr marL="457200" indent="-457200" algn="just">
              <a:lnSpc>
                <a:spcPct val="150000"/>
              </a:lnSpc>
              <a:buFont typeface="+mj-lt"/>
              <a:buAutoNum type="arabicPeriod"/>
            </a:pPr>
            <a:r>
              <a:rPr lang="en-US" sz="2000" b="1" dirty="0">
                <a:latin typeface="Times New Roman" pitchFamily="18" charset="0"/>
                <a:cs typeface="Times New Roman" pitchFamily="18" charset="0"/>
              </a:rPr>
              <a:t>Planning</a:t>
            </a:r>
            <a:r>
              <a:rPr lang="en-US" sz="2000" dirty="0">
                <a:latin typeface="Times New Roman" pitchFamily="18" charset="0"/>
                <a:cs typeface="Times New Roman" pitchFamily="18" charset="0"/>
              </a:rPr>
              <a:t>: Define goals and roles, plan tasks, and create a budget </a:t>
            </a:r>
          </a:p>
          <a:p>
            <a:pPr marL="457200" indent="-457200" algn="just">
              <a:lnSpc>
                <a:spcPct val="150000"/>
              </a:lnSpc>
              <a:buFont typeface="+mj-lt"/>
              <a:buAutoNum type="arabicPeriod"/>
            </a:pPr>
            <a:r>
              <a:rPr lang="en-US" sz="2000" b="1" dirty="0">
                <a:latin typeface="Times New Roman" pitchFamily="18" charset="0"/>
                <a:cs typeface="Times New Roman" pitchFamily="18" charset="0"/>
              </a:rPr>
              <a:t>Organizing</a:t>
            </a:r>
            <a:r>
              <a:rPr lang="en-US" sz="2000" dirty="0">
                <a:latin typeface="Times New Roman" pitchFamily="18" charset="0"/>
                <a:cs typeface="Times New Roman" pitchFamily="18" charset="0"/>
              </a:rPr>
              <a:t>: Gather resources, delegate work, and build a team </a:t>
            </a:r>
          </a:p>
          <a:p>
            <a:pPr marL="457200" indent="-457200" algn="just">
              <a:lnSpc>
                <a:spcPct val="150000"/>
              </a:lnSpc>
              <a:buFont typeface="+mj-lt"/>
              <a:buAutoNum type="arabicPeriod"/>
            </a:pPr>
            <a:r>
              <a:rPr lang="en-US" sz="2000" b="1" dirty="0">
                <a:latin typeface="Times New Roman" pitchFamily="18" charset="0"/>
                <a:cs typeface="Times New Roman" pitchFamily="18" charset="0"/>
              </a:rPr>
              <a:t>Directing</a:t>
            </a:r>
            <a:r>
              <a:rPr lang="en-US" sz="2000" dirty="0">
                <a:latin typeface="Times New Roman" pitchFamily="18" charset="0"/>
                <a:cs typeface="Times New Roman" pitchFamily="18" charset="0"/>
              </a:rPr>
              <a:t>: Ensure the team is working towards the project's goals, and monitor progress </a:t>
            </a:r>
          </a:p>
          <a:p>
            <a:pPr marL="457200" indent="-457200" algn="just">
              <a:lnSpc>
                <a:spcPct val="150000"/>
              </a:lnSpc>
              <a:buFont typeface="+mj-lt"/>
              <a:buAutoNum type="arabicPeriod"/>
            </a:pPr>
            <a:r>
              <a:rPr lang="en-US" sz="2000" b="1" dirty="0">
                <a:latin typeface="Times New Roman" pitchFamily="18" charset="0"/>
                <a:cs typeface="Times New Roman" pitchFamily="18" charset="0"/>
              </a:rPr>
              <a:t>Controlling</a:t>
            </a:r>
            <a:r>
              <a:rPr lang="en-US" sz="2000" dirty="0">
                <a:latin typeface="Times New Roman" pitchFamily="18" charset="0"/>
                <a:cs typeface="Times New Roman" pitchFamily="18" charset="0"/>
              </a:rPr>
              <a:t>: Manage risks, deal with changes, and ensure the project meets quality standards </a:t>
            </a:r>
          </a:p>
          <a:p>
            <a:pPr marL="457200" indent="-457200" algn="just">
              <a:lnSpc>
                <a:spcPct val="150000"/>
              </a:lnSpc>
              <a:buFont typeface="+mj-lt"/>
              <a:buAutoNum type="arabicPeriod"/>
            </a:pPr>
            <a:r>
              <a:rPr lang="en-US" sz="2000" b="1" dirty="0">
                <a:latin typeface="Times New Roman" pitchFamily="18" charset="0"/>
                <a:cs typeface="Times New Roman" pitchFamily="18" charset="0"/>
              </a:rPr>
              <a:t>Closing</a:t>
            </a:r>
            <a:r>
              <a:rPr lang="en-US" sz="2000" dirty="0">
                <a:latin typeface="Times New Roman" pitchFamily="18" charset="0"/>
                <a:cs typeface="Times New Roman" pitchFamily="18" charset="0"/>
              </a:rPr>
              <a:t>: Deliver the project and ensure it meets the expected outcomes </a:t>
            </a:r>
          </a:p>
          <a:p>
            <a:pPr marL="457200" indent="-457200" algn="just">
              <a:lnSpc>
                <a:spcPct val="150000"/>
              </a:lnSpc>
              <a:buFont typeface="+mj-lt"/>
              <a:buAutoNum type="arabicPeriod"/>
            </a:pPr>
            <a:r>
              <a:rPr lang="en-US" sz="2000" b="1" dirty="0">
                <a:latin typeface="Times New Roman" pitchFamily="18" charset="0"/>
                <a:cs typeface="Times New Roman" pitchFamily="18" charset="0"/>
              </a:rPr>
              <a:t>Communicating</a:t>
            </a:r>
            <a:r>
              <a:rPr lang="en-US" sz="2000" dirty="0">
                <a:latin typeface="Times New Roman" pitchFamily="18" charset="0"/>
                <a:cs typeface="Times New Roman" pitchFamily="18" charset="0"/>
              </a:rPr>
              <a:t>: Interact with stakeholders and communicate project updates </a:t>
            </a:r>
          </a:p>
          <a:p>
            <a:pPr marL="457200" indent="-457200" algn="just">
              <a:lnSpc>
                <a:spcPct val="150000"/>
              </a:lnSpc>
              <a:buFont typeface="+mj-lt"/>
              <a:buAutoNum type="arabicPeriod"/>
            </a:pPr>
            <a:r>
              <a:rPr lang="en-US" sz="2000" b="1" dirty="0">
                <a:latin typeface="Times New Roman" pitchFamily="18" charset="0"/>
                <a:cs typeface="Times New Roman" pitchFamily="18" charset="0"/>
              </a:rPr>
              <a:t>Documenting</a:t>
            </a:r>
            <a:r>
              <a:rPr lang="en-US" sz="2000" dirty="0">
                <a:latin typeface="Times New Roman" pitchFamily="18" charset="0"/>
                <a:cs typeface="Times New Roman" pitchFamily="18" charset="0"/>
              </a:rPr>
              <a:t>: Use project management tools to document the project's process </a:t>
            </a:r>
          </a:p>
          <a:p>
            <a:pPr marL="457200" indent="-457200" algn="just">
              <a:lnSpc>
                <a:spcPct val="150000"/>
              </a:lnSpc>
              <a:buFont typeface="+mj-lt"/>
              <a:buAutoNum type="arabicPeriod"/>
            </a:pPr>
            <a:r>
              <a:rPr lang="en-US" sz="2000" b="1" dirty="0">
                <a:latin typeface="Times New Roman" pitchFamily="18" charset="0"/>
                <a:cs typeface="Times New Roman" pitchFamily="18" charset="0"/>
              </a:rPr>
              <a:t>Budgeting</a:t>
            </a:r>
            <a:r>
              <a:rPr lang="en-US" sz="2000" dirty="0">
                <a:latin typeface="Times New Roman" pitchFamily="18" charset="0"/>
                <a:cs typeface="Times New Roman" pitchFamily="18" charset="0"/>
              </a:rPr>
              <a:t>: Review the budget regularly, and reallocate funds if necessary </a:t>
            </a:r>
          </a:p>
          <a:p>
            <a:pPr marL="457200" indent="-457200" algn="just">
              <a:lnSpc>
                <a:spcPct val="150000"/>
              </a:lnSpc>
              <a:buFont typeface="+mj-lt"/>
              <a:buAutoNum type="arabicPeriod"/>
            </a:pPr>
            <a:r>
              <a:rPr lang="en-US" sz="2000" b="1" dirty="0">
                <a:latin typeface="Times New Roman" pitchFamily="18" charset="0"/>
                <a:cs typeface="Times New Roman" pitchFamily="18" charset="0"/>
              </a:rPr>
              <a:t>Improving</a:t>
            </a:r>
            <a:r>
              <a:rPr lang="en-US" sz="2000" dirty="0">
                <a:latin typeface="Times New Roman" pitchFamily="18" charset="0"/>
                <a:cs typeface="Times New Roman" pitchFamily="18" charset="0"/>
              </a:rPr>
              <a:t>: Continuously look for ways to improve the project.</a:t>
            </a:r>
          </a:p>
        </p:txBody>
      </p:sp>
      <p:sp>
        <p:nvSpPr>
          <p:cNvPr id="25" name="Rectangle 24">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lvl="0" algn="ctr">
              <a:defRPr/>
            </a:pPr>
            <a:r>
              <a:rPr lang="en-US" sz="3600" b="1" dirty="0">
                <a:solidFill>
                  <a:schemeClr val="dk1"/>
                </a:solidFill>
                <a:effectLst>
                  <a:outerShdw blurRad="38100" dist="38100" dir="2700000" algn="tl">
                    <a:srgbClr val="000000">
                      <a:alpha val="43137"/>
                    </a:srgbClr>
                  </a:outerShdw>
                </a:effectLst>
              </a:rPr>
              <a:t>PROJECT LIFE CYCLE </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dirty="0">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dirty="0"/>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dirty="0">
              <a:latin typeface="Times New Roman" panose="02020603050405020304" pitchFamily="18" charset="0"/>
              <a:cs typeface="Times New Roman" panose="02020603050405020304" pitchFamily="18" charset="0"/>
            </a:endParaRPr>
          </a:p>
        </p:txBody>
      </p:sp>
      <p:sp>
        <p:nvSpPr>
          <p:cNvPr id="25" name="Rectangle 24">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graphicFrame>
        <p:nvGraphicFramePr>
          <p:cNvPr id="23" name="Diagram 22"/>
          <p:cNvGraphicFramePr/>
          <p:nvPr/>
        </p:nvGraphicFramePr>
        <p:xfrm>
          <a:off x="2032000" y="914400"/>
          <a:ext cx="8128000" cy="5238001"/>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extLst>
      <p:ext uri="{BB962C8B-B14F-4D97-AF65-F5344CB8AC3E}">
        <p14:creationId xmlns:p14="http://schemas.microsoft.com/office/powerpoint/2010/main" val="15981553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lvl="0" algn="ctr">
              <a:defRPr/>
            </a:pPr>
            <a:r>
              <a:rPr lang="en-US" sz="3600" b="1" dirty="0">
                <a:solidFill>
                  <a:schemeClr val="dk1"/>
                </a:solidFill>
                <a:effectLst>
                  <a:outerShdw blurRad="38100" dist="38100" dir="2700000" algn="tl">
                    <a:srgbClr val="000000">
                      <a:alpha val="43137"/>
                    </a:srgbClr>
                  </a:outerShdw>
                </a:effectLst>
              </a:rPr>
              <a:t>PROJECT LIFE CYCLE </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dirty="0">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dirty="0"/>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dirty="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dirty="0">
              <a:latin typeface="Times New Roman" panose="02020603050405020304" pitchFamily="18" charset="0"/>
              <a:cs typeface="Times New Roman" panose="02020603050405020304" pitchFamily="18" charset="0"/>
            </a:endParaRPr>
          </a:p>
        </p:txBody>
      </p:sp>
      <p:sp>
        <p:nvSpPr>
          <p:cNvPr id="23" name="Rectangle 22"/>
          <p:cNvSpPr/>
          <p:nvPr/>
        </p:nvSpPr>
        <p:spPr>
          <a:xfrm>
            <a:off x="1" y="965555"/>
            <a:ext cx="12192000" cy="4647426"/>
          </a:xfrm>
          <a:prstGeom prst="rect">
            <a:avLst/>
          </a:prstGeom>
        </p:spPr>
        <p:txBody>
          <a:bodyPr wrap="square">
            <a:spAutoFit/>
          </a:bodyPr>
          <a:lstStyle/>
          <a:p>
            <a:pPr algn="ctr"/>
            <a:r>
              <a:rPr lang="en-US" sz="3200" b="1" dirty="0"/>
              <a:t>1. Initiation phase </a:t>
            </a:r>
          </a:p>
          <a:p>
            <a:pPr algn="just"/>
            <a:r>
              <a:rPr lang="en-US" sz="2400" dirty="0">
                <a:latin typeface="Times New Roman" pitchFamily="18" charset="0"/>
                <a:cs typeface="Times New Roman" pitchFamily="18" charset="0"/>
              </a:rPr>
              <a:t>The initiation phase marks the beginning of a project, with the project manager defining the scope and objectives. During this phase, it’s vital to align stakeholders on common goals and lay the foundation for a successful project.</a:t>
            </a:r>
          </a:p>
          <a:p>
            <a:pPr algn="just"/>
            <a:r>
              <a:rPr lang="en-US" sz="2400" dirty="0">
                <a:latin typeface="Times New Roman" pitchFamily="18" charset="0"/>
                <a:cs typeface="Times New Roman" pitchFamily="18" charset="0"/>
              </a:rPr>
              <a:t>Next, the project manager creates a project charter, outlining the purpose, goals, and scope of the project. This charter includes the following key information:</a:t>
            </a:r>
          </a:p>
          <a:p>
            <a:pPr algn="just">
              <a:buFont typeface="Arial" pitchFamily="34" charset="0"/>
              <a:buChar char="•"/>
            </a:pPr>
            <a:r>
              <a:rPr lang="en-US" sz="2400" dirty="0">
                <a:latin typeface="Times New Roman" pitchFamily="18" charset="0"/>
                <a:cs typeface="Times New Roman" pitchFamily="18" charset="0"/>
              </a:rPr>
              <a:t>Project purpose and justification</a:t>
            </a:r>
          </a:p>
          <a:p>
            <a:pPr algn="just">
              <a:buFont typeface="Arial" pitchFamily="34" charset="0"/>
              <a:buChar char="•"/>
            </a:pPr>
            <a:r>
              <a:rPr lang="en-US" sz="2400" dirty="0">
                <a:latin typeface="Times New Roman" pitchFamily="18" charset="0"/>
                <a:cs typeface="Times New Roman" pitchFamily="18" charset="0"/>
              </a:rPr>
              <a:t>Main objectives and deliverables</a:t>
            </a:r>
          </a:p>
          <a:p>
            <a:pPr algn="just">
              <a:buFont typeface="Arial" pitchFamily="34" charset="0"/>
              <a:buChar char="•"/>
            </a:pPr>
            <a:r>
              <a:rPr lang="en-US" sz="2400" dirty="0">
                <a:latin typeface="Times New Roman" pitchFamily="18" charset="0"/>
                <a:cs typeface="Times New Roman" pitchFamily="18" charset="0"/>
              </a:rPr>
              <a:t>Key stakeholders and team members</a:t>
            </a:r>
          </a:p>
          <a:p>
            <a:pPr algn="just">
              <a:buFont typeface="Arial" pitchFamily="34" charset="0"/>
              <a:buChar char="•"/>
            </a:pPr>
            <a:r>
              <a:rPr lang="en-US" sz="2400" dirty="0">
                <a:latin typeface="Times New Roman" pitchFamily="18" charset="0"/>
                <a:cs typeface="Times New Roman" pitchFamily="18" charset="0"/>
              </a:rPr>
              <a:t>Initial schedule and budget estimates</a:t>
            </a:r>
          </a:p>
          <a:p>
            <a:pPr algn="just"/>
            <a:r>
              <a:rPr lang="en-US" sz="2400" dirty="0">
                <a:latin typeface="Times New Roman" pitchFamily="18" charset="0"/>
                <a:cs typeface="Times New Roman" pitchFamily="18" charset="0"/>
              </a:rPr>
              <a:t>The project manager also conducts a feasibility assessment to determine if the project is realistic and worthwhile.</a:t>
            </a:r>
          </a:p>
        </p:txBody>
      </p:sp>
      <p:sp>
        <p:nvSpPr>
          <p:cNvPr id="26" name="Rectangle 25">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lvl="0" algn="ctr">
              <a:defRPr/>
            </a:pPr>
            <a:r>
              <a:rPr lang="en-US" sz="3600" b="1" dirty="0">
                <a:solidFill>
                  <a:schemeClr val="dk1"/>
                </a:solidFill>
                <a:effectLst>
                  <a:outerShdw blurRad="38100" dist="38100" dir="2700000" algn="tl">
                    <a:srgbClr val="000000">
                      <a:alpha val="43137"/>
                    </a:srgbClr>
                  </a:outerShdw>
                </a:effectLst>
              </a:rPr>
              <a:t>PROJECT LIFE CYCLE </a:t>
            </a:r>
            <a:endParaRPr lang="en-US" sz="36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dirty="0">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dirty="0"/>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dirty="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dirty="0">
              <a:latin typeface="Times New Roman" panose="02020603050405020304" pitchFamily="18" charset="0"/>
              <a:cs typeface="Times New Roman" panose="02020603050405020304" pitchFamily="18" charset="0"/>
            </a:endParaRPr>
          </a:p>
        </p:txBody>
      </p:sp>
      <p:sp>
        <p:nvSpPr>
          <p:cNvPr id="23" name="Rectangle 22"/>
          <p:cNvSpPr/>
          <p:nvPr/>
        </p:nvSpPr>
        <p:spPr>
          <a:xfrm>
            <a:off x="0" y="1246909"/>
            <a:ext cx="12191999" cy="5447645"/>
          </a:xfrm>
          <a:prstGeom prst="rect">
            <a:avLst/>
          </a:prstGeom>
        </p:spPr>
        <p:txBody>
          <a:bodyPr wrap="square">
            <a:spAutoFit/>
          </a:bodyPr>
          <a:lstStyle/>
          <a:p>
            <a:pPr algn="ctr"/>
            <a:r>
              <a:rPr lang="en-US" sz="3200" b="1" dirty="0"/>
              <a:t>2. Planning phase </a:t>
            </a:r>
          </a:p>
          <a:p>
            <a:pPr algn="just"/>
            <a:r>
              <a:rPr lang="en-US" sz="2800" dirty="0">
                <a:latin typeface="Times New Roman" pitchFamily="18" charset="0"/>
                <a:cs typeface="Times New Roman" pitchFamily="18" charset="0"/>
              </a:rPr>
              <a:t>During the planning phase, the project manager develops a detailed project plan and roadmap. This involves determining key scheduling details, resource allocation, and risks that could impact the project. The goal is to create a comprehensive map of how the team will execute the work.</a:t>
            </a:r>
          </a:p>
          <a:p>
            <a:pPr algn="ctr"/>
            <a:r>
              <a:rPr lang="en-US" sz="3200" b="1" dirty="0"/>
              <a:t>3. Execution phase </a:t>
            </a:r>
          </a:p>
          <a:p>
            <a:pPr algn="just"/>
            <a:r>
              <a:rPr lang="en-US" sz="2800" dirty="0">
                <a:latin typeface="Times New Roman" pitchFamily="18" charset="0"/>
                <a:cs typeface="Times New Roman" pitchFamily="18" charset="0"/>
              </a:rPr>
              <a:t>During the execution phase, the team puts the project plan into action. The project manager plays a key role in coordinating resources, including people, tools, and materials, while also ensuring the team is well-informed about their individual tasks and timelines.</a:t>
            </a:r>
          </a:p>
          <a:p>
            <a:pPr algn="just"/>
            <a:endParaRPr lang="en-US" sz="2800" dirty="0">
              <a:latin typeface="Times New Roman" pitchFamily="18" charset="0"/>
              <a:cs typeface="Times New Roman" pitchFamily="18" charset="0"/>
            </a:endParaRPr>
          </a:p>
          <a:p>
            <a:pPr algn="just"/>
            <a:endParaRPr lang="en-US" sz="3200" dirty="0"/>
          </a:p>
        </p:txBody>
      </p:sp>
      <p:sp>
        <p:nvSpPr>
          <p:cNvPr id="26" name="Rectangle 25">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lvl="0" algn="ctr">
              <a:defRPr/>
            </a:pPr>
            <a:r>
              <a:rPr lang="en-US" sz="3600" b="1" dirty="0">
                <a:solidFill>
                  <a:schemeClr val="dk1"/>
                </a:solidFill>
                <a:effectLst>
                  <a:outerShdw blurRad="38100" dist="38100" dir="2700000" algn="tl">
                    <a:srgbClr val="000000">
                      <a:alpha val="43137"/>
                    </a:srgbClr>
                  </a:outerShdw>
                </a:effectLst>
              </a:rPr>
              <a:t>PROJECT LIFE CYCLE </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dirty="0">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dirty="0"/>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dirty="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dirty="0">
              <a:latin typeface="Times New Roman" panose="02020603050405020304" pitchFamily="18" charset="0"/>
              <a:cs typeface="Times New Roman" panose="02020603050405020304" pitchFamily="18" charset="0"/>
            </a:endParaRPr>
          </a:p>
        </p:txBody>
      </p:sp>
      <p:sp>
        <p:nvSpPr>
          <p:cNvPr id="23" name="Rectangle 22">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34" name="Rectangle 33"/>
          <p:cNvSpPr/>
          <p:nvPr/>
        </p:nvSpPr>
        <p:spPr>
          <a:xfrm>
            <a:off x="323557" y="1097281"/>
            <a:ext cx="11633981" cy="5262979"/>
          </a:xfrm>
          <a:prstGeom prst="rect">
            <a:avLst/>
          </a:prstGeom>
        </p:spPr>
        <p:txBody>
          <a:bodyPr wrap="square">
            <a:spAutoFit/>
          </a:bodyPr>
          <a:lstStyle/>
          <a:p>
            <a:pPr algn="ctr"/>
            <a:r>
              <a:rPr lang="en-US" sz="2400" b="1" dirty="0"/>
              <a:t>4. Monitoring and controlling phase </a:t>
            </a:r>
          </a:p>
          <a:p>
            <a:pPr algn="just"/>
            <a:r>
              <a:rPr lang="en-US" sz="2400" dirty="0"/>
              <a:t>The monitoring and controlling phase involves regularly checking project progress and team performance to ensure everything adheres to the project plan.</a:t>
            </a:r>
          </a:p>
          <a:p>
            <a:pPr algn="just"/>
            <a:r>
              <a:rPr lang="en-US" sz="2400" dirty="0"/>
              <a:t>During this phase, the project manager identifies any deviations from the plan and budget, determining the cause to take corrective action. Tools such as status reports, time tracking, budget reports, risk management plans, and stakeholder reviews make it easy to see the most important metrics and milestones. To make changes to the plan, team members should submit a change request for approval. </a:t>
            </a:r>
          </a:p>
          <a:p>
            <a:pPr algn="ctr"/>
            <a:r>
              <a:rPr lang="en-US" sz="2400" b="1" dirty="0"/>
              <a:t>5. Closing phase </a:t>
            </a:r>
          </a:p>
          <a:p>
            <a:pPr algn="just"/>
            <a:r>
              <a:rPr lang="en-US" sz="2400" dirty="0"/>
              <a:t>The closing phase marks the formal end of a project. During this phase, the focus is on getting final approvals and sign-offs, conducting a post-project review, identifying what went well, determining areas for improvement, and documenting lessons learned. These activities foster a culture of continuous learning and promote accountability and transparency.</a:t>
            </a:r>
          </a:p>
          <a:p>
            <a:pPr algn="just"/>
            <a:endParaRPr lang="en-US" sz="2400" dirty="0"/>
          </a:p>
        </p:txBody>
      </p:sp>
    </p:spTree>
    <p:extLst>
      <p:ext uri="{BB962C8B-B14F-4D97-AF65-F5344CB8AC3E}">
        <p14:creationId xmlns:p14="http://schemas.microsoft.com/office/powerpoint/2010/main" val="15981553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Autofit/>
          </a:bodyPr>
          <a:lstStyle/>
          <a:p>
            <a:pPr lvl="0" algn="ctr">
              <a:defRPr/>
            </a:pPr>
            <a:r>
              <a:rPr lang="en-US" sz="3200" b="1" dirty="0">
                <a:solidFill>
                  <a:schemeClr val="dk1"/>
                </a:solidFill>
                <a:effectLst>
                  <a:outerShdw blurRad="38100" dist="38100" dir="2700000" algn="tl">
                    <a:srgbClr val="000000">
                      <a:alpha val="43137"/>
                    </a:srgbClr>
                  </a:outerShdw>
                </a:effectLst>
              </a:rPr>
              <a:t>PROJECT APPRAISAL</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dirty="0">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0" y="1158419"/>
            <a:ext cx="12192000" cy="4708981"/>
          </a:xfrm>
          <a:prstGeom prst="rect">
            <a:avLst/>
          </a:prstGeom>
        </p:spPr>
        <p:txBody>
          <a:bodyPr wrap="square">
            <a:spAutoFit/>
          </a:bodyPr>
          <a:lstStyle/>
          <a:p>
            <a:pPr algn="just">
              <a:buFont typeface="Wingdings" pitchFamily="2" charset="2"/>
              <a:buChar char="q"/>
            </a:pPr>
            <a:r>
              <a:rPr lang="en-US" sz="2500" dirty="0">
                <a:latin typeface="Times New Roman" pitchFamily="18" charset="0"/>
                <a:cs typeface="Times New Roman" pitchFamily="18" charset="0"/>
              </a:rPr>
              <a:t>Project appraisal means the assessment of a project. Project appraisal is made for both proposed and executed projects. </a:t>
            </a:r>
          </a:p>
          <a:p>
            <a:pPr algn="just"/>
            <a:endParaRPr lang="en-US" sz="2500" dirty="0">
              <a:latin typeface="Times New Roman" pitchFamily="18" charset="0"/>
              <a:cs typeface="Times New Roman" pitchFamily="18" charset="0"/>
            </a:endParaRPr>
          </a:p>
          <a:p>
            <a:pPr algn="just">
              <a:buFont typeface="Wingdings" pitchFamily="2" charset="2"/>
              <a:buChar char="q"/>
            </a:pPr>
            <a:r>
              <a:rPr lang="en-US" sz="2500" dirty="0">
                <a:latin typeface="Times New Roman" pitchFamily="18" charset="0"/>
                <a:cs typeface="Times New Roman" pitchFamily="18" charset="0"/>
              </a:rPr>
              <a:t>Project appraisal is a cost and benefits analysis of different aspects of proposed project with an objective to adjudge its viability. A project involves employment of scarce resources. An entrepreneur needs to appraise various alternative projects before allocating the scarce resources for the best project. Thus project appraisal helps select the best project among available alternative projects. For appraising a projects its economic, financial, technical market, managerial and social aspect are </a:t>
            </a:r>
            <a:r>
              <a:rPr lang="en-US" sz="2500" dirty="0" err="1">
                <a:latin typeface="Times New Roman" pitchFamily="18" charset="0"/>
                <a:cs typeface="Times New Roman" pitchFamily="18" charset="0"/>
              </a:rPr>
              <a:t>analysed</a:t>
            </a:r>
            <a:r>
              <a:rPr lang="en-US" sz="2500" dirty="0">
                <a:latin typeface="Times New Roman" pitchFamily="18" charset="0"/>
                <a:cs typeface="Times New Roman" pitchFamily="18" charset="0"/>
              </a:rPr>
              <a:t>. </a:t>
            </a:r>
          </a:p>
          <a:p>
            <a:pPr algn="just"/>
            <a:endParaRPr lang="en-US" sz="2500" dirty="0">
              <a:latin typeface="Times New Roman" pitchFamily="18" charset="0"/>
              <a:cs typeface="Times New Roman" pitchFamily="18" charset="0"/>
            </a:endParaRPr>
          </a:p>
          <a:p>
            <a:pPr algn="just">
              <a:buFont typeface="Wingdings" pitchFamily="2" charset="2"/>
              <a:buChar char="q"/>
            </a:pPr>
            <a:r>
              <a:rPr lang="en-US" sz="2500" dirty="0">
                <a:latin typeface="Times New Roman" pitchFamily="18" charset="0"/>
                <a:cs typeface="Times New Roman" pitchFamily="18" charset="0"/>
              </a:rPr>
              <a:t>Financial institutions carry out project appraisal to assess its creditworthiness before extending finance to a project.</a:t>
            </a:r>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dirty="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dirty="0">
              <a:latin typeface="Times New Roman" panose="02020603050405020304" pitchFamily="18" charset="0"/>
              <a:cs typeface="Times New Roman" panose="02020603050405020304" pitchFamily="18" charset="0"/>
            </a:endParaRPr>
          </a:p>
        </p:txBody>
      </p:sp>
      <p:sp>
        <p:nvSpPr>
          <p:cNvPr id="23" name="Rectangle 22">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lvl="0" algn="ctr">
              <a:defRPr/>
            </a:pPr>
            <a:r>
              <a:rPr lang="en-US" sz="2800" b="1" dirty="0">
                <a:effectLst>
                  <a:outerShdw blurRad="38100" dist="38100" dir="2700000" algn="tl">
                    <a:srgbClr val="000000">
                      <a:alpha val="43137"/>
                    </a:srgbClr>
                  </a:outerShdw>
                </a:effectLst>
              </a:rPr>
              <a:t>Preparation of a real time project feasibility report</a:t>
            </a:r>
            <a:endParaRPr lang="en-US" sz="2800" b="1" dirty="0">
              <a:solidFill>
                <a:schemeClr val="dk1"/>
              </a:solidFill>
              <a:effectLst>
                <a:outerShdw blurRad="38100" dist="38100" dir="2700000" algn="tl">
                  <a:srgbClr val="000000">
                    <a:alpha val="43137"/>
                  </a:srgbClr>
                </a:outerShdw>
              </a:effectLst>
            </a:endParaRP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dirty="0">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dirty="0"/>
          </a:p>
        </p:txBody>
      </p:sp>
      <p:sp>
        <p:nvSpPr>
          <p:cNvPr id="21" name="Rectangle 20"/>
          <p:cNvSpPr/>
          <p:nvPr/>
        </p:nvSpPr>
        <p:spPr>
          <a:xfrm>
            <a:off x="593766" y="2082018"/>
            <a:ext cx="11067803" cy="410882"/>
          </a:xfrm>
          <a:prstGeom prst="rect">
            <a:avLst/>
          </a:prstGeom>
        </p:spPr>
        <p:txBody>
          <a:bodyPr wrap="square">
            <a:spAutoFit/>
          </a:bodyPr>
          <a:lstStyle/>
          <a:p>
            <a:pPr algn="just">
              <a:lnSpc>
                <a:spcPct val="115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dirty="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dirty="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61665"/>
          </a:xfrm>
          <a:prstGeom prst="rect">
            <a:avLst/>
          </a:prstGeom>
        </p:spPr>
        <p:txBody>
          <a:bodyPr wrap="square">
            <a:spAutoFit/>
          </a:bodyPr>
          <a:lstStyle/>
          <a:p>
            <a:pPr marL="342900" indent="-342900"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
        <p:nvSpPr>
          <p:cNvPr id="27" name="Rectangle 26">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45058" name="AutoShape 2" descr="file:///C:/Users/dell/Downloads/Steps-to-conduct-Feasiblity-study-696x392.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5060" name="AutoShape 4" descr="file:///C:/Users/dell/Downloads/Steps-to-conduct-Feasiblity-study-696x392.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5062" name="AutoShape 6" descr="file:///C:/Users/dell/Downloads/Steps-to-conduct-Feasiblity-study-696x392.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34" name="Diagram 33"/>
          <p:cNvGraphicFramePr/>
          <p:nvPr/>
        </p:nvGraphicFramePr>
        <p:xfrm>
          <a:off x="2032000" y="970671"/>
          <a:ext cx="8128000" cy="5167662"/>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extLst>
      <p:ext uri="{BB962C8B-B14F-4D97-AF65-F5344CB8AC3E}">
        <p14:creationId xmlns:p14="http://schemas.microsoft.com/office/powerpoint/2010/main" val="15981553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dirty="0">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dirty="0"/>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22" name="Rectangle 21"/>
          <p:cNvSpPr/>
          <p:nvPr/>
        </p:nvSpPr>
        <p:spPr>
          <a:xfrm>
            <a:off x="0" y="1224202"/>
            <a:ext cx="10580914" cy="498663"/>
          </a:xfrm>
          <a:prstGeom prst="rect">
            <a:avLst/>
          </a:prstGeom>
        </p:spPr>
        <p:txBody>
          <a:bodyPr wrap="square">
            <a:spAutoFit/>
          </a:bodyPr>
          <a:lstStyle/>
          <a:p>
            <a:pPr algn="just">
              <a:lnSpc>
                <a:spcPct val="150000"/>
              </a:lnSpc>
            </a:pPr>
            <a:endParaRPr lang="en-US" altLang="en-US" sz="2000" dirty="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dirty="0">
              <a:latin typeface="Times New Roman" panose="02020603050405020304" pitchFamily="18" charset="0"/>
              <a:cs typeface="Times New Roman" panose="02020603050405020304" pitchFamily="18" charset="0"/>
            </a:endParaRPr>
          </a:p>
        </p:txBody>
      </p:sp>
      <p:sp>
        <p:nvSpPr>
          <p:cNvPr id="27" name="Rectangle 26">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34" name="Rectangle 33"/>
          <p:cNvSpPr/>
          <p:nvPr/>
        </p:nvSpPr>
        <p:spPr>
          <a:xfrm>
            <a:off x="168812" y="1103037"/>
            <a:ext cx="11380765" cy="4339650"/>
          </a:xfrm>
          <a:prstGeom prst="rect">
            <a:avLst/>
          </a:prstGeom>
        </p:spPr>
        <p:txBody>
          <a:bodyPr wrap="square">
            <a:spAutoFit/>
          </a:bodyPr>
          <a:lstStyle/>
          <a:p>
            <a:pPr algn="just"/>
            <a:r>
              <a:rPr lang="en-US" sz="2300" dirty="0">
                <a:latin typeface="Times New Roman" pitchFamily="18" charset="0"/>
                <a:cs typeface="Times New Roman" pitchFamily="18" charset="0"/>
              </a:rPr>
              <a:t>Conducting a feasibility study is crucial for assessing the viability of a project or business opportunity. By analyzing financial projections, market demand, and operational requirements, organizations can make informed decisions about whether to proceed. </a:t>
            </a:r>
          </a:p>
          <a:p>
            <a:pPr algn="just"/>
            <a:r>
              <a:rPr lang="en-US" sz="2300" dirty="0">
                <a:latin typeface="Times New Roman" pitchFamily="18" charset="0"/>
                <a:cs typeface="Times New Roman" pitchFamily="18" charset="0"/>
              </a:rPr>
              <a:t>This section explores the essential steps in conducting a feasibility study, assisting in effective decision-making and project success.</a:t>
            </a:r>
          </a:p>
          <a:p>
            <a:pPr marL="457200" indent="-457200" algn="just">
              <a:buFont typeface="+mj-lt"/>
              <a:buAutoNum type="arabicPeriod"/>
            </a:pPr>
            <a:r>
              <a:rPr lang="en-US" sz="2300" b="1" dirty="0">
                <a:latin typeface="Times New Roman" pitchFamily="18" charset="0"/>
                <a:cs typeface="Times New Roman" pitchFamily="18" charset="0"/>
              </a:rPr>
              <a:t>Preliminary Study and Definition</a:t>
            </a:r>
            <a:r>
              <a:rPr lang="en-US" sz="2300" dirty="0">
                <a:latin typeface="Times New Roman" pitchFamily="18" charset="0"/>
                <a:cs typeface="Times New Roman" pitchFamily="18" charset="0"/>
              </a:rPr>
              <a:t>: Begin by conducting a preliminary study of the business case to define the scope of the feasibility study. Identify the key components to examine and establish realistic objectives. This step sets the foundation for the entire study.</a:t>
            </a:r>
          </a:p>
          <a:p>
            <a:pPr marL="457200" indent="-457200" algn="just">
              <a:buFont typeface="+mj-lt"/>
              <a:buAutoNum type="arabicPeriod"/>
            </a:pPr>
            <a:r>
              <a:rPr lang="en-US" sz="2300" b="1" dirty="0">
                <a:latin typeface="Times New Roman" pitchFamily="18" charset="0"/>
                <a:cs typeface="Times New Roman" pitchFamily="18" charset="0"/>
              </a:rPr>
              <a:t>Forecast Income Statement</a:t>
            </a:r>
            <a:r>
              <a:rPr lang="en-US" sz="2300" dirty="0">
                <a:latin typeface="Times New Roman" pitchFamily="18" charset="0"/>
                <a:cs typeface="Times New Roman" pitchFamily="18" charset="0"/>
              </a:rPr>
              <a:t>: Generate a forecasted income statement to understand the project’s potential revenue sources and profitability. Analyze how the project will generate income and assess the feasibility of achieving financial goals. Additionally, conduct a market study to evaluate demand and market potential for the product or service.</a:t>
            </a:r>
          </a:p>
        </p:txBody>
      </p:sp>
      <p:sp>
        <p:nvSpPr>
          <p:cNvPr id="36" name="Title 3">
            <a:extLst>
              <a:ext uri="{FF2B5EF4-FFF2-40B4-BE49-F238E27FC236}">
                <a16:creationId xmlns:a16="http://schemas.microsoft.com/office/drawing/2014/main" id="{F649CB8A-95E4-810A-C123-2F2CA6EBA869}"/>
              </a:ext>
            </a:extLst>
          </p:cNvPr>
          <p:cNvSpPr txBox="1">
            <a:spLocks/>
          </p:cNvSpPr>
          <p:nvPr/>
        </p:nvSpPr>
        <p:spPr>
          <a:xfrm>
            <a:off x="2422566" y="33338"/>
            <a:ext cx="9191502" cy="838200"/>
          </a:xfrm>
          <a:prstGeom prst="rect">
            <a:avLst/>
          </a:prstGeom>
        </p:spPr>
        <p:txBody>
          <a:bodyPr vert="horz" lIns="91440" tIns="45720" rIns="91440" bIns="45720" rtlCol="0" anchor="ctr">
            <a:normAutofit fontScale="92500"/>
          </a:bodyPr>
          <a:lstStyle/>
          <a:p>
            <a:pPr lvl="0" algn="ctr">
              <a:lnSpc>
                <a:spcPct val="90000"/>
              </a:lnSpc>
              <a:spcBef>
                <a:spcPct val="0"/>
              </a:spcBef>
              <a:defRPr/>
            </a:pPr>
            <a:r>
              <a:rPr lang="en-US" sz="3600" b="1" dirty="0">
                <a:effectLst>
                  <a:outerShdw blurRad="38100" dist="38100" dir="2700000" algn="tl">
                    <a:srgbClr val="000000">
                      <a:alpha val="43137"/>
                    </a:srgbClr>
                  </a:outerShdw>
                </a:effectLst>
              </a:rPr>
              <a:t>Preparation of a real time project feasibility report</a:t>
            </a:r>
            <a:endParaRPr kumimoji="0" lang="en-US" sz="3600" b="1" i="0" u="none" strike="noStrike" kern="1200" cap="none" spc="0" normalizeH="0" baseline="0" noProof="0" dirty="0">
              <a:ln>
                <a:noFill/>
              </a:ln>
              <a:solidFill>
                <a:schemeClr val="dk1"/>
              </a:solidFill>
              <a:effectLst>
                <a:outerShdw blurRad="38100" dist="38100" dir="2700000" algn="tl">
                  <a:srgbClr val="000000">
                    <a:alpha val="43137"/>
                  </a:srgbClr>
                </a:outerShdw>
              </a:effectLst>
              <a:uLnTx/>
              <a:uFillTx/>
              <a:latin typeface="+mj-lt"/>
              <a:ea typeface="+mj-ea"/>
              <a:cs typeface="+mj-cs"/>
            </a:endParaRPr>
          </a:p>
        </p:txBody>
      </p:sp>
    </p:spTree>
    <p:extLst>
      <p:ext uri="{BB962C8B-B14F-4D97-AF65-F5344CB8AC3E}">
        <p14:creationId xmlns:p14="http://schemas.microsoft.com/office/powerpoint/2010/main" val="15981553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563108" cy="838200"/>
          </a:xfrm>
        </p:spPr>
        <p:txBody>
          <a:bodyPr>
            <a:normAutofit/>
          </a:bodyPr>
          <a:lstStyle/>
          <a:p>
            <a:pPr algn="ctr"/>
            <a:r>
              <a:rPr lang="en-US" sz="2800" b="1" dirty="0">
                <a:effectLst>
                  <a:outerShdw blurRad="38100" dist="38100" dir="2700000" algn="tl">
                    <a:srgbClr val="000000">
                      <a:alpha val="43137"/>
                    </a:srgbClr>
                  </a:outerShdw>
                </a:effectLst>
              </a:rPr>
              <a:t>Preparation of a real time project feasibility report</a:t>
            </a:r>
            <a:endParaRPr lang="en-IN" sz="2800" b="1" dirty="0">
              <a:solidFill>
                <a:srgbClr val="CC3300"/>
              </a:solidFill>
              <a:latin typeface="Times New Roman" pitchFamily="18" charset="0"/>
              <a:cs typeface="Times New Roman" pitchFamily="18" charset="0"/>
            </a:endParaRP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dirty="0">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dirty="0"/>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dirty="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dirty="0">
              <a:latin typeface="Times New Roman" panose="02020603050405020304" pitchFamily="18" charset="0"/>
              <a:cs typeface="Times New Roman" panose="02020603050405020304" pitchFamily="18" charset="0"/>
            </a:endParaRPr>
          </a:p>
        </p:txBody>
      </p:sp>
      <p:sp>
        <p:nvSpPr>
          <p:cNvPr id="23" name="Rectangle 22"/>
          <p:cNvSpPr/>
          <p:nvPr/>
        </p:nvSpPr>
        <p:spPr>
          <a:xfrm>
            <a:off x="281354" y="1055077"/>
            <a:ext cx="11619913" cy="4893647"/>
          </a:xfrm>
          <a:prstGeom prst="rect">
            <a:avLst/>
          </a:prstGeom>
        </p:spPr>
        <p:txBody>
          <a:bodyPr wrap="square">
            <a:spAutoFit/>
          </a:bodyPr>
          <a:lstStyle/>
          <a:p>
            <a:pPr marL="342900" indent="-342900" algn="just"/>
            <a:r>
              <a:rPr lang="en-US" sz="2400" b="1" dirty="0"/>
              <a:t>3. Plan Company Structure and Operations</a:t>
            </a:r>
            <a:r>
              <a:rPr lang="en-US" sz="2400" dirty="0"/>
              <a:t>: Develop a plan for the company’s structure and operations. Determine the organizational structure needed for the project and assess resource requirements. Identify any specific personnel needs and outline operational processes to ensure efficient functioning. </a:t>
            </a:r>
          </a:p>
          <a:p>
            <a:pPr marL="342900" indent="-342900" algn="just"/>
            <a:r>
              <a:rPr lang="en-US" sz="2400" b="1" dirty="0"/>
              <a:t>4. Generate Balance Sheet</a:t>
            </a:r>
            <a:r>
              <a:rPr lang="en-US" sz="2400" dirty="0"/>
              <a:t>: Prepare a balance sheet to outline the projected income and expenses associated with the project. Evaluate the financial health of the project and assess the ability to achieve return on investment (ROI). This step provides insights into the project’s financial sustainability. </a:t>
            </a:r>
          </a:p>
          <a:p>
            <a:pPr marL="342900" indent="-342900" algn="just"/>
            <a:r>
              <a:rPr lang="en-US" sz="2400" dirty="0"/>
              <a:t>5. </a:t>
            </a:r>
            <a:r>
              <a:rPr lang="en-US" sz="2400" b="1" dirty="0"/>
              <a:t>Data Examination and Final Decision</a:t>
            </a:r>
            <a:r>
              <a:rPr lang="en-US" sz="2400" dirty="0"/>
              <a:t>: Review and analyze all collected data before deciding whether to proceed with the project. Consider factors such as market demand, financial feasibility, operational capabilities, and risk assessment. Based on the findings, determine whether the project aligns with organizational goals and if it presents a viable business opportunity.</a:t>
            </a:r>
            <a:endParaRPr lang="en-IN" sz="2400" dirty="0">
              <a:latin typeface="Times New Roman" panose="02020603050405020304" pitchFamily="18" charset="0"/>
              <a:cs typeface="Times New Roman" panose="02020603050405020304" pitchFamily="18" charset="0"/>
            </a:endParaRPr>
          </a:p>
        </p:txBody>
      </p:sp>
      <p:sp>
        <p:nvSpPr>
          <p:cNvPr id="27" name="Rectangle 26">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08498" y="230286"/>
            <a:ext cx="9191502" cy="838200"/>
          </a:xfrm>
        </p:spPr>
        <p:txBody>
          <a:bodyPr>
            <a:normAutofit fontScale="90000"/>
          </a:bodyPr>
          <a:lstStyle/>
          <a:p>
            <a:pPr algn="ctr">
              <a:defRPr/>
            </a:pPr>
            <a:r>
              <a:rPr lang="en-US" sz="3600" b="1" dirty="0"/>
              <a:t>An Example of Feasibility Study</a:t>
            </a:r>
            <a:br>
              <a:rPr lang="en-US" sz="3600" b="1" dirty="0"/>
            </a:br>
            <a:endParaRPr lang="en-US" sz="3600" b="1" dirty="0">
              <a:effectLst>
                <a:outerShdw blurRad="38100" dist="38100" dir="2700000" algn="tl">
                  <a:srgbClr val="000000">
                    <a:alpha val="43137"/>
                  </a:srgbClr>
                </a:outerShdw>
              </a:effectLst>
            </a:endParaRP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dirty="0"/>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dirty="0">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dirty="0"/>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dirty="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dirty="0">
              <a:latin typeface="Times New Roman" panose="02020603050405020304" pitchFamily="18" charset="0"/>
              <a:cs typeface="Times New Roman" panose="02020603050405020304" pitchFamily="18" charset="0"/>
            </a:endParaRPr>
          </a:p>
        </p:txBody>
      </p:sp>
      <p:sp>
        <p:nvSpPr>
          <p:cNvPr id="27" name="Rectangle 26">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25" name="Rectangle 24"/>
          <p:cNvSpPr/>
          <p:nvPr/>
        </p:nvSpPr>
        <p:spPr>
          <a:xfrm>
            <a:off x="0" y="1266090"/>
            <a:ext cx="12192000" cy="4693593"/>
          </a:xfrm>
          <a:prstGeom prst="rect">
            <a:avLst/>
          </a:prstGeom>
        </p:spPr>
        <p:txBody>
          <a:bodyPr wrap="square">
            <a:spAutoFit/>
          </a:bodyPr>
          <a:lstStyle/>
          <a:p>
            <a:pPr algn="just"/>
            <a:r>
              <a:rPr lang="en-US" sz="2300" dirty="0">
                <a:latin typeface="Times New Roman" pitchFamily="18" charset="0"/>
                <a:cs typeface="Times New Roman" pitchFamily="18" charset="0"/>
              </a:rPr>
              <a:t>Conducting a feasibility study is imperative in manufacturing before embarking on projects like electric vehicle (EV) production. Manufacturers can ensure informed decisions and successful ventures by assessing market demand, financial viability, and technical feasibility. </a:t>
            </a:r>
          </a:p>
          <a:p>
            <a:pPr algn="just"/>
            <a:r>
              <a:rPr lang="en-US" sz="2300" dirty="0">
                <a:latin typeface="Times New Roman" pitchFamily="18" charset="0"/>
                <a:cs typeface="Times New Roman" pitchFamily="18" charset="0"/>
              </a:rPr>
              <a:t>This comprehensive approach guarantees alignment with market dynamics and technological requirements, fostering competitiveness and sustainable growth in the manufacturing sector.</a:t>
            </a:r>
          </a:p>
          <a:p>
            <a:pPr marL="457200" indent="-457200" algn="just">
              <a:buFont typeface="+mj-lt"/>
              <a:buAutoNum type="arabicPeriod"/>
            </a:pPr>
            <a:r>
              <a:rPr lang="en-US" sz="2300" b="1" dirty="0">
                <a:latin typeface="Times New Roman" pitchFamily="18" charset="0"/>
                <a:cs typeface="Times New Roman" pitchFamily="18" charset="0"/>
              </a:rPr>
              <a:t>Manufacturing Aspect:</a:t>
            </a:r>
            <a:r>
              <a:rPr lang="en-US" sz="2300" dirty="0">
                <a:latin typeface="Times New Roman" pitchFamily="18" charset="0"/>
                <a:cs typeface="Times New Roman" pitchFamily="18" charset="0"/>
              </a:rPr>
              <a:t> Let’s consider the production of electric vehicles (EVs) as an example within the manufacturing sector. Before starting the manufacturing process, a comprehensive feasibility study is essential to assess various aspects of the endeavor.</a:t>
            </a:r>
          </a:p>
          <a:p>
            <a:pPr marL="457200" indent="-457200" algn="just">
              <a:buFont typeface="+mj-lt"/>
              <a:buAutoNum type="arabicPeriod"/>
            </a:pPr>
            <a:r>
              <a:rPr lang="en-US" sz="2300" b="1" dirty="0">
                <a:latin typeface="Times New Roman" pitchFamily="18" charset="0"/>
                <a:cs typeface="Times New Roman" pitchFamily="18" charset="0"/>
              </a:rPr>
              <a:t>Financial Aspect:</a:t>
            </a:r>
            <a:r>
              <a:rPr lang="en-US" sz="2300" dirty="0">
                <a:latin typeface="Times New Roman" pitchFamily="18" charset="0"/>
                <a:cs typeface="Times New Roman" pitchFamily="18" charset="0"/>
              </a:rPr>
              <a:t> Assessing the financial viability of manufacturing EVs involves analyzing the estimated costs of production, including labor, materials, components, and overhead expenses. Additionally, projected revenue from EV sales must be compared against production costs to determine if the venture is financially possible and can generate a sustainable return on investment.</a:t>
            </a:r>
            <a:endParaRPr lang="en-US" sz="2300" b="0" dirty="0">
              <a:latin typeface="Times New Roman" pitchFamily="18" charset="0"/>
              <a:cs typeface="Times New Roman" pitchFamily="18" charset="0"/>
            </a:endParaRPr>
          </a:p>
        </p:txBody>
      </p:sp>
    </p:spTree>
    <p:extLst>
      <p:ext uri="{BB962C8B-B14F-4D97-AF65-F5344CB8AC3E}">
        <p14:creationId xmlns:p14="http://schemas.microsoft.com/office/powerpoint/2010/main" val="15981553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09488"/>
            <a:ext cx="9191502" cy="562049"/>
          </a:xfrm>
        </p:spPr>
        <p:txBody>
          <a:bodyPr>
            <a:normAutofit fontScale="90000"/>
          </a:bodyPr>
          <a:lstStyle/>
          <a:p>
            <a:pPr algn="ctr"/>
            <a:r>
              <a:rPr lang="en-US" sz="3600" b="1" dirty="0"/>
              <a:t>An Example of Feasibility Study</a:t>
            </a:r>
            <a:br>
              <a:rPr lang="en-US" sz="3600" b="1" dirty="0"/>
            </a:br>
            <a:endParaRPr lang="en-IN" sz="3600" b="1" dirty="0">
              <a:solidFill>
                <a:srgbClr val="CC3300"/>
              </a:solidFill>
              <a:latin typeface="Times New Roman" pitchFamily="18" charset="0"/>
              <a:cs typeface="Times New Roman" pitchFamily="18" charset="0"/>
            </a:endParaRP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dirty="0">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dirty="0"/>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dirty="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dirty="0">
              <a:latin typeface="Times New Roman" panose="02020603050405020304" pitchFamily="18" charset="0"/>
              <a:cs typeface="Times New Roman" panose="02020603050405020304" pitchFamily="18" charset="0"/>
            </a:endParaRPr>
          </a:p>
        </p:txBody>
      </p:sp>
      <p:sp>
        <p:nvSpPr>
          <p:cNvPr id="27" name="Rectangle 26">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
        <p:nvSpPr>
          <p:cNvPr id="25" name="Rectangle 24"/>
          <p:cNvSpPr/>
          <p:nvPr/>
        </p:nvSpPr>
        <p:spPr>
          <a:xfrm>
            <a:off x="168813" y="1280160"/>
            <a:ext cx="11746522" cy="4832092"/>
          </a:xfrm>
          <a:prstGeom prst="rect">
            <a:avLst/>
          </a:prstGeom>
        </p:spPr>
        <p:txBody>
          <a:bodyPr wrap="square">
            <a:spAutoFit/>
          </a:bodyPr>
          <a:lstStyle/>
          <a:p>
            <a:pPr algn="just"/>
            <a:r>
              <a:rPr lang="en-US" sz="2800" b="1" dirty="0">
                <a:latin typeface="Times New Roman" pitchFamily="18" charset="0"/>
                <a:cs typeface="Times New Roman" pitchFamily="18" charset="0"/>
              </a:rPr>
              <a:t>3. Market Aspect:</a:t>
            </a:r>
            <a:r>
              <a:rPr lang="en-US" sz="2800" dirty="0">
                <a:latin typeface="Times New Roman" pitchFamily="18" charset="0"/>
                <a:cs typeface="Times New Roman" pitchFamily="18" charset="0"/>
              </a:rPr>
              <a:t> Conducting a market feasibility study involves identifying target demographics for EVs and analyzing consumer preferences and purchasing behaviors. Market research helps estimate potential market demand, determine pricing strategies, and identify market trends and growth opportunities.</a:t>
            </a:r>
          </a:p>
          <a:p>
            <a:pPr algn="just"/>
            <a:r>
              <a:rPr lang="en-US" sz="2800" b="1" dirty="0">
                <a:latin typeface="Times New Roman" pitchFamily="18" charset="0"/>
                <a:cs typeface="Times New Roman" pitchFamily="18" charset="0"/>
              </a:rPr>
              <a:t>4. Technical Aspect:</a:t>
            </a:r>
            <a:r>
              <a:rPr lang="en-US" sz="2800" dirty="0">
                <a:latin typeface="Times New Roman" pitchFamily="18" charset="0"/>
                <a:cs typeface="Times New Roman" pitchFamily="18" charset="0"/>
              </a:rPr>
              <a:t> Evaluating the technical feasibility of manufacturing EVs entails analyzing production processes, resource requirements, and technological capabilities. This includes assessing manufacturing facilities, equipment needs, supply chain logistics, and compliance with regulatory standards. Technical feasibility studies ensure that the manufacturing process is optimized for efficiency, quality, and scalability.</a:t>
            </a:r>
          </a:p>
        </p:txBody>
      </p:sp>
    </p:spTree>
    <p:extLst>
      <p:ext uri="{BB962C8B-B14F-4D97-AF65-F5344CB8AC3E}">
        <p14:creationId xmlns:p14="http://schemas.microsoft.com/office/powerpoint/2010/main" val="15981553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lvl="0" algn="ctr">
              <a:defRPr/>
            </a:pPr>
            <a:r>
              <a:rPr lang="en-US" sz="3600" b="1" dirty="0">
                <a:effectLst>
                  <a:outerShdw blurRad="38100" dist="38100" dir="2700000" algn="tl">
                    <a:srgbClr val="000000">
                      <a:alpha val="43137"/>
                    </a:srgbClr>
                  </a:outerShdw>
                </a:effectLst>
              </a:rPr>
              <a:t>TECHNICAL APPRAISAL</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dirty="0">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dirty="0"/>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dirty="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dirty="0">
              <a:latin typeface="Times New Roman" panose="02020603050405020304" pitchFamily="18" charset="0"/>
              <a:cs typeface="Times New Roman" panose="02020603050405020304" pitchFamily="18" charset="0"/>
            </a:endParaRPr>
          </a:p>
        </p:txBody>
      </p:sp>
      <p:sp>
        <p:nvSpPr>
          <p:cNvPr id="23" name="Rectangle 22"/>
          <p:cNvSpPr/>
          <p:nvPr/>
        </p:nvSpPr>
        <p:spPr>
          <a:xfrm>
            <a:off x="323557" y="1246909"/>
            <a:ext cx="11535508" cy="4401205"/>
          </a:xfrm>
          <a:prstGeom prst="rect">
            <a:avLst/>
          </a:prstGeom>
        </p:spPr>
        <p:txBody>
          <a:bodyPr wrap="square">
            <a:spAutoFit/>
          </a:bodyPr>
          <a:lstStyle/>
          <a:p>
            <a:pPr algn="just"/>
            <a:r>
              <a:rPr lang="en-US" sz="2800" dirty="0">
                <a:latin typeface="Times New Roman" pitchFamily="18" charset="0"/>
                <a:cs typeface="Times New Roman" pitchFamily="18" charset="0"/>
              </a:rPr>
              <a:t>1. Technical Appraisal is the technical review to ascertain that the project is sound with respect to various parameters such as technology, plant capacity, raw material availability, location, manpower availability, etc</a:t>
            </a:r>
          </a:p>
          <a:p>
            <a:pPr algn="just"/>
            <a:r>
              <a:rPr lang="en-US" sz="2800" dirty="0">
                <a:latin typeface="Times New Roman" pitchFamily="18" charset="0"/>
                <a:cs typeface="Times New Roman" pitchFamily="18" charset="0"/>
              </a:rPr>
              <a:t>2. Technical appraisal is important as: </a:t>
            </a:r>
          </a:p>
          <a:p>
            <a:pPr algn="just"/>
            <a:r>
              <a:rPr lang="en-US" sz="2800" dirty="0">
                <a:latin typeface="Times New Roman" pitchFamily="18" charset="0"/>
                <a:cs typeface="Times New Roman" pitchFamily="18" charset="0"/>
              </a:rPr>
              <a:t>(</a:t>
            </a:r>
            <a:r>
              <a:rPr lang="en-US" sz="2800" dirty="0" err="1">
                <a:latin typeface="Times New Roman" pitchFamily="18" charset="0"/>
                <a:cs typeface="Times New Roman" pitchFamily="18" charset="0"/>
              </a:rPr>
              <a:t>i</a:t>
            </a:r>
            <a:r>
              <a:rPr lang="en-US" sz="2800" dirty="0">
                <a:latin typeface="Times New Roman" pitchFamily="18" charset="0"/>
                <a:cs typeface="Times New Roman" pitchFamily="18" charset="0"/>
              </a:rPr>
              <a:t>) It ensures that the project is technically feasible - all the inputs required to set up the project are available</a:t>
            </a:r>
          </a:p>
          <a:p>
            <a:pPr algn="just"/>
            <a:r>
              <a:rPr lang="en-US" sz="2800" dirty="0">
                <a:latin typeface="Times New Roman" pitchFamily="18" charset="0"/>
                <a:cs typeface="Times New Roman" pitchFamily="18" charset="0"/>
              </a:rPr>
              <a:t>(ii) It facilitates the optimal project formulations in terms of capacity, technology, location, technology, size, etc on.</a:t>
            </a:r>
          </a:p>
          <a:p>
            <a:pPr algn="just"/>
            <a:r>
              <a:rPr lang="en-US" sz="2800" dirty="0">
                <a:latin typeface="Times New Roman" pitchFamily="18" charset="0"/>
                <a:cs typeface="Times New Roman" pitchFamily="18" charset="0"/>
              </a:rPr>
              <a:t>3. Usually, technical appraisal is carried out by independent agencies carrying out technical studies or by the institution by their in-house technical experts.</a:t>
            </a:r>
          </a:p>
        </p:txBody>
      </p:sp>
      <p:sp>
        <p:nvSpPr>
          <p:cNvPr id="26" name="Rectangle 25">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lvl="0" algn="ctr">
              <a:defRPr/>
            </a:pPr>
            <a:r>
              <a:rPr lang="en-US" sz="3600" b="1" dirty="0">
                <a:effectLst>
                  <a:outerShdw blurRad="38100" dist="38100" dir="2700000" algn="tl">
                    <a:srgbClr val="000000">
                      <a:alpha val="43137"/>
                    </a:srgbClr>
                  </a:outerShdw>
                </a:effectLst>
              </a:rPr>
              <a:t>ENVIRONMENTAL APPRAISAL</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dirty="0">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dirty="0"/>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dirty="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dirty="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p:txBody>
      </p:sp>
      <p:sp>
        <p:nvSpPr>
          <p:cNvPr id="25" name="Rectangle 24"/>
          <p:cNvSpPr/>
          <p:nvPr/>
        </p:nvSpPr>
        <p:spPr>
          <a:xfrm>
            <a:off x="0" y="1012875"/>
            <a:ext cx="12192000" cy="5816977"/>
          </a:xfrm>
          <a:prstGeom prst="rect">
            <a:avLst/>
          </a:prstGeom>
        </p:spPr>
        <p:txBody>
          <a:bodyPr wrap="square">
            <a:spAutoFit/>
          </a:bodyPr>
          <a:lstStyle/>
          <a:p>
            <a:pPr marL="514350" indent="-514350" algn="just">
              <a:buFont typeface="+mj-lt"/>
              <a:buAutoNum type="arabicPeriod"/>
            </a:pPr>
            <a:r>
              <a:rPr lang="en-US" sz="2800" dirty="0">
                <a:cs typeface="Times New Roman" pitchFamily="18" charset="0"/>
              </a:rPr>
              <a:t>According to </a:t>
            </a:r>
            <a:r>
              <a:rPr lang="en-US" sz="2800" dirty="0" err="1">
                <a:cs typeface="Times New Roman" pitchFamily="18" charset="0"/>
              </a:rPr>
              <a:t>Abell</a:t>
            </a:r>
            <a:r>
              <a:rPr lang="en-US" sz="2800" dirty="0">
                <a:cs typeface="Times New Roman" pitchFamily="18" charset="0"/>
              </a:rPr>
              <a:t> : "Environmental appraisal is the identification, measurement, and assessment of environmental  impacts".</a:t>
            </a:r>
          </a:p>
          <a:p>
            <a:pPr marL="514350" indent="-514350" algn="just">
              <a:buFont typeface="+mj-lt"/>
              <a:buAutoNum type="arabicPeriod"/>
            </a:pPr>
            <a:r>
              <a:rPr lang="en-US" sz="2800" dirty="0">
                <a:cs typeface="Times New Roman" pitchFamily="18" charset="0"/>
              </a:rPr>
              <a:t>Environmental appraisal facilitates the managers with the ability to  study the competitive structure and competitive position of the </a:t>
            </a:r>
            <a:r>
              <a:rPr lang="en-US" sz="2800" dirty="0" err="1">
                <a:cs typeface="Times New Roman" pitchFamily="18" charset="0"/>
              </a:rPr>
              <a:t>organisation</a:t>
            </a:r>
            <a:r>
              <a:rPr lang="en-US" sz="2800" dirty="0">
                <a:cs typeface="Times New Roman" pitchFamily="18" charset="0"/>
              </a:rPr>
              <a:t> along with the  position of its competitors.</a:t>
            </a:r>
          </a:p>
          <a:p>
            <a:pPr marL="514350" indent="-514350" algn="just">
              <a:buFont typeface="+mj-lt"/>
              <a:buAutoNum type="arabicPeriod"/>
            </a:pPr>
            <a:r>
              <a:rPr lang="en-US" sz="2800" dirty="0">
                <a:cs typeface="Times New Roman" pitchFamily="18" charset="0"/>
              </a:rPr>
              <a:t>By </a:t>
            </a:r>
            <a:r>
              <a:rPr lang="en-US" sz="2800" dirty="0" err="1">
                <a:cs typeface="Times New Roman" pitchFamily="18" charset="0"/>
              </a:rPr>
              <a:t>analysing</a:t>
            </a:r>
            <a:r>
              <a:rPr lang="en-US" sz="2800" dirty="0">
                <a:cs typeface="Times New Roman" pitchFamily="18" charset="0"/>
              </a:rPr>
              <a:t> and appraising the external environment, the existing opportunities and threats can  be identified. It is the responsibility of the managers to avoid the threats and to reap the benefits  from the opportunities in the market. Environmental appraisal also helps the managers in  </a:t>
            </a:r>
            <a:r>
              <a:rPr lang="en-US" sz="2800" dirty="0" err="1">
                <a:cs typeface="Times New Roman" pitchFamily="18" charset="0"/>
              </a:rPr>
              <a:t>analysing</a:t>
            </a:r>
            <a:r>
              <a:rPr lang="en-US" sz="2800" dirty="0">
                <a:cs typeface="Times New Roman" pitchFamily="18" charset="0"/>
              </a:rPr>
              <a:t> the effects of globalization on the level of competition within a particular industry</a:t>
            </a:r>
          </a:p>
          <a:p>
            <a:endParaRPr lang="en-US" sz="3200" dirty="0"/>
          </a:p>
          <a:p>
            <a:pPr marL="514350" indent="-514350"/>
            <a:endParaRPr lang="en-US" sz="3200" dirty="0"/>
          </a:p>
        </p:txBody>
      </p:sp>
      <p:sp>
        <p:nvSpPr>
          <p:cNvPr id="27" name="Rectangle 26">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lvl="0" algn="ctr">
              <a:defRPr/>
            </a:pPr>
            <a:r>
              <a:rPr lang="en-US" sz="3600" b="1" dirty="0">
                <a:effectLst>
                  <a:outerShdw blurRad="38100" dist="38100" dir="2700000" algn="tl">
                    <a:srgbClr val="000000">
                      <a:alpha val="43137"/>
                    </a:srgbClr>
                  </a:outerShdw>
                </a:effectLst>
              </a:rPr>
              <a:t>MARKET APPRAISAL</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dirty="0">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dirty="0"/>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dirty="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dirty="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p:txBody>
      </p:sp>
      <p:sp>
        <p:nvSpPr>
          <p:cNvPr id="25" name="Rectangle 24"/>
          <p:cNvSpPr/>
          <p:nvPr/>
        </p:nvSpPr>
        <p:spPr>
          <a:xfrm>
            <a:off x="0" y="1069147"/>
            <a:ext cx="12192000" cy="4154984"/>
          </a:xfrm>
          <a:prstGeom prst="rect">
            <a:avLst/>
          </a:prstGeom>
        </p:spPr>
        <p:txBody>
          <a:bodyPr wrap="square">
            <a:spAutoFit/>
          </a:bodyPr>
          <a:lstStyle/>
          <a:p>
            <a:r>
              <a:rPr lang="en-US" sz="2400" b="1" dirty="0"/>
              <a:t>Market and Demand Appraisal</a:t>
            </a:r>
            <a:endParaRPr lang="en-US" sz="2400" dirty="0"/>
          </a:p>
          <a:p>
            <a:pPr algn="just">
              <a:buFont typeface="Arial" pitchFamily="34" charset="0"/>
              <a:buChar char="•"/>
            </a:pPr>
            <a:r>
              <a:rPr lang="en-US" sz="2400" dirty="0">
                <a:latin typeface="Times New Roman" pitchFamily="18" charset="0"/>
                <a:cs typeface="Times New Roman" pitchFamily="18" charset="0"/>
              </a:rPr>
              <a:t>Appraisal of commercial viability means assessment of marketability of the end-product. Therefore, at the time of assessment of commercial viability, the following points require careful consideration.</a:t>
            </a:r>
          </a:p>
          <a:p>
            <a:pPr algn="just">
              <a:buFont typeface="Arial" pitchFamily="34" charset="0"/>
              <a:buChar char="•"/>
            </a:pPr>
            <a:r>
              <a:rPr lang="en-US" sz="2400" dirty="0">
                <a:latin typeface="Times New Roman" pitchFamily="18" charset="0"/>
                <a:cs typeface="Times New Roman" pitchFamily="18" charset="0"/>
              </a:rPr>
              <a:t>Size and prospective growth of the market which the unit is required to cater like nature of population, their purchasing power, their educational background, fashion etc.</a:t>
            </a:r>
          </a:p>
          <a:p>
            <a:pPr algn="just">
              <a:buFont typeface="Arial" pitchFamily="34" charset="0"/>
              <a:buChar char="•"/>
            </a:pPr>
            <a:r>
              <a:rPr lang="en-US" sz="2400" dirty="0">
                <a:latin typeface="Times New Roman" pitchFamily="18" charset="0"/>
                <a:cs typeface="Times New Roman" pitchFamily="18" charset="0"/>
              </a:rPr>
              <a:t>Demand and supply position of the product in the national and international market</a:t>
            </a:r>
          </a:p>
          <a:p>
            <a:pPr algn="just">
              <a:buFont typeface="Arial" pitchFamily="34" charset="0"/>
              <a:buChar char="•"/>
            </a:pPr>
            <a:r>
              <a:rPr lang="en-US" sz="2400" dirty="0">
                <a:latin typeface="Times New Roman" pitchFamily="18" charset="0"/>
                <a:cs typeface="Times New Roman" pitchFamily="18" charset="0"/>
              </a:rPr>
              <a:t>Nature of competition</a:t>
            </a:r>
          </a:p>
          <a:p>
            <a:pPr algn="just">
              <a:buFont typeface="Arial" pitchFamily="34" charset="0"/>
              <a:buChar char="•"/>
            </a:pPr>
            <a:r>
              <a:rPr lang="en-US" sz="2400" dirty="0">
                <a:latin typeface="Times New Roman" pitchFamily="18" charset="0"/>
                <a:cs typeface="Times New Roman" pitchFamily="18" charset="0"/>
              </a:rPr>
              <a:t>Pricing policy including prospective prices based on the quality of the product</a:t>
            </a:r>
          </a:p>
          <a:p>
            <a:pPr algn="just">
              <a:buFont typeface="Arial" pitchFamily="34" charset="0"/>
              <a:buChar char="•"/>
            </a:pPr>
            <a:r>
              <a:rPr lang="en-US" sz="2400" dirty="0">
                <a:latin typeface="Times New Roman" pitchFamily="18" charset="0"/>
                <a:cs typeface="Times New Roman" pitchFamily="18" charset="0"/>
              </a:rPr>
              <a:t>Marketing strategy and selling arrangements made by the unit adequacy of sales fore:</a:t>
            </a:r>
          </a:p>
          <a:p>
            <a:pPr algn="just">
              <a:buFont typeface="Arial" pitchFamily="34" charset="0"/>
              <a:buChar char="•"/>
            </a:pPr>
            <a:r>
              <a:rPr lang="en-US" sz="2400" dirty="0">
                <a:latin typeface="Times New Roman" pitchFamily="18" charset="0"/>
                <a:cs typeface="Times New Roman" pitchFamily="18" charset="0"/>
              </a:rPr>
              <a:t>Export potential</a:t>
            </a:r>
          </a:p>
        </p:txBody>
      </p:sp>
      <p:sp>
        <p:nvSpPr>
          <p:cNvPr id="27" name="Rectangle 26">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769434" cy="838200"/>
          </a:xfrm>
        </p:spPr>
        <p:txBody>
          <a:bodyPr>
            <a:noAutofit/>
          </a:bodyPr>
          <a:lstStyle/>
          <a:p>
            <a:pPr lvl="0" algn="ctr">
              <a:defRPr/>
            </a:pPr>
            <a:r>
              <a:rPr lang="en-US" sz="2800" b="1" dirty="0">
                <a:effectLst>
                  <a:outerShdw blurRad="38100" dist="38100" dir="2700000" algn="tl">
                    <a:srgbClr val="000000">
                      <a:alpha val="43137"/>
                    </a:srgbClr>
                  </a:outerShdw>
                </a:effectLst>
              </a:rPr>
              <a:t>Market survey for forecasting future demand and sales</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dirty="0">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dirty="0"/>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22" name="Rectangle 21"/>
          <p:cNvSpPr/>
          <p:nvPr/>
        </p:nvSpPr>
        <p:spPr>
          <a:xfrm>
            <a:off x="760021" y="1097593"/>
            <a:ext cx="10580914" cy="498663"/>
          </a:xfrm>
          <a:prstGeom prst="rect">
            <a:avLst/>
          </a:prstGeom>
        </p:spPr>
        <p:txBody>
          <a:bodyPr wrap="square">
            <a:spAutoFit/>
          </a:bodyPr>
          <a:lstStyle/>
          <a:p>
            <a:pPr algn="just">
              <a:lnSpc>
                <a:spcPct val="150000"/>
              </a:lnSpc>
            </a:pPr>
            <a:endParaRPr lang="en-US" altLang="en-US" sz="2000" dirty="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dirty="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p:txBody>
      </p:sp>
      <p:sp>
        <p:nvSpPr>
          <p:cNvPr id="25" name="Rectangle 24"/>
          <p:cNvSpPr/>
          <p:nvPr/>
        </p:nvSpPr>
        <p:spPr>
          <a:xfrm>
            <a:off x="0" y="1223890"/>
            <a:ext cx="12192000" cy="4585871"/>
          </a:xfrm>
          <a:prstGeom prst="rect">
            <a:avLst/>
          </a:prstGeom>
        </p:spPr>
        <p:txBody>
          <a:bodyPr wrap="square">
            <a:spAutoFit/>
          </a:bodyPr>
          <a:lstStyle/>
          <a:p>
            <a:pPr marL="457200" indent="-457200" algn="just">
              <a:buFont typeface="+mj-lt"/>
              <a:buAutoNum type="arabicPeriod"/>
            </a:pPr>
            <a:r>
              <a:rPr lang="en-US" sz="2400" dirty="0">
                <a:latin typeface="Times New Roman" pitchFamily="18" charset="0"/>
                <a:cs typeface="Times New Roman" pitchFamily="18" charset="0"/>
              </a:rPr>
              <a:t>The survey method of demand forecasting involves gathering data directly from consumers, customers, or market participants to make predictions about future demand for a product or service. </a:t>
            </a:r>
          </a:p>
          <a:p>
            <a:pPr marL="457200" indent="-457200" algn="just">
              <a:buFont typeface="+mj-lt"/>
              <a:buAutoNum type="arabicPeriod"/>
            </a:pPr>
            <a:r>
              <a:rPr lang="en-US" sz="2400" dirty="0">
                <a:latin typeface="Times New Roman" pitchFamily="18" charset="0"/>
                <a:cs typeface="Times New Roman" pitchFamily="18" charset="0"/>
              </a:rPr>
              <a:t>This can be done through various means, such as telephone, online, focus groups, or in-person interviews. </a:t>
            </a:r>
          </a:p>
          <a:p>
            <a:pPr marL="457200" indent="-457200" algn="just">
              <a:buFont typeface="+mj-lt"/>
              <a:buAutoNum type="arabicPeriod"/>
            </a:pPr>
            <a:r>
              <a:rPr lang="en-US" sz="2400" dirty="0">
                <a:latin typeface="Times New Roman" pitchFamily="18" charset="0"/>
                <a:cs typeface="Times New Roman" pitchFamily="18" charset="0"/>
              </a:rPr>
              <a:t>The data collected through surveys can provide valuable insights into consumers' opinions, attitudes, and buying behavior, which can be used to make informed predictions about future demand. </a:t>
            </a:r>
          </a:p>
          <a:p>
            <a:pPr marL="457200" indent="-457200" algn="just">
              <a:buFont typeface="+mj-lt"/>
              <a:buAutoNum type="arabicPeriod"/>
            </a:pPr>
            <a:r>
              <a:rPr lang="en-US" sz="2400" dirty="0">
                <a:latin typeface="Times New Roman" pitchFamily="18" charset="0"/>
                <a:cs typeface="Times New Roman" pitchFamily="18" charset="0"/>
              </a:rPr>
              <a:t>The forecast's accuracy will depend on the size and representativeness of the sample, the quality of the survey questions, and the ability to generalize the findings to the larger population.</a:t>
            </a:r>
          </a:p>
          <a:p>
            <a:endParaRPr lang="en-US" sz="2800" dirty="0"/>
          </a:p>
        </p:txBody>
      </p:sp>
      <p:sp>
        <p:nvSpPr>
          <p:cNvPr id="27" name="Rectangle 26">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lvl="0" algn="ctr">
              <a:defRPr/>
            </a:pPr>
            <a:r>
              <a:rPr lang="en-US" sz="3600" b="1" dirty="0">
                <a:effectLst>
                  <a:outerShdw blurRad="38100" dist="38100" dir="2700000" algn="tl">
                    <a:srgbClr val="000000">
                      <a:alpha val="43137"/>
                    </a:srgbClr>
                  </a:outerShdw>
                </a:effectLst>
              </a:rPr>
              <a:t>MANAGERIAL APPRAISAL</a:t>
            </a:r>
            <a:endParaRPr lang="en-US" sz="3600" b="1" dirty="0">
              <a:solidFill>
                <a:schemeClr val="dk1"/>
              </a:solidFill>
              <a:effectLst>
                <a:outerShdw blurRad="38100" dist="38100" dir="2700000" algn="tl">
                  <a:srgbClr val="000000">
                    <a:alpha val="43137"/>
                  </a:srgbClr>
                </a:outerShdw>
              </a:effectLst>
            </a:endParaRP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dirty="0">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dirty="0"/>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22" name="Rectangle 21"/>
          <p:cNvSpPr/>
          <p:nvPr/>
        </p:nvSpPr>
        <p:spPr>
          <a:xfrm>
            <a:off x="-641267" y="1596357"/>
            <a:ext cx="10580914" cy="498663"/>
          </a:xfrm>
          <a:prstGeom prst="rect">
            <a:avLst/>
          </a:prstGeom>
        </p:spPr>
        <p:txBody>
          <a:bodyPr wrap="square">
            <a:spAutoFit/>
          </a:bodyPr>
          <a:lstStyle/>
          <a:p>
            <a:pPr algn="just">
              <a:lnSpc>
                <a:spcPct val="150000"/>
              </a:lnSpc>
            </a:pPr>
            <a:endParaRPr lang="en-US" altLang="en-US" sz="2000" dirty="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dirty="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p:txBody>
      </p:sp>
      <p:sp>
        <p:nvSpPr>
          <p:cNvPr id="25" name="Rectangle 24"/>
          <p:cNvSpPr/>
          <p:nvPr/>
        </p:nvSpPr>
        <p:spPr>
          <a:xfrm>
            <a:off x="542306" y="1063555"/>
            <a:ext cx="10145486" cy="461665"/>
          </a:xfrm>
          <a:prstGeom prst="rect">
            <a:avLst/>
          </a:prstGeom>
        </p:spPr>
        <p:txBody>
          <a:bodyPr wrap="square">
            <a:spAutoFit/>
          </a:bodyPr>
          <a:lstStyle/>
          <a:p>
            <a:pPr marL="342900" indent="-342900"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
        <p:nvSpPr>
          <p:cNvPr id="26" name="Rectangle 25"/>
          <p:cNvSpPr/>
          <p:nvPr/>
        </p:nvSpPr>
        <p:spPr>
          <a:xfrm>
            <a:off x="575314" y="2071560"/>
            <a:ext cx="11213411" cy="2246769"/>
          </a:xfrm>
          <a:prstGeom prst="rect">
            <a:avLst/>
          </a:prstGeom>
        </p:spPr>
        <p:txBody>
          <a:bodyPr wrap="square">
            <a:spAutoFit/>
          </a:bodyPr>
          <a:lstStyle/>
          <a:p>
            <a:pPr marL="285750" indent="-285750" algn="just">
              <a:buFont typeface="Arial"/>
              <a:buChar char="•"/>
            </a:pPr>
            <a:r>
              <a:rPr lang="en-US" sz="2800" dirty="0">
                <a:latin typeface="Times New Roman" pitchFamily="18" charset="0"/>
                <a:cs typeface="Times New Roman" pitchFamily="18" charset="0"/>
              </a:rPr>
              <a:t>Managerial Appraisal: Focuses on promoters, organization structure, managerial personnel, and HR management.</a:t>
            </a:r>
          </a:p>
          <a:p>
            <a:pPr marL="285750" indent="-285750" algn="just">
              <a:buFont typeface="Arial"/>
              <a:buChar char="•"/>
            </a:pPr>
            <a:r>
              <a:rPr lang="en-US" sz="2800" dirty="0">
                <a:latin typeface="Times New Roman" pitchFamily="18" charset="0"/>
                <a:cs typeface="Times New Roman" pitchFamily="18" charset="0"/>
              </a:rPr>
              <a:t>Managerial appraisal in project management can help project managers understand how to conduct performance appraisals and motivate their teams to perform better.</a:t>
            </a:r>
          </a:p>
        </p:txBody>
      </p:sp>
      <p:sp>
        <p:nvSpPr>
          <p:cNvPr id="34" name="Rectangle 33">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49CB8A-95E4-810A-C123-2F2CA6EBA869}"/>
              </a:ext>
            </a:extLst>
          </p:cNvPr>
          <p:cNvSpPr>
            <a:spLocks noGrp="1"/>
          </p:cNvSpPr>
          <p:nvPr>
            <p:ph type="title" idx="4294967295"/>
          </p:nvPr>
        </p:nvSpPr>
        <p:spPr>
          <a:xfrm>
            <a:off x="2422566" y="33338"/>
            <a:ext cx="9191502" cy="838200"/>
          </a:xfrm>
        </p:spPr>
        <p:txBody>
          <a:bodyPr>
            <a:normAutofit/>
          </a:bodyPr>
          <a:lstStyle/>
          <a:p>
            <a:pPr algn="ctr"/>
            <a:r>
              <a:rPr lang="en-US" sz="3600" b="1" dirty="0">
                <a:effectLst>
                  <a:outerShdw blurRad="38100" dist="38100" dir="2700000" algn="tl">
                    <a:srgbClr val="000000">
                      <a:alpha val="43137"/>
                    </a:srgbClr>
                  </a:outerShdw>
                </a:effectLst>
              </a:rPr>
              <a:t>PROJECT MANAGEMENT TOOLS </a:t>
            </a:r>
          </a:p>
        </p:txBody>
      </p:sp>
      <p:pic>
        <p:nvPicPr>
          <p:cNvPr id="7" name="Picture 6">
            <a:extLst>
              <a:ext uri="{FF2B5EF4-FFF2-40B4-BE49-F238E27FC236}">
                <a16:creationId xmlns:a16="http://schemas.microsoft.com/office/drawing/2014/main" id="{B3C864C4-AA00-5CD1-7891-6A5A33587A8E}"/>
              </a:ext>
            </a:extLst>
          </p:cNvPr>
          <p:cNvPicPr>
            <a:picLocks noChangeAspect="1"/>
          </p:cNvPicPr>
          <p:nvPr/>
        </p:nvPicPr>
        <p:blipFill>
          <a:blip r:embed="rId2"/>
          <a:stretch>
            <a:fillRect/>
          </a:stretch>
        </p:blipFill>
        <p:spPr>
          <a:xfrm>
            <a:off x="0" y="33998"/>
            <a:ext cx="2114845" cy="838317"/>
          </a:xfrm>
          <a:prstGeom prst="rect">
            <a:avLst/>
          </a:prstGeom>
        </p:spPr>
      </p:pic>
      <p:sp>
        <p:nvSpPr>
          <p:cNvPr id="10" name="Rectangle 9">
            <a:extLst>
              <a:ext uri="{FF2B5EF4-FFF2-40B4-BE49-F238E27FC236}">
                <a16:creationId xmlns:a16="http://schemas.microsoft.com/office/drawing/2014/main" id="{CD0F2DA4-28DA-1721-2123-5B668D1288D4}"/>
              </a:ext>
            </a:extLst>
          </p:cNvPr>
          <p:cNvSpPr/>
          <p:nvPr/>
        </p:nvSpPr>
        <p:spPr>
          <a:xfrm>
            <a:off x="0" y="918196"/>
            <a:ext cx="12192000" cy="45719"/>
          </a:xfrm>
          <a:prstGeom prst="rect">
            <a:avLst/>
          </a:prstGeom>
          <a:solidFill>
            <a:srgbClr val="D4222A"/>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28" name="Ink 27">
                <a:extLst>
                  <a:ext uri="{FF2B5EF4-FFF2-40B4-BE49-F238E27FC236}">
                    <a16:creationId xmlns:a16="http://schemas.microsoft.com/office/drawing/2014/main" id="{A5F330E4-077F-D44C-E026-5B7E9A41902C}"/>
                  </a:ext>
                </a:extLst>
              </p14:cNvPr>
              <p14:cNvContentPartPr/>
              <p14:nvPr/>
            </p14:nvContentPartPr>
            <p14:xfrm>
              <a:off x="6146232" y="4948905"/>
              <a:ext cx="360" cy="360"/>
            </p14:xfrm>
          </p:contentPart>
        </mc:Choice>
        <mc:Fallback xmlns="">
          <p:pic>
            <p:nvPicPr>
              <p:cNvPr id="28" name="Ink 27">
                <a:extLst>
                  <a:ext uri="{FF2B5EF4-FFF2-40B4-BE49-F238E27FC236}">
                    <a16:creationId xmlns="" xmlns:a16="http://schemas.microsoft.com/office/drawing/2014/main" xmlns:p14="http://schemas.microsoft.com/office/powerpoint/2010/main" id="{A5F330E4-077F-D44C-E026-5B7E9A41902C}"/>
                  </a:ext>
                </a:extLst>
              </p:cNvPr>
              <p:cNvPicPr/>
              <p:nvPr/>
            </p:nvPicPr>
            <p:blipFill>
              <a:blip r:embed="rId4"/>
              <a:stretch>
                <a:fillRect/>
              </a:stretch>
            </p:blipFill>
            <p:spPr>
              <a:xfrm>
                <a:off x="6140112" y="494278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9" name="Ink 28">
                <a:extLst>
                  <a:ext uri="{FF2B5EF4-FFF2-40B4-BE49-F238E27FC236}">
                    <a16:creationId xmlns:a16="http://schemas.microsoft.com/office/drawing/2014/main" id="{24726B26-7A23-F7C5-F7D1-D22C9FCCC7FE}"/>
                  </a:ext>
                </a:extLst>
              </p14:cNvPr>
              <p14:cNvContentPartPr/>
              <p14:nvPr/>
            </p14:nvContentPartPr>
            <p14:xfrm>
              <a:off x="5146872" y="4156905"/>
              <a:ext cx="360" cy="360"/>
            </p14:xfrm>
          </p:contentPart>
        </mc:Choice>
        <mc:Fallback xmlns="">
          <p:pic>
            <p:nvPicPr>
              <p:cNvPr id="29" name="Ink 28">
                <a:extLst>
                  <a:ext uri="{FF2B5EF4-FFF2-40B4-BE49-F238E27FC236}">
                    <a16:creationId xmlns="" xmlns:a16="http://schemas.microsoft.com/office/drawing/2014/main" xmlns:p14="http://schemas.microsoft.com/office/powerpoint/2010/main" id="{24726B26-7A23-F7C5-F7D1-D22C9FCCC7FE}"/>
                  </a:ext>
                </a:extLst>
              </p:cNvPr>
              <p:cNvPicPr/>
              <p:nvPr/>
            </p:nvPicPr>
            <p:blipFill>
              <a:blip r:embed="rId4"/>
              <a:stretch>
                <a:fillRect/>
              </a:stretch>
            </p:blipFill>
            <p:spPr>
              <a:xfrm>
                <a:off x="5140752" y="4150785"/>
                <a:ext cx="12600" cy="12600"/>
              </a:xfrm>
              <a:prstGeom prst="rect">
                <a:avLst/>
              </a:prstGeom>
            </p:spPr>
          </p:pic>
        </mc:Fallback>
      </mc:AlternateContent>
      <p:grpSp>
        <p:nvGrpSpPr>
          <p:cNvPr id="2" name="Group 33">
            <a:extLst>
              <a:ext uri="{FF2B5EF4-FFF2-40B4-BE49-F238E27FC236}">
                <a16:creationId xmlns:a16="http://schemas.microsoft.com/office/drawing/2014/main" id="{1BC1511E-36C4-69F6-7E45-3DEC7ADF5752}"/>
              </a:ext>
            </a:extLst>
          </p:cNvPr>
          <p:cNvGrpSpPr/>
          <p:nvPr/>
        </p:nvGrpSpPr>
        <p:grpSpPr>
          <a:xfrm>
            <a:off x="6504432" y="3713745"/>
            <a:ext cx="360" cy="360"/>
            <a:chOff x="6504432" y="3713745"/>
            <a:chExt cx="360" cy="360"/>
          </a:xfrm>
        </p:grpSpPr>
        <mc:AlternateContent xmlns:mc="http://schemas.openxmlformats.org/markup-compatibility/2006" xmlns:p14="http://schemas.microsoft.com/office/powerpoint/2010/main">
          <mc:Choice Requires="p14">
            <p:contentPart p14:bwMode="auto" r:id="rId6">
              <p14:nvContentPartPr>
                <p14:cNvPr id="30" name="Ink 29">
                  <a:extLst>
                    <a:ext uri="{FF2B5EF4-FFF2-40B4-BE49-F238E27FC236}">
                      <a16:creationId xmlns:a16="http://schemas.microsoft.com/office/drawing/2014/main" id="{FC93106F-FC4E-EF44-08E3-E65A970A6957}"/>
                    </a:ext>
                  </a:extLst>
                </p14:cNvPr>
                <p14:cNvContentPartPr/>
                <p14:nvPr/>
              </p14:nvContentPartPr>
              <p14:xfrm>
                <a:off x="6504432" y="3713745"/>
                <a:ext cx="360" cy="360"/>
              </p14:xfrm>
            </p:contentPart>
          </mc:Choice>
          <mc:Fallback xmlns="">
            <p:pic>
              <p:nvPicPr>
                <p:cNvPr id="30" name="Ink 29">
                  <a:extLst>
                    <a:ext uri="{FF2B5EF4-FFF2-40B4-BE49-F238E27FC236}">
                      <a16:creationId xmlns="" xmlns:a16="http://schemas.microsoft.com/office/drawing/2014/main" xmlns:p14="http://schemas.microsoft.com/office/powerpoint/2010/main" id="{FC93106F-FC4E-EF44-08E3-E65A970A6957}"/>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8BD86266-AD55-0DAB-D049-2105B9F479D6}"/>
                    </a:ext>
                  </a:extLst>
                </p14:cNvPr>
                <p14:cNvContentPartPr/>
                <p14:nvPr/>
              </p14:nvContentPartPr>
              <p14:xfrm>
                <a:off x="6504432" y="3713745"/>
                <a:ext cx="360" cy="360"/>
              </p14:xfrm>
            </p:contentPart>
          </mc:Choice>
          <mc:Fallback xmlns="">
            <p:pic>
              <p:nvPicPr>
                <p:cNvPr id="31" name="Ink 30">
                  <a:extLst>
                    <a:ext uri="{FF2B5EF4-FFF2-40B4-BE49-F238E27FC236}">
                      <a16:creationId xmlns="" xmlns:a16="http://schemas.microsoft.com/office/drawing/2014/main" xmlns:p14="http://schemas.microsoft.com/office/powerpoint/2010/main" id="{8BD86266-AD55-0DAB-D049-2105B9F479D6}"/>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 name="Ink 31">
                  <a:extLst>
                    <a:ext uri="{FF2B5EF4-FFF2-40B4-BE49-F238E27FC236}">
                      <a16:creationId xmlns:a16="http://schemas.microsoft.com/office/drawing/2014/main" id="{FAF88D59-5EFE-C6E4-F1CB-A103C0056AF4}"/>
                    </a:ext>
                  </a:extLst>
                </p14:cNvPr>
                <p14:cNvContentPartPr/>
                <p14:nvPr/>
              </p14:nvContentPartPr>
              <p14:xfrm>
                <a:off x="6504432" y="3713745"/>
                <a:ext cx="360" cy="360"/>
              </p14:xfrm>
            </p:contentPart>
          </mc:Choice>
          <mc:Fallback xmlns="">
            <p:pic>
              <p:nvPicPr>
                <p:cNvPr id="32" name="Ink 31">
                  <a:extLst>
                    <a:ext uri="{FF2B5EF4-FFF2-40B4-BE49-F238E27FC236}">
                      <a16:creationId xmlns="" xmlns:a16="http://schemas.microsoft.com/office/drawing/2014/main" xmlns:p14="http://schemas.microsoft.com/office/powerpoint/2010/main" id="{FAF88D59-5EFE-C6E4-F1CB-A103C0056AF4}"/>
                    </a:ext>
                  </a:extLst>
                </p:cNvPr>
                <p:cNvPicPr/>
                <p:nvPr/>
              </p:nvPicPr>
              <p:blipFill>
                <a:blip r:embed="rId4"/>
                <a:stretch>
                  <a:fillRect/>
                </a:stretch>
              </p:blipFill>
              <p:spPr>
                <a:xfrm>
                  <a:off x="6498312" y="370762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3" name="Ink 32">
                  <a:extLst>
                    <a:ext uri="{FF2B5EF4-FFF2-40B4-BE49-F238E27FC236}">
                      <a16:creationId xmlns:a16="http://schemas.microsoft.com/office/drawing/2014/main" id="{CADF314B-10C6-3B04-97DE-4ADBA0CEAFF3}"/>
                    </a:ext>
                  </a:extLst>
                </p14:cNvPr>
                <p14:cNvContentPartPr/>
                <p14:nvPr/>
              </p14:nvContentPartPr>
              <p14:xfrm>
                <a:off x="6504432" y="3713745"/>
                <a:ext cx="360" cy="360"/>
              </p14:xfrm>
            </p:contentPart>
          </mc:Choice>
          <mc:Fallback xmlns="">
            <p:pic>
              <p:nvPicPr>
                <p:cNvPr id="33" name="Ink 32">
                  <a:extLst>
                    <a:ext uri="{FF2B5EF4-FFF2-40B4-BE49-F238E27FC236}">
                      <a16:creationId xmlns="" xmlns:a16="http://schemas.microsoft.com/office/drawing/2014/main" xmlns:p14="http://schemas.microsoft.com/office/powerpoint/2010/main" id="{CADF314B-10C6-3B04-97DE-4ADBA0CEAFF3}"/>
                    </a:ext>
                  </a:extLst>
                </p:cNvPr>
                <p:cNvPicPr/>
                <p:nvPr/>
              </p:nvPicPr>
              <p:blipFill>
                <a:blip r:embed="rId4"/>
                <a:stretch>
                  <a:fillRect/>
                </a:stretch>
              </p:blipFill>
              <p:spPr>
                <a:xfrm>
                  <a:off x="6498312" y="3707625"/>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9D889516-E146-350D-895E-1C8E6A7EE16F}"/>
                  </a:ext>
                </a:extLst>
              </p14:cNvPr>
              <p14:cNvContentPartPr/>
              <p14:nvPr/>
            </p14:nvContentPartPr>
            <p14:xfrm>
              <a:off x="-848568" y="4741185"/>
              <a:ext cx="360" cy="360"/>
            </p14:xfrm>
          </p:contentPart>
        </mc:Choice>
        <mc:Fallback xmlns="">
          <p:pic>
            <p:nvPicPr>
              <p:cNvPr id="35" name="Ink 34">
                <a:extLst>
                  <a:ext uri="{FF2B5EF4-FFF2-40B4-BE49-F238E27FC236}">
                    <a16:creationId xmlns="" xmlns:a16="http://schemas.microsoft.com/office/drawing/2014/main" xmlns:p14="http://schemas.microsoft.com/office/powerpoint/2010/main" id="{9D889516-E146-350D-895E-1C8E6A7EE16F}"/>
                  </a:ext>
                </a:extLst>
              </p:cNvPr>
              <p:cNvPicPr/>
              <p:nvPr/>
            </p:nvPicPr>
            <p:blipFill>
              <a:blip r:embed="rId4"/>
              <a:stretch>
                <a:fillRect/>
              </a:stretch>
            </p:blipFill>
            <p:spPr>
              <a:xfrm>
                <a:off x="-854688" y="4735065"/>
                <a:ext cx="12600" cy="12600"/>
              </a:xfrm>
              <a:prstGeom prst="rect">
                <a:avLst/>
              </a:prstGeom>
            </p:spPr>
          </p:pic>
        </mc:Fallback>
      </mc:AlternateContent>
      <p:sp>
        <p:nvSpPr>
          <p:cNvPr id="15" name="Rectangle 14"/>
          <p:cNvSpPr/>
          <p:nvPr/>
        </p:nvSpPr>
        <p:spPr>
          <a:xfrm>
            <a:off x="463138" y="1151907"/>
            <a:ext cx="11388436" cy="458074"/>
          </a:xfrm>
          <a:prstGeom prst="rect">
            <a:avLst/>
          </a:prstGeom>
        </p:spPr>
        <p:txBody>
          <a:bodyPr wrap="square">
            <a:spAutoFit/>
          </a:bodyPr>
          <a:lstStyle/>
          <a:p>
            <a:pPr algn="just">
              <a:lnSpc>
                <a:spcPct val="150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16" name="Rectangle 15"/>
          <p:cNvSpPr/>
          <p:nvPr/>
        </p:nvSpPr>
        <p:spPr>
          <a:xfrm>
            <a:off x="0" y="1163781"/>
            <a:ext cx="11625944" cy="369332"/>
          </a:xfrm>
          <a:prstGeom prst="rect">
            <a:avLst/>
          </a:prstGeom>
        </p:spPr>
        <p:txBody>
          <a:bodyPr wrap="square">
            <a:spAutoFit/>
          </a:bodyPr>
          <a:lstStyle/>
          <a:p>
            <a:pPr marL="341313" indent="-341313" algn="just">
              <a:buFont typeface="Arial" pitchFamily="34" charset="0"/>
              <a:buChar char="•"/>
              <a:defRPr/>
            </a:pPr>
            <a:endParaRPr lang="en-US" dirty="0">
              <a:latin typeface="Times New Roman" pitchFamily="18" charset="0"/>
              <a:ea typeface="Times New Roman"/>
              <a:cs typeface="Times New Roman" pitchFamily="18" charset="0"/>
            </a:endParaRPr>
          </a:p>
        </p:txBody>
      </p:sp>
      <p:sp>
        <p:nvSpPr>
          <p:cNvPr id="19" name="Rectangle 18"/>
          <p:cNvSpPr/>
          <p:nvPr/>
        </p:nvSpPr>
        <p:spPr>
          <a:xfrm>
            <a:off x="1159822" y="4780393"/>
            <a:ext cx="9052957" cy="369332"/>
          </a:xfrm>
          <a:prstGeom prst="rect">
            <a:avLst/>
          </a:prstGeom>
        </p:spPr>
        <p:txBody>
          <a:bodyPr wrap="square">
            <a:spAutoFit/>
          </a:bodyPr>
          <a:lstStyle/>
          <a:p>
            <a:pPr algn="just">
              <a:spcBef>
                <a:spcPct val="0"/>
              </a:spcBef>
            </a:pPr>
            <a:endParaRPr lang="en-US" altLang="en-US"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20" name="Rectangle 19"/>
          <p:cNvSpPr/>
          <p:nvPr/>
        </p:nvSpPr>
        <p:spPr>
          <a:xfrm>
            <a:off x="296883" y="1158419"/>
            <a:ext cx="11566566" cy="369332"/>
          </a:xfrm>
          <a:prstGeom prst="rect">
            <a:avLst/>
          </a:prstGeom>
        </p:spPr>
        <p:txBody>
          <a:bodyPr wrap="square">
            <a:spAutoFit/>
          </a:bodyPr>
          <a:lstStyle/>
          <a:p>
            <a:endParaRPr lang="en-US" dirty="0"/>
          </a:p>
        </p:txBody>
      </p:sp>
      <p:sp>
        <p:nvSpPr>
          <p:cNvPr id="21" name="Rectangle 20"/>
          <p:cNvSpPr/>
          <p:nvPr/>
        </p:nvSpPr>
        <p:spPr>
          <a:xfrm>
            <a:off x="593766" y="2288853"/>
            <a:ext cx="11067803" cy="385362"/>
          </a:xfrm>
          <a:prstGeom prst="rect">
            <a:avLst/>
          </a:prstGeom>
        </p:spPr>
        <p:txBody>
          <a:bodyPr wrap="square">
            <a:spAutoFit/>
          </a:bodyPr>
          <a:lstStyle/>
          <a:p>
            <a:pPr algn="just">
              <a:lnSpc>
                <a:spcPct val="115000"/>
              </a:lnSpc>
              <a:spcBef>
                <a:spcPct val="0"/>
              </a:spcBef>
            </a:pPr>
            <a:endParaRPr lang="en-US" altLang="en-US" dirty="0">
              <a:latin typeface="Times New Roman" panose="02020603050405020304" pitchFamily="18" charset="0"/>
              <a:cs typeface="Times New Roman" panose="02020603050405020304" pitchFamily="18" charset="0"/>
            </a:endParaRPr>
          </a:p>
        </p:txBody>
      </p:sp>
      <p:sp>
        <p:nvSpPr>
          <p:cNvPr id="22" name="Rectangle 21"/>
          <p:cNvSpPr/>
          <p:nvPr/>
        </p:nvSpPr>
        <p:spPr>
          <a:xfrm>
            <a:off x="-641267" y="1596357"/>
            <a:ext cx="10580914" cy="498663"/>
          </a:xfrm>
          <a:prstGeom prst="rect">
            <a:avLst/>
          </a:prstGeom>
        </p:spPr>
        <p:txBody>
          <a:bodyPr wrap="square">
            <a:spAutoFit/>
          </a:bodyPr>
          <a:lstStyle/>
          <a:p>
            <a:pPr algn="just">
              <a:lnSpc>
                <a:spcPct val="150000"/>
              </a:lnSpc>
            </a:pPr>
            <a:endParaRPr lang="en-US" altLang="en-US" sz="2000" dirty="0">
              <a:latin typeface="Times New Roman" panose="02020603050405020304" pitchFamily="18" charset="0"/>
              <a:cs typeface="Times New Roman" panose="02020603050405020304" pitchFamily="18" charset="0"/>
            </a:endParaRPr>
          </a:p>
        </p:txBody>
      </p:sp>
      <p:sp>
        <p:nvSpPr>
          <p:cNvPr id="24" name="Rectangle 23"/>
          <p:cNvSpPr/>
          <p:nvPr/>
        </p:nvSpPr>
        <p:spPr>
          <a:xfrm>
            <a:off x="684809" y="1377538"/>
            <a:ext cx="10477995" cy="461665"/>
          </a:xfrm>
          <a:prstGeom prst="rect">
            <a:avLst/>
          </a:prstGeom>
        </p:spPr>
        <p:txBody>
          <a:bodyPr wrap="square">
            <a:spAutoFit/>
          </a:bodyPr>
          <a:lstStyle/>
          <a:p>
            <a:endParaRPr lang="en-IN" sz="2400" dirty="0">
              <a:latin typeface="Times New Roman" panose="02020603050405020304" pitchFamily="18" charset="0"/>
              <a:cs typeface="Times New Roman" panose="02020603050405020304" pitchFamily="18" charset="0"/>
            </a:endParaRPr>
          </a:p>
        </p:txBody>
      </p:sp>
      <p:sp>
        <p:nvSpPr>
          <p:cNvPr id="23" name="Rectangle 22"/>
          <p:cNvSpPr/>
          <p:nvPr/>
        </p:nvSpPr>
        <p:spPr>
          <a:xfrm>
            <a:off x="902525" y="1246909"/>
            <a:ext cx="10272155" cy="430887"/>
          </a:xfrm>
          <a:prstGeom prst="rect">
            <a:avLst/>
          </a:prstGeom>
        </p:spPr>
        <p:txBody>
          <a:bodyPr wrap="square">
            <a:spAutoFit/>
          </a:bodyPr>
          <a:lstStyle/>
          <a:p>
            <a:pPr marL="342900" indent="-342900" algn="just">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p:txBody>
      </p:sp>
      <p:sp>
        <p:nvSpPr>
          <p:cNvPr id="25" name="Rectangle 24"/>
          <p:cNvSpPr/>
          <p:nvPr/>
        </p:nvSpPr>
        <p:spPr>
          <a:xfrm>
            <a:off x="542306" y="1063555"/>
            <a:ext cx="10145486" cy="461665"/>
          </a:xfrm>
          <a:prstGeom prst="rect">
            <a:avLst/>
          </a:prstGeom>
        </p:spPr>
        <p:txBody>
          <a:bodyPr wrap="square">
            <a:spAutoFit/>
          </a:bodyPr>
          <a:lstStyle/>
          <a:p>
            <a:pPr marL="342900" indent="-342900"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
        <p:nvSpPr>
          <p:cNvPr id="26" name="Rectangle 25"/>
          <p:cNvSpPr/>
          <p:nvPr/>
        </p:nvSpPr>
        <p:spPr>
          <a:xfrm>
            <a:off x="247737" y="988347"/>
            <a:ext cx="11471564" cy="5463034"/>
          </a:xfrm>
          <a:prstGeom prst="rect">
            <a:avLst/>
          </a:prstGeom>
        </p:spPr>
        <p:txBody>
          <a:bodyPr wrap="square">
            <a:spAutoFit/>
          </a:bodyPr>
          <a:lstStyle/>
          <a:p>
            <a:pPr algn="just"/>
            <a:r>
              <a:rPr lang="en-US" sz="2500" dirty="0"/>
              <a:t>Oracle Primavera P6 Enterprise Project Portfolio Management (P6 EPPM) is a project management tool that helps users plan, manage, and execute projects, programs, and portfolios. It offers a variety of features, including: </a:t>
            </a:r>
          </a:p>
          <a:p>
            <a:pPr marL="457200" indent="-457200" algn="just">
              <a:buFont typeface="+mj-lt"/>
              <a:buAutoNum type="arabicPeriod"/>
            </a:pPr>
            <a:r>
              <a:rPr lang="en-US" sz="2500" b="1" dirty="0"/>
              <a:t>Gantt charts</a:t>
            </a:r>
            <a:r>
              <a:rPr lang="en-US" sz="2500" dirty="0"/>
              <a:t>: Visualize project schedules and track progress with Gantt charts that show project phases, dependencies, and milestones </a:t>
            </a:r>
          </a:p>
          <a:p>
            <a:pPr marL="457200" indent="-457200" algn="just">
              <a:buFont typeface="+mj-lt"/>
              <a:buAutoNum type="arabicPeriod"/>
            </a:pPr>
            <a:r>
              <a:rPr lang="en-US" sz="2500" b="1" dirty="0"/>
              <a:t>Risk management</a:t>
            </a:r>
            <a:r>
              <a:rPr lang="en-US" sz="2500" dirty="0"/>
              <a:t>: Identify, analyze, and mitigate potential risks </a:t>
            </a:r>
          </a:p>
          <a:p>
            <a:pPr marL="457200" indent="-457200" algn="just">
              <a:buFont typeface="+mj-lt"/>
              <a:buAutoNum type="arabicPeriod"/>
            </a:pPr>
            <a:r>
              <a:rPr lang="en-US" sz="2500" b="1" dirty="0"/>
              <a:t>Dashboards</a:t>
            </a:r>
            <a:r>
              <a:rPr lang="en-US" sz="2500" dirty="0"/>
              <a:t>: Customizable dashboards provide real-time insights into project metrics </a:t>
            </a:r>
          </a:p>
          <a:p>
            <a:pPr marL="457200" indent="-457200" algn="just">
              <a:buFont typeface="+mj-lt"/>
              <a:buAutoNum type="arabicPeriod"/>
            </a:pPr>
            <a:r>
              <a:rPr lang="en-US" sz="2500" b="1" dirty="0"/>
              <a:t>Reporting and analytics</a:t>
            </a:r>
            <a:r>
              <a:rPr lang="en-US" sz="2500" dirty="0"/>
              <a:t>: Track project performance and analyze projects in detail </a:t>
            </a:r>
          </a:p>
          <a:p>
            <a:pPr marL="457200" indent="-457200" algn="just">
              <a:buFont typeface="+mj-lt"/>
              <a:buAutoNum type="arabicPeriod"/>
            </a:pPr>
            <a:r>
              <a:rPr lang="en-US" sz="2500" b="1" dirty="0"/>
              <a:t>Critical Path Method (CPM)</a:t>
            </a:r>
            <a:r>
              <a:rPr lang="en-US" sz="2500" dirty="0"/>
              <a:t>: Identify the longest dependent activities and the minimum time needed to complete a project </a:t>
            </a:r>
          </a:p>
          <a:p>
            <a:pPr marL="457200" indent="-457200" algn="just">
              <a:buFont typeface="+mj-lt"/>
              <a:buAutoNum type="arabicPeriod"/>
            </a:pPr>
            <a:r>
              <a:rPr lang="en-US" sz="2500" b="1" dirty="0"/>
              <a:t>Work Breakdown Structure (WBS)</a:t>
            </a:r>
            <a:r>
              <a:rPr lang="en-US" sz="2500" dirty="0"/>
              <a:t>: Create a comprehensive WBS to organize team efforts and resources </a:t>
            </a:r>
          </a:p>
          <a:p>
            <a:pPr algn="just"/>
            <a:endParaRPr lang="en-US" sz="2400" dirty="0"/>
          </a:p>
        </p:txBody>
      </p:sp>
      <p:sp>
        <p:nvSpPr>
          <p:cNvPr id="34" name="Rectangle 33">
            <a:extLst>
              <a:ext uri="{FF2B5EF4-FFF2-40B4-BE49-F238E27FC236}">
                <a16:creationId xmlns:a16="http://schemas.microsoft.com/office/drawing/2014/main" id="{731A936F-F269-359D-A45A-2FFA91880636}"/>
              </a:ext>
            </a:extLst>
          </p:cNvPr>
          <p:cNvSpPr/>
          <p:nvPr/>
        </p:nvSpPr>
        <p:spPr>
          <a:xfrm>
            <a:off x="0" y="6273538"/>
            <a:ext cx="12192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dirty="0"/>
              <a:t>Subject: </a:t>
            </a:r>
            <a:r>
              <a:rPr lang="en-US" b="1" dirty="0"/>
              <a:t>Entrepreneurship Development &amp; IPR                                                                                                            </a:t>
            </a:r>
            <a:r>
              <a:rPr lang="en-IN" dirty="0"/>
              <a:t>By: Alok Raj</a:t>
            </a:r>
          </a:p>
        </p:txBody>
      </p:sp>
    </p:spTree>
    <p:extLst>
      <p:ext uri="{BB962C8B-B14F-4D97-AF65-F5344CB8AC3E}">
        <p14:creationId xmlns:p14="http://schemas.microsoft.com/office/powerpoint/2010/main" val="15981553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F0187066428A84AA199CDA19E92ECF8" ma:contentTypeVersion="4" ma:contentTypeDescription="Create a new document." ma:contentTypeScope="" ma:versionID="47d9d770b6219f473c408660f71b854f">
  <xsd:schema xmlns:xsd="http://www.w3.org/2001/XMLSchema" xmlns:xs="http://www.w3.org/2001/XMLSchema" xmlns:p="http://schemas.microsoft.com/office/2006/metadata/properties" xmlns:ns2="d430450e-e793-48af-aeea-b7d63c4a8d9f" targetNamespace="http://schemas.microsoft.com/office/2006/metadata/properties" ma:root="true" ma:fieldsID="1c70a0067056082de9938516d0ca8d84" ns2:_="">
    <xsd:import namespace="d430450e-e793-48af-aeea-b7d63c4a8d9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0450e-e793-48af-aeea-b7d63c4a8d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FC9DBAD-1F43-49DE-B1CB-E0DF8E60DF90}">
  <ds:schemaRefs>
    <ds:schemaRef ds:uri="http://schemas.microsoft.com/office/2006/metadata/properties"/>
    <ds:schemaRef ds:uri="http://www.w3.org/2000/xmlns/"/>
    <ds:schemaRef ds:uri="http://schemas.microsoft.com/office/infopath/2007/PartnerControls"/>
  </ds:schemaRefs>
</ds:datastoreItem>
</file>

<file path=customXml/itemProps2.xml><?xml version="1.0" encoding="utf-8"?>
<ds:datastoreItem xmlns:ds="http://schemas.openxmlformats.org/officeDocument/2006/customXml" ds:itemID="{621FE5B1-B8E1-4A96-A8C0-B768E492DB99}">
  <ds:schemaRefs>
    <ds:schemaRef ds:uri="http://schemas.microsoft.com/office/2006/metadata/contentType"/>
    <ds:schemaRef ds:uri="http://schemas.microsoft.com/office/2006/metadata/properties/metaAttributes"/>
    <ds:schemaRef ds:uri="http://www.w3.org/2000/xmlns/"/>
    <ds:schemaRef ds:uri="http://www.w3.org/2001/XMLSchema"/>
    <ds:schemaRef ds:uri="d430450e-e793-48af-aeea-b7d63c4a8d9f"/>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ACB78FA-F553-4472-BEC5-D3C85C758B38}">
  <ds:schemaRefs>
    <ds:schemaRef ds:uri="http://schemas.microsoft.com/sharepoint/v3/contenttype/forms"/>
  </ds:schemaRefs>
</ds:datastoreItem>
</file>

<file path=docMetadata/LabelInfo.xml><?xml version="1.0" encoding="utf-8"?>
<clbl:labelList xmlns:clbl="http://schemas.microsoft.com/office/2020/mipLabelMetadata">
  <clbl:label id="{61363c43-8420-43ca-8f82-801627e16cdf}" enabled="0" method="" siteId="{61363c43-8420-43ca-8f82-801627e16cdf}" removed="1"/>
</clbl:labelList>
</file>

<file path=docProps/app.xml><?xml version="1.0" encoding="utf-8"?>
<Properties xmlns="http://schemas.openxmlformats.org/officeDocument/2006/extended-properties" xmlns:vt="http://schemas.openxmlformats.org/officeDocument/2006/docPropsVTypes">
  <TotalTime>1238</TotalTime>
  <Words>4183</Words>
  <Application>Microsoft Office PowerPoint</Application>
  <PresentationFormat>Widescreen</PresentationFormat>
  <Paragraphs>395</Paragraphs>
  <Slides>42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Arial</vt:lpstr>
      <vt:lpstr>Calibri</vt:lpstr>
      <vt:lpstr>Calibri Light</vt:lpstr>
      <vt:lpstr>CIDFont+F3</vt:lpstr>
      <vt:lpstr>Times New Roman</vt:lpstr>
      <vt:lpstr>Wingdings</vt:lpstr>
      <vt:lpstr>Office Theme</vt:lpstr>
      <vt:lpstr>PowerPoint Presentation</vt:lpstr>
      <vt:lpstr>PowerPoint Presentation</vt:lpstr>
      <vt:lpstr>PowerPoint Presentation</vt:lpstr>
      <vt:lpstr>Subject Syllabus</vt:lpstr>
      <vt:lpstr>Subject Syllabus</vt:lpstr>
      <vt:lpstr>SYLLABUS </vt:lpstr>
      <vt:lpstr>SUBJECT SYLLABUS </vt:lpstr>
      <vt:lpstr>SUBJECT SYLLABUS </vt:lpstr>
      <vt:lpstr>Program Outcomes</vt:lpstr>
      <vt:lpstr>PowerPoint Presentation</vt:lpstr>
      <vt:lpstr>COURSE OUTCOMES </vt:lpstr>
      <vt:lpstr>Program Educational Outcomes</vt:lpstr>
      <vt:lpstr>Unit Objectives </vt:lpstr>
      <vt:lpstr>Program Outcomes </vt:lpstr>
      <vt:lpstr>Program Outcomes </vt:lpstr>
      <vt:lpstr>Program Outcomes </vt:lpstr>
      <vt:lpstr>PowerPoint Presentation</vt:lpstr>
      <vt:lpstr>PowerPoint Presentation</vt:lpstr>
      <vt:lpstr>CO-PO MAPPING </vt:lpstr>
      <vt:lpstr>PSO MAPPING</vt:lpstr>
      <vt:lpstr>PowerPoint Presentation</vt:lpstr>
      <vt:lpstr>PROJECT - MEANING</vt:lpstr>
      <vt:lpstr>PROJECT MANAGEMENT </vt:lpstr>
      <vt:lpstr>SCOPE &amp; IMPORTANCE  OF PROJECT MANAGEMENT</vt:lpstr>
      <vt:lpstr>SCOPE &amp; IMPORTANCE  OF PROJECT MANAGEMENT</vt:lpstr>
      <vt:lpstr>ROLE OF PROJECT MANAGER</vt:lpstr>
      <vt:lpstr>PROJECT LIFE CYCLE </vt:lpstr>
      <vt:lpstr>PROJECT LIFE CYCLE </vt:lpstr>
      <vt:lpstr>PROJECT LIFE CYCLE </vt:lpstr>
      <vt:lpstr>PROJECT LIFE CYCLE </vt:lpstr>
      <vt:lpstr>PROJECT APPRAISAL</vt:lpstr>
      <vt:lpstr>Preparation of a real time project feasibility report</vt:lpstr>
      <vt:lpstr>PowerPoint Presentation</vt:lpstr>
      <vt:lpstr>Preparation of a real time project feasibility report</vt:lpstr>
      <vt:lpstr>An Example of Feasibility Study </vt:lpstr>
      <vt:lpstr>An Example of Feasibility Study </vt:lpstr>
      <vt:lpstr>TECHNICAL APPRAISAL</vt:lpstr>
      <vt:lpstr>ENVIRONMENTAL APPRAISAL</vt:lpstr>
      <vt:lpstr>MARKET APPRAISAL</vt:lpstr>
      <vt:lpstr>Market survey for forecasting future demand and sales</vt:lpstr>
      <vt:lpstr>MANAGERIAL APPRAISAL</vt:lpstr>
      <vt:lpstr>PROJECT MANAGEMENT TOOLS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Chahat Chaudhary</dc:creator>
  <cp:lastModifiedBy>Mr. Alok Raj</cp:lastModifiedBy>
  <cp:revision>213</cp:revision>
  <dcterms:created xsi:type="dcterms:W3CDTF">2024-08-04T11:46:24Z</dcterms:created>
  <dcterms:modified xsi:type="dcterms:W3CDTF">2025-09-01T04:02:53Z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0x0101008F0187066428A84AA199CDA19E92ECF8</vt:lpwstr>
  </property>
</Properties>
</file>