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1"/>
  </p:notesMasterIdLst>
  <p:sldIdLst>
    <p:sldId id="256" r:id="rId5"/>
    <p:sldId id="677" r:id="rId6"/>
    <p:sldId id="450" r:id="rId7"/>
    <p:sldId id="376" r:id="rId8"/>
    <p:sldId id="377" r:id="rId9"/>
    <p:sldId id="378" r:id="rId10"/>
    <p:sldId id="379" r:id="rId11"/>
    <p:sldId id="380" r:id="rId12"/>
    <p:sldId id="381" r:id="rId13"/>
    <p:sldId id="382" r:id="rId14"/>
    <p:sldId id="383" r:id="rId15"/>
    <p:sldId id="384" r:id="rId16"/>
    <p:sldId id="385" r:id="rId17"/>
    <p:sldId id="386" r:id="rId18"/>
    <p:sldId id="387" r:id="rId19"/>
    <p:sldId id="388" r:id="rId20"/>
    <p:sldId id="389" r:id="rId21"/>
    <p:sldId id="390" r:id="rId22"/>
    <p:sldId id="391" r:id="rId23"/>
    <p:sldId id="392" r:id="rId24"/>
    <p:sldId id="393" r:id="rId25"/>
    <p:sldId id="394" r:id="rId26"/>
    <p:sldId id="395" r:id="rId27"/>
    <p:sldId id="396" r:id="rId28"/>
    <p:sldId id="397" r:id="rId29"/>
    <p:sldId id="398" r:id="rId30"/>
    <p:sldId id="399" r:id="rId31"/>
    <p:sldId id="400" r:id="rId32"/>
    <p:sldId id="401" r:id="rId33"/>
    <p:sldId id="402" r:id="rId34"/>
    <p:sldId id="403" r:id="rId35"/>
    <p:sldId id="404" r:id="rId36"/>
    <p:sldId id="405" r:id="rId37"/>
    <p:sldId id="406" r:id="rId38"/>
    <p:sldId id="407" r:id="rId39"/>
    <p:sldId id="408" r:id="rId40"/>
    <p:sldId id="409" r:id="rId41"/>
    <p:sldId id="410" r:id="rId42"/>
    <p:sldId id="411" r:id="rId43"/>
    <p:sldId id="412" r:id="rId44"/>
    <p:sldId id="413" r:id="rId45"/>
    <p:sldId id="414" r:id="rId46"/>
    <p:sldId id="415" r:id="rId47"/>
    <p:sldId id="416" r:id="rId48"/>
    <p:sldId id="418" r:id="rId49"/>
    <p:sldId id="419" r:id="rId50"/>
    <p:sldId id="420" r:id="rId51"/>
    <p:sldId id="421" r:id="rId52"/>
    <p:sldId id="422" r:id="rId53"/>
    <p:sldId id="423" r:id="rId54"/>
    <p:sldId id="424" r:id="rId55"/>
    <p:sldId id="425" r:id="rId56"/>
    <p:sldId id="426" r:id="rId57"/>
    <p:sldId id="427" r:id="rId58"/>
    <p:sldId id="428" r:id="rId59"/>
    <p:sldId id="429" r:id="rId60"/>
    <p:sldId id="430" r:id="rId61"/>
    <p:sldId id="431" r:id="rId62"/>
    <p:sldId id="432" r:id="rId63"/>
    <p:sldId id="433" r:id="rId64"/>
    <p:sldId id="434" r:id="rId65"/>
    <p:sldId id="435" r:id="rId66"/>
    <p:sldId id="436" r:id="rId67"/>
    <p:sldId id="437" r:id="rId68"/>
    <p:sldId id="438" r:id="rId69"/>
    <p:sldId id="439" r:id="rId70"/>
    <p:sldId id="440" r:id="rId71"/>
    <p:sldId id="441" r:id="rId72"/>
    <p:sldId id="442" r:id="rId73"/>
    <p:sldId id="443" r:id="rId74"/>
    <p:sldId id="444" r:id="rId75"/>
    <p:sldId id="445" r:id="rId76"/>
    <p:sldId id="446" r:id="rId77"/>
    <p:sldId id="447" r:id="rId78"/>
    <p:sldId id="448" r:id="rId79"/>
    <p:sldId id="449"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222A"/>
    <a:srgbClr val="D74349"/>
    <a:srgbClr val="D42129"/>
    <a:srgbClr val="383A3C"/>
    <a:srgbClr val="FAC6C7"/>
    <a:srgbClr val="FFFFFF"/>
    <a:srgbClr val="D31E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6" d="100"/>
          <a:sy n="46" d="100"/>
        </p:scale>
        <p:origin x="38" y="89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239B75-C086-4DA3-8D65-53C957BB0609}" type="datetimeFigureOut">
              <a:rPr lang="en-US" smtClean="0"/>
              <a:pPr/>
              <a:t>01-Sep-25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050A7C-AF4B-465A-AB3F-19805771395A}" type="slidenum">
              <a:rPr lang="en-US" smtClean="0"/>
              <a:pPr/>
              <a:t>‹#›</a:t>
            </a:fld>
            <a:endParaRPr lang="en-US"/>
          </a:p>
        </p:txBody>
      </p:sp>
    </p:spTree>
    <p:extLst>
      <p:ext uri="{BB962C8B-B14F-4D97-AF65-F5344CB8AC3E}">
        <p14:creationId xmlns:p14="http://schemas.microsoft.com/office/powerpoint/2010/main" val="2718317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78C0B-4674-A6E5-98EE-3E0A37A760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DBDC33E-5515-3B08-A1C9-3B08B04A73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76A6168-8D13-EA74-B0A2-DCD85AB09493}"/>
              </a:ext>
            </a:extLst>
          </p:cNvPr>
          <p:cNvSpPr>
            <a:spLocks noGrp="1"/>
          </p:cNvSpPr>
          <p:nvPr>
            <p:ph type="dt" sz="half" idx="10"/>
          </p:nvPr>
        </p:nvSpPr>
        <p:spPr/>
        <p:txBody>
          <a:bodyPr/>
          <a:lstStyle/>
          <a:p>
            <a:fld id="{75448EA4-4DB1-4FEB-AECF-552EEDB16093}" type="datetimeFigureOut">
              <a:rPr lang="en-IN" smtClean="0"/>
              <a:pPr/>
              <a:t>01-09-2025</a:t>
            </a:fld>
            <a:endParaRPr lang="en-IN"/>
          </a:p>
        </p:txBody>
      </p:sp>
      <p:sp>
        <p:nvSpPr>
          <p:cNvPr id="5" name="Footer Placeholder 4">
            <a:extLst>
              <a:ext uri="{FF2B5EF4-FFF2-40B4-BE49-F238E27FC236}">
                <a16:creationId xmlns:a16="http://schemas.microsoft.com/office/drawing/2014/main" id="{0ACD4FE2-64B6-2A90-3DC9-0BCD3A5480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359364-21F2-468A-07FD-FCE95F9502EC}"/>
              </a:ext>
            </a:extLst>
          </p:cNvPr>
          <p:cNvSpPr>
            <a:spLocks noGrp="1"/>
          </p:cNvSpPr>
          <p:nvPr>
            <p:ph type="sldNum" sz="quarter" idx="12"/>
          </p:nvPr>
        </p:nvSpPr>
        <p:spPr/>
        <p:txBody>
          <a:bodyPr/>
          <a:lstStyle/>
          <a:p>
            <a:fld id="{5721E972-0DBC-4911-A10C-C7172303CA11}" type="slidenum">
              <a:rPr lang="en-IN" smtClean="0"/>
              <a:pPr/>
              <a:t>‹#›</a:t>
            </a:fld>
            <a:endParaRPr lang="en-IN"/>
          </a:p>
        </p:txBody>
      </p:sp>
    </p:spTree>
    <p:extLst>
      <p:ext uri="{BB962C8B-B14F-4D97-AF65-F5344CB8AC3E}">
        <p14:creationId xmlns:p14="http://schemas.microsoft.com/office/powerpoint/2010/main" val="2475969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C0331D-5BF1-A847-6661-FF22863704E3}"/>
              </a:ext>
            </a:extLst>
          </p:cNvPr>
          <p:cNvSpPr>
            <a:spLocks noGrp="1"/>
          </p:cNvSpPr>
          <p:nvPr>
            <p:ph idx="1"/>
          </p:nvPr>
        </p:nvSpPr>
        <p:spPr>
          <a:xfrm>
            <a:off x="217715" y="1175661"/>
            <a:ext cx="11727542" cy="50013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8" name="Picture 7" descr="A close-up of a logo&#10;&#10;Description automatically generated">
            <a:extLst>
              <a:ext uri="{FF2B5EF4-FFF2-40B4-BE49-F238E27FC236}">
                <a16:creationId xmlns:a16="http://schemas.microsoft.com/office/drawing/2014/main" id="{9B1B1363-C691-78F8-EF28-A8155D45F9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9" name="Straight Connector 8">
            <a:extLst>
              <a:ext uri="{FF2B5EF4-FFF2-40B4-BE49-F238E27FC236}">
                <a16:creationId xmlns:a16="http://schemas.microsoft.com/office/drawing/2014/main" id="{5B902227-E54D-B643-D46C-38A97C78AEAD}"/>
              </a:ext>
            </a:extLst>
          </p:cNvPr>
          <p:cNvCxnSpPr>
            <a:cxnSpLocks/>
          </p:cNvCxnSpPr>
          <p:nvPr userDrawn="1"/>
        </p:nvCxnSpPr>
        <p:spPr>
          <a:xfrm>
            <a:off x="0" y="958646"/>
            <a:ext cx="12206980" cy="0"/>
          </a:xfrm>
          <a:prstGeom prst="line">
            <a:avLst/>
          </a:prstGeom>
          <a:ln w="38100">
            <a:solidFill>
              <a:srgbClr val="D4222A"/>
            </a:solidFill>
          </a:ln>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9186A1FD-01D7-CDF6-B4D1-33509286253B}"/>
              </a:ext>
            </a:extLst>
          </p:cNvPr>
          <p:cNvSpPr>
            <a:spLocks noGrp="1"/>
          </p:cNvSpPr>
          <p:nvPr>
            <p:ph type="title"/>
          </p:nvPr>
        </p:nvSpPr>
        <p:spPr>
          <a:xfrm>
            <a:off x="1984828" y="92983"/>
            <a:ext cx="10160001" cy="764041"/>
          </a:xfrm>
        </p:spPr>
        <p:txBody>
          <a:bodyPr/>
          <a:lstStyle>
            <a:lvl1pPr>
              <a:defRPr>
                <a:solidFill>
                  <a:srgbClr val="D4222A"/>
                </a:solidFill>
              </a:defRPr>
            </a:lvl1pPr>
          </a:lstStyle>
          <a:p>
            <a:r>
              <a:rPr lang="en-US"/>
              <a:t>Click to edit Master title style</a:t>
            </a:r>
            <a:endParaRPr lang="en-IN"/>
          </a:p>
        </p:txBody>
      </p:sp>
      <p:sp>
        <p:nvSpPr>
          <p:cNvPr id="11" name="Footer Placeholder 4">
            <a:extLst>
              <a:ext uri="{FF2B5EF4-FFF2-40B4-BE49-F238E27FC236}">
                <a16:creationId xmlns:a16="http://schemas.microsoft.com/office/drawing/2014/main" id="{A30F79E1-9D56-B020-3E3E-72B959F476D5}"/>
              </a:ext>
            </a:extLst>
          </p:cNvPr>
          <p:cNvSpPr txBox="1">
            <a:spLocks/>
          </p:cNvSpPr>
          <p:nvPr userDrawn="1"/>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Subject: Entrepreneurship Development &amp; Intellectual Property Rights       	  	by: Alok Raj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0275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20746-2CE1-56A0-E21D-E04BE15EA6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544C42-B4A5-8CC3-CFC1-2D05AAA6DE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3CB838-9622-6884-5F1C-C5A38F8CAC50}"/>
              </a:ext>
            </a:extLst>
          </p:cNvPr>
          <p:cNvSpPr>
            <a:spLocks noGrp="1"/>
          </p:cNvSpPr>
          <p:nvPr>
            <p:ph type="dt" sz="half" idx="10"/>
          </p:nvPr>
        </p:nvSpPr>
        <p:spPr/>
        <p:txBody>
          <a:bodyPr/>
          <a:lstStyle/>
          <a:p>
            <a:fld id="{75448EA4-4DB1-4FEB-AECF-552EEDB16093}" type="datetimeFigureOut">
              <a:rPr lang="en-IN" smtClean="0"/>
              <a:pPr/>
              <a:t>01-09-2025</a:t>
            </a:fld>
            <a:endParaRPr lang="en-IN"/>
          </a:p>
        </p:txBody>
      </p:sp>
      <p:sp>
        <p:nvSpPr>
          <p:cNvPr id="5" name="Footer Placeholder 4">
            <a:extLst>
              <a:ext uri="{FF2B5EF4-FFF2-40B4-BE49-F238E27FC236}">
                <a16:creationId xmlns:a16="http://schemas.microsoft.com/office/drawing/2014/main" id="{79D7CBDF-40B8-FD01-9DD7-36D92983F0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D894E4-FFAB-B91C-74C9-DAA9E0863C23}"/>
              </a:ext>
            </a:extLst>
          </p:cNvPr>
          <p:cNvSpPr>
            <a:spLocks noGrp="1"/>
          </p:cNvSpPr>
          <p:nvPr>
            <p:ph type="sldNum" sz="quarter" idx="12"/>
          </p:nvPr>
        </p:nvSpPr>
        <p:spPr/>
        <p:txBody>
          <a:bodyPr/>
          <a:lstStyle/>
          <a:p>
            <a:fld id="{5721E972-0DBC-4911-A10C-C7172303CA11}" type="slidenum">
              <a:rPr lang="en-IN" smtClean="0"/>
              <a:pPr/>
              <a:t>‹#›</a:t>
            </a:fld>
            <a:endParaRPr lang="en-IN"/>
          </a:p>
        </p:txBody>
      </p:sp>
      <p:pic>
        <p:nvPicPr>
          <p:cNvPr id="7" name="Picture 6" descr="A close-up of a logo&#10;&#10;Description automatically generated">
            <a:extLst>
              <a:ext uri="{FF2B5EF4-FFF2-40B4-BE49-F238E27FC236}">
                <a16:creationId xmlns:a16="http://schemas.microsoft.com/office/drawing/2014/main" id="{733CD00B-2E1E-81EF-0123-171DE8817BF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1468477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0CAA-FEDC-930F-6F25-399E909596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9AC00F-8304-E528-D4EC-C27126D469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2110F4-490C-1BC2-30F7-804738C820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EA7D5D-E7F3-09AB-5122-0AD61F87B27F}"/>
              </a:ext>
            </a:extLst>
          </p:cNvPr>
          <p:cNvSpPr>
            <a:spLocks noGrp="1"/>
          </p:cNvSpPr>
          <p:nvPr>
            <p:ph type="dt" sz="half" idx="10"/>
          </p:nvPr>
        </p:nvSpPr>
        <p:spPr/>
        <p:txBody>
          <a:bodyPr/>
          <a:lstStyle/>
          <a:p>
            <a:fld id="{75448EA4-4DB1-4FEB-AECF-552EEDB16093}" type="datetimeFigureOut">
              <a:rPr lang="en-IN" smtClean="0"/>
              <a:pPr/>
              <a:t>01-09-2025</a:t>
            </a:fld>
            <a:endParaRPr lang="en-IN"/>
          </a:p>
        </p:txBody>
      </p:sp>
      <p:sp>
        <p:nvSpPr>
          <p:cNvPr id="6" name="Footer Placeholder 5">
            <a:extLst>
              <a:ext uri="{FF2B5EF4-FFF2-40B4-BE49-F238E27FC236}">
                <a16:creationId xmlns:a16="http://schemas.microsoft.com/office/drawing/2014/main" id="{21CE55D5-CB28-14AC-A5D6-7C4D182091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38F191-EEBC-5148-D0A6-39FD63DC9A97}"/>
              </a:ext>
            </a:extLst>
          </p:cNvPr>
          <p:cNvSpPr>
            <a:spLocks noGrp="1"/>
          </p:cNvSpPr>
          <p:nvPr>
            <p:ph type="sldNum" sz="quarter" idx="12"/>
          </p:nvPr>
        </p:nvSpPr>
        <p:spPr/>
        <p:txBody>
          <a:bodyPr/>
          <a:lstStyle/>
          <a:p>
            <a:fld id="{5721E972-0DBC-4911-A10C-C7172303CA11}" type="slidenum">
              <a:rPr lang="en-IN" smtClean="0"/>
              <a:pPr/>
              <a:t>‹#›</a:t>
            </a:fld>
            <a:endParaRPr lang="en-IN"/>
          </a:p>
        </p:txBody>
      </p:sp>
      <p:pic>
        <p:nvPicPr>
          <p:cNvPr id="8" name="Picture 7" descr="A close-up of a logo&#10;&#10;Description automatically generated">
            <a:extLst>
              <a:ext uri="{FF2B5EF4-FFF2-40B4-BE49-F238E27FC236}">
                <a16:creationId xmlns:a16="http://schemas.microsoft.com/office/drawing/2014/main" id="{13990B45-B4D7-A244-4402-E62B79167E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521002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DE053-2667-68E2-0018-4DECABCBE4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9FCE6C-3A97-50ED-F685-DC0A1DE7FA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A6DDB9-1866-D6A4-370B-829FCDA10B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059776-CC1A-0E43-5E8F-40CF53D4E7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3E8DB9-61B9-1873-4DA9-2A471F7FB8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DE1CF1-EE96-195C-5297-1B1C1CA6C808}"/>
              </a:ext>
            </a:extLst>
          </p:cNvPr>
          <p:cNvSpPr>
            <a:spLocks noGrp="1"/>
          </p:cNvSpPr>
          <p:nvPr>
            <p:ph type="dt" sz="half" idx="10"/>
          </p:nvPr>
        </p:nvSpPr>
        <p:spPr/>
        <p:txBody>
          <a:bodyPr/>
          <a:lstStyle/>
          <a:p>
            <a:fld id="{75448EA4-4DB1-4FEB-AECF-552EEDB16093}" type="datetimeFigureOut">
              <a:rPr lang="en-IN" smtClean="0"/>
              <a:pPr/>
              <a:t>01-09-2025</a:t>
            </a:fld>
            <a:endParaRPr lang="en-IN"/>
          </a:p>
        </p:txBody>
      </p:sp>
      <p:sp>
        <p:nvSpPr>
          <p:cNvPr id="8" name="Footer Placeholder 7">
            <a:extLst>
              <a:ext uri="{FF2B5EF4-FFF2-40B4-BE49-F238E27FC236}">
                <a16:creationId xmlns:a16="http://schemas.microsoft.com/office/drawing/2014/main" id="{1F744C50-A6B7-B5CB-702A-721A352C03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004BED5-9408-190F-A1C1-306BF1030669}"/>
              </a:ext>
            </a:extLst>
          </p:cNvPr>
          <p:cNvSpPr>
            <a:spLocks noGrp="1"/>
          </p:cNvSpPr>
          <p:nvPr>
            <p:ph type="sldNum" sz="quarter" idx="12"/>
          </p:nvPr>
        </p:nvSpPr>
        <p:spPr/>
        <p:txBody>
          <a:bodyPr/>
          <a:lstStyle/>
          <a:p>
            <a:fld id="{5721E972-0DBC-4911-A10C-C7172303CA11}" type="slidenum">
              <a:rPr lang="en-IN" smtClean="0"/>
              <a:pPr/>
              <a:t>‹#›</a:t>
            </a:fld>
            <a:endParaRPr lang="en-IN"/>
          </a:p>
        </p:txBody>
      </p:sp>
      <p:pic>
        <p:nvPicPr>
          <p:cNvPr id="10" name="Picture 9" descr="A close-up of a logo&#10;&#10;Description automatically generated">
            <a:extLst>
              <a:ext uri="{FF2B5EF4-FFF2-40B4-BE49-F238E27FC236}">
                <a16:creationId xmlns:a16="http://schemas.microsoft.com/office/drawing/2014/main" id="{5BB06DE5-D595-6F8A-7E5F-2A44754953F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296129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BDFC4-1585-AC02-0A53-95EEEB67AB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6BA6A1-C400-4BD9-20FB-2E5E9601598B}"/>
              </a:ext>
            </a:extLst>
          </p:cNvPr>
          <p:cNvSpPr>
            <a:spLocks noGrp="1"/>
          </p:cNvSpPr>
          <p:nvPr>
            <p:ph type="dt" sz="half" idx="10"/>
          </p:nvPr>
        </p:nvSpPr>
        <p:spPr/>
        <p:txBody>
          <a:bodyPr/>
          <a:lstStyle/>
          <a:p>
            <a:fld id="{75448EA4-4DB1-4FEB-AECF-552EEDB16093}" type="datetimeFigureOut">
              <a:rPr lang="en-IN" smtClean="0"/>
              <a:pPr/>
              <a:t>01-09-2025</a:t>
            </a:fld>
            <a:endParaRPr lang="en-IN"/>
          </a:p>
        </p:txBody>
      </p:sp>
      <p:sp>
        <p:nvSpPr>
          <p:cNvPr id="4" name="Footer Placeholder 3">
            <a:extLst>
              <a:ext uri="{FF2B5EF4-FFF2-40B4-BE49-F238E27FC236}">
                <a16:creationId xmlns:a16="http://schemas.microsoft.com/office/drawing/2014/main" id="{A85888F6-24D6-F2A1-B474-DB01C0857F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7ACB78E-3F05-C874-F1A7-75E5A1114A9D}"/>
              </a:ext>
            </a:extLst>
          </p:cNvPr>
          <p:cNvSpPr>
            <a:spLocks noGrp="1"/>
          </p:cNvSpPr>
          <p:nvPr>
            <p:ph type="sldNum" sz="quarter" idx="12"/>
          </p:nvPr>
        </p:nvSpPr>
        <p:spPr/>
        <p:txBody>
          <a:bodyPr/>
          <a:lstStyle/>
          <a:p>
            <a:fld id="{5721E972-0DBC-4911-A10C-C7172303CA11}" type="slidenum">
              <a:rPr lang="en-IN" smtClean="0"/>
              <a:pPr/>
              <a:t>‹#›</a:t>
            </a:fld>
            <a:endParaRPr lang="en-IN"/>
          </a:p>
        </p:txBody>
      </p:sp>
      <p:pic>
        <p:nvPicPr>
          <p:cNvPr id="6" name="Picture 5" descr="A close-up of a logo&#10;&#10;Description automatically generated">
            <a:extLst>
              <a:ext uri="{FF2B5EF4-FFF2-40B4-BE49-F238E27FC236}">
                <a16:creationId xmlns:a16="http://schemas.microsoft.com/office/drawing/2014/main" id="{4753E253-A55F-9C80-8323-7CBF3AB3CA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961815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7787E0-0777-E6B7-3CAF-AC35A65FBEE1}"/>
              </a:ext>
            </a:extLst>
          </p:cNvPr>
          <p:cNvSpPr>
            <a:spLocks noGrp="1"/>
          </p:cNvSpPr>
          <p:nvPr>
            <p:ph type="dt" sz="half" idx="10"/>
          </p:nvPr>
        </p:nvSpPr>
        <p:spPr/>
        <p:txBody>
          <a:bodyPr/>
          <a:lstStyle/>
          <a:p>
            <a:fld id="{75448EA4-4DB1-4FEB-AECF-552EEDB16093}" type="datetimeFigureOut">
              <a:rPr lang="en-IN" smtClean="0"/>
              <a:pPr/>
              <a:t>01-09-2025</a:t>
            </a:fld>
            <a:endParaRPr lang="en-IN"/>
          </a:p>
        </p:txBody>
      </p:sp>
      <p:sp>
        <p:nvSpPr>
          <p:cNvPr id="3" name="Footer Placeholder 2">
            <a:extLst>
              <a:ext uri="{FF2B5EF4-FFF2-40B4-BE49-F238E27FC236}">
                <a16:creationId xmlns:a16="http://schemas.microsoft.com/office/drawing/2014/main" id="{9EA3AFFB-505E-A1FE-9B93-680B4637D3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9718E1-AD09-3C4B-DE29-B9B8507E6459}"/>
              </a:ext>
            </a:extLst>
          </p:cNvPr>
          <p:cNvSpPr>
            <a:spLocks noGrp="1"/>
          </p:cNvSpPr>
          <p:nvPr>
            <p:ph type="sldNum" sz="quarter" idx="12"/>
          </p:nvPr>
        </p:nvSpPr>
        <p:spPr/>
        <p:txBody>
          <a:bodyPr/>
          <a:lstStyle/>
          <a:p>
            <a:fld id="{5721E972-0DBC-4911-A10C-C7172303CA11}" type="slidenum">
              <a:rPr lang="en-IN" smtClean="0"/>
              <a:pPr/>
              <a:t>‹#›</a:t>
            </a:fld>
            <a:endParaRPr lang="en-IN"/>
          </a:p>
        </p:txBody>
      </p:sp>
      <p:pic>
        <p:nvPicPr>
          <p:cNvPr id="5" name="Picture 4" descr="A close-up of a logo&#10;&#10;Description automatically generated">
            <a:extLst>
              <a:ext uri="{FF2B5EF4-FFF2-40B4-BE49-F238E27FC236}">
                <a16:creationId xmlns:a16="http://schemas.microsoft.com/office/drawing/2014/main" id="{182B88B3-97E4-2AF7-D4E0-E7A8447BBD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247863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4BEF-F946-1FA8-DFA7-CBA85E0E1B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E2A632-F103-FEEF-E8D7-7876C2FDE8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510111-9FB4-4527-D6E6-D80E77AD7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E31299-E185-022A-0706-F906AAAF9E2B}"/>
              </a:ext>
            </a:extLst>
          </p:cNvPr>
          <p:cNvSpPr>
            <a:spLocks noGrp="1"/>
          </p:cNvSpPr>
          <p:nvPr>
            <p:ph type="dt" sz="half" idx="10"/>
          </p:nvPr>
        </p:nvSpPr>
        <p:spPr/>
        <p:txBody>
          <a:bodyPr/>
          <a:lstStyle/>
          <a:p>
            <a:fld id="{75448EA4-4DB1-4FEB-AECF-552EEDB16093}" type="datetimeFigureOut">
              <a:rPr lang="en-IN" smtClean="0"/>
              <a:pPr/>
              <a:t>01-09-2025</a:t>
            </a:fld>
            <a:endParaRPr lang="en-IN"/>
          </a:p>
        </p:txBody>
      </p:sp>
      <p:sp>
        <p:nvSpPr>
          <p:cNvPr id="6" name="Footer Placeholder 5">
            <a:extLst>
              <a:ext uri="{FF2B5EF4-FFF2-40B4-BE49-F238E27FC236}">
                <a16:creationId xmlns:a16="http://schemas.microsoft.com/office/drawing/2014/main" id="{CF712A21-3761-0FC0-FFD7-7A6D5881A1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68780A-0A07-1B83-40DE-608AF22D3A56}"/>
              </a:ext>
            </a:extLst>
          </p:cNvPr>
          <p:cNvSpPr>
            <a:spLocks noGrp="1"/>
          </p:cNvSpPr>
          <p:nvPr>
            <p:ph type="sldNum" sz="quarter" idx="12"/>
          </p:nvPr>
        </p:nvSpPr>
        <p:spPr/>
        <p:txBody>
          <a:bodyPr/>
          <a:lstStyle/>
          <a:p>
            <a:fld id="{5721E972-0DBC-4911-A10C-C7172303CA11}" type="slidenum">
              <a:rPr lang="en-IN" smtClean="0"/>
              <a:pPr/>
              <a:t>‹#›</a:t>
            </a:fld>
            <a:endParaRPr lang="en-IN"/>
          </a:p>
        </p:txBody>
      </p:sp>
    </p:spTree>
    <p:extLst>
      <p:ext uri="{BB962C8B-B14F-4D97-AF65-F5344CB8AC3E}">
        <p14:creationId xmlns:p14="http://schemas.microsoft.com/office/powerpoint/2010/main" val="3753899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DE87-FE21-5F32-2A92-932A01DA9E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B8DB36-F828-0125-F504-4E13473A47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E4259F-6C9D-10CD-957E-CB662F5FD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8B4189-D360-9C7C-C42E-1C2DB1E94245}"/>
              </a:ext>
            </a:extLst>
          </p:cNvPr>
          <p:cNvSpPr>
            <a:spLocks noGrp="1"/>
          </p:cNvSpPr>
          <p:nvPr>
            <p:ph type="dt" sz="half" idx="10"/>
          </p:nvPr>
        </p:nvSpPr>
        <p:spPr/>
        <p:txBody>
          <a:bodyPr/>
          <a:lstStyle/>
          <a:p>
            <a:fld id="{75448EA4-4DB1-4FEB-AECF-552EEDB16093}" type="datetimeFigureOut">
              <a:rPr lang="en-IN" smtClean="0"/>
              <a:pPr/>
              <a:t>01-09-2025</a:t>
            </a:fld>
            <a:endParaRPr lang="en-IN"/>
          </a:p>
        </p:txBody>
      </p:sp>
      <p:sp>
        <p:nvSpPr>
          <p:cNvPr id="6" name="Footer Placeholder 5">
            <a:extLst>
              <a:ext uri="{FF2B5EF4-FFF2-40B4-BE49-F238E27FC236}">
                <a16:creationId xmlns:a16="http://schemas.microsoft.com/office/drawing/2014/main" id="{A351DB9F-3059-21B2-F10D-D61A02ADF1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2A0A69-970A-A8F0-C450-01FCBEDDD3A7}"/>
              </a:ext>
            </a:extLst>
          </p:cNvPr>
          <p:cNvSpPr>
            <a:spLocks noGrp="1"/>
          </p:cNvSpPr>
          <p:nvPr>
            <p:ph type="sldNum" sz="quarter" idx="12"/>
          </p:nvPr>
        </p:nvSpPr>
        <p:spPr/>
        <p:txBody>
          <a:bodyPr/>
          <a:lstStyle/>
          <a:p>
            <a:fld id="{5721E972-0DBC-4911-A10C-C7172303CA11}" type="slidenum">
              <a:rPr lang="en-IN" smtClean="0"/>
              <a:pPr/>
              <a:t>‹#›</a:t>
            </a:fld>
            <a:endParaRPr lang="en-IN"/>
          </a:p>
        </p:txBody>
      </p:sp>
    </p:spTree>
    <p:extLst>
      <p:ext uri="{BB962C8B-B14F-4D97-AF65-F5344CB8AC3E}">
        <p14:creationId xmlns:p14="http://schemas.microsoft.com/office/powerpoint/2010/main" val="2854624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44B39-5119-1C6C-79B7-5FD4DBCC0A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CC43E8-7686-ADD9-C0EC-5526920219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64BF84-C7C7-FF8B-5A62-3CF75C83F854}"/>
              </a:ext>
            </a:extLst>
          </p:cNvPr>
          <p:cNvSpPr>
            <a:spLocks noGrp="1"/>
          </p:cNvSpPr>
          <p:nvPr>
            <p:ph type="dt" sz="half" idx="10"/>
          </p:nvPr>
        </p:nvSpPr>
        <p:spPr/>
        <p:txBody>
          <a:bodyPr/>
          <a:lstStyle/>
          <a:p>
            <a:fld id="{75448EA4-4DB1-4FEB-AECF-552EEDB16093}" type="datetimeFigureOut">
              <a:rPr lang="en-IN" smtClean="0"/>
              <a:pPr/>
              <a:t>01-09-2025</a:t>
            </a:fld>
            <a:endParaRPr lang="en-IN"/>
          </a:p>
        </p:txBody>
      </p:sp>
      <p:sp>
        <p:nvSpPr>
          <p:cNvPr id="5" name="Footer Placeholder 4">
            <a:extLst>
              <a:ext uri="{FF2B5EF4-FFF2-40B4-BE49-F238E27FC236}">
                <a16:creationId xmlns:a16="http://schemas.microsoft.com/office/drawing/2014/main" id="{CC6B546C-BFE5-F348-B37C-70013A099E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9FC48B-B9AB-D901-9148-02C63FCFA694}"/>
              </a:ext>
            </a:extLst>
          </p:cNvPr>
          <p:cNvSpPr>
            <a:spLocks noGrp="1"/>
          </p:cNvSpPr>
          <p:nvPr>
            <p:ph type="sldNum" sz="quarter" idx="12"/>
          </p:nvPr>
        </p:nvSpPr>
        <p:spPr/>
        <p:txBody>
          <a:bodyPr/>
          <a:lstStyle/>
          <a:p>
            <a:fld id="{5721E972-0DBC-4911-A10C-C7172303CA11}" type="slidenum">
              <a:rPr lang="en-IN" smtClean="0"/>
              <a:pPr/>
              <a:t>‹#›</a:t>
            </a:fld>
            <a:endParaRPr lang="en-IN"/>
          </a:p>
        </p:txBody>
      </p:sp>
    </p:spTree>
    <p:extLst>
      <p:ext uri="{BB962C8B-B14F-4D97-AF65-F5344CB8AC3E}">
        <p14:creationId xmlns:p14="http://schemas.microsoft.com/office/powerpoint/2010/main" val="239792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F4562C-82A5-A134-61D0-392ED3A39A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664D4E-85F5-5738-D723-BC26937EDC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8AC932-5D2C-FDC6-A304-F22FDF44ADB7}"/>
              </a:ext>
            </a:extLst>
          </p:cNvPr>
          <p:cNvSpPr>
            <a:spLocks noGrp="1"/>
          </p:cNvSpPr>
          <p:nvPr>
            <p:ph type="dt" sz="half" idx="10"/>
          </p:nvPr>
        </p:nvSpPr>
        <p:spPr/>
        <p:txBody>
          <a:bodyPr/>
          <a:lstStyle/>
          <a:p>
            <a:fld id="{75448EA4-4DB1-4FEB-AECF-552EEDB16093}" type="datetimeFigureOut">
              <a:rPr lang="en-IN" smtClean="0"/>
              <a:pPr/>
              <a:t>01-09-2025</a:t>
            </a:fld>
            <a:endParaRPr lang="en-IN"/>
          </a:p>
        </p:txBody>
      </p:sp>
      <p:sp>
        <p:nvSpPr>
          <p:cNvPr id="5" name="Footer Placeholder 4">
            <a:extLst>
              <a:ext uri="{FF2B5EF4-FFF2-40B4-BE49-F238E27FC236}">
                <a16:creationId xmlns:a16="http://schemas.microsoft.com/office/drawing/2014/main" id="{2C5A9CE1-8FA8-5FC7-DB30-6CEB3811A4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EA1330-FEFE-917C-3E6C-7F5316FF663D}"/>
              </a:ext>
            </a:extLst>
          </p:cNvPr>
          <p:cNvSpPr>
            <a:spLocks noGrp="1"/>
          </p:cNvSpPr>
          <p:nvPr>
            <p:ph type="sldNum" sz="quarter" idx="12"/>
          </p:nvPr>
        </p:nvSpPr>
        <p:spPr/>
        <p:txBody>
          <a:bodyPr/>
          <a:lstStyle/>
          <a:p>
            <a:fld id="{5721E972-0DBC-4911-A10C-C7172303CA11}" type="slidenum">
              <a:rPr lang="en-IN" smtClean="0"/>
              <a:pPr/>
              <a:t>‹#›</a:t>
            </a:fld>
            <a:endParaRPr lang="en-IN"/>
          </a:p>
        </p:txBody>
      </p:sp>
    </p:spTree>
    <p:extLst>
      <p:ext uri="{BB962C8B-B14F-4D97-AF65-F5344CB8AC3E}">
        <p14:creationId xmlns:p14="http://schemas.microsoft.com/office/powerpoint/2010/main" val="755491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C618AA-4E90-4A44-02CA-F105EE416E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EC79BC-E7E0-B233-AB55-DA0084ED5F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9491AD-F8B8-70FC-C05F-37256DD4C0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448EA4-4DB1-4FEB-AECF-552EEDB16093}" type="datetimeFigureOut">
              <a:rPr lang="en-IN" smtClean="0"/>
              <a:pPr/>
              <a:t>01-09-2025</a:t>
            </a:fld>
            <a:endParaRPr lang="en-IN"/>
          </a:p>
        </p:txBody>
      </p:sp>
      <p:sp>
        <p:nvSpPr>
          <p:cNvPr id="5" name="Footer Placeholder 4">
            <a:extLst>
              <a:ext uri="{FF2B5EF4-FFF2-40B4-BE49-F238E27FC236}">
                <a16:creationId xmlns:a16="http://schemas.microsoft.com/office/drawing/2014/main" id="{0E84566F-263C-028A-E724-8FCD0E90D9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B6EB9BA-AF92-C5BF-1C5F-89FAE06102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21E972-0DBC-4911-A10C-C7172303CA11}" type="slidenum">
              <a:rPr lang="en-IN" smtClean="0"/>
              <a:pPr/>
              <a:t>‹#›</a:t>
            </a:fld>
            <a:endParaRPr lang="en-IN"/>
          </a:p>
        </p:txBody>
      </p:sp>
    </p:spTree>
    <p:extLst>
      <p:ext uri="{BB962C8B-B14F-4D97-AF65-F5344CB8AC3E}">
        <p14:creationId xmlns:p14="http://schemas.microsoft.com/office/powerpoint/2010/main" val="1323875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cleartax.in/services/cat_reg_trademark/c"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inc.com/magazine/19820101/116.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legislate.tech/post/ip-basics-for-startup-founder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www.youtube.com/watch?v=WvduZOWoft0" TargetMode="External"/><Relationship Id="rId2" Type="http://schemas.openxmlformats.org/officeDocument/2006/relationships/hyperlink" Target="https://www.youtube.com/watch?v=KV3HarFV2kQ" TargetMode="External"/><Relationship Id="rId1" Type="http://schemas.openxmlformats.org/officeDocument/2006/relationships/slideLayout" Target="../slideLayouts/slideLayout2.xml"/><Relationship Id="rId5" Type="http://schemas.openxmlformats.org/officeDocument/2006/relationships/hyperlink" Target="https://www.youtube.com/watch?v=qKXB5nuZ7Cs" TargetMode="External"/><Relationship Id="rId4" Type="http://schemas.openxmlformats.org/officeDocument/2006/relationships/hyperlink" Target="https://www.youtube.com/watch?v=qGPwcm4yAAs"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abesit.in/library/download/MBA/Sem.3/2014-15/Entrepreneurship%20Development%20(NMBA-031,MBT%20M-031).pdf"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F68EA21-D1DB-A2CF-CFD9-DD5215232E37}"/>
              </a:ext>
            </a:extLst>
          </p:cNvPr>
          <p:cNvSpPr txBox="1">
            <a:spLocks/>
          </p:cNvSpPr>
          <p:nvPr/>
        </p:nvSpPr>
        <p:spPr>
          <a:xfrm>
            <a:off x="2904151" y="3424582"/>
            <a:ext cx="6286544" cy="110798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
              <a:lnSpc>
                <a:spcPct val="100000"/>
              </a:lnSpc>
              <a:spcBef>
                <a:spcPts val="455"/>
              </a:spcBef>
            </a:pPr>
            <a:r>
              <a:rPr lang="en-IN" sz="2400" b="1" dirty="0">
                <a:solidFill>
                  <a:srgbClr val="383A3C"/>
                </a:solidFill>
                <a:latin typeface="Times New Roman" panose="02020603050405020304" pitchFamily="18" charset="0"/>
                <a:cs typeface="Times New Roman" panose="02020603050405020304" pitchFamily="18" charset="0"/>
              </a:rPr>
              <a:t>Course &amp; Branch</a:t>
            </a:r>
          </a:p>
          <a:p>
            <a:br>
              <a:rPr lang="en-IN" sz="2400" b="1" dirty="0">
                <a:solidFill>
                  <a:srgbClr val="383A3C"/>
                </a:solidFill>
                <a:latin typeface="Times New Roman" panose="02020603050405020304" pitchFamily="18" charset="0"/>
                <a:cs typeface="Times New Roman" panose="02020603050405020304" pitchFamily="18" charset="0"/>
              </a:rPr>
            </a:br>
            <a:r>
              <a:rPr lang="en-IN" sz="2400" b="1" dirty="0">
                <a:solidFill>
                  <a:srgbClr val="383A3C"/>
                </a:solidFill>
                <a:latin typeface="Times New Roman" panose="02020603050405020304" pitchFamily="18" charset="0"/>
                <a:cs typeface="Times New Roman" panose="02020603050405020304" pitchFamily="18" charset="0"/>
              </a:rPr>
              <a:t> Entrepreneurship Development &amp; Intellectual Property Rights (AOE0771)</a:t>
            </a:r>
          </a:p>
          <a:p>
            <a:endParaRPr lang="en-US" sz="2400" b="1" dirty="0">
              <a:solidFill>
                <a:srgbClr val="383A3C"/>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51F8B70D-3F64-4D35-E5AB-6FF8E0423FCD}"/>
              </a:ext>
            </a:extLst>
          </p:cNvPr>
          <p:cNvSpPr/>
          <p:nvPr/>
        </p:nvSpPr>
        <p:spPr>
          <a:xfrm>
            <a:off x="206477" y="61390"/>
            <a:ext cx="11356258" cy="1107986"/>
          </a:xfrm>
          <a:prstGeom prst="rect">
            <a:avLst/>
          </a:prstGeom>
        </p:spPr>
        <p:txBody>
          <a:bodyPr wrap="square" lIns="121908" tIns="60955" rIns="121908" bIns="60955">
            <a:spAutoFit/>
          </a:bodyPr>
          <a:lstStyle/>
          <a:p>
            <a:pPr algn="ctr"/>
            <a:r>
              <a:rPr lang="en-IN" sz="3200" b="1" dirty="0">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3200" dirty="0">
              <a:solidFill>
                <a:srgbClr val="D4222A"/>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5C2B02D-0DC2-431D-DF60-401E531B651F}"/>
              </a:ext>
            </a:extLst>
          </p:cNvPr>
          <p:cNvSpPr/>
          <p:nvPr/>
        </p:nvSpPr>
        <p:spPr>
          <a:xfrm>
            <a:off x="5796391" y="3981983"/>
            <a:ext cx="502064" cy="338554"/>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By</a:t>
            </a:r>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DD14CEA-0AFA-2840-50F8-7CD1850C6115}"/>
              </a:ext>
            </a:extLst>
          </p:cNvPr>
          <p:cNvSpPr/>
          <p:nvPr/>
        </p:nvSpPr>
        <p:spPr>
          <a:xfrm>
            <a:off x="3726280" y="4348247"/>
            <a:ext cx="4916539" cy="2400657"/>
          </a:xfrm>
          <a:prstGeom prst="rect">
            <a:avLst/>
          </a:prstGeom>
        </p:spPr>
        <p:txBody>
          <a:bodyPr wrap="none">
            <a:spAutoFit/>
          </a:bodyPr>
          <a:lstStyle/>
          <a:p>
            <a:pPr algn="ctr"/>
            <a:r>
              <a:rPr lang="en-IN" sz="5400" b="1" dirty="0">
                <a:solidFill>
                  <a:srgbClr val="383A3C"/>
                </a:solidFill>
                <a:latin typeface="Times New Roman" panose="02020603050405020304" pitchFamily="18" charset="0"/>
                <a:cs typeface="Times New Roman" panose="02020603050405020304" pitchFamily="18" charset="0"/>
              </a:rPr>
              <a:t>Alok Raj</a:t>
            </a:r>
          </a:p>
          <a:p>
            <a:pPr algn="ctr"/>
            <a:r>
              <a:rPr lang="en-IN" sz="3200" b="1" dirty="0">
                <a:solidFill>
                  <a:srgbClr val="383A3C"/>
                </a:solidFill>
                <a:latin typeface="Times New Roman" panose="02020603050405020304" pitchFamily="18" charset="0"/>
                <a:cs typeface="Times New Roman" panose="02020603050405020304" pitchFamily="18" charset="0"/>
              </a:rPr>
              <a:t>Assistant Professor</a:t>
            </a:r>
          </a:p>
          <a:p>
            <a:pPr algn="ctr"/>
            <a:r>
              <a:rPr lang="en-IN" sz="3200" b="1" dirty="0">
                <a:solidFill>
                  <a:srgbClr val="383A3C"/>
                </a:solidFill>
                <a:latin typeface="Times New Roman" panose="02020603050405020304" pitchFamily="18" charset="0"/>
                <a:cs typeface="Times New Roman" panose="02020603050405020304" pitchFamily="18" charset="0"/>
              </a:rPr>
              <a:t>MBA Department</a:t>
            </a:r>
          </a:p>
          <a:p>
            <a:r>
              <a:rPr lang="en-IN" sz="3200" b="1" dirty="0">
                <a:solidFill>
                  <a:srgbClr val="383A3C"/>
                </a:solidFill>
                <a:latin typeface="Times New Roman" panose="02020603050405020304" pitchFamily="18" charset="0"/>
                <a:cs typeface="Times New Roman" panose="02020603050405020304" pitchFamily="18" charset="0"/>
              </a:rPr>
              <a:t>NIET, GREATER NOIDA </a:t>
            </a:r>
            <a:endParaRPr lang="en-US" sz="3200" dirty="0">
              <a:solidFill>
                <a:srgbClr val="383A3C"/>
              </a:solidFill>
              <a:latin typeface="Times New Roman" panose="02020603050405020304" pitchFamily="18" charset="0"/>
              <a:cs typeface="Times New Roman" panose="02020603050405020304" pitchFamily="18" charset="0"/>
            </a:endParaRPr>
          </a:p>
        </p:txBody>
      </p:sp>
      <p:pic>
        <p:nvPicPr>
          <p:cNvPr id="13" name="Picture 12" descr="A close-up of a logo&#10;&#10;Description automatically generated">
            <a:extLst>
              <a:ext uri="{FF2B5EF4-FFF2-40B4-BE49-F238E27FC236}">
                <a16:creationId xmlns:a16="http://schemas.microsoft.com/office/drawing/2014/main" id="{47EBCF00-B6B8-EBDF-019C-6C1D35F139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2313" y="1198019"/>
            <a:ext cx="3927373" cy="1681407"/>
          </a:xfrm>
          <a:prstGeom prst="rect">
            <a:avLst/>
          </a:prstGeom>
        </p:spPr>
      </p:pic>
    </p:spTree>
    <p:extLst>
      <p:ext uri="{BB962C8B-B14F-4D97-AF65-F5344CB8AC3E}">
        <p14:creationId xmlns:p14="http://schemas.microsoft.com/office/powerpoint/2010/main" val="382397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75B3EA-97F9-89E8-50FF-A2B2122FDE60}"/>
              </a:ext>
            </a:extLst>
          </p:cNvPr>
          <p:cNvSpPr>
            <a:spLocks noGrp="1"/>
          </p:cNvSpPr>
          <p:nvPr>
            <p:ph idx="1"/>
          </p:nvPr>
        </p:nvSpPr>
        <p:spPr>
          <a:xfrm>
            <a:off x="1866901" y="1720031"/>
            <a:ext cx="8528255" cy="3871452"/>
          </a:xfrm>
        </p:spPr>
        <p:txBody>
          <a:bodyPr>
            <a:normAutofit/>
          </a:bodyPr>
          <a:lstStyle/>
          <a:p>
            <a:pPr lvl="1"/>
            <a:endParaRPr lang="en-US" dirty="0">
              <a:solidFill>
                <a:srgbClr val="383A3C"/>
              </a:solidFill>
              <a:latin typeface="Times New Roman" panose="02020603050405020304" pitchFamily="18" charset="0"/>
              <a:cs typeface="Times New Roman" panose="02020603050405020304" pitchFamily="18" charset="0"/>
            </a:endParaRPr>
          </a:p>
          <a:p>
            <a:pPr lvl="1"/>
            <a:endParaRPr lang="en-IN" dirty="0">
              <a:solidFill>
                <a:srgbClr val="383A3C"/>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960D2596-AAD6-2CD2-F258-1C420EA84F79}"/>
              </a:ext>
            </a:extLst>
          </p:cNvPr>
          <p:cNvSpPr txBox="1">
            <a:spLocks/>
          </p:cNvSpPr>
          <p:nvPr/>
        </p:nvSpPr>
        <p:spPr>
          <a:xfrm>
            <a:off x="3113314" y="1083253"/>
            <a:ext cx="7565923" cy="492983"/>
          </a:xfrm>
          <a:prstGeom prst="rect">
            <a:avLst/>
          </a:prstGeom>
          <a:noFill/>
          <a:ln w="38100">
            <a:noFill/>
          </a:ln>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700" b="1" dirty="0">
                <a:solidFill>
                  <a:srgbClr val="D31E26"/>
                </a:solidFill>
                <a:latin typeface="Times New Roman" panose="02020603050405020304" pitchFamily="18" charset="0"/>
                <a:cs typeface="Times New Roman" panose="02020603050405020304" pitchFamily="18" charset="0"/>
              </a:rPr>
              <a:t>                Faculty Introduction</a:t>
            </a:r>
          </a:p>
          <a:p>
            <a:endParaRPr lang="en-IN" sz="2700" b="1" dirty="0">
              <a:solidFill>
                <a:srgbClr val="D31E26"/>
              </a:solidFill>
              <a:latin typeface="Times New Roman" panose="02020603050405020304" pitchFamily="18" charset="0"/>
              <a:cs typeface="Times New Roman" panose="02020603050405020304" pitchFamily="18" charset="0"/>
            </a:endParaRPr>
          </a:p>
        </p:txBody>
      </p:sp>
      <p:sp>
        <p:nvSpPr>
          <p:cNvPr id="14" name="Footer Placeholder 4">
            <a:extLst>
              <a:ext uri="{FF2B5EF4-FFF2-40B4-BE49-F238E27FC236}">
                <a16:creationId xmlns:a16="http://schemas.microsoft.com/office/drawing/2014/main" id="{133C1259-FFCE-CD79-A828-D871692F83BA}"/>
              </a:ext>
            </a:extLst>
          </p:cNvPr>
          <p:cNvSpPr txBox="1">
            <a:spLocks/>
          </p:cNvSpPr>
          <p:nvPr/>
        </p:nvSpPr>
        <p:spPr>
          <a:xfrm>
            <a:off x="1524000" y="5644830"/>
            <a:ext cx="9144000" cy="289552"/>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50" dirty="0">
                <a:solidFill>
                  <a:srgbClr val="FAC6C7"/>
                </a:solidFill>
                <a:latin typeface="Times New Roman" panose="02020603050405020304" pitchFamily="18" charset="0"/>
                <a:cs typeface="Times New Roman" panose="02020603050405020304" pitchFamily="18" charset="0"/>
              </a:rPr>
              <a:t>. </a:t>
            </a:r>
            <a:r>
              <a:rPr lang="en-US" sz="1350" dirty="0">
                <a:solidFill>
                  <a:prstClr val="black"/>
                </a:solidFill>
                <a:latin typeface="Times New Roman" panose="02020603050405020304" pitchFamily="18" charset="0"/>
                <a:cs typeface="Times New Roman" panose="02020603050405020304" pitchFamily="18" charset="0"/>
              </a:rPr>
              <a:t>	  		</a:t>
            </a:r>
            <a:endParaRPr lang="en-IN" sz="1350" dirty="0">
              <a:solidFill>
                <a:prstClr val="black"/>
              </a:solidFill>
              <a:latin typeface="Times New Roman" panose="02020603050405020304" pitchFamily="18" charset="0"/>
              <a:cs typeface="Times New Roman" panose="02020603050405020304" pitchFamily="18" charset="0"/>
            </a:endParaRPr>
          </a:p>
        </p:txBody>
      </p:sp>
      <p:sp>
        <p:nvSpPr>
          <p:cNvPr id="12" name="object 6"/>
          <p:cNvSpPr txBox="1"/>
          <p:nvPr/>
        </p:nvSpPr>
        <p:spPr>
          <a:xfrm>
            <a:off x="1827382" y="1953143"/>
            <a:ext cx="4537472" cy="1223412"/>
          </a:xfrm>
          <a:prstGeom prst="rect">
            <a:avLst/>
          </a:prstGeom>
        </p:spPr>
        <p:txBody>
          <a:bodyPr wrap="square" lIns="0" tIns="0" rIns="0" bIns="0">
            <a:spAutoFit/>
          </a:bodyPr>
          <a:lstStyle/>
          <a:p>
            <a:pPr marL="239078" indent="-229553">
              <a:buFont typeface="Arial"/>
              <a:buChar char="•"/>
              <a:tabLst>
                <a:tab pos="239554" algn="l"/>
                <a:tab pos="1627823" algn="l"/>
              </a:tabLst>
              <a:defRPr/>
            </a:pPr>
            <a:r>
              <a:rPr lang="en-US" sz="1650" b="1" spc="-30" dirty="0">
                <a:solidFill>
                  <a:prstClr val="black"/>
                </a:solidFill>
                <a:latin typeface="Times New Roman"/>
                <a:cs typeface="Times New Roman"/>
              </a:rPr>
              <a:t>F</a:t>
            </a:r>
            <a:r>
              <a:rPr lang="en-US" sz="1650" b="1" spc="-26" dirty="0">
                <a:solidFill>
                  <a:prstClr val="black"/>
                </a:solidFill>
                <a:latin typeface="Times New Roman"/>
                <a:cs typeface="Times New Roman"/>
              </a:rPr>
              <a:t>a</a:t>
            </a:r>
            <a:r>
              <a:rPr lang="en-US" sz="1650" b="1" spc="-30" dirty="0">
                <a:solidFill>
                  <a:prstClr val="black"/>
                </a:solidFill>
                <a:latin typeface="Times New Roman"/>
                <a:cs typeface="Times New Roman"/>
              </a:rPr>
              <a:t>cu</a:t>
            </a:r>
            <a:r>
              <a:rPr lang="en-US" sz="1650" b="1" spc="-26" dirty="0">
                <a:solidFill>
                  <a:prstClr val="black"/>
                </a:solidFill>
                <a:latin typeface="Times New Roman"/>
                <a:cs typeface="Times New Roman"/>
              </a:rPr>
              <a:t>l</a:t>
            </a:r>
            <a:r>
              <a:rPr lang="en-US" sz="1650" b="1" spc="-38" dirty="0">
                <a:solidFill>
                  <a:prstClr val="black"/>
                </a:solidFill>
                <a:latin typeface="Times New Roman"/>
                <a:cs typeface="Times New Roman"/>
              </a:rPr>
              <a:t>t</a:t>
            </a:r>
            <a:r>
              <a:rPr lang="en-US" sz="1650" b="1" spc="-11" dirty="0">
                <a:solidFill>
                  <a:prstClr val="black"/>
                </a:solidFill>
                <a:latin typeface="Times New Roman"/>
                <a:cs typeface="Times New Roman"/>
              </a:rPr>
              <a:t>y</a:t>
            </a:r>
            <a:r>
              <a:rPr lang="en-US" sz="1650" b="1" spc="-34" dirty="0">
                <a:solidFill>
                  <a:prstClr val="black"/>
                </a:solidFill>
                <a:latin typeface="Times New Roman"/>
                <a:cs typeface="Times New Roman"/>
              </a:rPr>
              <a:t> </a:t>
            </a:r>
            <a:r>
              <a:rPr lang="en-US" sz="1650" b="1" spc="-38" dirty="0">
                <a:solidFill>
                  <a:prstClr val="black"/>
                </a:solidFill>
                <a:latin typeface="Times New Roman"/>
                <a:cs typeface="Times New Roman"/>
              </a:rPr>
              <a:t>Nam</a:t>
            </a:r>
            <a:r>
              <a:rPr lang="en-US" sz="1650" b="1" spc="-30" dirty="0">
                <a:solidFill>
                  <a:prstClr val="black"/>
                </a:solidFill>
                <a:latin typeface="Times New Roman"/>
                <a:cs typeface="Times New Roman"/>
              </a:rPr>
              <a:t>e</a:t>
            </a:r>
            <a:r>
              <a:rPr lang="en-US" sz="1650" b="1" spc="-8" dirty="0">
                <a:solidFill>
                  <a:prstClr val="black"/>
                </a:solidFill>
                <a:latin typeface="Times New Roman"/>
                <a:cs typeface="Times New Roman"/>
              </a:rPr>
              <a:t>:</a:t>
            </a:r>
            <a:r>
              <a:rPr lang="en-US" sz="1650" b="1" dirty="0">
                <a:solidFill>
                  <a:prstClr val="black"/>
                </a:solidFill>
                <a:latin typeface="Times New Roman"/>
                <a:cs typeface="Times New Roman"/>
              </a:rPr>
              <a:t>	</a:t>
            </a:r>
            <a:r>
              <a:rPr lang="en-US" sz="1650" b="1" spc="-38" dirty="0">
                <a:solidFill>
                  <a:prstClr val="black"/>
                </a:solidFill>
                <a:latin typeface="Times New Roman"/>
                <a:cs typeface="Times New Roman"/>
              </a:rPr>
              <a:t>M</a:t>
            </a:r>
            <a:r>
              <a:rPr lang="en-US" sz="1650" b="1" spc="-8" dirty="0">
                <a:solidFill>
                  <a:prstClr val="black"/>
                </a:solidFill>
                <a:latin typeface="Times New Roman"/>
                <a:cs typeface="Times New Roman"/>
              </a:rPr>
              <a:t>r. Alok Raj</a:t>
            </a:r>
            <a:endParaRPr lang="en-US" sz="1650" dirty="0">
              <a:solidFill>
                <a:prstClr val="black"/>
              </a:solidFill>
              <a:latin typeface="Times New Roman"/>
              <a:cs typeface="Times New Roman"/>
            </a:endParaRPr>
          </a:p>
          <a:p>
            <a:pPr>
              <a:spcBef>
                <a:spcPts val="26"/>
              </a:spcBef>
              <a:defRPr/>
            </a:pPr>
            <a:endParaRPr lang="en-US" sz="1425" dirty="0">
              <a:solidFill>
                <a:prstClr val="black"/>
              </a:solidFill>
              <a:latin typeface="Times New Roman"/>
              <a:cs typeface="Times New Roman"/>
            </a:endParaRPr>
          </a:p>
          <a:p>
            <a:pPr marL="266700" indent="-257175">
              <a:buFont typeface="Times New Roman"/>
              <a:buChar char="•"/>
              <a:tabLst>
                <a:tab pos="267176" algn="l"/>
                <a:tab pos="1495425" algn="l"/>
              </a:tabLst>
              <a:defRPr/>
            </a:pPr>
            <a:r>
              <a:rPr lang="en-US" sz="1650" spc="-11" dirty="0">
                <a:solidFill>
                  <a:prstClr val="black"/>
                </a:solidFill>
                <a:latin typeface="Times New Roman"/>
                <a:cs typeface="Times New Roman"/>
              </a:rPr>
              <a:t>De</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ignation   :   Assi</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tant</a:t>
            </a:r>
            <a:r>
              <a:rPr lang="en-US" sz="1650" spc="4" dirty="0">
                <a:solidFill>
                  <a:prstClr val="black"/>
                </a:solidFill>
                <a:latin typeface="Times New Roman"/>
                <a:cs typeface="Times New Roman"/>
              </a:rPr>
              <a:t> </a:t>
            </a:r>
            <a:r>
              <a:rPr lang="en-US" sz="1650" spc="-11" dirty="0">
                <a:solidFill>
                  <a:prstClr val="black"/>
                </a:solidFill>
                <a:latin typeface="Times New Roman"/>
                <a:cs typeface="Times New Roman"/>
              </a:rPr>
              <a:t>P</a:t>
            </a:r>
            <a:r>
              <a:rPr lang="en-US" sz="1650" dirty="0">
                <a:solidFill>
                  <a:prstClr val="black"/>
                </a:solidFill>
                <a:latin typeface="Times New Roman"/>
                <a:cs typeface="Times New Roman"/>
              </a:rPr>
              <a:t>r</a:t>
            </a:r>
            <a:r>
              <a:rPr lang="en-US" sz="1650" spc="-8" dirty="0">
                <a:solidFill>
                  <a:prstClr val="black"/>
                </a:solidFill>
                <a:latin typeface="Times New Roman"/>
                <a:cs typeface="Times New Roman"/>
              </a:rPr>
              <a:t>ofes</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or</a:t>
            </a:r>
            <a:endParaRPr lang="en-US" sz="1650" dirty="0">
              <a:solidFill>
                <a:prstClr val="black"/>
              </a:solidFill>
              <a:latin typeface="Times New Roman"/>
              <a:cs typeface="Times New Roman"/>
            </a:endParaRPr>
          </a:p>
          <a:p>
            <a:pPr>
              <a:spcBef>
                <a:spcPts val="9"/>
              </a:spcBef>
              <a:buFont typeface="Times New Roman"/>
              <a:buChar char="•"/>
              <a:defRPr/>
            </a:pPr>
            <a:endParaRPr lang="en-US" sz="1575" dirty="0">
              <a:solidFill>
                <a:prstClr val="black"/>
              </a:solidFill>
              <a:latin typeface="Times New Roman"/>
              <a:cs typeface="Times New Roman"/>
            </a:endParaRPr>
          </a:p>
          <a:p>
            <a:pPr marL="266700" indent="-257175">
              <a:buFont typeface="Times New Roman"/>
              <a:buChar char="•"/>
              <a:tabLst>
                <a:tab pos="267176" algn="l"/>
                <a:tab pos="1413034" algn="l"/>
                <a:tab pos="1628299" algn="l"/>
              </a:tabLst>
              <a:defRPr/>
            </a:pPr>
            <a:r>
              <a:rPr lang="en-US" sz="1650" spc="-11" dirty="0">
                <a:solidFill>
                  <a:prstClr val="black"/>
                </a:solidFill>
                <a:latin typeface="Times New Roman"/>
                <a:cs typeface="Times New Roman"/>
              </a:rPr>
              <a:t>Depar</a:t>
            </a:r>
            <a:r>
              <a:rPr lang="en-US" sz="1650" dirty="0">
                <a:solidFill>
                  <a:prstClr val="black"/>
                </a:solidFill>
                <a:latin typeface="Times New Roman"/>
                <a:cs typeface="Times New Roman"/>
              </a:rPr>
              <a:t>t</a:t>
            </a:r>
            <a:r>
              <a:rPr lang="en-US" sz="1650" spc="-15" dirty="0">
                <a:solidFill>
                  <a:prstClr val="black"/>
                </a:solidFill>
                <a:latin typeface="Times New Roman"/>
                <a:cs typeface="Times New Roman"/>
              </a:rPr>
              <a:t>me</a:t>
            </a:r>
            <a:r>
              <a:rPr lang="en-US" sz="1650" spc="-8" dirty="0">
                <a:solidFill>
                  <a:prstClr val="black"/>
                </a:solidFill>
                <a:latin typeface="Times New Roman"/>
                <a:cs typeface="Times New Roman"/>
              </a:rPr>
              <a:t>nt</a:t>
            </a:r>
            <a:r>
              <a:rPr lang="en-US" sz="1650" dirty="0">
                <a:solidFill>
                  <a:prstClr val="black"/>
                </a:solidFill>
                <a:latin typeface="Times New Roman"/>
                <a:cs typeface="Times New Roman"/>
              </a:rPr>
              <a:t>	</a:t>
            </a:r>
            <a:r>
              <a:rPr lang="en-US" sz="1650" spc="-8" dirty="0">
                <a:solidFill>
                  <a:prstClr val="black"/>
                </a:solidFill>
                <a:latin typeface="Times New Roman"/>
                <a:cs typeface="Times New Roman"/>
              </a:rPr>
              <a:t>:</a:t>
            </a:r>
            <a:r>
              <a:rPr lang="en-US" sz="1650" dirty="0">
                <a:solidFill>
                  <a:prstClr val="black"/>
                </a:solidFill>
                <a:latin typeface="Times New Roman"/>
                <a:cs typeface="Times New Roman"/>
              </a:rPr>
              <a:t>	</a:t>
            </a:r>
            <a:r>
              <a:rPr lang="en-US" sz="1650" spc="-15" dirty="0">
                <a:solidFill>
                  <a:prstClr val="black"/>
                </a:solidFill>
                <a:latin typeface="Times New Roman"/>
                <a:cs typeface="Times New Roman"/>
              </a:rPr>
              <a:t>MBA</a:t>
            </a:r>
            <a:endParaRPr lang="en-US" sz="1650" dirty="0">
              <a:solidFill>
                <a:prstClr val="black"/>
              </a:solidFill>
              <a:latin typeface="Times New Roman"/>
              <a:cs typeface="Times New Roman"/>
            </a:endParaRPr>
          </a:p>
        </p:txBody>
      </p:sp>
      <p:sp>
        <p:nvSpPr>
          <p:cNvPr id="13" name="object 7"/>
          <p:cNvSpPr txBox="1"/>
          <p:nvPr/>
        </p:nvSpPr>
        <p:spPr>
          <a:xfrm>
            <a:off x="1828801" y="3048001"/>
            <a:ext cx="1503647" cy="750205"/>
          </a:xfrm>
          <a:prstGeom prst="rect">
            <a:avLst/>
          </a:prstGeom>
        </p:spPr>
        <p:txBody>
          <a:bodyPr wrap="square" lIns="0" tIns="0" rIns="0" bIns="0">
            <a:spAutoFit/>
          </a:bodyPr>
          <a:lstStyle/>
          <a:p>
            <a:pPr marL="266700" indent="-257175">
              <a:tabLst>
                <a:tab pos="267176" algn="l"/>
              </a:tabLst>
              <a:defRPr/>
            </a:pPr>
            <a:endParaRPr sz="1650" dirty="0">
              <a:solidFill>
                <a:prstClr val="black"/>
              </a:solidFill>
              <a:latin typeface="Times New Roman"/>
              <a:cs typeface="Times New Roman"/>
            </a:endParaRPr>
          </a:p>
          <a:p>
            <a:pPr>
              <a:spcBef>
                <a:spcPts val="8"/>
              </a:spcBef>
              <a:buFont typeface="Times New Roman"/>
              <a:buChar char="•"/>
              <a:defRPr/>
            </a:pPr>
            <a:endParaRPr sz="1575" dirty="0">
              <a:solidFill>
                <a:prstClr val="black"/>
              </a:solidFill>
              <a:latin typeface="Times New Roman"/>
              <a:cs typeface="Times New Roman"/>
            </a:endParaRPr>
          </a:p>
          <a:p>
            <a:pPr marL="198120" indent="-188595">
              <a:buFont typeface="Times New Roman"/>
              <a:buChar char="•"/>
              <a:tabLst>
                <a:tab pos="198596" algn="l"/>
              </a:tabLst>
              <a:defRPr/>
            </a:pPr>
            <a:r>
              <a:rPr sz="1650" spc="-8" dirty="0">
                <a:solidFill>
                  <a:prstClr val="black"/>
                </a:solidFill>
                <a:latin typeface="Times New Roman"/>
                <a:cs typeface="Times New Roman"/>
              </a:rPr>
              <a:t>Qualification</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t>
            </a:r>
            <a:endParaRPr sz="1650" dirty="0">
              <a:solidFill>
                <a:prstClr val="black"/>
              </a:solidFill>
              <a:latin typeface="Times New Roman"/>
              <a:cs typeface="Times New Roman"/>
            </a:endParaRPr>
          </a:p>
        </p:txBody>
      </p:sp>
      <p:sp>
        <p:nvSpPr>
          <p:cNvPr id="15" name="object 8"/>
          <p:cNvSpPr txBox="1"/>
          <p:nvPr/>
        </p:nvSpPr>
        <p:spPr>
          <a:xfrm>
            <a:off x="3100856" y="3048001"/>
            <a:ext cx="3147544" cy="750205"/>
          </a:xfrm>
          <a:prstGeom prst="rect">
            <a:avLst/>
          </a:prstGeom>
        </p:spPr>
        <p:txBody>
          <a:bodyPr wrap="square" lIns="0" tIns="0" rIns="0" bIns="0">
            <a:spAutoFit/>
          </a:bodyPr>
          <a:lstStyle/>
          <a:p>
            <a:pPr algn="ctr">
              <a:tabLst>
                <a:tab pos="215741" algn="l"/>
              </a:tabLst>
              <a:defRPr/>
            </a:pPr>
            <a:endParaRPr sz="1575" dirty="0">
              <a:solidFill>
                <a:prstClr val="black"/>
              </a:solidFill>
              <a:latin typeface="Times New Roman"/>
              <a:cs typeface="Times New Roman"/>
            </a:endParaRPr>
          </a:p>
          <a:p>
            <a:pPr marL="71914" algn="ctr">
              <a:defRPr/>
            </a:pPr>
            <a:endParaRPr lang="en-US" sz="1650" spc="-15" dirty="0">
              <a:solidFill>
                <a:prstClr val="black"/>
              </a:solidFill>
              <a:latin typeface="Times New Roman"/>
              <a:cs typeface="Times New Roman"/>
            </a:endParaRPr>
          </a:p>
          <a:p>
            <a:pPr marL="71914" algn="ctr">
              <a:defRPr/>
            </a:pPr>
            <a:r>
              <a:rPr sz="1650" spc="-15" dirty="0">
                <a:solidFill>
                  <a:prstClr val="black"/>
                </a:solidFill>
                <a:latin typeface="Times New Roman"/>
                <a:cs typeface="Times New Roman"/>
              </a:rPr>
              <a:t>MBA</a:t>
            </a:r>
            <a:r>
              <a:rPr lang="en-US" sz="1650" spc="-15" dirty="0">
                <a:solidFill>
                  <a:prstClr val="black"/>
                </a:solidFill>
                <a:latin typeface="Times New Roman"/>
                <a:cs typeface="Times New Roman"/>
              </a:rPr>
              <a:t>(Marketing and Operations)</a:t>
            </a:r>
            <a:endParaRPr sz="1650" dirty="0">
              <a:solidFill>
                <a:prstClr val="black"/>
              </a:solidFill>
              <a:latin typeface="Times New Roman"/>
              <a:cs typeface="Times New Roman"/>
            </a:endParaRPr>
          </a:p>
        </p:txBody>
      </p:sp>
      <p:sp>
        <p:nvSpPr>
          <p:cNvPr id="16" name="object 9"/>
          <p:cNvSpPr txBox="1"/>
          <p:nvPr/>
        </p:nvSpPr>
        <p:spPr>
          <a:xfrm>
            <a:off x="1828800" y="3962401"/>
            <a:ext cx="8534400" cy="1246495"/>
          </a:xfrm>
          <a:prstGeom prst="rect">
            <a:avLst/>
          </a:prstGeom>
        </p:spPr>
        <p:txBody>
          <a:bodyPr wrap="square" lIns="0" tIns="0" rIns="0" bIns="0">
            <a:spAutoFit/>
          </a:bodyPr>
          <a:lstStyle/>
          <a:p>
            <a:pPr marL="198120" indent="-188595">
              <a:buFont typeface="Times New Roman"/>
              <a:buChar char="•"/>
              <a:tabLst>
                <a:tab pos="198120" algn="l"/>
                <a:tab pos="1654493" algn="l"/>
              </a:tabLst>
              <a:defRPr/>
            </a:pPr>
            <a:r>
              <a:rPr sz="1650" spc="-11" dirty="0">
                <a:solidFill>
                  <a:prstClr val="black"/>
                </a:solidFill>
                <a:latin typeface="Times New Roman"/>
                <a:cs typeface="Times New Roman"/>
              </a:rPr>
              <a:t>S</a:t>
            </a:r>
            <a:r>
              <a:rPr sz="1650" spc="-8" dirty="0">
                <a:solidFill>
                  <a:prstClr val="black"/>
                </a:solidFill>
                <a:latin typeface="Times New Roman"/>
                <a:cs typeface="Times New Roman"/>
              </a:rPr>
              <a:t>peci</a:t>
            </a:r>
            <a:r>
              <a:rPr sz="1650" spc="-15" dirty="0">
                <a:solidFill>
                  <a:prstClr val="black"/>
                </a:solidFill>
                <a:latin typeface="Times New Roman"/>
                <a:cs typeface="Times New Roman"/>
              </a:rPr>
              <a:t>a</a:t>
            </a:r>
            <a:r>
              <a:rPr sz="1650" spc="-8" dirty="0">
                <a:solidFill>
                  <a:prstClr val="black"/>
                </a:solidFill>
                <a:latin typeface="Times New Roman"/>
                <a:cs typeface="Times New Roman"/>
              </a:rPr>
              <a:t>lizati</a:t>
            </a:r>
            <a:r>
              <a:rPr sz="1650" dirty="0">
                <a:solidFill>
                  <a:prstClr val="black"/>
                </a:solidFill>
                <a:latin typeface="Times New Roman"/>
                <a:cs typeface="Times New Roman"/>
              </a:rPr>
              <a:t>o</a:t>
            </a:r>
            <a:r>
              <a:rPr sz="1650" spc="-8" dirty="0">
                <a:solidFill>
                  <a:prstClr val="black"/>
                </a:solidFill>
                <a:latin typeface="Times New Roman"/>
                <a:cs typeface="Times New Roman"/>
              </a:rPr>
              <a:t>n</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t>
            </a:r>
            <a:r>
              <a:rPr sz="1650" dirty="0">
                <a:solidFill>
                  <a:prstClr val="black"/>
                </a:solidFill>
                <a:latin typeface="Times New Roman"/>
                <a:cs typeface="Times New Roman"/>
              </a:rPr>
              <a:t>	</a:t>
            </a:r>
            <a:r>
              <a:rPr lang="en-US" sz="1650" spc="-15" dirty="0">
                <a:solidFill>
                  <a:prstClr val="black"/>
                </a:solidFill>
                <a:latin typeface="Times New Roman"/>
                <a:cs typeface="Times New Roman"/>
              </a:rPr>
              <a:t> MBA(Marketing and Operations)</a:t>
            </a:r>
            <a:endParaRPr sz="1650" dirty="0">
              <a:solidFill>
                <a:prstClr val="black"/>
              </a:solidFill>
              <a:latin typeface="Times New Roman"/>
              <a:cs typeface="Times New Roman"/>
            </a:endParaRPr>
          </a:p>
          <a:p>
            <a:pPr>
              <a:spcBef>
                <a:spcPts val="9"/>
              </a:spcBef>
              <a:buFont typeface="Times New Roman"/>
              <a:buChar char="•"/>
              <a:defRPr/>
            </a:pPr>
            <a:endParaRPr sz="1575" dirty="0">
              <a:solidFill>
                <a:prstClr val="black"/>
              </a:solidFill>
              <a:latin typeface="Times New Roman"/>
              <a:cs typeface="Times New Roman"/>
            </a:endParaRPr>
          </a:p>
          <a:p>
            <a:pPr marL="266700" indent="-257175">
              <a:buFont typeface="Arial" panose="020B0604020202020204" pitchFamily="34" charset="0"/>
              <a:buChar char="•"/>
              <a:tabLst>
                <a:tab pos="267176" algn="l"/>
              </a:tabLst>
              <a:defRPr/>
            </a:pPr>
            <a:r>
              <a:rPr sz="1650" spc="-11" dirty="0">
                <a:solidFill>
                  <a:prstClr val="black"/>
                </a:solidFill>
                <a:latin typeface="Times New Roman"/>
                <a:cs typeface="Times New Roman"/>
              </a:rPr>
              <a:t>Tea</a:t>
            </a:r>
            <a:r>
              <a:rPr sz="1650" spc="-15" dirty="0">
                <a:solidFill>
                  <a:prstClr val="black"/>
                </a:solidFill>
                <a:latin typeface="Times New Roman"/>
                <a:cs typeface="Times New Roman"/>
              </a:rPr>
              <a:t>c</a:t>
            </a:r>
            <a:r>
              <a:rPr sz="1650" spc="-8" dirty="0">
                <a:solidFill>
                  <a:prstClr val="black"/>
                </a:solidFill>
                <a:latin typeface="Times New Roman"/>
                <a:cs typeface="Times New Roman"/>
              </a:rPr>
              <a:t>hing</a:t>
            </a:r>
            <a:r>
              <a:rPr sz="1650" spc="4" dirty="0">
                <a:solidFill>
                  <a:prstClr val="black"/>
                </a:solidFill>
                <a:latin typeface="Times New Roman"/>
                <a:cs typeface="Times New Roman"/>
              </a:rPr>
              <a:t> </a:t>
            </a:r>
            <a:r>
              <a:rPr sz="1650" spc="-11" dirty="0">
                <a:solidFill>
                  <a:prstClr val="black"/>
                </a:solidFill>
                <a:latin typeface="Times New Roman"/>
                <a:cs typeface="Times New Roman"/>
              </a:rPr>
              <a:t>Ar</a:t>
            </a:r>
            <a:r>
              <a:rPr sz="1650" spc="-4" dirty="0">
                <a:solidFill>
                  <a:prstClr val="black"/>
                </a:solidFill>
                <a:latin typeface="Times New Roman"/>
                <a:cs typeface="Times New Roman"/>
              </a:rPr>
              <a:t>e</a:t>
            </a:r>
            <a:r>
              <a:rPr sz="1650" spc="-8" dirty="0">
                <a:solidFill>
                  <a:prstClr val="black"/>
                </a:solidFill>
                <a:latin typeface="Times New Roman"/>
                <a:cs typeface="Times New Roman"/>
              </a:rPr>
              <a:t>a:</a:t>
            </a:r>
            <a:r>
              <a:rPr sz="1650" spc="4" dirty="0">
                <a:solidFill>
                  <a:prstClr val="black"/>
                </a:solidFill>
                <a:latin typeface="Times New Roman"/>
                <a:cs typeface="Times New Roman"/>
              </a:rPr>
              <a:t> </a:t>
            </a:r>
            <a:r>
              <a:rPr lang="en-US" sz="1650" spc="4" dirty="0">
                <a:solidFill>
                  <a:prstClr val="black"/>
                </a:solidFill>
                <a:latin typeface="Times New Roman"/>
                <a:cs typeface="Times New Roman"/>
              </a:rPr>
              <a:t>   General Management, </a:t>
            </a:r>
            <a:r>
              <a:rPr lang="en-US" sz="1650" spc="-15" dirty="0">
                <a:solidFill>
                  <a:prstClr val="black"/>
                </a:solidFill>
                <a:latin typeface="Times New Roman"/>
                <a:cs typeface="Times New Roman"/>
              </a:rPr>
              <a:t>Entrepreneurship, Operations Management </a:t>
            </a:r>
            <a:endParaRPr sz="1650" dirty="0">
              <a:solidFill>
                <a:prstClr val="black"/>
              </a:solidFill>
              <a:latin typeface="Times New Roman"/>
              <a:cs typeface="Times New Roman"/>
            </a:endParaRPr>
          </a:p>
          <a:p>
            <a:pPr>
              <a:spcBef>
                <a:spcPts val="6"/>
              </a:spcBef>
              <a:buFont typeface="Times New Roman"/>
              <a:buChar char="•"/>
              <a:defRPr/>
            </a:pPr>
            <a:endParaRPr sz="1575" dirty="0">
              <a:solidFill>
                <a:prstClr val="black"/>
              </a:solidFill>
              <a:latin typeface="Times New Roman"/>
              <a:cs typeface="Times New Roman"/>
            </a:endParaRPr>
          </a:p>
          <a:p>
            <a:pPr marL="266700" indent="-257175">
              <a:buFont typeface="Arial" panose="020B0604020202020204" pitchFamily="34" charset="0"/>
              <a:buChar char="•"/>
              <a:tabLst>
                <a:tab pos="267176" algn="l"/>
              </a:tabLst>
              <a:defRPr/>
            </a:pPr>
            <a:endParaRPr sz="1650" dirty="0">
              <a:solidFill>
                <a:prstClr val="black"/>
              </a:solidFill>
              <a:latin typeface="Times New Roman"/>
              <a:cs typeface="Times New Roman"/>
            </a:endParaRPr>
          </a:p>
        </p:txBody>
      </p:sp>
      <p:sp>
        <p:nvSpPr>
          <p:cNvPr id="9" name="Rectangle 8">
            <a:extLst>
              <a:ext uri="{FF2B5EF4-FFF2-40B4-BE49-F238E27FC236}">
                <a16:creationId xmlns:a16="http://schemas.microsoft.com/office/drawing/2014/main" id="{731A936F-F269-359D-A45A-2FFA91880636}"/>
              </a:ext>
            </a:extLst>
          </p:cNvPr>
          <p:cNvSpPr/>
          <p:nvPr/>
        </p:nvSpPr>
        <p:spPr>
          <a:xfrm>
            <a:off x="152400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solidFill>
                  <a:prstClr val="black"/>
                </a:solidFill>
                <a:latin typeface="Calibri"/>
              </a:rPr>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solidFill>
                  <a:prstClr val="black"/>
                </a:solidFill>
                <a:latin typeface="Calibri"/>
              </a:rPr>
              <a:t>                                                     By : Alok Raj </a:t>
            </a:r>
          </a:p>
        </p:txBody>
      </p:sp>
    </p:spTree>
    <p:extLst>
      <p:ext uri="{BB962C8B-B14F-4D97-AF65-F5344CB8AC3E}">
        <p14:creationId xmlns:p14="http://schemas.microsoft.com/office/powerpoint/2010/main" val="391874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SYLLABUS </a:t>
            </a:r>
          </a:p>
        </p:txBody>
      </p:sp>
      <p:pic>
        <p:nvPicPr>
          <p:cNvPr id="4" name="Content Placeholder 3"/>
          <p:cNvPicPr>
            <a:picLocks noGrp="1"/>
          </p:cNvPicPr>
          <p:nvPr>
            <p:ph idx="1"/>
          </p:nvPr>
        </p:nvPicPr>
        <p:blipFill>
          <a:blip r:embed="rId2"/>
          <a:srcRect/>
          <a:stretch>
            <a:fillRect/>
          </a:stretch>
        </p:blipFill>
        <p:spPr bwMode="auto">
          <a:xfrm>
            <a:off x="457200" y="1176338"/>
            <a:ext cx="11416145" cy="500062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Introduction to Intellectual Property Rights</a:t>
            </a:r>
          </a:p>
          <a:p>
            <a:r>
              <a:rPr lang="en-US" sz="2400" dirty="0"/>
              <a:t>Intellectual Property and its protection</a:t>
            </a:r>
          </a:p>
          <a:p>
            <a:r>
              <a:rPr lang="en-US" sz="2400" dirty="0"/>
              <a:t>Various forms of protection as</a:t>
            </a:r>
          </a:p>
          <a:p>
            <a:pPr lvl="1"/>
            <a:r>
              <a:rPr lang="en-US" dirty="0"/>
              <a:t>Patents</a:t>
            </a:r>
          </a:p>
          <a:p>
            <a:pPr lvl="1"/>
            <a:r>
              <a:rPr lang="en-US" dirty="0"/>
              <a:t>Copyright</a:t>
            </a:r>
          </a:p>
          <a:p>
            <a:pPr lvl="1"/>
            <a:r>
              <a:rPr lang="en-US" dirty="0"/>
              <a:t>Trademark</a:t>
            </a:r>
          </a:p>
          <a:p>
            <a:pPr lvl="1"/>
            <a:r>
              <a:rPr lang="en-US" dirty="0"/>
              <a:t>Design knowhow</a:t>
            </a:r>
          </a:p>
          <a:p>
            <a:pPr lvl="1"/>
            <a:r>
              <a:rPr lang="en-US" dirty="0"/>
              <a:t>Trade secrets</a:t>
            </a:r>
          </a:p>
          <a:p>
            <a:pPr lvl="1"/>
            <a:r>
              <a:rPr lang="en-US" dirty="0"/>
              <a:t>Geographical Indications</a:t>
            </a:r>
          </a:p>
          <a:p>
            <a:endParaRPr lang="en-IN" dirty="0"/>
          </a:p>
        </p:txBody>
      </p:sp>
      <p:sp>
        <p:nvSpPr>
          <p:cNvPr id="3" name="Title 2"/>
          <p:cNvSpPr>
            <a:spLocks noGrp="1"/>
          </p:cNvSpPr>
          <p:nvPr>
            <p:ph type="title"/>
          </p:nvPr>
        </p:nvSpPr>
        <p:spPr/>
        <p:txBody>
          <a:bodyPr/>
          <a:lstStyle/>
          <a:p>
            <a:r>
              <a:rPr lang="en-IN" dirty="0"/>
              <a:t>UNIT II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dirty="0"/>
              <a:t>To know about the various forms of Intellectual Property Rights. </a:t>
            </a:r>
          </a:p>
          <a:p>
            <a:pPr marL="0" indent="0">
              <a:buNone/>
            </a:pPr>
            <a:endParaRPr lang="en-US" dirty="0"/>
          </a:p>
          <a:p>
            <a:pPr marL="0" indent="0">
              <a:buNone/>
            </a:pPr>
            <a:r>
              <a:rPr lang="en-US" dirty="0"/>
              <a:t>This will be helpful in protecting the original work and also give necessary understanding of how to gain financial benefits from it</a:t>
            </a:r>
            <a:endParaRPr lang="en-IN" dirty="0"/>
          </a:p>
        </p:txBody>
      </p:sp>
      <p:sp>
        <p:nvSpPr>
          <p:cNvPr id="3" name="Title 2"/>
          <p:cNvSpPr>
            <a:spLocks noGrp="1"/>
          </p:cNvSpPr>
          <p:nvPr>
            <p:ph type="title"/>
          </p:nvPr>
        </p:nvSpPr>
        <p:spPr/>
        <p:txBody>
          <a:bodyPr>
            <a:normAutofit fontScale="90000"/>
          </a:bodyPr>
          <a:lstStyle/>
          <a:p>
            <a:pPr lvl="0"/>
            <a:br>
              <a:rPr lang="en-US" dirty="0">
                <a:solidFill>
                  <a:schemeClr val="dk1"/>
                </a:solidFill>
              </a:rPr>
            </a:br>
            <a:r>
              <a:rPr lang="en-US" dirty="0"/>
              <a:t>Objective of the Unit</a:t>
            </a:r>
            <a:br>
              <a:rPr lang="en-US" dirty="0">
                <a:solidFill>
                  <a:schemeClr val="dk1"/>
                </a:solidFill>
              </a:rPr>
            </a:b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Explore the dimensions of creativity, innovation, and entrepreneurship </a:t>
            </a:r>
          </a:p>
          <a:p>
            <a:r>
              <a:rPr lang="en-US" dirty="0"/>
              <a:t>Develop an understanding of intellectual property rights </a:t>
            </a:r>
          </a:p>
          <a:p>
            <a:r>
              <a:rPr lang="en-US" dirty="0"/>
              <a:t>Be familiar with the financial support associated with new venture start-ups </a:t>
            </a:r>
          </a:p>
          <a:p>
            <a:r>
              <a:rPr lang="en-US" dirty="0"/>
              <a:t>Understand the various sources of idea generation and screening  </a:t>
            </a:r>
          </a:p>
          <a:p>
            <a:r>
              <a:rPr lang="en-US" dirty="0"/>
              <a:t>Understand the policy framework for promoting entrepreneurship and providing finance to entrepreneurs. </a:t>
            </a:r>
          </a:p>
          <a:p>
            <a:endParaRPr lang="en-IN" dirty="0"/>
          </a:p>
        </p:txBody>
      </p:sp>
      <p:sp>
        <p:nvSpPr>
          <p:cNvPr id="3" name="Title 2"/>
          <p:cNvSpPr>
            <a:spLocks noGrp="1"/>
          </p:cNvSpPr>
          <p:nvPr>
            <p:ph type="title"/>
          </p:nvPr>
        </p:nvSpPr>
        <p:spPr/>
        <p:txBody>
          <a:bodyPr/>
          <a:lstStyle/>
          <a:p>
            <a:r>
              <a:rPr lang="en-IN" dirty="0"/>
              <a:t>COURSE OBJECTIVES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0" indent="0" algn="just">
              <a:buNone/>
            </a:pPr>
            <a:r>
              <a:rPr lang="en-US" b="1" dirty="0">
                <a:latin typeface="Times New Roman" panose="02020603050405020304" pitchFamily="18" charset="0"/>
                <a:cs typeface="Times New Roman" panose="02020603050405020304" pitchFamily="18" charset="0"/>
              </a:rPr>
              <a:t>PO1</a:t>
            </a:r>
            <a:r>
              <a:rPr lang="en-US" dirty="0">
                <a:latin typeface="Times New Roman" panose="02020603050405020304" pitchFamily="18" charset="0"/>
                <a:cs typeface="Times New Roman" panose="02020603050405020304" pitchFamily="18" charset="0"/>
              </a:rPr>
              <a:t>. Apply knowledge of management theories and practices to solve business problems.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PO2</a:t>
            </a:r>
            <a:r>
              <a:rPr lang="en-US" dirty="0">
                <a:latin typeface="Times New Roman" panose="02020603050405020304" pitchFamily="18" charset="0"/>
                <a:cs typeface="Times New Roman" panose="02020603050405020304" pitchFamily="18" charset="0"/>
              </a:rPr>
              <a:t>. Foster Analytical and critical thinking abilities for data-based decision making.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PO3</a:t>
            </a:r>
            <a:r>
              <a:rPr lang="en-US" dirty="0">
                <a:latin typeface="Times New Roman" panose="02020603050405020304" pitchFamily="18" charset="0"/>
                <a:cs typeface="Times New Roman" panose="02020603050405020304" pitchFamily="18" charset="0"/>
              </a:rPr>
              <a:t>. Ability to develop Value based Leadership ability.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PO4</a:t>
            </a:r>
            <a:r>
              <a:rPr lang="en-US" dirty="0">
                <a:latin typeface="Times New Roman" panose="02020603050405020304" pitchFamily="18" charset="0"/>
                <a:cs typeface="Times New Roman" panose="02020603050405020304" pitchFamily="18" charset="0"/>
              </a:rPr>
              <a:t>. Ability to understand, analyze and communicate global, economic, legal, and ethical aspects of business.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PO5</a:t>
            </a:r>
            <a:r>
              <a:rPr lang="en-US" dirty="0">
                <a:latin typeface="Times New Roman" panose="02020603050405020304" pitchFamily="18" charset="0"/>
                <a:cs typeface="Times New Roman" panose="02020603050405020304" pitchFamily="18" charset="0"/>
              </a:rPr>
              <a:t>. Ability to lead themselves and others in the achievement of organizational goals, contributing effectively to a team environment. </a:t>
            </a:r>
          </a:p>
          <a:p>
            <a:pPr>
              <a:buNone/>
            </a:pPr>
            <a:endParaRPr lang="en-IN" dirty="0"/>
          </a:p>
        </p:txBody>
      </p:sp>
      <p:sp>
        <p:nvSpPr>
          <p:cNvPr id="3" name="Title 2"/>
          <p:cNvSpPr>
            <a:spLocks noGrp="1"/>
          </p:cNvSpPr>
          <p:nvPr>
            <p:ph type="title"/>
          </p:nvPr>
        </p:nvSpPr>
        <p:spPr/>
        <p:txBody>
          <a:bodyPr>
            <a:normAutofit fontScale="90000"/>
          </a:bodyPr>
          <a:lstStyle/>
          <a:p>
            <a:pPr lvl="0"/>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Program  Outcomes</a:t>
            </a:r>
            <a:br>
              <a:rPr lang="en-US" dirty="0">
                <a:solidFill>
                  <a:prstClr val="black"/>
                </a:solidFill>
                <a:latin typeface="Times New Roman" panose="02020603050405020304" pitchFamily="18" charset="0"/>
                <a:cs typeface="Times New Roman" panose="02020603050405020304" pitchFamily="18" charset="0"/>
              </a:rPr>
            </a:b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PEO1- </a:t>
            </a:r>
            <a:r>
              <a:rPr lang="en-US" dirty="0">
                <a:latin typeface="Times New Roman" panose="02020603050405020304" pitchFamily="18" charset="0"/>
                <a:cs typeface="Times New Roman" panose="02020603050405020304" pitchFamily="18" charset="0"/>
              </a:rPr>
              <a:t>Graduates of the management program will have conceptual knowledge to adapt to the rapidly changing environment, learn new skills and demonstrate application of management principles in professional work setting.</a:t>
            </a:r>
          </a:p>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PEO 2-  </a:t>
            </a:r>
            <a:r>
              <a:rPr lang="en-US" dirty="0">
                <a:latin typeface="Times New Roman" panose="02020603050405020304" pitchFamily="18" charset="0"/>
                <a:ea typeface="Calibri" panose="020F0502020204030204" pitchFamily="34" charset="0"/>
                <a:cs typeface="Times New Roman" panose="02020603050405020304" pitchFamily="18" charset="0"/>
              </a:rPr>
              <a:t>Graduates will apply appropriate tools for decision making required for solving complex managerial problems in the local or global context.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PEO 3-</a:t>
            </a:r>
            <a:r>
              <a:rPr lang="en-US" dirty="0">
                <a:latin typeface="Times New Roman" panose="02020603050405020304" pitchFamily="18" charset="0"/>
                <a:ea typeface="Calibri" panose="020F0502020204030204" pitchFamily="34" charset="0"/>
              </a:rPr>
              <a:t>Graduates of the Management program will exhibit integrity, social responsibility, and teamwork.</a:t>
            </a:r>
          </a:p>
          <a:p>
            <a:pPr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PEO 4-</a:t>
            </a:r>
            <a:r>
              <a:rPr lang="en-US" dirty="0">
                <a:latin typeface="Times New Roman" panose="02020603050405020304" pitchFamily="18" charset="0"/>
                <a:ea typeface="Calibri" panose="020F0502020204030204" pitchFamily="34" charset="0"/>
                <a:cs typeface="Times New Roman" panose="02020603050405020304" pitchFamily="18" charset="0"/>
              </a:rPr>
              <a:t>Graduates will exhibit ethics, communication skills, leadership qualities and entrepreneurial mindset using creativity and innovation.</a:t>
            </a:r>
            <a:endParaRPr lang="en-IN" dirty="0">
              <a:latin typeface="Calibri" panose="020F0502020204030204" pitchFamily="34" charset="0"/>
              <a:ea typeface="Calibri" panose="020F0502020204030204" pitchFamily="34" charset="0"/>
              <a:cs typeface="Times New Roman" panose="02020603050405020304" pitchFamily="18" charset="0"/>
            </a:endParaRPr>
          </a:p>
          <a:p>
            <a:pPr>
              <a:buNone/>
            </a:pPr>
            <a:endParaRPr lang="en-IN" dirty="0"/>
          </a:p>
        </p:txBody>
      </p:sp>
      <p:sp>
        <p:nvSpPr>
          <p:cNvPr id="3" name="Title 2"/>
          <p:cNvSpPr>
            <a:spLocks noGrp="1"/>
          </p:cNvSpPr>
          <p:nvPr>
            <p:ph type="title"/>
          </p:nvPr>
        </p:nvSpPr>
        <p:spPr/>
        <p:txBody>
          <a:bodyPr>
            <a:normAutofit fontScale="90000"/>
          </a:bodyPr>
          <a:lstStyle/>
          <a:p>
            <a:pPr lvl="0"/>
            <a:br>
              <a:rPr lang="en-US" dirty="0">
                <a:solidFill>
                  <a:prstClr val="black"/>
                </a:solidFill>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Program  Educational Objectives</a:t>
            </a:r>
            <a:br>
              <a:rPr lang="en-US" dirty="0">
                <a:solidFill>
                  <a:prstClr val="black"/>
                </a:solidFill>
                <a:latin typeface="Times New Roman" panose="02020603050405020304" pitchFamily="18" charset="0"/>
                <a:cs typeface="Times New Roman" panose="02020603050405020304" pitchFamily="18" charset="0"/>
              </a:rPr>
            </a:b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342900" indent="-342900">
              <a:lnSpc>
                <a:spcPct val="150000"/>
              </a:lnSpc>
              <a:buFont typeface="Arial"/>
              <a:buChar char="•"/>
            </a:pPr>
            <a:r>
              <a:rPr lang="en-US" dirty="0"/>
              <a:t>ENTREPRENEURSHIP</a:t>
            </a:r>
          </a:p>
          <a:p>
            <a:pPr marL="342900" indent="-342900">
              <a:lnSpc>
                <a:spcPct val="150000"/>
              </a:lnSpc>
              <a:buFont typeface="Arial"/>
              <a:buChar char="•"/>
            </a:pPr>
            <a:r>
              <a:rPr lang="en-US" dirty="0"/>
              <a:t>THEORIES OF ENTREPRENEURSHIP</a:t>
            </a:r>
          </a:p>
          <a:p>
            <a:pPr marL="342900" indent="-342900">
              <a:lnSpc>
                <a:spcPct val="150000"/>
              </a:lnSpc>
              <a:buFont typeface="Arial"/>
              <a:buChar char="•"/>
            </a:pPr>
            <a:r>
              <a:rPr lang="en-US" dirty="0"/>
              <a:t>ROLE OF AN ENTREPRENEUR IN ECONOMIC DEVELOPMENT</a:t>
            </a:r>
          </a:p>
          <a:p>
            <a:pPr marL="342900" indent="-342900">
              <a:lnSpc>
                <a:spcPct val="150000"/>
              </a:lnSpc>
              <a:buFont typeface="Arial"/>
              <a:buChar char="•"/>
            </a:pPr>
            <a:r>
              <a:rPr lang="en-US" dirty="0"/>
              <a:t>QUALITIES OF AN ENTREPRENEUR</a:t>
            </a:r>
          </a:p>
          <a:p>
            <a:pPr marL="342900" indent="-342900">
              <a:lnSpc>
                <a:spcPct val="150000"/>
              </a:lnSpc>
              <a:buFont typeface="Arial"/>
              <a:buChar char="•"/>
            </a:pPr>
            <a:r>
              <a:rPr lang="en-US" dirty="0"/>
              <a:t>CLASSIFICATION OF ENTREPRENEURS</a:t>
            </a:r>
          </a:p>
          <a:p>
            <a:pPr marL="342900" indent="-342900">
              <a:lnSpc>
                <a:spcPct val="150000"/>
              </a:lnSpc>
              <a:buFont typeface="Arial"/>
              <a:buChar char="•"/>
            </a:pPr>
            <a:r>
              <a:rPr lang="en-US" dirty="0"/>
              <a:t>MOVITAVION THEORIES OF ENTREPRENEURSHIP</a:t>
            </a:r>
          </a:p>
          <a:p>
            <a:pPr marL="342900" indent="-342900">
              <a:lnSpc>
                <a:spcPct val="150000"/>
              </a:lnSpc>
              <a:buFont typeface="Arial"/>
              <a:buChar char="•"/>
            </a:pPr>
            <a:r>
              <a:rPr lang="en-US" dirty="0"/>
              <a:t>INTRAPRENEURSHIP</a:t>
            </a:r>
          </a:p>
          <a:p>
            <a:endParaRPr lang="en-IN" dirty="0"/>
          </a:p>
        </p:txBody>
      </p:sp>
      <p:sp>
        <p:nvSpPr>
          <p:cNvPr id="3" name="Title 2"/>
          <p:cNvSpPr>
            <a:spLocks noGrp="1"/>
          </p:cNvSpPr>
          <p:nvPr>
            <p:ph type="title"/>
          </p:nvPr>
        </p:nvSpPr>
        <p:spPr/>
        <p:txBody>
          <a:bodyPr>
            <a:normAutofit fontScale="90000"/>
          </a:bodyPr>
          <a:lstStyle/>
          <a:p>
            <a:pPr lvl="0"/>
            <a:br>
              <a:rPr lang="en-US" dirty="0">
                <a:solidFill>
                  <a:schemeClr val="dk1"/>
                </a:solidFill>
              </a:rPr>
            </a:br>
            <a:r>
              <a:rPr lang="en-US" dirty="0"/>
              <a:t>Prerequisite</a:t>
            </a:r>
            <a:r>
              <a:rPr lang="en-US" dirty="0">
                <a:solidFill>
                  <a:schemeClr val="dk1"/>
                </a:solidFill>
              </a:rPr>
              <a:t> </a:t>
            </a:r>
            <a:r>
              <a:rPr lang="en-US" dirty="0"/>
              <a:t>and</a:t>
            </a:r>
            <a:r>
              <a:rPr lang="en-US" dirty="0">
                <a:solidFill>
                  <a:schemeClr val="dk1"/>
                </a:solidFill>
              </a:rPr>
              <a:t> </a:t>
            </a:r>
            <a:r>
              <a:rPr lang="en-US" dirty="0"/>
              <a:t>Recap</a:t>
            </a:r>
            <a:br>
              <a:rPr lang="en-US" dirty="0">
                <a:solidFill>
                  <a:schemeClr val="dk1"/>
                </a:solidFill>
              </a:rPr>
            </a:b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lvl="0"/>
            <a:br>
              <a:rPr lang="en-US" dirty="0"/>
            </a:br>
            <a:r>
              <a:rPr lang="en-US" dirty="0"/>
              <a:t>INTELLECTUAL PROPERTY RIGHTS (IPR)</a:t>
            </a:r>
            <a:br>
              <a:rPr lang="en-US" dirty="0">
                <a:solidFill>
                  <a:schemeClr val="dk1"/>
                </a:solidFill>
              </a:rPr>
            </a:br>
            <a:endParaRPr lang="en-IN" dirty="0"/>
          </a:p>
        </p:txBody>
      </p:sp>
      <p:pic>
        <p:nvPicPr>
          <p:cNvPr id="4" name="Content Placeholder 3" descr="images.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1818" y="1496291"/>
            <a:ext cx="8298873" cy="43503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b="1" dirty="0"/>
              <a:t>Intellectual property (IP) is a category of property that includes intangible creations of the human intellect. </a:t>
            </a:r>
          </a:p>
          <a:p>
            <a:pPr algn="just"/>
            <a:endParaRPr lang="en-US" b="1" dirty="0"/>
          </a:p>
          <a:p>
            <a:pPr algn="just"/>
            <a:r>
              <a:rPr lang="en-US" dirty="0"/>
              <a:t>Existed in societies such as Ancient Rome, modern concept developed in England in the 17th and 18th centuries.</a:t>
            </a:r>
          </a:p>
          <a:p>
            <a:pPr algn="just"/>
            <a:endParaRPr lang="en-US" dirty="0"/>
          </a:p>
          <a:p>
            <a:pPr algn="just"/>
            <a:r>
              <a:rPr lang="en-US" dirty="0"/>
              <a:t> The term "intellectual property" began to be used in the 19th century, though it was not until the late 20th century that intellectual property became commonplace in the majority of the world's legal systems.	</a:t>
            </a:r>
          </a:p>
        </p:txBody>
      </p:sp>
      <p:sp>
        <p:nvSpPr>
          <p:cNvPr id="3" name="Title 2"/>
          <p:cNvSpPr>
            <a:spLocks noGrp="1"/>
          </p:cNvSpPr>
          <p:nvPr>
            <p:ph type="title"/>
          </p:nvPr>
        </p:nvSpPr>
        <p:spPr/>
        <p:txBody>
          <a:bodyPr>
            <a:normAutofit fontScale="90000"/>
          </a:bodyPr>
          <a:lstStyle/>
          <a:p>
            <a:pPr lvl="0"/>
            <a:r>
              <a:rPr lang="en-US" dirty="0">
                <a:latin typeface="Times New Roman" pitchFamily="18" charset="0"/>
                <a:cs typeface="Times New Roman" pitchFamily="18" charset="0"/>
              </a:rPr>
              <a:t>INTELLECTUAL PROPERTY RIGHTS (IPR)</a:t>
            </a:r>
            <a:br>
              <a:rPr lang="en-US" dirty="0">
                <a:solidFill>
                  <a:schemeClr val="dk1"/>
                </a:solidFill>
              </a:rPr>
            </a:b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Intellectual property is any type of original creation, whether it is intellectual, artistic, or tangible. Almost anything you create is a piece of intellectual property: a song, a painting, an invention, a process, a novel, a movie, a recipe, a code— a logo.</a:t>
            </a:r>
          </a:p>
          <a:p>
            <a:endParaRPr lang="en-IN" dirty="0"/>
          </a:p>
        </p:txBody>
      </p:sp>
      <p:sp>
        <p:nvSpPr>
          <p:cNvPr id="3" name="Title 2"/>
          <p:cNvSpPr>
            <a:spLocks noGrp="1"/>
          </p:cNvSpPr>
          <p:nvPr>
            <p:ph type="title"/>
          </p:nvPr>
        </p:nvSpPr>
        <p:spPr/>
        <p:txBody>
          <a:bodyPr>
            <a:normAutofit fontScale="90000"/>
          </a:bodyPr>
          <a:lstStyle/>
          <a:p>
            <a:r>
              <a:rPr lang="en-US" dirty="0">
                <a:latin typeface="Times New Roman" pitchFamily="18" charset="0"/>
                <a:cs typeface="Times New Roman" pitchFamily="18" charset="0"/>
              </a:rPr>
              <a:t>INTELLECTUAL PROPERTY RIGHTS (IPR)</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The intangible nature of intellectual property presents difficulties when compared with traditional property like land or goods. Unlike traditional property, intellectual property is "indivisible", since an unlimited number of people can "consume" an intellectual good without it being depleted. </a:t>
            </a:r>
          </a:p>
          <a:p>
            <a:pPr algn="just"/>
            <a:endParaRPr lang="en-US" dirty="0"/>
          </a:p>
          <a:p>
            <a:pPr algn="just"/>
            <a:r>
              <a:rPr lang="en-US" dirty="0"/>
              <a:t>A landowner can surround their land with a robust fence and hire armed guards to protect it, but a producer of information or literature can usually do very little to stop their first buyer from replicating it and selling it at a lower price!!</a:t>
            </a:r>
          </a:p>
          <a:p>
            <a:pPr>
              <a:buNone/>
            </a:pPr>
            <a:endParaRPr lang="en-IN" dirty="0"/>
          </a:p>
        </p:txBody>
      </p:sp>
      <p:sp>
        <p:nvSpPr>
          <p:cNvPr id="3" name="Title 2"/>
          <p:cNvSpPr>
            <a:spLocks noGrp="1"/>
          </p:cNvSpPr>
          <p:nvPr>
            <p:ph type="title"/>
          </p:nvPr>
        </p:nvSpPr>
        <p:spPr/>
        <p:txBody>
          <a:bodyPr>
            <a:normAutofit fontScale="90000"/>
          </a:bodyPr>
          <a:lstStyle/>
          <a:p>
            <a:pPr lvl="0"/>
            <a:r>
              <a:rPr lang="en-US" dirty="0"/>
              <a:t>INTELLECTUAL PROPERTY RIGHTS (IPR</a:t>
            </a:r>
            <a:br>
              <a:rPr lang="en-US" dirty="0">
                <a:solidFill>
                  <a:schemeClr val="dk1"/>
                </a:solidFill>
              </a:rPr>
            </a:b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INTELLECTUAL PROPERTY RIGHTS</a:t>
            </a:r>
          </a:p>
        </p:txBody>
      </p:sp>
      <p:pic>
        <p:nvPicPr>
          <p:cNvPr id="4" name="Content Placeholder 3" descr="Screen Shot 2021-05-25 at 3.09.05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9345" y="1231236"/>
            <a:ext cx="6788728" cy="4753928"/>
          </a:xfrm>
          <a:prstGeom prst="rect">
            <a:avLst/>
          </a:prstGeom>
          <a:solidFill>
            <a:schemeClr val="tx2">
              <a:lumMod val="60000"/>
              <a:lumOff val="40000"/>
            </a:schemeClr>
          </a:solidFill>
          <a:ln>
            <a:solidFill>
              <a:schemeClr val="tx2">
                <a:lumMod val="40000"/>
                <a:lumOff val="60000"/>
              </a:schemeClr>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Font typeface="Arial"/>
              <a:buChar char="•"/>
            </a:pPr>
            <a:r>
              <a:rPr lang="en-US" dirty="0"/>
              <a:t>International trademark Association(INTA)</a:t>
            </a:r>
          </a:p>
          <a:p>
            <a:pPr marL="342900" indent="-342900">
              <a:buFont typeface="Arial"/>
              <a:buChar char="•"/>
            </a:pPr>
            <a:r>
              <a:rPr lang="en-US" dirty="0"/>
              <a:t> World Intellectual Property Organization(WIPO)	</a:t>
            </a:r>
          </a:p>
          <a:p>
            <a:pPr marL="342900" indent="-342900">
              <a:buFont typeface="Arial"/>
              <a:buChar char="•"/>
            </a:pPr>
            <a:r>
              <a:rPr lang="en-US" dirty="0"/>
              <a:t>Berne Convention for the Protection of Literary and Artistic Works</a:t>
            </a:r>
          </a:p>
          <a:p>
            <a:pPr marL="342900" indent="-342900">
              <a:buFont typeface="Arial"/>
              <a:buChar char="•"/>
            </a:pPr>
            <a:r>
              <a:rPr lang="en-US" dirty="0"/>
              <a:t>Madrid Protocol</a:t>
            </a:r>
          </a:p>
          <a:p>
            <a:pPr marL="342900" indent="-342900">
              <a:buFont typeface="Arial"/>
              <a:buChar char="•"/>
            </a:pPr>
            <a:r>
              <a:rPr lang="en-US" dirty="0"/>
              <a:t>Paris Convention</a:t>
            </a:r>
          </a:p>
          <a:p>
            <a:pPr marL="342900" indent="-342900">
              <a:buFont typeface="Arial"/>
              <a:buChar char="•"/>
            </a:pPr>
            <a:r>
              <a:rPr lang="en-US" dirty="0"/>
              <a:t>North American Free Trade Agreement (NAFTA)</a:t>
            </a:r>
          </a:p>
          <a:p>
            <a:pPr marL="342900" indent="-342900">
              <a:buFont typeface="Arial"/>
              <a:buChar char="•"/>
            </a:pPr>
            <a:r>
              <a:rPr lang="en-US" dirty="0"/>
              <a:t>General Agreement on Tariffs and Trade (GATT)</a:t>
            </a:r>
          </a:p>
          <a:p>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INTERNATIONAL ORGANIZATION, AGENCIES AND TREATIES</a:t>
            </a:r>
            <a:br>
              <a:rPr lang="en-US" dirty="0">
                <a:solidFill>
                  <a:schemeClr val="dk1"/>
                </a:solidFill>
              </a:rPr>
            </a:b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 The main purpose of intellectual property law is to </a:t>
            </a:r>
            <a:r>
              <a:rPr lang="en-US" b="1" dirty="0"/>
              <a:t>encourage the creation of a wide variety of intellectual goods</a:t>
            </a:r>
            <a:r>
              <a:rPr lang="en-US" dirty="0"/>
              <a:t>. To achieve this, the law gives people and businesses property rights to the information and intellectual goods they create, usually for a </a:t>
            </a:r>
            <a:r>
              <a:rPr lang="en-US" b="1" dirty="0"/>
              <a:t>limited period of time</a:t>
            </a:r>
            <a:r>
              <a:rPr lang="en-US" dirty="0"/>
              <a:t>. </a:t>
            </a:r>
          </a:p>
          <a:p>
            <a:endParaRPr lang="en-US" dirty="0"/>
          </a:p>
          <a:p>
            <a:r>
              <a:rPr lang="en-US" dirty="0"/>
              <a:t>This gives economic incentive for their creation, because it allows </a:t>
            </a:r>
            <a:r>
              <a:rPr lang="en-US" b="1" dirty="0"/>
              <a:t>people to profit from the information and intellectual goods they create</a:t>
            </a:r>
            <a:r>
              <a:rPr lang="en-US" dirty="0"/>
              <a:t>. These economic incentives are expected to stimulate innovation and contribute to the technological progress of countries, which depends on the extent of protection granted to innovators. </a:t>
            </a:r>
          </a:p>
          <a:p>
            <a:endParaRPr lang="en-IN" dirty="0"/>
          </a:p>
        </p:txBody>
      </p:sp>
      <p:sp>
        <p:nvSpPr>
          <p:cNvPr id="3" name="Title 2"/>
          <p:cNvSpPr>
            <a:spLocks noGrp="1"/>
          </p:cNvSpPr>
          <p:nvPr>
            <p:ph type="title"/>
          </p:nvPr>
        </p:nvSpPr>
        <p:spPr/>
        <p:txBody>
          <a:bodyPr>
            <a:normAutofit fontScale="90000"/>
          </a:bodyPr>
          <a:lstStyle/>
          <a:p>
            <a:pPr lvl="0"/>
            <a:br>
              <a:rPr lang="en-US" dirty="0">
                <a:solidFill>
                  <a:schemeClr val="dk1"/>
                </a:solidFill>
              </a:rPr>
            </a:br>
            <a:r>
              <a:rPr lang="en-US" dirty="0"/>
              <a:t>PURPOSE OF IPR</a:t>
            </a:r>
            <a:br>
              <a:rPr lang="en-US" dirty="0">
                <a:solidFill>
                  <a:schemeClr val="dk1"/>
                </a:solidFill>
              </a:rPr>
            </a:b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solidFill>
                  <a:srgbClr val="337AB7"/>
                </a:solidFill>
                <a:latin typeface="Times New Roman" pitchFamily="18" charset="0"/>
                <a:ea typeface="Tahoma" pitchFamily="34" charset="0"/>
                <a:cs typeface="Times New Roman" pitchFamily="18" charset="0"/>
                <a:hlinkClick r:id="rId2"/>
              </a:rPr>
              <a:t>Intellectual Property</a:t>
            </a:r>
            <a:r>
              <a:rPr lang="en-US" dirty="0">
                <a:solidFill>
                  <a:srgbClr val="337AB7"/>
                </a:solidFill>
                <a:latin typeface="Times New Roman" pitchFamily="18" charset="0"/>
                <a:ea typeface="Tahoma" pitchFamily="34" charset="0"/>
                <a:cs typeface="Times New Roman" pitchFamily="18" charset="0"/>
              </a:rPr>
              <a:t> </a:t>
            </a:r>
            <a:r>
              <a:rPr lang="en-US" dirty="0">
                <a:solidFill>
                  <a:srgbClr val="314259"/>
                </a:solidFill>
                <a:latin typeface="Times New Roman" pitchFamily="18" charset="0"/>
                <a:ea typeface="Tahoma" pitchFamily="34" charset="0"/>
                <a:cs typeface="Times New Roman" pitchFamily="18" charset="0"/>
              </a:rPr>
              <a:t>(IP) is the categorized representation of intangible things such as copyrights, patents, trademarks, unique concepts, and ideas. According to the rule of Intellectual Property, these intangible services should receive same legal protection just as the tangible property. In brief, it refers to the mere ownership of one’s ideas.</a:t>
            </a:r>
          </a:p>
          <a:p>
            <a:pPr algn="just"/>
            <a:r>
              <a:rPr lang="en-US" dirty="0">
                <a:solidFill>
                  <a:srgbClr val="314259"/>
                </a:solidFill>
                <a:latin typeface="Times New Roman" pitchFamily="18" charset="0"/>
                <a:ea typeface="Tahoma" pitchFamily="34" charset="0"/>
                <a:cs typeface="Times New Roman" pitchFamily="18" charset="0"/>
              </a:rPr>
              <a:t>Creating a unique product for your business or bringing innovative ideas into reality can prove to be a priceless asset. Majority of the new entrepreneurs don’t recognize the need of protecting their Intellectual Property, and the ones who know are not aware of where to start.</a:t>
            </a:r>
          </a:p>
        </p:txBody>
      </p:sp>
      <p:sp>
        <p:nvSpPr>
          <p:cNvPr id="3" name="Title 2"/>
          <p:cNvSpPr>
            <a:spLocks noGrp="1"/>
          </p:cNvSpPr>
          <p:nvPr>
            <p:ph type="title"/>
          </p:nvPr>
        </p:nvSpPr>
        <p:spPr/>
        <p:txBody>
          <a:bodyPr>
            <a:normAutofit fontScale="90000"/>
          </a:bodyPr>
          <a:lstStyle/>
          <a:p>
            <a:pPr lvl="0"/>
            <a:br>
              <a:rPr lang="en-US" dirty="0"/>
            </a:br>
            <a:r>
              <a:rPr lang="en-US" dirty="0"/>
              <a:t>INTELLECTUAL PROPERTY AND ITS PROTECTION</a:t>
            </a:r>
            <a:br>
              <a:rPr lang="en-US" dirty="0">
                <a:solidFill>
                  <a:schemeClr val="dk1"/>
                </a:solidFill>
              </a:rPr>
            </a:b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r>
              <a:rPr lang="en-US" dirty="0"/>
              <a:t>Keep it under scrutiny</a:t>
            </a:r>
          </a:p>
          <a:p>
            <a:pPr marL="342900" indent="-342900"/>
            <a:r>
              <a:rPr lang="en-US" dirty="0"/>
              <a:t>Be aware of your Intellectual Property Rights</a:t>
            </a:r>
          </a:p>
          <a:p>
            <a:pPr marL="342900" indent="-342900"/>
            <a:r>
              <a:rPr lang="en-US" dirty="0"/>
              <a:t>Consult an expert</a:t>
            </a:r>
          </a:p>
          <a:p>
            <a:pPr marL="342900" indent="-342900"/>
            <a:r>
              <a:rPr lang="en-US" dirty="0"/>
              <a:t>Double check if your idea is unique</a:t>
            </a:r>
          </a:p>
          <a:p>
            <a:pPr marL="342900" indent="-342900"/>
            <a:r>
              <a:rPr lang="en-US" dirty="0"/>
              <a:t>Hire an auditor</a:t>
            </a:r>
          </a:p>
          <a:p>
            <a:pPr marL="342900" indent="-342900"/>
            <a:r>
              <a:rPr lang="en-US" dirty="0"/>
              <a:t>Keep a record of almost everything related</a:t>
            </a:r>
          </a:p>
          <a:p>
            <a:pPr marL="342900" indent="-342900"/>
            <a:r>
              <a:rPr lang="en-US" dirty="0"/>
              <a:t>Protect your IP without delay</a:t>
            </a:r>
          </a:p>
          <a:p>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INTELLECTUAL PROPERTY AND ITS PROTECTION</a:t>
            </a:r>
            <a:br>
              <a:rPr lang="en-US" dirty="0">
                <a:solidFill>
                  <a:schemeClr val="dk1"/>
                </a:solidFill>
              </a:rPr>
            </a:b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Case study: </a:t>
            </a:r>
          </a:p>
          <a:p>
            <a:r>
              <a:rPr lang="en-US" dirty="0">
                <a:hlinkClick r:id="rId2"/>
              </a:rPr>
              <a:t>https://www.inc.com/magazine/19820101/116.html</a:t>
            </a:r>
            <a:endParaRPr lang="en-US" dirty="0"/>
          </a:p>
          <a:p>
            <a:endParaRPr lang="en-US" dirty="0"/>
          </a:p>
          <a:p>
            <a:pPr marL="342900" indent="-342900"/>
            <a:r>
              <a:rPr lang="en-US" dirty="0"/>
              <a:t>Patents</a:t>
            </a:r>
          </a:p>
          <a:p>
            <a:pPr marL="342900" indent="-342900"/>
            <a:r>
              <a:rPr lang="en-US" dirty="0"/>
              <a:t>Copyrights</a:t>
            </a:r>
          </a:p>
          <a:p>
            <a:pPr marL="342900" indent="-342900"/>
            <a:r>
              <a:rPr lang="en-US" dirty="0"/>
              <a:t>Trademarks</a:t>
            </a:r>
          </a:p>
          <a:p>
            <a:pPr marL="342900" indent="-342900"/>
            <a:r>
              <a:rPr lang="en-US" dirty="0"/>
              <a:t>Trade secrets</a:t>
            </a:r>
          </a:p>
          <a:p>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Forms of Protection depending on product</a:t>
            </a:r>
            <a:br>
              <a:rPr lang="en-US" dirty="0">
                <a:solidFill>
                  <a:schemeClr val="dk1"/>
                </a:solidFill>
              </a:rPr>
            </a:b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lvl="0"/>
            <a:br>
              <a:rPr lang="en-US" dirty="0">
                <a:solidFill>
                  <a:schemeClr val="dk1"/>
                </a:solidFill>
              </a:rPr>
            </a:br>
            <a:r>
              <a:rPr lang="en-US" dirty="0"/>
              <a:t>PATENTS</a:t>
            </a:r>
            <a:br>
              <a:rPr lang="en-US" dirty="0">
                <a:solidFill>
                  <a:schemeClr val="dk1"/>
                </a:solidFill>
              </a:rPr>
            </a:br>
            <a:endParaRPr lang="en-IN" dirty="0"/>
          </a:p>
        </p:txBody>
      </p:sp>
      <p:pic>
        <p:nvPicPr>
          <p:cNvPr id="4" name="Content Placeholder 3" descr="images.jp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8182" y="1288473"/>
            <a:ext cx="7786254" cy="461356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Font typeface="Arial"/>
              <a:buChar char="•"/>
            </a:pPr>
            <a:r>
              <a:rPr lang="en-US" dirty="0"/>
              <a:t>A patent is a form of right granted by the government to an inventor or their successor-in-title, giving the owner the right to exclude others from making, using, selling, offering to sell, and importing an invention for a limited period of time, in exchange for the public disclosure of the invention for a definite geographical area.</a:t>
            </a:r>
          </a:p>
          <a:p>
            <a:endParaRPr lang="en-US" dirty="0"/>
          </a:p>
          <a:p>
            <a:pPr marL="342900" indent="-342900">
              <a:buFont typeface="Arial"/>
              <a:buChar char="•"/>
            </a:pPr>
            <a:r>
              <a:rPr lang="en-US" dirty="0"/>
              <a:t>Patents can be filed in India by the inventor at ipindia.nic.in</a:t>
            </a:r>
          </a:p>
          <a:p>
            <a:endParaRPr lang="en-US" dirty="0"/>
          </a:p>
          <a:p>
            <a:pPr marL="342900" indent="-342900">
              <a:buFont typeface="Arial"/>
              <a:buChar char="•"/>
            </a:pPr>
            <a:r>
              <a:rPr lang="en-US" dirty="0"/>
              <a:t>Term of patent is 20 years from the date of filing.</a:t>
            </a:r>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PATENTS</a:t>
            </a:r>
            <a:br>
              <a:rPr lang="en-US" dirty="0">
                <a:solidFill>
                  <a:schemeClr val="dk1"/>
                </a:solidFill>
              </a:rPr>
            </a:b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Inventions can be electrical, mechanical, or chemical in nature. Examples of inventions protected by utility patents are a microwave oven, genetically engineered bacteria for cleaning up oil spills, a computerized method of running cash management accounts, and a method for curing rubber.</a:t>
            </a:r>
          </a:p>
          <a:p>
            <a:endParaRPr lang="en-IN" dirty="0"/>
          </a:p>
        </p:txBody>
      </p:sp>
      <p:sp>
        <p:nvSpPr>
          <p:cNvPr id="3" name="Title 2"/>
          <p:cNvSpPr>
            <a:spLocks noGrp="1"/>
          </p:cNvSpPr>
          <p:nvPr>
            <p:ph type="title"/>
          </p:nvPr>
        </p:nvSpPr>
        <p:spPr/>
        <p:txBody>
          <a:bodyPr>
            <a:normAutofit fontScale="90000"/>
          </a:bodyPr>
          <a:lstStyle/>
          <a:p>
            <a:br>
              <a:rPr lang="en-US" dirty="0"/>
            </a:br>
            <a:r>
              <a:rPr lang="en-US" dirty="0"/>
              <a:t>What is an example of a patent?</a:t>
            </a:r>
            <a:br>
              <a:rPr lang="en-US" dirty="0"/>
            </a:b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Font typeface="Arial"/>
              <a:buChar char="•"/>
            </a:pPr>
            <a:r>
              <a:rPr lang="en-US" dirty="0"/>
              <a:t>In India , Patents rights are governed by the Patents Act, 1970. at present 3</a:t>
            </a:r>
            <a:r>
              <a:rPr lang="en-US" baseline="30000" dirty="0"/>
              <a:t>rd</a:t>
            </a:r>
            <a:r>
              <a:rPr lang="en-US" dirty="0"/>
              <a:t> Amendment of act known as the patent(amendment ) act, 2005 is in force.</a:t>
            </a:r>
          </a:p>
          <a:p>
            <a:pPr marL="342900" indent="-342900">
              <a:buFont typeface="Arial"/>
              <a:buChar char="•"/>
            </a:pPr>
            <a:endParaRPr lang="en-US" dirty="0"/>
          </a:p>
          <a:p>
            <a:pPr marL="342900" indent="-342900">
              <a:buFont typeface="Arial"/>
              <a:buChar char="•"/>
            </a:pPr>
            <a:r>
              <a:rPr lang="en-US" dirty="0"/>
              <a:t>For application of patents act, rules made by the government, known as “Patent Rules, 2003”, Patent(amendment) rule updated in </a:t>
            </a:r>
            <a:r>
              <a:rPr lang="en-US" dirty="0" err="1"/>
              <a:t>sept</a:t>
            </a:r>
            <a:r>
              <a:rPr lang="en-US" dirty="0"/>
              <a:t>. 2015 is in force.</a:t>
            </a:r>
          </a:p>
          <a:p>
            <a:endParaRPr lang="en-IN" dirty="0"/>
          </a:p>
        </p:txBody>
      </p:sp>
      <p:sp>
        <p:nvSpPr>
          <p:cNvPr id="3" name="Title 2"/>
          <p:cNvSpPr>
            <a:spLocks noGrp="1"/>
          </p:cNvSpPr>
          <p:nvPr>
            <p:ph type="title"/>
          </p:nvPr>
        </p:nvSpPr>
        <p:spPr/>
        <p:txBody>
          <a:bodyPr>
            <a:normAutofit fontScale="90000"/>
          </a:bodyPr>
          <a:lstStyle/>
          <a:p>
            <a:pPr lvl="0"/>
            <a:br>
              <a:rPr lang="en-US" dirty="0">
                <a:solidFill>
                  <a:schemeClr val="dk1"/>
                </a:solidFill>
              </a:rPr>
            </a:br>
            <a:r>
              <a:rPr lang="en-US" dirty="0"/>
              <a:t>PATENTS</a:t>
            </a:r>
            <a:br>
              <a:rPr lang="en-US" dirty="0">
                <a:solidFill>
                  <a:schemeClr val="dk1"/>
                </a:solidFill>
              </a:rPr>
            </a:b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42900" indent="-342900">
              <a:buFont typeface="Arial"/>
              <a:buChar char="•"/>
            </a:pPr>
            <a:r>
              <a:rPr lang="en-US" b="1" dirty="0" err="1">
                <a:latin typeface="Times New Roman" pitchFamily="18" charset="0"/>
                <a:cs typeface="Times New Roman" pitchFamily="18" charset="0"/>
              </a:rPr>
              <a:t>HDFonoDoc</a:t>
            </a:r>
            <a:r>
              <a:rPr lang="en-US" dirty="0">
                <a:latin typeface="Times New Roman" pitchFamily="18" charset="0"/>
                <a:cs typeface="Times New Roman" pitchFamily="18" charset="0"/>
              </a:rPr>
              <a:t> – Invented by </a:t>
            </a:r>
            <a:r>
              <a:rPr lang="en-US" dirty="0" err="1">
                <a:latin typeface="Times New Roman" pitchFamily="18" charset="0"/>
                <a:cs typeface="Times New Roman" pitchFamily="18" charset="0"/>
              </a:rPr>
              <a:t>Arvind</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Thiagarajan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HDFonoDoc</a:t>
            </a:r>
            <a:r>
              <a:rPr lang="en-US" dirty="0">
                <a:latin typeface="Times New Roman" pitchFamily="18" charset="0"/>
                <a:cs typeface="Times New Roman" pitchFamily="18" charset="0"/>
              </a:rPr>
              <a:t> is a trailblazing handy device, which can detect murmur in the heart within 10 seconds. This 37-year-old inventor was honored with Junior Scientist Award in 2001. He is a prolific entrepreneur and founder of several Medical diagnostic start-ups who has over 40 patents under his name. </a:t>
            </a:r>
          </a:p>
          <a:p>
            <a:pPr marL="342900" indent="-342900">
              <a:buFont typeface="Arial"/>
              <a:buChar char="•"/>
            </a:pPr>
            <a:endParaRPr lang="en-US" dirty="0">
              <a:latin typeface="Times New Roman" pitchFamily="18" charset="0"/>
              <a:cs typeface="Times New Roman" pitchFamily="18" charset="0"/>
            </a:endParaRPr>
          </a:p>
          <a:p>
            <a:pPr marL="342900" indent="-342900">
              <a:buFont typeface="Arial"/>
              <a:buChar char="•"/>
            </a:pPr>
            <a:r>
              <a:rPr lang="en-US" b="1" dirty="0">
                <a:latin typeface="Times New Roman" pitchFamily="18" charset="0"/>
                <a:cs typeface="Times New Roman" pitchFamily="18" charset="0"/>
              </a:rPr>
              <a:t>Washing system with high-pressure water jets for cleaning tubes of heat recovery steam generator </a:t>
            </a:r>
            <a:r>
              <a:rPr lang="en-US" dirty="0">
                <a:latin typeface="Times New Roman" pitchFamily="18" charset="0"/>
                <a:cs typeface="Times New Roman" pitchFamily="18" charset="0"/>
              </a:rPr>
              <a:t>– Invented by the R&amp;D sector of Bharat Heavy Electricals Limited (BHEL), the invention particularly relates to a system used for removing ash deposits formed on the spiral finned tubes of a heat recovery steam generator. Ranked by Forbes as the 9th most innovative company in the world, BHEL files one patent a day and is accredited to be the Indian company that holds the most number of patents.</a:t>
            </a:r>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PATENTS</a:t>
            </a:r>
            <a:br>
              <a:rPr lang="en-US" dirty="0">
                <a:solidFill>
                  <a:schemeClr val="dk1"/>
                </a:solidFill>
              </a:rPr>
            </a:b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70000"/>
              </a:lnSpc>
            </a:pPr>
            <a:r>
              <a:rPr lang="en-US" dirty="0"/>
              <a:t>Pen with scanner. With a machine as small as a pen, you can transfer text from paper directly into a computer. </a:t>
            </a:r>
          </a:p>
          <a:p>
            <a:pPr>
              <a:lnSpc>
                <a:spcPct val="170000"/>
              </a:lnSpc>
            </a:pPr>
            <a:r>
              <a:rPr lang="en-US" dirty="0"/>
              <a:t>System for shorter flight times. </a:t>
            </a:r>
          </a:p>
          <a:p>
            <a:pPr>
              <a:lnSpc>
                <a:spcPct val="170000"/>
              </a:lnSpc>
            </a:pPr>
            <a:r>
              <a:rPr lang="en-US" dirty="0"/>
              <a:t>The blood rocker. </a:t>
            </a:r>
          </a:p>
          <a:p>
            <a:pPr>
              <a:lnSpc>
                <a:spcPct val="170000"/>
              </a:lnSpc>
            </a:pPr>
            <a:r>
              <a:rPr lang="en-US" dirty="0"/>
              <a:t>Packaging success. </a:t>
            </a:r>
          </a:p>
          <a:p>
            <a:pPr>
              <a:lnSpc>
                <a:spcPct val="170000"/>
              </a:lnSpc>
            </a:pPr>
            <a:r>
              <a:rPr lang="en-US" dirty="0"/>
              <a:t>Life-saving invention. </a:t>
            </a:r>
          </a:p>
          <a:p>
            <a:endParaRPr lang="en-IN" dirty="0"/>
          </a:p>
        </p:txBody>
      </p:sp>
      <p:sp>
        <p:nvSpPr>
          <p:cNvPr id="3" name="Title 2"/>
          <p:cNvSpPr>
            <a:spLocks noGrp="1"/>
          </p:cNvSpPr>
          <p:nvPr>
            <p:ph type="title"/>
          </p:nvPr>
        </p:nvSpPr>
        <p:spPr/>
        <p:txBody>
          <a:bodyPr>
            <a:normAutofit fontScale="90000"/>
          </a:bodyPr>
          <a:lstStyle/>
          <a:p>
            <a:pPr lvl="0"/>
            <a:br>
              <a:rPr lang="en-US" dirty="0">
                <a:latin typeface="Arial" panose="020B0604020202020204" pitchFamily="34" charset="0"/>
              </a:rPr>
            </a:br>
            <a:r>
              <a:rPr lang="en-US" dirty="0">
                <a:latin typeface="Arial" panose="020B0604020202020204" pitchFamily="34" charset="0"/>
              </a:rPr>
              <a:t>PATENTS</a:t>
            </a:r>
            <a:br>
              <a:rPr lang="en-US" dirty="0">
                <a:solidFill>
                  <a:schemeClr val="dk1"/>
                </a:solidFill>
                <a:latin typeface="Arial" panose="020B0604020202020204" pitchFamily="34" charset="0"/>
              </a:rPr>
            </a:b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novel.</a:t>
            </a:r>
          </a:p>
          <a:p>
            <a:r>
              <a:rPr lang="en-US" dirty="0"/>
              <a:t>A poem.</a:t>
            </a:r>
          </a:p>
          <a:p>
            <a:r>
              <a:rPr lang="en-US" dirty="0"/>
              <a:t>A photograph.</a:t>
            </a:r>
          </a:p>
          <a:p>
            <a:r>
              <a:rPr lang="en-US" dirty="0"/>
              <a:t>A movie.</a:t>
            </a:r>
          </a:p>
          <a:p>
            <a:r>
              <a:rPr lang="en-US" dirty="0"/>
              <a:t>Lyrics to a song.</a:t>
            </a:r>
          </a:p>
          <a:p>
            <a:r>
              <a:rPr lang="en-US" dirty="0"/>
              <a:t>A musical composition in the form of sheet music.</a:t>
            </a:r>
          </a:p>
          <a:p>
            <a:r>
              <a:rPr lang="en-US" dirty="0"/>
              <a:t>A sound recording.</a:t>
            </a:r>
          </a:p>
          <a:p>
            <a:r>
              <a:rPr lang="en-US" dirty="0"/>
              <a:t>A painting.</a:t>
            </a:r>
          </a:p>
          <a:p>
            <a:endParaRPr lang="en-IN" dirty="0"/>
          </a:p>
        </p:txBody>
      </p:sp>
      <p:sp>
        <p:nvSpPr>
          <p:cNvPr id="3" name="Title 2"/>
          <p:cNvSpPr>
            <a:spLocks noGrp="1"/>
          </p:cNvSpPr>
          <p:nvPr>
            <p:ph type="title"/>
          </p:nvPr>
        </p:nvSpPr>
        <p:spPr/>
        <p:txBody>
          <a:bodyPr>
            <a:normAutofit fontScale="90000"/>
          </a:bodyPr>
          <a:lstStyle/>
          <a:p>
            <a:r>
              <a:rPr lang="en-US" dirty="0"/>
              <a:t>What are some examples of copyright works?</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COPYRIGHT</a:t>
            </a:r>
            <a:endParaRPr lang="en-IN" dirty="0"/>
          </a:p>
        </p:txBody>
      </p:sp>
      <p:pic>
        <p:nvPicPr>
          <p:cNvPr id="4" name="Content Placeholder 3" descr="download.jp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7345" y="1301381"/>
            <a:ext cx="8243455" cy="460065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457200" indent="-457200">
              <a:lnSpc>
                <a:spcPct val="150000"/>
              </a:lnSpc>
              <a:buFont typeface="Arial"/>
              <a:buChar char="•"/>
            </a:pPr>
            <a:r>
              <a:rPr lang="en-US" dirty="0">
                <a:latin typeface="Arial" panose="020B0604020202020204" pitchFamily="34" charset="0"/>
              </a:rPr>
              <a:t>A copyright gives the creator of an original work exclusive rights to it, usually for a limited time. </a:t>
            </a:r>
          </a:p>
          <a:p>
            <a:pPr marL="457200" indent="-457200">
              <a:lnSpc>
                <a:spcPct val="150000"/>
              </a:lnSpc>
              <a:buFont typeface="Arial"/>
              <a:buChar char="•"/>
            </a:pPr>
            <a:endParaRPr lang="en-US" dirty="0">
              <a:latin typeface="Arial" panose="020B0604020202020204" pitchFamily="34" charset="0"/>
            </a:endParaRPr>
          </a:p>
          <a:p>
            <a:pPr marL="457200" indent="-457200">
              <a:lnSpc>
                <a:spcPct val="150000"/>
              </a:lnSpc>
              <a:buFont typeface="Arial"/>
              <a:buChar char="•"/>
            </a:pPr>
            <a:r>
              <a:rPr lang="en-US" dirty="0">
                <a:latin typeface="Arial" panose="020B0604020202020204" pitchFamily="34" charset="0"/>
              </a:rPr>
              <a:t>Copyright may apply to a wide range of creative, intellectual, or artistic forms, or "works". </a:t>
            </a:r>
          </a:p>
          <a:p>
            <a:pPr marL="457200" indent="-457200">
              <a:lnSpc>
                <a:spcPct val="150000"/>
              </a:lnSpc>
              <a:buFont typeface="Arial"/>
              <a:buChar char="•"/>
            </a:pPr>
            <a:endParaRPr lang="en-US" dirty="0">
              <a:latin typeface="Arial" panose="020B0604020202020204" pitchFamily="34" charset="0"/>
            </a:endParaRPr>
          </a:p>
          <a:p>
            <a:pPr marL="457200" indent="-457200">
              <a:lnSpc>
                <a:spcPct val="150000"/>
              </a:lnSpc>
              <a:buFont typeface="Arial"/>
              <a:buChar char="•"/>
            </a:pPr>
            <a:r>
              <a:rPr lang="en-US" dirty="0">
                <a:latin typeface="Arial" panose="020B0604020202020204" pitchFamily="34" charset="0"/>
              </a:rPr>
              <a:t>Copyright comes into existence as soon as the work is created and protects skill and </a:t>
            </a:r>
            <a:r>
              <a:rPr lang="en-US" dirty="0" err="1">
                <a:latin typeface="Arial" panose="020B0604020202020204" pitchFamily="34" charset="0"/>
              </a:rPr>
              <a:t>labour</a:t>
            </a:r>
            <a:r>
              <a:rPr lang="en-US" dirty="0">
                <a:latin typeface="Arial" panose="020B0604020202020204" pitchFamily="34" charset="0"/>
              </a:rPr>
              <a:t> employed by the creator on production of the work.</a:t>
            </a:r>
          </a:p>
          <a:p>
            <a:endParaRPr lang="en-IN" dirty="0"/>
          </a:p>
        </p:txBody>
      </p:sp>
      <p:sp>
        <p:nvSpPr>
          <p:cNvPr id="3" name="Title 2"/>
          <p:cNvSpPr>
            <a:spLocks noGrp="1"/>
          </p:cNvSpPr>
          <p:nvPr>
            <p:ph type="title"/>
          </p:nvPr>
        </p:nvSpPr>
        <p:spPr/>
        <p:txBody>
          <a:bodyPr/>
          <a:lstStyle/>
          <a:p>
            <a:r>
              <a:rPr lang="en-US" dirty="0">
                <a:latin typeface="Arial" panose="020B0604020202020204" pitchFamily="34" charset="0"/>
              </a:rPr>
              <a:t>COPYRIGHTS</a:t>
            </a: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457200" indent="-457200" algn="just">
              <a:lnSpc>
                <a:spcPct val="150000"/>
              </a:lnSpc>
              <a:buFont typeface="Arial"/>
              <a:buChar char="•"/>
            </a:pPr>
            <a:r>
              <a:rPr lang="en-US" dirty="0"/>
              <a:t>Literary works as novels, poems, plays, reference works, newspapers, articles.  </a:t>
            </a:r>
          </a:p>
          <a:p>
            <a:pPr marL="457200" indent="-457200" algn="just">
              <a:lnSpc>
                <a:spcPct val="150000"/>
              </a:lnSpc>
              <a:buFont typeface="Arial"/>
              <a:buChar char="•"/>
            </a:pPr>
            <a:r>
              <a:rPr lang="en-US" dirty="0"/>
              <a:t>Computer programs and databases.</a:t>
            </a:r>
          </a:p>
          <a:p>
            <a:pPr marL="457200" indent="-457200" algn="just">
              <a:lnSpc>
                <a:spcPct val="150000"/>
              </a:lnSpc>
              <a:buFont typeface="Arial"/>
              <a:buChar char="•"/>
            </a:pPr>
            <a:r>
              <a:rPr lang="en-US" dirty="0"/>
              <a:t>Films, musical compositions, dance and theatrical productions</a:t>
            </a:r>
          </a:p>
          <a:p>
            <a:pPr marL="457200" indent="-457200" algn="just">
              <a:lnSpc>
                <a:spcPct val="150000"/>
              </a:lnSpc>
              <a:buFont typeface="Arial"/>
              <a:buChar char="•"/>
            </a:pPr>
            <a:r>
              <a:rPr lang="en-US" dirty="0"/>
              <a:t>Artistic works as paintings, drawings, photographs and sculptures.</a:t>
            </a:r>
          </a:p>
          <a:p>
            <a:pPr marL="457200" indent="-457200" algn="just">
              <a:lnSpc>
                <a:spcPct val="150000"/>
              </a:lnSpc>
              <a:buFont typeface="Arial"/>
              <a:buChar char="•"/>
            </a:pPr>
            <a:r>
              <a:rPr lang="en-US" dirty="0"/>
              <a:t>Architecture, advertisements, maps, technical drawings, manuals, etc.</a:t>
            </a:r>
          </a:p>
          <a:p>
            <a:pPr marL="457200" indent="-457200" algn="just">
              <a:lnSpc>
                <a:spcPct val="150000"/>
              </a:lnSpc>
              <a:buFont typeface="Arial"/>
              <a:buChar char="•"/>
            </a:pPr>
            <a:r>
              <a:rPr lang="en-US" dirty="0"/>
              <a:t>Copyright does not cover ideas and information themselves, only the form or manner in which they are expressed.</a:t>
            </a:r>
          </a:p>
          <a:p>
            <a:endParaRPr lang="en-IN" dirty="0"/>
          </a:p>
        </p:txBody>
      </p:sp>
      <p:sp>
        <p:nvSpPr>
          <p:cNvPr id="3" name="Title 2"/>
          <p:cNvSpPr>
            <a:spLocks noGrp="1"/>
          </p:cNvSpPr>
          <p:nvPr>
            <p:ph type="title"/>
          </p:nvPr>
        </p:nvSpPr>
        <p:spPr/>
        <p:txBody>
          <a:bodyPr>
            <a:normAutofit fontScale="90000"/>
          </a:bodyPr>
          <a:lstStyle/>
          <a:p>
            <a:pPr lvl="0"/>
            <a:br>
              <a:rPr lang="en-US" dirty="0">
                <a:latin typeface="Arial" panose="020B0604020202020204" pitchFamily="34" charset="0"/>
              </a:rPr>
            </a:br>
            <a:r>
              <a:rPr lang="en-US" dirty="0">
                <a:latin typeface="Arial" panose="020B0604020202020204" pitchFamily="34" charset="0"/>
              </a:rPr>
              <a:t>COPYRIGHTS</a:t>
            </a:r>
            <a:br>
              <a:rPr lang="en-US" dirty="0">
                <a:solidFill>
                  <a:schemeClr val="dk1"/>
                </a:solidFill>
                <a:latin typeface="Arial" panose="020B0604020202020204" pitchFamily="34" charset="0"/>
              </a:rPr>
            </a:b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algn="just">
              <a:lnSpc>
                <a:spcPct val="150000"/>
              </a:lnSpc>
              <a:buNone/>
            </a:pPr>
            <a:r>
              <a:rPr lang="en-US" dirty="0">
                <a:latin typeface="Arial" panose="020B0604020202020204" pitchFamily="34" charset="0"/>
              </a:rPr>
              <a:t>Copyright grants certain rights that are exclusive to its owner. Based on these rights, the copyright owner</a:t>
            </a:r>
          </a:p>
          <a:p>
            <a:pPr algn="just">
              <a:lnSpc>
                <a:spcPct val="150000"/>
              </a:lnSpc>
              <a:buNone/>
            </a:pPr>
            <a:r>
              <a:rPr lang="en-US" dirty="0">
                <a:latin typeface="Arial" panose="020B0604020202020204" pitchFamily="34" charset="0"/>
              </a:rPr>
              <a:t>• Can copy the work</a:t>
            </a:r>
          </a:p>
          <a:p>
            <a:pPr algn="just">
              <a:lnSpc>
                <a:spcPct val="150000"/>
              </a:lnSpc>
              <a:buNone/>
            </a:pPr>
            <a:r>
              <a:rPr lang="en-US" dirty="0">
                <a:latin typeface="Arial" panose="020B0604020202020204" pitchFamily="34" charset="0"/>
              </a:rPr>
              <a:t>• Issue copies of the work to the public</a:t>
            </a:r>
          </a:p>
          <a:p>
            <a:pPr algn="just">
              <a:lnSpc>
                <a:spcPct val="150000"/>
              </a:lnSpc>
              <a:buNone/>
            </a:pPr>
            <a:r>
              <a:rPr lang="en-US" dirty="0">
                <a:latin typeface="Arial" panose="020B0604020202020204" pitchFamily="34" charset="0"/>
              </a:rPr>
              <a:t>• Rent or lend the work to the public</a:t>
            </a:r>
          </a:p>
          <a:p>
            <a:pPr algn="just">
              <a:lnSpc>
                <a:spcPct val="150000"/>
              </a:lnSpc>
              <a:buNone/>
            </a:pPr>
            <a:r>
              <a:rPr lang="en-US" dirty="0">
                <a:latin typeface="Arial" panose="020B0604020202020204" pitchFamily="34" charset="0"/>
              </a:rPr>
              <a:t>• Perform, show or play the work in public</a:t>
            </a:r>
          </a:p>
          <a:p>
            <a:pPr algn="just">
              <a:lnSpc>
                <a:spcPct val="150000"/>
              </a:lnSpc>
              <a:buNone/>
            </a:pPr>
            <a:r>
              <a:rPr lang="en-US" dirty="0">
                <a:latin typeface="Arial" panose="020B0604020202020204" pitchFamily="34" charset="0"/>
              </a:rPr>
              <a:t>• Communicate the work to the public – this includes broadcasting of a work and also electronic transmission and make an adaptation of the work or do any of the above in relation to an adaptation.</a:t>
            </a:r>
          </a:p>
          <a:p>
            <a:pPr>
              <a:lnSpc>
                <a:spcPct val="150000"/>
              </a:lnSpc>
            </a:pPr>
            <a:endParaRPr lang="en-US" dirty="0">
              <a:latin typeface="Arial" panose="020B0604020202020204" pitchFamily="34" charset="0"/>
            </a:endParaRPr>
          </a:p>
          <a:p>
            <a:endParaRPr lang="en-IN" dirty="0"/>
          </a:p>
        </p:txBody>
      </p:sp>
      <p:sp>
        <p:nvSpPr>
          <p:cNvPr id="3" name="Title 2"/>
          <p:cNvSpPr>
            <a:spLocks noGrp="1"/>
          </p:cNvSpPr>
          <p:nvPr>
            <p:ph type="title"/>
          </p:nvPr>
        </p:nvSpPr>
        <p:spPr/>
        <p:txBody>
          <a:bodyPr>
            <a:normAutofit fontScale="90000"/>
          </a:bodyPr>
          <a:lstStyle/>
          <a:p>
            <a:br>
              <a:rPr lang="en-US" dirty="0">
                <a:latin typeface="Arial" panose="020B0604020202020204" pitchFamily="34" charset="0"/>
              </a:rPr>
            </a:br>
            <a:r>
              <a:rPr lang="en-US" dirty="0">
                <a:latin typeface="Arial" panose="020B0604020202020204" pitchFamily="34" charset="0"/>
              </a:rPr>
              <a:t>Rights granted by Copyright</a:t>
            </a:r>
            <a:br>
              <a:rPr lang="en-US" dirty="0">
                <a:solidFill>
                  <a:srgbClr val="000000"/>
                </a:solidFill>
                <a:latin typeface="Arial" panose="020B0604020202020204" pitchFamily="34" charset="0"/>
              </a:rPr>
            </a:br>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lvl="0" indent="-342900" algn="just">
              <a:lnSpc>
                <a:spcPct val="150000"/>
              </a:lnSpc>
              <a:buFont typeface="Arial"/>
              <a:buChar char="•"/>
            </a:pPr>
            <a:r>
              <a:rPr lang="en-US" dirty="0">
                <a:latin typeface="Arial" panose="020B0604020202020204" pitchFamily="34" charset="0"/>
              </a:rPr>
              <a:t>It gives exclusive rights to the owner of original work to reproduce, duplicate, transcribe, and translate the work.</a:t>
            </a:r>
          </a:p>
          <a:p>
            <a:pPr marL="342900" lvl="0" indent="-342900" algn="just">
              <a:lnSpc>
                <a:spcPct val="150000"/>
              </a:lnSpc>
              <a:buFont typeface="Arial"/>
              <a:buChar char="•"/>
            </a:pPr>
            <a:r>
              <a:rPr lang="en-US" dirty="0">
                <a:latin typeface="Arial" panose="020B0604020202020204" pitchFamily="34" charset="0"/>
              </a:rPr>
              <a:t>The owner can prevent the misuse of their original work and can take legal action if infringement takes place.</a:t>
            </a:r>
          </a:p>
          <a:p>
            <a:pPr marL="342900" lvl="0" indent="-342900" algn="just">
              <a:lnSpc>
                <a:spcPct val="150000"/>
              </a:lnSpc>
              <a:buFont typeface="Arial"/>
              <a:buChar char="•"/>
            </a:pPr>
            <a:r>
              <a:rPr lang="en-US" dirty="0">
                <a:latin typeface="Arial" panose="020B0604020202020204" pitchFamily="34" charset="0"/>
              </a:rPr>
              <a:t>The owner has the sole right to get monetary benefits from their work.</a:t>
            </a:r>
          </a:p>
          <a:p>
            <a:pPr marL="342900" lvl="0" indent="-342900" algn="just">
              <a:lnSpc>
                <a:spcPct val="150000"/>
              </a:lnSpc>
              <a:buFont typeface="Arial"/>
              <a:buChar char="•"/>
            </a:pPr>
            <a:r>
              <a:rPr lang="en-US" dirty="0">
                <a:latin typeface="Arial" panose="020B0604020202020204" pitchFamily="34" charset="0"/>
              </a:rPr>
              <a:t>Encourages society for creativity as owners enjoy the benefits and protection of their creative work.</a:t>
            </a:r>
          </a:p>
          <a:p>
            <a:endParaRPr lang="en-IN" dirty="0"/>
          </a:p>
        </p:txBody>
      </p:sp>
      <p:sp>
        <p:nvSpPr>
          <p:cNvPr id="3" name="Title 2"/>
          <p:cNvSpPr>
            <a:spLocks noGrp="1"/>
          </p:cNvSpPr>
          <p:nvPr>
            <p:ph type="title"/>
          </p:nvPr>
        </p:nvSpPr>
        <p:spPr/>
        <p:txBody>
          <a:bodyPr/>
          <a:lstStyle/>
          <a:p>
            <a:r>
              <a:rPr lang="en-US" dirty="0">
                <a:latin typeface="Arial" panose="020B0604020202020204" pitchFamily="34" charset="0"/>
              </a:rPr>
              <a:t>IMPORTANCE OF COPYRIGHT</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nSpc>
                <a:spcPct val="150000"/>
              </a:lnSpc>
              <a:buFont typeface="Arial"/>
              <a:buChar char="•"/>
            </a:pPr>
            <a:r>
              <a:rPr lang="en-US" dirty="0">
                <a:latin typeface="Arial" panose="020B0604020202020204" pitchFamily="34" charset="0"/>
              </a:rPr>
              <a:t>What are IPR</a:t>
            </a:r>
          </a:p>
          <a:p>
            <a:pPr marL="342900" indent="-342900">
              <a:lnSpc>
                <a:spcPct val="150000"/>
              </a:lnSpc>
              <a:buFont typeface="Arial"/>
              <a:buChar char="•"/>
            </a:pPr>
            <a:r>
              <a:rPr lang="en-US" dirty="0">
                <a:latin typeface="Arial" panose="020B0604020202020204" pitchFamily="34" charset="0"/>
              </a:rPr>
              <a:t>What is the importance of IPR</a:t>
            </a:r>
          </a:p>
          <a:p>
            <a:pPr marL="342900" indent="-342900">
              <a:lnSpc>
                <a:spcPct val="150000"/>
              </a:lnSpc>
              <a:buFont typeface="Arial"/>
              <a:buChar char="•"/>
            </a:pPr>
            <a:r>
              <a:rPr lang="en-US" dirty="0">
                <a:latin typeface="Arial" panose="020B0604020202020204" pitchFamily="34" charset="0"/>
              </a:rPr>
              <a:t>How are IPR different from property rights</a:t>
            </a:r>
          </a:p>
          <a:p>
            <a:pPr marL="342900" indent="-342900">
              <a:lnSpc>
                <a:spcPct val="150000"/>
              </a:lnSpc>
              <a:buFont typeface="Arial"/>
              <a:buChar char="•"/>
            </a:pPr>
            <a:r>
              <a:rPr lang="en-US" dirty="0">
                <a:latin typeface="Arial" panose="020B0604020202020204" pitchFamily="34" charset="0"/>
              </a:rPr>
              <a:t>What are the various forms of IPR</a:t>
            </a:r>
          </a:p>
          <a:p>
            <a:pPr marL="342900" indent="-342900">
              <a:lnSpc>
                <a:spcPct val="150000"/>
              </a:lnSpc>
              <a:buFont typeface="Arial"/>
              <a:buChar char="•"/>
            </a:pPr>
            <a:r>
              <a:rPr lang="en-US" dirty="0">
                <a:latin typeface="Arial" panose="020B0604020202020204" pitchFamily="34" charset="0"/>
              </a:rPr>
              <a:t>Discuss patents with an example</a:t>
            </a:r>
          </a:p>
          <a:p>
            <a:pPr marL="342900" indent="-342900">
              <a:lnSpc>
                <a:spcPct val="150000"/>
              </a:lnSpc>
              <a:buFont typeface="Arial"/>
              <a:buChar char="•"/>
            </a:pPr>
            <a:r>
              <a:rPr lang="en-US" dirty="0">
                <a:latin typeface="Arial" panose="020B0604020202020204" pitchFamily="34" charset="0"/>
              </a:rPr>
              <a:t>What is copyright, give suitable examples</a:t>
            </a:r>
          </a:p>
          <a:p>
            <a:endParaRPr lang="en-IN" dirty="0"/>
          </a:p>
        </p:txBody>
      </p:sp>
      <p:sp>
        <p:nvSpPr>
          <p:cNvPr id="3" name="Title 2"/>
          <p:cNvSpPr>
            <a:spLocks noGrp="1"/>
          </p:cNvSpPr>
          <p:nvPr>
            <p:ph type="title"/>
          </p:nvPr>
        </p:nvSpPr>
        <p:spPr/>
        <p:txBody>
          <a:bodyPr/>
          <a:lstStyle/>
          <a:p>
            <a:r>
              <a:rPr lang="en-US" dirty="0">
                <a:latin typeface="Arial" panose="020B0604020202020204" pitchFamily="34" charset="0"/>
              </a:rPr>
              <a:t>Quiz</a:t>
            </a:r>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nSpc>
                <a:spcPct val="150000"/>
              </a:lnSpc>
              <a:buFont typeface="Arial"/>
              <a:buChar char="•"/>
            </a:pPr>
            <a:r>
              <a:rPr lang="en-US" dirty="0">
                <a:latin typeface="Arial" panose="020B0604020202020204" pitchFamily="34" charset="0"/>
              </a:rPr>
              <a:t>What are IPR</a:t>
            </a:r>
          </a:p>
          <a:p>
            <a:pPr marL="342900" indent="-342900">
              <a:lnSpc>
                <a:spcPct val="150000"/>
              </a:lnSpc>
              <a:buFont typeface="Arial"/>
              <a:buChar char="•"/>
            </a:pPr>
            <a:r>
              <a:rPr lang="en-US" dirty="0">
                <a:latin typeface="Arial" panose="020B0604020202020204" pitchFamily="34" charset="0"/>
              </a:rPr>
              <a:t>What is the importance of IPR</a:t>
            </a:r>
          </a:p>
          <a:p>
            <a:pPr marL="342900" indent="-342900">
              <a:lnSpc>
                <a:spcPct val="150000"/>
              </a:lnSpc>
              <a:buFont typeface="Arial"/>
              <a:buChar char="•"/>
            </a:pPr>
            <a:r>
              <a:rPr lang="en-US" dirty="0">
                <a:latin typeface="Arial" panose="020B0604020202020204" pitchFamily="34" charset="0"/>
              </a:rPr>
              <a:t>How are IPR different from property rights</a:t>
            </a:r>
          </a:p>
          <a:p>
            <a:pPr marL="342900" indent="-342900">
              <a:lnSpc>
                <a:spcPct val="150000"/>
              </a:lnSpc>
              <a:buFont typeface="Arial"/>
              <a:buChar char="•"/>
            </a:pPr>
            <a:r>
              <a:rPr lang="en-US" dirty="0">
                <a:latin typeface="Arial" panose="020B0604020202020204" pitchFamily="34" charset="0"/>
              </a:rPr>
              <a:t>What are the various forms of IPR</a:t>
            </a:r>
          </a:p>
          <a:p>
            <a:pPr marL="342900" indent="-342900">
              <a:lnSpc>
                <a:spcPct val="150000"/>
              </a:lnSpc>
              <a:buFont typeface="Arial"/>
              <a:buChar char="•"/>
            </a:pPr>
            <a:r>
              <a:rPr lang="en-US" dirty="0">
                <a:latin typeface="Arial" panose="020B0604020202020204" pitchFamily="34" charset="0"/>
              </a:rPr>
              <a:t>Discuss patents with an example</a:t>
            </a:r>
          </a:p>
          <a:p>
            <a:pPr marL="342900" indent="-342900">
              <a:lnSpc>
                <a:spcPct val="150000"/>
              </a:lnSpc>
              <a:buFont typeface="Arial"/>
              <a:buChar char="•"/>
            </a:pPr>
            <a:r>
              <a:rPr lang="en-US" dirty="0">
                <a:latin typeface="Arial" panose="020B0604020202020204" pitchFamily="34" charset="0"/>
              </a:rPr>
              <a:t>What is copyright, give suitable examples</a:t>
            </a:r>
          </a:p>
          <a:p>
            <a:endParaRPr lang="en-IN" dirty="0"/>
          </a:p>
        </p:txBody>
      </p:sp>
      <p:sp>
        <p:nvSpPr>
          <p:cNvPr id="3" name="Title 2"/>
          <p:cNvSpPr>
            <a:spLocks noGrp="1"/>
          </p:cNvSpPr>
          <p:nvPr>
            <p:ph type="title"/>
          </p:nvPr>
        </p:nvSpPr>
        <p:spPr/>
        <p:txBody>
          <a:bodyPr/>
          <a:lstStyle/>
          <a:p>
            <a:r>
              <a:rPr lang="en-US" dirty="0">
                <a:latin typeface="Arial" panose="020B0604020202020204" pitchFamily="34" charset="0"/>
              </a:rPr>
              <a:t>PRECAP</a:t>
            </a: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lnSpc>
                <a:spcPct val="150000"/>
              </a:lnSpc>
            </a:pPr>
            <a:r>
              <a:rPr lang="en-US" dirty="0">
                <a:latin typeface="Arial" panose="020B0604020202020204" pitchFamily="34" charset="0"/>
              </a:rPr>
              <a:t>To give students the insights into what are other types</a:t>
            </a:r>
          </a:p>
          <a:p>
            <a:pPr algn="just">
              <a:lnSpc>
                <a:spcPct val="150000"/>
              </a:lnSpc>
            </a:pPr>
            <a:r>
              <a:rPr lang="en-US" dirty="0">
                <a:latin typeface="Arial" panose="020B0604020202020204" pitchFamily="34" charset="0"/>
              </a:rPr>
              <a:t>of intellectual property rights as trademarks, </a:t>
            </a:r>
          </a:p>
          <a:p>
            <a:pPr algn="just">
              <a:lnSpc>
                <a:spcPct val="150000"/>
              </a:lnSpc>
            </a:pPr>
            <a:r>
              <a:rPr lang="en-US" dirty="0">
                <a:latin typeface="Arial" panose="020B0604020202020204" pitchFamily="34" charset="0"/>
              </a:rPr>
              <a:t>trade secrets, industrial design rights and plant varieties.</a:t>
            </a:r>
          </a:p>
          <a:p>
            <a:endParaRPr lang="en-IN" dirty="0"/>
          </a:p>
        </p:txBody>
      </p:sp>
      <p:sp>
        <p:nvSpPr>
          <p:cNvPr id="3" name="Title 2"/>
          <p:cNvSpPr>
            <a:spLocks noGrp="1"/>
          </p:cNvSpPr>
          <p:nvPr>
            <p:ph type="title"/>
          </p:nvPr>
        </p:nvSpPr>
        <p:spPr/>
        <p:txBody>
          <a:bodyPr>
            <a:normAutofit fontScale="90000"/>
          </a:bodyPr>
          <a:lstStyle/>
          <a:p>
            <a:pPr lvl="0"/>
            <a:br>
              <a:rPr lang="en-US" dirty="0">
                <a:latin typeface="Arial" panose="020B0604020202020204" pitchFamily="34" charset="0"/>
              </a:rPr>
            </a:br>
            <a:r>
              <a:rPr lang="en-US" dirty="0">
                <a:latin typeface="Arial" panose="020B0604020202020204" pitchFamily="34" charset="0"/>
              </a:rPr>
              <a:t>SESSION OBJECTIVE (CO2)</a:t>
            </a:r>
            <a:br>
              <a:rPr lang="en-US" dirty="0">
                <a:solidFill>
                  <a:schemeClr val="dk1"/>
                </a:solidFill>
                <a:latin typeface="Arial" panose="020B0604020202020204" pitchFamily="34" charset="0"/>
              </a:rPr>
            </a:br>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457200" indent="-457200" algn="just">
              <a:buAutoNum type="arabicPeriod"/>
            </a:pPr>
            <a:r>
              <a:rPr lang="en-US" b="1" dirty="0">
                <a:latin typeface="Arial" panose="020B0604020202020204" pitchFamily="34" charset="0"/>
                <a:cs typeface="Arial" panose="020B0604020202020204" pitchFamily="34" charset="0"/>
              </a:rPr>
              <a:t>Trademark: </a:t>
            </a:r>
            <a:r>
              <a:rPr lang="en-US" dirty="0">
                <a:latin typeface="Arial" panose="020B0604020202020204" pitchFamily="34" charset="0"/>
                <a:cs typeface="Arial" panose="020B0604020202020204" pitchFamily="34" charset="0"/>
              </a:rPr>
              <a:t>Example : Nike,  Bata etc</a:t>
            </a:r>
          </a:p>
          <a:p>
            <a:pPr marL="457200" indent="-457200" algn="just"/>
            <a:endParaRPr lang="en-US" dirty="0">
              <a:latin typeface="Arial" panose="020B0604020202020204" pitchFamily="34" charset="0"/>
              <a:cs typeface="Arial" panose="020B0604020202020204" pitchFamily="34" charset="0"/>
            </a:endParaRPr>
          </a:p>
          <a:p>
            <a:pPr algn="just">
              <a:lnSpc>
                <a:spcPct val="140000"/>
              </a:lnSpc>
            </a:pPr>
            <a:endParaRPr lang="en-US" dirty="0">
              <a:latin typeface="Arial" panose="020B0604020202020204" pitchFamily="34" charset="0"/>
              <a:cs typeface="Arial" panose="020B0604020202020204" pitchFamily="34" charset="0"/>
            </a:endParaRPr>
          </a:p>
          <a:p>
            <a:pPr algn="just">
              <a:lnSpc>
                <a:spcPct val="140000"/>
              </a:lnSpc>
            </a:pPr>
            <a:endParaRPr lang="en-US" dirty="0">
              <a:latin typeface="Arial" panose="020B0604020202020204" pitchFamily="34" charset="0"/>
              <a:cs typeface="Arial" panose="020B0604020202020204" pitchFamily="34" charset="0"/>
            </a:endParaRPr>
          </a:p>
          <a:p>
            <a:pPr algn="just">
              <a:lnSpc>
                <a:spcPct val="140000"/>
              </a:lnSpc>
            </a:pPr>
            <a:endParaRPr lang="en-US" dirty="0">
              <a:latin typeface="Arial" panose="020B0604020202020204" pitchFamily="34" charset="0"/>
              <a:cs typeface="Arial" panose="020B0604020202020204" pitchFamily="34" charset="0"/>
            </a:endParaRPr>
          </a:p>
          <a:p>
            <a:pPr algn="just">
              <a:lnSpc>
                <a:spcPct val="140000"/>
              </a:lnSpc>
            </a:pPr>
            <a:endParaRPr lang="en-US" dirty="0">
              <a:latin typeface="Arial" panose="020B0604020202020204" pitchFamily="34" charset="0"/>
              <a:cs typeface="Arial" panose="020B0604020202020204" pitchFamily="34" charset="0"/>
            </a:endParaRPr>
          </a:p>
          <a:p>
            <a:pPr algn="just">
              <a:lnSpc>
                <a:spcPct val="140000"/>
              </a:lnSpc>
            </a:pPr>
            <a:endParaRPr lang="en-US" dirty="0">
              <a:latin typeface="Arial" panose="020B0604020202020204" pitchFamily="34" charset="0"/>
              <a:cs typeface="Arial" panose="020B0604020202020204" pitchFamily="34" charset="0"/>
            </a:endParaRPr>
          </a:p>
          <a:p>
            <a:pPr algn="just">
              <a:lnSpc>
                <a:spcPct val="140000"/>
              </a:lnSpc>
            </a:pPr>
            <a:r>
              <a:rPr lang="en-US" dirty="0">
                <a:latin typeface="Arial" panose="020B0604020202020204" pitchFamily="34" charset="0"/>
                <a:cs typeface="Arial" panose="020B0604020202020204" pitchFamily="34" charset="0"/>
              </a:rPr>
              <a:t>2. </a:t>
            </a:r>
            <a:r>
              <a:rPr lang="en-US" b="1" dirty="0">
                <a:latin typeface="Arial" panose="020B0604020202020204" pitchFamily="34" charset="0"/>
                <a:cs typeface="Arial" panose="020B0604020202020204" pitchFamily="34" charset="0"/>
              </a:rPr>
              <a:t>Service mark: E</a:t>
            </a:r>
            <a:r>
              <a:rPr lang="en-US" dirty="0">
                <a:latin typeface="Arial" panose="020B0604020202020204" pitchFamily="34" charset="0"/>
                <a:cs typeface="Arial" panose="020B0604020202020204" pitchFamily="34" charset="0"/>
              </a:rPr>
              <a:t>xamples of service marks are </a:t>
            </a:r>
            <a:r>
              <a:rPr lang="en-US" b="1" dirty="0">
                <a:latin typeface="Arial" panose="020B0604020202020204" pitchFamily="34" charset="0"/>
                <a:cs typeface="Arial" panose="020B0604020202020204" pitchFamily="34" charset="0"/>
              </a:rPr>
              <a:t>Hawaiian Airlines, Google, FedEx, </a:t>
            </a:r>
            <a:r>
              <a:rPr lang="en-US" b="1" dirty="0" err="1">
                <a:latin typeface="Arial" panose="020B0604020202020204" pitchFamily="34" charset="0"/>
                <a:cs typeface="Arial" panose="020B0604020202020204" pitchFamily="34" charset="0"/>
              </a:rPr>
              <a:t>Uber</a:t>
            </a:r>
            <a:r>
              <a:rPr lang="en-US" b="1" dirty="0">
                <a:latin typeface="Arial" panose="020B0604020202020204" pitchFamily="34" charset="0"/>
                <a:cs typeface="Arial" panose="020B0604020202020204" pitchFamily="34" charset="0"/>
              </a:rPr>
              <a:t>, United Airlines etc.</a:t>
            </a:r>
            <a:endParaRPr lang="en-US" dirty="0">
              <a:latin typeface="Arial" panose="020B0604020202020204" pitchFamily="34" charset="0"/>
              <a:cs typeface="Arial" panose="020B0604020202020204" pitchFamily="34" charset="0"/>
            </a:endParaRPr>
          </a:p>
          <a:p>
            <a:endParaRPr lang="en-IN" dirty="0"/>
          </a:p>
        </p:txBody>
      </p:sp>
      <p:sp>
        <p:nvSpPr>
          <p:cNvPr id="3" name="Title 2"/>
          <p:cNvSpPr>
            <a:spLocks noGrp="1"/>
          </p:cNvSpPr>
          <p:nvPr>
            <p:ph type="title"/>
          </p:nvPr>
        </p:nvSpPr>
        <p:spPr/>
        <p:txBody>
          <a:bodyPr>
            <a:normAutofit fontScale="90000"/>
          </a:bodyPr>
          <a:lstStyle/>
          <a:p>
            <a:br>
              <a:rPr lang="en-US" dirty="0">
                <a:latin typeface="Arial" panose="020B0604020202020204" pitchFamily="34" charset="0"/>
              </a:rPr>
            </a:br>
            <a:r>
              <a:rPr lang="en-US" dirty="0">
                <a:latin typeface="Arial" panose="020B0604020202020204" pitchFamily="34" charset="0"/>
              </a:rPr>
              <a:t>TYPES OF MARKS</a:t>
            </a:r>
            <a:br>
              <a:rPr lang="en-US" dirty="0">
                <a:latin typeface="Arial" panose="020B0604020202020204" pitchFamily="34" charset="0"/>
              </a:rPr>
            </a:br>
            <a:endParaRPr lang="en-IN" dirty="0"/>
          </a:p>
        </p:txBody>
      </p:sp>
      <p:pic>
        <p:nvPicPr>
          <p:cNvPr id="4" name="Picture 2"/>
          <p:cNvPicPr>
            <a:picLocks noChangeAspect="1" noChangeArrowheads="1"/>
          </p:cNvPicPr>
          <p:nvPr/>
        </p:nvPicPr>
        <p:blipFill>
          <a:blip r:embed="rId2"/>
          <a:srcRect l="57101" t="25390" r="9407" b="43360"/>
          <a:stretch>
            <a:fillRect/>
          </a:stretch>
        </p:blipFill>
        <p:spPr bwMode="auto">
          <a:xfrm>
            <a:off x="928662" y="1714488"/>
            <a:ext cx="4357718" cy="2286016"/>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l="62043" t="29297" r="12701" b="28711"/>
          <a:stretch>
            <a:fillRect/>
          </a:stretch>
        </p:blipFill>
        <p:spPr bwMode="auto">
          <a:xfrm>
            <a:off x="5857852" y="1500174"/>
            <a:ext cx="3286148" cy="3071834"/>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marL="0" indent="0" algn="just">
              <a:lnSpc>
                <a:spcPct val="140000"/>
              </a:lnSpc>
              <a:buNone/>
            </a:pPr>
            <a:r>
              <a:rPr lang="en-US" dirty="0">
                <a:latin typeface="Arial" panose="020B0604020202020204" pitchFamily="34" charset="0"/>
                <a:cs typeface="Arial" panose="020B0604020202020204" pitchFamily="34" charset="0"/>
              </a:rPr>
              <a:t>3. </a:t>
            </a:r>
            <a:r>
              <a:rPr lang="en-US" b="1" dirty="0">
                <a:latin typeface="Arial" panose="020B0604020202020204" pitchFamily="34" charset="0"/>
                <a:cs typeface="Arial" panose="020B0604020202020204" pitchFamily="34" charset="0"/>
              </a:rPr>
              <a:t>Certification mark : </a:t>
            </a:r>
            <a:r>
              <a:rPr lang="en-US" dirty="0">
                <a:latin typeface="Arial" panose="020B0604020202020204" pitchFamily="34" charset="0"/>
                <a:cs typeface="Arial" panose="020B0604020202020204" pitchFamily="34" charset="0"/>
              </a:rPr>
              <a:t>Hallmark, ISO, ISI, AGMARK, FPO Mark etc.</a:t>
            </a:r>
          </a:p>
          <a:p>
            <a:pPr marL="0" indent="0" algn="just">
              <a:lnSpc>
                <a:spcPct val="140000"/>
              </a:lnSpc>
              <a:buNone/>
            </a:pPr>
            <a:endParaRPr lang="en-US" dirty="0">
              <a:latin typeface="Arial" panose="020B0604020202020204" pitchFamily="34" charset="0"/>
              <a:cs typeface="Arial" panose="020B0604020202020204" pitchFamily="34" charset="0"/>
            </a:endParaRPr>
          </a:p>
          <a:p>
            <a:pPr marL="0" indent="0" algn="just">
              <a:lnSpc>
                <a:spcPct val="140000"/>
              </a:lnSpc>
              <a:buNone/>
            </a:pPr>
            <a:endParaRPr lang="en-US" dirty="0">
              <a:latin typeface="Arial" panose="020B0604020202020204" pitchFamily="34" charset="0"/>
              <a:cs typeface="Arial" panose="020B0604020202020204" pitchFamily="34" charset="0"/>
            </a:endParaRPr>
          </a:p>
          <a:p>
            <a:pPr marL="0" indent="0" algn="just">
              <a:lnSpc>
                <a:spcPct val="140000"/>
              </a:lnSpc>
              <a:buNone/>
            </a:pPr>
            <a:endParaRPr lang="en-US" dirty="0">
              <a:latin typeface="Arial" panose="020B0604020202020204" pitchFamily="34" charset="0"/>
              <a:cs typeface="Arial" panose="020B0604020202020204" pitchFamily="34" charset="0"/>
            </a:endParaRPr>
          </a:p>
          <a:p>
            <a:pPr marL="0" indent="0" algn="just">
              <a:lnSpc>
                <a:spcPct val="140000"/>
              </a:lnSpc>
              <a:buNone/>
            </a:pPr>
            <a:endParaRPr lang="en-US" dirty="0">
              <a:latin typeface="Arial" panose="020B0604020202020204" pitchFamily="34" charset="0"/>
              <a:cs typeface="Arial" panose="020B0604020202020204" pitchFamily="34" charset="0"/>
            </a:endParaRPr>
          </a:p>
          <a:p>
            <a:pPr marL="0" indent="0" algn="just">
              <a:lnSpc>
                <a:spcPct val="140000"/>
              </a:lnSpc>
              <a:buNone/>
            </a:pPr>
            <a:r>
              <a:rPr lang="en-US" dirty="0">
                <a:latin typeface="Arial" panose="020B0604020202020204" pitchFamily="34" charset="0"/>
                <a:cs typeface="Arial" panose="020B0604020202020204" pitchFamily="34" charset="0"/>
              </a:rPr>
              <a:t> </a:t>
            </a:r>
          </a:p>
          <a:p>
            <a:pPr marL="0" indent="0" algn="just">
              <a:lnSpc>
                <a:spcPct val="140000"/>
              </a:lnSpc>
              <a:buNone/>
            </a:pPr>
            <a:r>
              <a:rPr lang="en-US" b="1" dirty="0">
                <a:latin typeface="Arial" panose="020B0604020202020204" pitchFamily="34" charset="0"/>
                <a:cs typeface="Arial" panose="020B0604020202020204" pitchFamily="34" charset="0"/>
              </a:rPr>
              <a:t>4. Collective mark :</a:t>
            </a:r>
          </a:p>
          <a:p>
            <a:pPr marL="0" indent="0" algn="just">
              <a:lnSpc>
                <a:spcPct val="140000"/>
              </a:lnSpc>
              <a:buNone/>
            </a:pPr>
            <a:r>
              <a:rPr lang="en-US" dirty="0">
                <a:latin typeface="Arial" panose="020B0604020202020204" pitchFamily="34" charset="0"/>
                <a:cs typeface="Arial" panose="020B0604020202020204" pitchFamily="34" charset="0"/>
              </a:rPr>
              <a:t>Collective membership organization, such as a labor union, fraternity, or professional society.</a:t>
            </a:r>
          </a:p>
          <a:p>
            <a:endParaRPr lang="en-IN" dirty="0"/>
          </a:p>
        </p:txBody>
      </p:sp>
      <p:sp>
        <p:nvSpPr>
          <p:cNvPr id="3" name="Title 2"/>
          <p:cNvSpPr>
            <a:spLocks noGrp="1"/>
          </p:cNvSpPr>
          <p:nvPr>
            <p:ph type="title"/>
          </p:nvPr>
        </p:nvSpPr>
        <p:spPr/>
        <p:txBody>
          <a:bodyPr>
            <a:normAutofit fontScale="90000"/>
          </a:bodyPr>
          <a:lstStyle/>
          <a:p>
            <a:br>
              <a:rPr lang="en-US" dirty="0">
                <a:latin typeface="Arial" panose="020B0604020202020204" pitchFamily="34" charset="0"/>
              </a:rPr>
            </a:br>
            <a:r>
              <a:rPr lang="en-US" dirty="0">
                <a:latin typeface="Arial" panose="020B0604020202020204" pitchFamily="34" charset="0"/>
              </a:rPr>
              <a:t>TYPES OF MARKS</a:t>
            </a:r>
            <a:br>
              <a:rPr lang="en-US" dirty="0">
                <a:latin typeface="Arial" panose="020B0604020202020204" pitchFamily="34" charset="0"/>
              </a:rPr>
            </a:br>
            <a:endParaRPr lang="en-IN" dirty="0"/>
          </a:p>
        </p:txBody>
      </p:sp>
      <p:pic>
        <p:nvPicPr>
          <p:cNvPr id="4" name="Picture 2"/>
          <p:cNvPicPr>
            <a:picLocks noChangeAspect="1" noChangeArrowheads="1"/>
          </p:cNvPicPr>
          <p:nvPr/>
        </p:nvPicPr>
        <p:blipFill>
          <a:blip r:embed="rId2"/>
          <a:srcRect l="59847" t="25390" r="7210" b="34570"/>
          <a:stretch>
            <a:fillRect/>
          </a:stretch>
        </p:blipFill>
        <p:spPr bwMode="auto">
          <a:xfrm>
            <a:off x="2425816" y="2168660"/>
            <a:ext cx="3763563" cy="2571768"/>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l="54392" t="25586" r="6076" b="28515"/>
          <a:stretch>
            <a:fillRect/>
          </a:stretch>
        </p:blipFill>
        <p:spPr bwMode="auto">
          <a:xfrm>
            <a:off x="6899563" y="2055659"/>
            <a:ext cx="4158604" cy="2714644"/>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lnSpc>
                <a:spcPct val="150000"/>
              </a:lnSpc>
            </a:pPr>
            <a:r>
              <a:rPr lang="en-US" dirty="0"/>
              <a:t>Brand names like Apple, McDonald's, and Dolce &amp; </a:t>
            </a:r>
            <a:r>
              <a:rPr lang="en-US" dirty="0" err="1"/>
              <a:t>Gabbana</a:t>
            </a:r>
            <a:r>
              <a:rPr lang="en-US" dirty="0"/>
              <a:t>.</a:t>
            </a:r>
          </a:p>
          <a:p>
            <a:pPr algn="just">
              <a:lnSpc>
                <a:spcPct val="150000"/>
              </a:lnSpc>
            </a:pPr>
            <a:r>
              <a:rPr lang="en-US" dirty="0"/>
              <a:t>Product names like iPod and Big Mac.</a:t>
            </a:r>
          </a:p>
          <a:p>
            <a:pPr algn="just">
              <a:lnSpc>
                <a:spcPct val="150000"/>
              </a:lnSpc>
            </a:pPr>
            <a:r>
              <a:rPr lang="en-US" dirty="0"/>
              <a:t>Company logos like the golden arches at McDonald's and NBC's peacock logo.</a:t>
            </a:r>
          </a:p>
          <a:p>
            <a:pPr algn="just">
              <a:lnSpc>
                <a:spcPct val="150000"/>
              </a:lnSpc>
            </a:pPr>
            <a:r>
              <a:rPr lang="en-US" dirty="0"/>
              <a:t>Slogans like Capital One's "What's in your wallet?" and McDonald's "I'm </a:t>
            </a:r>
            <a:r>
              <a:rPr lang="en-US" dirty="0" err="1"/>
              <a:t>lovin</a:t>
            </a:r>
            <a:r>
              <a:rPr lang="en-US" dirty="0"/>
              <a:t>' it"</a:t>
            </a:r>
            <a:endParaRPr lang="en-IN" dirty="0"/>
          </a:p>
        </p:txBody>
      </p:sp>
      <p:sp>
        <p:nvSpPr>
          <p:cNvPr id="3" name="Title 2"/>
          <p:cNvSpPr>
            <a:spLocks noGrp="1"/>
          </p:cNvSpPr>
          <p:nvPr>
            <p:ph type="title"/>
          </p:nvPr>
        </p:nvSpPr>
        <p:spPr/>
        <p:txBody>
          <a:bodyPr>
            <a:normAutofit fontScale="90000"/>
          </a:bodyPr>
          <a:lstStyle/>
          <a:p>
            <a:br>
              <a:rPr lang="en-US" dirty="0">
                <a:latin typeface="Arial" panose="020B0604020202020204" pitchFamily="34" charset="0"/>
              </a:rPr>
            </a:br>
            <a:r>
              <a:rPr lang="en-US" dirty="0">
                <a:latin typeface="Arial" panose="020B0604020202020204" pitchFamily="34" charset="0"/>
              </a:rPr>
              <a:t>TYPES OF MARKS</a:t>
            </a:r>
            <a:br>
              <a:rPr lang="en-US" dirty="0">
                <a:latin typeface="Arial" panose="020B0604020202020204" pitchFamily="34" charset="0"/>
              </a:rPr>
            </a:br>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latin typeface="Times New Roman" pitchFamily="18" charset="0"/>
                <a:cs typeface="Times New Roman" pitchFamily="18" charset="0"/>
              </a:rPr>
              <a:t>A trademark </a:t>
            </a:r>
            <a:r>
              <a:rPr lang="en-US" dirty="0">
                <a:latin typeface="Times New Roman" pitchFamily="18" charset="0"/>
                <a:cs typeface="Times New Roman" pitchFamily="18" charset="0"/>
                <a:hlinkClick r:id="rId2"/>
              </a:rPr>
              <a:t>protects intellectual property</a:t>
            </a:r>
            <a:r>
              <a:rPr lang="en-US" dirty="0">
                <a:latin typeface="Times New Roman" pitchFamily="18" charset="0"/>
                <a:cs typeface="Times New Roman" pitchFamily="18" charset="0"/>
              </a:rPr>
              <a:t> from theft or infringement. A trademark can be utilized for a name, title, logo, or symbol representing a business. Because so much time and money is invested into developing your company's logo, it is crucial to secure it.</a:t>
            </a:r>
          </a:p>
          <a:p>
            <a:pPr algn="just"/>
            <a:r>
              <a:rPr lang="en-US" dirty="0">
                <a:latin typeface="Times New Roman" pitchFamily="18" charset="0"/>
                <a:cs typeface="Times New Roman" pitchFamily="18" charset="0"/>
              </a:rPr>
              <a:t>A company logo is a visual representation of your brand. The logo is how consumers recognize your business, so </a:t>
            </a:r>
            <a:r>
              <a:rPr lang="en-US" dirty="0" err="1">
                <a:latin typeface="Times New Roman" pitchFamily="18" charset="0"/>
                <a:cs typeface="Times New Roman" pitchFamily="18" charset="0"/>
              </a:rPr>
              <a:t>trademarking</a:t>
            </a:r>
            <a:r>
              <a:rPr lang="en-US" dirty="0">
                <a:latin typeface="Times New Roman" pitchFamily="18" charset="0"/>
                <a:cs typeface="Times New Roman" pitchFamily="18" charset="0"/>
              </a:rPr>
              <a:t> it is vital in protecting its reputation as something that is yours and yours alone. If an entity were to copy your logo for another brand, that would be cause for confusion and a significant credibility hit.</a:t>
            </a:r>
          </a:p>
          <a:p>
            <a:pPr>
              <a:buNone/>
            </a:pPr>
            <a:endParaRPr lang="en-IN" dirty="0"/>
          </a:p>
        </p:txBody>
      </p:sp>
      <p:sp>
        <p:nvSpPr>
          <p:cNvPr id="3" name="Title 2"/>
          <p:cNvSpPr>
            <a:spLocks noGrp="1"/>
          </p:cNvSpPr>
          <p:nvPr>
            <p:ph type="title"/>
          </p:nvPr>
        </p:nvSpPr>
        <p:spPr/>
        <p:txBody>
          <a:bodyPr/>
          <a:lstStyle/>
          <a:p>
            <a:r>
              <a:rPr lang="en-US" dirty="0"/>
              <a:t>Trademark</a:t>
            </a:r>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latin typeface="Times New Roman" pitchFamily="18" charset="0"/>
                <a:cs typeface="Times New Roman" pitchFamily="18" charset="0"/>
              </a:rPr>
              <a:t>Having a trademark enables a brand owner to prevent others from copying its brand name and from confusing the public about the source of the particular goods and services. </a:t>
            </a:r>
          </a:p>
          <a:p>
            <a:r>
              <a:rPr lang="en-US" dirty="0">
                <a:latin typeface="Times New Roman" pitchFamily="18" charset="0"/>
                <a:cs typeface="Times New Roman" pitchFamily="18" charset="0"/>
              </a:rPr>
              <a:t>Not only do trademarks prevent someone from adopting an identical match, but can also sometimes prevent someone from adopting a confusingly similar trademark. For example, Starbucks took </a:t>
            </a:r>
            <a:r>
              <a:rPr lang="en-US" dirty="0" err="1">
                <a:latin typeface="Times New Roman" pitchFamily="18" charset="0"/>
                <a:cs typeface="Times New Roman" pitchFamily="18" charset="0"/>
              </a:rPr>
              <a:t>Sadarbuksh</a:t>
            </a:r>
            <a:r>
              <a:rPr lang="en-US" dirty="0">
                <a:latin typeface="Times New Roman" pitchFamily="18" charset="0"/>
                <a:cs typeface="Times New Roman" pitchFamily="18" charset="0"/>
              </a:rPr>
              <a:t> in India to court over an allegedly similar logo:</a:t>
            </a:r>
          </a:p>
          <a:p>
            <a:endParaRPr lang="en-IN" dirty="0"/>
          </a:p>
        </p:txBody>
      </p:sp>
      <p:sp>
        <p:nvSpPr>
          <p:cNvPr id="3" name="Title 2"/>
          <p:cNvSpPr>
            <a:spLocks noGrp="1"/>
          </p:cNvSpPr>
          <p:nvPr>
            <p:ph type="title"/>
          </p:nvPr>
        </p:nvSpPr>
        <p:spPr/>
        <p:txBody>
          <a:bodyPr/>
          <a:lstStyle/>
          <a:p>
            <a:endParaRPr lang="en-I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There is a whole body of law about what can and can’t be trademarked, but one of the most common misconceptions is that you can trademark a generic or descriptive term. </a:t>
            </a:r>
          </a:p>
          <a:p>
            <a:r>
              <a:rPr lang="en-US" dirty="0"/>
              <a:t>For example, you can’t trademark APPLE for a brand of apples (the fruit), because that would be unfair since it would effectively remove a common generic word from usage by the public.</a:t>
            </a:r>
          </a:p>
          <a:p>
            <a:r>
              <a:rPr lang="en-US" dirty="0"/>
              <a:t>However, you can of course trademark APPLE for computers, because APPLE is not the generic or descriptive term for computers. </a:t>
            </a:r>
          </a:p>
          <a:p>
            <a:endParaRPr lang="en-IN" dirty="0"/>
          </a:p>
        </p:txBody>
      </p:sp>
      <p:sp>
        <p:nvSpPr>
          <p:cNvPr id="3" name="Title 2"/>
          <p:cNvSpPr>
            <a:spLocks noGrp="1"/>
          </p:cNvSpPr>
          <p:nvPr>
            <p:ph type="title"/>
          </p:nvPr>
        </p:nvSpPr>
        <p:spPr/>
        <p:txBody>
          <a:bodyPr/>
          <a:lstStyle/>
          <a:p>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lnSpc>
                <a:spcPct val="150000"/>
              </a:lnSpc>
            </a:pPr>
            <a:r>
              <a:rPr lang="en-US" dirty="0"/>
              <a:t>Brand names like Apple, McDonald's, and Dolce &amp; </a:t>
            </a:r>
            <a:r>
              <a:rPr lang="en-US" dirty="0" err="1"/>
              <a:t>Gabbana</a:t>
            </a:r>
            <a:r>
              <a:rPr lang="en-US" dirty="0"/>
              <a:t>.</a:t>
            </a:r>
          </a:p>
          <a:p>
            <a:pPr algn="just">
              <a:lnSpc>
                <a:spcPct val="150000"/>
              </a:lnSpc>
            </a:pPr>
            <a:r>
              <a:rPr lang="en-US" dirty="0"/>
              <a:t>Product names like iPod and Big Mac.</a:t>
            </a:r>
          </a:p>
          <a:p>
            <a:pPr algn="just">
              <a:lnSpc>
                <a:spcPct val="150000"/>
              </a:lnSpc>
            </a:pPr>
            <a:r>
              <a:rPr lang="en-US" dirty="0"/>
              <a:t>Company logos like the golden arches at McDonald's and NBC's peacock logo.</a:t>
            </a:r>
          </a:p>
          <a:p>
            <a:pPr algn="just">
              <a:lnSpc>
                <a:spcPct val="150000"/>
              </a:lnSpc>
            </a:pPr>
            <a:r>
              <a:rPr lang="en-US" dirty="0"/>
              <a:t>Slogans like Capital One's "What's in your wallet?" and McDonald's "I'm </a:t>
            </a:r>
            <a:r>
              <a:rPr lang="en-US" dirty="0" err="1"/>
              <a:t>lovin</a:t>
            </a:r>
            <a:r>
              <a:rPr lang="en-US" dirty="0"/>
              <a:t>' it"</a:t>
            </a:r>
          </a:p>
          <a:p>
            <a:endParaRPr lang="en-IN" dirty="0"/>
          </a:p>
        </p:txBody>
      </p:sp>
      <p:sp>
        <p:nvSpPr>
          <p:cNvPr id="3" name="Title 2"/>
          <p:cNvSpPr>
            <a:spLocks noGrp="1"/>
          </p:cNvSpPr>
          <p:nvPr>
            <p:ph type="title"/>
          </p:nvPr>
        </p:nvSpPr>
        <p:spPr/>
        <p:txBody>
          <a:bodyPr>
            <a:normAutofit fontScale="90000"/>
          </a:bodyPr>
          <a:lstStyle/>
          <a:p>
            <a:br>
              <a:rPr lang="en-US" dirty="0">
                <a:latin typeface="Arial" panose="020B0604020202020204" pitchFamily="34" charset="0"/>
              </a:rPr>
            </a:br>
            <a:r>
              <a:rPr lang="en-US" dirty="0">
                <a:latin typeface="Arial" panose="020B0604020202020204" pitchFamily="34" charset="0"/>
              </a:rPr>
              <a:t>TRADEMARKS</a:t>
            </a:r>
            <a:br>
              <a:rPr lang="en-US" dirty="0">
                <a:latin typeface="Arial" panose="020B0604020202020204" pitchFamily="34" charset="0"/>
              </a:rPr>
            </a:br>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latin typeface="Times New Roman" pitchFamily="18" charset="0"/>
                <a:cs typeface="Times New Roman" pitchFamily="18" charset="0"/>
              </a:rPr>
              <a:t>Google's trademark--now the most valuable on the planet, according to Brand Finance--is worth an estimated $44 billion, or 27% of the firm's overall value,</a:t>
            </a:r>
          </a:p>
          <a:p>
            <a:r>
              <a:rPr lang="en-US" b="1" dirty="0">
                <a:latin typeface="Times New Roman" pitchFamily="18" charset="0"/>
                <a:cs typeface="Times New Roman" pitchFamily="18" charset="0"/>
              </a:rPr>
              <a:t>Microsoft - </a:t>
            </a:r>
            <a:r>
              <a:rPr lang="en-US" dirty="0">
                <a:latin typeface="Times New Roman" pitchFamily="18" charset="0"/>
                <a:cs typeface="Times New Roman" pitchFamily="18" charset="0"/>
              </a:rPr>
              <a:t>Trademark value: $42.8 billion</a:t>
            </a:r>
          </a:p>
          <a:p>
            <a:pPr algn="just"/>
            <a:r>
              <a:rPr lang="en-US" dirty="0">
                <a:latin typeface="Times New Roman" pitchFamily="18" charset="0"/>
                <a:cs typeface="Times New Roman" pitchFamily="18" charset="0"/>
              </a:rPr>
              <a:t>Apple, McDonald's, and Dolce &amp; </a:t>
            </a:r>
            <a:r>
              <a:rPr lang="en-US" dirty="0" err="1">
                <a:latin typeface="Times New Roman" pitchFamily="18" charset="0"/>
                <a:cs typeface="Times New Roman" pitchFamily="18" charset="0"/>
              </a:rPr>
              <a:t>Gabbana</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Product names like iPod and Big Mac.</a:t>
            </a:r>
          </a:p>
          <a:p>
            <a:pPr algn="just"/>
            <a:r>
              <a:rPr lang="en-US" dirty="0">
                <a:latin typeface="Times New Roman" pitchFamily="18" charset="0"/>
                <a:cs typeface="Times New Roman" pitchFamily="18" charset="0"/>
              </a:rPr>
              <a:t>Company logos like the golden arches at McDonald's and NBC's peacock logo.</a:t>
            </a:r>
          </a:p>
          <a:p>
            <a:pPr algn="just"/>
            <a:r>
              <a:rPr lang="en-US" dirty="0">
                <a:latin typeface="Times New Roman" pitchFamily="18" charset="0"/>
                <a:cs typeface="Times New Roman" pitchFamily="18" charset="0"/>
              </a:rPr>
              <a:t>Slogans like Capital One's "What's in your wallet?" and McDonald's "I'm </a:t>
            </a:r>
            <a:r>
              <a:rPr lang="en-US" dirty="0" err="1">
                <a:latin typeface="Times New Roman" pitchFamily="18" charset="0"/>
                <a:cs typeface="Times New Roman" pitchFamily="18" charset="0"/>
              </a:rPr>
              <a:t>lovin</a:t>
            </a:r>
            <a:r>
              <a:rPr lang="en-US" dirty="0">
                <a:latin typeface="Times New Roman" pitchFamily="18" charset="0"/>
                <a:cs typeface="Times New Roman" pitchFamily="18" charset="0"/>
              </a:rPr>
              <a:t>' it"</a:t>
            </a:r>
          </a:p>
          <a:p>
            <a:endParaRPr lang="en-IN" dirty="0"/>
          </a:p>
        </p:txBody>
      </p:sp>
      <p:sp>
        <p:nvSpPr>
          <p:cNvPr id="3" name="Title 2"/>
          <p:cNvSpPr>
            <a:spLocks noGrp="1"/>
          </p:cNvSpPr>
          <p:nvPr>
            <p:ph type="title"/>
          </p:nvPr>
        </p:nvSpPr>
        <p:spPr/>
        <p:txBody>
          <a:bodyPr>
            <a:normAutofit fontScale="90000"/>
          </a:bodyPr>
          <a:lstStyle/>
          <a:p>
            <a:br>
              <a:rPr lang="en-US" dirty="0"/>
            </a:br>
            <a:r>
              <a:rPr lang="en-US" dirty="0"/>
              <a:t>Types of trademarks include:</a:t>
            </a:r>
            <a:br>
              <a:rPr lang="en-US" dirty="0"/>
            </a:br>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br>
              <a:rPr lang="en-US" dirty="0">
                <a:latin typeface="Arial" panose="020B0604020202020204" pitchFamily="34" charset="0"/>
              </a:rPr>
            </a:br>
            <a:r>
              <a:rPr lang="en-US" dirty="0">
                <a:latin typeface="Arial" panose="020B0604020202020204" pitchFamily="34" charset="0"/>
              </a:rPr>
              <a:t>TRADEMARKS</a:t>
            </a:r>
            <a:br>
              <a:rPr lang="en-US" dirty="0">
                <a:latin typeface="Arial" panose="020B0604020202020204" pitchFamily="34" charset="0"/>
              </a:rPr>
            </a:br>
            <a:endParaRPr lang="en-IN" dirty="0"/>
          </a:p>
        </p:txBody>
      </p:sp>
      <p:pic>
        <p:nvPicPr>
          <p:cNvPr id="4" name="Content Placeholder 3" descr="Screen Shot 2021-05-25 at 3.30.37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7745" y="1315192"/>
            <a:ext cx="9628910" cy="394260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lgn="just"/>
            <a:r>
              <a:rPr lang="en-US" b="1" dirty="0"/>
              <a:t>The first landmark judgment on </a:t>
            </a:r>
            <a:r>
              <a:rPr lang="en-US" b="1" dirty="0" err="1"/>
              <a:t>cybersquatting</a:t>
            </a:r>
            <a:r>
              <a:rPr lang="en-US" b="1" dirty="0"/>
              <a:t>. </a:t>
            </a:r>
          </a:p>
          <a:p>
            <a:pPr algn="just"/>
            <a:r>
              <a:rPr lang="en-US" dirty="0"/>
              <a:t>The Delhi High Court, for the first time ever in India, held that a </a:t>
            </a:r>
            <a:r>
              <a:rPr lang="en-US" b="1" dirty="0"/>
              <a:t>domain name serves the same function as trademark </a:t>
            </a:r>
            <a:r>
              <a:rPr lang="en-US" dirty="0"/>
              <a:t>and is entitled to equal protection. The defendant had a domain name ‘Yahoo India!’ which was identical and phonetically similar to the plaintiff’s trademark ‘Yahoo!’. </a:t>
            </a:r>
          </a:p>
          <a:p>
            <a:pPr algn="just"/>
            <a:r>
              <a:rPr lang="en-US" dirty="0"/>
              <a:t>The court held that internet users would be confused and deceived into believing that both the domain names have the same source. The defendant took a defense that it had put a disclaimer on its website. However, it was observed that a mere disclaimer was not sufficient because the nature of the internet is such that use of a similar domain name cannot be rectified by a disclaimer and it does not matter that ‘yahoo’ is a dictionary word. The name possesses acquired distinctiveness and uniqueness and was largely associated with the plaintiff.</a:t>
            </a:r>
          </a:p>
          <a:p>
            <a:endParaRPr lang="en-IN" dirty="0"/>
          </a:p>
        </p:txBody>
      </p:sp>
      <p:sp>
        <p:nvSpPr>
          <p:cNvPr id="3" name="Title 2"/>
          <p:cNvSpPr>
            <a:spLocks noGrp="1"/>
          </p:cNvSpPr>
          <p:nvPr>
            <p:ph type="title"/>
          </p:nvPr>
        </p:nvSpPr>
        <p:spPr/>
        <p:txBody>
          <a:bodyPr>
            <a:normAutofit fontScale="90000"/>
          </a:bodyPr>
          <a:lstStyle/>
          <a:p>
            <a:br>
              <a:rPr lang="en-US" dirty="0">
                <a:latin typeface="Arial" panose="020B0604020202020204" pitchFamily="34" charset="0"/>
              </a:rPr>
            </a:br>
            <a:r>
              <a:rPr lang="en-US" dirty="0">
                <a:latin typeface="Arial" panose="020B0604020202020204" pitchFamily="34" charset="0"/>
              </a:rPr>
              <a:t>TRADEMARKS</a:t>
            </a:r>
            <a:br>
              <a:rPr lang="en-US" dirty="0">
                <a:latin typeface="Arial" panose="020B0604020202020204" pitchFamily="34" charset="0"/>
              </a:rPr>
            </a:br>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lgn="just"/>
            <a:r>
              <a:rPr lang="en-US" dirty="0"/>
              <a:t>Another cyber-squatting issue where the Academy Awards was headed up against the domain retailer </a:t>
            </a:r>
            <a:r>
              <a:rPr lang="en-US" dirty="0" err="1"/>
              <a:t>GoDaddy</a:t>
            </a:r>
            <a:r>
              <a:rPr lang="en-US" dirty="0"/>
              <a:t>. It was a battle that lasted for five years. Initially, in 2010, it was filed by Academy alleging </a:t>
            </a:r>
            <a:r>
              <a:rPr lang="en-US" dirty="0" err="1"/>
              <a:t>GoDaddy’s</a:t>
            </a:r>
            <a:r>
              <a:rPr lang="en-US" dirty="0"/>
              <a:t> decision to let customers buy “confusingly” similar domain names like 2011Oscars.com, etc. It claimed on allowing individuals to pass on the profits who wanted to “park” on these domains and claimed a part of revenue.</a:t>
            </a:r>
          </a:p>
          <a:p>
            <a:pPr algn="just"/>
            <a:r>
              <a:rPr lang="en-US" dirty="0"/>
              <a:t>The Academy demonstrated to the court that there were 57 domains sold by </a:t>
            </a:r>
            <a:r>
              <a:rPr lang="en-US" dirty="0" err="1"/>
              <a:t>GoDaddy</a:t>
            </a:r>
            <a:r>
              <a:rPr lang="en-US" dirty="0"/>
              <a:t> that were termed as ‘potentially confusing’. But, in the end, the </a:t>
            </a:r>
            <a:r>
              <a:rPr lang="en-US" b="1" dirty="0"/>
              <a:t>judge ruled that </a:t>
            </a:r>
            <a:r>
              <a:rPr lang="en-US" b="1" dirty="0" err="1"/>
              <a:t>GoDaddy</a:t>
            </a:r>
            <a:r>
              <a:rPr lang="en-US" b="1" dirty="0"/>
              <a:t> had no “requisite bad faith intent to profit” from their domain sales. </a:t>
            </a:r>
          </a:p>
          <a:p>
            <a:pPr algn="just"/>
            <a:r>
              <a:rPr lang="en-US" dirty="0"/>
              <a:t>The legal battle between these two big brands lasted 5 years and was deemed as an expensive affair. While this legal battle was undoubtedly expensive, it went in favor of the </a:t>
            </a:r>
            <a:r>
              <a:rPr lang="en-US" dirty="0" err="1"/>
              <a:t>cybersquatting</a:t>
            </a:r>
            <a:r>
              <a:rPr lang="en-US" dirty="0"/>
              <a:t> space and </a:t>
            </a:r>
            <a:r>
              <a:rPr lang="en-US" dirty="0" err="1"/>
              <a:t>GoDaddy</a:t>
            </a:r>
            <a:r>
              <a:rPr lang="en-US" dirty="0"/>
              <a:t> came out clean. </a:t>
            </a:r>
          </a:p>
          <a:p>
            <a:endParaRPr lang="en-IN" dirty="0"/>
          </a:p>
        </p:txBody>
      </p:sp>
      <p:sp>
        <p:nvSpPr>
          <p:cNvPr id="3" name="Title 2"/>
          <p:cNvSpPr>
            <a:spLocks noGrp="1"/>
          </p:cNvSpPr>
          <p:nvPr>
            <p:ph type="title"/>
          </p:nvPr>
        </p:nvSpPr>
        <p:spPr/>
        <p:txBody>
          <a:bodyPr>
            <a:normAutofit fontScale="90000"/>
          </a:bodyPr>
          <a:lstStyle/>
          <a:p>
            <a:br>
              <a:rPr lang="en-US" dirty="0">
                <a:latin typeface="Arial" panose="020B0604020202020204" pitchFamily="34" charset="0"/>
              </a:rPr>
            </a:br>
            <a:r>
              <a:rPr lang="en-US" dirty="0">
                <a:latin typeface="Arial" panose="020B0604020202020204" pitchFamily="34" charset="0"/>
              </a:rPr>
              <a:t>TRADEMARKS</a:t>
            </a:r>
            <a:br>
              <a:rPr lang="en-US" dirty="0">
                <a:latin typeface="Arial" panose="020B0604020202020204" pitchFamily="34" charset="0"/>
              </a:rPr>
            </a:br>
            <a:endParaRPr lang="en-I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buNone/>
            </a:pPr>
            <a:r>
              <a:rPr lang="en-US" dirty="0"/>
              <a:t>  </a:t>
            </a:r>
            <a:r>
              <a:rPr lang="en-US" dirty="0" err="1"/>
              <a:t>Cadila</a:t>
            </a:r>
            <a:r>
              <a:rPr lang="en-US" dirty="0"/>
              <a:t> Health Care v. </a:t>
            </a:r>
            <a:r>
              <a:rPr lang="en-US" dirty="0" err="1"/>
              <a:t>Cadila</a:t>
            </a:r>
            <a:r>
              <a:rPr lang="en-US" dirty="0"/>
              <a:t> Pharmaceutical Ltd.</a:t>
            </a:r>
          </a:p>
          <a:p>
            <a:r>
              <a:rPr lang="en-US" dirty="0"/>
              <a:t>The Supreme Court held that it is insignificant whether the plaintiff and the defendant trade in the same field or in the same or similar products. </a:t>
            </a:r>
          </a:p>
          <a:p>
            <a:r>
              <a:rPr lang="en-US" dirty="0"/>
              <a:t>The court laid down certain criteria to determine passing off of an unregistered trademark:</a:t>
            </a:r>
            <a:br>
              <a:rPr lang="en-US" dirty="0"/>
            </a:br>
            <a:br>
              <a:rPr lang="en-US" dirty="0"/>
            </a:br>
            <a:r>
              <a:rPr lang="en-US" dirty="0"/>
              <a:t>• The nature of the marks (word, label or composite);</a:t>
            </a:r>
            <a:br>
              <a:rPr lang="en-US" dirty="0"/>
            </a:br>
            <a:r>
              <a:rPr lang="en-US" dirty="0"/>
              <a:t>• The degree of resemblance between the marks;/</a:t>
            </a:r>
            <a:br>
              <a:rPr lang="en-US" dirty="0"/>
            </a:br>
            <a:r>
              <a:rPr lang="en-US" dirty="0"/>
              <a:t>• The nature of goods for which the marks are used;</a:t>
            </a:r>
            <a:br>
              <a:rPr lang="en-US" dirty="0"/>
            </a:br>
            <a:r>
              <a:rPr lang="en-US" dirty="0"/>
              <a:t>• Similarities in the nature, character and performance of goods of rival traders;</a:t>
            </a:r>
            <a:br>
              <a:rPr lang="en-US" dirty="0"/>
            </a:br>
            <a:r>
              <a:rPr lang="en-US" dirty="0"/>
              <a:t>• The class of purchasers who are likely to buy goods bearing the marks;</a:t>
            </a:r>
            <a:br>
              <a:rPr lang="en-US" dirty="0"/>
            </a:br>
            <a:r>
              <a:rPr lang="en-US" dirty="0"/>
              <a:t>• The method of purchasing the goods or placing orders; and</a:t>
            </a:r>
            <a:br>
              <a:rPr lang="en-US" dirty="0"/>
            </a:br>
            <a:r>
              <a:rPr lang="en-US" dirty="0"/>
              <a:t>• Other circumstances that may be relevant.</a:t>
            </a:r>
          </a:p>
          <a:p>
            <a:endParaRPr lang="en-IN" dirty="0"/>
          </a:p>
        </p:txBody>
      </p:sp>
      <p:sp>
        <p:nvSpPr>
          <p:cNvPr id="3" name="Title 2"/>
          <p:cNvSpPr>
            <a:spLocks noGrp="1"/>
          </p:cNvSpPr>
          <p:nvPr>
            <p:ph type="title"/>
          </p:nvPr>
        </p:nvSpPr>
        <p:spPr/>
        <p:txBody>
          <a:bodyPr/>
          <a:lstStyle/>
          <a:p>
            <a:r>
              <a:rPr lang="en-US" dirty="0">
                <a:latin typeface="Arial" panose="020B0604020202020204" pitchFamily="34" charset="0"/>
              </a:rPr>
              <a:t>TRADEMARKS</a:t>
            </a:r>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b="1" dirty="0"/>
              <a:t>Zara Food </a:t>
            </a:r>
            <a:r>
              <a:rPr lang="en-US" b="1" dirty="0" err="1"/>
              <a:t>vs</a:t>
            </a:r>
            <a:r>
              <a:rPr lang="en-US" b="1" dirty="0"/>
              <a:t> Zara Fashion </a:t>
            </a:r>
            <a:br>
              <a:rPr lang="en-US" b="1" dirty="0"/>
            </a:br>
            <a:r>
              <a:rPr lang="en-US" dirty="0"/>
              <a:t>Another case of food industry </a:t>
            </a:r>
            <a:r>
              <a:rPr lang="en-US" dirty="0" err="1"/>
              <a:t>vs</a:t>
            </a:r>
            <a:r>
              <a:rPr lang="en-US" dirty="0"/>
              <a:t> fashion for the brand name – Zara. It is a renowned fashion brand having major operations across the world found a restaurant operating in Delhi under the same name. It is highly possible that any consumer would confuse one for the other and take into consideration that the restaurant was started by the fashion brand. </a:t>
            </a:r>
          </a:p>
          <a:p>
            <a:pPr algn="just"/>
            <a:r>
              <a:rPr lang="en-US" dirty="0"/>
              <a:t>And this what Delhi High Court ruled out. Zara had a presence in India since 2010 when it opened its first store through a joint venture and has also applied for a few trademarks in India. The restaurant was forced to change its name and now it operates under the name of Tapas Bar. </a:t>
            </a:r>
          </a:p>
          <a:p>
            <a:pPr>
              <a:buNone/>
            </a:pPr>
            <a:endParaRPr lang="en-IN" dirty="0"/>
          </a:p>
        </p:txBody>
      </p:sp>
      <p:sp>
        <p:nvSpPr>
          <p:cNvPr id="3" name="Title 2"/>
          <p:cNvSpPr>
            <a:spLocks noGrp="1"/>
          </p:cNvSpPr>
          <p:nvPr>
            <p:ph type="title"/>
          </p:nvPr>
        </p:nvSpPr>
        <p:spPr/>
        <p:txBody>
          <a:bodyPr/>
          <a:lstStyle/>
          <a:p>
            <a:r>
              <a:rPr lang="en-IN" dirty="0"/>
              <a:t>TRADEMARK</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Amazon – 416 Billion Dollars.</a:t>
            </a:r>
          </a:p>
          <a:p>
            <a:r>
              <a:rPr lang="en-US" dirty="0"/>
              <a:t>Apple – 352 Billion Dollars.</a:t>
            </a:r>
          </a:p>
          <a:p>
            <a:r>
              <a:rPr lang="en-US" dirty="0"/>
              <a:t>Microsoft – 327 Billion Dollars.</a:t>
            </a:r>
          </a:p>
          <a:p>
            <a:r>
              <a:rPr lang="en-US" dirty="0"/>
              <a:t>Google – 324 Billion Dollars.</a:t>
            </a:r>
          </a:p>
          <a:p>
            <a:r>
              <a:rPr lang="en-US" dirty="0"/>
              <a:t>Visa – 187 Billion Dollars.</a:t>
            </a:r>
          </a:p>
          <a:p>
            <a:r>
              <a:rPr lang="en-US" dirty="0" err="1"/>
              <a:t>Alibaba</a:t>
            </a:r>
            <a:r>
              <a:rPr lang="en-US" dirty="0"/>
              <a:t> – 153 Billion Dollars.</a:t>
            </a:r>
          </a:p>
          <a:p>
            <a:r>
              <a:rPr lang="en-US" dirty="0" err="1"/>
              <a:t>Tencent</a:t>
            </a:r>
            <a:r>
              <a:rPr lang="en-US" dirty="0"/>
              <a:t> – 151 Billion Dollars.</a:t>
            </a:r>
          </a:p>
          <a:p>
            <a:r>
              <a:rPr lang="en-US" dirty="0" err="1"/>
              <a:t>Facebook</a:t>
            </a:r>
            <a:r>
              <a:rPr lang="en-US" dirty="0"/>
              <a:t> – 147 Billion Dollars.</a:t>
            </a:r>
          </a:p>
          <a:p>
            <a:endParaRPr lang="en-US" dirty="0"/>
          </a:p>
          <a:p>
            <a:endParaRPr lang="en-IN" dirty="0"/>
          </a:p>
        </p:txBody>
      </p:sp>
      <p:sp>
        <p:nvSpPr>
          <p:cNvPr id="3" name="Title 2"/>
          <p:cNvSpPr>
            <a:spLocks noGrp="1"/>
          </p:cNvSpPr>
          <p:nvPr>
            <p:ph type="title"/>
          </p:nvPr>
        </p:nvSpPr>
        <p:spPr/>
        <p:txBody>
          <a:bodyPr>
            <a:normAutofit/>
          </a:bodyPr>
          <a:lstStyle/>
          <a:p>
            <a:r>
              <a:rPr lang="en-US" b="1"/>
              <a:t>Most Valuable Trademarks in the World</a:t>
            </a:r>
            <a:endParaRPr lang="en-I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AutoNum type="arabicPeriod"/>
            </a:pPr>
            <a:r>
              <a:rPr lang="en-US" dirty="0"/>
              <a:t>Define IPR.</a:t>
            </a:r>
          </a:p>
          <a:p>
            <a:pPr marL="342900" indent="-342900">
              <a:buAutoNum type="arabicPeriod"/>
            </a:pPr>
            <a:r>
              <a:rPr lang="en-US" dirty="0"/>
              <a:t>Define copyright.</a:t>
            </a:r>
          </a:p>
          <a:p>
            <a:pPr marL="342900" indent="-342900">
              <a:buAutoNum type="arabicPeriod"/>
            </a:pPr>
            <a:r>
              <a:rPr lang="en-US" dirty="0"/>
              <a:t>Write the full form of IPR</a:t>
            </a:r>
          </a:p>
          <a:p>
            <a:pPr marL="342900" indent="-342900">
              <a:buAutoNum type="arabicPeriod"/>
            </a:pPr>
            <a:r>
              <a:rPr lang="en-US" dirty="0"/>
              <a:t>Explain the importance of IPR in current scenario.</a:t>
            </a:r>
          </a:p>
          <a:p>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RECAP AND QUIZ</a:t>
            </a:r>
            <a:br>
              <a:rPr lang="en-US" dirty="0">
                <a:solidFill>
                  <a:schemeClr val="dk1"/>
                </a:solidFill>
              </a:rPr>
            </a:br>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Trade mark</a:t>
            </a:r>
          </a:p>
          <a:p>
            <a:r>
              <a:rPr lang="en-US" dirty="0"/>
              <a:t>Definition of IPR</a:t>
            </a:r>
          </a:p>
          <a:p>
            <a:r>
              <a:rPr lang="en-US" dirty="0"/>
              <a:t>Basic knowledge of Copyright</a:t>
            </a:r>
          </a:p>
          <a:p>
            <a:endParaRPr lang="en-IN" dirty="0"/>
          </a:p>
        </p:txBody>
      </p:sp>
      <p:sp>
        <p:nvSpPr>
          <p:cNvPr id="3" name="Title 2"/>
          <p:cNvSpPr>
            <a:spLocks noGrp="1"/>
          </p:cNvSpPr>
          <p:nvPr>
            <p:ph type="title"/>
          </p:nvPr>
        </p:nvSpPr>
        <p:spPr/>
        <p:txBody>
          <a:bodyPr/>
          <a:lstStyle/>
          <a:p>
            <a:r>
              <a:rPr lang="en-US" dirty="0"/>
              <a:t>PRECAP</a:t>
            </a:r>
            <a:endParaRPr lang="en-I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RECAP</a:t>
            </a:r>
            <a:endParaRPr lang="en-IN" dirty="0"/>
          </a:p>
        </p:txBody>
      </p:sp>
      <p:pic>
        <p:nvPicPr>
          <p:cNvPr id="4" name="Picture 2"/>
          <p:cNvPicPr>
            <a:picLocks noGrp="1" noChangeAspect="1" noChangeArrowheads="1"/>
          </p:cNvPicPr>
          <p:nvPr>
            <p:ph idx="1"/>
          </p:nvPr>
        </p:nvPicPr>
        <p:blipFill>
          <a:blip r:embed="rId2"/>
          <a:srcRect l="14824" t="15625" r="16544" b="11132"/>
          <a:stretch>
            <a:fillRect/>
          </a:stretch>
        </p:blipFill>
        <p:spPr bwMode="auto">
          <a:xfrm>
            <a:off x="637309" y="1176338"/>
            <a:ext cx="10806546" cy="500062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nSpc>
                <a:spcPct val="150000"/>
              </a:lnSpc>
              <a:buFont typeface="Arial"/>
              <a:buChar char="•"/>
            </a:pPr>
            <a:r>
              <a:rPr lang="en-US" dirty="0"/>
              <a:t>What are IPR</a:t>
            </a:r>
          </a:p>
          <a:p>
            <a:pPr marL="342900" indent="-342900">
              <a:lnSpc>
                <a:spcPct val="150000"/>
              </a:lnSpc>
              <a:buFont typeface="Arial"/>
              <a:buChar char="•"/>
            </a:pPr>
            <a:r>
              <a:rPr lang="en-US" dirty="0"/>
              <a:t>What is the importance of IPR</a:t>
            </a:r>
          </a:p>
          <a:p>
            <a:pPr marL="342900" indent="-342900">
              <a:lnSpc>
                <a:spcPct val="150000"/>
              </a:lnSpc>
              <a:buFont typeface="Arial"/>
              <a:buChar char="•"/>
            </a:pPr>
            <a:r>
              <a:rPr lang="en-US" dirty="0"/>
              <a:t>How are IPR different from property rights</a:t>
            </a:r>
          </a:p>
          <a:p>
            <a:pPr marL="342900" indent="-342900">
              <a:lnSpc>
                <a:spcPct val="150000"/>
              </a:lnSpc>
              <a:buFont typeface="Arial"/>
              <a:buChar char="•"/>
            </a:pPr>
            <a:r>
              <a:rPr lang="en-US" dirty="0"/>
              <a:t>What are the various forms of IPR</a:t>
            </a:r>
          </a:p>
          <a:p>
            <a:pPr marL="342900" indent="-342900">
              <a:lnSpc>
                <a:spcPct val="150000"/>
              </a:lnSpc>
              <a:buFont typeface="Arial"/>
              <a:buChar char="•"/>
            </a:pPr>
            <a:r>
              <a:rPr lang="en-US" dirty="0"/>
              <a:t>Discuss patents with an example</a:t>
            </a:r>
          </a:p>
          <a:p>
            <a:pPr marL="342900" indent="-342900">
              <a:lnSpc>
                <a:spcPct val="150000"/>
              </a:lnSpc>
              <a:buFont typeface="Arial"/>
              <a:buChar char="•"/>
            </a:pPr>
            <a:r>
              <a:rPr lang="en-US" dirty="0"/>
              <a:t>What is copyright, give suitable examples</a:t>
            </a:r>
          </a:p>
          <a:p>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RECAP AND QUIZ</a:t>
            </a:r>
            <a:br>
              <a:rPr lang="en-US" dirty="0">
                <a:solidFill>
                  <a:schemeClr val="dk1"/>
                </a:solidFill>
              </a:rPr>
            </a:br>
            <a:endParaRPr lang="en-I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nSpc>
                <a:spcPct val="150000"/>
              </a:lnSpc>
              <a:buFont typeface="Arial"/>
              <a:buChar char="•"/>
            </a:pPr>
            <a:r>
              <a:rPr lang="en-US" dirty="0"/>
              <a:t>What are IPR</a:t>
            </a:r>
          </a:p>
          <a:p>
            <a:pPr marL="342900" indent="-342900">
              <a:lnSpc>
                <a:spcPct val="150000"/>
              </a:lnSpc>
              <a:buFont typeface="Arial"/>
              <a:buChar char="•"/>
            </a:pPr>
            <a:r>
              <a:rPr lang="en-US" dirty="0"/>
              <a:t>What is the importance of IPR</a:t>
            </a:r>
          </a:p>
          <a:p>
            <a:pPr marL="342900" indent="-342900">
              <a:lnSpc>
                <a:spcPct val="150000"/>
              </a:lnSpc>
              <a:buFont typeface="Arial"/>
              <a:buChar char="•"/>
            </a:pPr>
            <a:r>
              <a:rPr lang="en-US" dirty="0"/>
              <a:t>How are IPR different from property rights</a:t>
            </a:r>
          </a:p>
          <a:p>
            <a:pPr marL="342900" indent="-342900">
              <a:lnSpc>
                <a:spcPct val="150000"/>
              </a:lnSpc>
              <a:buFont typeface="Arial"/>
              <a:buChar char="•"/>
            </a:pPr>
            <a:r>
              <a:rPr lang="en-US" dirty="0"/>
              <a:t>What are the various forms of IPR</a:t>
            </a:r>
          </a:p>
          <a:p>
            <a:pPr marL="342900" indent="-342900">
              <a:lnSpc>
                <a:spcPct val="150000"/>
              </a:lnSpc>
              <a:buFont typeface="Arial"/>
              <a:buChar char="•"/>
            </a:pPr>
            <a:r>
              <a:rPr lang="en-US" dirty="0"/>
              <a:t>Discuss patents with an example</a:t>
            </a:r>
          </a:p>
          <a:p>
            <a:pPr marL="342900" indent="-342900">
              <a:lnSpc>
                <a:spcPct val="150000"/>
              </a:lnSpc>
              <a:buFont typeface="Arial"/>
              <a:buChar char="•"/>
            </a:pPr>
            <a:r>
              <a:rPr lang="en-US" dirty="0"/>
              <a:t>What is copyright, give suitable examples</a:t>
            </a:r>
          </a:p>
          <a:p>
            <a:endParaRPr lang="en-IN" dirty="0"/>
          </a:p>
        </p:txBody>
      </p:sp>
      <p:sp>
        <p:nvSpPr>
          <p:cNvPr id="3" name="Title 2"/>
          <p:cNvSpPr>
            <a:spLocks noGrp="1"/>
          </p:cNvSpPr>
          <p:nvPr>
            <p:ph type="title"/>
          </p:nvPr>
        </p:nvSpPr>
        <p:spPr/>
        <p:txBody>
          <a:bodyPr/>
          <a:lstStyle/>
          <a:p>
            <a:r>
              <a:rPr lang="en-US" dirty="0"/>
              <a:t>PRECAP</a:t>
            </a:r>
            <a:endParaRPr lang="en-I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50000"/>
              </a:lnSpc>
            </a:pPr>
            <a:r>
              <a:rPr lang="en-US" dirty="0"/>
              <a:t>To give students the insights into what are other types</a:t>
            </a:r>
          </a:p>
          <a:p>
            <a:pPr>
              <a:lnSpc>
                <a:spcPct val="150000"/>
              </a:lnSpc>
            </a:pPr>
            <a:r>
              <a:rPr lang="en-US" dirty="0"/>
              <a:t>of intellectual property rights as trademarks, </a:t>
            </a:r>
          </a:p>
          <a:p>
            <a:pPr>
              <a:lnSpc>
                <a:spcPct val="150000"/>
              </a:lnSpc>
            </a:pPr>
            <a:r>
              <a:rPr lang="en-US" dirty="0"/>
              <a:t>trade secrets, industrial design rights and plant varieties.</a:t>
            </a:r>
          </a:p>
          <a:p>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SESSION OBJECTIVE (CO2)</a:t>
            </a:r>
            <a:br>
              <a:rPr lang="en-US" dirty="0">
                <a:solidFill>
                  <a:schemeClr val="dk1"/>
                </a:solidFill>
              </a:rPr>
            </a:br>
            <a:endParaRPr lang="en-I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gn="just">
              <a:buFont typeface="Arial"/>
              <a:buChar char="•"/>
            </a:pPr>
            <a:r>
              <a:rPr lang="en-US" b="1" dirty="0"/>
              <a:t>An industrial design consists of the creation of a shape, configuration or composition of pattern or color, or combination of pattern and color in three-dimensional form containing aesthetic/ornamental aspects. </a:t>
            </a:r>
          </a:p>
          <a:p>
            <a:pPr marL="342900" indent="-342900" algn="just">
              <a:buFont typeface="Arial"/>
              <a:buChar char="•"/>
            </a:pPr>
            <a:endParaRPr lang="en-US" dirty="0"/>
          </a:p>
          <a:p>
            <a:pPr marL="342900" indent="-342900" algn="just">
              <a:buFont typeface="Arial"/>
              <a:buChar char="•"/>
            </a:pPr>
            <a:r>
              <a:rPr lang="en-US" dirty="0"/>
              <a:t>An industrial design can be a two- or three-dimensional pattern used to produce a product, industrial commodity or handicraft. Generally speaking, it is what makes a product look appealing, and as such, it increases the commercial value of goods.</a:t>
            </a:r>
          </a:p>
          <a:p>
            <a:endParaRPr lang="en-IN" dirty="0"/>
          </a:p>
        </p:txBody>
      </p:sp>
      <p:sp>
        <p:nvSpPr>
          <p:cNvPr id="3" name="Title 2"/>
          <p:cNvSpPr>
            <a:spLocks noGrp="1"/>
          </p:cNvSpPr>
          <p:nvPr>
            <p:ph type="title"/>
          </p:nvPr>
        </p:nvSpPr>
        <p:spPr/>
        <p:txBody>
          <a:bodyPr>
            <a:normAutofit fontScale="90000"/>
          </a:bodyPr>
          <a:lstStyle/>
          <a:p>
            <a:pPr lvl="0"/>
            <a:br>
              <a:rPr lang="en-US" dirty="0">
                <a:solidFill>
                  <a:schemeClr val="dk1"/>
                </a:solidFill>
              </a:rPr>
            </a:br>
            <a:r>
              <a:rPr lang="en-US" dirty="0">
                <a:solidFill>
                  <a:srgbClr val="FF0000"/>
                </a:solidFill>
              </a:rPr>
              <a:t>INDUSTRIAL DESIGN RIGHTS</a:t>
            </a:r>
            <a:br>
              <a:rPr lang="en-US" dirty="0">
                <a:solidFill>
                  <a:schemeClr val="dk1"/>
                </a:solidFill>
              </a:rPr>
            </a:br>
            <a:endParaRPr lang="en-I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lvl="0"/>
            <a:br>
              <a:rPr lang="en-US" dirty="0">
                <a:solidFill>
                  <a:schemeClr val="dk1"/>
                </a:solidFill>
              </a:rPr>
            </a:br>
            <a:r>
              <a:rPr lang="en-US" dirty="0">
                <a:solidFill>
                  <a:schemeClr val="dk1"/>
                </a:solidFill>
              </a:rPr>
              <a:t>INDUSTRIAL DESIGN RIGHTS</a:t>
            </a:r>
            <a:br>
              <a:rPr lang="en-US" dirty="0">
                <a:solidFill>
                  <a:schemeClr val="dk1"/>
                </a:solidFill>
              </a:rPr>
            </a:br>
            <a:endParaRPr lang="en-IN" dirty="0"/>
          </a:p>
        </p:txBody>
      </p:sp>
      <p:pic>
        <p:nvPicPr>
          <p:cNvPr id="4" name="Content Placeholder 3" descr="Screen Shot 2021-05-25 at 3.27.41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0036" y="1782215"/>
            <a:ext cx="9906000" cy="358036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gn="just">
              <a:buFont typeface="Arial"/>
              <a:buChar char="•"/>
            </a:pPr>
            <a:r>
              <a:rPr lang="en-US" b="1" dirty="0"/>
              <a:t>An industrial design consists of the creation of a shape, configuration or composition of pattern or color, or combination of pattern and color in three-dimensional form containing aesthetic/ornamental aspects. </a:t>
            </a:r>
          </a:p>
          <a:p>
            <a:pPr marL="342900" indent="-342900" algn="just">
              <a:buFont typeface="Arial"/>
              <a:buChar char="•"/>
            </a:pPr>
            <a:endParaRPr lang="en-US" dirty="0"/>
          </a:p>
          <a:p>
            <a:pPr marL="342900" indent="-342900" algn="just">
              <a:buFont typeface="Arial"/>
              <a:buChar char="•"/>
            </a:pPr>
            <a:r>
              <a:rPr lang="en-US" dirty="0"/>
              <a:t>An industrial design can be a two- or three-dimensional pattern used to produce a product, industrial commodity or handicraft. Generally speaking, it is what makes a product look appealing, and as such, it increases the commercial value of goods.</a:t>
            </a:r>
          </a:p>
          <a:p>
            <a:endParaRPr lang="en-IN" dirty="0"/>
          </a:p>
        </p:txBody>
      </p:sp>
      <p:sp>
        <p:nvSpPr>
          <p:cNvPr id="3" name="Title 2"/>
          <p:cNvSpPr>
            <a:spLocks noGrp="1"/>
          </p:cNvSpPr>
          <p:nvPr>
            <p:ph type="title"/>
          </p:nvPr>
        </p:nvSpPr>
        <p:spPr/>
        <p:txBody>
          <a:bodyPr>
            <a:normAutofit fontScale="90000"/>
          </a:bodyPr>
          <a:lstStyle/>
          <a:p>
            <a:pPr lvl="0"/>
            <a:br>
              <a:rPr lang="en-US" dirty="0">
                <a:solidFill>
                  <a:schemeClr val="dk1"/>
                </a:solidFill>
              </a:rPr>
            </a:br>
            <a:r>
              <a:rPr lang="en-US" dirty="0">
                <a:solidFill>
                  <a:srgbClr val="FF0000"/>
                </a:solidFill>
              </a:rPr>
              <a:t>INDUSTRIAL DESIGN RIGHTS</a:t>
            </a:r>
            <a:br>
              <a:rPr lang="en-US" dirty="0">
                <a:solidFill>
                  <a:schemeClr val="dk1"/>
                </a:solidFill>
              </a:rPr>
            </a:br>
            <a:endParaRPr lang="en-I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nSpc>
                <a:spcPct val="150000"/>
              </a:lnSpc>
              <a:buFont typeface="Arial"/>
              <a:buChar char="•"/>
            </a:pPr>
            <a:r>
              <a:rPr lang="en-US" dirty="0"/>
              <a:t>What are trademarks?</a:t>
            </a:r>
          </a:p>
          <a:p>
            <a:pPr marL="342900" indent="-342900">
              <a:lnSpc>
                <a:spcPct val="150000"/>
              </a:lnSpc>
              <a:buFont typeface="Arial"/>
              <a:buChar char="•"/>
            </a:pPr>
            <a:r>
              <a:rPr lang="en-US" dirty="0"/>
              <a:t>Define trade secrets with suitable examples?</a:t>
            </a:r>
          </a:p>
          <a:p>
            <a:pPr marL="342900" indent="-342900">
              <a:lnSpc>
                <a:spcPct val="150000"/>
              </a:lnSpc>
              <a:buFont typeface="Arial"/>
              <a:buChar char="•"/>
            </a:pPr>
            <a:r>
              <a:rPr lang="en-US" dirty="0"/>
              <a:t>Where can industrial design rights be used explain with examples</a:t>
            </a:r>
          </a:p>
          <a:p>
            <a:pPr marL="342900" indent="-342900">
              <a:lnSpc>
                <a:spcPct val="150000"/>
              </a:lnSpc>
              <a:buFont typeface="Arial"/>
              <a:buChar char="•"/>
            </a:pPr>
            <a:r>
              <a:rPr lang="en-US" dirty="0"/>
              <a:t> what are plant varieties and where are they used?</a:t>
            </a:r>
          </a:p>
          <a:p>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RECAP AND QUIZ</a:t>
            </a:r>
            <a:br>
              <a:rPr lang="en-US" dirty="0">
                <a:solidFill>
                  <a:schemeClr val="dk1"/>
                </a:solidFill>
              </a:rPr>
            </a:br>
            <a:endParaRPr lang="en-I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lnSpc>
                <a:spcPct val="150000"/>
              </a:lnSpc>
            </a:pPr>
            <a:r>
              <a:rPr lang="en-US" dirty="0"/>
              <a:t>To understand about trade dress and GI tag.</a:t>
            </a:r>
          </a:p>
          <a:p>
            <a:pPr algn="just">
              <a:lnSpc>
                <a:spcPct val="150000"/>
              </a:lnSpc>
            </a:pPr>
            <a:r>
              <a:rPr lang="en-US" dirty="0"/>
              <a:t>Trying to list the various geographical Indications</a:t>
            </a:r>
          </a:p>
          <a:p>
            <a:pPr algn="just">
              <a:lnSpc>
                <a:spcPct val="150000"/>
              </a:lnSpc>
            </a:pPr>
            <a:r>
              <a:rPr lang="en-US" dirty="0"/>
              <a:t>Accorded across India.</a:t>
            </a:r>
          </a:p>
          <a:p>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SESSION OBJECTIVE (CO2)</a:t>
            </a:r>
            <a:br>
              <a:rPr lang="en-US" dirty="0">
                <a:solidFill>
                  <a:schemeClr val="dk1"/>
                </a:solidFill>
              </a:rPr>
            </a:br>
            <a:endParaRPr lang="en-I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algn="just"/>
            <a:r>
              <a:rPr lang="en-US" dirty="0">
                <a:solidFill>
                  <a:srgbClr val="474747"/>
                </a:solidFill>
              </a:rPr>
              <a:t>The other common law protection, trade secrets, may be defined as all those documents and pieces of information within a company that the company takes steps to conceal from outsiders and that are not necessarily disclosed upon the sale of the company's product or services. </a:t>
            </a:r>
          </a:p>
          <a:p>
            <a:pPr algn="just"/>
            <a:r>
              <a:rPr lang="en-US" dirty="0">
                <a:solidFill>
                  <a:srgbClr val="474747"/>
                </a:solidFill>
              </a:rPr>
              <a:t>Examples include customer lists, blueprints, and recipes.</a:t>
            </a:r>
          </a:p>
          <a:p>
            <a:pPr algn="just"/>
            <a:r>
              <a:rPr lang="en-US" dirty="0">
                <a:solidFill>
                  <a:srgbClr val="474747"/>
                </a:solidFill>
              </a:rPr>
              <a:t>However, maintaining secrecy is essential; a company cannot prevent an outsider from using the secret if the company voluntarily or carelessly revealed it to him without a signed agreement prohibiting use of these materials. </a:t>
            </a:r>
          </a:p>
          <a:p>
            <a:pPr algn="just"/>
            <a:r>
              <a:rPr lang="en-US" dirty="0">
                <a:solidFill>
                  <a:srgbClr val="474747"/>
                </a:solidFill>
              </a:rPr>
              <a:t>The company also cannot prevent outsiders from using its trade secret if the outsider arrived at it independently. (A patent, remember, does allow a company to stop such use.)</a:t>
            </a:r>
          </a:p>
          <a:p>
            <a:r>
              <a:rPr lang="en-US" dirty="0"/>
              <a:t>KFC's secret blend of 11 herbs and spices.</a:t>
            </a:r>
          </a:p>
          <a:p>
            <a:r>
              <a:rPr lang="en-US" dirty="0"/>
              <a:t>Coca-Cola's recipe for their signature drink.</a:t>
            </a:r>
          </a:p>
          <a:p>
            <a:r>
              <a:rPr lang="en-US" dirty="0"/>
              <a:t>Google's search algorithm.</a:t>
            </a:r>
          </a:p>
          <a:p>
            <a:r>
              <a:rPr lang="en-US" dirty="0"/>
              <a:t>McDonald's Big Mac “special sauce.”</a:t>
            </a:r>
          </a:p>
          <a:p>
            <a:r>
              <a:rPr lang="en-US" dirty="0"/>
              <a:t>Secret client lists at any company.</a:t>
            </a:r>
          </a:p>
          <a:p>
            <a:pPr algn="just"/>
            <a:endParaRPr lang="en-US" dirty="0">
              <a:solidFill>
                <a:srgbClr val="474747"/>
              </a:solidFill>
            </a:endParaRPr>
          </a:p>
          <a:p>
            <a:endParaRPr lang="en-IN" dirty="0"/>
          </a:p>
        </p:txBody>
      </p:sp>
      <p:sp>
        <p:nvSpPr>
          <p:cNvPr id="3" name="Title 2"/>
          <p:cNvSpPr>
            <a:spLocks noGrp="1"/>
          </p:cNvSpPr>
          <p:nvPr>
            <p:ph type="title"/>
          </p:nvPr>
        </p:nvSpPr>
        <p:spPr/>
        <p:txBody>
          <a:bodyPr>
            <a:normAutofit fontScale="90000"/>
          </a:bodyPr>
          <a:lstStyle/>
          <a:p>
            <a:br>
              <a:rPr lang="en-US" dirty="0"/>
            </a:br>
            <a:r>
              <a:rPr lang="en-US" dirty="0"/>
              <a:t>TRADE SECRETS</a:t>
            </a:r>
            <a:br>
              <a:rPr lang="en-US" dirty="0"/>
            </a:br>
            <a:endParaRPr lang="en-I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gn="just">
              <a:buFont typeface="Arial"/>
              <a:buChar char="•"/>
            </a:pPr>
            <a:r>
              <a:rPr lang="en-IN" dirty="0"/>
              <a:t>GI (Geographical Indication) tag  identify agricultural, natural or manufactured goods associated with territory/region/locality.</a:t>
            </a:r>
          </a:p>
          <a:p>
            <a:pPr marL="342900" indent="-342900" algn="just">
              <a:buFont typeface="Arial"/>
              <a:buChar char="•"/>
            </a:pPr>
            <a:endParaRPr lang="en-IN" dirty="0"/>
          </a:p>
          <a:p>
            <a:pPr marL="342900" indent="-342900" algn="just">
              <a:buFont typeface="Arial"/>
              <a:buChar char="•"/>
            </a:pPr>
            <a:r>
              <a:rPr lang="en-IN" dirty="0"/>
              <a:t> GI gives protection to the group of people or association involved in the production of the product using traditional skills and knowledge.</a:t>
            </a:r>
          </a:p>
          <a:p>
            <a:pPr marL="342900" indent="-342900" algn="just">
              <a:buFont typeface="Arial"/>
              <a:buChar char="•"/>
            </a:pPr>
            <a:endParaRPr lang="en-IN" dirty="0"/>
          </a:p>
          <a:p>
            <a:pPr marL="342900" indent="-342900" algn="just">
              <a:buFont typeface="Arial"/>
              <a:buChar char="•"/>
            </a:pPr>
            <a:r>
              <a:rPr lang="en-IN" dirty="0"/>
              <a:t>The concept of GI tag was introduced in the year 2013 and it was given to foods, natural and agricultural produce and handicrafts that gave a region it’s identity. The tags were given under the act of Geographical Indications of Goods (Registration and Protection) Act,1999.</a:t>
            </a:r>
          </a:p>
          <a:p>
            <a:endParaRPr lang="en-IN" dirty="0"/>
          </a:p>
        </p:txBody>
      </p:sp>
      <p:sp>
        <p:nvSpPr>
          <p:cNvPr id="3" name="Title 2"/>
          <p:cNvSpPr>
            <a:spLocks noGrp="1"/>
          </p:cNvSpPr>
          <p:nvPr>
            <p:ph type="title"/>
          </p:nvPr>
        </p:nvSpPr>
        <p:spPr/>
        <p:txBody>
          <a:bodyPr/>
          <a:lstStyle/>
          <a:p>
            <a:r>
              <a:rPr lang="en-US" dirty="0"/>
              <a:t>GEOGRAPHICAL INDICATIONS</a:t>
            </a:r>
            <a:endParaRPr lang="en-I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GEOGRAPHICAL INDICATIONS</a:t>
            </a:r>
            <a:endParaRPr lang="en-IN" dirty="0"/>
          </a:p>
        </p:txBody>
      </p:sp>
      <p:pic>
        <p:nvPicPr>
          <p:cNvPr id="4" name="Content Placeholder 3" descr="Screen Shot 2021-05-25 at 3.36.31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7927" y="1128011"/>
            <a:ext cx="11416145" cy="4995698"/>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ORGANIZATION STRUCTURE</a:t>
            </a:r>
            <a:endParaRPr lang="en-IN" dirty="0"/>
          </a:p>
        </p:txBody>
      </p:sp>
      <p:pic>
        <p:nvPicPr>
          <p:cNvPr id="4" name="Content Placeholder 3" descr="Screen Shot 2021-05-25 at 3.12.06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1783" y="1108364"/>
            <a:ext cx="11319162" cy="5084618"/>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VALIDITY OF IPR</a:t>
            </a:r>
            <a:endParaRPr lang="en-IN" dirty="0"/>
          </a:p>
        </p:txBody>
      </p:sp>
      <p:pic>
        <p:nvPicPr>
          <p:cNvPr id="4" name="Content Placeholder 3" descr="Screen Shot 2021-05-25 at 3.13.25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1164" y="1108363"/>
            <a:ext cx="10681853" cy="4904509"/>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EXAMPLES OF IPR</a:t>
            </a:r>
            <a:endParaRPr lang="en-IN" dirty="0"/>
          </a:p>
        </p:txBody>
      </p:sp>
      <p:pic>
        <p:nvPicPr>
          <p:cNvPr id="4" name="Content Placeholder 3" descr="Screen Shot 2021-05-25 at 3.14.58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4182" y="1246909"/>
            <a:ext cx="11000509" cy="455814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EXAMPLES OF IPR</a:t>
            </a:r>
            <a:endParaRPr lang="en-IN" dirty="0"/>
          </a:p>
        </p:txBody>
      </p:sp>
      <p:pic>
        <p:nvPicPr>
          <p:cNvPr id="4" name="Content Placeholder 3" descr="Screen Shot 2021-05-25 at 3.16.14 PM.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4909" y="1430726"/>
            <a:ext cx="11125199" cy="483152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50000"/>
              </a:lnSpc>
            </a:pP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hlinkClick r:id="rId2"/>
              </a:rPr>
              <a:t>https://www.youtube.com/watch?v=KV3HarFV2kQ</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nSpc>
                <a:spcPct val="150000"/>
              </a:lnSpc>
            </a:pP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hlinkClick r:id="rId3"/>
              </a:rPr>
              <a:t>https://www.youtube.com/watch?v=WvduZOWoft0</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nSpc>
                <a:spcPct val="150000"/>
              </a:lnSpc>
            </a:pP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hlinkClick r:id="rId4"/>
              </a:rPr>
              <a:t>https://www.youtube.comwatchv=5fvpsqPWZac&amp;list=PLyqSpQzTE6M8PuzP1p2hNPXgpbOBhFgja&amp;index=1</a:t>
            </a:r>
          </a:p>
          <a:p>
            <a:pPr>
              <a:lnSpc>
                <a:spcPct val="150000"/>
              </a:lnSpc>
            </a:pP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hlinkClick r:id="rId4"/>
              </a:rPr>
              <a:t>https://www.youtube.com/watch?v=qGPwcm4yAAs</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nSpc>
                <a:spcPct val="150000"/>
              </a:lnSpc>
            </a:pPr>
            <a:r>
              <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hlinkClick r:id="rId5"/>
              </a:rPr>
              <a:t>https://www.youtube.com/watch?v=qKXB5nuZ7Cs</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endParaRPr lang="en-IN" dirty="0"/>
          </a:p>
        </p:txBody>
      </p:sp>
      <p:sp>
        <p:nvSpPr>
          <p:cNvPr id="3" name="Title 2"/>
          <p:cNvSpPr>
            <a:spLocks noGrp="1"/>
          </p:cNvSpPr>
          <p:nvPr>
            <p:ph type="title"/>
          </p:nvPr>
        </p:nvSpPr>
        <p:spPr/>
        <p:txBody>
          <a:bodyPr>
            <a:normAutofit fontScale="90000"/>
          </a:bodyPr>
          <a:lstStyle/>
          <a:p>
            <a:pPr lvl="0"/>
            <a:br>
              <a:rPr lang="en-US" dirty="0"/>
            </a:br>
            <a:r>
              <a:rPr lang="en-US" dirty="0"/>
              <a:t>Video Link</a:t>
            </a:r>
            <a:br>
              <a:rPr lang="en-US" dirty="0">
                <a:solidFill>
                  <a:schemeClr val="dk1"/>
                </a:solidFill>
              </a:rPr>
            </a:br>
            <a:endParaRPr lang="en-I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fontAlgn="base">
              <a:buNone/>
            </a:pPr>
            <a:r>
              <a:rPr lang="en-US" dirty="0"/>
              <a:t>Q1. What do you understand by IPR?</a:t>
            </a:r>
          </a:p>
          <a:p>
            <a:pPr marL="0" indent="0" fontAlgn="base">
              <a:buNone/>
            </a:pPr>
            <a:r>
              <a:rPr lang="en-US" dirty="0"/>
              <a:t>Q2. why are Intellectual Property Rights important?</a:t>
            </a:r>
          </a:p>
          <a:p>
            <a:pPr marL="0" indent="0" fontAlgn="base">
              <a:buNone/>
            </a:pPr>
            <a:r>
              <a:rPr lang="en-US" dirty="0"/>
              <a:t>Q3. State and describe the various forms of IPR?</a:t>
            </a:r>
          </a:p>
          <a:p>
            <a:pPr marL="0" indent="0" fontAlgn="base">
              <a:buNone/>
            </a:pPr>
            <a:r>
              <a:rPr lang="en-US" dirty="0"/>
              <a:t>Q4. Discuss the </a:t>
            </a:r>
            <a:r>
              <a:rPr lang="en-US" dirty="0" err="1"/>
              <a:t>inportance</a:t>
            </a:r>
            <a:r>
              <a:rPr lang="en-US" dirty="0"/>
              <a:t> of copyrights.</a:t>
            </a:r>
          </a:p>
          <a:p>
            <a:pPr marL="0" indent="0" fontAlgn="base">
              <a:buNone/>
            </a:pPr>
            <a:r>
              <a:rPr lang="en-US" dirty="0"/>
              <a:t>Q5. what is a GI tag?</a:t>
            </a:r>
          </a:p>
          <a:p>
            <a:endParaRPr lang="en-IN" dirty="0"/>
          </a:p>
        </p:txBody>
      </p:sp>
      <p:sp>
        <p:nvSpPr>
          <p:cNvPr id="3" name="Title 2"/>
          <p:cNvSpPr>
            <a:spLocks noGrp="1"/>
          </p:cNvSpPr>
          <p:nvPr>
            <p:ph type="title"/>
          </p:nvPr>
        </p:nvSpPr>
        <p:spPr/>
        <p:txBody>
          <a:bodyPr>
            <a:normAutofit fontScale="90000"/>
          </a:bodyPr>
          <a:lstStyle/>
          <a:p>
            <a:pPr lvl="0"/>
            <a:br>
              <a:rPr lang="en-US" dirty="0">
                <a:solidFill>
                  <a:schemeClr val="dk1"/>
                </a:solidFill>
              </a:rPr>
            </a:br>
            <a:r>
              <a:rPr lang="en-US" dirty="0">
                <a:solidFill>
                  <a:srgbClr val="FF0000"/>
                </a:solidFill>
              </a:rPr>
              <a:t>Quiz</a:t>
            </a:r>
            <a:br>
              <a:rPr lang="en-US" dirty="0">
                <a:solidFill>
                  <a:schemeClr val="dk1"/>
                </a:solidFill>
              </a:rPr>
            </a:br>
            <a:endParaRPr lang="en-I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55000" lnSpcReduction="20000"/>
          </a:bodyPr>
          <a:lstStyle/>
          <a:p>
            <a:pPr marL="0" indent="0">
              <a:buNone/>
            </a:pPr>
            <a:r>
              <a:rPr lang="en-US" dirty="0"/>
              <a:t> </a:t>
            </a:r>
            <a:r>
              <a:rPr lang="en-IN" b="1" dirty="0"/>
              <a:t>1. Intellectual Property Rights (IPR) protect the use of information and ideas that are of </a:t>
            </a:r>
          </a:p>
          <a:p>
            <a:pPr marL="457200" indent="-457200">
              <a:buAutoNum type="alphaLcPeriod"/>
            </a:pPr>
            <a:r>
              <a:rPr lang="en-IN" dirty="0"/>
              <a:t>Ethical value</a:t>
            </a:r>
          </a:p>
          <a:p>
            <a:pPr marL="457200" indent="-457200">
              <a:buAutoNum type="alphaLcPeriod"/>
            </a:pPr>
            <a:r>
              <a:rPr lang="en-IN" dirty="0"/>
              <a:t>Moral value </a:t>
            </a:r>
          </a:p>
          <a:p>
            <a:pPr marL="457200" indent="-457200">
              <a:buAutoNum type="alphaLcPeriod"/>
            </a:pPr>
            <a:r>
              <a:rPr lang="en-IN" dirty="0"/>
              <a:t>Social value </a:t>
            </a:r>
          </a:p>
          <a:p>
            <a:pPr marL="457200" indent="-457200">
              <a:buAutoNum type="alphaLcPeriod"/>
            </a:pPr>
            <a:r>
              <a:rPr lang="en-IN" dirty="0"/>
              <a:t>Commercial value</a:t>
            </a:r>
          </a:p>
          <a:p>
            <a:pPr marL="0" indent="0">
              <a:buNone/>
            </a:pPr>
            <a:endParaRPr lang="en-IN" dirty="0"/>
          </a:p>
          <a:p>
            <a:pPr marL="0" indent="0">
              <a:buNone/>
            </a:pPr>
            <a:r>
              <a:rPr lang="en-IN" b="1" dirty="0"/>
              <a:t>2. The term ‘Intellectual Property Rights’ covers</a:t>
            </a:r>
          </a:p>
          <a:p>
            <a:pPr marL="457200" indent="-457200">
              <a:buAutoNum type="alphaLcPeriod"/>
            </a:pPr>
            <a:r>
              <a:rPr lang="en-IN" dirty="0"/>
              <a:t>Copyrights </a:t>
            </a:r>
          </a:p>
          <a:p>
            <a:pPr marL="457200" indent="-457200">
              <a:buAutoNum type="alphaLcPeriod"/>
            </a:pPr>
            <a:r>
              <a:rPr lang="en-IN" dirty="0"/>
              <a:t>b. Know-how </a:t>
            </a:r>
          </a:p>
          <a:p>
            <a:pPr marL="457200" indent="-457200">
              <a:buAutoNum type="alphaLcPeriod"/>
            </a:pPr>
            <a:r>
              <a:rPr lang="en-IN" dirty="0"/>
              <a:t>c. Trade dress </a:t>
            </a:r>
          </a:p>
          <a:p>
            <a:pPr marL="457200" indent="-457200">
              <a:buAutoNum type="alphaLcPeriod"/>
            </a:pPr>
            <a:r>
              <a:rPr lang="en-IN" dirty="0"/>
              <a:t>d. All of the above</a:t>
            </a:r>
          </a:p>
          <a:p>
            <a:pPr marL="457200" indent="-457200">
              <a:buAutoNum type="alphaLcPeriod"/>
            </a:pPr>
            <a:endParaRPr lang="en-IN" dirty="0"/>
          </a:p>
          <a:p>
            <a:pPr marL="0" indent="0">
              <a:buNone/>
            </a:pPr>
            <a:r>
              <a:rPr lang="en-IN" b="1" dirty="0"/>
              <a:t>3. The following can be patented</a:t>
            </a:r>
          </a:p>
          <a:p>
            <a:pPr marL="0" indent="0">
              <a:buNone/>
            </a:pPr>
            <a:r>
              <a:rPr lang="en-IN" dirty="0"/>
              <a:t>a. Machine </a:t>
            </a:r>
          </a:p>
          <a:p>
            <a:pPr marL="0" indent="0">
              <a:buNone/>
            </a:pPr>
            <a:r>
              <a:rPr lang="en-IN" dirty="0"/>
              <a:t>b. Process </a:t>
            </a:r>
          </a:p>
          <a:p>
            <a:pPr marL="0" indent="0">
              <a:buNone/>
            </a:pPr>
            <a:r>
              <a:rPr lang="en-IN" dirty="0"/>
              <a:t>c. Composition of matter </a:t>
            </a:r>
          </a:p>
          <a:p>
            <a:pPr marL="0" indent="0">
              <a:buNone/>
            </a:pPr>
            <a:r>
              <a:rPr lang="en-IN" dirty="0"/>
              <a:t>d. All of the above</a:t>
            </a:r>
          </a:p>
          <a:p>
            <a:endParaRPr lang="en-IN" dirty="0"/>
          </a:p>
        </p:txBody>
      </p:sp>
      <p:sp>
        <p:nvSpPr>
          <p:cNvPr id="3" name="Title 2"/>
          <p:cNvSpPr>
            <a:spLocks noGrp="1"/>
          </p:cNvSpPr>
          <p:nvPr>
            <p:ph type="title"/>
          </p:nvPr>
        </p:nvSpPr>
        <p:spPr/>
        <p:txBody>
          <a:bodyPr/>
          <a:lstStyle/>
          <a:p>
            <a:r>
              <a:rPr lang="en-US" dirty="0">
                <a:solidFill>
                  <a:srgbClr val="FF0000"/>
                </a:solidFill>
              </a:rPr>
              <a:t>MCQs</a:t>
            </a:r>
            <a:endParaRPr lang="en-IN" dirty="0">
              <a:solidFill>
                <a:srgbClr val="FF0000"/>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marL="0" indent="0">
              <a:buNone/>
            </a:pPr>
            <a:r>
              <a:rPr lang="en-IN" b="1" dirty="0"/>
              <a:t>4. Trade mark </a:t>
            </a:r>
          </a:p>
          <a:p>
            <a:pPr marL="457200" indent="-457200">
              <a:lnSpc>
                <a:spcPct val="70000"/>
              </a:lnSpc>
              <a:buAutoNum type="alphaLcPeriod"/>
            </a:pPr>
            <a:r>
              <a:rPr lang="en-IN" dirty="0"/>
              <a:t>is represented graphically </a:t>
            </a:r>
          </a:p>
          <a:p>
            <a:pPr marL="457200" indent="-457200">
              <a:lnSpc>
                <a:spcPct val="70000"/>
              </a:lnSpc>
              <a:buAutoNum type="alphaLcPeriod"/>
            </a:pPr>
            <a:r>
              <a:rPr lang="en-IN" dirty="0"/>
              <a:t>is capable of distinguishing the goods or services of one person from those of others </a:t>
            </a:r>
          </a:p>
          <a:p>
            <a:pPr marL="457200" indent="-457200">
              <a:lnSpc>
                <a:spcPct val="70000"/>
              </a:lnSpc>
              <a:buAutoNum type="alphaLcPeriod"/>
            </a:pPr>
            <a:r>
              <a:rPr lang="en-IN" dirty="0"/>
              <a:t>may include shapes of goods or combination of colours  </a:t>
            </a:r>
          </a:p>
          <a:p>
            <a:pPr marL="457200" indent="-457200">
              <a:lnSpc>
                <a:spcPct val="70000"/>
              </a:lnSpc>
              <a:buAutoNum type="alphaLcPeriod"/>
            </a:pPr>
            <a:r>
              <a:rPr lang="en-IN" dirty="0"/>
              <a:t>All of the above </a:t>
            </a:r>
          </a:p>
          <a:p>
            <a:pPr marL="457200" indent="-457200">
              <a:lnSpc>
                <a:spcPct val="70000"/>
              </a:lnSpc>
              <a:buAutoNum type="alphaLcPeriod"/>
            </a:pPr>
            <a:endParaRPr lang="en-IN" dirty="0"/>
          </a:p>
          <a:p>
            <a:pPr marL="0" indent="0">
              <a:buNone/>
            </a:pPr>
            <a:r>
              <a:rPr lang="en-IN" b="1" dirty="0"/>
              <a:t>5. Symbol of Maharaja of Air India is </a:t>
            </a:r>
          </a:p>
          <a:p>
            <a:pPr marL="457200" indent="-457200">
              <a:lnSpc>
                <a:spcPct val="70000"/>
              </a:lnSpc>
              <a:buAutoNum type="alphaLcPeriod"/>
            </a:pPr>
            <a:r>
              <a:rPr lang="en-IN" dirty="0"/>
              <a:t>Copyright </a:t>
            </a:r>
          </a:p>
          <a:p>
            <a:pPr marL="457200" indent="-457200">
              <a:lnSpc>
                <a:spcPct val="70000"/>
              </a:lnSpc>
              <a:buAutoNum type="alphaLcPeriod"/>
            </a:pPr>
            <a:r>
              <a:rPr lang="en-IN" dirty="0"/>
              <a:t>Patent </a:t>
            </a:r>
          </a:p>
          <a:p>
            <a:pPr marL="457200" indent="-457200">
              <a:lnSpc>
                <a:spcPct val="70000"/>
              </a:lnSpc>
              <a:buAutoNum type="alphaLcPeriod"/>
            </a:pPr>
            <a:r>
              <a:rPr lang="en-IN" dirty="0"/>
              <a:t>Trademark </a:t>
            </a:r>
          </a:p>
          <a:p>
            <a:pPr marL="457200" indent="-457200">
              <a:lnSpc>
                <a:spcPct val="70000"/>
              </a:lnSpc>
              <a:buAutoNum type="alphaLcPeriod"/>
            </a:pPr>
            <a:r>
              <a:rPr lang="en-IN" dirty="0"/>
              <a:t>All of the above </a:t>
            </a:r>
          </a:p>
          <a:p>
            <a:pPr marL="457200" indent="-457200">
              <a:lnSpc>
                <a:spcPct val="70000"/>
              </a:lnSpc>
              <a:buAutoNum type="alphaLcPeriod"/>
            </a:pPr>
            <a:endParaRPr lang="en-IN" dirty="0"/>
          </a:p>
          <a:p>
            <a:pPr marL="0" indent="0">
              <a:buNone/>
            </a:pPr>
            <a:r>
              <a:rPr lang="en-IN" b="1" dirty="0"/>
              <a:t>6. In India, the literary work is protected until </a:t>
            </a:r>
          </a:p>
          <a:p>
            <a:pPr marL="457200" indent="-457200">
              <a:lnSpc>
                <a:spcPct val="70000"/>
              </a:lnSpc>
              <a:buAutoNum type="alphaLcPeriod"/>
            </a:pPr>
            <a:r>
              <a:rPr lang="en-IN" dirty="0"/>
              <a:t>Lifetime of author </a:t>
            </a:r>
          </a:p>
          <a:p>
            <a:pPr marL="457200" indent="-457200">
              <a:lnSpc>
                <a:spcPct val="70000"/>
              </a:lnSpc>
              <a:buAutoNum type="alphaLcPeriod"/>
            </a:pPr>
            <a:r>
              <a:rPr lang="en-IN" dirty="0"/>
              <a:t>25 years after the death of author </a:t>
            </a:r>
          </a:p>
          <a:p>
            <a:pPr marL="457200" indent="-457200">
              <a:lnSpc>
                <a:spcPct val="70000"/>
              </a:lnSpc>
              <a:buAutoNum type="alphaLcPeriod"/>
            </a:pPr>
            <a:r>
              <a:rPr lang="en-IN" dirty="0"/>
              <a:t>40 years after the death of author</a:t>
            </a:r>
          </a:p>
          <a:p>
            <a:pPr marL="457200" indent="-457200">
              <a:lnSpc>
                <a:spcPct val="70000"/>
              </a:lnSpc>
              <a:buAutoNum type="alphaLcPeriod"/>
            </a:pPr>
            <a:r>
              <a:rPr lang="en-IN" dirty="0"/>
              <a:t>60 years after the death of author</a:t>
            </a:r>
          </a:p>
          <a:p>
            <a:endParaRPr lang="en-IN" dirty="0"/>
          </a:p>
        </p:txBody>
      </p:sp>
      <p:sp>
        <p:nvSpPr>
          <p:cNvPr id="3" name="Title 2"/>
          <p:cNvSpPr>
            <a:spLocks noGrp="1"/>
          </p:cNvSpPr>
          <p:nvPr>
            <p:ph type="title"/>
          </p:nvPr>
        </p:nvSpPr>
        <p:spPr/>
        <p:txBody>
          <a:bodyPr/>
          <a:lstStyle/>
          <a:p>
            <a:r>
              <a:rPr lang="en-US" dirty="0">
                <a:solidFill>
                  <a:srgbClr val="FF0000"/>
                </a:solidFill>
              </a:rPr>
              <a:t>MCQs</a:t>
            </a:r>
            <a:endParaRPr lang="en-IN" dirty="0">
              <a:solidFill>
                <a:srgbClr val="FF0000"/>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Font typeface="+mj-lt"/>
              <a:buAutoNum type="arabicPeriod"/>
            </a:pPr>
            <a:r>
              <a:rPr lang="en-US" dirty="0"/>
              <a:t>Describe Intellectual Property Rights. CO2</a:t>
            </a:r>
          </a:p>
          <a:p>
            <a:pPr marL="342900" indent="-342900">
              <a:buFont typeface="+mj-lt"/>
              <a:buAutoNum type="arabicPeriod"/>
            </a:pPr>
            <a:r>
              <a:rPr lang="en-US" dirty="0"/>
              <a:t>What is the importance of IPR. CO2</a:t>
            </a:r>
          </a:p>
          <a:p>
            <a:pPr marL="342900" indent="-342900">
              <a:buFont typeface="+mj-lt"/>
              <a:buAutoNum type="arabicPeriod"/>
            </a:pPr>
            <a:r>
              <a:rPr lang="en-US" dirty="0"/>
              <a:t>Discuss the various forms if IPR. CO2</a:t>
            </a:r>
          </a:p>
          <a:p>
            <a:endParaRPr lang="en-IN" dirty="0"/>
          </a:p>
        </p:txBody>
      </p:sp>
      <p:sp>
        <p:nvSpPr>
          <p:cNvPr id="3" name="Title 2"/>
          <p:cNvSpPr>
            <a:spLocks noGrp="1"/>
          </p:cNvSpPr>
          <p:nvPr>
            <p:ph type="title"/>
          </p:nvPr>
        </p:nvSpPr>
        <p:spPr/>
        <p:txBody>
          <a:bodyPr/>
          <a:lstStyle/>
          <a:p>
            <a:r>
              <a:rPr lang="en-US" dirty="0">
                <a:solidFill>
                  <a:srgbClr val="FF0000"/>
                </a:solidFill>
              </a:rPr>
              <a:t>Assignment</a:t>
            </a:r>
            <a:endParaRPr lang="en-IN" dirty="0">
              <a:solidFill>
                <a:srgbClr val="FF00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lgn="just">
              <a:buNone/>
              <a:defRPr/>
            </a:pPr>
            <a:r>
              <a:rPr lang="en-US" dirty="0">
                <a:hlinkClick r:id="rId2"/>
              </a:rPr>
              <a:t>https://abesit.in/library/download/MBA/Sem.3/2014-15/Entrepreneurship%20Development%20(NMBA-031,MBT%20M-031).pdf</a:t>
            </a:r>
            <a:endParaRPr lang="en-US" dirty="0"/>
          </a:p>
          <a:p>
            <a:pPr lvl="0" algn="just">
              <a:buNone/>
              <a:defRPr/>
            </a:pPr>
            <a:r>
              <a:rPr lang="en-US" dirty="0">
                <a:hlinkClick r:id="rId2"/>
              </a:rPr>
              <a:t>https://abesit.in/library/download/MBA/Sem.3/2014-15/Entrepreneurship%20Development%20(NMBA-031,MBT%20M-031).pdf</a:t>
            </a:r>
            <a:endParaRPr lang="en-US" dirty="0"/>
          </a:p>
          <a:p>
            <a:endParaRPr lang="en-IN" dirty="0"/>
          </a:p>
        </p:txBody>
      </p:sp>
      <p:sp>
        <p:nvSpPr>
          <p:cNvPr id="3" name="Title 2"/>
          <p:cNvSpPr>
            <a:spLocks noGrp="1"/>
          </p:cNvSpPr>
          <p:nvPr>
            <p:ph type="title"/>
          </p:nvPr>
        </p:nvSpPr>
        <p:spPr/>
        <p:txBody>
          <a:bodyPr>
            <a:normAutofit fontScale="90000"/>
          </a:bodyPr>
          <a:lstStyle/>
          <a:p>
            <a:pPr lvl="0"/>
            <a:br>
              <a:rPr lang="en-US" dirty="0">
                <a:solidFill>
                  <a:schemeClr val="dk1"/>
                </a:solidFill>
              </a:rPr>
            </a:br>
            <a:r>
              <a:rPr lang="en-US" dirty="0">
                <a:solidFill>
                  <a:srgbClr val="FF0000"/>
                </a:solidFill>
              </a:rPr>
              <a:t>Old Question Papers</a:t>
            </a:r>
            <a:br>
              <a:rPr lang="en-US" dirty="0">
                <a:solidFill>
                  <a:schemeClr val="dk1"/>
                </a:solidFill>
              </a:rPr>
            </a:br>
            <a:endParaRPr lang="en-I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What are patents explain with suitable examples?</a:t>
            </a:r>
          </a:p>
          <a:p>
            <a:pPr algn="just"/>
            <a:r>
              <a:rPr lang="en-US" dirty="0"/>
              <a:t>Why is IPR important for an organization. Explain the concept and usefulness of IPR for a nation.</a:t>
            </a:r>
          </a:p>
          <a:p>
            <a:pPr algn="just"/>
            <a:r>
              <a:rPr lang="en-US" dirty="0"/>
              <a:t>Define geographical indications?</a:t>
            </a:r>
          </a:p>
          <a:p>
            <a:pPr algn="just"/>
            <a:r>
              <a:rPr lang="en-US" dirty="0"/>
              <a:t>What are the various forms of IPR.</a:t>
            </a:r>
          </a:p>
          <a:p>
            <a:endParaRPr lang="en-IN" dirty="0"/>
          </a:p>
        </p:txBody>
      </p:sp>
      <p:sp>
        <p:nvSpPr>
          <p:cNvPr id="3" name="Title 2"/>
          <p:cNvSpPr>
            <a:spLocks noGrp="1"/>
          </p:cNvSpPr>
          <p:nvPr>
            <p:ph type="title"/>
          </p:nvPr>
        </p:nvSpPr>
        <p:spPr/>
        <p:txBody>
          <a:bodyPr>
            <a:normAutofit fontScale="90000"/>
          </a:bodyPr>
          <a:lstStyle/>
          <a:p>
            <a:pPr lvl="0"/>
            <a:r>
              <a:rPr lang="en-US" dirty="0">
                <a:solidFill>
                  <a:srgbClr val="FF0000"/>
                </a:solidFill>
              </a:rPr>
              <a:t>Expected  Questions</a:t>
            </a:r>
            <a:br>
              <a:rPr lang="en-US" dirty="0">
                <a:solidFill>
                  <a:schemeClr val="dk1"/>
                </a:solidFill>
              </a:rPr>
            </a:br>
            <a:endParaRPr lang="en-I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This unit gives a clear picture of Intellectual Property Rights. It also tells how we can make use of these rights. Why these rights are important for an organization.</a:t>
            </a:r>
          </a:p>
          <a:p>
            <a:pPr algn="just"/>
            <a:r>
              <a:rPr lang="en-US" dirty="0"/>
              <a:t>The various forms available for taking intellectual property rights.</a:t>
            </a:r>
          </a:p>
          <a:p>
            <a:endParaRPr lang="en-IN" dirty="0"/>
          </a:p>
        </p:txBody>
      </p:sp>
      <p:sp>
        <p:nvSpPr>
          <p:cNvPr id="3" name="Title 2"/>
          <p:cNvSpPr>
            <a:spLocks noGrp="1"/>
          </p:cNvSpPr>
          <p:nvPr>
            <p:ph type="title"/>
          </p:nvPr>
        </p:nvSpPr>
        <p:spPr/>
        <p:txBody>
          <a:bodyPr>
            <a:normAutofit fontScale="90000"/>
          </a:bodyPr>
          <a:lstStyle/>
          <a:p>
            <a:pPr lvl="0"/>
            <a:r>
              <a:rPr lang="en-US" dirty="0">
                <a:solidFill>
                  <a:srgbClr val="FF0000"/>
                </a:solidFill>
              </a:rPr>
              <a:t>Summary</a:t>
            </a:r>
            <a:br>
              <a:rPr lang="en-US" dirty="0">
                <a:solidFill>
                  <a:srgbClr val="FF0000"/>
                </a:solidFill>
              </a:rPr>
            </a:br>
            <a:endParaRPr lang="en-IN" dirty="0">
              <a:solidFill>
                <a:srgbClr val="FF0000"/>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This unit gives a clear picture of Intellectual Property Rights. It also tells how we can make use of these rights. Why these rights are important for an organization.</a:t>
            </a:r>
          </a:p>
          <a:p>
            <a:pPr algn="just"/>
            <a:r>
              <a:rPr lang="en-US" dirty="0"/>
              <a:t>The various forms available for taking intellectual property rights.</a:t>
            </a:r>
          </a:p>
          <a:p>
            <a:endParaRPr lang="en-IN" dirty="0"/>
          </a:p>
        </p:txBody>
      </p:sp>
      <p:sp>
        <p:nvSpPr>
          <p:cNvPr id="3" name="Title 2"/>
          <p:cNvSpPr>
            <a:spLocks noGrp="1"/>
          </p:cNvSpPr>
          <p:nvPr>
            <p:ph type="title"/>
          </p:nvPr>
        </p:nvSpPr>
        <p:spPr/>
        <p:txBody>
          <a:bodyPr/>
          <a:lstStyle/>
          <a:p>
            <a:r>
              <a:rPr lang="en-US" dirty="0">
                <a:solidFill>
                  <a:srgbClr val="FF0000"/>
                </a:solidFill>
              </a:rPr>
              <a:t>Summary</a:t>
            </a:r>
            <a:endParaRPr lang="en-IN" dirty="0">
              <a:solidFill>
                <a:srgbClr val="FF000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ctr">
              <a:buNone/>
            </a:pPr>
            <a:endParaRPr lang="en-IN" sz="6600" b="1" dirty="0">
              <a:solidFill>
                <a:srgbClr val="C00000"/>
              </a:solidFill>
            </a:endParaRPr>
          </a:p>
          <a:p>
            <a:pPr algn="ctr">
              <a:buNone/>
            </a:pPr>
            <a:r>
              <a:rPr lang="en-IN" sz="6600" b="1" dirty="0">
                <a:solidFill>
                  <a:srgbClr val="C00000"/>
                </a:solidFill>
              </a:rPr>
              <a:t>THANKYOU </a:t>
            </a:r>
          </a:p>
        </p:txBody>
      </p:sp>
      <p:sp>
        <p:nvSpPr>
          <p:cNvPr id="3" name="Title 2"/>
          <p:cNvSpPr>
            <a:spLocks noGrp="1"/>
          </p:cNvSpPr>
          <p:nvPr>
            <p:ph type="title"/>
          </p:nvPr>
        </p:nvSpPr>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F0187066428A84AA199CDA19E92ECF8" ma:contentTypeVersion="4" ma:contentTypeDescription="Create a new document." ma:contentTypeScope="" ma:versionID="47d9d770b6219f473c408660f71b854f">
  <xsd:schema xmlns:xsd="http://www.w3.org/2001/XMLSchema" xmlns:xs="http://www.w3.org/2001/XMLSchema" xmlns:p="http://schemas.microsoft.com/office/2006/metadata/properties" xmlns:ns2="d430450e-e793-48af-aeea-b7d63c4a8d9f" targetNamespace="http://schemas.microsoft.com/office/2006/metadata/properties" ma:root="true" ma:fieldsID="1c70a0067056082de9938516d0ca8d84" ns2:_="">
    <xsd:import namespace="d430450e-e793-48af-aeea-b7d63c4a8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0450e-e793-48af-aeea-b7d63c4a8d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C5EB9B-35F1-401F-AD80-61DB4E7C61C8}">
  <ds:schemaRefs>
    <ds:schemaRef ds:uri="http://schemas.microsoft.com/sharepoint/v3/contenttype/forms"/>
  </ds:schemaRefs>
</ds:datastoreItem>
</file>

<file path=customXml/itemProps2.xml><?xml version="1.0" encoding="utf-8"?>
<ds:datastoreItem xmlns:ds="http://schemas.openxmlformats.org/officeDocument/2006/customXml" ds:itemID="{DE4FFFE5-365D-40F3-9D23-E569A980D9BA}">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43231BB5-DEA2-4700-AFFF-EE1D0FF76F8F}">
  <ds:schemaRefs>
    <ds:schemaRef ds:uri="http://schemas.microsoft.com/office/2006/metadata/contentType"/>
    <ds:schemaRef ds:uri="http://schemas.microsoft.com/office/2006/metadata/properties/metaAttributes"/>
    <ds:schemaRef ds:uri="http://www.w3.org/2000/xmlns/"/>
    <ds:schemaRef ds:uri="http://www.w3.org/2001/XMLSchema"/>
    <ds:schemaRef ds:uri="d430450e-e793-48af-aeea-b7d63c4a8d9f"/>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464</TotalTime>
  <Words>4306</Words>
  <Application>Microsoft Office PowerPoint</Application>
  <PresentationFormat>Widescreen</PresentationFormat>
  <Paragraphs>393</Paragraphs>
  <Slides>76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76</vt:i4>
      </vt:variant>
    </vt:vector>
  </HeadingPairs>
  <TitlesOfParts>
    <vt:vector size="83" baseType="lpstr">
      <vt:lpstr>Aptos</vt:lpstr>
      <vt:lpstr>Aptos Display</vt:lpstr>
      <vt:lpstr>Arial</vt:lpstr>
      <vt:lpstr>Calibri</vt:lpstr>
      <vt:lpstr>Times New Roman</vt:lpstr>
      <vt:lpstr>Wingdings</vt:lpstr>
      <vt:lpstr>Office Theme</vt:lpstr>
      <vt:lpstr>PowerPoint Presentation</vt:lpstr>
      <vt:lpstr>PowerPoint Presentation</vt:lpstr>
      <vt:lpstr>SYLLABUS </vt:lpstr>
      <vt:lpstr>UNIT II </vt:lpstr>
      <vt:lpstr> Objective of the Unit </vt:lpstr>
      <vt:lpstr>COURSE OBJECTIVES </vt:lpstr>
      <vt:lpstr> Program  Outcomes </vt:lpstr>
      <vt:lpstr> Program  Educational Objectives </vt:lpstr>
      <vt:lpstr> Prerequisite and Recap </vt:lpstr>
      <vt:lpstr> INTELLECTUAL PROPERTY RIGHTS (IPR) </vt:lpstr>
      <vt:lpstr>INTELLECTUAL PROPERTY RIGHTS (IPR) </vt:lpstr>
      <vt:lpstr>INTELLECTUAL PROPERTY RIGHTS (IPR)</vt:lpstr>
      <vt:lpstr>INTELLECTUAL PROPERTY RIGHTS (IPR </vt:lpstr>
      <vt:lpstr>INTELLECTUAL PROPERTY RIGHTS</vt:lpstr>
      <vt:lpstr> INTERNATIONAL ORGANIZATION, AGENCIES AND TREATIES </vt:lpstr>
      <vt:lpstr> PURPOSE OF IPR </vt:lpstr>
      <vt:lpstr> INTELLECTUAL PROPERTY AND ITS PROTECTION </vt:lpstr>
      <vt:lpstr> INTELLECTUAL PROPERTY AND ITS PROTECTION </vt:lpstr>
      <vt:lpstr> Forms of Protection depending on product </vt:lpstr>
      <vt:lpstr> PATENTS </vt:lpstr>
      <vt:lpstr> PATENTS </vt:lpstr>
      <vt:lpstr> What is an example of a patent? </vt:lpstr>
      <vt:lpstr> PATENTS </vt:lpstr>
      <vt:lpstr> PATENTS </vt:lpstr>
      <vt:lpstr> PATENTS </vt:lpstr>
      <vt:lpstr>What are some examples of copyright works?</vt:lpstr>
      <vt:lpstr>COPYRIGHT</vt:lpstr>
      <vt:lpstr>COPYRIGHTS</vt:lpstr>
      <vt:lpstr> COPYRIGHTS </vt:lpstr>
      <vt:lpstr> Rights granted by Copyright </vt:lpstr>
      <vt:lpstr>IMPORTANCE OF COPYRIGHT</vt:lpstr>
      <vt:lpstr>Quiz</vt:lpstr>
      <vt:lpstr>PRECAP</vt:lpstr>
      <vt:lpstr> SESSION OBJECTIVE (CO2) </vt:lpstr>
      <vt:lpstr> TYPES OF MARKS </vt:lpstr>
      <vt:lpstr> TYPES OF MARKS </vt:lpstr>
      <vt:lpstr> TYPES OF MARKS </vt:lpstr>
      <vt:lpstr>Trademark</vt:lpstr>
      <vt:lpstr>PowerPoint Presentation</vt:lpstr>
      <vt:lpstr>PowerPoint Presentation</vt:lpstr>
      <vt:lpstr> TRADEMARKS </vt:lpstr>
      <vt:lpstr> Types of trademarks include: </vt:lpstr>
      <vt:lpstr> TRADEMARKS </vt:lpstr>
      <vt:lpstr> TRADEMARKS </vt:lpstr>
      <vt:lpstr> TRADEMARKS </vt:lpstr>
      <vt:lpstr>TRADEMARKS</vt:lpstr>
      <vt:lpstr>TRADEMARK</vt:lpstr>
      <vt:lpstr>Most Valuable Trademarks in the World</vt:lpstr>
      <vt:lpstr> RECAP AND QUIZ </vt:lpstr>
      <vt:lpstr>PRECAP</vt:lpstr>
      <vt:lpstr>RECAP</vt:lpstr>
      <vt:lpstr> RECAP AND QUIZ </vt:lpstr>
      <vt:lpstr>PRECAP</vt:lpstr>
      <vt:lpstr> SESSION OBJECTIVE (CO2) </vt:lpstr>
      <vt:lpstr> INDUSTRIAL DESIGN RIGHTS </vt:lpstr>
      <vt:lpstr> INDUSTRIAL DESIGN RIGHTS </vt:lpstr>
      <vt:lpstr> INDUSTRIAL DESIGN RIGHTS </vt:lpstr>
      <vt:lpstr> RECAP AND QUIZ </vt:lpstr>
      <vt:lpstr> SESSION OBJECTIVE (CO2) </vt:lpstr>
      <vt:lpstr> TRADE SECRETS </vt:lpstr>
      <vt:lpstr>GEOGRAPHICAL INDICATIONS</vt:lpstr>
      <vt:lpstr>GEOGRAPHICAL INDICATIONS</vt:lpstr>
      <vt:lpstr>ORGANIZATION STRUCTURE</vt:lpstr>
      <vt:lpstr>VALIDITY OF IPR</vt:lpstr>
      <vt:lpstr>EXAMPLES OF IPR</vt:lpstr>
      <vt:lpstr>EXAMPLES OF IPR</vt:lpstr>
      <vt:lpstr> Video Link </vt:lpstr>
      <vt:lpstr> Quiz </vt:lpstr>
      <vt:lpstr>MCQs</vt:lpstr>
      <vt:lpstr>MCQs</vt:lpstr>
      <vt:lpstr>Assignment</vt:lpstr>
      <vt:lpstr> Old Question Papers </vt:lpstr>
      <vt:lpstr>Expected  Questions </vt:lpstr>
      <vt:lpstr>Summary </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Kaushik</dc:creator>
  <cp:lastModifiedBy>Mr. Alok Raj</cp:lastModifiedBy>
  <cp:revision>41</cp:revision>
  <dcterms:created xsi:type="dcterms:W3CDTF">2024-03-22T08:16:53Z</dcterms:created>
  <dcterms:modified xsi:type="dcterms:W3CDTF">2025-09-01T04:00:12Z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0x0101008F0187066428A84AA199CDA19E92ECF8</vt:lpwstr>
  </property>
</Properties>
</file>