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119"/>
  </p:notesMasterIdLst>
  <p:handoutMasterIdLst>
    <p:handoutMasterId r:id="rId120"/>
  </p:handoutMasterIdLst>
  <p:sldIdLst>
    <p:sldId id="674" r:id="rId6"/>
    <p:sldId id="630" r:id="rId7"/>
    <p:sldId id="670" r:id="rId8"/>
    <p:sldId id="677" r:id="rId9"/>
    <p:sldId id="678" r:id="rId10"/>
    <p:sldId id="679" r:id="rId11"/>
    <p:sldId id="680" r:id="rId12"/>
    <p:sldId id="681" r:id="rId13"/>
    <p:sldId id="682" r:id="rId14"/>
    <p:sldId id="671" r:id="rId15"/>
    <p:sldId id="257" r:id="rId16"/>
    <p:sldId id="672" r:id="rId17"/>
    <p:sldId id="673" r:id="rId18"/>
    <p:sldId id="266" r:id="rId19"/>
    <p:sldId id="338" r:id="rId20"/>
    <p:sldId id="258" r:id="rId21"/>
    <p:sldId id="663" r:id="rId22"/>
    <p:sldId id="665" r:id="rId23"/>
    <p:sldId id="627" r:id="rId24"/>
    <p:sldId id="666" r:id="rId25"/>
    <p:sldId id="664" r:id="rId26"/>
    <p:sldId id="259" r:id="rId27"/>
    <p:sldId id="268" r:id="rId28"/>
    <p:sldId id="344" r:id="rId29"/>
    <p:sldId id="351" r:id="rId30"/>
    <p:sldId id="269" r:id="rId31"/>
    <p:sldId id="363" r:id="rId32"/>
    <p:sldId id="364" r:id="rId33"/>
    <p:sldId id="636" r:id="rId34"/>
    <p:sldId id="638" r:id="rId35"/>
    <p:sldId id="639" r:id="rId36"/>
    <p:sldId id="365" r:id="rId37"/>
    <p:sldId id="386" r:id="rId38"/>
    <p:sldId id="642" r:id="rId39"/>
    <p:sldId id="640" r:id="rId40"/>
    <p:sldId id="641" r:id="rId41"/>
    <p:sldId id="352" r:id="rId42"/>
    <p:sldId id="353" r:id="rId43"/>
    <p:sldId id="286" r:id="rId44"/>
    <p:sldId id="393" r:id="rId45"/>
    <p:sldId id="397" r:id="rId46"/>
    <p:sldId id="395" r:id="rId47"/>
    <p:sldId id="394" r:id="rId48"/>
    <p:sldId id="366" r:id="rId49"/>
    <p:sldId id="645" r:id="rId50"/>
    <p:sldId id="626" r:id="rId51"/>
    <p:sldId id="644" r:id="rId52"/>
    <p:sldId id="643" r:id="rId53"/>
    <p:sldId id="646" r:id="rId54"/>
    <p:sldId id="367" r:id="rId55"/>
    <p:sldId id="368" r:id="rId56"/>
    <p:sldId id="369" r:id="rId57"/>
    <p:sldId id="370" r:id="rId58"/>
    <p:sldId id="371" r:id="rId59"/>
    <p:sldId id="372" r:id="rId60"/>
    <p:sldId id="647" r:id="rId61"/>
    <p:sldId id="648" r:id="rId62"/>
    <p:sldId id="373" r:id="rId63"/>
    <p:sldId id="374" r:id="rId64"/>
    <p:sldId id="375" r:id="rId65"/>
    <p:sldId id="376" r:id="rId66"/>
    <p:sldId id="377" r:id="rId67"/>
    <p:sldId id="378" r:id="rId68"/>
    <p:sldId id="379" r:id="rId69"/>
    <p:sldId id="380" r:id="rId70"/>
    <p:sldId id="381" r:id="rId71"/>
    <p:sldId id="398" r:id="rId72"/>
    <p:sldId id="399" r:id="rId73"/>
    <p:sldId id="401" r:id="rId74"/>
    <p:sldId id="400" r:id="rId75"/>
    <p:sldId id="354" r:id="rId76"/>
    <p:sldId id="649" r:id="rId77"/>
    <p:sldId id="650" r:id="rId78"/>
    <p:sldId id="651" r:id="rId79"/>
    <p:sldId id="652" r:id="rId80"/>
    <p:sldId id="357" r:id="rId81"/>
    <p:sldId id="669" r:id="rId82"/>
    <p:sldId id="654" r:id="rId83"/>
    <p:sldId id="358" r:id="rId84"/>
    <p:sldId id="667" r:id="rId85"/>
    <p:sldId id="653" r:id="rId86"/>
    <p:sldId id="355" r:id="rId87"/>
    <p:sldId id="655" r:id="rId88"/>
    <p:sldId id="656" r:id="rId89"/>
    <p:sldId id="356" r:id="rId90"/>
    <p:sldId id="359" r:id="rId91"/>
    <p:sldId id="360" r:id="rId92"/>
    <p:sldId id="402" r:id="rId93"/>
    <p:sldId id="405" r:id="rId94"/>
    <p:sldId id="404" r:id="rId95"/>
    <p:sldId id="361" r:id="rId96"/>
    <p:sldId id="382" r:id="rId97"/>
    <p:sldId id="383" r:id="rId98"/>
    <p:sldId id="659" r:id="rId99"/>
    <p:sldId id="628" r:id="rId100"/>
    <p:sldId id="658" r:id="rId101"/>
    <p:sldId id="385" r:id="rId102"/>
    <p:sldId id="660" r:id="rId103"/>
    <p:sldId id="283" r:id="rId104"/>
    <p:sldId id="341" r:id="rId105"/>
    <p:sldId id="388" r:id="rId106"/>
    <p:sldId id="389" r:id="rId107"/>
    <p:sldId id="335" r:id="rId108"/>
    <p:sldId id="668" r:id="rId109"/>
    <p:sldId id="334" r:id="rId110"/>
    <p:sldId id="390" r:id="rId111"/>
    <p:sldId id="391" r:id="rId112"/>
    <p:sldId id="342" r:id="rId113"/>
    <p:sldId id="330" r:id="rId114"/>
    <p:sldId id="343" r:id="rId115"/>
    <p:sldId id="265" r:id="rId116"/>
    <p:sldId id="345" r:id="rId117"/>
    <p:sldId id="387" r:id="rId1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1" autoAdjust="0"/>
    <p:restoredTop sz="94660"/>
  </p:normalViewPr>
  <p:slideViewPr>
    <p:cSldViewPr snapToGrid="0">
      <p:cViewPr>
        <p:scale>
          <a:sx n="86" d="100"/>
          <a:sy n="86" d="100"/>
        </p:scale>
        <p:origin x="1171" y="-115"/>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theme" Target="theme/theme1.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tableStyles" Target="tableStyles.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notesMaster" Target="notesMasters/notesMaster1.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105267-0A5E-4699-856C-713EE500FBDD}" type="doc">
      <dgm:prSet loTypeId="urn:microsoft.com/office/officeart/2011/layout/CircleProcess#1" loCatId="process" qsTypeId="urn:microsoft.com/office/officeart/2005/8/quickstyle/simple5" qsCatId="simple" csTypeId="urn:microsoft.com/office/officeart/2005/8/colors/colorful4" csCatId="colorful" phldr="1"/>
      <dgm:spPr/>
      <dgm:t>
        <a:bodyPr/>
        <a:lstStyle/>
        <a:p>
          <a:endParaRPr lang="en-GB"/>
        </a:p>
      </dgm:t>
    </dgm:pt>
    <dgm:pt modelId="{4AA7C57A-1DF4-4EA0-9939-73DDE2B91007}">
      <dgm:prSet custT="1"/>
      <dgm:spPr/>
      <dgm:t>
        <a:bodyPr/>
        <a:lstStyle/>
        <a:p>
          <a:pPr rtl="0"/>
          <a:r>
            <a:rPr lang="en-GB" sz="1800"/>
            <a:t>In contemporary markets, entrepreneur act as:</a:t>
          </a:r>
        </a:p>
      </dgm:t>
    </dgm:pt>
    <dgm:pt modelId="{CB4AC830-52F0-4612-B341-7EADD2D7F5FB}" type="parTrans" cxnId="{847D5093-AD7A-4BF5-AA0B-4FC76500ACBA}">
      <dgm:prSet/>
      <dgm:spPr/>
      <dgm:t>
        <a:bodyPr/>
        <a:lstStyle/>
        <a:p>
          <a:endParaRPr lang="en-GB"/>
        </a:p>
      </dgm:t>
    </dgm:pt>
    <dgm:pt modelId="{BEB4EC2C-E278-413A-9F3A-1EDAA14BD07B}" type="sibTrans" cxnId="{847D5093-AD7A-4BF5-AA0B-4FC76500ACBA}">
      <dgm:prSet/>
      <dgm:spPr/>
      <dgm:t>
        <a:bodyPr/>
        <a:lstStyle/>
        <a:p>
          <a:endParaRPr lang="en-GB"/>
        </a:p>
      </dgm:t>
    </dgm:pt>
    <dgm:pt modelId="{E46B51DC-FD60-41BA-A990-0A45C7E8DD28}">
      <dgm:prSet custT="1"/>
      <dgm:spPr/>
      <dgm:t>
        <a:bodyPr/>
        <a:lstStyle/>
        <a:p>
          <a:pPr rtl="0"/>
          <a:r>
            <a:rPr lang="en-GB" sz="1600"/>
            <a:t>innovators or developers who identify and capture opportunities </a:t>
          </a:r>
        </a:p>
      </dgm:t>
    </dgm:pt>
    <dgm:pt modelId="{8CAC0035-836A-4EE7-BEC1-566F051B9771}" type="parTrans" cxnId="{C2A17DD9-34E7-4B0B-B241-48F4FFD9A2CD}">
      <dgm:prSet/>
      <dgm:spPr/>
      <dgm:t>
        <a:bodyPr/>
        <a:lstStyle/>
        <a:p>
          <a:endParaRPr lang="en-GB"/>
        </a:p>
      </dgm:t>
    </dgm:pt>
    <dgm:pt modelId="{EA8AF4F7-4F81-4E68-9CDE-92F6D48F072B}" type="sibTrans" cxnId="{C2A17DD9-34E7-4B0B-B241-48F4FFD9A2CD}">
      <dgm:prSet/>
      <dgm:spPr/>
      <dgm:t>
        <a:bodyPr/>
        <a:lstStyle/>
        <a:p>
          <a:endParaRPr lang="en-GB"/>
        </a:p>
      </dgm:t>
    </dgm:pt>
    <dgm:pt modelId="{91663E6B-73E7-4096-99EA-03CD8121133C}">
      <dgm:prSet custT="1"/>
      <dgm:spPr/>
      <dgm:t>
        <a:bodyPr/>
        <a:lstStyle/>
        <a:p>
          <a:pPr rtl="0"/>
          <a:r>
            <a:rPr lang="en-GB" sz="1600"/>
            <a:t>transform the opportunities into merchandisable concepts</a:t>
          </a:r>
        </a:p>
      </dgm:t>
    </dgm:pt>
    <dgm:pt modelId="{B39DFDCC-DBCF-4A59-A1A8-EE2FEDDF341D}" type="parTrans" cxnId="{BD132A41-1F1A-4D51-80E7-CF0E2C18993B}">
      <dgm:prSet/>
      <dgm:spPr/>
      <dgm:t>
        <a:bodyPr/>
        <a:lstStyle/>
        <a:p>
          <a:endParaRPr lang="en-GB"/>
        </a:p>
      </dgm:t>
    </dgm:pt>
    <dgm:pt modelId="{C5F52271-7C38-4DC4-A8B3-49067336ECD5}" type="sibTrans" cxnId="{BD132A41-1F1A-4D51-80E7-CF0E2C18993B}">
      <dgm:prSet/>
      <dgm:spPr/>
      <dgm:t>
        <a:bodyPr/>
        <a:lstStyle/>
        <a:p>
          <a:endParaRPr lang="en-GB"/>
        </a:p>
      </dgm:t>
    </dgm:pt>
    <dgm:pt modelId="{7B102EAC-F662-4F7B-A6F5-F400B2A03176}">
      <dgm:prSet custT="1"/>
      <dgm:spPr/>
      <dgm:t>
        <a:bodyPr/>
        <a:lstStyle/>
        <a:p>
          <a:pPr rtl="0"/>
          <a:r>
            <a:rPr lang="en-GB" sz="1600"/>
            <a:t>create value through multiple stakeholders and resources</a:t>
          </a:r>
        </a:p>
      </dgm:t>
    </dgm:pt>
    <dgm:pt modelId="{4C1DAFF3-0F39-4EA5-91D6-46EA14141DB3}" type="parTrans" cxnId="{F5E5F7E5-F39E-4A24-837E-9C98E42083FD}">
      <dgm:prSet/>
      <dgm:spPr/>
      <dgm:t>
        <a:bodyPr/>
        <a:lstStyle/>
        <a:p>
          <a:endParaRPr lang="en-GB"/>
        </a:p>
      </dgm:t>
    </dgm:pt>
    <dgm:pt modelId="{4C818E44-D2BF-40C4-8AE7-740496CA81B8}" type="sibTrans" cxnId="{F5E5F7E5-F39E-4A24-837E-9C98E42083FD}">
      <dgm:prSet/>
      <dgm:spPr/>
      <dgm:t>
        <a:bodyPr/>
        <a:lstStyle/>
        <a:p>
          <a:endParaRPr lang="en-GB"/>
        </a:p>
      </dgm:t>
    </dgm:pt>
    <dgm:pt modelId="{7D3978D5-4C6A-4621-B33D-C7D51EBE397D}">
      <dgm:prSet custT="1"/>
      <dgm:spPr/>
      <dgm:t>
        <a:bodyPr/>
        <a:lstStyle/>
        <a:p>
          <a:pPr rtl="0"/>
          <a:r>
            <a:rPr lang="en-GB" sz="1600"/>
            <a:t>take risks whilst seeking rewards for their ventures and efforts  </a:t>
          </a:r>
        </a:p>
      </dgm:t>
    </dgm:pt>
    <dgm:pt modelId="{CCE28C06-8834-40A9-85D6-0734D665DAAC}" type="parTrans" cxnId="{233E902A-6E06-4309-BDFB-2421662D56DC}">
      <dgm:prSet/>
      <dgm:spPr/>
      <dgm:t>
        <a:bodyPr/>
        <a:lstStyle/>
        <a:p>
          <a:endParaRPr lang="en-GB"/>
        </a:p>
      </dgm:t>
    </dgm:pt>
    <dgm:pt modelId="{0DA151E1-D81E-4B06-BAE8-502E1EC919ED}" type="sibTrans" cxnId="{233E902A-6E06-4309-BDFB-2421662D56DC}">
      <dgm:prSet/>
      <dgm:spPr/>
      <dgm:t>
        <a:bodyPr/>
        <a:lstStyle/>
        <a:p>
          <a:endParaRPr lang="en-GB"/>
        </a:p>
      </dgm:t>
    </dgm:pt>
    <dgm:pt modelId="{AADB194A-58A4-458F-A1F6-0435F42FA03A}" type="pres">
      <dgm:prSet presAssocID="{10105267-0A5E-4699-856C-713EE500FBDD}" presName="Name0" presStyleCnt="0">
        <dgm:presLayoutVars>
          <dgm:chMax val="11"/>
          <dgm:chPref val="11"/>
          <dgm:dir/>
          <dgm:resizeHandles/>
        </dgm:presLayoutVars>
      </dgm:prSet>
      <dgm:spPr/>
    </dgm:pt>
    <dgm:pt modelId="{E120F486-0B97-4E26-AB46-3330FB3B9370}" type="pres">
      <dgm:prSet presAssocID="{7D3978D5-4C6A-4621-B33D-C7D51EBE397D}" presName="Accent5" presStyleCnt="0"/>
      <dgm:spPr/>
    </dgm:pt>
    <dgm:pt modelId="{211F5E04-FCD1-4E78-93B5-77CF72910FBD}" type="pres">
      <dgm:prSet presAssocID="{7D3978D5-4C6A-4621-B33D-C7D51EBE397D}" presName="Accent" presStyleLbl="node1" presStyleIdx="0" presStyleCnt="5"/>
      <dgm:spPr/>
    </dgm:pt>
    <dgm:pt modelId="{40145400-E799-48B3-A19C-C944B10355DF}" type="pres">
      <dgm:prSet presAssocID="{7D3978D5-4C6A-4621-B33D-C7D51EBE397D}" presName="ParentBackground5" presStyleCnt="0"/>
      <dgm:spPr/>
    </dgm:pt>
    <dgm:pt modelId="{FE5238CF-31B5-4476-B955-843A64BEB5D7}" type="pres">
      <dgm:prSet presAssocID="{7D3978D5-4C6A-4621-B33D-C7D51EBE397D}" presName="ParentBackground" presStyleLbl="fgAcc1" presStyleIdx="0" presStyleCnt="5"/>
      <dgm:spPr/>
    </dgm:pt>
    <dgm:pt modelId="{EBDCC068-49CB-4E2D-B52E-BFBE8C4C902C}" type="pres">
      <dgm:prSet presAssocID="{7D3978D5-4C6A-4621-B33D-C7D51EBE397D}" presName="Parent5" presStyleLbl="revTx" presStyleIdx="0" presStyleCnt="0">
        <dgm:presLayoutVars>
          <dgm:chMax val="1"/>
          <dgm:chPref val="1"/>
          <dgm:bulletEnabled val="1"/>
        </dgm:presLayoutVars>
      </dgm:prSet>
      <dgm:spPr/>
    </dgm:pt>
    <dgm:pt modelId="{97E88F06-2E6B-4017-B356-4CF714064C19}" type="pres">
      <dgm:prSet presAssocID="{7B102EAC-F662-4F7B-A6F5-F400B2A03176}" presName="Accent4" presStyleCnt="0"/>
      <dgm:spPr/>
    </dgm:pt>
    <dgm:pt modelId="{75A623EA-4F0D-4A19-9194-1F5835AC8C07}" type="pres">
      <dgm:prSet presAssocID="{7B102EAC-F662-4F7B-A6F5-F400B2A03176}" presName="Accent" presStyleLbl="node1" presStyleIdx="1" presStyleCnt="5"/>
      <dgm:spPr/>
    </dgm:pt>
    <dgm:pt modelId="{F04E26BF-A300-4BCA-B435-4A398437C7C7}" type="pres">
      <dgm:prSet presAssocID="{7B102EAC-F662-4F7B-A6F5-F400B2A03176}" presName="ParentBackground4" presStyleCnt="0"/>
      <dgm:spPr/>
    </dgm:pt>
    <dgm:pt modelId="{A0870987-EE29-4A9C-ABCF-6E09662FE180}" type="pres">
      <dgm:prSet presAssocID="{7B102EAC-F662-4F7B-A6F5-F400B2A03176}" presName="ParentBackground" presStyleLbl="fgAcc1" presStyleIdx="1" presStyleCnt="5"/>
      <dgm:spPr/>
    </dgm:pt>
    <dgm:pt modelId="{E8B4A962-EBA0-4854-BF35-8C6C6E1586B2}" type="pres">
      <dgm:prSet presAssocID="{7B102EAC-F662-4F7B-A6F5-F400B2A03176}" presName="Parent4" presStyleLbl="revTx" presStyleIdx="0" presStyleCnt="0">
        <dgm:presLayoutVars>
          <dgm:chMax val="1"/>
          <dgm:chPref val="1"/>
          <dgm:bulletEnabled val="1"/>
        </dgm:presLayoutVars>
      </dgm:prSet>
      <dgm:spPr/>
    </dgm:pt>
    <dgm:pt modelId="{3D25FE41-43D1-4467-B15A-1F6FF0B300D2}" type="pres">
      <dgm:prSet presAssocID="{91663E6B-73E7-4096-99EA-03CD8121133C}" presName="Accent3" presStyleCnt="0"/>
      <dgm:spPr/>
    </dgm:pt>
    <dgm:pt modelId="{D873CE6E-C80E-4D3E-9CC5-87F8AF7F395D}" type="pres">
      <dgm:prSet presAssocID="{91663E6B-73E7-4096-99EA-03CD8121133C}" presName="Accent" presStyleLbl="node1" presStyleIdx="2" presStyleCnt="5"/>
      <dgm:spPr/>
    </dgm:pt>
    <dgm:pt modelId="{89BF3096-B2B9-4A08-8B0D-DE22E6F98F28}" type="pres">
      <dgm:prSet presAssocID="{91663E6B-73E7-4096-99EA-03CD8121133C}" presName="ParentBackground3" presStyleCnt="0"/>
      <dgm:spPr/>
    </dgm:pt>
    <dgm:pt modelId="{BF34FEF6-8371-457D-AFFE-D2C53B3129D8}" type="pres">
      <dgm:prSet presAssocID="{91663E6B-73E7-4096-99EA-03CD8121133C}" presName="ParentBackground" presStyleLbl="fgAcc1" presStyleIdx="2" presStyleCnt="5"/>
      <dgm:spPr/>
    </dgm:pt>
    <dgm:pt modelId="{60DBCE4E-4479-4D62-BE87-967EF05D01AA}" type="pres">
      <dgm:prSet presAssocID="{91663E6B-73E7-4096-99EA-03CD8121133C}" presName="Parent3" presStyleLbl="revTx" presStyleIdx="0" presStyleCnt="0">
        <dgm:presLayoutVars>
          <dgm:chMax val="1"/>
          <dgm:chPref val="1"/>
          <dgm:bulletEnabled val="1"/>
        </dgm:presLayoutVars>
      </dgm:prSet>
      <dgm:spPr/>
    </dgm:pt>
    <dgm:pt modelId="{FC24E282-51E6-4A26-AEF6-AD1BA6CA49A7}" type="pres">
      <dgm:prSet presAssocID="{E46B51DC-FD60-41BA-A990-0A45C7E8DD28}" presName="Accent2" presStyleCnt="0"/>
      <dgm:spPr/>
    </dgm:pt>
    <dgm:pt modelId="{F3ADB6CA-7DE7-40D0-95A9-58517D7E501E}" type="pres">
      <dgm:prSet presAssocID="{E46B51DC-FD60-41BA-A990-0A45C7E8DD28}" presName="Accent" presStyleLbl="node1" presStyleIdx="3" presStyleCnt="5"/>
      <dgm:spPr/>
    </dgm:pt>
    <dgm:pt modelId="{ED9BA1D5-7613-419F-93DE-C79AA93CC206}" type="pres">
      <dgm:prSet presAssocID="{E46B51DC-FD60-41BA-A990-0A45C7E8DD28}" presName="ParentBackground2" presStyleCnt="0"/>
      <dgm:spPr/>
    </dgm:pt>
    <dgm:pt modelId="{69E2A38B-0923-447E-88E6-2A9B7FE36546}" type="pres">
      <dgm:prSet presAssocID="{E46B51DC-FD60-41BA-A990-0A45C7E8DD28}" presName="ParentBackground" presStyleLbl="fgAcc1" presStyleIdx="3" presStyleCnt="5"/>
      <dgm:spPr/>
    </dgm:pt>
    <dgm:pt modelId="{4FB5D763-84B7-43F1-99A5-0D993BDF03BA}" type="pres">
      <dgm:prSet presAssocID="{E46B51DC-FD60-41BA-A990-0A45C7E8DD28}" presName="Parent2" presStyleLbl="revTx" presStyleIdx="0" presStyleCnt="0">
        <dgm:presLayoutVars>
          <dgm:chMax val="1"/>
          <dgm:chPref val="1"/>
          <dgm:bulletEnabled val="1"/>
        </dgm:presLayoutVars>
      </dgm:prSet>
      <dgm:spPr/>
    </dgm:pt>
    <dgm:pt modelId="{3AE54958-4A9C-4BBE-A583-9355BEBDAB27}" type="pres">
      <dgm:prSet presAssocID="{4AA7C57A-1DF4-4EA0-9939-73DDE2B91007}" presName="Accent1" presStyleCnt="0"/>
      <dgm:spPr/>
    </dgm:pt>
    <dgm:pt modelId="{78B8D398-112B-45C7-9CD5-F1F5841C5BD2}" type="pres">
      <dgm:prSet presAssocID="{4AA7C57A-1DF4-4EA0-9939-73DDE2B91007}" presName="Accent" presStyleLbl="node1" presStyleIdx="4" presStyleCnt="5"/>
      <dgm:spPr/>
    </dgm:pt>
    <dgm:pt modelId="{9CE3D799-E50E-4D86-8841-AF169FB77372}" type="pres">
      <dgm:prSet presAssocID="{4AA7C57A-1DF4-4EA0-9939-73DDE2B91007}" presName="ParentBackground1" presStyleCnt="0"/>
      <dgm:spPr/>
    </dgm:pt>
    <dgm:pt modelId="{5B31789C-6A61-42D6-842A-E4BFC83E2CE2}" type="pres">
      <dgm:prSet presAssocID="{4AA7C57A-1DF4-4EA0-9939-73DDE2B91007}" presName="ParentBackground" presStyleLbl="fgAcc1" presStyleIdx="4" presStyleCnt="5" custLinFactNeighborX="-15122" custLinFactNeighborY="-1180"/>
      <dgm:spPr/>
    </dgm:pt>
    <dgm:pt modelId="{322D5447-D85E-4940-A124-C3C213855A81}" type="pres">
      <dgm:prSet presAssocID="{4AA7C57A-1DF4-4EA0-9939-73DDE2B91007}" presName="Parent1" presStyleLbl="revTx" presStyleIdx="0" presStyleCnt="0">
        <dgm:presLayoutVars>
          <dgm:chMax val="1"/>
          <dgm:chPref val="1"/>
          <dgm:bulletEnabled val="1"/>
        </dgm:presLayoutVars>
      </dgm:prSet>
      <dgm:spPr/>
    </dgm:pt>
  </dgm:ptLst>
  <dgm:cxnLst>
    <dgm:cxn modelId="{D652B629-CB46-46B8-AD37-F8C440E09A16}" type="presOf" srcId="{4AA7C57A-1DF4-4EA0-9939-73DDE2B91007}" destId="{322D5447-D85E-4940-A124-C3C213855A81}" srcOrd="1" destOrd="0" presId="urn:microsoft.com/office/officeart/2011/layout/CircleProcess#1"/>
    <dgm:cxn modelId="{233E902A-6E06-4309-BDFB-2421662D56DC}" srcId="{10105267-0A5E-4699-856C-713EE500FBDD}" destId="{7D3978D5-4C6A-4621-B33D-C7D51EBE397D}" srcOrd="4" destOrd="0" parTransId="{CCE28C06-8834-40A9-85D6-0734D665DAAC}" sibTransId="{0DA151E1-D81E-4B06-BAE8-502E1EC919ED}"/>
    <dgm:cxn modelId="{5031E62E-5158-44D5-B671-7F5E1ADE3D5D}" type="presOf" srcId="{10105267-0A5E-4699-856C-713EE500FBDD}" destId="{AADB194A-58A4-458F-A1F6-0435F42FA03A}" srcOrd="0" destOrd="0" presId="urn:microsoft.com/office/officeart/2011/layout/CircleProcess#1"/>
    <dgm:cxn modelId="{5DC4CE3F-D1BD-44DF-A4C7-B134DAC1FDFD}" type="presOf" srcId="{7B102EAC-F662-4F7B-A6F5-F400B2A03176}" destId="{A0870987-EE29-4A9C-ABCF-6E09662FE180}" srcOrd="0" destOrd="0" presId="urn:microsoft.com/office/officeart/2011/layout/CircleProcess#1"/>
    <dgm:cxn modelId="{BD132A41-1F1A-4D51-80E7-CF0E2C18993B}" srcId="{10105267-0A5E-4699-856C-713EE500FBDD}" destId="{91663E6B-73E7-4096-99EA-03CD8121133C}" srcOrd="2" destOrd="0" parTransId="{B39DFDCC-DBCF-4A59-A1A8-EE2FEDDF341D}" sibTransId="{C5F52271-7C38-4DC4-A8B3-49067336ECD5}"/>
    <dgm:cxn modelId="{45A7668B-FBC0-4EFB-A5F3-48822E20C5F3}" type="presOf" srcId="{7B102EAC-F662-4F7B-A6F5-F400B2A03176}" destId="{E8B4A962-EBA0-4854-BF35-8C6C6E1586B2}" srcOrd="1" destOrd="0" presId="urn:microsoft.com/office/officeart/2011/layout/CircleProcess#1"/>
    <dgm:cxn modelId="{847D5093-AD7A-4BF5-AA0B-4FC76500ACBA}" srcId="{10105267-0A5E-4699-856C-713EE500FBDD}" destId="{4AA7C57A-1DF4-4EA0-9939-73DDE2B91007}" srcOrd="0" destOrd="0" parTransId="{CB4AC830-52F0-4612-B341-7EADD2D7F5FB}" sibTransId="{BEB4EC2C-E278-413A-9F3A-1EDAA14BD07B}"/>
    <dgm:cxn modelId="{0F709F9C-A5AD-4C1E-83C6-ECCE7A418BFF}" type="presOf" srcId="{91663E6B-73E7-4096-99EA-03CD8121133C}" destId="{BF34FEF6-8371-457D-AFFE-D2C53B3129D8}" srcOrd="0" destOrd="0" presId="urn:microsoft.com/office/officeart/2011/layout/CircleProcess#1"/>
    <dgm:cxn modelId="{3FE4069F-8CAA-4FC3-998C-4ABDBB64F7F9}" type="presOf" srcId="{91663E6B-73E7-4096-99EA-03CD8121133C}" destId="{60DBCE4E-4479-4D62-BE87-967EF05D01AA}" srcOrd="1" destOrd="0" presId="urn:microsoft.com/office/officeart/2011/layout/CircleProcess#1"/>
    <dgm:cxn modelId="{45E8259F-61B1-4102-AD16-06DAB2BF6B58}" type="presOf" srcId="{7D3978D5-4C6A-4621-B33D-C7D51EBE397D}" destId="{FE5238CF-31B5-4476-B955-843A64BEB5D7}" srcOrd="0" destOrd="0" presId="urn:microsoft.com/office/officeart/2011/layout/CircleProcess#1"/>
    <dgm:cxn modelId="{C2A17DD9-34E7-4B0B-B241-48F4FFD9A2CD}" srcId="{10105267-0A5E-4699-856C-713EE500FBDD}" destId="{E46B51DC-FD60-41BA-A990-0A45C7E8DD28}" srcOrd="1" destOrd="0" parTransId="{8CAC0035-836A-4EE7-BEC1-566F051B9771}" sibTransId="{EA8AF4F7-4F81-4E68-9CDE-92F6D48F072B}"/>
    <dgm:cxn modelId="{F5E5F7E5-F39E-4A24-837E-9C98E42083FD}" srcId="{10105267-0A5E-4699-856C-713EE500FBDD}" destId="{7B102EAC-F662-4F7B-A6F5-F400B2A03176}" srcOrd="3" destOrd="0" parTransId="{4C1DAFF3-0F39-4EA5-91D6-46EA14141DB3}" sibTransId="{4C818E44-D2BF-40C4-8AE7-740496CA81B8}"/>
    <dgm:cxn modelId="{A6F7C5E9-77BE-4B79-B5C8-ED4ACF3B086D}" type="presOf" srcId="{4AA7C57A-1DF4-4EA0-9939-73DDE2B91007}" destId="{5B31789C-6A61-42D6-842A-E4BFC83E2CE2}" srcOrd="0" destOrd="0" presId="urn:microsoft.com/office/officeart/2011/layout/CircleProcess#1"/>
    <dgm:cxn modelId="{F0B3A0F5-668B-4D6C-89C9-34DCDFEAB03C}" type="presOf" srcId="{7D3978D5-4C6A-4621-B33D-C7D51EBE397D}" destId="{EBDCC068-49CB-4E2D-B52E-BFBE8C4C902C}" srcOrd="1" destOrd="0" presId="urn:microsoft.com/office/officeart/2011/layout/CircleProcess#1"/>
    <dgm:cxn modelId="{63110EFA-0187-4063-9B23-B2FACD66A0DF}" type="presOf" srcId="{E46B51DC-FD60-41BA-A990-0A45C7E8DD28}" destId="{4FB5D763-84B7-43F1-99A5-0D993BDF03BA}" srcOrd="1" destOrd="0" presId="urn:microsoft.com/office/officeart/2011/layout/CircleProcess#1"/>
    <dgm:cxn modelId="{C37379FF-3D69-402E-AF05-42D813F7AB70}" type="presOf" srcId="{E46B51DC-FD60-41BA-A990-0A45C7E8DD28}" destId="{69E2A38B-0923-447E-88E6-2A9B7FE36546}" srcOrd="0" destOrd="0" presId="urn:microsoft.com/office/officeart/2011/layout/CircleProcess#1"/>
    <dgm:cxn modelId="{15DD9030-59E6-4233-9849-D93AB633A01A}" type="presParOf" srcId="{AADB194A-58A4-458F-A1F6-0435F42FA03A}" destId="{E120F486-0B97-4E26-AB46-3330FB3B9370}" srcOrd="0" destOrd="0" presId="urn:microsoft.com/office/officeart/2011/layout/CircleProcess#1"/>
    <dgm:cxn modelId="{B3883373-B8DF-466D-ABA7-BECA68210E72}" type="presParOf" srcId="{E120F486-0B97-4E26-AB46-3330FB3B9370}" destId="{211F5E04-FCD1-4E78-93B5-77CF72910FBD}" srcOrd="0" destOrd="0" presId="urn:microsoft.com/office/officeart/2011/layout/CircleProcess#1"/>
    <dgm:cxn modelId="{B8F2BB9B-A60F-473E-8816-EFFFA6D03950}" type="presParOf" srcId="{AADB194A-58A4-458F-A1F6-0435F42FA03A}" destId="{40145400-E799-48B3-A19C-C944B10355DF}" srcOrd="1" destOrd="0" presId="urn:microsoft.com/office/officeart/2011/layout/CircleProcess#1"/>
    <dgm:cxn modelId="{A0591A55-A596-4FB8-A429-8E39950C1C14}" type="presParOf" srcId="{40145400-E799-48B3-A19C-C944B10355DF}" destId="{FE5238CF-31B5-4476-B955-843A64BEB5D7}" srcOrd="0" destOrd="0" presId="urn:microsoft.com/office/officeart/2011/layout/CircleProcess#1"/>
    <dgm:cxn modelId="{AF880867-D5FF-4F10-9207-46506B13C170}" type="presParOf" srcId="{AADB194A-58A4-458F-A1F6-0435F42FA03A}" destId="{EBDCC068-49CB-4E2D-B52E-BFBE8C4C902C}" srcOrd="2" destOrd="0" presId="urn:microsoft.com/office/officeart/2011/layout/CircleProcess#1"/>
    <dgm:cxn modelId="{E04CAF01-9B22-4E71-BC43-AB31C4A3D718}" type="presParOf" srcId="{AADB194A-58A4-458F-A1F6-0435F42FA03A}" destId="{97E88F06-2E6B-4017-B356-4CF714064C19}" srcOrd="3" destOrd="0" presId="urn:microsoft.com/office/officeart/2011/layout/CircleProcess#1"/>
    <dgm:cxn modelId="{0FBE8992-DDAA-42D0-83D9-C1A61FEED733}" type="presParOf" srcId="{97E88F06-2E6B-4017-B356-4CF714064C19}" destId="{75A623EA-4F0D-4A19-9194-1F5835AC8C07}" srcOrd="0" destOrd="0" presId="urn:microsoft.com/office/officeart/2011/layout/CircleProcess#1"/>
    <dgm:cxn modelId="{737B0134-73CA-4C43-953E-6DC7B4B911A0}" type="presParOf" srcId="{AADB194A-58A4-458F-A1F6-0435F42FA03A}" destId="{F04E26BF-A300-4BCA-B435-4A398437C7C7}" srcOrd="4" destOrd="0" presId="urn:microsoft.com/office/officeart/2011/layout/CircleProcess#1"/>
    <dgm:cxn modelId="{B4BECC5C-8A26-4EED-A92A-5123483F9393}" type="presParOf" srcId="{F04E26BF-A300-4BCA-B435-4A398437C7C7}" destId="{A0870987-EE29-4A9C-ABCF-6E09662FE180}" srcOrd="0" destOrd="0" presId="urn:microsoft.com/office/officeart/2011/layout/CircleProcess#1"/>
    <dgm:cxn modelId="{478B9A8D-20DE-42D9-9AAC-B1A503D18DF9}" type="presParOf" srcId="{AADB194A-58A4-458F-A1F6-0435F42FA03A}" destId="{E8B4A962-EBA0-4854-BF35-8C6C6E1586B2}" srcOrd="5" destOrd="0" presId="urn:microsoft.com/office/officeart/2011/layout/CircleProcess#1"/>
    <dgm:cxn modelId="{03B0D030-8993-4701-97B2-C810FBF40354}" type="presParOf" srcId="{AADB194A-58A4-458F-A1F6-0435F42FA03A}" destId="{3D25FE41-43D1-4467-B15A-1F6FF0B300D2}" srcOrd="6" destOrd="0" presId="urn:microsoft.com/office/officeart/2011/layout/CircleProcess#1"/>
    <dgm:cxn modelId="{C14DBE5B-03D0-4166-B0B7-36D5D92FD356}" type="presParOf" srcId="{3D25FE41-43D1-4467-B15A-1F6FF0B300D2}" destId="{D873CE6E-C80E-4D3E-9CC5-87F8AF7F395D}" srcOrd="0" destOrd="0" presId="urn:microsoft.com/office/officeart/2011/layout/CircleProcess#1"/>
    <dgm:cxn modelId="{1530BBC3-C931-4806-832C-1BDED65A0A68}" type="presParOf" srcId="{AADB194A-58A4-458F-A1F6-0435F42FA03A}" destId="{89BF3096-B2B9-4A08-8B0D-DE22E6F98F28}" srcOrd="7" destOrd="0" presId="urn:microsoft.com/office/officeart/2011/layout/CircleProcess#1"/>
    <dgm:cxn modelId="{C6D33E97-7845-44E6-B836-69C89DDA4127}" type="presParOf" srcId="{89BF3096-B2B9-4A08-8B0D-DE22E6F98F28}" destId="{BF34FEF6-8371-457D-AFFE-D2C53B3129D8}" srcOrd="0" destOrd="0" presId="urn:microsoft.com/office/officeart/2011/layout/CircleProcess#1"/>
    <dgm:cxn modelId="{3A0A0A46-94F1-400B-A113-52F54D22D141}" type="presParOf" srcId="{AADB194A-58A4-458F-A1F6-0435F42FA03A}" destId="{60DBCE4E-4479-4D62-BE87-967EF05D01AA}" srcOrd="8" destOrd="0" presId="urn:microsoft.com/office/officeart/2011/layout/CircleProcess#1"/>
    <dgm:cxn modelId="{5881D997-6292-4BCD-BC17-BFD4FAEFF015}" type="presParOf" srcId="{AADB194A-58A4-458F-A1F6-0435F42FA03A}" destId="{FC24E282-51E6-4A26-AEF6-AD1BA6CA49A7}" srcOrd="9" destOrd="0" presId="urn:microsoft.com/office/officeart/2011/layout/CircleProcess#1"/>
    <dgm:cxn modelId="{5C30EE5F-DB4A-4F88-B61B-D68D306935E4}" type="presParOf" srcId="{FC24E282-51E6-4A26-AEF6-AD1BA6CA49A7}" destId="{F3ADB6CA-7DE7-40D0-95A9-58517D7E501E}" srcOrd="0" destOrd="0" presId="urn:microsoft.com/office/officeart/2011/layout/CircleProcess#1"/>
    <dgm:cxn modelId="{F6A1A61B-0AF1-48AC-8BDD-B9B8BC108FAB}" type="presParOf" srcId="{AADB194A-58A4-458F-A1F6-0435F42FA03A}" destId="{ED9BA1D5-7613-419F-93DE-C79AA93CC206}" srcOrd="10" destOrd="0" presId="urn:microsoft.com/office/officeart/2011/layout/CircleProcess#1"/>
    <dgm:cxn modelId="{CCE8726F-0E39-4F56-BD9B-D03F1298302F}" type="presParOf" srcId="{ED9BA1D5-7613-419F-93DE-C79AA93CC206}" destId="{69E2A38B-0923-447E-88E6-2A9B7FE36546}" srcOrd="0" destOrd="0" presId="urn:microsoft.com/office/officeart/2011/layout/CircleProcess#1"/>
    <dgm:cxn modelId="{073CF446-FB6D-4F39-B945-7F99B3A868B5}" type="presParOf" srcId="{AADB194A-58A4-458F-A1F6-0435F42FA03A}" destId="{4FB5D763-84B7-43F1-99A5-0D993BDF03BA}" srcOrd="11" destOrd="0" presId="urn:microsoft.com/office/officeart/2011/layout/CircleProcess#1"/>
    <dgm:cxn modelId="{413FCE4B-BC53-4C58-B92A-4EBE155B6277}" type="presParOf" srcId="{AADB194A-58A4-458F-A1F6-0435F42FA03A}" destId="{3AE54958-4A9C-4BBE-A583-9355BEBDAB27}" srcOrd="12" destOrd="0" presId="urn:microsoft.com/office/officeart/2011/layout/CircleProcess#1"/>
    <dgm:cxn modelId="{BDD601B0-01E7-4403-AB91-D67ED90E8BBB}" type="presParOf" srcId="{3AE54958-4A9C-4BBE-A583-9355BEBDAB27}" destId="{78B8D398-112B-45C7-9CD5-F1F5841C5BD2}" srcOrd="0" destOrd="0" presId="urn:microsoft.com/office/officeart/2011/layout/CircleProcess#1"/>
    <dgm:cxn modelId="{76D7A121-BF30-437F-8432-6166206CD945}" type="presParOf" srcId="{AADB194A-58A4-458F-A1F6-0435F42FA03A}" destId="{9CE3D799-E50E-4D86-8841-AF169FB77372}" srcOrd="13" destOrd="0" presId="urn:microsoft.com/office/officeart/2011/layout/CircleProcess#1"/>
    <dgm:cxn modelId="{0B817920-692F-4987-AFC7-9F18DBF46C1A}" type="presParOf" srcId="{9CE3D799-E50E-4D86-8841-AF169FB77372}" destId="{5B31789C-6A61-42D6-842A-E4BFC83E2CE2}" srcOrd="0" destOrd="0" presId="urn:microsoft.com/office/officeart/2011/layout/CircleProcess#1"/>
    <dgm:cxn modelId="{41113B56-27BB-47AB-B62E-00F81FA8C27F}" type="presParOf" srcId="{AADB194A-58A4-458F-A1F6-0435F42FA03A}" destId="{322D5447-D85E-4940-A124-C3C213855A81}" srcOrd="14" destOrd="0" presId="urn:microsoft.com/office/officeart/2011/layout/Circle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F5E04-FCD1-4E78-93B5-77CF72910FBD}">
      <dsp:nvSpPr>
        <dsp:cNvPr id="0" name=""/>
        <dsp:cNvSpPr/>
      </dsp:nvSpPr>
      <dsp:spPr>
        <a:xfrm>
          <a:off x="7230577" y="1407913"/>
          <a:ext cx="1648689" cy="1648958"/>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FE5238CF-31B5-4476-B955-843A64BEB5D7}">
      <dsp:nvSpPr>
        <dsp:cNvPr id="0" name=""/>
        <dsp:cNvSpPr/>
      </dsp:nvSpPr>
      <dsp:spPr>
        <a:xfrm>
          <a:off x="7284978" y="1462888"/>
          <a:ext cx="1539010" cy="1539009"/>
        </a:xfrm>
        <a:prstGeom prst="ellipse">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GB" sz="1600" kern="1200"/>
            <a:t>take risks whilst seeking rewards for their ventures and efforts  </a:t>
          </a:r>
        </a:p>
      </dsp:txBody>
      <dsp:txXfrm>
        <a:off x="7505213" y="1682787"/>
        <a:ext cx="1099418" cy="1099209"/>
      </dsp:txXfrm>
    </dsp:sp>
    <dsp:sp modelId="{75A623EA-4F0D-4A19-9194-1F5835AC8C07}">
      <dsp:nvSpPr>
        <dsp:cNvPr id="0" name=""/>
        <dsp:cNvSpPr/>
      </dsp:nvSpPr>
      <dsp:spPr>
        <a:xfrm rot="2700000">
          <a:off x="5525828" y="1407998"/>
          <a:ext cx="1648498" cy="1648498"/>
        </a:xfrm>
        <a:prstGeom prst="teardrop">
          <a:avLst>
            <a:gd name="adj" fmla="val 100000"/>
          </a:avLst>
        </a:prstGeom>
        <a:gradFill rotWithShape="0">
          <a:gsLst>
            <a:gs pos="0">
              <a:schemeClr val="accent4">
                <a:hueOff val="-207771"/>
                <a:satOff val="-1332"/>
                <a:lumOff val="344"/>
                <a:alphaOff val="0"/>
                <a:shade val="51000"/>
                <a:satMod val="130000"/>
              </a:schemeClr>
            </a:gs>
            <a:gs pos="80000">
              <a:schemeClr val="accent4">
                <a:hueOff val="-207771"/>
                <a:satOff val="-1332"/>
                <a:lumOff val="344"/>
                <a:alphaOff val="0"/>
                <a:shade val="93000"/>
                <a:satMod val="130000"/>
              </a:schemeClr>
            </a:gs>
            <a:gs pos="100000">
              <a:schemeClr val="accent4">
                <a:hueOff val="-207771"/>
                <a:satOff val="-1332"/>
                <a:lumOff val="34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A0870987-EE29-4A9C-ABCF-6E09662FE180}">
      <dsp:nvSpPr>
        <dsp:cNvPr id="0" name=""/>
        <dsp:cNvSpPr/>
      </dsp:nvSpPr>
      <dsp:spPr>
        <a:xfrm>
          <a:off x="5581888" y="1462888"/>
          <a:ext cx="1539010" cy="1539009"/>
        </a:xfrm>
        <a:prstGeom prst="ellipse">
          <a:avLst/>
        </a:prstGeom>
        <a:solidFill>
          <a:schemeClr val="lt1">
            <a:alpha val="90000"/>
            <a:hueOff val="0"/>
            <a:satOff val="0"/>
            <a:lumOff val="0"/>
            <a:alphaOff val="0"/>
          </a:schemeClr>
        </a:solidFill>
        <a:ln w="9525" cap="flat" cmpd="sng" algn="ctr">
          <a:solidFill>
            <a:schemeClr val="accent4">
              <a:hueOff val="-207771"/>
              <a:satOff val="-1332"/>
              <a:lumOff val="344"/>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GB" sz="1600" kern="1200"/>
            <a:t>create value through multiple stakeholders and resources</a:t>
          </a:r>
        </a:p>
      </dsp:txBody>
      <dsp:txXfrm>
        <a:off x="5801245" y="1682787"/>
        <a:ext cx="1099418" cy="1099209"/>
      </dsp:txXfrm>
    </dsp:sp>
    <dsp:sp modelId="{D873CE6E-C80E-4D3E-9CC5-87F8AF7F395D}">
      <dsp:nvSpPr>
        <dsp:cNvPr id="0" name=""/>
        <dsp:cNvSpPr/>
      </dsp:nvSpPr>
      <dsp:spPr>
        <a:xfrm rot="2700000">
          <a:off x="3822738" y="1407998"/>
          <a:ext cx="1648498" cy="1648498"/>
        </a:xfrm>
        <a:prstGeom prst="teardrop">
          <a:avLst>
            <a:gd name="adj" fmla="val 100000"/>
          </a:avLst>
        </a:prstGeom>
        <a:gradFill rotWithShape="0">
          <a:gsLst>
            <a:gs pos="0">
              <a:schemeClr val="accent4">
                <a:hueOff val="-415542"/>
                <a:satOff val="-2665"/>
                <a:lumOff val="687"/>
                <a:alphaOff val="0"/>
                <a:shade val="51000"/>
                <a:satMod val="130000"/>
              </a:schemeClr>
            </a:gs>
            <a:gs pos="80000">
              <a:schemeClr val="accent4">
                <a:hueOff val="-415542"/>
                <a:satOff val="-2665"/>
                <a:lumOff val="687"/>
                <a:alphaOff val="0"/>
                <a:shade val="93000"/>
                <a:satMod val="130000"/>
              </a:schemeClr>
            </a:gs>
            <a:gs pos="100000">
              <a:schemeClr val="accent4">
                <a:hueOff val="-415542"/>
                <a:satOff val="-2665"/>
                <a:lumOff val="68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BF34FEF6-8371-457D-AFFE-D2C53B3129D8}">
      <dsp:nvSpPr>
        <dsp:cNvPr id="0" name=""/>
        <dsp:cNvSpPr/>
      </dsp:nvSpPr>
      <dsp:spPr>
        <a:xfrm>
          <a:off x="3877921" y="1462888"/>
          <a:ext cx="1539010" cy="1539009"/>
        </a:xfrm>
        <a:prstGeom prst="ellipse">
          <a:avLst/>
        </a:prstGeom>
        <a:solidFill>
          <a:schemeClr val="lt1">
            <a:alpha val="90000"/>
            <a:hueOff val="0"/>
            <a:satOff val="0"/>
            <a:lumOff val="0"/>
            <a:alphaOff val="0"/>
          </a:schemeClr>
        </a:solidFill>
        <a:ln w="9525" cap="flat" cmpd="sng" algn="ctr">
          <a:solidFill>
            <a:schemeClr val="accent4">
              <a:hueOff val="-415542"/>
              <a:satOff val="-2665"/>
              <a:lumOff val="68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GB" sz="1600" kern="1200"/>
            <a:t>transform the opportunities into merchandisable concepts</a:t>
          </a:r>
        </a:p>
      </dsp:txBody>
      <dsp:txXfrm>
        <a:off x="4097278" y="1682787"/>
        <a:ext cx="1099418" cy="1099209"/>
      </dsp:txXfrm>
    </dsp:sp>
    <dsp:sp modelId="{F3ADB6CA-7DE7-40D0-95A9-58517D7E501E}">
      <dsp:nvSpPr>
        <dsp:cNvPr id="0" name=""/>
        <dsp:cNvSpPr/>
      </dsp:nvSpPr>
      <dsp:spPr>
        <a:xfrm rot="2700000">
          <a:off x="2118771" y="1407998"/>
          <a:ext cx="1648498" cy="1648498"/>
        </a:xfrm>
        <a:prstGeom prst="teardrop">
          <a:avLst>
            <a:gd name="adj" fmla="val 100000"/>
          </a:avLst>
        </a:prstGeom>
        <a:gradFill rotWithShape="0">
          <a:gsLst>
            <a:gs pos="0">
              <a:schemeClr val="accent4">
                <a:hueOff val="-623314"/>
                <a:satOff val="-3997"/>
                <a:lumOff val="1031"/>
                <a:alphaOff val="0"/>
                <a:shade val="51000"/>
                <a:satMod val="130000"/>
              </a:schemeClr>
            </a:gs>
            <a:gs pos="80000">
              <a:schemeClr val="accent4">
                <a:hueOff val="-623314"/>
                <a:satOff val="-3997"/>
                <a:lumOff val="1031"/>
                <a:alphaOff val="0"/>
                <a:shade val="93000"/>
                <a:satMod val="130000"/>
              </a:schemeClr>
            </a:gs>
            <a:gs pos="100000">
              <a:schemeClr val="accent4">
                <a:hueOff val="-623314"/>
                <a:satOff val="-3997"/>
                <a:lumOff val="103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69E2A38B-0923-447E-88E6-2A9B7FE36546}">
      <dsp:nvSpPr>
        <dsp:cNvPr id="0" name=""/>
        <dsp:cNvSpPr/>
      </dsp:nvSpPr>
      <dsp:spPr>
        <a:xfrm>
          <a:off x="2173954" y="1462888"/>
          <a:ext cx="1539010" cy="1539009"/>
        </a:xfrm>
        <a:prstGeom prst="ellipse">
          <a:avLst/>
        </a:prstGeom>
        <a:solidFill>
          <a:schemeClr val="lt1">
            <a:alpha val="90000"/>
            <a:hueOff val="0"/>
            <a:satOff val="0"/>
            <a:lumOff val="0"/>
            <a:alphaOff val="0"/>
          </a:schemeClr>
        </a:solidFill>
        <a:ln w="9525" cap="flat" cmpd="sng" algn="ctr">
          <a:solidFill>
            <a:schemeClr val="accent4">
              <a:hueOff val="-623314"/>
              <a:satOff val="-3997"/>
              <a:lumOff val="1031"/>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GB" sz="1600" kern="1200"/>
            <a:t>innovators or developers who identify and capture opportunities </a:t>
          </a:r>
        </a:p>
      </dsp:txBody>
      <dsp:txXfrm>
        <a:off x="2394188" y="1682787"/>
        <a:ext cx="1099418" cy="1099209"/>
      </dsp:txXfrm>
    </dsp:sp>
    <dsp:sp modelId="{78B8D398-112B-45C7-9CD5-F1F5841C5BD2}">
      <dsp:nvSpPr>
        <dsp:cNvPr id="0" name=""/>
        <dsp:cNvSpPr/>
      </dsp:nvSpPr>
      <dsp:spPr>
        <a:xfrm rot="2700000">
          <a:off x="414804" y="1407998"/>
          <a:ext cx="1648498" cy="1648498"/>
        </a:xfrm>
        <a:prstGeom prst="teardrop">
          <a:avLst>
            <a:gd name="adj" fmla="val 100000"/>
          </a:avLst>
        </a:prstGeom>
        <a:gradFill rotWithShape="0">
          <a:gsLst>
            <a:gs pos="0">
              <a:schemeClr val="accent4">
                <a:hueOff val="-831085"/>
                <a:satOff val="-5329"/>
                <a:lumOff val="1374"/>
                <a:alphaOff val="0"/>
                <a:shade val="51000"/>
                <a:satMod val="130000"/>
              </a:schemeClr>
            </a:gs>
            <a:gs pos="80000">
              <a:schemeClr val="accent4">
                <a:hueOff val="-831085"/>
                <a:satOff val="-5329"/>
                <a:lumOff val="1374"/>
                <a:alphaOff val="0"/>
                <a:shade val="93000"/>
                <a:satMod val="130000"/>
              </a:schemeClr>
            </a:gs>
            <a:gs pos="100000">
              <a:schemeClr val="accent4">
                <a:hueOff val="-831085"/>
                <a:satOff val="-5329"/>
                <a:lumOff val="137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5B31789C-6A61-42D6-842A-E4BFC83E2CE2}">
      <dsp:nvSpPr>
        <dsp:cNvPr id="0" name=""/>
        <dsp:cNvSpPr/>
      </dsp:nvSpPr>
      <dsp:spPr>
        <a:xfrm>
          <a:off x="237257" y="1444727"/>
          <a:ext cx="1539010" cy="1539009"/>
        </a:xfrm>
        <a:prstGeom prst="ellipse">
          <a:avLst/>
        </a:prstGeom>
        <a:solidFill>
          <a:schemeClr val="lt1">
            <a:alpha val="90000"/>
            <a:hueOff val="0"/>
            <a:satOff val="0"/>
            <a:lumOff val="0"/>
            <a:alphaOff val="0"/>
          </a:schemeClr>
        </a:solidFill>
        <a:ln w="9525" cap="flat" cmpd="sng" algn="ctr">
          <a:solidFill>
            <a:schemeClr val="accent4">
              <a:hueOff val="-831085"/>
              <a:satOff val="-5329"/>
              <a:lumOff val="1374"/>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GB" sz="1800" kern="1200"/>
            <a:t>In contemporary markets, entrepreneur act as:</a:t>
          </a:r>
        </a:p>
      </dsp:txBody>
      <dsp:txXfrm>
        <a:off x="457492" y="1664627"/>
        <a:ext cx="1099418" cy="1099209"/>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1">
  <dgm:title val="Processus circulaire"/>
  <dgm:desc val="Permet de représenter des étapes séquentielles dans un processus. Limité à onze formes Niveau 1 avec un nombre illimité de formes Niveau 2. Utilisation optimale avec de petites quantités de texte. Le texte non utilisé n’apparaît pas mais reste disponible si vous changez de disposition."/>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12-Aug-25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3153267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12-Aug-25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41771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455671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56469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0318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7171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01875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99060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a:p>
        </p:txBody>
      </p:sp>
    </p:spTree>
    <p:extLst>
      <p:ext uri="{BB962C8B-B14F-4D97-AF65-F5344CB8AC3E}">
        <p14:creationId xmlns:p14="http://schemas.microsoft.com/office/powerpoint/2010/main" val="2345233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extLst>
      <p:ext uri="{BB962C8B-B14F-4D97-AF65-F5344CB8AC3E}">
        <p14:creationId xmlns:p14="http://schemas.microsoft.com/office/powerpoint/2010/main" val="4292309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a:t>
            </a:fld>
            <a:endParaRPr lang="en-US"/>
          </a:p>
        </p:txBody>
      </p:sp>
    </p:spTree>
    <p:extLst>
      <p:ext uri="{BB962C8B-B14F-4D97-AF65-F5344CB8AC3E}">
        <p14:creationId xmlns:p14="http://schemas.microsoft.com/office/powerpoint/2010/main" val="2679105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a:p>
        </p:txBody>
      </p:sp>
    </p:spTree>
    <p:extLst>
      <p:ext uri="{BB962C8B-B14F-4D97-AF65-F5344CB8AC3E}">
        <p14:creationId xmlns:p14="http://schemas.microsoft.com/office/powerpoint/2010/main" val="3535729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41</a:t>
            </a:fld>
            <a:endParaRPr lang="en-US"/>
          </a:p>
        </p:txBody>
      </p:sp>
    </p:spTree>
    <p:extLst>
      <p:ext uri="{BB962C8B-B14F-4D97-AF65-F5344CB8AC3E}">
        <p14:creationId xmlns:p14="http://schemas.microsoft.com/office/powerpoint/2010/main" val="3204163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a:t>https://studiousguy.com/entrepreneurship-and-entrepreneurial-traits/</a:t>
            </a:r>
          </a:p>
          <a:p>
            <a:endParaRPr lang="en-IN"/>
          </a:p>
        </p:txBody>
      </p:sp>
      <p:sp>
        <p:nvSpPr>
          <p:cNvPr id="4" name="Slide Number Placeholder 3"/>
          <p:cNvSpPr>
            <a:spLocks noGrp="1"/>
          </p:cNvSpPr>
          <p:nvPr>
            <p:ph type="sldNum" sz="quarter" idx="5"/>
          </p:nvPr>
        </p:nvSpPr>
        <p:spPr/>
        <p:txBody>
          <a:bodyPr/>
          <a:lstStyle/>
          <a:p>
            <a:fld id="{1635F52E-BA8C-4FAB-BCFA-C67A14D9CE22}" type="slidenum">
              <a:rPr lang="en-US" smtClean="0"/>
              <a:pPr/>
              <a:t>44</a:t>
            </a:fld>
            <a:endParaRPr lang="en-US"/>
          </a:p>
        </p:txBody>
      </p:sp>
    </p:spTree>
    <p:extLst>
      <p:ext uri="{BB962C8B-B14F-4D97-AF65-F5344CB8AC3E}">
        <p14:creationId xmlns:p14="http://schemas.microsoft.com/office/powerpoint/2010/main" val="1635832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a:t>https://barrazacarlos.com/what-is-entrepreneurial-culture/</a:t>
            </a:r>
          </a:p>
        </p:txBody>
      </p:sp>
      <p:sp>
        <p:nvSpPr>
          <p:cNvPr id="4" name="Slide Number Placeholder 3"/>
          <p:cNvSpPr>
            <a:spLocks noGrp="1"/>
          </p:cNvSpPr>
          <p:nvPr>
            <p:ph type="sldNum" sz="quarter" idx="5"/>
          </p:nvPr>
        </p:nvSpPr>
        <p:spPr/>
        <p:txBody>
          <a:bodyPr/>
          <a:lstStyle/>
          <a:p>
            <a:fld id="{1635F52E-BA8C-4FAB-BCFA-C67A14D9CE22}" type="slidenum">
              <a:rPr lang="en-US" smtClean="0"/>
              <a:pPr/>
              <a:t>46</a:t>
            </a:fld>
            <a:endParaRPr lang="en-US"/>
          </a:p>
        </p:txBody>
      </p:sp>
    </p:spTree>
    <p:extLst>
      <p:ext uri="{BB962C8B-B14F-4D97-AF65-F5344CB8AC3E}">
        <p14:creationId xmlns:p14="http://schemas.microsoft.com/office/powerpoint/2010/main" val="340944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68</a:t>
            </a:fld>
            <a:endParaRPr lang="en-US"/>
          </a:p>
        </p:txBody>
      </p:sp>
    </p:spTree>
    <p:extLst>
      <p:ext uri="{BB962C8B-B14F-4D97-AF65-F5344CB8AC3E}">
        <p14:creationId xmlns:p14="http://schemas.microsoft.com/office/powerpoint/2010/main" val="32041631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35F52E-BA8C-4FAB-BCFA-C67A14D9CE22}" type="slidenum">
              <a:rPr lang="en-US" smtClean="0"/>
              <a:pPr/>
              <a:t>95</a:t>
            </a:fld>
            <a:endParaRPr lang="en-US"/>
          </a:p>
        </p:txBody>
      </p:sp>
    </p:spTree>
    <p:extLst>
      <p:ext uri="{BB962C8B-B14F-4D97-AF65-F5344CB8AC3E}">
        <p14:creationId xmlns:p14="http://schemas.microsoft.com/office/powerpoint/2010/main" val="4139105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F5C9F5C-B1BA-4E3C-9865-449605F734D5}" type="datetime1">
              <a:rPr lang="en-US" smtClean="0"/>
              <a:pPr/>
              <a:t>12-Aug-25</a:t>
            </a:fld>
            <a:endParaRPr lang="en-US"/>
          </a:p>
        </p:txBody>
      </p:sp>
      <p:sp>
        <p:nvSpPr>
          <p:cNvPr id="5" name="Footer Placeholder 4"/>
          <p:cNvSpPr>
            <a:spLocks noGrp="1"/>
          </p:cNvSpPr>
          <p:nvPr>
            <p:ph type="ftr" sz="quarter" idx="11"/>
          </p:nvPr>
        </p:nvSpPr>
        <p:spPr/>
        <p:txBody>
          <a:bodyPr/>
          <a:lstStyle/>
          <a:p>
            <a:r>
              <a:rPr lang="en-US" err="1"/>
              <a:t>Vijaylaxmi</a:t>
            </a:r>
            <a:r>
              <a:rPr lang="en-US"/>
              <a:t>          AEO0771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04235"/>
            <a:ext cx="3970784" cy="417242"/>
          </a:xfrm>
        </p:spPr>
        <p:txBody>
          <a:bodyPr/>
          <a:lstStyle/>
          <a:p>
            <a:fld id="{679DEAA7-C1ED-41FE-BF26-BEE4A56DA3E7}" type="datetime1">
              <a:rPr lang="en-US" smtClean="0"/>
              <a:pPr/>
              <a:t>12-Aug-25</a:t>
            </a:fld>
            <a:r>
              <a:rPr lang="en-US" dirty="0"/>
              <a:t>                                                                         AOE0771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784" y="-16621"/>
            <a:ext cx="1532880" cy="92534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37463C-BC1E-4813-AF81-75FD3DAC52C9}" type="datetime1">
              <a:rPr lang="en-US" smtClean="0"/>
              <a:pPr/>
              <a:t>12-Aug-25</a:t>
            </a:fld>
            <a:endParaRPr lang="en-US"/>
          </a:p>
        </p:txBody>
      </p:sp>
      <p:sp>
        <p:nvSpPr>
          <p:cNvPr id="5" name="Footer Placeholder 4"/>
          <p:cNvSpPr>
            <a:spLocks noGrp="1"/>
          </p:cNvSpPr>
          <p:nvPr>
            <p:ph type="ftr" sz="quarter" idx="11"/>
          </p:nvPr>
        </p:nvSpPr>
        <p:spPr/>
        <p:txBody>
          <a:bodyPr/>
          <a:lstStyle/>
          <a:p>
            <a:r>
              <a:rPr lang="en-US" err="1"/>
              <a:t>Vijaylaxmi</a:t>
            </a:r>
            <a:r>
              <a:rPr lang="en-US"/>
              <a:t>          AEO0071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50"/>
            <a:ext cx="2209800" cy="10779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8A9E6D-A934-4F14-834C-7B695F609F89}" type="datetime1">
              <a:rPr lang="en-US" smtClean="0"/>
              <a:pPr/>
              <a:t>12-Aug-25</a:t>
            </a:fld>
            <a:endParaRPr lang="en-US"/>
          </a:p>
        </p:txBody>
      </p:sp>
      <p:sp>
        <p:nvSpPr>
          <p:cNvPr id="6" name="Footer Placeholder 5"/>
          <p:cNvSpPr>
            <a:spLocks noGrp="1"/>
          </p:cNvSpPr>
          <p:nvPr>
            <p:ph type="ftr" sz="quarter" idx="11"/>
          </p:nvPr>
        </p:nvSpPr>
        <p:spPr/>
        <p:txBody>
          <a:bodyPr/>
          <a:lstStyle/>
          <a:p>
            <a:r>
              <a:rPr lang="en-US" err="1"/>
              <a:t>Vijaylaxmi</a:t>
            </a:r>
            <a:r>
              <a:rPr lang="en-US"/>
              <a:t>          AEO0771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50"/>
            <a:ext cx="2209800" cy="107790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72CAF1-BA18-4D0A-B47E-AA03C3D2037B}" type="datetime1">
              <a:rPr lang="en-US" smtClean="0"/>
              <a:pPr/>
              <a:t>12-Aug-25</a:t>
            </a:fld>
            <a:endParaRPr lang="en-US"/>
          </a:p>
        </p:txBody>
      </p:sp>
      <p:sp>
        <p:nvSpPr>
          <p:cNvPr id="8" name="Footer Placeholder 7"/>
          <p:cNvSpPr>
            <a:spLocks noGrp="1"/>
          </p:cNvSpPr>
          <p:nvPr>
            <p:ph type="ftr" sz="quarter" idx="11"/>
          </p:nvPr>
        </p:nvSpPr>
        <p:spPr/>
        <p:txBody>
          <a:bodyPr/>
          <a:lstStyle/>
          <a:p>
            <a:r>
              <a:rPr lang="en-US" err="1"/>
              <a:t>Vijaylaxmi</a:t>
            </a:r>
            <a:r>
              <a:rPr lang="en-US"/>
              <a:t>         Aeo0771              Unit 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398472"/>
            <a:ext cx="2209800" cy="107790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6C60AF7-2A79-4D0F-9759-0A30014FD349}" type="datetime1">
              <a:rPr lang="en-US" smtClean="0"/>
              <a:pPr/>
              <a:t>12-Aug-25</a:t>
            </a:fld>
            <a:endParaRPr lang="en-US"/>
          </a:p>
        </p:txBody>
      </p:sp>
      <p:sp>
        <p:nvSpPr>
          <p:cNvPr id="4" name="Footer Placeholder 3"/>
          <p:cNvSpPr>
            <a:spLocks noGrp="1"/>
          </p:cNvSpPr>
          <p:nvPr>
            <p:ph type="ftr" sz="quarter" idx="11"/>
          </p:nvPr>
        </p:nvSpPr>
        <p:spPr/>
        <p:txBody>
          <a:bodyPr/>
          <a:lstStyle/>
          <a:p>
            <a:r>
              <a:rPr lang="en-US" err="1"/>
              <a:t>Vijaylaxmi</a:t>
            </a:r>
            <a:r>
              <a:rPr lang="en-US"/>
              <a:t>         AEO0771          Unit 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6" name="Picture 5"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2" y="61129"/>
            <a:ext cx="1258524" cy="78500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B8384B-E955-4436-B51E-FDDE6F26B267}" type="datetime1">
              <a:rPr lang="en-US" smtClean="0"/>
              <a:pPr/>
              <a:t>12-Aug-25</a:t>
            </a:fld>
            <a:endParaRPr lang="en-US"/>
          </a:p>
        </p:txBody>
      </p:sp>
      <p:sp>
        <p:nvSpPr>
          <p:cNvPr id="3" name="Footer Placeholder 2"/>
          <p:cNvSpPr>
            <a:spLocks noGrp="1"/>
          </p:cNvSpPr>
          <p:nvPr>
            <p:ph type="ftr" sz="quarter" idx="11"/>
          </p:nvPr>
        </p:nvSpPr>
        <p:spPr/>
        <p:txBody>
          <a:bodyPr/>
          <a:lstStyle/>
          <a:p>
            <a:r>
              <a:rPr lang="en-US" err="1"/>
              <a:t>Vijaylaxmi</a:t>
            </a:r>
            <a:r>
              <a:rPr lang="en-US"/>
              <a:t>          AEO0771               Unit 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5" name="Picture 4"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475656" cy="90806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AF8033-27AE-4949-A7EA-9B1B30F63AE6}" type="datetime1">
              <a:rPr lang="en-US" smtClean="0"/>
              <a:pPr/>
              <a:t>12-Aug-25</a:t>
            </a:fld>
            <a:endParaRPr lang="en-US"/>
          </a:p>
        </p:txBody>
      </p:sp>
      <p:sp>
        <p:nvSpPr>
          <p:cNvPr id="6" name="Footer Placeholder 5"/>
          <p:cNvSpPr>
            <a:spLocks noGrp="1"/>
          </p:cNvSpPr>
          <p:nvPr>
            <p:ph type="ftr" sz="quarter" idx="11"/>
          </p:nvPr>
        </p:nvSpPr>
        <p:spPr/>
        <p:txBody>
          <a:bodyPr/>
          <a:lstStyle/>
          <a:p>
            <a:r>
              <a:rPr lang="en-US" err="1"/>
              <a:t>Vijaylaxmi</a:t>
            </a:r>
            <a:r>
              <a:rPr lang="en-US"/>
              <a:t>          AEO0771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547664" cy="90806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AB3966-3186-4885-80B9-1B0DA1125617}" type="datetime1">
              <a:rPr lang="en-US" smtClean="0"/>
              <a:pPr/>
              <a:t>12-Aug-25</a:t>
            </a:fld>
            <a:endParaRPr lang="en-US"/>
          </a:p>
        </p:txBody>
      </p:sp>
      <p:sp>
        <p:nvSpPr>
          <p:cNvPr id="6" name="Footer Placeholder 5"/>
          <p:cNvSpPr>
            <a:spLocks noGrp="1"/>
          </p:cNvSpPr>
          <p:nvPr>
            <p:ph type="ftr" sz="quarter" idx="11"/>
          </p:nvPr>
        </p:nvSpPr>
        <p:spPr/>
        <p:txBody>
          <a:bodyPr/>
          <a:lstStyle/>
          <a:p>
            <a:r>
              <a:rPr lang="en-US" err="1"/>
              <a:t>Vijaylaxmi</a:t>
            </a:r>
            <a:r>
              <a:rPr lang="en-US"/>
              <a:t>          AEO0771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403648" cy="83605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AE0191-578C-4544-8065-6217504B47FA}" type="datetime1">
              <a:rPr lang="en-US" smtClean="0"/>
              <a:pPr/>
              <a:t>12-Aug-25</a:t>
            </a:fld>
            <a:endParaRPr lang="en-US"/>
          </a:p>
        </p:txBody>
      </p:sp>
      <p:sp>
        <p:nvSpPr>
          <p:cNvPr id="5" name="Footer Placeholder 4"/>
          <p:cNvSpPr>
            <a:spLocks noGrp="1"/>
          </p:cNvSpPr>
          <p:nvPr>
            <p:ph type="ftr" sz="quarter" idx="11"/>
          </p:nvPr>
        </p:nvSpPr>
        <p:spPr/>
        <p:txBody>
          <a:bodyPr/>
          <a:lstStyle/>
          <a:p>
            <a:r>
              <a:rPr lang="en-US" err="1"/>
              <a:t>Vijaylaxmi</a:t>
            </a:r>
            <a:r>
              <a:rPr lang="en-US"/>
              <a:t>          AEO0771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547664" cy="83605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24EA6C-C40A-41EE-950C-9101FE6E0882}" type="datetime1">
              <a:rPr lang="en-US" smtClean="0"/>
              <a:pPr/>
              <a:t>12-Aug-25</a:t>
            </a:fld>
            <a:endParaRPr lang="en-US"/>
          </a:p>
        </p:txBody>
      </p:sp>
      <p:sp>
        <p:nvSpPr>
          <p:cNvPr id="5" name="Footer Placeholder 4"/>
          <p:cNvSpPr>
            <a:spLocks noGrp="1"/>
          </p:cNvSpPr>
          <p:nvPr>
            <p:ph type="ftr" sz="quarter" idx="11"/>
          </p:nvPr>
        </p:nvSpPr>
        <p:spPr/>
        <p:txBody>
          <a:bodyPr/>
          <a:lstStyle/>
          <a:p>
            <a:r>
              <a:rPr lang="en-US" err="1"/>
              <a:t>Vijaylaxmi</a:t>
            </a:r>
            <a:r>
              <a:rPr lang="en-US"/>
              <a:t>          AEO0071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259632" cy="76404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4F704-8131-BB74-E063-2CADEE474C59}"/>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19DBCA-4ECF-5437-A425-0E7333ED0CB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5AD8C6-E5AE-038B-3C4F-01460F0A99AB}"/>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5" name="Footer Placeholder 4">
            <a:extLst>
              <a:ext uri="{FF2B5EF4-FFF2-40B4-BE49-F238E27FC236}">
                <a16:creationId xmlns:a16="http://schemas.microsoft.com/office/drawing/2014/main" id="{61BE3936-BC73-F2EB-A0D5-B7BE78A534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B08986-F645-95ED-B2C4-70EE6094AEFA}"/>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827948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B41CB-2463-0E30-9F08-B3FA97E8DC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83B6CC-DB19-2EC3-45B0-D4E30ECCE2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C0DF5A-41B0-B5F4-1FE8-1EA15CAAC539}"/>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5" name="Footer Placeholder 4">
            <a:extLst>
              <a:ext uri="{FF2B5EF4-FFF2-40B4-BE49-F238E27FC236}">
                <a16:creationId xmlns:a16="http://schemas.microsoft.com/office/drawing/2014/main" id="{DF289797-3692-C683-3729-5F023FF091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5496C6-7657-C32B-6556-16CDBFDD721D}"/>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3679553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780DA-2458-CD5F-1445-B2E9721D811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95248D-A63A-BF5A-A3E5-C87F635734F4}"/>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D8718D-48DB-1CE8-1D73-3B695FBF0CE9}"/>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5" name="Footer Placeholder 4">
            <a:extLst>
              <a:ext uri="{FF2B5EF4-FFF2-40B4-BE49-F238E27FC236}">
                <a16:creationId xmlns:a16="http://schemas.microsoft.com/office/drawing/2014/main" id="{2982C0E7-7E60-73E2-4A54-BEE7D3D2C0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32126E-A835-3BD5-3FDB-C43C8C041518}"/>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10465899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B5EF-B107-96ED-70F7-6185197076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7AAB1B-B3F8-3FD2-226F-51EE74562C71}"/>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7FDFC0B-BA92-4A51-9EEE-AE732B3B502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32461B-464B-F271-D04A-8CE85D2807A6}"/>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6" name="Footer Placeholder 5">
            <a:extLst>
              <a:ext uri="{FF2B5EF4-FFF2-40B4-BE49-F238E27FC236}">
                <a16:creationId xmlns:a16="http://schemas.microsoft.com/office/drawing/2014/main" id="{E8F8C21B-B56E-5218-2B41-263D1E3DE2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18F4A4-BB1E-A388-09B6-CD737A0A4C7D}"/>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1469313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74EB5-A115-E2B9-18C9-515E5B840A93}"/>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66D82D-1CEC-1090-19DA-D9607D7F1843}"/>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82C1C6-ABEC-40F9-4725-2CE852FB3C77}"/>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5F16B11-189C-E0ED-A20E-1D55B2D78FC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0638D2-6BB5-C604-9917-0508381124C8}"/>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B173EE-887A-9194-5F99-6CFB088A8736}"/>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8" name="Footer Placeholder 7">
            <a:extLst>
              <a:ext uri="{FF2B5EF4-FFF2-40B4-BE49-F238E27FC236}">
                <a16:creationId xmlns:a16="http://schemas.microsoft.com/office/drawing/2014/main" id="{2BDC9CF8-9634-D5FB-C7E0-5BA3CC6AD7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55E823-02F4-3027-18A0-97BAE68A1FF9}"/>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2402635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73C4C-21EE-1D0E-ADCA-4950019CAF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638A28-5617-9856-0800-429C0C582315}"/>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4" name="Footer Placeholder 3">
            <a:extLst>
              <a:ext uri="{FF2B5EF4-FFF2-40B4-BE49-F238E27FC236}">
                <a16:creationId xmlns:a16="http://schemas.microsoft.com/office/drawing/2014/main" id="{90F245DF-E305-DDCC-697F-B9DD716DB15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26431E-8BB6-669F-BD0F-A76BC6CDE933}"/>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32331404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27C72D-2047-B62D-D10F-B9A38DDAA6F6}"/>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3" name="Footer Placeholder 2">
            <a:extLst>
              <a:ext uri="{FF2B5EF4-FFF2-40B4-BE49-F238E27FC236}">
                <a16:creationId xmlns:a16="http://schemas.microsoft.com/office/drawing/2014/main" id="{F62D17C0-7462-DDAC-B35D-3406B10E80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6F0FE6-6370-AE89-85B6-56F0AC6F1684}"/>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3418859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CB661-B695-CCBD-8161-416982AAFEB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54FC52-FBAA-EA2A-38A1-53034748205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36EB73-078A-1BC4-7471-1B7DBB7BCD9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513814-17AC-2B68-E10F-2566980415E5}"/>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6" name="Footer Placeholder 5">
            <a:extLst>
              <a:ext uri="{FF2B5EF4-FFF2-40B4-BE49-F238E27FC236}">
                <a16:creationId xmlns:a16="http://schemas.microsoft.com/office/drawing/2014/main" id="{ADEDD120-D43C-DC13-EAFE-4A285BD572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81940E-9943-269B-FCEF-7E8691A5D90A}"/>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7594368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19BBC-824D-F806-4C41-039E09955DF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848E46C-4315-FB44-AE64-503B8051973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9E85E8-0621-BC8D-36A1-1C85D3C4B81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66287-80EB-AEB1-2585-195674FE85E1}"/>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6" name="Footer Placeholder 5">
            <a:extLst>
              <a:ext uri="{FF2B5EF4-FFF2-40B4-BE49-F238E27FC236}">
                <a16:creationId xmlns:a16="http://schemas.microsoft.com/office/drawing/2014/main" id="{366F1996-602F-5F2E-F56C-8F1652E4B4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9BC0FB-E5A1-3642-E471-09D97BB2AF3A}"/>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39877395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14D91-E8D8-A87D-D4F5-31C3ED5DD9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5099D7-5246-92AB-5CA1-70A7A87A3B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F0A418-C072-CCB7-DE7F-44F3AC6E6662}"/>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5" name="Footer Placeholder 4">
            <a:extLst>
              <a:ext uri="{FF2B5EF4-FFF2-40B4-BE49-F238E27FC236}">
                <a16:creationId xmlns:a16="http://schemas.microsoft.com/office/drawing/2014/main" id="{D259112E-6573-BF99-0FF5-369D347523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469F9E-958D-E6A3-D354-4D3B2DCB214E}"/>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28376510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DF35FF-4EF6-7BB5-9E13-EC7376AFEF89}"/>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AD68F-D86C-88E4-2F32-3E0D313AC765}"/>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FB21D2-6716-CBB1-03AD-D2EDDDE03C3B}"/>
              </a:ext>
            </a:extLst>
          </p:cNvPr>
          <p:cNvSpPr>
            <a:spLocks noGrp="1"/>
          </p:cNvSpPr>
          <p:nvPr>
            <p:ph type="dt" sz="half" idx="10"/>
          </p:nvPr>
        </p:nvSpPr>
        <p:spPr/>
        <p:txBody>
          <a:bodyPr/>
          <a:lstStyle/>
          <a:p>
            <a:fld id="{4DA1C233-A792-4305-8D2E-805021AB3DD3}" type="datetimeFigureOut">
              <a:rPr lang="en-IN" smtClean="0"/>
              <a:pPr/>
              <a:t>12-08-2025</a:t>
            </a:fld>
            <a:endParaRPr lang="en-IN"/>
          </a:p>
        </p:txBody>
      </p:sp>
      <p:sp>
        <p:nvSpPr>
          <p:cNvPr id="5" name="Footer Placeholder 4">
            <a:extLst>
              <a:ext uri="{FF2B5EF4-FFF2-40B4-BE49-F238E27FC236}">
                <a16:creationId xmlns:a16="http://schemas.microsoft.com/office/drawing/2014/main" id="{BA4BAD61-9CFA-3068-3B07-9A6B911E6A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C44D00-608D-E849-D23E-995446EED7A3}"/>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2454069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9.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9A981B-641B-450E-AA2F-93F27D30FC1A}" type="datetime1">
              <a:rPr lang="en-US" smtClean="0"/>
              <a:pPr/>
              <a:t>12-Aug-25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err="1"/>
              <a:t>Vijaylaxmi</a:t>
            </a:r>
            <a:r>
              <a:rPr lang="en-US"/>
              <a:t>          AEO0771        Unit 1</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D4E94A-9D5E-7370-91CF-66A2744D5D1B}"/>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4927B-DC14-517C-9FAF-D7AD724531C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6FE068-7B22-65C9-6858-840EE8F4BAA1}"/>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A1C233-A792-4305-8D2E-805021AB3DD3}" type="datetimeFigureOut">
              <a:rPr lang="en-IN" smtClean="0"/>
              <a:pPr/>
              <a:t>12-08-2025</a:t>
            </a:fld>
            <a:endParaRPr lang="en-IN"/>
          </a:p>
        </p:txBody>
      </p:sp>
      <p:sp>
        <p:nvSpPr>
          <p:cNvPr id="5" name="Footer Placeholder 4">
            <a:extLst>
              <a:ext uri="{FF2B5EF4-FFF2-40B4-BE49-F238E27FC236}">
                <a16:creationId xmlns:a16="http://schemas.microsoft.com/office/drawing/2014/main" id="{896A07EF-F405-8927-81E2-79584A8277E4}"/>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err="1"/>
              <a:t>Vijaylaxmi</a:t>
            </a:r>
            <a:r>
              <a:rPr lang="en-US"/>
              <a:t>          AOE0771  UNIT 1</a:t>
            </a:r>
            <a:endParaRPr lang="en-IN"/>
          </a:p>
        </p:txBody>
      </p:sp>
      <p:sp>
        <p:nvSpPr>
          <p:cNvPr id="6" name="Slide Number Placeholder 5">
            <a:extLst>
              <a:ext uri="{FF2B5EF4-FFF2-40B4-BE49-F238E27FC236}">
                <a16:creationId xmlns:a16="http://schemas.microsoft.com/office/drawing/2014/main" id="{069506F2-A23F-819C-AFB3-16DECB4B7F0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B71B0E-DB0D-4548-A4D3-F779AEE91DE8}" type="slidenum">
              <a:rPr lang="en-IN" smtClean="0"/>
              <a:pPr/>
              <a:t>‹#›</a:t>
            </a:fld>
            <a:endParaRPr lang="en-IN"/>
          </a:p>
        </p:txBody>
      </p:sp>
      <p:pic>
        <p:nvPicPr>
          <p:cNvPr id="7" name="Picture 6"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2545" y="-106591"/>
            <a:ext cx="1535119" cy="764046"/>
          </a:xfrm>
          <a:prstGeom prst="rect">
            <a:avLst/>
          </a:prstGeom>
        </p:spPr>
      </p:pic>
    </p:spTree>
    <p:extLst>
      <p:ext uri="{BB962C8B-B14F-4D97-AF65-F5344CB8AC3E}">
        <p14:creationId xmlns:p14="http://schemas.microsoft.com/office/powerpoint/2010/main" val="3424918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s://www.youtube.com/watch?v=MdNHgQuJPRg"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hyperlink" Target="https://www.investopedia.com/terms/i/intrapreneur.asp"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hyperlink" Target="https://us.pg.com/"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hyperlink" Target="https://www.youtube.com/watch?v=Y8D3QYqzb80&amp;list=PLbRMhDVUMngcukfJf-ChqlbjZzthAbRPw&amp;index=3" TargetMode="External"/><Relationship Id="rId2" Type="http://schemas.openxmlformats.org/officeDocument/2006/relationships/hyperlink" Target="https://www.youtube.com/watch?v=p7vhcob-YkI&amp;list=PLbRMhDVUMngcukfJf-ChqlbjZzthAbRPw&amp;index=2" TargetMode="External"/><Relationship Id="rId1" Type="http://schemas.openxmlformats.org/officeDocument/2006/relationships/slideLayout" Target="../slideLayouts/slideLayout2.xml"/><Relationship Id="rId5" Type="http://schemas.openxmlformats.org/officeDocument/2006/relationships/hyperlink" Target="https://www.youtube.com/watch?v=Q_KY8zWPKpE&amp;list=PLbRMhDVUMngcukfJf-ChqlbjZzthAbRPw&amp;index=5" TargetMode="External"/><Relationship Id="rId4" Type="http://schemas.openxmlformats.org/officeDocument/2006/relationships/hyperlink" Target="https://www.youtube.com/watch?v=CF27N7DgfXc&amp;list=PLbRMhDVUMngcukfJf-ChqlbjZzthAbRPw&amp;index=4"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hyperlink" Target="https://www.uptunotes.com/aktu-uptu-entrepreneurship-development-mam401a-previous-year-question-paper/" TargetMode="External"/><Relationship Id="rId2" Type="http://schemas.openxmlformats.org/officeDocument/2006/relationships/hyperlink" Target="http://www.aktuonline.com/papers/mba-4-sem-entrepreneurship-development-rmb-402-2017-18.pdf" TargetMode="External"/><Relationship Id="rId1" Type="http://schemas.openxmlformats.org/officeDocument/2006/relationships/slideLayout" Target="../slideLayouts/slideLayout2.xml"/><Relationship Id="rId4" Type="http://schemas.openxmlformats.org/officeDocument/2006/relationships/hyperlink" Target="https://abesit.in/library/download/MBA/Sem.3/2016-17/ENTREPRENEURSHIP-DEVELOPMENT-NMBA-031MBTM-031.pdf"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1F8B70D-3F64-4D35-E5AB-6FF8E0423FCD}"/>
              </a:ext>
            </a:extLst>
          </p:cNvPr>
          <p:cNvSpPr/>
          <p:nvPr/>
        </p:nvSpPr>
        <p:spPr>
          <a:xfrm>
            <a:off x="154858" y="903293"/>
            <a:ext cx="8517194" cy="830989"/>
          </a:xfrm>
          <a:prstGeom prst="rect">
            <a:avLst/>
          </a:prstGeom>
        </p:spPr>
        <p:txBody>
          <a:bodyPr wrap="square" lIns="91431" tIns="45716" rIns="91431" bIns="45716">
            <a:spAutoFit/>
          </a:bodyPr>
          <a:lstStyle/>
          <a:p>
            <a:pPr algn="ctr"/>
            <a:r>
              <a:rPr lang="en-IN" sz="2400" b="1">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2400">
              <a:solidFill>
                <a:srgbClr val="D4222A"/>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5C2B02D-0DC2-431D-DF60-401E531B651F}"/>
              </a:ext>
            </a:extLst>
          </p:cNvPr>
          <p:cNvSpPr/>
          <p:nvPr/>
        </p:nvSpPr>
        <p:spPr>
          <a:xfrm>
            <a:off x="4357684" y="4519147"/>
            <a:ext cx="816431" cy="369332"/>
          </a:xfrm>
          <a:prstGeom prst="rect">
            <a:avLst/>
          </a:prstGeom>
        </p:spPr>
        <p:txBody>
          <a:bodyPr wrap="square">
            <a:spAutoFit/>
          </a:bodyPr>
          <a:lstStyle/>
          <a:p>
            <a:r>
              <a:rPr lang="en-IN" b="1">
                <a:latin typeface="Times New Roman" panose="02020603050405020304" pitchFamily="18" charset="0"/>
                <a:cs typeface="Times New Roman" panose="02020603050405020304" pitchFamily="18" charset="0"/>
              </a:rPr>
              <a:t>By</a:t>
            </a:r>
            <a:r>
              <a:rPr lang="en-IN" b="1">
                <a:solidFill>
                  <a:srgbClr val="A20000"/>
                </a:solidFill>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DD14CEA-0AFA-2840-50F8-7CD1850C6115}"/>
              </a:ext>
            </a:extLst>
          </p:cNvPr>
          <p:cNvSpPr/>
          <p:nvPr/>
        </p:nvSpPr>
        <p:spPr>
          <a:xfrm>
            <a:off x="3998062" y="4773063"/>
            <a:ext cx="1953548" cy="1015663"/>
          </a:xfrm>
          <a:prstGeom prst="rect">
            <a:avLst/>
          </a:prstGeom>
        </p:spPr>
        <p:txBody>
          <a:bodyPr wrap="none">
            <a:spAutoFit/>
          </a:bodyPr>
          <a:lstStyle/>
          <a:p>
            <a:pPr algn="ctr"/>
            <a:r>
              <a:rPr lang="en-IN" sz="2400" b="1" dirty="0">
                <a:solidFill>
                  <a:srgbClr val="383A3C"/>
                </a:solidFill>
                <a:latin typeface="Times New Roman" panose="02020603050405020304" pitchFamily="18" charset="0"/>
                <a:cs typeface="Times New Roman" panose="02020603050405020304" pitchFamily="18" charset="0"/>
              </a:rPr>
              <a:t>Alok Raj</a:t>
            </a:r>
          </a:p>
          <a:p>
            <a:pPr algn="ctr"/>
            <a:r>
              <a:rPr lang="en-IN" sz="1200" b="1" dirty="0">
                <a:solidFill>
                  <a:srgbClr val="383A3C"/>
                </a:solidFill>
                <a:latin typeface="Times New Roman" panose="02020603050405020304" pitchFamily="18" charset="0"/>
                <a:cs typeface="Times New Roman" panose="02020603050405020304" pitchFamily="18" charset="0"/>
              </a:rPr>
              <a:t>Assistant Professor</a:t>
            </a:r>
          </a:p>
          <a:p>
            <a:pPr algn="ctr"/>
            <a:r>
              <a:rPr lang="en-IN" sz="1200" b="1" dirty="0">
                <a:solidFill>
                  <a:srgbClr val="383A3C"/>
                </a:solidFill>
                <a:latin typeface="Times New Roman" panose="02020603050405020304" pitchFamily="18" charset="0"/>
                <a:cs typeface="Times New Roman" panose="02020603050405020304" pitchFamily="18" charset="0"/>
              </a:rPr>
              <a:t>MBA Department</a:t>
            </a:r>
          </a:p>
          <a:p>
            <a:pPr algn="ctr"/>
            <a:r>
              <a:rPr lang="en-IN" sz="1200" b="1" dirty="0">
                <a:solidFill>
                  <a:srgbClr val="383A3C"/>
                </a:solidFill>
                <a:latin typeface="Times New Roman" panose="02020603050405020304" pitchFamily="18" charset="0"/>
                <a:cs typeface="Times New Roman" panose="02020603050405020304" pitchFamily="18" charset="0"/>
              </a:rPr>
              <a:t>NIET, GREATER NOIDA </a:t>
            </a:r>
            <a:endParaRPr lang="en-US" sz="1200" dirty="0">
              <a:solidFill>
                <a:srgbClr val="383A3C"/>
              </a:solidFill>
              <a:latin typeface="Times New Roman" panose="02020603050405020304" pitchFamily="18" charset="0"/>
              <a:cs typeface="Times New Roman" panose="02020603050405020304" pitchFamily="18" charset="0"/>
            </a:endParaRPr>
          </a:p>
        </p:txBody>
      </p:sp>
      <p:pic>
        <p:nvPicPr>
          <p:cNvPr id="13" name="Picture 12" descr="A close-up of a logo&#10;&#10;Description automatically generated">
            <a:extLst>
              <a:ext uri="{FF2B5EF4-FFF2-40B4-BE49-F238E27FC236}">
                <a16:creationId xmlns:a16="http://schemas.microsoft.com/office/drawing/2014/main" id="{47EBCF00-B6B8-EBDF-019C-6C1D35F139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99235" y="1755765"/>
            <a:ext cx="2945530" cy="1261055"/>
          </a:xfrm>
          <a:prstGeom prst="rect">
            <a:avLst/>
          </a:prstGeom>
        </p:spPr>
      </p:pic>
      <p:sp>
        <p:nvSpPr>
          <p:cNvPr id="11" name="Title 1">
            <a:extLst>
              <a:ext uri="{FF2B5EF4-FFF2-40B4-BE49-F238E27FC236}">
                <a16:creationId xmlns:a16="http://schemas.microsoft.com/office/drawing/2014/main" id="{DF68EA21-D1DB-A2CF-CFD9-DD5215232E37}"/>
              </a:ext>
            </a:extLst>
          </p:cNvPr>
          <p:cNvSpPr txBox="1">
            <a:spLocks/>
          </p:cNvSpPr>
          <p:nvPr/>
        </p:nvSpPr>
        <p:spPr>
          <a:xfrm>
            <a:off x="533400" y="3276600"/>
            <a:ext cx="8610600" cy="714380"/>
          </a:xfrm>
          <a:prstGeom prst="rect">
            <a:avLst/>
          </a:prstGeom>
        </p:spPr>
        <p:txBody>
          <a:bodyPr vert="horz" lIns="68580" tIns="34290" rIns="68580" bIns="3429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err="1">
                <a:solidFill>
                  <a:srgbClr val="383A3C"/>
                </a:solidFill>
                <a:latin typeface="Times New Roman" panose="02020603050405020304" pitchFamily="18" charset="0"/>
                <a:cs typeface="Times New Roman" panose="02020603050405020304" pitchFamily="18" charset="0"/>
              </a:rPr>
              <a:t>B.Tech</a:t>
            </a:r>
            <a:r>
              <a:rPr lang="en-IN" sz="1800" b="1">
                <a:solidFill>
                  <a:srgbClr val="383A3C"/>
                </a:solidFill>
                <a:latin typeface="Times New Roman" panose="02020603050405020304" pitchFamily="18" charset="0"/>
                <a:cs typeface="Times New Roman" panose="02020603050405020304" pitchFamily="18" charset="0"/>
              </a:rPr>
              <a:t> 4th Year, VII Sem.</a:t>
            </a:r>
            <a:br>
              <a:rPr lang="en-IN" sz="2400" b="1">
                <a:solidFill>
                  <a:srgbClr val="383A3C"/>
                </a:solidFill>
                <a:latin typeface="Times New Roman" panose="02020603050405020304" pitchFamily="18" charset="0"/>
                <a:cs typeface="Times New Roman" panose="02020603050405020304" pitchFamily="18" charset="0"/>
              </a:rPr>
            </a:br>
            <a:r>
              <a:rPr lang="en-IN" sz="2400" b="1">
                <a:solidFill>
                  <a:srgbClr val="383A3C"/>
                </a:solidFill>
                <a:latin typeface="Times New Roman" panose="02020603050405020304" pitchFamily="18" charset="0"/>
                <a:cs typeface="Times New Roman" panose="02020603050405020304" pitchFamily="18" charset="0"/>
              </a:rPr>
              <a:t>Entrepreneurship Development &amp; Intellectual Property Rights (AOE0771)</a:t>
            </a:r>
          </a:p>
        </p:txBody>
      </p:sp>
      <p:sp>
        <p:nvSpPr>
          <p:cNvPr id="12" name="Rectangle 11">
            <a:extLst>
              <a:ext uri="{FF2B5EF4-FFF2-40B4-BE49-F238E27FC236}">
                <a16:creationId xmlns:a16="http://schemas.microsoft.com/office/drawing/2014/main" id="{03B7956A-085D-A825-38C7-6F3A6C7CF2AB}"/>
              </a:ext>
            </a:extLst>
          </p:cNvPr>
          <p:cNvSpPr/>
          <p:nvPr/>
        </p:nvSpPr>
        <p:spPr>
          <a:xfrm>
            <a:off x="1295400" y="4038600"/>
            <a:ext cx="6572296" cy="707886"/>
          </a:xfrm>
          <a:prstGeom prst="rect">
            <a:avLst/>
          </a:prstGeom>
        </p:spPr>
        <p:txBody>
          <a:bodyPr wrap="square">
            <a:spAutoFit/>
          </a:bodyPr>
          <a:lstStyle/>
          <a:p>
            <a:pPr algn="ctr"/>
            <a:r>
              <a:rPr lang="en-IN" sz="2000" b="1">
                <a:solidFill>
                  <a:srgbClr val="383A3C"/>
                </a:solidFill>
                <a:latin typeface="Times New Roman" panose="02020603050405020304" pitchFamily="18" charset="0"/>
                <a:cs typeface="Times New Roman" panose="02020603050405020304" pitchFamily="18" charset="0"/>
              </a:rPr>
              <a:t>Unit 1</a:t>
            </a:r>
            <a:br>
              <a:rPr lang="en-IN" sz="2000" b="1">
                <a:solidFill>
                  <a:srgbClr val="A20000"/>
                </a:solidFill>
                <a:latin typeface="Times New Roman" panose="02020603050405020304" pitchFamily="18" charset="0"/>
                <a:cs typeface="Times New Roman" panose="02020603050405020304" pitchFamily="18" charset="0"/>
              </a:rPr>
            </a:br>
            <a:endParaRPr lang="en-US" sz="2000" b="1">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6553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209134-B0BD-4BE5-860E-78A66CA92FA0}"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graphicFrame>
        <p:nvGraphicFramePr>
          <p:cNvPr id="12" name="Table 11"/>
          <p:cNvGraphicFramePr>
            <a:graphicFrameLocks noGrp="1"/>
          </p:cNvGraphicFramePr>
          <p:nvPr/>
        </p:nvGraphicFramePr>
        <p:xfrm>
          <a:off x="228600" y="838201"/>
          <a:ext cx="8763000" cy="5191104"/>
        </p:xfrm>
        <a:graphic>
          <a:graphicData uri="http://schemas.openxmlformats.org/drawingml/2006/table">
            <a:tbl>
              <a:tblPr firstRow="1" bandRow="1">
                <a:tableStyleId>{5C22544A-7EE6-4342-B048-85BDC9FD1C3A}</a:tableStyleId>
              </a:tblPr>
              <a:tblGrid>
                <a:gridCol w="1622778">
                  <a:extLst>
                    <a:ext uri="{9D8B030D-6E8A-4147-A177-3AD203B41FA5}">
                      <a16:colId xmlns:a16="http://schemas.microsoft.com/office/drawing/2014/main" val="20000"/>
                    </a:ext>
                  </a:extLst>
                </a:gridCol>
                <a:gridCol w="7140222">
                  <a:extLst>
                    <a:ext uri="{9D8B030D-6E8A-4147-A177-3AD203B41FA5}">
                      <a16:colId xmlns:a16="http://schemas.microsoft.com/office/drawing/2014/main" val="20001"/>
                    </a:ext>
                  </a:extLst>
                </a:gridCol>
              </a:tblGrid>
              <a:tr h="394581">
                <a:tc>
                  <a:txBody>
                    <a:bodyPr/>
                    <a:lstStyle/>
                    <a:p>
                      <a:r>
                        <a:rPr lang="en-US" sz="2000"/>
                        <a:t>S. No.</a:t>
                      </a:r>
                    </a:p>
                  </a:txBody>
                  <a:tcPr/>
                </a:tc>
                <a:tc>
                  <a:txBody>
                    <a:bodyPr/>
                    <a:lstStyle/>
                    <a:p>
                      <a:pPr algn="l"/>
                      <a:r>
                        <a:rPr lang="en-US" sz="2000"/>
                        <a:t>Index</a:t>
                      </a:r>
                    </a:p>
                  </a:txBody>
                  <a:tcPr/>
                </a:tc>
                <a:extLst>
                  <a:ext uri="{0D108BD9-81ED-4DB2-BD59-A6C34878D82A}">
                    <a16:rowId xmlns:a16="http://schemas.microsoft.com/office/drawing/2014/main" val="10000"/>
                  </a:ext>
                </a:extLst>
              </a:tr>
              <a:tr h="769785">
                <a:tc>
                  <a:txBody>
                    <a:bodyPr/>
                    <a:lstStyle/>
                    <a:p>
                      <a:r>
                        <a:rPr lang="en-US" sz="2000" b="0">
                          <a:latin typeface="Times New Roman" pitchFamily="18" charset="0"/>
                          <a:cs typeface="Times New Roman" pitchFamily="18" charset="0"/>
                        </a:rPr>
                        <a:t>1.</a:t>
                      </a:r>
                    </a:p>
                  </a:txBody>
                  <a:tcPr/>
                </a:tc>
                <a:tc>
                  <a:txBody>
                    <a:bodyPr/>
                    <a:lstStyle/>
                    <a:p>
                      <a:pPr algn="l" fontAlgn="ctr"/>
                      <a:r>
                        <a:rPr lang="en-US" sz="2000" b="0" i="0" u="none" strike="noStrike">
                          <a:solidFill>
                            <a:srgbClr val="000000"/>
                          </a:solidFill>
                          <a:latin typeface="+mn-lt"/>
                        </a:rPr>
                        <a:t>Name of Subject with code, Course and Subject Teacher</a:t>
                      </a:r>
                    </a:p>
                  </a:txBody>
                  <a:tcPr marL="9525" marR="9525" marT="9525" marB="0" anchor="ctr"/>
                </a:tc>
                <a:extLst>
                  <a:ext uri="{0D108BD9-81ED-4DB2-BD59-A6C34878D82A}">
                    <a16:rowId xmlns:a16="http://schemas.microsoft.com/office/drawing/2014/main" val="10001"/>
                  </a:ext>
                </a:extLst>
              </a:tr>
              <a:tr h="769785">
                <a:tc>
                  <a:txBody>
                    <a:bodyPr/>
                    <a:lstStyle/>
                    <a:p>
                      <a:r>
                        <a:rPr lang="en-US" sz="2000" b="0">
                          <a:latin typeface="Times New Roman" pitchFamily="18" charset="0"/>
                          <a:cs typeface="Times New Roman" pitchFamily="18" charset="0"/>
                        </a:rPr>
                        <a:t>2.</a:t>
                      </a:r>
                    </a:p>
                  </a:txBody>
                  <a:tcPr/>
                </a:tc>
                <a:tc>
                  <a:txBody>
                    <a:bodyPr/>
                    <a:lstStyle/>
                    <a:p>
                      <a:pPr algn="l" fontAlgn="ctr"/>
                      <a:r>
                        <a:rPr lang="en-US" sz="2000" b="0" i="0" u="none" strike="noStrike">
                          <a:solidFill>
                            <a:srgbClr val="000000"/>
                          </a:solidFill>
                          <a:latin typeface="+mn-lt"/>
                        </a:rPr>
                        <a:t>Brief Introduction of Faculty member with Photograph</a:t>
                      </a:r>
                    </a:p>
                  </a:txBody>
                  <a:tcPr marL="9525" marR="9525" marT="9525" marB="0" anchor="ctr"/>
                </a:tc>
                <a:extLst>
                  <a:ext uri="{0D108BD9-81ED-4DB2-BD59-A6C34878D82A}">
                    <a16:rowId xmlns:a16="http://schemas.microsoft.com/office/drawing/2014/main" val="10002"/>
                  </a:ext>
                </a:extLst>
              </a:tr>
              <a:tr h="465042">
                <a:tc>
                  <a:txBody>
                    <a:bodyPr/>
                    <a:lstStyle/>
                    <a:p>
                      <a:r>
                        <a:rPr lang="en-US" sz="2000" b="0">
                          <a:latin typeface="Times New Roman" pitchFamily="18" charset="0"/>
                          <a:cs typeface="Times New Roman" pitchFamily="18" charset="0"/>
                        </a:rPr>
                        <a:t>3.</a:t>
                      </a:r>
                    </a:p>
                  </a:txBody>
                  <a:tcPr/>
                </a:tc>
                <a:tc>
                  <a:txBody>
                    <a:bodyPr/>
                    <a:lstStyle/>
                    <a:p>
                      <a:pPr algn="l" fontAlgn="ctr"/>
                      <a:r>
                        <a:rPr lang="en-US" sz="2000" b="0" i="0" u="none" strike="noStrike">
                          <a:solidFill>
                            <a:srgbClr val="000000"/>
                          </a:solidFill>
                          <a:latin typeface="+mn-lt"/>
                        </a:rPr>
                        <a:t>Evaluation Scheme</a:t>
                      </a:r>
                    </a:p>
                  </a:txBody>
                  <a:tcPr marL="9525" marR="9525" marT="9525" marB="0" anchor="ctr"/>
                </a:tc>
                <a:extLst>
                  <a:ext uri="{0D108BD9-81ED-4DB2-BD59-A6C34878D82A}">
                    <a16:rowId xmlns:a16="http://schemas.microsoft.com/office/drawing/2014/main" val="10003"/>
                  </a:ext>
                </a:extLst>
              </a:tr>
              <a:tr h="465042">
                <a:tc>
                  <a:txBody>
                    <a:bodyPr/>
                    <a:lstStyle/>
                    <a:p>
                      <a:r>
                        <a:rPr lang="en-US" sz="2000" b="0">
                          <a:latin typeface="Times New Roman" pitchFamily="18" charset="0"/>
                          <a:cs typeface="Times New Roman" pitchFamily="18" charset="0"/>
                        </a:rPr>
                        <a:t>4.</a:t>
                      </a:r>
                    </a:p>
                  </a:txBody>
                  <a:tcPr/>
                </a:tc>
                <a:tc>
                  <a:txBody>
                    <a:bodyPr/>
                    <a:lstStyle/>
                    <a:p>
                      <a:r>
                        <a:rPr lang="en-US" sz="2000" b="0">
                          <a:latin typeface="+mn-lt"/>
                          <a:cs typeface="Times New Roman" pitchFamily="18" charset="0"/>
                        </a:rPr>
                        <a:t>Syllabus</a:t>
                      </a:r>
                    </a:p>
                  </a:txBody>
                  <a:tcPr/>
                </a:tc>
                <a:extLst>
                  <a:ext uri="{0D108BD9-81ED-4DB2-BD59-A6C34878D82A}">
                    <a16:rowId xmlns:a16="http://schemas.microsoft.com/office/drawing/2014/main" val="10004"/>
                  </a:ext>
                </a:extLst>
              </a:tr>
              <a:tr h="465042">
                <a:tc>
                  <a:txBody>
                    <a:bodyPr/>
                    <a:lstStyle/>
                    <a:p>
                      <a:r>
                        <a:rPr lang="en-US" sz="2000" b="0">
                          <a:latin typeface="Times New Roman" pitchFamily="18" charset="0"/>
                          <a:cs typeface="Times New Roman" pitchFamily="18" charset="0"/>
                        </a:rPr>
                        <a:t>5.</a:t>
                      </a:r>
                    </a:p>
                  </a:txBody>
                  <a:tcPr/>
                </a:tc>
                <a:tc>
                  <a:txBody>
                    <a:bodyPr/>
                    <a:lstStyle/>
                    <a:p>
                      <a:r>
                        <a:rPr lang="en-US" sz="2000">
                          <a:latin typeface="+mn-lt"/>
                        </a:rPr>
                        <a:t>Branch wise Application</a:t>
                      </a:r>
                    </a:p>
                  </a:txBody>
                  <a:tcPr/>
                </a:tc>
                <a:extLst>
                  <a:ext uri="{0D108BD9-81ED-4DB2-BD59-A6C34878D82A}">
                    <a16:rowId xmlns:a16="http://schemas.microsoft.com/office/drawing/2014/main" val="10005"/>
                  </a:ext>
                </a:extLst>
              </a:tr>
              <a:tr h="465042">
                <a:tc>
                  <a:txBody>
                    <a:bodyPr/>
                    <a:lstStyle/>
                    <a:p>
                      <a:r>
                        <a:rPr lang="en-US" sz="2000" b="0">
                          <a:latin typeface="Times New Roman" pitchFamily="18" charset="0"/>
                          <a:cs typeface="Times New Roman" pitchFamily="18" charset="0"/>
                        </a:rPr>
                        <a:t>6.</a:t>
                      </a:r>
                    </a:p>
                  </a:txBody>
                  <a:tcPr/>
                </a:tc>
                <a:tc>
                  <a:txBody>
                    <a:bodyPr/>
                    <a:lstStyle/>
                    <a:p>
                      <a:r>
                        <a:rPr lang="en-US" sz="2000" b="0">
                          <a:latin typeface="+mn-lt"/>
                          <a:cs typeface="Times New Roman" pitchFamily="18" charset="0"/>
                        </a:rPr>
                        <a:t>Course Objective(s)</a:t>
                      </a:r>
                    </a:p>
                  </a:txBody>
                  <a:tcPr/>
                </a:tc>
                <a:extLst>
                  <a:ext uri="{0D108BD9-81ED-4DB2-BD59-A6C34878D82A}">
                    <a16:rowId xmlns:a16="http://schemas.microsoft.com/office/drawing/2014/main" val="10006"/>
                  </a:ext>
                </a:extLst>
              </a:tr>
              <a:tr h="465042">
                <a:tc>
                  <a:txBody>
                    <a:bodyPr/>
                    <a:lstStyle/>
                    <a:p>
                      <a:r>
                        <a:rPr lang="en-US" sz="2000" b="0">
                          <a:latin typeface="Times New Roman" pitchFamily="18" charset="0"/>
                          <a:cs typeface="Times New Roman" pitchFamily="18" charset="0"/>
                        </a:rPr>
                        <a:t>7.</a:t>
                      </a:r>
                    </a:p>
                  </a:txBody>
                  <a:tcPr/>
                </a:tc>
                <a:tc>
                  <a:txBody>
                    <a:bodyPr/>
                    <a:lstStyle/>
                    <a:p>
                      <a:r>
                        <a:rPr lang="en-US" sz="2000" b="0">
                          <a:latin typeface="+mn-lt"/>
                          <a:cs typeface="Times New Roman" pitchFamily="18" charset="0"/>
                        </a:rPr>
                        <a:t>Course Outcome(s)</a:t>
                      </a:r>
                    </a:p>
                  </a:txBody>
                  <a:tcPr/>
                </a:tc>
                <a:extLst>
                  <a:ext uri="{0D108BD9-81ED-4DB2-BD59-A6C34878D82A}">
                    <a16:rowId xmlns:a16="http://schemas.microsoft.com/office/drawing/2014/main" val="10007"/>
                  </a:ext>
                </a:extLst>
              </a:tr>
              <a:tr h="465042">
                <a:tc>
                  <a:txBody>
                    <a:bodyPr/>
                    <a:lstStyle/>
                    <a:p>
                      <a:r>
                        <a:rPr lang="en-US" sz="2000" b="0">
                          <a:latin typeface="Times New Roman" pitchFamily="18" charset="0"/>
                          <a:cs typeface="Times New Roman" pitchFamily="18" charset="0"/>
                        </a:rPr>
                        <a:t>8.</a:t>
                      </a:r>
                    </a:p>
                  </a:txBody>
                  <a:tcPr/>
                </a:tc>
                <a:tc>
                  <a:txBody>
                    <a:bodyPr/>
                    <a:lstStyle/>
                    <a:p>
                      <a:r>
                        <a:rPr lang="en-US" sz="2000" b="0">
                          <a:latin typeface="+mn-lt"/>
                          <a:cs typeface="Times New Roman" pitchFamily="18" charset="0"/>
                        </a:rPr>
                        <a:t>Program Outcomes (PSOs)</a:t>
                      </a:r>
                    </a:p>
                  </a:txBody>
                  <a:tcPr/>
                </a:tc>
                <a:extLst>
                  <a:ext uri="{0D108BD9-81ED-4DB2-BD59-A6C34878D82A}">
                    <a16:rowId xmlns:a16="http://schemas.microsoft.com/office/drawing/2014/main" val="10008"/>
                  </a:ext>
                </a:extLst>
              </a:tr>
              <a:tr h="465042">
                <a:tc>
                  <a:txBody>
                    <a:bodyPr/>
                    <a:lstStyle/>
                    <a:p>
                      <a:r>
                        <a:rPr lang="en-US" sz="2000" b="0">
                          <a:latin typeface="Times New Roman" pitchFamily="18" charset="0"/>
                          <a:cs typeface="Times New Roman" pitchFamily="18" charset="0"/>
                        </a:rPr>
                        <a:t>9.</a:t>
                      </a:r>
                    </a:p>
                  </a:txBody>
                  <a:tcPr/>
                </a:tc>
                <a:tc>
                  <a:txBody>
                    <a:bodyPr/>
                    <a:lstStyle/>
                    <a:p>
                      <a:r>
                        <a:rPr lang="en-US" sz="2000">
                          <a:latin typeface="+mn-lt"/>
                        </a:rPr>
                        <a:t>Cos and POs Mapping</a:t>
                      </a:r>
                    </a:p>
                  </a:txBody>
                  <a:tcPr/>
                </a:tc>
                <a:extLst>
                  <a:ext uri="{0D108BD9-81ED-4DB2-BD59-A6C34878D82A}">
                    <a16:rowId xmlns:a16="http://schemas.microsoft.com/office/drawing/2014/main" val="10009"/>
                  </a:ext>
                </a:extLst>
              </a:tr>
            </a:tbl>
          </a:graphicData>
        </a:graphic>
      </p:graphicFrame>
      <p:sp>
        <p:nvSpPr>
          <p:cNvPr id="2" name="Footer Placeholder 12">
            <a:extLst>
              <a:ext uri="{FF2B5EF4-FFF2-40B4-BE49-F238E27FC236}">
                <a16:creationId xmlns:a16="http://schemas.microsoft.com/office/drawing/2014/main" id="{4E0F1657-7047-D70D-1E1E-3E359D7F720C}"/>
              </a:ext>
            </a:extLst>
          </p:cNvPr>
          <p:cNvSpPr txBox="1">
            <a:spLocks/>
          </p:cNvSpPr>
          <p:nvPr/>
        </p:nvSpPr>
        <p:spPr>
          <a:xfrm>
            <a:off x="2362200" y="6248402"/>
            <a:ext cx="5029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Alok Raj                  AOE0771              Unit 1</a:t>
            </a:r>
          </a:p>
        </p:txBody>
      </p:sp>
      <p:sp>
        <p:nvSpPr>
          <p:cNvPr id="8" name="Title 1"/>
          <p:cNvSpPr txBox="1">
            <a:spLocks/>
          </p:cNvSpPr>
          <p:nvPr/>
        </p:nvSpPr>
        <p:spPr>
          <a:xfrm>
            <a:off x="1475656" y="44624"/>
            <a:ext cx="7668344" cy="73833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Index/Content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179512" y="980727"/>
          <a:ext cx="8735888" cy="4571457"/>
        </p:xfrm>
        <a:graphic>
          <a:graphicData uri="http://schemas.openxmlformats.org/drawingml/2006/table">
            <a:tbl>
              <a:tblPr firstRow="1" bandRow="1">
                <a:tableStyleId>{5C22544A-7EE6-4342-B048-85BDC9FD1C3A}</a:tableStyleId>
              </a:tblPr>
              <a:tblGrid>
                <a:gridCol w="1617756">
                  <a:extLst>
                    <a:ext uri="{9D8B030D-6E8A-4147-A177-3AD203B41FA5}">
                      <a16:colId xmlns:a16="http://schemas.microsoft.com/office/drawing/2014/main" val="20000"/>
                    </a:ext>
                  </a:extLst>
                </a:gridCol>
                <a:gridCol w="7118132">
                  <a:extLst>
                    <a:ext uri="{9D8B030D-6E8A-4147-A177-3AD203B41FA5}">
                      <a16:colId xmlns:a16="http://schemas.microsoft.com/office/drawing/2014/main" val="20001"/>
                    </a:ext>
                  </a:extLst>
                </a:gridCol>
              </a:tblGrid>
              <a:tr h="393624">
                <a:tc>
                  <a:txBody>
                    <a:bodyPr/>
                    <a:lstStyle/>
                    <a:p>
                      <a:r>
                        <a:rPr lang="en-US" sz="2000">
                          <a:latin typeface="+mn-lt"/>
                        </a:rPr>
                        <a:t>S. No.</a:t>
                      </a:r>
                    </a:p>
                  </a:txBody>
                  <a:tcPr/>
                </a:tc>
                <a:tc>
                  <a:txBody>
                    <a:bodyPr/>
                    <a:lstStyle/>
                    <a:p>
                      <a:pPr algn="l"/>
                      <a:r>
                        <a:rPr lang="en-US" sz="2000">
                          <a:latin typeface="+mn-lt"/>
                        </a:rPr>
                        <a:t>Index</a:t>
                      </a:r>
                    </a:p>
                  </a:txBody>
                  <a:tcPr/>
                </a:tc>
                <a:extLst>
                  <a:ext uri="{0D108BD9-81ED-4DB2-BD59-A6C34878D82A}">
                    <a16:rowId xmlns:a16="http://schemas.microsoft.com/office/drawing/2014/main" val="10000"/>
                  </a:ext>
                </a:extLst>
              </a:tr>
              <a:tr h="463913">
                <a:tc>
                  <a:txBody>
                    <a:bodyPr/>
                    <a:lstStyle/>
                    <a:p>
                      <a:r>
                        <a:rPr lang="en-US" sz="2000" b="0">
                          <a:latin typeface="+mn-lt"/>
                          <a:cs typeface="Times New Roman" pitchFamily="18" charset="0"/>
                        </a:rPr>
                        <a:t>20.</a:t>
                      </a:r>
                    </a:p>
                  </a:txBody>
                  <a:tcPr/>
                </a:tc>
                <a:tc>
                  <a:txBody>
                    <a:bodyPr/>
                    <a:lstStyle/>
                    <a:p>
                      <a:r>
                        <a:rPr lang="en-US" sz="2000" b="0">
                          <a:latin typeface="+mn-lt"/>
                          <a:cs typeface="Times New Roman" pitchFamily="18" charset="0"/>
                        </a:rPr>
                        <a:t>Lecture related to topic</a:t>
                      </a:r>
                    </a:p>
                  </a:txBody>
                  <a:tcPr/>
                </a:tc>
                <a:extLst>
                  <a:ext uri="{0D108BD9-81ED-4DB2-BD59-A6C34878D82A}">
                    <a16:rowId xmlns:a16="http://schemas.microsoft.com/office/drawing/2014/main" val="10001"/>
                  </a:ext>
                </a:extLst>
              </a:tr>
              <a:tr h="463913">
                <a:tc>
                  <a:txBody>
                    <a:bodyPr/>
                    <a:lstStyle/>
                    <a:p>
                      <a:r>
                        <a:rPr lang="en-US" sz="2000" b="0">
                          <a:latin typeface="+mn-lt"/>
                          <a:cs typeface="Times New Roman" pitchFamily="18" charset="0"/>
                        </a:rPr>
                        <a:t>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dk1"/>
                          </a:solidFill>
                          <a:effectLst/>
                          <a:uLnTx/>
                          <a:uFillTx/>
                          <a:latin typeface="+mn-lt"/>
                          <a:cs typeface="Times New Roman" pitchFamily="18" charset="0"/>
                        </a:rPr>
                        <a:t>Daily Quiz</a:t>
                      </a:r>
                    </a:p>
                  </a:txBody>
                  <a:tcPr/>
                </a:tc>
                <a:extLst>
                  <a:ext uri="{0D108BD9-81ED-4DB2-BD59-A6C34878D82A}">
                    <a16:rowId xmlns:a16="http://schemas.microsoft.com/office/drawing/2014/main" val="10002"/>
                  </a:ext>
                </a:extLst>
              </a:tr>
              <a:tr h="463913">
                <a:tc>
                  <a:txBody>
                    <a:bodyPr/>
                    <a:lstStyle/>
                    <a:p>
                      <a:r>
                        <a:rPr lang="en-US" sz="2000" b="0">
                          <a:latin typeface="+mn-lt"/>
                          <a:cs typeface="Times New Roman" pitchFamily="18" charset="0"/>
                        </a:rPr>
                        <a:t>22.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a:latin typeface="+mn-lt"/>
                          <a:cs typeface="Times New Roman" pitchFamily="18" charset="0"/>
                        </a:rPr>
                        <a:t>Weekly Assignment</a:t>
                      </a:r>
                    </a:p>
                  </a:txBody>
                  <a:tcPr/>
                </a:tc>
                <a:extLst>
                  <a:ext uri="{0D108BD9-81ED-4DB2-BD59-A6C34878D82A}">
                    <a16:rowId xmlns:a16="http://schemas.microsoft.com/office/drawing/2014/main" val="10003"/>
                  </a:ext>
                </a:extLst>
              </a:tr>
              <a:tr h="463913">
                <a:tc>
                  <a:txBody>
                    <a:bodyPr/>
                    <a:lstStyle/>
                    <a:p>
                      <a:r>
                        <a:rPr lang="en-US" sz="2000" b="0">
                          <a:latin typeface="+mn-lt"/>
                          <a:cs typeface="Times New Roman" pitchFamily="18" charset="0"/>
                        </a:rPr>
                        <a:t>23.</a:t>
                      </a:r>
                    </a:p>
                  </a:txBody>
                  <a:tcPr/>
                </a:tc>
                <a:tc>
                  <a:txBody>
                    <a:bodyPr/>
                    <a:lstStyle/>
                    <a:p>
                      <a:r>
                        <a:rPr lang="en-US" sz="2000" b="0">
                          <a:latin typeface="+mn-lt"/>
                          <a:cs typeface="Times New Roman" pitchFamily="18" charset="0"/>
                        </a:rPr>
                        <a:t>Topic Links</a:t>
                      </a:r>
                    </a:p>
                  </a:txBody>
                  <a:tcPr/>
                </a:tc>
                <a:extLst>
                  <a:ext uri="{0D108BD9-81ED-4DB2-BD59-A6C34878D82A}">
                    <a16:rowId xmlns:a16="http://schemas.microsoft.com/office/drawing/2014/main" val="10004"/>
                  </a:ext>
                </a:extLst>
              </a:tr>
              <a:tr h="463913">
                <a:tc>
                  <a:txBody>
                    <a:bodyPr/>
                    <a:lstStyle/>
                    <a:p>
                      <a:r>
                        <a:rPr lang="en-US" sz="2000" b="0">
                          <a:latin typeface="+mn-lt"/>
                          <a:cs typeface="Times New Roman" pitchFamily="18" charset="0"/>
                        </a:rPr>
                        <a:t>24.</a:t>
                      </a:r>
                    </a:p>
                  </a:txBody>
                  <a:tcPr/>
                </a:tc>
                <a:tc>
                  <a:txBody>
                    <a:bodyPr/>
                    <a:lstStyle/>
                    <a:p>
                      <a:r>
                        <a:rPr lang="en-US" sz="2000" b="0">
                          <a:latin typeface="+mn-lt"/>
                          <a:cs typeface="Times New Roman" pitchFamily="18" charset="0"/>
                        </a:rPr>
                        <a:t>MCQs</a:t>
                      </a:r>
                    </a:p>
                  </a:txBody>
                  <a:tcPr/>
                </a:tc>
                <a:extLst>
                  <a:ext uri="{0D108BD9-81ED-4DB2-BD59-A6C34878D82A}">
                    <a16:rowId xmlns:a16="http://schemas.microsoft.com/office/drawing/2014/main" val="10005"/>
                  </a:ext>
                </a:extLst>
              </a:tr>
              <a:tr h="463913">
                <a:tc>
                  <a:txBody>
                    <a:bodyPr/>
                    <a:lstStyle/>
                    <a:p>
                      <a:r>
                        <a:rPr lang="en-US" sz="2000" b="0">
                          <a:latin typeface="+mn-lt"/>
                          <a:cs typeface="Times New Roman" pitchFamily="18" charset="0"/>
                        </a:rPr>
                        <a:t>25.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a:latin typeface="+mn-lt"/>
                          <a:cs typeface="Times New Roman" pitchFamily="18" charset="0"/>
                        </a:rPr>
                        <a:t>Glossary Questions</a:t>
                      </a:r>
                    </a:p>
                  </a:txBody>
                  <a:tcPr/>
                </a:tc>
                <a:extLst>
                  <a:ext uri="{0D108BD9-81ED-4DB2-BD59-A6C34878D82A}">
                    <a16:rowId xmlns:a16="http://schemas.microsoft.com/office/drawing/2014/main" val="10006"/>
                  </a:ext>
                </a:extLst>
              </a:tr>
              <a:tr h="463913">
                <a:tc>
                  <a:txBody>
                    <a:bodyPr/>
                    <a:lstStyle/>
                    <a:p>
                      <a:r>
                        <a:rPr lang="en-US" sz="2000" b="0">
                          <a:latin typeface="+mn-lt"/>
                          <a:cs typeface="Times New Roman" pitchFamily="18" charset="0"/>
                        </a:rPr>
                        <a:t>26.</a:t>
                      </a:r>
                    </a:p>
                  </a:txBody>
                  <a:tcPr/>
                </a:tc>
                <a:tc>
                  <a:txBody>
                    <a:bodyPr/>
                    <a:lstStyle/>
                    <a:p>
                      <a:r>
                        <a:rPr lang="en-US" sz="2000" b="0">
                          <a:latin typeface="+mn-lt"/>
                          <a:cs typeface="Times New Roman" pitchFamily="18" charset="0"/>
                        </a:rPr>
                        <a:t>Old question papers</a:t>
                      </a:r>
                    </a:p>
                  </a:txBody>
                  <a:tcPr/>
                </a:tc>
                <a:extLst>
                  <a:ext uri="{0D108BD9-81ED-4DB2-BD59-A6C34878D82A}">
                    <a16:rowId xmlns:a16="http://schemas.microsoft.com/office/drawing/2014/main" val="10007"/>
                  </a:ext>
                </a:extLst>
              </a:tr>
              <a:tr h="463913">
                <a:tc>
                  <a:txBody>
                    <a:bodyPr/>
                    <a:lstStyle/>
                    <a:p>
                      <a:r>
                        <a:rPr lang="en-US" sz="2000" b="0">
                          <a:latin typeface="+mn-lt"/>
                          <a:cs typeface="Times New Roman" pitchFamily="18" charset="0"/>
                        </a:rPr>
                        <a:t>27.</a:t>
                      </a:r>
                    </a:p>
                  </a:txBody>
                  <a:tcPr/>
                </a:tc>
                <a:tc>
                  <a:txBody>
                    <a:bodyPr/>
                    <a:lstStyle/>
                    <a:p>
                      <a:r>
                        <a:rPr lang="en-US" sz="2000" b="0">
                          <a:latin typeface="+mn-lt"/>
                          <a:cs typeface="Times New Roman" pitchFamily="18" charset="0"/>
                        </a:rPr>
                        <a:t>Expected Questions</a:t>
                      </a:r>
                    </a:p>
                  </a:txBody>
                  <a:tcPr/>
                </a:tc>
                <a:extLst>
                  <a:ext uri="{0D108BD9-81ED-4DB2-BD59-A6C34878D82A}">
                    <a16:rowId xmlns:a16="http://schemas.microsoft.com/office/drawing/2014/main" val="10008"/>
                  </a:ext>
                </a:extLst>
              </a:tr>
              <a:tr h="463913">
                <a:tc>
                  <a:txBody>
                    <a:bodyPr/>
                    <a:lstStyle/>
                    <a:p>
                      <a:r>
                        <a:rPr lang="en-US" sz="2000" b="0">
                          <a:latin typeface="+mn-lt"/>
                          <a:cs typeface="Times New Roman" pitchFamily="18" charset="0"/>
                        </a:rPr>
                        <a:t>28.</a:t>
                      </a:r>
                    </a:p>
                  </a:txBody>
                  <a:tcPr/>
                </a:tc>
                <a:tc>
                  <a:txBody>
                    <a:bodyPr/>
                    <a:lstStyle/>
                    <a:p>
                      <a:r>
                        <a:rPr lang="en-US" sz="2000" b="0">
                          <a:latin typeface="+mn-lt"/>
                          <a:cs typeface="Times New Roman" pitchFamily="18" charset="0"/>
                        </a:rPr>
                        <a:t>Recap of unit</a:t>
                      </a:r>
                    </a:p>
                  </a:txBody>
                  <a:tcPr/>
                </a:tc>
                <a:extLst>
                  <a:ext uri="{0D108BD9-81ED-4DB2-BD59-A6C34878D82A}">
                    <a16:rowId xmlns:a16="http://schemas.microsoft.com/office/drawing/2014/main" val="10009"/>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10" name="Date Placeholder 9"/>
          <p:cNvSpPr>
            <a:spLocks noGrp="1"/>
          </p:cNvSpPr>
          <p:nvPr>
            <p:ph type="dt" sz="half" idx="10"/>
          </p:nvPr>
        </p:nvSpPr>
        <p:spPr/>
        <p:txBody>
          <a:bodyPr/>
          <a:lstStyle/>
          <a:p>
            <a:fld id="{17EA1007-FEE6-471D-887A-FB34AC0C354D}" type="datetime1">
              <a:rPr lang="en-US" smtClean="0"/>
              <a:pPr/>
              <a:t>12-Aug-25</a:t>
            </a:fld>
            <a:endParaRPr lang="en-US"/>
          </a:p>
        </p:txBody>
      </p:sp>
      <p:sp>
        <p:nvSpPr>
          <p:cNvPr id="8" name="Title 1"/>
          <p:cNvSpPr txBox="1">
            <a:spLocks/>
          </p:cNvSpPr>
          <p:nvPr/>
        </p:nvSpPr>
        <p:spPr>
          <a:xfrm>
            <a:off x="1547664" y="-50798"/>
            <a:ext cx="7596336" cy="83375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Index/Content</a:t>
            </a:r>
          </a:p>
        </p:txBody>
      </p:sp>
      <p:sp>
        <p:nvSpPr>
          <p:cNvPr id="7" name="Footer Placeholder 12">
            <a:extLst>
              <a:ext uri="{FF2B5EF4-FFF2-40B4-BE49-F238E27FC236}">
                <a16:creationId xmlns:a16="http://schemas.microsoft.com/office/drawing/2014/main" id="{4E0F1657-7047-D70D-1E1E-3E359D7F720C}"/>
              </a:ext>
            </a:extLst>
          </p:cNvPr>
          <p:cNvSpPr txBox="1">
            <a:spLocks/>
          </p:cNvSpPr>
          <p:nvPr/>
        </p:nvSpPr>
        <p:spPr>
          <a:xfrm>
            <a:off x="2362200" y="6248402"/>
            <a:ext cx="5029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Alok Raj                  AOE0771              Unit 1</a:t>
            </a:r>
          </a:p>
        </p:txBody>
      </p:sp>
    </p:spTree>
    <p:extLst>
      <p:ext uri="{BB962C8B-B14F-4D97-AF65-F5344CB8AC3E}">
        <p14:creationId xmlns:p14="http://schemas.microsoft.com/office/powerpoint/2010/main" val="179252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75B3EA-97F9-89E8-50FF-A2B2122FDE60}"/>
              </a:ext>
            </a:extLst>
          </p:cNvPr>
          <p:cNvSpPr>
            <a:spLocks noGrp="1"/>
          </p:cNvSpPr>
          <p:nvPr>
            <p:ph idx="1"/>
          </p:nvPr>
        </p:nvSpPr>
        <p:spPr>
          <a:xfrm>
            <a:off x="342900" y="1720031"/>
            <a:ext cx="8528255" cy="3871452"/>
          </a:xfrm>
        </p:spPr>
        <p:txBody>
          <a:bodyPr>
            <a:normAutofit/>
          </a:bodyPr>
          <a:lstStyle/>
          <a:p>
            <a:pPr lvl="1"/>
            <a:endParaRPr lang="en-US" dirty="0">
              <a:solidFill>
                <a:srgbClr val="383A3C"/>
              </a:solidFill>
              <a:latin typeface="Times New Roman" panose="02020603050405020304" pitchFamily="18" charset="0"/>
              <a:cs typeface="Times New Roman" panose="02020603050405020304" pitchFamily="18" charset="0"/>
            </a:endParaRPr>
          </a:p>
          <a:p>
            <a:pPr lvl="1"/>
            <a:endParaRPr lang="en-IN" dirty="0">
              <a:solidFill>
                <a:srgbClr val="383A3C"/>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960D2596-AAD6-2CD2-F258-1C420EA84F79}"/>
              </a:ext>
            </a:extLst>
          </p:cNvPr>
          <p:cNvSpPr txBox="1">
            <a:spLocks/>
          </p:cNvSpPr>
          <p:nvPr/>
        </p:nvSpPr>
        <p:spPr>
          <a:xfrm>
            <a:off x="1589313" y="1083252"/>
            <a:ext cx="7565923" cy="492983"/>
          </a:xfrm>
          <a:prstGeom prst="rect">
            <a:avLst/>
          </a:prstGeom>
          <a:noFill/>
          <a:ln w="38100">
            <a:noFill/>
          </a:ln>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700" b="1">
                <a:solidFill>
                  <a:srgbClr val="D31E26"/>
                </a:solidFill>
                <a:latin typeface="Times New Roman" panose="02020603050405020304" pitchFamily="18" charset="0"/>
                <a:cs typeface="Times New Roman" panose="02020603050405020304" pitchFamily="18" charset="0"/>
              </a:rPr>
              <a:t>                Faculty Introduction</a:t>
            </a:r>
          </a:p>
          <a:p>
            <a:endParaRPr lang="en-IN" sz="2700" b="1">
              <a:solidFill>
                <a:srgbClr val="D31E26"/>
              </a:solidFill>
              <a:latin typeface="Times New Roman" panose="02020603050405020304" pitchFamily="18" charset="0"/>
              <a:cs typeface="Times New Roman" panose="02020603050405020304" pitchFamily="18" charset="0"/>
            </a:endParaRPr>
          </a:p>
        </p:txBody>
      </p:sp>
      <p:sp>
        <p:nvSpPr>
          <p:cNvPr id="14" name="Footer Placeholder 4">
            <a:extLst>
              <a:ext uri="{FF2B5EF4-FFF2-40B4-BE49-F238E27FC236}">
                <a16:creationId xmlns:a16="http://schemas.microsoft.com/office/drawing/2014/main" id="{133C1259-FFCE-CD79-A828-D871692F83BA}"/>
              </a:ext>
            </a:extLst>
          </p:cNvPr>
          <p:cNvSpPr txBox="1">
            <a:spLocks/>
          </p:cNvSpPr>
          <p:nvPr/>
        </p:nvSpPr>
        <p:spPr>
          <a:xfrm>
            <a:off x="0" y="5644830"/>
            <a:ext cx="9144000" cy="289552"/>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50">
                <a:solidFill>
                  <a:srgbClr val="FAC6C7"/>
                </a:solidFill>
                <a:latin typeface="Times New Roman" panose="02020603050405020304" pitchFamily="18" charset="0"/>
                <a:cs typeface="Times New Roman" panose="02020603050405020304" pitchFamily="18" charset="0"/>
              </a:rPr>
              <a:t>.</a:t>
            </a:r>
            <a:r>
              <a:rPr lang="en-US" sz="1350">
                <a:latin typeface="Times New Roman" panose="02020603050405020304" pitchFamily="18" charset="0"/>
                <a:cs typeface="Times New Roman" panose="02020603050405020304" pitchFamily="18" charset="0"/>
              </a:rPr>
              <a:t>Subject:       </a:t>
            </a:r>
            <a:r>
              <a:rPr lang="en-US" sz="1350" err="1">
                <a:latin typeface="Times New Roman" panose="02020603050405020304" pitchFamily="18" charset="0"/>
                <a:cs typeface="Times New Roman" panose="02020603050405020304" pitchFamily="18" charset="0"/>
              </a:rPr>
              <a:t>Enterpreneurial</a:t>
            </a:r>
            <a:r>
              <a:rPr lang="en-US" sz="1350">
                <a:latin typeface="Times New Roman" panose="02020603050405020304" pitchFamily="18" charset="0"/>
                <a:cs typeface="Times New Roman" panose="02020603050405020304" pitchFamily="18" charset="0"/>
              </a:rPr>
              <a:t> Development and Intellectual Property Rights               	  	by:  </a:t>
            </a:r>
            <a:r>
              <a:rPr lang="en-US" sz="1350" err="1">
                <a:latin typeface="Times New Roman" panose="02020603050405020304" pitchFamily="18" charset="0"/>
                <a:cs typeface="Times New Roman" panose="02020603050405020304" pitchFamily="18" charset="0"/>
              </a:rPr>
              <a:t>Kshitij</a:t>
            </a:r>
            <a:r>
              <a:rPr lang="en-US" sz="1350">
                <a:latin typeface="Times New Roman" panose="02020603050405020304" pitchFamily="18" charset="0"/>
                <a:cs typeface="Times New Roman" panose="02020603050405020304" pitchFamily="18" charset="0"/>
              </a:rPr>
              <a:t> Chandra					</a:t>
            </a:r>
            <a:endParaRPr lang="en-IN" sz="1350">
              <a:latin typeface="Times New Roman" panose="02020603050405020304" pitchFamily="18" charset="0"/>
              <a:cs typeface="Times New Roman" panose="02020603050405020304" pitchFamily="18" charset="0"/>
            </a:endParaRPr>
          </a:p>
        </p:txBody>
      </p:sp>
      <p:sp>
        <p:nvSpPr>
          <p:cNvPr id="12" name="object 6"/>
          <p:cNvSpPr txBox="1"/>
          <p:nvPr/>
        </p:nvSpPr>
        <p:spPr>
          <a:xfrm>
            <a:off x="303382" y="1953143"/>
            <a:ext cx="4537472" cy="1223412"/>
          </a:xfrm>
          <a:prstGeom prst="rect">
            <a:avLst/>
          </a:prstGeom>
        </p:spPr>
        <p:txBody>
          <a:bodyPr wrap="square" lIns="0" tIns="0" rIns="0" bIns="0">
            <a:spAutoFit/>
          </a:bodyPr>
          <a:lstStyle/>
          <a:p>
            <a:pPr marL="239078" indent="-229553">
              <a:buFont typeface="Arial"/>
              <a:buChar char="•"/>
              <a:tabLst>
                <a:tab pos="239554" algn="l"/>
                <a:tab pos="1627823" algn="l"/>
              </a:tabLst>
              <a:defRPr/>
            </a:pPr>
            <a:r>
              <a:rPr sz="1650" b="1" spc="-30" dirty="0">
                <a:solidFill>
                  <a:prstClr val="black"/>
                </a:solidFill>
                <a:latin typeface="Times New Roman"/>
                <a:cs typeface="Times New Roman"/>
              </a:rPr>
              <a:t>F</a:t>
            </a:r>
            <a:r>
              <a:rPr sz="1650" b="1" spc="-26" dirty="0">
                <a:solidFill>
                  <a:prstClr val="black"/>
                </a:solidFill>
                <a:latin typeface="Times New Roman"/>
                <a:cs typeface="Times New Roman"/>
              </a:rPr>
              <a:t>a</a:t>
            </a:r>
            <a:r>
              <a:rPr sz="1650" b="1" spc="-30" dirty="0">
                <a:solidFill>
                  <a:prstClr val="black"/>
                </a:solidFill>
                <a:latin typeface="Times New Roman"/>
                <a:cs typeface="Times New Roman"/>
              </a:rPr>
              <a:t>cu</a:t>
            </a:r>
            <a:r>
              <a:rPr sz="1650" b="1" spc="-26" dirty="0">
                <a:solidFill>
                  <a:prstClr val="black"/>
                </a:solidFill>
                <a:latin typeface="Times New Roman"/>
                <a:cs typeface="Times New Roman"/>
              </a:rPr>
              <a:t>l</a:t>
            </a:r>
            <a:r>
              <a:rPr sz="1650" b="1" spc="-38" dirty="0">
                <a:solidFill>
                  <a:prstClr val="black"/>
                </a:solidFill>
                <a:latin typeface="Times New Roman"/>
                <a:cs typeface="Times New Roman"/>
              </a:rPr>
              <a:t>t</a:t>
            </a:r>
            <a:r>
              <a:rPr sz="1650" b="1" spc="-11" dirty="0">
                <a:solidFill>
                  <a:prstClr val="black"/>
                </a:solidFill>
                <a:latin typeface="Times New Roman"/>
                <a:cs typeface="Times New Roman"/>
              </a:rPr>
              <a:t>y</a:t>
            </a:r>
            <a:r>
              <a:rPr sz="1650" b="1" spc="-34" dirty="0">
                <a:solidFill>
                  <a:prstClr val="black"/>
                </a:solidFill>
                <a:latin typeface="Times New Roman"/>
                <a:cs typeface="Times New Roman"/>
              </a:rPr>
              <a:t> </a:t>
            </a:r>
            <a:r>
              <a:rPr sz="1650" b="1" spc="-38" dirty="0">
                <a:solidFill>
                  <a:prstClr val="black"/>
                </a:solidFill>
                <a:latin typeface="Times New Roman"/>
                <a:cs typeface="Times New Roman"/>
              </a:rPr>
              <a:t>Nam</a:t>
            </a:r>
            <a:r>
              <a:rPr sz="1650" b="1" spc="-30" dirty="0">
                <a:solidFill>
                  <a:prstClr val="black"/>
                </a:solidFill>
                <a:latin typeface="Times New Roman"/>
                <a:cs typeface="Times New Roman"/>
              </a:rPr>
              <a:t>e</a:t>
            </a:r>
            <a:r>
              <a:rPr sz="1650" b="1" spc="-8" dirty="0">
                <a:solidFill>
                  <a:prstClr val="black"/>
                </a:solidFill>
                <a:latin typeface="Times New Roman"/>
                <a:cs typeface="Times New Roman"/>
              </a:rPr>
              <a:t>:</a:t>
            </a:r>
            <a:r>
              <a:rPr sz="1650" b="1" dirty="0">
                <a:solidFill>
                  <a:prstClr val="black"/>
                </a:solidFill>
                <a:latin typeface="Times New Roman"/>
                <a:cs typeface="Times New Roman"/>
              </a:rPr>
              <a:t>	</a:t>
            </a:r>
            <a:r>
              <a:rPr sz="1650" b="1" spc="-38" dirty="0">
                <a:solidFill>
                  <a:prstClr val="black"/>
                </a:solidFill>
                <a:latin typeface="Times New Roman"/>
                <a:cs typeface="Times New Roman"/>
              </a:rPr>
              <a:t>M</a:t>
            </a:r>
            <a:r>
              <a:rPr lang="en-US" sz="1650" b="1" spc="-8" dirty="0">
                <a:solidFill>
                  <a:prstClr val="black"/>
                </a:solidFill>
                <a:latin typeface="Times New Roman"/>
                <a:cs typeface="Times New Roman"/>
              </a:rPr>
              <a:t>r. Alok Raj</a:t>
            </a:r>
            <a:endParaRPr sz="1650" dirty="0">
              <a:solidFill>
                <a:prstClr val="black"/>
              </a:solidFill>
              <a:latin typeface="Times New Roman"/>
              <a:cs typeface="Times New Roman"/>
            </a:endParaRPr>
          </a:p>
          <a:p>
            <a:pPr>
              <a:spcBef>
                <a:spcPts val="26"/>
              </a:spcBef>
              <a:defRPr/>
            </a:pPr>
            <a:endParaRPr sz="1425" dirty="0">
              <a:solidFill>
                <a:prstClr val="black"/>
              </a:solidFill>
              <a:latin typeface="Times New Roman"/>
              <a:cs typeface="Times New Roman"/>
            </a:endParaRPr>
          </a:p>
          <a:p>
            <a:pPr marL="266700" indent="-257175">
              <a:buFont typeface="Times New Roman"/>
              <a:buChar char="•"/>
              <a:tabLst>
                <a:tab pos="267176" algn="l"/>
                <a:tab pos="1495425" algn="l"/>
              </a:tabLst>
              <a:defRPr/>
            </a:pPr>
            <a:r>
              <a:rPr sz="1650" spc="-11" dirty="0">
                <a:solidFill>
                  <a:prstClr val="black"/>
                </a:solidFill>
                <a:latin typeface="Times New Roman"/>
                <a:cs typeface="Times New Roman"/>
              </a:rPr>
              <a:t>De</a:t>
            </a:r>
            <a:r>
              <a:rPr sz="1650" spc="-15" dirty="0">
                <a:solidFill>
                  <a:prstClr val="black"/>
                </a:solidFill>
                <a:latin typeface="Times New Roman"/>
                <a:cs typeface="Times New Roman"/>
              </a:rPr>
              <a:t>s</a:t>
            </a:r>
            <a:r>
              <a:rPr sz="1650" spc="-8" dirty="0">
                <a:solidFill>
                  <a:prstClr val="black"/>
                </a:solidFill>
                <a:latin typeface="Times New Roman"/>
                <a:cs typeface="Times New Roman"/>
              </a:rPr>
              <a:t>ignation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Assi</a:t>
            </a:r>
            <a:r>
              <a:rPr sz="1650" spc="-15" dirty="0">
                <a:solidFill>
                  <a:prstClr val="black"/>
                </a:solidFill>
                <a:latin typeface="Times New Roman"/>
                <a:cs typeface="Times New Roman"/>
              </a:rPr>
              <a:t>s</a:t>
            </a:r>
            <a:r>
              <a:rPr sz="1650" spc="-8" dirty="0">
                <a:solidFill>
                  <a:prstClr val="black"/>
                </a:solidFill>
                <a:latin typeface="Times New Roman"/>
                <a:cs typeface="Times New Roman"/>
              </a:rPr>
              <a:t>tant</a:t>
            </a:r>
            <a:r>
              <a:rPr sz="1650" spc="4" dirty="0">
                <a:solidFill>
                  <a:prstClr val="black"/>
                </a:solidFill>
                <a:latin typeface="Times New Roman"/>
                <a:cs typeface="Times New Roman"/>
              </a:rPr>
              <a:t> </a:t>
            </a:r>
            <a:r>
              <a:rPr sz="1650" spc="-11" dirty="0">
                <a:solidFill>
                  <a:prstClr val="black"/>
                </a:solidFill>
                <a:latin typeface="Times New Roman"/>
                <a:cs typeface="Times New Roman"/>
              </a:rPr>
              <a:t>P</a:t>
            </a:r>
            <a:r>
              <a:rPr sz="1650" dirty="0">
                <a:solidFill>
                  <a:prstClr val="black"/>
                </a:solidFill>
                <a:latin typeface="Times New Roman"/>
                <a:cs typeface="Times New Roman"/>
              </a:rPr>
              <a:t>r</a:t>
            </a:r>
            <a:r>
              <a:rPr sz="1650" spc="-8" dirty="0">
                <a:solidFill>
                  <a:prstClr val="black"/>
                </a:solidFill>
                <a:latin typeface="Times New Roman"/>
                <a:cs typeface="Times New Roman"/>
              </a:rPr>
              <a:t>ofes</a:t>
            </a:r>
            <a:r>
              <a:rPr sz="1650" spc="-15" dirty="0">
                <a:solidFill>
                  <a:prstClr val="black"/>
                </a:solidFill>
                <a:latin typeface="Times New Roman"/>
                <a:cs typeface="Times New Roman"/>
              </a:rPr>
              <a:t>s</a:t>
            </a:r>
            <a:r>
              <a:rPr sz="1650" spc="-8" dirty="0">
                <a:solidFill>
                  <a:prstClr val="black"/>
                </a:solidFill>
                <a:latin typeface="Times New Roman"/>
                <a:cs typeface="Times New Roman"/>
              </a:rPr>
              <a:t>or</a:t>
            </a:r>
            <a:endParaRPr sz="1650" dirty="0">
              <a:solidFill>
                <a:prstClr val="black"/>
              </a:solidFill>
              <a:latin typeface="Times New Roman"/>
              <a:cs typeface="Times New Roman"/>
            </a:endParaRPr>
          </a:p>
          <a:p>
            <a:pPr>
              <a:spcBef>
                <a:spcPts val="9"/>
              </a:spcBef>
              <a:buFont typeface="Times New Roman"/>
              <a:buChar char="•"/>
              <a:defRPr/>
            </a:pPr>
            <a:endParaRPr sz="1575" dirty="0">
              <a:solidFill>
                <a:prstClr val="black"/>
              </a:solidFill>
              <a:latin typeface="Times New Roman"/>
              <a:cs typeface="Times New Roman"/>
            </a:endParaRPr>
          </a:p>
          <a:p>
            <a:pPr marL="266700" indent="-257175">
              <a:buFont typeface="Times New Roman"/>
              <a:buChar char="•"/>
              <a:tabLst>
                <a:tab pos="267176" algn="l"/>
                <a:tab pos="1413034" algn="l"/>
                <a:tab pos="1628299" algn="l"/>
              </a:tabLst>
              <a:defRPr/>
            </a:pPr>
            <a:r>
              <a:rPr sz="1650" spc="-11" dirty="0">
                <a:solidFill>
                  <a:prstClr val="black"/>
                </a:solidFill>
                <a:latin typeface="Times New Roman"/>
                <a:cs typeface="Times New Roman"/>
              </a:rPr>
              <a:t>Depar</a:t>
            </a:r>
            <a:r>
              <a:rPr sz="1650" dirty="0">
                <a:solidFill>
                  <a:prstClr val="black"/>
                </a:solidFill>
                <a:latin typeface="Times New Roman"/>
                <a:cs typeface="Times New Roman"/>
              </a:rPr>
              <a:t>t</a:t>
            </a:r>
            <a:r>
              <a:rPr sz="1650" spc="-15" dirty="0">
                <a:solidFill>
                  <a:prstClr val="black"/>
                </a:solidFill>
                <a:latin typeface="Times New Roman"/>
                <a:cs typeface="Times New Roman"/>
              </a:rPr>
              <a:t>me</a:t>
            </a:r>
            <a:r>
              <a:rPr sz="1650" spc="-8" dirty="0">
                <a:solidFill>
                  <a:prstClr val="black"/>
                </a:solidFill>
                <a:latin typeface="Times New Roman"/>
                <a:cs typeface="Times New Roman"/>
              </a:rPr>
              <a:t>nt</a:t>
            </a:r>
            <a:r>
              <a:rPr sz="1650" dirty="0">
                <a:solidFill>
                  <a:prstClr val="black"/>
                </a:solidFill>
                <a:latin typeface="Times New Roman"/>
                <a:cs typeface="Times New Roman"/>
              </a:rPr>
              <a:t>	</a:t>
            </a:r>
            <a:r>
              <a:rPr sz="1650" spc="-8" dirty="0">
                <a:solidFill>
                  <a:prstClr val="black"/>
                </a:solidFill>
                <a:latin typeface="Times New Roman"/>
                <a:cs typeface="Times New Roman"/>
              </a:rPr>
              <a:t>:</a:t>
            </a:r>
            <a:r>
              <a:rPr sz="1650" dirty="0">
                <a:solidFill>
                  <a:prstClr val="black"/>
                </a:solidFill>
                <a:latin typeface="Times New Roman"/>
                <a:cs typeface="Times New Roman"/>
              </a:rPr>
              <a:t>	</a:t>
            </a:r>
            <a:r>
              <a:rPr sz="1650" spc="-15" dirty="0">
                <a:solidFill>
                  <a:prstClr val="black"/>
                </a:solidFill>
                <a:latin typeface="Times New Roman"/>
                <a:cs typeface="Times New Roman"/>
              </a:rPr>
              <a:t>MBA</a:t>
            </a:r>
            <a:endParaRPr sz="1650" dirty="0">
              <a:solidFill>
                <a:prstClr val="black"/>
              </a:solidFill>
              <a:latin typeface="Times New Roman"/>
              <a:cs typeface="Times New Roman"/>
            </a:endParaRPr>
          </a:p>
        </p:txBody>
      </p:sp>
      <p:sp>
        <p:nvSpPr>
          <p:cNvPr id="13" name="object 7"/>
          <p:cNvSpPr txBox="1"/>
          <p:nvPr/>
        </p:nvSpPr>
        <p:spPr>
          <a:xfrm>
            <a:off x="304800" y="3124200"/>
            <a:ext cx="1503647" cy="750205"/>
          </a:xfrm>
          <a:prstGeom prst="rect">
            <a:avLst/>
          </a:prstGeom>
        </p:spPr>
        <p:txBody>
          <a:bodyPr wrap="square" lIns="0" tIns="0" rIns="0" bIns="0">
            <a:spAutoFit/>
          </a:bodyPr>
          <a:lstStyle/>
          <a:p>
            <a:pPr marL="266700" indent="-257175">
              <a:tabLst>
                <a:tab pos="267176" algn="l"/>
              </a:tabLst>
              <a:defRPr/>
            </a:pPr>
            <a:endParaRPr sz="1650">
              <a:solidFill>
                <a:prstClr val="black"/>
              </a:solidFill>
              <a:latin typeface="Times New Roman"/>
              <a:cs typeface="Times New Roman"/>
            </a:endParaRPr>
          </a:p>
          <a:p>
            <a:pPr>
              <a:spcBef>
                <a:spcPts val="8"/>
              </a:spcBef>
              <a:buFont typeface="Times New Roman"/>
              <a:buChar char="•"/>
              <a:defRPr/>
            </a:pPr>
            <a:endParaRPr sz="1575">
              <a:solidFill>
                <a:prstClr val="black"/>
              </a:solidFill>
              <a:latin typeface="Times New Roman"/>
              <a:cs typeface="Times New Roman"/>
            </a:endParaRPr>
          </a:p>
          <a:p>
            <a:pPr marL="198120" indent="-188595">
              <a:buFont typeface="Times New Roman"/>
              <a:buChar char="•"/>
              <a:tabLst>
                <a:tab pos="198596" algn="l"/>
              </a:tabLst>
              <a:defRPr/>
            </a:pPr>
            <a:r>
              <a:rPr sz="1650" spc="-8">
                <a:solidFill>
                  <a:prstClr val="black"/>
                </a:solidFill>
                <a:latin typeface="Times New Roman"/>
                <a:cs typeface="Times New Roman"/>
              </a:rPr>
              <a:t>Qualification</a:t>
            </a:r>
            <a:r>
              <a:rPr lang="en-US" sz="1650" spc="-8">
                <a:solidFill>
                  <a:prstClr val="black"/>
                </a:solidFill>
                <a:latin typeface="Times New Roman"/>
                <a:cs typeface="Times New Roman"/>
              </a:rPr>
              <a:t>  </a:t>
            </a:r>
            <a:r>
              <a:rPr sz="1650" spc="-8">
                <a:solidFill>
                  <a:prstClr val="black"/>
                </a:solidFill>
                <a:latin typeface="Times New Roman"/>
                <a:cs typeface="Times New Roman"/>
              </a:rPr>
              <a:t>:</a:t>
            </a:r>
            <a:endParaRPr sz="1650">
              <a:solidFill>
                <a:prstClr val="black"/>
              </a:solidFill>
              <a:latin typeface="Times New Roman"/>
              <a:cs typeface="Times New Roman"/>
            </a:endParaRPr>
          </a:p>
        </p:txBody>
      </p:sp>
      <p:sp>
        <p:nvSpPr>
          <p:cNvPr id="15" name="object 8"/>
          <p:cNvSpPr txBox="1"/>
          <p:nvPr/>
        </p:nvSpPr>
        <p:spPr>
          <a:xfrm>
            <a:off x="1752600" y="3124200"/>
            <a:ext cx="3201140" cy="750205"/>
          </a:xfrm>
          <a:prstGeom prst="rect">
            <a:avLst/>
          </a:prstGeom>
        </p:spPr>
        <p:txBody>
          <a:bodyPr wrap="square" lIns="0" tIns="0" rIns="0" bIns="0">
            <a:spAutoFit/>
          </a:bodyPr>
          <a:lstStyle/>
          <a:p>
            <a:pPr algn="ctr">
              <a:tabLst>
                <a:tab pos="215741" algn="l"/>
              </a:tabLst>
              <a:defRPr/>
            </a:pPr>
            <a:endParaRPr sz="1650" dirty="0">
              <a:latin typeface="Times New Roman"/>
              <a:cs typeface="Times New Roman"/>
            </a:endParaRPr>
          </a:p>
          <a:p>
            <a:pPr>
              <a:spcBef>
                <a:spcPts val="8"/>
              </a:spcBef>
              <a:defRPr/>
            </a:pPr>
            <a:endParaRPr lang="en-US" sz="1575" dirty="0">
              <a:latin typeface="Times New Roman"/>
              <a:cs typeface="Times New Roman"/>
            </a:endParaRPr>
          </a:p>
          <a:p>
            <a:pPr marL="71914" algn="ctr">
              <a:defRPr/>
            </a:pPr>
            <a:r>
              <a:rPr sz="1650" spc="-15" dirty="0">
                <a:latin typeface="Times New Roman"/>
                <a:cs typeface="Times New Roman"/>
              </a:rPr>
              <a:t>MBA</a:t>
            </a:r>
            <a:r>
              <a:rPr sz="1650" spc="-4" dirty="0">
                <a:latin typeface="Times New Roman"/>
                <a:cs typeface="Times New Roman"/>
              </a:rPr>
              <a:t> </a:t>
            </a:r>
            <a:r>
              <a:rPr lang="en-US" sz="1650" spc="-11" dirty="0">
                <a:latin typeface="Times New Roman"/>
                <a:cs typeface="Times New Roman"/>
              </a:rPr>
              <a:t>(Marketing and Operations)</a:t>
            </a:r>
            <a:endParaRPr sz="1650" dirty="0">
              <a:latin typeface="Times New Roman"/>
              <a:cs typeface="Times New Roman"/>
            </a:endParaRPr>
          </a:p>
        </p:txBody>
      </p:sp>
      <p:sp>
        <p:nvSpPr>
          <p:cNvPr id="16" name="object 9"/>
          <p:cNvSpPr txBox="1"/>
          <p:nvPr/>
        </p:nvSpPr>
        <p:spPr>
          <a:xfrm>
            <a:off x="303382" y="4193968"/>
            <a:ext cx="6402218" cy="750205"/>
          </a:xfrm>
          <a:prstGeom prst="rect">
            <a:avLst/>
          </a:prstGeom>
        </p:spPr>
        <p:txBody>
          <a:bodyPr wrap="square" lIns="0" tIns="0" rIns="0" bIns="0">
            <a:spAutoFit/>
          </a:bodyPr>
          <a:lstStyle/>
          <a:p>
            <a:pPr marL="198120" indent="-188595">
              <a:buFont typeface="Times New Roman"/>
              <a:buChar char="•"/>
              <a:tabLst>
                <a:tab pos="198120" algn="l"/>
                <a:tab pos="1654493" algn="l"/>
              </a:tabLst>
              <a:defRPr/>
            </a:pPr>
            <a:r>
              <a:rPr sz="1650" spc="-11" dirty="0">
                <a:solidFill>
                  <a:prstClr val="black"/>
                </a:solidFill>
                <a:latin typeface="Times New Roman"/>
                <a:cs typeface="Times New Roman"/>
              </a:rPr>
              <a:t>S</a:t>
            </a:r>
            <a:r>
              <a:rPr sz="1650" spc="-8" dirty="0">
                <a:solidFill>
                  <a:prstClr val="black"/>
                </a:solidFill>
                <a:latin typeface="Times New Roman"/>
                <a:cs typeface="Times New Roman"/>
              </a:rPr>
              <a:t>peci</a:t>
            </a:r>
            <a:r>
              <a:rPr sz="1650" spc="-15" dirty="0">
                <a:solidFill>
                  <a:prstClr val="black"/>
                </a:solidFill>
                <a:latin typeface="Times New Roman"/>
                <a:cs typeface="Times New Roman"/>
              </a:rPr>
              <a:t>a</a:t>
            </a:r>
            <a:r>
              <a:rPr sz="1650" spc="-8" dirty="0">
                <a:solidFill>
                  <a:prstClr val="black"/>
                </a:solidFill>
                <a:latin typeface="Times New Roman"/>
                <a:cs typeface="Times New Roman"/>
              </a:rPr>
              <a:t>lizati</a:t>
            </a:r>
            <a:r>
              <a:rPr sz="1650" dirty="0">
                <a:solidFill>
                  <a:prstClr val="black"/>
                </a:solidFill>
                <a:latin typeface="Times New Roman"/>
                <a:cs typeface="Times New Roman"/>
              </a:rPr>
              <a:t>o</a:t>
            </a:r>
            <a:r>
              <a:rPr sz="1650" spc="-8" dirty="0">
                <a:solidFill>
                  <a:prstClr val="black"/>
                </a:solidFill>
                <a:latin typeface="Times New Roman"/>
                <a:cs typeface="Times New Roman"/>
              </a:rPr>
              <a:t>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r>
              <a:rPr sz="1650" dirty="0">
                <a:solidFill>
                  <a:prstClr val="black"/>
                </a:solidFill>
                <a:latin typeface="Times New Roman"/>
                <a:cs typeface="Times New Roman"/>
              </a:rPr>
              <a:t>	</a:t>
            </a:r>
            <a:r>
              <a:rPr lang="en-US" sz="1650" spc="-19" dirty="0">
                <a:solidFill>
                  <a:prstClr val="black"/>
                </a:solidFill>
                <a:latin typeface="Times New Roman"/>
                <a:cs typeface="Times New Roman"/>
              </a:rPr>
              <a:t>Marketing &amp; Operations</a:t>
            </a:r>
            <a:endParaRPr sz="1650" dirty="0">
              <a:solidFill>
                <a:prstClr val="black"/>
              </a:solidFill>
              <a:latin typeface="Times New Roman"/>
              <a:cs typeface="Times New Roman"/>
            </a:endParaRPr>
          </a:p>
          <a:p>
            <a:pPr>
              <a:spcBef>
                <a:spcPts val="9"/>
              </a:spcBef>
              <a:buFont typeface="Times New Roman"/>
              <a:buChar char="•"/>
              <a:defRPr/>
            </a:pPr>
            <a:endParaRPr sz="1575" dirty="0">
              <a:solidFill>
                <a:prstClr val="black"/>
              </a:solidFill>
              <a:latin typeface="Times New Roman"/>
              <a:cs typeface="Times New Roman"/>
            </a:endParaRPr>
          </a:p>
          <a:p>
            <a:pPr marL="266700" indent="-257175">
              <a:buFont typeface="Arial" panose="020B0604020202020204" pitchFamily="34" charset="0"/>
              <a:buChar char="•"/>
              <a:tabLst>
                <a:tab pos="267176" algn="l"/>
              </a:tabLst>
              <a:defRPr/>
            </a:pPr>
            <a:r>
              <a:rPr sz="1650" spc="-11" dirty="0">
                <a:solidFill>
                  <a:prstClr val="black"/>
                </a:solidFill>
                <a:latin typeface="Times New Roman"/>
                <a:cs typeface="Times New Roman"/>
              </a:rPr>
              <a:t>Tea</a:t>
            </a:r>
            <a:r>
              <a:rPr sz="1650" spc="-15" dirty="0">
                <a:solidFill>
                  <a:prstClr val="black"/>
                </a:solidFill>
                <a:latin typeface="Times New Roman"/>
                <a:cs typeface="Times New Roman"/>
              </a:rPr>
              <a:t>c</a:t>
            </a:r>
            <a:r>
              <a:rPr sz="1650" spc="-8" dirty="0">
                <a:solidFill>
                  <a:prstClr val="black"/>
                </a:solidFill>
                <a:latin typeface="Times New Roman"/>
                <a:cs typeface="Times New Roman"/>
              </a:rPr>
              <a:t>hing</a:t>
            </a:r>
            <a:r>
              <a:rPr sz="1650" spc="4" dirty="0">
                <a:solidFill>
                  <a:prstClr val="black"/>
                </a:solidFill>
                <a:latin typeface="Times New Roman"/>
                <a:cs typeface="Times New Roman"/>
              </a:rPr>
              <a:t> </a:t>
            </a:r>
            <a:r>
              <a:rPr sz="1650" spc="-11" dirty="0">
                <a:solidFill>
                  <a:prstClr val="black"/>
                </a:solidFill>
                <a:latin typeface="Times New Roman"/>
                <a:cs typeface="Times New Roman"/>
              </a:rPr>
              <a:t>Ar</a:t>
            </a:r>
            <a:r>
              <a:rPr sz="1650" spc="-4" dirty="0">
                <a:solidFill>
                  <a:prstClr val="black"/>
                </a:solidFill>
                <a:latin typeface="Times New Roman"/>
                <a:cs typeface="Times New Roman"/>
              </a:rPr>
              <a:t>e</a:t>
            </a:r>
            <a:r>
              <a:rPr sz="1650" spc="-8" dirty="0">
                <a:solidFill>
                  <a:prstClr val="black"/>
                </a:solidFill>
                <a:latin typeface="Times New Roman"/>
                <a:cs typeface="Times New Roman"/>
              </a:rPr>
              <a:t>a:</a:t>
            </a:r>
            <a:r>
              <a:rPr sz="1650" spc="4" dirty="0">
                <a:solidFill>
                  <a:prstClr val="black"/>
                </a:solidFill>
                <a:latin typeface="Times New Roman"/>
                <a:cs typeface="Times New Roman"/>
              </a:rPr>
              <a:t> </a:t>
            </a:r>
            <a:r>
              <a:rPr lang="en-US" sz="1650" spc="4" dirty="0">
                <a:solidFill>
                  <a:prstClr val="black"/>
                </a:solidFill>
                <a:latin typeface="Times New Roman"/>
                <a:cs typeface="Times New Roman"/>
              </a:rPr>
              <a:t>   </a:t>
            </a:r>
            <a:r>
              <a:rPr lang="en-US" sz="1650" spc="-15" dirty="0">
                <a:solidFill>
                  <a:prstClr val="black"/>
                </a:solidFill>
                <a:latin typeface="Times New Roman"/>
                <a:cs typeface="Times New Roman"/>
              </a:rPr>
              <a:t>General Management , Operations Management </a:t>
            </a:r>
            <a:endParaRPr sz="1650" dirty="0">
              <a:solidFill>
                <a:prstClr val="black"/>
              </a:solidFill>
              <a:latin typeface="Times New Roman"/>
              <a:cs typeface="Times New Roman"/>
            </a:endParaRPr>
          </a:p>
        </p:txBody>
      </p:sp>
    </p:spTree>
    <p:extLst>
      <p:ext uri="{BB962C8B-B14F-4D97-AF65-F5344CB8AC3E}">
        <p14:creationId xmlns:p14="http://schemas.microsoft.com/office/powerpoint/2010/main" val="1458501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7" y="1165384"/>
            <a:ext cx="8138864" cy="4361656"/>
          </a:xfrm>
        </p:spPr>
        <p:txBody>
          <a:bodyPr>
            <a:normAutofit/>
          </a:bodyPr>
          <a:lstStyle/>
          <a:p>
            <a:pPr marL="0" indent="0">
              <a:buNone/>
            </a:pPr>
            <a:r>
              <a:rPr lang="en-US" sz="2400" b="1">
                <a:latin typeface="Times New Roman" panose="02020603050405020304" pitchFamily="18" charset="0"/>
                <a:cs typeface="Times New Roman" panose="02020603050405020304" pitchFamily="18" charset="0"/>
              </a:rPr>
              <a:t>Unit –I</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Entrepreneurship: need, scope, </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Entrepreneurial competencies &amp; traits, </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Factors affecting entrepreneurial development, </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Entrepreneurial motivation (Mc </a:t>
            </a:r>
            <a:r>
              <a:rPr lang="en-US" sz="2400" err="1">
                <a:effectLst/>
                <a:latin typeface="Times New Roman" panose="02020603050405020304" pitchFamily="18" charset="0"/>
                <a:ea typeface="Calibri" panose="020F0502020204030204" pitchFamily="34" charset="0"/>
                <a:cs typeface="Times New Roman" panose="02020603050405020304" pitchFamily="18" charset="0"/>
              </a:rPr>
              <a:t>Clelland</a:t>
            </a:r>
            <a:r>
              <a:rPr lang="en-US" sz="2400">
                <a:effectLst/>
                <a:latin typeface="Times New Roman" panose="02020603050405020304" pitchFamily="18" charset="0"/>
                <a:ea typeface="Calibri" panose="020F0502020204030204" pitchFamily="34" charset="0"/>
                <a:cs typeface="Times New Roman" panose="02020603050405020304" pitchFamily="18" charset="0"/>
              </a:rPr>
              <a:t> Achievement motivation theory), conceptual model of entrepreneurship, </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entrepreneur vs. intrapreneur; </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Classification of entrepreneurs; Entrepreneurial Development </a:t>
            </a:r>
            <a:r>
              <a:rPr lang="en-US" sz="2400" err="1">
                <a:effectLst/>
                <a:latin typeface="Times New Roman" panose="02020603050405020304" pitchFamily="18" charset="0"/>
                <a:ea typeface="Calibri" panose="020F0502020204030204" pitchFamily="34" charset="0"/>
                <a:cs typeface="Times New Roman" panose="02020603050405020304" pitchFamily="18" charset="0"/>
              </a:rPr>
              <a:t>Programmes</a:t>
            </a:r>
            <a:r>
              <a:rPr lang="en-US" sz="2400">
                <a:effectLst/>
                <a:latin typeface="Times New Roman" panose="02020603050405020304" pitchFamily="18" charset="0"/>
                <a:ea typeface="Calibri" panose="020F0502020204030204" pitchFamily="34" charset="0"/>
                <a:cs typeface="Times New Roman" panose="02020603050405020304" pitchFamily="18" charset="0"/>
              </a:rPr>
              <a:t>.</a:t>
            </a:r>
            <a:endParaRPr lang="en-US" sz="2400" b="1">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5</a:t>
            </a:fld>
            <a:endParaRPr lang="en-US">
              <a:solidFill>
                <a:prstClr val="black">
                  <a:tint val="75000"/>
                </a:prstClr>
              </a:solidFill>
              <a:latin typeface="Calibri"/>
            </a:endParaRPr>
          </a:p>
        </p:txBody>
      </p:sp>
      <p:pic>
        <p:nvPicPr>
          <p:cNvPr id="10" name="Picture 9"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167"/>
            <a:ext cx="2209800" cy="947268"/>
          </a:xfrm>
          <a:prstGeom prst="rect">
            <a:avLst/>
          </a:prstGeom>
        </p:spPr>
      </p:pic>
      <p:sp>
        <p:nvSpPr>
          <p:cNvPr id="11" name="Title 1"/>
          <p:cNvSpPr txBox="1">
            <a:spLocks/>
          </p:cNvSpPr>
          <p:nvPr/>
        </p:nvSpPr>
        <p:spPr>
          <a:xfrm>
            <a:off x="2267744" y="42535"/>
            <a:ext cx="6768752"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r>
              <a:rPr lang="en-US" sz="3600" b="1">
                <a:solidFill>
                  <a:schemeClr val="tx1"/>
                </a:solidFill>
                <a:latin typeface="Times New Roman" panose="02020603050405020304" pitchFamily="18" charset="0"/>
                <a:cs typeface="Times New Roman" panose="02020603050405020304" pitchFamily="18" charset="0"/>
              </a:rPr>
              <a:t>Subject Syllabus</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323297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052736"/>
            <a:ext cx="8856984" cy="5040560"/>
          </a:xfrm>
        </p:spPr>
        <p:txBody>
          <a:bodyPr>
            <a:noAutofit/>
          </a:bodyPr>
          <a:lstStyle/>
          <a:p>
            <a:pPr marL="0" indent="0" algn="just">
              <a:lnSpc>
                <a:spcPct val="160000"/>
              </a:lnSpc>
              <a:buNone/>
            </a:pPr>
            <a:r>
              <a:rPr lang="en-US" sz="2400" b="1">
                <a:latin typeface="Times New Roman" panose="02020603050405020304" pitchFamily="18" charset="0"/>
                <a:cs typeface="Times New Roman" panose="02020603050405020304" pitchFamily="18" charset="0"/>
              </a:rPr>
              <a:t>Unit –II</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Introduction to Innovation, </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Entrepreneurial Idea Generation and Identifying Business Opportunities, </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Management skills for Entrepreneurs and managing for Value Creation, </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Creating and Sustaining Enterprising Model &amp; Organizational Effectiveness, </a:t>
            </a:r>
          </a:p>
          <a:p>
            <a:pPr algn="l"/>
            <a:r>
              <a:rPr lang="en-US" sz="2400">
                <a:effectLst/>
                <a:latin typeface="Times New Roman" panose="02020603050405020304" pitchFamily="18" charset="0"/>
                <a:ea typeface="Calibri" panose="020F0502020204030204" pitchFamily="34" charset="0"/>
                <a:cs typeface="Times New Roman" panose="02020603050405020304" pitchFamily="18" charset="0"/>
              </a:rPr>
              <a:t>New initiatives taken by the Government to promote entrepreneurship in India at a larger scale.</a:t>
            </a:r>
            <a:endParaRPr lang="en-US" sz="2400" b="1">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fld id="{9F6747D8-04E6-4319-A800-D89ED683EC51}" type="datetime1">
              <a:rPr lang="en-US" smtClean="0">
                <a:solidFill>
                  <a:prstClr val="black">
                    <a:tint val="75000"/>
                  </a:prstClr>
                </a:solidFill>
                <a:latin typeface="Calibri"/>
              </a:rPr>
              <a:pPr>
                <a:defRPr/>
              </a:pPr>
              <a:t>12-Aug-25</a:t>
            </a:fld>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a:t>
            </a:fld>
            <a:endParaRPr lang="en-US">
              <a:solidFill>
                <a:prstClr val="black">
                  <a:tint val="75000"/>
                </a:prstClr>
              </a:solidFill>
              <a:latin typeface="Calibri"/>
            </a:endParaRPr>
          </a:p>
        </p:txBody>
      </p:sp>
      <p:sp>
        <p:nvSpPr>
          <p:cNvPr id="8" name="Title 1"/>
          <p:cNvSpPr txBox="1">
            <a:spLocks/>
          </p:cNvSpPr>
          <p:nvPr/>
        </p:nvSpPr>
        <p:spPr>
          <a:xfrm>
            <a:off x="1763688" y="26968"/>
            <a:ext cx="7272808" cy="936104"/>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600" b="1">
                <a:solidFill>
                  <a:prstClr val="black"/>
                </a:solidFill>
                <a:latin typeface="Times New Roman" panose="02020603050405020304" pitchFamily="18" charset="0"/>
                <a:cs typeface="Times New Roman" panose="02020603050405020304" pitchFamily="18" charset="0"/>
              </a:rPr>
              <a:t>Subject Syllabus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672861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863326"/>
            <a:ext cx="8921357" cy="2762787"/>
          </a:xfrm>
        </p:spPr>
        <p:txBody>
          <a:bodyPr>
            <a:noAutofit/>
          </a:bodyPr>
          <a:lstStyle/>
          <a:p>
            <a:pPr algn="just">
              <a:spcBef>
                <a:spcPts val="0"/>
              </a:spcBef>
            </a:pPr>
            <a:r>
              <a:rPr lang="en-US" sz="2600" b="1">
                <a:effectLst/>
                <a:latin typeface="Times New Roman" panose="02020603050405020304" pitchFamily="18" charset="0"/>
                <a:ea typeface="Calibri" panose="020F0502020204030204" pitchFamily="34" charset="0"/>
              </a:rPr>
              <a:t>UNIT III</a:t>
            </a:r>
          </a:p>
          <a:p>
            <a:pPr algn="just">
              <a:spcBef>
                <a:spcPts val="0"/>
              </a:spcBef>
            </a:pPr>
            <a:r>
              <a:rPr lang="en-US" sz="2400">
                <a:effectLst/>
                <a:latin typeface="Times New Roman" panose="02020603050405020304" pitchFamily="18" charset="0"/>
                <a:ea typeface="Calibri" panose="020F0502020204030204" pitchFamily="34" charset="0"/>
                <a:cs typeface="Times New Roman" panose="02020603050405020304" pitchFamily="18" charset="0"/>
              </a:rPr>
              <a:t>The business plan as an entrepreneurial tool, </a:t>
            </a:r>
          </a:p>
          <a:p>
            <a:pPr algn="just">
              <a:spcBef>
                <a:spcPts val="0"/>
              </a:spcBef>
            </a:pPr>
            <a:r>
              <a:rPr lang="en-US" sz="2400">
                <a:effectLst/>
                <a:latin typeface="Times New Roman" panose="02020603050405020304" pitchFamily="18" charset="0"/>
                <a:ea typeface="Calibri" panose="020F0502020204030204" pitchFamily="34" charset="0"/>
                <a:cs typeface="Times New Roman" panose="02020603050405020304" pitchFamily="18" charset="0"/>
              </a:rPr>
              <a:t>Business Planning Process: elements of business planning, preparation of project plan, </a:t>
            </a:r>
          </a:p>
          <a:p>
            <a:pPr algn="just">
              <a:spcBef>
                <a:spcPts val="0"/>
              </a:spcBef>
            </a:pPr>
            <a:r>
              <a:rPr lang="en-US" sz="2400">
                <a:effectLst/>
                <a:latin typeface="Times New Roman" panose="02020603050405020304" pitchFamily="18" charset="0"/>
                <a:ea typeface="Calibri" panose="020F0502020204030204" pitchFamily="34" charset="0"/>
                <a:cs typeface="Times New Roman" panose="02020603050405020304" pitchFamily="18" charset="0"/>
              </a:rPr>
              <a:t>Components of an ideal business plan – market plan, financial plan, operational plan, and, </a:t>
            </a:r>
          </a:p>
          <a:p>
            <a:pPr algn="just">
              <a:spcBef>
                <a:spcPts val="0"/>
              </a:spcBef>
            </a:pPr>
            <a:r>
              <a:rPr lang="en-US" sz="2400">
                <a:effectLst/>
                <a:latin typeface="Times New Roman" panose="02020603050405020304" pitchFamily="18" charset="0"/>
                <a:ea typeface="Calibri" panose="020F0502020204030204" pitchFamily="34" charset="0"/>
                <a:cs typeface="Times New Roman" panose="02020603050405020304" pitchFamily="18" charset="0"/>
              </a:rPr>
              <a:t>Feasibility Analysis – aspects and methods: Economic, financial, and market analysis - and technological feasibility. Various Forms of business ownership, </a:t>
            </a:r>
          </a:p>
          <a:p>
            <a:pPr algn="just">
              <a:spcBef>
                <a:spcPts val="0"/>
              </a:spcBef>
            </a:pPr>
            <a:r>
              <a:rPr lang="en-US" sz="2400">
                <a:effectLst/>
                <a:latin typeface="Times New Roman" panose="02020603050405020304" pitchFamily="18" charset="0"/>
                <a:ea typeface="Calibri" panose="020F0502020204030204" pitchFamily="34" charset="0"/>
                <a:cs typeface="Times New Roman" panose="02020603050405020304" pitchFamily="18" charset="0"/>
              </a:rPr>
              <a:t>Registration of business units; start-up to going IPO; revival, exit and end to a venture. </a:t>
            </a:r>
            <a:endParaRPr lang="en-US" sz="2400" b="1">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fld id="{55C9CBF3-D7E6-4CD6-B9A5-8613C9789211}" type="datetime1">
              <a:rPr lang="en-US" smtClean="0">
                <a:solidFill>
                  <a:prstClr val="black">
                    <a:tint val="75000"/>
                  </a:prstClr>
                </a:solidFill>
                <a:latin typeface="Calibri"/>
              </a:rPr>
              <a:pPr>
                <a:defRPr/>
              </a:pPr>
              <a:t>12-Aug-25</a:t>
            </a:fld>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7</a:t>
            </a:fld>
            <a:endParaRPr lang="en-US">
              <a:solidFill>
                <a:prstClr val="black">
                  <a:tint val="75000"/>
                </a:prstClr>
              </a:solidFill>
              <a:latin typeface="Calibri"/>
            </a:endParaRPr>
          </a:p>
        </p:txBody>
      </p:sp>
      <p:sp>
        <p:nvSpPr>
          <p:cNvPr id="8" name="Title 1"/>
          <p:cNvSpPr txBox="1">
            <a:spLocks/>
          </p:cNvSpPr>
          <p:nvPr/>
        </p:nvSpPr>
        <p:spPr>
          <a:xfrm>
            <a:off x="1547665" y="48267"/>
            <a:ext cx="7481196" cy="716437"/>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600" b="1">
                <a:solidFill>
                  <a:prstClr val="black"/>
                </a:solidFill>
                <a:latin typeface="Times New Roman" panose="02020603050405020304" pitchFamily="18" charset="0"/>
                <a:cs typeface="Times New Roman" panose="02020603050405020304" pitchFamily="18" charset="0"/>
              </a:rPr>
              <a:t>Subject Syllabus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490729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80728"/>
            <a:ext cx="8709620" cy="5267673"/>
          </a:xfrm>
        </p:spPr>
        <p:txBody>
          <a:bodyPr>
            <a:noAutofit/>
          </a:bodyPr>
          <a:lstStyle/>
          <a:p>
            <a:pPr marL="0" indent="0" algn="just">
              <a:spcBef>
                <a:spcPts val="0"/>
              </a:spcBef>
              <a:buNone/>
            </a:pPr>
            <a:r>
              <a:rPr lang="en-US" sz="2400" b="1">
                <a:effectLst/>
                <a:latin typeface="Times New Roman" panose="02020603050405020304" pitchFamily="18" charset="0"/>
                <a:ea typeface="Calibri" panose="020F0502020204030204" pitchFamily="34" charset="0"/>
              </a:rPr>
              <a:t>UNIT IV</a:t>
            </a:r>
          </a:p>
          <a:p>
            <a:pPr marL="0" indent="0" algn="just">
              <a:spcBef>
                <a:spcPts val="0"/>
              </a:spcBef>
              <a:buNone/>
            </a:pPr>
            <a:r>
              <a:rPr lang="en-US" sz="2400">
                <a:effectLst/>
                <a:latin typeface="Times New Roman" panose="02020603050405020304" pitchFamily="18" charset="0"/>
                <a:ea typeface="Calibri" panose="020F0502020204030204" pitchFamily="34" charset="0"/>
              </a:rPr>
              <a:t>Estimating financial funds requirement; Sources of finance – banks and financial institutions – IFCI, ICICI, IDBI and SIDBI), financing of Small Business Unit. Role of central government and state government in promoting entrepreneurship with various incentives, subsidies, grants, export oriented units – fiscal &amp; tax concessions, other government initiatives and inclusive entrepreneurial growth. Overview of MSME policy of government in India. Role of agencies assisting entrepreneurship </a:t>
            </a:r>
          </a:p>
          <a:p>
            <a:pPr marL="0" indent="0" algn="just">
              <a:spcBef>
                <a:spcPts val="0"/>
              </a:spcBef>
              <a:buNone/>
            </a:pPr>
            <a:r>
              <a:rPr lang="en-US" sz="2400">
                <a:effectLst/>
                <a:latin typeface="Times New Roman" panose="02020603050405020304" pitchFamily="18" charset="0"/>
                <a:ea typeface="Calibri" panose="020F0502020204030204" pitchFamily="34" charset="0"/>
              </a:rPr>
              <a:t>Entrepreneurship Development Institute (EDI). DICs, SSIs, NSICs, EDII NIESBUD, NEDB</a:t>
            </a:r>
          </a:p>
          <a:p>
            <a:pPr marL="0" indent="0" algn="just">
              <a:spcBef>
                <a:spcPts val="0"/>
              </a:spcBef>
              <a:buNone/>
            </a:pPr>
            <a:r>
              <a:rPr lang="en-US" sz="2400">
                <a:effectLst/>
                <a:latin typeface="Times New Roman" panose="02020603050405020304" pitchFamily="18" charset="0"/>
                <a:ea typeface="Calibri" panose="020F0502020204030204" pitchFamily="34" charset="0"/>
              </a:rPr>
              <a:t>New initiatives taken by government to promote entrepreneurship in India at larger scale.</a:t>
            </a:r>
            <a:endParaRPr lang="en-US" sz="2400" b="1">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fld id="{B1985003-68B0-406D-A229-0C8C44A4B514}" type="datetime1">
              <a:rPr lang="en-US" smtClean="0">
                <a:solidFill>
                  <a:prstClr val="black">
                    <a:tint val="75000"/>
                  </a:prstClr>
                </a:solidFill>
                <a:latin typeface="Calibri"/>
              </a:rPr>
              <a:pPr>
                <a:defRPr/>
              </a:pPr>
              <a:t>12-Aug-25</a:t>
            </a:fld>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8</a:t>
            </a:fld>
            <a:endParaRPr lang="en-US">
              <a:solidFill>
                <a:prstClr val="black">
                  <a:tint val="75000"/>
                </a:prstClr>
              </a:solidFill>
              <a:latin typeface="Calibri"/>
            </a:endParaRPr>
          </a:p>
        </p:txBody>
      </p:sp>
      <p:sp>
        <p:nvSpPr>
          <p:cNvPr id="8" name="Title 1"/>
          <p:cNvSpPr txBox="1">
            <a:spLocks/>
          </p:cNvSpPr>
          <p:nvPr/>
        </p:nvSpPr>
        <p:spPr>
          <a:xfrm>
            <a:off x="1619672" y="0"/>
            <a:ext cx="7560840" cy="980728"/>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600" b="1">
                <a:solidFill>
                  <a:prstClr val="black"/>
                </a:solidFill>
                <a:latin typeface="Times New Roman" panose="02020603050405020304" pitchFamily="18" charset="0"/>
                <a:cs typeface="Times New Roman" panose="02020603050405020304" pitchFamily="18" charset="0"/>
              </a:rPr>
              <a:t>Subject Syllabus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965906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470124"/>
            <a:ext cx="8039100" cy="4154390"/>
          </a:xfrm>
        </p:spPr>
        <p:txBody>
          <a:bodyPr>
            <a:normAutofit/>
          </a:bodyPr>
          <a:lstStyle/>
          <a:p>
            <a:pPr marL="0" indent="0" algn="just">
              <a:spcBef>
                <a:spcPts val="0"/>
              </a:spcBef>
              <a:buNone/>
            </a:pPr>
            <a:r>
              <a:rPr lang="en-US" sz="2400" b="1">
                <a:effectLst/>
                <a:latin typeface="Times New Roman" panose="02020603050405020304" pitchFamily="18" charset="0"/>
                <a:ea typeface="Calibri" panose="020F0502020204030204" pitchFamily="34" charset="0"/>
              </a:rPr>
              <a:t>UNIT V</a:t>
            </a:r>
          </a:p>
          <a:p>
            <a:pPr marL="0" indent="0" algn="just">
              <a:spcBef>
                <a:spcPts val="0"/>
              </a:spcBef>
              <a:buNone/>
            </a:pPr>
            <a:r>
              <a:rPr lang="en-US" sz="2400">
                <a:effectLst/>
                <a:latin typeface="Times New Roman" panose="02020603050405020304" pitchFamily="18" charset="0"/>
                <a:ea typeface="Calibri" panose="020F0502020204030204" pitchFamily="34" charset="0"/>
              </a:rPr>
              <a:t>Introduction to Intellectual Property Right (IPR), intellectual property and its protection, Forms of Protection depending on product; Patent, copyright, trademark, design knowhow, trade secrets etc. </a:t>
            </a:r>
            <a:endParaRPr lang="en-US" sz="2400" b="1">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fld id="{76BD37BF-6E4F-4049-9390-7CA812F9AF8D}" type="datetime1">
              <a:rPr lang="en-US" smtClean="0">
                <a:solidFill>
                  <a:prstClr val="black">
                    <a:tint val="75000"/>
                  </a:prstClr>
                </a:solidFill>
                <a:latin typeface="Calibri"/>
              </a:rPr>
              <a:pPr>
                <a:defRPr/>
              </a:pPr>
              <a:t>12-Aug-25</a:t>
            </a:fld>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9</a:t>
            </a:fld>
            <a:endParaRPr lang="en-US">
              <a:solidFill>
                <a:prstClr val="black">
                  <a:tint val="75000"/>
                </a:prstClr>
              </a:solidFill>
              <a:latin typeface="Calibri"/>
            </a:endParaRPr>
          </a:p>
        </p:txBody>
      </p:sp>
      <p:sp>
        <p:nvSpPr>
          <p:cNvPr id="8" name="Title 1"/>
          <p:cNvSpPr txBox="1">
            <a:spLocks/>
          </p:cNvSpPr>
          <p:nvPr/>
        </p:nvSpPr>
        <p:spPr>
          <a:xfrm>
            <a:off x="1691680" y="116632"/>
            <a:ext cx="7344816" cy="621654"/>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600" b="1">
                <a:solidFill>
                  <a:prstClr val="black"/>
                </a:solidFill>
                <a:latin typeface="Times New Roman" panose="02020603050405020304" pitchFamily="18" charset="0"/>
                <a:cs typeface="Times New Roman" panose="02020603050405020304" pitchFamily="18" charset="0"/>
              </a:rPr>
              <a:t>Subject Syllabus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6166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a:t>Noida Institute of Engineering and Technology, Greater Noida</a:t>
            </a:r>
          </a:p>
        </p:txBody>
      </p:sp>
      <p:sp>
        <p:nvSpPr>
          <p:cNvPr id="3" name="Subtitle 2"/>
          <p:cNvSpPr>
            <a:spLocks noGrp="1"/>
          </p:cNvSpPr>
          <p:nvPr>
            <p:ph type="subTitle" idx="1"/>
          </p:nvPr>
        </p:nvSpPr>
        <p:spPr>
          <a:xfrm>
            <a:off x="1447800" y="914400"/>
            <a:ext cx="6400800" cy="1035050"/>
          </a:xfrm>
        </p:spPr>
        <p:style>
          <a:lnRef idx="2">
            <a:schemeClr val="accent5"/>
          </a:lnRef>
          <a:fillRef idx="1">
            <a:schemeClr val="lt1"/>
          </a:fillRef>
          <a:effectRef idx="0">
            <a:schemeClr val="accent5"/>
          </a:effectRef>
          <a:fontRef idx="minor">
            <a:schemeClr val="dk1"/>
          </a:fontRef>
        </p:style>
        <p:txBody>
          <a:bodyPr>
            <a:normAutofit/>
          </a:bodyPr>
          <a:lstStyle/>
          <a:p>
            <a:r>
              <a:rPr lang="en-US" sz="2500">
                <a:solidFill>
                  <a:schemeClr val="tx1"/>
                </a:solidFill>
              </a:rPr>
              <a:t>ROLE OF ENTREPRENEURSHIP</a:t>
            </a:r>
          </a:p>
        </p:txBody>
      </p:sp>
      <p:sp>
        <p:nvSpPr>
          <p:cNvPr id="6" name="Subtitle 2"/>
          <p:cNvSpPr txBox="1">
            <a:spLocks/>
          </p:cNvSpPr>
          <p:nvPr/>
        </p:nvSpPr>
        <p:spPr>
          <a:xfrm>
            <a:off x="5791200" y="3962400"/>
            <a:ext cx="3048000" cy="1219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Alok Raj</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Department of </a:t>
            </a:r>
            <a:r>
              <a:rPr lang="en-US" sz="2400" dirty="0">
                <a:solidFill>
                  <a:schemeClr val="tx1"/>
                </a:solidFill>
              </a:rPr>
              <a:t>MBA</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7"/>
            <a:ext cx="2133600" cy="365125"/>
          </a:xfrm>
        </p:spPr>
        <p:txBody>
          <a:bodyPr/>
          <a:lstStyle/>
          <a:p>
            <a:fld id="{93B97E73-EC62-4307-8D21-C91D9CD9428D}" type="datetime1">
              <a:rPr lang="en-US" smtClean="0"/>
              <a:pPr/>
              <a:t>12-Aug-25</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10</a:t>
            </a:fld>
            <a:endParaRPr lang="en-US"/>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304800" y="248285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a:ln>
                  <a:noFill/>
                </a:ln>
                <a:solidFill>
                  <a:schemeClr val="tx1"/>
                </a:solidFill>
                <a:effectLst/>
                <a:uLnTx/>
                <a:uFillTx/>
                <a:latin typeface="+mn-lt"/>
                <a:ea typeface="+mn-ea"/>
                <a:cs typeface="+mn-cs"/>
              </a:rPr>
              <a:t>Unit:1</a:t>
            </a:r>
          </a:p>
        </p:txBody>
      </p:sp>
      <p:sp>
        <p:nvSpPr>
          <p:cNvPr id="13" name="Footer Placeholder 12"/>
          <p:cNvSpPr>
            <a:spLocks noGrp="1"/>
          </p:cNvSpPr>
          <p:nvPr>
            <p:ph type="ftr" sz="quarter" idx="11"/>
          </p:nvPr>
        </p:nvSpPr>
        <p:spPr>
          <a:xfrm>
            <a:off x="2362200" y="6248402"/>
            <a:ext cx="5029200" cy="365125"/>
          </a:xfrm>
        </p:spPr>
        <p:txBody>
          <a:bodyPr/>
          <a:lstStyle/>
          <a:p>
            <a:r>
              <a:rPr lang="en-US"/>
              <a:t>VIJAYLAXMI     AOE0771              Unit 1</a:t>
            </a:r>
          </a:p>
        </p:txBody>
      </p:sp>
      <p:sp>
        <p:nvSpPr>
          <p:cNvPr id="14" name="Subtitle 2"/>
          <p:cNvSpPr txBox="1">
            <a:spLocks/>
          </p:cNvSpPr>
          <p:nvPr/>
        </p:nvSpPr>
        <p:spPr>
          <a:xfrm>
            <a:off x="152400" y="35433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1" i="0" u="none" strike="noStrike" kern="1200" cap="none" spc="0" normalizeH="0" baseline="0" noProof="0">
                <a:ln>
                  <a:noFill/>
                </a:ln>
                <a:solidFill>
                  <a:schemeClr val="tx1"/>
                </a:solidFill>
                <a:effectLst/>
                <a:uLnTx/>
                <a:uFillTx/>
              </a:rPr>
              <a:t>Subject</a:t>
            </a:r>
            <a:r>
              <a:rPr kumimoji="0" lang="en-US" b="1" i="0" u="none" strike="noStrike" kern="1200" cap="none" spc="0" normalizeH="0" noProof="0">
                <a:ln>
                  <a:noFill/>
                </a:ln>
                <a:solidFill>
                  <a:schemeClr val="tx1"/>
                </a:solidFill>
                <a:effectLst/>
                <a:uLnTx/>
                <a:uFillTx/>
              </a:rPr>
              <a:t> Name</a:t>
            </a:r>
            <a:endParaRPr lang="en-US" b="1" noProof="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b="1" noProof="0">
                <a:solidFill>
                  <a:schemeClr val="tx1"/>
                </a:solidFill>
              </a:rPr>
              <a:t>Entrepreneurship Development &amp; IPR</a:t>
            </a:r>
            <a:endParaRPr kumimoji="0" lang="en-US" b="1" i="0" u="none" strike="noStrike" kern="1200" cap="none" spc="0" normalizeH="0" baseline="0" noProof="0">
              <a:ln>
                <a:noFill/>
              </a:ln>
              <a:solidFill>
                <a:schemeClr val="tx1"/>
              </a:solidFill>
              <a:effectLst/>
              <a:uLnTx/>
              <a:uFillTx/>
            </a:endParaRPr>
          </a:p>
        </p:txBody>
      </p:sp>
      <p:sp>
        <p:nvSpPr>
          <p:cNvPr id="15" name="Subtitle 2"/>
          <p:cNvSpPr txBox="1">
            <a:spLocks/>
          </p:cNvSpPr>
          <p:nvPr/>
        </p:nvSpPr>
        <p:spPr>
          <a:xfrm>
            <a:off x="266700" y="4765079"/>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a:ln>
                  <a:noFill/>
                </a:ln>
                <a:solidFill>
                  <a:schemeClr val="tx1"/>
                </a:solidFill>
                <a:effectLst/>
                <a:uLnTx/>
                <a:uFillTx/>
                <a:latin typeface="+mn-lt"/>
                <a:ea typeface="+mn-ea"/>
                <a:cs typeface="+mn-cs"/>
              </a:rPr>
              <a:t>Course</a:t>
            </a:r>
            <a:r>
              <a:rPr kumimoji="0" lang="en-US" sz="2000" b="0" i="0" u="none" strike="noStrike" kern="1200" cap="none" spc="0" normalizeH="0" noProof="0">
                <a:ln>
                  <a:noFill/>
                </a:ln>
                <a:solidFill>
                  <a:schemeClr val="tx1"/>
                </a:solidFill>
                <a:effectLst/>
                <a:uLnTx/>
                <a:uFillTx/>
                <a:latin typeface="+mn-lt"/>
                <a:ea typeface="+mn-ea"/>
                <a:cs typeface="+mn-cs"/>
              </a:rPr>
              <a:t> Details</a:t>
            </a:r>
            <a:br>
              <a:rPr kumimoji="0" lang="en-US" sz="2000" b="0" i="0" u="none" strike="noStrike" kern="1200" cap="none" spc="0" normalizeH="0" noProof="0">
                <a:ln>
                  <a:noFill/>
                </a:ln>
                <a:solidFill>
                  <a:schemeClr val="tx1"/>
                </a:solidFill>
                <a:effectLst/>
                <a:uLnTx/>
                <a:uFillTx/>
                <a:latin typeface="+mn-lt"/>
                <a:ea typeface="+mn-ea"/>
                <a:cs typeface="+mn-cs"/>
              </a:rPr>
            </a:br>
            <a:r>
              <a:rPr kumimoji="0" lang="en-US" sz="2000" b="0" i="0" u="none" strike="noStrike" kern="1200" cap="none" spc="0" normalizeH="0" noProof="0" err="1">
                <a:ln>
                  <a:noFill/>
                </a:ln>
                <a:solidFill>
                  <a:schemeClr val="tx1"/>
                </a:solidFill>
                <a:effectLst/>
                <a:uLnTx/>
                <a:uFillTx/>
                <a:latin typeface="+mn-lt"/>
                <a:ea typeface="+mn-ea"/>
                <a:cs typeface="+mn-cs"/>
              </a:rPr>
              <a:t>B.Tech</a:t>
            </a:r>
            <a:r>
              <a:rPr kumimoji="0" lang="en-US" sz="2000" b="0" i="0" u="none" strike="noStrike" kern="1200" cap="none" spc="0" normalizeH="0" noProof="0">
                <a:ln>
                  <a:noFill/>
                </a:ln>
                <a:solidFill>
                  <a:schemeClr val="tx1"/>
                </a:solidFill>
                <a:effectLst/>
                <a:uLnTx/>
                <a:uFillTx/>
                <a:latin typeface="+mn-lt"/>
                <a:ea typeface="+mn-ea"/>
                <a:cs typeface="+mn-cs"/>
              </a:rPr>
              <a:t> (BT) 7</a:t>
            </a:r>
            <a:r>
              <a:rPr kumimoji="0" lang="en-US" sz="2000" b="0" i="0" u="none" strike="noStrike" kern="1200" cap="none" spc="0" normalizeH="0" baseline="30000" noProof="0">
                <a:ln>
                  <a:noFill/>
                </a:ln>
                <a:solidFill>
                  <a:schemeClr val="tx1"/>
                </a:solidFill>
                <a:effectLst/>
                <a:uLnTx/>
                <a:uFillTx/>
                <a:latin typeface="+mn-lt"/>
                <a:ea typeface="+mn-ea"/>
                <a:cs typeface="+mn-cs"/>
              </a:rPr>
              <a:t>th</a:t>
            </a:r>
            <a:r>
              <a:rPr kumimoji="0" lang="en-US" sz="2000" b="0" i="0" u="none" strike="noStrike" kern="1200" cap="none" spc="0" normalizeH="0" noProof="0">
                <a:ln>
                  <a:noFill/>
                </a:ln>
                <a:solidFill>
                  <a:schemeClr val="tx1"/>
                </a:solidFill>
                <a:effectLst/>
                <a:uLnTx/>
                <a:uFillTx/>
                <a:latin typeface="+mn-lt"/>
                <a:ea typeface="+mn-ea"/>
                <a:cs typeface="+mn-cs"/>
              </a:rPr>
              <a:t>  Semester</a:t>
            </a:r>
            <a:endParaRPr kumimoji="0" lang="en-US" sz="2000" b="0" i="0" u="none" strike="noStrike" kern="1200" cap="none" spc="0" normalizeH="0" baseline="0" noProof="0">
              <a:ln>
                <a:noFill/>
              </a:ln>
              <a:solidFill>
                <a:schemeClr val="tx1"/>
              </a:solidFill>
              <a:effectLst/>
              <a:uLnTx/>
              <a:uFillTx/>
              <a:latin typeface="+mn-lt"/>
              <a:ea typeface="+mn-ea"/>
              <a:cs typeface="+mn-cs"/>
            </a:endParaRPr>
          </a:p>
        </p:txBody>
      </p:sp>
      <p:sp>
        <p:nvSpPr>
          <p:cNvPr id="16" name="Rectangle 15">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00441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2"/>
            <a:ext cx="8534400" cy="4525963"/>
          </a:xfrm>
        </p:spPr>
        <p:txBody>
          <a:bodyPr>
            <a:normAutofit/>
          </a:bodyPr>
          <a:lstStyle/>
          <a:p>
            <a:r>
              <a:rPr lang="en-US" sz="2400">
                <a:latin typeface="Times New Roman" panose="02020603050405020304" pitchFamily="18" charset="0"/>
                <a:cs typeface="Times New Roman" panose="02020603050405020304" pitchFamily="18" charset="0"/>
              </a:rPr>
              <a:t>Concept of Entrepreneurship </a:t>
            </a:r>
          </a:p>
          <a:p>
            <a:r>
              <a:rPr lang="en-US" sz="2400">
                <a:latin typeface="Times New Roman" panose="02020603050405020304" pitchFamily="18" charset="0"/>
                <a:cs typeface="Times New Roman" panose="02020603050405020304" pitchFamily="18" charset="0"/>
              </a:rPr>
              <a:t>Role of Entrepreneurship in Economic Development</a:t>
            </a:r>
          </a:p>
          <a:p>
            <a:r>
              <a:rPr lang="en-US" sz="2400">
                <a:latin typeface="Times New Roman" panose="02020603050405020304" pitchFamily="18" charset="0"/>
                <a:cs typeface="Times New Roman" panose="02020603050405020304" pitchFamily="18" charset="0"/>
              </a:rPr>
              <a:t>Entrepreneurial traits, types, culture and structure</a:t>
            </a:r>
          </a:p>
          <a:p>
            <a:r>
              <a:rPr lang="en-US" sz="2400">
                <a:latin typeface="Times New Roman" panose="02020603050405020304" pitchFamily="18" charset="0"/>
                <a:cs typeface="Times New Roman" panose="02020603050405020304" pitchFamily="18" charset="0"/>
              </a:rPr>
              <a:t>competing theories of Entrepreneurship</a:t>
            </a:r>
          </a:p>
          <a:p>
            <a:r>
              <a:rPr lang="en-US" sz="2400">
                <a:latin typeface="Times New Roman" panose="02020603050405020304" pitchFamily="18" charset="0"/>
                <a:cs typeface="Times New Roman" panose="02020603050405020304" pitchFamily="18" charset="0"/>
              </a:rPr>
              <a:t>Qualities of a successful entrepreneur </a:t>
            </a:r>
          </a:p>
          <a:p>
            <a:r>
              <a:rPr lang="en-US" sz="2400">
                <a:latin typeface="Times New Roman" panose="02020603050405020304" pitchFamily="18" charset="0"/>
                <a:cs typeface="Times New Roman" panose="02020603050405020304" pitchFamily="18" charset="0"/>
              </a:rPr>
              <a:t>Entrepreneurial motivation </a:t>
            </a:r>
          </a:p>
          <a:p>
            <a:r>
              <a:rPr lang="en-US" sz="2400">
                <a:latin typeface="Times New Roman" panose="02020603050405020304" pitchFamily="18" charset="0"/>
                <a:cs typeface="Times New Roman" panose="02020603050405020304" pitchFamily="18" charset="0"/>
              </a:rPr>
              <a:t>Corporate entrepreneurship </a:t>
            </a:r>
          </a:p>
          <a:p>
            <a:r>
              <a:rPr lang="en-US" sz="2400">
                <a:latin typeface="Times New Roman" panose="02020603050405020304" pitchFamily="18" charset="0"/>
                <a:cs typeface="Times New Roman" panose="02020603050405020304" pitchFamily="18" charset="0"/>
              </a:rPr>
              <a:t>Intrapreneurship </a:t>
            </a:r>
          </a:p>
          <a:p>
            <a:endParaRPr lang="en-US" sz="240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F565C554-7BBC-4B9D-B253-38ECE2C1FBE5}" type="datetime1">
              <a:rPr lang="en-US" smtClean="0"/>
              <a:pPr/>
              <a:t>12-Aug-25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
        <p:nvSpPr>
          <p:cNvPr id="8" name="Title 1"/>
          <p:cNvSpPr txBox="1">
            <a:spLocks/>
          </p:cNvSpPr>
          <p:nvPr/>
        </p:nvSpPr>
        <p:spPr>
          <a:xfrm>
            <a:off x="1547664" y="-50797"/>
            <a:ext cx="7596336" cy="95951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Content</a:t>
            </a:r>
          </a:p>
        </p:txBody>
      </p:sp>
      <p:sp>
        <p:nvSpPr>
          <p:cNvPr id="2" name="Footer Placeholder 12">
            <a:extLst>
              <a:ext uri="{FF2B5EF4-FFF2-40B4-BE49-F238E27FC236}">
                <a16:creationId xmlns:a16="http://schemas.microsoft.com/office/drawing/2014/main" id="{12104D51-E5C1-5FD7-E86A-6ADAB0EF0B8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36F8E-95EA-42DE-8947-F2175F9A79AF}" type="datetime1">
              <a:rPr lang="en-US" smtClean="0"/>
              <a:pPr/>
              <a:t>12-Aug-25</a:t>
            </a:fld>
            <a:endParaRPr lang="en-IN"/>
          </a:p>
        </p:txBody>
      </p:sp>
      <p:sp>
        <p:nvSpPr>
          <p:cNvPr id="3" name="Slide Number Placeholder 2"/>
          <p:cNvSpPr>
            <a:spLocks noGrp="1"/>
          </p:cNvSpPr>
          <p:nvPr>
            <p:ph type="sldNum" sz="quarter" idx="12"/>
          </p:nvPr>
        </p:nvSpPr>
        <p:spPr/>
        <p:txBody>
          <a:bodyPr/>
          <a:lstStyle/>
          <a:p>
            <a:fld id="{5949D1D6-6D4D-4B65-9E2F-1B567AF589C5}" type="slidenum">
              <a:rPr lang="en-IN" smtClean="0"/>
              <a:pPr/>
              <a:t>12</a:t>
            </a:fld>
            <a:endParaRPr lang="en-IN"/>
          </a:p>
        </p:txBody>
      </p:sp>
      <p:sp>
        <p:nvSpPr>
          <p:cNvPr id="4" name="Footer Placeholder 3"/>
          <p:cNvSpPr>
            <a:spLocks noGrp="1"/>
          </p:cNvSpPr>
          <p:nvPr>
            <p:ph type="ftr" sz="quarter" idx="11"/>
          </p:nvPr>
        </p:nvSpPr>
        <p:spPr/>
        <p:txBody>
          <a:bodyPr/>
          <a:lstStyle/>
          <a:p>
            <a:r>
              <a:rPr lang="fi-FI"/>
              <a:t>VIJAYLAXMI             Unit 2 AOE0771</a:t>
            </a:r>
            <a:endParaRPr lang="en-IN"/>
          </a:p>
        </p:txBody>
      </p:sp>
      <p:sp>
        <p:nvSpPr>
          <p:cNvPr id="5" name="Title 1"/>
          <p:cNvSpPr txBox="1">
            <a:spLocks/>
          </p:cNvSpPr>
          <p:nvPr/>
        </p:nvSpPr>
        <p:spPr>
          <a:xfrm>
            <a:off x="1475656" y="0"/>
            <a:ext cx="7668344" cy="90872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3600" b="1" i="0" u="none" strike="noStrike" kern="1200" cap="none" spc="0" normalizeH="0" noProof="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783B2A4-6293-63CD-54DF-F4C8F0D0D442}"/>
              </a:ext>
            </a:extLst>
          </p:cNvPr>
          <p:cNvPicPr>
            <a:picLocks noChangeAspect="1"/>
          </p:cNvPicPr>
          <p:nvPr/>
        </p:nvPicPr>
        <p:blipFill>
          <a:blip r:embed="rId2"/>
          <a:stretch>
            <a:fillRect/>
          </a:stretch>
        </p:blipFill>
        <p:spPr>
          <a:xfrm>
            <a:off x="107504" y="1052736"/>
            <a:ext cx="9094056" cy="5303616"/>
          </a:xfrm>
          <a:prstGeom prst="rect">
            <a:avLst/>
          </a:prstGeom>
        </p:spPr>
      </p:pic>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825814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EBA42-B672-436A-AEDC-8160BA76F50E}" type="datetime1">
              <a:rPr lang="en-US" smtClean="0"/>
              <a:pPr/>
              <a:t>12-Aug-25</a:t>
            </a:fld>
            <a:endParaRPr lang="en-IN"/>
          </a:p>
        </p:txBody>
      </p:sp>
      <p:sp>
        <p:nvSpPr>
          <p:cNvPr id="3" name="Slide Number Placeholder 2"/>
          <p:cNvSpPr>
            <a:spLocks noGrp="1"/>
          </p:cNvSpPr>
          <p:nvPr>
            <p:ph type="sldNum" sz="quarter" idx="12"/>
          </p:nvPr>
        </p:nvSpPr>
        <p:spPr/>
        <p:txBody>
          <a:bodyPr/>
          <a:lstStyle/>
          <a:p>
            <a:fld id="{5949D1D6-6D4D-4B65-9E2F-1B567AF589C5}" type="slidenum">
              <a:rPr lang="en-IN" smtClean="0"/>
              <a:pPr/>
              <a:t>13</a:t>
            </a:fld>
            <a:endParaRPr lang="en-IN"/>
          </a:p>
        </p:txBody>
      </p:sp>
      <p:sp>
        <p:nvSpPr>
          <p:cNvPr id="6" name="Title 1"/>
          <p:cNvSpPr txBox="1">
            <a:spLocks/>
          </p:cNvSpPr>
          <p:nvPr/>
        </p:nvSpPr>
        <p:spPr>
          <a:xfrm>
            <a:off x="1547664" y="0"/>
            <a:ext cx="7596336" cy="83671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Program Educational Outcomes</a:t>
            </a:r>
          </a:p>
        </p:txBody>
      </p:sp>
      <p:sp>
        <p:nvSpPr>
          <p:cNvPr id="7" name="Rectangle 6"/>
          <p:cNvSpPr/>
          <p:nvPr/>
        </p:nvSpPr>
        <p:spPr>
          <a:xfrm>
            <a:off x="251520" y="980728"/>
            <a:ext cx="8712968" cy="4154984"/>
          </a:xfrm>
          <a:prstGeom prst="rect">
            <a:avLst/>
          </a:prstGeom>
        </p:spPr>
        <p:txBody>
          <a:bodyPr wrap="square">
            <a:spAutoFit/>
          </a:bodyPr>
          <a:lstStyle/>
          <a:p>
            <a:pPr algn="just">
              <a:buNone/>
            </a:pPr>
            <a:r>
              <a:rPr lang="en-US" sz="2400">
                <a:latin typeface="Times New Roman" panose="02020603050405020304" pitchFamily="18" charset="0"/>
                <a:cs typeface="Times New Roman" panose="02020603050405020304" pitchFamily="18" charset="0"/>
              </a:rPr>
              <a:t>PEO1:  Conceptual Knowledge to adapt in rapidly changing environment and learn new skills and demonstrate application of management principles in professional work setting.</a:t>
            </a:r>
          </a:p>
          <a:p>
            <a:pPr algn="just">
              <a:buNone/>
            </a:pPr>
            <a:r>
              <a:rPr lang="en-US" sz="2400">
                <a:latin typeface="Times New Roman" panose="02020603050405020304" pitchFamily="18" charset="0"/>
                <a:cs typeface="Times New Roman" panose="02020603050405020304" pitchFamily="18" charset="0"/>
              </a:rPr>
              <a:t>	</a:t>
            </a:r>
          </a:p>
          <a:p>
            <a:pPr algn="just">
              <a:buNone/>
            </a:pPr>
            <a:r>
              <a:rPr lang="en-US" sz="2400">
                <a:latin typeface="Times New Roman" panose="02020603050405020304" pitchFamily="18" charset="0"/>
                <a:cs typeface="Times New Roman" panose="02020603050405020304" pitchFamily="18" charset="0"/>
              </a:rPr>
              <a:t>PEO2:  Apply appropriate tools for decision making for solving complex managerial problems in local or global context</a:t>
            </a:r>
          </a:p>
          <a:p>
            <a:pPr algn="just">
              <a:buNone/>
            </a:pPr>
            <a:r>
              <a:rPr lang="en-US" sz="2400">
                <a:latin typeface="Times New Roman" panose="02020603050405020304" pitchFamily="18" charset="0"/>
                <a:cs typeface="Times New Roman" panose="02020603050405020304" pitchFamily="18" charset="0"/>
              </a:rPr>
              <a:t> 		</a:t>
            </a:r>
          </a:p>
          <a:p>
            <a:pPr algn="just">
              <a:buNone/>
            </a:pPr>
            <a:r>
              <a:rPr lang="en-US" sz="2400">
                <a:latin typeface="Times New Roman" panose="02020603050405020304" pitchFamily="18" charset="0"/>
                <a:cs typeface="Times New Roman" panose="02020603050405020304" pitchFamily="18" charset="0"/>
              </a:rPr>
              <a:t>PEO3:  Exhibit Integrity, social responsibility and teamwork</a:t>
            </a:r>
          </a:p>
          <a:p>
            <a:pPr algn="just">
              <a:buNone/>
            </a:pPr>
            <a:r>
              <a:rPr lang="en-US" sz="2400">
                <a:latin typeface="Times New Roman" panose="02020603050405020304" pitchFamily="18" charset="0"/>
                <a:cs typeface="Times New Roman" panose="02020603050405020304" pitchFamily="18" charset="0"/>
              </a:rPr>
              <a:t>		</a:t>
            </a:r>
          </a:p>
          <a:p>
            <a:pPr algn="just">
              <a:buNone/>
            </a:pPr>
            <a:r>
              <a:rPr lang="en-US" sz="2400">
                <a:latin typeface="Times New Roman" panose="02020603050405020304" pitchFamily="18" charset="0"/>
                <a:cs typeface="Times New Roman" panose="02020603050405020304" pitchFamily="18" charset="0"/>
              </a:rPr>
              <a:t>PEO4: Exhibit ethics, communication skills, leadership qualities and entrepreneurial mindset</a:t>
            </a:r>
          </a:p>
        </p:txBody>
      </p:sp>
      <p:sp>
        <p:nvSpPr>
          <p:cNvPr id="4" name="Footer Placeholder 3">
            <a:extLst>
              <a:ext uri="{FF2B5EF4-FFF2-40B4-BE49-F238E27FC236}">
                <a16:creationId xmlns:a16="http://schemas.microsoft.com/office/drawing/2014/main" id="{B1AD0C18-4109-6482-D067-B2A230713515}"/>
              </a:ext>
            </a:extLst>
          </p:cNvPr>
          <p:cNvSpPr>
            <a:spLocks noGrp="1"/>
          </p:cNvSpPr>
          <p:nvPr>
            <p:ph type="ftr" sz="quarter" idx="11"/>
          </p:nvPr>
        </p:nvSpPr>
        <p:spPr/>
        <p:txBody>
          <a:bodyPr/>
          <a:lstStyle/>
          <a:p>
            <a:r>
              <a:rPr lang="fi-FI"/>
              <a:t>Menka Sharma Unit 2 AOE0771</a:t>
            </a:r>
            <a:endParaRPr lang="en-IN"/>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111755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6B4386-31BD-49AD-A699-4D2D57FAE669}" type="datetime1">
              <a:rPr lang="en-US" smtClean="0"/>
              <a:pPr/>
              <a:t>12-Aug-25</a:t>
            </a:fld>
            <a:endParaRPr lang="en-IN"/>
          </a:p>
        </p:txBody>
      </p:sp>
      <p:sp>
        <p:nvSpPr>
          <p:cNvPr id="3" name="Slide Number Placeholder 2"/>
          <p:cNvSpPr>
            <a:spLocks noGrp="1"/>
          </p:cNvSpPr>
          <p:nvPr>
            <p:ph type="sldNum" sz="quarter" idx="12"/>
          </p:nvPr>
        </p:nvSpPr>
        <p:spPr/>
        <p:txBody>
          <a:bodyPr/>
          <a:lstStyle/>
          <a:p>
            <a:fld id="{5949D1D6-6D4D-4B65-9E2F-1B567AF589C5}" type="slidenum">
              <a:rPr lang="en-IN" smtClean="0"/>
              <a:pPr/>
              <a:t>14</a:t>
            </a:fld>
            <a:endParaRPr lang="en-IN"/>
          </a:p>
        </p:txBody>
      </p:sp>
      <p:sp>
        <p:nvSpPr>
          <p:cNvPr id="6" name="Rectangle 5"/>
          <p:cNvSpPr/>
          <p:nvPr/>
        </p:nvSpPr>
        <p:spPr>
          <a:xfrm>
            <a:off x="714348" y="857232"/>
            <a:ext cx="7715304" cy="1883657"/>
          </a:xfrm>
          <a:prstGeom prst="rect">
            <a:avLst/>
          </a:prstGeom>
        </p:spPr>
        <p:txBody>
          <a:bodyPr wrap="square">
            <a:spAutoFit/>
          </a:bodyPr>
          <a:lstStyle/>
          <a:p>
            <a:pPr algn="just">
              <a:lnSpc>
                <a:spcPct val="150000"/>
              </a:lnSpc>
              <a:buFont typeface="Arial" pitchFamily="34" charset="0"/>
              <a:buChar char="•"/>
            </a:pPr>
            <a:endParaRPr lang="en-IN" sz="2000">
              <a:latin typeface="Times New Roman"/>
              <a:ea typeface="Times New Roman"/>
            </a:endParaRPr>
          </a:p>
          <a:p>
            <a:pPr algn="just">
              <a:lnSpc>
                <a:spcPct val="150000"/>
              </a:lnSpc>
              <a:buFont typeface="Arial" pitchFamily="34" charset="0"/>
              <a:buChar char="•"/>
            </a:pPr>
            <a:endParaRPr lang="en-IN" sz="2000">
              <a:latin typeface="Times New Roman"/>
              <a:ea typeface="Times New Roman"/>
            </a:endParaRPr>
          </a:p>
          <a:p>
            <a:pPr algn="just">
              <a:lnSpc>
                <a:spcPct val="150000"/>
              </a:lnSpc>
              <a:buFont typeface="Arial" pitchFamily="34" charset="0"/>
              <a:buChar char="•"/>
            </a:pPr>
            <a:endParaRPr lang="en-IN" sz="2000">
              <a:latin typeface="Times New Roman"/>
              <a:ea typeface="Times New Roman"/>
            </a:endParaRPr>
          </a:p>
          <a:p>
            <a:pPr algn="just">
              <a:lnSpc>
                <a:spcPct val="150000"/>
              </a:lnSpc>
              <a:spcAft>
                <a:spcPts val="0"/>
              </a:spcAft>
              <a:buFont typeface="Arial" pitchFamily="34" charset="0"/>
              <a:buChar char="•"/>
            </a:pPr>
            <a:endParaRPr lang="en-IN" sz="2000">
              <a:latin typeface="Times New Roman"/>
              <a:ea typeface="Times New Roman"/>
            </a:endParaRPr>
          </a:p>
        </p:txBody>
      </p:sp>
      <p:sp>
        <p:nvSpPr>
          <p:cNvPr id="8" name="Title 1"/>
          <p:cNvSpPr txBox="1">
            <a:spLocks/>
          </p:cNvSpPr>
          <p:nvPr/>
        </p:nvSpPr>
        <p:spPr>
          <a:xfrm>
            <a:off x="1475656" y="15767"/>
            <a:ext cx="7632848" cy="84146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3600" b="1" i="0" u="none" strike="noStrike" kern="1200" cap="none" spc="0" normalizeH="0" noProof="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A470146-DCC7-65FC-EC09-8A844C418ACF}"/>
              </a:ext>
            </a:extLst>
          </p:cNvPr>
          <p:cNvGraphicFramePr>
            <a:graphicFrameLocks noGrp="1"/>
          </p:cNvGraphicFramePr>
          <p:nvPr>
            <p:extLst>
              <p:ext uri="{D42A27DB-BD31-4B8C-83A1-F6EECF244321}">
                <p14:modId xmlns:p14="http://schemas.microsoft.com/office/powerpoint/2010/main" val="3768618099"/>
              </p:ext>
            </p:extLst>
          </p:nvPr>
        </p:nvGraphicFramePr>
        <p:xfrm>
          <a:off x="323528" y="980727"/>
          <a:ext cx="8640960" cy="4412618"/>
        </p:xfrm>
        <a:graphic>
          <a:graphicData uri="http://schemas.openxmlformats.org/drawingml/2006/table">
            <a:tbl>
              <a:tblPr firstRow="1" firstCol="1" bandRow="1">
                <a:tableStyleId>{5C22544A-7EE6-4342-B048-85BDC9FD1C3A}</a:tableStyleId>
              </a:tblPr>
              <a:tblGrid>
                <a:gridCol w="8640960">
                  <a:extLst>
                    <a:ext uri="{9D8B030D-6E8A-4147-A177-3AD203B41FA5}">
                      <a16:colId xmlns:a16="http://schemas.microsoft.com/office/drawing/2014/main" val="3334862814"/>
                    </a:ext>
                  </a:extLst>
                </a:gridCol>
              </a:tblGrid>
              <a:tr h="810840">
                <a:tc>
                  <a:txBody>
                    <a:bodyPr/>
                    <a:lstStyle/>
                    <a:p>
                      <a:pPr>
                        <a:lnSpc>
                          <a:spcPct val="115000"/>
                        </a:lnSpc>
                        <a:spcAft>
                          <a:spcPts val="1000"/>
                        </a:spcAft>
                        <a:tabLst>
                          <a:tab pos="1533525" algn="l"/>
                        </a:tabLst>
                      </a:pPr>
                      <a:r>
                        <a:rPr lang="en-US" sz="2200">
                          <a:effectLst/>
                        </a:rPr>
                        <a:t>Explore the dimensions of creativity, innovation, and entrepreneurship</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621351"/>
                  </a:ext>
                </a:extLst>
              </a:tr>
              <a:tr h="810840">
                <a:tc>
                  <a:txBody>
                    <a:bodyPr/>
                    <a:lstStyle/>
                    <a:p>
                      <a:pPr>
                        <a:lnSpc>
                          <a:spcPct val="115000"/>
                        </a:lnSpc>
                        <a:spcAft>
                          <a:spcPts val="1000"/>
                        </a:spcAft>
                        <a:tabLst>
                          <a:tab pos="1533525" algn="l"/>
                        </a:tabLst>
                      </a:pPr>
                      <a:r>
                        <a:rPr lang="en-US" sz="2200">
                          <a:effectLst/>
                        </a:rPr>
                        <a:t>Understand the various sources of idea generation for startups</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7119763"/>
                  </a:ext>
                </a:extLst>
              </a:tr>
              <a:tr h="810840">
                <a:tc>
                  <a:txBody>
                    <a:bodyPr/>
                    <a:lstStyle/>
                    <a:p>
                      <a:pPr>
                        <a:lnSpc>
                          <a:spcPct val="115000"/>
                        </a:lnSpc>
                        <a:spcAft>
                          <a:spcPts val="1000"/>
                        </a:spcAft>
                        <a:tabLst>
                          <a:tab pos="1533525" algn="l"/>
                        </a:tabLst>
                      </a:pPr>
                      <a:r>
                        <a:rPr lang="en-US" sz="2200">
                          <a:effectLst/>
                        </a:rPr>
                        <a:t>Understanding the requirements and methods of launching a new business.</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5492484"/>
                  </a:ext>
                </a:extLst>
              </a:tr>
              <a:tr h="1169258">
                <a:tc>
                  <a:txBody>
                    <a:bodyPr/>
                    <a:lstStyle/>
                    <a:p>
                      <a:pPr>
                        <a:lnSpc>
                          <a:spcPct val="115000"/>
                        </a:lnSpc>
                        <a:spcAft>
                          <a:spcPts val="1000"/>
                        </a:spcAft>
                        <a:tabLst>
                          <a:tab pos="1533525" algn="l"/>
                        </a:tabLst>
                      </a:pPr>
                      <a:r>
                        <a:rPr lang="en-US" sz="2200">
                          <a:effectLst/>
                        </a:rPr>
                        <a:t>Develop an understanding of various schemes and agencies for assisting and fostering entrepreneurship</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6042535"/>
                  </a:ext>
                </a:extLst>
              </a:tr>
              <a:tr h="810840">
                <a:tc>
                  <a:txBody>
                    <a:bodyPr/>
                    <a:lstStyle/>
                    <a:p>
                      <a:pPr>
                        <a:lnSpc>
                          <a:spcPct val="115000"/>
                        </a:lnSpc>
                        <a:spcAft>
                          <a:spcPts val="1000"/>
                        </a:spcAft>
                        <a:tabLst>
                          <a:tab pos="1533525" algn="l"/>
                        </a:tabLst>
                      </a:pPr>
                      <a:r>
                        <a:rPr lang="en-US" sz="2200">
                          <a:effectLst/>
                        </a:rPr>
                        <a:t>Develop an understanding of intellectual property rights.</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6414146"/>
                  </a:ext>
                </a:extLst>
              </a:tr>
            </a:tbl>
          </a:graphicData>
        </a:graphic>
      </p:graphicFrame>
      <p:sp>
        <p:nvSpPr>
          <p:cNvPr id="9" name="Date Placeholder 5"/>
          <p:cNvSpPr txBox="1">
            <a:spLocks/>
          </p:cNvSpPr>
          <p:nvPr/>
        </p:nvSpPr>
        <p:spPr>
          <a:xfrm>
            <a:off x="457200" y="6304235"/>
            <a:ext cx="7283152" cy="55376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2"/>
            <a:ext cx="8534400" cy="4525963"/>
          </a:xfrm>
        </p:spPr>
        <p:txBody>
          <a:bodyPr>
            <a:normAutofit/>
          </a:bodyPr>
          <a:lstStyle/>
          <a:p>
            <a:r>
              <a:rPr lang="en-US" sz="2400">
                <a:latin typeface="Times New Roman" panose="02020603050405020304" pitchFamily="18" charset="0"/>
                <a:cs typeface="Times New Roman" panose="02020603050405020304" pitchFamily="18" charset="0"/>
              </a:rPr>
              <a:t>Explore the dimensions of creativity, innovation, and entrepreneurship </a:t>
            </a:r>
          </a:p>
          <a:p>
            <a:pPr marL="0" indent="0">
              <a:buNone/>
            </a:pPr>
            <a:endParaRPr lang="en-US" sz="2400"/>
          </a:p>
        </p:txBody>
      </p:sp>
      <p:sp>
        <p:nvSpPr>
          <p:cNvPr id="6" name="Date Placeholder 5"/>
          <p:cNvSpPr>
            <a:spLocks noGrp="1"/>
          </p:cNvSpPr>
          <p:nvPr>
            <p:ph type="dt" sz="half" idx="10"/>
          </p:nvPr>
        </p:nvSpPr>
        <p:spPr/>
        <p:txBody>
          <a:bodyPr/>
          <a:lstStyle/>
          <a:p>
            <a:fld id="{34CED62C-AF5A-4AAA-9239-115071B5D04C}" type="datetime1">
              <a:rPr lang="en-US" smtClean="0"/>
              <a:pPr/>
              <a:t>12-Aug-25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a:t>
            </a:fld>
            <a:endParaRPr lang="en-US"/>
          </a:p>
        </p:txBody>
      </p:sp>
      <p:sp>
        <p:nvSpPr>
          <p:cNvPr id="8" name="Title 1"/>
          <p:cNvSpPr txBox="1">
            <a:spLocks/>
          </p:cNvSpPr>
          <p:nvPr/>
        </p:nvSpPr>
        <p:spPr>
          <a:xfrm>
            <a:off x="1619672" y="3"/>
            <a:ext cx="734481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Objective of the Unit</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273538"/>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842899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8066140-8899-4812-8260-62A6635248CD}"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p:cNvSpPr txBox="1">
            <a:spLocks/>
          </p:cNvSpPr>
          <p:nvPr/>
        </p:nvSpPr>
        <p:spPr>
          <a:xfrm>
            <a:off x="1619672" y="116632"/>
            <a:ext cx="7272808"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3600" b="1" i="0" u="none" strike="noStrike" kern="1200" cap="none" spc="0" normalizeH="0" noProof="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a:latin typeface="Times New Roman" panose="02020603050405020304" pitchFamily="18" charset="0"/>
                <a:cs typeface="Times New Roman" panose="02020603050405020304" pitchFamily="18" charset="0"/>
              </a:rPr>
              <a:t>Explore the dimensions of creativity, innovation, and entrepreneurship </a:t>
            </a:r>
          </a:p>
          <a:p>
            <a:r>
              <a:rPr lang="en-US" sz="2400">
                <a:latin typeface="Times New Roman" panose="02020603050405020304" pitchFamily="18" charset="0"/>
                <a:cs typeface="Times New Roman" panose="02020603050405020304" pitchFamily="18" charset="0"/>
              </a:rPr>
              <a:t>Develop an understanding of intellectual property rights </a:t>
            </a:r>
          </a:p>
          <a:p>
            <a:r>
              <a:rPr lang="en-US" sz="2400">
                <a:latin typeface="Times New Roman" panose="02020603050405020304" pitchFamily="18" charset="0"/>
                <a:cs typeface="Times New Roman" panose="02020603050405020304" pitchFamily="18" charset="0"/>
              </a:rPr>
              <a:t>Be familiar with the financial support associated with new venture start-ups </a:t>
            </a:r>
          </a:p>
          <a:p>
            <a:r>
              <a:rPr lang="en-US" sz="2400">
                <a:latin typeface="Times New Roman" panose="02020603050405020304" pitchFamily="18" charset="0"/>
                <a:cs typeface="Times New Roman" panose="02020603050405020304" pitchFamily="18" charset="0"/>
              </a:rPr>
              <a:t>Understand the various sources of idea generation and screening  </a:t>
            </a:r>
          </a:p>
          <a:p>
            <a:r>
              <a:rPr lang="en-US" sz="2400">
                <a:latin typeface="Times New Roman" panose="02020603050405020304" pitchFamily="18" charset="0"/>
                <a:cs typeface="Times New Roman" panose="02020603050405020304" pitchFamily="18" charset="0"/>
              </a:rPr>
              <a:t>Understand the policy framework for promoting entrepreneurship and providing finance to entrepreneurs</a:t>
            </a:r>
            <a:r>
              <a:rPr lang="en-US" sz="2000"/>
              <a:t>. </a:t>
            </a: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D802F8-FB40-B05D-E3D3-33717B25B52F}"/>
              </a:ext>
            </a:extLst>
          </p:cNvPr>
          <p:cNvSpPr>
            <a:spLocks noGrp="1"/>
          </p:cNvSpPr>
          <p:nvPr>
            <p:ph type="dt" sz="half" idx="10"/>
          </p:nvPr>
        </p:nvSpPr>
        <p:spPr/>
        <p:txBody>
          <a:bodyPr/>
          <a:lstStyle/>
          <a:p>
            <a:fld id="{8CED97C7-CA57-499C-8A60-5BBF496D94AE}" type="datetime1">
              <a:rPr lang="en-US" smtClean="0"/>
              <a:pPr/>
              <a:t>12-Aug-25</a:t>
            </a:fld>
            <a:endParaRPr lang="en-IN"/>
          </a:p>
        </p:txBody>
      </p:sp>
      <p:sp>
        <p:nvSpPr>
          <p:cNvPr id="3" name="Footer Placeholder 2">
            <a:extLst>
              <a:ext uri="{FF2B5EF4-FFF2-40B4-BE49-F238E27FC236}">
                <a16:creationId xmlns:a16="http://schemas.microsoft.com/office/drawing/2014/main" id="{0A05F446-04D4-FC78-7B91-8748ADAEC2BB}"/>
              </a:ext>
            </a:extLst>
          </p:cNvPr>
          <p:cNvSpPr>
            <a:spLocks noGrp="1"/>
          </p:cNvSpPr>
          <p:nvPr>
            <p:ph type="ftr" sz="quarter" idx="11"/>
          </p:nvPr>
        </p:nvSpPr>
        <p:spPr/>
        <p:txBody>
          <a:bodyPr/>
          <a:lstStyle/>
          <a:p>
            <a:r>
              <a:rPr lang="fi-FI"/>
              <a:t>Menka Sharma Unit 2 AOE0771</a:t>
            </a:r>
            <a:endParaRPr lang="en-IN"/>
          </a:p>
        </p:txBody>
      </p:sp>
      <p:sp>
        <p:nvSpPr>
          <p:cNvPr id="4" name="Slide Number Placeholder 3">
            <a:extLst>
              <a:ext uri="{FF2B5EF4-FFF2-40B4-BE49-F238E27FC236}">
                <a16:creationId xmlns:a16="http://schemas.microsoft.com/office/drawing/2014/main" id="{C945FDD6-3EC6-8E96-1AFF-8A27E7FE9A21}"/>
              </a:ext>
            </a:extLst>
          </p:cNvPr>
          <p:cNvSpPr>
            <a:spLocks noGrp="1"/>
          </p:cNvSpPr>
          <p:nvPr>
            <p:ph type="sldNum" sz="quarter" idx="12"/>
          </p:nvPr>
        </p:nvSpPr>
        <p:spPr/>
        <p:txBody>
          <a:bodyPr/>
          <a:lstStyle/>
          <a:p>
            <a:fld id="{F8999BB2-E6E2-4FC7-A9BF-D8A708327382}" type="slidenum">
              <a:rPr lang="en-IN" smtClean="0"/>
              <a:pPr/>
              <a:t>17</a:t>
            </a:fld>
            <a:endParaRPr lang="en-IN"/>
          </a:p>
        </p:txBody>
      </p:sp>
      <p:sp>
        <p:nvSpPr>
          <p:cNvPr id="5" name="Title 1">
            <a:extLst>
              <a:ext uri="{FF2B5EF4-FFF2-40B4-BE49-F238E27FC236}">
                <a16:creationId xmlns:a16="http://schemas.microsoft.com/office/drawing/2014/main" id="{073CDBAD-263F-6ABE-2CED-741FFD77634B}"/>
              </a:ext>
            </a:extLst>
          </p:cNvPr>
          <p:cNvSpPr txBox="1">
            <a:spLocks/>
          </p:cNvSpPr>
          <p:nvPr/>
        </p:nvSpPr>
        <p:spPr>
          <a:xfrm>
            <a:off x="2123728" y="-29497"/>
            <a:ext cx="684076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Program Outcomes</a:t>
            </a:r>
          </a:p>
        </p:txBody>
      </p:sp>
      <p:sp>
        <p:nvSpPr>
          <p:cNvPr id="8" name="TextBox 7">
            <a:extLst>
              <a:ext uri="{FF2B5EF4-FFF2-40B4-BE49-F238E27FC236}">
                <a16:creationId xmlns:a16="http://schemas.microsoft.com/office/drawing/2014/main" id="{9F664240-A717-DBB3-A045-D617583102F2}"/>
              </a:ext>
            </a:extLst>
          </p:cNvPr>
          <p:cNvSpPr txBox="1"/>
          <p:nvPr/>
        </p:nvSpPr>
        <p:spPr>
          <a:xfrm>
            <a:off x="323528" y="685800"/>
            <a:ext cx="8712968" cy="5094215"/>
          </a:xfrm>
          <a:prstGeom prst="rect">
            <a:avLst/>
          </a:prstGeom>
          <a:noFill/>
        </p:spPr>
        <p:txBody>
          <a:bodyPr wrap="square">
            <a:spAutoFit/>
          </a:bodyPr>
          <a:lstStyle/>
          <a:p>
            <a:pPr algn="ctr"/>
            <a:r>
              <a:rPr lang="en-US" sz="1800">
                <a:effectLst/>
                <a:latin typeface="Times New Roman" panose="02020603050405020304" pitchFamily="18" charset="0"/>
                <a:ea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endParaRPr>
          </a:p>
          <a:p>
            <a:pPr algn="just">
              <a:lnSpc>
                <a:spcPct val="115000"/>
              </a:lnSpc>
              <a:spcAft>
                <a:spcPts val="1000"/>
              </a:spcAft>
            </a:pPr>
            <a:r>
              <a:rPr lang="en-US" sz="1400" b="1">
                <a:effectLst/>
                <a:latin typeface="Times New Roman" panose="02020603050405020304" pitchFamily="18" charset="0"/>
                <a:ea typeface="Calibri" panose="020F0502020204030204" pitchFamily="34" charset="0"/>
                <a:cs typeface="Times New Roman" panose="02020603050405020304" pitchFamily="18" charset="0"/>
              </a:rPr>
              <a:t>1. </a:t>
            </a:r>
            <a:r>
              <a:rPr lang="en-US" sz="2000" b="1">
                <a:effectLst/>
                <a:latin typeface="Times New Roman" panose="02020603050405020304" pitchFamily="18" charset="0"/>
                <a:ea typeface="Calibri" panose="020F0502020204030204" pitchFamily="34" charset="0"/>
                <a:cs typeface="Times New Roman" panose="02020603050405020304" pitchFamily="18" charset="0"/>
              </a:rPr>
              <a:t>Engineering knowledge:</a:t>
            </a:r>
            <a:r>
              <a:rPr lang="en-US" sz="2000">
                <a:effectLst/>
                <a:latin typeface="Times New Roman" panose="02020603050405020304" pitchFamily="18" charset="0"/>
                <a:ea typeface="Calibri" panose="020F0502020204030204" pitchFamily="34" charset="0"/>
                <a:cs typeface="Times New Roman" panose="02020603050405020304" pitchFamily="18" charset="0"/>
              </a:rPr>
              <a:t> Apply the knowledge of mathematics, science, engineering fundamentals, and an engineering specialization for the solution of complex engineering problems.</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a:effectLst/>
                <a:latin typeface="Times New Roman" panose="02020603050405020304" pitchFamily="18" charset="0"/>
                <a:ea typeface="Calibri" panose="020F0502020204030204" pitchFamily="34" charset="0"/>
                <a:cs typeface="Times New Roman" panose="02020603050405020304" pitchFamily="18" charset="0"/>
              </a:rPr>
              <a:t>2. Problem analysis:</a:t>
            </a:r>
            <a:r>
              <a:rPr lang="en-US" sz="2000">
                <a:effectLst/>
                <a:latin typeface="Times New Roman" panose="02020603050405020304" pitchFamily="18" charset="0"/>
                <a:ea typeface="Calibri" panose="020F0502020204030204" pitchFamily="34" charset="0"/>
                <a:cs typeface="Times New Roman" panose="02020603050405020304" pitchFamily="18" charset="0"/>
              </a:rPr>
              <a:t> Identify, formulate, research literature, and </a:t>
            </a:r>
            <a:r>
              <a:rPr lang="en-US" sz="2000" err="1">
                <a:effectLst/>
                <a:latin typeface="Times New Roman" panose="02020603050405020304" pitchFamily="18" charset="0"/>
                <a:ea typeface="Calibri" panose="020F0502020204030204" pitchFamily="34" charset="0"/>
                <a:cs typeface="Times New Roman" panose="02020603050405020304" pitchFamily="18" charset="0"/>
              </a:rPr>
              <a:t>analyse</a:t>
            </a:r>
            <a:r>
              <a:rPr lang="en-US" sz="2000">
                <a:effectLst/>
                <a:latin typeface="Times New Roman" panose="02020603050405020304" pitchFamily="18" charset="0"/>
                <a:ea typeface="Calibri" panose="020F0502020204030204" pitchFamily="34" charset="0"/>
                <a:cs typeface="Times New Roman" panose="02020603050405020304" pitchFamily="18" charset="0"/>
              </a:rPr>
              <a:t> complex engineering problems reaching substantiated conclusions using first principles of mathematics, natural sciences, and engineering sciences.</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a:effectLst/>
                <a:latin typeface="Times New Roman" panose="02020603050405020304" pitchFamily="18" charset="0"/>
                <a:ea typeface="Calibri" panose="020F0502020204030204" pitchFamily="34" charset="0"/>
                <a:cs typeface="Times New Roman" panose="02020603050405020304" pitchFamily="18" charset="0"/>
              </a:rPr>
              <a:t>3. Design/development of solutions:</a:t>
            </a:r>
            <a:r>
              <a:rPr lang="en-US" sz="2000">
                <a:effectLst/>
                <a:latin typeface="Times New Roman" panose="02020603050405020304" pitchFamily="18" charset="0"/>
                <a:ea typeface="Calibri" panose="020F0502020204030204" pitchFamily="34" charset="0"/>
                <a:cs typeface="Times New Roman" panose="02020603050405020304" pitchFamily="18" charset="0"/>
              </a:rPr>
              <a:t> Design solutions for complex engineering problems and design system components or processes that meet the specified needs with appropriate consideration for public health and safety, and cultural, societal, and environmental considerations</a:t>
            </a:r>
            <a:r>
              <a:rPr lang="en-US" sz="2400">
                <a:effectLst/>
                <a:latin typeface="Times New Roman" panose="02020603050405020304" pitchFamily="18" charset="0"/>
                <a:ea typeface="Calibri" panose="020F0502020204030204" pitchFamily="34" charset="0"/>
                <a:cs typeface="Times New Roman" panose="02020603050405020304" pitchFamily="18" charset="0"/>
              </a:rPr>
              <a:t>.</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US" sz="1600" b="1">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IN">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560047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B8384B-E955-4436-B51E-FDDE6F26B267}" type="datetime1">
              <a:rPr lang="en-US" smtClean="0"/>
              <a:pPr/>
              <a:t>12-Aug-25</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Rectangle 4"/>
          <p:cNvSpPr/>
          <p:nvPr/>
        </p:nvSpPr>
        <p:spPr>
          <a:xfrm>
            <a:off x="257672" y="980728"/>
            <a:ext cx="8424936" cy="4407040"/>
          </a:xfrm>
          <a:prstGeom prst="rect">
            <a:avLst/>
          </a:prstGeom>
        </p:spPr>
        <p:txBody>
          <a:bodyPr wrap="square">
            <a:spAutoFit/>
          </a:bodyPr>
          <a:lstStyle/>
          <a:p>
            <a:pPr algn="just">
              <a:lnSpc>
                <a:spcPct val="115000"/>
              </a:lnSpc>
              <a:spcAft>
                <a:spcPts val="1000"/>
              </a:spcAft>
            </a:pPr>
            <a:r>
              <a:rPr lang="en-US" sz="2100" b="1">
                <a:latin typeface="Times New Roman" panose="02020603050405020304" pitchFamily="18" charset="0"/>
                <a:ea typeface="Calibri" panose="020F0502020204030204" pitchFamily="34" charset="0"/>
                <a:cs typeface="Times New Roman" panose="02020603050405020304" pitchFamily="18" charset="0"/>
              </a:rPr>
              <a:t>4. Conduct investigations of complex problems: </a:t>
            </a:r>
            <a:r>
              <a:rPr lang="en-US" sz="2100">
                <a:latin typeface="Times New Roman" panose="02020603050405020304" pitchFamily="18" charset="0"/>
                <a:ea typeface="Calibri" panose="020F0502020204030204" pitchFamily="34" charset="0"/>
                <a:cs typeface="Times New Roman" panose="02020603050405020304" pitchFamily="18" charset="0"/>
              </a:rPr>
              <a:t>Use research-based knowledge and research methods including design of experiments, analysis and interpretation of data, and synthesis of information to provide valid conclusions.</a:t>
            </a:r>
            <a:endParaRPr lang="en-IN" sz="210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100" b="1">
                <a:latin typeface="Times New Roman" panose="02020603050405020304" pitchFamily="18" charset="0"/>
                <a:ea typeface="Calibri" panose="020F0502020204030204" pitchFamily="34" charset="0"/>
                <a:cs typeface="Times New Roman" panose="02020603050405020304" pitchFamily="18" charset="0"/>
              </a:rPr>
              <a:t>5. Modern tool usage:</a:t>
            </a:r>
            <a:r>
              <a:rPr lang="en-US" sz="2100">
                <a:latin typeface="Times New Roman" panose="02020603050405020304" pitchFamily="18" charset="0"/>
                <a:ea typeface="Calibri" panose="020F0502020204030204" pitchFamily="34" charset="0"/>
                <a:cs typeface="Times New Roman" panose="02020603050405020304" pitchFamily="18" charset="0"/>
              </a:rPr>
              <a:t> Create, select, and apply appropriate techniques, resources, and modern engineering and IT tools, including prediction and modeling to complex engineering activities, with an understanding of the limitations.</a:t>
            </a:r>
            <a:endParaRPr lang="en-IN" sz="210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100">
                <a:latin typeface="Times New Roman" panose="02020603050405020304" pitchFamily="18" charset="0"/>
                <a:ea typeface="Calibri" panose="020F0502020204030204" pitchFamily="34" charset="0"/>
                <a:cs typeface="Times New Roman" panose="02020603050405020304" pitchFamily="18" charset="0"/>
              </a:rPr>
              <a:t> </a:t>
            </a:r>
            <a:r>
              <a:rPr lang="en-US" sz="2100" b="1">
                <a:latin typeface="Times New Roman" panose="02020603050405020304" pitchFamily="18" charset="0"/>
                <a:ea typeface="Calibri" panose="020F0502020204030204" pitchFamily="34" charset="0"/>
                <a:cs typeface="Times New Roman" panose="02020603050405020304" pitchFamily="18" charset="0"/>
              </a:rPr>
              <a:t>6. The engineer and society:</a:t>
            </a:r>
            <a:r>
              <a:rPr lang="en-US" sz="2100">
                <a:latin typeface="Times New Roman" panose="02020603050405020304" pitchFamily="18" charset="0"/>
                <a:ea typeface="Calibri" panose="020F0502020204030204" pitchFamily="34" charset="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a:t>
            </a:r>
            <a:endParaRPr lang="en-IN" sz="210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073CDBAD-263F-6ABE-2CED-741FFD77634B}"/>
              </a:ext>
            </a:extLst>
          </p:cNvPr>
          <p:cNvSpPr txBox="1">
            <a:spLocks/>
          </p:cNvSpPr>
          <p:nvPr/>
        </p:nvSpPr>
        <p:spPr>
          <a:xfrm>
            <a:off x="1691680" y="0"/>
            <a:ext cx="720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Program Outcomes</a:t>
            </a: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702472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D802F8-FB40-B05D-E3D3-33717B25B52F}"/>
              </a:ext>
            </a:extLst>
          </p:cNvPr>
          <p:cNvSpPr>
            <a:spLocks noGrp="1"/>
          </p:cNvSpPr>
          <p:nvPr>
            <p:ph type="dt" sz="half" idx="10"/>
          </p:nvPr>
        </p:nvSpPr>
        <p:spPr/>
        <p:txBody>
          <a:bodyPr/>
          <a:lstStyle/>
          <a:p>
            <a:fld id="{8CED97C7-CA57-499C-8A60-5BBF496D94AE}" type="datetime1">
              <a:rPr lang="en-US" smtClean="0"/>
              <a:pPr/>
              <a:t>12-Aug-25</a:t>
            </a:fld>
            <a:endParaRPr lang="en-IN"/>
          </a:p>
        </p:txBody>
      </p:sp>
      <p:sp>
        <p:nvSpPr>
          <p:cNvPr id="4" name="Slide Number Placeholder 3">
            <a:extLst>
              <a:ext uri="{FF2B5EF4-FFF2-40B4-BE49-F238E27FC236}">
                <a16:creationId xmlns:a16="http://schemas.microsoft.com/office/drawing/2014/main" id="{C945FDD6-3EC6-8E96-1AFF-8A27E7FE9A21}"/>
              </a:ext>
            </a:extLst>
          </p:cNvPr>
          <p:cNvSpPr>
            <a:spLocks noGrp="1"/>
          </p:cNvSpPr>
          <p:nvPr>
            <p:ph type="sldNum" sz="quarter" idx="12"/>
          </p:nvPr>
        </p:nvSpPr>
        <p:spPr/>
        <p:txBody>
          <a:bodyPr/>
          <a:lstStyle/>
          <a:p>
            <a:fld id="{F8999BB2-E6E2-4FC7-A9BF-D8A708327382}" type="slidenum">
              <a:rPr lang="en-IN" smtClean="0"/>
              <a:pPr/>
              <a:t>19</a:t>
            </a:fld>
            <a:endParaRPr lang="en-IN"/>
          </a:p>
        </p:txBody>
      </p:sp>
      <p:sp>
        <p:nvSpPr>
          <p:cNvPr id="5" name="Title 1">
            <a:extLst>
              <a:ext uri="{FF2B5EF4-FFF2-40B4-BE49-F238E27FC236}">
                <a16:creationId xmlns:a16="http://schemas.microsoft.com/office/drawing/2014/main" id="{073CDBAD-263F-6ABE-2CED-741FFD77634B}"/>
              </a:ext>
            </a:extLst>
          </p:cNvPr>
          <p:cNvSpPr txBox="1">
            <a:spLocks/>
          </p:cNvSpPr>
          <p:nvPr/>
        </p:nvSpPr>
        <p:spPr>
          <a:xfrm>
            <a:off x="2339752" y="-29497"/>
            <a:ext cx="66247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Program Outcomes</a:t>
            </a:r>
          </a:p>
        </p:txBody>
      </p:sp>
      <p:sp>
        <p:nvSpPr>
          <p:cNvPr id="8" name="TextBox 7">
            <a:extLst>
              <a:ext uri="{FF2B5EF4-FFF2-40B4-BE49-F238E27FC236}">
                <a16:creationId xmlns:a16="http://schemas.microsoft.com/office/drawing/2014/main" id="{9F664240-A717-DBB3-A045-D617583102F2}"/>
              </a:ext>
            </a:extLst>
          </p:cNvPr>
          <p:cNvSpPr txBox="1"/>
          <p:nvPr/>
        </p:nvSpPr>
        <p:spPr>
          <a:xfrm>
            <a:off x="179512" y="1052736"/>
            <a:ext cx="8389067" cy="4137351"/>
          </a:xfrm>
          <a:prstGeom prst="rect">
            <a:avLst/>
          </a:prstGeom>
          <a:noFill/>
        </p:spPr>
        <p:txBody>
          <a:bodyPr wrap="square">
            <a:spAutoFit/>
          </a:bodyPr>
          <a:lstStyle/>
          <a:p>
            <a:pPr algn="just">
              <a:lnSpc>
                <a:spcPct val="115000"/>
              </a:lnSpc>
              <a:spcAft>
                <a:spcPts val="1000"/>
              </a:spcAft>
            </a:pPr>
            <a:r>
              <a:rPr lang="en-US" sz="1800" b="1">
                <a:effectLst/>
                <a:latin typeface="Times New Roman" panose="02020603050405020304" pitchFamily="18" charset="0"/>
                <a:ea typeface="Calibri" panose="020F0502020204030204" pitchFamily="34" charset="0"/>
                <a:cs typeface="Times New Roman" panose="02020603050405020304" pitchFamily="18" charset="0"/>
              </a:rPr>
              <a:t>7</a:t>
            </a:r>
            <a:r>
              <a:rPr lang="en-US" sz="2400" b="1">
                <a:effectLst/>
                <a:latin typeface="Times New Roman" panose="02020603050405020304" pitchFamily="18" charset="0"/>
                <a:ea typeface="Calibri" panose="020F0502020204030204" pitchFamily="34" charset="0"/>
                <a:cs typeface="Times New Roman" panose="02020603050405020304" pitchFamily="18" charset="0"/>
              </a:rPr>
              <a:t>. Environment and sustainability:</a:t>
            </a:r>
            <a:r>
              <a:rPr lang="en-US" sz="2400">
                <a:effectLst/>
                <a:latin typeface="Times New Roman" panose="02020603050405020304" pitchFamily="18" charset="0"/>
                <a:ea typeface="Calibri" panose="020F0502020204030204" pitchFamily="34" charset="0"/>
                <a:cs typeface="Times New Roman" panose="02020603050405020304" pitchFamily="18" charset="0"/>
              </a:rPr>
              <a:t> Understand the impact of the professional engineering solutions in societal and environmental contexts, and demonstrate the knowledge of, and need for sustainable development.</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b="1">
                <a:effectLst/>
                <a:latin typeface="Times New Roman" panose="02020603050405020304" pitchFamily="18" charset="0"/>
                <a:ea typeface="Calibri" panose="020F0502020204030204" pitchFamily="34" charset="0"/>
                <a:cs typeface="Times New Roman" panose="02020603050405020304" pitchFamily="18" charset="0"/>
              </a:rPr>
              <a:t>8. Ethics:</a:t>
            </a:r>
            <a:r>
              <a:rPr lang="en-US" sz="2400">
                <a:effectLst/>
                <a:latin typeface="Times New Roman" panose="02020603050405020304" pitchFamily="18" charset="0"/>
                <a:ea typeface="Calibri" panose="020F0502020204030204" pitchFamily="34" charset="0"/>
                <a:cs typeface="Times New Roman" panose="02020603050405020304" pitchFamily="18" charset="0"/>
              </a:rPr>
              <a:t> Apply ethical principles and commit to professional ethics and responsibilities and norms of the engineering practice.</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b="1">
                <a:effectLst/>
                <a:latin typeface="Times New Roman" panose="02020603050405020304" pitchFamily="18" charset="0"/>
                <a:ea typeface="Calibri" panose="020F0502020204030204" pitchFamily="34" charset="0"/>
                <a:cs typeface="Times New Roman" panose="02020603050405020304" pitchFamily="18" charset="0"/>
              </a:rPr>
              <a:t>9. Individual and teamwork:</a:t>
            </a:r>
            <a:r>
              <a:rPr lang="en-US" sz="2400">
                <a:effectLst/>
                <a:latin typeface="Times New Roman" panose="02020603050405020304" pitchFamily="18" charset="0"/>
                <a:ea typeface="Calibri" panose="020F0502020204030204" pitchFamily="34" charset="0"/>
                <a:cs typeface="Times New Roman" panose="02020603050405020304" pitchFamily="18" charset="0"/>
              </a:rPr>
              <a:t> Function effectively as an individual, and as a member or leader in diverse teams, and in multidisciplinary settings.</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203690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B8384B-E955-4436-B51E-FDDE6F26B267}" type="datetime1">
              <a:rPr lang="en-US" smtClean="0"/>
              <a:pPr/>
              <a:t>12-Aug-25</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Rectangle 4"/>
          <p:cNvSpPr/>
          <p:nvPr/>
        </p:nvSpPr>
        <p:spPr>
          <a:xfrm>
            <a:off x="179512" y="908720"/>
            <a:ext cx="8748972" cy="5279394"/>
          </a:xfrm>
          <a:prstGeom prst="rect">
            <a:avLst/>
          </a:prstGeom>
        </p:spPr>
        <p:txBody>
          <a:bodyPr wrap="square">
            <a:spAutoFit/>
          </a:bodyPr>
          <a:lstStyle/>
          <a:p>
            <a:pPr algn="just">
              <a:lnSpc>
                <a:spcPct val="115000"/>
              </a:lnSpc>
              <a:spcAft>
                <a:spcPts val="1000"/>
              </a:spcAft>
            </a:pPr>
            <a:r>
              <a:rPr lang="en-US" sz="2400" b="1">
                <a:latin typeface="Times New Roman" panose="02020603050405020304" pitchFamily="18" charset="0"/>
                <a:ea typeface="Calibri" panose="020F0502020204030204" pitchFamily="34" charset="0"/>
                <a:cs typeface="Times New Roman" panose="02020603050405020304" pitchFamily="18" charset="0"/>
              </a:rPr>
              <a:t>10. Communication:</a:t>
            </a:r>
            <a:r>
              <a:rPr lang="en-US" sz="2400">
                <a:latin typeface="Times New Roman" panose="02020603050405020304" pitchFamily="18" charset="0"/>
                <a:ea typeface="Calibri" panose="020F0502020204030204" pitchFamily="34" charset="0"/>
                <a:cs typeface="Times New Roman" panose="02020603050405020304" pitchFamily="18" charset="0"/>
              </a:rPr>
              <a:t> Communicate effectively on complex engineering activities with the engineering community and with the society at large, such as, being able to comprehend and write effective reports and design documentation, make effective presentations, and give and receive clear instructions.</a:t>
            </a:r>
            <a:endParaRPr lang="en-IN" sz="240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400" b="1">
                <a:latin typeface="Times New Roman" panose="02020603050405020304" pitchFamily="18" charset="0"/>
                <a:ea typeface="Calibri" panose="020F0502020204030204" pitchFamily="34" charset="0"/>
                <a:cs typeface="Times New Roman" panose="02020603050405020304" pitchFamily="18" charset="0"/>
              </a:rPr>
              <a:t>11. Project management and finance:</a:t>
            </a:r>
            <a:r>
              <a:rPr lang="en-US" sz="2400">
                <a:latin typeface="Times New Roman" panose="02020603050405020304" pitchFamily="18" charset="0"/>
                <a:ea typeface="Calibri" panose="020F0502020204030204" pitchFamily="34" charset="0"/>
                <a:cs typeface="Times New Roman" panose="02020603050405020304" pitchFamily="18" charset="0"/>
              </a:rPr>
              <a:t> Demonstrate knowledge and understanding of the engineering and management principles and apply these to one’s own work, as a member and leader in a team, to manage projects and in multidisciplinary environments.</a:t>
            </a:r>
            <a:endParaRPr lang="en-IN" sz="2400">
              <a:latin typeface="Times New Roman" panose="02020603050405020304" pitchFamily="18" charset="0"/>
              <a:ea typeface="Calibri" panose="020F0502020204030204" pitchFamily="34" charset="0"/>
              <a:cs typeface="Times New Roman" panose="02020603050405020304" pitchFamily="18" charset="0"/>
            </a:endParaRPr>
          </a:p>
          <a:p>
            <a:r>
              <a:rPr lang="en-US" sz="2400" b="1">
                <a:latin typeface="Times New Roman" panose="02020603050405020304" pitchFamily="18" charset="0"/>
                <a:ea typeface="Calibri" panose="020F0502020204030204" pitchFamily="34" charset="0"/>
                <a:cs typeface="Times New Roman" panose="02020603050405020304" pitchFamily="18" charset="0"/>
              </a:rPr>
              <a:t>12. Life-long </a:t>
            </a:r>
            <a:r>
              <a:rPr lang="en-US" sz="2400" b="1" err="1">
                <a:latin typeface="Times New Roman" panose="02020603050405020304" pitchFamily="18" charset="0"/>
                <a:ea typeface="Calibri" panose="020F0502020204030204" pitchFamily="34" charset="0"/>
                <a:cs typeface="Times New Roman" panose="02020603050405020304" pitchFamily="18" charset="0"/>
              </a:rPr>
              <a:t>learning:</a:t>
            </a:r>
            <a:r>
              <a:rPr lang="en-US" sz="2400" err="1">
                <a:latin typeface="Times New Roman" panose="02020603050405020304" pitchFamily="18" charset="0"/>
                <a:ea typeface="Calibri" panose="020F0502020204030204" pitchFamily="34" charset="0"/>
                <a:cs typeface="Times New Roman" panose="02020603050405020304" pitchFamily="18" charset="0"/>
              </a:rPr>
              <a:t>Recognize</a:t>
            </a:r>
            <a:r>
              <a:rPr lang="en-US" sz="2400">
                <a:latin typeface="Times New Roman" panose="02020603050405020304" pitchFamily="18" charset="0"/>
                <a:ea typeface="Calibri" panose="020F0502020204030204" pitchFamily="34" charset="0"/>
                <a:cs typeface="Times New Roman" panose="02020603050405020304" pitchFamily="18" charset="0"/>
              </a:rPr>
              <a:t> the need for and have the preparation and ability to engage in independent and life-long learning in the broadest context of technological change</a:t>
            </a:r>
            <a:r>
              <a:rPr lang="en-US">
                <a:latin typeface="Times New Roman" panose="02020603050405020304" pitchFamily="18" charset="0"/>
                <a:ea typeface="Calibri" panose="020F0502020204030204" pitchFamily="34" charset="0"/>
              </a:rPr>
              <a:t>.</a:t>
            </a:r>
            <a:endParaRPr lang="en-IN"/>
          </a:p>
        </p:txBody>
      </p:sp>
      <p:sp>
        <p:nvSpPr>
          <p:cNvPr id="6" name="Title 1">
            <a:extLst>
              <a:ext uri="{FF2B5EF4-FFF2-40B4-BE49-F238E27FC236}">
                <a16:creationId xmlns:a16="http://schemas.microsoft.com/office/drawing/2014/main" id="{073CDBAD-263F-6ABE-2CED-741FFD77634B}"/>
              </a:ext>
            </a:extLst>
          </p:cNvPr>
          <p:cNvSpPr txBox="1">
            <a:spLocks/>
          </p:cNvSpPr>
          <p:nvPr/>
        </p:nvSpPr>
        <p:spPr>
          <a:xfrm>
            <a:off x="1475656" y="-29497"/>
            <a:ext cx="7488832"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Program Outcomes</a:t>
            </a: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0371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EBA42-B672-436A-AEDC-8160BA76F50E}" type="datetime1">
              <a:rPr lang="en-US" smtClean="0"/>
              <a:pPr/>
              <a:t>12-Aug-25</a:t>
            </a:fld>
            <a:endParaRPr lang="en-IN"/>
          </a:p>
        </p:txBody>
      </p:sp>
      <p:sp>
        <p:nvSpPr>
          <p:cNvPr id="3" name="Slide Number Placeholder 2"/>
          <p:cNvSpPr>
            <a:spLocks noGrp="1"/>
          </p:cNvSpPr>
          <p:nvPr>
            <p:ph type="sldNum" sz="quarter" idx="12"/>
          </p:nvPr>
        </p:nvSpPr>
        <p:spPr/>
        <p:txBody>
          <a:bodyPr/>
          <a:lstStyle/>
          <a:p>
            <a:fld id="{5949D1D6-6D4D-4B65-9E2F-1B567AF589C5}" type="slidenum">
              <a:rPr lang="en-IN" smtClean="0"/>
              <a:pPr/>
              <a:t>21</a:t>
            </a:fld>
            <a:endParaRPr lang="en-IN"/>
          </a:p>
        </p:txBody>
      </p:sp>
      <p:sp>
        <p:nvSpPr>
          <p:cNvPr id="6" name="Title 1"/>
          <p:cNvSpPr txBox="1">
            <a:spLocks/>
          </p:cNvSpPr>
          <p:nvPr/>
        </p:nvSpPr>
        <p:spPr>
          <a:xfrm>
            <a:off x="2411760" y="0"/>
            <a:ext cx="673224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a:t>Program Educational Outcomes</a:t>
            </a:r>
          </a:p>
        </p:txBody>
      </p:sp>
      <p:sp>
        <p:nvSpPr>
          <p:cNvPr id="7" name="Rectangle 6"/>
          <p:cNvSpPr/>
          <p:nvPr/>
        </p:nvSpPr>
        <p:spPr>
          <a:xfrm>
            <a:off x="642910" y="1166843"/>
            <a:ext cx="7929618" cy="4524315"/>
          </a:xfrm>
          <a:prstGeom prst="rect">
            <a:avLst/>
          </a:prstGeom>
        </p:spPr>
        <p:txBody>
          <a:bodyPr wrap="square">
            <a:spAutoFit/>
          </a:bodyPr>
          <a:lstStyle/>
          <a:p>
            <a:pPr algn="just">
              <a:buNone/>
            </a:pPr>
            <a:r>
              <a:rPr lang="en-US" sz="2400">
                <a:latin typeface="Times New Roman" panose="02020603050405020304" pitchFamily="18" charset="0"/>
                <a:cs typeface="Times New Roman" panose="02020603050405020304" pitchFamily="18" charset="0"/>
              </a:rPr>
              <a:t>PEO1:  Conceptual Knowledge to adapt in rapidly changing environment and learn new skills and demonstrate application of management principles in professional work setting.</a:t>
            </a:r>
          </a:p>
          <a:p>
            <a:pPr algn="just">
              <a:buNone/>
            </a:pPr>
            <a:r>
              <a:rPr lang="en-US" sz="2400">
                <a:latin typeface="Times New Roman" panose="02020603050405020304" pitchFamily="18" charset="0"/>
                <a:cs typeface="Times New Roman" panose="02020603050405020304" pitchFamily="18" charset="0"/>
              </a:rPr>
              <a:t>	</a:t>
            </a:r>
          </a:p>
          <a:p>
            <a:pPr algn="just">
              <a:buNone/>
            </a:pPr>
            <a:r>
              <a:rPr lang="en-US" sz="2400">
                <a:latin typeface="Times New Roman" panose="02020603050405020304" pitchFamily="18" charset="0"/>
                <a:cs typeface="Times New Roman" panose="02020603050405020304" pitchFamily="18" charset="0"/>
              </a:rPr>
              <a:t>PEO2:  Apply appropriate tools for decision making for solving complex managerial problems in local or global context</a:t>
            </a:r>
          </a:p>
          <a:p>
            <a:pPr algn="just">
              <a:buNone/>
            </a:pPr>
            <a:r>
              <a:rPr lang="en-US" sz="2400">
                <a:latin typeface="Times New Roman" panose="02020603050405020304" pitchFamily="18" charset="0"/>
                <a:cs typeface="Times New Roman" panose="02020603050405020304" pitchFamily="18" charset="0"/>
              </a:rPr>
              <a:t> 		</a:t>
            </a:r>
          </a:p>
          <a:p>
            <a:pPr algn="just">
              <a:buNone/>
            </a:pPr>
            <a:r>
              <a:rPr lang="en-US" sz="2400">
                <a:latin typeface="Times New Roman" panose="02020603050405020304" pitchFamily="18" charset="0"/>
                <a:cs typeface="Times New Roman" panose="02020603050405020304" pitchFamily="18" charset="0"/>
              </a:rPr>
              <a:t>PEO3:  Exhibit Integrity, social responsibility and teamwork</a:t>
            </a:r>
          </a:p>
          <a:p>
            <a:pPr algn="just">
              <a:buNone/>
            </a:pPr>
            <a:r>
              <a:rPr lang="en-US" sz="2400">
                <a:latin typeface="Times New Roman" panose="02020603050405020304" pitchFamily="18" charset="0"/>
                <a:cs typeface="Times New Roman" panose="02020603050405020304" pitchFamily="18" charset="0"/>
              </a:rPr>
              <a:t>		</a:t>
            </a:r>
          </a:p>
          <a:p>
            <a:pPr algn="just">
              <a:buNone/>
            </a:pPr>
            <a:r>
              <a:rPr lang="en-US" sz="2400">
                <a:latin typeface="Times New Roman" panose="02020603050405020304" pitchFamily="18" charset="0"/>
                <a:cs typeface="Times New Roman" panose="02020603050405020304" pitchFamily="18" charset="0"/>
              </a:rPr>
              <a:t>PEO4: Exhibit ethics, communication skills, leadership qualities and entrepreneurial mindset</a:t>
            </a:r>
          </a:p>
        </p:txBody>
      </p:sp>
      <p:sp>
        <p:nvSpPr>
          <p:cNvPr id="8" name="Title 1">
            <a:extLst>
              <a:ext uri="{FF2B5EF4-FFF2-40B4-BE49-F238E27FC236}">
                <a16:creationId xmlns:a16="http://schemas.microsoft.com/office/drawing/2014/main" id="{0AD65C0C-7757-D4F4-4286-F160B71D1676}"/>
              </a:ext>
            </a:extLst>
          </p:cNvPr>
          <p:cNvSpPr txBox="1">
            <a:spLocks/>
          </p:cNvSpPr>
          <p:nvPr/>
        </p:nvSpPr>
        <p:spPr>
          <a:xfrm>
            <a:off x="2195736" y="40"/>
            <a:ext cx="673224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Program Educational Outcomes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FB6C02-A4D7-4D55-AD79-6FA168364B6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p:cNvSpPr txBox="1">
            <a:spLocks/>
          </p:cNvSpPr>
          <p:nvPr/>
        </p:nvSpPr>
        <p:spPr>
          <a:xfrm>
            <a:off x="1547664" y="2"/>
            <a:ext cx="7596336" cy="83671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3600" b="1" i="0" u="none" strike="noStrike" kern="1200" cap="none" spc="0" normalizeH="0" noProof="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458973354"/>
              </p:ext>
            </p:extLst>
          </p:nvPr>
        </p:nvGraphicFramePr>
        <p:xfrm>
          <a:off x="457200" y="1676400"/>
          <a:ext cx="8305800" cy="4114800"/>
        </p:xfrm>
        <a:graphic>
          <a:graphicData uri="http://schemas.openxmlformats.org/drawingml/2006/table">
            <a:tbl>
              <a:tblPr firstRow="1" bandRow="1">
                <a:tableStyleId>{5C22544A-7EE6-4342-B048-85BDC9FD1C3A}</a:tableStyleId>
              </a:tblPr>
              <a:tblGrid>
                <a:gridCol w="1453515">
                  <a:extLst>
                    <a:ext uri="{9D8B030D-6E8A-4147-A177-3AD203B41FA5}">
                      <a16:colId xmlns:a16="http://schemas.microsoft.com/office/drawing/2014/main" val="20000"/>
                    </a:ext>
                  </a:extLst>
                </a:gridCol>
                <a:gridCol w="5252085">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a:solidFill>
                            <a:schemeClr val="lt1"/>
                          </a:solidFill>
                          <a:effectLst/>
                          <a:latin typeface="+mn-lt"/>
                          <a:ea typeface="+mn-ea"/>
                          <a:cs typeface="+mn-cs"/>
                        </a:rPr>
                        <a:t>Course outcome </a:t>
                      </a:r>
                      <a:endParaRPr lang="en-US"/>
                    </a:p>
                  </a:txBody>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a:solidFill>
                            <a:schemeClr val="lt1"/>
                          </a:solidFill>
                          <a:effectLst/>
                          <a:latin typeface="+mn-lt"/>
                          <a:ea typeface="+mn-ea"/>
                          <a:cs typeface="+mn-cs"/>
                        </a:rPr>
                        <a:t>At the end of course, the student will be able to </a:t>
                      </a:r>
                      <a:endParaRPr lang="en-US"/>
                    </a:p>
                  </a:txBody>
                  <a:tcPr/>
                </a:tc>
                <a:tc hMerge="1">
                  <a:txBody>
                    <a:bodyPr/>
                    <a:lstStyle/>
                    <a:p>
                      <a:endParaRPr lang="en-US"/>
                    </a:p>
                  </a:txBody>
                  <a:tcPr/>
                </a:tc>
                <a:extLst>
                  <a:ext uri="{0D108BD9-81ED-4DB2-BD59-A6C34878D82A}">
                    <a16:rowId xmlns:a16="http://schemas.microsoft.com/office/drawing/2014/main" val="10000"/>
                  </a:ext>
                </a:extLst>
              </a:tr>
              <a:tr h="370840">
                <a:tc>
                  <a:txBody>
                    <a:bodyPr/>
                    <a:lstStyle/>
                    <a:p>
                      <a:r>
                        <a:rPr lang="en-US"/>
                        <a:t>CO1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dk1"/>
                          </a:solidFill>
                          <a:effectLst/>
                          <a:latin typeface="+mn-lt"/>
                          <a:ea typeface="+mn-ea"/>
                          <a:cs typeface="+mn-cs"/>
                        </a:rPr>
                        <a:t>Develop understanding of basic concepts of entrepreneurship. </a:t>
                      </a:r>
                      <a:endParaRPr lang="en-US"/>
                    </a:p>
                  </a:txBody>
                  <a:tcPr/>
                </a:tc>
                <a:tc>
                  <a:txBody>
                    <a:bodyPr/>
                    <a:lstStyle/>
                    <a:p>
                      <a:r>
                        <a:rPr lang="en-US"/>
                        <a:t>K1,K2</a:t>
                      </a:r>
                    </a:p>
                  </a:txBody>
                  <a:tcPr/>
                </a:tc>
                <a:extLst>
                  <a:ext uri="{0D108BD9-81ED-4DB2-BD59-A6C34878D82A}">
                    <a16:rowId xmlns:a16="http://schemas.microsoft.com/office/drawing/2014/main" val="10001"/>
                  </a:ext>
                </a:extLst>
              </a:tr>
              <a:tr h="370840">
                <a:tc>
                  <a:txBody>
                    <a:bodyPr/>
                    <a:lstStyle/>
                    <a:p>
                      <a:r>
                        <a:rPr lang="en-US"/>
                        <a:t>CO2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dk1"/>
                          </a:solidFill>
                          <a:effectLst/>
                          <a:latin typeface="+mn-lt"/>
                          <a:ea typeface="+mn-ea"/>
                          <a:cs typeface="+mn-cs"/>
                        </a:rPr>
                        <a:t>Develop an entrepreneurial mindset through knowledge of creativity and innovation </a:t>
                      </a:r>
                      <a:endParaRPr lang="en-US"/>
                    </a:p>
                  </a:txBody>
                  <a:tcPr/>
                </a:tc>
                <a:tc>
                  <a:txBody>
                    <a:bodyPr/>
                    <a:lstStyle/>
                    <a:p>
                      <a:r>
                        <a:rPr lang="en-US"/>
                        <a:t>K3,K4</a:t>
                      </a:r>
                    </a:p>
                  </a:txBody>
                  <a:tcPr/>
                </a:tc>
                <a:extLst>
                  <a:ext uri="{0D108BD9-81ED-4DB2-BD59-A6C34878D82A}">
                    <a16:rowId xmlns:a16="http://schemas.microsoft.com/office/drawing/2014/main" val="10002"/>
                  </a:ext>
                </a:extLst>
              </a:tr>
              <a:tr h="370840">
                <a:tc>
                  <a:txBody>
                    <a:bodyPr/>
                    <a:lstStyle/>
                    <a:p>
                      <a:r>
                        <a:rPr lang="en-US"/>
                        <a:t>CO3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dk1"/>
                          </a:solidFill>
                          <a:effectLst/>
                          <a:latin typeface="+mn-lt"/>
                          <a:ea typeface="+mn-ea"/>
                          <a:cs typeface="+mn-cs"/>
                        </a:rPr>
                        <a:t>Evaluating and understanding a holistic approach of launching a new business venture </a:t>
                      </a:r>
                      <a:endParaRPr lang="en-US"/>
                    </a:p>
                  </a:txBody>
                  <a:tcPr/>
                </a:tc>
                <a:tc>
                  <a:txBody>
                    <a:bodyPr/>
                    <a:lstStyle/>
                    <a:p>
                      <a:r>
                        <a:rPr lang="en-US"/>
                        <a:t>K4</a:t>
                      </a:r>
                    </a:p>
                  </a:txBody>
                  <a:tcPr/>
                </a:tc>
                <a:extLst>
                  <a:ext uri="{0D108BD9-81ED-4DB2-BD59-A6C34878D82A}">
                    <a16:rowId xmlns:a16="http://schemas.microsoft.com/office/drawing/2014/main" val="10003"/>
                  </a:ext>
                </a:extLst>
              </a:tr>
              <a:tr h="370840">
                <a:tc>
                  <a:txBody>
                    <a:bodyPr/>
                    <a:lstStyle/>
                    <a:p>
                      <a:r>
                        <a:rPr lang="en-US"/>
                        <a:t>CO4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dk1"/>
                          </a:solidFill>
                          <a:effectLst/>
                          <a:latin typeface="+mn-lt"/>
                          <a:ea typeface="+mn-ea"/>
                          <a:cs typeface="+mn-cs"/>
                        </a:rPr>
                        <a:t>Understanding of converting an Idea to an opportunity and various funding sources </a:t>
                      </a:r>
                      <a:endParaRPr lang="en-US"/>
                    </a:p>
                  </a:txBody>
                  <a:tcPr/>
                </a:tc>
                <a:tc>
                  <a:txBody>
                    <a:bodyPr/>
                    <a:lstStyle/>
                    <a:p>
                      <a:r>
                        <a:rPr lang="en-US"/>
                        <a:t>K2</a:t>
                      </a:r>
                    </a:p>
                  </a:txBody>
                  <a:tcPr/>
                </a:tc>
                <a:extLst>
                  <a:ext uri="{0D108BD9-81ED-4DB2-BD59-A6C34878D82A}">
                    <a16:rowId xmlns:a16="http://schemas.microsoft.com/office/drawing/2014/main" val="10004"/>
                  </a:ext>
                </a:extLst>
              </a:tr>
              <a:tr h="370840">
                <a:tc>
                  <a:txBody>
                    <a:bodyPr/>
                    <a:lstStyle/>
                    <a:p>
                      <a:r>
                        <a:rPr lang="en-US"/>
                        <a:t>CO5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dk1"/>
                          </a:solidFill>
                          <a:effectLst/>
                          <a:latin typeface="+mn-lt"/>
                          <a:ea typeface="+mn-ea"/>
                          <a:cs typeface="+mn-cs"/>
                        </a:rPr>
                        <a:t>Develop knowledge on Entrepreneurial Finance, Assistance and role of Entrepreneurial Development Agencies </a:t>
                      </a:r>
                      <a:endParaRPr lang="en-US"/>
                    </a:p>
                  </a:txBody>
                  <a:tcPr/>
                </a:tc>
                <a:tc>
                  <a:txBody>
                    <a:bodyPr/>
                    <a:lstStyle/>
                    <a:p>
                      <a:r>
                        <a:rPr lang="en-US"/>
                        <a:t>K4, K5</a:t>
                      </a:r>
                    </a:p>
                  </a:txBody>
                  <a:tcPr/>
                </a:tc>
                <a:extLst>
                  <a:ext uri="{0D108BD9-81ED-4DB2-BD59-A6C34878D82A}">
                    <a16:rowId xmlns:a16="http://schemas.microsoft.com/office/drawing/2014/main" val="10005"/>
                  </a:ext>
                </a:extLst>
              </a:tr>
            </a:tbl>
          </a:graphicData>
        </a:graphic>
      </p:graphicFrame>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1962376928"/>
              </p:ext>
            </p:extLst>
          </p:nvPr>
        </p:nvGraphicFramePr>
        <p:xfrm>
          <a:off x="1371601" y="1066802"/>
          <a:ext cx="5784927" cy="2133600"/>
        </p:xfrm>
        <a:graphic>
          <a:graphicData uri="http://schemas.openxmlformats.org/drawingml/2006/table">
            <a:tbl>
              <a:tblPr firstRow="1" firstCol="1" bandRow="1">
                <a:tableStyleId>{5C22544A-7EE6-4342-B048-85BDC9FD1C3A}</a:tableStyleId>
              </a:tblPr>
              <a:tblGrid>
                <a:gridCol w="608506">
                  <a:extLst>
                    <a:ext uri="{9D8B030D-6E8A-4147-A177-3AD203B41FA5}">
                      <a16:colId xmlns:a16="http://schemas.microsoft.com/office/drawing/2014/main" val="20000"/>
                    </a:ext>
                  </a:extLst>
                </a:gridCol>
                <a:gridCol w="1234667">
                  <a:extLst>
                    <a:ext uri="{9D8B030D-6E8A-4147-A177-3AD203B41FA5}">
                      <a16:colId xmlns:a16="http://schemas.microsoft.com/office/drawing/2014/main" val="20001"/>
                    </a:ext>
                  </a:extLst>
                </a:gridCol>
                <a:gridCol w="870976">
                  <a:extLst>
                    <a:ext uri="{9D8B030D-6E8A-4147-A177-3AD203B41FA5}">
                      <a16:colId xmlns:a16="http://schemas.microsoft.com/office/drawing/2014/main" val="20002"/>
                    </a:ext>
                  </a:extLst>
                </a:gridCol>
                <a:gridCol w="719144">
                  <a:extLst>
                    <a:ext uri="{9D8B030D-6E8A-4147-A177-3AD203B41FA5}">
                      <a16:colId xmlns:a16="http://schemas.microsoft.com/office/drawing/2014/main" val="20003"/>
                    </a:ext>
                  </a:extLst>
                </a:gridCol>
                <a:gridCol w="829781">
                  <a:extLst>
                    <a:ext uri="{9D8B030D-6E8A-4147-A177-3AD203B41FA5}">
                      <a16:colId xmlns:a16="http://schemas.microsoft.com/office/drawing/2014/main" val="20004"/>
                    </a:ext>
                  </a:extLst>
                </a:gridCol>
                <a:gridCol w="829781">
                  <a:extLst>
                    <a:ext uri="{9D8B030D-6E8A-4147-A177-3AD203B41FA5}">
                      <a16:colId xmlns:a16="http://schemas.microsoft.com/office/drawing/2014/main" val="20005"/>
                    </a:ext>
                  </a:extLst>
                </a:gridCol>
                <a:gridCol w="692072">
                  <a:extLst>
                    <a:ext uri="{9D8B030D-6E8A-4147-A177-3AD203B41FA5}">
                      <a16:colId xmlns:a16="http://schemas.microsoft.com/office/drawing/2014/main" val="20006"/>
                    </a:ext>
                  </a:extLst>
                </a:gridCol>
              </a:tblGrid>
              <a:tr h="733825">
                <a:tc>
                  <a:txBody>
                    <a:bodyPr/>
                    <a:lstStyle/>
                    <a:p>
                      <a:pPr marL="0" marR="0">
                        <a:lnSpc>
                          <a:spcPct val="115000"/>
                        </a:lnSpc>
                        <a:spcBef>
                          <a:spcPts val="0"/>
                        </a:spcBef>
                        <a:spcAft>
                          <a:spcPts val="0"/>
                        </a:spcAft>
                      </a:pPr>
                      <a:r>
                        <a:rPr lang="en-US" sz="1100">
                          <a:effectLst/>
                        </a:rPr>
                        <a:t>Sr. 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Course  Outcome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PO1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PO2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PO3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PO4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PO5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34857">
                <a:tc>
                  <a:txBody>
                    <a:bodyPr/>
                    <a:lstStyle/>
                    <a:p>
                      <a:pPr marL="0" marR="0">
                        <a:lnSpc>
                          <a:spcPct val="115000"/>
                        </a:lnSpc>
                        <a:spcBef>
                          <a:spcPts val="0"/>
                        </a:spcBef>
                        <a:spcAft>
                          <a:spcPts val="0"/>
                        </a:spcAft>
                      </a:pPr>
                      <a:r>
                        <a:rPr lang="en-US" sz="1400" b="1">
                          <a:effectLst/>
                        </a:rPr>
                        <a:t>1</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b="1">
                          <a:effectLst/>
                        </a:rPr>
                        <a:t>CO 1</a:t>
                      </a:r>
                      <a:endParaRPr lang="en-US" sz="16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a:effectLst/>
                        </a:rPr>
                        <a:t>H </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a:effectLst/>
                        </a:rPr>
                        <a:t> H</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a:effectLst/>
                        </a:rPr>
                        <a:t>M </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90654">
                <a:tc>
                  <a:txBody>
                    <a:bodyPr/>
                    <a:lstStyle/>
                    <a:p>
                      <a:pPr marL="0" marR="0">
                        <a:lnSpc>
                          <a:spcPct val="115000"/>
                        </a:lnSpc>
                        <a:spcBef>
                          <a:spcPts val="0"/>
                        </a:spcBef>
                        <a:spcAft>
                          <a:spcPts val="0"/>
                        </a:spcAft>
                      </a:pPr>
                      <a:r>
                        <a:rPr lang="en-US" sz="11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1100">
                          <a:effectLst/>
                        </a:rPr>
                        <a:t>CO 2</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90654">
                <a:tc>
                  <a:txBody>
                    <a:bodyPr/>
                    <a:lstStyle/>
                    <a:p>
                      <a:pPr marL="0" marR="0">
                        <a:lnSpc>
                          <a:spcPct val="115000"/>
                        </a:lnSpc>
                        <a:spcBef>
                          <a:spcPts val="0"/>
                        </a:spcBef>
                        <a:spcAft>
                          <a:spcPts val="0"/>
                        </a:spcAft>
                      </a:pPr>
                      <a:r>
                        <a:rPr lang="en-US"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11430" algn="just">
                        <a:lnSpc>
                          <a:spcPct val="150000"/>
                        </a:lnSpc>
                        <a:spcBef>
                          <a:spcPts val="0"/>
                        </a:spcBef>
                        <a:spcAft>
                          <a:spcPts val="0"/>
                        </a:spcAft>
                      </a:pPr>
                      <a:r>
                        <a:rPr lang="en-US" sz="1100">
                          <a:effectLst/>
                        </a:rPr>
                        <a:t>CO 3</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91805">
                <a:tc>
                  <a:txBody>
                    <a:bodyPr/>
                    <a:lstStyle/>
                    <a:p>
                      <a:pPr marL="0" marR="0">
                        <a:lnSpc>
                          <a:spcPct val="115000"/>
                        </a:lnSpc>
                        <a:spcBef>
                          <a:spcPts val="0"/>
                        </a:spcBef>
                        <a:spcAft>
                          <a:spcPts val="0"/>
                        </a:spcAft>
                      </a:pPr>
                      <a:r>
                        <a:rPr lang="en-US"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1100">
                          <a:effectLst/>
                        </a:rPr>
                        <a:t>CO 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91805">
                <a:tc>
                  <a:txBody>
                    <a:bodyPr/>
                    <a:lstStyle/>
                    <a:p>
                      <a:pPr marL="0" marR="0">
                        <a:lnSpc>
                          <a:spcPct val="115000"/>
                        </a:lnSpc>
                        <a:spcBef>
                          <a:spcPts val="0"/>
                        </a:spcBef>
                        <a:spcAft>
                          <a:spcPts val="0"/>
                        </a:spcAft>
                      </a:pPr>
                      <a:r>
                        <a:rPr lang="en-US"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1100">
                          <a:effectLst/>
                        </a:rPr>
                        <a:t>CO 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4" name="Date Placeholder 3"/>
          <p:cNvSpPr>
            <a:spLocks noGrp="1"/>
          </p:cNvSpPr>
          <p:nvPr>
            <p:ph type="dt" sz="half" idx="10"/>
          </p:nvPr>
        </p:nvSpPr>
        <p:spPr/>
        <p:txBody>
          <a:bodyPr/>
          <a:lstStyle/>
          <a:p>
            <a:fld id="{607DC7E2-86BA-40AA-834B-2D693B53E9F3}"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7" name="Title 1"/>
          <p:cNvSpPr txBox="1">
            <a:spLocks/>
          </p:cNvSpPr>
          <p:nvPr/>
        </p:nvSpPr>
        <p:spPr>
          <a:xfrm>
            <a:off x="1619672" y="2"/>
            <a:ext cx="7524328"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9" name="Table 8"/>
          <p:cNvGraphicFramePr>
            <a:graphicFrameLocks noGrp="1"/>
          </p:cNvGraphicFramePr>
          <p:nvPr>
            <p:extLst>
              <p:ext uri="{D42A27DB-BD31-4B8C-83A1-F6EECF244321}">
                <p14:modId xmlns:p14="http://schemas.microsoft.com/office/powerpoint/2010/main" val="510218068"/>
              </p:ext>
            </p:extLst>
          </p:nvPr>
        </p:nvGraphicFramePr>
        <p:xfrm>
          <a:off x="1143003" y="3505200"/>
          <a:ext cx="5998025" cy="1848096"/>
        </p:xfrm>
        <a:graphic>
          <a:graphicData uri="http://schemas.openxmlformats.org/drawingml/2006/table">
            <a:tbl>
              <a:tblPr firstRow="1" firstCol="1" bandRow="1">
                <a:tableStyleId>{5C22544A-7EE6-4342-B048-85BDC9FD1C3A}</a:tableStyleId>
              </a:tblPr>
              <a:tblGrid>
                <a:gridCol w="2209799">
                  <a:extLst>
                    <a:ext uri="{9D8B030D-6E8A-4147-A177-3AD203B41FA5}">
                      <a16:colId xmlns:a16="http://schemas.microsoft.com/office/drawing/2014/main" val="20000"/>
                    </a:ext>
                  </a:extLst>
                </a:gridCol>
                <a:gridCol w="960782">
                  <a:extLst>
                    <a:ext uri="{9D8B030D-6E8A-4147-A177-3AD203B41FA5}">
                      <a16:colId xmlns:a16="http://schemas.microsoft.com/office/drawing/2014/main" val="20001"/>
                    </a:ext>
                  </a:extLst>
                </a:gridCol>
                <a:gridCol w="823528">
                  <a:extLst>
                    <a:ext uri="{9D8B030D-6E8A-4147-A177-3AD203B41FA5}">
                      <a16:colId xmlns:a16="http://schemas.microsoft.com/office/drawing/2014/main" val="20002"/>
                    </a:ext>
                  </a:extLst>
                </a:gridCol>
                <a:gridCol w="686272">
                  <a:extLst>
                    <a:ext uri="{9D8B030D-6E8A-4147-A177-3AD203B41FA5}">
                      <a16:colId xmlns:a16="http://schemas.microsoft.com/office/drawing/2014/main" val="20003"/>
                    </a:ext>
                  </a:extLst>
                </a:gridCol>
                <a:gridCol w="686272">
                  <a:extLst>
                    <a:ext uri="{9D8B030D-6E8A-4147-A177-3AD203B41FA5}">
                      <a16:colId xmlns:a16="http://schemas.microsoft.com/office/drawing/2014/main" val="20004"/>
                    </a:ext>
                  </a:extLst>
                </a:gridCol>
                <a:gridCol w="631372">
                  <a:extLst>
                    <a:ext uri="{9D8B030D-6E8A-4147-A177-3AD203B41FA5}">
                      <a16:colId xmlns:a16="http://schemas.microsoft.com/office/drawing/2014/main" val="20005"/>
                    </a:ext>
                  </a:extLst>
                </a:gridCol>
              </a:tblGrid>
              <a:tr h="533354">
                <a:tc rowSpan="2">
                  <a:txBody>
                    <a:bodyPr/>
                    <a:lstStyle/>
                    <a:p>
                      <a:pPr marL="0" marR="0" algn="ctr">
                        <a:lnSpc>
                          <a:spcPct val="115000"/>
                        </a:lnSpc>
                        <a:spcBef>
                          <a:spcPts val="0"/>
                        </a:spcBef>
                        <a:spcAft>
                          <a:spcPts val="0"/>
                        </a:spcAft>
                      </a:pPr>
                      <a:r>
                        <a:rPr lang="en-US" sz="1200">
                          <a:effectLst/>
                        </a:rPr>
                        <a:t>Program Specific Outcomes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gridSpan="5">
                  <a:txBody>
                    <a:bodyPr/>
                    <a:lstStyle/>
                    <a:p>
                      <a:pPr marL="0" marR="0" algn="ctr">
                        <a:lnSpc>
                          <a:spcPct val="115000"/>
                        </a:lnSpc>
                        <a:spcBef>
                          <a:spcPts val="0"/>
                        </a:spcBef>
                        <a:spcAft>
                          <a:spcPts val="1000"/>
                        </a:spcAft>
                      </a:pPr>
                      <a:r>
                        <a:rPr lang="en-US" sz="1200">
                          <a:effectLst/>
                        </a:rPr>
                        <a:t>Course Outcomes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vMerge="1">
                  <a:txBody>
                    <a:bodyPr/>
                    <a:lstStyle/>
                    <a:p>
                      <a:endParaRPr lang="en-US"/>
                    </a:p>
                  </a:txBody>
                  <a:tcPr/>
                </a:tc>
                <a:tc>
                  <a:txBody>
                    <a:bodyPr/>
                    <a:lstStyle/>
                    <a:p>
                      <a:pPr marL="0" marR="0" algn="ctr">
                        <a:lnSpc>
                          <a:spcPct val="115000"/>
                        </a:lnSpc>
                        <a:spcBef>
                          <a:spcPts val="0"/>
                        </a:spcBef>
                        <a:spcAft>
                          <a:spcPts val="0"/>
                        </a:spcAft>
                      </a:pPr>
                      <a:r>
                        <a:rPr lang="en-US" sz="1400" b="1">
                          <a:effectLst/>
                        </a:rPr>
                        <a:t>1</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70948">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a:effectLst/>
                        </a:rPr>
                        <a:t>M</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70948">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70948">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a:effectLst/>
                          <a:latin typeface="+mn-lt"/>
                          <a:ea typeface="+mn-ea"/>
                          <a:cs typeface="+mn-cs"/>
                        </a:rPr>
                        <a:t>H</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latin typeface="+mn-lt"/>
                          <a:ea typeface="+mn-ea"/>
                          <a:cs typeface="+mn-cs"/>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latin typeface="+mn-lt"/>
                          <a:ea typeface="+mn-ea"/>
                          <a:cs typeface="+mn-cs"/>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t>
                      </a:r>
                    </a:p>
                  </a:txBody>
                  <a:tcPr marL="68580" marR="68580" marT="0" marB="0"/>
                </a:tc>
                <a:tc>
                  <a:txBody>
                    <a:bodyPr/>
                    <a:lstStyle/>
                    <a:p>
                      <a:pPr marL="0" marR="0" algn="ctr">
                        <a:lnSpc>
                          <a:spcPct val="11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70948">
                <a:tc>
                  <a:txBody>
                    <a:bodyPr/>
                    <a:lstStyle/>
                    <a:p>
                      <a:pPr marL="0" marR="0" algn="ctr">
                        <a:lnSpc>
                          <a:spcPct val="115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tc>
                  <a:txBody>
                    <a:bodyPr/>
                    <a:lstStyle/>
                    <a:p>
                      <a:pPr marL="0" marR="0" algn="ctr">
                        <a:lnSpc>
                          <a:spcPct val="115000"/>
                        </a:lnSpc>
                        <a:spcBef>
                          <a:spcPts val="0"/>
                        </a:spcBef>
                        <a:spcAft>
                          <a:spcPts val="0"/>
                        </a:spcAft>
                      </a:pPr>
                      <a:r>
                        <a:rPr lang="en-US" sz="1400" b="1">
                          <a:effectLst/>
                          <a:latin typeface="Calibri" panose="020F0502020204030204" pitchFamily="34" charset="0"/>
                          <a:ea typeface="Calibri" panose="020F0502020204030204" pitchFamily="34" charset="0"/>
                          <a:cs typeface="Times New Roman" panose="02020603050405020304" pitchFamily="18" charset="0"/>
                        </a:rPr>
                        <a:t>H</a:t>
                      </a:r>
                    </a:p>
                  </a:txBody>
                  <a:tcPr marL="68580" marR="68580" marT="0" marB="0"/>
                </a:tc>
                <a:tc>
                  <a:txBody>
                    <a:bodyPr/>
                    <a:lstStyle/>
                    <a:p>
                      <a:pPr marL="0" marR="0" algn="ctr">
                        <a:lnSpc>
                          <a:spcPct val="115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H</a:t>
                      </a:r>
                    </a:p>
                  </a:txBody>
                  <a:tcPr marL="68580" marR="68580" marT="0" marB="0"/>
                </a:tc>
                <a:tc>
                  <a:txBody>
                    <a:bodyPr/>
                    <a:lstStyle/>
                    <a:p>
                      <a:pPr marL="0" marR="0" algn="ctr">
                        <a:lnSpc>
                          <a:spcPct val="11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t>
                      </a:r>
                    </a:p>
                  </a:txBody>
                  <a:tcPr marL="68580" marR="68580" marT="0" marB="0"/>
                </a:tc>
                <a:tc>
                  <a:txBody>
                    <a:bodyPr/>
                    <a:lstStyle/>
                    <a:p>
                      <a:pPr marL="0" marR="0" algn="ctr">
                        <a:lnSpc>
                          <a:spcPct val="115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M</a:t>
                      </a:r>
                    </a:p>
                  </a:txBody>
                  <a:tcPr marL="68580" marR="68580" marT="0" marB="0"/>
                </a:tc>
                <a:extLst>
                  <a:ext uri="{0D108BD9-81ED-4DB2-BD59-A6C34878D82A}">
                    <a16:rowId xmlns:a16="http://schemas.microsoft.com/office/drawing/2014/main" val="10005"/>
                  </a:ext>
                </a:extLst>
              </a:tr>
            </a:tbl>
          </a:graphicData>
        </a:graphic>
      </p:graphicFrame>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6760" y="1993046"/>
            <a:ext cx="6385354" cy="1408078"/>
          </a:xfrm>
          <a:prstGeom prst="rect">
            <a:avLst/>
          </a:prstGeom>
        </p:spPr>
        <p:txBody>
          <a:bodyPr wrap="square">
            <a:spAutoFit/>
          </a:bodyPr>
          <a:lstStyle/>
          <a:p>
            <a:r>
              <a:rPr lang="en-US" sz="2400"/>
              <a:t>			</a:t>
            </a:r>
          </a:p>
          <a:p>
            <a:r>
              <a:rPr lang="en-US" sz="2400"/>
              <a:t>			</a:t>
            </a:r>
          </a:p>
          <a:p>
            <a:endParaRPr lang="en-US" sz="2400"/>
          </a:p>
          <a:p>
            <a:endParaRPr lang="en-US" sz="1350"/>
          </a:p>
        </p:txBody>
      </p:sp>
      <p:sp>
        <p:nvSpPr>
          <p:cNvPr id="3" name="Date Placeholder 2"/>
          <p:cNvSpPr>
            <a:spLocks noGrp="1"/>
          </p:cNvSpPr>
          <p:nvPr>
            <p:ph type="dt" sz="half" idx="10"/>
          </p:nvPr>
        </p:nvSpPr>
        <p:spPr/>
        <p:txBody>
          <a:bodyPr/>
          <a:lstStyle/>
          <a:p>
            <a:fld id="{C0DB78AC-1279-47C5-9D4A-E2BA78284A44}"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24</a:t>
            </a:fld>
            <a:endParaRPr lang="en-IN"/>
          </a:p>
        </p:txBody>
      </p:sp>
      <p:sp>
        <p:nvSpPr>
          <p:cNvPr id="13" name="Title 1"/>
          <p:cNvSpPr txBox="1">
            <a:spLocks/>
          </p:cNvSpPr>
          <p:nvPr/>
        </p:nvSpPr>
        <p:spPr>
          <a:xfrm>
            <a:off x="1763688" y="24274"/>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Topic Mapping with CO</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450777225"/>
              </p:ext>
            </p:extLst>
          </p:nvPr>
        </p:nvGraphicFramePr>
        <p:xfrm>
          <a:off x="826760" y="990600"/>
          <a:ext cx="7555241" cy="4303800"/>
        </p:xfrm>
        <a:graphic>
          <a:graphicData uri="http://schemas.openxmlformats.org/drawingml/2006/table">
            <a:tbl>
              <a:tblPr firstRow="1" bandRow="1">
                <a:tableStyleId>{5C22544A-7EE6-4342-B048-85BDC9FD1C3A}</a:tableStyleId>
              </a:tblPr>
              <a:tblGrid>
                <a:gridCol w="5355382">
                  <a:extLst>
                    <a:ext uri="{9D8B030D-6E8A-4147-A177-3AD203B41FA5}">
                      <a16:colId xmlns:a16="http://schemas.microsoft.com/office/drawing/2014/main" val="20000"/>
                    </a:ext>
                  </a:extLst>
                </a:gridCol>
                <a:gridCol w="2199859">
                  <a:extLst>
                    <a:ext uri="{9D8B030D-6E8A-4147-A177-3AD203B41FA5}">
                      <a16:colId xmlns:a16="http://schemas.microsoft.com/office/drawing/2014/main" val="20001"/>
                    </a:ext>
                  </a:extLst>
                </a:gridCol>
              </a:tblGrid>
              <a:tr h="260640">
                <a:tc>
                  <a:txBody>
                    <a:bodyPr/>
                    <a:lstStyle/>
                    <a:p>
                      <a:r>
                        <a:rPr lang="en-US"/>
                        <a:t>Topic</a:t>
                      </a:r>
                    </a:p>
                  </a:txBody>
                  <a:tcPr/>
                </a:tc>
                <a:tc>
                  <a:txBody>
                    <a:bodyPr/>
                    <a:lstStyle/>
                    <a:p>
                      <a:r>
                        <a:rPr lang="en-US"/>
                        <a:t>Mapping With CO</a:t>
                      </a:r>
                    </a:p>
                  </a:txBody>
                  <a:tcPr/>
                </a:tc>
                <a:extLst>
                  <a:ext uri="{0D108BD9-81ED-4DB2-BD59-A6C34878D82A}">
                    <a16:rowId xmlns:a16="http://schemas.microsoft.com/office/drawing/2014/main" val="10000"/>
                  </a:ext>
                </a:extLst>
              </a:tr>
              <a:tr h="260640">
                <a:tc>
                  <a:txBody>
                    <a:bodyPr/>
                    <a:lstStyle/>
                    <a:p>
                      <a:r>
                        <a:rPr lang="en-US" sz="1800"/>
                        <a:t>Concept of Entrepreneurship </a:t>
                      </a:r>
                    </a:p>
                  </a:txBody>
                  <a:tcPr/>
                </a:tc>
                <a:tc>
                  <a:txBody>
                    <a:bodyPr/>
                    <a:lstStyle/>
                    <a:p>
                      <a:r>
                        <a:rPr lang="en-US"/>
                        <a:t>CO1</a:t>
                      </a:r>
                    </a:p>
                  </a:txBody>
                  <a:tcPr/>
                </a:tc>
                <a:extLst>
                  <a:ext uri="{0D108BD9-81ED-4DB2-BD59-A6C34878D82A}">
                    <a16:rowId xmlns:a16="http://schemas.microsoft.com/office/drawing/2014/main" val="10001"/>
                  </a:ext>
                </a:extLst>
              </a:tr>
              <a:tr h="4561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Role of Entrepreneurship in Economic Development</a:t>
                      </a:r>
                    </a:p>
                  </a:txBody>
                  <a:tcPr/>
                </a:tc>
                <a:tc>
                  <a:txBody>
                    <a:bodyPr/>
                    <a:lstStyle/>
                    <a:p>
                      <a:r>
                        <a:rPr lang="en-US"/>
                        <a:t>CO1</a:t>
                      </a:r>
                    </a:p>
                  </a:txBody>
                  <a:tcPr/>
                </a:tc>
                <a:extLst>
                  <a:ext uri="{0D108BD9-81ED-4DB2-BD59-A6C34878D82A}">
                    <a16:rowId xmlns:a16="http://schemas.microsoft.com/office/drawing/2014/main" val="10002"/>
                  </a:ext>
                </a:extLst>
              </a:tr>
              <a:tr h="4561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Entrepreneurial traits, types, culture and structure</a:t>
                      </a:r>
                    </a:p>
                  </a:txBody>
                  <a:tcPr/>
                </a:tc>
                <a:tc>
                  <a:txBody>
                    <a:bodyPr/>
                    <a:lstStyle/>
                    <a:p>
                      <a:r>
                        <a:rPr lang="en-US"/>
                        <a:t>CO1</a:t>
                      </a:r>
                    </a:p>
                  </a:txBody>
                  <a:tcPr/>
                </a:tc>
                <a:extLst>
                  <a:ext uri="{0D108BD9-81ED-4DB2-BD59-A6C34878D82A}">
                    <a16:rowId xmlns:a16="http://schemas.microsoft.com/office/drawing/2014/main" val="10003"/>
                  </a:ext>
                </a:extLst>
              </a:tr>
              <a:tr h="4561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competing theories of Entrepreneurship</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CO1</a:t>
                      </a:r>
                    </a:p>
                    <a:p>
                      <a:endParaRPr lang="en-US"/>
                    </a:p>
                  </a:txBody>
                  <a:tcPr/>
                </a:tc>
                <a:extLst>
                  <a:ext uri="{0D108BD9-81ED-4DB2-BD59-A6C34878D82A}">
                    <a16:rowId xmlns:a16="http://schemas.microsoft.com/office/drawing/2014/main" val="10004"/>
                  </a:ext>
                </a:extLst>
              </a:tr>
              <a:tr h="651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Qualities of a successful entrepreneur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CO2</a:t>
                      </a:r>
                    </a:p>
                    <a:p>
                      <a:endParaRPr lang="en-US"/>
                    </a:p>
                  </a:txBody>
                  <a:tcPr/>
                </a:tc>
                <a:extLst>
                  <a:ext uri="{0D108BD9-81ED-4DB2-BD59-A6C34878D82A}">
                    <a16:rowId xmlns:a16="http://schemas.microsoft.com/office/drawing/2014/main" val="10005"/>
                  </a:ext>
                </a:extLst>
              </a:tr>
              <a:tr h="4561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Entrepreneurial motivation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CO1</a:t>
                      </a:r>
                    </a:p>
                  </a:txBody>
                  <a:tcPr/>
                </a:tc>
                <a:extLst>
                  <a:ext uri="{0D108BD9-81ED-4DB2-BD59-A6C34878D82A}">
                    <a16:rowId xmlns:a16="http://schemas.microsoft.com/office/drawing/2014/main" val="10006"/>
                  </a:ext>
                </a:extLst>
              </a:tr>
              <a:tr h="4561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Corporate entrepreneurship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CO2</a:t>
                      </a:r>
                    </a:p>
                  </a:txBody>
                  <a:tcPr/>
                </a:tc>
                <a:extLst>
                  <a:ext uri="{0D108BD9-81ED-4DB2-BD59-A6C34878D82A}">
                    <a16:rowId xmlns:a16="http://schemas.microsoft.com/office/drawing/2014/main" val="10007"/>
                  </a:ext>
                </a:extLst>
              </a:tr>
              <a:tr h="4561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a:t>Intrapreneurship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CO1</a:t>
                      </a:r>
                    </a:p>
                  </a:txBody>
                  <a:tcPr/>
                </a:tc>
                <a:extLst>
                  <a:ext uri="{0D108BD9-81ED-4DB2-BD59-A6C34878D82A}">
                    <a16:rowId xmlns:a16="http://schemas.microsoft.com/office/drawing/2014/main" val="10008"/>
                  </a:ext>
                </a:extLst>
              </a:tr>
            </a:tbl>
          </a:graphicData>
        </a:graphic>
      </p:graphicFrame>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914585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3880" y="1862893"/>
            <a:ext cx="8088641" cy="1777410"/>
          </a:xfrm>
          <a:prstGeom prst="rect">
            <a:avLst/>
          </a:prstGeom>
        </p:spPr>
        <p:txBody>
          <a:bodyPr wrap="square">
            <a:spAutoFit/>
          </a:bodyPr>
          <a:lstStyle/>
          <a:p>
            <a:r>
              <a:rPr lang="en-IN" altLang="en-US" sz="2400">
                <a:solidFill>
                  <a:schemeClr val="dk1"/>
                </a:solidFill>
                <a:latin typeface="Times New Roman" panose="02020603050405020304" pitchFamily="18" charset="0"/>
                <a:cs typeface="Times New Roman" panose="02020603050405020304" pitchFamily="18" charset="0"/>
              </a:rPr>
              <a:t>Enables the students with basic understanding of the concepts of entrepreneurship</a:t>
            </a:r>
            <a:r>
              <a:rPr lang="en-US" altLang="en-US" sz="2400">
                <a:latin typeface="Times New Roman" panose="02020603050405020304" pitchFamily="18" charset="0"/>
                <a:cs typeface="Times New Roman" panose="02020603050405020304" pitchFamily="18" charset="0"/>
              </a:rPr>
              <a:t> so that it is easy to them to practice them and apply in real life</a:t>
            </a:r>
            <a:r>
              <a:rPr lang="en-US" altLang="en-US" sz="2000"/>
              <a:t>.</a:t>
            </a:r>
            <a:endParaRPr lang="en-US" sz="2000"/>
          </a:p>
          <a:p>
            <a:endParaRPr lang="en-US" sz="2400"/>
          </a:p>
          <a:p>
            <a:endParaRPr lang="en-US" sz="1350"/>
          </a:p>
        </p:txBody>
      </p:sp>
      <p:sp>
        <p:nvSpPr>
          <p:cNvPr id="3" name="Date Placeholder 2"/>
          <p:cNvSpPr>
            <a:spLocks noGrp="1"/>
          </p:cNvSpPr>
          <p:nvPr>
            <p:ph type="dt" sz="half" idx="10"/>
          </p:nvPr>
        </p:nvSpPr>
        <p:spPr/>
        <p:txBody>
          <a:bodyPr/>
          <a:lstStyle/>
          <a:p>
            <a:fld id="{7D409354-9902-4ECD-9572-B70CC3B43550}"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25</a:t>
            </a:fld>
            <a:endParaRPr lang="en-IN"/>
          </a:p>
        </p:txBody>
      </p:sp>
      <p:sp>
        <p:nvSpPr>
          <p:cNvPr id="13" name="Title 1"/>
          <p:cNvSpPr txBox="1">
            <a:spLocks/>
          </p:cNvSpPr>
          <p:nvPr/>
        </p:nvSpPr>
        <p:spPr>
          <a:xfrm>
            <a:off x="1763688" y="24274"/>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Objective</a:t>
            </a:r>
            <a:r>
              <a:rPr lang="en-US" sz="3600">
                <a:latin typeface="Times New Roman" panose="02020603050405020304" pitchFamily="18" charset="0"/>
                <a:cs typeface="Times New Roman" panose="02020603050405020304" pitchFamily="18" charset="0"/>
              </a:rPr>
              <a:t> </a:t>
            </a:r>
            <a:r>
              <a:rPr lang="en-US" sz="3600" b="1">
                <a:latin typeface="Times New Roman" panose="02020603050405020304" pitchFamily="18" charset="0"/>
                <a:cs typeface="Times New Roman" panose="02020603050405020304" pitchFamily="18" charset="0"/>
              </a:rPr>
              <a:t>of Topic</a:t>
            </a: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062993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21AD5A1-2A78-4CD8-ADD0-174081E6A17E}"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7" name="Title 1"/>
          <p:cNvSpPr txBox="1">
            <a:spLocks/>
          </p:cNvSpPr>
          <p:nvPr/>
        </p:nvSpPr>
        <p:spPr>
          <a:xfrm>
            <a:off x="1619672" y="2"/>
            <a:ext cx="741682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Prerequisite and Recap</a:t>
            </a:r>
          </a:p>
        </p:txBody>
      </p:sp>
      <p:pic>
        <p:nvPicPr>
          <p:cNvPr id="3" name="Picture 2" descr="image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2743200"/>
            <a:ext cx="6134100" cy="1320800"/>
          </a:xfrm>
          <a:prstGeom prst="rect">
            <a:avLst/>
          </a:prstGeom>
        </p:spPr>
      </p:pic>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89204" y="816863"/>
            <a:ext cx="2569464" cy="4786884"/>
            <a:chOff x="489204" y="816863"/>
            <a:chExt cx="2569464" cy="4786884"/>
          </a:xfrm>
        </p:grpSpPr>
        <p:sp>
          <p:nvSpPr>
            <p:cNvPr id="4" name="object 4"/>
            <p:cNvSpPr/>
            <p:nvPr/>
          </p:nvSpPr>
          <p:spPr>
            <a:xfrm>
              <a:off x="489204" y="816863"/>
              <a:ext cx="2569464" cy="4786884"/>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90372" y="2912364"/>
              <a:ext cx="2185416" cy="492251"/>
            </a:xfrm>
            <a:prstGeom prst="rect">
              <a:avLst/>
            </a:prstGeom>
            <a:blipFill>
              <a:blip r:embed="rId3" cstate="print"/>
              <a:stretch>
                <a:fillRect/>
              </a:stretch>
            </a:blipFill>
          </p:spPr>
          <p:txBody>
            <a:bodyPr wrap="square" lIns="0" tIns="0" rIns="0" bIns="0" rtlCol="0"/>
            <a:lstStyle/>
            <a:p>
              <a:endParaRPr/>
            </a:p>
          </p:txBody>
        </p:sp>
      </p:grpSp>
      <p:sp>
        <p:nvSpPr>
          <p:cNvPr id="6" name="object 6"/>
          <p:cNvSpPr txBox="1"/>
          <p:nvPr/>
        </p:nvSpPr>
        <p:spPr>
          <a:xfrm>
            <a:off x="816356" y="2926715"/>
            <a:ext cx="1915795" cy="737870"/>
          </a:xfrm>
          <a:prstGeom prst="rect">
            <a:avLst/>
          </a:prstGeom>
        </p:spPr>
        <p:txBody>
          <a:bodyPr vert="horz" wrap="square" lIns="0" tIns="43180" rIns="0" bIns="0" rtlCol="0">
            <a:spAutoFit/>
          </a:bodyPr>
          <a:lstStyle/>
          <a:p>
            <a:pPr algn="ctr">
              <a:lnSpc>
                <a:spcPct val="100000"/>
              </a:lnSpc>
              <a:spcBef>
                <a:spcPts val="340"/>
              </a:spcBef>
            </a:pPr>
            <a:r>
              <a:rPr sz="1800" b="1" spc="-5">
                <a:latin typeface="Times New Roman"/>
                <a:cs typeface="Times New Roman"/>
              </a:rPr>
              <a:t>ENTREPRENEUR</a:t>
            </a:r>
            <a:endParaRPr sz="1800">
              <a:latin typeface="Times New Roman"/>
              <a:cs typeface="Times New Roman"/>
            </a:endParaRPr>
          </a:p>
          <a:p>
            <a:pPr algn="ctr">
              <a:lnSpc>
                <a:spcPct val="100000"/>
              </a:lnSpc>
              <a:spcBef>
                <a:spcPts val="325"/>
              </a:spcBef>
            </a:pPr>
            <a:r>
              <a:rPr sz="2400" b="1" spc="-5">
                <a:solidFill>
                  <a:srgbClr val="FFFFFF"/>
                </a:solidFill>
                <a:latin typeface="Times New Roman"/>
                <a:cs typeface="Times New Roman"/>
              </a:rPr>
              <a:t>PERSON</a:t>
            </a:r>
            <a:endParaRPr sz="2400">
              <a:latin typeface="Times New Roman"/>
              <a:cs typeface="Times New Roman"/>
            </a:endParaRPr>
          </a:p>
        </p:txBody>
      </p:sp>
      <p:grpSp>
        <p:nvGrpSpPr>
          <p:cNvPr id="7" name="object 7"/>
          <p:cNvGrpSpPr/>
          <p:nvPr/>
        </p:nvGrpSpPr>
        <p:grpSpPr>
          <a:xfrm>
            <a:off x="3148584" y="816865"/>
            <a:ext cx="2847340" cy="4787265"/>
            <a:chOff x="3148583" y="816863"/>
            <a:chExt cx="2847340" cy="4787265"/>
          </a:xfrm>
        </p:grpSpPr>
        <p:sp>
          <p:nvSpPr>
            <p:cNvPr id="8" name="object 8"/>
            <p:cNvSpPr/>
            <p:nvPr/>
          </p:nvSpPr>
          <p:spPr>
            <a:xfrm>
              <a:off x="3148583" y="816863"/>
              <a:ext cx="2846832" cy="478688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3191255" y="2956559"/>
              <a:ext cx="2763012" cy="489203"/>
            </a:xfrm>
            <a:prstGeom prst="rect">
              <a:avLst/>
            </a:prstGeom>
            <a:blipFill>
              <a:blip r:embed="rId5" cstate="print"/>
              <a:stretch>
                <a:fillRect/>
              </a:stretch>
            </a:blipFill>
          </p:spPr>
          <p:txBody>
            <a:bodyPr wrap="square" lIns="0" tIns="0" rIns="0" bIns="0" rtlCol="0"/>
            <a:lstStyle/>
            <a:p>
              <a:endParaRPr/>
            </a:p>
          </p:txBody>
        </p:sp>
      </p:grpSp>
      <p:sp>
        <p:nvSpPr>
          <p:cNvPr id="10" name="object 10"/>
          <p:cNvSpPr txBox="1"/>
          <p:nvPr/>
        </p:nvSpPr>
        <p:spPr>
          <a:xfrm>
            <a:off x="3315716" y="3000247"/>
            <a:ext cx="2451100" cy="648970"/>
          </a:xfrm>
          <a:prstGeom prst="rect">
            <a:avLst/>
          </a:prstGeom>
        </p:spPr>
        <p:txBody>
          <a:bodyPr vert="horz" wrap="square" lIns="0" tIns="12700" rIns="0" bIns="0" rtlCol="0">
            <a:spAutoFit/>
          </a:bodyPr>
          <a:lstStyle/>
          <a:p>
            <a:pPr algn="ctr">
              <a:lnSpc>
                <a:spcPts val="2095"/>
              </a:lnSpc>
              <a:spcBef>
                <a:spcPts val="100"/>
              </a:spcBef>
            </a:pPr>
            <a:r>
              <a:rPr sz="1800" b="1" spc="-5">
                <a:latin typeface="Times New Roman"/>
                <a:cs typeface="Times New Roman"/>
              </a:rPr>
              <a:t>ENTREPRENEURSHIP</a:t>
            </a:r>
            <a:endParaRPr sz="1800">
              <a:latin typeface="Times New Roman"/>
              <a:cs typeface="Times New Roman"/>
            </a:endParaRPr>
          </a:p>
          <a:p>
            <a:pPr marR="3810" algn="ctr">
              <a:lnSpc>
                <a:spcPts val="2815"/>
              </a:lnSpc>
            </a:pPr>
            <a:r>
              <a:rPr sz="2400" b="1" spc="-5">
                <a:solidFill>
                  <a:srgbClr val="FFFFFF"/>
                </a:solidFill>
                <a:latin typeface="Times New Roman"/>
                <a:cs typeface="Times New Roman"/>
              </a:rPr>
              <a:t>PROCESS</a:t>
            </a:r>
            <a:endParaRPr sz="2400">
              <a:latin typeface="Times New Roman"/>
              <a:cs typeface="Times New Roman"/>
            </a:endParaRPr>
          </a:p>
        </p:txBody>
      </p:sp>
      <p:grpSp>
        <p:nvGrpSpPr>
          <p:cNvPr id="11" name="object 11"/>
          <p:cNvGrpSpPr/>
          <p:nvPr/>
        </p:nvGrpSpPr>
        <p:grpSpPr>
          <a:xfrm>
            <a:off x="6009133" y="816865"/>
            <a:ext cx="2569845" cy="4787265"/>
            <a:chOff x="6009132" y="816863"/>
            <a:chExt cx="2569845" cy="4787265"/>
          </a:xfrm>
        </p:grpSpPr>
        <p:sp>
          <p:nvSpPr>
            <p:cNvPr id="12" name="object 12"/>
            <p:cNvSpPr/>
            <p:nvPr/>
          </p:nvSpPr>
          <p:spPr>
            <a:xfrm>
              <a:off x="6009132" y="816863"/>
              <a:ext cx="2569464" cy="4786884"/>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6425184" y="2912363"/>
              <a:ext cx="1754123" cy="492251"/>
            </a:xfrm>
            <a:prstGeom prst="rect">
              <a:avLst/>
            </a:prstGeom>
            <a:blipFill>
              <a:blip r:embed="rId7" cstate="print"/>
              <a:stretch>
                <a:fillRect/>
              </a:stretch>
            </a:blipFill>
          </p:spPr>
          <p:txBody>
            <a:bodyPr wrap="square" lIns="0" tIns="0" rIns="0" bIns="0" rtlCol="0"/>
            <a:lstStyle/>
            <a:p>
              <a:endParaRPr/>
            </a:p>
          </p:txBody>
        </p:sp>
      </p:grpSp>
      <p:sp>
        <p:nvSpPr>
          <p:cNvPr id="14" name="object 14"/>
          <p:cNvSpPr txBox="1"/>
          <p:nvPr/>
        </p:nvSpPr>
        <p:spPr>
          <a:xfrm>
            <a:off x="6552056" y="2926715"/>
            <a:ext cx="1483995" cy="737870"/>
          </a:xfrm>
          <a:prstGeom prst="rect">
            <a:avLst/>
          </a:prstGeom>
        </p:spPr>
        <p:txBody>
          <a:bodyPr vert="horz" wrap="square" lIns="0" tIns="43180" rIns="0" bIns="0" rtlCol="0">
            <a:spAutoFit/>
          </a:bodyPr>
          <a:lstStyle/>
          <a:p>
            <a:pPr marL="12700">
              <a:lnSpc>
                <a:spcPct val="100000"/>
              </a:lnSpc>
              <a:spcBef>
                <a:spcPts val="340"/>
              </a:spcBef>
            </a:pPr>
            <a:r>
              <a:rPr sz="1800" b="1" spc="-5">
                <a:latin typeface="Times New Roman"/>
                <a:cs typeface="Times New Roman"/>
              </a:rPr>
              <a:t>ENTE</a:t>
            </a:r>
            <a:r>
              <a:rPr sz="1800" b="1" spc="-15">
                <a:latin typeface="Times New Roman"/>
                <a:cs typeface="Times New Roman"/>
              </a:rPr>
              <a:t>R</a:t>
            </a:r>
            <a:r>
              <a:rPr sz="1800" b="1" spc="-5">
                <a:latin typeface="Times New Roman"/>
                <a:cs typeface="Times New Roman"/>
              </a:rPr>
              <a:t>PRI</a:t>
            </a:r>
            <a:r>
              <a:rPr sz="1800" b="1" spc="-15">
                <a:latin typeface="Times New Roman"/>
                <a:cs typeface="Times New Roman"/>
              </a:rPr>
              <a:t>S</a:t>
            </a:r>
            <a:r>
              <a:rPr sz="1800" b="1">
                <a:latin typeface="Times New Roman"/>
                <a:cs typeface="Times New Roman"/>
              </a:rPr>
              <a:t>E</a:t>
            </a:r>
            <a:endParaRPr sz="1800">
              <a:latin typeface="Times New Roman"/>
              <a:cs typeface="Times New Roman"/>
            </a:endParaRPr>
          </a:p>
          <a:p>
            <a:pPr marL="132715">
              <a:lnSpc>
                <a:spcPct val="100000"/>
              </a:lnSpc>
              <a:spcBef>
                <a:spcPts val="325"/>
              </a:spcBef>
            </a:pPr>
            <a:r>
              <a:rPr sz="2400" b="1" spc="-5">
                <a:solidFill>
                  <a:srgbClr val="FFFFFF"/>
                </a:solidFill>
                <a:latin typeface="Times New Roman"/>
                <a:cs typeface="Times New Roman"/>
              </a:rPr>
              <a:t>OBJECT</a:t>
            </a:r>
            <a:endParaRPr sz="2400">
              <a:latin typeface="Times New Roman"/>
              <a:cs typeface="Times New Roman"/>
            </a:endParaRPr>
          </a:p>
        </p:txBody>
      </p:sp>
      <p:sp>
        <p:nvSpPr>
          <p:cNvPr id="17" name="Date Placeholder 3"/>
          <p:cNvSpPr>
            <a:spLocks noGrp="1"/>
          </p:cNvSpPr>
          <p:nvPr>
            <p:ph type="dt" sz="half" idx="10"/>
          </p:nvPr>
        </p:nvSpPr>
        <p:spPr>
          <a:xfrm>
            <a:off x="457200" y="6356352"/>
            <a:ext cx="2133600" cy="365125"/>
          </a:xfrm>
        </p:spPr>
        <p:txBody>
          <a:bodyPr/>
          <a:lstStyle/>
          <a:p>
            <a:fld id="{99B5D67E-B138-49CB-ADDE-13037A0AA646}" type="datetime1">
              <a:rPr lang="en-US" smtClean="0"/>
              <a:pPr/>
              <a:t>12-Aug-25</a:t>
            </a:fld>
            <a:endParaRPr lang="en-US"/>
          </a:p>
        </p:txBody>
      </p:sp>
      <p:sp>
        <p:nvSpPr>
          <p:cNvPr id="19" name="Slide Number Placeholder 18"/>
          <p:cNvSpPr>
            <a:spLocks noGrp="1"/>
          </p:cNvSpPr>
          <p:nvPr>
            <p:ph type="sldNum" sz="quarter" idx="12"/>
          </p:nvPr>
        </p:nvSpPr>
        <p:spPr/>
        <p:txBody>
          <a:bodyPr/>
          <a:lstStyle/>
          <a:p>
            <a:fld id="{B6F15528-21DE-4FAA-801E-634DDDAF4B2B}" type="slidenum">
              <a:rPr lang="en-US" smtClean="0"/>
              <a:pPr/>
              <a:t>27</a:t>
            </a:fld>
            <a:endParaRPr lang="en-US"/>
          </a:p>
        </p:txBody>
      </p:sp>
      <p:sp>
        <p:nvSpPr>
          <p:cNvPr id="20" name="Title 1"/>
          <p:cNvSpPr txBox="1">
            <a:spLocks/>
          </p:cNvSpPr>
          <p:nvPr/>
        </p:nvSpPr>
        <p:spPr>
          <a:xfrm>
            <a:off x="1783080" y="26149"/>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3600" spc="-5">
                <a:solidFill>
                  <a:srgbClr val="FFFFFF"/>
                </a:solidFill>
                <a:latin typeface="Times New Roman"/>
                <a:cs typeface="Times New Roman"/>
              </a:rPr>
              <a:t>ABOUT</a:t>
            </a:r>
            <a:r>
              <a:rPr lang="en-IN" sz="3600" spc="-80">
                <a:solidFill>
                  <a:srgbClr val="FFFFFF"/>
                </a:solidFill>
                <a:latin typeface="Times New Roman"/>
                <a:cs typeface="Times New Roman"/>
              </a:rPr>
              <a:t> </a:t>
            </a:r>
            <a:r>
              <a:rPr lang="en-IN" sz="3600" spc="-5">
                <a:solidFill>
                  <a:srgbClr val="FFFFFF"/>
                </a:solidFill>
                <a:latin typeface="Times New Roman"/>
                <a:cs typeface="Times New Roman"/>
              </a:rPr>
              <a:t>ENTREPRENEURSHIP…</a:t>
            </a:r>
            <a:endParaRPr lang="en-IN" sz="3600"/>
          </a:p>
        </p:txBody>
      </p:sp>
      <p:sp>
        <p:nvSpPr>
          <p:cNvPr id="1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21" name="Rectangle 2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899457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642910" y="0"/>
            <a:ext cx="8105804" cy="625171"/>
          </a:xfrm>
          <a:prstGeom prst="rect">
            <a:avLst/>
          </a:prstGeom>
        </p:spPr>
        <p:txBody>
          <a:bodyPr vert="horz" wrap="square" lIns="0" tIns="314325" rIns="0" bIns="0" rtlCol="0">
            <a:spAutoFit/>
          </a:bodyPr>
          <a:lstStyle/>
          <a:p>
            <a:pPr algn="ctr">
              <a:lnSpc>
                <a:spcPct val="100000"/>
              </a:lnSpc>
              <a:spcBef>
                <a:spcPts val="2475"/>
              </a:spcBef>
            </a:pPr>
            <a:r>
              <a:rPr sz="2000">
                <a:solidFill>
                  <a:srgbClr val="FFFFFF"/>
                </a:solidFill>
                <a:latin typeface="Times New Roman"/>
                <a:cs typeface="Times New Roman"/>
              </a:rPr>
              <a:t>ENTREPRENEUR</a:t>
            </a:r>
            <a:endParaRPr sz="2000">
              <a:latin typeface="Times New Roman"/>
              <a:cs typeface="Times New Roman"/>
            </a:endParaRPr>
          </a:p>
        </p:txBody>
      </p:sp>
      <p:sp>
        <p:nvSpPr>
          <p:cNvPr id="14" name="object 14"/>
          <p:cNvSpPr txBox="1"/>
          <p:nvPr/>
        </p:nvSpPr>
        <p:spPr>
          <a:xfrm>
            <a:off x="2988478" y="581923"/>
            <a:ext cx="5976010" cy="5943421"/>
          </a:xfrm>
          <a:prstGeom prst="rect">
            <a:avLst/>
          </a:prstGeom>
        </p:spPr>
        <p:txBody>
          <a:bodyPr vert="horz" wrap="square" lIns="0" tIns="12700" rIns="0" bIns="0" rtlCol="0">
            <a:spAutoFit/>
          </a:bodyPr>
          <a:lstStyle/>
          <a:p>
            <a:pPr marL="355600" marR="5080" indent="-342900" algn="just">
              <a:spcBef>
                <a:spcPts val="100"/>
              </a:spcBef>
              <a:buFont typeface="Arial"/>
              <a:buChar char="•"/>
              <a:tabLst>
                <a:tab pos="355600" algn="l"/>
              </a:tabLst>
            </a:pPr>
            <a:r>
              <a:rPr sz="2400">
                <a:latin typeface="Times New Roman" panose="02020603050405020304" pitchFamily="18" charset="0"/>
                <a:cs typeface="Times New Roman" panose="02020603050405020304" pitchFamily="18" charset="0"/>
              </a:rPr>
              <a:t>The </a:t>
            </a:r>
            <a:r>
              <a:rPr sz="2400" spc="-5">
                <a:latin typeface="Times New Roman" panose="02020603050405020304" pitchFamily="18" charset="0"/>
                <a:cs typeface="Times New Roman" panose="02020603050405020304" pitchFamily="18" charset="0"/>
              </a:rPr>
              <a:t>word entrepreneur </a:t>
            </a:r>
            <a:r>
              <a:rPr sz="2400">
                <a:latin typeface="Times New Roman" panose="02020603050405020304" pitchFamily="18" charset="0"/>
                <a:cs typeface="Times New Roman" panose="02020603050405020304" pitchFamily="18" charset="0"/>
              </a:rPr>
              <a:t>is </a:t>
            </a:r>
            <a:r>
              <a:rPr sz="2400" spc="-5">
                <a:latin typeface="Times New Roman" panose="02020603050405020304" pitchFamily="18" charset="0"/>
                <a:cs typeface="Times New Roman" panose="02020603050405020304" pitchFamily="18" charset="0"/>
              </a:rPr>
              <a:t>derived from  </a:t>
            </a:r>
            <a:r>
              <a:rPr sz="2400">
                <a:latin typeface="Times New Roman" panose="02020603050405020304" pitchFamily="18" charset="0"/>
                <a:cs typeface="Times New Roman" panose="02020603050405020304" pitchFamily="18" charset="0"/>
              </a:rPr>
              <a:t>the </a:t>
            </a:r>
            <a:r>
              <a:rPr sz="2400" spc="-5">
                <a:latin typeface="Times New Roman" panose="02020603050405020304" pitchFamily="18" charset="0"/>
                <a:cs typeface="Times New Roman" panose="02020603050405020304" pitchFamily="18" charset="0"/>
              </a:rPr>
              <a:t>French </a:t>
            </a:r>
            <a:r>
              <a:rPr sz="2400">
                <a:latin typeface="Times New Roman" panose="02020603050405020304" pitchFamily="18" charset="0"/>
                <a:cs typeface="Times New Roman" panose="02020603050405020304" pitchFamily="18" charset="0"/>
              </a:rPr>
              <a:t>verb </a:t>
            </a:r>
            <a:r>
              <a:rPr sz="2400" spc="-5">
                <a:latin typeface="Times New Roman" panose="02020603050405020304" pitchFamily="18" charset="0"/>
                <a:cs typeface="Times New Roman" panose="02020603050405020304" pitchFamily="18" charset="0"/>
              </a:rPr>
              <a:t>“enterprendre”, </a:t>
            </a:r>
            <a:r>
              <a:rPr sz="2400">
                <a:latin typeface="Times New Roman" panose="02020603050405020304" pitchFamily="18" charset="0"/>
                <a:cs typeface="Times New Roman" panose="02020603050405020304" pitchFamily="18" charset="0"/>
              </a:rPr>
              <a:t>which  </a:t>
            </a:r>
            <a:r>
              <a:rPr sz="2400" spc="-5">
                <a:latin typeface="Times New Roman" panose="02020603050405020304" pitchFamily="18" charset="0"/>
                <a:cs typeface="Times New Roman" panose="02020603050405020304" pitchFamily="18" charset="0"/>
              </a:rPr>
              <a:t>means </a:t>
            </a:r>
            <a:r>
              <a:rPr sz="2400">
                <a:latin typeface="Times New Roman" panose="02020603050405020304" pitchFamily="18" charset="0"/>
                <a:cs typeface="Times New Roman" panose="02020603050405020304" pitchFamily="18" charset="0"/>
              </a:rPr>
              <a:t>“to</a:t>
            </a:r>
            <a:r>
              <a:rPr sz="2400" spc="-1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undertake”.</a:t>
            </a:r>
          </a:p>
          <a:p>
            <a:pPr marL="355600" marR="6350" indent="-342900" algn="just">
              <a:spcBef>
                <a:spcPts val="580"/>
              </a:spcBef>
              <a:buFont typeface="Arial"/>
              <a:buChar char="•"/>
              <a:tabLst>
                <a:tab pos="355600" algn="l"/>
              </a:tabLst>
            </a:pPr>
            <a:r>
              <a:rPr sz="2400" spc="-5">
                <a:latin typeface="Times New Roman" panose="02020603050405020304" pitchFamily="18" charset="0"/>
                <a:cs typeface="Times New Roman" panose="02020603050405020304" pitchFamily="18" charset="0"/>
              </a:rPr>
              <a:t>Entrepreneur </a:t>
            </a:r>
            <a:r>
              <a:rPr sz="2400">
                <a:latin typeface="Times New Roman" panose="02020603050405020304" pitchFamily="18" charset="0"/>
                <a:cs typeface="Times New Roman" panose="02020603050405020304" pitchFamily="18" charset="0"/>
              </a:rPr>
              <a:t>is the </a:t>
            </a:r>
            <a:r>
              <a:rPr sz="2400" spc="-5">
                <a:latin typeface="Times New Roman" panose="02020603050405020304" pitchFamily="18" charset="0"/>
                <a:cs typeface="Times New Roman" panose="02020603050405020304" pitchFamily="18" charset="0"/>
              </a:rPr>
              <a:t>person </a:t>
            </a:r>
            <a:r>
              <a:rPr sz="2400">
                <a:latin typeface="Times New Roman" panose="02020603050405020304" pitchFamily="18" charset="0"/>
                <a:cs typeface="Times New Roman" panose="02020603050405020304" pitchFamily="18" charset="0"/>
              </a:rPr>
              <a:t>who brings  </a:t>
            </a:r>
            <a:r>
              <a:rPr sz="2400" spc="-5">
                <a:latin typeface="Times New Roman" panose="02020603050405020304" pitchFamily="18" charset="0"/>
                <a:cs typeface="Times New Roman" panose="02020603050405020304" pitchFamily="18" charset="0"/>
              </a:rPr>
              <a:t>together the </a:t>
            </a:r>
            <a:r>
              <a:rPr sz="2400">
                <a:latin typeface="Times New Roman" panose="02020603050405020304" pitchFamily="18" charset="0"/>
                <a:cs typeface="Times New Roman" panose="02020603050405020304" pitchFamily="18" charset="0"/>
              </a:rPr>
              <a:t>factors of production and  </a:t>
            </a:r>
            <a:r>
              <a:rPr sz="2400" spc="-5">
                <a:latin typeface="Times New Roman" panose="02020603050405020304" pitchFamily="18" charset="0"/>
                <a:cs typeface="Times New Roman" panose="02020603050405020304" pitchFamily="18" charset="0"/>
              </a:rPr>
              <a:t>combines </a:t>
            </a:r>
            <a:r>
              <a:rPr sz="2400">
                <a:latin typeface="Times New Roman" panose="02020603050405020304" pitchFamily="18" charset="0"/>
                <a:cs typeface="Times New Roman" panose="02020603050405020304" pitchFamily="18" charset="0"/>
              </a:rPr>
              <a:t>them into a</a:t>
            </a:r>
            <a:r>
              <a:rPr sz="2400" spc="-3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product.</a:t>
            </a:r>
          </a:p>
          <a:p>
            <a:pPr marL="355600" marR="319405" indent="-342900" algn="just">
              <a:spcBef>
                <a:spcPts val="580"/>
              </a:spcBef>
              <a:buFont typeface="Arial"/>
              <a:buChar char="•"/>
              <a:tabLst>
                <a:tab pos="355600" algn="l"/>
              </a:tabLst>
            </a:pPr>
            <a:r>
              <a:rPr sz="2400" spc="-5">
                <a:latin typeface="Times New Roman" panose="02020603050405020304" pitchFamily="18" charset="0"/>
                <a:cs typeface="Times New Roman" panose="02020603050405020304" pitchFamily="18" charset="0"/>
              </a:rPr>
              <a:t>He organizes </a:t>
            </a:r>
            <a:r>
              <a:rPr sz="2400">
                <a:latin typeface="Times New Roman" panose="02020603050405020304" pitchFamily="18" charset="0"/>
                <a:cs typeface="Times New Roman" panose="02020603050405020304" pitchFamily="18" charset="0"/>
              </a:rPr>
              <a:t>and </a:t>
            </a:r>
            <a:r>
              <a:rPr sz="2400" spc="-5">
                <a:latin typeface="Times New Roman" panose="02020603050405020304" pitchFamily="18" charset="0"/>
                <a:cs typeface="Times New Roman" panose="02020603050405020304" pitchFamily="18" charset="0"/>
              </a:rPr>
              <a:t>manages </a:t>
            </a:r>
            <a:r>
              <a:rPr sz="2400">
                <a:latin typeface="Times New Roman" panose="02020603050405020304" pitchFamily="18" charset="0"/>
                <a:cs typeface="Times New Roman" panose="02020603050405020304" pitchFamily="18" charset="0"/>
              </a:rPr>
              <a:t>a</a:t>
            </a:r>
            <a:r>
              <a:rPr sz="2400" spc="-5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business  </a:t>
            </a:r>
            <a:r>
              <a:rPr sz="2400">
                <a:latin typeface="Times New Roman" panose="02020603050405020304" pitchFamily="18" charset="0"/>
                <a:cs typeface="Times New Roman" panose="02020603050405020304" pitchFamily="18" charset="0"/>
              </a:rPr>
              <a:t>unit </a:t>
            </a:r>
            <a:r>
              <a:rPr sz="2400" spc="-5">
                <a:latin typeface="Times New Roman" panose="02020603050405020304" pitchFamily="18" charset="0"/>
                <a:cs typeface="Times New Roman" panose="02020603050405020304" pitchFamily="18" charset="0"/>
              </a:rPr>
              <a:t>assuming </a:t>
            </a:r>
            <a:r>
              <a:rPr sz="2400">
                <a:latin typeface="Times New Roman" panose="02020603050405020304" pitchFamily="18" charset="0"/>
                <a:cs typeface="Times New Roman" panose="02020603050405020304" pitchFamily="18" charset="0"/>
              </a:rPr>
              <a:t>the risk for</a:t>
            </a:r>
            <a:r>
              <a:rPr sz="2400" spc="-4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profit</a:t>
            </a:r>
            <a:r>
              <a:rPr lang="en-US" sz="2400">
                <a:latin typeface="Times New Roman" panose="02020603050405020304" pitchFamily="18" charset="0"/>
                <a:cs typeface="Times New Roman" panose="02020603050405020304" pitchFamily="18" charset="0"/>
              </a:rPr>
              <a:t>.</a:t>
            </a:r>
          </a:p>
          <a:p>
            <a:pPr marL="355600" marR="319405" indent="-342900" algn="just">
              <a:spcBef>
                <a:spcPts val="580"/>
              </a:spcBef>
              <a:buFont typeface="Arial"/>
              <a:buChar char="•"/>
              <a:tabLst>
                <a:tab pos="355600" algn="l"/>
              </a:tabLst>
            </a:pPr>
            <a:r>
              <a:rPr lang="en-US" sz="2400">
                <a:latin typeface="Times New Roman" panose="02020603050405020304" pitchFamily="18" charset="0"/>
                <a:cs typeface="Times New Roman" panose="02020603050405020304" pitchFamily="18" charset="0"/>
              </a:rPr>
              <a:t>An entrepreneur is a creator or a designer who designs new ideas and business processes according to the market requirements and his/her own passion. To be a successful entrepreneur, it is very important to have managerial skill and strong team building </a:t>
            </a:r>
            <a:r>
              <a:rPr lang="en-US" sz="2000"/>
              <a:t>abilities.</a:t>
            </a:r>
            <a:endParaRPr sz="2000">
              <a:latin typeface="Times New Roman"/>
              <a:cs typeface="Times New Roman"/>
            </a:endParaRPr>
          </a:p>
        </p:txBody>
      </p:sp>
      <p:sp>
        <p:nvSpPr>
          <p:cNvPr id="15" name="object 15"/>
          <p:cNvSpPr/>
          <p:nvPr/>
        </p:nvSpPr>
        <p:spPr>
          <a:xfrm>
            <a:off x="59521" y="872529"/>
            <a:ext cx="2928957" cy="5236464"/>
          </a:xfrm>
          <a:prstGeom prst="rect">
            <a:avLst/>
          </a:prstGeom>
          <a:blipFill>
            <a:blip r:embed="rId2" cstate="print"/>
            <a:stretch>
              <a:fillRect/>
            </a:stretch>
          </a:blipFill>
        </p:spPr>
        <p:txBody>
          <a:bodyPr wrap="square" lIns="0" tIns="0" rIns="0" bIns="0" rtlCol="0"/>
          <a:lstStyle/>
          <a:p>
            <a:endParaRPr/>
          </a:p>
        </p:txBody>
      </p:sp>
      <p:sp>
        <p:nvSpPr>
          <p:cNvPr id="20" name="Date Placeholder 3"/>
          <p:cNvSpPr>
            <a:spLocks noGrp="1"/>
          </p:cNvSpPr>
          <p:nvPr>
            <p:ph type="dt" sz="half" idx="10"/>
          </p:nvPr>
        </p:nvSpPr>
        <p:spPr>
          <a:xfrm>
            <a:off x="457200" y="6356352"/>
            <a:ext cx="2133600" cy="365125"/>
          </a:xfrm>
        </p:spPr>
        <p:txBody>
          <a:bodyPr/>
          <a:lstStyle/>
          <a:p>
            <a:fld id="{A8850DC5-885A-402F-8D43-4986239E5072}" type="datetime1">
              <a:rPr lang="en-US" smtClean="0"/>
              <a:pPr/>
              <a:t>12-Aug-25</a:t>
            </a:fld>
            <a:endParaRPr lang="en-US"/>
          </a:p>
        </p:txBody>
      </p:sp>
      <p:sp>
        <p:nvSpPr>
          <p:cNvPr id="22" name="Slide Number Placeholder 21"/>
          <p:cNvSpPr>
            <a:spLocks noGrp="1"/>
          </p:cNvSpPr>
          <p:nvPr>
            <p:ph type="sldNum" sz="quarter" idx="12"/>
          </p:nvPr>
        </p:nvSpPr>
        <p:spPr/>
        <p:txBody>
          <a:bodyPr/>
          <a:lstStyle/>
          <a:p>
            <a:fld id="{B6F15528-21DE-4FAA-801E-634DDDAF4B2B}" type="slidenum">
              <a:rPr lang="en-US" smtClean="0"/>
              <a:pPr/>
              <a:t>28</a:t>
            </a:fld>
            <a:endParaRPr lang="en-US"/>
          </a:p>
        </p:txBody>
      </p:sp>
      <p:sp>
        <p:nvSpPr>
          <p:cNvPr id="11" name="Title 1"/>
          <p:cNvSpPr txBox="1">
            <a:spLocks/>
          </p:cNvSpPr>
          <p:nvPr/>
        </p:nvSpPr>
        <p:spPr>
          <a:xfrm>
            <a:off x="2051720" y="13732"/>
            <a:ext cx="6976062" cy="56819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3600" b="1">
                <a:solidFill>
                  <a:schemeClr val="tx1"/>
                </a:solidFill>
                <a:latin typeface="Times New Roman"/>
                <a:cs typeface="Times New Roman"/>
              </a:rPr>
              <a:t>ENTREPRENEUR</a:t>
            </a:r>
            <a:endParaRPr lang="en-IN" sz="3600" b="1">
              <a:solidFill>
                <a:schemeClr val="tx1"/>
              </a:solidFill>
            </a:endParaRP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577735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642910" y="0"/>
            <a:ext cx="8105804" cy="625171"/>
          </a:xfrm>
          <a:prstGeom prst="rect">
            <a:avLst/>
          </a:prstGeom>
        </p:spPr>
        <p:txBody>
          <a:bodyPr vert="horz" wrap="square" lIns="0" tIns="314325" rIns="0" bIns="0" rtlCol="0">
            <a:spAutoFit/>
          </a:bodyPr>
          <a:lstStyle/>
          <a:p>
            <a:pPr algn="ctr">
              <a:lnSpc>
                <a:spcPct val="100000"/>
              </a:lnSpc>
              <a:spcBef>
                <a:spcPts val="2475"/>
              </a:spcBef>
            </a:pPr>
            <a:r>
              <a:rPr sz="2000">
                <a:solidFill>
                  <a:srgbClr val="FFFFFF"/>
                </a:solidFill>
                <a:latin typeface="Times New Roman"/>
                <a:cs typeface="Times New Roman"/>
              </a:rPr>
              <a:t>ENTREPRENEUR</a:t>
            </a:r>
            <a:endParaRPr sz="2000">
              <a:latin typeface="Times New Roman"/>
              <a:cs typeface="Times New Roman"/>
            </a:endParaRPr>
          </a:p>
        </p:txBody>
      </p:sp>
      <p:sp>
        <p:nvSpPr>
          <p:cNvPr id="20" name="Date Placeholder 3"/>
          <p:cNvSpPr>
            <a:spLocks noGrp="1"/>
          </p:cNvSpPr>
          <p:nvPr>
            <p:ph type="dt" sz="half" idx="10"/>
          </p:nvPr>
        </p:nvSpPr>
        <p:spPr>
          <a:xfrm>
            <a:off x="457200" y="6356352"/>
            <a:ext cx="2133600" cy="365125"/>
          </a:xfrm>
        </p:spPr>
        <p:txBody>
          <a:bodyPr/>
          <a:lstStyle/>
          <a:p>
            <a:fld id="{A8850DC5-885A-402F-8D43-4986239E5072}" type="datetime1">
              <a:rPr lang="en-US" smtClean="0"/>
              <a:pPr/>
              <a:t>12-Aug-25</a:t>
            </a:fld>
            <a:endParaRPr lang="en-US"/>
          </a:p>
        </p:txBody>
      </p:sp>
      <p:sp>
        <p:nvSpPr>
          <p:cNvPr id="22" name="Slide Number Placeholder 21"/>
          <p:cNvSpPr>
            <a:spLocks noGrp="1"/>
          </p:cNvSpPr>
          <p:nvPr>
            <p:ph type="sldNum" sz="quarter" idx="12"/>
          </p:nvPr>
        </p:nvSpPr>
        <p:spPr/>
        <p:txBody>
          <a:bodyPr/>
          <a:lstStyle/>
          <a:p>
            <a:fld id="{B6F15528-21DE-4FAA-801E-634DDDAF4B2B}" type="slidenum">
              <a:rPr lang="en-US" smtClean="0"/>
              <a:pPr/>
              <a:t>29</a:t>
            </a:fld>
            <a:endParaRPr lang="en-US"/>
          </a:p>
        </p:txBody>
      </p:sp>
      <p:sp>
        <p:nvSpPr>
          <p:cNvPr id="11" name="Footer Placeholder 12"/>
          <p:cNvSpPr>
            <a:spLocks noGrp="1"/>
          </p:cNvSpPr>
          <p:nvPr>
            <p:ph type="ftr" sz="quarter" idx="4294967295"/>
          </p:nvPr>
        </p:nvSpPr>
        <p:spPr>
          <a:xfrm>
            <a:off x="2362200" y="6248402"/>
            <a:ext cx="5029200" cy="365125"/>
          </a:xfrm>
        </p:spPr>
        <p:txBody>
          <a:bodyPr/>
          <a:lstStyle/>
          <a:p>
            <a:r>
              <a:rPr lang="en-US"/>
              <a:t>Menka Sharma     AMBA 0203               Unit 1</a:t>
            </a:r>
          </a:p>
        </p:txBody>
      </p:sp>
      <p:pic>
        <p:nvPicPr>
          <p:cNvPr id="12" name="Picture 2" descr="C:\Users\Administrator\Desktop\002.jpg"/>
          <p:cNvPicPr>
            <a:picLocks noChangeAspect="1" noChangeArrowheads="1"/>
          </p:cNvPicPr>
          <p:nvPr/>
        </p:nvPicPr>
        <p:blipFill>
          <a:blip r:embed="rId2"/>
          <a:srcRect/>
          <a:stretch>
            <a:fillRect/>
          </a:stretch>
        </p:blipFill>
        <p:spPr bwMode="auto">
          <a:xfrm>
            <a:off x="1500166" y="857232"/>
            <a:ext cx="6629400" cy="5708016"/>
          </a:xfrm>
          <a:prstGeom prst="rect">
            <a:avLst/>
          </a:prstGeom>
          <a:ln>
            <a:noFill/>
          </a:ln>
          <a:effectLst>
            <a:softEdge rad="112500"/>
          </a:effectLst>
        </p:spPr>
      </p:pic>
      <p:sp>
        <p:nvSpPr>
          <p:cNvPr id="13" name="Title 1"/>
          <p:cNvSpPr txBox="1">
            <a:spLocks/>
          </p:cNvSpPr>
          <p:nvPr/>
        </p:nvSpPr>
        <p:spPr>
          <a:xfrm>
            <a:off x="1541160" y="93115"/>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3600" b="1">
                <a:solidFill>
                  <a:schemeClr val="tx1"/>
                </a:solidFill>
                <a:latin typeface="Times New Roman"/>
                <a:cs typeface="Times New Roman"/>
              </a:rPr>
              <a:t>ENTREPRENEUR</a:t>
            </a:r>
            <a:endParaRPr lang="en-IN" sz="3600" b="1">
              <a:solidFill>
                <a:schemeClr val="tx1"/>
              </a:solidFill>
            </a:endParaRP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577735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9956" y="249938"/>
            <a:ext cx="8324215" cy="1191895"/>
            <a:chOff x="409955" y="249936"/>
            <a:chExt cx="8324215" cy="1191895"/>
          </a:xfrm>
          <a:noFill/>
        </p:grpSpPr>
        <p:sp>
          <p:nvSpPr>
            <p:cNvPr id="3" name="object 3"/>
            <p:cNvSpPr/>
            <p:nvPr/>
          </p:nvSpPr>
          <p:spPr>
            <a:xfrm>
              <a:off x="409955" y="249936"/>
              <a:ext cx="8324088" cy="1191768"/>
            </a:xfrm>
            <a:prstGeom prst="rect">
              <a:avLst/>
            </a:prstGeom>
            <a:grpFill/>
            <a:ln>
              <a:noFill/>
            </a:ln>
          </p:spPr>
          <p:txBody>
            <a:bodyPr wrap="square" lIns="0" tIns="0" rIns="0" bIns="0" rtlCol="0"/>
            <a:lstStyle/>
            <a:p>
              <a:endParaRPr/>
            </a:p>
          </p:txBody>
        </p:sp>
        <p:sp>
          <p:nvSpPr>
            <p:cNvPr id="4" name="object 4"/>
            <p:cNvSpPr/>
            <p:nvPr/>
          </p:nvSpPr>
          <p:spPr>
            <a:xfrm>
              <a:off x="3051048" y="438912"/>
              <a:ext cx="3038855" cy="938784"/>
            </a:xfrm>
            <a:prstGeom prst="rect">
              <a:avLst/>
            </a:prstGeom>
            <a:grpFill/>
            <a:ln>
              <a:noFill/>
            </a:ln>
          </p:spPr>
          <p:txBody>
            <a:bodyPr wrap="square" lIns="0" tIns="0" rIns="0" bIns="0" rtlCol="0"/>
            <a:lstStyle/>
            <a:p>
              <a:endParaRPr/>
            </a:p>
          </p:txBody>
        </p:sp>
        <p:sp>
          <p:nvSpPr>
            <p:cNvPr id="5" name="object 5"/>
            <p:cNvSpPr/>
            <p:nvPr/>
          </p:nvSpPr>
          <p:spPr>
            <a:xfrm>
              <a:off x="457199" y="274320"/>
              <a:ext cx="8229600" cy="1097279"/>
            </a:xfrm>
            <a:prstGeom prst="rect">
              <a:avLst/>
            </a:prstGeom>
            <a:grpFill/>
            <a:ln>
              <a:noFill/>
            </a:ln>
          </p:spPr>
          <p:txBody>
            <a:bodyPr wrap="square" lIns="0" tIns="0" rIns="0" bIns="0" rtlCol="0"/>
            <a:lstStyle/>
            <a:p>
              <a:endParaRPr/>
            </a:p>
          </p:txBody>
        </p:sp>
      </p:grpSp>
      <p:sp>
        <p:nvSpPr>
          <p:cNvPr id="6" name="object 6"/>
          <p:cNvSpPr txBox="1">
            <a:spLocks noGrp="1"/>
          </p:cNvSpPr>
          <p:nvPr>
            <p:ph type="title"/>
          </p:nvPr>
        </p:nvSpPr>
        <p:spPr>
          <a:xfrm>
            <a:off x="500034" y="247596"/>
            <a:ext cx="8229600" cy="602088"/>
          </a:xfrm>
          <a:prstGeom prst="rect">
            <a:avLst/>
          </a:prstGeom>
          <a:ln w="9144">
            <a:noFill/>
          </a:ln>
        </p:spPr>
        <p:txBody>
          <a:bodyPr vert="horz" wrap="square" lIns="0" tIns="291465" rIns="0" bIns="0" rtlCol="0">
            <a:spAutoFit/>
          </a:bodyPr>
          <a:lstStyle/>
          <a:p>
            <a:pPr>
              <a:spcBef>
                <a:spcPts val="2295"/>
              </a:spcBef>
            </a:pPr>
            <a:endParaRPr sz="2000">
              <a:latin typeface="Times New Roman"/>
              <a:cs typeface="Times New Roman"/>
            </a:endParaRPr>
          </a:p>
        </p:txBody>
      </p:sp>
      <p:sp>
        <p:nvSpPr>
          <p:cNvPr id="7" name="object 7"/>
          <p:cNvSpPr txBox="1"/>
          <p:nvPr/>
        </p:nvSpPr>
        <p:spPr>
          <a:xfrm>
            <a:off x="409956" y="874068"/>
            <a:ext cx="8143932" cy="5750933"/>
          </a:xfrm>
          <a:prstGeom prst="rect">
            <a:avLst/>
          </a:prstGeom>
        </p:spPr>
        <p:txBody>
          <a:bodyPr vert="horz" wrap="square" lIns="0" tIns="13335" rIns="0" bIns="0" rtlCol="0">
            <a:spAutoFit/>
          </a:bodyPr>
          <a:lstStyle/>
          <a:p>
            <a:pPr marL="12700" marR="5080" algn="just">
              <a:lnSpc>
                <a:spcPct val="150000"/>
              </a:lnSpc>
              <a:spcBef>
                <a:spcPts val="105"/>
              </a:spcBef>
            </a:pPr>
            <a:r>
              <a:rPr lang="en-US" sz="2400">
                <a:latin typeface="Times New Roman" panose="02020603050405020304" pitchFamily="18" charset="0"/>
                <a:cs typeface="Times New Roman" panose="02020603050405020304" pitchFamily="18" charset="0"/>
              </a:rPr>
              <a:t>The </a:t>
            </a:r>
            <a:r>
              <a:rPr lang="en-US" sz="2400" b="1">
                <a:latin typeface="Times New Roman" panose="02020603050405020304" pitchFamily="18" charset="0"/>
                <a:cs typeface="Times New Roman" panose="02020603050405020304" pitchFamily="18" charset="0"/>
              </a:rPr>
              <a:t>6Cs that motivate entrepreneurs</a:t>
            </a:r>
            <a:r>
              <a:rPr lang="en-US" sz="2400">
                <a:latin typeface="Times New Roman" panose="02020603050405020304" pitchFamily="18" charset="0"/>
                <a:cs typeface="Times New Roman" panose="02020603050405020304" pitchFamily="18" charset="0"/>
              </a:rPr>
              <a:t> to establish their own business:</a:t>
            </a:r>
          </a:p>
          <a:p>
            <a:pPr marL="12700" marR="5080" algn="just"/>
            <a:r>
              <a:rPr lang="en-US" sz="2400" b="1">
                <a:latin typeface="Times New Roman" panose="02020603050405020304" pitchFamily="18" charset="0"/>
                <a:cs typeface="Times New Roman" panose="02020603050405020304" pitchFamily="18" charset="0"/>
              </a:rPr>
              <a:t>Change</a:t>
            </a:r>
            <a:r>
              <a:rPr lang="en-US" sz="2400">
                <a:latin typeface="Times New Roman" panose="02020603050405020304" pitchFamily="18" charset="0"/>
                <a:cs typeface="Times New Roman" panose="02020603050405020304" pitchFamily="18" charset="0"/>
              </a:rPr>
              <a:t> − Entrepreneurs frequently want change, not only change, they also want to be the bearers of change.</a:t>
            </a:r>
          </a:p>
          <a:p>
            <a:pPr lvl="0"/>
            <a:r>
              <a:rPr lang="en-US" sz="2400" b="1">
                <a:latin typeface="Times New Roman" panose="02020603050405020304" pitchFamily="18" charset="0"/>
                <a:cs typeface="Times New Roman" panose="02020603050405020304" pitchFamily="18" charset="0"/>
              </a:rPr>
              <a:t>Challenge</a:t>
            </a:r>
            <a:r>
              <a:rPr lang="en-US" sz="2400">
                <a:latin typeface="Times New Roman" panose="02020603050405020304" pitchFamily="18" charset="0"/>
                <a:cs typeface="Times New Roman" panose="02020603050405020304" pitchFamily="18" charset="0"/>
              </a:rPr>
              <a:t> − Some people love challenges and they opt for starting a new business as it is very challenging to handle big problems. These people find typical job in a big corporate as boring and not challenging enough.</a:t>
            </a:r>
          </a:p>
          <a:p>
            <a:r>
              <a:rPr lang="en-US" sz="2400" b="1">
                <a:latin typeface="Times New Roman" panose="02020603050405020304" pitchFamily="18" charset="0"/>
                <a:cs typeface="Times New Roman" panose="02020603050405020304" pitchFamily="18" charset="0"/>
              </a:rPr>
              <a:t>Creativity</a:t>
            </a:r>
            <a:r>
              <a:rPr lang="en-US" sz="2400">
                <a:latin typeface="Times New Roman" panose="02020603050405020304" pitchFamily="18" charset="0"/>
                <a:cs typeface="Times New Roman" panose="02020603050405020304" pitchFamily="18" charset="0"/>
              </a:rPr>
              <a:t> − Running one’s own business is all about being more creative and having the independence to make new discoveries. For example, testing a new website design, launching a new marketing scheme, creating inventive items that solve a known issue in a different way, creating new advertising campaigns, etc</a:t>
            </a:r>
            <a:r>
              <a:rPr lang="en-US" sz="2400"/>
              <a:t>. </a:t>
            </a:r>
          </a:p>
          <a:p>
            <a:pPr marL="12700" marR="5080" algn="just">
              <a:lnSpc>
                <a:spcPct val="150000"/>
              </a:lnSpc>
              <a:spcBef>
                <a:spcPts val="105"/>
              </a:spcBef>
            </a:pPr>
            <a:endParaRPr sz="2400">
              <a:latin typeface="Times New Roman"/>
              <a:cs typeface="Times New Roman"/>
            </a:endParaRPr>
          </a:p>
        </p:txBody>
      </p:sp>
      <p:sp>
        <p:nvSpPr>
          <p:cNvPr id="12" name="Date Placeholder 3"/>
          <p:cNvSpPr>
            <a:spLocks noGrp="1"/>
          </p:cNvSpPr>
          <p:nvPr>
            <p:ph type="dt" sz="half" idx="10"/>
          </p:nvPr>
        </p:nvSpPr>
        <p:spPr>
          <a:xfrm>
            <a:off x="457200" y="6356352"/>
            <a:ext cx="2133600" cy="365125"/>
          </a:xfrm>
        </p:spPr>
        <p:txBody>
          <a:bodyPr/>
          <a:lstStyle/>
          <a:p>
            <a:fld id="{38358EC0-9F58-4BF5-8F36-571ABEB0D1E3}" type="datetime1">
              <a:rPr lang="en-US" smtClean="0"/>
              <a:pPr/>
              <a:t>12-Aug-25</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30</a:t>
            </a:fld>
            <a:endParaRPr lang="en-US"/>
          </a:p>
        </p:txBody>
      </p:sp>
      <p:sp>
        <p:nvSpPr>
          <p:cNvPr id="13" name="Title 1"/>
          <p:cNvSpPr txBox="1">
            <a:spLocks/>
          </p:cNvSpPr>
          <p:nvPr/>
        </p:nvSpPr>
        <p:spPr>
          <a:xfrm>
            <a:off x="1619672" y="96014"/>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t>6Cs that motivate entrepreneurs</a:t>
            </a:r>
            <a:endParaRPr lang="en-IN" sz="3600"/>
          </a:p>
        </p:txBody>
      </p:sp>
      <p:sp>
        <p:nvSpPr>
          <p:cNvPr id="15"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6" name="Rectangle 15">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139340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9956" y="249938"/>
            <a:ext cx="8324215" cy="1191895"/>
            <a:chOff x="409955" y="249936"/>
            <a:chExt cx="8324215" cy="1191895"/>
          </a:xfrm>
          <a:noFill/>
        </p:grpSpPr>
        <p:sp>
          <p:nvSpPr>
            <p:cNvPr id="3" name="object 3"/>
            <p:cNvSpPr/>
            <p:nvPr/>
          </p:nvSpPr>
          <p:spPr>
            <a:xfrm>
              <a:off x="409955" y="249936"/>
              <a:ext cx="8324088" cy="1191768"/>
            </a:xfrm>
            <a:prstGeom prst="rect">
              <a:avLst/>
            </a:prstGeom>
            <a:grpFill/>
            <a:ln>
              <a:noFill/>
            </a:ln>
          </p:spPr>
          <p:txBody>
            <a:bodyPr wrap="square" lIns="0" tIns="0" rIns="0" bIns="0" rtlCol="0"/>
            <a:lstStyle/>
            <a:p>
              <a:endParaRPr/>
            </a:p>
          </p:txBody>
        </p:sp>
        <p:sp>
          <p:nvSpPr>
            <p:cNvPr id="4" name="object 4"/>
            <p:cNvSpPr/>
            <p:nvPr/>
          </p:nvSpPr>
          <p:spPr>
            <a:xfrm>
              <a:off x="3051048" y="438912"/>
              <a:ext cx="3038855" cy="938784"/>
            </a:xfrm>
            <a:prstGeom prst="rect">
              <a:avLst/>
            </a:prstGeom>
            <a:grpFill/>
            <a:ln>
              <a:noFill/>
            </a:ln>
          </p:spPr>
          <p:txBody>
            <a:bodyPr wrap="square" lIns="0" tIns="0" rIns="0" bIns="0" rtlCol="0"/>
            <a:lstStyle/>
            <a:p>
              <a:endParaRPr/>
            </a:p>
          </p:txBody>
        </p:sp>
        <p:sp>
          <p:nvSpPr>
            <p:cNvPr id="5" name="object 5"/>
            <p:cNvSpPr/>
            <p:nvPr/>
          </p:nvSpPr>
          <p:spPr>
            <a:xfrm>
              <a:off x="457199" y="274320"/>
              <a:ext cx="8229600" cy="1097279"/>
            </a:xfrm>
            <a:prstGeom prst="rect">
              <a:avLst/>
            </a:prstGeom>
            <a:grpFill/>
            <a:ln>
              <a:noFill/>
            </a:ln>
          </p:spPr>
          <p:txBody>
            <a:bodyPr wrap="square" lIns="0" tIns="0" rIns="0" bIns="0" rtlCol="0"/>
            <a:lstStyle/>
            <a:p>
              <a:endParaRPr/>
            </a:p>
          </p:txBody>
        </p:sp>
      </p:grpSp>
      <p:sp>
        <p:nvSpPr>
          <p:cNvPr id="6" name="object 6"/>
          <p:cNvSpPr txBox="1">
            <a:spLocks noGrp="1"/>
          </p:cNvSpPr>
          <p:nvPr>
            <p:ph type="title"/>
          </p:nvPr>
        </p:nvSpPr>
        <p:spPr>
          <a:xfrm>
            <a:off x="717420" y="166372"/>
            <a:ext cx="8229600" cy="602088"/>
          </a:xfrm>
          <a:prstGeom prst="rect">
            <a:avLst/>
          </a:prstGeom>
          <a:ln w="9144">
            <a:noFill/>
          </a:ln>
        </p:spPr>
        <p:txBody>
          <a:bodyPr vert="horz" wrap="square" lIns="0" tIns="291465" rIns="0" bIns="0" rtlCol="0">
            <a:spAutoFit/>
          </a:bodyPr>
          <a:lstStyle/>
          <a:p>
            <a:pPr>
              <a:spcBef>
                <a:spcPts val="2295"/>
              </a:spcBef>
            </a:pPr>
            <a:r>
              <a:rPr lang="en-US" sz="2000" b="1"/>
              <a:t>6Cs that motivate entrepreneurs</a:t>
            </a:r>
            <a:endParaRPr sz="2000">
              <a:latin typeface="Times New Roman"/>
              <a:cs typeface="Times New Roman"/>
            </a:endParaRPr>
          </a:p>
        </p:txBody>
      </p:sp>
      <p:sp>
        <p:nvSpPr>
          <p:cNvPr id="7" name="object 7"/>
          <p:cNvSpPr txBox="1"/>
          <p:nvPr/>
        </p:nvSpPr>
        <p:spPr>
          <a:xfrm>
            <a:off x="879144" y="1404066"/>
            <a:ext cx="7730490" cy="4814780"/>
          </a:xfrm>
          <a:prstGeom prst="rect">
            <a:avLst/>
          </a:prstGeom>
        </p:spPr>
        <p:txBody>
          <a:bodyPr vert="horz" wrap="square" lIns="0" tIns="13335" rIns="0" bIns="0" rtlCol="0">
            <a:spAutoFit/>
          </a:bodyPr>
          <a:lstStyle/>
          <a:p>
            <a:pPr marL="12700" marR="5080" algn="just"/>
            <a:r>
              <a:rPr lang="en-US" sz="2400" b="1">
                <a:latin typeface="Times New Roman" panose="02020603050405020304" pitchFamily="18" charset="0"/>
                <a:cs typeface="Times New Roman" panose="02020603050405020304" pitchFamily="18" charset="0"/>
              </a:rPr>
              <a:t>Control</a:t>
            </a:r>
            <a:r>
              <a:rPr lang="en-US" sz="2400">
                <a:latin typeface="Times New Roman" panose="02020603050405020304" pitchFamily="18" charset="0"/>
                <a:cs typeface="Times New Roman" panose="02020603050405020304" pitchFamily="18" charset="0"/>
              </a:rPr>
              <a:t> − They want to be their own boss having their own time, own pace, location of their choice, employees of their choice and have a progressive role in deciding the direction of the company.</a:t>
            </a:r>
          </a:p>
          <a:p>
            <a:pPr marL="12700" marR="5080" algn="just"/>
            <a:r>
              <a:rPr lang="en-US" sz="2400" b="1">
                <a:latin typeface="Times New Roman" panose="02020603050405020304" pitchFamily="18" charset="0"/>
                <a:cs typeface="Times New Roman" panose="02020603050405020304" pitchFamily="18" charset="0"/>
              </a:rPr>
              <a:t>Curiosity</a:t>
            </a:r>
            <a:r>
              <a:rPr lang="en-US" sz="2400">
                <a:latin typeface="Times New Roman" panose="02020603050405020304" pitchFamily="18" charset="0"/>
                <a:cs typeface="Times New Roman" panose="02020603050405020304" pitchFamily="18" charset="0"/>
              </a:rPr>
              <a:t> − Successful entrepreneurs are always anxious and ask − "what if we do X this way?” </a:t>
            </a:r>
          </a:p>
          <a:p>
            <a:pPr marL="12700" marR="5080" algn="just"/>
            <a:r>
              <a:rPr lang="en-US" sz="2400" b="1">
                <a:latin typeface="Times New Roman" panose="02020603050405020304" pitchFamily="18" charset="0"/>
                <a:cs typeface="Times New Roman" panose="02020603050405020304" pitchFamily="18" charset="0"/>
              </a:rPr>
              <a:t>Cash</a:t>
            </a:r>
            <a:r>
              <a:rPr lang="en-US" sz="2400">
                <a:latin typeface="Times New Roman" panose="02020603050405020304" pitchFamily="18" charset="0"/>
                <a:cs typeface="Times New Roman" panose="02020603050405020304" pitchFamily="18" charset="0"/>
              </a:rPr>
              <a:t> − The last but not the least part is the cash. Money says it all. Many non-entrepreneurs have a misconception that cash comes first for entrepreneurs but this is never really true. </a:t>
            </a:r>
          </a:p>
          <a:p>
            <a:pPr marL="12700" marR="5080" algn="just"/>
            <a:endParaRPr lang="en-US" sz="2400">
              <a:latin typeface="Times New Roman" panose="02020603050405020304" pitchFamily="18" charset="0"/>
              <a:cs typeface="Times New Roman" panose="02020603050405020304" pitchFamily="18" charset="0"/>
            </a:endParaRPr>
          </a:p>
          <a:p>
            <a:pPr marL="12700" marR="5080" algn="just"/>
            <a:r>
              <a:rPr lang="en-US" sz="2400" b="1">
                <a:latin typeface="Times New Roman" panose="02020603050405020304" pitchFamily="18" charset="0"/>
                <a:cs typeface="Times New Roman" panose="02020603050405020304" pitchFamily="18" charset="0"/>
              </a:rPr>
              <a:t>It can be said that the highest motivating factor is the urge to get something or the drive to do something differently.</a:t>
            </a:r>
          </a:p>
          <a:p>
            <a:pPr marL="12700" marR="5080" algn="just"/>
            <a:endParaRPr sz="2400">
              <a:latin typeface="Times New Roman" panose="02020603050405020304" pitchFamily="18" charset="0"/>
              <a:cs typeface="Times New Roman" panose="02020603050405020304" pitchFamily="18" charset="0"/>
            </a:endParaRPr>
          </a:p>
        </p:txBody>
      </p:sp>
      <p:sp>
        <p:nvSpPr>
          <p:cNvPr id="12" name="Date Placeholder 3"/>
          <p:cNvSpPr>
            <a:spLocks noGrp="1"/>
          </p:cNvSpPr>
          <p:nvPr>
            <p:ph type="dt" sz="half" idx="10"/>
          </p:nvPr>
        </p:nvSpPr>
        <p:spPr>
          <a:xfrm>
            <a:off x="457200" y="6356352"/>
            <a:ext cx="2133600" cy="365125"/>
          </a:xfrm>
        </p:spPr>
        <p:txBody>
          <a:bodyPr/>
          <a:lstStyle/>
          <a:p>
            <a:fld id="{38358EC0-9F58-4BF5-8F36-571ABEB0D1E3}" type="datetime1">
              <a:rPr lang="en-US" smtClean="0"/>
              <a:pPr/>
              <a:t>12-Aug-25</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31</a:t>
            </a:fld>
            <a:endParaRPr lang="en-US"/>
          </a:p>
        </p:txBody>
      </p:sp>
      <p:sp>
        <p:nvSpPr>
          <p:cNvPr id="13" name="Title 1"/>
          <p:cNvSpPr txBox="1">
            <a:spLocks/>
          </p:cNvSpPr>
          <p:nvPr/>
        </p:nvSpPr>
        <p:spPr>
          <a:xfrm>
            <a:off x="1619672" y="96014"/>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t>6Cs that motivate entrepreneurs</a:t>
            </a:r>
            <a:endParaRPr lang="en-IN" sz="3600"/>
          </a:p>
        </p:txBody>
      </p:sp>
      <p:sp>
        <p:nvSpPr>
          <p:cNvPr id="15"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6" name="Rectangle 15">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139340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428596" y="1"/>
            <a:ext cx="8534400" cy="753411"/>
          </a:xfrm>
          <a:prstGeom prst="rect">
            <a:avLst/>
          </a:prstGeom>
        </p:spPr>
        <p:txBody>
          <a:bodyPr vert="horz" wrap="square" lIns="0" tIns="6985" rIns="0" bIns="0" rtlCol="0">
            <a:spAutoFit/>
          </a:bodyPr>
          <a:lstStyle/>
          <a:p>
            <a:pPr>
              <a:lnSpc>
                <a:spcPct val="100000"/>
              </a:lnSpc>
              <a:spcBef>
                <a:spcPts val="55"/>
              </a:spcBef>
            </a:pPr>
            <a:endParaRPr sz="2650">
              <a:latin typeface="Times New Roman"/>
              <a:cs typeface="Times New Roman"/>
            </a:endParaRPr>
          </a:p>
          <a:p>
            <a:pPr algn="ctr">
              <a:lnSpc>
                <a:spcPct val="100000"/>
              </a:lnSpc>
            </a:pPr>
            <a:r>
              <a:rPr sz="2200" b="1" spc="-5">
                <a:solidFill>
                  <a:srgbClr val="FFFFFF"/>
                </a:solidFill>
                <a:latin typeface="Times New Roman"/>
                <a:cs typeface="Times New Roman"/>
              </a:rPr>
              <a:t>ETREPRENEURSHIP</a:t>
            </a:r>
            <a:endParaRPr sz="2200">
              <a:latin typeface="Times New Roman"/>
              <a:cs typeface="Times New Roman"/>
            </a:endParaRPr>
          </a:p>
        </p:txBody>
      </p:sp>
      <p:sp>
        <p:nvSpPr>
          <p:cNvPr id="17" name="object 17"/>
          <p:cNvSpPr txBox="1"/>
          <p:nvPr/>
        </p:nvSpPr>
        <p:spPr>
          <a:xfrm>
            <a:off x="304800" y="1143000"/>
            <a:ext cx="8358246" cy="4777590"/>
          </a:xfrm>
          <a:prstGeom prst="rect">
            <a:avLst/>
          </a:prstGeom>
        </p:spPr>
        <p:txBody>
          <a:bodyPr vert="horz" wrap="square" lIns="0" tIns="12065" rIns="0" bIns="0" rtlCol="0">
            <a:spAutoFit/>
          </a:bodyPr>
          <a:lstStyle/>
          <a:p>
            <a:pPr>
              <a:spcBef>
                <a:spcPts val="95"/>
              </a:spcBef>
              <a:buFont typeface="Arial" pitchFamily="34" charset="0"/>
              <a:buChar char="•"/>
            </a:pPr>
            <a:r>
              <a:rPr lang="en-US" sz="2800" spc="-5">
                <a:latin typeface="Times New Roman" pitchFamily="18" charset="0"/>
                <a:cs typeface="Times New Roman" pitchFamily="18" charset="0"/>
              </a:rPr>
              <a:t>   	Entrepreneurship is </a:t>
            </a:r>
            <a:r>
              <a:rPr lang="en-US" sz="2800" spc="-10">
                <a:latin typeface="Times New Roman" pitchFamily="18" charset="0"/>
                <a:cs typeface="Times New Roman" pitchFamily="18" charset="0"/>
              </a:rPr>
              <a:t>the </a:t>
            </a:r>
            <a:r>
              <a:rPr lang="en-US" sz="2800">
                <a:latin typeface="Times New Roman" pitchFamily="18" charset="0"/>
                <a:cs typeface="Times New Roman" pitchFamily="18" charset="0"/>
              </a:rPr>
              <a:t>process </a:t>
            </a:r>
            <a:r>
              <a:rPr lang="en-US" sz="2800" spc="-5">
                <a:latin typeface="Times New Roman" pitchFamily="18" charset="0"/>
                <a:cs typeface="Times New Roman" pitchFamily="18" charset="0"/>
              </a:rPr>
              <a:t>of  creating value by bringing together a unique package of resources to exploit an  o</a:t>
            </a:r>
            <a:r>
              <a:rPr sz="2800">
                <a:latin typeface="Times New Roman" pitchFamily="18" charset="0"/>
                <a:cs typeface="Times New Roman" pitchFamily="18" charset="0"/>
              </a:rPr>
              <a:t>p</a:t>
            </a:r>
            <a:r>
              <a:rPr sz="2800" spc="-5">
                <a:latin typeface="Times New Roman" pitchFamily="18" charset="0"/>
                <a:cs typeface="Times New Roman" pitchFamily="18" charset="0"/>
              </a:rPr>
              <a:t>p</a:t>
            </a:r>
            <a:r>
              <a:rPr sz="2800">
                <a:latin typeface="Times New Roman" pitchFamily="18" charset="0"/>
                <a:cs typeface="Times New Roman" pitchFamily="18" charset="0"/>
              </a:rPr>
              <a:t>o</a:t>
            </a:r>
            <a:r>
              <a:rPr sz="2800" spc="-5">
                <a:latin typeface="Times New Roman" pitchFamily="18" charset="0"/>
                <a:cs typeface="Times New Roman" pitchFamily="18" charset="0"/>
              </a:rPr>
              <a:t>rt</a:t>
            </a:r>
            <a:r>
              <a:rPr sz="2800">
                <a:latin typeface="Times New Roman" pitchFamily="18" charset="0"/>
                <a:cs typeface="Times New Roman" pitchFamily="18" charset="0"/>
              </a:rPr>
              <a:t>u</a:t>
            </a:r>
            <a:r>
              <a:rPr sz="2800" spc="-5">
                <a:latin typeface="Times New Roman" pitchFamily="18" charset="0"/>
                <a:cs typeface="Times New Roman" pitchFamily="18" charset="0"/>
              </a:rPr>
              <a:t>ni</a:t>
            </a:r>
            <a:r>
              <a:rPr sz="2800">
                <a:latin typeface="Times New Roman" pitchFamily="18" charset="0"/>
                <a:cs typeface="Times New Roman" pitchFamily="18" charset="0"/>
              </a:rPr>
              <a:t>t</a:t>
            </a:r>
            <a:r>
              <a:rPr sz="2800" spc="-180">
                <a:latin typeface="Times New Roman" pitchFamily="18" charset="0"/>
                <a:cs typeface="Times New Roman" pitchFamily="18" charset="0"/>
              </a:rPr>
              <a:t>y</a:t>
            </a:r>
            <a:r>
              <a:rPr sz="2800" spc="-5">
                <a:latin typeface="Times New Roman" pitchFamily="18" charset="0"/>
                <a:cs typeface="Times New Roman" pitchFamily="18" charset="0"/>
              </a:rPr>
              <a:t>.</a:t>
            </a:r>
            <a:endParaRPr lang="en-US" sz="2800" spc="-5">
              <a:latin typeface="Times New Roman" pitchFamily="18" charset="0"/>
              <a:cs typeface="Times New Roman" pitchFamily="18" charset="0"/>
            </a:endParaRPr>
          </a:p>
          <a:p>
            <a:pPr lvl="1">
              <a:spcBef>
                <a:spcPts val="95"/>
              </a:spcBef>
              <a:buFont typeface="Arial" pitchFamily="34" charset="0"/>
              <a:buChar char="•"/>
            </a:pPr>
            <a:r>
              <a:rPr lang="en-US" sz="2800">
                <a:latin typeface="Times New Roman" pitchFamily="18" charset="0"/>
                <a:cs typeface="Times New Roman" pitchFamily="18" charset="0"/>
              </a:rPr>
              <a:t>Entrepreneurship is the art of starting a business, basically a startup company offering creative product, process or service. </a:t>
            </a:r>
          </a:p>
          <a:p>
            <a:pPr lvl="1">
              <a:spcBef>
                <a:spcPts val="95"/>
              </a:spcBef>
              <a:buFont typeface="Arial" pitchFamily="34" charset="0"/>
              <a:buChar char="•"/>
            </a:pPr>
            <a:r>
              <a:rPr lang="en-US" sz="2800">
                <a:latin typeface="Times New Roman" pitchFamily="18" charset="0"/>
                <a:cs typeface="Times New Roman" pitchFamily="18" charset="0"/>
              </a:rPr>
              <a:t>An entrepreneur is an innovator or a creator who introduces something new to the firm or economy. It can be a new method of production, a new product, a new source of material, a new market or any other similar innovation</a:t>
            </a:r>
            <a:endParaRPr sz="2800">
              <a:latin typeface="Times New Roman" pitchFamily="18" charset="0"/>
              <a:cs typeface="Times New Roman" pitchFamily="18" charset="0"/>
            </a:endParaRPr>
          </a:p>
        </p:txBody>
      </p:sp>
      <p:sp>
        <p:nvSpPr>
          <p:cNvPr id="21" name="Date Placeholder 3"/>
          <p:cNvSpPr>
            <a:spLocks noGrp="1"/>
          </p:cNvSpPr>
          <p:nvPr>
            <p:ph type="dt" sz="half" idx="10"/>
          </p:nvPr>
        </p:nvSpPr>
        <p:spPr/>
        <p:txBody>
          <a:bodyPr/>
          <a:lstStyle/>
          <a:p>
            <a:fld id="{A021FB4E-F91F-43B3-A880-6384EC3F971F}" type="datetime1">
              <a:rPr lang="en-US" smtClean="0"/>
              <a:pPr/>
              <a:t>12-Aug-25</a:t>
            </a:fld>
            <a:endParaRPr lang="en-US"/>
          </a:p>
        </p:txBody>
      </p:sp>
      <p:sp>
        <p:nvSpPr>
          <p:cNvPr id="23" name="Slide Number Placeholder 22"/>
          <p:cNvSpPr>
            <a:spLocks noGrp="1"/>
          </p:cNvSpPr>
          <p:nvPr>
            <p:ph type="sldNum" sz="quarter" idx="12"/>
          </p:nvPr>
        </p:nvSpPr>
        <p:spPr/>
        <p:txBody>
          <a:bodyPr/>
          <a:lstStyle/>
          <a:p>
            <a:fld id="{B6F15528-21DE-4FAA-801E-634DDDAF4B2B}" type="slidenum">
              <a:rPr lang="en-US" smtClean="0"/>
              <a:pPr/>
              <a:t>32</a:t>
            </a:fld>
            <a:endParaRPr lang="en-US"/>
          </a:p>
        </p:txBody>
      </p:sp>
      <p:sp>
        <p:nvSpPr>
          <p:cNvPr id="9" name="Title 1"/>
          <p:cNvSpPr txBox="1">
            <a:spLocks/>
          </p:cNvSpPr>
          <p:nvPr/>
        </p:nvSpPr>
        <p:spPr>
          <a:xfrm>
            <a:off x="1699477" y="33806"/>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00000"/>
              </a:lnSpc>
            </a:pPr>
            <a:r>
              <a:rPr lang="en-IN" sz="3600" b="1" spc="-5">
                <a:solidFill>
                  <a:schemeClr val="tx1"/>
                </a:solidFill>
                <a:latin typeface="Times New Roman"/>
                <a:cs typeface="Times New Roman"/>
              </a:rPr>
              <a:t>ENTREPRENEURSHIP</a:t>
            </a:r>
            <a:endParaRPr lang="en-IN" sz="3600">
              <a:solidFill>
                <a:schemeClr val="tx1"/>
              </a:solidFill>
              <a:latin typeface="Times New Roman"/>
              <a:cs typeface="Times New Roman"/>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4190872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9956" y="249938"/>
            <a:ext cx="8324215" cy="1191895"/>
            <a:chOff x="409955" y="249936"/>
            <a:chExt cx="8324215" cy="1191895"/>
          </a:xfrm>
          <a:noFill/>
        </p:grpSpPr>
        <p:sp>
          <p:nvSpPr>
            <p:cNvPr id="3" name="object 3"/>
            <p:cNvSpPr/>
            <p:nvPr/>
          </p:nvSpPr>
          <p:spPr>
            <a:xfrm>
              <a:off x="409955" y="249936"/>
              <a:ext cx="8324088" cy="1191768"/>
            </a:xfrm>
            <a:prstGeom prst="rect">
              <a:avLst/>
            </a:prstGeom>
            <a:grpFill/>
            <a:ln>
              <a:noFill/>
            </a:ln>
          </p:spPr>
          <p:txBody>
            <a:bodyPr wrap="square" lIns="0" tIns="0" rIns="0" bIns="0" rtlCol="0"/>
            <a:lstStyle/>
            <a:p>
              <a:endParaRPr/>
            </a:p>
          </p:txBody>
        </p:sp>
        <p:sp>
          <p:nvSpPr>
            <p:cNvPr id="4" name="object 4"/>
            <p:cNvSpPr/>
            <p:nvPr/>
          </p:nvSpPr>
          <p:spPr>
            <a:xfrm>
              <a:off x="3051048" y="438912"/>
              <a:ext cx="3038855" cy="938784"/>
            </a:xfrm>
            <a:prstGeom prst="rect">
              <a:avLst/>
            </a:prstGeom>
            <a:grpFill/>
            <a:ln>
              <a:noFill/>
            </a:ln>
          </p:spPr>
          <p:txBody>
            <a:bodyPr wrap="square" lIns="0" tIns="0" rIns="0" bIns="0" rtlCol="0"/>
            <a:lstStyle/>
            <a:p>
              <a:endParaRPr/>
            </a:p>
          </p:txBody>
        </p:sp>
        <p:sp>
          <p:nvSpPr>
            <p:cNvPr id="5" name="object 5"/>
            <p:cNvSpPr/>
            <p:nvPr/>
          </p:nvSpPr>
          <p:spPr>
            <a:xfrm>
              <a:off x="457199" y="274320"/>
              <a:ext cx="8229600" cy="1097279"/>
            </a:xfrm>
            <a:prstGeom prst="rect">
              <a:avLst/>
            </a:prstGeom>
            <a:grpFill/>
            <a:ln>
              <a:noFill/>
            </a:ln>
          </p:spPr>
          <p:txBody>
            <a:bodyPr wrap="square" lIns="0" tIns="0" rIns="0" bIns="0" rtlCol="0"/>
            <a:lstStyle/>
            <a:p>
              <a:endParaRPr/>
            </a:p>
          </p:txBody>
        </p:sp>
      </p:grpSp>
      <p:sp>
        <p:nvSpPr>
          <p:cNvPr id="6" name="object 6"/>
          <p:cNvSpPr txBox="1">
            <a:spLocks noGrp="1"/>
          </p:cNvSpPr>
          <p:nvPr>
            <p:ph type="title"/>
          </p:nvPr>
        </p:nvSpPr>
        <p:spPr>
          <a:xfrm>
            <a:off x="500034" y="247596"/>
            <a:ext cx="8229600" cy="602088"/>
          </a:xfrm>
          <a:prstGeom prst="rect">
            <a:avLst/>
          </a:prstGeom>
          <a:ln w="9144">
            <a:noFill/>
          </a:ln>
        </p:spPr>
        <p:txBody>
          <a:bodyPr vert="horz" wrap="square" lIns="0" tIns="291465" rIns="0" bIns="0" rtlCol="0">
            <a:spAutoFit/>
          </a:bodyPr>
          <a:lstStyle/>
          <a:p>
            <a:pPr algn="ctr">
              <a:lnSpc>
                <a:spcPct val="100000"/>
              </a:lnSpc>
              <a:spcBef>
                <a:spcPts val="2295"/>
              </a:spcBef>
            </a:pPr>
            <a:endParaRPr sz="2000">
              <a:latin typeface="Times New Roman"/>
              <a:cs typeface="Times New Roman"/>
            </a:endParaRPr>
          </a:p>
        </p:txBody>
      </p:sp>
      <p:sp>
        <p:nvSpPr>
          <p:cNvPr id="7" name="object 7"/>
          <p:cNvSpPr txBox="1"/>
          <p:nvPr/>
        </p:nvSpPr>
        <p:spPr>
          <a:xfrm>
            <a:off x="179512" y="1404066"/>
            <a:ext cx="8784976" cy="2229456"/>
          </a:xfrm>
          <a:prstGeom prst="rect">
            <a:avLst/>
          </a:prstGeom>
        </p:spPr>
        <p:txBody>
          <a:bodyPr vert="horz" wrap="square" lIns="0" tIns="13335" rIns="0" bIns="0" rtlCol="0">
            <a:spAutoFit/>
          </a:bodyPr>
          <a:lstStyle/>
          <a:p>
            <a:pPr marL="12700" marR="5080" algn="just">
              <a:lnSpc>
                <a:spcPct val="150000"/>
              </a:lnSpc>
              <a:spcBef>
                <a:spcPts val="105"/>
              </a:spcBef>
            </a:pPr>
            <a:r>
              <a:rPr sz="2400">
                <a:latin typeface="Times New Roman"/>
                <a:cs typeface="Times New Roman"/>
              </a:rPr>
              <a:t>According </a:t>
            </a:r>
            <a:r>
              <a:rPr sz="2400" spc="-5">
                <a:latin typeface="Times New Roman"/>
                <a:cs typeface="Times New Roman"/>
              </a:rPr>
              <a:t>to </a:t>
            </a:r>
            <a:r>
              <a:rPr sz="2400" b="1" spc="-5">
                <a:latin typeface="Times New Roman"/>
                <a:cs typeface="Times New Roman"/>
              </a:rPr>
              <a:t>A. </a:t>
            </a:r>
            <a:r>
              <a:rPr sz="2400" b="1">
                <a:latin typeface="Times New Roman"/>
                <a:cs typeface="Times New Roman"/>
              </a:rPr>
              <a:t>H. Cole</a:t>
            </a:r>
            <a:r>
              <a:rPr sz="2400">
                <a:latin typeface="Times New Roman"/>
                <a:cs typeface="Times New Roman"/>
              </a:rPr>
              <a:t>, “Entrepreneurship is </a:t>
            </a:r>
            <a:r>
              <a:rPr sz="2400" spc="-5">
                <a:latin typeface="Times New Roman"/>
                <a:cs typeface="Times New Roman"/>
              </a:rPr>
              <a:t>the purposeful  activities </a:t>
            </a:r>
            <a:r>
              <a:rPr sz="2400">
                <a:latin typeface="Times New Roman"/>
                <a:cs typeface="Times New Roman"/>
              </a:rPr>
              <a:t>of an </a:t>
            </a:r>
            <a:r>
              <a:rPr sz="2400" spc="-5">
                <a:latin typeface="Times New Roman"/>
                <a:cs typeface="Times New Roman"/>
              </a:rPr>
              <a:t>individual </a:t>
            </a:r>
            <a:r>
              <a:rPr sz="2400">
                <a:latin typeface="Times New Roman"/>
                <a:cs typeface="Times New Roman"/>
              </a:rPr>
              <a:t>or a group of </a:t>
            </a:r>
            <a:r>
              <a:rPr sz="2400" spc="-5">
                <a:latin typeface="Times New Roman"/>
                <a:cs typeface="Times New Roman"/>
              </a:rPr>
              <a:t>associated individuals  undertaken </a:t>
            </a:r>
            <a:r>
              <a:rPr sz="2400">
                <a:latin typeface="Times New Roman"/>
                <a:cs typeface="Times New Roman"/>
              </a:rPr>
              <a:t>to </a:t>
            </a:r>
            <a:r>
              <a:rPr sz="2400" spc="-5">
                <a:latin typeface="Times New Roman"/>
                <a:cs typeface="Times New Roman"/>
              </a:rPr>
              <a:t>initiate, maintain </a:t>
            </a:r>
            <a:r>
              <a:rPr sz="2400">
                <a:latin typeface="Times New Roman"/>
                <a:cs typeface="Times New Roman"/>
              </a:rPr>
              <a:t>or </a:t>
            </a:r>
            <a:r>
              <a:rPr sz="2400" spc="-10">
                <a:latin typeface="Times New Roman"/>
                <a:cs typeface="Times New Roman"/>
              </a:rPr>
              <a:t>organize </a:t>
            </a:r>
            <a:r>
              <a:rPr sz="2400">
                <a:latin typeface="Times New Roman"/>
                <a:cs typeface="Times New Roman"/>
              </a:rPr>
              <a:t>a profit </a:t>
            </a:r>
            <a:r>
              <a:rPr sz="2400" spc="-5">
                <a:latin typeface="Times New Roman"/>
                <a:cs typeface="Times New Roman"/>
              </a:rPr>
              <a:t>oriented  </a:t>
            </a:r>
            <a:r>
              <a:rPr sz="2400">
                <a:latin typeface="Times New Roman"/>
                <a:cs typeface="Times New Roman"/>
              </a:rPr>
              <a:t>business </a:t>
            </a:r>
            <a:r>
              <a:rPr sz="2400" spc="-10">
                <a:latin typeface="Times New Roman"/>
                <a:cs typeface="Times New Roman"/>
              </a:rPr>
              <a:t>unit </a:t>
            </a:r>
            <a:r>
              <a:rPr sz="2400" spc="-5">
                <a:latin typeface="Times New Roman"/>
                <a:cs typeface="Times New Roman"/>
              </a:rPr>
              <a:t>for the production </a:t>
            </a:r>
            <a:r>
              <a:rPr sz="2400" spc="-10">
                <a:latin typeface="Times New Roman"/>
                <a:cs typeface="Times New Roman"/>
              </a:rPr>
              <a:t>or </a:t>
            </a:r>
            <a:r>
              <a:rPr sz="2400" spc="-5">
                <a:latin typeface="Times New Roman"/>
                <a:cs typeface="Times New Roman"/>
              </a:rPr>
              <a:t>distribution of economic  goods and</a:t>
            </a:r>
            <a:r>
              <a:rPr sz="2400">
                <a:latin typeface="Times New Roman"/>
                <a:cs typeface="Times New Roman"/>
              </a:rPr>
              <a:t> services”.</a:t>
            </a:r>
          </a:p>
        </p:txBody>
      </p:sp>
      <p:sp>
        <p:nvSpPr>
          <p:cNvPr id="12" name="Date Placeholder 3"/>
          <p:cNvSpPr>
            <a:spLocks noGrp="1"/>
          </p:cNvSpPr>
          <p:nvPr>
            <p:ph type="dt" sz="half" idx="10"/>
          </p:nvPr>
        </p:nvSpPr>
        <p:spPr>
          <a:xfrm>
            <a:off x="457200" y="6356352"/>
            <a:ext cx="2133600" cy="365125"/>
          </a:xfrm>
        </p:spPr>
        <p:txBody>
          <a:bodyPr/>
          <a:lstStyle/>
          <a:p>
            <a:fld id="{38358EC0-9F58-4BF5-8F36-571ABEB0D1E3}" type="datetime1">
              <a:rPr lang="en-US" smtClean="0"/>
              <a:pPr/>
              <a:t>12-Aug-25</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33</a:t>
            </a:fld>
            <a:endParaRPr lang="en-US"/>
          </a:p>
        </p:txBody>
      </p:sp>
      <p:sp>
        <p:nvSpPr>
          <p:cNvPr id="13" name="Title 1"/>
          <p:cNvSpPr txBox="1">
            <a:spLocks/>
          </p:cNvSpPr>
          <p:nvPr/>
        </p:nvSpPr>
        <p:spPr>
          <a:xfrm>
            <a:off x="1847995" y="160023"/>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00000"/>
              </a:lnSpc>
            </a:pPr>
            <a:r>
              <a:rPr lang="en-IN" sz="3600" b="1">
                <a:latin typeface="Times New Roman"/>
                <a:cs typeface="Times New Roman"/>
              </a:rPr>
              <a:t>DEFINITION</a:t>
            </a:r>
            <a:endParaRPr lang="en-IN" sz="3600" b="1">
              <a:solidFill>
                <a:schemeClr val="tx1"/>
              </a:solidFill>
              <a:latin typeface="Times New Roman"/>
              <a:cs typeface="Times New Roman"/>
            </a:endParaRPr>
          </a:p>
        </p:txBody>
      </p:sp>
      <p:sp>
        <p:nvSpPr>
          <p:cNvPr id="15"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6" name="Rectangle 15">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1393406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graphicFrame>
        <p:nvGraphicFramePr>
          <p:cNvPr id="7" name="Espace réservé du contenu 3"/>
          <p:cNvGraphicFramePr>
            <a:graphicFrameLocks/>
          </p:cNvGraphicFramePr>
          <p:nvPr>
            <p:extLst>
              <p:ext uri="{D42A27DB-BD31-4B8C-83A1-F6EECF244321}">
                <p14:modId xmlns:p14="http://schemas.microsoft.com/office/powerpoint/2010/main" val="1029217674"/>
              </p:ext>
            </p:extLst>
          </p:nvPr>
        </p:nvGraphicFramePr>
        <p:xfrm>
          <a:off x="191344" y="1412776"/>
          <a:ext cx="8952656" cy="4464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itle 1"/>
          <p:cNvSpPr txBox="1">
            <a:spLocks/>
          </p:cNvSpPr>
          <p:nvPr/>
        </p:nvSpPr>
        <p:spPr>
          <a:xfrm>
            <a:off x="1699477" y="33806"/>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00000"/>
              </a:lnSpc>
            </a:pPr>
            <a:r>
              <a:rPr lang="en-IN" sz="3600" b="1" spc="-5">
                <a:solidFill>
                  <a:schemeClr val="tx1"/>
                </a:solidFill>
                <a:latin typeface="Times New Roman"/>
                <a:cs typeface="Times New Roman"/>
              </a:rPr>
              <a:t>ENTREPRENEURSHIP</a:t>
            </a:r>
            <a:endParaRPr lang="en-IN" sz="3600">
              <a:solidFill>
                <a:schemeClr val="tx1"/>
              </a:solidFill>
              <a:latin typeface="Times New Roman"/>
              <a:cs typeface="Times New Roman"/>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pic>
        <p:nvPicPr>
          <p:cNvPr id="7" name="Picture 2" descr="C:\Users\Administrator\Desktop\001.jpg"/>
          <p:cNvPicPr>
            <a:picLocks noGrp="1" noChangeAspect="1" noChangeArrowheads="1"/>
          </p:cNvPicPr>
          <p:nvPr>
            <p:ph idx="1"/>
          </p:nvPr>
        </p:nvPicPr>
        <p:blipFill>
          <a:blip r:embed="rId2"/>
          <a:srcRect/>
          <a:stretch>
            <a:fillRect/>
          </a:stretch>
        </p:blipFill>
        <p:spPr bwMode="auto">
          <a:xfrm>
            <a:off x="611574" y="836712"/>
            <a:ext cx="8286808" cy="5010771"/>
          </a:xfrm>
          <a:prstGeom prst="rect">
            <a:avLst/>
          </a:prstGeom>
          <a:ln>
            <a:noFill/>
          </a:ln>
          <a:effectLst>
            <a:softEdge rad="112500"/>
          </a:effectLst>
        </p:spPr>
      </p:pic>
      <p:sp>
        <p:nvSpPr>
          <p:cNvPr id="10" name="Title 1"/>
          <p:cNvSpPr txBox="1">
            <a:spLocks/>
          </p:cNvSpPr>
          <p:nvPr/>
        </p:nvSpPr>
        <p:spPr>
          <a:xfrm>
            <a:off x="1763688" y="92893"/>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t>Importance of Entrepreneurship</a:t>
            </a: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85860"/>
            <a:ext cx="8229600" cy="4840305"/>
          </a:xfrm>
        </p:spPr>
        <p:txBody>
          <a:bodyPr>
            <a:normAutofit fontScale="70000" lnSpcReduction="20000"/>
          </a:bodyPr>
          <a:lstStyle/>
          <a:p>
            <a:pPr marL="0" indent="0" algn="just">
              <a:buNone/>
            </a:pPr>
            <a:r>
              <a:rPr lang="en-GB" sz="3400">
                <a:latin typeface="Times New Roman" panose="02020603050405020304" pitchFamily="18" charset="0"/>
                <a:cs typeface="Times New Roman" panose="02020603050405020304" pitchFamily="18" charset="0"/>
              </a:rPr>
              <a:t>In the modern day markets, the term entrepreneur has been closely linked with economic development. </a:t>
            </a:r>
          </a:p>
          <a:p>
            <a:pPr marL="0" indent="0" algn="just">
              <a:buNone/>
            </a:pPr>
            <a:r>
              <a:rPr lang="en-GB" sz="3400">
                <a:latin typeface="Times New Roman" panose="02020603050405020304" pitchFamily="18" charset="0"/>
                <a:cs typeface="Times New Roman" panose="02020603050405020304" pitchFamily="18" charset="0"/>
              </a:rPr>
              <a:t>An economic development can emerge due to several reasons, which includes:</a:t>
            </a:r>
          </a:p>
          <a:p>
            <a:pPr marL="0" indent="0" algn="just">
              <a:buNone/>
            </a:pPr>
            <a:r>
              <a:rPr lang="en-GB" sz="3400">
                <a:latin typeface="Times New Roman" panose="02020603050405020304" pitchFamily="18" charset="0"/>
                <a:cs typeface="Times New Roman" panose="02020603050405020304" pitchFamily="18" charset="0"/>
              </a:rPr>
              <a:t>(a) the launch of new source of procurement for raw materials or materials</a:t>
            </a:r>
          </a:p>
          <a:p>
            <a:pPr marL="0" indent="0" algn="just">
              <a:buNone/>
            </a:pPr>
            <a:r>
              <a:rPr lang="en-GB" sz="3400">
                <a:latin typeface="Times New Roman" panose="02020603050405020304" pitchFamily="18" charset="0"/>
                <a:cs typeface="Times New Roman" panose="02020603050405020304" pitchFamily="18" charset="0"/>
              </a:rPr>
              <a:t>(b) the introduction of a new production mechanism</a:t>
            </a:r>
          </a:p>
          <a:p>
            <a:pPr marL="0" indent="0" algn="just">
              <a:buNone/>
            </a:pPr>
            <a:r>
              <a:rPr lang="en-GB" sz="3400">
                <a:latin typeface="Times New Roman" panose="02020603050405020304" pitchFamily="18" charset="0"/>
                <a:cs typeface="Times New Roman" panose="02020603050405020304" pitchFamily="18" charset="0"/>
              </a:rPr>
              <a:t>(c) the introduction of a new quality of product, or a novel product</a:t>
            </a:r>
          </a:p>
          <a:p>
            <a:pPr marL="0" indent="0" algn="just">
              <a:buNone/>
            </a:pPr>
            <a:r>
              <a:rPr lang="en-GB" sz="3400">
                <a:latin typeface="Times New Roman" panose="02020603050405020304" pitchFamily="18" charset="0"/>
                <a:cs typeface="Times New Roman" panose="02020603050405020304" pitchFamily="18" charset="0"/>
              </a:rPr>
              <a:t>(d) the opening of new market</a:t>
            </a:r>
          </a:p>
          <a:p>
            <a:pPr marL="0" indent="0" algn="just">
              <a:buNone/>
            </a:pPr>
            <a:r>
              <a:rPr lang="en-GB" sz="3400">
                <a:latin typeface="Times New Roman" panose="02020603050405020304" pitchFamily="18" charset="0"/>
                <a:cs typeface="Times New Roman" panose="02020603050405020304" pitchFamily="18" charset="0"/>
              </a:rPr>
              <a:t>(e) the re-organisation of a business.</a:t>
            </a:r>
          </a:p>
          <a:p>
            <a:pPr marL="0" indent="0" algn="just">
              <a:buNone/>
            </a:pPr>
            <a:r>
              <a:rPr lang="en-GB" sz="3400">
                <a:latin typeface="Times New Roman" panose="02020603050405020304" pitchFamily="18" charset="0"/>
                <a:cs typeface="Times New Roman" panose="02020603050405020304" pitchFamily="18" charset="0"/>
              </a:rPr>
              <a:t> The management of all these aspects are carried by an enterprise, and the people whose functions are to carry out these activities are called entrepreneurs (Bull  &amp; Willard, 1993)</a:t>
            </a:r>
          </a:p>
          <a:p>
            <a:endParaRPr lang="en-US"/>
          </a:p>
        </p:txBody>
      </p:sp>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9" name="Title 1"/>
          <p:cNvSpPr txBox="1">
            <a:spLocks/>
          </p:cNvSpPr>
          <p:nvPr/>
        </p:nvSpPr>
        <p:spPr>
          <a:xfrm>
            <a:off x="1547664" y="0"/>
            <a:ext cx="7596336" cy="105567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t>Role of Entrepreneurship in Economic Development</a:t>
            </a: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1"/>
            <a:ext cx="8229600" cy="6863417"/>
          </a:xfrm>
          <a:prstGeom prst="rect">
            <a:avLst/>
          </a:prstGeom>
        </p:spPr>
        <p:txBody>
          <a:bodyPr wrap="square">
            <a:spAutoFit/>
          </a:bodyPr>
          <a:lstStyle/>
          <a:p>
            <a:endParaRPr lang="en-US" sz="2200"/>
          </a:p>
          <a:p>
            <a:pPr marL="342900" indent="-342900">
              <a:buFont typeface="Arial"/>
              <a:buChar char="•"/>
            </a:pPr>
            <a:r>
              <a:rPr lang="en-US" sz="2400">
                <a:latin typeface="Times New Roman" panose="02020603050405020304" pitchFamily="18" charset="0"/>
                <a:cs typeface="Times New Roman" panose="02020603050405020304" pitchFamily="18" charset="0"/>
              </a:rPr>
              <a:t>Rate of economic progress of the country depends upon the rate of innovations which in-turn depend upon the distribution of entrepreneurial talent of the population.</a:t>
            </a:r>
          </a:p>
          <a:p>
            <a:pPr marL="342900" indent="-342900">
              <a:buFont typeface="Arial"/>
              <a:buChar char="•"/>
            </a:pPr>
            <a:r>
              <a:rPr lang="en-US" sz="2400">
                <a:latin typeface="Times New Roman" panose="02020603050405020304" pitchFamily="18" charset="0"/>
                <a:cs typeface="Times New Roman" panose="02020603050405020304" pitchFamily="18" charset="0"/>
              </a:rPr>
              <a:t>Entrepreneur initiate and sustain the process of economic development in the following ways:</a:t>
            </a:r>
          </a:p>
          <a:p>
            <a:endParaRPr lang="en-US" sz="240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a:latin typeface="Times New Roman" panose="02020603050405020304" pitchFamily="18" charset="0"/>
                <a:cs typeface="Times New Roman" panose="02020603050405020304" pitchFamily="18" charset="0"/>
              </a:rPr>
              <a:t>Capital formation</a:t>
            </a:r>
          </a:p>
          <a:p>
            <a:pPr marL="457200" indent="-457200">
              <a:buFont typeface="+mj-lt"/>
              <a:buAutoNum type="arabicPeriod"/>
            </a:pPr>
            <a:r>
              <a:rPr lang="en-US" sz="2400">
                <a:latin typeface="Times New Roman" panose="02020603050405020304" pitchFamily="18" charset="0"/>
                <a:cs typeface="Times New Roman" panose="02020603050405020304" pitchFamily="18" charset="0"/>
              </a:rPr>
              <a:t>Improvement in per capita income</a:t>
            </a:r>
          </a:p>
          <a:p>
            <a:pPr marL="457200" indent="-457200">
              <a:buFont typeface="+mj-lt"/>
              <a:buAutoNum type="arabicPeriod"/>
            </a:pPr>
            <a:r>
              <a:rPr lang="en-US" sz="2400">
                <a:latin typeface="Times New Roman" panose="02020603050405020304" pitchFamily="18" charset="0"/>
                <a:cs typeface="Times New Roman" panose="02020603050405020304" pitchFamily="18" charset="0"/>
              </a:rPr>
              <a:t>Generation of employment</a:t>
            </a:r>
          </a:p>
          <a:p>
            <a:pPr marL="457200" indent="-457200">
              <a:buFont typeface="+mj-lt"/>
              <a:buAutoNum type="arabicPeriod"/>
            </a:pPr>
            <a:r>
              <a:rPr lang="en-US" sz="2400">
                <a:latin typeface="Times New Roman" panose="02020603050405020304" pitchFamily="18" charset="0"/>
                <a:cs typeface="Times New Roman" panose="02020603050405020304" pitchFamily="18" charset="0"/>
              </a:rPr>
              <a:t>Balanced regional development</a:t>
            </a:r>
          </a:p>
          <a:p>
            <a:pPr marL="457200" indent="-457200">
              <a:buFont typeface="+mj-lt"/>
              <a:buAutoNum type="arabicPeriod"/>
            </a:pPr>
            <a:r>
              <a:rPr lang="en-US" sz="2400">
                <a:latin typeface="Times New Roman" panose="02020603050405020304" pitchFamily="18" charset="0"/>
                <a:cs typeface="Times New Roman" panose="02020603050405020304" pitchFamily="18" charset="0"/>
              </a:rPr>
              <a:t>Improvement in living standards</a:t>
            </a:r>
          </a:p>
          <a:p>
            <a:pPr marL="457200" indent="-457200">
              <a:buFont typeface="+mj-lt"/>
              <a:buAutoNum type="arabicPeriod"/>
            </a:pPr>
            <a:endParaRPr lang="en-US" sz="2200"/>
          </a:p>
          <a:p>
            <a:endParaRPr lang="en-US" sz="2200"/>
          </a:p>
          <a:p>
            <a:endParaRPr lang="en-US" sz="2200"/>
          </a:p>
          <a:p>
            <a:pPr algn="ctr"/>
            <a:endParaRPr lang="en-US" sz="2200"/>
          </a:p>
          <a:p>
            <a:pPr algn="ctr"/>
            <a:endParaRPr lang="en-US" sz="2200"/>
          </a:p>
          <a:p>
            <a:pPr algn="ctr"/>
            <a:endParaRPr lang="en-US" sz="2200"/>
          </a:p>
          <a:p>
            <a:pPr algn="ctr"/>
            <a:endParaRPr lang="en-US" sz="2200"/>
          </a:p>
        </p:txBody>
      </p:sp>
      <p:sp>
        <p:nvSpPr>
          <p:cNvPr id="3" name="Date Placeholder 2"/>
          <p:cNvSpPr>
            <a:spLocks noGrp="1"/>
          </p:cNvSpPr>
          <p:nvPr>
            <p:ph type="dt" sz="half" idx="10"/>
          </p:nvPr>
        </p:nvSpPr>
        <p:spPr/>
        <p:txBody>
          <a:bodyPr/>
          <a:lstStyle/>
          <a:p>
            <a:fld id="{60B79E70-EF6E-4206-BA69-C946BAE66860}"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37</a:t>
            </a:fld>
            <a:endParaRPr lang="en-IN"/>
          </a:p>
        </p:txBody>
      </p:sp>
      <p:sp>
        <p:nvSpPr>
          <p:cNvPr id="8" name="Title 1"/>
          <p:cNvSpPr txBox="1">
            <a:spLocks/>
          </p:cNvSpPr>
          <p:nvPr/>
        </p:nvSpPr>
        <p:spPr>
          <a:xfrm>
            <a:off x="1691679" y="24274"/>
            <a:ext cx="7452321" cy="88444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Role of entrepreneurship in Economic Development</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868813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3775" y="1831368"/>
            <a:ext cx="8229600" cy="4431983"/>
          </a:xfrm>
          <a:prstGeom prst="rect">
            <a:avLst/>
          </a:prstGeom>
        </p:spPr>
        <p:txBody>
          <a:bodyPr wrap="square">
            <a:spAutoFit/>
          </a:bodyPr>
          <a:lstStyle/>
          <a:p>
            <a:r>
              <a:rPr lang="en-US" sz="2200"/>
              <a:t>5. </a:t>
            </a:r>
            <a:r>
              <a:rPr lang="en-US" sz="2400">
                <a:latin typeface="Times New Roman" panose="02020603050405020304" pitchFamily="18" charset="0"/>
                <a:cs typeface="Times New Roman" panose="02020603050405020304" pitchFamily="18" charset="0"/>
              </a:rPr>
              <a:t>Economic independence</a:t>
            </a:r>
          </a:p>
          <a:p>
            <a:r>
              <a:rPr lang="en-US" sz="2400">
                <a:latin typeface="Times New Roman" panose="02020603050405020304" pitchFamily="18" charset="0"/>
                <a:cs typeface="Times New Roman" panose="02020603050405020304" pitchFamily="18" charset="0"/>
              </a:rPr>
              <a:t>6. Backward and forward linkages</a:t>
            </a:r>
          </a:p>
          <a:p>
            <a:r>
              <a:rPr lang="en-US" sz="2400">
                <a:latin typeface="Times New Roman" panose="02020603050405020304" pitchFamily="18" charset="0"/>
                <a:cs typeface="Times New Roman" panose="02020603050405020304" pitchFamily="18" charset="0"/>
              </a:rPr>
              <a:t>7. Harnessing the locally available resources</a:t>
            </a:r>
          </a:p>
          <a:p>
            <a:r>
              <a:rPr lang="en-US" sz="2400">
                <a:latin typeface="Times New Roman" panose="02020603050405020304" pitchFamily="18" charset="0"/>
                <a:cs typeface="Times New Roman" panose="02020603050405020304" pitchFamily="18" charset="0"/>
              </a:rPr>
              <a:t>8. Balanced regional growth.</a:t>
            </a:r>
          </a:p>
          <a:p>
            <a:r>
              <a:rPr lang="en-US" sz="2400">
                <a:latin typeface="Times New Roman" panose="02020603050405020304" pitchFamily="18" charset="0"/>
                <a:cs typeface="Times New Roman" panose="02020603050405020304" pitchFamily="18" charset="0"/>
              </a:rPr>
              <a:t>9. Reducing unrest and social tension among youth</a:t>
            </a:r>
          </a:p>
          <a:p>
            <a:r>
              <a:rPr lang="en-US" sz="2400">
                <a:latin typeface="Times New Roman" panose="02020603050405020304" pitchFamily="18" charset="0"/>
                <a:cs typeface="Times New Roman" panose="02020603050405020304" pitchFamily="18" charset="0"/>
              </a:rPr>
              <a:t>10. Bring innovations in enterprises</a:t>
            </a:r>
          </a:p>
          <a:p>
            <a:endParaRPr lang="en-US" sz="2400">
              <a:latin typeface="Times New Roman" panose="02020603050405020304" pitchFamily="18" charset="0"/>
              <a:cs typeface="Times New Roman" panose="02020603050405020304" pitchFamily="18" charset="0"/>
            </a:endParaRPr>
          </a:p>
          <a:p>
            <a:pPr algn="ctr"/>
            <a:endParaRPr lang="en-US" sz="2400">
              <a:latin typeface="Times New Roman" panose="02020603050405020304" pitchFamily="18" charset="0"/>
              <a:cs typeface="Times New Roman" panose="02020603050405020304" pitchFamily="18" charset="0"/>
            </a:endParaRPr>
          </a:p>
          <a:p>
            <a:pPr algn="ctr"/>
            <a:endParaRPr lang="en-US" sz="2400">
              <a:latin typeface="Times New Roman" panose="02020603050405020304" pitchFamily="18" charset="0"/>
              <a:cs typeface="Times New Roman" panose="02020603050405020304" pitchFamily="18" charset="0"/>
            </a:endParaRPr>
          </a:p>
          <a:p>
            <a:pPr algn="ctr"/>
            <a:endParaRPr lang="en-US" sz="2200"/>
          </a:p>
          <a:p>
            <a:pPr algn="ctr"/>
            <a:endParaRPr lang="en-US" sz="2200"/>
          </a:p>
          <a:p>
            <a:pPr algn="ctr"/>
            <a:endParaRPr lang="en-US" sz="2200"/>
          </a:p>
        </p:txBody>
      </p:sp>
      <p:sp>
        <p:nvSpPr>
          <p:cNvPr id="3" name="Date Placeholder 2"/>
          <p:cNvSpPr>
            <a:spLocks noGrp="1"/>
          </p:cNvSpPr>
          <p:nvPr>
            <p:ph type="dt" sz="half" idx="10"/>
          </p:nvPr>
        </p:nvSpPr>
        <p:spPr/>
        <p:txBody>
          <a:bodyPr/>
          <a:lstStyle/>
          <a:p>
            <a:fld id="{FDBD1B72-9701-465B-B06A-370AAE148DC2}"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38</a:t>
            </a:fld>
            <a:endParaRPr lang="en-IN"/>
          </a:p>
        </p:txBody>
      </p:sp>
      <p:sp>
        <p:nvSpPr>
          <p:cNvPr id="8" name="Title 1"/>
          <p:cNvSpPr txBox="1">
            <a:spLocks/>
          </p:cNvSpPr>
          <p:nvPr/>
        </p:nvSpPr>
        <p:spPr>
          <a:xfrm>
            <a:off x="1533885" y="4719"/>
            <a:ext cx="7430603" cy="112002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a:latin typeface="Times New Roman" panose="02020603050405020304" pitchFamily="18" charset="0"/>
                <a:cs typeface="Times New Roman" panose="02020603050405020304" pitchFamily="18" charset="0"/>
              </a:rPr>
              <a:t>Role of entrepreneurship in Economic Development</a:t>
            </a:r>
            <a:endParaRPr kumimoji="0" lang="en-US" sz="3600" b="0"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8688130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a:p>
        </p:txBody>
      </p:sp>
      <p:sp>
        <p:nvSpPr>
          <p:cNvPr id="3" name="Date Placeholder 2"/>
          <p:cNvSpPr>
            <a:spLocks noGrp="1"/>
          </p:cNvSpPr>
          <p:nvPr>
            <p:ph type="dt" sz="half" idx="10"/>
          </p:nvPr>
        </p:nvSpPr>
        <p:spPr/>
        <p:txBody>
          <a:bodyPr/>
          <a:lstStyle/>
          <a:p>
            <a:fld id="{118F3D91-B405-41EC-8C11-5D1FECBE3EED}"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39</a:t>
            </a:fld>
            <a:endParaRPr lang="en-IN"/>
          </a:p>
        </p:txBody>
      </p:sp>
      <p:sp>
        <p:nvSpPr>
          <p:cNvPr id="7" name="Rectangle 6"/>
          <p:cNvSpPr/>
          <p:nvPr/>
        </p:nvSpPr>
        <p:spPr>
          <a:xfrm>
            <a:off x="381000" y="838200"/>
            <a:ext cx="8458200" cy="4278094"/>
          </a:xfrm>
          <a:prstGeom prst="rect">
            <a:avLst/>
          </a:prstGeom>
        </p:spPr>
        <p:txBody>
          <a:bodyPr wrap="square">
            <a:spAutoFit/>
          </a:bodyPr>
          <a:lstStyle/>
          <a:p>
            <a:r>
              <a:rPr lang="en-US" sz="3200">
                <a:solidFill>
                  <a:srgbClr val="333333"/>
                </a:solidFill>
                <a:latin typeface="Tahoma" panose="020B0604030504040204" pitchFamily="34" charset="0"/>
              </a:rPr>
              <a:t>	</a:t>
            </a:r>
            <a:r>
              <a:rPr lang="en-US" sz="2000">
                <a:solidFill>
                  <a:srgbClr val="333333"/>
                </a:solidFill>
                <a:latin typeface="Tahoma" panose="020B0604030504040204" pitchFamily="34" charset="0"/>
              </a:rPr>
              <a:t>		</a:t>
            </a:r>
            <a:endParaRPr lang="en-US" sz="2000">
              <a:latin typeface="Tahoma" panose="020B0604030504040204" pitchFamily="34" charset="0"/>
            </a:endParaRPr>
          </a:p>
          <a:p>
            <a:pPr marL="285750" indent="-285750">
              <a:buFont typeface="Arial"/>
              <a:buChar char="•"/>
            </a:pPr>
            <a:r>
              <a:rPr lang="en-US" sz="2400">
                <a:latin typeface="Times New Roman" panose="02020603050405020304" pitchFamily="18" charset="0"/>
                <a:cs typeface="Times New Roman" panose="02020603050405020304" pitchFamily="18" charset="0"/>
              </a:rPr>
              <a:t>Vision</a:t>
            </a:r>
          </a:p>
          <a:p>
            <a:pPr marL="285750" indent="-285750">
              <a:buFont typeface="Arial"/>
              <a:buChar char="•"/>
            </a:pPr>
            <a:r>
              <a:rPr lang="en-US" sz="2400">
                <a:latin typeface="Times New Roman" panose="02020603050405020304" pitchFamily="18" charset="0"/>
                <a:cs typeface="Times New Roman" panose="02020603050405020304" pitchFamily="18" charset="0"/>
              </a:rPr>
              <a:t>Motivation </a:t>
            </a:r>
          </a:p>
          <a:p>
            <a:pPr marL="285750" indent="-285750">
              <a:buFont typeface="Arial"/>
              <a:buChar char="•"/>
            </a:pPr>
            <a:r>
              <a:rPr lang="en-US" sz="2400">
                <a:latin typeface="Times New Roman" panose="02020603050405020304" pitchFamily="18" charset="0"/>
                <a:cs typeface="Times New Roman" panose="02020603050405020304" pitchFamily="18" charset="0"/>
              </a:rPr>
              <a:t>Risk Bearer</a:t>
            </a:r>
          </a:p>
          <a:p>
            <a:pPr marL="285750" indent="-285750">
              <a:buFont typeface="Arial"/>
              <a:buChar char="•"/>
            </a:pPr>
            <a:r>
              <a:rPr lang="en-US" sz="2400">
                <a:latin typeface="Times New Roman" panose="02020603050405020304" pitchFamily="18" charset="0"/>
                <a:cs typeface="Times New Roman" panose="02020603050405020304" pitchFamily="18" charset="0"/>
              </a:rPr>
              <a:t>Leader</a:t>
            </a:r>
          </a:p>
          <a:p>
            <a:pPr marL="285750" indent="-285750">
              <a:buFont typeface="Arial"/>
              <a:buChar char="•"/>
            </a:pPr>
            <a:r>
              <a:rPr lang="en-US" sz="2400">
                <a:latin typeface="Times New Roman" panose="02020603050405020304" pitchFamily="18" charset="0"/>
                <a:cs typeface="Times New Roman" panose="02020603050405020304" pitchFamily="18" charset="0"/>
              </a:rPr>
              <a:t>Goal Oriented</a:t>
            </a:r>
          </a:p>
          <a:p>
            <a:pPr marL="285750" indent="-285750">
              <a:buFont typeface="Arial"/>
              <a:buChar char="•"/>
            </a:pPr>
            <a:r>
              <a:rPr lang="en-US" sz="2400">
                <a:latin typeface="Times New Roman" panose="02020603050405020304" pitchFamily="18" charset="0"/>
                <a:cs typeface="Times New Roman" panose="02020603050405020304" pitchFamily="18" charset="0"/>
              </a:rPr>
              <a:t>Hardworking</a:t>
            </a:r>
          </a:p>
          <a:p>
            <a:pPr marL="285750" indent="-285750">
              <a:buFont typeface="Arial"/>
              <a:buChar char="•"/>
            </a:pPr>
            <a:r>
              <a:rPr lang="en-US" sz="2400">
                <a:latin typeface="Times New Roman" panose="02020603050405020304" pitchFamily="18" charset="0"/>
                <a:cs typeface="Times New Roman" panose="02020603050405020304" pitchFamily="18" charset="0"/>
              </a:rPr>
              <a:t>Willing To Take Initiative</a:t>
            </a:r>
          </a:p>
          <a:p>
            <a:pPr marL="285750" indent="-285750">
              <a:buFont typeface="Arial"/>
              <a:buChar char="•"/>
            </a:pPr>
            <a:r>
              <a:rPr lang="en-US" sz="2400">
                <a:latin typeface="Times New Roman" panose="02020603050405020304" pitchFamily="18" charset="0"/>
                <a:cs typeface="Times New Roman" panose="02020603050405020304" pitchFamily="18" charset="0"/>
              </a:rPr>
              <a:t>Strong Sense Of Commitment</a:t>
            </a:r>
          </a:p>
          <a:p>
            <a:pPr>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a:solidFill>
                <a:srgbClr val="333333"/>
              </a:solidFill>
              <a:latin typeface="Times New Roman" panose="02020603050405020304" pitchFamily="18" charset="0"/>
              <a:cs typeface="Times New Roman" panose="02020603050405020304" pitchFamily="18" charset="0"/>
            </a:endParaRPr>
          </a:p>
        </p:txBody>
      </p:sp>
      <p:sp>
        <p:nvSpPr>
          <p:cNvPr id="9" name="Title 1"/>
          <p:cNvSpPr txBox="1">
            <a:spLocks/>
          </p:cNvSpPr>
          <p:nvPr/>
        </p:nvSpPr>
        <p:spPr>
          <a:xfrm>
            <a:off x="1559618" y="44451"/>
            <a:ext cx="755321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Entrepreneurial Traits</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5634199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a:p>
        </p:txBody>
      </p:sp>
      <p:sp>
        <p:nvSpPr>
          <p:cNvPr id="3" name="Date Placeholder 2"/>
          <p:cNvSpPr>
            <a:spLocks noGrp="1"/>
          </p:cNvSpPr>
          <p:nvPr>
            <p:ph type="dt" sz="half" idx="10"/>
          </p:nvPr>
        </p:nvSpPr>
        <p:spPr/>
        <p:txBody>
          <a:bodyPr/>
          <a:lstStyle/>
          <a:p>
            <a:fld id="{9FAD6A1F-5D54-4D3E-BDF5-8EA99B009283}"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40</a:t>
            </a:fld>
            <a:endParaRPr lang="en-IN"/>
          </a:p>
        </p:txBody>
      </p:sp>
      <p:sp>
        <p:nvSpPr>
          <p:cNvPr id="9" name="Title 1"/>
          <p:cNvSpPr txBox="1">
            <a:spLocks/>
          </p:cNvSpPr>
          <p:nvPr/>
        </p:nvSpPr>
        <p:spPr>
          <a:xfrm>
            <a:off x="1499307" y="11088"/>
            <a:ext cx="753718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Recap and Quiz</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TextBox 4"/>
          <p:cNvSpPr txBox="1"/>
          <p:nvPr/>
        </p:nvSpPr>
        <p:spPr>
          <a:xfrm>
            <a:off x="914400" y="1371600"/>
            <a:ext cx="7162800" cy="2925224"/>
          </a:xfrm>
          <a:prstGeom prst="rect">
            <a:avLst/>
          </a:prstGeom>
          <a:noFill/>
        </p:spPr>
        <p:txBody>
          <a:bodyPr wrap="square" rtlCol="0">
            <a:spAutoFit/>
          </a:bodyPr>
          <a:lstStyle/>
          <a:p>
            <a:pPr marL="285750" indent="-285750">
              <a:lnSpc>
                <a:spcPct val="130000"/>
              </a:lnSpc>
              <a:buFont typeface="Arial"/>
              <a:buChar char="•"/>
            </a:pPr>
            <a:r>
              <a:rPr lang="en-US" sz="2400">
                <a:latin typeface="Times New Roman" panose="02020603050405020304" pitchFamily="18" charset="0"/>
                <a:cs typeface="Times New Roman" panose="02020603050405020304" pitchFamily="18" charset="0"/>
              </a:rPr>
              <a:t>Explain the role of an entrepreneur in economic development.</a:t>
            </a:r>
          </a:p>
          <a:p>
            <a:pPr marL="285750" indent="-285750">
              <a:lnSpc>
                <a:spcPct val="130000"/>
              </a:lnSpc>
              <a:buFont typeface="Arial"/>
              <a:buChar char="•"/>
            </a:pPr>
            <a:r>
              <a:rPr lang="en-US" sz="2400">
                <a:latin typeface="Times New Roman" panose="02020603050405020304" pitchFamily="18" charset="0"/>
                <a:cs typeface="Times New Roman" panose="02020603050405020304" pitchFamily="18" charset="0"/>
              </a:rPr>
              <a:t>Define entrepreneurship.</a:t>
            </a:r>
          </a:p>
          <a:p>
            <a:pPr marL="285750" indent="-285750">
              <a:lnSpc>
                <a:spcPct val="130000"/>
              </a:lnSpc>
              <a:buFont typeface="Arial"/>
              <a:buChar char="•"/>
            </a:pPr>
            <a:r>
              <a:rPr lang="en-US" sz="2400">
                <a:latin typeface="Times New Roman" panose="02020603050405020304" pitchFamily="18" charset="0"/>
                <a:cs typeface="Times New Roman" panose="02020603050405020304" pitchFamily="18" charset="0"/>
              </a:rPr>
              <a:t>Who is an entrepreneur?</a:t>
            </a:r>
          </a:p>
          <a:p>
            <a:pPr marL="285750" indent="-285750">
              <a:lnSpc>
                <a:spcPct val="130000"/>
              </a:lnSpc>
              <a:buFont typeface="Arial"/>
              <a:buChar char="•"/>
            </a:pPr>
            <a:r>
              <a:rPr lang="en-US" sz="2400">
                <a:latin typeface="Times New Roman" panose="02020603050405020304" pitchFamily="18" charset="0"/>
                <a:cs typeface="Times New Roman" panose="02020603050405020304" pitchFamily="18" charset="0"/>
              </a:rPr>
              <a:t>Define the qualities of an entrepreneur.</a:t>
            </a:r>
          </a:p>
          <a:p>
            <a:pPr marL="285750" indent="-285750">
              <a:lnSpc>
                <a:spcPct val="130000"/>
              </a:lnSpc>
            </a:pPr>
            <a:endParaRPr lang="en-US" sz="2400">
              <a:latin typeface="Times New Roman" panose="02020603050405020304" pitchFamily="18" charset="0"/>
              <a:cs typeface="Times New Roman" panose="02020603050405020304" pitchFamily="18" charset="0"/>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7528775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a:t>Noida Institute of Engineering and Technology, Greater Noida</a:t>
            </a:r>
          </a:p>
        </p:txBody>
      </p:sp>
      <p:sp>
        <p:nvSpPr>
          <p:cNvPr id="3" name="Subtitle 2"/>
          <p:cNvSpPr>
            <a:spLocks noGrp="1"/>
          </p:cNvSpPr>
          <p:nvPr>
            <p:ph type="subTitle" idx="1"/>
          </p:nvPr>
        </p:nvSpPr>
        <p:spPr>
          <a:xfrm>
            <a:off x="1447800" y="914402"/>
            <a:ext cx="6652592" cy="1218454"/>
          </a:xfrm>
        </p:spPr>
        <p:style>
          <a:lnRef idx="2">
            <a:schemeClr val="accent5"/>
          </a:lnRef>
          <a:fillRef idx="1">
            <a:schemeClr val="lt1"/>
          </a:fillRef>
          <a:effectRef idx="0">
            <a:schemeClr val="accent5"/>
          </a:effectRef>
          <a:fontRef idx="minor">
            <a:schemeClr val="dk1"/>
          </a:fontRef>
        </p:style>
        <p:txBody>
          <a:bodyPr>
            <a:noAutofit/>
          </a:bodyPr>
          <a:lstStyle/>
          <a:p>
            <a:r>
              <a:rPr lang="en-US" sz="3600" b="1">
                <a:solidFill>
                  <a:schemeClr val="tx1"/>
                </a:solidFill>
                <a:latin typeface="Times New Roman" panose="02020603050405020304" pitchFamily="18" charset="0"/>
                <a:cs typeface="Times New Roman" panose="02020603050405020304" pitchFamily="18" charset="0"/>
              </a:rPr>
              <a:t>ROLE OF ENTREPRENEURSHIP</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2351"/>
            <a:ext cx="533400" cy="533400"/>
          </a:xfrm>
          <a:prstGeom prst="rect">
            <a:avLst/>
          </a:prstGeom>
          <a:noFill/>
        </p:spPr>
      </p:pic>
      <p:sp>
        <p:nvSpPr>
          <p:cNvPr id="9" name="Date Placeholder 8"/>
          <p:cNvSpPr>
            <a:spLocks noGrp="1"/>
          </p:cNvSpPr>
          <p:nvPr>
            <p:ph type="dt" sz="half" idx="10"/>
          </p:nvPr>
        </p:nvSpPr>
        <p:spPr>
          <a:xfrm>
            <a:off x="381000" y="6492877"/>
            <a:ext cx="2133600" cy="365125"/>
          </a:xfrm>
        </p:spPr>
        <p:txBody>
          <a:bodyPr/>
          <a:lstStyle/>
          <a:p>
            <a:fld id="{2364C743-9CD9-4FC5-B6EF-03DD141842BA}" type="datetime1">
              <a:rPr lang="en-US" smtClean="0"/>
              <a:pPr/>
              <a:t>12-Aug-25</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41</a:t>
            </a:fld>
            <a:endParaRPr lang="en-US"/>
          </a:p>
        </p:txBody>
      </p:sp>
      <p:sp>
        <p:nvSpPr>
          <p:cNvPr id="14" name="Subtitle 2"/>
          <p:cNvSpPr txBox="1">
            <a:spLocks/>
          </p:cNvSpPr>
          <p:nvPr/>
        </p:nvSpPr>
        <p:spPr>
          <a:xfrm>
            <a:off x="1913756" y="3101977"/>
            <a:ext cx="572068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Subject</a:t>
            </a:r>
            <a:r>
              <a:rPr kumimoji="0" lang="en-US" sz="2400" b="1" i="0" u="none" strike="noStrike" kern="1200" cap="none" spc="0" normalizeH="0" noProof="0">
                <a:ln>
                  <a:noFill/>
                </a:ln>
                <a:solidFill>
                  <a:schemeClr val="tx1"/>
                </a:solidFill>
                <a:effectLst/>
                <a:uLnTx/>
                <a:uFillTx/>
                <a:latin typeface="Times New Roman" panose="02020603050405020304" pitchFamily="18" charset="0"/>
                <a:cs typeface="Times New Roman" panose="02020603050405020304" pitchFamily="18" charset="0"/>
              </a:rPr>
              <a:t> Name</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b="1" noProof="0">
                <a:solidFill>
                  <a:schemeClr val="tx1"/>
                </a:solidFill>
                <a:latin typeface="Times New Roman" panose="02020603050405020304" pitchFamily="18" charset="0"/>
                <a:cs typeface="Times New Roman" panose="02020603050405020304" pitchFamily="18" charset="0"/>
              </a:rPr>
              <a:t>Entrepreneurship Development &amp; IPR</a:t>
            </a:r>
            <a:endParaRPr kumimoji="0" lang="en-US" sz="2400" b="1" i="0" u="none" strike="noStrike" kern="1200" cap="none"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11"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2" name="Rectangle 11">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016948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a:p>
        </p:txBody>
      </p:sp>
      <p:sp>
        <p:nvSpPr>
          <p:cNvPr id="3" name="Date Placeholder 2"/>
          <p:cNvSpPr>
            <a:spLocks noGrp="1"/>
          </p:cNvSpPr>
          <p:nvPr>
            <p:ph type="dt" sz="half" idx="10"/>
          </p:nvPr>
        </p:nvSpPr>
        <p:spPr/>
        <p:txBody>
          <a:bodyPr/>
          <a:lstStyle/>
          <a:p>
            <a:fld id="{85751C19-445D-463C-BD0F-C4FAF60A299A}"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42</a:t>
            </a:fld>
            <a:endParaRPr lang="en-IN"/>
          </a:p>
        </p:txBody>
      </p:sp>
      <p:sp>
        <p:nvSpPr>
          <p:cNvPr id="9" name="Title 1"/>
          <p:cNvSpPr txBox="1">
            <a:spLocks/>
          </p:cNvSpPr>
          <p:nvPr/>
        </p:nvSpPr>
        <p:spPr>
          <a:xfrm>
            <a:off x="1619672" y="32131"/>
            <a:ext cx="741682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noProof="0" err="1">
                <a:latin typeface="Times New Roman" panose="02020603050405020304" pitchFamily="18" charset="0"/>
                <a:cs typeface="Times New Roman" panose="02020603050405020304" pitchFamily="18" charset="0"/>
              </a:rPr>
              <a:t>Precap</a:t>
            </a:r>
            <a:endParaRPr kumimoji="0" lang="en-US" sz="3600" b="0"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TextBox 3"/>
          <p:cNvSpPr txBox="1"/>
          <p:nvPr/>
        </p:nvSpPr>
        <p:spPr>
          <a:xfrm>
            <a:off x="395537" y="1196752"/>
            <a:ext cx="7757152" cy="1754326"/>
          </a:xfrm>
          <a:prstGeom prst="rect">
            <a:avLst/>
          </a:prstGeom>
          <a:noFill/>
        </p:spPr>
        <p:txBody>
          <a:bodyPr wrap="square" rtlCol="0">
            <a:spAutoFit/>
          </a:bodyPr>
          <a:lstStyle/>
          <a:p>
            <a:pPr marL="285750" indent="-285750">
              <a:lnSpc>
                <a:spcPct val="150000"/>
              </a:lnSpc>
              <a:buFont typeface="Arial"/>
              <a:buChar char="•"/>
            </a:pPr>
            <a:r>
              <a:rPr lang="en-US" sz="2400">
                <a:latin typeface="Times New Roman" panose="02020603050405020304" pitchFamily="18" charset="0"/>
                <a:cs typeface="Times New Roman" panose="02020603050405020304" pitchFamily="18" charset="0"/>
              </a:rPr>
              <a:t>Who is an entrepreneur.</a:t>
            </a:r>
          </a:p>
          <a:p>
            <a:pPr marL="285750" indent="-285750">
              <a:lnSpc>
                <a:spcPct val="150000"/>
              </a:lnSpc>
              <a:buFont typeface="Arial"/>
              <a:buChar char="•"/>
            </a:pPr>
            <a:r>
              <a:rPr lang="en-US" sz="2400">
                <a:latin typeface="Times New Roman" panose="02020603050405020304" pitchFamily="18" charset="0"/>
                <a:cs typeface="Times New Roman" panose="02020603050405020304" pitchFamily="18" charset="0"/>
              </a:rPr>
              <a:t>Role of an entrepreneur in economic development</a:t>
            </a:r>
          </a:p>
          <a:p>
            <a:pPr marL="285750" indent="-285750">
              <a:lnSpc>
                <a:spcPct val="150000"/>
              </a:lnSpc>
              <a:buFont typeface="Arial"/>
              <a:buChar char="•"/>
            </a:pPr>
            <a:r>
              <a:rPr lang="en-US" sz="2400">
                <a:latin typeface="Times New Roman" panose="02020603050405020304" pitchFamily="18" charset="0"/>
                <a:cs typeface="Times New Roman" panose="02020603050405020304" pitchFamily="18" charset="0"/>
              </a:rPr>
              <a:t>Qualities of an entrepreneur</a:t>
            </a:r>
            <a:r>
              <a:rPr lang="en-US" sz="2400"/>
              <a:t>.</a:t>
            </a: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6340201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1" y="2286001"/>
            <a:ext cx="7810527" cy="2412968"/>
          </a:xfrm>
          <a:prstGeom prst="rect">
            <a:avLst/>
          </a:prstGeom>
        </p:spPr>
        <p:txBody>
          <a:bodyPr wrap="square">
            <a:spAutoFit/>
          </a:bodyPr>
          <a:lstStyle/>
          <a:p>
            <a:pPr marL="457200" indent="-457200">
              <a:lnSpc>
                <a:spcPct val="130000"/>
              </a:lnSpc>
              <a:buFont typeface="Arial"/>
              <a:buChar char="•"/>
            </a:pPr>
            <a:r>
              <a:rPr lang="en-US" sz="2400">
                <a:latin typeface="Times New Roman" pitchFamily="18" charset="0"/>
                <a:cs typeface="Times New Roman" pitchFamily="18" charset="0"/>
              </a:rPr>
              <a:t>To understand about the various types of entrepreneurs on various bases</a:t>
            </a:r>
          </a:p>
          <a:p>
            <a:pPr marL="457200" indent="-457200">
              <a:lnSpc>
                <a:spcPct val="130000"/>
              </a:lnSpc>
              <a:buFont typeface="Arial"/>
              <a:buChar char="•"/>
            </a:pPr>
            <a:r>
              <a:rPr lang="en-US" sz="2400">
                <a:latin typeface="Times New Roman" pitchFamily="18" charset="0"/>
                <a:cs typeface="Times New Roman" pitchFamily="18" charset="0"/>
              </a:rPr>
              <a:t>To understand the classification of entrepreneurs</a:t>
            </a:r>
          </a:p>
          <a:p>
            <a:pPr marL="457200" indent="-457200">
              <a:lnSpc>
                <a:spcPct val="130000"/>
              </a:lnSpc>
              <a:buFont typeface="Arial"/>
              <a:buChar char="•"/>
            </a:pPr>
            <a:r>
              <a:rPr lang="en-IN" sz="2400">
                <a:solidFill>
                  <a:srgbClr val="000000"/>
                </a:solidFill>
                <a:effectLst/>
                <a:latin typeface="Times New Roman" pitchFamily="18" charset="0"/>
                <a:cs typeface="Times New Roman" pitchFamily="18" charset="0"/>
              </a:rPr>
              <a:t>The Entrepreneurial Decision Process</a:t>
            </a:r>
            <a:endParaRPr lang="en-US" sz="2400">
              <a:latin typeface="Times New Roman" pitchFamily="18" charset="0"/>
              <a:cs typeface="Times New Roman" pitchFamily="18" charset="0"/>
            </a:endParaRPr>
          </a:p>
          <a:p>
            <a:pPr marL="457200" indent="-457200" algn="ctr">
              <a:lnSpc>
                <a:spcPct val="130000"/>
              </a:lnSpc>
              <a:buFont typeface="Arial"/>
              <a:buChar char="•"/>
            </a:pPr>
            <a:endParaRPr lang="en-US" sz="2000"/>
          </a:p>
        </p:txBody>
      </p:sp>
      <p:sp>
        <p:nvSpPr>
          <p:cNvPr id="3" name="Date Placeholder 2"/>
          <p:cNvSpPr>
            <a:spLocks noGrp="1"/>
          </p:cNvSpPr>
          <p:nvPr>
            <p:ph type="dt" sz="half" idx="10"/>
          </p:nvPr>
        </p:nvSpPr>
        <p:spPr/>
        <p:txBody>
          <a:bodyPr/>
          <a:lstStyle/>
          <a:p>
            <a:fld id="{D767D491-257B-44EF-B6C0-1879D37F10A8}"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43</a:t>
            </a:fld>
            <a:endParaRPr lang="en-IN"/>
          </a:p>
        </p:txBody>
      </p:sp>
      <p:sp>
        <p:nvSpPr>
          <p:cNvPr id="9" name="Title 1"/>
          <p:cNvSpPr txBox="1">
            <a:spLocks/>
          </p:cNvSpPr>
          <p:nvPr/>
        </p:nvSpPr>
        <p:spPr>
          <a:xfrm>
            <a:off x="1524000" y="116632"/>
            <a:ext cx="758450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noProof="0">
                <a:latin typeface="Times New Roman" panose="02020603050405020304" pitchFamily="18" charset="0"/>
                <a:cs typeface="Times New Roman" panose="02020603050405020304" pitchFamily="18" charset="0"/>
              </a:rPr>
              <a:t>Session objective (CO1)</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6340201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p:cNvSpPr>
            <a:spLocks noGrp="1"/>
          </p:cNvSpPr>
          <p:nvPr>
            <p:ph type="dt" sz="half" idx="10"/>
          </p:nvPr>
        </p:nvSpPr>
        <p:spPr>
          <a:xfrm>
            <a:off x="457200" y="6356352"/>
            <a:ext cx="2133600" cy="365125"/>
          </a:xfrm>
        </p:spPr>
        <p:txBody>
          <a:bodyPr/>
          <a:lstStyle/>
          <a:p>
            <a:fld id="{7A031DF2-3827-46D2-9CC6-526B54C46BB8}" type="datetime1">
              <a:rPr lang="en-US" smtClean="0"/>
              <a:pPr/>
              <a:t>12-Aug-25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44</a:t>
            </a:fld>
            <a:endParaRPr lang="en-US"/>
          </a:p>
        </p:txBody>
      </p:sp>
      <p:pic>
        <p:nvPicPr>
          <p:cNvPr id="8" name="Picture 7">
            <a:extLst>
              <a:ext uri="{FF2B5EF4-FFF2-40B4-BE49-F238E27FC236}">
                <a16:creationId xmlns:a16="http://schemas.microsoft.com/office/drawing/2014/main" id="{A3749E52-2E1D-4244-88D5-E52BCCF6F0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1" y="1371602"/>
            <a:ext cx="6858000" cy="4190999"/>
          </a:xfrm>
          <a:prstGeom prst="rect">
            <a:avLst/>
          </a:prstGeom>
        </p:spPr>
      </p:pic>
      <p:sp>
        <p:nvSpPr>
          <p:cNvPr id="10" name="Title 1"/>
          <p:cNvSpPr txBox="1">
            <a:spLocks/>
          </p:cNvSpPr>
          <p:nvPr/>
        </p:nvSpPr>
        <p:spPr>
          <a:xfrm>
            <a:off x="1475656" y="16934"/>
            <a:ext cx="7535440" cy="89178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a:solidFill>
                  <a:srgbClr val="000000"/>
                </a:solidFill>
                <a:latin typeface="Times New Roman" panose="02020603050405020304" pitchFamily="18" charset="0"/>
                <a:cs typeface="Times New Roman" panose="02020603050405020304" pitchFamily="18" charset="0"/>
              </a:rPr>
              <a:t>The Entrepreneurial Decision Process</a:t>
            </a:r>
            <a:endParaRPr lang="en-US" sz="3600">
              <a:latin typeface="Times New Roman" panose="02020603050405020304" pitchFamily="18" charset="0"/>
              <a:cs typeface="Times New Roman" panose="02020603050405020304" pitchFamily="18" charset="0"/>
            </a:endParaRPr>
          </a:p>
        </p:txBody>
      </p:sp>
      <p:sp>
        <p:nvSpPr>
          <p:cNvPr id="11"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2" name="Rectangle 11">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7361759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6C60AF7-2A79-4D0F-9759-0A30014FD349}" type="datetime1">
              <a:rPr lang="en-US" smtClean="0"/>
              <a:pPr/>
              <a:t>12-Aug-25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a:p>
        </p:txBody>
      </p:sp>
      <p:sp>
        <p:nvSpPr>
          <p:cNvPr id="6" name="Rectangle 5"/>
          <p:cNvSpPr/>
          <p:nvPr/>
        </p:nvSpPr>
        <p:spPr>
          <a:xfrm>
            <a:off x="785786" y="1142984"/>
            <a:ext cx="7358114" cy="4401205"/>
          </a:xfrm>
          <a:prstGeom prst="rect">
            <a:avLst/>
          </a:prstGeom>
        </p:spPr>
        <p:txBody>
          <a:bodyPr wrap="square">
            <a:spAutoFit/>
          </a:bodyPr>
          <a:lstStyle/>
          <a:p>
            <a:r>
              <a:rPr lang="en-US" sz="2800"/>
              <a:t>Defined by Wickham, the word entrepreneurial is given to describe how the entrepreneur undertakes what they do, a particular style of what entrepreneurs do.</a:t>
            </a:r>
          </a:p>
          <a:p>
            <a:r>
              <a:rPr lang="en-US" sz="2800"/>
              <a:t>In other hand, </a:t>
            </a:r>
            <a:r>
              <a:rPr lang="en-US" sz="2800" err="1"/>
              <a:t>Brownson</a:t>
            </a:r>
            <a:r>
              <a:rPr lang="en-US" sz="2800"/>
              <a:t> (2013) mentions the term culture that is defined as the attributes, values, beliefs, and behavior in which on the individual learns or acquires from one generation to another, and passed through one person and group to another. </a:t>
            </a:r>
          </a:p>
        </p:txBody>
      </p:sp>
      <p:sp>
        <p:nvSpPr>
          <p:cNvPr id="8" name="Title 1"/>
          <p:cNvSpPr txBox="1">
            <a:spLocks/>
          </p:cNvSpPr>
          <p:nvPr/>
        </p:nvSpPr>
        <p:spPr>
          <a:xfrm>
            <a:off x="1691680" y="115794"/>
            <a:ext cx="7151736" cy="64891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a:solidFill>
                  <a:srgbClr val="000000"/>
                </a:solidFill>
              </a:rPr>
              <a:t>The Entrepreneurial culture</a:t>
            </a:r>
            <a:endParaRPr lang="en-US" sz="3600"/>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p:cNvSpPr>
            <a:spLocks noGrp="1"/>
          </p:cNvSpPr>
          <p:nvPr>
            <p:ph type="dt" sz="half" idx="10"/>
          </p:nvPr>
        </p:nvSpPr>
        <p:spPr>
          <a:xfrm>
            <a:off x="457200" y="6356352"/>
            <a:ext cx="2133600" cy="365125"/>
          </a:xfrm>
        </p:spPr>
        <p:txBody>
          <a:bodyPr/>
          <a:lstStyle/>
          <a:p>
            <a:fld id="{FF977039-49BE-421C-BB6F-21C712E9D157}" type="datetime1">
              <a:rPr lang="en-US" smtClean="0"/>
              <a:pPr/>
              <a:t>12-Aug-25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46</a:t>
            </a:fld>
            <a:endParaRPr lang="en-US"/>
          </a:p>
        </p:txBody>
      </p:sp>
      <p:pic>
        <p:nvPicPr>
          <p:cNvPr id="4" name="Picture 3">
            <a:extLst>
              <a:ext uri="{FF2B5EF4-FFF2-40B4-BE49-F238E27FC236}">
                <a16:creationId xmlns:a16="http://schemas.microsoft.com/office/drawing/2014/main" id="{A3B30528-9FD7-40DA-97FA-502DF14D8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060" y="1524000"/>
            <a:ext cx="7255340" cy="3962400"/>
          </a:xfrm>
          <a:prstGeom prst="rect">
            <a:avLst/>
          </a:prstGeom>
        </p:spPr>
      </p:pic>
      <p:sp>
        <p:nvSpPr>
          <p:cNvPr id="11" name="Title 1"/>
          <p:cNvSpPr txBox="1">
            <a:spLocks/>
          </p:cNvSpPr>
          <p:nvPr/>
        </p:nvSpPr>
        <p:spPr>
          <a:xfrm>
            <a:off x="1403648" y="105538"/>
            <a:ext cx="7740352" cy="80318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a:solidFill>
                  <a:srgbClr val="000000"/>
                </a:solidFill>
              </a:rPr>
              <a:t>The Entrepreneurial culture</a:t>
            </a:r>
            <a:endParaRPr lang="en-US" sz="3600"/>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2" name="Rectangle 11">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5293622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6C60AF7-2A79-4D0F-9759-0A30014FD349}" type="datetime1">
              <a:rPr lang="en-US" smtClean="0"/>
              <a:pPr/>
              <a:t>12-Aug-25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47</a:t>
            </a:fld>
            <a:endParaRPr lang="en-US"/>
          </a:p>
        </p:txBody>
      </p:sp>
      <p:sp>
        <p:nvSpPr>
          <p:cNvPr id="6" name="Rectangle 5"/>
          <p:cNvSpPr/>
          <p:nvPr/>
        </p:nvSpPr>
        <p:spPr>
          <a:xfrm>
            <a:off x="107504" y="928670"/>
            <a:ext cx="9036496" cy="4616648"/>
          </a:xfrm>
          <a:prstGeom prst="rect">
            <a:avLst/>
          </a:prstGeom>
        </p:spPr>
        <p:txBody>
          <a:bodyPr wrap="square">
            <a:spAutoFit/>
          </a:bodyPr>
          <a:lstStyle/>
          <a:p>
            <a:pPr algn="just"/>
            <a:r>
              <a:rPr lang="en-US" sz="2100">
                <a:latin typeface="Times New Roman" panose="02020603050405020304" pitchFamily="18" charset="0"/>
                <a:cs typeface="Times New Roman" panose="02020603050405020304" pitchFamily="18" charset="0"/>
              </a:rPr>
              <a:t>Two constituents of the unconscious and invisible level are the attributes and the values.</a:t>
            </a:r>
          </a:p>
          <a:p>
            <a:pPr lvl="1" algn="just">
              <a:buFont typeface="Arial" pitchFamily="34" charset="0"/>
              <a:buChar char="•"/>
            </a:pPr>
            <a:r>
              <a:rPr lang="en-US" sz="2100">
                <a:latin typeface="Times New Roman" panose="02020603050405020304" pitchFamily="18" charset="0"/>
                <a:cs typeface="Times New Roman" panose="02020603050405020304" pitchFamily="18" charset="0"/>
              </a:rPr>
              <a:t>The entrepreneurial attributes are key natural and nurtured indicators that show people who can be turned into an entrepreneur. This set of characteristics have been recognized to be a driver to understand and foster entrepreneurship.</a:t>
            </a:r>
          </a:p>
          <a:p>
            <a:pPr algn="just">
              <a:buFont typeface="Arial" pitchFamily="34" charset="0"/>
              <a:buChar char="•"/>
            </a:pPr>
            <a:r>
              <a:rPr lang="en-US" sz="2100">
                <a:latin typeface="Times New Roman" panose="02020603050405020304" pitchFamily="18" charset="0"/>
                <a:cs typeface="Times New Roman" panose="02020603050405020304" pitchFamily="18" charset="0"/>
              </a:rPr>
              <a:t>the entrepreneur has to be also nurtured with the appropriate training and experience to encourage their entrepreneurial attributes.</a:t>
            </a:r>
          </a:p>
          <a:p>
            <a:pPr lvl="1" algn="just">
              <a:buFont typeface="Arial" pitchFamily="34" charset="0"/>
              <a:buChar char="•"/>
            </a:pPr>
            <a:r>
              <a:rPr lang="en-US" sz="2100">
                <a:latin typeface="Times New Roman" panose="02020603050405020304" pitchFamily="18" charset="0"/>
                <a:cs typeface="Times New Roman" panose="02020603050405020304" pitchFamily="18" charset="0"/>
              </a:rPr>
              <a:t>For entrepreneurs the values not only show what will be the decisions that they will make, but also they show how they will approach a new venture.</a:t>
            </a:r>
          </a:p>
          <a:p>
            <a:pPr algn="just">
              <a:buFont typeface="Arial" pitchFamily="34" charset="0"/>
              <a:buChar char="•"/>
            </a:pPr>
            <a:r>
              <a:rPr lang="en-US" sz="2100">
                <a:latin typeface="Times New Roman" panose="02020603050405020304" pitchFamily="18" charset="0"/>
                <a:cs typeface="Times New Roman" panose="02020603050405020304" pitchFamily="18" charset="0"/>
              </a:rPr>
              <a:t>the values that are associated with entrepreneurship are autonomy, the freedom to act independently, innovativeness, freedom of experimentation, risk taking, ability to take initiatives and competitive aggressiveness.</a:t>
            </a:r>
          </a:p>
          <a:p>
            <a:pPr algn="just">
              <a:buFont typeface="Arial" pitchFamily="34" charset="0"/>
              <a:buChar char="•"/>
            </a:pPr>
            <a:endParaRPr lang="en-US" sz="2100"/>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8" name="Title 1"/>
          <p:cNvSpPr txBox="1">
            <a:spLocks/>
          </p:cNvSpPr>
          <p:nvPr/>
        </p:nvSpPr>
        <p:spPr>
          <a:xfrm>
            <a:off x="1475656" y="0"/>
            <a:ext cx="7668344"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a:solidFill>
                  <a:srgbClr val="000000"/>
                </a:solidFill>
              </a:rPr>
              <a:t>The Entrepreneurial culture</a:t>
            </a:r>
            <a:endParaRPr lang="en-US" sz="3600"/>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6C60AF7-2A79-4D0F-9759-0A30014FD349}" type="datetime1">
              <a:rPr lang="en-US" smtClean="0"/>
              <a:pPr/>
              <a:t>12-Aug-25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48</a:t>
            </a:fld>
            <a:endParaRPr lang="en-US"/>
          </a:p>
        </p:txBody>
      </p:sp>
      <p:sp>
        <p:nvSpPr>
          <p:cNvPr id="7" name="Rectangle 6"/>
          <p:cNvSpPr/>
          <p:nvPr/>
        </p:nvSpPr>
        <p:spPr>
          <a:xfrm>
            <a:off x="179512" y="1196752"/>
            <a:ext cx="8784976" cy="2308324"/>
          </a:xfrm>
          <a:prstGeom prst="rect">
            <a:avLst/>
          </a:prstGeom>
        </p:spPr>
        <p:txBody>
          <a:bodyPr wrap="square">
            <a:spAutoFit/>
          </a:bodyPr>
          <a:lstStyle/>
          <a:p>
            <a:r>
              <a:rPr lang="en-US" sz="2400">
                <a:latin typeface="Times New Roman" panose="02020603050405020304" pitchFamily="18" charset="0"/>
                <a:cs typeface="Times New Roman" panose="02020603050405020304" pitchFamily="18" charset="0"/>
              </a:rPr>
              <a:t>On the second level of semi-visible or semi-conscious, here is the entrepreneurial mindset.</a:t>
            </a:r>
          </a:p>
          <a:p>
            <a:r>
              <a:rPr lang="en-US" sz="2400">
                <a:latin typeface="Times New Roman" panose="02020603050405020304" pitchFamily="18" charset="0"/>
                <a:cs typeface="Times New Roman" panose="02020603050405020304" pitchFamily="18" charset="0"/>
              </a:rPr>
              <a:t>The entrepreneurial mindset is the attitude an entrepreneur responds to a certain object in a favorable or unfavorable manner based on a learned predisposition.</a:t>
            </a:r>
          </a:p>
          <a:p>
            <a:pPr>
              <a:buFont typeface="Arial" pitchFamily="34" charset="0"/>
              <a:buChar char="•"/>
            </a:pPr>
            <a:endParaRPr lang="en-US" sz="2400">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1691680" y="115794"/>
            <a:ext cx="7151736" cy="64891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US" sz="3600"/>
              <a:t>Entrepreneurial mindset</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91264" cy="202034"/>
          </a:xfrm>
        </p:spPr>
        <p:txBody>
          <a:bodyPr>
            <a:normAutofit fontScale="90000"/>
          </a:bodyPr>
          <a:lstStyle/>
          <a:p>
            <a:endParaRPr lang="en-US"/>
          </a:p>
        </p:txBody>
      </p:sp>
      <p:sp>
        <p:nvSpPr>
          <p:cNvPr id="3" name="Date Placeholder 2"/>
          <p:cNvSpPr>
            <a:spLocks noGrp="1"/>
          </p:cNvSpPr>
          <p:nvPr>
            <p:ph type="dt" sz="half" idx="10"/>
          </p:nvPr>
        </p:nvSpPr>
        <p:spPr/>
        <p:txBody>
          <a:bodyPr/>
          <a:lstStyle/>
          <a:p>
            <a:fld id="{06C60AF7-2A79-4D0F-9759-0A30014FD349}" type="datetime1">
              <a:rPr lang="en-US" smtClean="0"/>
              <a:pPr/>
              <a:t>12-Aug-25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49</a:t>
            </a:fld>
            <a:endParaRPr lang="en-US"/>
          </a:p>
        </p:txBody>
      </p:sp>
      <p:pic>
        <p:nvPicPr>
          <p:cNvPr id="1026" name="Picture 2"/>
          <p:cNvPicPr>
            <a:picLocks noChangeAspect="1" noChangeArrowheads="1"/>
          </p:cNvPicPr>
          <p:nvPr/>
        </p:nvPicPr>
        <p:blipFill>
          <a:blip r:embed="rId2"/>
          <a:srcRect l="31845" t="26367" r="7759" b="19922"/>
          <a:stretch>
            <a:fillRect/>
          </a:stretch>
        </p:blipFill>
        <p:spPr bwMode="auto">
          <a:xfrm>
            <a:off x="251520" y="1196752"/>
            <a:ext cx="8640960" cy="4446826"/>
          </a:xfrm>
          <a:prstGeom prst="rect">
            <a:avLst/>
          </a:prstGeom>
          <a:noFill/>
          <a:ln w="9525">
            <a:noFill/>
            <a:miter lim="800000"/>
            <a:headEnd/>
            <a:tailEnd/>
          </a:ln>
          <a:effectLst/>
        </p:spPr>
      </p:pic>
      <p:sp>
        <p:nvSpPr>
          <p:cNvPr id="9" name="Title 1"/>
          <p:cNvSpPr txBox="1">
            <a:spLocks/>
          </p:cNvSpPr>
          <p:nvPr/>
        </p:nvSpPr>
        <p:spPr>
          <a:xfrm>
            <a:off x="1475656" y="51200"/>
            <a:ext cx="7668344" cy="71350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US" sz="3600" b="1">
                <a:latin typeface="Times New Roman" panose="02020603050405020304" pitchFamily="18" charset="0"/>
                <a:cs typeface="Times New Roman" panose="02020603050405020304" pitchFamily="18" charset="0"/>
              </a:rPr>
              <a:t>Classification of Entrepreneurs </a:t>
            </a: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107504" y="1340768"/>
            <a:ext cx="8928992" cy="2849498"/>
          </a:xfrm>
          <a:prstGeom prst="rect">
            <a:avLst/>
          </a:prstGeom>
        </p:spPr>
        <p:txBody>
          <a:bodyPr vert="horz" wrap="square" lIns="0" tIns="12700" rIns="0" bIns="0" rtlCol="0">
            <a:spAutoFit/>
          </a:bodyPr>
          <a:lstStyle/>
          <a:p>
            <a:pPr marL="12700" marR="5080" algn="just">
              <a:lnSpc>
                <a:spcPct val="100000"/>
              </a:lnSpc>
              <a:spcBef>
                <a:spcPts val="100"/>
              </a:spcBef>
            </a:pPr>
            <a:r>
              <a:rPr sz="2400" spc="-5">
                <a:latin typeface="Times New Roman" panose="02020603050405020304" pitchFamily="18" charset="0"/>
                <a:cs typeface="Times New Roman" panose="02020603050405020304" pitchFamily="18" charset="0"/>
              </a:rPr>
              <a:t>Clarence Danhof, classified  </a:t>
            </a:r>
            <a:r>
              <a:rPr sz="2400">
                <a:latin typeface="Times New Roman" panose="02020603050405020304" pitchFamily="18" charset="0"/>
                <a:cs typeface="Times New Roman" panose="02020603050405020304" pitchFamily="18" charset="0"/>
              </a:rPr>
              <a:t>entrepreneurs in the following</a:t>
            </a:r>
            <a:r>
              <a:rPr sz="2400" spc="-9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categories:</a:t>
            </a:r>
          </a:p>
          <a:p>
            <a:pPr>
              <a:lnSpc>
                <a:spcPct val="100000"/>
              </a:lnSpc>
              <a:spcBef>
                <a:spcPts val="5"/>
              </a:spcBef>
            </a:pPr>
            <a:endParaRPr sz="2400">
              <a:latin typeface="Times New Roman" panose="02020603050405020304" pitchFamily="18" charset="0"/>
              <a:cs typeface="Times New Roman" panose="02020603050405020304" pitchFamily="18" charset="0"/>
            </a:endParaRPr>
          </a:p>
          <a:p>
            <a:pPr marL="584200" indent="-514350">
              <a:lnSpc>
                <a:spcPct val="100000"/>
              </a:lnSpc>
              <a:spcBef>
                <a:spcPts val="5"/>
              </a:spcBef>
              <a:buAutoNum type="alphaLcParenR"/>
              <a:tabLst>
                <a:tab pos="584200" algn="l"/>
                <a:tab pos="584835" algn="l"/>
              </a:tabLst>
            </a:pPr>
            <a:r>
              <a:rPr sz="2400" spc="-40">
                <a:latin typeface="Times New Roman" panose="02020603050405020304" pitchFamily="18" charset="0"/>
                <a:cs typeface="Times New Roman" panose="02020603050405020304" pitchFamily="18" charset="0"/>
              </a:rPr>
              <a:t>INNOVATIVE</a:t>
            </a:r>
            <a:r>
              <a:rPr sz="240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ENTREPRENEURS</a:t>
            </a:r>
            <a:endParaRPr sz="2400">
              <a:latin typeface="Times New Roman" panose="02020603050405020304" pitchFamily="18" charset="0"/>
              <a:cs typeface="Times New Roman" panose="02020603050405020304" pitchFamily="18" charset="0"/>
            </a:endParaRPr>
          </a:p>
          <a:p>
            <a:pPr marL="584200" marR="1800860" indent="-514350">
              <a:lnSpc>
                <a:spcPct val="150000"/>
              </a:lnSpc>
              <a:spcBef>
                <a:spcPts val="430"/>
              </a:spcBef>
              <a:buAutoNum type="alphaLcParenR"/>
              <a:tabLst>
                <a:tab pos="584200" algn="l"/>
                <a:tab pos="584835" algn="l"/>
              </a:tabLst>
            </a:pPr>
            <a:r>
              <a:rPr sz="2400" spc="-5">
                <a:latin typeface="Times New Roman" panose="02020603050405020304" pitchFamily="18" charset="0"/>
                <a:cs typeface="Times New Roman" panose="02020603050405020304" pitchFamily="18" charset="0"/>
              </a:rPr>
              <a:t>ADOPTIVE OR</a:t>
            </a:r>
            <a:r>
              <a:rPr sz="2400" spc="-35">
                <a:latin typeface="Times New Roman" panose="02020603050405020304" pitchFamily="18" charset="0"/>
                <a:cs typeface="Times New Roman" panose="02020603050405020304" pitchFamily="18" charset="0"/>
              </a:rPr>
              <a:t> IMITATIVE  </a:t>
            </a:r>
            <a:r>
              <a:rPr sz="2400" spc="-5">
                <a:latin typeface="Times New Roman" panose="02020603050405020304" pitchFamily="18" charset="0"/>
                <a:cs typeface="Times New Roman" panose="02020603050405020304" pitchFamily="18" charset="0"/>
              </a:rPr>
              <a:t>ENTREPRENEURS</a:t>
            </a:r>
            <a:endParaRPr sz="2400">
              <a:latin typeface="Times New Roman" panose="02020603050405020304" pitchFamily="18" charset="0"/>
              <a:cs typeface="Times New Roman" panose="02020603050405020304" pitchFamily="18" charset="0"/>
            </a:endParaRPr>
          </a:p>
          <a:p>
            <a:pPr marL="584200" indent="-514350">
              <a:lnSpc>
                <a:spcPct val="100000"/>
              </a:lnSpc>
              <a:spcBef>
                <a:spcPts val="1515"/>
              </a:spcBef>
              <a:buAutoNum type="alphaLcParenR"/>
              <a:tabLst>
                <a:tab pos="584200" algn="l"/>
                <a:tab pos="584835" algn="l"/>
              </a:tabLst>
            </a:pPr>
            <a:r>
              <a:rPr sz="2400" spc="-25">
                <a:latin typeface="Times New Roman" panose="02020603050405020304" pitchFamily="18" charset="0"/>
                <a:cs typeface="Times New Roman" panose="02020603050405020304" pitchFamily="18" charset="0"/>
              </a:rPr>
              <a:t>FABIAN</a:t>
            </a:r>
            <a:r>
              <a:rPr sz="2400" spc="-1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ENTREPRENEURS</a:t>
            </a:r>
            <a:endParaRPr sz="2400">
              <a:latin typeface="Times New Roman" panose="02020603050405020304" pitchFamily="18" charset="0"/>
              <a:cs typeface="Times New Roman" panose="02020603050405020304" pitchFamily="18" charset="0"/>
            </a:endParaRPr>
          </a:p>
          <a:p>
            <a:pPr marL="584200" indent="-514350">
              <a:lnSpc>
                <a:spcPct val="100000"/>
              </a:lnSpc>
              <a:spcBef>
                <a:spcPts val="1515"/>
              </a:spcBef>
              <a:buAutoNum type="alphaLcParenR"/>
              <a:tabLst>
                <a:tab pos="584200" algn="l"/>
                <a:tab pos="584835" algn="l"/>
              </a:tabLst>
            </a:pPr>
            <a:r>
              <a:rPr sz="2400" spc="-5">
                <a:latin typeface="Times New Roman" panose="02020603050405020304" pitchFamily="18" charset="0"/>
                <a:cs typeface="Times New Roman" panose="02020603050405020304" pitchFamily="18" charset="0"/>
              </a:rPr>
              <a:t>DRONE ENTREPRENEURS</a:t>
            </a:r>
            <a:endParaRPr sz="2400">
              <a:latin typeface="Times New Roman" panose="02020603050405020304" pitchFamily="18" charset="0"/>
              <a:cs typeface="Times New Roman" panose="02020603050405020304" pitchFamily="18" charset="0"/>
            </a:endParaRPr>
          </a:p>
        </p:txBody>
      </p:sp>
      <p:sp>
        <p:nvSpPr>
          <p:cNvPr id="8" name="Date Placeholder 3"/>
          <p:cNvSpPr>
            <a:spLocks noGrp="1"/>
          </p:cNvSpPr>
          <p:nvPr>
            <p:ph type="dt" sz="half" idx="10"/>
          </p:nvPr>
        </p:nvSpPr>
        <p:spPr>
          <a:xfrm>
            <a:off x="457200" y="6356352"/>
            <a:ext cx="2133600" cy="365125"/>
          </a:xfrm>
        </p:spPr>
        <p:txBody>
          <a:bodyPr/>
          <a:lstStyle/>
          <a:p>
            <a:fld id="{3289F393-FD98-47C1-A761-3D07A42C3B20}" type="datetime1">
              <a:rPr lang="en-US" smtClean="0"/>
              <a:pPr/>
              <a:t>12-Aug-25</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50</a:t>
            </a:fld>
            <a:endParaRPr lang="en-US"/>
          </a:p>
        </p:txBody>
      </p:sp>
      <p:sp>
        <p:nvSpPr>
          <p:cNvPr id="9" name="Title 1"/>
          <p:cNvSpPr txBox="1">
            <a:spLocks/>
          </p:cNvSpPr>
          <p:nvPr/>
        </p:nvSpPr>
        <p:spPr>
          <a:xfrm>
            <a:off x="1547665" y="0"/>
            <a:ext cx="7570088" cy="105154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b="1" spc="-10">
                <a:latin typeface="Times New Roman"/>
                <a:cs typeface="Times New Roman"/>
              </a:rPr>
              <a:t>CLASSIFICATION </a:t>
            </a:r>
            <a:r>
              <a:rPr lang="en-IN" sz="3600" b="1">
                <a:latin typeface="Times New Roman"/>
                <a:cs typeface="Times New Roman"/>
              </a:rPr>
              <a:t>BY</a:t>
            </a:r>
            <a:r>
              <a:rPr lang="en-IN" sz="3600" b="1" spc="-120">
                <a:latin typeface="Times New Roman"/>
                <a:cs typeface="Times New Roman"/>
              </a:rPr>
              <a:t> </a:t>
            </a:r>
            <a:r>
              <a:rPr lang="en-IN" sz="3600" b="1">
                <a:latin typeface="Times New Roman"/>
                <a:cs typeface="Times New Roman"/>
              </a:rPr>
              <a:t>CLARENCE  DANHOF:</a:t>
            </a:r>
            <a:endParaRPr lang="en-US" sz="3600" b="1">
              <a:latin typeface="Times New Roman" panose="02020603050405020304" pitchFamily="18" charset="0"/>
              <a:cs typeface="Times New Roman" panose="02020603050405020304" pitchFamily="18" charset="0"/>
            </a:endParaRP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9301602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p:nvPr/>
        </p:nvSpPr>
        <p:spPr>
          <a:xfrm>
            <a:off x="535941" y="1556466"/>
            <a:ext cx="8072755" cy="4301819"/>
          </a:xfrm>
          <a:prstGeom prst="rect">
            <a:avLst/>
          </a:prstGeom>
        </p:spPr>
        <p:txBody>
          <a:bodyPr vert="horz" wrap="square" lIns="0" tIns="196215" rIns="0" bIns="0" rtlCol="0">
            <a:spAutoFit/>
          </a:bodyPr>
          <a:lstStyle/>
          <a:p>
            <a:pPr marL="355600" indent="-343535" algn="just">
              <a:lnSpc>
                <a:spcPct val="100000"/>
              </a:lnSpc>
              <a:spcBef>
                <a:spcPts val="1545"/>
              </a:spcBef>
              <a:buFont typeface="Arial"/>
              <a:buChar char="•"/>
              <a:tabLst>
                <a:tab pos="356235" algn="l"/>
              </a:tabLst>
            </a:pPr>
            <a:r>
              <a:rPr sz="2000">
                <a:cs typeface="Times New Roman"/>
              </a:rPr>
              <a:t>They are </a:t>
            </a:r>
            <a:r>
              <a:rPr sz="2000" spc="-5">
                <a:cs typeface="Times New Roman"/>
              </a:rPr>
              <a:t>generally aggressive on experimentation </a:t>
            </a:r>
            <a:r>
              <a:rPr sz="2000">
                <a:cs typeface="Times New Roman"/>
              </a:rPr>
              <a:t>and</a:t>
            </a:r>
            <a:r>
              <a:rPr sz="2000" spc="430">
                <a:cs typeface="Times New Roman"/>
              </a:rPr>
              <a:t> </a:t>
            </a:r>
            <a:r>
              <a:rPr sz="2000" spc="-5">
                <a:cs typeface="Times New Roman"/>
              </a:rPr>
              <a:t>cleverly</a:t>
            </a:r>
            <a:endParaRPr sz="2000">
              <a:cs typeface="Times New Roman"/>
            </a:endParaRPr>
          </a:p>
          <a:p>
            <a:pPr marL="355600" algn="just">
              <a:lnSpc>
                <a:spcPct val="100000"/>
              </a:lnSpc>
              <a:spcBef>
                <a:spcPts val="1445"/>
              </a:spcBef>
            </a:pPr>
            <a:r>
              <a:rPr sz="2000">
                <a:cs typeface="Times New Roman"/>
              </a:rPr>
              <a:t>put </a:t>
            </a:r>
            <a:r>
              <a:rPr sz="2000" spc="-5">
                <a:cs typeface="Times New Roman"/>
              </a:rPr>
              <a:t>attractive possibilities </a:t>
            </a:r>
            <a:r>
              <a:rPr sz="2000">
                <a:cs typeface="Times New Roman"/>
              </a:rPr>
              <a:t>into</a:t>
            </a:r>
            <a:r>
              <a:rPr sz="2000" spc="-70">
                <a:cs typeface="Times New Roman"/>
              </a:rPr>
              <a:t> </a:t>
            </a:r>
            <a:r>
              <a:rPr sz="2000">
                <a:cs typeface="Times New Roman"/>
              </a:rPr>
              <a:t>practice.</a:t>
            </a:r>
          </a:p>
          <a:p>
            <a:pPr marL="355600" marR="5080" indent="-343535" algn="just">
              <a:lnSpc>
                <a:spcPct val="150000"/>
              </a:lnSpc>
              <a:spcBef>
                <a:spcPts val="575"/>
              </a:spcBef>
              <a:buFont typeface="Arial"/>
              <a:buChar char="•"/>
              <a:tabLst>
                <a:tab pos="356235" algn="l"/>
              </a:tabLst>
            </a:pPr>
            <a:r>
              <a:rPr sz="2000" spc="-5">
                <a:cs typeface="Times New Roman"/>
              </a:rPr>
              <a:t>An innovative </a:t>
            </a:r>
            <a:r>
              <a:rPr sz="2000" spc="-10">
                <a:cs typeface="Times New Roman"/>
              </a:rPr>
              <a:t>entrepreneur, </a:t>
            </a:r>
            <a:r>
              <a:rPr sz="2000" spc="-5">
                <a:cs typeface="Times New Roman"/>
              </a:rPr>
              <a:t>introduces new </a:t>
            </a:r>
            <a:r>
              <a:rPr sz="2000">
                <a:cs typeface="Times New Roman"/>
              </a:rPr>
              <a:t>goods, </a:t>
            </a:r>
            <a:r>
              <a:rPr sz="2000" spc="-5">
                <a:cs typeface="Times New Roman"/>
              </a:rPr>
              <a:t>inaugurates  new methods </a:t>
            </a:r>
            <a:r>
              <a:rPr sz="2000">
                <a:cs typeface="Times New Roman"/>
              </a:rPr>
              <a:t>of production, </a:t>
            </a:r>
            <a:r>
              <a:rPr sz="2000" spc="-5">
                <a:cs typeface="Times New Roman"/>
              </a:rPr>
              <a:t>discovers new markets and  reorganizes </a:t>
            </a:r>
            <a:r>
              <a:rPr sz="2000">
                <a:cs typeface="Times New Roman"/>
              </a:rPr>
              <a:t>the</a:t>
            </a:r>
            <a:r>
              <a:rPr sz="2000" spc="-35">
                <a:cs typeface="Times New Roman"/>
              </a:rPr>
              <a:t> </a:t>
            </a:r>
            <a:r>
              <a:rPr sz="2000">
                <a:cs typeface="Times New Roman"/>
              </a:rPr>
              <a:t>enterprise.</a:t>
            </a:r>
          </a:p>
          <a:p>
            <a:pPr marL="355600" indent="-343535" algn="just">
              <a:lnSpc>
                <a:spcPct val="100000"/>
              </a:lnSpc>
              <a:spcBef>
                <a:spcPts val="2014"/>
              </a:spcBef>
              <a:buFont typeface="Arial"/>
              <a:buChar char="•"/>
              <a:tabLst>
                <a:tab pos="356235" algn="l"/>
              </a:tabLst>
            </a:pPr>
            <a:r>
              <a:rPr sz="2000" spc="-5">
                <a:cs typeface="Times New Roman"/>
              </a:rPr>
              <a:t>Innovative entrepreneurs </a:t>
            </a:r>
            <a:r>
              <a:rPr sz="2000">
                <a:cs typeface="Times New Roman"/>
              </a:rPr>
              <a:t>bring </a:t>
            </a:r>
            <a:r>
              <a:rPr sz="2000" spc="-5">
                <a:cs typeface="Times New Roman"/>
              </a:rPr>
              <a:t>about </a:t>
            </a:r>
            <a:r>
              <a:rPr sz="2000">
                <a:cs typeface="Times New Roman"/>
              </a:rPr>
              <a:t>a </a:t>
            </a:r>
            <a:r>
              <a:rPr sz="2000" spc="-5">
                <a:cs typeface="Times New Roman"/>
              </a:rPr>
              <a:t>transformation</a:t>
            </a:r>
            <a:r>
              <a:rPr sz="2000" spc="390">
                <a:cs typeface="Times New Roman"/>
              </a:rPr>
              <a:t> </a:t>
            </a:r>
            <a:r>
              <a:rPr sz="2000" spc="-10">
                <a:cs typeface="Times New Roman"/>
              </a:rPr>
              <a:t>in</a:t>
            </a:r>
            <a:endParaRPr sz="2000">
              <a:cs typeface="Times New Roman"/>
            </a:endParaRPr>
          </a:p>
          <a:p>
            <a:pPr marL="355600" algn="just">
              <a:lnSpc>
                <a:spcPct val="100000"/>
              </a:lnSpc>
              <a:spcBef>
                <a:spcPts val="1445"/>
              </a:spcBef>
            </a:pPr>
            <a:r>
              <a:rPr sz="2000">
                <a:cs typeface="Times New Roman"/>
              </a:rPr>
              <a:t>lifestyle and are </a:t>
            </a:r>
            <a:r>
              <a:rPr sz="2000" spc="-5">
                <a:cs typeface="Times New Roman"/>
              </a:rPr>
              <a:t>always </a:t>
            </a:r>
            <a:r>
              <a:rPr sz="2000">
                <a:cs typeface="Times New Roman"/>
              </a:rPr>
              <a:t>interested in introducing</a:t>
            </a:r>
            <a:r>
              <a:rPr sz="2000" spc="-140">
                <a:cs typeface="Times New Roman"/>
              </a:rPr>
              <a:t> </a:t>
            </a:r>
            <a:r>
              <a:rPr sz="2000">
                <a:cs typeface="Times New Roman"/>
              </a:rPr>
              <a:t>innovations</a:t>
            </a:r>
            <a:r>
              <a:rPr lang="en-US" sz="2000">
                <a:cs typeface="Times New Roman"/>
              </a:rPr>
              <a:t>.</a:t>
            </a:r>
          </a:p>
          <a:p>
            <a:pPr marL="355600" algn="just">
              <a:lnSpc>
                <a:spcPct val="100000"/>
              </a:lnSpc>
              <a:spcBef>
                <a:spcPts val="1445"/>
              </a:spcBef>
              <a:buFont typeface="Arial" pitchFamily="34" charset="0"/>
              <a:buChar char="•"/>
            </a:pPr>
            <a:r>
              <a:rPr lang="en-US" sz="2000">
                <a:cs typeface="Times New Roman"/>
              </a:rPr>
              <a:t> </a:t>
            </a:r>
            <a:r>
              <a:rPr lang="en-US" sz="2000"/>
              <a:t>An innovative entrepreneur sees the opportunity for introducing a new technology, a new product or a new market.</a:t>
            </a:r>
            <a:endParaRPr sz="2000">
              <a:cs typeface="Times New Roman"/>
            </a:endParaRPr>
          </a:p>
        </p:txBody>
      </p:sp>
      <p:sp>
        <p:nvSpPr>
          <p:cNvPr id="14" name="Date Placeholder 3"/>
          <p:cNvSpPr>
            <a:spLocks noGrp="1"/>
          </p:cNvSpPr>
          <p:nvPr>
            <p:ph type="dt" sz="half" idx="10"/>
          </p:nvPr>
        </p:nvSpPr>
        <p:spPr>
          <a:xfrm>
            <a:off x="457200" y="6356352"/>
            <a:ext cx="2133600" cy="365125"/>
          </a:xfrm>
        </p:spPr>
        <p:txBody>
          <a:bodyPr/>
          <a:lstStyle/>
          <a:p>
            <a:fld id="{EFDD7149-9276-4A23-8D33-1A7A3D014249}" type="datetime1">
              <a:rPr lang="en-US" smtClean="0"/>
              <a:pPr/>
              <a:t>12-Aug-25</a:t>
            </a:fld>
            <a:endParaRPr lang="en-US"/>
          </a:p>
        </p:txBody>
      </p:sp>
      <p:sp>
        <p:nvSpPr>
          <p:cNvPr id="16" name="Slide Number Placeholder 15"/>
          <p:cNvSpPr>
            <a:spLocks noGrp="1"/>
          </p:cNvSpPr>
          <p:nvPr>
            <p:ph type="sldNum" sz="quarter" idx="12"/>
          </p:nvPr>
        </p:nvSpPr>
        <p:spPr/>
        <p:txBody>
          <a:bodyPr/>
          <a:lstStyle/>
          <a:p>
            <a:fld id="{B6F15528-21DE-4FAA-801E-634DDDAF4B2B}" type="slidenum">
              <a:rPr lang="en-US" smtClean="0"/>
              <a:pPr/>
              <a:t>51</a:t>
            </a:fld>
            <a:endParaRPr lang="en-US"/>
          </a:p>
        </p:txBody>
      </p:sp>
      <p:sp>
        <p:nvSpPr>
          <p:cNvPr id="9" name="Title 1"/>
          <p:cNvSpPr txBox="1">
            <a:spLocks/>
          </p:cNvSpPr>
          <p:nvPr/>
        </p:nvSpPr>
        <p:spPr>
          <a:xfrm>
            <a:off x="1547665" y="0"/>
            <a:ext cx="7596336" cy="81570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b="1" spc="-65">
                <a:latin typeface="Times New Roman"/>
                <a:cs typeface="Times New Roman"/>
              </a:rPr>
              <a:t>INNOVATIVE</a:t>
            </a:r>
            <a:r>
              <a:rPr lang="en-IN" sz="3600" b="1" spc="15">
                <a:latin typeface="Times New Roman"/>
                <a:cs typeface="Times New Roman"/>
              </a:rPr>
              <a:t> </a:t>
            </a:r>
            <a:r>
              <a:rPr lang="en-IN" sz="3600" b="1" spc="-10">
                <a:latin typeface="Times New Roman"/>
                <a:cs typeface="Times New Roman"/>
              </a:rPr>
              <a:t>ENTREPRENEURS</a:t>
            </a:r>
            <a:endParaRPr lang="en-US" sz="3600" b="1">
              <a:latin typeface="Times New Roman" panose="02020603050405020304" pitchFamily="18" charset="0"/>
              <a:cs typeface="Times New Roman" panose="02020603050405020304" pitchFamily="18" charset="0"/>
            </a:endParaRP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157342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idx="1"/>
          </p:nvPr>
        </p:nvSpPr>
        <p:spPr>
          <a:xfrm>
            <a:off x="-108520" y="332656"/>
            <a:ext cx="9217023" cy="4519617"/>
          </a:xfrm>
          <a:prstGeom prst="rect">
            <a:avLst/>
          </a:prstGeom>
        </p:spPr>
        <p:txBody>
          <a:bodyPr vert="horz" wrap="square" lIns="0" tIns="1184067" rIns="0" bIns="0" rtlCol="0">
            <a:spAutoFit/>
          </a:bodyPr>
          <a:lstStyle/>
          <a:p>
            <a:pPr marL="356870" marR="5715" algn="just">
              <a:spcBef>
                <a:spcPts val="0"/>
              </a:spcBef>
              <a:tabLst>
                <a:tab pos="1996439" algn="l"/>
                <a:tab pos="2734310" algn="l"/>
                <a:tab pos="3486150" algn="l"/>
                <a:tab pos="4540885" algn="l"/>
                <a:tab pos="6055995" algn="l"/>
                <a:tab pos="6706870" algn="l"/>
              </a:tabLst>
            </a:pPr>
            <a:r>
              <a:rPr lang="en-IN" sz="2400">
                <a:latin typeface="Times New Roman" panose="02020603050405020304" pitchFamily="18" charset="0"/>
                <a:cs typeface="Times New Roman" panose="02020603050405020304" pitchFamily="18" charset="0"/>
              </a:rPr>
              <a:t>I</a:t>
            </a:r>
            <a:r>
              <a:rPr lang="en-IN" sz="2400" spc="-15">
                <a:latin typeface="Times New Roman" panose="02020603050405020304" pitchFamily="18" charset="0"/>
                <a:cs typeface="Times New Roman" panose="02020603050405020304" pitchFamily="18" charset="0"/>
              </a:rPr>
              <a:t>m</a:t>
            </a:r>
            <a:r>
              <a:rPr lang="en-IN" sz="2400">
                <a:latin typeface="Times New Roman" panose="02020603050405020304" pitchFamily="18" charset="0"/>
                <a:cs typeface="Times New Roman" panose="02020603050405020304" pitchFamily="18" charset="0"/>
              </a:rPr>
              <a:t>i</a:t>
            </a:r>
            <a:r>
              <a:rPr lang="en-IN" sz="2400" spc="5">
                <a:latin typeface="Times New Roman" panose="02020603050405020304" pitchFamily="18" charset="0"/>
                <a:cs typeface="Times New Roman" panose="02020603050405020304" pitchFamily="18" charset="0"/>
              </a:rPr>
              <a:t>t</a:t>
            </a:r>
            <a:r>
              <a:rPr lang="en-IN" sz="2400" spc="-10">
                <a:latin typeface="Times New Roman" panose="02020603050405020304" pitchFamily="18" charset="0"/>
                <a:cs typeface="Times New Roman" panose="02020603050405020304" pitchFamily="18" charset="0"/>
              </a:rPr>
              <a:t>a</a:t>
            </a:r>
            <a:r>
              <a:rPr lang="en-IN" sz="2400">
                <a:latin typeface="Times New Roman" panose="02020603050405020304" pitchFamily="18" charset="0"/>
                <a:cs typeface="Times New Roman" panose="02020603050405020304" pitchFamily="18" charset="0"/>
              </a:rPr>
              <a:t>tive </a:t>
            </a:r>
            <a:r>
              <a:rPr lang="en-IN" sz="2400" spc="-10">
                <a:latin typeface="Times New Roman" panose="02020603050405020304" pitchFamily="18" charset="0"/>
                <a:cs typeface="Times New Roman" panose="02020603050405020304" pitchFamily="18" charset="0"/>
              </a:rPr>
              <a:t>e</a:t>
            </a:r>
            <a:r>
              <a:rPr lang="en-IN" sz="2400">
                <a:latin typeface="Times New Roman" panose="02020603050405020304" pitchFamily="18" charset="0"/>
                <a:cs typeface="Times New Roman" panose="02020603050405020304" pitchFamily="18" charset="0"/>
              </a:rPr>
              <a:t>ntrepreneurs do not innova</a:t>
            </a:r>
            <a:r>
              <a:rPr lang="en-IN" sz="2400" spc="-15">
                <a:latin typeface="Times New Roman" panose="02020603050405020304" pitchFamily="18" charset="0"/>
                <a:cs typeface="Times New Roman" panose="02020603050405020304" pitchFamily="18" charset="0"/>
              </a:rPr>
              <a:t>t</a:t>
            </a:r>
            <a:r>
              <a:rPr lang="en-IN" sz="2400">
                <a:latin typeface="Times New Roman" panose="02020603050405020304" pitchFamily="18" charset="0"/>
                <a:cs typeface="Times New Roman" panose="02020603050405020304" pitchFamily="18" charset="0"/>
              </a:rPr>
              <a:t>e	t</a:t>
            </a:r>
            <a:r>
              <a:rPr lang="en-IN" sz="2400" spc="-10">
                <a:latin typeface="Times New Roman" panose="02020603050405020304" pitchFamily="18" charset="0"/>
                <a:cs typeface="Times New Roman" panose="02020603050405020304" pitchFamily="18" charset="0"/>
              </a:rPr>
              <a:t>h</a:t>
            </a:r>
            <a:r>
              <a:rPr lang="en-IN" sz="2400">
                <a:latin typeface="Times New Roman" panose="02020603050405020304" pitchFamily="18" charset="0"/>
                <a:cs typeface="Times New Roman" panose="02020603050405020304" pitchFamily="18" charset="0"/>
              </a:rPr>
              <a:t>e c</a:t>
            </a:r>
            <a:r>
              <a:rPr lang="en-IN" sz="2400" spc="-10">
                <a:latin typeface="Times New Roman" panose="02020603050405020304" pitchFamily="18" charset="0"/>
                <a:cs typeface="Times New Roman" panose="02020603050405020304" pitchFamily="18" charset="0"/>
              </a:rPr>
              <a:t>ha</a:t>
            </a:r>
            <a:r>
              <a:rPr lang="en-IN" sz="2400">
                <a:latin typeface="Times New Roman" panose="02020603050405020304" pitchFamily="18" charset="0"/>
                <a:cs typeface="Times New Roman" panose="02020603050405020304" pitchFamily="18" charset="0"/>
              </a:rPr>
              <a:t>nges </a:t>
            </a:r>
            <a:r>
              <a:rPr sz="2400">
                <a:latin typeface="Times New Roman" panose="02020603050405020304" pitchFamily="18" charset="0"/>
                <a:cs typeface="Times New Roman" panose="02020603050405020304" pitchFamily="18" charset="0"/>
              </a:rPr>
              <a:t>the</a:t>
            </a:r>
            <a:r>
              <a:rPr sz="2400" spc="-15">
                <a:latin typeface="Times New Roman" panose="02020603050405020304" pitchFamily="18" charset="0"/>
                <a:cs typeface="Times New Roman" panose="02020603050405020304" pitchFamily="18" charset="0"/>
              </a:rPr>
              <a:t>m</a:t>
            </a:r>
            <a:r>
              <a:rPr sz="2400" spc="-5">
                <a:latin typeface="Times New Roman" panose="02020603050405020304" pitchFamily="18" charset="0"/>
                <a:cs typeface="Times New Roman" panose="02020603050405020304" pitchFamily="18" charset="0"/>
              </a:rPr>
              <a:t>se</a:t>
            </a:r>
            <a:r>
              <a:rPr sz="2400">
                <a:latin typeface="Times New Roman" panose="02020603050405020304" pitchFamily="18" charset="0"/>
                <a:cs typeface="Times New Roman" panose="02020603050405020304" pitchFamily="18" charset="0"/>
              </a:rPr>
              <a:t>l</a:t>
            </a:r>
            <a:r>
              <a:rPr sz="2400" spc="-15">
                <a:latin typeface="Times New Roman" panose="02020603050405020304" pitchFamily="18" charset="0"/>
                <a:cs typeface="Times New Roman" panose="02020603050405020304" pitchFamily="18" charset="0"/>
              </a:rPr>
              <a:t>v</a:t>
            </a:r>
            <a:r>
              <a:rPr sz="2400" spc="-5">
                <a:latin typeface="Times New Roman" panose="02020603050405020304" pitchFamily="18" charset="0"/>
                <a:cs typeface="Times New Roman" panose="02020603050405020304" pitchFamily="18" charset="0"/>
              </a:rPr>
              <a:t>es,</a:t>
            </a:r>
            <a:r>
              <a:rPr lang="en-IN" sz="2400" spc="-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a:t>
            </a:r>
            <a:r>
              <a:rPr sz="2400" spc="5">
                <a:latin typeface="Times New Roman" panose="02020603050405020304" pitchFamily="18" charset="0"/>
                <a:cs typeface="Times New Roman" panose="02020603050405020304" pitchFamily="18" charset="0"/>
              </a:rPr>
              <a:t>h</a:t>
            </a:r>
            <a:r>
              <a:rPr sz="2400">
                <a:latin typeface="Times New Roman" panose="02020603050405020304" pitchFamily="18" charset="0"/>
                <a:cs typeface="Times New Roman" panose="02020603050405020304" pitchFamily="18" charset="0"/>
              </a:rPr>
              <a:t>ey</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o</a:t>
            </a:r>
            <a:r>
              <a:rPr sz="2400" spc="-15">
                <a:latin typeface="Times New Roman" panose="02020603050405020304" pitchFamily="18" charset="0"/>
                <a:cs typeface="Times New Roman" panose="02020603050405020304" pitchFamily="18" charset="0"/>
              </a:rPr>
              <a:t>n</a:t>
            </a:r>
            <a:r>
              <a:rPr sz="2400">
                <a:latin typeface="Times New Roman" panose="02020603050405020304" pitchFamily="18" charset="0"/>
                <a:cs typeface="Times New Roman" panose="02020603050405020304" pitchFamily="18" charset="0"/>
              </a:rPr>
              <a:t>ly</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i</a:t>
            </a:r>
            <a:r>
              <a:rPr sz="2400" spc="-15">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ita</a:t>
            </a:r>
            <a:r>
              <a:rPr sz="2400" spc="-10">
                <a:latin typeface="Times New Roman" panose="02020603050405020304" pitchFamily="18" charset="0"/>
                <a:cs typeface="Times New Roman" panose="02020603050405020304" pitchFamily="18" charset="0"/>
              </a:rPr>
              <a:t>t</a:t>
            </a:r>
            <a:r>
              <a:rPr sz="2400">
                <a:latin typeface="Times New Roman" panose="02020603050405020304" pitchFamily="18" charset="0"/>
                <a:cs typeface="Times New Roman" panose="02020603050405020304" pitchFamily="18" charset="0"/>
              </a:rPr>
              <a:t>e</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techniq</a:t>
            </a:r>
            <a:r>
              <a:rPr sz="2400" spc="-10">
                <a:latin typeface="Times New Roman" panose="02020603050405020304" pitchFamily="18" charset="0"/>
                <a:cs typeface="Times New Roman" panose="02020603050405020304" pitchFamily="18" charset="0"/>
              </a:rPr>
              <a:t>u</a:t>
            </a:r>
            <a:r>
              <a:rPr sz="2400" spc="-5">
                <a:latin typeface="Times New Roman" panose="02020603050405020304" pitchFamily="18" charset="0"/>
                <a:cs typeface="Times New Roman" panose="02020603050405020304" pitchFamily="18" charset="0"/>
              </a:rPr>
              <a:t>es</a:t>
            </a:r>
            <a:r>
              <a:rPr lang="en-IN" sz="2400" spc="-5">
                <a:latin typeface="Times New Roman" panose="02020603050405020304" pitchFamily="18" charset="0"/>
                <a:cs typeface="Times New Roman" panose="02020603050405020304" pitchFamily="18" charset="0"/>
              </a:rPr>
              <a:t> </a:t>
            </a:r>
            <a:r>
              <a:rPr sz="2400" spc="-10">
                <a:latin typeface="Times New Roman" panose="02020603050405020304" pitchFamily="18" charset="0"/>
                <a:cs typeface="Times New Roman" panose="02020603050405020304" pitchFamily="18" charset="0"/>
              </a:rPr>
              <a:t>a</a:t>
            </a:r>
            <a:r>
              <a:rPr sz="2400">
                <a:latin typeface="Times New Roman" panose="02020603050405020304" pitchFamily="18" charset="0"/>
                <a:cs typeface="Times New Roman" panose="02020603050405020304" pitchFamily="18" charset="0"/>
              </a:rPr>
              <a:t>nd</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techno</a:t>
            </a:r>
            <a:r>
              <a:rPr sz="2400" spc="-10">
                <a:latin typeface="Times New Roman" panose="02020603050405020304" pitchFamily="18" charset="0"/>
                <a:cs typeface="Times New Roman" panose="02020603050405020304" pitchFamily="18" charset="0"/>
              </a:rPr>
              <a:t>l</a:t>
            </a:r>
            <a:r>
              <a:rPr sz="2400">
                <a:latin typeface="Times New Roman" panose="02020603050405020304" pitchFamily="18" charset="0"/>
                <a:cs typeface="Times New Roman" panose="02020603050405020304" pitchFamily="18" charset="0"/>
              </a:rPr>
              <a:t>ogy</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innovated b</a:t>
            </a:r>
            <a:r>
              <a:rPr lang="en-IN" sz="2400">
                <a:latin typeface="Times New Roman" panose="02020603050405020304" pitchFamily="18" charset="0"/>
                <a:cs typeface="Times New Roman" panose="02020603050405020304" pitchFamily="18" charset="0"/>
              </a:rPr>
              <a:t>y </a:t>
            </a:r>
            <a:r>
              <a:rPr sz="2400">
                <a:latin typeface="Times New Roman" panose="02020603050405020304" pitchFamily="18" charset="0"/>
                <a:cs typeface="Times New Roman" panose="02020603050405020304" pitchFamily="18" charset="0"/>
              </a:rPr>
              <a:t>others.</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They copy and learn from the innovating</a:t>
            </a:r>
            <a:r>
              <a:rPr sz="2400" spc="-11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entrepreneurs.</a:t>
            </a:r>
            <a:r>
              <a:rPr lang="en-IN" sz="2400">
                <a:latin typeface="Times New Roman" panose="02020603050405020304" pitchFamily="18" charset="0"/>
                <a:cs typeface="Times New Roman" panose="02020603050405020304" pitchFamily="18" charset="0"/>
              </a:rPr>
              <a:t> </a:t>
            </a:r>
            <a:r>
              <a:rPr sz="2400" spc="-15">
                <a:latin typeface="Times New Roman" panose="02020603050405020304" pitchFamily="18" charset="0"/>
                <a:cs typeface="Times New Roman" panose="02020603050405020304" pitchFamily="18" charset="0"/>
              </a:rPr>
              <a:t>W</a:t>
            </a:r>
            <a:r>
              <a:rPr sz="2400">
                <a:latin typeface="Times New Roman" panose="02020603050405020304" pitchFamily="18" charset="0"/>
                <a:cs typeface="Times New Roman" panose="02020603050405020304" pitchFamily="18" charset="0"/>
              </a:rPr>
              <a:t>hile</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in</a:t>
            </a:r>
            <a:r>
              <a:rPr sz="2400" spc="-10">
                <a:latin typeface="Times New Roman" panose="02020603050405020304" pitchFamily="18" charset="0"/>
                <a:cs typeface="Times New Roman" panose="02020603050405020304" pitchFamily="18" charset="0"/>
              </a:rPr>
              <a:t>n</a:t>
            </a:r>
            <a:r>
              <a:rPr sz="2400">
                <a:latin typeface="Times New Roman" panose="02020603050405020304" pitchFamily="18" charset="0"/>
                <a:cs typeface="Times New Roman" panose="02020603050405020304" pitchFamily="18" charset="0"/>
              </a:rPr>
              <a:t>ova</a:t>
            </a:r>
            <a:r>
              <a:rPr sz="2400" spc="-10">
                <a:latin typeface="Times New Roman" panose="02020603050405020304" pitchFamily="18" charset="0"/>
                <a:cs typeface="Times New Roman" panose="02020603050405020304" pitchFamily="18" charset="0"/>
              </a:rPr>
              <a:t>t</a:t>
            </a:r>
            <a:r>
              <a:rPr sz="2400">
                <a:latin typeface="Times New Roman" panose="02020603050405020304" pitchFamily="18" charset="0"/>
                <a:cs typeface="Times New Roman" panose="02020603050405020304" pitchFamily="18" charset="0"/>
              </a:rPr>
              <a:t>ing</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e</a:t>
            </a:r>
            <a:r>
              <a:rPr sz="2400" spc="-15">
                <a:latin typeface="Times New Roman" panose="02020603050405020304" pitchFamily="18" charset="0"/>
                <a:cs typeface="Times New Roman" panose="02020603050405020304" pitchFamily="18" charset="0"/>
              </a:rPr>
              <a:t>n</a:t>
            </a:r>
            <a:r>
              <a:rPr sz="2400">
                <a:latin typeface="Times New Roman" panose="02020603050405020304" pitchFamily="18" charset="0"/>
                <a:cs typeface="Times New Roman" panose="02020603050405020304" pitchFamily="18" charset="0"/>
              </a:rPr>
              <a:t>trepre</a:t>
            </a:r>
            <a:r>
              <a:rPr sz="2400" spc="-15">
                <a:latin typeface="Times New Roman" panose="02020603050405020304" pitchFamily="18" charset="0"/>
                <a:cs typeface="Times New Roman" panose="02020603050405020304" pitchFamily="18" charset="0"/>
              </a:rPr>
              <a:t>n</a:t>
            </a:r>
            <a:r>
              <a:rPr sz="2400">
                <a:latin typeface="Times New Roman" panose="02020603050405020304" pitchFamily="18" charset="0"/>
                <a:cs typeface="Times New Roman" panose="02020603050405020304" pitchFamily="18" charset="0"/>
              </a:rPr>
              <a:t>eurs</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are</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cre</a:t>
            </a:r>
            <a:r>
              <a:rPr sz="2400" spc="-20">
                <a:latin typeface="Times New Roman" panose="02020603050405020304" pitchFamily="18" charset="0"/>
                <a:cs typeface="Times New Roman" panose="02020603050405020304" pitchFamily="18" charset="0"/>
              </a:rPr>
              <a:t>a</a:t>
            </a:r>
            <a:r>
              <a:rPr sz="2400" spc="-10">
                <a:latin typeface="Times New Roman" panose="02020603050405020304" pitchFamily="18" charset="0"/>
                <a:cs typeface="Times New Roman" panose="02020603050405020304" pitchFamily="18" charset="0"/>
              </a:rPr>
              <a:t>t</a:t>
            </a:r>
            <a:r>
              <a:rPr sz="2400">
                <a:latin typeface="Times New Roman" panose="02020603050405020304" pitchFamily="18" charset="0"/>
                <a:cs typeface="Times New Roman" panose="02020603050405020304" pitchFamily="18" charset="0"/>
              </a:rPr>
              <a:t>ive,</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i</a:t>
            </a:r>
            <a:r>
              <a:rPr sz="2400" spc="-15">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i</a:t>
            </a:r>
            <a:r>
              <a:rPr sz="2400" spc="5">
                <a:latin typeface="Times New Roman" panose="02020603050405020304" pitchFamily="18" charset="0"/>
                <a:cs typeface="Times New Roman" panose="02020603050405020304" pitchFamily="18" charset="0"/>
              </a:rPr>
              <a:t>t</a:t>
            </a:r>
            <a:r>
              <a:rPr sz="2400" spc="-10">
                <a:latin typeface="Times New Roman" panose="02020603050405020304" pitchFamily="18" charset="0"/>
                <a:cs typeface="Times New Roman" panose="02020603050405020304" pitchFamily="18" charset="0"/>
              </a:rPr>
              <a:t>at</a:t>
            </a:r>
            <a:r>
              <a:rPr sz="2400">
                <a:latin typeface="Times New Roman" panose="02020603050405020304" pitchFamily="18" charset="0"/>
                <a:cs typeface="Times New Roman" panose="02020603050405020304" pitchFamily="18" charset="0"/>
              </a:rPr>
              <a:t>i</a:t>
            </a:r>
            <a:r>
              <a:rPr sz="2400" spc="-10">
                <a:latin typeface="Times New Roman" panose="02020603050405020304" pitchFamily="18" charset="0"/>
                <a:cs typeface="Times New Roman" panose="02020603050405020304" pitchFamily="18" charset="0"/>
              </a:rPr>
              <a:t>v</a:t>
            </a:r>
            <a:r>
              <a:rPr sz="2400">
                <a:latin typeface="Times New Roman" panose="02020603050405020304" pitchFamily="18" charset="0"/>
                <a:cs typeface="Times New Roman" panose="02020603050405020304" pitchFamily="18" charset="0"/>
              </a:rPr>
              <a:t>e</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entrepreneurs are</a:t>
            </a:r>
            <a:r>
              <a:rPr sz="2400" spc="-4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adoptive.</a:t>
            </a:r>
            <a:endParaRPr lang="en-US" sz="2400">
              <a:latin typeface="Times New Roman" panose="02020603050405020304" pitchFamily="18" charset="0"/>
              <a:cs typeface="Times New Roman" panose="02020603050405020304" pitchFamily="18" charset="0"/>
            </a:endParaRPr>
          </a:p>
          <a:p>
            <a:pPr marL="356870" marR="5715" algn="just">
              <a:spcBef>
                <a:spcPts val="0"/>
              </a:spcBef>
              <a:tabLst>
                <a:tab pos="1996439" algn="l"/>
                <a:tab pos="2734310" algn="l"/>
                <a:tab pos="3486150" algn="l"/>
                <a:tab pos="4540885" algn="l"/>
                <a:tab pos="6055995" algn="l"/>
                <a:tab pos="6706870" algn="l"/>
              </a:tabLst>
            </a:pPr>
            <a:r>
              <a:rPr lang="en-US" sz="2400">
                <a:latin typeface="Times New Roman" panose="02020603050405020304" pitchFamily="18" charset="0"/>
                <a:cs typeface="Times New Roman" panose="02020603050405020304" pitchFamily="18" charset="0"/>
              </a:rPr>
              <a:t>These entrepreneurs face lesser risks and uncertainty then innovative entrepreneurs.</a:t>
            </a:r>
          </a:p>
          <a:p>
            <a:pPr marL="356870" marR="5715" algn="just">
              <a:spcBef>
                <a:spcPts val="0"/>
              </a:spcBef>
              <a:tabLst>
                <a:tab pos="1996439" algn="l"/>
                <a:tab pos="2734310" algn="l"/>
                <a:tab pos="3486150" algn="l"/>
                <a:tab pos="4540885" algn="l"/>
                <a:tab pos="6055995" algn="l"/>
                <a:tab pos="6706870" algn="l"/>
              </a:tabLst>
            </a:pPr>
            <a:r>
              <a:rPr lang="en-US" sz="2400">
                <a:latin typeface="Times New Roman" panose="02020603050405020304" pitchFamily="18" charset="0"/>
                <a:cs typeface="Times New Roman" panose="02020603050405020304" pitchFamily="18" charset="0"/>
              </a:rPr>
              <a:t> Imitative entrepreneurs are most suitable for the developing regions because in such countries people prefer to imitate the technology, knowledge and skill already available in more advanced countries.</a:t>
            </a:r>
          </a:p>
        </p:txBody>
      </p:sp>
      <p:sp>
        <p:nvSpPr>
          <p:cNvPr id="7" name="Date Placeholder 3"/>
          <p:cNvSpPr>
            <a:spLocks noGrp="1"/>
          </p:cNvSpPr>
          <p:nvPr>
            <p:ph type="dt" sz="half" idx="10"/>
          </p:nvPr>
        </p:nvSpPr>
        <p:spPr>
          <a:xfrm>
            <a:off x="457200" y="6356352"/>
            <a:ext cx="2133600" cy="365125"/>
          </a:xfrm>
        </p:spPr>
        <p:txBody>
          <a:bodyPr/>
          <a:lstStyle/>
          <a:p>
            <a:fld id="{0B4AC9D4-E32A-4C37-9AFF-CFD04D8DACF3}" type="datetime1">
              <a:rPr lang="en-US" smtClean="0"/>
              <a:pPr/>
              <a:t>12-Aug-25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52</a:t>
            </a:fld>
            <a:endParaRPr lang="en-US"/>
          </a:p>
        </p:txBody>
      </p:sp>
      <p:sp>
        <p:nvSpPr>
          <p:cNvPr id="10" name="Title 1"/>
          <p:cNvSpPr txBox="1">
            <a:spLocks/>
          </p:cNvSpPr>
          <p:nvPr/>
        </p:nvSpPr>
        <p:spPr>
          <a:xfrm>
            <a:off x="1475656" y="32875"/>
            <a:ext cx="7848872" cy="94785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b="1" spc="-5">
                <a:latin typeface="Times New Roman"/>
                <a:cs typeface="Times New Roman"/>
              </a:rPr>
              <a:t>ADOPTIVE OR IMITATIVE</a:t>
            </a:r>
            <a:r>
              <a:rPr lang="en-IN" sz="3600" b="1" spc="30">
                <a:latin typeface="Times New Roman"/>
                <a:cs typeface="Times New Roman"/>
              </a:rPr>
              <a:t> </a:t>
            </a:r>
            <a:r>
              <a:rPr lang="en-IN" sz="3600" b="1" spc="-5">
                <a:latin typeface="Times New Roman"/>
                <a:cs typeface="Times New Roman"/>
              </a:rPr>
              <a:t>ENTREPRENEURS</a:t>
            </a:r>
            <a:endParaRPr lang="en-US" sz="3600" b="1">
              <a:latin typeface="Times New Roman" panose="02020603050405020304" pitchFamily="18" charset="0"/>
              <a:cs typeface="Times New Roman" panose="02020603050405020304" pitchFamily="18" charset="0"/>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3264088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908853" y="324681"/>
            <a:ext cx="6435470" cy="321242"/>
          </a:xfrm>
          <a:prstGeom prst="rect">
            <a:avLst/>
          </a:prstGeom>
        </p:spPr>
        <p:txBody>
          <a:bodyPr vert="horz" wrap="square" lIns="0" tIns="13335" rIns="0" bIns="0" rtlCol="0">
            <a:spAutoFit/>
          </a:bodyPr>
          <a:lstStyle/>
          <a:p>
            <a:pPr marL="12700" algn="just">
              <a:lnSpc>
                <a:spcPct val="100000"/>
              </a:lnSpc>
              <a:spcBef>
                <a:spcPts val="105"/>
              </a:spcBef>
            </a:pPr>
            <a:r>
              <a:rPr sz="2000" spc="-40">
                <a:solidFill>
                  <a:schemeClr val="bg1"/>
                </a:solidFill>
                <a:latin typeface="Times New Roman"/>
                <a:cs typeface="Times New Roman"/>
              </a:rPr>
              <a:t>FABIAN</a:t>
            </a:r>
            <a:r>
              <a:rPr lang="en-US" sz="2000" spc="-40">
                <a:solidFill>
                  <a:schemeClr val="bg1"/>
                </a:solidFill>
                <a:latin typeface="Times New Roman"/>
                <a:cs typeface="Times New Roman"/>
              </a:rPr>
              <a:t> </a:t>
            </a:r>
            <a:r>
              <a:rPr sz="2000">
                <a:solidFill>
                  <a:schemeClr val="bg1"/>
                </a:solidFill>
                <a:latin typeface="Times New Roman"/>
                <a:cs typeface="Times New Roman"/>
              </a:rPr>
              <a:t>ENTREPRENEURS</a:t>
            </a:r>
          </a:p>
        </p:txBody>
      </p:sp>
      <p:sp>
        <p:nvSpPr>
          <p:cNvPr id="11" name="object 11"/>
          <p:cNvSpPr txBox="1"/>
          <p:nvPr/>
        </p:nvSpPr>
        <p:spPr>
          <a:xfrm>
            <a:off x="2560" y="1147606"/>
            <a:ext cx="9180511" cy="4562788"/>
          </a:xfrm>
          <a:prstGeom prst="rect">
            <a:avLst/>
          </a:prstGeom>
        </p:spPr>
        <p:txBody>
          <a:bodyPr vert="horz" wrap="square" lIns="0" tIns="12700" rIns="0" bIns="0" rtlCol="0">
            <a:spAutoFit/>
          </a:bodyPr>
          <a:lstStyle/>
          <a:p>
            <a:pPr marL="355600" indent="-343535">
              <a:spcBef>
                <a:spcPts val="100"/>
              </a:spcBef>
              <a:buFont typeface="Arial"/>
              <a:buChar char="•"/>
              <a:tabLst>
                <a:tab pos="355600" algn="l"/>
                <a:tab pos="356235" algn="l"/>
              </a:tabLst>
            </a:pPr>
            <a:r>
              <a:rPr sz="2400">
                <a:latin typeface="Times New Roman" panose="02020603050405020304" pitchFamily="18" charset="0"/>
                <a:cs typeface="Times New Roman" panose="02020603050405020304" pitchFamily="18" charset="0"/>
              </a:rPr>
              <a:t>These entrepreneurs are </a:t>
            </a:r>
            <a:r>
              <a:rPr sz="2400" spc="-5">
                <a:latin typeface="Times New Roman" panose="02020603050405020304" pitchFamily="18" charset="0"/>
                <a:cs typeface="Times New Roman" panose="02020603050405020304" pitchFamily="18" charset="0"/>
              </a:rPr>
              <a:t>traditionally</a:t>
            </a:r>
            <a:r>
              <a:rPr sz="2400" spc="-9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bounded.</a:t>
            </a:r>
          </a:p>
          <a:p>
            <a:pPr marL="355600" indent="-343535">
              <a:spcBef>
                <a:spcPts val="2020"/>
              </a:spcBef>
              <a:buFont typeface="Arial"/>
              <a:buChar char="•"/>
              <a:tabLst>
                <a:tab pos="355600" algn="l"/>
                <a:tab pos="356235" algn="l"/>
              </a:tabLst>
            </a:pPr>
            <a:r>
              <a:rPr sz="2400">
                <a:latin typeface="Times New Roman" panose="02020603050405020304" pitchFamily="18" charset="0"/>
                <a:cs typeface="Times New Roman" panose="02020603050405020304" pitchFamily="18" charset="0"/>
              </a:rPr>
              <a:t>They would be</a:t>
            </a:r>
            <a:r>
              <a:rPr sz="2400" spc="-1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cautious.</a:t>
            </a:r>
          </a:p>
          <a:p>
            <a:pPr marL="355600" marR="6350" indent="-343535">
              <a:spcBef>
                <a:spcPts val="575"/>
              </a:spcBef>
              <a:buFont typeface="Arial"/>
              <a:buChar char="•"/>
              <a:tabLst>
                <a:tab pos="355600" algn="l"/>
                <a:tab pos="356235" algn="l"/>
              </a:tabLst>
            </a:pPr>
            <a:r>
              <a:rPr sz="2400">
                <a:latin typeface="Times New Roman" panose="02020603050405020304" pitchFamily="18" charset="0"/>
                <a:cs typeface="Times New Roman" panose="02020603050405020304" pitchFamily="18" charset="0"/>
              </a:rPr>
              <a:t>They </a:t>
            </a:r>
            <a:r>
              <a:rPr sz="2400" spc="-5">
                <a:latin typeface="Times New Roman" panose="02020603050405020304" pitchFamily="18" charset="0"/>
                <a:cs typeface="Times New Roman" panose="02020603050405020304" pitchFamily="18" charset="0"/>
              </a:rPr>
              <a:t>neither introduce new </a:t>
            </a:r>
            <a:r>
              <a:rPr sz="2400">
                <a:latin typeface="Times New Roman" panose="02020603050405020304" pitchFamily="18" charset="0"/>
                <a:cs typeface="Times New Roman" panose="02020603050405020304" pitchFamily="18" charset="0"/>
              </a:rPr>
              <a:t>changes nor </a:t>
            </a:r>
            <a:r>
              <a:rPr sz="2400" spc="-5">
                <a:latin typeface="Times New Roman" panose="02020603050405020304" pitchFamily="18" charset="0"/>
                <a:cs typeface="Times New Roman" panose="02020603050405020304" pitchFamily="18" charset="0"/>
              </a:rPr>
              <a:t>adopt new methods  </a:t>
            </a:r>
            <a:r>
              <a:rPr sz="2400">
                <a:latin typeface="Times New Roman" panose="02020603050405020304" pitchFamily="18" charset="0"/>
                <a:cs typeface="Times New Roman" panose="02020603050405020304" pitchFamily="18" charset="0"/>
              </a:rPr>
              <a:t>innovated by others</a:t>
            </a:r>
            <a:r>
              <a:rPr sz="2400" spc="-4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entrepreneurs.</a:t>
            </a:r>
            <a:r>
              <a:rPr lang="en-US" sz="2400">
                <a:latin typeface="Times New Roman" panose="02020603050405020304" pitchFamily="18" charset="0"/>
                <a:cs typeface="Times New Roman" panose="02020603050405020304" pitchFamily="18" charset="0"/>
              </a:rPr>
              <a:t> They are very much skeptical in their approach in adopting or innovating new technology in their enterprise and they love to remain in the existing business with the age-old techniques of production. </a:t>
            </a:r>
            <a:endParaRPr sz="2400">
              <a:latin typeface="Times New Roman" panose="02020603050405020304" pitchFamily="18" charset="0"/>
              <a:cs typeface="Times New Roman" panose="02020603050405020304" pitchFamily="18" charset="0"/>
            </a:endParaRPr>
          </a:p>
          <a:p>
            <a:pPr marL="355600" marR="5080" indent="-343535">
              <a:spcBef>
                <a:spcPts val="575"/>
              </a:spcBef>
              <a:buFont typeface="Arial"/>
              <a:buChar char="•"/>
              <a:tabLst>
                <a:tab pos="355600" algn="l"/>
                <a:tab pos="356235" algn="l"/>
              </a:tabLst>
            </a:pPr>
            <a:r>
              <a:rPr sz="2400">
                <a:latin typeface="Times New Roman" panose="02020603050405020304" pitchFamily="18" charset="0"/>
                <a:cs typeface="Times New Roman" panose="02020603050405020304" pitchFamily="18" charset="0"/>
              </a:rPr>
              <a:t>They </a:t>
            </a:r>
            <a:r>
              <a:rPr sz="2400" spc="-5">
                <a:latin typeface="Times New Roman" panose="02020603050405020304" pitchFamily="18" charset="0"/>
                <a:cs typeface="Times New Roman" panose="02020603050405020304" pitchFamily="18" charset="0"/>
              </a:rPr>
              <a:t>are shy </a:t>
            </a:r>
            <a:r>
              <a:rPr sz="2400">
                <a:latin typeface="Times New Roman" panose="02020603050405020304" pitchFamily="18" charset="0"/>
                <a:cs typeface="Times New Roman" panose="02020603050405020304" pitchFamily="18" charset="0"/>
              </a:rPr>
              <a:t>and </a:t>
            </a:r>
            <a:r>
              <a:rPr sz="2400" spc="-35">
                <a:latin typeface="Times New Roman" panose="02020603050405020304" pitchFamily="18" charset="0"/>
                <a:cs typeface="Times New Roman" panose="02020603050405020304" pitchFamily="18" charset="0"/>
              </a:rPr>
              <a:t>lazy. </a:t>
            </a:r>
            <a:r>
              <a:rPr sz="2400">
                <a:latin typeface="Times New Roman" panose="02020603050405020304" pitchFamily="18" charset="0"/>
                <a:cs typeface="Times New Roman" panose="02020603050405020304" pitchFamily="18" charset="0"/>
              </a:rPr>
              <a:t>They try to </a:t>
            </a:r>
            <a:r>
              <a:rPr sz="2400" spc="-10">
                <a:latin typeface="Times New Roman" panose="02020603050405020304" pitchFamily="18" charset="0"/>
                <a:cs typeface="Times New Roman" panose="02020603050405020304" pitchFamily="18" charset="0"/>
              </a:rPr>
              <a:t>follow </a:t>
            </a:r>
            <a:r>
              <a:rPr sz="2400">
                <a:latin typeface="Times New Roman" panose="02020603050405020304" pitchFamily="18" charset="0"/>
                <a:cs typeface="Times New Roman" panose="02020603050405020304" pitchFamily="18" charset="0"/>
              </a:rPr>
              <a:t>the footsteps of </a:t>
            </a:r>
            <a:r>
              <a:rPr sz="2400" spc="-5">
                <a:latin typeface="Times New Roman" panose="02020603050405020304" pitchFamily="18" charset="0"/>
                <a:cs typeface="Times New Roman" panose="02020603050405020304" pitchFamily="18" charset="0"/>
              </a:rPr>
              <a:t>their  </a:t>
            </a:r>
            <a:r>
              <a:rPr sz="2400">
                <a:latin typeface="Times New Roman" panose="02020603050405020304" pitchFamily="18" charset="0"/>
                <a:cs typeface="Times New Roman" panose="02020603050405020304" pitchFamily="18" charset="0"/>
              </a:rPr>
              <a:t>predecessors.</a:t>
            </a:r>
            <a:r>
              <a:rPr lang="en-US" sz="2400">
                <a:latin typeface="Times New Roman" panose="02020603050405020304" pitchFamily="18" charset="0"/>
                <a:cs typeface="Times New Roman" panose="02020603050405020304" pitchFamily="18" charset="0"/>
              </a:rPr>
              <a:t> </a:t>
            </a:r>
            <a:endParaRPr sz="2400">
              <a:latin typeface="Times New Roman" panose="02020603050405020304" pitchFamily="18" charset="0"/>
              <a:cs typeface="Times New Roman" panose="02020603050405020304" pitchFamily="18" charset="0"/>
            </a:endParaRPr>
          </a:p>
          <a:p>
            <a:pPr marL="355600" marR="5080" indent="-343535">
              <a:spcBef>
                <a:spcPts val="580"/>
              </a:spcBef>
              <a:buFont typeface="Arial"/>
              <a:buChar char="•"/>
              <a:tabLst>
                <a:tab pos="355600" algn="l"/>
                <a:tab pos="356235" algn="l"/>
              </a:tabLst>
            </a:pPr>
            <a:r>
              <a:rPr sz="2400">
                <a:latin typeface="Times New Roman" panose="02020603050405020304" pitchFamily="18" charset="0"/>
                <a:cs typeface="Times New Roman" panose="02020603050405020304" pitchFamily="18" charset="0"/>
              </a:rPr>
              <a:t>They </a:t>
            </a:r>
            <a:r>
              <a:rPr sz="2400" spc="-5">
                <a:latin typeface="Times New Roman" panose="02020603050405020304" pitchFamily="18" charset="0"/>
                <a:cs typeface="Times New Roman" panose="02020603050405020304" pitchFamily="18" charset="0"/>
              </a:rPr>
              <a:t>follow </a:t>
            </a:r>
            <a:r>
              <a:rPr sz="2400">
                <a:latin typeface="Times New Roman" panose="02020603050405020304" pitchFamily="18" charset="0"/>
                <a:cs typeface="Times New Roman" panose="02020603050405020304" pitchFamily="18" charset="0"/>
              </a:rPr>
              <a:t>old </a:t>
            </a:r>
            <a:r>
              <a:rPr sz="2400" spc="-5">
                <a:latin typeface="Times New Roman" panose="02020603050405020304" pitchFamily="18" charset="0"/>
                <a:cs typeface="Times New Roman" panose="02020603050405020304" pitchFamily="18" charset="0"/>
              </a:rPr>
              <a:t>customs, traditions, sentiments etc. They </a:t>
            </a:r>
            <a:r>
              <a:rPr sz="2400">
                <a:latin typeface="Times New Roman" panose="02020603050405020304" pitchFamily="18" charset="0"/>
                <a:cs typeface="Times New Roman" panose="02020603050405020304" pitchFamily="18" charset="0"/>
              </a:rPr>
              <a:t>take  up </a:t>
            </a:r>
            <a:r>
              <a:rPr sz="2400" spc="-5">
                <a:latin typeface="Times New Roman" panose="02020603050405020304" pitchFamily="18" charset="0"/>
                <a:cs typeface="Times New Roman" panose="02020603050405020304" pitchFamily="18" charset="0"/>
              </a:rPr>
              <a:t>new </a:t>
            </a:r>
            <a:r>
              <a:rPr sz="2400">
                <a:latin typeface="Times New Roman" panose="02020603050405020304" pitchFamily="18" charset="0"/>
                <a:cs typeface="Times New Roman" panose="02020603050405020304" pitchFamily="18" charset="0"/>
              </a:rPr>
              <a:t>projects only when it is necessary to do</a:t>
            </a:r>
            <a:r>
              <a:rPr sz="2400" spc="-10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so.</a:t>
            </a:r>
            <a:endParaRPr sz="2400">
              <a:latin typeface="Times New Roman" panose="02020603050405020304" pitchFamily="18" charset="0"/>
              <a:cs typeface="Times New Roman" panose="02020603050405020304" pitchFamily="18" charset="0"/>
            </a:endParaRPr>
          </a:p>
        </p:txBody>
      </p:sp>
      <p:sp>
        <p:nvSpPr>
          <p:cNvPr id="14" name="Date Placeholder 3"/>
          <p:cNvSpPr>
            <a:spLocks noGrp="1"/>
          </p:cNvSpPr>
          <p:nvPr>
            <p:ph type="dt" sz="half" idx="10"/>
          </p:nvPr>
        </p:nvSpPr>
        <p:spPr>
          <a:xfrm>
            <a:off x="457200" y="6356352"/>
            <a:ext cx="2133600" cy="365125"/>
          </a:xfrm>
        </p:spPr>
        <p:txBody>
          <a:bodyPr/>
          <a:lstStyle/>
          <a:p>
            <a:fld id="{D41C5DCB-4416-40E2-B509-3183778A4EF6}" type="datetime1">
              <a:rPr lang="en-US" smtClean="0"/>
              <a:pPr/>
              <a:t>12-Aug-25</a:t>
            </a:fld>
            <a:endParaRPr lang="en-US"/>
          </a:p>
        </p:txBody>
      </p:sp>
      <p:sp>
        <p:nvSpPr>
          <p:cNvPr id="16" name="Slide Number Placeholder 15"/>
          <p:cNvSpPr>
            <a:spLocks noGrp="1"/>
          </p:cNvSpPr>
          <p:nvPr>
            <p:ph type="sldNum" sz="quarter" idx="12"/>
          </p:nvPr>
        </p:nvSpPr>
        <p:spPr/>
        <p:txBody>
          <a:bodyPr/>
          <a:lstStyle/>
          <a:p>
            <a:fld id="{B6F15528-21DE-4FAA-801E-634DDDAF4B2B}" type="slidenum">
              <a:rPr lang="en-US" smtClean="0"/>
              <a:pPr/>
              <a:t>53</a:t>
            </a:fld>
            <a:endParaRPr lang="en-US"/>
          </a:p>
        </p:txBody>
      </p:sp>
      <p:sp>
        <p:nvSpPr>
          <p:cNvPr id="9" name="Title 1"/>
          <p:cNvSpPr txBox="1">
            <a:spLocks/>
          </p:cNvSpPr>
          <p:nvPr/>
        </p:nvSpPr>
        <p:spPr>
          <a:xfrm>
            <a:off x="1619672" y="49709"/>
            <a:ext cx="7452320" cy="78700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b="1" spc="-40">
                <a:solidFill>
                  <a:schemeClr val="tx1"/>
                </a:solidFill>
                <a:latin typeface="Times New Roman"/>
                <a:cs typeface="Times New Roman"/>
              </a:rPr>
              <a:t>FABIAN </a:t>
            </a:r>
            <a:r>
              <a:rPr lang="en-IN" sz="3600" b="1">
                <a:solidFill>
                  <a:schemeClr val="tx1"/>
                </a:solidFill>
                <a:latin typeface="Times New Roman"/>
                <a:cs typeface="Times New Roman"/>
              </a:rPr>
              <a:t>ENTREPRENEURS</a:t>
            </a:r>
            <a:endParaRPr lang="en-US" sz="3600" b="1">
              <a:solidFill>
                <a:schemeClr val="tx1"/>
              </a:solidFill>
              <a:latin typeface="Times New Roman" panose="02020603050405020304" pitchFamily="18" charset="0"/>
              <a:cs typeface="Times New Roman" panose="02020603050405020304" pitchFamily="18" charset="0"/>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12-Aug-25</a:t>
            </a:fld>
            <a:r>
              <a:rPr lang="en-US"/>
              <a:t>                                                      VIJAY LAXMI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5578436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977073" y="350896"/>
            <a:ext cx="5189855" cy="321242"/>
          </a:xfrm>
          <a:prstGeom prst="rect">
            <a:avLst/>
          </a:prstGeom>
        </p:spPr>
        <p:txBody>
          <a:bodyPr vert="horz" wrap="square" lIns="0" tIns="13335" rIns="0" bIns="0" rtlCol="0">
            <a:spAutoFit/>
          </a:bodyPr>
          <a:lstStyle/>
          <a:p>
            <a:pPr marL="12700">
              <a:lnSpc>
                <a:spcPct val="100000"/>
              </a:lnSpc>
              <a:spcBef>
                <a:spcPts val="105"/>
              </a:spcBef>
            </a:pPr>
            <a:r>
              <a:rPr sz="2000">
                <a:solidFill>
                  <a:schemeClr val="bg1"/>
                </a:solidFill>
                <a:latin typeface="+mn-lt"/>
                <a:cs typeface="Times New Roman"/>
              </a:rPr>
              <a:t>DRONE</a:t>
            </a:r>
            <a:r>
              <a:rPr sz="2000" spc="-70">
                <a:solidFill>
                  <a:schemeClr val="bg1"/>
                </a:solidFill>
                <a:latin typeface="+mn-lt"/>
                <a:cs typeface="Times New Roman"/>
              </a:rPr>
              <a:t> </a:t>
            </a:r>
            <a:r>
              <a:rPr sz="2000">
                <a:solidFill>
                  <a:schemeClr val="bg1"/>
                </a:solidFill>
                <a:latin typeface="+mn-lt"/>
                <a:cs typeface="Times New Roman"/>
              </a:rPr>
              <a:t>ENTREPRENEURS</a:t>
            </a:r>
          </a:p>
        </p:txBody>
      </p:sp>
      <p:sp>
        <p:nvSpPr>
          <p:cNvPr id="11" name="object 11"/>
          <p:cNvSpPr txBox="1">
            <a:spLocks noGrp="1"/>
          </p:cNvSpPr>
          <p:nvPr>
            <p:ph idx="1"/>
          </p:nvPr>
        </p:nvSpPr>
        <p:spPr>
          <a:xfrm>
            <a:off x="457200" y="1371601"/>
            <a:ext cx="8229600" cy="3988912"/>
          </a:xfrm>
          <a:prstGeom prst="rect">
            <a:avLst/>
          </a:prstGeom>
        </p:spPr>
        <p:txBody>
          <a:bodyPr vert="horz" wrap="square" lIns="0" tIns="196215" rIns="0" bIns="0" rtlCol="0">
            <a:spAutoFit/>
          </a:bodyPr>
          <a:lstStyle/>
          <a:p>
            <a:pPr marL="356870" indent="-343535">
              <a:lnSpc>
                <a:spcPct val="100000"/>
              </a:lnSpc>
              <a:spcBef>
                <a:spcPts val="1545"/>
              </a:spcBef>
              <a:buFont typeface="Arial"/>
              <a:buChar char="•"/>
              <a:tabLst>
                <a:tab pos="356870" algn="l"/>
                <a:tab pos="357505" algn="l"/>
                <a:tab pos="1256030" algn="l"/>
                <a:tab pos="3051810" algn="l"/>
                <a:tab pos="3560445" algn="l"/>
                <a:tab pos="4342765" algn="l"/>
                <a:tab pos="5003800" algn="l"/>
                <a:tab pos="5887085" algn="l"/>
                <a:tab pos="6261735" algn="l"/>
                <a:tab pos="7075805" algn="l"/>
                <a:tab pos="7653655" algn="l"/>
              </a:tabLst>
            </a:pPr>
            <a:r>
              <a:rPr sz="2600">
                <a:latin typeface="Times New Roman" panose="02020603050405020304" pitchFamily="18" charset="0"/>
                <a:cs typeface="Times New Roman" panose="02020603050405020304" pitchFamily="18" charset="0"/>
              </a:rPr>
              <a:t>Drone	entr</a:t>
            </a:r>
            <a:r>
              <a:rPr sz="2600" spc="-15">
                <a:latin typeface="Times New Roman" panose="02020603050405020304" pitchFamily="18" charset="0"/>
                <a:cs typeface="Times New Roman" panose="02020603050405020304" pitchFamily="18" charset="0"/>
              </a:rPr>
              <a:t>e</a:t>
            </a:r>
            <a:r>
              <a:rPr sz="2600">
                <a:latin typeface="Times New Roman" panose="02020603050405020304" pitchFamily="18" charset="0"/>
                <a:cs typeface="Times New Roman" panose="02020603050405020304" pitchFamily="18" charset="0"/>
              </a:rPr>
              <a:t>prene</a:t>
            </a:r>
            <a:r>
              <a:rPr sz="2600" spc="-10">
                <a:latin typeface="Times New Roman" panose="02020603050405020304" pitchFamily="18" charset="0"/>
                <a:cs typeface="Times New Roman" panose="02020603050405020304" pitchFamily="18" charset="0"/>
              </a:rPr>
              <a:t>u</a:t>
            </a:r>
            <a:r>
              <a:rPr sz="2600">
                <a:latin typeface="Times New Roman" panose="02020603050405020304" pitchFamily="18" charset="0"/>
                <a:cs typeface="Times New Roman" panose="02020603050405020304" pitchFamily="18" charset="0"/>
              </a:rPr>
              <a:t>rs	are	those	w</a:t>
            </a:r>
            <a:r>
              <a:rPr sz="2600" spc="-10">
                <a:latin typeface="Times New Roman" panose="02020603050405020304" pitchFamily="18" charset="0"/>
                <a:cs typeface="Times New Roman" panose="02020603050405020304" pitchFamily="18" charset="0"/>
              </a:rPr>
              <a:t>h</a:t>
            </a:r>
            <a:r>
              <a:rPr sz="2600">
                <a:latin typeface="Times New Roman" panose="02020603050405020304" pitchFamily="18" charset="0"/>
                <a:cs typeface="Times New Roman" panose="02020603050405020304" pitchFamily="18" charset="0"/>
              </a:rPr>
              <a:t>o	refuse	to	</a:t>
            </a:r>
            <a:r>
              <a:rPr sz="2600" spc="-10">
                <a:latin typeface="Times New Roman" panose="02020603050405020304" pitchFamily="18" charset="0"/>
                <a:cs typeface="Times New Roman" panose="02020603050405020304" pitchFamily="18" charset="0"/>
              </a:rPr>
              <a:t>a</a:t>
            </a:r>
            <a:r>
              <a:rPr sz="2600">
                <a:latin typeface="Times New Roman" panose="02020603050405020304" pitchFamily="18" charset="0"/>
                <a:cs typeface="Times New Roman" panose="02020603050405020304" pitchFamily="18" charset="0"/>
              </a:rPr>
              <a:t>dopt	and	use</a:t>
            </a:r>
            <a:r>
              <a:rPr lang="en-IN" sz="2600">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opportunities to </a:t>
            </a:r>
            <a:r>
              <a:rPr sz="2600" spc="-5">
                <a:latin typeface="Times New Roman" panose="02020603050405020304" pitchFamily="18" charset="0"/>
                <a:cs typeface="Times New Roman" panose="02020603050405020304" pitchFamily="18" charset="0"/>
              </a:rPr>
              <a:t>make </a:t>
            </a:r>
            <a:r>
              <a:rPr sz="2600">
                <a:latin typeface="Times New Roman" panose="02020603050405020304" pitchFamily="18" charset="0"/>
                <a:cs typeface="Times New Roman" panose="02020603050405020304" pitchFamily="18" charset="0"/>
              </a:rPr>
              <a:t>changes in</a:t>
            </a:r>
            <a:r>
              <a:rPr sz="2600" spc="-55">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production.</a:t>
            </a:r>
          </a:p>
          <a:p>
            <a:pPr marL="356870" marR="6350" indent="-343535">
              <a:lnSpc>
                <a:spcPct val="150100"/>
              </a:lnSpc>
              <a:spcBef>
                <a:spcPts val="570"/>
              </a:spcBef>
              <a:buFont typeface="Arial"/>
              <a:buChar char="•"/>
              <a:tabLst>
                <a:tab pos="356870" algn="l"/>
                <a:tab pos="357505" algn="l"/>
                <a:tab pos="1147445" algn="l"/>
                <a:tab pos="2073275" algn="l"/>
                <a:tab pos="2626360" algn="l"/>
                <a:tab pos="3650615" algn="l"/>
                <a:tab pos="4187190" algn="l"/>
                <a:tab pos="5262880" algn="l"/>
                <a:tab pos="5681345" algn="l"/>
                <a:tab pos="7164070" algn="l"/>
              </a:tabLst>
            </a:pPr>
            <a:r>
              <a:rPr sz="2600">
                <a:latin typeface="Times New Roman" panose="02020603050405020304" pitchFamily="18" charset="0"/>
                <a:cs typeface="Times New Roman" panose="02020603050405020304" pitchFamily="18" charset="0"/>
              </a:rPr>
              <a:t>They	would	not	c</a:t>
            </a:r>
            <a:r>
              <a:rPr sz="2600" spc="-10">
                <a:latin typeface="Times New Roman" panose="02020603050405020304" pitchFamily="18" charset="0"/>
                <a:cs typeface="Times New Roman" panose="02020603050405020304" pitchFamily="18" charset="0"/>
              </a:rPr>
              <a:t>h</a:t>
            </a:r>
            <a:r>
              <a:rPr sz="2600">
                <a:latin typeface="Times New Roman" panose="02020603050405020304" pitchFamily="18" charset="0"/>
                <a:cs typeface="Times New Roman" panose="02020603050405020304" pitchFamily="18" charset="0"/>
              </a:rPr>
              <a:t>an</a:t>
            </a:r>
            <a:r>
              <a:rPr sz="2600" spc="-10">
                <a:latin typeface="Times New Roman" panose="02020603050405020304" pitchFamily="18" charset="0"/>
                <a:cs typeface="Times New Roman" panose="02020603050405020304" pitchFamily="18" charset="0"/>
              </a:rPr>
              <a:t>g</a:t>
            </a:r>
            <a:r>
              <a:rPr sz="2600">
                <a:latin typeface="Times New Roman" panose="02020603050405020304" pitchFamily="18" charset="0"/>
                <a:cs typeface="Times New Roman" panose="02020603050405020304" pitchFamily="18" charset="0"/>
              </a:rPr>
              <a:t>e	t</a:t>
            </a:r>
            <a:r>
              <a:rPr sz="2600" spc="5">
                <a:latin typeface="Times New Roman" panose="02020603050405020304" pitchFamily="18" charset="0"/>
                <a:cs typeface="Times New Roman" panose="02020603050405020304" pitchFamily="18" charset="0"/>
              </a:rPr>
              <a:t>h</a:t>
            </a:r>
            <a:r>
              <a:rPr sz="2600">
                <a:latin typeface="Times New Roman" panose="02020603050405020304" pitchFamily="18" charset="0"/>
                <a:cs typeface="Times New Roman" panose="02020603050405020304" pitchFamily="18" charset="0"/>
              </a:rPr>
              <a:t>e	</a:t>
            </a:r>
            <a:r>
              <a:rPr sz="2600" spc="-20">
                <a:latin typeface="Times New Roman" panose="02020603050405020304" pitchFamily="18" charset="0"/>
                <a:cs typeface="Times New Roman" panose="02020603050405020304" pitchFamily="18" charset="0"/>
              </a:rPr>
              <a:t>m</a:t>
            </a:r>
            <a:r>
              <a:rPr sz="2600">
                <a:latin typeface="Times New Roman" panose="02020603050405020304" pitchFamily="18" charset="0"/>
                <a:cs typeface="Times New Roman" panose="02020603050405020304" pitchFamily="18" charset="0"/>
              </a:rPr>
              <a:t>ethod	of	prod</a:t>
            </a:r>
            <a:r>
              <a:rPr sz="2600" spc="-10">
                <a:latin typeface="Times New Roman" panose="02020603050405020304" pitchFamily="18" charset="0"/>
                <a:cs typeface="Times New Roman" panose="02020603050405020304" pitchFamily="18" charset="0"/>
              </a:rPr>
              <a:t>u</a:t>
            </a:r>
            <a:r>
              <a:rPr sz="2600">
                <a:latin typeface="Times New Roman" panose="02020603050405020304" pitchFamily="18" charset="0"/>
                <a:cs typeface="Times New Roman" panose="02020603050405020304" pitchFamily="18" charset="0"/>
              </a:rPr>
              <a:t>ction	</a:t>
            </a:r>
            <a:r>
              <a:rPr sz="2600" spc="-10">
                <a:latin typeface="Times New Roman" panose="02020603050405020304" pitchFamily="18" charset="0"/>
                <a:cs typeface="Times New Roman" panose="02020603050405020304" pitchFamily="18" charset="0"/>
              </a:rPr>
              <a:t>a</a:t>
            </a:r>
            <a:r>
              <a:rPr sz="2600">
                <a:latin typeface="Times New Roman" panose="02020603050405020304" pitchFamily="18" charset="0"/>
                <a:cs typeface="Times New Roman" panose="02020603050405020304" pitchFamily="18" charset="0"/>
              </a:rPr>
              <a:t>lready</a:t>
            </a:r>
            <a:r>
              <a:rPr lang="en-IN" sz="2600">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introduced.</a:t>
            </a:r>
          </a:p>
          <a:p>
            <a:pPr marL="356870" indent="-343535">
              <a:lnSpc>
                <a:spcPct val="100000"/>
              </a:lnSpc>
              <a:spcBef>
                <a:spcPts val="2014"/>
              </a:spcBef>
              <a:buFont typeface="Arial"/>
              <a:buChar char="•"/>
              <a:tabLst>
                <a:tab pos="356870" algn="l"/>
                <a:tab pos="357505" algn="l"/>
              </a:tabLst>
            </a:pPr>
            <a:r>
              <a:rPr sz="2600">
                <a:latin typeface="Times New Roman" panose="02020603050405020304" pitchFamily="18" charset="0"/>
                <a:cs typeface="Times New Roman" panose="02020603050405020304" pitchFamily="18" charset="0"/>
              </a:rPr>
              <a:t>They follow the traditional </a:t>
            </a:r>
            <a:r>
              <a:rPr sz="2600" spc="-5">
                <a:latin typeface="Times New Roman" panose="02020603050405020304" pitchFamily="18" charset="0"/>
                <a:cs typeface="Times New Roman" panose="02020603050405020304" pitchFamily="18" charset="0"/>
              </a:rPr>
              <a:t>method </a:t>
            </a:r>
            <a:r>
              <a:rPr sz="2600">
                <a:latin typeface="Times New Roman" panose="02020603050405020304" pitchFamily="18" charset="0"/>
                <a:cs typeface="Times New Roman" panose="02020603050405020304" pitchFamily="18" charset="0"/>
              </a:rPr>
              <a:t>of</a:t>
            </a:r>
            <a:r>
              <a:rPr sz="2600" spc="-90">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production.</a:t>
            </a:r>
          </a:p>
          <a:p>
            <a:pPr marL="356870" indent="-343535">
              <a:lnSpc>
                <a:spcPct val="100000"/>
              </a:lnSpc>
              <a:spcBef>
                <a:spcPts val="2020"/>
              </a:spcBef>
              <a:buFont typeface="Arial"/>
              <a:buChar char="•"/>
              <a:tabLst>
                <a:tab pos="356870" algn="l"/>
                <a:tab pos="357505" algn="l"/>
              </a:tabLst>
            </a:pPr>
            <a:r>
              <a:rPr sz="2600">
                <a:latin typeface="Times New Roman" panose="02020603050405020304" pitchFamily="18" charset="0"/>
                <a:cs typeface="Times New Roman" panose="02020603050405020304" pitchFamily="18" charset="0"/>
              </a:rPr>
              <a:t>They</a:t>
            </a:r>
            <a:r>
              <a:rPr sz="2600" spc="310">
                <a:latin typeface="Times New Roman" panose="02020603050405020304" pitchFamily="18" charset="0"/>
                <a:cs typeface="Times New Roman" panose="02020603050405020304" pitchFamily="18" charset="0"/>
              </a:rPr>
              <a:t> </a:t>
            </a:r>
            <a:r>
              <a:rPr sz="2600" spc="-10">
                <a:latin typeface="Times New Roman" panose="02020603050405020304" pitchFamily="18" charset="0"/>
                <a:cs typeface="Times New Roman" panose="02020603050405020304" pitchFamily="18" charset="0"/>
              </a:rPr>
              <a:t>may</a:t>
            </a:r>
            <a:r>
              <a:rPr sz="2600" spc="325">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even</a:t>
            </a:r>
            <a:r>
              <a:rPr sz="2600" spc="320">
                <a:latin typeface="Times New Roman" panose="02020603050405020304" pitchFamily="18" charset="0"/>
                <a:cs typeface="Times New Roman" panose="02020603050405020304" pitchFamily="18" charset="0"/>
              </a:rPr>
              <a:t> </a:t>
            </a:r>
            <a:r>
              <a:rPr sz="2600" spc="-10">
                <a:latin typeface="Times New Roman" panose="02020603050405020304" pitchFamily="18" charset="0"/>
                <a:cs typeface="Times New Roman" panose="02020603050405020304" pitchFamily="18" charset="0"/>
              </a:rPr>
              <a:t>suffer</a:t>
            </a:r>
            <a:r>
              <a:rPr sz="2600" spc="325">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losses</a:t>
            </a:r>
            <a:r>
              <a:rPr sz="2600" spc="330">
                <a:latin typeface="Times New Roman" panose="02020603050405020304" pitchFamily="18" charset="0"/>
                <a:cs typeface="Times New Roman" panose="02020603050405020304" pitchFamily="18" charset="0"/>
              </a:rPr>
              <a:t> </a:t>
            </a:r>
            <a:r>
              <a:rPr sz="2600" spc="-5">
                <a:latin typeface="Times New Roman" panose="02020603050405020304" pitchFamily="18" charset="0"/>
                <a:cs typeface="Times New Roman" panose="02020603050405020304" pitchFamily="18" charset="0"/>
              </a:rPr>
              <a:t>but</a:t>
            </a:r>
            <a:r>
              <a:rPr sz="2600" spc="320">
                <a:latin typeface="Times New Roman" panose="02020603050405020304" pitchFamily="18" charset="0"/>
                <a:cs typeface="Times New Roman" panose="02020603050405020304" pitchFamily="18" charset="0"/>
              </a:rPr>
              <a:t> </a:t>
            </a:r>
            <a:r>
              <a:rPr sz="2600" spc="-5">
                <a:latin typeface="Times New Roman" panose="02020603050405020304" pitchFamily="18" charset="0"/>
                <a:cs typeface="Times New Roman" panose="02020603050405020304" pitchFamily="18" charset="0"/>
              </a:rPr>
              <a:t>they</a:t>
            </a:r>
            <a:r>
              <a:rPr sz="2600" spc="320">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are</a:t>
            </a:r>
            <a:r>
              <a:rPr sz="2600" spc="325">
                <a:latin typeface="Times New Roman" panose="02020603050405020304" pitchFamily="18" charset="0"/>
                <a:cs typeface="Times New Roman" panose="02020603050405020304" pitchFamily="18" charset="0"/>
              </a:rPr>
              <a:t> </a:t>
            </a:r>
            <a:r>
              <a:rPr sz="2600" spc="-5">
                <a:latin typeface="Times New Roman" panose="02020603050405020304" pitchFamily="18" charset="0"/>
                <a:cs typeface="Times New Roman" panose="02020603050405020304" pitchFamily="18" charset="0"/>
              </a:rPr>
              <a:t>not</a:t>
            </a:r>
            <a:r>
              <a:rPr sz="2600" spc="325">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ready</a:t>
            </a:r>
            <a:r>
              <a:rPr sz="2600" spc="325">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to</a:t>
            </a:r>
            <a:r>
              <a:rPr sz="2600" spc="320">
                <a:latin typeface="Times New Roman" panose="02020603050405020304" pitchFamily="18" charset="0"/>
                <a:cs typeface="Times New Roman" panose="02020603050405020304" pitchFamily="18" charset="0"/>
              </a:rPr>
              <a:t> </a:t>
            </a:r>
            <a:r>
              <a:rPr sz="2600" spc="-5">
                <a:latin typeface="Times New Roman" panose="02020603050405020304" pitchFamily="18" charset="0"/>
                <a:cs typeface="Times New Roman" panose="02020603050405020304" pitchFamily="18" charset="0"/>
              </a:rPr>
              <a:t>make</a:t>
            </a:r>
            <a:r>
              <a:rPr lang="en-IN" sz="2600" spc="-5">
                <a:latin typeface="Times New Roman" panose="02020603050405020304" pitchFamily="18" charset="0"/>
                <a:cs typeface="Times New Roman" panose="02020603050405020304" pitchFamily="18" charset="0"/>
              </a:rPr>
              <a:t> </a:t>
            </a:r>
            <a:r>
              <a:rPr sz="2600" spc="-5">
                <a:latin typeface="Times New Roman" panose="02020603050405020304" pitchFamily="18" charset="0"/>
                <a:cs typeface="Times New Roman" panose="02020603050405020304" pitchFamily="18" charset="0"/>
              </a:rPr>
              <a:t>changes </a:t>
            </a:r>
            <a:r>
              <a:rPr sz="2600">
                <a:latin typeface="Times New Roman" panose="02020603050405020304" pitchFamily="18" charset="0"/>
                <a:cs typeface="Times New Roman" panose="02020603050405020304" pitchFamily="18" charset="0"/>
              </a:rPr>
              <a:t>in their existing production</a:t>
            </a:r>
            <a:r>
              <a:rPr sz="2600" spc="-90">
                <a:latin typeface="Times New Roman" panose="02020603050405020304" pitchFamily="18" charset="0"/>
                <a:cs typeface="Times New Roman" panose="02020603050405020304" pitchFamily="18" charset="0"/>
              </a:rPr>
              <a:t> </a:t>
            </a:r>
            <a:r>
              <a:rPr sz="2600" spc="-5">
                <a:latin typeface="Times New Roman" panose="02020603050405020304" pitchFamily="18" charset="0"/>
                <a:cs typeface="Times New Roman" panose="02020603050405020304" pitchFamily="18" charset="0"/>
              </a:rPr>
              <a:t>methods</a:t>
            </a:r>
            <a:r>
              <a:rPr sz="2000" spc="-5"/>
              <a:t>.</a:t>
            </a:r>
          </a:p>
        </p:txBody>
      </p:sp>
      <p:sp>
        <p:nvSpPr>
          <p:cNvPr id="8" name="Date Placeholder 3"/>
          <p:cNvSpPr>
            <a:spLocks noGrp="1"/>
          </p:cNvSpPr>
          <p:nvPr>
            <p:ph type="dt" sz="half" idx="10"/>
          </p:nvPr>
        </p:nvSpPr>
        <p:spPr>
          <a:xfrm>
            <a:off x="457200" y="6356352"/>
            <a:ext cx="2133600" cy="365125"/>
          </a:xfrm>
        </p:spPr>
        <p:txBody>
          <a:bodyPr/>
          <a:lstStyle/>
          <a:p>
            <a:fld id="{EDAF7460-236F-4685-A441-8E6F0990E43E}" type="datetime1">
              <a:rPr lang="en-US" smtClean="0"/>
              <a:pPr/>
              <a:t>12-Aug-25</a:t>
            </a:fld>
            <a:endParaRPr lang="en-US"/>
          </a:p>
        </p:txBody>
      </p:sp>
      <p:sp>
        <p:nvSpPr>
          <p:cNvPr id="12" name="Slide Number Placeholder 11"/>
          <p:cNvSpPr>
            <a:spLocks noGrp="1"/>
          </p:cNvSpPr>
          <p:nvPr>
            <p:ph type="sldNum" sz="quarter" idx="12"/>
          </p:nvPr>
        </p:nvSpPr>
        <p:spPr/>
        <p:txBody>
          <a:bodyPr/>
          <a:lstStyle/>
          <a:p>
            <a:fld id="{B6F15528-21DE-4FAA-801E-634DDDAF4B2B}" type="slidenum">
              <a:rPr lang="en-US" smtClean="0"/>
              <a:pPr/>
              <a:t>54</a:t>
            </a:fld>
            <a:endParaRPr lang="en-US"/>
          </a:p>
        </p:txBody>
      </p:sp>
      <p:sp>
        <p:nvSpPr>
          <p:cNvPr id="2" name="Footer Placeholder 12">
            <a:extLst>
              <a:ext uri="{FF2B5EF4-FFF2-40B4-BE49-F238E27FC236}">
                <a16:creationId xmlns:a16="http://schemas.microsoft.com/office/drawing/2014/main" id="{A7E1C6EC-31AA-2361-D78B-F6615BCA746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9" name="Title 1"/>
          <p:cNvSpPr txBox="1">
            <a:spLocks/>
          </p:cNvSpPr>
          <p:nvPr/>
        </p:nvSpPr>
        <p:spPr>
          <a:xfrm>
            <a:off x="1619672" y="31656"/>
            <a:ext cx="7524328" cy="8050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b="1">
                <a:solidFill>
                  <a:schemeClr val="tx1"/>
                </a:solidFill>
                <a:cs typeface="Times New Roman"/>
              </a:rPr>
              <a:t>DRONE</a:t>
            </a:r>
            <a:r>
              <a:rPr lang="en-IN" sz="3600" b="1" spc="-70">
                <a:solidFill>
                  <a:schemeClr val="tx1"/>
                </a:solidFill>
                <a:cs typeface="Times New Roman"/>
              </a:rPr>
              <a:t> </a:t>
            </a:r>
            <a:r>
              <a:rPr lang="en-IN" sz="3600" b="1">
                <a:solidFill>
                  <a:schemeClr val="tx1"/>
                </a:solidFill>
                <a:cs typeface="Times New Roman"/>
              </a:rPr>
              <a:t>ENTREPRENEURS</a:t>
            </a:r>
            <a:endParaRPr lang="en-US" sz="3600" b="1">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9151171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00233" y="310844"/>
            <a:ext cx="5113655" cy="321242"/>
          </a:xfrm>
          <a:prstGeom prst="rect">
            <a:avLst/>
          </a:prstGeom>
        </p:spPr>
        <p:txBody>
          <a:bodyPr vert="horz" wrap="square" lIns="0" tIns="13335" rIns="0" bIns="0" rtlCol="0">
            <a:spAutoFit/>
          </a:bodyPr>
          <a:lstStyle/>
          <a:p>
            <a:pPr marL="12700">
              <a:lnSpc>
                <a:spcPct val="100000"/>
              </a:lnSpc>
              <a:spcBef>
                <a:spcPts val="105"/>
              </a:spcBef>
            </a:pPr>
            <a:r>
              <a:rPr sz="2000" b="1" spc="-5">
                <a:solidFill>
                  <a:srgbClr val="FFFFFF"/>
                </a:solidFill>
                <a:latin typeface="Times New Roman"/>
                <a:cs typeface="Times New Roman"/>
              </a:rPr>
              <a:t>COLE’S</a:t>
            </a:r>
            <a:r>
              <a:rPr sz="2000" b="1" spc="-65">
                <a:solidFill>
                  <a:srgbClr val="FFFFFF"/>
                </a:solidFill>
                <a:latin typeface="Times New Roman"/>
                <a:cs typeface="Times New Roman"/>
              </a:rPr>
              <a:t> </a:t>
            </a:r>
            <a:r>
              <a:rPr sz="2000" b="1" spc="-20">
                <a:solidFill>
                  <a:srgbClr val="FFFFFF"/>
                </a:solidFill>
                <a:latin typeface="Times New Roman"/>
                <a:cs typeface="Times New Roman"/>
              </a:rPr>
              <a:t>CLASSIFICATION</a:t>
            </a:r>
            <a:endParaRPr sz="2000">
              <a:latin typeface="Times New Roman"/>
              <a:cs typeface="Times New Roman"/>
            </a:endParaRPr>
          </a:p>
        </p:txBody>
      </p:sp>
      <p:sp>
        <p:nvSpPr>
          <p:cNvPr id="26" name="object 26"/>
          <p:cNvSpPr txBox="1"/>
          <p:nvPr/>
        </p:nvSpPr>
        <p:spPr>
          <a:xfrm>
            <a:off x="179512" y="883667"/>
            <a:ext cx="8964488" cy="4527521"/>
          </a:xfrm>
          <a:prstGeom prst="rect">
            <a:avLst/>
          </a:prstGeom>
        </p:spPr>
        <p:txBody>
          <a:bodyPr vert="horz" wrap="square" lIns="0" tIns="13335" rIns="0" bIns="0" rtlCol="0">
            <a:spAutoFit/>
          </a:bodyPr>
          <a:lstStyle/>
          <a:p>
            <a:pPr marL="527685" indent="-515620">
              <a:spcBef>
                <a:spcPts val="105"/>
              </a:spcBef>
              <a:buAutoNum type="arabicPeriod"/>
              <a:tabLst>
                <a:tab pos="527685" algn="l"/>
                <a:tab pos="528320" algn="l"/>
              </a:tabLst>
            </a:pPr>
            <a:r>
              <a:rPr sz="1900" b="1">
                <a:latin typeface="Times New Roman" panose="02020603050405020304" pitchFamily="18" charset="0"/>
                <a:cs typeface="Times New Roman" panose="02020603050405020304" pitchFamily="18" charset="0"/>
              </a:rPr>
              <a:t>EMPIRICAL</a:t>
            </a:r>
            <a:r>
              <a:rPr sz="1900" b="1" spc="-135">
                <a:latin typeface="Times New Roman" panose="02020603050405020304" pitchFamily="18" charset="0"/>
                <a:cs typeface="Times New Roman" panose="02020603050405020304" pitchFamily="18" charset="0"/>
              </a:rPr>
              <a:t> </a:t>
            </a:r>
            <a:r>
              <a:rPr sz="1900" b="1">
                <a:latin typeface="Times New Roman" panose="02020603050405020304" pitchFamily="18" charset="0"/>
                <a:cs typeface="Times New Roman" panose="02020603050405020304" pitchFamily="18" charset="0"/>
              </a:rPr>
              <a:t>ENTREPRENEUR</a:t>
            </a:r>
            <a:endParaRPr sz="1900">
              <a:latin typeface="Times New Roman" panose="02020603050405020304" pitchFamily="18" charset="0"/>
              <a:cs typeface="Times New Roman" panose="02020603050405020304" pitchFamily="18" charset="0"/>
            </a:endParaRPr>
          </a:p>
          <a:p>
            <a:pPr marL="927100" lvl="1" indent="-514350">
              <a:spcBef>
                <a:spcPts val="1680"/>
              </a:spcBef>
              <a:buFont typeface="Wingdings"/>
              <a:buChar char=""/>
              <a:tabLst>
                <a:tab pos="927100" algn="l"/>
                <a:tab pos="927735" algn="l"/>
              </a:tabLst>
            </a:pPr>
            <a:r>
              <a:rPr sz="1900" spc="5">
                <a:latin typeface="Times New Roman" panose="02020603050405020304" pitchFamily="18" charset="0"/>
                <a:cs typeface="Times New Roman" panose="02020603050405020304" pitchFamily="18" charset="0"/>
              </a:rPr>
              <a:t>Who </a:t>
            </a:r>
            <a:r>
              <a:rPr sz="1900">
                <a:latin typeface="Times New Roman" panose="02020603050405020304" pitchFamily="18" charset="0"/>
                <a:cs typeface="Times New Roman" panose="02020603050405020304" pitchFamily="18" charset="0"/>
              </a:rPr>
              <a:t>never introduces anything new in his </a:t>
            </a:r>
            <a:r>
              <a:rPr sz="1900" spc="-5">
                <a:latin typeface="Times New Roman" panose="02020603050405020304" pitchFamily="18" charset="0"/>
                <a:cs typeface="Times New Roman" panose="02020603050405020304" pitchFamily="18" charset="0"/>
              </a:rPr>
              <a:t>method </a:t>
            </a:r>
            <a:r>
              <a:rPr sz="1900">
                <a:latin typeface="Times New Roman" panose="02020603050405020304" pitchFamily="18" charset="0"/>
                <a:cs typeface="Times New Roman" panose="02020603050405020304" pitchFamily="18" charset="0"/>
              </a:rPr>
              <a:t>of production</a:t>
            </a:r>
            <a:r>
              <a:rPr sz="1900" spc="-225">
                <a:latin typeface="Times New Roman" panose="02020603050405020304" pitchFamily="18" charset="0"/>
                <a:cs typeface="Times New Roman" panose="02020603050405020304" pitchFamily="18" charset="0"/>
              </a:rPr>
              <a:t> </a:t>
            </a:r>
            <a:r>
              <a:rPr sz="1900">
                <a:latin typeface="Times New Roman" panose="02020603050405020304" pitchFamily="18" charset="0"/>
                <a:cs typeface="Times New Roman" panose="02020603050405020304" pitchFamily="18" charset="0"/>
              </a:rPr>
              <a:t>or</a:t>
            </a:r>
            <a:r>
              <a:rPr lang="en-US" sz="1900">
                <a:latin typeface="Times New Roman" panose="02020603050405020304" pitchFamily="18" charset="0"/>
                <a:cs typeface="Times New Roman" panose="02020603050405020304" pitchFamily="18" charset="0"/>
              </a:rPr>
              <a:t> </a:t>
            </a:r>
            <a:r>
              <a:rPr sz="1900">
                <a:latin typeface="Times New Roman" panose="02020603050405020304" pitchFamily="18" charset="0"/>
                <a:cs typeface="Times New Roman" panose="02020603050405020304" pitchFamily="18" charset="0"/>
              </a:rPr>
              <a:t>business.</a:t>
            </a:r>
          </a:p>
          <a:p>
            <a:pPr marL="927100" lvl="1" indent="-514350">
              <a:spcBef>
                <a:spcPts val="1680"/>
              </a:spcBef>
              <a:buFont typeface="Wingdings"/>
              <a:buChar char=""/>
              <a:tabLst>
                <a:tab pos="927100" algn="l"/>
                <a:tab pos="927735" algn="l"/>
              </a:tabLst>
            </a:pPr>
            <a:r>
              <a:rPr sz="1900" spc="-5">
                <a:latin typeface="Times New Roman" panose="02020603050405020304" pitchFamily="18" charset="0"/>
                <a:cs typeface="Times New Roman" panose="02020603050405020304" pitchFamily="18" charset="0"/>
              </a:rPr>
              <a:t>Simply </a:t>
            </a:r>
            <a:r>
              <a:rPr sz="1900">
                <a:latin typeface="Times New Roman" panose="02020603050405020304" pitchFamily="18" charset="0"/>
                <a:cs typeface="Times New Roman" panose="02020603050405020304" pitchFamily="18" charset="0"/>
              </a:rPr>
              <a:t>follows the rule of</a:t>
            </a:r>
            <a:r>
              <a:rPr sz="1900" spc="-85">
                <a:latin typeface="Times New Roman" panose="02020603050405020304" pitchFamily="18" charset="0"/>
                <a:cs typeface="Times New Roman" panose="02020603050405020304" pitchFamily="18" charset="0"/>
              </a:rPr>
              <a:t> </a:t>
            </a:r>
            <a:r>
              <a:rPr sz="1900" spc="-5">
                <a:latin typeface="Times New Roman" panose="02020603050405020304" pitchFamily="18" charset="0"/>
                <a:cs typeface="Times New Roman" panose="02020603050405020304" pitchFamily="18" charset="0"/>
              </a:rPr>
              <a:t>thumb</a:t>
            </a:r>
            <a:endParaRPr sz="1900">
              <a:latin typeface="Times New Roman" panose="02020603050405020304" pitchFamily="18" charset="0"/>
              <a:cs typeface="Times New Roman" panose="02020603050405020304" pitchFamily="18" charset="0"/>
            </a:endParaRPr>
          </a:p>
          <a:p>
            <a:pPr marL="927100" lvl="1" indent="-514350">
              <a:spcBef>
                <a:spcPts val="1680"/>
              </a:spcBef>
              <a:buFont typeface="Wingdings"/>
              <a:buChar char=""/>
              <a:tabLst>
                <a:tab pos="927100" algn="l"/>
                <a:tab pos="927735" algn="l"/>
              </a:tabLst>
            </a:pPr>
            <a:r>
              <a:rPr sz="1900">
                <a:latin typeface="Times New Roman" panose="02020603050405020304" pitchFamily="18" charset="0"/>
                <a:cs typeface="Times New Roman" panose="02020603050405020304" pitchFamily="18" charset="0"/>
              </a:rPr>
              <a:t>Like drone</a:t>
            </a:r>
            <a:r>
              <a:rPr sz="1900" spc="-50">
                <a:latin typeface="Times New Roman" panose="02020603050405020304" pitchFamily="18" charset="0"/>
                <a:cs typeface="Times New Roman" panose="02020603050405020304" pitchFamily="18" charset="0"/>
              </a:rPr>
              <a:t> </a:t>
            </a:r>
            <a:r>
              <a:rPr sz="1900">
                <a:latin typeface="Times New Roman" panose="02020603050405020304" pitchFamily="18" charset="0"/>
                <a:cs typeface="Times New Roman" panose="02020603050405020304" pitchFamily="18" charset="0"/>
              </a:rPr>
              <a:t>entrepreneurs</a:t>
            </a:r>
          </a:p>
          <a:p>
            <a:pPr marL="12065">
              <a:spcBef>
                <a:spcPts val="1680"/>
              </a:spcBef>
              <a:tabLst>
                <a:tab pos="527685" algn="l"/>
                <a:tab pos="528320" algn="l"/>
              </a:tabLst>
            </a:pPr>
            <a:r>
              <a:rPr lang="en-US" sz="1900" b="1" spc="-15">
                <a:latin typeface="Times New Roman" panose="02020603050405020304" pitchFamily="18" charset="0"/>
                <a:cs typeface="Times New Roman" panose="02020603050405020304" pitchFamily="18" charset="0"/>
              </a:rPr>
              <a:t>2. </a:t>
            </a:r>
            <a:r>
              <a:rPr sz="1900" b="1" spc="-15">
                <a:latin typeface="Times New Roman" panose="02020603050405020304" pitchFamily="18" charset="0"/>
                <a:cs typeface="Times New Roman" panose="02020603050405020304" pitchFamily="18" charset="0"/>
              </a:rPr>
              <a:t>RATIONAL</a:t>
            </a:r>
            <a:r>
              <a:rPr sz="1900" b="1" spc="-140">
                <a:latin typeface="Times New Roman" panose="02020603050405020304" pitchFamily="18" charset="0"/>
                <a:cs typeface="Times New Roman" panose="02020603050405020304" pitchFamily="18" charset="0"/>
              </a:rPr>
              <a:t> </a:t>
            </a:r>
            <a:r>
              <a:rPr sz="1900" b="1">
                <a:latin typeface="Times New Roman" panose="02020603050405020304" pitchFamily="18" charset="0"/>
                <a:cs typeface="Times New Roman" panose="02020603050405020304" pitchFamily="18" charset="0"/>
              </a:rPr>
              <a:t>ENTREPRENEUR</a:t>
            </a:r>
            <a:endParaRPr sz="1900">
              <a:latin typeface="Times New Roman" panose="02020603050405020304" pitchFamily="18" charset="0"/>
              <a:cs typeface="Times New Roman" panose="02020603050405020304" pitchFamily="18" charset="0"/>
            </a:endParaRPr>
          </a:p>
          <a:p>
            <a:pPr marL="927100" marR="5080" lvl="1" indent="-513715">
              <a:spcBef>
                <a:spcPts val="484"/>
              </a:spcBef>
              <a:buFont typeface="Wingdings"/>
              <a:buChar char=""/>
              <a:tabLst>
                <a:tab pos="927100" algn="l"/>
                <a:tab pos="927735" algn="l"/>
              </a:tabLst>
            </a:pPr>
            <a:r>
              <a:rPr sz="1900" spc="5">
                <a:latin typeface="Times New Roman" panose="02020603050405020304" pitchFamily="18" charset="0"/>
                <a:cs typeface="Times New Roman" panose="02020603050405020304" pitchFamily="18" charset="0"/>
              </a:rPr>
              <a:t>Who </a:t>
            </a:r>
            <a:r>
              <a:rPr sz="1900">
                <a:latin typeface="Times New Roman" panose="02020603050405020304" pitchFamily="18" charset="0"/>
                <a:cs typeface="Times New Roman" panose="02020603050405020304" pitchFamily="18" charset="0"/>
              </a:rPr>
              <a:t>is ready to introduce even revolutionary changes on the basis</a:t>
            </a:r>
            <a:r>
              <a:rPr sz="1900" spc="-265">
                <a:latin typeface="Times New Roman" panose="02020603050405020304" pitchFamily="18" charset="0"/>
                <a:cs typeface="Times New Roman" panose="02020603050405020304" pitchFamily="18" charset="0"/>
              </a:rPr>
              <a:t> </a:t>
            </a:r>
            <a:r>
              <a:rPr sz="1900">
                <a:latin typeface="Times New Roman" panose="02020603050405020304" pitchFamily="18" charset="0"/>
                <a:cs typeface="Times New Roman" panose="02020603050405020304" pitchFamily="18" charset="0"/>
              </a:rPr>
              <a:t>of  general economic conditions prevailing in that</a:t>
            </a:r>
            <a:r>
              <a:rPr sz="1900" spc="-180">
                <a:latin typeface="Times New Roman" panose="02020603050405020304" pitchFamily="18" charset="0"/>
                <a:cs typeface="Times New Roman" panose="02020603050405020304" pitchFamily="18" charset="0"/>
              </a:rPr>
              <a:t> </a:t>
            </a:r>
            <a:r>
              <a:rPr sz="1900">
                <a:latin typeface="Times New Roman" panose="02020603050405020304" pitchFamily="18" charset="0"/>
                <a:cs typeface="Times New Roman" panose="02020603050405020304" pitchFamily="18" charset="0"/>
              </a:rPr>
              <a:t>area.</a:t>
            </a:r>
          </a:p>
          <a:p>
            <a:pPr marL="927100" lvl="1" indent="-514350">
              <a:spcBef>
                <a:spcPts val="1680"/>
              </a:spcBef>
              <a:buFont typeface="Wingdings"/>
              <a:buChar char=""/>
              <a:tabLst>
                <a:tab pos="927100" algn="l"/>
                <a:tab pos="927735" algn="l"/>
              </a:tabLst>
            </a:pPr>
            <a:r>
              <a:rPr sz="1900" spc="-30">
                <a:latin typeface="Times New Roman" panose="02020603050405020304" pitchFamily="18" charset="0"/>
                <a:cs typeface="Times New Roman" panose="02020603050405020304" pitchFamily="18" charset="0"/>
              </a:rPr>
              <a:t>Takes </a:t>
            </a:r>
            <a:r>
              <a:rPr sz="1900">
                <a:latin typeface="Times New Roman" panose="02020603050405020304" pitchFamily="18" charset="0"/>
                <a:cs typeface="Times New Roman" panose="02020603050405020304" pitchFamily="18" charset="0"/>
              </a:rPr>
              <a:t>rational decisions </a:t>
            </a:r>
            <a:r>
              <a:rPr sz="1900" spc="-5">
                <a:latin typeface="Times New Roman" panose="02020603050405020304" pitchFamily="18" charset="0"/>
                <a:cs typeface="Times New Roman" panose="02020603050405020304" pitchFamily="18" charset="0"/>
              </a:rPr>
              <a:t>himself </a:t>
            </a:r>
            <a:r>
              <a:rPr sz="1900">
                <a:latin typeface="Times New Roman" panose="02020603050405020304" pitchFamily="18" charset="0"/>
                <a:cs typeface="Times New Roman" panose="02020603050405020304" pitchFamily="18" charset="0"/>
              </a:rPr>
              <a:t>depending up on the</a:t>
            </a:r>
            <a:r>
              <a:rPr sz="1900" spc="-125">
                <a:latin typeface="Times New Roman" panose="02020603050405020304" pitchFamily="18" charset="0"/>
                <a:cs typeface="Times New Roman" panose="02020603050405020304" pitchFamily="18" charset="0"/>
              </a:rPr>
              <a:t> </a:t>
            </a:r>
            <a:r>
              <a:rPr sz="1900">
                <a:latin typeface="Times New Roman" panose="02020603050405020304" pitchFamily="18" charset="0"/>
                <a:cs typeface="Times New Roman" panose="02020603050405020304" pitchFamily="18" charset="0"/>
              </a:rPr>
              <a:t>situation.</a:t>
            </a:r>
          </a:p>
          <a:p>
            <a:pPr marL="12065">
              <a:spcBef>
                <a:spcPts val="1680"/>
              </a:spcBef>
              <a:tabLst>
                <a:tab pos="527685" algn="l"/>
                <a:tab pos="528320" algn="l"/>
              </a:tabLst>
            </a:pPr>
            <a:r>
              <a:rPr lang="en-US" sz="1900" b="1">
                <a:latin typeface="Times New Roman" panose="02020603050405020304" pitchFamily="18" charset="0"/>
                <a:cs typeface="Times New Roman" panose="02020603050405020304" pitchFamily="18" charset="0"/>
              </a:rPr>
              <a:t>3. </a:t>
            </a:r>
            <a:r>
              <a:rPr sz="1900" b="1">
                <a:latin typeface="Times New Roman" panose="02020603050405020304" pitchFamily="18" charset="0"/>
                <a:cs typeface="Times New Roman" panose="02020603050405020304" pitchFamily="18" charset="0"/>
              </a:rPr>
              <a:t>COGNITIVE</a:t>
            </a:r>
            <a:r>
              <a:rPr sz="1900" b="1" spc="-30">
                <a:latin typeface="Times New Roman" panose="02020603050405020304" pitchFamily="18" charset="0"/>
                <a:cs typeface="Times New Roman" panose="02020603050405020304" pitchFamily="18" charset="0"/>
              </a:rPr>
              <a:t> </a:t>
            </a:r>
            <a:r>
              <a:rPr sz="1900" b="1">
                <a:latin typeface="Times New Roman" panose="02020603050405020304" pitchFamily="18" charset="0"/>
                <a:cs typeface="Times New Roman" panose="02020603050405020304" pitchFamily="18" charset="0"/>
              </a:rPr>
              <a:t>ENTREPRENEUR</a:t>
            </a:r>
            <a:endParaRPr sz="1900">
              <a:latin typeface="Times New Roman" panose="02020603050405020304" pitchFamily="18" charset="0"/>
              <a:cs typeface="Times New Roman" panose="02020603050405020304" pitchFamily="18" charset="0"/>
            </a:endParaRPr>
          </a:p>
          <a:p>
            <a:pPr marL="927100" lvl="1" indent="-514350">
              <a:spcBef>
                <a:spcPts val="1680"/>
              </a:spcBef>
              <a:buFont typeface="Wingdings"/>
              <a:buChar char=""/>
              <a:tabLst>
                <a:tab pos="927100" algn="l"/>
                <a:tab pos="927735" algn="l"/>
              </a:tabLst>
            </a:pPr>
            <a:r>
              <a:rPr sz="1900" spc="5">
                <a:latin typeface="Times New Roman" panose="02020603050405020304" pitchFamily="18" charset="0"/>
                <a:cs typeface="Times New Roman" panose="02020603050405020304" pitchFamily="18" charset="0"/>
              </a:rPr>
              <a:t>Who </a:t>
            </a:r>
            <a:r>
              <a:rPr sz="1900" spc="-5">
                <a:latin typeface="Times New Roman" panose="02020603050405020304" pitchFamily="18" charset="0"/>
                <a:cs typeface="Times New Roman" panose="02020603050405020304" pitchFamily="18" charset="0"/>
              </a:rPr>
              <a:t>takes </a:t>
            </a:r>
            <a:r>
              <a:rPr sz="1900">
                <a:latin typeface="Times New Roman" panose="02020603050405020304" pitchFamily="18" charset="0"/>
                <a:cs typeface="Times New Roman" panose="02020603050405020304" pitchFamily="18" charset="0"/>
              </a:rPr>
              <a:t>advices and services of experts and introduces</a:t>
            </a:r>
            <a:r>
              <a:rPr sz="1900" spc="-220">
                <a:latin typeface="Times New Roman" panose="02020603050405020304" pitchFamily="18" charset="0"/>
                <a:cs typeface="Times New Roman" panose="02020603050405020304" pitchFamily="18" charset="0"/>
              </a:rPr>
              <a:t> </a:t>
            </a:r>
            <a:r>
              <a:rPr sz="1900">
                <a:latin typeface="Times New Roman" panose="02020603050405020304" pitchFamily="18" charset="0"/>
                <a:cs typeface="Times New Roman" panose="02020603050405020304" pitchFamily="18" charset="0"/>
              </a:rPr>
              <a:t>changes.</a:t>
            </a:r>
          </a:p>
        </p:txBody>
      </p:sp>
      <p:sp>
        <p:nvSpPr>
          <p:cNvPr id="7" name="Date Placeholder 3"/>
          <p:cNvSpPr>
            <a:spLocks noGrp="1"/>
          </p:cNvSpPr>
          <p:nvPr>
            <p:ph type="dt" sz="half" idx="10"/>
          </p:nvPr>
        </p:nvSpPr>
        <p:spPr>
          <a:xfrm>
            <a:off x="457200" y="6356352"/>
            <a:ext cx="2133600" cy="365125"/>
          </a:xfrm>
        </p:spPr>
        <p:txBody>
          <a:bodyPr/>
          <a:lstStyle/>
          <a:p>
            <a:fld id="{61FB4DF7-7E62-4CFC-BE18-708BEDF905D3}" type="datetime1">
              <a:rPr lang="en-US" smtClean="0"/>
              <a:pPr/>
              <a:t>12-Aug-25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55</a:t>
            </a:fld>
            <a:endParaRPr lang="en-US"/>
          </a:p>
        </p:txBody>
      </p:sp>
      <p:sp>
        <p:nvSpPr>
          <p:cNvPr id="2" name="Footer Placeholder 12">
            <a:extLst>
              <a:ext uri="{FF2B5EF4-FFF2-40B4-BE49-F238E27FC236}">
                <a16:creationId xmlns:a16="http://schemas.microsoft.com/office/drawing/2014/main" id="{3CED03F0-BDE7-37EA-7C4B-61C300DD0F2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10" name="Title 1"/>
          <p:cNvSpPr txBox="1">
            <a:spLocks/>
          </p:cNvSpPr>
          <p:nvPr/>
        </p:nvSpPr>
        <p:spPr>
          <a:xfrm>
            <a:off x="1619672" y="0"/>
            <a:ext cx="7524328" cy="77571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b="1" spc="-5">
                <a:solidFill>
                  <a:schemeClr val="tx1"/>
                </a:solidFill>
                <a:latin typeface="Times New Roman"/>
                <a:cs typeface="Times New Roman"/>
              </a:rPr>
              <a:t>COLE’S</a:t>
            </a:r>
            <a:r>
              <a:rPr lang="en-IN" sz="3600" b="1" spc="-65">
                <a:solidFill>
                  <a:schemeClr val="tx1"/>
                </a:solidFill>
                <a:latin typeface="Times New Roman"/>
                <a:cs typeface="Times New Roman"/>
              </a:rPr>
              <a:t> </a:t>
            </a:r>
            <a:r>
              <a:rPr lang="en-IN" sz="3600" b="1" spc="-20">
                <a:solidFill>
                  <a:schemeClr val="tx1"/>
                </a:solidFill>
                <a:latin typeface="Times New Roman"/>
                <a:cs typeface="Times New Roman"/>
              </a:rPr>
              <a:t>CLASSIFICATION</a:t>
            </a:r>
            <a:endParaRPr lang="en-US" sz="3600" b="1">
              <a:solidFill>
                <a:schemeClr val="tx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1607379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pic>
        <p:nvPicPr>
          <p:cNvPr id="2050" name="Picture 2"/>
          <p:cNvPicPr>
            <a:picLocks noChangeAspect="1" noChangeArrowheads="1"/>
          </p:cNvPicPr>
          <p:nvPr/>
        </p:nvPicPr>
        <p:blipFill>
          <a:blip r:embed="rId2"/>
          <a:srcRect l="31845" t="35156" r="7759" b="42383"/>
          <a:stretch>
            <a:fillRect/>
          </a:stretch>
        </p:blipFill>
        <p:spPr bwMode="auto">
          <a:xfrm>
            <a:off x="500034" y="1643050"/>
            <a:ext cx="8429684" cy="4143404"/>
          </a:xfrm>
          <a:prstGeom prst="rect">
            <a:avLst/>
          </a:prstGeom>
          <a:noFill/>
          <a:ln w="9525">
            <a:noFill/>
            <a:miter lim="800000"/>
            <a:headEnd/>
            <a:tailEnd/>
          </a:ln>
          <a:effectLst/>
        </p:spPr>
      </p:pic>
      <p:sp>
        <p:nvSpPr>
          <p:cNvPr id="2" name="Footer Placeholder 12">
            <a:extLst>
              <a:ext uri="{FF2B5EF4-FFF2-40B4-BE49-F238E27FC236}">
                <a16:creationId xmlns:a16="http://schemas.microsoft.com/office/drawing/2014/main" id="{17409F4A-8C85-F0CD-2671-31C2D37C02D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8" name="Title 1"/>
          <p:cNvSpPr txBox="1">
            <a:spLocks/>
          </p:cNvSpPr>
          <p:nvPr/>
        </p:nvSpPr>
        <p:spPr>
          <a:xfrm>
            <a:off x="1619672" y="0"/>
            <a:ext cx="7524328" cy="77571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b="1" spc="-5">
                <a:solidFill>
                  <a:schemeClr val="tx1"/>
                </a:solidFill>
                <a:latin typeface="Times New Roman"/>
                <a:cs typeface="Times New Roman"/>
              </a:rPr>
              <a:t>COLE’S</a:t>
            </a:r>
            <a:r>
              <a:rPr lang="en-IN" sz="3600" b="1" spc="-65">
                <a:solidFill>
                  <a:schemeClr val="tx1"/>
                </a:solidFill>
                <a:latin typeface="Times New Roman"/>
                <a:cs typeface="Times New Roman"/>
              </a:rPr>
              <a:t> </a:t>
            </a:r>
            <a:r>
              <a:rPr lang="en-IN" sz="3600" b="1" spc="-20">
                <a:solidFill>
                  <a:schemeClr val="tx1"/>
                </a:solidFill>
                <a:latin typeface="Times New Roman"/>
                <a:cs typeface="Times New Roman"/>
              </a:rPr>
              <a:t>CLASSIFICATION</a:t>
            </a:r>
            <a:endParaRPr lang="en-US" sz="3600" b="1">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40267"/>
            <a:ext cx="8229600" cy="4525963"/>
          </a:xfrm>
        </p:spPr>
        <p:txBody>
          <a:bodyPr/>
          <a:lstStyle/>
          <a:p>
            <a:endParaRPr lang="en-US"/>
          </a:p>
        </p:txBody>
      </p:sp>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pic>
        <p:nvPicPr>
          <p:cNvPr id="3074" name="Picture 2"/>
          <p:cNvPicPr>
            <a:picLocks noChangeAspect="1" noChangeArrowheads="1"/>
          </p:cNvPicPr>
          <p:nvPr/>
        </p:nvPicPr>
        <p:blipFill>
          <a:blip r:embed="rId2"/>
          <a:srcRect l="30198" t="35156" r="5563" b="37500"/>
          <a:stretch>
            <a:fillRect/>
          </a:stretch>
        </p:blipFill>
        <p:spPr bwMode="auto">
          <a:xfrm>
            <a:off x="539552" y="1590909"/>
            <a:ext cx="8358246" cy="4500594"/>
          </a:xfrm>
          <a:prstGeom prst="rect">
            <a:avLst/>
          </a:prstGeom>
          <a:noFill/>
          <a:ln w="9525">
            <a:noFill/>
            <a:miter lim="800000"/>
            <a:headEnd/>
            <a:tailEnd/>
          </a:ln>
          <a:effectLst/>
        </p:spPr>
      </p:pic>
      <p:sp>
        <p:nvSpPr>
          <p:cNvPr id="2" name="Footer Placeholder 12">
            <a:extLst>
              <a:ext uri="{FF2B5EF4-FFF2-40B4-BE49-F238E27FC236}">
                <a16:creationId xmlns:a16="http://schemas.microsoft.com/office/drawing/2014/main" id="{84A35EC1-2701-8034-8BDD-0D152E1D0A98}"/>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8" name="Title 1"/>
          <p:cNvSpPr txBox="1">
            <a:spLocks/>
          </p:cNvSpPr>
          <p:nvPr/>
        </p:nvSpPr>
        <p:spPr>
          <a:xfrm>
            <a:off x="1605194" y="0"/>
            <a:ext cx="7538805" cy="89234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t>Classification on the basis on Scale of Enterprise</a:t>
            </a:r>
            <a:endParaRPr lang="en-US" sz="3600" b="1">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object 8"/>
          <p:cNvGrpSpPr/>
          <p:nvPr/>
        </p:nvGrpSpPr>
        <p:grpSpPr>
          <a:xfrm>
            <a:off x="338327" y="1572769"/>
            <a:ext cx="8465820" cy="4620895"/>
            <a:chOff x="338327" y="1572767"/>
            <a:chExt cx="8465820" cy="4620895"/>
          </a:xfrm>
          <a:noFill/>
        </p:grpSpPr>
        <p:sp>
          <p:nvSpPr>
            <p:cNvPr id="9" name="object 9"/>
            <p:cNvSpPr/>
            <p:nvPr/>
          </p:nvSpPr>
          <p:spPr>
            <a:xfrm>
              <a:off x="409955" y="1572767"/>
              <a:ext cx="8324088" cy="4620768"/>
            </a:xfrm>
            <a:prstGeom prst="rect">
              <a:avLst/>
            </a:prstGeom>
            <a:grpFill/>
            <a:ln>
              <a:noFill/>
            </a:ln>
          </p:spPr>
          <p:txBody>
            <a:bodyPr wrap="square" lIns="0" tIns="0" rIns="0" bIns="0" rtlCol="0"/>
            <a:lstStyle/>
            <a:p>
              <a:endParaRPr/>
            </a:p>
          </p:txBody>
        </p:sp>
        <p:sp>
          <p:nvSpPr>
            <p:cNvPr id="10" name="object 10"/>
            <p:cNvSpPr/>
            <p:nvPr/>
          </p:nvSpPr>
          <p:spPr>
            <a:xfrm>
              <a:off x="338327" y="1647443"/>
              <a:ext cx="8465820" cy="4326635"/>
            </a:xfrm>
            <a:prstGeom prst="rect">
              <a:avLst/>
            </a:prstGeom>
            <a:grpFill/>
            <a:ln>
              <a:noFill/>
            </a:ln>
          </p:spPr>
          <p:txBody>
            <a:bodyPr wrap="square" lIns="0" tIns="0" rIns="0" bIns="0" rtlCol="0"/>
            <a:lstStyle/>
            <a:p>
              <a:endParaRPr/>
            </a:p>
          </p:txBody>
        </p:sp>
        <p:sp>
          <p:nvSpPr>
            <p:cNvPr id="11" name="object 11"/>
            <p:cNvSpPr/>
            <p:nvPr/>
          </p:nvSpPr>
          <p:spPr>
            <a:xfrm>
              <a:off x="457199" y="1600199"/>
              <a:ext cx="8229600" cy="4526280"/>
            </a:xfrm>
            <a:prstGeom prst="rect">
              <a:avLst/>
            </a:prstGeom>
            <a:grpFill/>
            <a:ln>
              <a:noFill/>
            </a:ln>
          </p:spPr>
          <p:txBody>
            <a:bodyPr wrap="square" lIns="0" tIns="0" rIns="0" bIns="0" rtlCol="0"/>
            <a:lstStyle/>
            <a:p>
              <a:endParaRPr/>
            </a:p>
          </p:txBody>
        </p:sp>
        <p:sp>
          <p:nvSpPr>
            <p:cNvPr id="12" name="object 12"/>
            <p:cNvSpPr/>
            <p:nvPr/>
          </p:nvSpPr>
          <p:spPr>
            <a:xfrm>
              <a:off x="457199" y="1600199"/>
              <a:ext cx="8229600" cy="4526280"/>
            </a:xfrm>
            <a:custGeom>
              <a:avLst/>
              <a:gdLst/>
              <a:ahLst/>
              <a:cxnLst/>
              <a:rect l="l" t="t" r="r" b="b"/>
              <a:pathLst>
                <a:path w="8229600" h="4526280">
                  <a:moveTo>
                    <a:pt x="0" y="4526280"/>
                  </a:moveTo>
                  <a:lnTo>
                    <a:pt x="8229600" y="4526280"/>
                  </a:lnTo>
                  <a:lnTo>
                    <a:pt x="8229600" y="0"/>
                  </a:lnTo>
                  <a:lnTo>
                    <a:pt x="0" y="0"/>
                  </a:lnTo>
                  <a:lnTo>
                    <a:pt x="0" y="4526280"/>
                  </a:lnTo>
                  <a:close/>
                </a:path>
              </a:pathLst>
            </a:custGeom>
            <a:grpFill/>
            <a:ln w="9144">
              <a:noFill/>
            </a:ln>
          </p:spPr>
          <p:txBody>
            <a:bodyPr wrap="square" lIns="0" tIns="0" rIns="0" bIns="0" rtlCol="0"/>
            <a:lstStyle/>
            <a:p>
              <a:endParaRPr/>
            </a:p>
          </p:txBody>
        </p:sp>
      </p:grpSp>
      <p:sp>
        <p:nvSpPr>
          <p:cNvPr id="13" name="object 13"/>
          <p:cNvSpPr txBox="1"/>
          <p:nvPr/>
        </p:nvSpPr>
        <p:spPr>
          <a:xfrm>
            <a:off x="179512" y="1132540"/>
            <a:ext cx="8431087" cy="4573688"/>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wrap="square" lIns="0" tIns="13335" rIns="0" bIns="0" rtlCol="0">
            <a:spAutoFit/>
          </a:bodyPr>
          <a:lstStyle/>
          <a:p>
            <a:pPr marL="332105" marR="5080" indent="-332105" algn="just">
              <a:lnSpc>
                <a:spcPct val="150100"/>
              </a:lnSpc>
              <a:spcBef>
                <a:spcPts val="105"/>
              </a:spcBef>
              <a:buAutoNum type="arabicParenR"/>
              <a:tabLst>
                <a:tab pos="332105" algn="l"/>
              </a:tabLst>
            </a:pPr>
            <a:r>
              <a:rPr sz="2400" b="1" spc="-5">
                <a:latin typeface="Times New Roman" panose="02020603050405020304" pitchFamily="18" charset="0"/>
                <a:cs typeface="Times New Roman" panose="02020603050405020304" pitchFamily="18" charset="0"/>
              </a:rPr>
              <a:t>First Generation </a:t>
            </a:r>
            <a:r>
              <a:rPr sz="2400" b="1" spc="-10">
                <a:latin typeface="Times New Roman" panose="02020603050405020304" pitchFamily="18" charset="0"/>
                <a:cs typeface="Times New Roman" panose="02020603050405020304" pitchFamily="18" charset="0"/>
              </a:rPr>
              <a:t>Entrepreneur: </a:t>
            </a:r>
            <a:r>
              <a:rPr sz="2400">
                <a:latin typeface="Times New Roman" panose="02020603050405020304" pitchFamily="18" charset="0"/>
                <a:cs typeface="Times New Roman" panose="02020603050405020304" pitchFamily="18" charset="0"/>
              </a:rPr>
              <a:t>He </a:t>
            </a:r>
            <a:r>
              <a:rPr sz="2400" spc="-5">
                <a:latin typeface="Times New Roman" panose="02020603050405020304" pitchFamily="18" charset="0"/>
                <a:cs typeface="Times New Roman" panose="02020603050405020304" pitchFamily="18" charset="0"/>
              </a:rPr>
              <a:t>is one who starts an industrial  unit </a:t>
            </a:r>
            <a:r>
              <a:rPr sz="2400" spc="-10">
                <a:latin typeface="Times New Roman" panose="02020603050405020304" pitchFamily="18" charset="0"/>
                <a:cs typeface="Times New Roman" panose="02020603050405020304" pitchFamily="18" charset="0"/>
              </a:rPr>
              <a:t>by means </a:t>
            </a:r>
            <a:r>
              <a:rPr sz="2400">
                <a:latin typeface="Times New Roman" panose="02020603050405020304" pitchFamily="18" charset="0"/>
                <a:cs typeface="Times New Roman" panose="02020603050405020304" pitchFamily="18" charset="0"/>
              </a:rPr>
              <a:t>of </a:t>
            </a:r>
            <a:r>
              <a:rPr sz="2400" spc="-5">
                <a:latin typeface="Times New Roman" panose="02020603050405020304" pitchFamily="18" charset="0"/>
                <a:cs typeface="Times New Roman" panose="02020603050405020304" pitchFamily="18" charset="0"/>
              </a:rPr>
              <a:t>his </a:t>
            </a:r>
            <a:r>
              <a:rPr sz="2400" spc="-10">
                <a:latin typeface="Times New Roman" panose="02020603050405020304" pitchFamily="18" charset="0"/>
                <a:cs typeface="Times New Roman" panose="02020603050405020304" pitchFamily="18" charset="0"/>
              </a:rPr>
              <a:t>own </a:t>
            </a:r>
            <a:r>
              <a:rPr sz="2400" spc="-5">
                <a:latin typeface="Times New Roman" panose="02020603050405020304" pitchFamily="18" charset="0"/>
                <a:cs typeface="Times New Roman" panose="02020603050405020304" pitchFamily="18" charset="0"/>
              </a:rPr>
              <a:t>innovative ideas and skills. He is  essentially an </a:t>
            </a:r>
            <a:r>
              <a:rPr sz="2400" spc="-15">
                <a:latin typeface="Times New Roman" panose="02020603050405020304" pitchFamily="18" charset="0"/>
                <a:cs typeface="Times New Roman" panose="02020603050405020304" pitchFamily="18" charset="0"/>
              </a:rPr>
              <a:t>innovator. </a:t>
            </a:r>
            <a:r>
              <a:rPr sz="2400" spc="-5">
                <a:latin typeface="Times New Roman" panose="02020603050405020304" pitchFamily="18" charset="0"/>
                <a:cs typeface="Times New Roman" panose="02020603050405020304" pitchFamily="18" charset="0"/>
              </a:rPr>
              <a:t>He is also called new</a:t>
            </a:r>
            <a:r>
              <a:rPr sz="2400" spc="65">
                <a:latin typeface="Times New Roman" panose="02020603050405020304" pitchFamily="18" charset="0"/>
                <a:cs typeface="Times New Roman" panose="02020603050405020304" pitchFamily="18" charset="0"/>
              </a:rPr>
              <a:t> </a:t>
            </a:r>
            <a:r>
              <a:rPr sz="2400" spc="-15">
                <a:latin typeface="Times New Roman" panose="02020603050405020304" pitchFamily="18" charset="0"/>
                <a:cs typeface="Times New Roman" panose="02020603050405020304" pitchFamily="18" charset="0"/>
              </a:rPr>
              <a:t>entrepreneur.</a:t>
            </a:r>
            <a:endParaRPr sz="2400">
              <a:latin typeface="Times New Roman" panose="02020603050405020304" pitchFamily="18" charset="0"/>
              <a:cs typeface="Times New Roman" panose="02020603050405020304" pitchFamily="18" charset="0"/>
            </a:endParaRPr>
          </a:p>
          <a:p>
            <a:pPr marL="319405" marR="5080" indent="-319405" algn="just">
              <a:lnSpc>
                <a:spcPct val="150000"/>
              </a:lnSpc>
              <a:spcBef>
                <a:spcPts val="530"/>
              </a:spcBef>
              <a:buAutoNum type="arabicParenR"/>
              <a:tabLst>
                <a:tab pos="319405" algn="l"/>
              </a:tabLst>
            </a:pPr>
            <a:r>
              <a:rPr sz="2400" b="1" spc="-5">
                <a:latin typeface="Times New Roman" panose="02020603050405020304" pitchFamily="18" charset="0"/>
                <a:cs typeface="Times New Roman" panose="02020603050405020304" pitchFamily="18" charset="0"/>
              </a:rPr>
              <a:t>Modern </a:t>
            </a:r>
            <a:r>
              <a:rPr sz="2400" b="1" spc="-10">
                <a:latin typeface="Times New Roman" panose="02020603050405020304" pitchFamily="18" charset="0"/>
                <a:cs typeface="Times New Roman" panose="02020603050405020304" pitchFamily="18" charset="0"/>
              </a:rPr>
              <a:t>Entrepreneur: </a:t>
            </a:r>
            <a:r>
              <a:rPr sz="2400" spc="-5">
                <a:latin typeface="Times New Roman" panose="02020603050405020304" pitchFamily="18" charset="0"/>
                <a:cs typeface="Times New Roman" panose="02020603050405020304" pitchFamily="18" charset="0"/>
              </a:rPr>
              <a:t>He is an entrepreneur who undertakes those  ventures which suit the modern marketing</a:t>
            </a:r>
            <a:r>
              <a:rPr sz="2400" spc="7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needs.</a:t>
            </a:r>
            <a:endParaRPr sz="2400">
              <a:latin typeface="Times New Roman" panose="02020603050405020304" pitchFamily="18" charset="0"/>
              <a:cs typeface="Times New Roman" panose="02020603050405020304" pitchFamily="18" charset="0"/>
            </a:endParaRPr>
          </a:p>
          <a:p>
            <a:pPr marL="337820" marR="6985" indent="-337820" algn="just">
              <a:lnSpc>
                <a:spcPct val="150000"/>
              </a:lnSpc>
              <a:spcBef>
                <a:spcPts val="525"/>
              </a:spcBef>
              <a:buAutoNum type="arabicParenR"/>
              <a:tabLst>
                <a:tab pos="337820" algn="l"/>
              </a:tabLst>
            </a:pPr>
            <a:r>
              <a:rPr sz="2400" b="1" spc="-5">
                <a:latin typeface="Times New Roman" panose="02020603050405020304" pitchFamily="18" charset="0"/>
                <a:cs typeface="Times New Roman" panose="02020603050405020304" pitchFamily="18" charset="0"/>
              </a:rPr>
              <a:t>Classical </a:t>
            </a:r>
            <a:r>
              <a:rPr sz="2400" b="1" spc="-10">
                <a:latin typeface="Times New Roman" panose="02020603050405020304" pitchFamily="18" charset="0"/>
                <a:cs typeface="Times New Roman" panose="02020603050405020304" pitchFamily="18" charset="0"/>
              </a:rPr>
              <a:t>Entrepreneur: </a:t>
            </a:r>
            <a:r>
              <a:rPr sz="2400">
                <a:latin typeface="Times New Roman" panose="02020603050405020304" pitchFamily="18" charset="0"/>
                <a:cs typeface="Times New Roman" panose="02020603050405020304" pitchFamily="18" charset="0"/>
              </a:rPr>
              <a:t>He </a:t>
            </a:r>
            <a:r>
              <a:rPr sz="2400" spc="-5">
                <a:latin typeface="Times New Roman" panose="02020603050405020304" pitchFamily="18" charset="0"/>
                <a:cs typeface="Times New Roman" panose="02020603050405020304" pitchFamily="18" charset="0"/>
              </a:rPr>
              <a:t>is </a:t>
            </a:r>
            <a:r>
              <a:rPr sz="2400">
                <a:latin typeface="Times New Roman" panose="02020603050405020304" pitchFamily="18" charset="0"/>
                <a:cs typeface="Times New Roman" panose="02020603050405020304" pitchFamily="18" charset="0"/>
              </a:rPr>
              <a:t>one </a:t>
            </a:r>
            <a:r>
              <a:rPr sz="2400" spc="-5">
                <a:latin typeface="Times New Roman" panose="02020603050405020304" pitchFamily="18" charset="0"/>
                <a:cs typeface="Times New Roman" panose="02020603050405020304" pitchFamily="18" charset="0"/>
              </a:rPr>
              <a:t>who develops a self supporting  venture for the satisfaction </a:t>
            </a:r>
            <a:r>
              <a:rPr sz="2400">
                <a:latin typeface="Times New Roman" panose="02020603050405020304" pitchFamily="18" charset="0"/>
                <a:cs typeface="Times New Roman" panose="02020603050405020304" pitchFamily="18" charset="0"/>
              </a:rPr>
              <a:t>of </a:t>
            </a:r>
            <a:r>
              <a:rPr sz="2400" spc="-5">
                <a:latin typeface="Times New Roman" panose="02020603050405020304" pitchFamily="18" charset="0"/>
                <a:cs typeface="Times New Roman" panose="02020603050405020304" pitchFamily="18" charset="0"/>
              </a:rPr>
              <a:t>customers’ needs. He is a stereo type  </a:t>
            </a:r>
            <a:r>
              <a:rPr sz="2400">
                <a:latin typeface="Times New Roman" panose="02020603050405020304" pitchFamily="18" charset="0"/>
                <a:cs typeface="Times New Roman" panose="02020603050405020304" pitchFamily="18" charset="0"/>
              </a:rPr>
              <a:t>or </a:t>
            </a:r>
            <a:r>
              <a:rPr sz="2400" spc="-5">
                <a:latin typeface="Times New Roman" panose="02020603050405020304" pitchFamily="18" charset="0"/>
                <a:cs typeface="Times New Roman" panose="02020603050405020304" pitchFamily="18" charset="0"/>
              </a:rPr>
              <a:t>traditional</a:t>
            </a:r>
            <a:r>
              <a:rPr sz="2400" spc="10">
                <a:latin typeface="Times New Roman" panose="02020603050405020304" pitchFamily="18" charset="0"/>
                <a:cs typeface="Times New Roman" panose="02020603050405020304" pitchFamily="18" charset="0"/>
              </a:rPr>
              <a:t> </a:t>
            </a:r>
            <a:r>
              <a:rPr sz="2400" spc="-15">
                <a:latin typeface="Times New Roman" panose="02020603050405020304" pitchFamily="18" charset="0"/>
                <a:cs typeface="Times New Roman" panose="02020603050405020304" pitchFamily="18" charset="0"/>
              </a:rPr>
              <a:t>entrepreneur.</a:t>
            </a:r>
            <a:endParaRPr sz="2400">
              <a:latin typeface="Times New Roman" panose="02020603050405020304" pitchFamily="18" charset="0"/>
              <a:cs typeface="Times New Roman" panose="02020603050405020304" pitchFamily="18" charset="0"/>
            </a:endParaRPr>
          </a:p>
        </p:txBody>
      </p:sp>
      <p:sp>
        <p:nvSpPr>
          <p:cNvPr id="20" name="Date Placeholder 3"/>
          <p:cNvSpPr>
            <a:spLocks noGrp="1"/>
          </p:cNvSpPr>
          <p:nvPr>
            <p:ph type="dt" sz="half" idx="10"/>
          </p:nvPr>
        </p:nvSpPr>
        <p:spPr>
          <a:xfrm>
            <a:off x="457200" y="6356352"/>
            <a:ext cx="2133600" cy="365125"/>
          </a:xfrm>
        </p:spPr>
        <p:txBody>
          <a:bodyPr/>
          <a:lstStyle/>
          <a:p>
            <a:fld id="{BB255E8F-7624-41B0-BCDD-8ABC4040010C}" type="datetime1">
              <a:rPr lang="en-US" smtClean="0"/>
              <a:pPr/>
              <a:t>12-Aug-25</a:t>
            </a:fld>
            <a:endParaRPr lang="en-US"/>
          </a:p>
        </p:txBody>
      </p:sp>
      <p:sp>
        <p:nvSpPr>
          <p:cNvPr id="22" name="Slide Number Placeholder 21"/>
          <p:cNvSpPr>
            <a:spLocks noGrp="1"/>
          </p:cNvSpPr>
          <p:nvPr>
            <p:ph type="sldNum" sz="quarter" idx="12"/>
          </p:nvPr>
        </p:nvSpPr>
        <p:spPr/>
        <p:txBody>
          <a:bodyPr/>
          <a:lstStyle/>
          <a:p>
            <a:fld id="{B6F15528-21DE-4FAA-801E-634DDDAF4B2B}" type="slidenum">
              <a:rPr lang="en-US" smtClean="0"/>
              <a:pPr/>
              <a:t>58</a:t>
            </a:fld>
            <a:endParaRPr lang="en-US"/>
          </a:p>
        </p:txBody>
      </p:sp>
      <p:sp>
        <p:nvSpPr>
          <p:cNvPr id="2" name="Footer Placeholder 12">
            <a:extLst>
              <a:ext uri="{FF2B5EF4-FFF2-40B4-BE49-F238E27FC236}">
                <a16:creationId xmlns:a16="http://schemas.microsoft.com/office/drawing/2014/main" id="{8593D4F5-0E9E-ACE6-F2D4-4A1345D574D3}"/>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16" name="Title 1"/>
          <p:cNvSpPr txBox="1">
            <a:spLocks/>
          </p:cNvSpPr>
          <p:nvPr/>
        </p:nvSpPr>
        <p:spPr>
          <a:xfrm>
            <a:off x="1691680" y="0"/>
            <a:ext cx="7344816" cy="91308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3200" b="1" spc="-5">
                <a:solidFill>
                  <a:schemeClr val="tx1"/>
                </a:solidFill>
                <a:latin typeface="Times New Roman" panose="02020603050405020304" pitchFamily="18" charset="0"/>
                <a:cs typeface="Times New Roman" panose="02020603050405020304" pitchFamily="18" charset="0"/>
              </a:rPr>
              <a:t>ON THE BASIS OF </a:t>
            </a:r>
            <a:r>
              <a:rPr lang="en-IN" sz="3200" b="1" spc="-40">
                <a:solidFill>
                  <a:schemeClr val="tx1"/>
                </a:solidFill>
                <a:latin typeface="Times New Roman" panose="02020603050405020304" pitchFamily="18" charset="0"/>
                <a:cs typeface="Times New Roman" panose="02020603050405020304" pitchFamily="18" charset="0"/>
              </a:rPr>
              <a:t>STAGES </a:t>
            </a:r>
            <a:r>
              <a:rPr lang="en-IN" sz="3200" b="1" spc="-5">
                <a:solidFill>
                  <a:schemeClr val="tx1"/>
                </a:solidFill>
                <a:latin typeface="Times New Roman" panose="02020603050405020304" pitchFamily="18" charset="0"/>
                <a:cs typeface="Times New Roman" panose="02020603050405020304" pitchFamily="18" charset="0"/>
              </a:rPr>
              <a:t>OF</a:t>
            </a:r>
            <a:r>
              <a:rPr lang="en-IN" sz="3200" b="1" spc="-165">
                <a:solidFill>
                  <a:schemeClr val="tx1"/>
                </a:solidFill>
                <a:latin typeface="Times New Roman" panose="02020603050405020304" pitchFamily="18" charset="0"/>
                <a:cs typeface="Times New Roman" panose="02020603050405020304" pitchFamily="18" charset="0"/>
              </a:rPr>
              <a:t>                 </a:t>
            </a:r>
            <a:r>
              <a:rPr lang="en-IN" sz="3200" b="1" spc="-5">
                <a:solidFill>
                  <a:schemeClr val="tx1"/>
                </a:solidFill>
                <a:latin typeface="Times New Roman" panose="02020603050405020304" pitchFamily="18" charset="0"/>
                <a:cs typeface="Times New Roman" panose="02020603050405020304" pitchFamily="18" charset="0"/>
              </a:rPr>
              <a:t>DEVELOPMENT</a:t>
            </a:r>
            <a:endParaRPr lang="en-IN" sz="3200" b="1">
              <a:solidFill>
                <a:schemeClr val="tx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3018614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29308" y="356363"/>
            <a:ext cx="6482715" cy="381515"/>
          </a:xfrm>
          <a:prstGeom prst="rect">
            <a:avLst/>
          </a:prstGeom>
        </p:spPr>
        <p:txBody>
          <a:bodyPr vert="horz" wrap="square" lIns="0" tIns="12065" rIns="0" bIns="0" rtlCol="0">
            <a:spAutoFit/>
          </a:bodyPr>
          <a:lstStyle/>
          <a:p>
            <a:pPr marL="12700">
              <a:lnSpc>
                <a:spcPct val="100000"/>
              </a:lnSpc>
              <a:spcBef>
                <a:spcPts val="95"/>
              </a:spcBef>
            </a:pPr>
            <a:r>
              <a:rPr lang="en-IN" sz="2400" b="1" spc="-5">
                <a:latin typeface="Times New Roman"/>
                <a:cs typeface="Times New Roman"/>
              </a:rPr>
              <a:t> </a:t>
            </a:r>
            <a:r>
              <a:rPr sz="2000" spc="-5">
                <a:solidFill>
                  <a:schemeClr val="bg1"/>
                </a:solidFill>
                <a:latin typeface="+mn-lt"/>
                <a:cs typeface="Times New Roman"/>
              </a:rPr>
              <a:t>ON THE BASIS OF </a:t>
            </a:r>
            <a:r>
              <a:rPr sz="2000" spc="-10">
                <a:solidFill>
                  <a:schemeClr val="bg1"/>
                </a:solidFill>
                <a:latin typeface="+mn-lt"/>
                <a:cs typeface="Times New Roman"/>
              </a:rPr>
              <a:t>TYPE </a:t>
            </a:r>
            <a:r>
              <a:rPr sz="2000" spc="-5">
                <a:solidFill>
                  <a:schemeClr val="bg1"/>
                </a:solidFill>
                <a:latin typeface="+mn-lt"/>
                <a:cs typeface="Times New Roman"/>
              </a:rPr>
              <a:t>OF</a:t>
            </a:r>
            <a:r>
              <a:rPr sz="2000" spc="-295">
                <a:solidFill>
                  <a:schemeClr val="bg1"/>
                </a:solidFill>
                <a:latin typeface="+mn-lt"/>
                <a:cs typeface="Times New Roman"/>
              </a:rPr>
              <a:t> </a:t>
            </a:r>
            <a:r>
              <a:rPr sz="2000" spc="-5">
                <a:solidFill>
                  <a:schemeClr val="bg1"/>
                </a:solidFill>
                <a:latin typeface="+mn-lt"/>
                <a:cs typeface="Times New Roman"/>
              </a:rPr>
              <a:t>BUSINESS</a:t>
            </a:r>
            <a:endParaRPr sz="2000">
              <a:solidFill>
                <a:schemeClr val="bg1"/>
              </a:solidFill>
              <a:latin typeface="+mn-lt"/>
              <a:cs typeface="Times New Roman"/>
            </a:endParaRPr>
          </a:p>
        </p:txBody>
      </p:sp>
      <p:sp>
        <p:nvSpPr>
          <p:cNvPr id="9" name="object 9"/>
          <p:cNvSpPr txBox="1"/>
          <p:nvPr/>
        </p:nvSpPr>
        <p:spPr>
          <a:xfrm>
            <a:off x="535940" y="1037161"/>
            <a:ext cx="8074659" cy="4885312"/>
          </a:xfrm>
          <a:prstGeom prst="rect">
            <a:avLst/>
          </a:prstGeom>
        </p:spPr>
        <p:txBody>
          <a:bodyPr vert="horz" wrap="square" lIns="0" tIns="164465" rIns="0" bIns="0" rtlCol="0">
            <a:spAutoFit/>
          </a:bodyPr>
          <a:lstStyle/>
          <a:p>
            <a:pPr marL="355600" indent="-343535">
              <a:spcBef>
                <a:spcPts val="1295"/>
              </a:spcBef>
              <a:buAutoNum type="arabicParenR"/>
              <a:tabLst>
                <a:tab pos="355600" algn="l"/>
                <a:tab pos="356235" algn="l"/>
              </a:tabLst>
            </a:pPr>
            <a:r>
              <a:rPr sz="2000" b="1" spc="-5">
                <a:latin typeface="Times New Roman" panose="02020603050405020304" pitchFamily="18" charset="0"/>
                <a:cs typeface="Times New Roman" panose="02020603050405020304" pitchFamily="18" charset="0"/>
              </a:rPr>
              <a:t>Business</a:t>
            </a:r>
            <a:r>
              <a:rPr sz="2000" b="1" spc="65">
                <a:latin typeface="Times New Roman" panose="02020603050405020304" pitchFamily="18" charset="0"/>
                <a:cs typeface="Times New Roman" panose="02020603050405020304" pitchFamily="18" charset="0"/>
              </a:rPr>
              <a:t> </a:t>
            </a:r>
            <a:r>
              <a:rPr sz="2000" b="1" spc="-10">
                <a:latin typeface="Times New Roman" panose="02020603050405020304" pitchFamily="18" charset="0"/>
                <a:cs typeface="Times New Roman" panose="02020603050405020304" pitchFamily="18" charset="0"/>
              </a:rPr>
              <a:t>Entrepreneur:</a:t>
            </a:r>
            <a:r>
              <a:rPr sz="2000" b="1" spc="6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He</a:t>
            </a:r>
            <a:r>
              <a:rPr sz="2000" spc="55">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is</a:t>
            </a:r>
            <a:r>
              <a:rPr sz="2000" spc="65">
                <a:latin typeface="Times New Roman" panose="02020603050405020304" pitchFamily="18" charset="0"/>
                <a:cs typeface="Times New Roman" panose="02020603050405020304" pitchFamily="18" charset="0"/>
              </a:rPr>
              <a:t> </a:t>
            </a:r>
            <a:r>
              <a:rPr sz="2000" spc="-10">
                <a:latin typeface="Times New Roman" panose="02020603050405020304" pitchFamily="18" charset="0"/>
                <a:cs typeface="Times New Roman" panose="02020603050405020304" pitchFamily="18" charset="0"/>
              </a:rPr>
              <a:t>an</a:t>
            </a:r>
            <a:r>
              <a:rPr sz="2000" spc="75">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individual</a:t>
            </a:r>
            <a:r>
              <a:rPr sz="2000" spc="65">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who</a:t>
            </a:r>
            <a:r>
              <a:rPr sz="2000" spc="65">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discovers</a:t>
            </a:r>
            <a:r>
              <a:rPr sz="2000" spc="70">
                <a:latin typeface="Times New Roman" panose="02020603050405020304" pitchFamily="18" charset="0"/>
                <a:cs typeface="Times New Roman" panose="02020603050405020304" pitchFamily="18" charset="0"/>
              </a:rPr>
              <a:t> </a:t>
            </a:r>
            <a:r>
              <a:rPr sz="2000" spc="-10">
                <a:latin typeface="Times New Roman" panose="02020603050405020304" pitchFamily="18" charset="0"/>
                <a:cs typeface="Times New Roman" panose="02020603050405020304" pitchFamily="18" charset="0"/>
              </a:rPr>
              <a:t>an</a:t>
            </a:r>
            <a:r>
              <a:rPr sz="2000" spc="75">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idea</a:t>
            </a:r>
            <a:r>
              <a:rPr sz="2000" spc="75">
                <a:latin typeface="Times New Roman" panose="02020603050405020304" pitchFamily="18" charset="0"/>
                <a:cs typeface="Times New Roman" panose="02020603050405020304" pitchFamily="18" charset="0"/>
              </a:rPr>
              <a:t> </a:t>
            </a:r>
            <a:r>
              <a:rPr sz="2000" spc="-10">
                <a:latin typeface="Times New Roman" panose="02020603050405020304" pitchFamily="18" charset="0"/>
                <a:cs typeface="Times New Roman" panose="02020603050405020304" pitchFamily="18" charset="0"/>
              </a:rPr>
              <a:t>to</a:t>
            </a:r>
            <a:r>
              <a:rPr sz="2000" spc="60">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start</a:t>
            </a:r>
            <a:endParaRPr sz="2000">
              <a:latin typeface="Times New Roman" panose="02020603050405020304" pitchFamily="18" charset="0"/>
              <a:cs typeface="Times New Roman" panose="02020603050405020304" pitchFamily="18" charset="0"/>
            </a:endParaRPr>
          </a:p>
          <a:p>
            <a:pPr marL="355600">
              <a:spcBef>
                <a:spcPts val="1200"/>
              </a:spcBef>
            </a:pPr>
            <a:r>
              <a:rPr sz="2000">
                <a:latin typeface="Times New Roman" panose="02020603050405020304" pitchFamily="18" charset="0"/>
                <a:cs typeface="Times New Roman" panose="02020603050405020304" pitchFamily="18" charset="0"/>
              </a:rPr>
              <a:t>a business and then builds a business </a:t>
            </a:r>
            <a:r>
              <a:rPr sz="2000" spc="-5">
                <a:latin typeface="Times New Roman" panose="02020603050405020304" pitchFamily="18" charset="0"/>
                <a:cs typeface="Times New Roman" panose="02020603050405020304" pitchFamily="18" charset="0"/>
              </a:rPr>
              <a:t>to</a:t>
            </a:r>
            <a:r>
              <a:rPr lang="en-US" sz="2000" spc="-5">
                <a:latin typeface="Times New Roman" panose="02020603050405020304" pitchFamily="18" charset="0"/>
                <a:cs typeface="Times New Roman" panose="02020603050405020304" pitchFamily="18" charset="0"/>
              </a:rPr>
              <a:t> convert </a:t>
            </a:r>
            <a:r>
              <a:rPr sz="2000" spc="-225">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idea</a:t>
            </a:r>
            <a:r>
              <a:rPr lang="en-US" sz="2000">
                <a:latin typeface="Times New Roman" panose="02020603050405020304" pitchFamily="18" charset="0"/>
                <a:cs typeface="Times New Roman" panose="02020603050405020304" pitchFamily="18" charset="0"/>
              </a:rPr>
              <a:t> into merchandisable good or service.</a:t>
            </a:r>
            <a:endParaRPr sz="2000">
              <a:latin typeface="Times New Roman" panose="02020603050405020304" pitchFamily="18" charset="0"/>
              <a:cs typeface="Times New Roman" panose="02020603050405020304" pitchFamily="18" charset="0"/>
            </a:endParaRPr>
          </a:p>
          <a:p>
            <a:pPr marL="355600" marR="5715" indent="-343535">
              <a:spcBef>
                <a:spcPts val="480"/>
              </a:spcBef>
              <a:buAutoNum type="arabicParenR" startAt="2"/>
              <a:tabLst>
                <a:tab pos="355600" algn="l"/>
                <a:tab pos="356235" algn="l"/>
                <a:tab pos="1355090" algn="l"/>
                <a:tab pos="3053080" algn="l"/>
                <a:tab pos="3774440" algn="l"/>
                <a:tab pos="4141470" algn="l"/>
                <a:tab pos="5550535" algn="l"/>
                <a:tab pos="6115685" algn="l"/>
                <a:tab pos="7344409" algn="l"/>
              </a:tabLst>
            </a:pPr>
            <a:r>
              <a:rPr sz="2000" b="1" spc="-150">
                <a:latin typeface="Times New Roman" panose="02020603050405020304" pitchFamily="18" charset="0"/>
                <a:cs typeface="Times New Roman" panose="02020603050405020304" pitchFamily="18" charset="0"/>
              </a:rPr>
              <a:t>T</a:t>
            </a:r>
            <a:r>
              <a:rPr sz="2000" b="1">
                <a:latin typeface="Times New Roman" panose="02020603050405020304" pitchFamily="18" charset="0"/>
                <a:cs typeface="Times New Roman" panose="02020603050405020304" pitchFamily="18" charset="0"/>
              </a:rPr>
              <a:t>radi</a:t>
            </a:r>
            <a:r>
              <a:rPr sz="2000" b="1" spc="-10">
                <a:latin typeface="Times New Roman" panose="02020603050405020304" pitchFamily="18" charset="0"/>
                <a:cs typeface="Times New Roman" panose="02020603050405020304" pitchFamily="18" charset="0"/>
              </a:rPr>
              <a:t>n</a:t>
            </a:r>
            <a:r>
              <a:rPr sz="2000" b="1">
                <a:latin typeface="Times New Roman" panose="02020603050405020304" pitchFamily="18" charset="0"/>
                <a:cs typeface="Times New Roman" panose="02020603050405020304" pitchFamily="18" charset="0"/>
              </a:rPr>
              <a:t>g	E</a:t>
            </a:r>
            <a:r>
              <a:rPr sz="2000" b="1" spc="-15">
                <a:latin typeface="Times New Roman" panose="02020603050405020304" pitchFamily="18" charset="0"/>
                <a:cs typeface="Times New Roman" panose="02020603050405020304" pitchFamily="18" charset="0"/>
              </a:rPr>
              <a:t>n</a:t>
            </a:r>
            <a:r>
              <a:rPr sz="2000" b="1">
                <a:latin typeface="Times New Roman" panose="02020603050405020304" pitchFamily="18" charset="0"/>
                <a:cs typeface="Times New Roman" panose="02020603050405020304" pitchFamily="18" charset="0"/>
              </a:rPr>
              <a:t>t</a:t>
            </a:r>
            <a:r>
              <a:rPr sz="2000" b="1" spc="-50">
                <a:latin typeface="Times New Roman" panose="02020603050405020304" pitchFamily="18" charset="0"/>
                <a:cs typeface="Times New Roman" panose="02020603050405020304" pitchFamily="18" charset="0"/>
              </a:rPr>
              <a:t>r</a:t>
            </a:r>
            <a:r>
              <a:rPr sz="2000" b="1">
                <a:latin typeface="Times New Roman" panose="02020603050405020304" pitchFamily="18" charset="0"/>
                <a:cs typeface="Times New Roman" panose="02020603050405020304" pitchFamily="18" charset="0"/>
              </a:rPr>
              <a:t>ep</a:t>
            </a:r>
            <a:r>
              <a:rPr sz="2000" b="1" spc="-40">
                <a:latin typeface="Times New Roman" panose="02020603050405020304" pitchFamily="18" charset="0"/>
                <a:cs typeface="Times New Roman" panose="02020603050405020304" pitchFamily="18" charset="0"/>
              </a:rPr>
              <a:t>r</a:t>
            </a:r>
            <a:r>
              <a:rPr sz="2000" b="1">
                <a:latin typeface="Times New Roman" panose="02020603050405020304" pitchFamily="18" charset="0"/>
                <a:cs typeface="Times New Roman" panose="02020603050405020304" pitchFamily="18" charset="0"/>
              </a:rPr>
              <a:t>eneu</a:t>
            </a:r>
            <a:r>
              <a:rPr sz="2000" b="1" spc="-10">
                <a:latin typeface="Times New Roman" panose="02020603050405020304" pitchFamily="18" charset="0"/>
                <a:cs typeface="Times New Roman" panose="02020603050405020304" pitchFamily="18" charset="0"/>
              </a:rPr>
              <a:t>r</a:t>
            </a:r>
            <a:r>
              <a:rPr sz="2000" b="1">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H</a:t>
            </a:r>
            <a:r>
              <a:rPr sz="2000">
                <a:latin typeface="Times New Roman" panose="02020603050405020304" pitchFamily="18" charset="0"/>
                <a:cs typeface="Times New Roman" panose="02020603050405020304" pitchFamily="18" charset="0"/>
              </a:rPr>
              <a:t>e </a:t>
            </a:r>
            <a:r>
              <a:rPr sz="2000" spc="-10">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i</a:t>
            </a:r>
            <a:r>
              <a:rPr sz="2000">
                <a:latin typeface="Times New Roman" panose="02020603050405020304" pitchFamily="18" charset="0"/>
                <a:cs typeface="Times New Roman" panose="02020603050405020304" pitchFamily="18" charset="0"/>
              </a:rPr>
              <a:t>s	</a:t>
            </a:r>
            <a:r>
              <a:rPr sz="2000" spc="-15">
                <a:latin typeface="Times New Roman" panose="02020603050405020304" pitchFamily="18" charset="0"/>
                <a:cs typeface="Times New Roman" panose="02020603050405020304" pitchFamily="18" charset="0"/>
              </a:rPr>
              <a:t>a</a:t>
            </a:r>
            <a:r>
              <a:rPr sz="2000">
                <a:latin typeface="Times New Roman" panose="02020603050405020304" pitchFamily="18" charset="0"/>
                <a:cs typeface="Times New Roman" panose="02020603050405020304" pitchFamily="18" charset="0"/>
              </a:rPr>
              <a:t>n	</a:t>
            </a:r>
            <a:r>
              <a:rPr sz="2000" spc="-15">
                <a:latin typeface="Times New Roman" panose="02020603050405020304" pitchFamily="18" charset="0"/>
                <a:cs typeface="Times New Roman" panose="02020603050405020304" pitchFamily="18" charset="0"/>
              </a:rPr>
              <a:t>e</a:t>
            </a:r>
            <a:r>
              <a:rPr sz="2000">
                <a:latin typeface="Times New Roman" panose="02020603050405020304" pitchFamily="18" charset="0"/>
                <a:cs typeface="Times New Roman" panose="02020603050405020304" pitchFamily="18" charset="0"/>
              </a:rPr>
              <a:t>n</a:t>
            </a:r>
            <a:r>
              <a:rPr sz="2000" spc="-15">
                <a:latin typeface="Times New Roman" panose="02020603050405020304" pitchFamily="18" charset="0"/>
                <a:cs typeface="Times New Roman" panose="02020603050405020304" pitchFamily="18" charset="0"/>
              </a:rPr>
              <a:t>t</a:t>
            </a:r>
            <a:r>
              <a:rPr sz="2000">
                <a:latin typeface="Times New Roman" panose="02020603050405020304" pitchFamily="18" charset="0"/>
                <a:cs typeface="Times New Roman" panose="02020603050405020304" pitchFamily="18" charset="0"/>
              </a:rPr>
              <a:t>rep</a:t>
            </a:r>
            <a:r>
              <a:rPr sz="2000" spc="-10">
                <a:latin typeface="Times New Roman" panose="02020603050405020304" pitchFamily="18" charset="0"/>
                <a:cs typeface="Times New Roman" panose="02020603050405020304" pitchFamily="18" charset="0"/>
              </a:rPr>
              <a:t>r</a:t>
            </a:r>
            <a:r>
              <a:rPr sz="2000">
                <a:latin typeface="Times New Roman" panose="02020603050405020304" pitchFamily="18" charset="0"/>
                <a:cs typeface="Times New Roman" panose="02020603050405020304" pitchFamily="18" charset="0"/>
              </a:rPr>
              <a:t>eneur	who	und</a:t>
            </a:r>
            <a:r>
              <a:rPr sz="2000" spc="-10">
                <a:latin typeface="Times New Roman" panose="02020603050405020304" pitchFamily="18" charset="0"/>
                <a:cs typeface="Times New Roman" panose="02020603050405020304" pitchFamily="18" charset="0"/>
              </a:rPr>
              <a:t>e</a:t>
            </a:r>
            <a:r>
              <a:rPr sz="2000">
                <a:latin typeface="Times New Roman" panose="02020603050405020304" pitchFamily="18" charset="0"/>
                <a:cs typeface="Times New Roman" panose="02020603050405020304" pitchFamily="18" charset="0"/>
              </a:rPr>
              <a:t>rtak</a:t>
            </a:r>
            <a:r>
              <a:rPr sz="2000" spc="-10">
                <a:latin typeface="Times New Roman" panose="02020603050405020304" pitchFamily="18" charset="0"/>
                <a:cs typeface="Times New Roman" panose="02020603050405020304" pitchFamily="18" charset="0"/>
              </a:rPr>
              <a:t>e</a:t>
            </a:r>
            <a:r>
              <a:rPr sz="2000">
                <a:latin typeface="Times New Roman" panose="02020603050405020304" pitchFamily="18" charset="0"/>
                <a:cs typeface="Times New Roman" panose="02020603050405020304" pitchFamily="18" charset="0"/>
              </a:rPr>
              <a:t>s	</a:t>
            </a:r>
            <a:r>
              <a:rPr sz="2000" spc="-20">
                <a:latin typeface="Times New Roman" panose="02020603050405020304" pitchFamily="18" charset="0"/>
                <a:cs typeface="Times New Roman" panose="02020603050405020304" pitchFamily="18" charset="0"/>
              </a:rPr>
              <a:t>t</a:t>
            </a:r>
            <a:r>
              <a:rPr sz="2000">
                <a:latin typeface="Times New Roman" panose="02020603050405020304" pitchFamily="18" charset="0"/>
                <a:cs typeface="Times New Roman" panose="02020603050405020304" pitchFamily="18" charset="0"/>
              </a:rPr>
              <a:t>r</a:t>
            </a:r>
            <a:r>
              <a:rPr sz="2000" spc="-10">
                <a:latin typeface="Times New Roman" panose="02020603050405020304" pitchFamily="18" charset="0"/>
                <a:cs typeface="Times New Roman" panose="02020603050405020304" pitchFamily="18" charset="0"/>
              </a:rPr>
              <a:t>a</a:t>
            </a:r>
            <a:r>
              <a:rPr sz="2000">
                <a:latin typeface="Times New Roman" panose="02020603050405020304" pitchFamily="18" charset="0"/>
                <a:cs typeface="Times New Roman" panose="02020603050405020304" pitchFamily="18" charset="0"/>
              </a:rPr>
              <a:t>d</a:t>
            </a:r>
            <a:r>
              <a:rPr sz="2000" spc="-15">
                <a:latin typeface="Times New Roman" panose="02020603050405020304" pitchFamily="18" charset="0"/>
                <a:cs typeface="Times New Roman" panose="02020603050405020304" pitchFamily="18" charset="0"/>
              </a:rPr>
              <a:t>i</a:t>
            </a:r>
            <a:r>
              <a:rPr sz="2000">
                <a:latin typeface="Times New Roman" panose="02020603050405020304" pitchFamily="18" charset="0"/>
                <a:cs typeface="Times New Roman" panose="02020603050405020304" pitchFamily="18" charset="0"/>
              </a:rPr>
              <a:t>ng  </a:t>
            </a:r>
            <a:r>
              <a:rPr sz="2000" spc="-5">
                <a:latin typeface="Times New Roman" panose="02020603050405020304" pitchFamily="18" charset="0"/>
                <a:cs typeface="Times New Roman" panose="02020603050405020304" pitchFamily="18" charset="0"/>
              </a:rPr>
              <a:t>activity </a:t>
            </a:r>
            <a:r>
              <a:rPr sz="2000" spc="-5" err="1">
                <a:latin typeface="Times New Roman" panose="02020603050405020304" pitchFamily="18" charset="0"/>
                <a:cs typeface="Times New Roman" panose="02020603050405020304" pitchFamily="18" charset="0"/>
              </a:rPr>
              <a:t>i.e</a:t>
            </a:r>
            <a:r>
              <a:rPr sz="2000" spc="-5">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buying and </a:t>
            </a:r>
            <a:r>
              <a:rPr sz="2000" spc="-5">
                <a:latin typeface="Times New Roman" panose="02020603050405020304" pitchFamily="18" charset="0"/>
                <a:cs typeface="Times New Roman" panose="02020603050405020304" pitchFamily="18" charset="0"/>
              </a:rPr>
              <a:t>selling </a:t>
            </a:r>
            <a:r>
              <a:rPr sz="2000">
                <a:latin typeface="Times New Roman" panose="02020603050405020304" pitchFamily="18" charset="0"/>
                <a:cs typeface="Times New Roman" panose="02020603050405020304" pitchFamily="18" charset="0"/>
              </a:rPr>
              <a:t>manufactured</a:t>
            </a:r>
            <a:r>
              <a:rPr sz="2000" spc="-85">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goods.</a:t>
            </a:r>
            <a:endParaRPr sz="2000">
              <a:latin typeface="Times New Roman" panose="02020603050405020304" pitchFamily="18" charset="0"/>
              <a:cs typeface="Times New Roman" panose="02020603050405020304" pitchFamily="18" charset="0"/>
            </a:endParaRPr>
          </a:p>
          <a:p>
            <a:pPr marL="355600" indent="-343535">
              <a:spcBef>
                <a:spcPts val="1680"/>
              </a:spcBef>
              <a:buAutoNum type="arabicParenR" startAt="2"/>
              <a:tabLst>
                <a:tab pos="355600" algn="l"/>
                <a:tab pos="356235" algn="l"/>
                <a:tab pos="1658620" algn="l"/>
                <a:tab pos="3446779" algn="l"/>
                <a:tab pos="3961765" algn="l"/>
                <a:tab pos="4349115" algn="l"/>
                <a:tab pos="4804410" algn="l"/>
                <a:tab pos="6304915" algn="l"/>
                <a:tab pos="6961505" algn="l"/>
              </a:tabLst>
            </a:pPr>
            <a:r>
              <a:rPr sz="2000" b="1" spc="-5">
                <a:latin typeface="Times New Roman" panose="02020603050405020304" pitchFamily="18" charset="0"/>
                <a:cs typeface="Times New Roman" panose="02020603050405020304" pitchFamily="18" charset="0"/>
              </a:rPr>
              <a:t>Industrial	</a:t>
            </a:r>
            <a:r>
              <a:rPr sz="2000" b="1" spc="-10">
                <a:latin typeface="Times New Roman" panose="02020603050405020304" pitchFamily="18" charset="0"/>
                <a:cs typeface="Times New Roman" panose="02020603050405020304" pitchFamily="18" charset="0"/>
              </a:rPr>
              <a:t>Entrepreneur:	</a:t>
            </a:r>
            <a:r>
              <a:rPr sz="2000">
                <a:latin typeface="Times New Roman" panose="02020603050405020304" pitchFamily="18" charset="0"/>
                <a:cs typeface="Times New Roman" panose="02020603050405020304" pitchFamily="18" charset="0"/>
              </a:rPr>
              <a:t>He	</a:t>
            </a:r>
            <a:r>
              <a:rPr sz="2000" spc="-5">
                <a:latin typeface="Times New Roman" panose="02020603050405020304" pitchFamily="18" charset="0"/>
                <a:cs typeface="Times New Roman" panose="02020603050405020304" pitchFamily="18" charset="0"/>
              </a:rPr>
              <a:t>is	an	entrepreneur	</a:t>
            </a:r>
            <a:r>
              <a:rPr sz="2000">
                <a:latin typeface="Times New Roman" panose="02020603050405020304" pitchFamily="18" charset="0"/>
                <a:cs typeface="Times New Roman" panose="02020603050405020304" pitchFamily="18" charset="0"/>
              </a:rPr>
              <a:t>who	</a:t>
            </a:r>
            <a:r>
              <a:rPr sz="2000" spc="-5">
                <a:latin typeface="Times New Roman" panose="02020603050405020304" pitchFamily="18" charset="0"/>
                <a:cs typeface="Times New Roman" panose="02020603050405020304" pitchFamily="18" charset="0"/>
              </a:rPr>
              <a:t>undertakes</a:t>
            </a:r>
            <a:endParaRPr sz="2000">
              <a:latin typeface="Times New Roman" panose="02020603050405020304" pitchFamily="18" charset="0"/>
              <a:cs typeface="Times New Roman" panose="02020603050405020304" pitchFamily="18" charset="0"/>
            </a:endParaRPr>
          </a:p>
          <a:p>
            <a:pPr marL="355600">
              <a:spcBef>
                <a:spcPts val="1205"/>
              </a:spcBef>
            </a:pPr>
            <a:r>
              <a:rPr sz="2000" spc="-5">
                <a:latin typeface="Times New Roman" panose="02020603050405020304" pitchFamily="18" charset="0"/>
                <a:cs typeface="Times New Roman" panose="02020603050405020304" pitchFamily="18" charset="0"/>
              </a:rPr>
              <a:t>manufacturing</a:t>
            </a:r>
            <a:r>
              <a:rPr sz="2000" spc="-40">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activities.</a:t>
            </a:r>
            <a:endParaRPr sz="2000">
              <a:latin typeface="Times New Roman" panose="02020603050405020304" pitchFamily="18" charset="0"/>
              <a:cs typeface="Times New Roman" panose="02020603050405020304" pitchFamily="18" charset="0"/>
            </a:endParaRPr>
          </a:p>
          <a:p>
            <a:pPr marL="355600" indent="-343535">
              <a:spcBef>
                <a:spcPts val="1680"/>
              </a:spcBef>
              <a:buAutoNum type="arabicParenR" startAt="4"/>
              <a:tabLst>
                <a:tab pos="355600" algn="l"/>
                <a:tab pos="356235" algn="l"/>
              </a:tabLst>
            </a:pPr>
            <a:r>
              <a:rPr sz="2000" b="1">
                <a:latin typeface="Times New Roman" panose="02020603050405020304" pitchFamily="18" charset="0"/>
                <a:cs typeface="Times New Roman" panose="02020603050405020304" pitchFamily="18" charset="0"/>
              </a:rPr>
              <a:t>Corporate </a:t>
            </a:r>
            <a:r>
              <a:rPr sz="2000" b="1" spc="-10">
                <a:latin typeface="Times New Roman" panose="02020603050405020304" pitchFamily="18" charset="0"/>
                <a:cs typeface="Times New Roman" panose="02020603050405020304" pitchFamily="18" charset="0"/>
              </a:rPr>
              <a:t>Entrepreneur: </a:t>
            </a:r>
            <a:r>
              <a:rPr sz="2000" spc="-5">
                <a:latin typeface="Times New Roman" panose="02020603050405020304" pitchFamily="18" charset="0"/>
                <a:cs typeface="Times New Roman" panose="02020603050405020304" pitchFamily="18" charset="0"/>
              </a:rPr>
              <a:t>He is </a:t>
            </a:r>
            <a:r>
              <a:rPr sz="2000">
                <a:latin typeface="Times New Roman" panose="02020603050405020304" pitchFamily="18" charset="0"/>
                <a:cs typeface="Times New Roman" panose="02020603050405020304" pitchFamily="18" charset="0"/>
              </a:rPr>
              <a:t>a </a:t>
            </a:r>
            <a:r>
              <a:rPr sz="2000" spc="-5">
                <a:latin typeface="Times New Roman" panose="02020603050405020304" pitchFamily="18" charset="0"/>
                <a:cs typeface="Times New Roman" panose="02020603050405020304" pitchFamily="18" charset="0"/>
              </a:rPr>
              <a:t>person who demonstrates </a:t>
            </a:r>
            <a:r>
              <a:rPr sz="2000">
                <a:latin typeface="Times New Roman" panose="02020603050405020304" pitchFamily="18" charset="0"/>
                <a:cs typeface="Times New Roman" panose="02020603050405020304" pitchFamily="18" charset="0"/>
              </a:rPr>
              <a:t>his</a:t>
            </a:r>
            <a:r>
              <a:rPr sz="2000" spc="355">
                <a:latin typeface="Times New Roman" panose="02020603050405020304" pitchFamily="18" charset="0"/>
                <a:cs typeface="Times New Roman" panose="02020603050405020304" pitchFamily="18" charset="0"/>
              </a:rPr>
              <a:t> </a:t>
            </a:r>
            <a:r>
              <a:rPr sz="2000" spc="-5">
                <a:latin typeface="Times New Roman" panose="02020603050405020304" pitchFamily="18" charset="0"/>
                <a:cs typeface="Times New Roman" panose="02020603050405020304" pitchFamily="18" charset="0"/>
              </a:rPr>
              <a:t>innovative</a:t>
            </a:r>
            <a:endParaRPr sz="2000">
              <a:latin typeface="Times New Roman" panose="02020603050405020304" pitchFamily="18" charset="0"/>
              <a:cs typeface="Times New Roman" panose="02020603050405020304" pitchFamily="18" charset="0"/>
            </a:endParaRPr>
          </a:p>
          <a:p>
            <a:pPr marL="355600" algn="just">
              <a:spcBef>
                <a:spcPts val="1200"/>
              </a:spcBef>
            </a:pPr>
            <a:r>
              <a:rPr sz="2000">
                <a:latin typeface="Times New Roman" panose="02020603050405020304" pitchFamily="18" charset="0"/>
                <a:cs typeface="Times New Roman" panose="02020603050405020304" pitchFamily="18" charset="0"/>
              </a:rPr>
              <a:t>skill </a:t>
            </a:r>
            <a:r>
              <a:rPr sz="2000" spc="-5">
                <a:latin typeface="Times New Roman" panose="02020603050405020304" pitchFamily="18" charset="0"/>
                <a:cs typeface="Times New Roman" panose="02020603050405020304" pitchFamily="18" charset="0"/>
              </a:rPr>
              <a:t>in organizing </a:t>
            </a:r>
            <a:r>
              <a:rPr sz="2000">
                <a:latin typeface="Times New Roman" panose="02020603050405020304" pitchFamily="18" charset="0"/>
                <a:cs typeface="Times New Roman" panose="02020603050405020304" pitchFamily="18" charset="0"/>
              </a:rPr>
              <a:t>and managing a corporate</a:t>
            </a:r>
            <a:r>
              <a:rPr sz="2000" spc="-135">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undertaking.</a:t>
            </a:r>
          </a:p>
          <a:p>
            <a:pPr marL="355600" marR="5080" indent="-343535" algn="just">
              <a:spcBef>
                <a:spcPts val="480"/>
              </a:spcBef>
              <a:buAutoNum type="arabicParenR" startAt="5"/>
              <a:tabLst>
                <a:tab pos="356235" algn="l"/>
              </a:tabLst>
            </a:pPr>
            <a:r>
              <a:rPr sz="2000" b="1" spc="-5">
                <a:latin typeface="Times New Roman" panose="02020603050405020304" pitchFamily="18" charset="0"/>
                <a:cs typeface="Times New Roman" panose="02020603050405020304" pitchFamily="18" charset="0"/>
              </a:rPr>
              <a:t>Agricultural </a:t>
            </a:r>
            <a:r>
              <a:rPr sz="2000" b="1" spc="-10">
                <a:latin typeface="Times New Roman" panose="02020603050405020304" pitchFamily="18" charset="0"/>
                <a:cs typeface="Times New Roman" panose="02020603050405020304" pitchFamily="18" charset="0"/>
              </a:rPr>
              <a:t>Entrepreneur: </a:t>
            </a:r>
            <a:r>
              <a:rPr sz="2000">
                <a:latin typeface="Times New Roman" panose="02020603050405020304" pitchFamily="18" charset="0"/>
                <a:cs typeface="Times New Roman" panose="02020603050405020304" pitchFamily="18" charset="0"/>
              </a:rPr>
              <a:t>They </a:t>
            </a:r>
            <a:r>
              <a:rPr sz="2000" spc="-5">
                <a:latin typeface="Times New Roman" panose="02020603050405020304" pitchFamily="18" charset="0"/>
                <a:cs typeface="Times New Roman" panose="02020603050405020304" pitchFamily="18" charset="0"/>
              </a:rPr>
              <a:t>are entrepreneurs </a:t>
            </a:r>
            <a:r>
              <a:rPr sz="2000">
                <a:latin typeface="Times New Roman" panose="02020603050405020304" pitchFamily="18" charset="0"/>
                <a:cs typeface="Times New Roman" panose="02020603050405020304" pitchFamily="18" charset="0"/>
              </a:rPr>
              <a:t>who </a:t>
            </a:r>
            <a:r>
              <a:rPr sz="2000" spc="-5">
                <a:latin typeface="Times New Roman" panose="02020603050405020304" pitchFamily="18" charset="0"/>
                <a:cs typeface="Times New Roman" panose="02020603050405020304" pitchFamily="18" charset="0"/>
              </a:rPr>
              <a:t>undertake  agricultural activities such </a:t>
            </a:r>
            <a:r>
              <a:rPr sz="2000" spc="-10">
                <a:latin typeface="Times New Roman" panose="02020603050405020304" pitchFamily="18" charset="0"/>
                <a:cs typeface="Times New Roman" panose="02020603050405020304" pitchFamily="18" charset="0"/>
              </a:rPr>
              <a:t>as </a:t>
            </a:r>
            <a:r>
              <a:rPr sz="2000" spc="-5">
                <a:latin typeface="Times New Roman" panose="02020603050405020304" pitchFamily="18" charset="0"/>
                <a:cs typeface="Times New Roman" panose="02020603050405020304" pitchFamily="18" charset="0"/>
              </a:rPr>
              <a:t>raising and marketing </a:t>
            </a:r>
            <a:r>
              <a:rPr sz="2000">
                <a:latin typeface="Times New Roman" panose="02020603050405020304" pitchFamily="18" charset="0"/>
                <a:cs typeface="Times New Roman" panose="02020603050405020304" pitchFamily="18" charset="0"/>
              </a:rPr>
              <a:t>of </a:t>
            </a:r>
            <a:r>
              <a:rPr sz="2000" spc="-5">
                <a:latin typeface="Times New Roman" panose="02020603050405020304" pitchFamily="18" charset="0"/>
                <a:cs typeface="Times New Roman" panose="02020603050405020304" pitchFamily="18" charset="0"/>
              </a:rPr>
              <a:t>crops, fertilizers and  </a:t>
            </a:r>
            <a:r>
              <a:rPr sz="2000">
                <a:latin typeface="Times New Roman" panose="02020603050405020304" pitchFamily="18" charset="0"/>
                <a:cs typeface="Times New Roman" panose="02020603050405020304" pitchFamily="18" charset="0"/>
              </a:rPr>
              <a:t>other inputs of agriculture. They are </a:t>
            </a:r>
            <a:r>
              <a:rPr sz="2000" spc="-5">
                <a:latin typeface="Times New Roman" panose="02020603050405020304" pitchFamily="18" charset="0"/>
                <a:cs typeface="Times New Roman" panose="02020603050405020304" pitchFamily="18" charset="0"/>
              </a:rPr>
              <a:t>called</a:t>
            </a:r>
            <a:r>
              <a:rPr sz="2000" spc="-2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agripreneurs.</a:t>
            </a:r>
            <a:endParaRPr sz="2400">
              <a:latin typeface="Times New Roman" panose="02020603050405020304" pitchFamily="18" charset="0"/>
              <a:cs typeface="Times New Roman" panose="02020603050405020304" pitchFamily="18" charset="0"/>
            </a:endParaRPr>
          </a:p>
        </p:txBody>
      </p:sp>
      <p:sp>
        <p:nvSpPr>
          <p:cNvPr id="7" name="Date Placeholder 3"/>
          <p:cNvSpPr>
            <a:spLocks noGrp="1"/>
          </p:cNvSpPr>
          <p:nvPr>
            <p:ph type="dt" sz="half" idx="10"/>
          </p:nvPr>
        </p:nvSpPr>
        <p:spPr>
          <a:xfrm>
            <a:off x="457200" y="6356352"/>
            <a:ext cx="2133600" cy="365125"/>
          </a:xfrm>
        </p:spPr>
        <p:txBody>
          <a:bodyPr/>
          <a:lstStyle/>
          <a:p>
            <a:fld id="{B510CE01-7F47-4540-BA0E-DC977F4B43C1}" type="datetime1">
              <a:rPr lang="en-US" smtClean="0"/>
              <a:pPr/>
              <a:t>12-Aug-25</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59</a:t>
            </a:fld>
            <a:endParaRPr lang="en-US"/>
          </a:p>
        </p:txBody>
      </p:sp>
      <p:sp>
        <p:nvSpPr>
          <p:cNvPr id="2" name="Footer Placeholder 12">
            <a:extLst>
              <a:ext uri="{FF2B5EF4-FFF2-40B4-BE49-F238E27FC236}">
                <a16:creationId xmlns:a16="http://schemas.microsoft.com/office/drawing/2014/main" id="{1D8AB777-F597-183F-5BEE-13A2D62CCA8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8" name="Title 1"/>
          <p:cNvSpPr txBox="1">
            <a:spLocks/>
          </p:cNvSpPr>
          <p:nvPr/>
        </p:nvSpPr>
        <p:spPr>
          <a:xfrm>
            <a:off x="1475656" y="56532"/>
            <a:ext cx="7609184" cy="87267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spc="-5">
                <a:solidFill>
                  <a:schemeClr val="tx1"/>
                </a:solidFill>
                <a:latin typeface="Times New Roman" panose="02020603050405020304" pitchFamily="18" charset="0"/>
                <a:cs typeface="Times New Roman" panose="02020603050405020304" pitchFamily="18" charset="0"/>
              </a:rPr>
              <a:t>ON THE BASIS OF </a:t>
            </a:r>
            <a:r>
              <a:rPr lang="en-US" sz="3600" b="1" spc="-10">
                <a:solidFill>
                  <a:schemeClr val="tx1"/>
                </a:solidFill>
                <a:latin typeface="Times New Roman" panose="02020603050405020304" pitchFamily="18" charset="0"/>
                <a:cs typeface="Times New Roman" panose="02020603050405020304" pitchFamily="18" charset="0"/>
              </a:rPr>
              <a:t>TYPE </a:t>
            </a:r>
            <a:r>
              <a:rPr lang="en-US" sz="3600" b="1" spc="-5">
                <a:solidFill>
                  <a:schemeClr val="tx1"/>
                </a:solidFill>
                <a:latin typeface="Times New Roman" panose="02020603050405020304" pitchFamily="18" charset="0"/>
                <a:cs typeface="Times New Roman" panose="02020603050405020304" pitchFamily="18" charset="0"/>
              </a:rPr>
              <a:t>OF</a:t>
            </a:r>
            <a:r>
              <a:rPr lang="en-US" sz="3600" b="1" spc="-295">
                <a:solidFill>
                  <a:schemeClr val="tx1"/>
                </a:solidFill>
                <a:latin typeface="Times New Roman" panose="02020603050405020304" pitchFamily="18" charset="0"/>
                <a:cs typeface="Times New Roman" panose="02020603050405020304" pitchFamily="18" charset="0"/>
              </a:rPr>
              <a:t> </a:t>
            </a:r>
            <a:r>
              <a:rPr lang="en-US" sz="3600" b="1" spc="-5">
                <a:solidFill>
                  <a:schemeClr val="tx1"/>
                </a:solidFill>
                <a:latin typeface="Times New Roman" panose="02020603050405020304" pitchFamily="18" charset="0"/>
                <a:cs typeface="Times New Roman" panose="02020603050405020304" pitchFamily="18" charset="0"/>
              </a:rPr>
              <a:t>BUSINESS</a:t>
            </a:r>
            <a:endParaRPr lang="en-IN" sz="3600" b="1">
              <a:solidFill>
                <a:schemeClr val="tx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469794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p:nvPr/>
        </p:nvSpPr>
        <p:spPr>
          <a:xfrm>
            <a:off x="428596" y="1357298"/>
            <a:ext cx="8286807" cy="3993401"/>
          </a:xfrm>
          <a:prstGeom prst="rect">
            <a:avLst/>
          </a:prstGeom>
        </p:spPr>
        <p:txBody>
          <a:bodyPr vert="horz" wrap="square" lIns="0" tIns="12700" rIns="0" bIns="0" rtlCol="0">
            <a:spAutoFit/>
          </a:bodyPr>
          <a:lstStyle/>
          <a:p>
            <a:pPr>
              <a:lnSpc>
                <a:spcPct val="100000"/>
              </a:lnSpc>
              <a:spcBef>
                <a:spcPts val="100"/>
              </a:spcBef>
            </a:pPr>
            <a:r>
              <a:rPr sz="2400" b="1" spc="-25">
                <a:cs typeface="Times New Roman"/>
              </a:rPr>
              <a:t>Te</a:t>
            </a:r>
            <a:r>
              <a:rPr sz="2400" b="1" spc="-25">
                <a:latin typeface="Times New Roman" panose="02020603050405020304" pitchFamily="18" charset="0"/>
                <a:cs typeface="Times New Roman" panose="02020603050405020304" pitchFamily="18" charset="0"/>
              </a:rPr>
              <a:t>chnical</a:t>
            </a:r>
            <a:r>
              <a:rPr sz="2400" b="1" spc="-20">
                <a:latin typeface="Times New Roman" panose="02020603050405020304" pitchFamily="18" charset="0"/>
                <a:cs typeface="Times New Roman" panose="02020603050405020304" pitchFamily="18" charset="0"/>
              </a:rPr>
              <a:t> </a:t>
            </a:r>
            <a:r>
              <a:rPr sz="2400" b="1" spc="-10">
                <a:latin typeface="Times New Roman" panose="02020603050405020304" pitchFamily="18" charset="0"/>
                <a:cs typeface="Times New Roman" panose="02020603050405020304" pitchFamily="18" charset="0"/>
              </a:rPr>
              <a:t>Entrepreneur:</a:t>
            </a:r>
            <a:endParaRPr sz="2400">
              <a:latin typeface="Times New Roman" panose="02020603050405020304" pitchFamily="18" charset="0"/>
              <a:cs typeface="Times New Roman" panose="02020603050405020304" pitchFamily="18" charset="0"/>
            </a:endParaRPr>
          </a:p>
          <a:p>
            <a:pPr marL="514984" indent="-515620">
              <a:lnSpc>
                <a:spcPct val="100000"/>
              </a:lnSpc>
              <a:spcBef>
                <a:spcPts val="2020"/>
              </a:spcBef>
              <a:buFont typeface="Arial"/>
              <a:buChar char="•"/>
              <a:tabLst>
                <a:tab pos="514984" algn="l"/>
                <a:tab pos="515620" algn="l"/>
              </a:tabLst>
            </a:pPr>
            <a:r>
              <a:rPr sz="2400">
                <a:latin typeface="Times New Roman" panose="02020603050405020304" pitchFamily="18" charset="0"/>
                <a:cs typeface="Times New Roman" panose="02020603050405020304" pitchFamily="18" charset="0"/>
              </a:rPr>
              <a:t>They are </a:t>
            </a:r>
            <a:r>
              <a:rPr sz="2400" spc="-5">
                <a:latin typeface="Times New Roman" panose="02020603050405020304" pitchFamily="18" charset="0"/>
                <a:cs typeface="Times New Roman" panose="02020603050405020304" pitchFamily="18" charset="0"/>
              </a:rPr>
              <a:t>extremely </a:t>
            </a:r>
            <a:r>
              <a:rPr sz="2400">
                <a:latin typeface="Times New Roman" panose="02020603050405020304" pitchFamily="18" charset="0"/>
                <a:cs typeface="Times New Roman" panose="02020603050405020304" pitchFamily="18" charset="0"/>
              </a:rPr>
              <a:t>task</a:t>
            </a:r>
            <a:r>
              <a:rPr sz="2400" spc="-5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oriented.</a:t>
            </a:r>
          </a:p>
          <a:p>
            <a:pPr marL="514984" indent="-515620">
              <a:lnSpc>
                <a:spcPct val="100000"/>
              </a:lnSpc>
              <a:spcBef>
                <a:spcPts val="2014"/>
              </a:spcBef>
              <a:buFont typeface="Arial"/>
              <a:buChar char="•"/>
              <a:tabLst>
                <a:tab pos="514984" algn="l"/>
                <a:tab pos="515620" algn="l"/>
              </a:tabLst>
            </a:pPr>
            <a:r>
              <a:rPr sz="2400">
                <a:latin typeface="Times New Roman" panose="02020603050405020304" pitchFamily="18" charset="0"/>
                <a:cs typeface="Times New Roman" panose="02020603050405020304" pitchFamily="18" charset="0"/>
              </a:rPr>
              <a:t>They are of </a:t>
            </a:r>
            <a:r>
              <a:rPr sz="2400" spc="-5">
                <a:latin typeface="Times New Roman" panose="02020603050405020304" pitchFamily="18" charset="0"/>
                <a:cs typeface="Times New Roman" panose="02020603050405020304" pitchFamily="18" charset="0"/>
              </a:rPr>
              <a:t>craftsman</a:t>
            </a:r>
            <a:r>
              <a:rPr sz="2400" spc="-5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type.</a:t>
            </a:r>
          </a:p>
          <a:p>
            <a:pPr marL="514984" marR="5080" indent="-515620">
              <a:lnSpc>
                <a:spcPct val="150000"/>
              </a:lnSpc>
              <a:spcBef>
                <a:spcPts val="575"/>
              </a:spcBef>
              <a:buFont typeface="Arial"/>
              <a:buChar char="•"/>
              <a:tabLst>
                <a:tab pos="514984" algn="l"/>
                <a:tab pos="515620" algn="l"/>
              </a:tabLst>
            </a:pPr>
            <a:r>
              <a:rPr sz="2400">
                <a:latin typeface="Times New Roman" panose="02020603050405020304" pitchFamily="18" charset="0"/>
                <a:cs typeface="Times New Roman" panose="02020603050405020304" pitchFamily="18" charset="0"/>
              </a:rPr>
              <a:t>They </a:t>
            </a:r>
            <a:r>
              <a:rPr sz="2400" spc="-5">
                <a:latin typeface="Times New Roman" panose="02020603050405020304" pitchFamily="18" charset="0"/>
                <a:cs typeface="Times New Roman" panose="02020603050405020304" pitchFamily="18" charset="0"/>
              </a:rPr>
              <a:t>develop new </a:t>
            </a:r>
            <a:r>
              <a:rPr sz="2400">
                <a:latin typeface="Times New Roman" panose="02020603050405020304" pitchFamily="18" charset="0"/>
                <a:cs typeface="Times New Roman" panose="02020603050405020304" pitchFamily="18" charset="0"/>
              </a:rPr>
              <a:t>and </a:t>
            </a:r>
            <a:r>
              <a:rPr sz="2400" spc="-5">
                <a:latin typeface="Times New Roman" panose="02020603050405020304" pitchFamily="18" charset="0"/>
                <a:cs typeface="Times New Roman" panose="02020603050405020304" pitchFamily="18" charset="0"/>
              </a:rPr>
              <a:t>improved quality goods  </a:t>
            </a:r>
            <a:r>
              <a:rPr sz="2400">
                <a:latin typeface="Times New Roman" panose="02020603050405020304" pitchFamily="18" charset="0"/>
                <a:cs typeface="Times New Roman" panose="02020603050405020304" pitchFamily="18" charset="0"/>
              </a:rPr>
              <a:t>because </a:t>
            </a:r>
            <a:r>
              <a:rPr sz="2400" spc="-5">
                <a:latin typeface="Times New Roman" panose="02020603050405020304" pitchFamily="18" charset="0"/>
                <a:cs typeface="Times New Roman" panose="02020603050405020304" pitchFamily="18" charset="0"/>
              </a:rPr>
              <a:t>of </a:t>
            </a:r>
            <a:r>
              <a:rPr sz="2400">
                <a:latin typeface="Times New Roman" panose="02020603050405020304" pitchFamily="18" charset="0"/>
                <a:cs typeface="Times New Roman" panose="02020603050405020304" pitchFamily="18" charset="0"/>
              </a:rPr>
              <a:t>their</a:t>
            </a:r>
            <a:r>
              <a:rPr sz="2400" spc="-3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craftmanship.</a:t>
            </a:r>
            <a:endParaRPr sz="2400">
              <a:latin typeface="Times New Roman" panose="02020603050405020304" pitchFamily="18" charset="0"/>
              <a:cs typeface="Times New Roman" panose="02020603050405020304" pitchFamily="18" charset="0"/>
            </a:endParaRPr>
          </a:p>
          <a:p>
            <a:pPr marL="514984" indent="-515620">
              <a:lnSpc>
                <a:spcPct val="100000"/>
              </a:lnSpc>
              <a:spcBef>
                <a:spcPts val="2020"/>
              </a:spcBef>
              <a:buFont typeface="Arial"/>
              <a:buChar char="•"/>
              <a:tabLst>
                <a:tab pos="514984" algn="l"/>
                <a:tab pos="515620" algn="l"/>
              </a:tabLst>
            </a:pPr>
            <a:r>
              <a:rPr sz="2400">
                <a:latin typeface="Times New Roman" panose="02020603050405020304" pitchFamily="18" charset="0"/>
                <a:cs typeface="Times New Roman" panose="02020603050405020304" pitchFamily="18" charset="0"/>
              </a:rPr>
              <a:t>They </a:t>
            </a:r>
            <a:r>
              <a:rPr sz="2400" spc="-5">
                <a:latin typeface="Times New Roman" panose="02020603050405020304" pitchFamily="18" charset="0"/>
                <a:cs typeface="Times New Roman" panose="02020603050405020304" pitchFamily="18" charset="0"/>
              </a:rPr>
              <a:t>concentrate more on production </a:t>
            </a:r>
            <a:r>
              <a:rPr sz="2400">
                <a:latin typeface="Times New Roman" panose="02020603050405020304" pitchFamily="18" charset="0"/>
                <a:cs typeface="Times New Roman" panose="02020603050405020304" pitchFamily="18" charset="0"/>
              </a:rPr>
              <a:t>than</a:t>
            </a:r>
            <a:r>
              <a:rPr sz="2400" spc="-10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on</a:t>
            </a:r>
            <a:endParaRPr sz="2400">
              <a:latin typeface="Times New Roman" panose="02020603050405020304" pitchFamily="18" charset="0"/>
              <a:cs typeface="Times New Roman" panose="02020603050405020304" pitchFamily="18" charset="0"/>
            </a:endParaRPr>
          </a:p>
          <a:p>
            <a:pPr marL="514984">
              <a:lnSpc>
                <a:spcPct val="100000"/>
              </a:lnSpc>
              <a:spcBef>
                <a:spcPts val="1440"/>
              </a:spcBef>
            </a:pPr>
            <a:r>
              <a:rPr sz="2400" spc="-5">
                <a:latin typeface="Times New Roman" panose="02020603050405020304" pitchFamily="18" charset="0"/>
                <a:cs typeface="Times New Roman" panose="02020603050405020304" pitchFamily="18" charset="0"/>
              </a:rPr>
              <a:t>marketing.</a:t>
            </a:r>
            <a:endParaRPr sz="2400">
              <a:latin typeface="Times New Roman" panose="02020603050405020304" pitchFamily="18" charset="0"/>
              <a:cs typeface="Times New Roman" panose="02020603050405020304" pitchFamily="18" charset="0"/>
            </a:endParaRPr>
          </a:p>
        </p:txBody>
      </p:sp>
      <p:sp>
        <p:nvSpPr>
          <p:cNvPr id="15" name="Date Placeholder 3"/>
          <p:cNvSpPr>
            <a:spLocks noGrp="1"/>
          </p:cNvSpPr>
          <p:nvPr>
            <p:ph type="dt" sz="half" idx="10"/>
          </p:nvPr>
        </p:nvSpPr>
        <p:spPr>
          <a:xfrm>
            <a:off x="600060" y="6492877"/>
            <a:ext cx="2133600" cy="365125"/>
          </a:xfrm>
        </p:spPr>
        <p:txBody>
          <a:bodyPr/>
          <a:lstStyle/>
          <a:p>
            <a:fld id="{FCE7D38B-9FCF-4C08-92B1-A8CF06995585}" type="datetime1">
              <a:rPr lang="en-US" smtClean="0"/>
              <a:pPr/>
              <a:t>12-Aug-25</a:t>
            </a:fld>
            <a:endParaRPr lang="en-US"/>
          </a:p>
        </p:txBody>
      </p:sp>
      <p:sp>
        <p:nvSpPr>
          <p:cNvPr id="17" name="Slide Number Placeholder 16"/>
          <p:cNvSpPr>
            <a:spLocks noGrp="1"/>
          </p:cNvSpPr>
          <p:nvPr>
            <p:ph type="sldNum" sz="quarter" idx="12"/>
          </p:nvPr>
        </p:nvSpPr>
        <p:spPr/>
        <p:txBody>
          <a:bodyPr/>
          <a:lstStyle/>
          <a:p>
            <a:fld id="{B6F15528-21DE-4FAA-801E-634DDDAF4B2B}" type="slidenum">
              <a:rPr lang="en-US" smtClean="0"/>
              <a:pPr/>
              <a:t>60</a:t>
            </a:fld>
            <a:endParaRPr lang="en-US"/>
          </a:p>
        </p:txBody>
      </p:sp>
      <p:sp>
        <p:nvSpPr>
          <p:cNvPr id="2" name="Footer Placeholder 12">
            <a:extLst>
              <a:ext uri="{FF2B5EF4-FFF2-40B4-BE49-F238E27FC236}">
                <a16:creationId xmlns:a16="http://schemas.microsoft.com/office/drawing/2014/main" id="{B600F38E-F346-3770-2350-275CD794295E}"/>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9" name="Title 1"/>
          <p:cNvSpPr txBox="1">
            <a:spLocks/>
          </p:cNvSpPr>
          <p:nvPr/>
        </p:nvSpPr>
        <p:spPr>
          <a:xfrm>
            <a:off x="1475656" y="44624"/>
            <a:ext cx="7668344" cy="86409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spc="-5">
                <a:solidFill>
                  <a:schemeClr val="tx1"/>
                </a:solidFill>
                <a:latin typeface="Times New Roman" panose="02020603050405020304" pitchFamily="18" charset="0"/>
                <a:cs typeface="Times New Roman" panose="02020603050405020304" pitchFamily="18" charset="0"/>
              </a:rPr>
              <a:t>ON THE BASIS OF USE OF</a:t>
            </a:r>
            <a:r>
              <a:rPr lang="en-US" sz="3600" b="1" spc="-290">
                <a:solidFill>
                  <a:schemeClr val="tx1"/>
                </a:solidFill>
                <a:latin typeface="Times New Roman" panose="02020603050405020304" pitchFamily="18" charset="0"/>
                <a:cs typeface="Times New Roman" panose="02020603050405020304" pitchFamily="18" charset="0"/>
              </a:rPr>
              <a:t> </a:t>
            </a:r>
            <a:r>
              <a:rPr lang="en-US" sz="3600" b="1" spc="-10">
                <a:solidFill>
                  <a:schemeClr val="tx1"/>
                </a:solidFill>
                <a:latin typeface="Times New Roman" panose="02020603050405020304" pitchFamily="18" charset="0"/>
                <a:cs typeface="Times New Roman" panose="02020603050405020304" pitchFamily="18" charset="0"/>
              </a:rPr>
              <a:t>TECHNOLOGY</a:t>
            </a:r>
            <a:endParaRPr lang="en-IN" sz="3600" b="1">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1804419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488" y="884469"/>
            <a:ext cx="7620000" cy="401392"/>
          </a:xfrm>
          <a:prstGeom prst="rect">
            <a:avLst/>
          </a:prstGeom>
        </p:spPr>
        <p:txBody>
          <a:bodyPr vert="horz" wrap="square" lIns="0" tIns="92710" rIns="0" bIns="0" rtlCol="0">
            <a:spAutoFit/>
          </a:bodyPr>
          <a:lstStyle/>
          <a:p>
            <a:pPr marL="275590">
              <a:lnSpc>
                <a:spcPct val="100000"/>
              </a:lnSpc>
              <a:spcBef>
                <a:spcPts val="730"/>
              </a:spcBef>
            </a:pPr>
            <a:r>
              <a:rPr sz="2000" spc="-5">
                <a:solidFill>
                  <a:schemeClr val="bg1"/>
                </a:solidFill>
                <a:latin typeface="+mn-lt"/>
                <a:cs typeface="Times New Roman"/>
              </a:rPr>
              <a:t>ON THE BASIS OF USE OF</a:t>
            </a:r>
            <a:r>
              <a:rPr sz="2000" spc="-290">
                <a:solidFill>
                  <a:schemeClr val="bg1"/>
                </a:solidFill>
                <a:latin typeface="+mn-lt"/>
                <a:cs typeface="Times New Roman"/>
              </a:rPr>
              <a:t> </a:t>
            </a:r>
            <a:r>
              <a:rPr sz="2000" spc="-10">
                <a:solidFill>
                  <a:schemeClr val="bg1"/>
                </a:solidFill>
                <a:latin typeface="+mn-lt"/>
                <a:cs typeface="Times New Roman"/>
              </a:rPr>
              <a:t>TECHNOLOGY</a:t>
            </a:r>
            <a:endParaRPr sz="2000">
              <a:solidFill>
                <a:schemeClr val="bg1"/>
              </a:solidFill>
              <a:latin typeface="+mn-lt"/>
              <a:cs typeface="Times New Roman"/>
            </a:endParaRPr>
          </a:p>
        </p:txBody>
      </p:sp>
      <p:sp>
        <p:nvSpPr>
          <p:cNvPr id="12" name="object 12"/>
          <p:cNvSpPr txBox="1"/>
          <p:nvPr/>
        </p:nvSpPr>
        <p:spPr>
          <a:xfrm>
            <a:off x="609600" y="1285861"/>
            <a:ext cx="8121396" cy="3193182"/>
          </a:xfrm>
          <a:prstGeom prst="rect">
            <a:avLst/>
          </a:prstGeom>
        </p:spPr>
        <p:txBody>
          <a:bodyPr vert="horz" wrap="square" lIns="0" tIns="12700" rIns="0" bIns="0" rtlCol="0">
            <a:spAutoFit/>
          </a:bodyPr>
          <a:lstStyle/>
          <a:p>
            <a:pPr>
              <a:lnSpc>
                <a:spcPct val="100000"/>
              </a:lnSpc>
              <a:spcBef>
                <a:spcPts val="100"/>
              </a:spcBef>
            </a:pPr>
            <a:r>
              <a:rPr sz="2400" b="1" spc="-20">
                <a:latin typeface="Times New Roman" panose="02020603050405020304" pitchFamily="18" charset="0"/>
                <a:cs typeface="Times New Roman" panose="02020603050405020304" pitchFamily="18" charset="0"/>
              </a:rPr>
              <a:t>Non-Technical</a:t>
            </a:r>
            <a:r>
              <a:rPr sz="2400" b="1" spc="-10">
                <a:latin typeface="Times New Roman" panose="02020603050405020304" pitchFamily="18" charset="0"/>
                <a:cs typeface="Times New Roman" panose="02020603050405020304" pitchFamily="18" charset="0"/>
              </a:rPr>
              <a:t> Entrepreneur:</a:t>
            </a:r>
            <a:endParaRPr sz="2400">
              <a:latin typeface="Times New Roman" panose="02020603050405020304" pitchFamily="18" charset="0"/>
              <a:cs typeface="Times New Roman" panose="02020603050405020304" pitchFamily="18" charset="0"/>
            </a:endParaRPr>
          </a:p>
          <a:p>
            <a:pPr marL="514984" marR="5080" indent="-515620">
              <a:lnSpc>
                <a:spcPct val="150000"/>
              </a:lnSpc>
              <a:spcBef>
                <a:spcPts val="580"/>
              </a:spcBef>
              <a:buFont typeface="Arial"/>
              <a:buChar char="•"/>
              <a:tabLst>
                <a:tab pos="514984" algn="l"/>
                <a:tab pos="515620" algn="l"/>
              </a:tabLst>
            </a:pPr>
            <a:r>
              <a:rPr sz="2400">
                <a:latin typeface="Times New Roman" panose="02020603050405020304" pitchFamily="18" charset="0"/>
                <a:cs typeface="Times New Roman" panose="02020603050405020304" pitchFamily="18" charset="0"/>
              </a:rPr>
              <a:t>These </a:t>
            </a:r>
            <a:r>
              <a:rPr sz="2400" spc="-5">
                <a:latin typeface="Times New Roman" panose="02020603050405020304" pitchFamily="18" charset="0"/>
                <a:cs typeface="Times New Roman" panose="02020603050405020304" pitchFamily="18" charset="0"/>
              </a:rPr>
              <a:t>entrepreneurs are </a:t>
            </a:r>
            <a:r>
              <a:rPr sz="2400">
                <a:latin typeface="Times New Roman" panose="02020603050405020304" pitchFamily="18" charset="0"/>
                <a:cs typeface="Times New Roman" panose="02020603050405020304" pitchFamily="18" charset="0"/>
              </a:rPr>
              <a:t>not </a:t>
            </a:r>
            <a:r>
              <a:rPr sz="2400" spc="-5">
                <a:latin typeface="Times New Roman" panose="02020603050405020304" pitchFamily="18" charset="0"/>
                <a:cs typeface="Times New Roman" panose="02020603050405020304" pitchFamily="18" charset="0"/>
              </a:rPr>
              <a:t>concerned with the  </a:t>
            </a:r>
            <a:r>
              <a:rPr sz="2400">
                <a:latin typeface="Times New Roman" panose="02020603050405020304" pitchFamily="18" charset="0"/>
                <a:cs typeface="Times New Roman" panose="02020603050405020304" pitchFamily="18" charset="0"/>
              </a:rPr>
              <a:t>technical aspects of the</a:t>
            </a:r>
            <a:r>
              <a:rPr sz="2400" spc="-8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product.</a:t>
            </a:r>
          </a:p>
          <a:p>
            <a:pPr marL="514984" indent="-515620">
              <a:lnSpc>
                <a:spcPct val="100000"/>
              </a:lnSpc>
              <a:spcBef>
                <a:spcPts val="2014"/>
              </a:spcBef>
              <a:buFont typeface="Arial"/>
              <a:buChar char="•"/>
              <a:tabLst>
                <a:tab pos="514984" algn="l"/>
                <a:tab pos="515620" algn="l"/>
                <a:tab pos="1464310" algn="l"/>
                <a:tab pos="2750820" algn="l"/>
                <a:tab pos="4305935" algn="l"/>
                <a:tab pos="5930900" algn="l"/>
              </a:tabLst>
            </a:pPr>
            <a:r>
              <a:rPr sz="2400">
                <a:latin typeface="Times New Roman" panose="02020603050405020304" pitchFamily="18" charset="0"/>
                <a:cs typeface="Times New Roman" panose="02020603050405020304" pitchFamily="18" charset="0"/>
              </a:rPr>
              <a:t>They</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de</a:t>
            </a:r>
            <a:r>
              <a:rPr sz="2400" spc="-15">
                <a:latin typeface="Times New Roman" panose="02020603050405020304" pitchFamily="18" charset="0"/>
                <a:cs typeface="Times New Roman" panose="02020603050405020304" pitchFamily="18" charset="0"/>
              </a:rPr>
              <a:t>v</a:t>
            </a:r>
            <a:r>
              <a:rPr sz="2400" spc="-10">
                <a:latin typeface="Times New Roman" panose="02020603050405020304" pitchFamily="18" charset="0"/>
                <a:cs typeface="Times New Roman" panose="02020603050405020304" pitchFamily="18" charset="0"/>
              </a:rPr>
              <a:t>e</a:t>
            </a:r>
            <a:r>
              <a:rPr sz="2400">
                <a:latin typeface="Times New Roman" panose="02020603050405020304" pitchFamily="18" charset="0"/>
                <a:cs typeface="Times New Roman" panose="02020603050405020304" pitchFamily="18" charset="0"/>
              </a:rPr>
              <a:t>lop</a:t>
            </a:r>
            <a:r>
              <a:rPr lang="en-US" sz="2400">
                <a:latin typeface="Times New Roman" panose="02020603050405020304" pitchFamily="18" charset="0"/>
                <a:cs typeface="Times New Roman" panose="02020603050405020304" pitchFamily="18" charset="0"/>
              </a:rPr>
              <a:t> </a:t>
            </a:r>
            <a:r>
              <a:rPr sz="2400" spc="-25">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arke</a:t>
            </a:r>
            <a:r>
              <a:rPr sz="2400" spc="-15">
                <a:latin typeface="Times New Roman" panose="02020603050405020304" pitchFamily="18" charset="0"/>
                <a:cs typeface="Times New Roman" panose="02020603050405020304" pitchFamily="18" charset="0"/>
              </a:rPr>
              <a:t>t</a:t>
            </a:r>
            <a:r>
              <a:rPr sz="2400">
                <a:latin typeface="Times New Roman" panose="02020603050405020304" pitchFamily="18" charset="0"/>
                <a:cs typeface="Times New Roman" panose="02020603050405020304" pitchFamily="18" charset="0"/>
              </a:rPr>
              <a:t>ing</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tech</a:t>
            </a:r>
            <a:r>
              <a:rPr sz="2400" spc="-20">
                <a:latin typeface="Times New Roman" panose="02020603050405020304" pitchFamily="18" charset="0"/>
                <a:cs typeface="Times New Roman" panose="02020603050405020304" pitchFamily="18" charset="0"/>
              </a:rPr>
              <a:t>n</a:t>
            </a:r>
            <a:r>
              <a:rPr sz="2400" spc="-10">
                <a:latin typeface="Times New Roman" panose="02020603050405020304" pitchFamily="18" charset="0"/>
                <a:cs typeface="Times New Roman" panose="02020603050405020304" pitchFamily="18" charset="0"/>
              </a:rPr>
              <a:t>i</a:t>
            </a:r>
            <a:r>
              <a:rPr sz="2400">
                <a:latin typeface="Times New Roman" panose="02020603050405020304" pitchFamily="18" charset="0"/>
                <a:cs typeface="Times New Roman" panose="02020603050405020304" pitchFamily="18" charset="0"/>
              </a:rPr>
              <a:t>ques</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and</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distribution strategies to </a:t>
            </a:r>
            <a:r>
              <a:rPr sz="2400" spc="-5">
                <a:latin typeface="Times New Roman" panose="02020603050405020304" pitchFamily="18" charset="0"/>
                <a:cs typeface="Times New Roman" panose="02020603050405020304" pitchFamily="18" charset="0"/>
              </a:rPr>
              <a:t>promote </a:t>
            </a:r>
            <a:r>
              <a:rPr sz="2400">
                <a:latin typeface="Times New Roman" panose="02020603050405020304" pitchFamily="18" charset="0"/>
                <a:cs typeface="Times New Roman" panose="02020603050405020304" pitchFamily="18" charset="0"/>
              </a:rPr>
              <a:t>their</a:t>
            </a:r>
            <a:r>
              <a:rPr sz="2400" spc="-14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business.</a:t>
            </a:r>
          </a:p>
          <a:p>
            <a:pPr marL="514984" marR="5715" indent="-515620">
              <a:lnSpc>
                <a:spcPct val="150100"/>
              </a:lnSpc>
              <a:spcBef>
                <a:spcPts val="575"/>
              </a:spcBef>
              <a:buFont typeface="Arial"/>
              <a:buChar char="•"/>
              <a:tabLst>
                <a:tab pos="514984" algn="l"/>
                <a:tab pos="515620" algn="l"/>
                <a:tab pos="1356360" algn="l"/>
                <a:tab pos="2110740" algn="l"/>
                <a:tab pos="3744595" algn="l"/>
                <a:tab pos="4601845" algn="l"/>
                <a:tab pos="5136515" algn="l"/>
              </a:tabLst>
            </a:pPr>
            <a:r>
              <a:rPr sz="2400">
                <a:latin typeface="Times New Roman" panose="02020603050405020304" pitchFamily="18" charset="0"/>
                <a:cs typeface="Times New Roman" panose="02020603050405020304" pitchFamily="18" charset="0"/>
              </a:rPr>
              <a:t>Thus</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a:t>
            </a:r>
            <a:r>
              <a:rPr sz="2400" spc="-10">
                <a:latin typeface="Times New Roman" panose="02020603050405020304" pitchFamily="18" charset="0"/>
                <a:cs typeface="Times New Roman" panose="02020603050405020304" pitchFamily="18" charset="0"/>
              </a:rPr>
              <a:t>h</a:t>
            </a:r>
            <a:r>
              <a:rPr sz="2400">
                <a:latin typeface="Times New Roman" panose="02020603050405020304" pitchFamily="18" charset="0"/>
                <a:cs typeface="Times New Roman" panose="02020603050405020304" pitchFamily="18" charset="0"/>
              </a:rPr>
              <a:t>ey</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con</a:t>
            </a:r>
            <a:r>
              <a:rPr sz="2400" spc="-10">
                <a:latin typeface="Times New Roman" panose="02020603050405020304" pitchFamily="18" charset="0"/>
                <a:cs typeface="Times New Roman" panose="02020603050405020304" pitchFamily="18" charset="0"/>
              </a:rPr>
              <a:t>c</a:t>
            </a:r>
            <a:r>
              <a:rPr sz="2400">
                <a:latin typeface="Times New Roman" panose="02020603050405020304" pitchFamily="18" charset="0"/>
                <a:cs typeface="Times New Roman" panose="02020603050405020304" pitchFamily="18" charset="0"/>
              </a:rPr>
              <a:t>e</a:t>
            </a:r>
            <a:r>
              <a:rPr sz="2400" spc="-10">
                <a:latin typeface="Times New Roman" panose="02020603050405020304" pitchFamily="18" charset="0"/>
                <a:cs typeface="Times New Roman" panose="02020603050405020304" pitchFamily="18" charset="0"/>
              </a:rPr>
              <a:t>n</a:t>
            </a:r>
            <a:r>
              <a:rPr sz="2400">
                <a:latin typeface="Times New Roman" panose="02020603050405020304" pitchFamily="18" charset="0"/>
                <a:cs typeface="Times New Roman" panose="02020603050405020304" pitchFamily="18" charset="0"/>
              </a:rPr>
              <a:t>t</a:t>
            </a:r>
            <a:r>
              <a:rPr sz="2400" spc="5">
                <a:latin typeface="Times New Roman" panose="02020603050405020304" pitchFamily="18" charset="0"/>
                <a:cs typeface="Times New Roman" panose="02020603050405020304" pitchFamily="18" charset="0"/>
              </a:rPr>
              <a:t>r</a:t>
            </a:r>
            <a:r>
              <a:rPr sz="2400" spc="-10">
                <a:latin typeface="Times New Roman" panose="02020603050405020304" pitchFamily="18" charset="0"/>
                <a:cs typeface="Times New Roman" panose="02020603050405020304" pitchFamily="18" charset="0"/>
              </a:rPr>
              <a:t>a</a:t>
            </a:r>
            <a:r>
              <a:rPr sz="2400">
                <a:latin typeface="Times New Roman" panose="02020603050405020304" pitchFamily="18" charset="0"/>
                <a:cs typeface="Times New Roman" panose="02020603050405020304" pitchFamily="18" charset="0"/>
              </a:rPr>
              <a:t>te</a:t>
            </a:r>
            <a:r>
              <a:rPr lang="en-US" sz="2400">
                <a:latin typeface="Times New Roman" panose="02020603050405020304" pitchFamily="18" charset="0"/>
                <a:cs typeface="Times New Roman" panose="02020603050405020304" pitchFamily="18" charset="0"/>
              </a:rPr>
              <a:t> </a:t>
            </a:r>
            <a:r>
              <a:rPr sz="2400" spc="-20">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o</a:t>
            </a:r>
            <a:r>
              <a:rPr sz="2400" spc="5">
                <a:latin typeface="Times New Roman" panose="02020603050405020304" pitchFamily="18" charset="0"/>
                <a:cs typeface="Times New Roman" panose="02020603050405020304" pitchFamily="18" charset="0"/>
              </a:rPr>
              <a:t>r</a:t>
            </a:r>
            <a:r>
              <a:rPr sz="2400">
                <a:latin typeface="Times New Roman" panose="02020603050405020304" pitchFamily="18" charset="0"/>
                <a:cs typeface="Times New Roman" panose="02020603050405020304" pitchFamily="18" charset="0"/>
              </a:rPr>
              <a:t>e</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on</a:t>
            </a:r>
            <a:r>
              <a:rPr lang="en-US" sz="2400">
                <a:latin typeface="Times New Roman" panose="02020603050405020304" pitchFamily="18" charset="0"/>
                <a:cs typeface="Times New Roman" panose="02020603050405020304" pitchFamily="18" charset="0"/>
              </a:rPr>
              <a:t> </a:t>
            </a:r>
            <a:r>
              <a:rPr sz="2400" spc="-20">
                <a:latin typeface="Times New Roman" panose="02020603050405020304" pitchFamily="18" charset="0"/>
                <a:cs typeface="Times New Roman" panose="02020603050405020304" pitchFamily="18" charset="0"/>
              </a:rPr>
              <a:t>m</a:t>
            </a:r>
            <a:r>
              <a:rPr sz="2400">
                <a:latin typeface="Times New Roman" panose="02020603050405020304" pitchFamily="18" charset="0"/>
                <a:cs typeface="Times New Roman" panose="02020603050405020304" pitchFamily="18" charset="0"/>
              </a:rPr>
              <a:t>ar</a:t>
            </a:r>
            <a:r>
              <a:rPr sz="2400" spc="5">
                <a:latin typeface="Times New Roman" panose="02020603050405020304" pitchFamily="18" charset="0"/>
                <a:cs typeface="Times New Roman" panose="02020603050405020304" pitchFamily="18" charset="0"/>
              </a:rPr>
              <a:t>k</a:t>
            </a:r>
            <a:r>
              <a:rPr sz="2400">
                <a:latin typeface="Times New Roman" panose="02020603050405020304" pitchFamily="18" charset="0"/>
                <a:cs typeface="Times New Roman" panose="02020603050405020304" pitchFamily="18" charset="0"/>
              </a:rPr>
              <a:t>eting  aspects.</a:t>
            </a:r>
          </a:p>
        </p:txBody>
      </p:sp>
      <p:sp>
        <p:nvSpPr>
          <p:cNvPr id="15" name="Date Placeholder 3"/>
          <p:cNvSpPr>
            <a:spLocks noGrp="1"/>
          </p:cNvSpPr>
          <p:nvPr>
            <p:ph type="dt" sz="half" idx="10"/>
          </p:nvPr>
        </p:nvSpPr>
        <p:spPr>
          <a:xfrm>
            <a:off x="457200" y="6356352"/>
            <a:ext cx="2133600" cy="365125"/>
          </a:xfrm>
        </p:spPr>
        <p:txBody>
          <a:bodyPr/>
          <a:lstStyle/>
          <a:p>
            <a:fld id="{120A54F5-66CC-4C04-A0FD-FD8FEEB6F46D}" type="datetime1">
              <a:rPr lang="en-US" smtClean="0"/>
              <a:pPr/>
              <a:t>12-Aug-25</a:t>
            </a:fld>
            <a:endParaRPr lang="en-US"/>
          </a:p>
        </p:txBody>
      </p:sp>
      <p:sp>
        <p:nvSpPr>
          <p:cNvPr id="17" name="Slide Number Placeholder 16"/>
          <p:cNvSpPr>
            <a:spLocks noGrp="1"/>
          </p:cNvSpPr>
          <p:nvPr>
            <p:ph type="sldNum" sz="quarter" idx="12"/>
          </p:nvPr>
        </p:nvSpPr>
        <p:spPr/>
        <p:txBody>
          <a:bodyPr/>
          <a:lstStyle/>
          <a:p>
            <a:fld id="{B6F15528-21DE-4FAA-801E-634DDDAF4B2B}" type="slidenum">
              <a:rPr lang="en-US" smtClean="0"/>
              <a:pPr/>
              <a:t>61</a:t>
            </a:fld>
            <a:endParaRPr lang="en-US"/>
          </a:p>
        </p:txBody>
      </p:sp>
      <p:sp>
        <p:nvSpPr>
          <p:cNvPr id="2" name="Footer Placeholder 12">
            <a:extLst>
              <a:ext uri="{FF2B5EF4-FFF2-40B4-BE49-F238E27FC236}">
                <a16:creationId xmlns:a16="http://schemas.microsoft.com/office/drawing/2014/main" id="{01A85099-DA56-4759-8174-3618C20915EB}"/>
              </a:ext>
            </a:extLst>
          </p:cNvPr>
          <p:cNvSpPr txBox="1">
            <a:spLocks/>
          </p:cNvSpPr>
          <p:nvPr/>
        </p:nvSpPr>
        <p:spPr>
          <a:xfrm>
            <a:off x="2590800" y="6332224"/>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Title 1"/>
          <p:cNvSpPr txBox="1">
            <a:spLocks/>
          </p:cNvSpPr>
          <p:nvPr/>
        </p:nvSpPr>
        <p:spPr>
          <a:xfrm>
            <a:off x="1583160" y="10304"/>
            <a:ext cx="7560840" cy="96972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spc="-5">
                <a:solidFill>
                  <a:schemeClr val="tx1"/>
                </a:solidFill>
                <a:latin typeface="Times New Roman" panose="02020603050405020304" pitchFamily="18" charset="0"/>
                <a:cs typeface="Times New Roman" panose="02020603050405020304" pitchFamily="18" charset="0"/>
              </a:rPr>
              <a:t>ON THE BASIS OF USE OF</a:t>
            </a:r>
            <a:r>
              <a:rPr lang="en-US" sz="3600" b="1" spc="-290">
                <a:solidFill>
                  <a:schemeClr val="tx1"/>
                </a:solidFill>
                <a:latin typeface="Times New Roman" panose="02020603050405020304" pitchFamily="18" charset="0"/>
                <a:cs typeface="Times New Roman" panose="02020603050405020304" pitchFamily="18" charset="0"/>
              </a:rPr>
              <a:t> </a:t>
            </a:r>
            <a:r>
              <a:rPr lang="en-US" sz="3600" b="1" spc="-10">
                <a:solidFill>
                  <a:schemeClr val="tx1"/>
                </a:solidFill>
                <a:latin typeface="Times New Roman" panose="02020603050405020304" pitchFamily="18" charset="0"/>
                <a:cs typeface="Times New Roman" panose="02020603050405020304" pitchFamily="18" charset="0"/>
              </a:rPr>
              <a:t>TECHNOLOGY</a:t>
            </a:r>
            <a:endParaRPr lang="en-IN" sz="3600" b="1">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40477139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000100" y="245067"/>
            <a:ext cx="7543800" cy="401392"/>
          </a:xfrm>
          <a:prstGeom prst="rect">
            <a:avLst/>
          </a:prstGeom>
        </p:spPr>
        <p:txBody>
          <a:bodyPr vert="horz" wrap="square" lIns="0" tIns="92710" rIns="0" bIns="0" rtlCol="0">
            <a:spAutoFit/>
          </a:bodyPr>
          <a:lstStyle/>
          <a:p>
            <a:pPr marL="237490">
              <a:lnSpc>
                <a:spcPct val="100000"/>
              </a:lnSpc>
              <a:spcBef>
                <a:spcPts val="730"/>
              </a:spcBef>
            </a:pPr>
            <a:r>
              <a:rPr lang="en-US" sz="2000" spc="-5">
                <a:solidFill>
                  <a:schemeClr val="bg1"/>
                </a:solidFill>
                <a:latin typeface="+mn-lt"/>
                <a:cs typeface="Times New Roman"/>
              </a:rPr>
              <a:t>Professional Entrepreneur</a:t>
            </a:r>
            <a:endParaRPr sz="2000">
              <a:solidFill>
                <a:schemeClr val="bg1"/>
              </a:solidFill>
              <a:latin typeface="+mn-lt"/>
              <a:cs typeface="Times New Roman"/>
            </a:endParaRPr>
          </a:p>
        </p:txBody>
      </p:sp>
      <p:sp>
        <p:nvSpPr>
          <p:cNvPr id="12" name="object 12"/>
          <p:cNvSpPr txBox="1"/>
          <p:nvPr/>
        </p:nvSpPr>
        <p:spPr>
          <a:xfrm>
            <a:off x="251520" y="1016670"/>
            <a:ext cx="8712968" cy="2198038"/>
          </a:xfrm>
          <a:prstGeom prst="rect">
            <a:avLst/>
          </a:prstGeom>
        </p:spPr>
        <p:txBody>
          <a:bodyPr vert="horz" wrap="square" lIns="0" tIns="12700" rIns="0" bIns="0" rtlCol="0">
            <a:spAutoFit/>
          </a:bodyPr>
          <a:lstStyle/>
          <a:p>
            <a:pPr algn="just">
              <a:lnSpc>
                <a:spcPct val="100000"/>
              </a:lnSpc>
              <a:spcBef>
                <a:spcPts val="100"/>
              </a:spcBef>
            </a:pPr>
            <a:r>
              <a:rPr sz="2400" b="1" spc="-5">
                <a:cs typeface="Times New Roman"/>
              </a:rPr>
              <a:t>Professional</a:t>
            </a:r>
            <a:r>
              <a:rPr sz="2400" b="1" spc="-20">
                <a:cs typeface="Times New Roman"/>
              </a:rPr>
              <a:t> </a:t>
            </a:r>
            <a:r>
              <a:rPr sz="2400" b="1" spc="-10">
                <a:cs typeface="Times New Roman"/>
              </a:rPr>
              <a:t>Entrepreneur:</a:t>
            </a:r>
            <a:endParaRPr sz="2400">
              <a:cs typeface="Times New Roman"/>
            </a:endParaRPr>
          </a:p>
          <a:p>
            <a:pPr marL="514984" marR="5080" indent="-515620" algn="just">
              <a:lnSpc>
                <a:spcPct val="150000"/>
              </a:lnSpc>
              <a:spcBef>
                <a:spcPts val="580"/>
              </a:spcBef>
              <a:buFont typeface="Arial"/>
              <a:buChar char="•"/>
              <a:tabLst>
                <a:tab pos="515620" algn="l"/>
              </a:tabLst>
            </a:pPr>
            <a:r>
              <a:rPr sz="2400" spc="-5">
                <a:cs typeface="Times New Roman"/>
              </a:rPr>
              <a:t>He </a:t>
            </a:r>
            <a:r>
              <a:rPr sz="2400">
                <a:cs typeface="Times New Roman"/>
              </a:rPr>
              <a:t>is an </a:t>
            </a:r>
            <a:r>
              <a:rPr sz="2400" spc="-5">
                <a:cs typeface="Times New Roman"/>
              </a:rPr>
              <a:t>entrepreneur </a:t>
            </a:r>
            <a:r>
              <a:rPr sz="2400">
                <a:cs typeface="Times New Roman"/>
              </a:rPr>
              <a:t>who starts a </a:t>
            </a:r>
            <a:r>
              <a:rPr sz="2400" spc="-5">
                <a:cs typeface="Times New Roman"/>
              </a:rPr>
              <a:t>business unit  </a:t>
            </a:r>
            <a:r>
              <a:rPr sz="2400">
                <a:cs typeface="Times New Roman"/>
              </a:rPr>
              <a:t>but does not </a:t>
            </a:r>
            <a:r>
              <a:rPr sz="2400" spc="-5">
                <a:cs typeface="Times New Roman"/>
              </a:rPr>
              <a:t>carry </a:t>
            </a:r>
            <a:r>
              <a:rPr sz="2400">
                <a:cs typeface="Times New Roman"/>
              </a:rPr>
              <a:t>on the </a:t>
            </a:r>
            <a:r>
              <a:rPr sz="2400" spc="-5">
                <a:cs typeface="Times New Roman"/>
              </a:rPr>
              <a:t>business </a:t>
            </a:r>
            <a:r>
              <a:rPr sz="2400">
                <a:cs typeface="Times New Roman"/>
              </a:rPr>
              <a:t>for long  period.</a:t>
            </a:r>
          </a:p>
          <a:p>
            <a:pPr marL="514984" marR="5715" indent="-515620" algn="just">
              <a:lnSpc>
                <a:spcPct val="150000"/>
              </a:lnSpc>
              <a:spcBef>
                <a:spcPts val="575"/>
              </a:spcBef>
              <a:buFont typeface="Arial"/>
              <a:buChar char="•"/>
              <a:tabLst>
                <a:tab pos="515620" algn="l"/>
              </a:tabLst>
            </a:pPr>
            <a:r>
              <a:rPr sz="2400" spc="-5">
                <a:cs typeface="Times New Roman"/>
              </a:rPr>
              <a:t>He </a:t>
            </a:r>
            <a:r>
              <a:rPr sz="2400">
                <a:cs typeface="Times New Roman"/>
              </a:rPr>
              <a:t>sells </a:t>
            </a:r>
            <a:r>
              <a:rPr sz="2400" spc="-5">
                <a:cs typeface="Times New Roman"/>
              </a:rPr>
              <a:t>out the running business </a:t>
            </a:r>
            <a:r>
              <a:rPr sz="2400">
                <a:cs typeface="Times New Roman"/>
              </a:rPr>
              <a:t>and starts  another</a:t>
            </a:r>
            <a:r>
              <a:rPr sz="2400" spc="-25">
                <a:cs typeface="Times New Roman"/>
              </a:rPr>
              <a:t> </a:t>
            </a:r>
            <a:r>
              <a:rPr sz="2400">
                <a:cs typeface="Times New Roman"/>
              </a:rPr>
              <a:t>venture.</a:t>
            </a:r>
          </a:p>
        </p:txBody>
      </p:sp>
      <p:sp>
        <p:nvSpPr>
          <p:cNvPr id="15" name="Date Placeholder 3"/>
          <p:cNvSpPr>
            <a:spLocks noGrp="1"/>
          </p:cNvSpPr>
          <p:nvPr>
            <p:ph type="dt" sz="half" idx="10"/>
          </p:nvPr>
        </p:nvSpPr>
        <p:spPr>
          <a:xfrm>
            <a:off x="457200" y="6356352"/>
            <a:ext cx="2133600" cy="365125"/>
          </a:xfrm>
        </p:spPr>
        <p:txBody>
          <a:bodyPr/>
          <a:lstStyle/>
          <a:p>
            <a:fld id="{A9C4E75F-2FD5-4B31-98F1-4550EF29D983}" type="datetime1">
              <a:rPr lang="en-US" smtClean="0"/>
              <a:pPr/>
              <a:t>12-Aug-25</a:t>
            </a:fld>
            <a:endParaRPr lang="en-US"/>
          </a:p>
        </p:txBody>
      </p:sp>
      <p:sp>
        <p:nvSpPr>
          <p:cNvPr id="17" name="Slide Number Placeholder 16"/>
          <p:cNvSpPr>
            <a:spLocks noGrp="1"/>
          </p:cNvSpPr>
          <p:nvPr>
            <p:ph type="sldNum" sz="quarter" idx="12"/>
          </p:nvPr>
        </p:nvSpPr>
        <p:spPr/>
        <p:txBody>
          <a:bodyPr/>
          <a:lstStyle/>
          <a:p>
            <a:fld id="{B6F15528-21DE-4FAA-801E-634DDDAF4B2B}" type="slidenum">
              <a:rPr lang="en-US" smtClean="0"/>
              <a:pPr/>
              <a:t>62</a:t>
            </a:fld>
            <a:endParaRPr lang="en-US"/>
          </a:p>
        </p:txBody>
      </p:sp>
      <p:sp>
        <p:nvSpPr>
          <p:cNvPr id="2" name="Footer Placeholder 12">
            <a:extLst>
              <a:ext uri="{FF2B5EF4-FFF2-40B4-BE49-F238E27FC236}">
                <a16:creationId xmlns:a16="http://schemas.microsoft.com/office/drawing/2014/main" id="{431CDE50-1C2B-F789-9C4B-92612CE74E6E}"/>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Title 1"/>
          <p:cNvSpPr txBox="1">
            <a:spLocks/>
          </p:cNvSpPr>
          <p:nvPr/>
        </p:nvSpPr>
        <p:spPr>
          <a:xfrm>
            <a:off x="1691680" y="12631"/>
            <a:ext cx="7452320" cy="89608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spc="-5">
                <a:solidFill>
                  <a:schemeClr val="tx1"/>
                </a:solidFill>
                <a:latin typeface="Times New Roman" panose="02020603050405020304" pitchFamily="18" charset="0"/>
                <a:cs typeface="Times New Roman" panose="02020603050405020304" pitchFamily="18" charset="0"/>
              </a:rPr>
              <a:t>          Professional Entrepreneur</a:t>
            </a:r>
            <a:endParaRPr lang="en-IN" sz="3600" b="1">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9355753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28794" y="381964"/>
            <a:ext cx="6292850" cy="321242"/>
          </a:xfrm>
          <a:prstGeom prst="rect">
            <a:avLst/>
          </a:prstGeom>
        </p:spPr>
        <p:txBody>
          <a:bodyPr vert="horz" wrap="square" lIns="0" tIns="13335" rIns="0" bIns="0" rtlCol="0">
            <a:spAutoFit/>
          </a:bodyPr>
          <a:lstStyle/>
          <a:p>
            <a:pPr marL="12700">
              <a:lnSpc>
                <a:spcPct val="100000"/>
              </a:lnSpc>
              <a:spcBef>
                <a:spcPts val="105"/>
              </a:spcBef>
            </a:pPr>
            <a:r>
              <a:rPr sz="2000">
                <a:solidFill>
                  <a:schemeClr val="bg1"/>
                </a:solidFill>
                <a:latin typeface="+mn-lt"/>
                <a:cs typeface="Times New Roman"/>
              </a:rPr>
              <a:t>ON THE </a:t>
            </a:r>
            <a:r>
              <a:rPr sz="2000" spc="-5">
                <a:solidFill>
                  <a:schemeClr val="bg1"/>
                </a:solidFill>
                <a:latin typeface="+mn-lt"/>
                <a:cs typeface="Times New Roman"/>
              </a:rPr>
              <a:t>BASIS </a:t>
            </a:r>
            <a:r>
              <a:rPr sz="2000">
                <a:solidFill>
                  <a:schemeClr val="bg1"/>
                </a:solidFill>
                <a:latin typeface="+mn-lt"/>
                <a:cs typeface="Times New Roman"/>
              </a:rPr>
              <a:t>OF</a:t>
            </a:r>
            <a:r>
              <a:rPr sz="2000" spc="-235">
                <a:solidFill>
                  <a:schemeClr val="bg1"/>
                </a:solidFill>
                <a:latin typeface="+mn-lt"/>
                <a:cs typeface="Times New Roman"/>
              </a:rPr>
              <a:t> </a:t>
            </a:r>
            <a:r>
              <a:rPr sz="2000" spc="-65">
                <a:solidFill>
                  <a:schemeClr val="bg1"/>
                </a:solidFill>
                <a:latin typeface="+mn-lt"/>
                <a:cs typeface="Times New Roman"/>
              </a:rPr>
              <a:t>MOTIVATION</a:t>
            </a:r>
            <a:endParaRPr sz="2000">
              <a:solidFill>
                <a:schemeClr val="bg1"/>
              </a:solidFill>
              <a:latin typeface="+mn-lt"/>
              <a:cs typeface="Times New Roman"/>
            </a:endParaRPr>
          </a:p>
        </p:txBody>
      </p:sp>
      <p:sp>
        <p:nvSpPr>
          <p:cNvPr id="4" name="object 4"/>
          <p:cNvSpPr txBox="1"/>
          <p:nvPr/>
        </p:nvSpPr>
        <p:spPr>
          <a:xfrm>
            <a:off x="775017" y="1600201"/>
            <a:ext cx="7748614" cy="3811941"/>
          </a:xfrm>
          <a:prstGeom prst="rect">
            <a:avLst/>
          </a:prstGeom>
        </p:spPr>
        <p:txBody>
          <a:bodyPr vert="horz" wrap="square" lIns="0" tIns="13335" rIns="0" bIns="0" rtlCol="0">
            <a:spAutoFit/>
          </a:bodyPr>
          <a:lstStyle/>
          <a:p>
            <a:pPr marL="12700">
              <a:lnSpc>
                <a:spcPct val="100000"/>
              </a:lnSpc>
              <a:spcBef>
                <a:spcPts val="105"/>
              </a:spcBef>
            </a:pPr>
            <a:r>
              <a:rPr sz="2400" b="1" spc="-10">
                <a:latin typeface="Times New Roman" panose="02020603050405020304" pitchFamily="18" charset="0"/>
                <a:cs typeface="Times New Roman" panose="02020603050405020304" pitchFamily="18" charset="0"/>
              </a:rPr>
              <a:t>Pure</a:t>
            </a:r>
            <a:r>
              <a:rPr sz="2400" b="1" spc="-20">
                <a:latin typeface="Times New Roman" panose="02020603050405020304" pitchFamily="18" charset="0"/>
                <a:cs typeface="Times New Roman" panose="02020603050405020304" pitchFamily="18" charset="0"/>
              </a:rPr>
              <a:t> </a:t>
            </a:r>
            <a:r>
              <a:rPr sz="2400" b="1" spc="-5">
                <a:latin typeface="Times New Roman" panose="02020603050405020304" pitchFamily="18" charset="0"/>
                <a:cs typeface="Times New Roman" panose="02020603050405020304" pitchFamily="18" charset="0"/>
              </a:rPr>
              <a:t>Entrepreneur:</a:t>
            </a:r>
            <a:endParaRPr sz="2400">
              <a:latin typeface="Times New Roman" panose="02020603050405020304" pitchFamily="18" charset="0"/>
              <a:cs typeface="Times New Roman" panose="02020603050405020304" pitchFamily="18" charset="0"/>
            </a:endParaRPr>
          </a:p>
          <a:p>
            <a:pPr marL="355600" marR="5080" indent="-343535">
              <a:lnSpc>
                <a:spcPct val="140000"/>
              </a:lnSpc>
              <a:spcBef>
                <a:spcPts val="625"/>
              </a:spcBef>
              <a:buFont typeface="Arial"/>
              <a:buChar char="•"/>
              <a:tabLst>
                <a:tab pos="355600" algn="l"/>
                <a:tab pos="356235" algn="l"/>
              </a:tabLst>
            </a:pPr>
            <a:r>
              <a:rPr sz="2400">
                <a:latin typeface="Times New Roman" panose="02020603050405020304" pitchFamily="18" charset="0"/>
                <a:cs typeface="Times New Roman" panose="02020603050405020304" pitchFamily="18" charset="0"/>
              </a:rPr>
              <a:t>They </a:t>
            </a:r>
            <a:r>
              <a:rPr sz="2400" spc="-5">
                <a:latin typeface="Times New Roman" panose="02020603050405020304" pitchFamily="18" charset="0"/>
                <a:cs typeface="Times New Roman" panose="02020603050405020304" pitchFamily="18" charset="0"/>
              </a:rPr>
              <a:t>believe </a:t>
            </a:r>
            <a:r>
              <a:rPr sz="2400">
                <a:latin typeface="Times New Roman" panose="02020603050405020304" pitchFamily="18" charset="0"/>
                <a:cs typeface="Times New Roman" panose="02020603050405020304" pitchFamily="18" charset="0"/>
              </a:rPr>
              <a:t>in their own performance</a:t>
            </a:r>
            <a:r>
              <a:rPr sz="2400" spc="-12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while  undertaking </a:t>
            </a:r>
            <a:r>
              <a:rPr sz="2400" spc="-5">
                <a:latin typeface="Times New Roman" panose="02020603050405020304" pitchFamily="18" charset="0"/>
                <a:cs typeface="Times New Roman" panose="02020603050405020304" pitchFamily="18" charset="0"/>
              </a:rPr>
              <a:t>business</a:t>
            </a:r>
            <a:r>
              <a:rPr sz="2400" spc="-5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activities.</a:t>
            </a:r>
            <a:endParaRPr sz="2400">
              <a:latin typeface="Times New Roman" panose="02020603050405020304" pitchFamily="18" charset="0"/>
              <a:cs typeface="Times New Roman" panose="02020603050405020304" pitchFamily="18" charset="0"/>
            </a:endParaRPr>
          </a:p>
          <a:p>
            <a:pPr marL="355600" marR="342900" indent="-343535">
              <a:lnSpc>
                <a:spcPct val="140000"/>
              </a:lnSpc>
              <a:spcBef>
                <a:spcPts val="630"/>
              </a:spcBef>
              <a:buFont typeface="Arial"/>
              <a:buChar char="•"/>
              <a:tabLst>
                <a:tab pos="355600" algn="l"/>
                <a:tab pos="356235" algn="l"/>
              </a:tabLst>
            </a:pPr>
            <a:r>
              <a:rPr sz="2400">
                <a:latin typeface="Times New Roman" panose="02020603050405020304" pitchFamily="18" charset="0"/>
                <a:cs typeface="Times New Roman" panose="02020603050405020304" pitchFamily="18" charset="0"/>
              </a:rPr>
              <a:t>They undertake business ventures for</a:t>
            </a:r>
            <a:r>
              <a:rPr sz="2400" spc="-14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their  </a:t>
            </a:r>
            <a:r>
              <a:rPr sz="2400">
                <a:latin typeface="Times New Roman" panose="02020603050405020304" pitchFamily="18" charset="0"/>
                <a:cs typeface="Times New Roman" panose="02020603050405020304" pitchFamily="18" charset="0"/>
              </a:rPr>
              <a:t>personal </a:t>
            </a:r>
            <a:r>
              <a:rPr sz="2400" spc="-5">
                <a:latin typeface="Times New Roman" panose="02020603050405020304" pitchFamily="18" charset="0"/>
                <a:cs typeface="Times New Roman" panose="02020603050405020304" pitchFamily="18" charset="0"/>
              </a:rPr>
              <a:t>satisfaction, status </a:t>
            </a:r>
            <a:r>
              <a:rPr sz="2400">
                <a:latin typeface="Times New Roman" panose="02020603050405020304" pitchFamily="18" charset="0"/>
                <a:cs typeface="Times New Roman" panose="02020603050405020304" pitchFamily="18" charset="0"/>
              </a:rPr>
              <a:t>and</a:t>
            </a:r>
            <a:r>
              <a:rPr sz="2400" spc="-3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ego.</a:t>
            </a:r>
          </a:p>
          <a:p>
            <a:pPr marL="355600" indent="-343535">
              <a:lnSpc>
                <a:spcPct val="100000"/>
              </a:lnSpc>
              <a:spcBef>
                <a:spcPts val="1875"/>
              </a:spcBef>
              <a:buFont typeface="Arial"/>
              <a:buChar char="•"/>
              <a:tabLst>
                <a:tab pos="355600" algn="l"/>
                <a:tab pos="356235" algn="l"/>
              </a:tabLst>
            </a:pPr>
            <a:r>
              <a:rPr sz="2400">
                <a:latin typeface="Times New Roman" panose="02020603050405020304" pitchFamily="18" charset="0"/>
                <a:cs typeface="Times New Roman" panose="02020603050405020304" pitchFamily="18" charset="0"/>
              </a:rPr>
              <a:t>They are guided by the </a:t>
            </a:r>
            <a:r>
              <a:rPr sz="2400" spc="-5">
                <a:latin typeface="Times New Roman" panose="02020603050405020304" pitchFamily="18" charset="0"/>
                <a:cs typeface="Times New Roman" panose="02020603050405020304" pitchFamily="18" charset="0"/>
              </a:rPr>
              <a:t>motive </a:t>
            </a:r>
            <a:r>
              <a:rPr sz="2400">
                <a:latin typeface="Times New Roman" panose="02020603050405020304" pitchFamily="18" charset="0"/>
                <a:cs typeface="Times New Roman" panose="02020603050405020304" pitchFamily="18" charset="0"/>
              </a:rPr>
              <a:t>of</a:t>
            </a:r>
            <a:r>
              <a:rPr sz="2400" spc="-8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profit.</a:t>
            </a:r>
          </a:p>
          <a:p>
            <a:pPr marL="355600" marR="72390" indent="-343535">
              <a:lnSpc>
                <a:spcPct val="140000"/>
              </a:lnSpc>
              <a:spcBef>
                <a:spcPts val="620"/>
              </a:spcBef>
              <a:buFont typeface="Arial"/>
              <a:buChar char="•"/>
              <a:tabLst>
                <a:tab pos="355600" algn="l"/>
                <a:tab pos="356235" algn="l"/>
              </a:tabLst>
            </a:pPr>
            <a:r>
              <a:rPr sz="2400">
                <a:latin typeface="Times New Roman" panose="02020603050405020304" pitchFamily="18" charset="0"/>
                <a:cs typeface="Times New Roman" panose="02020603050405020304" pitchFamily="18" charset="0"/>
              </a:rPr>
              <a:t>For </a:t>
            </a:r>
            <a:r>
              <a:rPr sz="2400" spc="-5">
                <a:latin typeface="Times New Roman" panose="02020603050405020304" pitchFamily="18" charset="0"/>
                <a:cs typeface="Times New Roman" panose="02020603050405020304" pitchFamily="18" charset="0"/>
              </a:rPr>
              <a:t>example, </a:t>
            </a:r>
            <a:r>
              <a:rPr sz="2400">
                <a:latin typeface="Times New Roman" panose="02020603050405020304" pitchFamily="18" charset="0"/>
                <a:cs typeface="Times New Roman" panose="02020603050405020304" pitchFamily="18" charset="0"/>
              </a:rPr>
              <a:t>Dhirubhai Ambani of</a:t>
            </a:r>
            <a:r>
              <a:rPr sz="2400" spc="-22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Reliance  Group.</a:t>
            </a:r>
          </a:p>
        </p:txBody>
      </p:sp>
      <p:sp>
        <p:nvSpPr>
          <p:cNvPr id="7" name="Date Placeholder 3"/>
          <p:cNvSpPr>
            <a:spLocks noGrp="1"/>
          </p:cNvSpPr>
          <p:nvPr>
            <p:ph type="dt" sz="half" idx="10"/>
          </p:nvPr>
        </p:nvSpPr>
        <p:spPr>
          <a:xfrm>
            <a:off x="457200" y="6356352"/>
            <a:ext cx="2133600" cy="365125"/>
          </a:xfrm>
        </p:spPr>
        <p:txBody>
          <a:bodyPr/>
          <a:lstStyle/>
          <a:p>
            <a:fld id="{C8BACCF5-F7CE-4DF0-91DC-63CC3B672AE3}" type="datetime1">
              <a:rPr lang="en-US" smtClean="0"/>
              <a:pPr/>
              <a:t>12-Aug-25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63</a:t>
            </a:fld>
            <a:endParaRPr lang="en-US"/>
          </a:p>
        </p:txBody>
      </p:sp>
      <p:sp>
        <p:nvSpPr>
          <p:cNvPr id="2" name="Footer Placeholder 12">
            <a:extLst>
              <a:ext uri="{FF2B5EF4-FFF2-40B4-BE49-F238E27FC236}">
                <a16:creationId xmlns:a16="http://schemas.microsoft.com/office/drawing/2014/main" id="{E0DD24BC-1012-91C4-53DC-8A92099D4352}"/>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Title 1"/>
          <p:cNvSpPr txBox="1">
            <a:spLocks/>
          </p:cNvSpPr>
          <p:nvPr/>
        </p:nvSpPr>
        <p:spPr>
          <a:xfrm>
            <a:off x="1675592" y="0"/>
            <a:ext cx="7452320" cy="89608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a:solidFill>
                  <a:schemeClr val="tx1"/>
                </a:solidFill>
                <a:latin typeface="Times New Roman" panose="02020603050405020304" pitchFamily="18" charset="0"/>
                <a:cs typeface="Times New Roman" panose="02020603050405020304" pitchFamily="18" charset="0"/>
              </a:rPr>
              <a:t>ON THE </a:t>
            </a:r>
            <a:r>
              <a:rPr lang="en-US" sz="3600" b="1" spc="-5">
                <a:solidFill>
                  <a:schemeClr val="tx1"/>
                </a:solidFill>
                <a:latin typeface="Times New Roman" panose="02020603050405020304" pitchFamily="18" charset="0"/>
                <a:cs typeface="Times New Roman" panose="02020603050405020304" pitchFamily="18" charset="0"/>
              </a:rPr>
              <a:t>BASIS </a:t>
            </a:r>
            <a:r>
              <a:rPr lang="en-US" sz="3600" b="1">
                <a:solidFill>
                  <a:schemeClr val="tx1"/>
                </a:solidFill>
                <a:latin typeface="Times New Roman" panose="02020603050405020304" pitchFamily="18" charset="0"/>
                <a:cs typeface="Times New Roman" panose="02020603050405020304" pitchFamily="18" charset="0"/>
              </a:rPr>
              <a:t>OF</a:t>
            </a:r>
            <a:r>
              <a:rPr lang="en-US" sz="3600" b="1" spc="-235">
                <a:solidFill>
                  <a:schemeClr val="tx1"/>
                </a:solidFill>
                <a:latin typeface="Times New Roman" panose="02020603050405020304" pitchFamily="18" charset="0"/>
                <a:cs typeface="Times New Roman" panose="02020603050405020304" pitchFamily="18" charset="0"/>
              </a:rPr>
              <a:t> </a:t>
            </a:r>
            <a:r>
              <a:rPr lang="en-US" sz="3600" b="1" spc="-65">
                <a:solidFill>
                  <a:schemeClr val="tx1"/>
                </a:solidFill>
                <a:latin typeface="Times New Roman" panose="02020603050405020304" pitchFamily="18" charset="0"/>
                <a:cs typeface="Times New Roman" panose="02020603050405020304" pitchFamily="18" charset="0"/>
              </a:rPr>
              <a:t>MOTIVATION</a:t>
            </a:r>
            <a:endParaRPr lang="en-IN" sz="3600" b="1">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5786434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785919" y="453402"/>
            <a:ext cx="6292850" cy="321242"/>
          </a:xfrm>
          <a:prstGeom prst="rect">
            <a:avLst/>
          </a:prstGeom>
        </p:spPr>
        <p:txBody>
          <a:bodyPr vert="horz" wrap="square" lIns="0" tIns="13335" rIns="0" bIns="0" rtlCol="0">
            <a:spAutoFit/>
          </a:bodyPr>
          <a:lstStyle/>
          <a:p>
            <a:pPr marL="12700">
              <a:lnSpc>
                <a:spcPct val="100000"/>
              </a:lnSpc>
              <a:spcBef>
                <a:spcPts val="105"/>
              </a:spcBef>
            </a:pPr>
            <a:r>
              <a:rPr sz="2000">
                <a:solidFill>
                  <a:schemeClr val="bg1"/>
                </a:solidFill>
                <a:latin typeface="+mn-lt"/>
                <a:cs typeface="Times New Roman"/>
              </a:rPr>
              <a:t>ON THE </a:t>
            </a:r>
            <a:r>
              <a:rPr sz="2000" spc="-5">
                <a:solidFill>
                  <a:schemeClr val="bg1"/>
                </a:solidFill>
                <a:latin typeface="+mn-lt"/>
                <a:cs typeface="Times New Roman"/>
              </a:rPr>
              <a:t>BASIS </a:t>
            </a:r>
            <a:r>
              <a:rPr sz="2000">
                <a:solidFill>
                  <a:schemeClr val="bg1"/>
                </a:solidFill>
                <a:latin typeface="+mn-lt"/>
                <a:cs typeface="Times New Roman"/>
              </a:rPr>
              <a:t>OF</a:t>
            </a:r>
            <a:r>
              <a:rPr sz="2000" spc="-235">
                <a:solidFill>
                  <a:schemeClr val="bg1"/>
                </a:solidFill>
                <a:latin typeface="+mn-lt"/>
                <a:cs typeface="Times New Roman"/>
              </a:rPr>
              <a:t> </a:t>
            </a:r>
            <a:r>
              <a:rPr sz="2000" spc="-65">
                <a:solidFill>
                  <a:schemeClr val="bg1"/>
                </a:solidFill>
                <a:latin typeface="+mn-lt"/>
                <a:cs typeface="Times New Roman"/>
              </a:rPr>
              <a:t>MOTIVATION</a:t>
            </a:r>
            <a:endParaRPr sz="2000">
              <a:solidFill>
                <a:schemeClr val="bg1"/>
              </a:solidFill>
              <a:latin typeface="+mn-lt"/>
              <a:cs typeface="Times New Roman"/>
            </a:endParaRPr>
          </a:p>
        </p:txBody>
      </p:sp>
      <p:sp>
        <p:nvSpPr>
          <p:cNvPr id="4" name="object 4"/>
          <p:cNvSpPr txBox="1"/>
          <p:nvPr/>
        </p:nvSpPr>
        <p:spPr>
          <a:xfrm>
            <a:off x="323528" y="1222689"/>
            <a:ext cx="8364128" cy="2752677"/>
          </a:xfrm>
          <a:prstGeom prst="rect">
            <a:avLst/>
          </a:prstGeom>
        </p:spPr>
        <p:txBody>
          <a:bodyPr vert="horz" wrap="square" lIns="0" tIns="13335" rIns="0" bIns="0" rtlCol="0">
            <a:spAutoFit/>
          </a:bodyPr>
          <a:lstStyle/>
          <a:p>
            <a:pPr marL="12700" algn="just">
              <a:lnSpc>
                <a:spcPct val="100000"/>
              </a:lnSpc>
              <a:spcBef>
                <a:spcPts val="105"/>
              </a:spcBef>
            </a:pPr>
            <a:r>
              <a:rPr sz="2400" b="1">
                <a:latin typeface="Times New Roman" panose="02020603050405020304" pitchFamily="18" charset="0"/>
                <a:cs typeface="Times New Roman" panose="02020603050405020304" pitchFamily="18" charset="0"/>
              </a:rPr>
              <a:t>Induced</a:t>
            </a:r>
            <a:r>
              <a:rPr sz="2400" b="1" spc="-5">
                <a:latin typeface="Times New Roman" panose="02020603050405020304" pitchFamily="18" charset="0"/>
                <a:cs typeface="Times New Roman" panose="02020603050405020304" pitchFamily="18" charset="0"/>
              </a:rPr>
              <a:t> </a:t>
            </a:r>
            <a:r>
              <a:rPr sz="2400" b="1" spc="-10">
                <a:latin typeface="Times New Roman" panose="02020603050405020304" pitchFamily="18" charset="0"/>
                <a:cs typeface="Times New Roman" panose="02020603050405020304" pitchFamily="18" charset="0"/>
              </a:rPr>
              <a:t>Entrepreneur:</a:t>
            </a:r>
            <a:endParaRPr sz="2400">
              <a:latin typeface="Times New Roman" panose="02020603050405020304" pitchFamily="18" charset="0"/>
              <a:cs typeface="Times New Roman" panose="02020603050405020304" pitchFamily="18" charset="0"/>
            </a:endParaRPr>
          </a:p>
          <a:p>
            <a:pPr marL="355600" marR="120014" indent="-343535" algn="just">
              <a:lnSpc>
                <a:spcPct val="150000"/>
              </a:lnSpc>
              <a:spcBef>
                <a:spcPts val="625"/>
              </a:spcBef>
              <a:buFont typeface="Arial"/>
              <a:buChar char="•"/>
              <a:tabLst>
                <a:tab pos="356235" algn="l"/>
              </a:tabLst>
            </a:pPr>
            <a:r>
              <a:rPr sz="2400">
                <a:latin typeface="Times New Roman" panose="02020603050405020304" pitchFamily="18" charset="0"/>
                <a:cs typeface="Times New Roman" panose="02020603050405020304" pitchFamily="18" charset="0"/>
              </a:rPr>
              <a:t>He is induced to </a:t>
            </a:r>
            <a:r>
              <a:rPr sz="2400" spc="-5">
                <a:latin typeface="Times New Roman" panose="02020603050405020304" pitchFamily="18" charset="0"/>
                <a:cs typeface="Times New Roman" panose="02020603050405020304" pitchFamily="18" charset="0"/>
              </a:rPr>
              <a:t>take </a:t>
            </a:r>
            <a:r>
              <a:rPr sz="2400">
                <a:latin typeface="Times New Roman" panose="02020603050405020304" pitchFamily="18" charset="0"/>
                <a:cs typeface="Times New Roman" panose="02020603050405020304" pitchFamily="18" charset="0"/>
              </a:rPr>
              <a:t>up an</a:t>
            </a:r>
            <a:r>
              <a:rPr sz="2400" spc="-114">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entrepreneurial  </a:t>
            </a:r>
            <a:r>
              <a:rPr sz="2400" spc="-5">
                <a:latin typeface="Times New Roman" panose="02020603050405020304" pitchFamily="18" charset="0"/>
                <a:cs typeface="Times New Roman" panose="02020603050405020304" pitchFamily="18" charset="0"/>
              </a:rPr>
              <a:t>activity with </a:t>
            </a:r>
            <a:r>
              <a:rPr sz="2400">
                <a:latin typeface="Times New Roman" panose="02020603050405020304" pitchFamily="18" charset="0"/>
                <a:cs typeface="Times New Roman" panose="02020603050405020304" pitchFamily="18" charset="0"/>
              </a:rPr>
              <a:t>a </a:t>
            </a:r>
            <a:r>
              <a:rPr sz="2400" spc="-5">
                <a:latin typeface="Times New Roman" panose="02020603050405020304" pitchFamily="18" charset="0"/>
                <a:cs typeface="Times New Roman" panose="02020603050405020304" pitchFamily="18" charset="0"/>
              </a:rPr>
              <a:t>view </a:t>
            </a:r>
            <a:r>
              <a:rPr sz="2400">
                <a:latin typeface="Times New Roman" panose="02020603050405020304" pitchFamily="18" charset="0"/>
                <a:cs typeface="Times New Roman" panose="02020603050405020304" pitchFamily="18" charset="0"/>
              </a:rPr>
              <a:t>to avail </a:t>
            </a:r>
            <a:r>
              <a:rPr sz="2400" spc="-5">
                <a:latin typeface="Times New Roman" panose="02020603050405020304" pitchFamily="18" charset="0"/>
                <a:cs typeface="Times New Roman" panose="02020603050405020304" pitchFamily="18" charset="0"/>
              </a:rPr>
              <a:t>some benefits  </a:t>
            </a:r>
            <a:r>
              <a:rPr sz="2400">
                <a:latin typeface="Times New Roman" panose="02020603050405020304" pitchFamily="18" charset="0"/>
                <a:cs typeface="Times New Roman" panose="02020603050405020304" pitchFamily="18" charset="0"/>
              </a:rPr>
              <a:t>from the</a:t>
            </a:r>
            <a:r>
              <a:rPr sz="2400" spc="-2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government.</a:t>
            </a:r>
          </a:p>
          <a:p>
            <a:pPr marL="355600" marR="5080" indent="-343535">
              <a:lnSpc>
                <a:spcPct val="150000"/>
              </a:lnSpc>
              <a:spcBef>
                <a:spcPts val="625"/>
              </a:spcBef>
              <a:buFont typeface="Arial"/>
              <a:buChar char="•"/>
              <a:tabLst>
                <a:tab pos="355600" algn="l"/>
                <a:tab pos="356235" algn="l"/>
              </a:tabLst>
            </a:pPr>
            <a:r>
              <a:rPr sz="2400" spc="-5">
                <a:latin typeface="Times New Roman" panose="02020603050405020304" pitchFamily="18" charset="0"/>
                <a:cs typeface="Times New Roman" panose="02020603050405020304" pitchFamily="18" charset="0"/>
              </a:rPr>
              <a:t>These </a:t>
            </a:r>
            <a:r>
              <a:rPr sz="2400">
                <a:latin typeface="Times New Roman" panose="02020603050405020304" pitchFamily="18" charset="0"/>
                <a:cs typeface="Times New Roman" panose="02020603050405020304" pitchFamily="18" charset="0"/>
              </a:rPr>
              <a:t>benefits are in </a:t>
            </a:r>
            <a:r>
              <a:rPr sz="2400" spc="-5">
                <a:latin typeface="Times New Roman" panose="02020603050405020304" pitchFamily="18" charset="0"/>
                <a:cs typeface="Times New Roman" panose="02020603050405020304" pitchFamily="18" charset="0"/>
              </a:rPr>
              <a:t>the </a:t>
            </a:r>
            <a:r>
              <a:rPr sz="2400">
                <a:latin typeface="Times New Roman" panose="02020603050405020304" pitchFamily="18" charset="0"/>
                <a:cs typeface="Times New Roman" panose="02020603050405020304" pitchFamily="18" charset="0"/>
              </a:rPr>
              <a:t>form of</a:t>
            </a:r>
            <a:r>
              <a:rPr sz="2400" spc="-8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assistance,  </a:t>
            </a:r>
            <a:r>
              <a:rPr sz="2400">
                <a:latin typeface="Times New Roman" panose="02020603050405020304" pitchFamily="18" charset="0"/>
                <a:cs typeface="Times New Roman" panose="02020603050405020304" pitchFamily="18" charset="0"/>
              </a:rPr>
              <a:t>incentives, subsidies, concessions and  </a:t>
            </a:r>
            <a:r>
              <a:rPr sz="2400" spc="-5">
                <a:latin typeface="Times New Roman" panose="02020603050405020304" pitchFamily="18" charset="0"/>
                <a:cs typeface="Times New Roman" panose="02020603050405020304" pitchFamily="18" charset="0"/>
              </a:rPr>
              <a:t>infrastructures.</a:t>
            </a:r>
            <a:endParaRPr sz="2400">
              <a:latin typeface="Times New Roman" panose="02020603050405020304" pitchFamily="18" charset="0"/>
              <a:cs typeface="Times New Roman" panose="02020603050405020304" pitchFamily="18" charset="0"/>
            </a:endParaRPr>
          </a:p>
        </p:txBody>
      </p:sp>
      <p:sp>
        <p:nvSpPr>
          <p:cNvPr id="7" name="Date Placeholder 3"/>
          <p:cNvSpPr>
            <a:spLocks noGrp="1"/>
          </p:cNvSpPr>
          <p:nvPr>
            <p:ph type="dt" sz="half" idx="10"/>
          </p:nvPr>
        </p:nvSpPr>
        <p:spPr>
          <a:xfrm>
            <a:off x="457200" y="6356352"/>
            <a:ext cx="2133600" cy="365125"/>
          </a:xfrm>
        </p:spPr>
        <p:txBody>
          <a:bodyPr/>
          <a:lstStyle/>
          <a:p>
            <a:fld id="{98942955-D6DA-4A4A-A566-EE081BDCA957}" type="datetime1">
              <a:rPr lang="en-US" smtClean="0"/>
              <a:pPr/>
              <a:t>12-Aug-25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64</a:t>
            </a:fld>
            <a:endParaRPr lang="en-US"/>
          </a:p>
        </p:txBody>
      </p:sp>
      <p:sp>
        <p:nvSpPr>
          <p:cNvPr id="2" name="Footer Placeholder 12">
            <a:extLst>
              <a:ext uri="{FF2B5EF4-FFF2-40B4-BE49-F238E27FC236}">
                <a16:creationId xmlns:a16="http://schemas.microsoft.com/office/drawing/2014/main" id="{0239ADB5-3CDB-E69A-37CA-2BC81C9EC8BF}"/>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8" name="Title 1"/>
          <p:cNvSpPr txBox="1">
            <a:spLocks/>
          </p:cNvSpPr>
          <p:nvPr/>
        </p:nvSpPr>
        <p:spPr>
          <a:xfrm>
            <a:off x="1640880" y="5357"/>
            <a:ext cx="7452320" cy="89608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a:solidFill>
                  <a:schemeClr val="tx1"/>
                </a:solidFill>
                <a:latin typeface="Times New Roman" panose="02020603050405020304" pitchFamily="18" charset="0"/>
                <a:cs typeface="Times New Roman" panose="02020603050405020304" pitchFamily="18" charset="0"/>
              </a:rPr>
              <a:t>ON THE </a:t>
            </a:r>
            <a:r>
              <a:rPr lang="en-US" sz="3600" b="1" spc="-5">
                <a:solidFill>
                  <a:schemeClr val="tx1"/>
                </a:solidFill>
                <a:latin typeface="Times New Roman" panose="02020603050405020304" pitchFamily="18" charset="0"/>
                <a:cs typeface="Times New Roman" panose="02020603050405020304" pitchFamily="18" charset="0"/>
              </a:rPr>
              <a:t>BASIS </a:t>
            </a:r>
            <a:r>
              <a:rPr lang="en-US" sz="3600" b="1">
                <a:solidFill>
                  <a:schemeClr val="tx1"/>
                </a:solidFill>
                <a:latin typeface="Times New Roman" panose="02020603050405020304" pitchFamily="18" charset="0"/>
                <a:cs typeface="Times New Roman" panose="02020603050405020304" pitchFamily="18" charset="0"/>
              </a:rPr>
              <a:t>OF</a:t>
            </a:r>
            <a:r>
              <a:rPr lang="en-US" sz="3600" b="1" spc="-235">
                <a:solidFill>
                  <a:schemeClr val="tx1"/>
                </a:solidFill>
                <a:latin typeface="Times New Roman" panose="02020603050405020304" pitchFamily="18" charset="0"/>
                <a:cs typeface="Times New Roman" panose="02020603050405020304" pitchFamily="18" charset="0"/>
              </a:rPr>
              <a:t> </a:t>
            </a:r>
            <a:r>
              <a:rPr lang="en-US" sz="3600" b="1" spc="-65">
                <a:solidFill>
                  <a:schemeClr val="tx1"/>
                </a:solidFill>
                <a:latin typeface="Times New Roman" panose="02020603050405020304" pitchFamily="18" charset="0"/>
                <a:cs typeface="Times New Roman" panose="02020603050405020304" pitchFamily="18" charset="0"/>
              </a:rPr>
              <a:t>MOTIVATION</a:t>
            </a:r>
            <a:endParaRPr lang="en-IN" sz="3600" b="1">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3995912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43043" y="382287"/>
            <a:ext cx="6292850" cy="320601"/>
          </a:xfrm>
          <a:prstGeom prst="rect">
            <a:avLst/>
          </a:prstGeom>
        </p:spPr>
        <p:txBody>
          <a:bodyPr vert="horz" wrap="square" lIns="0" tIns="12700" rIns="0" bIns="0" rtlCol="0">
            <a:spAutoFit/>
          </a:bodyPr>
          <a:lstStyle/>
          <a:p>
            <a:pPr marL="12700">
              <a:lnSpc>
                <a:spcPct val="100000"/>
              </a:lnSpc>
              <a:spcBef>
                <a:spcPts val="100"/>
              </a:spcBef>
            </a:pPr>
            <a:r>
              <a:rPr sz="2000">
                <a:solidFill>
                  <a:schemeClr val="bg1"/>
                </a:solidFill>
                <a:latin typeface="+mn-lt"/>
                <a:cs typeface="Times New Roman"/>
              </a:rPr>
              <a:t>ON THE </a:t>
            </a:r>
            <a:r>
              <a:rPr sz="2000" spc="-5">
                <a:solidFill>
                  <a:schemeClr val="bg1"/>
                </a:solidFill>
                <a:latin typeface="+mn-lt"/>
                <a:cs typeface="Times New Roman"/>
              </a:rPr>
              <a:t>BASIS </a:t>
            </a:r>
            <a:r>
              <a:rPr sz="2000">
                <a:solidFill>
                  <a:schemeClr val="bg1"/>
                </a:solidFill>
                <a:latin typeface="+mn-lt"/>
                <a:cs typeface="Times New Roman"/>
              </a:rPr>
              <a:t>OF</a:t>
            </a:r>
            <a:r>
              <a:rPr sz="2000" spc="-235">
                <a:solidFill>
                  <a:schemeClr val="bg1"/>
                </a:solidFill>
                <a:latin typeface="+mn-lt"/>
                <a:cs typeface="Times New Roman"/>
              </a:rPr>
              <a:t> </a:t>
            </a:r>
            <a:r>
              <a:rPr sz="2000" spc="-65">
                <a:solidFill>
                  <a:schemeClr val="bg1"/>
                </a:solidFill>
                <a:latin typeface="+mn-lt"/>
                <a:cs typeface="Times New Roman"/>
              </a:rPr>
              <a:t>MOTIVATION</a:t>
            </a:r>
            <a:endParaRPr sz="2000">
              <a:solidFill>
                <a:schemeClr val="bg1"/>
              </a:solidFill>
              <a:latin typeface="+mn-lt"/>
              <a:cs typeface="Times New Roman"/>
            </a:endParaRPr>
          </a:p>
        </p:txBody>
      </p:sp>
      <p:sp>
        <p:nvSpPr>
          <p:cNvPr id="4" name="object 4"/>
          <p:cNvSpPr txBox="1"/>
          <p:nvPr/>
        </p:nvSpPr>
        <p:spPr>
          <a:xfrm>
            <a:off x="775016" y="1219202"/>
            <a:ext cx="7987983" cy="4903907"/>
          </a:xfrm>
          <a:prstGeom prst="rect">
            <a:avLst/>
          </a:prstGeom>
        </p:spPr>
        <p:txBody>
          <a:bodyPr vert="horz" wrap="square" lIns="0" tIns="180340" rIns="0" bIns="0" rtlCol="0">
            <a:spAutoFit/>
          </a:bodyPr>
          <a:lstStyle/>
          <a:p>
            <a:pPr marL="12700">
              <a:lnSpc>
                <a:spcPct val="100000"/>
              </a:lnSpc>
              <a:spcBef>
                <a:spcPts val="1420"/>
              </a:spcBef>
            </a:pPr>
            <a:r>
              <a:rPr sz="2400" b="1">
                <a:latin typeface="Times New Roman" panose="02020603050405020304" pitchFamily="18" charset="0"/>
                <a:cs typeface="Times New Roman" panose="02020603050405020304" pitchFamily="18" charset="0"/>
              </a:rPr>
              <a:t>Motivated </a:t>
            </a:r>
            <a:r>
              <a:rPr sz="2400" b="1" spc="-10">
                <a:latin typeface="Times New Roman" panose="02020603050405020304" pitchFamily="18" charset="0"/>
                <a:cs typeface="Times New Roman" panose="02020603050405020304" pitchFamily="18" charset="0"/>
              </a:rPr>
              <a:t>Entrepreneur:</a:t>
            </a:r>
            <a:endParaRPr sz="2400">
              <a:latin typeface="Times New Roman" panose="02020603050405020304" pitchFamily="18" charset="0"/>
              <a:cs typeface="Times New Roman" panose="02020603050405020304" pitchFamily="18" charset="0"/>
            </a:endParaRPr>
          </a:p>
          <a:p>
            <a:pPr marL="355600" marR="5080" indent="-343535">
              <a:lnSpc>
                <a:spcPct val="130100"/>
              </a:lnSpc>
              <a:spcBef>
                <a:spcPts val="525"/>
              </a:spcBef>
              <a:buFont typeface="Arial"/>
              <a:buChar char="•"/>
              <a:tabLst>
                <a:tab pos="355600" algn="l"/>
                <a:tab pos="356235" algn="l"/>
              </a:tabLst>
            </a:pPr>
            <a:r>
              <a:rPr sz="2400" spc="-5">
                <a:latin typeface="Times New Roman" panose="02020603050405020304" pitchFamily="18" charset="0"/>
                <a:cs typeface="Times New Roman" panose="02020603050405020304" pitchFamily="18" charset="0"/>
              </a:rPr>
              <a:t>These entrepreneurs are motivated by the desire to  </a:t>
            </a:r>
            <a:r>
              <a:rPr sz="2400" spc="-10">
                <a:latin typeface="Times New Roman" panose="02020603050405020304" pitchFamily="18" charset="0"/>
                <a:cs typeface="Times New Roman" panose="02020603050405020304" pitchFamily="18" charset="0"/>
              </a:rPr>
              <a:t>make </a:t>
            </a:r>
            <a:r>
              <a:rPr sz="2400" spc="-5">
                <a:latin typeface="Times New Roman" panose="02020603050405020304" pitchFamily="18" charset="0"/>
                <a:cs typeface="Times New Roman" panose="02020603050405020304" pitchFamily="18" charset="0"/>
              </a:rPr>
              <a:t>use of their technical and professional  expertise and skills.</a:t>
            </a:r>
            <a:endParaRPr sz="2400">
              <a:latin typeface="Times New Roman" panose="02020603050405020304" pitchFamily="18" charset="0"/>
              <a:cs typeface="Times New Roman" panose="02020603050405020304" pitchFamily="18" charset="0"/>
            </a:endParaRPr>
          </a:p>
          <a:p>
            <a:pPr marL="355600" indent="-343535">
              <a:lnSpc>
                <a:spcPct val="100000"/>
              </a:lnSpc>
              <a:spcBef>
                <a:spcPts val="1320"/>
              </a:spcBef>
              <a:buFont typeface="Arial"/>
              <a:buChar char="•"/>
              <a:tabLst>
                <a:tab pos="355600" algn="l"/>
                <a:tab pos="356235" algn="l"/>
              </a:tabLst>
            </a:pPr>
            <a:r>
              <a:rPr sz="2400" spc="-5">
                <a:latin typeface="Times New Roman" panose="02020603050405020304" pitchFamily="18" charset="0"/>
                <a:cs typeface="Times New Roman" panose="02020603050405020304" pitchFamily="18" charset="0"/>
              </a:rPr>
              <a:t>They are motivated by the desire </a:t>
            </a:r>
            <a:r>
              <a:rPr sz="2400">
                <a:latin typeface="Times New Roman" panose="02020603050405020304" pitchFamily="18" charset="0"/>
                <a:cs typeface="Times New Roman" panose="02020603050405020304" pitchFamily="18" charset="0"/>
              </a:rPr>
              <a:t>for</a:t>
            </a:r>
            <a:r>
              <a:rPr sz="2400" spc="3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self-</a:t>
            </a:r>
            <a:r>
              <a:rPr lang="en-US" sz="240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fulfillment.</a:t>
            </a:r>
            <a:endParaRPr sz="2400">
              <a:latin typeface="Times New Roman" panose="02020603050405020304" pitchFamily="18" charset="0"/>
              <a:cs typeface="Times New Roman" panose="02020603050405020304" pitchFamily="18" charset="0"/>
            </a:endParaRPr>
          </a:p>
          <a:p>
            <a:pPr>
              <a:lnSpc>
                <a:spcPct val="100000"/>
              </a:lnSpc>
              <a:spcBef>
                <a:spcPts val="50"/>
              </a:spcBef>
            </a:pPr>
            <a:endParaRPr sz="2400">
              <a:latin typeface="Times New Roman" panose="02020603050405020304" pitchFamily="18" charset="0"/>
              <a:cs typeface="Times New Roman" panose="02020603050405020304" pitchFamily="18" charset="0"/>
            </a:endParaRPr>
          </a:p>
          <a:p>
            <a:pPr marL="12700">
              <a:lnSpc>
                <a:spcPct val="100000"/>
              </a:lnSpc>
            </a:pPr>
            <a:r>
              <a:rPr sz="2400" b="1">
                <a:latin typeface="Times New Roman" panose="02020603050405020304" pitchFamily="18" charset="0"/>
                <a:cs typeface="Times New Roman" panose="02020603050405020304" pitchFamily="18" charset="0"/>
              </a:rPr>
              <a:t>Spontaneous </a:t>
            </a:r>
            <a:r>
              <a:rPr sz="2400" b="1" spc="-10">
                <a:latin typeface="Times New Roman" panose="02020603050405020304" pitchFamily="18" charset="0"/>
                <a:cs typeface="Times New Roman" panose="02020603050405020304" pitchFamily="18" charset="0"/>
              </a:rPr>
              <a:t>Entrepreneur:</a:t>
            </a:r>
            <a:endParaRPr sz="2400">
              <a:latin typeface="Times New Roman" panose="02020603050405020304" pitchFamily="18" charset="0"/>
              <a:cs typeface="Times New Roman" panose="02020603050405020304" pitchFamily="18" charset="0"/>
            </a:endParaRPr>
          </a:p>
          <a:p>
            <a:pPr marL="355600" marR="835660" indent="-343535">
              <a:lnSpc>
                <a:spcPct val="130000"/>
              </a:lnSpc>
              <a:spcBef>
                <a:spcPts val="530"/>
              </a:spcBef>
              <a:buFont typeface="Arial"/>
              <a:buChar char="•"/>
              <a:tabLst>
                <a:tab pos="355600" algn="l"/>
                <a:tab pos="356235" algn="l"/>
              </a:tabLst>
            </a:pPr>
            <a:r>
              <a:rPr sz="2400" spc="-5">
                <a:latin typeface="Times New Roman" panose="02020603050405020304" pitchFamily="18" charset="0"/>
                <a:cs typeface="Times New Roman" panose="02020603050405020304" pitchFamily="18" charset="0"/>
              </a:rPr>
              <a:t>They are motivated by their desire for </a:t>
            </a:r>
            <a:r>
              <a:rPr sz="2400">
                <a:latin typeface="Times New Roman" panose="02020603050405020304" pitchFamily="18" charset="0"/>
                <a:cs typeface="Times New Roman" panose="02020603050405020304" pitchFamily="18" charset="0"/>
              </a:rPr>
              <a:t>self-  </a:t>
            </a:r>
            <a:r>
              <a:rPr sz="2400" spc="-5">
                <a:latin typeface="Times New Roman" panose="02020603050405020304" pitchFamily="18" charset="0"/>
                <a:cs typeface="Times New Roman" panose="02020603050405020304" pitchFamily="18" charset="0"/>
              </a:rPr>
              <a:t>employment and to</a:t>
            </a:r>
            <a:r>
              <a:rPr lang="en-US" sz="2400" spc="-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achieve or prove their  excellence in job</a:t>
            </a:r>
            <a:r>
              <a:rPr sz="2400" spc="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performance.</a:t>
            </a:r>
            <a:endParaRPr sz="2400">
              <a:latin typeface="Times New Roman" panose="02020603050405020304" pitchFamily="18" charset="0"/>
              <a:cs typeface="Times New Roman" panose="02020603050405020304" pitchFamily="18" charset="0"/>
            </a:endParaRPr>
          </a:p>
          <a:p>
            <a:pPr marL="355600" indent="-343535">
              <a:lnSpc>
                <a:spcPct val="100000"/>
              </a:lnSpc>
              <a:spcBef>
                <a:spcPts val="1320"/>
              </a:spcBef>
              <a:buFont typeface="Arial"/>
              <a:buChar char="•"/>
              <a:tabLst>
                <a:tab pos="355600" algn="l"/>
                <a:tab pos="356235" algn="l"/>
              </a:tabLst>
            </a:pPr>
            <a:r>
              <a:rPr sz="2400" spc="-5">
                <a:latin typeface="Times New Roman" panose="02020603050405020304" pitchFamily="18" charset="0"/>
                <a:cs typeface="Times New Roman" panose="02020603050405020304" pitchFamily="18" charset="0"/>
              </a:rPr>
              <a:t>They are natural</a:t>
            </a:r>
            <a:r>
              <a:rPr sz="2400" spc="1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entrepreneurs.</a:t>
            </a:r>
            <a:endParaRPr sz="2400">
              <a:latin typeface="Times New Roman" panose="02020603050405020304" pitchFamily="18" charset="0"/>
              <a:cs typeface="Times New Roman" panose="02020603050405020304" pitchFamily="18" charset="0"/>
            </a:endParaRPr>
          </a:p>
        </p:txBody>
      </p:sp>
      <p:sp>
        <p:nvSpPr>
          <p:cNvPr id="7" name="Date Placeholder 3"/>
          <p:cNvSpPr>
            <a:spLocks noGrp="1"/>
          </p:cNvSpPr>
          <p:nvPr>
            <p:ph type="dt" sz="half" idx="10"/>
          </p:nvPr>
        </p:nvSpPr>
        <p:spPr>
          <a:xfrm>
            <a:off x="457200" y="6356352"/>
            <a:ext cx="2133600" cy="365125"/>
          </a:xfrm>
        </p:spPr>
        <p:txBody>
          <a:bodyPr/>
          <a:lstStyle/>
          <a:p>
            <a:fld id="{C6817817-33D4-47A9-B748-262807F4F43A}" type="datetime1">
              <a:rPr lang="en-US" smtClean="0"/>
              <a:pPr/>
              <a:t>12-Aug-25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65</a:t>
            </a:fld>
            <a:endParaRPr lang="en-US"/>
          </a:p>
        </p:txBody>
      </p:sp>
      <p:sp>
        <p:nvSpPr>
          <p:cNvPr id="2" name="Footer Placeholder 12">
            <a:extLst>
              <a:ext uri="{FF2B5EF4-FFF2-40B4-BE49-F238E27FC236}">
                <a16:creationId xmlns:a16="http://schemas.microsoft.com/office/drawing/2014/main" id="{F95B7E52-AA64-81CF-AB27-86F14F5C4910}"/>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Title 1"/>
          <p:cNvSpPr txBox="1">
            <a:spLocks/>
          </p:cNvSpPr>
          <p:nvPr/>
        </p:nvSpPr>
        <p:spPr>
          <a:xfrm>
            <a:off x="1643043" y="1"/>
            <a:ext cx="7452320" cy="83671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a:solidFill>
                  <a:schemeClr val="tx1"/>
                </a:solidFill>
                <a:latin typeface="Times New Roman" panose="02020603050405020304" pitchFamily="18" charset="0"/>
                <a:cs typeface="Times New Roman" panose="02020603050405020304" pitchFamily="18" charset="0"/>
              </a:rPr>
              <a:t>ON THE </a:t>
            </a:r>
            <a:r>
              <a:rPr lang="en-US" sz="3600" b="1" spc="-5">
                <a:solidFill>
                  <a:schemeClr val="tx1"/>
                </a:solidFill>
                <a:latin typeface="Times New Roman" panose="02020603050405020304" pitchFamily="18" charset="0"/>
                <a:cs typeface="Times New Roman" panose="02020603050405020304" pitchFamily="18" charset="0"/>
              </a:rPr>
              <a:t>BASIS </a:t>
            </a:r>
            <a:r>
              <a:rPr lang="en-US" sz="3600" b="1">
                <a:solidFill>
                  <a:schemeClr val="tx1"/>
                </a:solidFill>
                <a:latin typeface="Times New Roman" panose="02020603050405020304" pitchFamily="18" charset="0"/>
                <a:cs typeface="Times New Roman" panose="02020603050405020304" pitchFamily="18" charset="0"/>
              </a:rPr>
              <a:t>OF</a:t>
            </a:r>
            <a:r>
              <a:rPr lang="en-US" sz="3600" b="1" spc="-235">
                <a:solidFill>
                  <a:schemeClr val="tx1"/>
                </a:solidFill>
                <a:latin typeface="Times New Roman" panose="02020603050405020304" pitchFamily="18" charset="0"/>
                <a:cs typeface="Times New Roman" panose="02020603050405020304" pitchFamily="18" charset="0"/>
              </a:rPr>
              <a:t> </a:t>
            </a:r>
            <a:r>
              <a:rPr lang="en-US" sz="3600" b="1" spc="-65">
                <a:solidFill>
                  <a:schemeClr val="tx1"/>
                </a:solidFill>
                <a:latin typeface="Times New Roman" panose="02020603050405020304" pitchFamily="18" charset="0"/>
                <a:cs typeface="Times New Roman" panose="02020603050405020304" pitchFamily="18" charset="0"/>
              </a:rPr>
              <a:t>MOTIVATION</a:t>
            </a:r>
            <a:endParaRPr lang="en-IN" sz="3600" b="1">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7831411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714480" y="501173"/>
            <a:ext cx="7072362" cy="320601"/>
          </a:xfrm>
          <a:prstGeom prst="rect">
            <a:avLst/>
          </a:prstGeom>
        </p:spPr>
        <p:txBody>
          <a:bodyPr vert="horz" wrap="square" lIns="0" tIns="12700" rIns="0" bIns="0" rtlCol="0">
            <a:spAutoFit/>
          </a:bodyPr>
          <a:lstStyle/>
          <a:p>
            <a:pPr marL="12700">
              <a:lnSpc>
                <a:spcPct val="100000"/>
              </a:lnSpc>
              <a:spcBef>
                <a:spcPts val="100"/>
              </a:spcBef>
            </a:pPr>
            <a:r>
              <a:rPr sz="2000" spc="-5">
                <a:solidFill>
                  <a:srgbClr val="FFFFFF"/>
                </a:solidFill>
                <a:latin typeface="+mn-lt"/>
                <a:cs typeface="Times New Roman"/>
              </a:rPr>
              <a:t>ON </a:t>
            </a:r>
            <a:r>
              <a:rPr sz="2000">
                <a:solidFill>
                  <a:srgbClr val="FFFFFF"/>
                </a:solidFill>
                <a:latin typeface="+mn-lt"/>
                <a:cs typeface="Times New Roman"/>
              </a:rPr>
              <a:t>THE </a:t>
            </a:r>
            <a:r>
              <a:rPr sz="2000" spc="-5">
                <a:solidFill>
                  <a:srgbClr val="FFFFFF"/>
                </a:solidFill>
                <a:latin typeface="+mn-lt"/>
                <a:cs typeface="Times New Roman"/>
              </a:rPr>
              <a:t>BASIS </a:t>
            </a:r>
            <a:r>
              <a:rPr sz="2000">
                <a:solidFill>
                  <a:srgbClr val="FFFFFF"/>
                </a:solidFill>
                <a:latin typeface="+mn-lt"/>
                <a:cs typeface="Times New Roman"/>
              </a:rPr>
              <a:t>OF </a:t>
            </a:r>
            <a:r>
              <a:rPr sz="2000" spc="-5">
                <a:solidFill>
                  <a:srgbClr val="FFFFFF"/>
                </a:solidFill>
                <a:latin typeface="+mn-lt"/>
                <a:cs typeface="Times New Roman"/>
              </a:rPr>
              <a:t>ENTREPRENEURIAL</a:t>
            </a:r>
            <a:r>
              <a:rPr sz="2000" spc="-365">
                <a:solidFill>
                  <a:srgbClr val="FFFFFF"/>
                </a:solidFill>
                <a:latin typeface="+mn-lt"/>
                <a:cs typeface="Times New Roman"/>
              </a:rPr>
              <a:t> </a:t>
            </a:r>
            <a:r>
              <a:rPr lang="en-IN" sz="2000" spc="-365">
                <a:solidFill>
                  <a:srgbClr val="FFFFFF"/>
                </a:solidFill>
                <a:latin typeface="+mn-lt"/>
                <a:cs typeface="Times New Roman"/>
              </a:rPr>
              <a:t> </a:t>
            </a:r>
            <a:r>
              <a:rPr sz="2000" spc="-5">
                <a:solidFill>
                  <a:srgbClr val="FFFFFF"/>
                </a:solidFill>
                <a:latin typeface="+mn-lt"/>
                <a:cs typeface="Times New Roman"/>
              </a:rPr>
              <a:t>ACTIVITY</a:t>
            </a:r>
            <a:endParaRPr sz="2000">
              <a:latin typeface="+mn-lt"/>
              <a:cs typeface="Times New Roman"/>
            </a:endParaRPr>
          </a:p>
        </p:txBody>
      </p:sp>
      <p:sp>
        <p:nvSpPr>
          <p:cNvPr id="14" name="object 14"/>
          <p:cNvSpPr txBox="1"/>
          <p:nvPr/>
        </p:nvSpPr>
        <p:spPr>
          <a:xfrm>
            <a:off x="245604" y="1357599"/>
            <a:ext cx="8790892" cy="3773469"/>
          </a:xfrm>
          <a:prstGeom prst="rect">
            <a:avLst/>
          </a:prstGeom>
        </p:spPr>
        <p:txBody>
          <a:bodyPr vert="horz" wrap="square" lIns="0" tIns="13335" rIns="0" bIns="0" rtlCol="0">
            <a:spAutoFit/>
          </a:bodyPr>
          <a:lstStyle/>
          <a:p>
            <a:pPr marL="12700">
              <a:lnSpc>
                <a:spcPct val="100000"/>
              </a:lnSpc>
              <a:spcBef>
                <a:spcPts val="105"/>
              </a:spcBef>
            </a:pPr>
            <a:r>
              <a:rPr sz="2400" b="1">
                <a:latin typeface="Times New Roman" panose="02020603050405020304" pitchFamily="18" charset="0"/>
                <a:cs typeface="Times New Roman" panose="02020603050405020304" pitchFamily="18" charset="0"/>
              </a:rPr>
              <a:t>Novice:</a:t>
            </a:r>
            <a:r>
              <a:rPr lang="en-IN" sz="2400" b="1">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A novice </a:t>
            </a:r>
            <a:r>
              <a:rPr sz="2400" spc="-5">
                <a:latin typeface="Times New Roman" panose="02020603050405020304" pitchFamily="18" charset="0"/>
                <a:cs typeface="Times New Roman" panose="02020603050405020304" pitchFamily="18" charset="0"/>
              </a:rPr>
              <a:t>is someone </a:t>
            </a:r>
            <a:r>
              <a:rPr sz="2400" spc="5">
                <a:latin typeface="Times New Roman" panose="02020603050405020304" pitchFamily="18" charset="0"/>
                <a:cs typeface="Times New Roman" panose="02020603050405020304" pitchFamily="18" charset="0"/>
              </a:rPr>
              <a:t>who </a:t>
            </a:r>
            <a:r>
              <a:rPr sz="2400">
                <a:latin typeface="Times New Roman" panose="02020603050405020304" pitchFamily="18" charset="0"/>
                <a:cs typeface="Times New Roman" panose="02020603050405020304" pitchFamily="18" charset="0"/>
              </a:rPr>
              <a:t>has started his/her first entrepreneurial</a:t>
            </a:r>
            <a:r>
              <a:rPr sz="2400" spc="-32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venture.</a:t>
            </a:r>
          </a:p>
          <a:p>
            <a:pPr marL="12700">
              <a:lnSpc>
                <a:spcPct val="100000"/>
              </a:lnSpc>
              <a:spcBef>
                <a:spcPts val="1680"/>
              </a:spcBef>
            </a:pPr>
            <a:r>
              <a:rPr sz="2400" b="1">
                <a:latin typeface="Times New Roman" panose="02020603050405020304" pitchFamily="18" charset="0"/>
                <a:cs typeface="Times New Roman" panose="02020603050405020304" pitchFamily="18" charset="0"/>
              </a:rPr>
              <a:t>Serial</a:t>
            </a:r>
            <a:r>
              <a:rPr sz="2400" b="1" spc="-25">
                <a:latin typeface="Times New Roman" panose="02020603050405020304" pitchFamily="18" charset="0"/>
                <a:cs typeface="Times New Roman" panose="02020603050405020304" pitchFamily="18" charset="0"/>
              </a:rPr>
              <a:t> </a:t>
            </a:r>
            <a:r>
              <a:rPr sz="2400" b="1" spc="-5">
                <a:latin typeface="Times New Roman" panose="02020603050405020304" pitchFamily="18" charset="0"/>
                <a:cs typeface="Times New Roman" panose="02020603050405020304" pitchFamily="18" charset="0"/>
              </a:rPr>
              <a:t>Entrepreneur:</a:t>
            </a:r>
            <a:r>
              <a:rPr lang="en-IN" sz="2400" b="1" spc="-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A </a:t>
            </a:r>
            <a:r>
              <a:rPr sz="2400" spc="-5">
                <a:latin typeface="Times New Roman" panose="02020603050405020304" pitchFamily="18" charset="0"/>
                <a:cs typeface="Times New Roman" panose="02020603050405020304" pitchFamily="18" charset="0"/>
              </a:rPr>
              <a:t>serial entrepreneur is someone who </a:t>
            </a:r>
            <a:r>
              <a:rPr sz="2400" spc="-10">
                <a:latin typeface="Times New Roman" panose="02020603050405020304" pitchFamily="18" charset="0"/>
                <a:cs typeface="Times New Roman" panose="02020603050405020304" pitchFamily="18" charset="0"/>
              </a:rPr>
              <a:t>is </a:t>
            </a:r>
            <a:r>
              <a:rPr sz="2400" spc="-5">
                <a:latin typeface="Times New Roman" panose="02020603050405020304" pitchFamily="18" charset="0"/>
                <a:cs typeface="Times New Roman" panose="02020603050405020304" pitchFamily="18" charset="0"/>
              </a:rPr>
              <a:t>devoted </a:t>
            </a:r>
            <a:r>
              <a:rPr sz="2400" spc="-10">
                <a:latin typeface="Times New Roman" panose="02020603050405020304" pitchFamily="18" charset="0"/>
                <a:cs typeface="Times New Roman" panose="02020603050405020304" pitchFamily="18" charset="0"/>
              </a:rPr>
              <a:t>to </a:t>
            </a:r>
            <a:r>
              <a:rPr sz="2400">
                <a:latin typeface="Times New Roman" panose="02020603050405020304" pitchFamily="18" charset="0"/>
                <a:cs typeface="Times New Roman" panose="02020603050405020304" pitchFamily="18" charset="0"/>
              </a:rPr>
              <a:t>one </a:t>
            </a:r>
            <a:r>
              <a:rPr sz="2400" spc="-5">
                <a:latin typeface="Times New Roman" panose="02020603050405020304" pitchFamily="18" charset="0"/>
                <a:cs typeface="Times New Roman" panose="02020603050405020304" pitchFamily="18" charset="0"/>
              </a:rPr>
              <a:t>venture </a:t>
            </a:r>
            <a:r>
              <a:rPr sz="2400">
                <a:latin typeface="Times New Roman" panose="02020603050405020304" pitchFamily="18" charset="0"/>
                <a:cs typeface="Times New Roman" panose="02020603050405020304" pitchFamily="18" charset="0"/>
              </a:rPr>
              <a:t>at a </a:t>
            </a:r>
            <a:r>
              <a:rPr sz="2400" spc="-10">
                <a:latin typeface="Times New Roman" panose="02020603050405020304" pitchFamily="18" charset="0"/>
                <a:cs typeface="Times New Roman" panose="02020603050405020304" pitchFamily="18" charset="0"/>
              </a:rPr>
              <a:t>time  </a:t>
            </a:r>
            <a:r>
              <a:rPr sz="2400" spc="5">
                <a:latin typeface="Times New Roman" panose="02020603050405020304" pitchFamily="18" charset="0"/>
                <a:cs typeface="Times New Roman" panose="02020603050405020304" pitchFamily="18" charset="0"/>
              </a:rPr>
              <a:t>but </a:t>
            </a:r>
            <a:r>
              <a:rPr sz="2400" spc="-5">
                <a:latin typeface="Times New Roman" panose="02020603050405020304" pitchFamily="18" charset="0"/>
                <a:cs typeface="Times New Roman" panose="02020603050405020304" pitchFamily="18" charset="0"/>
              </a:rPr>
              <a:t>ultimately starts</a:t>
            </a:r>
            <a:r>
              <a:rPr sz="2400" spc="-70">
                <a:latin typeface="Times New Roman" panose="02020603050405020304" pitchFamily="18" charset="0"/>
                <a:cs typeface="Times New Roman" panose="02020603050405020304" pitchFamily="18" charset="0"/>
              </a:rPr>
              <a:t> </a:t>
            </a:r>
            <a:r>
              <a:rPr sz="2400" spc="-30">
                <a:latin typeface="Times New Roman" panose="02020603050405020304" pitchFamily="18" charset="0"/>
                <a:cs typeface="Times New Roman" panose="02020603050405020304" pitchFamily="18" charset="0"/>
              </a:rPr>
              <a:t>many.</a:t>
            </a:r>
            <a:r>
              <a:rPr lang="en-IN" sz="2400" spc="-3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He </a:t>
            </a:r>
            <a:r>
              <a:rPr sz="2400" spc="-5">
                <a:latin typeface="Times New Roman" panose="02020603050405020304" pitchFamily="18" charset="0"/>
                <a:cs typeface="Times New Roman" panose="02020603050405020304" pitchFamily="18" charset="0"/>
              </a:rPr>
              <a:t>repeatedly starts businesses </a:t>
            </a:r>
            <a:r>
              <a:rPr sz="2400">
                <a:latin typeface="Times New Roman" panose="02020603050405020304" pitchFamily="18" charset="0"/>
                <a:cs typeface="Times New Roman" panose="02020603050405020304" pitchFamily="18" charset="0"/>
              </a:rPr>
              <a:t>and grows </a:t>
            </a:r>
            <a:r>
              <a:rPr sz="2400" spc="-5">
                <a:latin typeface="Times New Roman" panose="02020603050405020304" pitchFamily="18" charset="0"/>
                <a:cs typeface="Times New Roman" panose="02020603050405020304" pitchFamily="18" charset="0"/>
              </a:rPr>
              <a:t>them to </a:t>
            </a:r>
            <a:r>
              <a:rPr sz="2400">
                <a:latin typeface="Times New Roman" panose="02020603050405020304" pitchFamily="18" charset="0"/>
                <a:cs typeface="Times New Roman" panose="02020603050405020304" pitchFamily="18" charset="0"/>
              </a:rPr>
              <a:t>a </a:t>
            </a:r>
            <a:r>
              <a:rPr sz="2400" spc="-5">
                <a:latin typeface="Times New Roman" panose="02020603050405020304" pitchFamily="18" charset="0"/>
                <a:cs typeface="Times New Roman" panose="02020603050405020304" pitchFamily="18" charset="0"/>
              </a:rPr>
              <a:t>sustainable size and  </a:t>
            </a:r>
            <a:r>
              <a:rPr sz="2400">
                <a:latin typeface="Times New Roman" panose="02020603050405020304" pitchFamily="18" charset="0"/>
                <a:cs typeface="Times New Roman" panose="02020603050405020304" pitchFamily="18" charset="0"/>
              </a:rPr>
              <a:t>then </a:t>
            </a:r>
            <a:r>
              <a:rPr sz="2400" spc="-5">
                <a:latin typeface="Times New Roman" panose="02020603050405020304" pitchFamily="18" charset="0"/>
                <a:cs typeface="Times New Roman" panose="02020603050405020304" pitchFamily="18" charset="0"/>
              </a:rPr>
              <a:t>sells </a:t>
            </a:r>
            <a:r>
              <a:rPr sz="2400">
                <a:latin typeface="Times New Roman" panose="02020603050405020304" pitchFamily="18" charset="0"/>
                <a:cs typeface="Times New Roman" panose="02020603050405020304" pitchFamily="18" charset="0"/>
              </a:rPr>
              <a:t>them</a:t>
            </a:r>
            <a:r>
              <a:rPr sz="2400" spc="-5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off.</a:t>
            </a:r>
            <a:endParaRPr sz="2400">
              <a:latin typeface="Times New Roman" panose="02020603050405020304" pitchFamily="18" charset="0"/>
              <a:cs typeface="Times New Roman" panose="02020603050405020304" pitchFamily="18" charset="0"/>
            </a:endParaRPr>
          </a:p>
          <a:p>
            <a:pPr marL="12700">
              <a:lnSpc>
                <a:spcPct val="100000"/>
              </a:lnSpc>
              <a:spcBef>
                <a:spcPts val="1685"/>
              </a:spcBef>
            </a:pPr>
            <a:r>
              <a:rPr sz="2400" b="1">
                <a:latin typeface="Times New Roman" panose="02020603050405020304" pitchFamily="18" charset="0"/>
                <a:cs typeface="Times New Roman" panose="02020603050405020304" pitchFamily="18" charset="0"/>
              </a:rPr>
              <a:t>Portfolio</a:t>
            </a:r>
            <a:r>
              <a:rPr sz="2400" b="1" spc="-105">
                <a:latin typeface="Times New Roman" panose="02020603050405020304" pitchFamily="18" charset="0"/>
                <a:cs typeface="Times New Roman" panose="02020603050405020304" pitchFamily="18" charset="0"/>
              </a:rPr>
              <a:t> </a:t>
            </a:r>
            <a:r>
              <a:rPr sz="2400" b="1" spc="-5">
                <a:latin typeface="Times New Roman" panose="02020603050405020304" pitchFamily="18" charset="0"/>
                <a:cs typeface="Times New Roman" panose="02020603050405020304" pitchFamily="18" charset="0"/>
              </a:rPr>
              <a:t>Entrepreneurs:</a:t>
            </a:r>
            <a:r>
              <a:rPr lang="en-IN" sz="2400" b="1" spc="-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A </a:t>
            </a:r>
            <a:r>
              <a:rPr sz="2400" spc="-5">
                <a:latin typeface="Times New Roman" panose="02020603050405020304" pitchFamily="18" charset="0"/>
                <a:cs typeface="Times New Roman" panose="02020603050405020304" pitchFamily="18" charset="0"/>
              </a:rPr>
              <a:t>portfolio entrepreneur starts and runs </a:t>
            </a:r>
            <a:r>
              <a:rPr sz="2400">
                <a:latin typeface="Times New Roman" panose="02020603050405020304" pitchFamily="18" charset="0"/>
                <a:cs typeface="Times New Roman" panose="02020603050405020304" pitchFamily="18" charset="0"/>
              </a:rPr>
              <a:t>a </a:t>
            </a:r>
            <a:r>
              <a:rPr sz="2400" spc="-5">
                <a:latin typeface="Times New Roman" panose="02020603050405020304" pitchFamily="18" charset="0"/>
                <a:cs typeface="Times New Roman" panose="02020603050405020304" pitchFamily="18" charset="0"/>
              </a:rPr>
              <a:t>number </a:t>
            </a:r>
            <a:r>
              <a:rPr sz="2400">
                <a:latin typeface="Times New Roman" panose="02020603050405020304" pitchFamily="18" charset="0"/>
                <a:cs typeface="Times New Roman" panose="02020603050405020304" pitchFamily="18" charset="0"/>
              </a:rPr>
              <a:t>of </a:t>
            </a:r>
            <a:r>
              <a:rPr sz="2400" spc="-5">
                <a:latin typeface="Times New Roman" panose="02020603050405020304" pitchFamily="18" charset="0"/>
                <a:cs typeface="Times New Roman" panose="02020603050405020304" pitchFamily="18" charset="0"/>
              </a:rPr>
              <a:t>businesses at the same  </a:t>
            </a:r>
            <a:r>
              <a:rPr sz="2400" spc="-10">
                <a:latin typeface="Times New Roman" panose="02020603050405020304" pitchFamily="18" charset="0"/>
                <a:cs typeface="Times New Roman" panose="02020603050405020304" pitchFamily="18" charset="0"/>
              </a:rPr>
              <a:t>time.</a:t>
            </a:r>
            <a:r>
              <a:rPr lang="en-IN" sz="2400" spc="-1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It</a:t>
            </a:r>
            <a:r>
              <a:rPr sz="2400" spc="130">
                <a:latin typeface="Times New Roman" panose="02020603050405020304" pitchFamily="18" charset="0"/>
                <a:cs typeface="Times New Roman" panose="02020603050405020304" pitchFamily="18" charset="0"/>
              </a:rPr>
              <a:t> </a:t>
            </a:r>
            <a:r>
              <a:rPr sz="2400" spc="-10">
                <a:latin typeface="Times New Roman" panose="02020603050405020304" pitchFamily="18" charset="0"/>
                <a:cs typeface="Times New Roman" panose="02020603050405020304" pitchFamily="18" charset="0"/>
              </a:rPr>
              <a:t>may</a:t>
            </a:r>
            <a:r>
              <a:rPr sz="2400" spc="13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be</a:t>
            </a:r>
            <a:r>
              <a:rPr sz="2400" spc="13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a</a:t>
            </a:r>
            <a:r>
              <a:rPr sz="2400" spc="13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strategy</a:t>
            </a:r>
            <a:r>
              <a:rPr sz="2400" spc="14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of</a:t>
            </a:r>
            <a:r>
              <a:rPr sz="2400" spc="14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spreading</a:t>
            </a:r>
            <a:r>
              <a:rPr sz="2400" spc="14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risk</a:t>
            </a:r>
            <a:r>
              <a:rPr sz="2400" spc="14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or</a:t>
            </a:r>
            <a:r>
              <a:rPr sz="2400" spc="14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it</a:t>
            </a:r>
            <a:r>
              <a:rPr sz="2400" spc="114">
                <a:latin typeface="Times New Roman" panose="02020603050405020304" pitchFamily="18" charset="0"/>
                <a:cs typeface="Times New Roman" panose="02020603050405020304" pitchFamily="18" charset="0"/>
              </a:rPr>
              <a:t> </a:t>
            </a:r>
            <a:r>
              <a:rPr sz="2400" spc="-10">
                <a:latin typeface="Times New Roman" panose="02020603050405020304" pitchFamily="18" charset="0"/>
                <a:cs typeface="Times New Roman" panose="02020603050405020304" pitchFamily="18" charset="0"/>
              </a:rPr>
              <a:t>may</a:t>
            </a:r>
            <a:r>
              <a:rPr sz="2400" spc="145">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be</a:t>
            </a:r>
            <a:r>
              <a:rPr sz="2400" spc="14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that</a:t>
            </a:r>
            <a:r>
              <a:rPr sz="2400" spc="14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the</a:t>
            </a:r>
            <a:r>
              <a:rPr sz="2400" spc="145">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entrepreneur</a:t>
            </a:r>
            <a:r>
              <a:rPr sz="2400" spc="130">
                <a:latin typeface="Times New Roman" panose="02020603050405020304" pitchFamily="18" charset="0"/>
                <a:cs typeface="Times New Roman" panose="02020603050405020304" pitchFamily="18" charset="0"/>
              </a:rPr>
              <a:t> </a:t>
            </a:r>
            <a:r>
              <a:rPr sz="2400" spc="-5">
                <a:latin typeface="Times New Roman" panose="02020603050405020304" pitchFamily="18" charset="0"/>
                <a:cs typeface="Times New Roman" panose="02020603050405020304" pitchFamily="18" charset="0"/>
              </a:rPr>
              <a:t>is</a:t>
            </a:r>
            <a:r>
              <a:rPr lang="en-US" sz="2400" spc="-5">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simultaneously excited by a variety of opportunities.</a:t>
            </a:r>
          </a:p>
        </p:txBody>
      </p:sp>
      <p:sp>
        <p:nvSpPr>
          <p:cNvPr id="17" name="Date Placeholder 3"/>
          <p:cNvSpPr>
            <a:spLocks noGrp="1"/>
          </p:cNvSpPr>
          <p:nvPr>
            <p:ph type="dt" sz="half" idx="10"/>
          </p:nvPr>
        </p:nvSpPr>
        <p:spPr>
          <a:xfrm>
            <a:off x="457200" y="6356352"/>
            <a:ext cx="2133600" cy="365125"/>
          </a:xfrm>
        </p:spPr>
        <p:txBody>
          <a:bodyPr/>
          <a:lstStyle/>
          <a:p>
            <a:fld id="{9A2F2E86-4CF3-4CEE-96E8-74B05258E898}" type="datetime1">
              <a:rPr lang="en-US" smtClean="0"/>
              <a:pPr/>
              <a:t>12-Aug-25</a:t>
            </a:fld>
            <a:endParaRPr lang="en-US"/>
          </a:p>
        </p:txBody>
      </p:sp>
      <p:sp>
        <p:nvSpPr>
          <p:cNvPr id="19" name="Slide Number Placeholder 18"/>
          <p:cNvSpPr>
            <a:spLocks noGrp="1"/>
          </p:cNvSpPr>
          <p:nvPr>
            <p:ph type="sldNum" sz="quarter" idx="12"/>
          </p:nvPr>
        </p:nvSpPr>
        <p:spPr/>
        <p:txBody>
          <a:bodyPr/>
          <a:lstStyle/>
          <a:p>
            <a:fld id="{B6F15528-21DE-4FAA-801E-634DDDAF4B2B}" type="slidenum">
              <a:rPr lang="en-US" smtClean="0"/>
              <a:pPr/>
              <a:t>66</a:t>
            </a:fld>
            <a:endParaRPr lang="en-US"/>
          </a:p>
        </p:txBody>
      </p:sp>
      <p:sp>
        <p:nvSpPr>
          <p:cNvPr id="2" name="Footer Placeholder 12">
            <a:extLst>
              <a:ext uri="{FF2B5EF4-FFF2-40B4-BE49-F238E27FC236}">
                <a16:creationId xmlns:a16="http://schemas.microsoft.com/office/drawing/2014/main" id="{E525B554-EAA0-8CD2-D8B7-2FA8717D3021}"/>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10" name="Title 1"/>
          <p:cNvSpPr txBox="1">
            <a:spLocks/>
          </p:cNvSpPr>
          <p:nvPr/>
        </p:nvSpPr>
        <p:spPr>
          <a:xfrm>
            <a:off x="1524000" y="53128"/>
            <a:ext cx="7620000" cy="89608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spc="-5">
                <a:solidFill>
                  <a:schemeClr val="tx1"/>
                </a:solidFill>
                <a:latin typeface="Times New Roman" panose="02020603050405020304" pitchFamily="18" charset="0"/>
                <a:cs typeface="Times New Roman" panose="02020603050405020304" pitchFamily="18" charset="0"/>
              </a:rPr>
              <a:t>ON </a:t>
            </a:r>
            <a:r>
              <a:rPr lang="en-US" sz="3600" b="1">
                <a:solidFill>
                  <a:schemeClr val="tx1"/>
                </a:solidFill>
                <a:latin typeface="Times New Roman" panose="02020603050405020304" pitchFamily="18" charset="0"/>
                <a:cs typeface="Times New Roman" panose="02020603050405020304" pitchFamily="18" charset="0"/>
              </a:rPr>
              <a:t>THE </a:t>
            </a:r>
            <a:r>
              <a:rPr lang="en-US" sz="3600" b="1" spc="-5">
                <a:solidFill>
                  <a:schemeClr val="tx1"/>
                </a:solidFill>
                <a:latin typeface="Times New Roman" panose="02020603050405020304" pitchFamily="18" charset="0"/>
                <a:cs typeface="Times New Roman" panose="02020603050405020304" pitchFamily="18" charset="0"/>
              </a:rPr>
              <a:t>BASIS </a:t>
            </a:r>
            <a:r>
              <a:rPr lang="en-US" sz="3600" b="1">
                <a:solidFill>
                  <a:schemeClr val="tx1"/>
                </a:solidFill>
                <a:latin typeface="Times New Roman" panose="02020603050405020304" pitchFamily="18" charset="0"/>
                <a:cs typeface="Times New Roman" panose="02020603050405020304" pitchFamily="18" charset="0"/>
              </a:rPr>
              <a:t>OF </a:t>
            </a:r>
            <a:r>
              <a:rPr lang="en-US" sz="3600" b="1" spc="-5">
                <a:solidFill>
                  <a:schemeClr val="tx1"/>
                </a:solidFill>
                <a:latin typeface="Times New Roman" panose="02020603050405020304" pitchFamily="18" charset="0"/>
                <a:cs typeface="Times New Roman" panose="02020603050405020304" pitchFamily="18" charset="0"/>
              </a:rPr>
              <a:t>ENTREPRENEURIAL</a:t>
            </a:r>
            <a:r>
              <a:rPr lang="en-US" sz="3600" b="1" spc="-365">
                <a:solidFill>
                  <a:schemeClr val="tx1"/>
                </a:solidFill>
                <a:latin typeface="Times New Roman" panose="02020603050405020304" pitchFamily="18" charset="0"/>
                <a:cs typeface="Times New Roman" panose="02020603050405020304" pitchFamily="18" charset="0"/>
              </a:rPr>
              <a:t>  </a:t>
            </a:r>
            <a:r>
              <a:rPr lang="en-US" sz="3600" b="1" spc="-5">
                <a:solidFill>
                  <a:schemeClr val="tx1"/>
                </a:solidFill>
                <a:latin typeface="Times New Roman" panose="02020603050405020304" pitchFamily="18" charset="0"/>
                <a:cs typeface="Times New Roman" panose="02020603050405020304" pitchFamily="18" charset="0"/>
              </a:rPr>
              <a:t>ACTIVITY</a:t>
            </a:r>
            <a:endParaRPr lang="en-IN" sz="3600" b="1">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41585808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052736"/>
            <a:ext cx="9001000" cy="4154984"/>
          </a:xfrm>
          <a:prstGeom prst="rect">
            <a:avLst/>
          </a:prstGeom>
        </p:spPr>
        <p:txBody>
          <a:bodyPr wrap="square">
            <a:spAutoFit/>
          </a:bodyPr>
          <a:lstStyle/>
          <a:p>
            <a:pPr marL="285750" indent="-285750">
              <a:buFont typeface="Arial"/>
              <a:buChar char="•"/>
            </a:pPr>
            <a:r>
              <a:rPr lang="en-US" sz="2400">
                <a:latin typeface="Times New Roman" panose="02020603050405020304" pitchFamily="18" charset="0"/>
                <a:cs typeface="Times New Roman" panose="02020603050405020304" pitchFamily="18" charset="0"/>
              </a:rPr>
              <a:t>Discuss the classification of entrepreneurs on the basis of </a:t>
            </a:r>
          </a:p>
          <a:p>
            <a:pPr marL="342900" indent="-342900">
              <a:buFont typeface="+mj-lt"/>
              <a:buAutoNum type="alphaLcPeriod"/>
            </a:pPr>
            <a:r>
              <a:rPr lang="en-US" sz="2400">
                <a:latin typeface="Times New Roman" panose="02020603050405020304" pitchFamily="18" charset="0"/>
                <a:cs typeface="Times New Roman" panose="02020603050405020304" pitchFamily="18" charset="0"/>
              </a:rPr>
              <a:t>	Technology</a:t>
            </a:r>
          </a:p>
          <a:p>
            <a:pPr marL="342900" indent="-342900">
              <a:buFont typeface="+mj-lt"/>
              <a:buAutoNum type="alphaLcPeriod"/>
            </a:pPr>
            <a:r>
              <a:rPr lang="en-US" sz="2400">
                <a:latin typeface="Times New Roman" panose="02020603050405020304" pitchFamily="18" charset="0"/>
                <a:cs typeface="Times New Roman" panose="02020603050405020304" pitchFamily="18" charset="0"/>
              </a:rPr>
              <a:t>	Motivation</a:t>
            </a:r>
          </a:p>
          <a:p>
            <a:pPr marL="342900" indent="-342900">
              <a:buFont typeface="+mj-lt"/>
              <a:buAutoNum type="alphaLcPeriod"/>
            </a:pPr>
            <a:r>
              <a:rPr lang="en-US" sz="2400">
                <a:latin typeface="Times New Roman" panose="02020603050405020304" pitchFamily="18" charset="0"/>
                <a:cs typeface="Times New Roman" panose="02020603050405020304" pitchFamily="18" charset="0"/>
              </a:rPr>
              <a:t>	Entrepreneurial activity</a:t>
            </a:r>
          </a:p>
          <a:p>
            <a:pPr marL="342900" indent="-342900">
              <a:buFont typeface="+mj-lt"/>
              <a:buAutoNum type="alphaLcPeriod"/>
            </a:pPr>
            <a:r>
              <a:rPr lang="en-US" sz="2400">
                <a:latin typeface="Times New Roman" panose="02020603050405020304" pitchFamily="18" charset="0"/>
                <a:cs typeface="Times New Roman" panose="02020603050405020304" pitchFamily="18" charset="0"/>
              </a:rPr>
              <a:t>	Stages of business development</a:t>
            </a:r>
          </a:p>
          <a:p>
            <a:pPr marL="285750" indent="-285750">
              <a:buFont typeface="Arial"/>
              <a:buChar char="•"/>
            </a:pPr>
            <a:r>
              <a:rPr lang="en-US" sz="2400" spc="-5">
                <a:latin typeface="Times New Roman" panose="02020603050405020304" pitchFamily="18" charset="0"/>
                <a:cs typeface="Times New Roman" panose="02020603050405020304" pitchFamily="18" charset="0"/>
              </a:rPr>
              <a:t>Discuss Clarence </a:t>
            </a:r>
            <a:r>
              <a:rPr lang="en-US" sz="2400" spc="-5" err="1">
                <a:latin typeface="Times New Roman" panose="02020603050405020304" pitchFamily="18" charset="0"/>
                <a:cs typeface="Times New Roman" panose="02020603050405020304" pitchFamily="18" charset="0"/>
              </a:rPr>
              <a:t>Danhof</a:t>
            </a:r>
            <a:r>
              <a:rPr lang="en-US" sz="2400" spc="-5">
                <a:latin typeface="Times New Roman" panose="02020603050405020304" pitchFamily="18" charset="0"/>
                <a:cs typeface="Times New Roman" panose="02020603050405020304" pitchFamily="18" charset="0"/>
              </a:rPr>
              <a:t> classification of entrepreneurs </a:t>
            </a:r>
          </a:p>
          <a:p>
            <a:pPr marL="285750" indent="-285750">
              <a:buFont typeface="Arial"/>
              <a:buChar char="•"/>
            </a:pPr>
            <a:endParaRPr lang="en-US" sz="2400" spc="-5">
              <a:latin typeface="Times New Roman" panose="02020603050405020304" pitchFamily="18" charset="0"/>
              <a:cs typeface="Times New Roman" panose="02020603050405020304" pitchFamily="18" charset="0"/>
            </a:endParaRPr>
          </a:p>
          <a:p>
            <a:pPr marL="285750" indent="-285750">
              <a:buFont typeface="Arial"/>
              <a:buChar char="•"/>
            </a:pPr>
            <a:r>
              <a:rPr lang="en-US" sz="2400" spc="-5">
                <a:latin typeface="Times New Roman" panose="02020603050405020304" pitchFamily="18" charset="0"/>
                <a:cs typeface="Times New Roman" panose="02020603050405020304" pitchFamily="18" charset="0"/>
              </a:rPr>
              <a:t>Discuss Cole’s classification of entrepreneurs. </a:t>
            </a:r>
          </a:p>
          <a:p>
            <a:pPr marL="285750" indent="-285750">
              <a:buFont typeface="Arial"/>
              <a:buChar char="•"/>
            </a:pPr>
            <a:endParaRPr lang="en-US" sz="2400" spc="-5">
              <a:latin typeface="Times New Roman" panose="02020603050405020304" pitchFamily="18" charset="0"/>
              <a:cs typeface="Times New Roman" panose="02020603050405020304" pitchFamily="18" charset="0"/>
            </a:endParaRPr>
          </a:p>
          <a:p>
            <a:pPr marL="285750" indent="-285750">
              <a:buFont typeface="Arial"/>
              <a:buChar char="•"/>
            </a:pPr>
            <a:r>
              <a:rPr lang="en-US" sz="2400" spc="-5">
                <a:latin typeface="Times New Roman" panose="02020603050405020304" pitchFamily="18" charset="0"/>
                <a:cs typeface="Times New Roman" panose="02020603050405020304" pitchFamily="18" charset="0"/>
                <a:hlinkClick r:id="rId2"/>
              </a:rPr>
              <a:t>https://www.youtube.com/watch?v=MdNHgQuJPRg</a:t>
            </a:r>
            <a:r>
              <a:rPr lang="en-US" sz="2400" spc="-5">
                <a:latin typeface="Times New Roman" panose="02020603050405020304" pitchFamily="18" charset="0"/>
                <a:cs typeface="Times New Roman" panose="02020603050405020304" pitchFamily="18" charset="0"/>
              </a:rPr>
              <a:t> </a:t>
            </a:r>
            <a:endParaRPr lang="en-US" sz="2400">
              <a:latin typeface="Times New Roman" panose="02020603050405020304" pitchFamily="18" charset="0"/>
              <a:cs typeface="Times New Roman" panose="02020603050405020304" pitchFamily="18" charset="0"/>
            </a:endParaRPr>
          </a:p>
          <a:p>
            <a:pPr marL="285750" indent="-285750" algn="ctr">
              <a:buFont typeface="Arial"/>
              <a:buChar char="•"/>
            </a:pPr>
            <a:endParaRPr lang="en-US" sz="240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CBC3F86F-2E1F-40A3-A28E-3BC1BF63B359}"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67</a:t>
            </a:fld>
            <a:endParaRPr lang="en-IN"/>
          </a:p>
        </p:txBody>
      </p:sp>
      <p:sp>
        <p:nvSpPr>
          <p:cNvPr id="9" name="Title 1"/>
          <p:cNvSpPr txBox="1">
            <a:spLocks/>
          </p:cNvSpPr>
          <p:nvPr/>
        </p:nvSpPr>
        <p:spPr>
          <a:xfrm>
            <a:off x="1371600" y="112565"/>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Recap and Quiz</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Footer Placeholder 12">
            <a:extLst>
              <a:ext uri="{FF2B5EF4-FFF2-40B4-BE49-F238E27FC236}">
                <a16:creationId xmlns:a16="http://schemas.microsoft.com/office/drawing/2014/main" id="{D0639D76-9E08-4CF1-1D54-C0C65E47068E}"/>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1409828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a:t>Noida Institute of Engineering and Technology, Greater Noida</a:t>
            </a:r>
          </a:p>
        </p:txBody>
      </p:sp>
      <p:sp>
        <p:nvSpPr>
          <p:cNvPr id="3" name="Subtitle 2"/>
          <p:cNvSpPr>
            <a:spLocks noGrp="1"/>
          </p:cNvSpPr>
          <p:nvPr>
            <p:ph type="subTitle" idx="1"/>
          </p:nvPr>
        </p:nvSpPr>
        <p:spPr>
          <a:xfrm>
            <a:off x="1600200" y="986634"/>
            <a:ext cx="6400800" cy="685799"/>
          </a:xfrm>
        </p:spPr>
        <p:style>
          <a:lnRef idx="2">
            <a:schemeClr val="accent5"/>
          </a:lnRef>
          <a:fillRef idx="1">
            <a:schemeClr val="lt1"/>
          </a:fillRef>
          <a:effectRef idx="0">
            <a:schemeClr val="accent5"/>
          </a:effectRef>
          <a:fontRef idx="minor">
            <a:schemeClr val="dk1"/>
          </a:fontRef>
        </p:style>
        <p:txBody>
          <a:bodyPr>
            <a:normAutofit/>
          </a:bodyPr>
          <a:lstStyle/>
          <a:p>
            <a:r>
              <a:rPr lang="en-US" sz="2500">
                <a:solidFill>
                  <a:schemeClr val="tx1"/>
                </a:solidFill>
              </a:rPr>
              <a:t>ROLE OF ENTREPRENEURSHIP</a:t>
            </a:r>
          </a:p>
        </p:txBody>
      </p:sp>
      <p:sp>
        <p:nvSpPr>
          <p:cNvPr id="6" name="Subtitle 2"/>
          <p:cNvSpPr txBox="1">
            <a:spLocks/>
          </p:cNvSpPr>
          <p:nvPr/>
        </p:nvSpPr>
        <p:spPr>
          <a:xfrm>
            <a:off x="5715000" y="3916550"/>
            <a:ext cx="3048000" cy="126505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a:solidFill>
                  <a:schemeClr val="tx1"/>
                </a:solidFill>
              </a:rPr>
              <a:t>KSHITIJ CHANDRA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a:ln>
                  <a:noFill/>
                </a:ln>
                <a:solidFill>
                  <a:schemeClr val="tx1"/>
                </a:solidFill>
                <a:effectLst/>
                <a:uLnTx/>
                <a:uFillTx/>
                <a:latin typeface="+mn-lt"/>
                <a:ea typeface="+mn-ea"/>
                <a:cs typeface="+mn-cs"/>
              </a:rPr>
              <a:t>Department of </a:t>
            </a:r>
            <a:r>
              <a:rPr lang="en-US" sz="2400">
                <a:solidFill>
                  <a:schemeClr val="tx1"/>
                </a:solidFill>
              </a:rPr>
              <a:t>MBA</a:t>
            </a: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7"/>
            <a:ext cx="2133600" cy="365125"/>
          </a:xfrm>
        </p:spPr>
        <p:txBody>
          <a:bodyPr/>
          <a:lstStyle/>
          <a:p>
            <a:fld id="{04AB0449-9DC0-4B66-BEF1-1C38EEDB08AB}" type="datetime1">
              <a:rPr lang="en-US" smtClean="0"/>
              <a:pPr/>
              <a:t>12-Aug-25</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68</a:t>
            </a:fld>
            <a:endParaRPr lang="en-US"/>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457200" y="25146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500">
                <a:solidFill>
                  <a:schemeClr val="tx1"/>
                </a:solidFill>
              </a:rPr>
              <a:t>Session 3</a:t>
            </a:r>
            <a:endParaRPr kumimoji="0" lang="en-US" sz="2500" b="0" i="0" u="none" strike="noStrike" kern="1200" cap="none" spc="0" normalizeH="0" baseline="0" noProof="0">
              <a:ln>
                <a:noFill/>
              </a:ln>
              <a:solidFill>
                <a:schemeClr val="tx1"/>
              </a:solidFill>
              <a:effectLst/>
              <a:uLnTx/>
              <a:uFillTx/>
              <a:latin typeface="+mn-lt"/>
              <a:ea typeface="+mn-ea"/>
              <a:cs typeface="+mn-cs"/>
            </a:endParaRPr>
          </a:p>
        </p:txBody>
      </p:sp>
      <p:sp>
        <p:nvSpPr>
          <p:cNvPr id="14" name="Subtitle 2"/>
          <p:cNvSpPr txBox="1">
            <a:spLocks/>
          </p:cNvSpPr>
          <p:nvPr/>
        </p:nvSpPr>
        <p:spPr>
          <a:xfrm>
            <a:off x="457200" y="3357882"/>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a:ln>
                  <a:noFill/>
                </a:ln>
                <a:solidFill>
                  <a:schemeClr val="tx1"/>
                </a:solidFill>
                <a:effectLst/>
                <a:uLnTx/>
                <a:uFillTx/>
              </a:rPr>
              <a:t>Subject</a:t>
            </a:r>
            <a:r>
              <a:rPr kumimoji="0" lang="en-US" sz="2000" b="1" i="0" u="none" strike="noStrike" kern="1200" cap="none" spc="0" normalizeH="0" noProof="0">
                <a:ln>
                  <a:noFill/>
                </a:ln>
                <a:solidFill>
                  <a:schemeClr val="tx1"/>
                </a:solidFill>
                <a:effectLst/>
                <a:uLnTx/>
                <a:uFillTx/>
              </a:rPr>
              <a:t> Name</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noProof="0">
                <a:solidFill>
                  <a:schemeClr val="tx1"/>
                </a:solidFill>
              </a:rPr>
              <a:t>Entrepreneurship Development &amp; IPR</a:t>
            </a:r>
            <a:endParaRPr kumimoji="0" lang="en-US" sz="2000" b="1" i="0" u="none" strike="noStrike" kern="1200" cap="none" spc="0" normalizeH="0" baseline="0" noProof="0">
              <a:ln>
                <a:noFill/>
              </a:ln>
              <a:solidFill>
                <a:schemeClr val="tx1"/>
              </a:solidFill>
              <a:effectLst/>
              <a:uLnTx/>
              <a:uFillTx/>
            </a:endParaRPr>
          </a:p>
        </p:txBody>
      </p:sp>
      <p:sp>
        <p:nvSpPr>
          <p:cNvPr id="15" name="Subtitle 2"/>
          <p:cNvSpPr txBox="1">
            <a:spLocks/>
          </p:cNvSpPr>
          <p:nvPr/>
        </p:nvSpPr>
        <p:spPr>
          <a:xfrm>
            <a:off x="457200" y="459009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a:ln>
                  <a:noFill/>
                </a:ln>
                <a:solidFill>
                  <a:schemeClr val="tx1"/>
                </a:solidFill>
                <a:effectLst/>
                <a:uLnTx/>
                <a:uFillTx/>
                <a:latin typeface="+mn-lt"/>
                <a:ea typeface="+mn-ea"/>
                <a:cs typeface="+mn-cs"/>
              </a:rPr>
              <a:t>Course</a:t>
            </a:r>
            <a:r>
              <a:rPr kumimoji="0" lang="en-US" sz="2000" b="0" i="0" u="none" strike="noStrike" kern="1200" cap="none" spc="0" normalizeH="0" noProof="0">
                <a:ln>
                  <a:noFill/>
                </a:ln>
                <a:solidFill>
                  <a:schemeClr val="tx1"/>
                </a:solidFill>
                <a:effectLst/>
                <a:uLnTx/>
                <a:uFillTx/>
                <a:latin typeface="+mn-lt"/>
                <a:ea typeface="+mn-ea"/>
                <a:cs typeface="+mn-cs"/>
              </a:rPr>
              <a:t> Details</a:t>
            </a:r>
            <a:br>
              <a:rPr kumimoji="0" lang="en-US" sz="2000" b="0" i="0" u="none" strike="noStrike" kern="1200" cap="none" spc="0" normalizeH="0" noProof="0">
                <a:ln>
                  <a:noFill/>
                </a:ln>
                <a:solidFill>
                  <a:schemeClr val="tx1"/>
                </a:solidFill>
                <a:effectLst/>
                <a:uLnTx/>
                <a:uFillTx/>
                <a:latin typeface="+mn-lt"/>
                <a:ea typeface="+mn-ea"/>
                <a:cs typeface="+mn-cs"/>
              </a:rPr>
            </a:br>
            <a:r>
              <a:rPr lang="en-US" sz="2000">
                <a:solidFill>
                  <a:schemeClr val="tx1"/>
                </a:solidFill>
              </a:rPr>
              <a:t>B. TECH 7</a:t>
            </a:r>
            <a:r>
              <a:rPr lang="en-US" sz="2000" baseline="30000">
                <a:solidFill>
                  <a:schemeClr val="tx1"/>
                </a:solidFill>
              </a:rPr>
              <a:t>TH</a:t>
            </a:r>
            <a:r>
              <a:rPr lang="en-US" sz="2000">
                <a:solidFill>
                  <a:schemeClr val="tx1"/>
                </a:solidFill>
              </a:rPr>
              <a:t> </a:t>
            </a:r>
            <a:r>
              <a:rPr kumimoji="0" lang="en-US" sz="2000" b="0" i="0" u="none" strike="noStrike" kern="1200" cap="none" spc="0" normalizeH="0" noProof="0">
                <a:ln>
                  <a:noFill/>
                </a:ln>
                <a:solidFill>
                  <a:schemeClr val="tx1"/>
                </a:solidFill>
                <a:effectLst/>
                <a:uLnTx/>
                <a:uFillTx/>
                <a:latin typeface="+mn-lt"/>
                <a:ea typeface="+mn-ea"/>
                <a:cs typeface="+mn-cs"/>
              </a:rPr>
              <a:t> Semester</a:t>
            </a:r>
            <a:endParaRPr kumimoji="0" lang="en-US" sz="2000" b="0" i="0" u="none" strike="noStrike" kern="1200" cap="none" spc="0" normalizeH="0" baseline="0" noProof="0">
              <a:ln>
                <a:noFill/>
              </a:ln>
              <a:solidFill>
                <a:schemeClr val="tx1"/>
              </a:solidFill>
              <a:effectLst/>
              <a:uLnTx/>
              <a:uFillTx/>
              <a:latin typeface="+mn-lt"/>
              <a:ea typeface="+mn-ea"/>
              <a:cs typeface="+mn-cs"/>
            </a:endParaRPr>
          </a:p>
        </p:txBody>
      </p:sp>
      <p:sp>
        <p:nvSpPr>
          <p:cNvPr id="4" name="Footer Placeholder 12">
            <a:extLst>
              <a:ext uri="{FF2B5EF4-FFF2-40B4-BE49-F238E27FC236}">
                <a16:creationId xmlns:a16="http://schemas.microsoft.com/office/drawing/2014/main" id="{87867F22-F4AC-7C5A-A6FE-BDD4B850C6EF}"/>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13" name="Rectangle 12">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6177598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a:p>
        </p:txBody>
      </p:sp>
      <p:sp>
        <p:nvSpPr>
          <p:cNvPr id="3" name="Date Placeholder 2"/>
          <p:cNvSpPr>
            <a:spLocks noGrp="1"/>
          </p:cNvSpPr>
          <p:nvPr>
            <p:ph type="dt" sz="half" idx="10"/>
          </p:nvPr>
        </p:nvSpPr>
        <p:spPr/>
        <p:txBody>
          <a:bodyPr/>
          <a:lstStyle/>
          <a:p>
            <a:fld id="{21FE1FE2-6BA2-4978-B1B6-76D451B0ACDC}"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69</a:t>
            </a:fld>
            <a:endParaRPr lang="en-IN"/>
          </a:p>
        </p:txBody>
      </p:sp>
      <p:sp>
        <p:nvSpPr>
          <p:cNvPr id="9" name="Title 1"/>
          <p:cNvSpPr txBox="1">
            <a:spLocks/>
          </p:cNvSpPr>
          <p:nvPr/>
        </p:nvSpPr>
        <p:spPr>
          <a:xfrm>
            <a:off x="1619671" y="148447"/>
            <a:ext cx="7303451"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noProof="0">
                <a:latin typeface="Times New Roman" panose="02020603050405020304" pitchFamily="18" charset="0"/>
                <a:cs typeface="Times New Roman" panose="02020603050405020304" pitchFamily="18" charset="0"/>
              </a:rPr>
              <a:t>Pre-cap</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Rectangle 3"/>
          <p:cNvSpPr/>
          <p:nvPr/>
        </p:nvSpPr>
        <p:spPr>
          <a:xfrm>
            <a:off x="323528" y="1052736"/>
            <a:ext cx="8712968" cy="3416320"/>
          </a:xfrm>
          <a:prstGeom prst="rect">
            <a:avLst/>
          </a:prstGeom>
        </p:spPr>
        <p:txBody>
          <a:bodyPr wrap="square">
            <a:spAutoFit/>
          </a:bodyPr>
          <a:lstStyle/>
          <a:p>
            <a:pPr marL="285750" indent="-285750">
              <a:buFont typeface="Arial"/>
              <a:buChar char="•"/>
            </a:pPr>
            <a:r>
              <a:rPr lang="en-US" sz="2400">
                <a:latin typeface="Times New Roman" panose="02020603050405020304" pitchFamily="18" charset="0"/>
                <a:cs typeface="Times New Roman" panose="02020603050405020304" pitchFamily="18" charset="0"/>
              </a:rPr>
              <a:t>The classification of entrepreneurs on the basis of </a:t>
            </a:r>
          </a:p>
          <a:p>
            <a:pPr marL="342900" indent="-342900">
              <a:buFont typeface="+mj-lt"/>
              <a:buAutoNum type="alphaLcPeriod"/>
            </a:pPr>
            <a:r>
              <a:rPr lang="en-US" sz="2400">
                <a:latin typeface="Times New Roman" panose="02020603050405020304" pitchFamily="18" charset="0"/>
                <a:cs typeface="Times New Roman" panose="02020603050405020304" pitchFamily="18" charset="0"/>
              </a:rPr>
              <a:t>Technology</a:t>
            </a:r>
          </a:p>
          <a:p>
            <a:pPr marL="342900" indent="-342900">
              <a:buFont typeface="+mj-lt"/>
              <a:buAutoNum type="alphaLcPeriod"/>
            </a:pPr>
            <a:r>
              <a:rPr lang="en-US" sz="2400">
                <a:latin typeface="Times New Roman" panose="02020603050405020304" pitchFamily="18" charset="0"/>
                <a:cs typeface="Times New Roman" panose="02020603050405020304" pitchFamily="18" charset="0"/>
              </a:rPr>
              <a:t>Motivation</a:t>
            </a:r>
          </a:p>
          <a:p>
            <a:pPr marL="342900" indent="-342900">
              <a:buFont typeface="+mj-lt"/>
              <a:buAutoNum type="alphaLcPeriod"/>
            </a:pPr>
            <a:r>
              <a:rPr lang="en-US" sz="2400">
                <a:latin typeface="Times New Roman" panose="02020603050405020304" pitchFamily="18" charset="0"/>
                <a:cs typeface="Times New Roman" panose="02020603050405020304" pitchFamily="18" charset="0"/>
              </a:rPr>
              <a:t>Entrepreneurial activity</a:t>
            </a:r>
          </a:p>
          <a:p>
            <a:pPr marL="342900" indent="-342900">
              <a:buFont typeface="+mj-lt"/>
              <a:buAutoNum type="alphaLcPeriod"/>
            </a:pPr>
            <a:r>
              <a:rPr lang="en-US" sz="2400">
                <a:latin typeface="Times New Roman" panose="02020603050405020304" pitchFamily="18" charset="0"/>
                <a:cs typeface="Times New Roman" panose="02020603050405020304" pitchFamily="18" charset="0"/>
              </a:rPr>
              <a:t>Stages of business development</a:t>
            </a:r>
          </a:p>
          <a:p>
            <a:endParaRPr lang="en-US" sz="2400">
              <a:latin typeface="Times New Roman" panose="02020603050405020304" pitchFamily="18" charset="0"/>
              <a:cs typeface="Times New Roman" panose="02020603050405020304" pitchFamily="18" charset="0"/>
            </a:endParaRPr>
          </a:p>
          <a:p>
            <a:pPr marL="285750" indent="-285750">
              <a:buFont typeface="Arial"/>
              <a:buChar char="•"/>
            </a:pPr>
            <a:r>
              <a:rPr lang="en-US" sz="2400" spc="-5">
                <a:latin typeface="Times New Roman" panose="02020603050405020304" pitchFamily="18" charset="0"/>
                <a:cs typeface="Times New Roman" panose="02020603050405020304" pitchFamily="18" charset="0"/>
              </a:rPr>
              <a:t>Clarence Danhof classification of entrepreneurs </a:t>
            </a:r>
          </a:p>
          <a:p>
            <a:pPr marL="285750" indent="-285750">
              <a:buFont typeface="Arial"/>
              <a:buChar char="•"/>
            </a:pPr>
            <a:endParaRPr lang="en-US" sz="2400" spc="-5">
              <a:latin typeface="Times New Roman" panose="02020603050405020304" pitchFamily="18" charset="0"/>
              <a:cs typeface="Times New Roman" panose="02020603050405020304" pitchFamily="18" charset="0"/>
            </a:endParaRPr>
          </a:p>
          <a:p>
            <a:pPr marL="285750" indent="-285750">
              <a:buFont typeface="Arial"/>
              <a:buChar char="•"/>
            </a:pPr>
            <a:r>
              <a:rPr lang="en-US" sz="2400" spc="-5">
                <a:latin typeface="Times New Roman" panose="02020603050405020304" pitchFamily="18" charset="0"/>
                <a:cs typeface="Times New Roman" panose="02020603050405020304" pitchFamily="18" charset="0"/>
              </a:rPr>
              <a:t>Cole’s classification of entrepreneurs</a:t>
            </a:r>
            <a:endParaRPr lang="en-US" sz="240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6204A93C-EF05-FCFB-CCA2-058871A94629}"/>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8310204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1" y="2297908"/>
            <a:ext cx="8202487" cy="843060"/>
          </a:xfrm>
          <a:prstGeom prst="rect">
            <a:avLst/>
          </a:prstGeom>
        </p:spPr>
        <p:txBody>
          <a:bodyPr wrap="square">
            <a:spAutoFit/>
          </a:bodyPr>
          <a:lstStyle/>
          <a:p>
            <a:pPr algn="ctr"/>
            <a:r>
              <a:rPr lang="en-US" sz="2400">
                <a:latin typeface="Times New Roman" panose="02020603050405020304" pitchFamily="18" charset="0"/>
                <a:cs typeface="Times New Roman" panose="02020603050405020304" pitchFamily="18" charset="0"/>
              </a:rPr>
              <a:t>Discuss the evolution of the concept of entrepreneurship based on various theories</a:t>
            </a:r>
          </a:p>
        </p:txBody>
      </p:sp>
      <p:sp>
        <p:nvSpPr>
          <p:cNvPr id="3" name="Date Placeholder 2"/>
          <p:cNvSpPr>
            <a:spLocks noGrp="1"/>
          </p:cNvSpPr>
          <p:nvPr>
            <p:ph type="dt" sz="half" idx="10"/>
          </p:nvPr>
        </p:nvSpPr>
        <p:spPr/>
        <p:txBody>
          <a:bodyPr/>
          <a:lstStyle/>
          <a:p>
            <a:fld id="{F26C8002-EB94-4C36-BF04-DB5C407C781A}"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70</a:t>
            </a:fld>
            <a:endParaRPr lang="en-IN"/>
          </a:p>
        </p:txBody>
      </p:sp>
      <p:sp>
        <p:nvSpPr>
          <p:cNvPr id="9" name="Title 1"/>
          <p:cNvSpPr txBox="1">
            <a:spLocks/>
          </p:cNvSpPr>
          <p:nvPr/>
        </p:nvSpPr>
        <p:spPr>
          <a:xfrm>
            <a:off x="1835696" y="131366"/>
            <a:ext cx="693988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noProof="0">
                <a:latin typeface="Times New Roman" panose="02020603050405020304" pitchFamily="18" charset="0"/>
                <a:cs typeface="Times New Roman" panose="02020603050405020304" pitchFamily="18" charset="0"/>
              </a:rPr>
              <a:t>Session objective (CO)</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Footer Placeholder 12">
            <a:extLst>
              <a:ext uri="{FF2B5EF4-FFF2-40B4-BE49-F238E27FC236}">
                <a16:creationId xmlns:a16="http://schemas.microsoft.com/office/drawing/2014/main" id="{BE3650ED-B64A-CE25-3812-F15265B576A0}"/>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6369876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426" y="1675601"/>
            <a:ext cx="8615149" cy="4647426"/>
          </a:xfrm>
          <a:prstGeom prst="rect">
            <a:avLst/>
          </a:prstGeom>
        </p:spPr>
        <p:txBody>
          <a:bodyPr wrap="square">
            <a:spAutoFit/>
          </a:bodyPr>
          <a:lstStyle/>
          <a:p>
            <a:pPr marL="342900" indent="-342900">
              <a:buFont typeface="Arial"/>
              <a:buChar char="•"/>
            </a:pPr>
            <a:r>
              <a:rPr lang="en-US" sz="2400">
                <a:latin typeface="Times New Roman" panose="02020603050405020304" pitchFamily="18" charset="0"/>
                <a:cs typeface="Times New Roman" panose="02020603050405020304" pitchFamily="18" charset="0"/>
              </a:rPr>
              <a:t>Richard </a:t>
            </a:r>
            <a:r>
              <a:rPr lang="en-US" sz="2400" err="1">
                <a:latin typeface="Times New Roman" panose="02020603050405020304" pitchFamily="18" charset="0"/>
                <a:cs typeface="Times New Roman" panose="02020603050405020304" pitchFamily="18" charset="0"/>
              </a:rPr>
              <a:t>Cantillon</a:t>
            </a:r>
            <a:r>
              <a:rPr lang="en-US" sz="2400">
                <a:latin typeface="Times New Roman" panose="02020603050405020304" pitchFamily="18" charset="0"/>
                <a:cs typeface="Times New Roman" panose="02020603050405020304" pitchFamily="18" charset="0"/>
              </a:rPr>
              <a:t> (1680-1734) was the first of the major economic thinkers to define the entrepreneur as an agent who buys means of production at certain prices to combine them into a new product. He classified </a:t>
            </a:r>
            <a:r>
              <a:rPr lang="en-US" sz="2400" b="1">
                <a:latin typeface="Times New Roman" panose="02020603050405020304" pitchFamily="18" charset="0"/>
                <a:cs typeface="Times New Roman" panose="02020603050405020304" pitchFamily="18" charset="0"/>
              </a:rPr>
              <a:t>economic agents </a:t>
            </a:r>
            <a:r>
              <a:rPr lang="en-US" sz="2400">
                <a:latin typeface="Times New Roman" panose="02020603050405020304" pitchFamily="18" charset="0"/>
                <a:cs typeface="Times New Roman" panose="02020603050405020304" pitchFamily="18" charset="0"/>
              </a:rPr>
              <a:t>into landowners, hirelings, and </a:t>
            </a:r>
            <a:r>
              <a:rPr lang="en-US" sz="2400" b="1">
                <a:latin typeface="Times New Roman" panose="02020603050405020304" pitchFamily="18" charset="0"/>
                <a:cs typeface="Times New Roman" panose="02020603050405020304" pitchFamily="18" charset="0"/>
              </a:rPr>
              <a:t>entrepreneurs</a:t>
            </a:r>
            <a:r>
              <a:rPr lang="en-US" sz="2400">
                <a:latin typeface="Times New Roman" panose="02020603050405020304" pitchFamily="18" charset="0"/>
                <a:cs typeface="Times New Roman" panose="02020603050405020304" pitchFamily="18" charset="0"/>
              </a:rPr>
              <a:t>, and considered the entrepreneur as the most active among these three agents, connecting the producers with customers.</a:t>
            </a:r>
          </a:p>
          <a:p>
            <a:endParaRPr lang="en-US" sz="2400">
              <a:latin typeface="Times New Roman" panose="02020603050405020304" pitchFamily="18" charset="0"/>
              <a:cs typeface="Times New Roman" panose="02020603050405020304" pitchFamily="18" charset="0"/>
            </a:endParaRPr>
          </a:p>
          <a:p>
            <a:pPr marL="342900" indent="-342900">
              <a:buFont typeface="Arial"/>
              <a:buChar char="•"/>
            </a:pPr>
            <a:r>
              <a:rPr lang="en-US" sz="2400">
                <a:latin typeface="Times New Roman" panose="02020603050405020304" pitchFamily="18" charset="0"/>
                <a:cs typeface="Times New Roman" panose="02020603050405020304" pitchFamily="18" charset="0"/>
              </a:rPr>
              <a:t>Jean </a:t>
            </a:r>
            <a:r>
              <a:rPr lang="en-US" sz="2400" err="1">
                <a:latin typeface="Times New Roman" panose="02020603050405020304" pitchFamily="18" charset="0"/>
                <a:cs typeface="Times New Roman" panose="02020603050405020304" pitchFamily="18" charset="0"/>
              </a:rPr>
              <a:t>Baptise</a:t>
            </a:r>
            <a:r>
              <a:rPr lang="en-US" sz="2400">
                <a:latin typeface="Times New Roman" panose="02020603050405020304" pitchFamily="18" charset="0"/>
                <a:cs typeface="Times New Roman" panose="02020603050405020304" pitchFamily="18" charset="0"/>
              </a:rPr>
              <a:t> Say (1767-1832) improved </a:t>
            </a:r>
            <a:r>
              <a:rPr lang="en-US" sz="2400" err="1">
                <a:latin typeface="Times New Roman" panose="02020603050405020304" pitchFamily="18" charset="0"/>
                <a:cs typeface="Times New Roman" panose="02020603050405020304" pitchFamily="18" charset="0"/>
              </a:rPr>
              <a:t>Cantillion's</a:t>
            </a:r>
            <a:r>
              <a:rPr lang="en-US" sz="2400">
                <a:latin typeface="Times New Roman" panose="02020603050405020304" pitchFamily="18" charset="0"/>
                <a:cs typeface="Times New Roman" panose="02020603050405020304" pitchFamily="18" charset="0"/>
              </a:rPr>
              <a:t> definition by adding that the entrepreneur </a:t>
            </a:r>
            <a:r>
              <a:rPr lang="en-US" sz="2400" b="1">
                <a:latin typeface="Times New Roman" panose="02020603050405020304" pitchFamily="18" charset="0"/>
                <a:cs typeface="Times New Roman" panose="02020603050405020304" pitchFamily="18" charset="0"/>
              </a:rPr>
              <a:t>brings people together to build a productive item</a:t>
            </a:r>
            <a:r>
              <a:rPr lang="en-US" sz="2000"/>
              <a:t>.	</a:t>
            </a:r>
            <a:r>
              <a:rPr lang="en-US" sz="2800"/>
              <a:t>		</a:t>
            </a:r>
          </a:p>
          <a:p>
            <a:endParaRPr lang="en-US" sz="2800"/>
          </a:p>
        </p:txBody>
      </p:sp>
      <p:sp>
        <p:nvSpPr>
          <p:cNvPr id="3" name="Date Placeholder 2"/>
          <p:cNvSpPr>
            <a:spLocks noGrp="1"/>
          </p:cNvSpPr>
          <p:nvPr>
            <p:ph type="dt" sz="half" idx="10"/>
          </p:nvPr>
        </p:nvSpPr>
        <p:spPr/>
        <p:txBody>
          <a:bodyPr/>
          <a:lstStyle/>
          <a:p>
            <a:fld id="{D3E857A3-296D-4E8B-9017-2D4B856759BC}"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71</a:t>
            </a:fld>
            <a:endParaRPr lang="en-IN"/>
          </a:p>
        </p:txBody>
      </p:sp>
      <p:sp>
        <p:nvSpPr>
          <p:cNvPr id="12" name="Title 1"/>
          <p:cNvSpPr txBox="1">
            <a:spLocks/>
          </p:cNvSpPr>
          <p:nvPr/>
        </p:nvSpPr>
        <p:spPr>
          <a:xfrm>
            <a:off x="1447801" y="65683"/>
            <a:ext cx="719796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a:latin typeface="Times New Roman" panose="02020603050405020304" pitchFamily="18" charset="0"/>
                <a:ea typeface="Tahoma" panose="020B0604030504040204" pitchFamily="34" charset="0"/>
                <a:cs typeface="Times New Roman" panose="02020603050405020304" pitchFamily="18" charset="0"/>
              </a:rPr>
              <a:t>Theories Of Entrepreneurship</a:t>
            </a:r>
          </a:p>
        </p:txBody>
      </p:sp>
      <p:sp>
        <p:nvSpPr>
          <p:cNvPr id="4" name="Footer Placeholder 12">
            <a:extLst>
              <a:ext uri="{FF2B5EF4-FFF2-40B4-BE49-F238E27FC236}">
                <a16:creationId xmlns:a16="http://schemas.microsoft.com/office/drawing/2014/main" id="{64CD1F66-F0CF-E44C-1196-ED0C3EA69869}"/>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6308373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a:latin typeface="Times New Roman" panose="02020603050405020304" pitchFamily="18" charset="0"/>
                <a:cs typeface="Times New Roman" panose="02020603050405020304" pitchFamily="18" charset="0"/>
              </a:rPr>
              <a:t>The concept of entrepreneurship has undergone major changes over more than two and half centuries.</a:t>
            </a:r>
          </a:p>
          <a:p>
            <a:r>
              <a:rPr lang="en-US" sz="2400">
                <a:latin typeface="Times New Roman" panose="02020603050405020304" pitchFamily="18" charset="0"/>
                <a:cs typeface="Times New Roman" panose="02020603050405020304" pitchFamily="18" charset="0"/>
              </a:rPr>
              <a:t>There are five stages in the evolution of Entrepreneurship</a:t>
            </a:r>
            <a:r>
              <a:rPr lang="en-US"/>
              <a:t>.</a:t>
            </a:r>
          </a:p>
        </p:txBody>
      </p:sp>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619672" y="44624"/>
            <a:ext cx="7458146" cy="69902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a:latin typeface="Times New Roman" panose="02020603050405020304" pitchFamily="18" charset="0"/>
                <a:ea typeface="Tahoma" panose="020B0604030504040204" pitchFamily="34" charset="0"/>
                <a:cs typeface="Times New Roman" panose="02020603050405020304" pitchFamily="18" charset="0"/>
              </a:rPr>
              <a:t>Theories Of Entrepreneurship</a:t>
            </a:r>
          </a:p>
        </p:txBody>
      </p:sp>
      <p:sp>
        <p:nvSpPr>
          <p:cNvPr id="2" name="Footer Placeholder 12">
            <a:extLst>
              <a:ext uri="{FF2B5EF4-FFF2-40B4-BE49-F238E27FC236}">
                <a16:creationId xmlns:a16="http://schemas.microsoft.com/office/drawing/2014/main" id="{0C9DE29B-B955-2FE5-C558-C11DBBD12F40}"/>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pic>
        <p:nvPicPr>
          <p:cNvPr id="1026" name="Picture 2"/>
          <p:cNvPicPr>
            <a:picLocks noChangeAspect="1" noChangeArrowheads="1"/>
          </p:cNvPicPr>
          <p:nvPr/>
        </p:nvPicPr>
        <p:blipFill>
          <a:blip r:embed="rId2"/>
          <a:srcRect l="47218" t="16601" r="25329" b="6250"/>
          <a:stretch>
            <a:fillRect/>
          </a:stretch>
        </p:blipFill>
        <p:spPr bwMode="auto">
          <a:xfrm>
            <a:off x="2786050" y="357166"/>
            <a:ext cx="3571900" cy="5643578"/>
          </a:xfrm>
          <a:prstGeom prst="rect">
            <a:avLst/>
          </a:prstGeom>
          <a:noFill/>
          <a:ln w="9525">
            <a:noFill/>
            <a:miter lim="800000"/>
            <a:headEnd/>
            <a:tailEnd/>
          </a:ln>
          <a:effectLst/>
        </p:spPr>
      </p:pic>
      <p:sp>
        <p:nvSpPr>
          <p:cNvPr id="2" name="Footer Placeholder 12">
            <a:extLst>
              <a:ext uri="{FF2B5EF4-FFF2-40B4-BE49-F238E27FC236}">
                <a16:creationId xmlns:a16="http://schemas.microsoft.com/office/drawing/2014/main" id="{C0357ED1-E8AE-D368-268E-FA943A4823D8}"/>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323" y="921661"/>
            <a:ext cx="8535322" cy="5354658"/>
          </a:xfrm>
        </p:spPr>
        <p:txBody>
          <a:bodyPr>
            <a:noAutofit/>
          </a:bodyPr>
          <a:lstStyle/>
          <a:p>
            <a:r>
              <a:rPr lang="en-US" sz="2400">
                <a:latin typeface="Times New Roman" panose="02020603050405020304" pitchFamily="18" charset="0"/>
                <a:cs typeface="Times New Roman" panose="02020603050405020304" pitchFamily="18" charset="0"/>
              </a:rPr>
              <a:t>The different opinions on the emergence of entrepreneurship may be classified into three categories:</a:t>
            </a:r>
          </a:p>
          <a:p>
            <a:r>
              <a:rPr lang="en-US" sz="2400">
                <a:latin typeface="Times New Roman" panose="02020603050405020304" pitchFamily="18" charset="0"/>
                <a:cs typeface="Times New Roman" panose="02020603050405020304" pitchFamily="18" charset="0"/>
              </a:rPr>
              <a:t> A. Economist’s view - Economic incentives are the main drive for the entrepreneurial activities. They firmly believe that a well development market and efficient economic policies foster entrepreneurship a big way.</a:t>
            </a:r>
          </a:p>
          <a:p>
            <a:r>
              <a:rPr lang="en-US" sz="2400">
                <a:latin typeface="Times New Roman" panose="02020603050405020304" pitchFamily="18" charset="0"/>
                <a:cs typeface="Times New Roman" panose="02020603050405020304" pitchFamily="18" charset="0"/>
              </a:rPr>
              <a:t>B. Sociologist’s view - . Sociologists argue that entrepreneurship is most likely to emerge under a specific social culture</a:t>
            </a:r>
          </a:p>
          <a:p>
            <a:r>
              <a:rPr lang="en-US" sz="2400">
                <a:latin typeface="Times New Roman" panose="02020603050405020304" pitchFamily="18" charset="0"/>
                <a:cs typeface="Times New Roman" panose="02020603050405020304" pitchFamily="18" charset="0"/>
              </a:rPr>
              <a:t>C. Psychologist’s view- there are different psychological factors like will to conquer, need for achievement, or withdrawal of status.</a:t>
            </a:r>
          </a:p>
        </p:txBody>
      </p:sp>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946031" y="0"/>
            <a:ext cx="719796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a:latin typeface="Times New Roman" panose="02020603050405020304" pitchFamily="18" charset="0"/>
                <a:cs typeface="Times New Roman" panose="02020603050405020304" pitchFamily="18" charset="0"/>
              </a:rPr>
              <a:t>Theories Of Entrepreneurship</a:t>
            </a:r>
          </a:p>
        </p:txBody>
      </p:sp>
      <p:sp>
        <p:nvSpPr>
          <p:cNvPr id="2" name="Footer Placeholder 12">
            <a:extLst>
              <a:ext uri="{FF2B5EF4-FFF2-40B4-BE49-F238E27FC236}">
                <a16:creationId xmlns:a16="http://schemas.microsoft.com/office/drawing/2014/main" id="{164BFFB5-A8FE-7885-D0F4-D6860CEB80E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2984"/>
            <a:ext cx="8229600" cy="4983181"/>
          </a:xfrm>
        </p:spPr>
        <p:txBody>
          <a:bodyPr>
            <a:normAutofit fontScale="77500" lnSpcReduction="20000"/>
          </a:bodyPr>
          <a:lstStyle/>
          <a:p>
            <a:r>
              <a:rPr lang="en-US" sz="3100">
                <a:latin typeface="Times New Roman" panose="02020603050405020304" pitchFamily="18" charset="0"/>
                <a:cs typeface="Times New Roman" panose="02020603050405020304" pitchFamily="18" charset="0"/>
              </a:rPr>
              <a:t>The following theories of entrepreneurship propounded by the different eminent social thinkers: </a:t>
            </a:r>
          </a:p>
          <a:p>
            <a:pPr>
              <a:buNone/>
            </a:pPr>
            <a:r>
              <a:rPr lang="en-US" sz="3100">
                <a:latin typeface="Times New Roman" panose="02020603050405020304" pitchFamily="18" charset="0"/>
                <a:cs typeface="Times New Roman" panose="02020603050405020304" pitchFamily="18" charset="0"/>
              </a:rPr>
              <a:t>1. Innovation Theory of Schumpeter</a:t>
            </a:r>
          </a:p>
          <a:p>
            <a:pPr>
              <a:buNone/>
            </a:pPr>
            <a:r>
              <a:rPr lang="en-US" sz="3100">
                <a:latin typeface="Times New Roman" panose="02020603050405020304" pitchFamily="18" charset="0"/>
                <a:cs typeface="Times New Roman" panose="02020603050405020304" pitchFamily="18" charset="0"/>
              </a:rPr>
              <a:t>2. Need for Achievement Theory of McClelland </a:t>
            </a:r>
          </a:p>
          <a:p>
            <a:pPr>
              <a:buNone/>
            </a:pPr>
            <a:r>
              <a:rPr lang="en-US" sz="3100">
                <a:latin typeface="Times New Roman" panose="02020603050405020304" pitchFamily="18" charset="0"/>
                <a:cs typeface="Times New Roman" panose="02020603050405020304" pitchFamily="18" charset="0"/>
              </a:rPr>
              <a:t>3. </a:t>
            </a:r>
            <a:r>
              <a:rPr lang="en-US" sz="3100" err="1">
                <a:latin typeface="Times New Roman" panose="02020603050405020304" pitchFamily="18" charset="0"/>
                <a:cs typeface="Times New Roman" panose="02020603050405020304" pitchFamily="18" charset="0"/>
              </a:rPr>
              <a:t>Leibenstein’s</a:t>
            </a:r>
            <a:r>
              <a:rPr lang="en-US" sz="3100">
                <a:latin typeface="Times New Roman" panose="02020603050405020304" pitchFamily="18" charset="0"/>
                <a:cs typeface="Times New Roman" panose="02020603050405020304" pitchFamily="18" charset="0"/>
              </a:rPr>
              <a:t> X-efficiency Theory </a:t>
            </a:r>
          </a:p>
          <a:p>
            <a:pPr>
              <a:buNone/>
            </a:pPr>
            <a:r>
              <a:rPr lang="en-US" sz="3100">
                <a:latin typeface="Times New Roman" panose="02020603050405020304" pitchFamily="18" charset="0"/>
                <a:cs typeface="Times New Roman" panose="02020603050405020304" pitchFamily="18" charset="0"/>
              </a:rPr>
              <a:t>4. Risk Bearing Theory of knight. </a:t>
            </a:r>
          </a:p>
          <a:p>
            <a:pPr>
              <a:buNone/>
            </a:pPr>
            <a:r>
              <a:rPr lang="en-US" sz="3100">
                <a:latin typeface="Times New Roman" panose="02020603050405020304" pitchFamily="18" charset="0"/>
                <a:cs typeface="Times New Roman" panose="02020603050405020304" pitchFamily="18" charset="0"/>
              </a:rPr>
              <a:t>5. Max Weber’s Theory of Entrepreneurial Growth </a:t>
            </a:r>
          </a:p>
          <a:p>
            <a:pPr>
              <a:buNone/>
            </a:pPr>
            <a:r>
              <a:rPr lang="en-US" sz="3100">
                <a:latin typeface="Times New Roman" panose="02020603050405020304" pitchFamily="18" charset="0"/>
                <a:cs typeface="Times New Roman" panose="02020603050405020304" pitchFamily="18" charset="0"/>
              </a:rPr>
              <a:t>6. Hagen’s Theory of Entrepreneurship </a:t>
            </a:r>
          </a:p>
          <a:p>
            <a:pPr>
              <a:buNone/>
            </a:pPr>
            <a:r>
              <a:rPr lang="en-US" sz="3100">
                <a:latin typeface="Times New Roman" panose="02020603050405020304" pitchFamily="18" charset="0"/>
                <a:cs typeface="Times New Roman" panose="02020603050405020304" pitchFamily="18" charset="0"/>
              </a:rPr>
              <a:t>7. Thomas Cochran’s Theory of Cultural Values </a:t>
            </a:r>
          </a:p>
          <a:p>
            <a:pPr>
              <a:buNone/>
            </a:pPr>
            <a:r>
              <a:rPr lang="en-US" sz="3100">
                <a:latin typeface="Times New Roman" panose="02020603050405020304" pitchFamily="18" charset="0"/>
                <a:cs typeface="Times New Roman" panose="02020603050405020304" pitchFamily="18" charset="0"/>
              </a:rPr>
              <a:t>8. Theory of Change in Group Level Pattern </a:t>
            </a:r>
          </a:p>
          <a:p>
            <a:pPr>
              <a:buNone/>
            </a:pPr>
            <a:r>
              <a:rPr lang="en-US" sz="3100">
                <a:latin typeface="Times New Roman" panose="02020603050405020304" pitchFamily="18" charset="0"/>
                <a:cs typeface="Times New Roman" panose="02020603050405020304" pitchFamily="18" charset="0"/>
              </a:rPr>
              <a:t>9. Economic Theory of Entrepreneurship </a:t>
            </a:r>
          </a:p>
          <a:p>
            <a:pPr>
              <a:buNone/>
            </a:pPr>
            <a:r>
              <a:rPr lang="en-US" sz="3100">
                <a:latin typeface="Times New Roman" panose="02020603050405020304" pitchFamily="18" charset="0"/>
                <a:cs typeface="Times New Roman" panose="02020603050405020304" pitchFamily="18" charset="0"/>
              </a:rPr>
              <a:t>10. Exposure Theory of Entrepreneurship. </a:t>
            </a:r>
          </a:p>
          <a:p>
            <a:pPr>
              <a:buNone/>
            </a:pPr>
            <a:r>
              <a:rPr lang="en-US" sz="3100">
                <a:latin typeface="Times New Roman" panose="02020603050405020304" pitchFamily="18" charset="0"/>
                <a:cs typeface="Times New Roman" panose="02020603050405020304" pitchFamily="18" charset="0"/>
              </a:rPr>
              <a:t>11. Political System Theory for Entrepreneurial Growth</a:t>
            </a:r>
            <a:r>
              <a:rPr lang="en-US"/>
              <a:t>.</a:t>
            </a:r>
          </a:p>
        </p:txBody>
      </p:sp>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946031" y="0"/>
            <a:ext cx="719796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a:latin typeface="Times New Roman" panose="02020603050405020304" pitchFamily="18" charset="0"/>
                <a:cs typeface="Times New Roman" panose="02020603050405020304" pitchFamily="18" charset="0"/>
              </a:rPr>
              <a:t>Theories Of Entrepreneurship</a:t>
            </a:r>
          </a:p>
        </p:txBody>
      </p:sp>
      <p:sp>
        <p:nvSpPr>
          <p:cNvPr id="2" name="Footer Placeholder 12">
            <a:extLst>
              <a:ext uri="{FF2B5EF4-FFF2-40B4-BE49-F238E27FC236}">
                <a16:creationId xmlns:a16="http://schemas.microsoft.com/office/drawing/2014/main" id="{6F9A2AB7-BB4F-893F-0BFE-7CEA0CEAD892}"/>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197620"/>
            <a:ext cx="9073007" cy="4462760"/>
          </a:xfrm>
          <a:prstGeom prst="rect">
            <a:avLst/>
          </a:prstGeom>
        </p:spPr>
        <p:txBody>
          <a:bodyPr wrap="square">
            <a:spAutoFit/>
          </a:bodyPr>
          <a:lstStyle/>
          <a:p>
            <a:r>
              <a:rPr lang="en-US" sz="2400">
                <a:latin typeface="Times New Roman" panose="02020603050405020304" pitchFamily="18" charset="0"/>
                <a:cs typeface="Times New Roman" panose="02020603050405020304" pitchFamily="18" charset="0"/>
              </a:rPr>
              <a:t>Joseph Schumpeter's innovation theory of entrepreneurship (1949) holds an entrepreneur as one having three major characteristics: innovation, foresight, and creativity. , The entrepreneur is viewed as the ‘engine of growth’.</a:t>
            </a:r>
          </a:p>
          <a:p>
            <a:r>
              <a:rPr lang="en-US" sz="2400">
                <a:latin typeface="Times New Roman" panose="02020603050405020304" pitchFamily="18" charset="0"/>
                <a:cs typeface="Times New Roman" panose="02020603050405020304" pitchFamily="18" charset="0"/>
              </a:rPr>
              <a:t>Entrepreneurship takes place when the entrepreneur</a:t>
            </a:r>
          </a:p>
          <a:p>
            <a:endParaRPr lang="en-US" sz="2400">
              <a:latin typeface="Times New Roman" panose="02020603050405020304" pitchFamily="18" charset="0"/>
              <a:cs typeface="Times New Roman" panose="02020603050405020304" pitchFamily="18" charset="0"/>
            </a:endParaRPr>
          </a:p>
          <a:p>
            <a:pPr marL="342900" indent="-342900">
              <a:buFont typeface="Arial"/>
              <a:buChar char="•"/>
            </a:pPr>
            <a:r>
              <a:rPr lang="en-US" sz="2400">
                <a:latin typeface="Times New Roman" panose="02020603050405020304" pitchFamily="18" charset="0"/>
                <a:cs typeface="Times New Roman" panose="02020603050405020304" pitchFamily="18" charset="0"/>
              </a:rPr>
              <a:t> creates a new product</a:t>
            </a:r>
          </a:p>
          <a:p>
            <a:pPr marL="342900" indent="-342900">
              <a:buFont typeface="Arial"/>
              <a:buChar char="•"/>
            </a:pPr>
            <a:r>
              <a:rPr lang="en-US" sz="2400">
                <a:latin typeface="Times New Roman" panose="02020603050405020304" pitchFamily="18" charset="0"/>
                <a:cs typeface="Times New Roman" panose="02020603050405020304" pitchFamily="18" charset="0"/>
              </a:rPr>
              <a:t> introduces a new way to make a product</a:t>
            </a:r>
          </a:p>
          <a:p>
            <a:pPr marL="342900" indent="-342900">
              <a:buFont typeface="Arial"/>
              <a:buChar char="•"/>
            </a:pPr>
            <a:r>
              <a:rPr lang="en-US" sz="2400">
                <a:latin typeface="Times New Roman" panose="02020603050405020304" pitchFamily="18" charset="0"/>
                <a:cs typeface="Times New Roman" panose="02020603050405020304" pitchFamily="18" charset="0"/>
              </a:rPr>
              <a:t> discovers a new market for a product</a:t>
            </a:r>
          </a:p>
          <a:p>
            <a:pPr marL="342900" indent="-342900">
              <a:buFont typeface="Arial"/>
              <a:buChar char="•"/>
            </a:pPr>
            <a:r>
              <a:rPr lang="en-US" sz="2400">
                <a:latin typeface="Times New Roman" panose="02020603050405020304" pitchFamily="18" charset="0"/>
                <a:cs typeface="Times New Roman" panose="02020603050405020304" pitchFamily="18" charset="0"/>
              </a:rPr>
              <a:t> finds a new source of raw material</a:t>
            </a:r>
          </a:p>
          <a:p>
            <a:pPr marL="342900" indent="-342900">
              <a:buFont typeface="Arial"/>
              <a:buChar char="•"/>
            </a:pPr>
            <a:r>
              <a:rPr lang="en-US" sz="2400">
                <a:latin typeface="Times New Roman" panose="02020603050405020304" pitchFamily="18" charset="0"/>
                <a:cs typeface="Times New Roman" panose="02020603050405020304" pitchFamily="18" charset="0"/>
              </a:rPr>
              <a:t> finds new way of making things or organization</a:t>
            </a:r>
          </a:p>
          <a:p>
            <a:endParaRPr lang="en-US" sz="200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0ADA64B3-17C5-4F5D-832F-4F1764060299}"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76</a:t>
            </a:fld>
            <a:endParaRPr lang="en-IN"/>
          </a:p>
        </p:txBody>
      </p:sp>
      <p:sp>
        <p:nvSpPr>
          <p:cNvPr id="12" name="Title 1"/>
          <p:cNvSpPr txBox="1">
            <a:spLocks/>
          </p:cNvSpPr>
          <p:nvPr/>
        </p:nvSpPr>
        <p:spPr>
          <a:xfrm>
            <a:off x="1547664" y="1"/>
            <a:ext cx="7632847" cy="98542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ea typeface="Tahoma" panose="020B0604030504040204" pitchFamily="34" charset="0"/>
                <a:cs typeface="Times New Roman" panose="02020603050405020304" pitchFamily="18" charset="0"/>
              </a:rPr>
              <a:t>Joseph Schumpeter's Innovation                                  Theory</a:t>
            </a:r>
          </a:p>
        </p:txBody>
      </p:sp>
      <p:sp>
        <p:nvSpPr>
          <p:cNvPr id="4" name="Footer Placeholder 12">
            <a:extLst>
              <a:ext uri="{FF2B5EF4-FFF2-40B4-BE49-F238E27FC236}">
                <a16:creationId xmlns:a16="http://schemas.microsoft.com/office/drawing/2014/main" id="{DB583034-1034-8887-A11D-D07286E6C2B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6308373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007" y="1093373"/>
            <a:ext cx="9108504" cy="3945696"/>
          </a:xfrm>
          <a:prstGeom prst="rect">
            <a:avLst/>
          </a:prstGeom>
        </p:spPr>
        <p:txBody>
          <a:bodyPr wrap="square">
            <a:spAutoFit/>
          </a:bodyPr>
          <a:lstStyle/>
          <a:p>
            <a:pPr marL="342900" indent="-342900">
              <a:lnSpc>
                <a:spcPct val="60000"/>
              </a:lnSpc>
              <a:buFont typeface="Arial"/>
              <a:buChar char="•"/>
            </a:pPr>
            <a:endParaRPr lang="en-US" sz="2400">
              <a:latin typeface="Times New Roman" panose="02020603050405020304" pitchFamily="18" charset="0"/>
              <a:cs typeface="Times New Roman" panose="02020603050405020304" pitchFamily="18" charset="0"/>
            </a:endParaRPr>
          </a:p>
          <a:p>
            <a:pPr marL="342900" indent="-342900">
              <a:buFont typeface="Arial"/>
              <a:buChar char="•"/>
            </a:pPr>
            <a:r>
              <a:rPr lang="en-US" sz="2400">
                <a:latin typeface="Times New Roman" panose="02020603050405020304" pitchFamily="18" charset="0"/>
                <a:cs typeface="Times New Roman" panose="02020603050405020304" pitchFamily="18" charset="0"/>
              </a:rPr>
              <a:t> Schumpeter's innovation theory however ignores the entrepreneur's risk taking ability and organizational skills, and place undue importance on innovation. This theory applies to large-scale businesses, but economic conditions force small entrepreneurs to imitate rather than innovate.</a:t>
            </a:r>
          </a:p>
          <a:p>
            <a:pPr marL="342900" indent="-342900">
              <a:buFont typeface="Arial"/>
              <a:buChar char="•"/>
            </a:pPr>
            <a:r>
              <a:rPr lang="en-US" sz="2400">
                <a:latin typeface="Times New Roman" panose="02020603050405020304" pitchFamily="18" charset="0"/>
                <a:cs typeface="Times New Roman" panose="02020603050405020304" pitchFamily="18" charset="0"/>
              </a:rPr>
              <a:t>An innovator is more than an inventor because he does not only originate as the inventor does but goes much farther in exploiting the invention commercially.</a:t>
            </a:r>
          </a:p>
          <a:p>
            <a:r>
              <a:rPr lang="en-US" sz="2400">
                <a:latin typeface="Times New Roman" panose="02020603050405020304" pitchFamily="18" charset="0"/>
                <a:cs typeface="Times New Roman" panose="02020603050405020304" pitchFamily="18" charset="0"/>
              </a:rPr>
              <a:t>				</a:t>
            </a:r>
          </a:p>
          <a:p>
            <a:endParaRPr lang="en-US" sz="200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0ADA64B3-17C5-4F5D-832F-4F1764060299}"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77</a:t>
            </a:fld>
            <a:endParaRPr lang="en-IN"/>
          </a:p>
        </p:txBody>
      </p:sp>
      <p:sp>
        <p:nvSpPr>
          <p:cNvPr id="12" name="Title 1"/>
          <p:cNvSpPr txBox="1">
            <a:spLocks/>
          </p:cNvSpPr>
          <p:nvPr/>
        </p:nvSpPr>
        <p:spPr>
          <a:xfrm>
            <a:off x="1619672" y="1"/>
            <a:ext cx="7560839" cy="98542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ea typeface="Tahoma" panose="020B0604030504040204" pitchFamily="34" charset="0"/>
                <a:cs typeface="Times New Roman" panose="02020603050405020304" pitchFamily="18" charset="0"/>
              </a:rPr>
              <a:t>Joseph Schumpeter's Innovation                                  Theory</a:t>
            </a:r>
          </a:p>
        </p:txBody>
      </p:sp>
      <p:sp>
        <p:nvSpPr>
          <p:cNvPr id="4" name="Footer Placeholder 12">
            <a:extLst>
              <a:ext uri="{FF2B5EF4-FFF2-40B4-BE49-F238E27FC236}">
                <a16:creationId xmlns:a16="http://schemas.microsoft.com/office/drawing/2014/main" id="{DB583034-1034-8887-A11D-D07286E6C2B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0002333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71546"/>
          </a:xfrm>
        </p:spPr>
        <p:txBody>
          <a:bodyPr/>
          <a:lstStyle/>
          <a:p>
            <a:endParaRPr lang="en-IN"/>
          </a:p>
        </p:txBody>
      </p:sp>
      <p:sp>
        <p:nvSpPr>
          <p:cNvPr id="3" name="Content Placeholder 2"/>
          <p:cNvSpPr>
            <a:spLocks noGrp="1"/>
          </p:cNvSpPr>
          <p:nvPr>
            <p:ph idx="1"/>
          </p:nvPr>
        </p:nvSpPr>
        <p:spPr>
          <a:xfrm>
            <a:off x="0" y="1071546"/>
            <a:ext cx="9144000" cy="5786454"/>
          </a:xfrm>
        </p:spPr>
        <p:txBody>
          <a:bodyPr>
            <a:normAutofit fontScale="92500" lnSpcReduction="10000"/>
          </a:bodyPr>
          <a:lstStyle/>
          <a:p>
            <a:pPr fontAlgn="base">
              <a:buNone/>
            </a:pPr>
            <a:r>
              <a:rPr lang="en-IN" err="1"/>
              <a:t>i</a:t>
            </a:r>
            <a:r>
              <a:rPr lang="en-IN" sz="2600">
                <a:latin typeface="Times New Roman" panose="02020603050405020304" pitchFamily="18" charset="0"/>
                <a:cs typeface="Times New Roman" panose="02020603050405020304" pitchFamily="18" charset="0"/>
              </a:rPr>
              <a:t>.  The theory over emphasized on innovative functions of the entrepreneur. It ignored the organizing aspects of entrepreneurship. </a:t>
            </a:r>
          </a:p>
          <a:p>
            <a:pPr fontAlgn="base">
              <a:buNone/>
            </a:pPr>
            <a:r>
              <a:rPr lang="en-IN" sz="2600">
                <a:latin typeface="Times New Roman" panose="02020603050405020304" pitchFamily="18" charset="0"/>
                <a:cs typeface="Times New Roman" panose="02020603050405020304" pitchFamily="18" charset="0"/>
              </a:rPr>
              <a:t>ii. Schumpeter had completely ignored the risk-taking function of the entrepreneur, which cannot be ignored. Whenever an entrepreneur develops a new combination of factors of production, there is enough risk involved.</a:t>
            </a:r>
          </a:p>
          <a:p>
            <a:pPr fontAlgn="base">
              <a:buNone/>
            </a:pPr>
            <a:r>
              <a:rPr lang="en-IN" sz="2600">
                <a:latin typeface="Times New Roman" panose="02020603050405020304" pitchFamily="18" charset="0"/>
                <a:cs typeface="Times New Roman" panose="02020603050405020304" pitchFamily="18" charset="0"/>
              </a:rPr>
              <a:t>iii. The theory is more applicable in developed countries only due to paucity of innovative entrepreneurs.</a:t>
            </a:r>
          </a:p>
          <a:p>
            <a:pPr fontAlgn="base">
              <a:buNone/>
            </a:pPr>
            <a:r>
              <a:rPr lang="en-IN" sz="2600">
                <a:latin typeface="Times New Roman" panose="02020603050405020304" pitchFamily="18" charset="0"/>
                <a:cs typeface="Times New Roman" panose="02020603050405020304" pitchFamily="18" charset="0"/>
              </a:rPr>
              <a:t>iv. The theory does not provide the explanation as to why few countries have more entrepreneurship talent than others.</a:t>
            </a:r>
          </a:p>
          <a:p>
            <a:pPr fontAlgn="base">
              <a:buNone/>
            </a:pPr>
            <a:endParaRPr lang="en-IN"/>
          </a:p>
          <a:p>
            <a:pPr fontAlgn="base"/>
            <a:endParaRPr lang="en-IN"/>
          </a:p>
          <a:p>
            <a:pPr>
              <a:buNone/>
            </a:pPr>
            <a:br>
              <a:rPr lang="en-IN"/>
            </a:br>
            <a:endParaRPr lang="en-IN"/>
          </a:p>
        </p:txBody>
      </p:sp>
      <p:sp>
        <p:nvSpPr>
          <p:cNvPr id="4" name="Footer Placeholder 12">
            <a:extLst>
              <a:ext uri="{FF2B5EF4-FFF2-40B4-BE49-F238E27FC236}">
                <a16:creationId xmlns:a16="http://schemas.microsoft.com/office/drawing/2014/main" id="{D90D45A4-D772-64F9-7133-012E4F418A4F}"/>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6" name="Title 1"/>
          <p:cNvSpPr txBox="1">
            <a:spLocks/>
          </p:cNvSpPr>
          <p:nvPr/>
        </p:nvSpPr>
        <p:spPr>
          <a:xfrm>
            <a:off x="1547665" y="51514"/>
            <a:ext cx="7596336" cy="85720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3600" b="1">
                <a:latin typeface="Times New Roman" panose="02020603050405020304" pitchFamily="18" charset="0"/>
                <a:cs typeface="Times New Roman" panose="02020603050405020304" pitchFamily="18" charset="0"/>
              </a:rPr>
              <a:t>                     Criticism</a:t>
            </a:r>
            <a:endParaRPr lang="en-US" sz="3600" b="1">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426" y="1000109"/>
            <a:ext cx="8615149" cy="5632311"/>
          </a:xfrm>
          <a:prstGeom prst="rect">
            <a:avLst/>
          </a:prstGeom>
        </p:spPr>
        <p:txBody>
          <a:bodyPr wrap="square">
            <a:spAutoFit/>
          </a:bodyPr>
          <a:lstStyle/>
          <a:p>
            <a:r>
              <a:rPr lang="en-US" sz="2400">
                <a:latin typeface="Times New Roman" panose="02020603050405020304" pitchFamily="18" charset="0"/>
                <a:cs typeface="Times New Roman" panose="02020603050405020304" pitchFamily="18" charset="0"/>
              </a:rPr>
              <a:t>McClelland's Theory of Achievement Motivation hold that people have three motives for accomplishing things -  </a:t>
            </a:r>
            <a:r>
              <a:rPr lang="en-US" sz="2400" b="1">
                <a:latin typeface="Times New Roman" panose="02020603050405020304" pitchFamily="18" charset="0"/>
                <a:cs typeface="Times New Roman" panose="02020603050405020304" pitchFamily="18" charset="0"/>
              </a:rPr>
              <a:t>the need for achievement</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need for affiliation, and need for power.</a:t>
            </a:r>
            <a:r>
              <a:rPr lang="en-US" sz="2400">
                <a:latin typeface="Times New Roman" panose="02020603050405020304" pitchFamily="18" charset="0"/>
                <a:cs typeface="Times New Roman" panose="02020603050405020304" pitchFamily="18" charset="0"/>
              </a:rPr>
              <a:t> Need for achievement and need for power drive entrepreneurship. </a:t>
            </a:r>
          </a:p>
          <a:p>
            <a:r>
              <a:rPr lang="en-US" sz="2400">
                <a:latin typeface="Times New Roman" panose="02020603050405020304" pitchFamily="18" charset="0"/>
                <a:cs typeface="Times New Roman" panose="02020603050405020304" pitchFamily="18" charset="0"/>
              </a:rPr>
              <a:t>Individuals with high achievement orientation are not influenced by considerations of money or any other external incentives. Profit and incentives are merely yardsticks of measurement of success of entrepreneurs with high achievement orientation</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David McClelland (1917-1988) considers entrepreneurs as people who do things in a better way and makes decisions in times of uncertainty The dream to achieve big things overpowers monetary or other external incentives.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 </a:t>
            </a:r>
          </a:p>
        </p:txBody>
      </p:sp>
      <p:sp>
        <p:nvSpPr>
          <p:cNvPr id="3" name="Date Placeholder 2"/>
          <p:cNvSpPr>
            <a:spLocks noGrp="1"/>
          </p:cNvSpPr>
          <p:nvPr>
            <p:ph type="dt" sz="half" idx="10"/>
          </p:nvPr>
        </p:nvSpPr>
        <p:spPr/>
        <p:txBody>
          <a:bodyPr/>
          <a:lstStyle/>
          <a:p>
            <a:fld id="{790FB935-759C-44EB-AA74-664DD884539C}"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79</a:t>
            </a:fld>
            <a:endParaRPr lang="en-IN"/>
          </a:p>
        </p:txBody>
      </p:sp>
      <p:sp>
        <p:nvSpPr>
          <p:cNvPr id="12" name="Title 1"/>
          <p:cNvSpPr txBox="1">
            <a:spLocks/>
          </p:cNvSpPr>
          <p:nvPr/>
        </p:nvSpPr>
        <p:spPr>
          <a:xfrm>
            <a:off x="1619672" y="52519"/>
            <a:ext cx="7488832" cy="91588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McClelland's Theory of Achievement Motivation</a:t>
            </a:r>
          </a:p>
        </p:txBody>
      </p:sp>
      <p:sp>
        <p:nvSpPr>
          <p:cNvPr id="4" name="Footer Placeholder 12">
            <a:extLst>
              <a:ext uri="{FF2B5EF4-FFF2-40B4-BE49-F238E27FC236}">
                <a16:creationId xmlns:a16="http://schemas.microsoft.com/office/drawing/2014/main" id="{9A90611F-41C9-6A66-479A-F25CDFBB32F8}"/>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6308373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0FB935-759C-44EB-AA74-664DD884539C}"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80</a:t>
            </a:fld>
            <a:endParaRPr lang="en-IN"/>
          </a:p>
        </p:txBody>
      </p:sp>
      <p:sp>
        <p:nvSpPr>
          <p:cNvPr id="12" name="Title 1"/>
          <p:cNvSpPr txBox="1">
            <a:spLocks/>
          </p:cNvSpPr>
          <p:nvPr/>
        </p:nvSpPr>
        <p:spPr>
          <a:xfrm>
            <a:off x="1619672" y="52519"/>
            <a:ext cx="7488832" cy="91588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McClelland's Theory of Achievement Motivation</a:t>
            </a:r>
          </a:p>
        </p:txBody>
      </p:sp>
      <p:sp>
        <p:nvSpPr>
          <p:cNvPr id="4" name="Footer Placeholder 12">
            <a:extLst>
              <a:ext uri="{FF2B5EF4-FFF2-40B4-BE49-F238E27FC236}">
                <a16:creationId xmlns:a16="http://schemas.microsoft.com/office/drawing/2014/main" id="{9A90611F-41C9-6A66-479A-F25CDFBB32F8}"/>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5" name="Rectangle 4"/>
          <p:cNvSpPr/>
          <p:nvPr/>
        </p:nvSpPr>
        <p:spPr>
          <a:xfrm>
            <a:off x="179512" y="1628800"/>
            <a:ext cx="8856984" cy="1938992"/>
          </a:xfrm>
          <a:prstGeom prst="rect">
            <a:avLst/>
          </a:prstGeom>
        </p:spPr>
        <p:txBody>
          <a:bodyPr wrap="square">
            <a:spAutoFit/>
          </a:bodyPr>
          <a:lstStyle/>
          <a:p>
            <a:r>
              <a:rPr lang="en-US" sz="2400">
                <a:latin typeface="Times New Roman" panose="02020603050405020304" pitchFamily="18" charset="0"/>
                <a:cs typeface="Times New Roman" panose="02020603050405020304" pitchFamily="18" charset="0"/>
              </a:rPr>
              <a:t>It is the need for achievement (N-Ach), the sense of doing and getting things done, that promote entrepreneurship. McClelland's experiment reveled that traditional beliefs do not inhibit an entrepreneur, and that it is possible to internalize the motivation required for achievement orientation through training</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354961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124744"/>
            <a:ext cx="8712968" cy="5328592"/>
          </a:xfrm>
        </p:spPr>
        <p:txBody>
          <a:bodyPr>
            <a:normAutofit/>
          </a:bodyPr>
          <a:lstStyle/>
          <a:p>
            <a:pPr algn="just">
              <a:buNone/>
            </a:pPr>
            <a:r>
              <a:rPr lang="en-US" sz="2800"/>
              <a:t> </a:t>
            </a:r>
            <a:r>
              <a:rPr lang="en-US" sz="2400">
                <a:latin typeface="Times New Roman" panose="02020603050405020304" pitchFamily="18" charset="0"/>
                <a:cs typeface="Times New Roman" panose="02020603050405020304" pitchFamily="18" charset="0"/>
              </a:rPr>
              <a:t>X-efficiency is the degree of inefficiency in the use of resources within the firm: it measures the extent to which the firm fails to </a:t>
            </a:r>
            <a:r>
              <a:rPr lang="en-US" sz="2400" err="1">
                <a:latin typeface="Times New Roman" panose="02020603050405020304" pitchFamily="18" charset="0"/>
                <a:cs typeface="Times New Roman" panose="02020603050405020304" pitchFamily="18" charset="0"/>
              </a:rPr>
              <a:t>realise</a:t>
            </a:r>
            <a:r>
              <a:rPr lang="en-US" sz="2400">
                <a:latin typeface="Times New Roman" panose="02020603050405020304" pitchFamily="18" charset="0"/>
                <a:cs typeface="Times New Roman" panose="02020603050405020304" pitchFamily="18" charset="0"/>
              </a:rPr>
              <a:t> its productive potential. </a:t>
            </a:r>
          </a:p>
          <a:p>
            <a:pPr algn="just">
              <a:buNone/>
            </a:pPr>
            <a:r>
              <a:rPr lang="en-US" sz="2400">
                <a:latin typeface="Times New Roman" panose="02020603050405020304" pitchFamily="18" charset="0"/>
                <a:cs typeface="Times New Roman" panose="02020603050405020304" pitchFamily="18" charset="0"/>
              </a:rPr>
              <a:t>According to </a:t>
            </a:r>
            <a:r>
              <a:rPr lang="en-US" sz="2400" err="1">
                <a:latin typeface="Times New Roman" panose="02020603050405020304" pitchFamily="18" charset="0"/>
                <a:cs typeface="Times New Roman" panose="02020603050405020304" pitchFamily="18" charset="0"/>
              </a:rPr>
              <a:t>Leibenstein</a:t>
            </a:r>
            <a:r>
              <a:rPr lang="en-US" sz="2400">
                <a:latin typeface="Times New Roman" panose="02020603050405020304" pitchFamily="18" charset="0"/>
                <a:cs typeface="Times New Roman" panose="02020603050405020304" pitchFamily="18" charset="0"/>
              </a:rPr>
              <a:t>, When an input is not used effectively the difference between the actual output and the maximum output attributable to that input is a measure of the degree of X-efficiency. </a:t>
            </a:r>
          </a:p>
          <a:p>
            <a:pPr algn="just">
              <a:buNone/>
            </a:pPr>
            <a:r>
              <a:rPr lang="en-US" sz="2400">
                <a:latin typeface="Times New Roman" panose="02020603050405020304" pitchFamily="18" charset="0"/>
                <a:cs typeface="Times New Roman" panose="02020603050405020304" pitchFamily="18" charset="0"/>
              </a:rPr>
              <a:t>Reason may be resources are used in the wrong way or because they are wasted, that is, not ­used at all. </a:t>
            </a:r>
            <a:r>
              <a:rPr lang="en-US" sz="2400" err="1">
                <a:latin typeface="Times New Roman" panose="02020603050405020304" pitchFamily="18" charset="0"/>
                <a:cs typeface="Times New Roman" panose="02020603050405020304" pitchFamily="18" charset="0"/>
              </a:rPr>
              <a:t>Leibenstein</a:t>
            </a:r>
            <a:r>
              <a:rPr lang="en-US" sz="2400">
                <a:latin typeface="Times New Roman" panose="02020603050405020304" pitchFamily="18" charset="0"/>
                <a:cs typeface="Times New Roman" panose="02020603050405020304" pitchFamily="18" charset="0"/>
              </a:rPr>
              <a:t> identifies two main roles for the entrepreneur: (</a:t>
            </a:r>
            <a:r>
              <a:rPr lang="en-US" sz="2400" err="1">
                <a:latin typeface="Times New Roman" panose="02020603050405020304" pitchFamily="18" charset="0"/>
                <a:cs typeface="Times New Roman" panose="02020603050405020304" pitchFamily="18" charset="0"/>
              </a:rPr>
              <a:t>i</a:t>
            </a:r>
            <a:r>
              <a:rPr lang="en-US" sz="2400">
                <a:latin typeface="Times New Roman" panose="02020603050405020304" pitchFamily="18" charset="0"/>
                <a:cs typeface="Times New Roman" panose="02020603050405020304" pitchFamily="18" charset="0"/>
              </a:rPr>
              <a:t>) a </a:t>
            </a:r>
            <a:r>
              <a:rPr lang="en-US" sz="2400" err="1">
                <a:latin typeface="Times New Roman" panose="02020603050405020304" pitchFamily="18" charset="0"/>
                <a:cs typeface="Times New Roman" panose="02020603050405020304" pitchFamily="18" charset="0"/>
              </a:rPr>
              <a:t>gap­filler</a:t>
            </a:r>
            <a:r>
              <a:rPr lang="en-US" sz="2400">
                <a:latin typeface="Times New Roman" panose="02020603050405020304" pitchFamily="18" charset="0"/>
                <a:cs typeface="Times New Roman" panose="02020603050405020304" pitchFamily="18" charset="0"/>
              </a:rPr>
              <a:t> and (ii) an input completer</a:t>
            </a:r>
          </a:p>
          <a:p>
            <a:pPr>
              <a:buNone/>
            </a:pPr>
            <a:endParaRPr lang="en-US"/>
          </a:p>
        </p:txBody>
      </p:sp>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1547664" y="0"/>
            <a:ext cx="7596336" cy="76470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err="1">
                <a:latin typeface="Times New Roman" panose="02020603050405020304" pitchFamily="18" charset="0"/>
                <a:cs typeface="Times New Roman" panose="02020603050405020304" pitchFamily="18" charset="0"/>
              </a:rPr>
              <a:t>Leibenstein’s</a:t>
            </a:r>
            <a:r>
              <a:rPr lang="en-US" sz="3600" b="1">
                <a:latin typeface="Times New Roman" panose="02020603050405020304" pitchFamily="18" charset="0"/>
                <a:cs typeface="Times New Roman" panose="02020603050405020304" pitchFamily="18" charset="0"/>
              </a:rPr>
              <a:t> X-Efficiency Theory</a:t>
            </a:r>
          </a:p>
        </p:txBody>
      </p:sp>
      <p:sp>
        <p:nvSpPr>
          <p:cNvPr id="2" name="Footer Placeholder 12">
            <a:extLst>
              <a:ext uri="{FF2B5EF4-FFF2-40B4-BE49-F238E27FC236}">
                <a16:creationId xmlns:a16="http://schemas.microsoft.com/office/drawing/2014/main" id="{75655121-0CE1-4140-6D81-49424180794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426" y="1143000"/>
            <a:ext cx="8615149" cy="4216539"/>
          </a:xfrm>
          <a:prstGeom prst="rect">
            <a:avLst/>
          </a:prstGeom>
        </p:spPr>
        <p:txBody>
          <a:bodyPr wrap="square">
            <a:spAutoFit/>
          </a:bodyPr>
          <a:lstStyle/>
          <a:p>
            <a:r>
              <a:rPr lang="en-US" sz="2000"/>
              <a:t>					</a:t>
            </a:r>
          </a:p>
          <a:p>
            <a:pPr marL="342900" indent="-342900">
              <a:buFont typeface="Arial"/>
              <a:buChar char="•"/>
            </a:pPr>
            <a:r>
              <a:rPr lang="en-US" sz="2000"/>
              <a:t> </a:t>
            </a:r>
            <a:r>
              <a:rPr lang="en-US" sz="2000">
                <a:latin typeface="Times New Roman" panose="02020603050405020304" pitchFamily="18" charset="0"/>
                <a:cs typeface="Times New Roman" panose="02020603050405020304" pitchFamily="18" charset="0"/>
              </a:rPr>
              <a:t>Frank Knight (1885-1972) first introduced the dimension of </a:t>
            </a:r>
            <a:r>
              <a:rPr lang="en-US" sz="2000" b="1">
                <a:latin typeface="Times New Roman" panose="02020603050405020304" pitchFamily="18" charset="0"/>
                <a:cs typeface="Times New Roman" panose="02020603050405020304" pitchFamily="18" charset="0"/>
              </a:rPr>
              <a:t>risk-taking</a:t>
            </a:r>
            <a:r>
              <a:rPr lang="en-US" sz="2000">
                <a:latin typeface="Times New Roman" panose="02020603050405020304" pitchFamily="18" charset="0"/>
                <a:cs typeface="Times New Roman" panose="02020603050405020304" pitchFamily="18" charset="0"/>
              </a:rPr>
              <a:t> as a central characteristic of entrepreneurship. </a:t>
            </a:r>
            <a:endParaRPr lang="en-US" sz="2000" b="1">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a:p>
            <a:pPr marL="342900" indent="-342900">
              <a:buFont typeface="Arial"/>
              <a:buChar char="•"/>
            </a:pPr>
            <a:r>
              <a:rPr lang="en-US" sz="2000">
                <a:latin typeface="Times New Roman" panose="02020603050405020304" pitchFamily="18" charset="0"/>
                <a:cs typeface="Times New Roman" panose="02020603050405020304" pitchFamily="18" charset="0"/>
              </a:rPr>
              <a:t>He points out that entrepreneurs are a specialized group of persons who bears risk and deal with uncertainty.</a:t>
            </a:r>
          </a:p>
          <a:p>
            <a:endParaRPr lang="en-US" sz="2000">
              <a:latin typeface="Times New Roman" panose="02020603050405020304" pitchFamily="18" charset="0"/>
              <a:cs typeface="Times New Roman" panose="02020603050405020304" pitchFamily="18" charset="0"/>
            </a:endParaRPr>
          </a:p>
          <a:p>
            <a:pPr marL="342900" indent="-342900">
              <a:buFont typeface="Arial"/>
              <a:buChar char="•"/>
            </a:pPr>
            <a:r>
              <a:rPr lang="en-US" sz="2000">
                <a:latin typeface="Times New Roman" panose="02020603050405020304" pitchFamily="18" charset="0"/>
                <a:cs typeface="Times New Roman" panose="02020603050405020304" pitchFamily="18" charset="0"/>
              </a:rPr>
              <a:t>This theory considers uncertainty as a factor of production, and holds the main function of the entrepreneur as acting in anticipation of future events. </a:t>
            </a:r>
          </a:p>
          <a:p>
            <a:pPr marL="342900" indent="-342900">
              <a:buFont typeface="Arial"/>
              <a:buChar char="•"/>
            </a:pPr>
            <a:r>
              <a:rPr lang="en-US" sz="2000">
                <a:latin typeface="Times New Roman" panose="02020603050405020304" pitchFamily="18" charset="0"/>
                <a:cs typeface="Times New Roman" panose="02020603050405020304" pitchFamily="18" charset="0"/>
              </a:rPr>
              <a:t>The entrepreneur earns profit as a reward for taking such risks.</a:t>
            </a:r>
          </a:p>
          <a:p>
            <a:pPr marL="342900" indent="-342900">
              <a:buFont typeface="Arial"/>
              <a:buChar char="•"/>
            </a:pPr>
            <a:r>
              <a:rPr lang="en-US" sz="2000">
                <a:latin typeface="Times New Roman" panose="02020603050405020304" pitchFamily="18" charset="0"/>
                <a:cs typeface="Times New Roman" panose="02020603050405020304" pitchFamily="18" charset="0"/>
              </a:rPr>
              <a:t>Four important points of this theory are : Risk creates Profit, More Risk More Gain, Profit as Reward , Entrepreneur’s Income is Uncertain</a:t>
            </a:r>
            <a:r>
              <a:rPr lang="en-US" sz="2400">
                <a:latin typeface="Times New Roman" panose="02020603050405020304" pitchFamily="18" charset="0"/>
                <a:cs typeface="Times New Roman" panose="02020603050405020304" pitchFamily="18" charset="0"/>
              </a:rPr>
              <a:t>.</a:t>
            </a:r>
          </a:p>
          <a:p>
            <a:endParaRPr lang="en-US" sz="2400"/>
          </a:p>
        </p:txBody>
      </p:sp>
      <p:sp>
        <p:nvSpPr>
          <p:cNvPr id="3" name="Date Placeholder 2"/>
          <p:cNvSpPr>
            <a:spLocks noGrp="1"/>
          </p:cNvSpPr>
          <p:nvPr>
            <p:ph type="dt" sz="half" idx="10"/>
          </p:nvPr>
        </p:nvSpPr>
        <p:spPr/>
        <p:txBody>
          <a:bodyPr/>
          <a:lstStyle/>
          <a:p>
            <a:fld id="{9DC61204-134F-4C74-A980-2B61177C4744}"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82</a:t>
            </a:fld>
            <a:endParaRPr lang="en-IN"/>
          </a:p>
        </p:txBody>
      </p:sp>
      <p:sp>
        <p:nvSpPr>
          <p:cNvPr id="12" name="Title 1"/>
          <p:cNvSpPr txBox="1">
            <a:spLocks/>
          </p:cNvSpPr>
          <p:nvPr/>
        </p:nvSpPr>
        <p:spPr>
          <a:xfrm>
            <a:off x="1619672" y="0"/>
            <a:ext cx="7524328"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a:latin typeface="Times New Roman" panose="02020603050405020304" pitchFamily="18" charset="0"/>
                <a:cs typeface="Times New Roman" panose="02020603050405020304" pitchFamily="18" charset="0"/>
              </a:rPr>
              <a:t>FRANK KNIGHT’S THEORY OF ENTREPRENEURSHIP</a:t>
            </a:r>
          </a:p>
          <a:p>
            <a:pPr algn="ctr"/>
            <a:r>
              <a:rPr lang="en-US" sz="2400" b="1">
                <a:latin typeface="Times New Roman" panose="02020603050405020304" pitchFamily="18" charset="0"/>
                <a:cs typeface="Times New Roman" panose="02020603050405020304" pitchFamily="18" charset="0"/>
              </a:rPr>
              <a:t>Or Risk Bearing Theory of Knight:</a:t>
            </a:r>
          </a:p>
        </p:txBody>
      </p:sp>
      <p:sp>
        <p:nvSpPr>
          <p:cNvPr id="4" name="Footer Placeholder 12">
            <a:extLst>
              <a:ext uri="{FF2B5EF4-FFF2-40B4-BE49-F238E27FC236}">
                <a16:creationId xmlns:a16="http://schemas.microsoft.com/office/drawing/2014/main" id="{B32C86C2-44DB-17C4-FD0B-52468F65D4F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err="1"/>
              <a:t>Menka</a:t>
            </a:r>
            <a:r>
              <a:rPr lang="en-US" sz="1400"/>
              <a:t> </a:t>
            </a:r>
            <a:r>
              <a:rPr lang="en-US" sz="1400" err="1"/>
              <a:t>Shar</a:t>
            </a:r>
            <a:r>
              <a:rPr lang="en-US" sz="1400"/>
              <a:t>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6308373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2984"/>
          </a:xfrm>
        </p:spPr>
        <p:txBody>
          <a:bodyPr>
            <a:normAutofit/>
          </a:bodyPr>
          <a:lstStyle/>
          <a:p>
            <a:endParaRPr lang="en-IN"/>
          </a:p>
        </p:txBody>
      </p:sp>
      <p:sp>
        <p:nvSpPr>
          <p:cNvPr id="3" name="Content Placeholder 2"/>
          <p:cNvSpPr>
            <a:spLocks noGrp="1"/>
          </p:cNvSpPr>
          <p:nvPr>
            <p:ph idx="1"/>
          </p:nvPr>
        </p:nvSpPr>
        <p:spPr>
          <a:xfrm>
            <a:off x="53752" y="908720"/>
            <a:ext cx="9036496" cy="6106518"/>
          </a:xfrm>
        </p:spPr>
        <p:txBody>
          <a:bodyPr>
            <a:normAutofit/>
          </a:bodyPr>
          <a:lstStyle/>
          <a:p>
            <a:pPr algn="just">
              <a:spcBef>
                <a:spcPts val="0"/>
              </a:spcBef>
            </a:pPr>
            <a:r>
              <a:rPr lang="en-IN" sz="2100" b="1">
                <a:latin typeface="Times New Roman" panose="02020603050405020304" pitchFamily="18" charset="0"/>
                <a:cs typeface="Times New Roman" panose="02020603050405020304" pitchFamily="18" charset="0"/>
              </a:rPr>
              <a:t>Emphasis on Impact of Religion</a:t>
            </a:r>
          </a:p>
          <a:p>
            <a:pPr algn="just">
              <a:spcBef>
                <a:spcPts val="0"/>
              </a:spcBef>
              <a:buNone/>
            </a:pPr>
            <a:r>
              <a:rPr lang="en-IN" sz="2100">
                <a:latin typeface="Times New Roman" panose="02020603050405020304" pitchFamily="18" charset="0"/>
                <a:cs typeface="Times New Roman" panose="02020603050405020304" pitchFamily="18" charset="0"/>
              </a:rPr>
              <a:t>     Religion, religious beliefs and ethical values play a vital role in determining the entrepreneurial culture.</a:t>
            </a:r>
          </a:p>
          <a:p>
            <a:pPr algn="just">
              <a:spcBef>
                <a:spcPts val="0"/>
              </a:spcBef>
              <a:buNone/>
            </a:pPr>
            <a:r>
              <a:rPr lang="en-US" sz="2100">
                <a:latin typeface="Times New Roman" panose="02020603050405020304" pitchFamily="18" charset="0"/>
                <a:cs typeface="Times New Roman" panose="02020603050405020304" pitchFamily="18" charset="0"/>
              </a:rPr>
              <a:t>According to Weber some religions have basic beliefs to earn and acquire money and some have less of it.</a:t>
            </a:r>
            <a:endParaRPr lang="en-IN" sz="2100">
              <a:latin typeface="Times New Roman" panose="02020603050405020304" pitchFamily="18" charset="0"/>
              <a:cs typeface="Times New Roman" panose="02020603050405020304" pitchFamily="18" charset="0"/>
            </a:endParaRPr>
          </a:p>
          <a:p>
            <a:pPr algn="just">
              <a:spcBef>
                <a:spcPts val="0"/>
              </a:spcBef>
            </a:pPr>
            <a:r>
              <a:rPr lang="en-IN" sz="2100">
                <a:latin typeface="Times New Roman" panose="02020603050405020304" pitchFamily="18" charset="0"/>
                <a:cs typeface="Times New Roman" panose="02020603050405020304" pitchFamily="18" charset="0"/>
              </a:rPr>
              <a:t>Some religions profess the basic  rational economic attitude (especially Europe) whereas some religions do not promote materialism (Hinduism). </a:t>
            </a:r>
          </a:p>
          <a:p>
            <a:pPr algn="just">
              <a:spcBef>
                <a:spcPts val="0"/>
              </a:spcBef>
            </a:pPr>
            <a:r>
              <a:rPr lang="en-IN" sz="2100">
                <a:latin typeface="Times New Roman" panose="02020603050405020304" pitchFamily="18" charset="0"/>
                <a:cs typeface="Times New Roman" panose="02020603050405020304" pitchFamily="18" charset="0"/>
              </a:rPr>
              <a:t>Capitalism is a fundamental concept (market forces of demand and supply are allowed to play freely) which encourages entrepreneurship</a:t>
            </a:r>
          </a:p>
          <a:p>
            <a:pPr algn="just">
              <a:spcBef>
                <a:spcPts val="0"/>
              </a:spcBef>
            </a:pPr>
            <a:r>
              <a:rPr lang="en-IN" sz="2100">
                <a:latin typeface="Times New Roman" panose="02020603050405020304" pitchFamily="18" charset="0"/>
                <a:cs typeface="Times New Roman" panose="02020603050405020304" pitchFamily="18" charset="0"/>
              </a:rPr>
              <a:t>Urge to acquire money and profits</a:t>
            </a:r>
          </a:p>
          <a:p>
            <a:pPr algn="just">
              <a:spcBef>
                <a:spcPts val="0"/>
              </a:spcBef>
            </a:pPr>
            <a:r>
              <a:rPr lang="en-IN" sz="2100">
                <a:latin typeface="Times New Roman" panose="02020603050405020304" pitchFamily="18" charset="0"/>
                <a:cs typeface="Times New Roman" panose="02020603050405020304" pitchFamily="18" charset="0"/>
              </a:rPr>
              <a:t>Adventurous spirit and impulsive forces drive entrepreneurs</a:t>
            </a:r>
          </a:p>
          <a:p>
            <a:pPr algn="just">
              <a:spcBef>
                <a:spcPts val="0"/>
              </a:spcBef>
            </a:pPr>
            <a:r>
              <a:rPr lang="en-US" sz="2100">
                <a:latin typeface="Times New Roman" panose="02020603050405020304" pitchFamily="18" charset="0"/>
                <a:cs typeface="Times New Roman" panose="02020603050405020304" pitchFamily="18" charset="0"/>
              </a:rPr>
              <a:t>His theory suggests the belief systems of Hinduism, Buddhism and Islam do not encourage entrepreneurship. Though it was challenged by  many sociologists.</a:t>
            </a:r>
            <a:endParaRPr lang="en-IN" sz="2100">
              <a:latin typeface="Times New Roman" panose="02020603050405020304" pitchFamily="18" charset="0"/>
              <a:cs typeface="Times New Roman" panose="02020603050405020304" pitchFamily="18" charset="0"/>
            </a:endParaRPr>
          </a:p>
          <a:p>
            <a:pPr algn="just"/>
            <a:endParaRPr lang="en-IN" sz="2100" b="1"/>
          </a:p>
          <a:p>
            <a:pPr algn="just"/>
            <a:endParaRPr lang="en-IN" sz="2100"/>
          </a:p>
        </p:txBody>
      </p:sp>
      <p:sp>
        <p:nvSpPr>
          <p:cNvPr id="4" name="Title 1"/>
          <p:cNvSpPr txBox="1">
            <a:spLocks/>
          </p:cNvSpPr>
          <p:nvPr/>
        </p:nvSpPr>
        <p:spPr>
          <a:xfrm>
            <a:off x="1547664" y="65683"/>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3600" b="1">
                <a:latin typeface="Times New Roman" panose="02020603050405020304" pitchFamily="18" charset="0"/>
                <a:cs typeface="Times New Roman" panose="02020603050405020304" pitchFamily="18" charset="0"/>
              </a:rPr>
              <a:t>Max Weber’s theory of social change</a:t>
            </a:r>
            <a:endParaRPr lang="en-US" sz="3600" b="1">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AC955DC1-BF61-749A-BCAB-12251A207CDC}"/>
              </a:ext>
            </a:extLst>
          </p:cNvPr>
          <p:cNvSpPr txBox="1">
            <a:spLocks/>
          </p:cNvSpPr>
          <p:nvPr/>
        </p:nvSpPr>
        <p:spPr>
          <a:xfrm>
            <a:off x="2612260" y="6492875"/>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6" name="Rectangle 5">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71546"/>
          </a:xfrm>
        </p:spPr>
        <p:txBody>
          <a:bodyPr/>
          <a:lstStyle/>
          <a:p>
            <a:endParaRPr lang="en-IN"/>
          </a:p>
        </p:txBody>
      </p:sp>
      <p:sp>
        <p:nvSpPr>
          <p:cNvPr id="3" name="Content Placeholder 2"/>
          <p:cNvSpPr>
            <a:spLocks noGrp="1"/>
          </p:cNvSpPr>
          <p:nvPr>
            <p:ph idx="1"/>
          </p:nvPr>
        </p:nvSpPr>
        <p:spPr>
          <a:xfrm>
            <a:off x="161764" y="1340768"/>
            <a:ext cx="8820472" cy="4661140"/>
          </a:xfrm>
        </p:spPr>
        <p:txBody>
          <a:bodyPr/>
          <a:lstStyle/>
          <a:p>
            <a:r>
              <a:rPr lang="en-IN" sz="2400">
                <a:latin typeface="Times New Roman" panose="02020603050405020304" pitchFamily="18" charset="0"/>
                <a:cs typeface="Times New Roman" panose="02020603050405020304" pitchFamily="18" charset="0"/>
              </a:rPr>
              <a:t>Based on unrealistic and invalid assumptions.</a:t>
            </a:r>
          </a:p>
          <a:p>
            <a:pPr fontAlgn="base"/>
            <a:r>
              <a:rPr lang="en-IN" sz="2400">
                <a:latin typeface="Times New Roman" panose="02020603050405020304" pitchFamily="18" charset="0"/>
                <a:cs typeface="Times New Roman" panose="02020603050405020304" pitchFamily="18" charset="0"/>
              </a:rPr>
              <a:t>The theory has been found empirically invalid.</a:t>
            </a:r>
          </a:p>
          <a:p>
            <a:pPr fontAlgn="base"/>
            <a:r>
              <a:rPr lang="en-IN" sz="2400">
                <a:latin typeface="Times New Roman" panose="02020603050405020304" pitchFamily="18" charset="0"/>
                <a:cs typeface="Times New Roman" panose="02020603050405020304" pitchFamily="18" charset="0"/>
              </a:rPr>
              <a:t>Max Weber has been criticized on his view on Hinduism and entrepreneurship. The rapid expansion of entrepreneurship in India in the post-independence period disproves that Hinduism is averse to the spirit of capitalism and to adventurous spirit.</a:t>
            </a:r>
          </a:p>
          <a:p>
            <a:pPr fontAlgn="base"/>
            <a:r>
              <a:rPr lang="en-IN" sz="2400">
                <a:latin typeface="Times New Roman" panose="02020603050405020304" pitchFamily="18" charset="0"/>
                <a:cs typeface="Times New Roman" panose="02020603050405020304" pitchFamily="18" charset="0"/>
              </a:rPr>
              <a:t>The views on Protestant ethic were also not completely correct. Capitalism has flourished in regions where Protestant ethic is not present.</a:t>
            </a:r>
          </a:p>
          <a:p>
            <a:endParaRPr lang="en-IN"/>
          </a:p>
        </p:txBody>
      </p:sp>
      <p:sp>
        <p:nvSpPr>
          <p:cNvPr id="4" name="Footer Placeholder 12">
            <a:extLst>
              <a:ext uri="{FF2B5EF4-FFF2-40B4-BE49-F238E27FC236}">
                <a16:creationId xmlns:a16="http://schemas.microsoft.com/office/drawing/2014/main" id="{34A1784D-8998-4D64-7B26-273B83AB2FC2}"/>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6" name="Title 1"/>
          <p:cNvSpPr txBox="1">
            <a:spLocks/>
          </p:cNvSpPr>
          <p:nvPr/>
        </p:nvSpPr>
        <p:spPr>
          <a:xfrm>
            <a:off x="1691680" y="14400"/>
            <a:ext cx="7350369" cy="98570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3600" b="1">
                <a:latin typeface="Times New Roman" panose="02020603050405020304" pitchFamily="18" charset="0"/>
                <a:cs typeface="Times New Roman" panose="02020603050405020304" pitchFamily="18" charset="0"/>
              </a:rPr>
              <a:t>                       Criticism</a:t>
            </a:r>
            <a:endParaRPr lang="en-US" sz="3600" b="1">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5" y="620688"/>
            <a:ext cx="8736246" cy="4870564"/>
          </a:xfrm>
          <a:prstGeom prst="rect">
            <a:avLst/>
          </a:prstGeom>
        </p:spPr>
        <p:txBody>
          <a:bodyPr wrap="square">
            <a:spAutoFit/>
          </a:bodyPr>
          <a:lstStyle/>
          <a:p>
            <a:r>
              <a:rPr lang="en-US" sz="2400"/>
              <a:t>					</a:t>
            </a:r>
          </a:p>
          <a:p>
            <a:r>
              <a:rPr lang="en-US" sz="2400"/>
              <a:t> </a:t>
            </a:r>
            <a:r>
              <a:rPr lang="en-US" sz="2100">
                <a:latin typeface="Times New Roman" panose="02020603050405020304" pitchFamily="18" charset="0"/>
                <a:cs typeface="Times New Roman" panose="02020603050405020304" pitchFamily="18" charset="0"/>
              </a:rPr>
              <a:t>Alfred Marshall in his Principles of Economics (1890) held land, labor, capital, and organization as the four factors of production, and considered entrepreneurship as the driving factor that brings these four factors together.</a:t>
            </a:r>
          </a:p>
          <a:p>
            <a:endParaRPr lang="en-US" sz="2100">
              <a:latin typeface="Times New Roman" panose="02020603050405020304" pitchFamily="18" charset="0"/>
              <a:cs typeface="Times New Roman" panose="02020603050405020304" pitchFamily="18" charset="0"/>
            </a:endParaRPr>
          </a:p>
          <a:p>
            <a:r>
              <a:rPr lang="en-US" sz="2100">
                <a:latin typeface="Times New Roman" panose="02020603050405020304" pitchFamily="18" charset="0"/>
                <a:cs typeface="Times New Roman" panose="02020603050405020304" pitchFamily="18" charset="0"/>
              </a:rPr>
              <a:t>The characteristics of a successful entrepreneur include:</a:t>
            </a:r>
          </a:p>
          <a:p>
            <a:endParaRPr lang="en-US" sz="2100">
              <a:latin typeface="Times New Roman" panose="02020603050405020304" pitchFamily="18" charset="0"/>
              <a:cs typeface="Times New Roman" panose="02020603050405020304" pitchFamily="18" charset="0"/>
            </a:endParaRPr>
          </a:p>
          <a:p>
            <a:pPr marL="342900" indent="-342900" algn="just">
              <a:lnSpc>
                <a:spcPct val="50000"/>
              </a:lnSpc>
              <a:buFont typeface="Arial"/>
              <a:buChar char="•"/>
            </a:pPr>
            <a:r>
              <a:rPr lang="en-US" sz="2100">
                <a:latin typeface="Times New Roman" panose="02020603050405020304" pitchFamily="18" charset="0"/>
                <a:cs typeface="Times New Roman" panose="02020603050405020304" pitchFamily="18" charset="0"/>
              </a:rPr>
              <a:t>thorough understanding of the industry</a:t>
            </a:r>
          </a:p>
          <a:p>
            <a:pPr marL="342900" indent="-342900" algn="just">
              <a:lnSpc>
                <a:spcPct val="50000"/>
              </a:lnSpc>
              <a:buFont typeface="Arial"/>
              <a:buChar char="•"/>
            </a:pPr>
            <a:endParaRPr lang="en-US" sz="2100">
              <a:latin typeface="Times New Roman" panose="02020603050405020304" pitchFamily="18" charset="0"/>
              <a:cs typeface="Times New Roman" panose="02020603050405020304" pitchFamily="18" charset="0"/>
            </a:endParaRPr>
          </a:p>
          <a:p>
            <a:pPr marL="342900" indent="-342900" algn="just">
              <a:lnSpc>
                <a:spcPct val="50000"/>
              </a:lnSpc>
              <a:buFont typeface="Arial"/>
              <a:buChar char="•"/>
            </a:pPr>
            <a:r>
              <a:rPr lang="en-US" sz="2100">
                <a:latin typeface="Times New Roman" panose="02020603050405020304" pitchFamily="18" charset="0"/>
                <a:cs typeface="Times New Roman" panose="02020603050405020304" pitchFamily="18" charset="0"/>
              </a:rPr>
              <a:t>good leadership skills</a:t>
            </a:r>
          </a:p>
          <a:p>
            <a:pPr marL="342900" indent="-342900" algn="just">
              <a:lnSpc>
                <a:spcPct val="50000"/>
              </a:lnSpc>
              <a:buFont typeface="Arial"/>
              <a:buChar char="•"/>
            </a:pPr>
            <a:endParaRPr lang="en-US" sz="2100">
              <a:latin typeface="Times New Roman" panose="02020603050405020304" pitchFamily="18" charset="0"/>
              <a:cs typeface="Times New Roman" panose="02020603050405020304" pitchFamily="18" charset="0"/>
            </a:endParaRPr>
          </a:p>
          <a:p>
            <a:pPr marL="342900" indent="-342900" algn="just">
              <a:lnSpc>
                <a:spcPct val="50000"/>
              </a:lnSpc>
              <a:buFont typeface="Arial"/>
              <a:buChar char="•"/>
            </a:pPr>
            <a:r>
              <a:rPr lang="en-US" sz="2100">
                <a:latin typeface="Times New Roman" panose="02020603050405020304" pitchFamily="18" charset="0"/>
                <a:cs typeface="Times New Roman" panose="02020603050405020304" pitchFamily="18" charset="0"/>
              </a:rPr>
              <a:t>foresight on demand and supply changes and the willingness to act on such</a:t>
            </a:r>
          </a:p>
          <a:p>
            <a:pPr marL="342900" indent="-342900" algn="just">
              <a:lnSpc>
                <a:spcPct val="50000"/>
              </a:lnSpc>
            </a:pPr>
            <a:r>
              <a:rPr lang="en-US" sz="2100">
                <a:latin typeface="Times New Roman" panose="02020603050405020304" pitchFamily="18" charset="0"/>
                <a:cs typeface="Times New Roman" panose="02020603050405020304" pitchFamily="18" charset="0"/>
              </a:rPr>
              <a:t> </a:t>
            </a:r>
          </a:p>
          <a:p>
            <a:pPr marL="342900" indent="-342900" algn="just">
              <a:lnSpc>
                <a:spcPct val="50000"/>
              </a:lnSpc>
            </a:pPr>
            <a:r>
              <a:rPr lang="en-US" sz="2100">
                <a:latin typeface="Times New Roman" panose="02020603050405020304" pitchFamily="18" charset="0"/>
                <a:cs typeface="Times New Roman" panose="02020603050405020304" pitchFamily="18" charset="0"/>
              </a:rPr>
              <a:t> risky foresights</a:t>
            </a:r>
          </a:p>
          <a:p>
            <a:endParaRPr lang="en-US" sz="2100">
              <a:latin typeface="Times New Roman" panose="02020603050405020304" pitchFamily="18" charset="0"/>
              <a:cs typeface="Times New Roman" panose="02020603050405020304" pitchFamily="18" charset="0"/>
            </a:endParaRPr>
          </a:p>
          <a:p>
            <a:r>
              <a:rPr lang="en-US" sz="2100">
                <a:latin typeface="Times New Roman" panose="02020603050405020304" pitchFamily="18" charset="0"/>
                <a:cs typeface="Times New Roman" panose="02020603050405020304" pitchFamily="18" charset="0"/>
              </a:rPr>
              <a:t>• Many economists have modified Marshall's theory to consider the entrepreneur as the fourth factor itself instead of organization, and which coordinates the other three factors.</a:t>
            </a:r>
          </a:p>
        </p:txBody>
      </p:sp>
      <p:sp>
        <p:nvSpPr>
          <p:cNvPr id="3" name="Date Placeholder 2"/>
          <p:cNvSpPr>
            <a:spLocks noGrp="1"/>
          </p:cNvSpPr>
          <p:nvPr>
            <p:ph type="dt" sz="half" idx="10"/>
          </p:nvPr>
        </p:nvSpPr>
        <p:spPr/>
        <p:txBody>
          <a:bodyPr/>
          <a:lstStyle/>
          <a:p>
            <a:fld id="{1028F1E1-903B-4EB9-9D55-E1AB5064AC43}"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85</a:t>
            </a:fld>
            <a:endParaRPr lang="en-IN"/>
          </a:p>
        </p:txBody>
      </p:sp>
      <p:sp>
        <p:nvSpPr>
          <p:cNvPr id="12" name="Title 1"/>
          <p:cNvSpPr txBox="1">
            <a:spLocks/>
          </p:cNvSpPr>
          <p:nvPr/>
        </p:nvSpPr>
        <p:spPr>
          <a:xfrm>
            <a:off x="1547664" y="1"/>
            <a:ext cx="7560840" cy="90871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Alfred Marshall's Theory of           Entrepreneurship</a:t>
            </a:r>
          </a:p>
        </p:txBody>
      </p:sp>
      <p:sp>
        <p:nvSpPr>
          <p:cNvPr id="5" name="Footer Placeholder 12">
            <a:extLst>
              <a:ext uri="{FF2B5EF4-FFF2-40B4-BE49-F238E27FC236}">
                <a16:creationId xmlns:a16="http://schemas.microsoft.com/office/drawing/2014/main" id="{B75EFBBB-87A9-41E2-C6F7-523606938F8B}"/>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6308373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24745"/>
            <a:ext cx="8859447" cy="5216813"/>
          </a:xfrm>
          <a:prstGeom prst="rect">
            <a:avLst/>
          </a:prstGeom>
        </p:spPr>
        <p:txBody>
          <a:bodyPr wrap="square">
            <a:spAutoFit/>
          </a:bodyPr>
          <a:lstStyle/>
          <a:p>
            <a:r>
              <a:rPr lang="en-US" sz="2400">
                <a:latin typeface="Times New Roman" panose="02020603050405020304" pitchFamily="18" charset="0"/>
                <a:cs typeface="Times New Roman" panose="02020603050405020304" pitchFamily="18" charset="0"/>
              </a:rPr>
              <a:t>Peter Drucker (1909- 2005) defines entrepreneur as one who always searches for change, responds to it and exploits it as an opportunity.</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 Innovation is the specific tool of entrepreneurs, the means by which they exploit changes as an opportunity for a different business or a different service</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 According to him entrepreneurship involves increase in value or satisfaction to the customer from the resource creation of new values combination of existing materials or resources in a new productive combination.</a:t>
            </a:r>
          </a:p>
          <a:p>
            <a:r>
              <a:rPr lang="en-IN" sz="2400">
                <a:latin typeface="Times New Roman" panose="02020603050405020304" pitchFamily="18" charset="0"/>
                <a:cs typeface="Times New Roman" panose="02020603050405020304" pitchFamily="18" charset="0"/>
              </a:rPr>
              <a:t>Innovative entrepreneurship combined with government facilitation.</a:t>
            </a:r>
          </a:p>
          <a:p>
            <a:r>
              <a:rPr lang="en-US" sz="2400">
                <a:latin typeface="Times New Roman" panose="02020603050405020304" pitchFamily="18" charset="0"/>
                <a:cs typeface="Times New Roman" panose="02020603050405020304" pitchFamily="18" charset="0"/>
              </a:rPr>
              <a:t>				</a:t>
            </a:r>
          </a:p>
          <a:p>
            <a:endParaRPr lang="en-US" sz="2100"/>
          </a:p>
        </p:txBody>
      </p:sp>
      <p:sp>
        <p:nvSpPr>
          <p:cNvPr id="3" name="Date Placeholder 2"/>
          <p:cNvSpPr>
            <a:spLocks noGrp="1"/>
          </p:cNvSpPr>
          <p:nvPr>
            <p:ph type="dt" sz="half" idx="10"/>
          </p:nvPr>
        </p:nvSpPr>
        <p:spPr/>
        <p:txBody>
          <a:bodyPr/>
          <a:lstStyle/>
          <a:p>
            <a:fld id="{43EAE36D-BB61-4E4D-82BE-AE290399C586}"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86</a:t>
            </a:fld>
            <a:endParaRPr lang="en-IN"/>
          </a:p>
        </p:txBody>
      </p:sp>
      <p:sp>
        <p:nvSpPr>
          <p:cNvPr id="12" name="Title 1"/>
          <p:cNvSpPr txBox="1">
            <a:spLocks/>
          </p:cNvSpPr>
          <p:nvPr/>
        </p:nvSpPr>
        <p:spPr>
          <a:xfrm>
            <a:off x="1619672" y="0"/>
            <a:ext cx="7525504" cy="85277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Peter </a:t>
            </a:r>
            <a:r>
              <a:rPr lang="en-US" sz="3600" b="1" err="1">
                <a:latin typeface="Times New Roman" panose="02020603050405020304" pitchFamily="18" charset="0"/>
                <a:cs typeface="Times New Roman" panose="02020603050405020304" pitchFamily="18" charset="0"/>
              </a:rPr>
              <a:t>Drucker</a:t>
            </a:r>
            <a:r>
              <a:rPr lang="en-US" sz="3600" b="1">
                <a:latin typeface="Times New Roman" panose="02020603050405020304" pitchFamily="18" charset="0"/>
                <a:cs typeface="Times New Roman" panose="02020603050405020304" pitchFamily="18" charset="0"/>
              </a:rPr>
              <a:t> Theory of Entrepreneurship</a:t>
            </a:r>
          </a:p>
        </p:txBody>
      </p:sp>
      <p:sp>
        <p:nvSpPr>
          <p:cNvPr id="4" name="Footer Placeholder 12">
            <a:extLst>
              <a:ext uri="{FF2B5EF4-FFF2-40B4-BE49-F238E27FC236}">
                <a16:creationId xmlns:a16="http://schemas.microsoft.com/office/drawing/2014/main" id="{9CDB64E4-C62D-82B2-DEDD-566D67FC224F}"/>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6308373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1" y="914400"/>
            <a:ext cx="8615149" cy="738664"/>
          </a:xfrm>
          <a:prstGeom prst="rect">
            <a:avLst/>
          </a:prstGeom>
        </p:spPr>
        <p:txBody>
          <a:bodyPr wrap="square">
            <a:spAutoFit/>
          </a:bodyPr>
          <a:lstStyle/>
          <a:p>
            <a:r>
              <a:rPr lang="en-US" sz="2100"/>
              <a:t>					</a:t>
            </a:r>
          </a:p>
          <a:p>
            <a:endParaRPr lang="en-US" sz="2100"/>
          </a:p>
        </p:txBody>
      </p:sp>
      <p:sp>
        <p:nvSpPr>
          <p:cNvPr id="3" name="Date Placeholder 2"/>
          <p:cNvSpPr>
            <a:spLocks noGrp="1"/>
          </p:cNvSpPr>
          <p:nvPr>
            <p:ph type="dt" sz="half" idx="10"/>
          </p:nvPr>
        </p:nvSpPr>
        <p:spPr/>
        <p:txBody>
          <a:bodyPr/>
          <a:lstStyle/>
          <a:p>
            <a:fld id="{7F1EB475-4F8C-4D17-B05D-128353B379F2}"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87</a:t>
            </a:fld>
            <a:endParaRPr lang="en-IN"/>
          </a:p>
        </p:txBody>
      </p:sp>
      <p:sp>
        <p:nvSpPr>
          <p:cNvPr id="12" name="Title 1"/>
          <p:cNvSpPr txBox="1">
            <a:spLocks/>
          </p:cNvSpPr>
          <p:nvPr/>
        </p:nvSpPr>
        <p:spPr>
          <a:xfrm>
            <a:off x="1547664" y="84693"/>
            <a:ext cx="7596336" cy="82970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MASLOWS HEIRARCHY OF NEEDS</a:t>
            </a:r>
          </a:p>
        </p:txBody>
      </p:sp>
      <p:pic>
        <p:nvPicPr>
          <p:cNvPr id="9" name="Content Placeholder 3" descr="Screen Shot 2021-04-20 at 11.29.58 AM.png"/>
          <p:cNvPicPr>
            <a:picLocks noGrp="1" noChangeAspect="1"/>
          </p:cNvPicPr>
          <p:nvPr/>
        </p:nvPicPr>
        <p:blipFill>
          <a:blip r:embed="rId2">
            <a:extLst>
              <a:ext uri="{28A0092B-C50C-407E-A947-70E740481C1C}">
                <a14:useLocalDpi xmlns:a14="http://schemas.microsoft.com/office/drawing/2010/main" val="0"/>
              </a:ext>
            </a:extLst>
          </a:blip>
          <a:srcRect l="-10071" r="-10071"/>
          <a:stretch>
            <a:fillRect/>
          </a:stretch>
        </p:blipFill>
        <p:spPr>
          <a:xfrm>
            <a:off x="73649" y="1088678"/>
            <a:ext cx="9047079" cy="5257799"/>
          </a:xfrm>
          <a:prstGeom prst="rect">
            <a:avLst/>
          </a:prstGeom>
        </p:spPr>
      </p:pic>
      <p:sp>
        <p:nvSpPr>
          <p:cNvPr id="4" name="Footer Placeholder 12">
            <a:extLst>
              <a:ext uri="{FF2B5EF4-FFF2-40B4-BE49-F238E27FC236}">
                <a16:creationId xmlns:a16="http://schemas.microsoft.com/office/drawing/2014/main" id="{3739E2B8-0C53-56BD-38C3-2991E9EC67F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63083733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052737"/>
            <a:ext cx="7867972" cy="4081117"/>
          </a:xfrm>
          <a:prstGeom prst="rect">
            <a:avLst/>
          </a:prstGeom>
        </p:spPr>
        <p:txBody>
          <a:bodyPr wrap="square">
            <a:spAutoFit/>
          </a:bodyPr>
          <a:lstStyle/>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Discuss </a:t>
            </a:r>
            <a:r>
              <a:rPr lang="en-US" sz="2400" err="1">
                <a:latin typeface="Times New Roman" panose="02020603050405020304" pitchFamily="18" charset="0"/>
                <a:cs typeface="Times New Roman" panose="02020603050405020304" pitchFamily="18" charset="0"/>
              </a:rPr>
              <a:t>maslow’s</a:t>
            </a:r>
            <a:r>
              <a:rPr lang="en-US" sz="2400">
                <a:latin typeface="Times New Roman" panose="02020603050405020304" pitchFamily="18" charset="0"/>
                <a:cs typeface="Times New Roman" panose="02020603050405020304" pitchFamily="18" charset="0"/>
              </a:rPr>
              <a:t> </a:t>
            </a:r>
            <a:r>
              <a:rPr lang="en-US" sz="2400" err="1">
                <a:latin typeface="Times New Roman" panose="02020603050405020304" pitchFamily="18" charset="0"/>
                <a:cs typeface="Times New Roman" panose="02020603050405020304" pitchFamily="18" charset="0"/>
              </a:rPr>
              <a:t>heirarchy</a:t>
            </a:r>
            <a:r>
              <a:rPr lang="en-US" sz="2400">
                <a:latin typeface="Times New Roman" panose="02020603050405020304" pitchFamily="18" charset="0"/>
                <a:cs typeface="Times New Roman" panose="02020603050405020304" pitchFamily="18" charset="0"/>
              </a:rPr>
              <a:t> of needs.</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Define Peter </a:t>
            </a:r>
            <a:r>
              <a:rPr lang="en-US" sz="2400" err="1">
                <a:latin typeface="Times New Roman" panose="02020603050405020304" pitchFamily="18" charset="0"/>
                <a:cs typeface="Times New Roman" panose="02020603050405020304" pitchFamily="18" charset="0"/>
              </a:rPr>
              <a:t>Drucker’s</a:t>
            </a:r>
            <a:r>
              <a:rPr lang="en-US" sz="2400">
                <a:latin typeface="Times New Roman" panose="02020603050405020304" pitchFamily="18" charset="0"/>
                <a:cs typeface="Times New Roman" panose="02020603050405020304" pitchFamily="18" charset="0"/>
              </a:rPr>
              <a:t> theory of entrepreneurship</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Define McClelland’s theory of motivation</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Explain Alfred Marshall says about entrepreneurship.</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Define entrepreneurship as per Peter </a:t>
            </a:r>
            <a:r>
              <a:rPr lang="en-US" sz="2400" err="1">
                <a:latin typeface="Times New Roman" panose="02020603050405020304" pitchFamily="18" charset="0"/>
                <a:cs typeface="Times New Roman" panose="02020603050405020304" pitchFamily="18" charset="0"/>
              </a:rPr>
              <a:t>Drucker</a:t>
            </a:r>
            <a:r>
              <a:rPr lang="en-US" sz="2400">
                <a:latin typeface="Times New Roman" panose="02020603050405020304" pitchFamily="18" charset="0"/>
                <a:cs typeface="Times New Roman" panose="02020603050405020304" pitchFamily="18" charset="0"/>
              </a:rPr>
              <a:t>.</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Discuss how did Frank Knight express entrepreneurship</a:t>
            </a:r>
            <a:r>
              <a:rPr lang="en-US" sz="2400"/>
              <a:t>.</a:t>
            </a:r>
          </a:p>
          <a:p>
            <a:pPr>
              <a:lnSpc>
                <a:spcPct val="120000"/>
              </a:lnSpc>
            </a:pPr>
            <a:endParaRPr lang="en-US" sz="2400"/>
          </a:p>
          <a:p>
            <a:pPr marL="342900" indent="-342900">
              <a:lnSpc>
                <a:spcPct val="120000"/>
              </a:lnSpc>
              <a:buFont typeface="Arial"/>
              <a:buChar char="•"/>
            </a:pPr>
            <a:endParaRPr lang="en-US" sz="2400"/>
          </a:p>
          <a:p>
            <a:pPr marL="342900" indent="-342900">
              <a:lnSpc>
                <a:spcPct val="120000"/>
              </a:lnSpc>
              <a:buFont typeface="Arial"/>
              <a:buChar char="•"/>
            </a:pPr>
            <a:endParaRPr lang="en-US" sz="2400"/>
          </a:p>
        </p:txBody>
      </p:sp>
      <p:sp>
        <p:nvSpPr>
          <p:cNvPr id="3" name="Date Placeholder 2"/>
          <p:cNvSpPr>
            <a:spLocks noGrp="1"/>
          </p:cNvSpPr>
          <p:nvPr>
            <p:ph type="dt" sz="half" idx="10"/>
          </p:nvPr>
        </p:nvSpPr>
        <p:spPr/>
        <p:txBody>
          <a:bodyPr/>
          <a:lstStyle/>
          <a:p>
            <a:fld id="{B6D89053-D226-48F3-847F-1B5143EA1E05}"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88</a:t>
            </a:fld>
            <a:endParaRPr lang="en-IN"/>
          </a:p>
        </p:txBody>
      </p:sp>
      <p:sp>
        <p:nvSpPr>
          <p:cNvPr id="9" name="Title 1"/>
          <p:cNvSpPr txBox="1">
            <a:spLocks/>
          </p:cNvSpPr>
          <p:nvPr/>
        </p:nvSpPr>
        <p:spPr>
          <a:xfrm>
            <a:off x="1547664" y="1"/>
            <a:ext cx="7596336" cy="76470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Recap and Quiz</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Footer Placeholder 12">
            <a:extLst>
              <a:ext uri="{FF2B5EF4-FFF2-40B4-BE49-F238E27FC236}">
                <a16:creationId xmlns:a16="http://schemas.microsoft.com/office/drawing/2014/main" id="{94C5B848-68FF-3225-99F7-CA41D016FE1B}"/>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1409828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a:p>
        </p:txBody>
      </p:sp>
      <p:sp>
        <p:nvSpPr>
          <p:cNvPr id="3" name="Date Placeholder 2"/>
          <p:cNvSpPr>
            <a:spLocks noGrp="1"/>
          </p:cNvSpPr>
          <p:nvPr>
            <p:ph type="dt" sz="half" idx="10"/>
          </p:nvPr>
        </p:nvSpPr>
        <p:spPr/>
        <p:txBody>
          <a:bodyPr/>
          <a:lstStyle/>
          <a:p>
            <a:fld id="{855AEB72-7487-41DB-972B-FC9EE4EA5BD1}"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89</a:t>
            </a:fld>
            <a:endParaRPr lang="en-IN"/>
          </a:p>
        </p:txBody>
      </p:sp>
      <p:sp>
        <p:nvSpPr>
          <p:cNvPr id="9" name="Title 1"/>
          <p:cNvSpPr txBox="1">
            <a:spLocks/>
          </p:cNvSpPr>
          <p:nvPr/>
        </p:nvSpPr>
        <p:spPr>
          <a:xfrm>
            <a:off x="1691680" y="0"/>
            <a:ext cx="7215177" cy="83671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noProof="0">
                <a:latin typeface="Times New Roman" panose="02020603050405020304" pitchFamily="18" charset="0"/>
                <a:cs typeface="Times New Roman" panose="02020603050405020304" pitchFamily="18" charset="0"/>
              </a:rPr>
              <a:t>Pre-cap</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1" name="Rectangle 10"/>
          <p:cNvSpPr/>
          <p:nvPr/>
        </p:nvSpPr>
        <p:spPr>
          <a:xfrm>
            <a:off x="323528" y="1196752"/>
            <a:ext cx="7944172" cy="4081117"/>
          </a:xfrm>
          <a:prstGeom prst="rect">
            <a:avLst/>
          </a:prstGeom>
        </p:spPr>
        <p:txBody>
          <a:bodyPr wrap="square">
            <a:spAutoFit/>
          </a:bodyPr>
          <a:lstStyle/>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Maslow’s hierarchy of needs.</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Peter Drucker’s theory of entrepreneurship</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McClelland’s theory of motivation</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Alfred Marshall’s thinking about entrepreneurship.</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Entrepreneurship as per Peter Drucker.</a:t>
            </a:r>
          </a:p>
          <a:p>
            <a:pPr marL="342900" indent="-342900">
              <a:lnSpc>
                <a:spcPct val="120000"/>
              </a:lnSpc>
              <a:buFont typeface="Arial"/>
              <a:buChar char="•"/>
            </a:pPr>
            <a:r>
              <a:rPr lang="en-US" sz="2400">
                <a:latin typeface="Times New Roman" panose="02020603050405020304" pitchFamily="18" charset="0"/>
                <a:cs typeface="Times New Roman" panose="02020603050405020304" pitchFamily="18" charset="0"/>
              </a:rPr>
              <a:t>Frank Knight entrepreneurship.</a:t>
            </a:r>
          </a:p>
          <a:p>
            <a:pPr>
              <a:lnSpc>
                <a:spcPct val="120000"/>
              </a:lnSpc>
            </a:pPr>
            <a:endParaRPr lang="en-US" sz="2400">
              <a:latin typeface="Times New Roman" panose="02020603050405020304" pitchFamily="18" charset="0"/>
              <a:cs typeface="Times New Roman" panose="02020603050405020304" pitchFamily="18" charset="0"/>
            </a:endParaRPr>
          </a:p>
          <a:p>
            <a:pPr marL="342900" indent="-342900">
              <a:lnSpc>
                <a:spcPct val="120000"/>
              </a:lnSpc>
              <a:buFont typeface="Arial"/>
              <a:buChar char="•"/>
            </a:pPr>
            <a:endParaRPr lang="en-US" sz="2400"/>
          </a:p>
          <a:p>
            <a:pPr marL="342900" indent="-342900">
              <a:lnSpc>
                <a:spcPct val="120000"/>
              </a:lnSpc>
              <a:buFont typeface="Arial"/>
              <a:buChar char="•"/>
            </a:pPr>
            <a:endParaRPr lang="en-US" sz="2400"/>
          </a:p>
        </p:txBody>
      </p:sp>
      <p:sp>
        <p:nvSpPr>
          <p:cNvPr id="4" name="Footer Placeholder 12">
            <a:extLst>
              <a:ext uri="{FF2B5EF4-FFF2-40B4-BE49-F238E27FC236}">
                <a16:creationId xmlns:a16="http://schemas.microsoft.com/office/drawing/2014/main" id="{CE472CAD-D38E-9DA9-31B7-66B927F05942}"/>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8310204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a:p>
        </p:txBody>
      </p:sp>
      <p:sp>
        <p:nvSpPr>
          <p:cNvPr id="3" name="Date Placeholder 2"/>
          <p:cNvSpPr>
            <a:spLocks noGrp="1"/>
          </p:cNvSpPr>
          <p:nvPr>
            <p:ph type="dt" sz="half" idx="10"/>
          </p:nvPr>
        </p:nvSpPr>
        <p:spPr/>
        <p:txBody>
          <a:bodyPr/>
          <a:lstStyle/>
          <a:p>
            <a:fld id="{D31D81FD-702E-4537-8968-93A9517E9118}"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90</a:t>
            </a:fld>
            <a:endParaRPr lang="en-IN"/>
          </a:p>
        </p:txBody>
      </p:sp>
      <p:sp>
        <p:nvSpPr>
          <p:cNvPr id="9" name="Title 1"/>
          <p:cNvSpPr txBox="1">
            <a:spLocks/>
          </p:cNvSpPr>
          <p:nvPr/>
        </p:nvSpPr>
        <p:spPr>
          <a:xfrm>
            <a:off x="1619672" y="44625"/>
            <a:ext cx="7524328" cy="82651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noProof="0">
                <a:latin typeface="Times New Roman" panose="02020603050405020304" pitchFamily="18" charset="0"/>
                <a:cs typeface="Times New Roman" panose="02020603050405020304" pitchFamily="18" charset="0"/>
              </a:rPr>
              <a:t>Session objective (CO)</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TextBox 3"/>
          <p:cNvSpPr txBox="1"/>
          <p:nvPr/>
        </p:nvSpPr>
        <p:spPr>
          <a:xfrm>
            <a:off x="179512" y="1340769"/>
            <a:ext cx="8599798" cy="17543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To learn about the qualities of a successful entrepreneur</a:t>
            </a:r>
          </a:p>
          <a:p>
            <a:pPr marL="342900" indent="-342900">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The reasons for entrepreneurial motivation</a:t>
            </a:r>
          </a:p>
          <a:p>
            <a:pPr marL="342900" indent="-342900">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Know about Intrapreneurship and corporate entrepreneurship</a:t>
            </a:r>
          </a:p>
        </p:txBody>
      </p:sp>
      <p:sp>
        <p:nvSpPr>
          <p:cNvPr id="5" name="Footer Placeholder 12">
            <a:extLst>
              <a:ext uri="{FF2B5EF4-FFF2-40B4-BE49-F238E27FC236}">
                <a16:creationId xmlns:a16="http://schemas.microsoft.com/office/drawing/2014/main" id="{6CED60D5-7833-7373-D9F0-73603B039715}"/>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6369876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426" y="1753968"/>
            <a:ext cx="8615149" cy="3785652"/>
          </a:xfrm>
          <a:prstGeom prst="rect">
            <a:avLst/>
          </a:prstGeom>
        </p:spPr>
        <p:txBody>
          <a:bodyPr wrap="square">
            <a:spAutoFit/>
          </a:bodyPr>
          <a:lstStyle/>
          <a:p>
            <a:pPr marL="457200" indent="-457200">
              <a:buFont typeface="Arial"/>
              <a:buChar char="•"/>
            </a:pPr>
            <a:r>
              <a:rPr lang="en-US" sz="2400">
                <a:latin typeface="Times New Roman" panose="02020603050405020304" pitchFamily="18" charset="0"/>
                <a:cs typeface="Times New Roman" panose="02020603050405020304" pitchFamily="18" charset="0"/>
              </a:rPr>
              <a:t>Full of determination</a:t>
            </a:r>
          </a:p>
          <a:p>
            <a:pPr marL="457200" indent="-457200">
              <a:buFont typeface="Arial"/>
              <a:buChar char="•"/>
            </a:pPr>
            <a:r>
              <a:rPr lang="en-US" sz="2400">
                <a:latin typeface="Times New Roman" panose="02020603050405020304" pitchFamily="18" charset="0"/>
                <a:cs typeface="Times New Roman" panose="02020603050405020304" pitchFamily="18" charset="0"/>
              </a:rPr>
              <a:t>Risk taking</a:t>
            </a:r>
          </a:p>
          <a:p>
            <a:pPr marL="457200" indent="-457200">
              <a:buFont typeface="Arial"/>
              <a:buChar char="•"/>
            </a:pPr>
            <a:r>
              <a:rPr lang="en-US" sz="2400">
                <a:latin typeface="Times New Roman" panose="02020603050405020304" pitchFamily="18" charset="0"/>
                <a:cs typeface="Times New Roman" panose="02020603050405020304" pitchFamily="18" charset="0"/>
              </a:rPr>
              <a:t>High level of confidence</a:t>
            </a:r>
          </a:p>
          <a:p>
            <a:pPr marL="457200" indent="-457200">
              <a:buFont typeface="Arial"/>
              <a:buChar char="•"/>
            </a:pPr>
            <a:r>
              <a:rPr lang="en-US" sz="2400">
                <a:latin typeface="Times New Roman" panose="02020603050405020304" pitchFamily="18" charset="0"/>
                <a:cs typeface="Times New Roman" panose="02020603050405020304" pitchFamily="18" charset="0"/>
              </a:rPr>
              <a:t>Learner</a:t>
            </a:r>
          </a:p>
          <a:p>
            <a:pPr marL="457200" indent="-457200">
              <a:buFont typeface="Arial"/>
              <a:buChar char="•"/>
            </a:pPr>
            <a:r>
              <a:rPr lang="en-US" sz="2400">
                <a:latin typeface="Times New Roman" panose="02020603050405020304" pitchFamily="18" charset="0"/>
                <a:cs typeface="Times New Roman" panose="02020603050405020304" pitchFamily="18" charset="0"/>
              </a:rPr>
              <a:t>Understands failure is part of the game</a:t>
            </a:r>
          </a:p>
          <a:p>
            <a:pPr marL="457200" indent="-457200">
              <a:buFont typeface="Arial"/>
              <a:buChar char="•"/>
            </a:pPr>
            <a:r>
              <a:rPr lang="en-US" sz="2400">
                <a:latin typeface="Times New Roman" panose="02020603050405020304" pitchFamily="18" charset="0"/>
                <a:cs typeface="Times New Roman" panose="02020603050405020304" pitchFamily="18" charset="0"/>
              </a:rPr>
              <a:t>Passionate</a:t>
            </a:r>
          </a:p>
          <a:p>
            <a:pPr marL="457200" indent="-457200">
              <a:buFont typeface="Arial"/>
              <a:buChar char="•"/>
            </a:pPr>
            <a:r>
              <a:rPr lang="en-US" sz="2400">
                <a:latin typeface="Times New Roman" panose="02020603050405020304" pitchFamily="18" charset="0"/>
                <a:cs typeface="Times New Roman" panose="02020603050405020304" pitchFamily="18" charset="0"/>
              </a:rPr>
              <a:t>Adaptability and flexibility</a:t>
            </a:r>
          </a:p>
          <a:p>
            <a:pPr marL="457200" indent="-457200">
              <a:buFont typeface="Arial"/>
              <a:buChar char="•"/>
            </a:pPr>
            <a:r>
              <a:rPr lang="en-US" sz="2400">
                <a:latin typeface="Times New Roman" panose="02020603050405020304" pitchFamily="18" charset="0"/>
                <a:cs typeface="Times New Roman" panose="02020603050405020304" pitchFamily="18" charset="0"/>
              </a:rPr>
              <a:t>Money management</a:t>
            </a:r>
          </a:p>
          <a:p>
            <a:pPr marL="457200" indent="-457200">
              <a:buFont typeface="Arial"/>
              <a:buChar char="•"/>
            </a:pPr>
            <a:r>
              <a:rPr lang="en-US" sz="2400">
                <a:latin typeface="Times New Roman" panose="02020603050405020304" pitchFamily="18" charset="0"/>
                <a:cs typeface="Times New Roman" panose="02020603050405020304" pitchFamily="18" charset="0"/>
              </a:rPr>
              <a:t>Networking abilities</a:t>
            </a:r>
          </a:p>
          <a:p>
            <a:pPr marL="457200" indent="-457200">
              <a:buFont typeface="Arial"/>
              <a:buChar char="•"/>
            </a:pPr>
            <a:r>
              <a:rPr lang="en-US" sz="2400">
                <a:latin typeface="Times New Roman" panose="02020603050405020304" pitchFamily="18" charset="0"/>
                <a:cs typeface="Times New Roman" panose="02020603050405020304" pitchFamily="18" charset="0"/>
              </a:rPr>
              <a:t>Tolerance for failure and ambiguity	</a:t>
            </a:r>
            <a:r>
              <a:rPr lang="en-US" sz="2100"/>
              <a:t>			</a:t>
            </a:r>
          </a:p>
        </p:txBody>
      </p:sp>
      <p:sp>
        <p:nvSpPr>
          <p:cNvPr id="3" name="Date Placeholder 2"/>
          <p:cNvSpPr>
            <a:spLocks noGrp="1"/>
          </p:cNvSpPr>
          <p:nvPr>
            <p:ph type="dt" sz="half" idx="10"/>
          </p:nvPr>
        </p:nvSpPr>
        <p:spPr/>
        <p:txBody>
          <a:bodyPr/>
          <a:lstStyle/>
          <a:p>
            <a:fld id="{64C33F64-E181-47D1-8466-767C055140FD}"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91</a:t>
            </a:fld>
            <a:endParaRPr lang="en-IN"/>
          </a:p>
        </p:txBody>
      </p:sp>
      <p:sp>
        <p:nvSpPr>
          <p:cNvPr id="12" name="Title 1"/>
          <p:cNvSpPr txBox="1">
            <a:spLocks/>
          </p:cNvSpPr>
          <p:nvPr/>
        </p:nvSpPr>
        <p:spPr>
          <a:xfrm>
            <a:off x="1502597" y="90488"/>
            <a:ext cx="7641403" cy="96224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QUALITIES OF A SUCCESSFUL ENTREPRENEUR</a:t>
            </a:r>
          </a:p>
        </p:txBody>
      </p:sp>
      <p:sp>
        <p:nvSpPr>
          <p:cNvPr id="4" name="Footer Placeholder 12">
            <a:extLst>
              <a:ext uri="{FF2B5EF4-FFF2-40B4-BE49-F238E27FC236}">
                <a16:creationId xmlns:a16="http://schemas.microsoft.com/office/drawing/2014/main" id="{2124A7D7-1132-AC8E-5743-E5BDADF1EFD0}"/>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6308373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5" y="1268760"/>
            <a:ext cx="8888646" cy="3046988"/>
          </a:xfrm>
          <a:prstGeom prst="rect">
            <a:avLst/>
          </a:prstGeom>
        </p:spPr>
        <p:txBody>
          <a:bodyPr wrap="square">
            <a:spAutoFit/>
          </a:bodyPr>
          <a:lstStyle/>
          <a:p>
            <a:pPr marL="342900" indent="-342900">
              <a:buFont typeface="Arial"/>
              <a:buChar char="•"/>
            </a:pPr>
            <a:r>
              <a:rPr lang="en-US" sz="2400">
                <a:latin typeface="Times New Roman" panose="02020603050405020304" pitchFamily="18" charset="0"/>
                <a:cs typeface="Times New Roman" panose="02020603050405020304" pitchFamily="18" charset="0"/>
              </a:rPr>
              <a:t>The word motivation has been derived from the word “motive”. Motive may be defined as an inner state of our mind that moves or activates or </a:t>
            </a:r>
            <a:r>
              <a:rPr lang="en-US" sz="2400" err="1">
                <a:latin typeface="Times New Roman" panose="02020603050405020304" pitchFamily="18" charset="0"/>
                <a:cs typeface="Times New Roman" panose="02020603050405020304" pitchFamily="18" charset="0"/>
              </a:rPr>
              <a:t>energise</a:t>
            </a:r>
            <a:r>
              <a:rPr lang="en-US" sz="2400">
                <a:latin typeface="Times New Roman" panose="02020603050405020304" pitchFamily="18" charset="0"/>
                <a:cs typeface="Times New Roman" panose="02020603050405020304" pitchFamily="18" charset="0"/>
              </a:rPr>
              <a:t> and directs our </a:t>
            </a:r>
            <a:r>
              <a:rPr lang="en-US" sz="2400" err="1">
                <a:latin typeface="Times New Roman" panose="02020603050405020304" pitchFamily="18" charset="0"/>
                <a:cs typeface="Times New Roman" panose="02020603050405020304" pitchFamily="18" charset="0"/>
              </a:rPr>
              <a:t>behaviour</a:t>
            </a:r>
            <a:r>
              <a:rPr lang="en-US" sz="2400">
                <a:latin typeface="Times New Roman" panose="02020603050405020304" pitchFamily="18" charset="0"/>
                <a:cs typeface="Times New Roman" panose="02020603050405020304" pitchFamily="18" charset="0"/>
              </a:rPr>
              <a:t> towards our goal.</a:t>
            </a:r>
          </a:p>
          <a:p>
            <a:pPr marL="342900" indent="-342900">
              <a:buFont typeface="Arial"/>
              <a:buChar char="•"/>
            </a:pPr>
            <a:endParaRPr lang="en-US" sz="2400">
              <a:latin typeface="Times New Roman" panose="02020603050405020304" pitchFamily="18" charset="0"/>
              <a:cs typeface="Times New Roman" panose="02020603050405020304" pitchFamily="18" charset="0"/>
            </a:endParaRPr>
          </a:p>
          <a:p>
            <a:pPr marL="342900" indent="-342900">
              <a:buFont typeface="Arial"/>
              <a:buChar char="•"/>
            </a:pPr>
            <a:r>
              <a:rPr lang="en-US" sz="2400">
                <a:latin typeface="Times New Roman" panose="02020603050405020304" pitchFamily="18" charset="0"/>
                <a:cs typeface="Times New Roman" panose="02020603050405020304" pitchFamily="18" charset="0"/>
              </a:rPr>
              <a:t>Motivation is a drive to achieve a target.</a:t>
            </a:r>
          </a:p>
          <a:p>
            <a:pPr marL="342900" indent="-342900">
              <a:buFont typeface="Arial"/>
              <a:buChar char="•"/>
            </a:pPr>
            <a:endParaRPr lang="en-US" sz="2400">
              <a:latin typeface="Times New Roman" panose="02020603050405020304" pitchFamily="18" charset="0"/>
              <a:cs typeface="Times New Roman" panose="02020603050405020304" pitchFamily="18" charset="0"/>
            </a:endParaRPr>
          </a:p>
          <a:p>
            <a:pPr marL="342900" indent="-342900">
              <a:buFont typeface="Arial"/>
              <a:buChar char="•"/>
            </a:pPr>
            <a:r>
              <a:rPr lang="en-US" sz="2400">
                <a:latin typeface="Times New Roman" panose="02020603050405020304" pitchFamily="18" charset="0"/>
                <a:cs typeface="Times New Roman" panose="02020603050405020304" pitchFamily="18" charset="0"/>
              </a:rPr>
              <a:t>Motives are the expression of a person’s goal or needs.</a:t>
            </a:r>
          </a:p>
          <a:p>
            <a:pPr marL="342900" indent="-342900">
              <a:buFont typeface="Arial"/>
              <a:buChar char="•"/>
            </a:pPr>
            <a:endParaRPr lang="en-US" sz="240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9D57764C-B851-455E-A2CA-B4DAAC375ECB}"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92</a:t>
            </a:fld>
            <a:endParaRPr lang="en-IN"/>
          </a:p>
        </p:txBody>
      </p:sp>
      <p:sp>
        <p:nvSpPr>
          <p:cNvPr id="12" name="Title 1"/>
          <p:cNvSpPr txBox="1">
            <a:spLocks/>
          </p:cNvSpPr>
          <p:nvPr/>
        </p:nvSpPr>
        <p:spPr>
          <a:xfrm>
            <a:off x="1524001" y="65683"/>
            <a:ext cx="7619999" cy="98705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ENTREPRENEURIAL MOTIVATION</a:t>
            </a:r>
          </a:p>
        </p:txBody>
      </p:sp>
      <p:sp>
        <p:nvSpPr>
          <p:cNvPr id="4" name="Footer Placeholder 12">
            <a:extLst>
              <a:ext uri="{FF2B5EF4-FFF2-40B4-BE49-F238E27FC236}">
                <a16:creationId xmlns:a16="http://schemas.microsoft.com/office/drawing/2014/main" id="{4184DF32-58FF-6C17-0EE0-C8C3EC3BF27C}"/>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7401756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264426" y="1676402"/>
            <a:ext cx="8615149" cy="3785652"/>
          </a:xfrm>
          <a:prstGeom prst="rect">
            <a:avLst/>
          </a:prstGeom>
        </p:spPr>
        <p:txBody>
          <a:bodyPr wrap="square">
            <a:spAutoFit/>
          </a:bodyPr>
          <a:lstStyle/>
          <a:p>
            <a:r>
              <a:rPr lang="en-US" sz="2400">
                <a:latin typeface="Times New Roman" panose="02020603050405020304" pitchFamily="18" charset="0"/>
                <a:cs typeface="Times New Roman" panose="02020603050405020304" pitchFamily="18" charset="0"/>
              </a:rPr>
              <a:t>INTERNAL FACTORS</a:t>
            </a:r>
          </a:p>
          <a:p>
            <a:pPr marL="342900" indent="-342900">
              <a:buFont typeface="Arial"/>
              <a:buChar char="•"/>
            </a:pPr>
            <a:r>
              <a:rPr lang="en-US" sz="2400">
                <a:latin typeface="Times New Roman" panose="02020603050405020304" pitchFamily="18" charset="0"/>
                <a:cs typeface="Times New Roman" panose="02020603050405020304" pitchFamily="18" charset="0"/>
              </a:rPr>
              <a:t>Desire To Do Something</a:t>
            </a:r>
          </a:p>
          <a:p>
            <a:pPr marL="342900" indent="-342900">
              <a:buFont typeface="Arial"/>
              <a:buChar char="•"/>
            </a:pPr>
            <a:r>
              <a:rPr lang="en-US" sz="2400">
                <a:latin typeface="Times New Roman" panose="02020603050405020304" pitchFamily="18" charset="0"/>
                <a:cs typeface="Times New Roman" panose="02020603050405020304" pitchFamily="18" charset="0"/>
              </a:rPr>
              <a:t>Educational Background</a:t>
            </a:r>
          </a:p>
          <a:p>
            <a:pPr marL="342900" indent="-342900">
              <a:buFont typeface="Arial"/>
              <a:buChar char="•"/>
            </a:pPr>
            <a:r>
              <a:rPr lang="en-US" sz="2400">
                <a:latin typeface="Times New Roman" panose="02020603050405020304" pitchFamily="18" charset="0"/>
                <a:cs typeface="Times New Roman" panose="02020603050405020304" pitchFamily="18" charset="0"/>
              </a:rPr>
              <a:t>Experience</a:t>
            </a:r>
          </a:p>
          <a:p>
            <a:pPr marL="342900" indent="-342900">
              <a:buFont typeface="Arial"/>
              <a:buChar char="•"/>
            </a:pP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EXTERNAL FACTORS</a:t>
            </a:r>
          </a:p>
          <a:p>
            <a:pPr marL="342900" indent="-342900">
              <a:buFont typeface="Arial"/>
              <a:buChar char="•"/>
            </a:pPr>
            <a:r>
              <a:rPr lang="en-US" sz="2400">
                <a:latin typeface="Times New Roman" panose="02020603050405020304" pitchFamily="18" charset="0"/>
                <a:cs typeface="Times New Roman" panose="02020603050405020304" pitchFamily="18" charset="0"/>
              </a:rPr>
              <a:t>Government Assistance And Support</a:t>
            </a:r>
          </a:p>
          <a:p>
            <a:pPr marL="342900" indent="-342900">
              <a:buFont typeface="Arial"/>
              <a:buChar char="•"/>
            </a:pPr>
            <a:r>
              <a:rPr lang="en-US" sz="2400">
                <a:latin typeface="Times New Roman" panose="02020603050405020304" pitchFamily="18" charset="0"/>
                <a:cs typeface="Times New Roman" panose="02020603050405020304" pitchFamily="18" charset="0"/>
              </a:rPr>
              <a:t>Availability Of Raw Material</a:t>
            </a:r>
          </a:p>
          <a:p>
            <a:pPr marL="342900" indent="-342900">
              <a:buFont typeface="Arial"/>
              <a:buChar char="•"/>
            </a:pPr>
            <a:r>
              <a:rPr lang="en-US" sz="2400">
                <a:latin typeface="Times New Roman" panose="02020603050405020304" pitchFamily="18" charset="0"/>
                <a:cs typeface="Times New Roman" panose="02020603050405020304" pitchFamily="18" charset="0"/>
              </a:rPr>
              <a:t>Encouragement From Big Businesses Houses</a:t>
            </a:r>
          </a:p>
          <a:p>
            <a:pPr marL="342900" indent="-342900">
              <a:buFont typeface="Arial"/>
              <a:buChar char="•"/>
            </a:pPr>
            <a:r>
              <a:rPr lang="en-US" sz="2400">
                <a:latin typeface="Times New Roman" panose="02020603050405020304" pitchFamily="18" charset="0"/>
                <a:cs typeface="Times New Roman" panose="02020603050405020304" pitchFamily="18" charset="0"/>
              </a:rPr>
              <a:t>Promising Demand For The Product.</a:t>
            </a:r>
          </a:p>
        </p:txBody>
      </p:sp>
      <p:sp>
        <p:nvSpPr>
          <p:cNvPr id="3" name="Date Placeholder 2"/>
          <p:cNvSpPr>
            <a:spLocks noGrp="1"/>
          </p:cNvSpPr>
          <p:nvPr>
            <p:ph type="dt" sz="half" idx="10"/>
          </p:nvPr>
        </p:nvSpPr>
        <p:spPr/>
        <p:txBody>
          <a:bodyPr/>
          <a:lstStyle/>
          <a:p>
            <a:fld id="{1DDF8DE5-D6AF-4CCB-B924-F37469431FC4}"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93</a:t>
            </a:fld>
            <a:endParaRPr lang="en-IN"/>
          </a:p>
        </p:txBody>
      </p:sp>
      <p:sp>
        <p:nvSpPr>
          <p:cNvPr id="12" name="Title 1"/>
          <p:cNvSpPr txBox="1">
            <a:spLocks/>
          </p:cNvSpPr>
          <p:nvPr/>
        </p:nvSpPr>
        <p:spPr>
          <a:xfrm>
            <a:off x="1654842" y="0"/>
            <a:ext cx="7489158"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000"/>
              <a:t> </a:t>
            </a:r>
            <a:r>
              <a:rPr lang="en-US" sz="3600" b="1">
                <a:latin typeface="Times New Roman" panose="02020603050405020304" pitchFamily="18" charset="0"/>
                <a:cs typeface="Times New Roman" panose="02020603050405020304" pitchFamily="18" charset="0"/>
              </a:rPr>
              <a:t>MOTIVATING FACTORS</a:t>
            </a:r>
          </a:p>
        </p:txBody>
      </p:sp>
      <p:sp>
        <p:nvSpPr>
          <p:cNvPr id="4" name="Footer Placeholder 12">
            <a:extLst>
              <a:ext uri="{FF2B5EF4-FFF2-40B4-BE49-F238E27FC236}">
                <a16:creationId xmlns:a16="http://schemas.microsoft.com/office/drawing/2014/main" id="{BA7EAA1E-B941-0EE0-A444-D834CDA666D0}"/>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740175649"/>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016670"/>
            <a:ext cx="8579296" cy="5109495"/>
          </a:xfrm>
        </p:spPr>
        <p:txBody>
          <a:bodyPr>
            <a:normAutofit/>
          </a:bodyPr>
          <a:lstStyle/>
          <a:p>
            <a:r>
              <a:rPr lang="en-US"/>
              <a:t> </a:t>
            </a:r>
            <a:r>
              <a:rPr lang="en-US" sz="2600">
                <a:latin typeface="Times New Roman" panose="02020603050405020304" pitchFamily="18" charset="0"/>
                <a:cs typeface="Times New Roman" panose="02020603050405020304" pitchFamily="18" charset="0"/>
              </a:rPr>
              <a:t>Corporate </a:t>
            </a:r>
            <a:r>
              <a:rPr lang="en-US" sz="2600" u="sng">
                <a:latin typeface="Times New Roman" panose="02020603050405020304" pitchFamily="18" charset="0"/>
                <a:cs typeface="Times New Roman" panose="02020603050405020304" pitchFamily="18" charset="0"/>
              </a:rPr>
              <a:t>entrepreneurship</a:t>
            </a:r>
          </a:p>
          <a:p>
            <a:pPr lvl="1"/>
            <a:r>
              <a:rPr lang="en-US" sz="2600">
                <a:latin typeface="Times New Roman" panose="02020603050405020304" pitchFamily="18" charset="0"/>
                <a:cs typeface="Times New Roman" panose="02020603050405020304" pitchFamily="18" charset="0"/>
              </a:rPr>
              <a:t> We define the term as the procedure by which teams within an established company conceive, foster, launch and manage a new business separate from the parent company but leverage the parent’s properties, market position, competencies or other resources.</a:t>
            </a:r>
          </a:p>
          <a:p>
            <a:pPr lvl="1"/>
            <a:r>
              <a:rPr lang="en-US" sz="2600">
                <a:latin typeface="Times New Roman" panose="02020603050405020304" pitchFamily="18" charset="0"/>
                <a:cs typeface="Times New Roman" panose="02020603050405020304" pitchFamily="18" charset="0"/>
              </a:rPr>
              <a:t>This process seeks to create value, drive revenue growth, and encourage innovation inside the company through entrepreneurial thoughts and actions. </a:t>
            </a:r>
          </a:p>
          <a:p>
            <a:pPr lvl="1"/>
            <a:endParaRPr lang="en-US" sz="2600">
              <a:latin typeface="Times New Roman" panose="02020603050405020304" pitchFamily="18" charset="0"/>
              <a:cs typeface="Times New Roman" panose="02020603050405020304" pitchFamily="18" charset="0"/>
            </a:endParaRPr>
          </a:p>
          <a:p>
            <a:endParaRPr lang="en-US"/>
          </a:p>
        </p:txBody>
      </p:sp>
      <p:sp>
        <p:nvSpPr>
          <p:cNvPr id="4" name="Date Placeholder 3"/>
          <p:cNvSpPr>
            <a:spLocks noGrp="1"/>
          </p:cNvSpPr>
          <p:nvPr>
            <p:ph type="dt" sz="half" idx="10"/>
          </p:nvPr>
        </p:nvSpPr>
        <p:spPr/>
        <p:txBody>
          <a:bodyPr/>
          <a:lstStyle/>
          <a:p>
            <a:fld id="{679DEAA7-C1ED-41FE-BF26-BEE4A56DA3E7}"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5" name="Footer Placeholder 12">
            <a:extLst>
              <a:ext uri="{FF2B5EF4-FFF2-40B4-BE49-F238E27FC236}">
                <a16:creationId xmlns:a16="http://schemas.microsoft.com/office/drawing/2014/main" id="{C5B72271-E976-21EE-79F4-81EA6839D254}"/>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Title 1"/>
          <p:cNvSpPr txBox="1">
            <a:spLocks/>
          </p:cNvSpPr>
          <p:nvPr/>
        </p:nvSpPr>
        <p:spPr>
          <a:xfrm>
            <a:off x="1547664" y="0"/>
            <a:ext cx="7596336" cy="90872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Corporate </a:t>
            </a:r>
            <a:r>
              <a:rPr lang="en-US" sz="3600" b="1" u="sng">
                <a:latin typeface="Times New Roman" panose="02020603050405020304" pitchFamily="18" charset="0"/>
                <a:cs typeface="Times New Roman" panose="02020603050405020304" pitchFamily="18" charset="0"/>
              </a:rPr>
              <a:t>Entrepreneurship</a:t>
            </a:r>
            <a:endParaRPr lang="en-US" sz="3600" b="1">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p:cNvSpPr>
            <a:spLocks noGrp="1"/>
          </p:cNvSpPr>
          <p:nvPr>
            <p:ph type="dt" sz="half" idx="10"/>
          </p:nvPr>
        </p:nvSpPr>
        <p:spPr>
          <a:xfrm>
            <a:off x="457200" y="6356352"/>
            <a:ext cx="2133600" cy="365125"/>
          </a:xfrm>
        </p:spPr>
        <p:txBody>
          <a:bodyPr/>
          <a:lstStyle/>
          <a:p>
            <a:fld id="{47FC93F7-1A9E-427B-9AF7-EF3C259878FF}" type="datetime1">
              <a:rPr lang="en-US" smtClean="0"/>
              <a:pPr/>
              <a:t>12-Aug-25</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95</a:t>
            </a:fld>
            <a:endParaRPr lang="en-US"/>
          </a:p>
        </p:txBody>
      </p:sp>
      <p:pic>
        <p:nvPicPr>
          <p:cNvPr id="3" name="Picture 2">
            <a:extLst>
              <a:ext uri="{FF2B5EF4-FFF2-40B4-BE49-F238E27FC236}">
                <a16:creationId xmlns:a16="http://schemas.microsoft.com/office/drawing/2014/main" id="{0D664AE8-C0E0-4BD1-9C4A-2EB9F30D2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822" y="1003977"/>
            <a:ext cx="8518358" cy="5244425"/>
          </a:xfrm>
          <a:prstGeom prst="rect">
            <a:avLst/>
          </a:prstGeom>
        </p:spPr>
      </p:pic>
      <p:sp>
        <p:nvSpPr>
          <p:cNvPr id="2" name="Footer Placeholder 12">
            <a:extLst>
              <a:ext uri="{FF2B5EF4-FFF2-40B4-BE49-F238E27FC236}">
                <a16:creationId xmlns:a16="http://schemas.microsoft.com/office/drawing/2014/main" id="{40069DCA-3D2E-A567-9033-6852EDE76269}"/>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Title 1"/>
          <p:cNvSpPr txBox="1">
            <a:spLocks/>
          </p:cNvSpPr>
          <p:nvPr/>
        </p:nvSpPr>
        <p:spPr>
          <a:xfrm>
            <a:off x="1547664" y="0"/>
            <a:ext cx="7596336" cy="90872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Corporate </a:t>
            </a:r>
            <a:r>
              <a:rPr lang="en-US" sz="3600" b="1" u="sng">
                <a:latin typeface="Times New Roman" panose="02020603050405020304" pitchFamily="18" charset="0"/>
                <a:cs typeface="Times New Roman" panose="02020603050405020304" pitchFamily="18" charset="0"/>
              </a:rPr>
              <a:t>Entrepreneurship</a:t>
            </a:r>
            <a:endParaRPr lang="en-US" sz="3600" b="1">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8675749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6C60AF7-2A79-4D0F-9759-0A30014FD349}" type="datetime1">
              <a:rPr lang="en-US" smtClean="0"/>
              <a:pPr/>
              <a:t>12-Aug-25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96</a:t>
            </a:fld>
            <a:endParaRPr lang="en-US"/>
          </a:p>
        </p:txBody>
      </p:sp>
      <p:sp>
        <p:nvSpPr>
          <p:cNvPr id="3073" name="Rectangle 1"/>
          <p:cNvSpPr>
            <a:spLocks noChangeArrowheads="1"/>
          </p:cNvSpPr>
          <p:nvPr/>
        </p:nvSpPr>
        <p:spPr bwMode="auto">
          <a:xfrm>
            <a:off x="107504" y="1124744"/>
            <a:ext cx="9144000"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Importance of Corporate Entrepreneurship</a:t>
            </a:r>
          </a:p>
          <a:p>
            <a:pPr lvl="0" fontAlgn="base">
              <a:spcBef>
                <a:spcPct val="0"/>
              </a:spcBef>
              <a:spcAft>
                <a:spcPct val="0"/>
              </a:spcAft>
              <a:buFont typeface="Arial" pitchFamily="34" charset="0"/>
              <a:buChar char="•"/>
            </a:pPr>
            <a:r>
              <a:rPr lang="en-US" sz="2400">
                <a:latin typeface="Times New Roman" panose="02020603050405020304" pitchFamily="18" charset="0"/>
                <a:cs typeface="Times New Roman" panose="02020603050405020304" pitchFamily="18" charset="0"/>
              </a:rPr>
              <a:t>Drives Revenue and Organizational Growth</a:t>
            </a:r>
          </a:p>
          <a:p>
            <a:pPr fontAlgn="base">
              <a:spcBef>
                <a:spcPct val="0"/>
              </a:spcBef>
              <a:spcAft>
                <a:spcPct val="0"/>
              </a:spcAft>
              <a:buFont typeface="Arial" pitchFamily="34" charset="0"/>
              <a:buChar char="•"/>
            </a:pPr>
            <a:r>
              <a:rPr lang="en-US" sz="2400">
                <a:latin typeface="Times New Roman" panose="02020603050405020304" pitchFamily="18" charset="0"/>
                <a:cs typeface="Times New Roman" panose="02020603050405020304" pitchFamily="18" charset="0"/>
              </a:rPr>
              <a:t>Boosts Employee Morale and Productivity</a:t>
            </a:r>
          </a:p>
          <a:p>
            <a:pPr fontAlgn="base">
              <a:spcBef>
                <a:spcPct val="0"/>
              </a:spcBef>
              <a:spcAft>
                <a:spcPct val="0"/>
              </a:spcAft>
              <a:buFont typeface="Arial" pitchFamily="34" charset="0"/>
              <a:buChar char="•"/>
            </a:pPr>
            <a:r>
              <a:rPr lang="en-US" sz="2400">
                <a:latin typeface="Times New Roman" panose="02020603050405020304" pitchFamily="18" charset="0"/>
                <a:cs typeface="Times New Roman" panose="02020603050405020304" pitchFamily="18" charset="0"/>
              </a:rPr>
              <a:t>Increases Employee Recruitment and Retention</a:t>
            </a:r>
          </a:p>
          <a:p>
            <a:pPr fontAlgn="base">
              <a:spcBef>
                <a:spcPct val="0"/>
              </a:spcBef>
              <a:spcAft>
                <a:spcPct val="0"/>
              </a:spcAft>
              <a:buFont typeface="Arial" pitchFamily="34" charset="0"/>
              <a:buChar char="•"/>
            </a:pPr>
            <a:endParaRPr lang="en-US" sz="2400">
              <a:latin typeface="Times New Roman" panose="02020603050405020304" pitchFamily="18" charset="0"/>
              <a:cs typeface="Times New Roman" panose="02020603050405020304" pitchFamily="18" charset="0"/>
            </a:endParaRPr>
          </a:p>
          <a:p>
            <a:pPr lvl="1" fontAlgn="base">
              <a:spcBef>
                <a:spcPct val="0"/>
              </a:spcBef>
              <a:spcAft>
                <a:spcPct val="0"/>
              </a:spcAft>
              <a:buFont typeface="Arial" pitchFamily="34" charset="0"/>
              <a:buChar char="•"/>
            </a:pPr>
            <a:endParaRPr lang="en-US" sz="2400">
              <a:latin typeface="Times New Roman" panose="02020603050405020304" pitchFamily="18" charset="0"/>
              <a:cs typeface="Times New Roman" panose="02020603050405020304" pitchFamily="18" charset="0"/>
            </a:endParaRPr>
          </a:p>
          <a:p>
            <a:pPr lvl="0" fontAlgn="base">
              <a:spcBef>
                <a:spcPct val="0"/>
              </a:spcBef>
              <a:spcAft>
                <a:spcPct val="0"/>
              </a:spcAft>
            </a:pPr>
            <a:endParaRPr kumimoji="0" 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Footer Placeholder 12">
            <a:extLst>
              <a:ext uri="{FF2B5EF4-FFF2-40B4-BE49-F238E27FC236}">
                <a16:creationId xmlns:a16="http://schemas.microsoft.com/office/drawing/2014/main" id="{C6B60D17-164D-9D6F-5F16-4EAF59E3DFF4}"/>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Title 1"/>
          <p:cNvSpPr txBox="1">
            <a:spLocks noGrp="1"/>
          </p:cNvSpPr>
          <p:nvPr>
            <p:ph type="title"/>
          </p:nvPr>
        </p:nvSpPr>
        <p:spPr>
          <a:xfrm>
            <a:off x="1475656" y="0"/>
            <a:ext cx="7668344" cy="83671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Corporate </a:t>
            </a:r>
            <a:r>
              <a:rPr lang="en-US" sz="3600" b="1" u="sng">
                <a:latin typeface="Times New Roman" panose="02020603050405020304" pitchFamily="18" charset="0"/>
                <a:cs typeface="Times New Roman" panose="02020603050405020304" pitchFamily="18" charset="0"/>
              </a:rPr>
              <a:t>Entrepreneurship</a:t>
            </a:r>
            <a:endParaRPr lang="en-US" sz="3600" b="1">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928670"/>
            <a:ext cx="8615149" cy="5586145"/>
          </a:xfrm>
          <a:prstGeom prst="rect">
            <a:avLst/>
          </a:prstGeom>
        </p:spPr>
        <p:txBody>
          <a:bodyPr wrap="square">
            <a:spAutoFit/>
          </a:bodyPr>
          <a:lstStyle/>
          <a:p>
            <a:pPr marL="342900" indent="-342900">
              <a:buFont typeface="Arial" panose="020B0604020202020204" pitchFamily="34" charset="0"/>
              <a:buChar char="•"/>
            </a:pPr>
            <a:r>
              <a:rPr lang="en-US" sz="2400" u="sng" err="1">
                <a:latin typeface="Times New Roman" panose="02020603050405020304" pitchFamily="18" charset="0"/>
                <a:cs typeface="Times New Roman" panose="02020603050405020304" pitchFamily="18" charset="0"/>
                <a:hlinkClick r:id="rId2"/>
              </a:rPr>
              <a:t>Intrapreneurs</a:t>
            </a:r>
            <a:r>
              <a:rPr lang="en-US" sz="2400">
                <a:latin typeface="Times New Roman" panose="02020603050405020304" pitchFamily="18" charset="0"/>
                <a:cs typeface="Times New Roman" panose="02020603050405020304" pitchFamily="18" charset="0"/>
              </a:rPr>
              <a:t> are self-motivated, proactive, and action-oriented people who take the initiative to pursue an innovative product or service. </a:t>
            </a:r>
          </a:p>
          <a:p>
            <a:pPr marL="342900"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An </a:t>
            </a:r>
            <a:r>
              <a:rPr lang="en-US" sz="2400" err="1">
                <a:latin typeface="Times New Roman" panose="02020603050405020304" pitchFamily="18" charset="0"/>
                <a:cs typeface="Times New Roman" panose="02020603050405020304" pitchFamily="18" charset="0"/>
              </a:rPr>
              <a:t>intrapreneur</a:t>
            </a:r>
            <a:r>
              <a:rPr lang="en-US" sz="2400">
                <a:latin typeface="Times New Roman" panose="02020603050405020304" pitchFamily="18" charset="0"/>
                <a:cs typeface="Times New Roman" panose="02020603050405020304" pitchFamily="18" charset="0"/>
              </a:rPr>
              <a:t> knows failure does not have a personal cost as it does for an entrepreneur since the organization absorbs losses that arise from failure. </a:t>
            </a:r>
            <a:r>
              <a:rPr lang="en-US" sz="2400" err="1">
                <a:latin typeface="Times New Roman" panose="02020603050405020304" pitchFamily="18" charset="0"/>
                <a:cs typeface="Times New Roman" panose="02020603050405020304" pitchFamily="18" charset="0"/>
              </a:rPr>
              <a:t>Intrapreneurship</a:t>
            </a:r>
            <a:r>
              <a:rPr lang="en-US" sz="2400">
                <a:latin typeface="Times New Roman" panose="02020603050405020304" pitchFamily="18" charset="0"/>
                <a:cs typeface="Times New Roman" panose="02020603050405020304" pitchFamily="18" charset="0"/>
              </a:rPr>
              <a:t> is one step toward entrepreneurship—</a:t>
            </a:r>
            <a:r>
              <a:rPr lang="en-US" sz="2400" err="1">
                <a:latin typeface="Times New Roman" panose="02020603050405020304" pitchFamily="18" charset="0"/>
                <a:cs typeface="Times New Roman" panose="02020603050405020304" pitchFamily="18" charset="0"/>
              </a:rPr>
              <a:t>intrapreneurs</a:t>
            </a:r>
            <a:r>
              <a:rPr lang="en-US" sz="2400">
                <a:latin typeface="Times New Roman" panose="02020603050405020304" pitchFamily="18" charset="0"/>
                <a:cs typeface="Times New Roman" panose="02020603050405020304" pitchFamily="18" charset="0"/>
              </a:rPr>
              <a:t> can use what they've learned as part of a team to develop their own businesses.</a:t>
            </a:r>
          </a:p>
          <a:p>
            <a:pPr marL="342900" indent="-342900">
              <a:buFont typeface="Arial" panose="020B0604020202020204" pitchFamily="34" charset="0"/>
              <a:buChar char="•"/>
            </a:pPr>
            <a:r>
              <a:rPr lang="en-US" sz="2400" u="sng" err="1">
                <a:latin typeface="Times New Roman" panose="02020603050405020304" pitchFamily="18" charset="0"/>
                <a:cs typeface="Times New Roman" panose="02020603050405020304" pitchFamily="18" charset="0"/>
                <a:hlinkClick r:id="rId2"/>
              </a:rPr>
              <a:t>Intrapreneurs</a:t>
            </a:r>
            <a:r>
              <a:rPr lang="en-US" sz="2400">
                <a:latin typeface="Times New Roman" panose="02020603050405020304" pitchFamily="18" charset="0"/>
                <a:cs typeface="Times New Roman" panose="02020603050405020304" pitchFamily="18" charset="0"/>
              </a:rPr>
              <a:t>  are employees who are generally self-starters who are both ambitious and goal oriented. They are often able to solve problems on their own, and come up with ideas that lead to process improvements. An </a:t>
            </a:r>
            <a:r>
              <a:rPr lang="en-US" sz="2400" err="1">
                <a:latin typeface="Times New Roman" panose="02020603050405020304" pitchFamily="18" charset="0"/>
                <a:cs typeface="Times New Roman" panose="02020603050405020304" pitchFamily="18" charset="0"/>
              </a:rPr>
              <a:t>intrapreneur</a:t>
            </a:r>
            <a:r>
              <a:rPr lang="en-US" sz="2400">
                <a:latin typeface="Times New Roman" panose="02020603050405020304" pitchFamily="18" charset="0"/>
                <a:cs typeface="Times New Roman" panose="02020603050405020304" pitchFamily="18" charset="0"/>
              </a:rPr>
              <a:t> may also take certain risks by assuming multiple tasks—even some that they may not be comfortable with—and look for new challenges.</a:t>
            </a:r>
          </a:p>
          <a:p>
            <a:pPr marL="342900" indent="-342900">
              <a:buFont typeface="Arial" panose="020B0604020202020204" pitchFamily="34" charset="0"/>
              <a:buChar char="•"/>
            </a:pPr>
            <a:endParaRPr lang="en-US" sz="210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E312F076-0DB7-4475-AD43-7B51222514E9}"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97</a:t>
            </a:fld>
            <a:endParaRPr lang="en-IN"/>
          </a:p>
        </p:txBody>
      </p:sp>
      <p:sp>
        <p:nvSpPr>
          <p:cNvPr id="12" name="Title 1"/>
          <p:cNvSpPr txBox="1">
            <a:spLocks/>
          </p:cNvSpPr>
          <p:nvPr/>
        </p:nvSpPr>
        <p:spPr>
          <a:xfrm>
            <a:off x="1497458" y="65683"/>
            <a:ext cx="7646542" cy="75503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200"/>
              <a:t>                 </a:t>
            </a:r>
            <a:r>
              <a:rPr lang="en-US" sz="3600" b="1">
                <a:latin typeface="Times New Roman" panose="02020603050405020304" pitchFamily="18" charset="0"/>
                <a:cs typeface="Times New Roman" panose="02020603050405020304" pitchFamily="18" charset="0"/>
              </a:rPr>
              <a:t>INTRAPRENEURS</a:t>
            </a:r>
          </a:p>
        </p:txBody>
      </p:sp>
      <p:sp>
        <p:nvSpPr>
          <p:cNvPr id="4" name="Footer Placeholder 12">
            <a:extLst>
              <a:ext uri="{FF2B5EF4-FFF2-40B4-BE49-F238E27FC236}">
                <a16:creationId xmlns:a16="http://schemas.microsoft.com/office/drawing/2014/main" id="{A18F6188-48E4-7D5C-9178-0365AE72C162}"/>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7401756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08424"/>
            <a:ext cx="9072349" cy="5539978"/>
          </a:xfrm>
          <a:prstGeom prst="rect">
            <a:avLst/>
          </a:prstGeom>
        </p:spPr>
        <p:txBody>
          <a:bodyPr wrap="square">
            <a:spAutoFit/>
          </a:bodyPr>
          <a:lstStyle/>
          <a:p>
            <a:pPr marL="342900"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Intra-</a:t>
            </a:r>
            <a:r>
              <a:rPr lang="en-US" sz="2400" err="1">
                <a:latin typeface="Times New Roman" panose="02020603050405020304" pitchFamily="18" charset="0"/>
                <a:cs typeface="Times New Roman" panose="02020603050405020304" pitchFamily="18" charset="0"/>
              </a:rPr>
              <a:t>preneur</a:t>
            </a:r>
            <a:r>
              <a:rPr lang="en-US" sz="2400">
                <a:latin typeface="Times New Roman" panose="02020603050405020304" pitchFamily="18" charset="0"/>
                <a:cs typeface="Times New Roman" panose="02020603050405020304" pitchFamily="18" charset="0"/>
              </a:rPr>
              <a:t> is a manager who focuses on innovation and creativity, who brainstorms, dreams and puts ideas into profitable venture by operating within the organizational environment.</a:t>
            </a:r>
          </a:p>
          <a:p>
            <a:pPr marL="342900"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It gives managers the freedom to try new ideas by employing  firm’s resources in a unique way.</a:t>
            </a:r>
          </a:p>
          <a:p>
            <a:pPr marL="342900"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Some examples</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Google , </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3M- has established its reputation as a powerhouse of innovation. This is because they have developed more than 60,000 products in their portfolio, ranging from the products used in medical equipment to the automobile industry,</a:t>
            </a:r>
          </a:p>
          <a:p>
            <a:pPr marL="800100"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hlinkClick r:id="rId2"/>
              </a:rPr>
              <a:t>P&amp;G</a:t>
            </a:r>
            <a:endParaRPr lang="en-US" sz="2400">
              <a:latin typeface="Times New Roman" panose="02020603050405020304" pitchFamily="18" charset="0"/>
              <a:cs typeface="Times New Roman" panose="02020603050405020304" pitchFamily="18" charset="0"/>
            </a:endParaRPr>
          </a:p>
          <a:p>
            <a:pPr marL="800100" lvl="1" indent="-342900"/>
            <a:r>
              <a:rPr lang="en-US" sz="2400">
                <a:latin typeface="Times New Roman" panose="02020603050405020304" pitchFamily="18" charset="0"/>
                <a:cs typeface="Times New Roman" panose="02020603050405020304" pitchFamily="18" charset="0"/>
              </a:rPr>
              <a:t> </a:t>
            </a:r>
          </a:p>
          <a:p>
            <a:r>
              <a:rPr lang="en-US" sz="2100"/>
              <a:t>					</a:t>
            </a:r>
          </a:p>
          <a:p>
            <a:endParaRPr lang="en-US" sz="2100"/>
          </a:p>
        </p:txBody>
      </p:sp>
      <p:sp>
        <p:nvSpPr>
          <p:cNvPr id="3" name="Date Placeholder 2"/>
          <p:cNvSpPr>
            <a:spLocks noGrp="1"/>
          </p:cNvSpPr>
          <p:nvPr>
            <p:ph type="dt" sz="half" idx="10"/>
          </p:nvPr>
        </p:nvSpPr>
        <p:spPr/>
        <p:txBody>
          <a:bodyPr/>
          <a:lstStyle/>
          <a:p>
            <a:fld id="{E312F076-0DB7-4475-AD43-7B51222514E9}" type="datetime1">
              <a:rPr lang="en-US" smtClean="0"/>
              <a:pPr/>
              <a:t>12-Aug-25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98</a:t>
            </a:fld>
            <a:endParaRPr lang="en-IN"/>
          </a:p>
        </p:txBody>
      </p:sp>
      <p:sp>
        <p:nvSpPr>
          <p:cNvPr id="4" name="Footer Placeholder 12">
            <a:extLst>
              <a:ext uri="{FF2B5EF4-FFF2-40B4-BE49-F238E27FC236}">
                <a16:creationId xmlns:a16="http://schemas.microsoft.com/office/drawing/2014/main" id="{A45E57CD-A6BC-C935-9B69-34DC12909D93}"/>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Title 1"/>
          <p:cNvSpPr txBox="1">
            <a:spLocks/>
          </p:cNvSpPr>
          <p:nvPr/>
        </p:nvSpPr>
        <p:spPr>
          <a:xfrm>
            <a:off x="1475656" y="0"/>
            <a:ext cx="7668344" cy="70842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latin typeface="Times New Roman" panose="02020603050405020304" pitchFamily="18" charset="0"/>
                <a:cs typeface="Times New Roman" panose="02020603050405020304" pitchFamily="18" charset="0"/>
              </a:rPr>
              <a:t>Corporate </a:t>
            </a:r>
            <a:r>
              <a:rPr lang="en-US" sz="3600" b="1" u="sng">
                <a:latin typeface="Times New Roman" panose="02020603050405020304" pitchFamily="18" charset="0"/>
                <a:cs typeface="Times New Roman" panose="02020603050405020304" pitchFamily="18" charset="0"/>
              </a:rPr>
              <a:t>entrepreneurship</a:t>
            </a:r>
            <a:endParaRPr lang="en-US" sz="3600" b="1">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7401756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54CD69-D59B-434A-9408-1DD4BEF89535}"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7" name="Title 1"/>
          <p:cNvSpPr txBox="1">
            <a:spLocks/>
          </p:cNvSpPr>
          <p:nvPr/>
        </p:nvSpPr>
        <p:spPr>
          <a:xfrm>
            <a:off x="1547664" y="-40637"/>
            <a:ext cx="7596336" cy="87735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Video Link</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1" name="Rectangle 10"/>
          <p:cNvSpPr/>
          <p:nvPr/>
        </p:nvSpPr>
        <p:spPr>
          <a:xfrm>
            <a:off x="251520" y="836713"/>
            <a:ext cx="8784976" cy="4893647"/>
          </a:xfrm>
          <a:prstGeom prst="rect">
            <a:avLst/>
          </a:prstGeom>
        </p:spPr>
        <p:txBody>
          <a:bodyPr wrap="square">
            <a:spAutoFit/>
          </a:bodyPr>
          <a:lstStyle/>
          <a:p>
            <a:r>
              <a:rPr lang="en-IN" sz="2400" kern="1200">
                <a:latin typeface="Times New Roman" panose="02020603050405020304" pitchFamily="18" charset="0"/>
                <a:cs typeface="Times New Roman" panose="02020603050405020304" pitchFamily="18" charset="0"/>
                <a:hlinkClick r:id="rId2"/>
              </a:rPr>
              <a:t>https://www.youtube.com/watch?v=p7vhcob-YkI&amp;list=PLbRMhDVUMngcukfJf-ChqlbjZzthAbRPw&amp;index=2</a:t>
            </a:r>
            <a:endParaRPr lang="en-IN" sz="2400" kern="1200">
              <a:latin typeface="Times New Roman" panose="02020603050405020304" pitchFamily="18" charset="0"/>
              <a:cs typeface="Times New Roman" panose="02020603050405020304" pitchFamily="18" charset="0"/>
            </a:endParaRPr>
          </a:p>
          <a:p>
            <a:endParaRPr lang="en-IN" sz="2400" kern="1200">
              <a:latin typeface="Times New Roman" panose="02020603050405020304" pitchFamily="18" charset="0"/>
              <a:cs typeface="Times New Roman" panose="02020603050405020304" pitchFamily="18" charset="0"/>
            </a:endParaRPr>
          </a:p>
          <a:p>
            <a:r>
              <a:rPr lang="en-IN" sz="2400" kern="1200">
                <a:latin typeface="Times New Roman" panose="02020603050405020304" pitchFamily="18" charset="0"/>
                <a:cs typeface="Times New Roman" panose="02020603050405020304" pitchFamily="18" charset="0"/>
                <a:hlinkClick r:id="rId3"/>
              </a:rPr>
              <a:t>https://www.youtube.com/watch?v=Y8D3QYqzb80&amp;list=PLbRMhDVUMngcukfJf-ChqlbjZzthAbRPw&amp;index=3</a:t>
            </a:r>
            <a:endParaRPr lang="en-IN" sz="2400" kern="1200">
              <a:latin typeface="Times New Roman" panose="02020603050405020304" pitchFamily="18" charset="0"/>
              <a:cs typeface="Times New Roman" panose="02020603050405020304" pitchFamily="18" charset="0"/>
            </a:endParaRPr>
          </a:p>
          <a:p>
            <a:endParaRPr lang="en-IN" sz="2400" kern="1200">
              <a:latin typeface="Times New Roman" panose="02020603050405020304" pitchFamily="18" charset="0"/>
              <a:cs typeface="Times New Roman" panose="02020603050405020304" pitchFamily="18" charset="0"/>
            </a:endParaRPr>
          </a:p>
          <a:p>
            <a:r>
              <a:rPr lang="en-IN" sz="2400" kern="1200">
                <a:latin typeface="Times New Roman" panose="02020603050405020304" pitchFamily="18" charset="0"/>
                <a:cs typeface="Times New Roman" panose="02020603050405020304" pitchFamily="18" charset="0"/>
                <a:hlinkClick r:id="rId4"/>
              </a:rPr>
              <a:t>https://www.youtube.com/watch?v=CF27N7DgfXc&amp;list=PLbRMhDVUMngcukfJf-ChqlbjZzthAbRPw&amp;index=4</a:t>
            </a:r>
            <a:endParaRPr lang="en-IN" sz="2400" kern="1200">
              <a:latin typeface="Times New Roman" panose="02020603050405020304" pitchFamily="18" charset="0"/>
              <a:cs typeface="Times New Roman" panose="02020603050405020304" pitchFamily="18" charset="0"/>
            </a:endParaRPr>
          </a:p>
          <a:p>
            <a:endParaRPr lang="en-IN" sz="2400" kern="1200">
              <a:latin typeface="Times New Roman" panose="02020603050405020304" pitchFamily="18" charset="0"/>
              <a:cs typeface="Times New Roman" panose="02020603050405020304" pitchFamily="18" charset="0"/>
            </a:endParaRPr>
          </a:p>
          <a:p>
            <a:r>
              <a:rPr lang="en-IN" sz="2400" kern="1200">
                <a:latin typeface="Times New Roman" panose="02020603050405020304" pitchFamily="18" charset="0"/>
                <a:cs typeface="Times New Roman" panose="02020603050405020304" pitchFamily="18" charset="0"/>
                <a:hlinkClick r:id="rId5"/>
              </a:rPr>
              <a:t>https://www.youtube.com/watch?v=Q_KY8zWPKpE&amp;list=PLbRMhDVUMngcukfJf-ChqlbjZzthAbRPw&amp;index=5</a:t>
            </a:r>
            <a:endParaRPr lang="en-IN" sz="2400" kern="1200">
              <a:latin typeface="Times New Roman" panose="02020603050405020304" pitchFamily="18" charset="0"/>
              <a:cs typeface="Times New Roman" panose="02020603050405020304" pitchFamily="18" charset="0"/>
            </a:endParaRPr>
          </a:p>
          <a:p>
            <a:endParaRPr lang="en-IN" sz="2400" kern="1200">
              <a:latin typeface="Times New Roman" panose="02020603050405020304" pitchFamily="18" charset="0"/>
              <a:cs typeface="Times New Roman" panose="02020603050405020304" pitchFamily="18" charset="0"/>
            </a:endParaRPr>
          </a:p>
          <a:p>
            <a:endParaRPr lang="en-IN" sz="2400" kern="1200">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7613CF76-6E9B-FE43-EC09-894758B9736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5552202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48914"/>
            <a:ext cx="8648700" cy="4919269"/>
          </a:xfrm>
        </p:spPr>
        <p:txBody>
          <a:bodyPr>
            <a:noAutofit/>
          </a:bodyPr>
          <a:lstStyle/>
          <a:p>
            <a:pPr marL="457200" indent="-457200">
              <a:buAutoNum type="arabicPlain"/>
            </a:pPr>
            <a:r>
              <a:rPr lang="en-IN" sz="2400">
                <a:latin typeface="Times New Roman" panose="02020603050405020304" pitchFamily="18" charset="0"/>
                <a:cs typeface="Times New Roman" panose="02020603050405020304" pitchFamily="18" charset="0"/>
              </a:rPr>
              <a:t>An individual who starts, creates and manages a new business can be called  _____________. </a:t>
            </a:r>
          </a:p>
          <a:p>
            <a:pPr marL="457200" indent="-457200">
              <a:buNone/>
            </a:pPr>
            <a:r>
              <a:rPr lang="en-IN" sz="2400">
                <a:latin typeface="Times New Roman" panose="02020603050405020304" pitchFamily="18" charset="0"/>
                <a:cs typeface="Times New Roman" panose="02020603050405020304" pitchFamily="18" charset="0"/>
              </a:rPr>
              <a:t>A. A leader </a:t>
            </a:r>
          </a:p>
          <a:p>
            <a:pPr marL="457200" indent="-457200">
              <a:buNone/>
            </a:pPr>
            <a:r>
              <a:rPr lang="en-IN" sz="2400">
                <a:latin typeface="Times New Roman" panose="02020603050405020304" pitchFamily="18" charset="0"/>
                <a:cs typeface="Times New Roman" panose="02020603050405020304" pitchFamily="18" charset="0"/>
              </a:rPr>
              <a:t>B. A manager  </a:t>
            </a:r>
          </a:p>
          <a:p>
            <a:pPr marL="457200" indent="-457200">
              <a:buNone/>
            </a:pPr>
            <a:r>
              <a:rPr lang="en-IN" sz="2400">
                <a:latin typeface="Times New Roman" panose="02020603050405020304" pitchFamily="18" charset="0"/>
                <a:cs typeface="Times New Roman" panose="02020603050405020304" pitchFamily="18" charset="0"/>
              </a:rPr>
              <a:t>C. A professional</a:t>
            </a:r>
          </a:p>
          <a:p>
            <a:pPr marL="457200" indent="-457200">
              <a:buNone/>
            </a:pPr>
            <a:r>
              <a:rPr lang="en-IN" sz="2400">
                <a:latin typeface="Times New Roman" panose="02020603050405020304" pitchFamily="18" charset="0"/>
                <a:cs typeface="Times New Roman" panose="02020603050405020304" pitchFamily="18" charset="0"/>
              </a:rPr>
              <a:t>D. </a:t>
            </a:r>
            <a:r>
              <a:rPr lang="en-IN" sz="2400" b="1">
                <a:latin typeface="Times New Roman" panose="02020603050405020304" pitchFamily="18" charset="0"/>
                <a:cs typeface="Times New Roman" panose="02020603050405020304" pitchFamily="18" charset="0"/>
              </a:rPr>
              <a:t>An entrepreneur </a:t>
            </a:r>
          </a:p>
          <a:p>
            <a:pPr marL="457200" indent="-457200">
              <a:buNone/>
            </a:pPr>
            <a:r>
              <a:rPr lang="en-IN" sz="2400">
                <a:latin typeface="Times New Roman" panose="02020603050405020304" pitchFamily="18" charset="0"/>
                <a:cs typeface="Times New Roman" panose="02020603050405020304" pitchFamily="18" charset="0"/>
              </a:rPr>
              <a:t>2. Which could provide an individual with the motivation to start a new business venture? </a:t>
            </a:r>
          </a:p>
          <a:p>
            <a:pPr marL="457200" indent="-457200">
              <a:buNone/>
            </a:pPr>
            <a:r>
              <a:rPr lang="en-IN" sz="2400">
                <a:latin typeface="Times New Roman" panose="02020603050405020304" pitchFamily="18" charset="0"/>
                <a:cs typeface="Times New Roman" panose="02020603050405020304" pitchFamily="18" charset="0"/>
              </a:rPr>
              <a:t> A. The financial rewards.</a:t>
            </a:r>
          </a:p>
          <a:p>
            <a:pPr marL="457200" indent="-457200">
              <a:buNone/>
            </a:pPr>
            <a:r>
              <a:rPr lang="en-IN" sz="2400">
                <a:latin typeface="Times New Roman" panose="02020603050405020304" pitchFamily="18" charset="0"/>
                <a:cs typeface="Times New Roman" panose="02020603050405020304" pitchFamily="18" charset="0"/>
              </a:rPr>
              <a:t> B. A desire to be independent. </a:t>
            </a:r>
          </a:p>
          <a:p>
            <a:pPr marL="457200" indent="-457200">
              <a:buNone/>
            </a:pPr>
            <a:r>
              <a:rPr lang="en-IN" sz="2400">
                <a:latin typeface="Times New Roman" panose="02020603050405020304" pitchFamily="18" charset="0"/>
                <a:cs typeface="Times New Roman" panose="02020603050405020304" pitchFamily="18" charset="0"/>
              </a:rPr>
              <a:t> C. Risk taking  </a:t>
            </a:r>
          </a:p>
          <a:p>
            <a:pPr marL="457200" indent="-457200">
              <a:buNone/>
            </a:pPr>
            <a:r>
              <a:rPr lang="en-IN" sz="2400">
                <a:latin typeface="Times New Roman" panose="02020603050405020304" pitchFamily="18" charset="0"/>
                <a:cs typeface="Times New Roman" panose="02020603050405020304" pitchFamily="18" charset="0"/>
              </a:rPr>
              <a:t> D. </a:t>
            </a:r>
            <a:r>
              <a:rPr lang="en-IN" sz="2400" b="1">
                <a:latin typeface="Times New Roman" panose="02020603050405020304" pitchFamily="18" charset="0"/>
                <a:cs typeface="Times New Roman" panose="02020603050405020304" pitchFamily="18" charset="0"/>
              </a:rPr>
              <a:t>All the above</a:t>
            </a:r>
            <a:r>
              <a:rPr lang="en-IN" sz="2400">
                <a:latin typeface="Times New Roman" panose="02020603050405020304" pitchFamily="18" charset="0"/>
                <a:cs typeface="Times New Roman" panose="02020603050405020304" pitchFamily="18" charset="0"/>
              </a:rPr>
              <a:t>. </a:t>
            </a:r>
            <a:br>
              <a:rPr lang="en-IN" sz="2400">
                <a:cs typeface="Times New Roman" pitchFamily="18" charset="0"/>
              </a:rPr>
            </a:br>
            <a:endParaRPr lang="en-US" sz="2400">
              <a:cs typeface="Times New Roman" pitchFamily="18" charset="0"/>
            </a:endParaRPr>
          </a:p>
          <a:p>
            <a:pPr marL="0" indent="0" fontAlgn="base">
              <a:buNone/>
            </a:pPr>
            <a:endParaRPr lang="en-US" sz="2400"/>
          </a:p>
          <a:p>
            <a:pPr fontAlgn="base"/>
            <a:endParaRPr lang="en-US" sz="2000"/>
          </a:p>
        </p:txBody>
      </p:sp>
      <p:sp>
        <p:nvSpPr>
          <p:cNvPr id="4" name="Date Placeholder 3"/>
          <p:cNvSpPr>
            <a:spLocks noGrp="1"/>
          </p:cNvSpPr>
          <p:nvPr>
            <p:ph type="dt" sz="half" idx="10"/>
          </p:nvPr>
        </p:nvSpPr>
        <p:spPr/>
        <p:txBody>
          <a:bodyPr/>
          <a:lstStyle/>
          <a:p>
            <a:fld id="{3B144CD1-5FB5-421F-B723-D960D7F931AD}"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7" name="Title 1"/>
          <p:cNvSpPr txBox="1">
            <a:spLocks/>
          </p:cNvSpPr>
          <p:nvPr/>
        </p:nvSpPr>
        <p:spPr>
          <a:xfrm>
            <a:off x="1475656" y="1"/>
            <a:ext cx="7668344" cy="76568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Daily Quiz</a:t>
            </a:r>
          </a:p>
        </p:txBody>
      </p:sp>
      <p:sp>
        <p:nvSpPr>
          <p:cNvPr id="2" name="Footer Placeholder 12">
            <a:extLst>
              <a:ext uri="{FF2B5EF4-FFF2-40B4-BE49-F238E27FC236}">
                <a16:creationId xmlns:a16="http://schemas.microsoft.com/office/drawing/2014/main" id="{3DB6D97C-D180-44C4-4926-5338785DAA62}"/>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41806449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79052"/>
            <a:ext cx="9122611" cy="5283220"/>
          </a:xfrm>
        </p:spPr>
        <p:txBody>
          <a:bodyPr>
            <a:noAutofit/>
          </a:bodyPr>
          <a:lstStyle/>
          <a:p>
            <a:pPr marL="0" indent="0">
              <a:buNone/>
            </a:pPr>
            <a:r>
              <a:rPr lang="en-IN" sz="2400">
                <a:cs typeface="Times New Roman" pitchFamily="18" charset="0"/>
              </a:rPr>
              <a:t> </a:t>
            </a:r>
            <a:br>
              <a:rPr lang="en-IN" sz="2400">
                <a:cs typeface="Times New Roman" pitchFamily="18" charset="0"/>
              </a:rPr>
            </a:br>
            <a:endParaRPr lang="en-US" sz="2400">
              <a:cs typeface="Times New Roman" pitchFamily="18" charset="0"/>
            </a:endParaRPr>
          </a:p>
          <a:p>
            <a:pPr marL="0" indent="0" fontAlgn="base">
              <a:buNone/>
            </a:pPr>
            <a:endParaRPr lang="en-US" sz="2400"/>
          </a:p>
          <a:p>
            <a:pPr fontAlgn="base"/>
            <a:endParaRPr lang="en-US" sz="2000"/>
          </a:p>
        </p:txBody>
      </p:sp>
      <p:sp>
        <p:nvSpPr>
          <p:cNvPr id="4" name="Date Placeholder 3"/>
          <p:cNvSpPr>
            <a:spLocks noGrp="1"/>
          </p:cNvSpPr>
          <p:nvPr>
            <p:ph type="dt" sz="half" idx="10"/>
          </p:nvPr>
        </p:nvSpPr>
        <p:spPr/>
        <p:txBody>
          <a:bodyPr/>
          <a:lstStyle/>
          <a:p>
            <a:fld id="{746D93EF-6582-4FF4-A557-FEE804F6653E}"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7" name="Title 1"/>
          <p:cNvSpPr txBox="1">
            <a:spLocks/>
          </p:cNvSpPr>
          <p:nvPr/>
        </p:nvSpPr>
        <p:spPr>
          <a:xfrm>
            <a:off x="1547664" y="37419"/>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Quiz</a:t>
            </a:r>
          </a:p>
        </p:txBody>
      </p:sp>
      <p:sp>
        <p:nvSpPr>
          <p:cNvPr id="10" name="Content Placeholder 2"/>
          <p:cNvSpPr>
            <a:spLocks noGrp="1"/>
          </p:cNvSpPr>
          <p:nvPr/>
        </p:nvSpPr>
        <p:spPr>
          <a:xfrm>
            <a:off x="381000" y="1219202"/>
            <a:ext cx="82296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sz="2000" kern="1200">
                <a:cs typeface="Times New Roman" pitchFamily="18" charset="0"/>
              </a:rPr>
              <a:t>3. </a:t>
            </a:r>
            <a:r>
              <a:rPr lang="en-IN" sz="2100" kern="1200">
                <a:latin typeface="Times New Roman" panose="02020603050405020304" pitchFamily="18" charset="0"/>
                <a:cs typeface="Times New Roman" panose="02020603050405020304" pitchFamily="18" charset="0"/>
              </a:rPr>
              <a:t>Trademarks relate to _______.</a:t>
            </a:r>
          </a:p>
          <a:p>
            <a:pPr>
              <a:buNone/>
            </a:pPr>
            <a:r>
              <a:rPr lang="en-IN" sz="2100" kern="1200">
                <a:latin typeface="Times New Roman" panose="02020603050405020304" pitchFamily="18" charset="0"/>
                <a:cs typeface="Times New Roman" panose="02020603050405020304" pitchFamily="18" charset="0"/>
              </a:rPr>
              <a:t>  A. Practice and knowledge acquired through experience</a:t>
            </a:r>
          </a:p>
          <a:p>
            <a:pPr>
              <a:buNone/>
            </a:pPr>
            <a:r>
              <a:rPr lang="en-IN" sz="2100" kern="1200">
                <a:latin typeface="Times New Roman" panose="02020603050405020304" pitchFamily="18" charset="0"/>
                <a:cs typeface="Times New Roman" panose="02020603050405020304" pitchFamily="18" charset="0"/>
              </a:rPr>
              <a:t>  B. The protection of proprietary information of commercial value</a:t>
            </a:r>
          </a:p>
          <a:p>
            <a:pPr>
              <a:buNone/>
            </a:pPr>
            <a:r>
              <a:rPr lang="en-IN" sz="2100" kern="1200">
                <a:latin typeface="Times New Roman" panose="02020603050405020304" pitchFamily="18" charset="0"/>
                <a:cs typeface="Times New Roman" panose="02020603050405020304" pitchFamily="18" charset="0"/>
              </a:rPr>
              <a:t>  C. The right to reproduce ones own original work </a:t>
            </a:r>
          </a:p>
          <a:p>
            <a:pPr>
              <a:buNone/>
            </a:pPr>
            <a:r>
              <a:rPr lang="en-IN" sz="2100" kern="1200">
                <a:latin typeface="Times New Roman" panose="02020603050405020304" pitchFamily="18" charset="0"/>
                <a:cs typeface="Times New Roman" panose="02020603050405020304" pitchFamily="18" charset="0"/>
              </a:rPr>
              <a:t>  D. </a:t>
            </a:r>
            <a:r>
              <a:rPr lang="en-IN" sz="2100" b="1" kern="1200">
                <a:latin typeface="Times New Roman" panose="02020603050405020304" pitchFamily="18" charset="0"/>
                <a:cs typeface="Times New Roman" panose="02020603050405020304" pitchFamily="18" charset="0"/>
              </a:rPr>
              <a:t>Brand identity </a:t>
            </a:r>
          </a:p>
          <a:p>
            <a:pPr>
              <a:buNone/>
            </a:pPr>
            <a:r>
              <a:rPr lang="en-IN" sz="2100" kern="1200">
                <a:latin typeface="Times New Roman" panose="02020603050405020304" pitchFamily="18" charset="0"/>
                <a:cs typeface="Times New Roman" panose="02020603050405020304" pitchFamily="18" charset="0"/>
              </a:rPr>
              <a:t>4. Which of the following factors should not be included in  PESTLE analysis? </a:t>
            </a:r>
          </a:p>
          <a:p>
            <a:pPr>
              <a:buNone/>
            </a:pPr>
            <a:r>
              <a:rPr lang="en-IN" sz="2100" kern="1200">
                <a:latin typeface="Times New Roman" panose="02020603050405020304" pitchFamily="18" charset="0"/>
                <a:cs typeface="Times New Roman" panose="02020603050405020304" pitchFamily="18" charset="0"/>
              </a:rPr>
              <a:t> A. Government re-cycling policy. </a:t>
            </a:r>
          </a:p>
          <a:p>
            <a:pPr>
              <a:buNone/>
            </a:pPr>
            <a:r>
              <a:rPr lang="en-IN" sz="2100" kern="1200">
                <a:latin typeface="Times New Roman" panose="02020603050405020304" pitchFamily="18" charset="0"/>
                <a:cs typeface="Times New Roman" panose="02020603050405020304" pitchFamily="18" charset="0"/>
              </a:rPr>
              <a:t> B. Proposed reduction in interest rates. </a:t>
            </a:r>
          </a:p>
          <a:p>
            <a:pPr>
              <a:buNone/>
            </a:pPr>
            <a:r>
              <a:rPr lang="en-IN" sz="2100" kern="1200">
                <a:latin typeface="Times New Roman" panose="02020603050405020304" pitchFamily="18" charset="0"/>
                <a:cs typeface="Times New Roman" panose="02020603050405020304" pitchFamily="18" charset="0"/>
              </a:rPr>
              <a:t> C. </a:t>
            </a:r>
            <a:r>
              <a:rPr lang="en-IN" sz="2100" b="1" kern="1200">
                <a:latin typeface="Times New Roman" panose="02020603050405020304" pitchFamily="18" charset="0"/>
                <a:cs typeface="Times New Roman" panose="02020603050405020304" pitchFamily="18" charset="0"/>
              </a:rPr>
              <a:t>Competitor activity.  </a:t>
            </a:r>
          </a:p>
          <a:p>
            <a:pPr>
              <a:buNone/>
            </a:pPr>
            <a:r>
              <a:rPr lang="en-IN" sz="2100" kern="1200">
                <a:latin typeface="Times New Roman" panose="02020603050405020304" pitchFamily="18" charset="0"/>
                <a:cs typeface="Times New Roman" panose="02020603050405020304" pitchFamily="18" charset="0"/>
              </a:rPr>
              <a:t>D. Demographic changes</a:t>
            </a:r>
            <a:r>
              <a:rPr lang="en-IN" sz="2100" kern="1200">
                <a:cs typeface="Times New Roman" pitchFamily="18" charset="0"/>
              </a:rPr>
              <a:t>. </a:t>
            </a:r>
            <a:endParaRPr lang="en-US" sz="2100" kern="1200">
              <a:cs typeface="Times New Roman" pitchFamily="18" charset="0"/>
            </a:endParaRPr>
          </a:p>
        </p:txBody>
      </p:sp>
      <p:sp>
        <p:nvSpPr>
          <p:cNvPr id="2" name="Footer Placeholder 12">
            <a:extLst>
              <a:ext uri="{FF2B5EF4-FFF2-40B4-BE49-F238E27FC236}">
                <a16:creationId xmlns:a16="http://schemas.microsoft.com/office/drawing/2014/main" id="{295AF47A-0720-808B-516A-909495849280}"/>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2877127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48914"/>
            <a:ext cx="8648700" cy="4919269"/>
          </a:xfrm>
        </p:spPr>
        <p:txBody>
          <a:bodyPr>
            <a:noAutofit/>
          </a:bodyPr>
          <a:lstStyle/>
          <a:p>
            <a:pPr marL="0" indent="0">
              <a:buNone/>
            </a:pPr>
            <a:r>
              <a:rPr lang="en-IN" sz="2400">
                <a:cs typeface="Times New Roman" pitchFamily="18" charset="0"/>
              </a:rPr>
              <a:t> </a:t>
            </a:r>
            <a:br>
              <a:rPr lang="en-IN" sz="2400">
                <a:cs typeface="Times New Roman" pitchFamily="18" charset="0"/>
              </a:rPr>
            </a:br>
            <a:endParaRPr lang="en-US" sz="2400">
              <a:cs typeface="Times New Roman" pitchFamily="18" charset="0"/>
            </a:endParaRPr>
          </a:p>
          <a:p>
            <a:pPr marL="0" indent="0" fontAlgn="base">
              <a:buNone/>
            </a:pPr>
            <a:endParaRPr lang="en-US" sz="2400"/>
          </a:p>
          <a:p>
            <a:pPr fontAlgn="base"/>
            <a:endParaRPr lang="en-US" sz="2000"/>
          </a:p>
        </p:txBody>
      </p:sp>
      <p:sp>
        <p:nvSpPr>
          <p:cNvPr id="4" name="Date Placeholder 3"/>
          <p:cNvSpPr>
            <a:spLocks noGrp="1"/>
          </p:cNvSpPr>
          <p:nvPr>
            <p:ph type="dt" sz="half" idx="10"/>
          </p:nvPr>
        </p:nvSpPr>
        <p:spPr/>
        <p:txBody>
          <a:bodyPr/>
          <a:lstStyle/>
          <a:p>
            <a:fld id="{FB2C674D-BDB0-499B-973F-725D093AE78C}"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10" name="Content Placeholder 2"/>
          <p:cNvSpPr>
            <a:spLocks noGrp="1"/>
          </p:cNvSpPr>
          <p:nvPr/>
        </p:nvSpPr>
        <p:spPr>
          <a:xfrm>
            <a:off x="0" y="1066802"/>
            <a:ext cx="91440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IN" sz="2000" kern="1200">
                <a:cs typeface="Times New Roman" pitchFamily="18" charset="0"/>
              </a:rPr>
              <a:t>5</a:t>
            </a:r>
            <a:r>
              <a:rPr lang="en-IN" sz="2400" kern="1200">
                <a:latin typeface="Times New Roman" panose="02020603050405020304" pitchFamily="18" charset="0"/>
                <a:cs typeface="Times New Roman" panose="02020603050405020304" pitchFamily="18" charset="0"/>
              </a:rPr>
              <a:t>.  Which of the following shows the process of creating something new? </a:t>
            </a:r>
          </a:p>
          <a:p>
            <a:pPr marL="457200" indent="-457200">
              <a:buFont typeface="+mj-lt"/>
              <a:buAutoNum type="alphaUcPeriod"/>
            </a:pPr>
            <a:r>
              <a:rPr lang="en-IN" sz="2400" kern="1200">
                <a:latin typeface="Times New Roman" panose="02020603050405020304" pitchFamily="18" charset="0"/>
                <a:cs typeface="Times New Roman" panose="02020603050405020304" pitchFamily="18" charset="0"/>
              </a:rPr>
              <a:t>Business model</a:t>
            </a:r>
          </a:p>
          <a:p>
            <a:pPr marL="457200" indent="-457200">
              <a:buFont typeface="+mj-lt"/>
              <a:buAutoNum type="alphaUcPeriod"/>
            </a:pPr>
            <a:r>
              <a:rPr lang="en-IN" sz="2400" kern="1200">
                <a:latin typeface="Times New Roman" panose="02020603050405020304" pitchFamily="18" charset="0"/>
                <a:cs typeface="Times New Roman" panose="02020603050405020304" pitchFamily="18" charset="0"/>
              </a:rPr>
              <a:t> </a:t>
            </a:r>
            <a:r>
              <a:rPr lang="en-IN" sz="2400" kern="1200" err="1">
                <a:latin typeface="Times New Roman" panose="02020603050405020304" pitchFamily="18" charset="0"/>
                <a:cs typeface="Times New Roman" panose="02020603050405020304" pitchFamily="18" charset="0"/>
              </a:rPr>
              <a:t>Modeling</a:t>
            </a:r>
            <a:endParaRPr lang="en-IN" sz="2400" kern="1200">
              <a:latin typeface="Times New Roman" panose="02020603050405020304" pitchFamily="18" charset="0"/>
              <a:cs typeface="Times New Roman" panose="02020603050405020304" pitchFamily="18" charset="0"/>
            </a:endParaRPr>
          </a:p>
          <a:p>
            <a:pPr marL="457200" indent="-457200">
              <a:buFont typeface="+mj-lt"/>
              <a:buAutoNum type="alphaUcPeriod"/>
            </a:pPr>
            <a:r>
              <a:rPr lang="en-IN" sz="2400" kern="1200">
                <a:latin typeface="Times New Roman" panose="02020603050405020304" pitchFamily="18" charset="0"/>
                <a:cs typeface="Times New Roman" panose="02020603050405020304" pitchFamily="18" charset="0"/>
              </a:rPr>
              <a:t> Creative flexibility</a:t>
            </a:r>
          </a:p>
          <a:p>
            <a:pPr marL="457200" indent="-457200">
              <a:buFont typeface="+mj-lt"/>
              <a:buAutoNum type="alphaUcPeriod"/>
            </a:pPr>
            <a:r>
              <a:rPr lang="en-IN" sz="2400" b="1" kern="1200">
                <a:latin typeface="Times New Roman" panose="02020603050405020304" pitchFamily="18" charset="0"/>
                <a:cs typeface="Times New Roman" panose="02020603050405020304" pitchFamily="18" charset="0"/>
              </a:rPr>
              <a:t> Innovation </a:t>
            </a:r>
            <a:br>
              <a:rPr lang="en-IN" sz="2400" kern="1200">
                <a:latin typeface="Times New Roman" panose="02020603050405020304" pitchFamily="18" charset="0"/>
                <a:cs typeface="Times New Roman" panose="02020603050405020304" pitchFamily="18" charset="0"/>
              </a:rPr>
            </a:br>
            <a:endParaRPr lang="en-IN" sz="2400" kern="1200">
              <a:latin typeface="Times New Roman" panose="02020603050405020304" pitchFamily="18" charset="0"/>
              <a:cs typeface="Times New Roman" panose="02020603050405020304" pitchFamily="18" charset="0"/>
            </a:endParaRPr>
          </a:p>
          <a:p>
            <a:pPr marL="457200" indent="-457200">
              <a:buNone/>
            </a:pPr>
            <a:r>
              <a:rPr lang="en-IN" sz="2400" kern="1200">
                <a:latin typeface="Times New Roman" panose="02020603050405020304" pitchFamily="18" charset="0"/>
                <a:cs typeface="Times New Roman" panose="02020603050405020304" pitchFamily="18" charset="0"/>
              </a:rPr>
              <a:t>6. What is the process by which individuals pursue opportunities without regard to resources they currently control? </a:t>
            </a:r>
          </a:p>
          <a:p>
            <a:pPr marL="457200" indent="-457200">
              <a:buAutoNum type="alphaLcParenR"/>
            </a:pPr>
            <a:r>
              <a:rPr lang="en-IN" sz="2400" kern="1200" err="1">
                <a:latin typeface="Times New Roman" panose="02020603050405020304" pitchFamily="18" charset="0"/>
                <a:cs typeface="Times New Roman" panose="02020603050405020304" pitchFamily="18" charset="0"/>
              </a:rPr>
              <a:t>Startup</a:t>
            </a:r>
            <a:r>
              <a:rPr lang="en-IN" sz="2400" kern="1200">
                <a:latin typeface="Times New Roman" panose="02020603050405020304" pitchFamily="18" charset="0"/>
                <a:cs typeface="Times New Roman" panose="02020603050405020304" pitchFamily="18" charset="0"/>
              </a:rPr>
              <a:t> management</a:t>
            </a:r>
          </a:p>
          <a:p>
            <a:pPr marL="457200" indent="-457200">
              <a:buAutoNum type="alphaLcParenR"/>
            </a:pPr>
            <a:r>
              <a:rPr lang="en-IN" sz="2400" b="1" kern="1200">
                <a:latin typeface="Times New Roman" panose="02020603050405020304" pitchFamily="18" charset="0"/>
                <a:cs typeface="Times New Roman" panose="02020603050405020304" pitchFamily="18" charset="0"/>
              </a:rPr>
              <a:t> Entrepreneurship </a:t>
            </a:r>
          </a:p>
          <a:p>
            <a:pPr marL="457200" indent="-457200">
              <a:buAutoNum type="alphaLcParenR"/>
            </a:pPr>
            <a:r>
              <a:rPr lang="en-IN" sz="2400" kern="1200">
                <a:latin typeface="Times New Roman" panose="02020603050405020304" pitchFamily="18" charset="0"/>
                <a:cs typeface="Times New Roman" panose="02020603050405020304" pitchFamily="18" charset="0"/>
              </a:rPr>
              <a:t> Financial analysis </a:t>
            </a:r>
          </a:p>
          <a:p>
            <a:pPr marL="457200" indent="-457200">
              <a:buAutoNum type="alphaLcParenR"/>
            </a:pPr>
            <a:r>
              <a:rPr lang="en-IN" sz="2400" kern="1200">
                <a:latin typeface="Times New Roman" panose="02020603050405020304" pitchFamily="18" charset="0"/>
                <a:cs typeface="Times New Roman" panose="02020603050405020304" pitchFamily="18" charset="0"/>
              </a:rPr>
              <a:t>  Feasibility planning </a:t>
            </a:r>
            <a:endParaRPr lang="en-US" sz="2400" kern="1200">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5B8608F1-A4B8-F6C5-D24A-DED83DD9B4A3}"/>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9" name="Title 1"/>
          <p:cNvSpPr txBox="1">
            <a:spLocks/>
          </p:cNvSpPr>
          <p:nvPr/>
        </p:nvSpPr>
        <p:spPr>
          <a:xfrm>
            <a:off x="1547664" y="37419"/>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Quiz</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28771279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17165"/>
            <a:ext cx="8858280" cy="4974037"/>
          </a:xfrm>
        </p:spPr>
        <p:txBody>
          <a:bodyPr>
            <a:noAutofit/>
          </a:bodyPr>
          <a:lstStyle/>
          <a:p>
            <a:pPr marL="457200" indent="-457200">
              <a:buNone/>
            </a:pPr>
            <a:r>
              <a:rPr lang="en-IN" sz="1800">
                <a:cs typeface="Times New Roman" pitchFamily="18" charset="0"/>
              </a:rPr>
              <a:t>1</a:t>
            </a:r>
            <a:r>
              <a:rPr lang="en-IN" sz="2400">
                <a:latin typeface="Times New Roman" panose="02020603050405020304" pitchFamily="18" charset="0"/>
                <a:cs typeface="Times New Roman" panose="02020603050405020304" pitchFamily="18" charset="0"/>
              </a:rPr>
              <a:t>. A person who managed large project was termed as the entrepreneur in the _________.</a:t>
            </a:r>
          </a:p>
          <a:p>
            <a:pPr marL="457200" indent="-457200">
              <a:buNone/>
            </a:pPr>
            <a:r>
              <a:rPr lang="en-IN" sz="2400">
                <a:latin typeface="Times New Roman" panose="02020603050405020304" pitchFamily="18" charset="0"/>
                <a:cs typeface="Times New Roman" panose="02020603050405020304" pitchFamily="18" charset="0"/>
              </a:rPr>
              <a:t> a)  </a:t>
            </a:r>
            <a:r>
              <a:rPr lang="en-IN" sz="2400" b="1">
                <a:latin typeface="Times New Roman" panose="02020603050405020304" pitchFamily="18" charset="0"/>
                <a:cs typeface="Times New Roman" panose="02020603050405020304" pitchFamily="18" charset="0"/>
              </a:rPr>
              <a:t>Earliest period</a:t>
            </a:r>
          </a:p>
          <a:p>
            <a:pPr marL="457200" indent="-457200">
              <a:buNone/>
            </a:pPr>
            <a:r>
              <a:rPr lang="en-IN" sz="2400">
                <a:latin typeface="Times New Roman" panose="02020603050405020304" pitchFamily="18" charset="0"/>
                <a:cs typeface="Times New Roman" panose="02020603050405020304" pitchFamily="18" charset="0"/>
              </a:rPr>
              <a:t> b)  Middle ages</a:t>
            </a:r>
          </a:p>
          <a:p>
            <a:pPr marL="457200" indent="-457200">
              <a:buNone/>
            </a:pPr>
            <a:r>
              <a:rPr lang="en-IN" sz="2400">
                <a:latin typeface="Times New Roman" panose="02020603050405020304" pitchFamily="18" charset="0"/>
                <a:cs typeface="Times New Roman" panose="02020603050405020304" pitchFamily="18" charset="0"/>
              </a:rPr>
              <a:t> c)  17th century</a:t>
            </a:r>
          </a:p>
          <a:p>
            <a:pPr marL="457200" indent="-457200">
              <a:buNone/>
            </a:pPr>
            <a:r>
              <a:rPr lang="en-IN" sz="2400">
                <a:latin typeface="Times New Roman" panose="02020603050405020304" pitchFamily="18" charset="0"/>
                <a:cs typeface="Times New Roman" panose="02020603050405020304" pitchFamily="18" charset="0"/>
              </a:rPr>
              <a:t> d)  19th and 20th century .</a:t>
            </a:r>
          </a:p>
          <a:p>
            <a:pPr marL="457200" indent="-457200">
              <a:buNone/>
            </a:pPr>
            <a:r>
              <a:rPr lang="en-IN" sz="2400">
                <a:latin typeface="Times New Roman" panose="02020603050405020304" pitchFamily="18" charset="0"/>
                <a:cs typeface="Times New Roman" panose="02020603050405020304" pitchFamily="18" charset="0"/>
              </a:rPr>
              <a:t>2. Which of the following factors is the most important in forcing companies to focus on new product development and increased productivity?</a:t>
            </a:r>
          </a:p>
          <a:p>
            <a:pPr marL="457200" indent="-457200">
              <a:spcBef>
                <a:spcPts val="0"/>
              </a:spcBef>
              <a:buNone/>
            </a:pPr>
            <a:r>
              <a:rPr lang="en-IN" sz="2400">
                <a:latin typeface="Times New Roman" panose="02020603050405020304" pitchFamily="18" charset="0"/>
                <a:cs typeface="Times New Roman" panose="02020603050405020304" pitchFamily="18" charset="0"/>
              </a:rPr>
              <a:t> a)      Entrepreneurship</a:t>
            </a:r>
          </a:p>
          <a:p>
            <a:pPr marL="457200" indent="-457200">
              <a:spcBef>
                <a:spcPts val="0"/>
              </a:spcBef>
              <a:buNone/>
            </a:pPr>
            <a:r>
              <a:rPr lang="en-IN" sz="2400">
                <a:latin typeface="Times New Roman" panose="02020603050405020304" pitchFamily="18" charset="0"/>
                <a:cs typeface="Times New Roman" panose="02020603050405020304" pitchFamily="18" charset="0"/>
              </a:rPr>
              <a:t> b)     </a:t>
            </a:r>
            <a:r>
              <a:rPr lang="en-IN" sz="2400" b="1">
                <a:latin typeface="Times New Roman" panose="02020603050405020304" pitchFamily="18" charset="0"/>
                <a:cs typeface="Times New Roman" panose="02020603050405020304" pitchFamily="18" charset="0"/>
              </a:rPr>
              <a:t>Hyper competition </a:t>
            </a:r>
          </a:p>
          <a:p>
            <a:pPr marL="457200" indent="-457200">
              <a:spcBef>
                <a:spcPts val="0"/>
              </a:spcBef>
              <a:buAutoNum type="alphaLcParenR" startAt="3"/>
            </a:pPr>
            <a:r>
              <a:rPr lang="en-IN" sz="2400">
                <a:latin typeface="Times New Roman" panose="02020603050405020304" pitchFamily="18" charset="0"/>
                <a:cs typeface="Times New Roman" panose="02020603050405020304" pitchFamily="18" charset="0"/>
              </a:rPr>
              <a:t>Governmental laws </a:t>
            </a:r>
          </a:p>
          <a:p>
            <a:pPr marL="457200" indent="-457200">
              <a:spcBef>
                <a:spcPts val="0"/>
              </a:spcBef>
              <a:buAutoNum type="alphaLcParenR" startAt="3"/>
            </a:pPr>
            <a:r>
              <a:rPr lang="en-IN" sz="2400">
                <a:latin typeface="Times New Roman" panose="02020603050405020304" pitchFamily="18" charset="0"/>
                <a:cs typeface="Times New Roman" panose="02020603050405020304" pitchFamily="18" charset="0"/>
              </a:rPr>
              <a:t>Organizational culture</a:t>
            </a:r>
          </a:p>
          <a:p>
            <a:pPr>
              <a:buNone/>
            </a:pPr>
            <a:endParaRPr lang="en-IN" sz="2400">
              <a:latin typeface="Times New Roman" panose="02020603050405020304" pitchFamily="18" charset="0"/>
              <a:cs typeface="Times New Roman" panose="02020603050405020304" pitchFamily="18" charset="0"/>
            </a:endParaRPr>
          </a:p>
          <a:p>
            <a:pPr>
              <a:buNone/>
            </a:pPr>
            <a:endParaRPr lang="en-US" sz="1800"/>
          </a:p>
          <a:p>
            <a:pPr marL="0" indent="0" fontAlgn="base">
              <a:buNone/>
            </a:pPr>
            <a:endParaRPr lang="en-US" sz="1800"/>
          </a:p>
          <a:p>
            <a:pPr fontAlgn="base"/>
            <a:endParaRPr lang="en-US" sz="1800"/>
          </a:p>
        </p:txBody>
      </p:sp>
      <p:sp>
        <p:nvSpPr>
          <p:cNvPr id="4" name="Date Placeholder 3"/>
          <p:cNvSpPr>
            <a:spLocks noGrp="1"/>
          </p:cNvSpPr>
          <p:nvPr>
            <p:ph type="dt" sz="half" idx="10"/>
          </p:nvPr>
        </p:nvSpPr>
        <p:spPr/>
        <p:txBody>
          <a:bodyPr/>
          <a:lstStyle/>
          <a:p>
            <a:fld id="{9BD0D769-ADF2-4530-9C09-8821EBA835E2}"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p:cNvSpPr txBox="1">
            <a:spLocks/>
          </p:cNvSpPr>
          <p:nvPr/>
        </p:nvSpPr>
        <p:spPr>
          <a:xfrm>
            <a:off x="1547664" y="3"/>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MCQs</a:t>
            </a:r>
          </a:p>
        </p:txBody>
      </p:sp>
      <p:sp>
        <p:nvSpPr>
          <p:cNvPr id="2" name="Footer Placeholder 12">
            <a:extLst>
              <a:ext uri="{FF2B5EF4-FFF2-40B4-BE49-F238E27FC236}">
                <a16:creationId xmlns:a16="http://schemas.microsoft.com/office/drawing/2014/main" id="{6D1300CD-1646-2225-2B92-00359B72F44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48555332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17165"/>
            <a:ext cx="8858280" cy="4974037"/>
          </a:xfrm>
        </p:spPr>
        <p:txBody>
          <a:bodyPr>
            <a:noAutofit/>
          </a:bodyPr>
          <a:lstStyle/>
          <a:p>
            <a:pPr marL="457200" indent="-457200">
              <a:buNone/>
            </a:pPr>
            <a:endParaRPr lang="en-IN" sz="2400">
              <a:latin typeface="Times New Roman" panose="02020603050405020304" pitchFamily="18" charset="0"/>
              <a:cs typeface="Times New Roman" panose="02020603050405020304" pitchFamily="18" charset="0"/>
            </a:endParaRPr>
          </a:p>
          <a:p>
            <a:pPr>
              <a:buNone/>
            </a:pPr>
            <a:r>
              <a:rPr lang="en-IN" sz="2400">
                <a:latin typeface="Times New Roman" panose="02020603050405020304" pitchFamily="18" charset="0"/>
                <a:cs typeface="Times New Roman" panose="02020603050405020304" pitchFamily="18" charset="0"/>
              </a:rPr>
              <a:t>3. </a:t>
            </a:r>
            <a:r>
              <a:rPr lang="en-US" sz="2400">
                <a:latin typeface="Times New Roman" panose="02020603050405020304" pitchFamily="18" charset="0"/>
                <a:cs typeface="Times New Roman" panose="02020603050405020304" pitchFamily="18" charset="0"/>
              </a:rPr>
              <a:t>An entrepreneur who is the owner of more than one business is called:</a:t>
            </a:r>
          </a:p>
          <a:p>
            <a:pPr marL="800100" lvl="1" indent="-342900">
              <a:buFont typeface="+mj-lt"/>
              <a:buAutoNum type="alphaLcParenR"/>
            </a:pPr>
            <a:r>
              <a:rPr lang="en-US" sz="2400" b="1">
                <a:latin typeface="Times New Roman" panose="02020603050405020304" pitchFamily="18" charset="0"/>
                <a:cs typeface="Times New Roman" panose="02020603050405020304" pitchFamily="18" charset="0"/>
              </a:rPr>
              <a:t>Portfolio Entrepreneur</a:t>
            </a:r>
          </a:p>
          <a:p>
            <a:pPr marL="800100" lvl="1" indent="-342900">
              <a:buFont typeface="+mj-lt"/>
              <a:buAutoNum type="alphaLcParenR"/>
            </a:pPr>
            <a:r>
              <a:rPr lang="en-US" sz="2400" err="1">
                <a:latin typeface="Times New Roman" panose="02020603050405020304" pitchFamily="18" charset="0"/>
                <a:cs typeface="Times New Roman" panose="02020603050405020304" pitchFamily="18" charset="0"/>
              </a:rPr>
              <a:t>Intrapreneur</a:t>
            </a:r>
            <a:endParaRPr lang="en-US" sz="2400">
              <a:latin typeface="Times New Roman" panose="02020603050405020304" pitchFamily="18" charset="0"/>
              <a:cs typeface="Times New Roman" panose="02020603050405020304" pitchFamily="18" charset="0"/>
            </a:endParaRPr>
          </a:p>
          <a:p>
            <a:pPr marL="800100" lvl="1" indent="-342900">
              <a:buFont typeface="+mj-lt"/>
              <a:buAutoNum type="alphaLcParenR"/>
            </a:pPr>
            <a:r>
              <a:rPr lang="en-US" sz="2400">
                <a:latin typeface="Times New Roman" panose="02020603050405020304" pitchFamily="18" charset="0"/>
                <a:cs typeface="Times New Roman" panose="02020603050405020304" pitchFamily="18" charset="0"/>
              </a:rPr>
              <a:t>Corporate Entrepreneur</a:t>
            </a:r>
          </a:p>
          <a:p>
            <a:pPr marL="800100" lvl="1" indent="-342900">
              <a:buFont typeface="+mj-lt"/>
              <a:buAutoNum type="alphaLcParenR"/>
            </a:pPr>
            <a:r>
              <a:rPr lang="en-US" sz="2400">
                <a:latin typeface="Times New Roman" panose="02020603050405020304" pitchFamily="18" charset="0"/>
                <a:cs typeface="Times New Roman" panose="02020603050405020304" pitchFamily="18" charset="0"/>
              </a:rPr>
              <a:t>None of the above</a:t>
            </a:r>
          </a:p>
          <a:p>
            <a:pPr>
              <a:buNone/>
            </a:pPr>
            <a:r>
              <a:rPr lang="en-US" sz="2400">
                <a:latin typeface="Times New Roman" panose="02020603050405020304" pitchFamily="18" charset="0"/>
                <a:cs typeface="Times New Roman" panose="02020603050405020304" pitchFamily="18" charset="0"/>
              </a:rPr>
              <a:t>4. </a:t>
            </a:r>
            <a:r>
              <a:rPr lang="en-IN" sz="2400">
                <a:latin typeface="Times New Roman" panose="02020603050405020304" pitchFamily="18" charset="0"/>
                <a:cs typeface="Times New Roman" panose="02020603050405020304" pitchFamily="18" charset="0"/>
              </a:rPr>
              <a:t>Which of the following is alternatively called corporate venturing?</a:t>
            </a:r>
          </a:p>
          <a:p>
            <a:pPr>
              <a:buNone/>
            </a:pPr>
            <a:r>
              <a:rPr lang="en-IN" sz="2400">
                <a:latin typeface="Times New Roman" panose="02020603050405020304" pitchFamily="18" charset="0"/>
                <a:cs typeface="Times New Roman" panose="02020603050405020304" pitchFamily="18" charset="0"/>
              </a:rPr>
              <a:t> a)  Entrepreneurship</a:t>
            </a:r>
          </a:p>
          <a:p>
            <a:pPr>
              <a:buNone/>
            </a:pPr>
            <a:r>
              <a:rPr lang="en-IN" sz="2400">
                <a:latin typeface="Times New Roman" panose="02020603050405020304" pitchFamily="18" charset="0"/>
                <a:cs typeface="Times New Roman" panose="02020603050405020304" pitchFamily="18" charset="0"/>
              </a:rPr>
              <a:t> b) </a:t>
            </a:r>
            <a:r>
              <a:rPr lang="en-IN" sz="2400" b="1">
                <a:latin typeface="Times New Roman" panose="02020603050405020304" pitchFamily="18" charset="0"/>
                <a:cs typeface="Times New Roman" panose="02020603050405020304" pitchFamily="18" charset="0"/>
              </a:rPr>
              <a:t>Intrapreneurship</a:t>
            </a:r>
          </a:p>
          <a:p>
            <a:pPr>
              <a:buNone/>
            </a:pPr>
            <a:r>
              <a:rPr lang="en-IN" sz="2400">
                <a:latin typeface="Times New Roman" panose="02020603050405020304" pitchFamily="18" charset="0"/>
                <a:cs typeface="Times New Roman" panose="02020603050405020304" pitchFamily="18" charset="0"/>
              </a:rPr>
              <a:t> c)  Act of stating a new venture</a:t>
            </a:r>
          </a:p>
          <a:p>
            <a:pPr>
              <a:buNone/>
            </a:pPr>
            <a:r>
              <a:rPr lang="en-IN" sz="2400">
                <a:latin typeface="Times New Roman" panose="02020603050405020304" pitchFamily="18" charset="0"/>
                <a:cs typeface="Times New Roman" panose="02020603050405020304" pitchFamily="18" charset="0"/>
              </a:rPr>
              <a:t> d)  Offering new products by an existing company </a:t>
            </a:r>
          </a:p>
          <a:p>
            <a:pPr marL="457200" indent="-457200">
              <a:buNone/>
            </a:pPr>
            <a:endParaRPr lang="en-US" sz="2400">
              <a:latin typeface="Times New Roman" panose="02020603050405020304" pitchFamily="18" charset="0"/>
              <a:cs typeface="Times New Roman" panose="02020603050405020304" pitchFamily="18" charset="0"/>
            </a:endParaRPr>
          </a:p>
          <a:p>
            <a:pPr fontAlgn="base"/>
            <a:endParaRPr lang="en-US" sz="2400">
              <a:latin typeface="Times New Roman" panose="02020603050405020304" pitchFamily="18" charset="0"/>
              <a:cs typeface="Times New Roman" panose="02020603050405020304" pitchFamily="18" charset="0"/>
            </a:endParaRPr>
          </a:p>
          <a:p>
            <a:pPr marL="0" indent="0" fontAlgn="base">
              <a:buNone/>
            </a:pPr>
            <a:endParaRPr lang="en-US" sz="1800"/>
          </a:p>
          <a:p>
            <a:pPr fontAlgn="base"/>
            <a:endParaRPr lang="en-US" sz="1800"/>
          </a:p>
        </p:txBody>
      </p:sp>
      <p:sp>
        <p:nvSpPr>
          <p:cNvPr id="4" name="Date Placeholder 3"/>
          <p:cNvSpPr>
            <a:spLocks noGrp="1"/>
          </p:cNvSpPr>
          <p:nvPr>
            <p:ph type="dt" sz="half" idx="10"/>
          </p:nvPr>
        </p:nvSpPr>
        <p:spPr/>
        <p:txBody>
          <a:bodyPr/>
          <a:lstStyle/>
          <a:p>
            <a:fld id="{9BD0D769-ADF2-4530-9C09-8821EBA835E2}"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7" name="Title 1"/>
          <p:cNvSpPr txBox="1">
            <a:spLocks/>
          </p:cNvSpPr>
          <p:nvPr/>
        </p:nvSpPr>
        <p:spPr>
          <a:xfrm>
            <a:off x="1547664" y="3"/>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MCQs</a:t>
            </a:r>
          </a:p>
        </p:txBody>
      </p:sp>
      <p:sp>
        <p:nvSpPr>
          <p:cNvPr id="2" name="Footer Placeholder 12">
            <a:extLst>
              <a:ext uri="{FF2B5EF4-FFF2-40B4-BE49-F238E27FC236}">
                <a16:creationId xmlns:a16="http://schemas.microsoft.com/office/drawing/2014/main" id="{6D1300CD-1646-2225-2B92-00359B72F44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8859792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714356"/>
            <a:ext cx="8686800" cy="5507438"/>
          </a:xfrm>
        </p:spPr>
        <p:txBody>
          <a:bodyPr>
            <a:noAutofit/>
          </a:bodyPr>
          <a:lstStyle/>
          <a:p>
            <a:pPr>
              <a:buNone/>
            </a:pPr>
            <a:r>
              <a:rPr lang="en-IN" sz="2000">
                <a:cs typeface="Times New Roman" pitchFamily="18" charset="0"/>
              </a:rPr>
              <a:t>5. </a:t>
            </a:r>
            <a:r>
              <a:rPr lang="en-IN" sz="2400">
                <a:cs typeface="Times New Roman" pitchFamily="18" charset="0"/>
              </a:rPr>
              <a:t>Individuals influencing an entrepreneur’s career choice and style are known as which of the following?</a:t>
            </a:r>
          </a:p>
          <a:p>
            <a:pPr>
              <a:buNone/>
            </a:pPr>
            <a:r>
              <a:rPr lang="en-IN" sz="2000">
                <a:cs typeface="Times New Roman" pitchFamily="18" charset="0"/>
              </a:rPr>
              <a:t> a)    Moral-support network</a:t>
            </a:r>
          </a:p>
          <a:p>
            <a:pPr>
              <a:buNone/>
            </a:pPr>
            <a:r>
              <a:rPr lang="en-IN" sz="2000">
                <a:cs typeface="Times New Roman" pitchFamily="18" charset="0"/>
              </a:rPr>
              <a:t> b)    </a:t>
            </a:r>
            <a:r>
              <a:rPr lang="en-IN" sz="2000" b="1">
                <a:cs typeface="Times New Roman" pitchFamily="18" charset="0"/>
              </a:rPr>
              <a:t>Role model </a:t>
            </a:r>
          </a:p>
          <a:p>
            <a:pPr marL="457200" indent="-457200">
              <a:buAutoNum type="alphaLcParenR" startAt="3"/>
            </a:pPr>
            <a:r>
              <a:rPr lang="en-IN" sz="2000">
                <a:cs typeface="Times New Roman" pitchFamily="18" charset="0"/>
              </a:rPr>
              <a:t>Professional support network</a:t>
            </a:r>
          </a:p>
          <a:p>
            <a:pPr marL="457200" indent="-457200">
              <a:buAutoNum type="alphaLcParenR" startAt="3"/>
            </a:pPr>
            <a:r>
              <a:rPr lang="en-IN" sz="2000">
                <a:cs typeface="Times New Roman" pitchFamily="18" charset="0"/>
              </a:rPr>
              <a:t> Support system </a:t>
            </a:r>
            <a:r>
              <a:rPr lang="en-US" sz="2000">
                <a:cs typeface="Times New Roman" pitchFamily="18" charset="0"/>
              </a:rPr>
              <a:t> </a:t>
            </a:r>
          </a:p>
          <a:p>
            <a:pPr marL="0" indent="0">
              <a:buNone/>
            </a:pPr>
            <a:r>
              <a:rPr lang="en-US" sz="2000">
                <a:cs typeface="Times New Roman" pitchFamily="18" charset="0"/>
              </a:rPr>
              <a:t>6.  </a:t>
            </a:r>
            <a:r>
              <a:rPr lang="en-US" sz="2400"/>
              <a:t>According to Schumpeter, innovative entrepreneurs would:</a:t>
            </a:r>
          </a:p>
          <a:p>
            <a:pPr lvl="1"/>
            <a:r>
              <a:rPr lang="en-US" sz="2000"/>
              <a:t>Thrive in the market</a:t>
            </a:r>
          </a:p>
          <a:p>
            <a:pPr lvl="1"/>
            <a:r>
              <a:rPr lang="en-US" sz="2000"/>
              <a:t>Not survive and disappear from the market.</a:t>
            </a:r>
          </a:p>
          <a:p>
            <a:pPr lvl="1"/>
            <a:r>
              <a:rPr lang="en-US" sz="2000" b="1"/>
              <a:t>Get absorbed within larger innovative businesses</a:t>
            </a:r>
          </a:p>
          <a:p>
            <a:pPr lvl="1"/>
            <a:r>
              <a:rPr lang="en-US" sz="2000"/>
              <a:t>Get absorbed within non-innovative businesses</a:t>
            </a:r>
            <a:endParaRPr lang="en-US"/>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p:txBody>
      </p:sp>
      <p:sp>
        <p:nvSpPr>
          <p:cNvPr id="4" name="Date Placeholder 3"/>
          <p:cNvSpPr>
            <a:spLocks noGrp="1"/>
          </p:cNvSpPr>
          <p:nvPr>
            <p:ph type="dt" sz="half" idx="10"/>
          </p:nvPr>
        </p:nvSpPr>
        <p:spPr/>
        <p:txBody>
          <a:bodyPr/>
          <a:lstStyle/>
          <a:p>
            <a:fld id="{BDC12ACB-C46F-449A-8CB4-F8001CEAB3B6}"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a:p>
        </p:txBody>
      </p:sp>
      <p:sp>
        <p:nvSpPr>
          <p:cNvPr id="7" name="Title 1"/>
          <p:cNvSpPr txBox="1">
            <a:spLocks/>
          </p:cNvSpPr>
          <p:nvPr/>
        </p:nvSpPr>
        <p:spPr>
          <a:xfrm>
            <a:off x="1371600" y="3"/>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MCQs</a:t>
            </a:r>
          </a:p>
        </p:txBody>
      </p:sp>
      <p:sp>
        <p:nvSpPr>
          <p:cNvPr id="2" name="Footer Placeholder 12">
            <a:extLst>
              <a:ext uri="{FF2B5EF4-FFF2-40B4-BE49-F238E27FC236}">
                <a16:creationId xmlns:a16="http://schemas.microsoft.com/office/drawing/2014/main" id="{5EDC3C2F-8DC2-B643-9E50-3E092BC33C4A}"/>
              </a:ext>
            </a:extLst>
          </p:cNvPr>
          <p:cNvSpPr txBox="1">
            <a:spLocks/>
          </p:cNvSpPr>
          <p:nvPr/>
        </p:nvSpPr>
        <p:spPr>
          <a:xfrm>
            <a:off x="2411760" y="6356353"/>
            <a:ext cx="5544616" cy="44756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1393180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48912"/>
            <a:ext cx="8686800" cy="5507438"/>
          </a:xfrm>
        </p:spPr>
        <p:txBody>
          <a:bodyPr>
            <a:noAutofit/>
          </a:bodyPr>
          <a:lstStyle/>
          <a:p>
            <a:pPr marL="457200" indent="-457200">
              <a:buNone/>
            </a:pPr>
            <a:r>
              <a:rPr lang="en-US" sz="2000">
                <a:cs typeface="Times New Roman" pitchFamily="18" charset="0"/>
              </a:rPr>
              <a:t>7</a:t>
            </a:r>
            <a:r>
              <a:rPr lang="en-US" sz="2400">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The activity which occurs when the new venture is started is called:</a:t>
            </a:r>
          </a:p>
          <a:p>
            <a:pPr marL="457200" indent="-457200">
              <a:buNone/>
            </a:pPr>
            <a:r>
              <a:rPr lang="en-IN" sz="2400">
                <a:latin typeface="Times New Roman" panose="02020603050405020304" pitchFamily="18" charset="0"/>
                <a:cs typeface="Times New Roman" panose="02020603050405020304" pitchFamily="18" charset="0"/>
              </a:rPr>
              <a:t>a)     Motivation </a:t>
            </a:r>
          </a:p>
          <a:p>
            <a:pPr marL="457200" indent="-457200">
              <a:buAutoNum type="alphaLcParenR" startAt="2"/>
            </a:pPr>
            <a:r>
              <a:rPr lang="en-IN" sz="2400">
                <a:latin typeface="Times New Roman" panose="02020603050405020304" pitchFamily="18" charset="0"/>
                <a:cs typeface="Times New Roman" panose="02020603050405020304" pitchFamily="18" charset="0"/>
              </a:rPr>
              <a:t>Business skills </a:t>
            </a:r>
          </a:p>
          <a:p>
            <a:pPr marL="457200" indent="-457200">
              <a:buAutoNum type="alphaLcParenR" startAt="2"/>
            </a:pPr>
            <a:r>
              <a:rPr lang="en-IN" sz="2400" b="1">
                <a:latin typeface="Times New Roman" panose="02020603050405020304" pitchFamily="18" charset="0"/>
                <a:cs typeface="Times New Roman" panose="02020603050405020304" pitchFamily="18" charset="0"/>
              </a:rPr>
              <a:t>Departure point</a:t>
            </a:r>
            <a:r>
              <a:rPr lang="en-IN" sz="2400">
                <a:latin typeface="Times New Roman" panose="02020603050405020304" pitchFamily="18" charset="0"/>
                <a:cs typeface="Times New Roman" panose="02020603050405020304" pitchFamily="18" charset="0"/>
              </a:rPr>
              <a:t> </a:t>
            </a:r>
          </a:p>
          <a:p>
            <a:pPr marL="457200" indent="-457200">
              <a:buAutoNum type="alphaLcParenR" startAt="2"/>
            </a:pPr>
            <a:r>
              <a:rPr lang="en-IN" sz="2400">
                <a:latin typeface="Times New Roman" panose="02020603050405020304" pitchFamily="18" charset="0"/>
                <a:cs typeface="Times New Roman" panose="02020603050405020304" pitchFamily="18" charset="0"/>
              </a:rPr>
              <a:t>Goal orientation </a:t>
            </a:r>
          </a:p>
          <a:p>
            <a:pPr marL="457200" indent="-457200">
              <a:buAutoNum type="alphaLcParenR" startAt="2"/>
            </a:pPr>
            <a:endParaRPr lang="en-IN" sz="2400">
              <a:latin typeface="Times New Roman" panose="02020603050405020304" pitchFamily="18" charset="0"/>
              <a:cs typeface="Times New Roman" panose="02020603050405020304" pitchFamily="18" charset="0"/>
            </a:endParaRPr>
          </a:p>
          <a:p>
            <a:pPr marL="457200" indent="-457200">
              <a:buNone/>
            </a:pPr>
            <a:r>
              <a:rPr lang="en-US" sz="2400">
                <a:latin typeface="Times New Roman" panose="02020603050405020304" pitchFamily="18" charset="0"/>
                <a:cs typeface="Times New Roman" panose="02020603050405020304" pitchFamily="18" charset="0"/>
              </a:rPr>
              <a:t>8. </a:t>
            </a:r>
            <a:r>
              <a:rPr lang="en-IN" sz="2400">
                <a:latin typeface="Times New Roman" panose="02020603050405020304" pitchFamily="18" charset="0"/>
                <a:cs typeface="Times New Roman" panose="02020603050405020304" pitchFamily="18" charset="0"/>
              </a:rPr>
              <a:t>The level at which an individual is viewed by society is called: </a:t>
            </a:r>
          </a:p>
          <a:p>
            <a:pPr marL="457200" indent="-457200">
              <a:buAutoNum type="alphaLcParenR"/>
            </a:pPr>
            <a:r>
              <a:rPr lang="en-IN" sz="2400">
                <a:latin typeface="Times New Roman" panose="02020603050405020304" pitchFamily="18" charset="0"/>
                <a:cs typeface="Times New Roman" panose="02020603050405020304" pitchFamily="18" charset="0"/>
              </a:rPr>
              <a:t>Financial status </a:t>
            </a:r>
          </a:p>
          <a:p>
            <a:pPr marL="457200" indent="-457200">
              <a:buAutoNum type="alphaLcParenR"/>
            </a:pPr>
            <a:r>
              <a:rPr lang="en-IN" sz="2400">
                <a:latin typeface="Times New Roman" panose="02020603050405020304" pitchFamily="18" charset="0"/>
                <a:cs typeface="Times New Roman" panose="02020603050405020304" pitchFamily="18" charset="0"/>
              </a:rPr>
              <a:t>Qualification</a:t>
            </a:r>
          </a:p>
          <a:p>
            <a:pPr marL="457200" indent="-457200">
              <a:buAutoNum type="alphaLcParenR"/>
            </a:pPr>
            <a:r>
              <a:rPr lang="en-IN" sz="2400" b="1">
                <a:latin typeface="Times New Roman" panose="02020603050405020304" pitchFamily="18" charset="0"/>
                <a:cs typeface="Times New Roman" panose="02020603050405020304" pitchFamily="18" charset="0"/>
              </a:rPr>
              <a:t> Social status </a:t>
            </a:r>
          </a:p>
          <a:p>
            <a:pPr marL="457200" indent="-457200">
              <a:buAutoNum type="alphaLcParenR"/>
            </a:pPr>
            <a:r>
              <a:rPr lang="en-IN" sz="2400">
                <a:latin typeface="Times New Roman" panose="02020603050405020304" pitchFamily="18" charset="0"/>
                <a:cs typeface="Times New Roman" panose="02020603050405020304" pitchFamily="18" charset="0"/>
              </a:rPr>
              <a:t> Achievement </a:t>
            </a:r>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p:txBody>
      </p:sp>
      <p:sp>
        <p:nvSpPr>
          <p:cNvPr id="4" name="Date Placeholder 3"/>
          <p:cNvSpPr>
            <a:spLocks noGrp="1"/>
          </p:cNvSpPr>
          <p:nvPr>
            <p:ph type="dt" sz="half" idx="10"/>
          </p:nvPr>
        </p:nvSpPr>
        <p:spPr/>
        <p:txBody>
          <a:bodyPr/>
          <a:lstStyle/>
          <a:p>
            <a:fld id="{0E3F9DBC-0F1A-45F6-A14F-7AE78E2E343B}"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a:p>
        </p:txBody>
      </p:sp>
      <p:sp>
        <p:nvSpPr>
          <p:cNvPr id="7" name="Title 1"/>
          <p:cNvSpPr txBox="1">
            <a:spLocks/>
          </p:cNvSpPr>
          <p:nvPr/>
        </p:nvSpPr>
        <p:spPr>
          <a:xfrm>
            <a:off x="1547664" y="3"/>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MCQs</a:t>
            </a:r>
          </a:p>
        </p:txBody>
      </p:sp>
      <p:sp>
        <p:nvSpPr>
          <p:cNvPr id="2" name="Footer Placeholder 12">
            <a:extLst>
              <a:ext uri="{FF2B5EF4-FFF2-40B4-BE49-F238E27FC236}">
                <a16:creationId xmlns:a16="http://schemas.microsoft.com/office/drawing/2014/main" id="{FFDDCB40-0EAE-DA0F-DB30-3568907C0333}"/>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1772191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548680"/>
            <a:ext cx="8807896" cy="5807670"/>
          </a:xfrm>
        </p:spPr>
        <p:txBody>
          <a:bodyPr>
            <a:noAutofit/>
          </a:bodyPr>
          <a:lstStyle/>
          <a:p>
            <a:pPr fontAlgn="base"/>
            <a:endParaRPr lang="en-US" sz="2000"/>
          </a:p>
          <a:p>
            <a:pPr marL="457200" indent="-457200">
              <a:spcBef>
                <a:spcPts val="0"/>
              </a:spcBef>
              <a:buNone/>
            </a:pPr>
            <a:r>
              <a:rPr lang="en-US" sz="2000">
                <a:cs typeface="Times New Roman" pitchFamily="18" charset="0"/>
              </a:rPr>
              <a:t>9</a:t>
            </a:r>
            <a:r>
              <a:rPr lang="en-US" sz="2400">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Which one of the following is the most important characteristic of a successful business website?</a:t>
            </a:r>
          </a:p>
          <a:p>
            <a:pPr marL="457200" indent="-457200">
              <a:spcBef>
                <a:spcPts val="0"/>
              </a:spcBef>
              <a:buNone/>
            </a:pPr>
            <a:r>
              <a:rPr lang="en-IN" sz="2400">
                <a:latin typeface="Times New Roman" panose="02020603050405020304" pitchFamily="18" charset="0"/>
                <a:cs typeface="Times New Roman" panose="02020603050405020304" pitchFamily="18" charset="0"/>
              </a:rPr>
              <a:t> a</a:t>
            </a:r>
            <a:r>
              <a:rPr lang="en-IN" sz="2400" b="1">
                <a:latin typeface="Times New Roman" panose="02020603050405020304" pitchFamily="18" charset="0"/>
                <a:cs typeface="Times New Roman" panose="02020603050405020304" pitchFamily="18" charset="0"/>
              </a:rPr>
              <a:t>)   Innovation</a:t>
            </a:r>
          </a:p>
          <a:p>
            <a:pPr marL="457200" indent="-457200">
              <a:spcBef>
                <a:spcPts val="0"/>
              </a:spcBef>
              <a:buNone/>
            </a:pPr>
            <a:r>
              <a:rPr lang="en-IN" sz="2400">
                <a:latin typeface="Times New Roman" panose="02020603050405020304" pitchFamily="18" charset="0"/>
                <a:cs typeface="Times New Roman" panose="02020603050405020304" pitchFamily="18" charset="0"/>
              </a:rPr>
              <a:t> b)   Speed </a:t>
            </a:r>
          </a:p>
          <a:p>
            <a:pPr marL="457200" indent="-457200">
              <a:spcBef>
                <a:spcPts val="0"/>
              </a:spcBef>
              <a:buAutoNum type="alphaLcParenR" startAt="3"/>
            </a:pPr>
            <a:r>
              <a:rPr lang="en-IN" sz="2400">
                <a:latin typeface="Times New Roman" panose="02020603050405020304" pitchFamily="18" charset="0"/>
                <a:cs typeface="Times New Roman" panose="02020603050405020304" pitchFamily="18" charset="0"/>
              </a:rPr>
              <a:t>Graphics </a:t>
            </a:r>
          </a:p>
          <a:p>
            <a:pPr marL="457200" indent="-457200">
              <a:spcBef>
                <a:spcPts val="0"/>
              </a:spcBef>
              <a:buAutoNum type="alphaLcParenR" startAt="3"/>
            </a:pPr>
            <a:r>
              <a:rPr lang="en-IN" sz="2400">
                <a:latin typeface="Times New Roman" panose="02020603050405020304" pitchFamily="18" charset="0"/>
                <a:cs typeface="Times New Roman" panose="02020603050405020304" pitchFamily="18" charset="0"/>
              </a:rPr>
              <a:t>Products </a:t>
            </a:r>
          </a:p>
          <a:p>
            <a:pPr marL="457200" indent="-457200">
              <a:spcBef>
                <a:spcPts val="0"/>
              </a:spcBef>
              <a:buNone/>
            </a:pPr>
            <a:r>
              <a:rPr lang="en-IN" sz="2400">
                <a:latin typeface="Times New Roman" panose="02020603050405020304" pitchFamily="18" charset="0"/>
                <a:cs typeface="Times New Roman" panose="02020603050405020304" pitchFamily="18" charset="0"/>
              </a:rPr>
              <a:t>10. Why should an entrepreneur do a feasibility study for starting a new venture</a:t>
            </a:r>
          </a:p>
          <a:p>
            <a:pPr marL="457200" indent="-457200">
              <a:spcBef>
                <a:spcPts val="0"/>
              </a:spcBef>
              <a:buNone/>
            </a:pPr>
            <a:r>
              <a:rPr lang="en-IN" sz="2400">
                <a:latin typeface="Times New Roman" panose="02020603050405020304" pitchFamily="18" charset="0"/>
                <a:cs typeface="Times New Roman" panose="02020603050405020304" pitchFamily="18" charset="0"/>
              </a:rPr>
              <a:t> a)   </a:t>
            </a:r>
            <a:r>
              <a:rPr lang="en-IN" sz="2400" b="1">
                <a:latin typeface="Times New Roman" panose="02020603050405020304" pitchFamily="18" charset="0"/>
                <a:cs typeface="Times New Roman" panose="02020603050405020304" pitchFamily="18" charset="0"/>
              </a:rPr>
              <a:t>To identify possible sources of funds </a:t>
            </a:r>
          </a:p>
          <a:p>
            <a:pPr marL="457200" indent="-457200">
              <a:spcBef>
                <a:spcPts val="0"/>
              </a:spcBef>
              <a:buAutoNum type="alphaLcParenR" startAt="2"/>
            </a:pPr>
            <a:r>
              <a:rPr lang="en-IN" sz="2400">
                <a:latin typeface="Times New Roman" panose="02020603050405020304" pitchFamily="18" charset="0"/>
                <a:cs typeface="Times New Roman" panose="02020603050405020304" pitchFamily="18" charset="0"/>
              </a:rPr>
              <a:t>To see if there are possible barriers to success</a:t>
            </a:r>
          </a:p>
          <a:p>
            <a:pPr marL="457200" indent="-457200">
              <a:spcBef>
                <a:spcPts val="0"/>
              </a:spcBef>
              <a:buAutoNum type="alphaLcParenR" startAt="2"/>
            </a:pPr>
            <a:r>
              <a:rPr lang="en-IN" sz="2400">
                <a:latin typeface="Times New Roman" panose="02020603050405020304" pitchFamily="18" charset="0"/>
                <a:cs typeface="Times New Roman" panose="02020603050405020304" pitchFamily="18" charset="0"/>
              </a:rPr>
              <a:t>To estimate the expected sales</a:t>
            </a:r>
          </a:p>
          <a:p>
            <a:pPr marL="457200" indent="-457200">
              <a:spcBef>
                <a:spcPts val="0"/>
              </a:spcBef>
              <a:buAutoNum type="alphaLcParenR" startAt="2"/>
            </a:pPr>
            <a:r>
              <a:rPr lang="en-IN" sz="2400">
                <a:latin typeface="Times New Roman" panose="02020603050405020304" pitchFamily="18" charset="0"/>
                <a:cs typeface="Times New Roman" panose="02020603050405020304" pitchFamily="18" charset="0"/>
              </a:rPr>
              <a:t>To explore potential customers </a:t>
            </a:r>
            <a:endParaRPr lang="en-US" sz="2400">
              <a:latin typeface="Times New Roman" panose="02020603050405020304" pitchFamily="18" charset="0"/>
              <a:cs typeface="Times New Roman" panose="02020603050405020304" pitchFamily="18" charset="0"/>
            </a:endParaRPr>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a:p>
            <a:pPr fontAlgn="base"/>
            <a:endParaRPr lang="en-US" sz="2000"/>
          </a:p>
        </p:txBody>
      </p:sp>
      <p:sp>
        <p:nvSpPr>
          <p:cNvPr id="4" name="Date Placeholder 3"/>
          <p:cNvSpPr>
            <a:spLocks noGrp="1"/>
          </p:cNvSpPr>
          <p:nvPr>
            <p:ph type="dt" sz="half" idx="10"/>
          </p:nvPr>
        </p:nvSpPr>
        <p:spPr/>
        <p:txBody>
          <a:bodyPr/>
          <a:lstStyle/>
          <a:p>
            <a:fld id="{91BA5C32-5C8D-4F92-8B03-2F0D94535559}"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a:p>
        </p:txBody>
      </p:sp>
      <p:sp>
        <p:nvSpPr>
          <p:cNvPr id="7" name="Title 1"/>
          <p:cNvSpPr txBox="1">
            <a:spLocks/>
          </p:cNvSpPr>
          <p:nvPr/>
        </p:nvSpPr>
        <p:spPr>
          <a:xfrm>
            <a:off x="1547664" y="0"/>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MCQs</a:t>
            </a:r>
          </a:p>
        </p:txBody>
      </p:sp>
      <p:sp>
        <p:nvSpPr>
          <p:cNvPr id="2" name="Footer Placeholder 12">
            <a:extLst>
              <a:ext uri="{FF2B5EF4-FFF2-40B4-BE49-F238E27FC236}">
                <a16:creationId xmlns:a16="http://schemas.microsoft.com/office/drawing/2014/main" id="{805DD5F2-86D6-F942-006F-84F3B15CC1EE}"/>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Menka Sharma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417665333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48914"/>
            <a:ext cx="8648700" cy="4919269"/>
          </a:xfrm>
        </p:spPr>
        <p:txBody>
          <a:bodyPr>
            <a:noAutofit/>
          </a:bodyPr>
          <a:lstStyle/>
          <a:p>
            <a:pPr marL="0" indent="0" fontAlgn="base">
              <a:buNone/>
            </a:pPr>
            <a:endParaRPr lang="en-US" sz="2400"/>
          </a:p>
          <a:p>
            <a:pPr fontAlgn="base"/>
            <a:endParaRPr lang="en-US" sz="2000"/>
          </a:p>
        </p:txBody>
      </p:sp>
      <p:sp>
        <p:nvSpPr>
          <p:cNvPr id="4" name="Date Placeholder 3"/>
          <p:cNvSpPr>
            <a:spLocks noGrp="1"/>
          </p:cNvSpPr>
          <p:nvPr>
            <p:ph type="dt" sz="half" idx="10"/>
          </p:nvPr>
        </p:nvSpPr>
        <p:spPr/>
        <p:txBody>
          <a:bodyPr/>
          <a:lstStyle/>
          <a:p>
            <a:fld id="{67D48BC7-2130-4CB6-8A94-16266EBFB70D}"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a:p>
        </p:txBody>
      </p:sp>
      <p:sp>
        <p:nvSpPr>
          <p:cNvPr id="7" name="Title 1"/>
          <p:cNvSpPr txBox="1">
            <a:spLocks/>
          </p:cNvSpPr>
          <p:nvPr/>
        </p:nvSpPr>
        <p:spPr>
          <a:xfrm>
            <a:off x="1547664" y="37419"/>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Assignment</a:t>
            </a:r>
          </a:p>
        </p:txBody>
      </p:sp>
      <p:sp>
        <p:nvSpPr>
          <p:cNvPr id="2" name="TextBox 1"/>
          <p:cNvSpPr txBox="1"/>
          <p:nvPr/>
        </p:nvSpPr>
        <p:spPr>
          <a:xfrm>
            <a:off x="142762" y="1524000"/>
            <a:ext cx="8810738" cy="4278094"/>
          </a:xfrm>
          <a:prstGeom prst="rect">
            <a:avLst/>
          </a:prstGeom>
          <a:noFill/>
        </p:spPr>
        <p:txBody>
          <a:bodyPr wrap="square" rtlCol="0">
            <a:spAutoFit/>
          </a:bodyPr>
          <a:lstStyle/>
          <a:p>
            <a:pPr algn="just">
              <a:buAutoNum type="arabicParenR"/>
            </a:pPr>
            <a:r>
              <a:rPr lang="en-IN" sz="2000"/>
              <a:t>“ </a:t>
            </a:r>
            <a:r>
              <a:rPr lang="en-IN" sz="2400">
                <a:latin typeface="Times New Roman" panose="02020603050405020304" pitchFamily="18" charset="0"/>
                <a:cs typeface="Times New Roman" panose="02020603050405020304" pitchFamily="18" charset="0"/>
              </a:rPr>
              <a:t>Entrepreneurship is the process of creating wealth.” Explain</a:t>
            </a:r>
          </a:p>
          <a:p>
            <a:pPr algn="just">
              <a:buAutoNum type="arabicParenR"/>
            </a:pPr>
            <a:r>
              <a:rPr lang="en-IN" sz="2400">
                <a:latin typeface="Times New Roman" panose="02020603050405020304" pitchFamily="18" charset="0"/>
                <a:cs typeface="Times New Roman" panose="02020603050405020304" pitchFamily="18" charset="0"/>
              </a:rPr>
              <a:t> What is the importance of entrepreneurship in a developing country like india?</a:t>
            </a:r>
          </a:p>
          <a:p>
            <a:pPr algn="just">
              <a:buAutoNum type="arabicParenR"/>
            </a:pPr>
            <a:r>
              <a:rPr lang="en-IN" sz="2400">
                <a:latin typeface="Times New Roman" panose="02020603050405020304" pitchFamily="18" charset="0"/>
                <a:cs typeface="Times New Roman" panose="02020603050405020304" pitchFamily="18" charset="0"/>
              </a:rPr>
              <a:t> “Entrepreneurs are agents of change”. How do entrepreneurs bring about such a change?</a:t>
            </a:r>
          </a:p>
          <a:p>
            <a:pPr algn="just">
              <a:buAutoNum type="arabicParenR"/>
            </a:pPr>
            <a:r>
              <a:rPr lang="en-IN" sz="2400">
                <a:latin typeface="Times New Roman" panose="02020603050405020304" pitchFamily="18" charset="0"/>
                <a:cs typeface="Times New Roman" panose="02020603050405020304" pitchFamily="18" charset="0"/>
              </a:rPr>
              <a:t> What is entrepreneurship? Discuss the various types of entrepreneurs?</a:t>
            </a:r>
            <a:endParaRPr lang="en-US" sz="2400">
              <a:latin typeface="Times New Roman" pitchFamily="18" charset="0"/>
              <a:cs typeface="Times New Roman" pitchFamily="18" charset="0"/>
            </a:endParaRPr>
          </a:p>
          <a:p>
            <a:endParaRPr lang="en-US" sz="2400">
              <a:latin typeface="Times New Roman" pitchFamily="18" charset="0"/>
              <a:cs typeface="Times New Roman" pitchFamily="18" charset="0"/>
            </a:endParaRPr>
          </a:p>
          <a:p>
            <a:endParaRPr lang="en-US" sz="2000"/>
          </a:p>
          <a:p>
            <a:pPr>
              <a:lnSpc>
                <a:spcPct val="150000"/>
              </a:lnSpc>
            </a:pPr>
            <a:endParaRPr lang="en-US" sz="2000"/>
          </a:p>
          <a:p>
            <a:pPr>
              <a:lnSpc>
                <a:spcPct val="150000"/>
              </a:lnSpc>
            </a:pPr>
            <a:endParaRPr lang="en-US" sz="2000"/>
          </a:p>
        </p:txBody>
      </p:sp>
      <p:sp>
        <p:nvSpPr>
          <p:cNvPr id="10" name="Footer Placeholder 12"/>
          <p:cNvSpPr>
            <a:spLocks noGrp="1"/>
          </p:cNvSpPr>
          <p:nvPr>
            <p:ph type="ftr" sz="quarter" idx="4294967295"/>
          </p:nvPr>
        </p:nvSpPr>
        <p:spPr>
          <a:xfrm>
            <a:off x="2362200" y="6248402"/>
            <a:ext cx="5029200" cy="365125"/>
          </a:xfrm>
        </p:spPr>
        <p:txBody>
          <a:bodyPr/>
          <a:lstStyle/>
          <a:p>
            <a:r>
              <a:rPr lang="en-US"/>
              <a:t>VIJAYLAXMI                                 AEO0771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40231519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2"/>
            <a:ext cx="8229600" cy="4525963"/>
          </a:xfrm>
        </p:spPr>
        <p:txBody>
          <a:bodyPr>
            <a:normAutofit/>
          </a:bodyPr>
          <a:lstStyle/>
          <a:p>
            <a:pPr algn="just">
              <a:buNone/>
            </a:pPr>
            <a:r>
              <a:rPr lang="en-US" sz="2400">
                <a:latin typeface="Times New Roman" panose="02020603050405020304" pitchFamily="18" charset="0"/>
                <a:cs typeface="Times New Roman" panose="02020603050405020304" pitchFamily="18" charset="0"/>
                <a:hlinkClick r:id="rId2"/>
              </a:rPr>
              <a:t>http://www.aktuonline.com/papers/mba-4-sem-entrepreneurship-development-rmb-402-2017-18.pdf</a:t>
            </a:r>
            <a:endParaRPr lang="en-US" sz="2400">
              <a:latin typeface="Times New Roman" panose="02020603050405020304" pitchFamily="18" charset="0"/>
              <a:cs typeface="Times New Roman" panose="02020603050405020304" pitchFamily="18" charset="0"/>
            </a:endParaRPr>
          </a:p>
          <a:p>
            <a:pPr algn="just">
              <a:buNone/>
            </a:pPr>
            <a:endParaRPr lang="en-US" sz="2400">
              <a:latin typeface="Times New Roman" panose="02020603050405020304" pitchFamily="18" charset="0"/>
              <a:cs typeface="Times New Roman" panose="02020603050405020304" pitchFamily="18" charset="0"/>
            </a:endParaRPr>
          </a:p>
          <a:p>
            <a:pPr algn="just">
              <a:buNone/>
            </a:pPr>
            <a:r>
              <a:rPr lang="en-US" sz="2400">
                <a:latin typeface="Times New Roman" panose="02020603050405020304" pitchFamily="18" charset="0"/>
                <a:cs typeface="Times New Roman" panose="02020603050405020304" pitchFamily="18" charset="0"/>
                <a:hlinkClick r:id="rId3"/>
              </a:rPr>
              <a:t>https://www.uptunotes.com/aktu-uptu-entrepreneurship-development-mam401a-previous-year-question-paper/</a:t>
            </a:r>
            <a:endParaRPr lang="en-US" sz="2400">
              <a:latin typeface="Times New Roman" panose="02020603050405020304" pitchFamily="18" charset="0"/>
              <a:cs typeface="Times New Roman" panose="02020603050405020304" pitchFamily="18" charset="0"/>
            </a:endParaRPr>
          </a:p>
          <a:p>
            <a:pPr algn="just">
              <a:buNone/>
            </a:pPr>
            <a:r>
              <a:rPr lang="en-US" sz="2400">
                <a:latin typeface="Times New Roman" panose="02020603050405020304" pitchFamily="18" charset="0"/>
                <a:cs typeface="Times New Roman" panose="02020603050405020304" pitchFamily="18" charset="0"/>
                <a:hlinkClick r:id="rId4"/>
              </a:rPr>
              <a:t>https://abesit.in/library/download/MBA/Sem.3/2016-17/ENTREPRENEURSHIP-DEVELOPMENT-NMBA-031MBTM-031.pdf</a:t>
            </a:r>
            <a:endParaRPr lang="en-US"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4E30DFD-A207-4897-A936-49BDD9D67EDE}"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a:p>
        </p:txBody>
      </p:sp>
      <p:sp>
        <p:nvSpPr>
          <p:cNvPr id="7" name="Title 1"/>
          <p:cNvSpPr txBox="1">
            <a:spLocks/>
          </p:cNvSpPr>
          <p:nvPr/>
        </p:nvSpPr>
        <p:spPr>
          <a:xfrm>
            <a:off x="1619671" y="2"/>
            <a:ext cx="7505571"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Old</a:t>
            </a:r>
            <a:r>
              <a:rPr kumimoji="0" lang="en-US" sz="3600" b="1" i="0" u="none" strike="noStrike" kern="1200" cap="none" spc="0" normalizeH="0" noProof="0">
                <a:ln>
                  <a:noFill/>
                </a:ln>
                <a:solidFill>
                  <a:schemeClr val="dk1"/>
                </a:solidFill>
                <a:effectLst/>
                <a:uLnTx/>
                <a:uFillTx/>
                <a:latin typeface="Times New Roman" panose="02020603050405020304" pitchFamily="18" charset="0"/>
                <a:cs typeface="Times New Roman" panose="02020603050405020304" pitchFamily="18" charset="0"/>
              </a:rPr>
              <a:t> Question Papers link </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E549E8C3-AE17-BBDD-0B6A-31CD5D95B925}"/>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23542526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980728"/>
            <a:ext cx="9036496" cy="4688237"/>
          </a:xfrm>
        </p:spPr>
        <p:txBody>
          <a:bodyPr>
            <a:normAutofit/>
          </a:bodyPr>
          <a:lstStyle/>
          <a:p>
            <a:pPr marL="457200" indent="-457200" algn="just" fontAlgn="base">
              <a:buAutoNum type="arabicPeriod"/>
            </a:pPr>
            <a:r>
              <a:rPr lang="en-IN" sz="2400"/>
              <a:t>Define the term Entrepreneur &amp; Intrapreneur, explain the attributes of a successful entrepreneur?</a:t>
            </a:r>
          </a:p>
          <a:p>
            <a:pPr marL="457200" indent="-457200" algn="just" fontAlgn="base">
              <a:buAutoNum type="arabicPeriod" startAt="2"/>
            </a:pPr>
            <a:r>
              <a:rPr lang="en-IN" sz="2400"/>
              <a:t>Illustrate the role of entrepreneurship in Indian Economy.</a:t>
            </a:r>
          </a:p>
          <a:p>
            <a:pPr marL="457200" indent="-457200" algn="just" fontAlgn="base">
              <a:buAutoNum type="arabicPeriod" startAt="2"/>
            </a:pPr>
            <a:r>
              <a:rPr lang="en-IN" sz="2400"/>
              <a:t> Explain the prospects of women entrepreneurship in India</a:t>
            </a:r>
            <a:endParaRPr lang="en-US" sz="2400"/>
          </a:p>
          <a:p>
            <a:pPr marL="0" indent="0" algn="just">
              <a:buNone/>
            </a:pPr>
            <a:endParaRPr lang="en-US" sz="2400"/>
          </a:p>
          <a:p>
            <a:pPr algn="just"/>
            <a:endParaRPr lang="en-US" sz="2400"/>
          </a:p>
          <a:p>
            <a:pPr algn="just"/>
            <a:endParaRPr lang="en-US" sz="2400"/>
          </a:p>
        </p:txBody>
      </p:sp>
      <p:sp>
        <p:nvSpPr>
          <p:cNvPr id="4" name="Date Placeholder 3"/>
          <p:cNvSpPr>
            <a:spLocks noGrp="1"/>
          </p:cNvSpPr>
          <p:nvPr>
            <p:ph type="dt" sz="half" idx="10"/>
          </p:nvPr>
        </p:nvSpPr>
        <p:spPr/>
        <p:txBody>
          <a:bodyPr/>
          <a:lstStyle/>
          <a:p>
            <a:fld id="{1303D243-A677-429B-89FA-D9000F50542A}"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a:p>
        </p:txBody>
      </p:sp>
      <p:sp>
        <p:nvSpPr>
          <p:cNvPr id="7" name="Title 1"/>
          <p:cNvSpPr txBox="1">
            <a:spLocks/>
          </p:cNvSpPr>
          <p:nvPr/>
        </p:nvSpPr>
        <p:spPr>
          <a:xfrm>
            <a:off x="1547664" y="3"/>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Expected </a:t>
            </a:r>
            <a:r>
              <a:rPr kumimoji="0" lang="en-US" sz="3600" b="1" i="0" u="none" strike="noStrike" kern="1200" cap="none" spc="0" normalizeH="0" noProof="0">
                <a:ln>
                  <a:noFill/>
                </a:ln>
                <a:solidFill>
                  <a:schemeClr val="dk1"/>
                </a:solidFill>
                <a:effectLst/>
                <a:uLnTx/>
                <a:uFillTx/>
                <a:latin typeface="Times New Roman" panose="02020603050405020304" pitchFamily="18" charset="0"/>
                <a:cs typeface="Times New Roman" panose="02020603050405020304" pitchFamily="18" charset="0"/>
              </a:rPr>
              <a:t> Question Papers</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419A8E63-565F-6A85-88AC-590CBD130738}"/>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344710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928E5F-E636-4ED6-95E0-0E7A2A790FFB}"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a:p>
        </p:txBody>
      </p:sp>
      <p:sp>
        <p:nvSpPr>
          <p:cNvPr id="7" name="Title 1"/>
          <p:cNvSpPr txBox="1">
            <a:spLocks/>
          </p:cNvSpPr>
          <p:nvPr/>
        </p:nvSpPr>
        <p:spPr>
          <a:xfrm>
            <a:off x="1547664" y="3"/>
            <a:ext cx="7596336" cy="76470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rPr>
              <a:t>Summary</a:t>
            </a:r>
          </a:p>
        </p:txBody>
      </p:sp>
      <p:sp>
        <p:nvSpPr>
          <p:cNvPr id="3" name="TextBox 2"/>
          <p:cNvSpPr txBox="1"/>
          <p:nvPr/>
        </p:nvSpPr>
        <p:spPr>
          <a:xfrm>
            <a:off x="179512" y="1340768"/>
            <a:ext cx="8305800" cy="1938992"/>
          </a:xfrm>
          <a:prstGeom prst="rect">
            <a:avLst/>
          </a:prstGeom>
          <a:noFill/>
        </p:spPr>
        <p:txBody>
          <a:bodyPr wrap="square" rtlCol="0">
            <a:spAutoFit/>
          </a:bodyPr>
          <a:lstStyle/>
          <a:p>
            <a:pPr marL="457200" indent="-457200" algn="just">
              <a:buFont typeface="+mj-lt"/>
              <a:buAutoNum type="arabicPeriod"/>
            </a:pPr>
            <a:r>
              <a:rPr lang="en-IN" sz="2400">
                <a:latin typeface="Times New Roman" panose="02020603050405020304" pitchFamily="18" charset="0"/>
                <a:cs typeface="Times New Roman" panose="02020603050405020304" pitchFamily="18" charset="0"/>
              </a:rPr>
              <a:t>Meaning, definition and concept of entrepreneur, entrepreneurship and entrepreneurship development.</a:t>
            </a:r>
          </a:p>
          <a:p>
            <a:pPr marL="457200" indent="-457200" algn="just">
              <a:buFont typeface="+mj-lt"/>
              <a:buAutoNum type="arabicPeriod"/>
            </a:pPr>
            <a:r>
              <a:rPr lang="en-IN" sz="2400">
                <a:latin typeface="Times New Roman" panose="02020603050405020304" pitchFamily="18" charset="0"/>
                <a:cs typeface="Times New Roman" panose="02020603050405020304" pitchFamily="18" charset="0"/>
              </a:rPr>
              <a:t> Theories of entreprneurship</a:t>
            </a:r>
          </a:p>
          <a:p>
            <a:pPr marL="457200" indent="-457200" algn="just">
              <a:buFont typeface="+mj-lt"/>
              <a:buAutoNum type="arabicPeriod"/>
            </a:pPr>
            <a:r>
              <a:rPr lang="en-IN" sz="2400">
                <a:latin typeface="Times New Roman" panose="02020603050405020304" pitchFamily="18" charset="0"/>
                <a:cs typeface="Times New Roman" panose="02020603050405020304" pitchFamily="18" charset="0"/>
              </a:rPr>
              <a:t>Role of entrepreneurship in economic development. </a:t>
            </a:r>
          </a:p>
          <a:p>
            <a:pPr marL="457200" indent="-457200" algn="just">
              <a:buFont typeface="+mj-lt"/>
              <a:buAutoNum type="arabicPeriod"/>
            </a:pPr>
            <a:r>
              <a:rPr lang="en-IN" sz="2400">
                <a:latin typeface="Times New Roman" panose="02020603050405020304" pitchFamily="18" charset="0"/>
                <a:cs typeface="Times New Roman" panose="02020603050405020304" pitchFamily="18" charset="0"/>
              </a:rPr>
              <a:t>Concepts of intrapreneurship, types of entrepreneurs, </a:t>
            </a:r>
            <a:endParaRPr lang="en-US" sz="2400">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BF16ED40-3DE9-1615-FF2E-84E0920FA89A}"/>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8470C62-20CB-4AEF-9303-6CBB1DB0DDEA}"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a:p>
        </p:txBody>
      </p:sp>
      <p:sp>
        <p:nvSpPr>
          <p:cNvPr id="7" name="Title 1"/>
          <p:cNvSpPr txBox="1">
            <a:spLocks/>
          </p:cNvSpPr>
          <p:nvPr/>
        </p:nvSpPr>
        <p:spPr>
          <a:xfrm>
            <a:off x="1619672" y="3"/>
            <a:ext cx="7524328" cy="83670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a:latin typeface="Times New Roman" panose="02020603050405020304" pitchFamily="18" charset="0"/>
                <a:cs typeface="Times New Roman" panose="02020603050405020304" pitchFamily="18" charset="0"/>
              </a:rPr>
              <a:t>References</a:t>
            </a:r>
            <a:endParaRPr kumimoji="0" lang="en-US" sz="36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304800" y="1143000"/>
            <a:ext cx="8534400" cy="4598182"/>
          </a:xfrm>
          <a:prstGeom prst="rect">
            <a:avLst/>
          </a:prstGeom>
          <a:noFill/>
        </p:spPr>
        <p:txBody>
          <a:bodyPr wrap="square" lIns="91440" tIns="45720" rIns="91440" bIns="45720">
            <a:spAutoFit/>
          </a:bodyPr>
          <a:lstStyle/>
          <a:p>
            <a:pPr algn="just">
              <a:buNone/>
            </a:pPr>
            <a:r>
              <a:rPr lang="en-IN" sz="2400"/>
              <a:t>1. </a:t>
            </a:r>
            <a:r>
              <a:rPr lang="en-IN" sz="2400">
                <a:latin typeface="Times New Roman" panose="02020603050405020304" pitchFamily="18" charset="0"/>
                <a:cs typeface="Times New Roman" panose="02020603050405020304" pitchFamily="18" charset="0"/>
              </a:rPr>
              <a:t>Roy :Entrepreneurship, OUP </a:t>
            </a:r>
          </a:p>
          <a:p>
            <a:pPr algn="just">
              <a:buNone/>
            </a:pPr>
            <a:r>
              <a:rPr lang="en-IN" sz="2400">
                <a:latin typeface="Times New Roman" panose="02020603050405020304" pitchFamily="18" charset="0"/>
                <a:cs typeface="Times New Roman" panose="02020603050405020304" pitchFamily="18" charset="0"/>
              </a:rPr>
              <a:t>2. Entrepreneurship 10th Ed (Indian Edition) 2016 by Robert Hisrich Michael Peters Dean Shepherd, McGraw Hill </a:t>
            </a:r>
          </a:p>
          <a:p>
            <a:pPr algn="just">
              <a:buNone/>
            </a:pPr>
            <a:r>
              <a:rPr lang="en-IN" sz="2400">
                <a:latin typeface="Times New Roman" panose="02020603050405020304" pitchFamily="18" charset="0"/>
                <a:cs typeface="Times New Roman" panose="02020603050405020304" pitchFamily="18" charset="0"/>
              </a:rPr>
              <a:t>3. Khanka, S.S.; Entrepreneurial Development; S. Chand and Co.</a:t>
            </a:r>
          </a:p>
          <a:p>
            <a:pPr algn="just">
              <a:buNone/>
            </a:pPr>
            <a:r>
              <a:rPr lang="en-IN" sz="2400">
                <a:latin typeface="Times New Roman" panose="02020603050405020304" pitchFamily="18" charset="0"/>
                <a:cs typeface="Times New Roman" panose="02020603050405020304" pitchFamily="18" charset="0"/>
              </a:rPr>
              <a:t> 4. Kumar, Arya; Entrepreneurship; Pearson Education. </a:t>
            </a:r>
          </a:p>
          <a:p>
            <a:pPr algn="just">
              <a:buNone/>
            </a:pPr>
            <a:r>
              <a:rPr lang="en-IN" sz="2400">
                <a:latin typeface="Times New Roman" panose="02020603050405020304" pitchFamily="18" charset="0"/>
                <a:cs typeface="Times New Roman" panose="02020603050405020304" pitchFamily="18" charset="0"/>
              </a:rPr>
              <a:t>5.Desai, Vasant; Dynamics of Entrepreneurial Development and Management; Himalaya Publishing </a:t>
            </a:r>
          </a:p>
          <a:p>
            <a:pPr algn="just">
              <a:buNone/>
            </a:pPr>
            <a:r>
              <a:rPr lang="en-IN" sz="2400">
                <a:latin typeface="Times New Roman" panose="02020603050405020304" pitchFamily="18" charset="0"/>
                <a:cs typeface="Times New Roman" panose="02020603050405020304" pitchFamily="18" charset="0"/>
              </a:rPr>
              <a:t>6. Blundel, R. and Lockett, N.; Exploring Entrepreneurship Practices and Perspectives; Oxford Publications. </a:t>
            </a:r>
          </a:p>
          <a:p>
            <a:pPr algn="just">
              <a:buNone/>
            </a:pPr>
            <a:r>
              <a:rPr lang="en-IN" sz="2400">
                <a:latin typeface="Times New Roman" panose="02020603050405020304" pitchFamily="18" charset="0"/>
                <a:cs typeface="Times New Roman" panose="02020603050405020304" pitchFamily="18" charset="0"/>
              </a:rPr>
              <a:t>7. Dollinger, M. J.; Entrepreneurship: New Venture Creation; PHI Learning. </a:t>
            </a:r>
            <a:endParaRPr lang="en-US" sz="2400">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E6BF15C9-4C04-9106-8CEE-731C7693A343}"/>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232305484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179300-E4C4-423F-BA5F-4F4D056C120E}" type="datetime1">
              <a:rPr lang="en-US" smtClean="0"/>
              <a:pPr/>
              <a:t>12-Aug-25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a:p>
        </p:txBody>
      </p:sp>
      <p:sp>
        <p:nvSpPr>
          <p:cNvPr id="10" name="Rectangle 9"/>
          <p:cNvSpPr/>
          <p:nvPr/>
        </p:nvSpPr>
        <p:spPr>
          <a:xfrm>
            <a:off x="2928928" y="2428868"/>
            <a:ext cx="3148940" cy="923330"/>
          </a:xfrm>
          <a:prstGeom prst="rect">
            <a:avLst/>
          </a:prstGeom>
          <a:noFill/>
        </p:spPr>
        <p:txBody>
          <a:bodyPr wrap="none" lIns="91440" tIns="45720" rIns="91440" bIns="45720">
            <a:spAutoFit/>
          </a:bodyPr>
          <a:lstStyle/>
          <a:p>
            <a:pPr algn="ctr"/>
            <a:r>
              <a:rPr lang="en-US" sz="5400" b="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2" name="Footer Placeholder 12">
            <a:extLst>
              <a:ext uri="{FF2B5EF4-FFF2-40B4-BE49-F238E27FC236}">
                <a16:creationId xmlns:a16="http://schemas.microsoft.com/office/drawing/2014/main" id="{E29E42AD-0751-8D6D-AB19-DC377C6E0325}"/>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t>VIJAYLAXMI                                AOE0771              Unit 1</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a:t>
            </a:r>
          </a:p>
        </p:txBody>
      </p:sp>
    </p:spTree>
    <p:extLst>
      <p:ext uri="{BB962C8B-B14F-4D97-AF65-F5344CB8AC3E}">
        <p14:creationId xmlns:p14="http://schemas.microsoft.com/office/powerpoint/2010/main" val="3239437654"/>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0187066428A84AA199CDA19E92ECF8" ma:contentTypeVersion="4" ma:contentTypeDescription="Create a new document." ma:contentTypeScope="" ma:versionID="47d9d770b6219f473c408660f71b854f">
  <xsd:schema xmlns:xsd="http://www.w3.org/2001/XMLSchema" xmlns:xs="http://www.w3.org/2001/XMLSchema" xmlns:p="http://schemas.microsoft.com/office/2006/metadata/properties" xmlns:ns2="d430450e-e793-48af-aeea-b7d63c4a8d9f" targetNamespace="http://schemas.microsoft.com/office/2006/metadata/properties" ma:root="true" ma:fieldsID="1c70a0067056082de9938516d0ca8d84" ns2:_="">
    <xsd:import namespace="d430450e-e793-48af-aeea-b7d63c4a8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0450e-e793-48af-aeea-b7d63c4a8d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115666-6E4B-4909-8FD9-D9122AA75EB6}">
  <ds:schemaRefs>
    <ds:schemaRef ds:uri="http://schemas.microsoft.com/office/2006/metadata/contentType"/>
    <ds:schemaRef ds:uri="http://schemas.microsoft.com/office/2006/metadata/properties/metaAttributes"/>
    <ds:schemaRef ds:uri="http://www.w3.org/2000/xmlns/"/>
    <ds:schemaRef ds:uri="http://www.w3.org/2001/XMLSchema"/>
    <ds:schemaRef ds:uri="d430450e-e793-48af-aeea-b7d63c4a8d9f"/>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A1F2854-514C-4929-ACB1-20C7BE4C2515}">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3F504153-A88F-48F2-A2B2-C4A4159B36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27</TotalTime>
  <Words>8874</Words>
  <Application>Microsoft Office PowerPoint</Application>
  <PresentationFormat>On-screen Show (4:3)</PresentationFormat>
  <Paragraphs>1316</Paragraphs>
  <Slides>113</Slides>
  <Notes>15</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113</vt:i4>
      </vt:variant>
    </vt:vector>
  </HeadingPairs>
  <TitlesOfParts>
    <vt:vector size="121" baseType="lpstr">
      <vt:lpstr>Arial</vt:lpstr>
      <vt:lpstr>Calibri</vt:lpstr>
      <vt:lpstr>Calibri Light</vt:lpstr>
      <vt:lpstr>Tahoma</vt:lpstr>
      <vt:lpstr>Times New Roman</vt:lpstr>
      <vt:lpstr>Wingdings</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ENTREPRENEUR</vt:lpstr>
      <vt:lpstr>ENTREPRENEUR</vt:lpstr>
      <vt:lpstr>PowerPoint Presentation</vt:lpstr>
      <vt:lpstr>6Cs that motivate entrepreneurs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FABIAN ENTREPRENEURS</vt:lpstr>
      <vt:lpstr>DRONE ENTREPRENEURS</vt:lpstr>
      <vt:lpstr>COLE’S CLASSIFICATION</vt:lpstr>
      <vt:lpstr>PowerPoint Presentation</vt:lpstr>
      <vt:lpstr>PowerPoint Presentation</vt:lpstr>
      <vt:lpstr>PowerPoint Presentation</vt:lpstr>
      <vt:lpstr> ON THE BASIS OF TYPE OF BUSINESS</vt:lpstr>
      <vt:lpstr>PowerPoint Presentation</vt:lpstr>
      <vt:lpstr>ON THE BASIS OF USE OF TECHNOLOGY</vt:lpstr>
      <vt:lpstr>Professional Entrepreneur</vt:lpstr>
      <vt:lpstr>ON THE BASIS OF MOTIVATION</vt:lpstr>
      <vt:lpstr>ON THE BASIS OF MOTIVATION</vt:lpstr>
      <vt:lpstr>ON THE BASIS OF MOTIVATION</vt:lpstr>
      <vt:lpstr>ON THE BASIS OF ENTREPRENEURIAL  ACTIVITY</vt:lpstr>
      <vt:lpstr>PowerPoint Presentation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Corporate Entrepreneurship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Mr. Alok Raj</cp:lastModifiedBy>
  <cp:revision>6</cp:revision>
  <dcterms:created xsi:type="dcterms:W3CDTF">2006-08-16T00:00:00Z</dcterms:created>
  <dcterms:modified xsi:type="dcterms:W3CDTF">2025-08-12T06:43:01Z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0x0101008F0187066428A84AA199CDA19E92ECF8</vt:lpwstr>
  </property>
</Properties>
</file>