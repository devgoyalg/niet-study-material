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886" r:id="rId1"/>
    <p:sldMasterId id="2147483898" r:id="rId2"/>
  </p:sldMasterIdLst>
  <p:notesMasterIdLst>
    <p:notesMasterId r:id="rId120"/>
  </p:notesMasterIdLst>
  <p:sldIdLst>
    <p:sldId id="257" r:id="rId3"/>
    <p:sldId id="390" r:id="rId4"/>
    <p:sldId id="361" r:id="rId5"/>
    <p:sldId id="391" r:id="rId6"/>
    <p:sldId id="392" r:id="rId7"/>
    <p:sldId id="393" r:id="rId8"/>
    <p:sldId id="394" r:id="rId9"/>
    <p:sldId id="362" r:id="rId10"/>
    <p:sldId id="364" r:id="rId11"/>
    <p:sldId id="365" r:id="rId12"/>
    <p:sldId id="366" r:id="rId13"/>
    <p:sldId id="367" r:id="rId14"/>
    <p:sldId id="368" r:id="rId15"/>
    <p:sldId id="370" r:id="rId16"/>
    <p:sldId id="371" r:id="rId17"/>
    <p:sldId id="372" r:id="rId18"/>
    <p:sldId id="258" r:id="rId19"/>
    <p:sldId id="262" r:id="rId20"/>
    <p:sldId id="263" r:id="rId21"/>
    <p:sldId id="374" r:id="rId22"/>
    <p:sldId id="416" r:id="rId23"/>
    <p:sldId id="417" r:id="rId24"/>
    <p:sldId id="418" r:id="rId25"/>
    <p:sldId id="419" r:id="rId26"/>
    <p:sldId id="415" r:id="rId27"/>
    <p:sldId id="420" r:id="rId28"/>
    <p:sldId id="421" r:id="rId29"/>
    <p:sldId id="422" r:id="rId30"/>
    <p:sldId id="423" r:id="rId31"/>
    <p:sldId id="424" r:id="rId32"/>
    <p:sldId id="425" r:id="rId33"/>
    <p:sldId id="426" r:id="rId34"/>
    <p:sldId id="427" r:id="rId35"/>
    <p:sldId id="428" r:id="rId36"/>
    <p:sldId id="429" r:id="rId37"/>
    <p:sldId id="430" r:id="rId38"/>
    <p:sldId id="431" r:id="rId39"/>
    <p:sldId id="432" r:id="rId40"/>
    <p:sldId id="433" r:id="rId41"/>
    <p:sldId id="442" r:id="rId42"/>
    <p:sldId id="260" r:id="rId43"/>
    <p:sldId id="261" r:id="rId44"/>
    <p:sldId id="440" r:id="rId45"/>
    <p:sldId id="441" r:id="rId46"/>
    <p:sldId id="264" r:id="rId47"/>
    <p:sldId id="265" r:id="rId48"/>
    <p:sldId id="266" r:id="rId49"/>
    <p:sldId id="267" r:id="rId50"/>
    <p:sldId id="268" r:id="rId51"/>
    <p:sldId id="269" r:id="rId52"/>
    <p:sldId id="270" r:id="rId53"/>
    <p:sldId id="271" r:id="rId54"/>
    <p:sldId id="272" r:id="rId55"/>
    <p:sldId id="273" r:id="rId56"/>
    <p:sldId id="274" r:id="rId57"/>
    <p:sldId id="275" r:id="rId58"/>
    <p:sldId id="276" r:id="rId59"/>
    <p:sldId id="277" r:id="rId60"/>
    <p:sldId id="278" r:id="rId61"/>
    <p:sldId id="279" r:id="rId62"/>
    <p:sldId id="280" r:id="rId63"/>
    <p:sldId id="281" r:id="rId64"/>
    <p:sldId id="282" r:id="rId65"/>
    <p:sldId id="283" r:id="rId66"/>
    <p:sldId id="284" r:id="rId67"/>
    <p:sldId id="285" r:id="rId68"/>
    <p:sldId id="286" r:id="rId69"/>
    <p:sldId id="287" r:id="rId70"/>
    <p:sldId id="288" r:id="rId71"/>
    <p:sldId id="289" r:id="rId72"/>
    <p:sldId id="290" r:id="rId73"/>
    <p:sldId id="291" r:id="rId74"/>
    <p:sldId id="292" r:id="rId75"/>
    <p:sldId id="293" r:id="rId76"/>
    <p:sldId id="294" r:id="rId77"/>
    <p:sldId id="295" r:id="rId78"/>
    <p:sldId id="296" r:id="rId79"/>
    <p:sldId id="297" r:id="rId80"/>
    <p:sldId id="298" r:id="rId81"/>
    <p:sldId id="299" r:id="rId82"/>
    <p:sldId id="300" r:id="rId83"/>
    <p:sldId id="301" r:id="rId84"/>
    <p:sldId id="302" r:id="rId85"/>
    <p:sldId id="303" r:id="rId86"/>
    <p:sldId id="304" r:id="rId87"/>
    <p:sldId id="305" r:id="rId88"/>
    <p:sldId id="306" r:id="rId89"/>
    <p:sldId id="307" r:id="rId90"/>
    <p:sldId id="308" r:id="rId91"/>
    <p:sldId id="434" r:id="rId92"/>
    <p:sldId id="406" r:id="rId93"/>
    <p:sldId id="414" r:id="rId94"/>
    <p:sldId id="436" r:id="rId95"/>
    <p:sldId id="437" r:id="rId96"/>
    <p:sldId id="438" r:id="rId97"/>
    <p:sldId id="407" r:id="rId98"/>
    <p:sldId id="409" r:id="rId99"/>
    <p:sldId id="410" r:id="rId100"/>
    <p:sldId id="389" r:id="rId101"/>
    <p:sldId id="319" r:id="rId102"/>
    <p:sldId id="331" r:id="rId103"/>
    <p:sldId id="320" r:id="rId104"/>
    <p:sldId id="321" r:id="rId105"/>
    <p:sldId id="412" r:id="rId106"/>
    <p:sldId id="413" r:id="rId107"/>
    <p:sldId id="322" r:id="rId108"/>
    <p:sldId id="333" r:id="rId109"/>
    <p:sldId id="323" r:id="rId110"/>
    <p:sldId id="334" r:id="rId111"/>
    <p:sldId id="327" r:id="rId112"/>
    <p:sldId id="338" r:id="rId113"/>
    <p:sldId id="329" r:id="rId114"/>
    <p:sldId id="408" r:id="rId115"/>
    <p:sldId id="330" r:id="rId116"/>
    <p:sldId id="396" r:id="rId117"/>
    <p:sldId id="395" r:id="rId118"/>
    <p:sldId id="345" r:id="rId11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00"/>
    <a:srgbClr val="FF3300"/>
    <a:srgbClr val="FFFF00"/>
    <a:srgbClr val="CC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07" autoAdjust="0"/>
    <p:restoredTop sz="94660"/>
  </p:normalViewPr>
  <p:slideViewPr>
    <p:cSldViewPr>
      <p:cViewPr varScale="1">
        <p:scale>
          <a:sx n="91" d="100"/>
          <a:sy n="91" d="100"/>
        </p:scale>
        <p:origin x="128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slide" Target="slides/slide110.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theme" Target="theme/theme1.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tableStyles" Target="tableStyles.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notesMaster" Target="notesMasters/notesMaster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presProps" Target="presProp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a:t>Introduction to Computer Vision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D369DF30-B634-402E-AF43-230591D12A46}">
      <dgm:prSet/>
      <dgm:spPr/>
      <dgm:t>
        <a:bodyPr/>
        <a:lstStyle/>
        <a:p>
          <a:r>
            <a:rPr lang="en-GB" dirty="0"/>
            <a:t>Computer Vision, Research and Applications, (Self-Driving Cars, Facial Recognition, Augmented &amp; Mixed Reality, Healthcare). Most popular examples Categorization of Images, Object Detection, Observation of Moving Objects, Retrieval of Images Based on Their Contents, Computer Vision Tasks classification, object detection, Instance segmentation. Convolutional Neural Networks, Evolution of CNN Architectures for Image, Recent CNN </a:t>
          </a:r>
          <a:endParaRPr lang="en-IN" dirty="0"/>
        </a:p>
      </dgm:t>
    </dgm:pt>
    <dgm:pt modelId="{5A67967C-0EAD-41B6-AF7B-FDE6CBF6B651}" type="parTrans" cxnId="{AA6DBEF1-CC9C-44E6-A512-FF0CDF053ABB}">
      <dgm:prSet/>
      <dgm:spPr/>
      <dgm:t>
        <a:bodyPr/>
        <a:lstStyle/>
        <a:p>
          <a:endParaRPr lang="en-US"/>
        </a:p>
      </dgm:t>
    </dgm:pt>
    <dgm:pt modelId="{90074336-EEFF-4709-87BA-15C51D5A8045}" type="sibTrans" cxnId="{AA6DBEF1-CC9C-44E6-A512-FF0CDF053ABB}">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pt>
    <dgm:pt modelId="{5466BB5F-F99C-4092-B11E-435C2EC87E42}" type="pres">
      <dgm:prSet presAssocID="{18CE3E0E-3290-422E-BD32-E1AD8CB2C6E4}" presName="parentText" presStyleLbl="node1" presStyleIdx="0" presStyleCnt="2" custScaleY="18411" custLinFactNeighborX="-239" custLinFactNeighborY="-9805">
        <dgm:presLayoutVars>
          <dgm:chMax val="0"/>
          <dgm:bulletEnabled val="1"/>
        </dgm:presLayoutVars>
      </dgm:prSet>
      <dgm:spPr/>
    </dgm:pt>
    <dgm:pt modelId="{96575E91-F5A5-4218-B1EC-F10E76AC9EB6}" type="pres">
      <dgm:prSet presAssocID="{5A57522C-1C32-440C-9F64-9EF818720D9C}" presName="spacer" presStyleCnt="0"/>
      <dgm:spPr/>
    </dgm:pt>
    <dgm:pt modelId="{7B5D70F3-324A-4EA4-B0FC-AAC4C5B99002}" type="pres">
      <dgm:prSet presAssocID="{D369DF30-B634-402E-AF43-230591D12A46}" presName="parentText" presStyleLbl="node1" presStyleIdx="1" presStyleCnt="2" custLinFactNeighborX="-3369" custLinFactNeighborY="71313">
        <dgm:presLayoutVars>
          <dgm:chMax val="0"/>
          <dgm:bulletEnabled val="1"/>
        </dgm:presLayoutVars>
      </dgm:prSet>
      <dgm:spPr/>
    </dgm:pt>
  </dgm:ptLst>
  <dgm:cxnLst>
    <dgm:cxn modelId="{43D8BC78-3978-4C23-B9DA-F6115E3E708A}" type="presOf" srcId="{18EA6042-2EA2-4065-81DF-7A18BEC42C1C}" destId="{5935E145-FD17-4F9E-B302-F21214F4A468}" srcOrd="0" destOrd="0" presId="urn:microsoft.com/office/officeart/2005/8/layout/vList2"/>
    <dgm:cxn modelId="{F61405CD-BF4D-4132-A8F6-94A55AFF2516}" srcId="{18EA6042-2EA2-4065-81DF-7A18BEC42C1C}" destId="{18CE3E0E-3290-422E-BD32-E1AD8CB2C6E4}" srcOrd="0" destOrd="0" parTransId="{317883E6-23F7-434D-A777-EB6C46138693}" sibTransId="{5A57522C-1C32-440C-9F64-9EF818720D9C}"/>
    <dgm:cxn modelId="{DBB2FAD8-B514-47F5-B0A3-6A2E767345A4}" type="presOf" srcId="{18CE3E0E-3290-422E-BD32-E1AD8CB2C6E4}" destId="{5466BB5F-F99C-4092-B11E-435C2EC87E42}" srcOrd="0" destOrd="0" presId="urn:microsoft.com/office/officeart/2005/8/layout/vList2"/>
    <dgm:cxn modelId="{B1B33CF1-A172-4064-A4EE-990B87B626EA}" type="presOf" srcId="{D369DF30-B634-402E-AF43-230591D12A46}" destId="{7B5D70F3-324A-4EA4-B0FC-AAC4C5B99002}" srcOrd="0" destOrd="0" presId="urn:microsoft.com/office/officeart/2005/8/layout/vList2"/>
    <dgm:cxn modelId="{AA6DBEF1-CC9C-44E6-A512-FF0CDF053ABB}" srcId="{18EA6042-2EA2-4065-81DF-7A18BEC42C1C}" destId="{D369DF30-B634-402E-AF43-230591D12A46}" srcOrd="1" destOrd="0" parTransId="{5A67967C-0EAD-41B6-AF7B-FDE6CBF6B651}" sibTransId="{90074336-EEFF-4709-87BA-15C51D5A8045}"/>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54912469-46A7-4510-8825-C6358F14551B}" type="presParOf" srcId="{5935E145-FD17-4F9E-B302-F21214F4A468}" destId="{7B5D70F3-324A-4EA4-B0FC-AAC4C5B99002}"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a:t>Architectures</a:t>
          </a:r>
          <a:r>
            <a:rPr lang="en-GB" sz="2000" dirty="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D369DF30-B634-402E-AF43-230591D12A46}">
      <dgm:prSet/>
      <dgm:spPr/>
      <dgm:t>
        <a:bodyPr/>
        <a:lstStyle/>
        <a:p>
          <a:r>
            <a:rPr lang="en-GB" dirty="0"/>
            <a:t>Representation of a Three-Dimensional Moving Scene. Convolutional layers, pooling layers, and padding. Transfer learning and pre-trained models Architectures.   </a:t>
          </a:r>
          <a:endParaRPr lang="en-IN" dirty="0"/>
        </a:p>
      </dgm:t>
    </dgm:pt>
    <dgm:pt modelId="{5A67967C-0EAD-41B6-AF7B-FDE6CBF6B651}" type="parTrans" cxnId="{AA6DBEF1-CC9C-44E6-A512-FF0CDF053ABB}">
      <dgm:prSet/>
      <dgm:spPr/>
      <dgm:t>
        <a:bodyPr/>
        <a:lstStyle/>
        <a:p>
          <a:endParaRPr lang="en-US"/>
        </a:p>
      </dgm:t>
    </dgm:pt>
    <dgm:pt modelId="{90074336-EEFF-4709-87BA-15C51D5A8045}" type="sibTrans" cxnId="{AA6DBEF1-CC9C-44E6-A512-FF0CDF053ABB}">
      <dgm:prSet/>
      <dgm:spPr/>
      <dgm:t>
        <a:bodyPr/>
        <a:lstStyle/>
        <a:p>
          <a:endParaRPr lang="en-US"/>
        </a:p>
      </dgm:t>
    </dgm:pt>
    <dgm:pt modelId="{7076C3FC-D677-42D3-AFD9-519230148AA9}">
      <dgm:prSet/>
      <dgm:spPr/>
      <dgm:t>
        <a:bodyPr/>
        <a:lstStyle/>
        <a:p>
          <a:r>
            <a:rPr lang="en-GB"/>
            <a:t>Architectures Design: LeNet-5, AlexNet, VGGNet, GoogLeNet, ResNet, Efficient Net, Mobile Net, RNN Introduction.     </a:t>
          </a:r>
          <a:endParaRPr lang="en-IN"/>
        </a:p>
      </dgm:t>
    </dgm:pt>
    <dgm:pt modelId="{FE62C8FC-8C64-4CE1-872F-8542D7C5999C}" type="parTrans" cxnId="{919127EC-71E4-4C56-AD4E-96B02E5889B8}">
      <dgm:prSet/>
      <dgm:spPr/>
      <dgm:t>
        <a:bodyPr/>
        <a:lstStyle/>
        <a:p>
          <a:endParaRPr lang="en-US"/>
        </a:p>
      </dgm:t>
    </dgm:pt>
    <dgm:pt modelId="{0A592E99-F344-4BE4-ADDE-41E6CCCB281C}" type="sibTrans" cxnId="{919127EC-71E4-4C56-AD4E-96B02E5889B8}">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pt>
    <dgm:pt modelId="{5466BB5F-F99C-4092-B11E-435C2EC87E42}" type="pres">
      <dgm:prSet presAssocID="{18CE3E0E-3290-422E-BD32-E1AD8CB2C6E4}" presName="parentText" presStyleLbl="node1" presStyleIdx="0" presStyleCnt="3" custScaleY="18411" custLinFactNeighborX="-2586" custLinFactNeighborY="-71311">
        <dgm:presLayoutVars>
          <dgm:chMax val="0"/>
          <dgm:bulletEnabled val="1"/>
        </dgm:presLayoutVars>
      </dgm:prSet>
      <dgm:spPr/>
    </dgm:pt>
    <dgm:pt modelId="{96575E91-F5A5-4218-B1EC-F10E76AC9EB6}" type="pres">
      <dgm:prSet presAssocID="{5A57522C-1C32-440C-9F64-9EF818720D9C}" presName="spacer" presStyleCnt="0"/>
      <dgm:spPr/>
    </dgm:pt>
    <dgm:pt modelId="{7B5D70F3-324A-4EA4-B0FC-AAC4C5B99002}" type="pres">
      <dgm:prSet presAssocID="{D369DF30-B634-402E-AF43-230591D12A46}" presName="parentText" presStyleLbl="node1" presStyleIdx="1" presStyleCnt="3">
        <dgm:presLayoutVars>
          <dgm:chMax val="0"/>
          <dgm:bulletEnabled val="1"/>
        </dgm:presLayoutVars>
      </dgm:prSet>
      <dgm:spPr/>
    </dgm:pt>
    <dgm:pt modelId="{8BEC9764-8FDA-47DB-BA9E-60B836668861}" type="pres">
      <dgm:prSet presAssocID="{90074336-EEFF-4709-87BA-15C51D5A8045}" presName="spacer" presStyleCnt="0"/>
      <dgm:spPr/>
    </dgm:pt>
    <dgm:pt modelId="{80F49CB3-EE90-49B1-AF3F-EAAE5DF558FE}" type="pres">
      <dgm:prSet presAssocID="{7076C3FC-D677-42D3-AFD9-519230148AA9}" presName="parentText" presStyleLbl="node1" presStyleIdx="2" presStyleCnt="3">
        <dgm:presLayoutVars>
          <dgm:chMax val="0"/>
          <dgm:bulletEnabled val="1"/>
        </dgm:presLayoutVars>
      </dgm:prSet>
      <dgm:spPr/>
    </dgm:pt>
  </dgm:ptLst>
  <dgm:cxnLst>
    <dgm:cxn modelId="{C6BF1075-7AC3-4898-84EB-95F66C4AE70B}" type="presOf" srcId="{7076C3FC-D677-42D3-AFD9-519230148AA9}" destId="{80F49CB3-EE90-49B1-AF3F-EAAE5DF558FE}" srcOrd="0" destOrd="0" presId="urn:microsoft.com/office/officeart/2005/8/layout/vList2"/>
    <dgm:cxn modelId="{43D8BC78-3978-4C23-B9DA-F6115E3E708A}" type="presOf" srcId="{18EA6042-2EA2-4065-81DF-7A18BEC42C1C}" destId="{5935E145-FD17-4F9E-B302-F21214F4A468}" srcOrd="0" destOrd="0" presId="urn:microsoft.com/office/officeart/2005/8/layout/vList2"/>
    <dgm:cxn modelId="{F61405CD-BF4D-4132-A8F6-94A55AFF2516}" srcId="{18EA6042-2EA2-4065-81DF-7A18BEC42C1C}" destId="{18CE3E0E-3290-422E-BD32-E1AD8CB2C6E4}" srcOrd="0" destOrd="0" parTransId="{317883E6-23F7-434D-A777-EB6C46138693}" sibTransId="{5A57522C-1C32-440C-9F64-9EF818720D9C}"/>
    <dgm:cxn modelId="{DBB2FAD8-B514-47F5-B0A3-6A2E767345A4}" type="presOf" srcId="{18CE3E0E-3290-422E-BD32-E1AD8CB2C6E4}" destId="{5466BB5F-F99C-4092-B11E-435C2EC87E42}" srcOrd="0" destOrd="0" presId="urn:microsoft.com/office/officeart/2005/8/layout/vList2"/>
    <dgm:cxn modelId="{919127EC-71E4-4C56-AD4E-96B02E5889B8}" srcId="{18EA6042-2EA2-4065-81DF-7A18BEC42C1C}" destId="{7076C3FC-D677-42D3-AFD9-519230148AA9}" srcOrd="2" destOrd="0" parTransId="{FE62C8FC-8C64-4CE1-872F-8542D7C5999C}" sibTransId="{0A592E99-F344-4BE4-ADDE-41E6CCCB281C}"/>
    <dgm:cxn modelId="{B1B33CF1-A172-4064-A4EE-990B87B626EA}" type="presOf" srcId="{D369DF30-B634-402E-AF43-230591D12A46}" destId="{7B5D70F3-324A-4EA4-B0FC-AAC4C5B99002}" srcOrd="0" destOrd="0" presId="urn:microsoft.com/office/officeart/2005/8/layout/vList2"/>
    <dgm:cxn modelId="{AA6DBEF1-CC9C-44E6-A512-FF0CDF053ABB}" srcId="{18EA6042-2EA2-4065-81DF-7A18BEC42C1C}" destId="{D369DF30-B634-402E-AF43-230591D12A46}" srcOrd="1" destOrd="0" parTransId="{5A67967C-0EAD-41B6-AF7B-FDE6CBF6B651}" sibTransId="{90074336-EEFF-4709-87BA-15C51D5A8045}"/>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54912469-46A7-4510-8825-C6358F14551B}" type="presParOf" srcId="{5935E145-FD17-4F9E-B302-F21214F4A468}" destId="{7B5D70F3-324A-4EA4-B0FC-AAC4C5B99002}" srcOrd="2" destOrd="0" presId="urn:microsoft.com/office/officeart/2005/8/layout/vList2"/>
    <dgm:cxn modelId="{588DD5BA-068E-41AB-B54F-1ACE9BE839C6}" type="presParOf" srcId="{5935E145-FD17-4F9E-B302-F21214F4A468}" destId="{8BEC9764-8FDA-47DB-BA9E-60B836668861}" srcOrd="3" destOrd="0" presId="urn:microsoft.com/office/officeart/2005/8/layout/vList2"/>
    <dgm:cxn modelId="{70866D5C-0DAE-4E32-B1B5-54ECA714875E}" type="presParOf" srcId="{5935E145-FD17-4F9E-B302-F21214F4A468}" destId="{80F49CB3-EE90-49B1-AF3F-EAAE5DF558FE}" srcOrd="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a:t>Segmentation </a:t>
          </a:r>
          <a:r>
            <a:rPr lang="en-GB" sz="2000" dirty="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949138AA-27A5-499F-B742-7C54E953FBBE}">
      <dgm:prSet/>
      <dgm:spPr/>
      <dgm:t>
        <a:bodyPr/>
        <a:lstStyle/>
        <a:p>
          <a:r>
            <a:rPr lang="en-GB"/>
            <a:t>Popular Image Segmentation Architectures, FCN Architecture, Upsampling Methods, Pixel Transformations, Geometric Operations, Spatial Operations in Image Processing, Instance Segmentation, Localisation, Object detection and image segmentation using CNNs, LSTM and GRU’s. Vision Models, Vision Languages, Quality Analysis, Visual Dialogue,   Active Contours &amp; Application, Split &amp; Merge, Mean Shift &amp; Mode Finding, Normalized Cuts. </a:t>
          </a:r>
          <a:endParaRPr lang="en-IN"/>
        </a:p>
      </dgm:t>
    </dgm:pt>
    <dgm:pt modelId="{468F6954-5806-4BF2-95D5-7311E16DEFE3}" type="parTrans" cxnId="{36A455C7-75A6-471D-A28E-6D94DA568809}">
      <dgm:prSet/>
      <dgm:spPr/>
      <dgm:t>
        <a:bodyPr/>
        <a:lstStyle/>
        <a:p>
          <a:endParaRPr lang="en-US"/>
        </a:p>
      </dgm:t>
    </dgm:pt>
    <dgm:pt modelId="{56AE27FD-559E-4230-8F25-D8705DD8AF8D}" type="sibTrans" cxnId="{36A455C7-75A6-471D-A28E-6D94DA568809}">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pt>
    <dgm:pt modelId="{5466BB5F-F99C-4092-B11E-435C2EC87E42}" type="pres">
      <dgm:prSet presAssocID="{18CE3E0E-3290-422E-BD32-E1AD8CB2C6E4}" presName="parentText" presStyleLbl="node1" presStyleIdx="0" presStyleCnt="2" custScaleY="18411" custLinFactNeighborX="-2586" custLinFactNeighborY="-71311">
        <dgm:presLayoutVars>
          <dgm:chMax val="0"/>
          <dgm:bulletEnabled val="1"/>
        </dgm:presLayoutVars>
      </dgm:prSet>
      <dgm:spPr/>
    </dgm:pt>
    <dgm:pt modelId="{96575E91-F5A5-4218-B1EC-F10E76AC9EB6}" type="pres">
      <dgm:prSet presAssocID="{5A57522C-1C32-440C-9F64-9EF818720D9C}" presName="spacer" presStyleCnt="0"/>
      <dgm:spPr/>
    </dgm:pt>
    <dgm:pt modelId="{6C14554A-219F-4E02-A840-5F086559B97D}" type="pres">
      <dgm:prSet presAssocID="{949138AA-27A5-499F-B742-7C54E953FBBE}" presName="parentText" presStyleLbl="node1" presStyleIdx="1" presStyleCnt="2" custScaleY="178995">
        <dgm:presLayoutVars>
          <dgm:chMax val="0"/>
          <dgm:bulletEnabled val="1"/>
        </dgm:presLayoutVars>
      </dgm:prSet>
      <dgm:spPr/>
    </dgm:pt>
  </dgm:ptLst>
  <dgm:cxnLst>
    <dgm:cxn modelId="{43D8BC78-3978-4C23-B9DA-F6115E3E708A}" type="presOf" srcId="{18EA6042-2EA2-4065-81DF-7A18BEC42C1C}" destId="{5935E145-FD17-4F9E-B302-F21214F4A468}" srcOrd="0" destOrd="0" presId="urn:microsoft.com/office/officeart/2005/8/layout/vList2"/>
    <dgm:cxn modelId="{FC87D780-1235-4BB0-A417-C1A29E397FE1}" type="presOf" srcId="{949138AA-27A5-499F-B742-7C54E953FBBE}" destId="{6C14554A-219F-4E02-A840-5F086559B97D}" srcOrd="0" destOrd="0" presId="urn:microsoft.com/office/officeart/2005/8/layout/vList2"/>
    <dgm:cxn modelId="{36A455C7-75A6-471D-A28E-6D94DA568809}" srcId="{18EA6042-2EA2-4065-81DF-7A18BEC42C1C}" destId="{949138AA-27A5-499F-B742-7C54E953FBBE}" srcOrd="1" destOrd="0" parTransId="{468F6954-5806-4BF2-95D5-7311E16DEFE3}" sibTransId="{56AE27FD-559E-4230-8F25-D8705DD8AF8D}"/>
    <dgm:cxn modelId="{F61405CD-BF4D-4132-A8F6-94A55AFF2516}" srcId="{18EA6042-2EA2-4065-81DF-7A18BEC42C1C}" destId="{18CE3E0E-3290-422E-BD32-E1AD8CB2C6E4}" srcOrd="0" destOrd="0" parTransId="{317883E6-23F7-434D-A777-EB6C46138693}" sibTransId="{5A57522C-1C32-440C-9F64-9EF818720D9C}"/>
    <dgm:cxn modelId="{DBB2FAD8-B514-47F5-B0A3-6A2E767345A4}" type="presOf" srcId="{18CE3E0E-3290-422E-BD32-E1AD8CB2C6E4}" destId="{5466BB5F-F99C-4092-B11E-435C2EC87E42}" srcOrd="0" destOrd="0" presId="urn:microsoft.com/office/officeart/2005/8/layout/vList2"/>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82423B90-8197-4B15-86B7-28E2170F105D}" type="presParOf" srcId="{5935E145-FD17-4F9E-B302-F21214F4A468}" destId="{6C14554A-219F-4E02-A840-5F086559B97D}"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a:t>Object Detection </a:t>
          </a:r>
          <a:r>
            <a:rPr lang="en-GB" sz="2000" dirty="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7076C3FC-D677-42D3-AFD9-519230148AA9}">
      <dgm:prSet/>
      <dgm:spPr/>
      <dgm:t>
        <a:bodyPr/>
        <a:lstStyle/>
        <a:p>
          <a:r>
            <a:rPr lang="en-GB" dirty="0"/>
            <a:t>Object Detection and Sliding Windows, R-CNN, Fast R-CNN, Object Recognition, 3-D vision and Geometry, Digital Watermarking. Object Detection, face recognition instance Recognition, Category Recognition   Objects, Scenes, Activities, Object classification. </a:t>
          </a:r>
          <a:endParaRPr lang="en-IN" dirty="0"/>
        </a:p>
      </dgm:t>
    </dgm:pt>
    <dgm:pt modelId="{0A592E99-F344-4BE4-ADDE-41E6CCCB281C}" type="sibTrans" cxnId="{919127EC-71E4-4C56-AD4E-96B02E5889B8}">
      <dgm:prSet/>
      <dgm:spPr/>
      <dgm:t>
        <a:bodyPr/>
        <a:lstStyle/>
        <a:p>
          <a:endParaRPr lang="en-US"/>
        </a:p>
      </dgm:t>
    </dgm:pt>
    <dgm:pt modelId="{FE62C8FC-8C64-4CE1-872F-8542D7C5999C}" type="parTrans" cxnId="{919127EC-71E4-4C56-AD4E-96B02E5889B8}">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pt>
    <dgm:pt modelId="{5466BB5F-F99C-4092-B11E-435C2EC87E42}" type="pres">
      <dgm:prSet presAssocID="{18CE3E0E-3290-422E-BD32-E1AD8CB2C6E4}" presName="parentText" presStyleLbl="node1" presStyleIdx="0" presStyleCnt="2" custScaleY="18411" custLinFactNeighborX="-2586" custLinFactNeighborY="-71311">
        <dgm:presLayoutVars>
          <dgm:chMax val="0"/>
          <dgm:bulletEnabled val="1"/>
        </dgm:presLayoutVars>
      </dgm:prSet>
      <dgm:spPr/>
    </dgm:pt>
    <dgm:pt modelId="{96575E91-F5A5-4218-B1EC-F10E76AC9EB6}" type="pres">
      <dgm:prSet presAssocID="{5A57522C-1C32-440C-9F64-9EF818720D9C}" presName="spacer" presStyleCnt="0"/>
      <dgm:spPr/>
    </dgm:pt>
    <dgm:pt modelId="{80F49CB3-EE90-49B1-AF3F-EAAE5DF558FE}" type="pres">
      <dgm:prSet presAssocID="{7076C3FC-D677-42D3-AFD9-519230148AA9}" presName="parentText" presStyleLbl="node1" presStyleIdx="1" presStyleCnt="2">
        <dgm:presLayoutVars>
          <dgm:chMax val="0"/>
          <dgm:bulletEnabled val="1"/>
        </dgm:presLayoutVars>
      </dgm:prSet>
      <dgm:spPr/>
    </dgm:pt>
  </dgm:ptLst>
  <dgm:cxnLst>
    <dgm:cxn modelId="{C6BF1075-7AC3-4898-84EB-95F66C4AE70B}" type="presOf" srcId="{7076C3FC-D677-42D3-AFD9-519230148AA9}" destId="{80F49CB3-EE90-49B1-AF3F-EAAE5DF558FE}" srcOrd="0" destOrd="0" presId="urn:microsoft.com/office/officeart/2005/8/layout/vList2"/>
    <dgm:cxn modelId="{43D8BC78-3978-4C23-B9DA-F6115E3E708A}" type="presOf" srcId="{18EA6042-2EA2-4065-81DF-7A18BEC42C1C}" destId="{5935E145-FD17-4F9E-B302-F21214F4A468}" srcOrd="0" destOrd="0" presId="urn:microsoft.com/office/officeart/2005/8/layout/vList2"/>
    <dgm:cxn modelId="{F61405CD-BF4D-4132-A8F6-94A55AFF2516}" srcId="{18EA6042-2EA2-4065-81DF-7A18BEC42C1C}" destId="{18CE3E0E-3290-422E-BD32-E1AD8CB2C6E4}" srcOrd="0" destOrd="0" parTransId="{317883E6-23F7-434D-A777-EB6C46138693}" sibTransId="{5A57522C-1C32-440C-9F64-9EF818720D9C}"/>
    <dgm:cxn modelId="{DBB2FAD8-B514-47F5-B0A3-6A2E767345A4}" type="presOf" srcId="{18CE3E0E-3290-422E-BD32-E1AD8CB2C6E4}" destId="{5466BB5F-F99C-4092-B11E-435C2EC87E42}" srcOrd="0" destOrd="0" presId="urn:microsoft.com/office/officeart/2005/8/layout/vList2"/>
    <dgm:cxn modelId="{919127EC-71E4-4C56-AD4E-96B02E5889B8}" srcId="{18EA6042-2EA2-4065-81DF-7A18BEC42C1C}" destId="{7076C3FC-D677-42D3-AFD9-519230148AA9}" srcOrd="1" destOrd="0" parTransId="{FE62C8FC-8C64-4CE1-872F-8542D7C5999C}" sibTransId="{0A592E99-F344-4BE4-ADDE-41E6CCCB281C}"/>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70866D5C-0DAE-4E32-B1B5-54ECA714875E}" type="presParOf" srcId="{5935E145-FD17-4F9E-B302-F21214F4A468}" destId="{80F49CB3-EE90-49B1-AF3F-EAAE5DF558FE}"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a:t>Visualization and Generative Models</a:t>
          </a:r>
          <a:r>
            <a:rPr lang="en-GB" sz="2000" dirty="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7076C3FC-D677-42D3-AFD9-519230148AA9}">
      <dgm:prSet/>
      <dgm:spPr/>
      <dgm:t>
        <a:bodyPr/>
        <a:lstStyle/>
        <a:p>
          <a:r>
            <a:rPr lang="en-GB" dirty="0"/>
            <a:t>Object Detection and Sliding Windows, R-CNN, Fast R-CNN, Object Recognition, 3-D vision and Geometry, Digital Watermarking. Object Detection, face recognition instance Recognition, Category Recognition   Objects, Scenes, Activities, Object classification. </a:t>
          </a:r>
          <a:endParaRPr lang="en-IN" dirty="0"/>
        </a:p>
      </dgm:t>
    </dgm:pt>
    <dgm:pt modelId="{0A592E99-F344-4BE4-ADDE-41E6CCCB281C}" type="sibTrans" cxnId="{919127EC-71E4-4C56-AD4E-96B02E5889B8}">
      <dgm:prSet/>
      <dgm:spPr/>
      <dgm:t>
        <a:bodyPr/>
        <a:lstStyle/>
        <a:p>
          <a:endParaRPr lang="en-US"/>
        </a:p>
      </dgm:t>
    </dgm:pt>
    <dgm:pt modelId="{FE62C8FC-8C64-4CE1-872F-8542D7C5999C}" type="parTrans" cxnId="{919127EC-71E4-4C56-AD4E-96B02E5889B8}">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pt>
    <dgm:pt modelId="{5466BB5F-F99C-4092-B11E-435C2EC87E42}" type="pres">
      <dgm:prSet presAssocID="{18CE3E0E-3290-422E-BD32-E1AD8CB2C6E4}" presName="parentText" presStyleLbl="node1" presStyleIdx="0" presStyleCnt="2" custScaleY="18411" custLinFactNeighborX="-2586" custLinFactNeighborY="-71311">
        <dgm:presLayoutVars>
          <dgm:chMax val="0"/>
          <dgm:bulletEnabled val="1"/>
        </dgm:presLayoutVars>
      </dgm:prSet>
      <dgm:spPr/>
    </dgm:pt>
    <dgm:pt modelId="{96575E91-F5A5-4218-B1EC-F10E76AC9EB6}" type="pres">
      <dgm:prSet presAssocID="{5A57522C-1C32-440C-9F64-9EF818720D9C}" presName="spacer" presStyleCnt="0"/>
      <dgm:spPr/>
    </dgm:pt>
    <dgm:pt modelId="{80F49CB3-EE90-49B1-AF3F-EAAE5DF558FE}" type="pres">
      <dgm:prSet presAssocID="{7076C3FC-D677-42D3-AFD9-519230148AA9}" presName="parentText" presStyleLbl="node1" presStyleIdx="1" presStyleCnt="2">
        <dgm:presLayoutVars>
          <dgm:chMax val="0"/>
          <dgm:bulletEnabled val="1"/>
        </dgm:presLayoutVars>
      </dgm:prSet>
      <dgm:spPr/>
    </dgm:pt>
  </dgm:ptLst>
  <dgm:cxnLst>
    <dgm:cxn modelId="{C6BF1075-7AC3-4898-84EB-95F66C4AE70B}" type="presOf" srcId="{7076C3FC-D677-42D3-AFD9-519230148AA9}" destId="{80F49CB3-EE90-49B1-AF3F-EAAE5DF558FE}" srcOrd="0" destOrd="0" presId="urn:microsoft.com/office/officeart/2005/8/layout/vList2"/>
    <dgm:cxn modelId="{43D8BC78-3978-4C23-B9DA-F6115E3E708A}" type="presOf" srcId="{18EA6042-2EA2-4065-81DF-7A18BEC42C1C}" destId="{5935E145-FD17-4F9E-B302-F21214F4A468}" srcOrd="0" destOrd="0" presId="urn:microsoft.com/office/officeart/2005/8/layout/vList2"/>
    <dgm:cxn modelId="{F61405CD-BF4D-4132-A8F6-94A55AFF2516}" srcId="{18EA6042-2EA2-4065-81DF-7A18BEC42C1C}" destId="{18CE3E0E-3290-422E-BD32-E1AD8CB2C6E4}" srcOrd="0" destOrd="0" parTransId="{317883E6-23F7-434D-A777-EB6C46138693}" sibTransId="{5A57522C-1C32-440C-9F64-9EF818720D9C}"/>
    <dgm:cxn modelId="{DBB2FAD8-B514-47F5-B0A3-6A2E767345A4}" type="presOf" srcId="{18CE3E0E-3290-422E-BD32-E1AD8CB2C6E4}" destId="{5466BB5F-F99C-4092-B11E-435C2EC87E42}" srcOrd="0" destOrd="0" presId="urn:microsoft.com/office/officeart/2005/8/layout/vList2"/>
    <dgm:cxn modelId="{919127EC-71E4-4C56-AD4E-96B02E5889B8}" srcId="{18EA6042-2EA2-4065-81DF-7A18BEC42C1C}" destId="{7076C3FC-D677-42D3-AFD9-519230148AA9}" srcOrd="1" destOrd="0" parTransId="{FE62C8FC-8C64-4CE1-872F-8542D7C5999C}" sibTransId="{0A592E99-F344-4BE4-ADDE-41E6CCCB281C}"/>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70866D5C-0DAE-4E32-B1B5-54ECA714875E}" type="presParOf" srcId="{5935E145-FD17-4F9E-B302-F21214F4A468}" destId="{80F49CB3-EE90-49B1-AF3F-EAAE5DF558FE}"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48E5BA7-139C-426B-89F7-6FDCC9986254}" type="doc">
      <dgm:prSet loTypeId="urn:microsoft.com/office/officeart/2005/8/layout/list1" loCatId="list" qsTypeId="urn:microsoft.com/office/officeart/2005/8/quickstyle/3d2#1" qsCatId="3D" csTypeId="urn:microsoft.com/office/officeart/2005/8/colors/colorful1#1" csCatId="colorful" phldr="1"/>
      <dgm:spPr/>
      <dgm:t>
        <a:bodyPr/>
        <a:lstStyle/>
        <a:p>
          <a:endParaRPr lang="en-US"/>
        </a:p>
      </dgm:t>
    </dgm:pt>
    <dgm:pt modelId="{2E76421B-DB30-4FA8-B16F-5EB453EB63EE}">
      <dgm:prSet custT="1"/>
      <dgm:spPr/>
      <dgm:t>
        <a:bodyPr/>
        <a:lstStyle/>
        <a:p>
          <a:pPr algn="ctr"/>
          <a:r>
            <a:rPr lang="en-GB" sz="1800" b="1" dirty="0"/>
            <a:t>Object Detection </a:t>
          </a:r>
          <a:endParaRPr lang="en-US" sz="1800" b="1" dirty="0">
            <a:latin typeface="Times New Roman" panose="02020603050405020304" pitchFamily="18" charset="0"/>
            <a:cs typeface="Times New Roman" panose="02020603050405020304" pitchFamily="18" charset="0"/>
          </a:endParaRPr>
        </a:p>
      </dgm:t>
    </dgm:pt>
    <dgm:pt modelId="{21C3A60E-A577-4CC5-9655-A11F1FB43A72}" type="parTrans" cxnId="{511CFD00-236D-430E-BA8F-3D218D3D33F0}">
      <dgm:prSet/>
      <dgm:spPr/>
      <dgm:t>
        <a:bodyPr/>
        <a:lstStyle/>
        <a:p>
          <a:endParaRPr lang="en-US" sz="2000"/>
        </a:p>
      </dgm:t>
    </dgm:pt>
    <dgm:pt modelId="{D6A3ED1B-3E0B-4E5B-B0B6-B1453BB0CD63}" type="sibTrans" cxnId="{511CFD00-236D-430E-BA8F-3D218D3D33F0}">
      <dgm:prSet/>
      <dgm:spPr/>
      <dgm:t>
        <a:bodyPr/>
        <a:lstStyle/>
        <a:p>
          <a:endParaRPr lang="en-US" sz="2000"/>
        </a:p>
      </dgm:t>
    </dgm:pt>
    <dgm:pt modelId="{FD185861-8CE6-4D06-9251-1B7C4FCB415A}">
      <dgm:prSet custT="1"/>
      <dgm:spPr>
        <a:solidFill>
          <a:srgbClr val="CC0066"/>
        </a:solidFill>
      </dgm:spPr>
      <dgm:t>
        <a:bodyPr/>
        <a:lstStyle/>
        <a:p>
          <a:pPr algn="ctr"/>
          <a:r>
            <a:rPr lang="en-GB" sz="1800" dirty="0"/>
            <a:t>Object Detection and Sliding Windows</a:t>
          </a:r>
          <a:endParaRPr lang="en-IN" sz="1800" b="1" dirty="0">
            <a:latin typeface="Times New Roman" panose="02020603050405020304" pitchFamily="18" charset="0"/>
            <a:cs typeface="Times New Roman" panose="02020603050405020304" pitchFamily="18" charset="0"/>
          </a:endParaRPr>
        </a:p>
      </dgm:t>
    </dgm:pt>
    <dgm:pt modelId="{9EC411C3-9886-4B88-A2AC-5FF163382CAB}" type="parTrans" cxnId="{B237915B-2FFB-43C3-9F27-72A166E6AEF2}">
      <dgm:prSet/>
      <dgm:spPr/>
      <dgm:t>
        <a:bodyPr/>
        <a:lstStyle/>
        <a:p>
          <a:endParaRPr lang="en-US"/>
        </a:p>
      </dgm:t>
    </dgm:pt>
    <dgm:pt modelId="{E0103A15-DB8F-438F-B9BA-7CE37EF6909F}" type="sibTrans" cxnId="{B237915B-2FFB-43C3-9F27-72A166E6AEF2}">
      <dgm:prSet/>
      <dgm:spPr/>
      <dgm:t>
        <a:bodyPr/>
        <a:lstStyle/>
        <a:p>
          <a:endParaRPr lang="en-US"/>
        </a:p>
      </dgm:t>
    </dgm:pt>
    <dgm:pt modelId="{332F8809-646E-42AF-9D2D-A34BC837E318}">
      <dgm:prSet custT="1"/>
      <dgm:spPr>
        <a:solidFill>
          <a:srgbClr val="003300"/>
        </a:solidFill>
      </dgm:spPr>
      <dgm:t>
        <a:bodyPr/>
        <a:lstStyle/>
        <a:p>
          <a:pPr algn="ctr"/>
          <a:r>
            <a:rPr lang="en-GB" sz="1800" dirty="0"/>
            <a:t>R-CNN</a:t>
          </a:r>
          <a:endParaRPr lang="en-IN" sz="1800" b="1" dirty="0">
            <a:latin typeface="Times New Roman" panose="02020603050405020304" pitchFamily="18" charset="0"/>
            <a:cs typeface="Times New Roman" panose="02020603050405020304" pitchFamily="18" charset="0"/>
          </a:endParaRPr>
        </a:p>
      </dgm:t>
    </dgm:pt>
    <dgm:pt modelId="{22682131-AA09-4EF5-B32D-59B5C5DB8223}" type="parTrans" cxnId="{CD496078-6F9A-4753-B753-7D1AD1B3B54E}">
      <dgm:prSet/>
      <dgm:spPr/>
      <dgm:t>
        <a:bodyPr/>
        <a:lstStyle/>
        <a:p>
          <a:endParaRPr lang="en-US"/>
        </a:p>
      </dgm:t>
    </dgm:pt>
    <dgm:pt modelId="{84349160-01E8-4106-A295-08BB4EFA2867}" type="sibTrans" cxnId="{CD496078-6F9A-4753-B753-7D1AD1B3B54E}">
      <dgm:prSet/>
      <dgm:spPr/>
      <dgm:t>
        <a:bodyPr/>
        <a:lstStyle/>
        <a:p>
          <a:endParaRPr lang="en-US"/>
        </a:p>
      </dgm:t>
    </dgm:pt>
    <dgm:pt modelId="{4DE9EA9A-0295-4EFB-9476-3B623BFC63D7}">
      <dgm:prSet custT="1"/>
      <dgm:spPr>
        <a:solidFill>
          <a:srgbClr val="0070C0"/>
        </a:solidFill>
      </dgm:spPr>
      <dgm:t>
        <a:bodyPr/>
        <a:lstStyle/>
        <a:p>
          <a:pPr algn="ctr"/>
          <a:r>
            <a:rPr lang="en-GB" sz="1800" dirty="0"/>
            <a:t>Fast R-CNN</a:t>
          </a:r>
          <a:endParaRPr lang="en-IN" sz="1800" b="1" dirty="0">
            <a:latin typeface="Times New Roman" panose="02020603050405020304" pitchFamily="18" charset="0"/>
            <a:cs typeface="Times New Roman" panose="02020603050405020304" pitchFamily="18" charset="0"/>
          </a:endParaRPr>
        </a:p>
      </dgm:t>
    </dgm:pt>
    <dgm:pt modelId="{1CB33853-72FD-48F0-9DF6-263DA99B6E90}" type="parTrans" cxnId="{775FCAF8-2E01-4E25-A12B-AB198328B895}">
      <dgm:prSet/>
      <dgm:spPr/>
      <dgm:t>
        <a:bodyPr/>
        <a:lstStyle/>
        <a:p>
          <a:endParaRPr lang="en-US"/>
        </a:p>
      </dgm:t>
    </dgm:pt>
    <dgm:pt modelId="{E32F12E9-88E0-4A46-9E98-1D88C5634E07}" type="sibTrans" cxnId="{775FCAF8-2E01-4E25-A12B-AB198328B895}">
      <dgm:prSet/>
      <dgm:spPr/>
      <dgm:t>
        <a:bodyPr/>
        <a:lstStyle/>
        <a:p>
          <a:endParaRPr lang="en-US"/>
        </a:p>
      </dgm:t>
    </dgm:pt>
    <dgm:pt modelId="{910DC688-ECC1-46D6-90E2-5D75E5CFA3FC}">
      <dgm:prSet custT="1"/>
      <dgm:spPr>
        <a:solidFill>
          <a:srgbClr val="003300"/>
        </a:solidFill>
      </dgm:spPr>
      <dgm:t>
        <a:bodyPr/>
        <a:lstStyle/>
        <a:p>
          <a:pPr algn="ctr"/>
          <a:r>
            <a:rPr lang="en-GB" sz="1800" dirty="0"/>
            <a:t>Object Recognition</a:t>
          </a:r>
          <a:endParaRPr lang="en-IN" sz="1800" b="1" dirty="0">
            <a:latin typeface="Times New Roman" panose="02020603050405020304" pitchFamily="18" charset="0"/>
            <a:cs typeface="Times New Roman" panose="02020603050405020304" pitchFamily="18" charset="0"/>
          </a:endParaRPr>
        </a:p>
      </dgm:t>
    </dgm:pt>
    <dgm:pt modelId="{9A952DD6-03DF-4763-A049-9F8269DCFED4}" type="parTrans" cxnId="{4A691409-95A4-48E0-A042-3D7390171623}">
      <dgm:prSet/>
      <dgm:spPr/>
      <dgm:t>
        <a:bodyPr/>
        <a:lstStyle/>
        <a:p>
          <a:endParaRPr lang="en-US"/>
        </a:p>
      </dgm:t>
    </dgm:pt>
    <dgm:pt modelId="{C393FF57-5DA1-4F24-BDD6-7A6DDBA539FC}" type="sibTrans" cxnId="{4A691409-95A4-48E0-A042-3D7390171623}">
      <dgm:prSet/>
      <dgm:spPr/>
      <dgm:t>
        <a:bodyPr/>
        <a:lstStyle/>
        <a:p>
          <a:endParaRPr lang="en-US"/>
        </a:p>
      </dgm:t>
    </dgm:pt>
    <dgm:pt modelId="{0AC380C0-9E07-4966-A0CF-E02C9B573525}">
      <dgm:prSet custT="1"/>
      <dgm:spPr>
        <a:solidFill>
          <a:srgbClr val="C00000"/>
        </a:solidFill>
      </dgm:spPr>
      <dgm:t>
        <a:bodyPr/>
        <a:lstStyle/>
        <a:p>
          <a:pPr algn="ctr"/>
          <a:r>
            <a:rPr lang="en-GB" sz="1800" dirty="0"/>
            <a:t>3-D vision and Geometry</a:t>
          </a:r>
          <a:endParaRPr lang="en-IN" sz="1800" b="1" dirty="0">
            <a:latin typeface="Times New Roman" panose="02020603050405020304" pitchFamily="18" charset="0"/>
            <a:cs typeface="Times New Roman" panose="02020603050405020304" pitchFamily="18" charset="0"/>
          </a:endParaRPr>
        </a:p>
      </dgm:t>
    </dgm:pt>
    <dgm:pt modelId="{D1F9B705-60C2-4490-8B9A-B598230BC168}" type="parTrans" cxnId="{7EC93F50-1749-47B8-9703-57D38FF26892}">
      <dgm:prSet/>
      <dgm:spPr/>
      <dgm:t>
        <a:bodyPr/>
        <a:lstStyle/>
        <a:p>
          <a:endParaRPr lang="en-US"/>
        </a:p>
      </dgm:t>
    </dgm:pt>
    <dgm:pt modelId="{3D74E755-2313-4680-AB21-D3ED43D70344}" type="sibTrans" cxnId="{7EC93F50-1749-47B8-9703-57D38FF26892}">
      <dgm:prSet/>
      <dgm:spPr/>
      <dgm:t>
        <a:bodyPr/>
        <a:lstStyle/>
        <a:p>
          <a:endParaRPr lang="en-US"/>
        </a:p>
      </dgm:t>
    </dgm:pt>
    <dgm:pt modelId="{52A734FC-BE03-4FC2-9083-7280FD851C83}">
      <dgm:prSet custT="1"/>
      <dgm:spPr>
        <a:solidFill>
          <a:srgbClr val="FF3300"/>
        </a:solidFill>
      </dgm:spPr>
      <dgm:t>
        <a:bodyPr/>
        <a:lstStyle/>
        <a:p>
          <a:pPr algn="ctr"/>
          <a:r>
            <a:rPr lang="en-GB" sz="1800" dirty="0"/>
            <a:t>, Digital Watermarking</a:t>
          </a:r>
          <a:endParaRPr lang="en-IN" sz="1800" b="1" dirty="0">
            <a:latin typeface="Times New Roman" panose="02020603050405020304" pitchFamily="18" charset="0"/>
            <a:cs typeface="Times New Roman" panose="02020603050405020304" pitchFamily="18" charset="0"/>
          </a:endParaRPr>
        </a:p>
      </dgm:t>
    </dgm:pt>
    <dgm:pt modelId="{34D61F19-9C9B-48AC-BD84-2D8C2BFFB6BA}" type="parTrans" cxnId="{73586110-A983-40B6-8832-71500F7909E0}">
      <dgm:prSet/>
      <dgm:spPr/>
      <dgm:t>
        <a:bodyPr/>
        <a:lstStyle/>
        <a:p>
          <a:endParaRPr lang="en-US"/>
        </a:p>
      </dgm:t>
    </dgm:pt>
    <dgm:pt modelId="{7A604B12-CF00-4A46-B7E4-F6E09EF9FB57}" type="sibTrans" cxnId="{73586110-A983-40B6-8832-71500F7909E0}">
      <dgm:prSet/>
      <dgm:spPr/>
      <dgm:t>
        <a:bodyPr/>
        <a:lstStyle/>
        <a:p>
          <a:endParaRPr lang="en-US"/>
        </a:p>
      </dgm:t>
    </dgm:pt>
    <dgm:pt modelId="{0DCBAEB8-D794-4768-9593-F263FDD3AD01}">
      <dgm:prSet custT="1"/>
      <dgm:spPr/>
      <dgm:t>
        <a:bodyPr/>
        <a:lstStyle/>
        <a:p>
          <a:pPr algn="ctr"/>
          <a:r>
            <a:rPr lang="en-GB" sz="1800" dirty="0"/>
            <a:t>Object Detection</a:t>
          </a:r>
          <a:endParaRPr lang="en-IN" sz="1800" b="1" dirty="0">
            <a:latin typeface="Times New Roman" panose="02020603050405020304" pitchFamily="18" charset="0"/>
            <a:cs typeface="Times New Roman" panose="02020603050405020304" pitchFamily="18" charset="0"/>
          </a:endParaRPr>
        </a:p>
      </dgm:t>
    </dgm:pt>
    <dgm:pt modelId="{3CFDF753-A114-4A0F-B560-4641E52A525C}" type="parTrans" cxnId="{2B548886-9EBA-43DA-A739-6C170C0B63E8}">
      <dgm:prSet/>
      <dgm:spPr/>
      <dgm:t>
        <a:bodyPr/>
        <a:lstStyle/>
        <a:p>
          <a:endParaRPr lang="en-US"/>
        </a:p>
      </dgm:t>
    </dgm:pt>
    <dgm:pt modelId="{E666510F-7FAC-45CC-B24F-7D772A2490B8}" type="sibTrans" cxnId="{2B548886-9EBA-43DA-A739-6C170C0B63E8}">
      <dgm:prSet/>
      <dgm:spPr/>
      <dgm:t>
        <a:bodyPr/>
        <a:lstStyle/>
        <a:p>
          <a:endParaRPr lang="en-US"/>
        </a:p>
      </dgm:t>
    </dgm:pt>
    <dgm:pt modelId="{9820C2B3-6983-4A94-9D58-ED8963FAF46A}">
      <dgm:prSet custT="1"/>
      <dgm:spPr/>
      <dgm:t>
        <a:bodyPr/>
        <a:lstStyle/>
        <a:p>
          <a:pPr algn="ctr"/>
          <a:r>
            <a:rPr lang="en-GB" sz="1800" dirty="0"/>
            <a:t>face recognition </a:t>
          </a:r>
          <a:endParaRPr lang="en-IN" sz="1800" b="1" dirty="0">
            <a:latin typeface="Times New Roman" panose="02020603050405020304" pitchFamily="18" charset="0"/>
            <a:cs typeface="Times New Roman" panose="02020603050405020304" pitchFamily="18" charset="0"/>
          </a:endParaRPr>
        </a:p>
      </dgm:t>
    </dgm:pt>
    <dgm:pt modelId="{431C1C25-1C78-40F1-8230-9A980BC36857}" type="parTrans" cxnId="{233C8A10-0492-4FE3-89EC-3DF6B0D9E146}">
      <dgm:prSet/>
      <dgm:spPr/>
      <dgm:t>
        <a:bodyPr/>
        <a:lstStyle/>
        <a:p>
          <a:endParaRPr lang="en-US"/>
        </a:p>
      </dgm:t>
    </dgm:pt>
    <dgm:pt modelId="{EDB3FAC6-887A-469A-B050-857B01DCFB4F}" type="sibTrans" cxnId="{233C8A10-0492-4FE3-89EC-3DF6B0D9E146}">
      <dgm:prSet/>
      <dgm:spPr/>
      <dgm:t>
        <a:bodyPr/>
        <a:lstStyle/>
        <a:p>
          <a:endParaRPr lang="en-US"/>
        </a:p>
      </dgm:t>
    </dgm:pt>
    <dgm:pt modelId="{9DDFBB48-524E-47FC-84C4-C7EBA29011F3}">
      <dgm:prSet custT="1"/>
      <dgm:spPr/>
      <dgm:t>
        <a:bodyPr/>
        <a:lstStyle/>
        <a:p>
          <a:pPr algn="ctr"/>
          <a:r>
            <a:rPr lang="en-GB" sz="1800" dirty="0"/>
            <a:t>instance Recognition</a:t>
          </a:r>
          <a:endParaRPr lang="en-IN" sz="1800" b="1" dirty="0">
            <a:latin typeface="Times New Roman" panose="02020603050405020304" pitchFamily="18" charset="0"/>
            <a:cs typeface="Times New Roman" panose="02020603050405020304" pitchFamily="18" charset="0"/>
          </a:endParaRPr>
        </a:p>
      </dgm:t>
    </dgm:pt>
    <dgm:pt modelId="{653C64CE-D798-488D-BF60-A22C833983C9}" type="parTrans" cxnId="{F8965402-FB43-458B-A6A0-CF5162178585}">
      <dgm:prSet/>
      <dgm:spPr/>
      <dgm:t>
        <a:bodyPr/>
        <a:lstStyle/>
        <a:p>
          <a:endParaRPr lang="en-US"/>
        </a:p>
      </dgm:t>
    </dgm:pt>
    <dgm:pt modelId="{9D75BF1F-ADA5-4CC9-8CB0-47D63732D30E}" type="sibTrans" cxnId="{F8965402-FB43-458B-A6A0-CF5162178585}">
      <dgm:prSet/>
      <dgm:spPr/>
      <dgm:t>
        <a:bodyPr/>
        <a:lstStyle/>
        <a:p>
          <a:endParaRPr lang="en-US"/>
        </a:p>
      </dgm:t>
    </dgm:pt>
    <dgm:pt modelId="{EAF75D90-4723-4848-AA4C-6124C13DA747}">
      <dgm:prSet custT="1"/>
      <dgm:spPr/>
      <dgm:t>
        <a:bodyPr/>
        <a:lstStyle/>
        <a:p>
          <a:pPr algn="ctr"/>
          <a:r>
            <a:rPr lang="en-GB" sz="1800" dirty="0"/>
            <a:t>Category Recognition   Objects, Scenes</a:t>
          </a:r>
          <a:endParaRPr lang="en-IN" sz="1800" b="1" dirty="0">
            <a:latin typeface="Times New Roman" panose="02020603050405020304" pitchFamily="18" charset="0"/>
            <a:cs typeface="Times New Roman" panose="02020603050405020304" pitchFamily="18" charset="0"/>
          </a:endParaRPr>
        </a:p>
      </dgm:t>
    </dgm:pt>
    <dgm:pt modelId="{D6694592-2E3B-479F-8435-1C7AB8626959}" type="parTrans" cxnId="{E5E2EF86-BA59-49C9-8E72-4B1BC4726A8B}">
      <dgm:prSet/>
      <dgm:spPr/>
      <dgm:t>
        <a:bodyPr/>
        <a:lstStyle/>
        <a:p>
          <a:endParaRPr lang="en-US"/>
        </a:p>
      </dgm:t>
    </dgm:pt>
    <dgm:pt modelId="{9A6E61C3-FC22-4B02-9370-4D595934032C}" type="sibTrans" cxnId="{E5E2EF86-BA59-49C9-8E72-4B1BC4726A8B}">
      <dgm:prSet/>
      <dgm:spPr/>
      <dgm:t>
        <a:bodyPr/>
        <a:lstStyle/>
        <a:p>
          <a:endParaRPr lang="en-US"/>
        </a:p>
      </dgm:t>
    </dgm:pt>
    <dgm:pt modelId="{3563D27B-321B-4BC3-8B30-3D9231788433}">
      <dgm:prSet custT="1"/>
      <dgm:spPr/>
      <dgm:t>
        <a:bodyPr/>
        <a:lstStyle/>
        <a:p>
          <a:pPr algn="ctr"/>
          <a:r>
            <a:rPr lang="en-GB" sz="1800" dirty="0"/>
            <a:t>Activities, Object classification</a:t>
          </a:r>
          <a:endParaRPr lang="en-IN" sz="1800" b="1" dirty="0">
            <a:latin typeface="Times New Roman" panose="02020603050405020304" pitchFamily="18" charset="0"/>
            <a:cs typeface="Times New Roman" panose="02020603050405020304" pitchFamily="18" charset="0"/>
          </a:endParaRPr>
        </a:p>
      </dgm:t>
    </dgm:pt>
    <dgm:pt modelId="{8A811B05-3FAC-454E-B3F2-11C7BC225CF7}" type="parTrans" cxnId="{47821628-64E0-48C6-B796-61FC50DB55EA}">
      <dgm:prSet/>
      <dgm:spPr/>
      <dgm:t>
        <a:bodyPr/>
        <a:lstStyle/>
        <a:p>
          <a:endParaRPr lang="en-US"/>
        </a:p>
      </dgm:t>
    </dgm:pt>
    <dgm:pt modelId="{BB498D33-D239-448E-A6B7-0EAA21869B71}" type="sibTrans" cxnId="{47821628-64E0-48C6-B796-61FC50DB55EA}">
      <dgm:prSet/>
      <dgm:spPr/>
      <dgm:t>
        <a:bodyPr/>
        <a:lstStyle/>
        <a:p>
          <a:endParaRPr lang="en-US"/>
        </a:p>
      </dgm:t>
    </dgm:pt>
    <dgm:pt modelId="{D33596F6-0387-4E81-AA22-5647C82493BE}" type="pres">
      <dgm:prSet presAssocID="{548E5BA7-139C-426B-89F7-6FDCC9986254}" presName="linear" presStyleCnt="0">
        <dgm:presLayoutVars>
          <dgm:dir/>
          <dgm:animLvl val="lvl"/>
          <dgm:resizeHandles val="exact"/>
        </dgm:presLayoutVars>
      </dgm:prSet>
      <dgm:spPr/>
    </dgm:pt>
    <dgm:pt modelId="{7E7EC990-8F4A-446F-B957-2B5851B95817}" type="pres">
      <dgm:prSet presAssocID="{2E76421B-DB30-4FA8-B16F-5EB453EB63EE}" presName="parentLin" presStyleCnt="0"/>
      <dgm:spPr/>
    </dgm:pt>
    <dgm:pt modelId="{08F8784F-DE29-4A72-AC74-527AD7CDEE04}" type="pres">
      <dgm:prSet presAssocID="{2E76421B-DB30-4FA8-B16F-5EB453EB63EE}" presName="parentLeftMargin" presStyleLbl="node1" presStyleIdx="0" presStyleCnt="12"/>
      <dgm:spPr/>
    </dgm:pt>
    <dgm:pt modelId="{19B87EFE-EE8E-4D49-80CB-CB255DC90386}" type="pres">
      <dgm:prSet presAssocID="{2E76421B-DB30-4FA8-B16F-5EB453EB63EE}" presName="parentText" presStyleLbl="node1" presStyleIdx="0" presStyleCnt="12" custScaleX="153554" custScaleY="244673" custLinFactY="-100000" custLinFactNeighborX="-81232" custLinFactNeighborY="-133128">
        <dgm:presLayoutVars>
          <dgm:chMax val="0"/>
          <dgm:bulletEnabled val="1"/>
        </dgm:presLayoutVars>
      </dgm:prSet>
      <dgm:spPr/>
    </dgm:pt>
    <dgm:pt modelId="{495B64E2-6ED8-4A2C-ABD7-475394D55342}" type="pres">
      <dgm:prSet presAssocID="{2E76421B-DB30-4FA8-B16F-5EB453EB63EE}" presName="negativeSpace" presStyleCnt="0"/>
      <dgm:spPr/>
    </dgm:pt>
    <dgm:pt modelId="{B04F9DC1-8189-462F-9CE6-DAB413F95679}" type="pres">
      <dgm:prSet presAssocID="{2E76421B-DB30-4FA8-B16F-5EB453EB63EE}" presName="childText" presStyleLbl="conFgAcc1" presStyleIdx="0" presStyleCnt="12">
        <dgm:presLayoutVars>
          <dgm:bulletEnabled val="1"/>
        </dgm:presLayoutVars>
      </dgm:prSet>
      <dgm:spPr/>
    </dgm:pt>
    <dgm:pt modelId="{97A31753-39CE-49E6-8DF5-70DEA860D7BF}" type="pres">
      <dgm:prSet presAssocID="{D6A3ED1B-3E0B-4E5B-B0B6-B1453BB0CD63}" presName="spaceBetweenRectangles" presStyleCnt="0"/>
      <dgm:spPr/>
    </dgm:pt>
    <dgm:pt modelId="{7F7AFA30-5092-457B-8993-083A4DEDD5EF}" type="pres">
      <dgm:prSet presAssocID="{FD185861-8CE6-4D06-9251-1B7C4FCB415A}" presName="parentLin" presStyleCnt="0"/>
      <dgm:spPr/>
    </dgm:pt>
    <dgm:pt modelId="{61D21AA2-CBBD-4B31-AC3C-41DBE89FF122}" type="pres">
      <dgm:prSet presAssocID="{FD185861-8CE6-4D06-9251-1B7C4FCB415A}" presName="parentLeftMargin" presStyleLbl="node1" presStyleIdx="0" presStyleCnt="12"/>
      <dgm:spPr/>
    </dgm:pt>
    <dgm:pt modelId="{02102633-764F-4C30-AEC0-514F4F7EC8B5}" type="pres">
      <dgm:prSet presAssocID="{FD185861-8CE6-4D06-9251-1B7C4FCB415A}" presName="parentText" presStyleLbl="node1" presStyleIdx="1" presStyleCnt="12" custScaleX="144837" custScaleY="340938" custLinFactNeighborX="-83217" custLinFactNeighborY="-18168">
        <dgm:presLayoutVars>
          <dgm:chMax val="0"/>
          <dgm:bulletEnabled val="1"/>
        </dgm:presLayoutVars>
      </dgm:prSet>
      <dgm:spPr/>
    </dgm:pt>
    <dgm:pt modelId="{110AA3EF-DF9F-48AF-AC35-7BB57CC6BF4E}" type="pres">
      <dgm:prSet presAssocID="{FD185861-8CE6-4D06-9251-1B7C4FCB415A}" presName="negativeSpace" presStyleCnt="0"/>
      <dgm:spPr/>
    </dgm:pt>
    <dgm:pt modelId="{E87BA916-7EC7-4CD1-8B4E-67D8E09E31D4}" type="pres">
      <dgm:prSet presAssocID="{FD185861-8CE6-4D06-9251-1B7C4FCB415A}" presName="childText" presStyleLbl="conFgAcc1" presStyleIdx="1" presStyleCnt="12">
        <dgm:presLayoutVars>
          <dgm:bulletEnabled val="1"/>
        </dgm:presLayoutVars>
      </dgm:prSet>
      <dgm:spPr/>
    </dgm:pt>
    <dgm:pt modelId="{F8A6B6A1-5637-4359-86B3-09E7B38A481B}" type="pres">
      <dgm:prSet presAssocID="{E0103A15-DB8F-438F-B9BA-7CE37EF6909F}" presName="spaceBetweenRectangles" presStyleCnt="0"/>
      <dgm:spPr/>
    </dgm:pt>
    <dgm:pt modelId="{2F24DA53-9F28-4784-9718-4FF486C4937B}" type="pres">
      <dgm:prSet presAssocID="{332F8809-646E-42AF-9D2D-A34BC837E318}" presName="parentLin" presStyleCnt="0"/>
      <dgm:spPr/>
    </dgm:pt>
    <dgm:pt modelId="{0B4E1DBB-903A-4A8A-8304-7F35E1DD3608}" type="pres">
      <dgm:prSet presAssocID="{332F8809-646E-42AF-9D2D-A34BC837E318}" presName="parentLeftMargin" presStyleLbl="node1" presStyleIdx="1" presStyleCnt="12"/>
      <dgm:spPr/>
    </dgm:pt>
    <dgm:pt modelId="{C850BFBB-0B1B-410F-A98B-7EF17C078B0E}" type="pres">
      <dgm:prSet presAssocID="{332F8809-646E-42AF-9D2D-A34BC837E318}" presName="parentText" presStyleLbl="node1" presStyleIdx="2" presStyleCnt="12" custScaleX="142857" custScaleY="213808">
        <dgm:presLayoutVars>
          <dgm:chMax val="0"/>
          <dgm:bulletEnabled val="1"/>
        </dgm:presLayoutVars>
      </dgm:prSet>
      <dgm:spPr/>
    </dgm:pt>
    <dgm:pt modelId="{CB7A183B-7B5D-4011-A26C-95F17A6332CF}" type="pres">
      <dgm:prSet presAssocID="{332F8809-646E-42AF-9D2D-A34BC837E318}" presName="negativeSpace" presStyleCnt="0"/>
      <dgm:spPr/>
    </dgm:pt>
    <dgm:pt modelId="{68CDAE6D-2177-473E-B1D2-93C9EFCC18CB}" type="pres">
      <dgm:prSet presAssocID="{332F8809-646E-42AF-9D2D-A34BC837E318}" presName="childText" presStyleLbl="conFgAcc1" presStyleIdx="2" presStyleCnt="12">
        <dgm:presLayoutVars>
          <dgm:bulletEnabled val="1"/>
        </dgm:presLayoutVars>
      </dgm:prSet>
      <dgm:spPr/>
    </dgm:pt>
    <dgm:pt modelId="{2CFBFA38-D824-4FC0-BC01-CBDE37D9F5B3}" type="pres">
      <dgm:prSet presAssocID="{84349160-01E8-4106-A295-08BB4EFA2867}" presName="spaceBetweenRectangles" presStyleCnt="0"/>
      <dgm:spPr/>
    </dgm:pt>
    <dgm:pt modelId="{F4D2BF5D-C3EB-4CBC-8C87-768C9D4EB374}" type="pres">
      <dgm:prSet presAssocID="{4DE9EA9A-0295-4EFB-9476-3B623BFC63D7}" presName="parentLin" presStyleCnt="0"/>
      <dgm:spPr/>
    </dgm:pt>
    <dgm:pt modelId="{44E2D38D-C621-4DE1-AD1B-DF39786A88D1}" type="pres">
      <dgm:prSet presAssocID="{4DE9EA9A-0295-4EFB-9476-3B623BFC63D7}" presName="parentLeftMargin" presStyleLbl="node1" presStyleIdx="2" presStyleCnt="12"/>
      <dgm:spPr/>
    </dgm:pt>
    <dgm:pt modelId="{A5578C90-49C9-4052-BE4C-0B5BBC1CAF61}" type="pres">
      <dgm:prSet presAssocID="{4DE9EA9A-0295-4EFB-9476-3B623BFC63D7}" presName="parentText" presStyleLbl="node1" presStyleIdx="3" presStyleCnt="12" custScaleX="123419" custScaleY="131538">
        <dgm:presLayoutVars>
          <dgm:chMax val="0"/>
          <dgm:bulletEnabled val="1"/>
        </dgm:presLayoutVars>
      </dgm:prSet>
      <dgm:spPr/>
    </dgm:pt>
    <dgm:pt modelId="{DD883938-B03F-4A48-8650-F21509803A90}" type="pres">
      <dgm:prSet presAssocID="{4DE9EA9A-0295-4EFB-9476-3B623BFC63D7}" presName="negativeSpace" presStyleCnt="0"/>
      <dgm:spPr/>
    </dgm:pt>
    <dgm:pt modelId="{8DC83C71-1B61-465E-B18F-3CFC15A71AA9}" type="pres">
      <dgm:prSet presAssocID="{4DE9EA9A-0295-4EFB-9476-3B623BFC63D7}" presName="childText" presStyleLbl="conFgAcc1" presStyleIdx="3" presStyleCnt="12">
        <dgm:presLayoutVars>
          <dgm:bulletEnabled val="1"/>
        </dgm:presLayoutVars>
      </dgm:prSet>
      <dgm:spPr/>
    </dgm:pt>
    <dgm:pt modelId="{35253B41-8397-46E4-BCE3-9D7820E06A63}" type="pres">
      <dgm:prSet presAssocID="{E32F12E9-88E0-4A46-9E98-1D88C5634E07}" presName="spaceBetweenRectangles" presStyleCnt="0"/>
      <dgm:spPr/>
    </dgm:pt>
    <dgm:pt modelId="{E0E7FA60-A656-4B29-87F9-7F82D17B286A}" type="pres">
      <dgm:prSet presAssocID="{910DC688-ECC1-46D6-90E2-5D75E5CFA3FC}" presName="parentLin" presStyleCnt="0"/>
      <dgm:spPr/>
    </dgm:pt>
    <dgm:pt modelId="{E1AEB959-A4BC-41CC-AB64-F143846F92DB}" type="pres">
      <dgm:prSet presAssocID="{910DC688-ECC1-46D6-90E2-5D75E5CFA3FC}" presName="parentLeftMargin" presStyleLbl="node1" presStyleIdx="3" presStyleCnt="12"/>
      <dgm:spPr/>
    </dgm:pt>
    <dgm:pt modelId="{0C6A1E47-160F-48B8-AA11-9C6661A01EF0}" type="pres">
      <dgm:prSet presAssocID="{910DC688-ECC1-46D6-90E2-5D75E5CFA3FC}" presName="parentText" presStyleLbl="node1" presStyleIdx="4" presStyleCnt="12" custScaleX="123419" custScaleY="186547">
        <dgm:presLayoutVars>
          <dgm:chMax val="0"/>
          <dgm:bulletEnabled val="1"/>
        </dgm:presLayoutVars>
      </dgm:prSet>
      <dgm:spPr/>
    </dgm:pt>
    <dgm:pt modelId="{BAD03946-0A55-47BD-965E-E45D751CB5DC}" type="pres">
      <dgm:prSet presAssocID="{910DC688-ECC1-46D6-90E2-5D75E5CFA3FC}" presName="negativeSpace" presStyleCnt="0"/>
      <dgm:spPr/>
    </dgm:pt>
    <dgm:pt modelId="{106667C8-3CF0-475D-928B-58F7870A8F1D}" type="pres">
      <dgm:prSet presAssocID="{910DC688-ECC1-46D6-90E2-5D75E5CFA3FC}" presName="childText" presStyleLbl="conFgAcc1" presStyleIdx="4" presStyleCnt="12">
        <dgm:presLayoutVars>
          <dgm:bulletEnabled val="1"/>
        </dgm:presLayoutVars>
      </dgm:prSet>
      <dgm:spPr/>
    </dgm:pt>
    <dgm:pt modelId="{6D3776D5-0B96-433A-96A4-4B691747D87B}" type="pres">
      <dgm:prSet presAssocID="{C393FF57-5DA1-4F24-BDD6-7A6DDBA539FC}" presName="spaceBetweenRectangles" presStyleCnt="0"/>
      <dgm:spPr/>
    </dgm:pt>
    <dgm:pt modelId="{0F4D78D1-E825-43BE-973F-422BE2880F8C}" type="pres">
      <dgm:prSet presAssocID="{0AC380C0-9E07-4966-A0CF-E02C9B573525}" presName="parentLin" presStyleCnt="0"/>
      <dgm:spPr/>
    </dgm:pt>
    <dgm:pt modelId="{C643665E-493B-4A4F-A717-9BEA8842CD90}" type="pres">
      <dgm:prSet presAssocID="{0AC380C0-9E07-4966-A0CF-E02C9B573525}" presName="parentLeftMargin" presStyleLbl="node1" presStyleIdx="4" presStyleCnt="12"/>
      <dgm:spPr/>
    </dgm:pt>
    <dgm:pt modelId="{2FD1299F-359E-4584-9903-80A47193E03A}" type="pres">
      <dgm:prSet presAssocID="{0AC380C0-9E07-4966-A0CF-E02C9B573525}" presName="parentText" presStyleLbl="node1" presStyleIdx="5" presStyleCnt="12" custScaleX="123419" custScaleY="272590">
        <dgm:presLayoutVars>
          <dgm:chMax val="0"/>
          <dgm:bulletEnabled val="1"/>
        </dgm:presLayoutVars>
      </dgm:prSet>
      <dgm:spPr/>
    </dgm:pt>
    <dgm:pt modelId="{D04197B4-BEE9-4EF4-A590-38D9D71CB048}" type="pres">
      <dgm:prSet presAssocID="{0AC380C0-9E07-4966-A0CF-E02C9B573525}" presName="negativeSpace" presStyleCnt="0"/>
      <dgm:spPr/>
    </dgm:pt>
    <dgm:pt modelId="{28326635-FDF9-47E5-86A2-9F72FD5D5F83}" type="pres">
      <dgm:prSet presAssocID="{0AC380C0-9E07-4966-A0CF-E02C9B573525}" presName="childText" presStyleLbl="conFgAcc1" presStyleIdx="5" presStyleCnt="12">
        <dgm:presLayoutVars>
          <dgm:bulletEnabled val="1"/>
        </dgm:presLayoutVars>
      </dgm:prSet>
      <dgm:spPr/>
    </dgm:pt>
    <dgm:pt modelId="{9BD897F5-5206-492F-92E9-ACE95759DDA1}" type="pres">
      <dgm:prSet presAssocID="{3D74E755-2313-4680-AB21-D3ED43D70344}" presName="spaceBetweenRectangles" presStyleCnt="0"/>
      <dgm:spPr/>
    </dgm:pt>
    <dgm:pt modelId="{BA463C80-169E-423B-8DA6-21D34FB75CFB}" type="pres">
      <dgm:prSet presAssocID="{52A734FC-BE03-4FC2-9083-7280FD851C83}" presName="parentLin" presStyleCnt="0"/>
      <dgm:spPr/>
    </dgm:pt>
    <dgm:pt modelId="{4624F777-1362-4433-A9BC-517B1F152F1B}" type="pres">
      <dgm:prSet presAssocID="{52A734FC-BE03-4FC2-9083-7280FD851C83}" presName="parentLeftMargin" presStyleLbl="node1" presStyleIdx="5" presStyleCnt="12"/>
      <dgm:spPr/>
    </dgm:pt>
    <dgm:pt modelId="{A88946DD-B105-49B6-823D-4C714B795B72}" type="pres">
      <dgm:prSet presAssocID="{52A734FC-BE03-4FC2-9083-7280FD851C83}" presName="parentText" presStyleLbl="node1" presStyleIdx="6" presStyleCnt="12" custScaleX="123419" custScaleY="246778">
        <dgm:presLayoutVars>
          <dgm:chMax val="0"/>
          <dgm:bulletEnabled val="1"/>
        </dgm:presLayoutVars>
      </dgm:prSet>
      <dgm:spPr/>
    </dgm:pt>
    <dgm:pt modelId="{682E3F3B-9019-4BAE-93C4-B5F2E60E1463}" type="pres">
      <dgm:prSet presAssocID="{52A734FC-BE03-4FC2-9083-7280FD851C83}" presName="negativeSpace" presStyleCnt="0"/>
      <dgm:spPr/>
    </dgm:pt>
    <dgm:pt modelId="{B206F4C0-C8F5-4434-8627-F8DD90B31BC8}" type="pres">
      <dgm:prSet presAssocID="{52A734FC-BE03-4FC2-9083-7280FD851C83}" presName="childText" presStyleLbl="conFgAcc1" presStyleIdx="6" presStyleCnt="12">
        <dgm:presLayoutVars>
          <dgm:bulletEnabled val="1"/>
        </dgm:presLayoutVars>
      </dgm:prSet>
      <dgm:spPr/>
    </dgm:pt>
    <dgm:pt modelId="{44AC0A31-141E-4151-9B47-6AF1C9D47DA1}" type="pres">
      <dgm:prSet presAssocID="{7A604B12-CF00-4A46-B7E4-F6E09EF9FB57}" presName="spaceBetweenRectangles" presStyleCnt="0"/>
      <dgm:spPr/>
    </dgm:pt>
    <dgm:pt modelId="{EB1C9E10-8E44-4874-B87E-6EE18E6AC2E5}" type="pres">
      <dgm:prSet presAssocID="{0DCBAEB8-D794-4768-9593-F263FDD3AD01}" presName="parentLin" presStyleCnt="0"/>
      <dgm:spPr/>
    </dgm:pt>
    <dgm:pt modelId="{7D1F8B56-433E-49F8-8CDE-7564F717983C}" type="pres">
      <dgm:prSet presAssocID="{0DCBAEB8-D794-4768-9593-F263FDD3AD01}" presName="parentLeftMargin" presStyleLbl="node1" presStyleIdx="6" presStyleCnt="12"/>
      <dgm:spPr/>
    </dgm:pt>
    <dgm:pt modelId="{4E445145-AED9-485B-A529-7927013B3642}" type="pres">
      <dgm:prSet presAssocID="{0DCBAEB8-D794-4768-9593-F263FDD3AD01}" presName="parentText" presStyleLbl="node1" presStyleIdx="7" presStyleCnt="12" custScaleX="123419" custScaleY="272589">
        <dgm:presLayoutVars>
          <dgm:chMax val="0"/>
          <dgm:bulletEnabled val="1"/>
        </dgm:presLayoutVars>
      </dgm:prSet>
      <dgm:spPr/>
    </dgm:pt>
    <dgm:pt modelId="{5743B155-0027-4866-8949-7A9A985431C2}" type="pres">
      <dgm:prSet presAssocID="{0DCBAEB8-D794-4768-9593-F263FDD3AD01}" presName="negativeSpace" presStyleCnt="0"/>
      <dgm:spPr/>
    </dgm:pt>
    <dgm:pt modelId="{5A2DE0B9-9DD7-4A30-AB19-7A350BC973E0}" type="pres">
      <dgm:prSet presAssocID="{0DCBAEB8-D794-4768-9593-F263FDD3AD01}" presName="childText" presStyleLbl="conFgAcc1" presStyleIdx="7" presStyleCnt="12">
        <dgm:presLayoutVars>
          <dgm:bulletEnabled val="1"/>
        </dgm:presLayoutVars>
      </dgm:prSet>
      <dgm:spPr/>
    </dgm:pt>
    <dgm:pt modelId="{C839E168-6DCA-49C4-A279-4C8726A3F00F}" type="pres">
      <dgm:prSet presAssocID="{E666510F-7FAC-45CC-B24F-7D772A2490B8}" presName="spaceBetweenRectangles" presStyleCnt="0"/>
      <dgm:spPr/>
    </dgm:pt>
    <dgm:pt modelId="{04C8FE97-EF29-469E-9B2A-43DC1CA2F0A8}" type="pres">
      <dgm:prSet presAssocID="{9820C2B3-6983-4A94-9D58-ED8963FAF46A}" presName="parentLin" presStyleCnt="0"/>
      <dgm:spPr/>
    </dgm:pt>
    <dgm:pt modelId="{37FC5D2F-677F-4F91-851C-67233AF3BC09}" type="pres">
      <dgm:prSet presAssocID="{9820C2B3-6983-4A94-9D58-ED8963FAF46A}" presName="parentLeftMargin" presStyleLbl="node1" presStyleIdx="7" presStyleCnt="12"/>
      <dgm:spPr/>
    </dgm:pt>
    <dgm:pt modelId="{8E5ED251-328F-4D45-B653-72712F48C97C}" type="pres">
      <dgm:prSet presAssocID="{9820C2B3-6983-4A94-9D58-ED8963FAF46A}" presName="parentText" presStyleLbl="node1" presStyleIdx="8" presStyleCnt="12" custScaleX="123419" custScaleY="169339">
        <dgm:presLayoutVars>
          <dgm:chMax val="0"/>
          <dgm:bulletEnabled val="1"/>
        </dgm:presLayoutVars>
      </dgm:prSet>
      <dgm:spPr/>
    </dgm:pt>
    <dgm:pt modelId="{DD7FEFC5-6CCF-4E33-8200-1C6338C57215}" type="pres">
      <dgm:prSet presAssocID="{9820C2B3-6983-4A94-9D58-ED8963FAF46A}" presName="negativeSpace" presStyleCnt="0"/>
      <dgm:spPr/>
    </dgm:pt>
    <dgm:pt modelId="{9A8B2044-1180-4423-8EB4-D939AB910ED5}" type="pres">
      <dgm:prSet presAssocID="{9820C2B3-6983-4A94-9D58-ED8963FAF46A}" presName="childText" presStyleLbl="conFgAcc1" presStyleIdx="8" presStyleCnt="12">
        <dgm:presLayoutVars>
          <dgm:bulletEnabled val="1"/>
        </dgm:presLayoutVars>
      </dgm:prSet>
      <dgm:spPr/>
    </dgm:pt>
    <dgm:pt modelId="{EEA0B182-CE03-4801-968E-A6523C6C51DD}" type="pres">
      <dgm:prSet presAssocID="{EDB3FAC6-887A-469A-B050-857B01DCFB4F}" presName="spaceBetweenRectangles" presStyleCnt="0"/>
      <dgm:spPr/>
    </dgm:pt>
    <dgm:pt modelId="{5A6BD477-FB58-4272-990C-AB164821E5C2}" type="pres">
      <dgm:prSet presAssocID="{9DDFBB48-524E-47FC-84C4-C7EBA29011F3}" presName="parentLin" presStyleCnt="0"/>
      <dgm:spPr/>
    </dgm:pt>
    <dgm:pt modelId="{20DE32C4-A022-45C2-876F-E5530BE71C74}" type="pres">
      <dgm:prSet presAssocID="{9DDFBB48-524E-47FC-84C4-C7EBA29011F3}" presName="parentLeftMargin" presStyleLbl="node1" presStyleIdx="8" presStyleCnt="12"/>
      <dgm:spPr/>
    </dgm:pt>
    <dgm:pt modelId="{9BB86192-9B5D-4B8A-B3E2-2753259F3AE5}" type="pres">
      <dgm:prSet presAssocID="{9DDFBB48-524E-47FC-84C4-C7EBA29011F3}" presName="parentText" presStyleLbl="node1" presStyleIdx="9" presStyleCnt="12" custScaleX="123419" custScaleY="169339">
        <dgm:presLayoutVars>
          <dgm:chMax val="0"/>
          <dgm:bulletEnabled val="1"/>
        </dgm:presLayoutVars>
      </dgm:prSet>
      <dgm:spPr/>
    </dgm:pt>
    <dgm:pt modelId="{9A3E241C-7BE5-4888-9ED8-D970D831CFE0}" type="pres">
      <dgm:prSet presAssocID="{9DDFBB48-524E-47FC-84C4-C7EBA29011F3}" presName="negativeSpace" presStyleCnt="0"/>
      <dgm:spPr/>
    </dgm:pt>
    <dgm:pt modelId="{5283829B-7D84-48A6-B86C-F83F61631188}" type="pres">
      <dgm:prSet presAssocID="{9DDFBB48-524E-47FC-84C4-C7EBA29011F3}" presName="childText" presStyleLbl="conFgAcc1" presStyleIdx="9" presStyleCnt="12">
        <dgm:presLayoutVars>
          <dgm:bulletEnabled val="1"/>
        </dgm:presLayoutVars>
      </dgm:prSet>
      <dgm:spPr/>
    </dgm:pt>
    <dgm:pt modelId="{FDD1C63A-D52D-42D6-860E-88D87D62737A}" type="pres">
      <dgm:prSet presAssocID="{9D75BF1F-ADA5-4CC9-8CB0-47D63732D30E}" presName="spaceBetweenRectangles" presStyleCnt="0"/>
      <dgm:spPr/>
    </dgm:pt>
    <dgm:pt modelId="{A284800B-0AE4-4FDE-B6B3-FE7AA08A2750}" type="pres">
      <dgm:prSet presAssocID="{EAF75D90-4723-4848-AA4C-6124C13DA747}" presName="parentLin" presStyleCnt="0"/>
      <dgm:spPr/>
    </dgm:pt>
    <dgm:pt modelId="{0D1A94B7-2603-457B-A57E-FA0643B24BCF}" type="pres">
      <dgm:prSet presAssocID="{EAF75D90-4723-4848-AA4C-6124C13DA747}" presName="parentLeftMargin" presStyleLbl="node1" presStyleIdx="9" presStyleCnt="12"/>
      <dgm:spPr/>
    </dgm:pt>
    <dgm:pt modelId="{A95029AC-89E1-4F1E-BC63-4C5EC467E6F8}" type="pres">
      <dgm:prSet presAssocID="{EAF75D90-4723-4848-AA4C-6124C13DA747}" presName="parentText" presStyleLbl="node1" presStyleIdx="10" presStyleCnt="12" custScaleX="127231" custScaleY="202324">
        <dgm:presLayoutVars>
          <dgm:chMax val="0"/>
          <dgm:bulletEnabled val="1"/>
        </dgm:presLayoutVars>
      </dgm:prSet>
      <dgm:spPr/>
    </dgm:pt>
    <dgm:pt modelId="{2AC181DA-35BF-4601-A172-7CBA59D03847}" type="pres">
      <dgm:prSet presAssocID="{EAF75D90-4723-4848-AA4C-6124C13DA747}" presName="negativeSpace" presStyleCnt="0"/>
      <dgm:spPr/>
    </dgm:pt>
    <dgm:pt modelId="{FEC97E0D-CDAF-48B7-8E98-10CDC073A59E}" type="pres">
      <dgm:prSet presAssocID="{EAF75D90-4723-4848-AA4C-6124C13DA747}" presName="childText" presStyleLbl="conFgAcc1" presStyleIdx="10" presStyleCnt="12">
        <dgm:presLayoutVars>
          <dgm:bulletEnabled val="1"/>
        </dgm:presLayoutVars>
      </dgm:prSet>
      <dgm:spPr/>
    </dgm:pt>
    <dgm:pt modelId="{CC430766-D98E-4871-B458-2CC4445FE75E}" type="pres">
      <dgm:prSet presAssocID="{9A6E61C3-FC22-4B02-9370-4D595934032C}" presName="spaceBetweenRectangles" presStyleCnt="0"/>
      <dgm:spPr/>
    </dgm:pt>
    <dgm:pt modelId="{5ABA514C-2F5C-4985-8DAC-1AC103B900E9}" type="pres">
      <dgm:prSet presAssocID="{3563D27B-321B-4BC3-8B30-3D9231788433}" presName="parentLin" presStyleCnt="0"/>
      <dgm:spPr/>
    </dgm:pt>
    <dgm:pt modelId="{2D7C452A-A490-4694-A122-46DDAA541280}" type="pres">
      <dgm:prSet presAssocID="{3563D27B-321B-4BC3-8B30-3D9231788433}" presName="parentLeftMargin" presStyleLbl="node1" presStyleIdx="10" presStyleCnt="12"/>
      <dgm:spPr/>
    </dgm:pt>
    <dgm:pt modelId="{ED7B8F8B-D588-48E6-B9D8-54BB6B12A690}" type="pres">
      <dgm:prSet presAssocID="{3563D27B-321B-4BC3-8B30-3D9231788433}" presName="parentText" presStyleLbl="node1" presStyleIdx="11" presStyleCnt="12" custScaleX="123419" custScaleY="169339">
        <dgm:presLayoutVars>
          <dgm:chMax val="0"/>
          <dgm:bulletEnabled val="1"/>
        </dgm:presLayoutVars>
      </dgm:prSet>
      <dgm:spPr/>
    </dgm:pt>
    <dgm:pt modelId="{29063C17-BDC9-49C8-9442-C1CCB8B96E3D}" type="pres">
      <dgm:prSet presAssocID="{3563D27B-321B-4BC3-8B30-3D9231788433}" presName="negativeSpace" presStyleCnt="0"/>
      <dgm:spPr/>
    </dgm:pt>
    <dgm:pt modelId="{BC94104F-623C-4B87-8839-AFCA25DD98C0}" type="pres">
      <dgm:prSet presAssocID="{3563D27B-321B-4BC3-8B30-3D9231788433}" presName="childText" presStyleLbl="conFgAcc1" presStyleIdx="11" presStyleCnt="12">
        <dgm:presLayoutVars>
          <dgm:bulletEnabled val="1"/>
        </dgm:presLayoutVars>
      </dgm:prSet>
      <dgm:spPr/>
    </dgm:pt>
  </dgm:ptLst>
  <dgm:cxnLst>
    <dgm:cxn modelId="{511CFD00-236D-430E-BA8F-3D218D3D33F0}" srcId="{548E5BA7-139C-426B-89F7-6FDCC9986254}" destId="{2E76421B-DB30-4FA8-B16F-5EB453EB63EE}" srcOrd="0" destOrd="0" parTransId="{21C3A60E-A577-4CC5-9655-A11F1FB43A72}" sibTransId="{D6A3ED1B-3E0B-4E5B-B0B6-B1453BB0CD63}"/>
    <dgm:cxn modelId="{F8965402-FB43-458B-A6A0-CF5162178585}" srcId="{548E5BA7-139C-426B-89F7-6FDCC9986254}" destId="{9DDFBB48-524E-47FC-84C4-C7EBA29011F3}" srcOrd="9" destOrd="0" parTransId="{653C64CE-D798-488D-BF60-A22C833983C9}" sibTransId="{9D75BF1F-ADA5-4CC9-8CB0-47D63732D30E}"/>
    <dgm:cxn modelId="{4A691409-95A4-48E0-A042-3D7390171623}" srcId="{548E5BA7-139C-426B-89F7-6FDCC9986254}" destId="{910DC688-ECC1-46D6-90E2-5D75E5CFA3FC}" srcOrd="4" destOrd="0" parTransId="{9A952DD6-03DF-4763-A049-9F8269DCFED4}" sibTransId="{C393FF57-5DA1-4F24-BDD6-7A6DDBA539FC}"/>
    <dgm:cxn modelId="{F489160E-BEC7-40E3-9EF8-41052CC2A856}" type="presOf" srcId="{52A734FC-BE03-4FC2-9083-7280FD851C83}" destId="{4624F777-1362-4433-A9BC-517B1F152F1B}" srcOrd="0" destOrd="0" presId="urn:microsoft.com/office/officeart/2005/8/layout/list1"/>
    <dgm:cxn modelId="{73586110-A983-40B6-8832-71500F7909E0}" srcId="{548E5BA7-139C-426B-89F7-6FDCC9986254}" destId="{52A734FC-BE03-4FC2-9083-7280FD851C83}" srcOrd="6" destOrd="0" parTransId="{34D61F19-9C9B-48AC-BD84-2D8C2BFFB6BA}" sibTransId="{7A604B12-CF00-4A46-B7E4-F6E09EF9FB57}"/>
    <dgm:cxn modelId="{233C8A10-0492-4FE3-89EC-3DF6B0D9E146}" srcId="{548E5BA7-139C-426B-89F7-6FDCC9986254}" destId="{9820C2B3-6983-4A94-9D58-ED8963FAF46A}" srcOrd="8" destOrd="0" parTransId="{431C1C25-1C78-40F1-8230-9A980BC36857}" sibTransId="{EDB3FAC6-887A-469A-B050-857B01DCFB4F}"/>
    <dgm:cxn modelId="{58147016-B88B-4091-80DF-9EEAA965A7C0}" type="presOf" srcId="{9820C2B3-6983-4A94-9D58-ED8963FAF46A}" destId="{37FC5D2F-677F-4F91-851C-67233AF3BC09}" srcOrd="0" destOrd="0" presId="urn:microsoft.com/office/officeart/2005/8/layout/list1"/>
    <dgm:cxn modelId="{1F500B17-8135-4D30-85A8-71F5A062E0AD}" type="presOf" srcId="{0DCBAEB8-D794-4768-9593-F263FDD3AD01}" destId="{4E445145-AED9-485B-A529-7927013B3642}" srcOrd="1" destOrd="0" presId="urn:microsoft.com/office/officeart/2005/8/layout/list1"/>
    <dgm:cxn modelId="{27CB0225-989B-49E0-ABD4-95E8803E323A}" type="presOf" srcId="{548E5BA7-139C-426B-89F7-6FDCC9986254}" destId="{D33596F6-0387-4E81-AA22-5647C82493BE}" srcOrd="0" destOrd="0" presId="urn:microsoft.com/office/officeart/2005/8/layout/list1"/>
    <dgm:cxn modelId="{47821628-64E0-48C6-B796-61FC50DB55EA}" srcId="{548E5BA7-139C-426B-89F7-6FDCC9986254}" destId="{3563D27B-321B-4BC3-8B30-3D9231788433}" srcOrd="11" destOrd="0" parTransId="{8A811B05-3FAC-454E-B3F2-11C7BC225CF7}" sibTransId="{BB498D33-D239-448E-A6B7-0EAA21869B71}"/>
    <dgm:cxn modelId="{097BB534-0469-484E-8CC4-C8D89D62C728}" type="presOf" srcId="{3563D27B-321B-4BC3-8B30-3D9231788433}" destId="{2D7C452A-A490-4694-A122-46DDAA541280}" srcOrd="0" destOrd="0" presId="urn:microsoft.com/office/officeart/2005/8/layout/list1"/>
    <dgm:cxn modelId="{15720A3B-6552-4D70-AB91-90217E743815}" type="presOf" srcId="{EAF75D90-4723-4848-AA4C-6124C13DA747}" destId="{0D1A94B7-2603-457B-A57E-FA0643B24BCF}" srcOrd="0" destOrd="0" presId="urn:microsoft.com/office/officeart/2005/8/layout/list1"/>
    <dgm:cxn modelId="{B237915B-2FFB-43C3-9F27-72A166E6AEF2}" srcId="{548E5BA7-139C-426B-89F7-6FDCC9986254}" destId="{FD185861-8CE6-4D06-9251-1B7C4FCB415A}" srcOrd="1" destOrd="0" parTransId="{9EC411C3-9886-4B88-A2AC-5FF163382CAB}" sibTransId="{E0103A15-DB8F-438F-B9BA-7CE37EF6909F}"/>
    <dgm:cxn modelId="{1C6C235E-3015-4E4F-B4CF-45C494629F68}" type="presOf" srcId="{4DE9EA9A-0295-4EFB-9476-3B623BFC63D7}" destId="{44E2D38D-C621-4DE1-AD1B-DF39786A88D1}" srcOrd="0" destOrd="0" presId="urn:microsoft.com/office/officeart/2005/8/layout/list1"/>
    <dgm:cxn modelId="{FED93660-7C5C-4836-ADB9-83C8880F048D}" type="presOf" srcId="{FD185861-8CE6-4D06-9251-1B7C4FCB415A}" destId="{02102633-764F-4C30-AEC0-514F4F7EC8B5}" srcOrd="1" destOrd="0" presId="urn:microsoft.com/office/officeart/2005/8/layout/list1"/>
    <dgm:cxn modelId="{B299AA62-B9A8-426A-A56F-3A23D8D93ACF}" type="presOf" srcId="{2E76421B-DB30-4FA8-B16F-5EB453EB63EE}" destId="{08F8784F-DE29-4A72-AC74-527AD7CDEE04}" srcOrd="0" destOrd="0" presId="urn:microsoft.com/office/officeart/2005/8/layout/list1"/>
    <dgm:cxn modelId="{194B5664-45B8-48C2-8E06-582E81254DE8}" type="presOf" srcId="{FD185861-8CE6-4D06-9251-1B7C4FCB415A}" destId="{61D21AA2-CBBD-4B31-AC3C-41DBE89FF122}" srcOrd="0" destOrd="0" presId="urn:microsoft.com/office/officeart/2005/8/layout/list1"/>
    <dgm:cxn modelId="{7A874948-D419-4EF1-A43E-F83A9EEFDB3B}" type="presOf" srcId="{332F8809-646E-42AF-9D2D-A34BC837E318}" destId="{0B4E1DBB-903A-4A8A-8304-7F35E1DD3608}" srcOrd="0" destOrd="0" presId="urn:microsoft.com/office/officeart/2005/8/layout/list1"/>
    <dgm:cxn modelId="{D7204B6E-7B35-4149-AF5D-624DDDF83433}" type="presOf" srcId="{0AC380C0-9E07-4966-A0CF-E02C9B573525}" destId="{C643665E-493B-4A4F-A717-9BEA8842CD90}" srcOrd="0" destOrd="0" presId="urn:microsoft.com/office/officeart/2005/8/layout/list1"/>
    <dgm:cxn modelId="{7EC93F50-1749-47B8-9703-57D38FF26892}" srcId="{548E5BA7-139C-426B-89F7-6FDCC9986254}" destId="{0AC380C0-9E07-4966-A0CF-E02C9B573525}" srcOrd="5" destOrd="0" parTransId="{D1F9B705-60C2-4490-8B9A-B598230BC168}" sibTransId="{3D74E755-2313-4680-AB21-D3ED43D70344}"/>
    <dgm:cxn modelId="{BBE59E56-FCE7-4E7B-95D5-2E00EE4F88F8}" type="presOf" srcId="{910DC688-ECC1-46D6-90E2-5D75E5CFA3FC}" destId="{E1AEB959-A4BC-41CC-AB64-F143846F92DB}" srcOrd="0" destOrd="0" presId="urn:microsoft.com/office/officeart/2005/8/layout/list1"/>
    <dgm:cxn modelId="{E1400F57-F468-4417-B228-8C30410F3E3E}" type="presOf" srcId="{0DCBAEB8-D794-4768-9593-F263FDD3AD01}" destId="{7D1F8B56-433E-49F8-8CDE-7564F717983C}" srcOrd="0" destOrd="0" presId="urn:microsoft.com/office/officeart/2005/8/layout/list1"/>
    <dgm:cxn modelId="{CD496078-6F9A-4753-B753-7D1AD1B3B54E}" srcId="{548E5BA7-139C-426B-89F7-6FDCC9986254}" destId="{332F8809-646E-42AF-9D2D-A34BC837E318}" srcOrd="2" destOrd="0" parTransId="{22682131-AA09-4EF5-B32D-59B5C5DB8223}" sibTransId="{84349160-01E8-4106-A295-08BB4EFA2867}"/>
    <dgm:cxn modelId="{59806081-C890-4F21-B85E-0A22860F61C2}" type="presOf" srcId="{9820C2B3-6983-4A94-9D58-ED8963FAF46A}" destId="{8E5ED251-328F-4D45-B653-72712F48C97C}" srcOrd="1" destOrd="0" presId="urn:microsoft.com/office/officeart/2005/8/layout/list1"/>
    <dgm:cxn modelId="{2B548886-9EBA-43DA-A739-6C170C0B63E8}" srcId="{548E5BA7-139C-426B-89F7-6FDCC9986254}" destId="{0DCBAEB8-D794-4768-9593-F263FDD3AD01}" srcOrd="7" destOrd="0" parTransId="{3CFDF753-A114-4A0F-B560-4641E52A525C}" sibTransId="{E666510F-7FAC-45CC-B24F-7D772A2490B8}"/>
    <dgm:cxn modelId="{E5E2EF86-BA59-49C9-8E72-4B1BC4726A8B}" srcId="{548E5BA7-139C-426B-89F7-6FDCC9986254}" destId="{EAF75D90-4723-4848-AA4C-6124C13DA747}" srcOrd="10" destOrd="0" parTransId="{D6694592-2E3B-479F-8435-1C7AB8626959}" sibTransId="{9A6E61C3-FC22-4B02-9370-4D595934032C}"/>
    <dgm:cxn modelId="{FBCBC795-C769-4312-95C8-00CFC8DC5AE7}" type="presOf" srcId="{0AC380C0-9E07-4966-A0CF-E02C9B573525}" destId="{2FD1299F-359E-4584-9903-80A47193E03A}" srcOrd="1" destOrd="0" presId="urn:microsoft.com/office/officeart/2005/8/layout/list1"/>
    <dgm:cxn modelId="{ACA2E9A7-81BB-42DF-8080-0657D0C3BCAF}" type="presOf" srcId="{2E76421B-DB30-4FA8-B16F-5EB453EB63EE}" destId="{19B87EFE-EE8E-4D49-80CB-CB255DC90386}" srcOrd="1" destOrd="0" presId="urn:microsoft.com/office/officeart/2005/8/layout/list1"/>
    <dgm:cxn modelId="{E4458CAA-B6DC-4C94-81AB-812A5A200429}" type="presOf" srcId="{332F8809-646E-42AF-9D2D-A34BC837E318}" destId="{C850BFBB-0B1B-410F-A98B-7EF17C078B0E}" srcOrd="1" destOrd="0" presId="urn:microsoft.com/office/officeart/2005/8/layout/list1"/>
    <dgm:cxn modelId="{2AB806B1-1718-4B38-9B7B-FAAAED33C6CC}" type="presOf" srcId="{3563D27B-321B-4BC3-8B30-3D9231788433}" destId="{ED7B8F8B-D588-48E6-B9D8-54BB6B12A690}" srcOrd="1" destOrd="0" presId="urn:microsoft.com/office/officeart/2005/8/layout/list1"/>
    <dgm:cxn modelId="{BA5023C7-47DD-4104-8FFA-D669A9896090}" type="presOf" srcId="{4DE9EA9A-0295-4EFB-9476-3B623BFC63D7}" destId="{A5578C90-49C9-4052-BE4C-0B5BBC1CAF61}" srcOrd="1" destOrd="0" presId="urn:microsoft.com/office/officeart/2005/8/layout/list1"/>
    <dgm:cxn modelId="{CF9A1FCA-97A1-4A1F-B501-19A5AD4DBEBA}" type="presOf" srcId="{52A734FC-BE03-4FC2-9083-7280FD851C83}" destId="{A88946DD-B105-49B6-823D-4C714B795B72}" srcOrd="1" destOrd="0" presId="urn:microsoft.com/office/officeart/2005/8/layout/list1"/>
    <dgm:cxn modelId="{922BC3D5-CE0B-4DAF-A195-4C5215F1DD7F}" type="presOf" srcId="{910DC688-ECC1-46D6-90E2-5D75E5CFA3FC}" destId="{0C6A1E47-160F-48B8-AA11-9C6661A01EF0}" srcOrd="1" destOrd="0" presId="urn:microsoft.com/office/officeart/2005/8/layout/list1"/>
    <dgm:cxn modelId="{4F0A69F3-9D9C-44AD-B628-40B6EBF5922D}" type="presOf" srcId="{9DDFBB48-524E-47FC-84C4-C7EBA29011F3}" destId="{20DE32C4-A022-45C2-876F-E5530BE71C74}" srcOrd="0" destOrd="0" presId="urn:microsoft.com/office/officeart/2005/8/layout/list1"/>
    <dgm:cxn modelId="{775FCAF8-2E01-4E25-A12B-AB198328B895}" srcId="{548E5BA7-139C-426B-89F7-6FDCC9986254}" destId="{4DE9EA9A-0295-4EFB-9476-3B623BFC63D7}" srcOrd="3" destOrd="0" parTransId="{1CB33853-72FD-48F0-9DF6-263DA99B6E90}" sibTransId="{E32F12E9-88E0-4A46-9E98-1D88C5634E07}"/>
    <dgm:cxn modelId="{7F5A34F9-F846-4A4B-8D8A-5BC56CF8E680}" type="presOf" srcId="{9DDFBB48-524E-47FC-84C4-C7EBA29011F3}" destId="{9BB86192-9B5D-4B8A-B3E2-2753259F3AE5}" srcOrd="1" destOrd="0" presId="urn:microsoft.com/office/officeart/2005/8/layout/list1"/>
    <dgm:cxn modelId="{470203FC-2D44-421E-8428-B2C5D2CB6E20}" type="presOf" srcId="{EAF75D90-4723-4848-AA4C-6124C13DA747}" destId="{A95029AC-89E1-4F1E-BC63-4C5EC467E6F8}" srcOrd="1" destOrd="0" presId="urn:microsoft.com/office/officeart/2005/8/layout/list1"/>
    <dgm:cxn modelId="{8B7F6B6F-17E0-49F3-B2E1-ED69242ACA68}" type="presParOf" srcId="{D33596F6-0387-4E81-AA22-5647C82493BE}" destId="{7E7EC990-8F4A-446F-B957-2B5851B95817}" srcOrd="0" destOrd="0" presId="urn:microsoft.com/office/officeart/2005/8/layout/list1"/>
    <dgm:cxn modelId="{20B47115-ABD7-4A6B-B04D-8074B5B87B35}" type="presParOf" srcId="{7E7EC990-8F4A-446F-B957-2B5851B95817}" destId="{08F8784F-DE29-4A72-AC74-527AD7CDEE04}" srcOrd="0" destOrd="0" presId="urn:microsoft.com/office/officeart/2005/8/layout/list1"/>
    <dgm:cxn modelId="{787AEA76-EDC0-4E4F-8D21-7F092DBC7223}" type="presParOf" srcId="{7E7EC990-8F4A-446F-B957-2B5851B95817}" destId="{19B87EFE-EE8E-4D49-80CB-CB255DC90386}" srcOrd="1" destOrd="0" presId="urn:microsoft.com/office/officeart/2005/8/layout/list1"/>
    <dgm:cxn modelId="{EA38F4D0-A710-43DE-84EE-442063479B1C}" type="presParOf" srcId="{D33596F6-0387-4E81-AA22-5647C82493BE}" destId="{495B64E2-6ED8-4A2C-ABD7-475394D55342}" srcOrd="1" destOrd="0" presId="urn:microsoft.com/office/officeart/2005/8/layout/list1"/>
    <dgm:cxn modelId="{4E0B9562-F0CE-418B-B708-D6D5E6C416C4}" type="presParOf" srcId="{D33596F6-0387-4E81-AA22-5647C82493BE}" destId="{B04F9DC1-8189-462F-9CE6-DAB413F95679}" srcOrd="2" destOrd="0" presId="urn:microsoft.com/office/officeart/2005/8/layout/list1"/>
    <dgm:cxn modelId="{2B8243FD-5B99-4863-A869-3CD741BEFE24}" type="presParOf" srcId="{D33596F6-0387-4E81-AA22-5647C82493BE}" destId="{97A31753-39CE-49E6-8DF5-70DEA860D7BF}" srcOrd="3" destOrd="0" presId="urn:microsoft.com/office/officeart/2005/8/layout/list1"/>
    <dgm:cxn modelId="{D84DDA0E-1E63-48F3-8A78-FE34BAA67A4B}" type="presParOf" srcId="{D33596F6-0387-4E81-AA22-5647C82493BE}" destId="{7F7AFA30-5092-457B-8993-083A4DEDD5EF}" srcOrd="4" destOrd="0" presId="urn:microsoft.com/office/officeart/2005/8/layout/list1"/>
    <dgm:cxn modelId="{5A51E778-DFCF-41D8-B47D-8A1F815E64AF}" type="presParOf" srcId="{7F7AFA30-5092-457B-8993-083A4DEDD5EF}" destId="{61D21AA2-CBBD-4B31-AC3C-41DBE89FF122}" srcOrd="0" destOrd="0" presId="urn:microsoft.com/office/officeart/2005/8/layout/list1"/>
    <dgm:cxn modelId="{A77F1558-88BD-499B-8BBC-8C10C3E30C00}" type="presParOf" srcId="{7F7AFA30-5092-457B-8993-083A4DEDD5EF}" destId="{02102633-764F-4C30-AEC0-514F4F7EC8B5}" srcOrd="1" destOrd="0" presId="urn:microsoft.com/office/officeart/2005/8/layout/list1"/>
    <dgm:cxn modelId="{6CA3FB7D-CDEB-4B9A-91B9-5FEEFC8D9972}" type="presParOf" srcId="{D33596F6-0387-4E81-AA22-5647C82493BE}" destId="{110AA3EF-DF9F-48AF-AC35-7BB57CC6BF4E}" srcOrd="5" destOrd="0" presId="urn:microsoft.com/office/officeart/2005/8/layout/list1"/>
    <dgm:cxn modelId="{118D689E-AF29-46D4-A962-26450A06138F}" type="presParOf" srcId="{D33596F6-0387-4E81-AA22-5647C82493BE}" destId="{E87BA916-7EC7-4CD1-8B4E-67D8E09E31D4}" srcOrd="6" destOrd="0" presId="urn:microsoft.com/office/officeart/2005/8/layout/list1"/>
    <dgm:cxn modelId="{28A5D344-6F27-48B5-B007-67648DBF6CE6}" type="presParOf" srcId="{D33596F6-0387-4E81-AA22-5647C82493BE}" destId="{F8A6B6A1-5637-4359-86B3-09E7B38A481B}" srcOrd="7" destOrd="0" presId="urn:microsoft.com/office/officeart/2005/8/layout/list1"/>
    <dgm:cxn modelId="{36F489CA-873A-45B4-930A-4845B2074504}" type="presParOf" srcId="{D33596F6-0387-4E81-AA22-5647C82493BE}" destId="{2F24DA53-9F28-4784-9718-4FF486C4937B}" srcOrd="8" destOrd="0" presId="urn:microsoft.com/office/officeart/2005/8/layout/list1"/>
    <dgm:cxn modelId="{F17E923C-14FF-4BEA-B3FD-DB64BA85FA01}" type="presParOf" srcId="{2F24DA53-9F28-4784-9718-4FF486C4937B}" destId="{0B4E1DBB-903A-4A8A-8304-7F35E1DD3608}" srcOrd="0" destOrd="0" presId="urn:microsoft.com/office/officeart/2005/8/layout/list1"/>
    <dgm:cxn modelId="{DF74D9DE-39FD-47C2-B85E-976D72D68268}" type="presParOf" srcId="{2F24DA53-9F28-4784-9718-4FF486C4937B}" destId="{C850BFBB-0B1B-410F-A98B-7EF17C078B0E}" srcOrd="1" destOrd="0" presId="urn:microsoft.com/office/officeart/2005/8/layout/list1"/>
    <dgm:cxn modelId="{B1CCD960-4245-4678-8777-ABDB3C2D6A88}" type="presParOf" srcId="{D33596F6-0387-4E81-AA22-5647C82493BE}" destId="{CB7A183B-7B5D-4011-A26C-95F17A6332CF}" srcOrd="9" destOrd="0" presId="urn:microsoft.com/office/officeart/2005/8/layout/list1"/>
    <dgm:cxn modelId="{3E4299F2-DAC5-4299-836B-1ADE331A4377}" type="presParOf" srcId="{D33596F6-0387-4E81-AA22-5647C82493BE}" destId="{68CDAE6D-2177-473E-B1D2-93C9EFCC18CB}" srcOrd="10" destOrd="0" presId="urn:microsoft.com/office/officeart/2005/8/layout/list1"/>
    <dgm:cxn modelId="{D6A53E3E-02E4-4873-9A2D-E11497BB6FF4}" type="presParOf" srcId="{D33596F6-0387-4E81-AA22-5647C82493BE}" destId="{2CFBFA38-D824-4FC0-BC01-CBDE37D9F5B3}" srcOrd="11" destOrd="0" presId="urn:microsoft.com/office/officeart/2005/8/layout/list1"/>
    <dgm:cxn modelId="{5D491F8E-A088-42AC-8D61-7695B960CE9A}" type="presParOf" srcId="{D33596F6-0387-4E81-AA22-5647C82493BE}" destId="{F4D2BF5D-C3EB-4CBC-8C87-768C9D4EB374}" srcOrd="12" destOrd="0" presId="urn:microsoft.com/office/officeart/2005/8/layout/list1"/>
    <dgm:cxn modelId="{FF3850CE-F2A3-4F55-BE9B-FB86BAAF6E5B}" type="presParOf" srcId="{F4D2BF5D-C3EB-4CBC-8C87-768C9D4EB374}" destId="{44E2D38D-C621-4DE1-AD1B-DF39786A88D1}" srcOrd="0" destOrd="0" presId="urn:microsoft.com/office/officeart/2005/8/layout/list1"/>
    <dgm:cxn modelId="{D264F0E5-20C2-405E-A8DE-A46E235A055D}" type="presParOf" srcId="{F4D2BF5D-C3EB-4CBC-8C87-768C9D4EB374}" destId="{A5578C90-49C9-4052-BE4C-0B5BBC1CAF61}" srcOrd="1" destOrd="0" presId="urn:microsoft.com/office/officeart/2005/8/layout/list1"/>
    <dgm:cxn modelId="{DC1B667A-B060-48B0-988A-E1D90BAB70CF}" type="presParOf" srcId="{D33596F6-0387-4E81-AA22-5647C82493BE}" destId="{DD883938-B03F-4A48-8650-F21509803A90}" srcOrd="13" destOrd="0" presId="urn:microsoft.com/office/officeart/2005/8/layout/list1"/>
    <dgm:cxn modelId="{148F9B95-6619-4179-A55F-1A985C9B41BE}" type="presParOf" srcId="{D33596F6-0387-4E81-AA22-5647C82493BE}" destId="{8DC83C71-1B61-465E-B18F-3CFC15A71AA9}" srcOrd="14" destOrd="0" presId="urn:microsoft.com/office/officeart/2005/8/layout/list1"/>
    <dgm:cxn modelId="{2CB9C02F-D031-4D99-B5E9-30EA806A07D2}" type="presParOf" srcId="{D33596F6-0387-4E81-AA22-5647C82493BE}" destId="{35253B41-8397-46E4-BCE3-9D7820E06A63}" srcOrd="15" destOrd="0" presId="urn:microsoft.com/office/officeart/2005/8/layout/list1"/>
    <dgm:cxn modelId="{D83B380D-6D8A-4AE2-83E1-C41B6089CAC8}" type="presParOf" srcId="{D33596F6-0387-4E81-AA22-5647C82493BE}" destId="{E0E7FA60-A656-4B29-87F9-7F82D17B286A}" srcOrd="16" destOrd="0" presId="urn:microsoft.com/office/officeart/2005/8/layout/list1"/>
    <dgm:cxn modelId="{063541F4-1BBC-4704-AAC2-F3D9B460CFA2}" type="presParOf" srcId="{E0E7FA60-A656-4B29-87F9-7F82D17B286A}" destId="{E1AEB959-A4BC-41CC-AB64-F143846F92DB}" srcOrd="0" destOrd="0" presId="urn:microsoft.com/office/officeart/2005/8/layout/list1"/>
    <dgm:cxn modelId="{AB8BD3C1-F6EB-43FE-8D39-04B33800FB23}" type="presParOf" srcId="{E0E7FA60-A656-4B29-87F9-7F82D17B286A}" destId="{0C6A1E47-160F-48B8-AA11-9C6661A01EF0}" srcOrd="1" destOrd="0" presId="urn:microsoft.com/office/officeart/2005/8/layout/list1"/>
    <dgm:cxn modelId="{5CB8606D-FC2D-475B-B948-1EC485A20E1A}" type="presParOf" srcId="{D33596F6-0387-4E81-AA22-5647C82493BE}" destId="{BAD03946-0A55-47BD-965E-E45D751CB5DC}" srcOrd="17" destOrd="0" presId="urn:microsoft.com/office/officeart/2005/8/layout/list1"/>
    <dgm:cxn modelId="{66E3A79B-A897-4D56-9293-96582461BD16}" type="presParOf" srcId="{D33596F6-0387-4E81-AA22-5647C82493BE}" destId="{106667C8-3CF0-475D-928B-58F7870A8F1D}" srcOrd="18" destOrd="0" presId="urn:microsoft.com/office/officeart/2005/8/layout/list1"/>
    <dgm:cxn modelId="{2A4419BA-3CA3-431F-B4A1-40FB35DDFEB5}" type="presParOf" srcId="{D33596F6-0387-4E81-AA22-5647C82493BE}" destId="{6D3776D5-0B96-433A-96A4-4B691747D87B}" srcOrd="19" destOrd="0" presId="urn:microsoft.com/office/officeart/2005/8/layout/list1"/>
    <dgm:cxn modelId="{8CC989BC-6698-4319-9E3C-7A8FFFE1B369}" type="presParOf" srcId="{D33596F6-0387-4E81-AA22-5647C82493BE}" destId="{0F4D78D1-E825-43BE-973F-422BE2880F8C}" srcOrd="20" destOrd="0" presId="urn:microsoft.com/office/officeart/2005/8/layout/list1"/>
    <dgm:cxn modelId="{0F17B831-5169-4DBF-8F30-275DFE3BA6F6}" type="presParOf" srcId="{0F4D78D1-E825-43BE-973F-422BE2880F8C}" destId="{C643665E-493B-4A4F-A717-9BEA8842CD90}" srcOrd="0" destOrd="0" presId="urn:microsoft.com/office/officeart/2005/8/layout/list1"/>
    <dgm:cxn modelId="{03A7344F-07D3-4210-B7DB-5D3D0A6EAC2C}" type="presParOf" srcId="{0F4D78D1-E825-43BE-973F-422BE2880F8C}" destId="{2FD1299F-359E-4584-9903-80A47193E03A}" srcOrd="1" destOrd="0" presId="urn:microsoft.com/office/officeart/2005/8/layout/list1"/>
    <dgm:cxn modelId="{C5F195C0-4A00-4A2C-8D4D-5ADD1CDB7ABD}" type="presParOf" srcId="{D33596F6-0387-4E81-AA22-5647C82493BE}" destId="{D04197B4-BEE9-4EF4-A590-38D9D71CB048}" srcOrd="21" destOrd="0" presId="urn:microsoft.com/office/officeart/2005/8/layout/list1"/>
    <dgm:cxn modelId="{3401EDAD-2FD3-45C1-B174-A101D89D48A8}" type="presParOf" srcId="{D33596F6-0387-4E81-AA22-5647C82493BE}" destId="{28326635-FDF9-47E5-86A2-9F72FD5D5F83}" srcOrd="22" destOrd="0" presId="urn:microsoft.com/office/officeart/2005/8/layout/list1"/>
    <dgm:cxn modelId="{2F2DF427-1D58-4671-AA1D-BB42A529D6D5}" type="presParOf" srcId="{D33596F6-0387-4E81-AA22-5647C82493BE}" destId="{9BD897F5-5206-492F-92E9-ACE95759DDA1}" srcOrd="23" destOrd="0" presId="urn:microsoft.com/office/officeart/2005/8/layout/list1"/>
    <dgm:cxn modelId="{C2124236-2A64-4B07-BFA5-6FE13757BE63}" type="presParOf" srcId="{D33596F6-0387-4E81-AA22-5647C82493BE}" destId="{BA463C80-169E-423B-8DA6-21D34FB75CFB}" srcOrd="24" destOrd="0" presId="urn:microsoft.com/office/officeart/2005/8/layout/list1"/>
    <dgm:cxn modelId="{FFF782A7-FF1E-4694-8F84-0622DD0483F6}" type="presParOf" srcId="{BA463C80-169E-423B-8DA6-21D34FB75CFB}" destId="{4624F777-1362-4433-A9BC-517B1F152F1B}" srcOrd="0" destOrd="0" presId="urn:microsoft.com/office/officeart/2005/8/layout/list1"/>
    <dgm:cxn modelId="{EDA76F2A-00E8-44F1-91EC-BCAFB1706810}" type="presParOf" srcId="{BA463C80-169E-423B-8DA6-21D34FB75CFB}" destId="{A88946DD-B105-49B6-823D-4C714B795B72}" srcOrd="1" destOrd="0" presId="urn:microsoft.com/office/officeart/2005/8/layout/list1"/>
    <dgm:cxn modelId="{236A18B8-0684-42E6-9C22-5227C985E254}" type="presParOf" srcId="{D33596F6-0387-4E81-AA22-5647C82493BE}" destId="{682E3F3B-9019-4BAE-93C4-B5F2E60E1463}" srcOrd="25" destOrd="0" presId="urn:microsoft.com/office/officeart/2005/8/layout/list1"/>
    <dgm:cxn modelId="{09B0B008-D811-48E1-9571-F0018076A9CC}" type="presParOf" srcId="{D33596F6-0387-4E81-AA22-5647C82493BE}" destId="{B206F4C0-C8F5-4434-8627-F8DD90B31BC8}" srcOrd="26" destOrd="0" presId="urn:microsoft.com/office/officeart/2005/8/layout/list1"/>
    <dgm:cxn modelId="{6A6B69DF-0002-40B1-9B10-2B0C7DCC5209}" type="presParOf" srcId="{D33596F6-0387-4E81-AA22-5647C82493BE}" destId="{44AC0A31-141E-4151-9B47-6AF1C9D47DA1}" srcOrd="27" destOrd="0" presId="urn:microsoft.com/office/officeart/2005/8/layout/list1"/>
    <dgm:cxn modelId="{58EA4132-4448-4AF2-A9F5-A743ACBE1132}" type="presParOf" srcId="{D33596F6-0387-4E81-AA22-5647C82493BE}" destId="{EB1C9E10-8E44-4874-B87E-6EE18E6AC2E5}" srcOrd="28" destOrd="0" presId="urn:microsoft.com/office/officeart/2005/8/layout/list1"/>
    <dgm:cxn modelId="{84B73D44-2362-439A-AA92-37EFD5AD5157}" type="presParOf" srcId="{EB1C9E10-8E44-4874-B87E-6EE18E6AC2E5}" destId="{7D1F8B56-433E-49F8-8CDE-7564F717983C}" srcOrd="0" destOrd="0" presId="urn:microsoft.com/office/officeart/2005/8/layout/list1"/>
    <dgm:cxn modelId="{2A724D0D-25AC-44C8-BFF1-9B1C0B414547}" type="presParOf" srcId="{EB1C9E10-8E44-4874-B87E-6EE18E6AC2E5}" destId="{4E445145-AED9-485B-A529-7927013B3642}" srcOrd="1" destOrd="0" presId="urn:microsoft.com/office/officeart/2005/8/layout/list1"/>
    <dgm:cxn modelId="{204FAF46-5E30-42A3-9741-D0DCF38F4519}" type="presParOf" srcId="{D33596F6-0387-4E81-AA22-5647C82493BE}" destId="{5743B155-0027-4866-8949-7A9A985431C2}" srcOrd="29" destOrd="0" presId="urn:microsoft.com/office/officeart/2005/8/layout/list1"/>
    <dgm:cxn modelId="{8B68BA02-DFC2-401C-84E8-E0C75081AA24}" type="presParOf" srcId="{D33596F6-0387-4E81-AA22-5647C82493BE}" destId="{5A2DE0B9-9DD7-4A30-AB19-7A350BC973E0}" srcOrd="30" destOrd="0" presId="urn:microsoft.com/office/officeart/2005/8/layout/list1"/>
    <dgm:cxn modelId="{88ACCAB1-C3B5-460E-8EF6-0E8AA3F5701D}" type="presParOf" srcId="{D33596F6-0387-4E81-AA22-5647C82493BE}" destId="{C839E168-6DCA-49C4-A279-4C8726A3F00F}" srcOrd="31" destOrd="0" presId="urn:microsoft.com/office/officeart/2005/8/layout/list1"/>
    <dgm:cxn modelId="{BE6ECBB9-FB76-478A-9C19-F51272CA1C03}" type="presParOf" srcId="{D33596F6-0387-4E81-AA22-5647C82493BE}" destId="{04C8FE97-EF29-469E-9B2A-43DC1CA2F0A8}" srcOrd="32" destOrd="0" presId="urn:microsoft.com/office/officeart/2005/8/layout/list1"/>
    <dgm:cxn modelId="{C99A77F0-7622-4971-9D38-7E15EE4A8885}" type="presParOf" srcId="{04C8FE97-EF29-469E-9B2A-43DC1CA2F0A8}" destId="{37FC5D2F-677F-4F91-851C-67233AF3BC09}" srcOrd="0" destOrd="0" presId="urn:microsoft.com/office/officeart/2005/8/layout/list1"/>
    <dgm:cxn modelId="{4B4B185F-7478-4A05-95A4-D285BD54AE05}" type="presParOf" srcId="{04C8FE97-EF29-469E-9B2A-43DC1CA2F0A8}" destId="{8E5ED251-328F-4D45-B653-72712F48C97C}" srcOrd="1" destOrd="0" presId="urn:microsoft.com/office/officeart/2005/8/layout/list1"/>
    <dgm:cxn modelId="{B9375EB7-9026-481F-A550-09CAC74F87A3}" type="presParOf" srcId="{D33596F6-0387-4E81-AA22-5647C82493BE}" destId="{DD7FEFC5-6CCF-4E33-8200-1C6338C57215}" srcOrd="33" destOrd="0" presId="urn:microsoft.com/office/officeart/2005/8/layout/list1"/>
    <dgm:cxn modelId="{F1B0D2D8-AAEE-416D-AEE0-B24E923BC82C}" type="presParOf" srcId="{D33596F6-0387-4E81-AA22-5647C82493BE}" destId="{9A8B2044-1180-4423-8EB4-D939AB910ED5}" srcOrd="34" destOrd="0" presId="urn:microsoft.com/office/officeart/2005/8/layout/list1"/>
    <dgm:cxn modelId="{D875DDF8-4998-457A-8BFD-A31B8DB2A6A1}" type="presParOf" srcId="{D33596F6-0387-4E81-AA22-5647C82493BE}" destId="{EEA0B182-CE03-4801-968E-A6523C6C51DD}" srcOrd="35" destOrd="0" presId="urn:microsoft.com/office/officeart/2005/8/layout/list1"/>
    <dgm:cxn modelId="{C7BB41DD-B694-468D-885E-BD1A94FE2C4F}" type="presParOf" srcId="{D33596F6-0387-4E81-AA22-5647C82493BE}" destId="{5A6BD477-FB58-4272-990C-AB164821E5C2}" srcOrd="36" destOrd="0" presId="urn:microsoft.com/office/officeart/2005/8/layout/list1"/>
    <dgm:cxn modelId="{5A12D69D-5DC9-4C42-9123-8C9BBF0640FC}" type="presParOf" srcId="{5A6BD477-FB58-4272-990C-AB164821E5C2}" destId="{20DE32C4-A022-45C2-876F-E5530BE71C74}" srcOrd="0" destOrd="0" presId="urn:microsoft.com/office/officeart/2005/8/layout/list1"/>
    <dgm:cxn modelId="{C540A03B-CA3B-46E2-BAC8-F512A8F55AE7}" type="presParOf" srcId="{5A6BD477-FB58-4272-990C-AB164821E5C2}" destId="{9BB86192-9B5D-4B8A-B3E2-2753259F3AE5}" srcOrd="1" destOrd="0" presId="urn:microsoft.com/office/officeart/2005/8/layout/list1"/>
    <dgm:cxn modelId="{42BC698F-E146-4132-BEC3-8C6A237B43A4}" type="presParOf" srcId="{D33596F6-0387-4E81-AA22-5647C82493BE}" destId="{9A3E241C-7BE5-4888-9ED8-D970D831CFE0}" srcOrd="37" destOrd="0" presId="urn:microsoft.com/office/officeart/2005/8/layout/list1"/>
    <dgm:cxn modelId="{79C5BF32-9904-4215-88BA-B83465C8D6C9}" type="presParOf" srcId="{D33596F6-0387-4E81-AA22-5647C82493BE}" destId="{5283829B-7D84-48A6-B86C-F83F61631188}" srcOrd="38" destOrd="0" presId="urn:microsoft.com/office/officeart/2005/8/layout/list1"/>
    <dgm:cxn modelId="{A8ECDDFF-92C4-48DB-A37B-BBFE63B44539}" type="presParOf" srcId="{D33596F6-0387-4E81-AA22-5647C82493BE}" destId="{FDD1C63A-D52D-42D6-860E-88D87D62737A}" srcOrd="39" destOrd="0" presId="urn:microsoft.com/office/officeart/2005/8/layout/list1"/>
    <dgm:cxn modelId="{CA126701-1912-4CDE-8AF8-BEE9DAB4C712}" type="presParOf" srcId="{D33596F6-0387-4E81-AA22-5647C82493BE}" destId="{A284800B-0AE4-4FDE-B6B3-FE7AA08A2750}" srcOrd="40" destOrd="0" presId="urn:microsoft.com/office/officeart/2005/8/layout/list1"/>
    <dgm:cxn modelId="{6E0AFB3A-1A64-4185-9F00-5DD466A988BB}" type="presParOf" srcId="{A284800B-0AE4-4FDE-B6B3-FE7AA08A2750}" destId="{0D1A94B7-2603-457B-A57E-FA0643B24BCF}" srcOrd="0" destOrd="0" presId="urn:microsoft.com/office/officeart/2005/8/layout/list1"/>
    <dgm:cxn modelId="{3D2F8F7E-1C1D-4FE9-9944-2F97D1F19299}" type="presParOf" srcId="{A284800B-0AE4-4FDE-B6B3-FE7AA08A2750}" destId="{A95029AC-89E1-4F1E-BC63-4C5EC467E6F8}" srcOrd="1" destOrd="0" presId="urn:microsoft.com/office/officeart/2005/8/layout/list1"/>
    <dgm:cxn modelId="{5839833F-7A12-4CFD-B9F3-A2F560C61E63}" type="presParOf" srcId="{D33596F6-0387-4E81-AA22-5647C82493BE}" destId="{2AC181DA-35BF-4601-A172-7CBA59D03847}" srcOrd="41" destOrd="0" presId="urn:microsoft.com/office/officeart/2005/8/layout/list1"/>
    <dgm:cxn modelId="{9986BE7E-E2FA-4839-B19B-F626E8F24F5F}" type="presParOf" srcId="{D33596F6-0387-4E81-AA22-5647C82493BE}" destId="{FEC97E0D-CDAF-48B7-8E98-10CDC073A59E}" srcOrd="42" destOrd="0" presId="urn:microsoft.com/office/officeart/2005/8/layout/list1"/>
    <dgm:cxn modelId="{CDF4C6A3-640A-494E-82A1-5DD505D9124A}" type="presParOf" srcId="{D33596F6-0387-4E81-AA22-5647C82493BE}" destId="{CC430766-D98E-4871-B458-2CC4445FE75E}" srcOrd="43" destOrd="0" presId="urn:microsoft.com/office/officeart/2005/8/layout/list1"/>
    <dgm:cxn modelId="{14403300-6F4A-4267-A1DD-2F057D3816E6}" type="presParOf" srcId="{D33596F6-0387-4E81-AA22-5647C82493BE}" destId="{5ABA514C-2F5C-4985-8DAC-1AC103B900E9}" srcOrd="44" destOrd="0" presId="urn:microsoft.com/office/officeart/2005/8/layout/list1"/>
    <dgm:cxn modelId="{DBDAD8B6-8E2F-408F-961D-3C7F6919005A}" type="presParOf" srcId="{5ABA514C-2F5C-4985-8DAC-1AC103B900E9}" destId="{2D7C452A-A490-4694-A122-46DDAA541280}" srcOrd="0" destOrd="0" presId="urn:microsoft.com/office/officeart/2005/8/layout/list1"/>
    <dgm:cxn modelId="{42214C61-395B-4BBF-91E3-3B3D96D0B78C}" type="presParOf" srcId="{5ABA514C-2F5C-4985-8DAC-1AC103B900E9}" destId="{ED7B8F8B-D588-48E6-B9D8-54BB6B12A690}" srcOrd="1" destOrd="0" presId="urn:microsoft.com/office/officeart/2005/8/layout/list1"/>
    <dgm:cxn modelId="{AFC03D8E-D117-4D51-8FF1-801E9DF1EE79}" type="presParOf" srcId="{D33596F6-0387-4E81-AA22-5647C82493BE}" destId="{29063C17-BDC9-49C8-9442-C1CCB8B96E3D}" srcOrd="45" destOrd="0" presId="urn:microsoft.com/office/officeart/2005/8/layout/list1"/>
    <dgm:cxn modelId="{240D24E5-98CF-4C66-A0B6-3DF02F802CE9}" type="presParOf" srcId="{D33596F6-0387-4E81-AA22-5647C82493BE}" destId="{BC94104F-623C-4B87-8839-AFCA25DD98C0}" srcOrd="4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FC28A39-CEFE-4F73-9077-8360496B80DC}" type="doc">
      <dgm:prSet loTypeId="urn:microsoft.com/office/officeart/2005/8/layout/vList2" loCatId="list" qsTypeId="urn:microsoft.com/office/officeart/2005/8/quickstyle/simple3" qsCatId="simple" csTypeId="urn:microsoft.com/office/officeart/2005/8/colors/accent1_5" csCatId="accent1" phldr="1"/>
      <dgm:spPr/>
      <dgm:t>
        <a:bodyPr/>
        <a:lstStyle/>
        <a:p>
          <a:endParaRPr lang="en-US"/>
        </a:p>
      </dgm:t>
    </dgm:pt>
    <dgm:pt modelId="{878553B2-7AB2-46D0-931C-E2E8587F8541}">
      <dgm:prSet custT="1"/>
      <dgm:spPr/>
      <dgm:t>
        <a:bodyPr/>
        <a:lstStyle/>
        <a:p>
          <a:pPr rtl="0"/>
          <a:r>
            <a:rPr lang="en-US" sz="1800" dirty="0">
              <a:solidFill>
                <a:srgbClr val="002060"/>
              </a:solidFill>
            </a:rPr>
            <a:t>Students should have the knowledge of computer organization</a:t>
          </a:r>
        </a:p>
      </dgm:t>
    </dgm:pt>
    <dgm:pt modelId="{F71B97A4-CEE4-4B79-B4DE-CE3B193A629F}" type="parTrans" cxnId="{CBD3A26E-CB15-42AA-AB1D-497E41D0DB02}">
      <dgm:prSet/>
      <dgm:spPr/>
      <dgm:t>
        <a:bodyPr/>
        <a:lstStyle/>
        <a:p>
          <a:endParaRPr lang="en-US"/>
        </a:p>
      </dgm:t>
    </dgm:pt>
    <dgm:pt modelId="{7B1727D7-BB73-46B5-99C8-B468CE97E783}" type="sibTrans" cxnId="{CBD3A26E-CB15-42AA-AB1D-497E41D0DB02}">
      <dgm:prSet/>
      <dgm:spPr/>
      <dgm:t>
        <a:bodyPr/>
        <a:lstStyle/>
        <a:p>
          <a:endParaRPr lang="en-US"/>
        </a:p>
      </dgm:t>
    </dgm:pt>
    <dgm:pt modelId="{8899F491-005D-4F6B-817E-2178B1CE4EEB}">
      <dgm:prSet custT="1"/>
      <dgm:spPr/>
      <dgm:t>
        <a:bodyPr/>
        <a:lstStyle/>
        <a:p>
          <a:pPr rtl="0"/>
          <a:r>
            <a:rPr lang="en-US" sz="1800" dirty="0">
              <a:solidFill>
                <a:srgbClr val="002060"/>
              </a:solidFill>
            </a:rPr>
            <a:t>Students should know the artificial intelligence basic concepts. </a:t>
          </a:r>
        </a:p>
      </dgm:t>
    </dgm:pt>
    <dgm:pt modelId="{4C8B1D2D-25CB-4068-AB25-4B05EBEC8901}" type="parTrans" cxnId="{66301D15-22B9-4BD6-9833-6571569DBDB7}">
      <dgm:prSet/>
      <dgm:spPr/>
      <dgm:t>
        <a:bodyPr/>
        <a:lstStyle/>
        <a:p>
          <a:endParaRPr lang="en-US"/>
        </a:p>
      </dgm:t>
    </dgm:pt>
    <dgm:pt modelId="{61B65048-1390-43D1-A8DB-4A727BB29741}" type="sibTrans" cxnId="{66301D15-22B9-4BD6-9833-6571569DBDB7}">
      <dgm:prSet/>
      <dgm:spPr/>
      <dgm:t>
        <a:bodyPr/>
        <a:lstStyle/>
        <a:p>
          <a:endParaRPr lang="en-US"/>
        </a:p>
      </dgm:t>
    </dgm:pt>
    <dgm:pt modelId="{27020DC9-4531-4652-A243-695A6126C379}">
      <dgm:prSet custT="1"/>
      <dgm:spPr/>
      <dgm:t>
        <a:bodyPr/>
        <a:lstStyle/>
        <a:p>
          <a:pPr rtl="0"/>
          <a:r>
            <a:rPr lang="en-US" sz="1800" dirty="0">
              <a:solidFill>
                <a:srgbClr val="002060"/>
              </a:solidFill>
            </a:rPr>
            <a:t>Students should be able to create, design and manipulate the images and idea about pixels</a:t>
          </a:r>
        </a:p>
      </dgm:t>
    </dgm:pt>
    <dgm:pt modelId="{3B3688DD-9A38-4953-B425-34C7C9EAA2AD}" type="sibTrans" cxnId="{8C44F8DE-B802-4E48-A637-75A25B987C4A}">
      <dgm:prSet/>
      <dgm:spPr/>
      <dgm:t>
        <a:bodyPr/>
        <a:lstStyle/>
        <a:p>
          <a:endParaRPr lang="en-US"/>
        </a:p>
      </dgm:t>
    </dgm:pt>
    <dgm:pt modelId="{06774066-0DAF-4B4C-97F1-45C84C713B57}" type="parTrans" cxnId="{8C44F8DE-B802-4E48-A637-75A25B987C4A}">
      <dgm:prSet/>
      <dgm:spPr/>
      <dgm:t>
        <a:bodyPr/>
        <a:lstStyle/>
        <a:p>
          <a:endParaRPr lang="en-US"/>
        </a:p>
      </dgm:t>
    </dgm:pt>
    <dgm:pt modelId="{ED12C27D-48EC-46B3-BCD0-10543FA21F01}" type="pres">
      <dgm:prSet presAssocID="{1FC28A39-CEFE-4F73-9077-8360496B80DC}" presName="linear" presStyleCnt="0">
        <dgm:presLayoutVars>
          <dgm:animLvl val="lvl"/>
          <dgm:resizeHandles val="exact"/>
        </dgm:presLayoutVars>
      </dgm:prSet>
      <dgm:spPr/>
    </dgm:pt>
    <dgm:pt modelId="{52FA7E8A-D5D9-47CB-81AF-F7191FAE1B94}" type="pres">
      <dgm:prSet presAssocID="{878553B2-7AB2-46D0-931C-E2E8587F8541}" presName="parentText" presStyleLbl="node1" presStyleIdx="0" presStyleCnt="3">
        <dgm:presLayoutVars>
          <dgm:chMax val="0"/>
          <dgm:bulletEnabled val="1"/>
        </dgm:presLayoutVars>
      </dgm:prSet>
      <dgm:spPr/>
    </dgm:pt>
    <dgm:pt modelId="{705AE775-66DB-4E07-AEC5-2FCCA3611473}" type="pres">
      <dgm:prSet presAssocID="{7B1727D7-BB73-46B5-99C8-B468CE97E783}" presName="spacer" presStyleCnt="0"/>
      <dgm:spPr/>
    </dgm:pt>
    <dgm:pt modelId="{79A547AB-E9E5-45A9-B71D-435BE91D3ADD}" type="pres">
      <dgm:prSet presAssocID="{8899F491-005D-4F6B-817E-2178B1CE4EEB}" presName="parentText" presStyleLbl="node1" presStyleIdx="1" presStyleCnt="3">
        <dgm:presLayoutVars>
          <dgm:chMax val="0"/>
          <dgm:bulletEnabled val="1"/>
        </dgm:presLayoutVars>
      </dgm:prSet>
      <dgm:spPr/>
    </dgm:pt>
    <dgm:pt modelId="{FA0F0EB9-7FC5-4C15-8285-BD08D79D5336}" type="pres">
      <dgm:prSet presAssocID="{61B65048-1390-43D1-A8DB-4A727BB29741}" presName="spacer" presStyleCnt="0"/>
      <dgm:spPr/>
    </dgm:pt>
    <dgm:pt modelId="{48FAC247-B64A-44FB-9BF6-C529E8C91B3B}" type="pres">
      <dgm:prSet presAssocID="{27020DC9-4531-4652-A243-695A6126C379}" presName="parentText" presStyleLbl="node1" presStyleIdx="2" presStyleCnt="3">
        <dgm:presLayoutVars>
          <dgm:chMax val="0"/>
          <dgm:bulletEnabled val="1"/>
        </dgm:presLayoutVars>
      </dgm:prSet>
      <dgm:spPr/>
    </dgm:pt>
  </dgm:ptLst>
  <dgm:cxnLst>
    <dgm:cxn modelId="{66301D15-22B9-4BD6-9833-6571569DBDB7}" srcId="{1FC28A39-CEFE-4F73-9077-8360496B80DC}" destId="{8899F491-005D-4F6B-817E-2178B1CE4EEB}" srcOrd="1" destOrd="0" parTransId="{4C8B1D2D-25CB-4068-AB25-4B05EBEC8901}" sibTransId="{61B65048-1390-43D1-A8DB-4A727BB29741}"/>
    <dgm:cxn modelId="{3F44403B-BFA6-4044-9204-D5A328B17CF5}" type="presOf" srcId="{8899F491-005D-4F6B-817E-2178B1CE4EEB}" destId="{79A547AB-E9E5-45A9-B71D-435BE91D3ADD}" srcOrd="0" destOrd="0" presId="urn:microsoft.com/office/officeart/2005/8/layout/vList2"/>
    <dgm:cxn modelId="{9ACD545D-5EFA-4402-B948-5162B6DA8B7D}" type="presOf" srcId="{1FC28A39-CEFE-4F73-9077-8360496B80DC}" destId="{ED12C27D-48EC-46B3-BCD0-10543FA21F01}" srcOrd="0" destOrd="0" presId="urn:microsoft.com/office/officeart/2005/8/layout/vList2"/>
    <dgm:cxn modelId="{2717896E-9541-47B3-A83F-10D3B2B25D00}" type="presOf" srcId="{878553B2-7AB2-46D0-931C-E2E8587F8541}" destId="{52FA7E8A-D5D9-47CB-81AF-F7191FAE1B94}" srcOrd="0" destOrd="0" presId="urn:microsoft.com/office/officeart/2005/8/layout/vList2"/>
    <dgm:cxn modelId="{CBD3A26E-CB15-42AA-AB1D-497E41D0DB02}" srcId="{1FC28A39-CEFE-4F73-9077-8360496B80DC}" destId="{878553B2-7AB2-46D0-931C-E2E8587F8541}" srcOrd="0" destOrd="0" parTransId="{F71B97A4-CEE4-4B79-B4DE-CE3B193A629F}" sibTransId="{7B1727D7-BB73-46B5-99C8-B468CE97E783}"/>
    <dgm:cxn modelId="{B9847759-E2F6-466C-B29F-FDF9EEB19119}" type="presOf" srcId="{27020DC9-4531-4652-A243-695A6126C379}" destId="{48FAC247-B64A-44FB-9BF6-C529E8C91B3B}" srcOrd="0" destOrd="0" presId="urn:microsoft.com/office/officeart/2005/8/layout/vList2"/>
    <dgm:cxn modelId="{8C44F8DE-B802-4E48-A637-75A25B987C4A}" srcId="{1FC28A39-CEFE-4F73-9077-8360496B80DC}" destId="{27020DC9-4531-4652-A243-695A6126C379}" srcOrd="2" destOrd="0" parTransId="{06774066-0DAF-4B4C-97F1-45C84C713B57}" sibTransId="{3B3688DD-9A38-4953-B425-34C7C9EAA2AD}"/>
    <dgm:cxn modelId="{B6703A23-0D4D-4B54-A35E-4A181FEFECE1}" type="presParOf" srcId="{ED12C27D-48EC-46B3-BCD0-10543FA21F01}" destId="{52FA7E8A-D5D9-47CB-81AF-F7191FAE1B94}" srcOrd="0" destOrd="0" presId="urn:microsoft.com/office/officeart/2005/8/layout/vList2"/>
    <dgm:cxn modelId="{7A198B5B-6C12-41E4-8991-BB6C10C45F83}" type="presParOf" srcId="{ED12C27D-48EC-46B3-BCD0-10543FA21F01}" destId="{705AE775-66DB-4E07-AEC5-2FCCA3611473}" srcOrd="1" destOrd="0" presId="urn:microsoft.com/office/officeart/2005/8/layout/vList2"/>
    <dgm:cxn modelId="{068A3B8D-DE27-4B27-BB1D-C57DA570EFFD}" type="presParOf" srcId="{ED12C27D-48EC-46B3-BCD0-10543FA21F01}" destId="{79A547AB-E9E5-45A9-B71D-435BE91D3ADD}" srcOrd="2" destOrd="0" presId="urn:microsoft.com/office/officeart/2005/8/layout/vList2"/>
    <dgm:cxn modelId="{4BF526A6-9D25-4823-B8CA-A9F492164D7C}" type="presParOf" srcId="{ED12C27D-48EC-46B3-BCD0-10543FA21F01}" destId="{FA0F0EB9-7FC5-4C15-8285-BD08D79D5336}" srcOrd="3" destOrd="0" presId="urn:microsoft.com/office/officeart/2005/8/layout/vList2"/>
    <dgm:cxn modelId="{203726D3-4174-4724-A855-8586C8C7E505}" type="presParOf" srcId="{ED12C27D-48EC-46B3-BCD0-10543FA21F01}" destId="{48FAC247-B64A-44FB-9BF6-C529E8C91B3B}"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38970"/>
          <a:ext cx="8839200" cy="472714"/>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a:t>Introduction to Computer Vision </a:t>
          </a:r>
          <a:endParaRPr lang="en-IN" sz="2000" kern="1200" dirty="0"/>
        </a:p>
      </dsp:txBody>
      <dsp:txXfrm>
        <a:off x="23076" y="62046"/>
        <a:ext cx="8793048" cy="426562"/>
      </dsp:txXfrm>
    </dsp:sp>
    <dsp:sp modelId="{7B5D70F3-324A-4EA4-B0FC-AAC4C5B99002}">
      <dsp:nvSpPr>
        <dsp:cNvPr id="0" name=""/>
        <dsp:cNvSpPr/>
      </dsp:nvSpPr>
      <dsp:spPr>
        <a:xfrm>
          <a:off x="0" y="626440"/>
          <a:ext cx="8839200" cy="2567565"/>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GB" sz="2100" kern="1200" dirty="0"/>
            <a:t>Computer Vision, Research and Applications, (Self-Driving Cars, Facial Recognition, Augmented &amp; Mixed Reality, Healthcare). Most popular examples Categorization of Images, Object Detection, Observation of Moving Objects, Retrieval of Images Based on Their Contents, Computer Vision Tasks classification, object detection, Instance segmentation. Convolutional Neural Networks, Evolution of CNN Architectures for Image, Recent CNN </a:t>
          </a:r>
          <a:endParaRPr lang="en-IN" sz="2100" kern="1200" dirty="0"/>
        </a:p>
      </dsp:txBody>
      <dsp:txXfrm>
        <a:off x="125338" y="751778"/>
        <a:ext cx="8588524" cy="23168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0"/>
          <a:ext cx="8839200" cy="255461"/>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Architectures</a:t>
          </a:r>
          <a:r>
            <a:rPr lang="en-GB" sz="2000" kern="1200" dirty="0"/>
            <a:t>  </a:t>
          </a:r>
          <a:endParaRPr lang="en-IN" sz="2000" kern="1200" dirty="0"/>
        </a:p>
      </dsp:txBody>
      <dsp:txXfrm>
        <a:off x="12471" y="12471"/>
        <a:ext cx="8814258" cy="230519"/>
      </dsp:txXfrm>
    </dsp:sp>
    <dsp:sp modelId="{7B5D70F3-324A-4EA4-B0FC-AAC4C5B99002}">
      <dsp:nvSpPr>
        <dsp:cNvPr id="0" name=""/>
        <dsp:cNvSpPr/>
      </dsp:nvSpPr>
      <dsp:spPr>
        <a:xfrm>
          <a:off x="0" y="337186"/>
          <a:ext cx="8839200" cy="138754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kern="1200" dirty="0"/>
            <a:t>Representation of a Three-Dimensional Moving Scene. Convolutional layers, pooling layers, and padding. Transfer learning and pre-trained models Architectures.   </a:t>
          </a:r>
          <a:endParaRPr lang="en-IN" sz="2400" kern="1200" dirty="0"/>
        </a:p>
      </dsp:txBody>
      <dsp:txXfrm>
        <a:off x="67734" y="404920"/>
        <a:ext cx="8703732" cy="1252078"/>
      </dsp:txXfrm>
    </dsp:sp>
    <dsp:sp modelId="{80F49CB3-EE90-49B1-AF3F-EAAE5DF558FE}">
      <dsp:nvSpPr>
        <dsp:cNvPr id="0" name=""/>
        <dsp:cNvSpPr/>
      </dsp:nvSpPr>
      <dsp:spPr>
        <a:xfrm>
          <a:off x="0" y="1796733"/>
          <a:ext cx="8839200" cy="138754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kern="1200"/>
            <a:t>Architectures Design: LeNet-5, AlexNet, VGGNet, GoogLeNet, ResNet, Efficient Net, Mobile Net, RNN Introduction.     </a:t>
          </a:r>
          <a:endParaRPr lang="en-IN" sz="2400" kern="1200"/>
        </a:p>
      </dsp:txBody>
      <dsp:txXfrm>
        <a:off x="67734" y="1864467"/>
        <a:ext cx="8703732" cy="125207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10179"/>
          <a:ext cx="8839200" cy="284258"/>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Segmentation </a:t>
          </a:r>
          <a:r>
            <a:rPr lang="en-GB" sz="2000" kern="1200" dirty="0"/>
            <a:t>  </a:t>
          </a:r>
          <a:endParaRPr lang="en-IN" sz="2000" kern="1200" dirty="0"/>
        </a:p>
      </dsp:txBody>
      <dsp:txXfrm>
        <a:off x="13876" y="24055"/>
        <a:ext cx="8811448" cy="256506"/>
      </dsp:txXfrm>
    </dsp:sp>
    <dsp:sp modelId="{6C14554A-219F-4E02-A840-5F086559B97D}">
      <dsp:nvSpPr>
        <dsp:cNvPr id="0" name=""/>
        <dsp:cNvSpPr/>
      </dsp:nvSpPr>
      <dsp:spPr>
        <a:xfrm>
          <a:off x="0" y="383245"/>
          <a:ext cx="8839200" cy="2763613"/>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GB" sz="1700" kern="1200"/>
            <a:t>Popular Image Segmentation Architectures, FCN Architecture, Upsampling Methods, Pixel Transformations, Geometric Operations, Spatial Operations in Image Processing, Instance Segmentation, Localisation, Object detection and image segmentation using CNNs, LSTM and GRU’s. Vision Models, Vision Languages, Quality Analysis, Visual Dialogue,   Active Contours &amp; Application, Split &amp; Merge, Mean Shift &amp; Mode Finding, Normalized Cuts. </a:t>
          </a:r>
          <a:endParaRPr lang="en-IN" sz="1700" kern="1200"/>
        </a:p>
      </dsp:txBody>
      <dsp:txXfrm>
        <a:off x="134908" y="518153"/>
        <a:ext cx="8569384" cy="249379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63894"/>
          <a:ext cx="8839200" cy="44632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Object Detection </a:t>
          </a:r>
          <a:r>
            <a:rPr lang="en-GB" sz="2000" kern="1200" dirty="0"/>
            <a:t> </a:t>
          </a:r>
          <a:endParaRPr lang="en-IN" sz="2000" kern="1200" dirty="0"/>
        </a:p>
      </dsp:txBody>
      <dsp:txXfrm>
        <a:off x="21788" y="85682"/>
        <a:ext cx="8795624" cy="402750"/>
      </dsp:txXfrm>
    </dsp:sp>
    <dsp:sp modelId="{80F49CB3-EE90-49B1-AF3F-EAAE5DF558FE}">
      <dsp:nvSpPr>
        <dsp:cNvPr id="0" name=""/>
        <dsp:cNvSpPr/>
      </dsp:nvSpPr>
      <dsp:spPr>
        <a:xfrm>
          <a:off x="0" y="648366"/>
          <a:ext cx="8839200" cy="2424240"/>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GB" sz="2700" kern="1200" dirty="0"/>
            <a:t>Object Detection and Sliding Windows, R-CNN, Fast R-CNN, Object Recognition, 3-D vision and Geometry, Digital Watermarking. Object Detection, face recognition instance Recognition, Category Recognition   Objects, Scenes, Activities, Object classification. </a:t>
          </a:r>
          <a:endParaRPr lang="en-IN" sz="2700" kern="1200" dirty="0"/>
        </a:p>
      </dsp:txBody>
      <dsp:txXfrm>
        <a:off x="118342" y="766708"/>
        <a:ext cx="8602516" cy="218755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63894"/>
          <a:ext cx="8839200" cy="44632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Visualization and Generative Models</a:t>
          </a:r>
          <a:r>
            <a:rPr lang="en-GB" sz="2000" kern="1200" dirty="0"/>
            <a:t> </a:t>
          </a:r>
          <a:endParaRPr lang="en-IN" sz="2000" kern="1200" dirty="0"/>
        </a:p>
      </dsp:txBody>
      <dsp:txXfrm>
        <a:off x="21788" y="85682"/>
        <a:ext cx="8795624" cy="402750"/>
      </dsp:txXfrm>
    </dsp:sp>
    <dsp:sp modelId="{80F49CB3-EE90-49B1-AF3F-EAAE5DF558FE}">
      <dsp:nvSpPr>
        <dsp:cNvPr id="0" name=""/>
        <dsp:cNvSpPr/>
      </dsp:nvSpPr>
      <dsp:spPr>
        <a:xfrm>
          <a:off x="0" y="648366"/>
          <a:ext cx="8839200" cy="2424240"/>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GB" sz="2700" kern="1200" dirty="0"/>
            <a:t>Object Detection and Sliding Windows, R-CNN, Fast R-CNN, Object Recognition, 3-D vision and Geometry, Digital Watermarking. Object Detection, face recognition instance Recognition, Category Recognition   Objects, Scenes, Activities, Object classification. </a:t>
          </a:r>
          <a:endParaRPr lang="en-IN" sz="2700" kern="1200" dirty="0"/>
        </a:p>
      </dsp:txBody>
      <dsp:txXfrm>
        <a:off x="118342" y="766708"/>
        <a:ext cx="8602516" cy="218755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F9DC1-8189-462F-9CE6-DAB413F95679}">
      <dsp:nvSpPr>
        <dsp:cNvPr id="0" name=""/>
        <dsp:cNvSpPr/>
      </dsp:nvSpPr>
      <dsp:spPr>
        <a:xfrm>
          <a:off x="0" y="596134"/>
          <a:ext cx="8458200" cy="1260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19B87EFE-EE8E-4D49-80CB-CB255DC90386}">
      <dsp:nvSpPr>
        <dsp:cNvPr id="0" name=""/>
        <dsp:cNvSpPr/>
      </dsp:nvSpPr>
      <dsp:spPr>
        <a:xfrm>
          <a:off x="70535" y="0"/>
          <a:ext cx="8079389" cy="361137"/>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b="1" kern="1200" dirty="0"/>
            <a:t>Object Detection </a:t>
          </a:r>
          <a:endParaRPr lang="en-US" sz="1800" b="1" kern="1200" dirty="0">
            <a:latin typeface="Times New Roman" panose="02020603050405020304" pitchFamily="18" charset="0"/>
            <a:cs typeface="Times New Roman" panose="02020603050405020304" pitchFamily="18" charset="0"/>
          </a:endParaRPr>
        </a:p>
      </dsp:txBody>
      <dsp:txXfrm>
        <a:off x="88164" y="17629"/>
        <a:ext cx="8044131" cy="325879"/>
      </dsp:txXfrm>
    </dsp:sp>
    <dsp:sp modelId="{E87BA916-7EC7-4CD1-8B4E-67D8E09E31D4}">
      <dsp:nvSpPr>
        <dsp:cNvPr id="0" name=""/>
        <dsp:cNvSpPr/>
      </dsp:nvSpPr>
      <dsp:spPr>
        <a:xfrm>
          <a:off x="0" y="1178559"/>
          <a:ext cx="8458200" cy="1260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02102633-764F-4C30-AEC0-514F4F7EC8B5}">
      <dsp:nvSpPr>
        <dsp:cNvPr id="0" name=""/>
        <dsp:cNvSpPr/>
      </dsp:nvSpPr>
      <dsp:spPr>
        <a:xfrm>
          <a:off x="66679" y="722319"/>
          <a:ext cx="8056207" cy="503224"/>
        </a:xfrm>
        <a:prstGeom prst="roundRect">
          <a:avLst/>
        </a:prstGeom>
        <a:solidFill>
          <a:srgbClr val="CC0066"/>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kern="1200" dirty="0"/>
            <a:t>Object Detection and Sliding Windows</a:t>
          </a:r>
          <a:endParaRPr lang="en-IN" sz="1800" b="1" kern="1200" dirty="0">
            <a:latin typeface="Times New Roman" panose="02020603050405020304" pitchFamily="18" charset="0"/>
            <a:cs typeface="Times New Roman" panose="02020603050405020304" pitchFamily="18" charset="0"/>
          </a:endParaRPr>
        </a:p>
      </dsp:txBody>
      <dsp:txXfrm>
        <a:off x="91244" y="746884"/>
        <a:ext cx="8007077" cy="454094"/>
      </dsp:txXfrm>
    </dsp:sp>
    <dsp:sp modelId="{68CDAE6D-2177-473E-B1D2-93C9EFCC18CB}">
      <dsp:nvSpPr>
        <dsp:cNvPr id="0" name=""/>
        <dsp:cNvSpPr/>
      </dsp:nvSpPr>
      <dsp:spPr>
        <a:xfrm>
          <a:off x="0" y="1573340"/>
          <a:ext cx="8458200" cy="1260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C850BFBB-0B1B-410F-A98B-7EF17C078B0E}">
      <dsp:nvSpPr>
        <dsp:cNvPr id="0" name=""/>
        <dsp:cNvSpPr/>
      </dsp:nvSpPr>
      <dsp:spPr>
        <a:xfrm>
          <a:off x="402673" y="1331559"/>
          <a:ext cx="8053453" cy="315580"/>
        </a:xfrm>
        <a:prstGeom prst="roundRect">
          <a:avLst/>
        </a:prstGeom>
        <a:solidFill>
          <a:srgbClr val="003300"/>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kern="1200" dirty="0"/>
            <a:t>R-CNN</a:t>
          </a:r>
          <a:endParaRPr lang="en-IN" sz="1800" b="1" kern="1200" dirty="0">
            <a:latin typeface="Times New Roman" panose="02020603050405020304" pitchFamily="18" charset="0"/>
            <a:cs typeface="Times New Roman" panose="02020603050405020304" pitchFamily="18" charset="0"/>
          </a:endParaRPr>
        </a:p>
      </dsp:txBody>
      <dsp:txXfrm>
        <a:off x="418078" y="1346964"/>
        <a:ext cx="8022643" cy="284770"/>
      </dsp:txXfrm>
    </dsp:sp>
    <dsp:sp modelId="{8DC83C71-1B61-465E-B18F-3CFC15A71AA9}">
      <dsp:nvSpPr>
        <dsp:cNvPr id="0" name=""/>
        <dsp:cNvSpPr/>
      </dsp:nvSpPr>
      <dsp:spPr>
        <a:xfrm>
          <a:off x="0" y="1846690"/>
          <a:ext cx="8458200" cy="1260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A5578C90-49C9-4052-BE4C-0B5BBC1CAF61}">
      <dsp:nvSpPr>
        <dsp:cNvPr id="0" name=""/>
        <dsp:cNvSpPr/>
      </dsp:nvSpPr>
      <dsp:spPr>
        <a:xfrm>
          <a:off x="422910" y="1726340"/>
          <a:ext cx="7307318" cy="194150"/>
        </a:xfrm>
        <a:prstGeom prst="roundRect">
          <a:avLst/>
        </a:prstGeom>
        <a:solidFill>
          <a:srgbClr val="0070C0"/>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kern="1200" dirty="0"/>
            <a:t>Fast R-CNN</a:t>
          </a:r>
          <a:endParaRPr lang="en-IN" sz="1800" b="1" kern="1200" dirty="0">
            <a:latin typeface="Times New Roman" panose="02020603050405020304" pitchFamily="18" charset="0"/>
            <a:cs typeface="Times New Roman" panose="02020603050405020304" pitchFamily="18" charset="0"/>
          </a:endParaRPr>
        </a:p>
      </dsp:txBody>
      <dsp:txXfrm>
        <a:off x="432388" y="1735818"/>
        <a:ext cx="7288362" cy="175194"/>
      </dsp:txXfrm>
    </dsp:sp>
    <dsp:sp modelId="{106667C8-3CF0-475D-928B-58F7870A8F1D}">
      <dsp:nvSpPr>
        <dsp:cNvPr id="0" name=""/>
        <dsp:cNvSpPr/>
      </dsp:nvSpPr>
      <dsp:spPr>
        <a:xfrm>
          <a:off x="0" y="2201233"/>
          <a:ext cx="8458200" cy="1260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0C6A1E47-160F-48B8-AA11-9C6661A01EF0}">
      <dsp:nvSpPr>
        <dsp:cNvPr id="0" name=""/>
        <dsp:cNvSpPr/>
      </dsp:nvSpPr>
      <dsp:spPr>
        <a:xfrm>
          <a:off x="422910" y="1999690"/>
          <a:ext cx="7307318" cy="275343"/>
        </a:xfrm>
        <a:prstGeom prst="roundRect">
          <a:avLst/>
        </a:prstGeom>
        <a:solidFill>
          <a:srgbClr val="003300"/>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kern="1200" dirty="0"/>
            <a:t>Object Recognition</a:t>
          </a:r>
          <a:endParaRPr lang="en-IN" sz="1800" b="1" kern="1200" dirty="0">
            <a:latin typeface="Times New Roman" panose="02020603050405020304" pitchFamily="18" charset="0"/>
            <a:cs typeface="Times New Roman" panose="02020603050405020304" pitchFamily="18" charset="0"/>
          </a:endParaRPr>
        </a:p>
      </dsp:txBody>
      <dsp:txXfrm>
        <a:off x="436351" y="2013131"/>
        <a:ext cx="7280436" cy="248461"/>
      </dsp:txXfrm>
    </dsp:sp>
    <dsp:sp modelId="{28326635-FDF9-47E5-86A2-9F72FD5D5F83}">
      <dsp:nvSpPr>
        <dsp:cNvPr id="0" name=""/>
        <dsp:cNvSpPr/>
      </dsp:nvSpPr>
      <dsp:spPr>
        <a:xfrm>
          <a:off x="0" y="2682776"/>
          <a:ext cx="8458200" cy="1260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2FD1299F-359E-4584-9903-80A47193E03A}">
      <dsp:nvSpPr>
        <dsp:cNvPr id="0" name=""/>
        <dsp:cNvSpPr/>
      </dsp:nvSpPr>
      <dsp:spPr>
        <a:xfrm>
          <a:off x="422910" y="2354233"/>
          <a:ext cx="7307318" cy="402342"/>
        </a:xfrm>
        <a:prstGeom prst="roundRect">
          <a:avLst/>
        </a:prstGeom>
        <a:solidFill>
          <a:srgbClr val="C00000"/>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kern="1200" dirty="0"/>
            <a:t>3-D vision and Geometry</a:t>
          </a:r>
          <a:endParaRPr lang="en-IN" sz="1800" b="1" kern="1200" dirty="0">
            <a:latin typeface="Times New Roman" panose="02020603050405020304" pitchFamily="18" charset="0"/>
            <a:cs typeface="Times New Roman" panose="02020603050405020304" pitchFamily="18" charset="0"/>
          </a:endParaRPr>
        </a:p>
      </dsp:txBody>
      <dsp:txXfrm>
        <a:off x="442551" y="2373874"/>
        <a:ext cx="7268036" cy="363060"/>
      </dsp:txXfrm>
    </dsp:sp>
    <dsp:sp modelId="{B206F4C0-C8F5-4434-8627-F8DD90B31BC8}">
      <dsp:nvSpPr>
        <dsp:cNvPr id="0" name=""/>
        <dsp:cNvSpPr/>
      </dsp:nvSpPr>
      <dsp:spPr>
        <a:xfrm>
          <a:off x="0" y="3126220"/>
          <a:ext cx="8458200" cy="1260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A88946DD-B105-49B6-823D-4C714B795B72}">
      <dsp:nvSpPr>
        <dsp:cNvPr id="0" name=""/>
        <dsp:cNvSpPr/>
      </dsp:nvSpPr>
      <dsp:spPr>
        <a:xfrm>
          <a:off x="422910" y="2835776"/>
          <a:ext cx="7307318" cy="364244"/>
        </a:xfrm>
        <a:prstGeom prst="roundRect">
          <a:avLst/>
        </a:prstGeom>
        <a:solidFill>
          <a:srgbClr val="FF3300"/>
        </a:soli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kern="1200" dirty="0"/>
            <a:t>, Digital Watermarking</a:t>
          </a:r>
          <a:endParaRPr lang="en-IN" sz="1800" b="1" kern="1200" dirty="0">
            <a:latin typeface="Times New Roman" panose="02020603050405020304" pitchFamily="18" charset="0"/>
            <a:cs typeface="Times New Roman" panose="02020603050405020304" pitchFamily="18" charset="0"/>
          </a:endParaRPr>
        </a:p>
      </dsp:txBody>
      <dsp:txXfrm>
        <a:off x="440691" y="2853557"/>
        <a:ext cx="7271756" cy="328682"/>
      </dsp:txXfrm>
    </dsp:sp>
    <dsp:sp modelId="{5A2DE0B9-9DD7-4A30-AB19-7A350BC973E0}">
      <dsp:nvSpPr>
        <dsp:cNvPr id="0" name=""/>
        <dsp:cNvSpPr/>
      </dsp:nvSpPr>
      <dsp:spPr>
        <a:xfrm>
          <a:off x="0" y="3607762"/>
          <a:ext cx="8458200" cy="1260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4E445145-AED9-485B-A529-7927013B3642}">
      <dsp:nvSpPr>
        <dsp:cNvPr id="0" name=""/>
        <dsp:cNvSpPr/>
      </dsp:nvSpPr>
      <dsp:spPr>
        <a:xfrm>
          <a:off x="422910" y="3279220"/>
          <a:ext cx="7307318" cy="402341"/>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kern="1200" dirty="0"/>
            <a:t>Object Detection</a:t>
          </a:r>
          <a:endParaRPr lang="en-IN" sz="1800" b="1" kern="1200" dirty="0">
            <a:latin typeface="Times New Roman" panose="02020603050405020304" pitchFamily="18" charset="0"/>
            <a:cs typeface="Times New Roman" panose="02020603050405020304" pitchFamily="18" charset="0"/>
          </a:endParaRPr>
        </a:p>
      </dsp:txBody>
      <dsp:txXfrm>
        <a:off x="442551" y="3298861"/>
        <a:ext cx="7268036" cy="363059"/>
      </dsp:txXfrm>
    </dsp:sp>
    <dsp:sp modelId="{9A8B2044-1180-4423-8EB4-D939AB910ED5}">
      <dsp:nvSpPr>
        <dsp:cNvPr id="0" name=""/>
        <dsp:cNvSpPr/>
      </dsp:nvSpPr>
      <dsp:spPr>
        <a:xfrm>
          <a:off x="0" y="3936906"/>
          <a:ext cx="8458200" cy="1260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8E5ED251-328F-4D45-B653-72712F48C97C}">
      <dsp:nvSpPr>
        <dsp:cNvPr id="0" name=""/>
        <dsp:cNvSpPr/>
      </dsp:nvSpPr>
      <dsp:spPr>
        <a:xfrm>
          <a:off x="422910" y="3760762"/>
          <a:ext cx="7307318" cy="249944"/>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kern="1200" dirty="0"/>
            <a:t>face recognition </a:t>
          </a:r>
          <a:endParaRPr lang="en-IN" sz="1800" b="1" kern="1200" dirty="0">
            <a:latin typeface="Times New Roman" panose="02020603050405020304" pitchFamily="18" charset="0"/>
            <a:cs typeface="Times New Roman" panose="02020603050405020304" pitchFamily="18" charset="0"/>
          </a:endParaRPr>
        </a:p>
      </dsp:txBody>
      <dsp:txXfrm>
        <a:off x="435111" y="3772963"/>
        <a:ext cx="7282916" cy="225542"/>
      </dsp:txXfrm>
    </dsp:sp>
    <dsp:sp modelId="{5283829B-7D84-48A6-B86C-F83F61631188}">
      <dsp:nvSpPr>
        <dsp:cNvPr id="0" name=""/>
        <dsp:cNvSpPr/>
      </dsp:nvSpPr>
      <dsp:spPr>
        <a:xfrm>
          <a:off x="0" y="4266050"/>
          <a:ext cx="8458200" cy="1260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9BB86192-9B5D-4B8A-B3E2-2753259F3AE5}">
      <dsp:nvSpPr>
        <dsp:cNvPr id="0" name=""/>
        <dsp:cNvSpPr/>
      </dsp:nvSpPr>
      <dsp:spPr>
        <a:xfrm>
          <a:off x="422910" y="4089906"/>
          <a:ext cx="7307318" cy="249944"/>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kern="1200" dirty="0"/>
            <a:t>instance Recognition</a:t>
          </a:r>
          <a:endParaRPr lang="en-IN" sz="1800" b="1" kern="1200" dirty="0">
            <a:latin typeface="Times New Roman" panose="02020603050405020304" pitchFamily="18" charset="0"/>
            <a:cs typeface="Times New Roman" panose="02020603050405020304" pitchFamily="18" charset="0"/>
          </a:endParaRPr>
        </a:p>
      </dsp:txBody>
      <dsp:txXfrm>
        <a:off x="435111" y="4102107"/>
        <a:ext cx="7282916" cy="225542"/>
      </dsp:txXfrm>
    </dsp:sp>
    <dsp:sp modelId="{FEC97E0D-CDAF-48B7-8E98-10CDC073A59E}">
      <dsp:nvSpPr>
        <dsp:cNvPr id="0" name=""/>
        <dsp:cNvSpPr/>
      </dsp:nvSpPr>
      <dsp:spPr>
        <a:xfrm>
          <a:off x="0" y="4643881"/>
          <a:ext cx="8458200" cy="1260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A95029AC-89E1-4F1E-BC63-4C5EC467E6F8}">
      <dsp:nvSpPr>
        <dsp:cNvPr id="0" name=""/>
        <dsp:cNvSpPr/>
      </dsp:nvSpPr>
      <dsp:spPr>
        <a:xfrm>
          <a:off x="422910" y="4419050"/>
          <a:ext cx="7533016" cy="29863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kern="1200" dirty="0"/>
            <a:t>Category Recognition   Objects, Scenes</a:t>
          </a:r>
          <a:endParaRPr lang="en-IN" sz="1800" b="1" kern="1200" dirty="0">
            <a:latin typeface="Times New Roman" panose="02020603050405020304" pitchFamily="18" charset="0"/>
            <a:cs typeface="Times New Roman" panose="02020603050405020304" pitchFamily="18" charset="0"/>
          </a:endParaRPr>
        </a:p>
      </dsp:txBody>
      <dsp:txXfrm>
        <a:off x="437488" y="4433628"/>
        <a:ext cx="7503860" cy="269474"/>
      </dsp:txXfrm>
    </dsp:sp>
    <dsp:sp modelId="{BC94104F-623C-4B87-8839-AFCA25DD98C0}">
      <dsp:nvSpPr>
        <dsp:cNvPr id="0" name=""/>
        <dsp:cNvSpPr/>
      </dsp:nvSpPr>
      <dsp:spPr>
        <a:xfrm>
          <a:off x="0" y="4973025"/>
          <a:ext cx="8458200" cy="1260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ED7B8F8B-D588-48E6-B9D8-54BB6B12A690}">
      <dsp:nvSpPr>
        <dsp:cNvPr id="0" name=""/>
        <dsp:cNvSpPr/>
      </dsp:nvSpPr>
      <dsp:spPr>
        <a:xfrm>
          <a:off x="422910" y="4796881"/>
          <a:ext cx="7307318" cy="249944"/>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223790" tIns="0" rIns="223790" bIns="0" numCol="1" spcCol="1270" anchor="ctr" anchorCtr="0">
          <a:noAutofit/>
        </a:bodyPr>
        <a:lstStyle/>
        <a:p>
          <a:pPr marL="0" lvl="0" indent="0" algn="ctr" defTabSz="800100">
            <a:lnSpc>
              <a:spcPct val="90000"/>
            </a:lnSpc>
            <a:spcBef>
              <a:spcPct val="0"/>
            </a:spcBef>
            <a:spcAft>
              <a:spcPct val="35000"/>
            </a:spcAft>
            <a:buNone/>
          </a:pPr>
          <a:r>
            <a:rPr lang="en-GB" sz="1800" kern="1200" dirty="0"/>
            <a:t>Activities, Object classification</a:t>
          </a:r>
          <a:endParaRPr lang="en-IN" sz="1800" b="1" kern="1200" dirty="0">
            <a:latin typeface="Times New Roman" panose="02020603050405020304" pitchFamily="18" charset="0"/>
            <a:cs typeface="Times New Roman" panose="02020603050405020304" pitchFamily="18" charset="0"/>
          </a:endParaRPr>
        </a:p>
      </dsp:txBody>
      <dsp:txXfrm>
        <a:off x="435111" y="4809082"/>
        <a:ext cx="7282916" cy="225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2FA7E8A-D5D9-47CB-81AF-F7191FAE1B94}">
      <dsp:nvSpPr>
        <dsp:cNvPr id="0" name=""/>
        <dsp:cNvSpPr/>
      </dsp:nvSpPr>
      <dsp:spPr>
        <a:xfrm>
          <a:off x="0" y="250581"/>
          <a:ext cx="8229600" cy="1216800"/>
        </a:xfrm>
        <a:prstGeom prst="roundRect">
          <a:avLst/>
        </a:prstGeom>
        <a:gradFill rotWithShape="0">
          <a:gsLst>
            <a:gs pos="0">
              <a:schemeClr val="accent1">
                <a:alpha val="90000"/>
                <a:hueOff val="0"/>
                <a:satOff val="0"/>
                <a:lumOff val="0"/>
                <a:alphaOff val="0"/>
                <a:lumMod val="110000"/>
                <a:satMod val="105000"/>
                <a:tint val="67000"/>
              </a:schemeClr>
            </a:gs>
            <a:gs pos="50000">
              <a:schemeClr val="accent1">
                <a:alpha val="90000"/>
                <a:hueOff val="0"/>
                <a:satOff val="0"/>
                <a:lumOff val="0"/>
                <a:alphaOff val="0"/>
                <a:lumMod val="105000"/>
                <a:satMod val="103000"/>
                <a:tint val="73000"/>
              </a:schemeClr>
            </a:gs>
            <a:gs pos="100000">
              <a:schemeClr val="accent1">
                <a:alpha val="90000"/>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rtl="0">
            <a:lnSpc>
              <a:spcPct val="90000"/>
            </a:lnSpc>
            <a:spcBef>
              <a:spcPct val="0"/>
            </a:spcBef>
            <a:spcAft>
              <a:spcPct val="35000"/>
            </a:spcAft>
            <a:buNone/>
          </a:pPr>
          <a:r>
            <a:rPr lang="en-US" sz="1800" kern="1200" dirty="0">
              <a:solidFill>
                <a:srgbClr val="002060"/>
              </a:solidFill>
            </a:rPr>
            <a:t>Students should have the knowledge of computer organization</a:t>
          </a:r>
        </a:p>
      </dsp:txBody>
      <dsp:txXfrm>
        <a:off x="59399" y="309980"/>
        <a:ext cx="8110802" cy="1098002"/>
      </dsp:txXfrm>
    </dsp:sp>
    <dsp:sp modelId="{79A547AB-E9E5-45A9-B71D-435BE91D3ADD}">
      <dsp:nvSpPr>
        <dsp:cNvPr id="0" name=""/>
        <dsp:cNvSpPr/>
      </dsp:nvSpPr>
      <dsp:spPr>
        <a:xfrm>
          <a:off x="0" y="1654581"/>
          <a:ext cx="8229600" cy="1216800"/>
        </a:xfrm>
        <a:prstGeom prst="roundRect">
          <a:avLst/>
        </a:prstGeom>
        <a:gradFill rotWithShape="0">
          <a:gsLst>
            <a:gs pos="0">
              <a:schemeClr val="accent1">
                <a:alpha val="90000"/>
                <a:hueOff val="0"/>
                <a:satOff val="0"/>
                <a:lumOff val="0"/>
                <a:alphaOff val="-20000"/>
                <a:lumMod val="110000"/>
                <a:satMod val="105000"/>
                <a:tint val="67000"/>
              </a:schemeClr>
            </a:gs>
            <a:gs pos="50000">
              <a:schemeClr val="accent1">
                <a:alpha val="90000"/>
                <a:hueOff val="0"/>
                <a:satOff val="0"/>
                <a:lumOff val="0"/>
                <a:alphaOff val="-20000"/>
                <a:lumMod val="105000"/>
                <a:satMod val="103000"/>
                <a:tint val="73000"/>
              </a:schemeClr>
            </a:gs>
            <a:gs pos="100000">
              <a:schemeClr val="accent1">
                <a:alpha val="90000"/>
                <a:hueOff val="0"/>
                <a:satOff val="0"/>
                <a:lumOff val="0"/>
                <a:alphaOff val="-2000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rtl="0">
            <a:lnSpc>
              <a:spcPct val="90000"/>
            </a:lnSpc>
            <a:spcBef>
              <a:spcPct val="0"/>
            </a:spcBef>
            <a:spcAft>
              <a:spcPct val="35000"/>
            </a:spcAft>
            <a:buNone/>
          </a:pPr>
          <a:r>
            <a:rPr lang="en-US" sz="1800" kern="1200" dirty="0">
              <a:solidFill>
                <a:srgbClr val="002060"/>
              </a:solidFill>
            </a:rPr>
            <a:t>Students should know the artificial intelligence basic concepts. </a:t>
          </a:r>
        </a:p>
      </dsp:txBody>
      <dsp:txXfrm>
        <a:off x="59399" y="1713980"/>
        <a:ext cx="8110802" cy="1098002"/>
      </dsp:txXfrm>
    </dsp:sp>
    <dsp:sp modelId="{48FAC247-B64A-44FB-9BF6-C529E8C91B3B}">
      <dsp:nvSpPr>
        <dsp:cNvPr id="0" name=""/>
        <dsp:cNvSpPr/>
      </dsp:nvSpPr>
      <dsp:spPr>
        <a:xfrm>
          <a:off x="0" y="3058581"/>
          <a:ext cx="8229600" cy="1216800"/>
        </a:xfrm>
        <a:prstGeom prst="roundRect">
          <a:avLst/>
        </a:prstGeom>
        <a:gradFill rotWithShape="0">
          <a:gsLst>
            <a:gs pos="0">
              <a:schemeClr val="accent1">
                <a:alpha val="90000"/>
                <a:hueOff val="0"/>
                <a:satOff val="0"/>
                <a:lumOff val="0"/>
                <a:alphaOff val="-40000"/>
                <a:lumMod val="110000"/>
                <a:satMod val="105000"/>
                <a:tint val="67000"/>
              </a:schemeClr>
            </a:gs>
            <a:gs pos="50000">
              <a:schemeClr val="accent1">
                <a:alpha val="90000"/>
                <a:hueOff val="0"/>
                <a:satOff val="0"/>
                <a:lumOff val="0"/>
                <a:alphaOff val="-40000"/>
                <a:lumMod val="105000"/>
                <a:satMod val="103000"/>
                <a:tint val="73000"/>
              </a:schemeClr>
            </a:gs>
            <a:gs pos="100000">
              <a:schemeClr val="accent1">
                <a:alpha val="90000"/>
                <a:hueOff val="0"/>
                <a:satOff val="0"/>
                <a:lumOff val="0"/>
                <a:alphaOff val="-4000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rtl="0">
            <a:lnSpc>
              <a:spcPct val="90000"/>
            </a:lnSpc>
            <a:spcBef>
              <a:spcPct val="0"/>
            </a:spcBef>
            <a:spcAft>
              <a:spcPct val="35000"/>
            </a:spcAft>
            <a:buNone/>
          </a:pPr>
          <a:r>
            <a:rPr lang="en-US" sz="1800" kern="1200" dirty="0">
              <a:solidFill>
                <a:srgbClr val="002060"/>
              </a:solidFill>
            </a:rPr>
            <a:t>Students should be able to create, design and manipulate the images and idea about pixels</a:t>
          </a:r>
        </a:p>
      </dsp:txBody>
      <dsp:txXfrm>
        <a:off x="59399" y="3117980"/>
        <a:ext cx="8110802" cy="1098002"/>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3d2#1">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DEB0EEF-16C6-4DBB-91ED-CEA546BFFABC}" type="datetimeFigureOut">
              <a:rPr lang="en-US" smtClean="0"/>
              <a:pPr/>
              <a:t>17-Dec-25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1329676-7EF0-4696-AF50-7A80E837C36F}"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635F52E-BA8C-4FAB-BCFA-C67A14D9CE22}"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1635F52E-BA8C-4FAB-BCFA-C67A14D9CE22}" type="slidenum">
              <a:rPr lang="en-US" smtClean="0"/>
              <a:pPr/>
              <a:t>17</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1329676-7EF0-4696-AF50-7A80E837C36F}" type="slidenum">
              <a:rPr lang="en-US" smtClean="0"/>
              <a:pPr/>
              <a:t>29</a:t>
            </a:fld>
            <a:endParaRPr lang="en-US"/>
          </a:p>
        </p:txBody>
      </p:sp>
    </p:spTree>
    <p:extLst>
      <p:ext uri="{BB962C8B-B14F-4D97-AF65-F5344CB8AC3E}">
        <p14:creationId xmlns:p14="http://schemas.microsoft.com/office/powerpoint/2010/main" val="4014515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endParaRPr lang="en-IN"/>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5285434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2480373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endParaRPr lang="en-IN"/>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183042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it-IT"/>
              <a:t>Dr Preeti Gera            COMPUTER VISION  UNIT- IV</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6127727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r>
              <a:rPr lang="it-IT"/>
              <a:t>Dr Preeti Gera            COMPUTER VISION  UNIT- IV</a:t>
            </a:r>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7762842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r>
              <a:rPr lang="it-IT"/>
              <a:t>Dr Preeti Gera            COMPUTER VISION  UNIT- IV</a:t>
            </a:r>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2823407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it-IT"/>
              <a:t>Dr Preeti Gera            COMPUTER VISION  UNIT- IV</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6104590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endParaRPr lang="en-IN"/>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it-IT"/>
              <a:t>Dr Preeti Gera            COMPUTER VISION  UNIT- IV</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48366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endParaRPr lang="en-IN"/>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IN"/>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it-IT"/>
              <a:t>Dr Preeti Gera            COMPUTER VISION  UNIT- IV</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531972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692704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7459118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31946" y="528520"/>
            <a:ext cx="8280109" cy="307777"/>
          </a:xfrm>
          <a:prstGeom prst="rect">
            <a:avLst/>
          </a:prstGeom>
        </p:spPr>
        <p:txBody>
          <a:bodyPr wrap="square" lIns="0" tIns="0" rIns="0" bIns="0">
            <a:spAutoFit/>
          </a:bodyPr>
          <a:lstStyle>
            <a:lvl1pPr>
              <a:defRPr b="0" i="0">
                <a:solidFill>
                  <a:schemeClr val="tx1"/>
                </a:solidFill>
              </a:defRPr>
            </a:lvl1pPr>
          </a:lstStyle>
          <a:p>
            <a:endParaRPr/>
          </a:p>
        </p:txBody>
      </p:sp>
      <p:sp>
        <p:nvSpPr>
          <p:cNvPr id="3" name="Holder 3"/>
          <p:cNvSpPr>
            <a:spLocks noGrp="1"/>
          </p:cNvSpPr>
          <p:nvPr>
            <p:ph type="subTitle" idx="4"/>
          </p:nvPr>
        </p:nvSpPr>
        <p:spPr>
          <a:xfrm>
            <a:off x="1371600" y="3840481"/>
            <a:ext cx="64008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200" b="0" i="0">
                <a:solidFill>
                  <a:srgbClr val="313131"/>
                </a:solidFill>
                <a:latin typeface="Verdana"/>
                <a:cs typeface="Verdana"/>
              </a:defRPr>
            </a:lvl1pPr>
          </a:lstStyle>
          <a:p>
            <a:pPr>
              <a:spcBef>
                <a:spcPts val="5"/>
              </a:spcBef>
            </a:pPr>
            <a:endParaRPr lang="en-IN" spc="-5" dirty="0"/>
          </a:p>
        </p:txBody>
      </p:sp>
      <p:sp>
        <p:nvSpPr>
          <p:cNvPr id="5" name="Holder 5"/>
          <p:cNvSpPr>
            <a:spLocks noGrp="1"/>
          </p:cNvSpPr>
          <p:nvPr>
            <p:ph type="dt" sz="half" idx="6"/>
          </p:nvPr>
        </p:nvSpPr>
        <p:spPr/>
        <p:txBody>
          <a:bodyPr lIns="0" tIns="0" rIns="0" bIns="0"/>
          <a:lstStyle>
            <a:lvl1pPr>
              <a:defRPr sz="1050" b="0" i="0">
                <a:solidFill>
                  <a:srgbClr val="313131"/>
                </a:solidFill>
                <a:latin typeface="Verdana"/>
                <a:cs typeface="Verdana"/>
              </a:defRPr>
            </a:lvl1pPr>
          </a:lstStyle>
          <a:p>
            <a:pPr marL="12700">
              <a:spcBef>
                <a:spcPts val="105"/>
              </a:spcBef>
            </a:pPr>
            <a:r>
              <a:rPr lang="en-US" spc="-5"/>
              <a:t>Generative Models</a:t>
            </a:r>
            <a:endParaRPr lang="en-US" spc="-5" dirty="0"/>
          </a:p>
        </p:txBody>
      </p:sp>
      <p:sp>
        <p:nvSpPr>
          <p:cNvPr id="6" name="Holder 6"/>
          <p:cNvSpPr>
            <a:spLocks noGrp="1"/>
          </p:cNvSpPr>
          <p:nvPr>
            <p:ph type="sldNum" sz="quarter" idx="7"/>
          </p:nvPr>
        </p:nvSpPr>
        <p:spPr/>
        <p:txBody>
          <a:bodyPr lIns="0" tIns="0" rIns="0" bIns="0"/>
          <a:lstStyle>
            <a:lvl1pPr>
              <a:defRPr sz="1050" b="0" i="0">
                <a:solidFill>
                  <a:srgbClr val="313131"/>
                </a:solidFill>
                <a:latin typeface="Verdana"/>
                <a:cs typeface="Verdana"/>
              </a:defRPr>
            </a:lvl1pPr>
          </a:lstStyle>
          <a:p>
            <a:pPr marL="12700">
              <a:spcBef>
                <a:spcPts val="105"/>
              </a:spcBef>
            </a:pPr>
            <a:r>
              <a:rPr lang="en-IN" spc="-5"/>
              <a:t>Slide</a:t>
            </a:r>
            <a:r>
              <a:rPr lang="en-IN" spc="-55"/>
              <a:t> </a:t>
            </a:r>
            <a:r>
              <a:rPr lang="en-IN" spc="-5"/>
              <a:t>#</a:t>
            </a:r>
            <a:fld id="{81D60167-4931-47E6-BA6A-407CBD079E47}" type="slidenum">
              <a:rPr spc="-5" smtClean="0"/>
              <a:pPr marL="12700">
                <a:spcBef>
                  <a:spcPts val="105"/>
                </a:spcBef>
              </a:pPr>
              <a:t>‹#›</a:t>
            </a:fld>
            <a:endParaRPr spc="-5" dirty="0"/>
          </a:p>
        </p:txBody>
      </p:sp>
    </p:spTree>
    <p:extLst>
      <p:ext uri="{BB962C8B-B14F-4D97-AF65-F5344CB8AC3E}">
        <p14:creationId xmlns:p14="http://schemas.microsoft.com/office/powerpoint/2010/main" val="25282891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rgbClr val="5A6166"/>
                </a:solidFill>
                <a:latin typeface="Verdana"/>
                <a:cs typeface="Verdana"/>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1200" b="0" i="0">
                <a:solidFill>
                  <a:srgbClr val="313131"/>
                </a:solidFill>
                <a:latin typeface="Verdana"/>
                <a:cs typeface="Verdana"/>
              </a:defRPr>
            </a:lvl1pPr>
          </a:lstStyle>
          <a:p>
            <a:pPr>
              <a:spcBef>
                <a:spcPts val="5"/>
              </a:spcBef>
            </a:pPr>
            <a:endParaRPr lang="en-IN" spc="-5" dirty="0"/>
          </a:p>
        </p:txBody>
      </p:sp>
      <p:sp>
        <p:nvSpPr>
          <p:cNvPr id="5" name="Holder 5"/>
          <p:cNvSpPr>
            <a:spLocks noGrp="1"/>
          </p:cNvSpPr>
          <p:nvPr>
            <p:ph type="dt" sz="half" idx="6"/>
          </p:nvPr>
        </p:nvSpPr>
        <p:spPr/>
        <p:txBody>
          <a:bodyPr lIns="0" tIns="0" rIns="0" bIns="0"/>
          <a:lstStyle>
            <a:lvl1pPr>
              <a:defRPr sz="1050" b="0" i="0">
                <a:solidFill>
                  <a:srgbClr val="313131"/>
                </a:solidFill>
                <a:latin typeface="Verdana"/>
                <a:cs typeface="Verdana"/>
              </a:defRPr>
            </a:lvl1pPr>
          </a:lstStyle>
          <a:p>
            <a:pPr marL="12700">
              <a:spcBef>
                <a:spcPts val="105"/>
              </a:spcBef>
            </a:pPr>
            <a:r>
              <a:rPr lang="en-US" spc="-5"/>
              <a:t>Generative Models</a:t>
            </a:r>
            <a:endParaRPr lang="en-US" spc="-5" dirty="0"/>
          </a:p>
        </p:txBody>
      </p:sp>
      <p:sp>
        <p:nvSpPr>
          <p:cNvPr id="6" name="Holder 6"/>
          <p:cNvSpPr>
            <a:spLocks noGrp="1"/>
          </p:cNvSpPr>
          <p:nvPr>
            <p:ph type="sldNum" sz="quarter" idx="7"/>
          </p:nvPr>
        </p:nvSpPr>
        <p:spPr/>
        <p:txBody>
          <a:bodyPr lIns="0" tIns="0" rIns="0" bIns="0"/>
          <a:lstStyle>
            <a:lvl1pPr>
              <a:defRPr sz="1050" b="0" i="0">
                <a:solidFill>
                  <a:srgbClr val="313131"/>
                </a:solidFill>
                <a:latin typeface="Verdana"/>
                <a:cs typeface="Verdana"/>
              </a:defRPr>
            </a:lvl1pPr>
          </a:lstStyle>
          <a:p>
            <a:pPr marL="12700">
              <a:spcBef>
                <a:spcPts val="105"/>
              </a:spcBef>
            </a:pPr>
            <a:r>
              <a:rPr lang="en-IN" spc="-5"/>
              <a:t>Slide</a:t>
            </a:r>
            <a:r>
              <a:rPr lang="en-IN" spc="-55"/>
              <a:t> </a:t>
            </a:r>
            <a:r>
              <a:rPr lang="en-IN" spc="-5"/>
              <a:t>#</a:t>
            </a:r>
            <a:fld id="{81D60167-4931-47E6-BA6A-407CBD079E47}" type="slidenum">
              <a:rPr spc="-5" smtClean="0"/>
              <a:pPr marL="12700">
                <a:spcBef>
                  <a:spcPts val="105"/>
                </a:spcBef>
              </a:pPr>
              <a:t>‹#›</a:t>
            </a:fld>
            <a:endParaRPr spc="-5" dirty="0"/>
          </a:p>
        </p:txBody>
      </p:sp>
    </p:spTree>
    <p:extLst>
      <p:ext uri="{BB962C8B-B14F-4D97-AF65-F5344CB8AC3E}">
        <p14:creationId xmlns:p14="http://schemas.microsoft.com/office/powerpoint/2010/main" val="25621055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rgbClr val="5A6166"/>
                </a:solidFill>
                <a:latin typeface="Verdana"/>
                <a:cs typeface="Verdana"/>
              </a:defRPr>
            </a:lvl1pPr>
          </a:lstStyle>
          <a:p>
            <a:endParaRPr/>
          </a:p>
        </p:txBody>
      </p:sp>
      <p:sp>
        <p:nvSpPr>
          <p:cNvPr id="3" name="Holder 3"/>
          <p:cNvSpPr>
            <a:spLocks noGrp="1"/>
          </p:cNvSpPr>
          <p:nvPr>
            <p:ph sz="half" idx="2"/>
          </p:nvPr>
        </p:nvSpPr>
        <p:spPr>
          <a:xfrm>
            <a:off x="457200" y="1577340"/>
            <a:ext cx="397764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200" b="0" i="0">
                <a:solidFill>
                  <a:srgbClr val="313131"/>
                </a:solidFill>
                <a:latin typeface="Verdana"/>
                <a:cs typeface="Verdana"/>
              </a:defRPr>
            </a:lvl1pPr>
          </a:lstStyle>
          <a:p>
            <a:pPr>
              <a:spcBef>
                <a:spcPts val="5"/>
              </a:spcBef>
            </a:pPr>
            <a:endParaRPr lang="en-IN" spc="-5" dirty="0"/>
          </a:p>
        </p:txBody>
      </p:sp>
      <p:sp>
        <p:nvSpPr>
          <p:cNvPr id="6" name="Holder 6"/>
          <p:cNvSpPr>
            <a:spLocks noGrp="1"/>
          </p:cNvSpPr>
          <p:nvPr>
            <p:ph type="dt" sz="half" idx="6"/>
          </p:nvPr>
        </p:nvSpPr>
        <p:spPr/>
        <p:txBody>
          <a:bodyPr lIns="0" tIns="0" rIns="0" bIns="0"/>
          <a:lstStyle>
            <a:lvl1pPr>
              <a:defRPr sz="1050" b="0" i="0">
                <a:solidFill>
                  <a:srgbClr val="313131"/>
                </a:solidFill>
                <a:latin typeface="Verdana"/>
                <a:cs typeface="Verdana"/>
              </a:defRPr>
            </a:lvl1pPr>
          </a:lstStyle>
          <a:p>
            <a:pPr marL="12700">
              <a:spcBef>
                <a:spcPts val="105"/>
              </a:spcBef>
            </a:pPr>
            <a:r>
              <a:rPr lang="en-US" spc="-5"/>
              <a:t>Generative Models</a:t>
            </a:r>
            <a:endParaRPr lang="en-US" spc="-5" dirty="0"/>
          </a:p>
        </p:txBody>
      </p:sp>
      <p:sp>
        <p:nvSpPr>
          <p:cNvPr id="7" name="Holder 7"/>
          <p:cNvSpPr>
            <a:spLocks noGrp="1"/>
          </p:cNvSpPr>
          <p:nvPr>
            <p:ph type="sldNum" sz="quarter" idx="7"/>
          </p:nvPr>
        </p:nvSpPr>
        <p:spPr/>
        <p:txBody>
          <a:bodyPr lIns="0" tIns="0" rIns="0" bIns="0"/>
          <a:lstStyle>
            <a:lvl1pPr>
              <a:defRPr sz="1050" b="0" i="0">
                <a:solidFill>
                  <a:srgbClr val="313131"/>
                </a:solidFill>
                <a:latin typeface="Verdana"/>
                <a:cs typeface="Verdana"/>
              </a:defRPr>
            </a:lvl1pPr>
          </a:lstStyle>
          <a:p>
            <a:pPr marL="12700">
              <a:spcBef>
                <a:spcPts val="105"/>
              </a:spcBef>
            </a:pPr>
            <a:r>
              <a:rPr lang="en-IN" spc="-5"/>
              <a:t>Slide</a:t>
            </a:r>
            <a:r>
              <a:rPr lang="en-IN" spc="-55"/>
              <a:t> </a:t>
            </a:r>
            <a:r>
              <a:rPr lang="en-IN" spc="-5"/>
              <a:t>#</a:t>
            </a:r>
            <a:fld id="{81D60167-4931-47E6-BA6A-407CBD079E47}" type="slidenum">
              <a:rPr spc="-5" smtClean="0"/>
              <a:pPr marL="12700">
                <a:spcBef>
                  <a:spcPts val="105"/>
                </a:spcBef>
              </a:pPr>
              <a:t>‹#›</a:t>
            </a:fld>
            <a:endParaRPr spc="-5" dirty="0"/>
          </a:p>
        </p:txBody>
      </p:sp>
    </p:spTree>
    <p:extLst>
      <p:ext uri="{BB962C8B-B14F-4D97-AF65-F5344CB8AC3E}">
        <p14:creationId xmlns:p14="http://schemas.microsoft.com/office/powerpoint/2010/main" val="10423809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rgbClr val="5A6166"/>
                </a:solidFill>
                <a:latin typeface="Verdana"/>
                <a:cs typeface="Verdana"/>
              </a:defRPr>
            </a:lvl1pPr>
          </a:lstStyle>
          <a:p>
            <a:endParaRPr/>
          </a:p>
        </p:txBody>
      </p:sp>
      <p:sp>
        <p:nvSpPr>
          <p:cNvPr id="3" name="Holder 3"/>
          <p:cNvSpPr>
            <a:spLocks noGrp="1"/>
          </p:cNvSpPr>
          <p:nvPr>
            <p:ph type="ftr" sz="quarter" idx="5"/>
          </p:nvPr>
        </p:nvSpPr>
        <p:spPr/>
        <p:txBody>
          <a:bodyPr lIns="0" tIns="0" rIns="0" bIns="0"/>
          <a:lstStyle>
            <a:lvl1pPr>
              <a:defRPr sz="1200" b="0" i="0">
                <a:solidFill>
                  <a:srgbClr val="313131"/>
                </a:solidFill>
                <a:latin typeface="Verdana"/>
                <a:cs typeface="Verdana"/>
              </a:defRPr>
            </a:lvl1pPr>
          </a:lstStyle>
          <a:p>
            <a:pPr>
              <a:spcBef>
                <a:spcPts val="5"/>
              </a:spcBef>
            </a:pPr>
            <a:endParaRPr lang="en-IN" spc="-5" dirty="0"/>
          </a:p>
        </p:txBody>
      </p:sp>
      <p:sp>
        <p:nvSpPr>
          <p:cNvPr id="4" name="Holder 4"/>
          <p:cNvSpPr>
            <a:spLocks noGrp="1"/>
          </p:cNvSpPr>
          <p:nvPr>
            <p:ph type="dt" sz="half" idx="6"/>
          </p:nvPr>
        </p:nvSpPr>
        <p:spPr/>
        <p:txBody>
          <a:bodyPr lIns="0" tIns="0" rIns="0" bIns="0"/>
          <a:lstStyle>
            <a:lvl1pPr>
              <a:defRPr sz="1050" b="0" i="0">
                <a:solidFill>
                  <a:srgbClr val="313131"/>
                </a:solidFill>
                <a:latin typeface="Verdana"/>
                <a:cs typeface="Verdana"/>
              </a:defRPr>
            </a:lvl1pPr>
          </a:lstStyle>
          <a:p>
            <a:pPr marL="12700">
              <a:spcBef>
                <a:spcPts val="105"/>
              </a:spcBef>
            </a:pPr>
            <a:r>
              <a:rPr lang="en-US" spc="-5"/>
              <a:t>Generative Models</a:t>
            </a:r>
            <a:endParaRPr lang="en-US" spc="-5" dirty="0"/>
          </a:p>
        </p:txBody>
      </p:sp>
      <p:sp>
        <p:nvSpPr>
          <p:cNvPr id="5" name="Holder 5"/>
          <p:cNvSpPr>
            <a:spLocks noGrp="1"/>
          </p:cNvSpPr>
          <p:nvPr>
            <p:ph type="sldNum" sz="quarter" idx="7"/>
          </p:nvPr>
        </p:nvSpPr>
        <p:spPr/>
        <p:txBody>
          <a:bodyPr lIns="0" tIns="0" rIns="0" bIns="0"/>
          <a:lstStyle>
            <a:lvl1pPr>
              <a:defRPr sz="1050" b="0" i="0">
                <a:solidFill>
                  <a:srgbClr val="313131"/>
                </a:solidFill>
                <a:latin typeface="Verdana"/>
                <a:cs typeface="Verdana"/>
              </a:defRPr>
            </a:lvl1pPr>
          </a:lstStyle>
          <a:p>
            <a:pPr marL="12700">
              <a:spcBef>
                <a:spcPts val="105"/>
              </a:spcBef>
            </a:pPr>
            <a:r>
              <a:rPr lang="en-IN" spc="-5"/>
              <a:t>Slide</a:t>
            </a:r>
            <a:r>
              <a:rPr lang="en-IN" spc="-55"/>
              <a:t> </a:t>
            </a:r>
            <a:r>
              <a:rPr lang="en-IN" spc="-5"/>
              <a:t>#</a:t>
            </a:r>
            <a:fld id="{81D60167-4931-47E6-BA6A-407CBD079E47}" type="slidenum">
              <a:rPr spc="-5" smtClean="0"/>
              <a:pPr marL="12700">
                <a:spcBef>
                  <a:spcPts val="105"/>
                </a:spcBef>
              </a:pPr>
              <a:t>‹#›</a:t>
            </a:fld>
            <a:endParaRPr spc="-5" dirty="0"/>
          </a:p>
        </p:txBody>
      </p:sp>
    </p:spTree>
    <p:extLst>
      <p:ext uri="{BB962C8B-B14F-4D97-AF65-F5344CB8AC3E}">
        <p14:creationId xmlns:p14="http://schemas.microsoft.com/office/powerpoint/2010/main" val="5645511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200" b="0" i="0">
                <a:solidFill>
                  <a:srgbClr val="313131"/>
                </a:solidFill>
                <a:latin typeface="Verdana"/>
                <a:cs typeface="Verdana"/>
              </a:defRPr>
            </a:lvl1pPr>
          </a:lstStyle>
          <a:p>
            <a:pPr>
              <a:spcBef>
                <a:spcPts val="5"/>
              </a:spcBef>
            </a:pPr>
            <a:endParaRPr lang="en-IN" spc="-5" dirty="0"/>
          </a:p>
        </p:txBody>
      </p:sp>
      <p:sp>
        <p:nvSpPr>
          <p:cNvPr id="3" name="Holder 3"/>
          <p:cNvSpPr>
            <a:spLocks noGrp="1"/>
          </p:cNvSpPr>
          <p:nvPr>
            <p:ph type="dt" sz="half" idx="6"/>
          </p:nvPr>
        </p:nvSpPr>
        <p:spPr/>
        <p:txBody>
          <a:bodyPr lIns="0" tIns="0" rIns="0" bIns="0"/>
          <a:lstStyle>
            <a:lvl1pPr>
              <a:defRPr sz="1050" b="0" i="0">
                <a:solidFill>
                  <a:srgbClr val="313131"/>
                </a:solidFill>
                <a:latin typeface="Verdana"/>
                <a:cs typeface="Verdana"/>
              </a:defRPr>
            </a:lvl1pPr>
          </a:lstStyle>
          <a:p>
            <a:pPr marL="12700">
              <a:spcBef>
                <a:spcPts val="105"/>
              </a:spcBef>
            </a:pPr>
            <a:r>
              <a:rPr lang="en-US" spc="-5"/>
              <a:t>Generative Models</a:t>
            </a:r>
            <a:endParaRPr lang="en-US" spc="-5" dirty="0"/>
          </a:p>
        </p:txBody>
      </p:sp>
      <p:sp>
        <p:nvSpPr>
          <p:cNvPr id="4" name="Holder 4"/>
          <p:cNvSpPr>
            <a:spLocks noGrp="1"/>
          </p:cNvSpPr>
          <p:nvPr>
            <p:ph type="sldNum" sz="quarter" idx="7"/>
          </p:nvPr>
        </p:nvSpPr>
        <p:spPr/>
        <p:txBody>
          <a:bodyPr lIns="0" tIns="0" rIns="0" bIns="0"/>
          <a:lstStyle>
            <a:lvl1pPr>
              <a:defRPr sz="1050" b="0" i="0">
                <a:solidFill>
                  <a:srgbClr val="313131"/>
                </a:solidFill>
                <a:latin typeface="Verdana"/>
                <a:cs typeface="Verdana"/>
              </a:defRPr>
            </a:lvl1pPr>
          </a:lstStyle>
          <a:p>
            <a:pPr marL="12700">
              <a:spcBef>
                <a:spcPts val="105"/>
              </a:spcBef>
            </a:pPr>
            <a:r>
              <a:rPr lang="en-IN" spc="-5"/>
              <a:t>Slide</a:t>
            </a:r>
            <a:r>
              <a:rPr lang="en-IN" spc="-55"/>
              <a:t> </a:t>
            </a:r>
            <a:r>
              <a:rPr lang="en-IN" spc="-5"/>
              <a:t>#</a:t>
            </a:r>
            <a:fld id="{81D60167-4931-47E6-BA6A-407CBD079E47}" type="slidenum">
              <a:rPr spc="-5" smtClean="0"/>
              <a:pPr marL="12700">
                <a:spcBef>
                  <a:spcPts val="105"/>
                </a:spcBef>
              </a:pPr>
              <a:t>‹#›</a:t>
            </a:fld>
            <a:endParaRPr spc="-5" dirty="0"/>
          </a:p>
        </p:txBody>
      </p:sp>
    </p:spTree>
    <p:extLst>
      <p:ext uri="{BB962C8B-B14F-4D97-AF65-F5344CB8AC3E}">
        <p14:creationId xmlns:p14="http://schemas.microsoft.com/office/powerpoint/2010/main" val="94896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7" Type="http://schemas.openxmlformats.org/officeDocument/2006/relationships/image" Target="../media/image1.jpg"/><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it-IT"/>
              <a:t>Dr Preeti Gera            COMPUTER VISION  UNIT- IV</a:t>
            </a:r>
            <a:endParaRPr lang="en-US"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748632945"/>
      </p:ext>
    </p:extLst>
  </p:cSld>
  <p:clrMap bg1="lt1" tx1="dk1" bg2="lt2" tx2="dk2" accent1="accent1" accent2="accent2" accent3="accent3" accent4="accent4" accent5="accent5" accent6="accent6" hlink="hlink" folHlink="folHlink"/>
  <p:sldLayoutIdLst>
    <p:sldLayoutId id="2147483887" r:id="rId1"/>
    <p:sldLayoutId id="2147483888" r:id="rId2"/>
    <p:sldLayoutId id="2147483889" r:id="rId3"/>
    <p:sldLayoutId id="2147483890" r:id="rId4"/>
    <p:sldLayoutId id="2147483891" r:id="rId5"/>
    <p:sldLayoutId id="2147483892" r:id="rId6"/>
    <p:sldLayoutId id="2147483893" r:id="rId7"/>
    <p:sldLayoutId id="2147483894" r:id="rId8"/>
    <p:sldLayoutId id="2147483895" r:id="rId9"/>
    <p:sldLayoutId id="2147483896" r:id="rId10"/>
    <p:sldLayoutId id="2147483897" r:id="rId11"/>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77169" y="2"/>
            <a:ext cx="7239000" cy="144780"/>
          </a:xfrm>
          <a:custGeom>
            <a:avLst/>
            <a:gdLst/>
            <a:ahLst/>
            <a:cxnLst/>
            <a:rect l="l" t="t" r="r" b="b"/>
            <a:pathLst>
              <a:path w="7239000" h="108585">
                <a:moveTo>
                  <a:pt x="7238699" y="107999"/>
                </a:moveTo>
                <a:lnTo>
                  <a:pt x="0" y="107999"/>
                </a:lnTo>
                <a:lnTo>
                  <a:pt x="0" y="0"/>
                </a:lnTo>
                <a:lnTo>
                  <a:pt x="7238699" y="0"/>
                </a:lnTo>
                <a:lnTo>
                  <a:pt x="7238699" y="107999"/>
                </a:lnTo>
                <a:close/>
              </a:path>
            </a:pathLst>
          </a:custGeom>
          <a:solidFill>
            <a:srgbClr val="F6A800"/>
          </a:solidFill>
        </p:spPr>
        <p:txBody>
          <a:bodyPr wrap="square" lIns="0" tIns="0" rIns="0" bIns="0" rtlCol="0"/>
          <a:lstStyle/>
          <a:p>
            <a:endParaRPr sz="1800"/>
          </a:p>
        </p:txBody>
      </p:sp>
      <p:sp>
        <p:nvSpPr>
          <p:cNvPr id="17" name="bg object 17"/>
          <p:cNvSpPr/>
          <p:nvPr/>
        </p:nvSpPr>
        <p:spPr>
          <a:xfrm>
            <a:off x="177169" y="1375437"/>
            <a:ext cx="7239000" cy="33867"/>
          </a:xfrm>
          <a:custGeom>
            <a:avLst/>
            <a:gdLst/>
            <a:ahLst/>
            <a:cxnLst/>
            <a:rect l="l" t="t" r="r" b="b"/>
            <a:pathLst>
              <a:path w="7239000" h="25400">
                <a:moveTo>
                  <a:pt x="7238699" y="25199"/>
                </a:moveTo>
                <a:lnTo>
                  <a:pt x="0" y="25199"/>
                </a:lnTo>
                <a:lnTo>
                  <a:pt x="0" y="0"/>
                </a:lnTo>
                <a:lnTo>
                  <a:pt x="7238699" y="0"/>
                </a:lnTo>
                <a:lnTo>
                  <a:pt x="7238699" y="25199"/>
                </a:lnTo>
                <a:close/>
              </a:path>
            </a:pathLst>
          </a:custGeom>
          <a:solidFill>
            <a:srgbClr val="DD640C"/>
          </a:solidFill>
        </p:spPr>
        <p:txBody>
          <a:bodyPr wrap="square" lIns="0" tIns="0" rIns="0" bIns="0" rtlCol="0"/>
          <a:lstStyle/>
          <a:p>
            <a:endParaRPr sz="1800"/>
          </a:p>
        </p:txBody>
      </p:sp>
      <p:pic>
        <p:nvPicPr>
          <p:cNvPr id="18" name="bg object 18"/>
          <p:cNvPicPr/>
          <p:nvPr/>
        </p:nvPicPr>
        <p:blipFill>
          <a:blip r:embed="rId7" cstate="print"/>
          <a:stretch>
            <a:fillRect/>
          </a:stretch>
        </p:blipFill>
        <p:spPr>
          <a:xfrm>
            <a:off x="7659544" y="165768"/>
            <a:ext cx="1313861" cy="989265"/>
          </a:xfrm>
          <a:prstGeom prst="rect">
            <a:avLst/>
          </a:prstGeom>
        </p:spPr>
      </p:pic>
      <p:sp>
        <p:nvSpPr>
          <p:cNvPr id="2" name="Holder 2"/>
          <p:cNvSpPr>
            <a:spLocks noGrp="1"/>
          </p:cNvSpPr>
          <p:nvPr>
            <p:ph type="title"/>
          </p:nvPr>
        </p:nvSpPr>
        <p:spPr>
          <a:xfrm>
            <a:off x="431946" y="528520"/>
            <a:ext cx="8280109" cy="307777"/>
          </a:xfrm>
          <a:prstGeom prst="rect">
            <a:avLst/>
          </a:prstGeom>
        </p:spPr>
        <p:txBody>
          <a:bodyPr wrap="square" lIns="0" tIns="0" rIns="0" bIns="0">
            <a:spAutoFit/>
          </a:bodyPr>
          <a:lstStyle>
            <a:lvl1pPr>
              <a:defRPr sz="2000" b="0" i="0">
                <a:solidFill>
                  <a:srgbClr val="5A6166"/>
                </a:solidFill>
                <a:latin typeface="Verdana"/>
                <a:cs typeface="Verdana"/>
              </a:defRPr>
            </a:lvl1pPr>
          </a:lstStyle>
          <a:p>
            <a:endParaRPr/>
          </a:p>
        </p:txBody>
      </p:sp>
      <p:sp>
        <p:nvSpPr>
          <p:cNvPr id="3" name="Holder 3"/>
          <p:cNvSpPr>
            <a:spLocks noGrp="1"/>
          </p:cNvSpPr>
          <p:nvPr>
            <p:ph type="body" idx="1"/>
          </p:nvPr>
        </p:nvSpPr>
        <p:spPr>
          <a:xfrm>
            <a:off x="320198" y="1718309"/>
            <a:ext cx="8503605" cy="276999"/>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160126" y="6493180"/>
            <a:ext cx="2687955" cy="184666"/>
          </a:xfrm>
          <a:prstGeom prst="rect">
            <a:avLst/>
          </a:prstGeom>
        </p:spPr>
        <p:txBody>
          <a:bodyPr wrap="square" lIns="0" tIns="0" rIns="0" bIns="0">
            <a:spAutoFit/>
          </a:bodyPr>
          <a:lstStyle>
            <a:lvl1pPr>
              <a:defRPr sz="1200" b="0" i="0">
                <a:solidFill>
                  <a:srgbClr val="313131"/>
                </a:solidFill>
                <a:latin typeface="Verdana"/>
                <a:cs typeface="Verdana"/>
              </a:defRPr>
            </a:lvl1pPr>
          </a:lstStyle>
          <a:p>
            <a:pPr>
              <a:spcBef>
                <a:spcPts val="5"/>
              </a:spcBef>
            </a:pPr>
            <a:endParaRPr lang="en-IN" spc="-5" dirty="0"/>
          </a:p>
        </p:txBody>
      </p:sp>
      <p:sp>
        <p:nvSpPr>
          <p:cNvPr id="5" name="Holder 5"/>
          <p:cNvSpPr>
            <a:spLocks noGrp="1"/>
          </p:cNvSpPr>
          <p:nvPr>
            <p:ph type="dt" sz="half" idx="6"/>
          </p:nvPr>
        </p:nvSpPr>
        <p:spPr>
          <a:xfrm>
            <a:off x="232308" y="6498053"/>
            <a:ext cx="1263650" cy="161583"/>
          </a:xfrm>
          <a:prstGeom prst="rect">
            <a:avLst/>
          </a:prstGeom>
        </p:spPr>
        <p:txBody>
          <a:bodyPr wrap="square" lIns="0" tIns="0" rIns="0" bIns="0">
            <a:spAutoFit/>
          </a:bodyPr>
          <a:lstStyle>
            <a:lvl1pPr>
              <a:defRPr sz="1050" b="0" i="0">
                <a:solidFill>
                  <a:srgbClr val="313131"/>
                </a:solidFill>
                <a:latin typeface="Verdana"/>
                <a:cs typeface="Verdana"/>
              </a:defRPr>
            </a:lvl1pPr>
          </a:lstStyle>
          <a:p>
            <a:pPr marL="12700">
              <a:spcBef>
                <a:spcPts val="105"/>
              </a:spcBef>
            </a:pPr>
            <a:r>
              <a:rPr lang="en-US" spc="-5"/>
              <a:t>Generative Models</a:t>
            </a:r>
            <a:endParaRPr lang="en-US" spc="-5" dirty="0"/>
          </a:p>
        </p:txBody>
      </p:sp>
      <p:sp>
        <p:nvSpPr>
          <p:cNvPr id="6" name="Holder 6"/>
          <p:cNvSpPr>
            <a:spLocks noGrp="1"/>
          </p:cNvSpPr>
          <p:nvPr>
            <p:ph type="sldNum" sz="quarter" idx="7"/>
          </p:nvPr>
        </p:nvSpPr>
        <p:spPr>
          <a:xfrm>
            <a:off x="8214150" y="6556081"/>
            <a:ext cx="702309" cy="323165"/>
          </a:xfrm>
          <a:prstGeom prst="rect">
            <a:avLst/>
          </a:prstGeom>
        </p:spPr>
        <p:txBody>
          <a:bodyPr wrap="square" lIns="0" tIns="0" rIns="0" bIns="0">
            <a:spAutoFit/>
          </a:bodyPr>
          <a:lstStyle>
            <a:lvl1pPr>
              <a:defRPr sz="1050" b="0" i="0">
                <a:solidFill>
                  <a:srgbClr val="313131"/>
                </a:solidFill>
                <a:latin typeface="Verdana"/>
                <a:cs typeface="Verdana"/>
              </a:defRPr>
            </a:lvl1pPr>
          </a:lstStyle>
          <a:p>
            <a:pPr marL="12700">
              <a:spcBef>
                <a:spcPts val="105"/>
              </a:spcBef>
            </a:pPr>
            <a:r>
              <a:rPr lang="en-IN" spc="-5"/>
              <a:t>Slide</a:t>
            </a:r>
            <a:r>
              <a:rPr lang="en-IN" spc="-55"/>
              <a:t> </a:t>
            </a:r>
            <a:r>
              <a:rPr lang="en-IN" spc="-5"/>
              <a:t>#</a:t>
            </a:r>
            <a:fld id="{81D60167-4931-47E6-BA6A-407CBD079E47}" type="slidenum">
              <a:rPr spc="-5" smtClean="0"/>
              <a:pPr marL="12700">
                <a:spcBef>
                  <a:spcPts val="105"/>
                </a:spcBef>
              </a:pPr>
              <a:t>‹#›</a:t>
            </a:fld>
            <a:endParaRPr spc="-5" dirty="0"/>
          </a:p>
        </p:txBody>
      </p:sp>
    </p:spTree>
    <p:extLst>
      <p:ext uri="{BB962C8B-B14F-4D97-AF65-F5344CB8AC3E}">
        <p14:creationId xmlns:p14="http://schemas.microsoft.com/office/powerpoint/2010/main" val="3821630828"/>
      </p:ext>
    </p:extLst>
  </p:cSld>
  <p:clrMap bg1="lt1" tx1="dk1" bg2="lt2" tx2="dk2" accent1="accent1" accent2="accent2" accent3="accent3" accent4="accent4" accent5="accent5" accent6="accent6" hlink="hlink" folHlink="folHlink"/>
  <p:sldLayoutIdLst>
    <p:sldLayoutId id="2147483899" r:id="rId1"/>
    <p:sldLayoutId id="2147483900" r:id="rId2"/>
    <p:sldLayoutId id="2147483901" r:id="rId3"/>
    <p:sldLayoutId id="2147483902" r:id="rId4"/>
    <p:sldLayoutId id="2147483903" r:id="rId5"/>
  </p:sldLayoutIdLst>
  <p:hf sldNum="0"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7.xml"/><Relationship Id="rId7" Type="http://schemas.openxmlformats.org/officeDocument/2006/relationships/image" Target="../media/image2.png"/><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arxiv.org/pdf/1511.06434.pdf" TargetMode="Externa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hyperlink" Target="https://paperswithcode.com/dataset/mnist"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arxiv.org/pdf/1610.06918v1.pdf" TargetMode="Externa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jpg"/><Relationship Id="rId1" Type="http://schemas.openxmlformats.org/officeDocument/2006/relationships/slideLayout" Target="../slideLayouts/slideLayout16.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7.jpg"/><Relationship Id="rId1" Type="http://schemas.openxmlformats.org/officeDocument/2006/relationships/slideLayout" Target="../slideLayouts/slideLayout16.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8.png"/><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9.jpg"/><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0.jpg"/><Relationship Id="rId1" Type="http://schemas.openxmlformats.org/officeDocument/2006/relationships/slideLayout" Target="../slideLayouts/slideLayout16.xml"/></Relationships>
</file>

<file path=ppt/slides/_rels/slide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6.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image" Target="../media/image21.jp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47.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1.jp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16.xml"/></Relationships>
</file>

<file path=ppt/slides/_rels/slide49.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image" Target="../media/image25.jpg"/><Relationship Id="rId1" Type="http://schemas.openxmlformats.org/officeDocument/2006/relationships/slideLayout" Target="../slideLayouts/slideLayout16.xml"/><Relationship Id="rId6" Type="http://schemas.openxmlformats.org/officeDocument/2006/relationships/image" Target="../media/image2.png"/><Relationship Id="rId5" Type="http://schemas.openxmlformats.org/officeDocument/2006/relationships/image" Target="../media/image28.png"/><Relationship Id="rId4" Type="http://schemas.openxmlformats.org/officeDocument/2006/relationships/image" Target="../media/image27.jpg"/></Relationships>
</file>

<file path=ppt/slides/_rels/slide5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6.xml"/><Relationship Id="rId5" Type="http://schemas.openxmlformats.org/officeDocument/2006/relationships/image" Target="../media/image2.png"/><Relationship Id="rId4" Type="http://schemas.openxmlformats.org/officeDocument/2006/relationships/image" Target="../media/image33.png"/></Relationships>
</file>

<file path=ppt/slides/_rels/slide5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6.xml"/><Relationship Id="rId5" Type="http://schemas.openxmlformats.org/officeDocument/2006/relationships/image" Target="../media/image2.png"/><Relationship Id="rId4" Type="http://schemas.openxmlformats.org/officeDocument/2006/relationships/image" Target="../media/image33.png"/></Relationships>
</file>

<file path=ppt/slides/_rels/slide53.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png"/><Relationship Id="rId1" Type="http://schemas.openxmlformats.org/officeDocument/2006/relationships/slideLayout" Target="../slideLayouts/slideLayout16.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 Id="rId9" Type="http://schemas.openxmlformats.org/officeDocument/2006/relationships/image" Target="../media/image2.png"/></Relationships>
</file>

<file path=ppt/slides/_rels/slide5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7.png"/><Relationship Id="rId7" Type="http://schemas.openxmlformats.org/officeDocument/2006/relationships/image" Target="../media/image40.png"/><Relationship Id="rId2" Type="http://schemas.openxmlformats.org/officeDocument/2006/relationships/image" Target="../media/image41.png"/><Relationship Id="rId1" Type="http://schemas.openxmlformats.org/officeDocument/2006/relationships/slideLayout" Target="../slideLayouts/slideLayout16.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5.png"/></Relationships>
</file>

<file path=ppt/slides/_rels/slide55.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42.png"/><Relationship Id="rId7" Type="http://schemas.openxmlformats.org/officeDocument/2006/relationships/image" Target="../media/image37.png"/><Relationship Id="rId2" Type="http://schemas.openxmlformats.org/officeDocument/2006/relationships/image" Target="../media/image41.png"/><Relationship Id="rId1" Type="http://schemas.openxmlformats.org/officeDocument/2006/relationships/slideLayout" Target="../slideLayouts/slideLayout16.xml"/><Relationship Id="rId6" Type="http://schemas.openxmlformats.org/officeDocument/2006/relationships/image" Target="../media/image35.png"/><Relationship Id="rId11" Type="http://schemas.openxmlformats.org/officeDocument/2006/relationships/image" Target="../media/image2.png"/><Relationship Id="rId5" Type="http://schemas.openxmlformats.org/officeDocument/2006/relationships/image" Target="../media/image34.png"/><Relationship Id="rId10" Type="http://schemas.openxmlformats.org/officeDocument/2006/relationships/image" Target="../media/image40.png"/><Relationship Id="rId4" Type="http://schemas.openxmlformats.org/officeDocument/2006/relationships/image" Target="../media/image43.png"/><Relationship Id="rId9" Type="http://schemas.openxmlformats.org/officeDocument/2006/relationships/image" Target="../media/image39.png"/></Relationships>
</file>

<file path=ppt/slides/_rels/slide56.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5.png"/><Relationship Id="rId7"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6.xml"/><Relationship Id="rId6" Type="http://schemas.openxmlformats.org/officeDocument/2006/relationships/image" Target="../media/image43.png"/><Relationship Id="rId5" Type="http://schemas.openxmlformats.org/officeDocument/2006/relationships/image" Target="../media/image42.png"/><Relationship Id="rId10" Type="http://schemas.openxmlformats.org/officeDocument/2006/relationships/image" Target="../media/image2.png"/><Relationship Id="rId4" Type="http://schemas.openxmlformats.org/officeDocument/2006/relationships/image" Target="../media/image41.png"/><Relationship Id="rId9" Type="http://schemas.openxmlformats.org/officeDocument/2006/relationships/image" Target="../media/image40.png"/></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44.jp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5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16.xml"/></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5.png"/><Relationship Id="rId1" Type="http://schemas.openxmlformats.org/officeDocument/2006/relationships/slideLayout" Target="../slideLayouts/slideLayout16.xml"/></Relationships>
</file>

<file path=ppt/slides/_rels/slide6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63.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image" Target="../media/image48.jpg"/><Relationship Id="rId1" Type="http://schemas.openxmlformats.org/officeDocument/2006/relationships/slideLayout" Target="../slideLayouts/slideLayout16.xml"/><Relationship Id="rId6" Type="http://schemas.openxmlformats.org/officeDocument/2006/relationships/image" Target="../media/image2.png"/><Relationship Id="rId5" Type="http://schemas.openxmlformats.org/officeDocument/2006/relationships/image" Target="../media/image51.jpg"/><Relationship Id="rId4" Type="http://schemas.openxmlformats.org/officeDocument/2006/relationships/image" Target="../media/image50.jpg"/></Relationships>
</file>

<file path=ppt/slides/_rels/slide64.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image" Target="../media/image52.jp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2.jpg"/><Relationship Id="rId1" Type="http://schemas.openxmlformats.org/officeDocument/2006/relationships/slideLayout" Target="../slideLayouts/slideLayout16.xml"/></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4.jpg"/><Relationship Id="rId1" Type="http://schemas.openxmlformats.org/officeDocument/2006/relationships/slideLayout" Target="../slideLayouts/slideLayout16.xml"/></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5.jpg"/><Relationship Id="rId1" Type="http://schemas.openxmlformats.org/officeDocument/2006/relationships/slideLayout" Target="../slideLayouts/slideLayout16.xml"/></Relationships>
</file>

<file path=ppt/slides/_rels/slide6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image" Target="../media/image56.jp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7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71.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image" Target="../media/image58.jp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0.jpg"/><Relationship Id="rId1" Type="http://schemas.openxmlformats.org/officeDocument/2006/relationships/slideLayout" Target="../slideLayouts/slideLayout16.xml"/></Relationships>
</file>

<file path=ppt/slides/_rels/slide7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1.jpg"/><Relationship Id="rId1" Type="http://schemas.openxmlformats.org/officeDocument/2006/relationships/slideLayout" Target="../slideLayouts/slideLayout16.xml"/></Relationships>
</file>

<file path=ppt/slides/_rels/slide7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1.jpg"/><Relationship Id="rId1" Type="http://schemas.openxmlformats.org/officeDocument/2006/relationships/slideLayout" Target="../slideLayouts/slideLayout16.xml"/></Relationships>
</file>

<file path=ppt/slides/_rels/slide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1.jpg"/><Relationship Id="rId1" Type="http://schemas.openxmlformats.org/officeDocument/2006/relationships/slideLayout" Target="../slideLayouts/slideLayout16.xml"/></Relationships>
</file>

<file path=ppt/slides/_rels/slide77.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image" Target="../media/image62.jpg"/><Relationship Id="rId1" Type="http://schemas.openxmlformats.org/officeDocument/2006/relationships/slideLayout" Target="../slideLayouts/slideLayout16.xml"/><Relationship Id="rId5" Type="http://schemas.openxmlformats.org/officeDocument/2006/relationships/image" Target="../media/image2.png"/><Relationship Id="rId4" Type="http://schemas.openxmlformats.org/officeDocument/2006/relationships/image" Target="../media/image64.jpg"/></Relationships>
</file>

<file path=ppt/slides/_rels/slide78.xml.rels><?xml version="1.0" encoding="UTF-8" standalone="yes"?>
<Relationships xmlns="http://schemas.openxmlformats.org/package/2006/relationships"><Relationship Id="rId3" Type="http://schemas.openxmlformats.org/officeDocument/2006/relationships/image" Target="../media/image66.jpg"/><Relationship Id="rId2" Type="http://schemas.openxmlformats.org/officeDocument/2006/relationships/image" Target="../media/image65.jp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7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80.xml.rels><?xml version="1.0" encoding="UTF-8" standalone="yes"?>
<Relationships xmlns="http://schemas.openxmlformats.org/package/2006/relationships"><Relationship Id="rId3" Type="http://schemas.openxmlformats.org/officeDocument/2006/relationships/image" Target="../media/image68.jpg"/><Relationship Id="rId7" Type="http://schemas.openxmlformats.org/officeDocument/2006/relationships/image" Target="../media/image2.png"/><Relationship Id="rId2" Type="http://schemas.openxmlformats.org/officeDocument/2006/relationships/image" Target="../media/image67.jpg"/><Relationship Id="rId1" Type="http://schemas.openxmlformats.org/officeDocument/2006/relationships/slideLayout" Target="../slideLayouts/slideLayout16.xml"/><Relationship Id="rId6" Type="http://schemas.openxmlformats.org/officeDocument/2006/relationships/image" Target="../media/image71.jpg"/><Relationship Id="rId5" Type="http://schemas.openxmlformats.org/officeDocument/2006/relationships/image" Target="../media/image70.png"/><Relationship Id="rId4" Type="http://schemas.openxmlformats.org/officeDocument/2006/relationships/image" Target="../media/image69.jpg"/></Relationships>
</file>

<file path=ppt/slides/_rels/slide81.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image" Target="../media/image72.jp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82.xml.rels><?xml version="1.0" encoding="UTF-8" standalone="yes"?>
<Relationships xmlns="http://schemas.openxmlformats.org/package/2006/relationships"><Relationship Id="rId3" Type="http://schemas.openxmlformats.org/officeDocument/2006/relationships/image" Target="../media/image75.jpg"/><Relationship Id="rId2" Type="http://schemas.openxmlformats.org/officeDocument/2006/relationships/image" Target="../media/image74.jp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3" Type="http://schemas.openxmlformats.org/officeDocument/2006/relationships/image" Target="../media/image77.jpg"/><Relationship Id="rId2" Type="http://schemas.openxmlformats.org/officeDocument/2006/relationships/image" Target="../media/image76.jpg"/><Relationship Id="rId1" Type="http://schemas.openxmlformats.org/officeDocument/2006/relationships/slideLayout" Target="../slideLayouts/slideLayout16.xml"/><Relationship Id="rId5" Type="http://schemas.openxmlformats.org/officeDocument/2006/relationships/image" Target="../media/image2.png"/><Relationship Id="rId4" Type="http://schemas.openxmlformats.org/officeDocument/2006/relationships/hyperlink" Target="https://github.com/gftm/Class_Generative_Networks"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github.com/gftm/Class_Generative_Networks" TargetMode="External"/><Relationship Id="rId1" Type="http://schemas.openxmlformats.org/officeDocument/2006/relationships/slideLayout" Target="../slideLayouts/slideLayout16.xml"/></Relationships>
</file>

<file path=ppt/slides/_rels/slide85.xml.rels><?xml version="1.0" encoding="UTF-8" standalone="yes"?>
<Relationships xmlns="http://schemas.openxmlformats.org/package/2006/relationships"><Relationship Id="rId3" Type="http://schemas.openxmlformats.org/officeDocument/2006/relationships/image" Target="../media/image79.jpg"/><Relationship Id="rId2" Type="http://schemas.openxmlformats.org/officeDocument/2006/relationships/image" Target="../media/image78.jpg"/><Relationship Id="rId1" Type="http://schemas.openxmlformats.org/officeDocument/2006/relationships/slideLayout" Target="../slideLayouts/slideLayout16.xml"/><Relationship Id="rId5" Type="http://schemas.openxmlformats.org/officeDocument/2006/relationships/image" Target="../media/image2.png"/><Relationship Id="rId4" Type="http://schemas.openxmlformats.org/officeDocument/2006/relationships/image" Target="../media/image80.jpg"/></Relationships>
</file>

<file path=ppt/slides/_rels/slide86.xml.rels><?xml version="1.0" encoding="UTF-8" standalone="yes"?>
<Relationships xmlns="http://schemas.openxmlformats.org/package/2006/relationships"><Relationship Id="rId3" Type="http://schemas.openxmlformats.org/officeDocument/2006/relationships/image" Target="../media/image82.jpg"/><Relationship Id="rId2" Type="http://schemas.openxmlformats.org/officeDocument/2006/relationships/image" Target="../media/image81.jpg"/><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87.xml.rels><?xml version="1.0" encoding="UTF-8" standalone="yes"?>
<Relationships xmlns="http://schemas.openxmlformats.org/package/2006/relationships"><Relationship Id="rId3" Type="http://schemas.openxmlformats.org/officeDocument/2006/relationships/image" Target="../media/image84.jpg"/><Relationship Id="rId2" Type="http://schemas.openxmlformats.org/officeDocument/2006/relationships/image" Target="../media/image83.jpg"/><Relationship Id="rId1" Type="http://schemas.openxmlformats.org/officeDocument/2006/relationships/slideLayout" Target="../slideLayouts/slideLayout16.xml"/><Relationship Id="rId5" Type="http://schemas.openxmlformats.org/officeDocument/2006/relationships/image" Target="../media/image2.png"/><Relationship Id="rId4" Type="http://schemas.openxmlformats.org/officeDocument/2006/relationships/image" Target="../media/image85.jpg"/></Relationships>
</file>

<file path=ppt/slides/_rels/slide88.xml.rels><?xml version="1.0" encoding="UTF-8" standalone="yes"?>
<Relationships xmlns="http://schemas.openxmlformats.org/package/2006/relationships"><Relationship Id="rId3" Type="http://schemas.openxmlformats.org/officeDocument/2006/relationships/image" Target="../media/image87.jpg"/><Relationship Id="rId2" Type="http://schemas.openxmlformats.org/officeDocument/2006/relationships/image" Target="../media/image86.jpg"/><Relationship Id="rId1" Type="http://schemas.openxmlformats.org/officeDocument/2006/relationships/slideLayout" Target="../slideLayouts/slideLayout16.xml"/></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8.jpg"/><Relationship Id="rId1" Type="http://schemas.openxmlformats.org/officeDocument/2006/relationships/slideLayout" Target="../slideLayouts/slideLayout1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89.jpe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90.jpeg"/></Relationships>
</file>

<file path=ppt/slides/_rels/slide9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95.png"/></Relationships>
</file>

<file path=ppt/slides/_rels/slide9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hyperlink" Target="https://www.baeldung.com/java-cnn-deeplearning4j" TargetMode="External"/><Relationship Id="rId4" Type="http://schemas.openxmlformats.org/officeDocument/2006/relationships/hyperlink" Target="https://www.baeldung.com/deeplearning4j" TargetMode="External"/></Relationships>
</file>

<file path=ppt/slides/_rels/slide9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hyperlink" Target="https://www.youtube.com/watch?v=m-aKj5ovDfg" TargetMode="External"/><Relationship Id="rId2" Type="http://schemas.openxmlformats.org/officeDocument/2006/relationships/hyperlink" Target="https://nptel.ac.in/courses/106106093/" TargetMode="Externa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hyperlink" Target="https://www.youtube.com/watch?v=G4NYQox4n2g" TargetMode="External"/></Relationships>
</file>

<file path=ppt/slides/_rels/slide10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hyperlink" Target="https://www.slideshare.net/2cdude/data-warehousing-3292359" TargetMode="External"/><Relationship Id="rId2" Type="http://schemas.openxmlformats.org/officeDocument/2006/relationships/hyperlink" Target="https://www.oreilly.com/library/view/datawarehousingarchitecture/0130809020/ch07.html" TargetMode="Externa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447800" y="40681"/>
            <a:ext cx="7620000" cy="833037"/>
          </a:xfr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a:noAutofit/>
          </a:bodyPr>
          <a:lstStyle/>
          <a:p>
            <a:r>
              <a:rPr lang="en-US" sz="2800" b="1" dirty="0">
                <a:effectLst>
                  <a:outerShdw blurRad="38100" dist="38100" dir="2700000" algn="tl">
                    <a:srgbClr val="000000">
                      <a:alpha val="43137"/>
                    </a:srgbClr>
                  </a:outerShdw>
                </a:effectLst>
              </a:rPr>
              <a:t>NOIDA INSTITUTE OF ENGINEERING AND TECHNOLOGY, GREATER NOIDA</a:t>
            </a:r>
          </a:p>
        </p:txBody>
      </p:sp>
      <p:sp>
        <p:nvSpPr>
          <p:cNvPr id="3" name="Subtitle 2"/>
          <p:cNvSpPr>
            <a:spLocks noGrp="1"/>
          </p:cNvSpPr>
          <p:nvPr>
            <p:ph type="subTitle" idx="1"/>
          </p:nvPr>
        </p:nvSpPr>
        <p:spPr>
          <a:xfrm>
            <a:off x="1358705" y="1219200"/>
            <a:ext cx="6400800" cy="990600"/>
          </a:xfrm>
        </p:spPr>
        <p:style>
          <a:lnRef idx="2">
            <a:schemeClr val="accent5"/>
          </a:lnRef>
          <a:fillRef idx="1">
            <a:schemeClr val="lt1"/>
          </a:fillRef>
          <a:effectRef idx="0">
            <a:schemeClr val="accent5"/>
          </a:effectRef>
          <a:fontRef idx="minor">
            <a:schemeClr val="dk1"/>
          </a:fontRef>
        </p:style>
        <p:txBody>
          <a:bodyPr>
            <a:normAutofit lnSpcReduction="10000"/>
          </a:bodyPr>
          <a:lstStyle/>
          <a:p>
            <a:r>
              <a:rPr lang="en-US" sz="3500" b="1" dirty="0">
                <a:solidFill>
                  <a:srgbClr val="7030A0"/>
                </a:solidFill>
                <a:effectLst>
                  <a:outerShdw blurRad="38100" dist="38100" dir="2700000" algn="tl">
                    <a:srgbClr val="000000">
                      <a:alpha val="43137"/>
                    </a:srgbClr>
                  </a:outerShdw>
                </a:effectLst>
              </a:rPr>
              <a:t>Visualization and Generative Models </a:t>
            </a:r>
          </a:p>
        </p:txBody>
      </p:sp>
      <p:sp>
        <p:nvSpPr>
          <p:cNvPr id="9" name="Date Placeholder 8"/>
          <p:cNvSpPr>
            <a:spLocks noGrp="1"/>
          </p:cNvSpPr>
          <p:nvPr>
            <p:ph type="dt" sz="half" idx="10"/>
          </p:nvPr>
        </p:nvSpPr>
        <p:spPr>
          <a:xfrm>
            <a:off x="381000" y="6492875"/>
            <a:ext cx="2133600" cy="365125"/>
          </a:xfrm>
        </p:spPr>
        <p:txBody>
          <a:bodyPr/>
          <a:lstStyle/>
          <a:p>
            <a:endParaRPr lang="en-US" dirty="0"/>
          </a:p>
        </p:txBody>
      </p:sp>
      <p:sp>
        <p:nvSpPr>
          <p:cNvPr id="13" name="Footer Placeholder 12"/>
          <p:cNvSpPr>
            <a:spLocks noGrp="1"/>
          </p:cNvSpPr>
          <p:nvPr>
            <p:ph type="ftr" sz="quarter" idx="11"/>
          </p:nvPr>
        </p:nvSpPr>
        <p:spPr>
          <a:xfrm>
            <a:off x="1600200" y="6248400"/>
            <a:ext cx="5715000" cy="320675"/>
          </a:xfrm>
        </p:spPr>
        <p:txBody>
          <a:bodyPr/>
          <a:lstStyle/>
          <a:p>
            <a:r>
              <a:rPr lang="it-IT"/>
              <a:t>Dr Preeti Gera            COMPUTER VISION  UNIT- IV</a:t>
            </a:r>
            <a:endParaRPr lang="en-US" dirty="0"/>
          </a:p>
        </p:txBody>
      </p:sp>
      <p:sp>
        <p:nvSpPr>
          <p:cNvPr id="10" name="Slide Number Placeholder 9"/>
          <p:cNvSpPr>
            <a:spLocks noGrp="1"/>
          </p:cNvSpPr>
          <p:nvPr>
            <p:ph type="sldNum" sz="quarter" idx="12"/>
          </p:nvPr>
        </p:nvSpPr>
        <p:spPr/>
        <p:txBody>
          <a:bodyPr/>
          <a:lstStyle/>
          <a:p>
            <a:fld id="{B6F15528-21DE-4FAA-801E-634DDDAF4B2B}" type="slidenum">
              <a:rPr lang="en-US" smtClean="0"/>
              <a:pPr/>
              <a:t>1</a:t>
            </a:fld>
            <a:endParaRPr lang="en-US" dirty="0"/>
          </a:p>
        </p:txBody>
      </p:sp>
      <p:pic>
        <p:nvPicPr>
          <p:cNvPr id="1026" name="Picture 2" descr="E:\NIET\Project\xLogo11.png.pagespeed.ic.pydHLuCQEZ.png"/>
          <p:cNvPicPr>
            <a:picLocks noChangeAspect="1" noChangeArrowheads="1"/>
          </p:cNvPicPr>
          <p:nvPr/>
        </p:nvPicPr>
        <p:blipFill>
          <a:blip r:embed="rId3"/>
          <a:srcRect/>
          <a:stretch>
            <a:fillRect/>
          </a:stretch>
        </p:blipFill>
        <p:spPr bwMode="auto">
          <a:xfrm>
            <a:off x="-76200" y="108943"/>
            <a:ext cx="1447800" cy="817163"/>
          </a:xfrm>
          <a:prstGeom prst="rect">
            <a:avLst/>
          </a:prstGeom>
          <a:noFill/>
        </p:spPr>
      </p:pic>
      <p:sp>
        <p:nvSpPr>
          <p:cNvPr id="6" name="Subtitle 2"/>
          <p:cNvSpPr txBox="1">
            <a:spLocks/>
          </p:cNvSpPr>
          <p:nvPr/>
        </p:nvSpPr>
        <p:spPr>
          <a:xfrm>
            <a:off x="5092570" y="3994151"/>
            <a:ext cx="3429000" cy="19050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chor="ctr">
            <a:normAutofit fontScale="85000" lnSpcReduction="20000"/>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400" b="1" dirty="0">
                <a:solidFill>
                  <a:schemeClr val="tx1"/>
                </a:solidFill>
              </a:rPr>
              <a:t>Faculty Name:</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400" dirty="0">
                <a:solidFill>
                  <a:schemeClr val="tx1"/>
                </a:solidFill>
              </a:rPr>
              <a:t>Dr Preeti Gera</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Affiliation</a:t>
            </a:r>
            <a:r>
              <a:rPr lang="en-US" sz="2400" b="1" baseline="0" dirty="0">
                <a:solidFill>
                  <a:schemeClr val="tx1"/>
                </a:solidFill>
              </a:rPr>
              <a:t>: </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400" b="0" i="0" u="none" strike="noStrike" kern="1200" cap="none" spc="0" normalizeH="0" noProof="0" dirty="0">
                <a:ln>
                  <a:noFill/>
                </a:ln>
                <a:solidFill>
                  <a:schemeClr val="tx1"/>
                </a:solidFill>
                <a:effectLst/>
                <a:uLnTx/>
                <a:uFillTx/>
                <a:latin typeface="+mn-lt"/>
                <a:ea typeface="+mn-ea"/>
                <a:cs typeface="+mn-cs"/>
              </a:rPr>
              <a:t>Associate Professor</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400" b="1" baseline="0" dirty="0">
                <a:solidFill>
                  <a:schemeClr val="tx1"/>
                </a:solidFill>
              </a:rPr>
              <a:t>Department:</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400" b="0" i="0" u="none" strike="noStrike" kern="1200" cap="none" spc="0" normalizeH="0" baseline="0" noProof="0" dirty="0">
                <a:ln>
                  <a:noFill/>
                </a:ln>
                <a:solidFill>
                  <a:schemeClr val="tx1"/>
                </a:solidFill>
                <a:effectLst/>
                <a:uLnTx/>
                <a:uFillTx/>
                <a:latin typeface="+mn-lt"/>
                <a:ea typeface="+mn-ea"/>
                <a:cs typeface="+mn-cs"/>
              </a:rPr>
              <a:t>CSE</a:t>
            </a:r>
          </a:p>
        </p:txBody>
      </p:sp>
      <p:pic>
        <p:nvPicPr>
          <p:cNvPr id="1027" name="Picture 3" descr="C:\Users\Manks\Downloads\128_calendar-schedule-credit-mortgage-date-512.png"/>
          <p:cNvPicPr>
            <a:picLocks noChangeAspect="1" noChangeArrowheads="1"/>
          </p:cNvPicPr>
          <p:nvPr/>
        </p:nvPicPr>
        <p:blipFill>
          <a:blip r:embed="rId4" cstate="print"/>
          <a:srcRect/>
          <a:stretch>
            <a:fillRect/>
          </a:stretch>
        </p:blipFill>
        <p:spPr bwMode="auto">
          <a:xfrm flipH="1">
            <a:off x="381000" y="5943600"/>
            <a:ext cx="533400" cy="533400"/>
          </a:xfrm>
          <a:prstGeom prst="rect">
            <a:avLst/>
          </a:prstGeom>
          <a:noFill/>
        </p:spPr>
      </p:pic>
      <p:pic>
        <p:nvPicPr>
          <p:cNvPr id="11" name="Picture 4" descr="C:\Users\Manks\Downloads\speak.png"/>
          <p:cNvPicPr>
            <a:picLocks noChangeAspect="1" noChangeArrowheads="1"/>
          </p:cNvPicPr>
          <p:nvPr/>
        </p:nvPicPr>
        <p:blipFill>
          <a:blip r:embed="rId5" cstate="print"/>
          <a:srcRect/>
          <a:stretch>
            <a:fillRect/>
          </a:stretch>
        </p:blipFill>
        <p:spPr bwMode="auto">
          <a:xfrm>
            <a:off x="6477000" y="2362200"/>
            <a:ext cx="1524000" cy="1524000"/>
          </a:xfrm>
          <a:prstGeom prst="rect">
            <a:avLst/>
          </a:prstGeom>
          <a:noFill/>
        </p:spPr>
      </p:pic>
      <p:sp>
        <p:nvSpPr>
          <p:cNvPr id="12" name="Subtitle 2"/>
          <p:cNvSpPr txBox="1">
            <a:spLocks/>
          </p:cNvSpPr>
          <p:nvPr/>
        </p:nvSpPr>
        <p:spPr>
          <a:xfrm>
            <a:off x="152400" y="2971800"/>
            <a:ext cx="2057400" cy="6858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500" b="1" i="0" u="none" strike="noStrike" kern="1200" cap="none" spc="0" normalizeH="0" baseline="0" noProof="0" dirty="0">
                <a:ln>
                  <a:noFill/>
                </a:ln>
                <a:solidFill>
                  <a:schemeClr val="tx1"/>
                </a:solidFill>
                <a:effectLst/>
                <a:uLnTx/>
                <a:uFillTx/>
                <a:latin typeface="+mn-lt"/>
                <a:ea typeface="+mn-ea"/>
                <a:cs typeface="+mn-cs"/>
              </a:rPr>
              <a:t>Unit:</a:t>
            </a:r>
            <a:r>
              <a:rPr kumimoji="0" lang="en-US" sz="2500" b="1" i="0" u="none" strike="noStrike" kern="1200" cap="none" spc="0" normalizeH="0" noProof="0" dirty="0">
                <a:ln>
                  <a:noFill/>
                </a:ln>
                <a:solidFill>
                  <a:schemeClr val="tx1"/>
                </a:solidFill>
                <a:effectLst/>
                <a:uLnTx/>
                <a:uFillTx/>
                <a:latin typeface="+mn-lt"/>
                <a:ea typeface="+mn-ea"/>
                <a:cs typeface="+mn-cs"/>
              </a:rPr>
              <a:t> 5</a:t>
            </a:r>
            <a:endParaRPr kumimoji="0" lang="en-US" sz="2500" b="0" i="0" u="none" strike="noStrike" kern="1200" cap="none" spc="0" normalizeH="0" baseline="0" noProof="0" dirty="0">
              <a:ln>
                <a:noFill/>
              </a:ln>
              <a:solidFill>
                <a:schemeClr val="tx1"/>
              </a:solidFill>
              <a:effectLst/>
              <a:uLnTx/>
              <a:uFillTx/>
              <a:latin typeface="+mn-lt"/>
              <a:ea typeface="+mn-ea"/>
              <a:cs typeface="+mn-cs"/>
            </a:endParaRPr>
          </a:p>
        </p:txBody>
      </p:sp>
      <p:sp>
        <p:nvSpPr>
          <p:cNvPr id="14" name="Subtitle 2"/>
          <p:cNvSpPr txBox="1">
            <a:spLocks/>
          </p:cNvSpPr>
          <p:nvPr/>
        </p:nvSpPr>
        <p:spPr>
          <a:xfrm>
            <a:off x="152400" y="3810000"/>
            <a:ext cx="4191000" cy="9144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Subject</a:t>
            </a:r>
            <a:r>
              <a:rPr kumimoji="0" lang="en-US" sz="2400" b="1" i="0" u="none" strike="noStrike" kern="1200" cap="none" spc="0" normalizeH="0" noProof="0" dirty="0">
                <a:ln>
                  <a:noFill/>
                </a:ln>
                <a:solidFill>
                  <a:schemeClr val="tx1"/>
                </a:solidFill>
                <a:effectLst/>
                <a:uLnTx/>
                <a:uFillTx/>
                <a:latin typeface="+mn-lt"/>
                <a:ea typeface="+mn-ea"/>
                <a:cs typeface="+mn-cs"/>
              </a:rPr>
              <a:t> Name:</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000" noProof="0" dirty="0">
                <a:solidFill>
                  <a:schemeClr val="tx1"/>
                </a:solidFill>
              </a:rPr>
              <a:t>Computer Vision</a:t>
            </a:r>
            <a:endParaRPr kumimoji="0" lang="en-US" sz="2000" b="0" i="0" u="none" strike="noStrike" kern="1200" cap="none" spc="0" normalizeH="0" baseline="0" noProof="0" dirty="0">
              <a:ln>
                <a:noFill/>
              </a:ln>
              <a:solidFill>
                <a:schemeClr val="tx1"/>
              </a:solidFill>
              <a:effectLst/>
              <a:uLnTx/>
              <a:uFillTx/>
              <a:latin typeface="+mn-lt"/>
              <a:ea typeface="+mn-ea"/>
              <a:cs typeface="+mn-cs"/>
            </a:endParaRPr>
          </a:p>
        </p:txBody>
      </p:sp>
      <p:sp>
        <p:nvSpPr>
          <p:cNvPr id="15" name="Subtitle 2"/>
          <p:cNvSpPr txBox="1">
            <a:spLocks/>
          </p:cNvSpPr>
          <p:nvPr/>
        </p:nvSpPr>
        <p:spPr>
          <a:xfrm>
            <a:off x="152400" y="4800600"/>
            <a:ext cx="4191000" cy="9906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chor="t">
            <a:normAutofit fontScale="92500" lnSpcReduction="20000"/>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600" b="1" i="0" u="none" strike="noStrike" kern="1200" cap="none" spc="0" normalizeH="0" baseline="0" noProof="0" dirty="0">
                <a:ln>
                  <a:noFill/>
                </a:ln>
                <a:solidFill>
                  <a:schemeClr val="tx1"/>
                </a:solidFill>
                <a:effectLst/>
                <a:uLnTx/>
                <a:uFillTx/>
                <a:latin typeface="+mn-lt"/>
                <a:ea typeface="+mn-ea"/>
                <a:cs typeface="+mn-cs"/>
              </a:rPr>
              <a:t>Course</a:t>
            </a:r>
            <a:r>
              <a:rPr kumimoji="0" lang="en-US" sz="2600" b="1" i="0" u="none" strike="noStrike" kern="1200" cap="none" spc="0" normalizeH="0" noProof="0" dirty="0">
                <a:ln>
                  <a:noFill/>
                </a:ln>
                <a:solidFill>
                  <a:schemeClr val="tx1"/>
                </a:solidFill>
                <a:effectLst/>
                <a:uLnTx/>
                <a:uFillTx/>
                <a:latin typeface="+mn-lt"/>
                <a:ea typeface="+mn-ea"/>
                <a:cs typeface="+mn-cs"/>
              </a:rPr>
              <a:t> Details:</a:t>
            </a:r>
          </a:p>
          <a:p>
            <a:pPr algn="ctr">
              <a:spcBef>
                <a:spcPct val="20000"/>
              </a:spcBef>
              <a:defRPr/>
            </a:pPr>
            <a:r>
              <a:rPr lang="en-US" sz="2000" dirty="0" err="1">
                <a:solidFill>
                  <a:schemeClr val="tx1"/>
                </a:solidFill>
              </a:rPr>
              <a:t>B.Tech</a:t>
            </a:r>
            <a:r>
              <a:rPr lang="en-US" sz="2000" dirty="0">
                <a:solidFill>
                  <a:schemeClr val="tx1"/>
                </a:solidFill>
              </a:rPr>
              <a:t> 7th </a:t>
            </a:r>
            <a:r>
              <a:rPr kumimoji="0" lang="en-US" sz="2000" b="0" i="0" u="none" strike="noStrike" kern="1200" cap="none" spc="0" normalizeH="0" noProof="0" dirty="0">
                <a:ln>
                  <a:noFill/>
                </a:ln>
                <a:solidFill>
                  <a:schemeClr val="tx1"/>
                </a:solidFill>
                <a:effectLst/>
                <a:uLnTx/>
                <a:uFillTx/>
                <a:latin typeface="+mn-lt"/>
                <a:ea typeface="+mn-ea"/>
                <a:cs typeface="+mn-cs"/>
              </a:rPr>
              <a:t> Sem</a:t>
            </a:r>
            <a:br>
              <a:rPr kumimoji="0" lang="en-US" sz="2000" b="0" i="0" u="none" strike="noStrike" kern="1200" cap="none" spc="0" normalizeH="0" noProof="0" dirty="0">
                <a:ln>
                  <a:noFill/>
                </a:ln>
                <a:solidFill>
                  <a:schemeClr val="tx1"/>
                </a:solidFill>
                <a:effectLst/>
                <a:uLnTx/>
                <a:uFillTx/>
                <a:latin typeface="+mn-lt"/>
                <a:ea typeface="+mn-ea"/>
                <a:cs typeface="+mn-cs"/>
              </a:rPr>
            </a:br>
            <a:endParaRPr kumimoji="0" lang="en-US" sz="2000" b="0" i="0" u="none" strike="noStrike" kern="1200" cap="none" spc="0" normalizeH="0" baseline="0" noProof="0" dirty="0">
              <a:ln>
                <a:noFill/>
              </a:ln>
              <a:solidFill>
                <a:schemeClr val="tx1"/>
              </a:solidFill>
              <a:effectLst/>
              <a:uLnTx/>
              <a:uFillTx/>
              <a:latin typeface="+mn-lt"/>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2</a:t>
            </a:fld>
            <a:endParaRPr lang="en-US" dirty="0"/>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57150" y="40688"/>
            <a:ext cx="1143000" cy="645129"/>
          </a:xfrm>
          <a:prstGeom prst="rect">
            <a:avLst/>
          </a:prstGeom>
          <a:noFill/>
        </p:spPr>
      </p:pic>
      <p:sp>
        <p:nvSpPr>
          <p:cNvPr id="11" name="Footer Placeholder 12"/>
          <p:cNvSpPr>
            <a:spLocks noGrp="1"/>
          </p:cNvSpPr>
          <p:nvPr>
            <p:ph type="ftr" sz="quarter" idx="11"/>
          </p:nvPr>
        </p:nvSpPr>
        <p:spPr>
          <a:xfrm>
            <a:off x="1600200" y="6248400"/>
            <a:ext cx="5715000" cy="320675"/>
          </a:xfrm>
        </p:spPr>
        <p:txBody>
          <a:bodyPr/>
          <a:lstStyle/>
          <a:p>
            <a:r>
              <a:rPr lang="it-IT"/>
              <a:t>Dr Preeti Gera            COMPUTER VISION  UNIT- IV</a:t>
            </a:r>
            <a:endParaRPr lang="en-US" dirty="0"/>
          </a:p>
        </p:txBody>
      </p:sp>
      <p:sp>
        <p:nvSpPr>
          <p:cNvPr id="9" name="Rectangle 8"/>
          <p:cNvSpPr/>
          <p:nvPr/>
        </p:nvSpPr>
        <p:spPr>
          <a:xfrm>
            <a:off x="280556" y="983674"/>
            <a:ext cx="8593281" cy="5687711"/>
          </a:xfrm>
          <a:prstGeom prst="rect">
            <a:avLst/>
          </a:prstGeom>
        </p:spPr>
        <p:txBody>
          <a:bodyPr wrap="square">
            <a:spAutoFit/>
          </a:bodyPr>
          <a:lstStyle/>
          <a:p>
            <a:pPr lvl="0">
              <a:spcBef>
                <a:spcPct val="20000"/>
              </a:spcBef>
              <a:defRPr/>
            </a:pPr>
            <a:r>
              <a:rPr lang="en-US" dirty="0">
                <a:latin typeface="Times New Roman" pitchFamily="18" charset="0"/>
                <a:cs typeface="Times New Roman" pitchFamily="18" charset="0"/>
              </a:rPr>
              <a:t>Name:-	</a:t>
            </a:r>
            <a:r>
              <a:rPr lang="en-US" b="1" dirty="0">
                <a:latin typeface="Times New Roman" pitchFamily="18" charset="0"/>
                <a:cs typeface="Times New Roman" pitchFamily="18" charset="0"/>
              </a:rPr>
              <a:t>K </a:t>
            </a:r>
            <a:r>
              <a:rPr lang="en-US" b="1" dirty="0" err="1">
                <a:latin typeface="Times New Roman" pitchFamily="18" charset="0"/>
                <a:cs typeface="Times New Roman" pitchFamily="18" charset="0"/>
              </a:rPr>
              <a:t>Prabhanjan</a:t>
            </a:r>
            <a:r>
              <a:rPr lang="en-US" b="1" dirty="0">
                <a:latin typeface="Times New Roman" pitchFamily="18" charset="0"/>
                <a:cs typeface="Times New Roman" pitchFamily="18" charset="0"/>
              </a:rPr>
              <a:t> </a:t>
            </a:r>
            <a:r>
              <a:rPr lang="en-US" b="1" dirty="0" err="1">
                <a:latin typeface="Times New Roman" pitchFamily="18" charset="0"/>
                <a:cs typeface="Times New Roman" pitchFamily="18" charset="0"/>
              </a:rPr>
              <a:t>kumar</a:t>
            </a:r>
            <a:endParaRPr lang="en-US" b="1" dirty="0">
              <a:latin typeface="Times New Roman" pitchFamily="18" charset="0"/>
              <a:cs typeface="Times New Roman" pitchFamily="18" charset="0"/>
            </a:endParaRPr>
          </a:p>
          <a:p>
            <a:pPr lvl="0">
              <a:spcBef>
                <a:spcPct val="20000"/>
              </a:spcBef>
              <a:defRPr/>
            </a:pPr>
            <a:r>
              <a:rPr lang="en-US" dirty="0">
                <a:latin typeface="Times New Roman" pitchFamily="18" charset="0"/>
                <a:cs typeface="Times New Roman" pitchFamily="18" charset="0"/>
              </a:rPr>
              <a:t>	Assistant Professor, IT</a:t>
            </a:r>
          </a:p>
          <a:p>
            <a:pPr lvl="0">
              <a:spcBef>
                <a:spcPct val="20000"/>
              </a:spcBef>
              <a:defRPr/>
            </a:pPr>
            <a:r>
              <a:rPr lang="en-US" dirty="0">
                <a:latin typeface="Times New Roman" pitchFamily="18" charset="0"/>
                <a:cs typeface="Times New Roman" pitchFamily="18" charset="0"/>
              </a:rPr>
              <a:t>	NIET , </a:t>
            </a:r>
            <a:r>
              <a:rPr lang="en-US" dirty="0" err="1">
                <a:latin typeface="Times New Roman" pitchFamily="18" charset="0"/>
                <a:cs typeface="Times New Roman" pitchFamily="18" charset="0"/>
              </a:rPr>
              <a:t>Greter</a:t>
            </a:r>
            <a:r>
              <a:rPr lang="en-US" dirty="0">
                <a:latin typeface="Times New Roman" pitchFamily="18" charset="0"/>
                <a:cs typeface="Times New Roman" pitchFamily="18" charset="0"/>
              </a:rPr>
              <a:t> </a:t>
            </a:r>
            <a:r>
              <a:rPr lang="en-US" dirty="0" err="1">
                <a:latin typeface="Times New Roman" pitchFamily="18" charset="0"/>
                <a:cs typeface="Times New Roman" pitchFamily="18" charset="0"/>
              </a:rPr>
              <a:t>Noida</a:t>
            </a:r>
            <a:endParaRPr lang="en-US" dirty="0">
              <a:latin typeface="Times New Roman" pitchFamily="18" charset="0"/>
              <a:cs typeface="Times New Roman" pitchFamily="18" charset="0"/>
            </a:endParaRPr>
          </a:p>
          <a:p>
            <a:pPr lvl="0">
              <a:spcBef>
                <a:spcPct val="20000"/>
              </a:spcBef>
              <a:defRPr/>
            </a:pPr>
            <a:r>
              <a:rPr lang="en-US" dirty="0">
                <a:latin typeface="Times New Roman" pitchFamily="18" charset="0"/>
                <a:cs typeface="Times New Roman" pitchFamily="18" charset="0"/>
              </a:rPr>
              <a:t>Qualification </a:t>
            </a:r>
          </a:p>
          <a:p>
            <a:pPr lvl="1">
              <a:spcBef>
                <a:spcPct val="20000"/>
              </a:spcBef>
              <a:buFont typeface="Wingdings" pitchFamily="2" charset="2"/>
              <a:buChar char="v"/>
              <a:defRPr/>
            </a:pPr>
            <a:r>
              <a:rPr lang="en-US" dirty="0">
                <a:latin typeface="Times New Roman" pitchFamily="18" charset="0"/>
                <a:cs typeface="Times New Roman" pitchFamily="18" charset="0"/>
              </a:rPr>
              <a:t>Post Graduated from </a:t>
            </a:r>
            <a:r>
              <a:rPr lang="en-US" dirty="0" err="1">
                <a:latin typeface="Times New Roman" pitchFamily="18" charset="0"/>
                <a:cs typeface="Times New Roman" pitchFamily="18" charset="0"/>
              </a:rPr>
              <a:t>Pydah</a:t>
            </a:r>
            <a:r>
              <a:rPr lang="en-US" dirty="0">
                <a:latin typeface="Times New Roman" pitchFamily="18" charset="0"/>
                <a:cs typeface="Times New Roman" pitchFamily="18" charset="0"/>
              </a:rPr>
              <a:t> Engineering college VIZAG affiliated under JNTU KAKINADA, Andhra Pradesh.</a:t>
            </a:r>
          </a:p>
          <a:p>
            <a:pPr lvl="1">
              <a:spcBef>
                <a:spcPct val="20000"/>
              </a:spcBef>
              <a:buFont typeface="Wingdings" pitchFamily="2" charset="2"/>
              <a:buChar char="v"/>
              <a:defRPr/>
            </a:pPr>
            <a:r>
              <a:rPr lang="en-US" dirty="0">
                <a:latin typeface="Times New Roman" pitchFamily="18" charset="0"/>
                <a:cs typeface="Times New Roman" pitchFamily="18" charset="0"/>
              </a:rPr>
              <a:t>Graduation from </a:t>
            </a:r>
            <a:r>
              <a:rPr lang="en-US" dirty="0" err="1">
                <a:latin typeface="Times New Roman" pitchFamily="18" charset="0"/>
                <a:cs typeface="Times New Roman" pitchFamily="18" charset="0"/>
              </a:rPr>
              <a:t>Prakasam</a:t>
            </a:r>
            <a:r>
              <a:rPr lang="en-US" dirty="0">
                <a:latin typeface="Times New Roman" pitchFamily="18" charset="0"/>
                <a:cs typeface="Times New Roman" pitchFamily="18" charset="0"/>
              </a:rPr>
              <a:t> Engineering college </a:t>
            </a:r>
            <a:r>
              <a:rPr lang="en-US" dirty="0" err="1">
                <a:latin typeface="Times New Roman" pitchFamily="18" charset="0"/>
                <a:cs typeface="Times New Roman" pitchFamily="18" charset="0"/>
              </a:rPr>
              <a:t>Kandukur</a:t>
            </a:r>
            <a:r>
              <a:rPr lang="en-US" dirty="0">
                <a:latin typeface="Times New Roman" pitchFamily="18" charset="0"/>
                <a:cs typeface="Times New Roman" pitchFamily="18" charset="0"/>
              </a:rPr>
              <a:t> affiliated under JNTU KAKINADA, Andhra Pradesh.</a:t>
            </a:r>
          </a:p>
          <a:p>
            <a:endParaRPr lang="en-US" b="1" u="sng" dirty="0">
              <a:latin typeface="Times New Roman" pitchFamily="18" charset="0"/>
              <a:cs typeface="Times New Roman" pitchFamily="18" charset="0"/>
            </a:endParaRPr>
          </a:p>
          <a:p>
            <a:r>
              <a:rPr lang="en-US" b="1" dirty="0">
                <a:latin typeface="Times New Roman" pitchFamily="18" charset="0"/>
                <a:cs typeface="Times New Roman" pitchFamily="18" charset="0"/>
              </a:rPr>
              <a:t>Teaching Experience	:	9 Years</a:t>
            </a:r>
          </a:p>
          <a:p>
            <a:r>
              <a:rPr lang="en-US" b="1" u="sng" dirty="0">
                <a:latin typeface="Times New Roman" pitchFamily="18" charset="0"/>
                <a:cs typeface="Times New Roman" pitchFamily="18" charset="0"/>
              </a:rPr>
              <a:t>Technical skills </a:t>
            </a:r>
            <a:endParaRPr lang="en-IN" sz="1200" u="sng" dirty="0">
              <a:latin typeface="Times New Roman" pitchFamily="18" charset="0"/>
              <a:cs typeface="Times New Roman" pitchFamily="18" charset="0"/>
            </a:endParaRPr>
          </a:p>
          <a:p>
            <a:r>
              <a:rPr lang="en-IN" b="1" dirty="0">
                <a:latin typeface="Times New Roman" pitchFamily="18" charset="0"/>
                <a:cs typeface="Times New Roman" pitchFamily="18" charset="0"/>
              </a:rPr>
              <a:t>Big Data &amp; Eco System	:	 </a:t>
            </a:r>
            <a:r>
              <a:rPr lang="en-IN" b="1" dirty="0" err="1">
                <a:latin typeface="Times New Roman" pitchFamily="18" charset="0"/>
                <a:cs typeface="Times New Roman" pitchFamily="18" charset="0"/>
              </a:rPr>
              <a:t>Hadoop</a:t>
            </a:r>
            <a:r>
              <a:rPr lang="en-IN" b="1" dirty="0">
                <a:latin typeface="Times New Roman" pitchFamily="18" charset="0"/>
                <a:cs typeface="Times New Roman" pitchFamily="18" charset="0"/>
              </a:rPr>
              <a:t>,  Hive, Pig, </a:t>
            </a:r>
            <a:r>
              <a:rPr lang="en-IN" b="1" dirty="0" err="1">
                <a:latin typeface="Times New Roman" pitchFamily="18" charset="0"/>
                <a:cs typeface="Times New Roman" pitchFamily="18" charset="0"/>
              </a:rPr>
              <a:t>Sqoop</a:t>
            </a:r>
            <a:r>
              <a:rPr lang="en-IN" b="1" dirty="0">
                <a:latin typeface="Times New Roman" pitchFamily="18" charset="0"/>
                <a:cs typeface="Times New Roman" pitchFamily="18" charset="0"/>
              </a:rPr>
              <a:t>, Flume,                            </a:t>
            </a:r>
            <a:endParaRPr lang="en-IN" sz="1200" dirty="0">
              <a:latin typeface="Times New Roman" pitchFamily="18" charset="0"/>
              <a:cs typeface="Times New Roman" pitchFamily="18" charset="0"/>
            </a:endParaRPr>
          </a:p>
          <a:p>
            <a:r>
              <a:rPr lang="en-IN" b="1" dirty="0">
                <a:latin typeface="Times New Roman" pitchFamily="18" charset="0"/>
                <a:cs typeface="Times New Roman" pitchFamily="18" charset="0"/>
              </a:rPr>
              <a:t>                                                            	 </a:t>
            </a:r>
            <a:r>
              <a:rPr lang="en-IN" b="1" dirty="0" err="1">
                <a:latin typeface="Times New Roman" pitchFamily="18" charset="0"/>
                <a:cs typeface="Times New Roman" pitchFamily="18" charset="0"/>
              </a:rPr>
              <a:t>Oozie</a:t>
            </a:r>
            <a:r>
              <a:rPr lang="en-IN" b="1" dirty="0">
                <a:latin typeface="Times New Roman" pitchFamily="18" charset="0"/>
                <a:cs typeface="Times New Roman" pitchFamily="18" charset="0"/>
              </a:rPr>
              <a:t>. </a:t>
            </a:r>
            <a:endParaRPr lang="en-IN" sz="1200" dirty="0">
              <a:latin typeface="Times New Roman" pitchFamily="18" charset="0"/>
              <a:cs typeface="Times New Roman" pitchFamily="18" charset="0"/>
            </a:endParaRPr>
          </a:p>
          <a:p>
            <a:r>
              <a:rPr lang="en-IN" b="1" dirty="0" err="1">
                <a:latin typeface="Times New Roman" pitchFamily="18" charset="0"/>
                <a:cs typeface="Times New Roman" pitchFamily="18" charset="0"/>
              </a:rPr>
              <a:t>Nosql</a:t>
            </a:r>
            <a:r>
              <a:rPr lang="en-IN" b="1" dirty="0">
                <a:latin typeface="Times New Roman" pitchFamily="18" charset="0"/>
                <a:cs typeface="Times New Roman" pitchFamily="18" charset="0"/>
              </a:rPr>
              <a:t> Databases		:	</a:t>
            </a:r>
            <a:r>
              <a:rPr lang="en-IN" b="1" dirty="0" err="1">
                <a:latin typeface="Times New Roman" pitchFamily="18" charset="0"/>
                <a:cs typeface="Times New Roman" pitchFamily="18" charset="0"/>
              </a:rPr>
              <a:t>Hbase</a:t>
            </a:r>
            <a:r>
              <a:rPr lang="en-IN" b="1" dirty="0">
                <a:latin typeface="Times New Roman" pitchFamily="18" charset="0"/>
                <a:cs typeface="Times New Roman" pitchFamily="18" charset="0"/>
              </a:rPr>
              <a:t>.</a:t>
            </a:r>
            <a:endParaRPr lang="en-IN" sz="1200" dirty="0">
              <a:latin typeface="Times New Roman" pitchFamily="18" charset="0"/>
              <a:cs typeface="Times New Roman" pitchFamily="18" charset="0"/>
            </a:endParaRPr>
          </a:p>
          <a:p>
            <a:r>
              <a:rPr lang="en-US" b="1" dirty="0">
                <a:latin typeface="Times New Roman" pitchFamily="18" charset="0"/>
                <a:cs typeface="Times New Roman" pitchFamily="18" charset="0"/>
              </a:rPr>
              <a:t>Database Languages	:	 Oracle 10g,Mysql.</a:t>
            </a:r>
            <a:endParaRPr lang="en-IN" sz="1200" dirty="0">
              <a:latin typeface="Times New Roman" pitchFamily="18" charset="0"/>
              <a:cs typeface="Times New Roman" pitchFamily="18" charset="0"/>
            </a:endParaRPr>
          </a:p>
          <a:p>
            <a:r>
              <a:rPr lang="en-IN" b="1" dirty="0">
                <a:latin typeface="Times New Roman" pitchFamily="18" charset="0"/>
                <a:cs typeface="Times New Roman" pitchFamily="18" charset="0"/>
              </a:rPr>
              <a:t>Operating Systems	:	Windows Family, Linux (</a:t>
            </a:r>
            <a:r>
              <a:rPr lang="en-IN" b="1" dirty="0" err="1">
                <a:latin typeface="Times New Roman" pitchFamily="18" charset="0"/>
                <a:cs typeface="Times New Roman" pitchFamily="18" charset="0"/>
              </a:rPr>
              <a:t>Ubuntu</a:t>
            </a:r>
            <a:r>
              <a:rPr lang="en-IN" b="1" dirty="0">
                <a:latin typeface="Times New Roman" pitchFamily="18" charset="0"/>
                <a:cs typeface="Times New Roman" pitchFamily="18" charset="0"/>
              </a:rPr>
              <a:t>).</a:t>
            </a:r>
            <a:endParaRPr lang="en-IN" sz="1200" dirty="0">
              <a:latin typeface="Times New Roman" pitchFamily="18" charset="0"/>
              <a:cs typeface="Times New Roman" pitchFamily="18" charset="0"/>
            </a:endParaRPr>
          </a:p>
          <a:p>
            <a:r>
              <a:rPr lang="en-IN" b="1" dirty="0">
                <a:latin typeface="Times New Roman" pitchFamily="18" charset="0"/>
                <a:cs typeface="Times New Roman" pitchFamily="18" charset="0"/>
              </a:rPr>
              <a:t>Programming Languages	:	</a:t>
            </a:r>
            <a:r>
              <a:rPr lang="en-IN" b="1" dirty="0" err="1">
                <a:latin typeface="Times New Roman" pitchFamily="18" charset="0"/>
                <a:cs typeface="Times New Roman" pitchFamily="18" charset="0"/>
              </a:rPr>
              <a:t>C,Core</a:t>
            </a:r>
            <a:r>
              <a:rPr lang="en-IN" b="1" dirty="0">
                <a:latin typeface="Times New Roman" pitchFamily="18" charset="0"/>
                <a:cs typeface="Times New Roman" pitchFamily="18" charset="0"/>
              </a:rPr>
              <a:t>-java.</a:t>
            </a:r>
            <a:endParaRPr lang="en-IN" sz="1200" dirty="0">
              <a:latin typeface="Times New Roman" pitchFamily="18" charset="0"/>
              <a:cs typeface="Times New Roman" pitchFamily="18" charset="0"/>
            </a:endParaRPr>
          </a:p>
          <a:p>
            <a:r>
              <a:rPr lang="en-US" b="1" dirty="0">
                <a:latin typeface="Times New Roman" pitchFamily="18" charset="0"/>
                <a:cs typeface="Times New Roman" pitchFamily="18" charset="0"/>
              </a:rPr>
              <a:t>IDE			:	Eclipse.</a:t>
            </a:r>
            <a:endParaRPr lang="en-IN" sz="1200" dirty="0">
              <a:latin typeface="Times New Roman" pitchFamily="18" charset="0"/>
              <a:cs typeface="Times New Roman" pitchFamily="18" charset="0"/>
            </a:endParaRPr>
          </a:p>
          <a:p>
            <a:pPr lvl="1">
              <a:spcBef>
                <a:spcPct val="20000"/>
              </a:spcBef>
              <a:defRPr/>
            </a:pPr>
            <a:endParaRPr lang="en-US" dirty="0">
              <a:latin typeface="Times New Roman" pitchFamily="18" charset="0"/>
              <a:cs typeface="Times New Roman" pitchFamily="18" charset="0"/>
            </a:endParaRPr>
          </a:p>
        </p:txBody>
      </p:sp>
      <p:pic>
        <p:nvPicPr>
          <p:cNvPr id="10" name="Picture 2"/>
          <p:cNvPicPr>
            <a:picLocks noChangeAspect="1" noChangeArrowheads="1"/>
          </p:cNvPicPr>
          <p:nvPr/>
        </p:nvPicPr>
        <p:blipFill>
          <a:blip r:embed="rId3"/>
          <a:srcRect/>
          <a:stretch>
            <a:fillRect/>
          </a:stretch>
        </p:blipFill>
        <p:spPr bwMode="auto">
          <a:xfrm>
            <a:off x="6763110" y="685817"/>
            <a:ext cx="1728794" cy="1571632"/>
          </a:xfrm>
          <a:prstGeom prst="rect">
            <a:avLst/>
          </a:prstGeom>
          <a:noFill/>
          <a:ln w="9525">
            <a:noFill/>
            <a:miter lim="800000"/>
            <a:headEnd/>
            <a:tailEnd/>
          </a:ln>
          <a:effectLst/>
        </p:spPr>
      </p:pic>
      <p:sp>
        <p:nvSpPr>
          <p:cNvPr id="12" name="Title 1"/>
          <p:cNvSpPr txBox="1">
            <a:spLocks/>
          </p:cNvSpPr>
          <p:nvPr/>
        </p:nvSpPr>
        <p:spPr>
          <a:xfrm>
            <a:off x="1371600" y="21"/>
            <a:ext cx="7772400" cy="685799"/>
          </a:xfrm>
          <a:prstGeom prst="rect">
            <a:avLst/>
          </a:prstGeom>
          <a:solidFill>
            <a:schemeClr val="accent3">
              <a:lumMod val="40000"/>
              <a:lumOff val="60000"/>
            </a:schemeClr>
          </a:solidFill>
          <a:ln>
            <a:solidFill>
              <a:schemeClr val="accent3">
                <a:lumMod val="40000"/>
                <a:lumOff val="60000"/>
              </a:schemeClr>
            </a:solidFill>
          </a:ln>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dirty="0">
                <a:latin typeface="Times New Roman" pitchFamily="18" charset="0"/>
                <a:cs typeface="Times New Roman" pitchFamily="18" charset="0"/>
              </a:rPr>
              <a:t>Brief Introduction About Me</a:t>
            </a:r>
            <a:endParaRPr kumimoji="0" lang="en-US" sz="2400" b="0" i="0" u="none" strike="noStrike" kern="1200" cap="none" spc="0" normalizeH="0" baseline="0" noProof="0" dirty="0">
              <a:ln>
                <a:noFill/>
              </a:ln>
              <a:solidFill>
                <a:schemeClr val="dk1"/>
              </a:solidFill>
              <a:effectLst/>
              <a:uLnTx/>
              <a:uFillTx/>
              <a:latin typeface="Times New Roman" pitchFamily="18" charset="0"/>
              <a:cs typeface="Times New Roman" pitchFamily="18" charset="0"/>
            </a:endParaRPr>
          </a:p>
        </p:txBody>
      </p:sp>
    </p:spTree>
    <p:extLst>
      <p:ext uri="{BB962C8B-B14F-4D97-AF65-F5344CB8AC3E}">
        <p14:creationId xmlns:p14="http://schemas.microsoft.com/office/powerpoint/2010/main" val="1681563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a:xfrm>
            <a:off x="2895600" y="6356350"/>
            <a:ext cx="4419600" cy="365125"/>
          </a:xfrm>
        </p:spPr>
        <p:txBody>
          <a:bodyPr/>
          <a:lstStyle/>
          <a:p>
            <a:pPr>
              <a:defRPr/>
            </a:pPr>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3</a:t>
            </a:fld>
            <a:endParaRPr lang="en-US" dirty="0"/>
          </a:p>
        </p:txBody>
      </p:sp>
      <p:sp>
        <p:nvSpPr>
          <p:cNvPr id="9" name="Title 1"/>
          <p:cNvSpPr txBox="1">
            <a:spLocks/>
          </p:cNvSpPr>
          <p:nvPr/>
        </p:nvSpPr>
        <p:spPr>
          <a:xfrm>
            <a:off x="1600200" y="1"/>
            <a:ext cx="75438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a:t>UNIT-I</a:t>
            </a:r>
            <a:endParaRPr lang="en-US" sz="3200" b="1" dirty="0">
              <a:solidFill>
                <a:schemeClr val="tx1"/>
              </a:solidFill>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A9FF7AF-256B-4FAE-8C83-E5E9D30A5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4043"/>
            <a:ext cx="1327052" cy="581757"/>
          </a:xfrm>
          <a:prstGeom prst="rect">
            <a:avLst/>
          </a:prstGeom>
        </p:spPr>
      </p:pic>
      <p:sp>
        <p:nvSpPr>
          <p:cNvPr id="8" name="TextBox 7">
            <a:extLst>
              <a:ext uri="{FF2B5EF4-FFF2-40B4-BE49-F238E27FC236}">
                <a16:creationId xmlns:a16="http://schemas.microsoft.com/office/drawing/2014/main" id="{067567D3-B65B-4752-8952-9BA2BB96D648}"/>
              </a:ext>
            </a:extLst>
          </p:cNvPr>
          <p:cNvSpPr txBox="1"/>
          <p:nvPr/>
        </p:nvSpPr>
        <p:spPr>
          <a:xfrm>
            <a:off x="1463040" y="1067772"/>
            <a:ext cx="7071360" cy="523220"/>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algn="just"/>
            <a:r>
              <a:rPr lang="en-IN" sz="2800" b="1" dirty="0"/>
              <a:t>UNIT-I: </a:t>
            </a:r>
            <a:r>
              <a:rPr lang="en-US" sz="2800" b="1" dirty="0"/>
              <a:t> </a:t>
            </a:r>
            <a:r>
              <a:rPr lang="en-GB" sz="2800" kern="100" dirty="0">
                <a:latin typeface="Times New Roman" panose="02020603050405020304" pitchFamily="18" charset="0"/>
                <a:cs typeface="Times New Roman" panose="02020603050405020304" pitchFamily="18" charset="0"/>
              </a:rPr>
              <a:t>Introduction to Computer Vision:</a:t>
            </a:r>
            <a:endParaRPr lang="en-IN" sz="2800" kern="100" dirty="0">
              <a:latin typeface="Times New Roman" panose="02020603050405020304" pitchFamily="18" charset="0"/>
              <a:cs typeface="Times New Roman" panose="02020603050405020304" pitchFamily="18" charset="0"/>
            </a:endParaRPr>
          </a:p>
        </p:txBody>
      </p:sp>
      <p:graphicFrame>
        <p:nvGraphicFramePr>
          <p:cNvPr id="10" name="Diagram 9">
            <a:extLst>
              <a:ext uri="{FF2B5EF4-FFF2-40B4-BE49-F238E27FC236}">
                <a16:creationId xmlns:a16="http://schemas.microsoft.com/office/drawing/2014/main" id="{5BD0C95D-4009-4941-AFEE-6336F152559B}"/>
              </a:ext>
            </a:extLst>
          </p:cNvPr>
          <p:cNvGraphicFramePr/>
          <p:nvPr>
            <p:extLst>
              <p:ext uri="{D42A27DB-BD31-4B8C-83A1-F6EECF244321}">
                <p14:modId xmlns:p14="http://schemas.microsoft.com/office/powerpoint/2010/main" val="2658985148"/>
              </p:ext>
            </p:extLst>
          </p:nvPr>
        </p:nvGraphicFramePr>
        <p:xfrm>
          <a:off x="297766" y="1940139"/>
          <a:ext cx="8839200" cy="31940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47421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a:xfrm>
            <a:off x="2895600" y="6356350"/>
            <a:ext cx="4419600" cy="365125"/>
          </a:xfrm>
        </p:spPr>
        <p:txBody>
          <a:bodyPr/>
          <a:lstStyle/>
          <a:p>
            <a:pPr>
              <a:defRPr/>
            </a:pPr>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4</a:t>
            </a:fld>
            <a:endParaRPr lang="en-US" dirty="0"/>
          </a:p>
        </p:txBody>
      </p:sp>
      <p:sp>
        <p:nvSpPr>
          <p:cNvPr id="9" name="Title 1"/>
          <p:cNvSpPr txBox="1">
            <a:spLocks/>
          </p:cNvSpPr>
          <p:nvPr/>
        </p:nvSpPr>
        <p:spPr>
          <a:xfrm>
            <a:off x="1600200" y="1"/>
            <a:ext cx="75438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a:t>UNIT-II</a:t>
            </a:r>
            <a:endParaRPr lang="en-US" sz="3200" b="1" dirty="0">
              <a:solidFill>
                <a:schemeClr val="tx1"/>
              </a:solidFill>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A9FF7AF-256B-4FAE-8C83-E5E9D30A5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4043"/>
            <a:ext cx="1327052" cy="581757"/>
          </a:xfrm>
          <a:prstGeom prst="rect">
            <a:avLst/>
          </a:prstGeom>
        </p:spPr>
      </p:pic>
      <p:sp>
        <p:nvSpPr>
          <p:cNvPr id="8" name="TextBox 7">
            <a:extLst>
              <a:ext uri="{FF2B5EF4-FFF2-40B4-BE49-F238E27FC236}">
                <a16:creationId xmlns:a16="http://schemas.microsoft.com/office/drawing/2014/main" id="{067567D3-B65B-4752-8952-9BA2BB96D648}"/>
              </a:ext>
            </a:extLst>
          </p:cNvPr>
          <p:cNvSpPr txBox="1"/>
          <p:nvPr/>
        </p:nvSpPr>
        <p:spPr>
          <a:xfrm>
            <a:off x="1463040" y="1067772"/>
            <a:ext cx="7071360" cy="477054"/>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500" b="1" dirty="0"/>
              <a:t>UNIT-II: </a:t>
            </a:r>
            <a:r>
              <a:rPr lang="en-US" sz="2500" b="1" dirty="0"/>
              <a:t> </a:t>
            </a:r>
            <a:r>
              <a:rPr lang="en-GB" sz="2500" b="1" dirty="0"/>
              <a:t>Architectures</a:t>
            </a:r>
            <a:r>
              <a:rPr lang="en-GB" sz="2500" dirty="0"/>
              <a:t>  </a:t>
            </a:r>
            <a:endParaRPr lang="en-IN" sz="25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extLst>
              <p:ext uri="{D42A27DB-BD31-4B8C-83A1-F6EECF244321}">
                <p14:modId xmlns:p14="http://schemas.microsoft.com/office/powerpoint/2010/main" val="2971803105"/>
              </p:ext>
            </p:extLst>
          </p:nvPr>
        </p:nvGraphicFramePr>
        <p:xfrm>
          <a:off x="228600" y="2133600"/>
          <a:ext cx="8839200" cy="31940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66322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a:xfrm>
            <a:off x="2895600" y="6356350"/>
            <a:ext cx="4419600" cy="365125"/>
          </a:xfrm>
        </p:spPr>
        <p:txBody>
          <a:bodyPr/>
          <a:lstStyle/>
          <a:p>
            <a:pPr>
              <a:defRPr/>
            </a:pPr>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5</a:t>
            </a:fld>
            <a:endParaRPr lang="en-US" dirty="0"/>
          </a:p>
        </p:txBody>
      </p:sp>
      <p:sp>
        <p:nvSpPr>
          <p:cNvPr id="9" name="Title 1"/>
          <p:cNvSpPr txBox="1">
            <a:spLocks/>
          </p:cNvSpPr>
          <p:nvPr/>
        </p:nvSpPr>
        <p:spPr>
          <a:xfrm>
            <a:off x="1600200" y="1"/>
            <a:ext cx="75438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a:t>UNIT-III</a:t>
            </a:r>
            <a:endParaRPr lang="en-US" sz="3200" b="1" dirty="0">
              <a:solidFill>
                <a:schemeClr val="tx1"/>
              </a:solidFill>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A9FF7AF-256B-4FAE-8C83-E5E9D30A5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4043"/>
            <a:ext cx="1327052" cy="581757"/>
          </a:xfrm>
          <a:prstGeom prst="rect">
            <a:avLst/>
          </a:prstGeom>
        </p:spPr>
      </p:pic>
      <p:sp>
        <p:nvSpPr>
          <p:cNvPr id="8" name="TextBox 7">
            <a:extLst>
              <a:ext uri="{FF2B5EF4-FFF2-40B4-BE49-F238E27FC236}">
                <a16:creationId xmlns:a16="http://schemas.microsoft.com/office/drawing/2014/main" id="{067567D3-B65B-4752-8952-9BA2BB96D648}"/>
              </a:ext>
            </a:extLst>
          </p:cNvPr>
          <p:cNvSpPr txBox="1"/>
          <p:nvPr/>
        </p:nvSpPr>
        <p:spPr>
          <a:xfrm>
            <a:off x="1463040" y="1067772"/>
            <a:ext cx="7071360" cy="523220"/>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500" b="1" dirty="0"/>
              <a:t>UNIT-III: </a:t>
            </a:r>
            <a:r>
              <a:rPr lang="en-GB" sz="2800" b="1" dirty="0"/>
              <a:t>Segmentation </a:t>
            </a:r>
            <a:r>
              <a:rPr lang="en-GB" sz="2800" dirty="0"/>
              <a:t> </a:t>
            </a:r>
            <a:r>
              <a:rPr lang="en-GB" sz="2500" dirty="0"/>
              <a:t> </a:t>
            </a:r>
            <a:endParaRPr lang="en-IN" sz="25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extLst>
              <p:ext uri="{D42A27DB-BD31-4B8C-83A1-F6EECF244321}">
                <p14:modId xmlns:p14="http://schemas.microsoft.com/office/powerpoint/2010/main" val="3856732678"/>
              </p:ext>
            </p:extLst>
          </p:nvPr>
        </p:nvGraphicFramePr>
        <p:xfrm>
          <a:off x="228600" y="2133600"/>
          <a:ext cx="8839200" cy="31940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1956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a:xfrm>
            <a:off x="2895600" y="6356350"/>
            <a:ext cx="4419600" cy="365125"/>
          </a:xfrm>
        </p:spPr>
        <p:txBody>
          <a:bodyPr/>
          <a:lstStyle/>
          <a:p>
            <a:pPr>
              <a:defRPr/>
            </a:pPr>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6</a:t>
            </a:fld>
            <a:endParaRPr lang="en-US" dirty="0"/>
          </a:p>
        </p:txBody>
      </p:sp>
      <p:sp>
        <p:nvSpPr>
          <p:cNvPr id="9" name="Title 1"/>
          <p:cNvSpPr txBox="1">
            <a:spLocks/>
          </p:cNvSpPr>
          <p:nvPr/>
        </p:nvSpPr>
        <p:spPr>
          <a:xfrm>
            <a:off x="1600200" y="1"/>
            <a:ext cx="75438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a:t>UNIT-IV</a:t>
            </a:r>
            <a:endParaRPr lang="en-US" sz="3200" b="1" dirty="0">
              <a:solidFill>
                <a:schemeClr val="tx1"/>
              </a:solidFill>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A9FF7AF-256B-4FAE-8C83-E5E9D30A5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4043"/>
            <a:ext cx="1327052" cy="581757"/>
          </a:xfrm>
          <a:prstGeom prst="rect">
            <a:avLst/>
          </a:prstGeom>
        </p:spPr>
      </p:pic>
      <p:sp>
        <p:nvSpPr>
          <p:cNvPr id="8" name="TextBox 7">
            <a:extLst>
              <a:ext uri="{FF2B5EF4-FFF2-40B4-BE49-F238E27FC236}">
                <a16:creationId xmlns:a16="http://schemas.microsoft.com/office/drawing/2014/main" id="{067567D3-B65B-4752-8952-9BA2BB96D648}"/>
              </a:ext>
            </a:extLst>
          </p:cNvPr>
          <p:cNvSpPr txBox="1"/>
          <p:nvPr/>
        </p:nvSpPr>
        <p:spPr>
          <a:xfrm>
            <a:off x="1463040" y="1067772"/>
            <a:ext cx="7071360" cy="477054"/>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500" b="1" dirty="0"/>
              <a:t>UNIT-IV: </a:t>
            </a:r>
            <a:r>
              <a:rPr lang="en-US" sz="2500" b="1" dirty="0"/>
              <a:t> Object Detection</a:t>
            </a:r>
            <a:r>
              <a:rPr lang="en-GB" sz="2500" dirty="0"/>
              <a:t> </a:t>
            </a:r>
            <a:endParaRPr lang="en-IN" sz="25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extLst>
              <p:ext uri="{D42A27DB-BD31-4B8C-83A1-F6EECF244321}">
                <p14:modId xmlns:p14="http://schemas.microsoft.com/office/powerpoint/2010/main" val="3819699156"/>
              </p:ext>
            </p:extLst>
          </p:nvPr>
        </p:nvGraphicFramePr>
        <p:xfrm>
          <a:off x="228600" y="2133600"/>
          <a:ext cx="8839200" cy="31940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80940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a:xfrm>
            <a:off x="2895600" y="6356350"/>
            <a:ext cx="4419600" cy="365125"/>
          </a:xfrm>
        </p:spPr>
        <p:txBody>
          <a:bodyPr/>
          <a:lstStyle/>
          <a:p>
            <a:pPr>
              <a:defRPr/>
            </a:pPr>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7</a:t>
            </a:fld>
            <a:endParaRPr lang="en-US" dirty="0"/>
          </a:p>
        </p:txBody>
      </p:sp>
      <p:sp>
        <p:nvSpPr>
          <p:cNvPr id="9" name="Title 1"/>
          <p:cNvSpPr txBox="1">
            <a:spLocks/>
          </p:cNvSpPr>
          <p:nvPr/>
        </p:nvSpPr>
        <p:spPr>
          <a:xfrm>
            <a:off x="1600200" y="1"/>
            <a:ext cx="75438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a:t>UNIT-V</a:t>
            </a:r>
            <a:endParaRPr lang="en-US" sz="3200" b="1" dirty="0">
              <a:solidFill>
                <a:schemeClr val="tx1"/>
              </a:solidFill>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A9FF7AF-256B-4FAE-8C83-E5E9D30A5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4043"/>
            <a:ext cx="1327052" cy="581757"/>
          </a:xfrm>
          <a:prstGeom prst="rect">
            <a:avLst/>
          </a:prstGeom>
        </p:spPr>
      </p:pic>
      <p:sp>
        <p:nvSpPr>
          <p:cNvPr id="8" name="TextBox 7">
            <a:extLst>
              <a:ext uri="{FF2B5EF4-FFF2-40B4-BE49-F238E27FC236}">
                <a16:creationId xmlns:a16="http://schemas.microsoft.com/office/drawing/2014/main" id="{067567D3-B65B-4752-8952-9BA2BB96D648}"/>
              </a:ext>
            </a:extLst>
          </p:cNvPr>
          <p:cNvSpPr txBox="1"/>
          <p:nvPr/>
        </p:nvSpPr>
        <p:spPr>
          <a:xfrm>
            <a:off x="1463040" y="1067772"/>
            <a:ext cx="7071360" cy="523220"/>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800" b="1" dirty="0"/>
              <a:t>UNIT-V: </a:t>
            </a:r>
            <a:r>
              <a:rPr lang="en-US" sz="2800" b="1" dirty="0"/>
              <a:t> </a:t>
            </a:r>
            <a:r>
              <a:rPr lang="en-GB" sz="2800" b="1" dirty="0"/>
              <a:t>Visualization and Generative Models</a:t>
            </a:r>
            <a:r>
              <a:rPr lang="en-GB" sz="2800" dirty="0"/>
              <a:t> </a:t>
            </a:r>
            <a:endParaRPr lang="en-IN" sz="28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extLst>
              <p:ext uri="{D42A27DB-BD31-4B8C-83A1-F6EECF244321}">
                <p14:modId xmlns:p14="http://schemas.microsoft.com/office/powerpoint/2010/main" val="1108321299"/>
              </p:ext>
            </p:extLst>
          </p:nvPr>
        </p:nvGraphicFramePr>
        <p:xfrm>
          <a:off x="228600" y="2133600"/>
          <a:ext cx="8839200" cy="31940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0864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819400" y="6248400"/>
            <a:ext cx="47244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a:xfrm>
            <a:off x="7315200" y="6356351"/>
            <a:ext cx="1200150" cy="365125"/>
          </a:xfrm>
        </p:spPr>
        <p:txBody>
          <a:bodyPr/>
          <a:lstStyle/>
          <a:p>
            <a:fld id="{B6F15528-21DE-4FAA-801E-634DDDAF4B2B}" type="slidenum">
              <a:rPr lang="en-US" smtClean="0"/>
              <a:pPr/>
              <a:t>8</a:t>
            </a:fld>
            <a:endParaRPr lang="en-US"/>
          </a:p>
        </p:txBody>
      </p:sp>
      <p:sp>
        <p:nvSpPr>
          <p:cNvPr id="7"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3200" b="1" dirty="0">
                <a:latin typeface="Times New Roman" panose="02020603050405020304" pitchFamily="18" charset="0"/>
                <a:cs typeface="Times New Roman" panose="02020603050405020304" pitchFamily="18" charset="0"/>
              </a:rPr>
              <a:t>Syllabus</a:t>
            </a:r>
            <a:endParaRPr kumimoji="0" lang="en-US" sz="3200" b="1"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endParaRPr>
          </a:p>
        </p:txBody>
      </p:sp>
      <p:pic>
        <p:nvPicPr>
          <p:cNvPr id="8" name="Picture 2" descr="E:\NIET\Project\xLogo11.png.pagespeed.ic.pydHLuCQEZ.png"/>
          <p:cNvPicPr>
            <a:picLocks noChangeAspect="1" noChangeArrowheads="1"/>
          </p:cNvPicPr>
          <p:nvPr/>
        </p:nvPicPr>
        <p:blipFill>
          <a:blip r:embed="rId2" cstate="print"/>
          <a:srcRect/>
          <a:stretch>
            <a:fillRect/>
          </a:stretch>
        </p:blipFill>
        <p:spPr bwMode="auto">
          <a:xfrm>
            <a:off x="0" y="0"/>
            <a:ext cx="1447800" cy="817163"/>
          </a:xfrm>
          <a:prstGeom prst="rect">
            <a:avLst/>
          </a:prstGeom>
          <a:noFill/>
        </p:spPr>
      </p:pic>
      <p:graphicFrame>
        <p:nvGraphicFramePr>
          <p:cNvPr id="13" name="Table 12"/>
          <p:cNvGraphicFramePr>
            <a:graphicFrameLocks noGrp="1"/>
          </p:cNvGraphicFramePr>
          <p:nvPr>
            <p:extLst>
              <p:ext uri="{D42A27DB-BD31-4B8C-83A1-F6EECF244321}">
                <p14:modId xmlns:p14="http://schemas.microsoft.com/office/powerpoint/2010/main" val="1413191065"/>
              </p:ext>
            </p:extLst>
          </p:nvPr>
        </p:nvGraphicFramePr>
        <p:xfrm>
          <a:off x="234463" y="904340"/>
          <a:ext cx="8757136" cy="5272153"/>
        </p:xfrm>
        <a:graphic>
          <a:graphicData uri="http://schemas.openxmlformats.org/drawingml/2006/table">
            <a:tbl>
              <a:tblPr firstRow="1" firstCol="1" bandRow="1">
                <a:tableStyleId>{5C22544A-7EE6-4342-B048-85BDC9FD1C3A}</a:tableStyleId>
              </a:tblPr>
              <a:tblGrid>
                <a:gridCol w="449379">
                  <a:extLst>
                    <a:ext uri="{9D8B030D-6E8A-4147-A177-3AD203B41FA5}">
                      <a16:colId xmlns:a16="http://schemas.microsoft.com/office/drawing/2014/main" val="3750308691"/>
                    </a:ext>
                  </a:extLst>
                </a:gridCol>
                <a:gridCol w="1144958">
                  <a:extLst>
                    <a:ext uri="{9D8B030D-6E8A-4147-A177-3AD203B41FA5}">
                      <a16:colId xmlns:a16="http://schemas.microsoft.com/office/drawing/2014/main" val="1266988224"/>
                    </a:ext>
                  </a:extLst>
                </a:gridCol>
                <a:gridCol w="7162799">
                  <a:extLst>
                    <a:ext uri="{9D8B030D-6E8A-4147-A177-3AD203B41FA5}">
                      <a16:colId xmlns:a16="http://schemas.microsoft.com/office/drawing/2014/main" val="3719325867"/>
                    </a:ext>
                  </a:extLst>
                </a:gridCol>
              </a:tblGrid>
              <a:tr h="180944">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Unit</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nchor="ctr"/>
                </a:tc>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Module</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nchor="ctr"/>
                </a:tc>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Topics Covered</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nchor="ctr"/>
                </a:tc>
                <a:extLst>
                  <a:ext uri="{0D108BD9-81ED-4DB2-BD59-A6C34878D82A}">
                    <a16:rowId xmlns:a16="http://schemas.microsoft.com/office/drawing/2014/main" val="2085078514"/>
                  </a:ext>
                </a:extLst>
              </a:tr>
              <a:tr h="895758">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1 </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Introduction to Computer Vision:</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tabLst>
                          <a:tab pos="1533525" algn="l"/>
                        </a:tabLst>
                      </a:pPr>
                      <a:r>
                        <a:rPr lang="en-GB" sz="1200" kern="100" dirty="0">
                          <a:effectLst/>
                          <a:highlight>
                            <a:srgbClr val="D3D3D3"/>
                          </a:highlight>
                          <a:latin typeface="Times New Roman" panose="02020603050405020304" pitchFamily="18" charset="0"/>
                          <a:cs typeface="Times New Roman" panose="02020603050405020304" pitchFamily="18" charset="0"/>
                        </a:rPr>
                        <a:t>Computer Vision, Research and Applications, (Self-Driving Cars, Facial Recognition, Augmented &amp; Mixed Reality, Healthcare). Most popular examples Categorization of Images, Object</a:t>
                      </a:r>
                      <a:r>
                        <a:rPr lang="en-GB" sz="1200" kern="100" dirty="0">
                          <a:effectLst/>
                          <a:latin typeface="Times New Roman" panose="02020603050405020304" pitchFamily="18" charset="0"/>
                          <a:cs typeface="Times New Roman" panose="02020603050405020304" pitchFamily="18" charset="0"/>
                        </a:rPr>
                        <a:t> </a:t>
                      </a:r>
                      <a:r>
                        <a:rPr lang="en-GB" sz="1200" kern="100" dirty="0">
                          <a:effectLst/>
                          <a:highlight>
                            <a:srgbClr val="D3D3D3"/>
                          </a:highlight>
                          <a:latin typeface="Times New Roman" panose="02020603050405020304" pitchFamily="18" charset="0"/>
                          <a:cs typeface="Times New Roman" panose="02020603050405020304" pitchFamily="18" charset="0"/>
                        </a:rPr>
                        <a:t> Detection, Observation of Moving Objects, Retrieval of Images Based on Their Contents, Computer Vision Tasks classification, ,object detection, Instance segmentation</a:t>
                      </a:r>
                      <a:r>
                        <a:rPr lang="en-GB" sz="1200" kern="100" dirty="0">
                          <a:effectLst/>
                          <a:latin typeface="Times New Roman" panose="02020603050405020304" pitchFamily="18" charset="0"/>
                          <a:cs typeface="Times New Roman" panose="02020603050405020304" pitchFamily="18" charset="0"/>
                        </a:rPr>
                        <a:t>. Convolutional Neural Networks, Evolution of CNN Architectures for Image, Recent CNN</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tabLst>
                          <a:tab pos="1533525" algn="l"/>
                        </a:tabLst>
                      </a:pPr>
                      <a:r>
                        <a:rPr lang="en-GB" sz="1200" kern="100" dirty="0">
                          <a:effectLst/>
                          <a:latin typeface="Times New Roman" panose="02020603050405020304" pitchFamily="18" charset="0"/>
                          <a:cs typeface="Times New Roman" panose="02020603050405020304" pitchFamily="18" charset="0"/>
                        </a:rPr>
                        <a:t>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4116754695"/>
                  </a:ext>
                </a:extLst>
              </a:tr>
              <a:tr h="723776">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2</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a:effectLst/>
                          <a:latin typeface="Times New Roman" panose="02020603050405020304" pitchFamily="18" charset="0"/>
                          <a:cs typeface="Times New Roman" panose="02020603050405020304" pitchFamily="18" charset="0"/>
                        </a:rPr>
                        <a:t>Architectures</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tabLst>
                          <a:tab pos="1533525" algn="l"/>
                        </a:tabLst>
                      </a:pPr>
                      <a:r>
                        <a:rPr lang="en-GB" sz="1200" kern="100" dirty="0">
                          <a:effectLst/>
                          <a:latin typeface="Times New Roman" panose="02020603050405020304" pitchFamily="18" charset="0"/>
                          <a:cs typeface="Times New Roman" panose="02020603050405020304" pitchFamily="18" charset="0"/>
                        </a:rPr>
                        <a:t>Representation of a Three-Dimensional Moving Scene. Convolutional layers, pooling layers, and padding. Transfer learning and pre-trained models Architectures. </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tabLst>
                          <a:tab pos="1533525" algn="l"/>
                        </a:tabLst>
                      </a:pPr>
                      <a:r>
                        <a:rPr lang="en-GB" sz="1200" kern="100" dirty="0">
                          <a:effectLst/>
                          <a:latin typeface="Times New Roman" panose="02020603050405020304" pitchFamily="18" charset="0"/>
                          <a:cs typeface="Times New Roman" panose="02020603050405020304" pitchFamily="18" charset="0"/>
                        </a:rPr>
                        <a:t>Architectures Design : LeNet-5, </a:t>
                      </a:r>
                      <a:r>
                        <a:rPr lang="en-GB" sz="1200" kern="100" dirty="0" err="1">
                          <a:effectLst/>
                          <a:latin typeface="Times New Roman" panose="02020603050405020304" pitchFamily="18" charset="0"/>
                          <a:cs typeface="Times New Roman" panose="02020603050405020304" pitchFamily="18" charset="0"/>
                        </a:rPr>
                        <a:t>AlexNet</a:t>
                      </a:r>
                      <a:r>
                        <a:rPr lang="en-GB" sz="1200" kern="100" dirty="0">
                          <a:effectLst/>
                          <a:latin typeface="Times New Roman" panose="02020603050405020304" pitchFamily="18" charset="0"/>
                          <a:cs typeface="Times New Roman" panose="02020603050405020304" pitchFamily="18" charset="0"/>
                        </a:rPr>
                        <a:t>, </a:t>
                      </a:r>
                      <a:r>
                        <a:rPr lang="en-GB" sz="1200" kern="100" dirty="0" err="1">
                          <a:effectLst/>
                          <a:latin typeface="Times New Roman" panose="02020603050405020304" pitchFamily="18" charset="0"/>
                          <a:cs typeface="Times New Roman" panose="02020603050405020304" pitchFamily="18" charset="0"/>
                        </a:rPr>
                        <a:t>VGGNet</a:t>
                      </a:r>
                      <a:r>
                        <a:rPr lang="en-GB" sz="1200" kern="100" dirty="0">
                          <a:effectLst/>
                          <a:latin typeface="Times New Roman" panose="02020603050405020304" pitchFamily="18" charset="0"/>
                          <a:cs typeface="Times New Roman" panose="02020603050405020304" pitchFamily="18" charset="0"/>
                        </a:rPr>
                        <a:t>, </a:t>
                      </a:r>
                      <a:r>
                        <a:rPr lang="en-GB" sz="1200" kern="100" dirty="0" err="1">
                          <a:effectLst/>
                          <a:latin typeface="Times New Roman" panose="02020603050405020304" pitchFamily="18" charset="0"/>
                          <a:cs typeface="Times New Roman" panose="02020603050405020304" pitchFamily="18" charset="0"/>
                        </a:rPr>
                        <a:t>GoogLeNet</a:t>
                      </a:r>
                      <a:r>
                        <a:rPr lang="en-GB" sz="1200" kern="100" dirty="0">
                          <a:effectLst/>
                          <a:latin typeface="Times New Roman" panose="02020603050405020304" pitchFamily="18" charset="0"/>
                          <a:cs typeface="Times New Roman" panose="02020603050405020304" pitchFamily="18" charset="0"/>
                        </a:rPr>
                        <a:t>, </a:t>
                      </a:r>
                      <a:r>
                        <a:rPr lang="en-GB" sz="1200" kern="100" dirty="0" err="1">
                          <a:effectLst/>
                          <a:latin typeface="Times New Roman" panose="02020603050405020304" pitchFamily="18" charset="0"/>
                          <a:cs typeface="Times New Roman" panose="02020603050405020304" pitchFamily="18" charset="0"/>
                        </a:rPr>
                        <a:t>ResNet</a:t>
                      </a:r>
                      <a:r>
                        <a:rPr lang="en-GB" sz="1200" kern="100" dirty="0">
                          <a:effectLst/>
                          <a:latin typeface="Times New Roman" panose="02020603050405020304" pitchFamily="18" charset="0"/>
                          <a:cs typeface="Times New Roman" panose="02020603050405020304" pitchFamily="18" charset="0"/>
                        </a:rPr>
                        <a:t>, Efficient Net, Mobile Net . RNN Introduction, perceptron      Backpropagation in CNN,RNN.</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1162194211"/>
                  </a:ext>
                </a:extLst>
              </a:tr>
              <a:tr h="1196990">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 </a:t>
                      </a:r>
                      <a:endParaRPr lang="en-IN" sz="1200" kern="100">
                        <a:effectLst/>
                        <a:latin typeface="Times New Roman" panose="02020603050405020304" pitchFamily="18" charset="0"/>
                        <a:cs typeface="Times New Roman" panose="02020603050405020304" pitchFamily="18" charset="0"/>
                      </a:endParaRPr>
                    </a:p>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3</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Segmentation </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Popular Image Segmentation Architectures, FCN Architecture, </a:t>
                      </a:r>
                      <a:r>
                        <a:rPr lang="en-GB" sz="1200" kern="100" dirty="0" err="1">
                          <a:effectLst/>
                          <a:latin typeface="Times New Roman" panose="02020603050405020304" pitchFamily="18" charset="0"/>
                          <a:cs typeface="Times New Roman" panose="02020603050405020304" pitchFamily="18" charset="0"/>
                        </a:rPr>
                        <a:t>Upsampling</a:t>
                      </a:r>
                      <a:r>
                        <a:rPr lang="en-GB" sz="1200" kern="100" dirty="0">
                          <a:effectLst/>
                          <a:latin typeface="Times New Roman" panose="02020603050405020304" pitchFamily="18" charset="0"/>
                          <a:cs typeface="Times New Roman" panose="02020603050405020304" pitchFamily="18" charset="0"/>
                        </a:rPr>
                        <a:t> Methods, Pixel Transformations, Geometric Operations, Spatial Operations in Image Processing, Instance Segmentation, Localisation, Object detection  and image segmentation using CNNs, LSTM and GRU’s. Vision Models, Vision Languages,  Quality Analysis, Visual Dialogue, other attention models, self attention and transformers. Active Contours &amp; Application, Split &amp; Merge, Mean Shift &amp; Mode Finding, Normalized Cuts,</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2202851331"/>
                  </a:ext>
                </a:extLst>
              </a:tr>
              <a:tr h="1085664">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4</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Object Detection</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highlight>
                            <a:srgbClr val="D3D3D3"/>
                          </a:highlight>
                          <a:latin typeface="Times New Roman" panose="02020603050405020304" pitchFamily="18" charset="0"/>
                          <a:cs typeface="Times New Roman" panose="02020603050405020304" pitchFamily="18" charset="0"/>
                        </a:rPr>
                        <a:t>Object Detection and Sliding Windows, R-CNN, Fast R-CNN, Object Recognition, 3-D vision and Geometry, Digital Watermarking. Object Detection, face recognition instance Recognition, Category Recognition   Objects, Scenes, Activities, Object classification and detection, Encoder in Code, Decoder in Code, U-Net Code: Encoder, Decoder ,</a:t>
                      </a:r>
                      <a:r>
                        <a:rPr lang="en-GB" sz="1200" kern="100" dirty="0">
                          <a:effectLst/>
                          <a:latin typeface="Times New Roman" panose="02020603050405020304" pitchFamily="18" charset="0"/>
                          <a:cs typeface="Times New Roman" panose="02020603050405020304" pitchFamily="18" charset="0"/>
                        </a:rPr>
                        <a:t>  </a:t>
                      </a:r>
                      <a:r>
                        <a:rPr lang="en-GB" sz="1200" kern="100" dirty="0">
                          <a:effectLst/>
                          <a:highlight>
                            <a:srgbClr val="D3D3D3"/>
                          </a:highlight>
                          <a:latin typeface="Times New Roman" panose="02020603050405020304" pitchFamily="18" charset="0"/>
                          <a:cs typeface="Times New Roman" panose="02020603050405020304" pitchFamily="18" charset="0"/>
                        </a:rPr>
                        <a:t>Few Shot and zero shot learning, self-supervised learning, Adversarial Robustness, Pruning and model compression, Neural Architecture search, Objects in Scenes.</a:t>
                      </a:r>
                      <a:r>
                        <a:rPr lang="en-GB" sz="1200" kern="100" dirty="0">
                          <a:effectLst/>
                          <a:latin typeface="Times New Roman" panose="02020603050405020304" pitchFamily="18" charset="0"/>
                          <a:cs typeface="Times New Roman" panose="02020603050405020304" pitchFamily="18" charset="0"/>
                        </a:rPr>
                        <a:t> YOLO Fundamentals of Image Formation, Convolution and Filtering.</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2783879934"/>
                  </a:ext>
                </a:extLst>
              </a:tr>
              <a:tr h="1024368">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5</a:t>
                      </a:r>
                      <a:endParaRPr lang="en-IN" sz="1200" kern="100">
                        <a:effectLst/>
                        <a:latin typeface="Times New Roman" panose="02020603050405020304" pitchFamily="18" charset="0"/>
                        <a:cs typeface="Times New Roman" panose="02020603050405020304" pitchFamily="18" charset="0"/>
                      </a:endParaRPr>
                    </a:p>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 </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Visualization and Generative Models</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Benefits of Interpretability, Fashion MNIST Class Activation Map code walkthrough, </a:t>
                      </a:r>
                      <a:r>
                        <a:rPr lang="en-GB" sz="1200" kern="100" dirty="0" err="1">
                          <a:effectLst/>
                          <a:latin typeface="Times New Roman" panose="02020603050405020304" pitchFamily="18" charset="0"/>
                          <a:cs typeface="Times New Roman" panose="02020603050405020304" pitchFamily="18" charset="0"/>
                        </a:rPr>
                        <a:t>GradCAM,ZFNet.Image</a:t>
                      </a:r>
                      <a:r>
                        <a:rPr lang="en-GB" sz="1200" kern="100" dirty="0">
                          <a:effectLst/>
                          <a:latin typeface="Times New Roman" panose="02020603050405020304" pitchFamily="18" charset="0"/>
                          <a:cs typeface="Times New Roman" panose="02020603050405020304" pitchFamily="18" charset="0"/>
                        </a:rPr>
                        <a:t> compression methods and its  </a:t>
                      </a:r>
                      <a:r>
                        <a:rPr lang="en-GB" sz="1200" kern="100" dirty="0" err="1">
                          <a:effectLst/>
                          <a:latin typeface="Times New Roman" panose="02020603050405020304" pitchFamily="18" charset="0"/>
                          <a:cs typeface="Times New Roman" panose="02020603050405020304" pitchFamily="18" charset="0"/>
                        </a:rPr>
                        <a:t>requirements,statisticalcompression</a:t>
                      </a:r>
                      <a:r>
                        <a:rPr lang="en-GB" sz="1200" kern="100" dirty="0">
                          <a:effectLst/>
                          <a:latin typeface="Times New Roman" panose="02020603050405020304" pitchFamily="18" charset="0"/>
                          <a:cs typeface="Times New Roman" panose="02020603050405020304" pitchFamily="18" charset="0"/>
                        </a:rPr>
                        <a:t>, spatial compression, contour coding. Deep Generative Models </a:t>
                      </a:r>
                      <a:r>
                        <a:rPr lang="en-GB" sz="1200" kern="100" dirty="0" err="1">
                          <a:effectLst/>
                          <a:latin typeface="Times New Roman" panose="02020603050405020304" pitchFamily="18" charset="0"/>
                          <a:cs typeface="Times New Roman" panose="02020603050405020304" pitchFamily="18" charset="0"/>
                        </a:rPr>
                        <a:t>introduction,Generative</a:t>
                      </a:r>
                      <a:r>
                        <a:rPr lang="en-GB" sz="1200" kern="100" dirty="0">
                          <a:effectLst/>
                          <a:latin typeface="Times New Roman" panose="02020603050405020304" pitchFamily="18" charset="0"/>
                          <a:cs typeface="Times New Roman" panose="02020603050405020304" pitchFamily="18" charset="0"/>
                        </a:rPr>
                        <a:t> Adversarial Networks Combination VAE and GAN’s,  other VAE and GAN’s deep generative models. GAN Improvements, Deep Generative Models across multiple domains, Deep Generative Models image and video applications.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973944303"/>
                  </a:ext>
                </a:extLst>
              </a:tr>
            </a:tbl>
          </a:graphicData>
        </a:graphic>
      </p:graphicFrame>
    </p:spTree>
    <p:extLst>
      <p:ext uri="{BB962C8B-B14F-4D97-AF65-F5344CB8AC3E}">
        <p14:creationId xmlns:p14="http://schemas.microsoft.com/office/powerpoint/2010/main" val="1233100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a:xfrm>
            <a:off x="2819400" y="6248400"/>
            <a:ext cx="47244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9</a:t>
            </a:fld>
            <a:endParaRPr lang="en-US"/>
          </a:p>
        </p:txBody>
      </p:sp>
      <p:sp>
        <p:nvSpPr>
          <p:cNvPr id="7"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rPr>
              <a:t>Course</a:t>
            </a:r>
            <a:r>
              <a:rPr kumimoji="0" lang="en-US" sz="2400" b="0" i="0" u="none" strike="noStrike" kern="1200" cap="none" spc="0" normalizeH="0" noProof="0" dirty="0">
                <a:ln>
                  <a:noFill/>
                </a:ln>
                <a:solidFill>
                  <a:schemeClr val="dk1"/>
                </a:solidFill>
                <a:effectLst/>
                <a:uLnTx/>
                <a:uFillTx/>
                <a:latin typeface="Times New Roman" panose="02020603050405020304" pitchFamily="18" charset="0"/>
                <a:cs typeface="Times New Roman" panose="02020603050405020304" pitchFamily="18" charset="0"/>
              </a:rPr>
              <a:t> Objective</a:t>
            </a:r>
            <a:endPar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endParaRPr>
          </a:p>
        </p:txBody>
      </p:sp>
      <p:pic>
        <p:nvPicPr>
          <p:cNvPr id="8" name="Picture 2" descr="E:\NIET\Project\xLogo11.png.pagespeed.ic.pydHLuCQEZ.png"/>
          <p:cNvPicPr>
            <a:picLocks noChangeAspect="1" noChangeArrowheads="1"/>
          </p:cNvPicPr>
          <p:nvPr/>
        </p:nvPicPr>
        <p:blipFill>
          <a:blip r:embed="rId2" cstate="print"/>
          <a:srcRect/>
          <a:stretch>
            <a:fillRect/>
          </a:stretch>
        </p:blipFill>
        <p:spPr bwMode="auto">
          <a:xfrm>
            <a:off x="0" y="0"/>
            <a:ext cx="1447800" cy="817163"/>
          </a:xfrm>
          <a:prstGeom prst="rect">
            <a:avLst/>
          </a:prstGeom>
          <a:noFill/>
        </p:spPr>
      </p:pic>
      <p:sp>
        <p:nvSpPr>
          <p:cNvPr id="2" name="Rectangle 1"/>
          <p:cNvSpPr/>
          <p:nvPr/>
        </p:nvSpPr>
        <p:spPr>
          <a:xfrm>
            <a:off x="425355" y="1143000"/>
            <a:ext cx="8534400" cy="1005788"/>
          </a:xfrm>
          <a:prstGeom prst="rect">
            <a:avLst/>
          </a:prstGeom>
        </p:spPr>
        <p:txBody>
          <a:bodyPr wrap="square">
            <a:spAutoFit/>
          </a:bodyPr>
          <a:lstStyle/>
          <a:p>
            <a:pPr marL="66675" algn="just" fontAlgn="base">
              <a:lnSpc>
                <a:spcPct val="106000"/>
              </a:lnSpc>
              <a:spcAft>
                <a:spcPts val="800"/>
              </a:spcAft>
            </a:pPr>
            <a:r>
              <a:rPr lang="en-GB" sz="2000" b="1" kern="100" dirty="0">
                <a:latin typeface="Times New Roman" panose="02020603050405020304" pitchFamily="18" charset="0"/>
                <a:ea typeface="Calibri" panose="020F0502020204030204" pitchFamily="34" charset="0"/>
                <a:cs typeface="Times New Roman" panose="02020603050405020304" pitchFamily="18" charset="0"/>
              </a:rPr>
              <a:t>Course Objective:</a:t>
            </a:r>
            <a:r>
              <a:rPr lang="en-US" kern="100" dirty="0">
                <a:latin typeface="Times New Roman" panose="02020603050405020304" pitchFamily="18" charset="0"/>
                <a:ea typeface="Times New Roman" panose="02020603050405020304" pitchFamily="18" charset="0"/>
                <a:cs typeface="Times New Roman" panose="02020603050405020304" pitchFamily="18" charset="0"/>
              </a:rPr>
              <a:t> To </a:t>
            </a:r>
            <a:r>
              <a:rPr lang="en-GB" kern="100" dirty="0">
                <a:latin typeface="Times New Roman" panose="02020603050405020304" pitchFamily="18" charset="0"/>
                <a:ea typeface="Calibri" panose="020F0502020204030204" pitchFamily="34" charset="0"/>
                <a:cs typeface="Times New Roman" panose="02020603050405020304" pitchFamily="18" charset="0"/>
              </a:rPr>
              <a:t>learn about</a:t>
            </a:r>
            <a:r>
              <a:rPr lang="en-GB" kern="100" dirty="0">
                <a:latin typeface="Times New Roman" panose="02020603050405020304" pitchFamily="18" charset="0"/>
                <a:ea typeface="Times New Roman" panose="02020603050405020304" pitchFamily="18" charset="0"/>
                <a:cs typeface="Times New Roman" panose="02020603050405020304" pitchFamily="18" charset="0"/>
              </a:rPr>
              <a:t> key features of Computer Vision, design, implement and</a:t>
            </a:r>
            <a:r>
              <a:rPr lang="en-US" kern="100" dirty="0">
                <a:latin typeface="Times New Roman" panose="02020603050405020304" pitchFamily="18" charset="0"/>
                <a:ea typeface="Times New Roman" panose="02020603050405020304" pitchFamily="18" charset="0"/>
                <a:cs typeface="Times New Roman" panose="02020603050405020304" pitchFamily="18" charset="0"/>
              </a:rPr>
              <a:t> provide continuous improvement in the accuracy and outcomes of various datasets with more reliable and concise analysis results.</a:t>
            </a:r>
            <a:r>
              <a:rPr lang="en-GB" kern="100" dirty="0">
                <a:latin typeface="Times New Roman" panose="02020603050405020304" pitchFamily="18" charset="0"/>
                <a:ea typeface="Times New Roman" panose="02020603050405020304" pitchFamily="18" charset="0"/>
                <a:cs typeface="Times New Roman" panose="02020603050405020304" pitchFamily="18" charset="0"/>
              </a:rPr>
              <a:t> </a:t>
            </a: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6148" name="Picture 4" descr="Computer vis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V="1">
            <a:off x="1551296" y="2474625"/>
            <a:ext cx="5794375" cy="30420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3665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ontent Placeholder 1">
            <a:extLst>
              <a:ext uri="{FF2B5EF4-FFF2-40B4-BE49-F238E27FC236}">
                <a16:creationId xmlns:a16="http://schemas.microsoft.com/office/drawing/2014/main" id="{C52CD1B4-CBE6-4C86-91E5-F19A2479A621}"/>
              </a:ext>
            </a:extLst>
          </p:cNvPr>
          <p:cNvGraphicFramePr>
            <a:graphicFrameLocks noGrp="1"/>
          </p:cNvGraphicFramePr>
          <p:nvPr>
            <p:ph idx="1"/>
            <p:extLst>
              <p:ext uri="{D42A27DB-BD31-4B8C-83A1-F6EECF244321}">
                <p14:modId xmlns:p14="http://schemas.microsoft.com/office/powerpoint/2010/main" val="1160078154"/>
              </p:ext>
            </p:extLst>
          </p:nvPr>
        </p:nvGraphicFramePr>
        <p:xfrm>
          <a:off x="457200" y="1287869"/>
          <a:ext cx="7924800" cy="4905646"/>
        </p:xfrm>
        <a:graphic>
          <a:graphicData uri="http://schemas.openxmlformats.org/drawingml/2006/table">
            <a:tbl>
              <a:tblPr firstRow="1" firstCol="1" bandRow="1">
                <a:tableStyleId>{5C22544A-7EE6-4342-B048-85BDC9FD1C3A}</a:tableStyleId>
              </a:tblPr>
              <a:tblGrid>
                <a:gridCol w="685800">
                  <a:extLst>
                    <a:ext uri="{9D8B030D-6E8A-4147-A177-3AD203B41FA5}">
                      <a16:colId xmlns:a16="http://schemas.microsoft.com/office/drawing/2014/main" val="1779417915"/>
                    </a:ext>
                  </a:extLst>
                </a:gridCol>
                <a:gridCol w="5334000">
                  <a:extLst>
                    <a:ext uri="{9D8B030D-6E8A-4147-A177-3AD203B41FA5}">
                      <a16:colId xmlns:a16="http://schemas.microsoft.com/office/drawing/2014/main" val="4036850883"/>
                    </a:ext>
                  </a:extLst>
                </a:gridCol>
                <a:gridCol w="1905000">
                  <a:extLst>
                    <a:ext uri="{9D8B030D-6E8A-4147-A177-3AD203B41FA5}">
                      <a16:colId xmlns:a16="http://schemas.microsoft.com/office/drawing/2014/main" val="3465314929"/>
                    </a:ext>
                  </a:extLst>
                </a:gridCol>
              </a:tblGrid>
              <a:tr h="293146">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Description</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Bloom’s Taxonomy</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44629727"/>
                  </a:ext>
                </a:extLst>
              </a:tr>
              <a:tr h="859514">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CO1</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IN" sz="1800" kern="0">
                          <a:effectLst/>
                          <a:latin typeface="Times New Roman" panose="02020603050405020304" pitchFamily="18" charset="0"/>
                          <a:ea typeface="Calibri" panose="020F0502020204030204" pitchFamily="34" charset="0"/>
                          <a:cs typeface="Times New Roman" panose="02020603050405020304" pitchFamily="18" charset="0"/>
                        </a:rPr>
                        <a:t>Analyse</a:t>
                      </a: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 knowledge of deep architectures used for solving various Vision and Pattern Association tasks.</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K4</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52112578"/>
                  </a:ext>
                </a:extLst>
              </a:tr>
              <a:tr h="861927">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CO2</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0">
                          <a:effectLst/>
                          <a:latin typeface="Times New Roman" panose="02020603050405020304" pitchFamily="18" charset="0"/>
                          <a:ea typeface="Calibri" panose="020F0502020204030204" pitchFamily="34" charset="0"/>
                          <a:cs typeface="Times New Roman" panose="02020603050405020304" pitchFamily="18" charset="0"/>
                        </a:rPr>
                        <a:t>Develop</a:t>
                      </a: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 appropriate learning rules for each of the architectures of perceptron and learn about different factors of back propagation.</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 K2</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93814104"/>
                  </a:ext>
                </a:extLst>
              </a:tr>
              <a:tr h="859514">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CO3</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7000"/>
                        </a:lnSpc>
                      </a:pPr>
                      <a:r>
                        <a:rPr lang="en-GB" sz="1800" kern="100">
                          <a:effectLst/>
                          <a:latin typeface="Times New Roman" panose="02020603050405020304" pitchFamily="18" charset="0"/>
                          <a:cs typeface="Times New Roman" panose="02020603050405020304" pitchFamily="18" charset="0"/>
                        </a:rPr>
                        <a:t>Deploy training algorithm for pattern association with the help of memory network.</a:t>
                      </a:r>
                      <a:endParaRPr lang="en-IN" sz="1800" kern="100">
                        <a:effectLst/>
                        <a:latin typeface="Times New Roman" panose="02020603050405020304" pitchFamily="18"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K5</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79095310"/>
                  </a:ext>
                </a:extLst>
              </a:tr>
              <a:tr h="641435">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CO4</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Design and deploy the models of deep learning with the help of use cases.</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a:effectLst/>
                          <a:latin typeface="Times New Roman" panose="02020603050405020304" pitchFamily="18" charset="0"/>
                          <a:ea typeface="Calibri" panose="020F0502020204030204" pitchFamily="34" charset="0"/>
                          <a:cs typeface="Times New Roman" panose="02020603050405020304" pitchFamily="18" charset="0"/>
                        </a:rPr>
                        <a:t>K5</a:t>
                      </a:r>
                      <a:endParaRPr lang="en-IN"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41387003"/>
                  </a:ext>
                </a:extLst>
              </a:tr>
              <a:tr h="1077593">
                <a:tc>
                  <a:txBody>
                    <a:bodyPr/>
                    <a:lstStyle/>
                    <a:p>
                      <a:pPr algn="just">
                        <a:lnSpc>
                          <a:spcPct val="115000"/>
                        </a:lnSpc>
                        <a:spcAft>
                          <a:spcPts val="0"/>
                        </a:spcAft>
                      </a:pPr>
                      <a:r>
                        <a:rPr lang="en-US" sz="1800">
                          <a:effectLst/>
                          <a:latin typeface="Times New Roman" panose="02020603050405020304" pitchFamily="18" charset="0"/>
                          <a:cs typeface="Times New Roman" panose="02020603050405020304" pitchFamily="18" charset="0"/>
                        </a:rPr>
                        <a:t>CO5</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IN" sz="1800" kern="0" dirty="0">
                          <a:effectLst/>
                          <a:latin typeface="Times New Roman" panose="02020603050405020304" pitchFamily="18" charset="0"/>
                          <a:ea typeface="Calibri" panose="020F0502020204030204" pitchFamily="34" charset="0"/>
                          <a:cs typeface="Times New Roman" panose="02020603050405020304" pitchFamily="18" charset="0"/>
                        </a:rPr>
                        <a:t>Understand, Analyse</a:t>
                      </a:r>
                      <a:r>
                        <a:rPr lang="en-GB" sz="1800" kern="100" dirty="0">
                          <a:effectLst/>
                          <a:latin typeface="Times New Roman" panose="02020603050405020304" pitchFamily="18" charset="0"/>
                          <a:ea typeface="Calibri" panose="020F0502020204030204" pitchFamily="34" charset="0"/>
                          <a:cs typeface="Times New Roman" panose="02020603050405020304" pitchFamily="18" charset="0"/>
                        </a:rPr>
                        <a:t> different theories of deep learning using neural networks.</a:t>
                      </a: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06000"/>
                        </a:lnSpc>
                        <a:spcAft>
                          <a:spcPts val="0"/>
                        </a:spcAft>
                      </a:pPr>
                      <a:r>
                        <a:rPr lang="en-GB" sz="1800" kern="100" dirty="0">
                          <a:effectLst/>
                          <a:latin typeface="Times New Roman" panose="02020603050405020304" pitchFamily="18" charset="0"/>
                          <a:ea typeface="Calibri" panose="020F0502020204030204" pitchFamily="34" charset="0"/>
                          <a:cs typeface="Times New Roman" panose="02020603050405020304" pitchFamily="18" charset="0"/>
                        </a:rPr>
                        <a:t>K3</a:t>
                      </a: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89547450"/>
                  </a:ext>
                </a:extLst>
              </a:tr>
            </a:tbl>
          </a:graphicData>
        </a:graphic>
      </p:graphicFrame>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a:xfrm>
            <a:off x="6477000" y="6384399"/>
            <a:ext cx="2133600" cy="365125"/>
          </a:xfrm>
        </p:spPr>
        <p:txBody>
          <a:bodyPr/>
          <a:lstStyle/>
          <a:p>
            <a:fld id="{B6F15528-21DE-4FAA-801E-634DDDAF4B2B}" type="slidenum">
              <a:rPr lang="en-US" smtClean="0"/>
              <a:pPr/>
              <a:t>10</a:t>
            </a:fld>
            <a:endParaRPr lang="en-US"/>
          </a:p>
        </p:txBody>
      </p:sp>
      <p:sp>
        <p:nvSpPr>
          <p:cNvPr id="7" name="Title 1"/>
          <p:cNvSpPr txBox="1">
            <a:spLocks/>
          </p:cNvSpPr>
          <p:nvPr/>
        </p:nvSpPr>
        <p:spPr>
          <a:xfrm>
            <a:off x="1348154"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rPr>
              <a:t>Course</a:t>
            </a:r>
            <a:r>
              <a:rPr kumimoji="0" lang="en-US" sz="2400" b="0" i="0" u="none" strike="noStrike" kern="1200" cap="none" spc="0" normalizeH="0" noProof="0" dirty="0">
                <a:ln>
                  <a:noFill/>
                </a:ln>
                <a:solidFill>
                  <a:schemeClr val="dk1"/>
                </a:solidFill>
                <a:effectLst/>
                <a:uLnTx/>
                <a:uFillTx/>
                <a:latin typeface="Times New Roman" panose="02020603050405020304" pitchFamily="18" charset="0"/>
                <a:cs typeface="Times New Roman" panose="02020603050405020304" pitchFamily="18" charset="0"/>
              </a:rPr>
              <a:t> Outcome</a:t>
            </a:r>
            <a:endPar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23446" y="0"/>
            <a:ext cx="1522828" cy="817163"/>
          </a:xfrm>
          <a:prstGeom prst="rect">
            <a:avLst/>
          </a:prstGeom>
          <a:noFill/>
        </p:spPr>
      </p:pic>
      <p:sp>
        <p:nvSpPr>
          <p:cNvPr id="10" name="Rectangle 9">
            <a:extLst>
              <a:ext uri="{FF2B5EF4-FFF2-40B4-BE49-F238E27FC236}">
                <a16:creationId xmlns:a16="http://schemas.microsoft.com/office/drawing/2014/main" id="{541E00FF-D043-46A6-B039-CD5B92081618}"/>
              </a:ext>
            </a:extLst>
          </p:cNvPr>
          <p:cNvSpPr/>
          <p:nvPr/>
        </p:nvSpPr>
        <p:spPr>
          <a:xfrm>
            <a:off x="784860" y="928405"/>
            <a:ext cx="8359140" cy="410882"/>
          </a:xfrm>
          <a:prstGeom prst="rect">
            <a:avLst/>
          </a:prstGeom>
        </p:spPr>
        <p:txBody>
          <a:bodyPr wrap="square">
            <a:spAutoFit/>
          </a:bodyPr>
          <a:lstStyle/>
          <a:p>
            <a:pPr>
              <a:lnSpc>
                <a:spcPct val="115000"/>
              </a:lnSpc>
              <a:spcAft>
                <a:spcPts val="1000"/>
              </a:spcAft>
            </a:pPr>
            <a:r>
              <a:rPr lang="en-GB" b="1" dirty="0"/>
              <a:t>Course outcome: After completion of this course students will be able to</a:t>
            </a:r>
            <a:endParaRPr lang="en-IN" sz="22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8702506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ontent Placeholder 8">
            <a:extLst>
              <a:ext uri="{FF2B5EF4-FFF2-40B4-BE49-F238E27FC236}">
                <a16:creationId xmlns:a16="http://schemas.microsoft.com/office/drawing/2014/main" id="{0975EA2E-9AA8-4F60-B278-BDBF39596728}"/>
              </a:ext>
            </a:extLst>
          </p:cNvPr>
          <p:cNvGraphicFramePr>
            <a:graphicFrameLocks noGrp="1"/>
          </p:cNvGraphicFramePr>
          <p:nvPr>
            <p:ph idx="1"/>
          </p:nvPr>
        </p:nvGraphicFramePr>
        <p:xfrm>
          <a:off x="838200" y="1676399"/>
          <a:ext cx="7620000" cy="4073888"/>
        </p:xfrm>
        <a:graphic>
          <a:graphicData uri="http://schemas.openxmlformats.org/drawingml/2006/table">
            <a:tbl>
              <a:tblPr firstRow="1" firstCol="1" bandRow="1">
                <a:tableStyleId>{5C22544A-7EE6-4342-B048-85BDC9FD1C3A}</a:tableStyleId>
              </a:tblPr>
              <a:tblGrid>
                <a:gridCol w="1426280">
                  <a:extLst>
                    <a:ext uri="{9D8B030D-6E8A-4147-A177-3AD203B41FA5}">
                      <a16:colId xmlns:a16="http://schemas.microsoft.com/office/drawing/2014/main" val="730212534"/>
                    </a:ext>
                  </a:extLst>
                </a:gridCol>
                <a:gridCol w="6193720">
                  <a:extLst>
                    <a:ext uri="{9D8B030D-6E8A-4147-A177-3AD203B41FA5}">
                      <a16:colId xmlns:a16="http://schemas.microsoft.com/office/drawing/2014/main" val="3901585434"/>
                    </a:ext>
                  </a:extLst>
                </a:gridCol>
              </a:tblGrid>
              <a:tr h="313376">
                <a:tc>
                  <a:txBody>
                    <a:bodyPr/>
                    <a:lstStyle/>
                    <a:p>
                      <a:pPr>
                        <a:lnSpc>
                          <a:spcPct val="107000"/>
                        </a:lnSpc>
                        <a:spcAft>
                          <a:spcPts val="0"/>
                        </a:spcAft>
                      </a:pPr>
                      <a:r>
                        <a:rPr lang="en-IN" sz="1400">
                          <a:effectLst/>
                        </a:rPr>
                        <a:t>POs</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Engineering Graduates will be able to </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27662473"/>
                  </a:ext>
                </a:extLst>
              </a:tr>
              <a:tr h="313376">
                <a:tc>
                  <a:txBody>
                    <a:bodyPr/>
                    <a:lstStyle/>
                    <a:p>
                      <a:pPr>
                        <a:lnSpc>
                          <a:spcPct val="107000"/>
                        </a:lnSpc>
                        <a:spcAft>
                          <a:spcPts val="0"/>
                        </a:spcAft>
                      </a:pPr>
                      <a:r>
                        <a:rPr lang="en-IN" sz="1400">
                          <a:effectLst/>
                        </a:rPr>
                        <a:t>PO1</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Engineering Knowledge</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56962074"/>
                  </a:ext>
                </a:extLst>
              </a:tr>
              <a:tr h="313376">
                <a:tc>
                  <a:txBody>
                    <a:bodyPr/>
                    <a:lstStyle/>
                    <a:p>
                      <a:pPr>
                        <a:lnSpc>
                          <a:spcPct val="107000"/>
                        </a:lnSpc>
                        <a:spcAft>
                          <a:spcPts val="0"/>
                        </a:spcAft>
                      </a:pPr>
                      <a:r>
                        <a:rPr lang="en-IN" sz="1400">
                          <a:effectLst/>
                        </a:rPr>
                        <a:t>PO2</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Problem Analysis</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33383004"/>
                  </a:ext>
                </a:extLst>
              </a:tr>
              <a:tr h="313376">
                <a:tc>
                  <a:txBody>
                    <a:bodyPr/>
                    <a:lstStyle/>
                    <a:p>
                      <a:pPr>
                        <a:lnSpc>
                          <a:spcPct val="107000"/>
                        </a:lnSpc>
                        <a:spcAft>
                          <a:spcPts val="0"/>
                        </a:spcAft>
                      </a:pPr>
                      <a:r>
                        <a:rPr lang="en-IN" sz="1400">
                          <a:effectLst/>
                        </a:rPr>
                        <a:t>PO3</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a:effectLst/>
                        </a:rPr>
                        <a:t>Design &amp; Development of solutions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1302825"/>
                  </a:ext>
                </a:extLst>
              </a:tr>
              <a:tr h="313376">
                <a:tc>
                  <a:txBody>
                    <a:bodyPr/>
                    <a:lstStyle/>
                    <a:p>
                      <a:pPr>
                        <a:lnSpc>
                          <a:spcPct val="107000"/>
                        </a:lnSpc>
                        <a:spcAft>
                          <a:spcPts val="0"/>
                        </a:spcAft>
                      </a:pPr>
                      <a:r>
                        <a:rPr lang="en-IN" sz="1400">
                          <a:effectLst/>
                        </a:rPr>
                        <a:t>PO4</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a:effectLst/>
                        </a:rPr>
                        <a:t>Conduct Investigation of complex problems</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61366988"/>
                  </a:ext>
                </a:extLst>
              </a:tr>
              <a:tr h="313376">
                <a:tc>
                  <a:txBody>
                    <a:bodyPr/>
                    <a:lstStyle/>
                    <a:p>
                      <a:pPr>
                        <a:lnSpc>
                          <a:spcPct val="107000"/>
                        </a:lnSpc>
                        <a:spcAft>
                          <a:spcPts val="0"/>
                        </a:spcAft>
                      </a:pPr>
                      <a:r>
                        <a:rPr lang="en-IN" sz="1400">
                          <a:effectLst/>
                        </a:rPr>
                        <a:t>PO5</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Modern Tool Usage</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94335665"/>
                  </a:ext>
                </a:extLst>
              </a:tr>
              <a:tr h="313376">
                <a:tc>
                  <a:txBody>
                    <a:bodyPr/>
                    <a:lstStyle/>
                    <a:p>
                      <a:pPr>
                        <a:lnSpc>
                          <a:spcPct val="107000"/>
                        </a:lnSpc>
                        <a:spcAft>
                          <a:spcPts val="0"/>
                        </a:spcAft>
                      </a:pPr>
                      <a:r>
                        <a:rPr lang="en-IN" sz="1400">
                          <a:effectLst/>
                        </a:rPr>
                        <a:t>PO6</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The Engineer and Society</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6071200"/>
                  </a:ext>
                </a:extLst>
              </a:tr>
              <a:tr h="313376">
                <a:tc>
                  <a:txBody>
                    <a:bodyPr/>
                    <a:lstStyle/>
                    <a:p>
                      <a:pPr>
                        <a:lnSpc>
                          <a:spcPct val="107000"/>
                        </a:lnSpc>
                        <a:spcAft>
                          <a:spcPts val="0"/>
                        </a:spcAft>
                      </a:pPr>
                      <a:r>
                        <a:rPr lang="en-IN" sz="1400">
                          <a:effectLst/>
                        </a:rPr>
                        <a:t>PO7</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Environment and sustainability</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57868391"/>
                  </a:ext>
                </a:extLst>
              </a:tr>
              <a:tr h="313376">
                <a:tc>
                  <a:txBody>
                    <a:bodyPr/>
                    <a:lstStyle/>
                    <a:p>
                      <a:pPr>
                        <a:lnSpc>
                          <a:spcPct val="107000"/>
                        </a:lnSpc>
                        <a:spcAft>
                          <a:spcPts val="0"/>
                        </a:spcAft>
                      </a:pPr>
                      <a:r>
                        <a:rPr lang="en-IN" sz="1400">
                          <a:effectLst/>
                        </a:rPr>
                        <a:t>PO8</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Ethics</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2099741"/>
                  </a:ext>
                </a:extLst>
              </a:tr>
              <a:tr h="313376">
                <a:tc>
                  <a:txBody>
                    <a:bodyPr/>
                    <a:lstStyle/>
                    <a:p>
                      <a:pPr>
                        <a:lnSpc>
                          <a:spcPct val="107000"/>
                        </a:lnSpc>
                        <a:spcAft>
                          <a:spcPts val="0"/>
                        </a:spcAft>
                      </a:pPr>
                      <a:r>
                        <a:rPr lang="en-IN" sz="1400">
                          <a:effectLst/>
                        </a:rPr>
                        <a:t>PO9</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Individual &amp; Team work</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91395007"/>
                  </a:ext>
                </a:extLst>
              </a:tr>
              <a:tr h="313376">
                <a:tc>
                  <a:txBody>
                    <a:bodyPr/>
                    <a:lstStyle/>
                    <a:p>
                      <a:pPr>
                        <a:lnSpc>
                          <a:spcPct val="107000"/>
                        </a:lnSpc>
                        <a:spcAft>
                          <a:spcPts val="0"/>
                        </a:spcAft>
                      </a:pPr>
                      <a:r>
                        <a:rPr lang="en-IN" sz="1400">
                          <a:effectLst/>
                        </a:rPr>
                        <a:t>PO10</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Communication</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71081910"/>
                  </a:ext>
                </a:extLst>
              </a:tr>
              <a:tr h="313376">
                <a:tc>
                  <a:txBody>
                    <a:bodyPr/>
                    <a:lstStyle/>
                    <a:p>
                      <a:pPr>
                        <a:lnSpc>
                          <a:spcPct val="107000"/>
                        </a:lnSpc>
                        <a:spcAft>
                          <a:spcPts val="0"/>
                        </a:spcAft>
                      </a:pPr>
                      <a:r>
                        <a:rPr lang="en-IN" sz="1400">
                          <a:effectLst/>
                        </a:rPr>
                        <a:t>PO11</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Project management and Finance</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81012516"/>
                  </a:ext>
                </a:extLst>
              </a:tr>
              <a:tr h="313376">
                <a:tc>
                  <a:txBody>
                    <a:bodyPr/>
                    <a:lstStyle/>
                    <a:p>
                      <a:pPr>
                        <a:lnSpc>
                          <a:spcPct val="107000"/>
                        </a:lnSpc>
                        <a:spcAft>
                          <a:spcPts val="0"/>
                        </a:spcAft>
                      </a:pPr>
                      <a:r>
                        <a:rPr lang="en-IN" sz="1400">
                          <a:effectLst/>
                        </a:rPr>
                        <a:t>PO12</a:t>
                      </a:r>
                      <a:endParaRPr lang="en-IN"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0"/>
                        </a:spcAft>
                      </a:pPr>
                      <a:r>
                        <a:rPr lang="en-IN" sz="1800" dirty="0">
                          <a:effectLst/>
                        </a:rPr>
                        <a:t>Life Long Learning</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69303712"/>
                  </a:ext>
                </a:extLst>
              </a:tr>
            </a:tbl>
          </a:graphicData>
        </a:graphic>
      </p:graphicFrame>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11</a:t>
            </a:fld>
            <a:endParaRPr lang="en-US"/>
          </a:p>
        </p:txBody>
      </p:sp>
      <p:sp>
        <p:nvSpPr>
          <p:cNvPr id="7" name="Title 1"/>
          <p:cNvSpPr txBox="1">
            <a:spLocks/>
          </p:cNvSpPr>
          <p:nvPr/>
        </p:nvSpPr>
        <p:spPr>
          <a:xfrm>
            <a:off x="1348154"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noProof="0" dirty="0">
                <a:ln>
                  <a:noFill/>
                </a:ln>
                <a:solidFill>
                  <a:schemeClr val="dk1"/>
                </a:solidFill>
                <a:effectLst/>
                <a:uLnTx/>
                <a:uFillTx/>
                <a:latin typeface="Times New Roman" panose="02020603050405020304" pitchFamily="18" charset="0"/>
                <a:cs typeface="Times New Roman" panose="02020603050405020304" pitchFamily="18" charset="0"/>
              </a:rPr>
              <a:t>Program Outcome</a:t>
            </a:r>
            <a:endPar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23446" y="0"/>
            <a:ext cx="1522828" cy="817163"/>
          </a:xfrm>
          <a:prstGeom prst="rect">
            <a:avLst/>
          </a:prstGeom>
          <a:noFill/>
        </p:spPr>
      </p:pic>
      <p:sp>
        <p:nvSpPr>
          <p:cNvPr id="10" name="Rectangle 9">
            <a:extLst>
              <a:ext uri="{FF2B5EF4-FFF2-40B4-BE49-F238E27FC236}">
                <a16:creationId xmlns:a16="http://schemas.microsoft.com/office/drawing/2014/main" id="{541E00FF-D043-46A6-B039-CD5B92081618}"/>
              </a:ext>
            </a:extLst>
          </p:cNvPr>
          <p:cNvSpPr/>
          <p:nvPr/>
        </p:nvSpPr>
        <p:spPr>
          <a:xfrm>
            <a:off x="838200" y="1107707"/>
            <a:ext cx="7772400" cy="457048"/>
          </a:xfrm>
          <a:prstGeom prst="rect">
            <a:avLst/>
          </a:prstGeom>
        </p:spPr>
        <p:txBody>
          <a:bodyPr wrap="square">
            <a:spAutoFit/>
          </a:bodyPr>
          <a:lstStyle/>
          <a:p>
            <a:pPr>
              <a:lnSpc>
                <a:spcPct val="115000"/>
              </a:lnSpc>
              <a:spcAft>
                <a:spcPts val="1000"/>
              </a:spcAft>
            </a:pPr>
            <a:r>
              <a:rPr lang="en-US" sz="2200" dirty="0">
                <a:latin typeface="Times New Roman" panose="02020603050405020304" pitchFamily="18" charset="0"/>
                <a:ea typeface="Calibri" panose="020F0502020204030204" pitchFamily="34" charset="0"/>
                <a:cs typeface="Times New Roman" panose="02020603050405020304" pitchFamily="18" charset="0"/>
              </a:rPr>
              <a:t>At the end of the semester, the student will be able:</a:t>
            </a:r>
            <a:endParaRPr lang="en-IN" sz="22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6658736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97E10CFE-F886-4849-8ED2-2A4FB0811591}"/>
              </a:ext>
            </a:extLst>
          </p:cNvPr>
          <p:cNvGraphicFramePr>
            <a:graphicFrameLocks noGrp="1"/>
          </p:cNvGraphicFramePr>
          <p:nvPr>
            <p:ph idx="1"/>
            <p:extLst>
              <p:ext uri="{D42A27DB-BD31-4B8C-83A1-F6EECF244321}">
                <p14:modId xmlns:p14="http://schemas.microsoft.com/office/powerpoint/2010/main" val="2980427597"/>
              </p:ext>
            </p:extLst>
          </p:nvPr>
        </p:nvGraphicFramePr>
        <p:xfrm>
          <a:off x="152403" y="1219201"/>
          <a:ext cx="8839199" cy="4343401"/>
        </p:xfrm>
        <a:graphic>
          <a:graphicData uri="http://schemas.openxmlformats.org/drawingml/2006/table">
            <a:tbl>
              <a:tblPr>
                <a:tableStyleId>{D7AC3CCA-C797-4891-BE02-D94E43425B78}</a:tableStyleId>
              </a:tblPr>
              <a:tblGrid>
                <a:gridCol w="1622065">
                  <a:extLst>
                    <a:ext uri="{9D8B030D-6E8A-4147-A177-3AD203B41FA5}">
                      <a16:colId xmlns:a16="http://schemas.microsoft.com/office/drawing/2014/main" val="336454987"/>
                    </a:ext>
                  </a:extLst>
                </a:gridCol>
                <a:gridCol w="407168">
                  <a:extLst>
                    <a:ext uri="{9D8B030D-6E8A-4147-A177-3AD203B41FA5}">
                      <a16:colId xmlns:a16="http://schemas.microsoft.com/office/drawing/2014/main" val="2419786324"/>
                    </a:ext>
                  </a:extLst>
                </a:gridCol>
                <a:gridCol w="463661">
                  <a:extLst>
                    <a:ext uri="{9D8B030D-6E8A-4147-A177-3AD203B41FA5}">
                      <a16:colId xmlns:a16="http://schemas.microsoft.com/office/drawing/2014/main" val="2116179407"/>
                    </a:ext>
                  </a:extLst>
                </a:gridCol>
                <a:gridCol w="643026">
                  <a:extLst>
                    <a:ext uri="{9D8B030D-6E8A-4147-A177-3AD203B41FA5}">
                      <a16:colId xmlns:a16="http://schemas.microsoft.com/office/drawing/2014/main" val="4150870881"/>
                    </a:ext>
                  </a:extLst>
                </a:gridCol>
                <a:gridCol w="643026">
                  <a:extLst>
                    <a:ext uri="{9D8B030D-6E8A-4147-A177-3AD203B41FA5}">
                      <a16:colId xmlns:a16="http://schemas.microsoft.com/office/drawing/2014/main" val="1959501051"/>
                    </a:ext>
                  </a:extLst>
                </a:gridCol>
                <a:gridCol w="643026">
                  <a:extLst>
                    <a:ext uri="{9D8B030D-6E8A-4147-A177-3AD203B41FA5}">
                      <a16:colId xmlns:a16="http://schemas.microsoft.com/office/drawing/2014/main" val="714186528"/>
                    </a:ext>
                  </a:extLst>
                </a:gridCol>
                <a:gridCol w="643026">
                  <a:extLst>
                    <a:ext uri="{9D8B030D-6E8A-4147-A177-3AD203B41FA5}">
                      <a16:colId xmlns:a16="http://schemas.microsoft.com/office/drawing/2014/main" val="1947496999"/>
                    </a:ext>
                  </a:extLst>
                </a:gridCol>
                <a:gridCol w="643026">
                  <a:extLst>
                    <a:ext uri="{9D8B030D-6E8A-4147-A177-3AD203B41FA5}">
                      <a16:colId xmlns:a16="http://schemas.microsoft.com/office/drawing/2014/main" val="1278955555"/>
                    </a:ext>
                  </a:extLst>
                </a:gridCol>
                <a:gridCol w="643026">
                  <a:extLst>
                    <a:ext uri="{9D8B030D-6E8A-4147-A177-3AD203B41FA5}">
                      <a16:colId xmlns:a16="http://schemas.microsoft.com/office/drawing/2014/main" val="293989632"/>
                    </a:ext>
                  </a:extLst>
                </a:gridCol>
                <a:gridCol w="560586">
                  <a:extLst>
                    <a:ext uri="{9D8B030D-6E8A-4147-A177-3AD203B41FA5}">
                      <a16:colId xmlns:a16="http://schemas.microsoft.com/office/drawing/2014/main" val="2587493755"/>
                    </a:ext>
                  </a:extLst>
                </a:gridCol>
                <a:gridCol w="643026">
                  <a:extLst>
                    <a:ext uri="{9D8B030D-6E8A-4147-A177-3AD203B41FA5}">
                      <a16:colId xmlns:a16="http://schemas.microsoft.com/office/drawing/2014/main" val="3619800553"/>
                    </a:ext>
                  </a:extLst>
                </a:gridCol>
                <a:gridCol w="560586">
                  <a:extLst>
                    <a:ext uri="{9D8B030D-6E8A-4147-A177-3AD203B41FA5}">
                      <a16:colId xmlns:a16="http://schemas.microsoft.com/office/drawing/2014/main" val="3634469593"/>
                    </a:ext>
                  </a:extLst>
                </a:gridCol>
                <a:gridCol w="686084">
                  <a:extLst>
                    <a:ext uri="{9D8B030D-6E8A-4147-A177-3AD203B41FA5}">
                      <a16:colId xmlns:a16="http://schemas.microsoft.com/office/drawing/2014/main" val="1787714184"/>
                    </a:ext>
                  </a:extLst>
                </a:gridCol>
                <a:gridCol w="37867">
                  <a:extLst>
                    <a:ext uri="{9D8B030D-6E8A-4147-A177-3AD203B41FA5}">
                      <a16:colId xmlns:a16="http://schemas.microsoft.com/office/drawing/2014/main" val="2421800470"/>
                    </a:ext>
                  </a:extLst>
                </a:gridCol>
              </a:tblGrid>
              <a:tr h="653707">
                <a:tc gridSpan="14">
                  <a:txBody>
                    <a:bodyPr/>
                    <a:lstStyle/>
                    <a:p>
                      <a:pPr algn="ctr">
                        <a:lnSpc>
                          <a:spcPct val="106000"/>
                        </a:lnSpc>
                        <a:spcAft>
                          <a:spcPts val="0"/>
                        </a:spcAft>
                      </a:pPr>
                      <a:r>
                        <a:rPr lang="en-US" sz="1800" kern="1200" dirty="0">
                          <a:effectLst/>
                        </a:rPr>
                        <a:t>Computer vision</a:t>
                      </a:r>
                      <a:endParaRPr lang="en-IN" sz="1800" b="1" dirty="0">
                        <a:effectLst/>
                        <a:latin typeface="+mn-lt"/>
                        <a:ea typeface="Calibri" panose="020F0502020204030204" pitchFamily="34" charset="0"/>
                        <a:cs typeface="Times New Roman" panose="02020603050405020304" pitchFamily="18" charset="0"/>
                      </a:endParaRPr>
                    </a:p>
                  </a:txBody>
                  <a:tcPr marL="9525" marR="9525" marT="9525" marB="0" anchor="ct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807401935"/>
                  </a:ext>
                </a:extLst>
              </a:tr>
              <a:tr h="743829">
                <a:tc>
                  <a:txBody>
                    <a:bodyPr/>
                    <a:lstStyle/>
                    <a:p>
                      <a:pPr algn="ctr">
                        <a:lnSpc>
                          <a:spcPct val="106000"/>
                        </a:lnSpc>
                        <a:spcAft>
                          <a:spcPts val="0"/>
                        </a:spcAft>
                      </a:pPr>
                      <a:r>
                        <a:rPr lang="en-US" sz="1800" kern="1200" dirty="0">
                          <a:effectLst/>
                        </a:rPr>
                        <a:t>CO.K</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PO1</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PO2</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PO3</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PO4</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PO5</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PO6</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PO7</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a:effectLst/>
                        </a:rPr>
                        <a:t>PO8</a:t>
                      </a: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a:effectLst/>
                        </a:rPr>
                        <a:t>PO9</a:t>
                      </a: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a:effectLst/>
                        </a:rPr>
                        <a:t>PO10</a:t>
                      </a: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a:effectLst/>
                        </a:rPr>
                        <a:t>PO11</a:t>
                      </a: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kern="1200" dirty="0">
                          <a:effectLst/>
                        </a:rPr>
                        <a:t>PO12</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403446412"/>
                  </a:ext>
                </a:extLst>
              </a:tr>
              <a:tr h="484538">
                <a:tc>
                  <a:txBody>
                    <a:bodyPr/>
                    <a:lstStyle/>
                    <a:p>
                      <a:pPr algn="ctr">
                        <a:lnSpc>
                          <a:spcPct val="106000"/>
                        </a:lnSpc>
                        <a:spcAft>
                          <a:spcPts val="0"/>
                        </a:spcAft>
                      </a:pPr>
                      <a:r>
                        <a:rPr lang="en-US"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Subject code</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3</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785205472"/>
                  </a:ext>
                </a:extLst>
              </a:tr>
              <a:tr h="474096">
                <a:tc>
                  <a:txBody>
                    <a:bodyPr/>
                    <a:lstStyle/>
                    <a:p>
                      <a:pPr marL="0" marR="0" lvl="0" indent="0" algn="ctr" defTabSz="685800" rtl="0" eaLnBrk="1" fontAlgn="auto" latinLnBrk="0" hangingPunct="1">
                        <a:lnSpc>
                          <a:spcPct val="106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1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71837788"/>
                  </a:ext>
                </a:extLst>
              </a:tr>
              <a:tr h="463651">
                <a:tc>
                  <a:txBody>
                    <a:bodyPr/>
                    <a:lstStyle/>
                    <a:p>
                      <a:pPr marL="0" marR="0" lvl="0" indent="0" algn="ctr" defTabSz="685800" rtl="0" eaLnBrk="1" fontAlgn="auto" latinLnBrk="0" hangingPunct="1">
                        <a:lnSpc>
                          <a:spcPct val="106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1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3</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653856071"/>
                  </a:ext>
                </a:extLst>
              </a:tr>
              <a:tr h="484538">
                <a:tc>
                  <a:txBody>
                    <a:bodyPr/>
                    <a:lstStyle/>
                    <a:p>
                      <a:pPr marL="0" marR="0" lvl="0" indent="0" algn="ctr" defTabSz="685800" rtl="0" eaLnBrk="1" fontAlgn="auto" latinLnBrk="0" hangingPunct="1">
                        <a:lnSpc>
                          <a:spcPct val="106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1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3</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3</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2433960778"/>
                  </a:ext>
                </a:extLst>
              </a:tr>
              <a:tr h="474096">
                <a:tc>
                  <a:txBody>
                    <a:bodyPr/>
                    <a:lstStyle/>
                    <a:p>
                      <a:pPr marL="0" marR="0" lvl="0" indent="0" algn="ctr" defTabSz="685800" rtl="0" eaLnBrk="1" fontAlgn="auto" latinLnBrk="0" hangingPunct="1">
                        <a:lnSpc>
                          <a:spcPct val="106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1800" b="0"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effectLst/>
                          <a:latin typeface="Calibri" panose="020F0502020204030204" pitchFamily="34" charset="0"/>
                          <a:ea typeface="Calibri" panose="020F0502020204030204" pitchFamily="34" charset="0"/>
                          <a:cs typeface="Times New Roman" panose="02020603050405020304" pitchFamily="18" charset="0"/>
                        </a:rPr>
                        <a:t>3</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effectLst/>
                          <a:latin typeface="Calibri" panose="020F0502020204030204" pitchFamily="34" charset="0"/>
                          <a:ea typeface="Calibri" panose="020F0502020204030204" pitchFamily="34" charset="0"/>
                          <a:cs typeface="Times New Roman" panose="02020603050405020304" pitchFamily="18" charset="0"/>
                        </a:rPr>
                        <a:t>2</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effectLst/>
                          <a:latin typeface="Calibri" panose="020F0502020204030204" pitchFamily="34" charset="0"/>
                          <a:ea typeface="Calibri" panose="020F0502020204030204" pitchFamily="34" charset="0"/>
                          <a:cs typeface="Times New Roman" panose="02020603050405020304" pitchFamily="18" charset="0"/>
                        </a:rPr>
                        <a:t>1</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r>
                        <a:rPr lang="en-US" sz="1800" b="0" dirty="0">
                          <a:effectLst/>
                          <a:latin typeface="Calibri" panose="020F0502020204030204" pitchFamily="34" charset="0"/>
                          <a:ea typeface="Calibri" panose="020F0502020204030204" pitchFamily="34" charset="0"/>
                          <a:cs typeface="Times New Roman" panose="02020603050405020304" pitchFamily="18" charset="0"/>
                        </a:rPr>
                        <a:t>1</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a:effectLst/>
                        </a:rPr>
                        <a:t> </a:t>
                      </a:r>
                      <a:endParaRPr lang="en-IN" sz="180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56706185"/>
                  </a:ext>
                </a:extLst>
              </a:tr>
              <a:tr h="564946">
                <a:tc>
                  <a:txBody>
                    <a:bodyPr/>
                    <a:lstStyle/>
                    <a:p>
                      <a:pPr algn="ctr">
                        <a:lnSpc>
                          <a:spcPct val="106000"/>
                        </a:lnSpc>
                        <a:spcAft>
                          <a:spcPts val="0"/>
                        </a:spcAft>
                      </a:pPr>
                      <a:r>
                        <a:rPr lang="en-US" sz="1800" b="0" dirty="0" err="1">
                          <a:effectLst/>
                          <a:latin typeface="Calibri" panose="020F0502020204030204" pitchFamily="34" charset="0"/>
                          <a:ea typeface="Calibri" panose="020F0502020204030204" pitchFamily="34" charset="0"/>
                          <a:cs typeface="Times New Roman" panose="02020603050405020304" pitchFamily="18" charset="0"/>
                        </a:rPr>
                        <a:t>avg</a:t>
                      </a: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gn="ctr">
                        <a:lnSpc>
                          <a:spcPct val="106000"/>
                        </a:lnSpc>
                        <a:spcAft>
                          <a:spcPts val="0"/>
                        </a:spcAft>
                      </a:pPr>
                      <a:endParaRPr lang="en-IN" sz="1800" b="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0" anchor="ctr"/>
                </a:tc>
                <a:tc>
                  <a:txBody>
                    <a:bodyPr/>
                    <a:lstStyle/>
                    <a:p>
                      <a:pPr>
                        <a:lnSpc>
                          <a:spcPct val="107000"/>
                        </a:lnSpc>
                        <a:spcAft>
                          <a:spcPts val="800"/>
                        </a:spcAft>
                      </a:pPr>
                      <a:r>
                        <a:rPr lang="en-IN" sz="1800" dirty="0">
                          <a:effectLst/>
                        </a:rPr>
                        <a:t> </a:t>
                      </a: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a:txBody>
                  <a:tcPr marL="0" marR="0" marT="0" marB="0" anchor="ctr"/>
                </a:tc>
                <a:extLst>
                  <a:ext uri="{0D108BD9-81ED-4DB2-BD59-A6C34878D82A}">
                    <a16:rowId xmlns:a16="http://schemas.microsoft.com/office/drawing/2014/main" val="1763174887"/>
                  </a:ext>
                </a:extLst>
              </a:tr>
            </a:tbl>
          </a:graphicData>
        </a:graphic>
      </p:graphicFrame>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12</a:t>
            </a:fld>
            <a:endParaRPr lang="en-US"/>
          </a:p>
        </p:txBody>
      </p:sp>
      <p:sp>
        <p:nvSpPr>
          <p:cNvPr id="7"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rPr>
              <a:t>CO-PO and PSO Mapping</a:t>
            </a: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42609015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2">
            <a:extLst>
              <a:ext uri="{FF2B5EF4-FFF2-40B4-BE49-F238E27FC236}">
                <a16:creationId xmlns:a16="http://schemas.microsoft.com/office/drawing/2014/main" id="{10D0E64F-BB5C-4A30-8895-5CCE8F366BE7}"/>
              </a:ext>
            </a:extLst>
          </p:cNvPr>
          <p:cNvSpPr txBox="1">
            <a:spLocks noGrp="1"/>
          </p:cNvSpPr>
          <p:nvPr>
            <p:ph idx="1"/>
          </p:nvPr>
        </p:nvSpPr>
        <p:spPr>
          <a:xfrm>
            <a:off x="533400" y="1214438"/>
            <a:ext cx="8001000" cy="4271962"/>
          </a:xfrm>
        </p:spPr>
        <p:txBody>
          <a:bodyPr/>
          <a:lstStyle/>
          <a:p>
            <a:pPr algn="just">
              <a:spcBef>
                <a:spcPct val="0"/>
              </a:spcBef>
              <a:spcAft>
                <a:spcPct val="0"/>
              </a:spcAft>
              <a:buClr>
                <a:srgbClr val="000000"/>
              </a:buClr>
              <a:buFont typeface="Arial" panose="020B0604020202020204" pitchFamily="34" charset="0"/>
              <a:buNone/>
            </a:pPr>
            <a:r>
              <a:rPr lang="en-US" altLang="en-US" sz="2000" b="1" dirty="0">
                <a:latin typeface="Times New Roman" panose="02020603050405020304" pitchFamily="18" charset="0"/>
                <a:cs typeface="Times New Roman" panose="02020603050405020304" pitchFamily="18" charset="0"/>
              </a:rPr>
              <a:t>PEO1: </a:t>
            </a:r>
            <a:r>
              <a:rPr lang="en-US" altLang="en-US" sz="2000" dirty="0">
                <a:latin typeface="Times New Roman" panose="02020603050405020304" pitchFamily="18" charset="0"/>
                <a:cs typeface="Times New Roman" panose="02020603050405020304" pitchFamily="18" charset="0"/>
              </a:rPr>
              <a:t>To have an excellent scientific and engineering breadth so as to</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comprehend, analyze, design and provide sustainable solutions for</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real-life problems using state-of-the-art technologies.</a:t>
            </a:r>
            <a:endParaRPr lang="en-IN" altLang="en-US" sz="2000" dirty="0">
              <a:latin typeface="Times New Roman" panose="02020603050405020304" pitchFamily="18" charset="0"/>
              <a:cs typeface="Times New Roman" panose="02020603050405020304" pitchFamily="18" charset="0"/>
            </a:endParaRPr>
          </a:p>
          <a:p>
            <a:pPr algn="just">
              <a:spcBef>
                <a:spcPct val="0"/>
              </a:spcBef>
              <a:spcAft>
                <a:spcPct val="0"/>
              </a:spcAft>
              <a:buClr>
                <a:srgbClr val="000000"/>
              </a:buClr>
              <a:buFont typeface="Arial" panose="020B0604020202020204" pitchFamily="34" charset="0"/>
              <a:buNone/>
            </a:pPr>
            <a:r>
              <a:rPr lang="en-US" altLang="en-US" sz="2000" b="1" dirty="0">
                <a:latin typeface="Times New Roman" panose="02020603050405020304" pitchFamily="18" charset="0"/>
                <a:cs typeface="Times New Roman" panose="02020603050405020304" pitchFamily="18" charset="0"/>
              </a:rPr>
              <a:t>PEO2:</a:t>
            </a:r>
            <a:r>
              <a:rPr lang="en-US" altLang="en-US" sz="2000" dirty="0">
                <a:latin typeface="Times New Roman" panose="02020603050405020304" pitchFamily="18" charset="0"/>
                <a:cs typeface="Times New Roman" panose="02020603050405020304" pitchFamily="18" charset="0"/>
              </a:rPr>
              <a:t>To have a successful career in industries, to pursue higher studies or</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to support </a:t>
            </a:r>
            <a:r>
              <a:rPr lang="en-US" altLang="en-US" sz="2000" dirty="0" err="1">
                <a:latin typeface="Times New Roman" panose="02020603050405020304" pitchFamily="18" charset="0"/>
                <a:cs typeface="Times New Roman" panose="02020603050405020304" pitchFamily="18" charset="0"/>
              </a:rPr>
              <a:t>enterpreneurial</a:t>
            </a:r>
            <a:r>
              <a:rPr lang="en-US" altLang="en-US" sz="2000" dirty="0">
                <a:latin typeface="Times New Roman" panose="02020603050405020304" pitchFamily="18" charset="0"/>
                <a:cs typeface="Times New Roman" panose="02020603050405020304" pitchFamily="18" charset="0"/>
              </a:rPr>
              <a:t> endeavors and to face global challenges.</a:t>
            </a:r>
            <a:endParaRPr lang="en-IN" altLang="en-US" sz="2000" dirty="0">
              <a:latin typeface="Times New Roman" panose="02020603050405020304" pitchFamily="18" charset="0"/>
              <a:cs typeface="Times New Roman" panose="02020603050405020304" pitchFamily="18" charset="0"/>
            </a:endParaRPr>
          </a:p>
          <a:p>
            <a:pPr algn="just">
              <a:spcBef>
                <a:spcPct val="0"/>
              </a:spcBef>
              <a:spcAft>
                <a:spcPct val="0"/>
              </a:spcAft>
              <a:buClr>
                <a:srgbClr val="000000"/>
              </a:buClr>
              <a:buFont typeface="Arial" panose="020B0604020202020204" pitchFamily="34" charset="0"/>
              <a:buNone/>
            </a:pPr>
            <a:r>
              <a:rPr lang="en-US" altLang="en-US" sz="2000" b="1" dirty="0">
                <a:latin typeface="Times New Roman" panose="02020603050405020304" pitchFamily="18" charset="0"/>
                <a:cs typeface="Times New Roman" panose="02020603050405020304" pitchFamily="18" charset="0"/>
              </a:rPr>
              <a:t>PEO3:</a:t>
            </a:r>
            <a:r>
              <a:rPr lang="en-US" altLang="en-US" sz="2000" dirty="0">
                <a:latin typeface="Times New Roman" panose="02020603050405020304" pitchFamily="18" charset="0"/>
                <a:cs typeface="Times New Roman" panose="02020603050405020304" pitchFamily="18" charset="0"/>
              </a:rPr>
              <a:t>To have an effective communication skills, professional attitude,</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ethical values and a desire to learn specific knowledge in emerging</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trends, technologies for  research, innovation and product</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development and contribution to society.</a:t>
            </a:r>
            <a:endParaRPr lang="en-IN" altLang="en-US" sz="2000" dirty="0">
              <a:latin typeface="Times New Roman" panose="02020603050405020304" pitchFamily="18" charset="0"/>
              <a:cs typeface="Times New Roman" panose="02020603050405020304" pitchFamily="18" charset="0"/>
            </a:endParaRPr>
          </a:p>
          <a:p>
            <a:pPr algn="just">
              <a:spcBef>
                <a:spcPct val="0"/>
              </a:spcBef>
              <a:spcAft>
                <a:spcPct val="0"/>
              </a:spcAft>
              <a:buClr>
                <a:srgbClr val="000000"/>
              </a:buClr>
              <a:buFont typeface="Arial" panose="020B0604020202020204" pitchFamily="34" charset="0"/>
              <a:buNone/>
            </a:pPr>
            <a:r>
              <a:rPr lang="en-US" altLang="en-US" sz="2000" b="1" dirty="0">
                <a:latin typeface="Times New Roman" panose="02020603050405020304" pitchFamily="18" charset="0"/>
                <a:cs typeface="Times New Roman" panose="02020603050405020304" pitchFamily="18" charset="0"/>
              </a:rPr>
              <a:t>PEO4: </a:t>
            </a:r>
            <a:r>
              <a:rPr lang="en-US" altLang="en-US" sz="2000" dirty="0">
                <a:latin typeface="Times New Roman" panose="02020603050405020304" pitchFamily="18" charset="0"/>
                <a:cs typeface="Times New Roman" panose="02020603050405020304" pitchFamily="18" charset="0"/>
              </a:rPr>
              <a:t>To have life-long learning for up-skilling and re-skilling for</a:t>
            </a: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successful professional career as engineer, scientist, </a:t>
            </a:r>
            <a:r>
              <a:rPr lang="en-US" altLang="en-US" sz="2000" dirty="0" err="1">
                <a:latin typeface="Times New Roman" panose="02020603050405020304" pitchFamily="18" charset="0"/>
                <a:cs typeface="Times New Roman" panose="02020603050405020304" pitchFamily="18" charset="0"/>
              </a:rPr>
              <a:t>enterpreneur</a:t>
            </a:r>
            <a:endParaRPr lang="en-US" altLang="en-US" sz="2000" dirty="0">
              <a:latin typeface="Times New Roman" panose="02020603050405020304" pitchFamily="18" charset="0"/>
              <a:cs typeface="Times New Roman" panose="02020603050405020304" pitchFamily="18" charset="0"/>
            </a:endParaRPr>
          </a:p>
          <a:p>
            <a:pPr algn="just">
              <a:spcBef>
                <a:spcPct val="0"/>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              and bureaucrat for betterment of society</a:t>
            </a:r>
            <a:endParaRPr lang="en-IN" altLang="en-US" sz="2000" dirty="0">
              <a:latin typeface="Times New Roman" panose="02020603050405020304" pitchFamily="18" charset="0"/>
              <a:cs typeface="Times New Roman" panose="02020603050405020304" pitchFamily="18" charset="0"/>
            </a:endParaRP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13</a:t>
            </a:fld>
            <a:endParaRPr lang="en-US"/>
          </a:p>
        </p:txBody>
      </p:sp>
      <p:sp>
        <p:nvSpPr>
          <p:cNvPr id="7"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rPr>
              <a:t>Program</a:t>
            </a:r>
            <a:r>
              <a:rPr kumimoji="0" lang="en-US" sz="2400" b="0" i="0" u="none" strike="noStrike" kern="1200" cap="none" spc="0" normalizeH="0" noProof="0" dirty="0">
                <a:ln>
                  <a:noFill/>
                </a:ln>
                <a:solidFill>
                  <a:schemeClr val="dk1"/>
                </a:solidFill>
                <a:effectLst/>
                <a:uLnTx/>
                <a:uFillTx/>
                <a:latin typeface="Times New Roman" panose="02020603050405020304" pitchFamily="18" charset="0"/>
                <a:cs typeface="Times New Roman" panose="02020603050405020304" pitchFamily="18" charset="0"/>
              </a:rPr>
              <a:t> Educational Objectives(PEOs)</a:t>
            </a:r>
            <a:endParaRPr kumimoji="0" lang="en-US" sz="2400" b="0" i="0" u="none" strike="noStrike" kern="1200" cap="none" spc="0" normalizeH="0" baseline="0" noProof="0" dirty="0">
              <a:ln>
                <a:noFill/>
              </a:ln>
              <a:solidFill>
                <a:schemeClr val="dk1"/>
              </a:solidFill>
              <a:effectLst/>
              <a:uLnTx/>
              <a:uFillTx/>
              <a:latin typeface="Times New Roman" panose="02020603050405020304" pitchFamily="18" charset="0"/>
              <a:cs typeface="Times New Roman" panose="02020603050405020304" pitchFamily="18" charset="0"/>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108298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22434C-AD44-4A72-A6D6-FCA4D781430A}"/>
              </a:ext>
            </a:extLst>
          </p:cNvPr>
          <p:cNvSpPr>
            <a:spLocks noGrp="1"/>
          </p:cNvSpPr>
          <p:nvPr>
            <p:ph idx="1"/>
          </p:nvPr>
        </p:nvSpPr>
        <p:spPr>
          <a:xfrm>
            <a:off x="457200" y="1225550"/>
            <a:ext cx="8229600" cy="4754563"/>
          </a:xfrm>
        </p:spPr>
        <p:txBody>
          <a:bodyPr/>
          <a:lstStyle/>
          <a:p>
            <a:pPr marL="0" indent="0" algn="ctr">
              <a:buFont typeface="Arial" panose="020B0604020202020204" pitchFamily="34" charset="0"/>
              <a:buNone/>
              <a:defRPr/>
            </a:pPr>
            <a:r>
              <a:rPr lang="en-IN" sz="2000" dirty="0">
                <a:sym typeface="Arial" charset="0"/>
              </a:rPr>
              <a:t>B TECH </a:t>
            </a:r>
          </a:p>
          <a:p>
            <a:pPr marL="0" indent="0" algn="ctr">
              <a:buFont typeface="Arial" panose="020B0604020202020204" pitchFamily="34" charset="0"/>
              <a:buNone/>
              <a:defRPr/>
            </a:pPr>
            <a:r>
              <a:rPr lang="en-IN" sz="2000" dirty="0">
                <a:sym typeface="Arial" charset="0"/>
              </a:rPr>
              <a:t>(SEM-VII) THEORY EXAMINATION 20__-20__</a:t>
            </a:r>
          </a:p>
          <a:p>
            <a:pPr marL="0" indent="0" algn="ctr">
              <a:buFont typeface="Arial" panose="020B0604020202020204" pitchFamily="34" charset="0"/>
              <a:buNone/>
              <a:defRPr/>
            </a:pPr>
            <a:r>
              <a:rPr lang="en-IN" sz="2000" dirty="0">
                <a:sym typeface="Arial" charset="0"/>
              </a:rPr>
              <a:t>COMPUTER VISION</a:t>
            </a:r>
          </a:p>
          <a:p>
            <a:pPr marL="0" indent="0">
              <a:buFont typeface="Arial" panose="020B0604020202020204" pitchFamily="34" charset="0"/>
              <a:buNone/>
              <a:defRPr/>
            </a:pPr>
            <a:r>
              <a:rPr lang="en-IN" sz="2000" b="1" dirty="0">
                <a:sym typeface="Arial" charset="0"/>
              </a:rPr>
              <a:t>Time: 3 Hours                                                                                    Total Marks: 100 </a:t>
            </a:r>
          </a:p>
          <a:p>
            <a:pPr marL="0" indent="0" algn="just">
              <a:buFont typeface="Arial" panose="020B0604020202020204" pitchFamily="34" charset="0"/>
              <a:buNone/>
              <a:defRPr/>
            </a:pPr>
            <a:r>
              <a:rPr lang="en-IN" sz="2000" b="1" i="1" dirty="0">
                <a:sym typeface="Arial" charset="0"/>
              </a:rPr>
              <a:t>Note: 1. Attempt all Sections. If require any missing data; then choose suitably.</a:t>
            </a:r>
          </a:p>
          <a:p>
            <a:pPr marL="0" indent="0" algn="ctr">
              <a:buFont typeface="Arial" panose="020B0604020202020204" pitchFamily="34" charset="0"/>
              <a:buNone/>
              <a:defRPr/>
            </a:pPr>
            <a:r>
              <a:rPr lang="en-IN" sz="2000" b="1" dirty="0">
                <a:sym typeface="Arial" charset="0"/>
              </a:rPr>
              <a:t>SECTION A </a:t>
            </a:r>
          </a:p>
          <a:p>
            <a:pPr indent="-457200">
              <a:buFont typeface="Arial" panose="020B0604020202020204" pitchFamily="34" charset="0"/>
              <a:buAutoNum type="arabicPeriod"/>
              <a:defRPr/>
            </a:pPr>
            <a:r>
              <a:rPr lang="en-IN" sz="2000" b="1" dirty="0">
                <a:sym typeface="Arial" charset="0"/>
              </a:rPr>
              <a:t>Attempt all questions in brief.                                                        2 x 10 = 20</a:t>
            </a:r>
          </a:p>
          <a:p>
            <a:pPr marL="0" indent="0">
              <a:buFont typeface="Arial" panose="020B0604020202020204" pitchFamily="34" charset="0"/>
              <a:buNone/>
              <a:defRPr/>
            </a:pPr>
            <a:endParaRPr lang="en-IN" sz="2000" b="1" i="1" dirty="0">
              <a:sym typeface="Arial" charset="0"/>
            </a:endParaRPr>
          </a:p>
        </p:txBody>
      </p:sp>
      <p:sp>
        <p:nvSpPr>
          <p:cNvPr id="53250" name="Date Placeholder 3">
            <a:extLst>
              <a:ext uri="{FF2B5EF4-FFF2-40B4-BE49-F238E27FC236}">
                <a16:creationId xmlns:a16="http://schemas.microsoft.com/office/drawing/2014/main" id="{F07DA384-37D6-4169-B171-F551AFB58F28}"/>
              </a:ext>
            </a:extLst>
          </p:cNvPr>
          <p:cNvSpPr>
            <a:spLocks noGrp="1"/>
          </p:cNvSpPr>
          <p:nvPr>
            <p:ph type="dt" sz="half" idx="10"/>
          </p:nvPr>
        </p:nvSpPr>
        <p:spPr>
          <a:xfrm flipH="1">
            <a:off x="609600" y="6356350"/>
            <a:ext cx="13716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53287" name="Footer Placeholder 11">
            <a:extLst>
              <a:ext uri="{FF2B5EF4-FFF2-40B4-BE49-F238E27FC236}">
                <a16:creationId xmlns:a16="http://schemas.microsoft.com/office/drawing/2014/main" id="{60EB482F-3255-4322-ADE7-B556E8FD0605}"/>
              </a:ext>
            </a:extLst>
          </p:cNvPr>
          <p:cNvSpPr>
            <a:spLocks noGrp="1"/>
          </p:cNvSpPr>
          <p:nvPr>
            <p:ph type="ftr" sz="quarter" idx="11"/>
          </p:nvPr>
        </p:nvSpPr>
        <p:spPr>
          <a:xfrm>
            <a:off x="2349500" y="6384925"/>
            <a:ext cx="4508500" cy="3365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r>
              <a:rPr lang="it-IT" altLang="en-US" sz="1200">
                <a:solidFill>
                  <a:srgbClr val="888888"/>
                </a:solidFill>
                <a:latin typeface="Calibri" panose="020F0502020204030204" pitchFamily="34" charset="0"/>
                <a:sym typeface="Calibri" panose="020F0502020204030204" pitchFamily="34" charset="0"/>
              </a:rPr>
              <a:t>Dr Preeti Gera            COMPUTER VISION  UNIT- IV</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53288" name="Slide Number Placeholder 12">
            <a:extLst>
              <a:ext uri="{FF2B5EF4-FFF2-40B4-BE49-F238E27FC236}">
                <a16:creationId xmlns:a16="http://schemas.microsoft.com/office/drawing/2014/main" id="{286F4104-4FCD-4E25-A149-B64C3FFC358D}"/>
              </a:ext>
            </a:extLst>
          </p:cNvPr>
          <p:cNvSpPr>
            <a:spLocks noGrp="1"/>
          </p:cNvSpPr>
          <p:nvPr>
            <p:ph type="sldNum" sz="quarter" idx="12"/>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fontAlgn="base">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Arial" panose="020B0604020202020204" pitchFamily="34" charset="0"/>
                <a:sym typeface="Calibri" panose="020F0502020204030204" pitchFamily="34" charset="0"/>
              </a:defRPr>
            </a:lvl1pPr>
            <a:lvl2pPr marL="4572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eaLnBrk="1" hangingPunct="1"/>
            <a:fld id="{E22F518A-4755-4E63-80FF-93C53BC9E5C8}" type="slidenum">
              <a:rPr lang="en-US" altLang="en-US" smtClean="0"/>
              <a:pPr eaLnBrk="1" hangingPunct="1"/>
              <a:t>14</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CB647E03-879D-4188-B9F7-4A741850D4F7}"/>
              </a:ext>
            </a:extLst>
          </p:cNvPr>
          <p:cNvSpPr txBox="1">
            <a:spLocks/>
          </p:cNvSpPr>
          <p:nvPr/>
        </p:nvSpPr>
        <p:spPr>
          <a:xfrm>
            <a:off x="1371600" y="0"/>
            <a:ext cx="7543800" cy="930275"/>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anchor="ctr"/>
          <a:lstStyle/>
          <a:p>
            <a:pPr algn="ctr" fontAlgn="auto">
              <a:spcAft>
                <a:spcPts val="0"/>
              </a:spcAft>
              <a:defRPr/>
            </a:pPr>
            <a:r>
              <a:rPr lang="en-IN" sz="3200" dirty="0">
                <a:latin typeface="Times New Roman" pitchFamily="18" charset="0"/>
                <a:cs typeface="Times New Roman" pitchFamily="18" charset="0"/>
                <a:sym typeface="Arial" charset="0"/>
              </a:rPr>
              <a:t>End Semester Question Paper Template </a:t>
            </a:r>
            <a:endParaRPr lang="en-US" sz="3200" dirty="0">
              <a:latin typeface="Times New Roman" pitchFamily="18" charset="0"/>
              <a:cs typeface="Times New Roman" pitchFamily="18" charset="0"/>
              <a:sym typeface="Arial" charset="0"/>
            </a:endParaRPr>
          </a:p>
        </p:txBody>
      </p:sp>
      <p:sp>
        <p:nvSpPr>
          <p:cNvPr id="53253" name="Rectangle 2">
            <a:extLst>
              <a:ext uri="{FF2B5EF4-FFF2-40B4-BE49-F238E27FC236}">
                <a16:creationId xmlns:a16="http://schemas.microsoft.com/office/drawing/2014/main" id="{81D28AA1-B034-491D-9D7C-81CF11EE533B}"/>
              </a:ext>
            </a:extLst>
          </p:cNvPr>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r>
              <a:rPr lang="en-US" altLang="en-US"/>
            </a:br>
            <a:endParaRPr lang="en-US" altLang="en-US"/>
          </a:p>
          <a:p>
            <a:pPr eaLnBrk="1" hangingPunct="1"/>
            <a:endParaRPr lang="en-US" altLang="en-US"/>
          </a:p>
        </p:txBody>
      </p:sp>
      <p:graphicFrame>
        <p:nvGraphicFramePr>
          <p:cNvPr id="3" name="Table 2">
            <a:extLst>
              <a:ext uri="{FF2B5EF4-FFF2-40B4-BE49-F238E27FC236}">
                <a16:creationId xmlns:a16="http://schemas.microsoft.com/office/drawing/2014/main" id="{6EE6E332-3563-4688-A211-4CE181CFE2C2}"/>
              </a:ext>
            </a:extLst>
          </p:cNvPr>
          <p:cNvGraphicFramePr>
            <a:graphicFrameLocks noGrp="1"/>
          </p:cNvGraphicFramePr>
          <p:nvPr/>
        </p:nvGraphicFramePr>
        <p:xfrm>
          <a:off x="609600" y="4114800"/>
          <a:ext cx="7924800" cy="148590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838200">
                  <a:extLst>
                    <a:ext uri="{9D8B030D-6E8A-4147-A177-3AD203B41FA5}">
                      <a16:colId xmlns:a16="http://schemas.microsoft.com/office/drawing/2014/main" val="20002"/>
                    </a:ext>
                  </a:extLst>
                </a:gridCol>
                <a:gridCol w="838200">
                  <a:extLst>
                    <a:ext uri="{9D8B030D-6E8A-4147-A177-3AD203B41FA5}">
                      <a16:colId xmlns:a16="http://schemas.microsoft.com/office/drawing/2014/main" val="20003"/>
                    </a:ext>
                  </a:extLst>
                </a:gridCol>
              </a:tblGrid>
              <a:tr h="255847">
                <a:tc>
                  <a:txBody>
                    <a:bodyPr/>
                    <a:lstStyle/>
                    <a:p>
                      <a:r>
                        <a:rPr lang="en-IN" dirty="0" err="1">
                          <a:solidFill>
                            <a:schemeClr val="tx1"/>
                          </a:solidFill>
                        </a:rPr>
                        <a:t>Q.No</a:t>
                      </a:r>
                      <a:r>
                        <a:rPr lang="en-IN"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Question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solidFill>
                            <a:schemeClr val="tx1"/>
                          </a:solidFill>
                        </a:rPr>
                        <a:t>Marks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55847">
                <a:tc>
                  <a:txBody>
                    <a:bodyPr/>
                    <a:lstStyle/>
                    <a:p>
                      <a:r>
                        <a:rPr lang="en-IN"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55847">
                <a:tc>
                  <a:txBody>
                    <a:bodyPr/>
                    <a:lstStyle/>
                    <a:p>
                      <a:r>
                        <a:rPr lang="en-IN"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55847">
                <a:tc>
                  <a:txBody>
                    <a:bodyPr/>
                    <a:lstStyle/>
                    <a:p>
                      <a:r>
                        <a:rPr lang="en-IN"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55847">
                <a:tc>
                  <a:txBody>
                    <a:bodyPr/>
                    <a:lstStyle/>
                    <a:p>
                      <a:r>
                        <a:rPr lang="en-IN"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pic>
        <p:nvPicPr>
          <p:cNvPr id="10" name="Picture 9">
            <a:extLst>
              <a:ext uri="{FF2B5EF4-FFF2-40B4-BE49-F238E27FC236}">
                <a16:creationId xmlns:a16="http://schemas.microsoft.com/office/drawing/2014/main" id="{C2336DCB-2E2B-4BD9-8F82-78F9054D3E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004" y="104043"/>
            <a:ext cx="1229048" cy="716695"/>
          </a:xfrm>
          <a:prstGeom prst="rect">
            <a:avLst/>
          </a:prstGeom>
        </p:spPr>
      </p:pic>
    </p:spTree>
    <p:extLst>
      <p:ext uri="{BB962C8B-B14F-4D97-AF65-F5344CB8AC3E}">
        <p14:creationId xmlns:p14="http://schemas.microsoft.com/office/powerpoint/2010/main" val="37865265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8" name="Content Placeholder 1">
            <a:extLst>
              <a:ext uri="{FF2B5EF4-FFF2-40B4-BE49-F238E27FC236}">
                <a16:creationId xmlns:a16="http://schemas.microsoft.com/office/drawing/2014/main" id="{597B8432-DFF0-4DDA-84BD-CD565D4BFC2B}"/>
              </a:ext>
            </a:extLst>
          </p:cNvPr>
          <p:cNvSpPr txBox="1">
            <a:spLocks noGrp="1"/>
          </p:cNvSpPr>
          <p:nvPr>
            <p:ph idx="1"/>
          </p:nvPr>
        </p:nvSpPr>
        <p:spPr>
          <a:xfrm>
            <a:off x="457200" y="1225550"/>
            <a:ext cx="8229600" cy="4754563"/>
          </a:xfrm>
        </p:spPr>
        <p:txBody>
          <a:bodyPr/>
          <a:lstStyle/>
          <a:p>
            <a:pPr marL="0" indent="0" algn="ctr">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SECTION B </a:t>
            </a:r>
          </a:p>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2. Attempt any three of the following:                               3 x 10 = 30</a:t>
            </a: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lgn="ctr">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 SECTION C</a:t>
            </a:r>
          </a:p>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3. Attempt any one part of the following:                          1 x 10 = 10    </a:t>
            </a:r>
            <a:endParaRPr lang="en-IN" altLang="en-US" sz="2000" b="1" i="1">
              <a:latin typeface="Arial" panose="020B0604020202020204" pitchFamily="34" charset="0"/>
              <a:cs typeface="Arial" panose="020B0604020202020204" pitchFamily="34" charset="0"/>
            </a:endParaRPr>
          </a:p>
        </p:txBody>
      </p:sp>
      <p:sp>
        <p:nvSpPr>
          <p:cNvPr id="54274" name="Date Placeholder 3">
            <a:extLst>
              <a:ext uri="{FF2B5EF4-FFF2-40B4-BE49-F238E27FC236}">
                <a16:creationId xmlns:a16="http://schemas.microsoft.com/office/drawing/2014/main" id="{1583C611-A80D-43ED-8102-CB220BA542E2}"/>
              </a:ext>
            </a:extLst>
          </p:cNvPr>
          <p:cNvSpPr>
            <a:spLocks noGrp="1"/>
          </p:cNvSpPr>
          <p:nvPr>
            <p:ph type="dt" sz="half" idx="10"/>
          </p:nvPr>
        </p:nvSpPr>
        <p:spPr>
          <a:xfrm>
            <a:off x="-76200" y="6424612"/>
            <a:ext cx="28956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54333" name="Footer Placeholder 10">
            <a:extLst>
              <a:ext uri="{FF2B5EF4-FFF2-40B4-BE49-F238E27FC236}">
                <a16:creationId xmlns:a16="http://schemas.microsoft.com/office/drawing/2014/main" id="{9BF3E96D-C40D-48C4-B41D-E4E0DF60ED3B}"/>
              </a:ext>
            </a:extLst>
          </p:cNvPr>
          <p:cNvSpPr>
            <a:spLocks noGrp="1"/>
          </p:cNvSpPr>
          <p:nvPr>
            <p:ph type="ftr" sz="quarter" idx="11"/>
          </p:nvPr>
        </p:nvSpPr>
        <p:spPr>
          <a:xfrm>
            <a:off x="701040" y="6356350"/>
            <a:ext cx="7026275" cy="5016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r>
              <a:rPr lang="it-IT" altLang="en-US" sz="1200">
                <a:solidFill>
                  <a:srgbClr val="888888"/>
                </a:solidFill>
                <a:latin typeface="Calibri" panose="020F0502020204030204" pitchFamily="34" charset="0"/>
                <a:sym typeface="Calibri" panose="020F0502020204030204" pitchFamily="34" charset="0"/>
              </a:rPr>
              <a:t>Dr Preeti Gera            COMPUTER VISION  UNIT- IV</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54334" name="Slide Number Placeholder 11">
            <a:extLst>
              <a:ext uri="{FF2B5EF4-FFF2-40B4-BE49-F238E27FC236}">
                <a16:creationId xmlns:a16="http://schemas.microsoft.com/office/drawing/2014/main" id="{1426CA00-1A1C-4FFA-92B2-E5EB35553F59}"/>
              </a:ext>
            </a:extLst>
          </p:cNvPr>
          <p:cNvSpPr>
            <a:spLocks noGrp="1"/>
          </p:cNvSpPr>
          <p:nvPr>
            <p:ph type="sldNum" sz="quarter" idx="12"/>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fontAlgn="base">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Arial" panose="020B0604020202020204" pitchFamily="34" charset="0"/>
                <a:sym typeface="Calibri" panose="020F0502020204030204" pitchFamily="34" charset="0"/>
              </a:defRPr>
            </a:lvl1pPr>
            <a:lvl2pPr marL="4572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eaLnBrk="1" hangingPunct="1"/>
            <a:fld id="{E22F518A-4755-4E63-80FF-93C53BC9E5C8}" type="slidenum">
              <a:rPr lang="en-US" altLang="en-US" smtClean="0"/>
              <a:pPr eaLnBrk="1" hangingPunct="1"/>
              <a:t>15</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DF84A163-333C-46E8-8954-FD528A9C5648}"/>
              </a:ext>
            </a:extLst>
          </p:cNvPr>
          <p:cNvSpPr txBox="1">
            <a:spLocks/>
          </p:cNvSpPr>
          <p:nvPr/>
        </p:nvSpPr>
        <p:spPr>
          <a:xfrm>
            <a:off x="1371600" y="0"/>
            <a:ext cx="7543800" cy="1039813"/>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anchor="ctr"/>
          <a:lstStyle/>
          <a:p>
            <a:pPr algn="ctr" fontAlgn="auto">
              <a:spcAft>
                <a:spcPts val="0"/>
              </a:spcAft>
              <a:defRPr/>
            </a:pPr>
            <a:r>
              <a:rPr lang="en-IN" sz="3200" dirty="0">
                <a:latin typeface="Times New Roman" pitchFamily="18" charset="0"/>
                <a:cs typeface="Times New Roman" pitchFamily="18" charset="0"/>
                <a:sym typeface="Arial" charset="0"/>
              </a:rPr>
              <a:t>End Semester Question Paper Templates </a:t>
            </a:r>
            <a:endParaRPr lang="en-US" sz="3200" dirty="0">
              <a:latin typeface="Times New Roman" pitchFamily="18" charset="0"/>
              <a:cs typeface="Times New Roman" pitchFamily="18" charset="0"/>
              <a:sym typeface="Arial" charset="0"/>
            </a:endParaRPr>
          </a:p>
        </p:txBody>
      </p:sp>
      <p:sp>
        <p:nvSpPr>
          <p:cNvPr id="54277" name="Rectangle 2">
            <a:extLst>
              <a:ext uri="{FF2B5EF4-FFF2-40B4-BE49-F238E27FC236}">
                <a16:creationId xmlns:a16="http://schemas.microsoft.com/office/drawing/2014/main" id="{3A045F03-F311-4777-895A-D2C18E4EA0F3}"/>
              </a:ext>
            </a:extLst>
          </p:cNvPr>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r>
              <a:rPr lang="en-US" altLang="en-US"/>
            </a:br>
            <a:endParaRPr lang="en-US" altLang="en-US"/>
          </a:p>
          <a:p>
            <a:pPr eaLnBrk="1" hangingPunct="1"/>
            <a:endParaRPr lang="en-US" altLang="en-US"/>
          </a:p>
        </p:txBody>
      </p:sp>
      <p:graphicFrame>
        <p:nvGraphicFramePr>
          <p:cNvPr id="3" name="Table 2">
            <a:extLst>
              <a:ext uri="{FF2B5EF4-FFF2-40B4-BE49-F238E27FC236}">
                <a16:creationId xmlns:a16="http://schemas.microsoft.com/office/drawing/2014/main" id="{3BD8A6D9-09A0-45D8-BC21-C175B99CE0F0}"/>
              </a:ext>
            </a:extLst>
          </p:cNvPr>
          <p:cNvGraphicFramePr>
            <a:graphicFrameLocks noGrp="1"/>
          </p:cNvGraphicFramePr>
          <p:nvPr/>
        </p:nvGraphicFramePr>
        <p:xfrm>
          <a:off x="835025" y="2365375"/>
          <a:ext cx="7839075" cy="1485900"/>
        </p:xfrm>
        <a:graphic>
          <a:graphicData uri="http://schemas.openxmlformats.org/drawingml/2006/table">
            <a:tbl>
              <a:tblPr firstRow="1" bandRow="1">
                <a:tableStyleId>{5C22544A-7EE6-4342-B048-85BDC9FD1C3A}</a:tableStyleId>
              </a:tblPr>
              <a:tblGrid>
                <a:gridCol w="904509">
                  <a:extLst>
                    <a:ext uri="{9D8B030D-6E8A-4147-A177-3AD203B41FA5}">
                      <a16:colId xmlns:a16="http://schemas.microsoft.com/office/drawing/2014/main" val="20000"/>
                    </a:ext>
                  </a:extLst>
                </a:gridCol>
                <a:gridCol w="5276300">
                  <a:extLst>
                    <a:ext uri="{9D8B030D-6E8A-4147-A177-3AD203B41FA5}">
                      <a16:colId xmlns:a16="http://schemas.microsoft.com/office/drawing/2014/main" val="20001"/>
                    </a:ext>
                  </a:extLst>
                </a:gridCol>
                <a:gridCol w="829133">
                  <a:extLst>
                    <a:ext uri="{9D8B030D-6E8A-4147-A177-3AD203B41FA5}">
                      <a16:colId xmlns:a16="http://schemas.microsoft.com/office/drawing/2014/main" val="20002"/>
                    </a:ext>
                  </a:extLst>
                </a:gridCol>
                <a:gridCol w="829133">
                  <a:extLst>
                    <a:ext uri="{9D8B030D-6E8A-4147-A177-3AD203B41FA5}">
                      <a16:colId xmlns:a16="http://schemas.microsoft.com/office/drawing/2014/main" val="20003"/>
                    </a:ext>
                  </a:extLst>
                </a:gridCol>
              </a:tblGrid>
              <a:tr h="273794">
                <a:tc>
                  <a:txBody>
                    <a:bodyPr/>
                    <a:lstStyle/>
                    <a:p>
                      <a:r>
                        <a:rPr lang="en-IN" dirty="0" err="1">
                          <a:solidFill>
                            <a:schemeClr val="tx1"/>
                          </a:solidFill>
                        </a:rPr>
                        <a:t>Q.No</a:t>
                      </a:r>
                      <a:r>
                        <a:rPr lang="en-IN" dirty="0">
                          <a:solidFill>
                            <a:schemeClr val="tx1"/>
                          </a:solidFill>
                        </a:rPr>
                        <a:t>.</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Question </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solidFill>
                            <a:schemeClr val="tx1"/>
                          </a:solidFill>
                        </a:rPr>
                        <a:t>Marks </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CO</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73794">
                <a:tc>
                  <a:txBody>
                    <a:bodyPr/>
                    <a:lstStyle/>
                    <a:p>
                      <a:r>
                        <a:rPr lang="en-IN" dirty="0"/>
                        <a:t>1</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10</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73794">
                <a:tc>
                  <a:txBody>
                    <a:bodyPr/>
                    <a:lstStyle/>
                    <a:p>
                      <a:r>
                        <a:rPr lang="en-IN" dirty="0"/>
                        <a:t>2</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10</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73794">
                <a:tc>
                  <a:txBody>
                    <a:bodyPr/>
                    <a:lstStyle/>
                    <a:p>
                      <a:r>
                        <a:rPr lang="en-IN" dirty="0"/>
                        <a:t>.</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73794">
                <a:tc>
                  <a:txBody>
                    <a:bodyPr/>
                    <a:lstStyle/>
                    <a:p>
                      <a:r>
                        <a:rPr lang="en-IN" dirty="0"/>
                        <a:t>5</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10</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graphicFrame>
        <p:nvGraphicFramePr>
          <p:cNvPr id="10" name="Table 9">
            <a:extLst>
              <a:ext uri="{FF2B5EF4-FFF2-40B4-BE49-F238E27FC236}">
                <a16:creationId xmlns:a16="http://schemas.microsoft.com/office/drawing/2014/main" id="{E72EFC8D-CA57-40F5-AD3E-D559506685CE}"/>
              </a:ext>
            </a:extLst>
          </p:cNvPr>
          <p:cNvGraphicFramePr>
            <a:graphicFrameLocks noGrp="1"/>
          </p:cNvGraphicFramePr>
          <p:nvPr/>
        </p:nvGraphicFramePr>
        <p:xfrm>
          <a:off x="928688" y="4960669"/>
          <a:ext cx="7986712" cy="1387475"/>
        </p:xfrm>
        <a:graphic>
          <a:graphicData uri="http://schemas.openxmlformats.org/drawingml/2006/table">
            <a:tbl>
              <a:tblPr firstRow="1" bandRow="1">
                <a:tableStyleId>{5C22544A-7EE6-4342-B048-85BDC9FD1C3A}</a:tableStyleId>
              </a:tblPr>
              <a:tblGrid>
                <a:gridCol w="921544">
                  <a:extLst>
                    <a:ext uri="{9D8B030D-6E8A-4147-A177-3AD203B41FA5}">
                      <a16:colId xmlns:a16="http://schemas.microsoft.com/office/drawing/2014/main" val="20000"/>
                    </a:ext>
                  </a:extLst>
                </a:gridCol>
                <a:gridCol w="5375672">
                  <a:extLst>
                    <a:ext uri="{9D8B030D-6E8A-4147-A177-3AD203B41FA5}">
                      <a16:colId xmlns:a16="http://schemas.microsoft.com/office/drawing/2014/main" val="20001"/>
                    </a:ext>
                  </a:extLst>
                </a:gridCol>
                <a:gridCol w="844748">
                  <a:extLst>
                    <a:ext uri="{9D8B030D-6E8A-4147-A177-3AD203B41FA5}">
                      <a16:colId xmlns:a16="http://schemas.microsoft.com/office/drawing/2014/main" val="20002"/>
                    </a:ext>
                  </a:extLst>
                </a:gridCol>
                <a:gridCol w="844748">
                  <a:extLst>
                    <a:ext uri="{9D8B030D-6E8A-4147-A177-3AD203B41FA5}">
                      <a16:colId xmlns:a16="http://schemas.microsoft.com/office/drawing/2014/main" val="20003"/>
                    </a:ext>
                  </a:extLst>
                </a:gridCol>
              </a:tblGrid>
              <a:tr h="647521">
                <a:tc>
                  <a:txBody>
                    <a:bodyPr/>
                    <a:lstStyle/>
                    <a:p>
                      <a:r>
                        <a:rPr lang="en-IN" sz="1800" dirty="0" err="1">
                          <a:solidFill>
                            <a:schemeClr val="tx1"/>
                          </a:solidFill>
                        </a:rPr>
                        <a:t>Q.No</a:t>
                      </a:r>
                      <a:r>
                        <a:rPr lang="en-IN" sz="1800" dirty="0">
                          <a:solidFill>
                            <a:schemeClr val="tx1"/>
                          </a:solidFill>
                        </a:rPr>
                        <a:t>.</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9977">
                <a:tc>
                  <a:txBody>
                    <a:bodyPr/>
                    <a:lstStyle/>
                    <a:p>
                      <a:r>
                        <a:rPr lang="en-IN" sz="1800" dirty="0"/>
                        <a:t>1</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9977">
                <a:tc>
                  <a:txBody>
                    <a:bodyPr/>
                    <a:lstStyle/>
                    <a:p>
                      <a:r>
                        <a:rPr lang="en-IN" sz="1800" dirty="0"/>
                        <a:t>2</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pic>
        <p:nvPicPr>
          <p:cNvPr id="11" name="Picture 10">
            <a:extLst>
              <a:ext uri="{FF2B5EF4-FFF2-40B4-BE49-F238E27FC236}">
                <a16:creationId xmlns:a16="http://schemas.microsoft.com/office/drawing/2014/main" id="{159C66C8-54E5-488F-9DC5-22C925D32A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5864" y="104043"/>
            <a:ext cx="1131187" cy="797656"/>
          </a:xfrm>
          <a:prstGeom prst="rect">
            <a:avLst/>
          </a:prstGeom>
        </p:spPr>
      </p:pic>
    </p:spTree>
    <p:extLst>
      <p:ext uri="{BB962C8B-B14F-4D97-AF65-F5344CB8AC3E}">
        <p14:creationId xmlns:p14="http://schemas.microsoft.com/office/powerpoint/2010/main" val="239458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302" name="Content Placeholder 1">
            <a:extLst>
              <a:ext uri="{FF2B5EF4-FFF2-40B4-BE49-F238E27FC236}">
                <a16:creationId xmlns:a16="http://schemas.microsoft.com/office/drawing/2014/main" id="{D0DC9025-1B33-491C-A346-19931EA741AB}"/>
              </a:ext>
            </a:extLst>
          </p:cNvPr>
          <p:cNvSpPr txBox="1">
            <a:spLocks noGrp="1"/>
          </p:cNvSpPr>
          <p:nvPr>
            <p:ph idx="1"/>
          </p:nvPr>
        </p:nvSpPr>
        <p:spPr>
          <a:xfrm>
            <a:off x="536575" y="914400"/>
            <a:ext cx="8150225" cy="4745038"/>
          </a:xfrm>
        </p:spPr>
        <p:txBody>
          <a:bodyPr/>
          <a:lstStyle/>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4. Attempt any one part of the following:                          1 x 10 = 10</a:t>
            </a: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5. Attempt any one part of the following:                          1 x 10 = 10  </a:t>
            </a: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 6. Attempt any one part of the following:                        1 x 10 = 10    </a:t>
            </a:r>
            <a:endParaRPr lang="en-IN" altLang="en-US" sz="2000" b="1" i="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i="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i="1">
              <a:latin typeface="Arial" panose="020B0604020202020204" pitchFamily="34" charset="0"/>
              <a:cs typeface="Arial" panose="020B0604020202020204" pitchFamily="34" charset="0"/>
            </a:endParaRPr>
          </a:p>
        </p:txBody>
      </p:sp>
      <p:sp>
        <p:nvSpPr>
          <p:cNvPr id="55298" name="Date Placeholder 3">
            <a:extLst>
              <a:ext uri="{FF2B5EF4-FFF2-40B4-BE49-F238E27FC236}">
                <a16:creationId xmlns:a16="http://schemas.microsoft.com/office/drawing/2014/main" id="{12272BC1-981B-462C-8FCD-ACAF5146F8A5}"/>
              </a:ext>
            </a:extLst>
          </p:cNvPr>
          <p:cNvSpPr>
            <a:spLocks noGrp="1"/>
          </p:cNvSpPr>
          <p:nvPr>
            <p:ph type="dt" sz="half"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endParaRPr lang="en-US" altLang="en-US" sz="1200">
              <a:solidFill>
                <a:srgbClr val="888888"/>
              </a:solidFill>
              <a:latin typeface="Calibri" panose="020F0502020204030204" pitchFamily="34" charset="0"/>
              <a:sym typeface="Calibri" panose="020F0502020204030204" pitchFamily="34" charset="0"/>
            </a:endParaRPr>
          </a:p>
        </p:txBody>
      </p:sp>
      <p:sp>
        <p:nvSpPr>
          <p:cNvPr id="55370" name="Footer Placeholder 13">
            <a:extLst>
              <a:ext uri="{FF2B5EF4-FFF2-40B4-BE49-F238E27FC236}">
                <a16:creationId xmlns:a16="http://schemas.microsoft.com/office/drawing/2014/main" id="{E036CA6C-5FDC-483C-8442-0121141EF882}"/>
              </a:ext>
            </a:extLst>
          </p:cNvPr>
          <p:cNvSpPr>
            <a:spLocks noGrp="1"/>
          </p:cNvSpPr>
          <p:nvPr>
            <p:ph type="ftr" sz="quarter" idx="11"/>
          </p:nvPr>
        </p:nvSpPr>
        <p:spPr>
          <a:xfrm>
            <a:off x="3124200" y="6369050"/>
            <a:ext cx="3829050" cy="3524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Font typeface="Arial" panose="020B0604020202020204" pitchFamily="34" charset="0"/>
              <a:buNone/>
            </a:pPr>
            <a:r>
              <a:rPr lang="it-IT" altLang="en-US" sz="1200">
                <a:solidFill>
                  <a:srgbClr val="888888"/>
                </a:solidFill>
                <a:latin typeface="Calibri" panose="020F0502020204030204" pitchFamily="34" charset="0"/>
                <a:sym typeface="Calibri" panose="020F0502020204030204" pitchFamily="34" charset="0"/>
              </a:rPr>
              <a:t>Dr Preeti Gera            COMPUTER VISION  UNIT- IV</a:t>
            </a:r>
            <a:endParaRPr lang="en-US" altLang="en-US" sz="1200" dirty="0">
              <a:solidFill>
                <a:srgbClr val="888888"/>
              </a:solidFill>
              <a:latin typeface="Calibri" panose="020F0502020204030204" pitchFamily="34" charset="0"/>
              <a:sym typeface="Calibri" panose="020F0502020204030204" pitchFamily="34" charset="0"/>
            </a:endParaRPr>
          </a:p>
        </p:txBody>
      </p:sp>
      <p:sp>
        <p:nvSpPr>
          <p:cNvPr id="55369" name="Slide Number Placeholder 12">
            <a:extLst>
              <a:ext uri="{FF2B5EF4-FFF2-40B4-BE49-F238E27FC236}">
                <a16:creationId xmlns:a16="http://schemas.microsoft.com/office/drawing/2014/main" id="{264DA7A1-76AA-4330-98E5-BFF1B6CC4D6C}"/>
              </a:ext>
            </a:extLst>
          </p:cNvPr>
          <p:cNvSpPr>
            <a:spLocks noGrp="1"/>
          </p:cNvSpPr>
          <p:nvPr>
            <p:ph type="sldNum" sz="quarter" idx="12"/>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fontAlgn="base">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Arial" panose="020B0604020202020204" pitchFamily="34" charset="0"/>
                <a:sym typeface="Calibri" panose="020F0502020204030204" pitchFamily="34" charset="0"/>
              </a:defRPr>
            </a:lvl1pPr>
            <a:lvl2pPr marL="4572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fontAlgn="base">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eaLnBrk="1" hangingPunct="1"/>
            <a:fld id="{E22F518A-4755-4E63-80FF-93C53BC9E5C8}" type="slidenum">
              <a:rPr lang="en-US" altLang="en-US" smtClean="0"/>
              <a:pPr eaLnBrk="1" hangingPunct="1"/>
              <a:t>16</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088450A4-FBEE-4806-BD4D-F699B6D492FF}"/>
              </a:ext>
            </a:extLst>
          </p:cNvPr>
          <p:cNvSpPr txBox="1">
            <a:spLocks/>
          </p:cNvSpPr>
          <p:nvPr/>
        </p:nvSpPr>
        <p:spPr>
          <a:xfrm>
            <a:off x="1371600" y="0"/>
            <a:ext cx="7543800" cy="835025"/>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anchor="ctr"/>
          <a:lstStyle/>
          <a:p>
            <a:pPr algn="ctr" fontAlgn="auto">
              <a:spcAft>
                <a:spcPts val="0"/>
              </a:spcAft>
              <a:defRPr/>
            </a:pPr>
            <a:r>
              <a:rPr lang="en-IN" sz="3200" dirty="0">
                <a:latin typeface="Times New Roman" pitchFamily="18" charset="0"/>
                <a:cs typeface="Times New Roman" pitchFamily="18" charset="0"/>
                <a:sym typeface="Arial" charset="0"/>
              </a:rPr>
              <a:t>End Semester Question Paper Templates </a:t>
            </a:r>
            <a:endParaRPr lang="en-US" sz="3200" dirty="0">
              <a:latin typeface="Times New Roman" pitchFamily="18" charset="0"/>
              <a:cs typeface="Times New Roman" pitchFamily="18" charset="0"/>
              <a:sym typeface="Arial" charset="0"/>
            </a:endParaRPr>
          </a:p>
        </p:txBody>
      </p:sp>
      <p:sp>
        <p:nvSpPr>
          <p:cNvPr id="55301" name="Rectangle 2">
            <a:extLst>
              <a:ext uri="{FF2B5EF4-FFF2-40B4-BE49-F238E27FC236}">
                <a16:creationId xmlns:a16="http://schemas.microsoft.com/office/drawing/2014/main" id="{A612872F-F8D3-45AF-BE40-48AB30776AA4}"/>
              </a:ext>
            </a:extLst>
          </p:cNvPr>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eaLnBrk="0" hangingPunc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r>
              <a:rPr lang="en-US" altLang="en-US"/>
            </a:br>
            <a:endParaRPr lang="en-US" altLang="en-US"/>
          </a:p>
          <a:p>
            <a:pPr eaLnBrk="1" hangingPunct="1"/>
            <a:endParaRPr lang="en-US" altLang="en-US"/>
          </a:p>
        </p:txBody>
      </p:sp>
      <p:graphicFrame>
        <p:nvGraphicFramePr>
          <p:cNvPr id="10" name="Table 9">
            <a:extLst>
              <a:ext uri="{FF2B5EF4-FFF2-40B4-BE49-F238E27FC236}">
                <a16:creationId xmlns:a16="http://schemas.microsoft.com/office/drawing/2014/main" id="{4DA1E7C7-2C1F-4962-9713-F429CA005D47}"/>
              </a:ext>
            </a:extLst>
          </p:cNvPr>
          <p:cNvGraphicFramePr>
            <a:graphicFrameLocks noGrp="1"/>
          </p:cNvGraphicFramePr>
          <p:nvPr/>
        </p:nvGraphicFramePr>
        <p:xfrm>
          <a:off x="755650" y="1466850"/>
          <a:ext cx="8042275" cy="1209674"/>
        </p:xfrm>
        <a:graphic>
          <a:graphicData uri="http://schemas.openxmlformats.org/drawingml/2006/table">
            <a:tbl>
              <a:tblPr firstRow="1" bandRow="1">
                <a:tableStyleId>{5C22544A-7EE6-4342-B048-85BDC9FD1C3A}</a:tableStyleId>
              </a:tblPr>
              <a:tblGrid>
                <a:gridCol w="927954">
                  <a:extLst>
                    <a:ext uri="{9D8B030D-6E8A-4147-A177-3AD203B41FA5}">
                      <a16:colId xmlns:a16="http://schemas.microsoft.com/office/drawing/2014/main" val="20000"/>
                    </a:ext>
                  </a:extLst>
                </a:gridCol>
                <a:gridCol w="5413071">
                  <a:extLst>
                    <a:ext uri="{9D8B030D-6E8A-4147-A177-3AD203B41FA5}">
                      <a16:colId xmlns:a16="http://schemas.microsoft.com/office/drawing/2014/main" val="20001"/>
                    </a:ext>
                  </a:extLst>
                </a:gridCol>
                <a:gridCol w="850625">
                  <a:extLst>
                    <a:ext uri="{9D8B030D-6E8A-4147-A177-3AD203B41FA5}">
                      <a16:colId xmlns:a16="http://schemas.microsoft.com/office/drawing/2014/main" val="20002"/>
                    </a:ext>
                  </a:extLst>
                </a:gridCol>
                <a:gridCol w="850625">
                  <a:extLst>
                    <a:ext uri="{9D8B030D-6E8A-4147-A177-3AD203B41FA5}">
                      <a16:colId xmlns:a16="http://schemas.microsoft.com/office/drawing/2014/main" val="20003"/>
                    </a:ext>
                  </a:extLst>
                </a:gridCol>
              </a:tblGrid>
              <a:tr h="478272">
                <a:tc>
                  <a:txBody>
                    <a:bodyPr/>
                    <a:lstStyle/>
                    <a:p>
                      <a:r>
                        <a:rPr lang="en-IN" sz="1800" dirty="0" err="1">
                          <a:solidFill>
                            <a:schemeClr val="tx1"/>
                          </a:solidFill>
                        </a:rPr>
                        <a:t>Q.No</a:t>
                      </a:r>
                      <a:r>
                        <a:rPr lang="en-IN" sz="1800" dirty="0">
                          <a:solidFill>
                            <a:schemeClr val="tx1"/>
                          </a:solidFill>
                        </a:rPr>
                        <a:t>.</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701">
                <a:tc>
                  <a:txBody>
                    <a:bodyPr/>
                    <a:lstStyle/>
                    <a:p>
                      <a:r>
                        <a:rPr lang="en-IN" sz="1800" dirty="0"/>
                        <a:t>1</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01">
                <a:tc>
                  <a:txBody>
                    <a:bodyPr/>
                    <a:lstStyle/>
                    <a:p>
                      <a:r>
                        <a:rPr lang="en-IN" sz="1800" dirty="0"/>
                        <a:t>2</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2CF2D1EB-4D07-4C49-A9CB-87B0C4FF9707}"/>
              </a:ext>
            </a:extLst>
          </p:cNvPr>
          <p:cNvGraphicFramePr>
            <a:graphicFrameLocks noGrp="1"/>
          </p:cNvGraphicFramePr>
          <p:nvPr/>
        </p:nvGraphicFramePr>
        <p:xfrm>
          <a:off x="773113" y="3059113"/>
          <a:ext cx="7977188" cy="1097022"/>
        </p:xfrm>
        <a:graphic>
          <a:graphicData uri="http://schemas.openxmlformats.org/drawingml/2006/table">
            <a:tbl>
              <a:tblPr firstRow="1" bandRow="1">
                <a:tableStyleId>{5C22544A-7EE6-4342-B048-85BDC9FD1C3A}</a:tableStyleId>
              </a:tblPr>
              <a:tblGrid>
                <a:gridCol w="920444">
                  <a:extLst>
                    <a:ext uri="{9D8B030D-6E8A-4147-A177-3AD203B41FA5}">
                      <a16:colId xmlns:a16="http://schemas.microsoft.com/office/drawing/2014/main" val="20000"/>
                    </a:ext>
                  </a:extLst>
                </a:gridCol>
                <a:gridCol w="5369262">
                  <a:extLst>
                    <a:ext uri="{9D8B030D-6E8A-4147-A177-3AD203B41FA5}">
                      <a16:colId xmlns:a16="http://schemas.microsoft.com/office/drawing/2014/main" val="20001"/>
                    </a:ext>
                  </a:extLst>
                </a:gridCol>
                <a:gridCol w="843741">
                  <a:extLst>
                    <a:ext uri="{9D8B030D-6E8A-4147-A177-3AD203B41FA5}">
                      <a16:colId xmlns:a16="http://schemas.microsoft.com/office/drawing/2014/main" val="20002"/>
                    </a:ext>
                  </a:extLst>
                </a:gridCol>
                <a:gridCol w="843741">
                  <a:extLst>
                    <a:ext uri="{9D8B030D-6E8A-4147-A177-3AD203B41FA5}">
                      <a16:colId xmlns:a16="http://schemas.microsoft.com/office/drawing/2014/main" val="20003"/>
                    </a:ext>
                  </a:extLst>
                </a:gridCol>
              </a:tblGrid>
              <a:tr h="365654">
                <a:tc>
                  <a:txBody>
                    <a:bodyPr/>
                    <a:lstStyle/>
                    <a:p>
                      <a:r>
                        <a:rPr lang="en-IN" sz="1800" dirty="0" err="1">
                          <a:solidFill>
                            <a:schemeClr val="tx1"/>
                          </a:solidFill>
                        </a:rPr>
                        <a:t>Q.No</a:t>
                      </a:r>
                      <a:r>
                        <a:rPr lang="en-IN" sz="1800" dirty="0">
                          <a:solidFill>
                            <a:schemeClr val="tx1"/>
                          </a:solidFill>
                        </a:rPr>
                        <a:t>.</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654">
                <a:tc>
                  <a:txBody>
                    <a:bodyPr/>
                    <a:lstStyle/>
                    <a:p>
                      <a:r>
                        <a:rPr lang="en-IN" sz="1800" dirty="0"/>
                        <a:t>1</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654">
                <a:tc>
                  <a:txBody>
                    <a:bodyPr/>
                    <a:lstStyle/>
                    <a:p>
                      <a:r>
                        <a:rPr lang="en-IN" sz="1800" dirty="0"/>
                        <a:t>2</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7" marB="45677">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2" name="Table 11">
            <a:extLst>
              <a:ext uri="{FF2B5EF4-FFF2-40B4-BE49-F238E27FC236}">
                <a16:creationId xmlns:a16="http://schemas.microsoft.com/office/drawing/2014/main" id="{5F1EC372-AAF8-429E-B03B-B778AFB8E3E2}"/>
              </a:ext>
            </a:extLst>
          </p:cNvPr>
          <p:cNvGraphicFramePr>
            <a:graphicFrameLocks noGrp="1"/>
          </p:cNvGraphicFramePr>
          <p:nvPr/>
        </p:nvGraphicFramePr>
        <p:xfrm>
          <a:off x="803275" y="4603750"/>
          <a:ext cx="7740650" cy="1560514"/>
        </p:xfrm>
        <a:graphic>
          <a:graphicData uri="http://schemas.openxmlformats.org/drawingml/2006/table">
            <a:tbl>
              <a:tblPr firstRow="1" bandRow="1">
                <a:tableStyleId>{5C22544A-7EE6-4342-B048-85BDC9FD1C3A}</a:tableStyleId>
              </a:tblPr>
              <a:tblGrid>
                <a:gridCol w="893152">
                  <a:extLst>
                    <a:ext uri="{9D8B030D-6E8A-4147-A177-3AD203B41FA5}">
                      <a16:colId xmlns:a16="http://schemas.microsoft.com/office/drawing/2014/main" val="20000"/>
                    </a:ext>
                  </a:extLst>
                </a:gridCol>
                <a:gridCol w="5210054">
                  <a:extLst>
                    <a:ext uri="{9D8B030D-6E8A-4147-A177-3AD203B41FA5}">
                      <a16:colId xmlns:a16="http://schemas.microsoft.com/office/drawing/2014/main" val="20001"/>
                    </a:ext>
                  </a:extLst>
                </a:gridCol>
                <a:gridCol w="818722">
                  <a:extLst>
                    <a:ext uri="{9D8B030D-6E8A-4147-A177-3AD203B41FA5}">
                      <a16:colId xmlns:a16="http://schemas.microsoft.com/office/drawing/2014/main" val="20002"/>
                    </a:ext>
                  </a:extLst>
                </a:gridCol>
                <a:gridCol w="818722">
                  <a:extLst>
                    <a:ext uri="{9D8B030D-6E8A-4147-A177-3AD203B41FA5}">
                      <a16:colId xmlns:a16="http://schemas.microsoft.com/office/drawing/2014/main" val="20003"/>
                    </a:ext>
                  </a:extLst>
                </a:gridCol>
              </a:tblGrid>
              <a:tr h="728276">
                <a:tc>
                  <a:txBody>
                    <a:bodyPr/>
                    <a:lstStyle/>
                    <a:p>
                      <a:r>
                        <a:rPr lang="en-IN" sz="1800" dirty="0" err="1">
                          <a:solidFill>
                            <a:schemeClr val="tx1"/>
                          </a:solidFill>
                        </a:rPr>
                        <a:t>Q.No</a:t>
                      </a:r>
                      <a:r>
                        <a:rPr lang="en-IN" sz="1800" dirty="0">
                          <a:solidFill>
                            <a:schemeClr val="tx1"/>
                          </a:solidFill>
                        </a:rPr>
                        <a:t>.</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416119">
                <a:tc>
                  <a:txBody>
                    <a:bodyPr/>
                    <a:lstStyle/>
                    <a:p>
                      <a:r>
                        <a:rPr lang="en-IN" sz="1800" dirty="0"/>
                        <a:t>1</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416119">
                <a:tc>
                  <a:txBody>
                    <a:bodyPr/>
                    <a:lstStyle/>
                    <a:p>
                      <a:r>
                        <a:rPr lang="en-IN" sz="1800" dirty="0"/>
                        <a:t>2</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pic>
        <p:nvPicPr>
          <p:cNvPr id="13" name="Picture 12">
            <a:extLst>
              <a:ext uri="{FF2B5EF4-FFF2-40B4-BE49-F238E27FC236}">
                <a16:creationId xmlns:a16="http://schemas.microsoft.com/office/drawing/2014/main" id="{30B45E5D-48C8-4BE4-825C-8F7BB0BAF6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435" y="104043"/>
            <a:ext cx="1122430" cy="618270"/>
          </a:xfrm>
          <a:prstGeom prst="rect">
            <a:avLst/>
          </a:prstGeom>
        </p:spPr>
      </p:pic>
    </p:spTree>
    <p:extLst>
      <p:ext uri="{BB962C8B-B14F-4D97-AF65-F5344CB8AC3E}">
        <p14:creationId xmlns:p14="http://schemas.microsoft.com/office/powerpoint/2010/main" val="3838934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10"/>
          <p:cNvGraphicFramePr>
            <a:graphicFrameLocks noGrp="1"/>
          </p:cNvGraphicFramePr>
          <p:nvPr>
            <p:ph idx="1"/>
            <p:extLst>
              <p:ext uri="{D42A27DB-BD31-4B8C-83A1-F6EECF244321}">
                <p14:modId xmlns:p14="http://schemas.microsoft.com/office/powerpoint/2010/main" val="3621799115"/>
              </p:ext>
            </p:extLst>
          </p:nvPr>
        </p:nvGraphicFramePr>
        <p:xfrm>
          <a:off x="381000" y="817163"/>
          <a:ext cx="8458200" cy="54078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Date Placeholder 5">
            <a:extLst>
              <a:ext uri="{FF2B5EF4-FFF2-40B4-BE49-F238E27FC236}">
                <a16:creationId xmlns:a16="http://schemas.microsoft.com/office/drawing/2014/main" id="{B1757793-90FB-4088-839F-34D4A8F96F57}"/>
              </a:ext>
            </a:extLst>
          </p:cNvPr>
          <p:cNvSpPr>
            <a:spLocks noGrp="1"/>
          </p:cNvSpPr>
          <p:nvPr>
            <p:ph type="dt" sz="half" idx="10"/>
          </p:nvPr>
        </p:nvSpPr>
        <p:spPr/>
        <p:txBody>
          <a:bodyPr/>
          <a:lstStyle/>
          <a:p>
            <a:endParaRPr lang="en-US" dirty="0"/>
          </a:p>
        </p:txBody>
      </p:sp>
      <p:sp>
        <p:nvSpPr>
          <p:cNvPr id="10" name="Footer Placeholder 9"/>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17</a:t>
            </a:fld>
            <a:endParaRPr lang="en-US"/>
          </a:p>
        </p:txBody>
      </p:sp>
      <p:sp>
        <p:nvSpPr>
          <p:cNvPr id="8"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3200" b="1" i="0" u="none" strike="noStrike" kern="1200" cap="none" spc="0" normalizeH="0" baseline="0" noProof="0" dirty="0">
                <a:ln>
                  <a:noFill/>
                </a:ln>
                <a:solidFill>
                  <a:schemeClr val="dk1"/>
                </a:solidFill>
                <a:effectLst/>
                <a:uLnTx/>
                <a:uFillTx/>
                <a:latin typeface="+mn-lt"/>
                <a:ea typeface="+mn-ea"/>
                <a:cs typeface="+mn-cs"/>
              </a:rPr>
              <a:t>CONTENT</a:t>
            </a:r>
          </a:p>
        </p:txBody>
      </p:sp>
      <p:pic>
        <p:nvPicPr>
          <p:cNvPr id="9" name="Picture 2" descr="E:\NIET\Project\xLogo11.png.pagespeed.ic.pydHLuCQEZ.png"/>
          <p:cNvPicPr>
            <a:picLocks noChangeAspect="1" noChangeArrowheads="1"/>
          </p:cNvPicPr>
          <p:nvPr/>
        </p:nvPicPr>
        <p:blipFill>
          <a:blip r:embed="rId8"/>
          <a:srcRect/>
          <a:stretch>
            <a:fillRect/>
          </a:stretch>
        </p:blipFill>
        <p:spPr bwMode="auto">
          <a:xfrm>
            <a:off x="0" y="0"/>
            <a:ext cx="1447800" cy="817163"/>
          </a:xfrm>
          <a:prstGeom prst="rect">
            <a:avLst/>
          </a:prstGeom>
          <a:noFill/>
        </p:spPr>
      </p:pic>
      <p:sp>
        <p:nvSpPr>
          <p:cNvPr id="13"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3200" dirty="0">
                <a:latin typeface="Times New Roman" panose="02020603050405020304" pitchFamily="18" charset="0"/>
                <a:cs typeface="Times New Roman" panose="02020603050405020304" pitchFamily="18" charset="0"/>
              </a:rPr>
              <a:t>Unit Content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amond(in)">
                                      <p:cBhvr>
                                        <p:cTn id="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1" grpId="0">
        <p:bldAsOne/>
      </p:bldGraphic>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Content Placeholder 9">
            <a:extLst>
              <a:ext uri="{FF2B5EF4-FFF2-40B4-BE49-F238E27FC236}">
                <a16:creationId xmlns:a16="http://schemas.microsoft.com/office/drawing/2014/main" id="{93D3CB1A-9670-4977-8041-56311EB97A78}"/>
              </a:ext>
            </a:extLst>
          </p:cNvPr>
          <p:cNvGraphicFramePr>
            <a:graphicFrameLocks noGrp="1"/>
          </p:cNvGraphicFramePr>
          <p:nvPr>
            <p:ph idx="1"/>
            <p:extLst>
              <p:ext uri="{D42A27DB-BD31-4B8C-83A1-F6EECF244321}">
                <p14:modId xmlns:p14="http://schemas.microsoft.com/office/powerpoint/2010/main" val="2406554826"/>
              </p:ext>
            </p:extLst>
          </p:nvPr>
        </p:nvGraphicFramePr>
        <p:xfrm>
          <a:off x="1676400" y="1524000"/>
          <a:ext cx="4675824" cy="2971799"/>
        </p:xfrm>
        <a:graphic>
          <a:graphicData uri="http://schemas.openxmlformats.org/drawingml/2006/table">
            <a:tbl>
              <a:tblPr firstRow="1" firstCol="1" bandRow="1">
                <a:tableStyleId>{22838BEF-8BB2-4498-84A7-C5851F593DF1}</a:tableStyleId>
              </a:tblPr>
              <a:tblGrid>
                <a:gridCol w="1671723">
                  <a:extLst>
                    <a:ext uri="{9D8B030D-6E8A-4147-A177-3AD203B41FA5}">
                      <a16:colId xmlns:a16="http://schemas.microsoft.com/office/drawing/2014/main" val="1556318809"/>
                    </a:ext>
                  </a:extLst>
                </a:gridCol>
                <a:gridCol w="1001367">
                  <a:extLst>
                    <a:ext uri="{9D8B030D-6E8A-4147-A177-3AD203B41FA5}">
                      <a16:colId xmlns:a16="http://schemas.microsoft.com/office/drawing/2014/main" val="295577440"/>
                    </a:ext>
                  </a:extLst>
                </a:gridCol>
                <a:gridCol w="1001367">
                  <a:extLst>
                    <a:ext uri="{9D8B030D-6E8A-4147-A177-3AD203B41FA5}">
                      <a16:colId xmlns:a16="http://schemas.microsoft.com/office/drawing/2014/main" val="4077231196"/>
                    </a:ext>
                  </a:extLst>
                </a:gridCol>
                <a:gridCol w="1001367">
                  <a:extLst>
                    <a:ext uri="{9D8B030D-6E8A-4147-A177-3AD203B41FA5}">
                      <a16:colId xmlns:a16="http://schemas.microsoft.com/office/drawing/2014/main" val="604849472"/>
                    </a:ext>
                  </a:extLst>
                </a:gridCol>
              </a:tblGrid>
              <a:tr h="429661">
                <a:tc>
                  <a:txBody>
                    <a:bodyPr/>
                    <a:lstStyle/>
                    <a:p>
                      <a:pPr algn="just">
                        <a:lnSpc>
                          <a:spcPct val="115000"/>
                        </a:lnSpc>
                        <a:spcAft>
                          <a:spcPts val="0"/>
                        </a:spcAft>
                      </a:pPr>
                      <a:r>
                        <a:rPr lang="en-US" sz="2200" dirty="0">
                          <a:solidFill>
                            <a:srgbClr val="FF0000"/>
                          </a:solidFill>
                          <a:effectLst/>
                        </a:rPr>
                        <a:t> </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US" sz="2200" dirty="0">
                          <a:solidFill>
                            <a:srgbClr val="FF0000"/>
                          </a:solidFill>
                          <a:effectLst/>
                        </a:rPr>
                        <a:t>PSO1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US" sz="2200">
                          <a:solidFill>
                            <a:srgbClr val="FF0000"/>
                          </a:solidFill>
                          <a:effectLst/>
                        </a:rPr>
                        <a:t>PSO2</a:t>
                      </a: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15000"/>
                        </a:lnSpc>
                        <a:spcAft>
                          <a:spcPts val="0"/>
                        </a:spcAft>
                      </a:pPr>
                      <a:r>
                        <a:rPr lang="en-US" sz="2200">
                          <a:solidFill>
                            <a:srgbClr val="FF0000"/>
                          </a:solidFill>
                          <a:effectLst/>
                        </a:rPr>
                        <a:t>PSO3</a:t>
                      </a: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27867174"/>
                  </a:ext>
                </a:extLst>
              </a:tr>
              <a:tr h="429661">
                <a:tc>
                  <a:txBody>
                    <a:bodyPr/>
                    <a:lstStyle/>
                    <a:p>
                      <a:pPr>
                        <a:lnSpc>
                          <a:spcPct val="115000"/>
                        </a:lnSpc>
                        <a:spcAft>
                          <a:spcPts val="0"/>
                        </a:spcAft>
                      </a:pPr>
                      <a:r>
                        <a:rPr lang="en-US"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Subject</a:t>
                      </a:r>
                      <a:r>
                        <a:rPr lang="en-US" sz="2200" baseline="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 code</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333499"/>
                  </a:ext>
                </a:extLst>
              </a:tr>
              <a:tr h="429661">
                <a:tc>
                  <a:txBody>
                    <a:bodyPr/>
                    <a:lstStyle/>
                    <a:p>
                      <a:pPr marL="0" marR="0" lvl="0" indent="0" algn="l" defTabSz="685800" rtl="0" eaLnBrk="1" fontAlgn="auto" latinLnBrk="0" hangingPunct="1">
                        <a:lnSpc>
                          <a:spcPct val="115000"/>
                        </a:lnSpc>
                        <a:spcBef>
                          <a:spcPts val="0"/>
                        </a:spcBef>
                        <a:spcAft>
                          <a:spcPts val="0"/>
                        </a:spcAft>
                        <a:buClrTx/>
                        <a:buSzTx/>
                        <a:buFontTx/>
                        <a:buNone/>
                        <a:tabLst/>
                        <a:defRPr/>
                      </a:pPr>
                      <a:r>
                        <a:rPr kumimoji="0" lang="en-US" sz="2200" b="1" i="0" u="none" strike="noStrike" kern="1200" cap="none" spc="0" normalizeH="0" baseline="0" noProof="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2200" b="1"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46448684"/>
                  </a:ext>
                </a:extLst>
              </a:tr>
              <a:tr h="429661">
                <a:tc>
                  <a:txBody>
                    <a:bodyPr/>
                    <a:lstStyle/>
                    <a:p>
                      <a:pPr marL="0" marR="0" lvl="0" indent="0" algn="l" defTabSz="685800" rtl="0" eaLnBrk="1" fontAlgn="auto" latinLnBrk="0" hangingPunct="1">
                        <a:lnSpc>
                          <a:spcPct val="115000"/>
                        </a:lnSpc>
                        <a:spcBef>
                          <a:spcPts val="0"/>
                        </a:spcBef>
                        <a:spcAft>
                          <a:spcPts val="0"/>
                        </a:spcAft>
                        <a:buClrTx/>
                        <a:buSzTx/>
                        <a:buFontTx/>
                        <a:buNone/>
                        <a:tabLst/>
                        <a:defRPr/>
                      </a:pPr>
                      <a:r>
                        <a:rPr kumimoji="0" lang="en-US" sz="2200" b="1" i="0" u="none" strike="noStrike" kern="1200" cap="none" spc="0" normalizeH="0" baseline="0" noProof="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2200" b="1"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42054971"/>
                  </a:ext>
                </a:extLst>
              </a:tr>
              <a:tr h="429661">
                <a:tc>
                  <a:txBody>
                    <a:bodyPr/>
                    <a:lstStyle/>
                    <a:p>
                      <a:pPr marL="0" marR="0" lvl="0" indent="0" algn="l" defTabSz="685800" rtl="0" eaLnBrk="1" fontAlgn="auto" latinLnBrk="0" hangingPunct="1">
                        <a:lnSpc>
                          <a:spcPct val="115000"/>
                        </a:lnSpc>
                        <a:spcBef>
                          <a:spcPts val="0"/>
                        </a:spcBef>
                        <a:spcAft>
                          <a:spcPts val="0"/>
                        </a:spcAft>
                        <a:buClrTx/>
                        <a:buSzTx/>
                        <a:buFontTx/>
                        <a:buNone/>
                        <a:tabLst/>
                        <a:defRPr/>
                      </a:pPr>
                      <a:r>
                        <a:rPr kumimoji="0" lang="en-US" sz="2200" b="1" i="0" u="none" strike="noStrike" kern="1200" cap="none" spc="0" normalizeH="0" baseline="0" noProof="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2200" b="1"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3</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21140698"/>
                  </a:ext>
                </a:extLst>
              </a:tr>
              <a:tr h="429661">
                <a:tc>
                  <a:txBody>
                    <a:bodyPr/>
                    <a:lstStyle/>
                    <a:p>
                      <a:pPr marL="0" marR="0" lvl="0" indent="0" algn="l" defTabSz="685800" rtl="0" eaLnBrk="1" fontAlgn="auto" latinLnBrk="0" hangingPunct="1">
                        <a:lnSpc>
                          <a:spcPct val="115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rPr>
                        <a:t>Subject code</a:t>
                      </a:r>
                      <a:endParaRPr kumimoji="0" lang="en-IN" sz="2200" b="1" i="0" u="none" strike="noStrike" kern="1200" cap="none" spc="0" normalizeH="0" baseline="0" noProof="0" dirty="0">
                        <a:ln>
                          <a:noFill/>
                        </a:ln>
                        <a:solidFill>
                          <a:srgbClr val="FF0000"/>
                        </a:solidFill>
                        <a:effectLst/>
                        <a:uLnTx/>
                        <a:uFillTx/>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1</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2</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5326070"/>
                  </a:ext>
                </a:extLst>
              </a:tr>
              <a:tr h="393833">
                <a:tc>
                  <a:txBody>
                    <a:bodyPr/>
                    <a:lstStyle/>
                    <a:p>
                      <a:pPr>
                        <a:lnSpc>
                          <a:spcPct val="115000"/>
                        </a:lnSpc>
                        <a:spcAft>
                          <a:spcPts val="0"/>
                        </a:spcAft>
                      </a:pPr>
                      <a:r>
                        <a:rPr lang="en-US" sz="2200" dirty="0" err="1">
                          <a:solidFill>
                            <a:srgbClr val="FF0000"/>
                          </a:solidFill>
                          <a:effectLst/>
                          <a:latin typeface="Calibri" panose="020F0502020204030204" pitchFamily="34" charset="0"/>
                          <a:ea typeface="Calibri" panose="020F0502020204030204" pitchFamily="34" charset="0"/>
                          <a:cs typeface="Times New Roman" panose="02020603050405020304" pitchFamily="18" charset="0"/>
                        </a:rPr>
                        <a:t>avg</a:t>
                      </a: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15000"/>
                        </a:lnSpc>
                        <a:spcAft>
                          <a:spcPts val="0"/>
                        </a:spcAft>
                      </a:pPr>
                      <a:endParaRPr lang="en-IN" sz="220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15000"/>
                        </a:lnSpc>
                        <a:spcAft>
                          <a:spcPts val="0"/>
                        </a:spcAft>
                      </a:pPr>
                      <a:endParaRPr lang="en-IN" sz="2200" dirty="0">
                        <a:solidFill>
                          <a:srgbClr val="FF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extLst>
                  <a:ext uri="{0D108BD9-81ED-4DB2-BD59-A6C34878D82A}">
                    <a16:rowId xmlns:a16="http://schemas.microsoft.com/office/drawing/2014/main" val="1206027915"/>
                  </a:ext>
                </a:extLst>
              </a:tr>
            </a:tbl>
          </a:graphicData>
        </a:graphic>
      </p:graphicFrame>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18</a:t>
            </a:fld>
            <a:endParaRPr lang="en-US"/>
          </a:p>
        </p:txBody>
      </p:sp>
      <p:sp>
        <p:nvSpPr>
          <p:cNvPr id="7"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none" strike="noStrike" kern="1200" cap="none" spc="0" normalizeH="0" baseline="0" noProof="0" dirty="0">
                <a:ln>
                  <a:noFill/>
                </a:ln>
                <a:solidFill>
                  <a:schemeClr val="dk1"/>
                </a:solidFill>
                <a:effectLst/>
                <a:uLnTx/>
                <a:uFillTx/>
                <a:latin typeface="+mn-lt"/>
                <a:ea typeface="+mn-ea"/>
                <a:cs typeface="+mn-cs"/>
              </a:rPr>
              <a:t>CO-PO and PSO Mapping</a:t>
            </a: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11" name="Rectangle 10">
            <a:extLst>
              <a:ext uri="{FF2B5EF4-FFF2-40B4-BE49-F238E27FC236}">
                <a16:creationId xmlns:a16="http://schemas.microsoft.com/office/drawing/2014/main" id="{4A858EEA-5BBF-4E33-BDF3-5A79CA92D58F}"/>
              </a:ext>
            </a:extLst>
          </p:cNvPr>
          <p:cNvSpPr/>
          <p:nvPr/>
        </p:nvSpPr>
        <p:spPr>
          <a:xfrm>
            <a:off x="1752600" y="4800600"/>
            <a:ext cx="4362092" cy="369332"/>
          </a:xfrm>
          <a:prstGeom prst="rect">
            <a:avLst/>
          </a:prstGeom>
        </p:spPr>
        <p:txBody>
          <a:bodyPr wrap="none">
            <a:spAutoFit/>
          </a:bodyPr>
          <a:lstStyle/>
          <a:p>
            <a:r>
              <a:rPr lang="en-US" dirty="0">
                <a:latin typeface="Times New Roman" panose="02020603050405020304" pitchFamily="18" charset="0"/>
                <a:ea typeface="Calibri" panose="020F0502020204030204" pitchFamily="34" charset="0"/>
                <a:cs typeface="Times New Roman" panose="02020603050405020304" pitchFamily="18" charset="0"/>
              </a:rPr>
              <a:t> *3= High	*2= Medium      *1=Low</a:t>
            </a:r>
            <a:endParaRPr lang="en-IN" dirty="0"/>
          </a:p>
        </p:txBody>
      </p:sp>
    </p:spTree>
    <p:extLst>
      <p:ext uri="{BB962C8B-B14F-4D97-AF65-F5344CB8AC3E}">
        <p14:creationId xmlns:p14="http://schemas.microsoft.com/office/powerpoint/2010/main" val="1668120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circle(in)">
                                      <p:cBhvr>
                                        <p:cTn id="7"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ontent Placeholder 8"/>
          <p:cNvGraphicFramePr>
            <a:graphicFrameLocks noGrp="1"/>
          </p:cNvGraphicFramePr>
          <p:nvPr>
            <p:ph idx="1"/>
            <p:extLst>
              <p:ext uri="{D42A27DB-BD31-4B8C-83A1-F6EECF244321}">
                <p14:modId xmlns:p14="http://schemas.microsoft.com/office/powerpoint/2010/main" val="3497360693"/>
              </p:ext>
            </p:extLst>
          </p:nvPr>
        </p:nvGraphicFramePr>
        <p:xfrm>
          <a:off x="533400" y="1143000"/>
          <a:ext cx="8229600" cy="45259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19</a:t>
            </a:fld>
            <a:endParaRPr lang="en-US"/>
          </a:p>
        </p:txBody>
      </p:sp>
      <p:sp>
        <p:nvSpPr>
          <p:cNvPr id="7"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none" strike="noStrike" kern="1200" cap="none" spc="0" normalizeH="0" baseline="0" noProof="0" dirty="0">
                <a:ln>
                  <a:noFill/>
                </a:ln>
                <a:solidFill>
                  <a:schemeClr val="dk1"/>
                </a:solidFill>
                <a:effectLst/>
                <a:uLnTx/>
                <a:uFillTx/>
                <a:latin typeface="+mn-lt"/>
                <a:ea typeface="+mn-ea"/>
                <a:cs typeface="+mn-cs"/>
              </a:rPr>
              <a:t>PREREQUISITE</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8" name="Picture 2" descr="E:\NIET\Project\xLogo11.png.pagespeed.ic.pydHLuCQEZ.png"/>
          <p:cNvPicPr>
            <a:picLocks noChangeAspect="1" noChangeArrowheads="1"/>
          </p:cNvPicPr>
          <p:nvPr/>
        </p:nvPicPr>
        <p:blipFill>
          <a:blip r:embed="rId7"/>
          <a:srcRect/>
          <a:stretch>
            <a:fillRect/>
          </a:stretch>
        </p:blipFill>
        <p:spPr bwMode="auto">
          <a:xfrm>
            <a:off x="0" y="0"/>
            <a:ext cx="1447800" cy="817163"/>
          </a:xfrm>
          <a:prstGeom prst="rect">
            <a:avLst/>
          </a:prstGeom>
          <a:noFill/>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amond(in)">
                                      <p:cBhvr>
                                        <p:cTn id="7"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it-IT"/>
              <a:t>Dr Preeti Gera            COMPUTER VISION  UNIT- IV</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20</a:t>
            </a:fld>
            <a:endParaRPr lang="en-US"/>
          </a:p>
        </p:txBody>
      </p:sp>
      <p:sp>
        <p:nvSpPr>
          <p:cNvPr id="6"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none" strike="noStrike" kern="1200" cap="none" spc="0" normalizeH="0" baseline="0" noProof="0" dirty="0">
                <a:ln>
                  <a:noFill/>
                </a:ln>
                <a:solidFill>
                  <a:schemeClr val="dk1"/>
                </a:solidFill>
                <a:effectLst/>
                <a:uLnTx/>
                <a:uFillTx/>
                <a:latin typeface="+mn-lt"/>
                <a:ea typeface="+mn-ea"/>
                <a:cs typeface="+mn-cs"/>
              </a:rPr>
              <a:t>PREREQUISITE</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5" name="Rectangle 4"/>
          <p:cNvSpPr/>
          <p:nvPr/>
        </p:nvSpPr>
        <p:spPr>
          <a:xfrm>
            <a:off x="304800" y="1028343"/>
            <a:ext cx="8458200" cy="5093702"/>
          </a:xfrm>
          <a:prstGeom prst="rect">
            <a:avLst/>
          </a:prstGeom>
        </p:spPr>
        <p:txBody>
          <a:bodyPr wrap="square">
            <a:spAutoFit/>
          </a:bodyPr>
          <a:lstStyle/>
          <a:p>
            <a:pPr algn="just"/>
            <a:r>
              <a:rPr lang="en-US" sz="2500" dirty="0">
                <a:solidFill>
                  <a:srgbClr val="003300"/>
                </a:solidFill>
                <a:latin typeface="Times New Roman" panose="02020603050405020304" pitchFamily="18" charset="0"/>
                <a:cs typeface="Times New Roman" panose="02020603050405020304" pitchFamily="18" charset="0"/>
              </a:rPr>
              <a:t>Prerequisites</a:t>
            </a:r>
          </a:p>
          <a:p>
            <a:pPr algn="just"/>
            <a:r>
              <a:rPr lang="en-US" sz="2500" dirty="0">
                <a:solidFill>
                  <a:srgbClr val="003300"/>
                </a:solidFill>
                <a:latin typeface="Times New Roman" panose="02020603050405020304" pitchFamily="18" charset="0"/>
                <a:cs typeface="Times New Roman" panose="02020603050405020304" pitchFamily="18" charset="0"/>
              </a:rPr>
              <a:t>No prior experience with computer vision is assumed, although previous knowledge of visual computing or signal processing will be helpful (e.g., CSCI 1230). The following skills are necessary for this class:</a:t>
            </a:r>
          </a:p>
          <a:p>
            <a:pPr algn="just">
              <a:buFont typeface="Arial" panose="020B0604020202020204" pitchFamily="34" charset="0"/>
              <a:buChar char="•"/>
            </a:pPr>
            <a:r>
              <a:rPr lang="en-US" sz="2500" b="1" dirty="0">
                <a:solidFill>
                  <a:srgbClr val="003300"/>
                </a:solidFill>
                <a:latin typeface="Times New Roman" panose="02020603050405020304" pitchFamily="18" charset="0"/>
                <a:cs typeface="Times New Roman" panose="02020603050405020304" pitchFamily="18" charset="0"/>
              </a:rPr>
              <a:t>Math:</a:t>
            </a:r>
            <a:r>
              <a:rPr lang="en-US" sz="2500" dirty="0">
                <a:solidFill>
                  <a:srgbClr val="003300"/>
                </a:solidFill>
                <a:latin typeface="Times New Roman" panose="02020603050405020304" pitchFamily="18" charset="0"/>
                <a:cs typeface="Times New Roman" panose="02020603050405020304" pitchFamily="18" charset="0"/>
              </a:rPr>
              <a:t> Linear algebra, vector calculus, and probability. Linear algebra is the most important and is required.</a:t>
            </a:r>
          </a:p>
          <a:p>
            <a:pPr algn="just">
              <a:buFont typeface="Arial" panose="020B0604020202020204" pitchFamily="34" charset="0"/>
              <a:buChar char="•"/>
            </a:pPr>
            <a:r>
              <a:rPr lang="en-US" sz="2500" b="1" dirty="0">
                <a:solidFill>
                  <a:srgbClr val="003300"/>
                </a:solidFill>
                <a:latin typeface="Times New Roman" panose="02020603050405020304" pitchFamily="18" charset="0"/>
                <a:cs typeface="Times New Roman" panose="02020603050405020304" pitchFamily="18" charset="0"/>
              </a:rPr>
              <a:t>Data structures:</a:t>
            </a:r>
            <a:r>
              <a:rPr lang="en-US" sz="2500" dirty="0">
                <a:solidFill>
                  <a:srgbClr val="003300"/>
                </a:solidFill>
                <a:latin typeface="Times New Roman" panose="02020603050405020304" pitchFamily="18" charset="0"/>
                <a:cs typeface="Times New Roman" panose="02020603050405020304" pitchFamily="18" charset="0"/>
              </a:rPr>
              <a:t> You will write code that represents images as matrices, high-dimensional features, and geometric constructions.</a:t>
            </a:r>
          </a:p>
          <a:p>
            <a:pPr algn="just">
              <a:buFont typeface="Arial" panose="020B0604020202020204" pitchFamily="34" charset="0"/>
              <a:buChar char="•"/>
            </a:pPr>
            <a:r>
              <a:rPr lang="en-US" sz="2500" b="1" dirty="0">
                <a:solidFill>
                  <a:srgbClr val="003300"/>
                </a:solidFill>
                <a:latin typeface="Times New Roman" panose="02020603050405020304" pitchFamily="18" charset="0"/>
                <a:cs typeface="Times New Roman" panose="02020603050405020304" pitchFamily="18" charset="0"/>
              </a:rPr>
              <a:t>Programming and toolchains:</a:t>
            </a:r>
            <a:r>
              <a:rPr lang="en-US" sz="2500" dirty="0">
                <a:solidFill>
                  <a:srgbClr val="003300"/>
                </a:solidFill>
                <a:latin typeface="Times New Roman" panose="02020603050405020304" pitchFamily="18" charset="0"/>
                <a:cs typeface="Times New Roman" panose="02020603050405020304" pitchFamily="18" charset="0"/>
              </a:rPr>
              <a:t> A good working knowledge. Intro CS is required, and an intermediate systems course is strongly encouraged.</a:t>
            </a:r>
            <a:endParaRPr lang="en-US" sz="2500" b="0" i="0" dirty="0">
              <a:solidFill>
                <a:srgbClr val="003300"/>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104110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it-IT"/>
              <a:t>Dr Preeti Gera            COMPUTER VISION  UNIT- IV</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21</a:t>
            </a:fld>
            <a:endParaRPr lang="en-US"/>
          </a:p>
        </p:txBody>
      </p:sp>
      <p:sp>
        <p:nvSpPr>
          <p:cNvPr id="6"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161616"/>
                </a:solidFill>
                <a:effectLst/>
                <a:latin typeface="IBM Plex Sans" panose="020F0502020204030204" pitchFamily="34" charset="0"/>
              </a:rPr>
              <a:t>Introduction to GANs</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9" name="TextBox 8">
            <a:extLst>
              <a:ext uri="{FF2B5EF4-FFF2-40B4-BE49-F238E27FC236}">
                <a16:creationId xmlns:a16="http://schemas.microsoft.com/office/drawing/2014/main" id="{13C054A6-8463-B564-C37F-4E184B69A9F6}"/>
              </a:ext>
            </a:extLst>
          </p:cNvPr>
          <p:cNvSpPr txBox="1"/>
          <p:nvPr/>
        </p:nvSpPr>
        <p:spPr>
          <a:xfrm>
            <a:off x="228600" y="967694"/>
            <a:ext cx="8610600" cy="4247317"/>
          </a:xfrm>
          <a:prstGeom prst="rect">
            <a:avLst/>
          </a:prstGeom>
          <a:noFill/>
        </p:spPr>
        <p:txBody>
          <a:bodyPr wrap="square">
            <a:spAutoFit/>
          </a:bodyPr>
          <a:lstStyle/>
          <a:p>
            <a:pPr algn="l" fontAlgn="base">
              <a:buFont typeface="Arial" panose="020B0604020202020204" pitchFamily="34" charset="0"/>
              <a:buChar char="•"/>
            </a:pPr>
            <a:r>
              <a:rPr lang="en-US" b="1" i="0" dirty="0">
                <a:solidFill>
                  <a:srgbClr val="161616"/>
                </a:solidFill>
                <a:effectLst/>
                <a:latin typeface="inherit"/>
              </a:rPr>
              <a:t>Generative:</a:t>
            </a:r>
            <a:r>
              <a:rPr lang="en-US" b="0" i="0" dirty="0">
                <a:solidFill>
                  <a:srgbClr val="161616"/>
                </a:solidFill>
                <a:effectLst/>
                <a:latin typeface="inherit"/>
              </a:rPr>
              <a:t> You can think of the term generative as producing </a:t>
            </a:r>
            <a:r>
              <a:rPr lang="en-US" b="0" i="1" dirty="0">
                <a:solidFill>
                  <a:srgbClr val="161616"/>
                </a:solidFill>
                <a:effectLst/>
                <a:latin typeface="inherit"/>
              </a:rPr>
              <a:t>something</a:t>
            </a:r>
            <a:r>
              <a:rPr lang="en-US" b="0" i="0" dirty="0">
                <a:solidFill>
                  <a:srgbClr val="161616"/>
                </a:solidFill>
                <a:effectLst/>
                <a:latin typeface="inherit"/>
              </a:rPr>
              <a:t>. This can be taking some input images and producing an output with a twist. For example, you can transform a horse into a zebra with some degree of accuracy. The result depends on the input and how well-trained the layers are in the generative model for this use case.</a:t>
            </a:r>
          </a:p>
          <a:p>
            <a:pPr algn="l" fontAlgn="base">
              <a:buFont typeface="Arial" panose="020B0604020202020204" pitchFamily="34" charset="0"/>
              <a:buChar char="•"/>
            </a:pPr>
            <a:endParaRPr lang="en-US" dirty="0">
              <a:solidFill>
                <a:srgbClr val="161616"/>
              </a:solidFill>
              <a:latin typeface="inherit"/>
            </a:endParaRPr>
          </a:p>
          <a:p>
            <a:pPr algn="l" fontAlgn="base">
              <a:buFont typeface="Arial" panose="020B0604020202020204" pitchFamily="34" charset="0"/>
              <a:buChar char="•"/>
            </a:pPr>
            <a:endParaRPr lang="en-US" b="0" i="0" dirty="0">
              <a:solidFill>
                <a:srgbClr val="161616"/>
              </a:solidFill>
              <a:effectLst/>
              <a:latin typeface="inherit"/>
            </a:endParaRPr>
          </a:p>
          <a:p>
            <a:pPr algn="l" fontAlgn="base">
              <a:buFont typeface="Arial" panose="020B0604020202020204" pitchFamily="34" charset="0"/>
              <a:buChar char="•"/>
            </a:pPr>
            <a:endParaRPr lang="en-US" dirty="0">
              <a:solidFill>
                <a:srgbClr val="161616"/>
              </a:solidFill>
              <a:latin typeface="inherit"/>
            </a:endParaRPr>
          </a:p>
          <a:p>
            <a:pPr algn="l" fontAlgn="base">
              <a:buFont typeface="Arial" panose="020B0604020202020204" pitchFamily="34" charset="0"/>
              <a:buChar char="•"/>
            </a:pPr>
            <a:endParaRPr lang="en-US" b="0" i="0" dirty="0">
              <a:solidFill>
                <a:srgbClr val="161616"/>
              </a:solidFill>
              <a:effectLst/>
              <a:latin typeface="inherit"/>
            </a:endParaRPr>
          </a:p>
          <a:p>
            <a:pPr algn="l" fontAlgn="base">
              <a:buFont typeface="Arial" panose="020B0604020202020204" pitchFamily="34" charset="0"/>
              <a:buChar char="•"/>
            </a:pPr>
            <a:endParaRPr lang="en-US" dirty="0">
              <a:solidFill>
                <a:srgbClr val="161616"/>
              </a:solidFill>
              <a:latin typeface="inherit"/>
            </a:endParaRPr>
          </a:p>
          <a:p>
            <a:pPr algn="l" fontAlgn="base">
              <a:buFont typeface="Arial" panose="020B0604020202020204" pitchFamily="34" charset="0"/>
              <a:buChar char="•"/>
            </a:pPr>
            <a:endParaRPr lang="en-US" b="0" i="0" dirty="0">
              <a:solidFill>
                <a:srgbClr val="161616"/>
              </a:solidFill>
              <a:effectLst/>
              <a:latin typeface="inherit"/>
            </a:endParaRPr>
          </a:p>
          <a:p>
            <a:pPr algn="l" fontAlgn="base">
              <a:buFont typeface="Arial" panose="020B0604020202020204" pitchFamily="34" charset="0"/>
              <a:buChar char="•"/>
            </a:pPr>
            <a:r>
              <a:rPr lang="en-US" b="1" i="0" dirty="0">
                <a:solidFill>
                  <a:srgbClr val="161616"/>
                </a:solidFill>
                <a:effectLst/>
                <a:latin typeface="inherit"/>
              </a:rPr>
              <a:t>Adversarial:</a:t>
            </a:r>
            <a:r>
              <a:rPr lang="en-US" b="0" i="0" dirty="0">
                <a:solidFill>
                  <a:srgbClr val="161616"/>
                </a:solidFill>
                <a:effectLst/>
                <a:latin typeface="inherit"/>
              </a:rPr>
              <a:t> You can think of the term adversarial as pitting one thing against another thing. In the context of GANs, this means pitting the generative result (fake images) against the real images present in the data set. The specific mechanism is called a discriminator, which is implementing a model that tries to discriminate between the real and fake images.</a:t>
            </a:r>
          </a:p>
        </p:txBody>
      </p:sp>
    </p:spTree>
    <p:extLst>
      <p:ext uri="{BB962C8B-B14F-4D97-AF65-F5344CB8AC3E}">
        <p14:creationId xmlns:p14="http://schemas.microsoft.com/office/powerpoint/2010/main" val="8748283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8DF556-F95E-F309-D7D3-0D887276DDAB}"/>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C7E016A0-7E15-8821-1433-4529498AC3CD}"/>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68AF92D4-27ED-1BD7-A21B-45A8EBA54FFC}"/>
              </a:ext>
            </a:extLst>
          </p:cNvPr>
          <p:cNvSpPr>
            <a:spLocks noGrp="1"/>
          </p:cNvSpPr>
          <p:nvPr>
            <p:ph type="sldNum" sz="quarter" idx="12"/>
          </p:nvPr>
        </p:nvSpPr>
        <p:spPr/>
        <p:txBody>
          <a:bodyPr/>
          <a:lstStyle/>
          <a:p>
            <a:fld id="{B6F15528-21DE-4FAA-801E-634DDDAF4B2B}" type="slidenum">
              <a:rPr lang="en-US" smtClean="0"/>
              <a:pPr/>
              <a:t>22</a:t>
            </a:fld>
            <a:endParaRPr lang="en-US"/>
          </a:p>
        </p:txBody>
      </p:sp>
      <p:sp>
        <p:nvSpPr>
          <p:cNvPr id="7" name="TextBox 6">
            <a:extLst>
              <a:ext uri="{FF2B5EF4-FFF2-40B4-BE49-F238E27FC236}">
                <a16:creationId xmlns:a16="http://schemas.microsoft.com/office/drawing/2014/main" id="{54AB6731-53B1-C589-8A3A-55CF7AFD748C}"/>
              </a:ext>
            </a:extLst>
          </p:cNvPr>
          <p:cNvSpPr txBox="1"/>
          <p:nvPr/>
        </p:nvSpPr>
        <p:spPr>
          <a:xfrm>
            <a:off x="76200" y="1143000"/>
            <a:ext cx="8610600" cy="3139321"/>
          </a:xfrm>
          <a:prstGeom prst="rect">
            <a:avLst/>
          </a:prstGeom>
          <a:noFill/>
        </p:spPr>
        <p:txBody>
          <a:bodyPr wrap="square">
            <a:spAutoFit/>
          </a:bodyPr>
          <a:lstStyle/>
          <a:p>
            <a:r>
              <a:rPr lang="en-US" dirty="0"/>
              <a:t>"The generative model can be thought of as analogous to a team of counterfeiters, trying to produce fake currency and use it without detection, while the discriminative model is analogous to the police, trying to detect the counterfeit currency. Competition in this game drives both teams to improve their methods until the counterfeits are indistinguishable from the genuine articles."</a:t>
            </a:r>
          </a:p>
          <a:p>
            <a:endParaRPr lang="en-US" dirty="0"/>
          </a:p>
          <a:p>
            <a:r>
              <a:rPr lang="en-US" dirty="0"/>
              <a:t>Goodfellow demonstrated how you could use the modern-day computing power to generate fake examples that look like real images of numbers, people, animals, and anything you might imagine. As long as you can curate the data, these types of models can generate novel examples. In the following image. the yellow columns are examples of generated images from Goodfellow's paper</a:t>
            </a:r>
            <a:endParaRPr lang="en-IN" dirty="0"/>
          </a:p>
        </p:txBody>
      </p:sp>
      <p:sp>
        <p:nvSpPr>
          <p:cNvPr id="5" name="Title 1">
            <a:extLst>
              <a:ext uri="{FF2B5EF4-FFF2-40B4-BE49-F238E27FC236}">
                <a16:creationId xmlns:a16="http://schemas.microsoft.com/office/drawing/2014/main" id="{66CFBBF1-6E5F-B710-7A5D-235B68B23179}"/>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161616"/>
                </a:solidFill>
                <a:effectLst/>
                <a:latin typeface="IBM Plex Sans" panose="020F0502020204030204" pitchFamily="34" charset="0"/>
              </a:rPr>
              <a:t>Introduction to GANs</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6" name="Picture 2" descr="E:\NIET\Project\xLogo11.png.pagespeed.ic.pydHLuCQEZ.png">
            <a:extLst>
              <a:ext uri="{FF2B5EF4-FFF2-40B4-BE49-F238E27FC236}">
                <a16:creationId xmlns:a16="http://schemas.microsoft.com/office/drawing/2014/main" id="{7725EAF9-B0EC-A6A2-CCC7-862500316094}"/>
              </a:ext>
            </a:extLst>
          </p:cNvPr>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3208979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A51197-5C60-73E0-4511-4F58DE5D62E9}"/>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2886AEB8-A1F3-0939-1C17-5FE40584802B}"/>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ADAEF531-FA63-2701-143D-BBFED5EAB594}"/>
              </a:ext>
            </a:extLst>
          </p:cNvPr>
          <p:cNvSpPr>
            <a:spLocks noGrp="1"/>
          </p:cNvSpPr>
          <p:nvPr>
            <p:ph type="sldNum" sz="quarter" idx="12"/>
          </p:nvPr>
        </p:nvSpPr>
        <p:spPr/>
        <p:txBody>
          <a:bodyPr/>
          <a:lstStyle/>
          <a:p>
            <a:fld id="{B6F15528-21DE-4FAA-801E-634DDDAF4B2B}" type="slidenum">
              <a:rPr lang="en-US" smtClean="0"/>
              <a:pPr/>
              <a:t>23</a:t>
            </a:fld>
            <a:endParaRPr lang="en-US"/>
          </a:p>
        </p:txBody>
      </p:sp>
      <p:pic>
        <p:nvPicPr>
          <p:cNvPr id="5" name="Picture 4">
            <a:extLst>
              <a:ext uri="{FF2B5EF4-FFF2-40B4-BE49-F238E27FC236}">
                <a16:creationId xmlns:a16="http://schemas.microsoft.com/office/drawing/2014/main" id="{1911ED4F-03B2-F1CB-51DB-F9DD55F9E1E9}"/>
              </a:ext>
            </a:extLst>
          </p:cNvPr>
          <p:cNvPicPr>
            <a:picLocks noChangeAspect="1"/>
          </p:cNvPicPr>
          <p:nvPr/>
        </p:nvPicPr>
        <p:blipFill>
          <a:blip r:embed="rId2"/>
          <a:stretch>
            <a:fillRect/>
          </a:stretch>
        </p:blipFill>
        <p:spPr>
          <a:xfrm>
            <a:off x="0" y="712439"/>
            <a:ext cx="9144000" cy="6145561"/>
          </a:xfrm>
          <a:prstGeom prst="rect">
            <a:avLst/>
          </a:prstGeom>
        </p:spPr>
      </p:pic>
      <p:sp>
        <p:nvSpPr>
          <p:cNvPr id="6" name="Title 1">
            <a:extLst>
              <a:ext uri="{FF2B5EF4-FFF2-40B4-BE49-F238E27FC236}">
                <a16:creationId xmlns:a16="http://schemas.microsoft.com/office/drawing/2014/main" id="{F048EDC1-C522-43A2-6483-B3C4D57B4A93}"/>
              </a:ext>
            </a:extLst>
          </p:cNvPr>
          <p:cNvSpPr txBox="1">
            <a:spLocks/>
          </p:cNvSpPr>
          <p:nvPr/>
        </p:nvSpPr>
        <p:spPr>
          <a:xfrm>
            <a:off x="1358770" y="30162"/>
            <a:ext cx="7772400" cy="652115"/>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161616"/>
                </a:solidFill>
                <a:effectLst/>
                <a:latin typeface="IBM Plex Sans" panose="020F0502020204030204" pitchFamily="34" charset="0"/>
              </a:rPr>
              <a:t>Introduction to GANs</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7659496C-80B1-3288-BAFC-8D58FB2D7EC7}"/>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27594342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D87E4CA-F2F7-8297-2416-4937CE617BE8}"/>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7A3FA62C-4624-F3EF-1A45-12F53EC900B8}"/>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6A157994-F8DF-E80F-50ED-779BE016E0E8}"/>
              </a:ext>
            </a:extLst>
          </p:cNvPr>
          <p:cNvSpPr>
            <a:spLocks noGrp="1"/>
          </p:cNvSpPr>
          <p:nvPr>
            <p:ph type="sldNum" sz="quarter" idx="12"/>
          </p:nvPr>
        </p:nvSpPr>
        <p:spPr/>
        <p:txBody>
          <a:bodyPr/>
          <a:lstStyle/>
          <a:p>
            <a:fld id="{B6F15528-21DE-4FAA-801E-634DDDAF4B2B}" type="slidenum">
              <a:rPr lang="en-US" smtClean="0"/>
              <a:pPr/>
              <a:t>24</a:t>
            </a:fld>
            <a:endParaRPr lang="en-US"/>
          </a:p>
        </p:txBody>
      </p:sp>
      <p:sp>
        <p:nvSpPr>
          <p:cNvPr id="6" name="TextBox 5">
            <a:extLst>
              <a:ext uri="{FF2B5EF4-FFF2-40B4-BE49-F238E27FC236}">
                <a16:creationId xmlns:a16="http://schemas.microsoft.com/office/drawing/2014/main" id="{580B5B70-5312-0606-519A-E748A987DDF9}"/>
              </a:ext>
            </a:extLst>
          </p:cNvPr>
          <p:cNvSpPr txBox="1"/>
          <p:nvPr/>
        </p:nvSpPr>
        <p:spPr>
          <a:xfrm>
            <a:off x="400050" y="892353"/>
            <a:ext cx="4572000" cy="369332"/>
          </a:xfrm>
          <a:prstGeom prst="rect">
            <a:avLst/>
          </a:prstGeom>
          <a:noFill/>
        </p:spPr>
        <p:txBody>
          <a:bodyPr wrap="square">
            <a:spAutoFit/>
          </a:bodyPr>
          <a:lstStyle/>
          <a:p>
            <a:pPr algn="l" fontAlgn="base"/>
            <a:r>
              <a:rPr lang="en-IN" b="0" i="0" dirty="0">
                <a:solidFill>
                  <a:srgbClr val="161616"/>
                </a:solidFill>
                <a:effectLst/>
                <a:latin typeface="IBM Plex Sans" panose="020B0503050203000203" pitchFamily="34" charset="0"/>
              </a:rPr>
              <a:t>Components in a GAN model</a:t>
            </a:r>
          </a:p>
        </p:txBody>
      </p:sp>
      <p:sp>
        <p:nvSpPr>
          <p:cNvPr id="8" name="TextBox 7">
            <a:extLst>
              <a:ext uri="{FF2B5EF4-FFF2-40B4-BE49-F238E27FC236}">
                <a16:creationId xmlns:a16="http://schemas.microsoft.com/office/drawing/2014/main" id="{2A62A1A6-C2C9-9F56-7144-EA5BEC54CCBF}"/>
              </a:ext>
            </a:extLst>
          </p:cNvPr>
          <p:cNvSpPr txBox="1"/>
          <p:nvPr/>
        </p:nvSpPr>
        <p:spPr>
          <a:xfrm>
            <a:off x="400050" y="1859340"/>
            <a:ext cx="8286750" cy="1754326"/>
          </a:xfrm>
          <a:prstGeom prst="rect">
            <a:avLst/>
          </a:prstGeom>
          <a:noFill/>
        </p:spPr>
        <p:txBody>
          <a:bodyPr wrap="square">
            <a:spAutoFit/>
          </a:bodyPr>
          <a:lstStyle/>
          <a:p>
            <a:r>
              <a:rPr lang="en-US" b="0" i="0" dirty="0">
                <a:solidFill>
                  <a:srgbClr val="161616"/>
                </a:solidFill>
                <a:effectLst/>
                <a:latin typeface="IBM Plex Sans" panose="020B0503050203000203" pitchFamily="34" charset="0"/>
              </a:rPr>
              <a:t>As previously explained, GANs consist of a generative and an adversarial network. Although there are many different GAN models, I focus on the core components of the most common one </a:t>
            </a:r>
            <a:r>
              <a:rPr lang="en-US" b="0" i="0" u="sng" dirty="0">
                <a:solidFill>
                  <a:srgbClr val="0F62FE"/>
                </a:solidFill>
                <a:effectLst/>
                <a:latin typeface="IBM Plex Sans" panose="020B0503050203000203" pitchFamily="34" charset="0"/>
                <a:hlinkClick r:id="rId2"/>
              </a:rPr>
              <a:t>deep convolutional generative adversarial networks (DCGAN)</a:t>
            </a:r>
            <a:r>
              <a:rPr lang="en-US" b="0" i="0" dirty="0">
                <a:solidFill>
                  <a:srgbClr val="161616"/>
                </a:solidFill>
                <a:effectLst/>
                <a:latin typeface="IBM Plex Sans" panose="020B0503050203000203" pitchFamily="34" charset="0"/>
              </a:rPr>
              <a:t>, which was introduced in 2015 by Alec Radford et al. I also discuss use cases with newer models that have tweaked the components of the model to create something unique.</a:t>
            </a:r>
            <a:endParaRPr lang="en-IN" dirty="0"/>
          </a:p>
        </p:txBody>
      </p:sp>
      <p:sp>
        <p:nvSpPr>
          <p:cNvPr id="5" name="Title 1">
            <a:extLst>
              <a:ext uri="{FF2B5EF4-FFF2-40B4-BE49-F238E27FC236}">
                <a16:creationId xmlns:a16="http://schemas.microsoft.com/office/drawing/2014/main" id="{656BC75F-CFA2-2E3F-7E0B-312760272497}"/>
              </a:ext>
            </a:extLst>
          </p:cNvPr>
          <p:cNvSpPr txBox="1">
            <a:spLocks/>
          </p:cNvSpPr>
          <p:nvPr/>
        </p:nvSpPr>
        <p:spPr>
          <a:xfrm>
            <a:off x="1371600" y="-21768"/>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161616"/>
                </a:solidFill>
                <a:effectLst/>
                <a:latin typeface="IBM Plex Sans" panose="020B0503050203000203" pitchFamily="34" charset="0"/>
              </a:rPr>
              <a:t>Components </a:t>
            </a:r>
            <a:r>
              <a:rPr lang="en-IN" sz="2400" b="1" i="0" dirty="0">
                <a:solidFill>
                  <a:srgbClr val="161616"/>
                </a:solidFill>
                <a:effectLst/>
                <a:latin typeface="IBM Plex Sans" panose="020F0502020204030204" pitchFamily="34" charset="0"/>
              </a:rPr>
              <a:t>GANs</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A3FA66EB-1C01-FA90-7AF5-9708B6E74C11}"/>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2701382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217E950-E0BC-6BDB-8A79-A38866C90780}"/>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E50A77FD-6228-D936-B280-DB5137E55E12}"/>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6DEB75BC-1346-2C58-2C4A-4968D8AEDF1A}"/>
              </a:ext>
            </a:extLst>
          </p:cNvPr>
          <p:cNvSpPr>
            <a:spLocks noGrp="1"/>
          </p:cNvSpPr>
          <p:nvPr>
            <p:ph type="sldNum" sz="quarter" idx="12"/>
          </p:nvPr>
        </p:nvSpPr>
        <p:spPr/>
        <p:txBody>
          <a:bodyPr/>
          <a:lstStyle/>
          <a:p>
            <a:fld id="{B6F15528-21DE-4FAA-801E-634DDDAF4B2B}" type="slidenum">
              <a:rPr lang="en-US" smtClean="0"/>
              <a:pPr/>
              <a:t>25</a:t>
            </a:fld>
            <a:endParaRPr lang="en-US"/>
          </a:p>
        </p:txBody>
      </p:sp>
      <p:sp>
        <p:nvSpPr>
          <p:cNvPr id="6" name="TextBox 5">
            <a:extLst>
              <a:ext uri="{FF2B5EF4-FFF2-40B4-BE49-F238E27FC236}">
                <a16:creationId xmlns:a16="http://schemas.microsoft.com/office/drawing/2014/main" id="{1DEA2316-DDDC-7663-3FDC-8C876EAEE42E}"/>
              </a:ext>
            </a:extLst>
          </p:cNvPr>
          <p:cNvSpPr txBox="1"/>
          <p:nvPr/>
        </p:nvSpPr>
        <p:spPr>
          <a:xfrm>
            <a:off x="381000" y="1582341"/>
            <a:ext cx="8458200" cy="5078313"/>
          </a:xfrm>
          <a:prstGeom prst="rect">
            <a:avLst/>
          </a:prstGeom>
          <a:noFill/>
        </p:spPr>
        <p:txBody>
          <a:bodyPr wrap="square">
            <a:spAutoFit/>
          </a:bodyPr>
          <a:lstStyle/>
          <a:p>
            <a:pPr algn="l" fontAlgn="base">
              <a:buFont typeface="Arial" panose="020B0604020202020204" pitchFamily="34" charset="0"/>
              <a:buChar char="•"/>
            </a:pPr>
            <a:r>
              <a:rPr lang="en-US" b="0" i="0" dirty="0">
                <a:solidFill>
                  <a:srgbClr val="161616"/>
                </a:solidFill>
                <a:effectLst/>
                <a:latin typeface="inherit"/>
              </a:rPr>
              <a:t>Replacing any pooling layers with </a:t>
            </a:r>
            <a:r>
              <a:rPr lang="en-US" b="0" i="0" dirty="0" err="1">
                <a:solidFill>
                  <a:srgbClr val="161616"/>
                </a:solidFill>
                <a:effectLst/>
                <a:latin typeface="inherit"/>
              </a:rPr>
              <a:t>strided</a:t>
            </a:r>
            <a:r>
              <a:rPr lang="en-US" b="0" i="0" dirty="0">
                <a:solidFill>
                  <a:srgbClr val="161616"/>
                </a:solidFill>
                <a:effectLst/>
                <a:latin typeface="inherit"/>
              </a:rPr>
              <a:t> convolutions (discriminator) and fractional-</a:t>
            </a:r>
            <a:r>
              <a:rPr lang="en-US" b="0" i="0" dirty="0" err="1">
                <a:solidFill>
                  <a:srgbClr val="161616"/>
                </a:solidFill>
                <a:effectLst/>
                <a:latin typeface="inherit"/>
              </a:rPr>
              <a:t>strided</a:t>
            </a:r>
            <a:r>
              <a:rPr lang="en-US" b="0" i="0" dirty="0">
                <a:solidFill>
                  <a:srgbClr val="161616"/>
                </a:solidFill>
                <a:effectLst/>
                <a:latin typeface="inherit"/>
              </a:rPr>
              <a:t> convolutions (generator)</a:t>
            </a:r>
          </a:p>
          <a:p>
            <a:pPr algn="l" fontAlgn="base">
              <a:buFont typeface="Arial" panose="020B0604020202020204" pitchFamily="34" charset="0"/>
              <a:buChar char="•"/>
            </a:pPr>
            <a:endParaRPr lang="en-US" b="0" i="0" dirty="0">
              <a:solidFill>
                <a:srgbClr val="161616"/>
              </a:solidFill>
              <a:effectLst/>
              <a:latin typeface="inherit"/>
            </a:endParaRPr>
          </a:p>
          <a:p>
            <a:pPr algn="l" fontAlgn="base">
              <a:buFont typeface="Arial" panose="020B0604020202020204" pitchFamily="34" charset="0"/>
              <a:buChar char="•"/>
            </a:pPr>
            <a:endParaRPr lang="en-US" b="0" i="0" dirty="0">
              <a:solidFill>
                <a:srgbClr val="161616"/>
              </a:solidFill>
              <a:effectLst/>
              <a:latin typeface="inherit"/>
            </a:endParaRPr>
          </a:p>
          <a:p>
            <a:pPr algn="l" fontAlgn="base">
              <a:buFont typeface="Arial" panose="020B0604020202020204" pitchFamily="34" charset="0"/>
              <a:buChar char="•"/>
            </a:pPr>
            <a:r>
              <a:rPr lang="en-US" b="0" i="0" dirty="0">
                <a:solidFill>
                  <a:srgbClr val="161616"/>
                </a:solidFill>
                <a:effectLst/>
                <a:latin typeface="inherit"/>
              </a:rPr>
              <a:t>Using batch norm (BN) in both the generator and the discriminator</a:t>
            </a:r>
          </a:p>
          <a:p>
            <a:pPr algn="l" fontAlgn="base">
              <a:buFont typeface="Arial" panose="020B0604020202020204" pitchFamily="34" charset="0"/>
              <a:buChar char="•"/>
            </a:pPr>
            <a:endParaRPr lang="en-US" b="0" i="0" dirty="0">
              <a:solidFill>
                <a:srgbClr val="161616"/>
              </a:solidFill>
              <a:effectLst/>
              <a:latin typeface="inherit"/>
            </a:endParaRPr>
          </a:p>
          <a:p>
            <a:pPr algn="l" fontAlgn="base">
              <a:buFont typeface="Arial" panose="020B0604020202020204" pitchFamily="34" charset="0"/>
              <a:buChar char="•"/>
            </a:pPr>
            <a:endParaRPr lang="en-US" b="0" i="0" dirty="0">
              <a:solidFill>
                <a:srgbClr val="161616"/>
              </a:solidFill>
              <a:effectLst/>
              <a:latin typeface="inherit"/>
            </a:endParaRPr>
          </a:p>
          <a:p>
            <a:pPr algn="l" fontAlgn="base">
              <a:buFont typeface="Arial" panose="020B0604020202020204" pitchFamily="34" charset="0"/>
              <a:buChar char="•"/>
            </a:pPr>
            <a:r>
              <a:rPr lang="en-US" b="0" i="0" dirty="0">
                <a:solidFill>
                  <a:srgbClr val="161616"/>
                </a:solidFill>
                <a:effectLst/>
                <a:latin typeface="inherit"/>
              </a:rPr>
              <a:t>Removing fully connected hidden layers for deeper architectures</a:t>
            </a:r>
          </a:p>
          <a:p>
            <a:pPr algn="l" fontAlgn="base">
              <a:buFont typeface="Arial" panose="020B0604020202020204" pitchFamily="34" charset="0"/>
              <a:buChar char="•"/>
            </a:pPr>
            <a:endParaRPr lang="en-US" b="0" i="0" dirty="0">
              <a:solidFill>
                <a:srgbClr val="161616"/>
              </a:solidFill>
              <a:effectLst/>
              <a:latin typeface="inherit"/>
            </a:endParaRPr>
          </a:p>
          <a:p>
            <a:pPr algn="l" fontAlgn="base">
              <a:buFont typeface="Arial" panose="020B0604020202020204" pitchFamily="34" charset="0"/>
              <a:buChar char="•"/>
            </a:pPr>
            <a:endParaRPr lang="en-US" b="0" i="0" dirty="0">
              <a:solidFill>
                <a:srgbClr val="161616"/>
              </a:solidFill>
              <a:effectLst/>
              <a:latin typeface="inherit"/>
            </a:endParaRPr>
          </a:p>
          <a:p>
            <a:pPr algn="l" fontAlgn="base">
              <a:buFont typeface="Arial" panose="020B0604020202020204" pitchFamily="34" charset="0"/>
              <a:buChar char="•"/>
            </a:pPr>
            <a:r>
              <a:rPr lang="en-US" b="0" i="0" dirty="0">
                <a:solidFill>
                  <a:srgbClr val="161616"/>
                </a:solidFill>
                <a:effectLst/>
                <a:latin typeface="inherit"/>
              </a:rPr>
              <a:t>Using </a:t>
            </a:r>
            <a:r>
              <a:rPr lang="en-US" b="0" i="0" dirty="0" err="1">
                <a:solidFill>
                  <a:srgbClr val="161616"/>
                </a:solidFill>
                <a:effectLst/>
                <a:latin typeface="inherit"/>
              </a:rPr>
              <a:t>ReLU</a:t>
            </a:r>
            <a:r>
              <a:rPr lang="en-US" b="0" i="0" dirty="0">
                <a:solidFill>
                  <a:srgbClr val="161616"/>
                </a:solidFill>
                <a:effectLst/>
                <a:latin typeface="inherit"/>
              </a:rPr>
              <a:t> activation in the generator for all layers except for the output, which uses Tanh</a:t>
            </a:r>
          </a:p>
          <a:p>
            <a:pPr algn="l" fontAlgn="base">
              <a:buFont typeface="Arial" panose="020B0604020202020204" pitchFamily="34" charset="0"/>
              <a:buChar char="•"/>
            </a:pPr>
            <a:endParaRPr lang="en-US" dirty="0">
              <a:solidFill>
                <a:srgbClr val="161616"/>
              </a:solidFill>
              <a:latin typeface="inherit"/>
            </a:endParaRPr>
          </a:p>
          <a:p>
            <a:pPr algn="l" fontAlgn="base">
              <a:buFont typeface="Arial" panose="020B0604020202020204" pitchFamily="34" charset="0"/>
              <a:buChar char="•"/>
            </a:pPr>
            <a:endParaRPr lang="en-US" b="0" i="0" dirty="0">
              <a:solidFill>
                <a:srgbClr val="161616"/>
              </a:solidFill>
              <a:effectLst/>
              <a:latin typeface="inherit"/>
            </a:endParaRPr>
          </a:p>
          <a:p>
            <a:pPr algn="l" fontAlgn="base">
              <a:buFont typeface="Arial" panose="020B0604020202020204" pitchFamily="34" charset="0"/>
              <a:buChar char="•"/>
            </a:pPr>
            <a:endParaRPr lang="en-US" b="0" i="0" dirty="0">
              <a:solidFill>
                <a:srgbClr val="161616"/>
              </a:solidFill>
              <a:effectLst/>
              <a:latin typeface="inherit"/>
            </a:endParaRPr>
          </a:p>
          <a:p>
            <a:pPr algn="l" fontAlgn="base">
              <a:buFont typeface="Arial" panose="020B0604020202020204" pitchFamily="34" charset="0"/>
              <a:buChar char="•"/>
            </a:pPr>
            <a:r>
              <a:rPr lang="en-US" b="0" i="0" dirty="0">
                <a:solidFill>
                  <a:srgbClr val="161616"/>
                </a:solidFill>
                <a:effectLst/>
                <a:latin typeface="inherit"/>
              </a:rPr>
              <a:t>Using </a:t>
            </a:r>
            <a:r>
              <a:rPr lang="en-US" b="0" i="0" dirty="0" err="1">
                <a:solidFill>
                  <a:srgbClr val="161616"/>
                </a:solidFill>
                <a:effectLst/>
                <a:latin typeface="inherit"/>
              </a:rPr>
              <a:t>LeakyReLU</a:t>
            </a:r>
            <a:r>
              <a:rPr lang="en-US" b="0" i="0" dirty="0">
                <a:solidFill>
                  <a:srgbClr val="161616"/>
                </a:solidFill>
                <a:effectLst/>
                <a:latin typeface="inherit"/>
              </a:rPr>
              <a:t> activation in the discriminator for all layers</a:t>
            </a:r>
          </a:p>
          <a:p>
            <a:br>
              <a:rPr lang="en-US" dirty="0"/>
            </a:br>
            <a:endParaRPr lang="en-IN" dirty="0"/>
          </a:p>
        </p:txBody>
      </p:sp>
      <p:sp>
        <p:nvSpPr>
          <p:cNvPr id="5" name="Title 1">
            <a:extLst>
              <a:ext uri="{FF2B5EF4-FFF2-40B4-BE49-F238E27FC236}">
                <a16:creationId xmlns:a16="http://schemas.microsoft.com/office/drawing/2014/main" id="{9E7E6281-48C8-5ABF-BA50-A0FD5225BB42}"/>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161616"/>
                </a:solidFill>
                <a:effectLst/>
                <a:latin typeface="IBM Plex Sans" panose="020B0503050203000203" pitchFamily="34" charset="0"/>
              </a:rPr>
              <a:t>Components </a:t>
            </a:r>
            <a:r>
              <a:rPr lang="en-IN" sz="2400" b="1" i="0" dirty="0">
                <a:solidFill>
                  <a:srgbClr val="161616"/>
                </a:solidFill>
                <a:effectLst/>
                <a:latin typeface="IBM Plex Sans" panose="020F0502020204030204" pitchFamily="34" charset="0"/>
              </a:rPr>
              <a:t>GANs</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D6801BC0-0D2A-DF04-54C0-343265CF4B4D}"/>
              </a:ext>
            </a:extLst>
          </p:cNvPr>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22084790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5E96E15-7613-2B67-10EF-DA99D4A248BE}"/>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3BC1824E-03C3-3D71-705A-14F430CC956E}"/>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456103EB-926F-6576-E75C-D15697FC7373}"/>
              </a:ext>
            </a:extLst>
          </p:cNvPr>
          <p:cNvSpPr>
            <a:spLocks noGrp="1"/>
          </p:cNvSpPr>
          <p:nvPr>
            <p:ph type="sldNum" sz="quarter" idx="12"/>
          </p:nvPr>
        </p:nvSpPr>
        <p:spPr/>
        <p:txBody>
          <a:bodyPr/>
          <a:lstStyle/>
          <a:p>
            <a:fld id="{B6F15528-21DE-4FAA-801E-634DDDAF4B2B}" type="slidenum">
              <a:rPr lang="en-US" smtClean="0"/>
              <a:pPr/>
              <a:t>26</a:t>
            </a:fld>
            <a:endParaRPr lang="en-US"/>
          </a:p>
        </p:txBody>
      </p:sp>
      <p:pic>
        <p:nvPicPr>
          <p:cNvPr id="5" name="Picture 4">
            <a:extLst>
              <a:ext uri="{FF2B5EF4-FFF2-40B4-BE49-F238E27FC236}">
                <a16:creationId xmlns:a16="http://schemas.microsoft.com/office/drawing/2014/main" id="{AE39CB67-2C8A-A1A2-C32F-B74DCC9CE596}"/>
              </a:ext>
            </a:extLst>
          </p:cNvPr>
          <p:cNvPicPr>
            <a:picLocks noChangeAspect="1"/>
          </p:cNvPicPr>
          <p:nvPr/>
        </p:nvPicPr>
        <p:blipFill>
          <a:blip r:embed="rId2"/>
          <a:stretch>
            <a:fillRect/>
          </a:stretch>
        </p:blipFill>
        <p:spPr>
          <a:xfrm>
            <a:off x="0" y="1120819"/>
            <a:ext cx="9144000" cy="4616361"/>
          </a:xfrm>
          <a:prstGeom prst="rect">
            <a:avLst/>
          </a:prstGeom>
        </p:spPr>
      </p:pic>
      <p:sp>
        <p:nvSpPr>
          <p:cNvPr id="6" name="Title 1">
            <a:extLst>
              <a:ext uri="{FF2B5EF4-FFF2-40B4-BE49-F238E27FC236}">
                <a16:creationId xmlns:a16="http://schemas.microsoft.com/office/drawing/2014/main" id="{F7764C74-B08A-7B39-13DB-10CE22703975}"/>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161616"/>
                </a:solidFill>
                <a:effectLst/>
                <a:latin typeface="IBM Plex Sans" panose="020F0502020204030204" pitchFamily="34" charset="0"/>
              </a:rPr>
              <a:t>Introduction to GANs</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EBFC498A-6AE7-3919-F50D-6C3625A19A36}"/>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13905468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DD8ACAD-B3F1-48A8-74A4-46233AADC7D8}"/>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C9A20A83-8CDB-A0A0-ACD8-8776A9C5513E}"/>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578C815B-0FCD-110C-160B-9CCEF5FA35D5}"/>
              </a:ext>
            </a:extLst>
          </p:cNvPr>
          <p:cNvSpPr>
            <a:spLocks noGrp="1"/>
          </p:cNvSpPr>
          <p:nvPr>
            <p:ph type="sldNum" sz="quarter" idx="12"/>
          </p:nvPr>
        </p:nvSpPr>
        <p:spPr/>
        <p:txBody>
          <a:bodyPr/>
          <a:lstStyle/>
          <a:p>
            <a:fld id="{B6F15528-21DE-4FAA-801E-634DDDAF4B2B}" type="slidenum">
              <a:rPr lang="en-US" smtClean="0"/>
              <a:pPr/>
              <a:t>27</a:t>
            </a:fld>
            <a:endParaRPr lang="en-US"/>
          </a:p>
        </p:txBody>
      </p:sp>
      <p:sp>
        <p:nvSpPr>
          <p:cNvPr id="6" name="TextBox 5">
            <a:extLst>
              <a:ext uri="{FF2B5EF4-FFF2-40B4-BE49-F238E27FC236}">
                <a16:creationId xmlns:a16="http://schemas.microsoft.com/office/drawing/2014/main" id="{34313892-BDEB-9692-7687-9E09D5129656}"/>
              </a:ext>
            </a:extLst>
          </p:cNvPr>
          <p:cNvSpPr txBox="1"/>
          <p:nvPr/>
        </p:nvSpPr>
        <p:spPr>
          <a:xfrm>
            <a:off x="457200" y="304800"/>
            <a:ext cx="4572000" cy="369332"/>
          </a:xfrm>
          <a:prstGeom prst="rect">
            <a:avLst/>
          </a:prstGeom>
          <a:noFill/>
        </p:spPr>
        <p:txBody>
          <a:bodyPr wrap="square">
            <a:spAutoFit/>
          </a:bodyPr>
          <a:lstStyle/>
          <a:p>
            <a:pPr algn="l" fontAlgn="base"/>
            <a:r>
              <a:rPr lang="en-IN" b="0" i="0" dirty="0">
                <a:solidFill>
                  <a:srgbClr val="161616"/>
                </a:solidFill>
                <a:effectLst/>
                <a:latin typeface="IBM Plex Sans" panose="020B0503050203000203" pitchFamily="34" charset="0"/>
              </a:rPr>
              <a:t>Generator</a:t>
            </a:r>
          </a:p>
        </p:txBody>
      </p:sp>
      <p:sp>
        <p:nvSpPr>
          <p:cNvPr id="8" name="TextBox 7">
            <a:extLst>
              <a:ext uri="{FF2B5EF4-FFF2-40B4-BE49-F238E27FC236}">
                <a16:creationId xmlns:a16="http://schemas.microsoft.com/office/drawing/2014/main" id="{44F55093-7C32-093B-2FE7-179F774312BD}"/>
              </a:ext>
            </a:extLst>
          </p:cNvPr>
          <p:cNvSpPr txBox="1"/>
          <p:nvPr/>
        </p:nvSpPr>
        <p:spPr>
          <a:xfrm>
            <a:off x="0" y="674132"/>
            <a:ext cx="8915400" cy="5909310"/>
          </a:xfrm>
          <a:prstGeom prst="rect">
            <a:avLst/>
          </a:prstGeom>
          <a:noFill/>
        </p:spPr>
        <p:txBody>
          <a:bodyPr wrap="square">
            <a:spAutoFit/>
          </a:bodyPr>
          <a:lstStyle/>
          <a:p>
            <a:pPr algn="l" fontAlgn="base"/>
            <a:r>
              <a:rPr lang="en-US" b="0" i="0" dirty="0">
                <a:solidFill>
                  <a:srgbClr val="161616"/>
                </a:solidFill>
                <a:effectLst/>
                <a:latin typeface="IBM Plex Sans" panose="020B0503050203000203" pitchFamily="34" charset="0"/>
              </a:rPr>
              <a:t>For the generator, you can input random images (also known as noise). These random images can be anything, but might also be generated or augmented data. Through the generator, you generate a sample that hopefully ends up looking like it is part of the real data set if you train the generator and discriminator to both be good enough. The generator's output is sometimes referred to as the latent space or a latent vector.</a:t>
            </a: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To optimize the generator, you first must pass the output of the generator through the discriminator. Subsequently, you can backpropagate and calculate the errors of both the generator and the discriminator (to be covered in the next section).</a:t>
            </a:r>
          </a:p>
          <a:p>
            <a:pPr algn="l" fontAlgn="base"/>
            <a:r>
              <a:rPr lang="en-US" b="0" i="0" dirty="0">
                <a:solidFill>
                  <a:srgbClr val="161616"/>
                </a:solidFill>
                <a:effectLst/>
                <a:latin typeface="IBM Plex Sans" panose="020B0503050203000203" pitchFamily="34" charset="0"/>
              </a:rPr>
              <a:t>There are only a few components in the actual generator itself, all of which are typical components in convolutional neural networks. The type of convolution used in the generator is called a </a:t>
            </a:r>
            <a:r>
              <a:rPr lang="en-US" b="0" i="1" dirty="0">
                <a:solidFill>
                  <a:srgbClr val="161616"/>
                </a:solidFill>
                <a:effectLst/>
                <a:latin typeface="inherit"/>
              </a:rPr>
              <a:t>deconvolution,</a:t>
            </a:r>
            <a:r>
              <a:rPr lang="en-US" b="0" i="0" dirty="0">
                <a:solidFill>
                  <a:srgbClr val="161616"/>
                </a:solidFill>
                <a:effectLst/>
                <a:latin typeface="IBM Plex Sans" panose="020B0503050203000203" pitchFamily="34" charset="0"/>
              </a:rPr>
              <a:t> which is also known as a transposed convolution. Other components include the typical batch normalization and activation functions.</a:t>
            </a:r>
          </a:p>
          <a:p>
            <a:pPr algn="l" fontAlgn="base"/>
            <a:endParaRPr lang="en-US" b="0" i="0" dirty="0">
              <a:solidFill>
                <a:srgbClr val="161616"/>
              </a:solidFill>
              <a:effectLst/>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The way that the deconvolution is constructed and the way the parameters (stride, padding, and kernel size) are set for the individual deconvolutions make it possible to upscale and generate a new image that is supposed to resemble the input. </a:t>
            </a:r>
          </a:p>
        </p:txBody>
      </p:sp>
      <p:sp>
        <p:nvSpPr>
          <p:cNvPr id="5" name="Title 1">
            <a:extLst>
              <a:ext uri="{FF2B5EF4-FFF2-40B4-BE49-F238E27FC236}">
                <a16:creationId xmlns:a16="http://schemas.microsoft.com/office/drawing/2014/main" id="{7FF68492-D5C5-FA98-75D6-8D0D9A3CFA0D}"/>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A9239E48-F833-09C0-0290-E5116419B99C}"/>
              </a:ext>
            </a:extLst>
          </p:cNvPr>
          <p:cNvPicPr>
            <a:picLocks noChangeAspect="1" noChangeArrowheads="1"/>
          </p:cNvPicPr>
          <p:nvPr/>
        </p:nvPicPr>
        <p:blipFill>
          <a:blip r:embed="rId2"/>
          <a:srcRect/>
          <a:stretch>
            <a:fillRect/>
          </a:stretch>
        </p:blipFill>
        <p:spPr bwMode="auto">
          <a:xfrm>
            <a:off x="0" y="1"/>
            <a:ext cx="1447800" cy="369332"/>
          </a:xfrm>
          <a:prstGeom prst="rect">
            <a:avLst/>
          </a:prstGeom>
          <a:noFill/>
        </p:spPr>
      </p:pic>
    </p:spTree>
    <p:extLst>
      <p:ext uri="{BB962C8B-B14F-4D97-AF65-F5344CB8AC3E}">
        <p14:creationId xmlns:p14="http://schemas.microsoft.com/office/powerpoint/2010/main" val="32116419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8E680-0DEB-61AE-5F3A-0F377DDEEB2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E6E08975-D99D-9B9D-97E8-134BF0A08F95}"/>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92997D6F-653E-73FA-F971-C2AC76905288}"/>
              </a:ext>
            </a:extLst>
          </p:cNvPr>
          <p:cNvSpPr>
            <a:spLocks noGrp="1"/>
          </p:cNvSpPr>
          <p:nvPr>
            <p:ph type="sldNum" sz="quarter" idx="12"/>
          </p:nvPr>
        </p:nvSpPr>
        <p:spPr/>
        <p:txBody>
          <a:bodyPr/>
          <a:lstStyle/>
          <a:p>
            <a:fld id="{B6F15528-21DE-4FAA-801E-634DDDAF4B2B}" type="slidenum">
              <a:rPr lang="en-US" smtClean="0"/>
              <a:pPr/>
              <a:t>28</a:t>
            </a:fld>
            <a:endParaRPr lang="en-US"/>
          </a:p>
        </p:txBody>
      </p:sp>
      <p:pic>
        <p:nvPicPr>
          <p:cNvPr id="5" name="Picture 4">
            <a:extLst>
              <a:ext uri="{FF2B5EF4-FFF2-40B4-BE49-F238E27FC236}">
                <a16:creationId xmlns:a16="http://schemas.microsoft.com/office/drawing/2014/main" id="{1C2ADD80-CB65-15AC-4BA6-051A92357163}"/>
              </a:ext>
            </a:extLst>
          </p:cNvPr>
          <p:cNvPicPr>
            <a:picLocks noChangeAspect="1"/>
          </p:cNvPicPr>
          <p:nvPr/>
        </p:nvPicPr>
        <p:blipFill>
          <a:blip r:embed="rId2"/>
          <a:stretch>
            <a:fillRect/>
          </a:stretch>
        </p:blipFill>
        <p:spPr>
          <a:xfrm>
            <a:off x="0" y="685798"/>
            <a:ext cx="9144000" cy="6172201"/>
          </a:xfrm>
          <a:prstGeom prst="rect">
            <a:avLst/>
          </a:prstGeom>
        </p:spPr>
      </p:pic>
      <p:sp>
        <p:nvSpPr>
          <p:cNvPr id="6" name="Title 1">
            <a:extLst>
              <a:ext uri="{FF2B5EF4-FFF2-40B4-BE49-F238E27FC236}">
                <a16:creationId xmlns:a16="http://schemas.microsoft.com/office/drawing/2014/main" id="{26E69DC3-D826-ECD3-1375-93BD55B5360C}"/>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BEDE699B-BD8E-6D58-5A66-85CEB60F2FC7}"/>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19760357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19B94B5-8309-AC4A-24F5-A70D72590A1F}"/>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44B29722-9670-F4C3-DF8F-B8EAB02CBA06}"/>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58335A6C-7614-3D11-3605-B86AFA949368}"/>
              </a:ext>
            </a:extLst>
          </p:cNvPr>
          <p:cNvSpPr>
            <a:spLocks noGrp="1"/>
          </p:cNvSpPr>
          <p:nvPr>
            <p:ph type="sldNum" sz="quarter" idx="12"/>
          </p:nvPr>
        </p:nvSpPr>
        <p:spPr/>
        <p:txBody>
          <a:bodyPr/>
          <a:lstStyle/>
          <a:p>
            <a:fld id="{B6F15528-21DE-4FAA-801E-634DDDAF4B2B}" type="slidenum">
              <a:rPr lang="en-US" smtClean="0"/>
              <a:pPr/>
              <a:t>29</a:t>
            </a:fld>
            <a:endParaRPr lang="en-US"/>
          </a:p>
        </p:txBody>
      </p:sp>
      <p:sp>
        <p:nvSpPr>
          <p:cNvPr id="6" name="TextBox 5">
            <a:extLst>
              <a:ext uri="{FF2B5EF4-FFF2-40B4-BE49-F238E27FC236}">
                <a16:creationId xmlns:a16="http://schemas.microsoft.com/office/drawing/2014/main" id="{9F7BD5DD-B4D6-52F1-5A2E-B819ED4EE03C}"/>
              </a:ext>
            </a:extLst>
          </p:cNvPr>
          <p:cNvSpPr txBox="1"/>
          <p:nvPr/>
        </p:nvSpPr>
        <p:spPr>
          <a:xfrm rot="10800000" flipV="1">
            <a:off x="228600" y="597931"/>
            <a:ext cx="4495800" cy="369332"/>
          </a:xfrm>
          <a:prstGeom prst="rect">
            <a:avLst/>
          </a:prstGeom>
          <a:noFill/>
        </p:spPr>
        <p:txBody>
          <a:bodyPr wrap="square">
            <a:spAutoFit/>
          </a:bodyPr>
          <a:lstStyle/>
          <a:p>
            <a:pPr algn="l" fontAlgn="base"/>
            <a:r>
              <a:rPr lang="en-IN" b="0" i="0" dirty="0">
                <a:solidFill>
                  <a:srgbClr val="161616"/>
                </a:solidFill>
                <a:effectLst/>
                <a:latin typeface="IBM Plex Sans" panose="020B0503050203000203" pitchFamily="34" charset="0"/>
              </a:rPr>
              <a:t>Discriminator</a:t>
            </a:r>
          </a:p>
        </p:txBody>
      </p:sp>
      <p:sp>
        <p:nvSpPr>
          <p:cNvPr id="8" name="TextBox 7">
            <a:extLst>
              <a:ext uri="{FF2B5EF4-FFF2-40B4-BE49-F238E27FC236}">
                <a16:creationId xmlns:a16="http://schemas.microsoft.com/office/drawing/2014/main" id="{12EC2B07-305F-359E-D237-3CE6E3FA4692}"/>
              </a:ext>
            </a:extLst>
          </p:cNvPr>
          <p:cNvSpPr txBox="1"/>
          <p:nvPr/>
        </p:nvSpPr>
        <p:spPr>
          <a:xfrm>
            <a:off x="122853" y="1219200"/>
            <a:ext cx="8839200" cy="2585323"/>
          </a:xfrm>
          <a:prstGeom prst="rect">
            <a:avLst/>
          </a:prstGeom>
          <a:noFill/>
        </p:spPr>
        <p:txBody>
          <a:bodyPr wrap="square">
            <a:spAutoFit/>
          </a:bodyPr>
          <a:lstStyle/>
          <a:p>
            <a:pPr algn="l" fontAlgn="base"/>
            <a:r>
              <a:rPr lang="en-US" b="0" i="0" dirty="0">
                <a:solidFill>
                  <a:srgbClr val="161616"/>
                </a:solidFill>
                <a:effectLst/>
                <a:latin typeface="IBM Plex Sans" panose="020B0503050203000203" pitchFamily="34" charset="0"/>
              </a:rPr>
              <a:t>For the discriminator, you input the real images from the actual data set that you curated. In this instance, I chose the </a:t>
            </a:r>
            <a:r>
              <a:rPr lang="en-US" b="0" i="0" u="sng" dirty="0">
                <a:solidFill>
                  <a:srgbClr val="0F62FE"/>
                </a:solidFill>
                <a:effectLst/>
                <a:latin typeface="inherit"/>
                <a:hlinkClick r:id="rId3"/>
              </a:rPr>
              <a:t>MNIST data set</a:t>
            </a:r>
            <a:r>
              <a:rPr lang="en-US" b="0" i="0" dirty="0">
                <a:solidFill>
                  <a:srgbClr val="161616"/>
                </a:solidFill>
                <a:effectLst/>
                <a:latin typeface="IBM Plex Sans" panose="020B0503050203000203" pitchFamily="34" charset="0"/>
              </a:rPr>
              <a:t>, which is a large collection of handwritten digits. Additionally, you also input the output of the generator into the discriminator.</a:t>
            </a:r>
          </a:p>
          <a:p>
            <a:pPr algn="l" fontAlgn="base"/>
            <a:r>
              <a:rPr lang="en-US" b="0" i="0" dirty="0">
                <a:solidFill>
                  <a:srgbClr val="161616"/>
                </a:solidFill>
                <a:effectLst/>
                <a:latin typeface="IBM Plex Sans" panose="020B0503050203000203" pitchFamily="34" charset="0"/>
              </a:rPr>
              <a:t>The convolutional layer of the discriminator is the </a:t>
            </a:r>
            <a:r>
              <a:rPr lang="en-US" b="0" i="1" dirty="0">
                <a:solidFill>
                  <a:srgbClr val="161616"/>
                </a:solidFill>
                <a:effectLst/>
                <a:latin typeface="inherit"/>
              </a:rPr>
              <a:t>normal</a:t>
            </a:r>
            <a:r>
              <a:rPr lang="en-US" b="0" i="0" dirty="0">
                <a:solidFill>
                  <a:srgbClr val="161616"/>
                </a:solidFill>
                <a:effectLst/>
                <a:latin typeface="IBM Plex Sans" panose="020B0503050203000203" pitchFamily="34" charset="0"/>
              </a:rPr>
              <a:t> convolution that we're used to. The convolutions are parameterized to downscale the input that is suitable for classification. For the discriminator, you run both inputs through the model to receive an output that is judged by adding a fully connected layer and a sigmoid activation function at the end.</a:t>
            </a:r>
          </a:p>
        </p:txBody>
      </p:sp>
      <p:sp>
        <p:nvSpPr>
          <p:cNvPr id="5" name="Title 1">
            <a:extLst>
              <a:ext uri="{FF2B5EF4-FFF2-40B4-BE49-F238E27FC236}">
                <a16:creationId xmlns:a16="http://schemas.microsoft.com/office/drawing/2014/main" id="{9CFB210C-2384-608F-D0B4-52B46EA0CA49}"/>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05B1CC18-AA85-2A49-022F-6E7CDA6F7176}"/>
              </a:ext>
            </a:extLst>
          </p:cNvPr>
          <p:cNvPicPr>
            <a:picLocks noChangeAspect="1" noChangeArrowheads="1"/>
          </p:cNvPicPr>
          <p:nvPr/>
        </p:nvPicPr>
        <p:blipFill>
          <a:blip r:embed="rId4"/>
          <a:srcRect/>
          <a:stretch>
            <a:fillRect/>
          </a:stretch>
        </p:blipFill>
        <p:spPr bwMode="auto">
          <a:xfrm>
            <a:off x="0" y="1"/>
            <a:ext cx="1447800" cy="369332"/>
          </a:xfrm>
          <a:prstGeom prst="rect">
            <a:avLst/>
          </a:prstGeom>
          <a:noFill/>
        </p:spPr>
      </p:pic>
    </p:spTree>
    <p:extLst>
      <p:ext uri="{BB962C8B-B14F-4D97-AF65-F5344CB8AC3E}">
        <p14:creationId xmlns:p14="http://schemas.microsoft.com/office/powerpoint/2010/main" val="27534264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A5F5E0-6105-6F61-30D4-17E952A80E3F}"/>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7856E506-B438-DE11-146E-11BEFB88C7EE}"/>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EF102003-5325-3CE0-BCEE-618CB28520FB}"/>
              </a:ext>
            </a:extLst>
          </p:cNvPr>
          <p:cNvSpPr>
            <a:spLocks noGrp="1"/>
          </p:cNvSpPr>
          <p:nvPr>
            <p:ph type="sldNum" sz="quarter" idx="12"/>
          </p:nvPr>
        </p:nvSpPr>
        <p:spPr/>
        <p:txBody>
          <a:bodyPr/>
          <a:lstStyle/>
          <a:p>
            <a:fld id="{B6F15528-21DE-4FAA-801E-634DDDAF4B2B}" type="slidenum">
              <a:rPr lang="en-US" smtClean="0"/>
              <a:pPr/>
              <a:t>30</a:t>
            </a:fld>
            <a:endParaRPr lang="en-US"/>
          </a:p>
        </p:txBody>
      </p:sp>
      <p:pic>
        <p:nvPicPr>
          <p:cNvPr id="5" name="Picture 4">
            <a:extLst>
              <a:ext uri="{FF2B5EF4-FFF2-40B4-BE49-F238E27FC236}">
                <a16:creationId xmlns:a16="http://schemas.microsoft.com/office/drawing/2014/main" id="{66875739-5A30-96A9-8094-3212C050AF22}"/>
              </a:ext>
            </a:extLst>
          </p:cNvPr>
          <p:cNvPicPr>
            <a:picLocks noChangeAspect="1"/>
          </p:cNvPicPr>
          <p:nvPr/>
        </p:nvPicPr>
        <p:blipFill>
          <a:blip r:embed="rId2"/>
          <a:stretch>
            <a:fillRect/>
          </a:stretch>
        </p:blipFill>
        <p:spPr>
          <a:xfrm>
            <a:off x="0" y="743773"/>
            <a:ext cx="9144000" cy="5370453"/>
          </a:xfrm>
          <a:prstGeom prst="rect">
            <a:avLst/>
          </a:prstGeom>
        </p:spPr>
      </p:pic>
      <p:sp>
        <p:nvSpPr>
          <p:cNvPr id="6" name="Title 1">
            <a:extLst>
              <a:ext uri="{FF2B5EF4-FFF2-40B4-BE49-F238E27FC236}">
                <a16:creationId xmlns:a16="http://schemas.microsoft.com/office/drawing/2014/main" id="{AD25BB84-A51B-C1E0-9627-0D3C7E056AD3}"/>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16C32CFC-8451-029A-46DA-137DC6D98F81}"/>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41855564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4D7E20-8E23-A100-4B34-19F2C17FF30F}"/>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E42F90FD-DFAF-6551-8475-CE8652C037B8}"/>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F8F053DD-4580-7402-1087-FEFF0032F800}"/>
              </a:ext>
            </a:extLst>
          </p:cNvPr>
          <p:cNvSpPr>
            <a:spLocks noGrp="1"/>
          </p:cNvSpPr>
          <p:nvPr>
            <p:ph type="sldNum" sz="quarter" idx="12"/>
          </p:nvPr>
        </p:nvSpPr>
        <p:spPr/>
        <p:txBody>
          <a:bodyPr/>
          <a:lstStyle/>
          <a:p>
            <a:fld id="{B6F15528-21DE-4FAA-801E-634DDDAF4B2B}" type="slidenum">
              <a:rPr lang="en-US" smtClean="0"/>
              <a:pPr/>
              <a:t>31</a:t>
            </a:fld>
            <a:endParaRPr lang="en-US"/>
          </a:p>
        </p:txBody>
      </p:sp>
      <p:sp>
        <p:nvSpPr>
          <p:cNvPr id="6" name="TextBox 5">
            <a:extLst>
              <a:ext uri="{FF2B5EF4-FFF2-40B4-BE49-F238E27FC236}">
                <a16:creationId xmlns:a16="http://schemas.microsoft.com/office/drawing/2014/main" id="{C16A2999-F032-F6F4-30F0-7A91E6AB61A6}"/>
              </a:ext>
            </a:extLst>
          </p:cNvPr>
          <p:cNvSpPr txBox="1"/>
          <p:nvPr/>
        </p:nvSpPr>
        <p:spPr>
          <a:xfrm>
            <a:off x="76201" y="464707"/>
            <a:ext cx="4572000" cy="369332"/>
          </a:xfrm>
          <a:prstGeom prst="rect">
            <a:avLst/>
          </a:prstGeom>
          <a:noFill/>
        </p:spPr>
        <p:txBody>
          <a:bodyPr wrap="square">
            <a:spAutoFit/>
          </a:bodyPr>
          <a:lstStyle/>
          <a:p>
            <a:pPr algn="l" fontAlgn="base"/>
            <a:r>
              <a:rPr lang="en-IN" b="0" i="0" dirty="0">
                <a:solidFill>
                  <a:srgbClr val="161616"/>
                </a:solidFill>
                <a:effectLst/>
                <a:latin typeface="IBM Plex Sans" panose="020B0503050203000203" pitchFamily="34" charset="0"/>
              </a:rPr>
              <a:t>Optimization</a:t>
            </a:r>
          </a:p>
        </p:txBody>
      </p:sp>
      <p:sp>
        <p:nvSpPr>
          <p:cNvPr id="8" name="TextBox 7">
            <a:extLst>
              <a:ext uri="{FF2B5EF4-FFF2-40B4-BE49-F238E27FC236}">
                <a16:creationId xmlns:a16="http://schemas.microsoft.com/office/drawing/2014/main" id="{9CD1AA51-34B5-B02C-C721-F4506A26DE35}"/>
              </a:ext>
            </a:extLst>
          </p:cNvPr>
          <p:cNvSpPr txBox="1"/>
          <p:nvPr/>
        </p:nvSpPr>
        <p:spPr>
          <a:xfrm>
            <a:off x="1554" y="769938"/>
            <a:ext cx="9066245" cy="5632311"/>
          </a:xfrm>
          <a:prstGeom prst="rect">
            <a:avLst/>
          </a:prstGeom>
          <a:noFill/>
        </p:spPr>
        <p:txBody>
          <a:bodyPr wrap="square">
            <a:spAutoFit/>
          </a:bodyPr>
          <a:lstStyle/>
          <a:p>
            <a:pPr algn="l" fontAlgn="base"/>
            <a:r>
              <a:rPr lang="en-US" b="0" i="0" dirty="0">
                <a:solidFill>
                  <a:srgbClr val="161616"/>
                </a:solidFill>
                <a:effectLst/>
                <a:latin typeface="IBM Plex Sans" panose="020B0503050203000203" pitchFamily="34" charset="0"/>
              </a:rPr>
              <a:t>After the data is passed through both the generator and the discriminator model, the optimization with backpropagation begins like in all other networks.</a:t>
            </a:r>
          </a:p>
          <a:p>
            <a:pPr algn="l" fontAlgn="base"/>
            <a:endParaRPr lang="en-US" dirty="0">
              <a:solidFill>
                <a:srgbClr val="161616"/>
              </a:solidFill>
              <a:latin typeface="IBM Plex Sans" panose="020B0503050203000203" pitchFamily="34" charset="0"/>
            </a:endParaRP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Optimization is a tough subject in GANs because both models need to keep improving at a level pace for both models to become great. You want the generator to try to outsmart the discriminator by generating better fakes, but you also want the generator to make a correct classification of both the real and fake input so that the generator can keep getting better. Eventually, you reach a point of equilibrium when the generator outputs images that look real enough to be part of the original data set that you use to train the discriminator.</a:t>
            </a: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The equilibrium point is exactly when the discriminator is leaning 50% to both sides, meaning that both images could either be real or fake. This means that the generator model tries to minimize the probability that the discriminator will predict the generator's output as fake. On the other side, the discriminator tries to maximize the probability that it will correctly classify both real and fake images.</a:t>
            </a:r>
          </a:p>
        </p:txBody>
      </p:sp>
      <p:sp>
        <p:nvSpPr>
          <p:cNvPr id="5" name="Title 1">
            <a:extLst>
              <a:ext uri="{FF2B5EF4-FFF2-40B4-BE49-F238E27FC236}">
                <a16:creationId xmlns:a16="http://schemas.microsoft.com/office/drawing/2014/main" id="{CE58E310-A2E7-D44A-5819-C97CE64EA1D9}"/>
              </a:ext>
            </a:extLst>
          </p:cNvPr>
          <p:cNvSpPr txBox="1">
            <a:spLocks/>
          </p:cNvSpPr>
          <p:nvPr/>
        </p:nvSpPr>
        <p:spPr>
          <a:xfrm>
            <a:off x="1371600" y="-36426"/>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3C81D239-84ED-D829-ADA1-96B3E922D492}"/>
              </a:ext>
            </a:extLst>
          </p:cNvPr>
          <p:cNvPicPr>
            <a:picLocks noChangeAspect="1" noChangeArrowheads="1"/>
          </p:cNvPicPr>
          <p:nvPr/>
        </p:nvPicPr>
        <p:blipFill>
          <a:blip r:embed="rId2"/>
          <a:srcRect/>
          <a:stretch>
            <a:fillRect/>
          </a:stretch>
        </p:blipFill>
        <p:spPr bwMode="auto">
          <a:xfrm>
            <a:off x="0" y="0"/>
            <a:ext cx="1447800" cy="450711"/>
          </a:xfrm>
          <a:prstGeom prst="rect">
            <a:avLst/>
          </a:prstGeom>
          <a:noFill/>
        </p:spPr>
      </p:pic>
    </p:spTree>
    <p:extLst>
      <p:ext uri="{BB962C8B-B14F-4D97-AF65-F5344CB8AC3E}">
        <p14:creationId xmlns:p14="http://schemas.microsoft.com/office/powerpoint/2010/main" val="26324871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7D7085-DD8A-5E8A-D4AB-8A2EB9E211F3}"/>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3C91DA3D-9991-9B95-403D-D74B2754722C}"/>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6090CF86-3CF6-FBED-A66B-CCE803FC535D}"/>
              </a:ext>
            </a:extLst>
          </p:cNvPr>
          <p:cNvSpPr>
            <a:spLocks noGrp="1"/>
          </p:cNvSpPr>
          <p:nvPr>
            <p:ph type="sldNum" sz="quarter" idx="12"/>
          </p:nvPr>
        </p:nvSpPr>
        <p:spPr/>
        <p:txBody>
          <a:bodyPr/>
          <a:lstStyle/>
          <a:p>
            <a:fld id="{B6F15528-21DE-4FAA-801E-634DDDAF4B2B}" type="slidenum">
              <a:rPr lang="en-US" smtClean="0"/>
              <a:pPr/>
              <a:t>32</a:t>
            </a:fld>
            <a:endParaRPr lang="en-US"/>
          </a:p>
        </p:txBody>
      </p:sp>
      <p:sp>
        <p:nvSpPr>
          <p:cNvPr id="6" name="TextBox 5">
            <a:extLst>
              <a:ext uri="{FF2B5EF4-FFF2-40B4-BE49-F238E27FC236}">
                <a16:creationId xmlns:a16="http://schemas.microsoft.com/office/drawing/2014/main" id="{9FD23810-09E7-99B0-82FA-4D971CA8C15F}"/>
              </a:ext>
            </a:extLst>
          </p:cNvPr>
          <p:cNvSpPr txBox="1"/>
          <p:nvPr/>
        </p:nvSpPr>
        <p:spPr>
          <a:xfrm>
            <a:off x="228600" y="889844"/>
            <a:ext cx="8610600" cy="5632311"/>
          </a:xfrm>
          <a:prstGeom prst="rect">
            <a:avLst/>
          </a:prstGeom>
          <a:noFill/>
        </p:spPr>
        <p:txBody>
          <a:bodyPr wrap="square">
            <a:spAutoFit/>
          </a:bodyPr>
          <a:lstStyle/>
          <a:p>
            <a:pPr algn="l" fontAlgn="base"/>
            <a:r>
              <a:rPr lang="en-US" b="0" i="0" dirty="0">
                <a:solidFill>
                  <a:srgbClr val="161616"/>
                </a:solidFill>
                <a:effectLst/>
                <a:latin typeface="IBM Plex Sans" panose="020B0503050203000203" pitchFamily="34" charset="0"/>
              </a:rPr>
              <a:t>Use case review</a:t>
            </a: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You might ask, why are GANs so interesting? It's because they have endless possibilities and are only limited by what you can think of. GANs have many use cases, some of which I describe in the following sections.</a:t>
            </a:r>
          </a:p>
          <a:p>
            <a:pPr algn="l" fontAlgn="base"/>
            <a:endParaRPr lang="en-US" b="0" i="0" dirty="0">
              <a:solidFill>
                <a:srgbClr val="161616"/>
              </a:solidFill>
              <a:effectLst/>
              <a:latin typeface="IBM Plex Sans" panose="020B0503050203000203" pitchFamily="34" charset="0"/>
            </a:endParaRP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Data manipulation</a:t>
            </a:r>
          </a:p>
          <a:p>
            <a:pPr algn="l" fontAlgn="base"/>
            <a:r>
              <a:rPr lang="en-US" b="0" i="0" dirty="0">
                <a:solidFill>
                  <a:srgbClr val="161616"/>
                </a:solidFill>
                <a:effectLst/>
                <a:latin typeface="IBM Plex Sans" panose="020B0503050203000203" pitchFamily="34" charset="0"/>
              </a:rPr>
              <a:t>Today, you can easily manipulate images with all of the latest research. You can transfer the style from one image onto the wanted image, thus creating a new and manipulated image that looks real.</a:t>
            </a:r>
          </a:p>
          <a:p>
            <a:pPr algn="l" fontAlgn="base"/>
            <a:endParaRPr lang="en-US" dirty="0">
              <a:solidFill>
                <a:srgbClr val="161616"/>
              </a:solidFill>
              <a:latin typeface="IBM Plex Sans" panose="020B0503050203000203" pitchFamily="34" charset="0"/>
            </a:endParaRPr>
          </a:p>
          <a:p>
            <a:pPr algn="l" fontAlgn="base"/>
            <a:endParaRPr lang="en-US" dirty="0">
              <a:solidFill>
                <a:srgbClr val="161616"/>
              </a:solidFill>
              <a:latin typeface="IBM Plex Sans" panose="020B0503050203000203" pitchFamily="34" charset="0"/>
            </a:endParaRP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There are too many applications to mention, so I chose one simple example. In the following image, you see how a GAN application can manipulate any facial feature of an image of Ryan Gosling.</a:t>
            </a:r>
          </a:p>
        </p:txBody>
      </p:sp>
      <p:sp>
        <p:nvSpPr>
          <p:cNvPr id="5" name="Title 1">
            <a:extLst>
              <a:ext uri="{FF2B5EF4-FFF2-40B4-BE49-F238E27FC236}">
                <a16:creationId xmlns:a16="http://schemas.microsoft.com/office/drawing/2014/main" id="{354A1409-469A-5F80-34DF-98B00CDE32A1}"/>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AD684BF2-415E-EDFD-1923-5842915CD2B9}"/>
              </a:ext>
            </a:extLst>
          </p:cNvPr>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1917761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02D1C15-8005-F818-CAAE-30AFE6EDEBA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C7D7BD25-C469-2A8C-1CB5-459AAF288232}"/>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669AF5D9-0BA1-69A8-B073-19E9EBD345B5}"/>
              </a:ext>
            </a:extLst>
          </p:cNvPr>
          <p:cNvSpPr>
            <a:spLocks noGrp="1"/>
          </p:cNvSpPr>
          <p:nvPr>
            <p:ph type="sldNum" sz="quarter" idx="12"/>
          </p:nvPr>
        </p:nvSpPr>
        <p:spPr/>
        <p:txBody>
          <a:bodyPr/>
          <a:lstStyle/>
          <a:p>
            <a:fld id="{B6F15528-21DE-4FAA-801E-634DDDAF4B2B}" type="slidenum">
              <a:rPr lang="en-US" smtClean="0"/>
              <a:pPr/>
              <a:t>33</a:t>
            </a:fld>
            <a:endParaRPr lang="en-US"/>
          </a:p>
        </p:txBody>
      </p:sp>
      <p:pic>
        <p:nvPicPr>
          <p:cNvPr id="5" name="Picture 4">
            <a:extLst>
              <a:ext uri="{FF2B5EF4-FFF2-40B4-BE49-F238E27FC236}">
                <a16:creationId xmlns:a16="http://schemas.microsoft.com/office/drawing/2014/main" id="{E8604B35-46D6-B411-981B-D795054E41E4}"/>
              </a:ext>
            </a:extLst>
          </p:cNvPr>
          <p:cNvPicPr>
            <a:picLocks noChangeAspect="1"/>
          </p:cNvPicPr>
          <p:nvPr/>
        </p:nvPicPr>
        <p:blipFill>
          <a:blip r:embed="rId2"/>
          <a:stretch>
            <a:fillRect/>
          </a:stretch>
        </p:blipFill>
        <p:spPr>
          <a:xfrm>
            <a:off x="1" y="0"/>
            <a:ext cx="8704172" cy="6858000"/>
          </a:xfrm>
          <a:prstGeom prst="rect">
            <a:avLst/>
          </a:prstGeom>
        </p:spPr>
      </p:pic>
      <p:pic>
        <p:nvPicPr>
          <p:cNvPr id="6" name="Picture 2" descr="E:\NIET\Project\xLogo11.png.pagespeed.ic.pydHLuCQEZ.png">
            <a:extLst>
              <a:ext uri="{FF2B5EF4-FFF2-40B4-BE49-F238E27FC236}">
                <a16:creationId xmlns:a16="http://schemas.microsoft.com/office/drawing/2014/main" id="{FBDEBBAB-1357-AA4C-7A6F-A6114D72721F}"/>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39511744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3E78CB-9C42-8C92-1E8B-CA72AD852760}"/>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5863155D-3850-29F2-93FE-B664891C50B4}"/>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AE94F36F-2CEE-179B-E762-F3F3DF2426B6}"/>
              </a:ext>
            </a:extLst>
          </p:cNvPr>
          <p:cNvSpPr>
            <a:spLocks noGrp="1"/>
          </p:cNvSpPr>
          <p:nvPr>
            <p:ph type="sldNum" sz="quarter" idx="12"/>
          </p:nvPr>
        </p:nvSpPr>
        <p:spPr/>
        <p:txBody>
          <a:bodyPr/>
          <a:lstStyle/>
          <a:p>
            <a:fld id="{B6F15528-21DE-4FAA-801E-634DDDAF4B2B}" type="slidenum">
              <a:rPr lang="en-US" smtClean="0"/>
              <a:pPr/>
              <a:t>34</a:t>
            </a:fld>
            <a:endParaRPr lang="en-US"/>
          </a:p>
        </p:txBody>
      </p:sp>
      <p:sp>
        <p:nvSpPr>
          <p:cNvPr id="6" name="TextBox 5">
            <a:extLst>
              <a:ext uri="{FF2B5EF4-FFF2-40B4-BE49-F238E27FC236}">
                <a16:creationId xmlns:a16="http://schemas.microsoft.com/office/drawing/2014/main" id="{765106E3-019B-21A1-15BA-10FE3465A376}"/>
              </a:ext>
            </a:extLst>
          </p:cNvPr>
          <p:cNvSpPr txBox="1"/>
          <p:nvPr/>
        </p:nvSpPr>
        <p:spPr>
          <a:xfrm>
            <a:off x="152400" y="136524"/>
            <a:ext cx="4572000" cy="369332"/>
          </a:xfrm>
          <a:prstGeom prst="rect">
            <a:avLst/>
          </a:prstGeom>
          <a:noFill/>
        </p:spPr>
        <p:txBody>
          <a:bodyPr wrap="square">
            <a:spAutoFit/>
          </a:bodyPr>
          <a:lstStyle/>
          <a:p>
            <a:pPr algn="l" fontAlgn="base"/>
            <a:r>
              <a:rPr lang="en-IN" b="0" i="0" dirty="0">
                <a:solidFill>
                  <a:srgbClr val="161616"/>
                </a:solidFill>
                <a:effectLst/>
                <a:latin typeface="IBM Plex Sans" panose="020B0503050203000203" pitchFamily="34" charset="0"/>
              </a:rPr>
              <a:t>Security</a:t>
            </a:r>
          </a:p>
        </p:txBody>
      </p:sp>
      <p:sp>
        <p:nvSpPr>
          <p:cNvPr id="8" name="TextBox 7">
            <a:extLst>
              <a:ext uri="{FF2B5EF4-FFF2-40B4-BE49-F238E27FC236}">
                <a16:creationId xmlns:a16="http://schemas.microsoft.com/office/drawing/2014/main" id="{324BDF30-DEA6-0DC3-A987-254813E51867}"/>
              </a:ext>
            </a:extLst>
          </p:cNvPr>
          <p:cNvSpPr txBox="1"/>
          <p:nvPr/>
        </p:nvSpPr>
        <p:spPr>
          <a:xfrm>
            <a:off x="76200" y="914400"/>
            <a:ext cx="8915400" cy="5909310"/>
          </a:xfrm>
          <a:prstGeom prst="rect">
            <a:avLst/>
          </a:prstGeom>
          <a:noFill/>
        </p:spPr>
        <p:txBody>
          <a:bodyPr wrap="square">
            <a:spAutoFit/>
          </a:bodyPr>
          <a:lstStyle/>
          <a:p>
            <a:pPr algn="l" fontAlgn="base"/>
            <a:r>
              <a:rPr lang="en-US" b="0" i="0" dirty="0">
                <a:solidFill>
                  <a:srgbClr val="161616"/>
                </a:solidFill>
                <a:effectLst/>
                <a:latin typeface="IBM Plex Sans" panose="020B0503050203000203" pitchFamily="34" charset="0"/>
              </a:rPr>
              <a:t>Every day, the threat landscape is increasing as attackers develop sophisticated software and use social engineering to target organizations and individuals to steal valuable and sensitive information.</a:t>
            </a: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With modern GANs, you can mask employee photos, medical images, or street-view images, rendering them useless to any attacker. If you want to use the photos at any time, you just use your GAN again to map the masked image back to the original one.</a:t>
            </a:r>
          </a:p>
          <a:p>
            <a:pPr algn="l" fontAlgn="base"/>
            <a:r>
              <a:rPr lang="en-US" b="0" i="0" dirty="0">
                <a:solidFill>
                  <a:srgbClr val="161616"/>
                </a:solidFill>
                <a:effectLst/>
                <a:latin typeface="IBM Plex Sans" panose="020B0503050203000203" pitchFamily="34" charset="0"/>
              </a:rPr>
              <a:t>Before hiding the data, the sender sends an extractor and a restorer to the receiver.</a:t>
            </a: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dirty="0">
              <a:solidFill>
                <a:srgbClr val="161616"/>
              </a:solidFill>
              <a:latin typeface="IBM Plex Sans" panose="020B0503050203000203" pitchFamily="34" charset="0"/>
            </a:endParaRPr>
          </a:p>
          <a:p>
            <a:pPr algn="l" fontAlgn="base"/>
            <a:endParaRPr lang="en-US" dirty="0">
              <a:solidFill>
                <a:srgbClr val="161616"/>
              </a:solidFill>
              <a:latin typeface="IBM Plex Sans" panose="020B0503050203000203" pitchFamily="34" charset="0"/>
            </a:endParaRPr>
          </a:p>
          <a:p>
            <a:pPr algn="l" fontAlgn="base"/>
            <a:endParaRPr lang="en-US" dirty="0">
              <a:solidFill>
                <a:srgbClr val="161616"/>
              </a:solidFill>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 Both sides learn a mapping from secret data to noise. Corresponding to the traditional remote data handler methods, the image that is generated can be regarded as the cover image and marked image. Then, the sender sends the marked image to the receiver. At the receiver side, the recovered image can be obtained, and the embedded data can be extracted. </a:t>
            </a:r>
          </a:p>
        </p:txBody>
      </p:sp>
      <p:sp>
        <p:nvSpPr>
          <p:cNvPr id="5" name="Title 1">
            <a:extLst>
              <a:ext uri="{FF2B5EF4-FFF2-40B4-BE49-F238E27FC236}">
                <a16:creationId xmlns:a16="http://schemas.microsoft.com/office/drawing/2014/main" id="{F4EBCA79-225F-50E4-D45A-F7C0DC95BDB4}"/>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spTree>
    <p:extLst>
      <p:ext uri="{BB962C8B-B14F-4D97-AF65-F5344CB8AC3E}">
        <p14:creationId xmlns:p14="http://schemas.microsoft.com/office/powerpoint/2010/main" val="32070078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F14E80-18FC-05D2-3539-D987F2D538A9}"/>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ED0F9578-ECD4-47C8-C462-F746D07FB7B3}"/>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2D9E31C6-E92B-EA31-C9E4-DA63BE25E722}"/>
              </a:ext>
            </a:extLst>
          </p:cNvPr>
          <p:cNvSpPr>
            <a:spLocks noGrp="1"/>
          </p:cNvSpPr>
          <p:nvPr>
            <p:ph type="sldNum" sz="quarter" idx="12"/>
          </p:nvPr>
        </p:nvSpPr>
        <p:spPr/>
        <p:txBody>
          <a:bodyPr/>
          <a:lstStyle/>
          <a:p>
            <a:fld id="{B6F15528-21DE-4FAA-801E-634DDDAF4B2B}" type="slidenum">
              <a:rPr lang="en-US" smtClean="0"/>
              <a:pPr/>
              <a:t>35</a:t>
            </a:fld>
            <a:endParaRPr lang="en-US"/>
          </a:p>
        </p:txBody>
      </p:sp>
      <p:pic>
        <p:nvPicPr>
          <p:cNvPr id="5" name="Picture 4">
            <a:extLst>
              <a:ext uri="{FF2B5EF4-FFF2-40B4-BE49-F238E27FC236}">
                <a16:creationId xmlns:a16="http://schemas.microsoft.com/office/drawing/2014/main" id="{52974DC9-BADE-4168-F6D7-9A28CE588284}"/>
              </a:ext>
            </a:extLst>
          </p:cNvPr>
          <p:cNvPicPr>
            <a:picLocks noChangeAspect="1"/>
          </p:cNvPicPr>
          <p:nvPr/>
        </p:nvPicPr>
        <p:blipFill>
          <a:blip r:embed="rId2"/>
          <a:stretch>
            <a:fillRect/>
          </a:stretch>
        </p:blipFill>
        <p:spPr>
          <a:xfrm>
            <a:off x="0" y="1640887"/>
            <a:ext cx="9144000" cy="3576225"/>
          </a:xfrm>
          <a:prstGeom prst="rect">
            <a:avLst/>
          </a:prstGeom>
        </p:spPr>
      </p:pic>
      <p:sp>
        <p:nvSpPr>
          <p:cNvPr id="6" name="Title 1">
            <a:extLst>
              <a:ext uri="{FF2B5EF4-FFF2-40B4-BE49-F238E27FC236}">
                <a16:creationId xmlns:a16="http://schemas.microsoft.com/office/drawing/2014/main" id="{919EE6F4-0E79-585E-D2DD-D844F2EDAB56}"/>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C436A9B8-D1DF-3DBC-F192-DC2CA65F622C}"/>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40875880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DCE65B-E259-2AAA-246B-8BEC84FE104E}"/>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BACFDB65-5D07-F073-722D-1C0D997F9B51}"/>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80E2B8D8-81C8-35CC-2DE6-BD85FAD7B79B}"/>
              </a:ext>
            </a:extLst>
          </p:cNvPr>
          <p:cNvSpPr>
            <a:spLocks noGrp="1"/>
          </p:cNvSpPr>
          <p:nvPr>
            <p:ph type="sldNum" sz="quarter" idx="12"/>
          </p:nvPr>
        </p:nvSpPr>
        <p:spPr/>
        <p:txBody>
          <a:bodyPr/>
          <a:lstStyle/>
          <a:p>
            <a:fld id="{B6F15528-21DE-4FAA-801E-634DDDAF4B2B}" type="slidenum">
              <a:rPr lang="en-US" smtClean="0"/>
              <a:pPr/>
              <a:t>36</a:t>
            </a:fld>
            <a:endParaRPr lang="en-US"/>
          </a:p>
        </p:txBody>
      </p:sp>
      <p:sp>
        <p:nvSpPr>
          <p:cNvPr id="6" name="TextBox 5">
            <a:extLst>
              <a:ext uri="{FF2B5EF4-FFF2-40B4-BE49-F238E27FC236}">
                <a16:creationId xmlns:a16="http://schemas.microsoft.com/office/drawing/2014/main" id="{1171DE3B-DCA2-9AED-C06E-E646B3773F05}"/>
              </a:ext>
            </a:extLst>
          </p:cNvPr>
          <p:cNvSpPr txBox="1"/>
          <p:nvPr/>
        </p:nvSpPr>
        <p:spPr>
          <a:xfrm>
            <a:off x="76200" y="335846"/>
            <a:ext cx="8763000" cy="6186309"/>
          </a:xfrm>
          <a:prstGeom prst="rect">
            <a:avLst/>
          </a:prstGeom>
          <a:noFill/>
        </p:spPr>
        <p:txBody>
          <a:bodyPr wrap="square">
            <a:spAutoFit/>
          </a:bodyPr>
          <a:lstStyle/>
          <a:p>
            <a:pPr algn="l" fontAlgn="base"/>
            <a:r>
              <a:rPr lang="en-US" b="0" i="0" dirty="0">
                <a:solidFill>
                  <a:srgbClr val="161616"/>
                </a:solidFill>
                <a:effectLst/>
                <a:latin typeface="IBM Plex Sans" panose="020B0503050203000203" pitchFamily="34" charset="0"/>
              </a:rPr>
              <a:t>Data generation</a:t>
            </a: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Deep learning algorithms always need more data. In fact, it's so crucial that there are ways to generate extra data. As with all AI models, you use more data to improve the model that you want to train because that yields better performance in the end. In some cases, there is even a limited amount of data that can restrict you from training a good model.</a:t>
            </a: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The data generation use cases are endless. You can generate all different types of images or text. Earlier in my explanation of the generator and discriminator, you might also start to understand how you can use a properly trained generator to generate new samples of data for use in a real data set to train an entirely different model.</a:t>
            </a: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One of the latest examples includes OpenAI's DALL-E 2, a text-to-image generation model. </a:t>
            </a:r>
          </a:p>
        </p:txBody>
      </p:sp>
      <p:sp>
        <p:nvSpPr>
          <p:cNvPr id="5" name="Title 1">
            <a:extLst>
              <a:ext uri="{FF2B5EF4-FFF2-40B4-BE49-F238E27FC236}">
                <a16:creationId xmlns:a16="http://schemas.microsoft.com/office/drawing/2014/main" id="{F172273F-9238-9E4D-563F-EA1C7EBEF14B}"/>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spTree>
    <p:extLst>
      <p:ext uri="{BB962C8B-B14F-4D97-AF65-F5344CB8AC3E}">
        <p14:creationId xmlns:p14="http://schemas.microsoft.com/office/powerpoint/2010/main" val="2387517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0F97C71-E05D-F331-078E-F21EC0EFBEA7}"/>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93B0CDF7-EE1F-D337-3D9F-C88AAB7C29AF}"/>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447176BA-FBC7-BC19-4D95-B082A9AE50F4}"/>
              </a:ext>
            </a:extLst>
          </p:cNvPr>
          <p:cNvSpPr>
            <a:spLocks noGrp="1"/>
          </p:cNvSpPr>
          <p:nvPr>
            <p:ph type="sldNum" sz="quarter" idx="12"/>
          </p:nvPr>
        </p:nvSpPr>
        <p:spPr/>
        <p:txBody>
          <a:bodyPr/>
          <a:lstStyle/>
          <a:p>
            <a:fld id="{B6F15528-21DE-4FAA-801E-634DDDAF4B2B}" type="slidenum">
              <a:rPr lang="en-US" smtClean="0"/>
              <a:pPr/>
              <a:t>37</a:t>
            </a:fld>
            <a:endParaRPr lang="en-US"/>
          </a:p>
        </p:txBody>
      </p:sp>
      <p:pic>
        <p:nvPicPr>
          <p:cNvPr id="5" name="Picture 4">
            <a:extLst>
              <a:ext uri="{FF2B5EF4-FFF2-40B4-BE49-F238E27FC236}">
                <a16:creationId xmlns:a16="http://schemas.microsoft.com/office/drawing/2014/main" id="{0248A6E6-E670-B6A2-1F88-DEBE3E3F1F2A}"/>
              </a:ext>
            </a:extLst>
          </p:cNvPr>
          <p:cNvPicPr>
            <a:picLocks noChangeAspect="1"/>
          </p:cNvPicPr>
          <p:nvPr/>
        </p:nvPicPr>
        <p:blipFill>
          <a:blip r:embed="rId2"/>
          <a:stretch>
            <a:fillRect/>
          </a:stretch>
        </p:blipFill>
        <p:spPr>
          <a:xfrm>
            <a:off x="0" y="0"/>
            <a:ext cx="9144000" cy="6858000"/>
          </a:xfrm>
          <a:prstGeom prst="rect">
            <a:avLst/>
          </a:prstGeom>
        </p:spPr>
      </p:pic>
      <p:sp>
        <p:nvSpPr>
          <p:cNvPr id="6" name="Title 1">
            <a:extLst>
              <a:ext uri="{FF2B5EF4-FFF2-40B4-BE49-F238E27FC236}">
                <a16:creationId xmlns:a16="http://schemas.microsoft.com/office/drawing/2014/main" id="{F227A952-ED70-18B7-7E1A-892523F40A87}"/>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94C8FD34-344A-B4BE-F319-B2E3A0C9F9E7}"/>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11910967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4F195D-ADEF-104D-FAA7-08A16C260A2E}"/>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A68A9D2-BBA5-6265-F830-3A72DFC1DCB8}"/>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4F5C7220-1A0F-5FE5-F10C-7FBA87B07641}"/>
              </a:ext>
            </a:extLst>
          </p:cNvPr>
          <p:cNvSpPr>
            <a:spLocks noGrp="1"/>
          </p:cNvSpPr>
          <p:nvPr>
            <p:ph type="sldNum" sz="quarter" idx="12"/>
          </p:nvPr>
        </p:nvSpPr>
        <p:spPr/>
        <p:txBody>
          <a:bodyPr/>
          <a:lstStyle/>
          <a:p>
            <a:fld id="{B6F15528-21DE-4FAA-801E-634DDDAF4B2B}" type="slidenum">
              <a:rPr lang="en-US" smtClean="0"/>
              <a:pPr/>
              <a:t>38</a:t>
            </a:fld>
            <a:endParaRPr lang="en-US"/>
          </a:p>
        </p:txBody>
      </p:sp>
      <p:sp>
        <p:nvSpPr>
          <p:cNvPr id="6" name="TextBox 5">
            <a:extLst>
              <a:ext uri="{FF2B5EF4-FFF2-40B4-BE49-F238E27FC236}">
                <a16:creationId xmlns:a16="http://schemas.microsoft.com/office/drawing/2014/main" id="{E8BF9DAE-DEAF-9826-FEAA-2B49AA1AC65A}"/>
              </a:ext>
            </a:extLst>
          </p:cNvPr>
          <p:cNvSpPr txBox="1"/>
          <p:nvPr/>
        </p:nvSpPr>
        <p:spPr>
          <a:xfrm>
            <a:off x="0" y="474345"/>
            <a:ext cx="8515350" cy="6186309"/>
          </a:xfrm>
          <a:prstGeom prst="rect">
            <a:avLst/>
          </a:prstGeom>
          <a:noFill/>
        </p:spPr>
        <p:txBody>
          <a:bodyPr wrap="square">
            <a:spAutoFit/>
          </a:bodyPr>
          <a:lstStyle/>
          <a:p>
            <a:pPr algn="l" fontAlgn="base"/>
            <a:r>
              <a:rPr lang="en-US" b="0" i="0" dirty="0">
                <a:solidFill>
                  <a:srgbClr val="161616"/>
                </a:solidFill>
                <a:effectLst/>
                <a:latin typeface="IBM Plex Sans" panose="020B0503050203000203" pitchFamily="34" charset="0"/>
              </a:rPr>
              <a:t>Privacy</a:t>
            </a: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Data confidentiality is a huge subject when it comes to privacy, and there are many cases where you want to protect your data. One example is military applications, but consumers are also increasingly interested in their</a:t>
            </a: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dirty="0">
              <a:solidFill>
                <a:srgbClr val="161616"/>
              </a:solidFill>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 communication being protected by technology. However, cryptography schemes all have their limitations. As an example of ways to fix this, Google implemented their own GAN for cryptography.</a:t>
            </a: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The </a:t>
            </a:r>
            <a:r>
              <a:rPr lang="en-US" b="0" i="0" u="sng" dirty="0">
                <a:solidFill>
                  <a:srgbClr val="0F62FE"/>
                </a:solidFill>
                <a:effectLst/>
                <a:latin typeface="inherit"/>
                <a:hlinkClick r:id="rId2"/>
              </a:rPr>
              <a:t>Google GAN paper</a:t>
            </a:r>
            <a:r>
              <a:rPr lang="en-US" b="0" i="0" dirty="0">
                <a:solidFill>
                  <a:srgbClr val="161616"/>
                </a:solidFill>
                <a:effectLst/>
                <a:latin typeface="IBM Plex Sans" panose="020B0503050203000203" pitchFamily="34" charset="0"/>
              </a:rPr>
              <a:t> explains that "A classic scenario in security involves three parties: Alice, Bob, and Eve. Typically, Alice and Bob wish to communicate securely, and Eve wishes to eavesdrop on their communications. Thus, the desired security property is secrecy (not integrity), and the adversary is a “passive attacker” that can intercept communications. </a:t>
            </a:r>
          </a:p>
        </p:txBody>
      </p:sp>
      <p:sp>
        <p:nvSpPr>
          <p:cNvPr id="5" name="Title 1">
            <a:extLst>
              <a:ext uri="{FF2B5EF4-FFF2-40B4-BE49-F238E27FC236}">
                <a16:creationId xmlns:a16="http://schemas.microsoft.com/office/drawing/2014/main" id="{C5FE31F7-902D-1652-EFF3-B400F37B39AF}"/>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7" name="Picture 2" descr="E:\NIET\Project\xLogo11.png.pagespeed.ic.pydHLuCQEZ.png">
            <a:extLst>
              <a:ext uri="{FF2B5EF4-FFF2-40B4-BE49-F238E27FC236}">
                <a16:creationId xmlns:a16="http://schemas.microsoft.com/office/drawing/2014/main" id="{A22F8385-E53B-5B20-AC00-7334AFAEDA86}"/>
              </a:ext>
            </a:extLst>
          </p:cNvPr>
          <p:cNvPicPr>
            <a:picLocks noChangeAspect="1" noChangeArrowheads="1"/>
          </p:cNvPicPr>
          <p:nvPr/>
        </p:nvPicPr>
        <p:blipFill>
          <a:blip r:embed="rId3"/>
          <a:srcRect/>
          <a:stretch>
            <a:fillRect/>
          </a:stretch>
        </p:blipFill>
        <p:spPr bwMode="auto">
          <a:xfrm>
            <a:off x="0" y="0"/>
            <a:ext cx="1447800" cy="474345"/>
          </a:xfrm>
          <a:prstGeom prst="rect">
            <a:avLst/>
          </a:prstGeom>
          <a:noFill/>
        </p:spPr>
      </p:pic>
    </p:spTree>
    <p:extLst>
      <p:ext uri="{BB962C8B-B14F-4D97-AF65-F5344CB8AC3E}">
        <p14:creationId xmlns:p14="http://schemas.microsoft.com/office/powerpoint/2010/main" val="2255612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1D07E5-63BD-4D27-3058-26D4E06A1E14}"/>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3532E135-83AD-7E29-A805-CA4E03B20718}"/>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188A2998-3DCF-4D65-161C-65074EF8B60A}"/>
              </a:ext>
            </a:extLst>
          </p:cNvPr>
          <p:cNvSpPr>
            <a:spLocks noGrp="1"/>
          </p:cNvSpPr>
          <p:nvPr>
            <p:ph type="sldNum" sz="quarter" idx="12"/>
          </p:nvPr>
        </p:nvSpPr>
        <p:spPr/>
        <p:txBody>
          <a:bodyPr/>
          <a:lstStyle/>
          <a:p>
            <a:fld id="{B6F15528-21DE-4FAA-801E-634DDDAF4B2B}" type="slidenum">
              <a:rPr lang="en-US" smtClean="0"/>
              <a:pPr/>
              <a:t>39</a:t>
            </a:fld>
            <a:endParaRPr lang="en-US"/>
          </a:p>
        </p:txBody>
      </p:sp>
      <p:pic>
        <p:nvPicPr>
          <p:cNvPr id="5" name="Picture 4">
            <a:extLst>
              <a:ext uri="{FF2B5EF4-FFF2-40B4-BE49-F238E27FC236}">
                <a16:creationId xmlns:a16="http://schemas.microsoft.com/office/drawing/2014/main" id="{48C755B1-9C0F-CB97-E3DA-7FE373AA53B7}"/>
              </a:ext>
            </a:extLst>
          </p:cNvPr>
          <p:cNvPicPr>
            <a:picLocks noChangeAspect="1"/>
          </p:cNvPicPr>
          <p:nvPr/>
        </p:nvPicPr>
        <p:blipFill>
          <a:blip r:embed="rId2"/>
          <a:stretch>
            <a:fillRect/>
          </a:stretch>
        </p:blipFill>
        <p:spPr>
          <a:xfrm>
            <a:off x="152400" y="762000"/>
            <a:ext cx="8991600" cy="5959476"/>
          </a:xfrm>
          <a:prstGeom prst="rect">
            <a:avLst/>
          </a:prstGeom>
        </p:spPr>
      </p:pic>
      <p:sp>
        <p:nvSpPr>
          <p:cNvPr id="8" name="Title 1">
            <a:extLst>
              <a:ext uri="{FF2B5EF4-FFF2-40B4-BE49-F238E27FC236}">
                <a16:creationId xmlns:a16="http://schemas.microsoft.com/office/drawing/2014/main" id="{71B97FA8-74C9-F569-3314-0698EB4A6EE0}"/>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i="0" dirty="0">
                <a:solidFill>
                  <a:srgbClr val="090A0B"/>
                </a:solidFill>
                <a:effectLst/>
                <a:latin typeface="Arial" panose="020B0604020202020204" pitchFamily="34" charset="0"/>
              </a:rPr>
              <a:t>Generative Adversarial Networks (GANs)</a:t>
            </a:r>
            <a:r>
              <a:rPr kumimoji="0" lang="en-US" sz="2400" b="0" i="0" u="none" strike="noStrike" kern="1200" cap="none" spc="0" normalizeH="0" baseline="0" noProof="0" dirty="0">
                <a:ln>
                  <a:noFill/>
                </a:ln>
                <a:solidFill>
                  <a:schemeClr val="dk1"/>
                </a:solidFill>
                <a:effectLst/>
                <a:uLnTx/>
                <a:uFillTx/>
                <a:latin typeface="+mn-lt"/>
                <a:ea typeface="+mn-ea"/>
                <a:cs typeface="+mn-cs"/>
              </a:rPr>
              <a:t> </a:t>
            </a:r>
          </a:p>
        </p:txBody>
      </p:sp>
      <p:pic>
        <p:nvPicPr>
          <p:cNvPr id="6" name="Picture 2" descr="E:\NIET\Project\xLogo11.png.pagespeed.ic.pydHLuCQEZ.png">
            <a:extLst>
              <a:ext uri="{FF2B5EF4-FFF2-40B4-BE49-F238E27FC236}">
                <a16:creationId xmlns:a16="http://schemas.microsoft.com/office/drawing/2014/main" id="{B10172CA-B2D1-91CA-BD89-3948E1DD1B34}"/>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10840984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092200"/>
            <a:ext cx="2627313" cy="330200"/>
          </a:xfrm>
          <a:prstGeom prst="rect">
            <a:avLst/>
          </a:prstGeom>
        </p:spPr>
        <p:txBody>
          <a:bodyPr vert="horz" wrap="square" lIns="0" tIns="12700" rIns="0" bIns="0" rtlCol="0">
            <a:spAutoFit/>
          </a:bodyPr>
          <a:lstStyle/>
          <a:p>
            <a:pPr marL="12700">
              <a:spcBef>
                <a:spcPts val="100"/>
              </a:spcBef>
            </a:pPr>
            <a:r>
              <a:rPr spc="-5" dirty="0"/>
              <a:t>Supervised</a:t>
            </a:r>
            <a:r>
              <a:rPr spc="-85" dirty="0"/>
              <a:t> </a:t>
            </a:r>
            <a:r>
              <a:rPr spc="-5" dirty="0"/>
              <a:t>Learning</a:t>
            </a:r>
          </a:p>
        </p:txBody>
      </p:sp>
      <p:sp>
        <p:nvSpPr>
          <p:cNvPr id="3" name="object 3"/>
          <p:cNvSpPr txBox="1"/>
          <p:nvPr/>
        </p:nvSpPr>
        <p:spPr>
          <a:xfrm>
            <a:off x="431800" y="2201100"/>
            <a:ext cx="2992120" cy="614680"/>
          </a:xfrm>
          <a:prstGeom prst="rect">
            <a:avLst/>
          </a:prstGeom>
        </p:spPr>
        <p:txBody>
          <a:bodyPr vert="horz" wrap="square" lIns="0" tIns="12700" rIns="0" bIns="0" rtlCol="0">
            <a:spAutoFit/>
          </a:bodyPr>
          <a:lstStyle/>
          <a:p>
            <a:pPr marL="12700">
              <a:spcBef>
                <a:spcPts val="100"/>
              </a:spcBef>
            </a:pPr>
            <a:r>
              <a:rPr sz="1400" b="1" spc="-5" dirty="0">
                <a:solidFill>
                  <a:srgbClr val="313131"/>
                </a:solidFill>
                <a:latin typeface="Verdana"/>
                <a:cs typeface="Verdana"/>
              </a:rPr>
              <a:t>Supervised</a:t>
            </a:r>
            <a:r>
              <a:rPr sz="1400" b="1" spc="-55" dirty="0">
                <a:solidFill>
                  <a:srgbClr val="313131"/>
                </a:solidFill>
                <a:latin typeface="Verdana"/>
                <a:cs typeface="Verdana"/>
              </a:rPr>
              <a:t> </a:t>
            </a:r>
            <a:r>
              <a:rPr sz="1400" b="1" spc="-5" dirty="0">
                <a:solidFill>
                  <a:srgbClr val="313131"/>
                </a:solidFill>
                <a:latin typeface="Verdana"/>
                <a:cs typeface="Verdana"/>
              </a:rPr>
              <a:t>Learning</a:t>
            </a:r>
            <a:endParaRPr sz="1400">
              <a:solidFill>
                <a:prstClr val="black"/>
              </a:solidFill>
              <a:latin typeface="Verdana"/>
              <a:cs typeface="Verdana"/>
            </a:endParaRPr>
          </a:p>
          <a:p>
            <a:pPr marL="12700">
              <a:spcBef>
                <a:spcPts val="1520"/>
              </a:spcBef>
            </a:pPr>
            <a:r>
              <a:rPr sz="1200" b="1" spc="-5" dirty="0">
                <a:solidFill>
                  <a:srgbClr val="313131"/>
                </a:solidFill>
                <a:latin typeface="Verdana"/>
                <a:cs typeface="Verdana"/>
              </a:rPr>
              <a:t>Data:</a:t>
            </a:r>
            <a:r>
              <a:rPr sz="1200" b="1" spc="55" dirty="0">
                <a:solidFill>
                  <a:srgbClr val="313131"/>
                </a:solidFill>
                <a:latin typeface="Verdana"/>
                <a:cs typeface="Verdana"/>
              </a:rPr>
              <a:t> </a:t>
            </a:r>
            <a:r>
              <a:rPr sz="1200" spc="-5" dirty="0">
                <a:solidFill>
                  <a:srgbClr val="313131"/>
                </a:solidFill>
                <a:latin typeface="Verdana"/>
                <a:cs typeface="Verdana"/>
              </a:rPr>
              <a:t>(x,</a:t>
            </a:r>
            <a:r>
              <a:rPr sz="1200" spc="-10" dirty="0">
                <a:solidFill>
                  <a:srgbClr val="313131"/>
                </a:solidFill>
                <a:latin typeface="Verdana"/>
                <a:cs typeface="Verdana"/>
              </a:rPr>
              <a:t> </a:t>
            </a:r>
            <a:r>
              <a:rPr sz="1200" spc="-5" dirty="0">
                <a:solidFill>
                  <a:srgbClr val="313131"/>
                </a:solidFill>
                <a:latin typeface="Verdana"/>
                <a:cs typeface="Verdana"/>
              </a:rPr>
              <a:t>y)</a:t>
            </a:r>
            <a:r>
              <a:rPr sz="1200" spc="-15" dirty="0">
                <a:solidFill>
                  <a:srgbClr val="313131"/>
                </a:solidFill>
                <a:latin typeface="Verdana"/>
                <a:cs typeface="Verdana"/>
              </a:rPr>
              <a:t> </a:t>
            </a:r>
            <a:r>
              <a:rPr sz="1200" spc="-5" dirty="0">
                <a:solidFill>
                  <a:srgbClr val="313131"/>
                </a:solidFill>
                <a:latin typeface="Verdana"/>
                <a:cs typeface="Verdana"/>
              </a:rPr>
              <a:t>where</a:t>
            </a:r>
            <a:r>
              <a:rPr sz="1200" spc="-10" dirty="0">
                <a:solidFill>
                  <a:srgbClr val="313131"/>
                </a:solidFill>
                <a:latin typeface="Verdana"/>
                <a:cs typeface="Verdana"/>
              </a:rPr>
              <a:t> </a:t>
            </a:r>
            <a:r>
              <a:rPr sz="1200" dirty="0">
                <a:solidFill>
                  <a:srgbClr val="313131"/>
                </a:solidFill>
                <a:latin typeface="Verdana"/>
                <a:cs typeface="Verdana"/>
              </a:rPr>
              <a:t>x</a:t>
            </a:r>
            <a:r>
              <a:rPr sz="1200" spc="-10" dirty="0">
                <a:solidFill>
                  <a:srgbClr val="313131"/>
                </a:solidFill>
                <a:latin typeface="Verdana"/>
                <a:cs typeface="Verdana"/>
              </a:rPr>
              <a:t> </a:t>
            </a:r>
            <a:r>
              <a:rPr sz="1200" spc="-5" dirty="0">
                <a:solidFill>
                  <a:srgbClr val="313131"/>
                </a:solidFill>
                <a:latin typeface="Verdana"/>
                <a:cs typeface="Verdana"/>
              </a:rPr>
              <a:t>is</a:t>
            </a:r>
            <a:r>
              <a:rPr sz="1200" spc="-15" dirty="0">
                <a:solidFill>
                  <a:srgbClr val="313131"/>
                </a:solidFill>
                <a:latin typeface="Verdana"/>
                <a:cs typeface="Verdana"/>
              </a:rPr>
              <a:t> </a:t>
            </a:r>
            <a:r>
              <a:rPr sz="1200" spc="-5" dirty="0">
                <a:solidFill>
                  <a:srgbClr val="313131"/>
                </a:solidFill>
                <a:latin typeface="Verdana"/>
                <a:cs typeface="Verdana"/>
              </a:rPr>
              <a:t>data,</a:t>
            </a:r>
            <a:r>
              <a:rPr sz="1200" spc="-10" dirty="0">
                <a:solidFill>
                  <a:srgbClr val="313131"/>
                </a:solidFill>
                <a:latin typeface="Verdana"/>
                <a:cs typeface="Verdana"/>
              </a:rPr>
              <a:t> </a:t>
            </a:r>
            <a:r>
              <a:rPr sz="1200" dirty="0">
                <a:solidFill>
                  <a:srgbClr val="313131"/>
                </a:solidFill>
                <a:latin typeface="Verdana"/>
                <a:cs typeface="Verdana"/>
              </a:rPr>
              <a:t>y</a:t>
            </a:r>
            <a:r>
              <a:rPr sz="1200" spc="-10" dirty="0">
                <a:solidFill>
                  <a:srgbClr val="313131"/>
                </a:solidFill>
                <a:latin typeface="Verdana"/>
                <a:cs typeface="Verdana"/>
              </a:rPr>
              <a:t> </a:t>
            </a:r>
            <a:r>
              <a:rPr sz="1200" spc="-5" dirty="0">
                <a:solidFill>
                  <a:srgbClr val="313131"/>
                </a:solidFill>
                <a:latin typeface="Verdana"/>
                <a:cs typeface="Verdana"/>
              </a:rPr>
              <a:t>is</a:t>
            </a:r>
            <a:r>
              <a:rPr sz="1200" spc="-15" dirty="0">
                <a:solidFill>
                  <a:srgbClr val="313131"/>
                </a:solidFill>
                <a:latin typeface="Verdana"/>
                <a:cs typeface="Verdana"/>
              </a:rPr>
              <a:t> </a:t>
            </a:r>
            <a:r>
              <a:rPr sz="1200" spc="-5" dirty="0">
                <a:solidFill>
                  <a:srgbClr val="313131"/>
                </a:solidFill>
                <a:latin typeface="Verdana"/>
                <a:cs typeface="Verdana"/>
              </a:rPr>
              <a:t>label</a:t>
            </a:r>
            <a:endParaRPr sz="1200">
              <a:solidFill>
                <a:prstClr val="black"/>
              </a:solidFill>
              <a:latin typeface="Verdana"/>
              <a:cs typeface="Verdana"/>
            </a:endParaRPr>
          </a:p>
        </p:txBody>
      </p:sp>
      <p:sp>
        <p:nvSpPr>
          <p:cNvPr id="4" name="object 4"/>
          <p:cNvSpPr txBox="1"/>
          <p:nvPr/>
        </p:nvSpPr>
        <p:spPr>
          <a:xfrm>
            <a:off x="431800" y="3344101"/>
            <a:ext cx="2863850" cy="228268"/>
          </a:xfrm>
          <a:prstGeom prst="rect">
            <a:avLst/>
          </a:prstGeom>
        </p:spPr>
        <p:txBody>
          <a:bodyPr vert="horz" wrap="square" lIns="0" tIns="12700" rIns="0" bIns="0" rtlCol="0">
            <a:spAutoFit/>
          </a:bodyPr>
          <a:lstStyle/>
          <a:p>
            <a:pPr marL="12700">
              <a:spcBef>
                <a:spcPts val="100"/>
              </a:spcBef>
            </a:pPr>
            <a:r>
              <a:rPr sz="1200" b="1" spc="-5" dirty="0">
                <a:solidFill>
                  <a:srgbClr val="313131"/>
                </a:solidFill>
                <a:latin typeface="Verdana"/>
                <a:cs typeface="Verdana"/>
              </a:rPr>
              <a:t>Goal:</a:t>
            </a:r>
            <a:r>
              <a:rPr sz="1200" b="1" spc="-10" dirty="0">
                <a:solidFill>
                  <a:srgbClr val="313131"/>
                </a:solidFill>
                <a:latin typeface="Verdana"/>
                <a:cs typeface="Verdana"/>
              </a:rPr>
              <a:t> </a:t>
            </a:r>
            <a:r>
              <a:rPr sz="1200" spc="-5" dirty="0">
                <a:solidFill>
                  <a:srgbClr val="313131"/>
                </a:solidFill>
                <a:latin typeface="Verdana"/>
                <a:cs typeface="Verdana"/>
              </a:rPr>
              <a:t>Learn</a:t>
            </a:r>
            <a:r>
              <a:rPr sz="1200" spc="-15" dirty="0">
                <a:solidFill>
                  <a:srgbClr val="313131"/>
                </a:solidFill>
                <a:latin typeface="Verdana"/>
                <a:cs typeface="Verdana"/>
              </a:rPr>
              <a:t> </a:t>
            </a:r>
            <a:r>
              <a:rPr sz="1200" dirty="0">
                <a:solidFill>
                  <a:srgbClr val="313131"/>
                </a:solidFill>
                <a:latin typeface="Verdana"/>
                <a:cs typeface="Verdana"/>
              </a:rPr>
              <a:t>a</a:t>
            </a:r>
            <a:r>
              <a:rPr sz="1200" spc="-15" dirty="0">
                <a:solidFill>
                  <a:srgbClr val="313131"/>
                </a:solidFill>
                <a:latin typeface="Verdana"/>
                <a:cs typeface="Verdana"/>
              </a:rPr>
              <a:t> </a:t>
            </a:r>
            <a:r>
              <a:rPr sz="1200" spc="-5" dirty="0">
                <a:solidFill>
                  <a:srgbClr val="313131"/>
                </a:solidFill>
                <a:latin typeface="Verdana"/>
                <a:cs typeface="Verdana"/>
              </a:rPr>
              <a:t>function</a:t>
            </a:r>
            <a:r>
              <a:rPr sz="1200" spc="-15" dirty="0">
                <a:solidFill>
                  <a:srgbClr val="313131"/>
                </a:solidFill>
                <a:latin typeface="Verdana"/>
                <a:cs typeface="Verdana"/>
              </a:rPr>
              <a:t> </a:t>
            </a:r>
            <a:r>
              <a:rPr sz="1200" spc="-5" dirty="0">
                <a:solidFill>
                  <a:srgbClr val="313131"/>
                </a:solidFill>
                <a:latin typeface="Verdana"/>
                <a:cs typeface="Verdana"/>
              </a:rPr>
              <a:t>to</a:t>
            </a:r>
            <a:r>
              <a:rPr sz="1200" spc="-15" dirty="0">
                <a:solidFill>
                  <a:srgbClr val="313131"/>
                </a:solidFill>
                <a:latin typeface="Verdana"/>
                <a:cs typeface="Verdana"/>
              </a:rPr>
              <a:t> </a:t>
            </a:r>
            <a:r>
              <a:rPr sz="1200" spc="-5" dirty="0">
                <a:solidFill>
                  <a:srgbClr val="313131"/>
                </a:solidFill>
                <a:latin typeface="Verdana"/>
                <a:cs typeface="Verdana"/>
              </a:rPr>
              <a:t>map</a:t>
            </a:r>
            <a:r>
              <a:rPr sz="1200" spc="15" dirty="0">
                <a:solidFill>
                  <a:srgbClr val="313131"/>
                </a:solidFill>
                <a:latin typeface="Verdana"/>
                <a:cs typeface="Verdana"/>
              </a:rPr>
              <a:t> </a:t>
            </a:r>
            <a:r>
              <a:rPr sz="1400" spc="-5" dirty="0">
                <a:solidFill>
                  <a:srgbClr val="313131"/>
                </a:solidFill>
                <a:latin typeface="Verdana"/>
                <a:cs typeface="Verdana"/>
              </a:rPr>
              <a:t>x</a:t>
            </a:r>
            <a:r>
              <a:rPr sz="1400" spc="-5" dirty="0">
                <a:solidFill>
                  <a:srgbClr val="313131"/>
                </a:solidFill>
                <a:latin typeface="Arial MT"/>
                <a:cs typeface="Arial MT"/>
              </a:rPr>
              <a:t>→</a:t>
            </a:r>
            <a:r>
              <a:rPr sz="1400" spc="90" dirty="0">
                <a:solidFill>
                  <a:srgbClr val="313131"/>
                </a:solidFill>
                <a:latin typeface="Arial MT"/>
                <a:cs typeface="Arial MT"/>
              </a:rPr>
              <a:t> </a:t>
            </a:r>
            <a:r>
              <a:rPr sz="1400" dirty="0">
                <a:solidFill>
                  <a:srgbClr val="313131"/>
                </a:solidFill>
                <a:latin typeface="Verdana"/>
                <a:cs typeface="Verdana"/>
              </a:rPr>
              <a:t>y</a:t>
            </a:r>
            <a:endParaRPr sz="1400">
              <a:solidFill>
                <a:prstClr val="black"/>
              </a:solidFill>
              <a:latin typeface="Verdana"/>
              <a:cs typeface="Verdana"/>
            </a:endParaRPr>
          </a:p>
        </p:txBody>
      </p:sp>
      <p:sp>
        <p:nvSpPr>
          <p:cNvPr id="5" name="object 5"/>
          <p:cNvSpPr txBox="1"/>
          <p:nvPr/>
        </p:nvSpPr>
        <p:spPr>
          <a:xfrm>
            <a:off x="431801" y="4106101"/>
            <a:ext cx="3559175" cy="590550"/>
          </a:xfrm>
          <a:prstGeom prst="rect">
            <a:avLst/>
          </a:prstGeom>
        </p:spPr>
        <p:txBody>
          <a:bodyPr vert="horz" wrap="square" lIns="0" tIns="12700" rIns="0" bIns="0" rtlCol="0">
            <a:spAutoFit/>
          </a:bodyPr>
          <a:lstStyle/>
          <a:p>
            <a:pPr marL="12700">
              <a:spcBef>
                <a:spcPts val="100"/>
              </a:spcBef>
            </a:pPr>
            <a:r>
              <a:rPr sz="1200" b="1" spc="-5" dirty="0">
                <a:solidFill>
                  <a:srgbClr val="313131"/>
                </a:solidFill>
                <a:latin typeface="Verdana"/>
                <a:cs typeface="Verdana"/>
              </a:rPr>
              <a:t>Examples:</a:t>
            </a:r>
            <a:r>
              <a:rPr sz="1200" b="1" spc="-25" dirty="0">
                <a:solidFill>
                  <a:srgbClr val="313131"/>
                </a:solidFill>
                <a:latin typeface="Verdana"/>
                <a:cs typeface="Verdana"/>
              </a:rPr>
              <a:t> </a:t>
            </a:r>
            <a:r>
              <a:rPr sz="1200" b="1" u="heavy" spc="-5" dirty="0">
                <a:solidFill>
                  <a:srgbClr val="313131"/>
                </a:solidFill>
                <a:uFill>
                  <a:solidFill>
                    <a:srgbClr val="313131"/>
                  </a:solidFill>
                </a:uFill>
                <a:latin typeface="Verdana"/>
                <a:cs typeface="Verdana"/>
              </a:rPr>
              <a:t>Classification</a:t>
            </a:r>
            <a:r>
              <a:rPr sz="1400" spc="-5" dirty="0">
                <a:solidFill>
                  <a:srgbClr val="313131"/>
                </a:solidFill>
                <a:latin typeface="Verdana"/>
                <a:cs typeface="Verdana"/>
              </a:rPr>
              <a:t>,</a:t>
            </a:r>
            <a:r>
              <a:rPr sz="1400" spc="-25" dirty="0">
                <a:solidFill>
                  <a:srgbClr val="313131"/>
                </a:solidFill>
                <a:latin typeface="Verdana"/>
                <a:cs typeface="Verdana"/>
              </a:rPr>
              <a:t> </a:t>
            </a:r>
            <a:r>
              <a:rPr sz="1200" spc="-5" dirty="0">
                <a:solidFill>
                  <a:srgbClr val="313131"/>
                </a:solidFill>
                <a:latin typeface="Verdana"/>
                <a:cs typeface="Verdana"/>
              </a:rPr>
              <a:t>Object</a:t>
            </a:r>
            <a:r>
              <a:rPr sz="1200" spc="-25" dirty="0">
                <a:solidFill>
                  <a:srgbClr val="313131"/>
                </a:solidFill>
                <a:latin typeface="Verdana"/>
                <a:cs typeface="Verdana"/>
              </a:rPr>
              <a:t> </a:t>
            </a:r>
            <a:r>
              <a:rPr sz="1200" spc="-5" dirty="0">
                <a:solidFill>
                  <a:srgbClr val="313131"/>
                </a:solidFill>
                <a:latin typeface="Verdana"/>
                <a:cs typeface="Verdana"/>
              </a:rPr>
              <a:t>Detection,</a:t>
            </a:r>
            <a:endParaRPr sz="1200">
              <a:solidFill>
                <a:prstClr val="black"/>
              </a:solidFill>
              <a:latin typeface="Verdana"/>
              <a:cs typeface="Verdana"/>
            </a:endParaRPr>
          </a:p>
          <a:p>
            <a:pPr marL="12700">
              <a:spcBef>
                <a:spcPts val="1325"/>
              </a:spcBef>
            </a:pPr>
            <a:r>
              <a:rPr sz="1200" spc="-5" dirty="0">
                <a:solidFill>
                  <a:srgbClr val="313131"/>
                </a:solidFill>
                <a:latin typeface="Verdana"/>
                <a:cs typeface="Verdana"/>
              </a:rPr>
              <a:t>Semantic</a:t>
            </a:r>
            <a:r>
              <a:rPr sz="1200" spc="-30" dirty="0">
                <a:solidFill>
                  <a:srgbClr val="313131"/>
                </a:solidFill>
                <a:latin typeface="Verdana"/>
                <a:cs typeface="Verdana"/>
              </a:rPr>
              <a:t> </a:t>
            </a:r>
            <a:r>
              <a:rPr sz="1200" spc="-5" dirty="0">
                <a:solidFill>
                  <a:srgbClr val="313131"/>
                </a:solidFill>
                <a:latin typeface="Verdana"/>
                <a:cs typeface="Verdana"/>
              </a:rPr>
              <a:t>segmentation,</a:t>
            </a:r>
            <a:r>
              <a:rPr sz="1200" spc="-25" dirty="0">
                <a:solidFill>
                  <a:srgbClr val="313131"/>
                </a:solidFill>
                <a:latin typeface="Verdana"/>
                <a:cs typeface="Verdana"/>
              </a:rPr>
              <a:t> </a:t>
            </a:r>
            <a:r>
              <a:rPr sz="1200" spc="-5" dirty="0">
                <a:solidFill>
                  <a:srgbClr val="313131"/>
                </a:solidFill>
                <a:latin typeface="Verdana"/>
                <a:cs typeface="Verdana"/>
              </a:rPr>
              <a:t>Image</a:t>
            </a:r>
            <a:r>
              <a:rPr sz="1200" spc="-25" dirty="0">
                <a:solidFill>
                  <a:srgbClr val="313131"/>
                </a:solidFill>
                <a:latin typeface="Verdana"/>
                <a:cs typeface="Verdana"/>
              </a:rPr>
              <a:t> </a:t>
            </a:r>
            <a:r>
              <a:rPr sz="1200" spc="-5" dirty="0">
                <a:solidFill>
                  <a:srgbClr val="313131"/>
                </a:solidFill>
                <a:latin typeface="Verdana"/>
                <a:cs typeface="Verdana"/>
              </a:rPr>
              <a:t>captioning</a:t>
            </a:r>
            <a:endParaRPr sz="1200">
              <a:solidFill>
                <a:prstClr val="black"/>
              </a:solidFill>
              <a:latin typeface="Verdana"/>
              <a:cs typeface="Verdana"/>
            </a:endParaRPr>
          </a:p>
        </p:txBody>
      </p:sp>
      <p:sp>
        <p:nvSpPr>
          <p:cNvPr id="6" name="object 6"/>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7" name="object 7"/>
          <p:cNvPicPr/>
          <p:nvPr/>
        </p:nvPicPr>
        <p:blipFill>
          <a:blip r:embed="rId2" cstate="print"/>
          <a:stretch>
            <a:fillRect/>
          </a:stretch>
        </p:blipFill>
        <p:spPr>
          <a:xfrm>
            <a:off x="4438092" y="2226897"/>
            <a:ext cx="3598396" cy="2538403"/>
          </a:xfrm>
          <a:prstGeom prst="rect">
            <a:avLst/>
          </a:prstGeom>
        </p:spPr>
      </p:pic>
      <p:sp>
        <p:nvSpPr>
          <p:cNvPr id="10" name="object 10"/>
          <p:cNvSpPr txBox="1"/>
          <p:nvPr/>
        </p:nvSpPr>
        <p:spPr>
          <a:xfrm>
            <a:off x="8456277" y="5733969"/>
            <a:ext cx="617855" cy="175048"/>
          </a:xfrm>
          <a:prstGeom prst="rect">
            <a:avLst/>
          </a:prstGeom>
        </p:spPr>
        <p:txBody>
          <a:bodyPr vert="horz" wrap="square" lIns="0" tIns="13335" rIns="0" bIns="0" rtlCol="0">
            <a:spAutoFit/>
          </a:bodyPr>
          <a:lstStyle/>
          <a:p>
            <a:pPr marL="12700">
              <a:spcBef>
                <a:spcPts val="105"/>
              </a:spcBef>
            </a:pPr>
            <a:r>
              <a:rPr sz="1050" spc="-5" dirty="0">
                <a:solidFill>
                  <a:srgbClr val="313131"/>
                </a:solidFill>
                <a:latin typeface="Verdana"/>
                <a:cs typeface="Verdana"/>
              </a:rPr>
              <a:t>Slide</a:t>
            </a:r>
            <a:r>
              <a:rPr sz="1050" spc="-55" dirty="0">
                <a:solidFill>
                  <a:srgbClr val="313131"/>
                </a:solidFill>
                <a:latin typeface="Verdana"/>
                <a:cs typeface="Verdana"/>
              </a:rPr>
              <a:t> </a:t>
            </a:r>
            <a:r>
              <a:rPr sz="1050" spc="-5" dirty="0">
                <a:solidFill>
                  <a:srgbClr val="313131"/>
                </a:solidFill>
                <a:latin typeface="Verdana"/>
                <a:cs typeface="Verdana"/>
              </a:rPr>
              <a:t>#</a:t>
            </a:r>
            <a:fld id="{81D60167-4931-47E6-BA6A-407CBD079E47}" type="slidenum">
              <a:rPr sz="1050" spc="-5" dirty="0">
                <a:solidFill>
                  <a:srgbClr val="313131"/>
                </a:solidFill>
                <a:latin typeface="Verdana"/>
                <a:cs typeface="Verdana"/>
              </a:rPr>
              <a:pPr marL="12700">
                <a:spcBef>
                  <a:spcPts val="105"/>
                </a:spcBef>
              </a:pPr>
              <a:t>40</a:t>
            </a:fld>
            <a:endParaRPr sz="1050">
              <a:solidFill>
                <a:prstClr val="black"/>
              </a:solidFill>
              <a:latin typeface="Verdana"/>
              <a:cs typeface="Verdana"/>
            </a:endParaRPr>
          </a:p>
        </p:txBody>
      </p:sp>
      <p:sp>
        <p:nvSpPr>
          <p:cNvPr id="11" name="Title 1">
            <a:extLst>
              <a:ext uri="{FF2B5EF4-FFF2-40B4-BE49-F238E27FC236}">
                <a16:creationId xmlns:a16="http://schemas.microsoft.com/office/drawing/2014/main" id="{1DA26098-1B0F-B01E-DDF8-3923CE2B191C}"/>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lang="en-IN" sz="2800" b="1" spc="-5" dirty="0"/>
              <a:t>Supervised</a:t>
            </a:r>
            <a:r>
              <a:rPr lang="en-IN" sz="2800" b="1" spc="-85" dirty="0"/>
              <a:t> </a:t>
            </a:r>
            <a:r>
              <a:rPr lang="en-IN" sz="2800" b="1" spc="-5" dirty="0"/>
              <a:t>Learning</a:t>
            </a:r>
            <a:endPar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endParaRPr>
          </a:p>
        </p:txBody>
      </p:sp>
      <p:pic>
        <p:nvPicPr>
          <p:cNvPr id="13" name="Picture 2" descr="E:\NIET\Project\xLogo11.png.pagespeed.ic.pydHLuCQEZ.png">
            <a:extLst>
              <a:ext uri="{FF2B5EF4-FFF2-40B4-BE49-F238E27FC236}">
                <a16:creationId xmlns:a16="http://schemas.microsoft.com/office/drawing/2014/main" id="{90E0EB6F-5358-75F2-3AB1-1F8B3A6C7C89}"/>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26331122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092200"/>
            <a:ext cx="2627313" cy="330200"/>
          </a:xfrm>
          <a:prstGeom prst="rect">
            <a:avLst/>
          </a:prstGeom>
        </p:spPr>
        <p:txBody>
          <a:bodyPr vert="horz" wrap="square" lIns="0" tIns="12700" rIns="0" bIns="0" rtlCol="0">
            <a:spAutoFit/>
          </a:bodyPr>
          <a:lstStyle/>
          <a:p>
            <a:pPr marL="12700">
              <a:spcBef>
                <a:spcPts val="100"/>
              </a:spcBef>
            </a:pPr>
            <a:r>
              <a:rPr spc="-5" dirty="0"/>
              <a:t>Supervised</a:t>
            </a:r>
            <a:r>
              <a:rPr spc="-85" dirty="0"/>
              <a:t> </a:t>
            </a:r>
            <a:r>
              <a:rPr spc="-5" dirty="0"/>
              <a:t>Learning</a:t>
            </a:r>
          </a:p>
        </p:txBody>
      </p:sp>
      <p:sp>
        <p:nvSpPr>
          <p:cNvPr id="3" name="object 3"/>
          <p:cNvSpPr txBox="1"/>
          <p:nvPr/>
        </p:nvSpPr>
        <p:spPr>
          <a:xfrm>
            <a:off x="431800" y="2201100"/>
            <a:ext cx="2992120" cy="614680"/>
          </a:xfrm>
          <a:prstGeom prst="rect">
            <a:avLst/>
          </a:prstGeom>
        </p:spPr>
        <p:txBody>
          <a:bodyPr vert="horz" wrap="square" lIns="0" tIns="12700" rIns="0" bIns="0" rtlCol="0">
            <a:spAutoFit/>
          </a:bodyPr>
          <a:lstStyle/>
          <a:p>
            <a:pPr marL="12700">
              <a:spcBef>
                <a:spcPts val="100"/>
              </a:spcBef>
            </a:pPr>
            <a:r>
              <a:rPr sz="1400" b="1" spc="-5" dirty="0">
                <a:solidFill>
                  <a:srgbClr val="313131"/>
                </a:solidFill>
                <a:latin typeface="Verdana"/>
                <a:cs typeface="Verdana"/>
              </a:rPr>
              <a:t>Supervised</a:t>
            </a:r>
            <a:r>
              <a:rPr sz="1400" b="1" spc="-55" dirty="0">
                <a:solidFill>
                  <a:srgbClr val="313131"/>
                </a:solidFill>
                <a:latin typeface="Verdana"/>
                <a:cs typeface="Verdana"/>
              </a:rPr>
              <a:t> </a:t>
            </a:r>
            <a:r>
              <a:rPr sz="1400" b="1" spc="-5" dirty="0">
                <a:solidFill>
                  <a:srgbClr val="313131"/>
                </a:solidFill>
                <a:latin typeface="Verdana"/>
                <a:cs typeface="Verdana"/>
              </a:rPr>
              <a:t>Learning</a:t>
            </a:r>
            <a:endParaRPr sz="1400">
              <a:solidFill>
                <a:prstClr val="black"/>
              </a:solidFill>
              <a:latin typeface="Verdana"/>
              <a:cs typeface="Verdana"/>
            </a:endParaRPr>
          </a:p>
          <a:p>
            <a:pPr marL="12700">
              <a:spcBef>
                <a:spcPts val="1520"/>
              </a:spcBef>
            </a:pPr>
            <a:r>
              <a:rPr sz="1200" b="1" spc="-5" dirty="0">
                <a:solidFill>
                  <a:srgbClr val="313131"/>
                </a:solidFill>
                <a:latin typeface="Verdana"/>
                <a:cs typeface="Verdana"/>
              </a:rPr>
              <a:t>Data:</a:t>
            </a:r>
            <a:r>
              <a:rPr sz="1200" b="1" spc="55" dirty="0">
                <a:solidFill>
                  <a:srgbClr val="313131"/>
                </a:solidFill>
                <a:latin typeface="Verdana"/>
                <a:cs typeface="Verdana"/>
              </a:rPr>
              <a:t> </a:t>
            </a:r>
            <a:r>
              <a:rPr sz="1200" spc="-5" dirty="0">
                <a:solidFill>
                  <a:srgbClr val="313131"/>
                </a:solidFill>
                <a:latin typeface="Verdana"/>
                <a:cs typeface="Verdana"/>
              </a:rPr>
              <a:t>(x,</a:t>
            </a:r>
            <a:r>
              <a:rPr sz="1200" spc="-10" dirty="0">
                <a:solidFill>
                  <a:srgbClr val="313131"/>
                </a:solidFill>
                <a:latin typeface="Verdana"/>
                <a:cs typeface="Verdana"/>
              </a:rPr>
              <a:t> </a:t>
            </a:r>
            <a:r>
              <a:rPr sz="1200" spc="-5" dirty="0">
                <a:solidFill>
                  <a:srgbClr val="313131"/>
                </a:solidFill>
                <a:latin typeface="Verdana"/>
                <a:cs typeface="Verdana"/>
              </a:rPr>
              <a:t>y)</a:t>
            </a:r>
            <a:r>
              <a:rPr sz="1200" spc="-15" dirty="0">
                <a:solidFill>
                  <a:srgbClr val="313131"/>
                </a:solidFill>
                <a:latin typeface="Verdana"/>
                <a:cs typeface="Verdana"/>
              </a:rPr>
              <a:t> </a:t>
            </a:r>
            <a:r>
              <a:rPr sz="1200" spc="-5" dirty="0">
                <a:solidFill>
                  <a:srgbClr val="313131"/>
                </a:solidFill>
                <a:latin typeface="Verdana"/>
                <a:cs typeface="Verdana"/>
              </a:rPr>
              <a:t>where</a:t>
            </a:r>
            <a:r>
              <a:rPr sz="1200" spc="-10" dirty="0">
                <a:solidFill>
                  <a:srgbClr val="313131"/>
                </a:solidFill>
                <a:latin typeface="Verdana"/>
                <a:cs typeface="Verdana"/>
              </a:rPr>
              <a:t> </a:t>
            </a:r>
            <a:r>
              <a:rPr sz="1200" dirty="0">
                <a:solidFill>
                  <a:srgbClr val="313131"/>
                </a:solidFill>
                <a:latin typeface="Verdana"/>
                <a:cs typeface="Verdana"/>
              </a:rPr>
              <a:t>x</a:t>
            </a:r>
            <a:r>
              <a:rPr sz="1200" spc="-10" dirty="0">
                <a:solidFill>
                  <a:srgbClr val="313131"/>
                </a:solidFill>
                <a:latin typeface="Verdana"/>
                <a:cs typeface="Verdana"/>
              </a:rPr>
              <a:t> </a:t>
            </a:r>
            <a:r>
              <a:rPr sz="1200" spc="-5" dirty="0">
                <a:solidFill>
                  <a:srgbClr val="313131"/>
                </a:solidFill>
                <a:latin typeface="Verdana"/>
                <a:cs typeface="Verdana"/>
              </a:rPr>
              <a:t>is</a:t>
            </a:r>
            <a:r>
              <a:rPr sz="1200" spc="-15" dirty="0">
                <a:solidFill>
                  <a:srgbClr val="313131"/>
                </a:solidFill>
                <a:latin typeface="Verdana"/>
                <a:cs typeface="Verdana"/>
              </a:rPr>
              <a:t> </a:t>
            </a:r>
            <a:r>
              <a:rPr sz="1200" spc="-5" dirty="0">
                <a:solidFill>
                  <a:srgbClr val="313131"/>
                </a:solidFill>
                <a:latin typeface="Verdana"/>
                <a:cs typeface="Verdana"/>
              </a:rPr>
              <a:t>data,</a:t>
            </a:r>
            <a:r>
              <a:rPr sz="1200" spc="-10" dirty="0">
                <a:solidFill>
                  <a:srgbClr val="313131"/>
                </a:solidFill>
                <a:latin typeface="Verdana"/>
                <a:cs typeface="Verdana"/>
              </a:rPr>
              <a:t> </a:t>
            </a:r>
            <a:r>
              <a:rPr sz="1200" dirty="0">
                <a:solidFill>
                  <a:srgbClr val="313131"/>
                </a:solidFill>
                <a:latin typeface="Verdana"/>
                <a:cs typeface="Verdana"/>
              </a:rPr>
              <a:t>y</a:t>
            </a:r>
            <a:r>
              <a:rPr sz="1200" spc="-10" dirty="0">
                <a:solidFill>
                  <a:srgbClr val="313131"/>
                </a:solidFill>
                <a:latin typeface="Verdana"/>
                <a:cs typeface="Verdana"/>
              </a:rPr>
              <a:t> </a:t>
            </a:r>
            <a:r>
              <a:rPr sz="1200" spc="-5" dirty="0">
                <a:solidFill>
                  <a:srgbClr val="313131"/>
                </a:solidFill>
                <a:latin typeface="Verdana"/>
                <a:cs typeface="Verdana"/>
              </a:rPr>
              <a:t>is</a:t>
            </a:r>
            <a:r>
              <a:rPr sz="1200" spc="-15" dirty="0">
                <a:solidFill>
                  <a:srgbClr val="313131"/>
                </a:solidFill>
                <a:latin typeface="Verdana"/>
                <a:cs typeface="Verdana"/>
              </a:rPr>
              <a:t> </a:t>
            </a:r>
            <a:r>
              <a:rPr sz="1200" spc="-5" dirty="0">
                <a:solidFill>
                  <a:srgbClr val="313131"/>
                </a:solidFill>
                <a:latin typeface="Verdana"/>
                <a:cs typeface="Verdana"/>
              </a:rPr>
              <a:t>label</a:t>
            </a:r>
            <a:endParaRPr sz="1200">
              <a:solidFill>
                <a:prstClr val="black"/>
              </a:solidFill>
              <a:latin typeface="Verdana"/>
              <a:cs typeface="Verdana"/>
            </a:endParaRPr>
          </a:p>
        </p:txBody>
      </p:sp>
      <p:sp>
        <p:nvSpPr>
          <p:cNvPr id="4" name="object 4"/>
          <p:cNvSpPr txBox="1"/>
          <p:nvPr/>
        </p:nvSpPr>
        <p:spPr>
          <a:xfrm>
            <a:off x="431800" y="3344101"/>
            <a:ext cx="2863850" cy="228268"/>
          </a:xfrm>
          <a:prstGeom prst="rect">
            <a:avLst/>
          </a:prstGeom>
        </p:spPr>
        <p:txBody>
          <a:bodyPr vert="horz" wrap="square" lIns="0" tIns="12700" rIns="0" bIns="0" rtlCol="0">
            <a:spAutoFit/>
          </a:bodyPr>
          <a:lstStyle/>
          <a:p>
            <a:pPr marL="12700">
              <a:spcBef>
                <a:spcPts val="100"/>
              </a:spcBef>
            </a:pPr>
            <a:r>
              <a:rPr sz="1200" b="1" spc="-5" dirty="0">
                <a:solidFill>
                  <a:srgbClr val="313131"/>
                </a:solidFill>
                <a:latin typeface="Verdana"/>
                <a:cs typeface="Verdana"/>
              </a:rPr>
              <a:t>Goal:</a:t>
            </a:r>
            <a:r>
              <a:rPr sz="1200" b="1" spc="-10" dirty="0">
                <a:solidFill>
                  <a:srgbClr val="313131"/>
                </a:solidFill>
                <a:latin typeface="Verdana"/>
                <a:cs typeface="Verdana"/>
              </a:rPr>
              <a:t> </a:t>
            </a:r>
            <a:r>
              <a:rPr sz="1200" spc="-5" dirty="0">
                <a:solidFill>
                  <a:srgbClr val="313131"/>
                </a:solidFill>
                <a:latin typeface="Verdana"/>
                <a:cs typeface="Verdana"/>
              </a:rPr>
              <a:t>Learn</a:t>
            </a:r>
            <a:r>
              <a:rPr sz="1200" spc="-15" dirty="0">
                <a:solidFill>
                  <a:srgbClr val="313131"/>
                </a:solidFill>
                <a:latin typeface="Verdana"/>
                <a:cs typeface="Verdana"/>
              </a:rPr>
              <a:t> </a:t>
            </a:r>
            <a:r>
              <a:rPr sz="1200" dirty="0">
                <a:solidFill>
                  <a:srgbClr val="313131"/>
                </a:solidFill>
                <a:latin typeface="Verdana"/>
                <a:cs typeface="Verdana"/>
              </a:rPr>
              <a:t>a</a:t>
            </a:r>
            <a:r>
              <a:rPr sz="1200" spc="-15" dirty="0">
                <a:solidFill>
                  <a:srgbClr val="313131"/>
                </a:solidFill>
                <a:latin typeface="Verdana"/>
                <a:cs typeface="Verdana"/>
              </a:rPr>
              <a:t> </a:t>
            </a:r>
            <a:r>
              <a:rPr sz="1200" spc="-5" dirty="0">
                <a:solidFill>
                  <a:srgbClr val="313131"/>
                </a:solidFill>
                <a:latin typeface="Verdana"/>
                <a:cs typeface="Verdana"/>
              </a:rPr>
              <a:t>function</a:t>
            </a:r>
            <a:r>
              <a:rPr sz="1200" spc="-15" dirty="0">
                <a:solidFill>
                  <a:srgbClr val="313131"/>
                </a:solidFill>
                <a:latin typeface="Verdana"/>
                <a:cs typeface="Verdana"/>
              </a:rPr>
              <a:t> </a:t>
            </a:r>
            <a:r>
              <a:rPr sz="1200" spc="-5" dirty="0">
                <a:solidFill>
                  <a:srgbClr val="313131"/>
                </a:solidFill>
                <a:latin typeface="Verdana"/>
                <a:cs typeface="Verdana"/>
              </a:rPr>
              <a:t>to</a:t>
            </a:r>
            <a:r>
              <a:rPr sz="1200" spc="-15" dirty="0">
                <a:solidFill>
                  <a:srgbClr val="313131"/>
                </a:solidFill>
                <a:latin typeface="Verdana"/>
                <a:cs typeface="Verdana"/>
              </a:rPr>
              <a:t> </a:t>
            </a:r>
            <a:r>
              <a:rPr sz="1200" spc="-5" dirty="0">
                <a:solidFill>
                  <a:srgbClr val="313131"/>
                </a:solidFill>
                <a:latin typeface="Verdana"/>
                <a:cs typeface="Verdana"/>
              </a:rPr>
              <a:t>map</a:t>
            </a:r>
            <a:r>
              <a:rPr sz="1200" spc="15" dirty="0">
                <a:solidFill>
                  <a:srgbClr val="313131"/>
                </a:solidFill>
                <a:latin typeface="Verdana"/>
                <a:cs typeface="Verdana"/>
              </a:rPr>
              <a:t> </a:t>
            </a:r>
            <a:r>
              <a:rPr sz="1400" spc="-5" dirty="0">
                <a:solidFill>
                  <a:srgbClr val="313131"/>
                </a:solidFill>
                <a:latin typeface="Verdana"/>
                <a:cs typeface="Verdana"/>
              </a:rPr>
              <a:t>x</a:t>
            </a:r>
            <a:r>
              <a:rPr sz="1400" spc="-5" dirty="0">
                <a:solidFill>
                  <a:srgbClr val="313131"/>
                </a:solidFill>
                <a:latin typeface="Arial MT"/>
                <a:cs typeface="Arial MT"/>
              </a:rPr>
              <a:t>→</a:t>
            </a:r>
            <a:r>
              <a:rPr sz="1400" spc="90" dirty="0">
                <a:solidFill>
                  <a:srgbClr val="313131"/>
                </a:solidFill>
                <a:latin typeface="Arial MT"/>
                <a:cs typeface="Arial MT"/>
              </a:rPr>
              <a:t> </a:t>
            </a:r>
            <a:r>
              <a:rPr sz="1400" dirty="0">
                <a:solidFill>
                  <a:srgbClr val="313131"/>
                </a:solidFill>
                <a:latin typeface="Verdana"/>
                <a:cs typeface="Verdana"/>
              </a:rPr>
              <a:t>y</a:t>
            </a:r>
            <a:endParaRPr sz="1400">
              <a:solidFill>
                <a:prstClr val="black"/>
              </a:solidFill>
              <a:latin typeface="Verdana"/>
              <a:cs typeface="Verdana"/>
            </a:endParaRPr>
          </a:p>
        </p:txBody>
      </p:sp>
      <p:sp>
        <p:nvSpPr>
          <p:cNvPr id="5" name="object 5"/>
          <p:cNvSpPr txBox="1"/>
          <p:nvPr/>
        </p:nvSpPr>
        <p:spPr>
          <a:xfrm>
            <a:off x="431801" y="4107118"/>
            <a:ext cx="3447415" cy="541655"/>
          </a:xfrm>
          <a:prstGeom prst="rect">
            <a:avLst/>
          </a:prstGeom>
        </p:spPr>
        <p:txBody>
          <a:bodyPr vert="horz" wrap="square" lIns="0" tIns="12700" rIns="0" bIns="0" rtlCol="0">
            <a:spAutoFit/>
          </a:bodyPr>
          <a:lstStyle/>
          <a:p>
            <a:pPr marL="12700">
              <a:spcBef>
                <a:spcPts val="100"/>
              </a:spcBef>
            </a:pPr>
            <a:r>
              <a:rPr sz="1200" b="1" spc="-5" dirty="0">
                <a:solidFill>
                  <a:srgbClr val="313131"/>
                </a:solidFill>
                <a:latin typeface="Verdana"/>
                <a:cs typeface="Verdana"/>
              </a:rPr>
              <a:t>Examples:</a:t>
            </a:r>
            <a:r>
              <a:rPr sz="1200" b="1" spc="-25" dirty="0">
                <a:solidFill>
                  <a:srgbClr val="313131"/>
                </a:solidFill>
                <a:latin typeface="Verdana"/>
                <a:cs typeface="Verdana"/>
              </a:rPr>
              <a:t> </a:t>
            </a:r>
            <a:r>
              <a:rPr sz="1200" spc="-5" dirty="0">
                <a:solidFill>
                  <a:srgbClr val="313131"/>
                </a:solidFill>
                <a:latin typeface="Verdana"/>
                <a:cs typeface="Verdana"/>
              </a:rPr>
              <a:t>Classification,</a:t>
            </a:r>
            <a:r>
              <a:rPr sz="1200" spc="-25" dirty="0">
                <a:solidFill>
                  <a:srgbClr val="313131"/>
                </a:solidFill>
                <a:latin typeface="Verdana"/>
                <a:cs typeface="Verdana"/>
              </a:rPr>
              <a:t> </a:t>
            </a:r>
            <a:r>
              <a:rPr sz="1200" spc="-5" dirty="0">
                <a:solidFill>
                  <a:srgbClr val="313131"/>
                </a:solidFill>
                <a:latin typeface="Verdana"/>
                <a:cs typeface="Verdana"/>
              </a:rPr>
              <a:t>Object</a:t>
            </a:r>
            <a:r>
              <a:rPr sz="1200" spc="-25" dirty="0">
                <a:solidFill>
                  <a:srgbClr val="313131"/>
                </a:solidFill>
                <a:latin typeface="Verdana"/>
                <a:cs typeface="Verdana"/>
              </a:rPr>
              <a:t> </a:t>
            </a:r>
            <a:r>
              <a:rPr sz="1200" spc="-5" dirty="0">
                <a:solidFill>
                  <a:srgbClr val="313131"/>
                </a:solidFill>
                <a:latin typeface="Verdana"/>
                <a:cs typeface="Verdana"/>
              </a:rPr>
              <a:t>Detection,</a:t>
            </a:r>
            <a:endParaRPr sz="1200">
              <a:solidFill>
                <a:prstClr val="black"/>
              </a:solidFill>
              <a:latin typeface="Verdana"/>
              <a:cs typeface="Verdana"/>
            </a:endParaRPr>
          </a:p>
          <a:p>
            <a:pPr marL="12700">
              <a:spcBef>
                <a:spcPts val="1185"/>
              </a:spcBef>
            </a:pPr>
            <a:r>
              <a:rPr sz="1200" spc="-5" dirty="0">
                <a:solidFill>
                  <a:srgbClr val="313131"/>
                </a:solidFill>
                <a:latin typeface="Verdana"/>
                <a:cs typeface="Verdana"/>
              </a:rPr>
              <a:t>Semantic</a:t>
            </a:r>
            <a:r>
              <a:rPr sz="1200" spc="-30" dirty="0">
                <a:solidFill>
                  <a:srgbClr val="313131"/>
                </a:solidFill>
                <a:latin typeface="Verdana"/>
                <a:cs typeface="Verdana"/>
              </a:rPr>
              <a:t> </a:t>
            </a:r>
            <a:r>
              <a:rPr sz="1200" spc="-5" dirty="0">
                <a:solidFill>
                  <a:srgbClr val="313131"/>
                </a:solidFill>
                <a:latin typeface="Verdana"/>
                <a:cs typeface="Verdana"/>
              </a:rPr>
              <a:t>segmentation,</a:t>
            </a:r>
            <a:r>
              <a:rPr sz="1200" spc="15" dirty="0">
                <a:solidFill>
                  <a:srgbClr val="313131"/>
                </a:solidFill>
                <a:latin typeface="Verdana"/>
                <a:cs typeface="Verdana"/>
              </a:rPr>
              <a:t> </a:t>
            </a:r>
            <a:r>
              <a:rPr sz="1200" b="1" u="heavy" spc="-5" dirty="0">
                <a:solidFill>
                  <a:srgbClr val="313131"/>
                </a:solidFill>
                <a:uFill>
                  <a:solidFill>
                    <a:srgbClr val="313131"/>
                  </a:solidFill>
                </a:uFill>
                <a:latin typeface="Verdana"/>
                <a:cs typeface="Verdana"/>
              </a:rPr>
              <a:t>Image</a:t>
            </a:r>
            <a:r>
              <a:rPr sz="1200" b="1" u="heavy" spc="-30" dirty="0">
                <a:solidFill>
                  <a:srgbClr val="313131"/>
                </a:solidFill>
                <a:uFill>
                  <a:solidFill>
                    <a:srgbClr val="313131"/>
                  </a:solidFill>
                </a:uFill>
                <a:latin typeface="Verdana"/>
                <a:cs typeface="Verdana"/>
              </a:rPr>
              <a:t> </a:t>
            </a:r>
            <a:r>
              <a:rPr sz="1200" b="1" u="heavy" spc="-5" dirty="0">
                <a:solidFill>
                  <a:srgbClr val="313131"/>
                </a:solidFill>
                <a:uFill>
                  <a:solidFill>
                    <a:srgbClr val="313131"/>
                  </a:solidFill>
                </a:uFill>
                <a:latin typeface="Verdana"/>
                <a:cs typeface="Verdana"/>
              </a:rPr>
              <a:t>captioning</a:t>
            </a:r>
            <a:endParaRPr sz="1200">
              <a:solidFill>
                <a:prstClr val="black"/>
              </a:solidFill>
              <a:latin typeface="Verdana"/>
              <a:cs typeface="Verdana"/>
            </a:endParaRPr>
          </a:p>
        </p:txBody>
      </p:sp>
      <p:sp>
        <p:nvSpPr>
          <p:cNvPr id="6" name="object 6"/>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7" name="object 7"/>
          <p:cNvPicPr/>
          <p:nvPr/>
        </p:nvPicPr>
        <p:blipFill>
          <a:blip r:embed="rId2" cstate="print"/>
          <a:stretch>
            <a:fillRect/>
          </a:stretch>
        </p:blipFill>
        <p:spPr>
          <a:xfrm>
            <a:off x="4683636" y="2238544"/>
            <a:ext cx="3537177" cy="2282205"/>
          </a:xfrm>
          <a:prstGeom prst="rect">
            <a:avLst/>
          </a:prstGeom>
        </p:spPr>
      </p:pic>
      <p:sp>
        <p:nvSpPr>
          <p:cNvPr id="10" name="object 10"/>
          <p:cNvSpPr txBox="1"/>
          <p:nvPr/>
        </p:nvSpPr>
        <p:spPr>
          <a:xfrm>
            <a:off x="8456277" y="5733969"/>
            <a:ext cx="617855" cy="175048"/>
          </a:xfrm>
          <a:prstGeom prst="rect">
            <a:avLst/>
          </a:prstGeom>
        </p:spPr>
        <p:txBody>
          <a:bodyPr vert="horz" wrap="square" lIns="0" tIns="13335" rIns="0" bIns="0" rtlCol="0">
            <a:spAutoFit/>
          </a:bodyPr>
          <a:lstStyle/>
          <a:p>
            <a:pPr marL="12700">
              <a:spcBef>
                <a:spcPts val="105"/>
              </a:spcBef>
            </a:pPr>
            <a:r>
              <a:rPr sz="1050" spc="-5" dirty="0">
                <a:solidFill>
                  <a:srgbClr val="313131"/>
                </a:solidFill>
                <a:latin typeface="Verdana"/>
                <a:cs typeface="Verdana"/>
              </a:rPr>
              <a:t>Slide</a:t>
            </a:r>
            <a:r>
              <a:rPr sz="1050" spc="-55" dirty="0">
                <a:solidFill>
                  <a:srgbClr val="313131"/>
                </a:solidFill>
                <a:latin typeface="Verdana"/>
                <a:cs typeface="Verdana"/>
              </a:rPr>
              <a:t> </a:t>
            </a:r>
            <a:r>
              <a:rPr sz="1050" spc="-5" dirty="0">
                <a:solidFill>
                  <a:srgbClr val="313131"/>
                </a:solidFill>
                <a:latin typeface="Verdana"/>
                <a:cs typeface="Verdana"/>
              </a:rPr>
              <a:t>#</a:t>
            </a:r>
            <a:fld id="{81D60167-4931-47E6-BA6A-407CBD079E47}" type="slidenum">
              <a:rPr sz="1050" spc="-5" dirty="0">
                <a:solidFill>
                  <a:srgbClr val="313131"/>
                </a:solidFill>
                <a:latin typeface="Verdana"/>
                <a:cs typeface="Verdana"/>
              </a:rPr>
              <a:pPr marL="12700">
                <a:spcBef>
                  <a:spcPts val="105"/>
                </a:spcBef>
              </a:pPr>
              <a:t>41</a:t>
            </a:fld>
            <a:endParaRPr sz="1050">
              <a:solidFill>
                <a:prstClr val="black"/>
              </a:solidFill>
              <a:latin typeface="Verdana"/>
              <a:cs typeface="Verdana"/>
            </a:endParaRPr>
          </a:p>
        </p:txBody>
      </p:sp>
      <p:sp>
        <p:nvSpPr>
          <p:cNvPr id="15" name="Title 1">
            <a:extLst>
              <a:ext uri="{FF2B5EF4-FFF2-40B4-BE49-F238E27FC236}">
                <a16:creationId xmlns:a16="http://schemas.microsoft.com/office/drawing/2014/main" id="{D81EF2C1-4FA5-0469-CF97-97236395E3FA}"/>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Supervised Learning </a:t>
            </a:r>
          </a:p>
        </p:txBody>
      </p:sp>
      <p:pic>
        <p:nvPicPr>
          <p:cNvPr id="16" name="Picture 2" descr="E:\NIET\Project\xLogo11.png.pagespeed.ic.pydHLuCQEZ.png">
            <a:extLst>
              <a:ext uri="{FF2B5EF4-FFF2-40B4-BE49-F238E27FC236}">
                <a16:creationId xmlns:a16="http://schemas.microsoft.com/office/drawing/2014/main" id="{5B52CA71-5F92-8687-D3CB-08CB430843AD}"/>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092200"/>
            <a:ext cx="2930525" cy="330200"/>
          </a:xfrm>
          <a:prstGeom prst="rect">
            <a:avLst/>
          </a:prstGeom>
        </p:spPr>
        <p:txBody>
          <a:bodyPr vert="horz" wrap="square" lIns="0" tIns="12700" rIns="0" bIns="0" rtlCol="0">
            <a:spAutoFit/>
          </a:bodyPr>
          <a:lstStyle/>
          <a:p>
            <a:pPr marL="12700">
              <a:spcBef>
                <a:spcPts val="100"/>
              </a:spcBef>
            </a:pPr>
            <a:r>
              <a:rPr spc="-5" dirty="0"/>
              <a:t>Unsupervised</a:t>
            </a:r>
            <a:r>
              <a:rPr spc="-85" dirty="0"/>
              <a:t> </a:t>
            </a:r>
            <a:r>
              <a:rPr spc="-5" dirty="0"/>
              <a:t>Learning</a:t>
            </a:r>
          </a:p>
        </p:txBody>
      </p:sp>
      <p:sp>
        <p:nvSpPr>
          <p:cNvPr id="3" name="object 3"/>
          <p:cNvSpPr txBox="1"/>
          <p:nvPr/>
        </p:nvSpPr>
        <p:spPr>
          <a:xfrm>
            <a:off x="431801" y="2201100"/>
            <a:ext cx="2193925" cy="590550"/>
          </a:xfrm>
          <a:prstGeom prst="rect">
            <a:avLst/>
          </a:prstGeom>
        </p:spPr>
        <p:txBody>
          <a:bodyPr vert="horz" wrap="square" lIns="0" tIns="12700" rIns="0" bIns="0" rtlCol="0">
            <a:spAutoFit/>
          </a:bodyPr>
          <a:lstStyle/>
          <a:p>
            <a:pPr marL="12700">
              <a:spcBef>
                <a:spcPts val="100"/>
              </a:spcBef>
            </a:pPr>
            <a:r>
              <a:rPr sz="1400" b="1" dirty="0">
                <a:solidFill>
                  <a:srgbClr val="313131"/>
                </a:solidFill>
                <a:latin typeface="Verdana"/>
                <a:cs typeface="Verdana"/>
              </a:rPr>
              <a:t>Unspervised</a:t>
            </a:r>
            <a:r>
              <a:rPr sz="1400" b="1" spc="-85" dirty="0">
                <a:solidFill>
                  <a:srgbClr val="313131"/>
                </a:solidFill>
                <a:latin typeface="Verdana"/>
                <a:cs typeface="Verdana"/>
              </a:rPr>
              <a:t> </a:t>
            </a:r>
            <a:r>
              <a:rPr sz="1400" b="1" spc="-5" dirty="0">
                <a:solidFill>
                  <a:srgbClr val="313131"/>
                </a:solidFill>
                <a:latin typeface="Verdana"/>
                <a:cs typeface="Verdana"/>
              </a:rPr>
              <a:t>Learning</a:t>
            </a:r>
            <a:endParaRPr sz="1400">
              <a:solidFill>
                <a:prstClr val="black"/>
              </a:solidFill>
              <a:latin typeface="Verdana"/>
              <a:cs typeface="Verdana"/>
            </a:endParaRPr>
          </a:p>
          <a:p>
            <a:pPr marL="12700">
              <a:spcBef>
                <a:spcPts val="1325"/>
              </a:spcBef>
            </a:pPr>
            <a:r>
              <a:rPr sz="1200" b="1" spc="-5" dirty="0">
                <a:solidFill>
                  <a:srgbClr val="313131"/>
                </a:solidFill>
                <a:latin typeface="Verdana"/>
                <a:cs typeface="Verdana"/>
              </a:rPr>
              <a:t>Data:</a:t>
            </a:r>
            <a:r>
              <a:rPr sz="1200" b="1" spc="-25" dirty="0">
                <a:solidFill>
                  <a:srgbClr val="313131"/>
                </a:solidFill>
                <a:latin typeface="Verdana"/>
                <a:cs typeface="Verdana"/>
              </a:rPr>
              <a:t> </a:t>
            </a:r>
            <a:r>
              <a:rPr sz="1200" spc="-5" dirty="0">
                <a:solidFill>
                  <a:srgbClr val="313131"/>
                </a:solidFill>
                <a:latin typeface="Verdana"/>
                <a:cs typeface="Verdana"/>
              </a:rPr>
              <a:t>x,</a:t>
            </a:r>
            <a:r>
              <a:rPr sz="1200" spc="-25" dirty="0">
                <a:solidFill>
                  <a:srgbClr val="313131"/>
                </a:solidFill>
                <a:latin typeface="Verdana"/>
                <a:cs typeface="Verdana"/>
              </a:rPr>
              <a:t> </a:t>
            </a:r>
            <a:r>
              <a:rPr sz="1200" spc="-5" dirty="0">
                <a:solidFill>
                  <a:srgbClr val="313131"/>
                </a:solidFill>
                <a:latin typeface="Verdana"/>
                <a:cs typeface="Verdana"/>
              </a:rPr>
              <a:t>NO</a:t>
            </a:r>
            <a:r>
              <a:rPr sz="1200" spc="-25" dirty="0">
                <a:solidFill>
                  <a:srgbClr val="313131"/>
                </a:solidFill>
                <a:latin typeface="Verdana"/>
                <a:cs typeface="Verdana"/>
              </a:rPr>
              <a:t> </a:t>
            </a:r>
            <a:r>
              <a:rPr sz="1200" spc="-5" dirty="0">
                <a:solidFill>
                  <a:srgbClr val="313131"/>
                </a:solidFill>
                <a:latin typeface="Verdana"/>
                <a:cs typeface="Verdana"/>
              </a:rPr>
              <a:t>labels!!</a:t>
            </a:r>
            <a:endParaRPr sz="1200">
              <a:solidFill>
                <a:prstClr val="black"/>
              </a:solidFill>
              <a:latin typeface="Verdana"/>
              <a:cs typeface="Verdana"/>
            </a:endParaRPr>
          </a:p>
        </p:txBody>
      </p:sp>
      <p:sp>
        <p:nvSpPr>
          <p:cNvPr id="4" name="object 4"/>
          <p:cNvSpPr txBox="1"/>
          <p:nvPr/>
        </p:nvSpPr>
        <p:spPr>
          <a:xfrm>
            <a:off x="431800" y="3297492"/>
            <a:ext cx="4474210" cy="197490"/>
          </a:xfrm>
          <a:prstGeom prst="rect">
            <a:avLst/>
          </a:prstGeom>
        </p:spPr>
        <p:txBody>
          <a:bodyPr vert="horz" wrap="square" lIns="0" tIns="12700" rIns="0" bIns="0" rtlCol="0">
            <a:spAutoFit/>
          </a:bodyPr>
          <a:lstStyle/>
          <a:p>
            <a:pPr marL="12700">
              <a:spcBef>
                <a:spcPts val="100"/>
              </a:spcBef>
            </a:pPr>
            <a:r>
              <a:rPr sz="1200" b="1" spc="-5" dirty="0">
                <a:solidFill>
                  <a:srgbClr val="313131"/>
                </a:solidFill>
                <a:latin typeface="Verdana"/>
                <a:cs typeface="Verdana"/>
              </a:rPr>
              <a:t>Goal:</a:t>
            </a:r>
            <a:r>
              <a:rPr sz="1200" b="1" spc="-10" dirty="0">
                <a:solidFill>
                  <a:srgbClr val="313131"/>
                </a:solidFill>
                <a:latin typeface="Verdana"/>
                <a:cs typeface="Verdana"/>
              </a:rPr>
              <a:t> </a:t>
            </a:r>
            <a:r>
              <a:rPr sz="1200" spc="-5" dirty="0">
                <a:solidFill>
                  <a:srgbClr val="313131"/>
                </a:solidFill>
                <a:latin typeface="Verdana"/>
                <a:cs typeface="Verdana"/>
              </a:rPr>
              <a:t>Learn</a:t>
            </a:r>
            <a:r>
              <a:rPr sz="1200" spc="-10" dirty="0">
                <a:solidFill>
                  <a:srgbClr val="313131"/>
                </a:solidFill>
                <a:latin typeface="Verdana"/>
                <a:cs typeface="Verdana"/>
              </a:rPr>
              <a:t> </a:t>
            </a:r>
            <a:r>
              <a:rPr sz="1200" spc="-5" dirty="0">
                <a:solidFill>
                  <a:srgbClr val="313131"/>
                </a:solidFill>
                <a:latin typeface="Verdana"/>
                <a:cs typeface="Verdana"/>
              </a:rPr>
              <a:t>some</a:t>
            </a:r>
            <a:r>
              <a:rPr sz="1200" spc="-15" dirty="0">
                <a:solidFill>
                  <a:srgbClr val="313131"/>
                </a:solidFill>
                <a:latin typeface="Verdana"/>
                <a:cs typeface="Verdana"/>
              </a:rPr>
              <a:t> </a:t>
            </a:r>
            <a:r>
              <a:rPr sz="1200" spc="-5" dirty="0">
                <a:solidFill>
                  <a:srgbClr val="313131"/>
                </a:solidFill>
                <a:latin typeface="Verdana"/>
                <a:cs typeface="Verdana"/>
              </a:rPr>
              <a:t>underlying</a:t>
            </a:r>
            <a:r>
              <a:rPr sz="1200" spc="-10" dirty="0">
                <a:solidFill>
                  <a:srgbClr val="313131"/>
                </a:solidFill>
                <a:latin typeface="Verdana"/>
                <a:cs typeface="Verdana"/>
              </a:rPr>
              <a:t> </a:t>
            </a:r>
            <a:r>
              <a:rPr sz="1200" spc="-5" dirty="0">
                <a:solidFill>
                  <a:srgbClr val="313131"/>
                </a:solidFill>
                <a:latin typeface="Verdana"/>
                <a:cs typeface="Verdana"/>
              </a:rPr>
              <a:t>hidden</a:t>
            </a:r>
            <a:r>
              <a:rPr sz="1200" spc="-10" dirty="0">
                <a:solidFill>
                  <a:srgbClr val="313131"/>
                </a:solidFill>
                <a:latin typeface="Verdana"/>
                <a:cs typeface="Verdana"/>
              </a:rPr>
              <a:t> </a:t>
            </a:r>
            <a:r>
              <a:rPr sz="1200" spc="-5" dirty="0">
                <a:solidFill>
                  <a:srgbClr val="313131"/>
                </a:solidFill>
                <a:latin typeface="Verdana"/>
                <a:cs typeface="Verdana"/>
              </a:rPr>
              <a:t>structure</a:t>
            </a:r>
            <a:r>
              <a:rPr sz="1200" spc="-15" dirty="0">
                <a:solidFill>
                  <a:srgbClr val="313131"/>
                </a:solidFill>
                <a:latin typeface="Verdana"/>
                <a:cs typeface="Verdana"/>
              </a:rPr>
              <a:t> </a:t>
            </a:r>
            <a:r>
              <a:rPr sz="1200" spc="-5" dirty="0">
                <a:solidFill>
                  <a:srgbClr val="313131"/>
                </a:solidFill>
                <a:latin typeface="Verdana"/>
                <a:cs typeface="Verdana"/>
              </a:rPr>
              <a:t>of</a:t>
            </a:r>
            <a:r>
              <a:rPr sz="1200" spc="-10" dirty="0">
                <a:solidFill>
                  <a:srgbClr val="313131"/>
                </a:solidFill>
                <a:latin typeface="Verdana"/>
                <a:cs typeface="Verdana"/>
              </a:rPr>
              <a:t> </a:t>
            </a:r>
            <a:r>
              <a:rPr sz="1200" spc="-5" dirty="0">
                <a:solidFill>
                  <a:srgbClr val="313131"/>
                </a:solidFill>
                <a:latin typeface="Verdana"/>
                <a:cs typeface="Verdana"/>
              </a:rPr>
              <a:t>the</a:t>
            </a:r>
            <a:r>
              <a:rPr sz="1200" spc="-15" dirty="0">
                <a:solidFill>
                  <a:srgbClr val="313131"/>
                </a:solidFill>
                <a:latin typeface="Verdana"/>
                <a:cs typeface="Verdana"/>
              </a:rPr>
              <a:t> </a:t>
            </a:r>
            <a:r>
              <a:rPr sz="1200" spc="-5" dirty="0">
                <a:solidFill>
                  <a:srgbClr val="313131"/>
                </a:solidFill>
                <a:latin typeface="Verdana"/>
                <a:cs typeface="Verdana"/>
              </a:rPr>
              <a:t>data</a:t>
            </a:r>
            <a:endParaRPr sz="1200">
              <a:solidFill>
                <a:prstClr val="black"/>
              </a:solidFill>
              <a:latin typeface="Verdana"/>
              <a:cs typeface="Verdana"/>
            </a:endParaRPr>
          </a:p>
        </p:txBody>
      </p:sp>
      <p:sp>
        <p:nvSpPr>
          <p:cNvPr id="5" name="object 5"/>
          <p:cNvSpPr txBox="1"/>
          <p:nvPr/>
        </p:nvSpPr>
        <p:spPr>
          <a:xfrm>
            <a:off x="431801" y="3964243"/>
            <a:ext cx="3895725" cy="541655"/>
          </a:xfrm>
          <a:prstGeom prst="rect">
            <a:avLst/>
          </a:prstGeom>
        </p:spPr>
        <p:txBody>
          <a:bodyPr vert="horz" wrap="square" lIns="0" tIns="12700" rIns="0" bIns="0" rtlCol="0">
            <a:spAutoFit/>
          </a:bodyPr>
          <a:lstStyle/>
          <a:p>
            <a:pPr marL="12700">
              <a:spcBef>
                <a:spcPts val="100"/>
              </a:spcBef>
            </a:pPr>
            <a:r>
              <a:rPr sz="1200" b="1" spc="-5" dirty="0">
                <a:solidFill>
                  <a:srgbClr val="313131"/>
                </a:solidFill>
                <a:latin typeface="Verdana"/>
                <a:cs typeface="Verdana"/>
              </a:rPr>
              <a:t>Examples:</a:t>
            </a:r>
            <a:r>
              <a:rPr sz="1200" b="1" spc="-25" dirty="0">
                <a:solidFill>
                  <a:srgbClr val="313131"/>
                </a:solidFill>
                <a:latin typeface="Verdana"/>
                <a:cs typeface="Verdana"/>
              </a:rPr>
              <a:t> </a:t>
            </a:r>
            <a:r>
              <a:rPr sz="1200" b="1" u="heavy" spc="-5" dirty="0">
                <a:solidFill>
                  <a:srgbClr val="313131"/>
                </a:solidFill>
                <a:uFill>
                  <a:solidFill>
                    <a:srgbClr val="313131"/>
                  </a:solidFill>
                </a:uFill>
                <a:latin typeface="Verdana"/>
                <a:cs typeface="Verdana"/>
              </a:rPr>
              <a:t>Clustering</a:t>
            </a:r>
            <a:r>
              <a:rPr sz="1200" spc="-5" dirty="0">
                <a:solidFill>
                  <a:srgbClr val="313131"/>
                </a:solidFill>
                <a:latin typeface="Verdana"/>
                <a:cs typeface="Verdana"/>
              </a:rPr>
              <a:t>,</a:t>
            </a:r>
            <a:r>
              <a:rPr sz="1200" spc="-25" dirty="0">
                <a:solidFill>
                  <a:srgbClr val="313131"/>
                </a:solidFill>
                <a:latin typeface="Verdana"/>
                <a:cs typeface="Verdana"/>
              </a:rPr>
              <a:t> </a:t>
            </a:r>
            <a:r>
              <a:rPr sz="1200" spc="-5" dirty="0">
                <a:solidFill>
                  <a:srgbClr val="313131"/>
                </a:solidFill>
                <a:latin typeface="Verdana"/>
                <a:cs typeface="Verdana"/>
              </a:rPr>
              <a:t>Dimensionality</a:t>
            </a:r>
            <a:r>
              <a:rPr sz="1200" spc="-25" dirty="0">
                <a:solidFill>
                  <a:srgbClr val="313131"/>
                </a:solidFill>
                <a:latin typeface="Verdana"/>
                <a:cs typeface="Verdana"/>
              </a:rPr>
              <a:t> </a:t>
            </a:r>
            <a:r>
              <a:rPr sz="1200" spc="-5" dirty="0">
                <a:solidFill>
                  <a:srgbClr val="313131"/>
                </a:solidFill>
                <a:latin typeface="Verdana"/>
                <a:cs typeface="Verdana"/>
              </a:rPr>
              <a:t>reduction,</a:t>
            </a:r>
            <a:endParaRPr sz="1200">
              <a:solidFill>
                <a:prstClr val="black"/>
              </a:solidFill>
              <a:latin typeface="Verdana"/>
              <a:cs typeface="Verdana"/>
            </a:endParaRPr>
          </a:p>
          <a:p>
            <a:pPr marL="12700">
              <a:spcBef>
                <a:spcPts val="1185"/>
              </a:spcBef>
            </a:pPr>
            <a:r>
              <a:rPr sz="1200" spc="-5" dirty="0">
                <a:solidFill>
                  <a:srgbClr val="313131"/>
                </a:solidFill>
                <a:latin typeface="Verdana"/>
                <a:cs typeface="Verdana"/>
              </a:rPr>
              <a:t>Feature</a:t>
            </a:r>
            <a:r>
              <a:rPr sz="1200" spc="-30" dirty="0">
                <a:solidFill>
                  <a:srgbClr val="313131"/>
                </a:solidFill>
                <a:latin typeface="Verdana"/>
                <a:cs typeface="Verdana"/>
              </a:rPr>
              <a:t> </a:t>
            </a:r>
            <a:r>
              <a:rPr sz="1200" spc="-5" dirty="0">
                <a:solidFill>
                  <a:srgbClr val="313131"/>
                </a:solidFill>
                <a:latin typeface="Verdana"/>
                <a:cs typeface="Verdana"/>
              </a:rPr>
              <a:t>learning,</a:t>
            </a:r>
            <a:r>
              <a:rPr sz="1200" spc="-25" dirty="0">
                <a:solidFill>
                  <a:srgbClr val="313131"/>
                </a:solidFill>
                <a:latin typeface="Verdana"/>
                <a:cs typeface="Verdana"/>
              </a:rPr>
              <a:t> </a:t>
            </a:r>
            <a:r>
              <a:rPr sz="1200" spc="-5" dirty="0">
                <a:solidFill>
                  <a:srgbClr val="313131"/>
                </a:solidFill>
                <a:latin typeface="Verdana"/>
                <a:cs typeface="Verdana"/>
              </a:rPr>
              <a:t>Density</a:t>
            </a:r>
            <a:r>
              <a:rPr sz="1200" spc="-25" dirty="0">
                <a:solidFill>
                  <a:srgbClr val="313131"/>
                </a:solidFill>
                <a:latin typeface="Verdana"/>
                <a:cs typeface="Verdana"/>
              </a:rPr>
              <a:t> </a:t>
            </a:r>
            <a:r>
              <a:rPr sz="1200" spc="-5" dirty="0">
                <a:solidFill>
                  <a:srgbClr val="313131"/>
                </a:solidFill>
                <a:latin typeface="Verdana"/>
                <a:cs typeface="Verdana"/>
              </a:rPr>
              <a:t>estimation</a:t>
            </a:r>
            <a:endParaRPr sz="1200">
              <a:solidFill>
                <a:prstClr val="black"/>
              </a:solidFill>
              <a:latin typeface="Verdana"/>
              <a:cs typeface="Verdana"/>
            </a:endParaRPr>
          </a:p>
        </p:txBody>
      </p:sp>
      <p:sp>
        <p:nvSpPr>
          <p:cNvPr id="6" name="object 6"/>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7" name="object 7"/>
          <p:cNvSpPr txBox="1"/>
          <p:nvPr/>
        </p:nvSpPr>
        <p:spPr>
          <a:xfrm>
            <a:off x="6284117" y="4579441"/>
            <a:ext cx="1503045" cy="19749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K-means</a:t>
            </a:r>
            <a:r>
              <a:rPr sz="1200" spc="-75" dirty="0">
                <a:solidFill>
                  <a:srgbClr val="313131"/>
                </a:solidFill>
                <a:latin typeface="Verdana"/>
                <a:cs typeface="Verdana"/>
              </a:rPr>
              <a:t> </a:t>
            </a:r>
            <a:r>
              <a:rPr sz="1200" spc="-5" dirty="0">
                <a:solidFill>
                  <a:srgbClr val="313131"/>
                </a:solidFill>
                <a:latin typeface="Verdana"/>
                <a:cs typeface="Verdana"/>
              </a:rPr>
              <a:t>clustering</a:t>
            </a:r>
            <a:endParaRPr sz="1200">
              <a:solidFill>
                <a:prstClr val="black"/>
              </a:solidFill>
              <a:latin typeface="Verdana"/>
              <a:cs typeface="Verdana"/>
            </a:endParaRPr>
          </a:p>
        </p:txBody>
      </p:sp>
      <p:pic>
        <p:nvPicPr>
          <p:cNvPr id="8" name="object 8"/>
          <p:cNvPicPr/>
          <p:nvPr/>
        </p:nvPicPr>
        <p:blipFill>
          <a:blip r:embed="rId2" cstate="print"/>
          <a:stretch>
            <a:fillRect/>
          </a:stretch>
        </p:blipFill>
        <p:spPr>
          <a:xfrm>
            <a:off x="5950509" y="2281840"/>
            <a:ext cx="2408876" cy="2277151"/>
          </a:xfrm>
          <a:prstGeom prst="rect">
            <a:avLst/>
          </a:prstGeom>
        </p:spPr>
      </p:pic>
      <p:sp>
        <p:nvSpPr>
          <p:cNvPr id="11" name="object 11"/>
          <p:cNvSpPr txBox="1"/>
          <p:nvPr/>
        </p:nvSpPr>
        <p:spPr>
          <a:xfrm>
            <a:off x="8456277" y="5733969"/>
            <a:ext cx="617855" cy="175048"/>
          </a:xfrm>
          <a:prstGeom prst="rect">
            <a:avLst/>
          </a:prstGeom>
        </p:spPr>
        <p:txBody>
          <a:bodyPr vert="horz" wrap="square" lIns="0" tIns="13335" rIns="0" bIns="0" rtlCol="0">
            <a:spAutoFit/>
          </a:bodyPr>
          <a:lstStyle/>
          <a:p>
            <a:pPr marL="12700">
              <a:spcBef>
                <a:spcPts val="105"/>
              </a:spcBef>
            </a:pPr>
            <a:r>
              <a:rPr sz="1050" spc="-5" dirty="0">
                <a:solidFill>
                  <a:srgbClr val="313131"/>
                </a:solidFill>
                <a:latin typeface="Verdana"/>
                <a:cs typeface="Verdana"/>
              </a:rPr>
              <a:t>Slide</a:t>
            </a:r>
            <a:r>
              <a:rPr sz="1050" spc="-55" dirty="0">
                <a:solidFill>
                  <a:srgbClr val="313131"/>
                </a:solidFill>
                <a:latin typeface="Verdana"/>
                <a:cs typeface="Verdana"/>
              </a:rPr>
              <a:t> </a:t>
            </a:r>
            <a:r>
              <a:rPr sz="1050" spc="-5" dirty="0">
                <a:solidFill>
                  <a:srgbClr val="313131"/>
                </a:solidFill>
                <a:latin typeface="Verdana"/>
                <a:cs typeface="Verdana"/>
              </a:rPr>
              <a:t>#</a:t>
            </a:r>
            <a:fld id="{81D60167-4931-47E6-BA6A-407CBD079E47}" type="slidenum">
              <a:rPr sz="1050" spc="-5" dirty="0">
                <a:solidFill>
                  <a:srgbClr val="313131"/>
                </a:solidFill>
                <a:latin typeface="Verdana"/>
                <a:cs typeface="Verdana"/>
              </a:rPr>
              <a:pPr marL="12700">
                <a:spcBef>
                  <a:spcPts val="105"/>
                </a:spcBef>
              </a:pPr>
              <a:t>42</a:t>
            </a:fld>
            <a:endParaRPr sz="1050">
              <a:solidFill>
                <a:prstClr val="black"/>
              </a:solidFill>
              <a:latin typeface="Verdana"/>
              <a:cs typeface="Verdana"/>
            </a:endParaRPr>
          </a:p>
        </p:txBody>
      </p:sp>
      <p:pic>
        <p:nvPicPr>
          <p:cNvPr id="12" name="Picture 2" descr="E:\NIET\Project\xLogo11.png.pagespeed.ic.pydHLuCQEZ.png">
            <a:extLst>
              <a:ext uri="{FF2B5EF4-FFF2-40B4-BE49-F238E27FC236}">
                <a16:creationId xmlns:a16="http://schemas.microsoft.com/office/drawing/2014/main" id="{8E2C50CF-42B4-0170-AAB7-C0A838ACE6AD}"/>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3" name="Title 1">
            <a:extLst>
              <a:ext uri="{FF2B5EF4-FFF2-40B4-BE49-F238E27FC236}">
                <a16:creationId xmlns:a16="http://schemas.microsoft.com/office/drawing/2014/main" id="{A4D8280B-AA61-AB5D-5716-2D88CAECCA40}"/>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err="1">
                <a:ln>
                  <a:noFill/>
                </a:ln>
                <a:solidFill>
                  <a:prstClr val="black"/>
                </a:solidFill>
                <a:effectLst/>
                <a:uLnTx/>
                <a:uFillTx/>
                <a:latin typeface="Calibri" panose="020F0502020204030204"/>
                <a:ea typeface="+mn-ea"/>
                <a:cs typeface="+mn-cs"/>
              </a:rPr>
              <a:t>UnSupervised</a:t>
            </a: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 Learning </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092200"/>
            <a:ext cx="2930525" cy="330200"/>
          </a:xfrm>
          <a:prstGeom prst="rect">
            <a:avLst/>
          </a:prstGeom>
        </p:spPr>
        <p:txBody>
          <a:bodyPr vert="horz" wrap="square" lIns="0" tIns="12700" rIns="0" bIns="0" rtlCol="0">
            <a:spAutoFit/>
          </a:bodyPr>
          <a:lstStyle/>
          <a:p>
            <a:pPr marL="12700">
              <a:spcBef>
                <a:spcPts val="100"/>
              </a:spcBef>
            </a:pPr>
            <a:r>
              <a:rPr spc="-5" dirty="0"/>
              <a:t>Unsupervised</a:t>
            </a:r>
            <a:r>
              <a:rPr spc="-85" dirty="0"/>
              <a:t> </a:t>
            </a:r>
            <a:r>
              <a:rPr spc="-5" dirty="0"/>
              <a:t>Learning</a:t>
            </a:r>
          </a:p>
        </p:txBody>
      </p:sp>
      <p:sp>
        <p:nvSpPr>
          <p:cNvPr id="3" name="object 3"/>
          <p:cNvSpPr txBox="1"/>
          <p:nvPr/>
        </p:nvSpPr>
        <p:spPr>
          <a:xfrm>
            <a:off x="431801" y="2201100"/>
            <a:ext cx="2193925" cy="590550"/>
          </a:xfrm>
          <a:prstGeom prst="rect">
            <a:avLst/>
          </a:prstGeom>
        </p:spPr>
        <p:txBody>
          <a:bodyPr vert="horz" wrap="square" lIns="0" tIns="12700" rIns="0" bIns="0" rtlCol="0">
            <a:spAutoFit/>
          </a:bodyPr>
          <a:lstStyle/>
          <a:p>
            <a:pPr marL="12700">
              <a:spcBef>
                <a:spcPts val="100"/>
              </a:spcBef>
            </a:pPr>
            <a:r>
              <a:rPr sz="1400" b="1" dirty="0">
                <a:solidFill>
                  <a:srgbClr val="313131"/>
                </a:solidFill>
                <a:latin typeface="Verdana"/>
                <a:cs typeface="Verdana"/>
              </a:rPr>
              <a:t>Unspervised</a:t>
            </a:r>
            <a:r>
              <a:rPr sz="1400" b="1" spc="-85" dirty="0">
                <a:solidFill>
                  <a:srgbClr val="313131"/>
                </a:solidFill>
                <a:latin typeface="Verdana"/>
                <a:cs typeface="Verdana"/>
              </a:rPr>
              <a:t> </a:t>
            </a:r>
            <a:r>
              <a:rPr sz="1400" b="1" spc="-5" dirty="0">
                <a:solidFill>
                  <a:srgbClr val="313131"/>
                </a:solidFill>
                <a:latin typeface="Verdana"/>
                <a:cs typeface="Verdana"/>
              </a:rPr>
              <a:t>Learning</a:t>
            </a:r>
            <a:endParaRPr sz="1400">
              <a:solidFill>
                <a:prstClr val="black"/>
              </a:solidFill>
              <a:latin typeface="Verdana"/>
              <a:cs typeface="Verdana"/>
            </a:endParaRPr>
          </a:p>
          <a:p>
            <a:pPr marL="12700">
              <a:spcBef>
                <a:spcPts val="1325"/>
              </a:spcBef>
            </a:pPr>
            <a:r>
              <a:rPr sz="1200" b="1" spc="-5" dirty="0">
                <a:solidFill>
                  <a:srgbClr val="313131"/>
                </a:solidFill>
                <a:latin typeface="Verdana"/>
                <a:cs typeface="Verdana"/>
              </a:rPr>
              <a:t>Data:</a:t>
            </a:r>
            <a:r>
              <a:rPr sz="1200" b="1" spc="-25" dirty="0">
                <a:solidFill>
                  <a:srgbClr val="313131"/>
                </a:solidFill>
                <a:latin typeface="Verdana"/>
                <a:cs typeface="Verdana"/>
              </a:rPr>
              <a:t> </a:t>
            </a:r>
            <a:r>
              <a:rPr sz="1200" spc="-5" dirty="0">
                <a:solidFill>
                  <a:srgbClr val="313131"/>
                </a:solidFill>
                <a:latin typeface="Verdana"/>
                <a:cs typeface="Verdana"/>
              </a:rPr>
              <a:t>x,</a:t>
            </a:r>
            <a:r>
              <a:rPr sz="1200" spc="-25" dirty="0">
                <a:solidFill>
                  <a:srgbClr val="313131"/>
                </a:solidFill>
                <a:latin typeface="Verdana"/>
                <a:cs typeface="Verdana"/>
              </a:rPr>
              <a:t> </a:t>
            </a:r>
            <a:r>
              <a:rPr sz="1200" spc="-5" dirty="0">
                <a:solidFill>
                  <a:srgbClr val="313131"/>
                </a:solidFill>
                <a:latin typeface="Verdana"/>
                <a:cs typeface="Verdana"/>
              </a:rPr>
              <a:t>NO</a:t>
            </a:r>
            <a:r>
              <a:rPr sz="1200" spc="-25" dirty="0">
                <a:solidFill>
                  <a:srgbClr val="313131"/>
                </a:solidFill>
                <a:latin typeface="Verdana"/>
                <a:cs typeface="Verdana"/>
              </a:rPr>
              <a:t> </a:t>
            </a:r>
            <a:r>
              <a:rPr sz="1200" spc="-5" dirty="0">
                <a:solidFill>
                  <a:srgbClr val="313131"/>
                </a:solidFill>
                <a:latin typeface="Verdana"/>
                <a:cs typeface="Verdana"/>
              </a:rPr>
              <a:t>labels!!</a:t>
            </a:r>
            <a:endParaRPr sz="1200">
              <a:solidFill>
                <a:prstClr val="black"/>
              </a:solidFill>
              <a:latin typeface="Verdana"/>
              <a:cs typeface="Verdana"/>
            </a:endParaRPr>
          </a:p>
        </p:txBody>
      </p:sp>
      <p:sp>
        <p:nvSpPr>
          <p:cNvPr id="4" name="object 4"/>
          <p:cNvSpPr txBox="1"/>
          <p:nvPr/>
        </p:nvSpPr>
        <p:spPr>
          <a:xfrm>
            <a:off x="431800" y="3297493"/>
            <a:ext cx="3729990" cy="541655"/>
          </a:xfrm>
          <a:prstGeom prst="rect">
            <a:avLst/>
          </a:prstGeom>
        </p:spPr>
        <p:txBody>
          <a:bodyPr vert="horz" wrap="square" lIns="0" tIns="12700" rIns="0" bIns="0" rtlCol="0">
            <a:spAutoFit/>
          </a:bodyPr>
          <a:lstStyle/>
          <a:p>
            <a:pPr marL="12700">
              <a:spcBef>
                <a:spcPts val="100"/>
              </a:spcBef>
            </a:pPr>
            <a:r>
              <a:rPr sz="1200" b="1" spc="-5" dirty="0">
                <a:solidFill>
                  <a:srgbClr val="313131"/>
                </a:solidFill>
                <a:latin typeface="Verdana"/>
                <a:cs typeface="Verdana"/>
              </a:rPr>
              <a:t>Goal:</a:t>
            </a:r>
            <a:r>
              <a:rPr sz="1200" spc="-5" dirty="0">
                <a:solidFill>
                  <a:srgbClr val="313131"/>
                </a:solidFill>
                <a:latin typeface="Verdana"/>
                <a:cs typeface="Verdana"/>
              </a:rPr>
              <a:t>Learn</a:t>
            </a:r>
            <a:r>
              <a:rPr sz="1200" spc="-15" dirty="0">
                <a:solidFill>
                  <a:srgbClr val="313131"/>
                </a:solidFill>
                <a:latin typeface="Verdana"/>
                <a:cs typeface="Verdana"/>
              </a:rPr>
              <a:t> </a:t>
            </a:r>
            <a:r>
              <a:rPr sz="1200" spc="-5" dirty="0">
                <a:solidFill>
                  <a:srgbClr val="313131"/>
                </a:solidFill>
                <a:latin typeface="Verdana"/>
                <a:cs typeface="Verdana"/>
              </a:rPr>
              <a:t>some</a:t>
            </a:r>
            <a:r>
              <a:rPr sz="1200" spc="-15" dirty="0">
                <a:solidFill>
                  <a:srgbClr val="313131"/>
                </a:solidFill>
                <a:latin typeface="Verdana"/>
                <a:cs typeface="Verdana"/>
              </a:rPr>
              <a:t> </a:t>
            </a:r>
            <a:r>
              <a:rPr sz="1200" spc="-5" dirty="0">
                <a:solidFill>
                  <a:srgbClr val="313131"/>
                </a:solidFill>
                <a:latin typeface="Verdana"/>
                <a:cs typeface="Verdana"/>
              </a:rPr>
              <a:t>underlying</a:t>
            </a:r>
            <a:r>
              <a:rPr sz="1200" spc="-15" dirty="0">
                <a:solidFill>
                  <a:srgbClr val="313131"/>
                </a:solidFill>
                <a:latin typeface="Verdana"/>
                <a:cs typeface="Verdana"/>
              </a:rPr>
              <a:t> </a:t>
            </a:r>
            <a:r>
              <a:rPr sz="1200" spc="-5" dirty="0">
                <a:solidFill>
                  <a:srgbClr val="313131"/>
                </a:solidFill>
                <a:latin typeface="Verdana"/>
                <a:cs typeface="Verdana"/>
              </a:rPr>
              <a:t>hidden</a:t>
            </a:r>
            <a:r>
              <a:rPr sz="1200" spc="-15" dirty="0">
                <a:solidFill>
                  <a:srgbClr val="313131"/>
                </a:solidFill>
                <a:latin typeface="Verdana"/>
                <a:cs typeface="Verdana"/>
              </a:rPr>
              <a:t> </a:t>
            </a:r>
            <a:r>
              <a:rPr sz="1200" spc="-5" dirty="0">
                <a:solidFill>
                  <a:srgbClr val="313131"/>
                </a:solidFill>
                <a:latin typeface="Verdana"/>
                <a:cs typeface="Verdana"/>
              </a:rPr>
              <a:t>structure</a:t>
            </a:r>
            <a:r>
              <a:rPr sz="1200" spc="-15" dirty="0">
                <a:solidFill>
                  <a:srgbClr val="313131"/>
                </a:solidFill>
                <a:latin typeface="Verdana"/>
                <a:cs typeface="Verdana"/>
              </a:rPr>
              <a:t> </a:t>
            </a:r>
            <a:r>
              <a:rPr sz="1200" spc="-5" dirty="0">
                <a:solidFill>
                  <a:srgbClr val="313131"/>
                </a:solidFill>
                <a:latin typeface="Verdana"/>
                <a:cs typeface="Verdana"/>
              </a:rPr>
              <a:t>of</a:t>
            </a:r>
            <a:endParaRPr sz="1200">
              <a:solidFill>
                <a:prstClr val="black"/>
              </a:solidFill>
              <a:latin typeface="Verdana"/>
              <a:cs typeface="Verdana"/>
            </a:endParaRPr>
          </a:p>
          <a:p>
            <a:pPr marL="12700">
              <a:spcBef>
                <a:spcPts val="1185"/>
              </a:spcBef>
            </a:pPr>
            <a:r>
              <a:rPr sz="1200" spc="-5" dirty="0">
                <a:solidFill>
                  <a:srgbClr val="313131"/>
                </a:solidFill>
                <a:latin typeface="Verdana"/>
                <a:cs typeface="Verdana"/>
              </a:rPr>
              <a:t>the</a:t>
            </a:r>
            <a:r>
              <a:rPr sz="1200" spc="-55" dirty="0">
                <a:solidFill>
                  <a:srgbClr val="313131"/>
                </a:solidFill>
                <a:latin typeface="Verdana"/>
                <a:cs typeface="Verdana"/>
              </a:rPr>
              <a:t> </a:t>
            </a:r>
            <a:r>
              <a:rPr sz="1200" spc="-5" dirty="0">
                <a:solidFill>
                  <a:srgbClr val="313131"/>
                </a:solidFill>
                <a:latin typeface="Verdana"/>
                <a:cs typeface="Verdana"/>
              </a:rPr>
              <a:t>data</a:t>
            </a:r>
            <a:endParaRPr sz="1200">
              <a:solidFill>
                <a:prstClr val="black"/>
              </a:solidFill>
              <a:latin typeface="Verdana"/>
              <a:cs typeface="Verdana"/>
            </a:endParaRPr>
          </a:p>
        </p:txBody>
      </p:sp>
      <p:sp>
        <p:nvSpPr>
          <p:cNvPr id="5" name="object 5"/>
          <p:cNvSpPr txBox="1"/>
          <p:nvPr/>
        </p:nvSpPr>
        <p:spPr>
          <a:xfrm>
            <a:off x="431800" y="4297618"/>
            <a:ext cx="4053840" cy="541655"/>
          </a:xfrm>
          <a:prstGeom prst="rect">
            <a:avLst/>
          </a:prstGeom>
        </p:spPr>
        <p:txBody>
          <a:bodyPr vert="horz" wrap="square" lIns="0" tIns="12700" rIns="0" bIns="0" rtlCol="0">
            <a:spAutoFit/>
          </a:bodyPr>
          <a:lstStyle/>
          <a:p>
            <a:pPr marL="12700">
              <a:spcBef>
                <a:spcPts val="100"/>
              </a:spcBef>
            </a:pPr>
            <a:r>
              <a:rPr sz="1200" b="1" spc="-5" dirty="0">
                <a:solidFill>
                  <a:srgbClr val="313131"/>
                </a:solidFill>
                <a:latin typeface="Verdana"/>
                <a:cs typeface="Verdana"/>
              </a:rPr>
              <a:t>Examples</a:t>
            </a:r>
            <a:r>
              <a:rPr sz="1200" spc="-5" dirty="0">
                <a:solidFill>
                  <a:srgbClr val="313131"/>
                </a:solidFill>
                <a:latin typeface="Verdana"/>
                <a:cs typeface="Verdana"/>
              </a:rPr>
              <a:t>:</a:t>
            </a:r>
            <a:r>
              <a:rPr sz="1200" spc="-25" dirty="0">
                <a:solidFill>
                  <a:srgbClr val="313131"/>
                </a:solidFill>
                <a:latin typeface="Verdana"/>
                <a:cs typeface="Verdana"/>
              </a:rPr>
              <a:t> </a:t>
            </a:r>
            <a:r>
              <a:rPr sz="1200" spc="-5" dirty="0">
                <a:solidFill>
                  <a:srgbClr val="313131"/>
                </a:solidFill>
                <a:latin typeface="Verdana"/>
                <a:cs typeface="Verdana"/>
              </a:rPr>
              <a:t>Clustering,</a:t>
            </a:r>
            <a:r>
              <a:rPr sz="1200" spc="-15" dirty="0">
                <a:solidFill>
                  <a:srgbClr val="313131"/>
                </a:solidFill>
                <a:latin typeface="Verdana"/>
                <a:cs typeface="Verdana"/>
              </a:rPr>
              <a:t> </a:t>
            </a:r>
            <a:r>
              <a:rPr sz="1200" b="1" u="heavy" spc="-5" dirty="0">
                <a:solidFill>
                  <a:srgbClr val="313131"/>
                </a:solidFill>
                <a:uFill>
                  <a:solidFill>
                    <a:srgbClr val="313131"/>
                  </a:solidFill>
                </a:uFill>
                <a:latin typeface="Verdana"/>
                <a:cs typeface="Verdana"/>
              </a:rPr>
              <a:t>Dimensionality</a:t>
            </a:r>
            <a:r>
              <a:rPr sz="1200" b="1" u="heavy" spc="-25" dirty="0">
                <a:solidFill>
                  <a:srgbClr val="313131"/>
                </a:solidFill>
                <a:uFill>
                  <a:solidFill>
                    <a:srgbClr val="313131"/>
                  </a:solidFill>
                </a:uFill>
                <a:latin typeface="Verdana"/>
                <a:cs typeface="Verdana"/>
              </a:rPr>
              <a:t> </a:t>
            </a:r>
            <a:r>
              <a:rPr sz="1200" b="1" u="heavy" spc="-5" dirty="0">
                <a:solidFill>
                  <a:srgbClr val="313131"/>
                </a:solidFill>
                <a:uFill>
                  <a:solidFill>
                    <a:srgbClr val="313131"/>
                  </a:solidFill>
                </a:uFill>
                <a:latin typeface="Verdana"/>
                <a:cs typeface="Verdana"/>
              </a:rPr>
              <a:t>reduction</a:t>
            </a:r>
            <a:r>
              <a:rPr sz="1200" spc="-5" dirty="0">
                <a:solidFill>
                  <a:srgbClr val="313131"/>
                </a:solidFill>
                <a:latin typeface="Verdana"/>
                <a:cs typeface="Verdana"/>
              </a:rPr>
              <a:t>,</a:t>
            </a:r>
            <a:endParaRPr sz="1200">
              <a:solidFill>
                <a:prstClr val="black"/>
              </a:solidFill>
              <a:latin typeface="Verdana"/>
              <a:cs typeface="Verdana"/>
            </a:endParaRPr>
          </a:p>
          <a:p>
            <a:pPr marL="12700">
              <a:spcBef>
                <a:spcPts val="1185"/>
              </a:spcBef>
            </a:pPr>
            <a:r>
              <a:rPr sz="1200" spc="-5" dirty="0">
                <a:solidFill>
                  <a:srgbClr val="313131"/>
                </a:solidFill>
                <a:latin typeface="Verdana"/>
                <a:cs typeface="Verdana"/>
              </a:rPr>
              <a:t>Feature</a:t>
            </a:r>
            <a:r>
              <a:rPr sz="1200" spc="-30" dirty="0">
                <a:solidFill>
                  <a:srgbClr val="313131"/>
                </a:solidFill>
                <a:latin typeface="Verdana"/>
                <a:cs typeface="Verdana"/>
              </a:rPr>
              <a:t> </a:t>
            </a:r>
            <a:r>
              <a:rPr sz="1200" spc="-5" dirty="0">
                <a:solidFill>
                  <a:srgbClr val="313131"/>
                </a:solidFill>
                <a:latin typeface="Verdana"/>
                <a:cs typeface="Verdana"/>
              </a:rPr>
              <a:t>learning,</a:t>
            </a:r>
            <a:r>
              <a:rPr sz="1200" spc="-25" dirty="0">
                <a:solidFill>
                  <a:srgbClr val="313131"/>
                </a:solidFill>
                <a:latin typeface="Verdana"/>
                <a:cs typeface="Verdana"/>
              </a:rPr>
              <a:t> </a:t>
            </a:r>
            <a:r>
              <a:rPr sz="1200" spc="-5" dirty="0">
                <a:solidFill>
                  <a:srgbClr val="313131"/>
                </a:solidFill>
                <a:latin typeface="Verdana"/>
                <a:cs typeface="Verdana"/>
              </a:rPr>
              <a:t>Density</a:t>
            </a:r>
            <a:r>
              <a:rPr sz="1200" spc="-25" dirty="0">
                <a:solidFill>
                  <a:srgbClr val="313131"/>
                </a:solidFill>
                <a:latin typeface="Verdana"/>
                <a:cs typeface="Verdana"/>
              </a:rPr>
              <a:t> </a:t>
            </a:r>
            <a:r>
              <a:rPr sz="1200" spc="-5" dirty="0">
                <a:solidFill>
                  <a:srgbClr val="313131"/>
                </a:solidFill>
                <a:latin typeface="Verdana"/>
                <a:cs typeface="Verdana"/>
              </a:rPr>
              <a:t>estimation</a:t>
            </a:r>
            <a:endParaRPr sz="1200">
              <a:solidFill>
                <a:prstClr val="black"/>
              </a:solidFill>
              <a:latin typeface="Verdana"/>
              <a:cs typeface="Verdana"/>
            </a:endParaRPr>
          </a:p>
        </p:txBody>
      </p:sp>
      <p:sp>
        <p:nvSpPr>
          <p:cNvPr id="6" name="object 6"/>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7" name="object 7"/>
          <p:cNvSpPr txBox="1"/>
          <p:nvPr/>
        </p:nvSpPr>
        <p:spPr>
          <a:xfrm>
            <a:off x="5989150" y="3896084"/>
            <a:ext cx="2091055" cy="182101"/>
          </a:xfrm>
          <a:prstGeom prst="rect">
            <a:avLst/>
          </a:prstGeom>
        </p:spPr>
        <p:txBody>
          <a:bodyPr vert="horz" wrap="square" lIns="0" tIns="12700" rIns="0" bIns="0" rtlCol="0">
            <a:spAutoFit/>
          </a:bodyPr>
          <a:lstStyle/>
          <a:p>
            <a:pPr marL="12700">
              <a:spcBef>
                <a:spcPts val="100"/>
              </a:spcBef>
            </a:pPr>
            <a:r>
              <a:rPr sz="1100" spc="-5" dirty="0">
                <a:solidFill>
                  <a:srgbClr val="313131"/>
                </a:solidFill>
                <a:latin typeface="Verdana"/>
                <a:cs typeface="Verdana"/>
              </a:rPr>
              <a:t>Principal</a:t>
            </a:r>
            <a:r>
              <a:rPr sz="1100" spc="-40" dirty="0">
                <a:solidFill>
                  <a:srgbClr val="313131"/>
                </a:solidFill>
                <a:latin typeface="Verdana"/>
                <a:cs typeface="Verdana"/>
              </a:rPr>
              <a:t> </a:t>
            </a:r>
            <a:r>
              <a:rPr sz="1100" spc="-5" dirty="0">
                <a:solidFill>
                  <a:srgbClr val="313131"/>
                </a:solidFill>
                <a:latin typeface="Verdana"/>
                <a:cs typeface="Verdana"/>
              </a:rPr>
              <a:t>Component</a:t>
            </a:r>
            <a:r>
              <a:rPr sz="1100" spc="-40" dirty="0">
                <a:solidFill>
                  <a:srgbClr val="313131"/>
                </a:solidFill>
                <a:latin typeface="Verdana"/>
                <a:cs typeface="Verdana"/>
              </a:rPr>
              <a:t> </a:t>
            </a:r>
            <a:r>
              <a:rPr sz="1100" spc="-5" dirty="0">
                <a:solidFill>
                  <a:srgbClr val="313131"/>
                </a:solidFill>
                <a:latin typeface="Verdana"/>
                <a:cs typeface="Verdana"/>
              </a:rPr>
              <a:t>Analysis</a:t>
            </a:r>
            <a:endParaRPr sz="1100">
              <a:solidFill>
                <a:prstClr val="black"/>
              </a:solidFill>
              <a:latin typeface="Verdana"/>
              <a:cs typeface="Verdana"/>
            </a:endParaRPr>
          </a:p>
        </p:txBody>
      </p:sp>
      <p:pic>
        <p:nvPicPr>
          <p:cNvPr id="8" name="object 8"/>
          <p:cNvPicPr/>
          <p:nvPr/>
        </p:nvPicPr>
        <p:blipFill>
          <a:blip r:embed="rId2" cstate="print"/>
          <a:stretch>
            <a:fillRect/>
          </a:stretch>
        </p:blipFill>
        <p:spPr>
          <a:xfrm>
            <a:off x="4654593" y="2128762"/>
            <a:ext cx="4272061" cy="1647060"/>
          </a:xfrm>
          <a:prstGeom prst="rect">
            <a:avLst/>
          </a:prstGeom>
        </p:spPr>
      </p:pic>
      <p:sp>
        <p:nvSpPr>
          <p:cNvPr id="11" name="object 11"/>
          <p:cNvSpPr txBox="1"/>
          <p:nvPr/>
        </p:nvSpPr>
        <p:spPr>
          <a:xfrm>
            <a:off x="8456277" y="5733969"/>
            <a:ext cx="617855" cy="175048"/>
          </a:xfrm>
          <a:prstGeom prst="rect">
            <a:avLst/>
          </a:prstGeom>
        </p:spPr>
        <p:txBody>
          <a:bodyPr vert="horz" wrap="square" lIns="0" tIns="13335" rIns="0" bIns="0" rtlCol="0">
            <a:spAutoFit/>
          </a:bodyPr>
          <a:lstStyle/>
          <a:p>
            <a:pPr marL="12700">
              <a:spcBef>
                <a:spcPts val="105"/>
              </a:spcBef>
            </a:pPr>
            <a:r>
              <a:rPr sz="1050" spc="-5" dirty="0">
                <a:solidFill>
                  <a:srgbClr val="313131"/>
                </a:solidFill>
                <a:latin typeface="Verdana"/>
                <a:cs typeface="Verdana"/>
              </a:rPr>
              <a:t>Slide</a:t>
            </a:r>
            <a:r>
              <a:rPr sz="1050" spc="-55" dirty="0">
                <a:solidFill>
                  <a:srgbClr val="313131"/>
                </a:solidFill>
                <a:latin typeface="Verdana"/>
                <a:cs typeface="Verdana"/>
              </a:rPr>
              <a:t> </a:t>
            </a:r>
            <a:r>
              <a:rPr sz="1050" spc="-5" dirty="0">
                <a:solidFill>
                  <a:srgbClr val="313131"/>
                </a:solidFill>
                <a:latin typeface="Verdana"/>
                <a:cs typeface="Verdana"/>
              </a:rPr>
              <a:t>#</a:t>
            </a:r>
            <a:fld id="{81D60167-4931-47E6-BA6A-407CBD079E47}" type="slidenum">
              <a:rPr sz="1050" spc="-5" dirty="0">
                <a:solidFill>
                  <a:srgbClr val="313131"/>
                </a:solidFill>
                <a:latin typeface="Verdana"/>
                <a:cs typeface="Verdana"/>
              </a:rPr>
              <a:pPr marL="12700">
                <a:spcBef>
                  <a:spcPts val="105"/>
                </a:spcBef>
              </a:pPr>
              <a:t>43</a:t>
            </a:fld>
            <a:endParaRPr sz="1050">
              <a:solidFill>
                <a:prstClr val="black"/>
              </a:solidFill>
              <a:latin typeface="Verdana"/>
              <a:cs typeface="Verdana"/>
            </a:endParaRPr>
          </a:p>
        </p:txBody>
      </p:sp>
      <p:pic>
        <p:nvPicPr>
          <p:cNvPr id="12" name="Picture 2" descr="E:\NIET\Project\xLogo11.png.pagespeed.ic.pydHLuCQEZ.png">
            <a:extLst>
              <a:ext uri="{FF2B5EF4-FFF2-40B4-BE49-F238E27FC236}">
                <a16:creationId xmlns:a16="http://schemas.microsoft.com/office/drawing/2014/main" id="{101D89D6-6913-60D4-F154-23F46DB6F777}"/>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3" name="Title 1">
            <a:extLst>
              <a:ext uri="{FF2B5EF4-FFF2-40B4-BE49-F238E27FC236}">
                <a16:creationId xmlns:a16="http://schemas.microsoft.com/office/drawing/2014/main" id="{5D1F8E3F-9F50-0C34-89EE-EFC5E3BFE6C7}"/>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err="1">
                <a:ln>
                  <a:noFill/>
                </a:ln>
                <a:solidFill>
                  <a:prstClr val="black"/>
                </a:solidFill>
                <a:effectLst/>
                <a:uLnTx/>
                <a:uFillTx/>
                <a:latin typeface="Calibri" panose="020F0502020204030204"/>
                <a:ea typeface="+mn-ea"/>
                <a:cs typeface="+mn-cs"/>
              </a:rPr>
              <a:t>UnSupervised</a:t>
            </a: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 Learning </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092200"/>
            <a:ext cx="2930525" cy="330200"/>
          </a:xfrm>
          <a:prstGeom prst="rect">
            <a:avLst/>
          </a:prstGeom>
        </p:spPr>
        <p:txBody>
          <a:bodyPr vert="horz" wrap="square" lIns="0" tIns="12700" rIns="0" bIns="0" rtlCol="0">
            <a:spAutoFit/>
          </a:bodyPr>
          <a:lstStyle/>
          <a:p>
            <a:pPr marL="12700">
              <a:spcBef>
                <a:spcPts val="100"/>
              </a:spcBef>
            </a:pPr>
            <a:r>
              <a:rPr spc="-5" dirty="0"/>
              <a:t>Unsupervised</a:t>
            </a:r>
            <a:r>
              <a:rPr spc="-85" dirty="0"/>
              <a:t> </a:t>
            </a:r>
            <a:r>
              <a:rPr spc="-5" dirty="0"/>
              <a:t>Learning</a:t>
            </a:r>
          </a:p>
        </p:txBody>
      </p:sp>
      <p:sp>
        <p:nvSpPr>
          <p:cNvPr id="3" name="object 3"/>
          <p:cNvSpPr txBox="1"/>
          <p:nvPr/>
        </p:nvSpPr>
        <p:spPr>
          <a:xfrm>
            <a:off x="431801" y="2201100"/>
            <a:ext cx="2193925" cy="590550"/>
          </a:xfrm>
          <a:prstGeom prst="rect">
            <a:avLst/>
          </a:prstGeom>
        </p:spPr>
        <p:txBody>
          <a:bodyPr vert="horz" wrap="square" lIns="0" tIns="12700" rIns="0" bIns="0" rtlCol="0">
            <a:spAutoFit/>
          </a:bodyPr>
          <a:lstStyle/>
          <a:p>
            <a:pPr marL="12700">
              <a:spcBef>
                <a:spcPts val="100"/>
              </a:spcBef>
            </a:pPr>
            <a:r>
              <a:rPr sz="1400" b="1" dirty="0">
                <a:solidFill>
                  <a:srgbClr val="313131"/>
                </a:solidFill>
                <a:latin typeface="Verdana"/>
                <a:cs typeface="Verdana"/>
              </a:rPr>
              <a:t>Unspervised</a:t>
            </a:r>
            <a:r>
              <a:rPr sz="1400" b="1" spc="-85" dirty="0">
                <a:solidFill>
                  <a:srgbClr val="313131"/>
                </a:solidFill>
                <a:latin typeface="Verdana"/>
                <a:cs typeface="Verdana"/>
              </a:rPr>
              <a:t> </a:t>
            </a:r>
            <a:r>
              <a:rPr sz="1400" b="1" spc="-5" dirty="0">
                <a:solidFill>
                  <a:srgbClr val="313131"/>
                </a:solidFill>
                <a:latin typeface="Verdana"/>
                <a:cs typeface="Verdana"/>
              </a:rPr>
              <a:t>Learning</a:t>
            </a:r>
            <a:endParaRPr sz="1400">
              <a:solidFill>
                <a:prstClr val="black"/>
              </a:solidFill>
              <a:latin typeface="Verdana"/>
              <a:cs typeface="Verdana"/>
            </a:endParaRPr>
          </a:p>
          <a:p>
            <a:pPr marL="12700">
              <a:spcBef>
                <a:spcPts val="1325"/>
              </a:spcBef>
            </a:pPr>
            <a:r>
              <a:rPr sz="1200" b="1" spc="-5" dirty="0">
                <a:solidFill>
                  <a:srgbClr val="313131"/>
                </a:solidFill>
                <a:latin typeface="Verdana"/>
                <a:cs typeface="Verdana"/>
              </a:rPr>
              <a:t>Data:</a:t>
            </a:r>
            <a:r>
              <a:rPr sz="1200" b="1" spc="-25" dirty="0">
                <a:solidFill>
                  <a:srgbClr val="313131"/>
                </a:solidFill>
                <a:latin typeface="Verdana"/>
                <a:cs typeface="Verdana"/>
              </a:rPr>
              <a:t> </a:t>
            </a:r>
            <a:r>
              <a:rPr sz="1200" spc="-5" dirty="0">
                <a:solidFill>
                  <a:srgbClr val="313131"/>
                </a:solidFill>
                <a:latin typeface="Verdana"/>
                <a:cs typeface="Verdana"/>
              </a:rPr>
              <a:t>x,</a:t>
            </a:r>
            <a:r>
              <a:rPr sz="1200" spc="-25" dirty="0">
                <a:solidFill>
                  <a:srgbClr val="313131"/>
                </a:solidFill>
                <a:latin typeface="Verdana"/>
                <a:cs typeface="Verdana"/>
              </a:rPr>
              <a:t> </a:t>
            </a:r>
            <a:r>
              <a:rPr sz="1200" spc="-5" dirty="0">
                <a:solidFill>
                  <a:srgbClr val="313131"/>
                </a:solidFill>
                <a:latin typeface="Verdana"/>
                <a:cs typeface="Verdana"/>
              </a:rPr>
              <a:t>NO</a:t>
            </a:r>
            <a:r>
              <a:rPr sz="1200" spc="-25" dirty="0">
                <a:solidFill>
                  <a:srgbClr val="313131"/>
                </a:solidFill>
                <a:latin typeface="Verdana"/>
                <a:cs typeface="Verdana"/>
              </a:rPr>
              <a:t> </a:t>
            </a:r>
            <a:r>
              <a:rPr sz="1200" spc="-5" dirty="0">
                <a:solidFill>
                  <a:srgbClr val="313131"/>
                </a:solidFill>
                <a:latin typeface="Verdana"/>
                <a:cs typeface="Verdana"/>
              </a:rPr>
              <a:t>labels!!</a:t>
            </a:r>
            <a:endParaRPr sz="1200">
              <a:solidFill>
                <a:prstClr val="black"/>
              </a:solidFill>
              <a:latin typeface="Verdana"/>
              <a:cs typeface="Verdana"/>
            </a:endParaRPr>
          </a:p>
        </p:txBody>
      </p:sp>
      <p:sp>
        <p:nvSpPr>
          <p:cNvPr id="4" name="object 4"/>
          <p:cNvSpPr txBox="1"/>
          <p:nvPr/>
        </p:nvSpPr>
        <p:spPr>
          <a:xfrm>
            <a:off x="431800" y="3297492"/>
            <a:ext cx="4422140" cy="197490"/>
          </a:xfrm>
          <a:prstGeom prst="rect">
            <a:avLst/>
          </a:prstGeom>
        </p:spPr>
        <p:txBody>
          <a:bodyPr vert="horz" wrap="square" lIns="0" tIns="12700" rIns="0" bIns="0" rtlCol="0">
            <a:spAutoFit/>
          </a:bodyPr>
          <a:lstStyle/>
          <a:p>
            <a:pPr marL="12700">
              <a:spcBef>
                <a:spcPts val="100"/>
              </a:spcBef>
            </a:pPr>
            <a:r>
              <a:rPr sz="1200" b="1" spc="-5" dirty="0">
                <a:solidFill>
                  <a:srgbClr val="313131"/>
                </a:solidFill>
                <a:latin typeface="Verdana"/>
                <a:cs typeface="Verdana"/>
              </a:rPr>
              <a:t>Goal:</a:t>
            </a:r>
            <a:r>
              <a:rPr sz="1200" spc="-5" dirty="0">
                <a:solidFill>
                  <a:srgbClr val="313131"/>
                </a:solidFill>
                <a:latin typeface="Verdana"/>
                <a:cs typeface="Verdana"/>
              </a:rPr>
              <a:t>Learn</a:t>
            </a:r>
            <a:r>
              <a:rPr sz="1200" spc="-15" dirty="0">
                <a:solidFill>
                  <a:srgbClr val="313131"/>
                </a:solidFill>
                <a:latin typeface="Verdana"/>
                <a:cs typeface="Verdana"/>
              </a:rPr>
              <a:t> </a:t>
            </a:r>
            <a:r>
              <a:rPr sz="1200" spc="-5" dirty="0">
                <a:solidFill>
                  <a:srgbClr val="313131"/>
                </a:solidFill>
                <a:latin typeface="Verdana"/>
                <a:cs typeface="Verdana"/>
              </a:rPr>
              <a:t>some</a:t>
            </a:r>
            <a:r>
              <a:rPr sz="1200" spc="-10" dirty="0">
                <a:solidFill>
                  <a:srgbClr val="313131"/>
                </a:solidFill>
                <a:latin typeface="Verdana"/>
                <a:cs typeface="Verdana"/>
              </a:rPr>
              <a:t> </a:t>
            </a:r>
            <a:r>
              <a:rPr sz="1200" spc="-5" dirty="0">
                <a:solidFill>
                  <a:srgbClr val="313131"/>
                </a:solidFill>
                <a:latin typeface="Verdana"/>
                <a:cs typeface="Verdana"/>
              </a:rPr>
              <a:t>underlying</a:t>
            </a:r>
            <a:r>
              <a:rPr sz="1200" spc="-10" dirty="0">
                <a:solidFill>
                  <a:srgbClr val="313131"/>
                </a:solidFill>
                <a:latin typeface="Verdana"/>
                <a:cs typeface="Verdana"/>
              </a:rPr>
              <a:t> </a:t>
            </a:r>
            <a:r>
              <a:rPr sz="1200" spc="-5" dirty="0">
                <a:solidFill>
                  <a:srgbClr val="313131"/>
                </a:solidFill>
                <a:latin typeface="Verdana"/>
                <a:cs typeface="Verdana"/>
              </a:rPr>
              <a:t>hidden</a:t>
            </a:r>
            <a:r>
              <a:rPr sz="1200" spc="-10" dirty="0">
                <a:solidFill>
                  <a:srgbClr val="313131"/>
                </a:solidFill>
                <a:latin typeface="Verdana"/>
                <a:cs typeface="Verdana"/>
              </a:rPr>
              <a:t> </a:t>
            </a:r>
            <a:r>
              <a:rPr sz="1200" spc="-5" dirty="0">
                <a:solidFill>
                  <a:srgbClr val="313131"/>
                </a:solidFill>
                <a:latin typeface="Verdana"/>
                <a:cs typeface="Verdana"/>
              </a:rPr>
              <a:t>structure</a:t>
            </a:r>
            <a:r>
              <a:rPr sz="1200" spc="-10" dirty="0">
                <a:solidFill>
                  <a:srgbClr val="313131"/>
                </a:solidFill>
                <a:latin typeface="Verdana"/>
                <a:cs typeface="Verdana"/>
              </a:rPr>
              <a:t> </a:t>
            </a:r>
            <a:r>
              <a:rPr sz="1200" spc="-5" dirty="0">
                <a:solidFill>
                  <a:srgbClr val="313131"/>
                </a:solidFill>
                <a:latin typeface="Verdana"/>
                <a:cs typeface="Verdana"/>
              </a:rPr>
              <a:t>of</a:t>
            </a:r>
            <a:r>
              <a:rPr sz="1200" spc="-10" dirty="0">
                <a:solidFill>
                  <a:srgbClr val="313131"/>
                </a:solidFill>
                <a:latin typeface="Verdana"/>
                <a:cs typeface="Verdana"/>
              </a:rPr>
              <a:t> </a:t>
            </a:r>
            <a:r>
              <a:rPr sz="1200" spc="-5" dirty="0">
                <a:solidFill>
                  <a:srgbClr val="313131"/>
                </a:solidFill>
                <a:latin typeface="Verdana"/>
                <a:cs typeface="Verdana"/>
              </a:rPr>
              <a:t>the</a:t>
            </a:r>
            <a:r>
              <a:rPr sz="1200" spc="-10" dirty="0">
                <a:solidFill>
                  <a:srgbClr val="313131"/>
                </a:solidFill>
                <a:latin typeface="Verdana"/>
                <a:cs typeface="Verdana"/>
              </a:rPr>
              <a:t> </a:t>
            </a:r>
            <a:r>
              <a:rPr sz="1200" spc="-5" dirty="0">
                <a:solidFill>
                  <a:srgbClr val="313131"/>
                </a:solidFill>
                <a:latin typeface="Verdana"/>
                <a:cs typeface="Verdana"/>
              </a:rPr>
              <a:t>data</a:t>
            </a:r>
            <a:endParaRPr sz="1200">
              <a:solidFill>
                <a:prstClr val="black"/>
              </a:solidFill>
              <a:latin typeface="Verdana"/>
              <a:cs typeface="Verdana"/>
            </a:endParaRPr>
          </a:p>
        </p:txBody>
      </p:sp>
      <p:sp>
        <p:nvSpPr>
          <p:cNvPr id="5" name="object 5"/>
          <p:cNvSpPr txBox="1"/>
          <p:nvPr/>
        </p:nvSpPr>
        <p:spPr>
          <a:xfrm>
            <a:off x="431800" y="3964243"/>
            <a:ext cx="3801110" cy="541655"/>
          </a:xfrm>
          <a:prstGeom prst="rect">
            <a:avLst/>
          </a:prstGeom>
        </p:spPr>
        <p:txBody>
          <a:bodyPr vert="horz" wrap="square" lIns="0" tIns="12700" rIns="0" bIns="0" rtlCol="0">
            <a:spAutoFit/>
          </a:bodyPr>
          <a:lstStyle/>
          <a:p>
            <a:pPr marL="12700">
              <a:spcBef>
                <a:spcPts val="100"/>
              </a:spcBef>
            </a:pPr>
            <a:r>
              <a:rPr sz="1200" b="1" spc="-5" dirty="0">
                <a:solidFill>
                  <a:srgbClr val="313131"/>
                </a:solidFill>
                <a:latin typeface="Verdana"/>
                <a:cs typeface="Verdana"/>
              </a:rPr>
              <a:t>Examples</a:t>
            </a:r>
            <a:r>
              <a:rPr sz="1200" spc="-5" dirty="0">
                <a:solidFill>
                  <a:srgbClr val="313131"/>
                </a:solidFill>
                <a:latin typeface="Verdana"/>
                <a:cs typeface="Verdana"/>
              </a:rPr>
              <a:t>:</a:t>
            </a:r>
            <a:r>
              <a:rPr sz="1200" spc="-30" dirty="0">
                <a:solidFill>
                  <a:srgbClr val="313131"/>
                </a:solidFill>
                <a:latin typeface="Verdana"/>
                <a:cs typeface="Verdana"/>
              </a:rPr>
              <a:t> </a:t>
            </a:r>
            <a:r>
              <a:rPr sz="1200" spc="-5" dirty="0">
                <a:solidFill>
                  <a:srgbClr val="313131"/>
                </a:solidFill>
                <a:latin typeface="Verdana"/>
                <a:cs typeface="Verdana"/>
              </a:rPr>
              <a:t>Clustering,</a:t>
            </a:r>
            <a:r>
              <a:rPr sz="1200" spc="-25" dirty="0">
                <a:solidFill>
                  <a:srgbClr val="313131"/>
                </a:solidFill>
                <a:latin typeface="Verdana"/>
                <a:cs typeface="Verdana"/>
              </a:rPr>
              <a:t> </a:t>
            </a:r>
            <a:r>
              <a:rPr sz="1200" spc="-5" dirty="0">
                <a:solidFill>
                  <a:srgbClr val="313131"/>
                </a:solidFill>
                <a:latin typeface="Verdana"/>
                <a:cs typeface="Verdana"/>
              </a:rPr>
              <a:t>Dimensionality</a:t>
            </a:r>
            <a:r>
              <a:rPr sz="1200" spc="-30" dirty="0">
                <a:solidFill>
                  <a:srgbClr val="313131"/>
                </a:solidFill>
                <a:latin typeface="Verdana"/>
                <a:cs typeface="Verdana"/>
              </a:rPr>
              <a:t> </a:t>
            </a:r>
            <a:r>
              <a:rPr sz="1200" spc="-5" dirty="0">
                <a:solidFill>
                  <a:srgbClr val="313131"/>
                </a:solidFill>
                <a:latin typeface="Verdana"/>
                <a:cs typeface="Verdana"/>
              </a:rPr>
              <a:t>reduction,</a:t>
            </a:r>
            <a:endParaRPr sz="1200">
              <a:solidFill>
                <a:prstClr val="black"/>
              </a:solidFill>
              <a:latin typeface="Verdana"/>
              <a:cs typeface="Verdana"/>
            </a:endParaRPr>
          </a:p>
          <a:p>
            <a:pPr marL="12700">
              <a:spcBef>
                <a:spcPts val="1185"/>
              </a:spcBef>
            </a:pPr>
            <a:r>
              <a:rPr sz="1200" spc="-5" dirty="0">
                <a:solidFill>
                  <a:srgbClr val="313131"/>
                </a:solidFill>
                <a:latin typeface="Verdana"/>
                <a:cs typeface="Verdana"/>
              </a:rPr>
              <a:t>Feature</a:t>
            </a:r>
            <a:r>
              <a:rPr sz="1200" spc="-30" dirty="0">
                <a:solidFill>
                  <a:srgbClr val="313131"/>
                </a:solidFill>
                <a:latin typeface="Verdana"/>
                <a:cs typeface="Verdana"/>
              </a:rPr>
              <a:t> </a:t>
            </a:r>
            <a:r>
              <a:rPr sz="1200" spc="-5" dirty="0">
                <a:solidFill>
                  <a:srgbClr val="313131"/>
                </a:solidFill>
                <a:latin typeface="Verdana"/>
                <a:cs typeface="Verdana"/>
              </a:rPr>
              <a:t>learning,</a:t>
            </a:r>
            <a:r>
              <a:rPr sz="1200" dirty="0">
                <a:solidFill>
                  <a:srgbClr val="313131"/>
                </a:solidFill>
                <a:latin typeface="Verdana"/>
                <a:cs typeface="Verdana"/>
              </a:rPr>
              <a:t> </a:t>
            </a:r>
            <a:r>
              <a:rPr sz="1200" b="1" spc="-5" dirty="0">
                <a:solidFill>
                  <a:srgbClr val="313131"/>
                </a:solidFill>
                <a:latin typeface="Verdana"/>
                <a:cs typeface="Verdana"/>
              </a:rPr>
              <a:t>Density</a:t>
            </a:r>
            <a:r>
              <a:rPr sz="1200" b="1" spc="-25" dirty="0">
                <a:solidFill>
                  <a:srgbClr val="313131"/>
                </a:solidFill>
                <a:latin typeface="Verdana"/>
                <a:cs typeface="Verdana"/>
              </a:rPr>
              <a:t> </a:t>
            </a:r>
            <a:r>
              <a:rPr sz="1200" b="1" spc="-5" dirty="0">
                <a:solidFill>
                  <a:srgbClr val="313131"/>
                </a:solidFill>
                <a:latin typeface="Verdana"/>
                <a:cs typeface="Verdana"/>
              </a:rPr>
              <a:t>estimation</a:t>
            </a:r>
            <a:endParaRPr sz="1200">
              <a:solidFill>
                <a:prstClr val="black"/>
              </a:solidFill>
              <a:latin typeface="Verdana"/>
              <a:cs typeface="Verdana"/>
            </a:endParaRPr>
          </a:p>
        </p:txBody>
      </p:sp>
      <p:sp>
        <p:nvSpPr>
          <p:cNvPr id="6" name="object 6"/>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7" name="object 7"/>
          <p:cNvSpPr txBox="1"/>
          <p:nvPr/>
        </p:nvSpPr>
        <p:spPr>
          <a:xfrm>
            <a:off x="6125742" y="3684891"/>
            <a:ext cx="1336675" cy="182101"/>
          </a:xfrm>
          <a:prstGeom prst="rect">
            <a:avLst/>
          </a:prstGeom>
        </p:spPr>
        <p:txBody>
          <a:bodyPr vert="horz" wrap="square" lIns="0" tIns="12700" rIns="0" bIns="0" rtlCol="0">
            <a:spAutoFit/>
          </a:bodyPr>
          <a:lstStyle/>
          <a:p>
            <a:pPr marL="12700">
              <a:spcBef>
                <a:spcPts val="100"/>
              </a:spcBef>
            </a:pPr>
            <a:r>
              <a:rPr sz="1100" spc="-5" dirty="0">
                <a:solidFill>
                  <a:srgbClr val="313131"/>
                </a:solidFill>
                <a:latin typeface="Verdana"/>
                <a:cs typeface="Verdana"/>
              </a:rPr>
              <a:t>Density</a:t>
            </a:r>
            <a:r>
              <a:rPr sz="1100" spc="-75" dirty="0">
                <a:solidFill>
                  <a:srgbClr val="313131"/>
                </a:solidFill>
                <a:latin typeface="Verdana"/>
                <a:cs typeface="Verdana"/>
              </a:rPr>
              <a:t> </a:t>
            </a:r>
            <a:r>
              <a:rPr sz="1100" spc="-5" dirty="0">
                <a:solidFill>
                  <a:srgbClr val="313131"/>
                </a:solidFill>
                <a:latin typeface="Verdana"/>
                <a:cs typeface="Verdana"/>
              </a:rPr>
              <a:t>estimation</a:t>
            </a:r>
            <a:endParaRPr sz="1100">
              <a:solidFill>
                <a:prstClr val="black"/>
              </a:solidFill>
              <a:latin typeface="Verdana"/>
              <a:cs typeface="Verdana"/>
            </a:endParaRPr>
          </a:p>
        </p:txBody>
      </p:sp>
      <p:pic>
        <p:nvPicPr>
          <p:cNvPr id="8" name="object 8"/>
          <p:cNvPicPr/>
          <p:nvPr/>
        </p:nvPicPr>
        <p:blipFill>
          <a:blip r:embed="rId2" cstate="print"/>
          <a:stretch>
            <a:fillRect/>
          </a:stretch>
        </p:blipFill>
        <p:spPr>
          <a:xfrm>
            <a:off x="5165936" y="2528501"/>
            <a:ext cx="3921965" cy="1165149"/>
          </a:xfrm>
          <a:prstGeom prst="rect">
            <a:avLst/>
          </a:prstGeom>
        </p:spPr>
      </p:pic>
      <p:sp>
        <p:nvSpPr>
          <p:cNvPr id="11" name="object 11"/>
          <p:cNvSpPr txBox="1"/>
          <p:nvPr/>
        </p:nvSpPr>
        <p:spPr>
          <a:xfrm>
            <a:off x="8456277" y="5733969"/>
            <a:ext cx="617855" cy="175048"/>
          </a:xfrm>
          <a:prstGeom prst="rect">
            <a:avLst/>
          </a:prstGeom>
        </p:spPr>
        <p:txBody>
          <a:bodyPr vert="horz" wrap="square" lIns="0" tIns="13335" rIns="0" bIns="0" rtlCol="0">
            <a:spAutoFit/>
          </a:bodyPr>
          <a:lstStyle/>
          <a:p>
            <a:pPr marL="12700">
              <a:spcBef>
                <a:spcPts val="105"/>
              </a:spcBef>
            </a:pPr>
            <a:r>
              <a:rPr sz="1050" spc="-5" dirty="0">
                <a:solidFill>
                  <a:srgbClr val="313131"/>
                </a:solidFill>
                <a:latin typeface="Verdana"/>
                <a:cs typeface="Verdana"/>
              </a:rPr>
              <a:t>Slide</a:t>
            </a:r>
            <a:r>
              <a:rPr sz="1050" spc="-55" dirty="0">
                <a:solidFill>
                  <a:srgbClr val="313131"/>
                </a:solidFill>
                <a:latin typeface="Verdana"/>
                <a:cs typeface="Verdana"/>
              </a:rPr>
              <a:t> </a:t>
            </a:r>
            <a:r>
              <a:rPr sz="1050" spc="-5" dirty="0">
                <a:solidFill>
                  <a:srgbClr val="313131"/>
                </a:solidFill>
                <a:latin typeface="Verdana"/>
                <a:cs typeface="Verdana"/>
              </a:rPr>
              <a:t>#</a:t>
            </a:r>
            <a:fld id="{81D60167-4931-47E6-BA6A-407CBD079E47}" type="slidenum">
              <a:rPr sz="1050" spc="-5" dirty="0">
                <a:solidFill>
                  <a:srgbClr val="313131"/>
                </a:solidFill>
                <a:latin typeface="Verdana"/>
                <a:cs typeface="Verdana"/>
              </a:rPr>
              <a:pPr marL="12700">
                <a:spcBef>
                  <a:spcPts val="105"/>
                </a:spcBef>
              </a:pPr>
              <a:t>44</a:t>
            </a:fld>
            <a:endParaRPr sz="1050">
              <a:solidFill>
                <a:prstClr val="black"/>
              </a:solidFill>
              <a:latin typeface="Verdana"/>
              <a:cs typeface="Verdana"/>
            </a:endParaRPr>
          </a:p>
        </p:txBody>
      </p:sp>
      <p:pic>
        <p:nvPicPr>
          <p:cNvPr id="12" name="Picture 2" descr="E:\NIET\Project\xLogo11.png.pagespeed.ic.pydHLuCQEZ.png">
            <a:extLst>
              <a:ext uri="{FF2B5EF4-FFF2-40B4-BE49-F238E27FC236}">
                <a16:creationId xmlns:a16="http://schemas.microsoft.com/office/drawing/2014/main" id="{642C5985-ADC8-6C3E-8AD2-5F1571A5B332}"/>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3" name="Title 1">
            <a:extLst>
              <a:ext uri="{FF2B5EF4-FFF2-40B4-BE49-F238E27FC236}">
                <a16:creationId xmlns:a16="http://schemas.microsoft.com/office/drawing/2014/main" id="{775FE484-0B59-AB75-42ED-41D8924C0425}"/>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err="1">
                <a:ln>
                  <a:noFill/>
                </a:ln>
                <a:solidFill>
                  <a:prstClr val="black"/>
                </a:solidFill>
                <a:effectLst/>
                <a:uLnTx/>
                <a:uFillTx/>
                <a:latin typeface="Calibri" panose="020F0502020204030204"/>
                <a:ea typeface="+mn-ea"/>
                <a:cs typeface="+mn-cs"/>
              </a:rPr>
              <a:t>UnSupervised</a:t>
            </a: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 Learning </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bject 10"/>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0" y="1092200"/>
            <a:ext cx="4802188" cy="330200"/>
          </a:xfrm>
          <a:prstGeom prst="rect">
            <a:avLst/>
          </a:prstGeom>
        </p:spPr>
        <p:txBody>
          <a:bodyPr vert="horz" wrap="square" lIns="0" tIns="12700" rIns="0" bIns="0" rtlCol="0">
            <a:spAutoFit/>
          </a:bodyPr>
          <a:lstStyle/>
          <a:p>
            <a:pPr marL="12700">
              <a:spcBef>
                <a:spcPts val="100"/>
              </a:spcBef>
            </a:pPr>
            <a:r>
              <a:rPr spc="-5" dirty="0"/>
              <a:t>Supervised</a:t>
            </a:r>
            <a:r>
              <a:rPr spc="-35" dirty="0"/>
              <a:t> </a:t>
            </a:r>
            <a:r>
              <a:rPr spc="-5" dirty="0"/>
              <a:t>vs</a:t>
            </a:r>
            <a:r>
              <a:rPr spc="-30" dirty="0"/>
              <a:t> </a:t>
            </a:r>
            <a:r>
              <a:rPr spc="-5" dirty="0"/>
              <a:t>Unsupervised</a:t>
            </a:r>
            <a:r>
              <a:rPr spc="-30" dirty="0"/>
              <a:t> </a:t>
            </a:r>
            <a:r>
              <a:rPr spc="-5" dirty="0"/>
              <a:t>Learning</a:t>
            </a:r>
          </a:p>
        </p:txBody>
      </p:sp>
      <p:sp>
        <p:nvSpPr>
          <p:cNvPr id="3" name="object 3"/>
          <p:cNvSpPr txBox="1"/>
          <p:nvPr/>
        </p:nvSpPr>
        <p:spPr>
          <a:xfrm>
            <a:off x="4445187" y="2535693"/>
            <a:ext cx="1572260" cy="371897"/>
          </a:xfrm>
          <a:prstGeom prst="rect">
            <a:avLst/>
          </a:prstGeom>
        </p:spPr>
        <p:txBody>
          <a:bodyPr vert="horz" wrap="square" lIns="0" tIns="12700" rIns="0" bIns="0" rtlCol="0">
            <a:spAutoFit/>
          </a:bodyPr>
          <a:lstStyle/>
          <a:p>
            <a:pPr marL="12700">
              <a:lnSpc>
                <a:spcPts val="1430"/>
              </a:lnSpc>
              <a:spcBef>
                <a:spcPts val="100"/>
              </a:spcBef>
            </a:pPr>
            <a:r>
              <a:rPr sz="1200" b="1" spc="-5" dirty="0">
                <a:solidFill>
                  <a:srgbClr val="313131"/>
                </a:solidFill>
                <a:latin typeface="Verdana"/>
                <a:cs typeface="Verdana"/>
              </a:rPr>
              <a:t>Data</a:t>
            </a:r>
            <a:r>
              <a:rPr sz="1200" spc="-5" dirty="0">
                <a:solidFill>
                  <a:srgbClr val="313131"/>
                </a:solidFill>
                <a:latin typeface="Verdana"/>
                <a:cs typeface="Verdana"/>
              </a:rPr>
              <a:t>:</a:t>
            </a:r>
            <a:r>
              <a:rPr sz="1200" spc="-55" dirty="0">
                <a:solidFill>
                  <a:srgbClr val="313131"/>
                </a:solidFill>
                <a:latin typeface="Verdana"/>
                <a:cs typeface="Verdana"/>
              </a:rPr>
              <a:t> </a:t>
            </a:r>
            <a:r>
              <a:rPr sz="1200" dirty="0">
                <a:solidFill>
                  <a:srgbClr val="313131"/>
                </a:solidFill>
                <a:latin typeface="Verdana"/>
                <a:cs typeface="Verdana"/>
              </a:rPr>
              <a:t>x</a:t>
            </a:r>
            <a:endParaRPr sz="1200">
              <a:solidFill>
                <a:prstClr val="black"/>
              </a:solidFill>
              <a:latin typeface="Verdana"/>
              <a:cs typeface="Verdana"/>
            </a:endParaRPr>
          </a:p>
          <a:p>
            <a:pPr marL="12700">
              <a:lnSpc>
                <a:spcPts val="1430"/>
              </a:lnSpc>
            </a:pPr>
            <a:r>
              <a:rPr sz="1200" spc="-5" dirty="0">
                <a:solidFill>
                  <a:srgbClr val="313131"/>
                </a:solidFill>
                <a:latin typeface="Verdana"/>
                <a:cs typeface="Verdana"/>
              </a:rPr>
              <a:t>Just</a:t>
            </a:r>
            <a:r>
              <a:rPr sz="1200" spc="-30" dirty="0">
                <a:solidFill>
                  <a:srgbClr val="313131"/>
                </a:solidFill>
                <a:latin typeface="Verdana"/>
                <a:cs typeface="Verdana"/>
              </a:rPr>
              <a:t> </a:t>
            </a:r>
            <a:r>
              <a:rPr sz="1200" spc="-5" dirty="0">
                <a:solidFill>
                  <a:srgbClr val="313131"/>
                </a:solidFill>
                <a:latin typeface="Verdana"/>
                <a:cs typeface="Verdana"/>
              </a:rPr>
              <a:t>data,</a:t>
            </a:r>
            <a:r>
              <a:rPr sz="1200" spc="-30" dirty="0">
                <a:solidFill>
                  <a:srgbClr val="313131"/>
                </a:solidFill>
                <a:latin typeface="Verdana"/>
                <a:cs typeface="Verdana"/>
              </a:rPr>
              <a:t> </a:t>
            </a:r>
            <a:r>
              <a:rPr sz="1200" spc="-5" dirty="0">
                <a:solidFill>
                  <a:srgbClr val="313131"/>
                </a:solidFill>
                <a:latin typeface="Verdana"/>
                <a:cs typeface="Verdana"/>
              </a:rPr>
              <a:t>no</a:t>
            </a:r>
            <a:r>
              <a:rPr sz="1200" spc="-30" dirty="0">
                <a:solidFill>
                  <a:srgbClr val="313131"/>
                </a:solidFill>
                <a:latin typeface="Verdana"/>
                <a:cs typeface="Verdana"/>
              </a:rPr>
              <a:t> </a:t>
            </a:r>
            <a:r>
              <a:rPr sz="1200" spc="-5" dirty="0">
                <a:solidFill>
                  <a:srgbClr val="313131"/>
                </a:solidFill>
                <a:latin typeface="Verdana"/>
                <a:cs typeface="Verdana"/>
              </a:rPr>
              <a:t>labels!</a:t>
            </a:r>
            <a:endParaRPr sz="1200">
              <a:solidFill>
                <a:prstClr val="black"/>
              </a:solidFill>
              <a:latin typeface="Verdana"/>
              <a:cs typeface="Verdana"/>
            </a:endParaRPr>
          </a:p>
        </p:txBody>
      </p:sp>
      <p:sp>
        <p:nvSpPr>
          <p:cNvPr id="4" name="object 4"/>
          <p:cNvSpPr txBox="1"/>
          <p:nvPr/>
        </p:nvSpPr>
        <p:spPr>
          <a:xfrm>
            <a:off x="4445188" y="2106050"/>
            <a:ext cx="3296285" cy="748030"/>
          </a:xfrm>
          <a:prstGeom prst="rect">
            <a:avLst/>
          </a:prstGeom>
        </p:spPr>
        <p:txBody>
          <a:bodyPr vert="horz" wrap="square" lIns="0" tIns="12700" rIns="0" bIns="0" rtlCol="0">
            <a:spAutoFit/>
          </a:bodyPr>
          <a:lstStyle/>
          <a:p>
            <a:pPr marL="12700">
              <a:spcBef>
                <a:spcPts val="100"/>
              </a:spcBef>
            </a:pPr>
            <a:r>
              <a:rPr sz="1400" b="1" dirty="0">
                <a:solidFill>
                  <a:srgbClr val="313131"/>
                </a:solidFill>
                <a:latin typeface="Verdana"/>
                <a:cs typeface="Verdana"/>
              </a:rPr>
              <a:t>Unsupervised</a:t>
            </a:r>
            <a:r>
              <a:rPr sz="1400" b="1" spc="-60" dirty="0">
                <a:solidFill>
                  <a:srgbClr val="313131"/>
                </a:solidFill>
                <a:latin typeface="Verdana"/>
                <a:cs typeface="Verdana"/>
              </a:rPr>
              <a:t> </a:t>
            </a:r>
            <a:r>
              <a:rPr sz="1400" b="1" spc="-5" dirty="0">
                <a:solidFill>
                  <a:srgbClr val="313131"/>
                </a:solidFill>
                <a:latin typeface="Verdana"/>
                <a:cs typeface="Verdana"/>
              </a:rPr>
              <a:t>Learning</a:t>
            </a:r>
            <a:endParaRPr sz="1400">
              <a:solidFill>
                <a:prstClr val="black"/>
              </a:solidFill>
              <a:latin typeface="Verdana"/>
              <a:cs typeface="Verdana"/>
            </a:endParaRPr>
          </a:p>
          <a:p>
            <a:pPr>
              <a:spcBef>
                <a:spcPts val="10"/>
              </a:spcBef>
            </a:pPr>
            <a:endParaRPr sz="2300">
              <a:solidFill>
                <a:prstClr val="black"/>
              </a:solidFill>
              <a:latin typeface="Verdana"/>
              <a:cs typeface="Verdana"/>
            </a:endParaRPr>
          </a:p>
          <a:p>
            <a:pPr marL="1871980"/>
            <a:r>
              <a:rPr sz="1000" spc="-5" dirty="0">
                <a:solidFill>
                  <a:srgbClr val="00B050"/>
                </a:solidFill>
                <a:latin typeface="Verdana"/>
                <a:cs typeface="Verdana"/>
              </a:rPr>
              <a:t>Training</a:t>
            </a:r>
            <a:r>
              <a:rPr sz="1000" spc="-30" dirty="0">
                <a:solidFill>
                  <a:srgbClr val="00B050"/>
                </a:solidFill>
                <a:latin typeface="Verdana"/>
                <a:cs typeface="Verdana"/>
              </a:rPr>
              <a:t> </a:t>
            </a:r>
            <a:r>
              <a:rPr sz="1000" spc="-5" dirty="0">
                <a:solidFill>
                  <a:srgbClr val="00B050"/>
                </a:solidFill>
                <a:latin typeface="Verdana"/>
                <a:cs typeface="Verdana"/>
              </a:rPr>
              <a:t>data</a:t>
            </a:r>
            <a:r>
              <a:rPr sz="1000" spc="-30" dirty="0">
                <a:solidFill>
                  <a:srgbClr val="00B050"/>
                </a:solidFill>
                <a:latin typeface="Verdana"/>
                <a:cs typeface="Verdana"/>
              </a:rPr>
              <a:t> </a:t>
            </a:r>
            <a:r>
              <a:rPr sz="1000" spc="-5" dirty="0">
                <a:solidFill>
                  <a:srgbClr val="00B050"/>
                </a:solidFill>
                <a:latin typeface="Verdana"/>
                <a:cs typeface="Verdana"/>
              </a:rPr>
              <a:t>is</a:t>
            </a:r>
            <a:r>
              <a:rPr sz="1000" spc="-30" dirty="0">
                <a:solidFill>
                  <a:srgbClr val="00B050"/>
                </a:solidFill>
                <a:latin typeface="Verdana"/>
                <a:cs typeface="Verdana"/>
              </a:rPr>
              <a:t> </a:t>
            </a:r>
            <a:r>
              <a:rPr sz="1000" spc="-5" dirty="0">
                <a:solidFill>
                  <a:srgbClr val="00B050"/>
                </a:solidFill>
                <a:latin typeface="Verdana"/>
                <a:cs typeface="Verdana"/>
              </a:rPr>
              <a:t>cheap</a:t>
            </a:r>
            <a:endParaRPr sz="1000">
              <a:solidFill>
                <a:prstClr val="black"/>
              </a:solidFill>
              <a:latin typeface="Verdana"/>
              <a:cs typeface="Verdana"/>
            </a:endParaRPr>
          </a:p>
        </p:txBody>
      </p:sp>
      <p:sp>
        <p:nvSpPr>
          <p:cNvPr id="5" name="object 5"/>
          <p:cNvSpPr txBox="1"/>
          <p:nvPr/>
        </p:nvSpPr>
        <p:spPr>
          <a:xfrm>
            <a:off x="4445187" y="3459616"/>
            <a:ext cx="863600" cy="19749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of</a:t>
            </a:r>
            <a:r>
              <a:rPr sz="1200" spc="-45" dirty="0">
                <a:solidFill>
                  <a:srgbClr val="313131"/>
                </a:solidFill>
                <a:latin typeface="Verdana"/>
                <a:cs typeface="Verdana"/>
              </a:rPr>
              <a:t> </a:t>
            </a:r>
            <a:r>
              <a:rPr sz="1200" spc="-5" dirty="0">
                <a:solidFill>
                  <a:srgbClr val="313131"/>
                </a:solidFill>
                <a:latin typeface="Verdana"/>
                <a:cs typeface="Verdana"/>
              </a:rPr>
              <a:t>the</a:t>
            </a:r>
            <a:r>
              <a:rPr sz="1200" spc="-45" dirty="0">
                <a:solidFill>
                  <a:srgbClr val="313131"/>
                </a:solidFill>
                <a:latin typeface="Verdana"/>
                <a:cs typeface="Verdana"/>
              </a:rPr>
              <a:t> </a:t>
            </a:r>
            <a:r>
              <a:rPr sz="1200" spc="-5" dirty="0">
                <a:solidFill>
                  <a:srgbClr val="313131"/>
                </a:solidFill>
                <a:latin typeface="Verdana"/>
                <a:cs typeface="Verdana"/>
              </a:rPr>
              <a:t>data</a:t>
            </a:r>
            <a:endParaRPr sz="1200">
              <a:solidFill>
                <a:prstClr val="black"/>
              </a:solidFill>
              <a:latin typeface="Verdana"/>
              <a:cs typeface="Verdana"/>
            </a:endParaRPr>
          </a:p>
        </p:txBody>
      </p:sp>
      <p:sp>
        <p:nvSpPr>
          <p:cNvPr id="6" name="object 6"/>
          <p:cNvSpPr txBox="1"/>
          <p:nvPr/>
        </p:nvSpPr>
        <p:spPr>
          <a:xfrm>
            <a:off x="4445187" y="3231719"/>
            <a:ext cx="3963670" cy="1550670"/>
          </a:xfrm>
          <a:prstGeom prst="rect">
            <a:avLst/>
          </a:prstGeom>
        </p:spPr>
        <p:txBody>
          <a:bodyPr vert="horz" wrap="square" lIns="0" tIns="59690" rIns="0" bIns="0" rtlCol="0">
            <a:spAutoFit/>
          </a:bodyPr>
          <a:lstStyle/>
          <a:p>
            <a:pPr marL="12700">
              <a:spcBef>
                <a:spcPts val="470"/>
              </a:spcBef>
            </a:pPr>
            <a:r>
              <a:rPr sz="1200" b="1" dirty="0">
                <a:solidFill>
                  <a:srgbClr val="313131"/>
                </a:solidFill>
                <a:latin typeface="Verdana"/>
                <a:cs typeface="Verdana"/>
              </a:rPr>
              <a:t>Goal</a:t>
            </a:r>
            <a:r>
              <a:rPr sz="1200" dirty="0">
                <a:solidFill>
                  <a:srgbClr val="313131"/>
                </a:solidFill>
                <a:latin typeface="Verdana"/>
                <a:cs typeface="Verdana"/>
              </a:rPr>
              <a:t>:</a:t>
            </a:r>
            <a:r>
              <a:rPr sz="1200" spc="-20" dirty="0">
                <a:solidFill>
                  <a:srgbClr val="313131"/>
                </a:solidFill>
                <a:latin typeface="Verdana"/>
                <a:cs typeface="Verdana"/>
              </a:rPr>
              <a:t> </a:t>
            </a:r>
            <a:r>
              <a:rPr sz="1200" spc="-5" dirty="0">
                <a:solidFill>
                  <a:srgbClr val="313131"/>
                </a:solidFill>
                <a:latin typeface="Verdana"/>
                <a:cs typeface="Verdana"/>
              </a:rPr>
              <a:t>Learn</a:t>
            </a:r>
            <a:r>
              <a:rPr sz="1200" spc="-20" dirty="0">
                <a:solidFill>
                  <a:srgbClr val="313131"/>
                </a:solidFill>
                <a:latin typeface="Verdana"/>
                <a:cs typeface="Verdana"/>
              </a:rPr>
              <a:t> </a:t>
            </a:r>
            <a:r>
              <a:rPr sz="1200" spc="-5" dirty="0">
                <a:solidFill>
                  <a:srgbClr val="313131"/>
                </a:solidFill>
                <a:latin typeface="Verdana"/>
                <a:cs typeface="Verdana"/>
              </a:rPr>
              <a:t>some</a:t>
            </a:r>
            <a:r>
              <a:rPr sz="1200" spc="-20" dirty="0">
                <a:solidFill>
                  <a:srgbClr val="313131"/>
                </a:solidFill>
                <a:latin typeface="Verdana"/>
                <a:cs typeface="Verdana"/>
              </a:rPr>
              <a:t> </a:t>
            </a:r>
            <a:r>
              <a:rPr sz="1200" spc="-5" dirty="0">
                <a:solidFill>
                  <a:srgbClr val="313131"/>
                </a:solidFill>
                <a:latin typeface="Verdana"/>
                <a:cs typeface="Verdana"/>
              </a:rPr>
              <a:t>underlying</a:t>
            </a:r>
            <a:r>
              <a:rPr sz="1200" spc="-15" dirty="0">
                <a:solidFill>
                  <a:srgbClr val="313131"/>
                </a:solidFill>
                <a:latin typeface="Verdana"/>
                <a:cs typeface="Verdana"/>
              </a:rPr>
              <a:t> </a:t>
            </a:r>
            <a:r>
              <a:rPr sz="1200" spc="-5" dirty="0">
                <a:solidFill>
                  <a:srgbClr val="313131"/>
                </a:solidFill>
                <a:latin typeface="Verdana"/>
                <a:cs typeface="Verdana"/>
              </a:rPr>
              <a:t>hidden</a:t>
            </a:r>
            <a:r>
              <a:rPr sz="1200" spc="-20" dirty="0">
                <a:solidFill>
                  <a:srgbClr val="313131"/>
                </a:solidFill>
                <a:latin typeface="Verdana"/>
                <a:cs typeface="Verdana"/>
              </a:rPr>
              <a:t> </a:t>
            </a:r>
            <a:r>
              <a:rPr sz="1200" spc="-5" dirty="0">
                <a:solidFill>
                  <a:srgbClr val="313131"/>
                </a:solidFill>
                <a:latin typeface="Verdana"/>
                <a:cs typeface="Verdana"/>
              </a:rPr>
              <a:t>structure</a:t>
            </a:r>
            <a:endParaRPr sz="1200">
              <a:solidFill>
                <a:prstClr val="black"/>
              </a:solidFill>
              <a:latin typeface="Verdana"/>
              <a:cs typeface="Verdana"/>
            </a:endParaRPr>
          </a:p>
          <a:p>
            <a:pPr marL="1640839">
              <a:spcBef>
                <a:spcPts val="305"/>
              </a:spcBef>
            </a:pPr>
            <a:r>
              <a:rPr sz="1000" spc="-5" dirty="0">
                <a:solidFill>
                  <a:srgbClr val="00B050"/>
                </a:solidFill>
                <a:latin typeface="Verdana"/>
                <a:cs typeface="Verdana"/>
              </a:rPr>
              <a:t>Solve</a:t>
            </a:r>
            <a:r>
              <a:rPr sz="1000" spc="-30" dirty="0">
                <a:solidFill>
                  <a:srgbClr val="00B050"/>
                </a:solidFill>
                <a:latin typeface="Verdana"/>
                <a:cs typeface="Verdana"/>
              </a:rPr>
              <a:t> </a:t>
            </a:r>
            <a:r>
              <a:rPr sz="1000" spc="-5" dirty="0">
                <a:solidFill>
                  <a:srgbClr val="00B050"/>
                </a:solidFill>
                <a:latin typeface="Verdana"/>
                <a:cs typeface="Verdana"/>
              </a:rPr>
              <a:t>unsupervised</a:t>
            </a:r>
            <a:r>
              <a:rPr sz="1000" spc="-25" dirty="0">
                <a:solidFill>
                  <a:srgbClr val="00B050"/>
                </a:solidFill>
                <a:latin typeface="Verdana"/>
                <a:cs typeface="Verdana"/>
              </a:rPr>
              <a:t> </a:t>
            </a:r>
            <a:r>
              <a:rPr sz="1000" spc="-5" dirty="0">
                <a:solidFill>
                  <a:srgbClr val="00B050"/>
                </a:solidFill>
                <a:latin typeface="Verdana"/>
                <a:cs typeface="Verdana"/>
              </a:rPr>
              <a:t>learning</a:t>
            </a:r>
            <a:r>
              <a:rPr sz="1000" spc="-25" dirty="0">
                <a:solidFill>
                  <a:srgbClr val="00B050"/>
                </a:solidFill>
                <a:latin typeface="Verdana"/>
                <a:cs typeface="Verdana"/>
              </a:rPr>
              <a:t> </a:t>
            </a:r>
            <a:r>
              <a:rPr sz="1000" spc="-5" dirty="0">
                <a:solidFill>
                  <a:srgbClr val="00B050"/>
                </a:solidFill>
                <a:latin typeface="Verdana"/>
                <a:cs typeface="Verdana"/>
              </a:rPr>
              <a:t>=&gt;</a:t>
            </a:r>
            <a:endParaRPr sz="1000">
              <a:solidFill>
                <a:prstClr val="black"/>
              </a:solidFill>
              <a:latin typeface="Verdana"/>
              <a:cs typeface="Verdana"/>
            </a:endParaRPr>
          </a:p>
          <a:p>
            <a:pPr marL="1640839">
              <a:spcBef>
                <a:spcPts val="750"/>
              </a:spcBef>
            </a:pPr>
            <a:r>
              <a:rPr sz="1000" spc="-5" dirty="0">
                <a:solidFill>
                  <a:srgbClr val="00B050"/>
                </a:solidFill>
                <a:latin typeface="Verdana"/>
                <a:cs typeface="Verdana"/>
              </a:rPr>
              <a:t>understand</a:t>
            </a:r>
            <a:r>
              <a:rPr sz="1000" spc="-25" dirty="0">
                <a:solidFill>
                  <a:srgbClr val="00B050"/>
                </a:solidFill>
                <a:latin typeface="Verdana"/>
                <a:cs typeface="Verdana"/>
              </a:rPr>
              <a:t> </a:t>
            </a:r>
            <a:r>
              <a:rPr sz="1000" spc="-5" dirty="0">
                <a:solidFill>
                  <a:srgbClr val="00B050"/>
                </a:solidFill>
                <a:latin typeface="Verdana"/>
                <a:cs typeface="Verdana"/>
              </a:rPr>
              <a:t>structure</a:t>
            </a:r>
            <a:r>
              <a:rPr sz="1000" spc="-20" dirty="0">
                <a:solidFill>
                  <a:srgbClr val="00B050"/>
                </a:solidFill>
                <a:latin typeface="Verdana"/>
                <a:cs typeface="Verdana"/>
              </a:rPr>
              <a:t> </a:t>
            </a:r>
            <a:r>
              <a:rPr sz="1000" spc="-5" dirty="0">
                <a:solidFill>
                  <a:srgbClr val="00B050"/>
                </a:solidFill>
                <a:latin typeface="Verdana"/>
                <a:cs typeface="Verdana"/>
              </a:rPr>
              <a:t>of</a:t>
            </a:r>
            <a:r>
              <a:rPr sz="1000" spc="-25" dirty="0">
                <a:solidFill>
                  <a:srgbClr val="00B050"/>
                </a:solidFill>
                <a:latin typeface="Verdana"/>
                <a:cs typeface="Verdana"/>
              </a:rPr>
              <a:t> </a:t>
            </a:r>
            <a:r>
              <a:rPr sz="1000" spc="-5" dirty="0">
                <a:solidFill>
                  <a:srgbClr val="00B050"/>
                </a:solidFill>
                <a:latin typeface="Verdana"/>
                <a:cs typeface="Verdana"/>
              </a:rPr>
              <a:t>visual</a:t>
            </a:r>
            <a:r>
              <a:rPr sz="1000" spc="-20" dirty="0">
                <a:solidFill>
                  <a:srgbClr val="00B050"/>
                </a:solidFill>
                <a:latin typeface="Verdana"/>
                <a:cs typeface="Verdana"/>
              </a:rPr>
              <a:t> </a:t>
            </a:r>
            <a:r>
              <a:rPr sz="1000" spc="-5" dirty="0">
                <a:solidFill>
                  <a:srgbClr val="00B050"/>
                </a:solidFill>
                <a:latin typeface="Verdana"/>
                <a:cs typeface="Verdana"/>
              </a:rPr>
              <a:t>world</a:t>
            </a:r>
            <a:endParaRPr sz="1000">
              <a:solidFill>
                <a:prstClr val="black"/>
              </a:solidFill>
              <a:latin typeface="Verdana"/>
              <a:cs typeface="Verdana"/>
            </a:endParaRPr>
          </a:p>
          <a:p>
            <a:endParaRPr sz="1200">
              <a:solidFill>
                <a:prstClr val="black"/>
              </a:solidFill>
              <a:latin typeface="Verdana"/>
              <a:cs typeface="Verdana"/>
            </a:endParaRPr>
          </a:p>
          <a:p>
            <a:pPr marL="12700" marR="958215">
              <a:lnSpc>
                <a:spcPts val="1430"/>
              </a:lnSpc>
              <a:spcBef>
                <a:spcPts val="1050"/>
              </a:spcBef>
            </a:pPr>
            <a:r>
              <a:rPr sz="1200" b="1" spc="-5" dirty="0">
                <a:solidFill>
                  <a:srgbClr val="313131"/>
                </a:solidFill>
                <a:latin typeface="Verdana"/>
                <a:cs typeface="Verdana"/>
              </a:rPr>
              <a:t>Examples</a:t>
            </a:r>
            <a:r>
              <a:rPr sz="1200" spc="-5" dirty="0">
                <a:solidFill>
                  <a:srgbClr val="313131"/>
                </a:solidFill>
                <a:latin typeface="Verdana"/>
                <a:cs typeface="Verdana"/>
              </a:rPr>
              <a:t>: Clustering,</a:t>
            </a:r>
            <a:r>
              <a:rPr sz="1200" dirty="0">
                <a:solidFill>
                  <a:srgbClr val="313131"/>
                </a:solidFill>
                <a:latin typeface="Verdana"/>
                <a:cs typeface="Verdana"/>
              </a:rPr>
              <a:t> </a:t>
            </a:r>
            <a:r>
              <a:rPr sz="1200" spc="-5" dirty="0">
                <a:solidFill>
                  <a:srgbClr val="313131"/>
                </a:solidFill>
                <a:latin typeface="Verdana"/>
                <a:cs typeface="Verdana"/>
              </a:rPr>
              <a:t>dimensionality </a:t>
            </a:r>
            <a:r>
              <a:rPr sz="1200" spc="-409" dirty="0">
                <a:solidFill>
                  <a:srgbClr val="313131"/>
                </a:solidFill>
                <a:latin typeface="Verdana"/>
                <a:cs typeface="Verdana"/>
              </a:rPr>
              <a:t> </a:t>
            </a:r>
            <a:r>
              <a:rPr sz="1200" spc="-5" dirty="0">
                <a:solidFill>
                  <a:srgbClr val="313131"/>
                </a:solidFill>
                <a:latin typeface="Verdana"/>
                <a:cs typeface="Verdana"/>
              </a:rPr>
              <a:t>reduction, feature</a:t>
            </a:r>
            <a:r>
              <a:rPr sz="1200" dirty="0">
                <a:solidFill>
                  <a:srgbClr val="313131"/>
                </a:solidFill>
                <a:latin typeface="Verdana"/>
                <a:cs typeface="Verdana"/>
              </a:rPr>
              <a:t> </a:t>
            </a:r>
            <a:r>
              <a:rPr sz="1200" spc="-5" dirty="0">
                <a:solidFill>
                  <a:srgbClr val="313131"/>
                </a:solidFill>
                <a:latin typeface="Verdana"/>
                <a:cs typeface="Verdana"/>
              </a:rPr>
              <a:t>learning, density </a:t>
            </a:r>
            <a:r>
              <a:rPr sz="1200" dirty="0">
                <a:solidFill>
                  <a:srgbClr val="313131"/>
                </a:solidFill>
                <a:latin typeface="Verdana"/>
                <a:cs typeface="Verdana"/>
              </a:rPr>
              <a:t> </a:t>
            </a:r>
            <a:r>
              <a:rPr sz="1200" spc="-5" dirty="0">
                <a:solidFill>
                  <a:srgbClr val="313131"/>
                </a:solidFill>
                <a:latin typeface="Verdana"/>
                <a:cs typeface="Verdana"/>
              </a:rPr>
              <a:t>estimation,</a:t>
            </a:r>
            <a:r>
              <a:rPr sz="1200" spc="-10" dirty="0">
                <a:solidFill>
                  <a:srgbClr val="313131"/>
                </a:solidFill>
                <a:latin typeface="Verdana"/>
                <a:cs typeface="Verdana"/>
              </a:rPr>
              <a:t> </a:t>
            </a:r>
            <a:r>
              <a:rPr sz="1200" spc="-5" dirty="0">
                <a:solidFill>
                  <a:srgbClr val="313131"/>
                </a:solidFill>
                <a:latin typeface="Verdana"/>
                <a:cs typeface="Verdana"/>
              </a:rPr>
              <a:t>etc.</a:t>
            </a:r>
            <a:endParaRPr sz="1200">
              <a:solidFill>
                <a:prstClr val="black"/>
              </a:solidFill>
              <a:latin typeface="Verdana"/>
              <a:cs typeface="Verdana"/>
            </a:endParaRPr>
          </a:p>
        </p:txBody>
      </p:sp>
      <p:sp>
        <p:nvSpPr>
          <p:cNvPr id="7" name="object 7"/>
          <p:cNvSpPr txBox="1"/>
          <p:nvPr/>
        </p:nvSpPr>
        <p:spPr>
          <a:xfrm>
            <a:off x="445489" y="2106051"/>
            <a:ext cx="2983865" cy="1410335"/>
          </a:xfrm>
          <a:prstGeom prst="rect">
            <a:avLst/>
          </a:prstGeom>
        </p:spPr>
        <p:txBody>
          <a:bodyPr vert="horz" wrap="square" lIns="0" tIns="12700" rIns="0" bIns="0" rtlCol="0">
            <a:spAutoFit/>
          </a:bodyPr>
          <a:lstStyle/>
          <a:p>
            <a:pPr marL="12700">
              <a:spcBef>
                <a:spcPts val="100"/>
              </a:spcBef>
            </a:pPr>
            <a:r>
              <a:rPr sz="1400" b="1" spc="-5" dirty="0">
                <a:solidFill>
                  <a:srgbClr val="313131"/>
                </a:solidFill>
                <a:latin typeface="Verdana"/>
                <a:cs typeface="Verdana"/>
              </a:rPr>
              <a:t>Supervised</a:t>
            </a:r>
            <a:r>
              <a:rPr sz="1400" b="1" spc="-55" dirty="0">
                <a:solidFill>
                  <a:srgbClr val="313131"/>
                </a:solidFill>
                <a:latin typeface="Verdana"/>
                <a:cs typeface="Verdana"/>
              </a:rPr>
              <a:t> </a:t>
            </a:r>
            <a:r>
              <a:rPr sz="1400" b="1" spc="-5" dirty="0">
                <a:solidFill>
                  <a:srgbClr val="313131"/>
                </a:solidFill>
                <a:latin typeface="Verdana"/>
                <a:cs typeface="Verdana"/>
              </a:rPr>
              <a:t>Learning</a:t>
            </a:r>
            <a:endParaRPr sz="1400">
              <a:solidFill>
                <a:prstClr val="black"/>
              </a:solidFill>
              <a:latin typeface="Verdana"/>
              <a:cs typeface="Verdana"/>
            </a:endParaRPr>
          </a:p>
          <a:p>
            <a:endParaRPr sz="1400">
              <a:solidFill>
                <a:prstClr val="black"/>
              </a:solidFill>
              <a:latin typeface="Verdana"/>
              <a:cs typeface="Verdana"/>
            </a:endParaRPr>
          </a:p>
          <a:p>
            <a:pPr marL="12700">
              <a:lnSpc>
                <a:spcPts val="1430"/>
              </a:lnSpc>
            </a:pPr>
            <a:r>
              <a:rPr sz="1200" b="1" spc="-5" dirty="0">
                <a:solidFill>
                  <a:srgbClr val="313131"/>
                </a:solidFill>
                <a:latin typeface="Verdana"/>
                <a:cs typeface="Verdana"/>
              </a:rPr>
              <a:t>Data</a:t>
            </a:r>
            <a:r>
              <a:rPr sz="1200" spc="-5" dirty="0">
                <a:solidFill>
                  <a:srgbClr val="313131"/>
                </a:solidFill>
                <a:latin typeface="Verdana"/>
                <a:cs typeface="Verdana"/>
              </a:rPr>
              <a:t>:</a:t>
            </a:r>
            <a:r>
              <a:rPr sz="1200" spc="-35" dirty="0">
                <a:solidFill>
                  <a:srgbClr val="313131"/>
                </a:solidFill>
                <a:latin typeface="Verdana"/>
                <a:cs typeface="Verdana"/>
              </a:rPr>
              <a:t> </a:t>
            </a:r>
            <a:r>
              <a:rPr sz="1200" spc="-5" dirty="0">
                <a:solidFill>
                  <a:srgbClr val="313131"/>
                </a:solidFill>
                <a:latin typeface="Verdana"/>
                <a:cs typeface="Verdana"/>
              </a:rPr>
              <a:t>(x,</a:t>
            </a:r>
            <a:r>
              <a:rPr sz="1200" spc="-35" dirty="0">
                <a:solidFill>
                  <a:srgbClr val="313131"/>
                </a:solidFill>
                <a:latin typeface="Verdana"/>
                <a:cs typeface="Verdana"/>
              </a:rPr>
              <a:t> </a:t>
            </a:r>
            <a:r>
              <a:rPr sz="1200" spc="-5" dirty="0">
                <a:solidFill>
                  <a:srgbClr val="313131"/>
                </a:solidFill>
                <a:latin typeface="Verdana"/>
                <a:cs typeface="Verdana"/>
              </a:rPr>
              <a:t>y)</a:t>
            </a:r>
            <a:endParaRPr sz="1200">
              <a:solidFill>
                <a:prstClr val="black"/>
              </a:solidFill>
              <a:latin typeface="Verdana"/>
              <a:cs typeface="Verdana"/>
            </a:endParaRPr>
          </a:p>
          <a:p>
            <a:pPr marL="12700">
              <a:lnSpc>
                <a:spcPts val="1430"/>
              </a:lnSpc>
            </a:pPr>
            <a:r>
              <a:rPr sz="1200" dirty="0">
                <a:solidFill>
                  <a:srgbClr val="313131"/>
                </a:solidFill>
                <a:latin typeface="Verdana"/>
                <a:cs typeface="Verdana"/>
              </a:rPr>
              <a:t>x</a:t>
            </a:r>
            <a:r>
              <a:rPr sz="1200" spc="-20" dirty="0">
                <a:solidFill>
                  <a:srgbClr val="313131"/>
                </a:solidFill>
                <a:latin typeface="Verdana"/>
                <a:cs typeface="Verdana"/>
              </a:rPr>
              <a:t> </a:t>
            </a:r>
            <a:r>
              <a:rPr sz="1200" spc="-5" dirty="0">
                <a:solidFill>
                  <a:srgbClr val="313131"/>
                </a:solidFill>
                <a:latin typeface="Verdana"/>
                <a:cs typeface="Verdana"/>
              </a:rPr>
              <a:t>is</a:t>
            </a:r>
            <a:r>
              <a:rPr sz="1200" spc="-20" dirty="0">
                <a:solidFill>
                  <a:srgbClr val="313131"/>
                </a:solidFill>
                <a:latin typeface="Verdana"/>
                <a:cs typeface="Verdana"/>
              </a:rPr>
              <a:t> </a:t>
            </a:r>
            <a:r>
              <a:rPr sz="1200" spc="-5" dirty="0">
                <a:solidFill>
                  <a:srgbClr val="313131"/>
                </a:solidFill>
                <a:latin typeface="Verdana"/>
                <a:cs typeface="Verdana"/>
              </a:rPr>
              <a:t>data,</a:t>
            </a:r>
            <a:r>
              <a:rPr sz="1200" spc="-20" dirty="0">
                <a:solidFill>
                  <a:srgbClr val="313131"/>
                </a:solidFill>
                <a:latin typeface="Verdana"/>
                <a:cs typeface="Verdana"/>
              </a:rPr>
              <a:t> </a:t>
            </a:r>
            <a:r>
              <a:rPr sz="1200" dirty="0">
                <a:solidFill>
                  <a:srgbClr val="313131"/>
                </a:solidFill>
                <a:latin typeface="Verdana"/>
                <a:cs typeface="Verdana"/>
              </a:rPr>
              <a:t>y</a:t>
            </a:r>
            <a:r>
              <a:rPr sz="1200" spc="-20" dirty="0">
                <a:solidFill>
                  <a:srgbClr val="313131"/>
                </a:solidFill>
                <a:latin typeface="Verdana"/>
                <a:cs typeface="Verdana"/>
              </a:rPr>
              <a:t> </a:t>
            </a:r>
            <a:r>
              <a:rPr sz="1200" spc="-5" dirty="0">
                <a:solidFill>
                  <a:srgbClr val="313131"/>
                </a:solidFill>
                <a:latin typeface="Verdana"/>
                <a:cs typeface="Verdana"/>
              </a:rPr>
              <a:t>is</a:t>
            </a:r>
            <a:r>
              <a:rPr sz="1200" spc="-20" dirty="0">
                <a:solidFill>
                  <a:srgbClr val="313131"/>
                </a:solidFill>
                <a:latin typeface="Verdana"/>
                <a:cs typeface="Verdana"/>
              </a:rPr>
              <a:t> </a:t>
            </a:r>
            <a:r>
              <a:rPr sz="1200" spc="-5" dirty="0">
                <a:solidFill>
                  <a:srgbClr val="313131"/>
                </a:solidFill>
                <a:latin typeface="Verdana"/>
                <a:cs typeface="Verdana"/>
              </a:rPr>
              <a:t>label</a:t>
            </a:r>
            <a:endParaRPr sz="1200">
              <a:solidFill>
                <a:prstClr val="black"/>
              </a:solidFill>
              <a:latin typeface="Verdana"/>
              <a:cs typeface="Verdana"/>
            </a:endParaRPr>
          </a:p>
          <a:p>
            <a:endParaRPr sz="1400">
              <a:solidFill>
                <a:prstClr val="black"/>
              </a:solidFill>
              <a:latin typeface="Verdana"/>
              <a:cs typeface="Verdana"/>
            </a:endParaRPr>
          </a:p>
          <a:p>
            <a:endParaRPr sz="1050">
              <a:solidFill>
                <a:prstClr val="black"/>
              </a:solidFill>
              <a:latin typeface="Verdana"/>
              <a:cs typeface="Verdana"/>
            </a:endParaRPr>
          </a:p>
          <a:p>
            <a:pPr marL="12700"/>
            <a:r>
              <a:rPr sz="1200" b="1" dirty="0">
                <a:solidFill>
                  <a:srgbClr val="313131"/>
                </a:solidFill>
                <a:latin typeface="Verdana"/>
                <a:cs typeface="Verdana"/>
              </a:rPr>
              <a:t>Goal</a:t>
            </a:r>
            <a:r>
              <a:rPr sz="1200" dirty="0">
                <a:solidFill>
                  <a:srgbClr val="313131"/>
                </a:solidFill>
                <a:latin typeface="Verdana"/>
                <a:cs typeface="Verdana"/>
              </a:rPr>
              <a:t>:</a:t>
            </a:r>
            <a:r>
              <a:rPr sz="1200" spc="-15" dirty="0">
                <a:solidFill>
                  <a:srgbClr val="313131"/>
                </a:solidFill>
                <a:latin typeface="Verdana"/>
                <a:cs typeface="Verdana"/>
              </a:rPr>
              <a:t> </a:t>
            </a:r>
            <a:r>
              <a:rPr sz="1200" spc="-5" dirty="0">
                <a:solidFill>
                  <a:srgbClr val="313131"/>
                </a:solidFill>
                <a:latin typeface="Verdana"/>
                <a:cs typeface="Verdana"/>
              </a:rPr>
              <a:t>Learn</a:t>
            </a:r>
            <a:r>
              <a:rPr sz="1200" spc="-15" dirty="0">
                <a:solidFill>
                  <a:srgbClr val="313131"/>
                </a:solidFill>
                <a:latin typeface="Verdana"/>
                <a:cs typeface="Verdana"/>
              </a:rPr>
              <a:t> </a:t>
            </a:r>
            <a:r>
              <a:rPr sz="1200" dirty="0">
                <a:solidFill>
                  <a:srgbClr val="313131"/>
                </a:solidFill>
                <a:latin typeface="Verdana"/>
                <a:cs typeface="Verdana"/>
              </a:rPr>
              <a:t>a</a:t>
            </a:r>
            <a:r>
              <a:rPr sz="1200" spc="-15" dirty="0">
                <a:solidFill>
                  <a:srgbClr val="313131"/>
                </a:solidFill>
                <a:latin typeface="Verdana"/>
                <a:cs typeface="Verdana"/>
              </a:rPr>
              <a:t> </a:t>
            </a:r>
            <a:r>
              <a:rPr sz="1200" spc="-5" dirty="0">
                <a:solidFill>
                  <a:srgbClr val="313131"/>
                </a:solidFill>
                <a:latin typeface="Verdana"/>
                <a:cs typeface="Verdana"/>
              </a:rPr>
              <a:t>function</a:t>
            </a:r>
            <a:r>
              <a:rPr sz="1200" spc="-10" dirty="0">
                <a:solidFill>
                  <a:srgbClr val="313131"/>
                </a:solidFill>
                <a:latin typeface="Verdana"/>
                <a:cs typeface="Verdana"/>
              </a:rPr>
              <a:t> </a:t>
            </a:r>
            <a:r>
              <a:rPr sz="1200" spc="-5" dirty="0">
                <a:solidFill>
                  <a:srgbClr val="313131"/>
                </a:solidFill>
                <a:latin typeface="Verdana"/>
                <a:cs typeface="Verdana"/>
              </a:rPr>
              <a:t>to</a:t>
            </a:r>
            <a:r>
              <a:rPr sz="1200" spc="-15" dirty="0">
                <a:solidFill>
                  <a:srgbClr val="313131"/>
                </a:solidFill>
                <a:latin typeface="Verdana"/>
                <a:cs typeface="Verdana"/>
              </a:rPr>
              <a:t> </a:t>
            </a:r>
            <a:r>
              <a:rPr sz="1200" spc="-5" dirty="0">
                <a:solidFill>
                  <a:srgbClr val="313131"/>
                </a:solidFill>
                <a:latin typeface="Verdana"/>
                <a:cs typeface="Verdana"/>
              </a:rPr>
              <a:t>map</a:t>
            </a:r>
            <a:r>
              <a:rPr sz="1200" spc="15" dirty="0">
                <a:solidFill>
                  <a:srgbClr val="313131"/>
                </a:solidFill>
                <a:latin typeface="Verdana"/>
                <a:cs typeface="Verdana"/>
              </a:rPr>
              <a:t> </a:t>
            </a:r>
            <a:r>
              <a:rPr sz="1400" dirty="0">
                <a:solidFill>
                  <a:srgbClr val="313131"/>
                </a:solidFill>
                <a:latin typeface="Verdana"/>
                <a:cs typeface="Verdana"/>
              </a:rPr>
              <a:t>x</a:t>
            </a:r>
            <a:r>
              <a:rPr sz="1400" spc="-15" dirty="0">
                <a:solidFill>
                  <a:srgbClr val="313131"/>
                </a:solidFill>
                <a:latin typeface="Verdana"/>
                <a:cs typeface="Verdana"/>
              </a:rPr>
              <a:t> </a:t>
            </a:r>
            <a:r>
              <a:rPr sz="1400" spc="-5" dirty="0">
                <a:solidFill>
                  <a:srgbClr val="313131"/>
                </a:solidFill>
                <a:latin typeface="Verdana"/>
                <a:cs typeface="Verdana"/>
              </a:rPr>
              <a:t>-&gt;</a:t>
            </a:r>
            <a:r>
              <a:rPr sz="1400" spc="-15" dirty="0">
                <a:solidFill>
                  <a:srgbClr val="313131"/>
                </a:solidFill>
                <a:latin typeface="Verdana"/>
                <a:cs typeface="Verdana"/>
              </a:rPr>
              <a:t> </a:t>
            </a:r>
            <a:r>
              <a:rPr sz="1400" dirty="0">
                <a:solidFill>
                  <a:srgbClr val="313131"/>
                </a:solidFill>
                <a:latin typeface="Verdana"/>
                <a:cs typeface="Verdana"/>
              </a:rPr>
              <a:t>y</a:t>
            </a:r>
            <a:endParaRPr sz="1400">
              <a:solidFill>
                <a:prstClr val="black"/>
              </a:solidFill>
              <a:latin typeface="Verdana"/>
              <a:cs typeface="Verdana"/>
            </a:endParaRPr>
          </a:p>
        </p:txBody>
      </p:sp>
      <p:sp>
        <p:nvSpPr>
          <p:cNvPr id="8" name="object 8"/>
          <p:cNvSpPr txBox="1"/>
          <p:nvPr/>
        </p:nvSpPr>
        <p:spPr>
          <a:xfrm>
            <a:off x="445489" y="4250193"/>
            <a:ext cx="3714115" cy="389255"/>
          </a:xfrm>
          <a:prstGeom prst="rect">
            <a:avLst/>
          </a:prstGeom>
        </p:spPr>
        <p:txBody>
          <a:bodyPr vert="horz" wrap="square" lIns="0" tIns="20955" rIns="0" bIns="0" rtlCol="0">
            <a:spAutoFit/>
          </a:bodyPr>
          <a:lstStyle/>
          <a:p>
            <a:pPr marL="12700" marR="5080">
              <a:lnSpc>
                <a:spcPts val="1420"/>
              </a:lnSpc>
              <a:spcBef>
                <a:spcPts val="165"/>
              </a:spcBef>
            </a:pPr>
            <a:r>
              <a:rPr sz="1200" b="1" spc="-5" dirty="0">
                <a:solidFill>
                  <a:srgbClr val="313131"/>
                </a:solidFill>
                <a:latin typeface="Verdana"/>
                <a:cs typeface="Verdana"/>
              </a:rPr>
              <a:t>Examples</a:t>
            </a:r>
            <a:r>
              <a:rPr sz="1200" spc="-5" dirty="0">
                <a:solidFill>
                  <a:srgbClr val="313131"/>
                </a:solidFill>
                <a:latin typeface="Verdana"/>
                <a:cs typeface="Verdana"/>
              </a:rPr>
              <a:t>: Classification, Object detection </a:t>
            </a:r>
            <a:r>
              <a:rPr sz="1200" dirty="0">
                <a:solidFill>
                  <a:srgbClr val="313131"/>
                </a:solidFill>
                <a:latin typeface="Verdana"/>
                <a:cs typeface="Verdana"/>
              </a:rPr>
              <a:t>, </a:t>
            </a:r>
            <a:r>
              <a:rPr sz="1200" spc="5" dirty="0">
                <a:solidFill>
                  <a:srgbClr val="313131"/>
                </a:solidFill>
                <a:latin typeface="Verdana"/>
                <a:cs typeface="Verdana"/>
              </a:rPr>
              <a:t> </a:t>
            </a:r>
            <a:r>
              <a:rPr sz="1200" spc="-5" dirty="0">
                <a:solidFill>
                  <a:srgbClr val="313131"/>
                </a:solidFill>
                <a:latin typeface="Verdana"/>
                <a:cs typeface="Verdana"/>
              </a:rPr>
              <a:t>Semantic</a:t>
            </a:r>
            <a:r>
              <a:rPr sz="1200" spc="-20" dirty="0">
                <a:solidFill>
                  <a:srgbClr val="313131"/>
                </a:solidFill>
                <a:latin typeface="Verdana"/>
                <a:cs typeface="Verdana"/>
              </a:rPr>
              <a:t> </a:t>
            </a:r>
            <a:r>
              <a:rPr sz="1200" spc="-5" dirty="0">
                <a:solidFill>
                  <a:srgbClr val="313131"/>
                </a:solidFill>
                <a:latin typeface="Verdana"/>
                <a:cs typeface="Verdana"/>
              </a:rPr>
              <a:t>segmentation,</a:t>
            </a:r>
            <a:r>
              <a:rPr sz="1200" spc="-20" dirty="0">
                <a:solidFill>
                  <a:srgbClr val="313131"/>
                </a:solidFill>
                <a:latin typeface="Verdana"/>
                <a:cs typeface="Verdana"/>
              </a:rPr>
              <a:t> </a:t>
            </a:r>
            <a:r>
              <a:rPr sz="1200" spc="-5" dirty="0">
                <a:solidFill>
                  <a:srgbClr val="313131"/>
                </a:solidFill>
                <a:latin typeface="Verdana"/>
                <a:cs typeface="Verdana"/>
              </a:rPr>
              <a:t>Image</a:t>
            </a:r>
            <a:r>
              <a:rPr sz="1200" spc="385" dirty="0">
                <a:solidFill>
                  <a:srgbClr val="313131"/>
                </a:solidFill>
                <a:latin typeface="Verdana"/>
                <a:cs typeface="Verdana"/>
              </a:rPr>
              <a:t> </a:t>
            </a:r>
            <a:r>
              <a:rPr sz="1200" spc="-5" dirty="0">
                <a:solidFill>
                  <a:srgbClr val="313131"/>
                </a:solidFill>
                <a:latin typeface="Verdana"/>
                <a:cs typeface="Verdana"/>
              </a:rPr>
              <a:t>captioning,</a:t>
            </a:r>
            <a:r>
              <a:rPr sz="1200" spc="-20" dirty="0">
                <a:solidFill>
                  <a:srgbClr val="313131"/>
                </a:solidFill>
                <a:latin typeface="Verdana"/>
                <a:cs typeface="Verdana"/>
              </a:rPr>
              <a:t> </a:t>
            </a:r>
            <a:r>
              <a:rPr sz="1200" spc="-5" dirty="0">
                <a:solidFill>
                  <a:srgbClr val="313131"/>
                </a:solidFill>
                <a:latin typeface="Verdana"/>
                <a:cs typeface="Verdana"/>
              </a:rPr>
              <a:t>etc.</a:t>
            </a:r>
            <a:endParaRPr sz="1200">
              <a:solidFill>
                <a:prstClr val="black"/>
              </a:solidFill>
              <a:latin typeface="Verdana"/>
              <a:cs typeface="Verdana"/>
            </a:endParaRPr>
          </a:p>
        </p:txBody>
      </p:sp>
      <p:sp>
        <p:nvSpPr>
          <p:cNvPr id="9" name="object 9"/>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12" name="object 12"/>
          <p:cNvSpPr txBox="1"/>
          <p:nvPr/>
        </p:nvSpPr>
        <p:spPr>
          <a:xfrm>
            <a:off x="8326237" y="5733969"/>
            <a:ext cx="702310" cy="200696"/>
          </a:xfrm>
          <a:prstGeom prst="rect">
            <a:avLst/>
          </a:prstGeom>
        </p:spPr>
        <p:txBody>
          <a:bodyPr vert="horz" wrap="square" lIns="0" tIns="38735" rIns="0" bIns="0" rtlCol="0">
            <a:spAutoFit/>
          </a:bodyPr>
          <a:lstStyle/>
          <a:p>
            <a:pPr marL="12700">
              <a:spcBef>
                <a:spcPts val="305"/>
              </a:spcBef>
            </a:pPr>
            <a:r>
              <a:rPr sz="1050" spc="-5" dirty="0">
                <a:solidFill>
                  <a:srgbClr val="313131"/>
                </a:solidFill>
                <a:latin typeface="Verdana"/>
                <a:cs typeface="Verdana"/>
              </a:rPr>
              <a:t>Slide</a:t>
            </a:r>
            <a:r>
              <a:rPr sz="1050" spc="-55" dirty="0">
                <a:solidFill>
                  <a:srgbClr val="313131"/>
                </a:solidFill>
                <a:latin typeface="Verdana"/>
                <a:cs typeface="Verdana"/>
              </a:rPr>
              <a:t> </a:t>
            </a:r>
            <a:r>
              <a:rPr sz="1050" spc="-5" dirty="0">
                <a:solidFill>
                  <a:srgbClr val="313131"/>
                </a:solidFill>
                <a:latin typeface="Verdana"/>
                <a:cs typeface="Verdana"/>
              </a:rPr>
              <a:t>#</a:t>
            </a:r>
            <a:fld id="{81D60167-4931-47E6-BA6A-407CBD079E47}" type="slidenum">
              <a:rPr sz="1050" spc="-5" dirty="0">
                <a:solidFill>
                  <a:srgbClr val="313131"/>
                </a:solidFill>
                <a:latin typeface="Verdana"/>
                <a:cs typeface="Verdana"/>
              </a:rPr>
              <a:pPr marL="12700">
                <a:spcBef>
                  <a:spcPts val="305"/>
                </a:spcBef>
              </a:pPr>
              <a:t>45</a:t>
            </a:fld>
            <a:endParaRPr sz="1050">
              <a:solidFill>
                <a:prstClr val="black"/>
              </a:solidFill>
              <a:latin typeface="Verdana"/>
              <a:cs typeface="Verdana"/>
            </a:endParaRPr>
          </a:p>
        </p:txBody>
      </p:sp>
      <p:pic>
        <p:nvPicPr>
          <p:cNvPr id="13" name="Picture 2" descr="E:\NIET\Project\xLogo11.png.pagespeed.ic.pydHLuCQEZ.png">
            <a:extLst>
              <a:ext uri="{FF2B5EF4-FFF2-40B4-BE49-F238E27FC236}">
                <a16:creationId xmlns:a16="http://schemas.microsoft.com/office/drawing/2014/main" id="{20258BAA-5CFE-1F8E-5B26-9FF17282EF6F}"/>
              </a:ext>
            </a:extLst>
          </p:cNvPr>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14" name="Title 1">
            <a:extLst>
              <a:ext uri="{FF2B5EF4-FFF2-40B4-BE49-F238E27FC236}">
                <a16:creationId xmlns:a16="http://schemas.microsoft.com/office/drawing/2014/main" id="{F69AB2C2-88D5-375C-3810-17B9A369A054}"/>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Supervised vs Unsupervised Learning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2538"/>
            <a:ext cx="2384425" cy="330200"/>
          </a:xfrm>
          <a:prstGeom prst="rect">
            <a:avLst/>
          </a:prstGeom>
        </p:spPr>
        <p:txBody>
          <a:bodyPr vert="horz" wrap="square" lIns="0" tIns="12700" rIns="0" bIns="0" rtlCol="0">
            <a:spAutoFit/>
          </a:bodyPr>
          <a:lstStyle/>
          <a:p>
            <a:pPr marL="12700">
              <a:spcBef>
                <a:spcPts val="100"/>
              </a:spcBef>
            </a:pPr>
            <a:r>
              <a:rPr spc="-5" dirty="0"/>
              <a:t>Generative</a:t>
            </a:r>
            <a:r>
              <a:rPr spc="-85" dirty="0"/>
              <a:t> </a:t>
            </a:r>
            <a:r>
              <a:rPr spc="-5" dirty="0"/>
              <a:t>Models</a:t>
            </a:r>
          </a:p>
        </p:txBody>
      </p:sp>
      <p:sp>
        <p:nvSpPr>
          <p:cNvPr id="3" name="object 3"/>
          <p:cNvSpPr txBox="1"/>
          <p:nvPr/>
        </p:nvSpPr>
        <p:spPr>
          <a:xfrm>
            <a:off x="318862" y="2100832"/>
            <a:ext cx="5120005" cy="197490"/>
          </a:xfrm>
          <a:prstGeom prst="rect">
            <a:avLst/>
          </a:prstGeom>
        </p:spPr>
        <p:txBody>
          <a:bodyPr vert="horz" wrap="square" lIns="0" tIns="12700" rIns="0" bIns="0" rtlCol="0">
            <a:spAutoFit/>
          </a:bodyPr>
          <a:lstStyle/>
          <a:p>
            <a:pPr marL="12700">
              <a:spcBef>
                <a:spcPts val="100"/>
              </a:spcBef>
            </a:pPr>
            <a:r>
              <a:rPr sz="1200" spc="-5" dirty="0">
                <a:solidFill>
                  <a:prstClr val="black"/>
                </a:solidFill>
                <a:latin typeface="Verdana"/>
                <a:cs typeface="Verdana"/>
              </a:rPr>
              <a:t>Given</a:t>
            </a:r>
            <a:r>
              <a:rPr sz="1200" spc="-15" dirty="0">
                <a:solidFill>
                  <a:prstClr val="black"/>
                </a:solidFill>
                <a:latin typeface="Verdana"/>
                <a:cs typeface="Verdana"/>
              </a:rPr>
              <a:t> </a:t>
            </a:r>
            <a:r>
              <a:rPr sz="1200" spc="-5" dirty="0">
                <a:solidFill>
                  <a:prstClr val="black"/>
                </a:solidFill>
                <a:latin typeface="Verdana"/>
                <a:cs typeface="Verdana"/>
              </a:rPr>
              <a:t>training</a:t>
            </a:r>
            <a:r>
              <a:rPr sz="1200" spc="-10" dirty="0">
                <a:solidFill>
                  <a:prstClr val="black"/>
                </a:solidFill>
                <a:latin typeface="Verdana"/>
                <a:cs typeface="Verdana"/>
              </a:rPr>
              <a:t> </a:t>
            </a:r>
            <a:r>
              <a:rPr sz="1200" spc="-5" dirty="0">
                <a:solidFill>
                  <a:prstClr val="black"/>
                </a:solidFill>
                <a:latin typeface="Verdana"/>
                <a:cs typeface="Verdana"/>
              </a:rPr>
              <a:t>data,</a:t>
            </a:r>
            <a:r>
              <a:rPr sz="1200" spc="-15" dirty="0">
                <a:solidFill>
                  <a:prstClr val="black"/>
                </a:solidFill>
                <a:latin typeface="Verdana"/>
                <a:cs typeface="Verdana"/>
              </a:rPr>
              <a:t> </a:t>
            </a:r>
            <a:r>
              <a:rPr sz="1200" spc="-5" dirty="0">
                <a:solidFill>
                  <a:prstClr val="black"/>
                </a:solidFill>
                <a:latin typeface="Verdana"/>
                <a:cs typeface="Verdana"/>
              </a:rPr>
              <a:t>generate</a:t>
            </a:r>
            <a:r>
              <a:rPr sz="1200" spc="-10" dirty="0">
                <a:solidFill>
                  <a:prstClr val="black"/>
                </a:solidFill>
                <a:latin typeface="Verdana"/>
                <a:cs typeface="Verdana"/>
              </a:rPr>
              <a:t> </a:t>
            </a:r>
            <a:r>
              <a:rPr sz="1200" spc="-5" dirty="0">
                <a:solidFill>
                  <a:prstClr val="black"/>
                </a:solidFill>
                <a:latin typeface="Verdana"/>
                <a:cs typeface="Verdana"/>
              </a:rPr>
              <a:t>new</a:t>
            </a:r>
            <a:r>
              <a:rPr sz="1200" spc="-10" dirty="0">
                <a:solidFill>
                  <a:prstClr val="black"/>
                </a:solidFill>
                <a:latin typeface="Verdana"/>
                <a:cs typeface="Verdana"/>
              </a:rPr>
              <a:t> </a:t>
            </a:r>
            <a:r>
              <a:rPr sz="1200" spc="-5" dirty="0">
                <a:solidFill>
                  <a:prstClr val="black"/>
                </a:solidFill>
                <a:latin typeface="Verdana"/>
                <a:cs typeface="Verdana"/>
              </a:rPr>
              <a:t>samples</a:t>
            </a:r>
            <a:r>
              <a:rPr sz="1200" spc="-15" dirty="0">
                <a:solidFill>
                  <a:prstClr val="black"/>
                </a:solidFill>
                <a:latin typeface="Verdana"/>
                <a:cs typeface="Verdana"/>
              </a:rPr>
              <a:t> </a:t>
            </a:r>
            <a:r>
              <a:rPr sz="1200" spc="-5" dirty="0">
                <a:solidFill>
                  <a:prstClr val="black"/>
                </a:solidFill>
                <a:latin typeface="Verdana"/>
                <a:cs typeface="Verdana"/>
              </a:rPr>
              <a:t>from</a:t>
            </a:r>
            <a:r>
              <a:rPr sz="1200" spc="-10" dirty="0">
                <a:solidFill>
                  <a:prstClr val="black"/>
                </a:solidFill>
                <a:latin typeface="Verdana"/>
                <a:cs typeface="Verdana"/>
              </a:rPr>
              <a:t> </a:t>
            </a:r>
            <a:r>
              <a:rPr sz="1200" spc="-5" dirty="0">
                <a:solidFill>
                  <a:prstClr val="black"/>
                </a:solidFill>
                <a:latin typeface="Verdana"/>
                <a:cs typeface="Verdana"/>
              </a:rPr>
              <a:t>same</a:t>
            </a:r>
            <a:r>
              <a:rPr sz="1200" spc="-10" dirty="0">
                <a:solidFill>
                  <a:prstClr val="black"/>
                </a:solidFill>
                <a:latin typeface="Verdana"/>
                <a:cs typeface="Verdana"/>
              </a:rPr>
              <a:t> </a:t>
            </a:r>
            <a:r>
              <a:rPr sz="1200" spc="-5" dirty="0">
                <a:solidFill>
                  <a:prstClr val="black"/>
                </a:solidFill>
                <a:latin typeface="Verdana"/>
                <a:cs typeface="Verdana"/>
              </a:rPr>
              <a:t>distribution</a:t>
            </a:r>
            <a:endParaRPr sz="1200">
              <a:solidFill>
                <a:prstClr val="black"/>
              </a:solidFill>
              <a:latin typeface="Verdana"/>
              <a:cs typeface="Verdana"/>
            </a:endParaRPr>
          </a:p>
        </p:txBody>
      </p:sp>
      <p:sp>
        <p:nvSpPr>
          <p:cNvPr id="4" name="object 4"/>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5" name="object 5"/>
          <p:cNvSpPr txBox="1"/>
          <p:nvPr/>
        </p:nvSpPr>
        <p:spPr>
          <a:xfrm>
            <a:off x="1111250" y="4451375"/>
            <a:ext cx="6332855" cy="964565"/>
          </a:xfrm>
          <a:prstGeom prst="rect">
            <a:avLst/>
          </a:prstGeom>
        </p:spPr>
        <p:txBody>
          <a:bodyPr vert="horz" wrap="square" lIns="0" tIns="12700" rIns="0" bIns="0" rtlCol="0">
            <a:spAutoFit/>
          </a:bodyPr>
          <a:lstStyle/>
          <a:p>
            <a:pPr marL="63500">
              <a:spcBef>
                <a:spcPts val="100"/>
              </a:spcBef>
              <a:tabLst>
                <a:tab pos="1953895" algn="l"/>
              </a:tabLst>
            </a:pPr>
            <a:r>
              <a:rPr sz="1050" spc="-5" dirty="0">
                <a:solidFill>
                  <a:prstClr val="black"/>
                </a:solidFill>
                <a:latin typeface="Verdana"/>
                <a:cs typeface="Verdana"/>
              </a:rPr>
              <a:t>Training</a:t>
            </a:r>
            <a:r>
              <a:rPr sz="1050" dirty="0">
                <a:solidFill>
                  <a:prstClr val="black"/>
                </a:solidFill>
                <a:latin typeface="Verdana"/>
                <a:cs typeface="Verdana"/>
              </a:rPr>
              <a:t> </a:t>
            </a:r>
            <a:r>
              <a:rPr sz="1050" spc="-5" dirty="0">
                <a:solidFill>
                  <a:prstClr val="black"/>
                </a:solidFill>
                <a:latin typeface="Verdana"/>
                <a:cs typeface="Verdana"/>
              </a:rPr>
              <a:t>data</a:t>
            </a:r>
            <a:r>
              <a:rPr sz="1050" spc="5" dirty="0">
                <a:solidFill>
                  <a:prstClr val="black"/>
                </a:solidFill>
                <a:latin typeface="Verdana"/>
                <a:cs typeface="Verdana"/>
              </a:rPr>
              <a:t> </a:t>
            </a:r>
            <a:r>
              <a:rPr sz="1200" dirty="0">
                <a:solidFill>
                  <a:prstClr val="black"/>
                </a:solidFill>
                <a:latin typeface="Verdana"/>
                <a:cs typeface="Verdana"/>
              </a:rPr>
              <a:t>~ </a:t>
            </a:r>
            <a:r>
              <a:rPr sz="1200" spc="-5" dirty="0">
                <a:solidFill>
                  <a:prstClr val="black"/>
                </a:solidFill>
                <a:latin typeface="Verdana"/>
                <a:cs typeface="Verdana"/>
              </a:rPr>
              <a:t>p</a:t>
            </a:r>
            <a:r>
              <a:rPr sz="1200" spc="-7" baseline="-31250" dirty="0">
                <a:solidFill>
                  <a:prstClr val="black"/>
                </a:solidFill>
                <a:latin typeface="Verdana"/>
                <a:cs typeface="Verdana"/>
              </a:rPr>
              <a:t>data</a:t>
            </a:r>
            <a:r>
              <a:rPr sz="1200" spc="-5" dirty="0">
                <a:solidFill>
                  <a:prstClr val="black"/>
                </a:solidFill>
                <a:latin typeface="Verdana"/>
                <a:cs typeface="Verdana"/>
              </a:rPr>
              <a:t>(x)	</a:t>
            </a:r>
            <a:r>
              <a:rPr sz="1050" spc="-5" dirty="0">
                <a:solidFill>
                  <a:prstClr val="black"/>
                </a:solidFill>
                <a:latin typeface="Verdana"/>
                <a:cs typeface="Verdana"/>
              </a:rPr>
              <a:t>Generated</a:t>
            </a:r>
            <a:r>
              <a:rPr sz="1050" spc="-25" dirty="0">
                <a:solidFill>
                  <a:prstClr val="black"/>
                </a:solidFill>
                <a:latin typeface="Verdana"/>
                <a:cs typeface="Verdana"/>
              </a:rPr>
              <a:t> </a:t>
            </a:r>
            <a:r>
              <a:rPr sz="1050" spc="-5" dirty="0">
                <a:solidFill>
                  <a:prstClr val="black"/>
                </a:solidFill>
                <a:latin typeface="Verdana"/>
                <a:cs typeface="Verdana"/>
              </a:rPr>
              <a:t>samples</a:t>
            </a:r>
            <a:r>
              <a:rPr sz="1050" dirty="0">
                <a:solidFill>
                  <a:prstClr val="black"/>
                </a:solidFill>
                <a:latin typeface="Verdana"/>
                <a:cs typeface="Verdana"/>
              </a:rPr>
              <a:t> </a:t>
            </a:r>
            <a:r>
              <a:rPr sz="1200" dirty="0">
                <a:solidFill>
                  <a:prstClr val="black"/>
                </a:solidFill>
                <a:latin typeface="Verdana"/>
                <a:cs typeface="Verdana"/>
              </a:rPr>
              <a:t>~</a:t>
            </a:r>
            <a:r>
              <a:rPr sz="1200" spc="-30" dirty="0">
                <a:solidFill>
                  <a:prstClr val="black"/>
                </a:solidFill>
                <a:latin typeface="Verdana"/>
                <a:cs typeface="Verdana"/>
              </a:rPr>
              <a:t> </a:t>
            </a:r>
            <a:r>
              <a:rPr sz="1200" spc="-5" dirty="0">
                <a:solidFill>
                  <a:prstClr val="black"/>
                </a:solidFill>
                <a:latin typeface="Verdana"/>
                <a:cs typeface="Verdana"/>
              </a:rPr>
              <a:t>p</a:t>
            </a:r>
            <a:r>
              <a:rPr sz="1200" spc="-7" baseline="-31250" dirty="0">
                <a:solidFill>
                  <a:prstClr val="black"/>
                </a:solidFill>
                <a:latin typeface="Verdana"/>
                <a:cs typeface="Verdana"/>
              </a:rPr>
              <a:t>model</a:t>
            </a:r>
            <a:r>
              <a:rPr sz="1200" spc="-5" dirty="0">
                <a:solidFill>
                  <a:prstClr val="black"/>
                </a:solidFill>
                <a:latin typeface="Verdana"/>
                <a:cs typeface="Verdana"/>
              </a:rPr>
              <a:t>(x)</a:t>
            </a:r>
            <a:endParaRPr sz="1200">
              <a:solidFill>
                <a:prstClr val="black"/>
              </a:solidFill>
              <a:latin typeface="Verdana"/>
              <a:cs typeface="Verdana"/>
            </a:endParaRPr>
          </a:p>
          <a:p>
            <a:pPr marL="1273175">
              <a:spcBef>
                <a:spcPts val="1120"/>
              </a:spcBef>
            </a:pPr>
            <a:r>
              <a:rPr sz="1200" i="1" spc="-5" dirty="0">
                <a:solidFill>
                  <a:prstClr val="black"/>
                </a:solidFill>
                <a:latin typeface="Verdana"/>
                <a:cs typeface="Verdana"/>
              </a:rPr>
              <a:t>Want</a:t>
            </a:r>
            <a:r>
              <a:rPr sz="1200" i="1" spc="-10" dirty="0">
                <a:solidFill>
                  <a:prstClr val="black"/>
                </a:solidFill>
                <a:latin typeface="Verdana"/>
                <a:cs typeface="Verdana"/>
              </a:rPr>
              <a:t> </a:t>
            </a:r>
            <a:r>
              <a:rPr sz="1200" i="1" spc="-5" dirty="0">
                <a:solidFill>
                  <a:prstClr val="black"/>
                </a:solidFill>
                <a:latin typeface="Verdana"/>
                <a:cs typeface="Verdana"/>
              </a:rPr>
              <a:t>to:</a:t>
            </a:r>
            <a:r>
              <a:rPr sz="1200" i="1" spc="-10" dirty="0">
                <a:solidFill>
                  <a:prstClr val="black"/>
                </a:solidFill>
                <a:latin typeface="Verdana"/>
                <a:cs typeface="Verdana"/>
              </a:rPr>
              <a:t> </a:t>
            </a:r>
            <a:r>
              <a:rPr sz="1200" i="1" spc="-5" dirty="0">
                <a:solidFill>
                  <a:prstClr val="black"/>
                </a:solidFill>
                <a:latin typeface="Verdana"/>
                <a:cs typeface="Verdana"/>
              </a:rPr>
              <a:t>learn</a:t>
            </a:r>
            <a:r>
              <a:rPr sz="1200" i="1" spc="-10" dirty="0">
                <a:solidFill>
                  <a:prstClr val="black"/>
                </a:solidFill>
                <a:latin typeface="Verdana"/>
                <a:cs typeface="Verdana"/>
              </a:rPr>
              <a:t> </a:t>
            </a:r>
            <a:r>
              <a:rPr sz="1200" i="1" spc="-5" dirty="0">
                <a:solidFill>
                  <a:prstClr val="black"/>
                </a:solidFill>
                <a:latin typeface="Verdana"/>
                <a:cs typeface="Verdana"/>
              </a:rPr>
              <a:t>p</a:t>
            </a:r>
            <a:r>
              <a:rPr sz="1200" i="1" spc="-7" baseline="-31250" dirty="0">
                <a:solidFill>
                  <a:prstClr val="black"/>
                </a:solidFill>
                <a:latin typeface="Verdana"/>
                <a:cs typeface="Verdana"/>
              </a:rPr>
              <a:t>model</a:t>
            </a:r>
            <a:r>
              <a:rPr sz="1200" i="1" spc="-5" dirty="0">
                <a:solidFill>
                  <a:prstClr val="black"/>
                </a:solidFill>
                <a:latin typeface="Verdana"/>
                <a:cs typeface="Verdana"/>
              </a:rPr>
              <a:t>(x) similar</a:t>
            </a:r>
            <a:r>
              <a:rPr sz="1200" i="1" spc="-10" dirty="0">
                <a:solidFill>
                  <a:prstClr val="black"/>
                </a:solidFill>
                <a:latin typeface="Verdana"/>
                <a:cs typeface="Verdana"/>
              </a:rPr>
              <a:t> </a:t>
            </a:r>
            <a:r>
              <a:rPr sz="1200" i="1" spc="-5" dirty="0">
                <a:solidFill>
                  <a:prstClr val="black"/>
                </a:solidFill>
                <a:latin typeface="Verdana"/>
                <a:cs typeface="Verdana"/>
              </a:rPr>
              <a:t>to</a:t>
            </a:r>
            <a:r>
              <a:rPr sz="1200" i="1" spc="-10" dirty="0">
                <a:solidFill>
                  <a:prstClr val="black"/>
                </a:solidFill>
                <a:latin typeface="Verdana"/>
                <a:cs typeface="Verdana"/>
              </a:rPr>
              <a:t> </a:t>
            </a:r>
            <a:r>
              <a:rPr sz="1200" i="1" spc="-5" dirty="0">
                <a:solidFill>
                  <a:prstClr val="black"/>
                </a:solidFill>
                <a:latin typeface="Verdana"/>
                <a:cs typeface="Verdana"/>
              </a:rPr>
              <a:t>p</a:t>
            </a:r>
            <a:r>
              <a:rPr sz="1200" i="1" spc="-7" baseline="-31250" dirty="0">
                <a:solidFill>
                  <a:prstClr val="black"/>
                </a:solidFill>
                <a:latin typeface="Verdana"/>
                <a:cs typeface="Verdana"/>
              </a:rPr>
              <a:t>data</a:t>
            </a:r>
            <a:r>
              <a:rPr sz="1200" i="1" spc="-5" dirty="0">
                <a:solidFill>
                  <a:prstClr val="black"/>
                </a:solidFill>
                <a:latin typeface="Verdana"/>
                <a:cs typeface="Verdana"/>
              </a:rPr>
              <a:t>(x)</a:t>
            </a:r>
            <a:endParaRPr sz="1200">
              <a:solidFill>
                <a:prstClr val="black"/>
              </a:solidFill>
              <a:latin typeface="Verdana"/>
              <a:cs typeface="Verdana"/>
            </a:endParaRPr>
          </a:p>
          <a:p>
            <a:pPr>
              <a:spcBef>
                <a:spcPts val="10"/>
              </a:spcBef>
            </a:pPr>
            <a:endParaRPr sz="1600">
              <a:solidFill>
                <a:prstClr val="black"/>
              </a:solidFill>
              <a:latin typeface="Verdana"/>
              <a:cs typeface="Verdana"/>
            </a:endParaRPr>
          </a:p>
          <a:p>
            <a:pPr marL="240029"/>
            <a:r>
              <a:rPr sz="1200" spc="-5" dirty="0">
                <a:solidFill>
                  <a:prstClr val="black"/>
                </a:solidFill>
                <a:latin typeface="Verdana"/>
                <a:cs typeface="Verdana"/>
              </a:rPr>
              <a:t>Addresses</a:t>
            </a:r>
            <a:r>
              <a:rPr sz="1200" spc="-10" dirty="0">
                <a:solidFill>
                  <a:prstClr val="black"/>
                </a:solidFill>
                <a:latin typeface="Verdana"/>
                <a:cs typeface="Verdana"/>
              </a:rPr>
              <a:t> </a:t>
            </a:r>
            <a:r>
              <a:rPr sz="1200" spc="-5" dirty="0">
                <a:solidFill>
                  <a:prstClr val="black"/>
                </a:solidFill>
                <a:latin typeface="Verdana"/>
                <a:cs typeface="Verdana"/>
              </a:rPr>
              <a:t>density</a:t>
            </a:r>
            <a:r>
              <a:rPr sz="1200" spc="-10" dirty="0">
                <a:solidFill>
                  <a:prstClr val="black"/>
                </a:solidFill>
                <a:latin typeface="Verdana"/>
                <a:cs typeface="Verdana"/>
              </a:rPr>
              <a:t> </a:t>
            </a:r>
            <a:r>
              <a:rPr sz="1200" spc="-5" dirty="0">
                <a:solidFill>
                  <a:prstClr val="black"/>
                </a:solidFill>
                <a:latin typeface="Verdana"/>
                <a:cs typeface="Verdana"/>
              </a:rPr>
              <a:t>estimation</a:t>
            </a:r>
            <a:r>
              <a:rPr sz="1200" spc="-15" dirty="0">
                <a:solidFill>
                  <a:prstClr val="black"/>
                </a:solidFill>
                <a:latin typeface="Verdana"/>
                <a:cs typeface="Verdana"/>
              </a:rPr>
              <a:t> </a:t>
            </a:r>
            <a:r>
              <a:rPr sz="1200" spc="-5" dirty="0">
                <a:solidFill>
                  <a:prstClr val="black"/>
                </a:solidFill>
                <a:latin typeface="Verdana"/>
                <a:cs typeface="Verdana"/>
              </a:rPr>
              <a:t>which</a:t>
            </a:r>
            <a:r>
              <a:rPr sz="1200" spc="-10" dirty="0">
                <a:solidFill>
                  <a:prstClr val="black"/>
                </a:solidFill>
                <a:latin typeface="Verdana"/>
                <a:cs typeface="Verdana"/>
              </a:rPr>
              <a:t> </a:t>
            </a:r>
            <a:r>
              <a:rPr sz="1200" spc="-5" dirty="0">
                <a:solidFill>
                  <a:prstClr val="black"/>
                </a:solidFill>
                <a:latin typeface="Verdana"/>
                <a:cs typeface="Verdana"/>
              </a:rPr>
              <a:t>is</a:t>
            </a:r>
            <a:r>
              <a:rPr sz="1200" spc="-10" dirty="0">
                <a:solidFill>
                  <a:prstClr val="black"/>
                </a:solidFill>
                <a:latin typeface="Verdana"/>
                <a:cs typeface="Verdana"/>
              </a:rPr>
              <a:t> </a:t>
            </a:r>
            <a:r>
              <a:rPr sz="1200" dirty="0">
                <a:solidFill>
                  <a:prstClr val="black"/>
                </a:solidFill>
                <a:latin typeface="Verdana"/>
                <a:cs typeface="Verdana"/>
              </a:rPr>
              <a:t>a</a:t>
            </a:r>
            <a:r>
              <a:rPr sz="1200" spc="-10" dirty="0">
                <a:solidFill>
                  <a:prstClr val="black"/>
                </a:solidFill>
                <a:latin typeface="Verdana"/>
                <a:cs typeface="Verdana"/>
              </a:rPr>
              <a:t> </a:t>
            </a:r>
            <a:r>
              <a:rPr sz="1200" spc="-5" dirty="0">
                <a:solidFill>
                  <a:prstClr val="black"/>
                </a:solidFill>
                <a:latin typeface="Verdana"/>
                <a:cs typeface="Verdana"/>
              </a:rPr>
              <a:t>core</a:t>
            </a:r>
            <a:r>
              <a:rPr sz="1200" spc="-10" dirty="0">
                <a:solidFill>
                  <a:prstClr val="black"/>
                </a:solidFill>
                <a:latin typeface="Verdana"/>
                <a:cs typeface="Verdana"/>
              </a:rPr>
              <a:t> </a:t>
            </a:r>
            <a:r>
              <a:rPr sz="1200" spc="-5" dirty="0">
                <a:solidFill>
                  <a:prstClr val="black"/>
                </a:solidFill>
                <a:latin typeface="Verdana"/>
                <a:cs typeface="Verdana"/>
              </a:rPr>
              <a:t>problem</a:t>
            </a:r>
            <a:r>
              <a:rPr sz="1200" spc="-10" dirty="0">
                <a:solidFill>
                  <a:prstClr val="black"/>
                </a:solidFill>
                <a:latin typeface="Verdana"/>
                <a:cs typeface="Verdana"/>
              </a:rPr>
              <a:t> </a:t>
            </a:r>
            <a:r>
              <a:rPr sz="1200" spc="-5" dirty="0">
                <a:solidFill>
                  <a:prstClr val="black"/>
                </a:solidFill>
                <a:latin typeface="Verdana"/>
                <a:cs typeface="Verdana"/>
              </a:rPr>
              <a:t>in</a:t>
            </a:r>
            <a:r>
              <a:rPr sz="1200" spc="-10" dirty="0">
                <a:solidFill>
                  <a:prstClr val="black"/>
                </a:solidFill>
                <a:latin typeface="Verdana"/>
                <a:cs typeface="Verdana"/>
              </a:rPr>
              <a:t> </a:t>
            </a:r>
            <a:r>
              <a:rPr sz="1200" spc="-5" dirty="0">
                <a:solidFill>
                  <a:prstClr val="black"/>
                </a:solidFill>
                <a:latin typeface="Verdana"/>
                <a:cs typeface="Verdana"/>
              </a:rPr>
              <a:t>unsupervised</a:t>
            </a:r>
            <a:r>
              <a:rPr sz="1200" spc="-10" dirty="0">
                <a:solidFill>
                  <a:prstClr val="black"/>
                </a:solidFill>
                <a:latin typeface="Verdana"/>
                <a:cs typeface="Verdana"/>
              </a:rPr>
              <a:t> </a:t>
            </a:r>
            <a:r>
              <a:rPr sz="1200" spc="-5" dirty="0">
                <a:solidFill>
                  <a:prstClr val="black"/>
                </a:solidFill>
                <a:latin typeface="Verdana"/>
                <a:cs typeface="Verdana"/>
              </a:rPr>
              <a:t>learning</a:t>
            </a:r>
            <a:endParaRPr sz="1200">
              <a:solidFill>
                <a:prstClr val="black"/>
              </a:solidFill>
              <a:latin typeface="Verdana"/>
              <a:cs typeface="Verdana"/>
            </a:endParaRPr>
          </a:p>
        </p:txBody>
      </p:sp>
      <p:pic>
        <p:nvPicPr>
          <p:cNvPr id="6" name="object 6"/>
          <p:cNvPicPr/>
          <p:nvPr/>
        </p:nvPicPr>
        <p:blipFill>
          <a:blip r:embed="rId2" cstate="print"/>
          <a:stretch>
            <a:fillRect/>
          </a:stretch>
        </p:blipFill>
        <p:spPr>
          <a:xfrm>
            <a:off x="4287851" y="2484422"/>
            <a:ext cx="1846214" cy="1852397"/>
          </a:xfrm>
          <a:prstGeom prst="rect">
            <a:avLst/>
          </a:prstGeom>
        </p:spPr>
      </p:pic>
      <p:pic>
        <p:nvPicPr>
          <p:cNvPr id="7" name="object 7"/>
          <p:cNvPicPr/>
          <p:nvPr/>
        </p:nvPicPr>
        <p:blipFill>
          <a:blip r:embed="rId3" cstate="print"/>
          <a:stretch>
            <a:fillRect/>
          </a:stretch>
        </p:blipFill>
        <p:spPr>
          <a:xfrm>
            <a:off x="1157625" y="2445873"/>
            <a:ext cx="2035407" cy="2070673"/>
          </a:xfrm>
          <a:prstGeom prst="rect">
            <a:avLst/>
          </a:prstGeom>
        </p:spPr>
      </p:pic>
      <p:grpSp>
        <p:nvGrpSpPr>
          <p:cNvPr id="8" name="object 8"/>
          <p:cNvGrpSpPr/>
          <p:nvPr/>
        </p:nvGrpSpPr>
        <p:grpSpPr>
          <a:xfrm>
            <a:off x="512344" y="4767620"/>
            <a:ext cx="762635" cy="586105"/>
            <a:chOff x="512343" y="3910369"/>
            <a:chExt cx="762635" cy="586105"/>
          </a:xfrm>
        </p:grpSpPr>
        <p:sp>
          <p:nvSpPr>
            <p:cNvPr id="9" name="object 9"/>
            <p:cNvSpPr/>
            <p:nvPr/>
          </p:nvSpPr>
          <p:spPr>
            <a:xfrm>
              <a:off x="525043" y="3923069"/>
              <a:ext cx="737235" cy="560705"/>
            </a:xfrm>
            <a:custGeom>
              <a:avLst/>
              <a:gdLst/>
              <a:ahLst/>
              <a:cxnLst/>
              <a:rect l="l" t="t" r="r" b="b"/>
              <a:pathLst>
                <a:path w="737235" h="560704">
                  <a:moveTo>
                    <a:pt x="736701" y="560322"/>
                  </a:moveTo>
                  <a:lnTo>
                    <a:pt x="341475" y="386907"/>
                  </a:lnTo>
                  <a:lnTo>
                    <a:pt x="416850" y="362834"/>
                  </a:lnTo>
                  <a:lnTo>
                    <a:pt x="171283" y="251756"/>
                  </a:lnTo>
                  <a:lnTo>
                    <a:pt x="259278" y="217436"/>
                  </a:lnTo>
                  <a:lnTo>
                    <a:pt x="0" y="100909"/>
                  </a:lnTo>
                  <a:lnTo>
                    <a:pt x="288950" y="0"/>
                  </a:lnTo>
                  <a:lnTo>
                    <a:pt x="438610" y="157720"/>
                  </a:lnTo>
                  <a:lnTo>
                    <a:pt x="376877" y="176320"/>
                  </a:lnTo>
                  <a:lnTo>
                    <a:pt x="565384" y="311472"/>
                  </a:lnTo>
                  <a:lnTo>
                    <a:pt x="503651" y="334040"/>
                  </a:lnTo>
                  <a:lnTo>
                    <a:pt x="736701" y="560322"/>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10" name="object 10"/>
            <p:cNvSpPr/>
            <p:nvPr/>
          </p:nvSpPr>
          <p:spPr>
            <a:xfrm>
              <a:off x="525043" y="3923069"/>
              <a:ext cx="737235" cy="560705"/>
            </a:xfrm>
            <a:custGeom>
              <a:avLst/>
              <a:gdLst/>
              <a:ahLst/>
              <a:cxnLst/>
              <a:rect l="l" t="t" r="r" b="b"/>
              <a:pathLst>
                <a:path w="737235" h="560704">
                  <a:moveTo>
                    <a:pt x="288950" y="0"/>
                  </a:moveTo>
                  <a:lnTo>
                    <a:pt x="438610" y="157720"/>
                  </a:lnTo>
                  <a:lnTo>
                    <a:pt x="376877" y="176320"/>
                  </a:lnTo>
                  <a:lnTo>
                    <a:pt x="565384" y="311472"/>
                  </a:lnTo>
                  <a:lnTo>
                    <a:pt x="503651" y="334040"/>
                  </a:lnTo>
                  <a:lnTo>
                    <a:pt x="736701" y="560322"/>
                  </a:lnTo>
                  <a:lnTo>
                    <a:pt x="341475" y="386907"/>
                  </a:lnTo>
                  <a:lnTo>
                    <a:pt x="416850" y="362834"/>
                  </a:lnTo>
                  <a:lnTo>
                    <a:pt x="171283" y="251756"/>
                  </a:lnTo>
                  <a:lnTo>
                    <a:pt x="259278" y="217436"/>
                  </a:lnTo>
                  <a:lnTo>
                    <a:pt x="0" y="100909"/>
                  </a:lnTo>
                  <a:lnTo>
                    <a:pt x="288950" y="0"/>
                  </a:lnTo>
                  <a:close/>
                </a:path>
              </a:pathLst>
            </a:custGeom>
            <a:ln w="25399">
              <a:solidFill>
                <a:srgbClr val="81042A"/>
              </a:solidFill>
            </a:ln>
          </p:spPr>
          <p:txBody>
            <a:bodyPr wrap="square" lIns="0" tIns="0" rIns="0" bIns="0" rtlCol="0"/>
            <a:lstStyle/>
            <a:p>
              <a:endParaRPr>
                <a:solidFill>
                  <a:prstClr val="black"/>
                </a:solidFill>
                <a:latin typeface="Calibri"/>
              </a:endParaRPr>
            </a:p>
          </p:txBody>
        </p:sp>
      </p:grpSp>
      <p:sp>
        <p:nvSpPr>
          <p:cNvPr id="13" name="object 13"/>
          <p:cNvSpPr txBox="1"/>
          <p:nvPr/>
        </p:nvSpPr>
        <p:spPr>
          <a:xfrm>
            <a:off x="8326237" y="5733969"/>
            <a:ext cx="702310" cy="200696"/>
          </a:xfrm>
          <a:prstGeom prst="rect">
            <a:avLst/>
          </a:prstGeom>
        </p:spPr>
        <p:txBody>
          <a:bodyPr vert="horz" wrap="square" lIns="0" tIns="38735" rIns="0" bIns="0" rtlCol="0">
            <a:spAutoFit/>
          </a:bodyPr>
          <a:lstStyle/>
          <a:p>
            <a:pPr marL="12700">
              <a:spcBef>
                <a:spcPts val="305"/>
              </a:spcBef>
            </a:pPr>
            <a:r>
              <a:rPr sz="1050" spc="-5" dirty="0">
                <a:solidFill>
                  <a:srgbClr val="313131"/>
                </a:solidFill>
                <a:latin typeface="Verdana"/>
                <a:cs typeface="Verdana"/>
              </a:rPr>
              <a:t>Slide</a:t>
            </a:r>
            <a:r>
              <a:rPr sz="1050" spc="-55" dirty="0">
                <a:solidFill>
                  <a:srgbClr val="313131"/>
                </a:solidFill>
                <a:latin typeface="Verdana"/>
                <a:cs typeface="Verdana"/>
              </a:rPr>
              <a:t> </a:t>
            </a:r>
            <a:r>
              <a:rPr sz="1050" spc="-5" dirty="0">
                <a:solidFill>
                  <a:srgbClr val="313131"/>
                </a:solidFill>
                <a:latin typeface="Verdana"/>
                <a:cs typeface="Verdana"/>
              </a:rPr>
              <a:t>#</a:t>
            </a:r>
            <a:fld id="{81D60167-4931-47E6-BA6A-407CBD079E47}" type="slidenum">
              <a:rPr sz="1050" spc="-5" dirty="0">
                <a:solidFill>
                  <a:srgbClr val="313131"/>
                </a:solidFill>
                <a:latin typeface="Verdana"/>
                <a:cs typeface="Verdana"/>
              </a:rPr>
              <a:pPr marL="12700">
                <a:spcBef>
                  <a:spcPts val="305"/>
                </a:spcBef>
              </a:pPr>
              <a:t>46</a:t>
            </a:fld>
            <a:endParaRPr sz="1050">
              <a:solidFill>
                <a:prstClr val="black"/>
              </a:solidFill>
              <a:latin typeface="Verdana"/>
              <a:cs typeface="Verdana"/>
            </a:endParaRPr>
          </a:p>
        </p:txBody>
      </p:sp>
      <p:pic>
        <p:nvPicPr>
          <p:cNvPr id="14" name="Picture 2" descr="E:\NIET\Project\xLogo11.png.pagespeed.ic.pydHLuCQEZ.png">
            <a:extLst>
              <a:ext uri="{FF2B5EF4-FFF2-40B4-BE49-F238E27FC236}">
                <a16:creationId xmlns:a16="http://schemas.microsoft.com/office/drawing/2014/main" id="{E4481741-FE28-206A-6275-5C2F0A89C115}"/>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15" name="Title 1">
            <a:extLst>
              <a:ext uri="{FF2B5EF4-FFF2-40B4-BE49-F238E27FC236}">
                <a16:creationId xmlns:a16="http://schemas.microsoft.com/office/drawing/2014/main" id="{1A400E13-65AF-5382-FC64-1CD32DACCD66}"/>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Generative Models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2538"/>
            <a:ext cx="2384425" cy="330200"/>
          </a:xfrm>
          <a:prstGeom prst="rect">
            <a:avLst/>
          </a:prstGeom>
        </p:spPr>
        <p:txBody>
          <a:bodyPr vert="horz" wrap="square" lIns="0" tIns="12700" rIns="0" bIns="0" rtlCol="0">
            <a:spAutoFit/>
          </a:bodyPr>
          <a:lstStyle/>
          <a:p>
            <a:pPr marL="12700">
              <a:spcBef>
                <a:spcPts val="100"/>
              </a:spcBef>
            </a:pPr>
            <a:r>
              <a:rPr spc="-5" dirty="0"/>
              <a:t>Generative</a:t>
            </a:r>
            <a:r>
              <a:rPr spc="-85" dirty="0"/>
              <a:t> </a:t>
            </a:r>
            <a:r>
              <a:rPr spc="-5" dirty="0"/>
              <a:t>Models</a:t>
            </a:r>
          </a:p>
        </p:txBody>
      </p:sp>
      <p:sp>
        <p:nvSpPr>
          <p:cNvPr id="3" name="object 3"/>
          <p:cNvSpPr txBox="1"/>
          <p:nvPr/>
        </p:nvSpPr>
        <p:spPr>
          <a:xfrm>
            <a:off x="318862" y="2100832"/>
            <a:ext cx="5120005" cy="197490"/>
          </a:xfrm>
          <a:prstGeom prst="rect">
            <a:avLst/>
          </a:prstGeom>
        </p:spPr>
        <p:txBody>
          <a:bodyPr vert="horz" wrap="square" lIns="0" tIns="12700" rIns="0" bIns="0" rtlCol="0">
            <a:spAutoFit/>
          </a:bodyPr>
          <a:lstStyle/>
          <a:p>
            <a:pPr marL="12700">
              <a:spcBef>
                <a:spcPts val="100"/>
              </a:spcBef>
            </a:pPr>
            <a:r>
              <a:rPr sz="1200" spc="-5" dirty="0">
                <a:solidFill>
                  <a:prstClr val="black"/>
                </a:solidFill>
                <a:latin typeface="Verdana"/>
                <a:cs typeface="Verdana"/>
              </a:rPr>
              <a:t>Given</a:t>
            </a:r>
            <a:r>
              <a:rPr sz="1200" spc="-15" dirty="0">
                <a:solidFill>
                  <a:prstClr val="black"/>
                </a:solidFill>
                <a:latin typeface="Verdana"/>
                <a:cs typeface="Verdana"/>
              </a:rPr>
              <a:t> </a:t>
            </a:r>
            <a:r>
              <a:rPr sz="1200" spc="-5" dirty="0">
                <a:solidFill>
                  <a:prstClr val="black"/>
                </a:solidFill>
                <a:latin typeface="Verdana"/>
                <a:cs typeface="Verdana"/>
              </a:rPr>
              <a:t>training</a:t>
            </a:r>
            <a:r>
              <a:rPr sz="1200" spc="-10" dirty="0">
                <a:solidFill>
                  <a:prstClr val="black"/>
                </a:solidFill>
                <a:latin typeface="Verdana"/>
                <a:cs typeface="Verdana"/>
              </a:rPr>
              <a:t> </a:t>
            </a:r>
            <a:r>
              <a:rPr sz="1200" spc="-5" dirty="0">
                <a:solidFill>
                  <a:prstClr val="black"/>
                </a:solidFill>
                <a:latin typeface="Verdana"/>
                <a:cs typeface="Verdana"/>
              </a:rPr>
              <a:t>data,</a:t>
            </a:r>
            <a:r>
              <a:rPr sz="1200" spc="-15" dirty="0">
                <a:solidFill>
                  <a:prstClr val="black"/>
                </a:solidFill>
                <a:latin typeface="Verdana"/>
                <a:cs typeface="Verdana"/>
              </a:rPr>
              <a:t> </a:t>
            </a:r>
            <a:r>
              <a:rPr sz="1200" spc="-5" dirty="0">
                <a:solidFill>
                  <a:prstClr val="black"/>
                </a:solidFill>
                <a:latin typeface="Verdana"/>
                <a:cs typeface="Verdana"/>
              </a:rPr>
              <a:t>generate</a:t>
            </a:r>
            <a:r>
              <a:rPr sz="1200" spc="-10" dirty="0">
                <a:solidFill>
                  <a:prstClr val="black"/>
                </a:solidFill>
                <a:latin typeface="Verdana"/>
                <a:cs typeface="Verdana"/>
              </a:rPr>
              <a:t> </a:t>
            </a:r>
            <a:r>
              <a:rPr sz="1200" spc="-5" dirty="0">
                <a:solidFill>
                  <a:prstClr val="black"/>
                </a:solidFill>
                <a:latin typeface="Verdana"/>
                <a:cs typeface="Verdana"/>
              </a:rPr>
              <a:t>new</a:t>
            </a:r>
            <a:r>
              <a:rPr sz="1200" spc="-10" dirty="0">
                <a:solidFill>
                  <a:prstClr val="black"/>
                </a:solidFill>
                <a:latin typeface="Verdana"/>
                <a:cs typeface="Verdana"/>
              </a:rPr>
              <a:t> </a:t>
            </a:r>
            <a:r>
              <a:rPr sz="1200" spc="-5" dirty="0">
                <a:solidFill>
                  <a:prstClr val="black"/>
                </a:solidFill>
                <a:latin typeface="Verdana"/>
                <a:cs typeface="Verdana"/>
              </a:rPr>
              <a:t>samples</a:t>
            </a:r>
            <a:r>
              <a:rPr sz="1200" spc="-15" dirty="0">
                <a:solidFill>
                  <a:prstClr val="black"/>
                </a:solidFill>
                <a:latin typeface="Verdana"/>
                <a:cs typeface="Verdana"/>
              </a:rPr>
              <a:t> </a:t>
            </a:r>
            <a:r>
              <a:rPr sz="1200" spc="-5" dirty="0">
                <a:solidFill>
                  <a:prstClr val="black"/>
                </a:solidFill>
                <a:latin typeface="Verdana"/>
                <a:cs typeface="Verdana"/>
              </a:rPr>
              <a:t>from</a:t>
            </a:r>
            <a:r>
              <a:rPr sz="1200" spc="-10" dirty="0">
                <a:solidFill>
                  <a:prstClr val="black"/>
                </a:solidFill>
                <a:latin typeface="Verdana"/>
                <a:cs typeface="Verdana"/>
              </a:rPr>
              <a:t> </a:t>
            </a:r>
            <a:r>
              <a:rPr sz="1200" spc="-5" dirty="0">
                <a:solidFill>
                  <a:prstClr val="black"/>
                </a:solidFill>
                <a:latin typeface="Verdana"/>
                <a:cs typeface="Verdana"/>
              </a:rPr>
              <a:t>same</a:t>
            </a:r>
            <a:r>
              <a:rPr sz="1200" spc="-10" dirty="0">
                <a:solidFill>
                  <a:prstClr val="black"/>
                </a:solidFill>
                <a:latin typeface="Verdana"/>
                <a:cs typeface="Verdana"/>
              </a:rPr>
              <a:t> </a:t>
            </a:r>
            <a:r>
              <a:rPr sz="1200" spc="-5" dirty="0">
                <a:solidFill>
                  <a:prstClr val="black"/>
                </a:solidFill>
                <a:latin typeface="Verdana"/>
                <a:cs typeface="Verdana"/>
              </a:rPr>
              <a:t>distribution</a:t>
            </a:r>
            <a:endParaRPr sz="1200">
              <a:solidFill>
                <a:prstClr val="black"/>
              </a:solidFill>
              <a:latin typeface="Verdana"/>
              <a:cs typeface="Verdana"/>
            </a:endParaRPr>
          </a:p>
        </p:txBody>
      </p:sp>
      <p:sp>
        <p:nvSpPr>
          <p:cNvPr id="4" name="object 4"/>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5" name="object 5"/>
          <p:cNvSpPr txBox="1"/>
          <p:nvPr/>
        </p:nvSpPr>
        <p:spPr>
          <a:xfrm>
            <a:off x="589198" y="3306198"/>
            <a:ext cx="5163185" cy="876935"/>
          </a:xfrm>
          <a:prstGeom prst="rect">
            <a:avLst/>
          </a:prstGeom>
        </p:spPr>
        <p:txBody>
          <a:bodyPr vert="horz" wrap="square" lIns="0" tIns="12700" rIns="0" bIns="0" rtlCol="0">
            <a:spAutoFit/>
          </a:bodyPr>
          <a:lstStyle/>
          <a:p>
            <a:pPr algn="ctr">
              <a:spcBef>
                <a:spcPts val="100"/>
              </a:spcBef>
              <a:tabLst>
                <a:tab pos="3054350" algn="l"/>
              </a:tabLst>
            </a:pPr>
            <a:r>
              <a:rPr sz="1000" spc="-5" dirty="0">
                <a:solidFill>
                  <a:prstClr val="black"/>
                </a:solidFill>
                <a:latin typeface="Verdana"/>
                <a:cs typeface="Verdana"/>
              </a:rPr>
              <a:t>Training</a:t>
            </a:r>
            <a:r>
              <a:rPr sz="1000" dirty="0">
                <a:solidFill>
                  <a:prstClr val="black"/>
                </a:solidFill>
                <a:latin typeface="Verdana"/>
                <a:cs typeface="Verdana"/>
              </a:rPr>
              <a:t> </a:t>
            </a:r>
            <a:r>
              <a:rPr sz="1000" spc="-5" dirty="0">
                <a:solidFill>
                  <a:prstClr val="black"/>
                </a:solidFill>
                <a:latin typeface="Verdana"/>
                <a:cs typeface="Verdana"/>
              </a:rPr>
              <a:t>data</a:t>
            </a:r>
            <a:r>
              <a:rPr sz="1000" dirty="0">
                <a:solidFill>
                  <a:prstClr val="black"/>
                </a:solidFill>
                <a:latin typeface="Verdana"/>
                <a:cs typeface="Verdana"/>
              </a:rPr>
              <a:t> ~ p</a:t>
            </a:r>
            <a:r>
              <a:rPr sz="975" baseline="-34188" dirty="0">
                <a:solidFill>
                  <a:prstClr val="black"/>
                </a:solidFill>
                <a:latin typeface="Verdana"/>
                <a:cs typeface="Verdana"/>
              </a:rPr>
              <a:t>data</a:t>
            </a:r>
            <a:r>
              <a:rPr sz="1000" dirty="0">
                <a:solidFill>
                  <a:prstClr val="black"/>
                </a:solidFill>
                <a:latin typeface="Verdana"/>
                <a:cs typeface="Verdana"/>
              </a:rPr>
              <a:t>(x)	</a:t>
            </a:r>
            <a:r>
              <a:rPr sz="1000" spc="-5" dirty="0">
                <a:solidFill>
                  <a:prstClr val="black"/>
                </a:solidFill>
                <a:latin typeface="Verdana"/>
                <a:cs typeface="Verdana"/>
              </a:rPr>
              <a:t>Generated</a:t>
            </a:r>
            <a:r>
              <a:rPr sz="1000" spc="-15" dirty="0">
                <a:solidFill>
                  <a:prstClr val="black"/>
                </a:solidFill>
                <a:latin typeface="Verdana"/>
                <a:cs typeface="Verdana"/>
              </a:rPr>
              <a:t> </a:t>
            </a:r>
            <a:r>
              <a:rPr sz="1000" spc="-5" dirty="0">
                <a:solidFill>
                  <a:prstClr val="black"/>
                </a:solidFill>
                <a:latin typeface="Verdana"/>
                <a:cs typeface="Verdana"/>
              </a:rPr>
              <a:t>samples</a:t>
            </a:r>
            <a:r>
              <a:rPr sz="1000" spc="-20" dirty="0">
                <a:solidFill>
                  <a:prstClr val="black"/>
                </a:solidFill>
                <a:latin typeface="Verdana"/>
                <a:cs typeface="Verdana"/>
              </a:rPr>
              <a:t> </a:t>
            </a:r>
            <a:r>
              <a:rPr sz="1000" dirty="0">
                <a:solidFill>
                  <a:prstClr val="black"/>
                </a:solidFill>
                <a:latin typeface="Verdana"/>
                <a:cs typeface="Verdana"/>
              </a:rPr>
              <a:t>~</a:t>
            </a:r>
            <a:r>
              <a:rPr sz="1000" spc="-15" dirty="0">
                <a:solidFill>
                  <a:prstClr val="black"/>
                </a:solidFill>
                <a:latin typeface="Verdana"/>
                <a:cs typeface="Verdana"/>
              </a:rPr>
              <a:t> </a:t>
            </a:r>
            <a:r>
              <a:rPr sz="1000" dirty="0">
                <a:solidFill>
                  <a:prstClr val="black"/>
                </a:solidFill>
                <a:latin typeface="Verdana"/>
                <a:cs typeface="Verdana"/>
              </a:rPr>
              <a:t>p</a:t>
            </a:r>
            <a:r>
              <a:rPr sz="975" baseline="-34188" dirty="0">
                <a:solidFill>
                  <a:prstClr val="black"/>
                </a:solidFill>
                <a:latin typeface="Verdana"/>
                <a:cs typeface="Verdana"/>
              </a:rPr>
              <a:t>model</a:t>
            </a:r>
            <a:r>
              <a:rPr sz="1000" dirty="0">
                <a:solidFill>
                  <a:prstClr val="black"/>
                </a:solidFill>
                <a:latin typeface="Verdana"/>
                <a:cs typeface="Verdana"/>
              </a:rPr>
              <a:t>(x)</a:t>
            </a:r>
            <a:endParaRPr sz="1000">
              <a:solidFill>
                <a:prstClr val="black"/>
              </a:solidFill>
              <a:latin typeface="Verdana"/>
              <a:cs typeface="Verdana"/>
            </a:endParaRPr>
          </a:p>
          <a:p>
            <a:pPr marL="52705" algn="ctr">
              <a:spcBef>
                <a:spcPts val="1135"/>
              </a:spcBef>
            </a:pPr>
            <a:r>
              <a:rPr sz="1000" i="1" spc="-5" dirty="0">
                <a:solidFill>
                  <a:prstClr val="black"/>
                </a:solidFill>
                <a:latin typeface="Verdana"/>
                <a:cs typeface="Verdana"/>
              </a:rPr>
              <a:t>Want</a:t>
            </a:r>
            <a:r>
              <a:rPr sz="1000" i="1" spc="-10" dirty="0">
                <a:solidFill>
                  <a:prstClr val="black"/>
                </a:solidFill>
                <a:latin typeface="Verdana"/>
                <a:cs typeface="Verdana"/>
              </a:rPr>
              <a:t> </a:t>
            </a:r>
            <a:r>
              <a:rPr sz="1000" i="1" spc="-5" dirty="0">
                <a:solidFill>
                  <a:prstClr val="black"/>
                </a:solidFill>
                <a:latin typeface="Verdana"/>
                <a:cs typeface="Verdana"/>
              </a:rPr>
              <a:t>to:</a:t>
            </a:r>
            <a:r>
              <a:rPr sz="1000" i="1" spc="-10" dirty="0">
                <a:solidFill>
                  <a:prstClr val="black"/>
                </a:solidFill>
                <a:latin typeface="Verdana"/>
                <a:cs typeface="Verdana"/>
              </a:rPr>
              <a:t> </a:t>
            </a:r>
            <a:r>
              <a:rPr sz="1000" i="1" spc="-5" dirty="0">
                <a:solidFill>
                  <a:prstClr val="black"/>
                </a:solidFill>
                <a:latin typeface="Verdana"/>
                <a:cs typeface="Verdana"/>
              </a:rPr>
              <a:t>learn</a:t>
            </a:r>
            <a:r>
              <a:rPr sz="1000" i="1" spc="-10" dirty="0">
                <a:solidFill>
                  <a:prstClr val="black"/>
                </a:solidFill>
                <a:latin typeface="Verdana"/>
                <a:cs typeface="Verdana"/>
              </a:rPr>
              <a:t> </a:t>
            </a:r>
            <a:r>
              <a:rPr sz="1000" i="1" dirty="0">
                <a:solidFill>
                  <a:prstClr val="black"/>
                </a:solidFill>
                <a:latin typeface="Verdana"/>
                <a:cs typeface="Verdana"/>
              </a:rPr>
              <a:t>p</a:t>
            </a:r>
            <a:r>
              <a:rPr sz="975" i="1" baseline="-34188" dirty="0">
                <a:solidFill>
                  <a:prstClr val="black"/>
                </a:solidFill>
                <a:latin typeface="Verdana"/>
                <a:cs typeface="Verdana"/>
              </a:rPr>
              <a:t>model</a:t>
            </a:r>
            <a:r>
              <a:rPr sz="1000" i="1" dirty="0">
                <a:solidFill>
                  <a:prstClr val="black"/>
                </a:solidFill>
                <a:latin typeface="Verdana"/>
                <a:cs typeface="Verdana"/>
              </a:rPr>
              <a:t>(x)</a:t>
            </a:r>
            <a:r>
              <a:rPr sz="1000" i="1" spc="-10" dirty="0">
                <a:solidFill>
                  <a:prstClr val="black"/>
                </a:solidFill>
                <a:latin typeface="Verdana"/>
                <a:cs typeface="Verdana"/>
              </a:rPr>
              <a:t> </a:t>
            </a:r>
            <a:r>
              <a:rPr sz="1000" i="1" spc="-5" dirty="0">
                <a:solidFill>
                  <a:prstClr val="black"/>
                </a:solidFill>
                <a:latin typeface="Verdana"/>
                <a:cs typeface="Verdana"/>
              </a:rPr>
              <a:t>similar</a:t>
            </a:r>
            <a:r>
              <a:rPr sz="1000" i="1" spc="-10" dirty="0">
                <a:solidFill>
                  <a:prstClr val="black"/>
                </a:solidFill>
                <a:latin typeface="Verdana"/>
                <a:cs typeface="Verdana"/>
              </a:rPr>
              <a:t> </a:t>
            </a:r>
            <a:r>
              <a:rPr sz="1000" i="1" spc="-5" dirty="0">
                <a:solidFill>
                  <a:prstClr val="black"/>
                </a:solidFill>
                <a:latin typeface="Verdana"/>
                <a:cs typeface="Verdana"/>
              </a:rPr>
              <a:t>to</a:t>
            </a:r>
            <a:r>
              <a:rPr sz="1000" i="1" spc="-10" dirty="0">
                <a:solidFill>
                  <a:prstClr val="black"/>
                </a:solidFill>
                <a:latin typeface="Verdana"/>
                <a:cs typeface="Verdana"/>
              </a:rPr>
              <a:t> </a:t>
            </a:r>
            <a:r>
              <a:rPr sz="1000" i="1" dirty="0">
                <a:solidFill>
                  <a:prstClr val="black"/>
                </a:solidFill>
                <a:latin typeface="Verdana"/>
                <a:cs typeface="Verdana"/>
              </a:rPr>
              <a:t>p</a:t>
            </a:r>
            <a:r>
              <a:rPr sz="975" i="1" baseline="-34188" dirty="0">
                <a:solidFill>
                  <a:prstClr val="black"/>
                </a:solidFill>
                <a:latin typeface="Verdana"/>
                <a:cs typeface="Verdana"/>
              </a:rPr>
              <a:t>data</a:t>
            </a:r>
            <a:r>
              <a:rPr sz="1000" i="1" dirty="0">
                <a:solidFill>
                  <a:prstClr val="black"/>
                </a:solidFill>
                <a:latin typeface="Verdana"/>
                <a:cs typeface="Verdana"/>
              </a:rPr>
              <a:t>(x)</a:t>
            </a:r>
            <a:endParaRPr sz="1000">
              <a:solidFill>
                <a:prstClr val="black"/>
              </a:solidFill>
              <a:latin typeface="Verdana"/>
              <a:cs typeface="Verdana"/>
            </a:endParaRPr>
          </a:p>
          <a:p>
            <a:pPr>
              <a:spcBef>
                <a:spcPts val="25"/>
              </a:spcBef>
            </a:pPr>
            <a:endParaRPr sz="1600">
              <a:solidFill>
                <a:prstClr val="black"/>
              </a:solidFill>
              <a:latin typeface="Verdana"/>
              <a:cs typeface="Verdana"/>
            </a:endParaRPr>
          </a:p>
          <a:p>
            <a:pPr marL="42545" algn="ctr"/>
            <a:r>
              <a:rPr sz="1000" spc="-5" dirty="0">
                <a:solidFill>
                  <a:prstClr val="black"/>
                </a:solidFill>
                <a:latin typeface="Verdana"/>
                <a:cs typeface="Verdana"/>
              </a:rPr>
              <a:t>Addresses</a:t>
            </a:r>
            <a:r>
              <a:rPr sz="1000" spc="5" dirty="0">
                <a:solidFill>
                  <a:prstClr val="black"/>
                </a:solidFill>
                <a:latin typeface="Verdana"/>
                <a:cs typeface="Verdana"/>
              </a:rPr>
              <a:t> </a:t>
            </a:r>
            <a:r>
              <a:rPr sz="1000" spc="-5" dirty="0">
                <a:solidFill>
                  <a:srgbClr val="B10639"/>
                </a:solidFill>
                <a:latin typeface="Verdana"/>
                <a:cs typeface="Verdana"/>
              </a:rPr>
              <a:t>density</a:t>
            </a:r>
            <a:r>
              <a:rPr sz="1000" spc="-10" dirty="0">
                <a:solidFill>
                  <a:srgbClr val="B10639"/>
                </a:solidFill>
                <a:latin typeface="Verdana"/>
                <a:cs typeface="Verdana"/>
              </a:rPr>
              <a:t> </a:t>
            </a:r>
            <a:r>
              <a:rPr sz="1000" spc="-5" dirty="0">
                <a:solidFill>
                  <a:srgbClr val="B10639"/>
                </a:solidFill>
                <a:latin typeface="Verdana"/>
                <a:cs typeface="Verdana"/>
              </a:rPr>
              <a:t>estimation</a:t>
            </a:r>
            <a:r>
              <a:rPr sz="1000" spc="5" dirty="0">
                <a:solidFill>
                  <a:srgbClr val="B10639"/>
                </a:solidFill>
                <a:latin typeface="Verdana"/>
                <a:cs typeface="Verdana"/>
              </a:rPr>
              <a:t> </a:t>
            </a:r>
            <a:r>
              <a:rPr sz="1000" spc="-5" dirty="0">
                <a:solidFill>
                  <a:prstClr val="black"/>
                </a:solidFill>
                <a:latin typeface="Verdana"/>
                <a:cs typeface="Verdana"/>
              </a:rPr>
              <a:t>which</a:t>
            </a:r>
            <a:r>
              <a:rPr sz="1000" spc="-10" dirty="0">
                <a:solidFill>
                  <a:prstClr val="black"/>
                </a:solidFill>
                <a:latin typeface="Verdana"/>
                <a:cs typeface="Verdana"/>
              </a:rPr>
              <a:t> </a:t>
            </a:r>
            <a:r>
              <a:rPr sz="1000" spc="-5" dirty="0">
                <a:solidFill>
                  <a:prstClr val="black"/>
                </a:solidFill>
                <a:latin typeface="Verdana"/>
                <a:cs typeface="Verdana"/>
              </a:rPr>
              <a:t>is</a:t>
            </a:r>
            <a:r>
              <a:rPr sz="1000" spc="-10" dirty="0">
                <a:solidFill>
                  <a:prstClr val="black"/>
                </a:solidFill>
                <a:latin typeface="Verdana"/>
                <a:cs typeface="Verdana"/>
              </a:rPr>
              <a:t> </a:t>
            </a:r>
            <a:r>
              <a:rPr sz="1000" dirty="0">
                <a:solidFill>
                  <a:prstClr val="black"/>
                </a:solidFill>
                <a:latin typeface="Verdana"/>
                <a:cs typeface="Verdana"/>
              </a:rPr>
              <a:t>a</a:t>
            </a:r>
            <a:r>
              <a:rPr sz="1000" spc="-10" dirty="0">
                <a:solidFill>
                  <a:prstClr val="black"/>
                </a:solidFill>
                <a:latin typeface="Verdana"/>
                <a:cs typeface="Verdana"/>
              </a:rPr>
              <a:t> </a:t>
            </a:r>
            <a:r>
              <a:rPr sz="1000" spc="-5" dirty="0">
                <a:solidFill>
                  <a:prstClr val="black"/>
                </a:solidFill>
                <a:latin typeface="Verdana"/>
                <a:cs typeface="Verdana"/>
              </a:rPr>
              <a:t>core</a:t>
            </a:r>
            <a:r>
              <a:rPr sz="1000" spc="-10" dirty="0">
                <a:solidFill>
                  <a:prstClr val="black"/>
                </a:solidFill>
                <a:latin typeface="Verdana"/>
                <a:cs typeface="Verdana"/>
              </a:rPr>
              <a:t> </a:t>
            </a:r>
            <a:r>
              <a:rPr sz="1000" spc="-5" dirty="0">
                <a:solidFill>
                  <a:prstClr val="black"/>
                </a:solidFill>
                <a:latin typeface="Verdana"/>
                <a:cs typeface="Verdana"/>
              </a:rPr>
              <a:t>problem</a:t>
            </a:r>
            <a:r>
              <a:rPr sz="1000" spc="-10" dirty="0">
                <a:solidFill>
                  <a:prstClr val="black"/>
                </a:solidFill>
                <a:latin typeface="Verdana"/>
                <a:cs typeface="Verdana"/>
              </a:rPr>
              <a:t> </a:t>
            </a:r>
            <a:r>
              <a:rPr sz="1000" spc="-5" dirty="0">
                <a:solidFill>
                  <a:prstClr val="black"/>
                </a:solidFill>
                <a:latin typeface="Verdana"/>
                <a:cs typeface="Verdana"/>
              </a:rPr>
              <a:t>in</a:t>
            </a:r>
            <a:r>
              <a:rPr sz="1000" spc="-10" dirty="0">
                <a:solidFill>
                  <a:prstClr val="black"/>
                </a:solidFill>
                <a:latin typeface="Verdana"/>
                <a:cs typeface="Verdana"/>
              </a:rPr>
              <a:t> </a:t>
            </a:r>
            <a:r>
              <a:rPr sz="1000" spc="-5" dirty="0">
                <a:solidFill>
                  <a:prstClr val="black"/>
                </a:solidFill>
                <a:latin typeface="Verdana"/>
                <a:cs typeface="Verdana"/>
              </a:rPr>
              <a:t>unsupervised</a:t>
            </a:r>
            <a:r>
              <a:rPr sz="1000" spc="-10" dirty="0">
                <a:solidFill>
                  <a:prstClr val="black"/>
                </a:solidFill>
                <a:latin typeface="Verdana"/>
                <a:cs typeface="Verdana"/>
              </a:rPr>
              <a:t> </a:t>
            </a:r>
            <a:r>
              <a:rPr sz="1000" spc="-5" dirty="0">
                <a:solidFill>
                  <a:prstClr val="black"/>
                </a:solidFill>
                <a:latin typeface="Verdana"/>
                <a:cs typeface="Verdana"/>
              </a:rPr>
              <a:t>learning</a:t>
            </a:r>
            <a:endParaRPr sz="1000">
              <a:solidFill>
                <a:prstClr val="black"/>
              </a:solidFill>
              <a:latin typeface="Verdana"/>
              <a:cs typeface="Verdana"/>
            </a:endParaRPr>
          </a:p>
        </p:txBody>
      </p:sp>
      <p:pic>
        <p:nvPicPr>
          <p:cNvPr id="6" name="object 6"/>
          <p:cNvPicPr/>
          <p:nvPr/>
        </p:nvPicPr>
        <p:blipFill>
          <a:blip r:embed="rId2" cstate="print"/>
          <a:stretch>
            <a:fillRect/>
          </a:stretch>
        </p:blipFill>
        <p:spPr>
          <a:xfrm>
            <a:off x="4089398" y="2460295"/>
            <a:ext cx="765062" cy="767625"/>
          </a:xfrm>
          <a:prstGeom prst="rect">
            <a:avLst/>
          </a:prstGeom>
        </p:spPr>
      </p:pic>
      <p:pic>
        <p:nvPicPr>
          <p:cNvPr id="7" name="object 7"/>
          <p:cNvPicPr/>
          <p:nvPr/>
        </p:nvPicPr>
        <p:blipFill>
          <a:blip r:embed="rId3" cstate="print"/>
          <a:stretch>
            <a:fillRect/>
          </a:stretch>
        </p:blipFill>
        <p:spPr>
          <a:xfrm>
            <a:off x="940947" y="2435419"/>
            <a:ext cx="802012" cy="800936"/>
          </a:xfrm>
          <a:prstGeom prst="rect">
            <a:avLst/>
          </a:prstGeom>
        </p:spPr>
      </p:pic>
      <p:sp>
        <p:nvSpPr>
          <p:cNvPr id="8" name="object 8"/>
          <p:cNvSpPr txBox="1"/>
          <p:nvPr/>
        </p:nvSpPr>
        <p:spPr>
          <a:xfrm>
            <a:off x="578470" y="4696428"/>
            <a:ext cx="8007350" cy="595630"/>
          </a:xfrm>
          <a:prstGeom prst="rect">
            <a:avLst/>
          </a:prstGeom>
        </p:spPr>
        <p:txBody>
          <a:bodyPr vert="horz" wrap="square" lIns="0" tIns="12700" rIns="0" bIns="0" rtlCol="0">
            <a:spAutoFit/>
          </a:bodyPr>
          <a:lstStyle/>
          <a:p>
            <a:pPr marL="324485" indent="-274320">
              <a:spcBef>
                <a:spcPts val="100"/>
              </a:spcBef>
              <a:buClr>
                <a:srgbClr val="B10639"/>
              </a:buClr>
              <a:buFont typeface="Arial MT"/>
              <a:buChar char="•"/>
              <a:tabLst>
                <a:tab pos="323850" algn="l"/>
                <a:tab pos="325120" algn="l"/>
              </a:tabLst>
            </a:pPr>
            <a:r>
              <a:rPr sz="1200" spc="-5" dirty="0">
                <a:solidFill>
                  <a:prstClr val="black"/>
                </a:solidFill>
                <a:latin typeface="Verdana"/>
                <a:cs typeface="Verdana"/>
              </a:rPr>
              <a:t>Explicit</a:t>
            </a:r>
            <a:r>
              <a:rPr sz="1200" spc="-10" dirty="0">
                <a:solidFill>
                  <a:prstClr val="black"/>
                </a:solidFill>
                <a:latin typeface="Verdana"/>
                <a:cs typeface="Verdana"/>
              </a:rPr>
              <a:t> </a:t>
            </a:r>
            <a:r>
              <a:rPr sz="1200" spc="-5" dirty="0">
                <a:solidFill>
                  <a:prstClr val="black"/>
                </a:solidFill>
                <a:latin typeface="Verdana"/>
                <a:cs typeface="Verdana"/>
              </a:rPr>
              <a:t>density</a:t>
            </a:r>
            <a:r>
              <a:rPr sz="1200" spc="-10" dirty="0">
                <a:solidFill>
                  <a:prstClr val="black"/>
                </a:solidFill>
                <a:latin typeface="Verdana"/>
                <a:cs typeface="Verdana"/>
              </a:rPr>
              <a:t> </a:t>
            </a:r>
            <a:r>
              <a:rPr sz="1200" spc="-5" dirty="0">
                <a:solidFill>
                  <a:prstClr val="black"/>
                </a:solidFill>
                <a:latin typeface="Verdana"/>
                <a:cs typeface="Verdana"/>
              </a:rPr>
              <a:t>estimation:</a:t>
            </a:r>
            <a:r>
              <a:rPr sz="1200" spc="-10" dirty="0">
                <a:solidFill>
                  <a:prstClr val="black"/>
                </a:solidFill>
                <a:latin typeface="Verdana"/>
                <a:cs typeface="Verdana"/>
              </a:rPr>
              <a:t> </a:t>
            </a:r>
            <a:r>
              <a:rPr sz="1200" spc="-5" dirty="0">
                <a:solidFill>
                  <a:prstClr val="black"/>
                </a:solidFill>
                <a:latin typeface="Verdana"/>
                <a:cs typeface="Verdana"/>
              </a:rPr>
              <a:t>explicitly</a:t>
            </a:r>
            <a:r>
              <a:rPr sz="1200" spc="-10" dirty="0">
                <a:solidFill>
                  <a:prstClr val="black"/>
                </a:solidFill>
                <a:latin typeface="Verdana"/>
                <a:cs typeface="Verdana"/>
              </a:rPr>
              <a:t> </a:t>
            </a:r>
            <a:r>
              <a:rPr sz="1200" spc="-5" dirty="0">
                <a:solidFill>
                  <a:prstClr val="black"/>
                </a:solidFill>
                <a:latin typeface="Verdana"/>
                <a:cs typeface="Verdana"/>
              </a:rPr>
              <a:t>define and</a:t>
            </a:r>
            <a:r>
              <a:rPr sz="1200" spc="-10" dirty="0">
                <a:solidFill>
                  <a:prstClr val="black"/>
                </a:solidFill>
                <a:latin typeface="Verdana"/>
                <a:cs typeface="Verdana"/>
              </a:rPr>
              <a:t> </a:t>
            </a:r>
            <a:r>
              <a:rPr sz="1200" spc="-5" dirty="0">
                <a:solidFill>
                  <a:prstClr val="black"/>
                </a:solidFill>
                <a:latin typeface="Verdana"/>
                <a:cs typeface="Verdana"/>
              </a:rPr>
              <a:t>solve</a:t>
            </a:r>
            <a:r>
              <a:rPr sz="1200" spc="-10" dirty="0">
                <a:solidFill>
                  <a:prstClr val="black"/>
                </a:solidFill>
                <a:latin typeface="Verdana"/>
                <a:cs typeface="Verdana"/>
              </a:rPr>
              <a:t> </a:t>
            </a:r>
            <a:r>
              <a:rPr sz="1200" spc="-5" dirty="0">
                <a:solidFill>
                  <a:prstClr val="black"/>
                </a:solidFill>
                <a:latin typeface="Verdana"/>
                <a:cs typeface="Verdana"/>
              </a:rPr>
              <a:t>for</a:t>
            </a:r>
            <a:r>
              <a:rPr sz="1200" spc="-10" dirty="0">
                <a:solidFill>
                  <a:prstClr val="black"/>
                </a:solidFill>
                <a:latin typeface="Verdana"/>
                <a:cs typeface="Verdana"/>
              </a:rPr>
              <a:t> </a:t>
            </a:r>
            <a:r>
              <a:rPr sz="1200" dirty="0">
                <a:solidFill>
                  <a:prstClr val="black"/>
                </a:solidFill>
                <a:latin typeface="Verdana"/>
                <a:cs typeface="Verdana"/>
              </a:rPr>
              <a:t>p</a:t>
            </a:r>
            <a:r>
              <a:rPr sz="1200" baseline="-31250" dirty="0">
                <a:solidFill>
                  <a:prstClr val="black"/>
                </a:solidFill>
                <a:latin typeface="Verdana"/>
                <a:cs typeface="Verdana"/>
              </a:rPr>
              <a:t>model</a:t>
            </a:r>
            <a:r>
              <a:rPr sz="1200" dirty="0">
                <a:solidFill>
                  <a:prstClr val="black"/>
                </a:solidFill>
                <a:latin typeface="Verdana"/>
                <a:cs typeface="Verdana"/>
              </a:rPr>
              <a:t>(x)</a:t>
            </a:r>
            <a:endParaRPr sz="1200">
              <a:solidFill>
                <a:prstClr val="black"/>
              </a:solidFill>
              <a:latin typeface="Verdana"/>
              <a:cs typeface="Verdana"/>
            </a:endParaRPr>
          </a:p>
          <a:p>
            <a:pPr marL="324485" indent="-280035">
              <a:spcBef>
                <a:spcPts val="1575"/>
              </a:spcBef>
              <a:buClr>
                <a:srgbClr val="B10639"/>
              </a:buClr>
              <a:buSzPct val="112500"/>
              <a:buFont typeface="Arial MT"/>
              <a:buChar char="•"/>
              <a:tabLst>
                <a:tab pos="323850" algn="l"/>
                <a:tab pos="325120" algn="l"/>
              </a:tabLst>
            </a:pPr>
            <a:r>
              <a:rPr sz="1200" spc="-5" dirty="0">
                <a:solidFill>
                  <a:prstClr val="black"/>
                </a:solidFill>
                <a:latin typeface="Verdana"/>
                <a:cs typeface="Verdana"/>
              </a:rPr>
              <a:t>Implicit</a:t>
            </a:r>
            <a:r>
              <a:rPr sz="1200" spc="-10" dirty="0">
                <a:solidFill>
                  <a:prstClr val="black"/>
                </a:solidFill>
                <a:latin typeface="Verdana"/>
                <a:cs typeface="Verdana"/>
              </a:rPr>
              <a:t> </a:t>
            </a:r>
            <a:r>
              <a:rPr sz="1200" spc="-5" dirty="0">
                <a:solidFill>
                  <a:prstClr val="black"/>
                </a:solidFill>
                <a:latin typeface="Verdana"/>
                <a:cs typeface="Verdana"/>
              </a:rPr>
              <a:t>density</a:t>
            </a:r>
            <a:r>
              <a:rPr sz="1200" spc="-10" dirty="0">
                <a:solidFill>
                  <a:prstClr val="black"/>
                </a:solidFill>
                <a:latin typeface="Verdana"/>
                <a:cs typeface="Verdana"/>
              </a:rPr>
              <a:t> </a:t>
            </a:r>
            <a:r>
              <a:rPr sz="1200" spc="-5" dirty="0">
                <a:solidFill>
                  <a:prstClr val="black"/>
                </a:solidFill>
                <a:latin typeface="Verdana"/>
                <a:cs typeface="Verdana"/>
              </a:rPr>
              <a:t>estimation: learn</a:t>
            </a:r>
            <a:r>
              <a:rPr sz="1200" spc="-10" dirty="0">
                <a:solidFill>
                  <a:prstClr val="black"/>
                </a:solidFill>
                <a:latin typeface="Verdana"/>
                <a:cs typeface="Verdana"/>
              </a:rPr>
              <a:t> </a:t>
            </a:r>
            <a:r>
              <a:rPr sz="1200" spc="-5" dirty="0">
                <a:solidFill>
                  <a:prstClr val="black"/>
                </a:solidFill>
                <a:latin typeface="Verdana"/>
                <a:cs typeface="Verdana"/>
              </a:rPr>
              <a:t>model that</a:t>
            </a:r>
            <a:r>
              <a:rPr sz="1200" spc="-10" dirty="0">
                <a:solidFill>
                  <a:prstClr val="black"/>
                </a:solidFill>
                <a:latin typeface="Verdana"/>
                <a:cs typeface="Verdana"/>
              </a:rPr>
              <a:t> </a:t>
            </a:r>
            <a:r>
              <a:rPr sz="1200" spc="-5" dirty="0">
                <a:solidFill>
                  <a:prstClr val="black"/>
                </a:solidFill>
                <a:latin typeface="Verdana"/>
                <a:cs typeface="Verdana"/>
              </a:rPr>
              <a:t>can</a:t>
            </a:r>
            <a:r>
              <a:rPr sz="1200" spc="-10" dirty="0">
                <a:solidFill>
                  <a:prstClr val="black"/>
                </a:solidFill>
                <a:latin typeface="Verdana"/>
                <a:cs typeface="Verdana"/>
              </a:rPr>
              <a:t> </a:t>
            </a:r>
            <a:r>
              <a:rPr sz="1200" spc="-5" dirty="0">
                <a:solidFill>
                  <a:prstClr val="black"/>
                </a:solidFill>
                <a:latin typeface="Verdana"/>
                <a:cs typeface="Verdana"/>
              </a:rPr>
              <a:t>sample from</a:t>
            </a:r>
            <a:r>
              <a:rPr sz="1200" spc="-10" dirty="0">
                <a:solidFill>
                  <a:prstClr val="black"/>
                </a:solidFill>
                <a:latin typeface="Verdana"/>
                <a:cs typeface="Verdana"/>
              </a:rPr>
              <a:t> </a:t>
            </a:r>
            <a:r>
              <a:rPr sz="1200" spc="5" dirty="0">
                <a:solidFill>
                  <a:prstClr val="black"/>
                </a:solidFill>
                <a:latin typeface="Verdana"/>
                <a:cs typeface="Verdana"/>
              </a:rPr>
              <a:t>p</a:t>
            </a:r>
            <a:r>
              <a:rPr sz="1200" spc="7" baseline="-31250" dirty="0">
                <a:solidFill>
                  <a:prstClr val="black"/>
                </a:solidFill>
                <a:latin typeface="Verdana"/>
                <a:cs typeface="Verdana"/>
              </a:rPr>
              <a:t>model</a:t>
            </a:r>
            <a:r>
              <a:rPr sz="1200" spc="5" dirty="0">
                <a:solidFill>
                  <a:prstClr val="black"/>
                </a:solidFill>
                <a:latin typeface="Verdana"/>
                <a:cs typeface="Verdana"/>
              </a:rPr>
              <a:t>(x)</a:t>
            </a:r>
            <a:r>
              <a:rPr sz="1200" spc="-5" dirty="0">
                <a:solidFill>
                  <a:prstClr val="black"/>
                </a:solidFill>
                <a:latin typeface="Verdana"/>
                <a:cs typeface="Verdana"/>
              </a:rPr>
              <a:t> without</a:t>
            </a:r>
            <a:r>
              <a:rPr sz="1200" spc="-10" dirty="0">
                <a:solidFill>
                  <a:prstClr val="black"/>
                </a:solidFill>
                <a:latin typeface="Verdana"/>
                <a:cs typeface="Verdana"/>
              </a:rPr>
              <a:t> </a:t>
            </a:r>
            <a:r>
              <a:rPr sz="1200" spc="-5" dirty="0">
                <a:solidFill>
                  <a:prstClr val="black"/>
                </a:solidFill>
                <a:latin typeface="Verdana"/>
                <a:cs typeface="Verdana"/>
              </a:rPr>
              <a:t>explicitly defining</a:t>
            </a:r>
            <a:r>
              <a:rPr sz="1200" spc="-10" dirty="0">
                <a:solidFill>
                  <a:prstClr val="black"/>
                </a:solidFill>
                <a:latin typeface="Verdana"/>
                <a:cs typeface="Verdana"/>
              </a:rPr>
              <a:t> </a:t>
            </a:r>
            <a:r>
              <a:rPr sz="1200" spc="-5" dirty="0">
                <a:solidFill>
                  <a:prstClr val="black"/>
                </a:solidFill>
                <a:latin typeface="Verdana"/>
                <a:cs typeface="Verdana"/>
              </a:rPr>
              <a:t>it</a:t>
            </a:r>
            <a:endParaRPr sz="1200">
              <a:solidFill>
                <a:prstClr val="black"/>
              </a:solidFill>
              <a:latin typeface="Verdana"/>
              <a:cs typeface="Verdana"/>
            </a:endParaRPr>
          </a:p>
        </p:txBody>
      </p:sp>
      <p:sp>
        <p:nvSpPr>
          <p:cNvPr id="11" name="object 11"/>
          <p:cNvSpPr txBox="1"/>
          <p:nvPr/>
        </p:nvSpPr>
        <p:spPr>
          <a:xfrm>
            <a:off x="8326237" y="5733969"/>
            <a:ext cx="702310" cy="200696"/>
          </a:xfrm>
          <a:prstGeom prst="rect">
            <a:avLst/>
          </a:prstGeom>
        </p:spPr>
        <p:txBody>
          <a:bodyPr vert="horz" wrap="square" lIns="0" tIns="38735" rIns="0" bIns="0" rtlCol="0">
            <a:spAutoFit/>
          </a:bodyPr>
          <a:lstStyle/>
          <a:p>
            <a:pPr marL="12700">
              <a:spcBef>
                <a:spcPts val="305"/>
              </a:spcBef>
            </a:pPr>
            <a:r>
              <a:rPr sz="1050" spc="-5" dirty="0">
                <a:solidFill>
                  <a:srgbClr val="313131"/>
                </a:solidFill>
                <a:latin typeface="Verdana"/>
                <a:cs typeface="Verdana"/>
              </a:rPr>
              <a:t>Slide</a:t>
            </a:r>
            <a:r>
              <a:rPr sz="1050" spc="-55" dirty="0">
                <a:solidFill>
                  <a:srgbClr val="313131"/>
                </a:solidFill>
                <a:latin typeface="Verdana"/>
                <a:cs typeface="Verdana"/>
              </a:rPr>
              <a:t> </a:t>
            </a:r>
            <a:r>
              <a:rPr sz="1050" spc="-5" dirty="0">
                <a:solidFill>
                  <a:srgbClr val="313131"/>
                </a:solidFill>
                <a:latin typeface="Verdana"/>
                <a:cs typeface="Verdana"/>
              </a:rPr>
              <a:t>#</a:t>
            </a:r>
            <a:fld id="{81D60167-4931-47E6-BA6A-407CBD079E47}" type="slidenum">
              <a:rPr sz="1050" spc="-5" dirty="0">
                <a:solidFill>
                  <a:srgbClr val="313131"/>
                </a:solidFill>
                <a:latin typeface="Verdana"/>
                <a:cs typeface="Verdana"/>
              </a:rPr>
              <a:pPr marL="12700">
                <a:spcBef>
                  <a:spcPts val="305"/>
                </a:spcBef>
              </a:pPr>
              <a:t>47</a:t>
            </a:fld>
            <a:endParaRPr sz="1050">
              <a:solidFill>
                <a:prstClr val="black"/>
              </a:solidFill>
              <a:latin typeface="Verdana"/>
              <a:cs typeface="Verdana"/>
            </a:endParaRPr>
          </a:p>
        </p:txBody>
      </p:sp>
      <p:pic>
        <p:nvPicPr>
          <p:cNvPr id="12" name="Picture 2" descr="E:\NIET\Project\xLogo11.png.pagespeed.ic.pydHLuCQEZ.png">
            <a:extLst>
              <a:ext uri="{FF2B5EF4-FFF2-40B4-BE49-F238E27FC236}">
                <a16:creationId xmlns:a16="http://schemas.microsoft.com/office/drawing/2014/main" id="{9EE6BF9F-2290-AA93-8832-A6A170E420FA}"/>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13" name="Title 1">
            <a:extLst>
              <a:ext uri="{FF2B5EF4-FFF2-40B4-BE49-F238E27FC236}">
                <a16:creationId xmlns:a16="http://schemas.microsoft.com/office/drawing/2014/main" id="{0C6C79C7-923A-20E5-8EE3-86B25FEBCEF4}"/>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Generative Models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3040063" cy="330200"/>
          </a:xfrm>
          <a:prstGeom prst="rect">
            <a:avLst/>
          </a:prstGeom>
        </p:spPr>
        <p:txBody>
          <a:bodyPr vert="horz" wrap="square" lIns="0" tIns="12700" rIns="0" bIns="0" rtlCol="0">
            <a:spAutoFit/>
          </a:bodyPr>
          <a:lstStyle/>
          <a:p>
            <a:pPr marL="12700">
              <a:spcBef>
                <a:spcPts val="100"/>
              </a:spcBef>
            </a:pPr>
            <a:r>
              <a:rPr spc="-5" dirty="0"/>
              <a:t>Why</a:t>
            </a:r>
            <a:r>
              <a:rPr spc="-50" dirty="0"/>
              <a:t> </a:t>
            </a:r>
            <a:r>
              <a:rPr spc="-5" dirty="0"/>
              <a:t>Generative</a:t>
            </a:r>
            <a:r>
              <a:rPr spc="-45" dirty="0"/>
              <a:t> </a:t>
            </a:r>
            <a:r>
              <a:rPr spc="-5" dirty="0"/>
              <a:t>Model?</a:t>
            </a:r>
          </a:p>
        </p:txBody>
      </p:sp>
      <p:sp>
        <p:nvSpPr>
          <p:cNvPr id="3" name="object 3"/>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4" name="object 4"/>
          <p:cNvPicPr/>
          <p:nvPr/>
        </p:nvPicPr>
        <p:blipFill>
          <a:blip r:embed="rId2" cstate="print"/>
          <a:stretch>
            <a:fillRect/>
          </a:stretch>
        </p:blipFill>
        <p:spPr>
          <a:xfrm>
            <a:off x="6299378" y="3330201"/>
            <a:ext cx="1712724" cy="2330599"/>
          </a:xfrm>
          <a:prstGeom prst="rect">
            <a:avLst/>
          </a:prstGeom>
        </p:spPr>
      </p:pic>
      <p:sp>
        <p:nvSpPr>
          <p:cNvPr id="7" name="object 7"/>
          <p:cNvSpPr txBox="1"/>
          <p:nvPr/>
        </p:nvSpPr>
        <p:spPr>
          <a:xfrm>
            <a:off x="8326237" y="5733969"/>
            <a:ext cx="702310" cy="200696"/>
          </a:xfrm>
          <a:prstGeom prst="rect">
            <a:avLst/>
          </a:prstGeom>
        </p:spPr>
        <p:txBody>
          <a:bodyPr vert="horz" wrap="square" lIns="0" tIns="38735" rIns="0" bIns="0" rtlCol="0">
            <a:spAutoFit/>
          </a:bodyPr>
          <a:lstStyle/>
          <a:p>
            <a:pPr marL="12700">
              <a:spcBef>
                <a:spcPts val="305"/>
              </a:spcBef>
            </a:pPr>
            <a:r>
              <a:rPr sz="1050" spc="-5" dirty="0">
                <a:solidFill>
                  <a:srgbClr val="313131"/>
                </a:solidFill>
                <a:latin typeface="Verdana"/>
                <a:cs typeface="Verdana"/>
              </a:rPr>
              <a:t>Slide</a:t>
            </a:r>
            <a:r>
              <a:rPr sz="1050" spc="-55" dirty="0">
                <a:solidFill>
                  <a:srgbClr val="313131"/>
                </a:solidFill>
                <a:latin typeface="Verdana"/>
                <a:cs typeface="Verdana"/>
              </a:rPr>
              <a:t> </a:t>
            </a:r>
            <a:r>
              <a:rPr sz="1050" spc="-5" dirty="0">
                <a:solidFill>
                  <a:srgbClr val="313131"/>
                </a:solidFill>
                <a:latin typeface="Verdana"/>
                <a:cs typeface="Verdana"/>
              </a:rPr>
              <a:t>#</a:t>
            </a:r>
            <a:fld id="{81D60167-4931-47E6-BA6A-407CBD079E47}" type="slidenum">
              <a:rPr sz="1050" spc="-5" dirty="0">
                <a:solidFill>
                  <a:srgbClr val="313131"/>
                </a:solidFill>
                <a:latin typeface="Verdana"/>
                <a:cs typeface="Verdana"/>
              </a:rPr>
              <a:pPr marL="12700">
                <a:spcBef>
                  <a:spcPts val="305"/>
                </a:spcBef>
              </a:pPr>
              <a:t>48</a:t>
            </a:fld>
            <a:endParaRPr sz="1050">
              <a:solidFill>
                <a:prstClr val="black"/>
              </a:solidFill>
              <a:latin typeface="Verdana"/>
              <a:cs typeface="Verdana"/>
            </a:endParaRPr>
          </a:p>
        </p:txBody>
      </p:sp>
      <p:pic>
        <p:nvPicPr>
          <p:cNvPr id="8" name="Picture 2" descr="E:\NIET\Project\xLogo11.png.pagespeed.ic.pydHLuCQEZ.png">
            <a:extLst>
              <a:ext uri="{FF2B5EF4-FFF2-40B4-BE49-F238E27FC236}">
                <a16:creationId xmlns:a16="http://schemas.microsoft.com/office/drawing/2014/main" id="{F273DD5D-E96B-C91F-A641-84C59E93815E}"/>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9" name="Title 1">
            <a:extLst>
              <a:ext uri="{FF2B5EF4-FFF2-40B4-BE49-F238E27FC236}">
                <a16:creationId xmlns:a16="http://schemas.microsoft.com/office/drawing/2014/main" id="{D221EAC9-6CD3-1ABD-F9F7-779FBC8A0A33}"/>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Generative Models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bject 10"/>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3040063" cy="330200"/>
          </a:xfrm>
          <a:prstGeom prst="rect">
            <a:avLst/>
          </a:prstGeom>
        </p:spPr>
        <p:txBody>
          <a:bodyPr vert="horz" wrap="square" lIns="0" tIns="12700" rIns="0" bIns="0" rtlCol="0">
            <a:spAutoFit/>
          </a:bodyPr>
          <a:lstStyle/>
          <a:p>
            <a:pPr marL="12700">
              <a:spcBef>
                <a:spcPts val="100"/>
              </a:spcBef>
            </a:pPr>
            <a:r>
              <a:rPr spc="-5" dirty="0"/>
              <a:t>Why</a:t>
            </a:r>
            <a:r>
              <a:rPr spc="-50" dirty="0"/>
              <a:t> </a:t>
            </a:r>
            <a:r>
              <a:rPr spc="-5" dirty="0"/>
              <a:t>Generative</a:t>
            </a:r>
            <a:r>
              <a:rPr spc="-45" dirty="0"/>
              <a:t> </a:t>
            </a:r>
            <a:r>
              <a:rPr spc="-5" dirty="0"/>
              <a:t>Model?</a:t>
            </a:r>
          </a:p>
        </p:txBody>
      </p:sp>
      <p:sp>
        <p:nvSpPr>
          <p:cNvPr id="3" name="object 3"/>
          <p:cNvSpPr txBox="1"/>
          <p:nvPr/>
        </p:nvSpPr>
        <p:spPr>
          <a:xfrm>
            <a:off x="235039" y="2338785"/>
            <a:ext cx="6662420" cy="197490"/>
          </a:xfrm>
          <a:prstGeom prst="rect">
            <a:avLst/>
          </a:prstGeom>
        </p:spPr>
        <p:txBody>
          <a:bodyPr vert="horz" wrap="square" lIns="0" tIns="12700" rIns="0" bIns="0" rtlCol="0">
            <a:spAutoFit/>
          </a:bodyPr>
          <a:lstStyle/>
          <a:p>
            <a:pPr marL="218440" indent="-206375">
              <a:spcBef>
                <a:spcPts val="100"/>
              </a:spcBef>
              <a:buClr>
                <a:srgbClr val="B10639"/>
              </a:buClr>
              <a:buFont typeface="Arial MT"/>
              <a:buChar char="•"/>
              <a:tabLst>
                <a:tab pos="217804" algn="l"/>
                <a:tab pos="219075" algn="l"/>
              </a:tabLst>
            </a:pPr>
            <a:r>
              <a:rPr sz="1200" spc="-5" dirty="0">
                <a:solidFill>
                  <a:prstClr val="black"/>
                </a:solidFill>
                <a:latin typeface="Verdana"/>
                <a:cs typeface="Verdana"/>
              </a:rPr>
              <a:t>Increasing</a:t>
            </a:r>
            <a:r>
              <a:rPr sz="1200" spc="-15" dirty="0">
                <a:solidFill>
                  <a:prstClr val="black"/>
                </a:solidFill>
                <a:latin typeface="Verdana"/>
                <a:cs typeface="Verdana"/>
              </a:rPr>
              <a:t> </a:t>
            </a:r>
            <a:r>
              <a:rPr sz="1200" spc="-5" dirty="0">
                <a:solidFill>
                  <a:prstClr val="black"/>
                </a:solidFill>
                <a:latin typeface="Verdana"/>
                <a:cs typeface="Verdana"/>
              </a:rPr>
              <a:t>dataset,</a:t>
            </a:r>
            <a:r>
              <a:rPr sz="1200" spc="-10" dirty="0">
                <a:solidFill>
                  <a:prstClr val="black"/>
                </a:solidFill>
                <a:latin typeface="Verdana"/>
                <a:cs typeface="Verdana"/>
              </a:rPr>
              <a:t> </a:t>
            </a:r>
            <a:r>
              <a:rPr sz="1200" spc="-5" dirty="0">
                <a:solidFill>
                  <a:prstClr val="black"/>
                </a:solidFill>
                <a:latin typeface="Verdana"/>
                <a:cs typeface="Verdana"/>
              </a:rPr>
              <a:t>realistic</a:t>
            </a:r>
            <a:r>
              <a:rPr sz="1200" spc="-15" dirty="0">
                <a:solidFill>
                  <a:prstClr val="black"/>
                </a:solidFill>
                <a:latin typeface="Verdana"/>
                <a:cs typeface="Verdana"/>
              </a:rPr>
              <a:t> </a:t>
            </a:r>
            <a:r>
              <a:rPr sz="1200" spc="-5" dirty="0">
                <a:solidFill>
                  <a:prstClr val="black"/>
                </a:solidFill>
                <a:latin typeface="Verdana"/>
                <a:cs typeface="Verdana"/>
              </a:rPr>
              <a:t>samples</a:t>
            </a:r>
            <a:r>
              <a:rPr sz="1200" spc="-10" dirty="0">
                <a:solidFill>
                  <a:prstClr val="black"/>
                </a:solidFill>
                <a:latin typeface="Verdana"/>
                <a:cs typeface="Verdana"/>
              </a:rPr>
              <a:t> </a:t>
            </a:r>
            <a:r>
              <a:rPr sz="1200" spc="-5" dirty="0">
                <a:solidFill>
                  <a:prstClr val="black"/>
                </a:solidFill>
                <a:latin typeface="Verdana"/>
                <a:cs typeface="Verdana"/>
              </a:rPr>
              <a:t>for</a:t>
            </a:r>
            <a:r>
              <a:rPr sz="1200" spc="-10" dirty="0">
                <a:solidFill>
                  <a:prstClr val="black"/>
                </a:solidFill>
                <a:latin typeface="Verdana"/>
                <a:cs typeface="Verdana"/>
              </a:rPr>
              <a:t> </a:t>
            </a:r>
            <a:r>
              <a:rPr sz="1200" spc="-5" dirty="0">
                <a:solidFill>
                  <a:prstClr val="black"/>
                </a:solidFill>
                <a:latin typeface="Verdana"/>
                <a:cs typeface="Verdana"/>
              </a:rPr>
              <a:t>artwork,</a:t>
            </a:r>
            <a:r>
              <a:rPr sz="1200" spc="-15" dirty="0">
                <a:solidFill>
                  <a:prstClr val="black"/>
                </a:solidFill>
                <a:latin typeface="Verdana"/>
                <a:cs typeface="Verdana"/>
              </a:rPr>
              <a:t> </a:t>
            </a:r>
            <a:r>
              <a:rPr sz="1200" spc="-5" dirty="0">
                <a:solidFill>
                  <a:prstClr val="black"/>
                </a:solidFill>
                <a:latin typeface="Verdana"/>
                <a:cs typeface="Verdana"/>
              </a:rPr>
              <a:t>super-resolution,</a:t>
            </a:r>
            <a:r>
              <a:rPr sz="1200" spc="-10" dirty="0">
                <a:solidFill>
                  <a:prstClr val="black"/>
                </a:solidFill>
                <a:latin typeface="Verdana"/>
                <a:cs typeface="Verdana"/>
              </a:rPr>
              <a:t> </a:t>
            </a:r>
            <a:r>
              <a:rPr sz="1200" spc="-5" dirty="0">
                <a:solidFill>
                  <a:prstClr val="black"/>
                </a:solidFill>
                <a:latin typeface="Verdana"/>
                <a:cs typeface="Verdana"/>
              </a:rPr>
              <a:t>colorization,</a:t>
            </a:r>
            <a:r>
              <a:rPr sz="1200" spc="-10" dirty="0">
                <a:solidFill>
                  <a:prstClr val="black"/>
                </a:solidFill>
                <a:latin typeface="Verdana"/>
                <a:cs typeface="Verdana"/>
              </a:rPr>
              <a:t> </a:t>
            </a:r>
            <a:r>
              <a:rPr sz="1200" spc="-5" dirty="0">
                <a:solidFill>
                  <a:prstClr val="black"/>
                </a:solidFill>
                <a:latin typeface="Verdana"/>
                <a:cs typeface="Verdana"/>
              </a:rPr>
              <a:t>etc.</a:t>
            </a:r>
            <a:endParaRPr sz="1200">
              <a:solidFill>
                <a:prstClr val="black"/>
              </a:solidFill>
              <a:latin typeface="Verdana"/>
              <a:cs typeface="Verdana"/>
            </a:endParaRPr>
          </a:p>
        </p:txBody>
      </p:sp>
      <p:sp>
        <p:nvSpPr>
          <p:cNvPr id="4" name="object 4"/>
          <p:cNvSpPr txBox="1"/>
          <p:nvPr/>
        </p:nvSpPr>
        <p:spPr>
          <a:xfrm>
            <a:off x="235040" y="4405710"/>
            <a:ext cx="6397625" cy="197490"/>
          </a:xfrm>
          <a:prstGeom prst="rect">
            <a:avLst/>
          </a:prstGeom>
        </p:spPr>
        <p:txBody>
          <a:bodyPr vert="horz" wrap="square" lIns="0" tIns="12700" rIns="0" bIns="0" rtlCol="0">
            <a:spAutoFit/>
          </a:bodyPr>
          <a:lstStyle/>
          <a:p>
            <a:pPr marL="218440" indent="-206375">
              <a:spcBef>
                <a:spcPts val="100"/>
              </a:spcBef>
              <a:buClr>
                <a:srgbClr val="B10639"/>
              </a:buClr>
              <a:buFont typeface="Arial MT"/>
              <a:buChar char="•"/>
              <a:tabLst>
                <a:tab pos="217804" algn="l"/>
                <a:tab pos="219075" algn="l"/>
              </a:tabLst>
            </a:pPr>
            <a:r>
              <a:rPr sz="1200" spc="-5" dirty="0">
                <a:solidFill>
                  <a:prstClr val="black"/>
                </a:solidFill>
                <a:latin typeface="Verdana"/>
                <a:cs typeface="Verdana"/>
              </a:rPr>
              <a:t>Generative</a:t>
            </a:r>
            <a:r>
              <a:rPr sz="1200" spc="-10" dirty="0">
                <a:solidFill>
                  <a:prstClr val="black"/>
                </a:solidFill>
                <a:latin typeface="Verdana"/>
                <a:cs typeface="Verdana"/>
              </a:rPr>
              <a:t> </a:t>
            </a:r>
            <a:r>
              <a:rPr sz="1200" spc="-5" dirty="0">
                <a:solidFill>
                  <a:prstClr val="black"/>
                </a:solidFill>
                <a:latin typeface="Verdana"/>
                <a:cs typeface="Verdana"/>
              </a:rPr>
              <a:t>models</a:t>
            </a:r>
            <a:r>
              <a:rPr sz="1200" spc="-10" dirty="0">
                <a:solidFill>
                  <a:prstClr val="black"/>
                </a:solidFill>
                <a:latin typeface="Verdana"/>
                <a:cs typeface="Verdana"/>
              </a:rPr>
              <a:t> </a:t>
            </a:r>
            <a:r>
              <a:rPr sz="1200" spc="-5" dirty="0">
                <a:solidFill>
                  <a:prstClr val="black"/>
                </a:solidFill>
                <a:latin typeface="Verdana"/>
                <a:cs typeface="Verdana"/>
              </a:rPr>
              <a:t>of</a:t>
            </a:r>
            <a:r>
              <a:rPr sz="1200" spc="-10" dirty="0">
                <a:solidFill>
                  <a:prstClr val="black"/>
                </a:solidFill>
                <a:latin typeface="Verdana"/>
                <a:cs typeface="Verdana"/>
              </a:rPr>
              <a:t> </a:t>
            </a:r>
            <a:r>
              <a:rPr sz="1200" spc="-5" dirty="0">
                <a:solidFill>
                  <a:prstClr val="black"/>
                </a:solidFill>
                <a:latin typeface="Verdana"/>
                <a:cs typeface="Verdana"/>
              </a:rPr>
              <a:t>time-series data</a:t>
            </a:r>
            <a:r>
              <a:rPr sz="1200" spc="-10" dirty="0">
                <a:solidFill>
                  <a:prstClr val="black"/>
                </a:solidFill>
                <a:latin typeface="Verdana"/>
                <a:cs typeface="Verdana"/>
              </a:rPr>
              <a:t> </a:t>
            </a:r>
            <a:r>
              <a:rPr sz="1200" spc="-5" dirty="0">
                <a:solidFill>
                  <a:prstClr val="black"/>
                </a:solidFill>
                <a:latin typeface="Verdana"/>
                <a:cs typeface="Verdana"/>
              </a:rPr>
              <a:t>can</a:t>
            </a:r>
            <a:r>
              <a:rPr sz="1200" spc="-10" dirty="0">
                <a:solidFill>
                  <a:prstClr val="black"/>
                </a:solidFill>
                <a:latin typeface="Verdana"/>
                <a:cs typeface="Verdana"/>
              </a:rPr>
              <a:t> </a:t>
            </a:r>
            <a:r>
              <a:rPr sz="1200" spc="-5" dirty="0">
                <a:solidFill>
                  <a:prstClr val="black"/>
                </a:solidFill>
                <a:latin typeface="Verdana"/>
                <a:cs typeface="Verdana"/>
              </a:rPr>
              <a:t>be used</a:t>
            </a:r>
            <a:r>
              <a:rPr sz="1200" spc="-10" dirty="0">
                <a:solidFill>
                  <a:prstClr val="black"/>
                </a:solidFill>
                <a:latin typeface="Verdana"/>
                <a:cs typeface="Verdana"/>
              </a:rPr>
              <a:t> </a:t>
            </a:r>
            <a:r>
              <a:rPr sz="1200" spc="-5" dirty="0">
                <a:solidFill>
                  <a:prstClr val="black"/>
                </a:solidFill>
                <a:latin typeface="Verdana"/>
                <a:cs typeface="Verdana"/>
              </a:rPr>
              <a:t>for</a:t>
            </a:r>
            <a:r>
              <a:rPr sz="1200" spc="-10" dirty="0">
                <a:solidFill>
                  <a:prstClr val="black"/>
                </a:solidFill>
                <a:latin typeface="Verdana"/>
                <a:cs typeface="Verdana"/>
              </a:rPr>
              <a:t> </a:t>
            </a:r>
            <a:r>
              <a:rPr sz="1200" spc="-5" dirty="0">
                <a:solidFill>
                  <a:prstClr val="black"/>
                </a:solidFill>
                <a:latin typeface="Verdana"/>
                <a:cs typeface="Verdana"/>
              </a:rPr>
              <a:t>simulation and</a:t>
            </a:r>
            <a:r>
              <a:rPr sz="1200" spc="405" dirty="0">
                <a:solidFill>
                  <a:prstClr val="black"/>
                </a:solidFill>
                <a:latin typeface="Verdana"/>
                <a:cs typeface="Verdana"/>
              </a:rPr>
              <a:t> </a:t>
            </a:r>
            <a:r>
              <a:rPr sz="1200" spc="-5" dirty="0">
                <a:solidFill>
                  <a:prstClr val="black"/>
                </a:solidFill>
                <a:latin typeface="Verdana"/>
                <a:cs typeface="Verdana"/>
              </a:rPr>
              <a:t>planning.</a:t>
            </a:r>
            <a:endParaRPr sz="1200">
              <a:solidFill>
                <a:prstClr val="black"/>
              </a:solidFill>
              <a:latin typeface="Verdana"/>
              <a:cs typeface="Verdana"/>
            </a:endParaRPr>
          </a:p>
        </p:txBody>
      </p:sp>
      <p:sp>
        <p:nvSpPr>
          <p:cNvPr id="5" name="object 5"/>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6" name="object 6"/>
          <p:cNvPicPr/>
          <p:nvPr/>
        </p:nvPicPr>
        <p:blipFill>
          <a:blip r:embed="rId2" cstate="print"/>
          <a:stretch>
            <a:fillRect/>
          </a:stretch>
        </p:blipFill>
        <p:spPr>
          <a:xfrm>
            <a:off x="2551910" y="2819047"/>
            <a:ext cx="1710638" cy="1216931"/>
          </a:xfrm>
          <a:prstGeom prst="rect">
            <a:avLst/>
          </a:prstGeom>
        </p:spPr>
      </p:pic>
      <p:pic>
        <p:nvPicPr>
          <p:cNvPr id="7" name="object 7"/>
          <p:cNvPicPr/>
          <p:nvPr/>
        </p:nvPicPr>
        <p:blipFill>
          <a:blip r:embed="rId3" cstate="print"/>
          <a:stretch>
            <a:fillRect/>
          </a:stretch>
        </p:blipFill>
        <p:spPr>
          <a:xfrm>
            <a:off x="527178" y="2819046"/>
            <a:ext cx="1944897" cy="1216790"/>
          </a:xfrm>
          <a:prstGeom prst="rect">
            <a:avLst/>
          </a:prstGeom>
        </p:spPr>
      </p:pic>
      <p:pic>
        <p:nvPicPr>
          <p:cNvPr id="8" name="object 8"/>
          <p:cNvPicPr/>
          <p:nvPr/>
        </p:nvPicPr>
        <p:blipFill>
          <a:blip r:embed="rId4" cstate="print"/>
          <a:stretch>
            <a:fillRect/>
          </a:stretch>
        </p:blipFill>
        <p:spPr>
          <a:xfrm>
            <a:off x="4337429" y="2902771"/>
            <a:ext cx="2644798" cy="1033734"/>
          </a:xfrm>
          <a:prstGeom prst="rect">
            <a:avLst/>
          </a:prstGeom>
        </p:spPr>
      </p:pic>
      <p:pic>
        <p:nvPicPr>
          <p:cNvPr id="9" name="object 9"/>
          <p:cNvPicPr/>
          <p:nvPr/>
        </p:nvPicPr>
        <p:blipFill>
          <a:blip r:embed="rId5" cstate="print"/>
          <a:stretch>
            <a:fillRect/>
          </a:stretch>
        </p:blipFill>
        <p:spPr>
          <a:xfrm>
            <a:off x="7175148" y="3904847"/>
            <a:ext cx="1720776" cy="1772913"/>
          </a:xfrm>
          <a:prstGeom prst="rect">
            <a:avLst/>
          </a:prstGeom>
        </p:spPr>
      </p:pic>
      <p:sp>
        <p:nvSpPr>
          <p:cNvPr id="12" name="object 12"/>
          <p:cNvSpPr txBox="1"/>
          <p:nvPr/>
        </p:nvSpPr>
        <p:spPr>
          <a:xfrm>
            <a:off x="8326237" y="5733969"/>
            <a:ext cx="702310" cy="200696"/>
          </a:xfrm>
          <a:prstGeom prst="rect">
            <a:avLst/>
          </a:prstGeom>
        </p:spPr>
        <p:txBody>
          <a:bodyPr vert="horz" wrap="square" lIns="0" tIns="38735" rIns="0" bIns="0" rtlCol="0">
            <a:spAutoFit/>
          </a:bodyPr>
          <a:lstStyle/>
          <a:p>
            <a:pPr marL="12700">
              <a:spcBef>
                <a:spcPts val="305"/>
              </a:spcBef>
            </a:pPr>
            <a:r>
              <a:rPr sz="1050" spc="-5" dirty="0">
                <a:solidFill>
                  <a:srgbClr val="313131"/>
                </a:solidFill>
                <a:latin typeface="Verdana"/>
                <a:cs typeface="Verdana"/>
              </a:rPr>
              <a:t>Slide</a:t>
            </a:r>
            <a:r>
              <a:rPr sz="1050" spc="-55" dirty="0">
                <a:solidFill>
                  <a:srgbClr val="313131"/>
                </a:solidFill>
                <a:latin typeface="Verdana"/>
                <a:cs typeface="Verdana"/>
              </a:rPr>
              <a:t> </a:t>
            </a:r>
            <a:r>
              <a:rPr sz="1050" spc="-5" dirty="0">
                <a:solidFill>
                  <a:srgbClr val="313131"/>
                </a:solidFill>
                <a:latin typeface="Verdana"/>
                <a:cs typeface="Verdana"/>
              </a:rPr>
              <a:t>#</a:t>
            </a:r>
            <a:fld id="{81D60167-4931-47E6-BA6A-407CBD079E47}" type="slidenum">
              <a:rPr sz="1050" spc="-5" dirty="0">
                <a:solidFill>
                  <a:srgbClr val="313131"/>
                </a:solidFill>
                <a:latin typeface="Verdana"/>
                <a:cs typeface="Verdana"/>
              </a:rPr>
              <a:pPr marL="12700">
                <a:spcBef>
                  <a:spcPts val="305"/>
                </a:spcBef>
              </a:pPr>
              <a:t>49</a:t>
            </a:fld>
            <a:endParaRPr sz="1050">
              <a:solidFill>
                <a:prstClr val="black"/>
              </a:solidFill>
              <a:latin typeface="Verdana"/>
              <a:cs typeface="Verdana"/>
            </a:endParaRPr>
          </a:p>
        </p:txBody>
      </p:sp>
      <p:pic>
        <p:nvPicPr>
          <p:cNvPr id="13" name="Picture 2" descr="E:\NIET\Project\xLogo11.png.pagespeed.ic.pydHLuCQEZ.png">
            <a:extLst>
              <a:ext uri="{FF2B5EF4-FFF2-40B4-BE49-F238E27FC236}">
                <a16:creationId xmlns:a16="http://schemas.microsoft.com/office/drawing/2014/main" id="{11749CC9-0EDB-360B-82C7-AED355E7D16D}"/>
              </a:ext>
            </a:extLst>
          </p:cNvPr>
          <p:cNvPicPr>
            <a:picLocks noChangeAspect="1" noChangeArrowheads="1"/>
          </p:cNvPicPr>
          <p:nvPr/>
        </p:nvPicPr>
        <p:blipFill>
          <a:blip r:embed="rId6"/>
          <a:srcRect/>
          <a:stretch>
            <a:fillRect/>
          </a:stretch>
        </p:blipFill>
        <p:spPr bwMode="auto">
          <a:xfrm>
            <a:off x="0" y="0"/>
            <a:ext cx="1447800" cy="817163"/>
          </a:xfrm>
          <a:prstGeom prst="rect">
            <a:avLst/>
          </a:prstGeom>
          <a:noFill/>
        </p:spPr>
      </p:pic>
      <p:sp>
        <p:nvSpPr>
          <p:cNvPr id="14" name="Title 1">
            <a:extLst>
              <a:ext uri="{FF2B5EF4-FFF2-40B4-BE49-F238E27FC236}">
                <a16:creationId xmlns:a16="http://schemas.microsoft.com/office/drawing/2014/main" id="{9713F95A-160E-1E63-DACA-64277F32E0EC}"/>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Generative Models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60126" y="5727135"/>
            <a:ext cx="2687955" cy="185420"/>
          </a:xfrm>
          <a:prstGeom prst="rect">
            <a:avLst/>
          </a:prstGeom>
        </p:spPr>
        <p:txBody>
          <a:bodyPr vert="horz" wrap="square" lIns="0" tIns="635" rIns="0" bIns="0" rtlCol="0">
            <a:spAutoFit/>
          </a:bodyPr>
          <a:lstStyle/>
          <a:p>
            <a:pPr>
              <a:spcBef>
                <a:spcPts val="5"/>
              </a:spcBef>
            </a:pPr>
            <a:r>
              <a:rPr sz="1200" spc="-5" dirty="0">
                <a:solidFill>
                  <a:srgbClr val="313131"/>
                </a:solidFill>
                <a:latin typeface="Verdana"/>
                <a:cs typeface="Verdana"/>
              </a:rPr>
              <a:t>Deep</a:t>
            </a:r>
            <a:r>
              <a:rPr sz="1200" spc="-25" dirty="0">
                <a:solidFill>
                  <a:srgbClr val="313131"/>
                </a:solidFill>
                <a:latin typeface="Verdana"/>
                <a:cs typeface="Verdana"/>
              </a:rPr>
              <a:t> </a:t>
            </a:r>
            <a:r>
              <a:rPr sz="1200" spc="-5" dirty="0">
                <a:solidFill>
                  <a:srgbClr val="313131"/>
                </a:solidFill>
                <a:latin typeface="Verdana"/>
                <a:cs typeface="Verdana"/>
              </a:rPr>
              <a:t>Learning</a:t>
            </a:r>
            <a:r>
              <a:rPr sz="1200" spc="-25" dirty="0">
                <a:solidFill>
                  <a:srgbClr val="313131"/>
                </a:solidFill>
                <a:latin typeface="Verdana"/>
                <a:cs typeface="Verdana"/>
              </a:rPr>
              <a:t> </a:t>
            </a:r>
            <a:r>
              <a:rPr sz="1200" spc="-5" dirty="0">
                <a:solidFill>
                  <a:srgbClr val="313131"/>
                </a:solidFill>
                <a:latin typeface="Verdana"/>
                <a:cs typeface="Verdana"/>
              </a:rPr>
              <a:t>for</a:t>
            </a:r>
            <a:r>
              <a:rPr sz="1200" spc="-25" dirty="0">
                <a:solidFill>
                  <a:srgbClr val="313131"/>
                </a:solidFill>
                <a:latin typeface="Verdana"/>
                <a:cs typeface="Verdana"/>
              </a:rPr>
              <a:t> </a:t>
            </a:r>
            <a:r>
              <a:rPr sz="1200" spc="-5" dirty="0">
                <a:solidFill>
                  <a:srgbClr val="313131"/>
                </a:solidFill>
                <a:latin typeface="Verdana"/>
                <a:cs typeface="Verdana"/>
              </a:rPr>
              <a:t>Computer</a:t>
            </a:r>
            <a:r>
              <a:rPr sz="1200" spc="-20" dirty="0">
                <a:solidFill>
                  <a:srgbClr val="313131"/>
                </a:solidFill>
                <a:latin typeface="Verdana"/>
                <a:cs typeface="Verdana"/>
              </a:rPr>
              <a:t> </a:t>
            </a:r>
            <a:r>
              <a:rPr sz="1200" spc="-5" dirty="0">
                <a:solidFill>
                  <a:srgbClr val="313131"/>
                </a:solidFill>
                <a:latin typeface="Verdana"/>
                <a:cs typeface="Verdana"/>
              </a:rPr>
              <a:t>Vision</a:t>
            </a:r>
            <a:endParaRPr sz="1200">
              <a:solidFill>
                <a:prstClr val="black"/>
              </a:solidFill>
              <a:latin typeface="Verdana"/>
              <a:cs typeface="Verdana"/>
            </a:endParaRPr>
          </a:p>
        </p:txBody>
      </p:sp>
      <p:sp>
        <p:nvSpPr>
          <p:cNvPr id="3" name="object 3"/>
          <p:cNvSpPr/>
          <p:nvPr/>
        </p:nvSpPr>
        <p:spPr>
          <a:xfrm>
            <a:off x="177169" y="857252"/>
            <a:ext cx="7239000" cy="108585"/>
          </a:xfrm>
          <a:custGeom>
            <a:avLst/>
            <a:gdLst/>
            <a:ahLst/>
            <a:cxnLst/>
            <a:rect l="l" t="t" r="r" b="b"/>
            <a:pathLst>
              <a:path w="7239000" h="108585">
                <a:moveTo>
                  <a:pt x="7238699" y="107999"/>
                </a:moveTo>
                <a:lnTo>
                  <a:pt x="0" y="107999"/>
                </a:lnTo>
                <a:lnTo>
                  <a:pt x="0" y="0"/>
                </a:lnTo>
                <a:lnTo>
                  <a:pt x="7238699" y="0"/>
                </a:lnTo>
                <a:lnTo>
                  <a:pt x="7238699" y="107999"/>
                </a:lnTo>
                <a:close/>
              </a:path>
            </a:pathLst>
          </a:custGeom>
          <a:solidFill>
            <a:srgbClr val="F6A800"/>
          </a:solidFill>
        </p:spPr>
        <p:txBody>
          <a:bodyPr wrap="square" lIns="0" tIns="0" rIns="0" bIns="0" rtlCol="0"/>
          <a:lstStyle/>
          <a:p>
            <a:endParaRPr>
              <a:solidFill>
                <a:prstClr val="black"/>
              </a:solidFill>
              <a:latin typeface="Calibri"/>
            </a:endParaRPr>
          </a:p>
        </p:txBody>
      </p:sp>
      <p:sp>
        <p:nvSpPr>
          <p:cNvPr id="4" name="object 4"/>
          <p:cNvSpPr/>
          <p:nvPr/>
        </p:nvSpPr>
        <p:spPr>
          <a:xfrm>
            <a:off x="177169" y="1888828"/>
            <a:ext cx="7239000" cy="25400"/>
          </a:xfrm>
          <a:custGeom>
            <a:avLst/>
            <a:gdLst/>
            <a:ahLst/>
            <a:cxnLst/>
            <a:rect l="l" t="t" r="r" b="b"/>
            <a:pathLst>
              <a:path w="7239000" h="25400">
                <a:moveTo>
                  <a:pt x="7238699" y="25199"/>
                </a:moveTo>
                <a:lnTo>
                  <a:pt x="0" y="25199"/>
                </a:lnTo>
                <a:lnTo>
                  <a:pt x="0" y="0"/>
                </a:lnTo>
                <a:lnTo>
                  <a:pt x="7238699" y="0"/>
                </a:lnTo>
                <a:lnTo>
                  <a:pt x="7238699" y="25199"/>
                </a:lnTo>
                <a:close/>
              </a:path>
            </a:pathLst>
          </a:custGeom>
          <a:solidFill>
            <a:srgbClr val="DD640C"/>
          </a:solidFill>
        </p:spPr>
        <p:txBody>
          <a:bodyPr wrap="square" lIns="0" tIns="0" rIns="0" bIns="0" rtlCol="0"/>
          <a:lstStyle/>
          <a:p>
            <a:endParaRPr>
              <a:solidFill>
                <a:prstClr val="black"/>
              </a:solidFill>
              <a:latin typeface="Calibri"/>
            </a:endParaRPr>
          </a:p>
        </p:txBody>
      </p:sp>
      <p:sp>
        <p:nvSpPr>
          <p:cNvPr id="6" name="object 6"/>
          <p:cNvSpPr txBox="1"/>
          <p:nvPr/>
        </p:nvSpPr>
        <p:spPr>
          <a:xfrm>
            <a:off x="8371500" y="5734687"/>
            <a:ext cx="676910"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Slide</a:t>
            </a:r>
            <a:r>
              <a:rPr sz="1050" spc="-75" dirty="0">
                <a:solidFill>
                  <a:srgbClr val="313131"/>
                </a:solidFill>
                <a:latin typeface="Verdana"/>
                <a:cs typeface="Verdana"/>
              </a:rPr>
              <a:t> </a:t>
            </a:r>
            <a:r>
              <a:rPr sz="1050" spc="-5" dirty="0">
                <a:solidFill>
                  <a:srgbClr val="313131"/>
                </a:solidFill>
                <a:latin typeface="Verdana"/>
                <a:cs typeface="Verdana"/>
              </a:rPr>
              <a:t>#14</a:t>
            </a:r>
            <a:endParaRPr sz="1050">
              <a:solidFill>
                <a:prstClr val="black"/>
              </a:solidFill>
              <a:latin typeface="Verdana"/>
              <a:cs typeface="Verdana"/>
            </a:endParaRPr>
          </a:p>
        </p:txBody>
      </p:sp>
      <p:sp>
        <p:nvSpPr>
          <p:cNvPr id="53" name="Footer Placeholder 52">
            <a:extLst>
              <a:ext uri="{FF2B5EF4-FFF2-40B4-BE49-F238E27FC236}">
                <a16:creationId xmlns:a16="http://schemas.microsoft.com/office/drawing/2014/main" id="{34AC8FB9-A44A-1936-A6C5-A9D427297B80}"/>
              </a:ext>
            </a:extLst>
          </p:cNvPr>
          <p:cNvSpPr>
            <a:spLocks noGrp="1"/>
          </p:cNvSpPr>
          <p:nvPr>
            <p:ph type="ftr" sz="quarter" idx="5"/>
          </p:nvPr>
        </p:nvSpPr>
        <p:spPr/>
        <p:txBody>
          <a:bodyPr/>
          <a:lstStyle/>
          <a:p>
            <a:pPr>
              <a:spcBef>
                <a:spcPts val="5"/>
              </a:spcBef>
            </a:pPr>
            <a:endParaRPr lang="en-IN" spc="-5" dirty="0"/>
          </a:p>
        </p:txBody>
      </p:sp>
      <p:sp>
        <p:nvSpPr>
          <p:cNvPr id="7" name="object 7"/>
          <p:cNvSpPr txBox="1">
            <a:spLocks noGrp="1"/>
          </p:cNvSpPr>
          <p:nvPr>
            <p:ph type="title" idx="4294967295"/>
          </p:nvPr>
        </p:nvSpPr>
        <p:spPr>
          <a:xfrm>
            <a:off x="1" y="1092200"/>
            <a:ext cx="4130675" cy="330200"/>
          </a:xfrm>
          <a:prstGeom prst="rect">
            <a:avLst/>
          </a:prstGeom>
        </p:spPr>
        <p:txBody>
          <a:bodyPr vert="horz" wrap="square" lIns="0" tIns="12700" rIns="0" bIns="0" rtlCol="0">
            <a:spAutoFit/>
          </a:bodyPr>
          <a:lstStyle/>
          <a:p>
            <a:pPr marL="12700">
              <a:spcBef>
                <a:spcPts val="100"/>
              </a:spcBef>
            </a:pPr>
            <a:r>
              <a:rPr spc="-5" dirty="0"/>
              <a:t>Taxonomy</a:t>
            </a:r>
            <a:r>
              <a:rPr spc="-35" dirty="0"/>
              <a:t> </a:t>
            </a:r>
            <a:r>
              <a:rPr spc="-5" dirty="0"/>
              <a:t>of</a:t>
            </a:r>
            <a:r>
              <a:rPr spc="-30" dirty="0"/>
              <a:t> </a:t>
            </a:r>
            <a:r>
              <a:rPr spc="-5" dirty="0"/>
              <a:t>Generative</a:t>
            </a:r>
            <a:r>
              <a:rPr spc="-30" dirty="0"/>
              <a:t> </a:t>
            </a:r>
            <a:r>
              <a:rPr spc="-5" dirty="0"/>
              <a:t>Models</a:t>
            </a:r>
          </a:p>
        </p:txBody>
      </p:sp>
      <p:sp>
        <p:nvSpPr>
          <p:cNvPr id="8" name="object 8"/>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9" name="object 9"/>
          <p:cNvSpPr txBox="1"/>
          <p:nvPr/>
        </p:nvSpPr>
        <p:spPr>
          <a:xfrm>
            <a:off x="232308" y="5731503"/>
            <a:ext cx="1263650"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Generative</a:t>
            </a:r>
            <a:r>
              <a:rPr sz="1050" spc="-75" dirty="0">
                <a:solidFill>
                  <a:srgbClr val="313131"/>
                </a:solidFill>
                <a:latin typeface="Verdana"/>
                <a:cs typeface="Verdana"/>
              </a:rPr>
              <a:t> </a:t>
            </a:r>
            <a:r>
              <a:rPr sz="1050" spc="-5" dirty="0">
                <a:solidFill>
                  <a:srgbClr val="313131"/>
                </a:solidFill>
                <a:latin typeface="Verdana"/>
                <a:cs typeface="Verdana"/>
              </a:rPr>
              <a:t>Models</a:t>
            </a:r>
            <a:endParaRPr sz="1050">
              <a:solidFill>
                <a:prstClr val="black"/>
              </a:solidFill>
              <a:latin typeface="Verdana"/>
              <a:cs typeface="Verdana"/>
            </a:endParaRPr>
          </a:p>
        </p:txBody>
      </p:sp>
      <p:sp>
        <p:nvSpPr>
          <p:cNvPr id="10" name="object 10"/>
          <p:cNvSpPr txBox="1"/>
          <p:nvPr/>
        </p:nvSpPr>
        <p:spPr>
          <a:xfrm>
            <a:off x="4852733" y="5592489"/>
            <a:ext cx="3733165" cy="105157"/>
          </a:xfrm>
          <a:prstGeom prst="rect">
            <a:avLst/>
          </a:prstGeom>
        </p:spPr>
        <p:txBody>
          <a:bodyPr vert="horz" wrap="square" lIns="0" tIns="12700" rIns="0" bIns="0" rtlCol="0">
            <a:spAutoFit/>
          </a:bodyPr>
          <a:lstStyle/>
          <a:p>
            <a:pPr marL="12700">
              <a:spcBef>
                <a:spcPts val="100"/>
              </a:spcBef>
            </a:pPr>
            <a:r>
              <a:rPr sz="600" spc="-5" dirty="0">
                <a:solidFill>
                  <a:prstClr val="black"/>
                </a:solidFill>
                <a:latin typeface="Verdana"/>
                <a:cs typeface="Verdana"/>
              </a:rPr>
              <a:t>Figure</a:t>
            </a:r>
            <a:r>
              <a:rPr sz="600" spc="-10" dirty="0">
                <a:solidFill>
                  <a:prstClr val="black"/>
                </a:solidFill>
                <a:latin typeface="Verdana"/>
                <a:cs typeface="Verdana"/>
              </a:rPr>
              <a:t> </a:t>
            </a:r>
            <a:r>
              <a:rPr sz="600" spc="-5" dirty="0">
                <a:solidFill>
                  <a:prstClr val="black"/>
                </a:solidFill>
                <a:latin typeface="Verdana"/>
                <a:cs typeface="Verdana"/>
              </a:rPr>
              <a:t>copyright</a:t>
            </a:r>
            <a:r>
              <a:rPr sz="600" spc="-10" dirty="0">
                <a:solidFill>
                  <a:prstClr val="black"/>
                </a:solidFill>
                <a:latin typeface="Verdana"/>
                <a:cs typeface="Verdana"/>
              </a:rPr>
              <a:t> </a:t>
            </a:r>
            <a:r>
              <a:rPr sz="600" spc="-5" dirty="0">
                <a:solidFill>
                  <a:prstClr val="black"/>
                </a:solidFill>
                <a:latin typeface="Verdana"/>
                <a:cs typeface="Verdana"/>
              </a:rPr>
              <a:t>and</a:t>
            </a:r>
            <a:r>
              <a:rPr sz="600" spc="-10" dirty="0">
                <a:solidFill>
                  <a:prstClr val="black"/>
                </a:solidFill>
                <a:latin typeface="Verdana"/>
                <a:cs typeface="Verdana"/>
              </a:rPr>
              <a:t> </a:t>
            </a:r>
            <a:r>
              <a:rPr sz="600" spc="-5" dirty="0">
                <a:solidFill>
                  <a:prstClr val="black"/>
                </a:solidFill>
                <a:latin typeface="Verdana"/>
                <a:cs typeface="Verdana"/>
              </a:rPr>
              <a:t>adapted from</a:t>
            </a:r>
            <a:r>
              <a:rPr sz="600" spc="-10" dirty="0">
                <a:solidFill>
                  <a:prstClr val="black"/>
                </a:solidFill>
                <a:latin typeface="Verdana"/>
                <a:cs typeface="Verdana"/>
              </a:rPr>
              <a:t> </a:t>
            </a:r>
            <a:r>
              <a:rPr sz="600" spc="-5" dirty="0">
                <a:solidFill>
                  <a:prstClr val="black"/>
                </a:solidFill>
                <a:latin typeface="Verdana"/>
                <a:cs typeface="Verdana"/>
              </a:rPr>
              <a:t>Ian</a:t>
            </a:r>
            <a:r>
              <a:rPr sz="600" spc="-10" dirty="0">
                <a:solidFill>
                  <a:prstClr val="black"/>
                </a:solidFill>
                <a:latin typeface="Verdana"/>
                <a:cs typeface="Verdana"/>
              </a:rPr>
              <a:t> </a:t>
            </a:r>
            <a:r>
              <a:rPr sz="600" spc="-5" dirty="0">
                <a:solidFill>
                  <a:prstClr val="black"/>
                </a:solidFill>
                <a:latin typeface="Verdana"/>
                <a:cs typeface="Verdana"/>
              </a:rPr>
              <a:t>Goodfellow,</a:t>
            </a:r>
            <a:r>
              <a:rPr sz="600" spc="-10" dirty="0">
                <a:solidFill>
                  <a:prstClr val="black"/>
                </a:solidFill>
                <a:latin typeface="Verdana"/>
                <a:cs typeface="Verdana"/>
              </a:rPr>
              <a:t> </a:t>
            </a:r>
            <a:r>
              <a:rPr sz="600" spc="-5" dirty="0">
                <a:solidFill>
                  <a:prstClr val="black"/>
                </a:solidFill>
                <a:latin typeface="Verdana"/>
                <a:cs typeface="Verdana"/>
              </a:rPr>
              <a:t>Tutorial</a:t>
            </a:r>
            <a:r>
              <a:rPr sz="600" spc="-10" dirty="0">
                <a:solidFill>
                  <a:prstClr val="black"/>
                </a:solidFill>
                <a:latin typeface="Verdana"/>
                <a:cs typeface="Verdana"/>
              </a:rPr>
              <a:t> </a:t>
            </a:r>
            <a:r>
              <a:rPr sz="600" spc="-5" dirty="0">
                <a:solidFill>
                  <a:prstClr val="black"/>
                </a:solidFill>
                <a:latin typeface="Verdana"/>
                <a:cs typeface="Verdana"/>
              </a:rPr>
              <a:t>on Generative</a:t>
            </a:r>
            <a:r>
              <a:rPr sz="600" spc="-10" dirty="0">
                <a:solidFill>
                  <a:prstClr val="black"/>
                </a:solidFill>
                <a:latin typeface="Verdana"/>
                <a:cs typeface="Verdana"/>
              </a:rPr>
              <a:t> </a:t>
            </a:r>
            <a:r>
              <a:rPr sz="600" spc="-5" dirty="0">
                <a:solidFill>
                  <a:prstClr val="black"/>
                </a:solidFill>
                <a:latin typeface="Verdana"/>
                <a:cs typeface="Verdana"/>
              </a:rPr>
              <a:t>Adversarial</a:t>
            </a:r>
            <a:r>
              <a:rPr sz="600" spc="-10" dirty="0">
                <a:solidFill>
                  <a:prstClr val="black"/>
                </a:solidFill>
                <a:latin typeface="Verdana"/>
                <a:cs typeface="Verdana"/>
              </a:rPr>
              <a:t> </a:t>
            </a:r>
            <a:r>
              <a:rPr sz="600" spc="-5" dirty="0">
                <a:solidFill>
                  <a:prstClr val="black"/>
                </a:solidFill>
                <a:latin typeface="Verdana"/>
                <a:cs typeface="Verdana"/>
              </a:rPr>
              <a:t>Networks,</a:t>
            </a:r>
            <a:endParaRPr sz="600">
              <a:solidFill>
                <a:prstClr val="black"/>
              </a:solidFill>
              <a:latin typeface="Verdana"/>
              <a:cs typeface="Verdana"/>
            </a:endParaRPr>
          </a:p>
        </p:txBody>
      </p:sp>
      <p:sp>
        <p:nvSpPr>
          <p:cNvPr id="11" name="object 11"/>
          <p:cNvSpPr txBox="1"/>
          <p:nvPr/>
        </p:nvSpPr>
        <p:spPr>
          <a:xfrm>
            <a:off x="4852733" y="5687739"/>
            <a:ext cx="247015" cy="105157"/>
          </a:xfrm>
          <a:prstGeom prst="rect">
            <a:avLst/>
          </a:prstGeom>
        </p:spPr>
        <p:txBody>
          <a:bodyPr vert="horz" wrap="square" lIns="0" tIns="12700" rIns="0" bIns="0" rtlCol="0">
            <a:spAutoFit/>
          </a:bodyPr>
          <a:lstStyle/>
          <a:p>
            <a:pPr marL="12700">
              <a:spcBef>
                <a:spcPts val="100"/>
              </a:spcBef>
            </a:pPr>
            <a:r>
              <a:rPr sz="600" spc="-5" dirty="0">
                <a:solidFill>
                  <a:prstClr val="black"/>
                </a:solidFill>
                <a:latin typeface="Verdana"/>
                <a:cs typeface="Verdana"/>
              </a:rPr>
              <a:t>2017.</a:t>
            </a:r>
            <a:endParaRPr sz="600">
              <a:solidFill>
                <a:prstClr val="black"/>
              </a:solidFill>
              <a:latin typeface="Verdana"/>
              <a:cs typeface="Verdana"/>
            </a:endParaRPr>
          </a:p>
        </p:txBody>
      </p:sp>
      <p:sp>
        <p:nvSpPr>
          <p:cNvPr id="12" name="object 12"/>
          <p:cNvSpPr txBox="1"/>
          <p:nvPr/>
        </p:nvSpPr>
        <p:spPr>
          <a:xfrm>
            <a:off x="296141" y="4851186"/>
            <a:ext cx="753745" cy="166712"/>
          </a:xfrm>
          <a:prstGeom prst="rect">
            <a:avLst/>
          </a:prstGeom>
        </p:spPr>
        <p:txBody>
          <a:bodyPr vert="horz" wrap="square" lIns="0" tIns="12700" rIns="0" bIns="0" rtlCol="0">
            <a:spAutoFit/>
          </a:bodyPr>
          <a:lstStyle/>
          <a:p>
            <a:pPr marL="165100" indent="-152400">
              <a:spcBef>
                <a:spcPts val="100"/>
              </a:spcBef>
              <a:buClr>
                <a:srgbClr val="000000"/>
              </a:buClr>
              <a:buFont typeface="Arial MT"/>
              <a:buChar char="•"/>
              <a:tabLst>
                <a:tab pos="165100" algn="l"/>
              </a:tabLst>
            </a:pPr>
            <a:r>
              <a:rPr sz="1000" dirty="0">
                <a:solidFill>
                  <a:srgbClr val="43484C"/>
                </a:solidFill>
                <a:latin typeface="Verdana"/>
                <a:cs typeface="Verdana"/>
              </a:rPr>
              <a:t>PixelCNN</a:t>
            </a:r>
            <a:endParaRPr sz="1000">
              <a:solidFill>
                <a:prstClr val="black"/>
              </a:solidFill>
              <a:latin typeface="Verdana"/>
              <a:cs typeface="Verdana"/>
            </a:endParaRPr>
          </a:p>
        </p:txBody>
      </p:sp>
      <p:sp>
        <p:nvSpPr>
          <p:cNvPr id="13" name="object 13"/>
          <p:cNvSpPr txBox="1"/>
          <p:nvPr/>
        </p:nvSpPr>
        <p:spPr>
          <a:xfrm>
            <a:off x="46737" y="4199905"/>
            <a:ext cx="2000885" cy="667385"/>
          </a:xfrm>
          <a:prstGeom prst="rect">
            <a:avLst/>
          </a:prstGeom>
        </p:spPr>
        <p:txBody>
          <a:bodyPr vert="horz" wrap="square" lIns="0" tIns="12700" rIns="0" bIns="0" rtlCol="0">
            <a:spAutoFit/>
          </a:bodyPr>
          <a:lstStyle/>
          <a:p>
            <a:pPr marL="226060" marR="5080" indent="-226060">
              <a:lnSpc>
                <a:spcPct val="156400"/>
              </a:lnSpc>
              <a:spcBef>
                <a:spcPts val="100"/>
              </a:spcBef>
              <a:buClr>
                <a:srgbClr val="000000"/>
              </a:buClr>
              <a:buFont typeface="Yu Gothic UI"/>
              <a:buChar char="✓"/>
              <a:tabLst>
                <a:tab pos="226060" algn="l"/>
              </a:tabLst>
            </a:pPr>
            <a:r>
              <a:rPr sz="1000" spc="-5" dirty="0">
                <a:solidFill>
                  <a:srgbClr val="43484C"/>
                </a:solidFill>
                <a:latin typeface="Verdana"/>
                <a:cs typeface="Verdana"/>
              </a:rPr>
              <a:t>Change of variables models </a:t>
            </a:r>
            <a:r>
              <a:rPr sz="1000" spc="-340" dirty="0">
                <a:solidFill>
                  <a:srgbClr val="43484C"/>
                </a:solidFill>
                <a:latin typeface="Verdana"/>
                <a:cs typeface="Verdana"/>
              </a:rPr>
              <a:t> </a:t>
            </a:r>
            <a:r>
              <a:rPr sz="1000" spc="-5" dirty="0">
                <a:solidFill>
                  <a:srgbClr val="43484C"/>
                </a:solidFill>
                <a:latin typeface="Verdana"/>
                <a:cs typeface="Verdana"/>
              </a:rPr>
              <a:t>Fully</a:t>
            </a:r>
            <a:r>
              <a:rPr sz="1000" spc="-15" dirty="0">
                <a:solidFill>
                  <a:srgbClr val="43484C"/>
                </a:solidFill>
                <a:latin typeface="Verdana"/>
                <a:cs typeface="Verdana"/>
              </a:rPr>
              <a:t> </a:t>
            </a:r>
            <a:r>
              <a:rPr sz="1000" spc="-5" dirty="0">
                <a:solidFill>
                  <a:srgbClr val="43484C"/>
                </a:solidFill>
                <a:latin typeface="Verdana"/>
                <a:cs typeface="Verdana"/>
              </a:rPr>
              <a:t>Visible</a:t>
            </a:r>
            <a:r>
              <a:rPr sz="1000" spc="-15" dirty="0">
                <a:solidFill>
                  <a:srgbClr val="43484C"/>
                </a:solidFill>
                <a:latin typeface="Verdana"/>
                <a:cs typeface="Verdana"/>
              </a:rPr>
              <a:t> </a:t>
            </a:r>
            <a:r>
              <a:rPr sz="1000" spc="-5" dirty="0">
                <a:solidFill>
                  <a:srgbClr val="43484C"/>
                </a:solidFill>
                <a:latin typeface="Verdana"/>
                <a:cs typeface="Verdana"/>
              </a:rPr>
              <a:t>Belief</a:t>
            </a:r>
            <a:r>
              <a:rPr sz="1000" spc="-15" dirty="0">
                <a:solidFill>
                  <a:srgbClr val="43484C"/>
                </a:solidFill>
                <a:latin typeface="Verdana"/>
                <a:cs typeface="Verdana"/>
              </a:rPr>
              <a:t> </a:t>
            </a:r>
            <a:r>
              <a:rPr sz="1000" spc="-5" dirty="0">
                <a:solidFill>
                  <a:srgbClr val="43484C"/>
                </a:solidFill>
                <a:latin typeface="Verdana"/>
                <a:cs typeface="Verdana"/>
              </a:rPr>
              <a:t>Nets</a:t>
            </a:r>
            <a:endParaRPr sz="1000">
              <a:solidFill>
                <a:prstClr val="black"/>
              </a:solidFill>
              <a:latin typeface="Verdana"/>
              <a:cs typeface="Verdana"/>
            </a:endParaRPr>
          </a:p>
          <a:p>
            <a:pPr marL="414020" lvl="1" indent="-153035">
              <a:spcBef>
                <a:spcPts val="100"/>
              </a:spcBef>
              <a:buClr>
                <a:srgbClr val="000000"/>
              </a:buClr>
              <a:buFont typeface="Arial MT"/>
              <a:buChar char="•"/>
              <a:tabLst>
                <a:tab pos="414655" algn="l"/>
              </a:tabLst>
            </a:pPr>
            <a:r>
              <a:rPr sz="1000" dirty="0">
                <a:solidFill>
                  <a:srgbClr val="43484C"/>
                </a:solidFill>
                <a:latin typeface="Verdana"/>
                <a:cs typeface="Verdana"/>
              </a:rPr>
              <a:t>PixelRNN</a:t>
            </a:r>
            <a:endParaRPr sz="1000">
              <a:solidFill>
                <a:prstClr val="black"/>
              </a:solidFill>
              <a:latin typeface="Verdana"/>
              <a:cs typeface="Verdana"/>
            </a:endParaRPr>
          </a:p>
        </p:txBody>
      </p:sp>
      <p:sp>
        <p:nvSpPr>
          <p:cNvPr id="14" name="object 14"/>
          <p:cNvSpPr txBox="1"/>
          <p:nvPr/>
        </p:nvSpPr>
        <p:spPr>
          <a:xfrm>
            <a:off x="2007978" y="4918711"/>
            <a:ext cx="1551940"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Variational</a:t>
            </a:r>
            <a:r>
              <a:rPr sz="1000" spc="-70" dirty="0">
                <a:solidFill>
                  <a:srgbClr val="43484C"/>
                </a:solidFill>
                <a:latin typeface="Verdana"/>
                <a:cs typeface="Verdana"/>
              </a:rPr>
              <a:t> </a:t>
            </a:r>
            <a:r>
              <a:rPr sz="1000" spc="-5" dirty="0">
                <a:solidFill>
                  <a:srgbClr val="43484C"/>
                </a:solidFill>
                <a:latin typeface="Verdana"/>
                <a:cs typeface="Verdana"/>
              </a:rPr>
              <a:t>Autoencoder</a:t>
            </a:r>
            <a:endParaRPr sz="1000">
              <a:solidFill>
                <a:prstClr val="black"/>
              </a:solidFill>
              <a:latin typeface="Verdana"/>
              <a:cs typeface="Verdana"/>
            </a:endParaRPr>
          </a:p>
        </p:txBody>
      </p:sp>
      <p:sp>
        <p:nvSpPr>
          <p:cNvPr id="15" name="object 15"/>
          <p:cNvSpPr/>
          <p:nvPr/>
        </p:nvSpPr>
        <p:spPr>
          <a:xfrm>
            <a:off x="3182785" y="2113411"/>
            <a:ext cx="1695450" cy="539750"/>
          </a:xfrm>
          <a:custGeom>
            <a:avLst/>
            <a:gdLst/>
            <a:ahLst/>
            <a:cxnLst/>
            <a:rect l="l" t="t" r="r" b="b"/>
            <a:pathLst>
              <a:path w="1695450" h="539750">
                <a:moveTo>
                  <a:pt x="1605151" y="539248"/>
                </a:moveTo>
                <a:lnTo>
                  <a:pt x="89876" y="539248"/>
                </a:lnTo>
                <a:lnTo>
                  <a:pt x="54892" y="532186"/>
                </a:lnTo>
                <a:lnTo>
                  <a:pt x="26324" y="512924"/>
                </a:lnTo>
                <a:lnTo>
                  <a:pt x="7062" y="484356"/>
                </a:lnTo>
                <a:lnTo>
                  <a:pt x="0" y="449372"/>
                </a:lnTo>
                <a:lnTo>
                  <a:pt x="0" y="89876"/>
                </a:lnTo>
                <a:lnTo>
                  <a:pt x="7062" y="54892"/>
                </a:lnTo>
                <a:lnTo>
                  <a:pt x="26324" y="26324"/>
                </a:lnTo>
                <a:lnTo>
                  <a:pt x="54892" y="7062"/>
                </a:lnTo>
                <a:lnTo>
                  <a:pt x="89876" y="0"/>
                </a:lnTo>
                <a:lnTo>
                  <a:pt x="1605151" y="0"/>
                </a:lnTo>
                <a:lnTo>
                  <a:pt x="1655015" y="15100"/>
                </a:lnTo>
                <a:lnTo>
                  <a:pt x="1688186" y="55482"/>
                </a:lnTo>
                <a:lnTo>
                  <a:pt x="1695027" y="89876"/>
                </a:lnTo>
                <a:lnTo>
                  <a:pt x="1695027" y="449372"/>
                </a:lnTo>
                <a:lnTo>
                  <a:pt x="1687965" y="484356"/>
                </a:lnTo>
                <a:lnTo>
                  <a:pt x="1668703" y="512924"/>
                </a:lnTo>
                <a:lnTo>
                  <a:pt x="1640135" y="532186"/>
                </a:lnTo>
                <a:lnTo>
                  <a:pt x="1605151" y="539248"/>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16" name="object 16"/>
          <p:cNvSpPr txBox="1"/>
          <p:nvPr/>
        </p:nvSpPr>
        <p:spPr>
          <a:xfrm>
            <a:off x="3404939" y="2279024"/>
            <a:ext cx="125031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Generative</a:t>
            </a:r>
            <a:r>
              <a:rPr sz="1100" spc="-75" dirty="0">
                <a:solidFill>
                  <a:srgbClr val="43484C"/>
                </a:solidFill>
                <a:latin typeface="Verdana"/>
                <a:cs typeface="Verdana"/>
              </a:rPr>
              <a:t> </a:t>
            </a:r>
            <a:r>
              <a:rPr sz="1100" spc="-5" dirty="0">
                <a:solidFill>
                  <a:srgbClr val="43484C"/>
                </a:solidFill>
                <a:latin typeface="Verdana"/>
                <a:cs typeface="Verdana"/>
              </a:rPr>
              <a:t>Model</a:t>
            </a:r>
            <a:endParaRPr sz="1100">
              <a:solidFill>
                <a:prstClr val="black"/>
              </a:solidFill>
              <a:latin typeface="Verdana"/>
              <a:cs typeface="Verdana"/>
            </a:endParaRPr>
          </a:p>
        </p:txBody>
      </p:sp>
      <p:sp>
        <p:nvSpPr>
          <p:cNvPr id="17" name="object 17"/>
          <p:cNvSpPr/>
          <p:nvPr/>
        </p:nvSpPr>
        <p:spPr>
          <a:xfrm>
            <a:off x="1328496" y="2830894"/>
            <a:ext cx="1695450" cy="514350"/>
          </a:xfrm>
          <a:custGeom>
            <a:avLst/>
            <a:gdLst/>
            <a:ahLst/>
            <a:cxnLst/>
            <a:rect l="l" t="t" r="r" b="b"/>
            <a:pathLst>
              <a:path w="1695450" h="514350">
                <a:moveTo>
                  <a:pt x="1609322" y="514220"/>
                </a:moveTo>
                <a:lnTo>
                  <a:pt x="85705" y="514220"/>
                </a:lnTo>
                <a:lnTo>
                  <a:pt x="52344" y="507485"/>
                </a:lnTo>
                <a:lnTo>
                  <a:pt x="25102" y="489118"/>
                </a:lnTo>
                <a:lnTo>
                  <a:pt x="6735" y="461876"/>
                </a:lnTo>
                <a:lnTo>
                  <a:pt x="0" y="428515"/>
                </a:lnTo>
                <a:lnTo>
                  <a:pt x="0" y="85705"/>
                </a:lnTo>
                <a:lnTo>
                  <a:pt x="6735" y="52344"/>
                </a:lnTo>
                <a:lnTo>
                  <a:pt x="25102" y="25102"/>
                </a:lnTo>
                <a:lnTo>
                  <a:pt x="52344" y="6735"/>
                </a:lnTo>
                <a:lnTo>
                  <a:pt x="85705" y="0"/>
                </a:lnTo>
                <a:lnTo>
                  <a:pt x="1609322" y="0"/>
                </a:lnTo>
                <a:lnTo>
                  <a:pt x="1656872" y="14399"/>
                </a:lnTo>
                <a:lnTo>
                  <a:pt x="1688504" y="52907"/>
                </a:lnTo>
                <a:lnTo>
                  <a:pt x="1695027" y="85705"/>
                </a:lnTo>
                <a:lnTo>
                  <a:pt x="1695027" y="428515"/>
                </a:lnTo>
                <a:lnTo>
                  <a:pt x="1688292" y="461876"/>
                </a:lnTo>
                <a:lnTo>
                  <a:pt x="1669925" y="489118"/>
                </a:lnTo>
                <a:lnTo>
                  <a:pt x="1642683" y="507485"/>
                </a:lnTo>
                <a:lnTo>
                  <a:pt x="1609322" y="514220"/>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18" name="object 18"/>
          <p:cNvSpPr txBox="1"/>
          <p:nvPr/>
        </p:nvSpPr>
        <p:spPr>
          <a:xfrm>
            <a:off x="1624640" y="2983992"/>
            <a:ext cx="1102360"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Explicit</a:t>
            </a:r>
            <a:r>
              <a:rPr sz="1100" spc="-7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19" name="object 19"/>
          <p:cNvSpPr/>
          <p:nvPr/>
        </p:nvSpPr>
        <p:spPr>
          <a:xfrm>
            <a:off x="5202119" y="2838513"/>
            <a:ext cx="1711960" cy="490220"/>
          </a:xfrm>
          <a:custGeom>
            <a:avLst/>
            <a:gdLst/>
            <a:ahLst/>
            <a:cxnLst/>
            <a:rect l="l" t="t" r="r" b="b"/>
            <a:pathLst>
              <a:path w="1711959" h="490219">
                <a:moveTo>
                  <a:pt x="1630179" y="489793"/>
                </a:moveTo>
                <a:lnTo>
                  <a:pt x="81633" y="489793"/>
                </a:lnTo>
                <a:lnTo>
                  <a:pt x="49858" y="483378"/>
                </a:lnTo>
                <a:lnTo>
                  <a:pt x="23909" y="465884"/>
                </a:lnTo>
                <a:lnTo>
                  <a:pt x="6415" y="439935"/>
                </a:lnTo>
                <a:lnTo>
                  <a:pt x="0" y="408159"/>
                </a:lnTo>
                <a:lnTo>
                  <a:pt x="0" y="81633"/>
                </a:lnTo>
                <a:lnTo>
                  <a:pt x="6415" y="49858"/>
                </a:lnTo>
                <a:lnTo>
                  <a:pt x="23909" y="23910"/>
                </a:lnTo>
                <a:lnTo>
                  <a:pt x="49858" y="6415"/>
                </a:lnTo>
                <a:lnTo>
                  <a:pt x="81633" y="0"/>
                </a:lnTo>
                <a:lnTo>
                  <a:pt x="1630179" y="0"/>
                </a:lnTo>
                <a:lnTo>
                  <a:pt x="1675469" y="13715"/>
                </a:lnTo>
                <a:lnTo>
                  <a:pt x="1705598" y="50393"/>
                </a:lnTo>
                <a:lnTo>
                  <a:pt x="1711812" y="81633"/>
                </a:lnTo>
                <a:lnTo>
                  <a:pt x="1711812" y="408159"/>
                </a:lnTo>
                <a:lnTo>
                  <a:pt x="1705397" y="439935"/>
                </a:lnTo>
                <a:lnTo>
                  <a:pt x="1687902" y="465884"/>
                </a:lnTo>
                <a:lnTo>
                  <a:pt x="1661954" y="483378"/>
                </a:lnTo>
                <a:lnTo>
                  <a:pt x="1630179" y="48979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0" name="object 20"/>
          <p:cNvSpPr txBox="1"/>
          <p:nvPr/>
        </p:nvSpPr>
        <p:spPr>
          <a:xfrm>
            <a:off x="5494683" y="2996925"/>
            <a:ext cx="112712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Implicit</a:t>
            </a:r>
            <a:r>
              <a:rPr sz="1100" spc="-6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21" name="object 21"/>
          <p:cNvSpPr/>
          <p:nvPr/>
        </p:nvSpPr>
        <p:spPr>
          <a:xfrm>
            <a:off x="4659379" y="3461779"/>
            <a:ext cx="1085850" cy="449580"/>
          </a:xfrm>
          <a:custGeom>
            <a:avLst/>
            <a:gdLst/>
            <a:ahLst/>
            <a:cxnLst/>
            <a:rect l="l" t="t" r="r" b="b"/>
            <a:pathLst>
              <a:path w="1085850" h="449580">
                <a:moveTo>
                  <a:pt x="1010636" y="449053"/>
                </a:moveTo>
                <a:lnTo>
                  <a:pt x="74843" y="449053"/>
                </a:lnTo>
                <a:lnTo>
                  <a:pt x="45710" y="443172"/>
                </a:lnTo>
                <a:lnTo>
                  <a:pt x="21921" y="427132"/>
                </a:lnTo>
                <a:lnTo>
                  <a:pt x="5881" y="403342"/>
                </a:lnTo>
                <a:lnTo>
                  <a:pt x="0" y="374210"/>
                </a:lnTo>
                <a:lnTo>
                  <a:pt x="0" y="74843"/>
                </a:lnTo>
                <a:lnTo>
                  <a:pt x="5881" y="45711"/>
                </a:lnTo>
                <a:lnTo>
                  <a:pt x="21921" y="21921"/>
                </a:lnTo>
                <a:lnTo>
                  <a:pt x="45710" y="5881"/>
                </a:lnTo>
                <a:lnTo>
                  <a:pt x="74843" y="0"/>
                </a:lnTo>
                <a:lnTo>
                  <a:pt x="1010636" y="0"/>
                </a:lnTo>
                <a:lnTo>
                  <a:pt x="1052160" y="12574"/>
                </a:lnTo>
                <a:lnTo>
                  <a:pt x="1079783" y="46202"/>
                </a:lnTo>
                <a:lnTo>
                  <a:pt x="1085480" y="74843"/>
                </a:lnTo>
                <a:lnTo>
                  <a:pt x="1085480" y="374210"/>
                </a:lnTo>
                <a:lnTo>
                  <a:pt x="1079599" y="403342"/>
                </a:lnTo>
                <a:lnTo>
                  <a:pt x="1063559" y="427132"/>
                </a:lnTo>
                <a:lnTo>
                  <a:pt x="1039769" y="443172"/>
                </a:lnTo>
                <a:lnTo>
                  <a:pt x="1010636"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2" name="object 22"/>
          <p:cNvSpPr txBox="1"/>
          <p:nvPr/>
        </p:nvSpPr>
        <p:spPr>
          <a:xfrm>
            <a:off x="4981246" y="3582295"/>
            <a:ext cx="441959"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Direct</a:t>
            </a:r>
            <a:endParaRPr sz="1100">
              <a:solidFill>
                <a:prstClr val="black"/>
              </a:solidFill>
              <a:latin typeface="Verdana"/>
              <a:cs typeface="Verdana"/>
            </a:endParaRPr>
          </a:p>
        </p:txBody>
      </p:sp>
      <p:sp>
        <p:nvSpPr>
          <p:cNvPr id="23" name="object 23"/>
          <p:cNvSpPr/>
          <p:nvPr/>
        </p:nvSpPr>
        <p:spPr>
          <a:xfrm>
            <a:off x="88492" y="3479577"/>
            <a:ext cx="1805305" cy="429259"/>
          </a:xfrm>
          <a:custGeom>
            <a:avLst/>
            <a:gdLst/>
            <a:ahLst/>
            <a:cxnLst/>
            <a:rect l="l" t="t" r="r" b="b"/>
            <a:pathLst>
              <a:path w="1805305" h="429260">
                <a:moveTo>
                  <a:pt x="1733695" y="429038"/>
                </a:moveTo>
                <a:lnTo>
                  <a:pt x="71507" y="429038"/>
                </a:lnTo>
                <a:lnTo>
                  <a:pt x="43673" y="423419"/>
                </a:lnTo>
                <a:lnTo>
                  <a:pt x="20944" y="408094"/>
                </a:lnTo>
                <a:lnTo>
                  <a:pt x="5619" y="385365"/>
                </a:lnTo>
                <a:lnTo>
                  <a:pt x="0" y="357530"/>
                </a:lnTo>
                <a:lnTo>
                  <a:pt x="0" y="71507"/>
                </a:lnTo>
                <a:lnTo>
                  <a:pt x="5619" y="43673"/>
                </a:lnTo>
                <a:lnTo>
                  <a:pt x="20944" y="20944"/>
                </a:lnTo>
                <a:lnTo>
                  <a:pt x="43673" y="5619"/>
                </a:lnTo>
                <a:lnTo>
                  <a:pt x="71507" y="0"/>
                </a:lnTo>
                <a:lnTo>
                  <a:pt x="1733695" y="0"/>
                </a:lnTo>
                <a:lnTo>
                  <a:pt x="1773367" y="12014"/>
                </a:lnTo>
                <a:lnTo>
                  <a:pt x="1799759" y="44142"/>
                </a:lnTo>
                <a:lnTo>
                  <a:pt x="1805202" y="71507"/>
                </a:lnTo>
                <a:lnTo>
                  <a:pt x="1805202" y="357530"/>
                </a:lnTo>
                <a:lnTo>
                  <a:pt x="1799583" y="385365"/>
                </a:lnTo>
                <a:lnTo>
                  <a:pt x="1784258" y="408094"/>
                </a:lnTo>
                <a:lnTo>
                  <a:pt x="1761529" y="423419"/>
                </a:lnTo>
                <a:lnTo>
                  <a:pt x="1733695" y="429038"/>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4" name="object 24"/>
          <p:cNvSpPr txBox="1"/>
          <p:nvPr/>
        </p:nvSpPr>
        <p:spPr>
          <a:xfrm>
            <a:off x="365254" y="3590084"/>
            <a:ext cx="125158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Tractable</a:t>
            </a:r>
            <a:r>
              <a:rPr sz="1100" spc="-7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25" name="object 25"/>
          <p:cNvSpPr/>
          <p:nvPr/>
        </p:nvSpPr>
        <p:spPr>
          <a:xfrm>
            <a:off x="2408745" y="3475665"/>
            <a:ext cx="1921510" cy="449580"/>
          </a:xfrm>
          <a:custGeom>
            <a:avLst/>
            <a:gdLst/>
            <a:ahLst/>
            <a:cxnLst/>
            <a:rect l="l" t="t" r="r" b="b"/>
            <a:pathLst>
              <a:path w="1921510" h="449580">
                <a:moveTo>
                  <a:pt x="1846537" y="449053"/>
                </a:moveTo>
                <a:lnTo>
                  <a:pt x="74843" y="449053"/>
                </a:lnTo>
                <a:lnTo>
                  <a:pt x="45711" y="443172"/>
                </a:lnTo>
                <a:lnTo>
                  <a:pt x="21921" y="427132"/>
                </a:lnTo>
                <a:lnTo>
                  <a:pt x="5881" y="403342"/>
                </a:lnTo>
                <a:lnTo>
                  <a:pt x="0" y="374210"/>
                </a:lnTo>
                <a:lnTo>
                  <a:pt x="0" y="74843"/>
                </a:lnTo>
                <a:lnTo>
                  <a:pt x="5881" y="45711"/>
                </a:lnTo>
                <a:lnTo>
                  <a:pt x="21921" y="21921"/>
                </a:lnTo>
                <a:lnTo>
                  <a:pt x="45711" y="5881"/>
                </a:lnTo>
                <a:lnTo>
                  <a:pt x="74843" y="0"/>
                </a:lnTo>
                <a:lnTo>
                  <a:pt x="1846537" y="0"/>
                </a:lnTo>
                <a:lnTo>
                  <a:pt x="1888060" y="12574"/>
                </a:lnTo>
                <a:lnTo>
                  <a:pt x="1915683" y="46202"/>
                </a:lnTo>
                <a:lnTo>
                  <a:pt x="1921380" y="74843"/>
                </a:lnTo>
                <a:lnTo>
                  <a:pt x="1921380" y="374210"/>
                </a:lnTo>
                <a:lnTo>
                  <a:pt x="1915499" y="403342"/>
                </a:lnTo>
                <a:lnTo>
                  <a:pt x="1899459" y="427132"/>
                </a:lnTo>
                <a:lnTo>
                  <a:pt x="1875669" y="443172"/>
                </a:lnTo>
                <a:lnTo>
                  <a:pt x="1846537"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6" name="object 26"/>
          <p:cNvSpPr txBox="1"/>
          <p:nvPr/>
        </p:nvSpPr>
        <p:spPr>
          <a:xfrm>
            <a:off x="2622128" y="3596181"/>
            <a:ext cx="1493520"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Approximate</a:t>
            </a:r>
            <a:r>
              <a:rPr sz="1100" spc="-7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27" name="object 27"/>
          <p:cNvSpPr/>
          <p:nvPr/>
        </p:nvSpPr>
        <p:spPr>
          <a:xfrm>
            <a:off x="6282814" y="3461780"/>
            <a:ext cx="1329055" cy="446405"/>
          </a:xfrm>
          <a:custGeom>
            <a:avLst/>
            <a:gdLst/>
            <a:ahLst/>
            <a:cxnLst/>
            <a:rect l="l" t="t" r="r" b="b"/>
            <a:pathLst>
              <a:path w="1329054" h="446405">
                <a:moveTo>
                  <a:pt x="1254619" y="445982"/>
                </a:moveTo>
                <a:lnTo>
                  <a:pt x="74331" y="445982"/>
                </a:lnTo>
                <a:lnTo>
                  <a:pt x="45398" y="440140"/>
                </a:lnTo>
                <a:lnTo>
                  <a:pt x="21771" y="424210"/>
                </a:lnTo>
                <a:lnTo>
                  <a:pt x="5841" y="400583"/>
                </a:lnTo>
                <a:lnTo>
                  <a:pt x="0" y="371650"/>
                </a:lnTo>
                <a:lnTo>
                  <a:pt x="0" y="74331"/>
                </a:lnTo>
                <a:lnTo>
                  <a:pt x="5841" y="45398"/>
                </a:lnTo>
                <a:lnTo>
                  <a:pt x="21771" y="21771"/>
                </a:lnTo>
                <a:lnTo>
                  <a:pt x="45398" y="5841"/>
                </a:lnTo>
                <a:lnTo>
                  <a:pt x="74331" y="0"/>
                </a:lnTo>
                <a:lnTo>
                  <a:pt x="1254619" y="0"/>
                </a:lnTo>
                <a:lnTo>
                  <a:pt x="1295859" y="12488"/>
                </a:lnTo>
                <a:lnTo>
                  <a:pt x="1323293" y="45886"/>
                </a:lnTo>
                <a:lnTo>
                  <a:pt x="1328951" y="74331"/>
                </a:lnTo>
                <a:lnTo>
                  <a:pt x="1328951" y="371650"/>
                </a:lnTo>
                <a:lnTo>
                  <a:pt x="1323110" y="400583"/>
                </a:lnTo>
                <a:lnTo>
                  <a:pt x="1307180" y="424210"/>
                </a:lnTo>
                <a:lnTo>
                  <a:pt x="1283552" y="440140"/>
                </a:lnTo>
                <a:lnTo>
                  <a:pt x="1254619" y="445982"/>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8" name="object 28"/>
          <p:cNvSpPr txBox="1"/>
          <p:nvPr/>
        </p:nvSpPr>
        <p:spPr>
          <a:xfrm>
            <a:off x="6468754" y="3580758"/>
            <a:ext cx="95567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Markov</a:t>
            </a:r>
            <a:r>
              <a:rPr sz="1100" spc="-75" dirty="0">
                <a:solidFill>
                  <a:srgbClr val="43484C"/>
                </a:solidFill>
                <a:latin typeface="Verdana"/>
                <a:cs typeface="Verdana"/>
              </a:rPr>
              <a:t> </a:t>
            </a:r>
            <a:r>
              <a:rPr sz="1100" spc="-5" dirty="0">
                <a:solidFill>
                  <a:srgbClr val="43484C"/>
                </a:solidFill>
                <a:latin typeface="Verdana"/>
                <a:cs typeface="Verdana"/>
              </a:rPr>
              <a:t>chain</a:t>
            </a:r>
            <a:endParaRPr sz="1100">
              <a:solidFill>
                <a:prstClr val="black"/>
              </a:solidFill>
              <a:latin typeface="Verdana"/>
              <a:cs typeface="Verdana"/>
            </a:endParaRPr>
          </a:p>
        </p:txBody>
      </p:sp>
      <p:sp>
        <p:nvSpPr>
          <p:cNvPr id="29" name="object 29"/>
          <p:cNvSpPr/>
          <p:nvPr/>
        </p:nvSpPr>
        <p:spPr>
          <a:xfrm>
            <a:off x="2199958" y="4070611"/>
            <a:ext cx="1085850" cy="449580"/>
          </a:xfrm>
          <a:custGeom>
            <a:avLst/>
            <a:gdLst/>
            <a:ahLst/>
            <a:cxnLst/>
            <a:rect l="l" t="t" r="r" b="b"/>
            <a:pathLst>
              <a:path w="1085850" h="449579">
                <a:moveTo>
                  <a:pt x="1010636" y="449053"/>
                </a:moveTo>
                <a:lnTo>
                  <a:pt x="74843" y="449053"/>
                </a:lnTo>
                <a:lnTo>
                  <a:pt x="45711" y="443172"/>
                </a:lnTo>
                <a:lnTo>
                  <a:pt x="21921" y="427132"/>
                </a:lnTo>
                <a:lnTo>
                  <a:pt x="5881" y="403342"/>
                </a:lnTo>
                <a:lnTo>
                  <a:pt x="0" y="374209"/>
                </a:lnTo>
                <a:lnTo>
                  <a:pt x="0" y="74843"/>
                </a:lnTo>
                <a:lnTo>
                  <a:pt x="5881" y="45711"/>
                </a:lnTo>
                <a:lnTo>
                  <a:pt x="21921" y="21921"/>
                </a:lnTo>
                <a:lnTo>
                  <a:pt x="45711" y="5881"/>
                </a:lnTo>
                <a:lnTo>
                  <a:pt x="74843" y="0"/>
                </a:lnTo>
                <a:lnTo>
                  <a:pt x="1010636" y="0"/>
                </a:lnTo>
                <a:lnTo>
                  <a:pt x="1052160" y="12574"/>
                </a:lnTo>
                <a:lnTo>
                  <a:pt x="1079783" y="46202"/>
                </a:lnTo>
                <a:lnTo>
                  <a:pt x="1085480" y="74843"/>
                </a:lnTo>
                <a:lnTo>
                  <a:pt x="1085480" y="374209"/>
                </a:lnTo>
                <a:lnTo>
                  <a:pt x="1079599" y="403342"/>
                </a:lnTo>
                <a:lnTo>
                  <a:pt x="1063559" y="427132"/>
                </a:lnTo>
                <a:lnTo>
                  <a:pt x="1039769" y="443172"/>
                </a:lnTo>
                <a:lnTo>
                  <a:pt x="1010636"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30" name="object 30"/>
          <p:cNvSpPr txBox="1"/>
          <p:nvPr/>
        </p:nvSpPr>
        <p:spPr>
          <a:xfrm>
            <a:off x="2355231" y="4191125"/>
            <a:ext cx="774700"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Variational</a:t>
            </a:r>
            <a:endParaRPr sz="1100">
              <a:solidFill>
                <a:prstClr val="black"/>
              </a:solidFill>
              <a:latin typeface="Verdana"/>
              <a:cs typeface="Verdana"/>
            </a:endParaRPr>
          </a:p>
        </p:txBody>
      </p:sp>
      <p:sp>
        <p:nvSpPr>
          <p:cNvPr id="31" name="object 31"/>
          <p:cNvSpPr/>
          <p:nvPr/>
        </p:nvSpPr>
        <p:spPr>
          <a:xfrm>
            <a:off x="3430120" y="4070611"/>
            <a:ext cx="1200785" cy="449580"/>
          </a:xfrm>
          <a:custGeom>
            <a:avLst/>
            <a:gdLst/>
            <a:ahLst/>
            <a:cxnLst/>
            <a:rect l="l" t="t" r="r" b="b"/>
            <a:pathLst>
              <a:path w="1200785" h="449579">
                <a:moveTo>
                  <a:pt x="1125516" y="449053"/>
                </a:moveTo>
                <a:lnTo>
                  <a:pt x="74843" y="449053"/>
                </a:lnTo>
                <a:lnTo>
                  <a:pt x="45711" y="443172"/>
                </a:lnTo>
                <a:lnTo>
                  <a:pt x="21921" y="427132"/>
                </a:lnTo>
                <a:lnTo>
                  <a:pt x="5881" y="403342"/>
                </a:lnTo>
                <a:lnTo>
                  <a:pt x="0" y="374209"/>
                </a:lnTo>
                <a:lnTo>
                  <a:pt x="0" y="74843"/>
                </a:lnTo>
                <a:lnTo>
                  <a:pt x="5881" y="45711"/>
                </a:lnTo>
                <a:lnTo>
                  <a:pt x="21921" y="21921"/>
                </a:lnTo>
                <a:lnTo>
                  <a:pt x="45711" y="5881"/>
                </a:lnTo>
                <a:lnTo>
                  <a:pt x="74843" y="0"/>
                </a:lnTo>
                <a:lnTo>
                  <a:pt x="1125516" y="0"/>
                </a:lnTo>
                <a:lnTo>
                  <a:pt x="1167040" y="12574"/>
                </a:lnTo>
                <a:lnTo>
                  <a:pt x="1194663" y="46202"/>
                </a:lnTo>
                <a:lnTo>
                  <a:pt x="1200360" y="74843"/>
                </a:lnTo>
                <a:lnTo>
                  <a:pt x="1200360" y="374209"/>
                </a:lnTo>
                <a:lnTo>
                  <a:pt x="1194479" y="403342"/>
                </a:lnTo>
                <a:lnTo>
                  <a:pt x="1178439" y="427132"/>
                </a:lnTo>
                <a:lnTo>
                  <a:pt x="1154649" y="443172"/>
                </a:lnTo>
                <a:lnTo>
                  <a:pt x="1125516"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32" name="object 32"/>
          <p:cNvSpPr txBox="1"/>
          <p:nvPr/>
        </p:nvSpPr>
        <p:spPr>
          <a:xfrm>
            <a:off x="3551764" y="4191125"/>
            <a:ext cx="95567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Markov</a:t>
            </a:r>
            <a:r>
              <a:rPr sz="1100" spc="-75" dirty="0">
                <a:solidFill>
                  <a:srgbClr val="43484C"/>
                </a:solidFill>
                <a:latin typeface="Verdana"/>
                <a:cs typeface="Verdana"/>
              </a:rPr>
              <a:t> </a:t>
            </a:r>
            <a:r>
              <a:rPr sz="1100" spc="-5" dirty="0">
                <a:solidFill>
                  <a:srgbClr val="43484C"/>
                </a:solidFill>
                <a:latin typeface="Verdana"/>
                <a:cs typeface="Verdana"/>
              </a:rPr>
              <a:t>chain</a:t>
            </a:r>
            <a:endParaRPr sz="1100">
              <a:solidFill>
                <a:prstClr val="black"/>
              </a:solidFill>
              <a:latin typeface="Verdana"/>
              <a:cs typeface="Verdana"/>
            </a:endParaRPr>
          </a:p>
        </p:txBody>
      </p:sp>
      <p:sp>
        <p:nvSpPr>
          <p:cNvPr id="33" name="object 33"/>
          <p:cNvSpPr txBox="1"/>
          <p:nvPr/>
        </p:nvSpPr>
        <p:spPr>
          <a:xfrm>
            <a:off x="3921162" y="4910070"/>
            <a:ext cx="1265555"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Boltzmann</a:t>
            </a:r>
            <a:r>
              <a:rPr sz="1000" spc="-70" dirty="0">
                <a:solidFill>
                  <a:srgbClr val="43484C"/>
                </a:solidFill>
                <a:latin typeface="Verdana"/>
                <a:cs typeface="Verdana"/>
              </a:rPr>
              <a:t> </a:t>
            </a:r>
            <a:r>
              <a:rPr sz="1000" spc="-5" dirty="0">
                <a:solidFill>
                  <a:srgbClr val="43484C"/>
                </a:solidFill>
                <a:latin typeface="Verdana"/>
                <a:cs typeface="Verdana"/>
              </a:rPr>
              <a:t>Machine</a:t>
            </a:r>
            <a:endParaRPr sz="1000">
              <a:solidFill>
                <a:prstClr val="black"/>
              </a:solidFill>
              <a:latin typeface="Verdana"/>
              <a:cs typeface="Verdana"/>
            </a:endParaRPr>
          </a:p>
        </p:txBody>
      </p:sp>
      <p:sp>
        <p:nvSpPr>
          <p:cNvPr id="34" name="object 34"/>
          <p:cNvSpPr/>
          <p:nvPr/>
        </p:nvSpPr>
        <p:spPr>
          <a:xfrm>
            <a:off x="147706" y="4705672"/>
            <a:ext cx="1134110" cy="398780"/>
          </a:xfrm>
          <a:custGeom>
            <a:avLst/>
            <a:gdLst/>
            <a:ahLst/>
            <a:cxnLst/>
            <a:rect l="l" t="t" r="r" b="b"/>
            <a:pathLst>
              <a:path w="1134110" h="398779">
                <a:moveTo>
                  <a:pt x="0" y="199248"/>
                </a:moveTo>
                <a:lnTo>
                  <a:pt x="14974" y="153562"/>
                </a:lnTo>
                <a:lnTo>
                  <a:pt x="57627" y="111623"/>
                </a:lnTo>
                <a:lnTo>
                  <a:pt x="124557" y="74628"/>
                </a:lnTo>
                <a:lnTo>
                  <a:pt x="166062" y="58358"/>
                </a:lnTo>
                <a:lnTo>
                  <a:pt x="212360" y="43772"/>
                </a:lnTo>
                <a:lnTo>
                  <a:pt x="263025" y="31020"/>
                </a:lnTo>
                <a:lnTo>
                  <a:pt x="317633" y="20251"/>
                </a:lnTo>
                <a:lnTo>
                  <a:pt x="375757" y="11615"/>
                </a:lnTo>
                <a:lnTo>
                  <a:pt x="436972" y="5262"/>
                </a:lnTo>
                <a:lnTo>
                  <a:pt x="500852" y="1340"/>
                </a:lnTo>
                <a:lnTo>
                  <a:pt x="566973" y="0"/>
                </a:lnTo>
                <a:lnTo>
                  <a:pt x="633095" y="1340"/>
                </a:lnTo>
                <a:lnTo>
                  <a:pt x="696975" y="5262"/>
                </a:lnTo>
                <a:lnTo>
                  <a:pt x="758190" y="11615"/>
                </a:lnTo>
                <a:lnTo>
                  <a:pt x="816314" y="20251"/>
                </a:lnTo>
                <a:lnTo>
                  <a:pt x="870922" y="31020"/>
                </a:lnTo>
                <a:lnTo>
                  <a:pt x="921587" y="43772"/>
                </a:lnTo>
                <a:lnTo>
                  <a:pt x="967885" y="58358"/>
                </a:lnTo>
                <a:lnTo>
                  <a:pt x="1009390" y="74628"/>
                </a:lnTo>
                <a:lnTo>
                  <a:pt x="1045676" y="92433"/>
                </a:lnTo>
                <a:lnTo>
                  <a:pt x="1100894" y="132050"/>
                </a:lnTo>
                <a:lnTo>
                  <a:pt x="1130133" y="176011"/>
                </a:lnTo>
                <a:lnTo>
                  <a:pt x="1133947" y="199248"/>
                </a:lnTo>
                <a:lnTo>
                  <a:pt x="1118973" y="244934"/>
                </a:lnTo>
                <a:lnTo>
                  <a:pt x="1076320" y="286872"/>
                </a:lnTo>
                <a:lnTo>
                  <a:pt x="1009390" y="323867"/>
                </a:lnTo>
                <a:lnTo>
                  <a:pt x="967885" y="340138"/>
                </a:lnTo>
                <a:lnTo>
                  <a:pt x="921587" y="354724"/>
                </a:lnTo>
                <a:lnTo>
                  <a:pt x="870922" y="367476"/>
                </a:lnTo>
                <a:lnTo>
                  <a:pt x="816314" y="378244"/>
                </a:lnTo>
                <a:lnTo>
                  <a:pt x="758190" y="386880"/>
                </a:lnTo>
                <a:lnTo>
                  <a:pt x="696975" y="393234"/>
                </a:lnTo>
                <a:lnTo>
                  <a:pt x="633095" y="397156"/>
                </a:lnTo>
                <a:lnTo>
                  <a:pt x="566973" y="398496"/>
                </a:lnTo>
                <a:lnTo>
                  <a:pt x="500852" y="397156"/>
                </a:lnTo>
                <a:lnTo>
                  <a:pt x="436972" y="393234"/>
                </a:lnTo>
                <a:lnTo>
                  <a:pt x="375757" y="386880"/>
                </a:lnTo>
                <a:lnTo>
                  <a:pt x="317633" y="378244"/>
                </a:lnTo>
                <a:lnTo>
                  <a:pt x="263025" y="367476"/>
                </a:lnTo>
                <a:lnTo>
                  <a:pt x="212360" y="354724"/>
                </a:lnTo>
                <a:lnTo>
                  <a:pt x="166062" y="340138"/>
                </a:lnTo>
                <a:lnTo>
                  <a:pt x="124557" y="323867"/>
                </a:lnTo>
                <a:lnTo>
                  <a:pt x="88271" y="306062"/>
                </a:lnTo>
                <a:lnTo>
                  <a:pt x="33053" y="266446"/>
                </a:lnTo>
                <a:lnTo>
                  <a:pt x="3814" y="222484"/>
                </a:lnTo>
                <a:lnTo>
                  <a:pt x="0" y="199248"/>
                </a:lnTo>
                <a:close/>
              </a:path>
            </a:pathLst>
          </a:custGeom>
          <a:ln w="25399">
            <a:solidFill>
              <a:srgbClr val="81042A"/>
            </a:solidFill>
          </a:ln>
        </p:spPr>
        <p:txBody>
          <a:bodyPr wrap="square" lIns="0" tIns="0" rIns="0" bIns="0" rtlCol="0"/>
          <a:lstStyle/>
          <a:p>
            <a:endParaRPr>
              <a:solidFill>
                <a:prstClr val="black"/>
              </a:solidFill>
              <a:latin typeface="Calibri"/>
            </a:endParaRPr>
          </a:p>
        </p:txBody>
      </p:sp>
      <p:grpSp>
        <p:nvGrpSpPr>
          <p:cNvPr id="35" name="object 35"/>
          <p:cNvGrpSpPr/>
          <p:nvPr/>
        </p:nvGrpSpPr>
        <p:grpSpPr>
          <a:xfrm>
            <a:off x="798211" y="3966468"/>
            <a:ext cx="217804" cy="279400"/>
            <a:chOff x="798211" y="3109218"/>
            <a:chExt cx="217804" cy="279400"/>
          </a:xfrm>
        </p:grpSpPr>
        <p:pic>
          <p:nvPicPr>
            <p:cNvPr id="36" name="object 36"/>
            <p:cNvPicPr/>
            <p:nvPr/>
          </p:nvPicPr>
          <p:blipFill>
            <a:blip r:embed="rId2" cstate="print"/>
            <a:stretch>
              <a:fillRect/>
            </a:stretch>
          </p:blipFill>
          <p:spPr>
            <a:xfrm>
              <a:off x="810911" y="3121918"/>
              <a:ext cx="191978" cy="253600"/>
            </a:xfrm>
            <a:prstGeom prst="rect">
              <a:avLst/>
            </a:prstGeom>
          </p:spPr>
        </p:pic>
        <p:sp>
          <p:nvSpPr>
            <p:cNvPr id="37" name="object 37"/>
            <p:cNvSpPr/>
            <p:nvPr/>
          </p:nvSpPr>
          <p:spPr>
            <a:xfrm>
              <a:off x="810911" y="3121918"/>
              <a:ext cx="192405" cy="254000"/>
            </a:xfrm>
            <a:custGeom>
              <a:avLst/>
              <a:gdLst/>
              <a:ahLst/>
              <a:cxnLst/>
              <a:rect l="l" t="t" r="r" b="b"/>
              <a:pathLst>
                <a:path w="192405" h="254000">
                  <a:moveTo>
                    <a:pt x="0" y="157611"/>
                  </a:moveTo>
                  <a:lnTo>
                    <a:pt x="47994" y="157611"/>
                  </a:lnTo>
                  <a:lnTo>
                    <a:pt x="47994" y="0"/>
                  </a:lnTo>
                  <a:lnTo>
                    <a:pt x="143984" y="0"/>
                  </a:lnTo>
                  <a:lnTo>
                    <a:pt x="143984" y="157611"/>
                  </a:lnTo>
                  <a:lnTo>
                    <a:pt x="191978" y="157611"/>
                  </a:lnTo>
                  <a:lnTo>
                    <a:pt x="95989" y="253600"/>
                  </a:lnTo>
                  <a:lnTo>
                    <a:pt x="0" y="157611"/>
                  </a:lnTo>
                  <a:close/>
                </a:path>
              </a:pathLst>
            </a:custGeom>
            <a:ln w="25399">
              <a:solidFill>
                <a:srgbClr val="43484C"/>
              </a:solidFill>
            </a:ln>
          </p:spPr>
          <p:txBody>
            <a:bodyPr wrap="square" lIns="0" tIns="0" rIns="0" bIns="0" rtlCol="0"/>
            <a:lstStyle/>
            <a:p>
              <a:endParaRPr>
                <a:solidFill>
                  <a:prstClr val="black"/>
                </a:solidFill>
                <a:latin typeface="Calibri"/>
              </a:endParaRPr>
            </a:p>
          </p:txBody>
        </p:sp>
      </p:grpSp>
      <p:grpSp>
        <p:nvGrpSpPr>
          <p:cNvPr id="38" name="object 38"/>
          <p:cNvGrpSpPr/>
          <p:nvPr/>
        </p:nvGrpSpPr>
        <p:grpSpPr>
          <a:xfrm>
            <a:off x="1904793" y="4558404"/>
            <a:ext cx="2247900" cy="711835"/>
            <a:chOff x="1904793" y="3701153"/>
            <a:chExt cx="2247900" cy="711835"/>
          </a:xfrm>
        </p:grpSpPr>
        <p:sp>
          <p:nvSpPr>
            <p:cNvPr id="39" name="object 39"/>
            <p:cNvSpPr/>
            <p:nvPr/>
          </p:nvSpPr>
          <p:spPr>
            <a:xfrm>
              <a:off x="2633561" y="3713853"/>
              <a:ext cx="218440" cy="304800"/>
            </a:xfrm>
            <a:custGeom>
              <a:avLst/>
              <a:gdLst/>
              <a:ahLst/>
              <a:cxnLst/>
              <a:rect l="l" t="t" r="r" b="b"/>
              <a:pathLst>
                <a:path w="218439" h="304800">
                  <a:moveTo>
                    <a:pt x="109137" y="304423"/>
                  </a:moveTo>
                  <a:lnTo>
                    <a:pt x="0" y="195285"/>
                  </a:lnTo>
                  <a:lnTo>
                    <a:pt x="54568" y="195285"/>
                  </a:lnTo>
                  <a:lnTo>
                    <a:pt x="54568" y="0"/>
                  </a:lnTo>
                  <a:lnTo>
                    <a:pt x="163706" y="0"/>
                  </a:lnTo>
                  <a:lnTo>
                    <a:pt x="163706" y="195285"/>
                  </a:lnTo>
                  <a:lnTo>
                    <a:pt x="218275" y="195285"/>
                  </a:lnTo>
                  <a:lnTo>
                    <a:pt x="109137" y="304423"/>
                  </a:lnTo>
                  <a:close/>
                </a:path>
              </a:pathLst>
            </a:custGeom>
            <a:solidFill>
              <a:srgbClr val="99A0A5"/>
            </a:solidFill>
          </p:spPr>
          <p:txBody>
            <a:bodyPr wrap="square" lIns="0" tIns="0" rIns="0" bIns="0" rtlCol="0"/>
            <a:lstStyle/>
            <a:p>
              <a:endParaRPr>
                <a:solidFill>
                  <a:prstClr val="black"/>
                </a:solidFill>
                <a:latin typeface="Calibri"/>
              </a:endParaRPr>
            </a:p>
          </p:txBody>
        </p:sp>
        <p:sp>
          <p:nvSpPr>
            <p:cNvPr id="40" name="object 40"/>
            <p:cNvSpPr/>
            <p:nvPr/>
          </p:nvSpPr>
          <p:spPr>
            <a:xfrm>
              <a:off x="2633561" y="3713853"/>
              <a:ext cx="218440" cy="304800"/>
            </a:xfrm>
            <a:custGeom>
              <a:avLst/>
              <a:gdLst/>
              <a:ahLst/>
              <a:cxnLst/>
              <a:rect l="l" t="t" r="r" b="b"/>
              <a:pathLst>
                <a:path w="218439" h="304800">
                  <a:moveTo>
                    <a:pt x="0" y="195285"/>
                  </a:moveTo>
                  <a:lnTo>
                    <a:pt x="54568" y="195285"/>
                  </a:lnTo>
                  <a:lnTo>
                    <a:pt x="54568" y="0"/>
                  </a:lnTo>
                  <a:lnTo>
                    <a:pt x="163706" y="0"/>
                  </a:lnTo>
                  <a:lnTo>
                    <a:pt x="163706" y="195285"/>
                  </a:lnTo>
                  <a:lnTo>
                    <a:pt x="218275" y="195285"/>
                  </a:lnTo>
                  <a:lnTo>
                    <a:pt x="109137" y="304423"/>
                  </a:lnTo>
                  <a:lnTo>
                    <a:pt x="0" y="195285"/>
                  </a:lnTo>
                  <a:close/>
                </a:path>
              </a:pathLst>
            </a:custGeom>
            <a:ln w="25399">
              <a:solidFill>
                <a:srgbClr val="43484C"/>
              </a:solidFill>
            </a:ln>
          </p:spPr>
          <p:txBody>
            <a:bodyPr wrap="square" lIns="0" tIns="0" rIns="0" bIns="0" rtlCol="0"/>
            <a:lstStyle/>
            <a:p>
              <a:endParaRPr>
                <a:solidFill>
                  <a:prstClr val="black"/>
                </a:solidFill>
                <a:latin typeface="Calibri"/>
              </a:endParaRPr>
            </a:p>
          </p:txBody>
        </p:sp>
        <p:sp>
          <p:nvSpPr>
            <p:cNvPr id="41" name="object 41"/>
            <p:cNvSpPr/>
            <p:nvPr/>
          </p:nvSpPr>
          <p:spPr>
            <a:xfrm>
              <a:off x="3921161" y="3713853"/>
              <a:ext cx="218440" cy="304800"/>
            </a:xfrm>
            <a:custGeom>
              <a:avLst/>
              <a:gdLst/>
              <a:ahLst/>
              <a:cxnLst/>
              <a:rect l="l" t="t" r="r" b="b"/>
              <a:pathLst>
                <a:path w="218439" h="304800">
                  <a:moveTo>
                    <a:pt x="109137" y="304423"/>
                  </a:moveTo>
                  <a:lnTo>
                    <a:pt x="0" y="195285"/>
                  </a:lnTo>
                  <a:lnTo>
                    <a:pt x="54568" y="195285"/>
                  </a:lnTo>
                  <a:lnTo>
                    <a:pt x="54568" y="0"/>
                  </a:lnTo>
                  <a:lnTo>
                    <a:pt x="163706" y="0"/>
                  </a:lnTo>
                  <a:lnTo>
                    <a:pt x="163706" y="195285"/>
                  </a:lnTo>
                  <a:lnTo>
                    <a:pt x="218275" y="195285"/>
                  </a:lnTo>
                  <a:lnTo>
                    <a:pt x="109137" y="304423"/>
                  </a:lnTo>
                  <a:close/>
                </a:path>
              </a:pathLst>
            </a:custGeom>
            <a:solidFill>
              <a:srgbClr val="99A0A5"/>
            </a:solidFill>
          </p:spPr>
          <p:txBody>
            <a:bodyPr wrap="square" lIns="0" tIns="0" rIns="0" bIns="0" rtlCol="0"/>
            <a:lstStyle/>
            <a:p>
              <a:endParaRPr>
                <a:solidFill>
                  <a:prstClr val="black"/>
                </a:solidFill>
                <a:latin typeface="Calibri"/>
              </a:endParaRPr>
            </a:p>
          </p:txBody>
        </p:sp>
        <p:sp>
          <p:nvSpPr>
            <p:cNvPr id="42" name="object 42"/>
            <p:cNvSpPr/>
            <p:nvPr/>
          </p:nvSpPr>
          <p:spPr>
            <a:xfrm>
              <a:off x="3921161" y="3713853"/>
              <a:ext cx="218440" cy="304800"/>
            </a:xfrm>
            <a:custGeom>
              <a:avLst/>
              <a:gdLst/>
              <a:ahLst/>
              <a:cxnLst/>
              <a:rect l="l" t="t" r="r" b="b"/>
              <a:pathLst>
                <a:path w="218439" h="304800">
                  <a:moveTo>
                    <a:pt x="0" y="195285"/>
                  </a:moveTo>
                  <a:lnTo>
                    <a:pt x="54568" y="195285"/>
                  </a:lnTo>
                  <a:lnTo>
                    <a:pt x="54568" y="0"/>
                  </a:lnTo>
                  <a:lnTo>
                    <a:pt x="163706" y="0"/>
                  </a:lnTo>
                  <a:lnTo>
                    <a:pt x="163706" y="195285"/>
                  </a:lnTo>
                  <a:lnTo>
                    <a:pt x="218275" y="195285"/>
                  </a:lnTo>
                  <a:lnTo>
                    <a:pt x="109137" y="304423"/>
                  </a:lnTo>
                  <a:lnTo>
                    <a:pt x="0" y="195285"/>
                  </a:lnTo>
                  <a:close/>
                </a:path>
              </a:pathLst>
            </a:custGeom>
            <a:ln w="25399">
              <a:solidFill>
                <a:srgbClr val="43484C"/>
              </a:solidFill>
            </a:ln>
          </p:spPr>
          <p:txBody>
            <a:bodyPr wrap="square" lIns="0" tIns="0" rIns="0" bIns="0" rtlCol="0"/>
            <a:lstStyle/>
            <a:p>
              <a:endParaRPr>
                <a:solidFill>
                  <a:prstClr val="black"/>
                </a:solidFill>
                <a:latin typeface="Calibri"/>
              </a:endParaRPr>
            </a:p>
          </p:txBody>
        </p:sp>
        <p:sp>
          <p:nvSpPr>
            <p:cNvPr id="43" name="object 43"/>
            <p:cNvSpPr/>
            <p:nvPr/>
          </p:nvSpPr>
          <p:spPr>
            <a:xfrm>
              <a:off x="1917493" y="4001773"/>
              <a:ext cx="1723389" cy="398780"/>
            </a:xfrm>
            <a:custGeom>
              <a:avLst/>
              <a:gdLst/>
              <a:ahLst/>
              <a:cxnLst/>
              <a:rect l="l" t="t" r="r" b="b"/>
              <a:pathLst>
                <a:path w="1723389" h="398779">
                  <a:moveTo>
                    <a:pt x="0" y="199248"/>
                  </a:moveTo>
                  <a:lnTo>
                    <a:pt x="3162" y="182056"/>
                  </a:lnTo>
                  <a:lnTo>
                    <a:pt x="12476" y="165270"/>
                  </a:lnTo>
                  <a:lnTo>
                    <a:pt x="48525" y="133156"/>
                  </a:lnTo>
                  <a:lnTo>
                    <a:pt x="106079" y="103384"/>
                  </a:lnTo>
                  <a:lnTo>
                    <a:pt x="142273" y="89526"/>
                  </a:lnTo>
                  <a:lnTo>
                    <a:pt x="183068" y="76433"/>
                  </a:lnTo>
                  <a:lnTo>
                    <a:pt x="228205" y="64164"/>
                  </a:lnTo>
                  <a:lnTo>
                    <a:pt x="277424" y="52780"/>
                  </a:lnTo>
                  <a:lnTo>
                    <a:pt x="330469" y="42341"/>
                  </a:lnTo>
                  <a:lnTo>
                    <a:pt x="387079" y="32906"/>
                  </a:lnTo>
                  <a:lnTo>
                    <a:pt x="446997" y="24534"/>
                  </a:lnTo>
                  <a:lnTo>
                    <a:pt x="509963" y="17287"/>
                  </a:lnTo>
                  <a:lnTo>
                    <a:pt x="575720" y="11223"/>
                  </a:lnTo>
                  <a:lnTo>
                    <a:pt x="644008" y="6402"/>
                  </a:lnTo>
                  <a:lnTo>
                    <a:pt x="714569" y="2885"/>
                  </a:lnTo>
                  <a:lnTo>
                    <a:pt x="787145" y="731"/>
                  </a:lnTo>
                  <a:lnTo>
                    <a:pt x="861476" y="0"/>
                  </a:lnTo>
                  <a:lnTo>
                    <a:pt x="935808" y="731"/>
                  </a:lnTo>
                  <a:lnTo>
                    <a:pt x="1008384" y="2885"/>
                  </a:lnTo>
                  <a:lnTo>
                    <a:pt x="1078945" y="6402"/>
                  </a:lnTo>
                  <a:lnTo>
                    <a:pt x="1147233" y="11223"/>
                  </a:lnTo>
                  <a:lnTo>
                    <a:pt x="1212990" y="17287"/>
                  </a:lnTo>
                  <a:lnTo>
                    <a:pt x="1275956" y="24534"/>
                  </a:lnTo>
                  <a:lnTo>
                    <a:pt x="1335874" y="32906"/>
                  </a:lnTo>
                  <a:lnTo>
                    <a:pt x="1392484" y="42341"/>
                  </a:lnTo>
                  <a:lnTo>
                    <a:pt x="1445529" y="52780"/>
                  </a:lnTo>
                  <a:lnTo>
                    <a:pt x="1494748" y="64164"/>
                  </a:lnTo>
                  <a:lnTo>
                    <a:pt x="1539885" y="76433"/>
                  </a:lnTo>
                  <a:lnTo>
                    <a:pt x="1580680" y="89526"/>
                  </a:lnTo>
                  <a:lnTo>
                    <a:pt x="1616874" y="103384"/>
                  </a:lnTo>
                  <a:lnTo>
                    <a:pt x="1674428" y="133156"/>
                  </a:lnTo>
                  <a:lnTo>
                    <a:pt x="1710477" y="165270"/>
                  </a:lnTo>
                  <a:lnTo>
                    <a:pt x="1722953" y="199248"/>
                  </a:lnTo>
                  <a:lnTo>
                    <a:pt x="1695270" y="249546"/>
                  </a:lnTo>
                  <a:lnTo>
                    <a:pt x="1648210" y="280548"/>
                  </a:lnTo>
                  <a:lnTo>
                    <a:pt x="1580680" y="308970"/>
                  </a:lnTo>
                  <a:lnTo>
                    <a:pt x="1539885" y="322063"/>
                  </a:lnTo>
                  <a:lnTo>
                    <a:pt x="1494748" y="334332"/>
                  </a:lnTo>
                  <a:lnTo>
                    <a:pt x="1445529" y="345716"/>
                  </a:lnTo>
                  <a:lnTo>
                    <a:pt x="1392484" y="356155"/>
                  </a:lnTo>
                  <a:lnTo>
                    <a:pt x="1335874" y="365590"/>
                  </a:lnTo>
                  <a:lnTo>
                    <a:pt x="1275956" y="373962"/>
                  </a:lnTo>
                  <a:lnTo>
                    <a:pt x="1212990" y="381209"/>
                  </a:lnTo>
                  <a:lnTo>
                    <a:pt x="1147233" y="387273"/>
                  </a:lnTo>
                  <a:lnTo>
                    <a:pt x="1078945" y="392094"/>
                  </a:lnTo>
                  <a:lnTo>
                    <a:pt x="1008384" y="395611"/>
                  </a:lnTo>
                  <a:lnTo>
                    <a:pt x="935808" y="397765"/>
                  </a:lnTo>
                  <a:lnTo>
                    <a:pt x="861476" y="398496"/>
                  </a:lnTo>
                  <a:lnTo>
                    <a:pt x="787145" y="397765"/>
                  </a:lnTo>
                  <a:lnTo>
                    <a:pt x="714569" y="395611"/>
                  </a:lnTo>
                  <a:lnTo>
                    <a:pt x="644008" y="392094"/>
                  </a:lnTo>
                  <a:lnTo>
                    <a:pt x="575720" y="387273"/>
                  </a:lnTo>
                  <a:lnTo>
                    <a:pt x="509963" y="381209"/>
                  </a:lnTo>
                  <a:lnTo>
                    <a:pt x="446997" y="373962"/>
                  </a:lnTo>
                  <a:lnTo>
                    <a:pt x="387079" y="365590"/>
                  </a:lnTo>
                  <a:lnTo>
                    <a:pt x="330469" y="356155"/>
                  </a:lnTo>
                  <a:lnTo>
                    <a:pt x="277424" y="345716"/>
                  </a:lnTo>
                  <a:lnTo>
                    <a:pt x="228205" y="334332"/>
                  </a:lnTo>
                  <a:lnTo>
                    <a:pt x="183068" y="322063"/>
                  </a:lnTo>
                  <a:lnTo>
                    <a:pt x="142273" y="308970"/>
                  </a:lnTo>
                  <a:lnTo>
                    <a:pt x="106079" y="295112"/>
                  </a:lnTo>
                  <a:lnTo>
                    <a:pt x="48525" y="265340"/>
                  </a:lnTo>
                  <a:lnTo>
                    <a:pt x="12476" y="233226"/>
                  </a:lnTo>
                  <a:lnTo>
                    <a:pt x="3162" y="216440"/>
                  </a:lnTo>
                  <a:lnTo>
                    <a:pt x="0" y="199248"/>
                  </a:lnTo>
                  <a:close/>
                </a:path>
              </a:pathLst>
            </a:custGeom>
            <a:ln w="25399">
              <a:solidFill>
                <a:srgbClr val="81042A"/>
              </a:solidFill>
            </a:ln>
          </p:spPr>
          <p:txBody>
            <a:bodyPr wrap="square" lIns="0" tIns="0" rIns="0" bIns="0" rtlCol="0"/>
            <a:lstStyle/>
            <a:p>
              <a:endParaRPr>
                <a:solidFill>
                  <a:prstClr val="black"/>
                </a:solidFill>
                <a:latin typeface="Calibri"/>
              </a:endParaRPr>
            </a:p>
          </p:txBody>
        </p:sp>
      </p:grpSp>
      <p:grpSp>
        <p:nvGrpSpPr>
          <p:cNvPr id="44" name="object 44"/>
          <p:cNvGrpSpPr/>
          <p:nvPr/>
        </p:nvGrpSpPr>
        <p:grpSpPr>
          <a:xfrm>
            <a:off x="5123238" y="3966468"/>
            <a:ext cx="217804" cy="279400"/>
            <a:chOff x="5123238" y="3109218"/>
            <a:chExt cx="217804" cy="279400"/>
          </a:xfrm>
        </p:grpSpPr>
        <p:pic>
          <p:nvPicPr>
            <p:cNvPr id="45" name="object 45"/>
            <p:cNvPicPr/>
            <p:nvPr/>
          </p:nvPicPr>
          <p:blipFill>
            <a:blip r:embed="rId2" cstate="print"/>
            <a:stretch>
              <a:fillRect/>
            </a:stretch>
          </p:blipFill>
          <p:spPr>
            <a:xfrm>
              <a:off x="5135938" y="3121918"/>
              <a:ext cx="191978" cy="253600"/>
            </a:xfrm>
            <a:prstGeom prst="rect">
              <a:avLst/>
            </a:prstGeom>
          </p:spPr>
        </p:pic>
        <p:sp>
          <p:nvSpPr>
            <p:cNvPr id="46" name="object 46"/>
            <p:cNvSpPr/>
            <p:nvPr/>
          </p:nvSpPr>
          <p:spPr>
            <a:xfrm>
              <a:off x="5135938" y="3121918"/>
              <a:ext cx="192405" cy="254000"/>
            </a:xfrm>
            <a:custGeom>
              <a:avLst/>
              <a:gdLst/>
              <a:ahLst/>
              <a:cxnLst/>
              <a:rect l="l" t="t" r="r" b="b"/>
              <a:pathLst>
                <a:path w="192404" h="254000">
                  <a:moveTo>
                    <a:pt x="0" y="157611"/>
                  </a:moveTo>
                  <a:lnTo>
                    <a:pt x="47994" y="157611"/>
                  </a:lnTo>
                  <a:lnTo>
                    <a:pt x="47994" y="0"/>
                  </a:lnTo>
                  <a:lnTo>
                    <a:pt x="143984" y="0"/>
                  </a:lnTo>
                  <a:lnTo>
                    <a:pt x="143984" y="157611"/>
                  </a:lnTo>
                  <a:lnTo>
                    <a:pt x="191978" y="157611"/>
                  </a:lnTo>
                  <a:lnTo>
                    <a:pt x="95989" y="253600"/>
                  </a:lnTo>
                  <a:lnTo>
                    <a:pt x="0" y="157611"/>
                  </a:lnTo>
                  <a:close/>
                </a:path>
              </a:pathLst>
            </a:custGeom>
            <a:ln w="25399">
              <a:solidFill>
                <a:srgbClr val="43484C"/>
              </a:solidFill>
            </a:ln>
          </p:spPr>
          <p:txBody>
            <a:bodyPr wrap="square" lIns="0" tIns="0" rIns="0" bIns="0" rtlCol="0"/>
            <a:lstStyle/>
            <a:p>
              <a:endParaRPr>
                <a:solidFill>
                  <a:prstClr val="black"/>
                </a:solidFill>
                <a:latin typeface="Calibri"/>
              </a:endParaRPr>
            </a:p>
          </p:txBody>
        </p:sp>
      </p:grpSp>
      <p:sp>
        <p:nvSpPr>
          <p:cNvPr id="47" name="object 47"/>
          <p:cNvSpPr txBox="1"/>
          <p:nvPr/>
        </p:nvSpPr>
        <p:spPr>
          <a:xfrm>
            <a:off x="5089476" y="4245043"/>
            <a:ext cx="306070"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GAN</a:t>
            </a:r>
            <a:endParaRPr sz="1000">
              <a:solidFill>
                <a:prstClr val="black"/>
              </a:solidFill>
              <a:latin typeface="Verdana"/>
              <a:cs typeface="Verdana"/>
            </a:endParaRPr>
          </a:p>
        </p:txBody>
      </p:sp>
      <p:sp>
        <p:nvSpPr>
          <p:cNvPr id="48" name="object 48"/>
          <p:cNvSpPr txBox="1"/>
          <p:nvPr/>
        </p:nvSpPr>
        <p:spPr>
          <a:xfrm>
            <a:off x="6743816" y="4245043"/>
            <a:ext cx="306070"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GSN</a:t>
            </a:r>
            <a:endParaRPr sz="1000">
              <a:solidFill>
                <a:prstClr val="black"/>
              </a:solidFill>
              <a:latin typeface="Verdana"/>
              <a:cs typeface="Verdana"/>
            </a:endParaRPr>
          </a:p>
        </p:txBody>
      </p:sp>
      <p:grpSp>
        <p:nvGrpSpPr>
          <p:cNvPr id="49" name="object 49"/>
          <p:cNvGrpSpPr/>
          <p:nvPr/>
        </p:nvGrpSpPr>
        <p:grpSpPr>
          <a:xfrm>
            <a:off x="6805242" y="3966467"/>
            <a:ext cx="217804" cy="279400"/>
            <a:chOff x="6805242" y="3109217"/>
            <a:chExt cx="217804" cy="279400"/>
          </a:xfrm>
        </p:grpSpPr>
        <p:pic>
          <p:nvPicPr>
            <p:cNvPr id="50" name="object 50"/>
            <p:cNvPicPr/>
            <p:nvPr/>
          </p:nvPicPr>
          <p:blipFill>
            <a:blip r:embed="rId3" cstate="print"/>
            <a:stretch>
              <a:fillRect/>
            </a:stretch>
          </p:blipFill>
          <p:spPr>
            <a:xfrm>
              <a:off x="6817942" y="3121917"/>
              <a:ext cx="191978" cy="253601"/>
            </a:xfrm>
            <a:prstGeom prst="rect">
              <a:avLst/>
            </a:prstGeom>
          </p:spPr>
        </p:pic>
        <p:sp>
          <p:nvSpPr>
            <p:cNvPr id="51" name="object 51"/>
            <p:cNvSpPr/>
            <p:nvPr/>
          </p:nvSpPr>
          <p:spPr>
            <a:xfrm>
              <a:off x="6817942" y="3121917"/>
              <a:ext cx="192405" cy="254000"/>
            </a:xfrm>
            <a:custGeom>
              <a:avLst/>
              <a:gdLst/>
              <a:ahLst/>
              <a:cxnLst/>
              <a:rect l="l" t="t" r="r" b="b"/>
              <a:pathLst>
                <a:path w="192404" h="254000">
                  <a:moveTo>
                    <a:pt x="0" y="157611"/>
                  </a:moveTo>
                  <a:lnTo>
                    <a:pt x="47994" y="157611"/>
                  </a:lnTo>
                  <a:lnTo>
                    <a:pt x="47994" y="0"/>
                  </a:lnTo>
                  <a:lnTo>
                    <a:pt x="143983" y="0"/>
                  </a:lnTo>
                  <a:lnTo>
                    <a:pt x="143983" y="157611"/>
                  </a:lnTo>
                  <a:lnTo>
                    <a:pt x="191978" y="157611"/>
                  </a:lnTo>
                  <a:lnTo>
                    <a:pt x="95989" y="253601"/>
                  </a:lnTo>
                  <a:lnTo>
                    <a:pt x="0" y="157611"/>
                  </a:lnTo>
                  <a:close/>
                </a:path>
              </a:pathLst>
            </a:custGeom>
            <a:ln w="25399">
              <a:solidFill>
                <a:srgbClr val="43484C"/>
              </a:solidFill>
            </a:ln>
          </p:spPr>
          <p:txBody>
            <a:bodyPr wrap="square" lIns="0" tIns="0" rIns="0" bIns="0" rtlCol="0"/>
            <a:lstStyle/>
            <a:p>
              <a:endParaRPr>
                <a:solidFill>
                  <a:prstClr val="black"/>
                </a:solidFill>
                <a:latin typeface="Calibri"/>
              </a:endParaRPr>
            </a:p>
          </p:txBody>
        </p:sp>
      </p:grpSp>
      <p:sp>
        <p:nvSpPr>
          <p:cNvPr id="52" name="object 52"/>
          <p:cNvSpPr/>
          <p:nvPr/>
        </p:nvSpPr>
        <p:spPr>
          <a:xfrm>
            <a:off x="4877813" y="4222789"/>
            <a:ext cx="867410" cy="297180"/>
          </a:xfrm>
          <a:custGeom>
            <a:avLst/>
            <a:gdLst/>
            <a:ahLst/>
            <a:cxnLst/>
            <a:rect l="l" t="t" r="r" b="b"/>
            <a:pathLst>
              <a:path w="867410" h="297179">
                <a:moveTo>
                  <a:pt x="0" y="148437"/>
                </a:moveTo>
                <a:lnTo>
                  <a:pt x="22101" y="101519"/>
                </a:lnTo>
                <a:lnTo>
                  <a:pt x="83644" y="60772"/>
                </a:lnTo>
                <a:lnTo>
                  <a:pt x="126975" y="43476"/>
                </a:lnTo>
                <a:lnTo>
                  <a:pt x="177490" y="28639"/>
                </a:lnTo>
                <a:lnTo>
                  <a:pt x="234294" y="16568"/>
                </a:lnTo>
                <a:lnTo>
                  <a:pt x="296496" y="7567"/>
                </a:lnTo>
                <a:lnTo>
                  <a:pt x="363203" y="1942"/>
                </a:lnTo>
                <a:lnTo>
                  <a:pt x="433522" y="0"/>
                </a:lnTo>
                <a:lnTo>
                  <a:pt x="503842" y="1942"/>
                </a:lnTo>
                <a:lnTo>
                  <a:pt x="570549" y="7567"/>
                </a:lnTo>
                <a:lnTo>
                  <a:pt x="632751" y="16568"/>
                </a:lnTo>
                <a:lnTo>
                  <a:pt x="689556" y="28639"/>
                </a:lnTo>
                <a:lnTo>
                  <a:pt x="740070" y="43476"/>
                </a:lnTo>
                <a:lnTo>
                  <a:pt x="783401" y="60772"/>
                </a:lnTo>
                <a:lnTo>
                  <a:pt x="818656" y="80221"/>
                </a:lnTo>
                <a:lnTo>
                  <a:pt x="861371" y="124360"/>
                </a:lnTo>
                <a:lnTo>
                  <a:pt x="867045" y="148437"/>
                </a:lnTo>
                <a:lnTo>
                  <a:pt x="844944" y="195355"/>
                </a:lnTo>
                <a:lnTo>
                  <a:pt x="783401" y="236102"/>
                </a:lnTo>
                <a:lnTo>
                  <a:pt x="740070" y="253398"/>
                </a:lnTo>
                <a:lnTo>
                  <a:pt x="689556" y="268235"/>
                </a:lnTo>
                <a:lnTo>
                  <a:pt x="632751" y="280306"/>
                </a:lnTo>
                <a:lnTo>
                  <a:pt x="570549" y="289307"/>
                </a:lnTo>
                <a:lnTo>
                  <a:pt x="503842" y="294932"/>
                </a:lnTo>
                <a:lnTo>
                  <a:pt x="433522" y="296874"/>
                </a:lnTo>
                <a:lnTo>
                  <a:pt x="363203" y="294932"/>
                </a:lnTo>
                <a:lnTo>
                  <a:pt x="296496" y="289307"/>
                </a:lnTo>
                <a:lnTo>
                  <a:pt x="234294" y="280306"/>
                </a:lnTo>
                <a:lnTo>
                  <a:pt x="177490" y="268235"/>
                </a:lnTo>
                <a:lnTo>
                  <a:pt x="126975" y="253398"/>
                </a:lnTo>
                <a:lnTo>
                  <a:pt x="83644" y="236102"/>
                </a:lnTo>
                <a:lnTo>
                  <a:pt x="48389" y="216652"/>
                </a:lnTo>
                <a:lnTo>
                  <a:pt x="5674" y="172514"/>
                </a:lnTo>
                <a:lnTo>
                  <a:pt x="0" y="148437"/>
                </a:lnTo>
                <a:close/>
              </a:path>
            </a:pathLst>
          </a:custGeom>
          <a:ln w="25399">
            <a:solidFill>
              <a:srgbClr val="81042A"/>
            </a:solidFill>
          </a:ln>
        </p:spPr>
        <p:txBody>
          <a:bodyPr wrap="square" lIns="0" tIns="0" rIns="0" bIns="0" rtlCol="0"/>
          <a:lstStyle/>
          <a:p>
            <a:endParaRPr>
              <a:solidFill>
                <a:prstClr val="black"/>
              </a:solidFill>
              <a:latin typeface="Calibri"/>
            </a:endParaRPr>
          </a:p>
        </p:txBody>
      </p:sp>
      <p:pic>
        <p:nvPicPr>
          <p:cNvPr id="55" name="Picture 2" descr="E:\NIET\Project\xLogo11.png.pagespeed.ic.pydHLuCQEZ.png">
            <a:extLst>
              <a:ext uri="{FF2B5EF4-FFF2-40B4-BE49-F238E27FC236}">
                <a16:creationId xmlns:a16="http://schemas.microsoft.com/office/drawing/2014/main" id="{50E843D8-92B6-E2F1-0FF2-66F7DCBF8BA0}"/>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56" name="Title 1">
            <a:extLst>
              <a:ext uri="{FF2B5EF4-FFF2-40B4-BE49-F238E27FC236}">
                <a16:creationId xmlns:a16="http://schemas.microsoft.com/office/drawing/2014/main" id="{9262BBFF-5502-4308-9234-110EA6480A88}"/>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Taxonomy of Generative Models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object 12"/>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3406775" cy="330200"/>
          </a:xfrm>
          <a:prstGeom prst="rect">
            <a:avLst/>
          </a:prstGeom>
        </p:spPr>
        <p:txBody>
          <a:bodyPr vert="horz" wrap="square" lIns="0" tIns="12700" rIns="0" bIns="0" rtlCol="0">
            <a:spAutoFit/>
          </a:bodyPr>
          <a:lstStyle/>
          <a:p>
            <a:pPr marL="12700">
              <a:spcBef>
                <a:spcPts val="100"/>
              </a:spcBef>
            </a:pPr>
            <a:r>
              <a:rPr spc="-5" dirty="0"/>
              <a:t>Fully</a:t>
            </a:r>
            <a:r>
              <a:rPr spc="-35" dirty="0"/>
              <a:t> </a:t>
            </a:r>
            <a:r>
              <a:rPr spc="-5" dirty="0"/>
              <a:t>visible</a:t>
            </a:r>
            <a:r>
              <a:rPr spc="-30" dirty="0"/>
              <a:t> </a:t>
            </a:r>
            <a:r>
              <a:rPr spc="-5" dirty="0"/>
              <a:t>belief</a:t>
            </a:r>
            <a:r>
              <a:rPr spc="-30" dirty="0"/>
              <a:t> </a:t>
            </a:r>
            <a:r>
              <a:rPr spc="-5" dirty="0"/>
              <a:t>network</a:t>
            </a:r>
          </a:p>
        </p:txBody>
      </p:sp>
      <p:sp>
        <p:nvSpPr>
          <p:cNvPr id="3" name="object 3"/>
          <p:cNvSpPr txBox="1"/>
          <p:nvPr/>
        </p:nvSpPr>
        <p:spPr>
          <a:xfrm>
            <a:off x="431570" y="2177364"/>
            <a:ext cx="6675120" cy="548640"/>
          </a:xfrm>
          <a:prstGeom prst="rect">
            <a:avLst/>
          </a:prstGeom>
        </p:spPr>
        <p:txBody>
          <a:bodyPr vert="horz" wrap="square" lIns="0" tIns="91440" rIns="0" bIns="0" rtlCol="0">
            <a:spAutoFit/>
          </a:bodyPr>
          <a:lstStyle/>
          <a:p>
            <a:pPr marL="12700">
              <a:spcBef>
                <a:spcPts val="720"/>
              </a:spcBef>
            </a:pPr>
            <a:r>
              <a:rPr sz="1200" spc="-5" dirty="0">
                <a:solidFill>
                  <a:srgbClr val="313131"/>
                </a:solidFill>
                <a:latin typeface="Verdana"/>
                <a:cs typeface="Verdana"/>
              </a:rPr>
              <a:t>Explicit</a:t>
            </a:r>
            <a:r>
              <a:rPr sz="1200" spc="-40" dirty="0">
                <a:solidFill>
                  <a:srgbClr val="313131"/>
                </a:solidFill>
                <a:latin typeface="Verdana"/>
                <a:cs typeface="Verdana"/>
              </a:rPr>
              <a:t> </a:t>
            </a:r>
            <a:r>
              <a:rPr sz="1200" spc="-5" dirty="0">
                <a:solidFill>
                  <a:srgbClr val="313131"/>
                </a:solidFill>
                <a:latin typeface="Verdana"/>
                <a:cs typeface="Verdana"/>
              </a:rPr>
              <a:t>density</a:t>
            </a:r>
            <a:r>
              <a:rPr sz="1200" spc="-35" dirty="0">
                <a:solidFill>
                  <a:srgbClr val="313131"/>
                </a:solidFill>
                <a:latin typeface="Verdana"/>
                <a:cs typeface="Verdana"/>
              </a:rPr>
              <a:t> </a:t>
            </a:r>
            <a:r>
              <a:rPr sz="1200" spc="-5" dirty="0">
                <a:solidFill>
                  <a:srgbClr val="313131"/>
                </a:solidFill>
                <a:latin typeface="Verdana"/>
                <a:cs typeface="Verdana"/>
              </a:rPr>
              <a:t>model</a:t>
            </a:r>
            <a:endParaRPr sz="1200">
              <a:solidFill>
                <a:prstClr val="black"/>
              </a:solidFill>
              <a:latin typeface="Verdana"/>
              <a:cs typeface="Verdana"/>
            </a:endParaRPr>
          </a:p>
          <a:p>
            <a:pPr marL="12700">
              <a:spcBef>
                <a:spcPts val="620"/>
              </a:spcBef>
            </a:pPr>
            <a:r>
              <a:rPr sz="1200" spc="-5" dirty="0">
                <a:solidFill>
                  <a:srgbClr val="313131"/>
                </a:solidFill>
                <a:latin typeface="Verdana"/>
                <a:cs typeface="Verdana"/>
              </a:rPr>
              <a:t>Use</a:t>
            </a:r>
            <a:r>
              <a:rPr sz="1200" spc="-10" dirty="0">
                <a:solidFill>
                  <a:srgbClr val="313131"/>
                </a:solidFill>
                <a:latin typeface="Verdana"/>
                <a:cs typeface="Verdana"/>
              </a:rPr>
              <a:t> </a:t>
            </a:r>
            <a:r>
              <a:rPr sz="1200" spc="-5" dirty="0">
                <a:solidFill>
                  <a:srgbClr val="313131"/>
                </a:solidFill>
                <a:latin typeface="Verdana"/>
                <a:cs typeface="Verdana"/>
              </a:rPr>
              <a:t>chain rule</a:t>
            </a:r>
            <a:r>
              <a:rPr sz="1200" spc="-10" dirty="0">
                <a:solidFill>
                  <a:srgbClr val="313131"/>
                </a:solidFill>
                <a:latin typeface="Verdana"/>
                <a:cs typeface="Verdana"/>
              </a:rPr>
              <a:t> </a:t>
            </a:r>
            <a:r>
              <a:rPr sz="1200" spc="-5" dirty="0">
                <a:solidFill>
                  <a:srgbClr val="313131"/>
                </a:solidFill>
                <a:latin typeface="Verdana"/>
                <a:cs typeface="Verdana"/>
              </a:rPr>
              <a:t>to decompose</a:t>
            </a:r>
            <a:r>
              <a:rPr sz="1200" spc="-10" dirty="0">
                <a:solidFill>
                  <a:srgbClr val="313131"/>
                </a:solidFill>
                <a:latin typeface="Verdana"/>
                <a:cs typeface="Verdana"/>
              </a:rPr>
              <a:t> </a:t>
            </a:r>
            <a:r>
              <a:rPr sz="1200" spc="-5" dirty="0">
                <a:solidFill>
                  <a:srgbClr val="313131"/>
                </a:solidFill>
                <a:latin typeface="Verdana"/>
                <a:cs typeface="Verdana"/>
              </a:rPr>
              <a:t>likelihood of</a:t>
            </a:r>
            <a:r>
              <a:rPr sz="1200" spc="-10" dirty="0">
                <a:solidFill>
                  <a:srgbClr val="313131"/>
                </a:solidFill>
                <a:latin typeface="Verdana"/>
                <a:cs typeface="Verdana"/>
              </a:rPr>
              <a:t> </a:t>
            </a:r>
            <a:r>
              <a:rPr sz="1200" spc="-5" dirty="0">
                <a:solidFill>
                  <a:srgbClr val="313131"/>
                </a:solidFill>
                <a:latin typeface="Verdana"/>
                <a:cs typeface="Verdana"/>
              </a:rPr>
              <a:t>an image</a:t>
            </a:r>
            <a:r>
              <a:rPr sz="1200" spc="-10" dirty="0">
                <a:solidFill>
                  <a:srgbClr val="313131"/>
                </a:solidFill>
                <a:latin typeface="Verdana"/>
                <a:cs typeface="Verdana"/>
              </a:rPr>
              <a:t> </a:t>
            </a:r>
            <a:r>
              <a:rPr sz="1200" dirty="0">
                <a:solidFill>
                  <a:srgbClr val="313131"/>
                </a:solidFill>
                <a:latin typeface="Verdana"/>
                <a:cs typeface="Verdana"/>
              </a:rPr>
              <a:t>x</a:t>
            </a:r>
            <a:r>
              <a:rPr sz="1200" spc="-5" dirty="0">
                <a:solidFill>
                  <a:srgbClr val="313131"/>
                </a:solidFill>
                <a:latin typeface="Verdana"/>
                <a:cs typeface="Verdana"/>
              </a:rPr>
              <a:t> into</a:t>
            </a:r>
            <a:r>
              <a:rPr sz="1200" spc="-10" dirty="0">
                <a:solidFill>
                  <a:srgbClr val="313131"/>
                </a:solidFill>
                <a:latin typeface="Verdana"/>
                <a:cs typeface="Verdana"/>
              </a:rPr>
              <a:t> </a:t>
            </a:r>
            <a:r>
              <a:rPr sz="1200" spc="-5" dirty="0">
                <a:solidFill>
                  <a:srgbClr val="313131"/>
                </a:solidFill>
                <a:latin typeface="Verdana"/>
                <a:cs typeface="Verdana"/>
              </a:rPr>
              <a:t>product of</a:t>
            </a:r>
            <a:r>
              <a:rPr sz="1200" spc="-10" dirty="0">
                <a:solidFill>
                  <a:srgbClr val="313131"/>
                </a:solidFill>
                <a:latin typeface="Verdana"/>
                <a:cs typeface="Verdana"/>
              </a:rPr>
              <a:t> </a:t>
            </a:r>
            <a:r>
              <a:rPr sz="1200" spc="-5" dirty="0">
                <a:solidFill>
                  <a:srgbClr val="313131"/>
                </a:solidFill>
                <a:latin typeface="Verdana"/>
                <a:cs typeface="Verdana"/>
              </a:rPr>
              <a:t>1-d distributions:</a:t>
            </a:r>
            <a:endParaRPr sz="1200">
              <a:solidFill>
                <a:prstClr val="black"/>
              </a:solidFill>
              <a:latin typeface="Verdana"/>
              <a:cs typeface="Verdana"/>
            </a:endParaRPr>
          </a:p>
        </p:txBody>
      </p:sp>
      <p:sp>
        <p:nvSpPr>
          <p:cNvPr id="4" name="object 4"/>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grpSp>
        <p:nvGrpSpPr>
          <p:cNvPr id="5" name="object 5"/>
          <p:cNvGrpSpPr/>
          <p:nvPr/>
        </p:nvGrpSpPr>
        <p:grpSpPr>
          <a:xfrm>
            <a:off x="2041701" y="2956151"/>
            <a:ext cx="3511550" cy="990600"/>
            <a:chOff x="2041701" y="2098901"/>
            <a:chExt cx="3511550" cy="990600"/>
          </a:xfrm>
        </p:grpSpPr>
        <p:pic>
          <p:nvPicPr>
            <p:cNvPr id="6" name="object 6"/>
            <p:cNvPicPr/>
            <p:nvPr/>
          </p:nvPicPr>
          <p:blipFill>
            <a:blip r:embed="rId2" cstate="print"/>
            <a:stretch>
              <a:fillRect/>
            </a:stretch>
          </p:blipFill>
          <p:spPr>
            <a:xfrm>
              <a:off x="2345065" y="2751123"/>
              <a:ext cx="81980" cy="338074"/>
            </a:xfrm>
            <a:prstGeom prst="rect">
              <a:avLst/>
            </a:prstGeom>
          </p:spPr>
        </p:pic>
        <p:pic>
          <p:nvPicPr>
            <p:cNvPr id="7" name="object 7"/>
            <p:cNvPicPr/>
            <p:nvPr/>
          </p:nvPicPr>
          <p:blipFill>
            <a:blip r:embed="rId3" cstate="print"/>
            <a:stretch>
              <a:fillRect/>
            </a:stretch>
          </p:blipFill>
          <p:spPr>
            <a:xfrm>
              <a:off x="2041701" y="2098901"/>
              <a:ext cx="3511036" cy="746664"/>
            </a:xfrm>
            <a:prstGeom prst="rect">
              <a:avLst/>
            </a:prstGeom>
          </p:spPr>
        </p:pic>
        <p:pic>
          <p:nvPicPr>
            <p:cNvPr id="8" name="object 8"/>
            <p:cNvPicPr/>
            <p:nvPr/>
          </p:nvPicPr>
          <p:blipFill>
            <a:blip r:embed="rId4" cstate="print"/>
            <a:stretch>
              <a:fillRect/>
            </a:stretch>
          </p:blipFill>
          <p:spPr>
            <a:xfrm>
              <a:off x="3900716" y="2696515"/>
              <a:ext cx="81979" cy="338074"/>
            </a:xfrm>
            <a:prstGeom prst="rect">
              <a:avLst/>
            </a:prstGeom>
          </p:spPr>
        </p:pic>
      </p:grpSp>
      <p:sp>
        <p:nvSpPr>
          <p:cNvPr id="9" name="object 9"/>
          <p:cNvSpPr txBox="1"/>
          <p:nvPr/>
        </p:nvSpPr>
        <p:spPr>
          <a:xfrm>
            <a:off x="1970467" y="3980356"/>
            <a:ext cx="829944" cy="425450"/>
          </a:xfrm>
          <a:prstGeom prst="rect">
            <a:avLst/>
          </a:prstGeom>
        </p:spPr>
        <p:txBody>
          <a:bodyPr vert="horz" wrap="square" lIns="0" tIns="12700" rIns="0" bIns="0" rtlCol="0">
            <a:spAutoFit/>
          </a:bodyPr>
          <a:lstStyle/>
          <a:p>
            <a:pPr algn="ctr">
              <a:spcBef>
                <a:spcPts val="100"/>
              </a:spcBef>
            </a:pPr>
            <a:r>
              <a:rPr sz="1000" spc="-5" dirty="0">
                <a:solidFill>
                  <a:prstClr val="black"/>
                </a:solidFill>
                <a:latin typeface="Verdana"/>
                <a:cs typeface="Verdana"/>
              </a:rPr>
              <a:t>Likelihood</a:t>
            </a:r>
            <a:r>
              <a:rPr sz="1000" spc="-65" dirty="0">
                <a:solidFill>
                  <a:prstClr val="black"/>
                </a:solidFill>
                <a:latin typeface="Verdana"/>
                <a:cs typeface="Verdana"/>
              </a:rPr>
              <a:t> </a:t>
            </a:r>
            <a:r>
              <a:rPr sz="1000" spc="-5" dirty="0">
                <a:solidFill>
                  <a:prstClr val="black"/>
                </a:solidFill>
                <a:latin typeface="Verdana"/>
                <a:cs typeface="Verdana"/>
              </a:rPr>
              <a:t>of</a:t>
            </a:r>
            <a:endParaRPr sz="1000">
              <a:solidFill>
                <a:prstClr val="black"/>
              </a:solidFill>
              <a:latin typeface="Verdana"/>
              <a:cs typeface="Verdana"/>
            </a:endParaRPr>
          </a:p>
          <a:p>
            <a:pPr marL="13970" algn="ctr">
              <a:spcBef>
                <a:spcPts val="750"/>
              </a:spcBef>
            </a:pPr>
            <a:r>
              <a:rPr sz="1000" spc="-5" dirty="0">
                <a:solidFill>
                  <a:prstClr val="black"/>
                </a:solidFill>
                <a:latin typeface="Verdana"/>
                <a:cs typeface="Verdana"/>
              </a:rPr>
              <a:t>image</a:t>
            </a:r>
            <a:r>
              <a:rPr sz="1000" spc="-55" dirty="0">
                <a:solidFill>
                  <a:prstClr val="black"/>
                </a:solidFill>
                <a:latin typeface="Verdana"/>
                <a:cs typeface="Verdana"/>
              </a:rPr>
              <a:t> </a:t>
            </a:r>
            <a:r>
              <a:rPr sz="1000" dirty="0">
                <a:solidFill>
                  <a:prstClr val="black"/>
                </a:solidFill>
                <a:latin typeface="Verdana"/>
                <a:cs typeface="Verdana"/>
              </a:rPr>
              <a:t>x</a:t>
            </a:r>
            <a:endParaRPr sz="1000">
              <a:solidFill>
                <a:prstClr val="black"/>
              </a:solidFill>
              <a:latin typeface="Verdana"/>
              <a:cs typeface="Verdana"/>
            </a:endParaRPr>
          </a:p>
        </p:txBody>
      </p:sp>
      <p:sp>
        <p:nvSpPr>
          <p:cNvPr id="10" name="object 10"/>
          <p:cNvSpPr txBox="1"/>
          <p:nvPr/>
        </p:nvSpPr>
        <p:spPr>
          <a:xfrm>
            <a:off x="3628067" y="3971273"/>
            <a:ext cx="1837055" cy="425450"/>
          </a:xfrm>
          <a:prstGeom prst="rect">
            <a:avLst/>
          </a:prstGeom>
        </p:spPr>
        <p:txBody>
          <a:bodyPr vert="horz" wrap="square" lIns="0" tIns="12700" rIns="0" bIns="0" rtlCol="0">
            <a:spAutoFit/>
          </a:bodyPr>
          <a:lstStyle/>
          <a:p>
            <a:pPr algn="ctr">
              <a:spcBef>
                <a:spcPts val="100"/>
              </a:spcBef>
            </a:pPr>
            <a:r>
              <a:rPr sz="1000" spc="-5" dirty="0">
                <a:solidFill>
                  <a:prstClr val="black"/>
                </a:solidFill>
                <a:latin typeface="Verdana"/>
                <a:cs typeface="Verdana"/>
              </a:rPr>
              <a:t>Probability</a:t>
            </a:r>
            <a:r>
              <a:rPr sz="1000" spc="-25" dirty="0">
                <a:solidFill>
                  <a:prstClr val="black"/>
                </a:solidFill>
                <a:latin typeface="Verdana"/>
                <a:cs typeface="Verdana"/>
              </a:rPr>
              <a:t> </a:t>
            </a:r>
            <a:r>
              <a:rPr sz="1000" spc="-5" dirty="0">
                <a:solidFill>
                  <a:prstClr val="black"/>
                </a:solidFill>
                <a:latin typeface="Verdana"/>
                <a:cs typeface="Verdana"/>
              </a:rPr>
              <a:t>of</a:t>
            </a:r>
            <a:r>
              <a:rPr sz="1000" spc="-20" dirty="0">
                <a:solidFill>
                  <a:prstClr val="black"/>
                </a:solidFill>
                <a:latin typeface="Verdana"/>
                <a:cs typeface="Verdana"/>
              </a:rPr>
              <a:t> </a:t>
            </a:r>
            <a:r>
              <a:rPr sz="1000" spc="-5" dirty="0">
                <a:solidFill>
                  <a:prstClr val="black"/>
                </a:solidFill>
                <a:latin typeface="Verdana"/>
                <a:cs typeface="Verdana"/>
              </a:rPr>
              <a:t>i’th</a:t>
            </a:r>
            <a:r>
              <a:rPr sz="1000" spc="-20" dirty="0">
                <a:solidFill>
                  <a:prstClr val="black"/>
                </a:solidFill>
                <a:latin typeface="Verdana"/>
                <a:cs typeface="Verdana"/>
              </a:rPr>
              <a:t> </a:t>
            </a:r>
            <a:r>
              <a:rPr sz="1000" spc="-5" dirty="0">
                <a:solidFill>
                  <a:prstClr val="black"/>
                </a:solidFill>
                <a:latin typeface="Verdana"/>
                <a:cs typeface="Verdana"/>
              </a:rPr>
              <a:t>pixel</a:t>
            </a:r>
            <a:r>
              <a:rPr sz="1000" spc="-25" dirty="0">
                <a:solidFill>
                  <a:prstClr val="black"/>
                </a:solidFill>
                <a:latin typeface="Verdana"/>
                <a:cs typeface="Verdana"/>
              </a:rPr>
              <a:t> </a:t>
            </a:r>
            <a:r>
              <a:rPr sz="1000" spc="-5" dirty="0">
                <a:solidFill>
                  <a:prstClr val="black"/>
                </a:solidFill>
                <a:latin typeface="Verdana"/>
                <a:cs typeface="Verdana"/>
              </a:rPr>
              <a:t>value</a:t>
            </a:r>
            <a:endParaRPr sz="1000">
              <a:solidFill>
                <a:prstClr val="black"/>
              </a:solidFill>
              <a:latin typeface="Verdana"/>
              <a:cs typeface="Verdana"/>
            </a:endParaRPr>
          </a:p>
          <a:p>
            <a:pPr marL="1270" algn="ctr">
              <a:spcBef>
                <a:spcPts val="750"/>
              </a:spcBef>
            </a:pPr>
            <a:r>
              <a:rPr sz="1000" spc="-5" dirty="0">
                <a:solidFill>
                  <a:prstClr val="black"/>
                </a:solidFill>
                <a:latin typeface="Verdana"/>
                <a:cs typeface="Verdana"/>
              </a:rPr>
              <a:t>given</a:t>
            </a:r>
            <a:r>
              <a:rPr sz="1000" spc="-30" dirty="0">
                <a:solidFill>
                  <a:prstClr val="black"/>
                </a:solidFill>
                <a:latin typeface="Verdana"/>
                <a:cs typeface="Verdana"/>
              </a:rPr>
              <a:t> </a:t>
            </a:r>
            <a:r>
              <a:rPr sz="1000" spc="-5" dirty="0">
                <a:solidFill>
                  <a:prstClr val="black"/>
                </a:solidFill>
                <a:latin typeface="Verdana"/>
                <a:cs typeface="Verdana"/>
              </a:rPr>
              <a:t>all</a:t>
            </a:r>
            <a:r>
              <a:rPr sz="1000" spc="-25" dirty="0">
                <a:solidFill>
                  <a:prstClr val="black"/>
                </a:solidFill>
                <a:latin typeface="Verdana"/>
                <a:cs typeface="Verdana"/>
              </a:rPr>
              <a:t> </a:t>
            </a:r>
            <a:r>
              <a:rPr sz="1000" spc="-5" dirty="0">
                <a:solidFill>
                  <a:prstClr val="black"/>
                </a:solidFill>
                <a:latin typeface="Verdana"/>
                <a:cs typeface="Verdana"/>
              </a:rPr>
              <a:t>previous</a:t>
            </a:r>
            <a:r>
              <a:rPr sz="1000" spc="-25" dirty="0">
                <a:solidFill>
                  <a:prstClr val="black"/>
                </a:solidFill>
                <a:latin typeface="Verdana"/>
                <a:cs typeface="Verdana"/>
              </a:rPr>
              <a:t> </a:t>
            </a:r>
            <a:r>
              <a:rPr sz="1000" dirty="0">
                <a:solidFill>
                  <a:prstClr val="black"/>
                </a:solidFill>
                <a:latin typeface="Verdana"/>
                <a:cs typeface="Verdana"/>
              </a:rPr>
              <a:t>pixels</a:t>
            </a:r>
            <a:endParaRPr sz="1000">
              <a:solidFill>
                <a:prstClr val="black"/>
              </a:solidFill>
              <a:latin typeface="Verdana"/>
              <a:cs typeface="Verdana"/>
            </a:endParaRPr>
          </a:p>
        </p:txBody>
      </p:sp>
      <p:sp>
        <p:nvSpPr>
          <p:cNvPr id="11" name="object 11"/>
          <p:cNvSpPr txBox="1"/>
          <p:nvPr/>
        </p:nvSpPr>
        <p:spPr>
          <a:xfrm>
            <a:off x="501220" y="4909897"/>
            <a:ext cx="3196590" cy="19749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Then</a:t>
            </a:r>
            <a:r>
              <a:rPr sz="1200" spc="-20" dirty="0">
                <a:solidFill>
                  <a:srgbClr val="313131"/>
                </a:solidFill>
                <a:latin typeface="Verdana"/>
                <a:cs typeface="Verdana"/>
              </a:rPr>
              <a:t> </a:t>
            </a:r>
            <a:r>
              <a:rPr sz="1200" spc="-5" dirty="0">
                <a:solidFill>
                  <a:srgbClr val="313131"/>
                </a:solidFill>
                <a:latin typeface="Verdana"/>
                <a:cs typeface="Verdana"/>
              </a:rPr>
              <a:t>maximize</a:t>
            </a:r>
            <a:r>
              <a:rPr sz="1200" spc="-20" dirty="0">
                <a:solidFill>
                  <a:srgbClr val="313131"/>
                </a:solidFill>
                <a:latin typeface="Verdana"/>
                <a:cs typeface="Verdana"/>
              </a:rPr>
              <a:t> </a:t>
            </a:r>
            <a:r>
              <a:rPr sz="1200" spc="-5" dirty="0">
                <a:solidFill>
                  <a:srgbClr val="313131"/>
                </a:solidFill>
                <a:latin typeface="Verdana"/>
                <a:cs typeface="Verdana"/>
              </a:rPr>
              <a:t>likelihood</a:t>
            </a:r>
            <a:r>
              <a:rPr sz="1200" spc="-20" dirty="0">
                <a:solidFill>
                  <a:srgbClr val="313131"/>
                </a:solidFill>
                <a:latin typeface="Verdana"/>
                <a:cs typeface="Verdana"/>
              </a:rPr>
              <a:t> </a:t>
            </a:r>
            <a:r>
              <a:rPr sz="1200" spc="-5" dirty="0">
                <a:solidFill>
                  <a:srgbClr val="313131"/>
                </a:solidFill>
                <a:latin typeface="Verdana"/>
                <a:cs typeface="Verdana"/>
              </a:rPr>
              <a:t>of</a:t>
            </a:r>
            <a:r>
              <a:rPr sz="1200" spc="-15" dirty="0">
                <a:solidFill>
                  <a:srgbClr val="313131"/>
                </a:solidFill>
                <a:latin typeface="Verdana"/>
                <a:cs typeface="Verdana"/>
              </a:rPr>
              <a:t> </a:t>
            </a:r>
            <a:r>
              <a:rPr sz="1200" spc="-5" dirty="0">
                <a:solidFill>
                  <a:srgbClr val="313131"/>
                </a:solidFill>
                <a:latin typeface="Verdana"/>
                <a:cs typeface="Verdana"/>
              </a:rPr>
              <a:t>training</a:t>
            </a:r>
            <a:r>
              <a:rPr sz="1200" spc="-20" dirty="0">
                <a:solidFill>
                  <a:srgbClr val="313131"/>
                </a:solidFill>
                <a:latin typeface="Verdana"/>
                <a:cs typeface="Verdana"/>
              </a:rPr>
              <a:t> </a:t>
            </a:r>
            <a:r>
              <a:rPr sz="1200" spc="-5" dirty="0">
                <a:solidFill>
                  <a:srgbClr val="313131"/>
                </a:solidFill>
                <a:latin typeface="Verdana"/>
                <a:cs typeface="Verdana"/>
              </a:rPr>
              <a:t>data</a:t>
            </a:r>
            <a:endParaRPr sz="1200">
              <a:solidFill>
                <a:prstClr val="black"/>
              </a:solidFill>
              <a:latin typeface="Verdana"/>
              <a:cs typeface="Verdana"/>
            </a:endParaRPr>
          </a:p>
        </p:txBody>
      </p:sp>
      <p:pic>
        <p:nvPicPr>
          <p:cNvPr id="14" name="Picture 2" descr="E:\NIET\Project\xLogo11.png.pagespeed.ic.pydHLuCQEZ.png">
            <a:extLst>
              <a:ext uri="{FF2B5EF4-FFF2-40B4-BE49-F238E27FC236}">
                <a16:creationId xmlns:a16="http://schemas.microsoft.com/office/drawing/2014/main" id="{87842ACA-E830-C155-3AD2-449A7CF66BD9}"/>
              </a:ext>
            </a:extLst>
          </p:cNvPr>
          <p:cNvPicPr>
            <a:picLocks noChangeAspect="1" noChangeArrowheads="1"/>
          </p:cNvPicPr>
          <p:nvPr/>
        </p:nvPicPr>
        <p:blipFill>
          <a:blip r:embed="rId5"/>
          <a:srcRect/>
          <a:stretch>
            <a:fillRect/>
          </a:stretch>
        </p:blipFill>
        <p:spPr bwMode="auto">
          <a:xfrm>
            <a:off x="0" y="0"/>
            <a:ext cx="1447800" cy="817163"/>
          </a:xfrm>
          <a:prstGeom prst="rect">
            <a:avLst/>
          </a:prstGeom>
          <a:noFill/>
        </p:spPr>
      </p:pic>
      <p:sp>
        <p:nvSpPr>
          <p:cNvPr id="15" name="Title 1">
            <a:extLst>
              <a:ext uri="{FF2B5EF4-FFF2-40B4-BE49-F238E27FC236}">
                <a16:creationId xmlns:a16="http://schemas.microsoft.com/office/drawing/2014/main" id="{004A5FC0-9589-20F1-4926-31156CDBAC0F}"/>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Fully visible belief network</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object 13"/>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3406775" cy="330200"/>
          </a:xfrm>
          <a:prstGeom prst="rect">
            <a:avLst/>
          </a:prstGeom>
        </p:spPr>
        <p:txBody>
          <a:bodyPr vert="horz" wrap="square" lIns="0" tIns="12700" rIns="0" bIns="0" rtlCol="0">
            <a:spAutoFit/>
          </a:bodyPr>
          <a:lstStyle/>
          <a:p>
            <a:pPr marL="12700">
              <a:spcBef>
                <a:spcPts val="100"/>
              </a:spcBef>
            </a:pPr>
            <a:r>
              <a:rPr spc="-5" dirty="0"/>
              <a:t>Fully</a:t>
            </a:r>
            <a:r>
              <a:rPr spc="-35" dirty="0"/>
              <a:t> </a:t>
            </a:r>
            <a:r>
              <a:rPr spc="-5" dirty="0"/>
              <a:t>visible</a:t>
            </a:r>
            <a:r>
              <a:rPr spc="-30" dirty="0"/>
              <a:t> </a:t>
            </a:r>
            <a:r>
              <a:rPr spc="-5" dirty="0"/>
              <a:t>belief</a:t>
            </a:r>
            <a:r>
              <a:rPr spc="-30" dirty="0"/>
              <a:t> </a:t>
            </a:r>
            <a:r>
              <a:rPr spc="-5" dirty="0"/>
              <a:t>network</a:t>
            </a:r>
          </a:p>
        </p:txBody>
      </p:sp>
      <p:sp>
        <p:nvSpPr>
          <p:cNvPr id="3" name="object 3"/>
          <p:cNvSpPr txBox="1"/>
          <p:nvPr/>
        </p:nvSpPr>
        <p:spPr>
          <a:xfrm>
            <a:off x="431570" y="2177364"/>
            <a:ext cx="6675120" cy="548640"/>
          </a:xfrm>
          <a:prstGeom prst="rect">
            <a:avLst/>
          </a:prstGeom>
        </p:spPr>
        <p:txBody>
          <a:bodyPr vert="horz" wrap="square" lIns="0" tIns="91440" rIns="0" bIns="0" rtlCol="0">
            <a:spAutoFit/>
          </a:bodyPr>
          <a:lstStyle/>
          <a:p>
            <a:pPr marL="12700">
              <a:spcBef>
                <a:spcPts val="720"/>
              </a:spcBef>
            </a:pPr>
            <a:r>
              <a:rPr sz="1200" spc="-5" dirty="0">
                <a:solidFill>
                  <a:srgbClr val="313131"/>
                </a:solidFill>
                <a:latin typeface="Verdana"/>
                <a:cs typeface="Verdana"/>
              </a:rPr>
              <a:t>Explicit</a:t>
            </a:r>
            <a:r>
              <a:rPr sz="1200" spc="-40" dirty="0">
                <a:solidFill>
                  <a:srgbClr val="313131"/>
                </a:solidFill>
                <a:latin typeface="Verdana"/>
                <a:cs typeface="Verdana"/>
              </a:rPr>
              <a:t> </a:t>
            </a:r>
            <a:r>
              <a:rPr sz="1200" spc="-5" dirty="0">
                <a:solidFill>
                  <a:srgbClr val="313131"/>
                </a:solidFill>
                <a:latin typeface="Verdana"/>
                <a:cs typeface="Verdana"/>
              </a:rPr>
              <a:t>density</a:t>
            </a:r>
            <a:r>
              <a:rPr sz="1200" spc="-35" dirty="0">
                <a:solidFill>
                  <a:srgbClr val="313131"/>
                </a:solidFill>
                <a:latin typeface="Verdana"/>
                <a:cs typeface="Verdana"/>
              </a:rPr>
              <a:t> </a:t>
            </a:r>
            <a:r>
              <a:rPr sz="1200" spc="-5" dirty="0">
                <a:solidFill>
                  <a:srgbClr val="313131"/>
                </a:solidFill>
                <a:latin typeface="Verdana"/>
                <a:cs typeface="Verdana"/>
              </a:rPr>
              <a:t>model</a:t>
            </a:r>
            <a:endParaRPr sz="1200">
              <a:solidFill>
                <a:prstClr val="black"/>
              </a:solidFill>
              <a:latin typeface="Verdana"/>
              <a:cs typeface="Verdana"/>
            </a:endParaRPr>
          </a:p>
          <a:p>
            <a:pPr marL="12700">
              <a:spcBef>
                <a:spcPts val="620"/>
              </a:spcBef>
            </a:pPr>
            <a:r>
              <a:rPr sz="1200" spc="-5" dirty="0">
                <a:solidFill>
                  <a:srgbClr val="313131"/>
                </a:solidFill>
                <a:latin typeface="Verdana"/>
                <a:cs typeface="Verdana"/>
              </a:rPr>
              <a:t>Use</a:t>
            </a:r>
            <a:r>
              <a:rPr sz="1200" spc="-10" dirty="0">
                <a:solidFill>
                  <a:srgbClr val="313131"/>
                </a:solidFill>
                <a:latin typeface="Verdana"/>
                <a:cs typeface="Verdana"/>
              </a:rPr>
              <a:t> </a:t>
            </a:r>
            <a:r>
              <a:rPr sz="1200" spc="-5" dirty="0">
                <a:solidFill>
                  <a:srgbClr val="313131"/>
                </a:solidFill>
                <a:latin typeface="Verdana"/>
                <a:cs typeface="Verdana"/>
              </a:rPr>
              <a:t>chain rule</a:t>
            </a:r>
            <a:r>
              <a:rPr sz="1200" spc="-10" dirty="0">
                <a:solidFill>
                  <a:srgbClr val="313131"/>
                </a:solidFill>
                <a:latin typeface="Verdana"/>
                <a:cs typeface="Verdana"/>
              </a:rPr>
              <a:t> </a:t>
            </a:r>
            <a:r>
              <a:rPr sz="1200" spc="-5" dirty="0">
                <a:solidFill>
                  <a:srgbClr val="313131"/>
                </a:solidFill>
                <a:latin typeface="Verdana"/>
                <a:cs typeface="Verdana"/>
              </a:rPr>
              <a:t>to decompose</a:t>
            </a:r>
            <a:r>
              <a:rPr sz="1200" spc="-10" dirty="0">
                <a:solidFill>
                  <a:srgbClr val="313131"/>
                </a:solidFill>
                <a:latin typeface="Verdana"/>
                <a:cs typeface="Verdana"/>
              </a:rPr>
              <a:t> </a:t>
            </a:r>
            <a:r>
              <a:rPr sz="1200" spc="-5" dirty="0">
                <a:solidFill>
                  <a:srgbClr val="313131"/>
                </a:solidFill>
                <a:latin typeface="Verdana"/>
                <a:cs typeface="Verdana"/>
              </a:rPr>
              <a:t>likelihood of</a:t>
            </a:r>
            <a:r>
              <a:rPr sz="1200" spc="-10" dirty="0">
                <a:solidFill>
                  <a:srgbClr val="313131"/>
                </a:solidFill>
                <a:latin typeface="Verdana"/>
                <a:cs typeface="Verdana"/>
              </a:rPr>
              <a:t> </a:t>
            </a:r>
            <a:r>
              <a:rPr sz="1200" spc="-5" dirty="0">
                <a:solidFill>
                  <a:srgbClr val="313131"/>
                </a:solidFill>
                <a:latin typeface="Verdana"/>
                <a:cs typeface="Verdana"/>
              </a:rPr>
              <a:t>an image</a:t>
            </a:r>
            <a:r>
              <a:rPr sz="1200" spc="-10" dirty="0">
                <a:solidFill>
                  <a:srgbClr val="313131"/>
                </a:solidFill>
                <a:latin typeface="Verdana"/>
                <a:cs typeface="Verdana"/>
              </a:rPr>
              <a:t> </a:t>
            </a:r>
            <a:r>
              <a:rPr sz="1200" dirty="0">
                <a:solidFill>
                  <a:srgbClr val="313131"/>
                </a:solidFill>
                <a:latin typeface="Verdana"/>
                <a:cs typeface="Verdana"/>
              </a:rPr>
              <a:t>x</a:t>
            </a:r>
            <a:r>
              <a:rPr sz="1200" spc="-5" dirty="0">
                <a:solidFill>
                  <a:srgbClr val="313131"/>
                </a:solidFill>
                <a:latin typeface="Verdana"/>
                <a:cs typeface="Verdana"/>
              </a:rPr>
              <a:t> into</a:t>
            </a:r>
            <a:r>
              <a:rPr sz="1200" spc="-10" dirty="0">
                <a:solidFill>
                  <a:srgbClr val="313131"/>
                </a:solidFill>
                <a:latin typeface="Verdana"/>
                <a:cs typeface="Verdana"/>
              </a:rPr>
              <a:t> </a:t>
            </a:r>
            <a:r>
              <a:rPr sz="1200" spc="-5" dirty="0">
                <a:solidFill>
                  <a:srgbClr val="313131"/>
                </a:solidFill>
                <a:latin typeface="Verdana"/>
                <a:cs typeface="Verdana"/>
              </a:rPr>
              <a:t>product of</a:t>
            </a:r>
            <a:r>
              <a:rPr sz="1200" spc="-10" dirty="0">
                <a:solidFill>
                  <a:srgbClr val="313131"/>
                </a:solidFill>
                <a:latin typeface="Verdana"/>
                <a:cs typeface="Verdana"/>
              </a:rPr>
              <a:t> </a:t>
            </a:r>
            <a:r>
              <a:rPr sz="1200" spc="-5" dirty="0">
                <a:solidFill>
                  <a:srgbClr val="313131"/>
                </a:solidFill>
                <a:latin typeface="Verdana"/>
                <a:cs typeface="Verdana"/>
              </a:rPr>
              <a:t>1-d distributions:</a:t>
            </a:r>
            <a:endParaRPr sz="1200">
              <a:solidFill>
                <a:prstClr val="black"/>
              </a:solidFill>
              <a:latin typeface="Verdana"/>
              <a:cs typeface="Verdana"/>
            </a:endParaRPr>
          </a:p>
        </p:txBody>
      </p:sp>
      <p:sp>
        <p:nvSpPr>
          <p:cNvPr id="4" name="object 4"/>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grpSp>
        <p:nvGrpSpPr>
          <p:cNvPr id="5" name="object 5"/>
          <p:cNvGrpSpPr/>
          <p:nvPr/>
        </p:nvGrpSpPr>
        <p:grpSpPr>
          <a:xfrm>
            <a:off x="2041701" y="2956151"/>
            <a:ext cx="3511550" cy="990600"/>
            <a:chOff x="2041701" y="2098901"/>
            <a:chExt cx="3511550" cy="990600"/>
          </a:xfrm>
        </p:grpSpPr>
        <p:pic>
          <p:nvPicPr>
            <p:cNvPr id="6" name="object 6"/>
            <p:cNvPicPr/>
            <p:nvPr/>
          </p:nvPicPr>
          <p:blipFill>
            <a:blip r:embed="rId2" cstate="print"/>
            <a:stretch>
              <a:fillRect/>
            </a:stretch>
          </p:blipFill>
          <p:spPr>
            <a:xfrm>
              <a:off x="2345065" y="2751123"/>
              <a:ext cx="81980" cy="338074"/>
            </a:xfrm>
            <a:prstGeom prst="rect">
              <a:avLst/>
            </a:prstGeom>
          </p:spPr>
        </p:pic>
        <p:pic>
          <p:nvPicPr>
            <p:cNvPr id="7" name="object 7"/>
            <p:cNvPicPr/>
            <p:nvPr/>
          </p:nvPicPr>
          <p:blipFill>
            <a:blip r:embed="rId3" cstate="print"/>
            <a:stretch>
              <a:fillRect/>
            </a:stretch>
          </p:blipFill>
          <p:spPr>
            <a:xfrm>
              <a:off x="2041701" y="2098901"/>
              <a:ext cx="3511036" cy="746664"/>
            </a:xfrm>
            <a:prstGeom prst="rect">
              <a:avLst/>
            </a:prstGeom>
          </p:spPr>
        </p:pic>
        <p:pic>
          <p:nvPicPr>
            <p:cNvPr id="8" name="object 8"/>
            <p:cNvPicPr/>
            <p:nvPr/>
          </p:nvPicPr>
          <p:blipFill>
            <a:blip r:embed="rId4" cstate="print"/>
            <a:stretch>
              <a:fillRect/>
            </a:stretch>
          </p:blipFill>
          <p:spPr>
            <a:xfrm>
              <a:off x="3900716" y="2696515"/>
              <a:ext cx="81979" cy="338074"/>
            </a:xfrm>
            <a:prstGeom prst="rect">
              <a:avLst/>
            </a:prstGeom>
          </p:spPr>
        </p:pic>
      </p:grpSp>
      <p:sp>
        <p:nvSpPr>
          <p:cNvPr id="9" name="object 9"/>
          <p:cNvSpPr txBox="1"/>
          <p:nvPr/>
        </p:nvSpPr>
        <p:spPr>
          <a:xfrm>
            <a:off x="1970467" y="3980356"/>
            <a:ext cx="829944" cy="425450"/>
          </a:xfrm>
          <a:prstGeom prst="rect">
            <a:avLst/>
          </a:prstGeom>
        </p:spPr>
        <p:txBody>
          <a:bodyPr vert="horz" wrap="square" lIns="0" tIns="12700" rIns="0" bIns="0" rtlCol="0">
            <a:spAutoFit/>
          </a:bodyPr>
          <a:lstStyle/>
          <a:p>
            <a:pPr algn="ctr">
              <a:spcBef>
                <a:spcPts val="100"/>
              </a:spcBef>
            </a:pPr>
            <a:r>
              <a:rPr sz="1000" spc="-5" dirty="0">
                <a:solidFill>
                  <a:prstClr val="black"/>
                </a:solidFill>
                <a:latin typeface="Verdana"/>
                <a:cs typeface="Verdana"/>
              </a:rPr>
              <a:t>Likelihood</a:t>
            </a:r>
            <a:r>
              <a:rPr sz="1000" spc="-65" dirty="0">
                <a:solidFill>
                  <a:prstClr val="black"/>
                </a:solidFill>
                <a:latin typeface="Verdana"/>
                <a:cs typeface="Verdana"/>
              </a:rPr>
              <a:t> </a:t>
            </a:r>
            <a:r>
              <a:rPr sz="1000" spc="-5" dirty="0">
                <a:solidFill>
                  <a:prstClr val="black"/>
                </a:solidFill>
                <a:latin typeface="Verdana"/>
                <a:cs typeface="Verdana"/>
              </a:rPr>
              <a:t>of</a:t>
            </a:r>
            <a:endParaRPr sz="1000">
              <a:solidFill>
                <a:prstClr val="black"/>
              </a:solidFill>
              <a:latin typeface="Verdana"/>
              <a:cs typeface="Verdana"/>
            </a:endParaRPr>
          </a:p>
          <a:p>
            <a:pPr marL="13970" algn="ctr">
              <a:spcBef>
                <a:spcPts val="750"/>
              </a:spcBef>
            </a:pPr>
            <a:r>
              <a:rPr sz="1000" spc="-5" dirty="0">
                <a:solidFill>
                  <a:prstClr val="black"/>
                </a:solidFill>
                <a:latin typeface="Verdana"/>
                <a:cs typeface="Verdana"/>
              </a:rPr>
              <a:t>image</a:t>
            </a:r>
            <a:r>
              <a:rPr sz="1000" spc="-55" dirty="0">
                <a:solidFill>
                  <a:prstClr val="black"/>
                </a:solidFill>
                <a:latin typeface="Verdana"/>
                <a:cs typeface="Verdana"/>
              </a:rPr>
              <a:t> </a:t>
            </a:r>
            <a:r>
              <a:rPr sz="1000" dirty="0">
                <a:solidFill>
                  <a:prstClr val="black"/>
                </a:solidFill>
                <a:latin typeface="Verdana"/>
                <a:cs typeface="Verdana"/>
              </a:rPr>
              <a:t>x</a:t>
            </a:r>
            <a:endParaRPr sz="1000">
              <a:solidFill>
                <a:prstClr val="black"/>
              </a:solidFill>
              <a:latin typeface="Verdana"/>
              <a:cs typeface="Verdana"/>
            </a:endParaRPr>
          </a:p>
        </p:txBody>
      </p:sp>
      <p:sp>
        <p:nvSpPr>
          <p:cNvPr id="10" name="object 10"/>
          <p:cNvSpPr txBox="1"/>
          <p:nvPr/>
        </p:nvSpPr>
        <p:spPr>
          <a:xfrm>
            <a:off x="3628067" y="3971274"/>
            <a:ext cx="3921125" cy="869469"/>
          </a:xfrm>
          <a:prstGeom prst="rect">
            <a:avLst/>
          </a:prstGeom>
        </p:spPr>
        <p:txBody>
          <a:bodyPr vert="horz" wrap="square" lIns="0" tIns="12700" rIns="0" bIns="0" rtlCol="0">
            <a:spAutoFit/>
          </a:bodyPr>
          <a:lstStyle/>
          <a:p>
            <a:pPr marR="2075814" algn="ctr">
              <a:spcBef>
                <a:spcPts val="100"/>
              </a:spcBef>
            </a:pPr>
            <a:r>
              <a:rPr sz="1000" spc="-5" dirty="0">
                <a:solidFill>
                  <a:prstClr val="black"/>
                </a:solidFill>
                <a:latin typeface="Verdana"/>
                <a:cs typeface="Verdana"/>
              </a:rPr>
              <a:t>Probability</a:t>
            </a:r>
            <a:r>
              <a:rPr sz="1000" spc="-25" dirty="0">
                <a:solidFill>
                  <a:prstClr val="black"/>
                </a:solidFill>
                <a:latin typeface="Verdana"/>
                <a:cs typeface="Verdana"/>
              </a:rPr>
              <a:t> </a:t>
            </a:r>
            <a:r>
              <a:rPr sz="1000" spc="-5" dirty="0">
                <a:solidFill>
                  <a:prstClr val="black"/>
                </a:solidFill>
                <a:latin typeface="Verdana"/>
                <a:cs typeface="Verdana"/>
              </a:rPr>
              <a:t>of</a:t>
            </a:r>
            <a:r>
              <a:rPr sz="1000" spc="-20" dirty="0">
                <a:solidFill>
                  <a:prstClr val="black"/>
                </a:solidFill>
                <a:latin typeface="Verdana"/>
                <a:cs typeface="Verdana"/>
              </a:rPr>
              <a:t> </a:t>
            </a:r>
            <a:r>
              <a:rPr sz="1000" spc="-5" dirty="0">
                <a:solidFill>
                  <a:prstClr val="black"/>
                </a:solidFill>
                <a:latin typeface="Verdana"/>
                <a:cs typeface="Verdana"/>
              </a:rPr>
              <a:t>i’th</a:t>
            </a:r>
            <a:r>
              <a:rPr sz="1000" spc="-20" dirty="0">
                <a:solidFill>
                  <a:prstClr val="black"/>
                </a:solidFill>
                <a:latin typeface="Verdana"/>
                <a:cs typeface="Verdana"/>
              </a:rPr>
              <a:t> </a:t>
            </a:r>
            <a:r>
              <a:rPr sz="1000" spc="-5" dirty="0">
                <a:solidFill>
                  <a:prstClr val="black"/>
                </a:solidFill>
                <a:latin typeface="Verdana"/>
                <a:cs typeface="Verdana"/>
              </a:rPr>
              <a:t>pixel</a:t>
            </a:r>
            <a:r>
              <a:rPr sz="1000" spc="-20" dirty="0">
                <a:solidFill>
                  <a:prstClr val="black"/>
                </a:solidFill>
                <a:latin typeface="Verdana"/>
                <a:cs typeface="Verdana"/>
              </a:rPr>
              <a:t> </a:t>
            </a:r>
            <a:r>
              <a:rPr sz="1000" spc="-5" dirty="0">
                <a:solidFill>
                  <a:prstClr val="black"/>
                </a:solidFill>
                <a:latin typeface="Verdana"/>
                <a:cs typeface="Verdana"/>
              </a:rPr>
              <a:t>value</a:t>
            </a:r>
            <a:endParaRPr sz="1000">
              <a:solidFill>
                <a:prstClr val="black"/>
              </a:solidFill>
              <a:latin typeface="Verdana"/>
              <a:cs typeface="Verdana"/>
            </a:endParaRPr>
          </a:p>
          <a:p>
            <a:pPr marR="2074545" algn="ctr">
              <a:spcBef>
                <a:spcPts val="750"/>
              </a:spcBef>
            </a:pPr>
            <a:r>
              <a:rPr sz="1000" spc="-5" dirty="0">
                <a:solidFill>
                  <a:prstClr val="black"/>
                </a:solidFill>
                <a:latin typeface="Verdana"/>
                <a:cs typeface="Verdana"/>
              </a:rPr>
              <a:t>given</a:t>
            </a:r>
            <a:r>
              <a:rPr sz="1000" spc="-30" dirty="0">
                <a:solidFill>
                  <a:prstClr val="black"/>
                </a:solidFill>
                <a:latin typeface="Verdana"/>
                <a:cs typeface="Verdana"/>
              </a:rPr>
              <a:t> </a:t>
            </a:r>
            <a:r>
              <a:rPr sz="1000" spc="-5" dirty="0">
                <a:solidFill>
                  <a:prstClr val="black"/>
                </a:solidFill>
                <a:latin typeface="Verdana"/>
                <a:cs typeface="Verdana"/>
              </a:rPr>
              <a:t>all</a:t>
            </a:r>
            <a:r>
              <a:rPr sz="1000" spc="-25" dirty="0">
                <a:solidFill>
                  <a:prstClr val="black"/>
                </a:solidFill>
                <a:latin typeface="Verdana"/>
                <a:cs typeface="Verdana"/>
              </a:rPr>
              <a:t> </a:t>
            </a:r>
            <a:r>
              <a:rPr sz="1000" spc="-5" dirty="0">
                <a:solidFill>
                  <a:prstClr val="black"/>
                </a:solidFill>
                <a:latin typeface="Verdana"/>
                <a:cs typeface="Verdana"/>
              </a:rPr>
              <a:t>previous</a:t>
            </a:r>
            <a:r>
              <a:rPr sz="1000" spc="-25" dirty="0">
                <a:solidFill>
                  <a:prstClr val="black"/>
                </a:solidFill>
                <a:latin typeface="Verdana"/>
                <a:cs typeface="Verdana"/>
              </a:rPr>
              <a:t> </a:t>
            </a:r>
            <a:r>
              <a:rPr sz="1000" dirty="0">
                <a:solidFill>
                  <a:prstClr val="black"/>
                </a:solidFill>
                <a:latin typeface="Verdana"/>
                <a:cs typeface="Verdana"/>
              </a:rPr>
              <a:t>pixels</a:t>
            </a:r>
            <a:endParaRPr sz="1000">
              <a:solidFill>
                <a:prstClr val="black"/>
              </a:solidFill>
              <a:latin typeface="Verdana"/>
              <a:cs typeface="Verdana"/>
            </a:endParaRPr>
          </a:p>
          <a:p>
            <a:pPr marL="925194">
              <a:spcBef>
                <a:spcPts val="480"/>
              </a:spcBef>
            </a:pPr>
            <a:r>
              <a:rPr sz="1200" spc="-5" dirty="0">
                <a:solidFill>
                  <a:srgbClr val="00B050"/>
                </a:solidFill>
                <a:latin typeface="Verdana"/>
                <a:cs typeface="Verdana"/>
              </a:rPr>
              <a:t>Complex</a:t>
            </a:r>
            <a:r>
              <a:rPr sz="1200" spc="-20" dirty="0">
                <a:solidFill>
                  <a:srgbClr val="00B050"/>
                </a:solidFill>
                <a:latin typeface="Verdana"/>
                <a:cs typeface="Verdana"/>
              </a:rPr>
              <a:t> </a:t>
            </a:r>
            <a:r>
              <a:rPr sz="1200" spc="-5" dirty="0">
                <a:solidFill>
                  <a:srgbClr val="00B050"/>
                </a:solidFill>
                <a:latin typeface="Verdana"/>
                <a:cs typeface="Verdana"/>
              </a:rPr>
              <a:t>distribution</a:t>
            </a:r>
            <a:r>
              <a:rPr sz="1200" spc="-20" dirty="0">
                <a:solidFill>
                  <a:srgbClr val="00B050"/>
                </a:solidFill>
                <a:latin typeface="Verdana"/>
                <a:cs typeface="Verdana"/>
              </a:rPr>
              <a:t> </a:t>
            </a:r>
            <a:r>
              <a:rPr sz="1200" spc="-5" dirty="0">
                <a:solidFill>
                  <a:srgbClr val="00B050"/>
                </a:solidFill>
                <a:latin typeface="Verdana"/>
                <a:cs typeface="Verdana"/>
              </a:rPr>
              <a:t>over</a:t>
            </a:r>
            <a:r>
              <a:rPr sz="1200" spc="-20" dirty="0">
                <a:solidFill>
                  <a:srgbClr val="00B050"/>
                </a:solidFill>
                <a:latin typeface="Verdana"/>
                <a:cs typeface="Verdana"/>
              </a:rPr>
              <a:t> </a:t>
            </a:r>
            <a:r>
              <a:rPr sz="1200" spc="-5" dirty="0">
                <a:solidFill>
                  <a:srgbClr val="00B050"/>
                </a:solidFill>
                <a:latin typeface="Verdana"/>
                <a:cs typeface="Verdana"/>
              </a:rPr>
              <a:t>pixel</a:t>
            </a:r>
            <a:r>
              <a:rPr sz="1200" spc="390" dirty="0">
                <a:solidFill>
                  <a:srgbClr val="00B050"/>
                </a:solidFill>
                <a:latin typeface="Verdana"/>
                <a:cs typeface="Verdana"/>
              </a:rPr>
              <a:t> </a:t>
            </a:r>
            <a:r>
              <a:rPr sz="1200" spc="-5" dirty="0">
                <a:solidFill>
                  <a:srgbClr val="00B050"/>
                </a:solidFill>
                <a:latin typeface="Verdana"/>
                <a:cs typeface="Verdana"/>
              </a:rPr>
              <a:t>values</a:t>
            </a:r>
            <a:endParaRPr sz="1200">
              <a:solidFill>
                <a:prstClr val="black"/>
              </a:solidFill>
              <a:latin typeface="Verdana"/>
              <a:cs typeface="Verdana"/>
            </a:endParaRPr>
          </a:p>
          <a:p>
            <a:pPr marL="925194">
              <a:spcBef>
                <a:spcPts val="60"/>
              </a:spcBef>
            </a:pPr>
            <a:r>
              <a:rPr sz="1200" spc="-5" dirty="0">
                <a:solidFill>
                  <a:srgbClr val="00B050"/>
                </a:solidFill>
                <a:latin typeface="Verdana"/>
                <a:cs typeface="Verdana"/>
              </a:rPr>
              <a:t>=&gt;</a:t>
            </a:r>
            <a:r>
              <a:rPr sz="1200" spc="-20" dirty="0">
                <a:solidFill>
                  <a:srgbClr val="00B050"/>
                </a:solidFill>
                <a:latin typeface="Verdana"/>
                <a:cs typeface="Verdana"/>
              </a:rPr>
              <a:t> </a:t>
            </a:r>
            <a:r>
              <a:rPr sz="1200" spc="-5" dirty="0">
                <a:solidFill>
                  <a:srgbClr val="00B050"/>
                </a:solidFill>
                <a:latin typeface="Verdana"/>
                <a:cs typeface="Verdana"/>
              </a:rPr>
              <a:t>Express</a:t>
            </a:r>
            <a:r>
              <a:rPr sz="1200" spc="-15" dirty="0">
                <a:solidFill>
                  <a:srgbClr val="00B050"/>
                </a:solidFill>
                <a:latin typeface="Verdana"/>
                <a:cs typeface="Verdana"/>
              </a:rPr>
              <a:t> </a:t>
            </a:r>
            <a:r>
              <a:rPr sz="1200" spc="-5" dirty="0">
                <a:solidFill>
                  <a:srgbClr val="00B050"/>
                </a:solidFill>
                <a:latin typeface="Verdana"/>
                <a:cs typeface="Verdana"/>
              </a:rPr>
              <a:t>using</a:t>
            </a:r>
            <a:r>
              <a:rPr sz="1200" spc="-15" dirty="0">
                <a:solidFill>
                  <a:srgbClr val="00B050"/>
                </a:solidFill>
                <a:latin typeface="Verdana"/>
                <a:cs typeface="Verdana"/>
              </a:rPr>
              <a:t> </a:t>
            </a:r>
            <a:r>
              <a:rPr sz="1200" dirty="0">
                <a:solidFill>
                  <a:srgbClr val="00B050"/>
                </a:solidFill>
                <a:latin typeface="Verdana"/>
                <a:cs typeface="Verdana"/>
              </a:rPr>
              <a:t>a</a:t>
            </a:r>
            <a:r>
              <a:rPr sz="1200" spc="-20" dirty="0">
                <a:solidFill>
                  <a:srgbClr val="00B050"/>
                </a:solidFill>
                <a:latin typeface="Verdana"/>
                <a:cs typeface="Verdana"/>
              </a:rPr>
              <a:t> </a:t>
            </a:r>
            <a:r>
              <a:rPr sz="1200" spc="-5" dirty="0">
                <a:solidFill>
                  <a:srgbClr val="00B050"/>
                </a:solidFill>
                <a:latin typeface="Verdana"/>
                <a:cs typeface="Verdana"/>
              </a:rPr>
              <a:t>neural</a:t>
            </a:r>
            <a:r>
              <a:rPr sz="1200" spc="395" dirty="0">
                <a:solidFill>
                  <a:srgbClr val="00B050"/>
                </a:solidFill>
                <a:latin typeface="Verdana"/>
                <a:cs typeface="Verdana"/>
              </a:rPr>
              <a:t> </a:t>
            </a:r>
            <a:r>
              <a:rPr sz="1200" spc="-5" dirty="0">
                <a:solidFill>
                  <a:srgbClr val="00B050"/>
                </a:solidFill>
                <a:latin typeface="Verdana"/>
                <a:cs typeface="Verdana"/>
              </a:rPr>
              <a:t>network!</a:t>
            </a:r>
            <a:endParaRPr sz="1200">
              <a:solidFill>
                <a:prstClr val="black"/>
              </a:solidFill>
              <a:latin typeface="Verdana"/>
              <a:cs typeface="Verdana"/>
            </a:endParaRPr>
          </a:p>
        </p:txBody>
      </p:sp>
      <p:sp>
        <p:nvSpPr>
          <p:cNvPr id="11" name="object 11"/>
          <p:cNvSpPr txBox="1"/>
          <p:nvPr/>
        </p:nvSpPr>
        <p:spPr>
          <a:xfrm>
            <a:off x="501220" y="4909897"/>
            <a:ext cx="3196590" cy="19749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Then</a:t>
            </a:r>
            <a:r>
              <a:rPr sz="1200" spc="-20" dirty="0">
                <a:solidFill>
                  <a:srgbClr val="313131"/>
                </a:solidFill>
                <a:latin typeface="Verdana"/>
                <a:cs typeface="Verdana"/>
              </a:rPr>
              <a:t> </a:t>
            </a:r>
            <a:r>
              <a:rPr sz="1200" spc="-5" dirty="0">
                <a:solidFill>
                  <a:srgbClr val="313131"/>
                </a:solidFill>
                <a:latin typeface="Verdana"/>
                <a:cs typeface="Verdana"/>
              </a:rPr>
              <a:t>maximize</a:t>
            </a:r>
            <a:r>
              <a:rPr sz="1200" spc="-20" dirty="0">
                <a:solidFill>
                  <a:srgbClr val="313131"/>
                </a:solidFill>
                <a:latin typeface="Verdana"/>
                <a:cs typeface="Verdana"/>
              </a:rPr>
              <a:t> </a:t>
            </a:r>
            <a:r>
              <a:rPr sz="1200" spc="-5" dirty="0">
                <a:solidFill>
                  <a:srgbClr val="313131"/>
                </a:solidFill>
                <a:latin typeface="Verdana"/>
                <a:cs typeface="Verdana"/>
              </a:rPr>
              <a:t>likelihood</a:t>
            </a:r>
            <a:r>
              <a:rPr sz="1200" spc="-20" dirty="0">
                <a:solidFill>
                  <a:srgbClr val="313131"/>
                </a:solidFill>
                <a:latin typeface="Verdana"/>
                <a:cs typeface="Verdana"/>
              </a:rPr>
              <a:t> </a:t>
            </a:r>
            <a:r>
              <a:rPr sz="1200" spc="-5" dirty="0">
                <a:solidFill>
                  <a:srgbClr val="313131"/>
                </a:solidFill>
                <a:latin typeface="Verdana"/>
                <a:cs typeface="Verdana"/>
              </a:rPr>
              <a:t>of</a:t>
            </a:r>
            <a:r>
              <a:rPr sz="1200" spc="-15" dirty="0">
                <a:solidFill>
                  <a:srgbClr val="313131"/>
                </a:solidFill>
                <a:latin typeface="Verdana"/>
                <a:cs typeface="Verdana"/>
              </a:rPr>
              <a:t> </a:t>
            </a:r>
            <a:r>
              <a:rPr sz="1200" spc="-5" dirty="0">
                <a:solidFill>
                  <a:srgbClr val="313131"/>
                </a:solidFill>
                <a:latin typeface="Verdana"/>
                <a:cs typeface="Verdana"/>
              </a:rPr>
              <a:t>training</a:t>
            </a:r>
            <a:r>
              <a:rPr sz="1200" spc="-20" dirty="0">
                <a:solidFill>
                  <a:srgbClr val="313131"/>
                </a:solidFill>
                <a:latin typeface="Verdana"/>
                <a:cs typeface="Verdana"/>
              </a:rPr>
              <a:t> </a:t>
            </a:r>
            <a:r>
              <a:rPr sz="1200" spc="-5" dirty="0">
                <a:solidFill>
                  <a:srgbClr val="313131"/>
                </a:solidFill>
                <a:latin typeface="Verdana"/>
                <a:cs typeface="Verdana"/>
              </a:rPr>
              <a:t>data</a:t>
            </a:r>
            <a:endParaRPr sz="1200">
              <a:solidFill>
                <a:prstClr val="black"/>
              </a:solidFill>
              <a:latin typeface="Verdana"/>
              <a:cs typeface="Verdana"/>
            </a:endParaRPr>
          </a:p>
        </p:txBody>
      </p:sp>
      <p:sp>
        <p:nvSpPr>
          <p:cNvPr id="12" name="object 12"/>
          <p:cNvSpPr txBox="1"/>
          <p:nvPr/>
        </p:nvSpPr>
        <p:spPr>
          <a:xfrm>
            <a:off x="5754949" y="3178562"/>
            <a:ext cx="1635760" cy="565219"/>
          </a:xfrm>
          <a:prstGeom prst="rect">
            <a:avLst/>
          </a:prstGeom>
        </p:spPr>
        <p:txBody>
          <a:bodyPr vert="horz" wrap="square" lIns="0" tIns="5080" rIns="0" bIns="0" rtlCol="0">
            <a:spAutoFit/>
          </a:bodyPr>
          <a:lstStyle/>
          <a:p>
            <a:pPr marL="12700" marR="5080">
              <a:lnSpc>
                <a:spcPct val="104200"/>
              </a:lnSpc>
              <a:spcBef>
                <a:spcPts val="40"/>
              </a:spcBef>
            </a:pPr>
            <a:r>
              <a:rPr sz="1200" spc="-5" dirty="0">
                <a:solidFill>
                  <a:srgbClr val="00B050"/>
                </a:solidFill>
                <a:latin typeface="Verdana"/>
                <a:cs typeface="Verdana"/>
              </a:rPr>
              <a:t>Will need to define </a:t>
            </a:r>
            <a:r>
              <a:rPr sz="1200" dirty="0">
                <a:solidFill>
                  <a:srgbClr val="00B050"/>
                </a:solidFill>
                <a:latin typeface="Verdana"/>
                <a:cs typeface="Verdana"/>
              </a:rPr>
              <a:t> </a:t>
            </a:r>
            <a:r>
              <a:rPr sz="1200" spc="-5" dirty="0">
                <a:solidFill>
                  <a:srgbClr val="00B050"/>
                </a:solidFill>
                <a:latin typeface="Verdana"/>
                <a:cs typeface="Verdana"/>
              </a:rPr>
              <a:t>ordering</a:t>
            </a:r>
            <a:r>
              <a:rPr sz="1200" spc="-50" dirty="0">
                <a:solidFill>
                  <a:srgbClr val="00B050"/>
                </a:solidFill>
                <a:latin typeface="Verdana"/>
                <a:cs typeface="Verdana"/>
              </a:rPr>
              <a:t> </a:t>
            </a:r>
            <a:r>
              <a:rPr sz="1200" spc="-5" dirty="0">
                <a:solidFill>
                  <a:srgbClr val="00B050"/>
                </a:solidFill>
                <a:latin typeface="Verdana"/>
                <a:cs typeface="Verdana"/>
              </a:rPr>
              <a:t>of</a:t>
            </a:r>
            <a:r>
              <a:rPr sz="1200" spc="-45" dirty="0">
                <a:solidFill>
                  <a:srgbClr val="00B050"/>
                </a:solidFill>
                <a:latin typeface="Verdana"/>
                <a:cs typeface="Verdana"/>
              </a:rPr>
              <a:t> </a:t>
            </a:r>
            <a:r>
              <a:rPr sz="1200" spc="-5" dirty="0">
                <a:solidFill>
                  <a:srgbClr val="00B050"/>
                </a:solidFill>
                <a:latin typeface="Verdana"/>
                <a:cs typeface="Verdana"/>
              </a:rPr>
              <a:t>“previous </a:t>
            </a:r>
            <a:r>
              <a:rPr sz="1200" spc="-409" dirty="0">
                <a:solidFill>
                  <a:srgbClr val="00B050"/>
                </a:solidFill>
                <a:latin typeface="Verdana"/>
                <a:cs typeface="Verdana"/>
              </a:rPr>
              <a:t> </a:t>
            </a:r>
            <a:r>
              <a:rPr sz="1200" spc="-5" dirty="0">
                <a:solidFill>
                  <a:srgbClr val="00B050"/>
                </a:solidFill>
                <a:latin typeface="Verdana"/>
                <a:cs typeface="Verdana"/>
              </a:rPr>
              <a:t>pixels”</a:t>
            </a:r>
            <a:endParaRPr sz="1200">
              <a:solidFill>
                <a:prstClr val="black"/>
              </a:solidFill>
              <a:latin typeface="Verdana"/>
              <a:cs typeface="Verdana"/>
            </a:endParaRPr>
          </a:p>
        </p:txBody>
      </p:sp>
      <p:pic>
        <p:nvPicPr>
          <p:cNvPr id="15" name="Picture 2" descr="E:\NIET\Project\xLogo11.png.pagespeed.ic.pydHLuCQEZ.png">
            <a:extLst>
              <a:ext uri="{FF2B5EF4-FFF2-40B4-BE49-F238E27FC236}">
                <a16:creationId xmlns:a16="http://schemas.microsoft.com/office/drawing/2014/main" id="{3311ADAE-EBDF-063E-B4A6-C5D1EF1902ED}"/>
              </a:ext>
            </a:extLst>
          </p:cNvPr>
          <p:cNvPicPr>
            <a:picLocks noChangeAspect="1" noChangeArrowheads="1"/>
          </p:cNvPicPr>
          <p:nvPr/>
        </p:nvPicPr>
        <p:blipFill>
          <a:blip r:embed="rId5"/>
          <a:srcRect/>
          <a:stretch>
            <a:fillRect/>
          </a:stretch>
        </p:blipFill>
        <p:spPr bwMode="auto">
          <a:xfrm>
            <a:off x="0" y="0"/>
            <a:ext cx="1447800" cy="817163"/>
          </a:xfrm>
          <a:prstGeom prst="rect">
            <a:avLst/>
          </a:prstGeom>
          <a:noFill/>
        </p:spPr>
      </p:pic>
      <p:sp>
        <p:nvSpPr>
          <p:cNvPr id="16" name="Title 1">
            <a:extLst>
              <a:ext uri="{FF2B5EF4-FFF2-40B4-BE49-F238E27FC236}">
                <a16:creationId xmlns:a16="http://schemas.microsoft.com/office/drawing/2014/main" id="{AF4178C3-66AA-0942-C153-ACA47C639358}"/>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Fully visible belief network</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31946" y="1253640"/>
            <a:ext cx="3216275" cy="330200"/>
          </a:xfrm>
          <a:prstGeom prst="rect">
            <a:avLst/>
          </a:prstGeom>
        </p:spPr>
        <p:txBody>
          <a:bodyPr vert="horz" wrap="square" lIns="0" tIns="12700" rIns="0" bIns="0" rtlCol="0">
            <a:spAutoFit/>
          </a:bodyPr>
          <a:lstStyle/>
          <a:p>
            <a:pPr marL="12700">
              <a:spcBef>
                <a:spcPts val="100"/>
              </a:spcBef>
            </a:pPr>
            <a:r>
              <a:rPr sz="2000" spc="-5" dirty="0">
                <a:solidFill>
                  <a:srgbClr val="5A6166"/>
                </a:solidFill>
                <a:latin typeface="Verdana"/>
                <a:cs typeface="Verdana"/>
              </a:rPr>
              <a:t>PixelRNN</a:t>
            </a:r>
            <a:r>
              <a:rPr sz="2000" spc="-30" dirty="0">
                <a:solidFill>
                  <a:srgbClr val="5A6166"/>
                </a:solidFill>
                <a:latin typeface="Verdana"/>
                <a:cs typeface="Verdana"/>
              </a:rPr>
              <a:t> </a:t>
            </a:r>
            <a:r>
              <a:rPr sz="1200" spc="-5" dirty="0">
                <a:solidFill>
                  <a:srgbClr val="5A6166"/>
                </a:solidFill>
                <a:latin typeface="Verdana"/>
                <a:cs typeface="Verdana"/>
              </a:rPr>
              <a:t>[van</a:t>
            </a:r>
            <a:r>
              <a:rPr sz="1200" spc="-15" dirty="0">
                <a:solidFill>
                  <a:srgbClr val="5A6166"/>
                </a:solidFill>
                <a:latin typeface="Verdana"/>
                <a:cs typeface="Verdana"/>
              </a:rPr>
              <a:t> </a:t>
            </a:r>
            <a:r>
              <a:rPr sz="1200" spc="-5" dirty="0">
                <a:solidFill>
                  <a:srgbClr val="5A6166"/>
                </a:solidFill>
                <a:latin typeface="Verdana"/>
                <a:cs typeface="Verdana"/>
              </a:rPr>
              <a:t>der</a:t>
            </a:r>
            <a:r>
              <a:rPr sz="1200" spc="-15" dirty="0">
                <a:solidFill>
                  <a:srgbClr val="5A6166"/>
                </a:solidFill>
                <a:latin typeface="Verdana"/>
                <a:cs typeface="Verdana"/>
              </a:rPr>
              <a:t> </a:t>
            </a:r>
            <a:r>
              <a:rPr sz="1200" spc="-5" dirty="0">
                <a:solidFill>
                  <a:srgbClr val="5A6166"/>
                </a:solidFill>
                <a:latin typeface="Verdana"/>
                <a:cs typeface="Verdana"/>
              </a:rPr>
              <a:t>oord</a:t>
            </a:r>
            <a:r>
              <a:rPr sz="1200" spc="-20" dirty="0">
                <a:solidFill>
                  <a:srgbClr val="5A6166"/>
                </a:solidFill>
                <a:latin typeface="Verdana"/>
                <a:cs typeface="Verdana"/>
              </a:rPr>
              <a:t> </a:t>
            </a:r>
            <a:r>
              <a:rPr sz="1200" spc="-5" dirty="0">
                <a:solidFill>
                  <a:srgbClr val="5A6166"/>
                </a:solidFill>
                <a:latin typeface="Verdana"/>
                <a:cs typeface="Verdana"/>
              </a:rPr>
              <a:t>et</a:t>
            </a:r>
            <a:r>
              <a:rPr sz="1200" spc="-15" dirty="0">
                <a:solidFill>
                  <a:srgbClr val="5A6166"/>
                </a:solidFill>
                <a:latin typeface="Verdana"/>
                <a:cs typeface="Verdana"/>
              </a:rPr>
              <a:t> </a:t>
            </a:r>
            <a:r>
              <a:rPr sz="1200" spc="-5" dirty="0">
                <a:solidFill>
                  <a:srgbClr val="5A6166"/>
                </a:solidFill>
                <a:latin typeface="Verdana"/>
                <a:cs typeface="Verdana"/>
              </a:rPr>
              <a:t>al.2016]</a:t>
            </a:r>
            <a:endParaRPr sz="1200" dirty="0">
              <a:solidFill>
                <a:prstClr val="black"/>
              </a:solidFill>
              <a:latin typeface="Verdana"/>
              <a:cs typeface="Verdana"/>
            </a:endParaRPr>
          </a:p>
        </p:txBody>
      </p:sp>
      <p:sp>
        <p:nvSpPr>
          <p:cNvPr id="3" name="object 3"/>
          <p:cNvSpPr txBox="1"/>
          <p:nvPr/>
        </p:nvSpPr>
        <p:spPr>
          <a:xfrm>
            <a:off x="431571" y="2291029"/>
            <a:ext cx="4857115" cy="60833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Dependency</a:t>
            </a:r>
            <a:r>
              <a:rPr sz="1200" spc="-15" dirty="0">
                <a:solidFill>
                  <a:srgbClr val="313131"/>
                </a:solidFill>
                <a:latin typeface="Verdana"/>
                <a:cs typeface="Verdana"/>
              </a:rPr>
              <a:t> </a:t>
            </a:r>
            <a:r>
              <a:rPr sz="1200" spc="-5" dirty="0">
                <a:solidFill>
                  <a:srgbClr val="313131"/>
                </a:solidFill>
                <a:latin typeface="Verdana"/>
                <a:cs typeface="Verdana"/>
              </a:rPr>
              <a:t>on</a:t>
            </a:r>
            <a:r>
              <a:rPr sz="1200" spc="-10" dirty="0">
                <a:solidFill>
                  <a:srgbClr val="313131"/>
                </a:solidFill>
                <a:latin typeface="Verdana"/>
                <a:cs typeface="Verdana"/>
              </a:rPr>
              <a:t> </a:t>
            </a:r>
            <a:r>
              <a:rPr sz="1200" spc="-5" dirty="0">
                <a:solidFill>
                  <a:srgbClr val="313131"/>
                </a:solidFill>
                <a:latin typeface="Verdana"/>
                <a:cs typeface="Verdana"/>
              </a:rPr>
              <a:t>previous</a:t>
            </a:r>
            <a:r>
              <a:rPr sz="1200" spc="-10" dirty="0">
                <a:solidFill>
                  <a:srgbClr val="313131"/>
                </a:solidFill>
                <a:latin typeface="Verdana"/>
                <a:cs typeface="Verdana"/>
              </a:rPr>
              <a:t> </a:t>
            </a:r>
            <a:r>
              <a:rPr sz="1200" spc="-5" dirty="0">
                <a:solidFill>
                  <a:srgbClr val="313131"/>
                </a:solidFill>
                <a:latin typeface="Verdana"/>
                <a:cs typeface="Verdana"/>
              </a:rPr>
              <a:t>pixels</a:t>
            </a:r>
            <a:r>
              <a:rPr sz="1200" spc="-10" dirty="0">
                <a:solidFill>
                  <a:srgbClr val="313131"/>
                </a:solidFill>
                <a:latin typeface="Verdana"/>
                <a:cs typeface="Verdana"/>
              </a:rPr>
              <a:t> </a:t>
            </a:r>
            <a:r>
              <a:rPr sz="1200" spc="-5" dirty="0">
                <a:solidFill>
                  <a:srgbClr val="313131"/>
                </a:solidFill>
                <a:latin typeface="Verdana"/>
                <a:cs typeface="Verdana"/>
              </a:rPr>
              <a:t>modeled</a:t>
            </a:r>
            <a:r>
              <a:rPr sz="1200" spc="400" dirty="0">
                <a:solidFill>
                  <a:srgbClr val="313131"/>
                </a:solidFill>
                <a:latin typeface="Verdana"/>
                <a:cs typeface="Verdana"/>
              </a:rPr>
              <a:t> </a:t>
            </a:r>
            <a:r>
              <a:rPr sz="1200" spc="-5" dirty="0">
                <a:solidFill>
                  <a:srgbClr val="313131"/>
                </a:solidFill>
                <a:latin typeface="Verdana"/>
                <a:cs typeface="Verdana"/>
              </a:rPr>
              <a:t>using</a:t>
            </a:r>
            <a:r>
              <a:rPr sz="1200" spc="-10" dirty="0">
                <a:solidFill>
                  <a:srgbClr val="313131"/>
                </a:solidFill>
                <a:latin typeface="Verdana"/>
                <a:cs typeface="Verdana"/>
              </a:rPr>
              <a:t> </a:t>
            </a:r>
            <a:r>
              <a:rPr sz="1200" spc="-5" dirty="0">
                <a:solidFill>
                  <a:srgbClr val="313131"/>
                </a:solidFill>
                <a:latin typeface="Verdana"/>
                <a:cs typeface="Verdana"/>
              </a:rPr>
              <a:t>an</a:t>
            </a:r>
            <a:r>
              <a:rPr sz="1200" spc="-10" dirty="0">
                <a:solidFill>
                  <a:srgbClr val="313131"/>
                </a:solidFill>
                <a:latin typeface="Verdana"/>
                <a:cs typeface="Verdana"/>
              </a:rPr>
              <a:t> </a:t>
            </a:r>
            <a:r>
              <a:rPr sz="1200" spc="-5" dirty="0">
                <a:solidFill>
                  <a:srgbClr val="313131"/>
                </a:solidFill>
                <a:latin typeface="Verdana"/>
                <a:cs typeface="Verdana"/>
              </a:rPr>
              <a:t>RNN</a:t>
            </a:r>
            <a:r>
              <a:rPr sz="1200" spc="-10" dirty="0">
                <a:solidFill>
                  <a:srgbClr val="313131"/>
                </a:solidFill>
                <a:latin typeface="Verdana"/>
                <a:cs typeface="Verdana"/>
              </a:rPr>
              <a:t> </a:t>
            </a:r>
            <a:r>
              <a:rPr sz="1200" spc="-5" dirty="0">
                <a:solidFill>
                  <a:srgbClr val="313131"/>
                </a:solidFill>
                <a:latin typeface="Verdana"/>
                <a:cs typeface="Verdana"/>
              </a:rPr>
              <a:t>(LSTM)</a:t>
            </a:r>
            <a:endParaRPr sz="1200">
              <a:solidFill>
                <a:prstClr val="black"/>
              </a:solidFill>
              <a:latin typeface="Verdana"/>
              <a:cs typeface="Verdana"/>
            </a:endParaRPr>
          </a:p>
          <a:p>
            <a:pPr>
              <a:spcBef>
                <a:spcPts val="5"/>
              </a:spcBef>
            </a:pPr>
            <a:endParaRPr sz="1400">
              <a:solidFill>
                <a:prstClr val="black"/>
              </a:solidFill>
              <a:latin typeface="Verdana"/>
              <a:cs typeface="Verdana"/>
            </a:endParaRPr>
          </a:p>
          <a:p>
            <a:pPr marL="12700"/>
            <a:r>
              <a:rPr sz="1200" spc="-5" dirty="0">
                <a:solidFill>
                  <a:srgbClr val="313131"/>
                </a:solidFill>
                <a:latin typeface="Verdana"/>
                <a:cs typeface="Verdana"/>
              </a:rPr>
              <a:t>Generate</a:t>
            </a:r>
            <a:r>
              <a:rPr sz="1200" spc="-20" dirty="0">
                <a:solidFill>
                  <a:srgbClr val="313131"/>
                </a:solidFill>
                <a:latin typeface="Verdana"/>
                <a:cs typeface="Verdana"/>
              </a:rPr>
              <a:t> </a:t>
            </a:r>
            <a:r>
              <a:rPr sz="1200" spc="-5" dirty="0">
                <a:solidFill>
                  <a:srgbClr val="313131"/>
                </a:solidFill>
                <a:latin typeface="Verdana"/>
                <a:cs typeface="Verdana"/>
              </a:rPr>
              <a:t>image</a:t>
            </a:r>
            <a:r>
              <a:rPr sz="1200" spc="-20" dirty="0">
                <a:solidFill>
                  <a:srgbClr val="313131"/>
                </a:solidFill>
                <a:latin typeface="Verdana"/>
                <a:cs typeface="Verdana"/>
              </a:rPr>
              <a:t> </a:t>
            </a:r>
            <a:r>
              <a:rPr sz="1200" spc="-5" dirty="0">
                <a:solidFill>
                  <a:srgbClr val="313131"/>
                </a:solidFill>
                <a:latin typeface="Verdana"/>
                <a:cs typeface="Verdana"/>
              </a:rPr>
              <a:t>pixels</a:t>
            </a:r>
            <a:r>
              <a:rPr sz="1200" spc="-15" dirty="0">
                <a:solidFill>
                  <a:srgbClr val="313131"/>
                </a:solidFill>
                <a:latin typeface="Verdana"/>
                <a:cs typeface="Verdana"/>
              </a:rPr>
              <a:t> </a:t>
            </a:r>
            <a:r>
              <a:rPr sz="1200" spc="-5" dirty="0">
                <a:solidFill>
                  <a:srgbClr val="313131"/>
                </a:solidFill>
                <a:latin typeface="Verdana"/>
                <a:cs typeface="Verdana"/>
              </a:rPr>
              <a:t>starting</a:t>
            </a:r>
            <a:r>
              <a:rPr sz="1200" spc="-20" dirty="0">
                <a:solidFill>
                  <a:srgbClr val="313131"/>
                </a:solidFill>
                <a:latin typeface="Verdana"/>
                <a:cs typeface="Verdana"/>
              </a:rPr>
              <a:t> </a:t>
            </a:r>
            <a:r>
              <a:rPr sz="1200" spc="-5" dirty="0">
                <a:solidFill>
                  <a:srgbClr val="313131"/>
                </a:solidFill>
                <a:latin typeface="Verdana"/>
                <a:cs typeface="Verdana"/>
              </a:rPr>
              <a:t>from</a:t>
            </a:r>
            <a:r>
              <a:rPr sz="1200" spc="-15" dirty="0">
                <a:solidFill>
                  <a:srgbClr val="313131"/>
                </a:solidFill>
                <a:latin typeface="Verdana"/>
                <a:cs typeface="Verdana"/>
              </a:rPr>
              <a:t> </a:t>
            </a:r>
            <a:r>
              <a:rPr sz="1200" spc="-5" dirty="0">
                <a:solidFill>
                  <a:srgbClr val="313131"/>
                </a:solidFill>
                <a:latin typeface="Verdana"/>
                <a:cs typeface="Verdana"/>
              </a:rPr>
              <a:t>corner</a:t>
            </a:r>
            <a:endParaRPr sz="1200">
              <a:solidFill>
                <a:prstClr val="black"/>
              </a:solidFill>
              <a:latin typeface="Verdana"/>
              <a:cs typeface="Verdana"/>
            </a:endParaRPr>
          </a:p>
        </p:txBody>
      </p:sp>
      <p:sp>
        <p:nvSpPr>
          <p:cNvPr id="4" name="object 4"/>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5" name="object 5"/>
          <p:cNvPicPr/>
          <p:nvPr/>
        </p:nvPicPr>
        <p:blipFill>
          <a:blip r:embed="rId2" cstate="print"/>
          <a:stretch>
            <a:fillRect/>
          </a:stretch>
        </p:blipFill>
        <p:spPr>
          <a:xfrm>
            <a:off x="5291703" y="3138805"/>
            <a:ext cx="184723" cy="184723"/>
          </a:xfrm>
          <a:prstGeom prst="rect">
            <a:avLst/>
          </a:prstGeom>
        </p:spPr>
      </p:pic>
      <p:pic>
        <p:nvPicPr>
          <p:cNvPr id="6" name="object 6"/>
          <p:cNvPicPr/>
          <p:nvPr/>
        </p:nvPicPr>
        <p:blipFill>
          <a:blip r:embed="rId3" cstate="print"/>
          <a:stretch>
            <a:fillRect/>
          </a:stretch>
        </p:blipFill>
        <p:spPr>
          <a:xfrm>
            <a:off x="5291703" y="3603105"/>
            <a:ext cx="184723" cy="184723"/>
          </a:xfrm>
          <a:prstGeom prst="rect">
            <a:avLst/>
          </a:prstGeom>
        </p:spPr>
      </p:pic>
      <p:pic>
        <p:nvPicPr>
          <p:cNvPr id="7" name="object 7"/>
          <p:cNvPicPr/>
          <p:nvPr/>
        </p:nvPicPr>
        <p:blipFill>
          <a:blip r:embed="rId4" cstate="print"/>
          <a:stretch>
            <a:fillRect/>
          </a:stretch>
        </p:blipFill>
        <p:spPr>
          <a:xfrm>
            <a:off x="5804378" y="3138805"/>
            <a:ext cx="184723" cy="184723"/>
          </a:xfrm>
          <a:prstGeom prst="rect">
            <a:avLst/>
          </a:prstGeom>
        </p:spPr>
      </p:pic>
      <p:pic>
        <p:nvPicPr>
          <p:cNvPr id="8" name="object 8"/>
          <p:cNvPicPr/>
          <p:nvPr/>
        </p:nvPicPr>
        <p:blipFill>
          <a:blip r:embed="rId5" cstate="print"/>
          <a:stretch>
            <a:fillRect/>
          </a:stretch>
        </p:blipFill>
        <p:spPr>
          <a:xfrm>
            <a:off x="5804378" y="3603105"/>
            <a:ext cx="184723" cy="184723"/>
          </a:xfrm>
          <a:prstGeom prst="rect">
            <a:avLst/>
          </a:prstGeom>
        </p:spPr>
      </p:pic>
      <p:pic>
        <p:nvPicPr>
          <p:cNvPr id="9" name="object 9"/>
          <p:cNvPicPr/>
          <p:nvPr/>
        </p:nvPicPr>
        <p:blipFill>
          <a:blip r:embed="rId3" cstate="print"/>
          <a:stretch>
            <a:fillRect/>
          </a:stretch>
        </p:blipFill>
        <p:spPr>
          <a:xfrm>
            <a:off x="5291703" y="4067405"/>
            <a:ext cx="184723" cy="184723"/>
          </a:xfrm>
          <a:prstGeom prst="rect">
            <a:avLst/>
          </a:prstGeom>
        </p:spPr>
      </p:pic>
      <p:pic>
        <p:nvPicPr>
          <p:cNvPr id="10" name="object 10"/>
          <p:cNvPicPr/>
          <p:nvPr/>
        </p:nvPicPr>
        <p:blipFill>
          <a:blip r:embed="rId3" cstate="print"/>
          <a:stretch>
            <a:fillRect/>
          </a:stretch>
        </p:blipFill>
        <p:spPr>
          <a:xfrm>
            <a:off x="5291703" y="4531705"/>
            <a:ext cx="184723" cy="184723"/>
          </a:xfrm>
          <a:prstGeom prst="rect">
            <a:avLst/>
          </a:prstGeom>
        </p:spPr>
      </p:pic>
      <p:pic>
        <p:nvPicPr>
          <p:cNvPr id="11" name="object 11"/>
          <p:cNvPicPr/>
          <p:nvPr/>
        </p:nvPicPr>
        <p:blipFill>
          <a:blip r:embed="rId5" cstate="print"/>
          <a:stretch>
            <a:fillRect/>
          </a:stretch>
        </p:blipFill>
        <p:spPr>
          <a:xfrm>
            <a:off x="5804378" y="4067405"/>
            <a:ext cx="184723" cy="184723"/>
          </a:xfrm>
          <a:prstGeom prst="rect">
            <a:avLst/>
          </a:prstGeom>
        </p:spPr>
      </p:pic>
      <p:pic>
        <p:nvPicPr>
          <p:cNvPr id="12" name="object 12"/>
          <p:cNvPicPr/>
          <p:nvPr/>
        </p:nvPicPr>
        <p:blipFill>
          <a:blip r:embed="rId5" cstate="print"/>
          <a:stretch>
            <a:fillRect/>
          </a:stretch>
        </p:blipFill>
        <p:spPr>
          <a:xfrm>
            <a:off x="5804378" y="4531705"/>
            <a:ext cx="184723" cy="184723"/>
          </a:xfrm>
          <a:prstGeom prst="rect">
            <a:avLst/>
          </a:prstGeom>
        </p:spPr>
      </p:pic>
      <p:pic>
        <p:nvPicPr>
          <p:cNvPr id="13" name="object 13"/>
          <p:cNvPicPr/>
          <p:nvPr/>
        </p:nvPicPr>
        <p:blipFill>
          <a:blip r:embed="rId3" cstate="print"/>
          <a:stretch>
            <a:fillRect/>
          </a:stretch>
        </p:blipFill>
        <p:spPr>
          <a:xfrm>
            <a:off x="5291703" y="5022780"/>
            <a:ext cx="184723" cy="184723"/>
          </a:xfrm>
          <a:prstGeom prst="rect">
            <a:avLst/>
          </a:prstGeom>
        </p:spPr>
      </p:pic>
      <p:pic>
        <p:nvPicPr>
          <p:cNvPr id="14" name="object 14"/>
          <p:cNvPicPr/>
          <p:nvPr/>
        </p:nvPicPr>
        <p:blipFill>
          <a:blip r:embed="rId5" cstate="print"/>
          <a:stretch>
            <a:fillRect/>
          </a:stretch>
        </p:blipFill>
        <p:spPr>
          <a:xfrm>
            <a:off x="5804378" y="5022780"/>
            <a:ext cx="184723" cy="184723"/>
          </a:xfrm>
          <a:prstGeom prst="rect">
            <a:avLst/>
          </a:prstGeom>
        </p:spPr>
      </p:pic>
      <p:pic>
        <p:nvPicPr>
          <p:cNvPr id="15" name="object 15"/>
          <p:cNvPicPr/>
          <p:nvPr/>
        </p:nvPicPr>
        <p:blipFill>
          <a:blip r:embed="rId6" cstate="print"/>
          <a:stretch>
            <a:fillRect/>
          </a:stretch>
        </p:blipFill>
        <p:spPr>
          <a:xfrm>
            <a:off x="6317053" y="3138805"/>
            <a:ext cx="184723" cy="184723"/>
          </a:xfrm>
          <a:prstGeom prst="rect">
            <a:avLst/>
          </a:prstGeom>
        </p:spPr>
      </p:pic>
      <p:pic>
        <p:nvPicPr>
          <p:cNvPr id="16" name="object 16"/>
          <p:cNvPicPr/>
          <p:nvPr/>
        </p:nvPicPr>
        <p:blipFill>
          <a:blip r:embed="rId3" cstate="print"/>
          <a:stretch>
            <a:fillRect/>
          </a:stretch>
        </p:blipFill>
        <p:spPr>
          <a:xfrm>
            <a:off x="6317053" y="3603105"/>
            <a:ext cx="184723" cy="184723"/>
          </a:xfrm>
          <a:prstGeom prst="rect">
            <a:avLst/>
          </a:prstGeom>
        </p:spPr>
      </p:pic>
      <p:pic>
        <p:nvPicPr>
          <p:cNvPr id="17" name="object 17"/>
          <p:cNvPicPr/>
          <p:nvPr/>
        </p:nvPicPr>
        <p:blipFill>
          <a:blip r:embed="rId6" cstate="print"/>
          <a:stretch>
            <a:fillRect/>
          </a:stretch>
        </p:blipFill>
        <p:spPr>
          <a:xfrm>
            <a:off x="6829729" y="3138805"/>
            <a:ext cx="184723" cy="184723"/>
          </a:xfrm>
          <a:prstGeom prst="rect">
            <a:avLst/>
          </a:prstGeom>
        </p:spPr>
      </p:pic>
      <p:pic>
        <p:nvPicPr>
          <p:cNvPr id="18" name="object 18"/>
          <p:cNvPicPr/>
          <p:nvPr/>
        </p:nvPicPr>
        <p:blipFill>
          <a:blip r:embed="rId3" cstate="print"/>
          <a:stretch>
            <a:fillRect/>
          </a:stretch>
        </p:blipFill>
        <p:spPr>
          <a:xfrm>
            <a:off x="6829729" y="3603105"/>
            <a:ext cx="184723" cy="184723"/>
          </a:xfrm>
          <a:prstGeom prst="rect">
            <a:avLst/>
          </a:prstGeom>
        </p:spPr>
      </p:pic>
      <p:pic>
        <p:nvPicPr>
          <p:cNvPr id="19" name="object 19"/>
          <p:cNvPicPr/>
          <p:nvPr/>
        </p:nvPicPr>
        <p:blipFill>
          <a:blip r:embed="rId3" cstate="print"/>
          <a:stretch>
            <a:fillRect/>
          </a:stretch>
        </p:blipFill>
        <p:spPr>
          <a:xfrm>
            <a:off x="6317053" y="4067405"/>
            <a:ext cx="184723" cy="184723"/>
          </a:xfrm>
          <a:prstGeom prst="rect">
            <a:avLst/>
          </a:prstGeom>
        </p:spPr>
      </p:pic>
      <p:pic>
        <p:nvPicPr>
          <p:cNvPr id="20" name="object 20"/>
          <p:cNvPicPr/>
          <p:nvPr/>
        </p:nvPicPr>
        <p:blipFill>
          <a:blip r:embed="rId3" cstate="print"/>
          <a:stretch>
            <a:fillRect/>
          </a:stretch>
        </p:blipFill>
        <p:spPr>
          <a:xfrm>
            <a:off x="6317053" y="4531705"/>
            <a:ext cx="184723" cy="184723"/>
          </a:xfrm>
          <a:prstGeom prst="rect">
            <a:avLst/>
          </a:prstGeom>
        </p:spPr>
      </p:pic>
      <p:pic>
        <p:nvPicPr>
          <p:cNvPr id="21" name="object 21"/>
          <p:cNvPicPr/>
          <p:nvPr/>
        </p:nvPicPr>
        <p:blipFill>
          <a:blip r:embed="rId3" cstate="print"/>
          <a:stretch>
            <a:fillRect/>
          </a:stretch>
        </p:blipFill>
        <p:spPr>
          <a:xfrm>
            <a:off x="6829729" y="4067405"/>
            <a:ext cx="184723" cy="184723"/>
          </a:xfrm>
          <a:prstGeom prst="rect">
            <a:avLst/>
          </a:prstGeom>
        </p:spPr>
      </p:pic>
      <p:pic>
        <p:nvPicPr>
          <p:cNvPr id="22" name="object 22"/>
          <p:cNvPicPr/>
          <p:nvPr/>
        </p:nvPicPr>
        <p:blipFill>
          <a:blip r:embed="rId3" cstate="print"/>
          <a:stretch>
            <a:fillRect/>
          </a:stretch>
        </p:blipFill>
        <p:spPr>
          <a:xfrm>
            <a:off x="6829729" y="4531705"/>
            <a:ext cx="184723" cy="184723"/>
          </a:xfrm>
          <a:prstGeom prst="rect">
            <a:avLst/>
          </a:prstGeom>
        </p:spPr>
      </p:pic>
      <p:pic>
        <p:nvPicPr>
          <p:cNvPr id="23" name="object 23"/>
          <p:cNvPicPr/>
          <p:nvPr/>
        </p:nvPicPr>
        <p:blipFill>
          <a:blip r:embed="rId3" cstate="print"/>
          <a:stretch>
            <a:fillRect/>
          </a:stretch>
        </p:blipFill>
        <p:spPr>
          <a:xfrm>
            <a:off x="6317053" y="5022780"/>
            <a:ext cx="184723" cy="184723"/>
          </a:xfrm>
          <a:prstGeom prst="rect">
            <a:avLst/>
          </a:prstGeom>
        </p:spPr>
      </p:pic>
      <p:pic>
        <p:nvPicPr>
          <p:cNvPr id="24" name="object 24"/>
          <p:cNvPicPr/>
          <p:nvPr/>
        </p:nvPicPr>
        <p:blipFill>
          <a:blip r:embed="rId3" cstate="print"/>
          <a:stretch>
            <a:fillRect/>
          </a:stretch>
        </p:blipFill>
        <p:spPr>
          <a:xfrm>
            <a:off x="6829729" y="5022780"/>
            <a:ext cx="184723" cy="184723"/>
          </a:xfrm>
          <a:prstGeom prst="rect">
            <a:avLst/>
          </a:prstGeom>
        </p:spPr>
      </p:pic>
      <p:pic>
        <p:nvPicPr>
          <p:cNvPr id="25" name="object 25"/>
          <p:cNvPicPr/>
          <p:nvPr/>
        </p:nvPicPr>
        <p:blipFill>
          <a:blip r:embed="rId7" cstate="print"/>
          <a:stretch>
            <a:fillRect/>
          </a:stretch>
        </p:blipFill>
        <p:spPr>
          <a:xfrm>
            <a:off x="7342403" y="3125404"/>
            <a:ext cx="184723" cy="184723"/>
          </a:xfrm>
          <a:prstGeom prst="rect">
            <a:avLst/>
          </a:prstGeom>
        </p:spPr>
      </p:pic>
      <p:pic>
        <p:nvPicPr>
          <p:cNvPr id="26" name="object 26"/>
          <p:cNvPicPr/>
          <p:nvPr/>
        </p:nvPicPr>
        <p:blipFill>
          <a:blip r:embed="rId8" cstate="print"/>
          <a:stretch>
            <a:fillRect/>
          </a:stretch>
        </p:blipFill>
        <p:spPr>
          <a:xfrm>
            <a:off x="7342403" y="3589705"/>
            <a:ext cx="184723" cy="184723"/>
          </a:xfrm>
          <a:prstGeom prst="rect">
            <a:avLst/>
          </a:prstGeom>
        </p:spPr>
      </p:pic>
      <p:pic>
        <p:nvPicPr>
          <p:cNvPr id="27" name="object 27"/>
          <p:cNvPicPr/>
          <p:nvPr/>
        </p:nvPicPr>
        <p:blipFill>
          <a:blip r:embed="rId7" cstate="print"/>
          <a:stretch>
            <a:fillRect/>
          </a:stretch>
        </p:blipFill>
        <p:spPr>
          <a:xfrm>
            <a:off x="7342403" y="4054004"/>
            <a:ext cx="184723" cy="184723"/>
          </a:xfrm>
          <a:prstGeom prst="rect">
            <a:avLst/>
          </a:prstGeom>
        </p:spPr>
      </p:pic>
      <p:pic>
        <p:nvPicPr>
          <p:cNvPr id="28" name="object 28"/>
          <p:cNvPicPr/>
          <p:nvPr/>
        </p:nvPicPr>
        <p:blipFill>
          <a:blip r:embed="rId8" cstate="print"/>
          <a:stretch>
            <a:fillRect/>
          </a:stretch>
        </p:blipFill>
        <p:spPr>
          <a:xfrm>
            <a:off x="7342403" y="4518305"/>
            <a:ext cx="184723" cy="184723"/>
          </a:xfrm>
          <a:prstGeom prst="rect">
            <a:avLst/>
          </a:prstGeom>
        </p:spPr>
      </p:pic>
      <p:pic>
        <p:nvPicPr>
          <p:cNvPr id="29" name="object 29"/>
          <p:cNvPicPr/>
          <p:nvPr/>
        </p:nvPicPr>
        <p:blipFill>
          <a:blip r:embed="rId8" cstate="print"/>
          <a:stretch>
            <a:fillRect/>
          </a:stretch>
        </p:blipFill>
        <p:spPr>
          <a:xfrm>
            <a:off x="7342403" y="5009380"/>
            <a:ext cx="184723" cy="184723"/>
          </a:xfrm>
          <a:prstGeom prst="rect">
            <a:avLst/>
          </a:prstGeom>
        </p:spPr>
      </p:pic>
      <p:sp>
        <p:nvSpPr>
          <p:cNvPr id="30" name="object 30"/>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pic>
        <p:nvPicPr>
          <p:cNvPr id="32" name="Picture 2" descr="E:\NIET\Project\xLogo11.png.pagespeed.ic.pydHLuCQEZ.png">
            <a:extLst>
              <a:ext uri="{FF2B5EF4-FFF2-40B4-BE49-F238E27FC236}">
                <a16:creationId xmlns:a16="http://schemas.microsoft.com/office/drawing/2014/main" id="{474B6500-6CD3-0237-8B88-17D3752C978F}"/>
              </a:ext>
            </a:extLst>
          </p:cNvPr>
          <p:cNvPicPr>
            <a:picLocks noChangeAspect="1" noChangeArrowheads="1"/>
          </p:cNvPicPr>
          <p:nvPr/>
        </p:nvPicPr>
        <p:blipFill>
          <a:blip r:embed="rId9"/>
          <a:srcRect/>
          <a:stretch>
            <a:fillRect/>
          </a:stretch>
        </p:blipFill>
        <p:spPr bwMode="auto">
          <a:xfrm>
            <a:off x="0" y="0"/>
            <a:ext cx="1447800" cy="817163"/>
          </a:xfrm>
          <a:prstGeom prst="rect">
            <a:avLst/>
          </a:prstGeom>
          <a:noFill/>
        </p:spPr>
      </p:pic>
      <p:sp>
        <p:nvSpPr>
          <p:cNvPr id="33" name="Title 1">
            <a:extLst>
              <a:ext uri="{FF2B5EF4-FFF2-40B4-BE49-F238E27FC236}">
                <a16:creationId xmlns:a16="http://schemas.microsoft.com/office/drawing/2014/main" id="{290808B1-14A9-1129-10FF-BDC0887BDE78}"/>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err="1">
                <a:ln>
                  <a:noFill/>
                </a:ln>
                <a:solidFill>
                  <a:prstClr val="black"/>
                </a:solidFill>
                <a:effectLst/>
                <a:uLnTx/>
                <a:uFillTx/>
                <a:latin typeface="Calibri" panose="020F0502020204030204"/>
                <a:ea typeface="+mn-ea"/>
                <a:cs typeface="+mn-cs"/>
              </a:rPr>
              <a:t>PixelRNN</a:t>
            </a:r>
            <a:endPar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31946" y="1253640"/>
            <a:ext cx="3216275" cy="330200"/>
          </a:xfrm>
          <a:prstGeom prst="rect">
            <a:avLst/>
          </a:prstGeom>
        </p:spPr>
        <p:txBody>
          <a:bodyPr vert="horz" wrap="square" lIns="0" tIns="12700" rIns="0" bIns="0" rtlCol="0">
            <a:spAutoFit/>
          </a:bodyPr>
          <a:lstStyle/>
          <a:p>
            <a:pPr marL="12700">
              <a:spcBef>
                <a:spcPts val="100"/>
              </a:spcBef>
            </a:pPr>
            <a:r>
              <a:rPr sz="2000" spc="-5" dirty="0">
                <a:solidFill>
                  <a:srgbClr val="5A6166"/>
                </a:solidFill>
                <a:latin typeface="Verdana"/>
                <a:cs typeface="Verdana"/>
              </a:rPr>
              <a:t>PixelRNN</a:t>
            </a:r>
            <a:r>
              <a:rPr sz="2000" spc="-30" dirty="0">
                <a:solidFill>
                  <a:srgbClr val="5A6166"/>
                </a:solidFill>
                <a:latin typeface="Verdana"/>
                <a:cs typeface="Verdana"/>
              </a:rPr>
              <a:t> </a:t>
            </a:r>
            <a:r>
              <a:rPr sz="1200" spc="-5" dirty="0">
                <a:solidFill>
                  <a:srgbClr val="5A6166"/>
                </a:solidFill>
                <a:latin typeface="Verdana"/>
                <a:cs typeface="Verdana"/>
              </a:rPr>
              <a:t>[van</a:t>
            </a:r>
            <a:r>
              <a:rPr sz="1200" spc="-15" dirty="0">
                <a:solidFill>
                  <a:srgbClr val="5A6166"/>
                </a:solidFill>
                <a:latin typeface="Verdana"/>
                <a:cs typeface="Verdana"/>
              </a:rPr>
              <a:t> </a:t>
            </a:r>
            <a:r>
              <a:rPr sz="1200" spc="-5" dirty="0">
                <a:solidFill>
                  <a:srgbClr val="5A6166"/>
                </a:solidFill>
                <a:latin typeface="Verdana"/>
                <a:cs typeface="Verdana"/>
              </a:rPr>
              <a:t>der</a:t>
            </a:r>
            <a:r>
              <a:rPr sz="1200" spc="-15" dirty="0">
                <a:solidFill>
                  <a:srgbClr val="5A6166"/>
                </a:solidFill>
                <a:latin typeface="Verdana"/>
                <a:cs typeface="Verdana"/>
              </a:rPr>
              <a:t> </a:t>
            </a:r>
            <a:r>
              <a:rPr sz="1200" spc="-5" dirty="0">
                <a:solidFill>
                  <a:srgbClr val="5A6166"/>
                </a:solidFill>
                <a:latin typeface="Verdana"/>
                <a:cs typeface="Verdana"/>
              </a:rPr>
              <a:t>oord</a:t>
            </a:r>
            <a:r>
              <a:rPr sz="1200" spc="-20" dirty="0">
                <a:solidFill>
                  <a:srgbClr val="5A6166"/>
                </a:solidFill>
                <a:latin typeface="Verdana"/>
                <a:cs typeface="Verdana"/>
              </a:rPr>
              <a:t> </a:t>
            </a:r>
            <a:r>
              <a:rPr sz="1200" spc="-5" dirty="0">
                <a:solidFill>
                  <a:srgbClr val="5A6166"/>
                </a:solidFill>
                <a:latin typeface="Verdana"/>
                <a:cs typeface="Verdana"/>
              </a:rPr>
              <a:t>et</a:t>
            </a:r>
            <a:r>
              <a:rPr sz="1200" spc="-15" dirty="0">
                <a:solidFill>
                  <a:srgbClr val="5A6166"/>
                </a:solidFill>
                <a:latin typeface="Verdana"/>
                <a:cs typeface="Verdana"/>
              </a:rPr>
              <a:t> </a:t>
            </a:r>
            <a:r>
              <a:rPr sz="1200" spc="-5" dirty="0">
                <a:solidFill>
                  <a:srgbClr val="5A6166"/>
                </a:solidFill>
                <a:latin typeface="Verdana"/>
                <a:cs typeface="Verdana"/>
              </a:rPr>
              <a:t>al.2016]</a:t>
            </a:r>
            <a:endParaRPr sz="1200">
              <a:solidFill>
                <a:prstClr val="black"/>
              </a:solidFill>
              <a:latin typeface="Verdana"/>
              <a:cs typeface="Verdana"/>
            </a:endParaRPr>
          </a:p>
        </p:txBody>
      </p:sp>
      <p:sp>
        <p:nvSpPr>
          <p:cNvPr id="3" name="object 3"/>
          <p:cNvSpPr txBox="1"/>
          <p:nvPr/>
        </p:nvSpPr>
        <p:spPr>
          <a:xfrm>
            <a:off x="431571" y="2291029"/>
            <a:ext cx="4857115" cy="60833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Dependency</a:t>
            </a:r>
            <a:r>
              <a:rPr sz="1200" spc="-15" dirty="0">
                <a:solidFill>
                  <a:srgbClr val="313131"/>
                </a:solidFill>
                <a:latin typeface="Verdana"/>
                <a:cs typeface="Verdana"/>
              </a:rPr>
              <a:t> </a:t>
            </a:r>
            <a:r>
              <a:rPr sz="1200" spc="-5" dirty="0">
                <a:solidFill>
                  <a:srgbClr val="313131"/>
                </a:solidFill>
                <a:latin typeface="Verdana"/>
                <a:cs typeface="Verdana"/>
              </a:rPr>
              <a:t>on</a:t>
            </a:r>
            <a:r>
              <a:rPr sz="1200" spc="-10" dirty="0">
                <a:solidFill>
                  <a:srgbClr val="313131"/>
                </a:solidFill>
                <a:latin typeface="Verdana"/>
                <a:cs typeface="Verdana"/>
              </a:rPr>
              <a:t> </a:t>
            </a:r>
            <a:r>
              <a:rPr sz="1200" spc="-5" dirty="0">
                <a:solidFill>
                  <a:srgbClr val="313131"/>
                </a:solidFill>
                <a:latin typeface="Verdana"/>
                <a:cs typeface="Verdana"/>
              </a:rPr>
              <a:t>previous</a:t>
            </a:r>
            <a:r>
              <a:rPr sz="1200" spc="-10" dirty="0">
                <a:solidFill>
                  <a:srgbClr val="313131"/>
                </a:solidFill>
                <a:latin typeface="Verdana"/>
                <a:cs typeface="Verdana"/>
              </a:rPr>
              <a:t> </a:t>
            </a:r>
            <a:r>
              <a:rPr sz="1200" spc="-5" dirty="0">
                <a:solidFill>
                  <a:srgbClr val="313131"/>
                </a:solidFill>
                <a:latin typeface="Verdana"/>
                <a:cs typeface="Verdana"/>
              </a:rPr>
              <a:t>pixels</a:t>
            </a:r>
            <a:r>
              <a:rPr sz="1200" spc="-10" dirty="0">
                <a:solidFill>
                  <a:srgbClr val="313131"/>
                </a:solidFill>
                <a:latin typeface="Verdana"/>
                <a:cs typeface="Verdana"/>
              </a:rPr>
              <a:t> </a:t>
            </a:r>
            <a:r>
              <a:rPr sz="1200" spc="-5" dirty="0">
                <a:solidFill>
                  <a:srgbClr val="313131"/>
                </a:solidFill>
                <a:latin typeface="Verdana"/>
                <a:cs typeface="Verdana"/>
              </a:rPr>
              <a:t>modeled</a:t>
            </a:r>
            <a:r>
              <a:rPr sz="1200" spc="400" dirty="0">
                <a:solidFill>
                  <a:srgbClr val="313131"/>
                </a:solidFill>
                <a:latin typeface="Verdana"/>
                <a:cs typeface="Verdana"/>
              </a:rPr>
              <a:t> </a:t>
            </a:r>
            <a:r>
              <a:rPr sz="1200" spc="-5" dirty="0">
                <a:solidFill>
                  <a:srgbClr val="313131"/>
                </a:solidFill>
                <a:latin typeface="Verdana"/>
                <a:cs typeface="Verdana"/>
              </a:rPr>
              <a:t>using</a:t>
            </a:r>
            <a:r>
              <a:rPr sz="1200" spc="-10" dirty="0">
                <a:solidFill>
                  <a:srgbClr val="313131"/>
                </a:solidFill>
                <a:latin typeface="Verdana"/>
                <a:cs typeface="Verdana"/>
              </a:rPr>
              <a:t> </a:t>
            </a:r>
            <a:r>
              <a:rPr sz="1200" spc="-5" dirty="0">
                <a:solidFill>
                  <a:srgbClr val="313131"/>
                </a:solidFill>
                <a:latin typeface="Verdana"/>
                <a:cs typeface="Verdana"/>
              </a:rPr>
              <a:t>an</a:t>
            </a:r>
            <a:r>
              <a:rPr sz="1200" spc="-10" dirty="0">
                <a:solidFill>
                  <a:srgbClr val="313131"/>
                </a:solidFill>
                <a:latin typeface="Verdana"/>
                <a:cs typeface="Verdana"/>
              </a:rPr>
              <a:t> </a:t>
            </a:r>
            <a:r>
              <a:rPr sz="1200" spc="-5" dirty="0">
                <a:solidFill>
                  <a:srgbClr val="313131"/>
                </a:solidFill>
                <a:latin typeface="Verdana"/>
                <a:cs typeface="Verdana"/>
              </a:rPr>
              <a:t>RNN</a:t>
            </a:r>
            <a:r>
              <a:rPr sz="1200" spc="-10" dirty="0">
                <a:solidFill>
                  <a:srgbClr val="313131"/>
                </a:solidFill>
                <a:latin typeface="Verdana"/>
                <a:cs typeface="Verdana"/>
              </a:rPr>
              <a:t> </a:t>
            </a:r>
            <a:r>
              <a:rPr sz="1200" spc="-5" dirty="0">
                <a:solidFill>
                  <a:srgbClr val="313131"/>
                </a:solidFill>
                <a:latin typeface="Verdana"/>
                <a:cs typeface="Verdana"/>
              </a:rPr>
              <a:t>(LSTM)</a:t>
            </a:r>
            <a:endParaRPr sz="1200">
              <a:solidFill>
                <a:prstClr val="black"/>
              </a:solidFill>
              <a:latin typeface="Verdana"/>
              <a:cs typeface="Verdana"/>
            </a:endParaRPr>
          </a:p>
          <a:p>
            <a:pPr>
              <a:spcBef>
                <a:spcPts val="5"/>
              </a:spcBef>
            </a:pPr>
            <a:endParaRPr sz="1400">
              <a:solidFill>
                <a:prstClr val="black"/>
              </a:solidFill>
              <a:latin typeface="Verdana"/>
              <a:cs typeface="Verdana"/>
            </a:endParaRPr>
          </a:p>
          <a:p>
            <a:pPr marL="12700"/>
            <a:r>
              <a:rPr sz="1200" spc="-5" dirty="0">
                <a:solidFill>
                  <a:srgbClr val="313131"/>
                </a:solidFill>
                <a:latin typeface="Verdana"/>
                <a:cs typeface="Verdana"/>
              </a:rPr>
              <a:t>Generate</a:t>
            </a:r>
            <a:r>
              <a:rPr sz="1200" spc="-20" dirty="0">
                <a:solidFill>
                  <a:srgbClr val="313131"/>
                </a:solidFill>
                <a:latin typeface="Verdana"/>
                <a:cs typeface="Verdana"/>
              </a:rPr>
              <a:t> </a:t>
            </a:r>
            <a:r>
              <a:rPr sz="1200" spc="-5" dirty="0">
                <a:solidFill>
                  <a:srgbClr val="313131"/>
                </a:solidFill>
                <a:latin typeface="Verdana"/>
                <a:cs typeface="Verdana"/>
              </a:rPr>
              <a:t>image</a:t>
            </a:r>
            <a:r>
              <a:rPr sz="1200" spc="-20" dirty="0">
                <a:solidFill>
                  <a:srgbClr val="313131"/>
                </a:solidFill>
                <a:latin typeface="Verdana"/>
                <a:cs typeface="Verdana"/>
              </a:rPr>
              <a:t> </a:t>
            </a:r>
            <a:r>
              <a:rPr sz="1200" spc="-5" dirty="0">
                <a:solidFill>
                  <a:srgbClr val="313131"/>
                </a:solidFill>
                <a:latin typeface="Verdana"/>
                <a:cs typeface="Verdana"/>
              </a:rPr>
              <a:t>pixels</a:t>
            </a:r>
            <a:r>
              <a:rPr sz="1200" spc="-15" dirty="0">
                <a:solidFill>
                  <a:srgbClr val="313131"/>
                </a:solidFill>
                <a:latin typeface="Verdana"/>
                <a:cs typeface="Verdana"/>
              </a:rPr>
              <a:t> </a:t>
            </a:r>
            <a:r>
              <a:rPr sz="1200" spc="-5" dirty="0">
                <a:solidFill>
                  <a:srgbClr val="313131"/>
                </a:solidFill>
                <a:latin typeface="Verdana"/>
                <a:cs typeface="Verdana"/>
              </a:rPr>
              <a:t>starting</a:t>
            </a:r>
            <a:r>
              <a:rPr sz="1200" spc="-20" dirty="0">
                <a:solidFill>
                  <a:srgbClr val="313131"/>
                </a:solidFill>
                <a:latin typeface="Verdana"/>
                <a:cs typeface="Verdana"/>
              </a:rPr>
              <a:t> </a:t>
            </a:r>
            <a:r>
              <a:rPr sz="1200" spc="-5" dirty="0">
                <a:solidFill>
                  <a:srgbClr val="313131"/>
                </a:solidFill>
                <a:latin typeface="Verdana"/>
                <a:cs typeface="Verdana"/>
              </a:rPr>
              <a:t>from</a:t>
            </a:r>
            <a:r>
              <a:rPr sz="1200" spc="-15" dirty="0">
                <a:solidFill>
                  <a:srgbClr val="313131"/>
                </a:solidFill>
                <a:latin typeface="Verdana"/>
                <a:cs typeface="Verdana"/>
              </a:rPr>
              <a:t> </a:t>
            </a:r>
            <a:r>
              <a:rPr sz="1200" spc="-5" dirty="0">
                <a:solidFill>
                  <a:srgbClr val="313131"/>
                </a:solidFill>
                <a:latin typeface="Verdana"/>
                <a:cs typeface="Verdana"/>
              </a:rPr>
              <a:t>corner</a:t>
            </a:r>
            <a:endParaRPr sz="1200">
              <a:solidFill>
                <a:prstClr val="black"/>
              </a:solidFill>
              <a:latin typeface="Verdana"/>
              <a:cs typeface="Verdana"/>
            </a:endParaRPr>
          </a:p>
        </p:txBody>
      </p:sp>
      <p:sp>
        <p:nvSpPr>
          <p:cNvPr id="4" name="object 4"/>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grpSp>
        <p:nvGrpSpPr>
          <p:cNvPr id="5" name="object 5"/>
          <p:cNvGrpSpPr/>
          <p:nvPr/>
        </p:nvGrpSpPr>
        <p:grpSpPr>
          <a:xfrm>
            <a:off x="5185514" y="3038515"/>
            <a:ext cx="697865" cy="649605"/>
            <a:chOff x="5185513" y="2181264"/>
            <a:chExt cx="697865" cy="649605"/>
          </a:xfrm>
        </p:grpSpPr>
        <p:sp>
          <p:nvSpPr>
            <p:cNvPr id="6" name="object 6"/>
            <p:cNvSpPr/>
            <p:nvPr/>
          </p:nvSpPr>
          <p:spPr>
            <a:xfrm>
              <a:off x="5190276" y="2186027"/>
              <a:ext cx="175260" cy="175260"/>
            </a:xfrm>
            <a:custGeom>
              <a:avLst/>
              <a:gdLst/>
              <a:ahLst/>
              <a:cxnLst/>
              <a:rect l="l" t="t" r="r" b="b"/>
              <a:pathLst>
                <a:path w="175260" h="175260">
                  <a:moveTo>
                    <a:pt x="87598" y="175198"/>
                  </a:moveTo>
                  <a:lnTo>
                    <a:pt x="53501" y="168314"/>
                  </a:lnTo>
                  <a:lnTo>
                    <a:pt x="25656" y="149541"/>
                  </a:lnTo>
                  <a:lnTo>
                    <a:pt x="6883" y="121696"/>
                  </a:lnTo>
                  <a:lnTo>
                    <a:pt x="0" y="87598"/>
                  </a:lnTo>
                  <a:lnTo>
                    <a:pt x="6883" y="53501"/>
                  </a:lnTo>
                  <a:lnTo>
                    <a:pt x="25656" y="25656"/>
                  </a:lnTo>
                  <a:lnTo>
                    <a:pt x="53501" y="6883"/>
                  </a:lnTo>
                  <a:lnTo>
                    <a:pt x="87598" y="0"/>
                  </a:lnTo>
                  <a:lnTo>
                    <a:pt x="104768" y="1697"/>
                  </a:lnTo>
                  <a:lnTo>
                    <a:pt x="149541" y="25656"/>
                  </a:lnTo>
                  <a:lnTo>
                    <a:pt x="173501" y="70429"/>
                  </a:lnTo>
                  <a:lnTo>
                    <a:pt x="175198" y="87598"/>
                  </a:lnTo>
                  <a:lnTo>
                    <a:pt x="168314" y="121696"/>
                  </a:lnTo>
                  <a:lnTo>
                    <a:pt x="149541" y="149541"/>
                  </a:lnTo>
                  <a:lnTo>
                    <a:pt x="121696" y="168314"/>
                  </a:lnTo>
                  <a:lnTo>
                    <a:pt x="87598" y="175198"/>
                  </a:lnTo>
                  <a:close/>
                </a:path>
              </a:pathLst>
            </a:custGeom>
            <a:solidFill>
              <a:srgbClr val="93C47D"/>
            </a:solidFill>
          </p:spPr>
          <p:txBody>
            <a:bodyPr wrap="square" lIns="0" tIns="0" rIns="0" bIns="0" rtlCol="0"/>
            <a:lstStyle/>
            <a:p>
              <a:endParaRPr>
                <a:solidFill>
                  <a:prstClr val="black"/>
                </a:solidFill>
                <a:latin typeface="Calibri"/>
              </a:endParaRPr>
            </a:p>
          </p:txBody>
        </p:sp>
        <p:sp>
          <p:nvSpPr>
            <p:cNvPr id="7" name="object 7"/>
            <p:cNvSpPr/>
            <p:nvPr/>
          </p:nvSpPr>
          <p:spPr>
            <a:xfrm>
              <a:off x="5190276" y="2186027"/>
              <a:ext cx="175260" cy="175260"/>
            </a:xfrm>
            <a:custGeom>
              <a:avLst/>
              <a:gdLst/>
              <a:ahLst/>
              <a:cxnLst/>
              <a:rect l="l" t="t" r="r" b="b"/>
              <a:pathLst>
                <a:path w="175260" h="175260">
                  <a:moveTo>
                    <a:pt x="0" y="87598"/>
                  </a:moveTo>
                  <a:lnTo>
                    <a:pt x="6883" y="53501"/>
                  </a:lnTo>
                  <a:lnTo>
                    <a:pt x="25656" y="25656"/>
                  </a:lnTo>
                  <a:lnTo>
                    <a:pt x="53501" y="6883"/>
                  </a:lnTo>
                  <a:lnTo>
                    <a:pt x="87598" y="0"/>
                  </a:lnTo>
                  <a:lnTo>
                    <a:pt x="136199" y="14716"/>
                  </a:lnTo>
                  <a:lnTo>
                    <a:pt x="168530" y="54075"/>
                  </a:lnTo>
                  <a:lnTo>
                    <a:pt x="175198" y="87598"/>
                  </a:lnTo>
                  <a:lnTo>
                    <a:pt x="168314" y="121696"/>
                  </a:lnTo>
                  <a:lnTo>
                    <a:pt x="149541" y="149541"/>
                  </a:lnTo>
                  <a:lnTo>
                    <a:pt x="121696" y="168314"/>
                  </a:lnTo>
                  <a:lnTo>
                    <a:pt x="87598" y="175198"/>
                  </a:lnTo>
                  <a:lnTo>
                    <a:pt x="53501" y="168314"/>
                  </a:lnTo>
                  <a:lnTo>
                    <a:pt x="25656" y="149541"/>
                  </a:lnTo>
                  <a:lnTo>
                    <a:pt x="6883" y="121696"/>
                  </a:lnTo>
                  <a:lnTo>
                    <a:pt x="0" y="87598"/>
                  </a:lnTo>
                  <a:close/>
                </a:path>
              </a:pathLst>
            </a:custGeom>
            <a:ln w="9524">
              <a:solidFill>
                <a:srgbClr val="37761B"/>
              </a:solidFill>
            </a:ln>
          </p:spPr>
          <p:txBody>
            <a:bodyPr wrap="square" lIns="0" tIns="0" rIns="0" bIns="0" rtlCol="0"/>
            <a:lstStyle/>
            <a:p>
              <a:endParaRPr>
                <a:solidFill>
                  <a:prstClr val="black"/>
                </a:solidFill>
                <a:latin typeface="Calibri"/>
              </a:endParaRPr>
            </a:p>
          </p:txBody>
        </p:sp>
        <p:sp>
          <p:nvSpPr>
            <p:cNvPr id="8" name="object 8"/>
            <p:cNvSpPr/>
            <p:nvPr/>
          </p:nvSpPr>
          <p:spPr>
            <a:xfrm>
              <a:off x="5277876" y="2361227"/>
              <a:ext cx="0" cy="232410"/>
            </a:xfrm>
            <a:custGeom>
              <a:avLst/>
              <a:gdLst/>
              <a:ahLst/>
              <a:cxnLst/>
              <a:rect l="l" t="t" r="r" b="b"/>
              <a:pathLst>
                <a:path h="232410">
                  <a:moveTo>
                    <a:pt x="0" y="0"/>
                  </a:moveTo>
                  <a:lnTo>
                    <a:pt x="0" y="232048"/>
                  </a:lnTo>
                </a:path>
              </a:pathLst>
            </a:custGeom>
            <a:ln w="9524">
              <a:solidFill>
                <a:srgbClr val="666666"/>
              </a:solidFill>
            </a:ln>
          </p:spPr>
          <p:txBody>
            <a:bodyPr wrap="square" lIns="0" tIns="0" rIns="0" bIns="0" rtlCol="0"/>
            <a:lstStyle/>
            <a:p>
              <a:endParaRPr>
                <a:solidFill>
                  <a:prstClr val="black"/>
                </a:solidFill>
                <a:latin typeface="Calibri"/>
              </a:endParaRPr>
            </a:p>
          </p:txBody>
        </p:sp>
        <p:sp>
          <p:nvSpPr>
            <p:cNvPr id="9" name="object 9"/>
            <p:cNvSpPr/>
            <p:nvPr/>
          </p:nvSpPr>
          <p:spPr>
            <a:xfrm>
              <a:off x="5190276" y="2650327"/>
              <a:ext cx="175260" cy="175260"/>
            </a:xfrm>
            <a:custGeom>
              <a:avLst/>
              <a:gdLst/>
              <a:ahLst/>
              <a:cxnLst/>
              <a:rect l="l" t="t" r="r" b="b"/>
              <a:pathLst>
                <a:path w="175260" h="175260">
                  <a:moveTo>
                    <a:pt x="87598" y="175198"/>
                  </a:moveTo>
                  <a:lnTo>
                    <a:pt x="53501" y="168314"/>
                  </a:lnTo>
                  <a:lnTo>
                    <a:pt x="25656" y="149541"/>
                  </a:lnTo>
                  <a:lnTo>
                    <a:pt x="6883" y="121696"/>
                  </a:lnTo>
                  <a:lnTo>
                    <a:pt x="0" y="87598"/>
                  </a:lnTo>
                  <a:lnTo>
                    <a:pt x="6883" y="53501"/>
                  </a:lnTo>
                  <a:lnTo>
                    <a:pt x="25656" y="25656"/>
                  </a:lnTo>
                  <a:lnTo>
                    <a:pt x="53501" y="6883"/>
                  </a:lnTo>
                  <a:lnTo>
                    <a:pt x="87598" y="0"/>
                  </a:lnTo>
                  <a:lnTo>
                    <a:pt x="104768" y="1697"/>
                  </a:lnTo>
                  <a:lnTo>
                    <a:pt x="149541" y="25656"/>
                  </a:lnTo>
                  <a:lnTo>
                    <a:pt x="173501" y="70429"/>
                  </a:lnTo>
                  <a:lnTo>
                    <a:pt x="175198" y="87598"/>
                  </a:lnTo>
                  <a:lnTo>
                    <a:pt x="168314" y="121696"/>
                  </a:lnTo>
                  <a:lnTo>
                    <a:pt x="149541" y="149541"/>
                  </a:lnTo>
                  <a:lnTo>
                    <a:pt x="121696" y="168314"/>
                  </a:lnTo>
                  <a:lnTo>
                    <a:pt x="87598" y="175198"/>
                  </a:lnTo>
                  <a:close/>
                </a:path>
              </a:pathLst>
            </a:custGeom>
            <a:solidFill>
              <a:srgbClr val="93C47D"/>
            </a:solidFill>
          </p:spPr>
          <p:txBody>
            <a:bodyPr wrap="square" lIns="0" tIns="0" rIns="0" bIns="0" rtlCol="0"/>
            <a:lstStyle/>
            <a:p>
              <a:endParaRPr>
                <a:solidFill>
                  <a:prstClr val="black"/>
                </a:solidFill>
                <a:latin typeface="Calibri"/>
              </a:endParaRPr>
            </a:p>
          </p:txBody>
        </p:sp>
        <p:sp>
          <p:nvSpPr>
            <p:cNvPr id="10" name="object 10"/>
            <p:cNvSpPr/>
            <p:nvPr/>
          </p:nvSpPr>
          <p:spPr>
            <a:xfrm>
              <a:off x="5190276" y="2650327"/>
              <a:ext cx="175260" cy="175260"/>
            </a:xfrm>
            <a:custGeom>
              <a:avLst/>
              <a:gdLst/>
              <a:ahLst/>
              <a:cxnLst/>
              <a:rect l="l" t="t" r="r" b="b"/>
              <a:pathLst>
                <a:path w="175260" h="175260">
                  <a:moveTo>
                    <a:pt x="0" y="87598"/>
                  </a:moveTo>
                  <a:lnTo>
                    <a:pt x="6883" y="53501"/>
                  </a:lnTo>
                  <a:lnTo>
                    <a:pt x="25656" y="25656"/>
                  </a:lnTo>
                  <a:lnTo>
                    <a:pt x="53501" y="6883"/>
                  </a:lnTo>
                  <a:lnTo>
                    <a:pt x="87598" y="0"/>
                  </a:lnTo>
                  <a:lnTo>
                    <a:pt x="136199" y="14716"/>
                  </a:lnTo>
                  <a:lnTo>
                    <a:pt x="168530" y="54075"/>
                  </a:lnTo>
                  <a:lnTo>
                    <a:pt x="175198" y="87598"/>
                  </a:lnTo>
                  <a:lnTo>
                    <a:pt x="168314" y="121696"/>
                  </a:lnTo>
                  <a:lnTo>
                    <a:pt x="149541" y="149541"/>
                  </a:lnTo>
                  <a:lnTo>
                    <a:pt x="121696" y="168314"/>
                  </a:lnTo>
                  <a:lnTo>
                    <a:pt x="87598" y="175198"/>
                  </a:lnTo>
                  <a:lnTo>
                    <a:pt x="53501" y="168314"/>
                  </a:lnTo>
                  <a:lnTo>
                    <a:pt x="25656" y="149541"/>
                  </a:lnTo>
                  <a:lnTo>
                    <a:pt x="6883" y="121696"/>
                  </a:lnTo>
                  <a:lnTo>
                    <a:pt x="0" y="87598"/>
                  </a:lnTo>
                  <a:close/>
                </a:path>
              </a:pathLst>
            </a:custGeom>
            <a:ln w="9524">
              <a:solidFill>
                <a:srgbClr val="37761B"/>
              </a:solidFill>
            </a:ln>
          </p:spPr>
          <p:txBody>
            <a:bodyPr wrap="square" lIns="0" tIns="0" rIns="0" bIns="0" rtlCol="0"/>
            <a:lstStyle/>
            <a:p>
              <a:endParaRPr>
                <a:solidFill>
                  <a:prstClr val="black"/>
                </a:solidFill>
                <a:latin typeface="Calibri"/>
              </a:endParaRPr>
            </a:p>
          </p:txBody>
        </p:sp>
        <p:sp>
          <p:nvSpPr>
            <p:cNvPr id="11" name="object 11"/>
            <p:cNvSpPr/>
            <p:nvPr/>
          </p:nvSpPr>
          <p:spPr>
            <a:xfrm>
              <a:off x="5262144" y="2593277"/>
              <a:ext cx="31750" cy="43815"/>
            </a:xfrm>
            <a:custGeom>
              <a:avLst/>
              <a:gdLst/>
              <a:ahLst/>
              <a:cxnLst/>
              <a:rect l="l" t="t" r="r" b="b"/>
              <a:pathLst>
                <a:path w="31750" h="43814">
                  <a:moveTo>
                    <a:pt x="15731" y="43225"/>
                  </a:moveTo>
                  <a:lnTo>
                    <a:pt x="0" y="0"/>
                  </a:lnTo>
                  <a:lnTo>
                    <a:pt x="31464" y="0"/>
                  </a:lnTo>
                  <a:lnTo>
                    <a:pt x="15731" y="43225"/>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12" name="object 12"/>
            <p:cNvSpPr/>
            <p:nvPr/>
          </p:nvSpPr>
          <p:spPr>
            <a:xfrm>
              <a:off x="5262144" y="2271828"/>
              <a:ext cx="384175" cy="365125"/>
            </a:xfrm>
            <a:custGeom>
              <a:avLst/>
              <a:gdLst/>
              <a:ahLst/>
              <a:cxnLst/>
              <a:rect l="l" t="t" r="r" b="b"/>
              <a:pathLst>
                <a:path w="384175" h="365125">
                  <a:moveTo>
                    <a:pt x="0" y="321448"/>
                  </a:moveTo>
                  <a:lnTo>
                    <a:pt x="15731" y="364674"/>
                  </a:lnTo>
                  <a:lnTo>
                    <a:pt x="31464" y="321448"/>
                  </a:lnTo>
                  <a:lnTo>
                    <a:pt x="0" y="321448"/>
                  </a:lnTo>
                  <a:close/>
                </a:path>
                <a:path w="384175" h="365125">
                  <a:moveTo>
                    <a:pt x="103306" y="0"/>
                  </a:moveTo>
                  <a:lnTo>
                    <a:pt x="383656" y="1494"/>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13" name="object 13"/>
            <p:cNvPicPr/>
            <p:nvPr/>
          </p:nvPicPr>
          <p:blipFill>
            <a:blip r:embed="rId2" cstate="print"/>
            <a:stretch>
              <a:fillRect/>
            </a:stretch>
          </p:blipFill>
          <p:spPr>
            <a:xfrm>
              <a:off x="5698189" y="2181265"/>
              <a:ext cx="184723" cy="184723"/>
            </a:xfrm>
            <a:prstGeom prst="rect">
              <a:avLst/>
            </a:prstGeom>
          </p:spPr>
        </p:pic>
        <p:sp>
          <p:nvSpPr>
            <p:cNvPr id="14" name="object 14"/>
            <p:cNvSpPr/>
            <p:nvPr/>
          </p:nvSpPr>
          <p:spPr>
            <a:xfrm>
              <a:off x="5645717" y="2257590"/>
              <a:ext cx="43815" cy="31750"/>
            </a:xfrm>
            <a:custGeom>
              <a:avLst/>
              <a:gdLst/>
              <a:ahLst/>
              <a:cxnLst/>
              <a:rect l="l" t="t" r="r" b="b"/>
              <a:pathLst>
                <a:path w="43814" h="31750">
                  <a:moveTo>
                    <a:pt x="0" y="31464"/>
                  </a:moveTo>
                  <a:lnTo>
                    <a:pt x="166" y="0"/>
                  </a:lnTo>
                  <a:lnTo>
                    <a:pt x="43308" y="15963"/>
                  </a:lnTo>
                  <a:lnTo>
                    <a:pt x="0" y="31464"/>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15" name="object 15"/>
            <p:cNvSpPr/>
            <p:nvPr/>
          </p:nvSpPr>
          <p:spPr>
            <a:xfrm>
              <a:off x="5645717" y="2257590"/>
              <a:ext cx="43815" cy="31750"/>
            </a:xfrm>
            <a:custGeom>
              <a:avLst/>
              <a:gdLst/>
              <a:ahLst/>
              <a:cxnLst/>
              <a:rect l="l" t="t" r="r" b="b"/>
              <a:pathLst>
                <a:path w="43814" h="31750">
                  <a:moveTo>
                    <a:pt x="0" y="31464"/>
                  </a:moveTo>
                  <a:lnTo>
                    <a:pt x="43308" y="15963"/>
                  </a:lnTo>
                  <a:lnTo>
                    <a:pt x="166" y="0"/>
                  </a:lnTo>
                  <a:lnTo>
                    <a:pt x="0" y="31464"/>
                  </a:lnTo>
                  <a:close/>
                </a:path>
              </a:pathLst>
            </a:custGeom>
            <a:ln w="9524">
              <a:solidFill>
                <a:srgbClr val="666666"/>
              </a:solidFill>
            </a:ln>
          </p:spPr>
          <p:txBody>
            <a:bodyPr wrap="square" lIns="0" tIns="0" rIns="0" bIns="0" rtlCol="0"/>
            <a:lstStyle/>
            <a:p>
              <a:endParaRPr>
                <a:solidFill>
                  <a:prstClr val="black"/>
                </a:solidFill>
                <a:latin typeface="Calibri"/>
              </a:endParaRPr>
            </a:p>
          </p:txBody>
        </p:sp>
      </p:grpSp>
      <p:pic>
        <p:nvPicPr>
          <p:cNvPr id="16" name="object 16"/>
          <p:cNvPicPr/>
          <p:nvPr/>
        </p:nvPicPr>
        <p:blipFill>
          <a:blip r:embed="rId3" cstate="print"/>
          <a:stretch>
            <a:fillRect/>
          </a:stretch>
        </p:blipFill>
        <p:spPr>
          <a:xfrm>
            <a:off x="5698190" y="3502816"/>
            <a:ext cx="184723" cy="184723"/>
          </a:xfrm>
          <a:prstGeom prst="rect">
            <a:avLst/>
          </a:prstGeom>
        </p:spPr>
      </p:pic>
      <p:pic>
        <p:nvPicPr>
          <p:cNvPr id="17" name="object 17"/>
          <p:cNvPicPr/>
          <p:nvPr/>
        </p:nvPicPr>
        <p:blipFill>
          <a:blip r:embed="rId4" cstate="print"/>
          <a:stretch>
            <a:fillRect/>
          </a:stretch>
        </p:blipFill>
        <p:spPr>
          <a:xfrm>
            <a:off x="5185515" y="3967116"/>
            <a:ext cx="184723" cy="184723"/>
          </a:xfrm>
          <a:prstGeom prst="rect">
            <a:avLst/>
          </a:prstGeom>
        </p:spPr>
      </p:pic>
      <p:pic>
        <p:nvPicPr>
          <p:cNvPr id="18" name="object 18"/>
          <p:cNvPicPr/>
          <p:nvPr/>
        </p:nvPicPr>
        <p:blipFill>
          <a:blip r:embed="rId4" cstate="print"/>
          <a:stretch>
            <a:fillRect/>
          </a:stretch>
        </p:blipFill>
        <p:spPr>
          <a:xfrm>
            <a:off x="5185515" y="4431416"/>
            <a:ext cx="184723" cy="184723"/>
          </a:xfrm>
          <a:prstGeom prst="rect">
            <a:avLst/>
          </a:prstGeom>
        </p:spPr>
      </p:pic>
      <p:pic>
        <p:nvPicPr>
          <p:cNvPr id="19" name="object 19"/>
          <p:cNvPicPr/>
          <p:nvPr/>
        </p:nvPicPr>
        <p:blipFill>
          <a:blip r:embed="rId3" cstate="print"/>
          <a:stretch>
            <a:fillRect/>
          </a:stretch>
        </p:blipFill>
        <p:spPr>
          <a:xfrm>
            <a:off x="5698190" y="3967116"/>
            <a:ext cx="184723" cy="184723"/>
          </a:xfrm>
          <a:prstGeom prst="rect">
            <a:avLst/>
          </a:prstGeom>
        </p:spPr>
      </p:pic>
      <p:pic>
        <p:nvPicPr>
          <p:cNvPr id="20" name="object 20"/>
          <p:cNvPicPr/>
          <p:nvPr/>
        </p:nvPicPr>
        <p:blipFill>
          <a:blip r:embed="rId3" cstate="print"/>
          <a:stretch>
            <a:fillRect/>
          </a:stretch>
        </p:blipFill>
        <p:spPr>
          <a:xfrm>
            <a:off x="5698190" y="4431416"/>
            <a:ext cx="184723" cy="184723"/>
          </a:xfrm>
          <a:prstGeom prst="rect">
            <a:avLst/>
          </a:prstGeom>
        </p:spPr>
      </p:pic>
      <p:pic>
        <p:nvPicPr>
          <p:cNvPr id="21" name="object 21"/>
          <p:cNvPicPr/>
          <p:nvPr/>
        </p:nvPicPr>
        <p:blipFill>
          <a:blip r:embed="rId4" cstate="print"/>
          <a:stretch>
            <a:fillRect/>
          </a:stretch>
        </p:blipFill>
        <p:spPr>
          <a:xfrm>
            <a:off x="5185515" y="4922490"/>
            <a:ext cx="184723" cy="184723"/>
          </a:xfrm>
          <a:prstGeom prst="rect">
            <a:avLst/>
          </a:prstGeom>
        </p:spPr>
      </p:pic>
      <p:pic>
        <p:nvPicPr>
          <p:cNvPr id="22" name="object 22"/>
          <p:cNvPicPr/>
          <p:nvPr/>
        </p:nvPicPr>
        <p:blipFill>
          <a:blip r:embed="rId3" cstate="print"/>
          <a:stretch>
            <a:fillRect/>
          </a:stretch>
        </p:blipFill>
        <p:spPr>
          <a:xfrm>
            <a:off x="5698190" y="4922490"/>
            <a:ext cx="184723" cy="184723"/>
          </a:xfrm>
          <a:prstGeom prst="rect">
            <a:avLst/>
          </a:prstGeom>
        </p:spPr>
      </p:pic>
      <p:pic>
        <p:nvPicPr>
          <p:cNvPr id="23" name="object 23"/>
          <p:cNvPicPr/>
          <p:nvPr/>
        </p:nvPicPr>
        <p:blipFill>
          <a:blip r:embed="rId5" cstate="print"/>
          <a:stretch>
            <a:fillRect/>
          </a:stretch>
        </p:blipFill>
        <p:spPr>
          <a:xfrm>
            <a:off x="6210865" y="3038516"/>
            <a:ext cx="184723" cy="184723"/>
          </a:xfrm>
          <a:prstGeom prst="rect">
            <a:avLst/>
          </a:prstGeom>
        </p:spPr>
      </p:pic>
      <p:pic>
        <p:nvPicPr>
          <p:cNvPr id="24" name="object 24"/>
          <p:cNvPicPr/>
          <p:nvPr/>
        </p:nvPicPr>
        <p:blipFill>
          <a:blip r:embed="rId4" cstate="print"/>
          <a:stretch>
            <a:fillRect/>
          </a:stretch>
        </p:blipFill>
        <p:spPr>
          <a:xfrm>
            <a:off x="6210865" y="3502816"/>
            <a:ext cx="184723" cy="184723"/>
          </a:xfrm>
          <a:prstGeom prst="rect">
            <a:avLst/>
          </a:prstGeom>
        </p:spPr>
      </p:pic>
      <p:pic>
        <p:nvPicPr>
          <p:cNvPr id="25" name="object 25"/>
          <p:cNvPicPr/>
          <p:nvPr/>
        </p:nvPicPr>
        <p:blipFill>
          <a:blip r:embed="rId5" cstate="print"/>
          <a:stretch>
            <a:fillRect/>
          </a:stretch>
        </p:blipFill>
        <p:spPr>
          <a:xfrm>
            <a:off x="6723539" y="3038516"/>
            <a:ext cx="184724" cy="184723"/>
          </a:xfrm>
          <a:prstGeom prst="rect">
            <a:avLst/>
          </a:prstGeom>
        </p:spPr>
      </p:pic>
      <p:pic>
        <p:nvPicPr>
          <p:cNvPr id="26" name="object 26"/>
          <p:cNvPicPr/>
          <p:nvPr/>
        </p:nvPicPr>
        <p:blipFill>
          <a:blip r:embed="rId4" cstate="print"/>
          <a:stretch>
            <a:fillRect/>
          </a:stretch>
        </p:blipFill>
        <p:spPr>
          <a:xfrm>
            <a:off x="6723539" y="3502816"/>
            <a:ext cx="184724" cy="184723"/>
          </a:xfrm>
          <a:prstGeom prst="rect">
            <a:avLst/>
          </a:prstGeom>
        </p:spPr>
      </p:pic>
      <p:pic>
        <p:nvPicPr>
          <p:cNvPr id="27" name="object 27"/>
          <p:cNvPicPr/>
          <p:nvPr/>
        </p:nvPicPr>
        <p:blipFill>
          <a:blip r:embed="rId4" cstate="print"/>
          <a:stretch>
            <a:fillRect/>
          </a:stretch>
        </p:blipFill>
        <p:spPr>
          <a:xfrm>
            <a:off x="6210865" y="3967116"/>
            <a:ext cx="184723" cy="184723"/>
          </a:xfrm>
          <a:prstGeom prst="rect">
            <a:avLst/>
          </a:prstGeom>
        </p:spPr>
      </p:pic>
      <p:pic>
        <p:nvPicPr>
          <p:cNvPr id="28" name="object 28"/>
          <p:cNvPicPr/>
          <p:nvPr/>
        </p:nvPicPr>
        <p:blipFill>
          <a:blip r:embed="rId4" cstate="print"/>
          <a:stretch>
            <a:fillRect/>
          </a:stretch>
        </p:blipFill>
        <p:spPr>
          <a:xfrm>
            <a:off x="6210865" y="4431416"/>
            <a:ext cx="184723" cy="184723"/>
          </a:xfrm>
          <a:prstGeom prst="rect">
            <a:avLst/>
          </a:prstGeom>
        </p:spPr>
      </p:pic>
      <p:pic>
        <p:nvPicPr>
          <p:cNvPr id="29" name="object 29"/>
          <p:cNvPicPr/>
          <p:nvPr/>
        </p:nvPicPr>
        <p:blipFill>
          <a:blip r:embed="rId4" cstate="print"/>
          <a:stretch>
            <a:fillRect/>
          </a:stretch>
        </p:blipFill>
        <p:spPr>
          <a:xfrm>
            <a:off x="6723539" y="3967116"/>
            <a:ext cx="184724" cy="184723"/>
          </a:xfrm>
          <a:prstGeom prst="rect">
            <a:avLst/>
          </a:prstGeom>
        </p:spPr>
      </p:pic>
      <p:pic>
        <p:nvPicPr>
          <p:cNvPr id="30" name="object 30"/>
          <p:cNvPicPr/>
          <p:nvPr/>
        </p:nvPicPr>
        <p:blipFill>
          <a:blip r:embed="rId4" cstate="print"/>
          <a:stretch>
            <a:fillRect/>
          </a:stretch>
        </p:blipFill>
        <p:spPr>
          <a:xfrm>
            <a:off x="6723539" y="4431416"/>
            <a:ext cx="184724" cy="184723"/>
          </a:xfrm>
          <a:prstGeom prst="rect">
            <a:avLst/>
          </a:prstGeom>
        </p:spPr>
      </p:pic>
      <p:pic>
        <p:nvPicPr>
          <p:cNvPr id="31" name="object 31"/>
          <p:cNvPicPr/>
          <p:nvPr/>
        </p:nvPicPr>
        <p:blipFill>
          <a:blip r:embed="rId4" cstate="print"/>
          <a:stretch>
            <a:fillRect/>
          </a:stretch>
        </p:blipFill>
        <p:spPr>
          <a:xfrm>
            <a:off x="6210865" y="4922490"/>
            <a:ext cx="184723" cy="184723"/>
          </a:xfrm>
          <a:prstGeom prst="rect">
            <a:avLst/>
          </a:prstGeom>
        </p:spPr>
      </p:pic>
      <p:pic>
        <p:nvPicPr>
          <p:cNvPr id="32" name="object 32"/>
          <p:cNvPicPr/>
          <p:nvPr/>
        </p:nvPicPr>
        <p:blipFill>
          <a:blip r:embed="rId4" cstate="print"/>
          <a:stretch>
            <a:fillRect/>
          </a:stretch>
        </p:blipFill>
        <p:spPr>
          <a:xfrm>
            <a:off x="6723539" y="4922490"/>
            <a:ext cx="184724" cy="184723"/>
          </a:xfrm>
          <a:prstGeom prst="rect">
            <a:avLst/>
          </a:prstGeom>
        </p:spPr>
      </p:pic>
      <p:pic>
        <p:nvPicPr>
          <p:cNvPr id="33" name="object 33"/>
          <p:cNvPicPr/>
          <p:nvPr/>
        </p:nvPicPr>
        <p:blipFill>
          <a:blip r:embed="rId6" cstate="print"/>
          <a:stretch>
            <a:fillRect/>
          </a:stretch>
        </p:blipFill>
        <p:spPr>
          <a:xfrm>
            <a:off x="7236215" y="3025116"/>
            <a:ext cx="184723" cy="184723"/>
          </a:xfrm>
          <a:prstGeom prst="rect">
            <a:avLst/>
          </a:prstGeom>
        </p:spPr>
      </p:pic>
      <p:pic>
        <p:nvPicPr>
          <p:cNvPr id="34" name="object 34"/>
          <p:cNvPicPr/>
          <p:nvPr/>
        </p:nvPicPr>
        <p:blipFill>
          <a:blip r:embed="rId7" cstate="print"/>
          <a:stretch>
            <a:fillRect/>
          </a:stretch>
        </p:blipFill>
        <p:spPr>
          <a:xfrm>
            <a:off x="7236215" y="3489416"/>
            <a:ext cx="184723" cy="184723"/>
          </a:xfrm>
          <a:prstGeom prst="rect">
            <a:avLst/>
          </a:prstGeom>
        </p:spPr>
      </p:pic>
      <p:pic>
        <p:nvPicPr>
          <p:cNvPr id="35" name="object 35"/>
          <p:cNvPicPr/>
          <p:nvPr/>
        </p:nvPicPr>
        <p:blipFill>
          <a:blip r:embed="rId6" cstate="print"/>
          <a:stretch>
            <a:fillRect/>
          </a:stretch>
        </p:blipFill>
        <p:spPr>
          <a:xfrm>
            <a:off x="7236215" y="3953716"/>
            <a:ext cx="184723" cy="184723"/>
          </a:xfrm>
          <a:prstGeom prst="rect">
            <a:avLst/>
          </a:prstGeom>
        </p:spPr>
      </p:pic>
      <p:pic>
        <p:nvPicPr>
          <p:cNvPr id="36" name="object 36"/>
          <p:cNvPicPr/>
          <p:nvPr/>
        </p:nvPicPr>
        <p:blipFill>
          <a:blip r:embed="rId7" cstate="print"/>
          <a:stretch>
            <a:fillRect/>
          </a:stretch>
        </p:blipFill>
        <p:spPr>
          <a:xfrm>
            <a:off x="7236215" y="4418015"/>
            <a:ext cx="184723" cy="184723"/>
          </a:xfrm>
          <a:prstGeom prst="rect">
            <a:avLst/>
          </a:prstGeom>
        </p:spPr>
      </p:pic>
      <p:pic>
        <p:nvPicPr>
          <p:cNvPr id="37" name="object 37"/>
          <p:cNvPicPr/>
          <p:nvPr/>
        </p:nvPicPr>
        <p:blipFill>
          <a:blip r:embed="rId7" cstate="print"/>
          <a:stretch>
            <a:fillRect/>
          </a:stretch>
        </p:blipFill>
        <p:spPr>
          <a:xfrm>
            <a:off x="7236215" y="4909090"/>
            <a:ext cx="184723" cy="184723"/>
          </a:xfrm>
          <a:prstGeom prst="rect">
            <a:avLst/>
          </a:prstGeom>
        </p:spPr>
      </p:pic>
      <p:sp>
        <p:nvSpPr>
          <p:cNvPr id="38" name="object 38"/>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pic>
        <p:nvPicPr>
          <p:cNvPr id="40" name="Picture 2" descr="E:\NIET\Project\xLogo11.png.pagespeed.ic.pydHLuCQEZ.png">
            <a:extLst>
              <a:ext uri="{FF2B5EF4-FFF2-40B4-BE49-F238E27FC236}">
                <a16:creationId xmlns:a16="http://schemas.microsoft.com/office/drawing/2014/main" id="{4D99B9F7-A505-F2F7-50E4-9EB1A9B867EA}"/>
              </a:ext>
            </a:extLst>
          </p:cNvPr>
          <p:cNvPicPr>
            <a:picLocks noChangeAspect="1" noChangeArrowheads="1"/>
          </p:cNvPicPr>
          <p:nvPr/>
        </p:nvPicPr>
        <p:blipFill>
          <a:blip r:embed="rId8"/>
          <a:srcRect/>
          <a:stretch>
            <a:fillRect/>
          </a:stretch>
        </p:blipFill>
        <p:spPr bwMode="auto">
          <a:xfrm>
            <a:off x="0" y="0"/>
            <a:ext cx="1447800" cy="817163"/>
          </a:xfrm>
          <a:prstGeom prst="rect">
            <a:avLst/>
          </a:prstGeom>
          <a:noFill/>
        </p:spPr>
      </p:pic>
      <p:sp>
        <p:nvSpPr>
          <p:cNvPr id="41" name="Title 1">
            <a:extLst>
              <a:ext uri="{FF2B5EF4-FFF2-40B4-BE49-F238E27FC236}">
                <a16:creationId xmlns:a16="http://schemas.microsoft.com/office/drawing/2014/main" id="{A166C2C2-A174-7421-C081-0CBFD3648E42}"/>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err="1">
                <a:ln>
                  <a:noFill/>
                </a:ln>
                <a:solidFill>
                  <a:prstClr val="black"/>
                </a:solidFill>
                <a:effectLst/>
                <a:uLnTx/>
                <a:uFillTx/>
                <a:latin typeface="Calibri" panose="020F0502020204030204"/>
                <a:ea typeface="+mn-ea"/>
                <a:cs typeface="+mn-cs"/>
              </a:rPr>
              <a:t>PixelRNN</a:t>
            </a:r>
            <a:endPar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31946" y="1253640"/>
            <a:ext cx="3216275" cy="330200"/>
          </a:xfrm>
          <a:prstGeom prst="rect">
            <a:avLst/>
          </a:prstGeom>
        </p:spPr>
        <p:txBody>
          <a:bodyPr vert="horz" wrap="square" lIns="0" tIns="12700" rIns="0" bIns="0" rtlCol="0">
            <a:spAutoFit/>
          </a:bodyPr>
          <a:lstStyle/>
          <a:p>
            <a:pPr marL="12700">
              <a:spcBef>
                <a:spcPts val="100"/>
              </a:spcBef>
            </a:pPr>
            <a:r>
              <a:rPr sz="2000" spc="-5" dirty="0">
                <a:solidFill>
                  <a:srgbClr val="5A6166"/>
                </a:solidFill>
                <a:latin typeface="Verdana"/>
                <a:cs typeface="Verdana"/>
              </a:rPr>
              <a:t>PixelRNN</a:t>
            </a:r>
            <a:r>
              <a:rPr sz="2000" spc="-30" dirty="0">
                <a:solidFill>
                  <a:srgbClr val="5A6166"/>
                </a:solidFill>
                <a:latin typeface="Verdana"/>
                <a:cs typeface="Verdana"/>
              </a:rPr>
              <a:t> </a:t>
            </a:r>
            <a:r>
              <a:rPr sz="1200" spc="-5" dirty="0">
                <a:solidFill>
                  <a:srgbClr val="5A6166"/>
                </a:solidFill>
                <a:latin typeface="Verdana"/>
                <a:cs typeface="Verdana"/>
              </a:rPr>
              <a:t>[van</a:t>
            </a:r>
            <a:r>
              <a:rPr sz="1200" spc="-15" dirty="0">
                <a:solidFill>
                  <a:srgbClr val="5A6166"/>
                </a:solidFill>
                <a:latin typeface="Verdana"/>
                <a:cs typeface="Verdana"/>
              </a:rPr>
              <a:t> </a:t>
            </a:r>
            <a:r>
              <a:rPr sz="1200" spc="-5" dirty="0">
                <a:solidFill>
                  <a:srgbClr val="5A6166"/>
                </a:solidFill>
                <a:latin typeface="Verdana"/>
                <a:cs typeface="Verdana"/>
              </a:rPr>
              <a:t>der</a:t>
            </a:r>
            <a:r>
              <a:rPr sz="1200" spc="-15" dirty="0">
                <a:solidFill>
                  <a:srgbClr val="5A6166"/>
                </a:solidFill>
                <a:latin typeface="Verdana"/>
                <a:cs typeface="Verdana"/>
              </a:rPr>
              <a:t> </a:t>
            </a:r>
            <a:r>
              <a:rPr sz="1200" spc="-5" dirty="0">
                <a:solidFill>
                  <a:srgbClr val="5A6166"/>
                </a:solidFill>
                <a:latin typeface="Verdana"/>
                <a:cs typeface="Verdana"/>
              </a:rPr>
              <a:t>oord</a:t>
            </a:r>
            <a:r>
              <a:rPr sz="1200" spc="-20" dirty="0">
                <a:solidFill>
                  <a:srgbClr val="5A6166"/>
                </a:solidFill>
                <a:latin typeface="Verdana"/>
                <a:cs typeface="Verdana"/>
              </a:rPr>
              <a:t> </a:t>
            </a:r>
            <a:r>
              <a:rPr sz="1200" spc="-5" dirty="0">
                <a:solidFill>
                  <a:srgbClr val="5A6166"/>
                </a:solidFill>
                <a:latin typeface="Verdana"/>
                <a:cs typeface="Verdana"/>
              </a:rPr>
              <a:t>et</a:t>
            </a:r>
            <a:r>
              <a:rPr sz="1200" spc="-15" dirty="0">
                <a:solidFill>
                  <a:srgbClr val="5A6166"/>
                </a:solidFill>
                <a:latin typeface="Verdana"/>
                <a:cs typeface="Verdana"/>
              </a:rPr>
              <a:t> </a:t>
            </a:r>
            <a:r>
              <a:rPr sz="1200" spc="-5" dirty="0">
                <a:solidFill>
                  <a:srgbClr val="5A6166"/>
                </a:solidFill>
                <a:latin typeface="Verdana"/>
                <a:cs typeface="Verdana"/>
              </a:rPr>
              <a:t>al.2016]</a:t>
            </a:r>
            <a:endParaRPr sz="1200">
              <a:solidFill>
                <a:prstClr val="black"/>
              </a:solidFill>
              <a:latin typeface="Verdana"/>
              <a:cs typeface="Verdana"/>
            </a:endParaRPr>
          </a:p>
        </p:txBody>
      </p:sp>
      <p:sp>
        <p:nvSpPr>
          <p:cNvPr id="3" name="object 3"/>
          <p:cNvSpPr txBox="1"/>
          <p:nvPr/>
        </p:nvSpPr>
        <p:spPr>
          <a:xfrm>
            <a:off x="431571" y="2291029"/>
            <a:ext cx="4857115" cy="60833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Dependency</a:t>
            </a:r>
            <a:r>
              <a:rPr sz="1200" spc="-15" dirty="0">
                <a:solidFill>
                  <a:srgbClr val="313131"/>
                </a:solidFill>
                <a:latin typeface="Verdana"/>
                <a:cs typeface="Verdana"/>
              </a:rPr>
              <a:t> </a:t>
            </a:r>
            <a:r>
              <a:rPr sz="1200" spc="-5" dirty="0">
                <a:solidFill>
                  <a:srgbClr val="313131"/>
                </a:solidFill>
                <a:latin typeface="Verdana"/>
                <a:cs typeface="Verdana"/>
              </a:rPr>
              <a:t>on</a:t>
            </a:r>
            <a:r>
              <a:rPr sz="1200" spc="-10" dirty="0">
                <a:solidFill>
                  <a:srgbClr val="313131"/>
                </a:solidFill>
                <a:latin typeface="Verdana"/>
                <a:cs typeface="Verdana"/>
              </a:rPr>
              <a:t> </a:t>
            </a:r>
            <a:r>
              <a:rPr sz="1200" spc="-5" dirty="0">
                <a:solidFill>
                  <a:srgbClr val="313131"/>
                </a:solidFill>
                <a:latin typeface="Verdana"/>
                <a:cs typeface="Verdana"/>
              </a:rPr>
              <a:t>previous</a:t>
            </a:r>
            <a:r>
              <a:rPr sz="1200" spc="-10" dirty="0">
                <a:solidFill>
                  <a:srgbClr val="313131"/>
                </a:solidFill>
                <a:latin typeface="Verdana"/>
                <a:cs typeface="Verdana"/>
              </a:rPr>
              <a:t> </a:t>
            </a:r>
            <a:r>
              <a:rPr sz="1200" spc="-5" dirty="0">
                <a:solidFill>
                  <a:srgbClr val="313131"/>
                </a:solidFill>
                <a:latin typeface="Verdana"/>
                <a:cs typeface="Verdana"/>
              </a:rPr>
              <a:t>pixels</a:t>
            </a:r>
            <a:r>
              <a:rPr sz="1200" spc="-10" dirty="0">
                <a:solidFill>
                  <a:srgbClr val="313131"/>
                </a:solidFill>
                <a:latin typeface="Verdana"/>
                <a:cs typeface="Verdana"/>
              </a:rPr>
              <a:t> </a:t>
            </a:r>
            <a:r>
              <a:rPr sz="1200" spc="-5" dirty="0">
                <a:solidFill>
                  <a:srgbClr val="313131"/>
                </a:solidFill>
                <a:latin typeface="Verdana"/>
                <a:cs typeface="Verdana"/>
              </a:rPr>
              <a:t>modeled</a:t>
            </a:r>
            <a:r>
              <a:rPr sz="1200" spc="400" dirty="0">
                <a:solidFill>
                  <a:srgbClr val="313131"/>
                </a:solidFill>
                <a:latin typeface="Verdana"/>
                <a:cs typeface="Verdana"/>
              </a:rPr>
              <a:t> </a:t>
            </a:r>
            <a:r>
              <a:rPr sz="1200" spc="-5" dirty="0">
                <a:solidFill>
                  <a:srgbClr val="313131"/>
                </a:solidFill>
                <a:latin typeface="Verdana"/>
                <a:cs typeface="Verdana"/>
              </a:rPr>
              <a:t>using</a:t>
            </a:r>
            <a:r>
              <a:rPr sz="1200" spc="-10" dirty="0">
                <a:solidFill>
                  <a:srgbClr val="313131"/>
                </a:solidFill>
                <a:latin typeface="Verdana"/>
                <a:cs typeface="Verdana"/>
              </a:rPr>
              <a:t> </a:t>
            </a:r>
            <a:r>
              <a:rPr sz="1200" spc="-5" dirty="0">
                <a:solidFill>
                  <a:srgbClr val="313131"/>
                </a:solidFill>
                <a:latin typeface="Verdana"/>
                <a:cs typeface="Verdana"/>
              </a:rPr>
              <a:t>an</a:t>
            </a:r>
            <a:r>
              <a:rPr sz="1200" spc="-10" dirty="0">
                <a:solidFill>
                  <a:srgbClr val="313131"/>
                </a:solidFill>
                <a:latin typeface="Verdana"/>
                <a:cs typeface="Verdana"/>
              </a:rPr>
              <a:t> </a:t>
            </a:r>
            <a:r>
              <a:rPr sz="1200" spc="-5" dirty="0">
                <a:solidFill>
                  <a:srgbClr val="313131"/>
                </a:solidFill>
                <a:latin typeface="Verdana"/>
                <a:cs typeface="Verdana"/>
              </a:rPr>
              <a:t>RNN</a:t>
            </a:r>
            <a:r>
              <a:rPr sz="1200" spc="-10" dirty="0">
                <a:solidFill>
                  <a:srgbClr val="313131"/>
                </a:solidFill>
                <a:latin typeface="Verdana"/>
                <a:cs typeface="Verdana"/>
              </a:rPr>
              <a:t> </a:t>
            </a:r>
            <a:r>
              <a:rPr sz="1200" spc="-5" dirty="0">
                <a:solidFill>
                  <a:srgbClr val="313131"/>
                </a:solidFill>
                <a:latin typeface="Verdana"/>
                <a:cs typeface="Verdana"/>
              </a:rPr>
              <a:t>(LSTM)</a:t>
            </a:r>
            <a:endParaRPr sz="1200">
              <a:solidFill>
                <a:prstClr val="black"/>
              </a:solidFill>
              <a:latin typeface="Verdana"/>
              <a:cs typeface="Verdana"/>
            </a:endParaRPr>
          </a:p>
          <a:p>
            <a:pPr>
              <a:spcBef>
                <a:spcPts val="5"/>
              </a:spcBef>
            </a:pPr>
            <a:endParaRPr sz="1400">
              <a:solidFill>
                <a:prstClr val="black"/>
              </a:solidFill>
              <a:latin typeface="Verdana"/>
              <a:cs typeface="Verdana"/>
            </a:endParaRPr>
          </a:p>
          <a:p>
            <a:pPr marL="12700"/>
            <a:r>
              <a:rPr sz="1200" spc="-5" dirty="0">
                <a:solidFill>
                  <a:srgbClr val="313131"/>
                </a:solidFill>
                <a:latin typeface="Verdana"/>
                <a:cs typeface="Verdana"/>
              </a:rPr>
              <a:t>Generate</a:t>
            </a:r>
            <a:r>
              <a:rPr sz="1200" spc="-20" dirty="0">
                <a:solidFill>
                  <a:srgbClr val="313131"/>
                </a:solidFill>
                <a:latin typeface="Verdana"/>
                <a:cs typeface="Verdana"/>
              </a:rPr>
              <a:t> </a:t>
            </a:r>
            <a:r>
              <a:rPr sz="1200" spc="-5" dirty="0">
                <a:solidFill>
                  <a:srgbClr val="313131"/>
                </a:solidFill>
                <a:latin typeface="Verdana"/>
                <a:cs typeface="Verdana"/>
              </a:rPr>
              <a:t>image</a:t>
            </a:r>
            <a:r>
              <a:rPr sz="1200" spc="-20" dirty="0">
                <a:solidFill>
                  <a:srgbClr val="313131"/>
                </a:solidFill>
                <a:latin typeface="Verdana"/>
                <a:cs typeface="Verdana"/>
              </a:rPr>
              <a:t> </a:t>
            </a:r>
            <a:r>
              <a:rPr sz="1200" spc="-5" dirty="0">
                <a:solidFill>
                  <a:srgbClr val="313131"/>
                </a:solidFill>
                <a:latin typeface="Verdana"/>
                <a:cs typeface="Verdana"/>
              </a:rPr>
              <a:t>pixels</a:t>
            </a:r>
            <a:r>
              <a:rPr sz="1200" spc="-15" dirty="0">
                <a:solidFill>
                  <a:srgbClr val="313131"/>
                </a:solidFill>
                <a:latin typeface="Verdana"/>
                <a:cs typeface="Verdana"/>
              </a:rPr>
              <a:t> </a:t>
            </a:r>
            <a:r>
              <a:rPr sz="1200" spc="-5" dirty="0">
                <a:solidFill>
                  <a:srgbClr val="313131"/>
                </a:solidFill>
                <a:latin typeface="Verdana"/>
                <a:cs typeface="Verdana"/>
              </a:rPr>
              <a:t>starting</a:t>
            </a:r>
            <a:r>
              <a:rPr sz="1200" spc="-20" dirty="0">
                <a:solidFill>
                  <a:srgbClr val="313131"/>
                </a:solidFill>
                <a:latin typeface="Verdana"/>
                <a:cs typeface="Verdana"/>
              </a:rPr>
              <a:t> </a:t>
            </a:r>
            <a:r>
              <a:rPr sz="1200" spc="-5" dirty="0">
                <a:solidFill>
                  <a:srgbClr val="313131"/>
                </a:solidFill>
                <a:latin typeface="Verdana"/>
                <a:cs typeface="Verdana"/>
              </a:rPr>
              <a:t>from</a:t>
            </a:r>
            <a:r>
              <a:rPr sz="1200" spc="-15" dirty="0">
                <a:solidFill>
                  <a:srgbClr val="313131"/>
                </a:solidFill>
                <a:latin typeface="Verdana"/>
                <a:cs typeface="Verdana"/>
              </a:rPr>
              <a:t> </a:t>
            </a:r>
            <a:r>
              <a:rPr sz="1200" spc="-5" dirty="0">
                <a:solidFill>
                  <a:srgbClr val="313131"/>
                </a:solidFill>
                <a:latin typeface="Verdana"/>
                <a:cs typeface="Verdana"/>
              </a:rPr>
              <a:t>corner</a:t>
            </a:r>
            <a:endParaRPr sz="1200">
              <a:solidFill>
                <a:prstClr val="black"/>
              </a:solidFill>
              <a:latin typeface="Verdana"/>
              <a:cs typeface="Verdana"/>
            </a:endParaRPr>
          </a:p>
        </p:txBody>
      </p:sp>
      <p:sp>
        <p:nvSpPr>
          <p:cNvPr id="4" name="object 4"/>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grpSp>
        <p:nvGrpSpPr>
          <p:cNvPr id="5" name="object 5"/>
          <p:cNvGrpSpPr/>
          <p:nvPr/>
        </p:nvGrpSpPr>
        <p:grpSpPr>
          <a:xfrm>
            <a:off x="5156016" y="2997218"/>
            <a:ext cx="1210310" cy="1113790"/>
            <a:chOff x="5156016" y="2139968"/>
            <a:chExt cx="1210310" cy="1113790"/>
          </a:xfrm>
        </p:grpSpPr>
        <p:sp>
          <p:nvSpPr>
            <p:cNvPr id="6" name="object 6"/>
            <p:cNvSpPr/>
            <p:nvPr/>
          </p:nvSpPr>
          <p:spPr>
            <a:xfrm>
              <a:off x="5160778" y="2144730"/>
              <a:ext cx="175260" cy="175260"/>
            </a:xfrm>
            <a:custGeom>
              <a:avLst/>
              <a:gdLst/>
              <a:ahLst/>
              <a:cxnLst/>
              <a:rect l="l" t="t" r="r" b="b"/>
              <a:pathLst>
                <a:path w="175260" h="175260">
                  <a:moveTo>
                    <a:pt x="87598" y="175198"/>
                  </a:moveTo>
                  <a:lnTo>
                    <a:pt x="53501" y="168314"/>
                  </a:lnTo>
                  <a:lnTo>
                    <a:pt x="25656" y="149541"/>
                  </a:lnTo>
                  <a:lnTo>
                    <a:pt x="6883" y="121697"/>
                  </a:lnTo>
                  <a:lnTo>
                    <a:pt x="0" y="87598"/>
                  </a:lnTo>
                  <a:lnTo>
                    <a:pt x="6883" y="53501"/>
                  </a:lnTo>
                  <a:lnTo>
                    <a:pt x="25656" y="25656"/>
                  </a:lnTo>
                  <a:lnTo>
                    <a:pt x="53501" y="6883"/>
                  </a:lnTo>
                  <a:lnTo>
                    <a:pt x="87598" y="0"/>
                  </a:lnTo>
                  <a:lnTo>
                    <a:pt x="104768" y="1698"/>
                  </a:lnTo>
                  <a:lnTo>
                    <a:pt x="149541" y="25656"/>
                  </a:lnTo>
                  <a:lnTo>
                    <a:pt x="173500" y="70430"/>
                  </a:lnTo>
                  <a:lnTo>
                    <a:pt x="175198" y="87598"/>
                  </a:lnTo>
                  <a:lnTo>
                    <a:pt x="168314" y="121697"/>
                  </a:lnTo>
                  <a:lnTo>
                    <a:pt x="149541" y="149541"/>
                  </a:lnTo>
                  <a:lnTo>
                    <a:pt x="121696" y="168314"/>
                  </a:lnTo>
                  <a:lnTo>
                    <a:pt x="87598" y="175198"/>
                  </a:lnTo>
                  <a:close/>
                </a:path>
              </a:pathLst>
            </a:custGeom>
            <a:solidFill>
              <a:srgbClr val="93C47D"/>
            </a:solidFill>
          </p:spPr>
          <p:txBody>
            <a:bodyPr wrap="square" lIns="0" tIns="0" rIns="0" bIns="0" rtlCol="0"/>
            <a:lstStyle/>
            <a:p>
              <a:endParaRPr>
                <a:solidFill>
                  <a:prstClr val="black"/>
                </a:solidFill>
                <a:latin typeface="Calibri"/>
              </a:endParaRPr>
            </a:p>
          </p:txBody>
        </p:sp>
        <p:sp>
          <p:nvSpPr>
            <p:cNvPr id="7" name="object 7"/>
            <p:cNvSpPr/>
            <p:nvPr/>
          </p:nvSpPr>
          <p:spPr>
            <a:xfrm>
              <a:off x="5160778" y="2144730"/>
              <a:ext cx="175260" cy="175260"/>
            </a:xfrm>
            <a:custGeom>
              <a:avLst/>
              <a:gdLst/>
              <a:ahLst/>
              <a:cxnLst/>
              <a:rect l="l" t="t" r="r" b="b"/>
              <a:pathLst>
                <a:path w="175260" h="175260">
                  <a:moveTo>
                    <a:pt x="0" y="87598"/>
                  </a:moveTo>
                  <a:lnTo>
                    <a:pt x="6883" y="53501"/>
                  </a:lnTo>
                  <a:lnTo>
                    <a:pt x="25656" y="25656"/>
                  </a:lnTo>
                  <a:lnTo>
                    <a:pt x="53501" y="6883"/>
                  </a:lnTo>
                  <a:lnTo>
                    <a:pt x="87598" y="0"/>
                  </a:lnTo>
                  <a:lnTo>
                    <a:pt x="136199" y="14716"/>
                  </a:lnTo>
                  <a:lnTo>
                    <a:pt x="168530" y="54075"/>
                  </a:lnTo>
                  <a:lnTo>
                    <a:pt x="175198" y="87598"/>
                  </a:lnTo>
                  <a:lnTo>
                    <a:pt x="168314" y="121697"/>
                  </a:lnTo>
                  <a:lnTo>
                    <a:pt x="149541" y="149541"/>
                  </a:lnTo>
                  <a:lnTo>
                    <a:pt x="121696" y="168314"/>
                  </a:lnTo>
                  <a:lnTo>
                    <a:pt x="87598" y="175198"/>
                  </a:lnTo>
                  <a:lnTo>
                    <a:pt x="53501" y="168314"/>
                  </a:lnTo>
                  <a:lnTo>
                    <a:pt x="25656" y="149541"/>
                  </a:lnTo>
                  <a:lnTo>
                    <a:pt x="6883" y="121697"/>
                  </a:lnTo>
                  <a:lnTo>
                    <a:pt x="0" y="87598"/>
                  </a:lnTo>
                  <a:close/>
                </a:path>
              </a:pathLst>
            </a:custGeom>
            <a:ln w="9524">
              <a:solidFill>
                <a:srgbClr val="37761B"/>
              </a:solidFill>
            </a:ln>
          </p:spPr>
          <p:txBody>
            <a:bodyPr wrap="square" lIns="0" tIns="0" rIns="0" bIns="0" rtlCol="0"/>
            <a:lstStyle/>
            <a:p>
              <a:endParaRPr>
                <a:solidFill>
                  <a:prstClr val="black"/>
                </a:solidFill>
                <a:latin typeface="Calibri"/>
              </a:endParaRPr>
            </a:p>
          </p:txBody>
        </p:sp>
        <p:sp>
          <p:nvSpPr>
            <p:cNvPr id="8" name="object 8"/>
            <p:cNvSpPr/>
            <p:nvPr/>
          </p:nvSpPr>
          <p:spPr>
            <a:xfrm>
              <a:off x="5248379" y="2319930"/>
              <a:ext cx="0" cy="232410"/>
            </a:xfrm>
            <a:custGeom>
              <a:avLst/>
              <a:gdLst/>
              <a:ahLst/>
              <a:cxnLst/>
              <a:rect l="l" t="t" r="r" b="b"/>
              <a:pathLst>
                <a:path h="232410">
                  <a:moveTo>
                    <a:pt x="0" y="0"/>
                  </a:moveTo>
                  <a:lnTo>
                    <a:pt x="0" y="232048"/>
                  </a:lnTo>
                </a:path>
              </a:pathLst>
            </a:custGeom>
            <a:ln w="9524">
              <a:solidFill>
                <a:srgbClr val="666666"/>
              </a:solidFill>
            </a:ln>
          </p:spPr>
          <p:txBody>
            <a:bodyPr wrap="square" lIns="0" tIns="0" rIns="0" bIns="0" rtlCol="0"/>
            <a:lstStyle/>
            <a:p>
              <a:endParaRPr>
                <a:solidFill>
                  <a:prstClr val="black"/>
                </a:solidFill>
                <a:latin typeface="Calibri"/>
              </a:endParaRPr>
            </a:p>
          </p:txBody>
        </p:sp>
        <p:sp>
          <p:nvSpPr>
            <p:cNvPr id="9" name="object 9"/>
            <p:cNvSpPr/>
            <p:nvPr/>
          </p:nvSpPr>
          <p:spPr>
            <a:xfrm>
              <a:off x="5160778" y="2609030"/>
              <a:ext cx="175260" cy="175260"/>
            </a:xfrm>
            <a:custGeom>
              <a:avLst/>
              <a:gdLst/>
              <a:ahLst/>
              <a:cxnLst/>
              <a:rect l="l" t="t" r="r" b="b"/>
              <a:pathLst>
                <a:path w="175260" h="175260">
                  <a:moveTo>
                    <a:pt x="87598" y="175198"/>
                  </a:moveTo>
                  <a:lnTo>
                    <a:pt x="53501" y="168314"/>
                  </a:lnTo>
                  <a:lnTo>
                    <a:pt x="25656" y="149541"/>
                  </a:lnTo>
                  <a:lnTo>
                    <a:pt x="6883" y="121697"/>
                  </a:lnTo>
                  <a:lnTo>
                    <a:pt x="0" y="87598"/>
                  </a:lnTo>
                  <a:lnTo>
                    <a:pt x="6883" y="53501"/>
                  </a:lnTo>
                  <a:lnTo>
                    <a:pt x="25656" y="25656"/>
                  </a:lnTo>
                  <a:lnTo>
                    <a:pt x="53501" y="6883"/>
                  </a:lnTo>
                  <a:lnTo>
                    <a:pt x="87598" y="0"/>
                  </a:lnTo>
                  <a:lnTo>
                    <a:pt x="104768" y="1698"/>
                  </a:lnTo>
                  <a:lnTo>
                    <a:pt x="149541" y="25656"/>
                  </a:lnTo>
                  <a:lnTo>
                    <a:pt x="173500" y="70430"/>
                  </a:lnTo>
                  <a:lnTo>
                    <a:pt x="175198" y="87598"/>
                  </a:lnTo>
                  <a:lnTo>
                    <a:pt x="168314" y="121697"/>
                  </a:lnTo>
                  <a:lnTo>
                    <a:pt x="149541" y="149541"/>
                  </a:lnTo>
                  <a:lnTo>
                    <a:pt x="121696" y="168314"/>
                  </a:lnTo>
                  <a:lnTo>
                    <a:pt x="87598" y="175198"/>
                  </a:lnTo>
                  <a:close/>
                </a:path>
              </a:pathLst>
            </a:custGeom>
            <a:solidFill>
              <a:srgbClr val="93C47D"/>
            </a:solidFill>
          </p:spPr>
          <p:txBody>
            <a:bodyPr wrap="square" lIns="0" tIns="0" rIns="0" bIns="0" rtlCol="0"/>
            <a:lstStyle/>
            <a:p>
              <a:endParaRPr>
                <a:solidFill>
                  <a:prstClr val="black"/>
                </a:solidFill>
                <a:latin typeface="Calibri"/>
              </a:endParaRPr>
            </a:p>
          </p:txBody>
        </p:sp>
        <p:sp>
          <p:nvSpPr>
            <p:cNvPr id="10" name="object 10"/>
            <p:cNvSpPr/>
            <p:nvPr/>
          </p:nvSpPr>
          <p:spPr>
            <a:xfrm>
              <a:off x="5160778" y="2609030"/>
              <a:ext cx="175260" cy="175260"/>
            </a:xfrm>
            <a:custGeom>
              <a:avLst/>
              <a:gdLst/>
              <a:ahLst/>
              <a:cxnLst/>
              <a:rect l="l" t="t" r="r" b="b"/>
              <a:pathLst>
                <a:path w="175260" h="175260">
                  <a:moveTo>
                    <a:pt x="0" y="87598"/>
                  </a:moveTo>
                  <a:lnTo>
                    <a:pt x="6883" y="53501"/>
                  </a:lnTo>
                  <a:lnTo>
                    <a:pt x="25656" y="25656"/>
                  </a:lnTo>
                  <a:lnTo>
                    <a:pt x="53501" y="6883"/>
                  </a:lnTo>
                  <a:lnTo>
                    <a:pt x="87598" y="0"/>
                  </a:lnTo>
                  <a:lnTo>
                    <a:pt x="136199" y="14716"/>
                  </a:lnTo>
                  <a:lnTo>
                    <a:pt x="168530" y="54075"/>
                  </a:lnTo>
                  <a:lnTo>
                    <a:pt x="175198" y="87598"/>
                  </a:lnTo>
                  <a:lnTo>
                    <a:pt x="168314" y="121697"/>
                  </a:lnTo>
                  <a:lnTo>
                    <a:pt x="149541" y="149541"/>
                  </a:lnTo>
                  <a:lnTo>
                    <a:pt x="121696" y="168314"/>
                  </a:lnTo>
                  <a:lnTo>
                    <a:pt x="87598" y="175198"/>
                  </a:lnTo>
                  <a:lnTo>
                    <a:pt x="53501" y="168314"/>
                  </a:lnTo>
                  <a:lnTo>
                    <a:pt x="25656" y="149541"/>
                  </a:lnTo>
                  <a:lnTo>
                    <a:pt x="6883" y="121697"/>
                  </a:lnTo>
                  <a:lnTo>
                    <a:pt x="0" y="87598"/>
                  </a:lnTo>
                  <a:close/>
                </a:path>
              </a:pathLst>
            </a:custGeom>
            <a:ln w="9524">
              <a:solidFill>
                <a:srgbClr val="37761B"/>
              </a:solidFill>
            </a:ln>
          </p:spPr>
          <p:txBody>
            <a:bodyPr wrap="square" lIns="0" tIns="0" rIns="0" bIns="0" rtlCol="0"/>
            <a:lstStyle/>
            <a:p>
              <a:endParaRPr>
                <a:solidFill>
                  <a:prstClr val="black"/>
                </a:solidFill>
                <a:latin typeface="Calibri"/>
              </a:endParaRPr>
            </a:p>
          </p:txBody>
        </p:sp>
        <p:sp>
          <p:nvSpPr>
            <p:cNvPr id="11" name="object 11"/>
            <p:cNvSpPr/>
            <p:nvPr/>
          </p:nvSpPr>
          <p:spPr>
            <a:xfrm>
              <a:off x="5232646" y="2551980"/>
              <a:ext cx="31750" cy="43815"/>
            </a:xfrm>
            <a:custGeom>
              <a:avLst/>
              <a:gdLst/>
              <a:ahLst/>
              <a:cxnLst/>
              <a:rect l="l" t="t" r="r" b="b"/>
              <a:pathLst>
                <a:path w="31750" h="43814">
                  <a:moveTo>
                    <a:pt x="15731" y="43225"/>
                  </a:moveTo>
                  <a:lnTo>
                    <a:pt x="0" y="0"/>
                  </a:lnTo>
                  <a:lnTo>
                    <a:pt x="31464" y="0"/>
                  </a:lnTo>
                  <a:lnTo>
                    <a:pt x="15731" y="43225"/>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12" name="object 12"/>
            <p:cNvSpPr/>
            <p:nvPr/>
          </p:nvSpPr>
          <p:spPr>
            <a:xfrm>
              <a:off x="5232646" y="2230531"/>
              <a:ext cx="384175" cy="365125"/>
            </a:xfrm>
            <a:custGeom>
              <a:avLst/>
              <a:gdLst/>
              <a:ahLst/>
              <a:cxnLst/>
              <a:rect l="l" t="t" r="r" b="b"/>
              <a:pathLst>
                <a:path w="384175" h="365125">
                  <a:moveTo>
                    <a:pt x="0" y="321448"/>
                  </a:moveTo>
                  <a:lnTo>
                    <a:pt x="15731" y="364674"/>
                  </a:lnTo>
                  <a:lnTo>
                    <a:pt x="31464" y="321448"/>
                  </a:lnTo>
                  <a:lnTo>
                    <a:pt x="0" y="321448"/>
                  </a:lnTo>
                  <a:close/>
                </a:path>
                <a:path w="384175" h="365125">
                  <a:moveTo>
                    <a:pt x="103306" y="0"/>
                  </a:moveTo>
                  <a:lnTo>
                    <a:pt x="383656" y="1494"/>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13" name="object 13"/>
            <p:cNvPicPr/>
            <p:nvPr/>
          </p:nvPicPr>
          <p:blipFill>
            <a:blip r:embed="rId2" cstate="print"/>
            <a:stretch>
              <a:fillRect/>
            </a:stretch>
          </p:blipFill>
          <p:spPr>
            <a:xfrm>
              <a:off x="5668692" y="2139968"/>
              <a:ext cx="184723" cy="184723"/>
            </a:xfrm>
            <a:prstGeom prst="rect">
              <a:avLst/>
            </a:prstGeom>
          </p:spPr>
        </p:pic>
        <p:sp>
          <p:nvSpPr>
            <p:cNvPr id="14" name="object 14"/>
            <p:cNvSpPr/>
            <p:nvPr/>
          </p:nvSpPr>
          <p:spPr>
            <a:xfrm>
              <a:off x="5616220" y="2216293"/>
              <a:ext cx="43815" cy="31750"/>
            </a:xfrm>
            <a:custGeom>
              <a:avLst/>
              <a:gdLst/>
              <a:ahLst/>
              <a:cxnLst/>
              <a:rect l="l" t="t" r="r" b="b"/>
              <a:pathLst>
                <a:path w="43814" h="31750">
                  <a:moveTo>
                    <a:pt x="0" y="31464"/>
                  </a:moveTo>
                  <a:lnTo>
                    <a:pt x="167" y="0"/>
                  </a:lnTo>
                  <a:lnTo>
                    <a:pt x="43308" y="15962"/>
                  </a:lnTo>
                  <a:lnTo>
                    <a:pt x="0" y="31464"/>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15" name="object 15"/>
            <p:cNvSpPr/>
            <p:nvPr/>
          </p:nvSpPr>
          <p:spPr>
            <a:xfrm>
              <a:off x="5248379" y="2216293"/>
              <a:ext cx="411480" cy="800100"/>
            </a:xfrm>
            <a:custGeom>
              <a:avLst/>
              <a:gdLst/>
              <a:ahLst/>
              <a:cxnLst/>
              <a:rect l="l" t="t" r="r" b="b"/>
              <a:pathLst>
                <a:path w="411479" h="800100">
                  <a:moveTo>
                    <a:pt x="367840" y="31464"/>
                  </a:moveTo>
                  <a:lnTo>
                    <a:pt x="411149" y="15962"/>
                  </a:lnTo>
                  <a:lnTo>
                    <a:pt x="368008" y="0"/>
                  </a:lnTo>
                  <a:lnTo>
                    <a:pt x="367840" y="31464"/>
                  </a:lnTo>
                  <a:close/>
                </a:path>
                <a:path w="411479" h="800100">
                  <a:moveTo>
                    <a:pt x="0" y="567887"/>
                  </a:moveTo>
                  <a:lnTo>
                    <a:pt x="0" y="799936"/>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16" name="object 16"/>
            <p:cNvPicPr/>
            <p:nvPr/>
          </p:nvPicPr>
          <p:blipFill>
            <a:blip r:embed="rId3" cstate="print"/>
            <a:stretch>
              <a:fillRect/>
            </a:stretch>
          </p:blipFill>
          <p:spPr>
            <a:xfrm>
              <a:off x="5156017" y="3068568"/>
              <a:ext cx="184723" cy="184723"/>
            </a:xfrm>
            <a:prstGeom prst="rect">
              <a:avLst/>
            </a:prstGeom>
          </p:spPr>
        </p:pic>
        <p:sp>
          <p:nvSpPr>
            <p:cNvPr id="17" name="object 17"/>
            <p:cNvSpPr/>
            <p:nvPr/>
          </p:nvSpPr>
          <p:spPr>
            <a:xfrm>
              <a:off x="5232646" y="3016231"/>
              <a:ext cx="31750" cy="43815"/>
            </a:xfrm>
            <a:custGeom>
              <a:avLst/>
              <a:gdLst/>
              <a:ahLst/>
              <a:cxnLst/>
              <a:rect l="l" t="t" r="r" b="b"/>
              <a:pathLst>
                <a:path w="31750" h="43814">
                  <a:moveTo>
                    <a:pt x="15731" y="43225"/>
                  </a:moveTo>
                  <a:lnTo>
                    <a:pt x="0" y="0"/>
                  </a:lnTo>
                  <a:lnTo>
                    <a:pt x="31464" y="0"/>
                  </a:lnTo>
                  <a:lnTo>
                    <a:pt x="15731" y="43225"/>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18" name="object 18"/>
            <p:cNvSpPr/>
            <p:nvPr/>
          </p:nvSpPr>
          <p:spPr>
            <a:xfrm>
              <a:off x="5232646" y="2319930"/>
              <a:ext cx="528955" cy="739775"/>
            </a:xfrm>
            <a:custGeom>
              <a:avLst/>
              <a:gdLst/>
              <a:ahLst/>
              <a:cxnLst/>
              <a:rect l="l" t="t" r="r" b="b"/>
              <a:pathLst>
                <a:path w="528954" h="739775">
                  <a:moveTo>
                    <a:pt x="0" y="696300"/>
                  </a:moveTo>
                  <a:lnTo>
                    <a:pt x="15731" y="739526"/>
                  </a:lnTo>
                  <a:lnTo>
                    <a:pt x="31464" y="696300"/>
                  </a:lnTo>
                  <a:lnTo>
                    <a:pt x="0" y="696300"/>
                  </a:lnTo>
                  <a:close/>
                </a:path>
                <a:path w="528954" h="739775">
                  <a:moveTo>
                    <a:pt x="528406" y="0"/>
                  </a:moveTo>
                  <a:lnTo>
                    <a:pt x="528406" y="232048"/>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19" name="object 19"/>
            <p:cNvPicPr/>
            <p:nvPr/>
          </p:nvPicPr>
          <p:blipFill>
            <a:blip r:embed="rId4" cstate="print"/>
            <a:stretch>
              <a:fillRect/>
            </a:stretch>
          </p:blipFill>
          <p:spPr>
            <a:xfrm>
              <a:off x="5668692" y="2604268"/>
              <a:ext cx="184723" cy="184723"/>
            </a:xfrm>
            <a:prstGeom prst="rect">
              <a:avLst/>
            </a:prstGeom>
          </p:spPr>
        </p:pic>
        <p:sp>
          <p:nvSpPr>
            <p:cNvPr id="20" name="object 20"/>
            <p:cNvSpPr/>
            <p:nvPr/>
          </p:nvSpPr>
          <p:spPr>
            <a:xfrm>
              <a:off x="5745321" y="2551980"/>
              <a:ext cx="31750" cy="43815"/>
            </a:xfrm>
            <a:custGeom>
              <a:avLst/>
              <a:gdLst/>
              <a:ahLst/>
              <a:cxnLst/>
              <a:rect l="l" t="t" r="r" b="b"/>
              <a:pathLst>
                <a:path w="31750" h="43814">
                  <a:moveTo>
                    <a:pt x="15731" y="43225"/>
                  </a:moveTo>
                  <a:lnTo>
                    <a:pt x="0" y="0"/>
                  </a:lnTo>
                  <a:lnTo>
                    <a:pt x="31464" y="0"/>
                  </a:lnTo>
                  <a:lnTo>
                    <a:pt x="15731" y="43225"/>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21" name="object 21"/>
            <p:cNvSpPr/>
            <p:nvPr/>
          </p:nvSpPr>
          <p:spPr>
            <a:xfrm>
              <a:off x="5335953" y="2551980"/>
              <a:ext cx="441325" cy="145415"/>
            </a:xfrm>
            <a:custGeom>
              <a:avLst/>
              <a:gdLst/>
              <a:ahLst/>
              <a:cxnLst/>
              <a:rect l="l" t="t" r="r" b="b"/>
              <a:pathLst>
                <a:path w="441325" h="145414">
                  <a:moveTo>
                    <a:pt x="409367" y="0"/>
                  </a:moveTo>
                  <a:lnTo>
                    <a:pt x="425099" y="43225"/>
                  </a:lnTo>
                  <a:lnTo>
                    <a:pt x="440832" y="0"/>
                  </a:lnTo>
                  <a:lnTo>
                    <a:pt x="409367" y="0"/>
                  </a:lnTo>
                  <a:close/>
                </a:path>
                <a:path w="441325" h="145414">
                  <a:moveTo>
                    <a:pt x="0" y="143750"/>
                  </a:moveTo>
                  <a:lnTo>
                    <a:pt x="280349" y="145245"/>
                  </a:lnTo>
                </a:path>
              </a:pathLst>
            </a:custGeom>
            <a:ln w="9524">
              <a:solidFill>
                <a:srgbClr val="666666"/>
              </a:solidFill>
            </a:ln>
          </p:spPr>
          <p:txBody>
            <a:bodyPr wrap="square" lIns="0" tIns="0" rIns="0" bIns="0" rtlCol="0"/>
            <a:lstStyle/>
            <a:p>
              <a:endParaRPr>
                <a:solidFill>
                  <a:prstClr val="black"/>
                </a:solidFill>
                <a:latin typeface="Calibri"/>
              </a:endParaRPr>
            </a:p>
          </p:txBody>
        </p:sp>
        <p:sp>
          <p:nvSpPr>
            <p:cNvPr id="22" name="object 22"/>
            <p:cNvSpPr/>
            <p:nvPr/>
          </p:nvSpPr>
          <p:spPr>
            <a:xfrm>
              <a:off x="5616220" y="2681493"/>
              <a:ext cx="43815" cy="31750"/>
            </a:xfrm>
            <a:custGeom>
              <a:avLst/>
              <a:gdLst/>
              <a:ahLst/>
              <a:cxnLst/>
              <a:rect l="l" t="t" r="r" b="b"/>
              <a:pathLst>
                <a:path w="43814" h="31750">
                  <a:moveTo>
                    <a:pt x="0" y="31463"/>
                  </a:moveTo>
                  <a:lnTo>
                    <a:pt x="167" y="0"/>
                  </a:lnTo>
                  <a:lnTo>
                    <a:pt x="43308" y="15961"/>
                  </a:lnTo>
                  <a:lnTo>
                    <a:pt x="0" y="31463"/>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23" name="object 23"/>
            <p:cNvSpPr/>
            <p:nvPr/>
          </p:nvSpPr>
          <p:spPr>
            <a:xfrm>
              <a:off x="5616220" y="2232331"/>
              <a:ext cx="513080" cy="480695"/>
            </a:xfrm>
            <a:custGeom>
              <a:avLst/>
              <a:gdLst/>
              <a:ahLst/>
              <a:cxnLst/>
              <a:rect l="l" t="t" r="r" b="b"/>
              <a:pathLst>
                <a:path w="513079" h="480694">
                  <a:moveTo>
                    <a:pt x="0" y="480625"/>
                  </a:moveTo>
                  <a:lnTo>
                    <a:pt x="43308" y="465123"/>
                  </a:lnTo>
                  <a:lnTo>
                    <a:pt x="167" y="449161"/>
                  </a:lnTo>
                  <a:lnTo>
                    <a:pt x="0" y="480625"/>
                  </a:lnTo>
                  <a:close/>
                </a:path>
                <a:path w="513079" h="480694">
                  <a:moveTo>
                    <a:pt x="232421" y="0"/>
                  </a:moveTo>
                  <a:lnTo>
                    <a:pt x="512771" y="1494"/>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24" name="object 24"/>
            <p:cNvPicPr/>
            <p:nvPr/>
          </p:nvPicPr>
          <p:blipFill>
            <a:blip r:embed="rId5" cstate="print"/>
            <a:stretch>
              <a:fillRect/>
            </a:stretch>
          </p:blipFill>
          <p:spPr>
            <a:xfrm>
              <a:off x="6181367" y="2139968"/>
              <a:ext cx="184723" cy="184723"/>
            </a:xfrm>
            <a:prstGeom prst="rect">
              <a:avLst/>
            </a:prstGeom>
          </p:spPr>
        </p:pic>
        <p:sp>
          <p:nvSpPr>
            <p:cNvPr id="25" name="object 25"/>
            <p:cNvSpPr/>
            <p:nvPr/>
          </p:nvSpPr>
          <p:spPr>
            <a:xfrm>
              <a:off x="6128908" y="2218093"/>
              <a:ext cx="43815" cy="31750"/>
            </a:xfrm>
            <a:custGeom>
              <a:avLst/>
              <a:gdLst/>
              <a:ahLst/>
              <a:cxnLst/>
              <a:rect l="l" t="t" r="r" b="b"/>
              <a:pathLst>
                <a:path w="43814" h="31750">
                  <a:moveTo>
                    <a:pt x="0" y="31464"/>
                  </a:moveTo>
                  <a:lnTo>
                    <a:pt x="165" y="0"/>
                  </a:lnTo>
                  <a:lnTo>
                    <a:pt x="43307" y="15962"/>
                  </a:lnTo>
                  <a:lnTo>
                    <a:pt x="0" y="31464"/>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26" name="object 26"/>
            <p:cNvSpPr/>
            <p:nvPr/>
          </p:nvSpPr>
          <p:spPr>
            <a:xfrm>
              <a:off x="6128908" y="2218093"/>
              <a:ext cx="43815" cy="31750"/>
            </a:xfrm>
            <a:custGeom>
              <a:avLst/>
              <a:gdLst/>
              <a:ahLst/>
              <a:cxnLst/>
              <a:rect l="l" t="t" r="r" b="b"/>
              <a:pathLst>
                <a:path w="43814" h="31750">
                  <a:moveTo>
                    <a:pt x="0" y="31464"/>
                  </a:moveTo>
                  <a:lnTo>
                    <a:pt x="43307" y="15962"/>
                  </a:lnTo>
                  <a:lnTo>
                    <a:pt x="165" y="0"/>
                  </a:lnTo>
                  <a:lnTo>
                    <a:pt x="0" y="31464"/>
                  </a:lnTo>
                  <a:close/>
                </a:path>
              </a:pathLst>
            </a:custGeom>
            <a:ln w="9524">
              <a:solidFill>
                <a:srgbClr val="666666"/>
              </a:solidFill>
            </a:ln>
          </p:spPr>
          <p:txBody>
            <a:bodyPr wrap="square" lIns="0" tIns="0" rIns="0" bIns="0" rtlCol="0"/>
            <a:lstStyle/>
            <a:p>
              <a:endParaRPr>
                <a:solidFill>
                  <a:prstClr val="black"/>
                </a:solidFill>
                <a:latin typeface="Calibri"/>
              </a:endParaRPr>
            </a:p>
          </p:txBody>
        </p:sp>
      </p:grpSp>
      <p:pic>
        <p:nvPicPr>
          <p:cNvPr id="27" name="object 27"/>
          <p:cNvPicPr/>
          <p:nvPr/>
        </p:nvPicPr>
        <p:blipFill>
          <a:blip r:embed="rId6" cstate="print"/>
          <a:stretch>
            <a:fillRect/>
          </a:stretch>
        </p:blipFill>
        <p:spPr>
          <a:xfrm>
            <a:off x="5156018" y="4390120"/>
            <a:ext cx="184723" cy="184723"/>
          </a:xfrm>
          <a:prstGeom prst="rect">
            <a:avLst/>
          </a:prstGeom>
        </p:spPr>
      </p:pic>
      <p:pic>
        <p:nvPicPr>
          <p:cNvPr id="28" name="object 28"/>
          <p:cNvPicPr/>
          <p:nvPr/>
        </p:nvPicPr>
        <p:blipFill>
          <a:blip r:embed="rId7" cstate="print"/>
          <a:stretch>
            <a:fillRect/>
          </a:stretch>
        </p:blipFill>
        <p:spPr>
          <a:xfrm>
            <a:off x="5668693" y="3925820"/>
            <a:ext cx="184723" cy="184723"/>
          </a:xfrm>
          <a:prstGeom prst="rect">
            <a:avLst/>
          </a:prstGeom>
        </p:spPr>
      </p:pic>
      <p:pic>
        <p:nvPicPr>
          <p:cNvPr id="29" name="object 29"/>
          <p:cNvPicPr/>
          <p:nvPr/>
        </p:nvPicPr>
        <p:blipFill>
          <a:blip r:embed="rId7" cstate="print"/>
          <a:stretch>
            <a:fillRect/>
          </a:stretch>
        </p:blipFill>
        <p:spPr>
          <a:xfrm>
            <a:off x="5668693" y="4390120"/>
            <a:ext cx="184723" cy="184723"/>
          </a:xfrm>
          <a:prstGeom prst="rect">
            <a:avLst/>
          </a:prstGeom>
        </p:spPr>
      </p:pic>
      <p:pic>
        <p:nvPicPr>
          <p:cNvPr id="30" name="object 30"/>
          <p:cNvPicPr/>
          <p:nvPr/>
        </p:nvPicPr>
        <p:blipFill>
          <a:blip r:embed="rId6" cstate="print"/>
          <a:stretch>
            <a:fillRect/>
          </a:stretch>
        </p:blipFill>
        <p:spPr>
          <a:xfrm>
            <a:off x="5156018" y="4881195"/>
            <a:ext cx="184723" cy="184723"/>
          </a:xfrm>
          <a:prstGeom prst="rect">
            <a:avLst/>
          </a:prstGeom>
        </p:spPr>
      </p:pic>
      <p:pic>
        <p:nvPicPr>
          <p:cNvPr id="31" name="object 31"/>
          <p:cNvPicPr/>
          <p:nvPr/>
        </p:nvPicPr>
        <p:blipFill>
          <a:blip r:embed="rId7" cstate="print"/>
          <a:stretch>
            <a:fillRect/>
          </a:stretch>
        </p:blipFill>
        <p:spPr>
          <a:xfrm>
            <a:off x="5668693" y="4881195"/>
            <a:ext cx="184723" cy="184723"/>
          </a:xfrm>
          <a:prstGeom prst="rect">
            <a:avLst/>
          </a:prstGeom>
        </p:spPr>
      </p:pic>
      <p:pic>
        <p:nvPicPr>
          <p:cNvPr id="32" name="object 32"/>
          <p:cNvPicPr/>
          <p:nvPr/>
        </p:nvPicPr>
        <p:blipFill>
          <a:blip r:embed="rId6" cstate="print"/>
          <a:stretch>
            <a:fillRect/>
          </a:stretch>
        </p:blipFill>
        <p:spPr>
          <a:xfrm>
            <a:off x="6181368" y="3461520"/>
            <a:ext cx="184723" cy="184723"/>
          </a:xfrm>
          <a:prstGeom prst="rect">
            <a:avLst/>
          </a:prstGeom>
        </p:spPr>
      </p:pic>
      <p:pic>
        <p:nvPicPr>
          <p:cNvPr id="33" name="object 33"/>
          <p:cNvPicPr/>
          <p:nvPr/>
        </p:nvPicPr>
        <p:blipFill>
          <a:blip r:embed="rId8" cstate="print"/>
          <a:stretch>
            <a:fillRect/>
          </a:stretch>
        </p:blipFill>
        <p:spPr>
          <a:xfrm>
            <a:off x="6694043" y="2997219"/>
            <a:ext cx="184723" cy="184723"/>
          </a:xfrm>
          <a:prstGeom prst="rect">
            <a:avLst/>
          </a:prstGeom>
        </p:spPr>
      </p:pic>
      <p:pic>
        <p:nvPicPr>
          <p:cNvPr id="34" name="object 34"/>
          <p:cNvPicPr/>
          <p:nvPr/>
        </p:nvPicPr>
        <p:blipFill>
          <a:blip r:embed="rId6" cstate="print"/>
          <a:stretch>
            <a:fillRect/>
          </a:stretch>
        </p:blipFill>
        <p:spPr>
          <a:xfrm>
            <a:off x="6694043" y="3461520"/>
            <a:ext cx="184723" cy="184723"/>
          </a:xfrm>
          <a:prstGeom prst="rect">
            <a:avLst/>
          </a:prstGeom>
        </p:spPr>
      </p:pic>
      <p:pic>
        <p:nvPicPr>
          <p:cNvPr id="35" name="object 35"/>
          <p:cNvPicPr/>
          <p:nvPr/>
        </p:nvPicPr>
        <p:blipFill>
          <a:blip r:embed="rId6" cstate="print"/>
          <a:stretch>
            <a:fillRect/>
          </a:stretch>
        </p:blipFill>
        <p:spPr>
          <a:xfrm>
            <a:off x="6181368" y="3925820"/>
            <a:ext cx="184723" cy="184723"/>
          </a:xfrm>
          <a:prstGeom prst="rect">
            <a:avLst/>
          </a:prstGeom>
        </p:spPr>
      </p:pic>
      <p:pic>
        <p:nvPicPr>
          <p:cNvPr id="36" name="object 36"/>
          <p:cNvPicPr/>
          <p:nvPr/>
        </p:nvPicPr>
        <p:blipFill>
          <a:blip r:embed="rId6" cstate="print"/>
          <a:stretch>
            <a:fillRect/>
          </a:stretch>
        </p:blipFill>
        <p:spPr>
          <a:xfrm>
            <a:off x="6181368" y="4390120"/>
            <a:ext cx="184723" cy="184723"/>
          </a:xfrm>
          <a:prstGeom prst="rect">
            <a:avLst/>
          </a:prstGeom>
        </p:spPr>
      </p:pic>
      <p:pic>
        <p:nvPicPr>
          <p:cNvPr id="37" name="object 37"/>
          <p:cNvPicPr/>
          <p:nvPr/>
        </p:nvPicPr>
        <p:blipFill>
          <a:blip r:embed="rId6" cstate="print"/>
          <a:stretch>
            <a:fillRect/>
          </a:stretch>
        </p:blipFill>
        <p:spPr>
          <a:xfrm>
            <a:off x="6694043" y="3925820"/>
            <a:ext cx="184723" cy="184723"/>
          </a:xfrm>
          <a:prstGeom prst="rect">
            <a:avLst/>
          </a:prstGeom>
        </p:spPr>
      </p:pic>
      <p:pic>
        <p:nvPicPr>
          <p:cNvPr id="38" name="object 38"/>
          <p:cNvPicPr/>
          <p:nvPr/>
        </p:nvPicPr>
        <p:blipFill>
          <a:blip r:embed="rId6" cstate="print"/>
          <a:stretch>
            <a:fillRect/>
          </a:stretch>
        </p:blipFill>
        <p:spPr>
          <a:xfrm>
            <a:off x="6694043" y="4390120"/>
            <a:ext cx="184723" cy="184723"/>
          </a:xfrm>
          <a:prstGeom prst="rect">
            <a:avLst/>
          </a:prstGeom>
        </p:spPr>
      </p:pic>
      <p:pic>
        <p:nvPicPr>
          <p:cNvPr id="39" name="object 39"/>
          <p:cNvPicPr/>
          <p:nvPr/>
        </p:nvPicPr>
        <p:blipFill>
          <a:blip r:embed="rId6" cstate="print"/>
          <a:stretch>
            <a:fillRect/>
          </a:stretch>
        </p:blipFill>
        <p:spPr>
          <a:xfrm>
            <a:off x="6181368" y="4881195"/>
            <a:ext cx="184723" cy="184723"/>
          </a:xfrm>
          <a:prstGeom prst="rect">
            <a:avLst/>
          </a:prstGeom>
        </p:spPr>
      </p:pic>
      <p:pic>
        <p:nvPicPr>
          <p:cNvPr id="40" name="object 40"/>
          <p:cNvPicPr/>
          <p:nvPr/>
        </p:nvPicPr>
        <p:blipFill>
          <a:blip r:embed="rId6" cstate="print"/>
          <a:stretch>
            <a:fillRect/>
          </a:stretch>
        </p:blipFill>
        <p:spPr>
          <a:xfrm>
            <a:off x="6694043" y="4881195"/>
            <a:ext cx="184723" cy="184723"/>
          </a:xfrm>
          <a:prstGeom prst="rect">
            <a:avLst/>
          </a:prstGeom>
        </p:spPr>
      </p:pic>
      <p:pic>
        <p:nvPicPr>
          <p:cNvPr id="41" name="object 41"/>
          <p:cNvPicPr/>
          <p:nvPr/>
        </p:nvPicPr>
        <p:blipFill>
          <a:blip r:embed="rId9" cstate="print"/>
          <a:stretch>
            <a:fillRect/>
          </a:stretch>
        </p:blipFill>
        <p:spPr>
          <a:xfrm>
            <a:off x="7206718" y="2983820"/>
            <a:ext cx="184723" cy="184723"/>
          </a:xfrm>
          <a:prstGeom prst="rect">
            <a:avLst/>
          </a:prstGeom>
        </p:spPr>
      </p:pic>
      <p:pic>
        <p:nvPicPr>
          <p:cNvPr id="42" name="object 42"/>
          <p:cNvPicPr/>
          <p:nvPr/>
        </p:nvPicPr>
        <p:blipFill>
          <a:blip r:embed="rId10" cstate="print"/>
          <a:stretch>
            <a:fillRect/>
          </a:stretch>
        </p:blipFill>
        <p:spPr>
          <a:xfrm>
            <a:off x="7206718" y="3448119"/>
            <a:ext cx="184723" cy="184723"/>
          </a:xfrm>
          <a:prstGeom prst="rect">
            <a:avLst/>
          </a:prstGeom>
        </p:spPr>
      </p:pic>
      <p:pic>
        <p:nvPicPr>
          <p:cNvPr id="43" name="object 43"/>
          <p:cNvPicPr/>
          <p:nvPr/>
        </p:nvPicPr>
        <p:blipFill>
          <a:blip r:embed="rId9" cstate="print"/>
          <a:stretch>
            <a:fillRect/>
          </a:stretch>
        </p:blipFill>
        <p:spPr>
          <a:xfrm>
            <a:off x="7206718" y="3912420"/>
            <a:ext cx="184723" cy="184723"/>
          </a:xfrm>
          <a:prstGeom prst="rect">
            <a:avLst/>
          </a:prstGeom>
        </p:spPr>
      </p:pic>
      <p:pic>
        <p:nvPicPr>
          <p:cNvPr id="44" name="object 44"/>
          <p:cNvPicPr/>
          <p:nvPr/>
        </p:nvPicPr>
        <p:blipFill>
          <a:blip r:embed="rId10" cstate="print"/>
          <a:stretch>
            <a:fillRect/>
          </a:stretch>
        </p:blipFill>
        <p:spPr>
          <a:xfrm>
            <a:off x="7206718" y="4376720"/>
            <a:ext cx="184723" cy="184723"/>
          </a:xfrm>
          <a:prstGeom prst="rect">
            <a:avLst/>
          </a:prstGeom>
        </p:spPr>
      </p:pic>
      <p:pic>
        <p:nvPicPr>
          <p:cNvPr id="45" name="object 45"/>
          <p:cNvPicPr/>
          <p:nvPr/>
        </p:nvPicPr>
        <p:blipFill>
          <a:blip r:embed="rId10" cstate="print"/>
          <a:stretch>
            <a:fillRect/>
          </a:stretch>
        </p:blipFill>
        <p:spPr>
          <a:xfrm>
            <a:off x="7206718" y="4867795"/>
            <a:ext cx="184723" cy="184723"/>
          </a:xfrm>
          <a:prstGeom prst="rect">
            <a:avLst/>
          </a:prstGeom>
        </p:spPr>
      </p:pic>
      <p:sp>
        <p:nvSpPr>
          <p:cNvPr id="46" name="object 46"/>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pic>
        <p:nvPicPr>
          <p:cNvPr id="48" name="Picture 2" descr="E:\NIET\Project\xLogo11.png.pagespeed.ic.pydHLuCQEZ.png">
            <a:extLst>
              <a:ext uri="{FF2B5EF4-FFF2-40B4-BE49-F238E27FC236}">
                <a16:creationId xmlns:a16="http://schemas.microsoft.com/office/drawing/2014/main" id="{AD1D037E-9532-0A6D-DBED-6F02E5D256D6}"/>
              </a:ext>
            </a:extLst>
          </p:cNvPr>
          <p:cNvPicPr>
            <a:picLocks noChangeAspect="1" noChangeArrowheads="1"/>
          </p:cNvPicPr>
          <p:nvPr/>
        </p:nvPicPr>
        <p:blipFill>
          <a:blip r:embed="rId11"/>
          <a:srcRect/>
          <a:stretch>
            <a:fillRect/>
          </a:stretch>
        </p:blipFill>
        <p:spPr bwMode="auto">
          <a:xfrm>
            <a:off x="0" y="0"/>
            <a:ext cx="1447800" cy="817163"/>
          </a:xfrm>
          <a:prstGeom prst="rect">
            <a:avLst/>
          </a:prstGeom>
          <a:noFill/>
        </p:spPr>
      </p:pic>
      <p:sp>
        <p:nvSpPr>
          <p:cNvPr id="49" name="Title 1">
            <a:extLst>
              <a:ext uri="{FF2B5EF4-FFF2-40B4-BE49-F238E27FC236}">
                <a16:creationId xmlns:a16="http://schemas.microsoft.com/office/drawing/2014/main" id="{83408AB4-0987-E1F4-D25D-AD86678FE0FD}"/>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err="1">
                <a:ln>
                  <a:noFill/>
                </a:ln>
                <a:solidFill>
                  <a:prstClr val="black"/>
                </a:solidFill>
                <a:effectLst/>
                <a:uLnTx/>
                <a:uFillTx/>
                <a:latin typeface="Calibri" panose="020F0502020204030204"/>
                <a:ea typeface="+mn-ea"/>
                <a:cs typeface="+mn-cs"/>
              </a:rPr>
              <a:t>PixelRNN</a:t>
            </a:r>
            <a:endPar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object 60"/>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3216275" cy="330200"/>
          </a:xfrm>
          <a:prstGeom prst="rect">
            <a:avLst/>
          </a:prstGeom>
        </p:spPr>
        <p:txBody>
          <a:bodyPr vert="horz" wrap="square" lIns="0" tIns="12700" rIns="0" bIns="0" rtlCol="0">
            <a:spAutoFit/>
          </a:bodyPr>
          <a:lstStyle/>
          <a:p>
            <a:pPr marL="12700">
              <a:spcBef>
                <a:spcPts val="100"/>
              </a:spcBef>
            </a:pPr>
            <a:r>
              <a:rPr spc="-5" dirty="0"/>
              <a:t>PixelRNN</a:t>
            </a:r>
            <a:r>
              <a:rPr spc="-30" dirty="0"/>
              <a:t> </a:t>
            </a:r>
            <a:r>
              <a:rPr sz="1200" spc="-5" dirty="0"/>
              <a:t>[van</a:t>
            </a:r>
            <a:r>
              <a:rPr sz="1200" spc="-15" dirty="0"/>
              <a:t> </a:t>
            </a:r>
            <a:r>
              <a:rPr sz="1200" spc="-5" dirty="0"/>
              <a:t>der</a:t>
            </a:r>
            <a:r>
              <a:rPr sz="1200" spc="-15" dirty="0"/>
              <a:t> </a:t>
            </a:r>
            <a:r>
              <a:rPr sz="1200" spc="-5" dirty="0"/>
              <a:t>oord</a:t>
            </a:r>
            <a:r>
              <a:rPr sz="1200" spc="-20" dirty="0"/>
              <a:t> </a:t>
            </a:r>
            <a:r>
              <a:rPr sz="1200" spc="-5" dirty="0"/>
              <a:t>et</a:t>
            </a:r>
            <a:r>
              <a:rPr sz="1200" spc="-15" dirty="0"/>
              <a:t> </a:t>
            </a:r>
            <a:r>
              <a:rPr sz="1200" spc="-5" dirty="0"/>
              <a:t>al.2016]</a:t>
            </a:r>
            <a:endParaRPr sz="1200"/>
          </a:p>
        </p:txBody>
      </p:sp>
      <p:sp>
        <p:nvSpPr>
          <p:cNvPr id="3" name="object 3"/>
          <p:cNvSpPr txBox="1"/>
          <p:nvPr/>
        </p:nvSpPr>
        <p:spPr>
          <a:xfrm>
            <a:off x="431571" y="2291029"/>
            <a:ext cx="4857115" cy="60833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Dependency</a:t>
            </a:r>
            <a:r>
              <a:rPr sz="1200" spc="-15" dirty="0">
                <a:solidFill>
                  <a:srgbClr val="313131"/>
                </a:solidFill>
                <a:latin typeface="Verdana"/>
                <a:cs typeface="Verdana"/>
              </a:rPr>
              <a:t> </a:t>
            </a:r>
            <a:r>
              <a:rPr sz="1200" spc="-5" dirty="0">
                <a:solidFill>
                  <a:srgbClr val="313131"/>
                </a:solidFill>
                <a:latin typeface="Verdana"/>
                <a:cs typeface="Verdana"/>
              </a:rPr>
              <a:t>on</a:t>
            </a:r>
            <a:r>
              <a:rPr sz="1200" spc="-10" dirty="0">
                <a:solidFill>
                  <a:srgbClr val="313131"/>
                </a:solidFill>
                <a:latin typeface="Verdana"/>
                <a:cs typeface="Verdana"/>
              </a:rPr>
              <a:t> </a:t>
            </a:r>
            <a:r>
              <a:rPr sz="1200" spc="-5" dirty="0">
                <a:solidFill>
                  <a:srgbClr val="313131"/>
                </a:solidFill>
                <a:latin typeface="Verdana"/>
                <a:cs typeface="Verdana"/>
              </a:rPr>
              <a:t>previous</a:t>
            </a:r>
            <a:r>
              <a:rPr sz="1200" spc="-10" dirty="0">
                <a:solidFill>
                  <a:srgbClr val="313131"/>
                </a:solidFill>
                <a:latin typeface="Verdana"/>
                <a:cs typeface="Verdana"/>
              </a:rPr>
              <a:t> </a:t>
            </a:r>
            <a:r>
              <a:rPr sz="1200" spc="-5" dirty="0">
                <a:solidFill>
                  <a:srgbClr val="313131"/>
                </a:solidFill>
                <a:latin typeface="Verdana"/>
                <a:cs typeface="Verdana"/>
              </a:rPr>
              <a:t>pixels</a:t>
            </a:r>
            <a:r>
              <a:rPr sz="1200" spc="-10" dirty="0">
                <a:solidFill>
                  <a:srgbClr val="313131"/>
                </a:solidFill>
                <a:latin typeface="Verdana"/>
                <a:cs typeface="Verdana"/>
              </a:rPr>
              <a:t> </a:t>
            </a:r>
            <a:r>
              <a:rPr sz="1200" spc="-5" dirty="0">
                <a:solidFill>
                  <a:srgbClr val="313131"/>
                </a:solidFill>
                <a:latin typeface="Verdana"/>
                <a:cs typeface="Verdana"/>
              </a:rPr>
              <a:t>modeled</a:t>
            </a:r>
            <a:r>
              <a:rPr sz="1200" spc="400" dirty="0">
                <a:solidFill>
                  <a:srgbClr val="313131"/>
                </a:solidFill>
                <a:latin typeface="Verdana"/>
                <a:cs typeface="Verdana"/>
              </a:rPr>
              <a:t> </a:t>
            </a:r>
            <a:r>
              <a:rPr sz="1200" spc="-5" dirty="0">
                <a:solidFill>
                  <a:srgbClr val="313131"/>
                </a:solidFill>
                <a:latin typeface="Verdana"/>
                <a:cs typeface="Verdana"/>
              </a:rPr>
              <a:t>using</a:t>
            </a:r>
            <a:r>
              <a:rPr sz="1200" spc="-10" dirty="0">
                <a:solidFill>
                  <a:srgbClr val="313131"/>
                </a:solidFill>
                <a:latin typeface="Verdana"/>
                <a:cs typeface="Verdana"/>
              </a:rPr>
              <a:t> </a:t>
            </a:r>
            <a:r>
              <a:rPr sz="1200" spc="-5" dirty="0">
                <a:solidFill>
                  <a:srgbClr val="313131"/>
                </a:solidFill>
                <a:latin typeface="Verdana"/>
                <a:cs typeface="Verdana"/>
              </a:rPr>
              <a:t>an</a:t>
            </a:r>
            <a:r>
              <a:rPr sz="1200" spc="-10" dirty="0">
                <a:solidFill>
                  <a:srgbClr val="313131"/>
                </a:solidFill>
                <a:latin typeface="Verdana"/>
                <a:cs typeface="Verdana"/>
              </a:rPr>
              <a:t> </a:t>
            </a:r>
            <a:r>
              <a:rPr sz="1200" spc="-5" dirty="0">
                <a:solidFill>
                  <a:srgbClr val="313131"/>
                </a:solidFill>
                <a:latin typeface="Verdana"/>
                <a:cs typeface="Verdana"/>
              </a:rPr>
              <a:t>RNN</a:t>
            </a:r>
            <a:r>
              <a:rPr sz="1200" spc="-10" dirty="0">
                <a:solidFill>
                  <a:srgbClr val="313131"/>
                </a:solidFill>
                <a:latin typeface="Verdana"/>
                <a:cs typeface="Verdana"/>
              </a:rPr>
              <a:t> </a:t>
            </a:r>
            <a:r>
              <a:rPr sz="1200" spc="-5" dirty="0">
                <a:solidFill>
                  <a:srgbClr val="313131"/>
                </a:solidFill>
                <a:latin typeface="Verdana"/>
                <a:cs typeface="Verdana"/>
              </a:rPr>
              <a:t>(LSTM)</a:t>
            </a:r>
            <a:endParaRPr sz="1200">
              <a:solidFill>
                <a:prstClr val="black"/>
              </a:solidFill>
              <a:latin typeface="Verdana"/>
              <a:cs typeface="Verdana"/>
            </a:endParaRPr>
          </a:p>
          <a:p>
            <a:pPr>
              <a:spcBef>
                <a:spcPts val="5"/>
              </a:spcBef>
            </a:pPr>
            <a:endParaRPr sz="1400">
              <a:solidFill>
                <a:prstClr val="black"/>
              </a:solidFill>
              <a:latin typeface="Verdana"/>
              <a:cs typeface="Verdana"/>
            </a:endParaRPr>
          </a:p>
          <a:p>
            <a:pPr marL="12700"/>
            <a:r>
              <a:rPr sz="1200" spc="-5" dirty="0">
                <a:solidFill>
                  <a:srgbClr val="313131"/>
                </a:solidFill>
                <a:latin typeface="Verdana"/>
                <a:cs typeface="Verdana"/>
              </a:rPr>
              <a:t>Generate</a:t>
            </a:r>
            <a:r>
              <a:rPr sz="1200" spc="-20" dirty="0">
                <a:solidFill>
                  <a:srgbClr val="313131"/>
                </a:solidFill>
                <a:latin typeface="Verdana"/>
                <a:cs typeface="Verdana"/>
              </a:rPr>
              <a:t> </a:t>
            </a:r>
            <a:r>
              <a:rPr sz="1200" spc="-5" dirty="0">
                <a:solidFill>
                  <a:srgbClr val="313131"/>
                </a:solidFill>
                <a:latin typeface="Verdana"/>
                <a:cs typeface="Verdana"/>
              </a:rPr>
              <a:t>image</a:t>
            </a:r>
            <a:r>
              <a:rPr sz="1200" spc="-20" dirty="0">
                <a:solidFill>
                  <a:srgbClr val="313131"/>
                </a:solidFill>
                <a:latin typeface="Verdana"/>
                <a:cs typeface="Verdana"/>
              </a:rPr>
              <a:t> </a:t>
            </a:r>
            <a:r>
              <a:rPr sz="1200" spc="-5" dirty="0">
                <a:solidFill>
                  <a:srgbClr val="313131"/>
                </a:solidFill>
                <a:latin typeface="Verdana"/>
                <a:cs typeface="Verdana"/>
              </a:rPr>
              <a:t>pixels</a:t>
            </a:r>
            <a:r>
              <a:rPr sz="1200" spc="-15" dirty="0">
                <a:solidFill>
                  <a:srgbClr val="313131"/>
                </a:solidFill>
                <a:latin typeface="Verdana"/>
                <a:cs typeface="Verdana"/>
              </a:rPr>
              <a:t> </a:t>
            </a:r>
            <a:r>
              <a:rPr sz="1200" spc="-5" dirty="0">
                <a:solidFill>
                  <a:srgbClr val="313131"/>
                </a:solidFill>
                <a:latin typeface="Verdana"/>
                <a:cs typeface="Verdana"/>
              </a:rPr>
              <a:t>starting</a:t>
            </a:r>
            <a:r>
              <a:rPr sz="1200" spc="-20" dirty="0">
                <a:solidFill>
                  <a:srgbClr val="313131"/>
                </a:solidFill>
                <a:latin typeface="Verdana"/>
                <a:cs typeface="Verdana"/>
              </a:rPr>
              <a:t> </a:t>
            </a:r>
            <a:r>
              <a:rPr sz="1200" spc="-5" dirty="0">
                <a:solidFill>
                  <a:srgbClr val="313131"/>
                </a:solidFill>
                <a:latin typeface="Verdana"/>
                <a:cs typeface="Verdana"/>
              </a:rPr>
              <a:t>from</a:t>
            </a:r>
            <a:r>
              <a:rPr sz="1200" spc="-15" dirty="0">
                <a:solidFill>
                  <a:srgbClr val="313131"/>
                </a:solidFill>
                <a:latin typeface="Verdana"/>
                <a:cs typeface="Verdana"/>
              </a:rPr>
              <a:t> </a:t>
            </a:r>
            <a:r>
              <a:rPr sz="1200" spc="-5" dirty="0">
                <a:solidFill>
                  <a:srgbClr val="313131"/>
                </a:solidFill>
                <a:latin typeface="Verdana"/>
                <a:cs typeface="Verdana"/>
              </a:rPr>
              <a:t>corner</a:t>
            </a:r>
            <a:endParaRPr sz="1200">
              <a:solidFill>
                <a:prstClr val="black"/>
              </a:solidFill>
              <a:latin typeface="Verdana"/>
              <a:cs typeface="Verdana"/>
            </a:endParaRPr>
          </a:p>
        </p:txBody>
      </p:sp>
      <p:sp>
        <p:nvSpPr>
          <p:cNvPr id="4" name="object 4"/>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5" name="object 5"/>
          <p:cNvPicPr/>
          <p:nvPr/>
        </p:nvPicPr>
        <p:blipFill>
          <a:blip r:embed="rId2" cstate="print"/>
          <a:stretch>
            <a:fillRect/>
          </a:stretch>
        </p:blipFill>
        <p:spPr>
          <a:xfrm>
            <a:off x="5711036" y="4220077"/>
            <a:ext cx="184723" cy="184723"/>
          </a:xfrm>
          <a:prstGeom prst="rect">
            <a:avLst/>
          </a:prstGeom>
        </p:spPr>
      </p:pic>
      <p:pic>
        <p:nvPicPr>
          <p:cNvPr id="6" name="object 6"/>
          <p:cNvPicPr/>
          <p:nvPr/>
        </p:nvPicPr>
        <p:blipFill>
          <a:blip r:embed="rId3" cstate="print"/>
          <a:stretch>
            <a:fillRect/>
          </a:stretch>
        </p:blipFill>
        <p:spPr>
          <a:xfrm>
            <a:off x="5198361" y="4711152"/>
            <a:ext cx="184723" cy="184723"/>
          </a:xfrm>
          <a:prstGeom prst="rect">
            <a:avLst/>
          </a:prstGeom>
        </p:spPr>
      </p:pic>
      <p:pic>
        <p:nvPicPr>
          <p:cNvPr id="7" name="object 7"/>
          <p:cNvPicPr/>
          <p:nvPr/>
        </p:nvPicPr>
        <p:blipFill>
          <a:blip r:embed="rId2" cstate="print"/>
          <a:stretch>
            <a:fillRect/>
          </a:stretch>
        </p:blipFill>
        <p:spPr>
          <a:xfrm>
            <a:off x="5711036" y="4711152"/>
            <a:ext cx="184723" cy="184723"/>
          </a:xfrm>
          <a:prstGeom prst="rect">
            <a:avLst/>
          </a:prstGeom>
        </p:spPr>
      </p:pic>
      <p:pic>
        <p:nvPicPr>
          <p:cNvPr id="8" name="object 8"/>
          <p:cNvPicPr/>
          <p:nvPr/>
        </p:nvPicPr>
        <p:blipFill>
          <a:blip r:embed="rId3" cstate="print"/>
          <a:stretch>
            <a:fillRect/>
          </a:stretch>
        </p:blipFill>
        <p:spPr>
          <a:xfrm>
            <a:off x="6736384" y="3291477"/>
            <a:ext cx="184724" cy="184723"/>
          </a:xfrm>
          <a:prstGeom prst="rect">
            <a:avLst/>
          </a:prstGeom>
        </p:spPr>
      </p:pic>
      <p:pic>
        <p:nvPicPr>
          <p:cNvPr id="9" name="object 9"/>
          <p:cNvPicPr/>
          <p:nvPr/>
        </p:nvPicPr>
        <p:blipFill>
          <a:blip r:embed="rId3" cstate="print"/>
          <a:stretch>
            <a:fillRect/>
          </a:stretch>
        </p:blipFill>
        <p:spPr>
          <a:xfrm>
            <a:off x="6223711" y="3755777"/>
            <a:ext cx="184723" cy="184723"/>
          </a:xfrm>
          <a:prstGeom prst="rect">
            <a:avLst/>
          </a:prstGeom>
        </p:spPr>
      </p:pic>
      <p:pic>
        <p:nvPicPr>
          <p:cNvPr id="10" name="object 10"/>
          <p:cNvPicPr/>
          <p:nvPr/>
        </p:nvPicPr>
        <p:blipFill>
          <a:blip r:embed="rId3" cstate="print"/>
          <a:stretch>
            <a:fillRect/>
          </a:stretch>
        </p:blipFill>
        <p:spPr>
          <a:xfrm>
            <a:off x="6223711" y="4220077"/>
            <a:ext cx="184723" cy="184723"/>
          </a:xfrm>
          <a:prstGeom prst="rect">
            <a:avLst/>
          </a:prstGeom>
        </p:spPr>
      </p:pic>
      <p:pic>
        <p:nvPicPr>
          <p:cNvPr id="11" name="object 11"/>
          <p:cNvPicPr/>
          <p:nvPr/>
        </p:nvPicPr>
        <p:blipFill>
          <a:blip r:embed="rId3" cstate="print"/>
          <a:stretch>
            <a:fillRect/>
          </a:stretch>
        </p:blipFill>
        <p:spPr>
          <a:xfrm>
            <a:off x="6736384" y="3755777"/>
            <a:ext cx="184724" cy="184723"/>
          </a:xfrm>
          <a:prstGeom prst="rect">
            <a:avLst/>
          </a:prstGeom>
        </p:spPr>
      </p:pic>
      <p:pic>
        <p:nvPicPr>
          <p:cNvPr id="12" name="object 12"/>
          <p:cNvPicPr/>
          <p:nvPr/>
        </p:nvPicPr>
        <p:blipFill>
          <a:blip r:embed="rId3" cstate="print"/>
          <a:stretch>
            <a:fillRect/>
          </a:stretch>
        </p:blipFill>
        <p:spPr>
          <a:xfrm>
            <a:off x="6736384" y="4220077"/>
            <a:ext cx="184724" cy="184723"/>
          </a:xfrm>
          <a:prstGeom prst="rect">
            <a:avLst/>
          </a:prstGeom>
        </p:spPr>
      </p:pic>
      <p:grpSp>
        <p:nvGrpSpPr>
          <p:cNvPr id="13" name="object 13"/>
          <p:cNvGrpSpPr/>
          <p:nvPr/>
        </p:nvGrpSpPr>
        <p:grpSpPr>
          <a:xfrm>
            <a:off x="5198360" y="2827176"/>
            <a:ext cx="1722755" cy="1577975"/>
            <a:chOff x="5198359" y="1969925"/>
            <a:chExt cx="1722755" cy="1577975"/>
          </a:xfrm>
        </p:grpSpPr>
        <p:sp>
          <p:nvSpPr>
            <p:cNvPr id="14" name="object 14"/>
            <p:cNvSpPr/>
            <p:nvPr/>
          </p:nvSpPr>
          <p:spPr>
            <a:xfrm>
              <a:off x="5203121" y="1974687"/>
              <a:ext cx="175260" cy="175260"/>
            </a:xfrm>
            <a:custGeom>
              <a:avLst/>
              <a:gdLst/>
              <a:ahLst/>
              <a:cxnLst/>
              <a:rect l="l" t="t" r="r" b="b"/>
              <a:pathLst>
                <a:path w="175260" h="175260">
                  <a:moveTo>
                    <a:pt x="87598" y="175199"/>
                  </a:moveTo>
                  <a:lnTo>
                    <a:pt x="53501" y="168315"/>
                  </a:lnTo>
                  <a:lnTo>
                    <a:pt x="25656" y="149541"/>
                  </a:lnTo>
                  <a:lnTo>
                    <a:pt x="6883" y="121697"/>
                  </a:lnTo>
                  <a:lnTo>
                    <a:pt x="0" y="87599"/>
                  </a:lnTo>
                  <a:lnTo>
                    <a:pt x="6883" y="53501"/>
                  </a:lnTo>
                  <a:lnTo>
                    <a:pt x="25656" y="25657"/>
                  </a:lnTo>
                  <a:lnTo>
                    <a:pt x="53501" y="6883"/>
                  </a:lnTo>
                  <a:lnTo>
                    <a:pt x="87598" y="0"/>
                  </a:lnTo>
                  <a:lnTo>
                    <a:pt x="104768" y="1698"/>
                  </a:lnTo>
                  <a:lnTo>
                    <a:pt x="149541" y="25657"/>
                  </a:lnTo>
                  <a:lnTo>
                    <a:pt x="173500" y="70430"/>
                  </a:lnTo>
                  <a:lnTo>
                    <a:pt x="175198" y="87599"/>
                  </a:lnTo>
                  <a:lnTo>
                    <a:pt x="168314" y="121697"/>
                  </a:lnTo>
                  <a:lnTo>
                    <a:pt x="149541" y="149541"/>
                  </a:lnTo>
                  <a:lnTo>
                    <a:pt x="121696" y="168315"/>
                  </a:lnTo>
                  <a:lnTo>
                    <a:pt x="87598" y="175199"/>
                  </a:lnTo>
                  <a:close/>
                </a:path>
              </a:pathLst>
            </a:custGeom>
            <a:solidFill>
              <a:srgbClr val="93C47D"/>
            </a:solidFill>
          </p:spPr>
          <p:txBody>
            <a:bodyPr wrap="square" lIns="0" tIns="0" rIns="0" bIns="0" rtlCol="0"/>
            <a:lstStyle/>
            <a:p>
              <a:endParaRPr>
                <a:solidFill>
                  <a:prstClr val="black"/>
                </a:solidFill>
                <a:latin typeface="Calibri"/>
              </a:endParaRPr>
            </a:p>
          </p:txBody>
        </p:sp>
        <p:sp>
          <p:nvSpPr>
            <p:cNvPr id="15" name="object 15"/>
            <p:cNvSpPr/>
            <p:nvPr/>
          </p:nvSpPr>
          <p:spPr>
            <a:xfrm>
              <a:off x="5203121" y="1974687"/>
              <a:ext cx="175260" cy="175260"/>
            </a:xfrm>
            <a:custGeom>
              <a:avLst/>
              <a:gdLst/>
              <a:ahLst/>
              <a:cxnLst/>
              <a:rect l="l" t="t" r="r" b="b"/>
              <a:pathLst>
                <a:path w="175260" h="175260">
                  <a:moveTo>
                    <a:pt x="0" y="87599"/>
                  </a:moveTo>
                  <a:lnTo>
                    <a:pt x="6883" y="53501"/>
                  </a:lnTo>
                  <a:lnTo>
                    <a:pt x="25656" y="25657"/>
                  </a:lnTo>
                  <a:lnTo>
                    <a:pt x="53501" y="6883"/>
                  </a:lnTo>
                  <a:lnTo>
                    <a:pt x="87598" y="0"/>
                  </a:lnTo>
                  <a:lnTo>
                    <a:pt x="136199" y="14716"/>
                  </a:lnTo>
                  <a:lnTo>
                    <a:pt x="168530" y="54075"/>
                  </a:lnTo>
                  <a:lnTo>
                    <a:pt x="175198" y="87599"/>
                  </a:lnTo>
                  <a:lnTo>
                    <a:pt x="168314" y="121697"/>
                  </a:lnTo>
                  <a:lnTo>
                    <a:pt x="149541" y="149541"/>
                  </a:lnTo>
                  <a:lnTo>
                    <a:pt x="121696" y="168315"/>
                  </a:lnTo>
                  <a:lnTo>
                    <a:pt x="87598" y="175199"/>
                  </a:lnTo>
                  <a:lnTo>
                    <a:pt x="53501" y="168315"/>
                  </a:lnTo>
                  <a:lnTo>
                    <a:pt x="25656" y="149541"/>
                  </a:lnTo>
                  <a:lnTo>
                    <a:pt x="6883" y="121697"/>
                  </a:lnTo>
                  <a:lnTo>
                    <a:pt x="0" y="87599"/>
                  </a:lnTo>
                  <a:close/>
                </a:path>
              </a:pathLst>
            </a:custGeom>
            <a:ln w="9524">
              <a:solidFill>
                <a:srgbClr val="37761B"/>
              </a:solidFill>
            </a:ln>
          </p:spPr>
          <p:txBody>
            <a:bodyPr wrap="square" lIns="0" tIns="0" rIns="0" bIns="0" rtlCol="0"/>
            <a:lstStyle/>
            <a:p>
              <a:endParaRPr>
                <a:solidFill>
                  <a:prstClr val="black"/>
                </a:solidFill>
                <a:latin typeface="Calibri"/>
              </a:endParaRPr>
            </a:p>
          </p:txBody>
        </p:sp>
        <p:sp>
          <p:nvSpPr>
            <p:cNvPr id="16" name="object 16"/>
            <p:cNvSpPr/>
            <p:nvPr/>
          </p:nvSpPr>
          <p:spPr>
            <a:xfrm>
              <a:off x="5290722" y="2149887"/>
              <a:ext cx="0" cy="232410"/>
            </a:xfrm>
            <a:custGeom>
              <a:avLst/>
              <a:gdLst/>
              <a:ahLst/>
              <a:cxnLst/>
              <a:rect l="l" t="t" r="r" b="b"/>
              <a:pathLst>
                <a:path h="232410">
                  <a:moveTo>
                    <a:pt x="0" y="0"/>
                  </a:moveTo>
                  <a:lnTo>
                    <a:pt x="0" y="232049"/>
                  </a:lnTo>
                </a:path>
              </a:pathLst>
            </a:custGeom>
            <a:ln w="9524">
              <a:solidFill>
                <a:srgbClr val="666666"/>
              </a:solidFill>
            </a:ln>
          </p:spPr>
          <p:txBody>
            <a:bodyPr wrap="square" lIns="0" tIns="0" rIns="0" bIns="0" rtlCol="0"/>
            <a:lstStyle/>
            <a:p>
              <a:endParaRPr>
                <a:solidFill>
                  <a:prstClr val="black"/>
                </a:solidFill>
                <a:latin typeface="Calibri"/>
              </a:endParaRPr>
            </a:p>
          </p:txBody>
        </p:sp>
        <p:sp>
          <p:nvSpPr>
            <p:cNvPr id="17" name="object 17"/>
            <p:cNvSpPr/>
            <p:nvPr/>
          </p:nvSpPr>
          <p:spPr>
            <a:xfrm>
              <a:off x="5203121" y="2438987"/>
              <a:ext cx="175260" cy="175260"/>
            </a:xfrm>
            <a:custGeom>
              <a:avLst/>
              <a:gdLst/>
              <a:ahLst/>
              <a:cxnLst/>
              <a:rect l="l" t="t" r="r" b="b"/>
              <a:pathLst>
                <a:path w="175260" h="175260">
                  <a:moveTo>
                    <a:pt x="87598" y="175199"/>
                  </a:moveTo>
                  <a:lnTo>
                    <a:pt x="53501" y="168315"/>
                  </a:lnTo>
                  <a:lnTo>
                    <a:pt x="25656" y="149541"/>
                  </a:lnTo>
                  <a:lnTo>
                    <a:pt x="6883" y="121697"/>
                  </a:lnTo>
                  <a:lnTo>
                    <a:pt x="0" y="87599"/>
                  </a:lnTo>
                  <a:lnTo>
                    <a:pt x="6883" y="53501"/>
                  </a:lnTo>
                  <a:lnTo>
                    <a:pt x="25656" y="25657"/>
                  </a:lnTo>
                  <a:lnTo>
                    <a:pt x="53501" y="6883"/>
                  </a:lnTo>
                  <a:lnTo>
                    <a:pt x="87598" y="0"/>
                  </a:lnTo>
                  <a:lnTo>
                    <a:pt x="104768" y="1698"/>
                  </a:lnTo>
                  <a:lnTo>
                    <a:pt x="149541" y="25657"/>
                  </a:lnTo>
                  <a:lnTo>
                    <a:pt x="173500" y="70430"/>
                  </a:lnTo>
                  <a:lnTo>
                    <a:pt x="175198" y="87599"/>
                  </a:lnTo>
                  <a:lnTo>
                    <a:pt x="168314" y="121697"/>
                  </a:lnTo>
                  <a:lnTo>
                    <a:pt x="149541" y="149541"/>
                  </a:lnTo>
                  <a:lnTo>
                    <a:pt x="121696" y="168315"/>
                  </a:lnTo>
                  <a:lnTo>
                    <a:pt x="87598" y="175199"/>
                  </a:lnTo>
                  <a:close/>
                </a:path>
              </a:pathLst>
            </a:custGeom>
            <a:solidFill>
              <a:srgbClr val="93C47D"/>
            </a:solidFill>
          </p:spPr>
          <p:txBody>
            <a:bodyPr wrap="square" lIns="0" tIns="0" rIns="0" bIns="0" rtlCol="0"/>
            <a:lstStyle/>
            <a:p>
              <a:endParaRPr>
                <a:solidFill>
                  <a:prstClr val="black"/>
                </a:solidFill>
                <a:latin typeface="Calibri"/>
              </a:endParaRPr>
            </a:p>
          </p:txBody>
        </p:sp>
        <p:sp>
          <p:nvSpPr>
            <p:cNvPr id="18" name="object 18"/>
            <p:cNvSpPr/>
            <p:nvPr/>
          </p:nvSpPr>
          <p:spPr>
            <a:xfrm>
              <a:off x="5203121" y="2438987"/>
              <a:ext cx="175260" cy="175260"/>
            </a:xfrm>
            <a:custGeom>
              <a:avLst/>
              <a:gdLst/>
              <a:ahLst/>
              <a:cxnLst/>
              <a:rect l="l" t="t" r="r" b="b"/>
              <a:pathLst>
                <a:path w="175260" h="175260">
                  <a:moveTo>
                    <a:pt x="0" y="87599"/>
                  </a:moveTo>
                  <a:lnTo>
                    <a:pt x="6883" y="53501"/>
                  </a:lnTo>
                  <a:lnTo>
                    <a:pt x="25656" y="25657"/>
                  </a:lnTo>
                  <a:lnTo>
                    <a:pt x="53501" y="6883"/>
                  </a:lnTo>
                  <a:lnTo>
                    <a:pt x="87598" y="0"/>
                  </a:lnTo>
                  <a:lnTo>
                    <a:pt x="136199" y="14716"/>
                  </a:lnTo>
                  <a:lnTo>
                    <a:pt x="168530" y="54075"/>
                  </a:lnTo>
                  <a:lnTo>
                    <a:pt x="175198" y="87599"/>
                  </a:lnTo>
                  <a:lnTo>
                    <a:pt x="168314" y="121697"/>
                  </a:lnTo>
                  <a:lnTo>
                    <a:pt x="149541" y="149541"/>
                  </a:lnTo>
                  <a:lnTo>
                    <a:pt x="121696" y="168315"/>
                  </a:lnTo>
                  <a:lnTo>
                    <a:pt x="87598" y="175199"/>
                  </a:lnTo>
                  <a:lnTo>
                    <a:pt x="53501" y="168315"/>
                  </a:lnTo>
                  <a:lnTo>
                    <a:pt x="25656" y="149541"/>
                  </a:lnTo>
                  <a:lnTo>
                    <a:pt x="6883" y="121697"/>
                  </a:lnTo>
                  <a:lnTo>
                    <a:pt x="0" y="87599"/>
                  </a:lnTo>
                  <a:close/>
                </a:path>
              </a:pathLst>
            </a:custGeom>
            <a:ln w="9524">
              <a:solidFill>
                <a:srgbClr val="37761B"/>
              </a:solidFill>
            </a:ln>
          </p:spPr>
          <p:txBody>
            <a:bodyPr wrap="square" lIns="0" tIns="0" rIns="0" bIns="0" rtlCol="0"/>
            <a:lstStyle/>
            <a:p>
              <a:endParaRPr>
                <a:solidFill>
                  <a:prstClr val="black"/>
                </a:solidFill>
                <a:latin typeface="Calibri"/>
              </a:endParaRPr>
            </a:p>
          </p:txBody>
        </p:sp>
        <p:sp>
          <p:nvSpPr>
            <p:cNvPr id="19" name="object 19"/>
            <p:cNvSpPr/>
            <p:nvPr/>
          </p:nvSpPr>
          <p:spPr>
            <a:xfrm>
              <a:off x="5274989" y="2381937"/>
              <a:ext cx="31750" cy="43815"/>
            </a:xfrm>
            <a:custGeom>
              <a:avLst/>
              <a:gdLst/>
              <a:ahLst/>
              <a:cxnLst/>
              <a:rect l="l" t="t" r="r" b="b"/>
              <a:pathLst>
                <a:path w="31750" h="43814">
                  <a:moveTo>
                    <a:pt x="15731" y="43225"/>
                  </a:moveTo>
                  <a:lnTo>
                    <a:pt x="0" y="0"/>
                  </a:lnTo>
                  <a:lnTo>
                    <a:pt x="31464" y="0"/>
                  </a:lnTo>
                  <a:lnTo>
                    <a:pt x="15731" y="43225"/>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20" name="object 20"/>
            <p:cNvSpPr/>
            <p:nvPr/>
          </p:nvSpPr>
          <p:spPr>
            <a:xfrm>
              <a:off x="5274989" y="2060488"/>
              <a:ext cx="384175" cy="365125"/>
            </a:xfrm>
            <a:custGeom>
              <a:avLst/>
              <a:gdLst/>
              <a:ahLst/>
              <a:cxnLst/>
              <a:rect l="l" t="t" r="r" b="b"/>
              <a:pathLst>
                <a:path w="384175" h="365125">
                  <a:moveTo>
                    <a:pt x="0" y="321448"/>
                  </a:moveTo>
                  <a:lnTo>
                    <a:pt x="15731" y="364674"/>
                  </a:lnTo>
                  <a:lnTo>
                    <a:pt x="31464" y="321448"/>
                  </a:lnTo>
                  <a:lnTo>
                    <a:pt x="0" y="321448"/>
                  </a:lnTo>
                  <a:close/>
                </a:path>
                <a:path w="384175" h="365125">
                  <a:moveTo>
                    <a:pt x="103306" y="0"/>
                  </a:moveTo>
                  <a:lnTo>
                    <a:pt x="383656" y="1494"/>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21" name="object 21"/>
            <p:cNvPicPr/>
            <p:nvPr/>
          </p:nvPicPr>
          <p:blipFill>
            <a:blip r:embed="rId4" cstate="print"/>
            <a:stretch>
              <a:fillRect/>
            </a:stretch>
          </p:blipFill>
          <p:spPr>
            <a:xfrm>
              <a:off x="5711035" y="1969926"/>
              <a:ext cx="184723" cy="184723"/>
            </a:xfrm>
            <a:prstGeom prst="rect">
              <a:avLst/>
            </a:prstGeom>
          </p:spPr>
        </p:pic>
        <p:sp>
          <p:nvSpPr>
            <p:cNvPr id="22" name="object 22"/>
            <p:cNvSpPr/>
            <p:nvPr/>
          </p:nvSpPr>
          <p:spPr>
            <a:xfrm>
              <a:off x="5658563" y="2046250"/>
              <a:ext cx="43815" cy="31750"/>
            </a:xfrm>
            <a:custGeom>
              <a:avLst/>
              <a:gdLst/>
              <a:ahLst/>
              <a:cxnLst/>
              <a:rect l="l" t="t" r="r" b="b"/>
              <a:pathLst>
                <a:path w="43814" h="31750">
                  <a:moveTo>
                    <a:pt x="0" y="31464"/>
                  </a:moveTo>
                  <a:lnTo>
                    <a:pt x="167" y="0"/>
                  </a:lnTo>
                  <a:lnTo>
                    <a:pt x="43308" y="15962"/>
                  </a:lnTo>
                  <a:lnTo>
                    <a:pt x="0" y="31464"/>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23" name="object 23"/>
            <p:cNvSpPr/>
            <p:nvPr/>
          </p:nvSpPr>
          <p:spPr>
            <a:xfrm>
              <a:off x="5290722" y="2046250"/>
              <a:ext cx="411480" cy="800100"/>
            </a:xfrm>
            <a:custGeom>
              <a:avLst/>
              <a:gdLst/>
              <a:ahLst/>
              <a:cxnLst/>
              <a:rect l="l" t="t" r="r" b="b"/>
              <a:pathLst>
                <a:path w="411479" h="800100">
                  <a:moveTo>
                    <a:pt x="367840" y="31464"/>
                  </a:moveTo>
                  <a:lnTo>
                    <a:pt x="411149" y="15962"/>
                  </a:lnTo>
                  <a:lnTo>
                    <a:pt x="368008" y="0"/>
                  </a:lnTo>
                  <a:lnTo>
                    <a:pt x="367840" y="31464"/>
                  </a:lnTo>
                  <a:close/>
                </a:path>
                <a:path w="411479" h="800100">
                  <a:moveTo>
                    <a:pt x="0" y="567887"/>
                  </a:moveTo>
                  <a:lnTo>
                    <a:pt x="0" y="799936"/>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24" name="object 24"/>
            <p:cNvPicPr/>
            <p:nvPr/>
          </p:nvPicPr>
          <p:blipFill>
            <a:blip r:embed="rId5" cstate="print"/>
            <a:stretch>
              <a:fillRect/>
            </a:stretch>
          </p:blipFill>
          <p:spPr>
            <a:xfrm>
              <a:off x="5198360" y="2898526"/>
              <a:ext cx="184723" cy="184723"/>
            </a:xfrm>
            <a:prstGeom prst="rect">
              <a:avLst/>
            </a:prstGeom>
          </p:spPr>
        </p:pic>
        <p:sp>
          <p:nvSpPr>
            <p:cNvPr id="25" name="object 25"/>
            <p:cNvSpPr/>
            <p:nvPr/>
          </p:nvSpPr>
          <p:spPr>
            <a:xfrm>
              <a:off x="5274989" y="2846188"/>
              <a:ext cx="31750" cy="43815"/>
            </a:xfrm>
            <a:custGeom>
              <a:avLst/>
              <a:gdLst/>
              <a:ahLst/>
              <a:cxnLst/>
              <a:rect l="l" t="t" r="r" b="b"/>
              <a:pathLst>
                <a:path w="31750" h="43814">
                  <a:moveTo>
                    <a:pt x="15731" y="43225"/>
                  </a:moveTo>
                  <a:lnTo>
                    <a:pt x="0" y="0"/>
                  </a:lnTo>
                  <a:lnTo>
                    <a:pt x="31464" y="0"/>
                  </a:lnTo>
                  <a:lnTo>
                    <a:pt x="15731" y="43225"/>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26" name="object 26"/>
            <p:cNvSpPr/>
            <p:nvPr/>
          </p:nvSpPr>
          <p:spPr>
            <a:xfrm>
              <a:off x="5274989" y="2149887"/>
              <a:ext cx="528955" cy="739775"/>
            </a:xfrm>
            <a:custGeom>
              <a:avLst/>
              <a:gdLst/>
              <a:ahLst/>
              <a:cxnLst/>
              <a:rect l="l" t="t" r="r" b="b"/>
              <a:pathLst>
                <a:path w="528954" h="739775">
                  <a:moveTo>
                    <a:pt x="0" y="696300"/>
                  </a:moveTo>
                  <a:lnTo>
                    <a:pt x="15731" y="739526"/>
                  </a:lnTo>
                  <a:lnTo>
                    <a:pt x="31464" y="696300"/>
                  </a:lnTo>
                  <a:lnTo>
                    <a:pt x="0" y="696300"/>
                  </a:lnTo>
                  <a:close/>
                </a:path>
                <a:path w="528954" h="739775">
                  <a:moveTo>
                    <a:pt x="528406" y="0"/>
                  </a:moveTo>
                  <a:lnTo>
                    <a:pt x="528406" y="232049"/>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27" name="object 27"/>
            <p:cNvPicPr/>
            <p:nvPr/>
          </p:nvPicPr>
          <p:blipFill>
            <a:blip r:embed="rId6" cstate="print"/>
            <a:stretch>
              <a:fillRect/>
            </a:stretch>
          </p:blipFill>
          <p:spPr>
            <a:xfrm>
              <a:off x="5711035" y="2434226"/>
              <a:ext cx="184723" cy="184723"/>
            </a:xfrm>
            <a:prstGeom prst="rect">
              <a:avLst/>
            </a:prstGeom>
          </p:spPr>
        </p:pic>
        <p:sp>
          <p:nvSpPr>
            <p:cNvPr id="28" name="object 28"/>
            <p:cNvSpPr/>
            <p:nvPr/>
          </p:nvSpPr>
          <p:spPr>
            <a:xfrm>
              <a:off x="5787664" y="2381937"/>
              <a:ext cx="31750" cy="43815"/>
            </a:xfrm>
            <a:custGeom>
              <a:avLst/>
              <a:gdLst/>
              <a:ahLst/>
              <a:cxnLst/>
              <a:rect l="l" t="t" r="r" b="b"/>
              <a:pathLst>
                <a:path w="31750" h="43814">
                  <a:moveTo>
                    <a:pt x="15731" y="43225"/>
                  </a:moveTo>
                  <a:lnTo>
                    <a:pt x="0" y="0"/>
                  </a:lnTo>
                  <a:lnTo>
                    <a:pt x="31464" y="0"/>
                  </a:lnTo>
                  <a:lnTo>
                    <a:pt x="15731" y="43225"/>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29" name="object 29"/>
            <p:cNvSpPr/>
            <p:nvPr/>
          </p:nvSpPr>
          <p:spPr>
            <a:xfrm>
              <a:off x="5378296" y="2381937"/>
              <a:ext cx="441325" cy="145415"/>
            </a:xfrm>
            <a:custGeom>
              <a:avLst/>
              <a:gdLst/>
              <a:ahLst/>
              <a:cxnLst/>
              <a:rect l="l" t="t" r="r" b="b"/>
              <a:pathLst>
                <a:path w="441325" h="145414">
                  <a:moveTo>
                    <a:pt x="409367" y="0"/>
                  </a:moveTo>
                  <a:lnTo>
                    <a:pt x="425099" y="43225"/>
                  </a:lnTo>
                  <a:lnTo>
                    <a:pt x="440832" y="0"/>
                  </a:lnTo>
                  <a:lnTo>
                    <a:pt x="409367" y="0"/>
                  </a:lnTo>
                  <a:close/>
                </a:path>
                <a:path w="441325" h="145414">
                  <a:moveTo>
                    <a:pt x="0" y="143750"/>
                  </a:moveTo>
                  <a:lnTo>
                    <a:pt x="280349" y="145245"/>
                  </a:lnTo>
                </a:path>
              </a:pathLst>
            </a:custGeom>
            <a:ln w="9524">
              <a:solidFill>
                <a:srgbClr val="666666"/>
              </a:solidFill>
            </a:ln>
          </p:spPr>
          <p:txBody>
            <a:bodyPr wrap="square" lIns="0" tIns="0" rIns="0" bIns="0" rtlCol="0"/>
            <a:lstStyle/>
            <a:p>
              <a:endParaRPr>
                <a:solidFill>
                  <a:prstClr val="black"/>
                </a:solidFill>
                <a:latin typeface="Calibri"/>
              </a:endParaRPr>
            </a:p>
          </p:txBody>
        </p:sp>
        <p:sp>
          <p:nvSpPr>
            <p:cNvPr id="30" name="object 30"/>
            <p:cNvSpPr/>
            <p:nvPr/>
          </p:nvSpPr>
          <p:spPr>
            <a:xfrm>
              <a:off x="5658563" y="2511451"/>
              <a:ext cx="43815" cy="31750"/>
            </a:xfrm>
            <a:custGeom>
              <a:avLst/>
              <a:gdLst/>
              <a:ahLst/>
              <a:cxnLst/>
              <a:rect l="l" t="t" r="r" b="b"/>
              <a:pathLst>
                <a:path w="43814" h="31750">
                  <a:moveTo>
                    <a:pt x="0" y="31463"/>
                  </a:moveTo>
                  <a:lnTo>
                    <a:pt x="167" y="0"/>
                  </a:lnTo>
                  <a:lnTo>
                    <a:pt x="43308" y="15961"/>
                  </a:lnTo>
                  <a:lnTo>
                    <a:pt x="0" y="31463"/>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31" name="object 31"/>
            <p:cNvSpPr/>
            <p:nvPr/>
          </p:nvSpPr>
          <p:spPr>
            <a:xfrm>
              <a:off x="5658563" y="2062288"/>
              <a:ext cx="513080" cy="480695"/>
            </a:xfrm>
            <a:custGeom>
              <a:avLst/>
              <a:gdLst/>
              <a:ahLst/>
              <a:cxnLst/>
              <a:rect l="l" t="t" r="r" b="b"/>
              <a:pathLst>
                <a:path w="513079" h="480694">
                  <a:moveTo>
                    <a:pt x="0" y="480625"/>
                  </a:moveTo>
                  <a:lnTo>
                    <a:pt x="43308" y="465123"/>
                  </a:lnTo>
                  <a:lnTo>
                    <a:pt x="167" y="449161"/>
                  </a:lnTo>
                  <a:lnTo>
                    <a:pt x="0" y="480625"/>
                  </a:lnTo>
                  <a:close/>
                </a:path>
                <a:path w="513079" h="480694">
                  <a:moveTo>
                    <a:pt x="232420" y="0"/>
                  </a:moveTo>
                  <a:lnTo>
                    <a:pt x="512770" y="1494"/>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32" name="object 32"/>
            <p:cNvPicPr/>
            <p:nvPr/>
          </p:nvPicPr>
          <p:blipFill>
            <a:blip r:embed="rId7" cstate="print"/>
            <a:stretch>
              <a:fillRect/>
            </a:stretch>
          </p:blipFill>
          <p:spPr>
            <a:xfrm>
              <a:off x="6223710" y="1969926"/>
              <a:ext cx="184723" cy="184723"/>
            </a:xfrm>
            <a:prstGeom prst="rect">
              <a:avLst/>
            </a:prstGeom>
          </p:spPr>
        </p:pic>
        <p:sp>
          <p:nvSpPr>
            <p:cNvPr id="33" name="object 33"/>
            <p:cNvSpPr/>
            <p:nvPr/>
          </p:nvSpPr>
          <p:spPr>
            <a:xfrm>
              <a:off x="6171251" y="2048050"/>
              <a:ext cx="43815" cy="31750"/>
            </a:xfrm>
            <a:custGeom>
              <a:avLst/>
              <a:gdLst/>
              <a:ahLst/>
              <a:cxnLst/>
              <a:rect l="l" t="t" r="r" b="b"/>
              <a:pathLst>
                <a:path w="43814" h="31750">
                  <a:moveTo>
                    <a:pt x="0" y="31464"/>
                  </a:moveTo>
                  <a:lnTo>
                    <a:pt x="165" y="0"/>
                  </a:lnTo>
                  <a:lnTo>
                    <a:pt x="43307" y="15962"/>
                  </a:lnTo>
                  <a:lnTo>
                    <a:pt x="0" y="31464"/>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34" name="object 34"/>
            <p:cNvSpPr/>
            <p:nvPr/>
          </p:nvSpPr>
          <p:spPr>
            <a:xfrm>
              <a:off x="6171251" y="2048050"/>
              <a:ext cx="43815" cy="31750"/>
            </a:xfrm>
            <a:custGeom>
              <a:avLst/>
              <a:gdLst/>
              <a:ahLst/>
              <a:cxnLst/>
              <a:rect l="l" t="t" r="r" b="b"/>
              <a:pathLst>
                <a:path w="43814" h="31750">
                  <a:moveTo>
                    <a:pt x="0" y="31464"/>
                  </a:moveTo>
                  <a:lnTo>
                    <a:pt x="43307" y="15962"/>
                  </a:lnTo>
                  <a:lnTo>
                    <a:pt x="165" y="0"/>
                  </a:lnTo>
                  <a:lnTo>
                    <a:pt x="0" y="31464"/>
                  </a:lnTo>
                  <a:close/>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35" name="object 35"/>
            <p:cNvPicPr/>
            <p:nvPr/>
          </p:nvPicPr>
          <p:blipFill>
            <a:blip r:embed="rId5" cstate="print"/>
            <a:stretch>
              <a:fillRect/>
            </a:stretch>
          </p:blipFill>
          <p:spPr>
            <a:xfrm>
              <a:off x="5198360" y="3362826"/>
              <a:ext cx="184723" cy="184723"/>
            </a:xfrm>
            <a:prstGeom prst="rect">
              <a:avLst/>
            </a:prstGeom>
          </p:spPr>
        </p:pic>
        <p:sp>
          <p:nvSpPr>
            <p:cNvPr id="36" name="object 36"/>
            <p:cNvSpPr/>
            <p:nvPr/>
          </p:nvSpPr>
          <p:spPr>
            <a:xfrm>
              <a:off x="5290722" y="3091826"/>
              <a:ext cx="0" cy="232410"/>
            </a:xfrm>
            <a:custGeom>
              <a:avLst/>
              <a:gdLst/>
              <a:ahLst/>
              <a:cxnLst/>
              <a:rect l="l" t="t" r="r" b="b"/>
              <a:pathLst>
                <a:path h="232410">
                  <a:moveTo>
                    <a:pt x="0" y="0"/>
                  </a:moveTo>
                  <a:lnTo>
                    <a:pt x="0" y="232048"/>
                  </a:lnTo>
                </a:path>
              </a:pathLst>
            </a:custGeom>
            <a:ln w="9524">
              <a:solidFill>
                <a:srgbClr val="666666"/>
              </a:solidFill>
            </a:ln>
          </p:spPr>
          <p:txBody>
            <a:bodyPr wrap="square" lIns="0" tIns="0" rIns="0" bIns="0" rtlCol="0"/>
            <a:lstStyle/>
            <a:p>
              <a:endParaRPr>
                <a:solidFill>
                  <a:prstClr val="black"/>
                </a:solidFill>
                <a:latin typeface="Calibri"/>
              </a:endParaRPr>
            </a:p>
          </p:txBody>
        </p:sp>
        <p:sp>
          <p:nvSpPr>
            <p:cNvPr id="37" name="object 37"/>
            <p:cNvSpPr/>
            <p:nvPr/>
          </p:nvSpPr>
          <p:spPr>
            <a:xfrm>
              <a:off x="5274989" y="3323876"/>
              <a:ext cx="31750" cy="43815"/>
            </a:xfrm>
            <a:custGeom>
              <a:avLst/>
              <a:gdLst/>
              <a:ahLst/>
              <a:cxnLst/>
              <a:rect l="l" t="t" r="r" b="b"/>
              <a:pathLst>
                <a:path w="31750" h="43814">
                  <a:moveTo>
                    <a:pt x="15731" y="43226"/>
                  </a:moveTo>
                  <a:lnTo>
                    <a:pt x="0" y="0"/>
                  </a:lnTo>
                  <a:lnTo>
                    <a:pt x="31464" y="0"/>
                  </a:lnTo>
                  <a:lnTo>
                    <a:pt x="15731" y="43226"/>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38" name="object 38"/>
            <p:cNvSpPr/>
            <p:nvPr/>
          </p:nvSpPr>
          <p:spPr>
            <a:xfrm>
              <a:off x="5274989" y="2614125"/>
              <a:ext cx="528955" cy="753110"/>
            </a:xfrm>
            <a:custGeom>
              <a:avLst/>
              <a:gdLst/>
              <a:ahLst/>
              <a:cxnLst/>
              <a:rect l="l" t="t" r="r" b="b"/>
              <a:pathLst>
                <a:path w="528954" h="753110">
                  <a:moveTo>
                    <a:pt x="0" y="709750"/>
                  </a:moveTo>
                  <a:lnTo>
                    <a:pt x="15731" y="752976"/>
                  </a:lnTo>
                  <a:lnTo>
                    <a:pt x="31464" y="709750"/>
                  </a:lnTo>
                  <a:lnTo>
                    <a:pt x="0" y="709750"/>
                  </a:lnTo>
                  <a:close/>
                </a:path>
                <a:path w="528954" h="753110">
                  <a:moveTo>
                    <a:pt x="528406" y="0"/>
                  </a:moveTo>
                  <a:lnTo>
                    <a:pt x="528406" y="232048"/>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39" name="object 39"/>
            <p:cNvPicPr/>
            <p:nvPr/>
          </p:nvPicPr>
          <p:blipFill>
            <a:blip r:embed="rId6" cstate="print"/>
            <a:stretch>
              <a:fillRect/>
            </a:stretch>
          </p:blipFill>
          <p:spPr>
            <a:xfrm>
              <a:off x="5711035" y="2898526"/>
              <a:ext cx="184723" cy="184723"/>
            </a:xfrm>
            <a:prstGeom prst="rect">
              <a:avLst/>
            </a:prstGeom>
          </p:spPr>
        </p:pic>
        <p:sp>
          <p:nvSpPr>
            <p:cNvPr id="40" name="object 40"/>
            <p:cNvSpPr/>
            <p:nvPr/>
          </p:nvSpPr>
          <p:spPr>
            <a:xfrm>
              <a:off x="5787664" y="2846175"/>
              <a:ext cx="31750" cy="43815"/>
            </a:xfrm>
            <a:custGeom>
              <a:avLst/>
              <a:gdLst/>
              <a:ahLst/>
              <a:cxnLst/>
              <a:rect l="l" t="t" r="r" b="b"/>
              <a:pathLst>
                <a:path w="31750" h="43814">
                  <a:moveTo>
                    <a:pt x="15731" y="43225"/>
                  </a:moveTo>
                  <a:lnTo>
                    <a:pt x="0" y="0"/>
                  </a:lnTo>
                  <a:lnTo>
                    <a:pt x="31464" y="0"/>
                  </a:lnTo>
                  <a:lnTo>
                    <a:pt x="15731" y="43225"/>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41" name="object 41"/>
            <p:cNvSpPr/>
            <p:nvPr/>
          </p:nvSpPr>
          <p:spPr>
            <a:xfrm>
              <a:off x="5787664" y="2149875"/>
              <a:ext cx="531495" cy="739775"/>
            </a:xfrm>
            <a:custGeom>
              <a:avLst/>
              <a:gdLst/>
              <a:ahLst/>
              <a:cxnLst/>
              <a:rect l="l" t="t" r="r" b="b"/>
              <a:pathLst>
                <a:path w="531495" h="739775">
                  <a:moveTo>
                    <a:pt x="0" y="696299"/>
                  </a:moveTo>
                  <a:lnTo>
                    <a:pt x="15731" y="739525"/>
                  </a:lnTo>
                  <a:lnTo>
                    <a:pt x="31464" y="696299"/>
                  </a:lnTo>
                  <a:lnTo>
                    <a:pt x="0" y="696299"/>
                  </a:lnTo>
                  <a:close/>
                </a:path>
                <a:path w="531495" h="739775">
                  <a:moveTo>
                    <a:pt x="530881" y="0"/>
                  </a:moveTo>
                  <a:lnTo>
                    <a:pt x="530881" y="232048"/>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42" name="object 42"/>
            <p:cNvPicPr/>
            <p:nvPr/>
          </p:nvPicPr>
          <p:blipFill>
            <a:blip r:embed="rId5" cstate="print"/>
            <a:stretch>
              <a:fillRect/>
            </a:stretch>
          </p:blipFill>
          <p:spPr>
            <a:xfrm>
              <a:off x="6223710" y="2434226"/>
              <a:ext cx="184723" cy="184723"/>
            </a:xfrm>
            <a:prstGeom prst="rect">
              <a:avLst/>
            </a:prstGeom>
          </p:spPr>
        </p:pic>
        <p:sp>
          <p:nvSpPr>
            <p:cNvPr id="43" name="object 43"/>
            <p:cNvSpPr/>
            <p:nvPr/>
          </p:nvSpPr>
          <p:spPr>
            <a:xfrm>
              <a:off x="6302814" y="2381925"/>
              <a:ext cx="31750" cy="43815"/>
            </a:xfrm>
            <a:custGeom>
              <a:avLst/>
              <a:gdLst/>
              <a:ahLst/>
              <a:cxnLst/>
              <a:rect l="l" t="t" r="r" b="b"/>
              <a:pathLst>
                <a:path w="31750" h="43814">
                  <a:moveTo>
                    <a:pt x="15731" y="43225"/>
                  </a:moveTo>
                  <a:lnTo>
                    <a:pt x="0" y="0"/>
                  </a:lnTo>
                  <a:lnTo>
                    <a:pt x="31463" y="0"/>
                  </a:lnTo>
                  <a:lnTo>
                    <a:pt x="15731" y="43225"/>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44" name="object 44"/>
            <p:cNvSpPr/>
            <p:nvPr/>
          </p:nvSpPr>
          <p:spPr>
            <a:xfrm>
              <a:off x="5378296" y="2381925"/>
              <a:ext cx="956310" cy="609600"/>
            </a:xfrm>
            <a:custGeom>
              <a:avLst/>
              <a:gdLst/>
              <a:ahLst/>
              <a:cxnLst/>
              <a:rect l="l" t="t" r="r" b="b"/>
              <a:pathLst>
                <a:path w="956310" h="609600">
                  <a:moveTo>
                    <a:pt x="924517" y="0"/>
                  </a:moveTo>
                  <a:lnTo>
                    <a:pt x="940249" y="43225"/>
                  </a:lnTo>
                  <a:lnTo>
                    <a:pt x="955981" y="0"/>
                  </a:lnTo>
                  <a:lnTo>
                    <a:pt x="924517" y="0"/>
                  </a:lnTo>
                  <a:close/>
                </a:path>
                <a:path w="956310" h="609600">
                  <a:moveTo>
                    <a:pt x="0" y="608061"/>
                  </a:moveTo>
                  <a:lnTo>
                    <a:pt x="280349" y="609556"/>
                  </a:lnTo>
                </a:path>
              </a:pathLst>
            </a:custGeom>
            <a:ln w="9524">
              <a:solidFill>
                <a:srgbClr val="666666"/>
              </a:solidFill>
            </a:ln>
          </p:spPr>
          <p:txBody>
            <a:bodyPr wrap="square" lIns="0" tIns="0" rIns="0" bIns="0" rtlCol="0"/>
            <a:lstStyle/>
            <a:p>
              <a:endParaRPr>
                <a:solidFill>
                  <a:prstClr val="black"/>
                </a:solidFill>
                <a:latin typeface="Calibri"/>
              </a:endParaRPr>
            </a:p>
          </p:txBody>
        </p:sp>
        <p:sp>
          <p:nvSpPr>
            <p:cNvPr id="45" name="object 45"/>
            <p:cNvSpPr/>
            <p:nvPr/>
          </p:nvSpPr>
          <p:spPr>
            <a:xfrm>
              <a:off x="5658563" y="2975751"/>
              <a:ext cx="43815" cy="31750"/>
            </a:xfrm>
            <a:custGeom>
              <a:avLst/>
              <a:gdLst/>
              <a:ahLst/>
              <a:cxnLst/>
              <a:rect l="l" t="t" r="r" b="b"/>
              <a:pathLst>
                <a:path w="43814" h="31750">
                  <a:moveTo>
                    <a:pt x="0" y="31463"/>
                  </a:moveTo>
                  <a:lnTo>
                    <a:pt x="167" y="0"/>
                  </a:lnTo>
                  <a:lnTo>
                    <a:pt x="43308" y="15961"/>
                  </a:lnTo>
                  <a:lnTo>
                    <a:pt x="0" y="31463"/>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46" name="object 46"/>
            <p:cNvSpPr/>
            <p:nvPr/>
          </p:nvSpPr>
          <p:spPr>
            <a:xfrm>
              <a:off x="5658563" y="2525689"/>
              <a:ext cx="513080" cy="481965"/>
            </a:xfrm>
            <a:custGeom>
              <a:avLst/>
              <a:gdLst/>
              <a:ahLst/>
              <a:cxnLst/>
              <a:rect l="l" t="t" r="r" b="b"/>
              <a:pathLst>
                <a:path w="513079" h="481964">
                  <a:moveTo>
                    <a:pt x="0" y="481525"/>
                  </a:moveTo>
                  <a:lnTo>
                    <a:pt x="43308" y="466023"/>
                  </a:lnTo>
                  <a:lnTo>
                    <a:pt x="167" y="450061"/>
                  </a:lnTo>
                  <a:lnTo>
                    <a:pt x="0" y="481525"/>
                  </a:lnTo>
                  <a:close/>
                </a:path>
                <a:path w="513079" h="481964">
                  <a:moveTo>
                    <a:pt x="232420" y="0"/>
                  </a:moveTo>
                  <a:lnTo>
                    <a:pt x="512770" y="1494"/>
                  </a:lnTo>
                </a:path>
              </a:pathLst>
            </a:custGeom>
            <a:ln w="9524">
              <a:solidFill>
                <a:srgbClr val="666666"/>
              </a:solidFill>
            </a:ln>
          </p:spPr>
          <p:txBody>
            <a:bodyPr wrap="square" lIns="0" tIns="0" rIns="0" bIns="0" rtlCol="0"/>
            <a:lstStyle/>
            <a:p>
              <a:endParaRPr>
                <a:solidFill>
                  <a:prstClr val="black"/>
                </a:solidFill>
                <a:latin typeface="Calibri"/>
              </a:endParaRPr>
            </a:p>
          </p:txBody>
        </p:sp>
        <p:sp>
          <p:nvSpPr>
            <p:cNvPr id="47" name="object 47"/>
            <p:cNvSpPr/>
            <p:nvPr/>
          </p:nvSpPr>
          <p:spPr>
            <a:xfrm>
              <a:off x="6171251" y="2511451"/>
              <a:ext cx="43815" cy="31750"/>
            </a:xfrm>
            <a:custGeom>
              <a:avLst/>
              <a:gdLst/>
              <a:ahLst/>
              <a:cxnLst/>
              <a:rect l="l" t="t" r="r" b="b"/>
              <a:pathLst>
                <a:path w="43814" h="31750">
                  <a:moveTo>
                    <a:pt x="0" y="31463"/>
                  </a:moveTo>
                  <a:lnTo>
                    <a:pt x="165" y="0"/>
                  </a:lnTo>
                  <a:lnTo>
                    <a:pt x="43307" y="15961"/>
                  </a:lnTo>
                  <a:lnTo>
                    <a:pt x="0" y="31463"/>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48" name="object 48"/>
            <p:cNvSpPr/>
            <p:nvPr/>
          </p:nvSpPr>
          <p:spPr>
            <a:xfrm>
              <a:off x="6171251" y="2062288"/>
              <a:ext cx="513080" cy="480695"/>
            </a:xfrm>
            <a:custGeom>
              <a:avLst/>
              <a:gdLst/>
              <a:ahLst/>
              <a:cxnLst/>
              <a:rect l="l" t="t" r="r" b="b"/>
              <a:pathLst>
                <a:path w="513079" h="480694">
                  <a:moveTo>
                    <a:pt x="0" y="480625"/>
                  </a:moveTo>
                  <a:lnTo>
                    <a:pt x="43307" y="465123"/>
                  </a:lnTo>
                  <a:lnTo>
                    <a:pt x="165" y="449161"/>
                  </a:lnTo>
                  <a:lnTo>
                    <a:pt x="0" y="480625"/>
                  </a:lnTo>
                  <a:close/>
                </a:path>
                <a:path w="513079" h="480694">
                  <a:moveTo>
                    <a:pt x="232407" y="0"/>
                  </a:moveTo>
                  <a:lnTo>
                    <a:pt x="512757" y="1494"/>
                  </a:lnTo>
                </a:path>
              </a:pathLst>
            </a:custGeom>
            <a:ln w="9524">
              <a:solidFill>
                <a:srgbClr val="666666"/>
              </a:solidFill>
            </a:ln>
          </p:spPr>
          <p:txBody>
            <a:bodyPr wrap="square" lIns="0" tIns="0" rIns="0" bIns="0" rtlCol="0"/>
            <a:lstStyle/>
            <a:p>
              <a:endParaRPr>
                <a:solidFill>
                  <a:prstClr val="black"/>
                </a:solidFill>
                <a:latin typeface="Calibri"/>
              </a:endParaRPr>
            </a:p>
          </p:txBody>
        </p:sp>
        <p:pic>
          <p:nvPicPr>
            <p:cNvPr id="49" name="object 49"/>
            <p:cNvPicPr/>
            <p:nvPr/>
          </p:nvPicPr>
          <p:blipFill>
            <a:blip r:embed="rId7" cstate="print"/>
            <a:stretch>
              <a:fillRect/>
            </a:stretch>
          </p:blipFill>
          <p:spPr>
            <a:xfrm>
              <a:off x="6736385" y="1969926"/>
              <a:ext cx="184724" cy="184723"/>
            </a:xfrm>
            <a:prstGeom prst="rect">
              <a:avLst/>
            </a:prstGeom>
          </p:spPr>
        </p:pic>
        <p:sp>
          <p:nvSpPr>
            <p:cNvPr id="50" name="object 50"/>
            <p:cNvSpPr/>
            <p:nvPr/>
          </p:nvSpPr>
          <p:spPr>
            <a:xfrm>
              <a:off x="6683927" y="2048050"/>
              <a:ext cx="43815" cy="31750"/>
            </a:xfrm>
            <a:custGeom>
              <a:avLst/>
              <a:gdLst/>
              <a:ahLst/>
              <a:cxnLst/>
              <a:rect l="l" t="t" r="r" b="b"/>
              <a:pathLst>
                <a:path w="43815" h="31750">
                  <a:moveTo>
                    <a:pt x="0" y="31464"/>
                  </a:moveTo>
                  <a:lnTo>
                    <a:pt x="165" y="0"/>
                  </a:lnTo>
                  <a:lnTo>
                    <a:pt x="43307" y="15962"/>
                  </a:lnTo>
                  <a:lnTo>
                    <a:pt x="0" y="31464"/>
                  </a:lnTo>
                  <a:close/>
                </a:path>
              </a:pathLst>
            </a:custGeom>
            <a:solidFill>
              <a:srgbClr val="666666"/>
            </a:solidFill>
          </p:spPr>
          <p:txBody>
            <a:bodyPr wrap="square" lIns="0" tIns="0" rIns="0" bIns="0" rtlCol="0"/>
            <a:lstStyle/>
            <a:p>
              <a:endParaRPr>
                <a:solidFill>
                  <a:prstClr val="black"/>
                </a:solidFill>
                <a:latin typeface="Calibri"/>
              </a:endParaRPr>
            </a:p>
          </p:txBody>
        </p:sp>
        <p:sp>
          <p:nvSpPr>
            <p:cNvPr id="51" name="object 51"/>
            <p:cNvSpPr/>
            <p:nvPr/>
          </p:nvSpPr>
          <p:spPr>
            <a:xfrm>
              <a:off x="6683927" y="2048050"/>
              <a:ext cx="43815" cy="31750"/>
            </a:xfrm>
            <a:custGeom>
              <a:avLst/>
              <a:gdLst/>
              <a:ahLst/>
              <a:cxnLst/>
              <a:rect l="l" t="t" r="r" b="b"/>
              <a:pathLst>
                <a:path w="43815" h="31750">
                  <a:moveTo>
                    <a:pt x="0" y="31464"/>
                  </a:moveTo>
                  <a:lnTo>
                    <a:pt x="43307" y="15962"/>
                  </a:lnTo>
                  <a:lnTo>
                    <a:pt x="165" y="0"/>
                  </a:lnTo>
                  <a:lnTo>
                    <a:pt x="0" y="31464"/>
                  </a:lnTo>
                  <a:close/>
                </a:path>
              </a:pathLst>
            </a:custGeom>
            <a:ln w="9524">
              <a:solidFill>
                <a:srgbClr val="666666"/>
              </a:solidFill>
            </a:ln>
          </p:spPr>
          <p:txBody>
            <a:bodyPr wrap="square" lIns="0" tIns="0" rIns="0" bIns="0" rtlCol="0"/>
            <a:lstStyle/>
            <a:p>
              <a:endParaRPr>
                <a:solidFill>
                  <a:prstClr val="black"/>
                </a:solidFill>
                <a:latin typeface="Calibri"/>
              </a:endParaRPr>
            </a:p>
          </p:txBody>
        </p:sp>
      </p:grpSp>
      <p:pic>
        <p:nvPicPr>
          <p:cNvPr id="52" name="object 52"/>
          <p:cNvPicPr/>
          <p:nvPr/>
        </p:nvPicPr>
        <p:blipFill>
          <a:blip r:embed="rId3" cstate="print"/>
          <a:stretch>
            <a:fillRect/>
          </a:stretch>
        </p:blipFill>
        <p:spPr>
          <a:xfrm>
            <a:off x="6223711" y="4711152"/>
            <a:ext cx="184723" cy="184723"/>
          </a:xfrm>
          <a:prstGeom prst="rect">
            <a:avLst/>
          </a:prstGeom>
        </p:spPr>
      </p:pic>
      <p:pic>
        <p:nvPicPr>
          <p:cNvPr id="53" name="object 53"/>
          <p:cNvPicPr/>
          <p:nvPr/>
        </p:nvPicPr>
        <p:blipFill>
          <a:blip r:embed="rId3" cstate="print"/>
          <a:stretch>
            <a:fillRect/>
          </a:stretch>
        </p:blipFill>
        <p:spPr>
          <a:xfrm>
            <a:off x="6736384" y="4711152"/>
            <a:ext cx="184724" cy="184723"/>
          </a:xfrm>
          <a:prstGeom prst="rect">
            <a:avLst/>
          </a:prstGeom>
        </p:spPr>
      </p:pic>
      <p:pic>
        <p:nvPicPr>
          <p:cNvPr id="54" name="object 54"/>
          <p:cNvPicPr/>
          <p:nvPr/>
        </p:nvPicPr>
        <p:blipFill>
          <a:blip r:embed="rId8" cstate="print"/>
          <a:stretch>
            <a:fillRect/>
          </a:stretch>
        </p:blipFill>
        <p:spPr>
          <a:xfrm>
            <a:off x="7249059" y="2813777"/>
            <a:ext cx="184724" cy="184723"/>
          </a:xfrm>
          <a:prstGeom prst="rect">
            <a:avLst/>
          </a:prstGeom>
        </p:spPr>
      </p:pic>
      <p:pic>
        <p:nvPicPr>
          <p:cNvPr id="55" name="object 55"/>
          <p:cNvPicPr/>
          <p:nvPr/>
        </p:nvPicPr>
        <p:blipFill>
          <a:blip r:embed="rId9" cstate="print"/>
          <a:stretch>
            <a:fillRect/>
          </a:stretch>
        </p:blipFill>
        <p:spPr>
          <a:xfrm>
            <a:off x="7249059" y="3278077"/>
            <a:ext cx="184724" cy="184723"/>
          </a:xfrm>
          <a:prstGeom prst="rect">
            <a:avLst/>
          </a:prstGeom>
        </p:spPr>
      </p:pic>
      <p:pic>
        <p:nvPicPr>
          <p:cNvPr id="56" name="object 56"/>
          <p:cNvPicPr/>
          <p:nvPr/>
        </p:nvPicPr>
        <p:blipFill>
          <a:blip r:embed="rId8" cstate="print"/>
          <a:stretch>
            <a:fillRect/>
          </a:stretch>
        </p:blipFill>
        <p:spPr>
          <a:xfrm>
            <a:off x="7249059" y="3742377"/>
            <a:ext cx="184724" cy="184723"/>
          </a:xfrm>
          <a:prstGeom prst="rect">
            <a:avLst/>
          </a:prstGeom>
        </p:spPr>
      </p:pic>
      <p:pic>
        <p:nvPicPr>
          <p:cNvPr id="57" name="object 57"/>
          <p:cNvPicPr/>
          <p:nvPr/>
        </p:nvPicPr>
        <p:blipFill>
          <a:blip r:embed="rId9" cstate="print"/>
          <a:stretch>
            <a:fillRect/>
          </a:stretch>
        </p:blipFill>
        <p:spPr>
          <a:xfrm>
            <a:off x="7249059" y="4206677"/>
            <a:ext cx="184724" cy="184723"/>
          </a:xfrm>
          <a:prstGeom prst="rect">
            <a:avLst/>
          </a:prstGeom>
        </p:spPr>
      </p:pic>
      <p:pic>
        <p:nvPicPr>
          <p:cNvPr id="58" name="object 58"/>
          <p:cNvPicPr/>
          <p:nvPr/>
        </p:nvPicPr>
        <p:blipFill>
          <a:blip r:embed="rId9" cstate="print"/>
          <a:stretch>
            <a:fillRect/>
          </a:stretch>
        </p:blipFill>
        <p:spPr>
          <a:xfrm>
            <a:off x="7249059" y="4697752"/>
            <a:ext cx="184724" cy="184723"/>
          </a:xfrm>
          <a:prstGeom prst="rect">
            <a:avLst/>
          </a:prstGeom>
        </p:spPr>
      </p:pic>
      <p:sp>
        <p:nvSpPr>
          <p:cNvPr id="59" name="object 59"/>
          <p:cNvSpPr txBox="1"/>
          <p:nvPr/>
        </p:nvSpPr>
        <p:spPr>
          <a:xfrm>
            <a:off x="557184" y="4484718"/>
            <a:ext cx="3708400" cy="228268"/>
          </a:xfrm>
          <a:prstGeom prst="rect">
            <a:avLst/>
          </a:prstGeom>
        </p:spPr>
        <p:txBody>
          <a:bodyPr vert="horz" wrap="square" lIns="0" tIns="12700" rIns="0" bIns="0" rtlCol="0">
            <a:spAutoFit/>
          </a:bodyPr>
          <a:lstStyle/>
          <a:p>
            <a:pPr marL="12700">
              <a:spcBef>
                <a:spcPts val="100"/>
              </a:spcBef>
            </a:pPr>
            <a:r>
              <a:rPr sz="1400" spc="-5" dirty="0">
                <a:solidFill>
                  <a:srgbClr val="00B050"/>
                </a:solidFill>
                <a:latin typeface="Verdana"/>
                <a:cs typeface="Verdana"/>
              </a:rPr>
              <a:t>Drawback:</a:t>
            </a:r>
            <a:r>
              <a:rPr sz="1400" spc="-25" dirty="0">
                <a:solidFill>
                  <a:srgbClr val="00B050"/>
                </a:solidFill>
                <a:latin typeface="Verdana"/>
                <a:cs typeface="Verdana"/>
              </a:rPr>
              <a:t> </a:t>
            </a:r>
            <a:r>
              <a:rPr sz="1400" spc="-5" dirty="0">
                <a:solidFill>
                  <a:srgbClr val="00B050"/>
                </a:solidFill>
                <a:latin typeface="Verdana"/>
                <a:cs typeface="Verdana"/>
              </a:rPr>
              <a:t>sequential</a:t>
            </a:r>
            <a:r>
              <a:rPr sz="1400" spc="-25" dirty="0">
                <a:solidFill>
                  <a:srgbClr val="00B050"/>
                </a:solidFill>
                <a:latin typeface="Verdana"/>
                <a:cs typeface="Verdana"/>
              </a:rPr>
              <a:t> </a:t>
            </a:r>
            <a:r>
              <a:rPr sz="1400" spc="-5" dirty="0">
                <a:solidFill>
                  <a:srgbClr val="00B050"/>
                </a:solidFill>
                <a:latin typeface="Verdana"/>
                <a:cs typeface="Verdana"/>
              </a:rPr>
              <a:t>generation</a:t>
            </a:r>
            <a:r>
              <a:rPr sz="1400" spc="-20" dirty="0">
                <a:solidFill>
                  <a:srgbClr val="00B050"/>
                </a:solidFill>
                <a:latin typeface="Verdana"/>
                <a:cs typeface="Verdana"/>
              </a:rPr>
              <a:t> </a:t>
            </a:r>
            <a:r>
              <a:rPr sz="1400" spc="-5" dirty="0">
                <a:solidFill>
                  <a:srgbClr val="00B050"/>
                </a:solidFill>
                <a:latin typeface="Verdana"/>
                <a:cs typeface="Verdana"/>
              </a:rPr>
              <a:t>is</a:t>
            </a:r>
            <a:r>
              <a:rPr sz="1400" spc="-25" dirty="0">
                <a:solidFill>
                  <a:srgbClr val="00B050"/>
                </a:solidFill>
                <a:latin typeface="Verdana"/>
                <a:cs typeface="Verdana"/>
              </a:rPr>
              <a:t> </a:t>
            </a:r>
            <a:r>
              <a:rPr sz="1400" spc="-5" dirty="0">
                <a:solidFill>
                  <a:srgbClr val="00B050"/>
                </a:solidFill>
                <a:latin typeface="Verdana"/>
                <a:cs typeface="Verdana"/>
              </a:rPr>
              <a:t>slow!</a:t>
            </a:r>
            <a:endParaRPr sz="1400">
              <a:solidFill>
                <a:prstClr val="black"/>
              </a:solidFill>
              <a:latin typeface="Verdana"/>
              <a:cs typeface="Verdana"/>
            </a:endParaRPr>
          </a:p>
        </p:txBody>
      </p:sp>
      <p:pic>
        <p:nvPicPr>
          <p:cNvPr id="62" name="Picture 2" descr="E:\NIET\Project\xLogo11.png.pagespeed.ic.pydHLuCQEZ.png">
            <a:extLst>
              <a:ext uri="{FF2B5EF4-FFF2-40B4-BE49-F238E27FC236}">
                <a16:creationId xmlns:a16="http://schemas.microsoft.com/office/drawing/2014/main" id="{1D747D72-0ED5-5315-01F6-09EC9D8AB4A7}"/>
              </a:ext>
            </a:extLst>
          </p:cNvPr>
          <p:cNvPicPr>
            <a:picLocks noChangeAspect="1" noChangeArrowheads="1"/>
          </p:cNvPicPr>
          <p:nvPr/>
        </p:nvPicPr>
        <p:blipFill>
          <a:blip r:embed="rId10"/>
          <a:srcRect/>
          <a:stretch>
            <a:fillRect/>
          </a:stretch>
        </p:blipFill>
        <p:spPr bwMode="auto">
          <a:xfrm>
            <a:off x="0" y="0"/>
            <a:ext cx="1447800" cy="817163"/>
          </a:xfrm>
          <a:prstGeom prst="rect">
            <a:avLst/>
          </a:prstGeom>
          <a:noFill/>
        </p:spPr>
      </p:pic>
      <p:sp>
        <p:nvSpPr>
          <p:cNvPr id="63" name="Title 1">
            <a:extLst>
              <a:ext uri="{FF2B5EF4-FFF2-40B4-BE49-F238E27FC236}">
                <a16:creationId xmlns:a16="http://schemas.microsoft.com/office/drawing/2014/main" id="{B6AA1ED7-5B2F-BDC9-8E09-B096A89946D4}"/>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err="1">
                <a:ln>
                  <a:noFill/>
                </a:ln>
                <a:solidFill>
                  <a:prstClr val="black"/>
                </a:solidFill>
                <a:effectLst/>
                <a:uLnTx/>
                <a:uFillTx/>
                <a:latin typeface="Calibri" panose="020F0502020204030204"/>
                <a:ea typeface="+mn-ea"/>
                <a:cs typeface="+mn-cs"/>
              </a:rPr>
              <a:t>PixelRNN</a:t>
            </a:r>
            <a:endPar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1177925" cy="330200"/>
          </a:xfrm>
          <a:prstGeom prst="rect">
            <a:avLst/>
          </a:prstGeom>
        </p:spPr>
        <p:txBody>
          <a:bodyPr vert="horz" wrap="square" lIns="0" tIns="12700" rIns="0" bIns="0" rtlCol="0">
            <a:spAutoFit/>
          </a:bodyPr>
          <a:lstStyle/>
          <a:p>
            <a:pPr marL="12700">
              <a:spcBef>
                <a:spcPts val="100"/>
              </a:spcBef>
            </a:pPr>
            <a:r>
              <a:rPr spc="-5" dirty="0"/>
              <a:t>PixelCNN</a:t>
            </a:r>
          </a:p>
        </p:txBody>
      </p:sp>
      <p:sp>
        <p:nvSpPr>
          <p:cNvPr id="3" name="object 3"/>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4" name="object 4"/>
          <p:cNvPicPr/>
          <p:nvPr/>
        </p:nvPicPr>
        <p:blipFill>
          <a:blip r:embed="rId2" cstate="print"/>
          <a:stretch>
            <a:fillRect/>
          </a:stretch>
        </p:blipFill>
        <p:spPr>
          <a:xfrm>
            <a:off x="5655260" y="2256335"/>
            <a:ext cx="2819890" cy="2133595"/>
          </a:xfrm>
          <a:prstGeom prst="rect">
            <a:avLst/>
          </a:prstGeom>
        </p:spPr>
      </p:pic>
      <p:sp>
        <p:nvSpPr>
          <p:cNvPr id="5" name="object 5"/>
          <p:cNvSpPr txBox="1"/>
          <p:nvPr/>
        </p:nvSpPr>
        <p:spPr>
          <a:xfrm>
            <a:off x="296804" y="2363954"/>
            <a:ext cx="6017260" cy="59055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Still</a:t>
            </a:r>
            <a:r>
              <a:rPr sz="1200" spc="-20" dirty="0">
                <a:solidFill>
                  <a:srgbClr val="313131"/>
                </a:solidFill>
                <a:latin typeface="Verdana"/>
                <a:cs typeface="Verdana"/>
              </a:rPr>
              <a:t> </a:t>
            </a:r>
            <a:r>
              <a:rPr sz="1200" spc="-5" dirty="0">
                <a:solidFill>
                  <a:srgbClr val="313131"/>
                </a:solidFill>
                <a:latin typeface="Verdana"/>
                <a:cs typeface="Verdana"/>
              </a:rPr>
              <a:t>generate</a:t>
            </a:r>
            <a:r>
              <a:rPr sz="1200" spc="-15" dirty="0">
                <a:solidFill>
                  <a:srgbClr val="313131"/>
                </a:solidFill>
                <a:latin typeface="Verdana"/>
                <a:cs typeface="Verdana"/>
              </a:rPr>
              <a:t> </a:t>
            </a:r>
            <a:r>
              <a:rPr sz="1200" spc="-5" dirty="0">
                <a:solidFill>
                  <a:srgbClr val="313131"/>
                </a:solidFill>
                <a:latin typeface="Verdana"/>
                <a:cs typeface="Verdana"/>
              </a:rPr>
              <a:t>image</a:t>
            </a:r>
            <a:r>
              <a:rPr sz="1200" spc="-15" dirty="0">
                <a:solidFill>
                  <a:srgbClr val="313131"/>
                </a:solidFill>
                <a:latin typeface="Verdana"/>
                <a:cs typeface="Verdana"/>
              </a:rPr>
              <a:t> </a:t>
            </a:r>
            <a:r>
              <a:rPr sz="1200" spc="-5" dirty="0">
                <a:solidFill>
                  <a:srgbClr val="313131"/>
                </a:solidFill>
                <a:latin typeface="Verdana"/>
                <a:cs typeface="Verdana"/>
              </a:rPr>
              <a:t>pixels</a:t>
            </a:r>
            <a:r>
              <a:rPr sz="1200" spc="-15" dirty="0">
                <a:solidFill>
                  <a:srgbClr val="313131"/>
                </a:solidFill>
                <a:latin typeface="Verdana"/>
                <a:cs typeface="Verdana"/>
              </a:rPr>
              <a:t> </a:t>
            </a:r>
            <a:r>
              <a:rPr sz="1200" spc="-5" dirty="0">
                <a:solidFill>
                  <a:srgbClr val="313131"/>
                </a:solidFill>
                <a:latin typeface="Verdana"/>
                <a:cs typeface="Verdana"/>
              </a:rPr>
              <a:t>starting</a:t>
            </a:r>
            <a:r>
              <a:rPr sz="1200" spc="-15" dirty="0">
                <a:solidFill>
                  <a:srgbClr val="313131"/>
                </a:solidFill>
                <a:latin typeface="Verdana"/>
                <a:cs typeface="Verdana"/>
              </a:rPr>
              <a:t> </a:t>
            </a:r>
            <a:r>
              <a:rPr sz="1200" spc="-5" dirty="0">
                <a:solidFill>
                  <a:srgbClr val="313131"/>
                </a:solidFill>
                <a:latin typeface="Verdana"/>
                <a:cs typeface="Verdana"/>
              </a:rPr>
              <a:t>from</a:t>
            </a:r>
            <a:r>
              <a:rPr sz="1200" spc="-15" dirty="0">
                <a:solidFill>
                  <a:srgbClr val="313131"/>
                </a:solidFill>
                <a:latin typeface="Verdana"/>
                <a:cs typeface="Verdana"/>
              </a:rPr>
              <a:t> </a:t>
            </a:r>
            <a:r>
              <a:rPr sz="1200" spc="-5" dirty="0">
                <a:solidFill>
                  <a:srgbClr val="313131"/>
                </a:solidFill>
                <a:latin typeface="Verdana"/>
                <a:cs typeface="Verdana"/>
              </a:rPr>
              <a:t>corner</a:t>
            </a:r>
            <a:endParaRPr sz="1200">
              <a:solidFill>
                <a:prstClr val="black"/>
              </a:solidFill>
              <a:latin typeface="Verdana"/>
              <a:cs typeface="Verdana"/>
            </a:endParaRPr>
          </a:p>
          <a:p>
            <a:pPr>
              <a:spcBef>
                <a:spcPts val="50"/>
              </a:spcBef>
            </a:pPr>
            <a:endParaRPr sz="1250">
              <a:solidFill>
                <a:prstClr val="black"/>
              </a:solidFill>
              <a:latin typeface="Verdana"/>
              <a:cs typeface="Verdana"/>
            </a:endParaRPr>
          </a:p>
          <a:p>
            <a:pPr marL="12700"/>
            <a:r>
              <a:rPr sz="1200" spc="-5" dirty="0">
                <a:solidFill>
                  <a:srgbClr val="313131"/>
                </a:solidFill>
                <a:latin typeface="Verdana"/>
                <a:cs typeface="Verdana"/>
              </a:rPr>
              <a:t>Dependency</a:t>
            </a:r>
            <a:r>
              <a:rPr sz="1200" spc="-10" dirty="0">
                <a:solidFill>
                  <a:srgbClr val="313131"/>
                </a:solidFill>
                <a:latin typeface="Verdana"/>
                <a:cs typeface="Verdana"/>
              </a:rPr>
              <a:t> </a:t>
            </a:r>
            <a:r>
              <a:rPr sz="1200" spc="-5" dirty="0">
                <a:solidFill>
                  <a:srgbClr val="313131"/>
                </a:solidFill>
                <a:latin typeface="Verdana"/>
                <a:cs typeface="Verdana"/>
              </a:rPr>
              <a:t>on</a:t>
            </a:r>
            <a:r>
              <a:rPr sz="1200" spc="-10" dirty="0">
                <a:solidFill>
                  <a:srgbClr val="313131"/>
                </a:solidFill>
                <a:latin typeface="Verdana"/>
                <a:cs typeface="Verdana"/>
              </a:rPr>
              <a:t> </a:t>
            </a:r>
            <a:r>
              <a:rPr sz="1200" spc="-5" dirty="0">
                <a:solidFill>
                  <a:srgbClr val="313131"/>
                </a:solidFill>
                <a:latin typeface="Verdana"/>
                <a:cs typeface="Verdana"/>
              </a:rPr>
              <a:t>previous</a:t>
            </a:r>
            <a:r>
              <a:rPr sz="1200" spc="-10" dirty="0">
                <a:solidFill>
                  <a:srgbClr val="313131"/>
                </a:solidFill>
                <a:latin typeface="Verdana"/>
                <a:cs typeface="Verdana"/>
              </a:rPr>
              <a:t> </a:t>
            </a:r>
            <a:r>
              <a:rPr sz="1200" spc="-5" dirty="0">
                <a:solidFill>
                  <a:srgbClr val="313131"/>
                </a:solidFill>
                <a:latin typeface="Verdana"/>
                <a:cs typeface="Verdana"/>
              </a:rPr>
              <a:t>pixels</a:t>
            </a:r>
            <a:r>
              <a:rPr sz="1200" spc="-10" dirty="0">
                <a:solidFill>
                  <a:srgbClr val="313131"/>
                </a:solidFill>
                <a:latin typeface="Verdana"/>
                <a:cs typeface="Verdana"/>
              </a:rPr>
              <a:t> </a:t>
            </a:r>
            <a:r>
              <a:rPr sz="1200" spc="-5" dirty="0">
                <a:solidFill>
                  <a:srgbClr val="313131"/>
                </a:solidFill>
                <a:latin typeface="Verdana"/>
                <a:cs typeface="Verdana"/>
              </a:rPr>
              <a:t>now</a:t>
            </a:r>
            <a:r>
              <a:rPr sz="1200" spc="-10" dirty="0">
                <a:solidFill>
                  <a:srgbClr val="313131"/>
                </a:solidFill>
                <a:latin typeface="Verdana"/>
                <a:cs typeface="Verdana"/>
              </a:rPr>
              <a:t> </a:t>
            </a:r>
            <a:r>
              <a:rPr sz="1200" spc="-5" dirty="0">
                <a:solidFill>
                  <a:srgbClr val="313131"/>
                </a:solidFill>
                <a:latin typeface="Verdana"/>
                <a:cs typeface="Verdana"/>
              </a:rPr>
              <a:t>modeled</a:t>
            </a:r>
            <a:r>
              <a:rPr sz="1200" spc="-10" dirty="0">
                <a:solidFill>
                  <a:srgbClr val="313131"/>
                </a:solidFill>
                <a:latin typeface="Verdana"/>
                <a:cs typeface="Verdana"/>
              </a:rPr>
              <a:t> </a:t>
            </a:r>
            <a:r>
              <a:rPr sz="1200" spc="-5" dirty="0">
                <a:solidFill>
                  <a:srgbClr val="313131"/>
                </a:solidFill>
                <a:latin typeface="Verdana"/>
                <a:cs typeface="Verdana"/>
              </a:rPr>
              <a:t>using </a:t>
            </a:r>
            <a:r>
              <a:rPr sz="1200" dirty="0">
                <a:solidFill>
                  <a:srgbClr val="313131"/>
                </a:solidFill>
                <a:latin typeface="Verdana"/>
                <a:cs typeface="Verdana"/>
              </a:rPr>
              <a:t>a</a:t>
            </a:r>
            <a:r>
              <a:rPr sz="1200" spc="-10" dirty="0">
                <a:solidFill>
                  <a:srgbClr val="313131"/>
                </a:solidFill>
                <a:latin typeface="Verdana"/>
                <a:cs typeface="Verdana"/>
              </a:rPr>
              <a:t> </a:t>
            </a:r>
            <a:r>
              <a:rPr sz="1200" spc="-5" dirty="0">
                <a:solidFill>
                  <a:srgbClr val="313131"/>
                </a:solidFill>
                <a:latin typeface="Verdana"/>
                <a:cs typeface="Verdana"/>
              </a:rPr>
              <a:t>CNN</a:t>
            </a:r>
            <a:r>
              <a:rPr sz="1200" spc="-10" dirty="0">
                <a:solidFill>
                  <a:srgbClr val="313131"/>
                </a:solidFill>
                <a:latin typeface="Verdana"/>
                <a:cs typeface="Verdana"/>
              </a:rPr>
              <a:t> </a:t>
            </a:r>
            <a:r>
              <a:rPr sz="1200" spc="-5" dirty="0">
                <a:solidFill>
                  <a:srgbClr val="313131"/>
                </a:solidFill>
                <a:latin typeface="Verdana"/>
                <a:cs typeface="Verdana"/>
              </a:rPr>
              <a:t>over</a:t>
            </a:r>
            <a:r>
              <a:rPr sz="1200" spc="-10" dirty="0">
                <a:solidFill>
                  <a:srgbClr val="313131"/>
                </a:solidFill>
                <a:latin typeface="Verdana"/>
                <a:cs typeface="Verdana"/>
              </a:rPr>
              <a:t> </a:t>
            </a:r>
            <a:r>
              <a:rPr sz="1200" spc="-5" dirty="0">
                <a:solidFill>
                  <a:srgbClr val="313131"/>
                </a:solidFill>
                <a:latin typeface="Verdana"/>
                <a:cs typeface="Verdana"/>
              </a:rPr>
              <a:t>context</a:t>
            </a:r>
            <a:r>
              <a:rPr sz="1200" spc="-10" dirty="0">
                <a:solidFill>
                  <a:srgbClr val="313131"/>
                </a:solidFill>
                <a:latin typeface="Verdana"/>
                <a:cs typeface="Verdana"/>
              </a:rPr>
              <a:t> </a:t>
            </a:r>
            <a:r>
              <a:rPr sz="1200" spc="-5" dirty="0">
                <a:solidFill>
                  <a:srgbClr val="313131"/>
                </a:solidFill>
                <a:latin typeface="Verdana"/>
                <a:cs typeface="Verdana"/>
              </a:rPr>
              <a:t>region</a:t>
            </a:r>
            <a:endParaRPr sz="1200">
              <a:solidFill>
                <a:prstClr val="black"/>
              </a:solidFill>
              <a:latin typeface="Verdana"/>
              <a:cs typeface="Verdana"/>
            </a:endParaRPr>
          </a:p>
        </p:txBody>
      </p:sp>
      <p:sp>
        <p:nvSpPr>
          <p:cNvPr id="6" name="object 6"/>
          <p:cNvSpPr txBox="1"/>
          <p:nvPr/>
        </p:nvSpPr>
        <p:spPr>
          <a:xfrm>
            <a:off x="296804" y="4270226"/>
            <a:ext cx="5354320" cy="814069"/>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Training:</a:t>
            </a:r>
            <a:r>
              <a:rPr sz="1200" spc="-20" dirty="0">
                <a:solidFill>
                  <a:srgbClr val="313131"/>
                </a:solidFill>
                <a:latin typeface="Verdana"/>
                <a:cs typeface="Verdana"/>
              </a:rPr>
              <a:t> </a:t>
            </a:r>
            <a:r>
              <a:rPr sz="1200" spc="-5" dirty="0">
                <a:solidFill>
                  <a:srgbClr val="313131"/>
                </a:solidFill>
                <a:latin typeface="Verdana"/>
                <a:cs typeface="Verdana"/>
              </a:rPr>
              <a:t>maximize</a:t>
            </a:r>
            <a:r>
              <a:rPr sz="1200" spc="-20" dirty="0">
                <a:solidFill>
                  <a:srgbClr val="313131"/>
                </a:solidFill>
                <a:latin typeface="Verdana"/>
                <a:cs typeface="Verdana"/>
              </a:rPr>
              <a:t> </a:t>
            </a:r>
            <a:r>
              <a:rPr sz="1200" spc="-5" dirty="0">
                <a:solidFill>
                  <a:srgbClr val="313131"/>
                </a:solidFill>
                <a:latin typeface="Verdana"/>
                <a:cs typeface="Verdana"/>
              </a:rPr>
              <a:t>likelihood</a:t>
            </a:r>
            <a:r>
              <a:rPr sz="1200" spc="-15" dirty="0">
                <a:solidFill>
                  <a:srgbClr val="313131"/>
                </a:solidFill>
                <a:latin typeface="Verdana"/>
                <a:cs typeface="Verdana"/>
              </a:rPr>
              <a:t> </a:t>
            </a:r>
            <a:r>
              <a:rPr sz="1200" spc="-5" dirty="0">
                <a:solidFill>
                  <a:srgbClr val="313131"/>
                </a:solidFill>
                <a:latin typeface="Verdana"/>
                <a:cs typeface="Verdana"/>
              </a:rPr>
              <a:t>of</a:t>
            </a:r>
            <a:r>
              <a:rPr sz="1200" spc="-20" dirty="0">
                <a:solidFill>
                  <a:srgbClr val="313131"/>
                </a:solidFill>
                <a:latin typeface="Verdana"/>
                <a:cs typeface="Verdana"/>
              </a:rPr>
              <a:t> </a:t>
            </a:r>
            <a:r>
              <a:rPr sz="1200" spc="-5" dirty="0">
                <a:solidFill>
                  <a:srgbClr val="313131"/>
                </a:solidFill>
                <a:latin typeface="Verdana"/>
                <a:cs typeface="Verdana"/>
              </a:rPr>
              <a:t>training</a:t>
            </a:r>
            <a:r>
              <a:rPr sz="1200" spc="-15" dirty="0">
                <a:solidFill>
                  <a:srgbClr val="313131"/>
                </a:solidFill>
                <a:latin typeface="Verdana"/>
                <a:cs typeface="Verdana"/>
              </a:rPr>
              <a:t> </a:t>
            </a:r>
            <a:r>
              <a:rPr sz="1200" spc="-5" dirty="0">
                <a:solidFill>
                  <a:srgbClr val="313131"/>
                </a:solidFill>
                <a:latin typeface="Verdana"/>
                <a:cs typeface="Verdana"/>
              </a:rPr>
              <a:t>images</a:t>
            </a:r>
            <a:endParaRPr sz="1200">
              <a:solidFill>
                <a:prstClr val="black"/>
              </a:solidFill>
              <a:latin typeface="Verdana"/>
              <a:cs typeface="Verdana"/>
            </a:endParaRPr>
          </a:p>
          <a:p>
            <a:pPr>
              <a:spcBef>
                <a:spcPts val="45"/>
              </a:spcBef>
            </a:pPr>
            <a:endParaRPr sz="1500">
              <a:solidFill>
                <a:prstClr val="black"/>
              </a:solidFill>
              <a:latin typeface="Verdana"/>
              <a:cs typeface="Verdana"/>
            </a:endParaRPr>
          </a:p>
          <a:p>
            <a:pPr marL="2115820">
              <a:spcBef>
                <a:spcPts val="5"/>
              </a:spcBef>
            </a:pPr>
            <a:r>
              <a:rPr sz="1200" spc="-5" dirty="0">
                <a:solidFill>
                  <a:srgbClr val="00B050"/>
                </a:solidFill>
                <a:latin typeface="Verdana"/>
                <a:cs typeface="Verdana"/>
              </a:rPr>
              <a:t>Generation</a:t>
            </a:r>
            <a:r>
              <a:rPr sz="1200" spc="-25" dirty="0">
                <a:solidFill>
                  <a:srgbClr val="00B050"/>
                </a:solidFill>
                <a:latin typeface="Verdana"/>
                <a:cs typeface="Verdana"/>
              </a:rPr>
              <a:t> </a:t>
            </a:r>
            <a:r>
              <a:rPr sz="1200" spc="-5" dirty="0">
                <a:solidFill>
                  <a:srgbClr val="00B050"/>
                </a:solidFill>
                <a:latin typeface="Verdana"/>
                <a:cs typeface="Verdana"/>
              </a:rPr>
              <a:t>must</a:t>
            </a:r>
            <a:r>
              <a:rPr sz="1200" spc="-20" dirty="0">
                <a:solidFill>
                  <a:srgbClr val="00B050"/>
                </a:solidFill>
                <a:latin typeface="Verdana"/>
                <a:cs typeface="Verdana"/>
              </a:rPr>
              <a:t> </a:t>
            </a:r>
            <a:r>
              <a:rPr sz="1200" spc="-5" dirty="0">
                <a:solidFill>
                  <a:srgbClr val="00B050"/>
                </a:solidFill>
                <a:latin typeface="Verdana"/>
                <a:cs typeface="Verdana"/>
              </a:rPr>
              <a:t>still</a:t>
            </a:r>
            <a:r>
              <a:rPr sz="1200" spc="-25" dirty="0">
                <a:solidFill>
                  <a:srgbClr val="00B050"/>
                </a:solidFill>
                <a:latin typeface="Verdana"/>
                <a:cs typeface="Verdana"/>
              </a:rPr>
              <a:t> </a:t>
            </a:r>
            <a:r>
              <a:rPr sz="1200" spc="-5" dirty="0">
                <a:solidFill>
                  <a:srgbClr val="00B050"/>
                </a:solidFill>
                <a:latin typeface="Verdana"/>
                <a:cs typeface="Verdana"/>
              </a:rPr>
              <a:t>proceed</a:t>
            </a:r>
            <a:r>
              <a:rPr sz="1200" spc="-20" dirty="0">
                <a:solidFill>
                  <a:srgbClr val="00B050"/>
                </a:solidFill>
                <a:latin typeface="Verdana"/>
                <a:cs typeface="Verdana"/>
              </a:rPr>
              <a:t> </a:t>
            </a:r>
            <a:r>
              <a:rPr sz="1200" spc="-5" dirty="0">
                <a:solidFill>
                  <a:srgbClr val="00B050"/>
                </a:solidFill>
                <a:latin typeface="Verdana"/>
                <a:cs typeface="Verdana"/>
              </a:rPr>
              <a:t>sequentially</a:t>
            </a:r>
            <a:endParaRPr sz="1200">
              <a:solidFill>
                <a:prstClr val="black"/>
              </a:solidFill>
              <a:latin typeface="Verdana"/>
              <a:cs typeface="Verdana"/>
            </a:endParaRPr>
          </a:p>
          <a:p>
            <a:pPr marL="2115820">
              <a:spcBef>
                <a:spcPts val="15"/>
              </a:spcBef>
            </a:pPr>
            <a:r>
              <a:rPr sz="1200" spc="-5" dirty="0">
                <a:solidFill>
                  <a:srgbClr val="00B050"/>
                </a:solidFill>
                <a:latin typeface="Verdana"/>
                <a:cs typeface="Verdana"/>
              </a:rPr>
              <a:t>=&gt;</a:t>
            </a:r>
            <a:r>
              <a:rPr sz="1200" spc="-40" dirty="0">
                <a:solidFill>
                  <a:srgbClr val="00B050"/>
                </a:solidFill>
                <a:latin typeface="Verdana"/>
                <a:cs typeface="Verdana"/>
              </a:rPr>
              <a:t> </a:t>
            </a:r>
            <a:r>
              <a:rPr sz="1200" spc="-5" dirty="0">
                <a:solidFill>
                  <a:srgbClr val="00B050"/>
                </a:solidFill>
                <a:latin typeface="Verdana"/>
                <a:cs typeface="Verdana"/>
              </a:rPr>
              <a:t>still</a:t>
            </a:r>
            <a:r>
              <a:rPr sz="1200" spc="-35" dirty="0">
                <a:solidFill>
                  <a:srgbClr val="00B050"/>
                </a:solidFill>
                <a:latin typeface="Verdana"/>
                <a:cs typeface="Verdana"/>
              </a:rPr>
              <a:t> </a:t>
            </a:r>
            <a:r>
              <a:rPr sz="1200" spc="-5" dirty="0">
                <a:solidFill>
                  <a:srgbClr val="00B050"/>
                </a:solidFill>
                <a:latin typeface="Verdana"/>
                <a:cs typeface="Verdana"/>
              </a:rPr>
              <a:t>slow</a:t>
            </a:r>
            <a:endParaRPr sz="1200">
              <a:solidFill>
                <a:prstClr val="black"/>
              </a:solidFill>
              <a:latin typeface="Verdana"/>
              <a:cs typeface="Verdana"/>
            </a:endParaRPr>
          </a:p>
        </p:txBody>
      </p:sp>
      <p:pic>
        <p:nvPicPr>
          <p:cNvPr id="7" name="object 7"/>
          <p:cNvPicPr/>
          <p:nvPr/>
        </p:nvPicPr>
        <p:blipFill>
          <a:blip r:embed="rId3" cstate="print"/>
          <a:stretch>
            <a:fillRect/>
          </a:stretch>
        </p:blipFill>
        <p:spPr>
          <a:xfrm>
            <a:off x="845036" y="3541981"/>
            <a:ext cx="3019924" cy="710148"/>
          </a:xfrm>
          <a:prstGeom prst="rect">
            <a:avLst/>
          </a:prstGeom>
        </p:spPr>
      </p:pic>
      <p:pic>
        <p:nvPicPr>
          <p:cNvPr id="10" name="Picture 2" descr="E:\NIET\Project\xLogo11.png.pagespeed.ic.pydHLuCQEZ.png">
            <a:extLst>
              <a:ext uri="{FF2B5EF4-FFF2-40B4-BE49-F238E27FC236}">
                <a16:creationId xmlns:a16="http://schemas.microsoft.com/office/drawing/2014/main" id="{94E16CEE-68EE-199D-3DB9-767944BEAFFB}"/>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11" name="Title 1">
            <a:extLst>
              <a:ext uri="{FF2B5EF4-FFF2-40B4-BE49-F238E27FC236}">
                <a16:creationId xmlns:a16="http://schemas.microsoft.com/office/drawing/2014/main" id="{98F3916C-F86C-B991-5AD3-220A8BD667D5}"/>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err="1">
                <a:ln>
                  <a:noFill/>
                </a:ln>
                <a:solidFill>
                  <a:prstClr val="black"/>
                </a:solidFill>
                <a:effectLst/>
                <a:uLnTx/>
                <a:uFillTx/>
                <a:latin typeface="Calibri" panose="020F0502020204030204"/>
                <a:ea typeface="+mn-ea"/>
                <a:cs typeface="+mn-cs"/>
              </a:rPr>
              <a:t>PixelRNN</a:t>
            </a:r>
            <a:endPar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bject 10"/>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0" y="1254125"/>
            <a:ext cx="3048000" cy="330200"/>
          </a:xfrm>
          <a:prstGeom prst="rect">
            <a:avLst/>
          </a:prstGeom>
        </p:spPr>
        <p:txBody>
          <a:bodyPr vert="horz" wrap="square" lIns="0" tIns="12700" rIns="0" bIns="0" rtlCol="0">
            <a:spAutoFit/>
          </a:bodyPr>
          <a:lstStyle/>
          <a:p>
            <a:pPr marL="12700">
              <a:spcBef>
                <a:spcPts val="100"/>
              </a:spcBef>
            </a:pPr>
            <a:r>
              <a:rPr spc="-5" dirty="0"/>
              <a:t>PixelCNN</a:t>
            </a:r>
            <a:r>
              <a:rPr spc="-45" dirty="0"/>
              <a:t> </a:t>
            </a:r>
            <a:r>
              <a:rPr spc="-5" dirty="0"/>
              <a:t>vs</a:t>
            </a:r>
            <a:r>
              <a:rPr spc="-45" dirty="0"/>
              <a:t> </a:t>
            </a:r>
            <a:r>
              <a:rPr spc="-5" dirty="0"/>
              <a:t>PixelRNN</a:t>
            </a:r>
          </a:p>
        </p:txBody>
      </p:sp>
      <p:sp>
        <p:nvSpPr>
          <p:cNvPr id="3" name="object 3"/>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4" name="object 4"/>
          <p:cNvSpPr txBox="1"/>
          <p:nvPr/>
        </p:nvSpPr>
        <p:spPr>
          <a:xfrm>
            <a:off x="4507108" y="2121258"/>
            <a:ext cx="2577465" cy="197490"/>
          </a:xfrm>
          <a:prstGeom prst="rect">
            <a:avLst/>
          </a:prstGeom>
        </p:spPr>
        <p:txBody>
          <a:bodyPr vert="horz" wrap="square" lIns="0" tIns="12700" rIns="0" bIns="0" rtlCol="0">
            <a:spAutoFit/>
          </a:bodyPr>
          <a:lstStyle/>
          <a:p>
            <a:pPr marL="12700">
              <a:spcBef>
                <a:spcPts val="100"/>
              </a:spcBef>
            </a:pPr>
            <a:r>
              <a:rPr sz="1200" spc="-5" dirty="0">
                <a:solidFill>
                  <a:prstClr val="black"/>
                </a:solidFill>
                <a:latin typeface="Verdana"/>
                <a:cs typeface="Verdana"/>
              </a:rPr>
              <a:t>Improving</a:t>
            </a:r>
            <a:r>
              <a:rPr sz="1200" spc="-45" dirty="0">
                <a:solidFill>
                  <a:prstClr val="black"/>
                </a:solidFill>
                <a:latin typeface="Verdana"/>
                <a:cs typeface="Verdana"/>
              </a:rPr>
              <a:t> </a:t>
            </a:r>
            <a:r>
              <a:rPr sz="1200" spc="-5" dirty="0">
                <a:solidFill>
                  <a:prstClr val="black"/>
                </a:solidFill>
                <a:latin typeface="Verdana"/>
                <a:cs typeface="Verdana"/>
              </a:rPr>
              <a:t>PixelCNN</a:t>
            </a:r>
            <a:r>
              <a:rPr sz="1200" spc="-40" dirty="0">
                <a:solidFill>
                  <a:prstClr val="black"/>
                </a:solidFill>
                <a:latin typeface="Verdana"/>
                <a:cs typeface="Verdana"/>
              </a:rPr>
              <a:t> </a:t>
            </a:r>
            <a:r>
              <a:rPr sz="1200" spc="-5" dirty="0">
                <a:solidFill>
                  <a:prstClr val="black"/>
                </a:solidFill>
                <a:latin typeface="Verdana"/>
                <a:cs typeface="Verdana"/>
              </a:rPr>
              <a:t>performance</a:t>
            </a:r>
            <a:endParaRPr sz="1200">
              <a:solidFill>
                <a:prstClr val="black"/>
              </a:solidFill>
              <a:latin typeface="Verdana"/>
              <a:cs typeface="Verdana"/>
            </a:endParaRPr>
          </a:p>
        </p:txBody>
      </p:sp>
      <p:sp>
        <p:nvSpPr>
          <p:cNvPr id="5" name="object 5"/>
          <p:cNvSpPr txBox="1"/>
          <p:nvPr/>
        </p:nvSpPr>
        <p:spPr>
          <a:xfrm>
            <a:off x="4682353" y="2704189"/>
            <a:ext cx="2337435" cy="1113155"/>
          </a:xfrm>
          <a:prstGeom prst="rect">
            <a:avLst/>
          </a:prstGeom>
        </p:spPr>
        <p:txBody>
          <a:bodyPr vert="horz" wrap="square" lIns="0" tIns="12700" rIns="0" bIns="0" rtlCol="0">
            <a:spAutoFit/>
          </a:bodyPr>
          <a:lstStyle/>
          <a:p>
            <a:pPr marL="294640" indent="-282575">
              <a:lnSpc>
                <a:spcPts val="1430"/>
              </a:lnSpc>
              <a:spcBef>
                <a:spcPts val="100"/>
              </a:spcBef>
              <a:buClr>
                <a:srgbClr val="B10639"/>
              </a:buClr>
              <a:buFont typeface="Arial MT"/>
              <a:buChar char="•"/>
              <a:tabLst>
                <a:tab pos="294005" algn="l"/>
                <a:tab pos="295275" algn="l"/>
              </a:tabLst>
            </a:pPr>
            <a:r>
              <a:rPr sz="1200" spc="-5" dirty="0">
                <a:solidFill>
                  <a:prstClr val="black"/>
                </a:solidFill>
                <a:latin typeface="Verdana"/>
                <a:cs typeface="Verdana"/>
              </a:rPr>
              <a:t>Gated</a:t>
            </a:r>
            <a:r>
              <a:rPr sz="1200" spc="-45" dirty="0">
                <a:solidFill>
                  <a:prstClr val="black"/>
                </a:solidFill>
                <a:latin typeface="Verdana"/>
                <a:cs typeface="Verdana"/>
              </a:rPr>
              <a:t> </a:t>
            </a:r>
            <a:r>
              <a:rPr sz="1200" spc="-5" dirty="0">
                <a:solidFill>
                  <a:prstClr val="black"/>
                </a:solidFill>
                <a:latin typeface="Verdana"/>
                <a:cs typeface="Verdana"/>
              </a:rPr>
              <a:t>convolutional</a:t>
            </a:r>
            <a:r>
              <a:rPr sz="1200" spc="-40" dirty="0">
                <a:solidFill>
                  <a:prstClr val="black"/>
                </a:solidFill>
                <a:latin typeface="Verdana"/>
                <a:cs typeface="Verdana"/>
              </a:rPr>
              <a:t> </a:t>
            </a:r>
            <a:r>
              <a:rPr sz="1200" spc="-5" dirty="0">
                <a:solidFill>
                  <a:prstClr val="black"/>
                </a:solidFill>
                <a:latin typeface="Verdana"/>
                <a:cs typeface="Verdana"/>
              </a:rPr>
              <a:t>layers</a:t>
            </a:r>
            <a:endParaRPr sz="1200">
              <a:solidFill>
                <a:prstClr val="black"/>
              </a:solidFill>
              <a:latin typeface="Verdana"/>
              <a:cs typeface="Verdana"/>
            </a:endParaRPr>
          </a:p>
          <a:p>
            <a:pPr marL="294640" indent="-282575">
              <a:lnSpc>
                <a:spcPts val="1425"/>
              </a:lnSpc>
              <a:buClr>
                <a:srgbClr val="B10639"/>
              </a:buClr>
              <a:buFont typeface="Arial MT"/>
              <a:buChar char="•"/>
              <a:tabLst>
                <a:tab pos="294005" algn="l"/>
                <a:tab pos="295275" algn="l"/>
              </a:tabLst>
            </a:pPr>
            <a:r>
              <a:rPr sz="1200" spc="-5" dirty="0">
                <a:solidFill>
                  <a:prstClr val="black"/>
                </a:solidFill>
                <a:latin typeface="Verdana"/>
                <a:cs typeface="Verdana"/>
              </a:rPr>
              <a:t>Short-cut</a:t>
            </a:r>
            <a:r>
              <a:rPr sz="1200" spc="-55" dirty="0">
                <a:solidFill>
                  <a:prstClr val="black"/>
                </a:solidFill>
                <a:latin typeface="Verdana"/>
                <a:cs typeface="Verdana"/>
              </a:rPr>
              <a:t> </a:t>
            </a:r>
            <a:r>
              <a:rPr sz="1200" spc="-5" dirty="0">
                <a:solidFill>
                  <a:prstClr val="black"/>
                </a:solidFill>
                <a:latin typeface="Verdana"/>
                <a:cs typeface="Verdana"/>
              </a:rPr>
              <a:t>connections</a:t>
            </a:r>
            <a:endParaRPr sz="1200">
              <a:solidFill>
                <a:prstClr val="black"/>
              </a:solidFill>
              <a:latin typeface="Verdana"/>
              <a:cs typeface="Verdana"/>
            </a:endParaRPr>
          </a:p>
          <a:p>
            <a:pPr marL="294640" indent="-282575">
              <a:lnSpc>
                <a:spcPts val="1425"/>
              </a:lnSpc>
              <a:buClr>
                <a:srgbClr val="B10639"/>
              </a:buClr>
              <a:buFont typeface="Arial MT"/>
              <a:buChar char="•"/>
              <a:tabLst>
                <a:tab pos="294005" algn="l"/>
                <a:tab pos="295275" algn="l"/>
              </a:tabLst>
            </a:pPr>
            <a:r>
              <a:rPr sz="1200" spc="-5" dirty="0">
                <a:solidFill>
                  <a:prstClr val="black"/>
                </a:solidFill>
                <a:latin typeface="Verdana"/>
                <a:cs typeface="Verdana"/>
              </a:rPr>
              <a:t>Discretized</a:t>
            </a:r>
            <a:r>
              <a:rPr sz="1200" spc="-40" dirty="0">
                <a:solidFill>
                  <a:prstClr val="black"/>
                </a:solidFill>
                <a:latin typeface="Verdana"/>
                <a:cs typeface="Verdana"/>
              </a:rPr>
              <a:t> </a:t>
            </a:r>
            <a:r>
              <a:rPr sz="1200" spc="-5" dirty="0">
                <a:solidFill>
                  <a:prstClr val="black"/>
                </a:solidFill>
                <a:latin typeface="Verdana"/>
                <a:cs typeface="Verdana"/>
              </a:rPr>
              <a:t>logistic</a:t>
            </a:r>
            <a:r>
              <a:rPr sz="1200" spc="-35" dirty="0">
                <a:solidFill>
                  <a:prstClr val="black"/>
                </a:solidFill>
                <a:latin typeface="Verdana"/>
                <a:cs typeface="Verdana"/>
              </a:rPr>
              <a:t> </a:t>
            </a:r>
            <a:r>
              <a:rPr sz="1200" spc="-5" dirty="0">
                <a:solidFill>
                  <a:prstClr val="black"/>
                </a:solidFill>
                <a:latin typeface="Verdana"/>
                <a:cs typeface="Verdana"/>
              </a:rPr>
              <a:t>loss</a:t>
            </a:r>
            <a:endParaRPr sz="1200">
              <a:solidFill>
                <a:prstClr val="black"/>
              </a:solidFill>
              <a:latin typeface="Verdana"/>
              <a:cs typeface="Verdana"/>
            </a:endParaRPr>
          </a:p>
          <a:p>
            <a:pPr marL="294640" indent="-282575">
              <a:lnSpc>
                <a:spcPts val="1425"/>
              </a:lnSpc>
              <a:buClr>
                <a:srgbClr val="B10639"/>
              </a:buClr>
              <a:buFont typeface="Arial MT"/>
              <a:buChar char="•"/>
              <a:tabLst>
                <a:tab pos="294005" algn="l"/>
                <a:tab pos="295275" algn="l"/>
              </a:tabLst>
            </a:pPr>
            <a:r>
              <a:rPr sz="1200" spc="-5" dirty="0">
                <a:solidFill>
                  <a:prstClr val="black"/>
                </a:solidFill>
                <a:latin typeface="Verdana"/>
                <a:cs typeface="Verdana"/>
              </a:rPr>
              <a:t>Multi-scale</a:t>
            </a:r>
            <a:endParaRPr sz="1200">
              <a:solidFill>
                <a:prstClr val="black"/>
              </a:solidFill>
              <a:latin typeface="Verdana"/>
              <a:cs typeface="Verdana"/>
            </a:endParaRPr>
          </a:p>
          <a:p>
            <a:pPr marL="294640" indent="-282575">
              <a:lnSpc>
                <a:spcPts val="1425"/>
              </a:lnSpc>
              <a:buClr>
                <a:srgbClr val="B10639"/>
              </a:buClr>
              <a:buFont typeface="Arial MT"/>
              <a:buChar char="•"/>
              <a:tabLst>
                <a:tab pos="294005" algn="l"/>
                <a:tab pos="295275" algn="l"/>
              </a:tabLst>
            </a:pPr>
            <a:r>
              <a:rPr sz="1200" spc="-5" dirty="0">
                <a:solidFill>
                  <a:prstClr val="black"/>
                </a:solidFill>
                <a:latin typeface="Verdana"/>
                <a:cs typeface="Verdana"/>
              </a:rPr>
              <a:t>Training</a:t>
            </a:r>
            <a:r>
              <a:rPr sz="1200" spc="-55" dirty="0">
                <a:solidFill>
                  <a:prstClr val="black"/>
                </a:solidFill>
                <a:latin typeface="Verdana"/>
                <a:cs typeface="Verdana"/>
              </a:rPr>
              <a:t> </a:t>
            </a:r>
            <a:r>
              <a:rPr sz="1200" spc="-5" dirty="0">
                <a:solidFill>
                  <a:prstClr val="black"/>
                </a:solidFill>
                <a:latin typeface="Verdana"/>
                <a:cs typeface="Verdana"/>
              </a:rPr>
              <a:t>tricks</a:t>
            </a:r>
            <a:endParaRPr sz="1200">
              <a:solidFill>
                <a:prstClr val="black"/>
              </a:solidFill>
              <a:latin typeface="Verdana"/>
              <a:cs typeface="Verdana"/>
            </a:endParaRPr>
          </a:p>
          <a:p>
            <a:pPr marL="294640" indent="-282575">
              <a:lnSpc>
                <a:spcPts val="1435"/>
              </a:lnSpc>
              <a:buClr>
                <a:srgbClr val="B10639"/>
              </a:buClr>
              <a:buFont typeface="Arial MT"/>
              <a:buChar char="•"/>
              <a:tabLst>
                <a:tab pos="294005" algn="l"/>
                <a:tab pos="295275" algn="l"/>
              </a:tabLst>
            </a:pPr>
            <a:r>
              <a:rPr sz="1200" spc="-5" dirty="0">
                <a:solidFill>
                  <a:prstClr val="black"/>
                </a:solidFill>
                <a:latin typeface="Verdana"/>
                <a:cs typeface="Verdana"/>
              </a:rPr>
              <a:t>Etc…</a:t>
            </a:r>
            <a:endParaRPr sz="1200">
              <a:solidFill>
                <a:prstClr val="black"/>
              </a:solidFill>
              <a:latin typeface="Verdana"/>
              <a:cs typeface="Verdana"/>
            </a:endParaRPr>
          </a:p>
        </p:txBody>
      </p:sp>
      <p:sp>
        <p:nvSpPr>
          <p:cNvPr id="6" name="object 6"/>
          <p:cNvSpPr txBox="1"/>
          <p:nvPr/>
        </p:nvSpPr>
        <p:spPr>
          <a:xfrm>
            <a:off x="4519808" y="3969108"/>
            <a:ext cx="3112135" cy="570230"/>
          </a:xfrm>
          <a:prstGeom prst="rect">
            <a:avLst/>
          </a:prstGeom>
        </p:spPr>
        <p:txBody>
          <a:bodyPr vert="horz" wrap="square" lIns="0" tIns="12700" rIns="0" bIns="0" rtlCol="0">
            <a:spAutoFit/>
          </a:bodyPr>
          <a:lstStyle/>
          <a:p>
            <a:pPr>
              <a:spcBef>
                <a:spcPts val="100"/>
              </a:spcBef>
            </a:pPr>
            <a:r>
              <a:rPr sz="1200" spc="-5" dirty="0">
                <a:solidFill>
                  <a:prstClr val="black"/>
                </a:solidFill>
                <a:latin typeface="Verdana"/>
                <a:cs typeface="Verdana"/>
              </a:rPr>
              <a:t>See</a:t>
            </a:r>
            <a:endParaRPr sz="1200">
              <a:solidFill>
                <a:prstClr val="black"/>
              </a:solidFill>
              <a:latin typeface="Verdana"/>
              <a:cs typeface="Verdana"/>
            </a:endParaRPr>
          </a:p>
          <a:p>
            <a:pPr marL="457200" indent="-282575">
              <a:lnSpc>
                <a:spcPts val="1425"/>
              </a:lnSpc>
              <a:buClr>
                <a:srgbClr val="B10639"/>
              </a:buClr>
              <a:buFont typeface="Arial MT"/>
              <a:buChar char="•"/>
              <a:tabLst>
                <a:tab pos="456565" algn="l"/>
                <a:tab pos="457200" algn="l"/>
              </a:tabLst>
            </a:pPr>
            <a:r>
              <a:rPr sz="1200" spc="-5" dirty="0">
                <a:solidFill>
                  <a:prstClr val="black"/>
                </a:solidFill>
                <a:latin typeface="Verdana"/>
                <a:cs typeface="Verdana"/>
              </a:rPr>
              <a:t>Van</a:t>
            </a:r>
            <a:r>
              <a:rPr sz="1200" spc="-20" dirty="0">
                <a:solidFill>
                  <a:prstClr val="black"/>
                </a:solidFill>
                <a:latin typeface="Verdana"/>
                <a:cs typeface="Verdana"/>
              </a:rPr>
              <a:t> </a:t>
            </a:r>
            <a:r>
              <a:rPr sz="1200" spc="-5" dirty="0">
                <a:solidFill>
                  <a:prstClr val="black"/>
                </a:solidFill>
                <a:latin typeface="Verdana"/>
                <a:cs typeface="Verdana"/>
              </a:rPr>
              <a:t>der</a:t>
            </a:r>
            <a:r>
              <a:rPr sz="1200" spc="-15" dirty="0">
                <a:solidFill>
                  <a:prstClr val="black"/>
                </a:solidFill>
                <a:latin typeface="Verdana"/>
                <a:cs typeface="Verdana"/>
              </a:rPr>
              <a:t> </a:t>
            </a:r>
            <a:r>
              <a:rPr sz="1200" spc="-5" dirty="0">
                <a:solidFill>
                  <a:prstClr val="black"/>
                </a:solidFill>
                <a:latin typeface="Verdana"/>
                <a:cs typeface="Verdana"/>
              </a:rPr>
              <a:t>Oord</a:t>
            </a:r>
            <a:r>
              <a:rPr sz="1200" spc="-15" dirty="0">
                <a:solidFill>
                  <a:prstClr val="black"/>
                </a:solidFill>
                <a:latin typeface="Verdana"/>
                <a:cs typeface="Verdana"/>
              </a:rPr>
              <a:t> </a:t>
            </a:r>
            <a:r>
              <a:rPr sz="1200" spc="-5" dirty="0">
                <a:solidFill>
                  <a:prstClr val="black"/>
                </a:solidFill>
                <a:latin typeface="Verdana"/>
                <a:cs typeface="Verdana"/>
              </a:rPr>
              <a:t>et</a:t>
            </a:r>
            <a:r>
              <a:rPr sz="1200" spc="-15" dirty="0">
                <a:solidFill>
                  <a:prstClr val="black"/>
                </a:solidFill>
                <a:latin typeface="Verdana"/>
                <a:cs typeface="Verdana"/>
              </a:rPr>
              <a:t> </a:t>
            </a:r>
            <a:r>
              <a:rPr sz="1200" spc="-5" dirty="0">
                <a:solidFill>
                  <a:prstClr val="black"/>
                </a:solidFill>
                <a:latin typeface="Verdana"/>
                <a:cs typeface="Verdana"/>
              </a:rPr>
              <a:t>al.</a:t>
            </a:r>
            <a:r>
              <a:rPr sz="1200" spc="-15" dirty="0">
                <a:solidFill>
                  <a:prstClr val="black"/>
                </a:solidFill>
                <a:latin typeface="Verdana"/>
                <a:cs typeface="Verdana"/>
              </a:rPr>
              <a:t> </a:t>
            </a:r>
            <a:r>
              <a:rPr sz="1200" spc="-5" dirty="0">
                <a:solidFill>
                  <a:prstClr val="black"/>
                </a:solidFill>
                <a:latin typeface="Verdana"/>
                <a:cs typeface="Verdana"/>
              </a:rPr>
              <a:t>NIPS</a:t>
            </a:r>
            <a:r>
              <a:rPr sz="1200" spc="-15" dirty="0">
                <a:solidFill>
                  <a:prstClr val="black"/>
                </a:solidFill>
                <a:latin typeface="Verdana"/>
                <a:cs typeface="Verdana"/>
              </a:rPr>
              <a:t> </a:t>
            </a:r>
            <a:r>
              <a:rPr sz="1200" spc="-5" dirty="0">
                <a:solidFill>
                  <a:prstClr val="black"/>
                </a:solidFill>
                <a:latin typeface="Verdana"/>
                <a:cs typeface="Verdana"/>
              </a:rPr>
              <a:t>2016</a:t>
            </a:r>
            <a:endParaRPr sz="1200">
              <a:solidFill>
                <a:prstClr val="black"/>
              </a:solidFill>
              <a:latin typeface="Verdana"/>
              <a:cs typeface="Verdana"/>
            </a:endParaRPr>
          </a:p>
          <a:p>
            <a:pPr marL="457200" indent="-282575">
              <a:lnSpc>
                <a:spcPts val="1425"/>
              </a:lnSpc>
              <a:buClr>
                <a:srgbClr val="B10639"/>
              </a:buClr>
              <a:buFont typeface="Arial MT"/>
              <a:buChar char="•"/>
              <a:tabLst>
                <a:tab pos="456565" algn="l"/>
                <a:tab pos="457200" algn="l"/>
              </a:tabLst>
            </a:pPr>
            <a:r>
              <a:rPr sz="1200" spc="-5" dirty="0">
                <a:solidFill>
                  <a:prstClr val="black"/>
                </a:solidFill>
                <a:latin typeface="Verdana"/>
                <a:cs typeface="Verdana"/>
              </a:rPr>
              <a:t>Salimans</a:t>
            </a:r>
            <a:r>
              <a:rPr sz="1200" spc="-25" dirty="0">
                <a:solidFill>
                  <a:prstClr val="black"/>
                </a:solidFill>
                <a:latin typeface="Verdana"/>
                <a:cs typeface="Verdana"/>
              </a:rPr>
              <a:t> </a:t>
            </a:r>
            <a:r>
              <a:rPr sz="1200" spc="-5" dirty="0">
                <a:solidFill>
                  <a:prstClr val="black"/>
                </a:solidFill>
                <a:latin typeface="Verdana"/>
                <a:cs typeface="Verdana"/>
              </a:rPr>
              <a:t>et</a:t>
            </a:r>
            <a:r>
              <a:rPr sz="1200" spc="-25" dirty="0">
                <a:solidFill>
                  <a:prstClr val="black"/>
                </a:solidFill>
                <a:latin typeface="Verdana"/>
                <a:cs typeface="Verdana"/>
              </a:rPr>
              <a:t> </a:t>
            </a:r>
            <a:r>
              <a:rPr sz="1200" spc="-5" dirty="0">
                <a:solidFill>
                  <a:prstClr val="black"/>
                </a:solidFill>
                <a:latin typeface="Verdana"/>
                <a:cs typeface="Verdana"/>
              </a:rPr>
              <a:t>al.</a:t>
            </a:r>
            <a:r>
              <a:rPr sz="1200" spc="-20" dirty="0">
                <a:solidFill>
                  <a:prstClr val="black"/>
                </a:solidFill>
                <a:latin typeface="Verdana"/>
                <a:cs typeface="Verdana"/>
              </a:rPr>
              <a:t> </a:t>
            </a:r>
            <a:r>
              <a:rPr sz="1200" spc="-5" dirty="0">
                <a:solidFill>
                  <a:prstClr val="black"/>
                </a:solidFill>
                <a:latin typeface="Verdana"/>
                <a:cs typeface="Verdana"/>
              </a:rPr>
              <a:t>2017</a:t>
            </a:r>
            <a:r>
              <a:rPr sz="1200" spc="-25" dirty="0">
                <a:solidFill>
                  <a:prstClr val="black"/>
                </a:solidFill>
                <a:latin typeface="Verdana"/>
                <a:cs typeface="Verdana"/>
              </a:rPr>
              <a:t> </a:t>
            </a:r>
            <a:r>
              <a:rPr sz="1200" spc="-5" dirty="0">
                <a:solidFill>
                  <a:prstClr val="black"/>
                </a:solidFill>
                <a:latin typeface="Verdana"/>
                <a:cs typeface="Verdana"/>
              </a:rPr>
              <a:t>:PixelCNN++</a:t>
            </a:r>
            <a:endParaRPr sz="1200">
              <a:solidFill>
                <a:prstClr val="black"/>
              </a:solidFill>
              <a:latin typeface="Verdana"/>
              <a:cs typeface="Verdana"/>
            </a:endParaRPr>
          </a:p>
        </p:txBody>
      </p:sp>
      <p:sp>
        <p:nvSpPr>
          <p:cNvPr id="7" name="object 7"/>
          <p:cNvSpPr txBox="1"/>
          <p:nvPr/>
        </p:nvSpPr>
        <p:spPr>
          <a:xfrm>
            <a:off x="511321" y="2121258"/>
            <a:ext cx="423545" cy="197490"/>
          </a:xfrm>
          <a:prstGeom prst="rect">
            <a:avLst/>
          </a:prstGeom>
        </p:spPr>
        <p:txBody>
          <a:bodyPr vert="horz" wrap="square" lIns="0" tIns="12700" rIns="0" bIns="0" rtlCol="0">
            <a:spAutoFit/>
          </a:bodyPr>
          <a:lstStyle/>
          <a:p>
            <a:pPr marL="12700">
              <a:spcBef>
                <a:spcPts val="100"/>
              </a:spcBef>
            </a:pPr>
            <a:r>
              <a:rPr sz="1200" dirty="0">
                <a:solidFill>
                  <a:prstClr val="black"/>
                </a:solidFill>
                <a:latin typeface="Verdana"/>
                <a:cs typeface="Verdana"/>
              </a:rPr>
              <a:t>Pros:</a:t>
            </a:r>
            <a:endParaRPr sz="1200">
              <a:solidFill>
                <a:prstClr val="black"/>
              </a:solidFill>
              <a:latin typeface="Verdana"/>
              <a:cs typeface="Verdana"/>
            </a:endParaRPr>
          </a:p>
        </p:txBody>
      </p:sp>
      <p:sp>
        <p:nvSpPr>
          <p:cNvPr id="8" name="object 8"/>
          <p:cNvSpPr txBox="1"/>
          <p:nvPr/>
        </p:nvSpPr>
        <p:spPr>
          <a:xfrm>
            <a:off x="534166" y="2485114"/>
            <a:ext cx="3366135" cy="751205"/>
          </a:xfrm>
          <a:prstGeom prst="rect">
            <a:avLst/>
          </a:prstGeom>
        </p:spPr>
        <p:txBody>
          <a:bodyPr vert="horz" wrap="square" lIns="0" tIns="12700" rIns="0" bIns="0" rtlCol="0">
            <a:spAutoFit/>
          </a:bodyPr>
          <a:lstStyle/>
          <a:p>
            <a:pPr marL="294640" indent="-282575">
              <a:lnSpc>
                <a:spcPts val="1430"/>
              </a:lnSpc>
              <a:spcBef>
                <a:spcPts val="100"/>
              </a:spcBef>
              <a:buClr>
                <a:srgbClr val="B10639"/>
              </a:buClr>
              <a:buFont typeface="Arial MT"/>
              <a:buChar char="•"/>
              <a:tabLst>
                <a:tab pos="294005" algn="l"/>
                <a:tab pos="295275" algn="l"/>
              </a:tabLst>
            </a:pPr>
            <a:r>
              <a:rPr sz="1200" spc="-5" dirty="0">
                <a:solidFill>
                  <a:prstClr val="black"/>
                </a:solidFill>
                <a:latin typeface="Verdana"/>
                <a:cs typeface="Verdana"/>
              </a:rPr>
              <a:t>Can</a:t>
            </a:r>
            <a:r>
              <a:rPr sz="1200" spc="-20" dirty="0">
                <a:solidFill>
                  <a:prstClr val="black"/>
                </a:solidFill>
                <a:latin typeface="Verdana"/>
                <a:cs typeface="Verdana"/>
              </a:rPr>
              <a:t> </a:t>
            </a:r>
            <a:r>
              <a:rPr sz="1200" spc="-5" dirty="0">
                <a:solidFill>
                  <a:prstClr val="black"/>
                </a:solidFill>
                <a:latin typeface="Verdana"/>
                <a:cs typeface="Verdana"/>
              </a:rPr>
              <a:t>explicitly</a:t>
            </a:r>
            <a:r>
              <a:rPr sz="1200" spc="-20" dirty="0">
                <a:solidFill>
                  <a:prstClr val="black"/>
                </a:solidFill>
                <a:latin typeface="Verdana"/>
                <a:cs typeface="Verdana"/>
              </a:rPr>
              <a:t> </a:t>
            </a:r>
            <a:r>
              <a:rPr sz="1200" spc="-5" dirty="0">
                <a:solidFill>
                  <a:prstClr val="black"/>
                </a:solidFill>
                <a:latin typeface="Verdana"/>
                <a:cs typeface="Verdana"/>
              </a:rPr>
              <a:t>compute</a:t>
            </a:r>
            <a:r>
              <a:rPr sz="1200" spc="-20" dirty="0">
                <a:solidFill>
                  <a:prstClr val="black"/>
                </a:solidFill>
                <a:latin typeface="Verdana"/>
                <a:cs typeface="Verdana"/>
              </a:rPr>
              <a:t> </a:t>
            </a:r>
            <a:r>
              <a:rPr sz="1200" spc="-5" dirty="0">
                <a:solidFill>
                  <a:prstClr val="black"/>
                </a:solidFill>
                <a:latin typeface="Verdana"/>
                <a:cs typeface="Verdana"/>
              </a:rPr>
              <a:t>likelihood</a:t>
            </a:r>
            <a:r>
              <a:rPr sz="1200" spc="390" dirty="0">
                <a:solidFill>
                  <a:prstClr val="black"/>
                </a:solidFill>
                <a:latin typeface="Verdana"/>
                <a:cs typeface="Verdana"/>
              </a:rPr>
              <a:t> </a:t>
            </a:r>
            <a:r>
              <a:rPr sz="1200" spc="-5" dirty="0">
                <a:solidFill>
                  <a:prstClr val="black"/>
                </a:solidFill>
                <a:latin typeface="Verdana"/>
                <a:cs typeface="Verdana"/>
              </a:rPr>
              <a:t>p(x)</a:t>
            </a:r>
            <a:endParaRPr sz="1200">
              <a:solidFill>
                <a:prstClr val="black"/>
              </a:solidFill>
              <a:latin typeface="Verdana"/>
              <a:cs typeface="Verdana"/>
            </a:endParaRPr>
          </a:p>
          <a:p>
            <a:pPr marL="294640" marR="5080" indent="-282575">
              <a:lnSpc>
                <a:spcPts val="1410"/>
              </a:lnSpc>
              <a:spcBef>
                <a:spcPts val="65"/>
              </a:spcBef>
              <a:buClr>
                <a:srgbClr val="B10639"/>
              </a:buClr>
              <a:buFont typeface="Arial MT"/>
              <a:buChar char="•"/>
              <a:tabLst>
                <a:tab pos="294005" algn="l"/>
                <a:tab pos="295275" algn="l"/>
              </a:tabLst>
            </a:pPr>
            <a:r>
              <a:rPr sz="1200" spc="-5" dirty="0">
                <a:solidFill>
                  <a:prstClr val="black"/>
                </a:solidFill>
                <a:latin typeface="Verdana"/>
                <a:cs typeface="Verdana"/>
              </a:rPr>
              <a:t>Explicit likelihood of training</a:t>
            </a:r>
            <a:r>
              <a:rPr sz="1200" dirty="0">
                <a:solidFill>
                  <a:prstClr val="black"/>
                </a:solidFill>
                <a:latin typeface="Verdana"/>
                <a:cs typeface="Verdana"/>
              </a:rPr>
              <a:t> </a:t>
            </a:r>
            <a:r>
              <a:rPr sz="1200" spc="-5" dirty="0">
                <a:solidFill>
                  <a:prstClr val="black"/>
                </a:solidFill>
                <a:latin typeface="Verdana"/>
                <a:cs typeface="Verdana"/>
              </a:rPr>
              <a:t>data gives </a:t>
            </a:r>
            <a:r>
              <a:rPr sz="1200" spc="-409" dirty="0">
                <a:solidFill>
                  <a:prstClr val="black"/>
                </a:solidFill>
                <a:latin typeface="Verdana"/>
                <a:cs typeface="Verdana"/>
              </a:rPr>
              <a:t> </a:t>
            </a:r>
            <a:r>
              <a:rPr sz="1200" spc="-5" dirty="0">
                <a:solidFill>
                  <a:prstClr val="black"/>
                </a:solidFill>
                <a:latin typeface="Verdana"/>
                <a:cs typeface="Verdana"/>
              </a:rPr>
              <a:t>good</a:t>
            </a:r>
            <a:r>
              <a:rPr sz="1200" spc="-10" dirty="0">
                <a:solidFill>
                  <a:prstClr val="black"/>
                </a:solidFill>
                <a:latin typeface="Verdana"/>
                <a:cs typeface="Verdana"/>
              </a:rPr>
              <a:t> </a:t>
            </a:r>
            <a:r>
              <a:rPr sz="1200" spc="-5" dirty="0">
                <a:solidFill>
                  <a:prstClr val="black"/>
                </a:solidFill>
                <a:latin typeface="Verdana"/>
                <a:cs typeface="Verdana"/>
              </a:rPr>
              <a:t>evaluation</a:t>
            </a:r>
            <a:r>
              <a:rPr sz="1200" spc="-10" dirty="0">
                <a:solidFill>
                  <a:prstClr val="black"/>
                </a:solidFill>
                <a:latin typeface="Verdana"/>
                <a:cs typeface="Verdana"/>
              </a:rPr>
              <a:t> </a:t>
            </a:r>
            <a:r>
              <a:rPr sz="1200" spc="-5" dirty="0">
                <a:solidFill>
                  <a:prstClr val="black"/>
                </a:solidFill>
                <a:latin typeface="Verdana"/>
                <a:cs typeface="Verdana"/>
              </a:rPr>
              <a:t>metric</a:t>
            </a:r>
            <a:endParaRPr sz="1200">
              <a:solidFill>
                <a:prstClr val="black"/>
              </a:solidFill>
              <a:latin typeface="Verdana"/>
              <a:cs typeface="Verdana"/>
            </a:endParaRPr>
          </a:p>
          <a:p>
            <a:pPr marL="294640" indent="-282575">
              <a:lnSpc>
                <a:spcPts val="1400"/>
              </a:lnSpc>
              <a:buClr>
                <a:srgbClr val="B10639"/>
              </a:buClr>
              <a:buFont typeface="Arial MT"/>
              <a:buChar char="•"/>
              <a:tabLst>
                <a:tab pos="294005" algn="l"/>
                <a:tab pos="295275" algn="l"/>
              </a:tabLst>
            </a:pPr>
            <a:r>
              <a:rPr sz="1200" spc="-5" dirty="0">
                <a:solidFill>
                  <a:prstClr val="black"/>
                </a:solidFill>
                <a:latin typeface="Verdana"/>
                <a:cs typeface="Verdana"/>
              </a:rPr>
              <a:t>Good</a:t>
            </a:r>
            <a:r>
              <a:rPr sz="1200" spc="-55" dirty="0">
                <a:solidFill>
                  <a:prstClr val="black"/>
                </a:solidFill>
                <a:latin typeface="Verdana"/>
                <a:cs typeface="Verdana"/>
              </a:rPr>
              <a:t> </a:t>
            </a:r>
            <a:r>
              <a:rPr sz="1200" spc="-5" dirty="0">
                <a:solidFill>
                  <a:prstClr val="black"/>
                </a:solidFill>
                <a:latin typeface="Verdana"/>
                <a:cs typeface="Verdana"/>
              </a:rPr>
              <a:t>samples</a:t>
            </a:r>
            <a:endParaRPr sz="1200">
              <a:solidFill>
                <a:prstClr val="black"/>
              </a:solidFill>
              <a:latin typeface="Verdana"/>
              <a:cs typeface="Verdana"/>
            </a:endParaRPr>
          </a:p>
        </p:txBody>
      </p:sp>
      <p:sp>
        <p:nvSpPr>
          <p:cNvPr id="9" name="object 9"/>
          <p:cNvSpPr txBox="1"/>
          <p:nvPr/>
        </p:nvSpPr>
        <p:spPr>
          <a:xfrm>
            <a:off x="511320" y="3570964"/>
            <a:ext cx="2705100" cy="371897"/>
          </a:xfrm>
          <a:prstGeom prst="rect">
            <a:avLst/>
          </a:prstGeom>
        </p:spPr>
        <p:txBody>
          <a:bodyPr vert="horz" wrap="square" lIns="0" tIns="12700" rIns="0" bIns="0" rtlCol="0">
            <a:spAutoFit/>
          </a:bodyPr>
          <a:lstStyle/>
          <a:p>
            <a:pPr marL="12700">
              <a:lnSpc>
                <a:spcPts val="1430"/>
              </a:lnSpc>
              <a:spcBef>
                <a:spcPts val="100"/>
              </a:spcBef>
            </a:pPr>
            <a:r>
              <a:rPr sz="1200" spc="-5" dirty="0">
                <a:solidFill>
                  <a:prstClr val="black"/>
                </a:solidFill>
                <a:latin typeface="Verdana"/>
                <a:cs typeface="Verdana"/>
              </a:rPr>
              <a:t>Con:</a:t>
            </a:r>
            <a:endParaRPr sz="1200">
              <a:solidFill>
                <a:prstClr val="black"/>
              </a:solidFill>
              <a:latin typeface="Verdana"/>
              <a:cs typeface="Verdana"/>
            </a:endParaRPr>
          </a:p>
          <a:p>
            <a:pPr marL="317500" indent="-282575">
              <a:lnSpc>
                <a:spcPts val="1435"/>
              </a:lnSpc>
              <a:buClr>
                <a:srgbClr val="B10639"/>
              </a:buClr>
              <a:buFont typeface="Arial MT"/>
              <a:buChar char="•"/>
              <a:tabLst>
                <a:tab pos="316865" algn="l"/>
                <a:tab pos="317500" algn="l"/>
              </a:tabLst>
            </a:pPr>
            <a:r>
              <a:rPr sz="1200" spc="-5" dirty="0">
                <a:solidFill>
                  <a:prstClr val="black"/>
                </a:solidFill>
                <a:latin typeface="Verdana"/>
                <a:cs typeface="Verdana"/>
              </a:rPr>
              <a:t>Sequential</a:t>
            </a:r>
            <a:r>
              <a:rPr sz="1200" spc="-30" dirty="0">
                <a:solidFill>
                  <a:prstClr val="black"/>
                </a:solidFill>
                <a:latin typeface="Verdana"/>
                <a:cs typeface="Verdana"/>
              </a:rPr>
              <a:t> </a:t>
            </a:r>
            <a:r>
              <a:rPr sz="1200" spc="-5" dirty="0">
                <a:solidFill>
                  <a:prstClr val="black"/>
                </a:solidFill>
                <a:latin typeface="Verdana"/>
                <a:cs typeface="Verdana"/>
              </a:rPr>
              <a:t>generation</a:t>
            </a:r>
            <a:r>
              <a:rPr sz="1200" spc="-30" dirty="0">
                <a:solidFill>
                  <a:prstClr val="black"/>
                </a:solidFill>
                <a:latin typeface="Verdana"/>
                <a:cs typeface="Verdana"/>
              </a:rPr>
              <a:t> </a:t>
            </a:r>
            <a:r>
              <a:rPr sz="1200" spc="-5" dirty="0">
                <a:solidFill>
                  <a:prstClr val="black"/>
                </a:solidFill>
                <a:latin typeface="Verdana"/>
                <a:cs typeface="Verdana"/>
              </a:rPr>
              <a:t>=&gt;</a:t>
            </a:r>
            <a:r>
              <a:rPr sz="1200" spc="-30" dirty="0">
                <a:solidFill>
                  <a:prstClr val="black"/>
                </a:solidFill>
                <a:latin typeface="Verdana"/>
                <a:cs typeface="Verdana"/>
              </a:rPr>
              <a:t> </a:t>
            </a:r>
            <a:r>
              <a:rPr sz="1200" spc="-5" dirty="0">
                <a:solidFill>
                  <a:prstClr val="black"/>
                </a:solidFill>
                <a:latin typeface="Verdana"/>
                <a:cs typeface="Verdana"/>
              </a:rPr>
              <a:t>slow</a:t>
            </a:r>
            <a:endParaRPr sz="1200">
              <a:solidFill>
                <a:prstClr val="black"/>
              </a:solidFill>
              <a:latin typeface="Verdana"/>
              <a:cs typeface="Verdana"/>
            </a:endParaRPr>
          </a:p>
        </p:txBody>
      </p:sp>
      <p:pic>
        <p:nvPicPr>
          <p:cNvPr id="12" name="Picture 2" descr="E:\NIET\Project\xLogo11.png.pagespeed.ic.pydHLuCQEZ.png">
            <a:extLst>
              <a:ext uri="{FF2B5EF4-FFF2-40B4-BE49-F238E27FC236}">
                <a16:creationId xmlns:a16="http://schemas.microsoft.com/office/drawing/2014/main" id="{51ED10BD-0145-F22A-B5C3-CA7F8B6A2260}"/>
              </a:ext>
            </a:extLst>
          </p:cNvPr>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13" name="Title 1">
            <a:extLst>
              <a:ext uri="{FF2B5EF4-FFF2-40B4-BE49-F238E27FC236}">
                <a16:creationId xmlns:a16="http://schemas.microsoft.com/office/drawing/2014/main" id="{1D6862C4-CBB3-297B-162F-6E80DDF48E48}"/>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err="1">
                <a:ln>
                  <a:noFill/>
                </a:ln>
                <a:solidFill>
                  <a:prstClr val="black"/>
                </a:solidFill>
                <a:effectLst/>
                <a:uLnTx/>
                <a:uFillTx/>
                <a:latin typeface="Calibri" panose="020F0502020204030204"/>
                <a:ea typeface="+mn-ea"/>
                <a:cs typeface="+mn-cs"/>
              </a:rPr>
              <a:t>PixelCNN</a:t>
            </a: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 vs </a:t>
            </a:r>
            <a:r>
              <a:rPr kumimoji="0" lang="en-US" sz="2400" b="1" i="0" u="none" strike="noStrike" kern="0" cap="none" spc="0" normalizeH="0" baseline="0" noProof="0" dirty="0" err="1">
                <a:ln>
                  <a:noFill/>
                </a:ln>
                <a:solidFill>
                  <a:prstClr val="black"/>
                </a:solidFill>
                <a:effectLst/>
                <a:uLnTx/>
                <a:uFillTx/>
                <a:latin typeface="Calibri" panose="020F0502020204030204"/>
                <a:ea typeface="+mn-ea"/>
                <a:cs typeface="+mn-cs"/>
              </a:rPr>
              <a:t>PixelRNN</a:t>
            </a:r>
            <a:endPar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60126" y="5727135"/>
            <a:ext cx="2687955" cy="185420"/>
          </a:xfrm>
          <a:prstGeom prst="rect">
            <a:avLst/>
          </a:prstGeom>
        </p:spPr>
        <p:txBody>
          <a:bodyPr vert="horz" wrap="square" lIns="0" tIns="635" rIns="0" bIns="0" rtlCol="0">
            <a:spAutoFit/>
          </a:bodyPr>
          <a:lstStyle/>
          <a:p>
            <a:pPr>
              <a:spcBef>
                <a:spcPts val="5"/>
              </a:spcBef>
            </a:pPr>
            <a:r>
              <a:rPr sz="1200" spc="-5" dirty="0">
                <a:solidFill>
                  <a:srgbClr val="313131"/>
                </a:solidFill>
                <a:latin typeface="Verdana"/>
                <a:cs typeface="Verdana"/>
              </a:rPr>
              <a:t>Deep</a:t>
            </a:r>
            <a:r>
              <a:rPr sz="1200" spc="-25" dirty="0">
                <a:solidFill>
                  <a:srgbClr val="313131"/>
                </a:solidFill>
                <a:latin typeface="Verdana"/>
                <a:cs typeface="Verdana"/>
              </a:rPr>
              <a:t> </a:t>
            </a:r>
            <a:r>
              <a:rPr sz="1200" spc="-5" dirty="0">
                <a:solidFill>
                  <a:srgbClr val="313131"/>
                </a:solidFill>
                <a:latin typeface="Verdana"/>
                <a:cs typeface="Verdana"/>
              </a:rPr>
              <a:t>Learning</a:t>
            </a:r>
            <a:r>
              <a:rPr sz="1200" spc="-25" dirty="0">
                <a:solidFill>
                  <a:srgbClr val="313131"/>
                </a:solidFill>
                <a:latin typeface="Verdana"/>
                <a:cs typeface="Verdana"/>
              </a:rPr>
              <a:t> </a:t>
            </a:r>
            <a:r>
              <a:rPr sz="1200" spc="-5" dirty="0">
                <a:solidFill>
                  <a:srgbClr val="313131"/>
                </a:solidFill>
                <a:latin typeface="Verdana"/>
                <a:cs typeface="Verdana"/>
              </a:rPr>
              <a:t>for</a:t>
            </a:r>
            <a:r>
              <a:rPr sz="1200" spc="-25" dirty="0">
                <a:solidFill>
                  <a:srgbClr val="313131"/>
                </a:solidFill>
                <a:latin typeface="Verdana"/>
                <a:cs typeface="Verdana"/>
              </a:rPr>
              <a:t> </a:t>
            </a:r>
            <a:r>
              <a:rPr sz="1200" spc="-5" dirty="0">
                <a:solidFill>
                  <a:srgbClr val="313131"/>
                </a:solidFill>
                <a:latin typeface="Verdana"/>
                <a:cs typeface="Verdana"/>
              </a:rPr>
              <a:t>Computer</a:t>
            </a:r>
            <a:r>
              <a:rPr sz="1200" spc="-20" dirty="0">
                <a:solidFill>
                  <a:srgbClr val="313131"/>
                </a:solidFill>
                <a:latin typeface="Verdana"/>
                <a:cs typeface="Verdana"/>
              </a:rPr>
              <a:t> </a:t>
            </a:r>
            <a:r>
              <a:rPr sz="1200" spc="-5" dirty="0">
                <a:solidFill>
                  <a:srgbClr val="313131"/>
                </a:solidFill>
                <a:latin typeface="Verdana"/>
                <a:cs typeface="Verdana"/>
              </a:rPr>
              <a:t>Vision</a:t>
            </a:r>
            <a:endParaRPr sz="1200">
              <a:solidFill>
                <a:prstClr val="black"/>
              </a:solidFill>
              <a:latin typeface="Verdana"/>
              <a:cs typeface="Verdana"/>
            </a:endParaRPr>
          </a:p>
        </p:txBody>
      </p:sp>
      <p:sp>
        <p:nvSpPr>
          <p:cNvPr id="3" name="object 3"/>
          <p:cNvSpPr/>
          <p:nvPr/>
        </p:nvSpPr>
        <p:spPr>
          <a:xfrm>
            <a:off x="177169" y="857252"/>
            <a:ext cx="7239000" cy="108585"/>
          </a:xfrm>
          <a:custGeom>
            <a:avLst/>
            <a:gdLst/>
            <a:ahLst/>
            <a:cxnLst/>
            <a:rect l="l" t="t" r="r" b="b"/>
            <a:pathLst>
              <a:path w="7239000" h="108585">
                <a:moveTo>
                  <a:pt x="7238699" y="107999"/>
                </a:moveTo>
                <a:lnTo>
                  <a:pt x="0" y="107999"/>
                </a:lnTo>
                <a:lnTo>
                  <a:pt x="0" y="0"/>
                </a:lnTo>
                <a:lnTo>
                  <a:pt x="7238699" y="0"/>
                </a:lnTo>
                <a:lnTo>
                  <a:pt x="7238699" y="107999"/>
                </a:lnTo>
                <a:close/>
              </a:path>
            </a:pathLst>
          </a:custGeom>
          <a:solidFill>
            <a:srgbClr val="F6A800"/>
          </a:solidFill>
        </p:spPr>
        <p:txBody>
          <a:bodyPr wrap="square" lIns="0" tIns="0" rIns="0" bIns="0" rtlCol="0"/>
          <a:lstStyle/>
          <a:p>
            <a:endParaRPr>
              <a:solidFill>
                <a:prstClr val="black"/>
              </a:solidFill>
              <a:latin typeface="Calibri"/>
            </a:endParaRPr>
          </a:p>
        </p:txBody>
      </p:sp>
      <p:sp>
        <p:nvSpPr>
          <p:cNvPr id="4" name="object 4"/>
          <p:cNvSpPr/>
          <p:nvPr/>
        </p:nvSpPr>
        <p:spPr>
          <a:xfrm>
            <a:off x="177169" y="1888828"/>
            <a:ext cx="7239000" cy="25400"/>
          </a:xfrm>
          <a:custGeom>
            <a:avLst/>
            <a:gdLst/>
            <a:ahLst/>
            <a:cxnLst/>
            <a:rect l="l" t="t" r="r" b="b"/>
            <a:pathLst>
              <a:path w="7239000" h="25400">
                <a:moveTo>
                  <a:pt x="7238699" y="25199"/>
                </a:moveTo>
                <a:lnTo>
                  <a:pt x="0" y="25199"/>
                </a:lnTo>
                <a:lnTo>
                  <a:pt x="0" y="0"/>
                </a:lnTo>
                <a:lnTo>
                  <a:pt x="7238699" y="0"/>
                </a:lnTo>
                <a:lnTo>
                  <a:pt x="7238699" y="25199"/>
                </a:lnTo>
                <a:close/>
              </a:path>
            </a:pathLst>
          </a:custGeom>
          <a:solidFill>
            <a:srgbClr val="DD640C"/>
          </a:solidFill>
        </p:spPr>
        <p:txBody>
          <a:bodyPr wrap="square" lIns="0" tIns="0" rIns="0" bIns="0" rtlCol="0"/>
          <a:lstStyle/>
          <a:p>
            <a:endParaRPr>
              <a:solidFill>
                <a:prstClr val="black"/>
              </a:solidFill>
              <a:latin typeface="Calibri"/>
            </a:endParaRPr>
          </a:p>
        </p:txBody>
      </p:sp>
      <p:sp>
        <p:nvSpPr>
          <p:cNvPr id="6" name="object 6"/>
          <p:cNvSpPr txBox="1"/>
          <p:nvPr/>
        </p:nvSpPr>
        <p:spPr>
          <a:xfrm>
            <a:off x="8371500" y="5734687"/>
            <a:ext cx="676910"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Slide</a:t>
            </a:r>
            <a:r>
              <a:rPr sz="1050" spc="-75" dirty="0">
                <a:solidFill>
                  <a:srgbClr val="313131"/>
                </a:solidFill>
                <a:latin typeface="Verdana"/>
                <a:cs typeface="Verdana"/>
              </a:rPr>
              <a:t> </a:t>
            </a:r>
            <a:r>
              <a:rPr sz="1050" spc="-5" dirty="0">
                <a:solidFill>
                  <a:srgbClr val="313131"/>
                </a:solidFill>
                <a:latin typeface="Verdana"/>
                <a:cs typeface="Verdana"/>
              </a:rPr>
              <a:t>#23</a:t>
            </a:r>
            <a:endParaRPr sz="1050">
              <a:solidFill>
                <a:prstClr val="black"/>
              </a:solidFill>
              <a:latin typeface="Verdana"/>
              <a:cs typeface="Verdana"/>
            </a:endParaRPr>
          </a:p>
        </p:txBody>
      </p:sp>
      <p:sp>
        <p:nvSpPr>
          <p:cNvPr id="51" name="Footer Placeholder 50">
            <a:extLst>
              <a:ext uri="{FF2B5EF4-FFF2-40B4-BE49-F238E27FC236}">
                <a16:creationId xmlns:a16="http://schemas.microsoft.com/office/drawing/2014/main" id="{FC839046-3672-1498-FE09-B0124542361A}"/>
              </a:ext>
            </a:extLst>
          </p:cNvPr>
          <p:cNvSpPr>
            <a:spLocks noGrp="1"/>
          </p:cNvSpPr>
          <p:nvPr>
            <p:ph type="ftr" sz="quarter" idx="5"/>
          </p:nvPr>
        </p:nvSpPr>
        <p:spPr/>
        <p:txBody>
          <a:bodyPr/>
          <a:lstStyle/>
          <a:p>
            <a:pPr>
              <a:spcBef>
                <a:spcPts val="5"/>
              </a:spcBef>
            </a:pPr>
            <a:endParaRPr lang="en-IN" spc="-5" dirty="0"/>
          </a:p>
        </p:txBody>
      </p:sp>
      <p:sp>
        <p:nvSpPr>
          <p:cNvPr id="7" name="object 7"/>
          <p:cNvSpPr txBox="1">
            <a:spLocks noGrp="1"/>
          </p:cNvSpPr>
          <p:nvPr>
            <p:ph type="title" idx="4294967295"/>
          </p:nvPr>
        </p:nvSpPr>
        <p:spPr>
          <a:xfrm>
            <a:off x="1" y="1092200"/>
            <a:ext cx="4130675" cy="330200"/>
          </a:xfrm>
          <a:prstGeom prst="rect">
            <a:avLst/>
          </a:prstGeom>
        </p:spPr>
        <p:txBody>
          <a:bodyPr vert="horz" wrap="square" lIns="0" tIns="12700" rIns="0" bIns="0" rtlCol="0">
            <a:spAutoFit/>
          </a:bodyPr>
          <a:lstStyle/>
          <a:p>
            <a:pPr marL="12700">
              <a:spcBef>
                <a:spcPts val="100"/>
              </a:spcBef>
            </a:pPr>
            <a:r>
              <a:rPr spc="-5" dirty="0"/>
              <a:t>Taxonomy</a:t>
            </a:r>
            <a:r>
              <a:rPr spc="-35" dirty="0"/>
              <a:t> </a:t>
            </a:r>
            <a:r>
              <a:rPr spc="-5" dirty="0"/>
              <a:t>of</a:t>
            </a:r>
            <a:r>
              <a:rPr spc="-30" dirty="0"/>
              <a:t> </a:t>
            </a:r>
            <a:r>
              <a:rPr spc="-5" dirty="0"/>
              <a:t>Generative</a:t>
            </a:r>
            <a:r>
              <a:rPr spc="-30" dirty="0"/>
              <a:t> </a:t>
            </a:r>
            <a:r>
              <a:rPr spc="-5" dirty="0"/>
              <a:t>Models</a:t>
            </a:r>
          </a:p>
        </p:txBody>
      </p:sp>
      <p:sp>
        <p:nvSpPr>
          <p:cNvPr id="8" name="object 8"/>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9" name="object 9"/>
          <p:cNvSpPr txBox="1"/>
          <p:nvPr/>
        </p:nvSpPr>
        <p:spPr>
          <a:xfrm>
            <a:off x="232308" y="5731503"/>
            <a:ext cx="1263650"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Generative</a:t>
            </a:r>
            <a:r>
              <a:rPr sz="1050" spc="-75" dirty="0">
                <a:solidFill>
                  <a:srgbClr val="313131"/>
                </a:solidFill>
                <a:latin typeface="Verdana"/>
                <a:cs typeface="Verdana"/>
              </a:rPr>
              <a:t> </a:t>
            </a:r>
            <a:r>
              <a:rPr sz="1050" spc="-5" dirty="0">
                <a:solidFill>
                  <a:srgbClr val="313131"/>
                </a:solidFill>
                <a:latin typeface="Verdana"/>
                <a:cs typeface="Verdana"/>
              </a:rPr>
              <a:t>Models</a:t>
            </a:r>
            <a:endParaRPr sz="1050">
              <a:solidFill>
                <a:prstClr val="black"/>
              </a:solidFill>
              <a:latin typeface="Verdana"/>
              <a:cs typeface="Verdana"/>
            </a:endParaRPr>
          </a:p>
        </p:txBody>
      </p:sp>
      <p:sp>
        <p:nvSpPr>
          <p:cNvPr id="10" name="object 10"/>
          <p:cNvSpPr txBox="1"/>
          <p:nvPr/>
        </p:nvSpPr>
        <p:spPr>
          <a:xfrm>
            <a:off x="4852733" y="5592489"/>
            <a:ext cx="3733165" cy="105157"/>
          </a:xfrm>
          <a:prstGeom prst="rect">
            <a:avLst/>
          </a:prstGeom>
        </p:spPr>
        <p:txBody>
          <a:bodyPr vert="horz" wrap="square" lIns="0" tIns="12700" rIns="0" bIns="0" rtlCol="0">
            <a:spAutoFit/>
          </a:bodyPr>
          <a:lstStyle/>
          <a:p>
            <a:pPr marL="12700">
              <a:spcBef>
                <a:spcPts val="100"/>
              </a:spcBef>
            </a:pPr>
            <a:r>
              <a:rPr sz="600" spc="-5" dirty="0">
                <a:solidFill>
                  <a:prstClr val="black"/>
                </a:solidFill>
                <a:latin typeface="Verdana"/>
                <a:cs typeface="Verdana"/>
              </a:rPr>
              <a:t>Figure</a:t>
            </a:r>
            <a:r>
              <a:rPr sz="600" spc="-10" dirty="0">
                <a:solidFill>
                  <a:prstClr val="black"/>
                </a:solidFill>
                <a:latin typeface="Verdana"/>
                <a:cs typeface="Verdana"/>
              </a:rPr>
              <a:t> </a:t>
            </a:r>
            <a:r>
              <a:rPr sz="600" spc="-5" dirty="0">
                <a:solidFill>
                  <a:prstClr val="black"/>
                </a:solidFill>
                <a:latin typeface="Verdana"/>
                <a:cs typeface="Verdana"/>
              </a:rPr>
              <a:t>copyright</a:t>
            </a:r>
            <a:r>
              <a:rPr sz="600" spc="-10" dirty="0">
                <a:solidFill>
                  <a:prstClr val="black"/>
                </a:solidFill>
                <a:latin typeface="Verdana"/>
                <a:cs typeface="Verdana"/>
              </a:rPr>
              <a:t> </a:t>
            </a:r>
            <a:r>
              <a:rPr sz="600" spc="-5" dirty="0">
                <a:solidFill>
                  <a:prstClr val="black"/>
                </a:solidFill>
                <a:latin typeface="Verdana"/>
                <a:cs typeface="Verdana"/>
              </a:rPr>
              <a:t>and</a:t>
            </a:r>
            <a:r>
              <a:rPr sz="600" spc="-10" dirty="0">
                <a:solidFill>
                  <a:prstClr val="black"/>
                </a:solidFill>
                <a:latin typeface="Verdana"/>
                <a:cs typeface="Verdana"/>
              </a:rPr>
              <a:t> </a:t>
            </a:r>
            <a:r>
              <a:rPr sz="600" spc="-5" dirty="0">
                <a:solidFill>
                  <a:prstClr val="black"/>
                </a:solidFill>
                <a:latin typeface="Verdana"/>
                <a:cs typeface="Verdana"/>
              </a:rPr>
              <a:t>adapted from</a:t>
            </a:r>
            <a:r>
              <a:rPr sz="600" spc="-10" dirty="0">
                <a:solidFill>
                  <a:prstClr val="black"/>
                </a:solidFill>
                <a:latin typeface="Verdana"/>
                <a:cs typeface="Verdana"/>
              </a:rPr>
              <a:t> </a:t>
            </a:r>
            <a:r>
              <a:rPr sz="600" spc="-5" dirty="0">
                <a:solidFill>
                  <a:prstClr val="black"/>
                </a:solidFill>
                <a:latin typeface="Verdana"/>
                <a:cs typeface="Verdana"/>
              </a:rPr>
              <a:t>Ian</a:t>
            </a:r>
            <a:r>
              <a:rPr sz="600" spc="-10" dirty="0">
                <a:solidFill>
                  <a:prstClr val="black"/>
                </a:solidFill>
                <a:latin typeface="Verdana"/>
                <a:cs typeface="Verdana"/>
              </a:rPr>
              <a:t> </a:t>
            </a:r>
            <a:r>
              <a:rPr sz="600" spc="-5" dirty="0">
                <a:solidFill>
                  <a:prstClr val="black"/>
                </a:solidFill>
                <a:latin typeface="Verdana"/>
                <a:cs typeface="Verdana"/>
              </a:rPr>
              <a:t>Goodfellow,</a:t>
            </a:r>
            <a:r>
              <a:rPr sz="600" spc="-10" dirty="0">
                <a:solidFill>
                  <a:prstClr val="black"/>
                </a:solidFill>
                <a:latin typeface="Verdana"/>
                <a:cs typeface="Verdana"/>
              </a:rPr>
              <a:t> </a:t>
            </a:r>
            <a:r>
              <a:rPr sz="600" spc="-5" dirty="0">
                <a:solidFill>
                  <a:prstClr val="black"/>
                </a:solidFill>
                <a:latin typeface="Verdana"/>
                <a:cs typeface="Verdana"/>
              </a:rPr>
              <a:t>Tutorial</a:t>
            </a:r>
            <a:r>
              <a:rPr sz="600" spc="-10" dirty="0">
                <a:solidFill>
                  <a:prstClr val="black"/>
                </a:solidFill>
                <a:latin typeface="Verdana"/>
                <a:cs typeface="Verdana"/>
              </a:rPr>
              <a:t> </a:t>
            </a:r>
            <a:r>
              <a:rPr sz="600" spc="-5" dirty="0">
                <a:solidFill>
                  <a:prstClr val="black"/>
                </a:solidFill>
                <a:latin typeface="Verdana"/>
                <a:cs typeface="Verdana"/>
              </a:rPr>
              <a:t>on Generative</a:t>
            </a:r>
            <a:r>
              <a:rPr sz="600" spc="-10" dirty="0">
                <a:solidFill>
                  <a:prstClr val="black"/>
                </a:solidFill>
                <a:latin typeface="Verdana"/>
                <a:cs typeface="Verdana"/>
              </a:rPr>
              <a:t> </a:t>
            </a:r>
            <a:r>
              <a:rPr sz="600" spc="-5" dirty="0">
                <a:solidFill>
                  <a:prstClr val="black"/>
                </a:solidFill>
                <a:latin typeface="Verdana"/>
                <a:cs typeface="Verdana"/>
              </a:rPr>
              <a:t>Adversarial</a:t>
            </a:r>
            <a:r>
              <a:rPr sz="600" spc="-10" dirty="0">
                <a:solidFill>
                  <a:prstClr val="black"/>
                </a:solidFill>
                <a:latin typeface="Verdana"/>
                <a:cs typeface="Verdana"/>
              </a:rPr>
              <a:t> </a:t>
            </a:r>
            <a:r>
              <a:rPr sz="600" spc="-5" dirty="0">
                <a:solidFill>
                  <a:prstClr val="black"/>
                </a:solidFill>
                <a:latin typeface="Verdana"/>
                <a:cs typeface="Verdana"/>
              </a:rPr>
              <a:t>Networks,</a:t>
            </a:r>
            <a:endParaRPr sz="600">
              <a:solidFill>
                <a:prstClr val="black"/>
              </a:solidFill>
              <a:latin typeface="Verdana"/>
              <a:cs typeface="Verdana"/>
            </a:endParaRPr>
          </a:p>
        </p:txBody>
      </p:sp>
      <p:sp>
        <p:nvSpPr>
          <p:cNvPr id="11" name="object 11"/>
          <p:cNvSpPr txBox="1"/>
          <p:nvPr/>
        </p:nvSpPr>
        <p:spPr>
          <a:xfrm>
            <a:off x="4852733" y="5687739"/>
            <a:ext cx="247015" cy="105157"/>
          </a:xfrm>
          <a:prstGeom prst="rect">
            <a:avLst/>
          </a:prstGeom>
        </p:spPr>
        <p:txBody>
          <a:bodyPr vert="horz" wrap="square" lIns="0" tIns="12700" rIns="0" bIns="0" rtlCol="0">
            <a:spAutoFit/>
          </a:bodyPr>
          <a:lstStyle/>
          <a:p>
            <a:pPr marL="12700">
              <a:spcBef>
                <a:spcPts val="100"/>
              </a:spcBef>
            </a:pPr>
            <a:r>
              <a:rPr sz="600" spc="-5" dirty="0">
                <a:solidFill>
                  <a:prstClr val="black"/>
                </a:solidFill>
                <a:latin typeface="Verdana"/>
                <a:cs typeface="Verdana"/>
              </a:rPr>
              <a:t>2017.</a:t>
            </a:r>
            <a:endParaRPr sz="600">
              <a:solidFill>
                <a:prstClr val="black"/>
              </a:solidFill>
              <a:latin typeface="Verdana"/>
              <a:cs typeface="Verdana"/>
            </a:endParaRPr>
          </a:p>
        </p:txBody>
      </p:sp>
      <p:sp>
        <p:nvSpPr>
          <p:cNvPr id="12" name="object 12"/>
          <p:cNvSpPr txBox="1"/>
          <p:nvPr/>
        </p:nvSpPr>
        <p:spPr>
          <a:xfrm>
            <a:off x="296141" y="4851186"/>
            <a:ext cx="753745" cy="166712"/>
          </a:xfrm>
          <a:prstGeom prst="rect">
            <a:avLst/>
          </a:prstGeom>
        </p:spPr>
        <p:txBody>
          <a:bodyPr vert="horz" wrap="square" lIns="0" tIns="12700" rIns="0" bIns="0" rtlCol="0">
            <a:spAutoFit/>
          </a:bodyPr>
          <a:lstStyle/>
          <a:p>
            <a:pPr marL="165100" indent="-152400">
              <a:spcBef>
                <a:spcPts val="100"/>
              </a:spcBef>
              <a:buClr>
                <a:srgbClr val="000000"/>
              </a:buClr>
              <a:buFont typeface="Arial MT"/>
              <a:buChar char="•"/>
              <a:tabLst>
                <a:tab pos="165100" algn="l"/>
              </a:tabLst>
            </a:pPr>
            <a:r>
              <a:rPr sz="1000" dirty="0">
                <a:solidFill>
                  <a:srgbClr val="43484C"/>
                </a:solidFill>
                <a:latin typeface="Verdana"/>
                <a:cs typeface="Verdana"/>
              </a:rPr>
              <a:t>PixelCNN</a:t>
            </a:r>
            <a:endParaRPr sz="1000">
              <a:solidFill>
                <a:prstClr val="black"/>
              </a:solidFill>
              <a:latin typeface="Verdana"/>
              <a:cs typeface="Verdana"/>
            </a:endParaRPr>
          </a:p>
        </p:txBody>
      </p:sp>
      <p:sp>
        <p:nvSpPr>
          <p:cNvPr id="13" name="object 13"/>
          <p:cNvSpPr txBox="1"/>
          <p:nvPr/>
        </p:nvSpPr>
        <p:spPr>
          <a:xfrm>
            <a:off x="46737" y="4199905"/>
            <a:ext cx="2000885" cy="667385"/>
          </a:xfrm>
          <a:prstGeom prst="rect">
            <a:avLst/>
          </a:prstGeom>
        </p:spPr>
        <p:txBody>
          <a:bodyPr vert="horz" wrap="square" lIns="0" tIns="12700" rIns="0" bIns="0" rtlCol="0">
            <a:spAutoFit/>
          </a:bodyPr>
          <a:lstStyle/>
          <a:p>
            <a:pPr marL="226060" marR="5080" indent="-226060">
              <a:lnSpc>
                <a:spcPct val="156400"/>
              </a:lnSpc>
              <a:spcBef>
                <a:spcPts val="100"/>
              </a:spcBef>
              <a:buClr>
                <a:srgbClr val="000000"/>
              </a:buClr>
              <a:buFont typeface="Yu Gothic UI"/>
              <a:buChar char="✓"/>
              <a:tabLst>
                <a:tab pos="226060" algn="l"/>
              </a:tabLst>
            </a:pPr>
            <a:r>
              <a:rPr sz="1000" spc="-5" dirty="0">
                <a:solidFill>
                  <a:srgbClr val="43484C"/>
                </a:solidFill>
                <a:latin typeface="Verdana"/>
                <a:cs typeface="Verdana"/>
              </a:rPr>
              <a:t>Change of variables models </a:t>
            </a:r>
            <a:r>
              <a:rPr sz="1000" spc="-340" dirty="0">
                <a:solidFill>
                  <a:srgbClr val="43484C"/>
                </a:solidFill>
                <a:latin typeface="Verdana"/>
                <a:cs typeface="Verdana"/>
              </a:rPr>
              <a:t> </a:t>
            </a:r>
            <a:r>
              <a:rPr sz="1000" spc="-5" dirty="0">
                <a:solidFill>
                  <a:srgbClr val="43484C"/>
                </a:solidFill>
                <a:latin typeface="Verdana"/>
                <a:cs typeface="Verdana"/>
              </a:rPr>
              <a:t>Fully</a:t>
            </a:r>
            <a:r>
              <a:rPr sz="1000" spc="-15" dirty="0">
                <a:solidFill>
                  <a:srgbClr val="43484C"/>
                </a:solidFill>
                <a:latin typeface="Verdana"/>
                <a:cs typeface="Verdana"/>
              </a:rPr>
              <a:t> </a:t>
            </a:r>
            <a:r>
              <a:rPr sz="1000" spc="-5" dirty="0">
                <a:solidFill>
                  <a:srgbClr val="43484C"/>
                </a:solidFill>
                <a:latin typeface="Verdana"/>
                <a:cs typeface="Verdana"/>
              </a:rPr>
              <a:t>Visible</a:t>
            </a:r>
            <a:r>
              <a:rPr sz="1000" spc="-15" dirty="0">
                <a:solidFill>
                  <a:srgbClr val="43484C"/>
                </a:solidFill>
                <a:latin typeface="Verdana"/>
                <a:cs typeface="Verdana"/>
              </a:rPr>
              <a:t> </a:t>
            </a:r>
            <a:r>
              <a:rPr sz="1000" spc="-5" dirty="0">
                <a:solidFill>
                  <a:srgbClr val="43484C"/>
                </a:solidFill>
                <a:latin typeface="Verdana"/>
                <a:cs typeface="Verdana"/>
              </a:rPr>
              <a:t>Belief</a:t>
            </a:r>
            <a:r>
              <a:rPr sz="1000" spc="-15" dirty="0">
                <a:solidFill>
                  <a:srgbClr val="43484C"/>
                </a:solidFill>
                <a:latin typeface="Verdana"/>
                <a:cs typeface="Verdana"/>
              </a:rPr>
              <a:t> </a:t>
            </a:r>
            <a:r>
              <a:rPr sz="1000" spc="-5" dirty="0">
                <a:solidFill>
                  <a:srgbClr val="43484C"/>
                </a:solidFill>
                <a:latin typeface="Verdana"/>
                <a:cs typeface="Verdana"/>
              </a:rPr>
              <a:t>Nets</a:t>
            </a:r>
            <a:endParaRPr sz="1000">
              <a:solidFill>
                <a:prstClr val="black"/>
              </a:solidFill>
              <a:latin typeface="Verdana"/>
              <a:cs typeface="Verdana"/>
            </a:endParaRPr>
          </a:p>
          <a:p>
            <a:pPr marL="414020" lvl="1" indent="-153035">
              <a:spcBef>
                <a:spcPts val="100"/>
              </a:spcBef>
              <a:buClr>
                <a:srgbClr val="000000"/>
              </a:buClr>
              <a:buFont typeface="Arial MT"/>
              <a:buChar char="•"/>
              <a:tabLst>
                <a:tab pos="414655" algn="l"/>
              </a:tabLst>
            </a:pPr>
            <a:r>
              <a:rPr sz="1000" dirty="0">
                <a:solidFill>
                  <a:srgbClr val="43484C"/>
                </a:solidFill>
                <a:latin typeface="Verdana"/>
                <a:cs typeface="Verdana"/>
              </a:rPr>
              <a:t>PixelRNN</a:t>
            </a:r>
            <a:endParaRPr sz="1000">
              <a:solidFill>
                <a:prstClr val="black"/>
              </a:solidFill>
              <a:latin typeface="Verdana"/>
              <a:cs typeface="Verdana"/>
            </a:endParaRPr>
          </a:p>
        </p:txBody>
      </p:sp>
      <p:sp>
        <p:nvSpPr>
          <p:cNvPr id="14" name="object 14"/>
          <p:cNvSpPr txBox="1"/>
          <p:nvPr/>
        </p:nvSpPr>
        <p:spPr>
          <a:xfrm>
            <a:off x="2007978" y="4918711"/>
            <a:ext cx="1551940"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Variational</a:t>
            </a:r>
            <a:r>
              <a:rPr sz="1000" spc="-70" dirty="0">
                <a:solidFill>
                  <a:srgbClr val="43484C"/>
                </a:solidFill>
                <a:latin typeface="Verdana"/>
                <a:cs typeface="Verdana"/>
              </a:rPr>
              <a:t> </a:t>
            </a:r>
            <a:r>
              <a:rPr sz="1000" spc="-5" dirty="0">
                <a:solidFill>
                  <a:srgbClr val="43484C"/>
                </a:solidFill>
                <a:latin typeface="Verdana"/>
                <a:cs typeface="Verdana"/>
              </a:rPr>
              <a:t>Autoencoder</a:t>
            </a:r>
            <a:endParaRPr sz="1000">
              <a:solidFill>
                <a:prstClr val="black"/>
              </a:solidFill>
              <a:latin typeface="Verdana"/>
              <a:cs typeface="Verdana"/>
            </a:endParaRPr>
          </a:p>
        </p:txBody>
      </p:sp>
      <p:sp>
        <p:nvSpPr>
          <p:cNvPr id="15" name="object 15"/>
          <p:cNvSpPr/>
          <p:nvPr/>
        </p:nvSpPr>
        <p:spPr>
          <a:xfrm>
            <a:off x="3182785" y="2113411"/>
            <a:ext cx="1695450" cy="539750"/>
          </a:xfrm>
          <a:custGeom>
            <a:avLst/>
            <a:gdLst/>
            <a:ahLst/>
            <a:cxnLst/>
            <a:rect l="l" t="t" r="r" b="b"/>
            <a:pathLst>
              <a:path w="1695450" h="539750">
                <a:moveTo>
                  <a:pt x="1605151" y="539248"/>
                </a:moveTo>
                <a:lnTo>
                  <a:pt x="89876" y="539248"/>
                </a:lnTo>
                <a:lnTo>
                  <a:pt x="54892" y="532186"/>
                </a:lnTo>
                <a:lnTo>
                  <a:pt x="26324" y="512924"/>
                </a:lnTo>
                <a:lnTo>
                  <a:pt x="7062" y="484356"/>
                </a:lnTo>
                <a:lnTo>
                  <a:pt x="0" y="449372"/>
                </a:lnTo>
                <a:lnTo>
                  <a:pt x="0" y="89876"/>
                </a:lnTo>
                <a:lnTo>
                  <a:pt x="7062" y="54892"/>
                </a:lnTo>
                <a:lnTo>
                  <a:pt x="26324" y="26324"/>
                </a:lnTo>
                <a:lnTo>
                  <a:pt x="54892" y="7062"/>
                </a:lnTo>
                <a:lnTo>
                  <a:pt x="89876" y="0"/>
                </a:lnTo>
                <a:lnTo>
                  <a:pt x="1605151" y="0"/>
                </a:lnTo>
                <a:lnTo>
                  <a:pt x="1655015" y="15100"/>
                </a:lnTo>
                <a:lnTo>
                  <a:pt x="1688186" y="55482"/>
                </a:lnTo>
                <a:lnTo>
                  <a:pt x="1695027" y="89876"/>
                </a:lnTo>
                <a:lnTo>
                  <a:pt x="1695027" y="449372"/>
                </a:lnTo>
                <a:lnTo>
                  <a:pt x="1687965" y="484356"/>
                </a:lnTo>
                <a:lnTo>
                  <a:pt x="1668703" y="512924"/>
                </a:lnTo>
                <a:lnTo>
                  <a:pt x="1640135" y="532186"/>
                </a:lnTo>
                <a:lnTo>
                  <a:pt x="1605151" y="539248"/>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16" name="object 16"/>
          <p:cNvSpPr txBox="1"/>
          <p:nvPr/>
        </p:nvSpPr>
        <p:spPr>
          <a:xfrm>
            <a:off x="3404939" y="2279024"/>
            <a:ext cx="125031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Generative</a:t>
            </a:r>
            <a:r>
              <a:rPr sz="1100" spc="-75" dirty="0">
                <a:solidFill>
                  <a:srgbClr val="43484C"/>
                </a:solidFill>
                <a:latin typeface="Verdana"/>
                <a:cs typeface="Verdana"/>
              </a:rPr>
              <a:t> </a:t>
            </a:r>
            <a:r>
              <a:rPr sz="1100" spc="-5" dirty="0">
                <a:solidFill>
                  <a:srgbClr val="43484C"/>
                </a:solidFill>
                <a:latin typeface="Verdana"/>
                <a:cs typeface="Verdana"/>
              </a:rPr>
              <a:t>Model</a:t>
            </a:r>
            <a:endParaRPr sz="1100">
              <a:solidFill>
                <a:prstClr val="black"/>
              </a:solidFill>
              <a:latin typeface="Verdana"/>
              <a:cs typeface="Verdana"/>
            </a:endParaRPr>
          </a:p>
        </p:txBody>
      </p:sp>
      <p:sp>
        <p:nvSpPr>
          <p:cNvPr id="17" name="object 17"/>
          <p:cNvSpPr/>
          <p:nvPr/>
        </p:nvSpPr>
        <p:spPr>
          <a:xfrm>
            <a:off x="1328496" y="2830894"/>
            <a:ext cx="1695450" cy="514350"/>
          </a:xfrm>
          <a:custGeom>
            <a:avLst/>
            <a:gdLst/>
            <a:ahLst/>
            <a:cxnLst/>
            <a:rect l="l" t="t" r="r" b="b"/>
            <a:pathLst>
              <a:path w="1695450" h="514350">
                <a:moveTo>
                  <a:pt x="1609322" y="514220"/>
                </a:moveTo>
                <a:lnTo>
                  <a:pt x="85705" y="514220"/>
                </a:lnTo>
                <a:lnTo>
                  <a:pt x="52344" y="507485"/>
                </a:lnTo>
                <a:lnTo>
                  <a:pt x="25102" y="489118"/>
                </a:lnTo>
                <a:lnTo>
                  <a:pt x="6735" y="461876"/>
                </a:lnTo>
                <a:lnTo>
                  <a:pt x="0" y="428515"/>
                </a:lnTo>
                <a:lnTo>
                  <a:pt x="0" y="85705"/>
                </a:lnTo>
                <a:lnTo>
                  <a:pt x="6735" y="52344"/>
                </a:lnTo>
                <a:lnTo>
                  <a:pt x="25102" y="25102"/>
                </a:lnTo>
                <a:lnTo>
                  <a:pt x="52344" y="6735"/>
                </a:lnTo>
                <a:lnTo>
                  <a:pt x="85705" y="0"/>
                </a:lnTo>
                <a:lnTo>
                  <a:pt x="1609322" y="0"/>
                </a:lnTo>
                <a:lnTo>
                  <a:pt x="1656872" y="14399"/>
                </a:lnTo>
                <a:lnTo>
                  <a:pt x="1688504" y="52907"/>
                </a:lnTo>
                <a:lnTo>
                  <a:pt x="1695027" y="85705"/>
                </a:lnTo>
                <a:lnTo>
                  <a:pt x="1695027" y="428515"/>
                </a:lnTo>
                <a:lnTo>
                  <a:pt x="1688292" y="461876"/>
                </a:lnTo>
                <a:lnTo>
                  <a:pt x="1669925" y="489118"/>
                </a:lnTo>
                <a:lnTo>
                  <a:pt x="1642683" y="507485"/>
                </a:lnTo>
                <a:lnTo>
                  <a:pt x="1609322" y="514220"/>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18" name="object 18"/>
          <p:cNvSpPr txBox="1"/>
          <p:nvPr/>
        </p:nvSpPr>
        <p:spPr>
          <a:xfrm>
            <a:off x="1624640" y="2983992"/>
            <a:ext cx="1102360"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Explicit</a:t>
            </a:r>
            <a:r>
              <a:rPr sz="1100" spc="-7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19" name="object 19"/>
          <p:cNvSpPr/>
          <p:nvPr/>
        </p:nvSpPr>
        <p:spPr>
          <a:xfrm>
            <a:off x="5202119" y="2838513"/>
            <a:ext cx="1711960" cy="490220"/>
          </a:xfrm>
          <a:custGeom>
            <a:avLst/>
            <a:gdLst/>
            <a:ahLst/>
            <a:cxnLst/>
            <a:rect l="l" t="t" r="r" b="b"/>
            <a:pathLst>
              <a:path w="1711959" h="490219">
                <a:moveTo>
                  <a:pt x="1630179" y="489793"/>
                </a:moveTo>
                <a:lnTo>
                  <a:pt x="81633" y="489793"/>
                </a:lnTo>
                <a:lnTo>
                  <a:pt x="49858" y="483378"/>
                </a:lnTo>
                <a:lnTo>
                  <a:pt x="23909" y="465884"/>
                </a:lnTo>
                <a:lnTo>
                  <a:pt x="6415" y="439935"/>
                </a:lnTo>
                <a:lnTo>
                  <a:pt x="0" y="408159"/>
                </a:lnTo>
                <a:lnTo>
                  <a:pt x="0" y="81633"/>
                </a:lnTo>
                <a:lnTo>
                  <a:pt x="6415" y="49858"/>
                </a:lnTo>
                <a:lnTo>
                  <a:pt x="23909" y="23910"/>
                </a:lnTo>
                <a:lnTo>
                  <a:pt x="49858" y="6415"/>
                </a:lnTo>
                <a:lnTo>
                  <a:pt x="81633" y="0"/>
                </a:lnTo>
                <a:lnTo>
                  <a:pt x="1630179" y="0"/>
                </a:lnTo>
                <a:lnTo>
                  <a:pt x="1675469" y="13715"/>
                </a:lnTo>
                <a:lnTo>
                  <a:pt x="1705598" y="50393"/>
                </a:lnTo>
                <a:lnTo>
                  <a:pt x="1711812" y="81633"/>
                </a:lnTo>
                <a:lnTo>
                  <a:pt x="1711812" y="408159"/>
                </a:lnTo>
                <a:lnTo>
                  <a:pt x="1705397" y="439935"/>
                </a:lnTo>
                <a:lnTo>
                  <a:pt x="1687902" y="465884"/>
                </a:lnTo>
                <a:lnTo>
                  <a:pt x="1661954" y="483378"/>
                </a:lnTo>
                <a:lnTo>
                  <a:pt x="1630179" y="48979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0" name="object 20"/>
          <p:cNvSpPr txBox="1"/>
          <p:nvPr/>
        </p:nvSpPr>
        <p:spPr>
          <a:xfrm>
            <a:off x="5494683" y="2996925"/>
            <a:ext cx="112712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Implicit</a:t>
            </a:r>
            <a:r>
              <a:rPr sz="1100" spc="-6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21" name="object 21"/>
          <p:cNvSpPr/>
          <p:nvPr/>
        </p:nvSpPr>
        <p:spPr>
          <a:xfrm>
            <a:off x="4659379" y="3461779"/>
            <a:ext cx="1085850" cy="449580"/>
          </a:xfrm>
          <a:custGeom>
            <a:avLst/>
            <a:gdLst/>
            <a:ahLst/>
            <a:cxnLst/>
            <a:rect l="l" t="t" r="r" b="b"/>
            <a:pathLst>
              <a:path w="1085850" h="449580">
                <a:moveTo>
                  <a:pt x="1010636" y="449053"/>
                </a:moveTo>
                <a:lnTo>
                  <a:pt x="74843" y="449053"/>
                </a:lnTo>
                <a:lnTo>
                  <a:pt x="45710" y="443172"/>
                </a:lnTo>
                <a:lnTo>
                  <a:pt x="21921" y="427132"/>
                </a:lnTo>
                <a:lnTo>
                  <a:pt x="5881" y="403342"/>
                </a:lnTo>
                <a:lnTo>
                  <a:pt x="0" y="374210"/>
                </a:lnTo>
                <a:lnTo>
                  <a:pt x="0" y="74843"/>
                </a:lnTo>
                <a:lnTo>
                  <a:pt x="5881" y="45711"/>
                </a:lnTo>
                <a:lnTo>
                  <a:pt x="21921" y="21921"/>
                </a:lnTo>
                <a:lnTo>
                  <a:pt x="45710" y="5881"/>
                </a:lnTo>
                <a:lnTo>
                  <a:pt x="74843" y="0"/>
                </a:lnTo>
                <a:lnTo>
                  <a:pt x="1010636" y="0"/>
                </a:lnTo>
                <a:lnTo>
                  <a:pt x="1052160" y="12574"/>
                </a:lnTo>
                <a:lnTo>
                  <a:pt x="1079783" y="46202"/>
                </a:lnTo>
                <a:lnTo>
                  <a:pt x="1085480" y="74843"/>
                </a:lnTo>
                <a:lnTo>
                  <a:pt x="1085480" y="374210"/>
                </a:lnTo>
                <a:lnTo>
                  <a:pt x="1079599" y="403342"/>
                </a:lnTo>
                <a:lnTo>
                  <a:pt x="1063559" y="427132"/>
                </a:lnTo>
                <a:lnTo>
                  <a:pt x="1039769" y="443172"/>
                </a:lnTo>
                <a:lnTo>
                  <a:pt x="1010636"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2" name="object 22"/>
          <p:cNvSpPr txBox="1"/>
          <p:nvPr/>
        </p:nvSpPr>
        <p:spPr>
          <a:xfrm>
            <a:off x="4981246" y="3582295"/>
            <a:ext cx="441959"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Direct</a:t>
            </a:r>
            <a:endParaRPr sz="1100">
              <a:solidFill>
                <a:prstClr val="black"/>
              </a:solidFill>
              <a:latin typeface="Verdana"/>
              <a:cs typeface="Verdana"/>
            </a:endParaRPr>
          </a:p>
        </p:txBody>
      </p:sp>
      <p:sp>
        <p:nvSpPr>
          <p:cNvPr id="23" name="object 23"/>
          <p:cNvSpPr/>
          <p:nvPr/>
        </p:nvSpPr>
        <p:spPr>
          <a:xfrm>
            <a:off x="88492" y="3479577"/>
            <a:ext cx="1805305" cy="429259"/>
          </a:xfrm>
          <a:custGeom>
            <a:avLst/>
            <a:gdLst/>
            <a:ahLst/>
            <a:cxnLst/>
            <a:rect l="l" t="t" r="r" b="b"/>
            <a:pathLst>
              <a:path w="1805305" h="429260">
                <a:moveTo>
                  <a:pt x="1733695" y="429038"/>
                </a:moveTo>
                <a:lnTo>
                  <a:pt x="71507" y="429038"/>
                </a:lnTo>
                <a:lnTo>
                  <a:pt x="43673" y="423419"/>
                </a:lnTo>
                <a:lnTo>
                  <a:pt x="20944" y="408094"/>
                </a:lnTo>
                <a:lnTo>
                  <a:pt x="5619" y="385365"/>
                </a:lnTo>
                <a:lnTo>
                  <a:pt x="0" y="357530"/>
                </a:lnTo>
                <a:lnTo>
                  <a:pt x="0" y="71507"/>
                </a:lnTo>
                <a:lnTo>
                  <a:pt x="5619" y="43673"/>
                </a:lnTo>
                <a:lnTo>
                  <a:pt x="20944" y="20944"/>
                </a:lnTo>
                <a:lnTo>
                  <a:pt x="43673" y="5619"/>
                </a:lnTo>
                <a:lnTo>
                  <a:pt x="71507" y="0"/>
                </a:lnTo>
                <a:lnTo>
                  <a:pt x="1733695" y="0"/>
                </a:lnTo>
                <a:lnTo>
                  <a:pt x="1773367" y="12014"/>
                </a:lnTo>
                <a:lnTo>
                  <a:pt x="1799759" y="44142"/>
                </a:lnTo>
                <a:lnTo>
                  <a:pt x="1805202" y="71507"/>
                </a:lnTo>
                <a:lnTo>
                  <a:pt x="1805202" y="357530"/>
                </a:lnTo>
                <a:lnTo>
                  <a:pt x="1799583" y="385365"/>
                </a:lnTo>
                <a:lnTo>
                  <a:pt x="1784258" y="408094"/>
                </a:lnTo>
                <a:lnTo>
                  <a:pt x="1761529" y="423419"/>
                </a:lnTo>
                <a:lnTo>
                  <a:pt x="1733695" y="429038"/>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4" name="object 24"/>
          <p:cNvSpPr txBox="1"/>
          <p:nvPr/>
        </p:nvSpPr>
        <p:spPr>
          <a:xfrm>
            <a:off x="365254" y="3590084"/>
            <a:ext cx="125158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Tractable</a:t>
            </a:r>
            <a:r>
              <a:rPr sz="1100" spc="-7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25" name="object 25"/>
          <p:cNvSpPr/>
          <p:nvPr/>
        </p:nvSpPr>
        <p:spPr>
          <a:xfrm>
            <a:off x="2408745" y="3475665"/>
            <a:ext cx="1921510" cy="449580"/>
          </a:xfrm>
          <a:custGeom>
            <a:avLst/>
            <a:gdLst/>
            <a:ahLst/>
            <a:cxnLst/>
            <a:rect l="l" t="t" r="r" b="b"/>
            <a:pathLst>
              <a:path w="1921510" h="449580">
                <a:moveTo>
                  <a:pt x="1846537" y="449053"/>
                </a:moveTo>
                <a:lnTo>
                  <a:pt x="74843" y="449053"/>
                </a:lnTo>
                <a:lnTo>
                  <a:pt x="45711" y="443172"/>
                </a:lnTo>
                <a:lnTo>
                  <a:pt x="21921" y="427132"/>
                </a:lnTo>
                <a:lnTo>
                  <a:pt x="5881" y="403342"/>
                </a:lnTo>
                <a:lnTo>
                  <a:pt x="0" y="374210"/>
                </a:lnTo>
                <a:lnTo>
                  <a:pt x="0" y="74843"/>
                </a:lnTo>
                <a:lnTo>
                  <a:pt x="5881" y="45711"/>
                </a:lnTo>
                <a:lnTo>
                  <a:pt x="21921" y="21921"/>
                </a:lnTo>
                <a:lnTo>
                  <a:pt x="45711" y="5881"/>
                </a:lnTo>
                <a:lnTo>
                  <a:pt x="74843" y="0"/>
                </a:lnTo>
                <a:lnTo>
                  <a:pt x="1846537" y="0"/>
                </a:lnTo>
                <a:lnTo>
                  <a:pt x="1888060" y="12574"/>
                </a:lnTo>
                <a:lnTo>
                  <a:pt x="1915683" y="46202"/>
                </a:lnTo>
                <a:lnTo>
                  <a:pt x="1921380" y="74843"/>
                </a:lnTo>
                <a:lnTo>
                  <a:pt x="1921380" y="374210"/>
                </a:lnTo>
                <a:lnTo>
                  <a:pt x="1915499" y="403342"/>
                </a:lnTo>
                <a:lnTo>
                  <a:pt x="1899459" y="427132"/>
                </a:lnTo>
                <a:lnTo>
                  <a:pt x="1875669" y="443172"/>
                </a:lnTo>
                <a:lnTo>
                  <a:pt x="1846537"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6" name="object 26"/>
          <p:cNvSpPr txBox="1"/>
          <p:nvPr/>
        </p:nvSpPr>
        <p:spPr>
          <a:xfrm>
            <a:off x="2622128" y="3596181"/>
            <a:ext cx="1493520"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Approximate</a:t>
            </a:r>
            <a:r>
              <a:rPr sz="1100" spc="-7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27" name="object 27"/>
          <p:cNvSpPr/>
          <p:nvPr/>
        </p:nvSpPr>
        <p:spPr>
          <a:xfrm>
            <a:off x="6282814" y="3461780"/>
            <a:ext cx="1329055" cy="446405"/>
          </a:xfrm>
          <a:custGeom>
            <a:avLst/>
            <a:gdLst/>
            <a:ahLst/>
            <a:cxnLst/>
            <a:rect l="l" t="t" r="r" b="b"/>
            <a:pathLst>
              <a:path w="1329054" h="446405">
                <a:moveTo>
                  <a:pt x="1254619" y="445982"/>
                </a:moveTo>
                <a:lnTo>
                  <a:pt x="74331" y="445982"/>
                </a:lnTo>
                <a:lnTo>
                  <a:pt x="45398" y="440140"/>
                </a:lnTo>
                <a:lnTo>
                  <a:pt x="21771" y="424210"/>
                </a:lnTo>
                <a:lnTo>
                  <a:pt x="5841" y="400583"/>
                </a:lnTo>
                <a:lnTo>
                  <a:pt x="0" y="371650"/>
                </a:lnTo>
                <a:lnTo>
                  <a:pt x="0" y="74331"/>
                </a:lnTo>
                <a:lnTo>
                  <a:pt x="5841" y="45398"/>
                </a:lnTo>
                <a:lnTo>
                  <a:pt x="21771" y="21771"/>
                </a:lnTo>
                <a:lnTo>
                  <a:pt x="45398" y="5841"/>
                </a:lnTo>
                <a:lnTo>
                  <a:pt x="74331" y="0"/>
                </a:lnTo>
                <a:lnTo>
                  <a:pt x="1254619" y="0"/>
                </a:lnTo>
                <a:lnTo>
                  <a:pt x="1295859" y="12488"/>
                </a:lnTo>
                <a:lnTo>
                  <a:pt x="1323293" y="45886"/>
                </a:lnTo>
                <a:lnTo>
                  <a:pt x="1328951" y="74331"/>
                </a:lnTo>
                <a:lnTo>
                  <a:pt x="1328951" y="371650"/>
                </a:lnTo>
                <a:lnTo>
                  <a:pt x="1323110" y="400583"/>
                </a:lnTo>
                <a:lnTo>
                  <a:pt x="1307180" y="424210"/>
                </a:lnTo>
                <a:lnTo>
                  <a:pt x="1283552" y="440140"/>
                </a:lnTo>
                <a:lnTo>
                  <a:pt x="1254619" y="445982"/>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8" name="object 28"/>
          <p:cNvSpPr txBox="1"/>
          <p:nvPr/>
        </p:nvSpPr>
        <p:spPr>
          <a:xfrm>
            <a:off x="6468754" y="3580758"/>
            <a:ext cx="95567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Markov</a:t>
            </a:r>
            <a:r>
              <a:rPr sz="1100" spc="-75" dirty="0">
                <a:solidFill>
                  <a:srgbClr val="43484C"/>
                </a:solidFill>
                <a:latin typeface="Verdana"/>
                <a:cs typeface="Verdana"/>
              </a:rPr>
              <a:t> </a:t>
            </a:r>
            <a:r>
              <a:rPr sz="1100" spc="-5" dirty="0">
                <a:solidFill>
                  <a:srgbClr val="43484C"/>
                </a:solidFill>
                <a:latin typeface="Verdana"/>
                <a:cs typeface="Verdana"/>
              </a:rPr>
              <a:t>chain</a:t>
            </a:r>
            <a:endParaRPr sz="1100">
              <a:solidFill>
                <a:prstClr val="black"/>
              </a:solidFill>
              <a:latin typeface="Verdana"/>
              <a:cs typeface="Verdana"/>
            </a:endParaRPr>
          </a:p>
        </p:txBody>
      </p:sp>
      <p:sp>
        <p:nvSpPr>
          <p:cNvPr id="29" name="object 29"/>
          <p:cNvSpPr/>
          <p:nvPr/>
        </p:nvSpPr>
        <p:spPr>
          <a:xfrm>
            <a:off x="2199958" y="4070611"/>
            <a:ext cx="1085850" cy="449580"/>
          </a:xfrm>
          <a:custGeom>
            <a:avLst/>
            <a:gdLst/>
            <a:ahLst/>
            <a:cxnLst/>
            <a:rect l="l" t="t" r="r" b="b"/>
            <a:pathLst>
              <a:path w="1085850" h="449579">
                <a:moveTo>
                  <a:pt x="1010636" y="449053"/>
                </a:moveTo>
                <a:lnTo>
                  <a:pt x="74843" y="449053"/>
                </a:lnTo>
                <a:lnTo>
                  <a:pt x="45711" y="443172"/>
                </a:lnTo>
                <a:lnTo>
                  <a:pt x="21921" y="427132"/>
                </a:lnTo>
                <a:lnTo>
                  <a:pt x="5881" y="403342"/>
                </a:lnTo>
                <a:lnTo>
                  <a:pt x="0" y="374209"/>
                </a:lnTo>
                <a:lnTo>
                  <a:pt x="0" y="74843"/>
                </a:lnTo>
                <a:lnTo>
                  <a:pt x="5881" y="45711"/>
                </a:lnTo>
                <a:lnTo>
                  <a:pt x="21921" y="21921"/>
                </a:lnTo>
                <a:lnTo>
                  <a:pt x="45711" y="5881"/>
                </a:lnTo>
                <a:lnTo>
                  <a:pt x="74843" y="0"/>
                </a:lnTo>
                <a:lnTo>
                  <a:pt x="1010636" y="0"/>
                </a:lnTo>
                <a:lnTo>
                  <a:pt x="1052160" y="12574"/>
                </a:lnTo>
                <a:lnTo>
                  <a:pt x="1079783" y="46202"/>
                </a:lnTo>
                <a:lnTo>
                  <a:pt x="1085480" y="74843"/>
                </a:lnTo>
                <a:lnTo>
                  <a:pt x="1085480" y="374209"/>
                </a:lnTo>
                <a:lnTo>
                  <a:pt x="1079599" y="403342"/>
                </a:lnTo>
                <a:lnTo>
                  <a:pt x="1063559" y="427132"/>
                </a:lnTo>
                <a:lnTo>
                  <a:pt x="1039769" y="443172"/>
                </a:lnTo>
                <a:lnTo>
                  <a:pt x="1010636"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30" name="object 30"/>
          <p:cNvSpPr txBox="1"/>
          <p:nvPr/>
        </p:nvSpPr>
        <p:spPr>
          <a:xfrm>
            <a:off x="2355231" y="4191125"/>
            <a:ext cx="774700"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Variational</a:t>
            </a:r>
            <a:endParaRPr sz="1100">
              <a:solidFill>
                <a:prstClr val="black"/>
              </a:solidFill>
              <a:latin typeface="Verdana"/>
              <a:cs typeface="Verdana"/>
            </a:endParaRPr>
          </a:p>
        </p:txBody>
      </p:sp>
      <p:sp>
        <p:nvSpPr>
          <p:cNvPr id="31" name="object 31"/>
          <p:cNvSpPr/>
          <p:nvPr/>
        </p:nvSpPr>
        <p:spPr>
          <a:xfrm>
            <a:off x="3430120" y="4070611"/>
            <a:ext cx="1200785" cy="449580"/>
          </a:xfrm>
          <a:custGeom>
            <a:avLst/>
            <a:gdLst/>
            <a:ahLst/>
            <a:cxnLst/>
            <a:rect l="l" t="t" r="r" b="b"/>
            <a:pathLst>
              <a:path w="1200785" h="449579">
                <a:moveTo>
                  <a:pt x="1125516" y="449053"/>
                </a:moveTo>
                <a:lnTo>
                  <a:pt x="74843" y="449053"/>
                </a:lnTo>
                <a:lnTo>
                  <a:pt x="45711" y="443172"/>
                </a:lnTo>
                <a:lnTo>
                  <a:pt x="21921" y="427132"/>
                </a:lnTo>
                <a:lnTo>
                  <a:pt x="5881" y="403342"/>
                </a:lnTo>
                <a:lnTo>
                  <a:pt x="0" y="374209"/>
                </a:lnTo>
                <a:lnTo>
                  <a:pt x="0" y="74843"/>
                </a:lnTo>
                <a:lnTo>
                  <a:pt x="5881" y="45711"/>
                </a:lnTo>
                <a:lnTo>
                  <a:pt x="21921" y="21921"/>
                </a:lnTo>
                <a:lnTo>
                  <a:pt x="45711" y="5881"/>
                </a:lnTo>
                <a:lnTo>
                  <a:pt x="74843" y="0"/>
                </a:lnTo>
                <a:lnTo>
                  <a:pt x="1125516" y="0"/>
                </a:lnTo>
                <a:lnTo>
                  <a:pt x="1167040" y="12574"/>
                </a:lnTo>
                <a:lnTo>
                  <a:pt x="1194663" y="46202"/>
                </a:lnTo>
                <a:lnTo>
                  <a:pt x="1200360" y="74843"/>
                </a:lnTo>
                <a:lnTo>
                  <a:pt x="1200360" y="374209"/>
                </a:lnTo>
                <a:lnTo>
                  <a:pt x="1194479" y="403342"/>
                </a:lnTo>
                <a:lnTo>
                  <a:pt x="1178439" y="427132"/>
                </a:lnTo>
                <a:lnTo>
                  <a:pt x="1154649" y="443172"/>
                </a:lnTo>
                <a:lnTo>
                  <a:pt x="1125516"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32" name="object 32"/>
          <p:cNvSpPr txBox="1"/>
          <p:nvPr/>
        </p:nvSpPr>
        <p:spPr>
          <a:xfrm>
            <a:off x="3551764" y="4191125"/>
            <a:ext cx="95567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Markov</a:t>
            </a:r>
            <a:r>
              <a:rPr sz="1100" spc="-75" dirty="0">
                <a:solidFill>
                  <a:srgbClr val="43484C"/>
                </a:solidFill>
                <a:latin typeface="Verdana"/>
                <a:cs typeface="Verdana"/>
              </a:rPr>
              <a:t> </a:t>
            </a:r>
            <a:r>
              <a:rPr sz="1100" spc="-5" dirty="0">
                <a:solidFill>
                  <a:srgbClr val="43484C"/>
                </a:solidFill>
                <a:latin typeface="Verdana"/>
                <a:cs typeface="Verdana"/>
              </a:rPr>
              <a:t>chain</a:t>
            </a:r>
            <a:endParaRPr sz="1100">
              <a:solidFill>
                <a:prstClr val="black"/>
              </a:solidFill>
              <a:latin typeface="Verdana"/>
              <a:cs typeface="Verdana"/>
            </a:endParaRPr>
          </a:p>
        </p:txBody>
      </p:sp>
      <p:sp>
        <p:nvSpPr>
          <p:cNvPr id="33" name="object 33"/>
          <p:cNvSpPr txBox="1"/>
          <p:nvPr/>
        </p:nvSpPr>
        <p:spPr>
          <a:xfrm>
            <a:off x="3921162" y="4910070"/>
            <a:ext cx="1265555"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Boltzmann</a:t>
            </a:r>
            <a:r>
              <a:rPr sz="1000" spc="-70" dirty="0">
                <a:solidFill>
                  <a:srgbClr val="43484C"/>
                </a:solidFill>
                <a:latin typeface="Verdana"/>
                <a:cs typeface="Verdana"/>
              </a:rPr>
              <a:t> </a:t>
            </a:r>
            <a:r>
              <a:rPr sz="1000" spc="-5" dirty="0">
                <a:solidFill>
                  <a:srgbClr val="43484C"/>
                </a:solidFill>
                <a:latin typeface="Verdana"/>
                <a:cs typeface="Verdana"/>
              </a:rPr>
              <a:t>Machine</a:t>
            </a:r>
            <a:endParaRPr sz="1000">
              <a:solidFill>
                <a:prstClr val="black"/>
              </a:solidFill>
              <a:latin typeface="Verdana"/>
              <a:cs typeface="Verdana"/>
            </a:endParaRPr>
          </a:p>
        </p:txBody>
      </p:sp>
      <p:grpSp>
        <p:nvGrpSpPr>
          <p:cNvPr id="34" name="object 34"/>
          <p:cNvGrpSpPr/>
          <p:nvPr/>
        </p:nvGrpSpPr>
        <p:grpSpPr>
          <a:xfrm>
            <a:off x="798211" y="3966468"/>
            <a:ext cx="217804" cy="279400"/>
            <a:chOff x="798211" y="3109218"/>
            <a:chExt cx="217804" cy="279400"/>
          </a:xfrm>
        </p:grpSpPr>
        <p:pic>
          <p:nvPicPr>
            <p:cNvPr id="35" name="object 35"/>
            <p:cNvPicPr/>
            <p:nvPr/>
          </p:nvPicPr>
          <p:blipFill>
            <a:blip r:embed="rId2" cstate="print"/>
            <a:stretch>
              <a:fillRect/>
            </a:stretch>
          </p:blipFill>
          <p:spPr>
            <a:xfrm>
              <a:off x="810911" y="3121918"/>
              <a:ext cx="191978" cy="253600"/>
            </a:xfrm>
            <a:prstGeom prst="rect">
              <a:avLst/>
            </a:prstGeom>
          </p:spPr>
        </p:pic>
        <p:sp>
          <p:nvSpPr>
            <p:cNvPr id="36" name="object 36"/>
            <p:cNvSpPr/>
            <p:nvPr/>
          </p:nvSpPr>
          <p:spPr>
            <a:xfrm>
              <a:off x="810911" y="3121918"/>
              <a:ext cx="192405" cy="254000"/>
            </a:xfrm>
            <a:custGeom>
              <a:avLst/>
              <a:gdLst/>
              <a:ahLst/>
              <a:cxnLst/>
              <a:rect l="l" t="t" r="r" b="b"/>
              <a:pathLst>
                <a:path w="192405" h="254000">
                  <a:moveTo>
                    <a:pt x="0" y="157611"/>
                  </a:moveTo>
                  <a:lnTo>
                    <a:pt x="47994" y="157611"/>
                  </a:lnTo>
                  <a:lnTo>
                    <a:pt x="47994" y="0"/>
                  </a:lnTo>
                  <a:lnTo>
                    <a:pt x="143984" y="0"/>
                  </a:lnTo>
                  <a:lnTo>
                    <a:pt x="143984" y="157611"/>
                  </a:lnTo>
                  <a:lnTo>
                    <a:pt x="191978" y="157611"/>
                  </a:lnTo>
                  <a:lnTo>
                    <a:pt x="95989" y="253600"/>
                  </a:lnTo>
                  <a:lnTo>
                    <a:pt x="0" y="157611"/>
                  </a:lnTo>
                  <a:close/>
                </a:path>
              </a:pathLst>
            </a:custGeom>
            <a:ln w="25399">
              <a:solidFill>
                <a:srgbClr val="43484C"/>
              </a:solidFill>
            </a:ln>
          </p:spPr>
          <p:txBody>
            <a:bodyPr wrap="square" lIns="0" tIns="0" rIns="0" bIns="0" rtlCol="0"/>
            <a:lstStyle/>
            <a:p>
              <a:endParaRPr>
                <a:solidFill>
                  <a:prstClr val="black"/>
                </a:solidFill>
                <a:latin typeface="Calibri"/>
              </a:endParaRPr>
            </a:p>
          </p:txBody>
        </p:sp>
      </p:grpSp>
      <p:grpSp>
        <p:nvGrpSpPr>
          <p:cNvPr id="37" name="object 37"/>
          <p:cNvGrpSpPr/>
          <p:nvPr/>
        </p:nvGrpSpPr>
        <p:grpSpPr>
          <a:xfrm>
            <a:off x="1904793" y="4558404"/>
            <a:ext cx="2247900" cy="711835"/>
            <a:chOff x="1904793" y="3701153"/>
            <a:chExt cx="2247900" cy="711835"/>
          </a:xfrm>
        </p:grpSpPr>
        <p:sp>
          <p:nvSpPr>
            <p:cNvPr id="38" name="object 38"/>
            <p:cNvSpPr/>
            <p:nvPr/>
          </p:nvSpPr>
          <p:spPr>
            <a:xfrm>
              <a:off x="2633561" y="3713853"/>
              <a:ext cx="218440" cy="304800"/>
            </a:xfrm>
            <a:custGeom>
              <a:avLst/>
              <a:gdLst/>
              <a:ahLst/>
              <a:cxnLst/>
              <a:rect l="l" t="t" r="r" b="b"/>
              <a:pathLst>
                <a:path w="218439" h="304800">
                  <a:moveTo>
                    <a:pt x="109137" y="304423"/>
                  </a:moveTo>
                  <a:lnTo>
                    <a:pt x="0" y="195285"/>
                  </a:lnTo>
                  <a:lnTo>
                    <a:pt x="54568" y="195285"/>
                  </a:lnTo>
                  <a:lnTo>
                    <a:pt x="54568" y="0"/>
                  </a:lnTo>
                  <a:lnTo>
                    <a:pt x="163706" y="0"/>
                  </a:lnTo>
                  <a:lnTo>
                    <a:pt x="163706" y="195285"/>
                  </a:lnTo>
                  <a:lnTo>
                    <a:pt x="218275" y="195285"/>
                  </a:lnTo>
                  <a:lnTo>
                    <a:pt x="109137" y="304423"/>
                  </a:lnTo>
                  <a:close/>
                </a:path>
              </a:pathLst>
            </a:custGeom>
            <a:solidFill>
              <a:srgbClr val="99A0A5"/>
            </a:solidFill>
          </p:spPr>
          <p:txBody>
            <a:bodyPr wrap="square" lIns="0" tIns="0" rIns="0" bIns="0" rtlCol="0"/>
            <a:lstStyle/>
            <a:p>
              <a:endParaRPr>
                <a:solidFill>
                  <a:prstClr val="black"/>
                </a:solidFill>
                <a:latin typeface="Calibri"/>
              </a:endParaRPr>
            </a:p>
          </p:txBody>
        </p:sp>
        <p:sp>
          <p:nvSpPr>
            <p:cNvPr id="39" name="object 39"/>
            <p:cNvSpPr/>
            <p:nvPr/>
          </p:nvSpPr>
          <p:spPr>
            <a:xfrm>
              <a:off x="2633561" y="3713853"/>
              <a:ext cx="218440" cy="304800"/>
            </a:xfrm>
            <a:custGeom>
              <a:avLst/>
              <a:gdLst/>
              <a:ahLst/>
              <a:cxnLst/>
              <a:rect l="l" t="t" r="r" b="b"/>
              <a:pathLst>
                <a:path w="218439" h="304800">
                  <a:moveTo>
                    <a:pt x="0" y="195285"/>
                  </a:moveTo>
                  <a:lnTo>
                    <a:pt x="54568" y="195285"/>
                  </a:lnTo>
                  <a:lnTo>
                    <a:pt x="54568" y="0"/>
                  </a:lnTo>
                  <a:lnTo>
                    <a:pt x="163706" y="0"/>
                  </a:lnTo>
                  <a:lnTo>
                    <a:pt x="163706" y="195285"/>
                  </a:lnTo>
                  <a:lnTo>
                    <a:pt x="218275" y="195285"/>
                  </a:lnTo>
                  <a:lnTo>
                    <a:pt x="109137" y="304423"/>
                  </a:lnTo>
                  <a:lnTo>
                    <a:pt x="0" y="195285"/>
                  </a:lnTo>
                  <a:close/>
                </a:path>
              </a:pathLst>
            </a:custGeom>
            <a:ln w="25399">
              <a:solidFill>
                <a:srgbClr val="43484C"/>
              </a:solidFill>
            </a:ln>
          </p:spPr>
          <p:txBody>
            <a:bodyPr wrap="square" lIns="0" tIns="0" rIns="0" bIns="0" rtlCol="0"/>
            <a:lstStyle/>
            <a:p>
              <a:endParaRPr>
                <a:solidFill>
                  <a:prstClr val="black"/>
                </a:solidFill>
                <a:latin typeface="Calibri"/>
              </a:endParaRPr>
            </a:p>
          </p:txBody>
        </p:sp>
        <p:sp>
          <p:nvSpPr>
            <p:cNvPr id="40" name="object 40"/>
            <p:cNvSpPr/>
            <p:nvPr/>
          </p:nvSpPr>
          <p:spPr>
            <a:xfrm>
              <a:off x="3921161" y="3713853"/>
              <a:ext cx="218440" cy="304800"/>
            </a:xfrm>
            <a:custGeom>
              <a:avLst/>
              <a:gdLst/>
              <a:ahLst/>
              <a:cxnLst/>
              <a:rect l="l" t="t" r="r" b="b"/>
              <a:pathLst>
                <a:path w="218439" h="304800">
                  <a:moveTo>
                    <a:pt x="109137" y="304423"/>
                  </a:moveTo>
                  <a:lnTo>
                    <a:pt x="0" y="195285"/>
                  </a:lnTo>
                  <a:lnTo>
                    <a:pt x="54568" y="195285"/>
                  </a:lnTo>
                  <a:lnTo>
                    <a:pt x="54568" y="0"/>
                  </a:lnTo>
                  <a:lnTo>
                    <a:pt x="163706" y="0"/>
                  </a:lnTo>
                  <a:lnTo>
                    <a:pt x="163706" y="195285"/>
                  </a:lnTo>
                  <a:lnTo>
                    <a:pt x="218275" y="195285"/>
                  </a:lnTo>
                  <a:lnTo>
                    <a:pt x="109137" y="304423"/>
                  </a:lnTo>
                  <a:close/>
                </a:path>
              </a:pathLst>
            </a:custGeom>
            <a:solidFill>
              <a:srgbClr val="99A0A5"/>
            </a:solidFill>
          </p:spPr>
          <p:txBody>
            <a:bodyPr wrap="square" lIns="0" tIns="0" rIns="0" bIns="0" rtlCol="0"/>
            <a:lstStyle/>
            <a:p>
              <a:endParaRPr>
                <a:solidFill>
                  <a:prstClr val="black"/>
                </a:solidFill>
                <a:latin typeface="Calibri"/>
              </a:endParaRPr>
            </a:p>
          </p:txBody>
        </p:sp>
        <p:sp>
          <p:nvSpPr>
            <p:cNvPr id="41" name="object 41"/>
            <p:cNvSpPr/>
            <p:nvPr/>
          </p:nvSpPr>
          <p:spPr>
            <a:xfrm>
              <a:off x="3921161" y="3713853"/>
              <a:ext cx="218440" cy="304800"/>
            </a:xfrm>
            <a:custGeom>
              <a:avLst/>
              <a:gdLst/>
              <a:ahLst/>
              <a:cxnLst/>
              <a:rect l="l" t="t" r="r" b="b"/>
              <a:pathLst>
                <a:path w="218439" h="304800">
                  <a:moveTo>
                    <a:pt x="0" y="195285"/>
                  </a:moveTo>
                  <a:lnTo>
                    <a:pt x="54568" y="195285"/>
                  </a:lnTo>
                  <a:lnTo>
                    <a:pt x="54568" y="0"/>
                  </a:lnTo>
                  <a:lnTo>
                    <a:pt x="163706" y="0"/>
                  </a:lnTo>
                  <a:lnTo>
                    <a:pt x="163706" y="195285"/>
                  </a:lnTo>
                  <a:lnTo>
                    <a:pt x="218275" y="195285"/>
                  </a:lnTo>
                  <a:lnTo>
                    <a:pt x="109137" y="304423"/>
                  </a:lnTo>
                  <a:lnTo>
                    <a:pt x="0" y="195285"/>
                  </a:lnTo>
                  <a:close/>
                </a:path>
              </a:pathLst>
            </a:custGeom>
            <a:ln w="25399">
              <a:solidFill>
                <a:srgbClr val="43484C"/>
              </a:solidFill>
            </a:ln>
          </p:spPr>
          <p:txBody>
            <a:bodyPr wrap="square" lIns="0" tIns="0" rIns="0" bIns="0" rtlCol="0"/>
            <a:lstStyle/>
            <a:p>
              <a:endParaRPr>
                <a:solidFill>
                  <a:prstClr val="black"/>
                </a:solidFill>
                <a:latin typeface="Calibri"/>
              </a:endParaRPr>
            </a:p>
          </p:txBody>
        </p:sp>
        <p:sp>
          <p:nvSpPr>
            <p:cNvPr id="42" name="object 42"/>
            <p:cNvSpPr/>
            <p:nvPr/>
          </p:nvSpPr>
          <p:spPr>
            <a:xfrm>
              <a:off x="1917493" y="4001773"/>
              <a:ext cx="1723389" cy="398780"/>
            </a:xfrm>
            <a:custGeom>
              <a:avLst/>
              <a:gdLst/>
              <a:ahLst/>
              <a:cxnLst/>
              <a:rect l="l" t="t" r="r" b="b"/>
              <a:pathLst>
                <a:path w="1723389" h="398779">
                  <a:moveTo>
                    <a:pt x="0" y="199248"/>
                  </a:moveTo>
                  <a:lnTo>
                    <a:pt x="3162" y="182056"/>
                  </a:lnTo>
                  <a:lnTo>
                    <a:pt x="12476" y="165270"/>
                  </a:lnTo>
                  <a:lnTo>
                    <a:pt x="48525" y="133156"/>
                  </a:lnTo>
                  <a:lnTo>
                    <a:pt x="106079" y="103384"/>
                  </a:lnTo>
                  <a:lnTo>
                    <a:pt x="142273" y="89526"/>
                  </a:lnTo>
                  <a:lnTo>
                    <a:pt x="183068" y="76433"/>
                  </a:lnTo>
                  <a:lnTo>
                    <a:pt x="228205" y="64164"/>
                  </a:lnTo>
                  <a:lnTo>
                    <a:pt x="277424" y="52780"/>
                  </a:lnTo>
                  <a:lnTo>
                    <a:pt x="330469" y="42341"/>
                  </a:lnTo>
                  <a:lnTo>
                    <a:pt x="387079" y="32906"/>
                  </a:lnTo>
                  <a:lnTo>
                    <a:pt x="446997" y="24534"/>
                  </a:lnTo>
                  <a:lnTo>
                    <a:pt x="509963" y="17287"/>
                  </a:lnTo>
                  <a:lnTo>
                    <a:pt x="575720" y="11223"/>
                  </a:lnTo>
                  <a:lnTo>
                    <a:pt x="644008" y="6402"/>
                  </a:lnTo>
                  <a:lnTo>
                    <a:pt x="714569" y="2885"/>
                  </a:lnTo>
                  <a:lnTo>
                    <a:pt x="787145" y="731"/>
                  </a:lnTo>
                  <a:lnTo>
                    <a:pt x="861476" y="0"/>
                  </a:lnTo>
                  <a:lnTo>
                    <a:pt x="935808" y="731"/>
                  </a:lnTo>
                  <a:lnTo>
                    <a:pt x="1008384" y="2885"/>
                  </a:lnTo>
                  <a:lnTo>
                    <a:pt x="1078945" y="6402"/>
                  </a:lnTo>
                  <a:lnTo>
                    <a:pt x="1147233" y="11223"/>
                  </a:lnTo>
                  <a:lnTo>
                    <a:pt x="1212990" y="17287"/>
                  </a:lnTo>
                  <a:lnTo>
                    <a:pt x="1275956" y="24534"/>
                  </a:lnTo>
                  <a:lnTo>
                    <a:pt x="1335874" y="32906"/>
                  </a:lnTo>
                  <a:lnTo>
                    <a:pt x="1392484" y="42341"/>
                  </a:lnTo>
                  <a:lnTo>
                    <a:pt x="1445529" y="52780"/>
                  </a:lnTo>
                  <a:lnTo>
                    <a:pt x="1494748" y="64164"/>
                  </a:lnTo>
                  <a:lnTo>
                    <a:pt x="1539885" y="76433"/>
                  </a:lnTo>
                  <a:lnTo>
                    <a:pt x="1580680" y="89526"/>
                  </a:lnTo>
                  <a:lnTo>
                    <a:pt x="1616874" y="103384"/>
                  </a:lnTo>
                  <a:lnTo>
                    <a:pt x="1674428" y="133156"/>
                  </a:lnTo>
                  <a:lnTo>
                    <a:pt x="1710477" y="165270"/>
                  </a:lnTo>
                  <a:lnTo>
                    <a:pt x="1722953" y="199248"/>
                  </a:lnTo>
                  <a:lnTo>
                    <a:pt x="1695270" y="249546"/>
                  </a:lnTo>
                  <a:lnTo>
                    <a:pt x="1648210" y="280548"/>
                  </a:lnTo>
                  <a:lnTo>
                    <a:pt x="1580680" y="308970"/>
                  </a:lnTo>
                  <a:lnTo>
                    <a:pt x="1539885" y="322063"/>
                  </a:lnTo>
                  <a:lnTo>
                    <a:pt x="1494748" y="334332"/>
                  </a:lnTo>
                  <a:lnTo>
                    <a:pt x="1445529" y="345716"/>
                  </a:lnTo>
                  <a:lnTo>
                    <a:pt x="1392484" y="356155"/>
                  </a:lnTo>
                  <a:lnTo>
                    <a:pt x="1335874" y="365590"/>
                  </a:lnTo>
                  <a:lnTo>
                    <a:pt x="1275956" y="373962"/>
                  </a:lnTo>
                  <a:lnTo>
                    <a:pt x="1212990" y="381209"/>
                  </a:lnTo>
                  <a:lnTo>
                    <a:pt x="1147233" y="387273"/>
                  </a:lnTo>
                  <a:lnTo>
                    <a:pt x="1078945" y="392094"/>
                  </a:lnTo>
                  <a:lnTo>
                    <a:pt x="1008384" y="395611"/>
                  </a:lnTo>
                  <a:lnTo>
                    <a:pt x="935808" y="397765"/>
                  </a:lnTo>
                  <a:lnTo>
                    <a:pt x="861476" y="398496"/>
                  </a:lnTo>
                  <a:lnTo>
                    <a:pt x="787145" y="397765"/>
                  </a:lnTo>
                  <a:lnTo>
                    <a:pt x="714569" y="395611"/>
                  </a:lnTo>
                  <a:lnTo>
                    <a:pt x="644008" y="392094"/>
                  </a:lnTo>
                  <a:lnTo>
                    <a:pt x="575720" y="387273"/>
                  </a:lnTo>
                  <a:lnTo>
                    <a:pt x="509963" y="381209"/>
                  </a:lnTo>
                  <a:lnTo>
                    <a:pt x="446997" y="373962"/>
                  </a:lnTo>
                  <a:lnTo>
                    <a:pt x="387079" y="365590"/>
                  </a:lnTo>
                  <a:lnTo>
                    <a:pt x="330469" y="356155"/>
                  </a:lnTo>
                  <a:lnTo>
                    <a:pt x="277424" y="345716"/>
                  </a:lnTo>
                  <a:lnTo>
                    <a:pt x="228205" y="334332"/>
                  </a:lnTo>
                  <a:lnTo>
                    <a:pt x="183068" y="322063"/>
                  </a:lnTo>
                  <a:lnTo>
                    <a:pt x="142273" y="308970"/>
                  </a:lnTo>
                  <a:lnTo>
                    <a:pt x="106079" y="295112"/>
                  </a:lnTo>
                  <a:lnTo>
                    <a:pt x="48525" y="265340"/>
                  </a:lnTo>
                  <a:lnTo>
                    <a:pt x="12476" y="233226"/>
                  </a:lnTo>
                  <a:lnTo>
                    <a:pt x="3162" y="216440"/>
                  </a:lnTo>
                  <a:lnTo>
                    <a:pt x="0" y="199248"/>
                  </a:lnTo>
                  <a:close/>
                </a:path>
              </a:pathLst>
            </a:custGeom>
            <a:ln w="25399">
              <a:solidFill>
                <a:srgbClr val="81042A"/>
              </a:solidFill>
            </a:ln>
          </p:spPr>
          <p:txBody>
            <a:bodyPr wrap="square" lIns="0" tIns="0" rIns="0" bIns="0" rtlCol="0"/>
            <a:lstStyle/>
            <a:p>
              <a:endParaRPr>
                <a:solidFill>
                  <a:prstClr val="black"/>
                </a:solidFill>
                <a:latin typeface="Calibri"/>
              </a:endParaRPr>
            </a:p>
          </p:txBody>
        </p:sp>
      </p:grpSp>
      <p:grpSp>
        <p:nvGrpSpPr>
          <p:cNvPr id="43" name="object 43"/>
          <p:cNvGrpSpPr/>
          <p:nvPr/>
        </p:nvGrpSpPr>
        <p:grpSpPr>
          <a:xfrm>
            <a:off x="5123238" y="3966468"/>
            <a:ext cx="217804" cy="279400"/>
            <a:chOff x="5123238" y="3109218"/>
            <a:chExt cx="217804" cy="279400"/>
          </a:xfrm>
        </p:grpSpPr>
        <p:pic>
          <p:nvPicPr>
            <p:cNvPr id="44" name="object 44"/>
            <p:cNvPicPr/>
            <p:nvPr/>
          </p:nvPicPr>
          <p:blipFill>
            <a:blip r:embed="rId2" cstate="print"/>
            <a:stretch>
              <a:fillRect/>
            </a:stretch>
          </p:blipFill>
          <p:spPr>
            <a:xfrm>
              <a:off x="5135938" y="3121918"/>
              <a:ext cx="191978" cy="253600"/>
            </a:xfrm>
            <a:prstGeom prst="rect">
              <a:avLst/>
            </a:prstGeom>
          </p:spPr>
        </p:pic>
        <p:sp>
          <p:nvSpPr>
            <p:cNvPr id="45" name="object 45"/>
            <p:cNvSpPr/>
            <p:nvPr/>
          </p:nvSpPr>
          <p:spPr>
            <a:xfrm>
              <a:off x="5135938" y="3121918"/>
              <a:ext cx="192405" cy="254000"/>
            </a:xfrm>
            <a:custGeom>
              <a:avLst/>
              <a:gdLst/>
              <a:ahLst/>
              <a:cxnLst/>
              <a:rect l="l" t="t" r="r" b="b"/>
              <a:pathLst>
                <a:path w="192404" h="254000">
                  <a:moveTo>
                    <a:pt x="0" y="157611"/>
                  </a:moveTo>
                  <a:lnTo>
                    <a:pt x="47994" y="157611"/>
                  </a:lnTo>
                  <a:lnTo>
                    <a:pt x="47994" y="0"/>
                  </a:lnTo>
                  <a:lnTo>
                    <a:pt x="143984" y="0"/>
                  </a:lnTo>
                  <a:lnTo>
                    <a:pt x="143984" y="157611"/>
                  </a:lnTo>
                  <a:lnTo>
                    <a:pt x="191978" y="157611"/>
                  </a:lnTo>
                  <a:lnTo>
                    <a:pt x="95989" y="253600"/>
                  </a:lnTo>
                  <a:lnTo>
                    <a:pt x="0" y="157611"/>
                  </a:lnTo>
                  <a:close/>
                </a:path>
              </a:pathLst>
            </a:custGeom>
            <a:ln w="25399">
              <a:solidFill>
                <a:srgbClr val="43484C"/>
              </a:solidFill>
            </a:ln>
          </p:spPr>
          <p:txBody>
            <a:bodyPr wrap="square" lIns="0" tIns="0" rIns="0" bIns="0" rtlCol="0"/>
            <a:lstStyle/>
            <a:p>
              <a:endParaRPr>
                <a:solidFill>
                  <a:prstClr val="black"/>
                </a:solidFill>
                <a:latin typeface="Calibri"/>
              </a:endParaRPr>
            </a:p>
          </p:txBody>
        </p:sp>
      </p:grpSp>
      <p:sp>
        <p:nvSpPr>
          <p:cNvPr id="46" name="object 46"/>
          <p:cNvSpPr txBox="1"/>
          <p:nvPr/>
        </p:nvSpPr>
        <p:spPr>
          <a:xfrm>
            <a:off x="5089476" y="4245043"/>
            <a:ext cx="306070"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GAN</a:t>
            </a:r>
            <a:endParaRPr sz="1000">
              <a:solidFill>
                <a:prstClr val="black"/>
              </a:solidFill>
              <a:latin typeface="Verdana"/>
              <a:cs typeface="Verdana"/>
            </a:endParaRPr>
          </a:p>
        </p:txBody>
      </p:sp>
      <p:sp>
        <p:nvSpPr>
          <p:cNvPr id="47" name="object 47"/>
          <p:cNvSpPr txBox="1"/>
          <p:nvPr/>
        </p:nvSpPr>
        <p:spPr>
          <a:xfrm>
            <a:off x="6743816" y="4245043"/>
            <a:ext cx="306070"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GSN</a:t>
            </a:r>
            <a:endParaRPr sz="1000">
              <a:solidFill>
                <a:prstClr val="black"/>
              </a:solidFill>
              <a:latin typeface="Verdana"/>
              <a:cs typeface="Verdana"/>
            </a:endParaRPr>
          </a:p>
        </p:txBody>
      </p:sp>
      <p:grpSp>
        <p:nvGrpSpPr>
          <p:cNvPr id="48" name="object 48"/>
          <p:cNvGrpSpPr/>
          <p:nvPr/>
        </p:nvGrpSpPr>
        <p:grpSpPr>
          <a:xfrm>
            <a:off x="6805242" y="3966467"/>
            <a:ext cx="217804" cy="279400"/>
            <a:chOff x="6805242" y="3109217"/>
            <a:chExt cx="217804" cy="279400"/>
          </a:xfrm>
        </p:grpSpPr>
        <p:pic>
          <p:nvPicPr>
            <p:cNvPr id="49" name="object 49"/>
            <p:cNvPicPr/>
            <p:nvPr/>
          </p:nvPicPr>
          <p:blipFill>
            <a:blip r:embed="rId3" cstate="print"/>
            <a:stretch>
              <a:fillRect/>
            </a:stretch>
          </p:blipFill>
          <p:spPr>
            <a:xfrm>
              <a:off x="6817942" y="3121917"/>
              <a:ext cx="191978" cy="253601"/>
            </a:xfrm>
            <a:prstGeom prst="rect">
              <a:avLst/>
            </a:prstGeom>
          </p:spPr>
        </p:pic>
        <p:sp>
          <p:nvSpPr>
            <p:cNvPr id="50" name="object 50"/>
            <p:cNvSpPr/>
            <p:nvPr/>
          </p:nvSpPr>
          <p:spPr>
            <a:xfrm>
              <a:off x="6817942" y="3121917"/>
              <a:ext cx="192405" cy="254000"/>
            </a:xfrm>
            <a:custGeom>
              <a:avLst/>
              <a:gdLst/>
              <a:ahLst/>
              <a:cxnLst/>
              <a:rect l="l" t="t" r="r" b="b"/>
              <a:pathLst>
                <a:path w="192404" h="254000">
                  <a:moveTo>
                    <a:pt x="0" y="157611"/>
                  </a:moveTo>
                  <a:lnTo>
                    <a:pt x="47994" y="157611"/>
                  </a:lnTo>
                  <a:lnTo>
                    <a:pt x="47994" y="0"/>
                  </a:lnTo>
                  <a:lnTo>
                    <a:pt x="143983" y="0"/>
                  </a:lnTo>
                  <a:lnTo>
                    <a:pt x="143983" y="157611"/>
                  </a:lnTo>
                  <a:lnTo>
                    <a:pt x="191978" y="157611"/>
                  </a:lnTo>
                  <a:lnTo>
                    <a:pt x="95989" y="253601"/>
                  </a:lnTo>
                  <a:lnTo>
                    <a:pt x="0" y="157611"/>
                  </a:lnTo>
                  <a:close/>
                </a:path>
              </a:pathLst>
            </a:custGeom>
            <a:ln w="25399">
              <a:solidFill>
                <a:srgbClr val="43484C"/>
              </a:solidFill>
            </a:ln>
          </p:spPr>
          <p:txBody>
            <a:bodyPr wrap="square" lIns="0" tIns="0" rIns="0" bIns="0" rtlCol="0"/>
            <a:lstStyle/>
            <a:p>
              <a:endParaRPr>
                <a:solidFill>
                  <a:prstClr val="black"/>
                </a:solidFill>
                <a:latin typeface="Calibri"/>
              </a:endParaRPr>
            </a:p>
          </p:txBody>
        </p:sp>
      </p:grpSp>
      <p:pic>
        <p:nvPicPr>
          <p:cNvPr id="53" name="Picture 2" descr="E:\NIET\Project\xLogo11.png.pagespeed.ic.pydHLuCQEZ.png">
            <a:extLst>
              <a:ext uri="{FF2B5EF4-FFF2-40B4-BE49-F238E27FC236}">
                <a16:creationId xmlns:a16="http://schemas.microsoft.com/office/drawing/2014/main" id="{C35A5862-B805-9513-CED1-B0D5A80B0055}"/>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54" name="Title 1">
            <a:extLst>
              <a:ext uri="{FF2B5EF4-FFF2-40B4-BE49-F238E27FC236}">
                <a16:creationId xmlns:a16="http://schemas.microsoft.com/office/drawing/2014/main" id="{4145CFD1-C143-D9E8-7FB2-683368D7A6AD}"/>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Taxonomy of Generative Models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1762125" cy="330200"/>
          </a:xfrm>
          <a:prstGeom prst="rect">
            <a:avLst/>
          </a:prstGeom>
        </p:spPr>
        <p:txBody>
          <a:bodyPr vert="horz" wrap="square" lIns="0" tIns="12700" rIns="0" bIns="0" rtlCol="0">
            <a:spAutoFit/>
          </a:bodyPr>
          <a:lstStyle/>
          <a:p>
            <a:pPr marL="12700">
              <a:spcBef>
                <a:spcPts val="100"/>
              </a:spcBef>
            </a:pPr>
            <a:r>
              <a:rPr spc="-5" dirty="0"/>
              <a:t>Autoencoders</a:t>
            </a:r>
          </a:p>
        </p:txBody>
      </p:sp>
      <p:sp>
        <p:nvSpPr>
          <p:cNvPr id="3" name="object 3"/>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4" name="object 4"/>
          <p:cNvPicPr/>
          <p:nvPr/>
        </p:nvPicPr>
        <p:blipFill>
          <a:blip r:embed="rId2" cstate="print"/>
          <a:stretch>
            <a:fillRect/>
          </a:stretch>
        </p:blipFill>
        <p:spPr>
          <a:xfrm>
            <a:off x="6299378" y="3330201"/>
            <a:ext cx="1712724" cy="2330599"/>
          </a:xfrm>
          <a:prstGeom prst="rect">
            <a:avLst/>
          </a:prstGeom>
        </p:spPr>
      </p:pic>
      <p:pic>
        <p:nvPicPr>
          <p:cNvPr id="7" name="Picture 2" descr="E:\NIET\Project\xLogo11.png.pagespeed.ic.pydHLuCQEZ.png">
            <a:extLst>
              <a:ext uri="{FF2B5EF4-FFF2-40B4-BE49-F238E27FC236}">
                <a16:creationId xmlns:a16="http://schemas.microsoft.com/office/drawing/2014/main" id="{AFE0B677-25CD-2D36-A619-637DF8787C40}"/>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8" name="Title 1">
            <a:extLst>
              <a:ext uri="{FF2B5EF4-FFF2-40B4-BE49-F238E27FC236}">
                <a16:creationId xmlns:a16="http://schemas.microsoft.com/office/drawing/2014/main" id="{98C1DF56-402B-6322-D6CB-82A8EDCCF847}"/>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Autoencoders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object 10"/>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0" y="1254125"/>
            <a:ext cx="1758950" cy="330200"/>
          </a:xfrm>
          <a:prstGeom prst="rect">
            <a:avLst/>
          </a:prstGeom>
        </p:spPr>
        <p:txBody>
          <a:bodyPr vert="horz" wrap="square" lIns="0" tIns="12700" rIns="0" bIns="0" rtlCol="0">
            <a:spAutoFit/>
          </a:bodyPr>
          <a:lstStyle/>
          <a:p>
            <a:pPr marL="12700">
              <a:spcBef>
                <a:spcPts val="100"/>
              </a:spcBef>
            </a:pPr>
            <a:r>
              <a:rPr spc="-5" dirty="0"/>
              <a:t>Autoencoders</a:t>
            </a:r>
          </a:p>
        </p:txBody>
      </p:sp>
      <p:sp>
        <p:nvSpPr>
          <p:cNvPr id="3" name="object 3"/>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grpSp>
        <p:nvGrpSpPr>
          <p:cNvPr id="4" name="object 4"/>
          <p:cNvGrpSpPr/>
          <p:nvPr/>
        </p:nvGrpSpPr>
        <p:grpSpPr>
          <a:xfrm>
            <a:off x="1058550" y="2005755"/>
            <a:ext cx="6177280" cy="3175635"/>
            <a:chOff x="1058550" y="1148504"/>
            <a:chExt cx="6177280" cy="3175635"/>
          </a:xfrm>
        </p:grpSpPr>
        <p:pic>
          <p:nvPicPr>
            <p:cNvPr id="5" name="object 5"/>
            <p:cNvPicPr/>
            <p:nvPr/>
          </p:nvPicPr>
          <p:blipFill>
            <a:blip r:embed="rId2" cstate="print"/>
            <a:stretch>
              <a:fillRect/>
            </a:stretch>
          </p:blipFill>
          <p:spPr>
            <a:xfrm>
              <a:off x="1058550" y="1213622"/>
              <a:ext cx="6176969" cy="3110332"/>
            </a:xfrm>
            <a:prstGeom prst="rect">
              <a:avLst/>
            </a:prstGeom>
          </p:spPr>
        </p:pic>
        <p:sp>
          <p:nvSpPr>
            <p:cNvPr id="6" name="object 6"/>
            <p:cNvSpPr/>
            <p:nvPr/>
          </p:nvSpPr>
          <p:spPr>
            <a:xfrm>
              <a:off x="2097739" y="1161204"/>
              <a:ext cx="4070350" cy="3110865"/>
            </a:xfrm>
            <a:custGeom>
              <a:avLst/>
              <a:gdLst/>
              <a:ahLst/>
              <a:cxnLst/>
              <a:rect l="l" t="t" r="r" b="b"/>
              <a:pathLst>
                <a:path w="4070350" h="3110865">
                  <a:moveTo>
                    <a:pt x="0" y="0"/>
                  </a:moveTo>
                  <a:lnTo>
                    <a:pt x="1763059" y="0"/>
                  </a:lnTo>
                  <a:lnTo>
                    <a:pt x="1763059" y="3110333"/>
                  </a:lnTo>
                  <a:lnTo>
                    <a:pt x="0" y="3110333"/>
                  </a:lnTo>
                  <a:lnTo>
                    <a:pt x="0" y="0"/>
                  </a:lnTo>
                  <a:close/>
                </a:path>
                <a:path w="4070350" h="3110865">
                  <a:moveTo>
                    <a:pt x="2300940" y="0"/>
                  </a:moveTo>
                  <a:lnTo>
                    <a:pt x="4069977" y="0"/>
                  </a:lnTo>
                  <a:lnTo>
                    <a:pt x="4069977" y="3110332"/>
                  </a:lnTo>
                  <a:lnTo>
                    <a:pt x="2300940" y="3110332"/>
                  </a:lnTo>
                  <a:lnTo>
                    <a:pt x="2300940" y="0"/>
                  </a:lnTo>
                  <a:close/>
                </a:path>
              </a:pathLst>
            </a:custGeom>
            <a:ln w="25399">
              <a:solidFill>
                <a:srgbClr val="81042A"/>
              </a:solidFill>
            </a:ln>
          </p:spPr>
          <p:txBody>
            <a:bodyPr wrap="square" lIns="0" tIns="0" rIns="0" bIns="0" rtlCol="0"/>
            <a:lstStyle/>
            <a:p>
              <a:endParaRPr>
                <a:solidFill>
                  <a:prstClr val="black"/>
                </a:solidFill>
                <a:latin typeface="Calibri"/>
              </a:endParaRPr>
            </a:p>
          </p:txBody>
        </p:sp>
      </p:grpSp>
      <p:sp>
        <p:nvSpPr>
          <p:cNvPr id="7" name="object 7"/>
          <p:cNvSpPr txBox="1"/>
          <p:nvPr/>
        </p:nvSpPr>
        <p:spPr>
          <a:xfrm>
            <a:off x="2629643" y="5130103"/>
            <a:ext cx="686435" cy="228268"/>
          </a:xfrm>
          <a:prstGeom prst="rect">
            <a:avLst/>
          </a:prstGeom>
        </p:spPr>
        <p:txBody>
          <a:bodyPr vert="horz" wrap="square" lIns="0" tIns="12700" rIns="0" bIns="0" rtlCol="0">
            <a:spAutoFit/>
          </a:bodyPr>
          <a:lstStyle/>
          <a:p>
            <a:pPr marL="12700">
              <a:spcBef>
                <a:spcPts val="100"/>
              </a:spcBef>
            </a:pPr>
            <a:r>
              <a:rPr sz="1400" spc="-5" dirty="0">
                <a:solidFill>
                  <a:srgbClr val="313131"/>
                </a:solidFill>
                <a:latin typeface="Arial MT"/>
                <a:cs typeface="Arial MT"/>
              </a:rPr>
              <a:t>Encoder</a:t>
            </a:r>
            <a:endParaRPr sz="1400">
              <a:solidFill>
                <a:prstClr val="black"/>
              </a:solidFill>
              <a:latin typeface="Arial MT"/>
              <a:cs typeface="Arial MT"/>
            </a:endParaRPr>
          </a:p>
        </p:txBody>
      </p:sp>
      <p:sp>
        <p:nvSpPr>
          <p:cNvPr id="8" name="object 8"/>
          <p:cNvSpPr txBox="1"/>
          <p:nvPr/>
        </p:nvSpPr>
        <p:spPr>
          <a:xfrm>
            <a:off x="4942915" y="5173823"/>
            <a:ext cx="697865" cy="228268"/>
          </a:xfrm>
          <a:prstGeom prst="rect">
            <a:avLst/>
          </a:prstGeom>
        </p:spPr>
        <p:txBody>
          <a:bodyPr vert="horz" wrap="square" lIns="0" tIns="12700" rIns="0" bIns="0" rtlCol="0">
            <a:spAutoFit/>
          </a:bodyPr>
          <a:lstStyle/>
          <a:p>
            <a:pPr marL="12700">
              <a:spcBef>
                <a:spcPts val="100"/>
              </a:spcBef>
            </a:pPr>
            <a:r>
              <a:rPr sz="1400" spc="-5" dirty="0">
                <a:solidFill>
                  <a:srgbClr val="313131"/>
                </a:solidFill>
                <a:latin typeface="Arial MT"/>
                <a:cs typeface="Arial MT"/>
              </a:rPr>
              <a:t>Decoder</a:t>
            </a:r>
            <a:endParaRPr sz="1400">
              <a:solidFill>
                <a:prstClr val="black"/>
              </a:solidFill>
              <a:latin typeface="Arial MT"/>
              <a:cs typeface="Arial MT"/>
            </a:endParaRPr>
          </a:p>
        </p:txBody>
      </p:sp>
      <p:sp>
        <p:nvSpPr>
          <p:cNvPr id="9" name="object 9"/>
          <p:cNvSpPr txBox="1"/>
          <p:nvPr/>
        </p:nvSpPr>
        <p:spPr>
          <a:xfrm>
            <a:off x="3848441" y="5234940"/>
            <a:ext cx="520065" cy="228268"/>
          </a:xfrm>
          <a:prstGeom prst="rect">
            <a:avLst/>
          </a:prstGeom>
        </p:spPr>
        <p:txBody>
          <a:bodyPr vert="horz" wrap="square" lIns="0" tIns="12700" rIns="0" bIns="0" rtlCol="0">
            <a:spAutoFit/>
          </a:bodyPr>
          <a:lstStyle/>
          <a:p>
            <a:pPr marL="12700">
              <a:spcBef>
                <a:spcPts val="100"/>
              </a:spcBef>
            </a:pPr>
            <a:r>
              <a:rPr sz="1400" spc="-5" dirty="0">
                <a:solidFill>
                  <a:srgbClr val="313131"/>
                </a:solidFill>
                <a:latin typeface="Arial MT"/>
                <a:cs typeface="Arial MT"/>
              </a:rPr>
              <a:t>Latent</a:t>
            </a:r>
            <a:endParaRPr sz="1400">
              <a:solidFill>
                <a:prstClr val="black"/>
              </a:solidFill>
              <a:latin typeface="Arial MT"/>
              <a:cs typeface="Arial MT"/>
            </a:endParaRPr>
          </a:p>
        </p:txBody>
      </p:sp>
      <p:pic>
        <p:nvPicPr>
          <p:cNvPr id="12" name="Picture 2" descr="E:\NIET\Project\xLogo11.png.pagespeed.ic.pydHLuCQEZ.png">
            <a:extLst>
              <a:ext uri="{FF2B5EF4-FFF2-40B4-BE49-F238E27FC236}">
                <a16:creationId xmlns:a16="http://schemas.microsoft.com/office/drawing/2014/main" id="{5809F302-A7D6-FC61-2640-A270A35CF420}"/>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3" name="Title 1">
            <a:extLst>
              <a:ext uri="{FF2B5EF4-FFF2-40B4-BE49-F238E27FC236}">
                <a16:creationId xmlns:a16="http://schemas.microsoft.com/office/drawing/2014/main" id="{BADE12DB-9C4F-4AF3-111B-685BE4D70101}"/>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Autoencoders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0" y="1254125"/>
            <a:ext cx="2889250" cy="330200"/>
          </a:xfrm>
          <a:prstGeom prst="rect">
            <a:avLst/>
          </a:prstGeom>
        </p:spPr>
        <p:txBody>
          <a:bodyPr vert="horz" wrap="square" lIns="0" tIns="12700" rIns="0" bIns="0" rtlCol="0">
            <a:spAutoFit/>
          </a:bodyPr>
          <a:lstStyle/>
          <a:p>
            <a:pPr marL="12700">
              <a:spcBef>
                <a:spcPts val="100"/>
              </a:spcBef>
            </a:pPr>
            <a:r>
              <a:rPr spc="-5" dirty="0"/>
              <a:t>Denoised</a:t>
            </a:r>
            <a:r>
              <a:rPr spc="-85" dirty="0"/>
              <a:t> </a:t>
            </a:r>
            <a:r>
              <a:rPr spc="-5" dirty="0"/>
              <a:t>Autoencoder</a:t>
            </a:r>
          </a:p>
        </p:txBody>
      </p:sp>
      <p:grpSp>
        <p:nvGrpSpPr>
          <p:cNvPr id="3" name="object 3"/>
          <p:cNvGrpSpPr/>
          <p:nvPr/>
        </p:nvGrpSpPr>
        <p:grpSpPr>
          <a:xfrm>
            <a:off x="938495" y="2018450"/>
            <a:ext cx="6227445" cy="3197225"/>
            <a:chOff x="938494" y="1161199"/>
            <a:chExt cx="6227445" cy="3197225"/>
          </a:xfrm>
        </p:grpSpPr>
        <p:pic>
          <p:nvPicPr>
            <p:cNvPr id="4" name="object 4"/>
            <p:cNvPicPr/>
            <p:nvPr/>
          </p:nvPicPr>
          <p:blipFill>
            <a:blip r:embed="rId2" cstate="print"/>
            <a:stretch>
              <a:fillRect/>
            </a:stretch>
          </p:blipFill>
          <p:spPr>
            <a:xfrm>
              <a:off x="938494" y="1357309"/>
              <a:ext cx="6227294" cy="3000777"/>
            </a:xfrm>
            <a:prstGeom prst="rect">
              <a:avLst/>
            </a:prstGeom>
          </p:spPr>
        </p:pic>
        <p:pic>
          <p:nvPicPr>
            <p:cNvPr id="5" name="object 5"/>
            <p:cNvPicPr/>
            <p:nvPr/>
          </p:nvPicPr>
          <p:blipFill>
            <a:blip r:embed="rId3" cstate="print"/>
            <a:stretch>
              <a:fillRect/>
            </a:stretch>
          </p:blipFill>
          <p:spPr>
            <a:xfrm>
              <a:off x="1239550" y="1161199"/>
              <a:ext cx="854875" cy="776524"/>
            </a:xfrm>
            <a:prstGeom prst="rect">
              <a:avLst/>
            </a:prstGeom>
          </p:spPr>
        </p:pic>
        <p:sp>
          <p:nvSpPr>
            <p:cNvPr id="6" name="object 6"/>
            <p:cNvSpPr/>
            <p:nvPr/>
          </p:nvSpPr>
          <p:spPr>
            <a:xfrm>
              <a:off x="2094426" y="1549462"/>
              <a:ext cx="4267200" cy="495300"/>
            </a:xfrm>
            <a:custGeom>
              <a:avLst/>
              <a:gdLst/>
              <a:ahLst/>
              <a:cxnLst/>
              <a:rect l="l" t="t" r="r" b="b"/>
              <a:pathLst>
                <a:path w="4267200" h="495300">
                  <a:moveTo>
                    <a:pt x="0" y="0"/>
                  </a:moveTo>
                  <a:lnTo>
                    <a:pt x="4224527" y="0"/>
                  </a:lnTo>
                  <a:lnTo>
                    <a:pt x="4224527" y="494999"/>
                  </a:lnTo>
                  <a:lnTo>
                    <a:pt x="4267200" y="494999"/>
                  </a:lnTo>
                </a:path>
              </a:pathLst>
            </a:custGeom>
            <a:ln w="9524">
              <a:solidFill>
                <a:srgbClr val="B10639"/>
              </a:solidFill>
              <a:prstDash val="lgDash"/>
            </a:ln>
          </p:spPr>
          <p:txBody>
            <a:bodyPr wrap="square" lIns="0" tIns="0" rIns="0" bIns="0" rtlCol="0"/>
            <a:lstStyle/>
            <a:p>
              <a:endParaRPr>
                <a:solidFill>
                  <a:prstClr val="black"/>
                </a:solidFill>
                <a:latin typeface="Calibri"/>
              </a:endParaRPr>
            </a:p>
          </p:txBody>
        </p:sp>
      </p:grpSp>
      <p:sp>
        <p:nvSpPr>
          <p:cNvPr id="7" name="object 7"/>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10" name="Picture 2" descr="E:\NIET\Project\xLogo11.png.pagespeed.ic.pydHLuCQEZ.png">
            <a:extLst>
              <a:ext uri="{FF2B5EF4-FFF2-40B4-BE49-F238E27FC236}">
                <a16:creationId xmlns:a16="http://schemas.microsoft.com/office/drawing/2014/main" id="{25CC6AF6-EBB2-C3D5-A758-C83AB13DA86A}"/>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11" name="Title 1">
            <a:extLst>
              <a:ext uri="{FF2B5EF4-FFF2-40B4-BE49-F238E27FC236}">
                <a16:creationId xmlns:a16="http://schemas.microsoft.com/office/drawing/2014/main" id="{EFDD74ED-22D7-C607-8DC1-DF644A442FD2}"/>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Denoised Autoencoder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3114675" cy="330200"/>
          </a:xfrm>
          <a:prstGeom prst="rect">
            <a:avLst/>
          </a:prstGeom>
        </p:spPr>
        <p:txBody>
          <a:bodyPr vert="horz" wrap="square" lIns="0" tIns="12700" rIns="0" bIns="0" rtlCol="0">
            <a:spAutoFit/>
          </a:bodyPr>
          <a:lstStyle/>
          <a:p>
            <a:pPr marL="12700">
              <a:spcBef>
                <a:spcPts val="100"/>
              </a:spcBef>
            </a:pPr>
            <a:r>
              <a:rPr spc="-5" dirty="0"/>
              <a:t>Autoencoder</a:t>
            </a:r>
            <a:r>
              <a:rPr spc="-85" dirty="0"/>
              <a:t> </a:t>
            </a:r>
            <a:r>
              <a:rPr spc="-5" dirty="0"/>
              <a:t>Application</a:t>
            </a:r>
          </a:p>
        </p:txBody>
      </p:sp>
      <p:grpSp>
        <p:nvGrpSpPr>
          <p:cNvPr id="3" name="object 3"/>
          <p:cNvGrpSpPr/>
          <p:nvPr/>
        </p:nvGrpSpPr>
        <p:grpSpPr>
          <a:xfrm>
            <a:off x="159282" y="3695950"/>
            <a:ext cx="6776720" cy="2218690"/>
            <a:chOff x="159282" y="2838700"/>
            <a:chExt cx="6776720" cy="2218690"/>
          </a:xfrm>
        </p:grpSpPr>
        <p:sp>
          <p:nvSpPr>
            <p:cNvPr id="4" name="object 4"/>
            <p:cNvSpPr/>
            <p:nvPr/>
          </p:nvSpPr>
          <p:spPr>
            <a:xfrm>
              <a:off x="159282" y="4889102"/>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5" name="object 5"/>
            <p:cNvPicPr/>
            <p:nvPr/>
          </p:nvPicPr>
          <p:blipFill>
            <a:blip r:embed="rId2" cstate="print"/>
            <a:stretch>
              <a:fillRect/>
            </a:stretch>
          </p:blipFill>
          <p:spPr>
            <a:xfrm>
              <a:off x="1959076" y="2838700"/>
              <a:ext cx="534299" cy="2122624"/>
            </a:xfrm>
            <a:prstGeom prst="rect">
              <a:avLst/>
            </a:prstGeom>
          </p:spPr>
        </p:pic>
        <p:pic>
          <p:nvPicPr>
            <p:cNvPr id="6" name="object 6"/>
            <p:cNvPicPr/>
            <p:nvPr/>
          </p:nvPicPr>
          <p:blipFill>
            <a:blip r:embed="rId3" cstate="print"/>
            <a:stretch>
              <a:fillRect/>
            </a:stretch>
          </p:blipFill>
          <p:spPr>
            <a:xfrm>
              <a:off x="2836480" y="3124767"/>
              <a:ext cx="4099092" cy="1306538"/>
            </a:xfrm>
            <a:prstGeom prst="rect">
              <a:avLst/>
            </a:prstGeom>
          </p:spPr>
        </p:pic>
      </p:grpSp>
      <p:pic>
        <p:nvPicPr>
          <p:cNvPr id="7" name="object 7"/>
          <p:cNvPicPr/>
          <p:nvPr/>
        </p:nvPicPr>
        <p:blipFill>
          <a:blip r:embed="rId4" cstate="print"/>
          <a:stretch>
            <a:fillRect/>
          </a:stretch>
        </p:blipFill>
        <p:spPr>
          <a:xfrm>
            <a:off x="2359813" y="2102598"/>
            <a:ext cx="4797425" cy="1279146"/>
          </a:xfrm>
          <a:prstGeom prst="rect">
            <a:avLst/>
          </a:prstGeom>
        </p:spPr>
      </p:pic>
      <p:pic>
        <p:nvPicPr>
          <p:cNvPr id="8" name="object 8"/>
          <p:cNvPicPr/>
          <p:nvPr/>
        </p:nvPicPr>
        <p:blipFill>
          <a:blip r:embed="rId5" cstate="print"/>
          <a:stretch>
            <a:fillRect/>
          </a:stretch>
        </p:blipFill>
        <p:spPr>
          <a:xfrm>
            <a:off x="7157230" y="3529912"/>
            <a:ext cx="534299" cy="2122624"/>
          </a:xfrm>
          <a:prstGeom prst="rect">
            <a:avLst/>
          </a:prstGeom>
        </p:spPr>
      </p:pic>
      <p:sp>
        <p:nvSpPr>
          <p:cNvPr id="9" name="object 9"/>
          <p:cNvSpPr txBox="1"/>
          <p:nvPr/>
        </p:nvSpPr>
        <p:spPr>
          <a:xfrm>
            <a:off x="467550" y="4536279"/>
            <a:ext cx="1188720"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Neural</a:t>
            </a:r>
            <a:r>
              <a:rPr sz="1050" spc="-75" dirty="0">
                <a:solidFill>
                  <a:srgbClr val="313131"/>
                </a:solidFill>
                <a:latin typeface="Verdana"/>
                <a:cs typeface="Verdana"/>
              </a:rPr>
              <a:t> </a:t>
            </a:r>
            <a:r>
              <a:rPr sz="1050" spc="-5" dirty="0">
                <a:solidFill>
                  <a:srgbClr val="313131"/>
                </a:solidFill>
                <a:latin typeface="Verdana"/>
                <a:cs typeface="Verdana"/>
              </a:rPr>
              <a:t>Inpainting</a:t>
            </a:r>
            <a:endParaRPr sz="1050">
              <a:solidFill>
                <a:prstClr val="black"/>
              </a:solidFill>
              <a:latin typeface="Verdana"/>
              <a:cs typeface="Verdana"/>
            </a:endParaRPr>
          </a:p>
        </p:txBody>
      </p:sp>
      <p:sp>
        <p:nvSpPr>
          <p:cNvPr id="10" name="object 10"/>
          <p:cNvSpPr txBox="1"/>
          <p:nvPr/>
        </p:nvSpPr>
        <p:spPr>
          <a:xfrm>
            <a:off x="373926" y="2614679"/>
            <a:ext cx="1628139"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Semantic</a:t>
            </a:r>
            <a:r>
              <a:rPr sz="1050" spc="-70" dirty="0">
                <a:solidFill>
                  <a:srgbClr val="313131"/>
                </a:solidFill>
                <a:latin typeface="Verdana"/>
                <a:cs typeface="Verdana"/>
              </a:rPr>
              <a:t> </a:t>
            </a:r>
            <a:r>
              <a:rPr sz="1050" spc="-5" dirty="0">
                <a:solidFill>
                  <a:srgbClr val="313131"/>
                </a:solidFill>
                <a:latin typeface="Verdana"/>
                <a:cs typeface="Verdana"/>
              </a:rPr>
              <a:t>Segmentation</a:t>
            </a:r>
            <a:endParaRPr sz="1050">
              <a:solidFill>
                <a:prstClr val="black"/>
              </a:solidFill>
              <a:latin typeface="Verdana"/>
              <a:cs typeface="Verdana"/>
            </a:endParaRPr>
          </a:p>
        </p:txBody>
      </p:sp>
      <p:pic>
        <p:nvPicPr>
          <p:cNvPr id="13" name="Picture 2" descr="E:\NIET\Project\xLogo11.png.pagespeed.ic.pydHLuCQEZ.png">
            <a:extLst>
              <a:ext uri="{FF2B5EF4-FFF2-40B4-BE49-F238E27FC236}">
                <a16:creationId xmlns:a16="http://schemas.microsoft.com/office/drawing/2014/main" id="{7A3AECD9-3C1A-16CC-E73C-B96DA8CDB5C3}"/>
              </a:ext>
            </a:extLst>
          </p:cNvPr>
          <p:cNvPicPr>
            <a:picLocks noChangeAspect="1" noChangeArrowheads="1"/>
          </p:cNvPicPr>
          <p:nvPr/>
        </p:nvPicPr>
        <p:blipFill>
          <a:blip r:embed="rId6"/>
          <a:srcRect/>
          <a:stretch>
            <a:fillRect/>
          </a:stretch>
        </p:blipFill>
        <p:spPr bwMode="auto">
          <a:xfrm>
            <a:off x="0" y="0"/>
            <a:ext cx="1447800" cy="817163"/>
          </a:xfrm>
          <a:prstGeom prst="rect">
            <a:avLst/>
          </a:prstGeom>
          <a:noFill/>
        </p:spPr>
      </p:pic>
      <p:sp>
        <p:nvSpPr>
          <p:cNvPr id="14" name="Title 1">
            <a:extLst>
              <a:ext uri="{FF2B5EF4-FFF2-40B4-BE49-F238E27FC236}">
                <a16:creationId xmlns:a16="http://schemas.microsoft.com/office/drawing/2014/main" id="{0F2F3E3A-68E8-E9BC-740C-BE38DD76381F}"/>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Autoencoder Application</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object 13"/>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4037013" cy="330200"/>
          </a:xfrm>
          <a:prstGeom prst="rect">
            <a:avLst/>
          </a:prstGeom>
        </p:spPr>
        <p:txBody>
          <a:bodyPr vert="horz" wrap="square" lIns="0" tIns="12700" rIns="0" bIns="0" rtlCol="0">
            <a:spAutoFit/>
          </a:bodyPr>
          <a:lstStyle/>
          <a:p>
            <a:pPr marL="12700">
              <a:spcBef>
                <a:spcPts val="100"/>
              </a:spcBef>
            </a:pPr>
            <a:r>
              <a:rPr spc="-5" dirty="0"/>
              <a:t>Variational</a:t>
            </a:r>
            <a:r>
              <a:rPr spc="-45" dirty="0"/>
              <a:t> </a:t>
            </a:r>
            <a:r>
              <a:rPr spc="-5" dirty="0"/>
              <a:t>Autoencoders</a:t>
            </a:r>
            <a:r>
              <a:rPr spc="-45" dirty="0"/>
              <a:t> </a:t>
            </a:r>
            <a:r>
              <a:rPr spc="-5" dirty="0"/>
              <a:t>(VAE)</a:t>
            </a:r>
          </a:p>
        </p:txBody>
      </p:sp>
      <p:sp>
        <p:nvSpPr>
          <p:cNvPr id="3" name="object 3"/>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4" name="object 4"/>
          <p:cNvPicPr/>
          <p:nvPr/>
        </p:nvPicPr>
        <p:blipFill>
          <a:blip r:embed="rId2" cstate="print"/>
          <a:stretch>
            <a:fillRect/>
          </a:stretch>
        </p:blipFill>
        <p:spPr>
          <a:xfrm>
            <a:off x="1446335" y="2194086"/>
            <a:ext cx="5244008" cy="1962682"/>
          </a:xfrm>
          <a:prstGeom prst="rect">
            <a:avLst/>
          </a:prstGeom>
        </p:spPr>
      </p:pic>
      <p:grpSp>
        <p:nvGrpSpPr>
          <p:cNvPr id="5" name="object 5"/>
          <p:cNvGrpSpPr/>
          <p:nvPr/>
        </p:nvGrpSpPr>
        <p:grpSpPr>
          <a:xfrm>
            <a:off x="3487573" y="5035209"/>
            <a:ext cx="53340" cy="41275"/>
            <a:chOff x="3487573" y="4177958"/>
            <a:chExt cx="53340" cy="41275"/>
          </a:xfrm>
        </p:grpSpPr>
        <p:sp>
          <p:nvSpPr>
            <p:cNvPr id="6" name="object 6"/>
            <p:cNvSpPr/>
            <p:nvPr/>
          </p:nvSpPr>
          <p:spPr>
            <a:xfrm>
              <a:off x="3492335" y="4182721"/>
              <a:ext cx="43815" cy="31750"/>
            </a:xfrm>
            <a:custGeom>
              <a:avLst/>
              <a:gdLst/>
              <a:ahLst/>
              <a:cxnLst/>
              <a:rect l="l" t="t" r="r" b="b"/>
              <a:pathLst>
                <a:path w="43814" h="31750">
                  <a:moveTo>
                    <a:pt x="43225" y="31465"/>
                  </a:moveTo>
                  <a:lnTo>
                    <a:pt x="0" y="15732"/>
                  </a:lnTo>
                  <a:lnTo>
                    <a:pt x="43225" y="0"/>
                  </a:lnTo>
                  <a:lnTo>
                    <a:pt x="43225" y="31465"/>
                  </a:lnTo>
                  <a:close/>
                </a:path>
              </a:pathLst>
            </a:custGeom>
            <a:solidFill>
              <a:srgbClr val="B00036"/>
            </a:solidFill>
          </p:spPr>
          <p:txBody>
            <a:bodyPr wrap="square" lIns="0" tIns="0" rIns="0" bIns="0" rtlCol="0"/>
            <a:lstStyle/>
            <a:p>
              <a:endParaRPr>
                <a:solidFill>
                  <a:prstClr val="black"/>
                </a:solidFill>
                <a:latin typeface="Calibri"/>
              </a:endParaRPr>
            </a:p>
          </p:txBody>
        </p:sp>
        <p:sp>
          <p:nvSpPr>
            <p:cNvPr id="7" name="object 7"/>
            <p:cNvSpPr/>
            <p:nvPr/>
          </p:nvSpPr>
          <p:spPr>
            <a:xfrm>
              <a:off x="3492335" y="4182721"/>
              <a:ext cx="43815" cy="31750"/>
            </a:xfrm>
            <a:custGeom>
              <a:avLst/>
              <a:gdLst/>
              <a:ahLst/>
              <a:cxnLst/>
              <a:rect l="l" t="t" r="r" b="b"/>
              <a:pathLst>
                <a:path w="43814" h="31750">
                  <a:moveTo>
                    <a:pt x="43225" y="0"/>
                  </a:moveTo>
                  <a:lnTo>
                    <a:pt x="0" y="15732"/>
                  </a:lnTo>
                  <a:lnTo>
                    <a:pt x="43225" y="31465"/>
                  </a:lnTo>
                  <a:lnTo>
                    <a:pt x="43225" y="0"/>
                  </a:lnTo>
                  <a:close/>
                </a:path>
              </a:pathLst>
            </a:custGeom>
            <a:ln w="9524">
              <a:solidFill>
                <a:srgbClr val="B00036"/>
              </a:solidFill>
            </a:ln>
          </p:spPr>
          <p:txBody>
            <a:bodyPr wrap="square" lIns="0" tIns="0" rIns="0" bIns="0" rtlCol="0"/>
            <a:lstStyle/>
            <a:p>
              <a:endParaRPr>
                <a:solidFill>
                  <a:prstClr val="black"/>
                </a:solidFill>
                <a:latin typeface="Calibri"/>
              </a:endParaRPr>
            </a:p>
          </p:txBody>
        </p:sp>
      </p:grpSp>
      <p:grpSp>
        <p:nvGrpSpPr>
          <p:cNvPr id="8" name="object 8"/>
          <p:cNvGrpSpPr/>
          <p:nvPr/>
        </p:nvGrpSpPr>
        <p:grpSpPr>
          <a:xfrm>
            <a:off x="3917781" y="5492444"/>
            <a:ext cx="53340" cy="41275"/>
            <a:chOff x="3917781" y="4635193"/>
            <a:chExt cx="53340" cy="41275"/>
          </a:xfrm>
        </p:grpSpPr>
        <p:sp>
          <p:nvSpPr>
            <p:cNvPr id="9" name="object 9"/>
            <p:cNvSpPr/>
            <p:nvPr/>
          </p:nvSpPr>
          <p:spPr>
            <a:xfrm>
              <a:off x="3922544" y="4639956"/>
              <a:ext cx="43815" cy="31750"/>
            </a:xfrm>
            <a:custGeom>
              <a:avLst/>
              <a:gdLst/>
              <a:ahLst/>
              <a:cxnLst/>
              <a:rect l="l" t="t" r="r" b="b"/>
              <a:pathLst>
                <a:path w="43814" h="31750">
                  <a:moveTo>
                    <a:pt x="43225" y="31465"/>
                  </a:moveTo>
                  <a:lnTo>
                    <a:pt x="0" y="15732"/>
                  </a:lnTo>
                  <a:lnTo>
                    <a:pt x="43225" y="0"/>
                  </a:lnTo>
                  <a:lnTo>
                    <a:pt x="43225" y="31465"/>
                  </a:lnTo>
                  <a:close/>
                </a:path>
              </a:pathLst>
            </a:custGeom>
            <a:solidFill>
              <a:srgbClr val="B00036"/>
            </a:solidFill>
          </p:spPr>
          <p:txBody>
            <a:bodyPr wrap="square" lIns="0" tIns="0" rIns="0" bIns="0" rtlCol="0"/>
            <a:lstStyle/>
            <a:p>
              <a:endParaRPr>
                <a:solidFill>
                  <a:prstClr val="black"/>
                </a:solidFill>
                <a:latin typeface="Calibri"/>
              </a:endParaRPr>
            </a:p>
          </p:txBody>
        </p:sp>
        <p:sp>
          <p:nvSpPr>
            <p:cNvPr id="10" name="object 10"/>
            <p:cNvSpPr/>
            <p:nvPr/>
          </p:nvSpPr>
          <p:spPr>
            <a:xfrm>
              <a:off x="3922544" y="4639956"/>
              <a:ext cx="43815" cy="31750"/>
            </a:xfrm>
            <a:custGeom>
              <a:avLst/>
              <a:gdLst/>
              <a:ahLst/>
              <a:cxnLst/>
              <a:rect l="l" t="t" r="r" b="b"/>
              <a:pathLst>
                <a:path w="43814" h="31750">
                  <a:moveTo>
                    <a:pt x="43225" y="0"/>
                  </a:moveTo>
                  <a:lnTo>
                    <a:pt x="0" y="15732"/>
                  </a:lnTo>
                  <a:lnTo>
                    <a:pt x="43225" y="31465"/>
                  </a:lnTo>
                  <a:lnTo>
                    <a:pt x="43225" y="0"/>
                  </a:lnTo>
                  <a:close/>
                </a:path>
              </a:pathLst>
            </a:custGeom>
            <a:ln w="9524">
              <a:solidFill>
                <a:srgbClr val="B00036"/>
              </a:solidFill>
            </a:ln>
          </p:spPr>
          <p:txBody>
            <a:bodyPr wrap="square" lIns="0" tIns="0" rIns="0" bIns="0" rtlCol="0"/>
            <a:lstStyle/>
            <a:p>
              <a:endParaRPr>
                <a:solidFill>
                  <a:prstClr val="black"/>
                </a:solidFill>
                <a:latin typeface="Calibri"/>
              </a:endParaRPr>
            </a:p>
          </p:txBody>
        </p:sp>
      </p:grpSp>
      <p:sp>
        <p:nvSpPr>
          <p:cNvPr id="11" name="object 11"/>
          <p:cNvSpPr txBox="1"/>
          <p:nvPr/>
        </p:nvSpPr>
        <p:spPr>
          <a:xfrm>
            <a:off x="1841625" y="4902790"/>
            <a:ext cx="3395979" cy="667385"/>
          </a:xfrm>
          <a:prstGeom prst="rect">
            <a:avLst/>
          </a:prstGeom>
        </p:spPr>
        <p:txBody>
          <a:bodyPr vert="horz" wrap="square" lIns="0" tIns="12700" rIns="0" bIns="0" rtlCol="0">
            <a:spAutoFit/>
          </a:bodyPr>
          <a:lstStyle/>
          <a:p>
            <a:pPr marL="88900">
              <a:spcBef>
                <a:spcPts val="100"/>
              </a:spcBef>
              <a:tabLst>
                <a:tab pos="2108200" algn="l"/>
              </a:tabLst>
            </a:pPr>
            <a:r>
              <a:rPr sz="1200" spc="-5" dirty="0">
                <a:solidFill>
                  <a:prstClr val="black"/>
                </a:solidFill>
                <a:latin typeface="Verdana"/>
                <a:cs typeface="Verdana"/>
              </a:rPr>
              <a:t>Reconstruction</a:t>
            </a:r>
            <a:r>
              <a:rPr sz="1200" spc="-55" dirty="0">
                <a:solidFill>
                  <a:prstClr val="black"/>
                </a:solidFill>
                <a:latin typeface="Verdana"/>
                <a:cs typeface="Verdana"/>
              </a:rPr>
              <a:t> </a:t>
            </a:r>
            <a:r>
              <a:rPr sz="1200" spc="-5" dirty="0">
                <a:solidFill>
                  <a:prstClr val="black"/>
                </a:solidFill>
                <a:latin typeface="Verdana"/>
                <a:cs typeface="Verdana"/>
              </a:rPr>
              <a:t>loss </a:t>
            </a:r>
            <a:r>
              <a:rPr sz="1200" spc="125" dirty="0">
                <a:solidFill>
                  <a:prstClr val="black"/>
                </a:solidFill>
                <a:latin typeface="Verdana"/>
                <a:cs typeface="Verdana"/>
              </a:rPr>
              <a:t> </a:t>
            </a:r>
            <a:r>
              <a:rPr sz="1200" u="sng" dirty="0">
                <a:solidFill>
                  <a:prstClr val="black"/>
                </a:solidFill>
                <a:uFill>
                  <a:solidFill>
                    <a:srgbClr val="B00036"/>
                  </a:solidFill>
                </a:uFill>
                <a:latin typeface="Times New Roman"/>
                <a:cs typeface="Times New Roman"/>
              </a:rPr>
              <a:t> 	</a:t>
            </a:r>
            <a:endParaRPr sz="1200">
              <a:solidFill>
                <a:prstClr val="black"/>
              </a:solidFill>
              <a:latin typeface="Times New Roman"/>
              <a:cs typeface="Times New Roman"/>
            </a:endParaRPr>
          </a:p>
          <a:p>
            <a:pPr>
              <a:spcBef>
                <a:spcPts val="40"/>
              </a:spcBef>
            </a:pPr>
            <a:endParaRPr sz="1850">
              <a:solidFill>
                <a:prstClr val="black"/>
              </a:solidFill>
              <a:latin typeface="Times New Roman"/>
              <a:cs typeface="Times New Roman"/>
            </a:endParaRPr>
          </a:p>
          <a:p>
            <a:pPr marL="12700">
              <a:spcBef>
                <a:spcPts val="5"/>
              </a:spcBef>
              <a:tabLst>
                <a:tab pos="2124075" algn="l"/>
                <a:tab pos="3382645" algn="l"/>
              </a:tabLst>
            </a:pPr>
            <a:r>
              <a:rPr sz="1200" spc="-5" dirty="0">
                <a:solidFill>
                  <a:prstClr val="black"/>
                </a:solidFill>
                <a:latin typeface="Verdana"/>
                <a:cs typeface="Verdana"/>
              </a:rPr>
              <a:t>Stay</a:t>
            </a:r>
            <a:r>
              <a:rPr sz="1200" spc="-30" dirty="0">
                <a:solidFill>
                  <a:prstClr val="black"/>
                </a:solidFill>
                <a:latin typeface="Verdana"/>
                <a:cs typeface="Verdana"/>
              </a:rPr>
              <a:t> </a:t>
            </a:r>
            <a:r>
              <a:rPr sz="1200" spc="-5" dirty="0">
                <a:solidFill>
                  <a:prstClr val="black"/>
                </a:solidFill>
                <a:latin typeface="Verdana"/>
                <a:cs typeface="Verdana"/>
              </a:rPr>
              <a:t>close</a:t>
            </a:r>
            <a:r>
              <a:rPr sz="1200" spc="-25" dirty="0">
                <a:solidFill>
                  <a:prstClr val="black"/>
                </a:solidFill>
                <a:latin typeface="Verdana"/>
                <a:cs typeface="Verdana"/>
              </a:rPr>
              <a:t> </a:t>
            </a:r>
            <a:r>
              <a:rPr sz="1200" spc="-5" dirty="0">
                <a:solidFill>
                  <a:prstClr val="black"/>
                </a:solidFill>
                <a:latin typeface="Verdana"/>
                <a:cs typeface="Verdana"/>
              </a:rPr>
              <a:t>to</a:t>
            </a:r>
            <a:r>
              <a:rPr sz="1200" spc="-25" dirty="0">
                <a:solidFill>
                  <a:prstClr val="black"/>
                </a:solidFill>
                <a:latin typeface="Verdana"/>
                <a:cs typeface="Verdana"/>
              </a:rPr>
              <a:t> </a:t>
            </a:r>
            <a:r>
              <a:rPr sz="1200" spc="-5" dirty="0">
                <a:solidFill>
                  <a:prstClr val="black"/>
                </a:solidFill>
                <a:latin typeface="Verdana"/>
                <a:cs typeface="Verdana"/>
              </a:rPr>
              <a:t>normal(0,1)	</a:t>
            </a:r>
            <a:r>
              <a:rPr sz="1200" u="sng" spc="-5" dirty="0">
                <a:solidFill>
                  <a:prstClr val="black"/>
                </a:solidFill>
                <a:uFill>
                  <a:solidFill>
                    <a:srgbClr val="B00036"/>
                  </a:solidFill>
                </a:uFill>
                <a:latin typeface="Times New Roman"/>
                <a:cs typeface="Times New Roman"/>
              </a:rPr>
              <a:t> 	</a:t>
            </a:r>
            <a:endParaRPr sz="1200">
              <a:solidFill>
                <a:prstClr val="black"/>
              </a:solidFill>
              <a:latin typeface="Times New Roman"/>
              <a:cs typeface="Times New Roman"/>
            </a:endParaRPr>
          </a:p>
        </p:txBody>
      </p:sp>
      <p:pic>
        <p:nvPicPr>
          <p:cNvPr id="12" name="object 12"/>
          <p:cNvPicPr/>
          <p:nvPr/>
        </p:nvPicPr>
        <p:blipFill>
          <a:blip r:embed="rId3" cstate="print"/>
          <a:stretch>
            <a:fillRect/>
          </a:stretch>
        </p:blipFill>
        <p:spPr>
          <a:xfrm>
            <a:off x="2293900" y="4239001"/>
            <a:ext cx="4238750" cy="413199"/>
          </a:xfrm>
          <a:prstGeom prst="rect">
            <a:avLst/>
          </a:prstGeom>
        </p:spPr>
      </p:pic>
      <p:pic>
        <p:nvPicPr>
          <p:cNvPr id="15" name="Picture 2" descr="E:\NIET\Project\xLogo11.png.pagespeed.ic.pydHLuCQEZ.png">
            <a:extLst>
              <a:ext uri="{FF2B5EF4-FFF2-40B4-BE49-F238E27FC236}">
                <a16:creationId xmlns:a16="http://schemas.microsoft.com/office/drawing/2014/main" id="{ED1DE735-A19D-871E-BB54-DC2FF06DC6BC}"/>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16" name="Title 1">
            <a:extLst>
              <a:ext uri="{FF2B5EF4-FFF2-40B4-BE49-F238E27FC236}">
                <a16:creationId xmlns:a16="http://schemas.microsoft.com/office/drawing/2014/main" id="{6EEF0509-2912-11B4-7AD8-7B4B7B61A400}"/>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Variational Autoencoders (VAE)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object 12"/>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4037013" cy="330200"/>
          </a:xfrm>
          <a:prstGeom prst="rect">
            <a:avLst/>
          </a:prstGeom>
        </p:spPr>
        <p:txBody>
          <a:bodyPr vert="horz" wrap="square" lIns="0" tIns="12700" rIns="0" bIns="0" rtlCol="0">
            <a:spAutoFit/>
          </a:bodyPr>
          <a:lstStyle/>
          <a:p>
            <a:pPr marL="12700">
              <a:spcBef>
                <a:spcPts val="100"/>
              </a:spcBef>
            </a:pPr>
            <a:r>
              <a:rPr spc="-5" dirty="0"/>
              <a:t>Variational</a:t>
            </a:r>
            <a:r>
              <a:rPr spc="-45" dirty="0"/>
              <a:t> </a:t>
            </a:r>
            <a:r>
              <a:rPr spc="-5" dirty="0"/>
              <a:t>Autoencoders</a:t>
            </a:r>
            <a:r>
              <a:rPr spc="-45" dirty="0"/>
              <a:t> </a:t>
            </a:r>
            <a:r>
              <a:rPr spc="-5" dirty="0"/>
              <a:t>(VAE)</a:t>
            </a:r>
          </a:p>
        </p:txBody>
      </p:sp>
      <p:sp>
        <p:nvSpPr>
          <p:cNvPr id="3" name="object 3"/>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grpSp>
        <p:nvGrpSpPr>
          <p:cNvPr id="4" name="object 4"/>
          <p:cNvGrpSpPr/>
          <p:nvPr/>
        </p:nvGrpSpPr>
        <p:grpSpPr>
          <a:xfrm>
            <a:off x="1446336" y="2194087"/>
            <a:ext cx="5244465" cy="2187575"/>
            <a:chOff x="1446335" y="1336836"/>
            <a:chExt cx="5244465" cy="2187575"/>
          </a:xfrm>
        </p:grpSpPr>
        <p:pic>
          <p:nvPicPr>
            <p:cNvPr id="5" name="object 5"/>
            <p:cNvPicPr/>
            <p:nvPr/>
          </p:nvPicPr>
          <p:blipFill>
            <a:blip r:embed="rId2" cstate="print"/>
            <a:stretch>
              <a:fillRect/>
            </a:stretch>
          </p:blipFill>
          <p:spPr>
            <a:xfrm>
              <a:off x="1446335" y="1336836"/>
              <a:ext cx="5244008" cy="1962682"/>
            </a:xfrm>
            <a:prstGeom prst="rect">
              <a:avLst/>
            </a:prstGeom>
          </p:spPr>
        </p:pic>
        <p:sp>
          <p:nvSpPr>
            <p:cNvPr id="6" name="object 6"/>
            <p:cNvSpPr/>
            <p:nvPr/>
          </p:nvSpPr>
          <p:spPr>
            <a:xfrm>
              <a:off x="4489745" y="2959970"/>
              <a:ext cx="405130" cy="516255"/>
            </a:xfrm>
            <a:custGeom>
              <a:avLst/>
              <a:gdLst/>
              <a:ahLst/>
              <a:cxnLst/>
              <a:rect l="l" t="t" r="r" b="b"/>
              <a:pathLst>
                <a:path w="405129" h="516254">
                  <a:moveTo>
                    <a:pt x="0" y="0"/>
                  </a:moveTo>
                  <a:lnTo>
                    <a:pt x="0" y="286689"/>
                  </a:lnTo>
                  <a:lnTo>
                    <a:pt x="404999" y="286689"/>
                  </a:lnTo>
                  <a:lnTo>
                    <a:pt x="404999" y="516149"/>
                  </a:lnTo>
                </a:path>
              </a:pathLst>
            </a:custGeom>
            <a:ln w="9524">
              <a:solidFill>
                <a:srgbClr val="B00036"/>
              </a:solidFill>
            </a:ln>
          </p:spPr>
          <p:txBody>
            <a:bodyPr wrap="square" lIns="0" tIns="0" rIns="0" bIns="0" rtlCol="0"/>
            <a:lstStyle/>
            <a:p>
              <a:endParaRPr>
                <a:solidFill>
                  <a:prstClr val="black"/>
                </a:solidFill>
                <a:latin typeface="Calibri"/>
              </a:endParaRPr>
            </a:p>
          </p:txBody>
        </p:sp>
        <p:sp>
          <p:nvSpPr>
            <p:cNvPr id="7" name="object 7"/>
            <p:cNvSpPr/>
            <p:nvPr/>
          </p:nvSpPr>
          <p:spPr>
            <a:xfrm>
              <a:off x="4879011" y="3476119"/>
              <a:ext cx="31750" cy="43815"/>
            </a:xfrm>
            <a:custGeom>
              <a:avLst/>
              <a:gdLst/>
              <a:ahLst/>
              <a:cxnLst/>
              <a:rect l="l" t="t" r="r" b="b"/>
              <a:pathLst>
                <a:path w="31750" h="43814">
                  <a:moveTo>
                    <a:pt x="15732" y="43225"/>
                  </a:moveTo>
                  <a:lnTo>
                    <a:pt x="0" y="0"/>
                  </a:lnTo>
                  <a:lnTo>
                    <a:pt x="31465" y="0"/>
                  </a:lnTo>
                  <a:lnTo>
                    <a:pt x="15732" y="43225"/>
                  </a:lnTo>
                  <a:close/>
                </a:path>
              </a:pathLst>
            </a:custGeom>
            <a:solidFill>
              <a:srgbClr val="B00036"/>
            </a:solidFill>
          </p:spPr>
          <p:txBody>
            <a:bodyPr wrap="square" lIns="0" tIns="0" rIns="0" bIns="0" rtlCol="0"/>
            <a:lstStyle/>
            <a:p>
              <a:endParaRPr>
                <a:solidFill>
                  <a:prstClr val="black"/>
                </a:solidFill>
                <a:latin typeface="Calibri"/>
              </a:endParaRPr>
            </a:p>
          </p:txBody>
        </p:sp>
        <p:sp>
          <p:nvSpPr>
            <p:cNvPr id="8" name="object 8"/>
            <p:cNvSpPr/>
            <p:nvPr/>
          </p:nvSpPr>
          <p:spPr>
            <a:xfrm>
              <a:off x="4879011" y="3476119"/>
              <a:ext cx="31750" cy="43815"/>
            </a:xfrm>
            <a:custGeom>
              <a:avLst/>
              <a:gdLst/>
              <a:ahLst/>
              <a:cxnLst/>
              <a:rect l="l" t="t" r="r" b="b"/>
              <a:pathLst>
                <a:path w="31750" h="43814">
                  <a:moveTo>
                    <a:pt x="0" y="0"/>
                  </a:moveTo>
                  <a:lnTo>
                    <a:pt x="15732" y="43225"/>
                  </a:lnTo>
                  <a:lnTo>
                    <a:pt x="31465" y="0"/>
                  </a:lnTo>
                  <a:lnTo>
                    <a:pt x="0" y="0"/>
                  </a:lnTo>
                  <a:close/>
                </a:path>
              </a:pathLst>
            </a:custGeom>
            <a:ln w="9524">
              <a:solidFill>
                <a:srgbClr val="B00036"/>
              </a:solidFill>
            </a:ln>
          </p:spPr>
          <p:txBody>
            <a:bodyPr wrap="square" lIns="0" tIns="0" rIns="0" bIns="0" rtlCol="0"/>
            <a:lstStyle/>
            <a:p>
              <a:endParaRPr>
                <a:solidFill>
                  <a:prstClr val="black"/>
                </a:solidFill>
                <a:latin typeface="Calibri"/>
              </a:endParaRPr>
            </a:p>
          </p:txBody>
        </p:sp>
        <p:sp>
          <p:nvSpPr>
            <p:cNvPr id="9" name="object 9"/>
            <p:cNvSpPr/>
            <p:nvPr/>
          </p:nvSpPr>
          <p:spPr>
            <a:xfrm>
              <a:off x="4232835" y="1745669"/>
              <a:ext cx="323215" cy="1183005"/>
            </a:xfrm>
            <a:custGeom>
              <a:avLst/>
              <a:gdLst/>
              <a:ahLst/>
              <a:cxnLst/>
              <a:rect l="l" t="t" r="r" b="b"/>
              <a:pathLst>
                <a:path w="323214" h="1183005">
                  <a:moveTo>
                    <a:pt x="322728" y="1182800"/>
                  </a:moveTo>
                  <a:lnTo>
                    <a:pt x="0" y="1182800"/>
                  </a:lnTo>
                  <a:lnTo>
                    <a:pt x="0" y="0"/>
                  </a:lnTo>
                  <a:lnTo>
                    <a:pt x="322728" y="0"/>
                  </a:lnTo>
                  <a:lnTo>
                    <a:pt x="322728" y="1182800"/>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10" name="object 10"/>
            <p:cNvSpPr/>
            <p:nvPr/>
          </p:nvSpPr>
          <p:spPr>
            <a:xfrm>
              <a:off x="4232835" y="1745669"/>
              <a:ext cx="323215" cy="1183005"/>
            </a:xfrm>
            <a:custGeom>
              <a:avLst/>
              <a:gdLst/>
              <a:ahLst/>
              <a:cxnLst/>
              <a:rect l="l" t="t" r="r" b="b"/>
              <a:pathLst>
                <a:path w="323214" h="1183005">
                  <a:moveTo>
                    <a:pt x="0" y="0"/>
                  </a:moveTo>
                  <a:lnTo>
                    <a:pt x="322728" y="0"/>
                  </a:lnTo>
                  <a:lnTo>
                    <a:pt x="322728" y="1182800"/>
                  </a:lnTo>
                  <a:lnTo>
                    <a:pt x="0" y="1182800"/>
                  </a:lnTo>
                  <a:lnTo>
                    <a:pt x="0" y="0"/>
                  </a:lnTo>
                  <a:close/>
                </a:path>
              </a:pathLst>
            </a:custGeom>
            <a:ln w="25399">
              <a:solidFill>
                <a:srgbClr val="81042A"/>
              </a:solidFill>
            </a:ln>
          </p:spPr>
          <p:txBody>
            <a:bodyPr wrap="square" lIns="0" tIns="0" rIns="0" bIns="0" rtlCol="0"/>
            <a:lstStyle/>
            <a:p>
              <a:endParaRPr>
                <a:solidFill>
                  <a:prstClr val="black"/>
                </a:solidFill>
                <a:latin typeface="Calibri"/>
              </a:endParaRPr>
            </a:p>
          </p:txBody>
        </p:sp>
      </p:grpSp>
      <p:sp>
        <p:nvSpPr>
          <p:cNvPr id="11" name="object 11"/>
          <p:cNvSpPr txBox="1"/>
          <p:nvPr/>
        </p:nvSpPr>
        <p:spPr>
          <a:xfrm>
            <a:off x="4489744" y="4456146"/>
            <a:ext cx="1803400" cy="527050"/>
          </a:xfrm>
          <a:prstGeom prst="rect">
            <a:avLst/>
          </a:prstGeom>
        </p:spPr>
        <p:txBody>
          <a:bodyPr vert="horz" wrap="square" lIns="0" tIns="12700" rIns="0" bIns="0" rtlCol="0">
            <a:spAutoFit/>
          </a:bodyPr>
          <a:lstStyle/>
          <a:p>
            <a:pPr marL="127635">
              <a:spcBef>
                <a:spcPts val="100"/>
              </a:spcBef>
            </a:pPr>
            <a:r>
              <a:rPr sz="1200" spc="-5" dirty="0">
                <a:solidFill>
                  <a:prstClr val="black"/>
                </a:solidFill>
                <a:latin typeface="Verdana"/>
                <a:cs typeface="Verdana"/>
              </a:rPr>
              <a:t>Z=µ+σΘε</a:t>
            </a:r>
            <a:endParaRPr sz="1200">
              <a:solidFill>
                <a:prstClr val="black"/>
              </a:solidFill>
              <a:latin typeface="Verdana"/>
              <a:cs typeface="Verdana"/>
            </a:endParaRPr>
          </a:p>
          <a:p>
            <a:pPr marL="12700">
              <a:spcBef>
                <a:spcPts val="1065"/>
              </a:spcBef>
            </a:pPr>
            <a:r>
              <a:rPr sz="1200" spc="-5" dirty="0">
                <a:solidFill>
                  <a:prstClr val="black"/>
                </a:solidFill>
                <a:latin typeface="Verdana"/>
                <a:cs typeface="Verdana"/>
              </a:rPr>
              <a:t>Where</a:t>
            </a:r>
            <a:r>
              <a:rPr sz="1200" spc="-35" dirty="0">
                <a:solidFill>
                  <a:prstClr val="black"/>
                </a:solidFill>
                <a:latin typeface="Verdana"/>
                <a:cs typeface="Verdana"/>
              </a:rPr>
              <a:t> </a:t>
            </a:r>
            <a:r>
              <a:rPr sz="1200" dirty="0">
                <a:solidFill>
                  <a:prstClr val="black"/>
                </a:solidFill>
                <a:latin typeface="Verdana"/>
                <a:cs typeface="Verdana"/>
              </a:rPr>
              <a:t>ε</a:t>
            </a:r>
            <a:r>
              <a:rPr sz="1200" spc="-35" dirty="0">
                <a:solidFill>
                  <a:prstClr val="black"/>
                </a:solidFill>
                <a:latin typeface="Verdana"/>
                <a:cs typeface="Verdana"/>
              </a:rPr>
              <a:t> </a:t>
            </a:r>
            <a:r>
              <a:rPr sz="1200" dirty="0">
                <a:solidFill>
                  <a:prstClr val="black"/>
                </a:solidFill>
                <a:latin typeface="Verdana"/>
                <a:cs typeface="Verdana"/>
              </a:rPr>
              <a:t>~</a:t>
            </a:r>
            <a:r>
              <a:rPr sz="1200" spc="-30" dirty="0">
                <a:solidFill>
                  <a:prstClr val="black"/>
                </a:solidFill>
                <a:latin typeface="Verdana"/>
                <a:cs typeface="Verdana"/>
              </a:rPr>
              <a:t> </a:t>
            </a:r>
            <a:r>
              <a:rPr sz="1200" spc="-5" dirty="0">
                <a:solidFill>
                  <a:prstClr val="black"/>
                </a:solidFill>
                <a:latin typeface="Verdana"/>
                <a:cs typeface="Verdana"/>
              </a:rPr>
              <a:t>normal(0,1)</a:t>
            </a:r>
            <a:endParaRPr sz="1200">
              <a:solidFill>
                <a:prstClr val="black"/>
              </a:solidFill>
              <a:latin typeface="Verdana"/>
              <a:cs typeface="Verdana"/>
            </a:endParaRPr>
          </a:p>
        </p:txBody>
      </p:sp>
      <p:pic>
        <p:nvPicPr>
          <p:cNvPr id="14" name="Picture 2" descr="E:\NIET\Project\xLogo11.png.pagespeed.ic.pydHLuCQEZ.png">
            <a:extLst>
              <a:ext uri="{FF2B5EF4-FFF2-40B4-BE49-F238E27FC236}">
                <a16:creationId xmlns:a16="http://schemas.microsoft.com/office/drawing/2014/main" id="{765DC485-B3B1-7F3A-51A9-1C0CC0462280}"/>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5" name="Title 1">
            <a:extLst>
              <a:ext uri="{FF2B5EF4-FFF2-40B4-BE49-F238E27FC236}">
                <a16:creationId xmlns:a16="http://schemas.microsoft.com/office/drawing/2014/main" id="{D8B3ABEB-53F6-475C-FFFF-51A747DFA236}"/>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Variational Autoencoders (VAE)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60908" y="2231530"/>
            <a:ext cx="7015480" cy="1389380"/>
          </a:xfrm>
          <a:prstGeom prst="rect">
            <a:avLst/>
          </a:prstGeom>
        </p:spPr>
        <p:txBody>
          <a:bodyPr vert="horz" wrap="square" lIns="0" tIns="12700" rIns="0" bIns="0" rtlCol="0">
            <a:spAutoFit/>
          </a:bodyPr>
          <a:lstStyle/>
          <a:p>
            <a:pPr marL="241300" indent="-209550">
              <a:spcBef>
                <a:spcPts val="100"/>
              </a:spcBef>
              <a:buClr>
                <a:srgbClr val="B10639"/>
              </a:buClr>
              <a:buSzPct val="83333"/>
              <a:buFont typeface="Arial MT"/>
              <a:buChar char="•"/>
              <a:tabLst>
                <a:tab pos="240665" algn="l"/>
                <a:tab pos="241300" algn="l"/>
              </a:tabLst>
            </a:pPr>
            <a:r>
              <a:rPr sz="1200" spc="-5" dirty="0">
                <a:solidFill>
                  <a:srgbClr val="313131"/>
                </a:solidFill>
                <a:latin typeface="Verdana"/>
                <a:cs typeface="Verdana"/>
              </a:rPr>
              <a:t>Model:</a:t>
            </a:r>
            <a:r>
              <a:rPr sz="1200" spc="-10" dirty="0">
                <a:solidFill>
                  <a:srgbClr val="313131"/>
                </a:solidFill>
                <a:latin typeface="Verdana"/>
                <a:cs typeface="Verdana"/>
              </a:rPr>
              <a:t> </a:t>
            </a:r>
            <a:r>
              <a:rPr sz="1200" spc="-5" dirty="0">
                <a:solidFill>
                  <a:srgbClr val="313131"/>
                </a:solidFill>
                <a:latin typeface="Verdana"/>
                <a:cs typeface="Verdana"/>
              </a:rPr>
              <a:t>Latent-variable</a:t>
            </a:r>
            <a:r>
              <a:rPr sz="1200" spc="-10" dirty="0">
                <a:solidFill>
                  <a:srgbClr val="313131"/>
                </a:solidFill>
                <a:latin typeface="Verdana"/>
                <a:cs typeface="Verdana"/>
              </a:rPr>
              <a:t> </a:t>
            </a:r>
            <a:r>
              <a:rPr sz="1200" spc="-5" dirty="0">
                <a:solidFill>
                  <a:srgbClr val="313131"/>
                </a:solidFill>
                <a:latin typeface="Verdana"/>
                <a:cs typeface="Verdana"/>
              </a:rPr>
              <a:t>model</a:t>
            </a:r>
            <a:r>
              <a:rPr sz="1200" spc="-15" dirty="0">
                <a:solidFill>
                  <a:srgbClr val="313131"/>
                </a:solidFill>
                <a:latin typeface="Verdana"/>
                <a:cs typeface="Verdana"/>
              </a:rPr>
              <a:t> </a:t>
            </a:r>
            <a:r>
              <a:rPr sz="1200" spc="-5" dirty="0">
                <a:solidFill>
                  <a:srgbClr val="313131"/>
                </a:solidFill>
                <a:latin typeface="Verdana"/>
                <a:cs typeface="Verdana"/>
              </a:rPr>
              <a:t>p(x|z,</a:t>
            </a:r>
            <a:r>
              <a:rPr sz="1200" spc="-10" dirty="0">
                <a:solidFill>
                  <a:srgbClr val="313131"/>
                </a:solidFill>
                <a:latin typeface="Verdana"/>
                <a:cs typeface="Verdana"/>
              </a:rPr>
              <a:t> </a:t>
            </a:r>
            <a:r>
              <a:rPr sz="1200" spc="-5" dirty="0">
                <a:solidFill>
                  <a:srgbClr val="313131"/>
                </a:solidFill>
                <a:latin typeface="Verdana"/>
                <a:cs typeface="Verdana"/>
              </a:rPr>
              <a:t>theta)</a:t>
            </a:r>
            <a:r>
              <a:rPr sz="1200" spc="-10" dirty="0">
                <a:solidFill>
                  <a:srgbClr val="313131"/>
                </a:solidFill>
                <a:latin typeface="Verdana"/>
                <a:cs typeface="Verdana"/>
              </a:rPr>
              <a:t> </a:t>
            </a:r>
            <a:r>
              <a:rPr sz="1200" spc="-5" dirty="0">
                <a:solidFill>
                  <a:srgbClr val="313131"/>
                </a:solidFill>
                <a:latin typeface="Verdana"/>
                <a:cs typeface="Verdana"/>
              </a:rPr>
              <a:t>usually</a:t>
            </a:r>
            <a:r>
              <a:rPr sz="1200" spc="-10" dirty="0">
                <a:solidFill>
                  <a:srgbClr val="313131"/>
                </a:solidFill>
                <a:latin typeface="Verdana"/>
                <a:cs typeface="Verdana"/>
              </a:rPr>
              <a:t> </a:t>
            </a:r>
            <a:r>
              <a:rPr sz="1200" spc="-5" dirty="0">
                <a:solidFill>
                  <a:srgbClr val="313131"/>
                </a:solidFill>
                <a:latin typeface="Verdana"/>
                <a:cs typeface="Verdana"/>
              </a:rPr>
              <a:t>specified</a:t>
            </a:r>
            <a:r>
              <a:rPr sz="1200" spc="-10" dirty="0">
                <a:solidFill>
                  <a:srgbClr val="313131"/>
                </a:solidFill>
                <a:latin typeface="Verdana"/>
                <a:cs typeface="Verdana"/>
              </a:rPr>
              <a:t> </a:t>
            </a:r>
            <a:r>
              <a:rPr sz="1200" spc="-5" dirty="0">
                <a:solidFill>
                  <a:srgbClr val="313131"/>
                </a:solidFill>
                <a:latin typeface="Verdana"/>
                <a:cs typeface="Verdana"/>
              </a:rPr>
              <a:t>by</a:t>
            </a:r>
            <a:r>
              <a:rPr sz="1200" spc="-10" dirty="0">
                <a:solidFill>
                  <a:srgbClr val="313131"/>
                </a:solidFill>
                <a:latin typeface="Verdana"/>
                <a:cs typeface="Verdana"/>
              </a:rPr>
              <a:t> </a:t>
            </a:r>
            <a:r>
              <a:rPr sz="1200" dirty="0">
                <a:solidFill>
                  <a:srgbClr val="313131"/>
                </a:solidFill>
                <a:latin typeface="Verdana"/>
                <a:cs typeface="Verdana"/>
              </a:rPr>
              <a:t>a</a:t>
            </a:r>
            <a:r>
              <a:rPr sz="1200" spc="-10" dirty="0">
                <a:solidFill>
                  <a:srgbClr val="313131"/>
                </a:solidFill>
                <a:latin typeface="Verdana"/>
                <a:cs typeface="Verdana"/>
              </a:rPr>
              <a:t> </a:t>
            </a:r>
            <a:r>
              <a:rPr sz="1200" spc="-5" dirty="0">
                <a:solidFill>
                  <a:srgbClr val="313131"/>
                </a:solidFill>
                <a:latin typeface="Verdana"/>
                <a:cs typeface="Verdana"/>
              </a:rPr>
              <a:t>neural</a:t>
            </a:r>
            <a:r>
              <a:rPr sz="1200" spc="-10" dirty="0">
                <a:solidFill>
                  <a:srgbClr val="313131"/>
                </a:solidFill>
                <a:latin typeface="Verdana"/>
                <a:cs typeface="Verdana"/>
              </a:rPr>
              <a:t> </a:t>
            </a:r>
            <a:r>
              <a:rPr sz="1200" spc="-5" dirty="0">
                <a:solidFill>
                  <a:srgbClr val="313131"/>
                </a:solidFill>
                <a:latin typeface="Verdana"/>
                <a:cs typeface="Verdana"/>
              </a:rPr>
              <a:t>network</a:t>
            </a:r>
            <a:endParaRPr sz="1200">
              <a:solidFill>
                <a:prstClr val="black"/>
              </a:solidFill>
              <a:latin typeface="Verdana"/>
              <a:cs typeface="Verdana"/>
            </a:endParaRPr>
          </a:p>
          <a:p>
            <a:pPr marL="241300" indent="-209550">
              <a:spcBef>
                <a:spcPts val="885"/>
              </a:spcBef>
              <a:buClr>
                <a:srgbClr val="B10639"/>
              </a:buClr>
              <a:buSzPct val="83333"/>
              <a:buFont typeface="Arial MT"/>
              <a:buChar char="•"/>
              <a:tabLst>
                <a:tab pos="240665" algn="l"/>
                <a:tab pos="241300" algn="l"/>
              </a:tabLst>
            </a:pPr>
            <a:r>
              <a:rPr sz="1200" spc="-5" dirty="0">
                <a:solidFill>
                  <a:srgbClr val="313131"/>
                </a:solidFill>
                <a:latin typeface="Verdana"/>
                <a:cs typeface="Verdana"/>
              </a:rPr>
              <a:t>Inference:</a:t>
            </a:r>
            <a:r>
              <a:rPr sz="1200" spc="-10" dirty="0">
                <a:solidFill>
                  <a:srgbClr val="313131"/>
                </a:solidFill>
                <a:latin typeface="Verdana"/>
                <a:cs typeface="Verdana"/>
              </a:rPr>
              <a:t> </a:t>
            </a:r>
            <a:r>
              <a:rPr sz="1200" spc="-5" dirty="0">
                <a:solidFill>
                  <a:srgbClr val="313131"/>
                </a:solidFill>
                <a:latin typeface="Verdana"/>
                <a:cs typeface="Verdana"/>
              </a:rPr>
              <a:t>Recognition</a:t>
            </a:r>
            <a:r>
              <a:rPr sz="1200" spc="-10" dirty="0">
                <a:solidFill>
                  <a:srgbClr val="313131"/>
                </a:solidFill>
                <a:latin typeface="Verdana"/>
                <a:cs typeface="Verdana"/>
              </a:rPr>
              <a:t> </a:t>
            </a:r>
            <a:r>
              <a:rPr sz="1200" spc="-5" dirty="0">
                <a:solidFill>
                  <a:srgbClr val="313131"/>
                </a:solidFill>
                <a:latin typeface="Verdana"/>
                <a:cs typeface="Verdana"/>
              </a:rPr>
              <a:t>network</a:t>
            </a:r>
            <a:r>
              <a:rPr sz="1200" spc="-10" dirty="0">
                <a:solidFill>
                  <a:srgbClr val="313131"/>
                </a:solidFill>
                <a:latin typeface="Verdana"/>
                <a:cs typeface="Verdana"/>
              </a:rPr>
              <a:t> </a:t>
            </a:r>
            <a:r>
              <a:rPr sz="1200" spc="-5" dirty="0">
                <a:solidFill>
                  <a:srgbClr val="313131"/>
                </a:solidFill>
                <a:latin typeface="Verdana"/>
                <a:cs typeface="Verdana"/>
              </a:rPr>
              <a:t>for</a:t>
            </a:r>
            <a:r>
              <a:rPr sz="1200" spc="-10" dirty="0">
                <a:solidFill>
                  <a:srgbClr val="313131"/>
                </a:solidFill>
                <a:latin typeface="Verdana"/>
                <a:cs typeface="Verdana"/>
              </a:rPr>
              <a:t> </a:t>
            </a:r>
            <a:r>
              <a:rPr sz="1200" spc="-5" dirty="0">
                <a:solidFill>
                  <a:srgbClr val="313131"/>
                </a:solidFill>
                <a:latin typeface="Verdana"/>
                <a:cs typeface="Verdana"/>
              </a:rPr>
              <a:t>q(z|x,</a:t>
            </a:r>
            <a:r>
              <a:rPr sz="1200" spc="-10" dirty="0">
                <a:solidFill>
                  <a:srgbClr val="313131"/>
                </a:solidFill>
                <a:latin typeface="Verdana"/>
                <a:cs typeface="Verdana"/>
              </a:rPr>
              <a:t> </a:t>
            </a:r>
            <a:r>
              <a:rPr sz="1200" spc="-5" dirty="0">
                <a:solidFill>
                  <a:srgbClr val="313131"/>
                </a:solidFill>
                <a:latin typeface="Verdana"/>
                <a:cs typeface="Verdana"/>
              </a:rPr>
              <a:t>theta)</a:t>
            </a:r>
            <a:r>
              <a:rPr sz="1200" spc="-10" dirty="0">
                <a:solidFill>
                  <a:srgbClr val="313131"/>
                </a:solidFill>
                <a:latin typeface="Verdana"/>
                <a:cs typeface="Verdana"/>
              </a:rPr>
              <a:t> </a:t>
            </a:r>
            <a:r>
              <a:rPr sz="1200" spc="-5" dirty="0">
                <a:solidFill>
                  <a:srgbClr val="313131"/>
                </a:solidFill>
                <a:latin typeface="Verdana"/>
                <a:cs typeface="Verdana"/>
              </a:rPr>
              <a:t>usually specified</a:t>
            </a:r>
            <a:r>
              <a:rPr sz="1200" spc="-10" dirty="0">
                <a:solidFill>
                  <a:srgbClr val="313131"/>
                </a:solidFill>
                <a:latin typeface="Verdana"/>
                <a:cs typeface="Verdana"/>
              </a:rPr>
              <a:t> </a:t>
            </a:r>
            <a:r>
              <a:rPr sz="1200" spc="-5" dirty="0">
                <a:solidFill>
                  <a:srgbClr val="313131"/>
                </a:solidFill>
                <a:latin typeface="Verdana"/>
                <a:cs typeface="Verdana"/>
              </a:rPr>
              <a:t>by</a:t>
            </a:r>
            <a:r>
              <a:rPr sz="1200" spc="-10" dirty="0">
                <a:solidFill>
                  <a:srgbClr val="313131"/>
                </a:solidFill>
                <a:latin typeface="Verdana"/>
                <a:cs typeface="Verdana"/>
              </a:rPr>
              <a:t> </a:t>
            </a:r>
            <a:r>
              <a:rPr sz="1200" dirty="0">
                <a:solidFill>
                  <a:srgbClr val="313131"/>
                </a:solidFill>
                <a:latin typeface="Verdana"/>
                <a:cs typeface="Verdana"/>
              </a:rPr>
              <a:t>a</a:t>
            </a:r>
            <a:r>
              <a:rPr sz="1200" spc="-10" dirty="0">
                <a:solidFill>
                  <a:srgbClr val="313131"/>
                </a:solidFill>
                <a:latin typeface="Verdana"/>
                <a:cs typeface="Verdana"/>
              </a:rPr>
              <a:t> </a:t>
            </a:r>
            <a:r>
              <a:rPr sz="1200" spc="-5" dirty="0">
                <a:solidFill>
                  <a:srgbClr val="313131"/>
                </a:solidFill>
                <a:latin typeface="Verdana"/>
                <a:cs typeface="Verdana"/>
              </a:rPr>
              <a:t>neural</a:t>
            </a:r>
            <a:r>
              <a:rPr sz="1200" spc="-10" dirty="0">
                <a:solidFill>
                  <a:srgbClr val="313131"/>
                </a:solidFill>
                <a:latin typeface="Verdana"/>
                <a:cs typeface="Verdana"/>
              </a:rPr>
              <a:t> </a:t>
            </a:r>
            <a:r>
              <a:rPr sz="1200" spc="-5" dirty="0">
                <a:solidFill>
                  <a:srgbClr val="313131"/>
                </a:solidFill>
                <a:latin typeface="Verdana"/>
                <a:cs typeface="Verdana"/>
              </a:rPr>
              <a:t>network</a:t>
            </a:r>
            <a:endParaRPr sz="1200">
              <a:solidFill>
                <a:prstClr val="black"/>
              </a:solidFill>
              <a:latin typeface="Verdana"/>
              <a:cs typeface="Verdana"/>
            </a:endParaRPr>
          </a:p>
          <a:p>
            <a:pPr marL="241300" indent="-209550">
              <a:spcBef>
                <a:spcPts val="885"/>
              </a:spcBef>
              <a:buClr>
                <a:srgbClr val="B10639"/>
              </a:buClr>
              <a:buSzPct val="83333"/>
              <a:buFont typeface="Arial MT"/>
              <a:buChar char="•"/>
              <a:tabLst>
                <a:tab pos="240665" algn="l"/>
                <a:tab pos="241300" algn="l"/>
              </a:tabLst>
            </a:pPr>
            <a:r>
              <a:rPr sz="1200" spc="-5" dirty="0">
                <a:solidFill>
                  <a:srgbClr val="313131"/>
                </a:solidFill>
                <a:latin typeface="Verdana"/>
                <a:cs typeface="Verdana"/>
              </a:rPr>
              <a:t>Training</a:t>
            </a:r>
            <a:r>
              <a:rPr sz="1200" spc="-10" dirty="0">
                <a:solidFill>
                  <a:srgbClr val="313131"/>
                </a:solidFill>
                <a:latin typeface="Verdana"/>
                <a:cs typeface="Verdana"/>
              </a:rPr>
              <a:t> </a:t>
            </a:r>
            <a:r>
              <a:rPr sz="1200" spc="-5" dirty="0">
                <a:solidFill>
                  <a:srgbClr val="313131"/>
                </a:solidFill>
                <a:latin typeface="Verdana"/>
                <a:cs typeface="Verdana"/>
              </a:rPr>
              <a:t>objective:</a:t>
            </a:r>
            <a:r>
              <a:rPr sz="1200" spc="-10" dirty="0">
                <a:solidFill>
                  <a:srgbClr val="313131"/>
                </a:solidFill>
                <a:latin typeface="Verdana"/>
                <a:cs typeface="Verdana"/>
              </a:rPr>
              <a:t> </a:t>
            </a:r>
            <a:r>
              <a:rPr sz="1200" spc="-5" dirty="0">
                <a:solidFill>
                  <a:srgbClr val="313131"/>
                </a:solidFill>
                <a:latin typeface="Verdana"/>
                <a:cs typeface="Verdana"/>
              </a:rPr>
              <a:t>Simple</a:t>
            </a:r>
            <a:r>
              <a:rPr sz="1200" spc="-10" dirty="0">
                <a:solidFill>
                  <a:srgbClr val="313131"/>
                </a:solidFill>
                <a:latin typeface="Verdana"/>
                <a:cs typeface="Verdana"/>
              </a:rPr>
              <a:t> </a:t>
            </a:r>
            <a:r>
              <a:rPr sz="1200" spc="-5" dirty="0">
                <a:solidFill>
                  <a:srgbClr val="313131"/>
                </a:solidFill>
                <a:latin typeface="Verdana"/>
                <a:cs typeface="Verdana"/>
              </a:rPr>
              <a:t>Monte</a:t>
            </a:r>
            <a:r>
              <a:rPr sz="1200" spc="-10" dirty="0">
                <a:solidFill>
                  <a:srgbClr val="313131"/>
                </a:solidFill>
                <a:latin typeface="Verdana"/>
                <a:cs typeface="Verdana"/>
              </a:rPr>
              <a:t> </a:t>
            </a:r>
            <a:r>
              <a:rPr sz="1200" spc="-5" dirty="0">
                <a:solidFill>
                  <a:srgbClr val="313131"/>
                </a:solidFill>
                <a:latin typeface="Verdana"/>
                <a:cs typeface="Verdana"/>
              </a:rPr>
              <a:t>Carlo for</a:t>
            </a:r>
            <a:r>
              <a:rPr sz="1200" spc="-10" dirty="0">
                <a:solidFill>
                  <a:srgbClr val="313131"/>
                </a:solidFill>
                <a:latin typeface="Verdana"/>
                <a:cs typeface="Verdana"/>
              </a:rPr>
              <a:t> </a:t>
            </a:r>
            <a:r>
              <a:rPr sz="1200" spc="-5" dirty="0">
                <a:solidFill>
                  <a:srgbClr val="313131"/>
                </a:solidFill>
                <a:latin typeface="Verdana"/>
                <a:cs typeface="Verdana"/>
              </a:rPr>
              <a:t>unbiased</a:t>
            </a:r>
            <a:r>
              <a:rPr sz="1200" spc="-10" dirty="0">
                <a:solidFill>
                  <a:srgbClr val="313131"/>
                </a:solidFill>
                <a:latin typeface="Verdana"/>
                <a:cs typeface="Verdana"/>
              </a:rPr>
              <a:t> </a:t>
            </a:r>
            <a:r>
              <a:rPr sz="1200" spc="-5" dirty="0">
                <a:solidFill>
                  <a:srgbClr val="313131"/>
                </a:solidFill>
                <a:latin typeface="Verdana"/>
                <a:cs typeface="Verdana"/>
              </a:rPr>
              <a:t>estimate</a:t>
            </a:r>
            <a:r>
              <a:rPr sz="1200" spc="-10" dirty="0">
                <a:solidFill>
                  <a:srgbClr val="313131"/>
                </a:solidFill>
                <a:latin typeface="Verdana"/>
                <a:cs typeface="Verdana"/>
              </a:rPr>
              <a:t> </a:t>
            </a:r>
            <a:r>
              <a:rPr sz="1200" spc="-5" dirty="0">
                <a:solidFill>
                  <a:srgbClr val="313131"/>
                </a:solidFill>
                <a:latin typeface="Verdana"/>
                <a:cs typeface="Verdana"/>
              </a:rPr>
              <a:t>of Variational</a:t>
            </a:r>
            <a:r>
              <a:rPr sz="1200" spc="-10" dirty="0">
                <a:solidFill>
                  <a:srgbClr val="313131"/>
                </a:solidFill>
                <a:latin typeface="Verdana"/>
                <a:cs typeface="Verdana"/>
              </a:rPr>
              <a:t> </a:t>
            </a:r>
            <a:r>
              <a:rPr sz="1200" spc="-5" dirty="0">
                <a:solidFill>
                  <a:srgbClr val="313131"/>
                </a:solidFill>
                <a:latin typeface="Verdana"/>
                <a:cs typeface="Verdana"/>
              </a:rPr>
              <a:t>lower</a:t>
            </a:r>
            <a:r>
              <a:rPr sz="1200" spc="-10" dirty="0">
                <a:solidFill>
                  <a:srgbClr val="313131"/>
                </a:solidFill>
                <a:latin typeface="Verdana"/>
                <a:cs typeface="Verdana"/>
              </a:rPr>
              <a:t> </a:t>
            </a:r>
            <a:r>
              <a:rPr sz="1200" spc="-5" dirty="0">
                <a:solidFill>
                  <a:srgbClr val="313131"/>
                </a:solidFill>
                <a:latin typeface="Verdana"/>
                <a:cs typeface="Verdana"/>
              </a:rPr>
              <a:t>bound</a:t>
            </a:r>
            <a:endParaRPr sz="1200">
              <a:solidFill>
                <a:prstClr val="black"/>
              </a:solidFill>
              <a:latin typeface="Verdana"/>
              <a:cs typeface="Verdana"/>
            </a:endParaRPr>
          </a:p>
          <a:p>
            <a:pPr marL="12700" marR="2961640" indent="19050">
              <a:lnSpc>
                <a:spcPct val="161500"/>
              </a:lnSpc>
              <a:buClr>
                <a:srgbClr val="B10639"/>
              </a:buClr>
              <a:buSzPct val="83333"/>
              <a:buFont typeface="Arial MT"/>
              <a:buChar char="•"/>
              <a:tabLst>
                <a:tab pos="240665" algn="l"/>
                <a:tab pos="241300" algn="l"/>
              </a:tabLst>
            </a:pPr>
            <a:r>
              <a:rPr sz="1200" spc="-5" dirty="0">
                <a:solidFill>
                  <a:srgbClr val="313131"/>
                </a:solidFill>
                <a:latin typeface="Verdana"/>
                <a:cs typeface="Verdana"/>
              </a:rPr>
              <a:t>Optimization method: Stochastic gradient ascent, </a:t>
            </a:r>
            <a:r>
              <a:rPr sz="1200" spc="-409" dirty="0">
                <a:solidFill>
                  <a:srgbClr val="313131"/>
                </a:solidFill>
                <a:latin typeface="Verdana"/>
                <a:cs typeface="Verdana"/>
              </a:rPr>
              <a:t> </a:t>
            </a:r>
            <a:r>
              <a:rPr sz="1200" spc="-5" dirty="0">
                <a:solidFill>
                  <a:srgbClr val="313131"/>
                </a:solidFill>
                <a:latin typeface="Verdana"/>
                <a:cs typeface="Verdana"/>
              </a:rPr>
              <a:t>with</a:t>
            </a:r>
            <a:r>
              <a:rPr sz="1200" spc="-10" dirty="0">
                <a:solidFill>
                  <a:srgbClr val="313131"/>
                </a:solidFill>
                <a:latin typeface="Verdana"/>
                <a:cs typeface="Verdana"/>
              </a:rPr>
              <a:t> </a:t>
            </a:r>
            <a:r>
              <a:rPr sz="1200" spc="-5" dirty="0">
                <a:solidFill>
                  <a:srgbClr val="313131"/>
                </a:solidFill>
                <a:latin typeface="Verdana"/>
                <a:cs typeface="Verdana"/>
              </a:rPr>
              <a:t>automatic</a:t>
            </a:r>
            <a:r>
              <a:rPr sz="1200" spc="-10" dirty="0">
                <a:solidFill>
                  <a:srgbClr val="313131"/>
                </a:solidFill>
                <a:latin typeface="Verdana"/>
                <a:cs typeface="Verdana"/>
              </a:rPr>
              <a:t> </a:t>
            </a:r>
            <a:r>
              <a:rPr sz="1200" spc="-5" dirty="0">
                <a:solidFill>
                  <a:srgbClr val="313131"/>
                </a:solidFill>
                <a:latin typeface="Verdana"/>
                <a:cs typeface="Verdana"/>
              </a:rPr>
              <a:t>differentiation</a:t>
            </a:r>
            <a:r>
              <a:rPr sz="1200" spc="-10" dirty="0">
                <a:solidFill>
                  <a:srgbClr val="313131"/>
                </a:solidFill>
                <a:latin typeface="Verdana"/>
                <a:cs typeface="Verdana"/>
              </a:rPr>
              <a:t> </a:t>
            </a:r>
            <a:r>
              <a:rPr sz="1200" spc="-5" dirty="0">
                <a:solidFill>
                  <a:srgbClr val="313131"/>
                </a:solidFill>
                <a:latin typeface="Verdana"/>
                <a:cs typeface="Verdana"/>
              </a:rPr>
              <a:t>for</a:t>
            </a:r>
            <a:r>
              <a:rPr sz="1200" spc="-10" dirty="0">
                <a:solidFill>
                  <a:srgbClr val="313131"/>
                </a:solidFill>
                <a:latin typeface="Verdana"/>
                <a:cs typeface="Verdana"/>
              </a:rPr>
              <a:t> </a:t>
            </a:r>
            <a:r>
              <a:rPr sz="1200" spc="-5" dirty="0">
                <a:solidFill>
                  <a:srgbClr val="313131"/>
                </a:solidFill>
                <a:latin typeface="Verdana"/>
                <a:cs typeface="Verdana"/>
              </a:rPr>
              <a:t>gradients</a:t>
            </a:r>
            <a:endParaRPr sz="1200">
              <a:solidFill>
                <a:prstClr val="black"/>
              </a:solidFill>
              <a:latin typeface="Verdana"/>
              <a:cs typeface="Verdana"/>
            </a:endParaRPr>
          </a:p>
        </p:txBody>
      </p:sp>
      <p:sp>
        <p:nvSpPr>
          <p:cNvPr id="3" name="object 3"/>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6" name="object 6"/>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4" name="object 4"/>
          <p:cNvSpPr txBox="1">
            <a:spLocks noGrp="1"/>
          </p:cNvSpPr>
          <p:nvPr>
            <p:ph type="title" idx="4294967295"/>
          </p:nvPr>
        </p:nvSpPr>
        <p:spPr>
          <a:xfrm>
            <a:off x="1" y="1254125"/>
            <a:ext cx="4037013" cy="330200"/>
          </a:xfrm>
          <a:prstGeom prst="rect">
            <a:avLst/>
          </a:prstGeom>
        </p:spPr>
        <p:txBody>
          <a:bodyPr vert="horz" wrap="square" lIns="0" tIns="12700" rIns="0" bIns="0" rtlCol="0">
            <a:spAutoFit/>
          </a:bodyPr>
          <a:lstStyle/>
          <a:p>
            <a:pPr marL="12700">
              <a:spcBef>
                <a:spcPts val="100"/>
              </a:spcBef>
            </a:pPr>
            <a:r>
              <a:rPr spc="-5" dirty="0"/>
              <a:t>Variational</a:t>
            </a:r>
            <a:r>
              <a:rPr spc="-45" dirty="0"/>
              <a:t> </a:t>
            </a:r>
            <a:r>
              <a:rPr spc="-5" dirty="0"/>
              <a:t>Autoencoders</a:t>
            </a:r>
            <a:r>
              <a:rPr spc="-45" dirty="0"/>
              <a:t> </a:t>
            </a:r>
            <a:r>
              <a:rPr spc="-5" dirty="0"/>
              <a:t>(VAE)</a:t>
            </a:r>
          </a:p>
        </p:txBody>
      </p:sp>
      <p:pic>
        <p:nvPicPr>
          <p:cNvPr id="5" name="object 5"/>
          <p:cNvPicPr/>
          <p:nvPr/>
        </p:nvPicPr>
        <p:blipFill>
          <a:blip r:embed="rId2" cstate="print"/>
          <a:stretch>
            <a:fillRect/>
          </a:stretch>
        </p:blipFill>
        <p:spPr>
          <a:xfrm>
            <a:off x="4678892" y="3171622"/>
            <a:ext cx="3604547" cy="2187816"/>
          </a:xfrm>
          <a:prstGeom prst="rect">
            <a:avLst/>
          </a:prstGeom>
        </p:spPr>
      </p:pic>
      <p:pic>
        <p:nvPicPr>
          <p:cNvPr id="8" name="Picture 2" descr="E:\NIET\Project\xLogo11.png.pagespeed.ic.pydHLuCQEZ.png">
            <a:extLst>
              <a:ext uri="{FF2B5EF4-FFF2-40B4-BE49-F238E27FC236}">
                <a16:creationId xmlns:a16="http://schemas.microsoft.com/office/drawing/2014/main" id="{0CC4DA90-1632-381C-BC34-F78BC3CFEAF7}"/>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9" name="Title 1">
            <a:extLst>
              <a:ext uri="{FF2B5EF4-FFF2-40B4-BE49-F238E27FC236}">
                <a16:creationId xmlns:a16="http://schemas.microsoft.com/office/drawing/2014/main" id="{C5AA4601-DDF6-34DF-DBD7-5050FBACAB04}"/>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Variational Autoencoders (VAE)</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60908" y="2231530"/>
            <a:ext cx="4291330" cy="2896434"/>
          </a:xfrm>
          <a:prstGeom prst="rect">
            <a:avLst/>
          </a:prstGeom>
        </p:spPr>
        <p:txBody>
          <a:bodyPr vert="horz" wrap="square" lIns="0" tIns="12700" rIns="0" bIns="0" rtlCol="0">
            <a:spAutoFit/>
          </a:bodyPr>
          <a:lstStyle/>
          <a:p>
            <a:pPr marL="12700">
              <a:spcBef>
                <a:spcPts val="100"/>
              </a:spcBef>
            </a:pPr>
            <a:r>
              <a:rPr sz="1200" dirty="0">
                <a:solidFill>
                  <a:srgbClr val="313131"/>
                </a:solidFill>
                <a:latin typeface="Verdana"/>
                <a:cs typeface="Verdana"/>
              </a:rPr>
              <a:t>Pros</a:t>
            </a:r>
            <a:endParaRPr sz="1200">
              <a:solidFill>
                <a:prstClr val="black"/>
              </a:solidFill>
              <a:latin typeface="Verdana"/>
              <a:cs typeface="Verdana"/>
            </a:endParaRPr>
          </a:p>
          <a:p>
            <a:pPr marL="241300" indent="-209550">
              <a:spcBef>
                <a:spcPts val="885"/>
              </a:spcBef>
              <a:buClr>
                <a:srgbClr val="B10639"/>
              </a:buClr>
              <a:buSzPct val="83333"/>
              <a:buFont typeface="Arial MT"/>
              <a:buChar char="•"/>
              <a:tabLst>
                <a:tab pos="240665" algn="l"/>
                <a:tab pos="241300" algn="l"/>
              </a:tabLst>
            </a:pPr>
            <a:r>
              <a:rPr sz="1200" spc="-5" dirty="0">
                <a:solidFill>
                  <a:srgbClr val="313131"/>
                </a:solidFill>
                <a:latin typeface="Verdana"/>
                <a:cs typeface="Verdana"/>
              </a:rPr>
              <a:t>Flexible</a:t>
            </a:r>
            <a:r>
              <a:rPr sz="1200" spc="-40" dirty="0">
                <a:solidFill>
                  <a:srgbClr val="313131"/>
                </a:solidFill>
                <a:latin typeface="Verdana"/>
                <a:cs typeface="Verdana"/>
              </a:rPr>
              <a:t> </a:t>
            </a:r>
            <a:r>
              <a:rPr sz="1200" spc="-5" dirty="0">
                <a:solidFill>
                  <a:srgbClr val="313131"/>
                </a:solidFill>
                <a:latin typeface="Verdana"/>
                <a:cs typeface="Verdana"/>
              </a:rPr>
              <a:t>generative</a:t>
            </a:r>
            <a:r>
              <a:rPr sz="1200" spc="-35" dirty="0">
                <a:solidFill>
                  <a:srgbClr val="313131"/>
                </a:solidFill>
                <a:latin typeface="Verdana"/>
                <a:cs typeface="Verdana"/>
              </a:rPr>
              <a:t> </a:t>
            </a:r>
            <a:r>
              <a:rPr sz="1200" spc="-5" dirty="0">
                <a:solidFill>
                  <a:srgbClr val="313131"/>
                </a:solidFill>
                <a:latin typeface="Verdana"/>
                <a:cs typeface="Verdana"/>
              </a:rPr>
              <a:t>model</a:t>
            </a:r>
            <a:endParaRPr sz="1200">
              <a:solidFill>
                <a:prstClr val="black"/>
              </a:solidFill>
              <a:latin typeface="Verdana"/>
              <a:cs typeface="Verdana"/>
            </a:endParaRPr>
          </a:p>
          <a:p>
            <a:pPr marL="241300" indent="-209550">
              <a:spcBef>
                <a:spcPts val="885"/>
              </a:spcBef>
              <a:buClr>
                <a:srgbClr val="B10639"/>
              </a:buClr>
              <a:buSzPct val="83333"/>
              <a:buFont typeface="Arial MT"/>
              <a:buChar char="•"/>
              <a:tabLst>
                <a:tab pos="240665" algn="l"/>
                <a:tab pos="241300" algn="l"/>
              </a:tabLst>
            </a:pPr>
            <a:r>
              <a:rPr sz="1200" spc="-5" dirty="0">
                <a:solidFill>
                  <a:srgbClr val="313131"/>
                </a:solidFill>
                <a:latin typeface="Verdana"/>
                <a:cs typeface="Verdana"/>
              </a:rPr>
              <a:t>End-to-end</a:t>
            </a:r>
            <a:r>
              <a:rPr sz="1200" spc="-40" dirty="0">
                <a:solidFill>
                  <a:srgbClr val="313131"/>
                </a:solidFill>
                <a:latin typeface="Verdana"/>
                <a:cs typeface="Verdana"/>
              </a:rPr>
              <a:t> </a:t>
            </a:r>
            <a:r>
              <a:rPr sz="1200" spc="-5" dirty="0">
                <a:solidFill>
                  <a:srgbClr val="313131"/>
                </a:solidFill>
                <a:latin typeface="Verdana"/>
                <a:cs typeface="Verdana"/>
              </a:rPr>
              <a:t>gradient</a:t>
            </a:r>
            <a:r>
              <a:rPr sz="1200" spc="-35" dirty="0">
                <a:solidFill>
                  <a:srgbClr val="313131"/>
                </a:solidFill>
                <a:latin typeface="Verdana"/>
                <a:cs typeface="Verdana"/>
              </a:rPr>
              <a:t> </a:t>
            </a:r>
            <a:r>
              <a:rPr sz="1200" spc="-5" dirty="0">
                <a:solidFill>
                  <a:srgbClr val="313131"/>
                </a:solidFill>
                <a:latin typeface="Verdana"/>
                <a:cs typeface="Verdana"/>
              </a:rPr>
              <a:t>training</a:t>
            </a:r>
            <a:endParaRPr sz="1200">
              <a:solidFill>
                <a:prstClr val="black"/>
              </a:solidFill>
              <a:latin typeface="Verdana"/>
              <a:cs typeface="Verdana"/>
            </a:endParaRPr>
          </a:p>
          <a:p>
            <a:pPr marL="241300" indent="-209550">
              <a:spcBef>
                <a:spcPts val="885"/>
              </a:spcBef>
              <a:buClr>
                <a:srgbClr val="B10639"/>
              </a:buClr>
              <a:buSzPct val="83333"/>
              <a:buFont typeface="Arial MT"/>
              <a:buChar char="•"/>
              <a:tabLst>
                <a:tab pos="240665" algn="l"/>
                <a:tab pos="241300" algn="l"/>
              </a:tabLst>
            </a:pPr>
            <a:r>
              <a:rPr sz="1200" spc="-5" dirty="0">
                <a:solidFill>
                  <a:srgbClr val="313131"/>
                </a:solidFill>
                <a:latin typeface="Verdana"/>
                <a:cs typeface="Verdana"/>
              </a:rPr>
              <a:t>Measurable</a:t>
            </a:r>
            <a:r>
              <a:rPr sz="1200" spc="-15" dirty="0">
                <a:solidFill>
                  <a:srgbClr val="313131"/>
                </a:solidFill>
                <a:latin typeface="Verdana"/>
                <a:cs typeface="Verdana"/>
              </a:rPr>
              <a:t> </a:t>
            </a:r>
            <a:r>
              <a:rPr sz="1200" spc="-5" dirty="0">
                <a:solidFill>
                  <a:srgbClr val="313131"/>
                </a:solidFill>
                <a:latin typeface="Verdana"/>
                <a:cs typeface="Verdana"/>
              </a:rPr>
              <a:t>objective</a:t>
            </a:r>
            <a:r>
              <a:rPr sz="1200" spc="-15" dirty="0">
                <a:solidFill>
                  <a:srgbClr val="313131"/>
                </a:solidFill>
                <a:latin typeface="Verdana"/>
                <a:cs typeface="Verdana"/>
              </a:rPr>
              <a:t> </a:t>
            </a:r>
            <a:r>
              <a:rPr sz="1200" spc="-5" dirty="0">
                <a:solidFill>
                  <a:srgbClr val="313131"/>
                </a:solidFill>
                <a:latin typeface="Verdana"/>
                <a:cs typeface="Verdana"/>
              </a:rPr>
              <a:t>(and</a:t>
            </a:r>
            <a:r>
              <a:rPr sz="1200" spc="-10" dirty="0">
                <a:solidFill>
                  <a:srgbClr val="313131"/>
                </a:solidFill>
                <a:latin typeface="Verdana"/>
                <a:cs typeface="Verdana"/>
              </a:rPr>
              <a:t> </a:t>
            </a:r>
            <a:r>
              <a:rPr sz="1200" spc="-5" dirty="0">
                <a:solidFill>
                  <a:srgbClr val="313131"/>
                </a:solidFill>
                <a:latin typeface="Verdana"/>
                <a:cs typeface="Verdana"/>
              </a:rPr>
              <a:t>lower</a:t>
            </a:r>
            <a:r>
              <a:rPr sz="1200" spc="-15" dirty="0">
                <a:solidFill>
                  <a:srgbClr val="313131"/>
                </a:solidFill>
                <a:latin typeface="Verdana"/>
                <a:cs typeface="Verdana"/>
              </a:rPr>
              <a:t> </a:t>
            </a:r>
            <a:r>
              <a:rPr sz="1200" spc="-5" dirty="0">
                <a:solidFill>
                  <a:srgbClr val="313131"/>
                </a:solidFill>
                <a:latin typeface="Verdana"/>
                <a:cs typeface="Verdana"/>
              </a:rPr>
              <a:t>bound</a:t>
            </a:r>
            <a:r>
              <a:rPr sz="1200" spc="-10" dirty="0">
                <a:solidFill>
                  <a:srgbClr val="313131"/>
                </a:solidFill>
                <a:latin typeface="Verdana"/>
                <a:cs typeface="Verdana"/>
              </a:rPr>
              <a:t> </a:t>
            </a:r>
            <a:r>
              <a:rPr sz="1200" dirty="0">
                <a:solidFill>
                  <a:srgbClr val="313131"/>
                </a:solidFill>
                <a:latin typeface="Verdana"/>
                <a:cs typeface="Verdana"/>
              </a:rPr>
              <a:t>-</a:t>
            </a:r>
            <a:r>
              <a:rPr sz="1200" spc="-15" dirty="0">
                <a:solidFill>
                  <a:srgbClr val="313131"/>
                </a:solidFill>
                <a:latin typeface="Verdana"/>
                <a:cs typeface="Verdana"/>
              </a:rPr>
              <a:t> </a:t>
            </a:r>
            <a:r>
              <a:rPr sz="1200" spc="-5" dirty="0">
                <a:solidFill>
                  <a:srgbClr val="313131"/>
                </a:solidFill>
                <a:latin typeface="Verdana"/>
                <a:cs typeface="Verdana"/>
              </a:rPr>
              <a:t>model</a:t>
            </a:r>
            <a:r>
              <a:rPr sz="1200" spc="-10" dirty="0">
                <a:solidFill>
                  <a:srgbClr val="313131"/>
                </a:solidFill>
                <a:latin typeface="Verdana"/>
                <a:cs typeface="Verdana"/>
              </a:rPr>
              <a:t> </a:t>
            </a:r>
            <a:r>
              <a:rPr sz="1200" spc="-5" dirty="0">
                <a:solidFill>
                  <a:srgbClr val="313131"/>
                </a:solidFill>
                <a:latin typeface="Verdana"/>
                <a:cs typeface="Verdana"/>
              </a:rPr>
              <a:t>is</a:t>
            </a:r>
            <a:r>
              <a:rPr sz="1200" spc="-15" dirty="0">
                <a:solidFill>
                  <a:srgbClr val="313131"/>
                </a:solidFill>
                <a:latin typeface="Verdana"/>
                <a:cs typeface="Verdana"/>
              </a:rPr>
              <a:t> </a:t>
            </a:r>
            <a:r>
              <a:rPr sz="1200" spc="-5" dirty="0">
                <a:solidFill>
                  <a:srgbClr val="313131"/>
                </a:solidFill>
                <a:latin typeface="Verdana"/>
                <a:cs typeface="Verdana"/>
              </a:rPr>
              <a:t>at</a:t>
            </a:r>
            <a:endParaRPr sz="1200">
              <a:solidFill>
                <a:prstClr val="black"/>
              </a:solidFill>
              <a:latin typeface="Verdana"/>
              <a:cs typeface="Verdana"/>
            </a:endParaRPr>
          </a:p>
          <a:p>
            <a:pPr marL="241300" indent="-209550">
              <a:spcBef>
                <a:spcPts val="885"/>
              </a:spcBef>
              <a:buClr>
                <a:srgbClr val="B10639"/>
              </a:buClr>
              <a:buSzPct val="83333"/>
              <a:buFont typeface="Arial MT"/>
              <a:buChar char="•"/>
              <a:tabLst>
                <a:tab pos="240665" algn="l"/>
                <a:tab pos="241300" algn="l"/>
              </a:tabLst>
            </a:pPr>
            <a:r>
              <a:rPr sz="1200" spc="-5" dirty="0">
                <a:solidFill>
                  <a:srgbClr val="313131"/>
                </a:solidFill>
                <a:latin typeface="Verdana"/>
                <a:cs typeface="Verdana"/>
              </a:rPr>
              <a:t>least</a:t>
            </a:r>
            <a:r>
              <a:rPr sz="1200" spc="-40" dirty="0">
                <a:solidFill>
                  <a:srgbClr val="313131"/>
                </a:solidFill>
                <a:latin typeface="Verdana"/>
                <a:cs typeface="Verdana"/>
              </a:rPr>
              <a:t> </a:t>
            </a:r>
            <a:r>
              <a:rPr sz="1200" spc="-5" dirty="0">
                <a:solidFill>
                  <a:srgbClr val="313131"/>
                </a:solidFill>
                <a:latin typeface="Verdana"/>
                <a:cs typeface="Verdana"/>
              </a:rPr>
              <a:t>this</a:t>
            </a:r>
            <a:r>
              <a:rPr sz="1200" spc="-35" dirty="0">
                <a:solidFill>
                  <a:srgbClr val="313131"/>
                </a:solidFill>
                <a:latin typeface="Verdana"/>
                <a:cs typeface="Verdana"/>
              </a:rPr>
              <a:t> </a:t>
            </a:r>
            <a:r>
              <a:rPr sz="1200" spc="-5" dirty="0">
                <a:solidFill>
                  <a:srgbClr val="313131"/>
                </a:solidFill>
                <a:latin typeface="Verdana"/>
                <a:cs typeface="Verdana"/>
              </a:rPr>
              <a:t>good)</a:t>
            </a:r>
            <a:endParaRPr sz="1200">
              <a:solidFill>
                <a:prstClr val="black"/>
              </a:solidFill>
              <a:latin typeface="Verdana"/>
              <a:cs typeface="Verdana"/>
            </a:endParaRPr>
          </a:p>
          <a:p>
            <a:pPr marL="12700" marR="2212340" indent="19050">
              <a:lnSpc>
                <a:spcPct val="161500"/>
              </a:lnSpc>
              <a:buClr>
                <a:srgbClr val="B10639"/>
              </a:buClr>
              <a:buSzPct val="83333"/>
              <a:buFont typeface="Arial MT"/>
              <a:buChar char="•"/>
              <a:tabLst>
                <a:tab pos="240665" algn="l"/>
                <a:tab pos="241300" algn="l"/>
              </a:tabLst>
            </a:pPr>
            <a:r>
              <a:rPr sz="1200" spc="-5" dirty="0">
                <a:solidFill>
                  <a:srgbClr val="313131"/>
                </a:solidFill>
                <a:latin typeface="Verdana"/>
                <a:cs typeface="Verdana"/>
              </a:rPr>
              <a:t>Fast test-time inference </a:t>
            </a:r>
            <a:r>
              <a:rPr sz="1200" spc="-409" dirty="0">
                <a:solidFill>
                  <a:srgbClr val="313131"/>
                </a:solidFill>
                <a:latin typeface="Verdana"/>
                <a:cs typeface="Verdana"/>
              </a:rPr>
              <a:t> </a:t>
            </a:r>
            <a:r>
              <a:rPr sz="1200" spc="-5" dirty="0">
                <a:solidFill>
                  <a:srgbClr val="313131"/>
                </a:solidFill>
                <a:latin typeface="Verdana"/>
                <a:cs typeface="Verdana"/>
              </a:rPr>
              <a:t>Cons:</a:t>
            </a:r>
            <a:endParaRPr sz="1200">
              <a:solidFill>
                <a:prstClr val="black"/>
              </a:solidFill>
              <a:latin typeface="Verdana"/>
              <a:cs typeface="Verdana"/>
            </a:endParaRPr>
          </a:p>
          <a:p>
            <a:pPr marL="294640" indent="-263525">
              <a:spcBef>
                <a:spcPts val="885"/>
              </a:spcBef>
              <a:buClr>
                <a:srgbClr val="B10639"/>
              </a:buClr>
              <a:buSzPct val="83333"/>
              <a:buFont typeface="Arial MT"/>
              <a:buChar char="•"/>
              <a:tabLst>
                <a:tab pos="294640" algn="l"/>
                <a:tab pos="295275" algn="l"/>
              </a:tabLst>
            </a:pPr>
            <a:r>
              <a:rPr sz="1200" spc="-5" dirty="0">
                <a:solidFill>
                  <a:srgbClr val="313131"/>
                </a:solidFill>
                <a:latin typeface="Verdana"/>
                <a:cs typeface="Verdana"/>
              </a:rPr>
              <a:t>sub-optimal</a:t>
            </a:r>
            <a:r>
              <a:rPr sz="1200" spc="-40" dirty="0">
                <a:solidFill>
                  <a:srgbClr val="313131"/>
                </a:solidFill>
                <a:latin typeface="Verdana"/>
                <a:cs typeface="Verdana"/>
              </a:rPr>
              <a:t> </a:t>
            </a:r>
            <a:r>
              <a:rPr sz="1200" spc="-5" dirty="0">
                <a:solidFill>
                  <a:srgbClr val="313131"/>
                </a:solidFill>
                <a:latin typeface="Verdana"/>
                <a:cs typeface="Verdana"/>
              </a:rPr>
              <a:t>variational</a:t>
            </a:r>
            <a:r>
              <a:rPr sz="1200" spc="-35" dirty="0">
                <a:solidFill>
                  <a:srgbClr val="313131"/>
                </a:solidFill>
                <a:latin typeface="Verdana"/>
                <a:cs typeface="Verdana"/>
              </a:rPr>
              <a:t> </a:t>
            </a:r>
            <a:r>
              <a:rPr sz="1200" spc="-5" dirty="0">
                <a:solidFill>
                  <a:srgbClr val="313131"/>
                </a:solidFill>
                <a:latin typeface="Verdana"/>
                <a:cs typeface="Verdana"/>
              </a:rPr>
              <a:t>factors</a:t>
            </a:r>
            <a:endParaRPr sz="1200">
              <a:solidFill>
                <a:prstClr val="black"/>
              </a:solidFill>
              <a:latin typeface="Verdana"/>
              <a:cs typeface="Verdana"/>
            </a:endParaRPr>
          </a:p>
          <a:p>
            <a:pPr marL="294640" indent="-263525">
              <a:spcBef>
                <a:spcPts val="885"/>
              </a:spcBef>
              <a:buClr>
                <a:srgbClr val="B10639"/>
              </a:buClr>
              <a:buSzPct val="83333"/>
              <a:buFont typeface="Arial MT"/>
              <a:buChar char="•"/>
              <a:tabLst>
                <a:tab pos="294640" algn="l"/>
                <a:tab pos="295275" algn="l"/>
              </a:tabLst>
            </a:pPr>
            <a:r>
              <a:rPr sz="1200" spc="-5" dirty="0">
                <a:solidFill>
                  <a:srgbClr val="313131"/>
                </a:solidFill>
                <a:latin typeface="Verdana"/>
                <a:cs typeface="Verdana"/>
              </a:rPr>
              <a:t>limited</a:t>
            </a:r>
            <a:r>
              <a:rPr sz="1200" spc="-20" dirty="0">
                <a:solidFill>
                  <a:srgbClr val="313131"/>
                </a:solidFill>
                <a:latin typeface="Verdana"/>
                <a:cs typeface="Verdana"/>
              </a:rPr>
              <a:t> </a:t>
            </a:r>
            <a:r>
              <a:rPr sz="1200" spc="-5" dirty="0">
                <a:solidFill>
                  <a:srgbClr val="313131"/>
                </a:solidFill>
                <a:latin typeface="Verdana"/>
                <a:cs typeface="Verdana"/>
              </a:rPr>
              <a:t>approximation</a:t>
            </a:r>
            <a:r>
              <a:rPr sz="1200" spc="-15" dirty="0">
                <a:solidFill>
                  <a:srgbClr val="313131"/>
                </a:solidFill>
                <a:latin typeface="Verdana"/>
                <a:cs typeface="Verdana"/>
              </a:rPr>
              <a:t> </a:t>
            </a:r>
            <a:r>
              <a:rPr sz="1200" spc="-5" dirty="0">
                <a:solidFill>
                  <a:srgbClr val="313131"/>
                </a:solidFill>
                <a:latin typeface="Verdana"/>
                <a:cs typeface="Verdana"/>
              </a:rPr>
              <a:t>to</a:t>
            </a:r>
            <a:r>
              <a:rPr sz="1200" spc="-15" dirty="0">
                <a:solidFill>
                  <a:srgbClr val="313131"/>
                </a:solidFill>
                <a:latin typeface="Verdana"/>
                <a:cs typeface="Verdana"/>
              </a:rPr>
              <a:t> </a:t>
            </a:r>
            <a:r>
              <a:rPr sz="1200" spc="-5" dirty="0">
                <a:solidFill>
                  <a:srgbClr val="313131"/>
                </a:solidFill>
                <a:latin typeface="Verdana"/>
                <a:cs typeface="Verdana"/>
              </a:rPr>
              <a:t>true</a:t>
            </a:r>
            <a:r>
              <a:rPr sz="1200" spc="-15" dirty="0">
                <a:solidFill>
                  <a:srgbClr val="313131"/>
                </a:solidFill>
                <a:latin typeface="Verdana"/>
                <a:cs typeface="Verdana"/>
              </a:rPr>
              <a:t> </a:t>
            </a:r>
            <a:r>
              <a:rPr sz="1200" spc="-5" dirty="0">
                <a:solidFill>
                  <a:srgbClr val="313131"/>
                </a:solidFill>
                <a:latin typeface="Verdana"/>
                <a:cs typeface="Verdana"/>
              </a:rPr>
              <a:t>posterior</a:t>
            </a:r>
            <a:r>
              <a:rPr sz="1200" spc="-15" dirty="0">
                <a:solidFill>
                  <a:srgbClr val="313131"/>
                </a:solidFill>
                <a:latin typeface="Verdana"/>
                <a:cs typeface="Verdana"/>
              </a:rPr>
              <a:t> </a:t>
            </a:r>
            <a:r>
              <a:rPr sz="1200" spc="-5" dirty="0">
                <a:solidFill>
                  <a:srgbClr val="313131"/>
                </a:solidFill>
                <a:latin typeface="Verdana"/>
                <a:cs typeface="Verdana"/>
              </a:rPr>
              <a:t>(will</a:t>
            </a:r>
            <a:r>
              <a:rPr sz="1200" spc="-15" dirty="0">
                <a:solidFill>
                  <a:srgbClr val="313131"/>
                </a:solidFill>
                <a:latin typeface="Verdana"/>
                <a:cs typeface="Verdana"/>
              </a:rPr>
              <a:t> </a:t>
            </a:r>
            <a:r>
              <a:rPr sz="1200" spc="-5" dirty="0">
                <a:solidFill>
                  <a:srgbClr val="313131"/>
                </a:solidFill>
                <a:latin typeface="Verdana"/>
                <a:cs typeface="Verdana"/>
              </a:rPr>
              <a:t>revisit)</a:t>
            </a:r>
            <a:endParaRPr sz="1200">
              <a:solidFill>
                <a:prstClr val="black"/>
              </a:solidFill>
              <a:latin typeface="Verdana"/>
              <a:cs typeface="Verdana"/>
            </a:endParaRPr>
          </a:p>
          <a:p>
            <a:pPr marL="294640" indent="-263525">
              <a:spcBef>
                <a:spcPts val="885"/>
              </a:spcBef>
              <a:buClr>
                <a:srgbClr val="B10639"/>
              </a:buClr>
              <a:buSzPct val="83333"/>
              <a:buFont typeface="Arial MT"/>
              <a:buChar char="•"/>
              <a:tabLst>
                <a:tab pos="294640" algn="l"/>
                <a:tab pos="295275" algn="l"/>
              </a:tabLst>
            </a:pPr>
            <a:r>
              <a:rPr sz="1200" spc="-5" dirty="0">
                <a:solidFill>
                  <a:srgbClr val="313131"/>
                </a:solidFill>
                <a:latin typeface="Verdana"/>
                <a:cs typeface="Verdana"/>
              </a:rPr>
              <a:t>Can</a:t>
            </a:r>
            <a:r>
              <a:rPr sz="1200" spc="-30" dirty="0">
                <a:solidFill>
                  <a:srgbClr val="313131"/>
                </a:solidFill>
                <a:latin typeface="Verdana"/>
                <a:cs typeface="Verdana"/>
              </a:rPr>
              <a:t> </a:t>
            </a:r>
            <a:r>
              <a:rPr sz="1200" spc="-5" dirty="0">
                <a:solidFill>
                  <a:srgbClr val="313131"/>
                </a:solidFill>
                <a:latin typeface="Verdana"/>
                <a:cs typeface="Verdana"/>
              </a:rPr>
              <a:t>have</a:t>
            </a:r>
            <a:r>
              <a:rPr sz="1200" spc="-25" dirty="0">
                <a:solidFill>
                  <a:srgbClr val="313131"/>
                </a:solidFill>
                <a:latin typeface="Verdana"/>
                <a:cs typeface="Verdana"/>
              </a:rPr>
              <a:t> </a:t>
            </a:r>
            <a:r>
              <a:rPr sz="1200" spc="-5" dirty="0">
                <a:solidFill>
                  <a:srgbClr val="313131"/>
                </a:solidFill>
                <a:latin typeface="Verdana"/>
                <a:cs typeface="Verdana"/>
              </a:rPr>
              <a:t>high-variance</a:t>
            </a:r>
            <a:r>
              <a:rPr sz="1200" spc="-25" dirty="0">
                <a:solidFill>
                  <a:srgbClr val="313131"/>
                </a:solidFill>
                <a:latin typeface="Verdana"/>
                <a:cs typeface="Verdana"/>
              </a:rPr>
              <a:t> </a:t>
            </a:r>
            <a:r>
              <a:rPr sz="1200" spc="-5" dirty="0">
                <a:solidFill>
                  <a:srgbClr val="313131"/>
                </a:solidFill>
                <a:latin typeface="Verdana"/>
                <a:cs typeface="Verdana"/>
              </a:rPr>
              <a:t>gradients</a:t>
            </a:r>
            <a:endParaRPr sz="1200">
              <a:solidFill>
                <a:prstClr val="black"/>
              </a:solidFill>
              <a:latin typeface="Verdana"/>
              <a:cs typeface="Verdana"/>
            </a:endParaRPr>
          </a:p>
        </p:txBody>
      </p:sp>
      <p:sp>
        <p:nvSpPr>
          <p:cNvPr id="3" name="object 3"/>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6" name="object 6"/>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4" name="object 4"/>
          <p:cNvSpPr txBox="1">
            <a:spLocks noGrp="1"/>
          </p:cNvSpPr>
          <p:nvPr>
            <p:ph type="title" idx="4294967295"/>
          </p:nvPr>
        </p:nvSpPr>
        <p:spPr>
          <a:xfrm>
            <a:off x="1" y="1254125"/>
            <a:ext cx="4037013" cy="330200"/>
          </a:xfrm>
          <a:prstGeom prst="rect">
            <a:avLst/>
          </a:prstGeom>
        </p:spPr>
        <p:txBody>
          <a:bodyPr vert="horz" wrap="square" lIns="0" tIns="12700" rIns="0" bIns="0" rtlCol="0">
            <a:spAutoFit/>
          </a:bodyPr>
          <a:lstStyle/>
          <a:p>
            <a:pPr marL="12700">
              <a:spcBef>
                <a:spcPts val="100"/>
              </a:spcBef>
            </a:pPr>
            <a:r>
              <a:rPr spc="-5" dirty="0"/>
              <a:t>Variational</a:t>
            </a:r>
            <a:r>
              <a:rPr spc="-45" dirty="0"/>
              <a:t> </a:t>
            </a:r>
            <a:r>
              <a:rPr spc="-5" dirty="0"/>
              <a:t>Autoencoders</a:t>
            </a:r>
            <a:r>
              <a:rPr spc="-45" dirty="0"/>
              <a:t> </a:t>
            </a:r>
            <a:r>
              <a:rPr spc="-5" dirty="0"/>
              <a:t>(VAE)</a:t>
            </a:r>
          </a:p>
        </p:txBody>
      </p:sp>
      <p:pic>
        <p:nvPicPr>
          <p:cNvPr id="5" name="object 5"/>
          <p:cNvPicPr/>
          <p:nvPr/>
        </p:nvPicPr>
        <p:blipFill>
          <a:blip r:embed="rId2" cstate="print"/>
          <a:stretch>
            <a:fillRect/>
          </a:stretch>
        </p:blipFill>
        <p:spPr>
          <a:xfrm>
            <a:off x="5567213" y="2076450"/>
            <a:ext cx="3200399" cy="2676524"/>
          </a:xfrm>
          <a:prstGeom prst="rect">
            <a:avLst/>
          </a:prstGeom>
        </p:spPr>
      </p:pic>
      <p:pic>
        <p:nvPicPr>
          <p:cNvPr id="8" name="Picture 2" descr="E:\NIET\Project\xLogo11.png.pagespeed.ic.pydHLuCQEZ.png">
            <a:extLst>
              <a:ext uri="{FF2B5EF4-FFF2-40B4-BE49-F238E27FC236}">
                <a16:creationId xmlns:a16="http://schemas.microsoft.com/office/drawing/2014/main" id="{0F94B097-61C1-B5C9-8FE1-5520613CDBE0}"/>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9" name="Title 1">
            <a:extLst>
              <a:ext uri="{FF2B5EF4-FFF2-40B4-BE49-F238E27FC236}">
                <a16:creationId xmlns:a16="http://schemas.microsoft.com/office/drawing/2014/main" id="{7B5F141F-A5A1-2407-8F67-CF5606B9C7A0}"/>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Variational Autoencoders (VAE)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60126" y="5727135"/>
            <a:ext cx="2687955" cy="185420"/>
          </a:xfrm>
          <a:prstGeom prst="rect">
            <a:avLst/>
          </a:prstGeom>
        </p:spPr>
        <p:txBody>
          <a:bodyPr vert="horz" wrap="square" lIns="0" tIns="635" rIns="0" bIns="0" rtlCol="0">
            <a:spAutoFit/>
          </a:bodyPr>
          <a:lstStyle/>
          <a:p>
            <a:pPr>
              <a:spcBef>
                <a:spcPts val="5"/>
              </a:spcBef>
            </a:pPr>
            <a:r>
              <a:rPr sz="1200" spc="-5" dirty="0">
                <a:solidFill>
                  <a:srgbClr val="313131"/>
                </a:solidFill>
                <a:latin typeface="Verdana"/>
                <a:cs typeface="Verdana"/>
              </a:rPr>
              <a:t>Deep</a:t>
            </a:r>
            <a:r>
              <a:rPr sz="1200" spc="-25" dirty="0">
                <a:solidFill>
                  <a:srgbClr val="313131"/>
                </a:solidFill>
                <a:latin typeface="Verdana"/>
                <a:cs typeface="Verdana"/>
              </a:rPr>
              <a:t> </a:t>
            </a:r>
            <a:r>
              <a:rPr sz="1200" spc="-5" dirty="0">
                <a:solidFill>
                  <a:srgbClr val="313131"/>
                </a:solidFill>
                <a:latin typeface="Verdana"/>
                <a:cs typeface="Verdana"/>
              </a:rPr>
              <a:t>Learning</a:t>
            </a:r>
            <a:r>
              <a:rPr sz="1200" spc="-25" dirty="0">
                <a:solidFill>
                  <a:srgbClr val="313131"/>
                </a:solidFill>
                <a:latin typeface="Verdana"/>
                <a:cs typeface="Verdana"/>
              </a:rPr>
              <a:t> </a:t>
            </a:r>
            <a:r>
              <a:rPr sz="1200" spc="-5" dirty="0">
                <a:solidFill>
                  <a:srgbClr val="313131"/>
                </a:solidFill>
                <a:latin typeface="Verdana"/>
                <a:cs typeface="Verdana"/>
              </a:rPr>
              <a:t>for</a:t>
            </a:r>
            <a:r>
              <a:rPr sz="1200" spc="-25" dirty="0">
                <a:solidFill>
                  <a:srgbClr val="313131"/>
                </a:solidFill>
                <a:latin typeface="Verdana"/>
                <a:cs typeface="Verdana"/>
              </a:rPr>
              <a:t> </a:t>
            </a:r>
            <a:r>
              <a:rPr sz="1200" spc="-5" dirty="0">
                <a:solidFill>
                  <a:srgbClr val="313131"/>
                </a:solidFill>
                <a:latin typeface="Verdana"/>
                <a:cs typeface="Verdana"/>
              </a:rPr>
              <a:t>Computer</a:t>
            </a:r>
            <a:r>
              <a:rPr sz="1200" spc="-20" dirty="0">
                <a:solidFill>
                  <a:srgbClr val="313131"/>
                </a:solidFill>
                <a:latin typeface="Verdana"/>
                <a:cs typeface="Verdana"/>
              </a:rPr>
              <a:t> </a:t>
            </a:r>
            <a:r>
              <a:rPr sz="1200" spc="-5" dirty="0">
                <a:solidFill>
                  <a:srgbClr val="313131"/>
                </a:solidFill>
                <a:latin typeface="Verdana"/>
                <a:cs typeface="Verdana"/>
              </a:rPr>
              <a:t>Vision</a:t>
            </a:r>
            <a:endParaRPr sz="1200">
              <a:solidFill>
                <a:prstClr val="black"/>
              </a:solidFill>
              <a:latin typeface="Verdana"/>
              <a:cs typeface="Verdana"/>
            </a:endParaRPr>
          </a:p>
        </p:txBody>
      </p:sp>
      <p:sp>
        <p:nvSpPr>
          <p:cNvPr id="3" name="object 3"/>
          <p:cNvSpPr/>
          <p:nvPr/>
        </p:nvSpPr>
        <p:spPr>
          <a:xfrm>
            <a:off x="177169" y="857252"/>
            <a:ext cx="7239000" cy="108585"/>
          </a:xfrm>
          <a:custGeom>
            <a:avLst/>
            <a:gdLst/>
            <a:ahLst/>
            <a:cxnLst/>
            <a:rect l="l" t="t" r="r" b="b"/>
            <a:pathLst>
              <a:path w="7239000" h="108585">
                <a:moveTo>
                  <a:pt x="7238699" y="107999"/>
                </a:moveTo>
                <a:lnTo>
                  <a:pt x="0" y="107999"/>
                </a:lnTo>
                <a:lnTo>
                  <a:pt x="0" y="0"/>
                </a:lnTo>
                <a:lnTo>
                  <a:pt x="7238699" y="0"/>
                </a:lnTo>
                <a:lnTo>
                  <a:pt x="7238699" y="107999"/>
                </a:lnTo>
                <a:close/>
              </a:path>
            </a:pathLst>
          </a:custGeom>
          <a:solidFill>
            <a:srgbClr val="F6A800"/>
          </a:solidFill>
        </p:spPr>
        <p:txBody>
          <a:bodyPr wrap="square" lIns="0" tIns="0" rIns="0" bIns="0" rtlCol="0"/>
          <a:lstStyle/>
          <a:p>
            <a:endParaRPr>
              <a:solidFill>
                <a:prstClr val="black"/>
              </a:solidFill>
              <a:latin typeface="Calibri"/>
            </a:endParaRPr>
          </a:p>
        </p:txBody>
      </p:sp>
      <p:sp>
        <p:nvSpPr>
          <p:cNvPr id="4" name="object 4"/>
          <p:cNvSpPr/>
          <p:nvPr/>
        </p:nvSpPr>
        <p:spPr>
          <a:xfrm>
            <a:off x="177169" y="1888828"/>
            <a:ext cx="7239000" cy="25400"/>
          </a:xfrm>
          <a:custGeom>
            <a:avLst/>
            <a:gdLst/>
            <a:ahLst/>
            <a:cxnLst/>
            <a:rect l="l" t="t" r="r" b="b"/>
            <a:pathLst>
              <a:path w="7239000" h="25400">
                <a:moveTo>
                  <a:pt x="7238699" y="25199"/>
                </a:moveTo>
                <a:lnTo>
                  <a:pt x="0" y="25199"/>
                </a:lnTo>
                <a:lnTo>
                  <a:pt x="0" y="0"/>
                </a:lnTo>
                <a:lnTo>
                  <a:pt x="7238699" y="0"/>
                </a:lnTo>
                <a:lnTo>
                  <a:pt x="7238699" y="25199"/>
                </a:lnTo>
                <a:close/>
              </a:path>
            </a:pathLst>
          </a:custGeom>
          <a:solidFill>
            <a:srgbClr val="DD640C"/>
          </a:solidFill>
        </p:spPr>
        <p:txBody>
          <a:bodyPr wrap="square" lIns="0" tIns="0" rIns="0" bIns="0" rtlCol="0"/>
          <a:lstStyle/>
          <a:p>
            <a:endParaRPr>
              <a:solidFill>
                <a:prstClr val="black"/>
              </a:solidFill>
              <a:latin typeface="Calibri"/>
            </a:endParaRPr>
          </a:p>
        </p:txBody>
      </p:sp>
      <p:sp>
        <p:nvSpPr>
          <p:cNvPr id="6" name="object 6"/>
          <p:cNvSpPr txBox="1"/>
          <p:nvPr/>
        </p:nvSpPr>
        <p:spPr>
          <a:xfrm>
            <a:off x="8371500" y="5734687"/>
            <a:ext cx="676910"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Slide</a:t>
            </a:r>
            <a:r>
              <a:rPr sz="1050" spc="-75" dirty="0">
                <a:solidFill>
                  <a:srgbClr val="313131"/>
                </a:solidFill>
                <a:latin typeface="Verdana"/>
                <a:cs typeface="Verdana"/>
              </a:rPr>
              <a:t> </a:t>
            </a:r>
            <a:r>
              <a:rPr sz="1050" spc="-5" dirty="0">
                <a:solidFill>
                  <a:srgbClr val="313131"/>
                </a:solidFill>
                <a:latin typeface="Verdana"/>
                <a:cs typeface="Verdana"/>
              </a:rPr>
              <a:t>#32</a:t>
            </a:r>
            <a:endParaRPr sz="1050">
              <a:solidFill>
                <a:prstClr val="black"/>
              </a:solidFill>
              <a:latin typeface="Verdana"/>
              <a:cs typeface="Verdana"/>
            </a:endParaRPr>
          </a:p>
        </p:txBody>
      </p:sp>
      <p:sp>
        <p:nvSpPr>
          <p:cNvPr id="52" name="Footer Placeholder 51">
            <a:extLst>
              <a:ext uri="{FF2B5EF4-FFF2-40B4-BE49-F238E27FC236}">
                <a16:creationId xmlns:a16="http://schemas.microsoft.com/office/drawing/2014/main" id="{C8D5AC83-E879-42C2-39F5-99542E63E973}"/>
              </a:ext>
            </a:extLst>
          </p:cNvPr>
          <p:cNvSpPr>
            <a:spLocks noGrp="1"/>
          </p:cNvSpPr>
          <p:nvPr>
            <p:ph type="ftr" sz="quarter" idx="5"/>
          </p:nvPr>
        </p:nvSpPr>
        <p:spPr/>
        <p:txBody>
          <a:bodyPr/>
          <a:lstStyle/>
          <a:p>
            <a:pPr>
              <a:spcBef>
                <a:spcPts val="5"/>
              </a:spcBef>
            </a:pPr>
            <a:endParaRPr lang="en-IN" spc="-5" dirty="0"/>
          </a:p>
        </p:txBody>
      </p:sp>
      <p:sp>
        <p:nvSpPr>
          <p:cNvPr id="7" name="object 7"/>
          <p:cNvSpPr txBox="1">
            <a:spLocks noGrp="1"/>
          </p:cNvSpPr>
          <p:nvPr>
            <p:ph type="title" idx="4294967295"/>
          </p:nvPr>
        </p:nvSpPr>
        <p:spPr>
          <a:xfrm>
            <a:off x="1" y="1463675"/>
            <a:ext cx="4130675" cy="330200"/>
          </a:xfrm>
          <a:prstGeom prst="rect">
            <a:avLst/>
          </a:prstGeom>
        </p:spPr>
        <p:txBody>
          <a:bodyPr vert="horz" wrap="square" lIns="0" tIns="12700" rIns="0" bIns="0" rtlCol="0">
            <a:spAutoFit/>
          </a:bodyPr>
          <a:lstStyle/>
          <a:p>
            <a:pPr marL="12700">
              <a:spcBef>
                <a:spcPts val="100"/>
              </a:spcBef>
            </a:pPr>
            <a:r>
              <a:rPr spc="-5" dirty="0"/>
              <a:t>Taxonomy</a:t>
            </a:r>
            <a:r>
              <a:rPr spc="-35" dirty="0"/>
              <a:t> </a:t>
            </a:r>
            <a:r>
              <a:rPr spc="-5" dirty="0"/>
              <a:t>of</a:t>
            </a:r>
            <a:r>
              <a:rPr spc="-30" dirty="0"/>
              <a:t> </a:t>
            </a:r>
            <a:r>
              <a:rPr spc="-5" dirty="0"/>
              <a:t>Generative</a:t>
            </a:r>
            <a:r>
              <a:rPr spc="-30" dirty="0"/>
              <a:t> </a:t>
            </a:r>
            <a:r>
              <a:rPr spc="-5" dirty="0"/>
              <a:t>Models</a:t>
            </a:r>
          </a:p>
        </p:txBody>
      </p:sp>
      <p:sp>
        <p:nvSpPr>
          <p:cNvPr id="8" name="object 8"/>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9" name="object 9"/>
          <p:cNvSpPr txBox="1"/>
          <p:nvPr/>
        </p:nvSpPr>
        <p:spPr>
          <a:xfrm>
            <a:off x="232308" y="5731503"/>
            <a:ext cx="1263650"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Generative</a:t>
            </a:r>
            <a:r>
              <a:rPr sz="1050" spc="-75" dirty="0">
                <a:solidFill>
                  <a:srgbClr val="313131"/>
                </a:solidFill>
                <a:latin typeface="Verdana"/>
                <a:cs typeface="Verdana"/>
              </a:rPr>
              <a:t> </a:t>
            </a:r>
            <a:r>
              <a:rPr sz="1050" spc="-5" dirty="0">
                <a:solidFill>
                  <a:srgbClr val="313131"/>
                </a:solidFill>
                <a:latin typeface="Verdana"/>
                <a:cs typeface="Verdana"/>
              </a:rPr>
              <a:t>Models</a:t>
            </a:r>
            <a:endParaRPr sz="1050">
              <a:solidFill>
                <a:prstClr val="black"/>
              </a:solidFill>
              <a:latin typeface="Verdana"/>
              <a:cs typeface="Verdana"/>
            </a:endParaRPr>
          </a:p>
        </p:txBody>
      </p:sp>
      <p:sp>
        <p:nvSpPr>
          <p:cNvPr id="10" name="object 10"/>
          <p:cNvSpPr txBox="1"/>
          <p:nvPr/>
        </p:nvSpPr>
        <p:spPr>
          <a:xfrm>
            <a:off x="4852733" y="5592489"/>
            <a:ext cx="3733165" cy="105157"/>
          </a:xfrm>
          <a:prstGeom prst="rect">
            <a:avLst/>
          </a:prstGeom>
        </p:spPr>
        <p:txBody>
          <a:bodyPr vert="horz" wrap="square" lIns="0" tIns="12700" rIns="0" bIns="0" rtlCol="0">
            <a:spAutoFit/>
          </a:bodyPr>
          <a:lstStyle/>
          <a:p>
            <a:pPr marL="12700">
              <a:spcBef>
                <a:spcPts val="100"/>
              </a:spcBef>
            </a:pPr>
            <a:r>
              <a:rPr sz="600" spc="-5" dirty="0">
                <a:solidFill>
                  <a:prstClr val="black"/>
                </a:solidFill>
                <a:latin typeface="Verdana"/>
                <a:cs typeface="Verdana"/>
              </a:rPr>
              <a:t>Figure</a:t>
            </a:r>
            <a:r>
              <a:rPr sz="600" spc="-10" dirty="0">
                <a:solidFill>
                  <a:prstClr val="black"/>
                </a:solidFill>
                <a:latin typeface="Verdana"/>
                <a:cs typeface="Verdana"/>
              </a:rPr>
              <a:t> </a:t>
            </a:r>
            <a:r>
              <a:rPr sz="600" spc="-5" dirty="0">
                <a:solidFill>
                  <a:prstClr val="black"/>
                </a:solidFill>
                <a:latin typeface="Verdana"/>
                <a:cs typeface="Verdana"/>
              </a:rPr>
              <a:t>copyright</a:t>
            </a:r>
            <a:r>
              <a:rPr sz="600" spc="-10" dirty="0">
                <a:solidFill>
                  <a:prstClr val="black"/>
                </a:solidFill>
                <a:latin typeface="Verdana"/>
                <a:cs typeface="Verdana"/>
              </a:rPr>
              <a:t> </a:t>
            </a:r>
            <a:r>
              <a:rPr sz="600" spc="-5" dirty="0">
                <a:solidFill>
                  <a:prstClr val="black"/>
                </a:solidFill>
                <a:latin typeface="Verdana"/>
                <a:cs typeface="Verdana"/>
              </a:rPr>
              <a:t>and</a:t>
            </a:r>
            <a:r>
              <a:rPr sz="600" spc="-10" dirty="0">
                <a:solidFill>
                  <a:prstClr val="black"/>
                </a:solidFill>
                <a:latin typeface="Verdana"/>
                <a:cs typeface="Verdana"/>
              </a:rPr>
              <a:t> </a:t>
            </a:r>
            <a:r>
              <a:rPr sz="600" spc="-5" dirty="0">
                <a:solidFill>
                  <a:prstClr val="black"/>
                </a:solidFill>
                <a:latin typeface="Verdana"/>
                <a:cs typeface="Verdana"/>
              </a:rPr>
              <a:t>adapted from</a:t>
            </a:r>
            <a:r>
              <a:rPr sz="600" spc="-10" dirty="0">
                <a:solidFill>
                  <a:prstClr val="black"/>
                </a:solidFill>
                <a:latin typeface="Verdana"/>
                <a:cs typeface="Verdana"/>
              </a:rPr>
              <a:t> </a:t>
            </a:r>
            <a:r>
              <a:rPr sz="600" spc="-5" dirty="0">
                <a:solidFill>
                  <a:prstClr val="black"/>
                </a:solidFill>
                <a:latin typeface="Verdana"/>
                <a:cs typeface="Verdana"/>
              </a:rPr>
              <a:t>Ian</a:t>
            </a:r>
            <a:r>
              <a:rPr sz="600" spc="-10" dirty="0">
                <a:solidFill>
                  <a:prstClr val="black"/>
                </a:solidFill>
                <a:latin typeface="Verdana"/>
                <a:cs typeface="Verdana"/>
              </a:rPr>
              <a:t> </a:t>
            </a:r>
            <a:r>
              <a:rPr sz="600" spc="-5" dirty="0">
                <a:solidFill>
                  <a:prstClr val="black"/>
                </a:solidFill>
                <a:latin typeface="Verdana"/>
                <a:cs typeface="Verdana"/>
              </a:rPr>
              <a:t>Goodfellow,</a:t>
            </a:r>
            <a:r>
              <a:rPr sz="600" spc="-10" dirty="0">
                <a:solidFill>
                  <a:prstClr val="black"/>
                </a:solidFill>
                <a:latin typeface="Verdana"/>
                <a:cs typeface="Verdana"/>
              </a:rPr>
              <a:t> </a:t>
            </a:r>
            <a:r>
              <a:rPr sz="600" spc="-5" dirty="0">
                <a:solidFill>
                  <a:prstClr val="black"/>
                </a:solidFill>
                <a:latin typeface="Verdana"/>
                <a:cs typeface="Verdana"/>
              </a:rPr>
              <a:t>Tutorial</a:t>
            </a:r>
            <a:r>
              <a:rPr sz="600" spc="-10" dirty="0">
                <a:solidFill>
                  <a:prstClr val="black"/>
                </a:solidFill>
                <a:latin typeface="Verdana"/>
                <a:cs typeface="Verdana"/>
              </a:rPr>
              <a:t> </a:t>
            </a:r>
            <a:r>
              <a:rPr sz="600" spc="-5" dirty="0">
                <a:solidFill>
                  <a:prstClr val="black"/>
                </a:solidFill>
                <a:latin typeface="Verdana"/>
                <a:cs typeface="Verdana"/>
              </a:rPr>
              <a:t>on Generative</a:t>
            </a:r>
            <a:r>
              <a:rPr sz="600" spc="-10" dirty="0">
                <a:solidFill>
                  <a:prstClr val="black"/>
                </a:solidFill>
                <a:latin typeface="Verdana"/>
                <a:cs typeface="Verdana"/>
              </a:rPr>
              <a:t> </a:t>
            </a:r>
            <a:r>
              <a:rPr sz="600" spc="-5" dirty="0">
                <a:solidFill>
                  <a:prstClr val="black"/>
                </a:solidFill>
                <a:latin typeface="Verdana"/>
                <a:cs typeface="Verdana"/>
              </a:rPr>
              <a:t>Adversarial</a:t>
            </a:r>
            <a:r>
              <a:rPr sz="600" spc="-10" dirty="0">
                <a:solidFill>
                  <a:prstClr val="black"/>
                </a:solidFill>
                <a:latin typeface="Verdana"/>
                <a:cs typeface="Verdana"/>
              </a:rPr>
              <a:t> </a:t>
            </a:r>
            <a:r>
              <a:rPr sz="600" spc="-5" dirty="0">
                <a:solidFill>
                  <a:prstClr val="black"/>
                </a:solidFill>
                <a:latin typeface="Verdana"/>
                <a:cs typeface="Verdana"/>
              </a:rPr>
              <a:t>Networks,</a:t>
            </a:r>
            <a:endParaRPr sz="600">
              <a:solidFill>
                <a:prstClr val="black"/>
              </a:solidFill>
              <a:latin typeface="Verdana"/>
              <a:cs typeface="Verdana"/>
            </a:endParaRPr>
          </a:p>
        </p:txBody>
      </p:sp>
      <p:sp>
        <p:nvSpPr>
          <p:cNvPr id="11" name="object 11"/>
          <p:cNvSpPr txBox="1"/>
          <p:nvPr/>
        </p:nvSpPr>
        <p:spPr>
          <a:xfrm>
            <a:off x="4852733" y="5687739"/>
            <a:ext cx="247015" cy="105157"/>
          </a:xfrm>
          <a:prstGeom prst="rect">
            <a:avLst/>
          </a:prstGeom>
        </p:spPr>
        <p:txBody>
          <a:bodyPr vert="horz" wrap="square" lIns="0" tIns="12700" rIns="0" bIns="0" rtlCol="0">
            <a:spAutoFit/>
          </a:bodyPr>
          <a:lstStyle/>
          <a:p>
            <a:pPr marL="12700">
              <a:spcBef>
                <a:spcPts val="100"/>
              </a:spcBef>
            </a:pPr>
            <a:r>
              <a:rPr sz="600" spc="-5" dirty="0">
                <a:solidFill>
                  <a:prstClr val="black"/>
                </a:solidFill>
                <a:latin typeface="Verdana"/>
                <a:cs typeface="Verdana"/>
              </a:rPr>
              <a:t>2017.</a:t>
            </a:r>
            <a:endParaRPr sz="600">
              <a:solidFill>
                <a:prstClr val="black"/>
              </a:solidFill>
              <a:latin typeface="Verdana"/>
              <a:cs typeface="Verdana"/>
            </a:endParaRPr>
          </a:p>
        </p:txBody>
      </p:sp>
      <p:sp>
        <p:nvSpPr>
          <p:cNvPr id="12" name="object 12"/>
          <p:cNvSpPr txBox="1"/>
          <p:nvPr/>
        </p:nvSpPr>
        <p:spPr>
          <a:xfrm>
            <a:off x="296141" y="4851186"/>
            <a:ext cx="753745" cy="166712"/>
          </a:xfrm>
          <a:prstGeom prst="rect">
            <a:avLst/>
          </a:prstGeom>
        </p:spPr>
        <p:txBody>
          <a:bodyPr vert="horz" wrap="square" lIns="0" tIns="12700" rIns="0" bIns="0" rtlCol="0">
            <a:spAutoFit/>
          </a:bodyPr>
          <a:lstStyle/>
          <a:p>
            <a:pPr marL="165100" indent="-152400">
              <a:spcBef>
                <a:spcPts val="100"/>
              </a:spcBef>
              <a:buClr>
                <a:srgbClr val="000000"/>
              </a:buClr>
              <a:buFont typeface="Arial MT"/>
              <a:buChar char="•"/>
              <a:tabLst>
                <a:tab pos="165100" algn="l"/>
              </a:tabLst>
            </a:pPr>
            <a:r>
              <a:rPr sz="1000" dirty="0">
                <a:solidFill>
                  <a:srgbClr val="43484C"/>
                </a:solidFill>
                <a:latin typeface="Verdana"/>
                <a:cs typeface="Verdana"/>
              </a:rPr>
              <a:t>PixelCNN</a:t>
            </a:r>
            <a:endParaRPr sz="1000">
              <a:solidFill>
                <a:prstClr val="black"/>
              </a:solidFill>
              <a:latin typeface="Verdana"/>
              <a:cs typeface="Verdana"/>
            </a:endParaRPr>
          </a:p>
        </p:txBody>
      </p:sp>
      <p:sp>
        <p:nvSpPr>
          <p:cNvPr id="13" name="object 13"/>
          <p:cNvSpPr txBox="1"/>
          <p:nvPr/>
        </p:nvSpPr>
        <p:spPr>
          <a:xfrm>
            <a:off x="46737" y="4199905"/>
            <a:ext cx="2000885" cy="667385"/>
          </a:xfrm>
          <a:prstGeom prst="rect">
            <a:avLst/>
          </a:prstGeom>
        </p:spPr>
        <p:txBody>
          <a:bodyPr vert="horz" wrap="square" lIns="0" tIns="12700" rIns="0" bIns="0" rtlCol="0">
            <a:spAutoFit/>
          </a:bodyPr>
          <a:lstStyle/>
          <a:p>
            <a:pPr marL="226060" marR="5080" indent="-226060">
              <a:lnSpc>
                <a:spcPct val="156400"/>
              </a:lnSpc>
              <a:spcBef>
                <a:spcPts val="100"/>
              </a:spcBef>
              <a:buClr>
                <a:srgbClr val="000000"/>
              </a:buClr>
              <a:buFont typeface="Yu Gothic UI"/>
              <a:buChar char="✓"/>
              <a:tabLst>
                <a:tab pos="226060" algn="l"/>
              </a:tabLst>
            </a:pPr>
            <a:r>
              <a:rPr sz="1000" spc="-5" dirty="0">
                <a:solidFill>
                  <a:srgbClr val="43484C"/>
                </a:solidFill>
                <a:latin typeface="Verdana"/>
                <a:cs typeface="Verdana"/>
              </a:rPr>
              <a:t>Change of variables models </a:t>
            </a:r>
            <a:r>
              <a:rPr sz="1000" spc="-340" dirty="0">
                <a:solidFill>
                  <a:srgbClr val="43484C"/>
                </a:solidFill>
                <a:latin typeface="Verdana"/>
                <a:cs typeface="Verdana"/>
              </a:rPr>
              <a:t> </a:t>
            </a:r>
            <a:r>
              <a:rPr sz="1000" spc="-5" dirty="0">
                <a:solidFill>
                  <a:srgbClr val="43484C"/>
                </a:solidFill>
                <a:latin typeface="Verdana"/>
                <a:cs typeface="Verdana"/>
              </a:rPr>
              <a:t>Fully</a:t>
            </a:r>
            <a:r>
              <a:rPr sz="1000" spc="-15" dirty="0">
                <a:solidFill>
                  <a:srgbClr val="43484C"/>
                </a:solidFill>
                <a:latin typeface="Verdana"/>
                <a:cs typeface="Verdana"/>
              </a:rPr>
              <a:t> </a:t>
            </a:r>
            <a:r>
              <a:rPr sz="1000" spc="-5" dirty="0">
                <a:solidFill>
                  <a:srgbClr val="43484C"/>
                </a:solidFill>
                <a:latin typeface="Verdana"/>
                <a:cs typeface="Verdana"/>
              </a:rPr>
              <a:t>Visible</a:t>
            </a:r>
            <a:r>
              <a:rPr sz="1000" spc="-15" dirty="0">
                <a:solidFill>
                  <a:srgbClr val="43484C"/>
                </a:solidFill>
                <a:latin typeface="Verdana"/>
                <a:cs typeface="Verdana"/>
              </a:rPr>
              <a:t> </a:t>
            </a:r>
            <a:r>
              <a:rPr sz="1000" spc="-5" dirty="0">
                <a:solidFill>
                  <a:srgbClr val="43484C"/>
                </a:solidFill>
                <a:latin typeface="Verdana"/>
                <a:cs typeface="Verdana"/>
              </a:rPr>
              <a:t>Belief</a:t>
            </a:r>
            <a:r>
              <a:rPr sz="1000" spc="-15" dirty="0">
                <a:solidFill>
                  <a:srgbClr val="43484C"/>
                </a:solidFill>
                <a:latin typeface="Verdana"/>
                <a:cs typeface="Verdana"/>
              </a:rPr>
              <a:t> </a:t>
            </a:r>
            <a:r>
              <a:rPr sz="1000" spc="-5" dirty="0">
                <a:solidFill>
                  <a:srgbClr val="43484C"/>
                </a:solidFill>
                <a:latin typeface="Verdana"/>
                <a:cs typeface="Verdana"/>
              </a:rPr>
              <a:t>Nets</a:t>
            </a:r>
            <a:endParaRPr sz="1000">
              <a:solidFill>
                <a:prstClr val="black"/>
              </a:solidFill>
              <a:latin typeface="Verdana"/>
              <a:cs typeface="Verdana"/>
            </a:endParaRPr>
          </a:p>
          <a:p>
            <a:pPr marL="414020" lvl="1" indent="-153035">
              <a:spcBef>
                <a:spcPts val="100"/>
              </a:spcBef>
              <a:buClr>
                <a:srgbClr val="000000"/>
              </a:buClr>
              <a:buFont typeface="Arial MT"/>
              <a:buChar char="•"/>
              <a:tabLst>
                <a:tab pos="414655" algn="l"/>
              </a:tabLst>
            </a:pPr>
            <a:r>
              <a:rPr sz="1000" dirty="0">
                <a:solidFill>
                  <a:srgbClr val="43484C"/>
                </a:solidFill>
                <a:latin typeface="Verdana"/>
                <a:cs typeface="Verdana"/>
              </a:rPr>
              <a:t>PixelRNN</a:t>
            </a:r>
            <a:endParaRPr sz="1000">
              <a:solidFill>
                <a:prstClr val="black"/>
              </a:solidFill>
              <a:latin typeface="Verdana"/>
              <a:cs typeface="Verdana"/>
            </a:endParaRPr>
          </a:p>
        </p:txBody>
      </p:sp>
      <p:sp>
        <p:nvSpPr>
          <p:cNvPr id="14" name="object 14"/>
          <p:cNvSpPr txBox="1"/>
          <p:nvPr/>
        </p:nvSpPr>
        <p:spPr>
          <a:xfrm>
            <a:off x="2007978" y="4918711"/>
            <a:ext cx="1551940"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Variational</a:t>
            </a:r>
            <a:r>
              <a:rPr sz="1000" spc="-70" dirty="0">
                <a:solidFill>
                  <a:srgbClr val="43484C"/>
                </a:solidFill>
                <a:latin typeface="Verdana"/>
                <a:cs typeface="Verdana"/>
              </a:rPr>
              <a:t> </a:t>
            </a:r>
            <a:r>
              <a:rPr sz="1000" spc="-5" dirty="0">
                <a:solidFill>
                  <a:srgbClr val="43484C"/>
                </a:solidFill>
                <a:latin typeface="Verdana"/>
                <a:cs typeface="Verdana"/>
              </a:rPr>
              <a:t>Autoencoder</a:t>
            </a:r>
            <a:endParaRPr sz="1000">
              <a:solidFill>
                <a:prstClr val="black"/>
              </a:solidFill>
              <a:latin typeface="Verdana"/>
              <a:cs typeface="Verdana"/>
            </a:endParaRPr>
          </a:p>
        </p:txBody>
      </p:sp>
      <p:sp>
        <p:nvSpPr>
          <p:cNvPr id="15" name="object 15"/>
          <p:cNvSpPr/>
          <p:nvPr/>
        </p:nvSpPr>
        <p:spPr>
          <a:xfrm>
            <a:off x="3182785" y="2113411"/>
            <a:ext cx="1695450" cy="539750"/>
          </a:xfrm>
          <a:custGeom>
            <a:avLst/>
            <a:gdLst/>
            <a:ahLst/>
            <a:cxnLst/>
            <a:rect l="l" t="t" r="r" b="b"/>
            <a:pathLst>
              <a:path w="1695450" h="539750">
                <a:moveTo>
                  <a:pt x="1605151" y="539248"/>
                </a:moveTo>
                <a:lnTo>
                  <a:pt x="89876" y="539248"/>
                </a:lnTo>
                <a:lnTo>
                  <a:pt x="54892" y="532186"/>
                </a:lnTo>
                <a:lnTo>
                  <a:pt x="26324" y="512924"/>
                </a:lnTo>
                <a:lnTo>
                  <a:pt x="7062" y="484356"/>
                </a:lnTo>
                <a:lnTo>
                  <a:pt x="0" y="449372"/>
                </a:lnTo>
                <a:lnTo>
                  <a:pt x="0" y="89876"/>
                </a:lnTo>
                <a:lnTo>
                  <a:pt x="7062" y="54892"/>
                </a:lnTo>
                <a:lnTo>
                  <a:pt x="26324" y="26324"/>
                </a:lnTo>
                <a:lnTo>
                  <a:pt x="54892" y="7062"/>
                </a:lnTo>
                <a:lnTo>
                  <a:pt x="89876" y="0"/>
                </a:lnTo>
                <a:lnTo>
                  <a:pt x="1605151" y="0"/>
                </a:lnTo>
                <a:lnTo>
                  <a:pt x="1655015" y="15100"/>
                </a:lnTo>
                <a:lnTo>
                  <a:pt x="1688186" y="55482"/>
                </a:lnTo>
                <a:lnTo>
                  <a:pt x="1695027" y="89876"/>
                </a:lnTo>
                <a:lnTo>
                  <a:pt x="1695027" y="449372"/>
                </a:lnTo>
                <a:lnTo>
                  <a:pt x="1687965" y="484356"/>
                </a:lnTo>
                <a:lnTo>
                  <a:pt x="1668703" y="512924"/>
                </a:lnTo>
                <a:lnTo>
                  <a:pt x="1640135" y="532186"/>
                </a:lnTo>
                <a:lnTo>
                  <a:pt x="1605151" y="539248"/>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16" name="object 16"/>
          <p:cNvSpPr txBox="1"/>
          <p:nvPr/>
        </p:nvSpPr>
        <p:spPr>
          <a:xfrm>
            <a:off x="3404939" y="2279024"/>
            <a:ext cx="125031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Generative</a:t>
            </a:r>
            <a:r>
              <a:rPr sz="1100" spc="-75" dirty="0">
                <a:solidFill>
                  <a:srgbClr val="43484C"/>
                </a:solidFill>
                <a:latin typeface="Verdana"/>
                <a:cs typeface="Verdana"/>
              </a:rPr>
              <a:t> </a:t>
            </a:r>
            <a:r>
              <a:rPr sz="1100" spc="-5" dirty="0">
                <a:solidFill>
                  <a:srgbClr val="43484C"/>
                </a:solidFill>
                <a:latin typeface="Verdana"/>
                <a:cs typeface="Verdana"/>
              </a:rPr>
              <a:t>Model</a:t>
            </a:r>
            <a:endParaRPr sz="1100">
              <a:solidFill>
                <a:prstClr val="black"/>
              </a:solidFill>
              <a:latin typeface="Verdana"/>
              <a:cs typeface="Verdana"/>
            </a:endParaRPr>
          </a:p>
        </p:txBody>
      </p:sp>
      <p:sp>
        <p:nvSpPr>
          <p:cNvPr id="17" name="object 17"/>
          <p:cNvSpPr/>
          <p:nvPr/>
        </p:nvSpPr>
        <p:spPr>
          <a:xfrm>
            <a:off x="1328496" y="2830894"/>
            <a:ext cx="1695450" cy="514350"/>
          </a:xfrm>
          <a:custGeom>
            <a:avLst/>
            <a:gdLst/>
            <a:ahLst/>
            <a:cxnLst/>
            <a:rect l="l" t="t" r="r" b="b"/>
            <a:pathLst>
              <a:path w="1695450" h="514350">
                <a:moveTo>
                  <a:pt x="1609322" y="514220"/>
                </a:moveTo>
                <a:lnTo>
                  <a:pt x="85705" y="514220"/>
                </a:lnTo>
                <a:lnTo>
                  <a:pt x="52344" y="507485"/>
                </a:lnTo>
                <a:lnTo>
                  <a:pt x="25102" y="489118"/>
                </a:lnTo>
                <a:lnTo>
                  <a:pt x="6735" y="461876"/>
                </a:lnTo>
                <a:lnTo>
                  <a:pt x="0" y="428515"/>
                </a:lnTo>
                <a:lnTo>
                  <a:pt x="0" y="85705"/>
                </a:lnTo>
                <a:lnTo>
                  <a:pt x="6735" y="52344"/>
                </a:lnTo>
                <a:lnTo>
                  <a:pt x="25102" y="25102"/>
                </a:lnTo>
                <a:lnTo>
                  <a:pt x="52344" y="6735"/>
                </a:lnTo>
                <a:lnTo>
                  <a:pt x="85705" y="0"/>
                </a:lnTo>
                <a:lnTo>
                  <a:pt x="1609322" y="0"/>
                </a:lnTo>
                <a:lnTo>
                  <a:pt x="1656872" y="14399"/>
                </a:lnTo>
                <a:lnTo>
                  <a:pt x="1688504" y="52907"/>
                </a:lnTo>
                <a:lnTo>
                  <a:pt x="1695027" y="85705"/>
                </a:lnTo>
                <a:lnTo>
                  <a:pt x="1695027" y="428515"/>
                </a:lnTo>
                <a:lnTo>
                  <a:pt x="1688292" y="461876"/>
                </a:lnTo>
                <a:lnTo>
                  <a:pt x="1669925" y="489118"/>
                </a:lnTo>
                <a:lnTo>
                  <a:pt x="1642683" y="507485"/>
                </a:lnTo>
                <a:lnTo>
                  <a:pt x="1609322" y="514220"/>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18" name="object 18"/>
          <p:cNvSpPr txBox="1"/>
          <p:nvPr/>
        </p:nvSpPr>
        <p:spPr>
          <a:xfrm>
            <a:off x="1624640" y="2983992"/>
            <a:ext cx="1102360"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Explicit</a:t>
            </a:r>
            <a:r>
              <a:rPr sz="1100" spc="-7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19" name="object 19"/>
          <p:cNvSpPr/>
          <p:nvPr/>
        </p:nvSpPr>
        <p:spPr>
          <a:xfrm>
            <a:off x="5202119" y="2838513"/>
            <a:ext cx="1711960" cy="490220"/>
          </a:xfrm>
          <a:custGeom>
            <a:avLst/>
            <a:gdLst/>
            <a:ahLst/>
            <a:cxnLst/>
            <a:rect l="l" t="t" r="r" b="b"/>
            <a:pathLst>
              <a:path w="1711959" h="490219">
                <a:moveTo>
                  <a:pt x="1630179" y="489793"/>
                </a:moveTo>
                <a:lnTo>
                  <a:pt x="81633" y="489793"/>
                </a:lnTo>
                <a:lnTo>
                  <a:pt x="49858" y="483378"/>
                </a:lnTo>
                <a:lnTo>
                  <a:pt x="23909" y="465884"/>
                </a:lnTo>
                <a:lnTo>
                  <a:pt x="6415" y="439935"/>
                </a:lnTo>
                <a:lnTo>
                  <a:pt x="0" y="408159"/>
                </a:lnTo>
                <a:lnTo>
                  <a:pt x="0" y="81633"/>
                </a:lnTo>
                <a:lnTo>
                  <a:pt x="6415" y="49858"/>
                </a:lnTo>
                <a:lnTo>
                  <a:pt x="23909" y="23910"/>
                </a:lnTo>
                <a:lnTo>
                  <a:pt x="49858" y="6415"/>
                </a:lnTo>
                <a:lnTo>
                  <a:pt x="81633" y="0"/>
                </a:lnTo>
                <a:lnTo>
                  <a:pt x="1630179" y="0"/>
                </a:lnTo>
                <a:lnTo>
                  <a:pt x="1675469" y="13715"/>
                </a:lnTo>
                <a:lnTo>
                  <a:pt x="1705598" y="50393"/>
                </a:lnTo>
                <a:lnTo>
                  <a:pt x="1711812" y="81633"/>
                </a:lnTo>
                <a:lnTo>
                  <a:pt x="1711812" y="408159"/>
                </a:lnTo>
                <a:lnTo>
                  <a:pt x="1705397" y="439935"/>
                </a:lnTo>
                <a:lnTo>
                  <a:pt x="1687902" y="465884"/>
                </a:lnTo>
                <a:lnTo>
                  <a:pt x="1661954" y="483378"/>
                </a:lnTo>
                <a:lnTo>
                  <a:pt x="1630179" y="48979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0" name="object 20"/>
          <p:cNvSpPr txBox="1"/>
          <p:nvPr/>
        </p:nvSpPr>
        <p:spPr>
          <a:xfrm>
            <a:off x="5494683" y="2996925"/>
            <a:ext cx="112712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Implicit</a:t>
            </a:r>
            <a:r>
              <a:rPr sz="1100" spc="-6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21" name="object 21"/>
          <p:cNvSpPr/>
          <p:nvPr/>
        </p:nvSpPr>
        <p:spPr>
          <a:xfrm>
            <a:off x="4659379" y="3461779"/>
            <a:ext cx="1085850" cy="449580"/>
          </a:xfrm>
          <a:custGeom>
            <a:avLst/>
            <a:gdLst/>
            <a:ahLst/>
            <a:cxnLst/>
            <a:rect l="l" t="t" r="r" b="b"/>
            <a:pathLst>
              <a:path w="1085850" h="449580">
                <a:moveTo>
                  <a:pt x="1010636" y="449053"/>
                </a:moveTo>
                <a:lnTo>
                  <a:pt x="74843" y="449053"/>
                </a:lnTo>
                <a:lnTo>
                  <a:pt x="45710" y="443172"/>
                </a:lnTo>
                <a:lnTo>
                  <a:pt x="21921" y="427132"/>
                </a:lnTo>
                <a:lnTo>
                  <a:pt x="5881" y="403342"/>
                </a:lnTo>
                <a:lnTo>
                  <a:pt x="0" y="374210"/>
                </a:lnTo>
                <a:lnTo>
                  <a:pt x="0" y="74843"/>
                </a:lnTo>
                <a:lnTo>
                  <a:pt x="5881" y="45711"/>
                </a:lnTo>
                <a:lnTo>
                  <a:pt x="21921" y="21921"/>
                </a:lnTo>
                <a:lnTo>
                  <a:pt x="45710" y="5881"/>
                </a:lnTo>
                <a:lnTo>
                  <a:pt x="74843" y="0"/>
                </a:lnTo>
                <a:lnTo>
                  <a:pt x="1010636" y="0"/>
                </a:lnTo>
                <a:lnTo>
                  <a:pt x="1052160" y="12574"/>
                </a:lnTo>
                <a:lnTo>
                  <a:pt x="1079783" y="46202"/>
                </a:lnTo>
                <a:lnTo>
                  <a:pt x="1085480" y="74843"/>
                </a:lnTo>
                <a:lnTo>
                  <a:pt x="1085480" y="374210"/>
                </a:lnTo>
                <a:lnTo>
                  <a:pt x="1079599" y="403342"/>
                </a:lnTo>
                <a:lnTo>
                  <a:pt x="1063559" y="427132"/>
                </a:lnTo>
                <a:lnTo>
                  <a:pt x="1039769" y="443172"/>
                </a:lnTo>
                <a:lnTo>
                  <a:pt x="1010636"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2" name="object 22"/>
          <p:cNvSpPr txBox="1"/>
          <p:nvPr/>
        </p:nvSpPr>
        <p:spPr>
          <a:xfrm>
            <a:off x="4981246" y="3582295"/>
            <a:ext cx="441959"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Direct</a:t>
            </a:r>
            <a:endParaRPr sz="1100">
              <a:solidFill>
                <a:prstClr val="black"/>
              </a:solidFill>
              <a:latin typeface="Verdana"/>
              <a:cs typeface="Verdana"/>
            </a:endParaRPr>
          </a:p>
        </p:txBody>
      </p:sp>
      <p:sp>
        <p:nvSpPr>
          <p:cNvPr id="23" name="object 23"/>
          <p:cNvSpPr/>
          <p:nvPr/>
        </p:nvSpPr>
        <p:spPr>
          <a:xfrm>
            <a:off x="88492" y="3479577"/>
            <a:ext cx="1805305" cy="429259"/>
          </a:xfrm>
          <a:custGeom>
            <a:avLst/>
            <a:gdLst/>
            <a:ahLst/>
            <a:cxnLst/>
            <a:rect l="l" t="t" r="r" b="b"/>
            <a:pathLst>
              <a:path w="1805305" h="429260">
                <a:moveTo>
                  <a:pt x="1733695" y="429038"/>
                </a:moveTo>
                <a:lnTo>
                  <a:pt x="71507" y="429038"/>
                </a:lnTo>
                <a:lnTo>
                  <a:pt x="43673" y="423419"/>
                </a:lnTo>
                <a:lnTo>
                  <a:pt x="20944" y="408094"/>
                </a:lnTo>
                <a:lnTo>
                  <a:pt x="5619" y="385365"/>
                </a:lnTo>
                <a:lnTo>
                  <a:pt x="0" y="357530"/>
                </a:lnTo>
                <a:lnTo>
                  <a:pt x="0" y="71507"/>
                </a:lnTo>
                <a:lnTo>
                  <a:pt x="5619" y="43673"/>
                </a:lnTo>
                <a:lnTo>
                  <a:pt x="20944" y="20944"/>
                </a:lnTo>
                <a:lnTo>
                  <a:pt x="43673" y="5619"/>
                </a:lnTo>
                <a:lnTo>
                  <a:pt x="71507" y="0"/>
                </a:lnTo>
                <a:lnTo>
                  <a:pt x="1733695" y="0"/>
                </a:lnTo>
                <a:lnTo>
                  <a:pt x="1773367" y="12014"/>
                </a:lnTo>
                <a:lnTo>
                  <a:pt x="1799759" y="44142"/>
                </a:lnTo>
                <a:lnTo>
                  <a:pt x="1805202" y="71507"/>
                </a:lnTo>
                <a:lnTo>
                  <a:pt x="1805202" y="357530"/>
                </a:lnTo>
                <a:lnTo>
                  <a:pt x="1799583" y="385365"/>
                </a:lnTo>
                <a:lnTo>
                  <a:pt x="1784258" y="408094"/>
                </a:lnTo>
                <a:lnTo>
                  <a:pt x="1761529" y="423419"/>
                </a:lnTo>
                <a:lnTo>
                  <a:pt x="1733695" y="429038"/>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4" name="object 24"/>
          <p:cNvSpPr txBox="1"/>
          <p:nvPr/>
        </p:nvSpPr>
        <p:spPr>
          <a:xfrm>
            <a:off x="365254" y="3590084"/>
            <a:ext cx="125158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Tractable</a:t>
            </a:r>
            <a:r>
              <a:rPr sz="1100" spc="-7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25" name="object 25"/>
          <p:cNvSpPr/>
          <p:nvPr/>
        </p:nvSpPr>
        <p:spPr>
          <a:xfrm>
            <a:off x="2408745" y="3475665"/>
            <a:ext cx="1921510" cy="449580"/>
          </a:xfrm>
          <a:custGeom>
            <a:avLst/>
            <a:gdLst/>
            <a:ahLst/>
            <a:cxnLst/>
            <a:rect l="l" t="t" r="r" b="b"/>
            <a:pathLst>
              <a:path w="1921510" h="449580">
                <a:moveTo>
                  <a:pt x="1846537" y="449053"/>
                </a:moveTo>
                <a:lnTo>
                  <a:pt x="74843" y="449053"/>
                </a:lnTo>
                <a:lnTo>
                  <a:pt x="45711" y="443172"/>
                </a:lnTo>
                <a:lnTo>
                  <a:pt x="21921" y="427132"/>
                </a:lnTo>
                <a:lnTo>
                  <a:pt x="5881" y="403342"/>
                </a:lnTo>
                <a:lnTo>
                  <a:pt x="0" y="374210"/>
                </a:lnTo>
                <a:lnTo>
                  <a:pt x="0" y="74843"/>
                </a:lnTo>
                <a:lnTo>
                  <a:pt x="5881" y="45711"/>
                </a:lnTo>
                <a:lnTo>
                  <a:pt x="21921" y="21921"/>
                </a:lnTo>
                <a:lnTo>
                  <a:pt x="45711" y="5881"/>
                </a:lnTo>
                <a:lnTo>
                  <a:pt x="74843" y="0"/>
                </a:lnTo>
                <a:lnTo>
                  <a:pt x="1846537" y="0"/>
                </a:lnTo>
                <a:lnTo>
                  <a:pt x="1888060" y="12574"/>
                </a:lnTo>
                <a:lnTo>
                  <a:pt x="1915683" y="46202"/>
                </a:lnTo>
                <a:lnTo>
                  <a:pt x="1921380" y="74843"/>
                </a:lnTo>
                <a:lnTo>
                  <a:pt x="1921380" y="374210"/>
                </a:lnTo>
                <a:lnTo>
                  <a:pt x="1915499" y="403342"/>
                </a:lnTo>
                <a:lnTo>
                  <a:pt x="1899459" y="427132"/>
                </a:lnTo>
                <a:lnTo>
                  <a:pt x="1875669" y="443172"/>
                </a:lnTo>
                <a:lnTo>
                  <a:pt x="1846537"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6" name="object 26"/>
          <p:cNvSpPr txBox="1"/>
          <p:nvPr/>
        </p:nvSpPr>
        <p:spPr>
          <a:xfrm>
            <a:off x="2622128" y="3596181"/>
            <a:ext cx="1493520"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Approximate</a:t>
            </a:r>
            <a:r>
              <a:rPr sz="1100" spc="-75" dirty="0">
                <a:solidFill>
                  <a:srgbClr val="43484C"/>
                </a:solidFill>
                <a:latin typeface="Verdana"/>
                <a:cs typeface="Verdana"/>
              </a:rPr>
              <a:t> </a:t>
            </a:r>
            <a:r>
              <a:rPr sz="1100" spc="-5" dirty="0">
                <a:solidFill>
                  <a:srgbClr val="43484C"/>
                </a:solidFill>
                <a:latin typeface="Verdana"/>
                <a:cs typeface="Verdana"/>
              </a:rPr>
              <a:t>Density</a:t>
            </a:r>
            <a:endParaRPr sz="1100">
              <a:solidFill>
                <a:prstClr val="black"/>
              </a:solidFill>
              <a:latin typeface="Verdana"/>
              <a:cs typeface="Verdana"/>
            </a:endParaRPr>
          </a:p>
        </p:txBody>
      </p:sp>
      <p:sp>
        <p:nvSpPr>
          <p:cNvPr id="27" name="object 27"/>
          <p:cNvSpPr/>
          <p:nvPr/>
        </p:nvSpPr>
        <p:spPr>
          <a:xfrm>
            <a:off x="6282814" y="3461780"/>
            <a:ext cx="1329055" cy="446405"/>
          </a:xfrm>
          <a:custGeom>
            <a:avLst/>
            <a:gdLst/>
            <a:ahLst/>
            <a:cxnLst/>
            <a:rect l="l" t="t" r="r" b="b"/>
            <a:pathLst>
              <a:path w="1329054" h="446405">
                <a:moveTo>
                  <a:pt x="1254619" y="445982"/>
                </a:moveTo>
                <a:lnTo>
                  <a:pt x="74331" y="445982"/>
                </a:lnTo>
                <a:lnTo>
                  <a:pt x="45398" y="440140"/>
                </a:lnTo>
                <a:lnTo>
                  <a:pt x="21771" y="424210"/>
                </a:lnTo>
                <a:lnTo>
                  <a:pt x="5841" y="400583"/>
                </a:lnTo>
                <a:lnTo>
                  <a:pt x="0" y="371650"/>
                </a:lnTo>
                <a:lnTo>
                  <a:pt x="0" y="74331"/>
                </a:lnTo>
                <a:lnTo>
                  <a:pt x="5841" y="45398"/>
                </a:lnTo>
                <a:lnTo>
                  <a:pt x="21771" y="21771"/>
                </a:lnTo>
                <a:lnTo>
                  <a:pt x="45398" y="5841"/>
                </a:lnTo>
                <a:lnTo>
                  <a:pt x="74331" y="0"/>
                </a:lnTo>
                <a:lnTo>
                  <a:pt x="1254619" y="0"/>
                </a:lnTo>
                <a:lnTo>
                  <a:pt x="1295859" y="12488"/>
                </a:lnTo>
                <a:lnTo>
                  <a:pt x="1323293" y="45886"/>
                </a:lnTo>
                <a:lnTo>
                  <a:pt x="1328951" y="74331"/>
                </a:lnTo>
                <a:lnTo>
                  <a:pt x="1328951" y="371650"/>
                </a:lnTo>
                <a:lnTo>
                  <a:pt x="1323110" y="400583"/>
                </a:lnTo>
                <a:lnTo>
                  <a:pt x="1307180" y="424210"/>
                </a:lnTo>
                <a:lnTo>
                  <a:pt x="1283552" y="440140"/>
                </a:lnTo>
                <a:lnTo>
                  <a:pt x="1254619" y="445982"/>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28" name="object 28"/>
          <p:cNvSpPr txBox="1"/>
          <p:nvPr/>
        </p:nvSpPr>
        <p:spPr>
          <a:xfrm>
            <a:off x="6468754" y="3580758"/>
            <a:ext cx="95567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Markov</a:t>
            </a:r>
            <a:r>
              <a:rPr sz="1100" spc="-75" dirty="0">
                <a:solidFill>
                  <a:srgbClr val="43484C"/>
                </a:solidFill>
                <a:latin typeface="Verdana"/>
                <a:cs typeface="Verdana"/>
              </a:rPr>
              <a:t> </a:t>
            </a:r>
            <a:r>
              <a:rPr sz="1100" spc="-5" dirty="0">
                <a:solidFill>
                  <a:srgbClr val="43484C"/>
                </a:solidFill>
                <a:latin typeface="Verdana"/>
                <a:cs typeface="Verdana"/>
              </a:rPr>
              <a:t>chain</a:t>
            </a:r>
            <a:endParaRPr sz="1100">
              <a:solidFill>
                <a:prstClr val="black"/>
              </a:solidFill>
              <a:latin typeface="Verdana"/>
              <a:cs typeface="Verdana"/>
            </a:endParaRPr>
          </a:p>
        </p:txBody>
      </p:sp>
      <p:sp>
        <p:nvSpPr>
          <p:cNvPr id="29" name="object 29"/>
          <p:cNvSpPr/>
          <p:nvPr/>
        </p:nvSpPr>
        <p:spPr>
          <a:xfrm>
            <a:off x="2199958" y="4070611"/>
            <a:ext cx="1085850" cy="449580"/>
          </a:xfrm>
          <a:custGeom>
            <a:avLst/>
            <a:gdLst/>
            <a:ahLst/>
            <a:cxnLst/>
            <a:rect l="l" t="t" r="r" b="b"/>
            <a:pathLst>
              <a:path w="1085850" h="449579">
                <a:moveTo>
                  <a:pt x="1010636" y="449053"/>
                </a:moveTo>
                <a:lnTo>
                  <a:pt x="74843" y="449053"/>
                </a:lnTo>
                <a:lnTo>
                  <a:pt x="45711" y="443172"/>
                </a:lnTo>
                <a:lnTo>
                  <a:pt x="21921" y="427132"/>
                </a:lnTo>
                <a:lnTo>
                  <a:pt x="5881" y="403342"/>
                </a:lnTo>
                <a:lnTo>
                  <a:pt x="0" y="374209"/>
                </a:lnTo>
                <a:lnTo>
                  <a:pt x="0" y="74843"/>
                </a:lnTo>
                <a:lnTo>
                  <a:pt x="5881" y="45711"/>
                </a:lnTo>
                <a:lnTo>
                  <a:pt x="21921" y="21921"/>
                </a:lnTo>
                <a:lnTo>
                  <a:pt x="45711" y="5881"/>
                </a:lnTo>
                <a:lnTo>
                  <a:pt x="74843" y="0"/>
                </a:lnTo>
                <a:lnTo>
                  <a:pt x="1010636" y="0"/>
                </a:lnTo>
                <a:lnTo>
                  <a:pt x="1052160" y="12574"/>
                </a:lnTo>
                <a:lnTo>
                  <a:pt x="1079783" y="46202"/>
                </a:lnTo>
                <a:lnTo>
                  <a:pt x="1085480" y="74843"/>
                </a:lnTo>
                <a:lnTo>
                  <a:pt x="1085480" y="374209"/>
                </a:lnTo>
                <a:lnTo>
                  <a:pt x="1079599" y="403342"/>
                </a:lnTo>
                <a:lnTo>
                  <a:pt x="1063559" y="427132"/>
                </a:lnTo>
                <a:lnTo>
                  <a:pt x="1039769" y="443172"/>
                </a:lnTo>
                <a:lnTo>
                  <a:pt x="1010636"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30" name="object 30"/>
          <p:cNvSpPr txBox="1"/>
          <p:nvPr/>
        </p:nvSpPr>
        <p:spPr>
          <a:xfrm>
            <a:off x="2355231" y="4191125"/>
            <a:ext cx="774700"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Variational</a:t>
            </a:r>
            <a:endParaRPr sz="1100">
              <a:solidFill>
                <a:prstClr val="black"/>
              </a:solidFill>
              <a:latin typeface="Verdana"/>
              <a:cs typeface="Verdana"/>
            </a:endParaRPr>
          </a:p>
        </p:txBody>
      </p:sp>
      <p:sp>
        <p:nvSpPr>
          <p:cNvPr id="31" name="object 31"/>
          <p:cNvSpPr/>
          <p:nvPr/>
        </p:nvSpPr>
        <p:spPr>
          <a:xfrm>
            <a:off x="3430120" y="4070611"/>
            <a:ext cx="1200785" cy="449580"/>
          </a:xfrm>
          <a:custGeom>
            <a:avLst/>
            <a:gdLst/>
            <a:ahLst/>
            <a:cxnLst/>
            <a:rect l="l" t="t" r="r" b="b"/>
            <a:pathLst>
              <a:path w="1200785" h="449579">
                <a:moveTo>
                  <a:pt x="1125516" y="449053"/>
                </a:moveTo>
                <a:lnTo>
                  <a:pt x="74843" y="449053"/>
                </a:lnTo>
                <a:lnTo>
                  <a:pt x="45711" y="443172"/>
                </a:lnTo>
                <a:lnTo>
                  <a:pt x="21921" y="427132"/>
                </a:lnTo>
                <a:lnTo>
                  <a:pt x="5881" y="403342"/>
                </a:lnTo>
                <a:lnTo>
                  <a:pt x="0" y="374209"/>
                </a:lnTo>
                <a:lnTo>
                  <a:pt x="0" y="74843"/>
                </a:lnTo>
                <a:lnTo>
                  <a:pt x="5881" y="45711"/>
                </a:lnTo>
                <a:lnTo>
                  <a:pt x="21921" y="21921"/>
                </a:lnTo>
                <a:lnTo>
                  <a:pt x="45711" y="5881"/>
                </a:lnTo>
                <a:lnTo>
                  <a:pt x="74843" y="0"/>
                </a:lnTo>
                <a:lnTo>
                  <a:pt x="1125516" y="0"/>
                </a:lnTo>
                <a:lnTo>
                  <a:pt x="1167040" y="12574"/>
                </a:lnTo>
                <a:lnTo>
                  <a:pt x="1194663" y="46202"/>
                </a:lnTo>
                <a:lnTo>
                  <a:pt x="1200360" y="74843"/>
                </a:lnTo>
                <a:lnTo>
                  <a:pt x="1200360" y="374209"/>
                </a:lnTo>
                <a:lnTo>
                  <a:pt x="1194479" y="403342"/>
                </a:lnTo>
                <a:lnTo>
                  <a:pt x="1178439" y="427132"/>
                </a:lnTo>
                <a:lnTo>
                  <a:pt x="1154649" y="443172"/>
                </a:lnTo>
                <a:lnTo>
                  <a:pt x="1125516" y="449053"/>
                </a:lnTo>
                <a:close/>
              </a:path>
            </a:pathLst>
          </a:custGeom>
          <a:solidFill>
            <a:srgbClr val="EAEAEA"/>
          </a:solidFill>
        </p:spPr>
        <p:txBody>
          <a:bodyPr wrap="square" lIns="0" tIns="0" rIns="0" bIns="0" rtlCol="0"/>
          <a:lstStyle/>
          <a:p>
            <a:endParaRPr>
              <a:solidFill>
                <a:prstClr val="black"/>
              </a:solidFill>
              <a:latin typeface="Calibri"/>
            </a:endParaRPr>
          </a:p>
        </p:txBody>
      </p:sp>
      <p:sp>
        <p:nvSpPr>
          <p:cNvPr id="32" name="object 32"/>
          <p:cNvSpPr txBox="1"/>
          <p:nvPr/>
        </p:nvSpPr>
        <p:spPr>
          <a:xfrm>
            <a:off x="3551764" y="4191125"/>
            <a:ext cx="955675" cy="182101"/>
          </a:xfrm>
          <a:prstGeom prst="rect">
            <a:avLst/>
          </a:prstGeom>
        </p:spPr>
        <p:txBody>
          <a:bodyPr vert="horz" wrap="square" lIns="0" tIns="12700" rIns="0" bIns="0" rtlCol="0">
            <a:spAutoFit/>
          </a:bodyPr>
          <a:lstStyle/>
          <a:p>
            <a:pPr marL="12700">
              <a:spcBef>
                <a:spcPts val="100"/>
              </a:spcBef>
            </a:pPr>
            <a:r>
              <a:rPr sz="1100" spc="-5" dirty="0">
                <a:solidFill>
                  <a:srgbClr val="43484C"/>
                </a:solidFill>
                <a:latin typeface="Verdana"/>
                <a:cs typeface="Verdana"/>
              </a:rPr>
              <a:t>Markov</a:t>
            </a:r>
            <a:r>
              <a:rPr sz="1100" spc="-75" dirty="0">
                <a:solidFill>
                  <a:srgbClr val="43484C"/>
                </a:solidFill>
                <a:latin typeface="Verdana"/>
                <a:cs typeface="Verdana"/>
              </a:rPr>
              <a:t> </a:t>
            </a:r>
            <a:r>
              <a:rPr sz="1100" spc="-5" dirty="0">
                <a:solidFill>
                  <a:srgbClr val="43484C"/>
                </a:solidFill>
                <a:latin typeface="Verdana"/>
                <a:cs typeface="Verdana"/>
              </a:rPr>
              <a:t>chain</a:t>
            </a:r>
            <a:endParaRPr sz="1100">
              <a:solidFill>
                <a:prstClr val="black"/>
              </a:solidFill>
              <a:latin typeface="Verdana"/>
              <a:cs typeface="Verdana"/>
            </a:endParaRPr>
          </a:p>
        </p:txBody>
      </p:sp>
      <p:sp>
        <p:nvSpPr>
          <p:cNvPr id="33" name="object 33"/>
          <p:cNvSpPr txBox="1"/>
          <p:nvPr/>
        </p:nvSpPr>
        <p:spPr>
          <a:xfrm>
            <a:off x="3921162" y="4910070"/>
            <a:ext cx="1265555"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Boltzmann</a:t>
            </a:r>
            <a:r>
              <a:rPr sz="1000" spc="-70" dirty="0">
                <a:solidFill>
                  <a:srgbClr val="43484C"/>
                </a:solidFill>
                <a:latin typeface="Verdana"/>
                <a:cs typeface="Verdana"/>
              </a:rPr>
              <a:t> </a:t>
            </a:r>
            <a:r>
              <a:rPr sz="1000" spc="-5" dirty="0">
                <a:solidFill>
                  <a:srgbClr val="43484C"/>
                </a:solidFill>
                <a:latin typeface="Verdana"/>
                <a:cs typeface="Verdana"/>
              </a:rPr>
              <a:t>Machine</a:t>
            </a:r>
            <a:endParaRPr sz="1000">
              <a:solidFill>
                <a:prstClr val="black"/>
              </a:solidFill>
              <a:latin typeface="Verdana"/>
              <a:cs typeface="Verdana"/>
            </a:endParaRPr>
          </a:p>
        </p:txBody>
      </p:sp>
      <p:grpSp>
        <p:nvGrpSpPr>
          <p:cNvPr id="34" name="object 34"/>
          <p:cNvGrpSpPr/>
          <p:nvPr/>
        </p:nvGrpSpPr>
        <p:grpSpPr>
          <a:xfrm>
            <a:off x="2620860" y="4558403"/>
            <a:ext cx="243840" cy="330200"/>
            <a:chOff x="2620860" y="3701153"/>
            <a:chExt cx="243840" cy="330200"/>
          </a:xfrm>
        </p:grpSpPr>
        <p:sp>
          <p:nvSpPr>
            <p:cNvPr id="35" name="object 35"/>
            <p:cNvSpPr/>
            <p:nvPr/>
          </p:nvSpPr>
          <p:spPr>
            <a:xfrm>
              <a:off x="2633560" y="3713853"/>
              <a:ext cx="218440" cy="304800"/>
            </a:xfrm>
            <a:custGeom>
              <a:avLst/>
              <a:gdLst/>
              <a:ahLst/>
              <a:cxnLst/>
              <a:rect l="l" t="t" r="r" b="b"/>
              <a:pathLst>
                <a:path w="218439" h="304800">
                  <a:moveTo>
                    <a:pt x="109137" y="304423"/>
                  </a:moveTo>
                  <a:lnTo>
                    <a:pt x="0" y="195285"/>
                  </a:lnTo>
                  <a:lnTo>
                    <a:pt x="54568" y="195285"/>
                  </a:lnTo>
                  <a:lnTo>
                    <a:pt x="54568" y="0"/>
                  </a:lnTo>
                  <a:lnTo>
                    <a:pt x="163706" y="0"/>
                  </a:lnTo>
                  <a:lnTo>
                    <a:pt x="163706" y="195285"/>
                  </a:lnTo>
                  <a:lnTo>
                    <a:pt x="218275" y="195285"/>
                  </a:lnTo>
                  <a:lnTo>
                    <a:pt x="109137" y="304423"/>
                  </a:lnTo>
                  <a:close/>
                </a:path>
              </a:pathLst>
            </a:custGeom>
            <a:solidFill>
              <a:srgbClr val="99A0A5"/>
            </a:solidFill>
          </p:spPr>
          <p:txBody>
            <a:bodyPr wrap="square" lIns="0" tIns="0" rIns="0" bIns="0" rtlCol="0"/>
            <a:lstStyle/>
            <a:p>
              <a:endParaRPr>
                <a:solidFill>
                  <a:prstClr val="black"/>
                </a:solidFill>
                <a:latin typeface="Calibri"/>
              </a:endParaRPr>
            </a:p>
          </p:txBody>
        </p:sp>
        <p:sp>
          <p:nvSpPr>
            <p:cNvPr id="36" name="object 36"/>
            <p:cNvSpPr/>
            <p:nvPr/>
          </p:nvSpPr>
          <p:spPr>
            <a:xfrm>
              <a:off x="2633560" y="3713853"/>
              <a:ext cx="218440" cy="304800"/>
            </a:xfrm>
            <a:custGeom>
              <a:avLst/>
              <a:gdLst/>
              <a:ahLst/>
              <a:cxnLst/>
              <a:rect l="l" t="t" r="r" b="b"/>
              <a:pathLst>
                <a:path w="218439" h="304800">
                  <a:moveTo>
                    <a:pt x="0" y="195285"/>
                  </a:moveTo>
                  <a:lnTo>
                    <a:pt x="54568" y="195285"/>
                  </a:lnTo>
                  <a:lnTo>
                    <a:pt x="54568" y="0"/>
                  </a:lnTo>
                  <a:lnTo>
                    <a:pt x="163706" y="0"/>
                  </a:lnTo>
                  <a:lnTo>
                    <a:pt x="163706" y="195285"/>
                  </a:lnTo>
                  <a:lnTo>
                    <a:pt x="218275" y="195285"/>
                  </a:lnTo>
                  <a:lnTo>
                    <a:pt x="109137" y="304423"/>
                  </a:lnTo>
                  <a:lnTo>
                    <a:pt x="0" y="195285"/>
                  </a:lnTo>
                  <a:close/>
                </a:path>
              </a:pathLst>
            </a:custGeom>
            <a:ln w="25399">
              <a:solidFill>
                <a:srgbClr val="43484C"/>
              </a:solidFill>
            </a:ln>
          </p:spPr>
          <p:txBody>
            <a:bodyPr wrap="square" lIns="0" tIns="0" rIns="0" bIns="0" rtlCol="0"/>
            <a:lstStyle/>
            <a:p>
              <a:endParaRPr>
                <a:solidFill>
                  <a:prstClr val="black"/>
                </a:solidFill>
                <a:latin typeface="Calibri"/>
              </a:endParaRPr>
            </a:p>
          </p:txBody>
        </p:sp>
      </p:grpSp>
      <p:grpSp>
        <p:nvGrpSpPr>
          <p:cNvPr id="37" name="object 37"/>
          <p:cNvGrpSpPr/>
          <p:nvPr/>
        </p:nvGrpSpPr>
        <p:grpSpPr>
          <a:xfrm>
            <a:off x="3908461" y="4558403"/>
            <a:ext cx="243840" cy="330200"/>
            <a:chOff x="3908461" y="3701153"/>
            <a:chExt cx="243840" cy="330200"/>
          </a:xfrm>
        </p:grpSpPr>
        <p:sp>
          <p:nvSpPr>
            <p:cNvPr id="38" name="object 38"/>
            <p:cNvSpPr/>
            <p:nvPr/>
          </p:nvSpPr>
          <p:spPr>
            <a:xfrm>
              <a:off x="3921161" y="3713853"/>
              <a:ext cx="218440" cy="304800"/>
            </a:xfrm>
            <a:custGeom>
              <a:avLst/>
              <a:gdLst/>
              <a:ahLst/>
              <a:cxnLst/>
              <a:rect l="l" t="t" r="r" b="b"/>
              <a:pathLst>
                <a:path w="218439" h="304800">
                  <a:moveTo>
                    <a:pt x="109137" y="304423"/>
                  </a:moveTo>
                  <a:lnTo>
                    <a:pt x="0" y="195285"/>
                  </a:lnTo>
                  <a:lnTo>
                    <a:pt x="54568" y="195285"/>
                  </a:lnTo>
                  <a:lnTo>
                    <a:pt x="54568" y="0"/>
                  </a:lnTo>
                  <a:lnTo>
                    <a:pt x="163706" y="0"/>
                  </a:lnTo>
                  <a:lnTo>
                    <a:pt x="163706" y="195285"/>
                  </a:lnTo>
                  <a:lnTo>
                    <a:pt x="218275" y="195285"/>
                  </a:lnTo>
                  <a:lnTo>
                    <a:pt x="109137" y="304423"/>
                  </a:lnTo>
                  <a:close/>
                </a:path>
              </a:pathLst>
            </a:custGeom>
            <a:solidFill>
              <a:srgbClr val="99A0A5"/>
            </a:solidFill>
          </p:spPr>
          <p:txBody>
            <a:bodyPr wrap="square" lIns="0" tIns="0" rIns="0" bIns="0" rtlCol="0"/>
            <a:lstStyle/>
            <a:p>
              <a:endParaRPr>
                <a:solidFill>
                  <a:prstClr val="black"/>
                </a:solidFill>
                <a:latin typeface="Calibri"/>
              </a:endParaRPr>
            </a:p>
          </p:txBody>
        </p:sp>
        <p:sp>
          <p:nvSpPr>
            <p:cNvPr id="39" name="object 39"/>
            <p:cNvSpPr/>
            <p:nvPr/>
          </p:nvSpPr>
          <p:spPr>
            <a:xfrm>
              <a:off x="3921161" y="3713853"/>
              <a:ext cx="218440" cy="304800"/>
            </a:xfrm>
            <a:custGeom>
              <a:avLst/>
              <a:gdLst/>
              <a:ahLst/>
              <a:cxnLst/>
              <a:rect l="l" t="t" r="r" b="b"/>
              <a:pathLst>
                <a:path w="218439" h="304800">
                  <a:moveTo>
                    <a:pt x="0" y="195285"/>
                  </a:moveTo>
                  <a:lnTo>
                    <a:pt x="54568" y="195285"/>
                  </a:lnTo>
                  <a:lnTo>
                    <a:pt x="54568" y="0"/>
                  </a:lnTo>
                  <a:lnTo>
                    <a:pt x="163706" y="0"/>
                  </a:lnTo>
                  <a:lnTo>
                    <a:pt x="163706" y="195285"/>
                  </a:lnTo>
                  <a:lnTo>
                    <a:pt x="218275" y="195285"/>
                  </a:lnTo>
                  <a:lnTo>
                    <a:pt x="109137" y="304423"/>
                  </a:lnTo>
                  <a:lnTo>
                    <a:pt x="0" y="195285"/>
                  </a:lnTo>
                  <a:close/>
                </a:path>
              </a:pathLst>
            </a:custGeom>
            <a:ln w="25399">
              <a:solidFill>
                <a:srgbClr val="43484C"/>
              </a:solidFill>
            </a:ln>
          </p:spPr>
          <p:txBody>
            <a:bodyPr wrap="square" lIns="0" tIns="0" rIns="0" bIns="0" rtlCol="0"/>
            <a:lstStyle/>
            <a:p>
              <a:endParaRPr>
                <a:solidFill>
                  <a:prstClr val="black"/>
                </a:solidFill>
                <a:latin typeface="Calibri"/>
              </a:endParaRPr>
            </a:p>
          </p:txBody>
        </p:sp>
      </p:grpSp>
      <p:grpSp>
        <p:nvGrpSpPr>
          <p:cNvPr id="40" name="object 40"/>
          <p:cNvGrpSpPr/>
          <p:nvPr/>
        </p:nvGrpSpPr>
        <p:grpSpPr>
          <a:xfrm>
            <a:off x="798211" y="3966468"/>
            <a:ext cx="217804" cy="279400"/>
            <a:chOff x="798211" y="3109218"/>
            <a:chExt cx="217804" cy="279400"/>
          </a:xfrm>
        </p:grpSpPr>
        <p:pic>
          <p:nvPicPr>
            <p:cNvPr id="41" name="object 41"/>
            <p:cNvPicPr/>
            <p:nvPr/>
          </p:nvPicPr>
          <p:blipFill>
            <a:blip r:embed="rId2" cstate="print"/>
            <a:stretch>
              <a:fillRect/>
            </a:stretch>
          </p:blipFill>
          <p:spPr>
            <a:xfrm>
              <a:off x="810911" y="3121918"/>
              <a:ext cx="191978" cy="253600"/>
            </a:xfrm>
            <a:prstGeom prst="rect">
              <a:avLst/>
            </a:prstGeom>
          </p:spPr>
        </p:pic>
        <p:sp>
          <p:nvSpPr>
            <p:cNvPr id="42" name="object 42"/>
            <p:cNvSpPr/>
            <p:nvPr/>
          </p:nvSpPr>
          <p:spPr>
            <a:xfrm>
              <a:off x="810911" y="3121918"/>
              <a:ext cx="192405" cy="254000"/>
            </a:xfrm>
            <a:custGeom>
              <a:avLst/>
              <a:gdLst/>
              <a:ahLst/>
              <a:cxnLst/>
              <a:rect l="l" t="t" r="r" b="b"/>
              <a:pathLst>
                <a:path w="192405" h="254000">
                  <a:moveTo>
                    <a:pt x="0" y="157611"/>
                  </a:moveTo>
                  <a:lnTo>
                    <a:pt x="47994" y="157611"/>
                  </a:lnTo>
                  <a:lnTo>
                    <a:pt x="47994" y="0"/>
                  </a:lnTo>
                  <a:lnTo>
                    <a:pt x="143984" y="0"/>
                  </a:lnTo>
                  <a:lnTo>
                    <a:pt x="143984" y="157611"/>
                  </a:lnTo>
                  <a:lnTo>
                    <a:pt x="191978" y="157611"/>
                  </a:lnTo>
                  <a:lnTo>
                    <a:pt x="95989" y="253600"/>
                  </a:lnTo>
                  <a:lnTo>
                    <a:pt x="0" y="157611"/>
                  </a:lnTo>
                  <a:close/>
                </a:path>
              </a:pathLst>
            </a:custGeom>
            <a:ln w="25399">
              <a:solidFill>
                <a:srgbClr val="43484C"/>
              </a:solidFill>
            </a:ln>
          </p:spPr>
          <p:txBody>
            <a:bodyPr wrap="square" lIns="0" tIns="0" rIns="0" bIns="0" rtlCol="0"/>
            <a:lstStyle/>
            <a:p>
              <a:endParaRPr>
                <a:solidFill>
                  <a:prstClr val="black"/>
                </a:solidFill>
                <a:latin typeface="Calibri"/>
              </a:endParaRPr>
            </a:p>
          </p:txBody>
        </p:sp>
      </p:grpSp>
      <p:grpSp>
        <p:nvGrpSpPr>
          <p:cNvPr id="43" name="object 43"/>
          <p:cNvGrpSpPr/>
          <p:nvPr/>
        </p:nvGrpSpPr>
        <p:grpSpPr>
          <a:xfrm>
            <a:off x="5123238" y="3966468"/>
            <a:ext cx="217804" cy="279400"/>
            <a:chOff x="5123238" y="3109218"/>
            <a:chExt cx="217804" cy="279400"/>
          </a:xfrm>
        </p:grpSpPr>
        <p:pic>
          <p:nvPicPr>
            <p:cNvPr id="44" name="object 44"/>
            <p:cNvPicPr/>
            <p:nvPr/>
          </p:nvPicPr>
          <p:blipFill>
            <a:blip r:embed="rId2" cstate="print"/>
            <a:stretch>
              <a:fillRect/>
            </a:stretch>
          </p:blipFill>
          <p:spPr>
            <a:xfrm>
              <a:off x="5135938" y="3121918"/>
              <a:ext cx="191978" cy="253600"/>
            </a:xfrm>
            <a:prstGeom prst="rect">
              <a:avLst/>
            </a:prstGeom>
          </p:spPr>
        </p:pic>
        <p:sp>
          <p:nvSpPr>
            <p:cNvPr id="45" name="object 45"/>
            <p:cNvSpPr/>
            <p:nvPr/>
          </p:nvSpPr>
          <p:spPr>
            <a:xfrm>
              <a:off x="5135938" y="3121918"/>
              <a:ext cx="192405" cy="254000"/>
            </a:xfrm>
            <a:custGeom>
              <a:avLst/>
              <a:gdLst/>
              <a:ahLst/>
              <a:cxnLst/>
              <a:rect l="l" t="t" r="r" b="b"/>
              <a:pathLst>
                <a:path w="192404" h="254000">
                  <a:moveTo>
                    <a:pt x="0" y="157611"/>
                  </a:moveTo>
                  <a:lnTo>
                    <a:pt x="47994" y="157611"/>
                  </a:lnTo>
                  <a:lnTo>
                    <a:pt x="47994" y="0"/>
                  </a:lnTo>
                  <a:lnTo>
                    <a:pt x="143984" y="0"/>
                  </a:lnTo>
                  <a:lnTo>
                    <a:pt x="143984" y="157611"/>
                  </a:lnTo>
                  <a:lnTo>
                    <a:pt x="191978" y="157611"/>
                  </a:lnTo>
                  <a:lnTo>
                    <a:pt x="95989" y="253600"/>
                  </a:lnTo>
                  <a:lnTo>
                    <a:pt x="0" y="157611"/>
                  </a:lnTo>
                  <a:close/>
                </a:path>
              </a:pathLst>
            </a:custGeom>
            <a:ln w="25399">
              <a:solidFill>
                <a:srgbClr val="43484C"/>
              </a:solidFill>
            </a:ln>
          </p:spPr>
          <p:txBody>
            <a:bodyPr wrap="square" lIns="0" tIns="0" rIns="0" bIns="0" rtlCol="0"/>
            <a:lstStyle/>
            <a:p>
              <a:endParaRPr>
                <a:solidFill>
                  <a:prstClr val="black"/>
                </a:solidFill>
                <a:latin typeface="Calibri"/>
              </a:endParaRPr>
            </a:p>
          </p:txBody>
        </p:sp>
      </p:grpSp>
      <p:sp>
        <p:nvSpPr>
          <p:cNvPr id="46" name="object 46"/>
          <p:cNvSpPr txBox="1"/>
          <p:nvPr/>
        </p:nvSpPr>
        <p:spPr>
          <a:xfrm>
            <a:off x="5089476" y="4245043"/>
            <a:ext cx="306070"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GAN</a:t>
            </a:r>
            <a:endParaRPr sz="1000">
              <a:solidFill>
                <a:prstClr val="black"/>
              </a:solidFill>
              <a:latin typeface="Verdana"/>
              <a:cs typeface="Verdana"/>
            </a:endParaRPr>
          </a:p>
        </p:txBody>
      </p:sp>
      <p:sp>
        <p:nvSpPr>
          <p:cNvPr id="47" name="object 47"/>
          <p:cNvSpPr txBox="1"/>
          <p:nvPr/>
        </p:nvSpPr>
        <p:spPr>
          <a:xfrm>
            <a:off x="6743816" y="4245043"/>
            <a:ext cx="306070" cy="166712"/>
          </a:xfrm>
          <a:prstGeom prst="rect">
            <a:avLst/>
          </a:prstGeom>
        </p:spPr>
        <p:txBody>
          <a:bodyPr vert="horz" wrap="square" lIns="0" tIns="12700" rIns="0" bIns="0" rtlCol="0">
            <a:spAutoFit/>
          </a:bodyPr>
          <a:lstStyle/>
          <a:p>
            <a:pPr marL="12700">
              <a:spcBef>
                <a:spcPts val="100"/>
              </a:spcBef>
            </a:pPr>
            <a:r>
              <a:rPr sz="1000" spc="-5" dirty="0">
                <a:solidFill>
                  <a:srgbClr val="43484C"/>
                </a:solidFill>
                <a:latin typeface="Verdana"/>
                <a:cs typeface="Verdana"/>
              </a:rPr>
              <a:t>GSN</a:t>
            </a:r>
            <a:endParaRPr sz="1000">
              <a:solidFill>
                <a:prstClr val="black"/>
              </a:solidFill>
              <a:latin typeface="Verdana"/>
              <a:cs typeface="Verdana"/>
            </a:endParaRPr>
          </a:p>
        </p:txBody>
      </p:sp>
      <p:grpSp>
        <p:nvGrpSpPr>
          <p:cNvPr id="48" name="object 48"/>
          <p:cNvGrpSpPr/>
          <p:nvPr/>
        </p:nvGrpSpPr>
        <p:grpSpPr>
          <a:xfrm>
            <a:off x="6805242" y="3966467"/>
            <a:ext cx="217804" cy="279400"/>
            <a:chOff x="6805242" y="3109217"/>
            <a:chExt cx="217804" cy="279400"/>
          </a:xfrm>
        </p:grpSpPr>
        <p:pic>
          <p:nvPicPr>
            <p:cNvPr id="49" name="object 49"/>
            <p:cNvPicPr/>
            <p:nvPr/>
          </p:nvPicPr>
          <p:blipFill>
            <a:blip r:embed="rId3" cstate="print"/>
            <a:stretch>
              <a:fillRect/>
            </a:stretch>
          </p:blipFill>
          <p:spPr>
            <a:xfrm>
              <a:off x="6817942" y="3121917"/>
              <a:ext cx="191978" cy="253601"/>
            </a:xfrm>
            <a:prstGeom prst="rect">
              <a:avLst/>
            </a:prstGeom>
          </p:spPr>
        </p:pic>
        <p:sp>
          <p:nvSpPr>
            <p:cNvPr id="50" name="object 50"/>
            <p:cNvSpPr/>
            <p:nvPr/>
          </p:nvSpPr>
          <p:spPr>
            <a:xfrm>
              <a:off x="6817942" y="3121917"/>
              <a:ext cx="192405" cy="254000"/>
            </a:xfrm>
            <a:custGeom>
              <a:avLst/>
              <a:gdLst/>
              <a:ahLst/>
              <a:cxnLst/>
              <a:rect l="l" t="t" r="r" b="b"/>
              <a:pathLst>
                <a:path w="192404" h="254000">
                  <a:moveTo>
                    <a:pt x="0" y="157611"/>
                  </a:moveTo>
                  <a:lnTo>
                    <a:pt x="47994" y="157611"/>
                  </a:lnTo>
                  <a:lnTo>
                    <a:pt x="47994" y="0"/>
                  </a:lnTo>
                  <a:lnTo>
                    <a:pt x="143983" y="0"/>
                  </a:lnTo>
                  <a:lnTo>
                    <a:pt x="143983" y="157611"/>
                  </a:lnTo>
                  <a:lnTo>
                    <a:pt x="191978" y="157611"/>
                  </a:lnTo>
                  <a:lnTo>
                    <a:pt x="95989" y="253601"/>
                  </a:lnTo>
                  <a:lnTo>
                    <a:pt x="0" y="157611"/>
                  </a:lnTo>
                  <a:close/>
                </a:path>
              </a:pathLst>
            </a:custGeom>
            <a:ln w="25399">
              <a:solidFill>
                <a:srgbClr val="43484C"/>
              </a:solidFill>
            </a:ln>
          </p:spPr>
          <p:txBody>
            <a:bodyPr wrap="square" lIns="0" tIns="0" rIns="0" bIns="0" rtlCol="0"/>
            <a:lstStyle/>
            <a:p>
              <a:endParaRPr>
                <a:solidFill>
                  <a:prstClr val="black"/>
                </a:solidFill>
                <a:latin typeface="Calibri"/>
              </a:endParaRPr>
            </a:p>
          </p:txBody>
        </p:sp>
      </p:grpSp>
      <p:sp>
        <p:nvSpPr>
          <p:cNvPr id="51" name="object 51"/>
          <p:cNvSpPr/>
          <p:nvPr/>
        </p:nvSpPr>
        <p:spPr>
          <a:xfrm>
            <a:off x="4974051" y="4239613"/>
            <a:ext cx="607060" cy="221615"/>
          </a:xfrm>
          <a:custGeom>
            <a:avLst/>
            <a:gdLst/>
            <a:ahLst/>
            <a:cxnLst/>
            <a:rect l="l" t="t" r="r" b="b"/>
            <a:pathLst>
              <a:path w="607060" h="221614">
                <a:moveTo>
                  <a:pt x="0" y="110593"/>
                </a:moveTo>
                <a:lnTo>
                  <a:pt x="8008" y="85235"/>
                </a:lnTo>
                <a:lnTo>
                  <a:pt x="30820" y="61957"/>
                </a:lnTo>
                <a:lnTo>
                  <a:pt x="66616" y="41422"/>
                </a:lnTo>
                <a:lnTo>
                  <a:pt x="113576" y="24296"/>
                </a:lnTo>
                <a:lnTo>
                  <a:pt x="169878" y="11240"/>
                </a:lnTo>
                <a:lnTo>
                  <a:pt x="233704" y="2920"/>
                </a:lnTo>
                <a:lnTo>
                  <a:pt x="303233" y="0"/>
                </a:lnTo>
                <a:lnTo>
                  <a:pt x="372762" y="2920"/>
                </a:lnTo>
                <a:lnTo>
                  <a:pt x="436587" y="11240"/>
                </a:lnTo>
                <a:lnTo>
                  <a:pt x="492890" y="24296"/>
                </a:lnTo>
                <a:lnTo>
                  <a:pt x="539849" y="41422"/>
                </a:lnTo>
                <a:lnTo>
                  <a:pt x="575645" y="61957"/>
                </a:lnTo>
                <a:lnTo>
                  <a:pt x="606466" y="110593"/>
                </a:lnTo>
                <a:lnTo>
                  <a:pt x="575645" y="159229"/>
                </a:lnTo>
                <a:lnTo>
                  <a:pt x="539849" y="179764"/>
                </a:lnTo>
                <a:lnTo>
                  <a:pt x="492890" y="196890"/>
                </a:lnTo>
                <a:lnTo>
                  <a:pt x="436587" y="209946"/>
                </a:lnTo>
                <a:lnTo>
                  <a:pt x="372762" y="218266"/>
                </a:lnTo>
                <a:lnTo>
                  <a:pt x="303233" y="221186"/>
                </a:lnTo>
                <a:lnTo>
                  <a:pt x="233704" y="218266"/>
                </a:lnTo>
                <a:lnTo>
                  <a:pt x="169878" y="209946"/>
                </a:lnTo>
                <a:lnTo>
                  <a:pt x="113576" y="196890"/>
                </a:lnTo>
                <a:lnTo>
                  <a:pt x="66616" y="179764"/>
                </a:lnTo>
                <a:lnTo>
                  <a:pt x="30820" y="159229"/>
                </a:lnTo>
                <a:lnTo>
                  <a:pt x="8008" y="135951"/>
                </a:lnTo>
                <a:lnTo>
                  <a:pt x="0" y="110593"/>
                </a:lnTo>
                <a:close/>
              </a:path>
            </a:pathLst>
          </a:custGeom>
          <a:ln w="25399">
            <a:solidFill>
              <a:srgbClr val="81042A"/>
            </a:solidFill>
          </a:ln>
        </p:spPr>
        <p:txBody>
          <a:bodyPr wrap="square" lIns="0" tIns="0" rIns="0" bIns="0" rtlCol="0"/>
          <a:lstStyle/>
          <a:p>
            <a:endParaRPr>
              <a:solidFill>
                <a:prstClr val="black"/>
              </a:solidFill>
              <a:latin typeface="Calibri"/>
            </a:endParaRPr>
          </a:p>
        </p:txBody>
      </p:sp>
      <p:pic>
        <p:nvPicPr>
          <p:cNvPr id="54" name="Picture 2" descr="E:\NIET\Project\xLogo11.png.pagespeed.ic.pydHLuCQEZ.png">
            <a:extLst>
              <a:ext uri="{FF2B5EF4-FFF2-40B4-BE49-F238E27FC236}">
                <a16:creationId xmlns:a16="http://schemas.microsoft.com/office/drawing/2014/main" id="{A045722C-02CC-203C-F4B8-BB5D406B1E19}"/>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55" name="Title 1">
            <a:extLst>
              <a:ext uri="{FF2B5EF4-FFF2-40B4-BE49-F238E27FC236}">
                <a16:creationId xmlns:a16="http://schemas.microsoft.com/office/drawing/2014/main" id="{0209D7C2-9EC9-17D0-725B-86F03350D50C}"/>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Taxonomy of Generative Models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163638"/>
            <a:ext cx="6494463" cy="330200"/>
          </a:xfrm>
          <a:prstGeom prst="rect">
            <a:avLst/>
          </a:prstGeom>
        </p:spPr>
        <p:txBody>
          <a:bodyPr vert="horz" wrap="square" lIns="0" tIns="12700" rIns="0" bIns="0" rtlCol="0">
            <a:spAutoFit/>
          </a:bodyPr>
          <a:lstStyle/>
          <a:p>
            <a:pPr marL="38100">
              <a:spcBef>
                <a:spcPts val="100"/>
              </a:spcBef>
            </a:pPr>
            <a:r>
              <a:rPr spc="-5" dirty="0"/>
              <a:t>Generative Adversarial Networks</a:t>
            </a:r>
            <a:r>
              <a:rPr spc="30" dirty="0"/>
              <a:t> </a:t>
            </a:r>
            <a:r>
              <a:rPr sz="1950" spc="15" baseline="32051" dirty="0"/>
              <a:t>(</a:t>
            </a:r>
            <a:r>
              <a:rPr sz="1950" i="1" spc="15" baseline="32051" dirty="0"/>
              <a:t>Goodfellow</a:t>
            </a:r>
            <a:r>
              <a:rPr sz="1950" i="1" spc="7" baseline="32051" dirty="0"/>
              <a:t> </a:t>
            </a:r>
            <a:r>
              <a:rPr sz="1950" i="1" spc="15" baseline="32051" dirty="0"/>
              <a:t>et</a:t>
            </a:r>
            <a:r>
              <a:rPr sz="1950" i="1" spc="7" baseline="32051" dirty="0"/>
              <a:t> al., </a:t>
            </a:r>
            <a:r>
              <a:rPr sz="1950" i="1" spc="22" baseline="32051" dirty="0"/>
              <a:t>2014</a:t>
            </a:r>
            <a:r>
              <a:rPr sz="1950" spc="22" baseline="32051" dirty="0"/>
              <a:t>)</a:t>
            </a:r>
            <a:endParaRPr sz="1950" baseline="32051" dirty="0"/>
          </a:p>
        </p:txBody>
      </p:sp>
      <p:sp>
        <p:nvSpPr>
          <p:cNvPr id="3" name="object 3"/>
          <p:cNvSpPr/>
          <p:nvPr/>
        </p:nvSpPr>
        <p:spPr>
          <a:xfrm>
            <a:off x="159282" y="5746351"/>
            <a:ext cx="2814320" cy="168910"/>
          </a:xfrm>
          <a:custGeom>
            <a:avLst/>
            <a:gdLst/>
            <a:ahLst/>
            <a:cxnLst/>
            <a:rect l="l" t="t" r="r" b="b"/>
            <a:pathLst>
              <a:path w="2814320" h="168910">
                <a:moveTo>
                  <a:pt x="2813991" y="168292"/>
                </a:moveTo>
                <a:lnTo>
                  <a:pt x="0" y="168292"/>
                </a:lnTo>
                <a:lnTo>
                  <a:pt x="0" y="0"/>
                </a:lnTo>
                <a:lnTo>
                  <a:pt x="2813991" y="0"/>
                </a:lnTo>
                <a:lnTo>
                  <a:pt x="2813991" y="168292"/>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4" name="object 4"/>
          <p:cNvSpPr txBox="1"/>
          <p:nvPr/>
        </p:nvSpPr>
        <p:spPr>
          <a:xfrm>
            <a:off x="372069" y="2143950"/>
            <a:ext cx="5164455" cy="1076960"/>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spc="-5" dirty="0">
                <a:solidFill>
                  <a:srgbClr val="313131"/>
                </a:solidFill>
                <a:latin typeface="Verdana"/>
                <a:cs typeface="Verdana"/>
              </a:rPr>
              <a:t>GANs</a:t>
            </a:r>
            <a:r>
              <a:rPr sz="1400" spc="-25" dirty="0">
                <a:solidFill>
                  <a:srgbClr val="313131"/>
                </a:solidFill>
                <a:latin typeface="Verdana"/>
                <a:cs typeface="Verdana"/>
              </a:rPr>
              <a:t> </a:t>
            </a:r>
            <a:r>
              <a:rPr sz="1400" spc="-5" dirty="0">
                <a:solidFill>
                  <a:srgbClr val="313131"/>
                </a:solidFill>
                <a:latin typeface="Verdana"/>
                <a:cs typeface="Verdana"/>
              </a:rPr>
              <a:t>or</a:t>
            </a:r>
            <a:r>
              <a:rPr sz="1400" spc="-20" dirty="0">
                <a:solidFill>
                  <a:srgbClr val="313131"/>
                </a:solidFill>
                <a:latin typeface="Verdana"/>
                <a:cs typeface="Verdana"/>
              </a:rPr>
              <a:t> </a:t>
            </a:r>
            <a:r>
              <a:rPr sz="1400" spc="-5" dirty="0">
                <a:solidFill>
                  <a:srgbClr val="313131"/>
                </a:solidFill>
                <a:latin typeface="Verdana"/>
                <a:cs typeface="Verdana"/>
              </a:rPr>
              <a:t>GAN</a:t>
            </a:r>
            <a:r>
              <a:rPr sz="1400" spc="-20" dirty="0">
                <a:solidFill>
                  <a:srgbClr val="313131"/>
                </a:solidFill>
                <a:latin typeface="Verdana"/>
                <a:cs typeface="Verdana"/>
              </a:rPr>
              <a:t> </a:t>
            </a:r>
            <a:r>
              <a:rPr sz="1400" spc="-5" dirty="0">
                <a:solidFill>
                  <a:srgbClr val="313131"/>
                </a:solidFill>
                <a:latin typeface="Verdana"/>
                <a:cs typeface="Verdana"/>
              </a:rPr>
              <a:t>for</a:t>
            </a:r>
            <a:r>
              <a:rPr sz="1400" spc="-20" dirty="0">
                <a:solidFill>
                  <a:srgbClr val="313131"/>
                </a:solidFill>
                <a:latin typeface="Verdana"/>
                <a:cs typeface="Verdana"/>
              </a:rPr>
              <a:t> </a:t>
            </a:r>
            <a:r>
              <a:rPr sz="1400" spc="-5" dirty="0">
                <a:solidFill>
                  <a:srgbClr val="313131"/>
                </a:solidFill>
                <a:latin typeface="Verdana"/>
                <a:cs typeface="Verdana"/>
              </a:rPr>
              <a:t>short</a:t>
            </a:r>
            <a:endParaRPr sz="1400">
              <a:solidFill>
                <a:prstClr val="black"/>
              </a:solidFill>
              <a:latin typeface="Verdana"/>
              <a:cs typeface="Verdana"/>
            </a:endParaRPr>
          </a:p>
          <a:p>
            <a:pPr marL="345440" indent="-333375">
              <a:spcBef>
                <a:spcPts val="1620"/>
              </a:spcBef>
              <a:buClr>
                <a:srgbClr val="B10639"/>
              </a:buClr>
              <a:buFont typeface="Yu Gothic UI"/>
              <a:buChar char="▪"/>
              <a:tabLst>
                <a:tab pos="344805" algn="l"/>
                <a:tab pos="346075" algn="l"/>
              </a:tabLst>
            </a:pPr>
            <a:r>
              <a:rPr sz="1400" b="1" spc="-5" dirty="0">
                <a:solidFill>
                  <a:srgbClr val="313131"/>
                </a:solidFill>
                <a:latin typeface="Verdana"/>
                <a:cs typeface="Verdana"/>
              </a:rPr>
              <a:t>Active</a:t>
            </a:r>
            <a:r>
              <a:rPr sz="1400" b="1" spc="-25" dirty="0">
                <a:solidFill>
                  <a:srgbClr val="313131"/>
                </a:solidFill>
                <a:latin typeface="Verdana"/>
                <a:cs typeface="Verdana"/>
              </a:rPr>
              <a:t> </a:t>
            </a:r>
            <a:r>
              <a:rPr sz="1400" b="1" spc="-5" dirty="0">
                <a:solidFill>
                  <a:srgbClr val="313131"/>
                </a:solidFill>
                <a:latin typeface="Verdana"/>
                <a:cs typeface="Verdana"/>
              </a:rPr>
              <a:t>research</a:t>
            </a:r>
            <a:r>
              <a:rPr sz="1400" b="1" spc="-35" dirty="0">
                <a:solidFill>
                  <a:srgbClr val="313131"/>
                </a:solidFill>
                <a:latin typeface="Verdana"/>
                <a:cs typeface="Verdana"/>
              </a:rPr>
              <a:t> </a:t>
            </a:r>
            <a:r>
              <a:rPr sz="1400" b="1" spc="-5" dirty="0">
                <a:solidFill>
                  <a:srgbClr val="313131"/>
                </a:solidFill>
                <a:latin typeface="Verdana"/>
                <a:cs typeface="Verdana"/>
              </a:rPr>
              <a:t>topic</a:t>
            </a:r>
            <a:endParaRPr sz="1400">
              <a:solidFill>
                <a:prstClr val="black"/>
              </a:solidFill>
              <a:latin typeface="Verdana"/>
              <a:cs typeface="Verdana"/>
            </a:endParaRPr>
          </a:p>
          <a:p>
            <a:pPr marL="345440" indent="-333375">
              <a:spcBef>
                <a:spcPts val="1620"/>
              </a:spcBef>
              <a:buClr>
                <a:srgbClr val="B10639"/>
              </a:buClr>
              <a:buFont typeface="Yu Gothic UI"/>
              <a:buChar char="▪"/>
              <a:tabLst>
                <a:tab pos="344805" algn="l"/>
                <a:tab pos="346075" algn="l"/>
              </a:tabLst>
            </a:pPr>
            <a:r>
              <a:rPr sz="1400" spc="-5" dirty="0">
                <a:solidFill>
                  <a:srgbClr val="313131"/>
                </a:solidFill>
                <a:latin typeface="Verdana"/>
                <a:cs typeface="Verdana"/>
              </a:rPr>
              <a:t>Have</a:t>
            </a:r>
            <a:r>
              <a:rPr sz="1400" spc="-20" dirty="0">
                <a:solidFill>
                  <a:srgbClr val="313131"/>
                </a:solidFill>
                <a:latin typeface="Verdana"/>
                <a:cs typeface="Verdana"/>
              </a:rPr>
              <a:t> </a:t>
            </a:r>
            <a:r>
              <a:rPr sz="1400" spc="-5" dirty="0">
                <a:solidFill>
                  <a:srgbClr val="313131"/>
                </a:solidFill>
                <a:latin typeface="Verdana"/>
                <a:cs typeface="Verdana"/>
              </a:rPr>
              <a:t>shown</a:t>
            </a:r>
            <a:r>
              <a:rPr sz="1400" spc="-15" dirty="0">
                <a:solidFill>
                  <a:srgbClr val="313131"/>
                </a:solidFill>
                <a:latin typeface="Verdana"/>
                <a:cs typeface="Verdana"/>
              </a:rPr>
              <a:t> </a:t>
            </a:r>
            <a:r>
              <a:rPr sz="1400" spc="-5" dirty="0">
                <a:solidFill>
                  <a:srgbClr val="313131"/>
                </a:solidFill>
                <a:latin typeface="Verdana"/>
                <a:cs typeface="Verdana"/>
              </a:rPr>
              <a:t>great</a:t>
            </a:r>
            <a:r>
              <a:rPr sz="1400" spc="-15" dirty="0">
                <a:solidFill>
                  <a:srgbClr val="313131"/>
                </a:solidFill>
                <a:latin typeface="Verdana"/>
                <a:cs typeface="Verdana"/>
              </a:rPr>
              <a:t> </a:t>
            </a:r>
            <a:r>
              <a:rPr sz="1400" spc="-5" dirty="0">
                <a:solidFill>
                  <a:srgbClr val="313131"/>
                </a:solidFill>
                <a:latin typeface="Verdana"/>
                <a:cs typeface="Verdana"/>
              </a:rPr>
              <a:t>improvements</a:t>
            </a:r>
            <a:r>
              <a:rPr sz="1400" spc="-15" dirty="0">
                <a:solidFill>
                  <a:srgbClr val="313131"/>
                </a:solidFill>
                <a:latin typeface="Verdana"/>
                <a:cs typeface="Verdana"/>
              </a:rPr>
              <a:t> </a:t>
            </a:r>
            <a:r>
              <a:rPr sz="1400" spc="-5" dirty="0">
                <a:solidFill>
                  <a:srgbClr val="313131"/>
                </a:solidFill>
                <a:latin typeface="Verdana"/>
                <a:cs typeface="Verdana"/>
              </a:rPr>
              <a:t>in</a:t>
            </a:r>
            <a:r>
              <a:rPr sz="1400" spc="-15" dirty="0">
                <a:solidFill>
                  <a:srgbClr val="313131"/>
                </a:solidFill>
                <a:latin typeface="Verdana"/>
                <a:cs typeface="Verdana"/>
              </a:rPr>
              <a:t> </a:t>
            </a:r>
            <a:r>
              <a:rPr sz="1400" spc="-5" dirty="0">
                <a:solidFill>
                  <a:srgbClr val="313131"/>
                </a:solidFill>
                <a:latin typeface="Verdana"/>
                <a:cs typeface="Verdana"/>
              </a:rPr>
              <a:t>image</a:t>
            </a:r>
            <a:r>
              <a:rPr sz="1400" spc="-15" dirty="0">
                <a:solidFill>
                  <a:srgbClr val="313131"/>
                </a:solidFill>
                <a:latin typeface="Verdana"/>
                <a:cs typeface="Verdana"/>
              </a:rPr>
              <a:t> </a:t>
            </a:r>
            <a:r>
              <a:rPr sz="1400" spc="-5" dirty="0">
                <a:solidFill>
                  <a:srgbClr val="313131"/>
                </a:solidFill>
                <a:latin typeface="Verdana"/>
                <a:cs typeface="Verdana"/>
              </a:rPr>
              <a:t>generation</a:t>
            </a:r>
            <a:endParaRPr sz="1400">
              <a:solidFill>
                <a:prstClr val="black"/>
              </a:solidFill>
              <a:latin typeface="Verdana"/>
              <a:cs typeface="Verdana"/>
            </a:endParaRPr>
          </a:p>
        </p:txBody>
      </p:sp>
      <p:pic>
        <p:nvPicPr>
          <p:cNvPr id="5" name="object 5"/>
          <p:cNvPicPr/>
          <p:nvPr/>
        </p:nvPicPr>
        <p:blipFill>
          <a:blip r:embed="rId2" cstate="print"/>
          <a:stretch>
            <a:fillRect/>
          </a:stretch>
        </p:blipFill>
        <p:spPr>
          <a:xfrm>
            <a:off x="6282664" y="2080111"/>
            <a:ext cx="2834553" cy="2068590"/>
          </a:xfrm>
          <a:prstGeom prst="rect">
            <a:avLst/>
          </a:prstGeom>
        </p:spPr>
      </p:pic>
      <p:sp>
        <p:nvSpPr>
          <p:cNvPr id="6" name="object 6"/>
          <p:cNvSpPr txBox="1"/>
          <p:nvPr/>
        </p:nvSpPr>
        <p:spPr>
          <a:xfrm>
            <a:off x="6504507" y="4141801"/>
            <a:ext cx="2555875" cy="135935"/>
          </a:xfrm>
          <a:prstGeom prst="rect">
            <a:avLst/>
          </a:prstGeom>
        </p:spPr>
        <p:txBody>
          <a:bodyPr vert="horz" wrap="square" lIns="0" tIns="12700" rIns="0" bIns="0" rtlCol="0">
            <a:spAutoFit/>
          </a:bodyPr>
          <a:lstStyle/>
          <a:p>
            <a:pPr marL="12700">
              <a:spcBef>
                <a:spcPts val="100"/>
              </a:spcBef>
            </a:pPr>
            <a:r>
              <a:rPr sz="800" spc="-5" dirty="0">
                <a:solidFill>
                  <a:srgbClr val="313131"/>
                </a:solidFill>
                <a:latin typeface="Verdana"/>
                <a:cs typeface="Verdana"/>
              </a:rPr>
              <a:t>https://github.com/hindupuravinash/the-gan-zoo</a:t>
            </a:r>
            <a:endParaRPr sz="800">
              <a:solidFill>
                <a:prstClr val="black"/>
              </a:solidFill>
              <a:latin typeface="Verdana"/>
              <a:cs typeface="Verdana"/>
            </a:endParaRPr>
          </a:p>
        </p:txBody>
      </p:sp>
      <p:pic>
        <p:nvPicPr>
          <p:cNvPr id="7" name="object 7"/>
          <p:cNvPicPr/>
          <p:nvPr/>
        </p:nvPicPr>
        <p:blipFill>
          <a:blip r:embed="rId3" cstate="print"/>
          <a:stretch>
            <a:fillRect/>
          </a:stretch>
        </p:blipFill>
        <p:spPr>
          <a:xfrm>
            <a:off x="1131826" y="3393024"/>
            <a:ext cx="4273300" cy="2158074"/>
          </a:xfrm>
          <a:prstGeom prst="rect">
            <a:avLst/>
          </a:prstGeom>
        </p:spPr>
      </p:pic>
      <p:sp>
        <p:nvSpPr>
          <p:cNvPr id="8" name="object 8"/>
          <p:cNvSpPr txBox="1"/>
          <p:nvPr/>
        </p:nvSpPr>
        <p:spPr>
          <a:xfrm>
            <a:off x="2735083" y="5573353"/>
            <a:ext cx="1052195" cy="135935"/>
          </a:xfrm>
          <a:prstGeom prst="rect">
            <a:avLst/>
          </a:prstGeom>
        </p:spPr>
        <p:txBody>
          <a:bodyPr vert="horz" wrap="square" lIns="0" tIns="12700" rIns="0" bIns="0" rtlCol="0">
            <a:spAutoFit/>
          </a:bodyPr>
          <a:lstStyle/>
          <a:p>
            <a:pPr marL="12700">
              <a:spcBef>
                <a:spcPts val="100"/>
              </a:spcBef>
            </a:pPr>
            <a:r>
              <a:rPr sz="800" i="1" spc="-5" dirty="0">
                <a:solidFill>
                  <a:srgbClr val="313131"/>
                </a:solidFill>
                <a:latin typeface="Verdana"/>
                <a:cs typeface="Verdana"/>
              </a:rPr>
              <a:t>Radford</a:t>
            </a:r>
            <a:r>
              <a:rPr sz="800" i="1" spc="-30" dirty="0">
                <a:solidFill>
                  <a:srgbClr val="313131"/>
                </a:solidFill>
                <a:latin typeface="Verdana"/>
                <a:cs typeface="Verdana"/>
              </a:rPr>
              <a:t> </a:t>
            </a:r>
            <a:r>
              <a:rPr sz="800" i="1" spc="-5" dirty="0">
                <a:solidFill>
                  <a:srgbClr val="313131"/>
                </a:solidFill>
                <a:latin typeface="Verdana"/>
                <a:cs typeface="Verdana"/>
              </a:rPr>
              <a:t>et</a:t>
            </a:r>
            <a:r>
              <a:rPr sz="800" i="1" spc="-30" dirty="0">
                <a:solidFill>
                  <a:srgbClr val="313131"/>
                </a:solidFill>
                <a:latin typeface="Verdana"/>
                <a:cs typeface="Verdana"/>
              </a:rPr>
              <a:t> </a:t>
            </a:r>
            <a:r>
              <a:rPr sz="800" i="1" spc="-5" dirty="0">
                <a:solidFill>
                  <a:srgbClr val="313131"/>
                </a:solidFill>
                <a:latin typeface="Verdana"/>
                <a:cs typeface="Verdana"/>
              </a:rPr>
              <a:t>al.,</a:t>
            </a:r>
            <a:r>
              <a:rPr sz="800" i="1" spc="-30" dirty="0">
                <a:solidFill>
                  <a:srgbClr val="313131"/>
                </a:solidFill>
                <a:latin typeface="Verdana"/>
                <a:cs typeface="Verdana"/>
              </a:rPr>
              <a:t> </a:t>
            </a:r>
            <a:r>
              <a:rPr sz="800" i="1" spc="-5" dirty="0">
                <a:solidFill>
                  <a:srgbClr val="313131"/>
                </a:solidFill>
                <a:latin typeface="Verdana"/>
                <a:cs typeface="Verdana"/>
              </a:rPr>
              <a:t>2016</a:t>
            </a:r>
            <a:endParaRPr sz="800">
              <a:solidFill>
                <a:prstClr val="black"/>
              </a:solidFill>
              <a:latin typeface="Verdana"/>
              <a:cs typeface="Verdana"/>
            </a:endParaRPr>
          </a:p>
        </p:txBody>
      </p:sp>
      <p:pic>
        <p:nvPicPr>
          <p:cNvPr id="11" name="Picture 2" descr="E:\NIET\Project\xLogo11.png.pagespeed.ic.pydHLuCQEZ.png">
            <a:extLst>
              <a:ext uri="{FF2B5EF4-FFF2-40B4-BE49-F238E27FC236}">
                <a16:creationId xmlns:a16="http://schemas.microsoft.com/office/drawing/2014/main" id="{81F3E738-2BC2-0B1A-450D-A4F59CA40B2A}"/>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12" name="Title 1">
            <a:extLst>
              <a:ext uri="{FF2B5EF4-FFF2-40B4-BE49-F238E27FC236}">
                <a16:creationId xmlns:a16="http://schemas.microsoft.com/office/drawing/2014/main" id="{791378A5-AA3C-41AA-6D2F-4746796DBF35}"/>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Generative Adversarial Networks </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object 31"/>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6494463" cy="330200"/>
          </a:xfrm>
          <a:prstGeom prst="rect">
            <a:avLst/>
          </a:prstGeom>
        </p:spPr>
        <p:txBody>
          <a:bodyPr vert="horz" wrap="square" lIns="0" tIns="12700" rIns="0" bIns="0" rtlCol="0">
            <a:spAutoFit/>
          </a:bodyPr>
          <a:lstStyle/>
          <a:p>
            <a:pPr marL="38100">
              <a:spcBef>
                <a:spcPts val="100"/>
              </a:spcBef>
            </a:pPr>
            <a:r>
              <a:rPr spc="-5" dirty="0"/>
              <a:t>Generative Adversarial Networks</a:t>
            </a:r>
            <a:r>
              <a:rPr spc="30" dirty="0"/>
              <a:t> </a:t>
            </a:r>
            <a:r>
              <a:rPr sz="1950" spc="15" baseline="32051" dirty="0"/>
              <a:t>(</a:t>
            </a:r>
            <a:r>
              <a:rPr sz="1950" i="1" spc="15" baseline="32051" dirty="0"/>
              <a:t>Goodfellow</a:t>
            </a:r>
            <a:r>
              <a:rPr sz="1950" i="1" spc="7" baseline="32051" dirty="0"/>
              <a:t> </a:t>
            </a:r>
            <a:r>
              <a:rPr sz="1950" i="1" spc="15" baseline="32051" dirty="0"/>
              <a:t>et</a:t>
            </a:r>
            <a:r>
              <a:rPr sz="1950" i="1" spc="7" baseline="32051" dirty="0"/>
              <a:t> al., </a:t>
            </a:r>
            <a:r>
              <a:rPr sz="1950" i="1" spc="22" baseline="32051" dirty="0"/>
              <a:t>2014</a:t>
            </a:r>
            <a:r>
              <a:rPr sz="1950" spc="22" baseline="32051" dirty="0"/>
              <a:t>)</a:t>
            </a:r>
            <a:endParaRPr sz="1950" baseline="32051"/>
          </a:p>
        </p:txBody>
      </p:sp>
      <p:sp>
        <p:nvSpPr>
          <p:cNvPr id="3" name="object 3"/>
          <p:cNvSpPr txBox="1"/>
          <p:nvPr/>
        </p:nvSpPr>
        <p:spPr>
          <a:xfrm>
            <a:off x="372068" y="2143951"/>
            <a:ext cx="6605270" cy="954813"/>
          </a:xfrm>
          <a:prstGeom prst="rect">
            <a:avLst/>
          </a:prstGeom>
        </p:spPr>
        <p:txBody>
          <a:bodyPr vert="horz" wrap="square" lIns="0" tIns="22860" rIns="0" bIns="0" rtlCol="0">
            <a:spAutoFit/>
          </a:bodyPr>
          <a:lstStyle/>
          <a:p>
            <a:pPr marL="345440" marR="5080" indent="-333375">
              <a:lnSpc>
                <a:spcPts val="1650"/>
              </a:lnSpc>
              <a:spcBef>
                <a:spcPts val="180"/>
              </a:spcBef>
              <a:buClr>
                <a:srgbClr val="B10639"/>
              </a:buClr>
              <a:buFont typeface="Yu Gothic UI"/>
              <a:buChar char="▪"/>
              <a:tabLst>
                <a:tab pos="344805" algn="l"/>
                <a:tab pos="346075" algn="l"/>
              </a:tabLst>
            </a:pPr>
            <a:r>
              <a:rPr sz="1400" b="1" dirty="0">
                <a:solidFill>
                  <a:srgbClr val="313131"/>
                </a:solidFill>
                <a:latin typeface="Verdana"/>
                <a:cs typeface="Verdana"/>
              </a:rPr>
              <a:t>Generator </a:t>
            </a:r>
            <a:r>
              <a:rPr sz="1400" b="1" spc="-5" dirty="0">
                <a:solidFill>
                  <a:srgbClr val="313131"/>
                </a:solidFill>
                <a:latin typeface="Verdana"/>
                <a:cs typeface="Verdana"/>
              </a:rPr>
              <a:t>(G) </a:t>
            </a:r>
            <a:r>
              <a:rPr sz="1400" spc="-5" dirty="0">
                <a:solidFill>
                  <a:srgbClr val="313131"/>
                </a:solidFill>
                <a:latin typeface="Verdana"/>
                <a:cs typeface="Verdana"/>
              </a:rPr>
              <a:t>that learns the real data distribution to generate fake </a:t>
            </a:r>
            <a:r>
              <a:rPr sz="1400" spc="-480" dirty="0">
                <a:solidFill>
                  <a:srgbClr val="313131"/>
                </a:solidFill>
                <a:latin typeface="Verdana"/>
                <a:cs typeface="Verdana"/>
              </a:rPr>
              <a:t> </a:t>
            </a:r>
            <a:r>
              <a:rPr sz="1400" spc="-5" dirty="0">
                <a:solidFill>
                  <a:srgbClr val="313131"/>
                </a:solidFill>
                <a:latin typeface="Verdana"/>
                <a:cs typeface="Verdana"/>
              </a:rPr>
              <a:t>samples</a:t>
            </a:r>
            <a:endParaRPr sz="1400">
              <a:solidFill>
                <a:prstClr val="black"/>
              </a:solidFill>
              <a:latin typeface="Verdana"/>
              <a:cs typeface="Verdana"/>
            </a:endParaRPr>
          </a:p>
          <a:p>
            <a:pPr marL="345440" marR="155575" indent="-333375">
              <a:lnSpc>
                <a:spcPts val="1650"/>
              </a:lnSpc>
              <a:spcBef>
                <a:spcPts val="600"/>
              </a:spcBef>
              <a:buClr>
                <a:srgbClr val="B10639"/>
              </a:buClr>
              <a:buFont typeface="Yu Gothic UI"/>
              <a:buChar char="▪"/>
              <a:tabLst>
                <a:tab pos="344805" algn="l"/>
                <a:tab pos="346075" algn="l"/>
              </a:tabLst>
            </a:pPr>
            <a:r>
              <a:rPr sz="1400" b="1" spc="-5" dirty="0">
                <a:solidFill>
                  <a:srgbClr val="313131"/>
                </a:solidFill>
                <a:latin typeface="Verdana"/>
                <a:cs typeface="Verdana"/>
              </a:rPr>
              <a:t>Discriminator (D) </a:t>
            </a:r>
            <a:r>
              <a:rPr sz="1400" spc="-5" dirty="0">
                <a:solidFill>
                  <a:srgbClr val="313131"/>
                </a:solidFill>
                <a:latin typeface="Verdana"/>
                <a:cs typeface="Verdana"/>
              </a:rPr>
              <a:t>that attributes </a:t>
            </a:r>
            <a:r>
              <a:rPr sz="1400" dirty="0">
                <a:solidFill>
                  <a:srgbClr val="313131"/>
                </a:solidFill>
                <a:latin typeface="Verdana"/>
                <a:cs typeface="Verdana"/>
              </a:rPr>
              <a:t>a </a:t>
            </a:r>
            <a:r>
              <a:rPr sz="1400" spc="-5" dirty="0">
                <a:solidFill>
                  <a:srgbClr val="313131"/>
                </a:solidFill>
                <a:latin typeface="Verdana"/>
                <a:cs typeface="Verdana"/>
              </a:rPr>
              <a:t>probability </a:t>
            </a:r>
            <a:r>
              <a:rPr sz="1400" i="1" dirty="0">
                <a:solidFill>
                  <a:srgbClr val="313131"/>
                </a:solidFill>
                <a:latin typeface="Verdana"/>
                <a:cs typeface="Verdana"/>
              </a:rPr>
              <a:t>p </a:t>
            </a:r>
            <a:r>
              <a:rPr sz="1400" spc="-5" dirty="0">
                <a:solidFill>
                  <a:srgbClr val="313131"/>
                </a:solidFill>
                <a:latin typeface="Verdana"/>
                <a:cs typeface="Verdana"/>
              </a:rPr>
              <a:t>of confidence of </a:t>
            </a:r>
            <a:r>
              <a:rPr sz="1400" dirty="0">
                <a:solidFill>
                  <a:srgbClr val="313131"/>
                </a:solidFill>
                <a:latin typeface="Verdana"/>
                <a:cs typeface="Verdana"/>
              </a:rPr>
              <a:t>a </a:t>
            </a:r>
            <a:r>
              <a:rPr sz="1400" spc="-480" dirty="0">
                <a:solidFill>
                  <a:srgbClr val="313131"/>
                </a:solidFill>
                <a:latin typeface="Verdana"/>
                <a:cs typeface="Verdana"/>
              </a:rPr>
              <a:t> </a:t>
            </a:r>
            <a:r>
              <a:rPr sz="1400" spc="-5" dirty="0">
                <a:solidFill>
                  <a:srgbClr val="313131"/>
                </a:solidFill>
                <a:latin typeface="Verdana"/>
                <a:cs typeface="Verdana"/>
              </a:rPr>
              <a:t>sample</a:t>
            </a:r>
            <a:r>
              <a:rPr sz="1400" spc="-10" dirty="0">
                <a:solidFill>
                  <a:srgbClr val="313131"/>
                </a:solidFill>
                <a:latin typeface="Verdana"/>
                <a:cs typeface="Verdana"/>
              </a:rPr>
              <a:t> </a:t>
            </a:r>
            <a:r>
              <a:rPr sz="1400" spc="-5" dirty="0">
                <a:solidFill>
                  <a:srgbClr val="313131"/>
                </a:solidFill>
                <a:latin typeface="Verdana"/>
                <a:cs typeface="Verdana"/>
              </a:rPr>
              <a:t>being real</a:t>
            </a:r>
            <a:r>
              <a:rPr sz="1400" spc="-10" dirty="0">
                <a:solidFill>
                  <a:srgbClr val="313131"/>
                </a:solidFill>
                <a:latin typeface="Verdana"/>
                <a:cs typeface="Verdana"/>
              </a:rPr>
              <a:t> </a:t>
            </a:r>
            <a:r>
              <a:rPr sz="1400" dirty="0">
                <a:solidFill>
                  <a:srgbClr val="313131"/>
                </a:solidFill>
                <a:latin typeface="Verdana"/>
                <a:cs typeface="Verdana"/>
              </a:rPr>
              <a:t>(</a:t>
            </a:r>
            <a:r>
              <a:rPr sz="1400" i="1" dirty="0">
                <a:solidFill>
                  <a:srgbClr val="313131"/>
                </a:solidFill>
                <a:latin typeface="Verdana"/>
                <a:cs typeface="Verdana"/>
              </a:rPr>
              <a:t>i.e. </a:t>
            </a:r>
            <a:r>
              <a:rPr sz="1400" spc="-5" dirty="0">
                <a:solidFill>
                  <a:srgbClr val="313131"/>
                </a:solidFill>
                <a:latin typeface="Verdana"/>
                <a:cs typeface="Verdana"/>
              </a:rPr>
              <a:t>coming</a:t>
            </a:r>
            <a:r>
              <a:rPr sz="1400" spc="-10" dirty="0">
                <a:solidFill>
                  <a:srgbClr val="313131"/>
                </a:solidFill>
                <a:latin typeface="Verdana"/>
                <a:cs typeface="Verdana"/>
              </a:rPr>
              <a:t> </a:t>
            </a:r>
            <a:r>
              <a:rPr sz="1400" spc="-5" dirty="0">
                <a:solidFill>
                  <a:srgbClr val="313131"/>
                </a:solidFill>
                <a:latin typeface="Verdana"/>
                <a:cs typeface="Verdana"/>
              </a:rPr>
              <a:t>from the training</a:t>
            </a:r>
            <a:r>
              <a:rPr sz="1400" spc="-10" dirty="0">
                <a:solidFill>
                  <a:srgbClr val="313131"/>
                </a:solidFill>
                <a:latin typeface="Verdana"/>
                <a:cs typeface="Verdana"/>
              </a:rPr>
              <a:t> </a:t>
            </a:r>
            <a:r>
              <a:rPr sz="1400" spc="-5" dirty="0">
                <a:solidFill>
                  <a:srgbClr val="313131"/>
                </a:solidFill>
                <a:latin typeface="Verdana"/>
                <a:cs typeface="Verdana"/>
              </a:rPr>
              <a:t>data)</a:t>
            </a:r>
            <a:endParaRPr sz="1400">
              <a:solidFill>
                <a:prstClr val="black"/>
              </a:solidFill>
              <a:latin typeface="Verdana"/>
              <a:cs typeface="Verdana"/>
            </a:endParaRPr>
          </a:p>
        </p:txBody>
      </p:sp>
      <p:sp>
        <p:nvSpPr>
          <p:cNvPr id="4" name="object 4"/>
          <p:cNvSpPr/>
          <p:nvPr/>
        </p:nvSpPr>
        <p:spPr>
          <a:xfrm>
            <a:off x="2196621" y="4470355"/>
            <a:ext cx="1371600" cy="685800"/>
          </a:xfrm>
          <a:custGeom>
            <a:avLst/>
            <a:gdLst/>
            <a:ahLst/>
            <a:cxnLst/>
            <a:rect l="l" t="t" r="r" b="b"/>
            <a:pathLst>
              <a:path w="1371600" h="685800">
                <a:moveTo>
                  <a:pt x="0" y="114302"/>
                </a:moveTo>
                <a:lnTo>
                  <a:pt x="8982" y="69810"/>
                </a:lnTo>
                <a:lnTo>
                  <a:pt x="33478" y="33478"/>
                </a:lnTo>
                <a:lnTo>
                  <a:pt x="69810" y="8982"/>
                </a:lnTo>
                <a:lnTo>
                  <a:pt x="114302" y="0"/>
                </a:lnTo>
                <a:lnTo>
                  <a:pt x="1257297" y="0"/>
                </a:lnTo>
                <a:lnTo>
                  <a:pt x="1301039" y="8700"/>
                </a:lnTo>
                <a:lnTo>
                  <a:pt x="1338121" y="33478"/>
                </a:lnTo>
                <a:lnTo>
                  <a:pt x="1362899" y="70560"/>
                </a:lnTo>
                <a:lnTo>
                  <a:pt x="1371600" y="114302"/>
                </a:lnTo>
                <a:lnTo>
                  <a:pt x="1371600" y="571497"/>
                </a:lnTo>
                <a:lnTo>
                  <a:pt x="1362617" y="615989"/>
                </a:lnTo>
                <a:lnTo>
                  <a:pt x="1338121" y="652321"/>
                </a:lnTo>
                <a:lnTo>
                  <a:pt x="1301789" y="676817"/>
                </a:lnTo>
                <a:lnTo>
                  <a:pt x="1257297" y="685799"/>
                </a:lnTo>
                <a:lnTo>
                  <a:pt x="114302" y="685799"/>
                </a:lnTo>
                <a:lnTo>
                  <a:pt x="69810" y="676817"/>
                </a:lnTo>
                <a:lnTo>
                  <a:pt x="33478" y="652321"/>
                </a:lnTo>
                <a:lnTo>
                  <a:pt x="8982" y="615989"/>
                </a:lnTo>
                <a:lnTo>
                  <a:pt x="0" y="571497"/>
                </a:lnTo>
                <a:lnTo>
                  <a:pt x="0" y="114302"/>
                </a:lnTo>
                <a:close/>
              </a:path>
            </a:pathLst>
          </a:custGeom>
          <a:ln w="25399">
            <a:solidFill>
              <a:srgbClr val="B4B4B4"/>
            </a:solidFill>
          </a:ln>
        </p:spPr>
        <p:txBody>
          <a:bodyPr wrap="square" lIns="0" tIns="0" rIns="0" bIns="0" rtlCol="0"/>
          <a:lstStyle/>
          <a:p>
            <a:endParaRPr>
              <a:solidFill>
                <a:prstClr val="black"/>
              </a:solidFill>
              <a:latin typeface="Calibri"/>
            </a:endParaRPr>
          </a:p>
        </p:txBody>
      </p:sp>
      <p:sp>
        <p:nvSpPr>
          <p:cNvPr id="5" name="object 5"/>
          <p:cNvSpPr txBox="1"/>
          <p:nvPr/>
        </p:nvSpPr>
        <p:spPr>
          <a:xfrm>
            <a:off x="2484555" y="4501089"/>
            <a:ext cx="795655" cy="539750"/>
          </a:xfrm>
          <a:prstGeom prst="rect">
            <a:avLst/>
          </a:prstGeom>
        </p:spPr>
        <p:txBody>
          <a:bodyPr vert="horz" wrap="square" lIns="0" tIns="86995" rIns="0" bIns="0" rtlCol="0">
            <a:spAutoFit/>
          </a:bodyPr>
          <a:lstStyle/>
          <a:p>
            <a:pPr algn="ctr">
              <a:spcBef>
                <a:spcPts val="685"/>
              </a:spcBef>
            </a:pPr>
            <a:r>
              <a:rPr sz="1200" spc="-5" dirty="0">
                <a:solidFill>
                  <a:srgbClr val="313131"/>
                </a:solidFill>
                <a:latin typeface="Verdana"/>
                <a:cs typeface="Verdana"/>
              </a:rPr>
              <a:t>Generator</a:t>
            </a:r>
            <a:endParaRPr sz="1200">
              <a:solidFill>
                <a:prstClr val="black"/>
              </a:solidFill>
              <a:latin typeface="Verdana"/>
              <a:cs typeface="Verdana"/>
            </a:endParaRPr>
          </a:p>
          <a:p>
            <a:pPr algn="ctr">
              <a:spcBef>
                <a:spcPts val="585"/>
              </a:spcBef>
            </a:pPr>
            <a:r>
              <a:rPr sz="1200" b="1" dirty="0">
                <a:solidFill>
                  <a:srgbClr val="313131"/>
                </a:solidFill>
                <a:latin typeface="Verdana"/>
                <a:cs typeface="Verdana"/>
              </a:rPr>
              <a:t>G</a:t>
            </a:r>
            <a:endParaRPr sz="1200">
              <a:solidFill>
                <a:prstClr val="black"/>
              </a:solidFill>
              <a:latin typeface="Verdana"/>
              <a:cs typeface="Verdana"/>
            </a:endParaRPr>
          </a:p>
        </p:txBody>
      </p:sp>
      <p:sp>
        <p:nvSpPr>
          <p:cNvPr id="6" name="object 6"/>
          <p:cNvSpPr/>
          <p:nvPr/>
        </p:nvSpPr>
        <p:spPr>
          <a:xfrm>
            <a:off x="4728814" y="3906683"/>
            <a:ext cx="1397000" cy="685800"/>
          </a:xfrm>
          <a:custGeom>
            <a:avLst/>
            <a:gdLst/>
            <a:ahLst/>
            <a:cxnLst/>
            <a:rect l="l" t="t" r="r" b="b"/>
            <a:pathLst>
              <a:path w="1397000" h="685800">
                <a:moveTo>
                  <a:pt x="0" y="114302"/>
                </a:moveTo>
                <a:lnTo>
                  <a:pt x="8982" y="69810"/>
                </a:lnTo>
                <a:lnTo>
                  <a:pt x="33478" y="33478"/>
                </a:lnTo>
                <a:lnTo>
                  <a:pt x="69810" y="8982"/>
                </a:lnTo>
                <a:lnTo>
                  <a:pt x="114302" y="0"/>
                </a:lnTo>
                <a:lnTo>
                  <a:pt x="1282197" y="0"/>
                </a:lnTo>
                <a:lnTo>
                  <a:pt x="1325939" y="8700"/>
                </a:lnTo>
                <a:lnTo>
                  <a:pt x="1363021" y="33478"/>
                </a:lnTo>
                <a:lnTo>
                  <a:pt x="1387799" y="70560"/>
                </a:lnTo>
                <a:lnTo>
                  <a:pt x="1396499" y="114302"/>
                </a:lnTo>
                <a:lnTo>
                  <a:pt x="1396499" y="571497"/>
                </a:lnTo>
                <a:lnTo>
                  <a:pt x="1387517" y="615989"/>
                </a:lnTo>
                <a:lnTo>
                  <a:pt x="1363021" y="652321"/>
                </a:lnTo>
                <a:lnTo>
                  <a:pt x="1326689" y="676817"/>
                </a:lnTo>
                <a:lnTo>
                  <a:pt x="1282197" y="685799"/>
                </a:lnTo>
                <a:lnTo>
                  <a:pt x="114302" y="685799"/>
                </a:lnTo>
                <a:lnTo>
                  <a:pt x="69810" y="676817"/>
                </a:lnTo>
                <a:lnTo>
                  <a:pt x="33478" y="652321"/>
                </a:lnTo>
                <a:lnTo>
                  <a:pt x="8982" y="615989"/>
                </a:lnTo>
                <a:lnTo>
                  <a:pt x="0" y="571497"/>
                </a:lnTo>
                <a:lnTo>
                  <a:pt x="0" y="114302"/>
                </a:lnTo>
                <a:close/>
              </a:path>
            </a:pathLst>
          </a:custGeom>
          <a:ln w="25399">
            <a:solidFill>
              <a:srgbClr val="B4B4B4"/>
            </a:solidFill>
          </a:ln>
        </p:spPr>
        <p:txBody>
          <a:bodyPr wrap="square" lIns="0" tIns="0" rIns="0" bIns="0" rtlCol="0"/>
          <a:lstStyle/>
          <a:p>
            <a:endParaRPr>
              <a:solidFill>
                <a:prstClr val="black"/>
              </a:solidFill>
              <a:latin typeface="Calibri"/>
            </a:endParaRPr>
          </a:p>
        </p:txBody>
      </p:sp>
      <p:sp>
        <p:nvSpPr>
          <p:cNvPr id="7" name="object 7"/>
          <p:cNvSpPr txBox="1"/>
          <p:nvPr/>
        </p:nvSpPr>
        <p:spPr>
          <a:xfrm>
            <a:off x="4904107" y="3937417"/>
            <a:ext cx="1045210" cy="539750"/>
          </a:xfrm>
          <a:prstGeom prst="rect">
            <a:avLst/>
          </a:prstGeom>
        </p:spPr>
        <p:txBody>
          <a:bodyPr vert="horz" wrap="square" lIns="0" tIns="86995" rIns="0" bIns="0" rtlCol="0">
            <a:spAutoFit/>
          </a:bodyPr>
          <a:lstStyle/>
          <a:p>
            <a:pPr algn="ctr">
              <a:spcBef>
                <a:spcPts val="685"/>
              </a:spcBef>
            </a:pPr>
            <a:r>
              <a:rPr sz="1200" spc="-5" dirty="0">
                <a:solidFill>
                  <a:srgbClr val="313131"/>
                </a:solidFill>
                <a:latin typeface="Verdana"/>
                <a:cs typeface="Verdana"/>
              </a:rPr>
              <a:t>Discriminator</a:t>
            </a:r>
            <a:endParaRPr sz="1200">
              <a:solidFill>
                <a:prstClr val="black"/>
              </a:solidFill>
              <a:latin typeface="Verdana"/>
              <a:cs typeface="Verdana"/>
            </a:endParaRPr>
          </a:p>
          <a:p>
            <a:pPr marL="635" algn="ctr">
              <a:spcBef>
                <a:spcPts val="585"/>
              </a:spcBef>
            </a:pPr>
            <a:r>
              <a:rPr sz="1200" b="1" dirty="0">
                <a:solidFill>
                  <a:srgbClr val="313131"/>
                </a:solidFill>
                <a:latin typeface="Verdana"/>
                <a:cs typeface="Verdana"/>
              </a:rPr>
              <a:t>D</a:t>
            </a:r>
            <a:endParaRPr sz="1200">
              <a:solidFill>
                <a:prstClr val="black"/>
              </a:solidFill>
              <a:latin typeface="Verdana"/>
              <a:cs typeface="Verdana"/>
            </a:endParaRPr>
          </a:p>
        </p:txBody>
      </p:sp>
      <p:sp>
        <p:nvSpPr>
          <p:cNvPr id="8" name="object 8"/>
          <p:cNvSpPr txBox="1"/>
          <p:nvPr/>
        </p:nvSpPr>
        <p:spPr>
          <a:xfrm>
            <a:off x="2557806" y="3662616"/>
            <a:ext cx="1038860" cy="19749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Training</a:t>
            </a:r>
            <a:r>
              <a:rPr sz="1200" spc="-75" dirty="0">
                <a:solidFill>
                  <a:srgbClr val="313131"/>
                </a:solidFill>
                <a:latin typeface="Verdana"/>
                <a:cs typeface="Verdana"/>
              </a:rPr>
              <a:t> </a:t>
            </a:r>
            <a:r>
              <a:rPr sz="1200" spc="-5" dirty="0">
                <a:solidFill>
                  <a:srgbClr val="313131"/>
                </a:solidFill>
                <a:latin typeface="Verdana"/>
                <a:cs typeface="Verdana"/>
              </a:rPr>
              <a:t>data</a:t>
            </a:r>
            <a:endParaRPr sz="1200">
              <a:solidFill>
                <a:prstClr val="black"/>
              </a:solidFill>
              <a:latin typeface="Verdana"/>
              <a:cs typeface="Verdana"/>
            </a:endParaRPr>
          </a:p>
        </p:txBody>
      </p:sp>
      <p:sp>
        <p:nvSpPr>
          <p:cNvPr id="9" name="object 9"/>
          <p:cNvSpPr txBox="1"/>
          <p:nvPr/>
        </p:nvSpPr>
        <p:spPr>
          <a:xfrm>
            <a:off x="1066584" y="4673143"/>
            <a:ext cx="443865" cy="19749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Noise</a:t>
            </a:r>
            <a:endParaRPr sz="1200">
              <a:solidFill>
                <a:prstClr val="black"/>
              </a:solidFill>
              <a:latin typeface="Verdana"/>
              <a:cs typeface="Verdana"/>
            </a:endParaRPr>
          </a:p>
        </p:txBody>
      </p:sp>
      <p:grpSp>
        <p:nvGrpSpPr>
          <p:cNvPr id="10" name="object 10"/>
          <p:cNvGrpSpPr/>
          <p:nvPr/>
        </p:nvGrpSpPr>
        <p:grpSpPr>
          <a:xfrm>
            <a:off x="1595437" y="4786463"/>
            <a:ext cx="453390" cy="41275"/>
            <a:chOff x="1595437" y="3929212"/>
            <a:chExt cx="453390" cy="41275"/>
          </a:xfrm>
        </p:grpSpPr>
        <p:sp>
          <p:nvSpPr>
            <p:cNvPr id="11" name="object 11"/>
            <p:cNvSpPr/>
            <p:nvPr/>
          </p:nvSpPr>
          <p:spPr>
            <a:xfrm>
              <a:off x="1600200" y="3949705"/>
              <a:ext cx="400685" cy="6350"/>
            </a:xfrm>
            <a:custGeom>
              <a:avLst/>
              <a:gdLst/>
              <a:ahLst/>
              <a:cxnLst/>
              <a:rect l="l" t="t" r="r" b="b"/>
              <a:pathLst>
                <a:path w="400685" h="6350">
                  <a:moveTo>
                    <a:pt x="0" y="6299"/>
                  </a:moveTo>
                  <a:lnTo>
                    <a:pt x="400056"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12" name="object 12"/>
            <p:cNvSpPr/>
            <p:nvPr/>
          </p:nvSpPr>
          <p:spPr>
            <a:xfrm>
              <a:off x="2000009" y="3933974"/>
              <a:ext cx="43815" cy="31750"/>
            </a:xfrm>
            <a:custGeom>
              <a:avLst/>
              <a:gdLst/>
              <a:ahLst/>
              <a:cxnLst/>
              <a:rect l="l" t="t" r="r" b="b"/>
              <a:pathLst>
                <a:path w="43814" h="31750">
                  <a:moveTo>
                    <a:pt x="495" y="31461"/>
                  </a:moveTo>
                  <a:lnTo>
                    <a:pt x="0" y="0"/>
                  </a:lnTo>
                  <a:lnTo>
                    <a:pt x="43467" y="15049"/>
                  </a:lnTo>
                  <a:lnTo>
                    <a:pt x="495" y="31461"/>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13" name="object 13"/>
            <p:cNvSpPr/>
            <p:nvPr/>
          </p:nvSpPr>
          <p:spPr>
            <a:xfrm>
              <a:off x="2000009" y="3933974"/>
              <a:ext cx="43815" cy="31750"/>
            </a:xfrm>
            <a:custGeom>
              <a:avLst/>
              <a:gdLst/>
              <a:ahLst/>
              <a:cxnLst/>
              <a:rect l="l" t="t" r="r" b="b"/>
              <a:pathLst>
                <a:path w="43814" h="31750">
                  <a:moveTo>
                    <a:pt x="495" y="31461"/>
                  </a:moveTo>
                  <a:lnTo>
                    <a:pt x="43467" y="15049"/>
                  </a:lnTo>
                  <a:lnTo>
                    <a:pt x="0" y="0"/>
                  </a:lnTo>
                  <a:lnTo>
                    <a:pt x="495" y="31461"/>
                  </a:lnTo>
                  <a:close/>
                </a:path>
              </a:pathLst>
            </a:custGeom>
            <a:ln w="9524">
              <a:solidFill>
                <a:srgbClr val="B10639"/>
              </a:solidFill>
            </a:ln>
          </p:spPr>
          <p:txBody>
            <a:bodyPr wrap="square" lIns="0" tIns="0" rIns="0" bIns="0" rtlCol="0"/>
            <a:lstStyle/>
            <a:p>
              <a:endParaRPr>
                <a:solidFill>
                  <a:prstClr val="black"/>
                </a:solidFill>
                <a:latin typeface="Calibri"/>
              </a:endParaRPr>
            </a:p>
          </p:txBody>
        </p:sp>
      </p:grpSp>
      <p:grpSp>
        <p:nvGrpSpPr>
          <p:cNvPr id="14" name="object 14"/>
          <p:cNvGrpSpPr/>
          <p:nvPr/>
        </p:nvGrpSpPr>
        <p:grpSpPr>
          <a:xfrm>
            <a:off x="3695097" y="4387067"/>
            <a:ext cx="922655" cy="372110"/>
            <a:chOff x="3695096" y="3529817"/>
            <a:chExt cx="922655" cy="372110"/>
          </a:xfrm>
        </p:grpSpPr>
        <p:sp>
          <p:nvSpPr>
            <p:cNvPr id="15" name="object 15"/>
            <p:cNvSpPr/>
            <p:nvPr/>
          </p:nvSpPr>
          <p:spPr>
            <a:xfrm>
              <a:off x="3699859" y="3550516"/>
              <a:ext cx="873125" cy="346710"/>
            </a:xfrm>
            <a:custGeom>
              <a:avLst/>
              <a:gdLst/>
              <a:ahLst/>
              <a:cxnLst/>
              <a:rect l="l" t="t" r="r" b="b"/>
              <a:pathLst>
                <a:path w="873125" h="346710">
                  <a:moveTo>
                    <a:pt x="0" y="346129"/>
                  </a:moveTo>
                  <a:lnTo>
                    <a:pt x="872675"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16" name="object 16"/>
            <p:cNvSpPr/>
            <p:nvPr/>
          </p:nvSpPr>
          <p:spPr>
            <a:xfrm>
              <a:off x="4566734" y="3534579"/>
              <a:ext cx="46355" cy="31115"/>
            </a:xfrm>
            <a:custGeom>
              <a:avLst/>
              <a:gdLst/>
              <a:ahLst/>
              <a:cxnLst/>
              <a:rect l="l" t="t" r="r" b="b"/>
              <a:pathLst>
                <a:path w="46354" h="31114">
                  <a:moveTo>
                    <a:pt x="11600" y="30560"/>
                  </a:moveTo>
                  <a:lnTo>
                    <a:pt x="0" y="1312"/>
                  </a:lnTo>
                  <a:lnTo>
                    <a:pt x="45980" y="0"/>
                  </a:lnTo>
                  <a:lnTo>
                    <a:pt x="11600" y="30560"/>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17" name="object 17"/>
            <p:cNvSpPr/>
            <p:nvPr/>
          </p:nvSpPr>
          <p:spPr>
            <a:xfrm>
              <a:off x="4566734" y="3534579"/>
              <a:ext cx="46355" cy="31115"/>
            </a:xfrm>
            <a:custGeom>
              <a:avLst/>
              <a:gdLst/>
              <a:ahLst/>
              <a:cxnLst/>
              <a:rect l="l" t="t" r="r" b="b"/>
              <a:pathLst>
                <a:path w="46354" h="31114">
                  <a:moveTo>
                    <a:pt x="11600" y="30560"/>
                  </a:moveTo>
                  <a:lnTo>
                    <a:pt x="45980" y="0"/>
                  </a:lnTo>
                  <a:lnTo>
                    <a:pt x="0" y="1312"/>
                  </a:lnTo>
                  <a:lnTo>
                    <a:pt x="11600" y="30560"/>
                  </a:lnTo>
                  <a:close/>
                </a:path>
              </a:pathLst>
            </a:custGeom>
            <a:ln w="9524">
              <a:solidFill>
                <a:srgbClr val="B10639"/>
              </a:solidFill>
            </a:ln>
          </p:spPr>
          <p:txBody>
            <a:bodyPr wrap="square" lIns="0" tIns="0" rIns="0" bIns="0" rtlCol="0"/>
            <a:lstStyle/>
            <a:p>
              <a:endParaRPr>
                <a:solidFill>
                  <a:prstClr val="black"/>
                </a:solidFill>
                <a:latin typeface="Calibri"/>
              </a:endParaRPr>
            </a:p>
          </p:txBody>
        </p:sp>
      </p:grpSp>
      <p:grpSp>
        <p:nvGrpSpPr>
          <p:cNvPr id="18" name="object 18"/>
          <p:cNvGrpSpPr/>
          <p:nvPr/>
        </p:nvGrpSpPr>
        <p:grpSpPr>
          <a:xfrm>
            <a:off x="6236875" y="4236466"/>
            <a:ext cx="1602740" cy="41275"/>
            <a:chOff x="6236875" y="3379215"/>
            <a:chExt cx="1602740" cy="41275"/>
          </a:xfrm>
        </p:grpSpPr>
        <p:sp>
          <p:nvSpPr>
            <p:cNvPr id="19" name="object 19"/>
            <p:cNvSpPr/>
            <p:nvPr/>
          </p:nvSpPr>
          <p:spPr>
            <a:xfrm>
              <a:off x="6236875" y="3399710"/>
              <a:ext cx="1554480" cy="0"/>
            </a:xfrm>
            <a:custGeom>
              <a:avLst/>
              <a:gdLst/>
              <a:ahLst/>
              <a:cxnLst/>
              <a:rect l="l" t="t" r="r" b="b"/>
              <a:pathLst>
                <a:path w="1554479">
                  <a:moveTo>
                    <a:pt x="0" y="0"/>
                  </a:moveTo>
                  <a:lnTo>
                    <a:pt x="1554449"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20" name="object 20"/>
            <p:cNvSpPr/>
            <p:nvPr/>
          </p:nvSpPr>
          <p:spPr>
            <a:xfrm>
              <a:off x="7791325" y="3383977"/>
              <a:ext cx="43815" cy="31750"/>
            </a:xfrm>
            <a:custGeom>
              <a:avLst/>
              <a:gdLst/>
              <a:ahLst/>
              <a:cxnLst/>
              <a:rect l="l" t="t" r="r" b="b"/>
              <a:pathLst>
                <a:path w="43815" h="31750">
                  <a:moveTo>
                    <a:pt x="0" y="31465"/>
                  </a:moveTo>
                  <a:lnTo>
                    <a:pt x="0" y="0"/>
                  </a:lnTo>
                  <a:lnTo>
                    <a:pt x="43224" y="15732"/>
                  </a:lnTo>
                  <a:lnTo>
                    <a:pt x="0" y="31465"/>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21" name="object 21"/>
            <p:cNvSpPr/>
            <p:nvPr/>
          </p:nvSpPr>
          <p:spPr>
            <a:xfrm>
              <a:off x="7791325" y="3383977"/>
              <a:ext cx="43815" cy="31750"/>
            </a:xfrm>
            <a:custGeom>
              <a:avLst/>
              <a:gdLst/>
              <a:ahLst/>
              <a:cxnLst/>
              <a:rect l="l" t="t" r="r" b="b"/>
              <a:pathLst>
                <a:path w="43815" h="31750">
                  <a:moveTo>
                    <a:pt x="0" y="31465"/>
                  </a:moveTo>
                  <a:lnTo>
                    <a:pt x="43224" y="15732"/>
                  </a:lnTo>
                  <a:lnTo>
                    <a:pt x="0" y="0"/>
                  </a:lnTo>
                  <a:lnTo>
                    <a:pt x="0" y="31465"/>
                  </a:lnTo>
                  <a:close/>
                </a:path>
              </a:pathLst>
            </a:custGeom>
            <a:ln w="9524">
              <a:solidFill>
                <a:srgbClr val="B10639"/>
              </a:solidFill>
            </a:ln>
          </p:spPr>
          <p:txBody>
            <a:bodyPr wrap="square" lIns="0" tIns="0" rIns="0" bIns="0" rtlCol="0"/>
            <a:lstStyle/>
            <a:p>
              <a:endParaRPr>
                <a:solidFill>
                  <a:prstClr val="black"/>
                </a:solidFill>
                <a:latin typeface="Calibri"/>
              </a:endParaRPr>
            </a:p>
          </p:txBody>
        </p:sp>
      </p:grpSp>
      <p:sp>
        <p:nvSpPr>
          <p:cNvPr id="22" name="object 22"/>
          <p:cNvSpPr txBox="1"/>
          <p:nvPr/>
        </p:nvSpPr>
        <p:spPr>
          <a:xfrm rot="20220000">
            <a:off x="3754620" y="4616496"/>
            <a:ext cx="809489" cy="127000"/>
          </a:xfrm>
          <a:prstGeom prst="rect">
            <a:avLst/>
          </a:prstGeom>
        </p:spPr>
        <p:txBody>
          <a:bodyPr vert="horz" wrap="square" lIns="0" tIns="0" rIns="0" bIns="0" rtlCol="0">
            <a:spAutoFit/>
          </a:bodyPr>
          <a:lstStyle/>
          <a:p>
            <a:pPr>
              <a:lnSpc>
                <a:spcPts val="1000"/>
              </a:lnSpc>
            </a:pPr>
            <a:r>
              <a:rPr sz="1000" spc="-5" dirty="0">
                <a:solidFill>
                  <a:srgbClr val="313131"/>
                </a:solidFill>
                <a:latin typeface="Verdana"/>
                <a:cs typeface="Verdana"/>
              </a:rPr>
              <a:t>Fak</a:t>
            </a:r>
            <a:r>
              <a:rPr sz="1000" dirty="0">
                <a:solidFill>
                  <a:srgbClr val="313131"/>
                </a:solidFill>
                <a:latin typeface="Verdana"/>
                <a:cs typeface="Verdana"/>
              </a:rPr>
              <a:t>e</a:t>
            </a:r>
            <a:r>
              <a:rPr sz="1000" spc="-5" dirty="0">
                <a:solidFill>
                  <a:srgbClr val="313131"/>
                </a:solidFill>
                <a:latin typeface="Verdana"/>
                <a:cs typeface="Verdana"/>
              </a:rPr>
              <a:t> sample</a:t>
            </a:r>
            <a:endParaRPr sz="1000">
              <a:solidFill>
                <a:prstClr val="black"/>
              </a:solidFill>
              <a:latin typeface="Verdana"/>
              <a:cs typeface="Verdana"/>
            </a:endParaRPr>
          </a:p>
        </p:txBody>
      </p:sp>
      <p:grpSp>
        <p:nvGrpSpPr>
          <p:cNvPr id="23" name="object 23"/>
          <p:cNvGrpSpPr/>
          <p:nvPr/>
        </p:nvGrpSpPr>
        <p:grpSpPr>
          <a:xfrm>
            <a:off x="3692795" y="3789248"/>
            <a:ext cx="916940" cy="386715"/>
            <a:chOff x="3692795" y="2931997"/>
            <a:chExt cx="916940" cy="386715"/>
          </a:xfrm>
        </p:grpSpPr>
        <p:sp>
          <p:nvSpPr>
            <p:cNvPr id="24" name="object 24"/>
            <p:cNvSpPr/>
            <p:nvPr/>
          </p:nvSpPr>
          <p:spPr>
            <a:xfrm>
              <a:off x="3697557" y="2936759"/>
              <a:ext cx="867410" cy="360680"/>
            </a:xfrm>
            <a:custGeom>
              <a:avLst/>
              <a:gdLst/>
              <a:ahLst/>
              <a:cxnLst/>
              <a:rect l="l" t="t" r="r" b="b"/>
              <a:pathLst>
                <a:path w="867410" h="360679">
                  <a:moveTo>
                    <a:pt x="0" y="0"/>
                  </a:moveTo>
                  <a:lnTo>
                    <a:pt x="867030" y="360555"/>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25" name="object 25"/>
            <p:cNvSpPr/>
            <p:nvPr/>
          </p:nvSpPr>
          <p:spPr>
            <a:xfrm>
              <a:off x="4558547" y="3282788"/>
              <a:ext cx="46355" cy="31750"/>
            </a:xfrm>
            <a:custGeom>
              <a:avLst/>
              <a:gdLst/>
              <a:ahLst/>
              <a:cxnLst/>
              <a:rect l="l" t="t" r="r" b="b"/>
              <a:pathLst>
                <a:path w="46354" h="31750">
                  <a:moveTo>
                    <a:pt x="45953" y="31123"/>
                  </a:moveTo>
                  <a:lnTo>
                    <a:pt x="0" y="29053"/>
                  </a:lnTo>
                  <a:lnTo>
                    <a:pt x="12081" y="0"/>
                  </a:lnTo>
                  <a:lnTo>
                    <a:pt x="45953" y="31123"/>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26" name="object 26"/>
            <p:cNvSpPr/>
            <p:nvPr/>
          </p:nvSpPr>
          <p:spPr>
            <a:xfrm>
              <a:off x="4558547" y="3282788"/>
              <a:ext cx="46355" cy="31750"/>
            </a:xfrm>
            <a:custGeom>
              <a:avLst/>
              <a:gdLst/>
              <a:ahLst/>
              <a:cxnLst/>
              <a:rect l="l" t="t" r="r" b="b"/>
              <a:pathLst>
                <a:path w="46354" h="31750">
                  <a:moveTo>
                    <a:pt x="0" y="29053"/>
                  </a:moveTo>
                  <a:lnTo>
                    <a:pt x="45953" y="31123"/>
                  </a:lnTo>
                  <a:lnTo>
                    <a:pt x="12081" y="0"/>
                  </a:lnTo>
                  <a:lnTo>
                    <a:pt x="0" y="29053"/>
                  </a:lnTo>
                  <a:close/>
                </a:path>
              </a:pathLst>
            </a:custGeom>
            <a:ln w="9524">
              <a:solidFill>
                <a:srgbClr val="B10639"/>
              </a:solidFill>
            </a:ln>
          </p:spPr>
          <p:txBody>
            <a:bodyPr wrap="square" lIns="0" tIns="0" rIns="0" bIns="0" rtlCol="0"/>
            <a:lstStyle/>
            <a:p>
              <a:endParaRPr>
                <a:solidFill>
                  <a:prstClr val="black"/>
                </a:solidFill>
                <a:latin typeface="Calibri"/>
              </a:endParaRPr>
            </a:p>
          </p:txBody>
        </p:sp>
      </p:grpSp>
      <p:sp>
        <p:nvSpPr>
          <p:cNvPr id="27" name="object 27"/>
          <p:cNvSpPr txBox="1"/>
          <p:nvPr/>
        </p:nvSpPr>
        <p:spPr>
          <a:xfrm rot="1320000">
            <a:off x="3777743" y="3802146"/>
            <a:ext cx="785667" cy="127000"/>
          </a:xfrm>
          <a:prstGeom prst="rect">
            <a:avLst/>
          </a:prstGeom>
        </p:spPr>
        <p:txBody>
          <a:bodyPr vert="horz" wrap="square" lIns="0" tIns="0" rIns="0" bIns="0" rtlCol="0">
            <a:spAutoFit/>
          </a:bodyPr>
          <a:lstStyle/>
          <a:p>
            <a:pPr>
              <a:lnSpc>
                <a:spcPts val="1000"/>
              </a:lnSpc>
            </a:pPr>
            <a:r>
              <a:rPr sz="1000" spc="-5" dirty="0">
                <a:solidFill>
                  <a:srgbClr val="313131"/>
                </a:solidFill>
                <a:latin typeface="Verdana"/>
                <a:cs typeface="Verdana"/>
              </a:rPr>
              <a:t>Rea</a:t>
            </a:r>
            <a:r>
              <a:rPr sz="1000" dirty="0">
                <a:solidFill>
                  <a:srgbClr val="313131"/>
                </a:solidFill>
                <a:latin typeface="Verdana"/>
                <a:cs typeface="Verdana"/>
              </a:rPr>
              <a:t>l</a:t>
            </a:r>
            <a:r>
              <a:rPr sz="1000" spc="-10" dirty="0">
                <a:solidFill>
                  <a:srgbClr val="313131"/>
                </a:solidFill>
                <a:latin typeface="Verdana"/>
                <a:cs typeface="Verdana"/>
              </a:rPr>
              <a:t> </a:t>
            </a:r>
            <a:r>
              <a:rPr sz="1000" spc="-5" dirty="0">
                <a:solidFill>
                  <a:srgbClr val="313131"/>
                </a:solidFill>
                <a:latin typeface="Verdana"/>
                <a:cs typeface="Verdana"/>
              </a:rPr>
              <a:t>sample</a:t>
            </a:r>
            <a:endParaRPr sz="1000">
              <a:solidFill>
                <a:prstClr val="black"/>
              </a:solidFill>
              <a:latin typeface="Verdana"/>
              <a:cs typeface="Verdana"/>
            </a:endParaRPr>
          </a:p>
        </p:txBody>
      </p:sp>
      <p:sp>
        <p:nvSpPr>
          <p:cNvPr id="28" name="object 28"/>
          <p:cNvSpPr txBox="1"/>
          <p:nvPr/>
        </p:nvSpPr>
        <p:spPr>
          <a:xfrm>
            <a:off x="7953752" y="4118180"/>
            <a:ext cx="120650" cy="197490"/>
          </a:xfrm>
          <a:prstGeom prst="rect">
            <a:avLst/>
          </a:prstGeom>
        </p:spPr>
        <p:txBody>
          <a:bodyPr vert="horz" wrap="square" lIns="0" tIns="12700" rIns="0" bIns="0" rtlCol="0">
            <a:spAutoFit/>
          </a:bodyPr>
          <a:lstStyle/>
          <a:p>
            <a:pPr marL="12700">
              <a:spcBef>
                <a:spcPts val="100"/>
              </a:spcBef>
            </a:pPr>
            <a:r>
              <a:rPr sz="1200" i="1" dirty="0">
                <a:solidFill>
                  <a:srgbClr val="313131"/>
                </a:solidFill>
                <a:latin typeface="Verdana"/>
                <a:cs typeface="Verdana"/>
              </a:rPr>
              <a:t>p</a:t>
            </a:r>
            <a:endParaRPr sz="1200">
              <a:solidFill>
                <a:prstClr val="black"/>
              </a:solidFill>
              <a:latin typeface="Verdana"/>
              <a:cs typeface="Verdana"/>
            </a:endParaRPr>
          </a:p>
        </p:txBody>
      </p:sp>
      <p:sp>
        <p:nvSpPr>
          <p:cNvPr id="29" name="object 29"/>
          <p:cNvSpPr txBox="1"/>
          <p:nvPr/>
        </p:nvSpPr>
        <p:spPr>
          <a:xfrm>
            <a:off x="6262274" y="4051728"/>
            <a:ext cx="997585" cy="166712"/>
          </a:xfrm>
          <a:prstGeom prst="rect">
            <a:avLst/>
          </a:prstGeom>
        </p:spPr>
        <p:txBody>
          <a:bodyPr vert="horz" wrap="square" lIns="0" tIns="12700" rIns="0" bIns="0" rtlCol="0">
            <a:spAutoFit/>
          </a:bodyPr>
          <a:lstStyle/>
          <a:p>
            <a:pPr marL="12700">
              <a:spcBef>
                <a:spcPts val="100"/>
              </a:spcBef>
            </a:pPr>
            <a:r>
              <a:rPr sz="1000" spc="-5" dirty="0">
                <a:solidFill>
                  <a:srgbClr val="313131"/>
                </a:solidFill>
                <a:latin typeface="Verdana"/>
                <a:cs typeface="Verdana"/>
              </a:rPr>
              <a:t>Is</a:t>
            </a:r>
            <a:r>
              <a:rPr sz="1000" spc="-45" dirty="0">
                <a:solidFill>
                  <a:srgbClr val="313131"/>
                </a:solidFill>
                <a:latin typeface="Verdana"/>
                <a:cs typeface="Verdana"/>
              </a:rPr>
              <a:t> </a:t>
            </a:r>
            <a:r>
              <a:rPr sz="1000" spc="-5" dirty="0">
                <a:solidFill>
                  <a:srgbClr val="313131"/>
                </a:solidFill>
                <a:latin typeface="Verdana"/>
                <a:cs typeface="Verdana"/>
              </a:rPr>
              <a:t>sample</a:t>
            </a:r>
            <a:r>
              <a:rPr sz="1000" spc="-40" dirty="0">
                <a:solidFill>
                  <a:srgbClr val="313131"/>
                </a:solidFill>
                <a:latin typeface="Verdana"/>
                <a:cs typeface="Verdana"/>
              </a:rPr>
              <a:t> </a:t>
            </a:r>
            <a:r>
              <a:rPr sz="1000" spc="-5" dirty="0">
                <a:solidFill>
                  <a:srgbClr val="313131"/>
                </a:solidFill>
                <a:latin typeface="Verdana"/>
                <a:cs typeface="Verdana"/>
              </a:rPr>
              <a:t>real?</a:t>
            </a:r>
            <a:endParaRPr sz="1000">
              <a:solidFill>
                <a:prstClr val="black"/>
              </a:solidFill>
              <a:latin typeface="Verdana"/>
              <a:cs typeface="Verdana"/>
            </a:endParaRPr>
          </a:p>
        </p:txBody>
      </p:sp>
      <p:sp>
        <p:nvSpPr>
          <p:cNvPr id="30" name="object 30"/>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33" name="Picture 2" descr="E:\NIET\Project\xLogo11.png.pagespeed.ic.pydHLuCQEZ.png">
            <a:extLst>
              <a:ext uri="{FF2B5EF4-FFF2-40B4-BE49-F238E27FC236}">
                <a16:creationId xmlns:a16="http://schemas.microsoft.com/office/drawing/2014/main" id="{05DBE7F7-6449-3BF1-EE13-86501B11C60E}"/>
              </a:ext>
            </a:extLst>
          </p:cNvPr>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34" name="Title 1">
            <a:extLst>
              <a:ext uri="{FF2B5EF4-FFF2-40B4-BE49-F238E27FC236}">
                <a16:creationId xmlns:a16="http://schemas.microsoft.com/office/drawing/2014/main" id="{4D6EA768-1418-F9E6-C28E-2C44DF65AA28}"/>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Generative Adversarial Networks </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object 13"/>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6494463" cy="330200"/>
          </a:xfrm>
          <a:prstGeom prst="rect">
            <a:avLst/>
          </a:prstGeom>
        </p:spPr>
        <p:txBody>
          <a:bodyPr vert="horz" wrap="square" lIns="0" tIns="12700" rIns="0" bIns="0" rtlCol="0">
            <a:spAutoFit/>
          </a:bodyPr>
          <a:lstStyle/>
          <a:p>
            <a:pPr marL="38100">
              <a:spcBef>
                <a:spcPts val="100"/>
              </a:spcBef>
            </a:pPr>
            <a:r>
              <a:rPr spc="-5" dirty="0"/>
              <a:t>Generative Adversarial Networks</a:t>
            </a:r>
            <a:r>
              <a:rPr spc="30" dirty="0"/>
              <a:t> </a:t>
            </a:r>
            <a:r>
              <a:rPr sz="1950" spc="15" baseline="32051" dirty="0"/>
              <a:t>(</a:t>
            </a:r>
            <a:r>
              <a:rPr sz="1950" i="1" spc="15" baseline="32051" dirty="0"/>
              <a:t>Goodfellow</a:t>
            </a:r>
            <a:r>
              <a:rPr sz="1950" i="1" spc="7" baseline="32051" dirty="0"/>
              <a:t> </a:t>
            </a:r>
            <a:r>
              <a:rPr sz="1950" i="1" spc="15" baseline="32051" dirty="0"/>
              <a:t>et</a:t>
            </a:r>
            <a:r>
              <a:rPr sz="1950" i="1" spc="7" baseline="32051" dirty="0"/>
              <a:t> al., </a:t>
            </a:r>
            <a:r>
              <a:rPr sz="1950" i="1" spc="22" baseline="32051" dirty="0"/>
              <a:t>2014</a:t>
            </a:r>
            <a:r>
              <a:rPr sz="1950" spc="22" baseline="32051" dirty="0"/>
              <a:t>)</a:t>
            </a:r>
            <a:endParaRPr sz="1950" baseline="32051"/>
          </a:p>
        </p:txBody>
      </p:sp>
      <p:sp>
        <p:nvSpPr>
          <p:cNvPr id="3" name="object 3"/>
          <p:cNvSpPr txBox="1"/>
          <p:nvPr/>
        </p:nvSpPr>
        <p:spPr>
          <a:xfrm>
            <a:off x="372068" y="2071560"/>
            <a:ext cx="5836920" cy="1320800"/>
          </a:xfrm>
          <a:prstGeom prst="rect">
            <a:avLst/>
          </a:prstGeom>
        </p:spPr>
        <p:txBody>
          <a:bodyPr vert="horz" wrap="square" lIns="0" tIns="85090" rIns="0" bIns="0" rtlCol="0">
            <a:spAutoFit/>
          </a:bodyPr>
          <a:lstStyle/>
          <a:p>
            <a:pPr marL="345440" indent="-333375">
              <a:spcBef>
                <a:spcPts val="670"/>
              </a:spcBef>
              <a:buClr>
                <a:srgbClr val="B10639"/>
              </a:buClr>
              <a:buFont typeface="Yu Gothic UI"/>
              <a:buChar char="▪"/>
              <a:tabLst>
                <a:tab pos="344805" algn="l"/>
                <a:tab pos="346075" algn="l"/>
              </a:tabLst>
            </a:pPr>
            <a:r>
              <a:rPr sz="1400" spc="-5" dirty="0">
                <a:solidFill>
                  <a:srgbClr val="313131"/>
                </a:solidFill>
                <a:latin typeface="Verdana"/>
                <a:cs typeface="Verdana"/>
              </a:rPr>
              <a:t>Both</a:t>
            </a:r>
            <a:r>
              <a:rPr sz="1400" spc="-20" dirty="0">
                <a:solidFill>
                  <a:srgbClr val="313131"/>
                </a:solidFill>
                <a:latin typeface="Verdana"/>
                <a:cs typeface="Verdana"/>
              </a:rPr>
              <a:t> </a:t>
            </a:r>
            <a:r>
              <a:rPr sz="1400" spc="-5" dirty="0">
                <a:solidFill>
                  <a:srgbClr val="313131"/>
                </a:solidFill>
                <a:latin typeface="Verdana"/>
                <a:cs typeface="Verdana"/>
              </a:rPr>
              <a:t>models</a:t>
            </a:r>
            <a:r>
              <a:rPr sz="1400" spc="-15" dirty="0">
                <a:solidFill>
                  <a:srgbClr val="313131"/>
                </a:solidFill>
                <a:latin typeface="Verdana"/>
                <a:cs typeface="Verdana"/>
              </a:rPr>
              <a:t> </a:t>
            </a:r>
            <a:r>
              <a:rPr sz="1400" spc="-5" dirty="0">
                <a:solidFill>
                  <a:srgbClr val="313131"/>
                </a:solidFill>
                <a:latin typeface="Verdana"/>
                <a:cs typeface="Verdana"/>
              </a:rPr>
              <a:t>are</a:t>
            </a:r>
            <a:r>
              <a:rPr sz="1400" spc="-15" dirty="0">
                <a:solidFill>
                  <a:srgbClr val="313131"/>
                </a:solidFill>
                <a:latin typeface="Verdana"/>
                <a:cs typeface="Verdana"/>
              </a:rPr>
              <a:t> </a:t>
            </a:r>
            <a:r>
              <a:rPr sz="1400" spc="-5" dirty="0">
                <a:solidFill>
                  <a:srgbClr val="313131"/>
                </a:solidFill>
                <a:latin typeface="Verdana"/>
                <a:cs typeface="Verdana"/>
              </a:rPr>
              <a:t>trained</a:t>
            </a:r>
            <a:r>
              <a:rPr sz="1400" spc="-15" dirty="0">
                <a:solidFill>
                  <a:srgbClr val="313131"/>
                </a:solidFill>
                <a:latin typeface="Verdana"/>
                <a:cs typeface="Verdana"/>
              </a:rPr>
              <a:t> </a:t>
            </a:r>
            <a:r>
              <a:rPr sz="1400" spc="-5" dirty="0">
                <a:solidFill>
                  <a:srgbClr val="313131"/>
                </a:solidFill>
                <a:latin typeface="Verdana"/>
                <a:cs typeface="Verdana"/>
              </a:rPr>
              <a:t>together</a:t>
            </a:r>
            <a:r>
              <a:rPr sz="1400" dirty="0">
                <a:solidFill>
                  <a:srgbClr val="313131"/>
                </a:solidFill>
                <a:latin typeface="Verdana"/>
                <a:cs typeface="Verdana"/>
              </a:rPr>
              <a:t> </a:t>
            </a:r>
            <a:r>
              <a:rPr sz="1400" b="1" spc="-5" dirty="0">
                <a:solidFill>
                  <a:srgbClr val="313131"/>
                </a:solidFill>
                <a:latin typeface="Verdana"/>
                <a:cs typeface="Verdana"/>
              </a:rPr>
              <a:t>(minimax</a:t>
            </a:r>
            <a:r>
              <a:rPr sz="1400" b="1" spc="-15" dirty="0">
                <a:solidFill>
                  <a:srgbClr val="313131"/>
                </a:solidFill>
                <a:latin typeface="Verdana"/>
                <a:cs typeface="Verdana"/>
              </a:rPr>
              <a:t> </a:t>
            </a:r>
            <a:r>
              <a:rPr sz="1400" b="1" spc="-5" dirty="0">
                <a:solidFill>
                  <a:srgbClr val="313131"/>
                </a:solidFill>
                <a:latin typeface="Verdana"/>
                <a:cs typeface="Verdana"/>
              </a:rPr>
              <a:t>game):</a:t>
            </a:r>
            <a:endParaRPr sz="1400">
              <a:solidFill>
                <a:prstClr val="black"/>
              </a:solidFill>
              <a:latin typeface="Verdana"/>
              <a:cs typeface="Verdana"/>
            </a:endParaRPr>
          </a:p>
          <a:p>
            <a:pPr marL="616585" lvl="1" indent="-248920">
              <a:spcBef>
                <a:spcPts val="570"/>
              </a:spcBef>
              <a:buClr>
                <a:srgbClr val="B10639"/>
              </a:buClr>
              <a:buFont typeface="Yu Gothic UI"/>
              <a:buChar char="▪"/>
              <a:tabLst>
                <a:tab pos="616585" algn="l"/>
                <a:tab pos="617220" algn="l"/>
              </a:tabLst>
            </a:pPr>
            <a:r>
              <a:rPr sz="1400" spc="-5" dirty="0">
                <a:solidFill>
                  <a:srgbClr val="313131"/>
                </a:solidFill>
                <a:latin typeface="Verdana"/>
                <a:cs typeface="Verdana"/>
              </a:rPr>
              <a:t>G:</a:t>
            </a:r>
            <a:r>
              <a:rPr sz="1400" spc="-15" dirty="0">
                <a:solidFill>
                  <a:srgbClr val="313131"/>
                </a:solidFill>
                <a:latin typeface="Verdana"/>
                <a:cs typeface="Verdana"/>
              </a:rPr>
              <a:t> </a:t>
            </a:r>
            <a:r>
              <a:rPr sz="1400" spc="-5" dirty="0">
                <a:solidFill>
                  <a:srgbClr val="313131"/>
                </a:solidFill>
                <a:latin typeface="Verdana"/>
                <a:cs typeface="Verdana"/>
              </a:rPr>
              <a:t>Increase</a:t>
            </a:r>
            <a:r>
              <a:rPr sz="1400" spc="-15" dirty="0">
                <a:solidFill>
                  <a:srgbClr val="313131"/>
                </a:solidFill>
                <a:latin typeface="Verdana"/>
                <a:cs typeface="Verdana"/>
              </a:rPr>
              <a:t> </a:t>
            </a:r>
            <a:r>
              <a:rPr sz="1400" spc="-5" dirty="0">
                <a:solidFill>
                  <a:srgbClr val="313131"/>
                </a:solidFill>
                <a:latin typeface="Verdana"/>
                <a:cs typeface="Verdana"/>
              </a:rPr>
              <a:t>the</a:t>
            </a:r>
            <a:r>
              <a:rPr sz="1400" spc="-15" dirty="0">
                <a:solidFill>
                  <a:srgbClr val="313131"/>
                </a:solidFill>
                <a:latin typeface="Verdana"/>
                <a:cs typeface="Verdana"/>
              </a:rPr>
              <a:t> </a:t>
            </a:r>
            <a:r>
              <a:rPr sz="1400" spc="-5" dirty="0">
                <a:solidFill>
                  <a:srgbClr val="313131"/>
                </a:solidFill>
                <a:latin typeface="Verdana"/>
                <a:cs typeface="Verdana"/>
              </a:rPr>
              <a:t>probability</a:t>
            </a:r>
            <a:r>
              <a:rPr sz="1400" spc="-15" dirty="0">
                <a:solidFill>
                  <a:srgbClr val="313131"/>
                </a:solidFill>
                <a:latin typeface="Verdana"/>
                <a:cs typeface="Verdana"/>
              </a:rPr>
              <a:t> </a:t>
            </a:r>
            <a:r>
              <a:rPr sz="1400" spc="-5" dirty="0">
                <a:solidFill>
                  <a:srgbClr val="313131"/>
                </a:solidFill>
                <a:latin typeface="Verdana"/>
                <a:cs typeface="Verdana"/>
              </a:rPr>
              <a:t>of</a:t>
            </a:r>
            <a:r>
              <a:rPr sz="1400" spc="-10" dirty="0">
                <a:solidFill>
                  <a:srgbClr val="313131"/>
                </a:solidFill>
                <a:latin typeface="Verdana"/>
                <a:cs typeface="Verdana"/>
              </a:rPr>
              <a:t> </a:t>
            </a:r>
            <a:r>
              <a:rPr sz="1400" dirty="0">
                <a:solidFill>
                  <a:srgbClr val="313131"/>
                </a:solidFill>
                <a:latin typeface="Verdana"/>
                <a:cs typeface="Verdana"/>
              </a:rPr>
              <a:t>D</a:t>
            </a:r>
            <a:r>
              <a:rPr sz="1400" spc="-15" dirty="0">
                <a:solidFill>
                  <a:srgbClr val="313131"/>
                </a:solidFill>
                <a:latin typeface="Verdana"/>
                <a:cs typeface="Verdana"/>
              </a:rPr>
              <a:t> </a:t>
            </a:r>
            <a:r>
              <a:rPr sz="1400" spc="-5" dirty="0">
                <a:solidFill>
                  <a:srgbClr val="313131"/>
                </a:solidFill>
                <a:latin typeface="Verdana"/>
                <a:cs typeface="Verdana"/>
              </a:rPr>
              <a:t>making</a:t>
            </a:r>
            <a:r>
              <a:rPr sz="1400" spc="-15" dirty="0">
                <a:solidFill>
                  <a:srgbClr val="313131"/>
                </a:solidFill>
                <a:latin typeface="Verdana"/>
                <a:cs typeface="Verdana"/>
              </a:rPr>
              <a:t> </a:t>
            </a:r>
            <a:r>
              <a:rPr sz="1400" spc="-5" dirty="0">
                <a:solidFill>
                  <a:srgbClr val="313131"/>
                </a:solidFill>
                <a:latin typeface="Verdana"/>
                <a:cs typeface="Verdana"/>
              </a:rPr>
              <a:t>mistakes</a:t>
            </a:r>
            <a:endParaRPr sz="1400">
              <a:solidFill>
                <a:prstClr val="black"/>
              </a:solidFill>
              <a:latin typeface="Verdana"/>
              <a:cs typeface="Verdana"/>
            </a:endParaRPr>
          </a:p>
          <a:p>
            <a:pPr marL="616585" lvl="1" indent="-248920">
              <a:spcBef>
                <a:spcPts val="570"/>
              </a:spcBef>
              <a:buClr>
                <a:srgbClr val="B10639"/>
              </a:buClr>
              <a:buFont typeface="Yu Gothic UI"/>
              <a:buChar char="▪"/>
              <a:tabLst>
                <a:tab pos="616585" algn="l"/>
                <a:tab pos="617220" algn="l"/>
              </a:tabLst>
            </a:pPr>
            <a:r>
              <a:rPr sz="1400" spc="-5" dirty="0">
                <a:solidFill>
                  <a:srgbClr val="313131"/>
                </a:solidFill>
                <a:latin typeface="Verdana"/>
                <a:cs typeface="Verdana"/>
              </a:rPr>
              <a:t>D:</a:t>
            </a:r>
            <a:r>
              <a:rPr sz="1400" spc="-20" dirty="0">
                <a:solidFill>
                  <a:srgbClr val="313131"/>
                </a:solidFill>
                <a:latin typeface="Verdana"/>
                <a:cs typeface="Verdana"/>
              </a:rPr>
              <a:t> </a:t>
            </a:r>
            <a:r>
              <a:rPr sz="1400" spc="-5" dirty="0">
                <a:solidFill>
                  <a:srgbClr val="313131"/>
                </a:solidFill>
                <a:latin typeface="Verdana"/>
                <a:cs typeface="Verdana"/>
              </a:rPr>
              <a:t>Classify</a:t>
            </a:r>
            <a:r>
              <a:rPr sz="1400" spc="-15" dirty="0">
                <a:solidFill>
                  <a:srgbClr val="313131"/>
                </a:solidFill>
                <a:latin typeface="Verdana"/>
                <a:cs typeface="Verdana"/>
              </a:rPr>
              <a:t> </a:t>
            </a:r>
            <a:r>
              <a:rPr sz="1400" spc="-5" dirty="0">
                <a:solidFill>
                  <a:srgbClr val="313131"/>
                </a:solidFill>
                <a:latin typeface="Verdana"/>
                <a:cs typeface="Verdana"/>
              </a:rPr>
              <a:t>real</a:t>
            </a:r>
            <a:r>
              <a:rPr sz="1400" spc="-15" dirty="0">
                <a:solidFill>
                  <a:srgbClr val="313131"/>
                </a:solidFill>
                <a:latin typeface="Verdana"/>
                <a:cs typeface="Verdana"/>
              </a:rPr>
              <a:t> </a:t>
            </a:r>
            <a:r>
              <a:rPr sz="1400" spc="-5" dirty="0">
                <a:solidFill>
                  <a:srgbClr val="313131"/>
                </a:solidFill>
                <a:latin typeface="Verdana"/>
                <a:cs typeface="Verdana"/>
              </a:rPr>
              <a:t>samples</a:t>
            </a:r>
            <a:r>
              <a:rPr sz="1400" spc="-15" dirty="0">
                <a:solidFill>
                  <a:srgbClr val="313131"/>
                </a:solidFill>
                <a:latin typeface="Verdana"/>
                <a:cs typeface="Verdana"/>
              </a:rPr>
              <a:t> </a:t>
            </a:r>
            <a:r>
              <a:rPr sz="1400" spc="-5" dirty="0">
                <a:solidFill>
                  <a:srgbClr val="313131"/>
                </a:solidFill>
                <a:latin typeface="Verdana"/>
                <a:cs typeface="Verdana"/>
              </a:rPr>
              <a:t>with</a:t>
            </a:r>
            <a:r>
              <a:rPr sz="1400" spc="-15" dirty="0">
                <a:solidFill>
                  <a:srgbClr val="313131"/>
                </a:solidFill>
                <a:latin typeface="Verdana"/>
                <a:cs typeface="Verdana"/>
              </a:rPr>
              <a:t> </a:t>
            </a:r>
            <a:r>
              <a:rPr sz="1400" spc="-5" dirty="0">
                <a:solidFill>
                  <a:srgbClr val="313131"/>
                </a:solidFill>
                <a:latin typeface="Verdana"/>
                <a:cs typeface="Verdana"/>
              </a:rPr>
              <a:t>greater</a:t>
            </a:r>
            <a:r>
              <a:rPr sz="1400" spc="-15" dirty="0">
                <a:solidFill>
                  <a:srgbClr val="313131"/>
                </a:solidFill>
                <a:latin typeface="Verdana"/>
                <a:cs typeface="Verdana"/>
              </a:rPr>
              <a:t> </a:t>
            </a:r>
            <a:r>
              <a:rPr sz="1400" spc="-5" dirty="0">
                <a:solidFill>
                  <a:srgbClr val="313131"/>
                </a:solidFill>
                <a:latin typeface="Verdana"/>
                <a:cs typeface="Verdana"/>
              </a:rPr>
              <a:t>confidence</a:t>
            </a:r>
            <a:endParaRPr sz="1400">
              <a:solidFill>
                <a:prstClr val="black"/>
              </a:solidFill>
              <a:latin typeface="Verdana"/>
              <a:cs typeface="Verdana"/>
            </a:endParaRPr>
          </a:p>
          <a:p>
            <a:pPr lvl="1">
              <a:spcBef>
                <a:spcPts val="5"/>
              </a:spcBef>
              <a:buClr>
                <a:srgbClr val="B10639"/>
              </a:buClr>
              <a:buFont typeface="Yu Gothic UI"/>
              <a:buChar char="▪"/>
            </a:pPr>
            <a:endParaRPr sz="1450">
              <a:solidFill>
                <a:prstClr val="black"/>
              </a:solidFill>
              <a:latin typeface="Verdana"/>
              <a:cs typeface="Verdana"/>
            </a:endParaRPr>
          </a:p>
          <a:p>
            <a:pPr marL="345440" indent="-333375">
              <a:buClr>
                <a:srgbClr val="B10639"/>
              </a:buClr>
              <a:buFont typeface="Yu Gothic UI"/>
              <a:buChar char="▪"/>
              <a:tabLst>
                <a:tab pos="344805" algn="l"/>
                <a:tab pos="346075" algn="l"/>
              </a:tabLst>
            </a:pPr>
            <a:r>
              <a:rPr sz="1400" dirty="0">
                <a:solidFill>
                  <a:srgbClr val="313131"/>
                </a:solidFill>
                <a:latin typeface="Verdana"/>
                <a:cs typeface="Verdana"/>
              </a:rPr>
              <a:t>G</a:t>
            </a:r>
            <a:r>
              <a:rPr sz="1400" spc="-25" dirty="0">
                <a:solidFill>
                  <a:srgbClr val="313131"/>
                </a:solidFill>
                <a:latin typeface="Verdana"/>
                <a:cs typeface="Verdana"/>
              </a:rPr>
              <a:t> </a:t>
            </a:r>
            <a:r>
              <a:rPr sz="1400" i="1" spc="-5" dirty="0">
                <a:solidFill>
                  <a:srgbClr val="313131"/>
                </a:solidFill>
                <a:latin typeface="Verdana"/>
                <a:cs typeface="Verdana"/>
              </a:rPr>
              <a:t>slightly</a:t>
            </a:r>
            <a:r>
              <a:rPr sz="1400" i="1" spc="-10" dirty="0">
                <a:solidFill>
                  <a:srgbClr val="313131"/>
                </a:solidFill>
                <a:latin typeface="Verdana"/>
                <a:cs typeface="Verdana"/>
              </a:rPr>
              <a:t> </a:t>
            </a:r>
            <a:r>
              <a:rPr sz="1400" i="1" spc="-5" dirty="0">
                <a:solidFill>
                  <a:srgbClr val="313131"/>
                </a:solidFill>
                <a:latin typeface="Verdana"/>
                <a:cs typeface="Verdana"/>
              </a:rPr>
              <a:t>changes</a:t>
            </a:r>
            <a:r>
              <a:rPr sz="1400" i="1" spc="25" dirty="0">
                <a:solidFill>
                  <a:srgbClr val="313131"/>
                </a:solidFill>
                <a:latin typeface="Verdana"/>
                <a:cs typeface="Verdana"/>
              </a:rPr>
              <a:t> </a:t>
            </a:r>
            <a:r>
              <a:rPr sz="1400" spc="-5" dirty="0">
                <a:solidFill>
                  <a:srgbClr val="313131"/>
                </a:solidFill>
                <a:latin typeface="Verdana"/>
                <a:cs typeface="Verdana"/>
              </a:rPr>
              <a:t>the</a:t>
            </a:r>
            <a:r>
              <a:rPr sz="1400" spc="-15" dirty="0">
                <a:solidFill>
                  <a:srgbClr val="313131"/>
                </a:solidFill>
                <a:latin typeface="Verdana"/>
                <a:cs typeface="Verdana"/>
              </a:rPr>
              <a:t> </a:t>
            </a:r>
            <a:r>
              <a:rPr sz="1400" spc="-5" dirty="0">
                <a:solidFill>
                  <a:srgbClr val="313131"/>
                </a:solidFill>
                <a:latin typeface="Verdana"/>
                <a:cs typeface="Verdana"/>
              </a:rPr>
              <a:t>generated</a:t>
            </a:r>
            <a:r>
              <a:rPr sz="1400" spc="-10" dirty="0">
                <a:solidFill>
                  <a:srgbClr val="313131"/>
                </a:solidFill>
                <a:latin typeface="Verdana"/>
                <a:cs typeface="Verdana"/>
              </a:rPr>
              <a:t> </a:t>
            </a:r>
            <a:r>
              <a:rPr sz="1400" spc="-5" dirty="0">
                <a:solidFill>
                  <a:srgbClr val="313131"/>
                </a:solidFill>
                <a:latin typeface="Verdana"/>
                <a:cs typeface="Verdana"/>
              </a:rPr>
              <a:t>data</a:t>
            </a:r>
            <a:r>
              <a:rPr sz="1400" spc="-10" dirty="0">
                <a:solidFill>
                  <a:srgbClr val="313131"/>
                </a:solidFill>
                <a:latin typeface="Verdana"/>
                <a:cs typeface="Verdana"/>
              </a:rPr>
              <a:t> </a:t>
            </a:r>
            <a:r>
              <a:rPr sz="1400" spc="-5" dirty="0">
                <a:solidFill>
                  <a:srgbClr val="313131"/>
                </a:solidFill>
                <a:latin typeface="Verdana"/>
                <a:cs typeface="Verdana"/>
              </a:rPr>
              <a:t>based</a:t>
            </a:r>
            <a:r>
              <a:rPr sz="1400" spc="-10" dirty="0">
                <a:solidFill>
                  <a:srgbClr val="313131"/>
                </a:solidFill>
                <a:latin typeface="Verdana"/>
                <a:cs typeface="Verdana"/>
              </a:rPr>
              <a:t> </a:t>
            </a:r>
            <a:r>
              <a:rPr sz="1400" spc="-5" dirty="0">
                <a:solidFill>
                  <a:srgbClr val="313131"/>
                </a:solidFill>
                <a:latin typeface="Verdana"/>
                <a:cs typeface="Verdana"/>
              </a:rPr>
              <a:t>on</a:t>
            </a:r>
            <a:r>
              <a:rPr sz="1400" spc="-15" dirty="0">
                <a:solidFill>
                  <a:srgbClr val="313131"/>
                </a:solidFill>
                <a:latin typeface="Verdana"/>
                <a:cs typeface="Verdana"/>
              </a:rPr>
              <a:t> </a:t>
            </a:r>
            <a:r>
              <a:rPr sz="1400" spc="-5" dirty="0">
                <a:solidFill>
                  <a:srgbClr val="313131"/>
                </a:solidFill>
                <a:latin typeface="Verdana"/>
                <a:cs typeface="Verdana"/>
              </a:rPr>
              <a:t>D’s</a:t>
            </a:r>
            <a:r>
              <a:rPr sz="1400" spc="-10" dirty="0">
                <a:solidFill>
                  <a:srgbClr val="313131"/>
                </a:solidFill>
                <a:latin typeface="Verdana"/>
                <a:cs typeface="Verdana"/>
              </a:rPr>
              <a:t> </a:t>
            </a:r>
            <a:r>
              <a:rPr sz="1400" spc="-5" dirty="0">
                <a:solidFill>
                  <a:srgbClr val="313131"/>
                </a:solidFill>
                <a:latin typeface="Verdana"/>
                <a:cs typeface="Verdana"/>
              </a:rPr>
              <a:t>feedback</a:t>
            </a:r>
            <a:endParaRPr sz="1400">
              <a:solidFill>
                <a:prstClr val="black"/>
              </a:solidFill>
              <a:latin typeface="Verdana"/>
              <a:cs typeface="Verdana"/>
            </a:endParaRPr>
          </a:p>
        </p:txBody>
      </p:sp>
      <p:sp>
        <p:nvSpPr>
          <p:cNvPr id="4" name="object 4"/>
          <p:cNvSpPr txBox="1"/>
          <p:nvPr/>
        </p:nvSpPr>
        <p:spPr>
          <a:xfrm>
            <a:off x="384768" y="3725559"/>
            <a:ext cx="63500" cy="227626"/>
          </a:xfrm>
          <a:prstGeom prst="rect">
            <a:avLst/>
          </a:prstGeom>
        </p:spPr>
        <p:txBody>
          <a:bodyPr vert="horz" wrap="square" lIns="0" tIns="12065" rIns="0" bIns="0" rtlCol="0">
            <a:spAutoFit/>
          </a:bodyPr>
          <a:lstStyle/>
          <a:p>
            <a:pPr>
              <a:spcBef>
                <a:spcPts val="95"/>
              </a:spcBef>
            </a:pPr>
            <a:r>
              <a:rPr sz="1400" spc="-905" dirty="0">
                <a:solidFill>
                  <a:srgbClr val="B10639"/>
                </a:solidFill>
                <a:latin typeface="Yu Gothic UI"/>
                <a:cs typeface="Yu Gothic UI"/>
              </a:rPr>
              <a:t>▪</a:t>
            </a:r>
            <a:endParaRPr sz="1400">
              <a:solidFill>
                <a:prstClr val="black"/>
              </a:solidFill>
              <a:latin typeface="Yu Gothic UI"/>
              <a:cs typeface="Yu Gothic UI"/>
            </a:endParaRPr>
          </a:p>
        </p:txBody>
      </p:sp>
      <p:sp>
        <p:nvSpPr>
          <p:cNvPr id="5" name="object 5"/>
          <p:cNvSpPr txBox="1"/>
          <p:nvPr/>
        </p:nvSpPr>
        <p:spPr>
          <a:xfrm>
            <a:off x="372068" y="4868100"/>
            <a:ext cx="6793230" cy="657860"/>
          </a:xfrm>
          <a:prstGeom prst="rect">
            <a:avLst/>
          </a:prstGeom>
        </p:spPr>
        <p:txBody>
          <a:bodyPr vert="horz" wrap="square" lIns="0" tIns="22860" rIns="0" bIns="0" rtlCol="0">
            <a:spAutoFit/>
          </a:bodyPr>
          <a:lstStyle/>
          <a:p>
            <a:pPr marL="345440" marR="5080" indent="-333375">
              <a:lnSpc>
                <a:spcPts val="1650"/>
              </a:lnSpc>
              <a:spcBef>
                <a:spcPts val="180"/>
              </a:spcBef>
              <a:buClr>
                <a:srgbClr val="B10639"/>
              </a:buClr>
              <a:buFont typeface="Yu Gothic UI"/>
              <a:buChar char="▪"/>
              <a:tabLst>
                <a:tab pos="344805" algn="l"/>
                <a:tab pos="346075" algn="l"/>
              </a:tabLst>
            </a:pPr>
            <a:r>
              <a:rPr sz="1400" b="1" spc="-5" dirty="0">
                <a:solidFill>
                  <a:srgbClr val="313131"/>
                </a:solidFill>
                <a:latin typeface="Verdana"/>
                <a:cs typeface="Verdana"/>
              </a:rPr>
              <a:t>Ideal scenario (equilibrium)</a:t>
            </a:r>
            <a:r>
              <a:rPr sz="1400" spc="-5" dirty="0">
                <a:solidFill>
                  <a:srgbClr val="313131"/>
                </a:solidFill>
                <a:latin typeface="Verdana"/>
                <a:cs typeface="Verdana"/>
              </a:rPr>
              <a:t>: </a:t>
            </a:r>
            <a:r>
              <a:rPr sz="1400" dirty="0">
                <a:solidFill>
                  <a:srgbClr val="313131"/>
                </a:solidFill>
                <a:latin typeface="Verdana"/>
                <a:cs typeface="Verdana"/>
              </a:rPr>
              <a:t>G </a:t>
            </a:r>
            <a:r>
              <a:rPr sz="1400" spc="-5" dirty="0">
                <a:solidFill>
                  <a:srgbClr val="313131"/>
                </a:solidFill>
                <a:latin typeface="Verdana"/>
                <a:cs typeface="Verdana"/>
              </a:rPr>
              <a:t>will eventually produce such realistic </a:t>
            </a:r>
            <a:r>
              <a:rPr sz="1400" spc="-480" dirty="0">
                <a:solidFill>
                  <a:srgbClr val="313131"/>
                </a:solidFill>
                <a:latin typeface="Verdana"/>
                <a:cs typeface="Verdana"/>
              </a:rPr>
              <a:t> </a:t>
            </a:r>
            <a:r>
              <a:rPr sz="1400" spc="-5" dirty="0">
                <a:solidFill>
                  <a:srgbClr val="313131"/>
                </a:solidFill>
                <a:latin typeface="Verdana"/>
                <a:cs typeface="Verdana"/>
              </a:rPr>
              <a:t>samples that </a:t>
            </a:r>
            <a:r>
              <a:rPr sz="1400" dirty="0">
                <a:solidFill>
                  <a:srgbClr val="313131"/>
                </a:solidFill>
                <a:latin typeface="Verdana"/>
                <a:cs typeface="Verdana"/>
              </a:rPr>
              <a:t>D </a:t>
            </a:r>
            <a:r>
              <a:rPr sz="1400" spc="-5" dirty="0">
                <a:solidFill>
                  <a:srgbClr val="313131"/>
                </a:solidFill>
                <a:latin typeface="Verdana"/>
                <a:cs typeface="Verdana"/>
              </a:rPr>
              <a:t>attributes </a:t>
            </a:r>
            <a:r>
              <a:rPr sz="1400" dirty="0">
                <a:solidFill>
                  <a:srgbClr val="313131"/>
                </a:solidFill>
                <a:latin typeface="Verdana"/>
                <a:cs typeface="Verdana"/>
              </a:rPr>
              <a:t>p = </a:t>
            </a:r>
            <a:r>
              <a:rPr sz="1400" spc="-5" dirty="0">
                <a:solidFill>
                  <a:srgbClr val="313131"/>
                </a:solidFill>
                <a:latin typeface="Verdana"/>
                <a:cs typeface="Verdana"/>
              </a:rPr>
              <a:t>0.5 </a:t>
            </a:r>
            <a:r>
              <a:rPr sz="1400" dirty="0">
                <a:solidFill>
                  <a:srgbClr val="313131"/>
                </a:solidFill>
                <a:latin typeface="Verdana"/>
                <a:cs typeface="Verdana"/>
              </a:rPr>
              <a:t>(</a:t>
            </a:r>
            <a:r>
              <a:rPr sz="1400" i="1" dirty="0">
                <a:solidFill>
                  <a:srgbClr val="313131"/>
                </a:solidFill>
                <a:latin typeface="Verdana"/>
                <a:cs typeface="Verdana"/>
              </a:rPr>
              <a:t>i.e. </a:t>
            </a:r>
            <a:r>
              <a:rPr sz="1400" spc="-5" dirty="0">
                <a:solidFill>
                  <a:srgbClr val="313131"/>
                </a:solidFill>
                <a:latin typeface="Verdana"/>
                <a:cs typeface="Verdana"/>
              </a:rPr>
              <a:t>cannot distinguish real and fake </a:t>
            </a:r>
            <a:r>
              <a:rPr sz="1400" dirty="0">
                <a:solidFill>
                  <a:srgbClr val="313131"/>
                </a:solidFill>
                <a:latin typeface="Verdana"/>
                <a:cs typeface="Verdana"/>
              </a:rPr>
              <a:t> </a:t>
            </a:r>
            <a:r>
              <a:rPr sz="1400" spc="-5" dirty="0">
                <a:solidFill>
                  <a:srgbClr val="313131"/>
                </a:solidFill>
                <a:latin typeface="Verdana"/>
                <a:cs typeface="Verdana"/>
              </a:rPr>
              <a:t>samples)</a:t>
            </a:r>
            <a:endParaRPr sz="1400">
              <a:solidFill>
                <a:prstClr val="black"/>
              </a:solidFill>
              <a:latin typeface="Verdana"/>
              <a:cs typeface="Verdana"/>
            </a:endParaRPr>
          </a:p>
        </p:txBody>
      </p:sp>
      <p:grpSp>
        <p:nvGrpSpPr>
          <p:cNvPr id="6" name="object 6"/>
          <p:cNvGrpSpPr/>
          <p:nvPr/>
        </p:nvGrpSpPr>
        <p:grpSpPr>
          <a:xfrm>
            <a:off x="450484" y="3944886"/>
            <a:ext cx="6707505" cy="379095"/>
            <a:chOff x="450483" y="3087635"/>
            <a:chExt cx="6707505" cy="379095"/>
          </a:xfrm>
        </p:grpSpPr>
        <p:pic>
          <p:nvPicPr>
            <p:cNvPr id="7" name="object 7"/>
            <p:cNvPicPr/>
            <p:nvPr/>
          </p:nvPicPr>
          <p:blipFill>
            <a:blip r:embed="rId2" cstate="print"/>
            <a:stretch>
              <a:fillRect/>
            </a:stretch>
          </p:blipFill>
          <p:spPr>
            <a:xfrm>
              <a:off x="450483" y="3087635"/>
              <a:ext cx="6707490" cy="346452"/>
            </a:xfrm>
            <a:prstGeom prst="rect">
              <a:avLst/>
            </a:prstGeom>
          </p:spPr>
        </p:pic>
        <p:sp>
          <p:nvSpPr>
            <p:cNvPr id="8" name="object 8"/>
            <p:cNvSpPr/>
            <p:nvPr/>
          </p:nvSpPr>
          <p:spPr>
            <a:xfrm>
              <a:off x="930274" y="3372475"/>
              <a:ext cx="6074410" cy="76200"/>
            </a:xfrm>
            <a:custGeom>
              <a:avLst/>
              <a:gdLst/>
              <a:ahLst/>
              <a:cxnLst/>
              <a:rect l="l" t="t" r="r" b="b"/>
              <a:pathLst>
                <a:path w="6074409" h="76200">
                  <a:moveTo>
                    <a:pt x="0" y="76199"/>
                  </a:moveTo>
                  <a:lnTo>
                    <a:pt x="343799" y="76199"/>
                  </a:lnTo>
                </a:path>
                <a:path w="6074409" h="76200">
                  <a:moveTo>
                    <a:pt x="2792435" y="0"/>
                  </a:moveTo>
                  <a:lnTo>
                    <a:pt x="3242435" y="8699"/>
                  </a:lnTo>
                </a:path>
                <a:path w="6074409" h="76200">
                  <a:moveTo>
                    <a:pt x="5181599" y="0"/>
                  </a:moveTo>
                  <a:lnTo>
                    <a:pt x="6073799" y="8699"/>
                  </a:lnTo>
                </a:path>
              </a:pathLst>
            </a:custGeom>
            <a:ln w="28574">
              <a:solidFill>
                <a:srgbClr val="FF0000"/>
              </a:solidFill>
            </a:ln>
          </p:spPr>
          <p:txBody>
            <a:bodyPr wrap="square" lIns="0" tIns="0" rIns="0" bIns="0" rtlCol="0"/>
            <a:lstStyle/>
            <a:p>
              <a:endParaRPr>
                <a:solidFill>
                  <a:prstClr val="black"/>
                </a:solidFill>
                <a:latin typeface="Calibri"/>
              </a:endParaRPr>
            </a:p>
          </p:txBody>
        </p:sp>
        <p:sp>
          <p:nvSpPr>
            <p:cNvPr id="9" name="object 9"/>
            <p:cNvSpPr/>
            <p:nvPr/>
          </p:nvSpPr>
          <p:spPr>
            <a:xfrm>
              <a:off x="548849" y="3444100"/>
              <a:ext cx="316865" cy="8255"/>
            </a:xfrm>
            <a:custGeom>
              <a:avLst/>
              <a:gdLst/>
              <a:ahLst/>
              <a:cxnLst/>
              <a:rect l="l" t="t" r="r" b="b"/>
              <a:pathLst>
                <a:path w="316865" h="8254">
                  <a:moveTo>
                    <a:pt x="-14287" y="3899"/>
                  </a:moveTo>
                  <a:lnTo>
                    <a:pt x="331087" y="3899"/>
                  </a:lnTo>
                </a:path>
              </a:pathLst>
            </a:custGeom>
            <a:ln w="36374">
              <a:solidFill>
                <a:srgbClr val="FF0000"/>
              </a:solidFill>
            </a:ln>
          </p:spPr>
          <p:txBody>
            <a:bodyPr wrap="square" lIns="0" tIns="0" rIns="0" bIns="0" rtlCol="0"/>
            <a:lstStyle/>
            <a:p>
              <a:endParaRPr>
                <a:solidFill>
                  <a:prstClr val="black"/>
                </a:solidFill>
                <a:latin typeface="Calibri"/>
              </a:endParaRPr>
            </a:p>
          </p:txBody>
        </p:sp>
        <p:sp>
          <p:nvSpPr>
            <p:cNvPr id="10" name="object 10"/>
            <p:cNvSpPr/>
            <p:nvPr/>
          </p:nvSpPr>
          <p:spPr>
            <a:xfrm>
              <a:off x="6416249" y="3367900"/>
              <a:ext cx="408940" cy="14604"/>
            </a:xfrm>
            <a:custGeom>
              <a:avLst/>
              <a:gdLst/>
              <a:ahLst/>
              <a:cxnLst/>
              <a:rect l="l" t="t" r="r" b="b"/>
              <a:pathLst>
                <a:path w="408940" h="14604">
                  <a:moveTo>
                    <a:pt x="0" y="0"/>
                  </a:moveTo>
                  <a:lnTo>
                    <a:pt x="408899" y="14399"/>
                  </a:lnTo>
                </a:path>
              </a:pathLst>
            </a:custGeom>
            <a:ln w="28574">
              <a:solidFill>
                <a:srgbClr val="FF0000"/>
              </a:solidFill>
            </a:ln>
          </p:spPr>
          <p:txBody>
            <a:bodyPr wrap="square" lIns="0" tIns="0" rIns="0" bIns="0" rtlCol="0"/>
            <a:lstStyle/>
            <a:p>
              <a:endParaRPr>
                <a:solidFill>
                  <a:prstClr val="black"/>
                </a:solidFill>
                <a:latin typeface="Calibri"/>
              </a:endParaRPr>
            </a:p>
          </p:txBody>
        </p:sp>
      </p:grpSp>
      <p:pic>
        <p:nvPicPr>
          <p:cNvPr id="11" name="object 11"/>
          <p:cNvPicPr/>
          <p:nvPr/>
        </p:nvPicPr>
        <p:blipFill>
          <a:blip r:embed="rId3" cstate="print"/>
          <a:stretch>
            <a:fillRect/>
          </a:stretch>
        </p:blipFill>
        <p:spPr>
          <a:xfrm>
            <a:off x="7235826" y="2178078"/>
            <a:ext cx="1597975" cy="1565584"/>
          </a:xfrm>
          <a:prstGeom prst="rect">
            <a:avLst/>
          </a:prstGeom>
        </p:spPr>
      </p:pic>
      <p:sp>
        <p:nvSpPr>
          <p:cNvPr id="12" name="object 12"/>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15" name="Picture 2" descr="E:\NIET\Project\xLogo11.png.pagespeed.ic.pydHLuCQEZ.png">
            <a:extLst>
              <a:ext uri="{FF2B5EF4-FFF2-40B4-BE49-F238E27FC236}">
                <a16:creationId xmlns:a16="http://schemas.microsoft.com/office/drawing/2014/main" id="{7723DB4B-D8F2-B246-75AA-B4DE896FD337}"/>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16" name="Title 1">
            <a:extLst>
              <a:ext uri="{FF2B5EF4-FFF2-40B4-BE49-F238E27FC236}">
                <a16:creationId xmlns:a16="http://schemas.microsoft.com/office/drawing/2014/main" id="{B85D9B8E-1F51-AF00-61DF-5363FE891486}"/>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Generative Adversarial Networks </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object 17"/>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6494463" cy="330200"/>
          </a:xfrm>
          <a:prstGeom prst="rect">
            <a:avLst/>
          </a:prstGeom>
        </p:spPr>
        <p:txBody>
          <a:bodyPr vert="horz" wrap="square" lIns="0" tIns="12700" rIns="0" bIns="0" rtlCol="0">
            <a:spAutoFit/>
          </a:bodyPr>
          <a:lstStyle/>
          <a:p>
            <a:pPr marL="38100">
              <a:spcBef>
                <a:spcPts val="100"/>
              </a:spcBef>
            </a:pPr>
            <a:r>
              <a:rPr spc="-5" dirty="0"/>
              <a:t>Generative Adversarial Networks</a:t>
            </a:r>
            <a:r>
              <a:rPr spc="30" dirty="0"/>
              <a:t> </a:t>
            </a:r>
            <a:r>
              <a:rPr sz="1950" spc="15" baseline="32051" dirty="0"/>
              <a:t>(</a:t>
            </a:r>
            <a:r>
              <a:rPr sz="1950" i="1" spc="15" baseline="32051" dirty="0"/>
              <a:t>Goodfellow</a:t>
            </a:r>
            <a:r>
              <a:rPr sz="1950" i="1" spc="7" baseline="32051" dirty="0"/>
              <a:t> </a:t>
            </a:r>
            <a:r>
              <a:rPr sz="1950" i="1" spc="15" baseline="32051" dirty="0"/>
              <a:t>et</a:t>
            </a:r>
            <a:r>
              <a:rPr sz="1950" i="1" spc="7" baseline="32051" dirty="0"/>
              <a:t> al., </a:t>
            </a:r>
            <a:r>
              <a:rPr sz="1950" i="1" spc="22" baseline="32051" dirty="0"/>
              <a:t>2014</a:t>
            </a:r>
            <a:r>
              <a:rPr sz="1950" spc="22" baseline="32051" dirty="0"/>
              <a:t>)</a:t>
            </a:r>
            <a:endParaRPr sz="1950" baseline="32051"/>
          </a:p>
        </p:txBody>
      </p:sp>
      <p:grpSp>
        <p:nvGrpSpPr>
          <p:cNvPr id="3" name="object 3"/>
          <p:cNvGrpSpPr/>
          <p:nvPr/>
        </p:nvGrpSpPr>
        <p:grpSpPr>
          <a:xfrm>
            <a:off x="1062401" y="2225351"/>
            <a:ext cx="6664959" cy="3168015"/>
            <a:chOff x="1062400" y="1368100"/>
            <a:chExt cx="6664959" cy="3168015"/>
          </a:xfrm>
        </p:grpSpPr>
        <p:pic>
          <p:nvPicPr>
            <p:cNvPr id="4" name="object 4"/>
            <p:cNvPicPr/>
            <p:nvPr/>
          </p:nvPicPr>
          <p:blipFill>
            <a:blip r:embed="rId2" cstate="print"/>
            <a:stretch>
              <a:fillRect/>
            </a:stretch>
          </p:blipFill>
          <p:spPr>
            <a:xfrm>
              <a:off x="1062400" y="1368100"/>
              <a:ext cx="6231950" cy="3167474"/>
            </a:xfrm>
            <a:prstGeom prst="rect">
              <a:avLst/>
            </a:prstGeom>
          </p:spPr>
        </p:pic>
        <p:sp>
          <p:nvSpPr>
            <p:cNvPr id="5" name="object 5"/>
            <p:cNvSpPr/>
            <p:nvPr/>
          </p:nvSpPr>
          <p:spPr>
            <a:xfrm>
              <a:off x="1196675" y="1547667"/>
              <a:ext cx="6168390" cy="1524000"/>
            </a:xfrm>
            <a:custGeom>
              <a:avLst/>
              <a:gdLst/>
              <a:ahLst/>
              <a:cxnLst/>
              <a:rect l="l" t="t" r="r" b="b"/>
              <a:pathLst>
                <a:path w="6168390" h="1524000">
                  <a:moveTo>
                    <a:pt x="0" y="0"/>
                  </a:moveTo>
                  <a:lnTo>
                    <a:pt x="6167999" y="0"/>
                  </a:lnTo>
                  <a:lnTo>
                    <a:pt x="6167999" y="1523400"/>
                  </a:lnTo>
                  <a:lnTo>
                    <a:pt x="0" y="1523400"/>
                  </a:lnTo>
                  <a:lnTo>
                    <a:pt x="0" y="0"/>
                  </a:lnTo>
                  <a:close/>
                </a:path>
              </a:pathLst>
            </a:custGeom>
            <a:ln w="9524">
              <a:solidFill>
                <a:srgbClr val="FF0000"/>
              </a:solidFill>
            </a:ln>
          </p:spPr>
          <p:txBody>
            <a:bodyPr wrap="square" lIns="0" tIns="0" rIns="0" bIns="0" rtlCol="0"/>
            <a:lstStyle/>
            <a:p>
              <a:endParaRPr>
                <a:solidFill>
                  <a:prstClr val="black"/>
                </a:solidFill>
                <a:latin typeface="Calibri"/>
              </a:endParaRPr>
            </a:p>
          </p:txBody>
        </p:sp>
        <p:sp>
          <p:nvSpPr>
            <p:cNvPr id="6" name="object 6"/>
            <p:cNvSpPr/>
            <p:nvPr/>
          </p:nvSpPr>
          <p:spPr>
            <a:xfrm>
              <a:off x="7398549" y="1722924"/>
              <a:ext cx="323850" cy="180975"/>
            </a:xfrm>
            <a:custGeom>
              <a:avLst/>
              <a:gdLst/>
              <a:ahLst/>
              <a:cxnLst/>
              <a:rect l="l" t="t" r="r" b="b"/>
              <a:pathLst>
                <a:path w="323850" h="180975">
                  <a:moveTo>
                    <a:pt x="90299" y="180599"/>
                  </a:moveTo>
                  <a:lnTo>
                    <a:pt x="0" y="90299"/>
                  </a:lnTo>
                  <a:lnTo>
                    <a:pt x="90299" y="0"/>
                  </a:lnTo>
                  <a:lnTo>
                    <a:pt x="90299" y="45149"/>
                  </a:lnTo>
                  <a:lnTo>
                    <a:pt x="323699" y="45149"/>
                  </a:lnTo>
                  <a:lnTo>
                    <a:pt x="323699" y="135449"/>
                  </a:lnTo>
                  <a:lnTo>
                    <a:pt x="90299" y="135449"/>
                  </a:lnTo>
                  <a:lnTo>
                    <a:pt x="90299" y="180599"/>
                  </a:lnTo>
                  <a:close/>
                </a:path>
              </a:pathLst>
            </a:custGeom>
            <a:solidFill>
              <a:srgbClr val="FF0000"/>
            </a:solidFill>
          </p:spPr>
          <p:txBody>
            <a:bodyPr wrap="square" lIns="0" tIns="0" rIns="0" bIns="0" rtlCol="0"/>
            <a:lstStyle/>
            <a:p>
              <a:endParaRPr>
                <a:solidFill>
                  <a:prstClr val="black"/>
                </a:solidFill>
                <a:latin typeface="Calibri"/>
              </a:endParaRPr>
            </a:p>
          </p:txBody>
        </p:sp>
        <p:sp>
          <p:nvSpPr>
            <p:cNvPr id="7" name="object 7"/>
            <p:cNvSpPr/>
            <p:nvPr/>
          </p:nvSpPr>
          <p:spPr>
            <a:xfrm>
              <a:off x="7398549" y="1722924"/>
              <a:ext cx="323850" cy="180975"/>
            </a:xfrm>
            <a:custGeom>
              <a:avLst/>
              <a:gdLst/>
              <a:ahLst/>
              <a:cxnLst/>
              <a:rect l="l" t="t" r="r" b="b"/>
              <a:pathLst>
                <a:path w="323850" h="180975">
                  <a:moveTo>
                    <a:pt x="0" y="90299"/>
                  </a:moveTo>
                  <a:lnTo>
                    <a:pt x="90299" y="0"/>
                  </a:lnTo>
                  <a:lnTo>
                    <a:pt x="90299" y="45149"/>
                  </a:lnTo>
                  <a:lnTo>
                    <a:pt x="323699" y="45149"/>
                  </a:lnTo>
                  <a:lnTo>
                    <a:pt x="323699" y="135449"/>
                  </a:lnTo>
                  <a:lnTo>
                    <a:pt x="90299" y="135449"/>
                  </a:lnTo>
                  <a:lnTo>
                    <a:pt x="90299" y="180599"/>
                  </a:lnTo>
                  <a:lnTo>
                    <a:pt x="0" y="90299"/>
                  </a:lnTo>
                  <a:close/>
                </a:path>
              </a:pathLst>
            </a:custGeom>
            <a:ln w="9524">
              <a:solidFill>
                <a:srgbClr val="FF0000"/>
              </a:solidFill>
            </a:ln>
          </p:spPr>
          <p:txBody>
            <a:bodyPr wrap="square" lIns="0" tIns="0" rIns="0" bIns="0" rtlCol="0"/>
            <a:lstStyle/>
            <a:p>
              <a:endParaRPr>
                <a:solidFill>
                  <a:prstClr val="black"/>
                </a:solidFill>
                <a:latin typeface="Calibri"/>
              </a:endParaRPr>
            </a:p>
          </p:txBody>
        </p:sp>
        <p:sp>
          <p:nvSpPr>
            <p:cNvPr id="8" name="object 8"/>
            <p:cNvSpPr/>
            <p:nvPr/>
          </p:nvSpPr>
          <p:spPr>
            <a:xfrm>
              <a:off x="7398549" y="1942736"/>
              <a:ext cx="323850" cy="180975"/>
            </a:xfrm>
            <a:custGeom>
              <a:avLst/>
              <a:gdLst/>
              <a:ahLst/>
              <a:cxnLst/>
              <a:rect l="l" t="t" r="r" b="b"/>
              <a:pathLst>
                <a:path w="323850" h="180975">
                  <a:moveTo>
                    <a:pt x="90299" y="180599"/>
                  </a:moveTo>
                  <a:lnTo>
                    <a:pt x="0" y="90299"/>
                  </a:lnTo>
                  <a:lnTo>
                    <a:pt x="90299" y="0"/>
                  </a:lnTo>
                  <a:lnTo>
                    <a:pt x="90299" y="45149"/>
                  </a:lnTo>
                  <a:lnTo>
                    <a:pt x="323699" y="45149"/>
                  </a:lnTo>
                  <a:lnTo>
                    <a:pt x="323699" y="135449"/>
                  </a:lnTo>
                  <a:lnTo>
                    <a:pt x="90299" y="135449"/>
                  </a:lnTo>
                  <a:lnTo>
                    <a:pt x="90299" y="180599"/>
                  </a:lnTo>
                  <a:close/>
                </a:path>
              </a:pathLst>
            </a:custGeom>
            <a:solidFill>
              <a:srgbClr val="FF0000"/>
            </a:solidFill>
          </p:spPr>
          <p:txBody>
            <a:bodyPr wrap="square" lIns="0" tIns="0" rIns="0" bIns="0" rtlCol="0"/>
            <a:lstStyle/>
            <a:p>
              <a:endParaRPr>
                <a:solidFill>
                  <a:prstClr val="black"/>
                </a:solidFill>
                <a:latin typeface="Calibri"/>
              </a:endParaRPr>
            </a:p>
          </p:txBody>
        </p:sp>
        <p:sp>
          <p:nvSpPr>
            <p:cNvPr id="9" name="object 9"/>
            <p:cNvSpPr/>
            <p:nvPr/>
          </p:nvSpPr>
          <p:spPr>
            <a:xfrm>
              <a:off x="7398549" y="1942736"/>
              <a:ext cx="323850" cy="180975"/>
            </a:xfrm>
            <a:custGeom>
              <a:avLst/>
              <a:gdLst/>
              <a:ahLst/>
              <a:cxnLst/>
              <a:rect l="l" t="t" r="r" b="b"/>
              <a:pathLst>
                <a:path w="323850" h="180975">
                  <a:moveTo>
                    <a:pt x="0" y="90299"/>
                  </a:moveTo>
                  <a:lnTo>
                    <a:pt x="90299" y="0"/>
                  </a:lnTo>
                  <a:lnTo>
                    <a:pt x="90299" y="45149"/>
                  </a:lnTo>
                  <a:lnTo>
                    <a:pt x="323699" y="45149"/>
                  </a:lnTo>
                  <a:lnTo>
                    <a:pt x="323699" y="135449"/>
                  </a:lnTo>
                  <a:lnTo>
                    <a:pt x="90299" y="135449"/>
                  </a:lnTo>
                  <a:lnTo>
                    <a:pt x="90299" y="180599"/>
                  </a:lnTo>
                  <a:lnTo>
                    <a:pt x="0" y="90299"/>
                  </a:lnTo>
                  <a:close/>
                </a:path>
              </a:pathLst>
            </a:custGeom>
            <a:ln w="9524">
              <a:solidFill>
                <a:srgbClr val="FF0000"/>
              </a:solidFill>
            </a:ln>
          </p:spPr>
          <p:txBody>
            <a:bodyPr wrap="square" lIns="0" tIns="0" rIns="0" bIns="0" rtlCol="0"/>
            <a:lstStyle/>
            <a:p>
              <a:endParaRPr>
                <a:solidFill>
                  <a:prstClr val="black"/>
                </a:solidFill>
                <a:latin typeface="Calibri"/>
              </a:endParaRPr>
            </a:p>
          </p:txBody>
        </p:sp>
        <p:sp>
          <p:nvSpPr>
            <p:cNvPr id="10" name="object 10"/>
            <p:cNvSpPr/>
            <p:nvPr/>
          </p:nvSpPr>
          <p:spPr>
            <a:xfrm>
              <a:off x="7398549" y="2671030"/>
              <a:ext cx="323850" cy="180975"/>
            </a:xfrm>
            <a:custGeom>
              <a:avLst/>
              <a:gdLst/>
              <a:ahLst/>
              <a:cxnLst/>
              <a:rect l="l" t="t" r="r" b="b"/>
              <a:pathLst>
                <a:path w="323850" h="180975">
                  <a:moveTo>
                    <a:pt x="90299" y="180599"/>
                  </a:moveTo>
                  <a:lnTo>
                    <a:pt x="0" y="90299"/>
                  </a:lnTo>
                  <a:lnTo>
                    <a:pt x="90299" y="0"/>
                  </a:lnTo>
                  <a:lnTo>
                    <a:pt x="90299" y="45149"/>
                  </a:lnTo>
                  <a:lnTo>
                    <a:pt x="323699" y="45149"/>
                  </a:lnTo>
                  <a:lnTo>
                    <a:pt x="323699" y="135449"/>
                  </a:lnTo>
                  <a:lnTo>
                    <a:pt x="90299" y="135449"/>
                  </a:lnTo>
                  <a:lnTo>
                    <a:pt x="90299" y="180599"/>
                  </a:lnTo>
                  <a:close/>
                </a:path>
              </a:pathLst>
            </a:custGeom>
            <a:solidFill>
              <a:srgbClr val="FF0000"/>
            </a:solidFill>
          </p:spPr>
          <p:txBody>
            <a:bodyPr wrap="square" lIns="0" tIns="0" rIns="0" bIns="0" rtlCol="0"/>
            <a:lstStyle/>
            <a:p>
              <a:endParaRPr>
                <a:solidFill>
                  <a:prstClr val="black"/>
                </a:solidFill>
                <a:latin typeface="Calibri"/>
              </a:endParaRPr>
            </a:p>
          </p:txBody>
        </p:sp>
        <p:sp>
          <p:nvSpPr>
            <p:cNvPr id="11" name="object 11"/>
            <p:cNvSpPr/>
            <p:nvPr/>
          </p:nvSpPr>
          <p:spPr>
            <a:xfrm>
              <a:off x="1196675" y="2671030"/>
              <a:ext cx="6525895" cy="1667510"/>
            </a:xfrm>
            <a:custGeom>
              <a:avLst/>
              <a:gdLst/>
              <a:ahLst/>
              <a:cxnLst/>
              <a:rect l="l" t="t" r="r" b="b"/>
              <a:pathLst>
                <a:path w="6525895" h="1667510">
                  <a:moveTo>
                    <a:pt x="6201874" y="90299"/>
                  </a:moveTo>
                  <a:lnTo>
                    <a:pt x="6292174" y="0"/>
                  </a:lnTo>
                  <a:lnTo>
                    <a:pt x="6292174" y="45149"/>
                  </a:lnTo>
                  <a:lnTo>
                    <a:pt x="6525574" y="45149"/>
                  </a:lnTo>
                  <a:lnTo>
                    <a:pt x="6525574" y="135449"/>
                  </a:lnTo>
                  <a:lnTo>
                    <a:pt x="6292174" y="135449"/>
                  </a:lnTo>
                  <a:lnTo>
                    <a:pt x="6292174" y="180599"/>
                  </a:lnTo>
                  <a:lnTo>
                    <a:pt x="6201874" y="90299"/>
                  </a:lnTo>
                  <a:close/>
                </a:path>
                <a:path w="6525895" h="1667510">
                  <a:moveTo>
                    <a:pt x="0" y="656196"/>
                  </a:moveTo>
                  <a:lnTo>
                    <a:pt x="6167999" y="656196"/>
                  </a:lnTo>
                  <a:lnTo>
                    <a:pt x="6167999" y="1667496"/>
                  </a:lnTo>
                  <a:lnTo>
                    <a:pt x="0" y="1667496"/>
                  </a:lnTo>
                  <a:lnTo>
                    <a:pt x="0" y="656196"/>
                  </a:lnTo>
                  <a:close/>
                </a:path>
              </a:pathLst>
            </a:custGeom>
            <a:ln w="9524">
              <a:solidFill>
                <a:srgbClr val="FF0000"/>
              </a:solidFill>
            </a:ln>
          </p:spPr>
          <p:txBody>
            <a:bodyPr wrap="square" lIns="0" tIns="0" rIns="0" bIns="0" rtlCol="0"/>
            <a:lstStyle/>
            <a:p>
              <a:endParaRPr>
                <a:solidFill>
                  <a:prstClr val="black"/>
                </a:solidFill>
                <a:latin typeface="Calibri"/>
              </a:endParaRPr>
            </a:p>
          </p:txBody>
        </p:sp>
        <p:sp>
          <p:nvSpPr>
            <p:cNvPr id="12" name="object 12"/>
            <p:cNvSpPr/>
            <p:nvPr/>
          </p:nvSpPr>
          <p:spPr>
            <a:xfrm>
              <a:off x="7398549" y="3343348"/>
              <a:ext cx="323850" cy="180975"/>
            </a:xfrm>
            <a:custGeom>
              <a:avLst/>
              <a:gdLst/>
              <a:ahLst/>
              <a:cxnLst/>
              <a:rect l="l" t="t" r="r" b="b"/>
              <a:pathLst>
                <a:path w="323850" h="180975">
                  <a:moveTo>
                    <a:pt x="90299" y="180599"/>
                  </a:moveTo>
                  <a:lnTo>
                    <a:pt x="0" y="90299"/>
                  </a:lnTo>
                  <a:lnTo>
                    <a:pt x="90299" y="0"/>
                  </a:lnTo>
                  <a:lnTo>
                    <a:pt x="90299" y="45149"/>
                  </a:lnTo>
                  <a:lnTo>
                    <a:pt x="323699" y="45149"/>
                  </a:lnTo>
                  <a:lnTo>
                    <a:pt x="323699" y="135449"/>
                  </a:lnTo>
                  <a:lnTo>
                    <a:pt x="90299" y="135449"/>
                  </a:lnTo>
                  <a:lnTo>
                    <a:pt x="90299" y="180599"/>
                  </a:lnTo>
                  <a:close/>
                </a:path>
              </a:pathLst>
            </a:custGeom>
            <a:solidFill>
              <a:srgbClr val="FF0000"/>
            </a:solidFill>
          </p:spPr>
          <p:txBody>
            <a:bodyPr wrap="square" lIns="0" tIns="0" rIns="0" bIns="0" rtlCol="0"/>
            <a:lstStyle/>
            <a:p>
              <a:endParaRPr>
                <a:solidFill>
                  <a:prstClr val="black"/>
                </a:solidFill>
                <a:latin typeface="Calibri"/>
              </a:endParaRPr>
            </a:p>
          </p:txBody>
        </p:sp>
        <p:sp>
          <p:nvSpPr>
            <p:cNvPr id="13" name="object 13"/>
            <p:cNvSpPr/>
            <p:nvPr/>
          </p:nvSpPr>
          <p:spPr>
            <a:xfrm>
              <a:off x="7398549" y="3343348"/>
              <a:ext cx="323850" cy="180975"/>
            </a:xfrm>
            <a:custGeom>
              <a:avLst/>
              <a:gdLst/>
              <a:ahLst/>
              <a:cxnLst/>
              <a:rect l="l" t="t" r="r" b="b"/>
              <a:pathLst>
                <a:path w="323850" h="180975">
                  <a:moveTo>
                    <a:pt x="0" y="90299"/>
                  </a:moveTo>
                  <a:lnTo>
                    <a:pt x="90299" y="0"/>
                  </a:lnTo>
                  <a:lnTo>
                    <a:pt x="90299" y="45149"/>
                  </a:lnTo>
                  <a:lnTo>
                    <a:pt x="323699" y="45149"/>
                  </a:lnTo>
                  <a:lnTo>
                    <a:pt x="323699" y="135449"/>
                  </a:lnTo>
                  <a:lnTo>
                    <a:pt x="90299" y="135449"/>
                  </a:lnTo>
                  <a:lnTo>
                    <a:pt x="90299" y="180599"/>
                  </a:lnTo>
                  <a:lnTo>
                    <a:pt x="0" y="90299"/>
                  </a:lnTo>
                  <a:close/>
                </a:path>
              </a:pathLst>
            </a:custGeom>
            <a:ln w="9524">
              <a:solidFill>
                <a:srgbClr val="FF0000"/>
              </a:solidFill>
            </a:ln>
          </p:spPr>
          <p:txBody>
            <a:bodyPr wrap="square" lIns="0" tIns="0" rIns="0" bIns="0" rtlCol="0"/>
            <a:lstStyle/>
            <a:p>
              <a:endParaRPr>
                <a:solidFill>
                  <a:prstClr val="black"/>
                </a:solidFill>
                <a:latin typeface="Calibri"/>
              </a:endParaRPr>
            </a:p>
          </p:txBody>
        </p:sp>
        <p:sp>
          <p:nvSpPr>
            <p:cNvPr id="14" name="object 14"/>
            <p:cNvSpPr/>
            <p:nvPr/>
          </p:nvSpPr>
          <p:spPr>
            <a:xfrm>
              <a:off x="7398549" y="3917195"/>
              <a:ext cx="323850" cy="180975"/>
            </a:xfrm>
            <a:custGeom>
              <a:avLst/>
              <a:gdLst/>
              <a:ahLst/>
              <a:cxnLst/>
              <a:rect l="l" t="t" r="r" b="b"/>
              <a:pathLst>
                <a:path w="323850" h="180975">
                  <a:moveTo>
                    <a:pt x="90299" y="180599"/>
                  </a:moveTo>
                  <a:lnTo>
                    <a:pt x="0" y="90299"/>
                  </a:lnTo>
                  <a:lnTo>
                    <a:pt x="90299" y="0"/>
                  </a:lnTo>
                  <a:lnTo>
                    <a:pt x="90299" y="45149"/>
                  </a:lnTo>
                  <a:lnTo>
                    <a:pt x="323699" y="45149"/>
                  </a:lnTo>
                  <a:lnTo>
                    <a:pt x="323699" y="135449"/>
                  </a:lnTo>
                  <a:lnTo>
                    <a:pt x="90299" y="135449"/>
                  </a:lnTo>
                  <a:lnTo>
                    <a:pt x="90299" y="180599"/>
                  </a:lnTo>
                  <a:close/>
                </a:path>
              </a:pathLst>
            </a:custGeom>
            <a:solidFill>
              <a:srgbClr val="FF0000"/>
            </a:solidFill>
          </p:spPr>
          <p:txBody>
            <a:bodyPr wrap="square" lIns="0" tIns="0" rIns="0" bIns="0" rtlCol="0"/>
            <a:lstStyle/>
            <a:p>
              <a:endParaRPr>
                <a:solidFill>
                  <a:prstClr val="black"/>
                </a:solidFill>
                <a:latin typeface="Calibri"/>
              </a:endParaRPr>
            </a:p>
          </p:txBody>
        </p:sp>
        <p:sp>
          <p:nvSpPr>
            <p:cNvPr id="15" name="object 15"/>
            <p:cNvSpPr/>
            <p:nvPr/>
          </p:nvSpPr>
          <p:spPr>
            <a:xfrm>
              <a:off x="7398549" y="3917195"/>
              <a:ext cx="323850" cy="180975"/>
            </a:xfrm>
            <a:custGeom>
              <a:avLst/>
              <a:gdLst/>
              <a:ahLst/>
              <a:cxnLst/>
              <a:rect l="l" t="t" r="r" b="b"/>
              <a:pathLst>
                <a:path w="323850" h="180975">
                  <a:moveTo>
                    <a:pt x="0" y="90299"/>
                  </a:moveTo>
                  <a:lnTo>
                    <a:pt x="90299" y="0"/>
                  </a:lnTo>
                  <a:lnTo>
                    <a:pt x="90299" y="45149"/>
                  </a:lnTo>
                  <a:lnTo>
                    <a:pt x="323699" y="45149"/>
                  </a:lnTo>
                  <a:lnTo>
                    <a:pt x="323699" y="135449"/>
                  </a:lnTo>
                  <a:lnTo>
                    <a:pt x="90299" y="135449"/>
                  </a:lnTo>
                  <a:lnTo>
                    <a:pt x="90299" y="180599"/>
                  </a:lnTo>
                  <a:lnTo>
                    <a:pt x="0" y="90299"/>
                  </a:lnTo>
                  <a:close/>
                </a:path>
              </a:pathLst>
            </a:custGeom>
            <a:ln w="9524">
              <a:solidFill>
                <a:srgbClr val="FF0000"/>
              </a:solidFill>
            </a:ln>
          </p:spPr>
          <p:txBody>
            <a:bodyPr wrap="square" lIns="0" tIns="0" rIns="0" bIns="0" rtlCol="0"/>
            <a:lstStyle/>
            <a:p>
              <a:endParaRPr>
                <a:solidFill>
                  <a:prstClr val="black"/>
                </a:solidFill>
                <a:latin typeface="Calibri"/>
              </a:endParaRPr>
            </a:p>
          </p:txBody>
        </p:sp>
      </p:grpSp>
      <p:sp>
        <p:nvSpPr>
          <p:cNvPr id="16" name="object 16"/>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19" name="Picture 2" descr="E:\NIET\Project\xLogo11.png.pagespeed.ic.pydHLuCQEZ.png">
            <a:extLst>
              <a:ext uri="{FF2B5EF4-FFF2-40B4-BE49-F238E27FC236}">
                <a16:creationId xmlns:a16="http://schemas.microsoft.com/office/drawing/2014/main" id="{B4A4B5F0-6317-721A-46D9-E9851868E347}"/>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20" name="Title 1">
            <a:extLst>
              <a:ext uri="{FF2B5EF4-FFF2-40B4-BE49-F238E27FC236}">
                <a16:creationId xmlns:a16="http://schemas.microsoft.com/office/drawing/2014/main" id="{414A01F1-C5E7-298F-09EE-F0CAFE8FCFD3}"/>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Generative Adversarial Networks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object 42"/>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5084763" cy="330200"/>
          </a:xfrm>
          <a:prstGeom prst="rect">
            <a:avLst/>
          </a:prstGeom>
        </p:spPr>
        <p:txBody>
          <a:bodyPr vert="horz" wrap="square" lIns="0" tIns="12700" rIns="0" bIns="0" rtlCol="0">
            <a:spAutoFit/>
          </a:bodyPr>
          <a:lstStyle/>
          <a:p>
            <a:pPr marL="38100">
              <a:spcBef>
                <a:spcPts val="100"/>
              </a:spcBef>
            </a:pPr>
            <a:r>
              <a:rPr spc="-5" dirty="0"/>
              <a:t>Conditional</a:t>
            </a:r>
            <a:r>
              <a:rPr spc="-15" dirty="0"/>
              <a:t> </a:t>
            </a:r>
            <a:r>
              <a:rPr spc="-5" dirty="0"/>
              <a:t>GANs</a:t>
            </a:r>
            <a:r>
              <a:rPr spc="-10" dirty="0"/>
              <a:t> </a:t>
            </a:r>
            <a:r>
              <a:rPr spc="-5" dirty="0"/>
              <a:t>(CGAN)</a:t>
            </a:r>
            <a:r>
              <a:rPr dirty="0"/>
              <a:t> </a:t>
            </a:r>
            <a:r>
              <a:rPr sz="1950" spc="15" baseline="32051" dirty="0"/>
              <a:t>(</a:t>
            </a:r>
            <a:r>
              <a:rPr sz="1950" i="1" spc="15" baseline="32051" dirty="0"/>
              <a:t>Mirza</a:t>
            </a:r>
            <a:r>
              <a:rPr sz="1950" i="1" baseline="32051" dirty="0"/>
              <a:t> </a:t>
            </a:r>
            <a:r>
              <a:rPr sz="1950" i="1" spc="15" baseline="32051" dirty="0"/>
              <a:t>et</a:t>
            </a:r>
            <a:r>
              <a:rPr sz="1950" i="1" baseline="32051" dirty="0"/>
              <a:t> </a:t>
            </a:r>
            <a:r>
              <a:rPr sz="1950" i="1" spc="7" baseline="32051" dirty="0"/>
              <a:t>al.,</a:t>
            </a:r>
            <a:r>
              <a:rPr sz="1950" i="1" baseline="32051" dirty="0"/>
              <a:t> </a:t>
            </a:r>
            <a:r>
              <a:rPr sz="1950" i="1" spc="30" baseline="32051" dirty="0"/>
              <a:t>2014</a:t>
            </a:r>
            <a:r>
              <a:rPr sz="1950" spc="30" baseline="32051" dirty="0"/>
              <a:t>)</a:t>
            </a:r>
            <a:endParaRPr sz="1950" baseline="32051"/>
          </a:p>
        </p:txBody>
      </p:sp>
      <p:sp>
        <p:nvSpPr>
          <p:cNvPr id="3" name="object 3"/>
          <p:cNvSpPr txBox="1"/>
          <p:nvPr/>
        </p:nvSpPr>
        <p:spPr>
          <a:xfrm>
            <a:off x="372069" y="2071560"/>
            <a:ext cx="6209665" cy="882650"/>
          </a:xfrm>
          <a:prstGeom prst="rect">
            <a:avLst/>
          </a:prstGeom>
        </p:spPr>
        <p:txBody>
          <a:bodyPr vert="horz" wrap="square" lIns="0" tIns="85090" rIns="0" bIns="0" rtlCol="0">
            <a:spAutoFit/>
          </a:bodyPr>
          <a:lstStyle/>
          <a:p>
            <a:pPr marL="345440" indent="-333375">
              <a:spcBef>
                <a:spcPts val="670"/>
              </a:spcBef>
              <a:buClr>
                <a:srgbClr val="B10639"/>
              </a:buClr>
              <a:buFont typeface="Yu Gothic UI"/>
              <a:buChar char="▪"/>
              <a:tabLst>
                <a:tab pos="344805" algn="l"/>
                <a:tab pos="346075" algn="l"/>
              </a:tabLst>
            </a:pPr>
            <a:r>
              <a:rPr sz="1400" dirty="0">
                <a:solidFill>
                  <a:srgbClr val="313131"/>
                </a:solidFill>
                <a:latin typeface="Verdana"/>
                <a:cs typeface="Verdana"/>
              </a:rPr>
              <a:t>G</a:t>
            </a:r>
            <a:r>
              <a:rPr sz="1400" spc="-15" dirty="0">
                <a:solidFill>
                  <a:srgbClr val="313131"/>
                </a:solidFill>
                <a:latin typeface="Verdana"/>
                <a:cs typeface="Verdana"/>
              </a:rPr>
              <a:t> </a:t>
            </a:r>
            <a:r>
              <a:rPr sz="1400" spc="-5" dirty="0">
                <a:solidFill>
                  <a:srgbClr val="313131"/>
                </a:solidFill>
                <a:latin typeface="Verdana"/>
                <a:cs typeface="Verdana"/>
              </a:rPr>
              <a:t>and</a:t>
            </a:r>
            <a:r>
              <a:rPr sz="1400" spc="-10" dirty="0">
                <a:solidFill>
                  <a:srgbClr val="313131"/>
                </a:solidFill>
                <a:latin typeface="Verdana"/>
                <a:cs typeface="Verdana"/>
              </a:rPr>
              <a:t> </a:t>
            </a:r>
            <a:r>
              <a:rPr sz="1400" dirty="0">
                <a:solidFill>
                  <a:srgbClr val="313131"/>
                </a:solidFill>
                <a:latin typeface="Verdana"/>
                <a:cs typeface="Verdana"/>
              </a:rPr>
              <a:t>D</a:t>
            </a:r>
            <a:r>
              <a:rPr sz="1400" spc="-10" dirty="0">
                <a:solidFill>
                  <a:srgbClr val="313131"/>
                </a:solidFill>
                <a:latin typeface="Verdana"/>
                <a:cs typeface="Verdana"/>
              </a:rPr>
              <a:t> </a:t>
            </a:r>
            <a:r>
              <a:rPr sz="1400" spc="-5" dirty="0">
                <a:solidFill>
                  <a:srgbClr val="313131"/>
                </a:solidFill>
                <a:latin typeface="Verdana"/>
                <a:cs typeface="Verdana"/>
              </a:rPr>
              <a:t>can</a:t>
            </a:r>
            <a:r>
              <a:rPr sz="1400" spc="-15" dirty="0">
                <a:solidFill>
                  <a:srgbClr val="313131"/>
                </a:solidFill>
                <a:latin typeface="Verdana"/>
                <a:cs typeface="Verdana"/>
              </a:rPr>
              <a:t> </a:t>
            </a:r>
            <a:r>
              <a:rPr sz="1400" spc="-5" dirty="0">
                <a:solidFill>
                  <a:srgbClr val="313131"/>
                </a:solidFill>
                <a:latin typeface="Verdana"/>
                <a:cs typeface="Verdana"/>
              </a:rPr>
              <a:t>be</a:t>
            </a:r>
            <a:r>
              <a:rPr sz="1400" spc="5" dirty="0">
                <a:solidFill>
                  <a:srgbClr val="313131"/>
                </a:solidFill>
                <a:latin typeface="Verdana"/>
                <a:cs typeface="Verdana"/>
              </a:rPr>
              <a:t> </a:t>
            </a:r>
            <a:r>
              <a:rPr sz="1400" b="1" spc="-5" dirty="0">
                <a:solidFill>
                  <a:srgbClr val="313131"/>
                </a:solidFill>
                <a:latin typeface="Verdana"/>
                <a:cs typeface="Verdana"/>
              </a:rPr>
              <a:t>conditioned</a:t>
            </a:r>
            <a:r>
              <a:rPr sz="1400" b="1" spc="-10" dirty="0">
                <a:solidFill>
                  <a:srgbClr val="313131"/>
                </a:solidFill>
                <a:latin typeface="Verdana"/>
                <a:cs typeface="Verdana"/>
              </a:rPr>
              <a:t> </a:t>
            </a:r>
            <a:r>
              <a:rPr sz="1400" b="1" spc="-5" dirty="0">
                <a:solidFill>
                  <a:srgbClr val="313131"/>
                </a:solidFill>
                <a:latin typeface="Verdana"/>
                <a:cs typeface="Verdana"/>
              </a:rPr>
              <a:t>by</a:t>
            </a:r>
            <a:r>
              <a:rPr sz="1400" b="1" spc="-15" dirty="0">
                <a:solidFill>
                  <a:srgbClr val="313131"/>
                </a:solidFill>
                <a:latin typeface="Verdana"/>
                <a:cs typeface="Verdana"/>
              </a:rPr>
              <a:t> </a:t>
            </a:r>
            <a:r>
              <a:rPr sz="1400" b="1" spc="-5" dirty="0">
                <a:solidFill>
                  <a:srgbClr val="313131"/>
                </a:solidFill>
                <a:latin typeface="Verdana"/>
                <a:cs typeface="Verdana"/>
              </a:rPr>
              <a:t>additional</a:t>
            </a:r>
            <a:r>
              <a:rPr sz="1400" b="1" spc="-10" dirty="0">
                <a:solidFill>
                  <a:srgbClr val="313131"/>
                </a:solidFill>
                <a:latin typeface="Verdana"/>
                <a:cs typeface="Verdana"/>
              </a:rPr>
              <a:t> </a:t>
            </a:r>
            <a:r>
              <a:rPr sz="1400" b="1" spc="-5" dirty="0">
                <a:solidFill>
                  <a:srgbClr val="313131"/>
                </a:solidFill>
                <a:latin typeface="Verdana"/>
                <a:cs typeface="Verdana"/>
              </a:rPr>
              <a:t>information</a:t>
            </a:r>
            <a:r>
              <a:rPr sz="1400" b="1" spc="40" dirty="0">
                <a:solidFill>
                  <a:srgbClr val="313131"/>
                </a:solidFill>
                <a:latin typeface="Verdana"/>
                <a:cs typeface="Verdana"/>
              </a:rPr>
              <a:t> </a:t>
            </a:r>
            <a:r>
              <a:rPr sz="1400" b="1" i="1" dirty="0">
                <a:solidFill>
                  <a:srgbClr val="313131"/>
                </a:solidFill>
                <a:latin typeface="Verdana"/>
                <a:cs typeface="Verdana"/>
              </a:rPr>
              <a:t>y</a:t>
            </a:r>
            <a:endParaRPr sz="1400">
              <a:solidFill>
                <a:prstClr val="black"/>
              </a:solidFill>
              <a:latin typeface="Verdana"/>
              <a:cs typeface="Verdana"/>
            </a:endParaRPr>
          </a:p>
          <a:p>
            <a:pPr marL="345440" indent="-333375">
              <a:spcBef>
                <a:spcPts val="570"/>
              </a:spcBef>
              <a:buClr>
                <a:srgbClr val="B10639"/>
              </a:buClr>
              <a:buFont typeface="Yu Gothic UI"/>
              <a:buChar char="▪"/>
              <a:tabLst>
                <a:tab pos="344805" algn="l"/>
                <a:tab pos="346075" algn="l"/>
              </a:tabLst>
            </a:pPr>
            <a:r>
              <a:rPr sz="1400" spc="-5" dirty="0">
                <a:solidFill>
                  <a:srgbClr val="313131"/>
                </a:solidFill>
                <a:latin typeface="Verdana"/>
                <a:cs typeface="Verdana"/>
              </a:rPr>
              <a:t>Adding</a:t>
            </a:r>
            <a:r>
              <a:rPr sz="1400" dirty="0">
                <a:solidFill>
                  <a:srgbClr val="313131"/>
                </a:solidFill>
                <a:latin typeface="Verdana"/>
                <a:cs typeface="Verdana"/>
              </a:rPr>
              <a:t> </a:t>
            </a:r>
            <a:r>
              <a:rPr sz="1400" i="1" dirty="0">
                <a:solidFill>
                  <a:srgbClr val="313131"/>
                </a:solidFill>
                <a:latin typeface="Verdana"/>
                <a:cs typeface="Verdana"/>
              </a:rPr>
              <a:t>y</a:t>
            </a:r>
            <a:r>
              <a:rPr sz="1400" i="1" spc="-10" dirty="0">
                <a:solidFill>
                  <a:srgbClr val="313131"/>
                </a:solidFill>
                <a:latin typeface="Verdana"/>
                <a:cs typeface="Verdana"/>
              </a:rPr>
              <a:t> </a:t>
            </a:r>
            <a:r>
              <a:rPr sz="1400" spc="-5" dirty="0">
                <a:solidFill>
                  <a:srgbClr val="313131"/>
                </a:solidFill>
                <a:latin typeface="Verdana"/>
                <a:cs typeface="Verdana"/>
              </a:rPr>
              <a:t>as</a:t>
            </a:r>
            <a:r>
              <a:rPr sz="1400" spc="-10" dirty="0">
                <a:solidFill>
                  <a:srgbClr val="313131"/>
                </a:solidFill>
                <a:latin typeface="Verdana"/>
                <a:cs typeface="Verdana"/>
              </a:rPr>
              <a:t> </a:t>
            </a:r>
            <a:r>
              <a:rPr sz="1400" spc="-5" dirty="0">
                <a:solidFill>
                  <a:srgbClr val="313131"/>
                </a:solidFill>
                <a:latin typeface="Verdana"/>
                <a:cs typeface="Verdana"/>
              </a:rPr>
              <a:t>an</a:t>
            </a:r>
            <a:r>
              <a:rPr sz="1400" spc="-10" dirty="0">
                <a:solidFill>
                  <a:srgbClr val="313131"/>
                </a:solidFill>
                <a:latin typeface="Verdana"/>
                <a:cs typeface="Verdana"/>
              </a:rPr>
              <a:t> </a:t>
            </a:r>
            <a:r>
              <a:rPr sz="1400" spc="-5" dirty="0">
                <a:solidFill>
                  <a:srgbClr val="313131"/>
                </a:solidFill>
                <a:latin typeface="Verdana"/>
                <a:cs typeface="Verdana"/>
              </a:rPr>
              <a:t>input</a:t>
            </a:r>
            <a:r>
              <a:rPr sz="1400" spc="-10" dirty="0">
                <a:solidFill>
                  <a:srgbClr val="313131"/>
                </a:solidFill>
                <a:latin typeface="Verdana"/>
                <a:cs typeface="Verdana"/>
              </a:rPr>
              <a:t> </a:t>
            </a:r>
            <a:r>
              <a:rPr sz="1400" spc="-5" dirty="0">
                <a:solidFill>
                  <a:srgbClr val="313131"/>
                </a:solidFill>
                <a:latin typeface="Verdana"/>
                <a:cs typeface="Verdana"/>
              </a:rPr>
              <a:t>of</a:t>
            </a:r>
            <a:r>
              <a:rPr sz="1400" spc="-10" dirty="0">
                <a:solidFill>
                  <a:srgbClr val="313131"/>
                </a:solidFill>
                <a:latin typeface="Verdana"/>
                <a:cs typeface="Verdana"/>
              </a:rPr>
              <a:t> </a:t>
            </a:r>
            <a:r>
              <a:rPr sz="1400" spc="-5" dirty="0">
                <a:solidFill>
                  <a:srgbClr val="313131"/>
                </a:solidFill>
                <a:latin typeface="Verdana"/>
                <a:cs typeface="Verdana"/>
              </a:rPr>
              <a:t>both</a:t>
            </a:r>
            <a:r>
              <a:rPr sz="1400" spc="-10" dirty="0">
                <a:solidFill>
                  <a:srgbClr val="313131"/>
                </a:solidFill>
                <a:latin typeface="Verdana"/>
                <a:cs typeface="Verdana"/>
              </a:rPr>
              <a:t> </a:t>
            </a:r>
            <a:r>
              <a:rPr sz="1400" spc="-5" dirty="0">
                <a:solidFill>
                  <a:srgbClr val="313131"/>
                </a:solidFill>
                <a:latin typeface="Verdana"/>
                <a:cs typeface="Verdana"/>
              </a:rPr>
              <a:t>networks will</a:t>
            </a:r>
            <a:r>
              <a:rPr sz="1400" spc="-10" dirty="0">
                <a:solidFill>
                  <a:srgbClr val="313131"/>
                </a:solidFill>
                <a:latin typeface="Verdana"/>
                <a:cs typeface="Verdana"/>
              </a:rPr>
              <a:t> </a:t>
            </a:r>
            <a:r>
              <a:rPr sz="1400" spc="-5" dirty="0">
                <a:solidFill>
                  <a:srgbClr val="313131"/>
                </a:solidFill>
                <a:latin typeface="Verdana"/>
                <a:cs typeface="Verdana"/>
              </a:rPr>
              <a:t>condition</a:t>
            </a:r>
            <a:r>
              <a:rPr sz="1400" spc="-10" dirty="0">
                <a:solidFill>
                  <a:srgbClr val="313131"/>
                </a:solidFill>
                <a:latin typeface="Verdana"/>
                <a:cs typeface="Verdana"/>
              </a:rPr>
              <a:t> </a:t>
            </a:r>
            <a:r>
              <a:rPr sz="1400" spc="-5" dirty="0">
                <a:solidFill>
                  <a:srgbClr val="313131"/>
                </a:solidFill>
                <a:latin typeface="Verdana"/>
                <a:cs typeface="Verdana"/>
              </a:rPr>
              <a:t>their</a:t>
            </a:r>
            <a:r>
              <a:rPr sz="1400" spc="-10" dirty="0">
                <a:solidFill>
                  <a:srgbClr val="313131"/>
                </a:solidFill>
                <a:latin typeface="Verdana"/>
                <a:cs typeface="Verdana"/>
              </a:rPr>
              <a:t> </a:t>
            </a:r>
            <a:r>
              <a:rPr sz="1400" spc="-5" dirty="0">
                <a:solidFill>
                  <a:srgbClr val="313131"/>
                </a:solidFill>
                <a:latin typeface="Verdana"/>
                <a:cs typeface="Verdana"/>
              </a:rPr>
              <a:t>outputs</a:t>
            </a:r>
            <a:endParaRPr sz="1400">
              <a:solidFill>
                <a:prstClr val="black"/>
              </a:solidFill>
              <a:latin typeface="Verdana"/>
              <a:cs typeface="Verdana"/>
            </a:endParaRPr>
          </a:p>
          <a:p>
            <a:pPr marL="345440" indent="-333375">
              <a:spcBef>
                <a:spcPts val="570"/>
              </a:spcBef>
              <a:buClr>
                <a:srgbClr val="B10639"/>
              </a:buClr>
              <a:buFont typeface="Yu Gothic UI"/>
              <a:buChar char="▪"/>
              <a:tabLst>
                <a:tab pos="344805" algn="l"/>
                <a:tab pos="346075" algn="l"/>
              </a:tabLst>
            </a:pPr>
            <a:r>
              <a:rPr sz="1400" i="1" dirty="0">
                <a:solidFill>
                  <a:srgbClr val="313131"/>
                </a:solidFill>
                <a:latin typeface="Verdana"/>
                <a:cs typeface="Verdana"/>
              </a:rPr>
              <a:t>y</a:t>
            </a:r>
            <a:r>
              <a:rPr sz="1400" i="1" spc="-10" dirty="0">
                <a:solidFill>
                  <a:srgbClr val="313131"/>
                </a:solidFill>
                <a:latin typeface="Verdana"/>
                <a:cs typeface="Verdana"/>
              </a:rPr>
              <a:t> </a:t>
            </a:r>
            <a:r>
              <a:rPr sz="1400" spc="-5" dirty="0">
                <a:solidFill>
                  <a:srgbClr val="313131"/>
                </a:solidFill>
                <a:latin typeface="Verdana"/>
                <a:cs typeface="Verdana"/>
              </a:rPr>
              <a:t>can</a:t>
            </a:r>
            <a:r>
              <a:rPr sz="1400" spc="-10" dirty="0">
                <a:solidFill>
                  <a:srgbClr val="313131"/>
                </a:solidFill>
                <a:latin typeface="Verdana"/>
                <a:cs typeface="Verdana"/>
              </a:rPr>
              <a:t> </a:t>
            </a:r>
            <a:r>
              <a:rPr sz="1400" spc="-5" dirty="0">
                <a:solidFill>
                  <a:srgbClr val="313131"/>
                </a:solidFill>
                <a:latin typeface="Verdana"/>
                <a:cs typeface="Verdana"/>
              </a:rPr>
              <a:t>be</a:t>
            </a:r>
            <a:r>
              <a:rPr sz="1400" spc="-15" dirty="0">
                <a:solidFill>
                  <a:srgbClr val="313131"/>
                </a:solidFill>
                <a:latin typeface="Verdana"/>
                <a:cs typeface="Verdana"/>
              </a:rPr>
              <a:t> </a:t>
            </a:r>
            <a:r>
              <a:rPr sz="1400" spc="-5" dirty="0">
                <a:solidFill>
                  <a:srgbClr val="313131"/>
                </a:solidFill>
                <a:latin typeface="Verdana"/>
                <a:cs typeface="Verdana"/>
              </a:rPr>
              <a:t>external</a:t>
            </a:r>
            <a:r>
              <a:rPr sz="1400" spc="-10" dirty="0">
                <a:solidFill>
                  <a:srgbClr val="313131"/>
                </a:solidFill>
                <a:latin typeface="Verdana"/>
                <a:cs typeface="Verdana"/>
              </a:rPr>
              <a:t> </a:t>
            </a:r>
            <a:r>
              <a:rPr sz="1400" spc="-5" dirty="0">
                <a:solidFill>
                  <a:srgbClr val="313131"/>
                </a:solidFill>
                <a:latin typeface="Verdana"/>
                <a:cs typeface="Verdana"/>
              </a:rPr>
              <a:t>information</a:t>
            </a:r>
            <a:r>
              <a:rPr sz="1400" spc="-10" dirty="0">
                <a:solidFill>
                  <a:srgbClr val="313131"/>
                </a:solidFill>
                <a:latin typeface="Verdana"/>
                <a:cs typeface="Verdana"/>
              </a:rPr>
              <a:t> </a:t>
            </a:r>
            <a:r>
              <a:rPr sz="1400" spc="-5" dirty="0">
                <a:solidFill>
                  <a:srgbClr val="313131"/>
                </a:solidFill>
                <a:latin typeface="Verdana"/>
                <a:cs typeface="Verdana"/>
              </a:rPr>
              <a:t>or</a:t>
            </a:r>
            <a:r>
              <a:rPr sz="1400" spc="-10" dirty="0">
                <a:solidFill>
                  <a:srgbClr val="313131"/>
                </a:solidFill>
                <a:latin typeface="Verdana"/>
                <a:cs typeface="Verdana"/>
              </a:rPr>
              <a:t> </a:t>
            </a:r>
            <a:r>
              <a:rPr sz="1400" spc="-5" dirty="0">
                <a:solidFill>
                  <a:srgbClr val="313131"/>
                </a:solidFill>
                <a:latin typeface="Verdana"/>
                <a:cs typeface="Verdana"/>
              </a:rPr>
              <a:t>data</a:t>
            </a:r>
            <a:r>
              <a:rPr sz="1400" spc="-10" dirty="0">
                <a:solidFill>
                  <a:srgbClr val="313131"/>
                </a:solidFill>
                <a:latin typeface="Verdana"/>
                <a:cs typeface="Verdana"/>
              </a:rPr>
              <a:t> </a:t>
            </a:r>
            <a:r>
              <a:rPr sz="1400" spc="-5" dirty="0">
                <a:solidFill>
                  <a:srgbClr val="313131"/>
                </a:solidFill>
                <a:latin typeface="Verdana"/>
                <a:cs typeface="Verdana"/>
              </a:rPr>
              <a:t>from</a:t>
            </a:r>
            <a:r>
              <a:rPr sz="1400" spc="-10" dirty="0">
                <a:solidFill>
                  <a:srgbClr val="313131"/>
                </a:solidFill>
                <a:latin typeface="Verdana"/>
                <a:cs typeface="Verdana"/>
              </a:rPr>
              <a:t> </a:t>
            </a:r>
            <a:r>
              <a:rPr sz="1400" spc="-5" dirty="0">
                <a:solidFill>
                  <a:srgbClr val="313131"/>
                </a:solidFill>
                <a:latin typeface="Verdana"/>
                <a:cs typeface="Verdana"/>
              </a:rPr>
              <a:t>the</a:t>
            </a:r>
            <a:r>
              <a:rPr sz="1400" spc="-10" dirty="0">
                <a:solidFill>
                  <a:srgbClr val="313131"/>
                </a:solidFill>
                <a:latin typeface="Verdana"/>
                <a:cs typeface="Verdana"/>
              </a:rPr>
              <a:t> </a:t>
            </a:r>
            <a:r>
              <a:rPr sz="1400" spc="-5" dirty="0">
                <a:solidFill>
                  <a:srgbClr val="313131"/>
                </a:solidFill>
                <a:latin typeface="Verdana"/>
                <a:cs typeface="Verdana"/>
              </a:rPr>
              <a:t>training</a:t>
            </a:r>
            <a:r>
              <a:rPr sz="1400" spc="-10" dirty="0">
                <a:solidFill>
                  <a:srgbClr val="313131"/>
                </a:solidFill>
                <a:latin typeface="Verdana"/>
                <a:cs typeface="Verdana"/>
              </a:rPr>
              <a:t> </a:t>
            </a:r>
            <a:r>
              <a:rPr sz="1400" spc="-5" dirty="0">
                <a:solidFill>
                  <a:srgbClr val="313131"/>
                </a:solidFill>
                <a:latin typeface="Verdana"/>
                <a:cs typeface="Verdana"/>
              </a:rPr>
              <a:t>set</a:t>
            </a:r>
            <a:endParaRPr sz="1400">
              <a:solidFill>
                <a:prstClr val="black"/>
              </a:solidFill>
              <a:latin typeface="Verdana"/>
              <a:cs typeface="Verdana"/>
            </a:endParaRPr>
          </a:p>
        </p:txBody>
      </p:sp>
      <p:sp>
        <p:nvSpPr>
          <p:cNvPr id="4" name="object 4"/>
          <p:cNvSpPr/>
          <p:nvPr/>
        </p:nvSpPr>
        <p:spPr>
          <a:xfrm>
            <a:off x="2120421" y="4584655"/>
            <a:ext cx="1371600" cy="685800"/>
          </a:xfrm>
          <a:custGeom>
            <a:avLst/>
            <a:gdLst/>
            <a:ahLst/>
            <a:cxnLst/>
            <a:rect l="l" t="t" r="r" b="b"/>
            <a:pathLst>
              <a:path w="1371600" h="685800">
                <a:moveTo>
                  <a:pt x="0" y="114302"/>
                </a:moveTo>
                <a:lnTo>
                  <a:pt x="8982" y="69810"/>
                </a:lnTo>
                <a:lnTo>
                  <a:pt x="33478" y="33478"/>
                </a:lnTo>
                <a:lnTo>
                  <a:pt x="69810" y="8982"/>
                </a:lnTo>
                <a:lnTo>
                  <a:pt x="114302" y="0"/>
                </a:lnTo>
                <a:lnTo>
                  <a:pt x="1257297" y="0"/>
                </a:lnTo>
                <a:lnTo>
                  <a:pt x="1301039" y="8700"/>
                </a:lnTo>
                <a:lnTo>
                  <a:pt x="1338121" y="33478"/>
                </a:lnTo>
                <a:lnTo>
                  <a:pt x="1362899" y="70560"/>
                </a:lnTo>
                <a:lnTo>
                  <a:pt x="1371600" y="114302"/>
                </a:lnTo>
                <a:lnTo>
                  <a:pt x="1371600" y="571497"/>
                </a:lnTo>
                <a:lnTo>
                  <a:pt x="1362617" y="615989"/>
                </a:lnTo>
                <a:lnTo>
                  <a:pt x="1338121" y="652321"/>
                </a:lnTo>
                <a:lnTo>
                  <a:pt x="1301789" y="676817"/>
                </a:lnTo>
                <a:lnTo>
                  <a:pt x="1257297" y="685799"/>
                </a:lnTo>
                <a:lnTo>
                  <a:pt x="114302" y="685799"/>
                </a:lnTo>
                <a:lnTo>
                  <a:pt x="69810" y="676817"/>
                </a:lnTo>
                <a:lnTo>
                  <a:pt x="33478" y="652321"/>
                </a:lnTo>
                <a:lnTo>
                  <a:pt x="8982" y="615989"/>
                </a:lnTo>
                <a:lnTo>
                  <a:pt x="0" y="571497"/>
                </a:lnTo>
                <a:lnTo>
                  <a:pt x="0" y="114302"/>
                </a:lnTo>
                <a:close/>
              </a:path>
            </a:pathLst>
          </a:custGeom>
          <a:ln w="25399">
            <a:solidFill>
              <a:srgbClr val="B4B4B4"/>
            </a:solidFill>
          </a:ln>
        </p:spPr>
        <p:txBody>
          <a:bodyPr wrap="square" lIns="0" tIns="0" rIns="0" bIns="0" rtlCol="0"/>
          <a:lstStyle/>
          <a:p>
            <a:endParaRPr>
              <a:solidFill>
                <a:prstClr val="black"/>
              </a:solidFill>
              <a:latin typeface="Calibri"/>
            </a:endParaRPr>
          </a:p>
        </p:txBody>
      </p:sp>
      <p:sp>
        <p:nvSpPr>
          <p:cNvPr id="5" name="object 5"/>
          <p:cNvSpPr txBox="1"/>
          <p:nvPr/>
        </p:nvSpPr>
        <p:spPr>
          <a:xfrm>
            <a:off x="2408355" y="4615389"/>
            <a:ext cx="795655" cy="539750"/>
          </a:xfrm>
          <a:prstGeom prst="rect">
            <a:avLst/>
          </a:prstGeom>
        </p:spPr>
        <p:txBody>
          <a:bodyPr vert="horz" wrap="square" lIns="0" tIns="86995" rIns="0" bIns="0" rtlCol="0">
            <a:spAutoFit/>
          </a:bodyPr>
          <a:lstStyle/>
          <a:p>
            <a:pPr algn="ctr">
              <a:spcBef>
                <a:spcPts val="685"/>
              </a:spcBef>
            </a:pPr>
            <a:r>
              <a:rPr sz="1200" spc="-5" dirty="0">
                <a:solidFill>
                  <a:srgbClr val="313131"/>
                </a:solidFill>
                <a:latin typeface="Verdana"/>
                <a:cs typeface="Verdana"/>
              </a:rPr>
              <a:t>Generator</a:t>
            </a:r>
            <a:endParaRPr sz="1200">
              <a:solidFill>
                <a:prstClr val="black"/>
              </a:solidFill>
              <a:latin typeface="Verdana"/>
              <a:cs typeface="Verdana"/>
            </a:endParaRPr>
          </a:p>
          <a:p>
            <a:pPr algn="ctr">
              <a:spcBef>
                <a:spcPts val="585"/>
              </a:spcBef>
            </a:pPr>
            <a:r>
              <a:rPr sz="1200" b="1" dirty="0">
                <a:solidFill>
                  <a:srgbClr val="313131"/>
                </a:solidFill>
                <a:latin typeface="Verdana"/>
                <a:cs typeface="Verdana"/>
              </a:rPr>
              <a:t>G</a:t>
            </a:r>
            <a:endParaRPr sz="1200">
              <a:solidFill>
                <a:prstClr val="black"/>
              </a:solidFill>
              <a:latin typeface="Verdana"/>
              <a:cs typeface="Verdana"/>
            </a:endParaRPr>
          </a:p>
        </p:txBody>
      </p:sp>
      <p:sp>
        <p:nvSpPr>
          <p:cNvPr id="6" name="object 6"/>
          <p:cNvSpPr/>
          <p:nvPr/>
        </p:nvSpPr>
        <p:spPr>
          <a:xfrm>
            <a:off x="4652614" y="3875853"/>
            <a:ext cx="1397000" cy="685800"/>
          </a:xfrm>
          <a:custGeom>
            <a:avLst/>
            <a:gdLst/>
            <a:ahLst/>
            <a:cxnLst/>
            <a:rect l="l" t="t" r="r" b="b"/>
            <a:pathLst>
              <a:path w="1397000" h="685800">
                <a:moveTo>
                  <a:pt x="0" y="114302"/>
                </a:moveTo>
                <a:lnTo>
                  <a:pt x="8982" y="69810"/>
                </a:lnTo>
                <a:lnTo>
                  <a:pt x="33478" y="33478"/>
                </a:lnTo>
                <a:lnTo>
                  <a:pt x="69810" y="8982"/>
                </a:lnTo>
                <a:lnTo>
                  <a:pt x="114302" y="0"/>
                </a:lnTo>
                <a:lnTo>
                  <a:pt x="1282197" y="0"/>
                </a:lnTo>
                <a:lnTo>
                  <a:pt x="1325939" y="8700"/>
                </a:lnTo>
                <a:lnTo>
                  <a:pt x="1363021" y="33478"/>
                </a:lnTo>
                <a:lnTo>
                  <a:pt x="1387799" y="70560"/>
                </a:lnTo>
                <a:lnTo>
                  <a:pt x="1396499" y="114302"/>
                </a:lnTo>
                <a:lnTo>
                  <a:pt x="1396499" y="571497"/>
                </a:lnTo>
                <a:lnTo>
                  <a:pt x="1387517" y="615989"/>
                </a:lnTo>
                <a:lnTo>
                  <a:pt x="1363021" y="652321"/>
                </a:lnTo>
                <a:lnTo>
                  <a:pt x="1326689" y="676817"/>
                </a:lnTo>
                <a:lnTo>
                  <a:pt x="1282197" y="685799"/>
                </a:lnTo>
                <a:lnTo>
                  <a:pt x="114302" y="685799"/>
                </a:lnTo>
                <a:lnTo>
                  <a:pt x="69810" y="676817"/>
                </a:lnTo>
                <a:lnTo>
                  <a:pt x="33478" y="652321"/>
                </a:lnTo>
                <a:lnTo>
                  <a:pt x="8982" y="615989"/>
                </a:lnTo>
                <a:lnTo>
                  <a:pt x="0" y="571497"/>
                </a:lnTo>
                <a:lnTo>
                  <a:pt x="0" y="114302"/>
                </a:lnTo>
                <a:close/>
              </a:path>
            </a:pathLst>
          </a:custGeom>
          <a:ln w="25399">
            <a:solidFill>
              <a:srgbClr val="B4B4B4"/>
            </a:solidFill>
          </a:ln>
        </p:spPr>
        <p:txBody>
          <a:bodyPr wrap="square" lIns="0" tIns="0" rIns="0" bIns="0" rtlCol="0"/>
          <a:lstStyle/>
          <a:p>
            <a:endParaRPr>
              <a:solidFill>
                <a:prstClr val="black"/>
              </a:solidFill>
              <a:latin typeface="Calibri"/>
            </a:endParaRPr>
          </a:p>
        </p:txBody>
      </p:sp>
      <p:sp>
        <p:nvSpPr>
          <p:cNvPr id="7" name="object 7"/>
          <p:cNvSpPr txBox="1"/>
          <p:nvPr/>
        </p:nvSpPr>
        <p:spPr>
          <a:xfrm>
            <a:off x="4827907" y="3906588"/>
            <a:ext cx="1045210" cy="539750"/>
          </a:xfrm>
          <a:prstGeom prst="rect">
            <a:avLst/>
          </a:prstGeom>
        </p:spPr>
        <p:txBody>
          <a:bodyPr vert="horz" wrap="square" lIns="0" tIns="86995" rIns="0" bIns="0" rtlCol="0">
            <a:spAutoFit/>
          </a:bodyPr>
          <a:lstStyle/>
          <a:p>
            <a:pPr algn="ctr">
              <a:spcBef>
                <a:spcPts val="685"/>
              </a:spcBef>
            </a:pPr>
            <a:r>
              <a:rPr sz="1200" spc="-5" dirty="0">
                <a:solidFill>
                  <a:srgbClr val="313131"/>
                </a:solidFill>
                <a:latin typeface="Verdana"/>
                <a:cs typeface="Verdana"/>
              </a:rPr>
              <a:t>Discriminator</a:t>
            </a:r>
            <a:endParaRPr sz="1200">
              <a:solidFill>
                <a:prstClr val="black"/>
              </a:solidFill>
              <a:latin typeface="Verdana"/>
              <a:cs typeface="Verdana"/>
            </a:endParaRPr>
          </a:p>
          <a:p>
            <a:pPr marL="635" algn="ctr">
              <a:spcBef>
                <a:spcPts val="585"/>
              </a:spcBef>
            </a:pPr>
            <a:r>
              <a:rPr sz="1200" b="1" dirty="0">
                <a:solidFill>
                  <a:srgbClr val="313131"/>
                </a:solidFill>
                <a:latin typeface="Verdana"/>
                <a:cs typeface="Verdana"/>
              </a:rPr>
              <a:t>D</a:t>
            </a:r>
            <a:endParaRPr sz="1200">
              <a:solidFill>
                <a:prstClr val="black"/>
              </a:solidFill>
              <a:latin typeface="Verdana"/>
              <a:cs typeface="Verdana"/>
            </a:endParaRPr>
          </a:p>
        </p:txBody>
      </p:sp>
      <p:sp>
        <p:nvSpPr>
          <p:cNvPr id="8" name="object 8"/>
          <p:cNvSpPr txBox="1"/>
          <p:nvPr/>
        </p:nvSpPr>
        <p:spPr>
          <a:xfrm>
            <a:off x="2452303" y="3434016"/>
            <a:ext cx="1038860" cy="19749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Training</a:t>
            </a:r>
            <a:r>
              <a:rPr sz="1200" spc="-75" dirty="0">
                <a:solidFill>
                  <a:srgbClr val="313131"/>
                </a:solidFill>
                <a:latin typeface="Verdana"/>
                <a:cs typeface="Verdana"/>
              </a:rPr>
              <a:t> </a:t>
            </a:r>
            <a:r>
              <a:rPr sz="1200" spc="-5" dirty="0">
                <a:solidFill>
                  <a:srgbClr val="313131"/>
                </a:solidFill>
                <a:latin typeface="Verdana"/>
                <a:cs typeface="Verdana"/>
              </a:rPr>
              <a:t>data</a:t>
            </a:r>
            <a:endParaRPr sz="1200">
              <a:solidFill>
                <a:prstClr val="black"/>
              </a:solidFill>
              <a:latin typeface="Verdana"/>
              <a:cs typeface="Verdana"/>
            </a:endParaRPr>
          </a:p>
        </p:txBody>
      </p:sp>
      <p:sp>
        <p:nvSpPr>
          <p:cNvPr id="9" name="object 9"/>
          <p:cNvSpPr txBox="1"/>
          <p:nvPr/>
        </p:nvSpPr>
        <p:spPr>
          <a:xfrm>
            <a:off x="965032" y="4444543"/>
            <a:ext cx="443865" cy="197490"/>
          </a:xfrm>
          <a:prstGeom prst="rect">
            <a:avLst/>
          </a:prstGeom>
        </p:spPr>
        <p:txBody>
          <a:bodyPr vert="horz" wrap="square" lIns="0" tIns="12700" rIns="0" bIns="0" rtlCol="0">
            <a:spAutoFit/>
          </a:bodyPr>
          <a:lstStyle/>
          <a:p>
            <a:pPr marL="12700">
              <a:spcBef>
                <a:spcPts val="100"/>
              </a:spcBef>
            </a:pPr>
            <a:r>
              <a:rPr sz="1200" spc="-5" dirty="0">
                <a:solidFill>
                  <a:srgbClr val="313131"/>
                </a:solidFill>
                <a:latin typeface="Verdana"/>
                <a:cs typeface="Verdana"/>
              </a:rPr>
              <a:t>Noise</a:t>
            </a:r>
            <a:endParaRPr sz="1200">
              <a:solidFill>
                <a:prstClr val="black"/>
              </a:solidFill>
              <a:latin typeface="Verdana"/>
              <a:cs typeface="Verdana"/>
            </a:endParaRPr>
          </a:p>
        </p:txBody>
      </p:sp>
      <p:grpSp>
        <p:nvGrpSpPr>
          <p:cNvPr id="10" name="object 10"/>
          <p:cNvGrpSpPr/>
          <p:nvPr/>
        </p:nvGrpSpPr>
        <p:grpSpPr>
          <a:xfrm>
            <a:off x="1495448" y="4579894"/>
            <a:ext cx="454659" cy="213995"/>
            <a:chOff x="1495447" y="3722643"/>
            <a:chExt cx="454659" cy="213995"/>
          </a:xfrm>
        </p:grpSpPr>
        <p:sp>
          <p:nvSpPr>
            <p:cNvPr id="11" name="object 11"/>
            <p:cNvSpPr/>
            <p:nvPr/>
          </p:nvSpPr>
          <p:spPr>
            <a:xfrm>
              <a:off x="1500210" y="3727405"/>
              <a:ext cx="405765" cy="186055"/>
            </a:xfrm>
            <a:custGeom>
              <a:avLst/>
              <a:gdLst/>
              <a:ahLst/>
              <a:cxnLst/>
              <a:rect l="l" t="t" r="r" b="b"/>
              <a:pathLst>
                <a:path w="405764" h="186054">
                  <a:moveTo>
                    <a:pt x="0" y="0"/>
                  </a:moveTo>
                  <a:lnTo>
                    <a:pt x="405253" y="185874"/>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12" name="object 12"/>
            <p:cNvSpPr/>
            <p:nvPr/>
          </p:nvSpPr>
          <p:spPr>
            <a:xfrm>
              <a:off x="1898904" y="3898979"/>
              <a:ext cx="46355" cy="32384"/>
            </a:xfrm>
            <a:custGeom>
              <a:avLst/>
              <a:gdLst/>
              <a:ahLst/>
              <a:cxnLst/>
              <a:rect l="l" t="t" r="r" b="b"/>
              <a:pathLst>
                <a:path w="46355" h="32385">
                  <a:moveTo>
                    <a:pt x="45848" y="32320"/>
                  </a:moveTo>
                  <a:lnTo>
                    <a:pt x="0" y="28600"/>
                  </a:lnTo>
                  <a:lnTo>
                    <a:pt x="13118" y="0"/>
                  </a:lnTo>
                  <a:lnTo>
                    <a:pt x="45848" y="32320"/>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13" name="object 13"/>
            <p:cNvSpPr/>
            <p:nvPr/>
          </p:nvSpPr>
          <p:spPr>
            <a:xfrm>
              <a:off x="1898904" y="3898979"/>
              <a:ext cx="46355" cy="32384"/>
            </a:xfrm>
            <a:custGeom>
              <a:avLst/>
              <a:gdLst/>
              <a:ahLst/>
              <a:cxnLst/>
              <a:rect l="l" t="t" r="r" b="b"/>
              <a:pathLst>
                <a:path w="46355" h="32385">
                  <a:moveTo>
                    <a:pt x="0" y="28600"/>
                  </a:moveTo>
                  <a:lnTo>
                    <a:pt x="45848" y="32320"/>
                  </a:lnTo>
                  <a:lnTo>
                    <a:pt x="13118" y="0"/>
                  </a:lnTo>
                  <a:lnTo>
                    <a:pt x="0" y="28600"/>
                  </a:lnTo>
                  <a:close/>
                </a:path>
              </a:pathLst>
            </a:custGeom>
            <a:ln w="9524">
              <a:solidFill>
                <a:srgbClr val="B10639"/>
              </a:solidFill>
            </a:ln>
          </p:spPr>
          <p:txBody>
            <a:bodyPr wrap="square" lIns="0" tIns="0" rIns="0" bIns="0" rtlCol="0"/>
            <a:lstStyle/>
            <a:p>
              <a:endParaRPr>
                <a:solidFill>
                  <a:prstClr val="black"/>
                </a:solidFill>
                <a:latin typeface="Calibri"/>
              </a:endParaRPr>
            </a:p>
          </p:txBody>
        </p:sp>
      </p:grpSp>
      <p:grpSp>
        <p:nvGrpSpPr>
          <p:cNvPr id="14" name="object 14"/>
          <p:cNvGrpSpPr/>
          <p:nvPr/>
        </p:nvGrpSpPr>
        <p:grpSpPr>
          <a:xfrm>
            <a:off x="3576638" y="4478573"/>
            <a:ext cx="922655" cy="372110"/>
            <a:chOff x="3576637" y="3621323"/>
            <a:chExt cx="922655" cy="372110"/>
          </a:xfrm>
        </p:grpSpPr>
        <p:sp>
          <p:nvSpPr>
            <p:cNvPr id="15" name="object 15"/>
            <p:cNvSpPr/>
            <p:nvPr/>
          </p:nvSpPr>
          <p:spPr>
            <a:xfrm>
              <a:off x="3581400" y="3642022"/>
              <a:ext cx="873125" cy="346710"/>
            </a:xfrm>
            <a:custGeom>
              <a:avLst/>
              <a:gdLst/>
              <a:ahLst/>
              <a:cxnLst/>
              <a:rect l="l" t="t" r="r" b="b"/>
              <a:pathLst>
                <a:path w="873125" h="346710">
                  <a:moveTo>
                    <a:pt x="0" y="346129"/>
                  </a:moveTo>
                  <a:lnTo>
                    <a:pt x="872676"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16" name="object 16"/>
            <p:cNvSpPr/>
            <p:nvPr/>
          </p:nvSpPr>
          <p:spPr>
            <a:xfrm>
              <a:off x="4448275" y="3626086"/>
              <a:ext cx="46355" cy="31115"/>
            </a:xfrm>
            <a:custGeom>
              <a:avLst/>
              <a:gdLst/>
              <a:ahLst/>
              <a:cxnLst/>
              <a:rect l="l" t="t" r="r" b="b"/>
              <a:pathLst>
                <a:path w="46354" h="31114">
                  <a:moveTo>
                    <a:pt x="11600" y="30560"/>
                  </a:moveTo>
                  <a:lnTo>
                    <a:pt x="0" y="1311"/>
                  </a:lnTo>
                  <a:lnTo>
                    <a:pt x="45980" y="0"/>
                  </a:lnTo>
                  <a:lnTo>
                    <a:pt x="11600" y="30560"/>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17" name="object 17"/>
            <p:cNvSpPr/>
            <p:nvPr/>
          </p:nvSpPr>
          <p:spPr>
            <a:xfrm>
              <a:off x="4448275" y="3626086"/>
              <a:ext cx="46355" cy="31115"/>
            </a:xfrm>
            <a:custGeom>
              <a:avLst/>
              <a:gdLst/>
              <a:ahLst/>
              <a:cxnLst/>
              <a:rect l="l" t="t" r="r" b="b"/>
              <a:pathLst>
                <a:path w="46354" h="31114">
                  <a:moveTo>
                    <a:pt x="11600" y="30560"/>
                  </a:moveTo>
                  <a:lnTo>
                    <a:pt x="45980" y="0"/>
                  </a:lnTo>
                  <a:lnTo>
                    <a:pt x="0" y="1311"/>
                  </a:lnTo>
                  <a:lnTo>
                    <a:pt x="11600" y="30560"/>
                  </a:lnTo>
                  <a:close/>
                </a:path>
              </a:pathLst>
            </a:custGeom>
            <a:ln w="9524">
              <a:solidFill>
                <a:srgbClr val="B10639"/>
              </a:solidFill>
            </a:ln>
          </p:spPr>
          <p:txBody>
            <a:bodyPr wrap="square" lIns="0" tIns="0" rIns="0" bIns="0" rtlCol="0"/>
            <a:lstStyle/>
            <a:p>
              <a:endParaRPr>
                <a:solidFill>
                  <a:prstClr val="black"/>
                </a:solidFill>
                <a:latin typeface="Calibri"/>
              </a:endParaRPr>
            </a:p>
          </p:txBody>
        </p:sp>
      </p:grpSp>
      <p:grpSp>
        <p:nvGrpSpPr>
          <p:cNvPr id="18" name="object 18"/>
          <p:cNvGrpSpPr/>
          <p:nvPr/>
        </p:nvGrpSpPr>
        <p:grpSpPr>
          <a:xfrm>
            <a:off x="6160675" y="4205637"/>
            <a:ext cx="1602740" cy="41275"/>
            <a:chOff x="6160675" y="3348386"/>
            <a:chExt cx="1602740" cy="41275"/>
          </a:xfrm>
        </p:grpSpPr>
        <p:sp>
          <p:nvSpPr>
            <p:cNvPr id="19" name="object 19"/>
            <p:cNvSpPr/>
            <p:nvPr/>
          </p:nvSpPr>
          <p:spPr>
            <a:xfrm>
              <a:off x="6160675" y="3368881"/>
              <a:ext cx="1554480" cy="0"/>
            </a:xfrm>
            <a:custGeom>
              <a:avLst/>
              <a:gdLst/>
              <a:ahLst/>
              <a:cxnLst/>
              <a:rect l="l" t="t" r="r" b="b"/>
              <a:pathLst>
                <a:path w="1554479">
                  <a:moveTo>
                    <a:pt x="0" y="0"/>
                  </a:moveTo>
                  <a:lnTo>
                    <a:pt x="1554449"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20" name="object 20"/>
            <p:cNvSpPr/>
            <p:nvPr/>
          </p:nvSpPr>
          <p:spPr>
            <a:xfrm>
              <a:off x="7715125" y="3353149"/>
              <a:ext cx="43815" cy="31750"/>
            </a:xfrm>
            <a:custGeom>
              <a:avLst/>
              <a:gdLst/>
              <a:ahLst/>
              <a:cxnLst/>
              <a:rect l="l" t="t" r="r" b="b"/>
              <a:pathLst>
                <a:path w="43815" h="31750">
                  <a:moveTo>
                    <a:pt x="0" y="31465"/>
                  </a:moveTo>
                  <a:lnTo>
                    <a:pt x="0" y="0"/>
                  </a:lnTo>
                  <a:lnTo>
                    <a:pt x="43224" y="15732"/>
                  </a:lnTo>
                  <a:lnTo>
                    <a:pt x="0" y="31465"/>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21" name="object 21"/>
            <p:cNvSpPr/>
            <p:nvPr/>
          </p:nvSpPr>
          <p:spPr>
            <a:xfrm>
              <a:off x="7715125" y="3353149"/>
              <a:ext cx="43815" cy="31750"/>
            </a:xfrm>
            <a:custGeom>
              <a:avLst/>
              <a:gdLst/>
              <a:ahLst/>
              <a:cxnLst/>
              <a:rect l="l" t="t" r="r" b="b"/>
              <a:pathLst>
                <a:path w="43815" h="31750">
                  <a:moveTo>
                    <a:pt x="0" y="31465"/>
                  </a:moveTo>
                  <a:lnTo>
                    <a:pt x="43224" y="15732"/>
                  </a:lnTo>
                  <a:lnTo>
                    <a:pt x="0" y="0"/>
                  </a:lnTo>
                  <a:lnTo>
                    <a:pt x="0" y="31465"/>
                  </a:lnTo>
                  <a:close/>
                </a:path>
              </a:pathLst>
            </a:custGeom>
            <a:ln w="9524">
              <a:solidFill>
                <a:srgbClr val="B10639"/>
              </a:solidFill>
            </a:ln>
          </p:spPr>
          <p:txBody>
            <a:bodyPr wrap="square" lIns="0" tIns="0" rIns="0" bIns="0" rtlCol="0"/>
            <a:lstStyle/>
            <a:p>
              <a:endParaRPr>
                <a:solidFill>
                  <a:prstClr val="black"/>
                </a:solidFill>
                <a:latin typeface="Calibri"/>
              </a:endParaRPr>
            </a:p>
          </p:txBody>
        </p:sp>
      </p:grpSp>
      <p:sp>
        <p:nvSpPr>
          <p:cNvPr id="22" name="object 22"/>
          <p:cNvSpPr txBox="1"/>
          <p:nvPr/>
        </p:nvSpPr>
        <p:spPr>
          <a:xfrm rot="20220000">
            <a:off x="3636161" y="4708002"/>
            <a:ext cx="809489" cy="127000"/>
          </a:xfrm>
          <a:prstGeom prst="rect">
            <a:avLst/>
          </a:prstGeom>
        </p:spPr>
        <p:txBody>
          <a:bodyPr vert="horz" wrap="square" lIns="0" tIns="0" rIns="0" bIns="0" rtlCol="0">
            <a:spAutoFit/>
          </a:bodyPr>
          <a:lstStyle/>
          <a:p>
            <a:pPr>
              <a:lnSpc>
                <a:spcPts val="1000"/>
              </a:lnSpc>
            </a:pPr>
            <a:r>
              <a:rPr sz="1000" spc="-5" dirty="0">
                <a:solidFill>
                  <a:srgbClr val="313131"/>
                </a:solidFill>
                <a:latin typeface="Verdana"/>
                <a:cs typeface="Verdana"/>
              </a:rPr>
              <a:t>Fak</a:t>
            </a:r>
            <a:r>
              <a:rPr sz="1000" dirty="0">
                <a:solidFill>
                  <a:srgbClr val="313131"/>
                </a:solidFill>
                <a:latin typeface="Verdana"/>
                <a:cs typeface="Verdana"/>
              </a:rPr>
              <a:t>e</a:t>
            </a:r>
            <a:r>
              <a:rPr sz="1000" spc="-5" dirty="0">
                <a:solidFill>
                  <a:srgbClr val="313131"/>
                </a:solidFill>
                <a:latin typeface="Verdana"/>
                <a:cs typeface="Verdana"/>
              </a:rPr>
              <a:t> sample</a:t>
            </a:r>
            <a:endParaRPr sz="1000">
              <a:solidFill>
                <a:prstClr val="black"/>
              </a:solidFill>
              <a:latin typeface="Verdana"/>
              <a:cs typeface="Verdana"/>
            </a:endParaRPr>
          </a:p>
        </p:txBody>
      </p:sp>
      <p:grpSp>
        <p:nvGrpSpPr>
          <p:cNvPr id="23" name="object 23"/>
          <p:cNvGrpSpPr/>
          <p:nvPr/>
        </p:nvGrpSpPr>
        <p:grpSpPr>
          <a:xfrm>
            <a:off x="3587291" y="3560648"/>
            <a:ext cx="916940" cy="386715"/>
            <a:chOff x="3587291" y="2703397"/>
            <a:chExt cx="916940" cy="386715"/>
          </a:xfrm>
        </p:grpSpPr>
        <p:sp>
          <p:nvSpPr>
            <p:cNvPr id="24" name="object 24"/>
            <p:cNvSpPr/>
            <p:nvPr/>
          </p:nvSpPr>
          <p:spPr>
            <a:xfrm>
              <a:off x="3592054" y="2708159"/>
              <a:ext cx="867410" cy="360680"/>
            </a:xfrm>
            <a:custGeom>
              <a:avLst/>
              <a:gdLst/>
              <a:ahLst/>
              <a:cxnLst/>
              <a:rect l="l" t="t" r="r" b="b"/>
              <a:pathLst>
                <a:path w="867410" h="360680">
                  <a:moveTo>
                    <a:pt x="0" y="0"/>
                  </a:moveTo>
                  <a:lnTo>
                    <a:pt x="867030" y="360555"/>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25" name="object 25"/>
            <p:cNvSpPr/>
            <p:nvPr/>
          </p:nvSpPr>
          <p:spPr>
            <a:xfrm>
              <a:off x="4453044" y="3054188"/>
              <a:ext cx="46355" cy="31750"/>
            </a:xfrm>
            <a:custGeom>
              <a:avLst/>
              <a:gdLst/>
              <a:ahLst/>
              <a:cxnLst/>
              <a:rect l="l" t="t" r="r" b="b"/>
              <a:pathLst>
                <a:path w="46354" h="31750">
                  <a:moveTo>
                    <a:pt x="45952" y="31124"/>
                  </a:moveTo>
                  <a:lnTo>
                    <a:pt x="0" y="29053"/>
                  </a:lnTo>
                  <a:lnTo>
                    <a:pt x="12081" y="0"/>
                  </a:lnTo>
                  <a:lnTo>
                    <a:pt x="45952" y="31124"/>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26" name="object 26"/>
            <p:cNvSpPr/>
            <p:nvPr/>
          </p:nvSpPr>
          <p:spPr>
            <a:xfrm>
              <a:off x="4453044" y="3054188"/>
              <a:ext cx="46355" cy="31750"/>
            </a:xfrm>
            <a:custGeom>
              <a:avLst/>
              <a:gdLst/>
              <a:ahLst/>
              <a:cxnLst/>
              <a:rect l="l" t="t" r="r" b="b"/>
              <a:pathLst>
                <a:path w="46354" h="31750">
                  <a:moveTo>
                    <a:pt x="0" y="29053"/>
                  </a:moveTo>
                  <a:lnTo>
                    <a:pt x="45952" y="31124"/>
                  </a:lnTo>
                  <a:lnTo>
                    <a:pt x="12081" y="0"/>
                  </a:lnTo>
                  <a:lnTo>
                    <a:pt x="0" y="29053"/>
                  </a:lnTo>
                  <a:close/>
                </a:path>
              </a:pathLst>
            </a:custGeom>
            <a:ln w="9524">
              <a:solidFill>
                <a:srgbClr val="B10639"/>
              </a:solidFill>
            </a:ln>
          </p:spPr>
          <p:txBody>
            <a:bodyPr wrap="square" lIns="0" tIns="0" rIns="0" bIns="0" rtlCol="0"/>
            <a:lstStyle/>
            <a:p>
              <a:endParaRPr>
                <a:solidFill>
                  <a:prstClr val="black"/>
                </a:solidFill>
                <a:latin typeface="Calibri"/>
              </a:endParaRPr>
            </a:p>
          </p:txBody>
        </p:sp>
      </p:grpSp>
      <p:sp>
        <p:nvSpPr>
          <p:cNvPr id="27" name="object 27"/>
          <p:cNvSpPr txBox="1"/>
          <p:nvPr/>
        </p:nvSpPr>
        <p:spPr>
          <a:xfrm rot="1320000">
            <a:off x="3679092" y="3590681"/>
            <a:ext cx="785667" cy="127000"/>
          </a:xfrm>
          <a:prstGeom prst="rect">
            <a:avLst/>
          </a:prstGeom>
        </p:spPr>
        <p:txBody>
          <a:bodyPr vert="horz" wrap="square" lIns="0" tIns="0" rIns="0" bIns="0" rtlCol="0">
            <a:spAutoFit/>
          </a:bodyPr>
          <a:lstStyle/>
          <a:p>
            <a:pPr>
              <a:lnSpc>
                <a:spcPts val="1000"/>
              </a:lnSpc>
            </a:pPr>
            <a:r>
              <a:rPr sz="1000" spc="-5" dirty="0">
                <a:solidFill>
                  <a:srgbClr val="313131"/>
                </a:solidFill>
                <a:latin typeface="Verdana"/>
                <a:cs typeface="Verdana"/>
              </a:rPr>
              <a:t>Rea</a:t>
            </a:r>
            <a:r>
              <a:rPr sz="1000" dirty="0">
                <a:solidFill>
                  <a:srgbClr val="313131"/>
                </a:solidFill>
                <a:latin typeface="Verdana"/>
                <a:cs typeface="Verdana"/>
              </a:rPr>
              <a:t>l</a:t>
            </a:r>
            <a:r>
              <a:rPr sz="1000" spc="-10" dirty="0">
                <a:solidFill>
                  <a:srgbClr val="313131"/>
                </a:solidFill>
                <a:latin typeface="Verdana"/>
                <a:cs typeface="Verdana"/>
              </a:rPr>
              <a:t> </a:t>
            </a:r>
            <a:r>
              <a:rPr sz="1000" spc="-5" dirty="0">
                <a:solidFill>
                  <a:srgbClr val="313131"/>
                </a:solidFill>
                <a:latin typeface="Verdana"/>
                <a:cs typeface="Verdana"/>
              </a:rPr>
              <a:t>sample</a:t>
            </a:r>
            <a:endParaRPr sz="1000">
              <a:solidFill>
                <a:prstClr val="black"/>
              </a:solidFill>
              <a:latin typeface="Verdana"/>
              <a:cs typeface="Verdana"/>
            </a:endParaRPr>
          </a:p>
        </p:txBody>
      </p:sp>
      <p:sp>
        <p:nvSpPr>
          <p:cNvPr id="28" name="object 28"/>
          <p:cNvSpPr txBox="1"/>
          <p:nvPr/>
        </p:nvSpPr>
        <p:spPr>
          <a:xfrm>
            <a:off x="7877552" y="4087351"/>
            <a:ext cx="120650" cy="197490"/>
          </a:xfrm>
          <a:prstGeom prst="rect">
            <a:avLst/>
          </a:prstGeom>
        </p:spPr>
        <p:txBody>
          <a:bodyPr vert="horz" wrap="square" lIns="0" tIns="12700" rIns="0" bIns="0" rtlCol="0">
            <a:spAutoFit/>
          </a:bodyPr>
          <a:lstStyle/>
          <a:p>
            <a:pPr marL="12700">
              <a:spcBef>
                <a:spcPts val="100"/>
              </a:spcBef>
            </a:pPr>
            <a:r>
              <a:rPr sz="1200" i="1" dirty="0">
                <a:solidFill>
                  <a:srgbClr val="313131"/>
                </a:solidFill>
                <a:latin typeface="Verdana"/>
                <a:cs typeface="Verdana"/>
              </a:rPr>
              <a:t>p</a:t>
            </a:r>
            <a:endParaRPr sz="1200">
              <a:solidFill>
                <a:prstClr val="black"/>
              </a:solidFill>
              <a:latin typeface="Verdana"/>
              <a:cs typeface="Verdana"/>
            </a:endParaRPr>
          </a:p>
        </p:txBody>
      </p:sp>
      <p:sp>
        <p:nvSpPr>
          <p:cNvPr id="29" name="object 29"/>
          <p:cNvSpPr txBox="1"/>
          <p:nvPr/>
        </p:nvSpPr>
        <p:spPr>
          <a:xfrm>
            <a:off x="6180518" y="3858074"/>
            <a:ext cx="1363980" cy="330200"/>
          </a:xfrm>
          <a:prstGeom prst="rect">
            <a:avLst/>
          </a:prstGeom>
        </p:spPr>
        <p:txBody>
          <a:bodyPr vert="horz" wrap="square" lIns="0" tIns="12700" rIns="0" bIns="0" rtlCol="0">
            <a:spAutoFit/>
          </a:bodyPr>
          <a:lstStyle/>
          <a:p>
            <a:pPr marL="12700">
              <a:spcBef>
                <a:spcPts val="100"/>
              </a:spcBef>
            </a:pPr>
            <a:r>
              <a:rPr sz="1000" spc="-5" dirty="0">
                <a:solidFill>
                  <a:srgbClr val="313131"/>
                </a:solidFill>
                <a:latin typeface="Verdana"/>
                <a:cs typeface="Verdana"/>
              </a:rPr>
              <a:t>Is</a:t>
            </a:r>
            <a:r>
              <a:rPr sz="1000" spc="-30" dirty="0">
                <a:solidFill>
                  <a:srgbClr val="313131"/>
                </a:solidFill>
                <a:latin typeface="Verdana"/>
                <a:cs typeface="Verdana"/>
              </a:rPr>
              <a:t> </a:t>
            </a:r>
            <a:r>
              <a:rPr sz="1000" spc="-5" dirty="0">
                <a:solidFill>
                  <a:srgbClr val="313131"/>
                </a:solidFill>
                <a:latin typeface="Verdana"/>
                <a:cs typeface="Verdana"/>
              </a:rPr>
              <a:t>sample</a:t>
            </a:r>
            <a:r>
              <a:rPr sz="1000" spc="-30" dirty="0">
                <a:solidFill>
                  <a:srgbClr val="313131"/>
                </a:solidFill>
                <a:latin typeface="Verdana"/>
                <a:cs typeface="Verdana"/>
              </a:rPr>
              <a:t> </a:t>
            </a:r>
            <a:r>
              <a:rPr sz="1000" spc="-5" dirty="0">
                <a:solidFill>
                  <a:srgbClr val="313131"/>
                </a:solidFill>
                <a:latin typeface="Verdana"/>
                <a:cs typeface="Verdana"/>
              </a:rPr>
              <a:t>real,</a:t>
            </a:r>
            <a:r>
              <a:rPr sz="1000" spc="-30" dirty="0">
                <a:solidFill>
                  <a:srgbClr val="313131"/>
                </a:solidFill>
                <a:latin typeface="Verdana"/>
                <a:cs typeface="Verdana"/>
              </a:rPr>
              <a:t> </a:t>
            </a:r>
            <a:r>
              <a:rPr sz="1000" spc="-5" dirty="0">
                <a:solidFill>
                  <a:srgbClr val="313131"/>
                </a:solidFill>
                <a:latin typeface="Verdana"/>
                <a:cs typeface="Verdana"/>
              </a:rPr>
              <a:t>given</a:t>
            </a:r>
            <a:endParaRPr sz="1000">
              <a:solidFill>
                <a:prstClr val="black"/>
              </a:solidFill>
              <a:latin typeface="Verdana"/>
              <a:cs typeface="Verdana"/>
            </a:endParaRPr>
          </a:p>
          <a:p>
            <a:pPr marL="12700"/>
            <a:r>
              <a:rPr sz="1000" b="1" i="1" spc="-5" dirty="0">
                <a:solidFill>
                  <a:srgbClr val="313131"/>
                </a:solidFill>
                <a:latin typeface="Verdana"/>
                <a:cs typeface="Verdana"/>
              </a:rPr>
              <a:t>y</a:t>
            </a:r>
            <a:r>
              <a:rPr sz="1000" spc="-5" dirty="0">
                <a:solidFill>
                  <a:srgbClr val="313131"/>
                </a:solidFill>
                <a:latin typeface="Verdana"/>
                <a:cs typeface="Verdana"/>
              </a:rPr>
              <a:t>?</a:t>
            </a:r>
            <a:endParaRPr sz="1000">
              <a:solidFill>
                <a:prstClr val="black"/>
              </a:solidFill>
              <a:latin typeface="Verdana"/>
              <a:cs typeface="Verdana"/>
            </a:endParaRPr>
          </a:p>
        </p:txBody>
      </p:sp>
      <p:grpSp>
        <p:nvGrpSpPr>
          <p:cNvPr id="30" name="object 30"/>
          <p:cNvGrpSpPr/>
          <p:nvPr/>
        </p:nvGrpSpPr>
        <p:grpSpPr>
          <a:xfrm>
            <a:off x="1475843" y="5004810"/>
            <a:ext cx="473075" cy="148590"/>
            <a:chOff x="1475842" y="4147560"/>
            <a:chExt cx="473075" cy="148590"/>
          </a:xfrm>
        </p:grpSpPr>
        <p:sp>
          <p:nvSpPr>
            <p:cNvPr id="31" name="object 31"/>
            <p:cNvSpPr/>
            <p:nvPr/>
          </p:nvSpPr>
          <p:spPr>
            <a:xfrm>
              <a:off x="1480604" y="4167422"/>
              <a:ext cx="422275" cy="123825"/>
            </a:xfrm>
            <a:custGeom>
              <a:avLst/>
              <a:gdLst/>
              <a:ahLst/>
              <a:cxnLst/>
              <a:rect l="l" t="t" r="r" b="b"/>
              <a:pathLst>
                <a:path w="422275" h="123825">
                  <a:moveTo>
                    <a:pt x="0" y="123448"/>
                  </a:moveTo>
                  <a:lnTo>
                    <a:pt x="421850"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32" name="object 32"/>
            <p:cNvSpPr/>
            <p:nvPr/>
          </p:nvSpPr>
          <p:spPr>
            <a:xfrm>
              <a:off x="1898036" y="4152322"/>
              <a:ext cx="46355" cy="30480"/>
            </a:xfrm>
            <a:custGeom>
              <a:avLst/>
              <a:gdLst/>
              <a:ahLst/>
              <a:cxnLst/>
              <a:rect l="l" t="t" r="r" b="b"/>
              <a:pathLst>
                <a:path w="46355" h="30479">
                  <a:moveTo>
                    <a:pt x="8837" y="30198"/>
                  </a:moveTo>
                  <a:lnTo>
                    <a:pt x="0" y="0"/>
                  </a:lnTo>
                  <a:lnTo>
                    <a:pt x="45904" y="2959"/>
                  </a:lnTo>
                  <a:lnTo>
                    <a:pt x="8837" y="30198"/>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33" name="object 33"/>
            <p:cNvSpPr/>
            <p:nvPr/>
          </p:nvSpPr>
          <p:spPr>
            <a:xfrm>
              <a:off x="1898036" y="4152322"/>
              <a:ext cx="46355" cy="30480"/>
            </a:xfrm>
            <a:custGeom>
              <a:avLst/>
              <a:gdLst/>
              <a:ahLst/>
              <a:cxnLst/>
              <a:rect l="l" t="t" r="r" b="b"/>
              <a:pathLst>
                <a:path w="46355" h="30479">
                  <a:moveTo>
                    <a:pt x="8837" y="30198"/>
                  </a:moveTo>
                  <a:lnTo>
                    <a:pt x="45904" y="2959"/>
                  </a:lnTo>
                  <a:lnTo>
                    <a:pt x="0" y="0"/>
                  </a:lnTo>
                  <a:lnTo>
                    <a:pt x="8837" y="30198"/>
                  </a:lnTo>
                  <a:close/>
                </a:path>
              </a:pathLst>
            </a:custGeom>
            <a:ln w="9524">
              <a:solidFill>
                <a:srgbClr val="B10639"/>
              </a:solidFill>
            </a:ln>
          </p:spPr>
          <p:txBody>
            <a:bodyPr wrap="square" lIns="0" tIns="0" rIns="0" bIns="0" rtlCol="0"/>
            <a:lstStyle/>
            <a:p>
              <a:endParaRPr>
                <a:solidFill>
                  <a:prstClr val="black"/>
                </a:solidFill>
                <a:latin typeface="Calibri"/>
              </a:endParaRPr>
            </a:p>
          </p:txBody>
        </p:sp>
      </p:grpSp>
      <p:sp>
        <p:nvSpPr>
          <p:cNvPr id="34" name="object 34"/>
          <p:cNvSpPr txBox="1"/>
          <p:nvPr/>
        </p:nvSpPr>
        <p:spPr>
          <a:xfrm>
            <a:off x="1289655" y="5027844"/>
            <a:ext cx="125095" cy="197490"/>
          </a:xfrm>
          <a:prstGeom prst="rect">
            <a:avLst/>
          </a:prstGeom>
        </p:spPr>
        <p:txBody>
          <a:bodyPr vert="horz" wrap="square" lIns="0" tIns="12700" rIns="0" bIns="0" rtlCol="0">
            <a:spAutoFit/>
          </a:bodyPr>
          <a:lstStyle/>
          <a:p>
            <a:pPr marL="12700">
              <a:spcBef>
                <a:spcPts val="100"/>
              </a:spcBef>
            </a:pPr>
            <a:r>
              <a:rPr sz="1200" b="1" i="1" dirty="0">
                <a:solidFill>
                  <a:srgbClr val="313131"/>
                </a:solidFill>
                <a:latin typeface="Verdana"/>
                <a:cs typeface="Verdana"/>
              </a:rPr>
              <a:t>y</a:t>
            </a:r>
            <a:endParaRPr sz="1200">
              <a:solidFill>
                <a:prstClr val="black"/>
              </a:solidFill>
              <a:latin typeface="Verdana"/>
              <a:cs typeface="Verdana"/>
            </a:endParaRPr>
          </a:p>
        </p:txBody>
      </p:sp>
      <p:sp>
        <p:nvSpPr>
          <p:cNvPr id="35" name="object 35"/>
          <p:cNvSpPr/>
          <p:nvPr/>
        </p:nvSpPr>
        <p:spPr>
          <a:xfrm>
            <a:off x="3577002" y="3839368"/>
            <a:ext cx="261620" cy="685800"/>
          </a:xfrm>
          <a:custGeom>
            <a:avLst/>
            <a:gdLst/>
            <a:ahLst/>
            <a:cxnLst/>
            <a:rect l="l" t="t" r="r" b="b"/>
            <a:pathLst>
              <a:path w="261620" h="685800">
                <a:moveTo>
                  <a:pt x="217998" y="685799"/>
                </a:moveTo>
                <a:lnTo>
                  <a:pt x="43600" y="685799"/>
                </a:lnTo>
                <a:lnTo>
                  <a:pt x="26629" y="682373"/>
                </a:lnTo>
                <a:lnTo>
                  <a:pt x="12770" y="673029"/>
                </a:lnTo>
                <a:lnTo>
                  <a:pt x="3426" y="659170"/>
                </a:lnTo>
                <a:lnTo>
                  <a:pt x="0" y="642198"/>
                </a:lnTo>
                <a:lnTo>
                  <a:pt x="0" y="43600"/>
                </a:lnTo>
                <a:lnTo>
                  <a:pt x="3426" y="26629"/>
                </a:lnTo>
                <a:lnTo>
                  <a:pt x="12770" y="12770"/>
                </a:lnTo>
                <a:lnTo>
                  <a:pt x="26629" y="3426"/>
                </a:lnTo>
                <a:lnTo>
                  <a:pt x="43600" y="0"/>
                </a:lnTo>
                <a:lnTo>
                  <a:pt x="217998" y="0"/>
                </a:lnTo>
                <a:lnTo>
                  <a:pt x="254274" y="19410"/>
                </a:lnTo>
                <a:lnTo>
                  <a:pt x="261599" y="43600"/>
                </a:lnTo>
                <a:lnTo>
                  <a:pt x="261599" y="642198"/>
                </a:lnTo>
                <a:lnTo>
                  <a:pt x="258173" y="659170"/>
                </a:lnTo>
                <a:lnTo>
                  <a:pt x="248829" y="673029"/>
                </a:lnTo>
                <a:lnTo>
                  <a:pt x="234970" y="682373"/>
                </a:lnTo>
                <a:lnTo>
                  <a:pt x="217998" y="685799"/>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36" name="object 36"/>
          <p:cNvSpPr txBox="1"/>
          <p:nvPr/>
        </p:nvSpPr>
        <p:spPr>
          <a:xfrm>
            <a:off x="3681849" y="4072985"/>
            <a:ext cx="125095" cy="197490"/>
          </a:xfrm>
          <a:prstGeom prst="rect">
            <a:avLst/>
          </a:prstGeom>
        </p:spPr>
        <p:txBody>
          <a:bodyPr vert="horz" wrap="square" lIns="0" tIns="12700" rIns="0" bIns="0" rtlCol="0">
            <a:spAutoFit/>
          </a:bodyPr>
          <a:lstStyle/>
          <a:p>
            <a:pPr marL="12700">
              <a:spcBef>
                <a:spcPts val="100"/>
              </a:spcBef>
            </a:pPr>
            <a:r>
              <a:rPr sz="1200" b="1" i="1" dirty="0">
                <a:solidFill>
                  <a:srgbClr val="313131"/>
                </a:solidFill>
                <a:latin typeface="Verdana"/>
                <a:cs typeface="Verdana"/>
              </a:rPr>
              <a:t>y</a:t>
            </a:r>
            <a:endParaRPr sz="1200">
              <a:solidFill>
                <a:prstClr val="black"/>
              </a:solidFill>
              <a:latin typeface="Verdana"/>
              <a:cs typeface="Verdana"/>
            </a:endParaRPr>
          </a:p>
        </p:txBody>
      </p:sp>
      <p:grpSp>
        <p:nvGrpSpPr>
          <p:cNvPr id="37" name="object 37"/>
          <p:cNvGrpSpPr/>
          <p:nvPr/>
        </p:nvGrpSpPr>
        <p:grpSpPr>
          <a:xfrm>
            <a:off x="3832633" y="4174976"/>
            <a:ext cx="661035" cy="41275"/>
            <a:chOff x="3832632" y="3317725"/>
            <a:chExt cx="661035" cy="41275"/>
          </a:xfrm>
        </p:grpSpPr>
        <p:sp>
          <p:nvSpPr>
            <p:cNvPr id="38" name="object 38"/>
            <p:cNvSpPr/>
            <p:nvPr/>
          </p:nvSpPr>
          <p:spPr>
            <a:xfrm>
              <a:off x="3837394" y="3338220"/>
              <a:ext cx="608330" cy="8255"/>
            </a:xfrm>
            <a:custGeom>
              <a:avLst/>
              <a:gdLst/>
              <a:ahLst/>
              <a:cxnLst/>
              <a:rect l="l" t="t" r="r" b="b"/>
              <a:pathLst>
                <a:path w="608329" h="8254">
                  <a:moveTo>
                    <a:pt x="0" y="7677"/>
                  </a:moveTo>
                  <a:lnTo>
                    <a:pt x="607954"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39" name="object 39"/>
            <p:cNvSpPr/>
            <p:nvPr/>
          </p:nvSpPr>
          <p:spPr>
            <a:xfrm>
              <a:off x="4445150" y="3322488"/>
              <a:ext cx="43815" cy="31750"/>
            </a:xfrm>
            <a:custGeom>
              <a:avLst/>
              <a:gdLst/>
              <a:ahLst/>
              <a:cxnLst/>
              <a:rect l="l" t="t" r="r" b="b"/>
              <a:pathLst>
                <a:path w="43814" h="31750">
                  <a:moveTo>
                    <a:pt x="397" y="31462"/>
                  </a:moveTo>
                  <a:lnTo>
                    <a:pt x="0" y="0"/>
                  </a:lnTo>
                  <a:lnTo>
                    <a:pt x="43420" y="15185"/>
                  </a:lnTo>
                  <a:lnTo>
                    <a:pt x="397" y="31462"/>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40" name="object 40"/>
            <p:cNvSpPr/>
            <p:nvPr/>
          </p:nvSpPr>
          <p:spPr>
            <a:xfrm>
              <a:off x="4445150" y="3322488"/>
              <a:ext cx="43815" cy="31750"/>
            </a:xfrm>
            <a:custGeom>
              <a:avLst/>
              <a:gdLst/>
              <a:ahLst/>
              <a:cxnLst/>
              <a:rect l="l" t="t" r="r" b="b"/>
              <a:pathLst>
                <a:path w="43814" h="31750">
                  <a:moveTo>
                    <a:pt x="397" y="31462"/>
                  </a:moveTo>
                  <a:lnTo>
                    <a:pt x="43420" y="15185"/>
                  </a:lnTo>
                  <a:lnTo>
                    <a:pt x="0" y="0"/>
                  </a:lnTo>
                  <a:lnTo>
                    <a:pt x="397" y="31462"/>
                  </a:lnTo>
                  <a:close/>
                </a:path>
              </a:pathLst>
            </a:custGeom>
            <a:ln w="9524">
              <a:solidFill>
                <a:srgbClr val="B10639"/>
              </a:solidFill>
            </a:ln>
          </p:spPr>
          <p:txBody>
            <a:bodyPr wrap="square" lIns="0" tIns="0" rIns="0" bIns="0" rtlCol="0"/>
            <a:lstStyle/>
            <a:p>
              <a:endParaRPr>
                <a:solidFill>
                  <a:prstClr val="black"/>
                </a:solidFill>
                <a:latin typeface="Calibri"/>
              </a:endParaRPr>
            </a:p>
          </p:txBody>
        </p:sp>
      </p:grpSp>
      <p:sp>
        <p:nvSpPr>
          <p:cNvPr id="41" name="object 41"/>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44" name="Picture 2" descr="E:\NIET\Project\xLogo11.png.pagespeed.ic.pydHLuCQEZ.png">
            <a:extLst>
              <a:ext uri="{FF2B5EF4-FFF2-40B4-BE49-F238E27FC236}">
                <a16:creationId xmlns:a16="http://schemas.microsoft.com/office/drawing/2014/main" id="{32D8A672-E140-2997-93FB-6ABBD91F5130}"/>
              </a:ext>
            </a:extLst>
          </p:cNvPr>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45" name="Title 1">
            <a:extLst>
              <a:ext uri="{FF2B5EF4-FFF2-40B4-BE49-F238E27FC236}">
                <a16:creationId xmlns:a16="http://schemas.microsoft.com/office/drawing/2014/main" id="{E0DFD152-70E2-DA38-E534-8024AD79676F}"/>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Generative Adversarial Networks </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object 14"/>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5084763" cy="330200"/>
          </a:xfrm>
          <a:prstGeom prst="rect">
            <a:avLst/>
          </a:prstGeom>
        </p:spPr>
        <p:txBody>
          <a:bodyPr vert="horz" wrap="square" lIns="0" tIns="12700" rIns="0" bIns="0" rtlCol="0">
            <a:spAutoFit/>
          </a:bodyPr>
          <a:lstStyle/>
          <a:p>
            <a:pPr marL="38100">
              <a:spcBef>
                <a:spcPts val="100"/>
              </a:spcBef>
            </a:pPr>
            <a:r>
              <a:rPr spc="-5" dirty="0"/>
              <a:t>Conditional</a:t>
            </a:r>
            <a:r>
              <a:rPr spc="-15" dirty="0"/>
              <a:t> </a:t>
            </a:r>
            <a:r>
              <a:rPr spc="-5" dirty="0"/>
              <a:t>GANs</a:t>
            </a:r>
            <a:r>
              <a:rPr spc="-10" dirty="0"/>
              <a:t> </a:t>
            </a:r>
            <a:r>
              <a:rPr spc="-5" dirty="0"/>
              <a:t>(CGAN)</a:t>
            </a:r>
            <a:r>
              <a:rPr dirty="0"/>
              <a:t> </a:t>
            </a:r>
            <a:r>
              <a:rPr sz="1950" spc="15" baseline="32051" dirty="0"/>
              <a:t>(</a:t>
            </a:r>
            <a:r>
              <a:rPr sz="1950" i="1" spc="15" baseline="32051" dirty="0"/>
              <a:t>Mirza</a:t>
            </a:r>
            <a:r>
              <a:rPr sz="1950" i="1" baseline="32051" dirty="0"/>
              <a:t> </a:t>
            </a:r>
            <a:r>
              <a:rPr sz="1950" i="1" spc="15" baseline="32051" dirty="0"/>
              <a:t>et</a:t>
            </a:r>
            <a:r>
              <a:rPr sz="1950" i="1" baseline="32051" dirty="0"/>
              <a:t> </a:t>
            </a:r>
            <a:r>
              <a:rPr sz="1950" i="1" spc="7" baseline="32051" dirty="0"/>
              <a:t>al.,</a:t>
            </a:r>
            <a:r>
              <a:rPr sz="1950" i="1" baseline="32051" dirty="0"/>
              <a:t> </a:t>
            </a:r>
            <a:r>
              <a:rPr sz="1950" i="1" spc="30" baseline="32051" dirty="0"/>
              <a:t>2014</a:t>
            </a:r>
            <a:r>
              <a:rPr sz="1950" spc="30" baseline="32051" dirty="0"/>
              <a:t>)</a:t>
            </a:r>
            <a:endParaRPr sz="1950" baseline="32051" dirty="0"/>
          </a:p>
        </p:txBody>
      </p:sp>
      <p:grpSp>
        <p:nvGrpSpPr>
          <p:cNvPr id="3" name="object 3"/>
          <p:cNvGrpSpPr/>
          <p:nvPr/>
        </p:nvGrpSpPr>
        <p:grpSpPr>
          <a:xfrm>
            <a:off x="1243912" y="2660307"/>
            <a:ext cx="6104255" cy="1828800"/>
            <a:chOff x="1243911" y="1803057"/>
            <a:chExt cx="6104255" cy="1828800"/>
          </a:xfrm>
        </p:grpSpPr>
        <p:pic>
          <p:nvPicPr>
            <p:cNvPr id="4" name="object 4"/>
            <p:cNvPicPr/>
            <p:nvPr/>
          </p:nvPicPr>
          <p:blipFill>
            <a:blip r:embed="rId2" cstate="print"/>
            <a:stretch>
              <a:fillRect/>
            </a:stretch>
          </p:blipFill>
          <p:spPr>
            <a:xfrm>
              <a:off x="1496568" y="1803057"/>
              <a:ext cx="5851260" cy="1828209"/>
            </a:xfrm>
            <a:prstGeom prst="rect">
              <a:avLst/>
            </a:prstGeom>
          </p:spPr>
        </p:pic>
        <p:sp>
          <p:nvSpPr>
            <p:cNvPr id="5" name="object 5"/>
            <p:cNvSpPr/>
            <p:nvPr/>
          </p:nvSpPr>
          <p:spPr>
            <a:xfrm>
              <a:off x="1249433" y="2755040"/>
              <a:ext cx="171450" cy="0"/>
            </a:xfrm>
            <a:custGeom>
              <a:avLst/>
              <a:gdLst/>
              <a:ahLst/>
              <a:cxnLst/>
              <a:rect l="l" t="t" r="r" b="b"/>
              <a:pathLst>
                <a:path w="171450">
                  <a:moveTo>
                    <a:pt x="0" y="0"/>
                  </a:moveTo>
                  <a:lnTo>
                    <a:pt x="171449"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6" name="object 6"/>
            <p:cNvSpPr/>
            <p:nvPr/>
          </p:nvSpPr>
          <p:spPr>
            <a:xfrm>
              <a:off x="1420883" y="2739307"/>
              <a:ext cx="43815" cy="31750"/>
            </a:xfrm>
            <a:custGeom>
              <a:avLst/>
              <a:gdLst/>
              <a:ahLst/>
              <a:cxnLst/>
              <a:rect l="l" t="t" r="r" b="b"/>
              <a:pathLst>
                <a:path w="43815" h="31750">
                  <a:moveTo>
                    <a:pt x="0" y="31465"/>
                  </a:moveTo>
                  <a:lnTo>
                    <a:pt x="0" y="0"/>
                  </a:lnTo>
                  <a:lnTo>
                    <a:pt x="43225" y="15732"/>
                  </a:lnTo>
                  <a:lnTo>
                    <a:pt x="0" y="31465"/>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7" name="object 7"/>
            <p:cNvSpPr/>
            <p:nvPr/>
          </p:nvSpPr>
          <p:spPr>
            <a:xfrm>
              <a:off x="1420883" y="2739307"/>
              <a:ext cx="43815" cy="31750"/>
            </a:xfrm>
            <a:custGeom>
              <a:avLst/>
              <a:gdLst/>
              <a:ahLst/>
              <a:cxnLst/>
              <a:rect l="l" t="t" r="r" b="b"/>
              <a:pathLst>
                <a:path w="43815" h="31750">
                  <a:moveTo>
                    <a:pt x="0" y="31465"/>
                  </a:moveTo>
                  <a:lnTo>
                    <a:pt x="43225" y="15732"/>
                  </a:lnTo>
                  <a:lnTo>
                    <a:pt x="0" y="0"/>
                  </a:lnTo>
                  <a:lnTo>
                    <a:pt x="0" y="31465"/>
                  </a:lnTo>
                  <a:close/>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8" name="object 8"/>
            <p:cNvSpPr/>
            <p:nvPr/>
          </p:nvSpPr>
          <p:spPr>
            <a:xfrm>
              <a:off x="1243911" y="3333750"/>
              <a:ext cx="171450" cy="0"/>
            </a:xfrm>
            <a:custGeom>
              <a:avLst/>
              <a:gdLst/>
              <a:ahLst/>
              <a:cxnLst/>
              <a:rect l="l" t="t" r="r" b="b"/>
              <a:pathLst>
                <a:path w="171450">
                  <a:moveTo>
                    <a:pt x="0" y="0"/>
                  </a:moveTo>
                  <a:lnTo>
                    <a:pt x="171449"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9" name="object 9"/>
            <p:cNvSpPr/>
            <p:nvPr/>
          </p:nvSpPr>
          <p:spPr>
            <a:xfrm>
              <a:off x="1415361" y="3318017"/>
              <a:ext cx="43815" cy="31750"/>
            </a:xfrm>
            <a:custGeom>
              <a:avLst/>
              <a:gdLst/>
              <a:ahLst/>
              <a:cxnLst/>
              <a:rect l="l" t="t" r="r" b="b"/>
              <a:pathLst>
                <a:path w="43815" h="31750">
                  <a:moveTo>
                    <a:pt x="0" y="31465"/>
                  </a:moveTo>
                  <a:lnTo>
                    <a:pt x="0" y="0"/>
                  </a:lnTo>
                  <a:lnTo>
                    <a:pt x="43225" y="15732"/>
                  </a:lnTo>
                  <a:lnTo>
                    <a:pt x="0" y="31465"/>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10" name="object 10"/>
            <p:cNvSpPr/>
            <p:nvPr/>
          </p:nvSpPr>
          <p:spPr>
            <a:xfrm>
              <a:off x="1415361" y="3318017"/>
              <a:ext cx="43815" cy="31750"/>
            </a:xfrm>
            <a:custGeom>
              <a:avLst/>
              <a:gdLst/>
              <a:ahLst/>
              <a:cxnLst/>
              <a:rect l="l" t="t" r="r" b="b"/>
              <a:pathLst>
                <a:path w="43815" h="31750">
                  <a:moveTo>
                    <a:pt x="0" y="31465"/>
                  </a:moveTo>
                  <a:lnTo>
                    <a:pt x="43225" y="15732"/>
                  </a:lnTo>
                  <a:lnTo>
                    <a:pt x="0" y="0"/>
                  </a:lnTo>
                  <a:lnTo>
                    <a:pt x="0" y="31465"/>
                  </a:lnTo>
                  <a:close/>
                </a:path>
              </a:pathLst>
            </a:custGeom>
            <a:ln w="9524">
              <a:solidFill>
                <a:srgbClr val="B10639"/>
              </a:solidFill>
            </a:ln>
          </p:spPr>
          <p:txBody>
            <a:bodyPr wrap="square" lIns="0" tIns="0" rIns="0" bIns="0" rtlCol="0"/>
            <a:lstStyle/>
            <a:p>
              <a:endParaRPr>
                <a:solidFill>
                  <a:prstClr val="black"/>
                </a:solidFill>
                <a:latin typeface="Calibri"/>
              </a:endParaRPr>
            </a:p>
          </p:txBody>
        </p:sp>
      </p:grpSp>
      <p:sp>
        <p:nvSpPr>
          <p:cNvPr id="11" name="object 11"/>
          <p:cNvSpPr txBox="1"/>
          <p:nvPr/>
        </p:nvSpPr>
        <p:spPr>
          <a:xfrm>
            <a:off x="4038258" y="4528642"/>
            <a:ext cx="814069" cy="135935"/>
          </a:xfrm>
          <a:prstGeom prst="rect">
            <a:avLst/>
          </a:prstGeom>
        </p:spPr>
        <p:txBody>
          <a:bodyPr vert="horz" wrap="square" lIns="0" tIns="12700" rIns="0" bIns="0" rtlCol="0">
            <a:spAutoFit/>
          </a:bodyPr>
          <a:lstStyle/>
          <a:p>
            <a:pPr marL="12700">
              <a:spcBef>
                <a:spcPts val="100"/>
              </a:spcBef>
            </a:pPr>
            <a:r>
              <a:rPr sz="800" i="1" spc="-5" dirty="0">
                <a:solidFill>
                  <a:srgbClr val="313131"/>
                </a:solidFill>
                <a:latin typeface="Verdana"/>
                <a:cs typeface="Verdana"/>
              </a:rPr>
              <a:t>Gauthier,</a:t>
            </a:r>
            <a:r>
              <a:rPr sz="800" i="1" spc="65" dirty="0">
                <a:solidFill>
                  <a:srgbClr val="313131"/>
                </a:solidFill>
                <a:latin typeface="Verdana"/>
                <a:cs typeface="Verdana"/>
              </a:rPr>
              <a:t> </a:t>
            </a:r>
            <a:r>
              <a:rPr sz="800" i="1" spc="-5" dirty="0">
                <a:solidFill>
                  <a:srgbClr val="313131"/>
                </a:solidFill>
                <a:latin typeface="Verdana"/>
                <a:cs typeface="Verdana"/>
              </a:rPr>
              <a:t>2015</a:t>
            </a:r>
            <a:endParaRPr sz="800">
              <a:solidFill>
                <a:prstClr val="black"/>
              </a:solidFill>
              <a:latin typeface="Verdana"/>
              <a:cs typeface="Verdana"/>
            </a:endParaRPr>
          </a:p>
        </p:txBody>
      </p:sp>
      <p:sp>
        <p:nvSpPr>
          <p:cNvPr id="12" name="object 12"/>
          <p:cNvSpPr txBox="1"/>
          <p:nvPr/>
        </p:nvSpPr>
        <p:spPr>
          <a:xfrm>
            <a:off x="63500" y="3502426"/>
            <a:ext cx="1150620" cy="766445"/>
          </a:xfrm>
          <a:prstGeom prst="rect">
            <a:avLst/>
          </a:prstGeom>
        </p:spPr>
        <p:txBody>
          <a:bodyPr vert="horz" wrap="square" lIns="0" tIns="12700" rIns="0" bIns="0" rtlCol="0">
            <a:spAutoFit/>
          </a:bodyPr>
          <a:lstStyle/>
          <a:p>
            <a:pPr marR="5080" algn="r">
              <a:spcBef>
                <a:spcPts val="100"/>
              </a:spcBef>
            </a:pPr>
            <a:r>
              <a:rPr sz="1100" i="1" dirty="0">
                <a:solidFill>
                  <a:srgbClr val="313131"/>
                </a:solidFill>
                <a:latin typeface="Verdana"/>
                <a:cs typeface="Verdana"/>
              </a:rPr>
              <a:t>y</a:t>
            </a:r>
            <a:r>
              <a:rPr sz="1100" i="1" spc="-55" dirty="0">
                <a:solidFill>
                  <a:srgbClr val="313131"/>
                </a:solidFill>
                <a:latin typeface="Verdana"/>
                <a:cs typeface="Verdana"/>
              </a:rPr>
              <a:t> </a:t>
            </a:r>
            <a:r>
              <a:rPr sz="1100" dirty="0">
                <a:solidFill>
                  <a:srgbClr val="313131"/>
                </a:solidFill>
                <a:latin typeface="Verdana"/>
                <a:cs typeface="Verdana"/>
              </a:rPr>
              <a:t>=</a:t>
            </a:r>
            <a:r>
              <a:rPr sz="1100" spc="-55" dirty="0">
                <a:solidFill>
                  <a:srgbClr val="313131"/>
                </a:solidFill>
                <a:latin typeface="Verdana"/>
                <a:cs typeface="Verdana"/>
              </a:rPr>
              <a:t> </a:t>
            </a:r>
            <a:r>
              <a:rPr sz="1100" spc="-5" dirty="0">
                <a:solidFill>
                  <a:srgbClr val="313131"/>
                </a:solidFill>
                <a:latin typeface="Verdana"/>
                <a:cs typeface="Verdana"/>
              </a:rPr>
              <a:t>Senior</a:t>
            </a:r>
            <a:endParaRPr sz="1100">
              <a:solidFill>
                <a:prstClr val="black"/>
              </a:solidFill>
              <a:latin typeface="Verdana"/>
              <a:cs typeface="Verdana"/>
            </a:endParaRPr>
          </a:p>
          <a:p>
            <a:endParaRPr sz="1300">
              <a:solidFill>
                <a:prstClr val="black"/>
              </a:solidFill>
              <a:latin typeface="Verdana"/>
              <a:cs typeface="Verdana"/>
            </a:endParaRPr>
          </a:p>
          <a:p>
            <a:pPr>
              <a:spcBef>
                <a:spcPts val="30"/>
              </a:spcBef>
            </a:pPr>
            <a:endParaRPr sz="1300">
              <a:solidFill>
                <a:prstClr val="black"/>
              </a:solidFill>
              <a:latin typeface="Verdana"/>
              <a:cs typeface="Verdana"/>
            </a:endParaRPr>
          </a:p>
          <a:p>
            <a:pPr marR="10160" algn="r">
              <a:spcBef>
                <a:spcPts val="5"/>
              </a:spcBef>
            </a:pPr>
            <a:r>
              <a:rPr sz="1100" i="1" dirty="0">
                <a:solidFill>
                  <a:srgbClr val="313131"/>
                </a:solidFill>
                <a:latin typeface="Verdana"/>
                <a:cs typeface="Verdana"/>
              </a:rPr>
              <a:t>y</a:t>
            </a:r>
            <a:r>
              <a:rPr sz="1100" i="1" spc="-40" dirty="0">
                <a:solidFill>
                  <a:srgbClr val="313131"/>
                </a:solidFill>
                <a:latin typeface="Verdana"/>
                <a:cs typeface="Verdana"/>
              </a:rPr>
              <a:t> </a:t>
            </a:r>
            <a:r>
              <a:rPr sz="1100" dirty="0">
                <a:solidFill>
                  <a:srgbClr val="313131"/>
                </a:solidFill>
                <a:latin typeface="Verdana"/>
                <a:cs typeface="Verdana"/>
              </a:rPr>
              <a:t>=</a:t>
            </a:r>
            <a:r>
              <a:rPr sz="1100" spc="-35" dirty="0">
                <a:solidFill>
                  <a:srgbClr val="313131"/>
                </a:solidFill>
                <a:latin typeface="Verdana"/>
                <a:cs typeface="Verdana"/>
              </a:rPr>
              <a:t> </a:t>
            </a:r>
            <a:r>
              <a:rPr sz="1100" spc="-5" dirty="0">
                <a:solidFill>
                  <a:srgbClr val="313131"/>
                </a:solidFill>
                <a:latin typeface="Verdana"/>
                <a:cs typeface="Verdana"/>
              </a:rPr>
              <a:t>Mouth</a:t>
            </a:r>
            <a:r>
              <a:rPr sz="1100" spc="-35" dirty="0">
                <a:solidFill>
                  <a:srgbClr val="313131"/>
                </a:solidFill>
                <a:latin typeface="Verdana"/>
                <a:cs typeface="Verdana"/>
              </a:rPr>
              <a:t> </a:t>
            </a:r>
            <a:r>
              <a:rPr sz="1100" spc="-5" dirty="0">
                <a:solidFill>
                  <a:srgbClr val="313131"/>
                </a:solidFill>
                <a:latin typeface="Verdana"/>
                <a:cs typeface="Verdana"/>
              </a:rPr>
              <a:t>open</a:t>
            </a:r>
            <a:endParaRPr sz="1100">
              <a:solidFill>
                <a:prstClr val="black"/>
              </a:solidFill>
              <a:latin typeface="Verdana"/>
              <a:cs typeface="Verdana"/>
            </a:endParaRPr>
          </a:p>
        </p:txBody>
      </p:sp>
      <p:sp>
        <p:nvSpPr>
          <p:cNvPr id="13" name="object 13"/>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16" name="Picture 2" descr="E:\NIET\Project\xLogo11.png.pagespeed.ic.pydHLuCQEZ.png">
            <a:extLst>
              <a:ext uri="{FF2B5EF4-FFF2-40B4-BE49-F238E27FC236}">
                <a16:creationId xmlns:a16="http://schemas.microsoft.com/office/drawing/2014/main" id="{38EF68E7-55F1-3B46-C303-E6F0BEB87EA1}"/>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7" name="Title 1">
            <a:extLst>
              <a:ext uri="{FF2B5EF4-FFF2-40B4-BE49-F238E27FC236}">
                <a16:creationId xmlns:a16="http://schemas.microsoft.com/office/drawing/2014/main" id="{9C6B6AC2-6914-72BC-3B8A-9536D6038831}"/>
              </a:ext>
            </a:extLst>
          </p:cNvPr>
          <p:cNvSpPr txBox="1">
            <a:spLocks/>
          </p:cNvSpPr>
          <p:nvPr/>
        </p:nvSpPr>
        <p:spPr>
          <a:xfrm>
            <a:off x="137160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Conditional GANs (CGAN) </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object 15"/>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5084763" cy="330200"/>
          </a:xfrm>
          <a:prstGeom prst="rect">
            <a:avLst/>
          </a:prstGeom>
        </p:spPr>
        <p:txBody>
          <a:bodyPr vert="horz" wrap="square" lIns="0" tIns="12700" rIns="0" bIns="0" rtlCol="0">
            <a:spAutoFit/>
          </a:bodyPr>
          <a:lstStyle/>
          <a:p>
            <a:pPr marL="38100">
              <a:spcBef>
                <a:spcPts val="100"/>
              </a:spcBef>
            </a:pPr>
            <a:r>
              <a:rPr spc="-5" dirty="0"/>
              <a:t>Conditional</a:t>
            </a:r>
            <a:r>
              <a:rPr spc="-15" dirty="0"/>
              <a:t> </a:t>
            </a:r>
            <a:r>
              <a:rPr spc="-5" dirty="0"/>
              <a:t>GANs</a:t>
            </a:r>
            <a:r>
              <a:rPr spc="-10" dirty="0"/>
              <a:t> </a:t>
            </a:r>
            <a:r>
              <a:rPr spc="-5" dirty="0"/>
              <a:t>(CGAN)</a:t>
            </a:r>
            <a:r>
              <a:rPr dirty="0"/>
              <a:t> </a:t>
            </a:r>
            <a:r>
              <a:rPr sz="1950" spc="15" baseline="32051" dirty="0"/>
              <a:t>(</a:t>
            </a:r>
            <a:r>
              <a:rPr sz="1950" i="1" spc="15" baseline="32051" dirty="0"/>
              <a:t>Mirza</a:t>
            </a:r>
            <a:r>
              <a:rPr sz="1950" i="1" baseline="32051" dirty="0"/>
              <a:t> </a:t>
            </a:r>
            <a:r>
              <a:rPr sz="1950" i="1" spc="15" baseline="32051" dirty="0"/>
              <a:t>et</a:t>
            </a:r>
            <a:r>
              <a:rPr sz="1950" i="1" baseline="32051" dirty="0"/>
              <a:t> </a:t>
            </a:r>
            <a:r>
              <a:rPr sz="1950" i="1" spc="7" baseline="32051" dirty="0"/>
              <a:t>al.,</a:t>
            </a:r>
            <a:r>
              <a:rPr sz="1950" i="1" baseline="32051" dirty="0"/>
              <a:t> </a:t>
            </a:r>
            <a:r>
              <a:rPr sz="1950" i="1" spc="30" baseline="32051" dirty="0"/>
              <a:t>2014</a:t>
            </a:r>
            <a:r>
              <a:rPr sz="1950" spc="30" baseline="32051" dirty="0"/>
              <a:t>)</a:t>
            </a:r>
            <a:endParaRPr sz="1950" baseline="32051"/>
          </a:p>
        </p:txBody>
      </p:sp>
      <p:grpSp>
        <p:nvGrpSpPr>
          <p:cNvPr id="3" name="object 3"/>
          <p:cNvGrpSpPr/>
          <p:nvPr/>
        </p:nvGrpSpPr>
        <p:grpSpPr>
          <a:xfrm>
            <a:off x="1243912" y="2660307"/>
            <a:ext cx="6124575" cy="1828800"/>
            <a:chOff x="1243911" y="1803057"/>
            <a:chExt cx="6124575" cy="1828800"/>
          </a:xfrm>
        </p:grpSpPr>
        <p:pic>
          <p:nvPicPr>
            <p:cNvPr id="4" name="object 4"/>
            <p:cNvPicPr/>
            <p:nvPr/>
          </p:nvPicPr>
          <p:blipFill>
            <a:blip r:embed="rId2" cstate="print"/>
            <a:stretch>
              <a:fillRect/>
            </a:stretch>
          </p:blipFill>
          <p:spPr>
            <a:xfrm>
              <a:off x="1496568" y="1803057"/>
              <a:ext cx="5851260" cy="1828209"/>
            </a:xfrm>
            <a:prstGeom prst="rect">
              <a:avLst/>
            </a:prstGeom>
          </p:spPr>
        </p:pic>
        <p:sp>
          <p:nvSpPr>
            <p:cNvPr id="5" name="object 5"/>
            <p:cNvSpPr/>
            <p:nvPr/>
          </p:nvSpPr>
          <p:spPr>
            <a:xfrm>
              <a:off x="1249433" y="2755040"/>
              <a:ext cx="171450" cy="0"/>
            </a:xfrm>
            <a:custGeom>
              <a:avLst/>
              <a:gdLst/>
              <a:ahLst/>
              <a:cxnLst/>
              <a:rect l="l" t="t" r="r" b="b"/>
              <a:pathLst>
                <a:path w="171450">
                  <a:moveTo>
                    <a:pt x="0" y="0"/>
                  </a:moveTo>
                  <a:lnTo>
                    <a:pt x="171449"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6" name="object 6"/>
            <p:cNvSpPr/>
            <p:nvPr/>
          </p:nvSpPr>
          <p:spPr>
            <a:xfrm>
              <a:off x="1420883" y="2739307"/>
              <a:ext cx="43815" cy="31750"/>
            </a:xfrm>
            <a:custGeom>
              <a:avLst/>
              <a:gdLst/>
              <a:ahLst/>
              <a:cxnLst/>
              <a:rect l="l" t="t" r="r" b="b"/>
              <a:pathLst>
                <a:path w="43815" h="31750">
                  <a:moveTo>
                    <a:pt x="0" y="31465"/>
                  </a:moveTo>
                  <a:lnTo>
                    <a:pt x="0" y="0"/>
                  </a:lnTo>
                  <a:lnTo>
                    <a:pt x="43225" y="15732"/>
                  </a:lnTo>
                  <a:lnTo>
                    <a:pt x="0" y="31465"/>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7" name="object 7"/>
            <p:cNvSpPr/>
            <p:nvPr/>
          </p:nvSpPr>
          <p:spPr>
            <a:xfrm>
              <a:off x="1420883" y="2739307"/>
              <a:ext cx="43815" cy="31750"/>
            </a:xfrm>
            <a:custGeom>
              <a:avLst/>
              <a:gdLst/>
              <a:ahLst/>
              <a:cxnLst/>
              <a:rect l="l" t="t" r="r" b="b"/>
              <a:pathLst>
                <a:path w="43815" h="31750">
                  <a:moveTo>
                    <a:pt x="0" y="31465"/>
                  </a:moveTo>
                  <a:lnTo>
                    <a:pt x="43225" y="15732"/>
                  </a:lnTo>
                  <a:lnTo>
                    <a:pt x="0" y="0"/>
                  </a:lnTo>
                  <a:lnTo>
                    <a:pt x="0" y="31465"/>
                  </a:lnTo>
                  <a:close/>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8" name="object 8"/>
            <p:cNvSpPr/>
            <p:nvPr/>
          </p:nvSpPr>
          <p:spPr>
            <a:xfrm>
              <a:off x="1243911" y="3333750"/>
              <a:ext cx="171450" cy="0"/>
            </a:xfrm>
            <a:custGeom>
              <a:avLst/>
              <a:gdLst/>
              <a:ahLst/>
              <a:cxnLst/>
              <a:rect l="l" t="t" r="r" b="b"/>
              <a:pathLst>
                <a:path w="171450">
                  <a:moveTo>
                    <a:pt x="0" y="0"/>
                  </a:moveTo>
                  <a:lnTo>
                    <a:pt x="171449"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9" name="object 9"/>
            <p:cNvSpPr/>
            <p:nvPr/>
          </p:nvSpPr>
          <p:spPr>
            <a:xfrm>
              <a:off x="1415361" y="3318017"/>
              <a:ext cx="43815" cy="31750"/>
            </a:xfrm>
            <a:custGeom>
              <a:avLst/>
              <a:gdLst/>
              <a:ahLst/>
              <a:cxnLst/>
              <a:rect l="l" t="t" r="r" b="b"/>
              <a:pathLst>
                <a:path w="43815" h="31750">
                  <a:moveTo>
                    <a:pt x="0" y="31465"/>
                  </a:moveTo>
                  <a:lnTo>
                    <a:pt x="0" y="0"/>
                  </a:lnTo>
                  <a:lnTo>
                    <a:pt x="43225" y="15732"/>
                  </a:lnTo>
                  <a:lnTo>
                    <a:pt x="0" y="31465"/>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10" name="object 10"/>
            <p:cNvSpPr/>
            <p:nvPr/>
          </p:nvSpPr>
          <p:spPr>
            <a:xfrm>
              <a:off x="1415361" y="3318017"/>
              <a:ext cx="43815" cy="31750"/>
            </a:xfrm>
            <a:custGeom>
              <a:avLst/>
              <a:gdLst/>
              <a:ahLst/>
              <a:cxnLst/>
              <a:rect l="l" t="t" r="r" b="b"/>
              <a:pathLst>
                <a:path w="43815" h="31750">
                  <a:moveTo>
                    <a:pt x="0" y="31465"/>
                  </a:moveTo>
                  <a:lnTo>
                    <a:pt x="43225" y="15732"/>
                  </a:lnTo>
                  <a:lnTo>
                    <a:pt x="0" y="0"/>
                  </a:lnTo>
                  <a:lnTo>
                    <a:pt x="0" y="31465"/>
                  </a:lnTo>
                  <a:close/>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11" name="object 11"/>
            <p:cNvSpPr/>
            <p:nvPr/>
          </p:nvSpPr>
          <p:spPr>
            <a:xfrm>
              <a:off x="1523999" y="2431706"/>
              <a:ext cx="5831840" cy="570230"/>
            </a:xfrm>
            <a:custGeom>
              <a:avLst/>
              <a:gdLst/>
              <a:ahLst/>
              <a:cxnLst/>
              <a:rect l="l" t="t" r="r" b="b"/>
              <a:pathLst>
                <a:path w="5831840" h="570230">
                  <a:moveTo>
                    <a:pt x="0" y="0"/>
                  </a:moveTo>
                  <a:lnTo>
                    <a:pt x="5831699" y="0"/>
                  </a:lnTo>
                  <a:lnTo>
                    <a:pt x="5831699" y="569699"/>
                  </a:lnTo>
                  <a:lnTo>
                    <a:pt x="0" y="569699"/>
                  </a:lnTo>
                  <a:lnTo>
                    <a:pt x="0" y="0"/>
                  </a:lnTo>
                  <a:close/>
                </a:path>
              </a:pathLst>
            </a:custGeom>
            <a:ln w="25399">
              <a:solidFill>
                <a:srgbClr val="B10639"/>
              </a:solidFill>
            </a:ln>
          </p:spPr>
          <p:txBody>
            <a:bodyPr wrap="square" lIns="0" tIns="0" rIns="0" bIns="0" rtlCol="0"/>
            <a:lstStyle/>
            <a:p>
              <a:endParaRPr>
                <a:solidFill>
                  <a:prstClr val="black"/>
                </a:solidFill>
                <a:latin typeface="Calibri"/>
              </a:endParaRPr>
            </a:p>
          </p:txBody>
        </p:sp>
      </p:grpSp>
      <p:sp>
        <p:nvSpPr>
          <p:cNvPr id="12" name="object 12"/>
          <p:cNvSpPr txBox="1"/>
          <p:nvPr/>
        </p:nvSpPr>
        <p:spPr>
          <a:xfrm>
            <a:off x="4038258" y="4528642"/>
            <a:ext cx="814069" cy="135935"/>
          </a:xfrm>
          <a:prstGeom prst="rect">
            <a:avLst/>
          </a:prstGeom>
        </p:spPr>
        <p:txBody>
          <a:bodyPr vert="horz" wrap="square" lIns="0" tIns="12700" rIns="0" bIns="0" rtlCol="0">
            <a:spAutoFit/>
          </a:bodyPr>
          <a:lstStyle/>
          <a:p>
            <a:pPr marL="12700">
              <a:spcBef>
                <a:spcPts val="100"/>
              </a:spcBef>
            </a:pPr>
            <a:r>
              <a:rPr sz="800" i="1" spc="-5" dirty="0">
                <a:solidFill>
                  <a:srgbClr val="313131"/>
                </a:solidFill>
                <a:latin typeface="Verdana"/>
                <a:cs typeface="Verdana"/>
              </a:rPr>
              <a:t>Gauthier,</a:t>
            </a:r>
            <a:r>
              <a:rPr sz="800" i="1" spc="65" dirty="0">
                <a:solidFill>
                  <a:srgbClr val="313131"/>
                </a:solidFill>
                <a:latin typeface="Verdana"/>
                <a:cs typeface="Verdana"/>
              </a:rPr>
              <a:t> </a:t>
            </a:r>
            <a:r>
              <a:rPr sz="800" i="1" spc="-5" dirty="0">
                <a:solidFill>
                  <a:srgbClr val="313131"/>
                </a:solidFill>
                <a:latin typeface="Verdana"/>
                <a:cs typeface="Verdana"/>
              </a:rPr>
              <a:t>2015</a:t>
            </a:r>
            <a:endParaRPr sz="800">
              <a:solidFill>
                <a:prstClr val="black"/>
              </a:solidFill>
              <a:latin typeface="Verdana"/>
              <a:cs typeface="Verdana"/>
            </a:endParaRPr>
          </a:p>
        </p:txBody>
      </p:sp>
      <p:sp>
        <p:nvSpPr>
          <p:cNvPr id="13" name="object 13"/>
          <p:cNvSpPr txBox="1"/>
          <p:nvPr/>
        </p:nvSpPr>
        <p:spPr>
          <a:xfrm>
            <a:off x="63500" y="3502426"/>
            <a:ext cx="1150620" cy="766445"/>
          </a:xfrm>
          <a:prstGeom prst="rect">
            <a:avLst/>
          </a:prstGeom>
        </p:spPr>
        <p:txBody>
          <a:bodyPr vert="horz" wrap="square" lIns="0" tIns="12700" rIns="0" bIns="0" rtlCol="0">
            <a:spAutoFit/>
          </a:bodyPr>
          <a:lstStyle/>
          <a:p>
            <a:pPr marR="5080" algn="r">
              <a:spcBef>
                <a:spcPts val="100"/>
              </a:spcBef>
            </a:pPr>
            <a:r>
              <a:rPr sz="1100" i="1" dirty="0">
                <a:solidFill>
                  <a:srgbClr val="313131"/>
                </a:solidFill>
                <a:latin typeface="Verdana"/>
                <a:cs typeface="Verdana"/>
              </a:rPr>
              <a:t>y</a:t>
            </a:r>
            <a:r>
              <a:rPr sz="1100" i="1" spc="-55" dirty="0">
                <a:solidFill>
                  <a:srgbClr val="313131"/>
                </a:solidFill>
                <a:latin typeface="Verdana"/>
                <a:cs typeface="Verdana"/>
              </a:rPr>
              <a:t> </a:t>
            </a:r>
            <a:r>
              <a:rPr sz="1100" dirty="0">
                <a:solidFill>
                  <a:srgbClr val="313131"/>
                </a:solidFill>
                <a:latin typeface="Verdana"/>
                <a:cs typeface="Verdana"/>
              </a:rPr>
              <a:t>=</a:t>
            </a:r>
            <a:r>
              <a:rPr sz="1100" spc="-55" dirty="0">
                <a:solidFill>
                  <a:srgbClr val="313131"/>
                </a:solidFill>
                <a:latin typeface="Verdana"/>
                <a:cs typeface="Verdana"/>
              </a:rPr>
              <a:t> </a:t>
            </a:r>
            <a:r>
              <a:rPr sz="1100" spc="-5" dirty="0">
                <a:solidFill>
                  <a:srgbClr val="313131"/>
                </a:solidFill>
                <a:latin typeface="Verdana"/>
                <a:cs typeface="Verdana"/>
              </a:rPr>
              <a:t>Senior</a:t>
            </a:r>
            <a:endParaRPr sz="1100">
              <a:solidFill>
                <a:prstClr val="black"/>
              </a:solidFill>
              <a:latin typeface="Verdana"/>
              <a:cs typeface="Verdana"/>
            </a:endParaRPr>
          </a:p>
          <a:p>
            <a:endParaRPr sz="1300">
              <a:solidFill>
                <a:prstClr val="black"/>
              </a:solidFill>
              <a:latin typeface="Verdana"/>
              <a:cs typeface="Verdana"/>
            </a:endParaRPr>
          </a:p>
          <a:p>
            <a:pPr>
              <a:spcBef>
                <a:spcPts val="30"/>
              </a:spcBef>
            </a:pPr>
            <a:endParaRPr sz="1300">
              <a:solidFill>
                <a:prstClr val="black"/>
              </a:solidFill>
              <a:latin typeface="Verdana"/>
              <a:cs typeface="Verdana"/>
            </a:endParaRPr>
          </a:p>
          <a:p>
            <a:pPr marR="10160" algn="r">
              <a:spcBef>
                <a:spcPts val="5"/>
              </a:spcBef>
            </a:pPr>
            <a:r>
              <a:rPr sz="1100" i="1" dirty="0">
                <a:solidFill>
                  <a:srgbClr val="313131"/>
                </a:solidFill>
                <a:latin typeface="Verdana"/>
                <a:cs typeface="Verdana"/>
              </a:rPr>
              <a:t>y</a:t>
            </a:r>
            <a:r>
              <a:rPr sz="1100" i="1" spc="-40" dirty="0">
                <a:solidFill>
                  <a:srgbClr val="313131"/>
                </a:solidFill>
                <a:latin typeface="Verdana"/>
                <a:cs typeface="Verdana"/>
              </a:rPr>
              <a:t> </a:t>
            </a:r>
            <a:r>
              <a:rPr sz="1100" dirty="0">
                <a:solidFill>
                  <a:srgbClr val="313131"/>
                </a:solidFill>
                <a:latin typeface="Verdana"/>
                <a:cs typeface="Verdana"/>
              </a:rPr>
              <a:t>=</a:t>
            </a:r>
            <a:r>
              <a:rPr sz="1100" spc="-35" dirty="0">
                <a:solidFill>
                  <a:srgbClr val="313131"/>
                </a:solidFill>
                <a:latin typeface="Verdana"/>
                <a:cs typeface="Verdana"/>
              </a:rPr>
              <a:t> </a:t>
            </a:r>
            <a:r>
              <a:rPr sz="1100" spc="-5" dirty="0">
                <a:solidFill>
                  <a:srgbClr val="313131"/>
                </a:solidFill>
                <a:latin typeface="Verdana"/>
                <a:cs typeface="Verdana"/>
              </a:rPr>
              <a:t>Mouth</a:t>
            </a:r>
            <a:r>
              <a:rPr sz="1100" spc="-35" dirty="0">
                <a:solidFill>
                  <a:srgbClr val="313131"/>
                </a:solidFill>
                <a:latin typeface="Verdana"/>
                <a:cs typeface="Verdana"/>
              </a:rPr>
              <a:t> </a:t>
            </a:r>
            <a:r>
              <a:rPr sz="1100" spc="-5" dirty="0">
                <a:solidFill>
                  <a:srgbClr val="313131"/>
                </a:solidFill>
                <a:latin typeface="Verdana"/>
                <a:cs typeface="Verdana"/>
              </a:rPr>
              <a:t>open</a:t>
            </a:r>
            <a:endParaRPr sz="1100">
              <a:solidFill>
                <a:prstClr val="black"/>
              </a:solidFill>
              <a:latin typeface="Verdana"/>
              <a:cs typeface="Verdana"/>
            </a:endParaRPr>
          </a:p>
        </p:txBody>
      </p:sp>
      <p:sp>
        <p:nvSpPr>
          <p:cNvPr id="14" name="object 14"/>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17" name="Picture 2" descr="E:\NIET\Project\xLogo11.png.pagespeed.ic.pydHLuCQEZ.png">
            <a:extLst>
              <a:ext uri="{FF2B5EF4-FFF2-40B4-BE49-F238E27FC236}">
                <a16:creationId xmlns:a16="http://schemas.microsoft.com/office/drawing/2014/main" id="{76A9D50C-C30C-0C2C-F7A3-1C7E6E9C2D30}"/>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8" name="Title 1">
            <a:extLst>
              <a:ext uri="{FF2B5EF4-FFF2-40B4-BE49-F238E27FC236}">
                <a16:creationId xmlns:a16="http://schemas.microsoft.com/office/drawing/2014/main" id="{ADA85145-A31C-58CF-E393-F685259DC635}"/>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Generative Adversarial Networks </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object 15"/>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5084763" cy="330200"/>
          </a:xfrm>
          <a:prstGeom prst="rect">
            <a:avLst/>
          </a:prstGeom>
        </p:spPr>
        <p:txBody>
          <a:bodyPr vert="horz" wrap="square" lIns="0" tIns="12700" rIns="0" bIns="0" rtlCol="0">
            <a:spAutoFit/>
          </a:bodyPr>
          <a:lstStyle/>
          <a:p>
            <a:pPr marL="38100">
              <a:spcBef>
                <a:spcPts val="100"/>
              </a:spcBef>
            </a:pPr>
            <a:r>
              <a:rPr spc="-5" dirty="0"/>
              <a:t>Conditional</a:t>
            </a:r>
            <a:r>
              <a:rPr spc="-15" dirty="0"/>
              <a:t> </a:t>
            </a:r>
            <a:r>
              <a:rPr spc="-5" dirty="0"/>
              <a:t>GANs</a:t>
            </a:r>
            <a:r>
              <a:rPr spc="-10" dirty="0"/>
              <a:t> </a:t>
            </a:r>
            <a:r>
              <a:rPr spc="-5" dirty="0"/>
              <a:t>(CGAN)</a:t>
            </a:r>
            <a:r>
              <a:rPr dirty="0"/>
              <a:t> </a:t>
            </a:r>
            <a:r>
              <a:rPr sz="1950" spc="15" baseline="32051" dirty="0"/>
              <a:t>(</a:t>
            </a:r>
            <a:r>
              <a:rPr sz="1950" i="1" spc="15" baseline="32051" dirty="0"/>
              <a:t>Mirza</a:t>
            </a:r>
            <a:r>
              <a:rPr sz="1950" i="1" baseline="32051" dirty="0"/>
              <a:t> </a:t>
            </a:r>
            <a:r>
              <a:rPr sz="1950" i="1" spc="15" baseline="32051" dirty="0"/>
              <a:t>et</a:t>
            </a:r>
            <a:r>
              <a:rPr sz="1950" i="1" baseline="32051" dirty="0"/>
              <a:t> </a:t>
            </a:r>
            <a:r>
              <a:rPr sz="1950" i="1" spc="7" baseline="32051" dirty="0"/>
              <a:t>al.,</a:t>
            </a:r>
            <a:r>
              <a:rPr sz="1950" i="1" baseline="32051" dirty="0"/>
              <a:t> </a:t>
            </a:r>
            <a:r>
              <a:rPr sz="1950" i="1" spc="30" baseline="32051" dirty="0"/>
              <a:t>2014</a:t>
            </a:r>
            <a:r>
              <a:rPr sz="1950" spc="30" baseline="32051" dirty="0"/>
              <a:t>)</a:t>
            </a:r>
            <a:endParaRPr sz="1950" baseline="32051"/>
          </a:p>
        </p:txBody>
      </p:sp>
      <p:grpSp>
        <p:nvGrpSpPr>
          <p:cNvPr id="3" name="object 3"/>
          <p:cNvGrpSpPr/>
          <p:nvPr/>
        </p:nvGrpSpPr>
        <p:grpSpPr>
          <a:xfrm>
            <a:off x="1243912" y="2660307"/>
            <a:ext cx="6124575" cy="1828800"/>
            <a:chOff x="1243911" y="1803057"/>
            <a:chExt cx="6124575" cy="1828800"/>
          </a:xfrm>
        </p:grpSpPr>
        <p:pic>
          <p:nvPicPr>
            <p:cNvPr id="4" name="object 4"/>
            <p:cNvPicPr/>
            <p:nvPr/>
          </p:nvPicPr>
          <p:blipFill>
            <a:blip r:embed="rId2" cstate="print"/>
            <a:stretch>
              <a:fillRect/>
            </a:stretch>
          </p:blipFill>
          <p:spPr>
            <a:xfrm>
              <a:off x="1496568" y="1803057"/>
              <a:ext cx="5851260" cy="1828209"/>
            </a:xfrm>
            <a:prstGeom prst="rect">
              <a:avLst/>
            </a:prstGeom>
          </p:spPr>
        </p:pic>
        <p:sp>
          <p:nvSpPr>
            <p:cNvPr id="5" name="object 5"/>
            <p:cNvSpPr/>
            <p:nvPr/>
          </p:nvSpPr>
          <p:spPr>
            <a:xfrm>
              <a:off x="1249433" y="2755040"/>
              <a:ext cx="171450" cy="0"/>
            </a:xfrm>
            <a:custGeom>
              <a:avLst/>
              <a:gdLst/>
              <a:ahLst/>
              <a:cxnLst/>
              <a:rect l="l" t="t" r="r" b="b"/>
              <a:pathLst>
                <a:path w="171450">
                  <a:moveTo>
                    <a:pt x="0" y="0"/>
                  </a:moveTo>
                  <a:lnTo>
                    <a:pt x="171449"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6" name="object 6"/>
            <p:cNvSpPr/>
            <p:nvPr/>
          </p:nvSpPr>
          <p:spPr>
            <a:xfrm>
              <a:off x="1420883" y="2739307"/>
              <a:ext cx="43815" cy="31750"/>
            </a:xfrm>
            <a:custGeom>
              <a:avLst/>
              <a:gdLst/>
              <a:ahLst/>
              <a:cxnLst/>
              <a:rect l="l" t="t" r="r" b="b"/>
              <a:pathLst>
                <a:path w="43815" h="31750">
                  <a:moveTo>
                    <a:pt x="0" y="31465"/>
                  </a:moveTo>
                  <a:lnTo>
                    <a:pt x="0" y="0"/>
                  </a:lnTo>
                  <a:lnTo>
                    <a:pt x="43225" y="15732"/>
                  </a:lnTo>
                  <a:lnTo>
                    <a:pt x="0" y="31465"/>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7" name="object 7"/>
            <p:cNvSpPr/>
            <p:nvPr/>
          </p:nvSpPr>
          <p:spPr>
            <a:xfrm>
              <a:off x="1420883" y="2739307"/>
              <a:ext cx="43815" cy="31750"/>
            </a:xfrm>
            <a:custGeom>
              <a:avLst/>
              <a:gdLst/>
              <a:ahLst/>
              <a:cxnLst/>
              <a:rect l="l" t="t" r="r" b="b"/>
              <a:pathLst>
                <a:path w="43815" h="31750">
                  <a:moveTo>
                    <a:pt x="0" y="31465"/>
                  </a:moveTo>
                  <a:lnTo>
                    <a:pt x="43225" y="15732"/>
                  </a:lnTo>
                  <a:lnTo>
                    <a:pt x="0" y="0"/>
                  </a:lnTo>
                  <a:lnTo>
                    <a:pt x="0" y="31465"/>
                  </a:lnTo>
                  <a:close/>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8" name="object 8"/>
            <p:cNvSpPr/>
            <p:nvPr/>
          </p:nvSpPr>
          <p:spPr>
            <a:xfrm>
              <a:off x="1243911" y="3333750"/>
              <a:ext cx="171450" cy="0"/>
            </a:xfrm>
            <a:custGeom>
              <a:avLst/>
              <a:gdLst/>
              <a:ahLst/>
              <a:cxnLst/>
              <a:rect l="l" t="t" r="r" b="b"/>
              <a:pathLst>
                <a:path w="171450">
                  <a:moveTo>
                    <a:pt x="0" y="0"/>
                  </a:moveTo>
                  <a:lnTo>
                    <a:pt x="171449" y="0"/>
                  </a:lnTo>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9" name="object 9"/>
            <p:cNvSpPr/>
            <p:nvPr/>
          </p:nvSpPr>
          <p:spPr>
            <a:xfrm>
              <a:off x="1415361" y="3318017"/>
              <a:ext cx="43815" cy="31750"/>
            </a:xfrm>
            <a:custGeom>
              <a:avLst/>
              <a:gdLst/>
              <a:ahLst/>
              <a:cxnLst/>
              <a:rect l="l" t="t" r="r" b="b"/>
              <a:pathLst>
                <a:path w="43815" h="31750">
                  <a:moveTo>
                    <a:pt x="0" y="31465"/>
                  </a:moveTo>
                  <a:lnTo>
                    <a:pt x="0" y="0"/>
                  </a:lnTo>
                  <a:lnTo>
                    <a:pt x="43225" y="15732"/>
                  </a:lnTo>
                  <a:lnTo>
                    <a:pt x="0" y="31465"/>
                  </a:lnTo>
                  <a:close/>
                </a:path>
              </a:pathLst>
            </a:custGeom>
            <a:solidFill>
              <a:srgbClr val="B10639"/>
            </a:solidFill>
          </p:spPr>
          <p:txBody>
            <a:bodyPr wrap="square" lIns="0" tIns="0" rIns="0" bIns="0" rtlCol="0"/>
            <a:lstStyle/>
            <a:p>
              <a:endParaRPr>
                <a:solidFill>
                  <a:prstClr val="black"/>
                </a:solidFill>
                <a:latin typeface="Calibri"/>
              </a:endParaRPr>
            </a:p>
          </p:txBody>
        </p:sp>
        <p:sp>
          <p:nvSpPr>
            <p:cNvPr id="10" name="object 10"/>
            <p:cNvSpPr/>
            <p:nvPr/>
          </p:nvSpPr>
          <p:spPr>
            <a:xfrm>
              <a:off x="1415361" y="3318017"/>
              <a:ext cx="43815" cy="31750"/>
            </a:xfrm>
            <a:custGeom>
              <a:avLst/>
              <a:gdLst/>
              <a:ahLst/>
              <a:cxnLst/>
              <a:rect l="l" t="t" r="r" b="b"/>
              <a:pathLst>
                <a:path w="43815" h="31750">
                  <a:moveTo>
                    <a:pt x="0" y="31465"/>
                  </a:moveTo>
                  <a:lnTo>
                    <a:pt x="43225" y="15732"/>
                  </a:lnTo>
                  <a:lnTo>
                    <a:pt x="0" y="0"/>
                  </a:lnTo>
                  <a:lnTo>
                    <a:pt x="0" y="31465"/>
                  </a:lnTo>
                  <a:close/>
                </a:path>
              </a:pathLst>
            </a:custGeom>
            <a:ln w="9524">
              <a:solidFill>
                <a:srgbClr val="B10639"/>
              </a:solidFill>
            </a:ln>
          </p:spPr>
          <p:txBody>
            <a:bodyPr wrap="square" lIns="0" tIns="0" rIns="0" bIns="0" rtlCol="0"/>
            <a:lstStyle/>
            <a:p>
              <a:endParaRPr>
                <a:solidFill>
                  <a:prstClr val="black"/>
                </a:solidFill>
                <a:latin typeface="Calibri"/>
              </a:endParaRPr>
            </a:p>
          </p:txBody>
        </p:sp>
        <p:sp>
          <p:nvSpPr>
            <p:cNvPr id="11" name="object 11"/>
            <p:cNvSpPr/>
            <p:nvPr/>
          </p:nvSpPr>
          <p:spPr>
            <a:xfrm>
              <a:off x="1523996" y="3021121"/>
              <a:ext cx="5831840" cy="571500"/>
            </a:xfrm>
            <a:custGeom>
              <a:avLst/>
              <a:gdLst/>
              <a:ahLst/>
              <a:cxnLst/>
              <a:rect l="l" t="t" r="r" b="b"/>
              <a:pathLst>
                <a:path w="5831840" h="571500">
                  <a:moveTo>
                    <a:pt x="0" y="0"/>
                  </a:moveTo>
                  <a:lnTo>
                    <a:pt x="5831699" y="0"/>
                  </a:lnTo>
                  <a:lnTo>
                    <a:pt x="5831699" y="570899"/>
                  </a:lnTo>
                  <a:lnTo>
                    <a:pt x="0" y="570899"/>
                  </a:lnTo>
                  <a:lnTo>
                    <a:pt x="0" y="0"/>
                  </a:lnTo>
                  <a:close/>
                </a:path>
              </a:pathLst>
            </a:custGeom>
            <a:ln w="25399">
              <a:solidFill>
                <a:srgbClr val="B10639"/>
              </a:solidFill>
            </a:ln>
          </p:spPr>
          <p:txBody>
            <a:bodyPr wrap="square" lIns="0" tIns="0" rIns="0" bIns="0" rtlCol="0"/>
            <a:lstStyle/>
            <a:p>
              <a:endParaRPr>
                <a:solidFill>
                  <a:prstClr val="black"/>
                </a:solidFill>
                <a:latin typeface="Calibri"/>
              </a:endParaRPr>
            </a:p>
          </p:txBody>
        </p:sp>
      </p:grpSp>
      <p:sp>
        <p:nvSpPr>
          <p:cNvPr id="12" name="object 12"/>
          <p:cNvSpPr txBox="1"/>
          <p:nvPr/>
        </p:nvSpPr>
        <p:spPr>
          <a:xfrm>
            <a:off x="4038258" y="4528642"/>
            <a:ext cx="814069" cy="135935"/>
          </a:xfrm>
          <a:prstGeom prst="rect">
            <a:avLst/>
          </a:prstGeom>
        </p:spPr>
        <p:txBody>
          <a:bodyPr vert="horz" wrap="square" lIns="0" tIns="12700" rIns="0" bIns="0" rtlCol="0">
            <a:spAutoFit/>
          </a:bodyPr>
          <a:lstStyle/>
          <a:p>
            <a:pPr marL="12700">
              <a:spcBef>
                <a:spcPts val="100"/>
              </a:spcBef>
            </a:pPr>
            <a:r>
              <a:rPr sz="800" i="1" spc="-5" dirty="0">
                <a:solidFill>
                  <a:srgbClr val="313131"/>
                </a:solidFill>
                <a:latin typeface="Verdana"/>
                <a:cs typeface="Verdana"/>
              </a:rPr>
              <a:t>Gauthier,</a:t>
            </a:r>
            <a:r>
              <a:rPr sz="800" i="1" spc="65" dirty="0">
                <a:solidFill>
                  <a:srgbClr val="313131"/>
                </a:solidFill>
                <a:latin typeface="Verdana"/>
                <a:cs typeface="Verdana"/>
              </a:rPr>
              <a:t> </a:t>
            </a:r>
            <a:r>
              <a:rPr sz="800" i="1" spc="-5" dirty="0">
                <a:solidFill>
                  <a:srgbClr val="313131"/>
                </a:solidFill>
                <a:latin typeface="Verdana"/>
                <a:cs typeface="Verdana"/>
              </a:rPr>
              <a:t>2015</a:t>
            </a:r>
            <a:endParaRPr sz="800">
              <a:solidFill>
                <a:prstClr val="black"/>
              </a:solidFill>
              <a:latin typeface="Verdana"/>
              <a:cs typeface="Verdana"/>
            </a:endParaRPr>
          </a:p>
        </p:txBody>
      </p:sp>
      <p:sp>
        <p:nvSpPr>
          <p:cNvPr id="13" name="object 13"/>
          <p:cNvSpPr txBox="1"/>
          <p:nvPr/>
        </p:nvSpPr>
        <p:spPr>
          <a:xfrm>
            <a:off x="63500" y="3502426"/>
            <a:ext cx="1150620" cy="766445"/>
          </a:xfrm>
          <a:prstGeom prst="rect">
            <a:avLst/>
          </a:prstGeom>
        </p:spPr>
        <p:txBody>
          <a:bodyPr vert="horz" wrap="square" lIns="0" tIns="12700" rIns="0" bIns="0" rtlCol="0">
            <a:spAutoFit/>
          </a:bodyPr>
          <a:lstStyle/>
          <a:p>
            <a:pPr marR="5080" algn="r">
              <a:spcBef>
                <a:spcPts val="100"/>
              </a:spcBef>
            </a:pPr>
            <a:r>
              <a:rPr sz="1100" i="1" dirty="0">
                <a:solidFill>
                  <a:srgbClr val="313131"/>
                </a:solidFill>
                <a:latin typeface="Verdana"/>
                <a:cs typeface="Verdana"/>
              </a:rPr>
              <a:t>y</a:t>
            </a:r>
            <a:r>
              <a:rPr sz="1100" i="1" spc="-55" dirty="0">
                <a:solidFill>
                  <a:srgbClr val="313131"/>
                </a:solidFill>
                <a:latin typeface="Verdana"/>
                <a:cs typeface="Verdana"/>
              </a:rPr>
              <a:t> </a:t>
            </a:r>
            <a:r>
              <a:rPr sz="1100" dirty="0">
                <a:solidFill>
                  <a:srgbClr val="313131"/>
                </a:solidFill>
                <a:latin typeface="Verdana"/>
                <a:cs typeface="Verdana"/>
              </a:rPr>
              <a:t>=</a:t>
            </a:r>
            <a:r>
              <a:rPr sz="1100" spc="-55" dirty="0">
                <a:solidFill>
                  <a:srgbClr val="313131"/>
                </a:solidFill>
                <a:latin typeface="Verdana"/>
                <a:cs typeface="Verdana"/>
              </a:rPr>
              <a:t> </a:t>
            </a:r>
            <a:r>
              <a:rPr sz="1100" spc="-5" dirty="0">
                <a:solidFill>
                  <a:srgbClr val="313131"/>
                </a:solidFill>
                <a:latin typeface="Verdana"/>
                <a:cs typeface="Verdana"/>
              </a:rPr>
              <a:t>Senior</a:t>
            </a:r>
            <a:endParaRPr sz="1100">
              <a:solidFill>
                <a:prstClr val="black"/>
              </a:solidFill>
              <a:latin typeface="Verdana"/>
              <a:cs typeface="Verdana"/>
            </a:endParaRPr>
          </a:p>
          <a:p>
            <a:endParaRPr sz="1300">
              <a:solidFill>
                <a:prstClr val="black"/>
              </a:solidFill>
              <a:latin typeface="Verdana"/>
              <a:cs typeface="Verdana"/>
            </a:endParaRPr>
          </a:p>
          <a:p>
            <a:pPr>
              <a:spcBef>
                <a:spcPts val="30"/>
              </a:spcBef>
            </a:pPr>
            <a:endParaRPr sz="1300">
              <a:solidFill>
                <a:prstClr val="black"/>
              </a:solidFill>
              <a:latin typeface="Verdana"/>
              <a:cs typeface="Verdana"/>
            </a:endParaRPr>
          </a:p>
          <a:p>
            <a:pPr marR="10160" algn="r">
              <a:spcBef>
                <a:spcPts val="5"/>
              </a:spcBef>
            </a:pPr>
            <a:r>
              <a:rPr sz="1100" i="1" dirty="0">
                <a:solidFill>
                  <a:srgbClr val="313131"/>
                </a:solidFill>
                <a:latin typeface="Verdana"/>
                <a:cs typeface="Verdana"/>
              </a:rPr>
              <a:t>y</a:t>
            </a:r>
            <a:r>
              <a:rPr sz="1100" i="1" spc="-40" dirty="0">
                <a:solidFill>
                  <a:srgbClr val="313131"/>
                </a:solidFill>
                <a:latin typeface="Verdana"/>
                <a:cs typeface="Verdana"/>
              </a:rPr>
              <a:t> </a:t>
            </a:r>
            <a:r>
              <a:rPr sz="1100" dirty="0">
                <a:solidFill>
                  <a:srgbClr val="313131"/>
                </a:solidFill>
                <a:latin typeface="Verdana"/>
                <a:cs typeface="Verdana"/>
              </a:rPr>
              <a:t>=</a:t>
            </a:r>
            <a:r>
              <a:rPr sz="1100" spc="-35" dirty="0">
                <a:solidFill>
                  <a:srgbClr val="313131"/>
                </a:solidFill>
                <a:latin typeface="Verdana"/>
                <a:cs typeface="Verdana"/>
              </a:rPr>
              <a:t> </a:t>
            </a:r>
            <a:r>
              <a:rPr sz="1100" spc="-5" dirty="0">
                <a:solidFill>
                  <a:srgbClr val="313131"/>
                </a:solidFill>
                <a:latin typeface="Verdana"/>
                <a:cs typeface="Verdana"/>
              </a:rPr>
              <a:t>Mouth</a:t>
            </a:r>
            <a:r>
              <a:rPr sz="1100" spc="-35" dirty="0">
                <a:solidFill>
                  <a:srgbClr val="313131"/>
                </a:solidFill>
                <a:latin typeface="Verdana"/>
                <a:cs typeface="Verdana"/>
              </a:rPr>
              <a:t> </a:t>
            </a:r>
            <a:r>
              <a:rPr sz="1100" spc="-5" dirty="0">
                <a:solidFill>
                  <a:srgbClr val="313131"/>
                </a:solidFill>
                <a:latin typeface="Verdana"/>
                <a:cs typeface="Verdana"/>
              </a:rPr>
              <a:t>open</a:t>
            </a:r>
            <a:endParaRPr sz="1100">
              <a:solidFill>
                <a:prstClr val="black"/>
              </a:solidFill>
              <a:latin typeface="Verdana"/>
              <a:cs typeface="Verdana"/>
            </a:endParaRPr>
          </a:p>
        </p:txBody>
      </p:sp>
      <p:sp>
        <p:nvSpPr>
          <p:cNvPr id="14" name="object 14"/>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17" name="Picture 2" descr="E:\NIET\Project\xLogo11.png.pagespeed.ic.pydHLuCQEZ.png">
            <a:extLst>
              <a:ext uri="{FF2B5EF4-FFF2-40B4-BE49-F238E27FC236}">
                <a16:creationId xmlns:a16="http://schemas.microsoft.com/office/drawing/2014/main" id="{0CA60845-0C70-3B27-EFC4-61A99FC50164}"/>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8" name="Title 1">
            <a:extLst>
              <a:ext uri="{FF2B5EF4-FFF2-40B4-BE49-F238E27FC236}">
                <a16:creationId xmlns:a16="http://schemas.microsoft.com/office/drawing/2014/main" id="{D1A4D021-3412-CBB9-9DAB-F953E1F86C19}"/>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Generative Adversarial Networks </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60126" y="5727135"/>
            <a:ext cx="2687955" cy="185420"/>
          </a:xfrm>
          <a:prstGeom prst="rect">
            <a:avLst/>
          </a:prstGeom>
        </p:spPr>
        <p:txBody>
          <a:bodyPr vert="horz" wrap="square" lIns="0" tIns="635" rIns="0" bIns="0" rtlCol="0">
            <a:spAutoFit/>
          </a:bodyPr>
          <a:lstStyle/>
          <a:p>
            <a:pPr>
              <a:spcBef>
                <a:spcPts val="5"/>
              </a:spcBef>
            </a:pPr>
            <a:r>
              <a:rPr sz="1200" spc="-5" dirty="0">
                <a:solidFill>
                  <a:srgbClr val="313131"/>
                </a:solidFill>
                <a:latin typeface="Verdana"/>
                <a:cs typeface="Verdana"/>
              </a:rPr>
              <a:t>Deep</a:t>
            </a:r>
            <a:r>
              <a:rPr sz="1200" spc="-25" dirty="0">
                <a:solidFill>
                  <a:srgbClr val="313131"/>
                </a:solidFill>
                <a:latin typeface="Verdana"/>
                <a:cs typeface="Verdana"/>
              </a:rPr>
              <a:t> </a:t>
            </a:r>
            <a:r>
              <a:rPr sz="1200" spc="-5" dirty="0">
                <a:solidFill>
                  <a:srgbClr val="313131"/>
                </a:solidFill>
                <a:latin typeface="Verdana"/>
                <a:cs typeface="Verdana"/>
              </a:rPr>
              <a:t>Learning</a:t>
            </a:r>
            <a:r>
              <a:rPr sz="1200" spc="-25" dirty="0">
                <a:solidFill>
                  <a:srgbClr val="313131"/>
                </a:solidFill>
                <a:latin typeface="Verdana"/>
                <a:cs typeface="Verdana"/>
              </a:rPr>
              <a:t> </a:t>
            </a:r>
            <a:r>
              <a:rPr sz="1200" spc="-5" dirty="0">
                <a:solidFill>
                  <a:srgbClr val="313131"/>
                </a:solidFill>
                <a:latin typeface="Verdana"/>
                <a:cs typeface="Verdana"/>
              </a:rPr>
              <a:t>for</a:t>
            </a:r>
            <a:r>
              <a:rPr sz="1200" spc="-25" dirty="0">
                <a:solidFill>
                  <a:srgbClr val="313131"/>
                </a:solidFill>
                <a:latin typeface="Verdana"/>
                <a:cs typeface="Verdana"/>
              </a:rPr>
              <a:t> </a:t>
            </a:r>
            <a:r>
              <a:rPr sz="1200" spc="-5" dirty="0">
                <a:solidFill>
                  <a:srgbClr val="313131"/>
                </a:solidFill>
                <a:latin typeface="Verdana"/>
                <a:cs typeface="Verdana"/>
              </a:rPr>
              <a:t>Computer</a:t>
            </a:r>
            <a:r>
              <a:rPr sz="1200" spc="-20" dirty="0">
                <a:solidFill>
                  <a:srgbClr val="313131"/>
                </a:solidFill>
                <a:latin typeface="Verdana"/>
                <a:cs typeface="Verdana"/>
              </a:rPr>
              <a:t> </a:t>
            </a:r>
            <a:r>
              <a:rPr sz="1200" spc="-5" dirty="0">
                <a:solidFill>
                  <a:srgbClr val="313131"/>
                </a:solidFill>
                <a:latin typeface="Verdana"/>
                <a:cs typeface="Verdana"/>
              </a:rPr>
              <a:t>Vision</a:t>
            </a:r>
            <a:endParaRPr sz="1200">
              <a:solidFill>
                <a:prstClr val="black"/>
              </a:solidFill>
              <a:latin typeface="Verdana"/>
              <a:cs typeface="Verdana"/>
            </a:endParaRPr>
          </a:p>
        </p:txBody>
      </p:sp>
      <p:sp>
        <p:nvSpPr>
          <p:cNvPr id="3" name="object 3"/>
          <p:cNvSpPr/>
          <p:nvPr/>
        </p:nvSpPr>
        <p:spPr>
          <a:xfrm>
            <a:off x="177169" y="857252"/>
            <a:ext cx="7239000" cy="108585"/>
          </a:xfrm>
          <a:custGeom>
            <a:avLst/>
            <a:gdLst/>
            <a:ahLst/>
            <a:cxnLst/>
            <a:rect l="l" t="t" r="r" b="b"/>
            <a:pathLst>
              <a:path w="7239000" h="108585">
                <a:moveTo>
                  <a:pt x="7238699" y="107999"/>
                </a:moveTo>
                <a:lnTo>
                  <a:pt x="0" y="107999"/>
                </a:lnTo>
                <a:lnTo>
                  <a:pt x="0" y="0"/>
                </a:lnTo>
                <a:lnTo>
                  <a:pt x="7238699" y="0"/>
                </a:lnTo>
                <a:lnTo>
                  <a:pt x="7238699" y="107999"/>
                </a:lnTo>
                <a:close/>
              </a:path>
            </a:pathLst>
          </a:custGeom>
          <a:solidFill>
            <a:srgbClr val="F6A800"/>
          </a:solidFill>
        </p:spPr>
        <p:txBody>
          <a:bodyPr wrap="square" lIns="0" tIns="0" rIns="0" bIns="0" rtlCol="0"/>
          <a:lstStyle/>
          <a:p>
            <a:endParaRPr>
              <a:solidFill>
                <a:prstClr val="black"/>
              </a:solidFill>
              <a:latin typeface="Calibri"/>
            </a:endParaRPr>
          </a:p>
        </p:txBody>
      </p:sp>
      <p:sp>
        <p:nvSpPr>
          <p:cNvPr id="4" name="object 4"/>
          <p:cNvSpPr/>
          <p:nvPr/>
        </p:nvSpPr>
        <p:spPr>
          <a:xfrm>
            <a:off x="177169" y="1888828"/>
            <a:ext cx="7239000" cy="25400"/>
          </a:xfrm>
          <a:custGeom>
            <a:avLst/>
            <a:gdLst/>
            <a:ahLst/>
            <a:cxnLst/>
            <a:rect l="l" t="t" r="r" b="b"/>
            <a:pathLst>
              <a:path w="7239000" h="25400">
                <a:moveTo>
                  <a:pt x="7238699" y="25199"/>
                </a:moveTo>
                <a:lnTo>
                  <a:pt x="0" y="25199"/>
                </a:lnTo>
                <a:lnTo>
                  <a:pt x="0" y="0"/>
                </a:lnTo>
                <a:lnTo>
                  <a:pt x="7238699" y="0"/>
                </a:lnTo>
                <a:lnTo>
                  <a:pt x="7238699" y="25199"/>
                </a:lnTo>
                <a:close/>
              </a:path>
            </a:pathLst>
          </a:custGeom>
          <a:solidFill>
            <a:srgbClr val="DD640C"/>
          </a:solidFill>
        </p:spPr>
        <p:txBody>
          <a:bodyPr wrap="square" lIns="0" tIns="0" rIns="0" bIns="0" rtlCol="0"/>
          <a:lstStyle/>
          <a:p>
            <a:endParaRPr>
              <a:solidFill>
                <a:prstClr val="black"/>
              </a:solidFill>
              <a:latin typeface="Calibri"/>
            </a:endParaRPr>
          </a:p>
        </p:txBody>
      </p:sp>
      <p:sp>
        <p:nvSpPr>
          <p:cNvPr id="15" name="Footer Placeholder 14">
            <a:extLst>
              <a:ext uri="{FF2B5EF4-FFF2-40B4-BE49-F238E27FC236}">
                <a16:creationId xmlns:a16="http://schemas.microsoft.com/office/drawing/2014/main" id="{14AD1DB7-2BEB-EE78-01AF-14FA0E7931E5}"/>
              </a:ext>
            </a:extLst>
          </p:cNvPr>
          <p:cNvSpPr>
            <a:spLocks noGrp="1"/>
          </p:cNvSpPr>
          <p:nvPr>
            <p:ph type="ftr" sz="quarter" idx="5"/>
          </p:nvPr>
        </p:nvSpPr>
        <p:spPr/>
        <p:txBody>
          <a:bodyPr/>
          <a:lstStyle/>
          <a:p>
            <a:pPr>
              <a:spcBef>
                <a:spcPts val="5"/>
              </a:spcBef>
            </a:pPr>
            <a:endParaRPr lang="en-IN" spc="-5" dirty="0"/>
          </a:p>
        </p:txBody>
      </p:sp>
      <p:sp>
        <p:nvSpPr>
          <p:cNvPr id="6" name="object 6"/>
          <p:cNvSpPr txBox="1">
            <a:spLocks noGrp="1"/>
          </p:cNvSpPr>
          <p:nvPr>
            <p:ph type="title" idx="4294967295"/>
          </p:nvPr>
        </p:nvSpPr>
        <p:spPr>
          <a:xfrm>
            <a:off x="0" y="1254125"/>
            <a:ext cx="2533650" cy="330200"/>
          </a:xfrm>
          <a:prstGeom prst="rect">
            <a:avLst/>
          </a:prstGeom>
        </p:spPr>
        <p:txBody>
          <a:bodyPr vert="horz" wrap="square" lIns="0" tIns="12700" rIns="0" bIns="0" rtlCol="0">
            <a:spAutoFit/>
          </a:bodyPr>
          <a:lstStyle/>
          <a:p>
            <a:pPr marL="12700">
              <a:spcBef>
                <a:spcPts val="100"/>
              </a:spcBef>
            </a:pPr>
            <a:r>
              <a:rPr spc="-5" dirty="0"/>
              <a:t>Limitations</a:t>
            </a:r>
            <a:r>
              <a:rPr spc="-50" dirty="0"/>
              <a:t> </a:t>
            </a:r>
            <a:r>
              <a:rPr spc="-5" dirty="0"/>
              <a:t>of</a:t>
            </a:r>
            <a:r>
              <a:rPr spc="-45" dirty="0"/>
              <a:t> </a:t>
            </a:r>
            <a:r>
              <a:rPr spc="-5" dirty="0"/>
              <a:t>GANs</a:t>
            </a:r>
          </a:p>
        </p:txBody>
      </p:sp>
      <p:sp>
        <p:nvSpPr>
          <p:cNvPr id="7" name="object 7"/>
          <p:cNvSpPr txBox="1"/>
          <p:nvPr/>
        </p:nvSpPr>
        <p:spPr>
          <a:xfrm>
            <a:off x="7521575" y="5493070"/>
            <a:ext cx="655320" cy="415925"/>
          </a:xfrm>
          <a:prstGeom prst="rect">
            <a:avLst/>
          </a:prstGeom>
        </p:spPr>
        <p:txBody>
          <a:bodyPr vert="horz" wrap="square" lIns="0" tIns="635" rIns="0" bIns="0" rtlCol="0">
            <a:spAutoFit/>
          </a:bodyPr>
          <a:lstStyle/>
          <a:p>
            <a:pPr>
              <a:spcBef>
                <a:spcPts val="5"/>
              </a:spcBef>
            </a:pPr>
            <a:r>
              <a:rPr sz="1050" spc="-5" dirty="0">
                <a:solidFill>
                  <a:srgbClr val="313131"/>
                </a:solidFill>
                <a:latin typeface="Verdana"/>
                <a:cs typeface="Verdana"/>
              </a:rPr>
              <a:t>Chart</a:t>
            </a:r>
            <a:r>
              <a:rPr sz="1050" spc="-50" dirty="0">
                <a:solidFill>
                  <a:srgbClr val="313131"/>
                </a:solidFill>
                <a:latin typeface="Verdana"/>
                <a:cs typeface="Verdana"/>
              </a:rPr>
              <a:t> </a:t>
            </a:r>
            <a:r>
              <a:rPr sz="1050" b="1" spc="-5" dirty="0">
                <a:solidFill>
                  <a:srgbClr val="313131"/>
                </a:solidFill>
                <a:latin typeface="Verdana"/>
                <a:cs typeface="Verdana"/>
              </a:rPr>
              <a:t>41</a:t>
            </a:r>
            <a:endParaRPr sz="1050">
              <a:solidFill>
                <a:prstClr val="black"/>
              </a:solidFill>
              <a:latin typeface="Verdana"/>
              <a:cs typeface="Verdana"/>
            </a:endParaRPr>
          </a:p>
          <a:p>
            <a:pPr marL="71755">
              <a:spcBef>
                <a:spcPts val="735"/>
              </a:spcBef>
            </a:pPr>
            <a:r>
              <a:rPr sz="1050" spc="-5" dirty="0">
                <a:solidFill>
                  <a:srgbClr val="313131"/>
                </a:solidFill>
                <a:latin typeface="Verdana"/>
                <a:cs typeface="Verdana"/>
              </a:rPr>
              <a:t>Char</a:t>
            </a:r>
            <a:r>
              <a:rPr sz="1050" dirty="0">
                <a:solidFill>
                  <a:srgbClr val="313131"/>
                </a:solidFill>
                <a:latin typeface="Verdana"/>
                <a:cs typeface="Verdana"/>
              </a:rPr>
              <a:t>t</a:t>
            </a:r>
            <a:r>
              <a:rPr sz="1050" spc="-5" dirty="0">
                <a:solidFill>
                  <a:srgbClr val="313131"/>
                </a:solidFill>
                <a:latin typeface="Verdana"/>
                <a:cs typeface="Verdana"/>
              </a:rPr>
              <a:t> 41</a:t>
            </a:r>
            <a:endParaRPr sz="1050">
              <a:solidFill>
                <a:prstClr val="black"/>
              </a:solidFill>
              <a:latin typeface="Verdana"/>
              <a:cs typeface="Verdana"/>
            </a:endParaRPr>
          </a:p>
        </p:txBody>
      </p:sp>
      <p:sp>
        <p:nvSpPr>
          <p:cNvPr id="8" name="object 8"/>
          <p:cNvSpPr txBox="1"/>
          <p:nvPr/>
        </p:nvSpPr>
        <p:spPr>
          <a:xfrm>
            <a:off x="387424" y="2163001"/>
            <a:ext cx="6727190" cy="2987997"/>
          </a:xfrm>
          <a:prstGeom prst="rect">
            <a:avLst/>
          </a:prstGeom>
        </p:spPr>
        <p:txBody>
          <a:bodyPr vert="horz" wrap="square" lIns="0" tIns="12700" rIns="0" bIns="0" rtlCol="0">
            <a:spAutoFit/>
          </a:bodyPr>
          <a:lstStyle/>
          <a:p>
            <a:pPr marL="415290" indent="-403225">
              <a:spcBef>
                <a:spcPts val="100"/>
              </a:spcBef>
              <a:buClr>
                <a:srgbClr val="B10639"/>
              </a:buClr>
              <a:buFont typeface="Times New Roman"/>
              <a:buAutoNum type="arabicPeriod"/>
              <a:tabLst>
                <a:tab pos="415290" algn="l"/>
                <a:tab pos="415925" algn="l"/>
              </a:tabLst>
            </a:pPr>
            <a:r>
              <a:rPr sz="1400" b="1" spc="-5" dirty="0">
                <a:solidFill>
                  <a:srgbClr val="313131"/>
                </a:solidFill>
                <a:latin typeface="Verdana"/>
                <a:cs typeface="Verdana"/>
              </a:rPr>
              <a:t>Training</a:t>
            </a:r>
            <a:r>
              <a:rPr sz="1400" b="1" spc="-55" dirty="0">
                <a:solidFill>
                  <a:srgbClr val="313131"/>
                </a:solidFill>
                <a:latin typeface="Verdana"/>
                <a:cs typeface="Verdana"/>
              </a:rPr>
              <a:t> </a:t>
            </a:r>
            <a:r>
              <a:rPr sz="1400" b="1" spc="-5" dirty="0">
                <a:solidFill>
                  <a:srgbClr val="313131"/>
                </a:solidFill>
                <a:latin typeface="Verdana"/>
                <a:cs typeface="Verdana"/>
              </a:rPr>
              <a:t>instability</a:t>
            </a:r>
            <a:endParaRPr sz="1400" dirty="0">
              <a:solidFill>
                <a:prstClr val="black"/>
              </a:solidFill>
              <a:latin typeface="Verdana"/>
              <a:cs typeface="Verdana"/>
            </a:endParaRPr>
          </a:p>
          <a:p>
            <a:pPr>
              <a:spcBef>
                <a:spcPts val="55"/>
              </a:spcBef>
              <a:buFontTx/>
              <a:buAutoNum type="arabicPeriod"/>
            </a:pPr>
            <a:endParaRPr sz="1350" dirty="0">
              <a:solidFill>
                <a:prstClr val="black"/>
              </a:solidFill>
              <a:latin typeface="Verdana"/>
              <a:cs typeface="Verdana"/>
            </a:endParaRPr>
          </a:p>
          <a:p>
            <a:pPr marL="687070" marR="90805" lvl="1" indent="-293370">
              <a:lnSpc>
                <a:spcPts val="1650"/>
              </a:lnSpc>
              <a:spcBef>
                <a:spcPts val="5"/>
              </a:spcBef>
              <a:buClr>
                <a:srgbClr val="B10639"/>
              </a:buClr>
              <a:buFont typeface="Arial MT"/>
              <a:buChar char="○"/>
              <a:tabLst>
                <a:tab pos="686435" algn="l"/>
                <a:tab pos="687070" algn="l"/>
              </a:tabLst>
            </a:pPr>
            <a:r>
              <a:rPr sz="1400" spc="-5" dirty="0">
                <a:solidFill>
                  <a:srgbClr val="313131"/>
                </a:solidFill>
                <a:latin typeface="Verdana"/>
                <a:cs typeface="Verdana"/>
              </a:rPr>
              <a:t>Good sample generation requires reaching Nash Equilibrium in the </a:t>
            </a:r>
            <a:r>
              <a:rPr sz="1400" spc="-480" dirty="0">
                <a:solidFill>
                  <a:srgbClr val="313131"/>
                </a:solidFill>
                <a:latin typeface="Verdana"/>
                <a:cs typeface="Verdana"/>
              </a:rPr>
              <a:t> </a:t>
            </a:r>
            <a:r>
              <a:rPr sz="1400" spc="-5" dirty="0">
                <a:solidFill>
                  <a:srgbClr val="313131"/>
                </a:solidFill>
                <a:latin typeface="Verdana"/>
                <a:cs typeface="Verdana"/>
              </a:rPr>
              <a:t>game,</a:t>
            </a:r>
            <a:r>
              <a:rPr sz="1400" spc="-10" dirty="0">
                <a:solidFill>
                  <a:srgbClr val="313131"/>
                </a:solidFill>
                <a:latin typeface="Verdana"/>
                <a:cs typeface="Verdana"/>
              </a:rPr>
              <a:t> </a:t>
            </a:r>
            <a:r>
              <a:rPr sz="1400" spc="-5" dirty="0">
                <a:solidFill>
                  <a:srgbClr val="313131"/>
                </a:solidFill>
                <a:latin typeface="Verdana"/>
                <a:cs typeface="Verdana"/>
              </a:rPr>
              <a:t>which might not</a:t>
            </a:r>
            <a:r>
              <a:rPr sz="1400" spc="-10" dirty="0">
                <a:solidFill>
                  <a:srgbClr val="313131"/>
                </a:solidFill>
                <a:latin typeface="Verdana"/>
                <a:cs typeface="Verdana"/>
              </a:rPr>
              <a:t> </a:t>
            </a:r>
            <a:r>
              <a:rPr sz="1400" spc="-5" dirty="0">
                <a:solidFill>
                  <a:srgbClr val="313131"/>
                </a:solidFill>
                <a:latin typeface="Verdana"/>
                <a:cs typeface="Verdana"/>
              </a:rPr>
              <a:t>always happen</a:t>
            </a:r>
            <a:endParaRPr sz="1400" dirty="0">
              <a:solidFill>
                <a:prstClr val="black"/>
              </a:solidFill>
              <a:latin typeface="Verdana"/>
              <a:cs typeface="Verdana"/>
            </a:endParaRPr>
          </a:p>
          <a:p>
            <a:pPr lvl="1">
              <a:spcBef>
                <a:spcPts val="50"/>
              </a:spcBef>
              <a:buClr>
                <a:srgbClr val="B10639"/>
              </a:buClr>
              <a:buFont typeface="Arial MT"/>
              <a:buChar char="○"/>
            </a:pPr>
            <a:endParaRPr sz="1250" dirty="0">
              <a:solidFill>
                <a:prstClr val="black"/>
              </a:solidFill>
              <a:latin typeface="Verdana"/>
              <a:cs typeface="Verdana"/>
            </a:endParaRPr>
          </a:p>
          <a:p>
            <a:pPr marL="415290" indent="-403225">
              <a:buClr>
                <a:srgbClr val="B10639"/>
              </a:buClr>
              <a:buFont typeface="Times New Roman"/>
              <a:buAutoNum type="arabicPeriod"/>
              <a:tabLst>
                <a:tab pos="415290" algn="l"/>
                <a:tab pos="415925" algn="l"/>
              </a:tabLst>
            </a:pPr>
            <a:r>
              <a:rPr sz="1400" b="1" spc="-5" dirty="0">
                <a:solidFill>
                  <a:srgbClr val="313131"/>
                </a:solidFill>
                <a:latin typeface="Verdana"/>
                <a:cs typeface="Verdana"/>
              </a:rPr>
              <a:t>Mode</a:t>
            </a:r>
            <a:r>
              <a:rPr sz="1400" b="1" spc="-55" dirty="0">
                <a:solidFill>
                  <a:srgbClr val="313131"/>
                </a:solidFill>
                <a:latin typeface="Verdana"/>
                <a:cs typeface="Verdana"/>
              </a:rPr>
              <a:t> </a:t>
            </a:r>
            <a:r>
              <a:rPr sz="1400" b="1" spc="-5" dirty="0">
                <a:solidFill>
                  <a:srgbClr val="313131"/>
                </a:solidFill>
                <a:latin typeface="Verdana"/>
                <a:cs typeface="Verdana"/>
              </a:rPr>
              <a:t>collapse</a:t>
            </a:r>
            <a:endParaRPr sz="1400" dirty="0">
              <a:solidFill>
                <a:prstClr val="black"/>
              </a:solidFill>
              <a:latin typeface="Verdana"/>
              <a:cs typeface="Verdana"/>
            </a:endParaRPr>
          </a:p>
          <a:p>
            <a:pPr>
              <a:spcBef>
                <a:spcPts val="55"/>
              </a:spcBef>
              <a:buFontTx/>
              <a:buAutoNum type="arabicPeriod"/>
            </a:pPr>
            <a:endParaRPr sz="1350" dirty="0">
              <a:solidFill>
                <a:prstClr val="black"/>
              </a:solidFill>
              <a:latin typeface="Verdana"/>
              <a:cs typeface="Verdana"/>
            </a:endParaRPr>
          </a:p>
          <a:p>
            <a:pPr marL="687070" marR="258445" lvl="1" indent="-293370">
              <a:lnSpc>
                <a:spcPts val="1650"/>
              </a:lnSpc>
              <a:spcBef>
                <a:spcPts val="5"/>
              </a:spcBef>
              <a:buClr>
                <a:srgbClr val="B10639"/>
              </a:buClr>
              <a:buFont typeface="Arial MT"/>
              <a:buChar char="○"/>
              <a:tabLst>
                <a:tab pos="686435" algn="l"/>
                <a:tab pos="687070" algn="l"/>
              </a:tabLst>
            </a:pPr>
            <a:r>
              <a:rPr sz="1400" spc="-5" dirty="0">
                <a:solidFill>
                  <a:srgbClr val="313131"/>
                </a:solidFill>
                <a:latin typeface="Verdana"/>
                <a:cs typeface="Verdana"/>
              </a:rPr>
              <a:t>When </a:t>
            </a:r>
            <a:r>
              <a:rPr sz="1400" dirty="0">
                <a:solidFill>
                  <a:srgbClr val="313131"/>
                </a:solidFill>
                <a:latin typeface="Verdana"/>
                <a:cs typeface="Verdana"/>
              </a:rPr>
              <a:t>G </a:t>
            </a:r>
            <a:r>
              <a:rPr sz="1400" spc="-5" dirty="0">
                <a:solidFill>
                  <a:srgbClr val="313131"/>
                </a:solidFill>
                <a:latin typeface="Verdana"/>
                <a:cs typeface="Verdana"/>
              </a:rPr>
              <a:t>is able to fool </a:t>
            </a:r>
            <a:r>
              <a:rPr sz="1400" dirty="0">
                <a:solidFill>
                  <a:srgbClr val="313131"/>
                </a:solidFill>
                <a:latin typeface="Verdana"/>
                <a:cs typeface="Verdana"/>
              </a:rPr>
              <a:t>D </a:t>
            </a:r>
            <a:r>
              <a:rPr sz="1400" spc="-5" dirty="0">
                <a:solidFill>
                  <a:srgbClr val="313131"/>
                </a:solidFill>
                <a:latin typeface="Verdana"/>
                <a:cs typeface="Verdana"/>
              </a:rPr>
              <a:t>by generating similarly looking samples </a:t>
            </a:r>
            <a:r>
              <a:rPr sz="1400" spc="-480" dirty="0">
                <a:solidFill>
                  <a:srgbClr val="313131"/>
                </a:solidFill>
                <a:latin typeface="Verdana"/>
                <a:cs typeface="Verdana"/>
              </a:rPr>
              <a:t> </a:t>
            </a:r>
            <a:r>
              <a:rPr sz="1400" spc="-5" dirty="0">
                <a:solidFill>
                  <a:srgbClr val="313131"/>
                </a:solidFill>
                <a:latin typeface="Verdana"/>
                <a:cs typeface="Verdana"/>
              </a:rPr>
              <a:t>from</a:t>
            </a:r>
            <a:r>
              <a:rPr sz="1400" spc="-10" dirty="0">
                <a:solidFill>
                  <a:srgbClr val="313131"/>
                </a:solidFill>
                <a:latin typeface="Verdana"/>
                <a:cs typeface="Verdana"/>
              </a:rPr>
              <a:t> </a:t>
            </a:r>
            <a:r>
              <a:rPr sz="1400" spc="-5" dirty="0">
                <a:solidFill>
                  <a:srgbClr val="313131"/>
                </a:solidFill>
                <a:latin typeface="Verdana"/>
                <a:cs typeface="Verdana"/>
              </a:rPr>
              <a:t>the same data</a:t>
            </a:r>
            <a:r>
              <a:rPr sz="1400" spc="-10" dirty="0">
                <a:solidFill>
                  <a:srgbClr val="313131"/>
                </a:solidFill>
                <a:latin typeface="Verdana"/>
                <a:cs typeface="Verdana"/>
              </a:rPr>
              <a:t> </a:t>
            </a:r>
            <a:r>
              <a:rPr sz="1400" spc="-5" dirty="0">
                <a:solidFill>
                  <a:srgbClr val="313131"/>
                </a:solidFill>
                <a:latin typeface="Verdana"/>
                <a:cs typeface="Verdana"/>
              </a:rPr>
              <a:t>mode</a:t>
            </a:r>
            <a:endParaRPr sz="1400" dirty="0">
              <a:solidFill>
                <a:prstClr val="black"/>
              </a:solidFill>
              <a:latin typeface="Verdana"/>
              <a:cs typeface="Verdana"/>
            </a:endParaRPr>
          </a:p>
          <a:p>
            <a:pPr lvl="1">
              <a:spcBef>
                <a:spcPts val="5"/>
              </a:spcBef>
              <a:buClr>
                <a:srgbClr val="B10639"/>
              </a:buClr>
              <a:buFont typeface="Arial MT"/>
              <a:buChar char="○"/>
            </a:pPr>
            <a:endParaRPr sz="1350" dirty="0">
              <a:solidFill>
                <a:prstClr val="black"/>
              </a:solidFill>
              <a:latin typeface="Verdana"/>
              <a:cs typeface="Verdana"/>
            </a:endParaRPr>
          </a:p>
          <a:p>
            <a:pPr marL="415290" marR="5080" indent="-403225">
              <a:lnSpc>
                <a:spcPts val="1650"/>
              </a:lnSpc>
              <a:buClr>
                <a:srgbClr val="B10639"/>
              </a:buClr>
              <a:buFont typeface="Times New Roman"/>
              <a:buAutoNum type="arabicPeriod"/>
              <a:tabLst>
                <a:tab pos="415290" algn="l"/>
                <a:tab pos="415925" algn="l"/>
              </a:tabLst>
            </a:pPr>
            <a:r>
              <a:rPr sz="1400" spc="-5" dirty="0">
                <a:solidFill>
                  <a:srgbClr val="313131"/>
                </a:solidFill>
                <a:latin typeface="Verdana"/>
                <a:cs typeface="Verdana"/>
              </a:rPr>
              <a:t>GANs were original made to work only with </a:t>
            </a:r>
            <a:r>
              <a:rPr sz="1400" b="1" spc="-5" dirty="0">
                <a:solidFill>
                  <a:srgbClr val="313131"/>
                </a:solidFill>
                <a:latin typeface="Verdana"/>
                <a:cs typeface="Verdana"/>
              </a:rPr>
              <a:t>real-valued, continuous </a:t>
            </a:r>
            <a:r>
              <a:rPr sz="1400" b="1" spc="-465" dirty="0">
                <a:solidFill>
                  <a:srgbClr val="313131"/>
                </a:solidFill>
                <a:latin typeface="Verdana"/>
                <a:cs typeface="Verdana"/>
              </a:rPr>
              <a:t> </a:t>
            </a:r>
            <a:r>
              <a:rPr sz="1400" b="1" spc="-5" dirty="0">
                <a:solidFill>
                  <a:srgbClr val="313131"/>
                </a:solidFill>
                <a:latin typeface="Verdana"/>
                <a:cs typeface="Verdana"/>
              </a:rPr>
              <a:t>data</a:t>
            </a:r>
            <a:r>
              <a:rPr sz="1400" b="1" spc="5" dirty="0">
                <a:solidFill>
                  <a:srgbClr val="313131"/>
                </a:solidFill>
                <a:latin typeface="Verdana"/>
                <a:cs typeface="Verdana"/>
              </a:rPr>
              <a:t> </a:t>
            </a:r>
            <a:r>
              <a:rPr sz="1400" spc="-5" dirty="0">
                <a:solidFill>
                  <a:srgbClr val="313131"/>
                </a:solidFill>
                <a:latin typeface="Verdana"/>
                <a:cs typeface="Verdana"/>
              </a:rPr>
              <a:t>(</a:t>
            </a:r>
            <a:r>
              <a:rPr sz="1400" i="1" spc="-5" dirty="0">
                <a:solidFill>
                  <a:srgbClr val="313131"/>
                </a:solidFill>
                <a:latin typeface="Verdana"/>
                <a:cs typeface="Verdana"/>
              </a:rPr>
              <a:t>e.g.</a:t>
            </a:r>
            <a:r>
              <a:rPr sz="1400" i="1" dirty="0">
                <a:solidFill>
                  <a:srgbClr val="313131"/>
                </a:solidFill>
                <a:latin typeface="Verdana"/>
                <a:cs typeface="Verdana"/>
              </a:rPr>
              <a:t> </a:t>
            </a:r>
            <a:r>
              <a:rPr sz="1400" spc="-5" dirty="0">
                <a:solidFill>
                  <a:srgbClr val="313131"/>
                </a:solidFill>
                <a:latin typeface="Verdana"/>
                <a:cs typeface="Verdana"/>
              </a:rPr>
              <a:t>images)</a:t>
            </a:r>
            <a:endParaRPr sz="1400" dirty="0">
              <a:solidFill>
                <a:prstClr val="black"/>
              </a:solidFill>
              <a:latin typeface="Verdana"/>
              <a:cs typeface="Verdana"/>
            </a:endParaRPr>
          </a:p>
          <a:p>
            <a:pPr marL="687070" lvl="1" indent="-293370">
              <a:spcBef>
                <a:spcPts val="1270"/>
              </a:spcBef>
              <a:buClr>
                <a:srgbClr val="B10639"/>
              </a:buClr>
              <a:buFont typeface="Arial MT"/>
              <a:buChar char="○"/>
              <a:tabLst>
                <a:tab pos="686435" algn="l"/>
                <a:tab pos="687070" algn="l"/>
              </a:tabLst>
            </a:pPr>
            <a:r>
              <a:rPr sz="1400" i="1" spc="-5" dirty="0">
                <a:solidFill>
                  <a:srgbClr val="313131"/>
                </a:solidFill>
                <a:latin typeface="Verdana"/>
                <a:cs typeface="Verdana"/>
              </a:rPr>
              <a:t>Slight</a:t>
            </a:r>
            <a:r>
              <a:rPr sz="1400" i="1" spc="-15" dirty="0">
                <a:solidFill>
                  <a:srgbClr val="313131"/>
                </a:solidFill>
                <a:latin typeface="Verdana"/>
                <a:cs typeface="Verdana"/>
              </a:rPr>
              <a:t> </a:t>
            </a:r>
            <a:r>
              <a:rPr sz="1400" i="1" spc="-5" dirty="0">
                <a:solidFill>
                  <a:srgbClr val="313131"/>
                </a:solidFill>
                <a:latin typeface="Verdana"/>
                <a:cs typeface="Verdana"/>
              </a:rPr>
              <a:t>changes</a:t>
            </a:r>
            <a:r>
              <a:rPr sz="1400" i="1" spc="15" dirty="0">
                <a:solidFill>
                  <a:srgbClr val="313131"/>
                </a:solidFill>
                <a:latin typeface="Verdana"/>
                <a:cs typeface="Verdana"/>
              </a:rPr>
              <a:t> </a:t>
            </a:r>
            <a:r>
              <a:rPr sz="1400" spc="-5" dirty="0">
                <a:solidFill>
                  <a:srgbClr val="313131"/>
                </a:solidFill>
                <a:latin typeface="Verdana"/>
                <a:cs typeface="Verdana"/>
              </a:rPr>
              <a:t>in</a:t>
            </a:r>
            <a:r>
              <a:rPr sz="1400" spc="-10" dirty="0">
                <a:solidFill>
                  <a:srgbClr val="313131"/>
                </a:solidFill>
                <a:latin typeface="Verdana"/>
                <a:cs typeface="Verdana"/>
              </a:rPr>
              <a:t> </a:t>
            </a:r>
            <a:r>
              <a:rPr sz="1400" b="1" spc="-5" dirty="0">
                <a:solidFill>
                  <a:srgbClr val="313131"/>
                </a:solidFill>
                <a:latin typeface="Verdana"/>
                <a:cs typeface="Verdana"/>
              </a:rPr>
              <a:t>discrete</a:t>
            </a:r>
            <a:r>
              <a:rPr sz="1400" b="1" spc="-10" dirty="0">
                <a:solidFill>
                  <a:srgbClr val="313131"/>
                </a:solidFill>
                <a:latin typeface="Verdana"/>
                <a:cs typeface="Verdana"/>
              </a:rPr>
              <a:t> </a:t>
            </a:r>
            <a:r>
              <a:rPr sz="1400" b="1" spc="-5" dirty="0">
                <a:solidFill>
                  <a:srgbClr val="313131"/>
                </a:solidFill>
                <a:latin typeface="Verdana"/>
                <a:cs typeface="Verdana"/>
              </a:rPr>
              <a:t>data </a:t>
            </a:r>
            <a:r>
              <a:rPr sz="1400" spc="-5" dirty="0">
                <a:solidFill>
                  <a:srgbClr val="313131"/>
                </a:solidFill>
                <a:latin typeface="Verdana"/>
                <a:cs typeface="Verdana"/>
              </a:rPr>
              <a:t>(</a:t>
            </a:r>
            <a:r>
              <a:rPr sz="1400" i="1" spc="-5" dirty="0">
                <a:solidFill>
                  <a:srgbClr val="313131"/>
                </a:solidFill>
                <a:latin typeface="Verdana"/>
                <a:cs typeface="Verdana"/>
              </a:rPr>
              <a:t>e.g.</a:t>
            </a:r>
            <a:r>
              <a:rPr sz="1400" i="1" spc="-10" dirty="0">
                <a:solidFill>
                  <a:srgbClr val="313131"/>
                </a:solidFill>
                <a:latin typeface="Verdana"/>
                <a:cs typeface="Verdana"/>
              </a:rPr>
              <a:t> </a:t>
            </a:r>
            <a:r>
              <a:rPr sz="1400" spc="-5" dirty="0">
                <a:solidFill>
                  <a:srgbClr val="313131"/>
                </a:solidFill>
                <a:latin typeface="Verdana"/>
                <a:cs typeface="Verdana"/>
              </a:rPr>
              <a:t>text)</a:t>
            </a:r>
            <a:r>
              <a:rPr sz="1400" spc="-10" dirty="0">
                <a:solidFill>
                  <a:srgbClr val="313131"/>
                </a:solidFill>
                <a:latin typeface="Verdana"/>
                <a:cs typeface="Verdana"/>
              </a:rPr>
              <a:t> </a:t>
            </a:r>
            <a:r>
              <a:rPr sz="1400" spc="-5" dirty="0">
                <a:solidFill>
                  <a:srgbClr val="313131"/>
                </a:solidFill>
                <a:latin typeface="Verdana"/>
                <a:cs typeface="Verdana"/>
              </a:rPr>
              <a:t>are</a:t>
            </a:r>
            <a:r>
              <a:rPr sz="1400" spc="-10" dirty="0">
                <a:solidFill>
                  <a:srgbClr val="313131"/>
                </a:solidFill>
                <a:latin typeface="Verdana"/>
                <a:cs typeface="Verdana"/>
              </a:rPr>
              <a:t> </a:t>
            </a:r>
            <a:r>
              <a:rPr sz="1400" spc="-5" dirty="0">
                <a:solidFill>
                  <a:srgbClr val="313131"/>
                </a:solidFill>
                <a:latin typeface="Verdana"/>
                <a:cs typeface="Verdana"/>
              </a:rPr>
              <a:t>impractical</a:t>
            </a:r>
            <a:endParaRPr sz="1400" dirty="0">
              <a:solidFill>
                <a:prstClr val="black"/>
              </a:solidFill>
              <a:latin typeface="Verdana"/>
              <a:cs typeface="Verdana"/>
            </a:endParaRPr>
          </a:p>
        </p:txBody>
      </p:sp>
      <p:pic>
        <p:nvPicPr>
          <p:cNvPr id="9" name="object 9"/>
          <p:cNvPicPr/>
          <p:nvPr/>
        </p:nvPicPr>
        <p:blipFill>
          <a:blip r:embed="rId2" cstate="print"/>
          <a:stretch>
            <a:fillRect/>
          </a:stretch>
        </p:blipFill>
        <p:spPr>
          <a:xfrm>
            <a:off x="7338240" y="4642288"/>
            <a:ext cx="1704819" cy="1256172"/>
          </a:xfrm>
          <a:prstGeom prst="rect">
            <a:avLst/>
          </a:prstGeom>
        </p:spPr>
      </p:pic>
      <p:grpSp>
        <p:nvGrpSpPr>
          <p:cNvPr id="10" name="object 10"/>
          <p:cNvGrpSpPr/>
          <p:nvPr/>
        </p:nvGrpSpPr>
        <p:grpSpPr>
          <a:xfrm>
            <a:off x="7594650" y="1770275"/>
            <a:ext cx="1222375" cy="2723515"/>
            <a:chOff x="7594649" y="913024"/>
            <a:chExt cx="1222375" cy="2723515"/>
          </a:xfrm>
        </p:grpSpPr>
        <p:pic>
          <p:nvPicPr>
            <p:cNvPr id="11" name="object 11"/>
            <p:cNvPicPr/>
            <p:nvPr/>
          </p:nvPicPr>
          <p:blipFill>
            <a:blip r:embed="rId3" cstate="print"/>
            <a:stretch>
              <a:fillRect/>
            </a:stretch>
          </p:blipFill>
          <p:spPr>
            <a:xfrm>
              <a:off x="7594649" y="2290049"/>
              <a:ext cx="1222149" cy="1345899"/>
            </a:xfrm>
            <a:prstGeom prst="rect">
              <a:avLst/>
            </a:prstGeom>
          </p:spPr>
        </p:pic>
        <p:pic>
          <p:nvPicPr>
            <p:cNvPr id="12" name="object 12"/>
            <p:cNvPicPr/>
            <p:nvPr/>
          </p:nvPicPr>
          <p:blipFill>
            <a:blip r:embed="rId4" cstate="print"/>
            <a:stretch>
              <a:fillRect/>
            </a:stretch>
          </p:blipFill>
          <p:spPr>
            <a:xfrm>
              <a:off x="7595094" y="913024"/>
              <a:ext cx="1186028" cy="1377025"/>
            </a:xfrm>
            <a:prstGeom prst="rect">
              <a:avLst/>
            </a:prstGeom>
          </p:spPr>
        </p:pic>
      </p:grpSp>
      <p:sp>
        <p:nvSpPr>
          <p:cNvPr id="13" name="object 13"/>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14" name="object 14"/>
          <p:cNvSpPr txBox="1"/>
          <p:nvPr/>
        </p:nvSpPr>
        <p:spPr>
          <a:xfrm>
            <a:off x="232308" y="5731506"/>
            <a:ext cx="1263650"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Generative</a:t>
            </a:r>
            <a:r>
              <a:rPr sz="1050" spc="-75" dirty="0">
                <a:solidFill>
                  <a:srgbClr val="313131"/>
                </a:solidFill>
                <a:latin typeface="Verdana"/>
                <a:cs typeface="Verdana"/>
              </a:rPr>
              <a:t> </a:t>
            </a:r>
            <a:r>
              <a:rPr sz="1050" spc="-5" dirty="0">
                <a:solidFill>
                  <a:srgbClr val="313131"/>
                </a:solidFill>
                <a:latin typeface="Verdana"/>
                <a:cs typeface="Verdana"/>
              </a:rPr>
              <a:t>Models</a:t>
            </a:r>
            <a:endParaRPr sz="1050">
              <a:solidFill>
                <a:prstClr val="black"/>
              </a:solidFill>
              <a:latin typeface="Verdana"/>
              <a:cs typeface="Verdana"/>
            </a:endParaRPr>
          </a:p>
        </p:txBody>
      </p:sp>
      <p:pic>
        <p:nvPicPr>
          <p:cNvPr id="5" name="Picture 2" descr="E:\NIET\Project\xLogo11.png.pagespeed.ic.pydHLuCQEZ.png">
            <a:extLst>
              <a:ext uri="{FF2B5EF4-FFF2-40B4-BE49-F238E27FC236}">
                <a16:creationId xmlns:a16="http://schemas.microsoft.com/office/drawing/2014/main" id="{4DBC4EE8-9793-62B4-DE02-E4398484FED2}"/>
              </a:ext>
            </a:extLst>
          </p:cNvPr>
          <p:cNvPicPr>
            <a:picLocks noChangeAspect="1" noChangeArrowheads="1"/>
          </p:cNvPicPr>
          <p:nvPr/>
        </p:nvPicPr>
        <p:blipFill>
          <a:blip r:embed="rId5"/>
          <a:srcRect/>
          <a:stretch>
            <a:fillRect/>
          </a:stretch>
        </p:blipFill>
        <p:spPr bwMode="auto">
          <a:xfrm>
            <a:off x="0" y="0"/>
            <a:ext cx="1447800" cy="817163"/>
          </a:xfrm>
          <a:prstGeom prst="rect">
            <a:avLst/>
          </a:prstGeom>
          <a:noFill/>
        </p:spPr>
      </p:pic>
      <p:sp>
        <p:nvSpPr>
          <p:cNvPr id="17" name="Title 1">
            <a:extLst>
              <a:ext uri="{FF2B5EF4-FFF2-40B4-BE49-F238E27FC236}">
                <a16:creationId xmlns:a16="http://schemas.microsoft.com/office/drawing/2014/main" id="{8DFBFA32-D062-37AC-2CB7-B0723BA98869}"/>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Limitations of GANs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60126" y="5727135"/>
            <a:ext cx="2687955" cy="185420"/>
          </a:xfrm>
          <a:prstGeom prst="rect">
            <a:avLst/>
          </a:prstGeom>
        </p:spPr>
        <p:txBody>
          <a:bodyPr vert="horz" wrap="square" lIns="0" tIns="635" rIns="0" bIns="0" rtlCol="0">
            <a:spAutoFit/>
          </a:bodyPr>
          <a:lstStyle/>
          <a:p>
            <a:pPr>
              <a:spcBef>
                <a:spcPts val="5"/>
              </a:spcBef>
            </a:pPr>
            <a:r>
              <a:rPr sz="1200" spc="-5" dirty="0">
                <a:solidFill>
                  <a:srgbClr val="313131"/>
                </a:solidFill>
                <a:latin typeface="Verdana"/>
                <a:cs typeface="Verdana"/>
              </a:rPr>
              <a:t>Deep</a:t>
            </a:r>
            <a:r>
              <a:rPr sz="1200" spc="-25" dirty="0">
                <a:solidFill>
                  <a:srgbClr val="313131"/>
                </a:solidFill>
                <a:latin typeface="Verdana"/>
                <a:cs typeface="Verdana"/>
              </a:rPr>
              <a:t> </a:t>
            </a:r>
            <a:r>
              <a:rPr sz="1200" spc="-5" dirty="0">
                <a:solidFill>
                  <a:srgbClr val="313131"/>
                </a:solidFill>
                <a:latin typeface="Verdana"/>
                <a:cs typeface="Verdana"/>
              </a:rPr>
              <a:t>Learning</a:t>
            </a:r>
            <a:r>
              <a:rPr sz="1200" spc="-25" dirty="0">
                <a:solidFill>
                  <a:srgbClr val="313131"/>
                </a:solidFill>
                <a:latin typeface="Verdana"/>
                <a:cs typeface="Verdana"/>
              </a:rPr>
              <a:t> </a:t>
            </a:r>
            <a:r>
              <a:rPr sz="1200" spc="-5" dirty="0">
                <a:solidFill>
                  <a:srgbClr val="313131"/>
                </a:solidFill>
                <a:latin typeface="Verdana"/>
                <a:cs typeface="Verdana"/>
              </a:rPr>
              <a:t>for</a:t>
            </a:r>
            <a:r>
              <a:rPr sz="1200" spc="-25" dirty="0">
                <a:solidFill>
                  <a:srgbClr val="313131"/>
                </a:solidFill>
                <a:latin typeface="Verdana"/>
                <a:cs typeface="Verdana"/>
              </a:rPr>
              <a:t> </a:t>
            </a:r>
            <a:r>
              <a:rPr sz="1200" spc="-5" dirty="0">
                <a:solidFill>
                  <a:srgbClr val="313131"/>
                </a:solidFill>
                <a:latin typeface="Verdana"/>
                <a:cs typeface="Verdana"/>
              </a:rPr>
              <a:t>Computer</a:t>
            </a:r>
            <a:r>
              <a:rPr sz="1200" spc="-20" dirty="0">
                <a:solidFill>
                  <a:srgbClr val="313131"/>
                </a:solidFill>
                <a:latin typeface="Verdana"/>
                <a:cs typeface="Verdana"/>
              </a:rPr>
              <a:t> </a:t>
            </a:r>
            <a:r>
              <a:rPr sz="1200" spc="-5" dirty="0">
                <a:solidFill>
                  <a:srgbClr val="313131"/>
                </a:solidFill>
                <a:latin typeface="Verdana"/>
                <a:cs typeface="Verdana"/>
              </a:rPr>
              <a:t>Vision</a:t>
            </a:r>
            <a:endParaRPr sz="1200">
              <a:solidFill>
                <a:prstClr val="black"/>
              </a:solidFill>
              <a:latin typeface="Verdana"/>
              <a:cs typeface="Verdana"/>
            </a:endParaRPr>
          </a:p>
        </p:txBody>
      </p:sp>
      <p:sp>
        <p:nvSpPr>
          <p:cNvPr id="3" name="object 3"/>
          <p:cNvSpPr/>
          <p:nvPr/>
        </p:nvSpPr>
        <p:spPr>
          <a:xfrm>
            <a:off x="177169" y="857252"/>
            <a:ext cx="7239000" cy="108585"/>
          </a:xfrm>
          <a:custGeom>
            <a:avLst/>
            <a:gdLst/>
            <a:ahLst/>
            <a:cxnLst/>
            <a:rect l="l" t="t" r="r" b="b"/>
            <a:pathLst>
              <a:path w="7239000" h="108585">
                <a:moveTo>
                  <a:pt x="7238699" y="107999"/>
                </a:moveTo>
                <a:lnTo>
                  <a:pt x="0" y="107999"/>
                </a:lnTo>
                <a:lnTo>
                  <a:pt x="0" y="0"/>
                </a:lnTo>
                <a:lnTo>
                  <a:pt x="7238699" y="0"/>
                </a:lnTo>
                <a:lnTo>
                  <a:pt x="7238699" y="107999"/>
                </a:lnTo>
                <a:close/>
              </a:path>
            </a:pathLst>
          </a:custGeom>
          <a:solidFill>
            <a:srgbClr val="F6A800"/>
          </a:solidFill>
        </p:spPr>
        <p:txBody>
          <a:bodyPr wrap="square" lIns="0" tIns="0" rIns="0" bIns="0" rtlCol="0"/>
          <a:lstStyle/>
          <a:p>
            <a:endParaRPr>
              <a:solidFill>
                <a:prstClr val="black"/>
              </a:solidFill>
              <a:latin typeface="Calibri"/>
            </a:endParaRPr>
          </a:p>
        </p:txBody>
      </p:sp>
      <p:sp>
        <p:nvSpPr>
          <p:cNvPr id="4" name="object 4"/>
          <p:cNvSpPr/>
          <p:nvPr/>
        </p:nvSpPr>
        <p:spPr>
          <a:xfrm>
            <a:off x="177169" y="1888828"/>
            <a:ext cx="7239000" cy="25400"/>
          </a:xfrm>
          <a:custGeom>
            <a:avLst/>
            <a:gdLst/>
            <a:ahLst/>
            <a:cxnLst/>
            <a:rect l="l" t="t" r="r" b="b"/>
            <a:pathLst>
              <a:path w="7239000" h="25400">
                <a:moveTo>
                  <a:pt x="7238699" y="25199"/>
                </a:moveTo>
                <a:lnTo>
                  <a:pt x="0" y="25199"/>
                </a:lnTo>
                <a:lnTo>
                  <a:pt x="0" y="0"/>
                </a:lnTo>
                <a:lnTo>
                  <a:pt x="7238699" y="0"/>
                </a:lnTo>
                <a:lnTo>
                  <a:pt x="7238699" y="25199"/>
                </a:lnTo>
                <a:close/>
              </a:path>
            </a:pathLst>
          </a:custGeom>
          <a:solidFill>
            <a:srgbClr val="DD640C"/>
          </a:solidFill>
        </p:spPr>
        <p:txBody>
          <a:bodyPr wrap="square" lIns="0" tIns="0" rIns="0" bIns="0" rtlCol="0"/>
          <a:lstStyle/>
          <a:p>
            <a:endParaRPr>
              <a:solidFill>
                <a:prstClr val="black"/>
              </a:solidFill>
              <a:latin typeface="Calibri"/>
            </a:endParaRPr>
          </a:p>
        </p:txBody>
      </p:sp>
      <p:sp>
        <p:nvSpPr>
          <p:cNvPr id="16" name="Footer Placeholder 15">
            <a:extLst>
              <a:ext uri="{FF2B5EF4-FFF2-40B4-BE49-F238E27FC236}">
                <a16:creationId xmlns:a16="http://schemas.microsoft.com/office/drawing/2014/main" id="{9DAABAAC-BE64-0B5D-0361-96CD910A2859}"/>
              </a:ext>
            </a:extLst>
          </p:cNvPr>
          <p:cNvSpPr>
            <a:spLocks noGrp="1"/>
          </p:cNvSpPr>
          <p:nvPr>
            <p:ph type="ftr" sz="quarter" idx="5"/>
          </p:nvPr>
        </p:nvSpPr>
        <p:spPr/>
        <p:txBody>
          <a:bodyPr/>
          <a:lstStyle/>
          <a:p>
            <a:pPr>
              <a:spcBef>
                <a:spcPts val="5"/>
              </a:spcBef>
            </a:pPr>
            <a:endParaRPr lang="en-IN" spc="-5" dirty="0"/>
          </a:p>
        </p:txBody>
      </p:sp>
      <p:sp>
        <p:nvSpPr>
          <p:cNvPr id="6" name="object 6"/>
          <p:cNvSpPr txBox="1">
            <a:spLocks noGrp="1"/>
          </p:cNvSpPr>
          <p:nvPr>
            <p:ph type="title" idx="4294967295"/>
          </p:nvPr>
        </p:nvSpPr>
        <p:spPr>
          <a:xfrm>
            <a:off x="1" y="1254125"/>
            <a:ext cx="2384425" cy="330200"/>
          </a:xfrm>
          <a:prstGeom prst="rect">
            <a:avLst/>
          </a:prstGeom>
        </p:spPr>
        <p:txBody>
          <a:bodyPr vert="horz" wrap="square" lIns="0" tIns="12700" rIns="0" bIns="0" rtlCol="0">
            <a:spAutoFit/>
          </a:bodyPr>
          <a:lstStyle/>
          <a:p>
            <a:pPr marL="12700">
              <a:spcBef>
                <a:spcPts val="100"/>
              </a:spcBef>
            </a:pPr>
            <a:r>
              <a:rPr spc="-5" dirty="0"/>
              <a:t>Evaluation</a:t>
            </a:r>
            <a:r>
              <a:rPr spc="-85" dirty="0"/>
              <a:t> </a:t>
            </a:r>
            <a:r>
              <a:rPr spc="-5" dirty="0"/>
              <a:t>metrics</a:t>
            </a:r>
          </a:p>
        </p:txBody>
      </p:sp>
      <p:sp>
        <p:nvSpPr>
          <p:cNvPr id="7" name="object 7"/>
          <p:cNvSpPr txBox="1"/>
          <p:nvPr/>
        </p:nvSpPr>
        <p:spPr>
          <a:xfrm>
            <a:off x="457793" y="2163000"/>
            <a:ext cx="6224270" cy="657860"/>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spc="-5" dirty="0">
                <a:solidFill>
                  <a:srgbClr val="313131"/>
                </a:solidFill>
                <a:latin typeface="Verdana"/>
                <a:cs typeface="Verdana"/>
              </a:rPr>
              <a:t>What</a:t>
            </a:r>
            <a:r>
              <a:rPr sz="1400" spc="-20" dirty="0">
                <a:solidFill>
                  <a:srgbClr val="313131"/>
                </a:solidFill>
                <a:latin typeface="Verdana"/>
                <a:cs typeface="Verdana"/>
              </a:rPr>
              <a:t> </a:t>
            </a:r>
            <a:r>
              <a:rPr sz="1400" spc="-5" dirty="0">
                <a:solidFill>
                  <a:srgbClr val="313131"/>
                </a:solidFill>
                <a:latin typeface="Verdana"/>
                <a:cs typeface="Verdana"/>
              </a:rPr>
              <a:t>makes</a:t>
            </a:r>
            <a:r>
              <a:rPr sz="1400" spc="-20" dirty="0">
                <a:solidFill>
                  <a:srgbClr val="313131"/>
                </a:solidFill>
                <a:latin typeface="Verdana"/>
                <a:cs typeface="Verdana"/>
              </a:rPr>
              <a:t> </a:t>
            </a:r>
            <a:r>
              <a:rPr sz="1400" dirty="0">
                <a:solidFill>
                  <a:srgbClr val="313131"/>
                </a:solidFill>
                <a:latin typeface="Verdana"/>
                <a:cs typeface="Verdana"/>
              </a:rPr>
              <a:t>a</a:t>
            </a:r>
            <a:r>
              <a:rPr sz="1400" spc="-20" dirty="0">
                <a:solidFill>
                  <a:srgbClr val="313131"/>
                </a:solidFill>
                <a:latin typeface="Verdana"/>
                <a:cs typeface="Verdana"/>
              </a:rPr>
              <a:t> </a:t>
            </a:r>
            <a:r>
              <a:rPr sz="1400" spc="-5" dirty="0">
                <a:solidFill>
                  <a:srgbClr val="313131"/>
                </a:solidFill>
                <a:latin typeface="Verdana"/>
                <a:cs typeface="Verdana"/>
              </a:rPr>
              <a:t>good</a:t>
            </a:r>
            <a:r>
              <a:rPr sz="1400" spc="-15" dirty="0">
                <a:solidFill>
                  <a:srgbClr val="313131"/>
                </a:solidFill>
                <a:latin typeface="Verdana"/>
                <a:cs typeface="Verdana"/>
              </a:rPr>
              <a:t> </a:t>
            </a:r>
            <a:r>
              <a:rPr sz="1400" spc="-5" dirty="0">
                <a:solidFill>
                  <a:srgbClr val="313131"/>
                </a:solidFill>
                <a:latin typeface="Verdana"/>
                <a:cs typeface="Verdana"/>
              </a:rPr>
              <a:t>generative</a:t>
            </a:r>
            <a:r>
              <a:rPr sz="1400" spc="-20" dirty="0">
                <a:solidFill>
                  <a:srgbClr val="313131"/>
                </a:solidFill>
                <a:latin typeface="Verdana"/>
                <a:cs typeface="Verdana"/>
              </a:rPr>
              <a:t> </a:t>
            </a:r>
            <a:r>
              <a:rPr sz="1400" spc="-5" dirty="0">
                <a:solidFill>
                  <a:srgbClr val="313131"/>
                </a:solidFill>
                <a:latin typeface="Verdana"/>
                <a:cs typeface="Verdana"/>
              </a:rPr>
              <a:t>model?</a:t>
            </a:r>
            <a:endParaRPr sz="1400">
              <a:solidFill>
                <a:prstClr val="black"/>
              </a:solidFill>
              <a:latin typeface="Verdana"/>
              <a:cs typeface="Verdana"/>
            </a:endParaRPr>
          </a:p>
          <a:p>
            <a:pPr marL="616585" lvl="1" indent="-293370">
              <a:spcBef>
                <a:spcPts val="1620"/>
              </a:spcBef>
              <a:buClr>
                <a:srgbClr val="B10639"/>
              </a:buClr>
              <a:buFont typeface="Arial MT"/>
              <a:buChar char="■"/>
              <a:tabLst>
                <a:tab pos="616585" algn="l"/>
                <a:tab pos="617220" algn="l"/>
              </a:tabLst>
            </a:pPr>
            <a:r>
              <a:rPr sz="1400" spc="-5" dirty="0">
                <a:solidFill>
                  <a:srgbClr val="313131"/>
                </a:solidFill>
                <a:latin typeface="Verdana"/>
                <a:cs typeface="Verdana"/>
              </a:rPr>
              <a:t>Each</a:t>
            </a:r>
            <a:r>
              <a:rPr sz="1400" spc="-15" dirty="0">
                <a:solidFill>
                  <a:srgbClr val="313131"/>
                </a:solidFill>
                <a:latin typeface="Verdana"/>
                <a:cs typeface="Verdana"/>
              </a:rPr>
              <a:t> </a:t>
            </a:r>
            <a:r>
              <a:rPr sz="1400" spc="-5" dirty="0">
                <a:solidFill>
                  <a:srgbClr val="313131"/>
                </a:solidFill>
                <a:latin typeface="Verdana"/>
                <a:cs typeface="Verdana"/>
              </a:rPr>
              <a:t>generated</a:t>
            </a:r>
            <a:r>
              <a:rPr sz="1400" spc="-15" dirty="0">
                <a:solidFill>
                  <a:srgbClr val="313131"/>
                </a:solidFill>
                <a:latin typeface="Verdana"/>
                <a:cs typeface="Verdana"/>
              </a:rPr>
              <a:t> </a:t>
            </a:r>
            <a:r>
              <a:rPr sz="1400" spc="-5" dirty="0">
                <a:solidFill>
                  <a:srgbClr val="313131"/>
                </a:solidFill>
                <a:latin typeface="Verdana"/>
                <a:cs typeface="Verdana"/>
              </a:rPr>
              <a:t>sample</a:t>
            </a:r>
            <a:r>
              <a:rPr sz="1400" spc="-10" dirty="0">
                <a:solidFill>
                  <a:srgbClr val="313131"/>
                </a:solidFill>
                <a:latin typeface="Verdana"/>
                <a:cs typeface="Verdana"/>
              </a:rPr>
              <a:t> </a:t>
            </a:r>
            <a:r>
              <a:rPr sz="1400" spc="-5" dirty="0">
                <a:solidFill>
                  <a:srgbClr val="313131"/>
                </a:solidFill>
                <a:latin typeface="Verdana"/>
                <a:cs typeface="Verdana"/>
              </a:rPr>
              <a:t>is</a:t>
            </a:r>
            <a:r>
              <a:rPr sz="1400" spc="-15" dirty="0">
                <a:solidFill>
                  <a:srgbClr val="313131"/>
                </a:solidFill>
                <a:latin typeface="Verdana"/>
                <a:cs typeface="Verdana"/>
              </a:rPr>
              <a:t> </a:t>
            </a:r>
            <a:r>
              <a:rPr sz="1400" spc="-5" dirty="0">
                <a:solidFill>
                  <a:srgbClr val="313131"/>
                </a:solidFill>
                <a:latin typeface="Verdana"/>
                <a:cs typeface="Verdana"/>
              </a:rPr>
              <a:t>indistinguishable</a:t>
            </a:r>
            <a:r>
              <a:rPr sz="1400" spc="-10" dirty="0">
                <a:solidFill>
                  <a:srgbClr val="313131"/>
                </a:solidFill>
                <a:latin typeface="Verdana"/>
                <a:cs typeface="Verdana"/>
              </a:rPr>
              <a:t> </a:t>
            </a:r>
            <a:r>
              <a:rPr sz="1400" spc="-5" dirty="0">
                <a:solidFill>
                  <a:srgbClr val="313131"/>
                </a:solidFill>
                <a:latin typeface="Verdana"/>
                <a:cs typeface="Verdana"/>
              </a:rPr>
              <a:t>from</a:t>
            </a:r>
            <a:r>
              <a:rPr sz="1400" spc="-15" dirty="0">
                <a:solidFill>
                  <a:srgbClr val="313131"/>
                </a:solidFill>
                <a:latin typeface="Verdana"/>
                <a:cs typeface="Verdana"/>
              </a:rPr>
              <a:t> </a:t>
            </a:r>
            <a:r>
              <a:rPr sz="1400" dirty="0">
                <a:solidFill>
                  <a:srgbClr val="313131"/>
                </a:solidFill>
                <a:latin typeface="Verdana"/>
                <a:cs typeface="Verdana"/>
              </a:rPr>
              <a:t>a</a:t>
            </a:r>
            <a:r>
              <a:rPr sz="1400" spc="-10" dirty="0">
                <a:solidFill>
                  <a:srgbClr val="313131"/>
                </a:solidFill>
                <a:latin typeface="Verdana"/>
                <a:cs typeface="Verdana"/>
              </a:rPr>
              <a:t> </a:t>
            </a:r>
            <a:r>
              <a:rPr sz="1400" spc="-5" dirty="0">
                <a:solidFill>
                  <a:srgbClr val="313131"/>
                </a:solidFill>
                <a:latin typeface="Verdana"/>
                <a:cs typeface="Verdana"/>
              </a:rPr>
              <a:t>real</a:t>
            </a:r>
            <a:r>
              <a:rPr sz="1400" spc="-15" dirty="0">
                <a:solidFill>
                  <a:srgbClr val="313131"/>
                </a:solidFill>
                <a:latin typeface="Verdana"/>
                <a:cs typeface="Verdana"/>
              </a:rPr>
              <a:t> </a:t>
            </a:r>
            <a:r>
              <a:rPr sz="1400" spc="-5" dirty="0">
                <a:solidFill>
                  <a:srgbClr val="313131"/>
                </a:solidFill>
                <a:latin typeface="Verdana"/>
                <a:cs typeface="Verdana"/>
              </a:rPr>
              <a:t>sample</a:t>
            </a:r>
            <a:endParaRPr sz="1400">
              <a:solidFill>
                <a:prstClr val="black"/>
              </a:solidFill>
              <a:latin typeface="Verdana"/>
              <a:cs typeface="Verdana"/>
            </a:endParaRPr>
          </a:p>
        </p:txBody>
      </p:sp>
      <p:sp>
        <p:nvSpPr>
          <p:cNvPr id="8" name="object 8"/>
          <p:cNvSpPr txBox="1"/>
          <p:nvPr/>
        </p:nvSpPr>
        <p:spPr>
          <a:xfrm>
            <a:off x="768968" y="4258501"/>
            <a:ext cx="3855720" cy="228268"/>
          </a:xfrm>
          <a:prstGeom prst="rect">
            <a:avLst/>
          </a:prstGeom>
        </p:spPr>
        <p:txBody>
          <a:bodyPr vert="horz" wrap="square" lIns="0" tIns="12700" rIns="0" bIns="0" rtlCol="0">
            <a:spAutoFit/>
          </a:bodyPr>
          <a:lstStyle/>
          <a:p>
            <a:pPr marL="305435" indent="-293370">
              <a:spcBef>
                <a:spcPts val="100"/>
              </a:spcBef>
              <a:buClr>
                <a:srgbClr val="B10639"/>
              </a:buClr>
              <a:buFont typeface="Arial MT"/>
              <a:buChar char="■"/>
              <a:tabLst>
                <a:tab pos="305435" algn="l"/>
                <a:tab pos="306070" algn="l"/>
              </a:tabLst>
            </a:pPr>
            <a:r>
              <a:rPr sz="1400" spc="-5" dirty="0">
                <a:solidFill>
                  <a:srgbClr val="313131"/>
                </a:solidFill>
                <a:latin typeface="Verdana"/>
                <a:cs typeface="Verdana"/>
              </a:rPr>
              <a:t>Generated</a:t>
            </a:r>
            <a:r>
              <a:rPr sz="1400" spc="-25" dirty="0">
                <a:solidFill>
                  <a:srgbClr val="313131"/>
                </a:solidFill>
                <a:latin typeface="Verdana"/>
                <a:cs typeface="Verdana"/>
              </a:rPr>
              <a:t> </a:t>
            </a:r>
            <a:r>
              <a:rPr sz="1400" spc="-5" dirty="0">
                <a:solidFill>
                  <a:srgbClr val="313131"/>
                </a:solidFill>
                <a:latin typeface="Verdana"/>
                <a:cs typeface="Verdana"/>
              </a:rPr>
              <a:t>samples</a:t>
            </a:r>
            <a:r>
              <a:rPr sz="1400" spc="-25" dirty="0">
                <a:solidFill>
                  <a:srgbClr val="313131"/>
                </a:solidFill>
                <a:latin typeface="Verdana"/>
                <a:cs typeface="Verdana"/>
              </a:rPr>
              <a:t> </a:t>
            </a:r>
            <a:r>
              <a:rPr sz="1400" spc="-5" dirty="0">
                <a:solidFill>
                  <a:srgbClr val="313131"/>
                </a:solidFill>
                <a:latin typeface="Verdana"/>
                <a:cs typeface="Verdana"/>
              </a:rPr>
              <a:t>should</a:t>
            </a:r>
            <a:r>
              <a:rPr sz="1400" spc="-20" dirty="0">
                <a:solidFill>
                  <a:srgbClr val="313131"/>
                </a:solidFill>
                <a:latin typeface="Verdana"/>
                <a:cs typeface="Verdana"/>
              </a:rPr>
              <a:t> </a:t>
            </a:r>
            <a:r>
              <a:rPr sz="1400" spc="-5" dirty="0">
                <a:solidFill>
                  <a:srgbClr val="313131"/>
                </a:solidFill>
                <a:latin typeface="Verdana"/>
                <a:cs typeface="Verdana"/>
              </a:rPr>
              <a:t>have</a:t>
            </a:r>
            <a:r>
              <a:rPr sz="1400" spc="-25" dirty="0">
                <a:solidFill>
                  <a:srgbClr val="313131"/>
                </a:solidFill>
                <a:latin typeface="Verdana"/>
                <a:cs typeface="Verdana"/>
              </a:rPr>
              <a:t> </a:t>
            </a:r>
            <a:r>
              <a:rPr sz="1400" spc="-5" dirty="0">
                <a:solidFill>
                  <a:srgbClr val="313131"/>
                </a:solidFill>
                <a:latin typeface="Verdana"/>
                <a:cs typeface="Verdana"/>
              </a:rPr>
              <a:t>variety</a:t>
            </a:r>
            <a:endParaRPr sz="1400">
              <a:solidFill>
                <a:prstClr val="black"/>
              </a:solidFill>
              <a:latin typeface="Verdana"/>
              <a:cs typeface="Verdana"/>
            </a:endParaRPr>
          </a:p>
        </p:txBody>
      </p:sp>
      <p:grpSp>
        <p:nvGrpSpPr>
          <p:cNvPr id="9" name="object 9"/>
          <p:cNvGrpSpPr/>
          <p:nvPr/>
        </p:nvGrpSpPr>
        <p:grpSpPr>
          <a:xfrm>
            <a:off x="159282" y="4537071"/>
            <a:ext cx="6653530" cy="1377950"/>
            <a:chOff x="159282" y="3679821"/>
            <a:chExt cx="6653530" cy="1377950"/>
          </a:xfrm>
        </p:grpSpPr>
        <p:pic>
          <p:nvPicPr>
            <p:cNvPr id="10" name="object 10"/>
            <p:cNvPicPr/>
            <p:nvPr/>
          </p:nvPicPr>
          <p:blipFill>
            <a:blip r:embed="rId2" cstate="print"/>
            <a:stretch>
              <a:fillRect/>
            </a:stretch>
          </p:blipFill>
          <p:spPr>
            <a:xfrm>
              <a:off x="2001144" y="3679821"/>
              <a:ext cx="4811648" cy="1175475"/>
            </a:xfrm>
            <a:prstGeom prst="rect">
              <a:avLst/>
            </a:prstGeom>
          </p:spPr>
        </p:pic>
        <p:sp>
          <p:nvSpPr>
            <p:cNvPr id="11" name="object 11"/>
            <p:cNvSpPr/>
            <p:nvPr/>
          </p:nvSpPr>
          <p:spPr>
            <a:xfrm>
              <a:off x="159282" y="4889102"/>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grpSp>
      <p:pic>
        <p:nvPicPr>
          <p:cNvPr id="12" name="object 12"/>
          <p:cNvPicPr/>
          <p:nvPr/>
        </p:nvPicPr>
        <p:blipFill>
          <a:blip r:embed="rId3" cstate="print"/>
          <a:stretch>
            <a:fillRect/>
          </a:stretch>
        </p:blipFill>
        <p:spPr>
          <a:xfrm>
            <a:off x="3712612" y="2884575"/>
            <a:ext cx="1388724" cy="1356799"/>
          </a:xfrm>
          <a:prstGeom prst="rect">
            <a:avLst/>
          </a:prstGeom>
        </p:spPr>
      </p:pic>
      <p:sp>
        <p:nvSpPr>
          <p:cNvPr id="13" name="object 13"/>
          <p:cNvSpPr txBox="1"/>
          <p:nvPr/>
        </p:nvSpPr>
        <p:spPr>
          <a:xfrm>
            <a:off x="3785612" y="5788612"/>
            <a:ext cx="1445260" cy="135935"/>
          </a:xfrm>
          <a:prstGeom prst="rect">
            <a:avLst/>
          </a:prstGeom>
        </p:spPr>
        <p:txBody>
          <a:bodyPr vert="horz" wrap="square" lIns="0" tIns="12700" rIns="0" bIns="0" rtlCol="0">
            <a:spAutoFit/>
          </a:bodyPr>
          <a:lstStyle/>
          <a:p>
            <a:pPr marL="12700">
              <a:spcBef>
                <a:spcPts val="100"/>
              </a:spcBef>
            </a:pPr>
            <a:r>
              <a:rPr sz="800" spc="-5" dirty="0">
                <a:solidFill>
                  <a:prstClr val="black"/>
                </a:solidFill>
                <a:latin typeface="Arial MT"/>
                <a:cs typeface="Arial MT"/>
              </a:rPr>
              <a:t>Images</a:t>
            </a:r>
            <a:r>
              <a:rPr sz="800" spc="-20" dirty="0">
                <a:solidFill>
                  <a:prstClr val="black"/>
                </a:solidFill>
                <a:latin typeface="Arial MT"/>
                <a:cs typeface="Arial MT"/>
              </a:rPr>
              <a:t> </a:t>
            </a:r>
            <a:r>
              <a:rPr sz="800" spc="-5" dirty="0">
                <a:solidFill>
                  <a:prstClr val="black"/>
                </a:solidFill>
                <a:latin typeface="Arial MT"/>
                <a:cs typeface="Arial MT"/>
              </a:rPr>
              <a:t>from</a:t>
            </a:r>
            <a:r>
              <a:rPr sz="800" spc="-20" dirty="0">
                <a:solidFill>
                  <a:prstClr val="black"/>
                </a:solidFill>
                <a:latin typeface="Arial MT"/>
                <a:cs typeface="Arial MT"/>
              </a:rPr>
              <a:t> </a:t>
            </a:r>
            <a:r>
              <a:rPr sz="800" spc="-5" dirty="0">
                <a:solidFill>
                  <a:prstClr val="black"/>
                </a:solidFill>
                <a:latin typeface="Arial MT"/>
                <a:cs typeface="Arial MT"/>
              </a:rPr>
              <a:t>Karras</a:t>
            </a:r>
            <a:r>
              <a:rPr sz="800" spc="-15" dirty="0">
                <a:solidFill>
                  <a:prstClr val="black"/>
                </a:solidFill>
                <a:latin typeface="Arial MT"/>
                <a:cs typeface="Arial MT"/>
              </a:rPr>
              <a:t> </a:t>
            </a:r>
            <a:r>
              <a:rPr sz="800" spc="-5" dirty="0">
                <a:solidFill>
                  <a:prstClr val="black"/>
                </a:solidFill>
                <a:latin typeface="Arial MT"/>
                <a:cs typeface="Arial MT"/>
              </a:rPr>
              <a:t>et</a:t>
            </a:r>
            <a:r>
              <a:rPr sz="800" spc="-20" dirty="0">
                <a:solidFill>
                  <a:prstClr val="black"/>
                </a:solidFill>
                <a:latin typeface="Arial MT"/>
                <a:cs typeface="Arial MT"/>
              </a:rPr>
              <a:t> </a:t>
            </a:r>
            <a:r>
              <a:rPr sz="800" spc="-5" dirty="0">
                <a:solidFill>
                  <a:prstClr val="black"/>
                </a:solidFill>
                <a:latin typeface="Arial MT"/>
                <a:cs typeface="Arial MT"/>
              </a:rPr>
              <a:t>al.,</a:t>
            </a:r>
            <a:r>
              <a:rPr sz="800" spc="-15" dirty="0">
                <a:solidFill>
                  <a:prstClr val="black"/>
                </a:solidFill>
                <a:latin typeface="Arial MT"/>
                <a:cs typeface="Arial MT"/>
              </a:rPr>
              <a:t> </a:t>
            </a:r>
            <a:r>
              <a:rPr sz="800" spc="-5" dirty="0">
                <a:solidFill>
                  <a:prstClr val="black"/>
                </a:solidFill>
                <a:latin typeface="Arial MT"/>
                <a:cs typeface="Arial MT"/>
              </a:rPr>
              <a:t>2017</a:t>
            </a:r>
            <a:endParaRPr sz="800">
              <a:solidFill>
                <a:prstClr val="black"/>
              </a:solidFill>
              <a:latin typeface="Arial MT"/>
              <a:cs typeface="Arial MT"/>
            </a:endParaRPr>
          </a:p>
        </p:txBody>
      </p:sp>
      <p:sp>
        <p:nvSpPr>
          <p:cNvPr id="14" name="object 14"/>
          <p:cNvSpPr txBox="1"/>
          <p:nvPr/>
        </p:nvSpPr>
        <p:spPr>
          <a:xfrm>
            <a:off x="232308" y="5731506"/>
            <a:ext cx="1263650"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Generative</a:t>
            </a:r>
            <a:r>
              <a:rPr sz="1050" spc="-75" dirty="0">
                <a:solidFill>
                  <a:srgbClr val="313131"/>
                </a:solidFill>
                <a:latin typeface="Verdana"/>
                <a:cs typeface="Verdana"/>
              </a:rPr>
              <a:t> </a:t>
            </a:r>
            <a:r>
              <a:rPr sz="1050" spc="-5" dirty="0">
                <a:solidFill>
                  <a:srgbClr val="313131"/>
                </a:solidFill>
                <a:latin typeface="Verdana"/>
                <a:cs typeface="Verdana"/>
              </a:rPr>
              <a:t>Models</a:t>
            </a:r>
            <a:endParaRPr sz="1050">
              <a:solidFill>
                <a:prstClr val="black"/>
              </a:solidFill>
              <a:latin typeface="Verdana"/>
              <a:cs typeface="Verdana"/>
            </a:endParaRPr>
          </a:p>
        </p:txBody>
      </p:sp>
      <p:sp>
        <p:nvSpPr>
          <p:cNvPr id="15" name="object 15"/>
          <p:cNvSpPr txBox="1"/>
          <p:nvPr/>
        </p:nvSpPr>
        <p:spPr>
          <a:xfrm>
            <a:off x="8214149" y="5775027"/>
            <a:ext cx="676910"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Slide</a:t>
            </a:r>
            <a:r>
              <a:rPr sz="1050" spc="-75" dirty="0">
                <a:solidFill>
                  <a:srgbClr val="313131"/>
                </a:solidFill>
                <a:latin typeface="Verdana"/>
                <a:cs typeface="Verdana"/>
              </a:rPr>
              <a:t> </a:t>
            </a:r>
            <a:r>
              <a:rPr sz="1050" spc="-5" dirty="0">
                <a:solidFill>
                  <a:srgbClr val="313131"/>
                </a:solidFill>
                <a:latin typeface="Verdana"/>
                <a:cs typeface="Verdana"/>
              </a:rPr>
              <a:t>#44</a:t>
            </a:r>
            <a:endParaRPr sz="1050">
              <a:solidFill>
                <a:prstClr val="black"/>
              </a:solidFill>
              <a:latin typeface="Verdana"/>
              <a:cs typeface="Verdana"/>
            </a:endParaRPr>
          </a:p>
        </p:txBody>
      </p:sp>
      <p:pic>
        <p:nvPicPr>
          <p:cNvPr id="18" name="Picture 2" descr="E:\NIET\Project\xLogo11.png.pagespeed.ic.pydHLuCQEZ.png">
            <a:extLst>
              <a:ext uri="{FF2B5EF4-FFF2-40B4-BE49-F238E27FC236}">
                <a16:creationId xmlns:a16="http://schemas.microsoft.com/office/drawing/2014/main" id="{29DF1AB4-95B4-068D-A5DC-4A5D00CECCE4}"/>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19" name="Title 1">
            <a:extLst>
              <a:ext uri="{FF2B5EF4-FFF2-40B4-BE49-F238E27FC236}">
                <a16:creationId xmlns:a16="http://schemas.microsoft.com/office/drawing/2014/main" id="{C8AA58D9-2EB1-C807-CBEA-104E4B786140}"/>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Evaluation metrics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2384425" cy="330200"/>
          </a:xfrm>
          <a:prstGeom prst="rect">
            <a:avLst/>
          </a:prstGeom>
        </p:spPr>
        <p:txBody>
          <a:bodyPr vert="horz" wrap="square" lIns="0" tIns="12700" rIns="0" bIns="0" rtlCol="0">
            <a:spAutoFit/>
          </a:bodyPr>
          <a:lstStyle/>
          <a:p>
            <a:pPr marL="12700">
              <a:spcBef>
                <a:spcPts val="100"/>
              </a:spcBef>
            </a:pPr>
            <a:r>
              <a:rPr spc="-5" dirty="0"/>
              <a:t>Evaluation</a:t>
            </a:r>
            <a:r>
              <a:rPr spc="-85" dirty="0"/>
              <a:t> </a:t>
            </a:r>
            <a:r>
              <a:rPr spc="-5" dirty="0"/>
              <a:t>metrics</a:t>
            </a:r>
          </a:p>
        </p:txBody>
      </p:sp>
      <p:sp>
        <p:nvSpPr>
          <p:cNvPr id="3" name="object 3"/>
          <p:cNvSpPr/>
          <p:nvPr/>
        </p:nvSpPr>
        <p:spPr>
          <a:xfrm>
            <a:off x="3955284" y="2601913"/>
            <a:ext cx="168275" cy="213360"/>
          </a:xfrm>
          <a:custGeom>
            <a:avLst/>
            <a:gdLst/>
            <a:ahLst/>
            <a:cxnLst/>
            <a:rect l="l" t="t" r="r" b="b"/>
            <a:pathLst>
              <a:path w="168275" h="213360">
                <a:moveTo>
                  <a:pt x="167722" y="213359"/>
                </a:moveTo>
                <a:lnTo>
                  <a:pt x="0" y="213359"/>
                </a:lnTo>
                <a:lnTo>
                  <a:pt x="0" y="0"/>
                </a:lnTo>
                <a:lnTo>
                  <a:pt x="167722" y="0"/>
                </a:lnTo>
                <a:lnTo>
                  <a:pt x="167722" y="213359"/>
                </a:lnTo>
                <a:close/>
              </a:path>
            </a:pathLst>
          </a:custGeom>
          <a:solidFill>
            <a:srgbClr val="F7F9FA"/>
          </a:solidFill>
        </p:spPr>
        <p:txBody>
          <a:bodyPr wrap="square" lIns="0" tIns="0" rIns="0" bIns="0" rtlCol="0"/>
          <a:lstStyle/>
          <a:p>
            <a:endParaRPr>
              <a:solidFill>
                <a:prstClr val="black"/>
              </a:solidFill>
              <a:latin typeface="Calibri"/>
            </a:endParaRPr>
          </a:p>
        </p:txBody>
      </p:sp>
      <p:sp>
        <p:nvSpPr>
          <p:cNvPr id="4" name="object 4"/>
          <p:cNvSpPr/>
          <p:nvPr/>
        </p:nvSpPr>
        <p:spPr>
          <a:xfrm>
            <a:off x="2762224" y="3021013"/>
            <a:ext cx="158115" cy="213360"/>
          </a:xfrm>
          <a:custGeom>
            <a:avLst/>
            <a:gdLst/>
            <a:ahLst/>
            <a:cxnLst/>
            <a:rect l="l" t="t" r="r" b="b"/>
            <a:pathLst>
              <a:path w="158114" h="213360">
                <a:moveTo>
                  <a:pt x="157917" y="213359"/>
                </a:moveTo>
                <a:lnTo>
                  <a:pt x="0" y="213359"/>
                </a:lnTo>
                <a:lnTo>
                  <a:pt x="0" y="0"/>
                </a:lnTo>
                <a:lnTo>
                  <a:pt x="157917" y="0"/>
                </a:lnTo>
                <a:lnTo>
                  <a:pt x="157917" y="213359"/>
                </a:lnTo>
                <a:close/>
              </a:path>
            </a:pathLst>
          </a:custGeom>
          <a:solidFill>
            <a:srgbClr val="F7F9FA"/>
          </a:solidFill>
        </p:spPr>
        <p:txBody>
          <a:bodyPr wrap="square" lIns="0" tIns="0" rIns="0" bIns="0" rtlCol="0"/>
          <a:lstStyle/>
          <a:p>
            <a:endParaRPr>
              <a:solidFill>
                <a:prstClr val="black"/>
              </a:solidFill>
              <a:latin typeface="Calibri"/>
            </a:endParaRPr>
          </a:p>
        </p:txBody>
      </p:sp>
      <p:sp>
        <p:nvSpPr>
          <p:cNvPr id="5" name="object 5"/>
          <p:cNvSpPr/>
          <p:nvPr/>
        </p:nvSpPr>
        <p:spPr>
          <a:xfrm>
            <a:off x="3309123" y="3440113"/>
            <a:ext cx="168275" cy="213360"/>
          </a:xfrm>
          <a:custGeom>
            <a:avLst/>
            <a:gdLst/>
            <a:ahLst/>
            <a:cxnLst/>
            <a:rect l="l" t="t" r="r" b="b"/>
            <a:pathLst>
              <a:path w="168275" h="213360">
                <a:moveTo>
                  <a:pt x="167722" y="213360"/>
                </a:moveTo>
                <a:lnTo>
                  <a:pt x="0" y="213360"/>
                </a:lnTo>
                <a:lnTo>
                  <a:pt x="0" y="0"/>
                </a:lnTo>
                <a:lnTo>
                  <a:pt x="167722" y="0"/>
                </a:lnTo>
                <a:lnTo>
                  <a:pt x="167722" y="213360"/>
                </a:lnTo>
                <a:close/>
              </a:path>
            </a:pathLst>
          </a:custGeom>
          <a:solidFill>
            <a:srgbClr val="F7F9FA"/>
          </a:solidFill>
        </p:spPr>
        <p:txBody>
          <a:bodyPr wrap="square" lIns="0" tIns="0" rIns="0" bIns="0" rtlCol="0"/>
          <a:lstStyle/>
          <a:p>
            <a:endParaRPr>
              <a:solidFill>
                <a:prstClr val="black"/>
              </a:solidFill>
              <a:latin typeface="Calibri"/>
            </a:endParaRPr>
          </a:p>
        </p:txBody>
      </p:sp>
      <p:sp>
        <p:nvSpPr>
          <p:cNvPr id="6" name="object 6"/>
          <p:cNvSpPr txBox="1"/>
          <p:nvPr/>
        </p:nvSpPr>
        <p:spPr>
          <a:xfrm>
            <a:off x="457794" y="2163000"/>
            <a:ext cx="4013835" cy="1496060"/>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spc="-5" dirty="0">
                <a:solidFill>
                  <a:srgbClr val="313131"/>
                </a:solidFill>
                <a:latin typeface="Verdana"/>
                <a:cs typeface="Verdana"/>
              </a:rPr>
              <a:t>How</a:t>
            </a:r>
            <a:r>
              <a:rPr sz="1400" spc="-20" dirty="0">
                <a:solidFill>
                  <a:srgbClr val="313131"/>
                </a:solidFill>
                <a:latin typeface="Verdana"/>
                <a:cs typeface="Verdana"/>
              </a:rPr>
              <a:t> </a:t>
            </a:r>
            <a:r>
              <a:rPr sz="1400" spc="-5" dirty="0">
                <a:solidFill>
                  <a:srgbClr val="313131"/>
                </a:solidFill>
                <a:latin typeface="Verdana"/>
                <a:cs typeface="Verdana"/>
              </a:rPr>
              <a:t>to</a:t>
            </a:r>
            <a:r>
              <a:rPr sz="1400" spc="-20" dirty="0">
                <a:solidFill>
                  <a:srgbClr val="313131"/>
                </a:solidFill>
                <a:latin typeface="Verdana"/>
                <a:cs typeface="Verdana"/>
              </a:rPr>
              <a:t> </a:t>
            </a:r>
            <a:r>
              <a:rPr sz="1400" spc="-5" dirty="0">
                <a:solidFill>
                  <a:srgbClr val="313131"/>
                </a:solidFill>
                <a:latin typeface="Verdana"/>
                <a:cs typeface="Verdana"/>
              </a:rPr>
              <a:t>evaluate</a:t>
            </a:r>
            <a:r>
              <a:rPr sz="1400" spc="-20" dirty="0">
                <a:solidFill>
                  <a:srgbClr val="313131"/>
                </a:solidFill>
                <a:latin typeface="Verdana"/>
                <a:cs typeface="Verdana"/>
              </a:rPr>
              <a:t> </a:t>
            </a:r>
            <a:r>
              <a:rPr sz="1400" spc="-5" dirty="0">
                <a:solidFill>
                  <a:srgbClr val="313131"/>
                </a:solidFill>
                <a:latin typeface="Verdana"/>
                <a:cs typeface="Verdana"/>
              </a:rPr>
              <a:t>the</a:t>
            </a:r>
            <a:r>
              <a:rPr sz="1400" spc="-20" dirty="0">
                <a:solidFill>
                  <a:srgbClr val="313131"/>
                </a:solidFill>
                <a:latin typeface="Verdana"/>
                <a:cs typeface="Verdana"/>
              </a:rPr>
              <a:t> </a:t>
            </a:r>
            <a:r>
              <a:rPr sz="1400" spc="-5" dirty="0">
                <a:solidFill>
                  <a:srgbClr val="313131"/>
                </a:solidFill>
                <a:latin typeface="Verdana"/>
                <a:cs typeface="Verdana"/>
              </a:rPr>
              <a:t>generated</a:t>
            </a:r>
            <a:r>
              <a:rPr sz="1400" spc="-20" dirty="0">
                <a:solidFill>
                  <a:srgbClr val="313131"/>
                </a:solidFill>
                <a:latin typeface="Verdana"/>
                <a:cs typeface="Verdana"/>
              </a:rPr>
              <a:t> </a:t>
            </a:r>
            <a:r>
              <a:rPr sz="1400" spc="-5" dirty="0">
                <a:solidFill>
                  <a:srgbClr val="313131"/>
                </a:solidFill>
                <a:latin typeface="Verdana"/>
                <a:cs typeface="Verdana"/>
              </a:rPr>
              <a:t>samples?</a:t>
            </a:r>
            <a:endParaRPr sz="1400">
              <a:solidFill>
                <a:prstClr val="black"/>
              </a:solidFill>
              <a:latin typeface="Verdana"/>
              <a:cs typeface="Verdana"/>
            </a:endParaRPr>
          </a:p>
          <a:p>
            <a:pPr marL="616585" lvl="1" indent="-293370">
              <a:spcBef>
                <a:spcPts val="1620"/>
              </a:spcBef>
              <a:buClr>
                <a:srgbClr val="B10639"/>
              </a:buClr>
              <a:buFont typeface="Arial MT"/>
              <a:buChar char="■"/>
              <a:tabLst>
                <a:tab pos="616585" algn="l"/>
                <a:tab pos="617220" algn="l"/>
              </a:tabLst>
            </a:pPr>
            <a:r>
              <a:rPr sz="1400" spc="-5" dirty="0">
                <a:solidFill>
                  <a:srgbClr val="313131"/>
                </a:solidFill>
                <a:latin typeface="Verdana"/>
                <a:cs typeface="Verdana"/>
              </a:rPr>
              <a:t>Cannot</a:t>
            </a:r>
            <a:r>
              <a:rPr sz="1400" spc="-20" dirty="0">
                <a:solidFill>
                  <a:srgbClr val="313131"/>
                </a:solidFill>
                <a:latin typeface="Verdana"/>
                <a:cs typeface="Verdana"/>
              </a:rPr>
              <a:t> </a:t>
            </a:r>
            <a:r>
              <a:rPr sz="1400" spc="-5" dirty="0">
                <a:solidFill>
                  <a:srgbClr val="313131"/>
                </a:solidFill>
                <a:latin typeface="Verdana"/>
                <a:cs typeface="Verdana"/>
              </a:rPr>
              <a:t>rely</a:t>
            </a:r>
            <a:r>
              <a:rPr sz="1400" spc="-15" dirty="0">
                <a:solidFill>
                  <a:srgbClr val="313131"/>
                </a:solidFill>
                <a:latin typeface="Verdana"/>
                <a:cs typeface="Verdana"/>
              </a:rPr>
              <a:t> </a:t>
            </a:r>
            <a:r>
              <a:rPr sz="1400" spc="-5" dirty="0">
                <a:solidFill>
                  <a:srgbClr val="313131"/>
                </a:solidFill>
                <a:latin typeface="Verdana"/>
                <a:cs typeface="Verdana"/>
              </a:rPr>
              <a:t>on</a:t>
            </a:r>
            <a:r>
              <a:rPr sz="1400" spc="-15" dirty="0">
                <a:solidFill>
                  <a:srgbClr val="313131"/>
                </a:solidFill>
                <a:latin typeface="Verdana"/>
                <a:cs typeface="Verdana"/>
              </a:rPr>
              <a:t> </a:t>
            </a:r>
            <a:r>
              <a:rPr sz="1400" spc="-5" dirty="0">
                <a:solidFill>
                  <a:srgbClr val="313131"/>
                </a:solidFill>
                <a:latin typeface="Verdana"/>
                <a:cs typeface="Verdana"/>
              </a:rPr>
              <a:t>the</a:t>
            </a:r>
            <a:r>
              <a:rPr sz="1400" spc="-20" dirty="0">
                <a:solidFill>
                  <a:srgbClr val="313131"/>
                </a:solidFill>
                <a:latin typeface="Verdana"/>
                <a:cs typeface="Verdana"/>
              </a:rPr>
              <a:t> </a:t>
            </a:r>
            <a:r>
              <a:rPr sz="1400" spc="-5" dirty="0">
                <a:solidFill>
                  <a:srgbClr val="313131"/>
                </a:solidFill>
                <a:latin typeface="Verdana"/>
                <a:cs typeface="Verdana"/>
              </a:rPr>
              <a:t>models’</a:t>
            </a:r>
            <a:r>
              <a:rPr sz="1400" spc="-15" dirty="0">
                <a:solidFill>
                  <a:srgbClr val="313131"/>
                </a:solidFill>
                <a:latin typeface="Verdana"/>
                <a:cs typeface="Verdana"/>
              </a:rPr>
              <a:t> </a:t>
            </a:r>
            <a:r>
              <a:rPr sz="1400" spc="-5" dirty="0">
                <a:solidFill>
                  <a:srgbClr val="313131"/>
                </a:solidFill>
                <a:latin typeface="Verdana"/>
                <a:cs typeface="Verdana"/>
              </a:rPr>
              <a:t>loss</a:t>
            </a:r>
            <a:r>
              <a:rPr sz="1400" spc="15" dirty="0">
                <a:solidFill>
                  <a:srgbClr val="313131"/>
                </a:solidFill>
                <a:latin typeface="Verdana"/>
                <a:cs typeface="Verdana"/>
              </a:rPr>
              <a:t> </a:t>
            </a:r>
            <a:r>
              <a:rPr sz="1400" spc="-5" dirty="0">
                <a:solidFill>
                  <a:srgbClr val="222222"/>
                </a:solidFill>
                <a:latin typeface="Arial MT"/>
                <a:cs typeface="Arial MT"/>
              </a:rPr>
              <a:t>:-(</a:t>
            </a:r>
            <a:endParaRPr sz="1400">
              <a:solidFill>
                <a:prstClr val="black"/>
              </a:solidFill>
              <a:latin typeface="Arial MT"/>
              <a:cs typeface="Arial MT"/>
            </a:endParaRPr>
          </a:p>
          <a:p>
            <a:pPr lvl="1">
              <a:spcBef>
                <a:spcPts val="10"/>
              </a:spcBef>
              <a:buClr>
                <a:srgbClr val="B10639"/>
              </a:buClr>
              <a:buFont typeface="Arial MT"/>
              <a:buChar char="■"/>
            </a:pPr>
            <a:endParaRPr sz="1400">
              <a:solidFill>
                <a:prstClr val="black"/>
              </a:solidFill>
              <a:latin typeface="Arial MT"/>
              <a:cs typeface="Arial MT"/>
            </a:endParaRPr>
          </a:p>
          <a:p>
            <a:pPr marL="616585" lvl="1" indent="-293370">
              <a:buClr>
                <a:srgbClr val="B10639"/>
              </a:buClr>
              <a:buFont typeface="Arial MT"/>
              <a:buChar char="■"/>
              <a:tabLst>
                <a:tab pos="616585" algn="l"/>
                <a:tab pos="617220" algn="l"/>
              </a:tabLst>
            </a:pPr>
            <a:r>
              <a:rPr sz="1400" spc="-5" dirty="0">
                <a:solidFill>
                  <a:srgbClr val="313131"/>
                </a:solidFill>
                <a:latin typeface="Verdana"/>
                <a:cs typeface="Verdana"/>
              </a:rPr>
              <a:t>Human</a:t>
            </a:r>
            <a:r>
              <a:rPr sz="1400" spc="-35" dirty="0">
                <a:solidFill>
                  <a:srgbClr val="313131"/>
                </a:solidFill>
                <a:latin typeface="Verdana"/>
                <a:cs typeface="Verdana"/>
              </a:rPr>
              <a:t> </a:t>
            </a:r>
            <a:r>
              <a:rPr sz="1400" spc="-5" dirty="0">
                <a:solidFill>
                  <a:srgbClr val="313131"/>
                </a:solidFill>
                <a:latin typeface="Verdana"/>
                <a:cs typeface="Verdana"/>
              </a:rPr>
              <a:t>evaluation</a:t>
            </a:r>
            <a:r>
              <a:rPr sz="1400" spc="-20" dirty="0">
                <a:solidFill>
                  <a:srgbClr val="313131"/>
                </a:solidFill>
                <a:latin typeface="Verdana"/>
                <a:cs typeface="Verdana"/>
              </a:rPr>
              <a:t> </a:t>
            </a:r>
            <a:r>
              <a:rPr sz="1400" spc="-5" dirty="0">
                <a:solidFill>
                  <a:srgbClr val="222222"/>
                </a:solidFill>
                <a:latin typeface="Arial MT"/>
                <a:cs typeface="Arial MT"/>
              </a:rPr>
              <a:t>:-/</a:t>
            </a:r>
            <a:endParaRPr sz="1400">
              <a:solidFill>
                <a:prstClr val="black"/>
              </a:solidFill>
              <a:latin typeface="Arial MT"/>
              <a:cs typeface="Arial MT"/>
            </a:endParaRPr>
          </a:p>
          <a:p>
            <a:pPr lvl="1">
              <a:spcBef>
                <a:spcPts val="10"/>
              </a:spcBef>
              <a:buClr>
                <a:srgbClr val="B10639"/>
              </a:buClr>
              <a:buFont typeface="Arial MT"/>
              <a:buChar char="■"/>
            </a:pPr>
            <a:endParaRPr sz="1400">
              <a:solidFill>
                <a:prstClr val="black"/>
              </a:solidFill>
              <a:latin typeface="Arial MT"/>
              <a:cs typeface="Arial MT"/>
            </a:endParaRPr>
          </a:p>
          <a:p>
            <a:pPr marL="616585" lvl="1" indent="-293370">
              <a:buClr>
                <a:srgbClr val="B10639"/>
              </a:buClr>
              <a:buFont typeface="Arial MT"/>
              <a:buChar char="■"/>
              <a:tabLst>
                <a:tab pos="616585" algn="l"/>
                <a:tab pos="617220" algn="l"/>
              </a:tabLst>
            </a:pPr>
            <a:r>
              <a:rPr sz="1400" spc="-5" dirty="0">
                <a:solidFill>
                  <a:srgbClr val="313131"/>
                </a:solidFill>
                <a:latin typeface="Verdana"/>
                <a:cs typeface="Verdana"/>
              </a:rPr>
              <a:t>Use</a:t>
            </a:r>
            <a:r>
              <a:rPr sz="1400" spc="-25" dirty="0">
                <a:solidFill>
                  <a:srgbClr val="313131"/>
                </a:solidFill>
                <a:latin typeface="Verdana"/>
                <a:cs typeface="Verdana"/>
              </a:rPr>
              <a:t> </a:t>
            </a:r>
            <a:r>
              <a:rPr sz="1400" dirty="0">
                <a:solidFill>
                  <a:srgbClr val="313131"/>
                </a:solidFill>
                <a:latin typeface="Verdana"/>
                <a:cs typeface="Verdana"/>
              </a:rPr>
              <a:t>a</a:t>
            </a:r>
            <a:r>
              <a:rPr sz="1400" spc="-20" dirty="0">
                <a:solidFill>
                  <a:srgbClr val="313131"/>
                </a:solidFill>
                <a:latin typeface="Verdana"/>
                <a:cs typeface="Verdana"/>
              </a:rPr>
              <a:t> </a:t>
            </a:r>
            <a:r>
              <a:rPr sz="1400" spc="-5" dirty="0">
                <a:solidFill>
                  <a:srgbClr val="313131"/>
                </a:solidFill>
                <a:latin typeface="Verdana"/>
                <a:cs typeface="Verdana"/>
              </a:rPr>
              <a:t>pre-trained</a:t>
            </a:r>
            <a:r>
              <a:rPr sz="1400" spc="-25" dirty="0">
                <a:solidFill>
                  <a:srgbClr val="313131"/>
                </a:solidFill>
                <a:latin typeface="Verdana"/>
                <a:cs typeface="Verdana"/>
              </a:rPr>
              <a:t> </a:t>
            </a:r>
            <a:r>
              <a:rPr sz="1400" spc="-5" dirty="0">
                <a:solidFill>
                  <a:srgbClr val="313131"/>
                </a:solidFill>
                <a:latin typeface="Verdana"/>
                <a:cs typeface="Verdana"/>
              </a:rPr>
              <a:t>model </a:t>
            </a:r>
            <a:r>
              <a:rPr sz="1400" spc="-5" dirty="0">
                <a:solidFill>
                  <a:srgbClr val="222222"/>
                </a:solidFill>
                <a:latin typeface="Arial MT"/>
                <a:cs typeface="Arial MT"/>
              </a:rPr>
              <a:t>:-)</a:t>
            </a:r>
            <a:endParaRPr sz="1400">
              <a:solidFill>
                <a:prstClr val="black"/>
              </a:solidFill>
              <a:latin typeface="Arial MT"/>
              <a:cs typeface="Arial MT"/>
            </a:endParaRPr>
          </a:p>
        </p:txBody>
      </p:sp>
      <p:sp>
        <p:nvSpPr>
          <p:cNvPr id="7" name="object 7"/>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10" name="Picture 2" descr="E:\NIET\Project\xLogo11.png.pagespeed.ic.pydHLuCQEZ.png">
            <a:extLst>
              <a:ext uri="{FF2B5EF4-FFF2-40B4-BE49-F238E27FC236}">
                <a16:creationId xmlns:a16="http://schemas.microsoft.com/office/drawing/2014/main" id="{4CD6A4D7-490F-42D5-CCA0-FE321895FC30}"/>
              </a:ext>
            </a:extLst>
          </p:cNvPr>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11" name="Title 1">
            <a:extLst>
              <a:ext uri="{FF2B5EF4-FFF2-40B4-BE49-F238E27FC236}">
                <a16:creationId xmlns:a16="http://schemas.microsoft.com/office/drawing/2014/main" id="{329801FB-3133-CF60-059E-2329880D8929}"/>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Limitations of GANs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bject 16"/>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2384425" cy="330200"/>
          </a:xfrm>
          <a:prstGeom prst="rect">
            <a:avLst/>
          </a:prstGeom>
        </p:spPr>
        <p:txBody>
          <a:bodyPr vert="horz" wrap="square" lIns="0" tIns="12700" rIns="0" bIns="0" rtlCol="0">
            <a:spAutoFit/>
          </a:bodyPr>
          <a:lstStyle/>
          <a:p>
            <a:pPr marL="12700">
              <a:spcBef>
                <a:spcPts val="100"/>
              </a:spcBef>
            </a:pPr>
            <a:r>
              <a:rPr spc="-5" dirty="0"/>
              <a:t>Evaluation</a:t>
            </a:r>
            <a:r>
              <a:rPr spc="-85" dirty="0"/>
              <a:t> </a:t>
            </a:r>
            <a:r>
              <a:rPr spc="-5" dirty="0"/>
              <a:t>metrics</a:t>
            </a:r>
          </a:p>
        </p:txBody>
      </p:sp>
      <p:sp>
        <p:nvSpPr>
          <p:cNvPr id="3" name="object 3"/>
          <p:cNvSpPr txBox="1"/>
          <p:nvPr/>
        </p:nvSpPr>
        <p:spPr>
          <a:xfrm>
            <a:off x="457793" y="2163000"/>
            <a:ext cx="5930900" cy="1019810"/>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b="1" spc="-5" dirty="0">
                <a:solidFill>
                  <a:srgbClr val="313131"/>
                </a:solidFill>
                <a:latin typeface="Verdana"/>
                <a:cs typeface="Verdana"/>
              </a:rPr>
              <a:t>Inception</a:t>
            </a:r>
            <a:r>
              <a:rPr sz="1400" b="1" spc="-20" dirty="0">
                <a:solidFill>
                  <a:srgbClr val="313131"/>
                </a:solidFill>
                <a:latin typeface="Verdana"/>
                <a:cs typeface="Verdana"/>
              </a:rPr>
              <a:t> </a:t>
            </a:r>
            <a:r>
              <a:rPr sz="1400" b="1" spc="-5" dirty="0">
                <a:solidFill>
                  <a:srgbClr val="313131"/>
                </a:solidFill>
                <a:latin typeface="Verdana"/>
                <a:cs typeface="Verdana"/>
              </a:rPr>
              <a:t>Score</a:t>
            </a:r>
            <a:r>
              <a:rPr sz="1400" b="1" spc="20" dirty="0">
                <a:solidFill>
                  <a:srgbClr val="313131"/>
                </a:solidFill>
                <a:latin typeface="Verdana"/>
                <a:cs typeface="Verdana"/>
              </a:rPr>
              <a:t> </a:t>
            </a:r>
            <a:r>
              <a:rPr sz="1400" b="1" spc="-5" dirty="0">
                <a:solidFill>
                  <a:srgbClr val="313131"/>
                </a:solidFill>
                <a:latin typeface="Verdana"/>
                <a:cs typeface="Verdana"/>
              </a:rPr>
              <a:t>(IS)</a:t>
            </a:r>
            <a:r>
              <a:rPr sz="1400" b="1" spc="-10" dirty="0">
                <a:solidFill>
                  <a:srgbClr val="313131"/>
                </a:solidFill>
                <a:latin typeface="Verdana"/>
                <a:cs typeface="Verdana"/>
              </a:rPr>
              <a:t> </a:t>
            </a:r>
            <a:r>
              <a:rPr sz="1000" spc="-5" dirty="0">
                <a:solidFill>
                  <a:srgbClr val="313131"/>
                </a:solidFill>
                <a:latin typeface="Verdana"/>
                <a:cs typeface="Verdana"/>
              </a:rPr>
              <a:t>[Salimans</a:t>
            </a:r>
            <a:r>
              <a:rPr sz="1000" spc="-15" dirty="0">
                <a:solidFill>
                  <a:srgbClr val="313131"/>
                </a:solidFill>
                <a:latin typeface="Verdana"/>
                <a:cs typeface="Verdana"/>
              </a:rPr>
              <a:t> </a:t>
            </a:r>
            <a:r>
              <a:rPr sz="1000" spc="-5" dirty="0">
                <a:solidFill>
                  <a:srgbClr val="313131"/>
                </a:solidFill>
                <a:latin typeface="Verdana"/>
                <a:cs typeface="Verdana"/>
              </a:rPr>
              <a:t>et</a:t>
            </a:r>
            <a:r>
              <a:rPr sz="1000" spc="-15" dirty="0">
                <a:solidFill>
                  <a:srgbClr val="313131"/>
                </a:solidFill>
                <a:latin typeface="Verdana"/>
                <a:cs typeface="Verdana"/>
              </a:rPr>
              <a:t> </a:t>
            </a:r>
            <a:r>
              <a:rPr sz="1000" spc="-5" dirty="0">
                <a:solidFill>
                  <a:srgbClr val="313131"/>
                </a:solidFill>
                <a:latin typeface="Verdana"/>
                <a:cs typeface="Verdana"/>
              </a:rPr>
              <a:t>al.,</a:t>
            </a:r>
            <a:r>
              <a:rPr sz="1000" spc="-10" dirty="0">
                <a:solidFill>
                  <a:srgbClr val="313131"/>
                </a:solidFill>
                <a:latin typeface="Verdana"/>
                <a:cs typeface="Verdana"/>
              </a:rPr>
              <a:t> </a:t>
            </a:r>
            <a:r>
              <a:rPr sz="1000" spc="-5" dirty="0">
                <a:solidFill>
                  <a:srgbClr val="313131"/>
                </a:solidFill>
                <a:latin typeface="Verdana"/>
                <a:cs typeface="Verdana"/>
              </a:rPr>
              <a:t>2016]</a:t>
            </a:r>
            <a:endParaRPr sz="1000">
              <a:solidFill>
                <a:prstClr val="black"/>
              </a:solidFill>
              <a:latin typeface="Verdana"/>
              <a:cs typeface="Verdana"/>
            </a:endParaRPr>
          </a:p>
          <a:p>
            <a:pPr marL="616585" lvl="1" indent="-262890">
              <a:spcBef>
                <a:spcPts val="1170"/>
              </a:spcBef>
              <a:buClr>
                <a:srgbClr val="B10639"/>
              </a:buClr>
              <a:buSzPct val="71428"/>
              <a:buFont typeface="Arial MT"/>
              <a:buChar char="■"/>
              <a:tabLst>
                <a:tab pos="616585" algn="l"/>
                <a:tab pos="617220" algn="l"/>
              </a:tabLst>
            </a:pPr>
            <a:r>
              <a:rPr sz="1400" spc="-5" dirty="0">
                <a:solidFill>
                  <a:srgbClr val="313131"/>
                </a:solidFill>
                <a:latin typeface="Verdana"/>
                <a:cs typeface="Verdana"/>
              </a:rPr>
              <a:t>Inception</a:t>
            </a:r>
            <a:r>
              <a:rPr sz="1400" spc="-15" dirty="0">
                <a:solidFill>
                  <a:srgbClr val="313131"/>
                </a:solidFill>
                <a:latin typeface="Verdana"/>
                <a:cs typeface="Verdana"/>
              </a:rPr>
              <a:t> </a:t>
            </a:r>
            <a:r>
              <a:rPr sz="1400" spc="-5" dirty="0">
                <a:solidFill>
                  <a:srgbClr val="313131"/>
                </a:solidFill>
                <a:latin typeface="Verdana"/>
                <a:cs typeface="Verdana"/>
              </a:rPr>
              <a:t>model</a:t>
            </a:r>
            <a:r>
              <a:rPr sz="1400" spc="10" dirty="0">
                <a:solidFill>
                  <a:srgbClr val="313131"/>
                </a:solidFill>
                <a:latin typeface="Verdana"/>
                <a:cs typeface="Verdana"/>
              </a:rPr>
              <a:t> </a:t>
            </a:r>
            <a:r>
              <a:rPr sz="1000" spc="-5" dirty="0">
                <a:solidFill>
                  <a:srgbClr val="313131"/>
                </a:solidFill>
                <a:latin typeface="Verdana"/>
                <a:cs typeface="Verdana"/>
              </a:rPr>
              <a:t>(Szegedy</a:t>
            </a:r>
            <a:r>
              <a:rPr sz="1000" spc="-10" dirty="0">
                <a:solidFill>
                  <a:srgbClr val="313131"/>
                </a:solidFill>
                <a:latin typeface="Verdana"/>
                <a:cs typeface="Verdana"/>
              </a:rPr>
              <a:t> </a:t>
            </a:r>
            <a:r>
              <a:rPr sz="1000" spc="-5" dirty="0">
                <a:solidFill>
                  <a:srgbClr val="313131"/>
                </a:solidFill>
                <a:latin typeface="Verdana"/>
                <a:cs typeface="Verdana"/>
              </a:rPr>
              <a:t>et</a:t>
            </a:r>
            <a:r>
              <a:rPr sz="1000" spc="-10" dirty="0">
                <a:solidFill>
                  <a:srgbClr val="313131"/>
                </a:solidFill>
                <a:latin typeface="Verdana"/>
                <a:cs typeface="Verdana"/>
              </a:rPr>
              <a:t> </a:t>
            </a:r>
            <a:r>
              <a:rPr sz="1000" spc="-5" dirty="0">
                <a:solidFill>
                  <a:srgbClr val="313131"/>
                </a:solidFill>
                <a:latin typeface="Verdana"/>
                <a:cs typeface="Verdana"/>
              </a:rPr>
              <a:t>al.,</a:t>
            </a:r>
            <a:r>
              <a:rPr sz="1000" spc="-10" dirty="0">
                <a:solidFill>
                  <a:srgbClr val="313131"/>
                </a:solidFill>
                <a:latin typeface="Verdana"/>
                <a:cs typeface="Verdana"/>
              </a:rPr>
              <a:t> </a:t>
            </a:r>
            <a:r>
              <a:rPr sz="1000" spc="-5" dirty="0">
                <a:solidFill>
                  <a:srgbClr val="313131"/>
                </a:solidFill>
                <a:latin typeface="Verdana"/>
                <a:cs typeface="Verdana"/>
              </a:rPr>
              <a:t>2015)</a:t>
            </a:r>
            <a:r>
              <a:rPr sz="1000" spc="5" dirty="0">
                <a:solidFill>
                  <a:srgbClr val="313131"/>
                </a:solidFill>
                <a:latin typeface="Verdana"/>
                <a:cs typeface="Verdana"/>
              </a:rPr>
              <a:t> </a:t>
            </a:r>
            <a:r>
              <a:rPr sz="1400" spc="-5" dirty="0">
                <a:solidFill>
                  <a:srgbClr val="313131"/>
                </a:solidFill>
                <a:latin typeface="Verdana"/>
                <a:cs typeface="Verdana"/>
              </a:rPr>
              <a:t>trained</a:t>
            </a:r>
            <a:r>
              <a:rPr sz="1400" spc="-15" dirty="0">
                <a:solidFill>
                  <a:srgbClr val="313131"/>
                </a:solidFill>
                <a:latin typeface="Verdana"/>
                <a:cs typeface="Verdana"/>
              </a:rPr>
              <a:t> </a:t>
            </a:r>
            <a:r>
              <a:rPr sz="1400" spc="-5" dirty="0">
                <a:solidFill>
                  <a:srgbClr val="313131"/>
                </a:solidFill>
                <a:latin typeface="Verdana"/>
                <a:cs typeface="Verdana"/>
              </a:rPr>
              <a:t>on</a:t>
            </a:r>
            <a:r>
              <a:rPr sz="1400" spc="-10" dirty="0">
                <a:solidFill>
                  <a:srgbClr val="313131"/>
                </a:solidFill>
                <a:latin typeface="Verdana"/>
                <a:cs typeface="Verdana"/>
              </a:rPr>
              <a:t> </a:t>
            </a:r>
            <a:r>
              <a:rPr sz="1400" spc="-5" dirty="0">
                <a:solidFill>
                  <a:srgbClr val="313131"/>
                </a:solidFill>
                <a:latin typeface="Verdana"/>
                <a:cs typeface="Verdana"/>
              </a:rPr>
              <a:t>ImageNet</a:t>
            </a:r>
            <a:endParaRPr sz="1400">
              <a:solidFill>
                <a:prstClr val="black"/>
              </a:solidFill>
              <a:latin typeface="Verdana"/>
              <a:cs typeface="Verdana"/>
            </a:endParaRPr>
          </a:p>
          <a:p>
            <a:pPr lvl="1">
              <a:spcBef>
                <a:spcPts val="40"/>
              </a:spcBef>
              <a:buClr>
                <a:srgbClr val="B10639"/>
              </a:buClr>
              <a:buFont typeface="Arial MT"/>
              <a:buChar char="■"/>
            </a:pPr>
            <a:endParaRPr sz="1300">
              <a:solidFill>
                <a:prstClr val="black"/>
              </a:solidFill>
              <a:latin typeface="Verdana"/>
              <a:cs typeface="Verdana"/>
            </a:endParaRPr>
          </a:p>
          <a:p>
            <a:pPr marL="616585" lvl="1" indent="-262890">
              <a:buClr>
                <a:srgbClr val="B10639"/>
              </a:buClr>
              <a:buSzPct val="71428"/>
              <a:buFont typeface="Arial MT"/>
              <a:buChar char="■"/>
              <a:tabLst>
                <a:tab pos="616585" algn="l"/>
                <a:tab pos="617220" algn="l"/>
              </a:tabLst>
            </a:pPr>
            <a:r>
              <a:rPr sz="1400" spc="-5" dirty="0">
                <a:solidFill>
                  <a:srgbClr val="313131"/>
                </a:solidFill>
                <a:latin typeface="Verdana"/>
                <a:cs typeface="Verdana"/>
              </a:rPr>
              <a:t>Given</a:t>
            </a:r>
            <a:r>
              <a:rPr sz="1400" spc="-10" dirty="0">
                <a:solidFill>
                  <a:srgbClr val="313131"/>
                </a:solidFill>
                <a:latin typeface="Verdana"/>
                <a:cs typeface="Verdana"/>
              </a:rPr>
              <a:t> </a:t>
            </a:r>
            <a:r>
              <a:rPr sz="1400" spc="-5" dirty="0">
                <a:solidFill>
                  <a:srgbClr val="313131"/>
                </a:solidFill>
                <a:latin typeface="Verdana"/>
                <a:cs typeface="Verdana"/>
              </a:rPr>
              <a:t>generated</a:t>
            </a:r>
            <a:r>
              <a:rPr sz="1400" spc="-10" dirty="0">
                <a:solidFill>
                  <a:srgbClr val="313131"/>
                </a:solidFill>
                <a:latin typeface="Verdana"/>
                <a:cs typeface="Verdana"/>
              </a:rPr>
              <a:t> </a:t>
            </a:r>
            <a:r>
              <a:rPr sz="1400" spc="-5" dirty="0">
                <a:solidFill>
                  <a:srgbClr val="313131"/>
                </a:solidFill>
                <a:latin typeface="Verdana"/>
                <a:cs typeface="Verdana"/>
              </a:rPr>
              <a:t>image </a:t>
            </a:r>
            <a:r>
              <a:rPr sz="1400" i="1" spc="-5" dirty="0">
                <a:solidFill>
                  <a:srgbClr val="313131"/>
                </a:solidFill>
                <a:latin typeface="Verdana"/>
                <a:cs typeface="Verdana"/>
              </a:rPr>
              <a:t>x</a:t>
            </a:r>
            <a:r>
              <a:rPr sz="1400" spc="-5" dirty="0">
                <a:solidFill>
                  <a:srgbClr val="313131"/>
                </a:solidFill>
                <a:latin typeface="Verdana"/>
                <a:cs typeface="Verdana"/>
              </a:rPr>
              <a:t>,</a:t>
            </a:r>
            <a:r>
              <a:rPr sz="1400" spc="-10" dirty="0">
                <a:solidFill>
                  <a:srgbClr val="313131"/>
                </a:solidFill>
                <a:latin typeface="Verdana"/>
                <a:cs typeface="Verdana"/>
              </a:rPr>
              <a:t> </a:t>
            </a:r>
            <a:r>
              <a:rPr sz="1400" spc="-5" dirty="0">
                <a:solidFill>
                  <a:srgbClr val="313131"/>
                </a:solidFill>
                <a:latin typeface="Verdana"/>
                <a:cs typeface="Verdana"/>
              </a:rPr>
              <a:t>assigned</a:t>
            </a:r>
            <a:r>
              <a:rPr sz="1400" spc="-10" dirty="0">
                <a:solidFill>
                  <a:srgbClr val="313131"/>
                </a:solidFill>
                <a:latin typeface="Verdana"/>
                <a:cs typeface="Verdana"/>
              </a:rPr>
              <a:t> </a:t>
            </a:r>
            <a:r>
              <a:rPr sz="1400" spc="-5" dirty="0">
                <a:solidFill>
                  <a:srgbClr val="313131"/>
                </a:solidFill>
                <a:latin typeface="Verdana"/>
                <a:cs typeface="Verdana"/>
              </a:rPr>
              <a:t>the</a:t>
            </a:r>
            <a:r>
              <a:rPr sz="1400" spc="-10" dirty="0">
                <a:solidFill>
                  <a:srgbClr val="313131"/>
                </a:solidFill>
                <a:latin typeface="Verdana"/>
                <a:cs typeface="Verdana"/>
              </a:rPr>
              <a:t> </a:t>
            </a:r>
            <a:r>
              <a:rPr sz="1400" spc="-5" dirty="0">
                <a:solidFill>
                  <a:srgbClr val="313131"/>
                </a:solidFill>
                <a:latin typeface="Verdana"/>
                <a:cs typeface="Verdana"/>
              </a:rPr>
              <a:t>label</a:t>
            </a:r>
            <a:r>
              <a:rPr sz="1400" spc="5" dirty="0">
                <a:solidFill>
                  <a:srgbClr val="313131"/>
                </a:solidFill>
                <a:latin typeface="Verdana"/>
                <a:cs typeface="Verdana"/>
              </a:rPr>
              <a:t> </a:t>
            </a:r>
            <a:r>
              <a:rPr sz="1400" i="1" dirty="0">
                <a:solidFill>
                  <a:srgbClr val="313131"/>
                </a:solidFill>
                <a:latin typeface="Verdana"/>
                <a:cs typeface="Verdana"/>
              </a:rPr>
              <a:t>y</a:t>
            </a:r>
            <a:r>
              <a:rPr sz="1400" i="1" spc="-10" dirty="0">
                <a:solidFill>
                  <a:srgbClr val="313131"/>
                </a:solidFill>
                <a:latin typeface="Verdana"/>
                <a:cs typeface="Verdana"/>
              </a:rPr>
              <a:t> </a:t>
            </a:r>
            <a:r>
              <a:rPr sz="1400" spc="-5" dirty="0">
                <a:solidFill>
                  <a:srgbClr val="313131"/>
                </a:solidFill>
                <a:latin typeface="Verdana"/>
                <a:cs typeface="Verdana"/>
              </a:rPr>
              <a:t>by</a:t>
            </a:r>
            <a:r>
              <a:rPr sz="1400" spc="-10" dirty="0">
                <a:solidFill>
                  <a:srgbClr val="313131"/>
                </a:solidFill>
                <a:latin typeface="Verdana"/>
                <a:cs typeface="Verdana"/>
              </a:rPr>
              <a:t> </a:t>
            </a:r>
            <a:r>
              <a:rPr sz="1400" spc="-5" dirty="0">
                <a:solidFill>
                  <a:srgbClr val="313131"/>
                </a:solidFill>
                <a:latin typeface="Verdana"/>
                <a:cs typeface="Verdana"/>
              </a:rPr>
              <a:t>model</a:t>
            </a:r>
            <a:r>
              <a:rPr sz="1400" dirty="0">
                <a:solidFill>
                  <a:srgbClr val="313131"/>
                </a:solidFill>
                <a:latin typeface="Verdana"/>
                <a:cs typeface="Verdana"/>
              </a:rPr>
              <a:t> </a:t>
            </a:r>
            <a:r>
              <a:rPr sz="1400" i="1" spc="-5" dirty="0">
                <a:solidFill>
                  <a:srgbClr val="313131"/>
                </a:solidFill>
                <a:latin typeface="Verdana"/>
                <a:cs typeface="Verdana"/>
              </a:rPr>
              <a:t>p</a:t>
            </a:r>
            <a:r>
              <a:rPr sz="1400" spc="-5" dirty="0">
                <a:solidFill>
                  <a:srgbClr val="313131"/>
                </a:solidFill>
                <a:latin typeface="Verdana"/>
                <a:cs typeface="Verdana"/>
              </a:rPr>
              <a:t>:</a:t>
            </a:r>
            <a:endParaRPr sz="1400">
              <a:solidFill>
                <a:prstClr val="black"/>
              </a:solidFill>
              <a:latin typeface="Verdana"/>
              <a:cs typeface="Verdana"/>
            </a:endParaRPr>
          </a:p>
        </p:txBody>
      </p:sp>
      <p:sp>
        <p:nvSpPr>
          <p:cNvPr id="4" name="object 4"/>
          <p:cNvSpPr txBox="1"/>
          <p:nvPr/>
        </p:nvSpPr>
        <p:spPr>
          <a:xfrm>
            <a:off x="3819424" y="3363151"/>
            <a:ext cx="2121535" cy="228268"/>
          </a:xfrm>
          <a:prstGeom prst="rect">
            <a:avLst/>
          </a:prstGeom>
        </p:spPr>
        <p:txBody>
          <a:bodyPr vert="horz" wrap="square" lIns="0" tIns="12700" rIns="0" bIns="0" rtlCol="0">
            <a:spAutoFit/>
          </a:bodyPr>
          <a:lstStyle/>
          <a:p>
            <a:pPr marL="12700">
              <a:spcBef>
                <a:spcPts val="100"/>
              </a:spcBef>
            </a:pPr>
            <a:r>
              <a:rPr sz="1400" spc="-5" dirty="0">
                <a:solidFill>
                  <a:srgbClr val="313131"/>
                </a:solidFill>
                <a:latin typeface="Verdana"/>
                <a:cs typeface="Verdana"/>
              </a:rPr>
              <a:t>low</a:t>
            </a:r>
            <a:r>
              <a:rPr sz="1400" spc="-35" dirty="0">
                <a:solidFill>
                  <a:srgbClr val="313131"/>
                </a:solidFill>
                <a:latin typeface="Verdana"/>
                <a:cs typeface="Verdana"/>
              </a:rPr>
              <a:t> </a:t>
            </a:r>
            <a:r>
              <a:rPr sz="1400" spc="-5" dirty="0">
                <a:solidFill>
                  <a:srgbClr val="313131"/>
                </a:solidFill>
                <a:latin typeface="Verdana"/>
                <a:cs typeface="Verdana"/>
              </a:rPr>
              <a:t>entropy</a:t>
            </a:r>
            <a:r>
              <a:rPr sz="1400" spc="-30" dirty="0">
                <a:solidFill>
                  <a:srgbClr val="313131"/>
                </a:solidFill>
                <a:latin typeface="Verdana"/>
                <a:cs typeface="Verdana"/>
              </a:rPr>
              <a:t> </a:t>
            </a:r>
            <a:r>
              <a:rPr sz="1400" spc="-5" dirty="0">
                <a:solidFill>
                  <a:srgbClr val="313131"/>
                </a:solidFill>
                <a:latin typeface="Verdana"/>
                <a:cs typeface="Verdana"/>
              </a:rPr>
              <a:t>(one</a:t>
            </a:r>
            <a:r>
              <a:rPr sz="1400" spc="-30" dirty="0">
                <a:solidFill>
                  <a:srgbClr val="313131"/>
                </a:solidFill>
                <a:latin typeface="Verdana"/>
                <a:cs typeface="Verdana"/>
              </a:rPr>
              <a:t> </a:t>
            </a:r>
            <a:r>
              <a:rPr sz="1400" spc="-5" dirty="0">
                <a:solidFill>
                  <a:srgbClr val="313131"/>
                </a:solidFill>
                <a:latin typeface="Verdana"/>
                <a:cs typeface="Verdana"/>
              </a:rPr>
              <a:t>class)</a:t>
            </a:r>
            <a:endParaRPr sz="1400">
              <a:solidFill>
                <a:prstClr val="black"/>
              </a:solidFill>
              <a:latin typeface="Verdana"/>
              <a:cs typeface="Verdana"/>
            </a:endParaRPr>
          </a:p>
        </p:txBody>
      </p:sp>
      <p:sp>
        <p:nvSpPr>
          <p:cNvPr id="5" name="object 5"/>
          <p:cNvSpPr txBox="1"/>
          <p:nvPr/>
        </p:nvSpPr>
        <p:spPr>
          <a:xfrm>
            <a:off x="768969" y="3782252"/>
            <a:ext cx="5694045" cy="448309"/>
          </a:xfrm>
          <a:prstGeom prst="rect">
            <a:avLst/>
          </a:prstGeom>
        </p:spPr>
        <p:txBody>
          <a:bodyPr vert="horz" wrap="square" lIns="0" tIns="22860" rIns="0" bIns="0" rtlCol="0">
            <a:spAutoFit/>
          </a:bodyPr>
          <a:lstStyle/>
          <a:p>
            <a:pPr marL="305435" marR="5080" indent="-293370">
              <a:lnSpc>
                <a:spcPts val="1650"/>
              </a:lnSpc>
              <a:spcBef>
                <a:spcPts val="180"/>
              </a:spcBef>
              <a:buClr>
                <a:srgbClr val="B10639"/>
              </a:buClr>
              <a:buFont typeface="Arial MT"/>
              <a:buChar char="■"/>
              <a:tabLst>
                <a:tab pos="305435" algn="l"/>
                <a:tab pos="306070" algn="l"/>
              </a:tabLst>
            </a:pPr>
            <a:r>
              <a:rPr sz="1400" spc="-5" dirty="0">
                <a:solidFill>
                  <a:srgbClr val="313131"/>
                </a:solidFill>
                <a:latin typeface="Verdana"/>
                <a:cs typeface="Verdana"/>
              </a:rPr>
              <a:t>The distribution over all generated images should be spread </a:t>
            </a:r>
            <a:r>
              <a:rPr sz="1400" spc="-480" dirty="0">
                <a:solidFill>
                  <a:srgbClr val="313131"/>
                </a:solidFill>
                <a:latin typeface="Verdana"/>
                <a:cs typeface="Verdana"/>
              </a:rPr>
              <a:t> </a:t>
            </a:r>
            <a:r>
              <a:rPr sz="1400" spc="-5" dirty="0">
                <a:solidFill>
                  <a:srgbClr val="313131"/>
                </a:solidFill>
                <a:latin typeface="Verdana"/>
                <a:cs typeface="Verdana"/>
              </a:rPr>
              <a:t>(evaluating</a:t>
            </a:r>
            <a:r>
              <a:rPr sz="1400" spc="-10" dirty="0">
                <a:solidFill>
                  <a:srgbClr val="313131"/>
                </a:solidFill>
                <a:latin typeface="Verdana"/>
                <a:cs typeface="Verdana"/>
              </a:rPr>
              <a:t> </a:t>
            </a:r>
            <a:r>
              <a:rPr sz="1400" spc="-5" dirty="0">
                <a:solidFill>
                  <a:srgbClr val="313131"/>
                </a:solidFill>
                <a:latin typeface="Verdana"/>
                <a:cs typeface="Verdana"/>
              </a:rPr>
              <a:t>mode collapse)</a:t>
            </a:r>
            <a:endParaRPr sz="1400">
              <a:solidFill>
                <a:prstClr val="black"/>
              </a:solidFill>
              <a:latin typeface="Verdana"/>
              <a:cs typeface="Verdana"/>
            </a:endParaRPr>
          </a:p>
        </p:txBody>
      </p:sp>
      <p:sp>
        <p:nvSpPr>
          <p:cNvPr id="6" name="object 6"/>
          <p:cNvSpPr txBox="1"/>
          <p:nvPr/>
        </p:nvSpPr>
        <p:spPr>
          <a:xfrm>
            <a:off x="768969" y="4410900"/>
            <a:ext cx="5622925" cy="867410"/>
          </a:xfrm>
          <a:prstGeom prst="rect">
            <a:avLst/>
          </a:prstGeom>
        </p:spPr>
        <p:txBody>
          <a:bodyPr vert="horz" wrap="square" lIns="0" tIns="12700" rIns="0" bIns="0" rtlCol="0">
            <a:spAutoFit/>
          </a:bodyPr>
          <a:lstStyle/>
          <a:p>
            <a:pPr marL="3062605">
              <a:spcBef>
                <a:spcPts val="100"/>
              </a:spcBef>
            </a:pPr>
            <a:r>
              <a:rPr sz="1400" spc="-5" dirty="0">
                <a:solidFill>
                  <a:srgbClr val="313131"/>
                </a:solidFill>
                <a:latin typeface="Verdana"/>
                <a:cs typeface="Verdana"/>
              </a:rPr>
              <a:t>high</a:t>
            </a:r>
            <a:r>
              <a:rPr sz="1400" spc="-35" dirty="0">
                <a:solidFill>
                  <a:srgbClr val="313131"/>
                </a:solidFill>
                <a:latin typeface="Verdana"/>
                <a:cs typeface="Verdana"/>
              </a:rPr>
              <a:t> </a:t>
            </a:r>
            <a:r>
              <a:rPr sz="1400" spc="-5" dirty="0">
                <a:solidFill>
                  <a:srgbClr val="313131"/>
                </a:solidFill>
                <a:latin typeface="Verdana"/>
                <a:cs typeface="Verdana"/>
              </a:rPr>
              <a:t>entropy</a:t>
            </a:r>
            <a:r>
              <a:rPr sz="1400" spc="-30" dirty="0">
                <a:solidFill>
                  <a:srgbClr val="313131"/>
                </a:solidFill>
                <a:latin typeface="Verdana"/>
                <a:cs typeface="Verdana"/>
              </a:rPr>
              <a:t> </a:t>
            </a:r>
            <a:r>
              <a:rPr sz="1400" spc="-5" dirty="0">
                <a:solidFill>
                  <a:srgbClr val="313131"/>
                </a:solidFill>
                <a:latin typeface="Verdana"/>
                <a:cs typeface="Verdana"/>
              </a:rPr>
              <a:t>(many</a:t>
            </a:r>
            <a:r>
              <a:rPr sz="1400" spc="-30" dirty="0">
                <a:solidFill>
                  <a:srgbClr val="313131"/>
                </a:solidFill>
                <a:latin typeface="Verdana"/>
                <a:cs typeface="Verdana"/>
              </a:rPr>
              <a:t> </a:t>
            </a:r>
            <a:r>
              <a:rPr sz="1400" spc="-5" dirty="0">
                <a:solidFill>
                  <a:srgbClr val="313131"/>
                </a:solidFill>
                <a:latin typeface="Verdana"/>
                <a:cs typeface="Verdana"/>
              </a:rPr>
              <a:t>classes)</a:t>
            </a:r>
            <a:endParaRPr sz="1400">
              <a:solidFill>
                <a:prstClr val="black"/>
              </a:solidFill>
              <a:latin typeface="Verdana"/>
              <a:cs typeface="Verdana"/>
            </a:endParaRPr>
          </a:p>
          <a:p>
            <a:endParaRPr sz="1700">
              <a:solidFill>
                <a:prstClr val="black"/>
              </a:solidFill>
              <a:latin typeface="Verdana"/>
              <a:cs typeface="Verdana"/>
            </a:endParaRPr>
          </a:p>
          <a:p>
            <a:pPr marL="305435" indent="-293370">
              <a:spcBef>
                <a:spcPts val="1200"/>
              </a:spcBef>
              <a:buClr>
                <a:srgbClr val="B10639"/>
              </a:buClr>
              <a:buFont typeface="Arial MT"/>
              <a:buChar char="■"/>
              <a:tabLst>
                <a:tab pos="305435" algn="l"/>
                <a:tab pos="306070" algn="l"/>
              </a:tabLst>
            </a:pPr>
            <a:r>
              <a:rPr sz="1400" spc="-5" dirty="0">
                <a:solidFill>
                  <a:srgbClr val="313131"/>
                </a:solidFill>
                <a:latin typeface="Verdana"/>
                <a:cs typeface="Verdana"/>
              </a:rPr>
              <a:t>Combining</a:t>
            </a:r>
            <a:r>
              <a:rPr sz="1400" spc="-15" dirty="0">
                <a:solidFill>
                  <a:srgbClr val="313131"/>
                </a:solidFill>
                <a:latin typeface="Verdana"/>
                <a:cs typeface="Verdana"/>
              </a:rPr>
              <a:t> </a:t>
            </a:r>
            <a:r>
              <a:rPr sz="1400" spc="-5" dirty="0">
                <a:solidFill>
                  <a:srgbClr val="313131"/>
                </a:solidFill>
                <a:latin typeface="Verdana"/>
                <a:cs typeface="Verdana"/>
              </a:rPr>
              <a:t>the</a:t>
            </a:r>
            <a:r>
              <a:rPr sz="1400" spc="-15" dirty="0">
                <a:solidFill>
                  <a:srgbClr val="313131"/>
                </a:solidFill>
                <a:latin typeface="Verdana"/>
                <a:cs typeface="Verdana"/>
              </a:rPr>
              <a:t> </a:t>
            </a:r>
            <a:r>
              <a:rPr sz="1400" spc="-5" dirty="0">
                <a:solidFill>
                  <a:srgbClr val="313131"/>
                </a:solidFill>
                <a:latin typeface="Verdana"/>
                <a:cs typeface="Verdana"/>
              </a:rPr>
              <a:t>above,</a:t>
            </a:r>
            <a:r>
              <a:rPr sz="1400" spc="-10" dirty="0">
                <a:solidFill>
                  <a:srgbClr val="313131"/>
                </a:solidFill>
                <a:latin typeface="Verdana"/>
                <a:cs typeface="Verdana"/>
              </a:rPr>
              <a:t> </a:t>
            </a:r>
            <a:r>
              <a:rPr sz="1400" spc="-5" dirty="0">
                <a:solidFill>
                  <a:srgbClr val="313131"/>
                </a:solidFill>
                <a:latin typeface="Verdana"/>
                <a:cs typeface="Verdana"/>
              </a:rPr>
              <a:t>we</a:t>
            </a:r>
            <a:r>
              <a:rPr sz="1400" spc="-15" dirty="0">
                <a:solidFill>
                  <a:srgbClr val="313131"/>
                </a:solidFill>
                <a:latin typeface="Verdana"/>
                <a:cs typeface="Verdana"/>
              </a:rPr>
              <a:t> </a:t>
            </a:r>
            <a:r>
              <a:rPr sz="1400" spc="-5" dirty="0">
                <a:solidFill>
                  <a:srgbClr val="313131"/>
                </a:solidFill>
                <a:latin typeface="Verdana"/>
                <a:cs typeface="Verdana"/>
              </a:rPr>
              <a:t>get</a:t>
            </a:r>
            <a:r>
              <a:rPr sz="1400" spc="-15" dirty="0">
                <a:solidFill>
                  <a:srgbClr val="313131"/>
                </a:solidFill>
                <a:latin typeface="Verdana"/>
                <a:cs typeface="Verdana"/>
              </a:rPr>
              <a:t> </a:t>
            </a:r>
            <a:r>
              <a:rPr sz="1400" spc="-5" dirty="0">
                <a:solidFill>
                  <a:srgbClr val="313131"/>
                </a:solidFill>
                <a:latin typeface="Verdana"/>
                <a:cs typeface="Verdana"/>
              </a:rPr>
              <a:t>the</a:t>
            </a:r>
            <a:r>
              <a:rPr sz="1400" spc="-10" dirty="0">
                <a:solidFill>
                  <a:srgbClr val="313131"/>
                </a:solidFill>
                <a:latin typeface="Verdana"/>
                <a:cs typeface="Verdana"/>
              </a:rPr>
              <a:t> </a:t>
            </a:r>
            <a:r>
              <a:rPr sz="1400" spc="-5" dirty="0">
                <a:solidFill>
                  <a:srgbClr val="313131"/>
                </a:solidFill>
                <a:latin typeface="Verdana"/>
                <a:cs typeface="Verdana"/>
              </a:rPr>
              <a:t>final</a:t>
            </a:r>
            <a:r>
              <a:rPr sz="1400" spc="-15" dirty="0">
                <a:solidFill>
                  <a:srgbClr val="313131"/>
                </a:solidFill>
                <a:latin typeface="Verdana"/>
                <a:cs typeface="Verdana"/>
              </a:rPr>
              <a:t> </a:t>
            </a:r>
            <a:r>
              <a:rPr sz="1400" spc="-5" dirty="0">
                <a:solidFill>
                  <a:srgbClr val="313131"/>
                </a:solidFill>
                <a:latin typeface="Verdana"/>
                <a:cs typeface="Verdana"/>
              </a:rPr>
              <a:t>metric:</a:t>
            </a:r>
            <a:endParaRPr sz="1400">
              <a:solidFill>
                <a:prstClr val="black"/>
              </a:solidFill>
              <a:latin typeface="Verdana"/>
              <a:cs typeface="Verdana"/>
            </a:endParaRPr>
          </a:p>
        </p:txBody>
      </p:sp>
      <p:pic>
        <p:nvPicPr>
          <p:cNvPr id="7" name="object 7"/>
          <p:cNvPicPr/>
          <p:nvPr/>
        </p:nvPicPr>
        <p:blipFill>
          <a:blip r:embed="rId2" cstate="print"/>
          <a:stretch>
            <a:fillRect/>
          </a:stretch>
        </p:blipFill>
        <p:spPr>
          <a:xfrm>
            <a:off x="1340837" y="4442211"/>
            <a:ext cx="1924636" cy="274949"/>
          </a:xfrm>
          <a:prstGeom prst="rect">
            <a:avLst/>
          </a:prstGeom>
        </p:spPr>
      </p:pic>
      <p:grpSp>
        <p:nvGrpSpPr>
          <p:cNvPr id="8" name="object 8"/>
          <p:cNvGrpSpPr/>
          <p:nvPr/>
        </p:nvGrpSpPr>
        <p:grpSpPr>
          <a:xfrm>
            <a:off x="159282" y="5509225"/>
            <a:ext cx="4956810" cy="405765"/>
            <a:chOff x="159282" y="4651974"/>
            <a:chExt cx="4956810" cy="405765"/>
          </a:xfrm>
        </p:grpSpPr>
        <p:pic>
          <p:nvPicPr>
            <p:cNvPr id="9" name="object 9"/>
            <p:cNvPicPr/>
            <p:nvPr/>
          </p:nvPicPr>
          <p:blipFill>
            <a:blip r:embed="rId3" cstate="print"/>
            <a:stretch>
              <a:fillRect/>
            </a:stretch>
          </p:blipFill>
          <p:spPr>
            <a:xfrm>
              <a:off x="2483477" y="4651974"/>
              <a:ext cx="2632571" cy="274949"/>
            </a:xfrm>
            <a:prstGeom prst="rect">
              <a:avLst/>
            </a:prstGeom>
          </p:spPr>
        </p:pic>
        <p:sp>
          <p:nvSpPr>
            <p:cNvPr id="10" name="object 10"/>
            <p:cNvSpPr/>
            <p:nvPr/>
          </p:nvSpPr>
          <p:spPr>
            <a:xfrm>
              <a:off x="159282" y="488910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grpSp>
      <p:pic>
        <p:nvPicPr>
          <p:cNvPr id="11" name="object 11"/>
          <p:cNvPicPr/>
          <p:nvPr/>
        </p:nvPicPr>
        <p:blipFill>
          <a:blip r:embed="rId4" cstate="print"/>
          <a:stretch>
            <a:fillRect/>
          </a:stretch>
        </p:blipFill>
        <p:spPr>
          <a:xfrm>
            <a:off x="2514450" y="3371016"/>
            <a:ext cx="751024" cy="302549"/>
          </a:xfrm>
          <a:prstGeom prst="rect">
            <a:avLst/>
          </a:prstGeom>
        </p:spPr>
      </p:pic>
      <p:pic>
        <p:nvPicPr>
          <p:cNvPr id="12" name="object 12"/>
          <p:cNvPicPr/>
          <p:nvPr/>
        </p:nvPicPr>
        <p:blipFill>
          <a:blip r:embed="rId5" cstate="print"/>
          <a:stretch>
            <a:fillRect/>
          </a:stretch>
        </p:blipFill>
        <p:spPr>
          <a:xfrm>
            <a:off x="3426487" y="3460872"/>
            <a:ext cx="218624" cy="104024"/>
          </a:xfrm>
          <a:prstGeom prst="rect">
            <a:avLst/>
          </a:prstGeom>
        </p:spPr>
      </p:pic>
      <p:pic>
        <p:nvPicPr>
          <p:cNvPr id="13" name="object 13"/>
          <p:cNvPicPr/>
          <p:nvPr/>
        </p:nvPicPr>
        <p:blipFill>
          <a:blip r:embed="rId6" cstate="print"/>
          <a:stretch>
            <a:fillRect/>
          </a:stretch>
        </p:blipFill>
        <p:spPr>
          <a:xfrm>
            <a:off x="6913001" y="2417113"/>
            <a:ext cx="1860025" cy="888982"/>
          </a:xfrm>
          <a:prstGeom prst="rect">
            <a:avLst/>
          </a:prstGeom>
        </p:spPr>
      </p:pic>
      <p:pic>
        <p:nvPicPr>
          <p:cNvPr id="14" name="object 14"/>
          <p:cNvPicPr/>
          <p:nvPr/>
        </p:nvPicPr>
        <p:blipFill>
          <a:blip r:embed="rId5" cstate="print"/>
          <a:stretch>
            <a:fillRect/>
          </a:stretch>
        </p:blipFill>
        <p:spPr>
          <a:xfrm>
            <a:off x="3426487" y="4511504"/>
            <a:ext cx="218624" cy="104024"/>
          </a:xfrm>
          <a:prstGeom prst="rect">
            <a:avLst/>
          </a:prstGeom>
        </p:spPr>
      </p:pic>
      <p:sp>
        <p:nvSpPr>
          <p:cNvPr id="15" name="object 15"/>
          <p:cNvSpPr txBox="1"/>
          <p:nvPr/>
        </p:nvSpPr>
        <p:spPr>
          <a:xfrm>
            <a:off x="7035176" y="3407661"/>
            <a:ext cx="1697355" cy="518795"/>
          </a:xfrm>
          <a:prstGeom prst="rect">
            <a:avLst/>
          </a:prstGeom>
        </p:spPr>
        <p:txBody>
          <a:bodyPr vert="horz" wrap="square" lIns="0" tIns="10795" rIns="0" bIns="0" rtlCol="0">
            <a:spAutoFit/>
          </a:bodyPr>
          <a:lstStyle/>
          <a:p>
            <a:pPr marL="12700" marR="21590">
              <a:lnSpc>
                <a:spcPct val="101600"/>
              </a:lnSpc>
              <a:spcBef>
                <a:spcPts val="85"/>
              </a:spcBef>
            </a:pPr>
            <a:r>
              <a:rPr sz="800" spc="-5" dirty="0">
                <a:solidFill>
                  <a:srgbClr val="313131"/>
                </a:solidFill>
                <a:latin typeface="Verdana"/>
                <a:cs typeface="Verdana"/>
              </a:rPr>
              <a:t>https://github.com/Kulbear/dee </a:t>
            </a:r>
            <a:r>
              <a:rPr sz="800" spc="-270" dirty="0">
                <a:solidFill>
                  <a:srgbClr val="313131"/>
                </a:solidFill>
                <a:latin typeface="Verdana"/>
                <a:cs typeface="Verdana"/>
              </a:rPr>
              <a:t> </a:t>
            </a:r>
            <a:r>
              <a:rPr sz="800" dirty="0">
                <a:solidFill>
                  <a:srgbClr val="313131"/>
                </a:solidFill>
                <a:latin typeface="Verdana"/>
                <a:cs typeface="Verdana"/>
              </a:rPr>
              <a:t>p-learning-nano-foundation/wiki</a:t>
            </a:r>
            <a:endParaRPr sz="800">
              <a:solidFill>
                <a:prstClr val="black"/>
              </a:solidFill>
              <a:latin typeface="Verdana"/>
              <a:cs typeface="Verdana"/>
            </a:endParaRPr>
          </a:p>
          <a:p>
            <a:pPr marL="12700" marR="5080">
              <a:lnSpc>
                <a:spcPct val="101600"/>
              </a:lnSpc>
            </a:pPr>
            <a:r>
              <a:rPr sz="800" spc="-5" dirty="0">
                <a:solidFill>
                  <a:srgbClr val="313131"/>
                </a:solidFill>
                <a:latin typeface="Verdana"/>
                <a:cs typeface="Verdana"/>
              </a:rPr>
              <a:t>/ReLU-and-Softmax-Activation-F </a:t>
            </a:r>
            <a:r>
              <a:rPr sz="800" spc="-270" dirty="0">
                <a:solidFill>
                  <a:srgbClr val="313131"/>
                </a:solidFill>
                <a:latin typeface="Verdana"/>
                <a:cs typeface="Verdana"/>
              </a:rPr>
              <a:t> </a:t>
            </a:r>
            <a:r>
              <a:rPr sz="800" spc="-5" dirty="0">
                <a:solidFill>
                  <a:srgbClr val="313131"/>
                </a:solidFill>
                <a:latin typeface="Verdana"/>
                <a:cs typeface="Verdana"/>
              </a:rPr>
              <a:t>unctions</a:t>
            </a:r>
            <a:endParaRPr sz="800">
              <a:solidFill>
                <a:prstClr val="black"/>
              </a:solidFill>
              <a:latin typeface="Verdana"/>
              <a:cs typeface="Verdana"/>
            </a:endParaRPr>
          </a:p>
        </p:txBody>
      </p:sp>
      <p:pic>
        <p:nvPicPr>
          <p:cNvPr id="18" name="Picture 2" descr="E:\NIET\Project\xLogo11.png.pagespeed.ic.pydHLuCQEZ.png">
            <a:extLst>
              <a:ext uri="{FF2B5EF4-FFF2-40B4-BE49-F238E27FC236}">
                <a16:creationId xmlns:a16="http://schemas.microsoft.com/office/drawing/2014/main" id="{9F3AB944-D897-174A-A105-47E484963274}"/>
              </a:ext>
            </a:extLst>
          </p:cNvPr>
          <p:cNvPicPr>
            <a:picLocks noChangeAspect="1" noChangeArrowheads="1"/>
          </p:cNvPicPr>
          <p:nvPr/>
        </p:nvPicPr>
        <p:blipFill>
          <a:blip r:embed="rId7"/>
          <a:srcRect/>
          <a:stretch>
            <a:fillRect/>
          </a:stretch>
        </p:blipFill>
        <p:spPr bwMode="auto">
          <a:xfrm>
            <a:off x="0" y="0"/>
            <a:ext cx="1447800" cy="817163"/>
          </a:xfrm>
          <a:prstGeom prst="rect">
            <a:avLst/>
          </a:prstGeom>
          <a:noFill/>
        </p:spPr>
      </p:pic>
      <p:sp>
        <p:nvSpPr>
          <p:cNvPr id="19" name="Title 1">
            <a:extLst>
              <a:ext uri="{FF2B5EF4-FFF2-40B4-BE49-F238E27FC236}">
                <a16:creationId xmlns:a16="http://schemas.microsoft.com/office/drawing/2014/main" id="{CD2C31C7-C3F0-18CF-B312-262C8FC01ABB}"/>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Limitations of GANs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254125"/>
            <a:ext cx="2384425" cy="330200"/>
          </a:xfrm>
          <a:prstGeom prst="rect">
            <a:avLst/>
          </a:prstGeom>
        </p:spPr>
        <p:txBody>
          <a:bodyPr vert="horz" wrap="square" lIns="0" tIns="12700" rIns="0" bIns="0" rtlCol="0">
            <a:spAutoFit/>
          </a:bodyPr>
          <a:lstStyle/>
          <a:p>
            <a:pPr marL="12700">
              <a:spcBef>
                <a:spcPts val="100"/>
              </a:spcBef>
            </a:pPr>
            <a:r>
              <a:rPr spc="-5" dirty="0"/>
              <a:t>Evaluation</a:t>
            </a:r>
            <a:r>
              <a:rPr spc="-85" dirty="0"/>
              <a:t> </a:t>
            </a:r>
            <a:r>
              <a:rPr spc="-5" dirty="0"/>
              <a:t>metrics</a:t>
            </a:r>
          </a:p>
        </p:txBody>
      </p:sp>
      <p:sp>
        <p:nvSpPr>
          <p:cNvPr id="3" name="object 3"/>
          <p:cNvSpPr txBox="1"/>
          <p:nvPr/>
        </p:nvSpPr>
        <p:spPr>
          <a:xfrm>
            <a:off x="457793" y="2163012"/>
            <a:ext cx="7677150" cy="1915160"/>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b="1" spc="-5" dirty="0">
                <a:solidFill>
                  <a:srgbClr val="313131"/>
                </a:solidFill>
                <a:latin typeface="Verdana"/>
                <a:cs typeface="Verdana"/>
              </a:rPr>
              <a:t>Fréchet</a:t>
            </a:r>
            <a:r>
              <a:rPr sz="1400" b="1" spc="-15" dirty="0">
                <a:solidFill>
                  <a:srgbClr val="313131"/>
                </a:solidFill>
                <a:latin typeface="Verdana"/>
                <a:cs typeface="Verdana"/>
              </a:rPr>
              <a:t> </a:t>
            </a:r>
            <a:r>
              <a:rPr sz="1400" b="1" spc="-5" dirty="0">
                <a:solidFill>
                  <a:srgbClr val="313131"/>
                </a:solidFill>
                <a:latin typeface="Verdana"/>
                <a:cs typeface="Verdana"/>
              </a:rPr>
              <a:t>Inception</a:t>
            </a:r>
            <a:r>
              <a:rPr sz="1400" b="1" spc="-10" dirty="0">
                <a:solidFill>
                  <a:srgbClr val="313131"/>
                </a:solidFill>
                <a:latin typeface="Verdana"/>
                <a:cs typeface="Verdana"/>
              </a:rPr>
              <a:t> </a:t>
            </a:r>
            <a:r>
              <a:rPr sz="1400" b="1" spc="-5" dirty="0">
                <a:solidFill>
                  <a:srgbClr val="313131"/>
                </a:solidFill>
                <a:latin typeface="Verdana"/>
                <a:cs typeface="Verdana"/>
              </a:rPr>
              <a:t>Distance</a:t>
            </a:r>
            <a:r>
              <a:rPr sz="1400" b="1" spc="-10" dirty="0">
                <a:solidFill>
                  <a:srgbClr val="313131"/>
                </a:solidFill>
                <a:latin typeface="Verdana"/>
                <a:cs typeface="Verdana"/>
              </a:rPr>
              <a:t> </a:t>
            </a:r>
            <a:r>
              <a:rPr sz="1400" b="1" spc="-5" dirty="0">
                <a:solidFill>
                  <a:srgbClr val="313131"/>
                </a:solidFill>
                <a:latin typeface="Verdana"/>
                <a:cs typeface="Verdana"/>
              </a:rPr>
              <a:t>(FID)</a:t>
            </a:r>
            <a:r>
              <a:rPr sz="1400" b="1" spc="15" dirty="0">
                <a:solidFill>
                  <a:srgbClr val="313131"/>
                </a:solidFill>
                <a:latin typeface="Verdana"/>
                <a:cs typeface="Verdana"/>
              </a:rPr>
              <a:t> </a:t>
            </a:r>
            <a:r>
              <a:rPr sz="1400" spc="-5" dirty="0">
                <a:solidFill>
                  <a:srgbClr val="313131"/>
                </a:solidFill>
                <a:latin typeface="Verdana"/>
                <a:cs typeface="Verdana"/>
              </a:rPr>
              <a:t>[</a:t>
            </a:r>
            <a:r>
              <a:rPr sz="1000" spc="-5" dirty="0">
                <a:solidFill>
                  <a:srgbClr val="313131"/>
                </a:solidFill>
                <a:latin typeface="Verdana"/>
                <a:cs typeface="Verdana"/>
              </a:rPr>
              <a:t>Heusel et</a:t>
            </a:r>
            <a:r>
              <a:rPr sz="1000" spc="-10" dirty="0">
                <a:solidFill>
                  <a:srgbClr val="313131"/>
                </a:solidFill>
                <a:latin typeface="Verdana"/>
                <a:cs typeface="Verdana"/>
              </a:rPr>
              <a:t> </a:t>
            </a:r>
            <a:r>
              <a:rPr sz="1000" spc="-5" dirty="0">
                <a:solidFill>
                  <a:srgbClr val="313131"/>
                </a:solidFill>
                <a:latin typeface="Verdana"/>
                <a:cs typeface="Verdana"/>
              </a:rPr>
              <a:t>al.,</a:t>
            </a:r>
            <a:r>
              <a:rPr sz="1000" spc="-10" dirty="0">
                <a:solidFill>
                  <a:srgbClr val="313131"/>
                </a:solidFill>
                <a:latin typeface="Verdana"/>
                <a:cs typeface="Verdana"/>
              </a:rPr>
              <a:t> </a:t>
            </a:r>
            <a:r>
              <a:rPr sz="1000" spc="-5" dirty="0">
                <a:solidFill>
                  <a:srgbClr val="313131"/>
                </a:solidFill>
                <a:latin typeface="Verdana"/>
                <a:cs typeface="Verdana"/>
              </a:rPr>
              <a:t>2017</a:t>
            </a:r>
            <a:r>
              <a:rPr sz="1400" spc="-5" dirty="0">
                <a:solidFill>
                  <a:srgbClr val="313131"/>
                </a:solidFill>
                <a:latin typeface="Verdana"/>
                <a:cs typeface="Verdana"/>
              </a:rPr>
              <a:t>]</a:t>
            </a:r>
            <a:endParaRPr sz="1400">
              <a:solidFill>
                <a:prstClr val="black"/>
              </a:solidFill>
              <a:latin typeface="Verdana"/>
              <a:cs typeface="Verdana"/>
            </a:endParaRPr>
          </a:p>
          <a:p>
            <a:pPr marL="616585" lvl="1" indent="-293370">
              <a:spcBef>
                <a:spcPts val="1620"/>
              </a:spcBef>
              <a:buClr>
                <a:srgbClr val="B10639"/>
              </a:buClr>
              <a:buFont typeface="Arial MT"/>
              <a:buChar char="■"/>
              <a:tabLst>
                <a:tab pos="616585" algn="l"/>
                <a:tab pos="617220" algn="l"/>
              </a:tabLst>
            </a:pPr>
            <a:r>
              <a:rPr sz="1400" spc="-5" dirty="0">
                <a:solidFill>
                  <a:srgbClr val="313131"/>
                </a:solidFill>
                <a:latin typeface="Verdana"/>
                <a:cs typeface="Verdana"/>
              </a:rPr>
              <a:t>Calculates</a:t>
            </a:r>
            <a:r>
              <a:rPr sz="1400" spc="-10" dirty="0">
                <a:solidFill>
                  <a:srgbClr val="313131"/>
                </a:solidFill>
                <a:latin typeface="Verdana"/>
                <a:cs typeface="Verdana"/>
              </a:rPr>
              <a:t> </a:t>
            </a:r>
            <a:r>
              <a:rPr sz="1400" spc="-5" dirty="0">
                <a:solidFill>
                  <a:srgbClr val="313131"/>
                </a:solidFill>
                <a:latin typeface="Verdana"/>
                <a:cs typeface="Verdana"/>
              </a:rPr>
              <a:t>the</a:t>
            </a:r>
            <a:r>
              <a:rPr sz="1400" spc="-10" dirty="0">
                <a:solidFill>
                  <a:srgbClr val="313131"/>
                </a:solidFill>
                <a:latin typeface="Verdana"/>
                <a:cs typeface="Verdana"/>
              </a:rPr>
              <a:t> </a:t>
            </a:r>
            <a:r>
              <a:rPr sz="1400" spc="-5" dirty="0">
                <a:solidFill>
                  <a:srgbClr val="313131"/>
                </a:solidFill>
                <a:latin typeface="Verdana"/>
                <a:cs typeface="Verdana"/>
              </a:rPr>
              <a:t>distance</a:t>
            </a:r>
            <a:r>
              <a:rPr sz="1400" spc="-10" dirty="0">
                <a:solidFill>
                  <a:srgbClr val="313131"/>
                </a:solidFill>
                <a:latin typeface="Verdana"/>
                <a:cs typeface="Verdana"/>
              </a:rPr>
              <a:t> </a:t>
            </a:r>
            <a:r>
              <a:rPr sz="1400" spc="-5" dirty="0">
                <a:solidFill>
                  <a:srgbClr val="313131"/>
                </a:solidFill>
                <a:latin typeface="Verdana"/>
                <a:cs typeface="Verdana"/>
              </a:rPr>
              <a:t>between</a:t>
            </a:r>
            <a:r>
              <a:rPr sz="1400" spc="-10" dirty="0">
                <a:solidFill>
                  <a:srgbClr val="313131"/>
                </a:solidFill>
                <a:latin typeface="Verdana"/>
                <a:cs typeface="Verdana"/>
              </a:rPr>
              <a:t> </a:t>
            </a:r>
            <a:r>
              <a:rPr sz="1400" spc="-5" dirty="0">
                <a:solidFill>
                  <a:srgbClr val="313131"/>
                </a:solidFill>
                <a:latin typeface="Verdana"/>
                <a:cs typeface="Verdana"/>
              </a:rPr>
              <a:t>real</a:t>
            </a:r>
            <a:r>
              <a:rPr sz="1400" spc="-10" dirty="0">
                <a:solidFill>
                  <a:srgbClr val="313131"/>
                </a:solidFill>
                <a:latin typeface="Verdana"/>
                <a:cs typeface="Verdana"/>
              </a:rPr>
              <a:t> </a:t>
            </a:r>
            <a:r>
              <a:rPr sz="1400" spc="-5" dirty="0">
                <a:solidFill>
                  <a:srgbClr val="313131"/>
                </a:solidFill>
                <a:latin typeface="Verdana"/>
                <a:cs typeface="Verdana"/>
              </a:rPr>
              <a:t>and</a:t>
            </a:r>
            <a:r>
              <a:rPr sz="1400" spc="-10" dirty="0">
                <a:solidFill>
                  <a:srgbClr val="313131"/>
                </a:solidFill>
                <a:latin typeface="Verdana"/>
                <a:cs typeface="Verdana"/>
              </a:rPr>
              <a:t> </a:t>
            </a:r>
            <a:r>
              <a:rPr sz="1400" spc="-5" dirty="0">
                <a:solidFill>
                  <a:srgbClr val="313131"/>
                </a:solidFill>
                <a:latin typeface="Verdana"/>
                <a:cs typeface="Verdana"/>
              </a:rPr>
              <a:t>fake</a:t>
            </a:r>
            <a:r>
              <a:rPr sz="1400" spc="-10" dirty="0">
                <a:solidFill>
                  <a:srgbClr val="313131"/>
                </a:solidFill>
                <a:latin typeface="Verdana"/>
                <a:cs typeface="Verdana"/>
              </a:rPr>
              <a:t> </a:t>
            </a:r>
            <a:r>
              <a:rPr sz="1400" spc="-5" dirty="0">
                <a:solidFill>
                  <a:srgbClr val="313131"/>
                </a:solidFill>
                <a:latin typeface="Verdana"/>
                <a:cs typeface="Verdana"/>
              </a:rPr>
              <a:t>data</a:t>
            </a:r>
            <a:r>
              <a:rPr sz="1400" spc="-10" dirty="0">
                <a:solidFill>
                  <a:srgbClr val="313131"/>
                </a:solidFill>
                <a:latin typeface="Verdana"/>
                <a:cs typeface="Verdana"/>
              </a:rPr>
              <a:t> </a:t>
            </a:r>
            <a:r>
              <a:rPr sz="1400" spc="-5" dirty="0">
                <a:solidFill>
                  <a:srgbClr val="313131"/>
                </a:solidFill>
                <a:latin typeface="Verdana"/>
                <a:cs typeface="Verdana"/>
              </a:rPr>
              <a:t>(lower</a:t>
            </a:r>
            <a:r>
              <a:rPr sz="1400" spc="-10" dirty="0">
                <a:solidFill>
                  <a:srgbClr val="313131"/>
                </a:solidFill>
                <a:latin typeface="Verdana"/>
                <a:cs typeface="Verdana"/>
              </a:rPr>
              <a:t> </a:t>
            </a:r>
            <a:r>
              <a:rPr sz="1400" spc="-5" dirty="0">
                <a:solidFill>
                  <a:srgbClr val="313131"/>
                </a:solidFill>
                <a:latin typeface="Verdana"/>
                <a:cs typeface="Verdana"/>
              </a:rPr>
              <a:t>the</a:t>
            </a:r>
            <a:r>
              <a:rPr sz="1400" spc="-10" dirty="0">
                <a:solidFill>
                  <a:srgbClr val="313131"/>
                </a:solidFill>
                <a:latin typeface="Verdana"/>
                <a:cs typeface="Verdana"/>
              </a:rPr>
              <a:t> </a:t>
            </a:r>
            <a:r>
              <a:rPr sz="1400" spc="-5" dirty="0">
                <a:solidFill>
                  <a:srgbClr val="313131"/>
                </a:solidFill>
                <a:latin typeface="Verdana"/>
                <a:cs typeface="Verdana"/>
              </a:rPr>
              <a:t>better)</a:t>
            </a:r>
            <a:endParaRPr sz="1400">
              <a:solidFill>
                <a:prstClr val="black"/>
              </a:solidFill>
              <a:latin typeface="Verdana"/>
              <a:cs typeface="Verdana"/>
            </a:endParaRPr>
          </a:p>
          <a:p>
            <a:pPr lvl="1">
              <a:spcBef>
                <a:spcPts val="55"/>
              </a:spcBef>
              <a:buClr>
                <a:srgbClr val="B10639"/>
              </a:buClr>
              <a:buFont typeface="Arial MT"/>
              <a:buChar char="■"/>
            </a:pPr>
            <a:endParaRPr sz="1350">
              <a:solidFill>
                <a:prstClr val="black"/>
              </a:solidFill>
              <a:latin typeface="Verdana"/>
              <a:cs typeface="Verdana"/>
            </a:endParaRPr>
          </a:p>
          <a:p>
            <a:pPr marL="616585" marR="208915" lvl="1" indent="-293370">
              <a:lnSpc>
                <a:spcPts val="1650"/>
              </a:lnSpc>
              <a:spcBef>
                <a:spcPts val="5"/>
              </a:spcBef>
              <a:buClr>
                <a:srgbClr val="B10639"/>
              </a:buClr>
              <a:buFont typeface="Arial MT"/>
              <a:buChar char="■"/>
              <a:tabLst>
                <a:tab pos="616585" algn="l"/>
                <a:tab pos="617220" algn="l"/>
              </a:tabLst>
            </a:pPr>
            <a:r>
              <a:rPr sz="1400" spc="-5" dirty="0">
                <a:solidFill>
                  <a:srgbClr val="313131"/>
                </a:solidFill>
                <a:latin typeface="Verdana"/>
                <a:cs typeface="Verdana"/>
              </a:rPr>
              <a:t>Uses the embeddings of the real and fake data from the last pooling layer of </a:t>
            </a:r>
            <a:r>
              <a:rPr sz="1400" spc="-480" dirty="0">
                <a:solidFill>
                  <a:srgbClr val="313131"/>
                </a:solidFill>
                <a:latin typeface="Verdana"/>
                <a:cs typeface="Verdana"/>
              </a:rPr>
              <a:t> </a:t>
            </a:r>
            <a:r>
              <a:rPr sz="1400" spc="-5" dirty="0">
                <a:solidFill>
                  <a:srgbClr val="313131"/>
                </a:solidFill>
                <a:latin typeface="Verdana"/>
                <a:cs typeface="Verdana"/>
              </a:rPr>
              <a:t>Inception</a:t>
            </a:r>
            <a:r>
              <a:rPr sz="1400" spc="-10" dirty="0">
                <a:solidFill>
                  <a:srgbClr val="313131"/>
                </a:solidFill>
                <a:latin typeface="Verdana"/>
                <a:cs typeface="Verdana"/>
              </a:rPr>
              <a:t> </a:t>
            </a:r>
            <a:r>
              <a:rPr sz="1400" spc="-5" dirty="0">
                <a:solidFill>
                  <a:srgbClr val="313131"/>
                </a:solidFill>
                <a:latin typeface="Verdana"/>
                <a:cs typeface="Verdana"/>
              </a:rPr>
              <a:t>v3.</a:t>
            </a:r>
            <a:endParaRPr sz="1400">
              <a:solidFill>
                <a:prstClr val="black"/>
              </a:solidFill>
              <a:latin typeface="Verdana"/>
              <a:cs typeface="Verdana"/>
            </a:endParaRPr>
          </a:p>
          <a:p>
            <a:pPr lvl="1">
              <a:spcBef>
                <a:spcPts val="50"/>
              </a:spcBef>
              <a:buClr>
                <a:srgbClr val="B10639"/>
              </a:buClr>
              <a:buFont typeface="Arial MT"/>
              <a:buChar char="■"/>
            </a:pPr>
            <a:endParaRPr sz="1250">
              <a:solidFill>
                <a:prstClr val="black"/>
              </a:solidFill>
              <a:latin typeface="Verdana"/>
              <a:cs typeface="Verdana"/>
            </a:endParaRPr>
          </a:p>
          <a:p>
            <a:pPr marL="616585" lvl="1" indent="-293370">
              <a:lnSpc>
                <a:spcPts val="1664"/>
              </a:lnSpc>
              <a:buClr>
                <a:srgbClr val="B10639"/>
              </a:buClr>
              <a:buFont typeface="Arial MT"/>
              <a:buChar char="■"/>
              <a:tabLst>
                <a:tab pos="616585" algn="l"/>
                <a:tab pos="617220" algn="l"/>
              </a:tabLst>
            </a:pPr>
            <a:r>
              <a:rPr sz="1400" spc="-5" dirty="0">
                <a:solidFill>
                  <a:srgbClr val="313131"/>
                </a:solidFill>
                <a:latin typeface="Verdana"/>
                <a:cs typeface="Verdana"/>
              </a:rPr>
              <a:t>Converts</a:t>
            </a:r>
            <a:r>
              <a:rPr sz="1400" spc="-10" dirty="0">
                <a:solidFill>
                  <a:srgbClr val="313131"/>
                </a:solidFill>
                <a:latin typeface="Verdana"/>
                <a:cs typeface="Verdana"/>
              </a:rPr>
              <a:t> </a:t>
            </a:r>
            <a:r>
              <a:rPr sz="1400" spc="-5" dirty="0">
                <a:solidFill>
                  <a:srgbClr val="313131"/>
                </a:solidFill>
                <a:latin typeface="Verdana"/>
                <a:cs typeface="Verdana"/>
              </a:rPr>
              <a:t>the</a:t>
            </a:r>
            <a:r>
              <a:rPr sz="1400" spc="-10" dirty="0">
                <a:solidFill>
                  <a:srgbClr val="313131"/>
                </a:solidFill>
                <a:latin typeface="Verdana"/>
                <a:cs typeface="Verdana"/>
              </a:rPr>
              <a:t> </a:t>
            </a:r>
            <a:r>
              <a:rPr sz="1400" spc="-5" dirty="0">
                <a:solidFill>
                  <a:srgbClr val="313131"/>
                </a:solidFill>
                <a:latin typeface="Verdana"/>
                <a:cs typeface="Verdana"/>
              </a:rPr>
              <a:t>embeddings</a:t>
            </a:r>
            <a:r>
              <a:rPr sz="1400" spc="-10" dirty="0">
                <a:solidFill>
                  <a:srgbClr val="313131"/>
                </a:solidFill>
                <a:latin typeface="Verdana"/>
                <a:cs typeface="Verdana"/>
              </a:rPr>
              <a:t> </a:t>
            </a:r>
            <a:r>
              <a:rPr sz="1400" spc="-5" dirty="0">
                <a:solidFill>
                  <a:srgbClr val="313131"/>
                </a:solidFill>
                <a:latin typeface="Verdana"/>
                <a:cs typeface="Verdana"/>
              </a:rPr>
              <a:t>into</a:t>
            </a:r>
            <a:r>
              <a:rPr sz="1400" spc="-10" dirty="0">
                <a:solidFill>
                  <a:srgbClr val="313131"/>
                </a:solidFill>
                <a:latin typeface="Verdana"/>
                <a:cs typeface="Verdana"/>
              </a:rPr>
              <a:t> </a:t>
            </a:r>
            <a:r>
              <a:rPr sz="1400" spc="-5" dirty="0">
                <a:solidFill>
                  <a:srgbClr val="313131"/>
                </a:solidFill>
                <a:latin typeface="Verdana"/>
                <a:cs typeface="Verdana"/>
              </a:rPr>
              <a:t>continuous</a:t>
            </a:r>
            <a:r>
              <a:rPr sz="1400" spc="-10" dirty="0">
                <a:solidFill>
                  <a:srgbClr val="313131"/>
                </a:solidFill>
                <a:latin typeface="Verdana"/>
                <a:cs typeface="Verdana"/>
              </a:rPr>
              <a:t> </a:t>
            </a:r>
            <a:r>
              <a:rPr sz="1400" spc="-5" dirty="0">
                <a:solidFill>
                  <a:srgbClr val="313131"/>
                </a:solidFill>
                <a:latin typeface="Verdana"/>
                <a:cs typeface="Verdana"/>
              </a:rPr>
              <a:t>distributions</a:t>
            </a:r>
            <a:r>
              <a:rPr sz="1400" spc="-10" dirty="0">
                <a:solidFill>
                  <a:srgbClr val="313131"/>
                </a:solidFill>
                <a:latin typeface="Verdana"/>
                <a:cs typeface="Verdana"/>
              </a:rPr>
              <a:t> </a:t>
            </a:r>
            <a:r>
              <a:rPr sz="1400" spc="-5" dirty="0">
                <a:solidFill>
                  <a:srgbClr val="313131"/>
                </a:solidFill>
                <a:latin typeface="Verdana"/>
                <a:cs typeface="Verdana"/>
              </a:rPr>
              <a:t>and</a:t>
            </a:r>
            <a:r>
              <a:rPr sz="1400" spc="-10" dirty="0">
                <a:solidFill>
                  <a:srgbClr val="313131"/>
                </a:solidFill>
                <a:latin typeface="Verdana"/>
                <a:cs typeface="Verdana"/>
              </a:rPr>
              <a:t> </a:t>
            </a:r>
            <a:r>
              <a:rPr sz="1400" spc="-5" dirty="0">
                <a:solidFill>
                  <a:srgbClr val="313131"/>
                </a:solidFill>
                <a:latin typeface="Verdana"/>
                <a:cs typeface="Verdana"/>
              </a:rPr>
              <a:t>uses</a:t>
            </a:r>
            <a:r>
              <a:rPr sz="1400" spc="-10" dirty="0">
                <a:solidFill>
                  <a:srgbClr val="313131"/>
                </a:solidFill>
                <a:latin typeface="Verdana"/>
                <a:cs typeface="Verdana"/>
              </a:rPr>
              <a:t> </a:t>
            </a:r>
            <a:r>
              <a:rPr sz="1400" spc="-5" dirty="0">
                <a:solidFill>
                  <a:srgbClr val="313131"/>
                </a:solidFill>
                <a:latin typeface="Verdana"/>
                <a:cs typeface="Verdana"/>
              </a:rPr>
              <a:t>the</a:t>
            </a:r>
            <a:r>
              <a:rPr sz="1400" spc="45" dirty="0">
                <a:solidFill>
                  <a:srgbClr val="313131"/>
                </a:solidFill>
                <a:latin typeface="Verdana"/>
                <a:cs typeface="Verdana"/>
              </a:rPr>
              <a:t> </a:t>
            </a:r>
            <a:r>
              <a:rPr sz="1400" i="1" spc="-5" dirty="0">
                <a:solidFill>
                  <a:srgbClr val="313131"/>
                </a:solidFill>
                <a:latin typeface="Verdana"/>
                <a:cs typeface="Verdana"/>
              </a:rPr>
              <a:t>mean</a:t>
            </a:r>
            <a:r>
              <a:rPr sz="1400" i="1" spc="-10" dirty="0">
                <a:solidFill>
                  <a:srgbClr val="313131"/>
                </a:solidFill>
                <a:latin typeface="Verdana"/>
                <a:cs typeface="Verdana"/>
              </a:rPr>
              <a:t> </a:t>
            </a:r>
            <a:r>
              <a:rPr sz="1400" spc="-5" dirty="0">
                <a:solidFill>
                  <a:srgbClr val="313131"/>
                </a:solidFill>
                <a:latin typeface="Verdana"/>
                <a:cs typeface="Verdana"/>
              </a:rPr>
              <a:t>and</a:t>
            </a:r>
            <a:endParaRPr sz="1400">
              <a:solidFill>
                <a:prstClr val="black"/>
              </a:solidFill>
              <a:latin typeface="Verdana"/>
              <a:cs typeface="Verdana"/>
            </a:endParaRPr>
          </a:p>
          <a:p>
            <a:pPr marL="616585">
              <a:lnSpc>
                <a:spcPts val="1664"/>
              </a:lnSpc>
            </a:pPr>
            <a:r>
              <a:rPr sz="1400" i="1" spc="-5" dirty="0">
                <a:solidFill>
                  <a:srgbClr val="313131"/>
                </a:solidFill>
                <a:latin typeface="Verdana"/>
                <a:cs typeface="Verdana"/>
              </a:rPr>
              <a:t>covariance</a:t>
            </a:r>
            <a:r>
              <a:rPr sz="1400" i="1" spc="-10" dirty="0">
                <a:solidFill>
                  <a:srgbClr val="313131"/>
                </a:solidFill>
                <a:latin typeface="Verdana"/>
                <a:cs typeface="Verdana"/>
              </a:rPr>
              <a:t> </a:t>
            </a:r>
            <a:r>
              <a:rPr sz="1400" spc="-5" dirty="0">
                <a:solidFill>
                  <a:srgbClr val="313131"/>
                </a:solidFill>
                <a:latin typeface="Verdana"/>
                <a:cs typeface="Verdana"/>
              </a:rPr>
              <a:t>of</a:t>
            </a:r>
            <a:r>
              <a:rPr sz="1400" spc="-15" dirty="0">
                <a:solidFill>
                  <a:srgbClr val="313131"/>
                </a:solidFill>
                <a:latin typeface="Verdana"/>
                <a:cs typeface="Verdana"/>
              </a:rPr>
              <a:t> </a:t>
            </a:r>
            <a:r>
              <a:rPr sz="1400" spc="-5" dirty="0">
                <a:solidFill>
                  <a:srgbClr val="313131"/>
                </a:solidFill>
                <a:latin typeface="Verdana"/>
                <a:cs typeface="Verdana"/>
              </a:rPr>
              <a:t>each</a:t>
            </a:r>
            <a:r>
              <a:rPr sz="1400" spc="-15" dirty="0">
                <a:solidFill>
                  <a:srgbClr val="313131"/>
                </a:solidFill>
                <a:latin typeface="Verdana"/>
                <a:cs typeface="Verdana"/>
              </a:rPr>
              <a:t> </a:t>
            </a:r>
            <a:r>
              <a:rPr sz="1400" spc="-5" dirty="0">
                <a:solidFill>
                  <a:srgbClr val="313131"/>
                </a:solidFill>
                <a:latin typeface="Verdana"/>
                <a:cs typeface="Verdana"/>
              </a:rPr>
              <a:t>to</a:t>
            </a:r>
            <a:r>
              <a:rPr sz="1400" spc="-15" dirty="0">
                <a:solidFill>
                  <a:srgbClr val="313131"/>
                </a:solidFill>
                <a:latin typeface="Verdana"/>
                <a:cs typeface="Verdana"/>
              </a:rPr>
              <a:t> </a:t>
            </a:r>
            <a:r>
              <a:rPr sz="1400" spc="-5" dirty="0">
                <a:solidFill>
                  <a:srgbClr val="313131"/>
                </a:solidFill>
                <a:latin typeface="Verdana"/>
                <a:cs typeface="Verdana"/>
              </a:rPr>
              <a:t>calculate</a:t>
            </a:r>
            <a:r>
              <a:rPr sz="1400" spc="-15" dirty="0">
                <a:solidFill>
                  <a:srgbClr val="313131"/>
                </a:solidFill>
                <a:latin typeface="Verdana"/>
                <a:cs typeface="Verdana"/>
              </a:rPr>
              <a:t> </a:t>
            </a:r>
            <a:r>
              <a:rPr sz="1400" spc="-5" dirty="0">
                <a:solidFill>
                  <a:srgbClr val="313131"/>
                </a:solidFill>
                <a:latin typeface="Verdana"/>
                <a:cs typeface="Verdana"/>
              </a:rPr>
              <a:t>their</a:t>
            </a:r>
            <a:r>
              <a:rPr sz="1400" spc="-15" dirty="0">
                <a:solidFill>
                  <a:srgbClr val="313131"/>
                </a:solidFill>
                <a:latin typeface="Verdana"/>
                <a:cs typeface="Verdana"/>
              </a:rPr>
              <a:t> </a:t>
            </a:r>
            <a:r>
              <a:rPr sz="1400" spc="-5" dirty="0">
                <a:solidFill>
                  <a:srgbClr val="313131"/>
                </a:solidFill>
                <a:latin typeface="Verdana"/>
                <a:cs typeface="Verdana"/>
              </a:rPr>
              <a:t>distance.</a:t>
            </a:r>
            <a:endParaRPr sz="1400">
              <a:solidFill>
                <a:prstClr val="black"/>
              </a:solidFill>
              <a:latin typeface="Verdana"/>
              <a:cs typeface="Verdana"/>
            </a:endParaRPr>
          </a:p>
        </p:txBody>
      </p:sp>
      <p:grpSp>
        <p:nvGrpSpPr>
          <p:cNvPr id="4" name="object 4"/>
          <p:cNvGrpSpPr/>
          <p:nvPr/>
        </p:nvGrpSpPr>
        <p:grpSpPr>
          <a:xfrm>
            <a:off x="1686350" y="4515657"/>
            <a:ext cx="5598795" cy="327025"/>
            <a:chOff x="1686349" y="3658406"/>
            <a:chExt cx="5598795" cy="327025"/>
          </a:xfrm>
        </p:grpSpPr>
        <p:pic>
          <p:nvPicPr>
            <p:cNvPr id="5" name="object 5"/>
            <p:cNvPicPr/>
            <p:nvPr/>
          </p:nvPicPr>
          <p:blipFill>
            <a:blip r:embed="rId2" cstate="print"/>
            <a:stretch>
              <a:fillRect/>
            </a:stretch>
          </p:blipFill>
          <p:spPr>
            <a:xfrm>
              <a:off x="5513133" y="3658406"/>
              <a:ext cx="1771595" cy="288749"/>
            </a:xfrm>
            <a:prstGeom prst="rect">
              <a:avLst/>
            </a:prstGeom>
          </p:spPr>
        </p:pic>
        <p:pic>
          <p:nvPicPr>
            <p:cNvPr id="6" name="object 6"/>
            <p:cNvPicPr/>
            <p:nvPr/>
          </p:nvPicPr>
          <p:blipFill>
            <a:blip r:embed="rId3" cstate="print"/>
            <a:stretch>
              <a:fillRect/>
            </a:stretch>
          </p:blipFill>
          <p:spPr>
            <a:xfrm>
              <a:off x="1686349" y="3712924"/>
              <a:ext cx="3906949" cy="272199"/>
            </a:xfrm>
            <a:prstGeom prst="rect">
              <a:avLst/>
            </a:prstGeom>
          </p:spPr>
        </p:pic>
      </p:grpSp>
      <p:sp>
        <p:nvSpPr>
          <p:cNvPr id="7" name="object 7"/>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pic>
        <p:nvPicPr>
          <p:cNvPr id="10" name="Picture 2" descr="E:\NIET\Project\xLogo11.png.pagespeed.ic.pydHLuCQEZ.png">
            <a:extLst>
              <a:ext uri="{FF2B5EF4-FFF2-40B4-BE49-F238E27FC236}">
                <a16:creationId xmlns:a16="http://schemas.microsoft.com/office/drawing/2014/main" id="{435CE9DE-33C4-B2C6-B63A-1AB33F9CBDA4}"/>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11" name="Title 1">
            <a:extLst>
              <a:ext uri="{FF2B5EF4-FFF2-40B4-BE49-F238E27FC236}">
                <a16:creationId xmlns:a16="http://schemas.microsoft.com/office/drawing/2014/main" id="{AFD0A866-7266-BF46-D600-40DC1BD75947}"/>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Evaluation metrics</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60126" y="5727135"/>
            <a:ext cx="916305" cy="185420"/>
          </a:xfrm>
          <a:prstGeom prst="rect">
            <a:avLst/>
          </a:prstGeom>
        </p:spPr>
        <p:txBody>
          <a:bodyPr vert="horz" wrap="square" lIns="0" tIns="635" rIns="0" bIns="0" rtlCol="0">
            <a:spAutoFit/>
          </a:bodyPr>
          <a:lstStyle/>
          <a:p>
            <a:pPr>
              <a:spcBef>
                <a:spcPts val="5"/>
              </a:spcBef>
            </a:pPr>
            <a:r>
              <a:rPr sz="1200" spc="-5" dirty="0">
                <a:solidFill>
                  <a:srgbClr val="313131"/>
                </a:solidFill>
                <a:latin typeface="Verdana"/>
                <a:cs typeface="Verdana"/>
              </a:rPr>
              <a:t>Deep</a:t>
            </a:r>
            <a:r>
              <a:rPr sz="1200" spc="-65" dirty="0">
                <a:solidFill>
                  <a:srgbClr val="313131"/>
                </a:solidFill>
                <a:latin typeface="Verdana"/>
                <a:cs typeface="Verdana"/>
              </a:rPr>
              <a:t> </a:t>
            </a:r>
            <a:r>
              <a:rPr sz="1200" spc="-5" dirty="0">
                <a:solidFill>
                  <a:srgbClr val="313131"/>
                </a:solidFill>
                <a:latin typeface="Verdana"/>
                <a:cs typeface="Verdana"/>
              </a:rPr>
              <a:t>Learni</a:t>
            </a:r>
            <a:endParaRPr sz="1200">
              <a:solidFill>
                <a:prstClr val="black"/>
              </a:solidFill>
              <a:latin typeface="Verdana"/>
              <a:cs typeface="Verdana"/>
            </a:endParaRPr>
          </a:p>
        </p:txBody>
      </p:sp>
      <p:sp>
        <p:nvSpPr>
          <p:cNvPr id="3" name="object 3"/>
          <p:cNvSpPr txBox="1"/>
          <p:nvPr/>
        </p:nvSpPr>
        <p:spPr>
          <a:xfrm>
            <a:off x="1076220" y="5727135"/>
            <a:ext cx="1771650" cy="185420"/>
          </a:xfrm>
          <a:prstGeom prst="rect">
            <a:avLst/>
          </a:prstGeom>
        </p:spPr>
        <p:txBody>
          <a:bodyPr vert="horz" wrap="square" lIns="0" tIns="635" rIns="0" bIns="0" rtlCol="0">
            <a:spAutoFit/>
          </a:bodyPr>
          <a:lstStyle/>
          <a:p>
            <a:pPr>
              <a:spcBef>
                <a:spcPts val="5"/>
              </a:spcBef>
            </a:pPr>
            <a:r>
              <a:rPr sz="1200" spc="-5" dirty="0">
                <a:solidFill>
                  <a:srgbClr val="313131"/>
                </a:solidFill>
                <a:latin typeface="Verdana"/>
                <a:cs typeface="Verdana"/>
              </a:rPr>
              <a:t>ng</a:t>
            </a:r>
            <a:r>
              <a:rPr sz="1200" spc="-30" dirty="0">
                <a:solidFill>
                  <a:srgbClr val="313131"/>
                </a:solidFill>
                <a:latin typeface="Verdana"/>
                <a:cs typeface="Verdana"/>
              </a:rPr>
              <a:t> </a:t>
            </a:r>
            <a:r>
              <a:rPr sz="1200" spc="-5" dirty="0">
                <a:solidFill>
                  <a:srgbClr val="313131"/>
                </a:solidFill>
                <a:latin typeface="Verdana"/>
                <a:cs typeface="Verdana"/>
              </a:rPr>
              <a:t>for</a:t>
            </a:r>
            <a:r>
              <a:rPr sz="1200" spc="-25" dirty="0">
                <a:solidFill>
                  <a:srgbClr val="313131"/>
                </a:solidFill>
                <a:latin typeface="Verdana"/>
                <a:cs typeface="Verdana"/>
              </a:rPr>
              <a:t> </a:t>
            </a:r>
            <a:r>
              <a:rPr sz="1200" spc="-5" dirty="0">
                <a:solidFill>
                  <a:srgbClr val="313131"/>
                </a:solidFill>
                <a:latin typeface="Verdana"/>
                <a:cs typeface="Verdana"/>
              </a:rPr>
              <a:t>Computer</a:t>
            </a:r>
            <a:r>
              <a:rPr sz="1200" spc="-25" dirty="0">
                <a:solidFill>
                  <a:srgbClr val="313131"/>
                </a:solidFill>
                <a:latin typeface="Verdana"/>
                <a:cs typeface="Verdana"/>
              </a:rPr>
              <a:t> </a:t>
            </a:r>
            <a:r>
              <a:rPr sz="1200" spc="-5" dirty="0">
                <a:solidFill>
                  <a:srgbClr val="313131"/>
                </a:solidFill>
                <a:latin typeface="Verdana"/>
                <a:cs typeface="Verdana"/>
              </a:rPr>
              <a:t>Vision</a:t>
            </a:r>
            <a:endParaRPr sz="1200">
              <a:solidFill>
                <a:prstClr val="black"/>
              </a:solidFill>
              <a:latin typeface="Verdana"/>
              <a:cs typeface="Verdana"/>
            </a:endParaRPr>
          </a:p>
        </p:txBody>
      </p:sp>
      <p:sp>
        <p:nvSpPr>
          <p:cNvPr id="4" name="object 4"/>
          <p:cNvSpPr/>
          <p:nvPr/>
        </p:nvSpPr>
        <p:spPr>
          <a:xfrm>
            <a:off x="177169" y="857252"/>
            <a:ext cx="7239000" cy="108585"/>
          </a:xfrm>
          <a:custGeom>
            <a:avLst/>
            <a:gdLst/>
            <a:ahLst/>
            <a:cxnLst/>
            <a:rect l="l" t="t" r="r" b="b"/>
            <a:pathLst>
              <a:path w="7239000" h="108585">
                <a:moveTo>
                  <a:pt x="7238699" y="107999"/>
                </a:moveTo>
                <a:lnTo>
                  <a:pt x="0" y="107999"/>
                </a:lnTo>
                <a:lnTo>
                  <a:pt x="0" y="0"/>
                </a:lnTo>
                <a:lnTo>
                  <a:pt x="7238699" y="0"/>
                </a:lnTo>
                <a:lnTo>
                  <a:pt x="7238699" y="107999"/>
                </a:lnTo>
                <a:close/>
              </a:path>
            </a:pathLst>
          </a:custGeom>
          <a:solidFill>
            <a:srgbClr val="F6A800"/>
          </a:solidFill>
        </p:spPr>
        <p:txBody>
          <a:bodyPr wrap="square" lIns="0" tIns="0" rIns="0" bIns="0" rtlCol="0"/>
          <a:lstStyle/>
          <a:p>
            <a:endParaRPr>
              <a:solidFill>
                <a:prstClr val="black"/>
              </a:solidFill>
              <a:latin typeface="Calibri"/>
            </a:endParaRPr>
          </a:p>
        </p:txBody>
      </p:sp>
      <p:sp>
        <p:nvSpPr>
          <p:cNvPr id="5" name="object 5"/>
          <p:cNvSpPr/>
          <p:nvPr/>
        </p:nvSpPr>
        <p:spPr>
          <a:xfrm>
            <a:off x="177169" y="1888828"/>
            <a:ext cx="7239000" cy="25400"/>
          </a:xfrm>
          <a:custGeom>
            <a:avLst/>
            <a:gdLst/>
            <a:ahLst/>
            <a:cxnLst/>
            <a:rect l="l" t="t" r="r" b="b"/>
            <a:pathLst>
              <a:path w="7239000" h="25400">
                <a:moveTo>
                  <a:pt x="7238699" y="25199"/>
                </a:moveTo>
                <a:lnTo>
                  <a:pt x="0" y="25199"/>
                </a:lnTo>
                <a:lnTo>
                  <a:pt x="0" y="0"/>
                </a:lnTo>
                <a:lnTo>
                  <a:pt x="7238699" y="0"/>
                </a:lnTo>
                <a:lnTo>
                  <a:pt x="7238699" y="25199"/>
                </a:lnTo>
                <a:close/>
              </a:path>
            </a:pathLst>
          </a:custGeom>
          <a:solidFill>
            <a:srgbClr val="DD640C"/>
          </a:solidFill>
        </p:spPr>
        <p:txBody>
          <a:bodyPr wrap="square" lIns="0" tIns="0" rIns="0" bIns="0" rtlCol="0"/>
          <a:lstStyle/>
          <a:p>
            <a:endParaRPr>
              <a:solidFill>
                <a:prstClr val="black"/>
              </a:solidFill>
              <a:latin typeface="Calibri"/>
            </a:endParaRPr>
          </a:p>
        </p:txBody>
      </p:sp>
      <p:sp>
        <p:nvSpPr>
          <p:cNvPr id="15" name="Footer Placeholder 14">
            <a:extLst>
              <a:ext uri="{FF2B5EF4-FFF2-40B4-BE49-F238E27FC236}">
                <a16:creationId xmlns:a16="http://schemas.microsoft.com/office/drawing/2014/main" id="{00F9A47C-E718-A4BF-BF24-54FFB5E50F51}"/>
              </a:ext>
            </a:extLst>
          </p:cNvPr>
          <p:cNvSpPr>
            <a:spLocks noGrp="1"/>
          </p:cNvSpPr>
          <p:nvPr>
            <p:ph type="ftr" sz="quarter" idx="5"/>
          </p:nvPr>
        </p:nvSpPr>
        <p:spPr/>
        <p:txBody>
          <a:bodyPr/>
          <a:lstStyle/>
          <a:p>
            <a:pPr>
              <a:spcBef>
                <a:spcPts val="5"/>
              </a:spcBef>
            </a:pPr>
            <a:endParaRPr lang="en-IN" spc="-5" dirty="0"/>
          </a:p>
        </p:txBody>
      </p:sp>
      <p:sp>
        <p:nvSpPr>
          <p:cNvPr id="7" name="object 7"/>
          <p:cNvSpPr txBox="1">
            <a:spLocks noGrp="1"/>
          </p:cNvSpPr>
          <p:nvPr>
            <p:ph type="title" idx="4294967295"/>
          </p:nvPr>
        </p:nvSpPr>
        <p:spPr>
          <a:xfrm>
            <a:off x="1" y="1254125"/>
            <a:ext cx="2384425" cy="330200"/>
          </a:xfrm>
          <a:prstGeom prst="rect">
            <a:avLst/>
          </a:prstGeom>
        </p:spPr>
        <p:txBody>
          <a:bodyPr vert="horz" wrap="square" lIns="0" tIns="12700" rIns="0" bIns="0" rtlCol="0">
            <a:spAutoFit/>
          </a:bodyPr>
          <a:lstStyle/>
          <a:p>
            <a:pPr marL="12700">
              <a:spcBef>
                <a:spcPts val="100"/>
              </a:spcBef>
            </a:pPr>
            <a:r>
              <a:rPr spc="-5" dirty="0"/>
              <a:t>Evaluation</a:t>
            </a:r>
            <a:r>
              <a:rPr spc="-85" dirty="0"/>
              <a:t> </a:t>
            </a:r>
            <a:r>
              <a:rPr spc="-5" dirty="0"/>
              <a:t>metrics</a:t>
            </a:r>
          </a:p>
        </p:txBody>
      </p:sp>
      <p:pic>
        <p:nvPicPr>
          <p:cNvPr id="8" name="object 8"/>
          <p:cNvPicPr/>
          <p:nvPr/>
        </p:nvPicPr>
        <p:blipFill>
          <a:blip r:embed="rId2" cstate="print"/>
          <a:stretch>
            <a:fillRect/>
          </a:stretch>
        </p:blipFill>
        <p:spPr>
          <a:xfrm>
            <a:off x="4804539" y="1924786"/>
            <a:ext cx="4339460" cy="3392675"/>
          </a:xfrm>
          <a:prstGeom prst="rect">
            <a:avLst/>
          </a:prstGeom>
        </p:spPr>
      </p:pic>
      <p:sp>
        <p:nvSpPr>
          <p:cNvPr id="9" name="object 9"/>
          <p:cNvSpPr txBox="1"/>
          <p:nvPr/>
        </p:nvSpPr>
        <p:spPr>
          <a:xfrm>
            <a:off x="373368" y="2163001"/>
            <a:ext cx="3590290" cy="2367315"/>
          </a:xfrm>
          <a:prstGeom prst="rect">
            <a:avLst/>
          </a:prstGeom>
        </p:spPr>
        <p:txBody>
          <a:bodyPr vert="horz" wrap="square" lIns="0" tIns="12700" rIns="0" bIns="0" rtlCol="0">
            <a:spAutoFit/>
          </a:bodyPr>
          <a:lstStyle/>
          <a:p>
            <a:pPr marL="429895" indent="-334010">
              <a:spcBef>
                <a:spcPts val="100"/>
              </a:spcBef>
              <a:buClr>
                <a:srgbClr val="B10639"/>
              </a:buClr>
              <a:buFont typeface="Yu Gothic UI"/>
              <a:buChar char="▪"/>
              <a:tabLst>
                <a:tab pos="429259" algn="l"/>
                <a:tab pos="430530" algn="l"/>
              </a:tabLst>
            </a:pPr>
            <a:r>
              <a:rPr sz="1400" spc="-5" dirty="0">
                <a:solidFill>
                  <a:srgbClr val="313131"/>
                </a:solidFill>
                <a:latin typeface="Verdana"/>
                <a:cs typeface="Verdana"/>
              </a:rPr>
              <a:t>IS</a:t>
            </a:r>
            <a:r>
              <a:rPr sz="1400" spc="-40" dirty="0">
                <a:solidFill>
                  <a:srgbClr val="313131"/>
                </a:solidFill>
                <a:latin typeface="Verdana"/>
                <a:cs typeface="Verdana"/>
              </a:rPr>
              <a:t> </a:t>
            </a:r>
            <a:r>
              <a:rPr sz="1400" spc="-5" dirty="0">
                <a:solidFill>
                  <a:srgbClr val="313131"/>
                </a:solidFill>
                <a:latin typeface="Verdana"/>
                <a:cs typeface="Verdana"/>
              </a:rPr>
              <a:t>vs</a:t>
            </a:r>
            <a:r>
              <a:rPr sz="1400" spc="-35" dirty="0">
                <a:solidFill>
                  <a:srgbClr val="313131"/>
                </a:solidFill>
                <a:latin typeface="Verdana"/>
                <a:cs typeface="Verdana"/>
              </a:rPr>
              <a:t> </a:t>
            </a:r>
            <a:r>
              <a:rPr sz="1400" spc="-5" dirty="0">
                <a:solidFill>
                  <a:srgbClr val="313131"/>
                </a:solidFill>
                <a:latin typeface="Verdana"/>
                <a:cs typeface="Verdana"/>
              </a:rPr>
              <a:t>FID</a:t>
            </a:r>
            <a:endParaRPr sz="1400">
              <a:solidFill>
                <a:prstClr val="black"/>
              </a:solidFill>
              <a:latin typeface="Verdana"/>
              <a:cs typeface="Verdana"/>
            </a:endParaRPr>
          </a:p>
          <a:p>
            <a:pPr marL="429895" indent="-417830">
              <a:spcBef>
                <a:spcPts val="1620"/>
              </a:spcBef>
              <a:buClr>
                <a:srgbClr val="B10639"/>
              </a:buClr>
              <a:buFont typeface="Yu Gothic UI"/>
              <a:buChar char="✓"/>
              <a:tabLst>
                <a:tab pos="429259" algn="l"/>
                <a:tab pos="430530" algn="l"/>
              </a:tabLst>
            </a:pPr>
            <a:r>
              <a:rPr sz="1400" spc="-5" dirty="0">
                <a:solidFill>
                  <a:srgbClr val="313131"/>
                </a:solidFill>
                <a:latin typeface="Verdana"/>
                <a:cs typeface="Verdana"/>
              </a:rPr>
              <a:t>FID</a:t>
            </a:r>
            <a:r>
              <a:rPr sz="1400" spc="-25" dirty="0">
                <a:solidFill>
                  <a:srgbClr val="313131"/>
                </a:solidFill>
                <a:latin typeface="Verdana"/>
                <a:cs typeface="Verdana"/>
              </a:rPr>
              <a:t> </a:t>
            </a:r>
            <a:r>
              <a:rPr sz="1400" spc="-5" dirty="0">
                <a:solidFill>
                  <a:srgbClr val="313131"/>
                </a:solidFill>
                <a:latin typeface="Verdana"/>
                <a:cs typeface="Verdana"/>
              </a:rPr>
              <a:t>considers</a:t>
            </a:r>
            <a:r>
              <a:rPr sz="1400" spc="-20" dirty="0">
                <a:solidFill>
                  <a:srgbClr val="313131"/>
                </a:solidFill>
                <a:latin typeface="Verdana"/>
                <a:cs typeface="Verdana"/>
              </a:rPr>
              <a:t> </a:t>
            </a:r>
            <a:r>
              <a:rPr sz="1400" spc="-5" dirty="0">
                <a:solidFill>
                  <a:srgbClr val="313131"/>
                </a:solidFill>
                <a:latin typeface="Verdana"/>
                <a:cs typeface="Verdana"/>
              </a:rPr>
              <a:t>the</a:t>
            </a:r>
            <a:r>
              <a:rPr sz="1400" spc="-20" dirty="0">
                <a:solidFill>
                  <a:srgbClr val="313131"/>
                </a:solidFill>
                <a:latin typeface="Verdana"/>
                <a:cs typeface="Verdana"/>
              </a:rPr>
              <a:t> </a:t>
            </a:r>
            <a:r>
              <a:rPr sz="1400" spc="-5" dirty="0">
                <a:solidFill>
                  <a:srgbClr val="313131"/>
                </a:solidFill>
                <a:latin typeface="Verdana"/>
                <a:cs typeface="Verdana"/>
              </a:rPr>
              <a:t>real</a:t>
            </a:r>
            <a:r>
              <a:rPr sz="1400" spc="-20" dirty="0">
                <a:solidFill>
                  <a:srgbClr val="313131"/>
                </a:solidFill>
                <a:latin typeface="Verdana"/>
                <a:cs typeface="Verdana"/>
              </a:rPr>
              <a:t> </a:t>
            </a:r>
            <a:r>
              <a:rPr sz="1400" spc="-5" dirty="0">
                <a:solidFill>
                  <a:srgbClr val="313131"/>
                </a:solidFill>
                <a:latin typeface="Verdana"/>
                <a:cs typeface="Verdana"/>
              </a:rPr>
              <a:t>dataset</a:t>
            </a:r>
            <a:endParaRPr sz="1400">
              <a:solidFill>
                <a:prstClr val="black"/>
              </a:solidFill>
              <a:latin typeface="Verdana"/>
              <a:cs typeface="Verdana"/>
            </a:endParaRPr>
          </a:p>
          <a:p>
            <a:pPr marL="71120" marR="48260" indent="-59055">
              <a:lnSpc>
                <a:spcPts val="1650"/>
              </a:lnSpc>
              <a:spcBef>
                <a:spcPts val="1700"/>
              </a:spcBef>
              <a:buClr>
                <a:srgbClr val="B10639"/>
              </a:buClr>
              <a:buFont typeface="Yu Gothic UI"/>
              <a:buChar char="✓"/>
              <a:tabLst>
                <a:tab pos="429259" algn="l"/>
                <a:tab pos="430530" algn="l"/>
              </a:tabLst>
            </a:pPr>
            <a:r>
              <a:rPr sz="1400" spc="-5" dirty="0">
                <a:solidFill>
                  <a:srgbClr val="313131"/>
                </a:solidFill>
                <a:latin typeface="Verdana"/>
                <a:cs typeface="Verdana"/>
              </a:rPr>
              <a:t>FID requires less sampling (faster) </a:t>
            </a:r>
            <a:r>
              <a:rPr sz="1400" spc="-480" dirty="0">
                <a:solidFill>
                  <a:srgbClr val="313131"/>
                </a:solidFill>
                <a:latin typeface="Verdana"/>
                <a:cs typeface="Verdana"/>
              </a:rPr>
              <a:t> </a:t>
            </a:r>
            <a:r>
              <a:rPr sz="1400" spc="-5" dirty="0">
                <a:solidFill>
                  <a:srgbClr val="313131"/>
                </a:solidFill>
                <a:latin typeface="Verdana"/>
                <a:cs typeface="Verdana"/>
              </a:rPr>
              <a:t>(~10k</a:t>
            </a:r>
            <a:r>
              <a:rPr sz="1400" spc="-10" dirty="0">
                <a:solidFill>
                  <a:srgbClr val="313131"/>
                </a:solidFill>
                <a:latin typeface="Verdana"/>
                <a:cs typeface="Verdana"/>
              </a:rPr>
              <a:t> </a:t>
            </a:r>
            <a:r>
              <a:rPr sz="1400" spc="-5" dirty="0">
                <a:solidFill>
                  <a:srgbClr val="313131"/>
                </a:solidFill>
                <a:latin typeface="Verdana"/>
                <a:cs typeface="Verdana"/>
              </a:rPr>
              <a:t>instead</a:t>
            </a:r>
            <a:r>
              <a:rPr sz="1400" spc="-10" dirty="0">
                <a:solidFill>
                  <a:srgbClr val="313131"/>
                </a:solidFill>
                <a:latin typeface="Verdana"/>
                <a:cs typeface="Verdana"/>
              </a:rPr>
              <a:t> </a:t>
            </a:r>
            <a:r>
              <a:rPr sz="1400" spc="-5" dirty="0">
                <a:solidFill>
                  <a:srgbClr val="313131"/>
                </a:solidFill>
                <a:latin typeface="Verdana"/>
                <a:cs typeface="Verdana"/>
              </a:rPr>
              <a:t>of</a:t>
            </a:r>
            <a:r>
              <a:rPr sz="1400" spc="-10" dirty="0">
                <a:solidFill>
                  <a:srgbClr val="313131"/>
                </a:solidFill>
                <a:latin typeface="Verdana"/>
                <a:cs typeface="Verdana"/>
              </a:rPr>
              <a:t> </a:t>
            </a:r>
            <a:r>
              <a:rPr sz="1400" spc="-5" dirty="0">
                <a:solidFill>
                  <a:srgbClr val="313131"/>
                </a:solidFill>
                <a:latin typeface="Verdana"/>
                <a:cs typeface="Verdana"/>
              </a:rPr>
              <a:t>50k in</a:t>
            </a:r>
            <a:r>
              <a:rPr sz="1400" spc="-10" dirty="0">
                <a:solidFill>
                  <a:srgbClr val="313131"/>
                </a:solidFill>
                <a:latin typeface="Verdana"/>
                <a:cs typeface="Verdana"/>
              </a:rPr>
              <a:t> </a:t>
            </a:r>
            <a:r>
              <a:rPr sz="1400" spc="-5" dirty="0">
                <a:solidFill>
                  <a:srgbClr val="313131"/>
                </a:solidFill>
                <a:latin typeface="Verdana"/>
                <a:cs typeface="Verdana"/>
              </a:rPr>
              <a:t>IS)</a:t>
            </a:r>
            <a:endParaRPr sz="1400">
              <a:solidFill>
                <a:prstClr val="black"/>
              </a:solidFill>
              <a:latin typeface="Verdana"/>
              <a:cs typeface="Verdana"/>
            </a:endParaRPr>
          </a:p>
          <a:p>
            <a:pPr>
              <a:spcBef>
                <a:spcPts val="5"/>
              </a:spcBef>
              <a:buClr>
                <a:srgbClr val="B10639"/>
              </a:buClr>
              <a:buFont typeface="Yu Gothic UI"/>
              <a:buChar char="✓"/>
            </a:pPr>
            <a:endParaRPr sz="1350">
              <a:solidFill>
                <a:prstClr val="black"/>
              </a:solidFill>
              <a:latin typeface="Verdana"/>
              <a:cs typeface="Verdana"/>
            </a:endParaRPr>
          </a:p>
          <a:p>
            <a:pPr marL="133350" marR="522605" indent="-121285">
              <a:lnSpc>
                <a:spcPts val="1650"/>
              </a:lnSpc>
              <a:spcBef>
                <a:spcPts val="5"/>
              </a:spcBef>
              <a:buClr>
                <a:srgbClr val="B10639"/>
              </a:buClr>
              <a:buFont typeface="Yu Gothic UI"/>
              <a:buChar char="✓"/>
              <a:tabLst>
                <a:tab pos="429259" algn="l"/>
                <a:tab pos="430530" algn="l"/>
              </a:tabLst>
            </a:pPr>
            <a:r>
              <a:rPr sz="1400" spc="-5" dirty="0">
                <a:solidFill>
                  <a:srgbClr val="313131"/>
                </a:solidFill>
                <a:latin typeface="Verdana"/>
                <a:cs typeface="Verdana"/>
              </a:rPr>
              <a:t>FID more robust to noise and </a:t>
            </a:r>
            <a:r>
              <a:rPr sz="1400" spc="-484" dirty="0">
                <a:solidFill>
                  <a:srgbClr val="313131"/>
                </a:solidFill>
                <a:latin typeface="Verdana"/>
                <a:cs typeface="Verdana"/>
              </a:rPr>
              <a:t> </a:t>
            </a:r>
            <a:r>
              <a:rPr sz="1400" spc="-5" dirty="0">
                <a:solidFill>
                  <a:srgbClr val="313131"/>
                </a:solidFill>
                <a:latin typeface="Verdana"/>
                <a:cs typeface="Verdana"/>
              </a:rPr>
              <a:t>human</a:t>
            </a:r>
            <a:r>
              <a:rPr sz="1400" spc="-10" dirty="0">
                <a:solidFill>
                  <a:srgbClr val="313131"/>
                </a:solidFill>
                <a:latin typeface="Verdana"/>
                <a:cs typeface="Verdana"/>
              </a:rPr>
              <a:t> </a:t>
            </a:r>
            <a:r>
              <a:rPr sz="1400" spc="-5" dirty="0">
                <a:solidFill>
                  <a:srgbClr val="313131"/>
                </a:solidFill>
                <a:latin typeface="Verdana"/>
                <a:cs typeface="Verdana"/>
              </a:rPr>
              <a:t>judgement</a:t>
            </a:r>
            <a:endParaRPr sz="1400">
              <a:solidFill>
                <a:prstClr val="black"/>
              </a:solidFill>
              <a:latin typeface="Verdana"/>
              <a:cs typeface="Verdana"/>
            </a:endParaRPr>
          </a:p>
          <a:p>
            <a:pPr>
              <a:spcBef>
                <a:spcPts val="50"/>
              </a:spcBef>
              <a:buClr>
                <a:srgbClr val="B10639"/>
              </a:buClr>
              <a:buFont typeface="Yu Gothic UI"/>
              <a:buChar char="✓"/>
            </a:pPr>
            <a:endParaRPr sz="1250">
              <a:solidFill>
                <a:prstClr val="black"/>
              </a:solidFill>
              <a:latin typeface="Verdana"/>
              <a:cs typeface="Verdana"/>
            </a:endParaRPr>
          </a:p>
          <a:p>
            <a:pPr marL="429895" indent="-417830">
              <a:buClr>
                <a:srgbClr val="B10639"/>
              </a:buClr>
              <a:buFont typeface="Yu Gothic UI"/>
              <a:buChar char="✓"/>
              <a:tabLst>
                <a:tab pos="429259" algn="l"/>
                <a:tab pos="430530" algn="l"/>
              </a:tabLst>
            </a:pPr>
            <a:r>
              <a:rPr sz="1400" spc="-5" dirty="0">
                <a:solidFill>
                  <a:srgbClr val="313131"/>
                </a:solidFill>
                <a:latin typeface="Verdana"/>
                <a:cs typeface="Verdana"/>
              </a:rPr>
              <a:t>FID</a:t>
            </a:r>
            <a:r>
              <a:rPr sz="1400" spc="-20" dirty="0">
                <a:solidFill>
                  <a:srgbClr val="313131"/>
                </a:solidFill>
                <a:latin typeface="Verdana"/>
                <a:cs typeface="Verdana"/>
              </a:rPr>
              <a:t> </a:t>
            </a:r>
            <a:r>
              <a:rPr sz="1400" spc="-5" dirty="0">
                <a:solidFill>
                  <a:srgbClr val="313131"/>
                </a:solidFill>
                <a:latin typeface="Verdana"/>
                <a:cs typeface="Verdana"/>
              </a:rPr>
              <a:t>also</a:t>
            </a:r>
            <a:r>
              <a:rPr sz="1400" spc="-20" dirty="0">
                <a:solidFill>
                  <a:srgbClr val="313131"/>
                </a:solidFill>
                <a:latin typeface="Verdana"/>
                <a:cs typeface="Verdana"/>
              </a:rPr>
              <a:t> </a:t>
            </a:r>
            <a:r>
              <a:rPr sz="1400" spc="-5" dirty="0">
                <a:solidFill>
                  <a:srgbClr val="313131"/>
                </a:solidFill>
                <a:latin typeface="Verdana"/>
                <a:cs typeface="Verdana"/>
              </a:rPr>
              <a:t>sensitive</a:t>
            </a:r>
            <a:r>
              <a:rPr sz="1400" spc="-20" dirty="0">
                <a:solidFill>
                  <a:srgbClr val="313131"/>
                </a:solidFill>
                <a:latin typeface="Verdana"/>
                <a:cs typeface="Verdana"/>
              </a:rPr>
              <a:t> </a:t>
            </a:r>
            <a:r>
              <a:rPr sz="1400" spc="-5" dirty="0">
                <a:solidFill>
                  <a:srgbClr val="313131"/>
                </a:solidFill>
                <a:latin typeface="Verdana"/>
                <a:cs typeface="Verdana"/>
              </a:rPr>
              <a:t>to</a:t>
            </a:r>
            <a:r>
              <a:rPr sz="1400" spc="-20" dirty="0">
                <a:solidFill>
                  <a:srgbClr val="313131"/>
                </a:solidFill>
                <a:latin typeface="Verdana"/>
                <a:cs typeface="Verdana"/>
              </a:rPr>
              <a:t> </a:t>
            </a:r>
            <a:r>
              <a:rPr sz="1400" spc="-5" dirty="0">
                <a:solidFill>
                  <a:srgbClr val="313131"/>
                </a:solidFill>
                <a:latin typeface="Verdana"/>
                <a:cs typeface="Verdana"/>
              </a:rPr>
              <a:t>mode</a:t>
            </a:r>
            <a:r>
              <a:rPr sz="1400" spc="-15" dirty="0">
                <a:solidFill>
                  <a:srgbClr val="313131"/>
                </a:solidFill>
                <a:latin typeface="Verdana"/>
                <a:cs typeface="Verdana"/>
              </a:rPr>
              <a:t> </a:t>
            </a:r>
            <a:r>
              <a:rPr sz="1400" spc="-5" dirty="0">
                <a:solidFill>
                  <a:srgbClr val="313131"/>
                </a:solidFill>
                <a:latin typeface="Verdana"/>
                <a:cs typeface="Verdana"/>
              </a:rPr>
              <a:t>collapse</a:t>
            </a:r>
            <a:endParaRPr sz="1400">
              <a:solidFill>
                <a:prstClr val="black"/>
              </a:solidFill>
              <a:latin typeface="Verdana"/>
              <a:cs typeface="Verdana"/>
            </a:endParaRPr>
          </a:p>
        </p:txBody>
      </p:sp>
      <p:sp>
        <p:nvSpPr>
          <p:cNvPr id="10" name="object 10"/>
          <p:cNvSpPr txBox="1"/>
          <p:nvPr/>
        </p:nvSpPr>
        <p:spPr>
          <a:xfrm>
            <a:off x="5164876" y="5453378"/>
            <a:ext cx="3883660" cy="532130"/>
          </a:xfrm>
          <a:prstGeom prst="rect">
            <a:avLst/>
          </a:prstGeom>
        </p:spPr>
        <p:txBody>
          <a:bodyPr vert="horz" wrap="square" lIns="0" tIns="12700" rIns="0" bIns="0" rtlCol="0">
            <a:spAutoFit/>
          </a:bodyPr>
          <a:lstStyle/>
          <a:p>
            <a:pPr marL="12700">
              <a:spcBef>
                <a:spcPts val="100"/>
              </a:spcBef>
              <a:tabLst>
                <a:tab pos="2359660" algn="l"/>
              </a:tabLst>
            </a:pPr>
            <a:r>
              <a:rPr sz="1400" spc="-5" dirty="0">
                <a:solidFill>
                  <a:prstClr val="black"/>
                </a:solidFill>
                <a:latin typeface="Arial MT"/>
                <a:cs typeface="Arial MT"/>
              </a:rPr>
              <a:t>FID </a:t>
            </a:r>
            <a:r>
              <a:rPr sz="1400" dirty="0">
                <a:solidFill>
                  <a:prstClr val="black"/>
                </a:solidFill>
                <a:latin typeface="Arial MT"/>
                <a:cs typeface="Arial MT"/>
              </a:rPr>
              <a:t>(lower </a:t>
            </a:r>
            <a:r>
              <a:rPr sz="1400" spc="-5" dirty="0">
                <a:solidFill>
                  <a:prstClr val="black"/>
                </a:solidFill>
                <a:latin typeface="Arial MT"/>
                <a:cs typeface="Arial MT"/>
              </a:rPr>
              <a:t>is better)	IS</a:t>
            </a:r>
            <a:r>
              <a:rPr sz="1400" spc="-30" dirty="0">
                <a:solidFill>
                  <a:prstClr val="black"/>
                </a:solidFill>
                <a:latin typeface="Arial MT"/>
                <a:cs typeface="Arial MT"/>
              </a:rPr>
              <a:t> </a:t>
            </a:r>
            <a:r>
              <a:rPr sz="1400" dirty="0">
                <a:solidFill>
                  <a:prstClr val="black"/>
                </a:solidFill>
                <a:latin typeface="Arial MT"/>
                <a:cs typeface="Arial MT"/>
              </a:rPr>
              <a:t>(higher</a:t>
            </a:r>
            <a:r>
              <a:rPr sz="1400" spc="-30" dirty="0">
                <a:solidFill>
                  <a:prstClr val="black"/>
                </a:solidFill>
                <a:latin typeface="Arial MT"/>
                <a:cs typeface="Arial MT"/>
              </a:rPr>
              <a:t> </a:t>
            </a:r>
            <a:r>
              <a:rPr sz="1400" spc="-5" dirty="0">
                <a:solidFill>
                  <a:prstClr val="black"/>
                </a:solidFill>
                <a:latin typeface="Arial MT"/>
                <a:cs typeface="Arial MT"/>
              </a:rPr>
              <a:t>is</a:t>
            </a:r>
            <a:r>
              <a:rPr sz="1400" spc="-35" dirty="0">
                <a:solidFill>
                  <a:prstClr val="black"/>
                </a:solidFill>
                <a:latin typeface="Arial MT"/>
                <a:cs typeface="Arial MT"/>
              </a:rPr>
              <a:t> </a:t>
            </a:r>
            <a:r>
              <a:rPr sz="1400" spc="-5" dirty="0">
                <a:solidFill>
                  <a:prstClr val="black"/>
                </a:solidFill>
                <a:latin typeface="Arial MT"/>
                <a:cs typeface="Arial MT"/>
              </a:rPr>
              <a:t>better)</a:t>
            </a:r>
            <a:endParaRPr sz="1400" dirty="0">
              <a:solidFill>
                <a:prstClr val="black"/>
              </a:solidFill>
              <a:latin typeface="Arial MT"/>
              <a:cs typeface="Arial MT"/>
            </a:endParaRPr>
          </a:p>
          <a:p>
            <a:pPr marL="1349375">
              <a:spcBef>
                <a:spcPts val="1350"/>
              </a:spcBef>
            </a:pPr>
            <a:r>
              <a:rPr sz="800" spc="-5" dirty="0">
                <a:solidFill>
                  <a:prstClr val="black"/>
                </a:solidFill>
                <a:latin typeface="Arial MT"/>
                <a:cs typeface="Arial MT"/>
              </a:rPr>
              <a:t>Images</a:t>
            </a:r>
            <a:r>
              <a:rPr sz="800" spc="-10" dirty="0">
                <a:solidFill>
                  <a:prstClr val="black"/>
                </a:solidFill>
                <a:latin typeface="Arial MT"/>
                <a:cs typeface="Arial MT"/>
              </a:rPr>
              <a:t> </a:t>
            </a:r>
            <a:r>
              <a:rPr sz="800" spc="-5" dirty="0">
                <a:solidFill>
                  <a:prstClr val="black"/>
                </a:solidFill>
                <a:latin typeface="Arial MT"/>
                <a:cs typeface="Arial MT"/>
              </a:rPr>
              <a:t>from</a:t>
            </a:r>
            <a:r>
              <a:rPr sz="800" spc="-10" dirty="0">
                <a:solidFill>
                  <a:prstClr val="black"/>
                </a:solidFill>
                <a:latin typeface="Arial MT"/>
                <a:cs typeface="Arial MT"/>
              </a:rPr>
              <a:t> </a:t>
            </a:r>
            <a:r>
              <a:rPr sz="800" spc="-5" dirty="0">
                <a:solidFill>
                  <a:prstClr val="black"/>
                </a:solidFill>
                <a:latin typeface="Arial MT"/>
                <a:cs typeface="Arial MT"/>
              </a:rPr>
              <a:t>Lucic</a:t>
            </a:r>
            <a:r>
              <a:rPr sz="800" spc="-10" dirty="0">
                <a:solidFill>
                  <a:prstClr val="black"/>
                </a:solidFill>
                <a:latin typeface="Arial MT"/>
                <a:cs typeface="Arial MT"/>
              </a:rPr>
              <a:t> </a:t>
            </a:r>
            <a:r>
              <a:rPr sz="800" spc="-5" dirty="0">
                <a:solidFill>
                  <a:prstClr val="black"/>
                </a:solidFill>
                <a:latin typeface="Arial MT"/>
                <a:cs typeface="Arial MT"/>
              </a:rPr>
              <a:t>et</a:t>
            </a:r>
            <a:r>
              <a:rPr sz="800" spc="-10" dirty="0">
                <a:solidFill>
                  <a:prstClr val="black"/>
                </a:solidFill>
                <a:latin typeface="Arial MT"/>
                <a:cs typeface="Arial MT"/>
              </a:rPr>
              <a:t> </a:t>
            </a:r>
            <a:r>
              <a:rPr sz="800" spc="-5" dirty="0">
                <a:solidFill>
                  <a:prstClr val="black"/>
                </a:solidFill>
                <a:latin typeface="Arial MT"/>
                <a:cs typeface="Arial MT"/>
              </a:rPr>
              <a:t>al.,</a:t>
            </a:r>
            <a:r>
              <a:rPr sz="800" spc="-10" dirty="0">
                <a:solidFill>
                  <a:prstClr val="black"/>
                </a:solidFill>
                <a:latin typeface="Arial MT"/>
                <a:cs typeface="Arial MT"/>
              </a:rPr>
              <a:t> </a:t>
            </a:r>
            <a:r>
              <a:rPr sz="800" spc="-5" dirty="0">
                <a:solidFill>
                  <a:prstClr val="black"/>
                </a:solidFill>
                <a:latin typeface="Arial MT"/>
                <a:cs typeface="Arial MT"/>
              </a:rPr>
              <a:t>2017</a:t>
            </a:r>
            <a:r>
              <a:rPr sz="800" spc="-10" dirty="0">
                <a:solidFill>
                  <a:prstClr val="black"/>
                </a:solidFill>
                <a:latin typeface="Arial MT"/>
                <a:cs typeface="Arial MT"/>
              </a:rPr>
              <a:t> </a:t>
            </a:r>
            <a:r>
              <a:rPr sz="800" spc="-5" dirty="0">
                <a:solidFill>
                  <a:prstClr val="black"/>
                </a:solidFill>
                <a:latin typeface="Arial MT"/>
                <a:cs typeface="Arial MT"/>
              </a:rPr>
              <a:t>and</a:t>
            </a:r>
            <a:r>
              <a:rPr sz="800" dirty="0">
                <a:solidFill>
                  <a:prstClr val="black"/>
                </a:solidFill>
                <a:latin typeface="Arial MT"/>
                <a:cs typeface="Arial MT"/>
              </a:rPr>
              <a:t> </a:t>
            </a:r>
            <a:r>
              <a:rPr sz="800" spc="-5" dirty="0">
                <a:solidFill>
                  <a:srgbClr val="313131"/>
                </a:solidFill>
                <a:latin typeface="Arial MT"/>
                <a:cs typeface="Arial MT"/>
              </a:rPr>
              <a:t>Heusel</a:t>
            </a:r>
            <a:r>
              <a:rPr sz="800" spc="-10" dirty="0">
                <a:solidFill>
                  <a:srgbClr val="313131"/>
                </a:solidFill>
                <a:latin typeface="Arial MT"/>
                <a:cs typeface="Arial MT"/>
              </a:rPr>
              <a:t> </a:t>
            </a:r>
            <a:r>
              <a:rPr sz="800" spc="-5" dirty="0">
                <a:solidFill>
                  <a:srgbClr val="313131"/>
                </a:solidFill>
                <a:latin typeface="Arial MT"/>
                <a:cs typeface="Arial MT"/>
              </a:rPr>
              <a:t>et</a:t>
            </a:r>
            <a:r>
              <a:rPr sz="800" spc="-10" dirty="0">
                <a:solidFill>
                  <a:srgbClr val="313131"/>
                </a:solidFill>
                <a:latin typeface="Arial MT"/>
                <a:cs typeface="Arial MT"/>
              </a:rPr>
              <a:t> </a:t>
            </a:r>
            <a:r>
              <a:rPr sz="800" spc="-5" dirty="0">
                <a:solidFill>
                  <a:srgbClr val="313131"/>
                </a:solidFill>
                <a:latin typeface="Arial MT"/>
                <a:cs typeface="Arial MT"/>
              </a:rPr>
              <a:t>al., 2017</a:t>
            </a:r>
            <a:endParaRPr sz="800" dirty="0">
              <a:solidFill>
                <a:prstClr val="black"/>
              </a:solidFill>
              <a:latin typeface="Arial MT"/>
              <a:cs typeface="Arial MT"/>
            </a:endParaRPr>
          </a:p>
        </p:txBody>
      </p:sp>
      <p:grpSp>
        <p:nvGrpSpPr>
          <p:cNvPr id="11" name="object 11"/>
          <p:cNvGrpSpPr/>
          <p:nvPr/>
        </p:nvGrpSpPr>
        <p:grpSpPr>
          <a:xfrm>
            <a:off x="159283" y="4478324"/>
            <a:ext cx="3815079" cy="1522730"/>
            <a:chOff x="159282" y="3621074"/>
            <a:chExt cx="3815079" cy="1522730"/>
          </a:xfrm>
        </p:grpSpPr>
        <p:pic>
          <p:nvPicPr>
            <p:cNvPr id="12" name="object 12"/>
            <p:cNvPicPr/>
            <p:nvPr/>
          </p:nvPicPr>
          <p:blipFill>
            <a:blip r:embed="rId3" cstate="print"/>
            <a:stretch>
              <a:fillRect/>
            </a:stretch>
          </p:blipFill>
          <p:spPr>
            <a:xfrm>
              <a:off x="1123690" y="3621074"/>
              <a:ext cx="2850355" cy="1522425"/>
            </a:xfrm>
            <a:prstGeom prst="rect">
              <a:avLst/>
            </a:prstGeom>
          </p:spPr>
        </p:pic>
        <p:sp>
          <p:nvSpPr>
            <p:cNvPr id="13" name="object 13"/>
            <p:cNvSpPr/>
            <p:nvPr/>
          </p:nvSpPr>
          <p:spPr>
            <a:xfrm>
              <a:off x="159282" y="488910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grpSp>
      <p:sp>
        <p:nvSpPr>
          <p:cNvPr id="14" name="object 14"/>
          <p:cNvSpPr txBox="1"/>
          <p:nvPr/>
        </p:nvSpPr>
        <p:spPr>
          <a:xfrm>
            <a:off x="232308" y="5731506"/>
            <a:ext cx="1263650" cy="174407"/>
          </a:xfrm>
          <a:prstGeom prst="rect">
            <a:avLst/>
          </a:prstGeom>
        </p:spPr>
        <p:txBody>
          <a:bodyPr vert="horz" wrap="square" lIns="0" tIns="12700" rIns="0" bIns="0" rtlCol="0">
            <a:spAutoFit/>
          </a:bodyPr>
          <a:lstStyle/>
          <a:p>
            <a:pPr marL="12700">
              <a:spcBef>
                <a:spcPts val="100"/>
              </a:spcBef>
            </a:pPr>
            <a:r>
              <a:rPr sz="1050" spc="-5" dirty="0">
                <a:solidFill>
                  <a:srgbClr val="313131"/>
                </a:solidFill>
                <a:latin typeface="Verdana"/>
                <a:cs typeface="Verdana"/>
              </a:rPr>
              <a:t>Generative</a:t>
            </a:r>
            <a:r>
              <a:rPr sz="1050" spc="-75" dirty="0">
                <a:solidFill>
                  <a:srgbClr val="313131"/>
                </a:solidFill>
                <a:latin typeface="Verdana"/>
                <a:cs typeface="Verdana"/>
              </a:rPr>
              <a:t> </a:t>
            </a:r>
            <a:r>
              <a:rPr sz="1050" spc="-5" dirty="0">
                <a:solidFill>
                  <a:srgbClr val="313131"/>
                </a:solidFill>
                <a:latin typeface="Verdana"/>
                <a:cs typeface="Verdana"/>
              </a:rPr>
              <a:t>Models</a:t>
            </a:r>
            <a:endParaRPr sz="1050">
              <a:solidFill>
                <a:prstClr val="black"/>
              </a:solidFill>
              <a:latin typeface="Verdana"/>
              <a:cs typeface="Verdana"/>
            </a:endParaRPr>
          </a:p>
        </p:txBody>
      </p:sp>
      <p:pic>
        <p:nvPicPr>
          <p:cNvPr id="17" name="Picture 2" descr="E:\NIET\Project\xLogo11.png.pagespeed.ic.pydHLuCQEZ.png">
            <a:extLst>
              <a:ext uri="{FF2B5EF4-FFF2-40B4-BE49-F238E27FC236}">
                <a16:creationId xmlns:a16="http://schemas.microsoft.com/office/drawing/2014/main" id="{BE6068B8-1987-5674-F655-F85B773FF07F}"/>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18" name="Title 1">
            <a:extLst>
              <a:ext uri="{FF2B5EF4-FFF2-40B4-BE49-F238E27FC236}">
                <a16:creationId xmlns:a16="http://schemas.microsoft.com/office/drawing/2014/main" id="{A2501AE1-8135-EC51-CA9F-A661A0DA6BFC}"/>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Evaluation metrics</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076426" y="3202163"/>
            <a:ext cx="2829989" cy="2145295"/>
          </a:xfrm>
          <a:prstGeom prst="rect">
            <a:avLst/>
          </a:prstGeom>
        </p:spPr>
      </p:pic>
      <p:pic>
        <p:nvPicPr>
          <p:cNvPr id="3" name="object 3"/>
          <p:cNvPicPr/>
          <p:nvPr/>
        </p:nvPicPr>
        <p:blipFill>
          <a:blip r:embed="rId3" cstate="print"/>
          <a:stretch>
            <a:fillRect/>
          </a:stretch>
        </p:blipFill>
        <p:spPr>
          <a:xfrm>
            <a:off x="1204049" y="3210230"/>
            <a:ext cx="2829990" cy="2145314"/>
          </a:xfrm>
          <a:prstGeom prst="rect">
            <a:avLst/>
          </a:prstGeom>
        </p:spPr>
      </p:pic>
      <p:sp>
        <p:nvSpPr>
          <p:cNvPr id="4" name="object 4"/>
          <p:cNvSpPr txBox="1"/>
          <p:nvPr/>
        </p:nvSpPr>
        <p:spPr>
          <a:xfrm>
            <a:off x="457794" y="2201088"/>
            <a:ext cx="2966085" cy="228268"/>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spc="-5" dirty="0">
                <a:solidFill>
                  <a:srgbClr val="313131"/>
                </a:solidFill>
                <a:latin typeface="Verdana"/>
                <a:cs typeface="Verdana"/>
              </a:rPr>
              <a:t>MNIST</a:t>
            </a:r>
            <a:r>
              <a:rPr sz="1400" spc="-45" dirty="0">
                <a:solidFill>
                  <a:srgbClr val="313131"/>
                </a:solidFill>
                <a:latin typeface="Verdana"/>
                <a:cs typeface="Verdana"/>
              </a:rPr>
              <a:t> </a:t>
            </a:r>
            <a:r>
              <a:rPr sz="1400" spc="-5" dirty="0">
                <a:solidFill>
                  <a:srgbClr val="313131"/>
                </a:solidFill>
                <a:latin typeface="Verdana"/>
                <a:cs typeface="Verdana"/>
              </a:rPr>
              <a:t>(handwritten</a:t>
            </a:r>
            <a:r>
              <a:rPr sz="1400" spc="-40" dirty="0">
                <a:solidFill>
                  <a:srgbClr val="313131"/>
                </a:solidFill>
                <a:latin typeface="Verdana"/>
                <a:cs typeface="Verdana"/>
              </a:rPr>
              <a:t> </a:t>
            </a:r>
            <a:r>
              <a:rPr sz="1400" spc="-5" dirty="0">
                <a:solidFill>
                  <a:srgbClr val="313131"/>
                </a:solidFill>
                <a:latin typeface="Verdana"/>
                <a:cs typeface="Verdana"/>
              </a:rPr>
              <a:t>dataset)</a:t>
            </a:r>
            <a:endParaRPr sz="1400">
              <a:solidFill>
                <a:prstClr val="black"/>
              </a:solidFill>
              <a:latin typeface="Verdana"/>
              <a:cs typeface="Verdana"/>
            </a:endParaRPr>
          </a:p>
        </p:txBody>
      </p:sp>
      <p:sp>
        <p:nvSpPr>
          <p:cNvPr id="5" name="object 5"/>
          <p:cNvSpPr txBox="1"/>
          <p:nvPr/>
        </p:nvSpPr>
        <p:spPr>
          <a:xfrm>
            <a:off x="457794" y="2652294"/>
            <a:ext cx="4068445" cy="540385"/>
          </a:xfrm>
          <a:prstGeom prst="rect">
            <a:avLst/>
          </a:prstGeom>
        </p:spPr>
        <p:txBody>
          <a:bodyPr vert="horz" wrap="square" lIns="0" tIns="56515" rIns="0" bIns="0" rtlCol="0">
            <a:spAutoFit/>
          </a:bodyPr>
          <a:lstStyle/>
          <a:p>
            <a:pPr marL="345440" indent="-333375">
              <a:spcBef>
                <a:spcPts val="445"/>
              </a:spcBef>
              <a:buClr>
                <a:srgbClr val="B10639"/>
              </a:buClr>
              <a:buFont typeface="Yu Gothic UI"/>
              <a:buChar char="▪"/>
              <a:tabLst>
                <a:tab pos="344805" algn="l"/>
                <a:tab pos="346075" algn="l"/>
              </a:tabLst>
            </a:pPr>
            <a:r>
              <a:rPr sz="1400" spc="-5" dirty="0">
                <a:solidFill>
                  <a:srgbClr val="313131"/>
                </a:solidFill>
                <a:latin typeface="Verdana"/>
                <a:cs typeface="Verdana"/>
              </a:rPr>
              <a:t>Condition</a:t>
            </a:r>
            <a:r>
              <a:rPr sz="1400" spc="-20" dirty="0">
                <a:solidFill>
                  <a:srgbClr val="313131"/>
                </a:solidFill>
                <a:latin typeface="Verdana"/>
                <a:cs typeface="Verdana"/>
              </a:rPr>
              <a:t> </a:t>
            </a:r>
            <a:r>
              <a:rPr sz="1400" spc="-5" dirty="0">
                <a:solidFill>
                  <a:srgbClr val="313131"/>
                </a:solidFill>
                <a:latin typeface="Verdana"/>
                <a:cs typeface="Verdana"/>
              </a:rPr>
              <a:t>the</a:t>
            </a:r>
            <a:r>
              <a:rPr sz="1400" spc="-20" dirty="0">
                <a:solidFill>
                  <a:srgbClr val="313131"/>
                </a:solidFill>
                <a:latin typeface="Verdana"/>
                <a:cs typeface="Verdana"/>
              </a:rPr>
              <a:t> </a:t>
            </a:r>
            <a:r>
              <a:rPr sz="1400" spc="-5" dirty="0">
                <a:solidFill>
                  <a:srgbClr val="313131"/>
                </a:solidFill>
                <a:latin typeface="Verdana"/>
                <a:cs typeface="Verdana"/>
              </a:rPr>
              <a:t>number</a:t>
            </a:r>
            <a:r>
              <a:rPr sz="1400" spc="-20" dirty="0">
                <a:solidFill>
                  <a:srgbClr val="313131"/>
                </a:solidFill>
                <a:latin typeface="Verdana"/>
                <a:cs typeface="Verdana"/>
              </a:rPr>
              <a:t> </a:t>
            </a:r>
            <a:r>
              <a:rPr sz="1400" spc="-5" dirty="0">
                <a:solidFill>
                  <a:srgbClr val="313131"/>
                </a:solidFill>
                <a:latin typeface="Verdana"/>
                <a:cs typeface="Verdana"/>
              </a:rPr>
              <a:t>generation</a:t>
            </a:r>
            <a:r>
              <a:rPr sz="1400" spc="-15" dirty="0">
                <a:solidFill>
                  <a:srgbClr val="313131"/>
                </a:solidFill>
                <a:latin typeface="Verdana"/>
                <a:cs typeface="Verdana"/>
              </a:rPr>
              <a:t> </a:t>
            </a:r>
            <a:r>
              <a:rPr sz="1400" spc="-5" dirty="0">
                <a:solidFill>
                  <a:srgbClr val="313131"/>
                </a:solidFill>
                <a:latin typeface="Verdana"/>
                <a:cs typeface="Verdana"/>
              </a:rPr>
              <a:t>per</a:t>
            </a:r>
            <a:r>
              <a:rPr sz="1400" spc="-20" dirty="0">
                <a:solidFill>
                  <a:srgbClr val="313131"/>
                </a:solidFill>
                <a:latin typeface="Verdana"/>
                <a:cs typeface="Verdana"/>
              </a:rPr>
              <a:t> </a:t>
            </a:r>
            <a:r>
              <a:rPr sz="1400" spc="-5" dirty="0">
                <a:solidFill>
                  <a:srgbClr val="313131"/>
                </a:solidFill>
                <a:latin typeface="Verdana"/>
                <a:cs typeface="Verdana"/>
              </a:rPr>
              <a:t>row</a:t>
            </a:r>
            <a:endParaRPr sz="1400">
              <a:solidFill>
                <a:prstClr val="black"/>
              </a:solidFill>
              <a:latin typeface="Verdana"/>
              <a:cs typeface="Verdana"/>
            </a:endParaRPr>
          </a:p>
          <a:p>
            <a:pPr marL="199390" algn="ctr">
              <a:spcBef>
                <a:spcPts val="350"/>
              </a:spcBef>
            </a:pPr>
            <a:r>
              <a:rPr sz="1400" spc="-5" dirty="0">
                <a:solidFill>
                  <a:prstClr val="black"/>
                </a:solidFill>
                <a:latin typeface="Arial MT"/>
                <a:cs typeface="Arial MT"/>
              </a:rPr>
              <a:t>GAN</a:t>
            </a:r>
            <a:endParaRPr sz="1400">
              <a:solidFill>
                <a:prstClr val="black"/>
              </a:solidFill>
              <a:latin typeface="Arial MT"/>
              <a:cs typeface="Arial MT"/>
            </a:endParaRPr>
          </a:p>
        </p:txBody>
      </p:sp>
      <p:sp>
        <p:nvSpPr>
          <p:cNvPr id="12" name="object 12"/>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6" name="object 6"/>
          <p:cNvSpPr txBox="1">
            <a:spLocks noGrp="1"/>
          </p:cNvSpPr>
          <p:nvPr>
            <p:ph type="title" idx="4294967295"/>
          </p:nvPr>
        </p:nvSpPr>
        <p:spPr>
          <a:xfrm>
            <a:off x="1" y="1479550"/>
            <a:ext cx="2244725" cy="330200"/>
          </a:xfrm>
          <a:prstGeom prst="rect">
            <a:avLst/>
          </a:prstGeom>
        </p:spPr>
        <p:txBody>
          <a:bodyPr vert="horz" wrap="square" lIns="0" tIns="12700" rIns="0" bIns="0" rtlCol="0">
            <a:spAutoFit/>
          </a:bodyPr>
          <a:lstStyle/>
          <a:p>
            <a:pPr marL="12700">
              <a:spcBef>
                <a:spcPts val="100"/>
              </a:spcBef>
            </a:pPr>
            <a:r>
              <a:rPr spc="-5" dirty="0"/>
              <a:t>Practical</a:t>
            </a:r>
            <a:r>
              <a:rPr spc="-85" dirty="0"/>
              <a:t> </a:t>
            </a:r>
            <a:r>
              <a:rPr spc="-5" dirty="0"/>
              <a:t>scenario</a:t>
            </a:r>
          </a:p>
        </p:txBody>
      </p:sp>
      <p:sp>
        <p:nvSpPr>
          <p:cNvPr id="7" name="object 7"/>
          <p:cNvSpPr txBox="1"/>
          <p:nvPr/>
        </p:nvSpPr>
        <p:spPr>
          <a:xfrm>
            <a:off x="6192230" y="2953842"/>
            <a:ext cx="539115" cy="228268"/>
          </a:xfrm>
          <a:prstGeom prst="rect">
            <a:avLst/>
          </a:prstGeom>
        </p:spPr>
        <p:txBody>
          <a:bodyPr vert="horz" wrap="square" lIns="0" tIns="12700" rIns="0" bIns="0" rtlCol="0">
            <a:spAutoFit/>
          </a:bodyPr>
          <a:lstStyle/>
          <a:p>
            <a:pPr marL="12700">
              <a:spcBef>
                <a:spcPts val="100"/>
              </a:spcBef>
            </a:pPr>
            <a:r>
              <a:rPr sz="1400" spc="-5" dirty="0">
                <a:solidFill>
                  <a:prstClr val="black"/>
                </a:solidFill>
                <a:latin typeface="Arial MT"/>
                <a:cs typeface="Arial MT"/>
              </a:rPr>
              <a:t>CGAN</a:t>
            </a:r>
            <a:endParaRPr sz="1400">
              <a:solidFill>
                <a:prstClr val="black"/>
              </a:solidFill>
              <a:latin typeface="Arial MT"/>
              <a:cs typeface="Arial MT"/>
            </a:endParaRPr>
          </a:p>
        </p:txBody>
      </p:sp>
      <p:grpSp>
        <p:nvGrpSpPr>
          <p:cNvPr id="8" name="object 8"/>
          <p:cNvGrpSpPr/>
          <p:nvPr/>
        </p:nvGrpSpPr>
        <p:grpSpPr>
          <a:xfrm>
            <a:off x="4289263" y="4126451"/>
            <a:ext cx="540385" cy="267335"/>
            <a:chOff x="4289262" y="3269200"/>
            <a:chExt cx="540385" cy="267335"/>
          </a:xfrm>
        </p:grpSpPr>
        <p:sp>
          <p:nvSpPr>
            <p:cNvPr id="9" name="object 9"/>
            <p:cNvSpPr/>
            <p:nvPr/>
          </p:nvSpPr>
          <p:spPr>
            <a:xfrm>
              <a:off x="4294025" y="3273962"/>
              <a:ext cx="530860" cy="257810"/>
            </a:xfrm>
            <a:custGeom>
              <a:avLst/>
              <a:gdLst/>
              <a:ahLst/>
              <a:cxnLst/>
              <a:rect l="l" t="t" r="r" b="b"/>
              <a:pathLst>
                <a:path w="530860" h="257810">
                  <a:moveTo>
                    <a:pt x="401849" y="257699"/>
                  </a:moveTo>
                  <a:lnTo>
                    <a:pt x="401849" y="193274"/>
                  </a:lnTo>
                  <a:lnTo>
                    <a:pt x="0" y="193274"/>
                  </a:lnTo>
                  <a:lnTo>
                    <a:pt x="0" y="64424"/>
                  </a:lnTo>
                  <a:lnTo>
                    <a:pt x="401849" y="64424"/>
                  </a:lnTo>
                  <a:lnTo>
                    <a:pt x="401849" y="0"/>
                  </a:lnTo>
                  <a:lnTo>
                    <a:pt x="530699" y="128849"/>
                  </a:lnTo>
                  <a:lnTo>
                    <a:pt x="401849" y="257699"/>
                  </a:lnTo>
                  <a:close/>
                </a:path>
              </a:pathLst>
            </a:custGeom>
            <a:solidFill>
              <a:srgbClr val="000000"/>
            </a:solidFill>
          </p:spPr>
          <p:txBody>
            <a:bodyPr wrap="square" lIns="0" tIns="0" rIns="0" bIns="0" rtlCol="0"/>
            <a:lstStyle/>
            <a:p>
              <a:endParaRPr>
                <a:solidFill>
                  <a:prstClr val="black"/>
                </a:solidFill>
                <a:latin typeface="Calibri"/>
              </a:endParaRPr>
            </a:p>
          </p:txBody>
        </p:sp>
        <p:sp>
          <p:nvSpPr>
            <p:cNvPr id="10" name="object 10"/>
            <p:cNvSpPr/>
            <p:nvPr/>
          </p:nvSpPr>
          <p:spPr>
            <a:xfrm>
              <a:off x="4294025" y="3273962"/>
              <a:ext cx="530860" cy="257810"/>
            </a:xfrm>
            <a:custGeom>
              <a:avLst/>
              <a:gdLst/>
              <a:ahLst/>
              <a:cxnLst/>
              <a:rect l="l" t="t" r="r" b="b"/>
              <a:pathLst>
                <a:path w="530860" h="257810">
                  <a:moveTo>
                    <a:pt x="0" y="64424"/>
                  </a:moveTo>
                  <a:lnTo>
                    <a:pt x="401849" y="64424"/>
                  </a:lnTo>
                  <a:lnTo>
                    <a:pt x="401849" y="0"/>
                  </a:lnTo>
                  <a:lnTo>
                    <a:pt x="530699" y="128849"/>
                  </a:lnTo>
                  <a:lnTo>
                    <a:pt x="401849" y="257699"/>
                  </a:lnTo>
                  <a:lnTo>
                    <a:pt x="401849" y="193274"/>
                  </a:lnTo>
                  <a:lnTo>
                    <a:pt x="0" y="193274"/>
                  </a:lnTo>
                  <a:lnTo>
                    <a:pt x="0" y="64424"/>
                  </a:lnTo>
                  <a:close/>
                </a:path>
              </a:pathLst>
            </a:custGeom>
            <a:ln w="9524">
              <a:solidFill>
                <a:srgbClr val="000000"/>
              </a:solidFill>
            </a:ln>
          </p:spPr>
          <p:txBody>
            <a:bodyPr wrap="square" lIns="0" tIns="0" rIns="0" bIns="0" rtlCol="0"/>
            <a:lstStyle/>
            <a:p>
              <a:endParaRPr>
                <a:solidFill>
                  <a:prstClr val="black"/>
                </a:solidFill>
                <a:latin typeface="Calibri"/>
              </a:endParaRPr>
            </a:p>
          </p:txBody>
        </p:sp>
      </p:grpSp>
      <p:sp>
        <p:nvSpPr>
          <p:cNvPr id="11" name="object 11"/>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13" name="object 13"/>
          <p:cNvSpPr txBox="1"/>
          <p:nvPr/>
        </p:nvSpPr>
        <p:spPr>
          <a:xfrm>
            <a:off x="2385545" y="5432351"/>
            <a:ext cx="4458970" cy="213520"/>
          </a:xfrm>
          <a:prstGeom prst="rect">
            <a:avLst/>
          </a:prstGeom>
        </p:spPr>
        <p:txBody>
          <a:bodyPr vert="horz" wrap="square" lIns="0" tIns="13335" rIns="0" bIns="0" rtlCol="0">
            <a:spAutoFit/>
          </a:bodyPr>
          <a:lstStyle/>
          <a:p>
            <a:pPr marL="12700">
              <a:spcBef>
                <a:spcPts val="105"/>
              </a:spcBef>
            </a:pPr>
            <a:r>
              <a:rPr sz="1300" u="heavy" spc="-5" dirty="0">
                <a:solidFill>
                  <a:srgbClr val="B10639"/>
                </a:solidFill>
                <a:uFill>
                  <a:solidFill>
                    <a:srgbClr val="B10639"/>
                  </a:solidFill>
                </a:uFill>
                <a:latin typeface="Verdana"/>
                <a:cs typeface="Verdana"/>
                <a:hlinkClick r:id="rId4"/>
              </a:rPr>
              <a:t>https://github.com/gftm/Class_Generative_Networks</a:t>
            </a:r>
            <a:endParaRPr sz="1300">
              <a:solidFill>
                <a:prstClr val="black"/>
              </a:solidFill>
              <a:latin typeface="Verdana"/>
              <a:cs typeface="Verdana"/>
            </a:endParaRPr>
          </a:p>
        </p:txBody>
      </p:sp>
      <p:pic>
        <p:nvPicPr>
          <p:cNvPr id="15" name="Picture 2" descr="E:\NIET\Project\xLogo11.png.pagespeed.ic.pydHLuCQEZ.png">
            <a:extLst>
              <a:ext uri="{FF2B5EF4-FFF2-40B4-BE49-F238E27FC236}">
                <a16:creationId xmlns:a16="http://schemas.microsoft.com/office/drawing/2014/main" id="{21BF69D4-BB73-1239-64FD-B5D38A6BED54}"/>
              </a:ext>
            </a:extLst>
          </p:cNvPr>
          <p:cNvPicPr>
            <a:picLocks noChangeAspect="1" noChangeArrowheads="1"/>
          </p:cNvPicPr>
          <p:nvPr/>
        </p:nvPicPr>
        <p:blipFill>
          <a:blip r:embed="rId5"/>
          <a:srcRect/>
          <a:stretch>
            <a:fillRect/>
          </a:stretch>
        </p:blipFill>
        <p:spPr bwMode="auto">
          <a:xfrm>
            <a:off x="0" y="0"/>
            <a:ext cx="1447800" cy="817163"/>
          </a:xfrm>
          <a:prstGeom prst="rect">
            <a:avLst/>
          </a:prstGeom>
          <a:noFill/>
        </p:spPr>
      </p:pic>
      <p:sp>
        <p:nvSpPr>
          <p:cNvPr id="16" name="Title 1">
            <a:extLst>
              <a:ext uri="{FF2B5EF4-FFF2-40B4-BE49-F238E27FC236}">
                <a16:creationId xmlns:a16="http://schemas.microsoft.com/office/drawing/2014/main" id="{E16A2018-8640-C393-0532-EDA9A9A379E2}"/>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Practical scenario</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479550"/>
            <a:ext cx="2244725" cy="330200"/>
          </a:xfrm>
          <a:prstGeom prst="rect">
            <a:avLst/>
          </a:prstGeom>
        </p:spPr>
        <p:txBody>
          <a:bodyPr vert="horz" wrap="square" lIns="0" tIns="12700" rIns="0" bIns="0" rtlCol="0">
            <a:spAutoFit/>
          </a:bodyPr>
          <a:lstStyle/>
          <a:p>
            <a:pPr marL="12700">
              <a:spcBef>
                <a:spcPts val="100"/>
              </a:spcBef>
            </a:pPr>
            <a:r>
              <a:rPr spc="-5" dirty="0"/>
              <a:t>Practical</a:t>
            </a:r>
            <a:r>
              <a:rPr spc="-85" dirty="0"/>
              <a:t> </a:t>
            </a:r>
            <a:r>
              <a:rPr spc="-5" dirty="0"/>
              <a:t>scenario</a:t>
            </a:r>
          </a:p>
        </p:txBody>
      </p:sp>
      <p:sp>
        <p:nvSpPr>
          <p:cNvPr id="3" name="object 3"/>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4" name="object 4"/>
          <p:cNvSpPr txBox="1"/>
          <p:nvPr/>
        </p:nvSpPr>
        <p:spPr>
          <a:xfrm>
            <a:off x="457794" y="2163000"/>
            <a:ext cx="6629400" cy="1496060"/>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spc="-5" dirty="0">
                <a:solidFill>
                  <a:srgbClr val="313131"/>
                </a:solidFill>
                <a:latin typeface="Verdana"/>
                <a:cs typeface="Verdana"/>
              </a:rPr>
              <a:t>Task</a:t>
            </a:r>
            <a:r>
              <a:rPr sz="1400" spc="-10" dirty="0">
                <a:solidFill>
                  <a:srgbClr val="313131"/>
                </a:solidFill>
                <a:latin typeface="Verdana"/>
                <a:cs typeface="Verdana"/>
              </a:rPr>
              <a:t> </a:t>
            </a:r>
            <a:r>
              <a:rPr sz="1400" dirty="0">
                <a:solidFill>
                  <a:srgbClr val="313131"/>
                </a:solidFill>
                <a:latin typeface="Verdana"/>
                <a:cs typeface="Verdana"/>
              </a:rPr>
              <a:t>1</a:t>
            </a:r>
            <a:r>
              <a:rPr sz="1400" spc="-10" dirty="0">
                <a:solidFill>
                  <a:srgbClr val="313131"/>
                </a:solidFill>
                <a:latin typeface="Verdana"/>
                <a:cs typeface="Verdana"/>
              </a:rPr>
              <a:t> </a:t>
            </a:r>
            <a:r>
              <a:rPr sz="1400" dirty="0">
                <a:solidFill>
                  <a:srgbClr val="313131"/>
                </a:solidFill>
                <a:latin typeface="Verdana"/>
                <a:cs typeface="Verdana"/>
              </a:rPr>
              <a:t>-</a:t>
            </a:r>
            <a:r>
              <a:rPr sz="1400" spc="-5" dirty="0">
                <a:solidFill>
                  <a:srgbClr val="313131"/>
                </a:solidFill>
                <a:latin typeface="Verdana"/>
                <a:cs typeface="Verdana"/>
              </a:rPr>
              <a:t> Add</a:t>
            </a:r>
            <a:r>
              <a:rPr sz="1400" spc="-10" dirty="0">
                <a:solidFill>
                  <a:srgbClr val="313131"/>
                </a:solidFill>
                <a:latin typeface="Verdana"/>
                <a:cs typeface="Verdana"/>
              </a:rPr>
              <a:t> </a:t>
            </a:r>
            <a:r>
              <a:rPr sz="1400" spc="-5" dirty="0">
                <a:solidFill>
                  <a:srgbClr val="313131"/>
                </a:solidFill>
                <a:latin typeface="Verdana"/>
                <a:cs typeface="Verdana"/>
              </a:rPr>
              <a:t>label</a:t>
            </a:r>
            <a:r>
              <a:rPr sz="1400" spc="-10" dirty="0">
                <a:solidFill>
                  <a:srgbClr val="313131"/>
                </a:solidFill>
                <a:latin typeface="Verdana"/>
                <a:cs typeface="Verdana"/>
              </a:rPr>
              <a:t> </a:t>
            </a:r>
            <a:r>
              <a:rPr sz="1400" spc="-5" dirty="0">
                <a:solidFill>
                  <a:srgbClr val="313131"/>
                </a:solidFill>
                <a:latin typeface="Verdana"/>
                <a:cs typeface="Verdana"/>
              </a:rPr>
              <a:t>as input</a:t>
            </a:r>
            <a:r>
              <a:rPr sz="1400" spc="-10" dirty="0">
                <a:solidFill>
                  <a:srgbClr val="313131"/>
                </a:solidFill>
                <a:latin typeface="Verdana"/>
                <a:cs typeface="Verdana"/>
              </a:rPr>
              <a:t> </a:t>
            </a:r>
            <a:r>
              <a:rPr sz="1400" spc="-5" dirty="0">
                <a:solidFill>
                  <a:srgbClr val="313131"/>
                </a:solidFill>
                <a:latin typeface="Verdana"/>
                <a:cs typeface="Verdana"/>
              </a:rPr>
              <a:t>to</a:t>
            </a:r>
            <a:r>
              <a:rPr sz="1400" spc="-10" dirty="0">
                <a:solidFill>
                  <a:srgbClr val="313131"/>
                </a:solidFill>
                <a:latin typeface="Verdana"/>
                <a:cs typeface="Verdana"/>
              </a:rPr>
              <a:t> </a:t>
            </a:r>
            <a:r>
              <a:rPr sz="1400" spc="-5" dirty="0">
                <a:solidFill>
                  <a:srgbClr val="313131"/>
                </a:solidFill>
                <a:latin typeface="Verdana"/>
                <a:cs typeface="Verdana"/>
              </a:rPr>
              <a:t>both models</a:t>
            </a:r>
            <a:r>
              <a:rPr sz="1400" spc="-10" dirty="0">
                <a:solidFill>
                  <a:srgbClr val="313131"/>
                </a:solidFill>
                <a:latin typeface="Verdana"/>
                <a:cs typeface="Verdana"/>
              </a:rPr>
              <a:t> </a:t>
            </a:r>
            <a:r>
              <a:rPr sz="1400" spc="-5" dirty="0">
                <a:solidFill>
                  <a:srgbClr val="313131"/>
                </a:solidFill>
                <a:latin typeface="Verdana"/>
                <a:cs typeface="Verdana"/>
              </a:rPr>
              <a:t>(plus</a:t>
            </a:r>
            <a:r>
              <a:rPr sz="1400" spc="-10" dirty="0">
                <a:solidFill>
                  <a:srgbClr val="313131"/>
                </a:solidFill>
                <a:latin typeface="Verdana"/>
                <a:cs typeface="Verdana"/>
              </a:rPr>
              <a:t> </a:t>
            </a:r>
            <a:r>
              <a:rPr sz="1400" spc="-5" dirty="0">
                <a:solidFill>
                  <a:srgbClr val="313131"/>
                </a:solidFill>
                <a:latin typeface="Verdana"/>
                <a:cs typeface="Verdana"/>
              </a:rPr>
              <a:t>the combined</a:t>
            </a:r>
            <a:r>
              <a:rPr sz="1400" spc="-10" dirty="0">
                <a:solidFill>
                  <a:srgbClr val="313131"/>
                </a:solidFill>
                <a:latin typeface="Verdana"/>
                <a:cs typeface="Verdana"/>
              </a:rPr>
              <a:t> </a:t>
            </a:r>
            <a:r>
              <a:rPr sz="1400" spc="-5" dirty="0">
                <a:solidFill>
                  <a:srgbClr val="313131"/>
                </a:solidFill>
                <a:latin typeface="Verdana"/>
                <a:cs typeface="Verdana"/>
              </a:rPr>
              <a:t>model)</a:t>
            </a:r>
            <a:endParaRPr sz="1400">
              <a:solidFill>
                <a:prstClr val="black"/>
              </a:solidFill>
              <a:latin typeface="Verdana"/>
              <a:cs typeface="Verdana"/>
            </a:endParaRPr>
          </a:p>
          <a:p>
            <a:pPr marL="345440" indent="-333375">
              <a:spcBef>
                <a:spcPts val="1620"/>
              </a:spcBef>
              <a:buClr>
                <a:srgbClr val="B10639"/>
              </a:buClr>
              <a:buFont typeface="Yu Gothic UI"/>
              <a:buChar char="▪"/>
              <a:tabLst>
                <a:tab pos="344805" algn="l"/>
                <a:tab pos="346075" algn="l"/>
              </a:tabLst>
            </a:pPr>
            <a:r>
              <a:rPr sz="1400" spc="-5" dirty="0">
                <a:solidFill>
                  <a:srgbClr val="313131"/>
                </a:solidFill>
                <a:latin typeface="Verdana"/>
                <a:cs typeface="Verdana"/>
              </a:rPr>
              <a:t>Task</a:t>
            </a:r>
            <a:r>
              <a:rPr sz="1400" spc="-15" dirty="0">
                <a:solidFill>
                  <a:srgbClr val="313131"/>
                </a:solidFill>
                <a:latin typeface="Verdana"/>
                <a:cs typeface="Verdana"/>
              </a:rPr>
              <a:t> </a:t>
            </a:r>
            <a:r>
              <a:rPr sz="1400" dirty="0">
                <a:solidFill>
                  <a:srgbClr val="313131"/>
                </a:solidFill>
                <a:latin typeface="Verdana"/>
                <a:cs typeface="Verdana"/>
              </a:rPr>
              <a:t>2</a:t>
            </a:r>
            <a:r>
              <a:rPr sz="1400" spc="-15" dirty="0">
                <a:solidFill>
                  <a:srgbClr val="313131"/>
                </a:solidFill>
                <a:latin typeface="Verdana"/>
                <a:cs typeface="Verdana"/>
              </a:rPr>
              <a:t> </a:t>
            </a:r>
            <a:r>
              <a:rPr sz="1400" dirty="0">
                <a:solidFill>
                  <a:srgbClr val="313131"/>
                </a:solidFill>
                <a:latin typeface="Verdana"/>
                <a:cs typeface="Verdana"/>
              </a:rPr>
              <a:t>-</a:t>
            </a:r>
            <a:r>
              <a:rPr sz="1400" spc="-15" dirty="0">
                <a:solidFill>
                  <a:srgbClr val="313131"/>
                </a:solidFill>
                <a:latin typeface="Verdana"/>
                <a:cs typeface="Verdana"/>
              </a:rPr>
              <a:t> </a:t>
            </a:r>
            <a:r>
              <a:rPr sz="1400" spc="-5" dirty="0">
                <a:solidFill>
                  <a:srgbClr val="313131"/>
                </a:solidFill>
                <a:latin typeface="Verdana"/>
                <a:cs typeface="Verdana"/>
              </a:rPr>
              <a:t>Get</a:t>
            </a:r>
            <a:r>
              <a:rPr sz="1400" spc="-15" dirty="0">
                <a:solidFill>
                  <a:srgbClr val="313131"/>
                </a:solidFill>
                <a:latin typeface="Verdana"/>
                <a:cs typeface="Verdana"/>
              </a:rPr>
              <a:t> </a:t>
            </a:r>
            <a:r>
              <a:rPr sz="1400" spc="-5" dirty="0">
                <a:solidFill>
                  <a:srgbClr val="313131"/>
                </a:solidFill>
                <a:latin typeface="Verdana"/>
                <a:cs typeface="Verdana"/>
              </a:rPr>
              <a:t>labels</a:t>
            </a:r>
            <a:r>
              <a:rPr sz="1400" spc="-15" dirty="0">
                <a:solidFill>
                  <a:srgbClr val="313131"/>
                </a:solidFill>
                <a:latin typeface="Verdana"/>
                <a:cs typeface="Verdana"/>
              </a:rPr>
              <a:t> </a:t>
            </a:r>
            <a:r>
              <a:rPr sz="1400" spc="-5" dirty="0">
                <a:solidFill>
                  <a:srgbClr val="313131"/>
                </a:solidFill>
                <a:latin typeface="Verdana"/>
                <a:cs typeface="Verdana"/>
              </a:rPr>
              <a:t>(y)</a:t>
            </a:r>
            <a:r>
              <a:rPr sz="1400" spc="-15" dirty="0">
                <a:solidFill>
                  <a:srgbClr val="313131"/>
                </a:solidFill>
                <a:latin typeface="Verdana"/>
                <a:cs typeface="Verdana"/>
              </a:rPr>
              <a:t> </a:t>
            </a:r>
            <a:r>
              <a:rPr sz="1400" spc="-5" dirty="0">
                <a:solidFill>
                  <a:srgbClr val="313131"/>
                </a:solidFill>
                <a:latin typeface="Verdana"/>
                <a:cs typeface="Verdana"/>
              </a:rPr>
              <a:t>from</a:t>
            </a:r>
            <a:r>
              <a:rPr sz="1400" spc="-15" dirty="0">
                <a:solidFill>
                  <a:srgbClr val="313131"/>
                </a:solidFill>
                <a:latin typeface="Verdana"/>
                <a:cs typeface="Verdana"/>
              </a:rPr>
              <a:t> </a:t>
            </a:r>
            <a:r>
              <a:rPr sz="1400" spc="-5" dirty="0">
                <a:solidFill>
                  <a:srgbClr val="313131"/>
                </a:solidFill>
                <a:latin typeface="Verdana"/>
                <a:cs typeface="Verdana"/>
              </a:rPr>
              <a:t>dataset</a:t>
            </a:r>
            <a:endParaRPr sz="1400">
              <a:solidFill>
                <a:prstClr val="black"/>
              </a:solidFill>
              <a:latin typeface="Verdana"/>
              <a:cs typeface="Verdana"/>
            </a:endParaRPr>
          </a:p>
          <a:p>
            <a:pPr marL="345440" indent="-333375">
              <a:spcBef>
                <a:spcPts val="1620"/>
              </a:spcBef>
              <a:buClr>
                <a:srgbClr val="B10639"/>
              </a:buClr>
              <a:buFont typeface="Yu Gothic UI"/>
              <a:buChar char="▪"/>
              <a:tabLst>
                <a:tab pos="344805" algn="l"/>
                <a:tab pos="346075" algn="l"/>
              </a:tabLst>
            </a:pPr>
            <a:r>
              <a:rPr sz="1400" spc="-5" dirty="0">
                <a:solidFill>
                  <a:srgbClr val="313131"/>
                </a:solidFill>
                <a:latin typeface="Verdana"/>
                <a:cs typeface="Verdana"/>
              </a:rPr>
              <a:t>Task</a:t>
            </a:r>
            <a:r>
              <a:rPr sz="1400" spc="-15" dirty="0">
                <a:solidFill>
                  <a:srgbClr val="313131"/>
                </a:solidFill>
                <a:latin typeface="Verdana"/>
                <a:cs typeface="Verdana"/>
              </a:rPr>
              <a:t> </a:t>
            </a:r>
            <a:r>
              <a:rPr sz="1400" dirty="0">
                <a:solidFill>
                  <a:srgbClr val="313131"/>
                </a:solidFill>
                <a:latin typeface="Verdana"/>
                <a:cs typeface="Verdana"/>
              </a:rPr>
              <a:t>3</a:t>
            </a:r>
            <a:r>
              <a:rPr sz="1400" spc="-15" dirty="0">
                <a:solidFill>
                  <a:srgbClr val="313131"/>
                </a:solidFill>
                <a:latin typeface="Verdana"/>
                <a:cs typeface="Verdana"/>
              </a:rPr>
              <a:t> </a:t>
            </a:r>
            <a:r>
              <a:rPr sz="1400" dirty="0">
                <a:solidFill>
                  <a:srgbClr val="313131"/>
                </a:solidFill>
                <a:latin typeface="Verdana"/>
                <a:cs typeface="Verdana"/>
              </a:rPr>
              <a:t>-</a:t>
            </a:r>
            <a:r>
              <a:rPr sz="1400" spc="-10" dirty="0">
                <a:solidFill>
                  <a:srgbClr val="313131"/>
                </a:solidFill>
                <a:latin typeface="Verdana"/>
                <a:cs typeface="Verdana"/>
              </a:rPr>
              <a:t> </a:t>
            </a:r>
            <a:r>
              <a:rPr sz="1400" spc="-5" dirty="0">
                <a:solidFill>
                  <a:srgbClr val="313131"/>
                </a:solidFill>
                <a:latin typeface="Verdana"/>
                <a:cs typeface="Verdana"/>
              </a:rPr>
              <a:t>Add</a:t>
            </a:r>
            <a:r>
              <a:rPr sz="1400" spc="-15" dirty="0">
                <a:solidFill>
                  <a:srgbClr val="313131"/>
                </a:solidFill>
                <a:latin typeface="Verdana"/>
                <a:cs typeface="Verdana"/>
              </a:rPr>
              <a:t> </a:t>
            </a:r>
            <a:r>
              <a:rPr sz="1400" spc="-5" dirty="0">
                <a:solidFill>
                  <a:srgbClr val="313131"/>
                </a:solidFill>
                <a:latin typeface="Verdana"/>
                <a:cs typeface="Verdana"/>
              </a:rPr>
              <a:t>labels</a:t>
            </a:r>
            <a:r>
              <a:rPr sz="1400" spc="-10" dirty="0">
                <a:solidFill>
                  <a:srgbClr val="313131"/>
                </a:solidFill>
                <a:latin typeface="Verdana"/>
                <a:cs typeface="Verdana"/>
              </a:rPr>
              <a:t> </a:t>
            </a:r>
            <a:r>
              <a:rPr sz="1400" spc="-5" dirty="0">
                <a:solidFill>
                  <a:srgbClr val="313131"/>
                </a:solidFill>
                <a:latin typeface="Verdana"/>
                <a:cs typeface="Verdana"/>
              </a:rPr>
              <a:t>to</a:t>
            </a:r>
            <a:r>
              <a:rPr sz="1400" spc="-15" dirty="0">
                <a:solidFill>
                  <a:srgbClr val="313131"/>
                </a:solidFill>
                <a:latin typeface="Verdana"/>
                <a:cs typeface="Verdana"/>
              </a:rPr>
              <a:t> </a:t>
            </a:r>
            <a:r>
              <a:rPr sz="1400" spc="-5" dirty="0">
                <a:solidFill>
                  <a:srgbClr val="313131"/>
                </a:solidFill>
                <a:latin typeface="Verdana"/>
                <a:cs typeface="Verdana"/>
              </a:rPr>
              <a:t>the</a:t>
            </a:r>
            <a:r>
              <a:rPr sz="1400" spc="-10" dirty="0">
                <a:solidFill>
                  <a:srgbClr val="313131"/>
                </a:solidFill>
                <a:latin typeface="Verdana"/>
                <a:cs typeface="Verdana"/>
              </a:rPr>
              <a:t> </a:t>
            </a:r>
            <a:r>
              <a:rPr sz="1400" spc="-5" dirty="0">
                <a:solidFill>
                  <a:srgbClr val="313131"/>
                </a:solidFill>
                <a:latin typeface="Verdana"/>
                <a:cs typeface="Verdana"/>
              </a:rPr>
              <a:t>models’</a:t>
            </a:r>
            <a:r>
              <a:rPr sz="1400" spc="-15" dirty="0">
                <a:solidFill>
                  <a:srgbClr val="313131"/>
                </a:solidFill>
                <a:latin typeface="Verdana"/>
                <a:cs typeface="Verdana"/>
              </a:rPr>
              <a:t> </a:t>
            </a:r>
            <a:r>
              <a:rPr sz="1400" spc="-5" dirty="0">
                <a:solidFill>
                  <a:srgbClr val="313131"/>
                </a:solidFill>
                <a:latin typeface="Verdana"/>
                <a:cs typeface="Verdana"/>
              </a:rPr>
              <a:t>losses</a:t>
            </a:r>
            <a:endParaRPr sz="1400">
              <a:solidFill>
                <a:prstClr val="black"/>
              </a:solidFill>
              <a:latin typeface="Verdana"/>
              <a:cs typeface="Verdana"/>
            </a:endParaRPr>
          </a:p>
          <a:p>
            <a:pPr marL="345440" indent="-333375">
              <a:spcBef>
                <a:spcPts val="1620"/>
              </a:spcBef>
              <a:buClr>
                <a:srgbClr val="B10639"/>
              </a:buClr>
              <a:buFont typeface="Yu Gothic UI"/>
              <a:buChar char="▪"/>
              <a:tabLst>
                <a:tab pos="344805" algn="l"/>
                <a:tab pos="346075" algn="l"/>
              </a:tabLst>
            </a:pPr>
            <a:r>
              <a:rPr sz="1400" spc="-5" dirty="0">
                <a:solidFill>
                  <a:srgbClr val="313131"/>
                </a:solidFill>
                <a:latin typeface="Verdana"/>
                <a:cs typeface="Verdana"/>
              </a:rPr>
              <a:t>Task</a:t>
            </a:r>
            <a:r>
              <a:rPr sz="1400" spc="-15" dirty="0">
                <a:solidFill>
                  <a:srgbClr val="313131"/>
                </a:solidFill>
                <a:latin typeface="Verdana"/>
                <a:cs typeface="Verdana"/>
              </a:rPr>
              <a:t> </a:t>
            </a:r>
            <a:r>
              <a:rPr sz="1400" dirty="0">
                <a:solidFill>
                  <a:srgbClr val="313131"/>
                </a:solidFill>
                <a:latin typeface="Verdana"/>
                <a:cs typeface="Verdana"/>
              </a:rPr>
              <a:t>4</a:t>
            </a:r>
            <a:r>
              <a:rPr sz="1400" spc="-15" dirty="0">
                <a:solidFill>
                  <a:srgbClr val="313131"/>
                </a:solidFill>
                <a:latin typeface="Verdana"/>
                <a:cs typeface="Verdana"/>
              </a:rPr>
              <a:t> </a:t>
            </a:r>
            <a:r>
              <a:rPr sz="1400" dirty="0">
                <a:solidFill>
                  <a:srgbClr val="313131"/>
                </a:solidFill>
                <a:latin typeface="Verdana"/>
                <a:cs typeface="Verdana"/>
              </a:rPr>
              <a:t>-</a:t>
            </a:r>
            <a:r>
              <a:rPr sz="1400" spc="-10" dirty="0">
                <a:solidFill>
                  <a:srgbClr val="313131"/>
                </a:solidFill>
                <a:latin typeface="Verdana"/>
                <a:cs typeface="Verdana"/>
              </a:rPr>
              <a:t> </a:t>
            </a:r>
            <a:r>
              <a:rPr sz="1400" spc="-5" dirty="0">
                <a:solidFill>
                  <a:srgbClr val="313131"/>
                </a:solidFill>
                <a:latin typeface="Verdana"/>
                <a:cs typeface="Verdana"/>
              </a:rPr>
              <a:t>Generate</a:t>
            </a:r>
            <a:r>
              <a:rPr sz="1400" spc="-15" dirty="0">
                <a:solidFill>
                  <a:srgbClr val="313131"/>
                </a:solidFill>
                <a:latin typeface="Verdana"/>
                <a:cs typeface="Verdana"/>
              </a:rPr>
              <a:t> </a:t>
            </a:r>
            <a:r>
              <a:rPr sz="1400" spc="-5" dirty="0">
                <a:solidFill>
                  <a:srgbClr val="313131"/>
                </a:solidFill>
                <a:latin typeface="Verdana"/>
                <a:cs typeface="Verdana"/>
              </a:rPr>
              <a:t>specific</a:t>
            </a:r>
            <a:r>
              <a:rPr sz="1400" spc="-10" dirty="0">
                <a:solidFill>
                  <a:srgbClr val="313131"/>
                </a:solidFill>
                <a:latin typeface="Verdana"/>
                <a:cs typeface="Verdana"/>
              </a:rPr>
              <a:t> </a:t>
            </a:r>
            <a:r>
              <a:rPr sz="1400" spc="-5" dirty="0">
                <a:solidFill>
                  <a:srgbClr val="313131"/>
                </a:solidFill>
                <a:latin typeface="Verdana"/>
                <a:cs typeface="Verdana"/>
              </a:rPr>
              <a:t>numbers</a:t>
            </a:r>
            <a:r>
              <a:rPr sz="1400" spc="-15" dirty="0">
                <a:solidFill>
                  <a:srgbClr val="313131"/>
                </a:solidFill>
                <a:latin typeface="Verdana"/>
                <a:cs typeface="Verdana"/>
              </a:rPr>
              <a:t> </a:t>
            </a:r>
            <a:r>
              <a:rPr sz="1400" spc="-5" dirty="0">
                <a:solidFill>
                  <a:srgbClr val="313131"/>
                </a:solidFill>
                <a:latin typeface="Verdana"/>
                <a:cs typeface="Verdana"/>
              </a:rPr>
              <a:t>for</a:t>
            </a:r>
            <a:r>
              <a:rPr sz="1400" spc="-10" dirty="0">
                <a:solidFill>
                  <a:srgbClr val="313131"/>
                </a:solidFill>
                <a:latin typeface="Verdana"/>
                <a:cs typeface="Verdana"/>
              </a:rPr>
              <a:t> </a:t>
            </a:r>
            <a:r>
              <a:rPr sz="1400" spc="-5" dirty="0">
                <a:solidFill>
                  <a:srgbClr val="313131"/>
                </a:solidFill>
                <a:latin typeface="Verdana"/>
                <a:cs typeface="Verdana"/>
              </a:rPr>
              <a:t>each</a:t>
            </a:r>
            <a:r>
              <a:rPr sz="1400" spc="-15" dirty="0">
                <a:solidFill>
                  <a:srgbClr val="313131"/>
                </a:solidFill>
                <a:latin typeface="Verdana"/>
                <a:cs typeface="Verdana"/>
              </a:rPr>
              <a:t> </a:t>
            </a:r>
            <a:r>
              <a:rPr sz="1400" spc="-5" dirty="0">
                <a:solidFill>
                  <a:srgbClr val="313131"/>
                </a:solidFill>
                <a:latin typeface="Verdana"/>
                <a:cs typeface="Verdana"/>
              </a:rPr>
              <a:t>row</a:t>
            </a:r>
            <a:endParaRPr sz="1400">
              <a:solidFill>
                <a:prstClr val="black"/>
              </a:solidFill>
              <a:latin typeface="Verdana"/>
              <a:cs typeface="Verdana"/>
            </a:endParaRPr>
          </a:p>
        </p:txBody>
      </p:sp>
      <p:sp>
        <p:nvSpPr>
          <p:cNvPr id="6" name="object 6"/>
          <p:cNvSpPr txBox="1"/>
          <p:nvPr/>
        </p:nvSpPr>
        <p:spPr>
          <a:xfrm>
            <a:off x="2385545" y="5432351"/>
            <a:ext cx="4458970" cy="213520"/>
          </a:xfrm>
          <a:prstGeom prst="rect">
            <a:avLst/>
          </a:prstGeom>
        </p:spPr>
        <p:txBody>
          <a:bodyPr vert="horz" wrap="square" lIns="0" tIns="13335" rIns="0" bIns="0" rtlCol="0">
            <a:spAutoFit/>
          </a:bodyPr>
          <a:lstStyle/>
          <a:p>
            <a:pPr marL="12700">
              <a:spcBef>
                <a:spcPts val="105"/>
              </a:spcBef>
            </a:pPr>
            <a:r>
              <a:rPr sz="1300" u="heavy" spc="-5" dirty="0">
                <a:solidFill>
                  <a:srgbClr val="B10639"/>
                </a:solidFill>
                <a:uFill>
                  <a:solidFill>
                    <a:srgbClr val="B10639"/>
                  </a:solidFill>
                </a:uFill>
                <a:latin typeface="Verdana"/>
                <a:cs typeface="Verdana"/>
                <a:hlinkClick r:id="rId2"/>
              </a:rPr>
              <a:t>https://github.com/gftm/Class_Generative_Networks</a:t>
            </a:r>
            <a:endParaRPr sz="1300">
              <a:solidFill>
                <a:prstClr val="black"/>
              </a:solidFill>
              <a:latin typeface="Verdana"/>
              <a:cs typeface="Verdana"/>
            </a:endParaRPr>
          </a:p>
        </p:txBody>
      </p:sp>
      <p:pic>
        <p:nvPicPr>
          <p:cNvPr id="8" name="Picture 2" descr="E:\NIET\Project\xLogo11.png.pagespeed.ic.pydHLuCQEZ.png">
            <a:extLst>
              <a:ext uri="{FF2B5EF4-FFF2-40B4-BE49-F238E27FC236}">
                <a16:creationId xmlns:a16="http://schemas.microsoft.com/office/drawing/2014/main" id="{97AC501E-52D4-F58C-F601-1D743489EDDB}"/>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9" name="Title 1">
            <a:extLst>
              <a:ext uri="{FF2B5EF4-FFF2-40B4-BE49-F238E27FC236}">
                <a16:creationId xmlns:a16="http://schemas.microsoft.com/office/drawing/2014/main" id="{5B80F07C-638B-5F6D-5E48-2F567B327943}"/>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Practical scenario</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479550"/>
            <a:ext cx="2244725" cy="330200"/>
          </a:xfrm>
          <a:prstGeom prst="rect">
            <a:avLst/>
          </a:prstGeom>
        </p:spPr>
        <p:txBody>
          <a:bodyPr vert="horz" wrap="square" lIns="0" tIns="12700" rIns="0" bIns="0" rtlCol="0">
            <a:spAutoFit/>
          </a:bodyPr>
          <a:lstStyle/>
          <a:p>
            <a:pPr marL="12700">
              <a:spcBef>
                <a:spcPts val="100"/>
              </a:spcBef>
            </a:pPr>
            <a:r>
              <a:rPr spc="-5" dirty="0"/>
              <a:t>Practical</a:t>
            </a:r>
            <a:r>
              <a:rPr spc="-85" dirty="0"/>
              <a:t> </a:t>
            </a:r>
            <a:r>
              <a:rPr spc="-5" dirty="0"/>
              <a:t>scenario</a:t>
            </a:r>
          </a:p>
        </p:txBody>
      </p:sp>
      <p:sp>
        <p:nvSpPr>
          <p:cNvPr id="3" name="object 3"/>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4" name="object 4"/>
          <p:cNvSpPr txBox="1"/>
          <p:nvPr/>
        </p:nvSpPr>
        <p:spPr>
          <a:xfrm>
            <a:off x="457794" y="2163000"/>
            <a:ext cx="6629400" cy="657860"/>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spc="-5" dirty="0">
                <a:solidFill>
                  <a:srgbClr val="313131"/>
                </a:solidFill>
                <a:latin typeface="Verdana"/>
                <a:cs typeface="Verdana"/>
              </a:rPr>
              <a:t>Task</a:t>
            </a:r>
            <a:r>
              <a:rPr sz="1400" spc="-10" dirty="0">
                <a:solidFill>
                  <a:srgbClr val="313131"/>
                </a:solidFill>
                <a:latin typeface="Verdana"/>
                <a:cs typeface="Verdana"/>
              </a:rPr>
              <a:t> </a:t>
            </a:r>
            <a:r>
              <a:rPr sz="1400" dirty="0">
                <a:solidFill>
                  <a:srgbClr val="313131"/>
                </a:solidFill>
                <a:latin typeface="Verdana"/>
                <a:cs typeface="Verdana"/>
              </a:rPr>
              <a:t>1</a:t>
            </a:r>
            <a:r>
              <a:rPr sz="1400" spc="-10" dirty="0">
                <a:solidFill>
                  <a:srgbClr val="313131"/>
                </a:solidFill>
                <a:latin typeface="Verdana"/>
                <a:cs typeface="Verdana"/>
              </a:rPr>
              <a:t> </a:t>
            </a:r>
            <a:r>
              <a:rPr sz="1400" dirty="0">
                <a:solidFill>
                  <a:srgbClr val="313131"/>
                </a:solidFill>
                <a:latin typeface="Verdana"/>
                <a:cs typeface="Verdana"/>
              </a:rPr>
              <a:t>-</a:t>
            </a:r>
            <a:r>
              <a:rPr sz="1400" spc="-5" dirty="0">
                <a:solidFill>
                  <a:srgbClr val="313131"/>
                </a:solidFill>
                <a:latin typeface="Verdana"/>
                <a:cs typeface="Verdana"/>
              </a:rPr>
              <a:t> Add</a:t>
            </a:r>
            <a:r>
              <a:rPr sz="1400" spc="-10" dirty="0">
                <a:solidFill>
                  <a:srgbClr val="313131"/>
                </a:solidFill>
                <a:latin typeface="Verdana"/>
                <a:cs typeface="Verdana"/>
              </a:rPr>
              <a:t> </a:t>
            </a:r>
            <a:r>
              <a:rPr sz="1400" spc="-5" dirty="0">
                <a:solidFill>
                  <a:srgbClr val="313131"/>
                </a:solidFill>
                <a:latin typeface="Verdana"/>
                <a:cs typeface="Verdana"/>
              </a:rPr>
              <a:t>label</a:t>
            </a:r>
            <a:r>
              <a:rPr sz="1400" spc="-10" dirty="0">
                <a:solidFill>
                  <a:srgbClr val="313131"/>
                </a:solidFill>
                <a:latin typeface="Verdana"/>
                <a:cs typeface="Verdana"/>
              </a:rPr>
              <a:t> </a:t>
            </a:r>
            <a:r>
              <a:rPr sz="1400" spc="-5" dirty="0">
                <a:solidFill>
                  <a:srgbClr val="313131"/>
                </a:solidFill>
                <a:latin typeface="Verdana"/>
                <a:cs typeface="Verdana"/>
              </a:rPr>
              <a:t>as input</a:t>
            </a:r>
            <a:r>
              <a:rPr sz="1400" spc="-10" dirty="0">
                <a:solidFill>
                  <a:srgbClr val="313131"/>
                </a:solidFill>
                <a:latin typeface="Verdana"/>
                <a:cs typeface="Verdana"/>
              </a:rPr>
              <a:t> </a:t>
            </a:r>
            <a:r>
              <a:rPr sz="1400" spc="-5" dirty="0">
                <a:solidFill>
                  <a:srgbClr val="313131"/>
                </a:solidFill>
                <a:latin typeface="Verdana"/>
                <a:cs typeface="Verdana"/>
              </a:rPr>
              <a:t>to</a:t>
            </a:r>
            <a:r>
              <a:rPr sz="1400" spc="-10" dirty="0">
                <a:solidFill>
                  <a:srgbClr val="313131"/>
                </a:solidFill>
                <a:latin typeface="Verdana"/>
                <a:cs typeface="Verdana"/>
              </a:rPr>
              <a:t> </a:t>
            </a:r>
            <a:r>
              <a:rPr sz="1400" spc="-5" dirty="0">
                <a:solidFill>
                  <a:srgbClr val="313131"/>
                </a:solidFill>
                <a:latin typeface="Verdana"/>
                <a:cs typeface="Verdana"/>
              </a:rPr>
              <a:t>both models</a:t>
            </a:r>
            <a:r>
              <a:rPr sz="1400" spc="-10" dirty="0">
                <a:solidFill>
                  <a:srgbClr val="313131"/>
                </a:solidFill>
                <a:latin typeface="Verdana"/>
                <a:cs typeface="Verdana"/>
              </a:rPr>
              <a:t> </a:t>
            </a:r>
            <a:r>
              <a:rPr sz="1400" spc="-5" dirty="0">
                <a:solidFill>
                  <a:srgbClr val="313131"/>
                </a:solidFill>
                <a:latin typeface="Verdana"/>
                <a:cs typeface="Verdana"/>
              </a:rPr>
              <a:t>(plus</a:t>
            </a:r>
            <a:r>
              <a:rPr sz="1400" spc="-10" dirty="0">
                <a:solidFill>
                  <a:srgbClr val="313131"/>
                </a:solidFill>
                <a:latin typeface="Verdana"/>
                <a:cs typeface="Verdana"/>
              </a:rPr>
              <a:t> </a:t>
            </a:r>
            <a:r>
              <a:rPr sz="1400" spc="-5" dirty="0">
                <a:solidFill>
                  <a:srgbClr val="313131"/>
                </a:solidFill>
                <a:latin typeface="Verdana"/>
                <a:cs typeface="Verdana"/>
              </a:rPr>
              <a:t>the combined</a:t>
            </a:r>
            <a:r>
              <a:rPr sz="1400" spc="-10" dirty="0">
                <a:solidFill>
                  <a:srgbClr val="313131"/>
                </a:solidFill>
                <a:latin typeface="Verdana"/>
                <a:cs typeface="Verdana"/>
              </a:rPr>
              <a:t> </a:t>
            </a:r>
            <a:r>
              <a:rPr sz="1400" spc="-5" dirty="0">
                <a:solidFill>
                  <a:srgbClr val="313131"/>
                </a:solidFill>
                <a:latin typeface="Verdana"/>
                <a:cs typeface="Verdana"/>
              </a:rPr>
              <a:t>model)</a:t>
            </a:r>
            <a:endParaRPr sz="1400">
              <a:solidFill>
                <a:prstClr val="black"/>
              </a:solidFill>
              <a:latin typeface="Verdana"/>
              <a:cs typeface="Verdana"/>
            </a:endParaRPr>
          </a:p>
          <a:p>
            <a:pPr>
              <a:spcBef>
                <a:spcPts val="25"/>
              </a:spcBef>
              <a:buClr>
                <a:srgbClr val="B10639"/>
              </a:buClr>
              <a:buFont typeface="Yu Gothic UI"/>
              <a:buChar char="▪"/>
            </a:pPr>
            <a:endParaRPr sz="1600">
              <a:solidFill>
                <a:prstClr val="black"/>
              </a:solidFill>
              <a:latin typeface="Verdana"/>
              <a:cs typeface="Verdana"/>
            </a:endParaRPr>
          </a:p>
          <a:p>
            <a:pPr marL="616585" lvl="1" indent="-293370">
              <a:buClr>
                <a:srgbClr val="B10639"/>
              </a:buClr>
              <a:buSzPct val="133333"/>
              <a:buFont typeface="Arial MT"/>
              <a:buChar char="■"/>
              <a:tabLst>
                <a:tab pos="616585" algn="l"/>
                <a:tab pos="617220" algn="l"/>
              </a:tabLst>
            </a:pPr>
            <a:r>
              <a:rPr sz="1050" spc="-5" dirty="0">
                <a:solidFill>
                  <a:srgbClr val="333333"/>
                </a:solidFill>
                <a:latin typeface="Consolas"/>
                <a:cs typeface="Consolas"/>
              </a:rPr>
              <a:t>def</a:t>
            </a:r>
            <a:r>
              <a:rPr sz="1050" u="sng" spc="1150" dirty="0">
                <a:solidFill>
                  <a:srgbClr val="333333"/>
                </a:solidFill>
                <a:uFill>
                  <a:solidFill>
                    <a:srgbClr val="323232"/>
                  </a:solidFill>
                </a:uFill>
                <a:latin typeface="Consolas"/>
                <a:cs typeface="Consolas"/>
              </a:rPr>
              <a:t> </a:t>
            </a:r>
            <a:r>
              <a:rPr sz="1050" spc="-5" dirty="0">
                <a:solidFill>
                  <a:srgbClr val="333333"/>
                </a:solidFill>
                <a:latin typeface="Consolas"/>
                <a:cs typeface="Consolas"/>
              </a:rPr>
              <a:t>init</a:t>
            </a:r>
            <a:r>
              <a:rPr sz="1050" u="sng" spc="495" dirty="0">
                <a:solidFill>
                  <a:srgbClr val="333333"/>
                </a:solidFill>
                <a:uFill>
                  <a:solidFill>
                    <a:srgbClr val="323232"/>
                  </a:solidFill>
                </a:uFill>
                <a:latin typeface="Consolas"/>
                <a:cs typeface="Consolas"/>
              </a:rPr>
              <a:t> </a:t>
            </a:r>
            <a:r>
              <a:rPr sz="1050" spc="-5" dirty="0">
                <a:solidFill>
                  <a:srgbClr val="333333"/>
                </a:solidFill>
                <a:latin typeface="Consolas"/>
                <a:cs typeface="Consolas"/>
              </a:rPr>
              <a:t>(self):</a:t>
            </a:r>
            <a:endParaRPr sz="1050">
              <a:solidFill>
                <a:prstClr val="black"/>
              </a:solidFill>
              <a:latin typeface="Consolas"/>
              <a:cs typeface="Consolas"/>
            </a:endParaRPr>
          </a:p>
        </p:txBody>
      </p:sp>
      <p:pic>
        <p:nvPicPr>
          <p:cNvPr id="5" name="object 5"/>
          <p:cNvPicPr/>
          <p:nvPr/>
        </p:nvPicPr>
        <p:blipFill>
          <a:blip r:embed="rId2" cstate="print"/>
          <a:stretch>
            <a:fillRect/>
          </a:stretch>
        </p:blipFill>
        <p:spPr>
          <a:xfrm>
            <a:off x="1" y="3014385"/>
            <a:ext cx="9143999" cy="583778"/>
          </a:xfrm>
          <a:prstGeom prst="rect">
            <a:avLst/>
          </a:prstGeom>
        </p:spPr>
      </p:pic>
      <p:pic>
        <p:nvPicPr>
          <p:cNvPr id="6" name="object 6"/>
          <p:cNvPicPr/>
          <p:nvPr/>
        </p:nvPicPr>
        <p:blipFill>
          <a:blip r:embed="rId3" cstate="print"/>
          <a:stretch>
            <a:fillRect/>
          </a:stretch>
        </p:blipFill>
        <p:spPr>
          <a:xfrm>
            <a:off x="0" y="4060887"/>
            <a:ext cx="9143998" cy="145704"/>
          </a:xfrm>
          <a:prstGeom prst="rect">
            <a:avLst/>
          </a:prstGeom>
        </p:spPr>
      </p:pic>
      <p:pic>
        <p:nvPicPr>
          <p:cNvPr id="7" name="object 7"/>
          <p:cNvPicPr/>
          <p:nvPr/>
        </p:nvPicPr>
        <p:blipFill>
          <a:blip r:embed="rId4" cstate="print"/>
          <a:stretch>
            <a:fillRect/>
          </a:stretch>
        </p:blipFill>
        <p:spPr>
          <a:xfrm>
            <a:off x="11196" y="3756042"/>
            <a:ext cx="9096465" cy="145699"/>
          </a:xfrm>
          <a:prstGeom prst="rect">
            <a:avLst/>
          </a:prstGeom>
        </p:spPr>
      </p:pic>
      <p:pic>
        <p:nvPicPr>
          <p:cNvPr id="10" name="Picture 2" descr="E:\NIET\Project\xLogo11.png.pagespeed.ic.pydHLuCQEZ.png">
            <a:extLst>
              <a:ext uri="{FF2B5EF4-FFF2-40B4-BE49-F238E27FC236}">
                <a16:creationId xmlns:a16="http://schemas.microsoft.com/office/drawing/2014/main" id="{A6CF22C9-21E5-2121-9658-29012FB04CAD}"/>
              </a:ext>
            </a:extLst>
          </p:cNvPr>
          <p:cNvPicPr>
            <a:picLocks noChangeAspect="1" noChangeArrowheads="1"/>
          </p:cNvPicPr>
          <p:nvPr/>
        </p:nvPicPr>
        <p:blipFill>
          <a:blip r:embed="rId5"/>
          <a:srcRect/>
          <a:stretch>
            <a:fillRect/>
          </a:stretch>
        </p:blipFill>
        <p:spPr bwMode="auto">
          <a:xfrm>
            <a:off x="0" y="0"/>
            <a:ext cx="1447800" cy="817163"/>
          </a:xfrm>
          <a:prstGeom prst="rect">
            <a:avLst/>
          </a:prstGeom>
          <a:noFill/>
        </p:spPr>
      </p:pic>
      <p:sp>
        <p:nvSpPr>
          <p:cNvPr id="11" name="Title 1">
            <a:extLst>
              <a:ext uri="{FF2B5EF4-FFF2-40B4-BE49-F238E27FC236}">
                <a16:creationId xmlns:a16="http://schemas.microsoft.com/office/drawing/2014/main" id="{F06DF1CE-48DB-8951-09A2-70994CCE8391}"/>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Practical scenario</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479550"/>
            <a:ext cx="2244725" cy="330200"/>
          </a:xfrm>
          <a:prstGeom prst="rect">
            <a:avLst/>
          </a:prstGeom>
        </p:spPr>
        <p:txBody>
          <a:bodyPr vert="horz" wrap="square" lIns="0" tIns="12700" rIns="0" bIns="0" rtlCol="0">
            <a:spAutoFit/>
          </a:bodyPr>
          <a:lstStyle/>
          <a:p>
            <a:pPr marL="12700">
              <a:spcBef>
                <a:spcPts val="100"/>
              </a:spcBef>
            </a:pPr>
            <a:r>
              <a:rPr spc="-5" dirty="0"/>
              <a:t>Practical</a:t>
            </a:r>
            <a:r>
              <a:rPr spc="-85" dirty="0"/>
              <a:t> </a:t>
            </a:r>
            <a:r>
              <a:rPr spc="-5" dirty="0"/>
              <a:t>scenario</a:t>
            </a:r>
          </a:p>
        </p:txBody>
      </p:sp>
      <p:sp>
        <p:nvSpPr>
          <p:cNvPr id="3" name="object 3"/>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4" name="object 4"/>
          <p:cNvSpPr txBox="1"/>
          <p:nvPr/>
        </p:nvSpPr>
        <p:spPr>
          <a:xfrm>
            <a:off x="457794" y="2163000"/>
            <a:ext cx="6629400" cy="657860"/>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spc="-5" dirty="0">
                <a:solidFill>
                  <a:srgbClr val="313131"/>
                </a:solidFill>
                <a:latin typeface="Verdana"/>
                <a:cs typeface="Verdana"/>
              </a:rPr>
              <a:t>Task</a:t>
            </a:r>
            <a:r>
              <a:rPr sz="1400" spc="-10" dirty="0">
                <a:solidFill>
                  <a:srgbClr val="313131"/>
                </a:solidFill>
                <a:latin typeface="Verdana"/>
                <a:cs typeface="Verdana"/>
              </a:rPr>
              <a:t> </a:t>
            </a:r>
            <a:r>
              <a:rPr sz="1400" dirty="0">
                <a:solidFill>
                  <a:srgbClr val="313131"/>
                </a:solidFill>
                <a:latin typeface="Verdana"/>
                <a:cs typeface="Verdana"/>
              </a:rPr>
              <a:t>1</a:t>
            </a:r>
            <a:r>
              <a:rPr sz="1400" spc="-10" dirty="0">
                <a:solidFill>
                  <a:srgbClr val="313131"/>
                </a:solidFill>
                <a:latin typeface="Verdana"/>
                <a:cs typeface="Verdana"/>
              </a:rPr>
              <a:t> </a:t>
            </a:r>
            <a:r>
              <a:rPr sz="1400" dirty="0">
                <a:solidFill>
                  <a:srgbClr val="313131"/>
                </a:solidFill>
                <a:latin typeface="Verdana"/>
                <a:cs typeface="Verdana"/>
              </a:rPr>
              <a:t>-</a:t>
            </a:r>
            <a:r>
              <a:rPr sz="1400" spc="-5" dirty="0">
                <a:solidFill>
                  <a:srgbClr val="313131"/>
                </a:solidFill>
                <a:latin typeface="Verdana"/>
                <a:cs typeface="Verdana"/>
              </a:rPr>
              <a:t> Add</a:t>
            </a:r>
            <a:r>
              <a:rPr sz="1400" spc="-10" dirty="0">
                <a:solidFill>
                  <a:srgbClr val="313131"/>
                </a:solidFill>
                <a:latin typeface="Verdana"/>
                <a:cs typeface="Verdana"/>
              </a:rPr>
              <a:t> </a:t>
            </a:r>
            <a:r>
              <a:rPr sz="1400" spc="-5" dirty="0">
                <a:solidFill>
                  <a:srgbClr val="313131"/>
                </a:solidFill>
                <a:latin typeface="Verdana"/>
                <a:cs typeface="Verdana"/>
              </a:rPr>
              <a:t>label</a:t>
            </a:r>
            <a:r>
              <a:rPr sz="1400" spc="-10" dirty="0">
                <a:solidFill>
                  <a:srgbClr val="313131"/>
                </a:solidFill>
                <a:latin typeface="Verdana"/>
                <a:cs typeface="Verdana"/>
              </a:rPr>
              <a:t> </a:t>
            </a:r>
            <a:r>
              <a:rPr sz="1400" spc="-5" dirty="0">
                <a:solidFill>
                  <a:srgbClr val="313131"/>
                </a:solidFill>
                <a:latin typeface="Verdana"/>
                <a:cs typeface="Verdana"/>
              </a:rPr>
              <a:t>as input</a:t>
            </a:r>
            <a:r>
              <a:rPr sz="1400" spc="-10" dirty="0">
                <a:solidFill>
                  <a:srgbClr val="313131"/>
                </a:solidFill>
                <a:latin typeface="Verdana"/>
                <a:cs typeface="Verdana"/>
              </a:rPr>
              <a:t> </a:t>
            </a:r>
            <a:r>
              <a:rPr sz="1400" spc="-5" dirty="0">
                <a:solidFill>
                  <a:srgbClr val="313131"/>
                </a:solidFill>
                <a:latin typeface="Verdana"/>
                <a:cs typeface="Verdana"/>
              </a:rPr>
              <a:t>to</a:t>
            </a:r>
            <a:r>
              <a:rPr sz="1400" spc="-10" dirty="0">
                <a:solidFill>
                  <a:srgbClr val="313131"/>
                </a:solidFill>
                <a:latin typeface="Verdana"/>
                <a:cs typeface="Verdana"/>
              </a:rPr>
              <a:t> </a:t>
            </a:r>
            <a:r>
              <a:rPr sz="1400" spc="-5" dirty="0">
                <a:solidFill>
                  <a:srgbClr val="313131"/>
                </a:solidFill>
                <a:latin typeface="Verdana"/>
                <a:cs typeface="Verdana"/>
              </a:rPr>
              <a:t>both models</a:t>
            </a:r>
            <a:r>
              <a:rPr sz="1400" spc="-10" dirty="0">
                <a:solidFill>
                  <a:srgbClr val="313131"/>
                </a:solidFill>
                <a:latin typeface="Verdana"/>
                <a:cs typeface="Verdana"/>
              </a:rPr>
              <a:t> </a:t>
            </a:r>
            <a:r>
              <a:rPr sz="1400" spc="-5" dirty="0">
                <a:solidFill>
                  <a:srgbClr val="313131"/>
                </a:solidFill>
                <a:latin typeface="Verdana"/>
                <a:cs typeface="Verdana"/>
              </a:rPr>
              <a:t>(plus</a:t>
            </a:r>
            <a:r>
              <a:rPr sz="1400" spc="-10" dirty="0">
                <a:solidFill>
                  <a:srgbClr val="313131"/>
                </a:solidFill>
                <a:latin typeface="Verdana"/>
                <a:cs typeface="Verdana"/>
              </a:rPr>
              <a:t> </a:t>
            </a:r>
            <a:r>
              <a:rPr sz="1400" spc="-5" dirty="0">
                <a:solidFill>
                  <a:srgbClr val="313131"/>
                </a:solidFill>
                <a:latin typeface="Verdana"/>
                <a:cs typeface="Verdana"/>
              </a:rPr>
              <a:t>the combined</a:t>
            </a:r>
            <a:r>
              <a:rPr sz="1400" spc="-10" dirty="0">
                <a:solidFill>
                  <a:srgbClr val="313131"/>
                </a:solidFill>
                <a:latin typeface="Verdana"/>
                <a:cs typeface="Verdana"/>
              </a:rPr>
              <a:t> </a:t>
            </a:r>
            <a:r>
              <a:rPr sz="1400" spc="-5" dirty="0">
                <a:solidFill>
                  <a:srgbClr val="313131"/>
                </a:solidFill>
                <a:latin typeface="Verdana"/>
                <a:cs typeface="Verdana"/>
              </a:rPr>
              <a:t>model)</a:t>
            </a:r>
            <a:endParaRPr sz="1400">
              <a:solidFill>
                <a:prstClr val="black"/>
              </a:solidFill>
              <a:latin typeface="Verdana"/>
              <a:cs typeface="Verdana"/>
            </a:endParaRPr>
          </a:p>
          <a:p>
            <a:pPr>
              <a:spcBef>
                <a:spcPts val="25"/>
              </a:spcBef>
              <a:buClr>
                <a:srgbClr val="B10639"/>
              </a:buClr>
              <a:buFont typeface="Yu Gothic UI"/>
              <a:buChar char="▪"/>
            </a:pPr>
            <a:endParaRPr sz="1600">
              <a:solidFill>
                <a:prstClr val="black"/>
              </a:solidFill>
              <a:latin typeface="Verdana"/>
              <a:cs typeface="Verdana"/>
            </a:endParaRPr>
          </a:p>
          <a:p>
            <a:pPr marL="616585" lvl="1" indent="-293370">
              <a:buClr>
                <a:srgbClr val="B10639"/>
              </a:buClr>
              <a:buSzPct val="133333"/>
              <a:buFont typeface="Arial MT"/>
              <a:buChar char="■"/>
              <a:tabLst>
                <a:tab pos="616585" algn="l"/>
                <a:tab pos="617220" algn="l"/>
              </a:tabLst>
            </a:pPr>
            <a:r>
              <a:rPr sz="1050" spc="-5" dirty="0">
                <a:solidFill>
                  <a:srgbClr val="333333"/>
                </a:solidFill>
                <a:latin typeface="Consolas"/>
                <a:cs typeface="Consolas"/>
              </a:rPr>
              <a:t>def</a:t>
            </a:r>
            <a:r>
              <a:rPr sz="1050" spc="-65" dirty="0">
                <a:solidFill>
                  <a:srgbClr val="333333"/>
                </a:solidFill>
                <a:latin typeface="Consolas"/>
                <a:cs typeface="Consolas"/>
              </a:rPr>
              <a:t> </a:t>
            </a:r>
            <a:r>
              <a:rPr sz="1050" spc="-5" dirty="0">
                <a:solidFill>
                  <a:srgbClr val="333333"/>
                </a:solidFill>
                <a:latin typeface="Consolas"/>
                <a:cs typeface="Consolas"/>
              </a:rPr>
              <a:t>build_generator(self):</a:t>
            </a:r>
            <a:endParaRPr sz="1050">
              <a:solidFill>
                <a:prstClr val="black"/>
              </a:solidFill>
              <a:latin typeface="Consolas"/>
              <a:cs typeface="Consolas"/>
            </a:endParaRPr>
          </a:p>
        </p:txBody>
      </p:sp>
      <p:sp>
        <p:nvSpPr>
          <p:cNvPr id="5" name="object 5"/>
          <p:cNvSpPr txBox="1"/>
          <p:nvPr/>
        </p:nvSpPr>
        <p:spPr>
          <a:xfrm>
            <a:off x="768969" y="3855276"/>
            <a:ext cx="2514600" cy="174407"/>
          </a:xfrm>
          <a:prstGeom prst="rect">
            <a:avLst/>
          </a:prstGeom>
        </p:spPr>
        <p:txBody>
          <a:bodyPr vert="horz" wrap="square" lIns="0" tIns="12700" rIns="0" bIns="0" rtlCol="0">
            <a:spAutoFit/>
          </a:bodyPr>
          <a:lstStyle/>
          <a:p>
            <a:pPr marL="305435" indent="-293370">
              <a:spcBef>
                <a:spcPts val="100"/>
              </a:spcBef>
              <a:buClr>
                <a:srgbClr val="B10639"/>
              </a:buClr>
              <a:buSzPct val="133333"/>
              <a:buFont typeface="Arial MT"/>
              <a:buChar char="■"/>
              <a:tabLst>
                <a:tab pos="305435" algn="l"/>
                <a:tab pos="306070" algn="l"/>
              </a:tabLst>
            </a:pPr>
            <a:r>
              <a:rPr sz="1050" spc="-5" dirty="0">
                <a:solidFill>
                  <a:srgbClr val="333333"/>
                </a:solidFill>
                <a:latin typeface="Consolas"/>
                <a:cs typeface="Consolas"/>
              </a:rPr>
              <a:t>def</a:t>
            </a:r>
            <a:r>
              <a:rPr sz="1050" spc="-75" dirty="0">
                <a:solidFill>
                  <a:srgbClr val="333333"/>
                </a:solidFill>
                <a:latin typeface="Consolas"/>
                <a:cs typeface="Consolas"/>
              </a:rPr>
              <a:t> </a:t>
            </a:r>
            <a:r>
              <a:rPr sz="1050" spc="-5" dirty="0">
                <a:solidFill>
                  <a:srgbClr val="333333"/>
                </a:solidFill>
                <a:latin typeface="Consolas"/>
                <a:cs typeface="Consolas"/>
              </a:rPr>
              <a:t>build_discriminator(self):</a:t>
            </a:r>
            <a:endParaRPr sz="1050">
              <a:solidFill>
                <a:prstClr val="black"/>
              </a:solidFill>
              <a:latin typeface="Consolas"/>
              <a:cs typeface="Consolas"/>
            </a:endParaRPr>
          </a:p>
        </p:txBody>
      </p:sp>
      <p:pic>
        <p:nvPicPr>
          <p:cNvPr id="6" name="object 6"/>
          <p:cNvPicPr/>
          <p:nvPr/>
        </p:nvPicPr>
        <p:blipFill>
          <a:blip r:embed="rId2" cstate="print"/>
          <a:stretch>
            <a:fillRect/>
          </a:stretch>
        </p:blipFill>
        <p:spPr>
          <a:xfrm>
            <a:off x="1" y="3070421"/>
            <a:ext cx="9143999" cy="893056"/>
          </a:xfrm>
          <a:prstGeom prst="rect">
            <a:avLst/>
          </a:prstGeom>
        </p:spPr>
      </p:pic>
      <p:pic>
        <p:nvPicPr>
          <p:cNvPr id="7" name="object 7"/>
          <p:cNvPicPr/>
          <p:nvPr/>
        </p:nvPicPr>
        <p:blipFill>
          <a:blip r:embed="rId3" cstate="print"/>
          <a:stretch>
            <a:fillRect/>
          </a:stretch>
        </p:blipFill>
        <p:spPr>
          <a:xfrm>
            <a:off x="27980" y="4357349"/>
            <a:ext cx="9116018" cy="1236424"/>
          </a:xfrm>
          <a:prstGeom prst="rect">
            <a:avLst/>
          </a:prstGeom>
        </p:spPr>
      </p:pic>
      <p:pic>
        <p:nvPicPr>
          <p:cNvPr id="10" name="Picture 2" descr="E:\NIET\Project\xLogo11.png.pagespeed.ic.pydHLuCQEZ.png">
            <a:extLst>
              <a:ext uri="{FF2B5EF4-FFF2-40B4-BE49-F238E27FC236}">
                <a16:creationId xmlns:a16="http://schemas.microsoft.com/office/drawing/2014/main" id="{4391C117-B67B-951F-1086-165A3D53B5EB}"/>
              </a:ext>
            </a:extLst>
          </p:cNvPr>
          <p:cNvPicPr>
            <a:picLocks noChangeAspect="1" noChangeArrowheads="1"/>
          </p:cNvPicPr>
          <p:nvPr/>
        </p:nvPicPr>
        <p:blipFill>
          <a:blip r:embed="rId4"/>
          <a:srcRect/>
          <a:stretch>
            <a:fillRect/>
          </a:stretch>
        </p:blipFill>
        <p:spPr bwMode="auto">
          <a:xfrm>
            <a:off x="0" y="0"/>
            <a:ext cx="1447800" cy="817163"/>
          </a:xfrm>
          <a:prstGeom prst="rect">
            <a:avLst/>
          </a:prstGeom>
          <a:noFill/>
        </p:spPr>
      </p:pic>
      <p:sp>
        <p:nvSpPr>
          <p:cNvPr id="11" name="Title 1">
            <a:extLst>
              <a:ext uri="{FF2B5EF4-FFF2-40B4-BE49-F238E27FC236}">
                <a16:creationId xmlns:a16="http://schemas.microsoft.com/office/drawing/2014/main" id="{938F7E9E-108A-7A9A-E809-4318D65D7B37}"/>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Practical scenario</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479550"/>
            <a:ext cx="2244725" cy="330200"/>
          </a:xfrm>
          <a:prstGeom prst="rect">
            <a:avLst/>
          </a:prstGeom>
        </p:spPr>
        <p:txBody>
          <a:bodyPr vert="horz" wrap="square" lIns="0" tIns="12700" rIns="0" bIns="0" rtlCol="0">
            <a:spAutoFit/>
          </a:bodyPr>
          <a:lstStyle/>
          <a:p>
            <a:pPr marL="12700">
              <a:spcBef>
                <a:spcPts val="100"/>
              </a:spcBef>
            </a:pPr>
            <a:r>
              <a:rPr spc="-5" dirty="0"/>
              <a:t>Practical</a:t>
            </a:r>
            <a:r>
              <a:rPr spc="-85" dirty="0"/>
              <a:t> </a:t>
            </a:r>
            <a:r>
              <a:rPr spc="-5" dirty="0"/>
              <a:t>scenario</a:t>
            </a:r>
          </a:p>
        </p:txBody>
      </p:sp>
      <p:sp>
        <p:nvSpPr>
          <p:cNvPr id="3" name="object 3"/>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4" name="object 4"/>
          <p:cNvSpPr txBox="1"/>
          <p:nvPr/>
        </p:nvSpPr>
        <p:spPr>
          <a:xfrm>
            <a:off x="457795" y="2163000"/>
            <a:ext cx="5018405" cy="657860"/>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spc="-5" dirty="0">
                <a:solidFill>
                  <a:srgbClr val="313131"/>
                </a:solidFill>
                <a:latin typeface="Verdana"/>
                <a:cs typeface="Verdana"/>
              </a:rPr>
              <a:t>Task</a:t>
            </a:r>
            <a:r>
              <a:rPr sz="1400" spc="-15" dirty="0">
                <a:solidFill>
                  <a:srgbClr val="313131"/>
                </a:solidFill>
                <a:latin typeface="Verdana"/>
                <a:cs typeface="Verdana"/>
              </a:rPr>
              <a:t> </a:t>
            </a:r>
            <a:r>
              <a:rPr sz="1400" dirty="0">
                <a:solidFill>
                  <a:srgbClr val="313131"/>
                </a:solidFill>
                <a:latin typeface="Verdana"/>
                <a:cs typeface="Verdana"/>
              </a:rPr>
              <a:t>2</a:t>
            </a:r>
            <a:r>
              <a:rPr sz="1400" spc="-15" dirty="0">
                <a:solidFill>
                  <a:srgbClr val="313131"/>
                </a:solidFill>
                <a:latin typeface="Verdana"/>
                <a:cs typeface="Verdana"/>
              </a:rPr>
              <a:t> </a:t>
            </a:r>
            <a:r>
              <a:rPr sz="1400" dirty="0">
                <a:solidFill>
                  <a:srgbClr val="313131"/>
                </a:solidFill>
                <a:latin typeface="Verdana"/>
                <a:cs typeface="Verdana"/>
              </a:rPr>
              <a:t>-</a:t>
            </a:r>
            <a:r>
              <a:rPr sz="1400" spc="-15" dirty="0">
                <a:solidFill>
                  <a:srgbClr val="313131"/>
                </a:solidFill>
                <a:latin typeface="Verdana"/>
                <a:cs typeface="Verdana"/>
              </a:rPr>
              <a:t> </a:t>
            </a:r>
            <a:r>
              <a:rPr sz="1400" spc="-5" dirty="0">
                <a:solidFill>
                  <a:srgbClr val="313131"/>
                </a:solidFill>
                <a:latin typeface="Verdana"/>
                <a:cs typeface="Verdana"/>
              </a:rPr>
              <a:t>Get</a:t>
            </a:r>
            <a:r>
              <a:rPr sz="1400" spc="-15" dirty="0">
                <a:solidFill>
                  <a:srgbClr val="313131"/>
                </a:solidFill>
                <a:latin typeface="Verdana"/>
                <a:cs typeface="Verdana"/>
              </a:rPr>
              <a:t> </a:t>
            </a:r>
            <a:r>
              <a:rPr sz="1400" spc="-5" dirty="0">
                <a:solidFill>
                  <a:srgbClr val="313131"/>
                </a:solidFill>
                <a:latin typeface="Verdana"/>
                <a:cs typeface="Verdana"/>
              </a:rPr>
              <a:t>labels</a:t>
            </a:r>
            <a:r>
              <a:rPr sz="1400" spc="-15" dirty="0">
                <a:solidFill>
                  <a:srgbClr val="313131"/>
                </a:solidFill>
                <a:latin typeface="Verdana"/>
                <a:cs typeface="Verdana"/>
              </a:rPr>
              <a:t> </a:t>
            </a:r>
            <a:r>
              <a:rPr sz="1400" spc="-5" dirty="0">
                <a:solidFill>
                  <a:srgbClr val="313131"/>
                </a:solidFill>
                <a:latin typeface="Verdana"/>
                <a:cs typeface="Verdana"/>
              </a:rPr>
              <a:t>(y)</a:t>
            </a:r>
            <a:r>
              <a:rPr sz="1400" spc="-15" dirty="0">
                <a:solidFill>
                  <a:srgbClr val="313131"/>
                </a:solidFill>
                <a:latin typeface="Verdana"/>
                <a:cs typeface="Verdana"/>
              </a:rPr>
              <a:t> </a:t>
            </a:r>
            <a:r>
              <a:rPr sz="1400" spc="-5" dirty="0">
                <a:solidFill>
                  <a:srgbClr val="313131"/>
                </a:solidFill>
                <a:latin typeface="Verdana"/>
                <a:cs typeface="Verdana"/>
              </a:rPr>
              <a:t>from</a:t>
            </a:r>
            <a:r>
              <a:rPr sz="1400" spc="-15" dirty="0">
                <a:solidFill>
                  <a:srgbClr val="313131"/>
                </a:solidFill>
                <a:latin typeface="Verdana"/>
                <a:cs typeface="Verdana"/>
              </a:rPr>
              <a:t> </a:t>
            </a:r>
            <a:r>
              <a:rPr sz="1400" spc="-5" dirty="0">
                <a:solidFill>
                  <a:srgbClr val="313131"/>
                </a:solidFill>
                <a:latin typeface="Verdana"/>
                <a:cs typeface="Verdana"/>
              </a:rPr>
              <a:t>dataset</a:t>
            </a:r>
            <a:endParaRPr sz="1400">
              <a:solidFill>
                <a:prstClr val="black"/>
              </a:solidFill>
              <a:latin typeface="Verdana"/>
              <a:cs typeface="Verdana"/>
            </a:endParaRPr>
          </a:p>
          <a:p>
            <a:pPr>
              <a:spcBef>
                <a:spcPts val="25"/>
              </a:spcBef>
              <a:buClr>
                <a:srgbClr val="B10639"/>
              </a:buClr>
              <a:buFont typeface="Yu Gothic UI"/>
              <a:buChar char="▪"/>
            </a:pPr>
            <a:endParaRPr sz="1600">
              <a:solidFill>
                <a:prstClr val="black"/>
              </a:solidFill>
              <a:latin typeface="Verdana"/>
              <a:cs typeface="Verdana"/>
            </a:endParaRPr>
          </a:p>
          <a:p>
            <a:pPr marL="616585" lvl="1" indent="-293370">
              <a:buClr>
                <a:srgbClr val="B10639"/>
              </a:buClr>
              <a:buSzPct val="133333"/>
              <a:buFont typeface="Arial MT"/>
              <a:buChar char="■"/>
              <a:tabLst>
                <a:tab pos="616585" algn="l"/>
                <a:tab pos="617220" algn="l"/>
              </a:tabLst>
            </a:pPr>
            <a:r>
              <a:rPr sz="1050" spc="-5" dirty="0">
                <a:solidFill>
                  <a:srgbClr val="333333"/>
                </a:solidFill>
                <a:latin typeface="Consolas"/>
                <a:cs typeface="Consolas"/>
              </a:rPr>
              <a:t>def</a:t>
            </a:r>
            <a:r>
              <a:rPr sz="1050" spc="-25" dirty="0">
                <a:solidFill>
                  <a:srgbClr val="333333"/>
                </a:solidFill>
                <a:latin typeface="Consolas"/>
                <a:cs typeface="Consolas"/>
              </a:rPr>
              <a:t> </a:t>
            </a:r>
            <a:r>
              <a:rPr sz="1050" spc="-5" dirty="0">
                <a:solidFill>
                  <a:srgbClr val="333333"/>
                </a:solidFill>
                <a:latin typeface="Consolas"/>
                <a:cs typeface="Consolas"/>
              </a:rPr>
              <a:t>train(self,</a:t>
            </a:r>
            <a:r>
              <a:rPr sz="1050" spc="-25" dirty="0">
                <a:solidFill>
                  <a:srgbClr val="333333"/>
                </a:solidFill>
                <a:latin typeface="Consolas"/>
                <a:cs typeface="Consolas"/>
              </a:rPr>
              <a:t> </a:t>
            </a:r>
            <a:r>
              <a:rPr sz="1050" spc="-5" dirty="0">
                <a:solidFill>
                  <a:srgbClr val="333333"/>
                </a:solidFill>
                <a:latin typeface="Consolas"/>
                <a:cs typeface="Consolas"/>
              </a:rPr>
              <a:t>epochs,</a:t>
            </a:r>
            <a:r>
              <a:rPr sz="1050" spc="-20" dirty="0">
                <a:solidFill>
                  <a:srgbClr val="333333"/>
                </a:solidFill>
                <a:latin typeface="Consolas"/>
                <a:cs typeface="Consolas"/>
              </a:rPr>
              <a:t> </a:t>
            </a:r>
            <a:r>
              <a:rPr sz="1050" spc="-5" dirty="0">
                <a:solidFill>
                  <a:srgbClr val="333333"/>
                </a:solidFill>
                <a:latin typeface="Consolas"/>
                <a:cs typeface="Consolas"/>
              </a:rPr>
              <a:t>batch_size=128,</a:t>
            </a:r>
            <a:r>
              <a:rPr sz="1050" spc="-25" dirty="0">
                <a:solidFill>
                  <a:srgbClr val="333333"/>
                </a:solidFill>
                <a:latin typeface="Consolas"/>
                <a:cs typeface="Consolas"/>
              </a:rPr>
              <a:t> </a:t>
            </a:r>
            <a:r>
              <a:rPr sz="1050" spc="-5" dirty="0">
                <a:solidFill>
                  <a:srgbClr val="333333"/>
                </a:solidFill>
                <a:latin typeface="Consolas"/>
                <a:cs typeface="Consolas"/>
              </a:rPr>
              <a:t>sample_interval=50):</a:t>
            </a:r>
            <a:endParaRPr sz="1050">
              <a:solidFill>
                <a:prstClr val="black"/>
              </a:solidFill>
              <a:latin typeface="Consolas"/>
              <a:cs typeface="Consolas"/>
            </a:endParaRPr>
          </a:p>
        </p:txBody>
      </p:sp>
      <p:pic>
        <p:nvPicPr>
          <p:cNvPr id="5" name="object 5"/>
          <p:cNvPicPr/>
          <p:nvPr/>
        </p:nvPicPr>
        <p:blipFill>
          <a:blip r:embed="rId2" cstate="print"/>
          <a:stretch>
            <a:fillRect/>
          </a:stretch>
        </p:blipFill>
        <p:spPr>
          <a:xfrm>
            <a:off x="44769" y="2963029"/>
            <a:ext cx="9099229" cy="218321"/>
          </a:xfrm>
          <a:prstGeom prst="rect">
            <a:avLst/>
          </a:prstGeom>
        </p:spPr>
      </p:pic>
      <p:pic>
        <p:nvPicPr>
          <p:cNvPr id="6" name="object 6"/>
          <p:cNvPicPr/>
          <p:nvPr/>
        </p:nvPicPr>
        <p:blipFill>
          <a:blip r:embed="rId3" cstate="print"/>
          <a:stretch>
            <a:fillRect/>
          </a:stretch>
        </p:blipFill>
        <p:spPr>
          <a:xfrm>
            <a:off x="0" y="3375037"/>
            <a:ext cx="9143998" cy="145548"/>
          </a:xfrm>
          <a:prstGeom prst="rect">
            <a:avLst/>
          </a:prstGeom>
        </p:spPr>
      </p:pic>
      <p:pic>
        <p:nvPicPr>
          <p:cNvPr id="7" name="object 7"/>
          <p:cNvPicPr/>
          <p:nvPr/>
        </p:nvPicPr>
        <p:blipFill>
          <a:blip r:embed="rId4" cstate="print"/>
          <a:stretch>
            <a:fillRect/>
          </a:stretch>
        </p:blipFill>
        <p:spPr>
          <a:xfrm>
            <a:off x="23935" y="3688525"/>
            <a:ext cx="9062051" cy="339974"/>
          </a:xfrm>
          <a:prstGeom prst="rect">
            <a:avLst/>
          </a:prstGeom>
        </p:spPr>
      </p:pic>
      <p:pic>
        <p:nvPicPr>
          <p:cNvPr id="10" name="Picture 2" descr="E:\NIET\Project\xLogo11.png.pagespeed.ic.pydHLuCQEZ.png">
            <a:extLst>
              <a:ext uri="{FF2B5EF4-FFF2-40B4-BE49-F238E27FC236}">
                <a16:creationId xmlns:a16="http://schemas.microsoft.com/office/drawing/2014/main" id="{A6A3B34D-B6AB-5ECA-A06F-95001EEE0967}"/>
              </a:ext>
            </a:extLst>
          </p:cNvPr>
          <p:cNvPicPr>
            <a:picLocks noChangeAspect="1" noChangeArrowheads="1"/>
          </p:cNvPicPr>
          <p:nvPr/>
        </p:nvPicPr>
        <p:blipFill>
          <a:blip r:embed="rId5"/>
          <a:srcRect/>
          <a:stretch>
            <a:fillRect/>
          </a:stretch>
        </p:blipFill>
        <p:spPr bwMode="auto">
          <a:xfrm>
            <a:off x="0" y="0"/>
            <a:ext cx="1447800" cy="817163"/>
          </a:xfrm>
          <a:prstGeom prst="rect">
            <a:avLst/>
          </a:prstGeom>
          <a:noFill/>
        </p:spPr>
      </p:pic>
      <p:sp>
        <p:nvSpPr>
          <p:cNvPr id="11" name="Title 1">
            <a:extLst>
              <a:ext uri="{FF2B5EF4-FFF2-40B4-BE49-F238E27FC236}">
                <a16:creationId xmlns:a16="http://schemas.microsoft.com/office/drawing/2014/main" id="{9C81E766-98C9-D362-9A9D-5A2FD8686D26}"/>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Practical scenario</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7"/>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479550"/>
            <a:ext cx="2244725" cy="330200"/>
          </a:xfrm>
          <a:prstGeom prst="rect">
            <a:avLst/>
          </a:prstGeom>
        </p:spPr>
        <p:txBody>
          <a:bodyPr vert="horz" wrap="square" lIns="0" tIns="12700" rIns="0" bIns="0" rtlCol="0">
            <a:spAutoFit/>
          </a:bodyPr>
          <a:lstStyle/>
          <a:p>
            <a:pPr marL="12700">
              <a:spcBef>
                <a:spcPts val="100"/>
              </a:spcBef>
            </a:pPr>
            <a:r>
              <a:rPr spc="-5" dirty="0"/>
              <a:t>Practical</a:t>
            </a:r>
            <a:r>
              <a:rPr spc="-85" dirty="0"/>
              <a:t> </a:t>
            </a:r>
            <a:r>
              <a:rPr spc="-5" dirty="0"/>
              <a:t>scenario</a:t>
            </a:r>
          </a:p>
        </p:txBody>
      </p:sp>
      <p:sp>
        <p:nvSpPr>
          <p:cNvPr id="3" name="object 3"/>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4" name="object 4"/>
          <p:cNvSpPr txBox="1"/>
          <p:nvPr/>
        </p:nvSpPr>
        <p:spPr>
          <a:xfrm>
            <a:off x="457795" y="2163000"/>
            <a:ext cx="5018405" cy="657860"/>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spc="-5" dirty="0">
                <a:solidFill>
                  <a:srgbClr val="313131"/>
                </a:solidFill>
                <a:latin typeface="Verdana"/>
                <a:cs typeface="Verdana"/>
              </a:rPr>
              <a:t>Task</a:t>
            </a:r>
            <a:r>
              <a:rPr sz="1400" spc="-15" dirty="0">
                <a:solidFill>
                  <a:srgbClr val="313131"/>
                </a:solidFill>
                <a:latin typeface="Verdana"/>
                <a:cs typeface="Verdana"/>
              </a:rPr>
              <a:t> </a:t>
            </a:r>
            <a:r>
              <a:rPr sz="1400" dirty="0">
                <a:solidFill>
                  <a:srgbClr val="313131"/>
                </a:solidFill>
                <a:latin typeface="Verdana"/>
                <a:cs typeface="Verdana"/>
              </a:rPr>
              <a:t>3</a:t>
            </a:r>
            <a:r>
              <a:rPr sz="1400" spc="-15" dirty="0">
                <a:solidFill>
                  <a:srgbClr val="313131"/>
                </a:solidFill>
                <a:latin typeface="Verdana"/>
                <a:cs typeface="Verdana"/>
              </a:rPr>
              <a:t> </a:t>
            </a:r>
            <a:r>
              <a:rPr sz="1400" dirty="0">
                <a:solidFill>
                  <a:srgbClr val="313131"/>
                </a:solidFill>
                <a:latin typeface="Verdana"/>
                <a:cs typeface="Verdana"/>
              </a:rPr>
              <a:t>-</a:t>
            </a:r>
            <a:r>
              <a:rPr sz="1400" spc="-10" dirty="0">
                <a:solidFill>
                  <a:srgbClr val="313131"/>
                </a:solidFill>
                <a:latin typeface="Verdana"/>
                <a:cs typeface="Verdana"/>
              </a:rPr>
              <a:t> </a:t>
            </a:r>
            <a:r>
              <a:rPr sz="1400" spc="-5" dirty="0">
                <a:solidFill>
                  <a:srgbClr val="313131"/>
                </a:solidFill>
                <a:latin typeface="Verdana"/>
                <a:cs typeface="Verdana"/>
              </a:rPr>
              <a:t>Add</a:t>
            </a:r>
            <a:r>
              <a:rPr sz="1400" spc="-15" dirty="0">
                <a:solidFill>
                  <a:srgbClr val="313131"/>
                </a:solidFill>
                <a:latin typeface="Verdana"/>
                <a:cs typeface="Verdana"/>
              </a:rPr>
              <a:t> </a:t>
            </a:r>
            <a:r>
              <a:rPr sz="1400" spc="-5" dirty="0">
                <a:solidFill>
                  <a:srgbClr val="313131"/>
                </a:solidFill>
                <a:latin typeface="Verdana"/>
                <a:cs typeface="Verdana"/>
              </a:rPr>
              <a:t>labels</a:t>
            </a:r>
            <a:r>
              <a:rPr sz="1400" spc="-10" dirty="0">
                <a:solidFill>
                  <a:srgbClr val="313131"/>
                </a:solidFill>
                <a:latin typeface="Verdana"/>
                <a:cs typeface="Verdana"/>
              </a:rPr>
              <a:t> </a:t>
            </a:r>
            <a:r>
              <a:rPr sz="1400" spc="-5" dirty="0">
                <a:solidFill>
                  <a:srgbClr val="313131"/>
                </a:solidFill>
                <a:latin typeface="Verdana"/>
                <a:cs typeface="Verdana"/>
              </a:rPr>
              <a:t>to</a:t>
            </a:r>
            <a:r>
              <a:rPr sz="1400" spc="-15" dirty="0">
                <a:solidFill>
                  <a:srgbClr val="313131"/>
                </a:solidFill>
                <a:latin typeface="Verdana"/>
                <a:cs typeface="Verdana"/>
              </a:rPr>
              <a:t> </a:t>
            </a:r>
            <a:r>
              <a:rPr sz="1400" spc="-5" dirty="0">
                <a:solidFill>
                  <a:srgbClr val="313131"/>
                </a:solidFill>
                <a:latin typeface="Verdana"/>
                <a:cs typeface="Verdana"/>
              </a:rPr>
              <a:t>the</a:t>
            </a:r>
            <a:r>
              <a:rPr sz="1400" spc="-10" dirty="0">
                <a:solidFill>
                  <a:srgbClr val="313131"/>
                </a:solidFill>
                <a:latin typeface="Verdana"/>
                <a:cs typeface="Verdana"/>
              </a:rPr>
              <a:t> </a:t>
            </a:r>
            <a:r>
              <a:rPr sz="1400" spc="-5" dirty="0">
                <a:solidFill>
                  <a:srgbClr val="313131"/>
                </a:solidFill>
                <a:latin typeface="Verdana"/>
                <a:cs typeface="Verdana"/>
              </a:rPr>
              <a:t>models’</a:t>
            </a:r>
            <a:r>
              <a:rPr sz="1400" spc="-15" dirty="0">
                <a:solidFill>
                  <a:srgbClr val="313131"/>
                </a:solidFill>
                <a:latin typeface="Verdana"/>
                <a:cs typeface="Verdana"/>
              </a:rPr>
              <a:t> </a:t>
            </a:r>
            <a:r>
              <a:rPr sz="1400" spc="-5" dirty="0">
                <a:solidFill>
                  <a:srgbClr val="313131"/>
                </a:solidFill>
                <a:latin typeface="Verdana"/>
                <a:cs typeface="Verdana"/>
              </a:rPr>
              <a:t>losses</a:t>
            </a:r>
            <a:endParaRPr sz="1400">
              <a:solidFill>
                <a:prstClr val="black"/>
              </a:solidFill>
              <a:latin typeface="Verdana"/>
              <a:cs typeface="Verdana"/>
            </a:endParaRPr>
          </a:p>
          <a:p>
            <a:pPr>
              <a:spcBef>
                <a:spcPts val="25"/>
              </a:spcBef>
              <a:buClr>
                <a:srgbClr val="B10639"/>
              </a:buClr>
              <a:buFont typeface="Yu Gothic UI"/>
              <a:buChar char="▪"/>
            </a:pPr>
            <a:endParaRPr sz="1600">
              <a:solidFill>
                <a:prstClr val="black"/>
              </a:solidFill>
              <a:latin typeface="Verdana"/>
              <a:cs typeface="Verdana"/>
            </a:endParaRPr>
          </a:p>
          <a:p>
            <a:pPr marL="616585" lvl="1" indent="-293370">
              <a:buClr>
                <a:srgbClr val="B10639"/>
              </a:buClr>
              <a:buSzPct val="133333"/>
              <a:buFont typeface="Arial MT"/>
              <a:buChar char="■"/>
              <a:tabLst>
                <a:tab pos="616585" algn="l"/>
                <a:tab pos="617220" algn="l"/>
              </a:tabLst>
            </a:pPr>
            <a:r>
              <a:rPr sz="1050" spc="-5" dirty="0">
                <a:solidFill>
                  <a:srgbClr val="333333"/>
                </a:solidFill>
                <a:latin typeface="Consolas"/>
                <a:cs typeface="Consolas"/>
              </a:rPr>
              <a:t>def</a:t>
            </a:r>
            <a:r>
              <a:rPr sz="1050" spc="-25" dirty="0">
                <a:solidFill>
                  <a:srgbClr val="333333"/>
                </a:solidFill>
                <a:latin typeface="Consolas"/>
                <a:cs typeface="Consolas"/>
              </a:rPr>
              <a:t> </a:t>
            </a:r>
            <a:r>
              <a:rPr sz="1050" spc="-5" dirty="0">
                <a:solidFill>
                  <a:srgbClr val="333333"/>
                </a:solidFill>
                <a:latin typeface="Consolas"/>
                <a:cs typeface="Consolas"/>
              </a:rPr>
              <a:t>train(self,</a:t>
            </a:r>
            <a:r>
              <a:rPr sz="1050" spc="-25" dirty="0">
                <a:solidFill>
                  <a:srgbClr val="333333"/>
                </a:solidFill>
                <a:latin typeface="Consolas"/>
                <a:cs typeface="Consolas"/>
              </a:rPr>
              <a:t> </a:t>
            </a:r>
            <a:r>
              <a:rPr sz="1050" spc="-5" dirty="0">
                <a:solidFill>
                  <a:srgbClr val="333333"/>
                </a:solidFill>
                <a:latin typeface="Consolas"/>
                <a:cs typeface="Consolas"/>
              </a:rPr>
              <a:t>epochs,</a:t>
            </a:r>
            <a:r>
              <a:rPr sz="1050" spc="-20" dirty="0">
                <a:solidFill>
                  <a:srgbClr val="333333"/>
                </a:solidFill>
                <a:latin typeface="Consolas"/>
                <a:cs typeface="Consolas"/>
              </a:rPr>
              <a:t> </a:t>
            </a:r>
            <a:r>
              <a:rPr sz="1050" spc="-5" dirty="0">
                <a:solidFill>
                  <a:srgbClr val="333333"/>
                </a:solidFill>
                <a:latin typeface="Consolas"/>
                <a:cs typeface="Consolas"/>
              </a:rPr>
              <a:t>batch_size=128,</a:t>
            </a:r>
            <a:r>
              <a:rPr sz="1050" spc="-25" dirty="0">
                <a:solidFill>
                  <a:srgbClr val="333333"/>
                </a:solidFill>
                <a:latin typeface="Consolas"/>
                <a:cs typeface="Consolas"/>
              </a:rPr>
              <a:t> </a:t>
            </a:r>
            <a:r>
              <a:rPr sz="1050" spc="-5" dirty="0">
                <a:solidFill>
                  <a:srgbClr val="333333"/>
                </a:solidFill>
                <a:latin typeface="Consolas"/>
                <a:cs typeface="Consolas"/>
              </a:rPr>
              <a:t>sample_interval=50):</a:t>
            </a:r>
            <a:endParaRPr sz="1050">
              <a:solidFill>
                <a:prstClr val="black"/>
              </a:solidFill>
              <a:latin typeface="Consolas"/>
              <a:cs typeface="Consolas"/>
            </a:endParaRPr>
          </a:p>
        </p:txBody>
      </p:sp>
      <p:pic>
        <p:nvPicPr>
          <p:cNvPr id="5" name="object 5"/>
          <p:cNvPicPr/>
          <p:nvPr/>
        </p:nvPicPr>
        <p:blipFill>
          <a:blip r:embed="rId2" cstate="print"/>
          <a:stretch>
            <a:fillRect/>
          </a:stretch>
        </p:blipFill>
        <p:spPr>
          <a:xfrm>
            <a:off x="1" y="2892514"/>
            <a:ext cx="9143999" cy="1561170"/>
          </a:xfrm>
          <a:prstGeom prst="rect">
            <a:avLst/>
          </a:prstGeom>
        </p:spPr>
      </p:pic>
      <p:pic>
        <p:nvPicPr>
          <p:cNvPr id="6" name="object 6"/>
          <p:cNvPicPr/>
          <p:nvPr/>
        </p:nvPicPr>
        <p:blipFill>
          <a:blip r:embed="rId3" cstate="print"/>
          <a:stretch>
            <a:fillRect/>
          </a:stretch>
        </p:blipFill>
        <p:spPr>
          <a:xfrm>
            <a:off x="0" y="4805045"/>
            <a:ext cx="9130048" cy="588308"/>
          </a:xfrm>
          <a:prstGeom prst="rect">
            <a:avLst/>
          </a:prstGeom>
        </p:spPr>
      </p:pic>
      <p:sp>
        <p:nvSpPr>
          <p:cNvPr id="9" name="Title 1">
            <a:extLst>
              <a:ext uri="{FF2B5EF4-FFF2-40B4-BE49-F238E27FC236}">
                <a16:creationId xmlns:a16="http://schemas.microsoft.com/office/drawing/2014/main" id="{9C55C816-6D08-CA63-1837-925C4B8E0208}"/>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Practical scenario</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6"/>
          <p:cNvSpPr txBox="1">
            <a:spLocks noGrp="1"/>
          </p:cNvSpPr>
          <p:nvPr>
            <p:ph type="ftr" sz="quarter" idx="5"/>
          </p:nvPr>
        </p:nvSpPr>
        <p:spPr>
          <a:prstGeom prst="rect">
            <a:avLst/>
          </a:prstGeom>
        </p:spPr>
        <p:txBody>
          <a:bodyPr vert="horz" wrap="square" lIns="0" tIns="635" rIns="0" bIns="0" rtlCol="0">
            <a:spAutoFit/>
          </a:bodyPr>
          <a:lstStyle/>
          <a:p>
            <a:pPr>
              <a:spcBef>
                <a:spcPts val="5"/>
              </a:spcBef>
            </a:pPr>
            <a:endParaRPr spc="-5" dirty="0"/>
          </a:p>
        </p:txBody>
      </p:sp>
      <p:sp>
        <p:nvSpPr>
          <p:cNvPr id="2" name="object 2"/>
          <p:cNvSpPr txBox="1">
            <a:spLocks noGrp="1"/>
          </p:cNvSpPr>
          <p:nvPr>
            <p:ph type="title" idx="4294967295"/>
          </p:nvPr>
        </p:nvSpPr>
        <p:spPr>
          <a:xfrm>
            <a:off x="1" y="1479550"/>
            <a:ext cx="2244725" cy="330200"/>
          </a:xfrm>
          <a:prstGeom prst="rect">
            <a:avLst/>
          </a:prstGeom>
        </p:spPr>
        <p:txBody>
          <a:bodyPr vert="horz" wrap="square" lIns="0" tIns="12700" rIns="0" bIns="0" rtlCol="0">
            <a:spAutoFit/>
          </a:bodyPr>
          <a:lstStyle/>
          <a:p>
            <a:pPr marL="12700">
              <a:spcBef>
                <a:spcPts val="100"/>
              </a:spcBef>
            </a:pPr>
            <a:r>
              <a:rPr spc="-5" dirty="0"/>
              <a:t>Practical</a:t>
            </a:r>
            <a:r>
              <a:rPr spc="-85" dirty="0"/>
              <a:t> </a:t>
            </a:r>
            <a:r>
              <a:rPr spc="-5" dirty="0"/>
              <a:t>scenario</a:t>
            </a:r>
          </a:p>
        </p:txBody>
      </p:sp>
      <p:sp>
        <p:nvSpPr>
          <p:cNvPr id="3" name="object 3"/>
          <p:cNvSpPr/>
          <p:nvPr/>
        </p:nvSpPr>
        <p:spPr>
          <a:xfrm>
            <a:off x="159282" y="5746351"/>
            <a:ext cx="2814320" cy="168910"/>
          </a:xfrm>
          <a:custGeom>
            <a:avLst/>
            <a:gdLst/>
            <a:ahLst/>
            <a:cxnLst/>
            <a:rect l="l" t="t" r="r" b="b"/>
            <a:pathLst>
              <a:path w="2814320" h="168910">
                <a:moveTo>
                  <a:pt x="2813999" y="168299"/>
                </a:moveTo>
                <a:lnTo>
                  <a:pt x="0" y="168299"/>
                </a:lnTo>
                <a:lnTo>
                  <a:pt x="0" y="0"/>
                </a:lnTo>
                <a:lnTo>
                  <a:pt x="2813999" y="0"/>
                </a:lnTo>
                <a:lnTo>
                  <a:pt x="2813999" y="168299"/>
                </a:lnTo>
                <a:close/>
              </a:path>
            </a:pathLst>
          </a:custGeom>
          <a:solidFill>
            <a:srgbClr val="FFFFFF"/>
          </a:solidFill>
        </p:spPr>
        <p:txBody>
          <a:bodyPr wrap="square" lIns="0" tIns="0" rIns="0" bIns="0" rtlCol="0"/>
          <a:lstStyle/>
          <a:p>
            <a:endParaRPr>
              <a:solidFill>
                <a:prstClr val="black"/>
              </a:solidFill>
              <a:latin typeface="Calibri"/>
            </a:endParaRPr>
          </a:p>
        </p:txBody>
      </p:sp>
      <p:sp>
        <p:nvSpPr>
          <p:cNvPr id="4" name="object 4"/>
          <p:cNvSpPr txBox="1"/>
          <p:nvPr/>
        </p:nvSpPr>
        <p:spPr>
          <a:xfrm>
            <a:off x="457794" y="2163000"/>
            <a:ext cx="4709160" cy="657860"/>
          </a:xfrm>
          <a:prstGeom prst="rect">
            <a:avLst/>
          </a:prstGeom>
        </p:spPr>
        <p:txBody>
          <a:bodyPr vert="horz" wrap="square" lIns="0" tIns="12700" rIns="0" bIns="0" rtlCol="0">
            <a:spAutoFit/>
          </a:bodyPr>
          <a:lstStyle/>
          <a:p>
            <a:pPr marL="345440" indent="-333375">
              <a:spcBef>
                <a:spcPts val="100"/>
              </a:spcBef>
              <a:buClr>
                <a:srgbClr val="B10639"/>
              </a:buClr>
              <a:buFont typeface="Yu Gothic UI"/>
              <a:buChar char="▪"/>
              <a:tabLst>
                <a:tab pos="344805" algn="l"/>
                <a:tab pos="346075" algn="l"/>
              </a:tabLst>
            </a:pPr>
            <a:r>
              <a:rPr sz="1400" spc="-5" dirty="0">
                <a:solidFill>
                  <a:srgbClr val="313131"/>
                </a:solidFill>
                <a:latin typeface="Verdana"/>
                <a:cs typeface="Verdana"/>
              </a:rPr>
              <a:t>Task</a:t>
            </a:r>
            <a:r>
              <a:rPr sz="1400" spc="-15" dirty="0">
                <a:solidFill>
                  <a:srgbClr val="313131"/>
                </a:solidFill>
                <a:latin typeface="Verdana"/>
                <a:cs typeface="Verdana"/>
              </a:rPr>
              <a:t> </a:t>
            </a:r>
            <a:r>
              <a:rPr sz="1400" dirty="0">
                <a:solidFill>
                  <a:srgbClr val="313131"/>
                </a:solidFill>
                <a:latin typeface="Verdana"/>
                <a:cs typeface="Verdana"/>
              </a:rPr>
              <a:t>4</a:t>
            </a:r>
            <a:r>
              <a:rPr sz="1400" spc="-15" dirty="0">
                <a:solidFill>
                  <a:srgbClr val="313131"/>
                </a:solidFill>
                <a:latin typeface="Verdana"/>
                <a:cs typeface="Verdana"/>
              </a:rPr>
              <a:t> </a:t>
            </a:r>
            <a:r>
              <a:rPr sz="1400" dirty="0">
                <a:solidFill>
                  <a:srgbClr val="313131"/>
                </a:solidFill>
                <a:latin typeface="Verdana"/>
                <a:cs typeface="Verdana"/>
              </a:rPr>
              <a:t>-</a:t>
            </a:r>
            <a:r>
              <a:rPr sz="1400" spc="-10" dirty="0">
                <a:solidFill>
                  <a:srgbClr val="313131"/>
                </a:solidFill>
                <a:latin typeface="Verdana"/>
                <a:cs typeface="Verdana"/>
              </a:rPr>
              <a:t> </a:t>
            </a:r>
            <a:r>
              <a:rPr sz="1400" spc="-5" dirty="0">
                <a:solidFill>
                  <a:srgbClr val="313131"/>
                </a:solidFill>
                <a:latin typeface="Verdana"/>
                <a:cs typeface="Verdana"/>
              </a:rPr>
              <a:t>Generate</a:t>
            </a:r>
            <a:r>
              <a:rPr sz="1400" spc="-15" dirty="0">
                <a:solidFill>
                  <a:srgbClr val="313131"/>
                </a:solidFill>
                <a:latin typeface="Verdana"/>
                <a:cs typeface="Verdana"/>
              </a:rPr>
              <a:t> </a:t>
            </a:r>
            <a:r>
              <a:rPr sz="1400" spc="-5" dirty="0">
                <a:solidFill>
                  <a:srgbClr val="313131"/>
                </a:solidFill>
                <a:latin typeface="Verdana"/>
                <a:cs typeface="Verdana"/>
              </a:rPr>
              <a:t>specific</a:t>
            </a:r>
            <a:r>
              <a:rPr sz="1400" spc="-15" dirty="0">
                <a:solidFill>
                  <a:srgbClr val="313131"/>
                </a:solidFill>
                <a:latin typeface="Verdana"/>
                <a:cs typeface="Verdana"/>
              </a:rPr>
              <a:t> </a:t>
            </a:r>
            <a:r>
              <a:rPr sz="1400" spc="-5" dirty="0">
                <a:solidFill>
                  <a:srgbClr val="313131"/>
                </a:solidFill>
                <a:latin typeface="Verdana"/>
                <a:cs typeface="Verdana"/>
              </a:rPr>
              <a:t>numbers</a:t>
            </a:r>
            <a:r>
              <a:rPr sz="1400" spc="-10" dirty="0">
                <a:solidFill>
                  <a:srgbClr val="313131"/>
                </a:solidFill>
                <a:latin typeface="Verdana"/>
                <a:cs typeface="Verdana"/>
              </a:rPr>
              <a:t> </a:t>
            </a:r>
            <a:r>
              <a:rPr sz="1400" spc="-5" dirty="0">
                <a:solidFill>
                  <a:srgbClr val="313131"/>
                </a:solidFill>
                <a:latin typeface="Verdana"/>
                <a:cs typeface="Verdana"/>
              </a:rPr>
              <a:t>for</a:t>
            </a:r>
            <a:r>
              <a:rPr sz="1400" spc="-15" dirty="0">
                <a:solidFill>
                  <a:srgbClr val="313131"/>
                </a:solidFill>
                <a:latin typeface="Verdana"/>
                <a:cs typeface="Verdana"/>
              </a:rPr>
              <a:t> </a:t>
            </a:r>
            <a:r>
              <a:rPr sz="1400" spc="-5" dirty="0">
                <a:solidFill>
                  <a:srgbClr val="313131"/>
                </a:solidFill>
                <a:latin typeface="Verdana"/>
                <a:cs typeface="Verdana"/>
              </a:rPr>
              <a:t>each</a:t>
            </a:r>
            <a:r>
              <a:rPr sz="1400" spc="-15" dirty="0">
                <a:solidFill>
                  <a:srgbClr val="313131"/>
                </a:solidFill>
                <a:latin typeface="Verdana"/>
                <a:cs typeface="Verdana"/>
              </a:rPr>
              <a:t> </a:t>
            </a:r>
            <a:r>
              <a:rPr sz="1400" spc="-5" dirty="0">
                <a:solidFill>
                  <a:srgbClr val="313131"/>
                </a:solidFill>
                <a:latin typeface="Verdana"/>
                <a:cs typeface="Verdana"/>
              </a:rPr>
              <a:t>row</a:t>
            </a:r>
            <a:endParaRPr sz="1400">
              <a:solidFill>
                <a:prstClr val="black"/>
              </a:solidFill>
              <a:latin typeface="Verdana"/>
              <a:cs typeface="Verdana"/>
            </a:endParaRPr>
          </a:p>
          <a:p>
            <a:pPr>
              <a:spcBef>
                <a:spcPts val="25"/>
              </a:spcBef>
              <a:buClr>
                <a:srgbClr val="B10639"/>
              </a:buClr>
              <a:buFont typeface="Yu Gothic UI"/>
              <a:buChar char="▪"/>
            </a:pPr>
            <a:endParaRPr sz="1600">
              <a:solidFill>
                <a:prstClr val="black"/>
              </a:solidFill>
              <a:latin typeface="Verdana"/>
              <a:cs typeface="Verdana"/>
            </a:endParaRPr>
          </a:p>
          <a:p>
            <a:pPr marL="616585" lvl="1" indent="-293370">
              <a:buClr>
                <a:srgbClr val="B10639"/>
              </a:buClr>
              <a:buSzPct val="133333"/>
              <a:buFont typeface="Arial MT"/>
              <a:buChar char="■"/>
              <a:tabLst>
                <a:tab pos="616585" algn="l"/>
                <a:tab pos="617220" algn="l"/>
              </a:tabLst>
            </a:pPr>
            <a:r>
              <a:rPr sz="1050" spc="-5" dirty="0">
                <a:solidFill>
                  <a:srgbClr val="333333"/>
                </a:solidFill>
                <a:latin typeface="Consolas"/>
                <a:cs typeface="Consolas"/>
              </a:rPr>
              <a:t>def</a:t>
            </a:r>
            <a:r>
              <a:rPr sz="1050" spc="-40" dirty="0">
                <a:solidFill>
                  <a:srgbClr val="333333"/>
                </a:solidFill>
                <a:latin typeface="Consolas"/>
                <a:cs typeface="Consolas"/>
              </a:rPr>
              <a:t> </a:t>
            </a:r>
            <a:r>
              <a:rPr sz="1050" spc="-5" dirty="0">
                <a:solidFill>
                  <a:srgbClr val="333333"/>
                </a:solidFill>
                <a:latin typeface="Consolas"/>
                <a:cs typeface="Consolas"/>
              </a:rPr>
              <a:t>sample_images(self,</a:t>
            </a:r>
            <a:r>
              <a:rPr sz="1050" spc="-40" dirty="0">
                <a:solidFill>
                  <a:srgbClr val="333333"/>
                </a:solidFill>
                <a:latin typeface="Consolas"/>
                <a:cs typeface="Consolas"/>
              </a:rPr>
              <a:t> </a:t>
            </a:r>
            <a:r>
              <a:rPr sz="1050" spc="-5" dirty="0">
                <a:solidFill>
                  <a:srgbClr val="333333"/>
                </a:solidFill>
                <a:latin typeface="Consolas"/>
                <a:cs typeface="Consolas"/>
              </a:rPr>
              <a:t>epoch):</a:t>
            </a:r>
            <a:endParaRPr sz="1050">
              <a:solidFill>
                <a:prstClr val="black"/>
              </a:solidFill>
              <a:latin typeface="Consolas"/>
              <a:cs typeface="Consolas"/>
            </a:endParaRPr>
          </a:p>
        </p:txBody>
      </p:sp>
      <p:pic>
        <p:nvPicPr>
          <p:cNvPr id="5" name="object 5"/>
          <p:cNvPicPr/>
          <p:nvPr/>
        </p:nvPicPr>
        <p:blipFill>
          <a:blip r:embed="rId2" cstate="print"/>
          <a:stretch>
            <a:fillRect/>
          </a:stretch>
        </p:blipFill>
        <p:spPr>
          <a:xfrm>
            <a:off x="12189" y="2922182"/>
            <a:ext cx="9131811" cy="553334"/>
          </a:xfrm>
          <a:prstGeom prst="rect">
            <a:avLst/>
          </a:prstGeom>
        </p:spPr>
      </p:pic>
      <p:pic>
        <p:nvPicPr>
          <p:cNvPr id="8" name="Picture 2" descr="E:\NIET\Project\xLogo11.png.pagespeed.ic.pydHLuCQEZ.png">
            <a:extLst>
              <a:ext uri="{FF2B5EF4-FFF2-40B4-BE49-F238E27FC236}">
                <a16:creationId xmlns:a16="http://schemas.microsoft.com/office/drawing/2014/main" id="{3323D549-C699-3861-7D68-BE977A5E09A2}"/>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9" name="Title 1">
            <a:extLst>
              <a:ext uri="{FF2B5EF4-FFF2-40B4-BE49-F238E27FC236}">
                <a16:creationId xmlns:a16="http://schemas.microsoft.com/office/drawing/2014/main" id="{A6FEB5F6-E03D-D390-6ACA-7F794E7E00A9}"/>
              </a:ext>
            </a:extLst>
          </p:cNvPr>
          <p:cNvSpPr txBox="1">
            <a:spLocks/>
          </p:cNvSpPr>
          <p:nvPr/>
        </p:nvSpPr>
        <p:spPr>
          <a:xfrm>
            <a:off x="1371600" y="21366"/>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Practical scenario</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1FB206-7684-5C71-A00A-C8D39AB81AB4}"/>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C36A9DFF-5C58-777A-4C91-5419CFA42868}"/>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BFDF1F54-2CD8-566A-1046-0E40703F0984}"/>
              </a:ext>
            </a:extLst>
          </p:cNvPr>
          <p:cNvSpPr>
            <a:spLocks noGrp="1"/>
          </p:cNvSpPr>
          <p:nvPr>
            <p:ph type="sldNum" sz="quarter" idx="12"/>
          </p:nvPr>
        </p:nvSpPr>
        <p:spPr/>
        <p:txBody>
          <a:bodyPr/>
          <a:lstStyle/>
          <a:p>
            <a:fld id="{B6F15528-21DE-4FAA-801E-634DDDAF4B2B}" type="slidenum">
              <a:rPr lang="en-US" smtClean="0"/>
              <a:pPr/>
              <a:t>90</a:t>
            </a:fld>
            <a:endParaRPr lang="en-US"/>
          </a:p>
        </p:txBody>
      </p:sp>
      <p:sp>
        <p:nvSpPr>
          <p:cNvPr id="6" name="TextBox 5">
            <a:extLst>
              <a:ext uri="{FF2B5EF4-FFF2-40B4-BE49-F238E27FC236}">
                <a16:creationId xmlns:a16="http://schemas.microsoft.com/office/drawing/2014/main" id="{C39BC4F7-0C61-75FD-3610-B430AADBECD0}"/>
              </a:ext>
            </a:extLst>
          </p:cNvPr>
          <p:cNvSpPr txBox="1"/>
          <p:nvPr/>
        </p:nvSpPr>
        <p:spPr>
          <a:xfrm>
            <a:off x="533400" y="304800"/>
            <a:ext cx="4572000" cy="369332"/>
          </a:xfrm>
          <a:prstGeom prst="rect">
            <a:avLst/>
          </a:prstGeom>
          <a:noFill/>
        </p:spPr>
        <p:txBody>
          <a:bodyPr wrap="square">
            <a:spAutoFit/>
          </a:bodyPr>
          <a:lstStyle/>
          <a:p>
            <a:pPr algn="l"/>
            <a:r>
              <a:rPr lang="en-IN" b="0" i="0" dirty="0" err="1">
                <a:solidFill>
                  <a:srgbClr val="111111"/>
                </a:solidFill>
                <a:effectLst/>
                <a:latin typeface="-apple-system"/>
              </a:rPr>
              <a:t>ZFNet</a:t>
            </a:r>
            <a:endParaRPr lang="en-IN" b="0" i="0" dirty="0">
              <a:solidFill>
                <a:srgbClr val="111111"/>
              </a:solidFill>
              <a:effectLst/>
              <a:latin typeface="-apple-system"/>
            </a:endParaRPr>
          </a:p>
        </p:txBody>
      </p:sp>
      <p:sp>
        <p:nvSpPr>
          <p:cNvPr id="8" name="TextBox 7">
            <a:extLst>
              <a:ext uri="{FF2B5EF4-FFF2-40B4-BE49-F238E27FC236}">
                <a16:creationId xmlns:a16="http://schemas.microsoft.com/office/drawing/2014/main" id="{12A928D1-1B80-9610-6B39-71EF35886B69}"/>
              </a:ext>
            </a:extLst>
          </p:cNvPr>
          <p:cNvSpPr txBox="1"/>
          <p:nvPr/>
        </p:nvSpPr>
        <p:spPr>
          <a:xfrm>
            <a:off x="152400" y="697459"/>
            <a:ext cx="8534400" cy="6186309"/>
          </a:xfrm>
          <a:prstGeom prst="rect">
            <a:avLst/>
          </a:prstGeom>
          <a:noFill/>
        </p:spPr>
        <p:txBody>
          <a:bodyPr wrap="square">
            <a:spAutoFit/>
          </a:bodyPr>
          <a:lstStyle/>
          <a:p>
            <a:pPr algn="l"/>
            <a:r>
              <a:rPr lang="en-US" b="0" i="0" dirty="0">
                <a:solidFill>
                  <a:srgbClr val="111111"/>
                </a:solidFill>
                <a:effectLst/>
                <a:latin typeface="-apple-system"/>
              </a:rPr>
              <a:t>Main characteristics of </a:t>
            </a:r>
            <a:r>
              <a:rPr lang="en-US" b="0" i="0" dirty="0" err="1">
                <a:solidFill>
                  <a:srgbClr val="111111"/>
                </a:solidFill>
                <a:effectLst/>
                <a:latin typeface="-apple-system"/>
              </a:rPr>
              <a:t>ZFNet</a:t>
            </a:r>
            <a:endParaRPr lang="en-US" b="0" i="0" dirty="0">
              <a:solidFill>
                <a:srgbClr val="111111"/>
              </a:solidFill>
              <a:effectLst/>
              <a:latin typeface="-apple-system"/>
            </a:endParaRPr>
          </a:p>
          <a:p>
            <a:pPr algn="l"/>
            <a:endParaRPr lang="en-US" b="0" i="0" dirty="0">
              <a:solidFill>
                <a:srgbClr val="111111"/>
              </a:solidFill>
              <a:effectLst/>
              <a:latin typeface="-apple-system"/>
            </a:endParaRPr>
          </a:p>
          <a:p>
            <a:pPr algn="l"/>
            <a:r>
              <a:rPr lang="en-US" b="0" i="0" dirty="0">
                <a:solidFill>
                  <a:srgbClr val="111111"/>
                </a:solidFill>
                <a:effectLst/>
                <a:latin typeface="-apple-system"/>
              </a:rPr>
              <a:t>As </a:t>
            </a:r>
            <a:r>
              <a:rPr lang="en-US" b="0" i="0" dirty="0" err="1">
                <a:solidFill>
                  <a:srgbClr val="111111"/>
                </a:solidFill>
                <a:effectLst/>
                <a:latin typeface="-apple-system"/>
              </a:rPr>
              <a:t>ZFNet</a:t>
            </a:r>
            <a:r>
              <a:rPr lang="en-US" b="0" i="0" dirty="0">
                <a:solidFill>
                  <a:srgbClr val="111111"/>
                </a:solidFill>
                <a:effectLst/>
                <a:latin typeface="-apple-system"/>
              </a:rPr>
              <a:t> (</a:t>
            </a:r>
            <a:r>
              <a:rPr lang="en-US" b="0" i="0" dirty="0" err="1">
                <a:solidFill>
                  <a:srgbClr val="111111"/>
                </a:solidFill>
                <a:effectLst/>
                <a:latin typeface="-apple-system"/>
              </a:rPr>
              <a:t>Zeiler</a:t>
            </a:r>
            <a:r>
              <a:rPr lang="en-US" b="0" i="0" dirty="0">
                <a:solidFill>
                  <a:srgbClr val="111111"/>
                </a:solidFill>
                <a:effectLst/>
                <a:latin typeface="-apple-system"/>
              </a:rPr>
              <a:t> </a:t>
            </a:r>
            <a:r>
              <a:rPr lang="en-US" b="0" i="0" dirty="0" err="1">
                <a:solidFill>
                  <a:srgbClr val="111111"/>
                </a:solidFill>
                <a:effectLst/>
                <a:latin typeface="-apple-system"/>
              </a:rPr>
              <a:t>Furgus</a:t>
            </a:r>
            <a:r>
              <a:rPr lang="en-US" b="0" i="0" dirty="0">
                <a:solidFill>
                  <a:srgbClr val="111111"/>
                </a:solidFill>
                <a:effectLst/>
                <a:latin typeface="-apple-system"/>
              </a:rPr>
              <a:t> Net) seems to be an enhanced modification of </a:t>
            </a:r>
            <a:r>
              <a:rPr lang="en-US" b="0" i="0" dirty="0" err="1">
                <a:solidFill>
                  <a:srgbClr val="111111"/>
                </a:solidFill>
                <a:effectLst/>
                <a:latin typeface="-apple-system"/>
              </a:rPr>
              <a:t>AlexNet</a:t>
            </a:r>
            <a:r>
              <a:rPr lang="en-US" b="0" i="0" dirty="0">
                <a:solidFill>
                  <a:srgbClr val="111111"/>
                </a:solidFill>
                <a:effectLst/>
                <a:latin typeface="-apple-system"/>
              </a:rPr>
              <a:t> through investigation of internal operations and </a:t>
            </a:r>
            <a:r>
              <a:rPr lang="en-US" b="0" i="0" dirty="0" err="1">
                <a:solidFill>
                  <a:srgbClr val="111111"/>
                </a:solidFill>
                <a:effectLst/>
                <a:latin typeface="-apple-system"/>
              </a:rPr>
              <a:t>behaviours</a:t>
            </a:r>
            <a:r>
              <a:rPr lang="en-US" b="0" i="0" dirty="0">
                <a:solidFill>
                  <a:srgbClr val="111111"/>
                </a:solidFill>
                <a:effectLst/>
                <a:latin typeface="-apple-system"/>
              </a:rPr>
              <a:t> of the model, many characters were addressed in comparison with </a:t>
            </a:r>
            <a:r>
              <a:rPr lang="en-US" b="0" i="0" dirty="0" err="1">
                <a:solidFill>
                  <a:srgbClr val="111111"/>
                </a:solidFill>
                <a:effectLst/>
                <a:latin typeface="-apple-system"/>
              </a:rPr>
              <a:t>AlexNet</a:t>
            </a:r>
            <a:r>
              <a:rPr lang="en-US" b="0" i="0" dirty="0">
                <a:solidFill>
                  <a:srgbClr val="111111"/>
                </a:solidFill>
                <a:effectLst/>
                <a:latin typeface="-apple-system"/>
              </a:rPr>
              <a:t>.</a:t>
            </a:r>
          </a:p>
          <a:p>
            <a:pPr algn="l"/>
            <a:endParaRPr lang="en-US" b="0" i="0" dirty="0">
              <a:solidFill>
                <a:srgbClr val="111111"/>
              </a:solidFill>
              <a:effectLst/>
              <a:latin typeface="-apple-system"/>
            </a:endParaRPr>
          </a:p>
          <a:p>
            <a:pPr algn="l"/>
            <a:endParaRPr lang="en-US" b="0" i="0" dirty="0">
              <a:solidFill>
                <a:srgbClr val="111111"/>
              </a:solidFill>
              <a:effectLst/>
              <a:latin typeface="-apple-system"/>
            </a:endParaRPr>
          </a:p>
          <a:p>
            <a:pPr algn="l">
              <a:buFont typeface="Arial" panose="020B0604020202020204" pitchFamily="34" charset="0"/>
              <a:buChar char="•"/>
            </a:pPr>
            <a:r>
              <a:rPr lang="en-US" b="0" i="0" dirty="0" err="1">
                <a:solidFill>
                  <a:srgbClr val="111111"/>
                </a:solidFill>
                <a:effectLst/>
                <a:latin typeface="-apple-system"/>
              </a:rPr>
              <a:t>Visualisation</a:t>
            </a:r>
            <a:r>
              <a:rPr lang="en-US" b="0" i="0" dirty="0">
                <a:solidFill>
                  <a:srgbClr val="111111"/>
                </a:solidFill>
                <a:effectLst/>
                <a:latin typeface="-apple-system"/>
              </a:rPr>
              <a:t> techniques used as a diagnostic role</a:t>
            </a:r>
          </a:p>
          <a:p>
            <a:pPr algn="l">
              <a:buFont typeface="Arial" panose="020B0604020202020204" pitchFamily="34" charset="0"/>
              <a:buChar char="•"/>
            </a:pPr>
            <a:endParaRPr lang="en-US" b="0" i="0" dirty="0">
              <a:solidFill>
                <a:srgbClr val="111111"/>
              </a:solidFill>
              <a:effectLst/>
              <a:latin typeface="-apple-system"/>
            </a:endParaRPr>
          </a:p>
          <a:p>
            <a:pPr algn="l">
              <a:buFont typeface="Arial" panose="020B0604020202020204" pitchFamily="34" charset="0"/>
              <a:buChar char="•"/>
            </a:pPr>
            <a:r>
              <a:rPr lang="en-US" b="0" i="0" dirty="0">
                <a:solidFill>
                  <a:srgbClr val="111111"/>
                </a:solidFill>
                <a:effectLst/>
                <a:latin typeface="-apple-system"/>
              </a:rPr>
              <a:t>Ablation study to identify performance contribution from different model layers (e.g. </a:t>
            </a:r>
            <a:r>
              <a:rPr lang="en-US" b="0" i="0" dirty="0" err="1">
                <a:solidFill>
                  <a:srgbClr val="111111"/>
                </a:solidFill>
                <a:effectLst/>
                <a:latin typeface="-apple-system"/>
              </a:rPr>
              <a:t>cnn</a:t>
            </a:r>
            <a:r>
              <a:rPr lang="en-US" b="0" i="0" dirty="0">
                <a:solidFill>
                  <a:srgbClr val="111111"/>
                </a:solidFill>
                <a:effectLst/>
                <a:latin typeface="-apple-system"/>
              </a:rPr>
              <a:t> vs fc layer - which contributes more)</a:t>
            </a:r>
          </a:p>
          <a:p>
            <a:pPr algn="l">
              <a:buFont typeface="Arial" panose="020B0604020202020204" pitchFamily="34" charset="0"/>
              <a:buChar char="•"/>
            </a:pPr>
            <a:endParaRPr lang="en-US" b="0" i="0" dirty="0">
              <a:solidFill>
                <a:srgbClr val="111111"/>
              </a:solidFill>
              <a:effectLst/>
              <a:latin typeface="-apple-system"/>
            </a:endParaRPr>
          </a:p>
          <a:p>
            <a:pPr algn="l">
              <a:buFont typeface="Arial" panose="020B0604020202020204" pitchFamily="34" charset="0"/>
              <a:buChar char="•"/>
            </a:pPr>
            <a:r>
              <a:rPr lang="en-US" b="0" i="0" dirty="0">
                <a:solidFill>
                  <a:srgbClr val="111111"/>
                </a:solidFill>
                <a:effectLst/>
                <a:latin typeface="-apple-system"/>
              </a:rPr>
              <a:t>Sensitivity analysis through occluding portions of an image</a:t>
            </a:r>
          </a:p>
          <a:p>
            <a:pPr algn="l">
              <a:buFont typeface="Arial" panose="020B0604020202020204" pitchFamily="34" charset="0"/>
              <a:buChar char="•"/>
            </a:pPr>
            <a:endParaRPr lang="en-US" b="0" i="0" dirty="0">
              <a:solidFill>
                <a:srgbClr val="111111"/>
              </a:solidFill>
              <a:effectLst/>
              <a:latin typeface="-apple-system"/>
            </a:endParaRPr>
          </a:p>
          <a:p>
            <a:pPr algn="l">
              <a:buFont typeface="Arial" panose="020B0604020202020204" pitchFamily="34" charset="0"/>
              <a:buChar char="•"/>
            </a:pPr>
            <a:r>
              <a:rPr lang="en-US" b="0" i="0" dirty="0">
                <a:solidFill>
                  <a:srgbClr val="111111"/>
                </a:solidFill>
                <a:effectLst/>
                <a:latin typeface="-apple-system"/>
              </a:rPr>
              <a:t>Improved hyperparameters as a result of further investigations above</a:t>
            </a:r>
          </a:p>
          <a:p>
            <a:pPr algn="l">
              <a:buFont typeface="Arial" panose="020B0604020202020204" pitchFamily="34" charset="0"/>
              <a:buChar char="•"/>
            </a:pPr>
            <a:endParaRPr lang="en-US" b="0" i="0" dirty="0">
              <a:solidFill>
                <a:srgbClr val="111111"/>
              </a:solidFill>
              <a:effectLst/>
              <a:latin typeface="-apple-system"/>
            </a:endParaRPr>
          </a:p>
          <a:p>
            <a:pPr algn="l">
              <a:buFont typeface="Arial" panose="020B0604020202020204" pitchFamily="34" charset="0"/>
              <a:buChar char="•"/>
            </a:pPr>
            <a:r>
              <a:rPr lang="en-US" b="0" i="0" dirty="0">
                <a:solidFill>
                  <a:srgbClr val="111111"/>
                </a:solidFill>
                <a:effectLst/>
                <a:latin typeface="-apple-system"/>
              </a:rPr>
              <a:t>Reduced Top 5 error rate to 14.8% with 6 convnets compared to </a:t>
            </a:r>
            <a:r>
              <a:rPr lang="en-US" b="0" i="0" dirty="0" err="1">
                <a:solidFill>
                  <a:srgbClr val="111111"/>
                </a:solidFill>
                <a:effectLst/>
                <a:latin typeface="-apple-system"/>
              </a:rPr>
              <a:t>AlexNet</a:t>
            </a:r>
            <a:r>
              <a:rPr lang="en-US" b="0" i="0" dirty="0">
                <a:solidFill>
                  <a:srgbClr val="111111"/>
                </a:solidFill>
                <a:effectLst/>
                <a:latin typeface="-apple-system"/>
              </a:rPr>
              <a:t> (best result 15.3% with 7 convnets) on ILSVRC-2012</a:t>
            </a:r>
          </a:p>
          <a:p>
            <a:pPr algn="l">
              <a:buFont typeface="Arial" panose="020B0604020202020204" pitchFamily="34" charset="0"/>
              <a:buChar char="•"/>
            </a:pPr>
            <a:endParaRPr lang="en-US" dirty="0">
              <a:solidFill>
                <a:srgbClr val="111111"/>
              </a:solidFill>
              <a:latin typeface="-apple-system"/>
            </a:endParaRPr>
          </a:p>
          <a:p>
            <a:pPr algn="l">
              <a:buFont typeface="Arial" panose="020B0604020202020204" pitchFamily="34" charset="0"/>
              <a:buChar char="•"/>
            </a:pPr>
            <a:endParaRPr lang="en-US" b="0" i="0" dirty="0">
              <a:solidFill>
                <a:srgbClr val="111111"/>
              </a:solidFill>
              <a:effectLst/>
              <a:latin typeface="-apple-system"/>
            </a:endParaRPr>
          </a:p>
          <a:p>
            <a:pPr algn="l">
              <a:buFont typeface="Arial" panose="020B0604020202020204" pitchFamily="34" charset="0"/>
              <a:buChar char="•"/>
            </a:pPr>
            <a:r>
              <a:rPr lang="en-US" b="0" i="0" dirty="0">
                <a:solidFill>
                  <a:srgbClr val="111111"/>
                </a:solidFill>
                <a:effectLst/>
                <a:latin typeface="-apple-system"/>
              </a:rPr>
              <a:t>Transfer learning to datasets other than ImageNet displaying </a:t>
            </a:r>
            <a:r>
              <a:rPr lang="en-US" b="0" i="0" dirty="0" err="1">
                <a:solidFill>
                  <a:srgbClr val="111111"/>
                </a:solidFill>
                <a:effectLst/>
                <a:latin typeface="-apple-system"/>
              </a:rPr>
              <a:t>generalisation</a:t>
            </a:r>
            <a:r>
              <a:rPr lang="en-US" b="0" i="0" dirty="0">
                <a:solidFill>
                  <a:srgbClr val="111111"/>
                </a:solidFill>
                <a:effectLst/>
                <a:latin typeface="-apple-system"/>
              </a:rPr>
              <a:t> ability of the model</a:t>
            </a:r>
          </a:p>
        </p:txBody>
      </p:sp>
      <p:sp>
        <p:nvSpPr>
          <p:cNvPr id="7" name="Title 1">
            <a:extLst>
              <a:ext uri="{FF2B5EF4-FFF2-40B4-BE49-F238E27FC236}">
                <a16:creationId xmlns:a16="http://schemas.microsoft.com/office/drawing/2014/main" id="{B271C3D7-36E9-2E53-3B31-330CFC7DC6C3}"/>
              </a:ext>
            </a:extLst>
          </p:cNvPr>
          <p:cNvSpPr txBox="1">
            <a:spLocks/>
          </p:cNvSpPr>
          <p:nvPr/>
        </p:nvSpPr>
        <p:spPr>
          <a:xfrm>
            <a:off x="1402080" y="0"/>
            <a:ext cx="7772400" cy="685799"/>
          </a:xfrm>
          <a:prstGeom prst="rect">
            <a:avLst/>
          </a:prstGeom>
          <a:solidFill>
            <a:srgbClr val="00B0F0">
              <a:lumMod val="40000"/>
              <a:lumOff val="60000"/>
            </a:srgbClr>
          </a:solidFill>
          <a:ln w="6350" cap="flat" cmpd="sng" algn="ctr">
            <a:solidFill>
              <a:srgbClr val="4472C4"/>
            </a:solidFill>
            <a:prstDash val="solid"/>
            <a:miter lim="800000"/>
          </a:ln>
          <a:effectLst/>
        </p:spPr>
        <p:txBody>
          <a:bodyPr vert="horz" lIns="91440" tIns="45720" rIns="91440" bIns="45720" rtlCol="0" anchor="ctr">
            <a:noAutofit/>
          </a:bodyPr>
          <a:lstStyle/>
          <a:p>
            <a:pPr marL="0" marR="0" lvl="0" indent="0" algn="ctr" defTabSz="914400" eaLnBrk="1" fontAlgn="auto" latinLnBrk="0" hangingPunct="1">
              <a:lnSpc>
                <a:spcPct val="100000"/>
              </a:lnSpc>
              <a:spcBef>
                <a:spcPct val="0"/>
              </a:spcBef>
              <a:spcAft>
                <a:spcPts val="0"/>
              </a:spcAft>
              <a:buClrTx/>
              <a:buSzTx/>
              <a:buFontTx/>
              <a:buNone/>
              <a:tabLst/>
              <a:defRPr/>
            </a:pPr>
            <a:r>
              <a:rPr kumimoji="0" lang="en-US" sz="2400" b="1" i="0" u="none" strike="noStrike" kern="0" cap="none" spc="0" normalizeH="0" baseline="0" noProof="0" dirty="0">
                <a:ln>
                  <a:noFill/>
                </a:ln>
                <a:solidFill>
                  <a:prstClr val="black"/>
                </a:solidFill>
                <a:effectLst/>
                <a:uLnTx/>
                <a:uFillTx/>
                <a:latin typeface="Calibri" panose="020F0502020204030204"/>
                <a:ea typeface="+mn-ea"/>
                <a:cs typeface="+mn-cs"/>
              </a:rPr>
              <a:t>Practical scenario</a:t>
            </a:r>
          </a:p>
        </p:txBody>
      </p:sp>
    </p:spTree>
    <p:extLst>
      <p:ext uri="{BB962C8B-B14F-4D97-AF65-F5344CB8AC3E}">
        <p14:creationId xmlns:p14="http://schemas.microsoft.com/office/powerpoint/2010/main" val="189690455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it-IT"/>
              <a:t>Dr Preeti Gera            COMPUTER VISION  UNIT- IV</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91</a:t>
            </a:fld>
            <a:endParaRPr lang="en-US"/>
          </a:p>
        </p:txBody>
      </p:sp>
      <p:sp>
        <p:nvSpPr>
          <p:cNvPr id="6"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Observation of Moving Objects</a:t>
            </a:r>
            <a:endParaRPr lang="en-IN" sz="2200" b="1" dirty="0">
              <a:latin typeface="Times New Roman" panose="02020603050405020304" pitchFamily="18" charset="0"/>
              <a:cs typeface="Times New Roman" panose="02020603050405020304" pitchFamily="18" charset="0"/>
            </a:endParaRP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pic>
        <p:nvPicPr>
          <p:cNvPr id="14338" name="Picture 2" descr="Summing of 8 consecutive fram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50" y="817163"/>
            <a:ext cx="5086350" cy="2683157"/>
          </a:xfrm>
          <a:prstGeom prst="rect">
            <a:avLst/>
          </a:prstGeom>
          <a:noFill/>
          <a:extLst>
            <a:ext uri="{909E8E84-426E-40DD-AFC4-6F175D3DCCD1}">
              <a14:hiddenFill xmlns:a14="http://schemas.microsoft.com/office/drawing/2010/main">
                <a:solidFill>
                  <a:srgbClr val="FFFFFF"/>
                </a:solidFill>
              </a14:hiddenFill>
            </a:ext>
          </a:extLst>
        </p:spPr>
      </p:pic>
      <p:pic>
        <p:nvPicPr>
          <p:cNvPr id="14340" name="Picture 4" descr="Applying contour to the detected moving object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85" y="3500320"/>
            <a:ext cx="5138225" cy="2899918"/>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5148190" y="1219200"/>
            <a:ext cx="3995810" cy="4524315"/>
          </a:xfrm>
          <a:prstGeom prst="rect">
            <a:avLst/>
          </a:prstGeom>
        </p:spPr>
        <p:txBody>
          <a:bodyPr wrap="square">
            <a:spAutoFit/>
          </a:bodyPr>
          <a:lstStyle/>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Moving Object Detection and Segmentation</a:t>
            </a:r>
          </a:p>
          <a:p>
            <a:pPr algn="just">
              <a:lnSpc>
                <a:spcPct val="150000"/>
              </a:lnSpc>
            </a:pPr>
            <a:endParaRPr lang="en-US" sz="1600" b="1" i="0" dirty="0">
              <a:solidFill>
                <a:srgbClr val="003300"/>
              </a:solidFill>
              <a:effectLst/>
              <a:latin typeface="Times New Roman" panose="02020603050405020304" pitchFamily="18" charset="0"/>
              <a:cs typeface="Times New Roman" panose="02020603050405020304" pitchFamily="18" charset="0"/>
            </a:endParaRP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1: Read 8 Consecutive Frames from the Video</a:t>
            </a: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2: Convert the Frames into Grayscale</a:t>
            </a:r>
          </a:p>
          <a:p>
            <a:pPr algn="just">
              <a:lnSpc>
                <a:spcPct val="150000"/>
              </a:lnSpc>
            </a:pPr>
            <a:r>
              <a:rPr lang="en-IN" sz="1600" b="1" dirty="0">
                <a:solidFill>
                  <a:srgbClr val="003300"/>
                </a:solidFill>
                <a:latin typeface="Times New Roman" panose="02020603050405020304" pitchFamily="18" charset="0"/>
                <a:cs typeface="Times New Roman" panose="02020603050405020304" pitchFamily="18" charset="0"/>
              </a:rPr>
              <a:t>Step 3: Frame Differencing</a:t>
            </a: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4: Add the 8 Frames</a:t>
            </a: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5: Fill the Gaps Inside the Objects</a:t>
            </a: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6: Convert to Binary</a:t>
            </a:r>
          </a:p>
          <a:p>
            <a:pPr algn="just">
              <a:lnSpc>
                <a:spcPct val="150000"/>
              </a:lnSpc>
            </a:pPr>
            <a:r>
              <a:rPr lang="en-US" sz="1600" b="1" dirty="0">
                <a:solidFill>
                  <a:srgbClr val="003300"/>
                </a:solidFill>
                <a:latin typeface="Times New Roman" panose="02020603050405020304" pitchFamily="18" charset="0"/>
                <a:cs typeface="Times New Roman" panose="02020603050405020304" pitchFamily="18" charset="0"/>
              </a:rPr>
              <a:t>Step 7: Remove Noise from the Resulting Image</a:t>
            </a:r>
          </a:p>
          <a:p>
            <a:pPr algn="just">
              <a:lnSpc>
                <a:spcPct val="150000"/>
              </a:lnSpc>
            </a:pPr>
            <a:endParaRPr lang="en-US" sz="1600" b="1" i="0" dirty="0">
              <a:solidFill>
                <a:srgbClr val="003300"/>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0753561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2B37497-F829-7537-7133-7FFD66C60270}"/>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6AEEBDF5-93F4-8E79-3188-BB7D8609D04C}"/>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562E4263-0A92-E10C-12BF-38FD65927594}"/>
              </a:ext>
            </a:extLst>
          </p:cNvPr>
          <p:cNvSpPr>
            <a:spLocks noGrp="1"/>
          </p:cNvSpPr>
          <p:nvPr>
            <p:ph type="sldNum" sz="quarter" idx="12"/>
          </p:nvPr>
        </p:nvSpPr>
        <p:spPr/>
        <p:txBody>
          <a:bodyPr/>
          <a:lstStyle/>
          <a:p>
            <a:fld id="{B6F15528-21DE-4FAA-801E-634DDDAF4B2B}" type="slidenum">
              <a:rPr lang="en-US" smtClean="0"/>
              <a:pPr/>
              <a:t>92</a:t>
            </a:fld>
            <a:endParaRPr lang="en-US"/>
          </a:p>
        </p:txBody>
      </p:sp>
      <p:sp>
        <p:nvSpPr>
          <p:cNvPr id="7" name="TextBox 6">
            <a:extLst>
              <a:ext uri="{FF2B5EF4-FFF2-40B4-BE49-F238E27FC236}">
                <a16:creationId xmlns:a16="http://schemas.microsoft.com/office/drawing/2014/main" id="{B3008DD4-BAEC-61EC-F8D8-DD5F3D04CBD5}"/>
              </a:ext>
            </a:extLst>
          </p:cNvPr>
          <p:cNvSpPr txBox="1"/>
          <p:nvPr/>
        </p:nvSpPr>
        <p:spPr>
          <a:xfrm>
            <a:off x="147736" y="607832"/>
            <a:ext cx="4572000" cy="1200329"/>
          </a:xfrm>
          <a:prstGeom prst="rect">
            <a:avLst/>
          </a:prstGeom>
          <a:noFill/>
        </p:spPr>
        <p:txBody>
          <a:bodyPr wrap="square">
            <a:spAutoFit/>
          </a:bodyPr>
          <a:lstStyle/>
          <a:p>
            <a:pPr algn="l"/>
            <a:r>
              <a:rPr lang="en-US" b="0" i="0" dirty="0" err="1">
                <a:solidFill>
                  <a:srgbClr val="111111"/>
                </a:solidFill>
                <a:effectLst/>
                <a:latin typeface="-apple-system"/>
              </a:rPr>
              <a:t>Unpooling</a:t>
            </a:r>
            <a:endParaRPr lang="en-US" b="0" i="0" dirty="0">
              <a:solidFill>
                <a:srgbClr val="111111"/>
              </a:solidFill>
              <a:effectLst/>
              <a:latin typeface="-apple-system"/>
            </a:endParaRPr>
          </a:p>
          <a:p>
            <a:pPr algn="l"/>
            <a:r>
              <a:rPr lang="en-US" b="0" i="0" dirty="0" err="1">
                <a:solidFill>
                  <a:srgbClr val="111111"/>
                </a:solidFill>
                <a:effectLst/>
                <a:latin typeface="-apple-system"/>
              </a:rPr>
              <a:t>Maxpooling</a:t>
            </a:r>
            <a:r>
              <a:rPr lang="en-US" b="0" i="0" dirty="0">
                <a:solidFill>
                  <a:srgbClr val="111111"/>
                </a:solidFill>
                <a:effectLst/>
                <a:latin typeface="-apple-system"/>
              </a:rPr>
              <a:t> is not invertible, but it can be approximated by recording the locations of maxima, preserving structure of the stimulus.</a:t>
            </a:r>
          </a:p>
        </p:txBody>
      </p:sp>
      <p:pic>
        <p:nvPicPr>
          <p:cNvPr id="8" name="Picture 7">
            <a:extLst>
              <a:ext uri="{FF2B5EF4-FFF2-40B4-BE49-F238E27FC236}">
                <a16:creationId xmlns:a16="http://schemas.microsoft.com/office/drawing/2014/main" id="{9FC41AAE-FD1C-6BB5-FA25-57B872425801}"/>
              </a:ext>
            </a:extLst>
          </p:cNvPr>
          <p:cNvPicPr>
            <a:picLocks noChangeAspect="1"/>
          </p:cNvPicPr>
          <p:nvPr/>
        </p:nvPicPr>
        <p:blipFill>
          <a:blip r:embed="rId2"/>
          <a:stretch>
            <a:fillRect/>
          </a:stretch>
        </p:blipFill>
        <p:spPr>
          <a:xfrm>
            <a:off x="152401" y="2243137"/>
            <a:ext cx="5719762" cy="3243263"/>
          </a:xfrm>
          <a:prstGeom prst="rect">
            <a:avLst/>
          </a:prstGeom>
        </p:spPr>
      </p:pic>
      <p:pic>
        <p:nvPicPr>
          <p:cNvPr id="5" name="Picture 4">
            <a:extLst>
              <a:ext uri="{FF2B5EF4-FFF2-40B4-BE49-F238E27FC236}">
                <a16:creationId xmlns:a16="http://schemas.microsoft.com/office/drawing/2014/main" id="{24BC4166-A3A1-0DCB-8F05-2C6C1BA6C7ED}"/>
              </a:ext>
            </a:extLst>
          </p:cNvPr>
          <p:cNvPicPr>
            <a:picLocks noChangeAspect="1"/>
          </p:cNvPicPr>
          <p:nvPr/>
        </p:nvPicPr>
        <p:blipFill>
          <a:blip r:embed="rId3"/>
          <a:stretch>
            <a:fillRect/>
          </a:stretch>
        </p:blipFill>
        <p:spPr>
          <a:xfrm>
            <a:off x="1364830" y="-152400"/>
            <a:ext cx="7779170" cy="804742"/>
          </a:xfrm>
          <a:prstGeom prst="rect">
            <a:avLst/>
          </a:prstGeom>
        </p:spPr>
      </p:pic>
      <p:pic>
        <p:nvPicPr>
          <p:cNvPr id="6" name="Picture 2" descr="E:\NIET\Project\xLogo11.png.pagespeed.ic.pydHLuCQEZ.png">
            <a:extLst>
              <a:ext uri="{FF2B5EF4-FFF2-40B4-BE49-F238E27FC236}">
                <a16:creationId xmlns:a16="http://schemas.microsoft.com/office/drawing/2014/main" id="{61FC4FF3-7A8D-C095-74A0-2E4BC7FA1A5E}"/>
              </a:ext>
            </a:extLst>
          </p:cNvPr>
          <p:cNvPicPr>
            <a:picLocks noChangeAspect="1" noChangeArrowheads="1"/>
          </p:cNvPicPr>
          <p:nvPr/>
        </p:nvPicPr>
        <p:blipFill>
          <a:blip r:embed="rId4"/>
          <a:srcRect/>
          <a:stretch>
            <a:fillRect/>
          </a:stretch>
        </p:blipFill>
        <p:spPr bwMode="auto">
          <a:xfrm>
            <a:off x="0" y="1"/>
            <a:ext cx="1447800" cy="652342"/>
          </a:xfrm>
          <a:prstGeom prst="rect">
            <a:avLst/>
          </a:prstGeom>
          <a:noFill/>
        </p:spPr>
      </p:pic>
    </p:spTree>
    <p:extLst>
      <p:ext uri="{BB962C8B-B14F-4D97-AF65-F5344CB8AC3E}">
        <p14:creationId xmlns:p14="http://schemas.microsoft.com/office/powerpoint/2010/main" val="17021819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358FED-9683-E9FF-8B7E-9B2D25021F60}"/>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29555B92-AE63-4C28-9EC2-375B930E466F}"/>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9085B075-E724-1BA7-4B9F-AD31AE404B22}"/>
              </a:ext>
            </a:extLst>
          </p:cNvPr>
          <p:cNvSpPr>
            <a:spLocks noGrp="1"/>
          </p:cNvSpPr>
          <p:nvPr>
            <p:ph type="sldNum" sz="quarter" idx="12"/>
          </p:nvPr>
        </p:nvSpPr>
        <p:spPr/>
        <p:txBody>
          <a:bodyPr/>
          <a:lstStyle/>
          <a:p>
            <a:fld id="{B6F15528-21DE-4FAA-801E-634DDDAF4B2B}" type="slidenum">
              <a:rPr lang="en-US" smtClean="0"/>
              <a:pPr/>
              <a:t>93</a:t>
            </a:fld>
            <a:endParaRPr lang="en-US"/>
          </a:p>
        </p:txBody>
      </p:sp>
      <p:sp>
        <p:nvSpPr>
          <p:cNvPr id="5" name="Rectangle 1">
            <a:extLst>
              <a:ext uri="{FF2B5EF4-FFF2-40B4-BE49-F238E27FC236}">
                <a16:creationId xmlns:a16="http://schemas.microsoft.com/office/drawing/2014/main" id="{841E0F65-53B9-3CF5-AA0A-C35AD857A3DD}"/>
              </a:ext>
            </a:extLst>
          </p:cNvPr>
          <p:cNvSpPr>
            <a:spLocks noChangeArrowheads="1"/>
          </p:cNvSpPr>
          <p:nvPr/>
        </p:nvSpPr>
        <p:spPr bwMode="auto">
          <a:xfrm rot="10800000" flipV="1">
            <a:off x="152400" y="838200"/>
            <a:ext cx="8686800" cy="4897464"/>
          </a:xfrm>
          <a:prstGeom prst="rect">
            <a:avLst/>
          </a:prstGeom>
          <a:solidFill>
            <a:srgbClr val="FDFDFD"/>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952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900" b="0" i="0" u="none" strike="noStrike" cap="none" normalizeH="0" baseline="0" dirty="0">
                <a:ln>
                  <a:noFill/>
                </a:ln>
                <a:solidFill>
                  <a:srgbClr val="111111"/>
                </a:solidFill>
                <a:effectLst/>
                <a:latin typeface="-apple-system"/>
              </a:rPr>
              <a:t>Rectification</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err="1">
                <a:ln>
                  <a:noFill/>
                </a:ln>
                <a:solidFill>
                  <a:srgbClr val="111111"/>
                </a:solidFill>
                <a:effectLst/>
                <a:latin typeface="-apple-system"/>
              </a:rPr>
              <a:t>Unpooled</a:t>
            </a:r>
            <a:r>
              <a:rPr kumimoji="0" lang="en-US" altLang="en-US" sz="1200" b="0" i="0" u="none" strike="noStrike" cap="none" normalizeH="0" baseline="0" dirty="0">
                <a:ln>
                  <a:noFill/>
                </a:ln>
                <a:solidFill>
                  <a:srgbClr val="111111"/>
                </a:solidFill>
                <a:effectLst/>
                <a:latin typeface="-apple-system"/>
              </a:rPr>
              <a:t> feature reconstructions (that are always positive) go through </a:t>
            </a:r>
            <a:r>
              <a:rPr kumimoji="0" lang="en-US" altLang="en-US" sz="1200" b="0" i="0" u="none" strike="noStrike" cap="none" normalizeH="0" baseline="0" dirty="0" err="1">
                <a:ln>
                  <a:noFill/>
                </a:ln>
                <a:solidFill>
                  <a:srgbClr val="111111"/>
                </a:solidFill>
                <a:effectLst/>
                <a:latin typeface="-apple-system"/>
              </a:rPr>
              <a:t>ReLU</a:t>
            </a:r>
            <a:r>
              <a:rPr kumimoji="0" lang="en-US" altLang="en-US" sz="1200" b="0" i="0" u="none" strike="noStrike" cap="none" normalizeH="0" baseline="0" dirty="0">
                <a:ln>
                  <a:noFill/>
                </a:ln>
                <a:solidFill>
                  <a:srgbClr val="111111"/>
                </a:solidFill>
                <a:effectLst/>
                <a:latin typeface="-apple-system"/>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900" b="0" i="0" u="none" strike="noStrike" cap="none" normalizeH="0" baseline="0" dirty="0">
              <a:ln>
                <a:noFill/>
              </a:ln>
              <a:solidFill>
                <a:srgbClr val="111111"/>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900" dirty="0">
              <a:solidFill>
                <a:srgbClr val="111111"/>
              </a:solidFill>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900" b="0" i="0" u="none" strike="noStrike" cap="none" normalizeH="0" baseline="0" dirty="0">
              <a:ln>
                <a:noFill/>
              </a:ln>
              <a:solidFill>
                <a:srgbClr val="111111"/>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900" b="0" i="0" u="none" strike="noStrike" cap="none" normalizeH="0" baseline="0" dirty="0">
                <a:ln>
                  <a:noFill/>
                </a:ln>
                <a:solidFill>
                  <a:srgbClr val="111111"/>
                </a:solidFill>
                <a:effectLst/>
                <a:latin typeface="-apple-system"/>
              </a:rPr>
              <a:t>3. Filtering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900" b="0" i="0" u="none" strike="noStrike" cap="none" normalizeH="0" baseline="0" dirty="0">
              <a:ln>
                <a:noFill/>
              </a:ln>
              <a:solidFill>
                <a:srgbClr val="111111"/>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111111"/>
                </a:solidFill>
                <a:effectLst/>
                <a:latin typeface="-apple-system"/>
              </a:rPr>
              <a:t>Conv layer uses defined filters to convolve output from the previous input. This could be simplified as:</a:t>
            </a:r>
            <a:endParaRPr kumimoji="0" lang="en-US" altLang="en-US"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Input @ Filter = Output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111111"/>
                </a:solidFill>
                <a:effectLst/>
                <a:latin typeface="-apple-system"/>
              </a:rPr>
              <a:t>where @ is matrix multiplication.</a:t>
            </a:r>
            <a:endParaRPr kumimoji="0" lang="en-US" altLang="en-US"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111111"/>
                </a:solidFill>
                <a:effectLst/>
                <a:latin typeface="-apple-system"/>
              </a:rPr>
              <a:t>Therefore, </a:t>
            </a:r>
            <a:r>
              <a:rPr kumimoji="0" lang="en-US" altLang="en-US" sz="1200" b="0" i="0" u="none" strike="noStrike" cap="none" normalizeH="0" baseline="0" dirty="0" err="1">
                <a:ln>
                  <a:noFill/>
                </a:ln>
                <a:solidFill>
                  <a:srgbClr val="111111"/>
                </a:solidFill>
                <a:effectLst/>
                <a:latin typeface="-apple-system"/>
              </a:rPr>
              <a:t>deconvnet</a:t>
            </a:r>
            <a:r>
              <a:rPr kumimoji="0" lang="en-US" altLang="en-US" sz="1200" b="0" i="0" u="none" strike="noStrike" cap="none" normalizeH="0" baseline="0" dirty="0">
                <a:ln>
                  <a:noFill/>
                </a:ln>
                <a:solidFill>
                  <a:srgbClr val="111111"/>
                </a:solidFill>
                <a:effectLst/>
                <a:latin typeface="-apple-system"/>
              </a:rPr>
              <a:t> used the transposed versions of the same filters on the output from Rectification above (2. Rectification), which was simplified as: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200" dirty="0">
              <a:solidFill>
                <a:srgbClr val="111111"/>
              </a:solidFill>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111111"/>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200" dirty="0">
              <a:solidFill>
                <a:srgbClr val="111111"/>
              </a:solidFill>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111111"/>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Reconstructed Input = Output @ Transposed Filter</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111111"/>
                </a:solidFill>
                <a:effectLst/>
                <a:latin typeface="-apple-system"/>
              </a:rPr>
              <a:t>With these three components of </a:t>
            </a:r>
            <a:r>
              <a:rPr kumimoji="0" lang="en-US" altLang="en-US" sz="1200" b="0" i="0" u="none" strike="noStrike" cap="none" normalizeH="0" baseline="0" dirty="0" err="1">
                <a:ln>
                  <a:noFill/>
                </a:ln>
                <a:solidFill>
                  <a:srgbClr val="111111"/>
                </a:solidFill>
                <a:effectLst/>
                <a:latin typeface="-apple-system"/>
              </a:rPr>
              <a:t>deconvnet</a:t>
            </a:r>
            <a:r>
              <a:rPr kumimoji="0" lang="en-US" altLang="en-US" sz="1200" b="0" i="0" u="none" strike="noStrike" cap="none" normalizeH="0" baseline="0" dirty="0">
                <a:ln>
                  <a:noFill/>
                </a:ln>
                <a:solidFill>
                  <a:srgbClr val="111111"/>
                </a:solidFill>
                <a:effectLst/>
                <a:latin typeface="-apple-system"/>
              </a:rPr>
              <a:t>, the authors were able to </a:t>
            </a:r>
            <a:r>
              <a:rPr kumimoji="0" lang="en-US" altLang="en-US" sz="1200" b="0" i="0" u="none" strike="noStrike" cap="none" normalizeH="0" baseline="0" dirty="0" err="1">
                <a:ln>
                  <a:noFill/>
                </a:ln>
                <a:solidFill>
                  <a:srgbClr val="111111"/>
                </a:solidFill>
                <a:effectLst/>
                <a:latin typeface="-apple-system"/>
              </a:rPr>
              <a:t>visualise</a:t>
            </a:r>
            <a:r>
              <a:rPr kumimoji="0" lang="en-US" altLang="en-US" sz="1200" b="0" i="0" u="none" strike="noStrike" cap="none" normalizeH="0" baseline="0" dirty="0">
                <a:ln>
                  <a:noFill/>
                </a:ln>
                <a:solidFill>
                  <a:srgbClr val="111111"/>
                </a:solidFill>
                <a:effectLst/>
                <a:latin typeface="-apple-system"/>
              </a:rPr>
              <a:t> all layers in </a:t>
            </a:r>
            <a:r>
              <a:rPr kumimoji="0" lang="en-US" altLang="en-US" sz="1200" b="0" i="0" u="none" strike="noStrike" cap="none" normalizeH="0" baseline="0" dirty="0" err="1">
                <a:ln>
                  <a:noFill/>
                </a:ln>
                <a:solidFill>
                  <a:srgbClr val="111111"/>
                </a:solidFill>
                <a:effectLst/>
                <a:latin typeface="-apple-system"/>
              </a:rPr>
              <a:t>AlexNet</a:t>
            </a:r>
            <a:r>
              <a:rPr kumimoji="0" lang="en-US" altLang="en-US" sz="1200" b="0" i="0" u="none" strike="noStrike" cap="none" normalizeH="0" baseline="0" dirty="0">
                <a:ln>
                  <a:noFill/>
                </a:ln>
                <a:solidFill>
                  <a:srgbClr val="111111"/>
                </a:solidFill>
                <a:effectLst/>
                <a:latin typeface="-apple-system"/>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6" name="Picture 5">
            <a:extLst>
              <a:ext uri="{FF2B5EF4-FFF2-40B4-BE49-F238E27FC236}">
                <a16:creationId xmlns:a16="http://schemas.microsoft.com/office/drawing/2014/main" id="{B63067CD-E5CF-8EBD-BEE7-4F09030CCE8A}"/>
              </a:ext>
            </a:extLst>
          </p:cNvPr>
          <p:cNvPicPr>
            <a:picLocks noChangeAspect="1"/>
          </p:cNvPicPr>
          <p:nvPr/>
        </p:nvPicPr>
        <p:blipFill>
          <a:blip r:embed="rId2"/>
          <a:stretch>
            <a:fillRect/>
          </a:stretch>
        </p:blipFill>
        <p:spPr>
          <a:xfrm>
            <a:off x="1517230" y="-33379"/>
            <a:ext cx="7779170" cy="804742"/>
          </a:xfrm>
          <a:prstGeom prst="rect">
            <a:avLst/>
          </a:prstGeom>
        </p:spPr>
      </p:pic>
      <p:pic>
        <p:nvPicPr>
          <p:cNvPr id="7" name="Picture 2" descr="E:\NIET\Project\xLogo11.png.pagespeed.ic.pydHLuCQEZ.png">
            <a:extLst>
              <a:ext uri="{FF2B5EF4-FFF2-40B4-BE49-F238E27FC236}">
                <a16:creationId xmlns:a16="http://schemas.microsoft.com/office/drawing/2014/main" id="{C6876B47-0E94-9E1E-AE5E-C34993C03E06}"/>
              </a:ext>
            </a:extLst>
          </p:cNvPr>
          <p:cNvPicPr>
            <a:picLocks noChangeAspect="1" noChangeArrowheads="1"/>
          </p:cNvPicPr>
          <p:nvPr/>
        </p:nvPicPr>
        <p:blipFill>
          <a:blip r:embed="rId3"/>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108341732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E74B2B3-C616-878A-3006-7E2DEA15F68A}"/>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52D7E85-4EA3-C1DF-2382-D4D391BE6876}"/>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C8998EF1-FD24-914B-EF1B-B89D5F0CC230}"/>
              </a:ext>
            </a:extLst>
          </p:cNvPr>
          <p:cNvSpPr>
            <a:spLocks noGrp="1"/>
          </p:cNvSpPr>
          <p:nvPr>
            <p:ph type="sldNum" sz="quarter" idx="12"/>
          </p:nvPr>
        </p:nvSpPr>
        <p:spPr/>
        <p:txBody>
          <a:bodyPr/>
          <a:lstStyle/>
          <a:p>
            <a:fld id="{B6F15528-21DE-4FAA-801E-634DDDAF4B2B}" type="slidenum">
              <a:rPr lang="en-US" smtClean="0"/>
              <a:pPr/>
              <a:t>94</a:t>
            </a:fld>
            <a:endParaRPr lang="en-US"/>
          </a:p>
        </p:txBody>
      </p:sp>
      <p:sp>
        <p:nvSpPr>
          <p:cNvPr id="6" name="TextBox 5">
            <a:extLst>
              <a:ext uri="{FF2B5EF4-FFF2-40B4-BE49-F238E27FC236}">
                <a16:creationId xmlns:a16="http://schemas.microsoft.com/office/drawing/2014/main" id="{416BCC8B-EC02-6142-005F-56EEFE028F09}"/>
              </a:ext>
            </a:extLst>
          </p:cNvPr>
          <p:cNvSpPr txBox="1"/>
          <p:nvPr/>
        </p:nvSpPr>
        <p:spPr>
          <a:xfrm>
            <a:off x="152400" y="1720840"/>
            <a:ext cx="8686800" cy="5078313"/>
          </a:xfrm>
          <a:prstGeom prst="rect">
            <a:avLst/>
          </a:prstGeom>
          <a:noFill/>
        </p:spPr>
        <p:txBody>
          <a:bodyPr wrap="square">
            <a:spAutoFit/>
          </a:bodyPr>
          <a:lstStyle/>
          <a:p>
            <a:r>
              <a:rPr lang="en-US" dirty="0"/>
              <a:t>First layer filters were changed their size from 11 * 11 to 7 * 7 and its stride became 2 instead of 4.</a:t>
            </a:r>
          </a:p>
          <a:p>
            <a:endParaRPr lang="en-US" dirty="0"/>
          </a:p>
          <a:p>
            <a:endParaRPr lang="en-US" dirty="0"/>
          </a:p>
          <a:p>
            <a:endParaRPr lang="en-US" dirty="0"/>
          </a:p>
          <a:p>
            <a:endParaRPr lang="en-US" dirty="0"/>
          </a:p>
          <a:p>
            <a:endParaRPr lang="en-US" dirty="0"/>
          </a:p>
          <a:p>
            <a:r>
              <a:rPr lang="en-US" dirty="0"/>
              <a:t>Dense connections were used on layer 3, 4, and 5 from </a:t>
            </a:r>
            <a:r>
              <a:rPr lang="en-US" dirty="0" err="1"/>
              <a:t>AlexNet</a:t>
            </a:r>
            <a:r>
              <a:rPr lang="en-US" dirty="0"/>
              <a:t> because </a:t>
            </a:r>
            <a:r>
              <a:rPr lang="en-US" dirty="0" err="1"/>
              <a:t>ZFNet</a:t>
            </a:r>
            <a:r>
              <a:rPr lang="en-US" dirty="0"/>
              <a:t> was trained on a single GTX580 GPU.</a:t>
            </a:r>
          </a:p>
          <a:p>
            <a:endParaRPr lang="en-US" dirty="0"/>
          </a:p>
          <a:p>
            <a:endParaRPr lang="en-US" dirty="0"/>
          </a:p>
          <a:p>
            <a:endParaRPr lang="en-US" dirty="0"/>
          </a:p>
          <a:p>
            <a:endParaRPr lang="en-US" dirty="0"/>
          </a:p>
          <a:p>
            <a:endParaRPr lang="en-US" dirty="0"/>
          </a:p>
          <a:p>
            <a:endParaRPr lang="en-US" dirty="0"/>
          </a:p>
          <a:p>
            <a:r>
              <a:rPr lang="en-US" dirty="0"/>
              <a:t>After </a:t>
            </a:r>
            <a:r>
              <a:rPr lang="en-US" dirty="0" err="1"/>
              <a:t>visualising</a:t>
            </a:r>
            <a:r>
              <a:rPr lang="en-US" dirty="0"/>
              <a:t> the first layer filters, the authors </a:t>
            </a:r>
            <a:r>
              <a:rPr lang="en-US" dirty="0" err="1"/>
              <a:t>realised</a:t>
            </a:r>
            <a:r>
              <a:rPr lang="en-US" dirty="0"/>
              <a:t> that a few of the layer filters dominated so they </a:t>
            </a:r>
            <a:r>
              <a:rPr lang="en-US" dirty="0" err="1"/>
              <a:t>renormlise</a:t>
            </a:r>
            <a:r>
              <a:rPr lang="en-US" dirty="0"/>
              <a:t> each filter in the conv layers where the root mean square value exceeds a fixed radius of 1/10 to the current fixed radius.</a:t>
            </a:r>
            <a:endParaRPr lang="en-IN" dirty="0"/>
          </a:p>
        </p:txBody>
      </p:sp>
      <p:sp>
        <p:nvSpPr>
          <p:cNvPr id="8" name="TextBox 7">
            <a:extLst>
              <a:ext uri="{FF2B5EF4-FFF2-40B4-BE49-F238E27FC236}">
                <a16:creationId xmlns:a16="http://schemas.microsoft.com/office/drawing/2014/main" id="{C60C6B97-6587-9247-93F6-D6D38E48E231}"/>
              </a:ext>
            </a:extLst>
          </p:cNvPr>
          <p:cNvSpPr txBox="1"/>
          <p:nvPr/>
        </p:nvSpPr>
        <p:spPr>
          <a:xfrm>
            <a:off x="742950" y="685800"/>
            <a:ext cx="4572000" cy="369332"/>
          </a:xfrm>
          <a:prstGeom prst="rect">
            <a:avLst/>
          </a:prstGeom>
          <a:noFill/>
        </p:spPr>
        <p:txBody>
          <a:bodyPr wrap="square">
            <a:spAutoFit/>
          </a:bodyPr>
          <a:lstStyle/>
          <a:p>
            <a:r>
              <a:rPr lang="en-IN" dirty="0"/>
              <a:t>main changes to </a:t>
            </a:r>
            <a:r>
              <a:rPr lang="en-IN" dirty="0" err="1"/>
              <a:t>AlexNet</a:t>
            </a:r>
            <a:r>
              <a:rPr lang="en-IN" dirty="0"/>
              <a:t>?</a:t>
            </a:r>
          </a:p>
        </p:txBody>
      </p:sp>
      <p:pic>
        <p:nvPicPr>
          <p:cNvPr id="7" name="Picture 2" descr="E:\NIET\Project\xLogo11.png.pagespeed.ic.pydHLuCQEZ.png">
            <a:extLst>
              <a:ext uri="{FF2B5EF4-FFF2-40B4-BE49-F238E27FC236}">
                <a16:creationId xmlns:a16="http://schemas.microsoft.com/office/drawing/2014/main" id="{EB76D126-F2F6-97AA-DD94-05E06950B6FF}"/>
              </a:ext>
            </a:extLst>
          </p:cNvPr>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9" name="Title 1">
            <a:extLst>
              <a:ext uri="{FF2B5EF4-FFF2-40B4-BE49-F238E27FC236}">
                <a16:creationId xmlns:a16="http://schemas.microsoft.com/office/drawing/2014/main" id="{B69994A8-126D-CB5B-2B76-26180B54110D}"/>
              </a:ext>
            </a:extLst>
          </p:cNvPr>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err="1">
                <a:latin typeface="Times New Roman" panose="02020603050405020304" pitchFamily="18" charset="0"/>
                <a:cs typeface="Times New Roman" panose="02020603050405020304" pitchFamily="18" charset="0"/>
              </a:rPr>
              <a:t>AlexNet</a:t>
            </a:r>
            <a:endParaRPr lang="en-IN" sz="2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9696880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CC2C84-7EC8-9410-D0E9-C40960C1E016}"/>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2E340DF0-AEAF-D56E-ED48-4F3B404389E6}"/>
              </a:ext>
            </a:extLst>
          </p:cNvPr>
          <p:cNvSpPr>
            <a:spLocks noGrp="1"/>
          </p:cNvSpPr>
          <p:nvPr>
            <p:ph type="ftr" sz="quarter" idx="11"/>
          </p:nvPr>
        </p:nvSpPr>
        <p:spPr/>
        <p:txBody>
          <a:bodyPr/>
          <a:lstStyle/>
          <a:p>
            <a:r>
              <a:rPr lang="it-IT"/>
              <a:t>Dr Preeti Gera            COMPUTER VISION  UNIT- IV</a:t>
            </a:r>
            <a:endParaRPr lang="en-US" dirty="0"/>
          </a:p>
        </p:txBody>
      </p:sp>
      <p:sp>
        <p:nvSpPr>
          <p:cNvPr id="4" name="Slide Number Placeholder 3">
            <a:extLst>
              <a:ext uri="{FF2B5EF4-FFF2-40B4-BE49-F238E27FC236}">
                <a16:creationId xmlns:a16="http://schemas.microsoft.com/office/drawing/2014/main" id="{ED46F537-E5C9-2B7B-E284-49E18031CE54}"/>
              </a:ext>
            </a:extLst>
          </p:cNvPr>
          <p:cNvSpPr>
            <a:spLocks noGrp="1"/>
          </p:cNvSpPr>
          <p:nvPr>
            <p:ph type="sldNum" sz="quarter" idx="12"/>
          </p:nvPr>
        </p:nvSpPr>
        <p:spPr/>
        <p:txBody>
          <a:bodyPr/>
          <a:lstStyle/>
          <a:p>
            <a:fld id="{B6F15528-21DE-4FAA-801E-634DDDAF4B2B}" type="slidenum">
              <a:rPr lang="en-US" smtClean="0"/>
              <a:pPr/>
              <a:t>95</a:t>
            </a:fld>
            <a:endParaRPr lang="en-US"/>
          </a:p>
        </p:txBody>
      </p:sp>
      <p:pic>
        <p:nvPicPr>
          <p:cNvPr id="5" name="Picture 4">
            <a:extLst>
              <a:ext uri="{FF2B5EF4-FFF2-40B4-BE49-F238E27FC236}">
                <a16:creationId xmlns:a16="http://schemas.microsoft.com/office/drawing/2014/main" id="{65D90C34-2062-78C4-2F5E-FF018D0AD2B8}"/>
              </a:ext>
            </a:extLst>
          </p:cNvPr>
          <p:cNvPicPr>
            <a:picLocks noChangeAspect="1"/>
          </p:cNvPicPr>
          <p:nvPr/>
        </p:nvPicPr>
        <p:blipFill>
          <a:blip r:embed="rId2"/>
          <a:stretch>
            <a:fillRect/>
          </a:stretch>
        </p:blipFill>
        <p:spPr>
          <a:xfrm>
            <a:off x="152400" y="57150"/>
            <a:ext cx="8839199" cy="6743700"/>
          </a:xfrm>
          <a:prstGeom prst="rect">
            <a:avLst/>
          </a:prstGeom>
        </p:spPr>
      </p:pic>
    </p:spTree>
    <p:extLst>
      <p:ext uri="{BB962C8B-B14F-4D97-AF65-F5344CB8AC3E}">
        <p14:creationId xmlns:p14="http://schemas.microsoft.com/office/powerpoint/2010/main" val="119742210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it-IT"/>
              <a:t>Dr Preeti Gera            COMPUTER VISION  UNIT- IV</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96</a:t>
            </a:fld>
            <a:endParaRPr lang="en-US"/>
          </a:p>
        </p:txBody>
      </p:sp>
      <p:sp>
        <p:nvSpPr>
          <p:cNvPr id="6"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Retrieval of Images Based on Their Contents</a:t>
            </a:r>
            <a:endParaRPr lang="en-IN" sz="2200" b="1" dirty="0">
              <a:latin typeface="Times New Roman" panose="02020603050405020304" pitchFamily="18" charset="0"/>
              <a:cs typeface="Times New Roman" panose="02020603050405020304" pitchFamily="18" charset="0"/>
            </a:endParaRP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5" name="Rectangle 4"/>
          <p:cNvSpPr/>
          <p:nvPr/>
        </p:nvSpPr>
        <p:spPr>
          <a:xfrm>
            <a:off x="266700" y="1143000"/>
            <a:ext cx="8610600" cy="1200329"/>
          </a:xfrm>
          <a:prstGeom prst="rect">
            <a:avLst/>
          </a:prstGeom>
        </p:spPr>
        <p:txBody>
          <a:bodyPr wrap="square">
            <a:spAutoFit/>
          </a:bodyPr>
          <a:lstStyle/>
          <a:p>
            <a:pPr algn="just"/>
            <a:r>
              <a:rPr lang="en-US" dirty="0">
                <a:solidFill>
                  <a:srgbClr val="003300"/>
                </a:solidFill>
                <a:latin typeface="Times New Roman" panose="02020603050405020304" pitchFamily="18" charset="0"/>
                <a:cs typeface="Times New Roman" panose="02020603050405020304" pitchFamily="18" charset="0"/>
              </a:rPr>
              <a:t>The retrieval of images based on their content is known as content-based image retrieval (CBIR). CBIR aims to find images that are visually similar or relevant to a given query image, without relying on textual metadata or annotations. It relies on the visual features extracted from the images themselves to perform the search.</a:t>
            </a:r>
            <a:endParaRPr lang="en-IN" dirty="0">
              <a:solidFill>
                <a:srgbClr val="003300"/>
              </a:solidFill>
              <a:latin typeface="Times New Roman" panose="02020603050405020304" pitchFamily="18" charset="0"/>
              <a:cs typeface="Times New Roman" panose="02020603050405020304" pitchFamily="18" charset="0"/>
            </a:endParaRPr>
          </a:p>
        </p:txBody>
      </p:sp>
      <p:pic>
        <p:nvPicPr>
          <p:cNvPr id="6146" name="Picture 2" descr="How CBIR work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1602" y="2423137"/>
            <a:ext cx="6760796" cy="202931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Text-Based Image Retrieval (TBI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8650" y="4502834"/>
            <a:ext cx="7604125" cy="18605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359737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it-IT"/>
              <a:t>Dr Preeti Gera            COMPUTER VISION  UNIT- IV</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97</a:t>
            </a:fld>
            <a:endParaRPr lang="en-US"/>
          </a:p>
        </p:txBody>
      </p:sp>
      <p:sp>
        <p:nvSpPr>
          <p:cNvPr id="6"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Retrieval of Images Based on Their Contents</a:t>
            </a:r>
            <a:endParaRPr lang="en-IN" sz="2200" b="1" dirty="0">
              <a:latin typeface="Times New Roman" panose="02020603050405020304" pitchFamily="18" charset="0"/>
              <a:cs typeface="Times New Roman" panose="02020603050405020304" pitchFamily="18" charset="0"/>
            </a:endParaRP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8" name="Rectangle 7"/>
          <p:cNvSpPr/>
          <p:nvPr/>
        </p:nvSpPr>
        <p:spPr>
          <a:xfrm>
            <a:off x="0" y="853970"/>
            <a:ext cx="9067800" cy="5355312"/>
          </a:xfrm>
          <a:prstGeom prst="rect">
            <a:avLst/>
          </a:prstGeom>
        </p:spPr>
        <p:txBody>
          <a:bodyPr wrap="square">
            <a:spAutoFit/>
          </a:bodyPr>
          <a:lstStyle/>
          <a:p>
            <a:pPr algn="just">
              <a:buFont typeface="+mj-lt"/>
              <a:buAutoNum type="arabicPeriod"/>
            </a:pPr>
            <a:r>
              <a:rPr lang="en-US" b="1" u="sng" dirty="0">
                <a:solidFill>
                  <a:srgbClr val="003300"/>
                </a:solidFill>
                <a:latin typeface="Times New Roman" panose="02020603050405020304" pitchFamily="18" charset="0"/>
                <a:cs typeface="Times New Roman" panose="02020603050405020304" pitchFamily="18" charset="0"/>
              </a:rPr>
              <a:t>Feature Extraction: </a:t>
            </a:r>
            <a:r>
              <a:rPr lang="en-US" dirty="0">
                <a:solidFill>
                  <a:srgbClr val="003300"/>
                </a:solidFill>
                <a:latin typeface="Times New Roman" panose="02020603050405020304" pitchFamily="18" charset="0"/>
                <a:cs typeface="Times New Roman" panose="02020603050405020304" pitchFamily="18" charset="0"/>
              </a:rPr>
              <a:t>The first step is to extract meaningful features from the images. Various low-level and high-level visual features can be used, such as color histograms, texture descriptors, shape descriptors, deep learning features (e.g., features from convolutional neural networks), or a combination of these. The choice of features depends on the specific requirements and characteristics of the image dataset.</a:t>
            </a:r>
          </a:p>
          <a:p>
            <a:pPr algn="just">
              <a:buFont typeface="+mj-lt"/>
              <a:buAutoNum type="arabicPeriod"/>
            </a:pPr>
            <a:r>
              <a:rPr lang="en-US" b="1" u="sng" dirty="0">
                <a:solidFill>
                  <a:srgbClr val="003300"/>
                </a:solidFill>
                <a:latin typeface="Times New Roman" panose="02020603050405020304" pitchFamily="18" charset="0"/>
                <a:cs typeface="Times New Roman" panose="02020603050405020304" pitchFamily="18" charset="0"/>
              </a:rPr>
              <a:t>Feature Representation: </a:t>
            </a:r>
            <a:r>
              <a:rPr lang="en-US" dirty="0">
                <a:solidFill>
                  <a:srgbClr val="003300"/>
                </a:solidFill>
                <a:latin typeface="Times New Roman" panose="02020603050405020304" pitchFamily="18" charset="0"/>
                <a:cs typeface="Times New Roman" panose="02020603050405020304" pitchFamily="18" charset="0"/>
              </a:rPr>
              <a:t>The extracted features are then typically transformed into a suitable representation for efficient indexing and retrieval. This can involve techniques like vector quantization, dimensionality reduction (e.g., using techniques like Principal Component Analysis or t-SNE), or feature aggregation.</a:t>
            </a:r>
          </a:p>
          <a:p>
            <a:pPr algn="just">
              <a:buFont typeface="+mj-lt"/>
              <a:buAutoNum type="arabicPeriod"/>
            </a:pPr>
            <a:r>
              <a:rPr lang="en-US" b="1" u="sng" dirty="0">
                <a:solidFill>
                  <a:srgbClr val="003300"/>
                </a:solidFill>
                <a:latin typeface="Times New Roman" panose="02020603050405020304" pitchFamily="18" charset="0"/>
                <a:cs typeface="Times New Roman" panose="02020603050405020304" pitchFamily="18" charset="0"/>
              </a:rPr>
              <a:t>Indexing: </a:t>
            </a:r>
            <a:r>
              <a:rPr lang="en-US" dirty="0">
                <a:solidFill>
                  <a:srgbClr val="003300"/>
                </a:solidFill>
                <a:latin typeface="Times New Roman" panose="02020603050405020304" pitchFamily="18" charset="0"/>
                <a:cs typeface="Times New Roman" panose="02020603050405020304" pitchFamily="18" charset="0"/>
              </a:rPr>
              <a:t>The transformed feature representations are organized in a way that enables fast search and retrieval. Indexing structures like inverted files, k-d trees, or hash-based methods are commonly used to efficiently index the feature data.</a:t>
            </a:r>
          </a:p>
          <a:p>
            <a:pPr algn="just">
              <a:buFont typeface="+mj-lt"/>
              <a:buAutoNum type="arabicPeriod"/>
            </a:pPr>
            <a:r>
              <a:rPr lang="en-US" b="1" u="sng" dirty="0">
                <a:solidFill>
                  <a:srgbClr val="003300"/>
                </a:solidFill>
                <a:latin typeface="Times New Roman" panose="02020603050405020304" pitchFamily="18" charset="0"/>
                <a:cs typeface="Times New Roman" panose="02020603050405020304" pitchFamily="18" charset="0"/>
              </a:rPr>
              <a:t>Similarity Measurement: </a:t>
            </a:r>
            <a:r>
              <a:rPr lang="en-US" dirty="0">
                <a:solidFill>
                  <a:srgbClr val="003300"/>
                </a:solidFill>
                <a:latin typeface="Times New Roman" panose="02020603050405020304" pitchFamily="18" charset="0"/>
                <a:cs typeface="Times New Roman" panose="02020603050405020304" pitchFamily="18" charset="0"/>
              </a:rPr>
              <a:t>When a query image is provided, its features are extracted and compared to the features in the indexed database. Various similarity or distance measures, such as Euclidean distance, cosine similarity, or the </a:t>
            </a:r>
            <a:r>
              <a:rPr lang="en-US" dirty="0" err="1">
                <a:solidFill>
                  <a:srgbClr val="003300"/>
                </a:solidFill>
                <a:latin typeface="Times New Roman" panose="02020603050405020304" pitchFamily="18" charset="0"/>
                <a:cs typeface="Times New Roman" panose="02020603050405020304" pitchFamily="18" charset="0"/>
              </a:rPr>
              <a:t>Jaccard</a:t>
            </a:r>
            <a:r>
              <a:rPr lang="en-US" dirty="0">
                <a:solidFill>
                  <a:srgbClr val="003300"/>
                </a:solidFill>
                <a:latin typeface="Times New Roman" panose="02020603050405020304" pitchFamily="18" charset="0"/>
                <a:cs typeface="Times New Roman" panose="02020603050405020304" pitchFamily="18" charset="0"/>
              </a:rPr>
              <a:t> index, can be used to quantify the similarity between the query features and the features of the indexed images.</a:t>
            </a:r>
          </a:p>
          <a:p>
            <a:pPr algn="just">
              <a:buFont typeface="+mj-lt"/>
              <a:buAutoNum type="arabicPeriod"/>
            </a:pPr>
            <a:r>
              <a:rPr lang="en-US" b="1" u="sng" dirty="0">
                <a:solidFill>
                  <a:srgbClr val="003300"/>
                </a:solidFill>
                <a:latin typeface="Times New Roman" panose="02020603050405020304" pitchFamily="18" charset="0"/>
                <a:cs typeface="Times New Roman" panose="02020603050405020304" pitchFamily="18" charset="0"/>
              </a:rPr>
              <a:t>Ranking and Retrieval: </a:t>
            </a:r>
            <a:r>
              <a:rPr lang="en-US" dirty="0">
                <a:solidFill>
                  <a:srgbClr val="003300"/>
                </a:solidFill>
                <a:latin typeface="Times New Roman" panose="02020603050405020304" pitchFamily="18" charset="0"/>
                <a:cs typeface="Times New Roman" panose="02020603050405020304" pitchFamily="18" charset="0"/>
              </a:rPr>
              <a:t>Based on the similarity measurements, the indexed images are ranked in descending order of relevance to the query. The most similar images are returned as the retrieval results.</a:t>
            </a:r>
            <a:endParaRPr lang="en-US" b="0" i="0" dirty="0">
              <a:solidFill>
                <a:srgbClr val="003300"/>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138918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it-IT"/>
              <a:t>Dr Preeti Gera            COMPUTER VISION  UNIT- IV</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98</a:t>
            </a:fld>
            <a:endParaRPr lang="en-US"/>
          </a:p>
        </p:txBody>
      </p:sp>
      <p:sp>
        <p:nvSpPr>
          <p:cNvPr id="6"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GB" sz="2400" b="1" dirty="0">
                <a:latin typeface="Times New Roman" panose="02020603050405020304" pitchFamily="18" charset="0"/>
                <a:cs typeface="Times New Roman" panose="02020603050405020304" pitchFamily="18" charset="0"/>
              </a:rPr>
              <a:t>Retrieval of Images Based on Their Contents</a:t>
            </a:r>
            <a:endParaRPr lang="en-IN" sz="2200" b="1" dirty="0">
              <a:latin typeface="Times New Roman" panose="02020603050405020304" pitchFamily="18" charset="0"/>
              <a:cs typeface="Times New Roman" panose="02020603050405020304" pitchFamily="18" charset="0"/>
            </a:endParaRP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pic>
        <p:nvPicPr>
          <p:cNvPr id="7170" name="Picture 2" descr="CBIR using DCN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600" y="3125487"/>
            <a:ext cx="8610600" cy="3230864"/>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p:cNvSpPr/>
          <p:nvPr/>
        </p:nvSpPr>
        <p:spPr>
          <a:xfrm>
            <a:off x="0" y="817163"/>
            <a:ext cx="9144000" cy="2308324"/>
          </a:xfrm>
          <a:prstGeom prst="rect">
            <a:avLst/>
          </a:prstGeom>
        </p:spPr>
        <p:txBody>
          <a:bodyPr wrap="square">
            <a:spAutoFit/>
          </a:bodyPr>
          <a:lstStyle/>
          <a:p>
            <a:r>
              <a:rPr lang="en-US" dirty="0">
                <a:solidFill>
                  <a:srgbClr val="003300"/>
                </a:solidFill>
                <a:latin typeface="Times New Roman" panose="02020603050405020304" pitchFamily="18" charset="0"/>
                <a:cs typeface="Times New Roman" panose="02020603050405020304" pitchFamily="18" charset="0"/>
              </a:rPr>
              <a:t>Recently, state-of-the-art CBIR systems have started using machine-learning methods such as </a:t>
            </a:r>
            <a:r>
              <a:rPr lang="en-US" dirty="0">
                <a:solidFill>
                  <a:srgbClr val="003300"/>
                </a:solidFill>
                <a:latin typeface="Times New Roman" panose="02020603050405020304" pitchFamily="18" charset="0"/>
                <a:cs typeface="Times New Roman" panose="02020603050405020304" pitchFamily="18" charset="0"/>
                <a:hlinkClick r:id="rId4"/>
              </a:rPr>
              <a:t>deep-learning algorithms</a:t>
            </a:r>
            <a:r>
              <a:rPr lang="en-US" dirty="0">
                <a:solidFill>
                  <a:srgbClr val="003300"/>
                </a:solidFill>
                <a:latin typeface="Times New Roman" panose="02020603050405020304" pitchFamily="18" charset="0"/>
                <a:cs typeface="Times New Roman" panose="02020603050405020304" pitchFamily="18" charset="0"/>
              </a:rPr>
              <a:t>. They can perform feature extraction far better than traditional methods.</a:t>
            </a:r>
          </a:p>
          <a:p>
            <a:r>
              <a:rPr lang="en-US" dirty="0">
                <a:solidFill>
                  <a:srgbClr val="003300"/>
                </a:solidFill>
                <a:latin typeface="Times New Roman" panose="02020603050405020304" pitchFamily="18" charset="0"/>
                <a:cs typeface="Times New Roman" panose="02020603050405020304" pitchFamily="18" charset="0"/>
              </a:rPr>
              <a:t>Usually, a </a:t>
            </a:r>
            <a:r>
              <a:rPr lang="en-US" dirty="0">
                <a:solidFill>
                  <a:srgbClr val="003300"/>
                </a:solidFill>
                <a:latin typeface="Times New Roman" panose="02020603050405020304" pitchFamily="18" charset="0"/>
                <a:cs typeface="Times New Roman" panose="02020603050405020304" pitchFamily="18" charset="0"/>
                <a:hlinkClick r:id="rId5"/>
              </a:rPr>
              <a:t>Deep Convolutional Neural Network (DCNN)</a:t>
            </a:r>
            <a:r>
              <a:rPr lang="en-US" dirty="0">
                <a:solidFill>
                  <a:srgbClr val="003300"/>
                </a:solidFill>
                <a:latin typeface="Times New Roman" panose="02020603050405020304" pitchFamily="18" charset="0"/>
                <a:cs typeface="Times New Roman" panose="02020603050405020304" pitchFamily="18" charset="0"/>
              </a:rPr>
              <a:t> is trained using available data. Its job is to extract features from images. So, </a:t>
            </a:r>
            <a:r>
              <a:rPr lang="en-US" b="1" dirty="0">
                <a:solidFill>
                  <a:srgbClr val="003300"/>
                </a:solidFill>
                <a:latin typeface="Times New Roman" panose="02020603050405020304" pitchFamily="18" charset="0"/>
                <a:cs typeface="Times New Roman" panose="02020603050405020304" pitchFamily="18" charset="0"/>
              </a:rPr>
              <a:t>when a user sends the query image to the database system, DCNN extracts its features.</a:t>
            </a:r>
            <a:r>
              <a:rPr lang="en-US" dirty="0">
                <a:solidFill>
                  <a:srgbClr val="003300"/>
                </a:solidFill>
                <a:latin typeface="Times New Roman" panose="02020603050405020304" pitchFamily="18" charset="0"/>
                <a:cs typeface="Times New Roman" panose="02020603050405020304" pitchFamily="18" charset="0"/>
              </a:rPr>
              <a:t> Then, the query-image features are compared to those of the database images. In that step, the database system finds the most similar images using similarity measures and returns them to the user:</a:t>
            </a:r>
            <a:endParaRPr lang="en-US" b="0" i="0" dirty="0">
              <a:solidFill>
                <a:srgbClr val="003300"/>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8304107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it-IT"/>
              <a:t>Dr Preeti Gera            COMPUTER VISION  UNIT- IV</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99</a:t>
            </a:fld>
            <a:endParaRPr lang="en-US"/>
          </a:p>
        </p:txBody>
      </p:sp>
      <p:sp>
        <p:nvSpPr>
          <p:cNvPr id="6"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200" b="1" dirty="0">
                <a:latin typeface="Times New Roman" panose="02020603050405020304" pitchFamily="18" charset="0"/>
                <a:cs typeface="Times New Roman" panose="02020603050405020304" pitchFamily="18" charset="0"/>
              </a:rPr>
              <a:t>Most popular example Categorization of IMAGES</a:t>
            </a:r>
            <a:endParaRPr lang="en-IN" sz="2200" b="1" dirty="0">
              <a:latin typeface="Times New Roman" panose="02020603050405020304" pitchFamily="18" charset="0"/>
              <a:cs typeface="Times New Roman" panose="02020603050405020304" pitchFamily="18" charset="0"/>
            </a:endParaRP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grpSp>
        <p:nvGrpSpPr>
          <p:cNvPr id="9" name="Group 8"/>
          <p:cNvGrpSpPr/>
          <p:nvPr/>
        </p:nvGrpSpPr>
        <p:grpSpPr>
          <a:xfrm>
            <a:off x="152400" y="2311428"/>
            <a:ext cx="8839200" cy="2567565"/>
            <a:chOff x="0" y="371392"/>
            <a:chExt cx="8839200" cy="2567565"/>
          </a:xfrm>
          <a:scene3d>
            <a:camera prst="orthographicFront"/>
            <a:lightRig rig="flat" dir="t"/>
          </a:scene3d>
        </p:grpSpPr>
        <p:sp>
          <p:nvSpPr>
            <p:cNvPr id="10" name="Rounded Rectangle 9"/>
            <p:cNvSpPr/>
            <p:nvPr/>
          </p:nvSpPr>
          <p:spPr>
            <a:xfrm>
              <a:off x="0" y="371392"/>
              <a:ext cx="8839200" cy="2567565"/>
            </a:xfrm>
            <a:prstGeom prst="roundRect">
              <a:avLst/>
            </a:prstGeom>
            <a:sp3d prstMaterial="dkEdge">
              <a:bevelT w="8200" h="38100"/>
            </a:sp3d>
          </p:spPr>
          <p:style>
            <a:lnRef idx="0">
              <a:schemeClr val="lt1">
                <a:hueOff val="0"/>
                <a:satOff val="0"/>
                <a:lumOff val="0"/>
                <a:alphaOff val="0"/>
              </a:schemeClr>
            </a:lnRef>
            <a:fillRef idx="2">
              <a:schemeClr val="accent1">
                <a:hueOff val="0"/>
                <a:satOff val="0"/>
                <a:lumOff val="0"/>
                <a:alphaOff val="0"/>
              </a:schemeClr>
            </a:fillRef>
            <a:effectRef idx="1">
              <a:schemeClr val="accent1">
                <a:hueOff val="0"/>
                <a:satOff val="0"/>
                <a:lumOff val="0"/>
                <a:alphaOff val="0"/>
              </a:schemeClr>
            </a:effectRef>
            <a:fontRef idx="minor">
              <a:schemeClr val="dk1"/>
            </a:fontRef>
          </p:style>
          <p:txBody>
            <a:bodyPr/>
            <a:lstStyle/>
            <a:p>
              <a:endParaRPr lang="en-IN"/>
            </a:p>
          </p:txBody>
        </p:sp>
        <p:sp>
          <p:nvSpPr>
            <p:cNvPr id="11" name="Rounded Rectangle 6"/>
            <p:cNvSpPr txBox="1"/>
            <p:nvPr/>
          </p:nvSpPr>
          <p:spPr>
            <a:xfrm>
              <a:off x="125338" y="496730"/>
              <a:ext cx="8588524" cy="2316889"/>
            </a:xfrm>
            <a:prstGeom prst="rect">
              <a:avLst/>
            </a:prstGeom>
            <a:sp3d/>
          </p:spPr>
          <p:style>
            <a:lnRef idx="0">
              <a:scrgbClr r="0" g="0" b="0"/>
            </a:lnRef>
            <a:fillRef idx="0">
              <a:scrgbClr r="0" g="0" b="0"/>
            </a:fillRef>
            <a:effectRef idx="0">
              <a:scrgbClr r="0" g="0" b="0"/>
            </a:effectRef>
            <a:fontRef idx="minor">
              <a:schemeClr val="dk1"/>
            </a:fontRef>
          </p:style>
          <p:txBody>
            <a:bodyPr spcFirstLastPara="0" vert="horz" wrap="square" lIns="80010" tIns="80010" rIns="80010" bIns="80010" numCol="1" spcCol="1270" anchor="ctr" anchorCtr="0">
              <a:noAutofit/>
            </a:bodyPr>
            <a:lstStyle/>
            <a:p>
              <a:pPr lvl="0" algn="l" defTabSz="933450">
                <a:lnSpc>
                  <a:spcPct val="90000"/>
                </a:lnSpc>
                <a:spcBef>
                  <a:spcPct val="0"/>
                </a:spcBef>
                <a:spcAft>
                  <a:spcPct val="35000"/>
                </a:spcAft>
              </a:pPr>
              <a:r>
                <a:rPr lang="en-GB" sz="2100" kern="1200" dirty="0"/>
                <a:t>Computer Vision Tasks classification, Instance segmentation. Convolutional Neural Networks, Evolution of CNN Architectures for Image, Recent CNN </a:t>
              </a:r>
              <a:endParaRPr lang="en-IN" sz="2100" kern="1200" dirty="0"/>
            </a:p>
          </p:txBody>
        </p:sp>
      </p:grpSp>
    </p:spTree>
    <p:extLst>
      <p:ext uri="{BB962C8B-B14F-4D97-AF65-F5344CB8AC3E}">
        <p14:creationId xmlns:p14="http://schemas.microsoft.com/office/powerpoint/2010/main" val="413116955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752600"/>
            <a:ext cx="8229600" cy="3916363"/>
          </a:xfrm>
        </p:spPr>
        <p:txBody>
          <a:bodyPr>
            <a:normAutofit/>
          </a:bodyPr>
          <a:lstStyle/>
          <a:p>
            <a:pPr>
              <a:buNone/>
            </a:pPr>
            <a:endParaRPr lang="en-US" sz="1800" dirty="0"/>
          </a:p>
          <a:p>
            <a:r>
              <a:rPr lang="en-US" sz="1800" b="1" u="sng" dirty="0" err="1">
                <a:solidFill>
                  <a:srgbClr val="002060"/>
                </a:solidFill>
              </a:rPr>
              <a:t>Youtube</a:t>
            </a:r>
            <a:r>
              <a:rPr lang="en-US" sz="1800" b="1" u="sng" dirty="0">
                <a:solidFill>
                  <a:srgbClr val="002060"/>
                </a:solidFill>
              </a:rPr>
              <a:t>/other  Video Links</a:t>
            </a:r>
          </a:p>
          <a:p>
            <a:pPr>
              <a:buNone/>
            </a:pPr>
            <a:endParaRPr lang="en-US" sz="1800" dirty="0">
              <a:solidFill>
                <a:srgbClr val="002060"/>
              </a:solidFill>
            </a:endParaRPr>
          </a:p>
          <a:p>
            <a:pPr>
              <a:buFont typeface="Wingdings" pitchFamily="2" charset="2"/>
              <a:buChar char="Ø"/>
            </a:pPr>
            <a:r>
              <a:rPr lang="en-US" sz="1800" dirty="0">
                <a:solidFill>
                  <a:srgbClr val="002060"/>
                </a:solidFill>
                <a:hlinkClick r:id="rId2"/>
              </a:rPr>
              <a:t>https://nptel.ac.in/courses/106106093/</a:t>
            </a:r>
            <a:endParaRPr lang="en-US" sz="1800" dirty="0">
              <a:solidFill>
                <a:srgbClr val="002060"/>
              </a:solidFill>
            </a:endParaRPr>
          </a:p>
          <a:p>
            <a:pPr>
              <a:buNone/>
            </a:pPr>
            <a:endParaRPr lang="en-US" sz="1800" dirty="0">
              <a:solidFill>
                <a:srgbClr val="002060"/>
              </a:solidFill>
            </a:endParaRPr>
          </a:p>
          <a:p>
            <a:pPr>
              <a:buFont typeface="Wingdings" pitchFamily="2" charset="2"/>
              <a:buChar char="Ø"/>
            </a:pPr>
            <a:r>
              <a:rPr lang="en-US" sz="1800" dirty="0">
                <a:solidFill>
                  <a:srgbClr val="002060"/>
                </a:solidFill>
                <a:hlinkClick r:id="rId3"/>
              </a:rPr>
              <a:t>https://www.youtube.com/watch?v=m-aKj5ovDfg</a:t>
            </a:r>
            <a:endParaRPr lang="en-US" sz="1800" dirty="0">
              <a:solidFill>
                <a:srgbClr val="002060"/>
              </a:solidFill>
            </a:endParaRPr>
          </a:p>
          <a:p>
            <a:pPr>
              <a:buNone/>
            </a:pPr>
            <a:endParaRPr lang="en-US" sz="1800" dirty="0">
              <a:solidFill>
                <a:srgbClr val="002060"/>
              </a:solidFill>
            </a:endParaRPr>
          </a:p>
          <a:p>
            <a:pPr>
              <a:buFont typeface="Wingdings" pitchFamily="2" charset="2"/>
              <a:buChar char="Ø"/>
            </a:pPr>
            <a:r>
              <a:rPr lang="en-US" sz="1800" dirty="0">
                <a:solidFill>
                  <a:srgbClr val="002060"/>
                </a:solidFill>
                <a:hlinkClick r:id="rId4"/>
              </a:rPr>
              <a:t>https://www.youtube.com/watch?v=G4NYQox4n2g</a:t>
            </a:r>
            <a:endParaRPr lang="en-US" sz="1800" dirty="0">
              <a:solidFill>
                <a:srgbClr val="002060"/>
              </a:solidFill>
            </a:endParaRP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100</a:t>
            </a:fld>
            <a:endParaRPr lang="en-US"/>
          </a:p>
        </p:txBody>
      </p:sp>
      <p:sp>
        <p:nvSpPr>
          <p:cNvPr id="7" name="Title 1"/>
          <p:cNvSpPr txBox="1">
            <a:spLocks/>
          </p:cNvSpPr>
          <p:nvPr/>
        </p:nvSpPr>
        <p:spPr>
          <a:xfrm>
            <a:off x="1371600" y="0"/>
            <a:ext cx="7772400" cy="1066800"/>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none" strike="noStrike" kern="1200" cap="none" spc="0" normalizeH="0" baseline="0" noProof="0" dirty="0">
                <a:ln>
                  <a:noFill/>
                </a:ln>
                <a:solidFill>
                  <a:schemeClr val="dk1"/>
                </a:solidFill>
                <a:effectLst/>
                <a:uLnTx/>
                <a:uFillTx/>
                <a:latin typeface="+mn-lt"/>
                <a:ea typeface="+mn-ea"/>
                <a:cs typeface="+mn-cs"/>
              </a:rPr>
              <a:t>Faculty Video</a:t>
            </a:r>
            <a:r>
              <a:rPr kumimoji="0" lang="en-US" sz="2400" b="1" i="0" u="none" strike="noStrike" kern="1200" cap="none" spc="0" normalizeH="0" noProof="0" dirty="0">
                <a:ln>
                  <a:noFill/>
                </a:ln>
                <a:solidFill>
                  <a:schemeClr val="dk1"/>
                </a:solidFill>
                <a:effectLst/>
                <a:uLnTx/>
                <a:uFillTx/>
                <a:latin typeface="+mn-lt"/>
                <a:ea typeface="+mn-ea"/>
                <a:cs typeface="+mn-cs"/>
              </a:rPr>
              <a:t> Links, </a:t>
            </a:r>
            <a:r>
              <a:rPr kumimoji="0" lang="en-US" sz="2400" b="1" i="0" u="none" strike="noStrike" kern="1200" cap="none" spc="0" normalizeH="0" noProof="0" dirty="0" err="1">
                <a:ln>
                  <a:noFill/>
                </a:ln>
                <a:solidFill>
                  <a:schemeClr val="dk1"/>
                </a:solidFill>
                <a:effectLst/>
                <a:uLnTx/>
                <a:uFillTx/>
                <a:latin typeface="+mn-lt"/>
                <a:ea typeface="+mn-ea"/>
                <a:cs typeface="+mn-cs"/>
              </a:rPr>
              <a:t>Youtube</a:t>
            </a:r>
            <a:r>
              <a:rPr kumimoji="0" lang="en-US" sz="2400" b="1" i="0" u="none" strike="noStrike" kern="1200" cap="none" spc="0" normalizeH="0" noProof="0" dirty="0">
                <a:ln>
                  <a:noFill/>
                </a:ln>
                <a:solidFill>
                  <a:schemeClr val="dk1"/>
                </a:solidFill>
                <a:effectLst/>
                <a:uLnTx/>
                <a:uFillTx/>
                <a:latin typeface="+mn-lt"/>
                <a:ea typeface="+mn-ea"/>
                <a:cs typeface="+mn-cs"/>
              </a:rPr>
              <a:t> &amp; NPTEL Video Links and Online Courses Details  </a:t>
            </a:r>
            <a:endParaRPr kumimoji="0" lang="en-US" sz="2400" b="1" i="0" u="none" strike="noStrike" kern="1200" cap="none" spc="0" normalizeH="0" baseline="0" noProof="0" dirty="0">
              <a:ln>
                <a:noFill/>
              </a:ln>
              <a:solidFill>
                <a:schemeClr val="dk1"/>
              </a:solidFill>
              <a:effectLst/>
              <a:uLnTx/>
              <a:uFillTx/>
              <a:latin typeface="+mn-lt"/>
              <a:ea typeface="+mn-ea"/>
              <a:cs typeface="+mn-cs"/>
            </a:endParaRPr>
          </a:p>
        </p:txBody>
      </p:sp>
      <p:pic>
        <p:nvPicPr>
          <p:cNvPr id="8" name="Picture 2" descr="E:\NIET\Project\xLogo11.png.pagespeed.ic.pydHLuCQEZ.png"/>
          <p:cNvPicPr>
            <a:picLocks noChangeAspect="1" noChangeArrowheads="1"/>
          </p:cNvPicPr>
          <p:nvPr/>
        </p:nvPicPr>
        <p:blipFill>
          <a:blip r:embed="rId5"/>
          <a:srcRect/>
          <a:stretch>
            <a:fillRect/>
          </a:stretch>
        </p:blipFill>
        <p:spPr bwMode="auto">
          <a:xfrm>
            <a:off x="0" y="0"/>
            <a:ext cx="1447800" cy="817163"/>
          </a:xfrm>
          <a:prstGeom prst="rect">
            <a:avLst/>
          </a:prstGeom>
          <a:noFill/>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10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anim calcmode="lin" valueType="num">
                                      <p:cBhvr additive="base">
                                        <p:cTn id="11"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2" dur="1000" fill="hold"/>
                                        <p:tgtEl>
                                          <p:spTgt spid="3">
                                            <p:txEl>
                                              <p:pRg st="3" end="3"/>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 calcmode="lin" valueType="num">
                                      <p:cBhvr additive="base">
                                        <p:cTn id="15"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6" dur="1000" fill="hold"/>
                                        <p:tgtEl>
                                          <p:spTgt spid="3">
                                            <p:txEl>
                                              <p:pRg st="5" end="5"/>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anim calcmode="lin" valueType="num">
                                      <p:cBhvr additive="base">
                                        <p:cTn id="19"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20" dur="10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838200"/>
            <a:ext cx="8229600" cy="5334000"/>
          </a:xfrm>
        </p:spPr>
        <p:txBody>
          <a:bodyPr>
            <a:noAutofit/>
          </a:bodyPr>
          <a:lstStyle/>
          <a:p>
            <a:pPr marL="457200" indent="-457200">
              <a:lnSpc>
                <a:spcPct val="150000"/>
              </a:lnSpc>
              <a:buFont typeface="+mj-lt"/>
              <a:buAutoNum type="arabicPeriod"/>
            </a:pPr>
            <a:r>
              <a:rPr lang="en-US" dirty="0"/>
              <a:t>What is computer vision?</a:t>
            </a:r>
          </a:p>
          <a:p>
            <a:pPr marL="457200" indent="-457200">
              <a:lnSpc>
                <a:spcPct val="150000"/>
              </a:lnSpc>
              <a:buFont typeface="+mj-lt"/>
              <a:buAutoNum type="arabicPeriod"/>
            </a:pPr>
            <a:r>
              <a:rPr lang="en-US" dirty="0"/>
              <a:t>Name three common applications of computer vision.</a:t>
            </a:r>
          </a:p>
          <a:p>
            <a:pPr marL="457200" indent="-457200">
              <a:lnSpc>
                <a:spcPct val="150000"/>
              </a:lnSpc>
              <a:buFont typeface="+mj-lt"/>
              <a:buAutoNum type="arabicPeriod"/>
            </a:pPr>
            <a:r>
              <a:rPr lang="en-US" dirty="0"/>
              <a:t>What is the purpose of image segmentation in computer vision?</a:t>
            </a:r>
          </a:p>
          <a:p>
            <a:pPr marL="457200" indent="-457200">
              <a:lnSpc>
                <a:spcPct val="150000"/>
              </a:lnSpc>
              <a:buFont typeface="+mj-lt"/>
              <a:buAutoNum type="arabicPeriod"/>
            </a:pPr>
            <a:r>
              <a:rPr lang="en-US" dirty="0"/>
              <a:t>What is the difference between object detection and object recognition?</a:t>
            </a:r>
          </a:p>
          <a:p>
            <a:pPr marL="457200" indent="-457200">
              <a:lnSpc>
                <a:spcPct val="150000"/>
              </a:lnSpc>
              <a:buFont typeface="+mj-lt"/>
              <a:buAutoNum type="arabicPeriod"/>
            </a:pPr>
            <a:r>
              <a:rPr lang="en-US" dirty="0"/>
              <a:t>Explain the concept of convolution in convolutional neural networks (CNNs).</a:t>
            </a:r>
          </a:p>
          <a:p>
            <a:pPr>
              <a:lnSpc>
                <a:spcPct val="150000"/>
              </a:lnSpc>
            </a:pPr>
            <a:endParaRPr lang="en-US" sz="1800"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101</a:t>
            </a:fld>
            <a:endParaRPr lang="en-US"/>
          </a:p>
        </p:txBody>
      </p:sp>
      <p:sp>
        <p:nvSpPr>
          <p:cNvPr id="7"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b="1" u="sng" dirty="0">
                <a:effectLst>
                  <a:outerShdw blurRad="38100" dist="38100" dir="2700000" algn="tl">
                    <a:srgbClr val="000000">
                      <a:alpha val="43137"/>
                    </a:srgbClr>
                  </a:outerShdw>
                </a:effectLst>
              </a:rPr>
              <a:t>DAILY QUIZ</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990600"/>
            <a:ext cx="8229600" cy="5029200"/>
          </a:xfrm>
        </p:spPr>
        <p:txBody>
          <a:bodyPr>
            <a:normAutofit/>
          </a:bodyPr>
          <a:lstStyle/>
          <a:p>
            <a:pPr marL="457200" indent="-457200">
              <a:lnSpc>
                <a:spcPct val="150000"/>
              </a:lnSpc>
              <a:buFont typeface="+mj-lt"/>
              <a:buAutoNum type="arabicPeriod"/>
            </a:pPr>
            <a:r>
              <a:rPr lang="en-US" sz="1800" dirty="0"/>
              <a:t>What is optical character recognition (OCR) used for in computer vision?</a:t>
            </a:r>
          </a:p>
          <a:p>
            <a:pPr marL="457200" indent="-457200">
              <a:lnSpc>
                <a:spcPct val="150000"/>
              </a:lnSpc>
              <a:buFont typeface="+mj-lt"/>
              <a:buAutoNum type="arabicPeriod"/>
            </a:pPr>
            <a:r>
              <a:rPr lang="en-US" sz="1800" dirty="0"/>
              <a:t>What is the purpose of non-maximum suppression in object detection algorithms?</a:t>
            </a:r>
          </a:p>
          <a:p>
            <a:pPr marL="457200" indent="-457200">
              <a:lnSpc>
                <a:spcPct val="150000"/>
              </a:lnSpc>
              <a:buFont typeface="+mj-lt"/>
              <a:buAutoNum type="arabicPeriod"/>
            </a:pPr>
            <a:r>
              <a:rPr lang="en-US" sz="1800" dirty="0"/>
              <a:t>What are some common challenges faced in computer vision tasks?</a:t>
            </a:r>
          </a:p>
          <a:p>
            <a:pPr marL="457200" indent="-457200">
              <a:lnSpc>
                <a:spcPct val="150000"/>
              </a:lnSpc>
              <a:buFont typeface="+mj-lt"/>
              <a:buAutoNum type="arabicPeriod"/>
            </a:pPr>
            <a:r>
              <a:rPr lang="en-US" sz="1800" dirty="0"/>
              <a:t>What is the difference between supervised and unsupervised learning in computer vision?</a:t>
            </a:r>
          </a:p>
          <a:p>
            <a:pPr marL="457200" indent="-457200">
              <a:lnSpc>
                <a:spcPct val="150000"/>
              </a:lnSpc>
              <a:buFont typeface="+mj-lt"/>
              <a:buAutoNum type="arabicPeriod"/>
            </a:pPr>
            <a:r>
              <a:rPr lang="en-US" sz="1800" dirty="0"/>
              <a:t>Name three popular deep learning architectures used in computer vision.</a:t>
            </a:r>
          </a:p>
          <a:p>
            <a:pPr marL="0" indent="0">
              <a:buNone/>
            </a:pPr>
            <a:endParaRPr lang="en-US" sz="1800"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102</a:t>
            </a:fld>
            <a:endParaRPr lang="en-US"/>
          </a:p>
        </p:txBody>
      </p:sp>
      <p:sp>
        <p:nvSpPr>
          <p:cNvPr id="7"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b="1" u="sng" dirty="0">
                <a:effectLst>
                  <a:outerShdw blurRad="38100" dist="38100" dir="2700000" algn="tl">
                    <a:srgbClr val="000000">
                      <a:alpha val="43137"/>
                    </a:srgbClr>
                  </a:outerShdw>
                </a:effectLst>
              </a:rPr>
              <a:t>DAILY QUIZ</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990600"/>
            <a:ext cx="8382000" cy="5334000"/>
          </a:xfrm>
        </p:spPr>
        <p:txBody>
          <a:bodyPr>
            <a:normAutofit/>
          </a:bodyPr>
          <a:lstStyle/>
          <a:p>
            <a:pPr marL="457200" indent="-457200">
              <a:buFont typeface="+mj-lt"/>
              <a:buAutoNum type="arabicPeriod"/>
            </a:pPr>
            <a:r>
              <a:rPr lang="en-US" dirty="0"/>
              <a:t>Explain the concept of image filtering and provide examples of commonly used filters in computer vision.</a:t>
            </a:r>
          </a:p>
          <a:p>
            <a:pPr marL="457200" indent="-457200">
              <a:buFont typeface="+mj-lt"/>
              <a:buAutoNum type="arabicPeriod"/>
            </a:pPr>
            <a:r>
              <a:rPr lang="en-US" dirty="0"/>
              <a:t>Discuss the differences between image classification and object detection in computer vision. Provide examples of each.</a:t>
            </a:r>
          </a:p>
          <a:p>
            <a:pPr marL="457200" indent="-457200">
              <a:buFont typeface="+mj-lt"/>
              <a:buAutoNum type="arabicPeriod"/>
            </a:pPr>
            <a:r>
              <a:rPr lang="en-US" dirty="0"/>
              <a:t>Explain the process of feature extraction in computer vision. How are features used in tasks like object recognition or image matching?</a:t>
            </a:r>
          </a:p>
          <a:p>
            <a:pPr marL="457200" indent="-457200">
              <a:buFont typeface="+mj-lt"/>
              <a:buAutoNum type="arabicPeriod"/>
            </a:pPr>
            <a:r>
              <a:rPr lang="en-US" dirty="0"/>
              <a:t>Describe the steps involved in building a convolutional neural network (CNN) for image classification. Discuss the purpose of each step.</a:t>
            </a:r>
          </a:p>
          <a:p>
            <a:pPr marL="457200" indent="-457200">
              <a:buFont typeface="+mj-lt"/>
              <a:buAutoNum type="arabicPeriod"/>
            </a:pPr>
            <a:endParaRPr lang="en-US"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103</a:t>
            </a:fld>
            <a:endParaRPr lang="en-US" dirty="0"/>
          </a:p>
        </p:txBody>
      </p:sp>
      <p:sp>
        <p:nvSpPr>
          <p:cNvPr id="7"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WEEKLY</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ASSIGNMENT</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strVal val="#ppt_w*0.70"/>
                                          </p:val>
                                        </p:tav>
                                        <p:tav tm="100000">
                                          <p:val>
                                            <p:strVal val="#ppt_w"/>
                                          </p:val>
                                        </p:tav>
                                      </p:tavLst>
                                    </p:anim>
                                    <p:anim calcmode="lin" valueType="num">
                                      <p:cBhvr>
                                        <p:cTn id="8" dur="1000" fill="hold"/>
                                        <p:tgtEl>
                                          <p:spTgt spid="3">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3">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5"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 calcmode="lin" valueType="num">
                                      <p:cBhvr>
                                        <p:cTn id="14" dur="1000" fill="hold"/>
                                        <p:tgtEl>
                                          <p:spTgt spid="3">
                                            <p:txEl>
                                              <p:pRg st="1" end="1"/>
                                            </p:txEl>
                                          </p:spTgt>
                                        </p:tgtEl>
                                        <p:attrNameLst>
                                          <p:attrName>ppt_w</p:attrName>
                                        </p:attrNameLst>
                                      </p:cBhvr>
                                      <p:tavLst>
                                        <p:tav tm="0">
                                          <p:val>
                                            <p:strVal val="#ppt_w*0.70"/>
                                          </p:val>
                                        </p:tav>
                                        <p:tav tm="100000">
                                          <p:val>
                                            <p:strVal val="#ppt_w"/>
                                          </p:val>
                                        </p:tav>
                                      </p:tavLst>
                                    </p:anim>
                                    <p:anim calcmode="lin" valueType="num">
                                      <p:cBhvr>
                                        <p:cTn id="15" dur="1000" fill="hold"/>
                                        <p:tgtEl>
                                          <p:spTgt spid="3">
                                            <p:txEl>
                                              <p:pRg st="1" end="1"/>
                                            </p:txEl>
                                          </p:spTgt>
                                        </p:tgtEl>
                                        <p:attrNameLst>
                                          <p:attrName>ppt_h</p:attrName>
                                        </p:attrNameLst>
                                      </p:cBhvr>
                                      <p:tavLst>
                                        <p:tav tm="0">
                                          <p:val>
                                            <p:strVal val="#ppt_h"/>
                                          </p:val>
                                        </p:tav>
                                        <p:tav tm="100000">
                                          <p:val>
                                            <p:strVal val="#ppt_h"/>
                                          </p:val>
                                        </p:tav>
                                      </p:tavLst>
                                    </p:anim>
                                    <p:animEffect transition="in" filter="fade">
                                      <p:cBhvr>
                                        <p:cTn id="16" dur="1000"/>
                                        <p:tgtEl>
                                          <p:spTgt spid="3">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5"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p:cTn id="21" dur="1000" fill="hold"/>
                                        <p:tgtEl>
                                          <p:spTgt spid="3">
                                            <p:txEl>
                                              <p:pRg st="2" end="2"/>
                                            </p:txEl>
                                          </p:spTgt>
                                        </p:tgtEl>
                                        <p:attrNameLst>
                                          <p:attrName>ppt_w</p:attrName>
                                        </p:attrNameLst>
                                      </p:cBhvr>
                                      <p:tavLst>
                                        <p:tav tm="0">
                                          <p:val>
                                            <p:strVal val="#ppt_w*0.70"/>
                                          </p:val>
                                        </p:tav>
                                        <p:tav tm="100000">
                                          <p:val>
                                            <p:strVal val="#ppt_w"/>
                                          </p:val>
                                        </p:tav>
                                      </p:tavLst>
                                    </p:anim>
                                    <p:anim calcmode="lin" valueType="num">
                                      <p:cBhvr>
                                        <p:cTn id="22" dur="1000" fill="hold"/>
                                        <p:tgtEl>
                                          <p:spTgt spid="3">
                                            <p:txEl>
                                              <p:pRg st="2" end="2"/>
                                            </p:txEl>
                                          </p:spTgt>
                                        </p:tgtEl>
                                        <p:attrNameLst>
                                          <p:attrName>ppt_h</p:attrName>
                                        </p:attrNameLst>
                                      </p:cBhvr>
                                      <p:tavLst>
                                        <p:tav tm="0">
                                          <p:val>
                                            <p:strVal val="#ppt_h"/>
                                          </p:val>
                                        </p:tav>
                                        <p:tav tm="100000">
                                          <p:val>
                                            <p:strVal val="#ppt_h"/>
                                          </p:val>
                                        </p:tav>
                                      </p:tavLst>
                                    </p:anim>
                                    <p:animEffect transition="in" filter="fade">
                                      <p:cBhvr>
                                        <p:cTn id="23" dur="10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5"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 calcmode="lin" valueType="num">
                                      <p:cBhvr>
                                        <p:cTn id="28" dur="1000" fill="hold"/>
                                        <p:tgtEl>
                                          <p:spTgt spid="3">
                                            <p:txEl>
                                              <p:pRg st="3" end="3"/>
                                            </p:txEl>
                                          </p:spTgt>
                                        </p:tgtEl>
                                        <p:attrNameLst>
                                          <p:attrName>ppt_w</p:attrName>
                                        </p:attrNameLst>
                                      </p:cBhvr>
                                      <p:tavLst>
                                        <p:tav tm="0">
                                          <p:val>
                                            <p:strVal val="#ppt_w*0.70"/>
                                          </p:val>
                                        </p:tav>
                                        <p:tav tm="100000">
                                          <p:val>
                                            <p:strVal val="#ppt_w"/>
                                          </p:val>
                                        </p:tav>
                                      </p:tavLst>
                                    </p:anim>
                                    <p:anim calcmode="lin" valueType="num">
                                      <p:cBhvr>
                                        <p:cTn id="29" dur="1000" fill="hold"/>
                                        <p:tgtEl>
                                          <p:spTgt spid="3">
                                            <p:txEl>
                                              <p:pRg st="3" end="3"/>
                                            </p:txEl>
                                          </p:spTgt>
                                        </p:tgtEl>
                                        <p:attrNameLst>
                                          <p:attrName>ppt_h</p:attrName>
                                        </p:attrNameLst>
                                      </p:cBhvr>
                                      <p:tavLst>
                                        <p:tav tm="0">
                                          <p:val>
                                            <p:strVal val="#ppt_h"/>
                                          </p:val>
                                        </p:tav>
                                        <p:tav tm="100000">
                                          <p:val>
                                            <p:strVal val="#ppt_h"/>
                                          </p:val>
                                        </p:tav>
                                      </p:tavLst>
                                    </p:anim>
                                    <p:animEffect transition="in" filter="fade">
                                      <p:cBhvr>
                                        <p:cTn id="30"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990600"/>
            <a:ext cx="8382000" cy="5334000"/>
          </a:xfrm>
        </p:spPr>
        <p:txBody>
          <a:bodyPr>
            <a:normAutofit/>
          </a:bodyPr>
          <a:lstStyle/>
          <a:p>
            <a:pPr marL="457200" indent="-457200">
              <a:buFont typeface="+mj-lt"/>
              <a:buAutoNum type="arabicPeriod"/>
            </a:pPr>
            <a:r>
              <a:rPr lang="en-US" dirty="0"/>
              <a:t>Discuss the challenges and potential solutions for handling occlusion in object detection algorithms.</a:t>
            </a:r>
          </a:p>
          <a:p>
            <a:pPr marL="457200" indent="-457200">
              <a:buFont typeface="+mj-lt"/>
              <a:buAutoNum type="arabicPeriod"/>
            </a:pPr>
            <a:r>
              <a:rPr lang="en-US" dirty="0"/>
              <a:t>Compare and contrast traditional computer vision techniques with deep learning-based approaches. What are the advantages and limitations of each?</a:t>
            </a:r>
          </a:p>
          <a:p>
            <a:pPr marL="457200" indent="-457200">
              <a:buFont typeface="+mj-lt"/>
              <a:buAutoNum type="arabicPeriod"/>
            </a:pPr>
            <a:r>
              <a:rPr lang="en-US" dirty="0"/>
              <a:t>Explain the concept of image segmentation and its applications in computer vision. Discuss different segmentation methods.</a:t>
            </a:r>
          </a:p>
          <a:p>
            <a:pPr marL="457200" indent="-457200">
              <a:buFont typeface="+mj-lt"/>
              <a:buAutoNum type="arabicPeriod"/>
            </a:pPr>
            <a:r>
              <a:rPr lang="en-US" dirty="0"/>
              <a:t>Discuss the concept of optical flow in computer vision. How is it used to analyze motion in videos or sequences of images?</a:t>
            </a:r>
          </a:p>
          <a:p>
            <a:pPr marL="457200" indent="-457200">
              <a:buFont typeface="+mj-lt"/>
              <a:buAutoNum type="arabicPeriod"/>
            </a:pPr>
            <a:r>
              <a:rPr lang="en-US" dirty="0"/>
              <a:t>Explain the concept of image registration and its applications in computer vision. Provide examples of scenarios where image registration is useful.</a:t>
            </a:r>
          </a:p>
          <a:p>
            <a:pPr marL="457200" indent="-457200">
              <a:buFont typeface="+mj-lt"/>
              <a:buAutoNum type="arabicPeriod"/>
            </a:pPr>
            <a:r>
              <a:rPr lang="en-US" dirty="0"/>
              <a:t>Discuss the role of data augmentation techniques in computer vision tasks. How can data augmentation improve the performance of deep learning models?</a:t>
            </a:r>
          </a:p>
          <a:p>
            <a:pPr>
              <a:buNone/>
            </a:pPr>
            <a:endParaRPr lang="en-US" sz="1800"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104</a:t>
            </a:fld>
            <a:endParaRPr lang="en-US" dirty="0"/>
          </a:p>
        </p:txBody>
      </p:sp>
      <p:sp>
        <p:nvSpPr>
          <p:cNvPr id="7"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WEEKLY</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ASSIGNMENT</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310792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strVal val="#ppt_w*0.70"/>
                                          </p:val>
                                        </p:tav>
                                        <p:tav tm="100000">
                                          <p:val>
                                            <p:strVal val="#ppt_w"/>
                                          </p:val>
                                        </p:tav>
                                      </p:tavLst>
                                    </p:anim>
                                    <p:anim calcmode="lin" valueType="num">
                                      <p:cBhvr>
                                        <p:cTn id="8" dur="1000" fill="hold"/>
                                        <p:tgtEl>
                                          <p:spTgt spid="3">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3">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5"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 calcmode="lin" valueType="num">
                                      <p:cBhvr>
                                        <p:cTn id="14" dur="1000" fill="hold"/>
                                        <p:tgtEl>
                                          <p:spTgt spid="3">
                                            <p:txEl>
                                              <p:pRg st="1" end="1"/>
                                            </p:txEl>
                                          </p:spTgt>
                                        </p:tgtEl>
                                        <p:attrNameLst>
                                          <p:attrName>ppt_w</p:attrName>
                                        </p:attrNameLst>
                                      </p:cBhvr>
                                      <p:tavLst>
                                        <p:tav tm="0">
                                          <p:val>
                                            <p:strVal val="#ppt_w*0.70"/>
                                          </p:val>
                                        </p:tav>
                                        <p:tav tm="100000">
                                          <p:val>
                                            <p:strVal val="#ppt_w"/>
                                          </p:val>
                                        </p:tav>
                                      </p:tavLst>
                                    </p:anim>
                                    <p:anim calcmode="lin" valueType="num">
                                      <p:cBhvr>
                                        <p:cTn id="15" dur="1000" fill="hold"/>
                                        <p:tgtEl>
                                          <p:spTgt spid="3">
                                            <p:txEl>
                                              <p:pRg st="1" end="1"/>
                                            </p:txEl>
                                          </p:spTgt>
                                        </p:tgtEl>
                                        <p:attrNameLst>
                                          <p:attrName>ppt_h</p:attrName>
                                        </p:attrNameLst>
                                      </p:cBhvr>
                                      <p:tavLst>
                                        <p:tav tm="0">
                                          <p:val>
                                            <p:strVal val="#ppt_h"/>
                                          </p:val>
                                        </p:tav>
                                        <p:tav tm="100000">
                                          <p:val>
                                            <p:strVal val="#ppt_h"/>
                                          </p:val>
                                        </p:tav>
                                      </p:tavLst>
                                    </p:anim>
                                    <p:animEffect transition="in" filter="fade">
                                      <p:cBhvr>
                                        <p:cTn id="16" dur="1000"/>
                                        <p:tgtEl>
                                          <p:spTgt spid="3">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5"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p:cTn id="21" dur="1000" fill="hold"/>
                                        <p:tgtEl>
                                          <p:spTgt spid="3">
                                            <p:txEl>
                                              <p:pRg st="2" end="2"/>
                                            </p:txEl>
                                          </p:spTgt>
                                        </p:tgtEl>
                                        <p:attrNameLst>
                                          <p:attrName>ppt_w</p:attrName>
                                        </p:attrNameLst>
                                      </p:cBhvr>
                                      <p:tavLst>
                                        <p:tav tm="0">
                                          <p:val>
                                            <p:strVal val="#ppt_w*0.70"/>
                                          </p:val>
                                        </p:tav>
                                        <p:tav tm="100000">
                                          <p:val>
                                            <p:strVal val="#ppt_w"/>
                                          </p:val>
                                        </p:tav>
                                      </p:tavLst>
                                    </p:anim>
                                    <p:anim calcmode="lin" valueType="num">
                                      <p:cBhvr>
                                        <p:cTn id="22" dur="1000" fill="hold"/>
                                        <p:tgtEl>
                                          <p:spTgt spid="3">
                                            <p:txEl>
                                              <p:pRg st="2" end="2"/>
                                            </p:txEl>
                                          </p:spTgt>
                                        </p:tgtEl>
                                        <p:attrNameLst>
                                          <p:attrName>ppt_h</p:attrName>
                                        </p:attrNameLst>
                                      </p:cBhvr>
                                      <p:tavLst>
                                        <p:tav tm="0">
                                          <p:val>
                                            <p:strVal val="#ppt_h"/>
                                          </p:val>
                                        </p:tav>
                                        <p:tav tm="100000">
                                          <p:val>
                                            <p:strVal val="#ppt_h"/>
                                          </p:val>
                                        </p:tav>
                                      </p:tavLst>
                                    </p:anim>
                                    <p:animEffect transition="in" filter="fade">
                                      <p:cBhvr>
                                        <p:cTn id="23" dur="10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5"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 calcmode="lin" valueType="num">
                                      <p:cBhvr>
                                        <p:cTn id="28" dur="1000" fill="hold"/>
                                        <p:tgtEl>
                                          <p:spTgt spid="3">
                                            <p:txEl>
                                              <p:pRg st="3" end="3"/>
                                            </p:txEl>
                                          </p:spTgt>
                                        </p:tgtEl>
                                        <p:attrNameLst>
                                          <p:attrName>ppt_w</p:attrName>
                                        </p:attrNameLst>
                                      </p:cBhvr>
                                      <p:tavLst>
                                        <p:tav tm="0">
                                          <p:val>
                                            <p:strVal val="#ppt_w*0.70"/>
                                          </p:val>
                                        </p:tav>
                                        <p:tav tm="100000">
                                          <p:val>
                                            <p:strVal val="#ppt_w"/>
                                          </p:val>
                                        </p:tav>
                                      </p:tavLst>
                                    </p:anim>
                                    <p:anim calcmode="lin" valueType="num">
                                      <p:cBhvr>
                                        <p:cTn id="29" dur="1000" fill="hold"/>
                                        <p:tgtEl>
                                          <p:spTgt spid="3">
                                            <p:txEl>
                                              <p:pRg st="3" end="3"/>
                                            </p:txEl>
                                          </p:spTgt>
                                        </p:tgtEl>
                                        <p:attrNameLst>
                                          <p:attrName>ppt_h</p:attrName>
                                        </p:attrNameLst>
                                      </p:cBhvr>
                                      <p:tavLst>
                                        <p:tav tm="0">
                                          <p:val>
                                            <p:strVal val="#ppt_h"/>
                                          </p:val>
                                        </p:tav>
                                        <p:tav tm="100000">
                                          <p:val>
                                            <p:strVal val="#ppt_h"/>
                                          </p:val>
                                        </p:tav>
                                      </p:tavLst>
                                    </p:anim>
                                    <p:animEffect transition="in" filter="fade">
                                      <p:cBhvr>
                                        <p:cTn id="30" dur="1000"/>
                                        <p:tgtEl>
                                          <p:spTgt spid="3">
                                            <p:txEl>
                                              <p:pRg st="3" end="3"/>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55"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strVal val="#ppt_w*0.70"/>
                                          </p:val>
                                        </p:tav>
                                        <p:tav tm="100000">
                                          <p:val>
                                            <p:strVal val="#ppt_w"/>
                                          </p:val>
                                        </p:tav>
                                      </p:tavLst>
                                    </p:anim>
                                    <p:anim calcmode="lin" valueType="num">
                                      <p:cBhvr>
                                        <p:cTn id="36" dur="1000" fill="hold"/>
                                        <p:tgtEl>
                                          <p:spTgt spid="3">
                                            <p:txEl>
                                              <p:pRg st="4" end="4"/>
                                            </p:txEl>
                                          </p:spTgt>
                                        </p:tgtEl>
                                        <p:attrNameLst>
                                          <p:attrName>ppt_h</p:attrName>
                                        </p:attrNameLst>
                                      </p:cBhvr>
                                      <p:tavLst>
                                        <p:tav tm="0">
                                          <p:val>
                                            <p:strVal val="#ppt_h"/>
                                          </p:val>
                                        </p:tav>
                                        <p:tav tm="100000">
                                          <p:val>
                                            <p:strVal val="#ppt_h"/>
                                          </p:val>
                                        </p:tav>
                                      </p:tavLst>
                                    </p:anim>
                                    <p:animEffect transition="in" filter="fade">
                                      <p:cBhvr>
                                        <p:cTn id="37" dur="1000"/>
                                        <p:tgtEl>
                                          <p:spTgt spid="3">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55" presetClass="entr" presetSubtype="0" fill="hold"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 calcmode="lin" valueType="num">
                                      <p:cBhvr>
                                        <p:cTn id="42" dur="1000" fill="hold"/>
                                        <p:tgtEl>
                                          <p:spTgt spid="3">
                                            <p:txEl>
                                              <p:pRg st="5" end="5"/>
                                            </p:txEl>
                                          </p:spTgt>
                                        </p:tgtEl>
                                        <p:attrNameLst>
                                          <p:attrName>ppt_w</p:attrName>
                                        </p:attrNameLst>
                                      </p:cBhvr>
                                      <p:tavLst>
                                        <p:tav tm="0">
                                          <p:val>
                                            <p:strVal val="#ppt_w*0.70"/>
                                          </p:val>
                                        </p:tav>
                                        <p:tav tm="100000">
                                          <p:val>
                                            <p:strVal val="#ppt_w"/>
                                          </p:val>
                                        </p:tav>
                                      </p:tavLst>
                                    </p:anim>
                                    <p:anim calcmode="lin" valueType="num">
                                      <p:cBhvr>
                                        <p:cTn id="43" dur="1000" fill="hold"/>
                                        <p:tgtEl>
                                          <p:spTgt spid="3">
                                            <p:txEl>
                                              <p:pRg st="5" end="5"/>
                                            </p:txEl>
                                          </p:spTgt>
                                        </p:tgtEl>
                                        <p:attrNameLst>
                                          <p:attrName>ppt_h</p:attrName>
                                        </p:attrNameLst>
                                      </p:cBhvr>
                                      <p:tavLst>
                                        <p:tav tm="0">
                                          <p:val>
                                            <p:strVal val="#ppt_h"/>
                                          </p:val>
                                        </p:tav>
                                        <p:tav tm="100000">
                                          <p:val>
                                            <p:strVal val="#ppt_h"/>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990600"/>
            <a:ext cx="8382000" cy="5334000"/>
          </a:xfrm>
        </p:spPr>
        <p:txBody>
          <a:bodyPr>
            <a:normAutofit fontScale="92500" lnSpcReduction="20000"/>
          </a:bodyPr>
          <a:lstStyle/>
          <a:p>
            <a:pPr marL="457200" indent="-457200">
              <a:buFont typeface="+mj-lt"/>
              <a:buAutoNum type="arabicPeriod"/>
            </a:pPr>
            <a:r>
              <a:rPr lang="en-US" dirty="0"/>
              <a:t>Explain the concept of object tracking in computer vision. Discuss different algorithms or techniques used for object tracking.</a:t>
            </a:r>
          </a:p>
          <a:p>
            <a:pPr marL="457200" indent="-457200">
              <a:buFont typeface="+mj-lt"/>
              <a:buAutoNum type="arabicPeriod"/>
            </a:pPr>
            <a:r>
              <a:rPr lang="en-US" dirty="0"/>
              <a:t>Describe the process of image recognition using convolutional neural networks (CNNs). What are the key components and steps involved?</a:t>
            </a:r>
          </a:p>
          <a:p>
            <a:pPr marL="457200" indent="-457200">
              <a:buFont typeface="+mj-lt"/>
              <a:buAutoNum type="arabicPeriod"/>
            </a:pPr>
            <a:r>
              <a:rPr lang="en-US" dirty="0"/>
              <a:t>Discuss the concept of depth estimation in computer vision. Explain how depth information can be extracted from 2D images.</a:t>
            </a:r>
          </a:p>
          <a:p>
            <a:pPr marL="457200" indent="-457200">
              <a:buFont typeface="+mj-lt"/>
              <a:buAutoNum type="arabicPeriod"/>
            </a:pPr>
            <a:r>
              <a:rPr lang="en-US" dirty="0"/>
              <a:t>Explain the concept of image stitching and its applications. How are multiple images combined to create a panoramic image?</a:t>
            </a:r>
          </a:p>
          <a:p>
            <a:pPr marL="457200" indent="-457200">
              <a:buFont typeface="+mj-lt"/>
              <a:buAutoNum type="arabicPeriod"/>
            </a:pPr>
            <a:r>
              <a:rPr lang="en-US" dirty="0"/>
              <a:t>Discuss the challenges and approaches for handling scale invariance in object detection algorithms.</a:t>
            </a:r>
          </a:p>
          <a:p>
            <a:pPr marL="457200" indent="-457200">
              <a:buFont typeface="+mj-lt"/>
              <a:buAutoNum type="arabicPeriod"/>
            </a:pPr>
            <a:r>
              <a:rPr lang="en-US" dirty="0"/>
              <a:t>Describe the concept of facial recognition in computer vision. Discuss its applications, advantages, and potential privacy concerns.</a:t>
            </a:r>
          </a:p>
          <a:p>
            <a:pPr marL="457200" indent="-457200">
              <a:buFont typeface="+mj-lt"/>
              <a:buAutoNum type="arabicPeriod"/>
            </a:pPr>
            <a:r>
              <a:rPr lang="en-US" dirty="0"/>
              <a:t>Explain the concept of semantic segmentation and its applications in computer vision. Provide examples of scenarios where semantic segmentation is useful.</a:t>
            </a:r>
          </a:p>
          <a:p>
            <a:pPr marL="457200" indent="-457200">
              <a:buFont typeface="+mj-lt"/>
              <a:buAutoNum type="arabicPeriod"/>
            </a:pPr>
            <a:r>
              <a:rPr lang="en-US" dirty="0"/>
              <a:t>Discuss the concept of object recognition using feature descriptors. Explain popular feature descriptor algorithms such as SIFT or SURF.</a:t>
            </a:r>
          </a:p>
          <a:p>
            <a:pPr marL="457200" indent="-457200">
              <a:buFont typeface="+mj-lt"/>
              <a:buAutoNum type="arabicPeriod"/>
            </a:pPr>
            <a:r>
              <a:rPr lang="en-US" dirty="0"/>
              <a:t>Explain the concept of image super-resolution and its applications. How can low-resolution images be enhanced to improve their quality?</a:t>
            </a:r>
          </a:p>
          <a:p>
            <a:pPr marL="457200" indent="-457200">
              <a:buFont typeface="+mj-lt"/>
              <a:buAutoNum type="arabicPeriod"/>
            </a:pPr>
            <a:r>
              <a:rPr lang="en-US" dirty="0"/>
              <a:t>Discuss the role of transfer learning in computer vision. How can pre-trained models be utilized for new tasks or datasets?</a:t>
            </a:r>
          </a:p>
          <a:p>
            <a:pPr>
              <a:buNone/>
            </a:pPr>
            <a:endParaRPr lang="en-US" sz="1800"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105</a:t>
            </a:fld>
            <a:endParaRPr lang="en-US" dirty="0"/>
          </a:p>
        </p:txBody>
      </p:sp>
      <p:sp>
        <p:nvSpPr>
          <p:cNvPr id="7" name="Title 1"/>
          <p:cNvSpPr txBox="1">
            <a:spLocks/>
          </p:cNvSpPr>
          <p:nvPr/>
        </p:nvSpPr>
        <p:spPr>
          <a:xfrm>
            <a:off x="1371600" y="0"/>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WEEKLY</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ASSIGNMENT</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1977896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strVal val="#ppt_w*0.70"/>
                                          </p:val>
                                        </p:tav>
                                        <p:tav tm="100000">
                                          <p:val>
                                            <p:strVal val="#ppt_w"/>
                                          </p:val>
                                        </p:tav>
                                      </p:tavLst>
                                    </p:anim>
                                    <p:anim calcmode="lin" valueType="num">
                                      <p:cBhvr>
                                        <p:cTn id="8" dur="1000" fill="hold"/>
                                        <p:tgtEl>
                                          <p:spTgt spid="3">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3">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5"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 calcmode="lin" valueType="num">
                                      <p:cBhvr>
                                        <p:cTn id="14" dur="1000" fill="hold"/>
                                        <p:tgtEl>
                                          <p:spTgt spid="3">
                                            <p:txEl>
                                              <p:pRg st="1" end="1"/>
                                            </p:txEl>
                                          </p:spTgt>
                                        </p:tgtEl>
                                        <p:attrNameLst>
                                          <p:attrName>ppt_w</p:attrName>
                                        </p:attrNameLst>
                                      </p:cBhvr>
                                      <p:tavLst>
                                        <p:tav tm="0">
                                          <p:val>
                                            <p:strVal val="#ppt_w*0.70"/>
                                          </p:val>
                                        </p:tav>
                                        <p:tav tm="100000">
                                          <p:val>
                                            <p:strVal val="#ppt_w"/>
                                          </p:val>
                                        </p:tav>
                                      </p:tavLst>
                                    </p:anim>
                                    <p:anim calcmode="lin" valueType="num">
                                      <p:cBhvr>
                                        <p:cTn id="15" dur="1000" fill="hold"/>
                                        <p:tgtEl>
                                          <p:spTgt spid="3">
                                            <p:txEl>
                                              <p:pRg st="1" end="1"/>
                                            </p:txEl>
                                          </p:spTgt>
                                        </p:tgtEl>
                                        <p:attrNameLst>
                                          <p:attrName>ppt_h</p:attrName>
                                        </p:attrNameLst>
                                      </p:cBhvr>
                                      <p:tavLst>
                                        <p:tav tm="0">
                                          <p:val>
                                            <p:strVal val="#ppt_h"/>
                                          </p:val>
                                        </p:tav>
                                        <p:tav tm="100000">
                                          <p:val>
                                            <p:strVal val="#ppt_h"/>
                                          </p:val>
                                        </p:tav>
                                      </p:tavLst>
                                    </p:anim>
                                    <p:animEffect transition="in" filter="fade">
                                      <p:cBhvr>
                                        <p:cTn id="16" dur="1000"/>
                                        <p:tgtEl>
                                          <p:spTgt spid="3">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5"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p:cTn id="21" dur="1000" fill="hold"/>
                                        <p:tgtEl>
                                          <p:spTgt spid="3">
                                            <p:txEl>
                                              <p:pRg st="2" end="2"/>
                                            </p:txEl>
                                          </p:spTgt>
                                        </p:tgtEl>
                                        <p:attrNameLst>
                                          <p:attrName>ppt_w</p:attrName>
                                        </p:attrNameLst>
                                      </p:cBhvr>
                                      <p:tavLst>
                                        <p:tav tm="0">
                                          <p:val>
                                            <p:strVal val="#ppt_w*0.70"/>
                                          </p:val>
                                        </p:tav>
                                        <p:tav tm="100000">
                                          <p:val>
                                            <p:strVal val="#ppt_w"/>
                                          </p:val>
                                        </p:tav>
                                      </p:tavLst>
                                    </p:anim>
                                    <p:anim calcmode="lin" valueType="num">
                                      <p:cBhvr>
                                        <p:cTn id="22" dur="1000" fill="hold"/>
                                        <p:tgtEl>
                                          <p:spTgt spid="3">
                                            <p:txEl>
                                              <p:pRg st="2" end="2"/>
                                            </p:txEl>
                                          </p:spTgt>
                                        </p:tgtEl>
                                        <p:attrNameLst>
                                          <p:attrName>ppt_h</p:attrName>
                                        </p:attrNameLst>
                                      </p:cBhvr>
                                      <p:tavLst>
                                        <p:tav tm="0">
                                          <p:val>
                                            <p:strVal val="#ppt_h"/>
                                          </p:val>
                                        </p:tav>
                                        <p:tav tm="100000">
                                          <p:val>
                                            <p:strVal val="#ppt_h"/>
                                          </p:val>
                                        </p:tav>
                                      </p:tavLst>
                                    </p:anim>
                                    <p:animEffect transition="in" filter="fade">
                                      <p:cBhvr>
                                        <p:cTn id="23" dur="10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5"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 calcmode="lin" valueType="num">
                                      <p:cBhvr>
                                        <p:cTn id="28" dur="1000" fill="hold"/>
                                        <p:tgtEl>
                                          <p:spTgt spid="3">
                                            <p:txEl>
                                              <p:pRg st="3" end="3"/>
                                            </p:txEl>
                                          </p:spTgt>
                                        </p:tgtEl>
                                        <p:attrNameLst>
                                          <p:attrName>ppt_w</p:attrName>
                                        </p:attrNameLst>
                                      </p:cBhvr>
                                      <p:tavLst>
                                        <p:tav tm="0">
                                          <p:val>
                                            <p:strVal val="#ppt_w*0.70"/>
                                          </p:val>
                                        </p:tav>
                                        <p:tav tm="100000">
                                          <p:val>
                                            <p:strVal val="#ppt_w"/>
                                          </p:val>
                                        </p:tav>
                                      </p:tavLst>
                                    </p:anim>
                                    <p:anim calcmode="lin" valueType="num">
                                      <p:cBhvr>
                                        <p:cTn id="29" dur="1000" fill="hold"/>
                                        <p:tgtEl>
                                          <p:spTgt spid="3">
                                            <p:txEl>
                                              <p:pRg st="3" end="3"/>
                                            </p:txEl>
                                          </p:spTgt>
                                        </p:tgtEl>
                                        <p:attrNameLst>
                                          <p:attrName>ppt_h</p:attrName>
                                        </p:attrNameLst>
                                      </p:cBhvr>
                                      <p:tavLst>
                                        <p:tav tm="0">
                                          <p:val>
                                            <p:strVal val="#ppt_h"/>
                                          </p:val>
                                        </p:tav>
                                        <p:tav tm="100000">
                                          <p:val>
                                            <p:strVal val="#ppt_h"/>
                                          </p:val>
                                        </p:tav>
                                      </p:tavLst>
                                    </p:anim>
                                    <p:animEffect transition="in" filter="fade">
                                      <p:cBhvr>
                                        <p:cTn id="30" dur="1000"/>
                                        <p:tgtEl>
                                          <p:spTgt spid="3">
                                            <p:txEl>
                                              <p:pRg st="3" end="3"/>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55"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strVal val="#ppt_w*0.70"/>
                                          </p:val>
                                        </p:tav>
                                        <p:tav tm="100000">
                                          <p:val>
                                            <p:strVal val="#ppt_w"/>
                                          </p:val>
                                        </p:tav>
                                      </p:tavLst>
                                    </p:anim>
                                    <p:anim calcmode="lin" valueType="num">
                                      <p:cBhvr>
                                        <p:cTn id="36" dur="1000" fill="hold"/>
                                        <p:tgtEl>
                                          <p:spTgt spid="3">
                                            <p:txEl>
                                              <p:pRg st="4" end="4"/>
                                            </p:txEl>
                                          </p:spTgt>
                                        </p:tgtEl>
                                        <p:attrNameLst>
                                          <p:attrName>ppt_h</p:attrName>
                                        </p:attrNameLst>
                                      </p:cBhvr>
                                      <p:tavLst>
                                        <p:tav tm="0">
                                          <p:val>
                                            <p:strVal val="#ppt_h"/>
                                          </p:val>
                                        </p:tav>
                                        <p:tav tm="100000">
                                          <p:val>
                                            <p:strVal val="#ppt_h"/>
                                          </p:val>
                                        </p:tav>
                                      </p:tavLst>
                                    </p:anim>
                                    <p:animEffect transition="in" filter="fade">
                                      <p:cBhvr>
                                        <p:cTn id="37" dur="1000"/>
                                        <p:tgtEl>
                                          <p:spTgt spid="3">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55" presetClass="entr" presetSubtype="0" fill="hold"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 calcmode="lin" valueType="num">
                                      <p:cBhvr>
                                        <p:cTn id="42" dur="1000" fill="hold"/>
                                        <p:tgtEl>
                                          <p:spTgt spid="3">
                                            <p:txEl>
                                              <p:pRg st="5" end="5"/>
                                            </p:txEl>
                                          </p:spTgt>
                                        </p:tgtEl>
                                        <p:attrNameLst>
                                          <p:attrName>ppt_w</p:attrName>
                                        </p:attrNameLst>
                                      </p:cBhvr>
                                      <p:tavLst>
                                        <p:tav tm="0">
                                          <p:val>
                                            <p:strVal val="#ppt_w*0.70"/>
                                          </p:val>
                                        </p:tav>
                                        <p:tav tm="100000">
                                          <p:val>
                                            <p:strVal val="#ppt_w"/>
                                          </p:val>
                                        </p:tav>
                                      </p:tavLst>
                                    </p:anim>
                                    <p:anim calcmode="lin" valueType="num">
                                      <p:cBhvr>
                                        <p:cTn id="43" dur="1000" fill="hold"/>
                                        <p:tgtEl>
                                          <p:spTgt spid="3">
                                            <p:txEl>
                                              <p:pRg st="5" end="5"/>
                                            </p:txEl>
                                          </p:spTgt>
                                        </p:tgtEl>
                                        <p:attrNameLst>
                                          <p:attrName>ppt_h</p:attrName>
                                        </p:attrNameLst>
                                      </p:cBhvr>
                                      <p:tavLst>
                                        <p:tav tm="0">
                                          <p:val>
                                            <p:strVal val="#ppt_h"/>
                                          </p:val>
                                        </p:tav>
                                        <p:tav tm="100000">
                                          <p:val>
                                            <p:strVal val="#ppt_h"/>
                                          </p:val>
                                        </p:tav>
                                      </p:tavLst>
                                    </p:anim>
                                    <p:animEffect transition="in" filter="fade">
                                      <p:cBhvr>
                                        <p:cTn id="44" dur="1000"/>
                                        <p:tgtEl>
                                          <p:spTgt spid="3">
                                            <p:txEl>
                                              <p:pRg st="5" end="5"/>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55" presetClass="entr" presetSubtype="0" fill="hold" nodeType="clickEffect">
                                  <p:stCondLst>
                                    <p:cond delay="0"/>
                                  </p:stCondLst>
                                  <p:childTnLst>
                                    <p:set>
                                      <p:cBhvr>
                                        <p:cTn id="48" dur="1" fill="hold">
                                          <p:stCondLst>
                                            <p:cond delay="0"/>
                                          </p:stCondLst>
                                        </p:cTn>
                                        <p:tgtEl>
                                          <p:spTgt spid="3">
                                            <p:txEl>
                                              <p:pRg st="6" end="6"/>
                                            </p:txEl>
                                          </p:spTgt>
                                        </p:tgtEl>
                                        <p:attrNameLst>
                                          <p:attrName>style.visibility</p:attrName>
                                        </p:attrNameLst>
                                      </p:cBhvr>
                                      <p:to>
                                        <p:strVal val="visible"/>
                                      </p:to>
                                    </p:set>
                                    <p:anim calcmode="lin" valueType="num">
                                      <p:cBhvr>
                                        <p:cTn id="49" dur="1000" fill="hold"/>
                                        <p:tgtEl>
                                          <p:spTgt spid="3">
                                            <p:txEl>
                                              <p:pRg st="6" end="6"/>
                                            </p:txEl>
                                          </p:spTgt>
                                        </p:tgtEl>
                                        <p:attrNameLst>
                                          <p:attrName>ppt_w</p:attrName>
                                        </p:attrNameLst>
                                      </p:cBhvr>
                                      <p:tavLst>
                                        <p:tav tm="0">
                                          <p:val>
                                            <p:strVal val="#ppt_w*0.70"/>
                                          </p:val>
                                        </p:tav>
                                        <p:tav tm="100000">
                                          <p:val>
                                            <p:strVal val="#ppt_w"/>
                                          </p:val>
                                        </p:tav>
                                      </p:tavLst>
                                    </p:anim>
                                    <p:anim calcmode="lin" valueType="num">
                                      <p:cBhvr>
                                        <p:cTn id="50" dur="1000" fill="hold"/>
                                        <p:tgtEl>
                                          <p:spTgt spid="3">
                                            <p:txEl>
                                              <p:pRg st="6" end="6"/>
                                            </p:txEl>
                                          </p:spTgt>
                                        </p:tgtEl>
                                        <p:attrNameLst>
                                          <p:attrName>ppt_h</p:attrName>
                                        </p:attrNameLst>
                                      </p:cBhvr>
                                      <p:tavLst>
                                        <p:tav tm="0">
                                          <p:val>
                                            <p:strVal val="#ppt_h"/>
                                          </p:val>
                                        </p:tav>
                                        <p:tav tm="100000">
                                          <p:val>
                                            <p:strVal val="#ppt_h"/>
                                          </p:val>
                                        </p:tav>
                                      </p:tavLst>
                                    </p:anim>
                                    <p:animEffect transition="in" filter="fade">
                                      <p:cBhvr>
                                        <p:cTn id="51" dur="1000"/>
                                        <p:tgtEl>
                                          <p:spTgt spid="3">
                                            <p:txEl>
                                              <p:pRg st="6" end="6"/>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55" presetClass="entr" presetSubtype="0" fill="hold" nodeType="clickEffect">
                                  <p:stCondLst>
                                    <p:cond delay="0"/>
                                  </p:stCondLst>
                                  <p:childTnLst>
                                    <p:set>
                                      <p:cBhvr>
                                        <p:cTn id="55" dur="1" fill="hold">
                                          <p:stCondLst>
                                            <p:cond delay="0"/>
                                          </p:stCondLst>
                                        </p:cTn>
                                        <p:tgtEl>
                                          <p:spTgt spid="3">
                                            <p:txEl>
                                              <p:pRg st="7" end="7"/>
                                            </p:txEl>
                                          </p:spTgt>
                                        </p:tgtEl>
                                        <p:attrNameLst>
                                          <p:attrName>style.visibility</p:attrName>
                                        </p:attrNameLst>
                                      </p:cBhvr>
                                      <p:to>
                                        <p:strVal val="visible"/>
                                      </p:to>
                                    </p:set>
                                    <p:anim calcmode="lin" valueType="num">
                                      <p:cBhvr>
                                        <p:cTn id="56" dur="1000" fill="hold"/>
                                        <p:tgtEl>
                                          <p:spTgt spid="3">
                                            <p:txEl>
                                              <p:pRg st="7" end="7"/>
                                            </p:txEl>
                                          </p:spTgt>
                                        </p:tgtEl>
                                        <p:attrNameLst>
                                          <p:attrName>ppt_w</p:attrName>
                                        </p:attrNameLst>
                                      </p:cBhvr>
                                      <p:tavLst>
                                        <p:tav tm="0">
                                          <p:val>
                                            <p:strVal val="#ppt_w*0.70"/>
                                          </p:val>
                                        </p:tav>
                                        <p:tav tm="100000">
                                          <p:val>
                                            <p:strVal val="#ppt_w"/>
                                          </p:val>
                                        </p:tav>
                                      </p:tavLst>
                                    </p:anim>
                                    <p:anim calcmode="lin" valueType="num">
                                      <p:cBhvr>
                                        <p:cTn id="57" dur="1000" fill="hold"/>
                                        <p:tgtEl>
                                          <p:spTgt spid="3">
                                            <p:txEl>
                                              <p:pRg st="7" end="7"/>
                                            </p:txEl>
                                          </p:spTgt>
                                        </p:tgtEl>
                                        <p:attrNameLst>
                                          <p:attrName>ppt_h</p:attrName>
                                        </p:attrNameLst>
                                      </p:cBhvr>
                                      <p:tavLst>
                                        <p:tav tm="0">
                                          <p:val>
                                            <p:strVal val="#ppt_h"/>
                                          </p:val>
                                        </p:tav>
                                        <p:tav tm="100000">
                                          <p:val>
                                            <p:strVal val="#ppt_h"/>
                                          </p:val>
                                        </p:tav>
                                      </p:tavLst>
                                    </p:anim>
                                    <p:animEffect transition="in" filter="fade">
                                      <p:cBhvr>
                                        <p:cTn id="58" dur="1000"/>
                                        <p:tgtEl>
                                          <p:spTgt spid="3">
                                            <p:txEl>
                                              <p:pRg st="7" end="7"/>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55" presetClass="entr" presetSubtype="0" fill="hold" nodeType="clickEffect">
                                  <p:stCondLst>
                                    <p:cond delay="0"/>
                                  </p:stCondLst>
                                  <p:childTnLst>
                                    <p:set>
                                      <p:cBhvr>
                                        <p:cTn id="62" dur="1" fill="hold">
                                          <p:stCondLst>
                                            <p:cond delay="0"/>
                                          </p:stCondLst>
                                        </p:cTn>
                                        <p:tgtEl>
                                          <p:spTgt spid="3">
                                            <p:txEl>
                                              <p:pRg st="8" end="8"/>
                                            </p:txEl>
                                          </p:spTgt>
                                        </p:tgtEl>
                                        <p:attrNameLst>
                                          <p:attrName>style.visibility</p:attrName>
                                        </p:attrNameLst>
                                      </p:cBhvr>
                                      <p:to>
                                        <p:strVal val="visible"/>
                                      </p:to>
                                    </p:set>
                                    <p:anim calcmode="lin" valueType="num">
                                      <p:cBhvr>
                                        <p:cTn id="63" dur="1000" fill="hold"/>
                                        <p:tgtEl>
                                          <p:spTgt spid="3">
                                            <p:txEl>
                                              <p:pRg st="8" end="8"/>
                                            </p:txEl>
                                          </p:spTgt>
                                        </p:tgtEl>
                                        <p:attrNameLst>
                                          <p:attrName>ppt_w</p:attrName>
                                        </p:attrNameLst>
                                      </p:cBhvr>
                                      <p:tavLst>
                                        <p:tav tm="0">
                                          <p:val>
                                            <p:strVal val="#ppt_w*0.70"/>
                                          </p:val>
                                        </p:tav>
                                        <p:tav tm="100000">
                                          <p:val>
                                            <p:strVal val="#ppt_w"/>
                                          </p:val>
                                        </p:tav>
                                      </p:tavLst>
                                    </p:anim>
                                    <p:anim calcmode="lin" valueType="num">
                                      <p:cBhvr>
                                        <p:cTn id="64" dur="1000" fill="hold"/>
                                        <p:tgtEl>
                                          <p:spTgt spid="3">
                                            <p:txEl>
                                              <p:pRg st="8" end="8"/>
                                            </p:txEl>
                                          </p:spTgt>
                                        </p:tgtEl>
                                        <p:attrNameLst>
                                          <p:attrName>ppt_h</p:attrName>
                                        </p:attrNameLst>
                                      </p:cBhvr>
                                      <p:tavLst>
                                        <p:tav tm="0">
                                          <p:val>
                                            <p:strVal val="#ppt_h"/>
                                          </p:val>
                                        </p:tav>
                                        <p:tav tm="100000">
                                          <p:val>
                                            <p:strVal val="#ppt_h"/>
                                          </p:val>
                                        </p:tav>
                                      </p:tavLst>
                                    </p:anim>
                                    <p:animEffect transition="in" filter="fade">
                                      <p:cBhvr>
                                        <p:cTn id="65" dur="1000"/>
                                        <p:tgtEl>
                                          <p:spTgt spid="3">
                                            <p:txEl>
                                              <p:pRg st="8" end="8"/>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55" presetClass="entr" presetSubtype="0" fill="hold" nodeType="clickEffect">
                                  <p:stCondLst>
                                    <p:cond delay="0"/>
                                  </p:stCondLst>
                                  <p:childTnLst>
                                    <p:set>
                                      <p:cBhvr>
                                        <p:cTn id="69" dur="1" fill="hold">
                                          <p:stCondLst>
                                            <p:cond delay="0"/>
                                          </p:stCondLst>
                                        </p:cTn>
                                        <p:tgtEl>
                                          <p:spTgt spid="3">
                                            <p:txEl>
                                              <p:pRg st="9" end="9"/>
                                            </p:txEl>
                                          </p:spTgt>
                                        </p:tgtEl>
                                        <p:attrNameLst>
                                          <p:attrName>style.visibility</p:attrName>
                                        </p:attrNameLst>
                                      </p:cBhvr>
                                      <p:to>
                                        <p:strVal val="visible"/>
                                      </p:to>
                                    </p:set>
                                    <p:anim calcmode="lin" valueType="num">
                                      <p:cBhvr>
                                        <p:cTn id="70" dur="1000" fill="hold"/>
                                        <p:tgtEl>
                                          <p:spTgt spid="3">
                                            <p:txEl>
                                              <p:pRg st="9" end="9"/>
                                            </p:txEl>
                                          </p:spTgt>
                                        </p:tgtEl>
                                        <p:attrNameLst>
                                          <p:attrName>ppt_w</p:attrName>
                                        </p:attrNameLst>
                                      </p:cBhvr>
                                      <p:tavLst>
                                        <p:tav tm="0">
                                          <p:val>
                                            <p:strVal val="#ppt_w*0.70"/>
                                          </p:val>
                                        </p:tav>
                                        <p:tav tm="100000">
                                          <p:val>
                                            <p:strVal val="#ppt_w"/>
                                          </p:val>
                                        </p:tav>
                                      </p:tavLst>
                                    </p:anim>
                                    <p:anim calcmode="lin" valueType="num">
                                      <p:cBhvr>
                                        <p:cTn id="71" dur="1000" fill="hold"/>
                                        <p:tgtEl>
                                          <p:spTgt spid="3">
                                            <p:txEl>
                                              <p:pRg st="9" end="9"/>
                                            </p:txEl>
                                          </p:spTgt>
                                        </p:tgtEl>
                                        <p:attrNameLst>
                                          <p:attrName>ppt_h</p:attrName>
                                        </p:attrNameLst>
                                      </p:cBhvr>
                                      <p:tavLst>
                                        <p:tav tm="0">
                                          <p:val>
                                            <p:strVal val="#ppt_h"/>
                                          </p:val>
                                        </p:tav>
                                        <p:tav tm="100000">
                                          <p:val>
                                            <p:strVal val="#ppt_h"/>
                                          </p:val>
                                        </p:tav>
                                      </p:tavLst>
                                    </p:anim>
                                    <p:animEffect transition="in" filter="fade">
                                      <p:cBhvr>
                                        <p:cTn id="72" dur="1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838200"/>
            <a:ext cx="8305800" cy="5334000"/>
          </a:xfrm>
        </p:spPr>
        <p:txBody>
          <a:bodyPr>
            <a:normAutofit lnSpcReduction="10000"/>
          </a:bodyPr>
          <a:lstStyle/>
          <a:p>
            <a:pPr marL="0" indent="0">
              <a:buNone/>
            </a:pPr>
            <a:r>
              <a:rPr lang="en-US" sz="1600" b="1" dirty="0">
                <a:latin typeface="Times New Roman" panose="02020603050405020304" pitchFamily="18" charset="0"/>
                <a:cs typeface="Times New Roman" panose="02020603050405020304" pitchFamily="18" charset="0"/>
              </a:rPr>
              <a:t>Question 1: What is computer vision?</a:t>
            </a:r>
          </a:p>
          <a:p>
            <a:pPr marL="0" indent="0">
              <a:buNone/>
            </a:pPr>
            <a:r>
              <a:rPr lang="en-US" sz="1600" dirty="0">
                <a:latin typeface="Times New Roman" panose="02020603050405020304" pitchFamily="18" charset="0"/>
                <a:cs typeface="Times New Roman" panose="02020603050405020304" pitchFamily="18" charset="0"/>
              </a:rPr>
              <a:t>A. The study of computers and their components </a:t>
            </a:r>
          </a:p>
          <a:p>
            <a:pPr marL="0" indent="0">
              <a:buNone/>
            </a:pPr>
            <a:r>
              <a:rPr lang="en-US" sz="1600" b="1" dirty="0">
                <a:latin typeface="Times New Roman" panose="02020603050405020304" pitchFamily="18" charset="0"/>
                <a:cs typeface="Times New Roman" panose="02020603050405020304" pitchFamily="18" charset="0"/>
              </a:rPr>
              <a:t>B. The field of processing and understanding visual data by computers</a:t>
            </a:r>
          </a:p>
          <a:p>
            <a:pPr marL="0" indent="0">
              <a:buNone/>
            </a:pPr>
            <a:r>
              <a:rPr lang="en-US" sz="1600" dirty="0">
                <a:latin typeface="Times New Roman" panose="02020603050405020304" pitchFamily="18" charset="0"/>
                <a:cs typeface="Times New Roman" panose="02020603050405020304" pitchFamily="18" charset="0"/>
              </a:rPr>
              <a:t> C. The development of computer software for image editing </a:t>
            </a:r>
          </a:p>
          <a:p>
            <a:pPr marL="0" indent="0">
              <a:buNone/>
            </a:pPr>
            <a:r>
              <a:rPr lang="en-US" sz="1600" dirty="0">
                <a:latin typeface="Times New Roman" panose="02020603050405020304" pitchFamily="18" charset="0"/>
                <a:cs typeface="Times New Roman" panose="02020603050405020304" pitchFamily="18" charset="0"/>
              </a:rPr>
              <a:t>D. The study of visual perception in humans</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Question 2: Which of the following is an application of computer vision?</a:t>
            </a:r>
          </a:p>
          <a:p>
            <a:pPr marL="0" indent="0">
              <a:buNone/>
            </a:pPr>
            <a:r>
              <a:rPr lang="en-US" sz="1600" dirty="0">
                <a:latin typeface="Times New Roman" panose="02020603050405020304" pitchFamily="18" charset="0"/>
                <a:cs typeface="Times New Roman" panose="02020603050405020304" pitchFamily="18" charset="0"/>
              </a:rPr>
              <a:t>A. Speech recognition </a:t>
            </a:r>
          </a:p>
          <a:p>
            <a:pPr marL="0" indent="0">
              <a:buNone/>
            </a:pPr>
            <a:r>
              <a:rPr lang="en-US" sz="1600" dirty="0">
                <a:latin typeface="Times New Roman" panose="02020603050405020304" pitchFamily="18" charset="0"/>
                <a:cs typeface="Times New Roman" panose="02020603050405020304" pitchFamily="18" charset="0"/>
              </a:rPr>
              <a:t>B. Natural language processing</a:t>
            </a:r>
          </a:p>
          <a:p>
            <a:pPr marL="0" indent="0">
              <a:buNone/>
            </a:pPr>
            <a:r>
              <a:rPr lang="en-US" sz="1600" b="1" dirty="0">
                <a:latin typeface="Times New Roman" panose="02020603050405020304" pitchFamily="18" charset="0"/>
                <a:cs typeface="Times New Roman" panose="02020603050405020304" pitchFamily="18" charset="0"/>
              </a:rPr>
              <a:t>C. Object detection </a:t>
            </a:r>
          </a:p>
          <a:p>
            <a:pPr marL="0" indent="0">
              <a:buNone/>
            </a:pPr>
            <a:r>
              <a:rPr lang="en-US" sz="1600" dirty="0">
                <a:latin typeface="Times New Roman" panose="02020603050405020304" pitchFamily="18" charset="0"/>
                <a:cs typeface="Times New Roman" panose="02020603050405020304" pitchFamily="18" charset="0"/>
              </a:rPr>
              <a:t>D. Network security</a:t>
            </a:r>
          </a:p>
          <a:p>
            <a:pPr marL="0" indent="0">
              <a:buNone/>
            </a:pPr>
            <a:endParaRPr lang="en-US" sz="16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Question 3: Which technique is commonly used for feature extraction in computer vision?</a:t>
            </a:r>
          </a:p>
          <a:p>
            <a:pPr marL="0" indent="0">
              <a:buNone/>
            </a:pPr>
            <a:r>
              <a:rPr lang="en-US" sz="1600" b="1" dirty="0">
                <a:latin typeface="Times New Roman" panose="02020603050405020304" pitchFamily="18" charset="0"/>
                <a:cs typeface="Times New Roman" panose="02020603050405020304" pitchFamily="18" charset="0"/>
              </a:rPr>
              <a:t>A. Convolutional Neural Networks (CNN) </a:t>
            </a:r>
          </a:p>
          <a:p>
            <a:pPr marL="0" indent="0">
              <a:buNone/>
            </a:pPr>
            <a:r>
              <a:rPr lang="en-US" sz="1600" dirty="0">
                <a:latin typeface="Times New Roman" panose="02020603050405020304" pitchFamily="18" charset="0"/>
                <a:cs typeface="Times New Roman" panose="02020603050405020304" pitchFamily="18" charset="0"/>
              </a:rPr>
              <a:t>B. Decision Trees </a:t>
            </a:r>
          </a:p>
          <a:p>
            <a:pPr marL="0" indent="0">
              <a:buNone/>
            </a:pPr>
            <a:r>
              <a:rPr lang="en-US" sz="1600" dirty="0">
                <a:latin typeface="Times New Roman" panose="02020603050405020304" pitchFamily="18" charset="0"/>
                <a:cs typeface="Times New Roman" panose="02020603050405020304" pitchFamily="18" charset="0"/>
              </a:rPr>
              <a:t>C. Support Vector Machines (SVM) </a:t>
            </a:r>
          </a:p>
          <a:p>
            <a:pPr marL="0" indent="0">
              <a:buNone/>
            </a:pPr>
            <a:r>
              <a:rPr lang="en-US" sz="1600" dirty="0">
                <a:latin typeface="Times New Roman" panose="02020603050405020304" pitchFamily="18" charset="0"/>
                <a:cs typeface="Times New Roman" panose="02020603050405020304" pitchFamily="18" charset="0"/>
              </a:rPr>
              <a:t>D. K-means clustering</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24600"/>
            <a:ext cx="48768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106</a:t>
            </a:fld>
            <a:endParaRPr lang="en-US"/>
          </a:p>
        </p:txBody>
      </p:sp>
      <p:sp>
        <p:nvSpPr>
          <p:cNvPr id="7"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MCQ</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s</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066800"/>
            <a:ext cx="8229600" cy="5158188"/>
          </a:xfrm>
        </p:spPr>
        <p:txBody>
          <a:bodyPr>
            <a:normAutofit fontScale="85000" lnSpcReduction="20000"/>
          </a:bodyPr>
          <a:lstStyle/>
          <a:p>
            <a:pPr marL="0" indent="0">
              <a:buNone/>
            </a:pPr>
            <a:r>
              <a:rPr lang="en-US" b="1" dirty="0">
                <a:latin typeface="Times New Roman" panose="02020603050405020304" pitchFamily="18" charset="0"/>
                <a:cs typeface="Times New Roman" panose="02020603050405020304" pitchFamily="18" charset="0"/>
              </a:rPr>
              <a:t>Question 4: What is the purpose of image segmentation in computer vision?</a:t>
            </a:r>
          </a:p>
          <a:p>
            <a:pPr marL="0" indent="0">
              <a:buNone/>
            </a:pPr>
            <a:r>
              <a:rPr lang="en-US" dirty="0">
                <a:latin typeface="Times New Roman" panose="02020603050405020304" pitchFamily="18" charset="0"/>
                <a:cs typeface="Times New Roman" panose="02020603050405020304" pitchFamily="18" charset="0"/>
              </a:rPr>
              <a:t>A. Classifying images into different categories </a:t>
            </a:r>
          </a:p>
          <a:p>
            <a:pPr marL="0" indent="0">
              <a:buNone/>
            </a:pPr>
            <a:r>
              <a:rPr lang="en-US" dirty="0">
                <a:latin typeface="Times New Roman" panose="02020603050405020304" pitchFamily="18" charset="0"/>
                <a:cs typeface="Times New Roman" panose="02020603050405020304" pitchFamily="18" charset="0"/>
              </a:rPr>
              <a:t>B. Detecting and recognizing objects in images </a:t>
            </a:r>
          </a:p>
          <a:p>
            <a:pPr marL="0" indent="0">
              <a:buNone/>
            </a:pPr>
            <a:r>
              <a:rPr lang="en-US" dirty="0">
                <a:latin typeface="Times New Roman" panose="02020603050405020304" pitchFamily="18" charset="0"/>
                <a:cs typeface="Times New Roman" panose="02020603050405020304" pitchFamily="18" charset="0"/>
              </a:rPr>
              <a:t>C. Enhancing and manipulating image quality </a:t>
            </a:r>
          </a:p>
          <a:p>
            <a:pPr marL="0" indent="0">
              <a:buNone/>
            </a:pPr>
            <a:r>
              <a:rPr lang="en-US" dirty="0">
                <a:latin typeface="Times New Roman" panose="02020603050405020304" pitchFamily="18" charset="0"/>
                <a:cs typeface="Times New Roman" panose="02020603050405020304" pitchFamily="18" charset="0"/>
              </a:rPr>
              <a:t>D. </a:t>
            </a:r>
            <a:r>
              <a:rPr lang="en-US" b="1" dirty="0">
                <a:latin typeface="Times New Roman" panose="02020603050405020304" pitchFamily="18" charset="0"/>
                <a:cs typeface="Times New Roman" panose="02020603050405020304" pitchFamily="18" charset="0"/>
              </a:rPr>
              <a:t>Dividing an image into meaningful regions or segments</a:t>
            </a:r>
          </a:p>
          <a:p>
            <a:pPr marL="0" indent="0">
              <a:buNone/>
            </a:pPr>
            <a:r>
              <a:rPr lang="en-US" b="1" dirty="0">
                <a:latin typeface="Times New Roman" panose="02020603050405020304" pitchFamily="18" charset="0"/>
                <a:cs typeface="Times New Roman" panose="02020603050405020304" pitchFamily="18" charset="0"/>
              </a:rPr>
              <a:t>Question 5: Which of the following is an example of an object recognition task in computer vision?</a:t>
            </a:r>
          </a:p>
          <a:p>
            <a:pPr marL="0" indent="0">
              <a:buNone/>
            </a:pPr>
            <a:r>
              <a:rPr lang="en-US" dirty="0">
                <a:latin typeface="Times New Roman" panose="02020603050405020304" pitchFamily="18" charset="0"/>
                <a:cs typeface="Times New Roman" panose="02020603050405020304" pitchFamily="18" charset="0"/>
              </a:rPr>
              <a:t>A. Determining the sentiment of an image</a:t>
            </a:r>
          </a:p>
          <a:p>
            <a:pPr marL="0" indent="0">
              <a:buNone/>
            </a:pPr>
            <a:r>
              <a:rPr lang="en-US" dirty="0">
                <a:latin typeface="Times New Roman" panose="02020603050405020304" pitchFamily="18" charset="0"/>
                <a:cs typeface="Times New Roman" panose="02020603050405020304" pitchFamily="18" charset="0"/>
              </a:rPr>
              <a:t> B. Identifying the boundaries of objects in an image</a:t>
            </a:r>
          </a:p>
          <a:p>
            <a:pPr marL="0" indent="0">
              <a:buNone/>
            </a:pPr>
            <a:r>
              <a:rPr lang="en-US" dirty="0">
                <a:latin typeface="Times New Roman" panose="02020603050405020304" pitchFamily="18" charset="0"/>
                <a:cs typeface="Times New Roman" panose="02020603050405020304" pitchFamily="18" charset="0"/>
              </a:rPr>
              <a:t> C</a:t>
            </a:r>
            <a:r>
              <a:rPr lang="en-US" b="1" dirty="0">
                <a:latin typeface="Times New Roman" panose="02020603050405020304" pitchFamily="18" charset="0"/>
                <a:cs typeface="Times New Roman" panose="02020603050405020304" pitchFamily="18" charset="0"/>
              </a:rPr>
              <a:t>. Recognizing specific objects in an image, such as cars or faces</a:t>
            </a:r>
          </a:p>
          <a:p>
            <a:pPr marL="0" indent="0">
              <a:buNone/>
            </a:pPr>
            <a:r>
              <a:rPr lang="en-US" dirty="0">
                <a:latin typeface="Times New Roman" panose="02020603050405020304" pitchFamily="18" charset="0"/>
                <a:cs typeface="Times New Roman" panose="02020603050405020304" pitchFamily="18" charset="0"/>
              </a:rPr>
              <a:t> D. Analyzing the texture or color distribution of an image</a:t>
            </a:r>
          </a:p>
          <a:p>
            <a:pPr marL="0" indent="0">
              <a:buNone/>
            </a:pPr>
            <a:r>
              <a:rPr lang="en-IN" b="1" dirty="0">
                <a:latin typeface="Times New Roman" panose="02020603050405020304" pitchFamily="18" charset="0"/>
                <a:cs typeface="Times New Roman" panose="02020603050405020304" pitchFamily="18" charset="0"/>
              </a:rPr>
              <a:t>Question 6: Which technique is commonly used for image classification in computer vision?</a:t>
            </a:r>
          </a:p>
          <a:p>
            <a:pPr marL="0" indent="0">
              <a:buNone/>
            </a:pPr>
            <a:r>
              <a:rPr lang="en-IN" dirty="0">
                <a:latin typeface="Times New Roman" panose="02020603050405020304" pitchFamily="18" charset="0"/>
                <a:cs typeface="Times New Roman" panose="02020603050405020304" pitchFamily="18" charset="0"/>
              </a:rPr>
              <a:t>A. Principal Component Analysis (PCA) </a:t>
            </a:r>
          </a:p>
          <a:p>
            <a:pPr marL="0" indent="0">
              <a:buNone/>
            </a:pPr>
            <a:r>
              <a:rPr lang="en-IN" dirty="0">
                <a:latin typeface="Times New Roman" panose="02020603050405020304" pitchFamily="18" charset="0"/>
                <a:cs typeface="Times New Roman" panose="02020603050405020304" pitchFamily="18" charset="0"/>
              </a:rPr>
              <a:t>B. Naive Bayes classifier </a:t>
            </a:r>
          </a:p>
          <a:p>
            <a:pPr marL="0" indent="0">
              <a:buNone/>
            </a:pPr>
            <a:r>
              <a:rPr lang="en-IN" dirty="0">
                <a:latin typeface="Times New Roman" panose="02020603050405020304" pitchFamily="18" charset="0"/>
                <a:cs typeface="Times New Roman" panose="02020603050405020304" pitchFamily="18" charset="0"/>
              </a:rPr>
              <a:t>C. Latent Semantic Analysis (LSA) </a:t>
            </a:r>
          </a:p>
          <a:p>
            <a:pPr marL="0" indent="0">
              <a:buNone/>
            </a:pPr>
            <a:r>
              <a:rPr lang="en-IN" dirty="0">
                <a:latin typeface="Times New Roman" panose="02020603050405020304" pitchFamily="18" charset="0"/>
                <a:cs typeface="Times New Roman" panose="02020603050405020304" pitchFamily="18" charset="0"/>
              </a:rPr>
              <a:t>D. </a:t>
            </a:r>
            <a:r>
              <a:rPr lang="en-IN" b="1" dirty="0">
                <a:latin typeface="Times New Roman" panose="02020603050405020304" pitchFamily="18" charset="0"/>
                <a:cs typeface="Times New Roman" panose="02020603050405020304" pitchFamily="18" charset="0"/>
              </a:rPr>
              <a:t>Convolutional Neural Networks (CNN)</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b="1" dirty="0">
              <a:latin typeface="Times New Roman" panose="02020603050405020304" pitchFamily="18" charset="0"/>
              <a:cs typeface="Times New Roman" panose="02020603050405020304" pitchFamily="18" charset="0"/>
            </a:endParaRPr>
          </a:p>
          <a:p>
            <a:endParaRPr lang="en-US" sz="1800" b="1" dirty="0">
              <a:latin typeface="Times New Roman" panose="02020603050405020304" pitchFamily="18" charset="0"/>
              <a:cs typeface="Times New Roman" panose="02020603050405020304" pitchFamily="18" charset="0"/>
            </a:endParaRP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24600"/>
            <a:ext cx="48768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107</a:t>
            </a:fld>
            <a:endParaRPr lang="en-US"/>
          </a:p>
        </p:txBody>
      </p:sp>
      <p:sp>
        <p:nvSpPr>
          <p:cNvPr id="7"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MCQ</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s</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a:xfrm>
            <a:off x="1600200" y="6356350"/>
            <a:ext cx="6019800" cy="365125"/>
          </a:xfrm>
        </p:spPr>
        <p:txBody>
          <a:bodyPr/>
          <a:lstStyle/>
          <a:p>
            <a:r>
              <a:rPr lang="it-IT"/>
              <a:t>Dr Preeti Gera            COMPUTER VISION  UNIT- IV</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108</a:t>
            </a:fld>
            <a:endParaRPr lang="en-US"/>
          </a:p>
        </p:txBody>
      </p:sp>
      <p:pic>
        <p:nvPicPr>
          <p:cNvPr id="5"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6"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MCQ</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s(</a:t>
            </a:r>
            <a:r>
              <a:rPr kumimoji="0" lang="en-US" sz="2400" b="1" i="0" u="sng" strike="noStrike" kern="1200" cap="none" spc="0" normalizeH="0" noProof="0" dirty="0" err="1">
                <a:ln>
                  <a:noFill/>
                </a:ln>
                <a:solidFill>
                  <a:schemeClr val="dk1"/>
                </a:solidFill>
                <a:effectLst>
                  <a:outerShdw blurRad="38100" dist="38100" dir="2700000" algn="tl">
                    <a:srgbClr val="000000">
                      <a:alpha val="43137"/>
                    </a:srgbClr>
                  </a:outerShdw>
                </a:effectLst>
                <a:uLnTx/>
                <a:uFillTx/>
                <a:latin typeface="+mn-lt"/>
                <a:ea typeface="+mn-ea"/>
                <a:cs typeface="+mn-cs"/>
              </a:rPr>
              <a:t>CONT’d</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sp>
        <p:nvSpPr>
          <p:cNvPr id="7" name="TextBox 6"/>
          <p:cNvSpPr txBox="1"/>
          <p:nvPr/>
        </p:nvSpPr>
        <p:spPr>
          <a:xfrm>
            <a:off x="457200" y="838200"/>
            <a:ext cx="8458200" cy="369332"/>
          </a:xfrm>
          <a:prstGeom prst="rect">
            <a:avLst/>
          </a:prstGeom>
          <a:noFill/>
        </p:spPr>
        <p:txBody>
          <a:bodyPr wrap="square" rtlCol="0">
            <a:spAutoFit/>
          </a:bodyPr>
          <a:lstStyle/>
          <a:p>
            <a:endParaRPr lang="en-US" dirty="0"/>
          </a:p>
        </p:txBody>
      </p:sp>
      <p:sp>
        <p:nvSpPr>
          <p:cNvPr id="8" name="Rectangle 7"/>
          <p:cNvSpPr/>
          <p:nvPr/>
        </p:nvSpPr>
        <p:spPr>
          <a:xfrm>
            <a:off x="266700" y="838199"/>
            <a:ext cx="8839200" cy="5859553"/>
          </a:xfrm>
          <a:prstGeom prst="rect">
            <a:avLst/>
          </a:prstGeom>
        </p:spPr>
        <p:txBody>
          <a:bodyPr wrap="square">
            <a:spAutoFit/>
          </a:bodyPr>
          <a:lstStyle/>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computer vision? Answer: c. Computer vision is a field of artificial intelligence that focuses on enabling computers to interpret and understand visual information from images or videos.</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Name three common applications of computer vision. Answer: a. Autonomous vehicles, b. Object recognition, c. Medical image analysis</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the purpose of image segmentation in computer vision? Answer: b. Image segmentation aims to partition an image into meaningful regions or segments to facilitate object detection, tracking, or analysis.</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the difference between object detection and object recognition? Answer: c. Object detection involves both localizing and classifying objects within an image, while object recognition focuses solely on identifying objects without localizing them.</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Explain the concept of convolution in convolutional neural networks (CNNs). Answer: a. Convolution involves applying a filter/kernel to an input image or feature map, computing element-wise multiplications, and summing the results to produce a feature map.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blinds(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a:xfrm>
            <a:off x="1600200" y="6356350"/>
            <a:ext cx="6019800" cy="365125"/>
          </a:xfrm>
        </p:spPr>
        <p:txBody>
          <a:bodyPr/>
          <a:lstStyle/>
          <a:p>
            <a:r>
              <a:rPr lang="it-IT"/>
              <a:t>Dr Preeti Gera            COMPUTER VISION  UNIT- IV</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109</a:t>
            </a:fld>
            <a:endParaRPr lang="en-US"/>
          </a:p>
        </p:txBody>
      </p:sp>
      <p:pic>
        <p:nvPicPr>
          <p:cNvPr id="5"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6"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MCQ</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 s(</a:t>
            </a:r>
            <a:r>
              <a:rPr kumimoji="0" lang="en-US" sz="2400" b="1" i="0" u="sng" strike="noStrike" kern="1200" cap="none" spc="0" normalizeH="0" noProof="0" dirty="0" err="1">
                <a:ln>
                  <a:noFill/>
                </a:ln>
                <a:solidFill>
                  <a:schemeClr val="dk1"/>
                </a:solidFill>
                <a:effectLst>
                  <a:outerShdw blurRad="38100" dist="38100" dir="2700000" algn="tl">
                    <a:srgbClr val="000000">
                      <a:alpha val="43137"/>
                    </a:srgbClr>
                  </a:outerShdw>
                </a:effectLst>
                <a:uLnTx/>
                <a:uFillTx/>
                <a:latin typeface="+mn-lt"/>
                <a:ea typeface="+mn-ea"/>
                <a:cs typeface="+mn-cs"/>
              </a:rPr>
              <a:t>CONT’d</a:t>
            </a:r>
            <a:r>
              <a:rPr kumimoji="0" lang="en-US" sz="2400" b="1" i="0" u="sng" strike="noStrike" kern="1200" cap="none" spc="0" normalizeH="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endParaRPr>
          </a:p>
        </p:txBody>
      </p:sp>
      <p:sp>
        <p:nvSpPr>
          <p:cNvPr id="8" name="Rectangle 7"/>
          <p:cNvSpPr/>
          <p:nvPr/>
        </p:nvSpPr>
        <p:spPr>
          <a:xfrm>
            <a:off x="87923" y="715172"/>
            <a:ext cx="9067800" cy="5493812"/>
          </a:xfrm>
          <a:prstGeom prst="rect">
            <a:avLst/>
          </a:prstGeom>
        </p:spPr>
        <p:txBody>
          <a:bodyPr wrap="square">
            <a:spAutoFit/>
          </a:bodyPr>
          <a:lstStyle/>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optical character recognition (OCR) used for in computer vision? Answer: b. OCR is used to convert printed or handwritten text from images into machine-readable text, enabling automated text analysis or data extraction.</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the purpose of non-maximum suppression in object detection algorithms? Answer: a. Non-maximum suppression is used to eliminate redundant bounding box detections by keeping only the most confident detection and suppressing overlapping or lower-confidence detections.</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are some common challenges faced in computer vision tasks? Answer: c. Variations in lighting conditions, occlusion, viewpoint changes, and limited labeled data are common challenges in computer vision tasks.</a:t>
            </a:r>
          </a:p>
          <a:p>
            <a:pPr>
              <a:lnSpc>
                <a:spcPct val="150000"/>
              </a:lnSpc>
              <a:buFont typeface="+mj-lt"/>
              <a:buAutoNum type="arabicPeriod"/>
            </a:pPr>
            <a:r>
              <a:rPr lang="en-US" dirty="0">
                <a:solidFill>
                  <a:srgbClr val="003300"/>
                </a:solidFill>
                <a:latin typeface="Times New Roman" panose="02020603050405020304" pitchFamily="18" charset="0"/>
                <a:cs typeface="Times New Roman" panose="02020603050405020304" pitchFamily="18" charset="0"/>
              </a:rPr>
              <a:t>What is the difference between supervised and unsupervised learning in computer vision? Answer: b. Supervised learning requires labeled training data, where input images are associated with corresponding ground-truth labels. Unsupervised learning involves learning patterns or structures from unlabeled data without explicit labels.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1143000"/>
            <a:ext cx="8915400" cy="5105400"/>
          </a:xfrm>
        </p:spPr>
        <p:txBody>
          <a:bodyPr>
            <a:normAutofit/>
          </a:bodyPr>
          <a:lstStyle/>
          <a:p>
            <a:pPr marL="1371600" indent="-1371600" algn="just">
              <a:buNone/>
            </a:pPr>
            <a:r>
              <a:rPr lang="en-US" sz="1800" dirty="0">
                <a:solidFill>
                  <a:srgbClr val="222222"/>
                </a:solidFill>
                <a:latin typeface="Lato" panose="020F0502020204030204" pitchFamily="34" charset="0"/>
              </a:rPr>
              <a:t>Explain the GAN Architecture’s Operation &amp; Its Difference From Other Models.</a:t>
            </a:r>
          </a:p>
          <a:p>
            <a:pPr marL="1371600" indent="-1371600" algn="just">
              <a:buNone/>
            </a:pPr>
            <a:r>
              <a:rPr lang="en-US" dirty="0"/>
              <a:t> Provide an Example of a Real-world Issue that GAN Was Used to Resolve.</a:t>
            </a:r>
          </a:p>
          <a:p>
            <a:pPr marL="1371600" indent="-1371600" algn="just">
              <a:buNone/>
            </a:pPr>
            <a:r>
              <a:rPr lang="en-US" dirty="0"/>
              <a:t>List Some Difficulties in Training GAN and How to Get Around Them.</a:t>
            </a:r>
          </a:p>
          <a:p>
            <a:pPr marL="1371600" indent="-1371600" algn="just">
              <a:buNone/>
            </a:pPr>
            <a:r>
              <a:rPr lang="en-US" dirty="0"/>
              <a:t>How Does GAN Handle Complex, Multi-modal Distribution?</a:t>
            </a:r>
          </a:p>
          <a:p>
            <a:pPr marL="1371600" indent="-1371600" algn="just">
              <a:buNone/>
            </a:pPr>
            <a:r>
              <a:rPr lang="en-US" dirty="0"/>
              <a:t>Compared to Other Generative Models like Variational Autoencoders (VAE),How do GAN Architectures Fare?</a:t>
            </a:r>
          </a:p>
          <a:p>
            <a:pPr marL="1371600" indent="-1371600" algn="just">
              <a:buNone/>
            </a:pPr>
            <a:r>
              <a:rPr lang="en-US" dirty="0"/>
              <a:t>Discuss Any Recent Developments or Breakthroughs in GANs?</a:t>
            </a:r>
          </a:p>
          <a:p>
            <a:pPr marL="1371600" indent="-1371600" algn="just">
              <a:buNone/>
            </a:pPr>
            <a:r>
              <a:rPr lang="en-US" dirty="0"/>
              <a:t>How a GAN’s Generator and Discriminator Cooperate to Enhance the Model’s Performance?</a:t>
            </a:r>
          </a:p>
          <a:p>
            <a:pPr marL="1371600" indent="-1371600" algn="just">
              <a:buNone/>
            </a:pPr>
            <a:r>
              <a:rPr lang="en-US" dirty="0"/>
              <a:t>How Can GAN Architecture be Used for Unsupervised Learning?</a:t>
            </a:r>
          </a:p>
          <a:p>
            <a:pPr marL="1371600" indent="-1371600" algn="just">
              <a:buNone/>
            </a:pPr>
            <a:r>
              <a:rPr lang="en-US" dirty="0"/>
              <a:t>How Does GAN Architecture Handle High-dimensional Data?</a:t>
            </a:r>
          </a:p>
          <a:p>
            <a:pPr marL="1371600" indent="-1371600" algn="just">
              <a:buNone/>
            </a:pPr>
            <a:r>
              <a:rPr lang="en-US" dirty="0"/>
              <a:t>Can you Talk About Ethical Issues When Using GANs, Particularly When Creating Realistic Synthetic Data?</a:t>
            </a:r>
          </a:p>
          <a:p>
            <a:pPr marL="1371600" indent="-1371600" algn="just">
              <a:buNone/>
            </a:pPr>
            <a:endParaRPr lang="en-US" dirty="0"/>
          </a:p>
          <a:p>
            <a:pPr marL="1371600" lvl="0" indent="-1371600" algn="just">
              <a:buNone/>
            </a:pPr>
            <a:endParaRPr lang="en-US" sz="1800"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209800" y="6356350"/>
            <a:ext cx="55626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110</a:t>
            </a:fld>
            <a:endParaRPr lang="en-US"/>
          </a:p>
        </p:txBody>
      </p:sp>
      <p:sp>
        <p:nvSpPr>
          <p:cNvPr id="7" name="Title 1"/>
          <p:cNvSpPr txBox="1">
            <a:spLocks/>
          </p:cNvSpPr>
          <p:nvPr/>
        </p:nvSpPr>
        <p:spPr>
          <a:xfrm>
            <a:off x="1371600" y="1"/>
            <a:ext cx="7772400" cy="9143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b="1" u="sng" dirty="0">
                <a:effectLst>
                  <a:outerShdw blurRad="38100" dist="38100" dir="2700000" algn="tl">
                    <a:srgbClr val="000000">
                      <a:alpha val="43137"/>
                    </a:srgbClr>
                  </a:outerShdw>
                </a:effectLst>
              </a:rPr>
              <a:t>EXPECTED QUESTIONS FOR UNIVERSITY EXAM </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strVal val="#ppt_w*0.70"/>
                                          </p:val>
                                        </p:tav>
                                        <p:tav tm="100000">
                                          <p:val>
                                            <p:strVal val="#ppt_w"/>
                                          </p:val>
                                        </p:tav>
                                      </p:tavLst>
                                    </p:anim>
                                    <p:anim calcmode="lin" valueType="num">
                                      <p:cBhvr>
                                        <p:cTn id="8" dur="1000" fill="hold"/>
                                        <p:tgtEl>
                                          <p:spTgt spid="3">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3">
                                            <p:txEl>
                                              <p:pRg st="0" end="0"/>
                                            </p:txEl>
                                          </p:spTgt>
                                        </p:tgtEl>
                                      </p:cBhvr>
                                    </p:animEffect>
                                  </p:childTnLst>
                                </p:cTn>
                              </p:par>
                            </p:childTnLst>
                          </p:cTn>
                        </p:par>
                      </p:childTnLst>
                    </p:cTn>
                  </p:par>
                  <p:par>
                    <p:cTn id="10" fill="hold">
                      <p:stCondLst>
                        <p:cond delay="indefinite"/>
                      </p:stCondLst>
                      <p:childTnLst>
                        <p:par>
                          <p:cTn id="11" fill="hold">
                            <p:stCondLst>
                              <p:cond delay="0"/>
                            </p:stCondLst>
                            <p:childTnLst>
                              <p:par>
                                <p:cTn id="12" presetID="55"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 calcmode="lin" valueType="num">
                                      <p:cBhvr>
                                        <p:cTn id="14" dur="1000" fill="hold"/>
                                        <p:tgtEl>
                                          <p:spTgt spid="3">
                                            <p:txEl>
                                              <p:pRg st="1" end="1"/>
                                            </p:txEl>
                                          </p:spTgt>
                                        </p:tgtEl>
                                        <p:attrNameLst>
                                          <p:attrName>ppt_w</p:attrName>
                                        </p:attrNameLst>
                                      </p:cBhvr>
                                      <p:tavLst>
                                        <p:tav tm="0">
                                          <p:val>
                                            <p:strVal val="#ppt_w*0.70"/>
                                          </p:val>
                                        </p:tav>
                                        <p:tav tm="100000">
                                          <p:val>
                                            <p:strVal val="#ppt_w"/>
                                          </p:val>
                                        </p:tav>
                                      </p:tavLst>
                                    </p:anim>
                                    <p:anim calcmode="lin" valueType="num">
                                      <p:cBhvr>
                                        <p:cTn id="15" dur="1000" fill="hold"/>
                                        <p:tgtEl>
                                          <p:spTgt spid="3">
                                            <p:txEl>
                                              <p:pRg st="1" end="1"/>
                                            </p:txEl>
                                          </p:spTgt>
                                        </p:tgtEl>
                                        <p:attrNameLst>
                                          <p:attrName>ppt_h</p:attrName>
                                        </p:attrNameLst>
                                      </p:cBhvr>
                                      <p:tavLst>
                                        <p:tav tm="0">
                                          <p:val>
                                            <p:strVal val="#ppt_h"/>
                                          </p:val>
                                        </p:tav>
                                        <p:tav tm="100000">
                                          <p:val>
                                            <p:strVal val="#ppt_h"/>
                                          </p:val>
                                        </p:tav>
                                      </p:tavLst>
                                    </p:anim>
                                    <p:animEffect transition="in" filter="fade">
                                      <p:cBhvr>
                                        <p:cTn id="16" dur="1000"/>
                                        <p:tgtEl>
                                          <p:spTgt spid="3">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55"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p:cTn id="21" dur="1000" fill="hold"/>
                                        <p:tgtEl>
                                          <p:spTgt spid="3">
                                            <p:txEl>
                                              <p:pRg st="2" end="2"/>
                                            </p:txEl>
                                          </p:spTgt>
                                        </p:tgtEl>
                                        <p:attrNameLst>
                                          <p:attrName>ppt_w</p:attrName>
                                        </p:attrNameLst>
                                      </p:cBhvr>
                                      <p:tavLst>
                                        <p:tav tm="0">
                                          <p:val>
                                            <p:strVal val="#ppt_w*0.70"/>
                                          </p:val>
                                        </p:tav>
                                        <p:tav tm="100000">
                                          <p:val>
                                            <p:strVal val="#ppt_w"/>
                                          </p:val>
                                        </p:tav>
                                      </p:tavLst>
                                    </p:anim>
                                    <p:anim calcmode="lin" valueType="num">
                                      <p:cBhvr>
                                        <p:cTn id="22" dur="1000" fill="hold"/>
                                        <p:tgtEl>
                                          <p:spTgt spid="3">
                                            <p:txEl>
                                              <p:pRg st="2" end="2"/>
                                            </p:txEl>
                                          </p:spTgt>
                                        </p:tgtEl>
                                        <p:attrNameLst>
                                          <p:attrName>ppt_h</p:attrName>
                                        </p:attrNameLst>
                                      </p:cBhvr>
                                      <p:tavLst>
                                        <p:tav tm="0">
                                          <p:val>
                                            <p:strVal val="#ppt_h"/>
                                          </p:val>
                                        </p:tav>
                                        <p:tav tm="100000">
                                          <p:val>
                                            <p:strVal val="#ppt_h"/>
                                          </p:val>
                                        </p:tav>
                                      </p:tavLst>
                                    </p:anim>
                                    <p:animEffect transition="in" filter="fade">
                                      <p:cBhvr>
                                        <p:cTn id="23" dur="10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55"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 calcmode="lin" valueType="num">
                                      <p:cBhvr>
                                        <p:cTn id="28" dur="1000" fill="hold"/>
                                        <p:tgtEl>
                                          <p:spTgt spid="3">
                                            <p:txEl>
                                              <p:pRg st="3" end="3"/>
                                            </p:txEl>
                                          </p:spTgt>
                                        </p:tgtEl>
                                        <p:attrNameLst>
                                          <p:attrName>ppt_w</p:attrName>
                                        </p:attrNameLst>
                                      </p:cBhvr>
                                      <p:tavLst>
                                        <p:tav tm="0">
                                          <p:val>
                                            <p:strVal val="#ppt_w*0.70"/>
                                          </p:val>
                                        </p:tav>
                                        <p:tav tm="100000">
                                          <p:val>
                                            <p:strVal val="#ppt_w"/>
                                          </p:val>
                                        </p:tav>
                                      </p:tavLst>
                                    </p:anim>
                                    <p:anim calcmode="lin" valueType="num">
                                      <p:cBhvr>
                                        <p:cTn id="29" dur="1000" fill="hold"/>
                                        <p:tgtEl>
                                          <p:spTgt spid="3">
                                            <p:txEl>
                                              <p:pRg st="3" end="3"/>
                                            </p:txEl>
                                          </p:spTgt>
                                        </p:tgtEl>
                                        <p:attrNameLst>
                                          <p:attrName>ppt_h</p:attrName>
                                        </p:attrNameLst>
                                      </p:cBhvr>
                                      <p:tavLst>
                                        <p:tav tm="0">
                                          <p:val>
                                            <p:strVal val="#ppt_h"/>
                                          </p:val>
                                        </p:tav>
                                        <p:tav tm="100000">
                                          <p:val>
                                            <p:strVal val="#ppt_h"/>
                                          </p:val>
                                        </p:tav>
                                      </p:tavLst>
                                    </p:anim>
                                    <p:animEffect transition="in" filter="fade">
                                      <p:cBhvr>
                                        <p:cTn id="30" dur="1000"/>
                                        <p:tgtEl>
                                          <p:spTgt spid="3">
                                            <p:txEl>
                                              <p:pRg st="3" end="3"/>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55"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strVal val="#ppt_w*0.70"/>
                                          </p:val>
                                        </p:tav>
                                        <p:tav tm="100000">
                                          <p:val>
                                            <p:strVal val="#ppt_w"/>
                                          </p:val>
                                        </p:tav>
                                      </p:tavLst>
                                    </p:anim>
                                    <p:anim calcmode="lin" valueType="num">
                                      <p:cBhvr>
                                        <p:cTn id="36" dur="1000" fill="hold"/>
                                        <p:tgtEl>
                                          <p:spTgt spid="3">
                                            <p:txEl>
                                              <p:pRg st="4" end="4"/>
                                            </p:txEl>
                                          </p:spTgt>
                                        </p:tgtEl>
                                        <p:attrNameLst>
                                          <p:attrName>ppt_h</p:attrName>
                                        </p:attrNameLst>
                                      </p:cBhvr>
                                      <p:tavLst>
                                        <p:tav tm="0">
                                          <p:val>
                                            <p:strVal val="#ppt_h"/>
                                          </p:val>
                                        </p:tav>
                                        <p:tav tm="100000">
                                          <p:val>
                                            <p:strVal val="#ppt_h"/>
                                          </p:val>
                                        </p:tav>
                                      </p:tavLst>
                                    </p:anim>
                                    <p:animEffect transition="in" filter="fade">
                                      <p:cBhvr>
                                        <p:cTn id="37" dur="1000"/>
                                        <p:tgtEl>
                                          <p:spTgt spid="3">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55" presetClass="entr" presetSubtype="0" fill="hold"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 calcmode="lin" valueType="num">
                                      <p:cBhvr>
                                        <p:cTn id="42" dur="1000" fill="hold"/>
                                        <p:tgtEl>
                                          <p:spTgt spid="3">
                                            <p:txEl>
                                              <p:pRg st="5" end="5"/>
                                            </p:txEl>
                                          </p:spTgt>
                                        </p:tgtEl>
                                        <p:attrNameLst>
                                          <p:attrName>ppt_w</p:attrName>
                                        </p:attrNameLst>
                                      </p:cBhvr>
                                      <p:tavLst>
                                        <p:tav tm="0">
                                          <p:val>
                                            <p:strVal val="#ppt_w*0.70"/>
                                          </p:val>
                                        </p:tav>
                                        <p:tav tm="100000">
                                          <p:val>
                                            <p:strVal val="#ppt_w"/>
                                          </p:val>
                                        </p:tav>
                                      </p:tavLst>
                                    </p:anim>
                                    <p:anim calcmode="lin" valueType="num">
                                      <p:cBhvr>
                                        <p:cTn id="43" dur="1000" fill="hold"/>
                                        <p:tgtEl>
                                          <p:spTgt spid="3">
                                            <p:txEl>
                                              <p:pRg st="5" end="5"/>
                                            </p:txEl>
                                          </p:spTgt>
                                        </p:tgtEl>
                                        <p:attrNameLst>
                                          <p:attrName>ppt_h</p:attrName>
                                        </p:attrNameLst>
                                      </p:cBhvr>
                                      <p:tavLst>
                                        <p:tav tm="0">
                                          <p:val>
                                            <p:strVal val="#ppt_h"/>
                                          </p:val>
                                        </p:tav>
                                        <p:tav tm="100000">
                                          <p:val>
                                            <p:strVal val="#ppt_h"/>
                                          </p:val>
                                        </p:tav>
                                      </p:tavLst>
                                    </p:anim>
                                    <p:animEffect transition="in" filter="fade">
                                      <p:cBhvr>
                                        <p:cTn id="44" dur="1000"/>
                                        <p:tgtEl>
                                          <p:spTgt spid="3">
                                            <p:txEl>
                                              <p:pRg st="5" end="5"/>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55" presetClass="entr" presetSubtype="0" fill="hold" nodeType="clickEffect">
                                  <p:stCondLst>
                                    <p:cond delay="0"/>
                                  </p:stCondLst>
                                  <p:childTnLst>
                                    <p:set>
                                      <p:cBhvr>
                                        <p:cTn id="48" dur="1" fill="hold">
                                          <p:stCondLst>
                                            <p:cond delay="0"/>
                                          </p:stCondLst>
                                        </p:cTn>
                                        <p:tgtEl>
                                          <p:spTgt spid="3">
                                            <p:txEl>
                                              <p:pRg st="6" end="6"/>
                                            </p:txEl>
                                          </p:spTgt>
                                        </p:tgtEl>
                                        <p:attrNameLst>
                                          <p:attrName>style.visibility</p:attrName>
                                        </p:attrNameLst>
                                      </p:cBhvr>
                                      <p:to>
                                        <p:strVal val="visible"/>
                                      </p:to>
                                    </p:set>
                                    <p:anim calcmode="lin" valueType="num">
                                      <p:cBhvr>
                                        <p:cTn id="49" dur="1000" fill="hold"/>
                                        <p:tgtEl>
                                          <p:spTgt spid="3">
                                            <p:txEl>
                                              <p:pRg st="6" end="6"/>
                                            </p:txEl>
                                          </p:spTgt>
                                        </p:tgtEl>
                                        <p:attrNameLst>
                                          <p:attrName>ppt_w</p:attrName>
                                        </p:attrNameLst>
                                      </p:cBhvr>
                                      <p:tavLst>
                                        <p:tav tm="0">
                                          <p:val>
                                            <p:strVal val="#ppt_w*0.70"/>
                                          </p:val>
                                        </p:tav>
                                        <p:tav tm="100000">
                                          <p:val>
                                            <p:strVal val="#ppt_w"/>
                                          </p:val>
                                        </p:tav>
                                      </p:tavLst>
                                    </p:anim>
                                    <p:anim calcmode="lin" valueType="num">
                                      <p:cBhvr>
                                        <p:cTn id="50" dur="1000" fill="hold"/>
                                        <p:tgtEl>
                                          <p:spTgt spid="3">
                                            <p:txEl>
                                              <p:pRg st="6" end="6"/>
                                            </p:txEl>
                                          </p:spTgt>
                                        </p:tgtEl>
                                        <p:attrNameLst>
                                          <p:attrName>ppt_h</p:attrName>
                                        </p:attrNameLst>
                                      </p:cBhvr>
                                      <p:tavLst>
                                        <p:tav tm="0">
                                          <p:val>
                                            <p:strVal val="#ppt_h"/>
                                          </p:val>
                                        </p:tav>
                                        <p:tav tm="100000">
                                          <p:val>
                                            <p:strVal val="#ppt_h"/>
                                          </p:val>
                                        </p:tav>
                                      </p:tavLst>
                                    </p:anim>
                                    <p:animEffect transition="in" filter="fade">
                                      <p:cBhvr>
                                        <p:cTn id="51" dur="1000"/>
                                        <p:tgtEl>
                                          <p:spTgt spid="3">
                                            <p:txEl>
                                              <p:pRg st="6" end="6"/>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55" presetClass="entr" presetSubtype="0" fill="hold" nodeType="clickEffect">
                                  <p:stCondLst>
                                    <p:cond delay="0"/>
                                  </p:stCondLst>
                                  <p:childTnLst>
                                    <p:set>
                                      <p:cBhvr>
                                        <p:cTn id="55" dur="1" fill="hold">
                                          <p:stCondLst>
                                            <p:cond delay="0"/>
                                          </p:stCondLst>
                                        </p:cTn>
                                        <p:tgtEl>
                                          <p:spTgt spid="3">
                                            <p:txEl>
                                              <p:pRg st="7" end="7"/>
                                            </p:txEl>
                                          </p:spTgt>
                                        </p:tgtEl>
                                        <p:attrNameLst>
                                          <p:attrName>style.visibility</p:attrName>
                                        </p:attrNameLst>
                                      </p:cBhvr>
                                      <p:to>
                                        <p:strVal val="visible"/>
                                      </p:to>
                                    </p:set>
                                    <p:anim calcmode="lin" valueType="num">
                                      <p:cBhvr>
                                        <p:cTn id="56" dur="1000" fill="hold"/>
                                        <p:tgtEl>
                                          <p:spTgt spid="3">
                                            <p:txEl>
                                              <p:pRg st="7" end="7"/>
                                            </p:txEl>
                                          </p:spTgt>
                                        </p:tgtEl>
                                        <p:attrNameLst>
                                          <p:attrName>ppt_w</p:attrName>
                                        </p:attrNameLst>
                                      </p:cBhvr>
                                      <p:tavLst>
                                        <p:tav tm="0">
                                          <p:val>
                                            <p:strVal val="#ppt_w*0.70"/>
                                          </p:val>
                                        </p:tav>
                                        <p:tav tm="100000">
                                          <p:val>
                                            <p:strVal val="#ppt_w"/>
                                          </p:val>
                                        </p:tav>
                                      </p:tavLst>
                                    </p:anim>
                                    <p:anim calcmode="lin" valueType="num">
                                      <p:cBhvr>
                                        <p:cTn id="57" dur="1000" fill="hold"/>
                                        <p:tgtEl>
                                          <p:spTgt spid="3">
                                            <p:txEl>
                                              <p:pRg st="7" end="7"/>
                                            </p:txEl>
                                          </p:spTgt>
                                        </p:tgtEl>
                                        <p:attrNameLst>
                                          <p:attrName>ppt_h</p:attrName>
                                        </p:attrNameLst>
                                      </p:cBhvr>
                                      <p:tavLst>
                                        <p:tav tm="0">
                                          <p:val>
                                            <p:strVal val="#ppt_h"/>
                                          </p:val>
                                        </p:tav>
                                        <p:tav tm="100000">
                                          <p:val>
                                            <p:strVal val="#ppt_h"/>
                                          </p:val>
                                        </p:tav>
                                      </p:tavLst>
                                    </p:anim>
                                    <p:animEffect transition="in" filter="fade">
                                      <p:cBhvr>
                                        <p:cTn id="58" dur="1000"/>
                                        <p:tgtEl>
                                          <p:spTgt spid="3">
                                            <p:txEl>
                                              <p:pRg st="7" end="7"/>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55" presetClass="entr" presetSubtype="0" fill="hold" nodeType="clickEffect">
                                  <p:stCondLst>
                                    <p:cond delay="0"/>
                                  </p:stCondLst>
                                  <p:childTnLst>
                                    <p:set>
                                      <p:cBhvr>
                                        <p:cTn id="62" dur="1" fill="hold">
                                          <p:stCondLst>
                                            <p:cond delay="0"/>
                                          </p:stCondLst>
                                        </p:cTn>
                                        <p:tgtEl>
                                          <p:spTgt spid="3">
                                            <p:txEl>
                                              <p:pRg st="8" end="8"/>
                                            </p:txEl>
                                          </p:spTgt>
                                        </p:tgtEl>
                                        <p:attrNameLst>
                                          <p:attrName>style.visibility</p:attrName>
                                        </p:attrNameLst>
                                      </p:cBhvr>
                                      <p:to>
                                        <p:strVal val="visible"/>
                                      </p:to>
                                    </p:set>
                                    <p:anim calcmode="lin" valueType="num">
                                      <p:cBhvr>
                                        <p:cTn id="63" dur="1000" fill="hold"/>
                                        <p:tgtEl>
                                          <p:spTgt spid="3">
                                            <p:txEl>
                                              <p:pRg st="8" end="8"/>
                                            </p:txEl>
                                          </p:spTgt>
                                        </p:tgtEl>
                                        <p:attrNameLst>
                                          <p:attrName>ppt_w</p:attrName>
                                        </p:attrNameLst>
                                      </p:cBhvr>
                                      <p:tavLst>
                                        <p:tav tm="0">
                                          <p:val>
                                            <p:strVal val="#ppt_w*0.70"/>
                                          </p:val>
                                        </p:tav>
                                        <p:tav tm="100000">
                                          <p:val>
                                            <p:strVal val="#ppt_w"/>
                                          </p:val>
                                        </p:tav>
                                      </p:tavLst>
                                    </p:anim>
                                    <p:anim calcmode="lin" valueType="num">
                                      <p:cBhvr>
                                        <p:cTn id="64" dur="1000" fill="hold"/>
                                        <p:tgtEl>
                                          <p:spTgt spid="3">
                                            <p:txEl>
                                              <p:pRg st="8" end="8"/>
                                            </p:txEl>
                                          </p:spTgt>
                                        </p:tgtEl>
                                        <p:attrNameLst>
                                          <p:attrName>ppt_h</p:attrName>
                                        </p:attrNameLst>
                                      </p:cBhvr>
                                      <p:tavLst>
                                        <p:tav tm="0">
                                          <p:val>
                                            <p:strVal val="#ppt_h"/>
                                          </p:val>
                                        </p:tav>
                                        <p:tav tm="100000">
                                          <p:val>
                                            <p:strVal val="#ppt_h"/>
                                          </p:val>
                                        </p:tav>
                                      </p:tavLst>
                                    </p:anim>
                                    <p:animEffect transition="in" filter="fade">
                                      <p:cBhvr>
                                        <p:cTn id="65" dur="1000"/>
                                        <p:tgtEl>
                                          <p:spTgt spid="3">
                                            <p:txEl>
                                              <p:pRg st="8" end="8"/>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55" presetClass="entr" presetSubtype="0" fill="hold" nodeType="clickEffect">
                                  <p:stCondLst>
                                    <p:cond delay="0"/>
                                  </p:stCondLst>
                                  <p:childTnLst>
                                    <p:set>
                                      <p:cBhvr>
                                        <p:cTn id="69" dur="1" fill="hold">
                                          <p:stCondLst>
                                            <p:cond delay="0"/>
                                          </p:stCondLst>
                                        </p:cTn>
                                        <p:tgtEl>
                                          <p:spTgt spid="3">
                                            <p:txEl>
                                              <p:pRg st="9" end="9"/>
                                            </p:txEl>
                                          </p:spTgt>
                                        </p:tgtEl>
                                        <p:attrNameLst>
                                          <p:attrName>style.visibility</p:attrName>
                                        </p:attrNameLst>
                                      </p:cBhvr>
                                      <p:to>
                                        <p:strVal val="visible"/>
                                      </p:to>
                                    </p:set>
                                    <p:anim calcmode="lin" valueType="num">
                                      <p:cBhvr>
                                        <p:cTn id="70" dur="1000" fill="hold"/>
                                        <p:tgtEl>
                                          <p:spTgt spid="3">
                                            <p:txEl>
                                              <p:pRg st="9" end="9"/>
                                            </p:txEl>
                                          </p:spTgt>
                                        </p:tgtEl>
                                        <p:attrNameLst>
                                          <p:attrName>ppt_w</p:attrName>
                                        </p:attrNameLst>
                                      </p:cBhvr>
                                      <p:tavLst>
                                        <p:tav tm="0">
                                          <p:val>
                                            <p:strVal val="#ppt_w*0.70"/>
                                          </p:val>
                                        </p:tav>
                                        <p:tav tm="100000">
                                          <p:val>
                                            <p:strVal val="#ppt_w"/>
                                          </p:val>
                                        </p:tav>
                                      </p:tavLst>
                                    </p:anim>
                                    <p:anim calcmode="lin" valueType="num">
                                      <p:cBhvr>
                                        <p:cTn id="71" dur="1000" fill="hold"/>
                                        <p:tgtEl>
                                          <p:spTgt spid="3">
                                            <p:txEl>
                                              <p:pRg st="9" end="9"/>
                                            </p:txEl>
                                          </p:spTgt>
                                        </p:tgtEl>
                                        <p:attrNameLst>
                                          <p:attrName>ppt_h</p:attrName>
                                        </p:attrNameLst>
                                      </p:cBhvr>
                                      <p:tavLst>
                                        <p:tav tm="0">
                                          <p:val>
                                            <p:strVal val="#ppt_h"/>
                                          </p:val>
                                        </p:tav>
                                        <p:tav tm="100000">
                                          <p:val>
                                            <p:strVal val="#ppt_h"/>
                                          </p:val>
                                        </p:tav>
                                      </p:tavLst>
                                    </p:anim>
                                    <p:animEffect transition="in" filter="fade">
                                      <p:cBhvr>
                                        <p:cTn id="72" dur="1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066800"/>
            <a:ext cx="8458200" cy="5334000"/>
          </a:xfrm>
        </p:spPr>
        <p:txBody>
          <a:bodyPr>
            <a:normAutofit/>
          </a:bodyPr>
          <a:lstStyle/>
          <a:p>
            <a:pPr marL="514350" indent="-514350" algn="just">
              <a:buNone/>
            </a:pPr>
            <a:r>
              <a:rPr lang="en-US" b="1" dirty="0"/>
              <a:t>How does GAN Training Scale with Batch Size?</a:t>
            </a:r>
          </a:p>
          <a:p>
            <a:pPr marL="514350" indent="-514350" algn="just">
              <a:buNone/>
            </a:pPr>
            <a:r>
              <a:rPr lang="en-US" b="1" dirty="0"/>
              <a:t>What is the Relationship Between GANs and Adversarial Examples?</a:t>
            </a:r>
          </a:p>
          <a:p>
            <a:pPr marL="514350" indent="-514350" algn="just">
              <a:buNone/>
            </a:pPr>
            <a:r>
              <a:rPr lang="en-US" b="1" dirty="0"/>
              <a:t>How Can we Scale GANs Beyond Image Synthesis?</a:t>
            </a:r>
          </a:p>
          <a:p>
            <a:pPr marL="514350" indent="-514350" algn="just">
              <a:buNone/>
            </a:pPr>
            <a:r>
              <a:rPr lang="en-US" b="1" dirty="0"/>
              <a:t>What Sorts of Distributions Can GANs Model?</a:t>
            </a:r>
          </a:p>
          <a:p>
            <a:pPr marL="514350" indent="-514350" algn="just">
              <a:buNone/>
            </a:pPr>
            <a:r>
              <a:rPr lang="en-US" b="1" dirty="0"/>
              <a:t>What are the Trade-Offs Between GANs and other Generative Models?</a:t>
            </a:r>
          </a:p>
          <a:p>
            <a:pPr marL="514350" lvl="0" indent="-514350" algn="just">
              <a:buNone/>
            </a:pPr>
            <a:r>
              <a:rPr lang="en-US" b="1" dirty="0"/>
              <a:t>Can you explain the difference between deep learning and traditional machine learning?</a:t>
            </a:r>
          </a:p>
          <a:p>
            <a:pPr marL="514350" lvl="0" indent="-514350" algn="just">
              <a:buNone/>
            </a:pPr>
            <a:r>
              <a:rPr lang="en-US" b="1" dirty="0"/>
              <a:t>Why are generative adversarial networks (GANs) so popular?</a:t>
            </a:r>
          </a:p>
          <a:p>
            <a:pPr marL="514350" lvl="0" indent="-514350" algn="just">
              <a:buNone/>
            </a:pPr>
            <a:r>
              <a:rPr lang="en-US" b="1" dirty="0"/>
              <a:t>Why are generative adversarial networks (GANs) so popular?</a:t>
            </a:r>
          </a:p>
          <a:p>
            <a:pPr marL="514350" lvl="0" indent="-514350" algn="just">
              <a:buNone/>
            </a:pPr>
            <a:r>
              <a:rPr lang="en-US" dirty="0"/>
              <a:t>Explain the difference between the discriminative and generative models</a:t>
            </a:r>
          </a:p>
          <a:p>
            <a:pPr marL="514350" lvl="0" indent="-514350" algn="just">
              <a:buNone/>
            </a:pPr>
            <a:r>
              <a:rPr lang="en-US" dirty="0"/>
              <a:t>Why GANs are called implicit density models? </a:t>
            </a:r>
          </a:p>
          <a:p>
            <a:pPr marL="514350" lvl="0" indent="-514350" algn="just">
              <a:buNone/>
            </a:pPr>
            <a:r>
              <a:rPr lang="en-US" b="1" dirty="0"/>
              <a:t>Which GAN implementation is among the most well-liked and effective</a:t>
            </a:r>
          </a:p>
          <a:p>
            <a:pPr marL="514350" lvl="0" indent="-514350" algn="just">
              <a:buNone/>
            </a:pPr>
            <a:r>
              <a:rPr lang="en-US" b="1" dirty="0"/>
              <a:t>Described as a deep learning technique that employs some conditional parameters.</a:t>
            </a:r>
            <a:endParaRPr lang="en-US" sz="1800" dirty="0"/>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209800" y="6356350"/>
            <a:ext cx="55626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111</a:t>
            </a:fld>
            <a:endParaRPr lang="en-US"/>
          </a:p>
        </p:txBody>
      </p:sp>
      <p:sp>
        <p:nvSpPr>
          <p:cNvPr id="7" name="Title 1"/>
          <p:cNvSpPr txBox="1">
            <a:spLocks/>
          </p:cNvSpPr>
          <p:nvPr/>
        </p:nvSpPr>
        <p:spPr>
          <a:xfrm>
            <a:off x="1371600" y="1"/>
            <a:ext cx="7772400" cy="9143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b="1" u="sng" dirty="0">
                <a:effectLst>
                  <a:outerShdw blurRad="38100" dist="38100" dir="2700000" algn="tl">
                    <a:srgbClr val="000000">
                      <a:alpha val="43137"/>
                    </a:srgbClr>
                  </a:outerShdw>
                </a:effectLst>
              </a:rPr>
              <a:t>EXPECTED QUESTIONS FOR UNIVERSITY EXAM </a:t>
            </a:r>
            <a:endPar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strVal val="#ppt_w*0.70"/>
                                          </p:val>
                                        </p:tav>
                                        <p:tav tm="100000">
                                          <p:val>
                                            <p:strVal val="#ppt_w"/>
                                          </p:val>
                                        </p:tav>
                                      </p:tavLst>
                                    </p:anim>
                                    <p:anim calcmode="lin" valueType="num">
                                      <p:cBhvr>
                                        <p:cTn id="8" dur="1000" fill="hold"/>
                                        <p:tgtEl>
                                          <p:spTgt spid="3">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3">
                                            <p:txEl>
                                              <p:pRg st="0" end="0"/>
                                            </p:txEl>
                                          </p:spTgt>
                                        </p:tgtEl>
                                      </p:cBhvr>
                                    </p:animEffect>
                                  </p:childTnLst>
                                </p:cTn>
                              </p:par>
                              <p:par>
                                <p:cTn id="10" presetID="55"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p:cTn id="12" dur="1000" fill="hold"/>
                                        <p:tgtEl>
                                          <p:spTgt spid="3">
                                            <p:txEl>
                                              <p:pRg st="1" end="1"/>
                                            </p:txEl>
                                          </p:spTgt>
                                        </p:tgtEl>
                                        <p:attrNameLst>
                                          <p:attrName>ppt_w</p:attrName>
                                        </p:attrNameLst>
                                      </p:cBhvr>
                                      <p:tavLst>
                                        <p:tav tm="0">
                                          <p:val>
                                            <p:strVal val="#ppt_w*0.70"/>
                                          </p:val>
                                        </p:tav>
                                        <p:tav tm="100000">
                                          <p:val>
                                            <p:strVal val="#ppt_w"/>
                                          </p:val>
                                        </p:tav>
                                      </p:tavLst>
                                    </p:anim>
                                    <p:anim calcmode="lin" valueType="num">
                                      <p:cBhvr>
                                        <p:cTn id="13" dur="1000" fill="hold"/>
                                        <p:tgtEl>
                                          <p:spTgt spid="3">
                                            <p:txEl>
                                              <p:pRg st="1" end="1"/>
                                            </p:txEl>
                                          </p:spTgt>
                                        </p:tgtEl>
                                        <p:attrNameLst>
                                          <p:attrName>ppt_h</p:attrName>
                                        </p:attrNameLst>
                                      </p:cBhvr>
                                      <p:tavLst>
                                        <p:tav tm="0">
                                          <p:val>
                                            <p:strVal val="#ppt_h"/>
                                          </p:val>
                                        </p:tav>
                                        <p:tav tm="100000">
                                          <p:val>
                                            <p:strVal val="#ppt_h"/>
                                          </p:val>
                                        </p:tav>
                                      </p:tavLst>
                                    </p:anim>
                                    <p:animEffect transition="in" filter="fade">
                                      <p:cBhvr>
                                        <p:cTn id="14" dur="1000"/>
                                        <p:tgtEl>
                                          <p:spTgt spid="3">
                                            <p:txEl>
                                              <p:pRg st="1" end="1"/>
                                            </p:txEl>
                                          </p:spTgt>
                                        </p:tgtEl>
                                      </p:cBhvr>
                                    </p:animEffect>
                                  </p:childTnLst>
                                </p:cTn>
                              </p:par>
                              <p:par>
                                <p:cTn id="15" presetID="55"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p:cTn id="17" dur="1000" fill="hold"/>
                                        <p:tgtEl>
                                          <p:spTgt spid="3">
                                            <p:txEl>
                                              <p:pRg st="2" end="2"/>
                                            </p:txEl>
                                          </p:spTgt>
                                        </p:tgtEl>
                                        <p:attrNameLst>
                                          <p:attrName>ppt_w</p:attrName>
                                        </p:attrNameLst>
                                      </p:cBhvr>
                                      <p:tavLst>
                                        <p:tav tm="0">
                                          <p:val>
                                            <p:strVal val="#ppt_w*0.70"/>
                                          </p:val>
                                        </p:tav>
                                        <p:tav tm="100000">
                                          <p:val>
                                            <p:strVal val="#ppt_w"/>
                                          </p:val>
                                        </p:tav>
                                      </p:tavLst>
                                    </p:anim>
                                    <p:anim calcmode="lin" valueType="num">
                                      <p:cBhvr>
                                        <p:cTn id="18" dur="1000" fill="hold"/>
                                        <p:tgtEl>
                                          <p:spTgt spid="3">
                                            <p:txEl>
                                              <p:pRg st="2" end="2"/>
                                            </p:txEl>
                                          </p:spTgt>
                                        </p:tgtEl>
                                        <p:attrNameLst>
                                          <p:attrName>ppt_h</p:attrName>
                                        </p:attrNameLst>
                                      </p:cBhvr>
                                      <p:tavLst>
                                        <p:tav tm="0">
                                          <p:val>
                                            <p:strVal val="#ppt_h"/>
                                          </p:val>
                                        </p:tav>
                                        <p:tav tm="100000">
                                          <p:val>
                                            <p:strVal val="#ppt_h"/>
                                          </p:val>
                                        </p:tav>
                                      </p:tavLst>
                                    </p:anim>
                                    <p:animEffect transition="in" filter="fade">
                                      <p:cBhvr>
                                        <p:cTn id="19" dur="1000"/>
                                        <p:tgtEl>
                                          <p:spTgt spid="3">
                                            <p:txEl>
                                              <p:pRg st="2" end="2"/>
                                            </p:txEl>
                                          </p:spTgt>
                                        </p:tgtEl>
                                      </p:cBhvr>
                                    </p:animEffect>
                                  </p:childTnLst>
                                </p:cTn>
                              </p:par>
                              <p:par>
                                <p:cTn id="20" presetID="55"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 calcmode="lin" valueType="num">
                                      <p:cBhvr>
                                        <p:cTn id="22" dur="1000" fill="hold"/>
                                        <p:tgtEl>
                                          <p:spTgt spid="3">
                                            <p:txEl>
                                              <p:pRg st="3" end="3"/>
                                            </p:txEl>
                                          </p:spTgt>
                                        </p:tgtEl>
                                        <p:attrNameLst>
                                          <p:attrName>ppt_w</p:attrName>
                                        </p:attrNameLst>
                                      </p:cBhvr>
                                      <p:tavLst>
                                        <p:tav tm="0">
                                          <p:val>
                                            <p:strVal val="#ppt_w*0.70"/>
                                          </p:val>
                                        </p:tav>
                                        <p:tav tm="100000">
                                          <p:val>
                                            <p:strVal val="#ppt_w"/>
                                          </p:val>
                                        </p:tav>
                                      </p:tavLst>
                                    </p:anim>
                                    <p:anim calcmode="lin" valueType="num">
                                      <p:cBhvr>
                                        <p:cTn id="23" dur="1000" fill="hold"/>
                                        <p:tgtEl>
                                          <p:spTgt spid="3">
                                            <p:txEl>
                                              <p:pRg st="3" end="3"/>
                                            </p:txEl>
                                          </p:spTgt>
                                        </p:tgtEl>
                                        <p:attrNameLst>
                                          <p:attrName>ppt_h</p:attrName>
                                        </p:attrNameLst>
                                      </p:cBhvr>
                                      <p:tavLst>
                                        <p:tav tm="0">
                                          <p:val>
                                            <p:strVal val="#ppt_h"/>
                                          </p:val>
                                        </p:tav>
                                        <p:tav tm="100000">
                                          <p:val>
                                            <p:strVal val="#ppt_h"/>
                                          </p:val>
                                        </p:tav>
                                      </p:tavLst>
                                    </p:anim>
                                    <p:animEffect transition="in" filter="fade">
                                      <p:cBhvr>
                                        <p:cTn id="24" dur="1000"/>
                                        <p:tgtEl>
                                          <p:spTgt spid="3">
                                            <p:txEl>
                                              <p:pRg st="3" end="3"/>
                                            </p:txEl>
                                          </p:spTgt>
                                        </p:tgtEl>
                                      </p:cBhvr>
                                    </p:animEffect>
                                  </p:childTnLst>
                                </p:cTn>
                              </p:par>
                              <p:par>
                                <p:cTn id="25" presetID="55" presetClass="entr" presetSubtype="0"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p:cTn id="27" dur="1000" fill="hold"/>
                                        <p:tgtEl>
                                          <p:spTgt spid="3">
                                            <p:txEl>
                                              <p:pRg st="4" end="4"/>
                                            </p:txEl>
                                          </p:spTgt>
                                        </p:tgtEl>
                                        <p:attrNameLst>
                                          <p:attrName>ppt_w</p:attrName>
                                        </p:attrNameLst>
                                      </p:cBhvr>
                                      <p:tavLst>
                                        <p:tav tm="0">
                                          <p:val>
                                            <p:strVal val="#ppt_w*0.70"/>
                                          </p:val>
                                        </p:tav>
                                        <p:tav tm="100000">
                                          <p:val>
                                            <p:strVal val="#ppt_w"/>
                                          </p:val>
                                        </p:tav>
                                      </p:tavLst>
                                    </p:anim>
                                    <p:anim calcmode="lin" valueType="num">
                                      <p:cBhvr>
                                        <p:cTn id="28" dur="1000" fill="hold"/>
                                        <p:tgtEl>
                                          <p:spTgt spid="3">
                                            <p:txEl>
                                              <p:pRg st="4" end="4"/>
                                            </p:txEl>
                                          </p:spTgt>
                                        </p:tgtEl>
                                        <p:attrNameLst>
                                          <p:attrName>ppt_h</p:attrName>
                                        </p:attrNameLst>
                                      </p:cBhvr>
                                      <p:tavLst>
                                        <p:tav tm="0">
                                          <p:val>
                                            <p:strVal val="#ppt_h"/>
                                          </p:val>
                                        </p:tav>
                                        <p:tav tm="100000">
                                          <p:val>
                                            <p:strVal val="#ppt_h"/>
                                          </p:val>
                                        </p:tav>
                                      </p:tavLst>
                                    </p:anim>
                                    <p:animEffect transition="in" filter="fade">
                                      <p:cBhvr>
                                        <p:cTn id="29" dur="1000"/>
                                        <p:tgtEl>
                                          <p:spTgt spid="3">
                                            <p:txEl>
                                              <p:pRg st="4" end="4"/>
                                            </p:txEl>
                                          </p:spTgt>
                                        </p:tgtEl>
                                      </p:cBhvr>
                                    </p:animEffect>
                                  </p:childTnLst>
                                </p:cTn>
                              </p:par>
                              <p:par>
                                <p:cTn id="30" presetID="55" presetClass="entr" presetSubtype="0" fill="hold" nodeType="with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 calcmode="lin" valueType="num">
                                      <p:cBhvr>
                                        <p:cTn id="32" dur="1000" fill="hold"/>
                                        <p:tgtEl>
                                          <p:spTgt spid="3">
                                            <p:txEl>
                                              <p:pRg st="5" end="5"/>
                                            </p:txEl>
                                          </p:spTgt>
                                        </p:tgtEl>
                                        <p:attrNameLst>
                                          <p:attrName>ppt_w</p:attrName>
                                        </p:attrNameLst>
                                      </p:cBhvr>
                                      <p:tavLst>
                                        <p:tav tm="0">
                                          <p:val>
                                            <p:strVal val="#ppt_w*0.70"/>
                                          </p:val>
                                        </p:tav>
                                        <p:tav tm="100000">
                                          <p:val>
                                            <p:strVal val="#ppt_w"/>
                                          </p:val>
                                        </p:tav>
                                      </p:tavLst>
                                    </p:anim>
                                    <p:anim calcmode="lin" valueType="num">
                                      <p:cBhvr>
                                        <p:cTn id="33" dur="1000" fill="hold"/>
                                        <p:tgtEl>
                                          <p:spTgt spid="3">
                                            <p:txEl>
                                              <p:pRg st="5" end="5"/>
                                            </p:txEl>
                                          </p:spTgt>
                                        </p:tgtEl>
                                        <p:attrNameLst>
                                          <p:attrName>ppt_h</p:attrName>
                                        </p:attrNameLst>
                                      </p:cBhvr>
                                      <p:tavLst>
                                        <p:tav tm="0">
                                          <p:val>
                                            <p:strVal val="#ppt_h"/>
                                          </p:val>
                                        </p:tav>
                                        <p:tav tm="100000">
                                          <p:val>
                                            <p:strVal val="#ppt_h"/>
                                          </p:val>
                                        </p:tav>
                                      </p:tavLst>
                                    </p:anim>
                                    <p:animEffect transition="in" filter="fade">
                                      <p:cBhvr>
                                        <p:cTn id="34" dur="1000"/>
                                        <p:tgtEl>
                                          <p:spTgt spid="3">
                                            <p:txEl>
                                              <p:pRg st="5" end="5"/>
                                            </p:txEl>
                                          </p:spTgt>
                                        </p:tgtEl>
                                      </p:cBhvr>
                                    </p:animEffect>
                                  </p:childTnLst>
                                </p:cTn>
                              </p:par>
                              <p:par>
                                <p:cTn id="35" presetID="55" presetClass="entr" presetSubtype="0" fill="hold"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p:cTn id="37" dur="1000" fill="hold"/>
                                        <p:tgtEl>
                                          <p:spTgt spid="3">
                                            <p:txEl>
                                              <p:pRg st="6" end="6"/>
                                            </p:txEl>
                                          </p:spTgt>
                                        </p:tgtEl>
                                        <p:attrNameLst>
                                          <p:attrName>ppt_w</p:attrName>
                                        </p:attrNameLst>
                                      </p:cBhvr>
                                      <p:tavLst>
                                        <p:tav tm="0">
                                          <p:val>
                                            <p:strVal val="#ppt_w*0.70"/>
                                          </p:val>
                                        </p:tav>
                                        <p:tav tm="100000">
                                          <p:val>
                                            <p:strVal val="#ppt_w"/>
                                          </p:val>
                                        </p:tav>
                                      </p:tavLst>
                                    </p:anim>
                                    <p:anim calcmode="lin" valueType="num">
                                      <p:cBhvr>
                                        <p:cTn id="38" dur="1000" fill="hold"/>
                                        <p:tgtEl>
                                          <p:spTgt spid="3">
                                            <p:txEl>
                                              <p:pRg st="6" end="6"/>
                                            </p:txEl>
                                          </p:spTgt>
                                        </p:tgtEl>
                                        <p:attrNameLst>
                                          <p:attrName>ppt_h</p:attrName>
                                        </p:attrNameLst>
                                      </p:cBhvr>
                                      <p:tavLst>
                                        <p:tav tm="0">
                                          <p:val>
                                            <p:strVal val="#ppt_h"/>
                                          </p:val>
                                        </p:tav>
                                        <p:tav tm="100000">
                                          <p:val>
                                            <p:strVal val="#ppt_h"/>
                                          </p:val>
                                        </p:tav>
                                      </p:tavLst>
                                    </p:anim>
                                    <p:animEffect transition="in" filter="fade">
                                      <p:cBhvr>
                                        <p:cTn id="39" dur="1000"/>
                                        <p:tgtEl>
                                          <p:spTgt spid="3">
                                            <p:txEl>
                                              <p:pRg st="6" end="6"/>
                                            </p:txEl>
                                          </p:spTgt>
                                        </p:tgtEl>
                                      </p:cBhvr>
                                    </p:animEffect>
                                  </p:childTnLst>
                                </p:cTn>
                              </p:par>
                              <p:par>
                                <p:cTn id="40" presetID="55" presetClass="entr" presetSubtype="0" fill="hold" nodeType="with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 calcmode="lin" valueType="num">
                                      <p:cBhvr>
                                        <p:cTn id="42" dur="1000" fill="hold"/>
                                        <p:tgtEl>
                                          <p:spTgt spid="3">
                                            <p:txEl>
                                              <p:pRg st="7" end="7"/>
                                            </p:txEl>
                                          </p:spTgt>
                                        </p:tgtEl>
                                        <p:attrNameLst>
                                          <p:attrName>ppt_w</p:attrName>
                                        </p:attrNameLst>
                                      </p:cBhvr>
                                      <p:tavLst>
                                        <p:tav tm="0">
                                          <p:val>
                                            <p:strVal val="#ppt_w*0.70"/>
                                          </p:val>
                                        </p:tav>
                                        <p:tav tm="100000">
                                          <p:val>
                                            <p:strVal val="#ppt_w"/>
                                          </p:val>
                                        </p:tav>
                                      </p:tavLst>
                                    </p:anim>
                                    <p:anim calcmode="lin" valueType="num">
                                      <p:cBhvr>
                                        <p:cTn id="43" dur="1000" fill="hold"/>
                                        <p:tgtEl>
                                          <p:spTgt spid="3">
                                            <p:txEl>
                                              <p:pRg st="7" end="7"/>
                                            </p:txEl>
                                          </p:spTgt>
                                        </p:tgtEl>
                                        <p:attrNameLst>
                                          <p:attrName>ppt_h</p:attrName>
                                        </p:attrNameLst>
                                      </p:cBhvr>
                                      <p:tavLst>
                                        <p:tav tm="0">
                                          <p:val>
                                            <p:strVal val="#ppt_h"/>
                                          </p:val>
                                        </p:tav>
                                        <p:tav tm="100000">
                                          <p:val>
                                            <p:strVal val="#ppt_h"/>
                                          </p:val>
                                        </p:tav>
                                      </p:tavLst>
                                    </p:anim>
                                    <p:animEffect transition="in" filter="fade">
                                      <p:cBhvr>
                                        <p:cTn id="44" dur="1000"/>
                                        <p:tgtEl>
                                          <p:spTgt spid="3">
                                            <p:txEl>
                                              <p:pRg st="7" end="7"/>
                                            </p:txEl>
                                          </p:spTgt>
                                        </p:tgtEl>
                                      </p:cBhvr>
                                    </p:animEffect>
                                  </p:childTnLst>
                                </p:cTn>
                              </p:par>
                              <p:par>
                                <p:cTn id="45" presetID="55" presetClass="entr" presetSubtype="0" fill="hold" nodeType="with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 calcmode="lin" valueType="num">
                                      <p:cBhvr>
                                        <p:cTn id="47" dur="1000" fill="hold"/>
                                        <p:tgtEl>
                                          <p:spTgt spid="3">
                                            <p:txEl>
                                              <p:pRg st="8" end="8"/>
                                            </p:txEl>
                                          </p:spTgt>
                                        </p:tgtEl>
                                        <p:attrNameLst>
                                          <p:attrName>ppt_w</p:attrName>
                                        </p:attrNameLst>
                                      </p:cBhvr>
                                      <p:tavLst>
                                        <p:tav tm="0">
                                          <p:val>
                                            <p:strVal val="#ppt_w*0.70"/>
                                          </p:val>
                                        </p:tav>
                                        <p:tav tm="100000">
                                          <p:val>
                                            <p:strVal val="#ppt_w"/>
                                          </p:val>
                                        </p:tav>
                                      </p:tavLst>
                                    </p:anim>
                                    <p:anim calcmode="lin" valueType="num">
                                      <p:cBhvr>
                                        <p:cTn id="48" dur="1000" fill="hold"/>
                                        <p:tgtEl>
                                          <p:spTgt spid="3">
                                            <p:txEl>
                                              <p:pRg st="8" end="8"/>
                                            </p:txEl>
                                          </p:spTgt>
                                        </p:tgtEl>
                                        <p:attrNameLst>
                                          <p:attrName>ppt_h</p:attrName>
                                        </p:attrNameLst>
                                      </p:cBhvr>
                                      <p:tavLst>
                                        <p:tav tm="0">
                                          <p:val>
                                            <p:strVal val="#ppt_h"/>
                                          </p:val>
                                        </p:tav>
                                        <p:tav tm="100000">
                                          <p:val>
                                            <p:strVal val="#ppt_h"/>
                                          </p:val>
                                        </p:tav>
                                      </p:tavLst>
                                    </p:anim>
                                    <p:animEffect transition="in" filter="fade">
                                      <p:cBhvr>
                                        <p:cTn id="49" dur="1000"/>
                                        <p:tgtEl>
                                          <p:spTgt spid="3">
                                            <p:txEl>
                                              <p:pRg st="8" end="8"/>
                                            </p:txEl>
                                          </p:spTgt>
                                        </p:tgtEl>
                                      </p:cBhvr>
                                    </p:animEffect>
                                  </p:childTnLst>
                                </p:cTn>
                              </p:par>
                              <p:par>
                                <p:cTn id="50" presetID="55" presetClass="entr" presetSubtype="0" fill="hold" nodeType="with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 calcmode="lin" valueType="num">
                                      <p:cBhvr>
                                        <p:cTn id="52" dur="1000" fill="hold"/>
                                        <p:tgtEl>
                                          <p:spTgt spid="3">
                                            <p:txEl>
                                              <p:pRg st="9" end="9"/>
                                            </p:txEl>
                                          </p:spTgt>
                                        </p:tgtEl>
                                        <p:attrNameLst>
                                          <p:attrName>ppt_w</p:attrName>
                                        </p:attrNameLst>
                                      </p:cBhvr>
                                      <p:tavLst>
                                        <p:tav tm="0">
                                          <p:val>
                                            <p:strVal val="#ppt_w*0.70"/>
                                          </p:val>
                                        </p:tav>
                                        <p:tav tm="100000">
                                          <p:val>
                                            <p:strVal val="#ppt_w"/>
                                          </p:val>
                                        </p:tav>
                                      </p:tavLst>
                                    </p:anim>
                                    <p:anim calcmode="lin" valueType="num">
                                      <p:cBhvr>
                                        <p:cTn id="53" dur="1000" fill="hold"/>
                                        <p:tgtEl>
                                          <p:spTgt spid="3">
                                            <p:txEl>
                                              <p:pRg st="9" end="9"/>
                                            </p:txEl>
                                          </p:spTgt>
                                        </p:tgtEl>
                                        <p:attrNameLst>
                                          <p:attrName>ppt_h</p:attrName>
                                        </p:attrNameLst>
                                      </p:cBhvr>
                                      <p:tavLst>
                                        <p:tav tm="0">
                                          <p:val>
                                            <p:strVal val="#ppt_h"/>
                                          </p:val>
                                        </p:tav>
                                        <p:tav tm="100000">
                                          <p:val>
                                            <p:strVal val="#ppt_h"/>
                                          </p:val>
                                        </p:tav>
                                      </p:tavLst>
                                    </p:anim>
                                    <p:animEffect transition="in" filter="fade">
                                      <p:cBhvr>
                                        <p:cTn id="54" dur="1000"/>
                                        <p:tgtEl>
                                          <p:spTgt spid="3">
                                            <p:txEl>
                                              <p:pRg st="9" end="9"/>
                                            </p:txEl>
                                          </p:spTgt>
                                        </p:tgtEl>
                                      </p:cBhvr>
                                    </p:animEffect>
                                  </p:childTnLst>
                                </p:cTn>
                              </p:par>
                              <p:par>
                                <p:cTn id="55" presetID="55" presetClass="entr" presetSubtype="0" fill="hold" nodeType="with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 calcmode="lin" valueType="num">
                                      <p:cBhvr>
                                        <p:cTn id="57" dur="1000" fill="hold"/>
                                        <p:tgtEl>
                                          <p:spTgt spid="3">
                                            <p:txEl>
                                              <p:pRg st="10" end="10"/>
                                            </p:txEl>
                                          </p:spTgt>
                                        </p:tgtEl>
                                        <p:attrNameLst>
                                          <p:attrName>ppt_w</p:attrName>
                                        </p:attrNameLst>
                                      </p:cBhvr>
                                      <p:tavLst>
                                        <p:tav tm="0">
                                          <p:val>
                                            <p:strVal val="#ppt_w*0.70"/>
                                          </p:val>
                                        </p:tav>
                                        <p:tav tm="100000">
                                          <p:val>
                                            <p:strVal val="#ppt_w"/>
                                          </p:val>
                                        </p:tav>
                                      </p:tavLst>
                                    </p:anim>
                                    <p:anim calcmode="lin" valueType="num">
                                      <p:cBhvr>
                                        <p:cTn id="58" dur="1000" fill="hold"/>
                                        <p:tgtEl>
                                          <p:spTgt spid="3">
                                            <p:txEl>
                                              <p:pRg st="10" end="10"/>
                                            </p:txEl>
                                          </p:spTgt>
                                        </p:tgtEl>
                                        <p:attrNameLst>
                                          <p:attrName>ppt_h</p:attrName>
                                        </p:attrNameLst>
                                      </p:cBhvr>
                                      <p:tavLst>
                                        <p:tav tm="0">
                                          <p:val>
                                            <p:strVal val="#ppt_h"/>
                                          </p:val>
                                        </p:tav>
                                        <p:tav tm="100000">
                                          <p:val>
                                            <p:strVal val="#ppt_h"/>
                                          </p:val>
                                        </p:tav>
                                      </p:tavLst>
                                    </p:anim>
                                    <p:animEffect transition="in" filter="fade">
                                      <p:cBhvr>
                                        <p:cTn id="59" dur="1000"/>
                                        <p:tgtEl>
                                          <p:spTgt spid="3">
                                            <p:txEl>
                                              <p:pRg st="10" end="10"/>
                                            </p:txEl>
                                          </p:spTgt>
                                        </p:tgtEl>
                                      </p:cBhvr>
                                    </p:animEffect>
                                  </p:childTnLst>
                                </p:cTn>
                              </p:par>
                              <p:par>
                                <p:cTn id="60" presetID="55" presetClass="entr" presetSubtype="0" fill="hold" nodeType="withEffect">
                                  <p:stCondLst>
                                    <p:cond delay="0"/>
                                  </p:stCondLst>
                                  <p:childTnLst>
                                    <p:set>
                                      <p:cBhvr>
                                        <p:cTn id="61" dur="1" fill="hold">
                                          <p:stCondLst>
                                            <p:cond delay="0"/>
                                          </p:stCondLst>
                                        </p:cTn>
                                        <p:tgtEl>
                                          <p:spTgt spid="3">
                                            <p:txEl>
                                              <p:pRg st="11" end="11"/>
                                            </p:txEl>
                                          </p:spTgt>
                                        </p:tgtEl>
                                        <p:attrNameLst>
                                          <p:attrName>style.visibility</p:attrName>
                                        </p:attrNameLst>
                                      </p:cBhvr>
                                      <p:to>
                                        <p:strVal val="visible"/>
                                      </p:to>
                                    </p:set>
                                    <p:anim calcmode="lin" valueType="num">
                                      <p:cBhvr>
                                        <p:cTn id="62" dur="1000" fill="hold"/>
                                        <p:tgtEl>
                                          <p:spTgt spid="3">
                                            <p:txEl>
                                              <p:pRg st="11" end="11"/>
                                            </p:txEl>
                                          </p:spTgt>
                                        </p:tgtEl>
                                        <p:attrNameLst>
                                          <p:attrName>ppt_w</p:attrName>
                                        </p:attrNameLst>
                                      </p:cBhvr>
                                      <p:tavLst>
                                        <p:tav tm="0">
                                          <p:val>
                                            <p:strVal val="#ppt_w*0.70"/>
                                          </p:val>
                                        </p:tav>
                                        <p:tav tm="100000">
                                          <p:val>
                                            <p:strVal val="#ppt_w"/>
                                          </p:val>
                                        </p:tav>
                                      </p:tavLst>
                                    </p:anim>
                                    <p:anim calcmode="lin" valueType="num">
                                      <p:cBhvr>
                                        <p:cTn id="63" dur="1000" fill="hold"/>
                                        <p:tgtEl>
                                          <p:spTgt spid="3">
                                            <p:txEl>
                                              <p:pRg st="11" end="11"/>
                                            </p:txEl>
                                          </p:spTgt>
                                        </p:tgtEl>
                                        <p:attrNameLst>
                                          <p:attrName>ppt_h</p:attrName>
                                        </p:attrNameLst>
                                      </p:cBhvr>
                                      <p:tavLst>
                                        <p:tav tm="0">
                                          <p:val>
                                            <p:strVal val="#ppt_h"/>
                                          </p:val>
                                        </p:tav>
                                        <p:tav tm="100000">
                                          <p:val>
                                            <p:strVal val="#ppt_h"/>
                                          </p:val>
                                        </p:tav>
                                      </p:tavLst>
                                    </p:anim>
                                    <p:animEffect transition="in" filter="fade">
                                      <p:cBhvr>
                                        <p:cTn id="64" dur="10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56350"/>
            <a:ext cx="51816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112</a:t>
            </a:fld>
            <a:endParaRPr lang="en-US"/>
          </a:p>
        </p:txBody>
      </p:sp>
      <p:sp>
        <p:nvSpPr>
          <p:cNvPr id="7"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SUMMARY</a:t>
            </a: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9" name="TextBox 8"/>
          <p:cNvSpPr txBox="1"/>
          <p:nvPr/>
        </p:nvSpPr>
        <p:spPr>
          <a:xfrm>
            <a:off x="533400" y="990600"/>
            <a:ext cx="8153400" cy="4801314"/>
          </a:xfrm>
          <a:prstGeom prst="rect">
            <a:avLst/>
          </a:prstGeom>
          <a:noFill/>
        </p:spPr>
        <p:txBody>
          <a:bodyPr wrap="square" rtlCol="0">
            <a:spAutoFit/>
          </a:bodyPr>
          <a:lstStyle/>
          <a:p>
            <a:pPr marL="285750" indent="-285750"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Computer vision is a field of study that deals with the extraction of information from images or videos to understand and interpret visual data. It involves the development of algorithms and techniques to enable computers to perceive and understand the visual world in a way similar to humans.</a:t>
            </a:r>
          </a:p>
          <a:p>
            <a:pPr marL="285750" indent="-285750"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Computer vision encompasses various tasks and applications, including image classification, object detection, image segmentation, facial recognition, scene understanding, and video analysis. These tasks involve processing and analyzing visual data to extract meaningful information and make decisions based on it.</a:t>
            </a:r>
          </a:p>
          <a:p>
            <a:pPr marL="285750" indent="-285750"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The fundamental concepts in computer vision include image formation, image processing, feature extraction, and pattern recognition. Image formation deals with how images are captured and represented using pixels. Image processing techniques are used to enhance and manipulate images to improve their quality or extract specific information. Feature extraction involves identifying relevant visual characteristics or patterns from images that can be used for tasks like object recognition or tracking.</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514600" y="6356350"/>
            <a:ext cx="51816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113</a:t>
            </a:fld>
            <a:endParaRPr lang="en-US"/>
          </a:p>
        </p:txBody>
      </p:sp>
      <p:sp>
        <p:nvSpPr>
          <p:cNvPr id="7"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1" i="0" u="sng" strike="noStrike" kern="1200" cap="none" spc="0" normalizeH="0" baseline="0" noProof="0" dirty="0">
                <a:ln>
                  <a:noFill/>
                </a:ln>
                <a:solidFill>
                  <a:schemeClr val="dk1"/>
                </a:solidFill>
                <a:effectLst>
                  <a:outerShdw blurRad="38100" dist="38100" dir="2700000" algn="tl">
                    <a:srgbClr val="000000">
                      <a:alpha val="43137"/>
                    </a:srgbClr>
                  </a:outerShdw>
                </a:effectLst>
                <a:uLnTx/>
                <a:uFillTx/>
                <a:latin typeface="+mn-lt"/>
                <a:ea typeface="+mn-ea"/>
                <a:cs typeface="+mn-cs"/>
              </a:rPr>
              <a:t>SUMMARY</a:t>
            </a: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9" name="TextBox 8"/>
          <p:cNvSpPr txBox="1"/>
          <p:nvPr/>
        </p:nvSpPr>
        <p:spPr>
          <a:xfrm>
            <a:off x="533400" y="990600"/>
            <a:ext cx="8153400" cy="4801314"/>
          </a:xfrm>
          <a:prstGeom prst="rect">
            <a:avLst/>
          </a:prstGeom>
          <a:noFill/>
        </p:spPr>
        <p:txBody>
          <a:bodyPr wrap="square" rtlCol="0">
            <a:spAutoFit/>
          </a:bodyPr>
          <a:lstStyle/>
          <a:p>
            <a:pPr marL="285750" indent="-285750">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Computer vision techniques employ both traditional computer vision algorithms and deep learning approaches. Traditional algorithms rely on handcrafted features and mathematical models to process and analyze visual data. Deep learning methods, particularly convolutional neural networks (CNNs), have gained popularity in recent years due to their ability to learn directly from raw pixel data and achieve state-of-the-art results in various computer vision tasks.</a:t>
            </a:r>
          </a:p>
          <a:p>
            <a:pPr marL="285750" indent="-285750">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Computer vision finds applications in diverse fields such as autonomous vehicles, surveillance systems, medical imaging, robotics, augmented reality, and industrial automation. It plays a crucial role in enabling machines to understand and interact with the visual world, opening up possibilities for advanced applications and advancements in numerous domains.</a:t>
            </a:r>
          </a:p>
          <a:p>
            <a:pPr marL="285750" indent="-285750">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As computer vision continues to evolve, researchers and practitioners explore new techniques, algorithms, and applications to tackle more complex challenges and improve the accuracy and efficiency of visual understanding by machines.</a:t>
            </a:r>
          </a:p>
        </p:txBody>
      </p:sp>
    </p:spTree>
    <p:extLst>
      <p:ext uri="{BB962C8B-B14F-4D97-AF65-F5344CB8AC3E}">
        <p14:creationId xmlns:p14="http://schemas.microsoft.com/office/powerpoint/2010/main" val="189431964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a:xfrm>
            <a:off x="0" y="914400"/>
            <a:ext cx="9144000" cy="5121915"/>
          </a:xfrm>
          <a:prstGeom prst="rect">
            <a:avLst/>
          </a:prstGeom>
          <a:noFill/>
        </p:spPr>
        <p:txBody>
          <a:bodyPr wrap="square" lIns="91440" tIns="45720" rIns="91440" bIns="45720">
            <a:spAutoFit/>
          </a:bodyPr>
          <a:lstStyle/>
          <a:p>
            <a:r>
              <a:rPr lang="en-US" dirty="0"/>
              <a:t>"Computer Vision: Algorithms and Applications" by Richard </a:t>
            </a:r>
            <a:r>
              <a:rPr lang="en-US" dirty="0" err="1"/>
              <a:t>Szeliski</a:t>
            </a:r>
            <a:endParaRPr lang="en-US" dirty="0"/>
          </a:p>
          <a:p>
            <a:pPr lvl="1"/>
            <a:r>
              <a:rPr lang="en-US" dirty="0"/>
              <a:t>This comprehensive book covers the fundamental concepts and algorithms in computer vision, including image formation, image features, stereo vision, multiple view geometry, and object recognition. It also includes numerous examples and MATLAB code snippets.</a:t>
            </a:r>
          </a:p>
          <a:p>
            <a:r>
              <a:rPr lang="en-US" dirty="0"/>
              <a:t>"Deep Learning for Computer Vision with Python" by Adrian </a:t>
            </a:r>
            <a:r>
              <a:rPr lang="en-US" dirty="0" err="1"/>
              <a:t>Rosebrock</a:t>
            </a:r>
            <a:endParaRPr lang="en-US" dirty="0"/>
          </a:p>
          <a:p>
            <a:pPr lvl="1"/>
            <a:r>
              <a:rPr lang="en-US" dirty="0"/>
              <a:t>This book focuses on applying deep learning techniques to solve computer vision problems. It covers topics such as convolutional neural networks (CNNs), image classification, object detection, and image segmentation. The book provides practical examples and code implementations using Python and the </a:t>
            </a:r>
            <a:r>
              <a:rPr lang="en-US" dirty="0" err="1"/>
              <a:t>Keras</a:t>
            </a:r>
            <a:r>
              <a:rPr lang="en-US" dirty="0"/>
              <a:t> library.</a:t>
            </a:r>
          </a:p>
          <a:p>
            <a:r>
              <a:rPr lang="en-US" dirty="0"/>
              <a:t>"Computer Vision: Models, Learning, and Inference" by Simon J.D. Prince</a:t>
            </a:r>
          </a:p>
          <a:p>
            <a:pPr lvl="1"/>
            <a:r>
              <a:rPr lang="en-US" dirty="0"/>
              <a:t>This book provides a comprehensive introduction to computer vision, covering various topics such as image formation, filtering, feature detection and matching, object recognition, and 3D reconstruction. It also includes discussions on statistical and probabilistic models in computer vision.</a:t>
            </a:r>
            <a:endParaRPr lang="en-US" sz="1800" dirty="0">
              <a:solidFill>
                <a:srgbClr val="002060"/>
              </a:solidFill>
            </a:endParaRPr>
          </a:p>
          <a:p>
            <a:pPr>
              <a:buFont typeface="Wingdings" pitchFamily="2" charset="2"/>
              <a:buChar char="Ø"/>
            </a:pPr>
            <a:r>
              <a:rPr lang="en-US" sz="1800" dirty="0">
                <a:solidFill>
                  <a:srgbClr val="002060"/>
                </a:solidFill>
                <a:hlinkClick r:id="rId2"/>
              </a:rPr>
              <a:t>https://www.oreilly.com/library/view/datawarehousingarchitecture/0130809020/ch07.html</a:t>
            </a:r>
            <a:endParaRPr lang="en-US" sz="1800" dirty="0">
              <a:solidFill>
                <a:srgbClr val="002060"/>
              </a:solidFill>
            </a:endParaRPr>
          </a:p>
          <a:p>
            <a:pPr>
              <a:buFont typeface="Wingdings" pitchFamily="2" charset="2"/>
              <a:buChar char="Ø"/>
            </a:pPr>
            <a:r>
              <a:rPr lang="en-US" sz="1800" dirty="0">
                <a:solidFill>
                  <a:srgbClr val="002060"/>
                </a:solidFill>
                <a:hlinkClick r:id="rId3"/>
              </a:rPr>
              <a:t>https://www.slideshare.net/2cdude/data-warehousing-3292359</a:t>
            </a:r>
            <a:endParaRPr lang="en-US" sz="1800" dirty="0">
              <a:solidFill>
                <a:srgbClr val="002060"/>
              </a:solidFill>
            </a:endParaRPr>
          </a:p>
          <a:p>
            <a:pPr>
              <a:buFont typeface="Wingdings" pitchFamily="2" charset="2"/>
              <a:buChar char="Ø"/>
            </a:pPr>
            <a:endParaRPr lang="en-US" sz="1800" dirty="0">
              <a:ln w="10541" cmpd="sng">
                <a:solidFill>
                  <a:schemeClr val="accent1">
                    <a:shade val="88000"/>
                    <a:satMod val="110000"/>
                  </a:schemeClr>
                </a:solidFill>
                <a:prstDash val="solid"/>
              </a:ln>
              <a:solidFill>
                <a:srgbClr val="002060"/>
              </a:solidFill>
            </a:endParaRP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209800" y="6356350"/>
            <a:ext cx="5562600" cy="365125"/>
          </a:xfrm>
        </p:spPr>
        <p:txBody>
          <a:bodyPr/>
          <a:lstStyle/>
          <a:p>
            <a:r>
              <a:rPr lang="it-IT"/>
              <a:t>Dr Preeti Gera            COMPUTER VISION  UNIT- IV</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114</a:t>
            </a:fld>
            <a:endParaRPr lang="en-US"/>
          </a:p>
        </p:txBody>
      </p:sp>
      <p:sp>
        <p:nvSpPr>
          <p:cNvPr id="7"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b="1" dirty="0"/>
              <a:t>REFERENCES</a:t>
            </a:r>
            <a:endParaRPr kumimoji="0" lang="en-US" sz="2400" b="1" i="0" u="none" strike="noStrike" kern="1200" cap="none" spc="0" normalizeH="0" baseline="0" noProof="0" dirty="0">
              <a:ln>
                <a:noFill/>
              </a:ln>
              <a:solidFill>
                <a:schemeClr val="dk1"/>
              </a:solidFill>
              <a:effectLst/>
              <a:uLnTx/>
              <a:uFillTx/>
            </a:endParaRPr>
          </a:p>
        </p:txBody>
      </p:sp>
      <p:pic>
        <p:nvPicPr>
          <p:cNvPr id="8" name="Picture 2" descr="E:\NIET\Project\xLogo11.png.pagespeed.ic.pydHLuCQEZ.png"/>
          <p:cNvPicPr>
            <a:picLocks noChangeAspect="1" noChangeArrowheads="1"/>
          </p:cNvPicPr>
          <p:nvPr/>
        </p:nvPicPr>
        <p:blipFill>
          <a:blip r:embed="rId4"/>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255522020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solidFill>
                <a:schemeClr val="tx1"/>
              </a:solidFill>
            </a:endParaRPr>
          </a:p>
        </p:txBody>
      </p:sp>
      <p:sp>
        <p:nvSpPr>
          <p:cNvPr id="5" name="Footer Placeholder 4"/>
          <p:cNvSpPr>
            <a:spLocks noGrp="1"/>
          </p:cNvSpPr>
          <p:nvPr>
            <p:ph type="ftr" sz="quarter" idx="11"/>
          </p:nvPr>
        </p:nvSpPr>
        <p:spPr>
          <a:xfrm>
            <a:off x="2209800" y="6356350"/>
            <a:ext cx="5562600" cy="365125"/>
          </a:xfrm>
        </p:spPr>
        <p:txBody>
          <a:bodyPr/>
          <a:lstStyle/>
          <a:p>
            <a:r>
              <a:rPr lang="it-IT">
                <a:solidFill>
                  <a:schemeClr val="tx1"/>
                </a:solidFill>
              </a:rPr>
              <a:t>Dr Preeti Gera            COMPUTER VISION  UNIT- IV</a:t>
            </a:r>
            <a:endParaRPr lang="en-US" dirty="0">
              <a:solidFill>
                <a:schemeClr val="tx1"/>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schemeClr val="tx1"/>
                </a:solidFill>
              </a:rPr>
              <a:pPr/>
              <a:t>115</a:t>
            </a:fld>
            <a:endParaRPr lang="en-US">
              <a:solidFill>
                <a:schemeClr val="tx1"/>
              </a:solidFill>
            </a:endParaRPr>
          </a:p>
        </p:txBody>
      </p:sp>
      <p:sp>
        <p:nvSpPr>
          <p:cNvPr id="7"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GB" dirty="0"/>
              <a:t>Any Certification/Courses  for this subject</a:t>
            </a:r>
            <a:endParaRPr lang="en-IN" dirty="0"/>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graphicFrame>
        <p:nvGraphicFramePr>
          <p:cNvPr id="2" name="Table 1"/>
          <p:cNvGraphicFramePr>
            <a:graphicFrameLocks noGrp="1"/>
          </p:cNvGraphicFramePr>
          <p:nvPr>
            <p:extLst>
              <p:ext uri="{D42A27DB-BD31-4B8C-83A1-F6EECF244321}">
                <p14:modId xmlns:p14="http://schemas.microsoft.com/office/powerpoint/2010/main" val="3183563391"/>
              </p:ext>
            </p:extLst>
          </p:nvPr>
        </p:nvGraphicFramePr>
        <p:xfrm>
          <a:off x="533401" y="1219200"/>
          <a:ext cx="8305798" cy="4724401"/>
        </p:xfrm>
        <a:graphic>
          <a:graphicData uri="http://schemas.openxmlformats.org/drawingml/2006/table">
            <a:tbl>
              <a:tblPr firstRow="1" firstCol="1" bandRow="1">
                <a:tableStyleId>{5C22544A-7EE6-4342-B048-85BDC9FD1C3A}</a:tableStyleId>
              </a:tblPr>
              <a:tblGrid>
                <a:gridCol w="1350191">
                  <a:extLst>
                    <a:ext uri="{9D8B030D-6E8A-4147-A177-3AD203B41FA5}">
                      <a16:colId xmlns:a16="http://schemas.microsoft.com/office/drawing/2014/main" val="2548052676"/>
                    </a:ext>
                  </a:extLst>
                </a:gridCol>
                <a:gridCol w="1617681">
                  <a:extLst>
                    <a:ext uri="{9D8B030D-6E8A-4147-A177-3AD203B41FA5}">
                      <a16:colId xmlns:a16="http://schemas.microsoft.com/office/drawing/2014/main" val="119515832"/>
                    </a:ext>
                  </a:extLst>
                </a:gridCol>
                <a:gridCol w="942587">
                  <a:extLst>
                    <a:ext uri="{9D8B030D-6E8A-4147-A177-3AD203B41FA5}">
                      <a16:colId xmlns:a16="http://schemas.microsoft.com/office/drawing/2014/main" val="4045659361"/>
                    </a:ext>
                  </a:extLst>
                </a:gridCol>
                <a:gridCol w="1783272">
                  <a:extLst>
                    <a:ext uri="{9D8B030D-6E8A-4147-A177-3AD203B41FA5}">
                      <a16:colId xmlns:a16="http://schemas.microsoft.com/office/drawing/2014/main" val="882892349"/>
                    </a:ext>
                  </a:extLst>
                </a:gridCol>
                <a:gridCol w="2612067">
                  <a:extLst>
                    <a:ext uri="{9D8B030D-6E8A-4147-A177-3AD203B41FA5}">
                      <a16:colId xmlns:a16="http://schemas.microsoft.com/office/drawing/2014/main" val="2377126745"/>
                    </a:ext>
                  </a:extLst>
                </a:gridCol>
              </a:tblGrid>
              <a:tr h="936430">
                <a:tc>
                  <a:txBody>
                    <a:bodyPr/>
                    <a:lstStyle/>
                    <a:p>
                      <a:pPr>
                        <a:lnSpc>
                          <a:spcPct val="107000"/>
                        </a:lnSpc>
                        <a:spcAft>
                          <a:spcPts val="800"/>
                        </a:spcAft>
                      </a:pPr>
                      <a:r>
                        <a:rPr lang="en-IN" sz="1800">
                          <a:effectLst/>
                          <a:latin typeface="Times New Roman" panose="02020603050405020304" pitchFamily="18" charset="0"/>
                          <a:cs typeface="Times New Roman" panose="02020603050405020304" pitchFamily="18" charset="0"/>
                        </a:rPr>
                        <a:t>Course Name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a:lnSpc>
                          <a:spcPct val="107000"/>
                        </a:lnSpc>
                        <a:spcAft>
                          <a:spcPts val="800"/>
                        </a:spcAft>
                      </a:pPr>
                      <a:r>
                        <a:rPr lang="en-IN" sz="1800">
                          <a:effectLst/>
                          <a:latin typeface="Times New Roman" panose="02020603050405020304" pitchFamily="18" charset="0"/>
                          <a:cs typeface="Times New Roman" panose="02020603050405020304" pitchFamily="18" charset="0"/>
                        </a:rPr>
                        <a:t>Offered By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a:lnSpc>
                          <a:spcPct val="107000"/>
                        </a:lnSpc>
                        <a:spcAft>
                          <a:spcPts val="800"/>
                        </a:spcAft>
                      </a:pPr>
                      <a:r>
                        <a:rPr lang="en-IN" sz="1800">
                          <a:effectLst/>
                          <a:latin typeface="Times New Roman" panose="02020603050405020304" pitchFamily="18" charset="0"/>
                          <a:cs typeface="Times New Roman" panose="02020603050405020304" pitchFamily="18" charset="0"/>
                        </a:rPr>
                        <a:t>Duration  </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a:lnSpc>
                          <a:spcPct val="107000"/>
                        </a:lnSpc>
                        <a:spcAft>
                          <a:spcPts val="800"/>
                        </a:spcAft>
                      </a:pPr>
                      <a:r>
                        <a:rPr lang="en-IN" sz="1800" dirty="0">
                          <a:effectLst/>
                          <a:latin typeface="Times New Roman" panose="02020603050405020304" pitchFamily="18" charset="0"/>
                          <a:cs typeface="Times New Roman" panose="02020603050405020304" pitchFamily="18" charset="0"/>
                        </a:rPr>
                        <a:t>Rating  </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a:lnSpc>
                          <a:spcPct val="107000"/>
                        </a:lnSpc>
                        <a:spcAft>
                          <a:spcPts val="800"/>
                        </a:spcAft>
                      </a:pPr>
                      <a:r>
                        <a:rPr lang="en-IN" sz="1800">
                          <a:effectLst/>
                          <a:latin typeface="Times New Roman" panose="02020603050405020304" pitchFamily="18" charset="0"/>
                          <a:cs typeface="Times New Roman" panose="02020603050405020304" pitchFamily="18" charset="0"/>
                        </a:rPr>
                        <a:t>Link</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extLst>
                  <a:ext uri="{0D108BD9-81ED-4DB2-BD59-A6C34878D82A}">
                    <a16:rowId xmlns:a16="http://schemas.microsoft.com/office/drawing/2014/main" val="113882771"/>
                  </a:ext>
                </a:extLst>
              </a:tr>
              <a:tr h="2372764">
                <a:tc>
                  <a:txBody>
                    <a:bodyPr/>
                    <a:lstStyle/>
                    <a:p>
                      <a:pPr fontAlgn="base">
                        <a:lnSpc>
                          <a:spcPct val="107000"/>
                        </a:lnSpc>
                        <a:spcAft>
                          <a:spcPts val="0"/>
                        </a:spcAft>
                      </a:pPr>
                      <a:r>
                        <a:rPr lang="en-IN" sz="1800" dirty="0">
                          <a:effectLst/>
                          <a:latin typeface="Times New Roman" panose="02020603050405020304" pitchFamily="18" charset="0"/>
                          <a:cs typeface="Times New Roman" panose="02020603050405020304" pitchFamily="18" charset="0"/>
                        </a:rPr>
                        <a:t>Introduction to Computer Vision and Image Processing</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dirty="0">
                          <a:effectLst/>
                          <a:latin typeface="Times New Roman" panose="02020603050405020304" pitchFamily="18" charset="0"/>
                          <a:cs typeface="Times New Roman" panose="02020603050405020304" pitchFamily="18" charset="0"/>
                        </a:rPr>
                        <a:t>IBM</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1-4 weeks</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4.4</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https://www.coursera.org/learn/introduction-computer-vision-watson-opencv#about</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b">
                    <a:solidFill>
                      <a:schemeClr val="accent2">
                        <a:lumMod val="75000"/>
                      </a:schemeClr>
                    </a:solidFill>
                  </a:tcPr>
                </a:tc>
                <a:extLst>
                  <a:ext uri="{0D108BD9-81ED-4DB2-BD59-A6C34878D82A}">
                    <a16:rowId xmlns:a16="http://schemas.microsoft.com/office/drawing/2014/main" val="2940350439"/>
                  </a:ext>
                </a:extLst>
              </a:tr>
              <a:tr h="1415207">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Computer Vision Basics</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University at Buffalo</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1-4 weeks</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a:effectLst/>
                          <a:latin typeface="Times New Roman" panose="02020603050405020304" pitchFamily="18" charset="0"/>
                          <a:cs typeface="Times New Roman" panose="02020603050405020304" pitchFamily="18" charset="0"/>
                        </a:rPr>
                        <a:t>4.2</a:t>
                      </a:r>
                      <a:endParaRPr lang="en-IN"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2">
                        <a:lumMod val="75000"/>
                      </a:schemeClr>
                    </a:solidFill>
                  </a:tcPr>
                </a:tc>
                <a:tc>
                  <a:txBody>
                    <a:bodyPr/>
                    <a:lstStyle/>
                    <a:p>
                      <a:pPr fontAlgn="base">
                        <a:lnSpc>
                          <a:spcPct val="107000"/>
                        </a:lnSpc>
                        <a:spcAft>
                          <a:spcPts val="0"/>
                        </a:spcAft>
                      </a:pPr>
                      <a:r>
                        <a:rPr lang="en-IN" sz="1800" dirty="0">
                          <a:effectLst/>
                          <a:latin typeface="Times New Roman" panose="02020603050405020304" pitchFamily="18" charset="0"/>
                          <a:cs typeface="Times New Roman" panose="02020603050405020304" pitchFamily="18" charset="0"/>
                        </a:rPr>
                        <a:t>https://www.coursera.org/learn/computer-vision-basics#syllabus</a:t>
                      </a:r>
                      <a:endParaRPr lang="en-IN"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b">
                    <a:solidFill>
                      <a:schemeClr val="accent2">
                        <a:lumMod val="75000"/>
                      </a:schemeClr>
                    </a:solidFill>
                  </a:tcPr>
                </a:tc>
                <a:extLst>
                  <a:ext uri="{0D108BD9-81ED-4DB2-BD59-A6C34878D82A}">
                    <a16:rowId xmlns:a16="http://schemas.microsoft.com/office/drawing/2014/main" val="1377299049"/>
                  </a:ext>
                </a:extLst>
              </a:tr>
            </a:tbl>
          </a:graphicData>
        </a:graphic>
      </p:graphicFrame>
    </p:spTree>
    <p:extLst>
      <p:ext uri="{BB962C8B-B14F-4D97-AF65-F5344CB8AC3E}">
        <p14:creationId xmlns:p14="http://schemas.microsoft.com/office/powerpoint/2010/main" val="75382612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solidFill>
                <a:schemeClr val="tx1"/>
              </a:solidFill>
            </a:endParaRPr>
          </a:p>
        </p:txBody>
      </p:sp>
      <p:sp>
        <p:nvSpPr>
          <p:cNvPr id="5" name="Footer Placeholder 4"/>
          <p:cNvSpPr>
            <a:spLocks noGrp="1"/>
          </p:cNvSpPr>
          <p:nvPr>
            <p:ph type="ftr" sz="quarter" idx="11"/>
          </p:nvPr>
        </p:nvSpPr>
        <p:spPr>
          <a:xfrm>
            <a:off x="2209800" y="6356350"/>
            <a:ext cx="5562600" cy="365125"/>
          </a:xfrm>
        </p:spPr>
        <p:txBody>
          <a:bodyPr/>
          <a:lstStyle/>
          <a:p>
            <a:r>
              <a:rPr lang="it-IT">
                <a:solidFill>
                  <a:schemeClr val="tx1"/>
                </a:solidFill>
              </a:rPr>
              <a:t>Dr Preeti Gera            COMPUTER VISION  UNIT- IV</a:t>
            </a:r>
            <a:endParaRPr lang="en-US" dirty="0">
              <a:solidFill>
                <a:schemeClr val="tx1"/>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schemeClr val="tx1"/>
                </a:solidFill>
              </a:rPr>
              <a:pPr/>
              <a:t>116</a:t>
            </a:fld>
            <a:endParaRPr lang="en-US">
              <a:solidFill>
                <a:schemeClr val="tx1"/>
              </a:solidFill>
            </a:endParaRPr>
          </a:p>
        </p:txBody>
      </p:sp>
      <p:sp>
        <p:nvSpPr>
          <p:cNvPr id="7"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solidFill>
                  <a:schemeClr val="tx1"/>
                </a:solidFill>
                <a:latin typeface="Times New Roman" panose="02020603050405020304" pitchFamily="18" charset="0"/>
                <a:cs typeface="Times New Roman" panose="02020603050405020304" pitchFamily="18" charset="0"/>
              </a:rPr>
              <a:t>OPTIONAL  /  CASE STUDIES</a:t>
            </a:r>
            <a:endParaRPr kumimoji="0" lang="en-US" sz="2400" b="1" i="0" u="none" strike="noStrike" kern="1200" cap="none" spc="0" normalizeH="0" baseline="0" noProof="0" dirty="0">
              <a:ln>
                <a:noFill/>
              </a:ln>
              <a:solidFill>
                <a:schemeClr val="tx1"/>
              </a:solidFill>
              <a:effectLst/>
              <a:uLnTx/>
              <a:uFillTx/>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graphicFrame>
        <p:nvGraphicFramePr>
          <p:cNvPr id="3" name="Table 2"/>
          <p:cNvGraphicFramePr>
            <a:graphicFrameLocks noGrp="1"/>
          </p:cNvGraphicFramePr>
          <p:nvPr>
            <p:extLst>
              <p:ext uri="{D42A27DB-BD31-4B8C-83A1-F6EECF244321}">
                <p14:modId xmlns:p14="http://schemas.microsoft.com/office/powerpoint/2010/main" val="1051871322"/>
              </p:ext>
            </p:extLst>
          </p:nvPr>
        </p:nvGraphicFramePr>
        <p:xfrm>
          <a:off x="914400" y="1600198"/>
          <a:ext cx="7924800" cy="4624790"/>
        </p:xfrm>
        <a:graphic>
          <a:graphicData uri="http://schemas.openxmlformats.org/drawingml/2006/table">
            <a:tbl>
              <a:tblPr firstRow="1" firstCol="1" bandRow="1">
                <a:tableStyleId>{5C22544A-7EE6-4342-B048-85BDC9FD1C3A}</a:tableStyleId>
              </a:tblPr>
              <a:tblGrid>
                <a:gridCol w="7924800">
                  <a:extLst>
                    <a:ext uri="{9D8B030D-6E8A-4147-A177-3AD203B41FA5}">
                      <a16:colId xmlns:a16="http://schemas.microsoft.com/office/drawing/2014/main" val="2934558324"/>
                    </a:ext>
                  </a:extLst>
                </a:gridCol>
              </a:tblGrid>
              <a:tr h="630610">
                <a:tc>
                  <a:txBody>
                    <a:bodyPr/>
                    <a:lstStyle/>
                    <a:p>
                      <a:pPr algn="ctr" fontAlgn="base">
                        <a:lnSpc>
                          <a:spcPct val="107000"/>
                        </a:lnSpc>
                        <a:spcAft>
                          <a:spcPts val="0"/>
                        </a:spcAft>
                      </a:pPr>
                      <a:r>
                        <a:rPr lang="en-IN" sz="1800" dirty="0">
                          <a:solidFill>
                            <a:schemeClr val="tx1"/>
                          </a:solidFill>
                          <a:effectLst/>
                          <a:latin typeface="Times New Roman" panose="02020603050405020304" pitchFamily="18" charset="0"/>
                          <a:cs typeface="Times New Roman" panose="02020603050405020304" pitchFamily="18" charset="0"/>
                        </a:rPr>
                        <a:t> OPTIONAL  /  CASE STUDIES</a:t>
                      </a:r>
                      <a:endParaRPr lang="en-IN" sz="18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1078949975"/>
                  </a:ext>
                </a:extLst>
              </a:tr>
              <a:tr h="913703">
                <a:tc>
                  <a:txBody>
                    <a:bodyPr/>
                    <a:lstStyle/>
                    <a:p>
                      <a:pPr>
                        <a:lnSpc>
                          <a:spcPct val="107000"/>
                        </a:lnSpc>
                        <a:spcAft>
                          <a:spcPts val="800"/>
                        </a:spcAft>
                      </a:pPr>
                      <a:r>
                        <a:rPr lang="en-IN" sz="1800" dirty="0">
                          <a:solidFill>
                            <a:schemeClr val="tx1"/>
                          </a:solidFill>
                          <a:effectLst/>
                          <a:latin typeface="Times New Roman" panose="02020603050405020304" pitchFamily="18" charset="0"/>
                          <a:cs typeface="Times New Roman" panose="02020603050405020304" pitchFamily="18" charset="0"/>
                        </a:rPr>
                        <a:t>Factors influencing the adoption of new mobility technologies and services:, </a:t>
                      </a:r>
                      <a:endParaRPr lang="en-IN" sz="18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2715613295"/>
                  </a:ext>
                </a:extLst>
              </a:tr>
              <a:tr h="913703">
                <a:tc>
                  <a:txBody>
                    <a:bodyPr/>
                    <a:lstStyle/>
                    <a:p>
                      <a:pPr>
                        <a:lnSpc>
                          <a:spcPct val="107000"/>
                        </a:lnSpc>
                        <a:spcAft>
                          <a:spcPts val="800"/>
                        </a:spcAft>
                      </a:pPr>
                      <a:r>
                        <a:rPr lang="en-IN" sz="1800">
                          <a:solidFill>
                            <a:schemeClr val="tx1"/>
                          </a:solidFill>
                          <a:effectLst/>
                          <a:latin typeface="Times New Roman" panose="02020603050405020304" pitchFamily="18" charset="0"/>
                          <a:cs typeface="Times New Roman" panose="02020603050405020304" pitchFamily="18" charset="0"/>
                        </a:rPr>
                        <a:t> 1 Drone Systems and Applications ( Healthcare, Agriculture, Security)</a:t>
                      </a:r>
                      <a:endParaRPr lang="en-IN" sz="18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1493892882"/>
                  </a:ext>
                </a:extLst>
              </a:tr>
              <a:tr h="722258">
                <a:tc>
                  <a:txBody>
                    <a:bodyPr/>
                    <a:lstStyle/>
                    <a:p>
                      <a:pPr>
                        <a:lnSpc>
                          <a:spcPct val="107000"/>
                        </a:lnSpc>
                        <a:spcAft>
                          <a:spcPts val="800"/>
                        </a:spcAft>
                      </a:pPr>
                      <a:r>
                        <a:rPr lang="en-IN" sz="1800">
                          <a:solidFill>
                            <a:schemeClr val="tx1"/>
                          </a:solidFill>
                          <a:effectLst/>
                          <a:latin typeface="Times New Roman" panose="02020603050405020304" pitchFamily="18" charset="0"/>
                          <a:cs typeface="Times New Roman" panose="02020603050405020304" pitchFamily="18" charset="0"/>
                        </a:rPr>
                        <a:t>2 Autonomous Vehicular System</a:t>
                      </a:r>
                      <a:endParaRPr lang="en-IN" sz="18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2993119947"/>
                  </a:ext>
                </a:extLst>
              </a:tr>
              <a:tr h="722258">
                <a:tc>
                  <a:txBody>
                    <a:bodyPr/>
                    <a:lstStyle/>
                    <a:p>
                      <a:pPr>
                        <a:lnSpc>
                          <a:spcPct val="107000"/>
                        </a:lnSpc>
                        <a:spcAft>
                          <a:spcPts val="800"/>
                        </a:spcAft>
                      </a:pPr>
                      <a:r>
                        <a:rPr lang="en-IN" sz="1800">
                          <a:solidFill>
                            <a:schemeClr val="tx1"/>
                          </a:solidFill>
                          <a:effectLst/>
                          <a:latin typeface="Times New Roman" panose="02020603050405020304" pitchFamily="18" charset="0"/>
                          <a:cs typeface="Times New Roman" panose="02020603050405020304" pitchFamily="18" charset="0"/>
                        </a:rPr>
                        <a:t>3 Motion Prediction for Autonomous Vehicles</a:t>
                      </a:r>
                      <a:endParaRPr lang="en-IN" sz="18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3254247153"/>
                  </a:ext>
                </a:extLst>
              </a:tr>
              <a:tr h="722258">
                <a:tc>
                  <a:txBody>
                    <a:bodyPr/>
                    <a:lstStyle/>
                    <a:p>
                      <a:pPr>
                        <a:lnSpc>
                          <a:spcPct val="107000"/>
                        </a:lnSpc>
                        <a:spcAft>
                          <a:spcPts val="800"/>
                        </a:spcAft>
                      </a:pPr>
                      <a:r>
                        <a:rPr lang="en-IN" sz="1800" dirty="0">
                          <a:solidFill>
                            <a:schemeClr val="tx1"/>
                          </a:solidFill>
                          <a:effectLst/>
                          <a:latin typeface="Times New Roman" panose="02020603050405020304" pitchFamily="18" charset="0"/>
                          <a:cs typeface="Times New Roman" panose="02020603050405020304" pitchFamily="18" charset="0"/>
                        </a:rPr>
                        <a:t>4 Clinical applications Robotic surgery</a:t>
                      </a:r>
                      <a:endParaRPr lang="en-IN" sz="18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0" marR="0" marT="0" marB="0">
                    <a:noFill/>
                  </a:tcPr>
                </a:tc>
                <a:extLst>
                  <a:ext uri="{0D108BD9-81ED-4DB2-BD59-A6C34878D82A}">
                    <a16:rowId xmlns:a16="http://schemas.microsoft.com/office/drawing/2014/main" val="1338974042"/>
                  </a:ext>
                </a:extLst>
              </a:tr>
            </a:tbl>
          </a:graphicData>
        </a:graphic>
      </p:graphicFrame>
    </p:spTree>
    <p:extLst>
      <p:ext uri="{BB962C8B-B14F-4D97-AF65-F5344CB8AC3E}">
        <p14:creationId xmlns:p14="http://schemas.microsoft.com/office/powerpoint/2010/main" val="346758911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a:xfrm>
            <a:off x="2667000" y="2819400"/>
            <a:ext cx="3805016" cy="1107996"/>
          </a:xfrm>
          <a:prstGeom prst="rect">
            <a:avLst/>
          </a:prstGeom>
          <a:noFill/>
        </p:spPr>
        <p:txBody>
          <a:bodyPr wrap="none" lIns="91440" tIns="45720" rIns="91440" bIns="45720">
            <a:spAutoFit/>
          </a:bodyPr>
          <a:lstStyle/>
          <a:p>
            <a:pPr algn="ctr">
              <a:buNone/>
            </a:pPr>
            <a:r>
              <a:rPr lang="en-US" sz="6600" b="1" dirty="0">
                <a:ln w="10541" cmpd="sng">
                  <a:solidFill>
                    <a:schemeClr val="accent1">
                      <a:shade val="88000"/>
                      <a:satMod val="110000"/>
                    </a:schemeClr>
                  </a:solidFill>
                  <a:prstDash val="solid"/>
                </a:ln>
                <a:solidFill>
                  <a:srgbClr val="002060"/>
                </a:solidFill>
              </a:rPr>
              <a:t>Thank You</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a:xfrm>
            <a:off x="2209800" y="6356350"/>
            <a:ext cx="5562600" cy="365125"/>
          </a:xfrm>
        </p:spPr>
        <p:txBody>
          <a:bodyPr/>
          <a:lstStyle/>
          <a:p>
            <a:r>
              <a:rPr lang="it-IT" b="1">
                <a:solidFill>
                  <a:srgbClr val="002060"/>
                </a:solidFill>
              </a:rPr>
              <a:t>Dr Preeti Gera            COMPUTER VISION  UNIT- IV</a:t>
            </a:r>
            <a:endParaRPr lang="en-US" b="1" dirty="0">
              <a:solidFill>
                <a:srgbClr val="002060"/>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pPr/>
              <a:t>117</a:t>
            </a:fld>
            <a:endParaRPr lang="en-US"/>
          </a:p>
        </p:txBody>
      </p:sp>
      <p:sp>
        <p:nvSpPr>
          <p:cNvPr id="7" name="Title 1"/>
          <p:cNvSpPr txBox="1">
            <a:spLocks/>
          </p:cNvSpPr>
          <p:nvPr/>
        </p:nvSpPr>
        <p:spPr>
          <a:xfrm>
            <a:off x="1371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endParaRPr kumimoji="0" lang="en-US" sz="3200" b="1" i="0" u="none" strike="noStrike" kern="1200" cap="none" spc="0" normalizeH="0" baseline="0" noProof="0" dirty="0">
              <a:ln>
                <a:noFill/>
              </a:ln>
              <a:solidFill>
                <a:schemeClr val="dk1"/>
              </a:solidFill>
              <a:effectLst/>
              <a:uLnTx/>
              <a:uFillTx/>
              <a:latin typeface="+mn-lt"/>
              <a:ea typeface="+mn-ea"/>
              <a:cs typeface="+mn-cs"/>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2555220207"/>
      </p:ext>
    </p:extLst>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44546A"/>
      </a:dk2>
      <a:lt2>
        <a:srgbClr val="E7E6E6"/>
      </a:lt2>
      <a:accent1>
        <a:srgbClr val="00B0F0"/>
      </a:accent1>
      <a:accent2>
        <a:srgbClr val="00B0F0"/>
      </a:accent2>
      <a:accent3>
        <a:srgbClr val="00B0F0"/>
      </a:accent3>
      <a:accent4>
        <a:srgbClr val="00B0F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B10639"/>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2928</TotalTime>
  <Words>9091</Words>
  <Application>Microsoft Office PowerPoint</Application>
  <PresentationFormat>On-screen Show (4:3)</PresentationFormat>
  <Paragraphs>1273</Paragraphs>
  <Slides>117</Slides>
  <Notes>3</Notes>
  <HiddenSlides>0</HiddenSlides>
  <MMClips>0</MMClips>
  <ScaleCrop>false</ScaleCrop>
  <HeadingPairs>
    <vt:vector size="6" baseType="variant">
      <vt:variant>
        <vt:lpstr>Fonts Used</vt:lpstr>
      </vt:variant>
      <vt:variant>
        <vt:i4>13</vt:i4>
      </vt:variant>
      <vt:variant>
        <vt:lpstr>Theme</vt:lpstr>
      </vt:variant>
      <vt:variant>
        <vt:i4>2</vt:i4>
      </vt:variant>
      <vt:variant>
        <vt:lpstr>Slide Titles</vt:lpstr>
      </vt:variant>
      <vt:variant>
        <vt:i4>117</vt:i4>
      </vt:variant>
    </vt:vector>
  </HeadingPairs>
  <TitlesOfParts>
    <vt:vector size="132" baseType="lpstr">
      <vt:lpstr>Yu Gothic UI</vt:lpstr>
      <vt:lpstr>-apple-system</vt:lpstr>
      <vt:lpstr>Arial</vt:lpstr>
      <vt:lpstr>Arial MT</vt:lpstr>
      <vt:lpstr>Calibri</vt:lpstr>
      <vt:lpstr>Calibri Light</vt:lpstr>
      <vt:lpstr>Consolas</vt:lpstr>
      <vt:lpstr>IBM Plex Sans</vt:lpstr>
      <vt:lpstr>inherit</vt:lpstr>
      <vt:lpstr>Lato</vt:lpstr>
      <vt:lpstr>Times New Roman</vt:lpstr>
      <vt:lpstr>Verdana</vt:lpstr>
      <vt:lpstr>Wingdings</vt:lpstr>
      <vt:lpstr>Office Theme</vt:lpstr>
      <vt:lpstr>1_Office Theme</vt:lpstr>
      <vt:lpstr>NOIDA INSTITUTE OF ENGINEERING AND TECHNOLOGY, GREATER NOIDA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Supervised Learning</vt:lpstr>
      <vt:lpstr>Supervised Learning</vt:lpstr>
      <vt:lpstr>Unsupervised Learning</vt:lpstr>
      <vt:lpstr>Unsupervised Learning</vt:lpstr>
      <vt:lpstr>Unsupervised Learning</vt:lpstr>
      <vt:lpstr>Supervised vs Unsupervised Learning</vt:lpstr>
      <vt:lpstr>Generative Models</vt:lpstr>
      <vt:lpstr>Generative Models</vt:lpstr>
      <vt:lpstr>Why Generative Model?</vt:lpstr>
      <vt:lpstr>Why Generative Model?</vt:lpstr>
      <vt:lpstr>Taxonomy of Generative Models</vt:lpstr>
      <vt:lpstr>Fully visible belief network</vt:lpstr>
      <vt:lpstr>Fully visible belief network</vt:lpstr>
      <vt:lpstr>PowerPoint Presentation</vt:lpstr>
      <vt:lpstr>PowerPoint Presentation</vt:lpstr>
      <vt:lpstr>PowerPoint Presentation</vt:lpstr>
      <vt:lpstr>PixelRNN [van der oord et al.2016]</vt:lpstr>
      <vt:lpstr>PixelCNN</vt:lpstr>
      <vt:lpstr>PixelCNN vs PixelRNN</vt:lpstr>
      <vt:lpstr>Taxonomy of Generative Models</vt:lpstr>
      <vt:lpstr>Autoencoders</vt:lpstr>
      <vt:lpstr>Autoencoders</vt:lpstr>
      <vt:lpstr>Denoised Autoencoder</vt:lpstr>
      <vt:lpstr>Autoencoder Application</vt:lpstr>
      <vt:lpstr>Variational Autoencoders (VAE)</vt:lpstr>
      <vt:lpstr>Variational Autoencoders (VAE)</vt:lpstr>
      <vt:lpstr>Variational Autoencoders (VAE)</vt:lpstr>
      <vt:lpstr>Variational Autoencoders (VAE)</vt:lpstr>
      <vt:lpstr>Taxonomy of Generative Models</vt:lpstr>
      <vt:lpstr>Generative Adversarial Networks (Goodfellow et al., 2014)</vt:lpstr>
      <vt:lpstr>Generative Adversarial Networks (Goodfellow et al., 2014)</vt:lpstr>
      <vt:lpstr>Generative Adversarial Networks (Goodfellow et al., 2014)</vt:lpstr>
      <vt:lpstr>Generative Adversarial Networks (Goodfellow et al., 2014)</vt:lpstr>
      <vt:lpstr>Conditional GANs (CGAN) (Mirza et al., 2014)</vt:lpstr>
      <vt:lpstr>Conditional GANs (CGAN) (Mirza et al., 2014)</vt:lpstr>
      <vt:lpstr>Conditional GANs (CGAN) (Mirza et al., 2014)</vt:lpstr>
      <vt:lpstr>Conditional GANs (CGAN) (Mirza et al., 2014)</vt:lpstr>
      <vt:lpstr>Limitations of GANs</vt:lpstr>
      <vt:lpstr>Evaluation metrics</vt:lpstr>
      <vt:lpstr>Evaluation metrics</vt:lpstr>
      <vt:lpstr>Evaluation metrics</vt:lpstr>
      <vt:lpstr>Evaluation metrics</vt:lpstr>
      <vt:lpstr>Evaluation metrics</vt:lpstr>
      <vt:lpstr>Practical scenario</vt:lpstr>
      <vt:lpstr>Practical scenario</vt:lpstr>
      <vt:lpstr>Practical scenario</vt:lpstr>
      <vt:lpstr>Practical scenario</vt:lpstr>
      <vt:lpstr>Practical scenario</vt:lpstr>
      <vt:lpstr>Practical scenario</vt:lpstr>
      <vt:lpstr>Practical scenario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NOIDA INSTITUTE OF ENGINEERING AND TECHNOLOGY, GREATER NOIDA</dc:title>
  <dc:creator>Shweta</dc:creator>
  <cp:lastModifiedBy>Dev Goyal</cp:lastModifiedBy>
  <cp:revision>130</cp:revision>
  <dcterms:created xsi:type="dcterms:W3CDTF">2006-08-16T00:00:00Z</dcterms:created>
  <dcterms:modified xsi:type="dcterms:W3CDTF">2025-12-17T07:33:46Z</dcterms:modified>
</cp:coreProperties>
</file>